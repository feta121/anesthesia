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av" ContentType="audio/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0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348" r:id="rId15"/>
    <p:sldId id="338" r:id="rId16"/>
    <p:sldId id="339" r:id="rId17"/>
    <p:sldId id="269" r:id="rId18"/>
    <p:sldId id="270" r:id="rId19"/>
    <p:sldId id="271" r:id="rId20"/>
    <p:sldId id="272" r:id="rId21"/>
    <p:sldId id="273" r:id="rId22"/>
    <p:sldId id="274" r:id="rId23"/>
    <p:sldId id="275" r:id="rId24"/>
    <p:sldId id="276" r:id="rId25"/>
    <p:sldId id="277" r:id="rId26"/>
    <p:sldId id="278" r:id="rId27"/>
    <p:sldId id="340" r:id="rId28"/>
    <p:sldId id="279" r:id="rId29"/>
    <p:sldId id="280" r:id="rId30"/>
    <p:sldId id="281" r:id="rId31"/>
    <p:sldId id="282" r:id="rId32"/>
    <p:sldId id="283" r:id="rId33"/>
    <p:sldId id="284" r:id="rId34"/>
    <p:sldId id="341" r:id="rId35"/>
    <p:sldId id="285" r:id="rId36"/>
    <p:sldId id="286" r:id="rId37"/>
    <p:sldId id="287" r:id="rId38"/>
    <p:sldId id="342" r:id="rId39"/>
    <p:sldId id="288" r:id="rId40"/>
    <p:sldId id="289" r:id="rId41"/>
    <p:sldId id="290" r:id="rId42"/>
    <p:sldId id="291" r:id="rId43"/>
    <p:sldId id="292" r:id="rId44"/>
    <p:sldId id="293" r:id="rId45"/>
    <p:sldId id="294" r:id="rId46"/>
    <p:sldId id="295" r:id="rId47"/>
    <p:sldId id="296" r:id="rId48"/>
    <p:sldId id="343" r:id="rId49"/>
    <p:sldId id="297" r:id="rId50"/>
    <p:sldId id="298" r:id="rId51"/>
    <p:sldId id="299" r:id="rId52"/>
    <p:sldId id="300" r:id="rId53"/>
    <p:sldId id="344" r:id="rId54"/>
    <p:sldId id="301" r:id="rId55"/>
    <p:sldId id="302" r:id="rId56"/>
    <p:sldId id="345" r:id="rId57"/>
    <p:sldId id="303" r:id="rId58"/>
    <p:sldId id="304" r:id="rId59"/>
    <p:sldId id="305" r:id="rId60"/>
    <p:sldId id="306" r:id="rId61"/>
    <p:sldId id="307" r:id="rId62"/>
    <p:sldId id="347" r:id="rId63"/>
    <p:sldId id="308" r:id="rId64"/>
    <p:sldId id="309" r:id="rId65"/>
    <p:sldId id="310" r:id="rId66"/>
    <p:sldId id="311" r:id="rId67"/>
    <p:sldId id="346" r:id="rId68"/>
    <p:sldId id="312" r:id="rId69"/>
    <p:sldId id="313" r:id="rId70"/>
    <p:sldId id="314" r:id="rId71"/>
    <p:sldId id="315" r:id="rId72"/>
    <p:sldId id="316" r:id="rId73"/>
    <p:sldId id="317" r:id="rId74"/>
    <p:sldId id="318" r:id="rId75"/>
    <p:sldId id="319" r:id="rId76"/>
    <p:sldId id="349" r:id="rId77"/>
    <p:sldId id="320" r:id="rId78"/>
    <p:sldId id="321" r:id="rId79"/>
    <p:sldId id="322" r:id="rId80"/>
    <p:sldId id="323" r:id="rId81"/>
    <p:sldId id="324" r:id="rId82"/>
    <p:sldId id="325" r:id="rId83"/>
    <p:sldId id="326" r:id="rId84"/>
    <p:sldId id="354" r:id="rId85"/>
    <p:sldId id="355" r:id="rId86"/>
    <p:sldId id="327" r:id="rId87"/>
    <p:sldId id="350" r:id="rId88"/>
    <p:sldId id="328" r:id="rId89"/>
    <p:sldId id="351" r:id="rId90"/>
    <p:sldId id="329" r:id="rId91"/>
    <p:sldId id="330" r:id="rId92"/>
    <p:sldId id="331" r:id="rId93"/>
    <p:sldId id="352" r:id="rId94"/>
    <p:sldId id="332" r:id="rId95"/>
    <p:sldId id="333" r:id="rId96"/>
    <p:sldId id="334" r:id="rId97"/>
    <p:sldId id="335" r:id="rId98"/>
    <p:sldId id="336" r:id="rId99"/>
    <p:sldId id="337" r:id="rId100"/>
    <p:sldId id="353" r:id="rId10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75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6CB187E-8510-46C2-ADBE-D8F651B5466F}" type="datetimeFigureOut">
              <a:rPr lang="en-US" smtClean="0"/>
              <a:pPr/>
              <a:t>8/9/2021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CECC6E7-3549-4180-AF2C-5FEF77A539A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3" name="Slide Image Placeholder 1"/>
          <p:cNvSpPr>
            <a:spLocks noGrp="1" noRot="1" noChangeAspect="1"/>
          </p:cNvSpPr>
          <p:nvPr>
            <p:ph type="sldImg"/>
          </p:nvPr>
        </p:nvSpPr>
        <p:spPr/>
      </p:sp>
      <p:sp>
        <p:nvSpPr>
          <p:cNvPr id="1048654"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pPr>
            <a:r>
              <a:rPr lang="en-US" dirty="0"/>
              <a:t>Alterations in loading conditions are the initial physiologic burdens imposed by </a:t>
            </a:r>
            <a:r>
              <a:rPr lang="en-US" dirty="0" err="1"/>
              <a:t>valvular</a:t>
            </a:r>
            <a:r>
              <a:rPr lang="en-US" dirty="0"/>
              <a:t> heart lesions, both </a:t>
            </a:r>
            <a:r>
              <a:rPr lang="en-US" dirty="0" err="1"/>
              <a:t>stenotic</a:t>
            </a:r>
            <a:r>
              <a:rPr lang="en-US" dirty="0"/>
              <a:t> and </a:t>
            </a:r>
            <a:r>
              <a:rPr lang="en-US" dirty="0" err="1"/>
              <a:t>regurgitant</a:t>
            </a:r>
            <a:r>
              <a:rPr lang="en-US" dirty="0"/>
              <a:t>. LV is pressure overloaded in aortic stenosis (AS) and volume overloaded in aortic </a:t>
            </a:r>
            <a:r>
              <a:rPr lang="en-US" dirty="0" err="1"/>
              <a:t>insuficiency</a:t>
            </a:r>
            <a:r>
              <a:rPr lang="en-US" dirty="0"/>
              <a:t> and MR.</a:t>
            </a:r>
          </a:p>
          <a:p>
            <a:pPr marL="0" marR="0" indent="0" algn="l" defTabSz="914400" rtl="0" eaLnBrk="1" fontAlgn="auto" latinLnBrk="0" hangingPunct="1">
              <a:lnSpc>
                <a:spcPct val="100000"/>
              </a:lnSpc>
              <a:spcBef>
                <a:spcPts val="0"/>
              </a:spcBef>
              <a:spcAft>
                <a:spcPts val="0"/>
              </a:spcAft>
              <a:buClrTx/>
              <a:buSzTx/>
              <a:buFontTx/>
              <a:buNone/>
            </a:pPr>
            <a:endParaRPr lang="en-GB" dirty="0"/>
          </a:p>
          <a:p>
            <a:endParaRPr lang="en-US" dirty="0"/>
          </a:p>
        </p:txBody>
      </p:sp>
      <p:sp>
        <p:nvSpPr>
          <p:cNvPr id="1048655" name="Slide Number Placeholder 3"/>
          <p:cNvSpPr>
            <a:spLocks noGrp="1"/>
          </p:cNvSpPr>
          <p:nvPr>
            <p:ph type="sldNum" sz="quarter" idx="10"/>
          </p:nvPr>
        </p:nvSpPr>
        <p:spPr/>
        <p:txBody>
          <a:bodyPr/>
          <a:lstStyle/>
          <a:p>
            <a:fld id="{3339A33E-CFCE-4DF7-B998-32133B188480}" type="slidenum">
              <a:rPr lang="en-US" smtClean="0"/>
              <a:pPr/>
              <a:t>7</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1" name="Slide Image Placeholder 1"/>
          <p:cNvSpPr>
            <a:spLocks noGrp="1" noRot="1" noChangeAspect="1"/>
          </p:cNvSpPr>
          <p:nvPr>
            <p:ph type="sldImg"/>
          </p:nvPr>
        </p:nvSpPr>
        <p:spPr/>
      </p:sp>
      <p:sp>
        <p:nvSpPr>
          <p:cNvPr id="1048662" name="Notes Placeholder 2"/>
          <p:cNvSpPr>
            <a:spLocks noGrp="1"/>
          </p:cNvSpPr>
          <p:nvPr>
            <p:ph type="body" idx="1"/>
          </p:nvPr>
        </p:nvSpPr>
        <p:spPr/>
        <p:txBody>
          <a:bodyPr>
            <a:normAutofit/>
          </a:bodyPr>
          <a:lstStyle/>
          <a:p>
            <a:pPr>
              <a:buBlip>
                <a:blip r:embed="rId3"/>
              </a:buBlip>
            </a:pPr>
            <a:r>
              <a:rPr lang="en-US" dirty="0"/>
              <a:t>These mechanisms in turn induce secondary alterations, including altered ventricular compliance,</a:t>
            </a:r>
          </a:p>
          <a:p>
            <a:pPr>
              <a:buNone/>
            </a:pPr>
            <a:r>
              <a:rPr lang="en-US" dirty="0"/>
              <a:t>development of myocardial ischemia, chronic cardiac </a:t>
            </a:r>
            <a:r>
              <a:rPr lang="en-US" dirty="0" err="1"/>
              <a:t>dysrhythmias</a:t>
            </a:r>
            <a:r>
              <a:rPr lang="en-US" dirty="0"/>
              <a:t>, and progressive myocardial dysfunction.</a:t>
            </a:r>
          </a:p>
          <a:p>
            <a:r>
              <a:rPr lang="en-US" dirty="0"/>
              <a:t>In mitral stenosis, however, the LV is both volume </a:t>
            </a:r>
            <a:r>
              <a:rPr lang="en-US" dirty="0" err="1"/>
              <a:t>underloaded</a:t>
            </a:r>
            <a:r>
              <a:rPr lang="en-US" baseline="0" dirty="0"/>
              <a:t> </a:t>
            </a:r>
            <a:r>
              <a:rPr lang="en-US" dirty="0"/>
              <a:t>and pressure </a:t>
            </a:r>
            <a:r>
              <a:rPr lang="en-US" dirty="0" err="1"/>
              <a:t>underloaded</a:t>
            </a:r>
            <a:r>
              <a:rPr lang="en-US" dirty="0"/>
              <a:t>, whereas (RV) faces progressively increasing left </a:t>
            </a:r>
            <a:r>
              <a:rPr lang="en-US" dirty="0" err="1"/>
              <a:t>atrial</a:t>
            </a:r>
            <a:r>
              <a:rPr lang="en-US" dirty="0"/>
              <a:t> and pulmonary</a:t>
            </a:r>
          </a:p>
          <a:p>
            <a:r>
              <a:rPr lang="en-US" dirty="0"/>
              <a:t>artery pressure. </a:t>
            </a:r>
          </a:p>
        </p:txBody>
      </p:sp>
      <p:sp>
        <p:nvSpPr>
          <p:cNvPr id="1048663" name="Slide Number Placeholder 3"/>
          <p:cNvSpPr>
            <a:spLocks noGrp="1"/>
          </p:cNvSpPr>
          <p:nvPr>
            <p:ph type="sldNum" sz="quarter" idx="10"/>
          </p:nvPr>
        </p:nvSpPr>
        <p:spPr/>
        <p:txBody>
          <a:bodyPr/>
          <a:lstStyle/>
          <a:p>
            <a:fld id="{3339A33E-CFCE-4DF7-B998-32133B188480}" type="slidenum">
              <a:rPr lang="en-US" smtClean="0"/>
              <a:pPr/>
              <a:t>8</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9" name="Slide Image Placeholder 1"/>
          <p:cNvSpPr>
            <a:spLocks noGrp="1" noRot="1" noChangeAspect="1"/>
          </p:cNvSpPr>
          <p:nvPr>
            <p:ph type="sldImg"/>
          </p:nvPr>
        </p:nvSpPr>
        <p:spPr/>
      </p:sp>
      <p:sp>
        <p:nvSpPr>
          <p:cNvPr id="1048670"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pPr>
            <a:r>
              <a:rPr lang="en-GB" dirty="0"/>
              <a:t>Management in preoperative period require understanding of hemodynamic alteration that accompanies dysfunction of cardiac valve</a:t>
            </a:r>
          </a:p>
          <a:p>
            <a:endParaRPr lang="en-US" dirty="0"/>
          </a:p>
        </p:txBody>
      </p:sp>
      <p:sp>
        <p:nvSpPr>
          <p:cNvPr id="1048671" name="Slide Number Placeholder 3"/>
          <p:cNvSpPr>
            <a:spLocks noGrp="1"/>
          </p:cNvSpPr>
          <p:nvPr>
            <p:ph type="sldNum" sz="quarter" idx="10"/>
          </p:nvPr>
        </p:nvSpPr>
        <p:spPr/>
        <p:txBody>
          <a:bodyPr/>
          <a:lstStyle/>
          <a:p>
            <a:fld id="{3339A33E-CFCE-4DF7-B998-32133B188480}" type="slidenum">
              <a:rPr lang="en-US" smtClean="0"/>
              <a:pPr/>
              <a:t>9</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just">
              <a:lnSpc>
                <a:spcPct val="150000"/>
              </a:lnSpc>
              <a:buNone/>
            </a:pPr>
            <a:r>
              <a:rPr lang="en-US" dirty="0"/>
              <a:t>assess should be evaluated</a:t>
            </a:r>
            <a:r>
              <a:rPr lang="en-US" baseline="0" dirty="0"/>
              <a:t> </a:t>
            </a:r>
            <a:r>
              <a:rPr lang="en-US" dirty="0"/>
              <a:t>Myocardial ischemia may present in patients with severe aortic </a:t>
            </a:r>
            <a:r>
              <a:rPr lang="en-US" dirty="0" err="1"/>
              <a:t>stenosis</a:t>
            </a:r>
            <a:r>
              <a:rPr lang="en-US" dirty="0"/>
              <a:t> or regurgitation</a:t>
            </a:r>
          </a:p>
        </p:txBody>
      </p:sp>
      <p:sp>
        <p:nvSpPr>
          <p:cNvPr id="4" name="Slide Number Placeholder 3"/>
          <p:cNvSpPr>
            <a:spLocks noGrp="1"/>
          </p:cNvSpPr>
          <p:nvPr>
            <p:ph type="sldNum" sz="quarter" idx="10"/>
          </p:nvPr>
        </p:nvSpPr>
        <p:spPr/>
        <p:txBody>
          <a:bodyPr/>
          <a:lstStyle/>
          <a:p>
            <a:fld id="{3339A33E-CFCE-4DF7-B998-32133B188480}" type="slidenum">
              <a:rPr lang="en-US" smtClean="0"/>
              <a:pPr/>
              <a:t>11</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5" name="Slide Image Placeholder 1"/>
          <p:cNvSpPr>
            <a:spLocks noGrp="1" noRot="1" noChangeAspect="1"/>
          </p:cNvSpPr>
          <p:nvPr>
            <p:ph type="sldImg"/>
          </p:nvPr>
        </p:nvSpPr>
        <p:spPr/>
      </p:sp>
      <p:sp>
        <p:nvSpPr>
          <p:cNvPr id="1048616"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baseline="0" dirty="0">
                <a:solidFill>
                  <a:schemeClr val="tx1"/>
                </a:solidFill>
                <a:latin typeface="+mn-lt"/>
                <a:ea typeface="+mn-ea"/>
                <a:cs typeface="+mn-cs"/>
              </a:rPr>
              <a:t>the intensity of the preoperative cardiac evaluation must be tailored to the patient’s clinical condition.   </a:t>
            </a:r>
            <a:r>
              <a:rPr lang="en-US" dirty="0"/>
              <a:t>Appropriate antibiotic prophylaxis reduces the risk of infective </a:t>
            </a:r>
            <a:r>
              <a:rPr lang="en-US" dirty="0" err="1"/>
              <a:t>endocarditis</a:t>
            </a:r>
            <a:endParaRPr lang="en-GB" dirty="0"/>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and the urgency of the circumstances requiring surgery.</a:t>
            </a:r>
            <a:endParaRPr lang="en-US" dirty="0"/>
          </a:p>
        </p:txBody>
      </p:sp>
      <p:sp>
        <p:nvSpPr>
          <p:cNvPr id="1048617" name="Slide Number Placeholder 3"/>
          <p:cNvSpPr>
            <a:spLocks noGrp="1"/>
          </p:cNvSpPr>
          <p:nvPr>
            <p:ph type="sldNum" sz="quarter" idx="10"/>
          </p:nvPr>
        </p:nvSpPr>
        <p:spPr/>
        <p:txBody>
          <a:bodyPr/>
          <a:lstStyle/>
          <a:p>
            <a:fld id="{3339A33E-CFCE-4DF7-B998-32133B188480}" type="slidenum">
              <a:rPr lang="en-US" smtClean="0"/>
              <a:pPr/>
              <a:t>12</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5" name="Slide Image Placeholder 1"/>
          <p:cNvSpPr>
            <a:spLocks noGrp="1" noRot="1" noChangeAspect="1"/>
          </p:cNvSpPr>
          <p:nvPr>
            <p:ph type="sldImg"/>
          </p:nvPr>
        </p:nvSpPr>
        <p:spPr/>
      </p:sp>
      <p:sp>
        <p:nvSpPr>
          <p:cNvPr id="1048606"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3.3. Functional capacity Determination of functional capacity is a pivotal step </a:t>
            </a:r>
            <a:r>
              <a:rPr lang="en-US" sz="1200" kern="1200" baseline="0" dirty="0" err="1">
                <a:solidFill>
                  <a:schemeClr val="tx1"/>
                </a:solidFill>
                <a:latin typeface="+mn-lt"/>
                <a:ea typeface="+mn-ea"/>
                <a:cs typeface="+mn-cs"/>
              </a:rPr>
              <a:t>inpreoperative</a:t>
            </a:r>
            <a:r>
              <a:rPr lang="en-US" sz="1200" kern="1200" baseline="0" dirty="0">
                <a:solidFill>
                  <a:schemeClr val="tx1"/>
                </a:solidFill>
                <a:latin typeface="+mn-lt"/>
                <a:ea typeface="+mn-ea"/>
                <a:cs typeface="+mn-cs"/>
              </a:rPr>
              <a:t> cardiac risk assessment and is measured in metabolic equivalents (METs)</a:t>
            </a:r>
            <a:endParaRPr lang="en-US" dirty="0"/>
          </a:p>
        </p:txBody>
      </p:sp>
      <p:sp>
        <p:nvSpPr>
          <p:cNvPr id="1048607" name="Slide Number Placeholder 3"/>
          <p:cNvSpPr>
            <a:spLocks noGrp="1"/>
          </p:cNvSpPr>
          <p:nvPr>
            <p:ph type="sldNum" sz="quarter" idx="10"/>
          </p:nvPr>
        </p:nvSpPr>
        <p:spPr/>
        <p:txBody>
          <a:bodyPr/>
          <a:lstStyle/>
          <a:p>
            <a:fld id="{3339A33E-CFCE-4DF7-B998-32133B188480}" type="slidenum">
              <a:rPr lang="en-US" smtClean="0"/>
              <a:pPr/>
              <a:t>13</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b="1" dirty="0"/>
              <a:t>Should focus on symptoms related to ventricular function:</a:t>
            </a:r>
          </a:p>
          <a:p>
            <a:endParaRPr lang="en-US" dirty="0"/>
          </a:p>
        </p:txBody>
      </p:sp>
      <p:sp>
        <p:nvSpPr>
          <p:cNvPr id="4" name="Slide Number Placeholder 3"/>
          <p:cNvSpPr>
            <a:spLocks noGrp="1"/>
          </p:cNvSpPr>
          <p:nvPr>
            <p:ph type="sldNum" sz="quarter" idx="10"/>
          </p:nvPr>
        </p:nvSpPr>
        <p:spPr/>
        <p:txBody>
          <a:bodyPr/>
          <a:lstStyle/>
          <a:p>
            <a:fld id="{3339A33E-CFCE-4DF7-B998-32133B188480}" type="slidenum">
              <a:rPr lang="en-US" smtClean="0"/>
              <a:pPr/>
              <a:t>18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lnSpc>
                <a:spcPct val="150000"/>
              </a:lnSpc>
              <a:buFont typeface="Wingdings" panose="05000000000000000000" pitchFamily="2" charset="2"/>
              <a:buNone/>
            </a:pPr>
            <a:r>
              <a:rPr lang="en-US" dirty="0"/>
              <a:t>When murmur</a:t>
            </a:r>
            <a:r>
              <a:rPr lang="en-US" baseline="0" dirty="0"/>
              <a:t> is there</a:t>
            </a:r>
            <a:endParaRPr lang="en-US" dirty="0"/>
          </a:p>
          <a:p>
            <a:pPr lvl="1">
              <a:lnSpc>
                <a:spcPct val="150000"/>
              </a:lnSpc>
              <a:buFont typeface="Wingdings" panose="05000000000000000000" pitchFamily="2" charset="2"/>
              <a:buChar char="ü"/>
            </a:pPr>
            <a:r>
              <a:rPr lang="en-US" dirty="0"/>
              <a:t>Determining the cause of cardiac murmurs</a:t>
            </a:r>
          </a:p>
          <a:p>
            <a:pPr lvl="1">
              <a:lnSpc>
                <a:spcPct val="150000"/>
              </a:lnSpc>
              <a:buFont typeface="Wingdings" panose="05000000000000000000" pitchFamily="2" charset="2"/>
              <a:buChar char="ü"/>
            </a:pPr>
            <a:r>
              <a:rPr lang="en-US" dirty="0"/>
              <a:t> Distinguishing between significant murmurs and those that are clinically unimportant</a:t>
            </a:r>
          </a:p>
          <a:p>
            <a:endParaRPr lang="en-US" dirty="0"/>
          </a:p>
        </p:txBody>
      </p:sp>
      <p:sp>
        <p:nvSpPr>
          <p:cNvPr id="4" name="Slide Number Placeholder 3"/>
          <p:cNvSpPr>
            <a:spLocks noGrp="1"/>
          </p:cNvSpPr>
          <p:nvPr>
            <p:ph type="sldNum" sz="quarter" idx="10"/>
          </p:nvPr>
        </p:nvSpPr>
        <p:spPr/>
        <p:txBody>
          <a:bodyPr/>
          <a:lstStyle/>
          <a:p>
            <a:fld id="{CCECC6E7-3549-4180-AF2C-5FEF77A539A9}" type="slidenum">
              <a:rPr lang="en-US" smtClean="0"/>
              <a:pPr/>
              <a:t>19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8" name="Slide Image Placeholder 1"/>
          <p:cNvSpPr>
            <a:spLocks noGrp="1" noRot="1" noChangeAspect="1"/>
          </p:cNvSpPr>
          <p:nvPr>
            <p:ph type="sldImg"/>
          </p:nvPr>
        </p:nvSpPr>
        <p:spPr/>
      </p:sp>
      <p:sp>
        <p:nvSpPr>
          <p:cNvPr id="1048729"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pPr>
            <a:r>
              <a:rPr lang="en-US" dirty="0"/>
              <a:t>All valves have </a:t>
            </a:r>
            <a:r>
              <a:rPr lang="en-US" dirty="0" err="1"/>
              <a:t>trileaflet</a:t>
            </a:r>
            <a:r>
              <a:rPr lang="en-US" dirty="0"/>
              <a:t> except mitral-2 cusps.</a:t>
            </a:r>
            <a:r>
              <a:rPr lang="en-US" sz="1200" kern="1200" baseline="0" dirty="0">
                <a:solidFill>
                  <a:schemeClr val="tx1"/>
                </a:solidFill>
                <a:latin typeface="+mn-lt"/>
                <a:ea typeface="+mn-ea"/>
                <a:cs typeface="+mn-cs"/>
              </a:rPr>
              <a:t> The AV cusps and the corresponding sinuses are named according to their relation to the coronary </a:t>
            </a:r>
            <a:r>
              <a:rPr lang="en-US" sz="1200" kern="1200" baseline="0" dirty="0" err="1">
                <a:solidFill>
                  <a:schemeClr val="tx1"/>
                </a:solidFill>
                <a:latin typeface="+mn-lt"/>
                <a:ea typeface="+mn-ea"/>
                <a:cs typeface="+mn-cs"/>
              </a:rPr>
              <a:t>ostia</a:t>
            </a:r>
            <a:r>
              <a:rPr lang="en-US" sz="1200" kern="1200" baseline="0" dirty="0">
                <a:solidFill>
                  <a:schemeClr val="tx1"/>
                </a:solidFill>
                <a:latin typeface="+mn-lt"/>
                <a:ea typeface="+mn-ea"/>
                <a:cs typeface="+mn-cs"/>
              </a:rPr>
              <a:t>: Left, right, and </a:t>
            </a:r>
            <a:r>
              <a:rPr lang="en-US" sz="1200" kern="1200" baseline="0" dirty="0" err="1">
                <a:solidFill>
                  <a:schemeClr val="tx1"/>
                </a:solidFill>
                <a:latin typeface="+mn-lt"/>
                <a:ea typeface="+mn-ea"/>
                <a:cs typeface="+mn-cs"/>
              </a:rPr>
              <a:t>noncoronary</a:t>
            </a:r>
            <a:r>
              <a:rPr lang="en-US" sz="1200" kern="1200" baseline="0" dirty="0">
                <a:solidFill>
                  <a:schemeClr val="tx1"/>
                </a:solidFill>
                <a:latin typeface="+mn-lt"/>
                <a:ea typeface="+mn-ea"/>
                <a:cs typeface="+mn-cs"/>
              </a:rPr>
              <a:t> (opposite the </a:t>
            </a:r>
            <a:r>
              <a:rPr lang="en-US" sz="1200" kern="1200" baseline="0" dirty="0" err="1">
                <a:solidFill>
                  <a:schemeClr val="tx1"/>
                </a:solidFill>
                <a:latin typeface="+mn-lt"/>
                <a:ea typeface="+mn-ea"/>
                <a:cs typeface="+mn-cs"/>
              </a:rPr>
              <a:t>interatrial</a:t>
            </a:r>
            <a:r>
              <a:rPr lang="en-US" sz="1200" kern="1200" baseline="0" dirty="0">
                <a:solidFill>
                  <a:schemeClr val="tx1"/>
                </a:solidFill>
                <a:latin typeface="+mn-lt"/>
                <a:ea typeface="+mn-ea"/>
                <a:cs typeface="+mn-cs"/>
              </a:rPr>
              <a:t> septum).</a:t>
            </a:r>
            <a:r>
              <a:rPr lang="en-US" dirty="0">
                <a:cs typeface="Arial" charset="0"/>
              </a:rPr>
              <a:t>; causes tremendous resistance to</a:t>
            </a:r>
            <a:r>
              <a:rPr lang="en-US" baseline="0" dirty="0">
                <a:cs typeface="Arial" charset="0"/>
              </a:rPr>
              <a:t> </a:t>
            </a:r>
            <a:r>
              <a:rPr lang="en-US" dirty="0" err="1">
                <a:cs typeface="Arial" charset="0"/>
              </a:rPr>
              <a:t>ejectio</a:t>
            </a:r>
            <a:r>
              <a:rPr lang="en-US" dirty="0">
                <a:cs typeface="Arial" charset="0"/>
              </a:rPr>
              <a:t> N</a:t>
            </a:r>
            <a:r>
              <a:rPr lang="en-US" baseline="0" dirty="0">
                <a:cs typeface="Arial" charset="0"/>
              </a:rPr>
              <a:t> </a:t>
            </a:r>
            <a:r>
              <a:rPr lang="en-US" dirty="0">
                <a:cs typeface="Arial" charset="0"/>
              </a:rPr>
              <a:t>which leads to increased left ventricular pressure.</a:t>
            </a:r>
            <a:r>
              <a:rPr lang="en-US" b="1" dirty="0">
                <a:latin typeface="Arial" charset="0"/>
                <a:cs typeface="Arial" charset="0"/>
              </a:rPr>
              <a:t> </a:t>
            </a:r>
          </a:p>
          <a:p>
            <a:r>
              <a:rPr lang="en-US" sz="1200" kern="1200" baseline="0" dirty="0">
                <a:solidFill>
                  <a:schemeClr val="tx1"/>
                </a:solidFill>
                <a:latin typeface="+mn-lt"/>
                <a:ea typeface="+mn-ea"/>
                <a:cs typeface="+mn-cs"/>
              </a:rPr>
              <a:t>.</a:t>
            </a:r>
            <a:endParaRPr lang="en-US" dirty="0"/>
          </a:p>
        </p:txBody>
      </p:sp>
      <p:sp>
        <p:nvSpPr>
          <p:cNvPr id="1048730" name="Slide Number Placeholder 3"/>
          <p:cNvSpPr>
            <a:spLocks noGrp="1"/>
          </p:cNvSpPr>
          <p:nvPr>
            <p:ph type="sldNum" sz="quarter" idx="10"/>
          </p:nvPr>
        </p:nvSpPr>
        <p:spPr/>
        <p:txBody>
          <a:bodyPr/>
          <a:lstStyle/>
          <a:p>
            <a:fld id="{3339A33E-CFCE-4DF7-B998-32133B188480}" type="slidenum">
              <a:rPr lang="en-US" smtClean="0"/>
              <a:pPr/>
              <a:t>26</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9" name="Slide Image Placeholder 1"/>
          <p:cNvSpPr>
            <a:spLocks noGrp="1" noRot="1" noChangeAspect="1"/>
          </p:cNvSpPr>
          <p:nvPr>
            <p:ph type="sldImg"/>
          </p:nvPr>
        </p:nvSpPr>
        <p:spPr/>
      </p:sp>
      <p:sp>
        <p:nvSpPr>
          <p:cNvPr id="1048750"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 large </a:t>
            </a:r>
            <a:r>
              <a:rPr lang="en-US" sz="1200" kern="1200" baseline="0" dirty="0" err="1">
                <a:solidFill>
                  <a:schemeClr val="tx1"/>
                </a:solidFill>
                <a:latin typeface="+mn-lt"/>
                <a:ea typeface="+mn-ea"/>
                <a:cs typeface="+mn-cs"/>
              </a:rPr>
              <a:t>transaortic</a:t>
            </a:r>
            <a:r>
              <a:rPr lang="en-US" sz="1200" kern="1200" baseline="0" dirty="0">
                <a:solidFill>
                  <a:schemeClr val="tx1"/>
                </a:solidFill>
                <a:latin typeface="+mn-lt"/>
                <a:ea typeface="+mn-ea"/>
                <a:cs typeface="+mn-cs"/>
              </a:rPr>
              <a:t> valve pressure gradient may exist for many years without a reduction in cardiac output (CO) or LV dilation; ultimately,</a:t>
            </a:r>
          </a:p>
          <a:p>
            <a:r>
              <a:rPr lang="en-US" sz="1200" kern="1200" baseline="0" dirty="0">
                <a:solidFill>
                  <a:schemeClr val="tx1"/>
                </a:solidFill>
                <a:latin typeface="+mn-lt"/>
                <a:ea typeface="+mn-ea"/>
                <a:cs typeface="+mn-cs"/>
              </a:rPr>
              <a:t>however, excessive hypertrophy becomes maladaptive, LV systolic function declines because of </a:t>
            </a:r>
            <a:r>
              <a:rPr lang="en-US" sz="1200" kern="1200" baseline="0" dirty="0" err="1">
                <a:solidFill>
                  <a:schemeClr val="tx1"/>
                </a:solidFill>
                <a:latin typeface="+mn-lt"/>
                <a:ea typeface="+mn-ea"/>
                <a:cs typeface="+mn-cs"/>
              </a:rPr>
              <a:t>afterload</a:t>
            </a:r>
            <a:r>
              <a:rPr lang="en-US" sz="1200" kern="1200" baseline="0" dirty="0">
                <a:solidFill>
                  <a:schemeClr val="tx1"/>
                </a:solidFill>
                <a:latin typeface="+mn-lt"/>
                <a:ea typeface="+mn-ea"/>
                <a:cs typeface="+mn-cs"/>
              </a:rPr>
              <a:t> mismatch, abnormalities of </a:t>
            </a:r>
            <a:r>
              <a:rPr lang="en-US" sz="1200" kern="1200" baseline="0" dirty="0" err="1">
                <a:solidFill>
                  <a:schemeClr val="tx1"/>
                </a:solidFill>
                <a:latin typeface="+mn-lt"/>
                <a:ea typeface="+mn-ea"/>
                <a:cs typeface="+mn-cs"/>
              </a:rPr>
              <a:t>diastolicfunction</a:t>
            </a:r>
            <a:r>
              <a:rPr lang="en-US" sz="1200" kern="1200" baseline="0" dirty="0">
                <a:solidFill>
                  <a:schemeClr val="tx1"/>
                </a:solidFill>
                <a:latin typeface="+mn-lt"/>
                <a:ea typeface="+mn-ea"/>
                <a:cs typeface="+mn-cs"/>
              </a:rPr>
              <a:t> progress, and irreversible myocardial fibrosis develops.</a:t>
            </a:r>
            <a:endParaRPr lang="en-US" dirty="0"/>
          </a:p>
        </p:txBody>
      </p:sp>
      <p:sp>
        <p:nvSpPr>
          <p:cNvPr id="1048751" name="Slide Number Placeholder 3"/>
          <p:cNvSpPr>
            <a:spLocks noGrp="1"/>
          </p:cNvSpPr>
          <p:nvPr>
            <p:ph type="sldNum" sz="quarter" idx="10"/>
          </p:nvPr>
        </p:nvSpPr>
        <p:spPr/>
        <p:txBody>
          <a:bodyPr/>
          <a:lstStyle/>
          <a:p>
            <a:fld id="{3339A33E-CFCE-4DF7-B998-32133B188480}" type="slidenum">
              <a:rPr lang="en-US" smtClean="0"/>
              <a:pPr/>
              <a:t>31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1" name="Slide Image Placeholder 1"/>
          <p:cNvSpPr>
            <a:spLocks noGrp="1" noRot="1" noChangeAspect="1"/>
          </p:cNvSpPr>
          <p:nvPr>
            <p:ph type="sldImg"/>
          </p:nvPr>
        </p:nvSpPr>
        <p:spPr/>
      </p:sp>
      <p:sp>
        <p:nvSpPr>
          <p:cNvPr id="1048762"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should suggest the possibility of associated mitral valve disease.</a:t>
            </a:r>
            <a:endParaRPr lang="en-US" dirty="0"/>
          </a:p>
        </p:txBody>
      </p:sp>
      <p:sp>
        <p:nvSpPr>
          <p:cNvPr id="1048763" name="Slide Number Placeholder 3"/>
          <p:cNvSpPr>
            <a:spLocks noGrp="1"/>
          </p:cNvSpPr>
          <p:nvPr>
            <p:ph type="sldNum" sz="quarter" idx="10"/>
          </p:nvPr>
        </p:nvSpPr>
        <p:spPr/>
        <p:txBody>
          <a:bodyPr/>
          <a:lstStyle/>
          <a:p>
            <a:fld id="{3339A33E-CFCE-4DF7-B998-32133B188480}" type="slidenum">
              <a:rPr lang="en-US" smtClean="0"/>
              <a:pPr/>
              <a:t>33</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9" name="Slide Image Placeholder 1"/>
          <p:cNvSpPr>
            <a:spLocks noGrp="1" noRot="1" noChangeAspect="1"/>
          </p:cNvSpPr>
          <p:nvPr>
            <p:ph type="sldImg"/>
          </p:nvPr>
        </p:nvSpPr>
        <p:spPr/>
      </p:sp>
      <p:sp>
        <p:nvSpPr>
          <p:cNvPr id="1048770"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Catheterization -Right and left heart catheterization for invasive assessment of AS is performed infrequently but can be useful when there is a discrepancy between the clinical and noninvasive findings</a:t>
            </a:r>
            <a:endParaRPr lang="en-US" dirty="0"/>
          </a:p>
        </p:txBody>
      </p:sp>
      <p:sp>
        <p:nvSpPr>
          <p:cNvPr id="1048771" name="Slide Number Placeholder 3"/>
          <p:cNvSpPr>
            <a:spLocks noGrp="1"/>
          </p:cNvSpPr>
          <p:nvPr>
            <p:ph type="sldNum" sz="quarter" idx="10"/>
          </p:nvPr>
        </p:nvSpPr>
        <p:spPr/>
        <p:txBody>
          <a:bodyPr/>
          <a:lstStyle/>
          <a:p>
            <a:fld id="{3339A33E-CFCE-4DF7-B998-32133B188480}" type="slidenum">
              <a:rPr lang="en-US" smtClean="0"/>
              <a:pPr/>
              <a:t>35</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82" name="Slide Image Placeholder 1"/>
          <p:cNvSpPr>
            <a:spLocks noGrp="1" noRot="1" noChangeAspect="1"/>
          </p:cNvSpPr>
          <p:nvPr>
            <p:ph type="sldImg"/>
          </p:nvPr>
        </p:nvSpPr>
        <p:spPr/>
      </p:sp>
      <p:sp>
        <p:nvSpPr>
          <p:cNvPr id="1048783" name="Notes Placeholder 2"/>
          <p:cNvSpPr>
            <a:spLocks noGrp="1"/>
          </p:cNvSpPr>
          <p:nvPr>
            <p:ph type="body" idx="1"/>
          </p:nvPr>
        </p:nvSpPr>
        <p:spPr/>
        <p:txBody>
          <a:bodyPr>
            <a:normAutofit/>
          </a:bodyPr>
          <a:lstStyle/>
          <a:p>
            <a:pPr>
              <a:buBlip>
                <a:blip r:embed="rId3"/>
              </a:buBlip>
            </a:pPr>
            <a:r>
              <a:rPr lang="en-US" dirty="0"/>
              <a:t>beta blockers and </a:t>
            </a:r>
            <a:r>
              <a:rPr lang="en-US" dirty="0" err="1"/>
              <a:t>angiotensin</a:t>
            </a:r>
            <a:r>
              <a:rPr lang="en-US" dirty="0"/>
              <a:t>-converting </a:t>
            </a:r>
            <a:r>
              <a:rPr lang="en-US" dirty="0" err="1"/>
              <a:t>enzye</a:t>
            </a:r>
            <a:r>
              <a:rPr lang="en-US" dirty="0"/>
              <a:t> (ACE) inhibitors - for asymptomatic patients with preserved LV systolic function. Nitroglycerin -relieving angina pectoris in patients with CAD.</a:t>
            </a:r>
          </a:p>
          <a:p>
            <a:endParaRPr lang="en-US" dirty="0"/>
          </a:p>
        </p:txBody>
      </p:sp>
      <p:sp>
        <p:nvSpPr>
          <p:cNvPr id="1048784" name="Slide Number Placeholder 3"/>
          <p:cNvSpPr>
            <a:spLocks noGrp="1"/>
          </p:cNvSpPr>
          <p:nvPr>
            <p:ph type="sldNum" sz="quarter" idx="10"/>
          </p:nvPr>
        </p:nvSpPr>
        <p:spPr/>
        <p:txBody>
          <a:bodyPr/>
          <a:lstStyle/>
          <a:p>
            <a:fld id="{3339A33E-CFCE-4DF7-B998-32133B188480}" type="slidenum">
              <a:rPr lang="en-US" smtClean="0"/>
              <a:pPr/>
              <a:t>37</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99" name="Slide Image Placeholder 1"/>
          <p:cNvSpPr>
            <a:spLocks noGrp="1" noRot="1" noChangeAspect="1"/>
          </p:cNvSpPr>
          <p:nvPr>
            <p:ph type="sldImg"/>
          </p:nvPr>
        </p:nvSpPr>
        <p:spPr/>
      </p:sp>
      <p:sp>
        <p:nvSpPr>
          <p:cNvPr id="1048800"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Coronary perfusion pressure must be maintained to prevent the vicious cycle of hypotension-induced ischemia, subsequent ventricular </a:t>
            </a:r>
            <a:r>
              <a:rPr lang="en-US" sz="1200" kern="1200" baseline="0" dirty="0" err="1">
                <a:solidFill>
                  <a:schemeClr val="tx1"/>
                </a:solidFill>
                <a:latin typeface="+mn-lt"/>
                <a:ea typeface="+mn-ea"/>
                <a:cs typeface="+mn-cs"/>
              </a:rPr>
              <a:t>dysfunction,and</a:t>
            </a:r>
            <a:r>
              <a:rPr lang="en-US" sz="1200" kern="1200" baseline="0" dirty="0">
                <a:solidFill>
                  <a:schemeClr val="tx1"/>
                </a:solidFill>
                <a:latin typeface="+mn-lt"/>
                <a:ea typeface="+mn-ea"/>
                <a:cs typeface="+mn-cs"/>
              </a:rPr>
              <a:t> worsening hypotension.</a:t>
            </a:r>
            <a:endParaRPr lang="en-US" dirty="0"/>
          </a:p>
        </p:txBody>
      </p:sp>
      <p:sp>
        <p:nvSpPr>
          <p:cNvPr id="1048801" name="Slide Number Placeholder 3"/>
          <p:cNvSpPr>
            <a:spLocks noGrp="1"/>
          </p:cNvSpPr>
          <p:nvPr>
            <p:ph type="sldNum" sz="quarter" idx="10"/>
          </p:nvPr>
        </p:nvSpPr>
        <p:spPr/>
        <p:txBody>
          <a:bodyPr/>
          <a:lstStyle/>
          <a:p>
            <a:fld id="{3339A33E-CFCE-4DF7-B998-32133B188480}" type="slidenum">
              <a:rPr lang="en-US" smtClean="0"/>
              <a:pPr/>
              <a:t>41</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US" dirty="0"/>
              <a:t>treat any possible arrhythmia, external </a:t>
            </a:r>
            <a:r>
              <a:rPr lang="en-US" dirty="0" err="1"/>
              <a:t>cardioversion</a:t>
            </a:r>
            <a:r>
              <a:rPr lang="en-US" dirty="0"/>
              <a:t> pads should be considered, preferably before induction of anesthesia.</a:t>
            </a:r>
          </a:p>
          <a:p>
            <a:endParaRPr lang="en-US" dirty="0"/>
          </a:p>
        </p:txBody>
      </p:sp>
      <p:sp>
        <p:nvSpPr>
          <p:cNvPr id="4" name="Slide Number Placeholder 3"/>
          <p:cNvSpPr>
            <a:spLocks noGrp="1"/>
          </p:cNvSpPr>
          <p:nvPr>
            <p:ph type="sldNum" sz="quarter" idx="10"/>
          </p:nvPr>
        </p:nvSpPr>
        <p:spPr/>
        <p:txBody>
          <a:bodyPr/>
          <a:lstStyle/>
          <a:p>
            <a:fld id="{CCECC6E7-3549-4180-AF2C-5FEF77A539A9}" type="slidenum">
              <a:rPr lang="en-US" smtClean="0"/>
              <a:pPr/>
              <a:t>42</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7" name="Slide Image Placeholder 1"/>
          <p:cNvSpPr>
            <a:spLocks noGrp="1" noRot="1" noChangeAspect="1"/>
          </p:cNvSpPr>
          <p:nvPr>
            <p:ph type="sldImg"/>
          </p:nvPr>
        </p:nvSpPr>
        <p:spPr/>
      </p:sp>
      <p:sp>
        <p:nvSpPr>
          <p:cNvPr id="1048818"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Due to diastolic dysfunction and impaired relaxation, the “</a:t>
            </a:r>
            <a:r>
              <a:rPr lang="en-US" sz="1200" kern="1200" baseline="0" dirty="0" err="1">
                <a:solidFill>
                  <a:schemeClr val="tx1"/>
                </a:solidFill>
                <a:latin typeface="+mn-lt"/>
                <a:ea typeface="+mn-ea"/>
                <a:cs typeface="+mn-cs"/>
              </a:rPr>
              <a:t>atrial</a:t>
            </a:r>
            <a:r>
              <a:rPr lang="en-US" sz="1200" kern="1200" baseline="0" dirty="0">
                <a:solidFill>
                  <a:schemeClr val="tx1"/>
                </a:solidFill>
                <a:latin typeface="+mn-lt"/>
                <a:ea typeface="+mn-ea"/>
                <a:cs typeface="+mn-cs"/>
              </a:rPr>
              <a:t> kick” may contribute as much as 40% of the total cardiac </a:t>
            </a:r>
            <a:r>
              <a:rPr lang="en-US" sz="1200" kern="1200" baseline="0" dirty="0" err="1">
                <a:solidFill>
                  <a:schemeClr val="tx1"/>
                </a:solidFill>
                <a:latin typeface="+mn-lt"/>
                <a:ea typeface="+mn-ea"/>
                <a:cs typeface="+mn-cs"/>
              </a:rPr>
              <a:t>output’’’’’'</a:t>
            </a:r>
            <a:r>
              <a:rPr lang="en-US" dirty="0" err="1"/>
              <a:t>Measure</a:t>
            </a:r>
            <a:r>
              <a:rPr lang="en-US" dirty="0"/>
              <a:t> Operative risk depends upon the severity of the AS, whether the patient has concomitant coronary disease, and the risks of the surgical procedure</a:t>
            </a:r>
          </a:p>
        </p:txBody>
      </p:sp>
      <p:sp>
        <p:nvSpPr>
          <p:cNvPr id="1048819" name="Slide Number Placeholder 3"/>
          <p:cNvSpPr>
            <a:spLocks noGrp="1"/>
          </p:cNvSpPr>
          <p:nvPr>
            <p:ph type="sldNum" sz="quarter" idx="10"/>
          </p:nvPr>
        </p:nvSpPr>
        <p:spPr/>
        <p:txBody>
          <a:bodyPr/>
          <a:lstStyle/>
          <a:p>
            <a:fld id="{3339A33E-CFCE-4DF7-B998-32133B188480}" type="slidenum">
              <a:rPr lang="en-US" smtClean="0"/>
              <a:pPr/>
              <a:t>44</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25" name="Slide Image Placeholder 1"/>
          <p:cNvSpPr>
            <a:spLocks noGrp="1" noRot="1" noChangeAspect="1"/>
          </p:cNvSpPr>
          <p:nvPr>
            <p:ph type="sldImg"/>
          </p:nvPr>
        </p:nvSpPr>
        <p:spPr/>
      </p:sp>
      <p:sp>
        <p:nvSpPr>
          <p:cNvPr id="1048826"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Prolapse</a:t>
            </a:r>
            <a:r>
              <a:rPr lang="en-US" sz="1200" kern="1200" baseline="0" dirty="0">
                <a:solidFill>
                  <a:schemeClr val="tx1"/>
                </a:solidFill>
                <a:latin typeface="+mn-lt"/>
                <a:ea typeface="+mn-ea"/>
                <a:cs typeface="+mn-cs"/>
              </a:rPr>
              <a:t> of an aortic cusp, resulting in progressive chronic AR,</a:t>
            </a:r>
            <a:endParaRPr lang="en-US" dirty="0"/>
          </a:p>
        </p:txBody>
      </p:sp>
      <p:sp>
        <p:nvSpPr>
          <p:cNvPr id="1048827" name="Slide Number Placeholder 3"/>
          <p:cNvSpPr>
            <a:spLocks noGrp="1"/>
          </p:cNvSpPr>
          <p:nvPr>
            <p:ph type="sldNum" sz="quarter" idx="10"/>
          </p:nvPr>
        </p:nvSpPr>
        <p:spPr/>
        <p:txBody>
          <a:bodyPr/>
          <a:lstStyle/>
          <a:p>
            <a:fld id="{3339A33E-CFCE-4DF7-B998-32133B188480}" type="slidenum">
              <a:rPr lang="en-US" smtClean="0"/>
              <a:pPr/>
              <a:t>45</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45" name="Slide Image Placeholder 1"/>
          <p:cNvSpPr>
            <a:spLocks noGrp="1" noRot="1" noChangeAspect="1"/>
          </p:cNvSpPr>
          <p:nvPr>
            <p:ph type="sldImg"/>
          </p:nvPr>
        </p:nvSpPr>
        <p:spPr/>
      </p:sp>
      <p:sp>
        <p:nvSpPr>
          <p:cNvPr id="1048846" name="Notes Placeholder 2"/>
          <p:cNvSpPr>
            <a:spLocks noGrp="1"/>
          </p:cNvSpPr>
          <p:nvPr>
            <p:ph type="body" idx="1"/>
          </p:nvPr>
        </p:nvSpPr>
        <p:spPr/>
        <p:txBody>
          <a:bodyPr>
            <a:normAutofit/>
          </a:bodyPr>
          <a:lstStyle/>
          <a:p>
            <a:r>
              <a:rPr lang="en-US" dirty="0"/>
              <a:t>(TSV i.e., the sum of the effective forward stroke volume and the volume of blood that regurgitates back into the LV). The dilation and eccentric hypertrophy of the LV allow this chamber to eject a larger stroke volume without requiring any increase in the relative shortening of each myofibril.</a:t>
            </a:r>
          </a:p>
        </p:txBody>
      </p:sp>
      <p:sp>
        <p:nvSpPr>
          <p:cNvPr id="1048847" name="Slide Number Placeholder 3"/>
          <p:cNvSpPr>
            <a:spLocks noGrp="1"/>
          </p:cNvSpPr>
          <p:nvPr>
            <p:ph type="sldNum" sz="quarter" idx="10"/>
          </p:nvPr>
        </p:nvSpPr>
        <p:spPr/>
        <p:txBody>
          <a:bodyPr/>
          <a:lstStyle/>
          <a:p>
            <a:fld id="{3339A33E-CFCE-4DF7-B998-32133B188480}" type="slidenum">
              <a:rPr lang="en-US" smtClean="0"/>
              <a:pPr/>
              <a:t>47</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52" name="Slide Image Placeholder 1"/>
          <p:cNvSpPr>
            <a:spLocks noGrp="1" noRot="1" noChangeAspect="1"/>
          </p:cNvSpPr>
          <p:nvPr>
            <p:ph type="sldImg"/>
          </p:nvPr>
        </p:nvSpPr>
        <p:spPr/>
      </p:sp>
      <p:sp>
        <p:nvSpPr>
          <p:cNvPr id="104885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pPr>
            <a:r>
              <a:rPr lang="en-US" dirty="0"/>
              <a:t>severe AR may occur with a normal effective forward stroke volume and a normal LVEF (total [forward plus </a:t>
            </a:r>
            <a:r>
              <a:rPr lang="en-US" dirty="0" err="1"/>
              <a:t>regurgitant</a:t>
            </a:r>
            <a:r>
              <a:rPr lang="en-US" dirty="0"/>
              <a:t>] stroke volume/end-diastolic</a:t>
            </a:r>
            <a:r>
              <a:rPr lang="en-US" baseline="0" dirty="0"/>
              <a:t> </a:t>
            </a:r>
            <a:r>
              <a:rPr lang="en-US" dirty="0"/>
              <a:t>volume), together with an elevated LV end-diastolic pressure and volume.</a:t>
            </a:r>
            <a:r>
              <a:rPr lang="en-US" sz="1200" kern="1200" baseline="0" dirty="0">
                <a:solidFill>
                  <a:schemeClr val="tx1"/>
                </a:solidFill>
                <a:latin typeface="+mn-lt"/>
                <a:ea typeface="+mn-ea"/>
                <a:cs typeface="+mn-cs"/>
              </a:rPr>
              <a:t> Chronic AR is more prevalent and carries a much better prognosis than acute AR. </a:t>
            </a:r>
            <a:endParaRPr lang="en-US" dirty="0"/>
          </a:p>
          <a:p>
            <a:endParaRPr lang="en-US" dirty="0"/>
          </a:p>
        </p:txBody>
      </p:sp>
      <p:sp>
        <p:nvSpPr>
          <p:cNvPr id="1048854" name="Slide Number Placeholder 3"/>
          <p:cNvSpPr>
            <a:spLocks noGrp="1"/>
          </p:cNvSpPr>
          <p:nvPr>
            <p:ph type="sldNum" sz="quarter" idx="10"/>
          </p:nvPr>
        </p:nvSpPr>
        <p:spPr/>
        <p:txBody>
          <a:bodyPr/>
          <a:lstStyle/>
          <a:p>
            <a:fld id="{3339A33E-CFCE-4DF7-B998-32133B188480}" type="slidenum">
              <a:rPr lang="en-US" smtClean="0"/>
              <a:pPr/>
              <a:t>49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59" name="Slide Image Placeholder 1"/>
          <p:cNvSpPr>
            <a:spLocks noGrp="1" noRot="1" noChangeAspect="1"/>
          </p:cNvSpPr>
          <p:nvPr>
            <p:ph type="sldImg"/>
          </p:nvPr>
        </p:nvSpPr>
        <p:spPr/>
      </p:sp>
      <p:sp>
        <p:nvSpPr>
          <p:cNvPr id="1048860"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Progressive volume loading in chronic AR increases end-diastolic wall tension. The left ventricle undergoes a process of remodeling due to series replication of </a:t>
            </a:r>
            <a:r>
              <a:rPr lang="en-US" sz="1200" kern="1200" baseline="0" dirty="0" err="1">
                <a:solidFill>
                  <a:schemeClr val="tx1"/>
                </a:solidFill>
                <a:latin typeface="+mn-lt"/>
                <a:ea typeface="+mn-ea"/>
                <a:cs typeface="+mn-cs"/>
              </a:rPr>
              <a:t>sarcomeres</a:t>
            </a:r>
            <a:r>
              <a:rPr lang="en-US" sz="1200" kern="1200" baseline="0" dirty="0">
                <a:solidFill>
                  <a:schemeClr val="tx1"/>
                </a:solidFill>
                <a:latin typeface="+mn-lt"/>
                <a:ea typeface="+mn-ea"/>
                <a:cs typeface="+mn-cs"/>
              </a:rPr>
              <a:t> and myofibril elongation, with development of eccentric ventricular hypertrophy and chamber enlargement. shows that the pressure-volume loop is shifted far to the right in patients with chronic AR. </a:t>
            </a:r>
            <a:endParaRPr lang="en-US" dirty="0"/>
          </a:p>
        </p:txBody>
      </p:sp>
      <p:sp>
        <p:nvSpPr>
          <p:cNvPr id="1048861" name="Slide Number Placeholder 3"/>
          <p:cNvSpPr>
            <a:spLocks noGrp="1"/>
          </p:cNvSpPr>
          <p:nvPr>
            <p:ph type="sldNum" sz="quarter" idx="10"/>
          </p:nvPr>
        </p:nvSpPr>
        <p:spPr/>
        <p:txBody>
          <a:bodyPr/>
          <a:lstStyle/>
          <a:p>
            <a:fld id="{3339A33E-CFCE-4DF7-B998-32133B188480}" type="slidenum">
              <a:rPr lang="en-US" smtClean="0"/>
              <a:pPr/>
              <a:t>50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67" name="Slide Image Placeholder 1"/>
          <p:cNvSpPr>
            <a:spLocks noGrp="1" noRot="1" noChangeAspect="1"/>
          </p:cNvSpPr>
          <p:nvPr>
            <p:ph type="sldImg"/>
          </p:nvPr>
        </p:nvSpPr>
        <p:spPr/>
      </p:sp>
      <p:sp>
        <p:nvSpPr>
          <p:cNvPr id="1048868" name="Notes Placeholder 2"/>
          <p:cNvSpPr>
            <a:spLocks noGrp="1"/>
          </p:cNvSpPr>
          <p:nvPr>
            <p:ph type="body" idx="1"/>
          </p:nvPr>
        </p:nvSpPr>
        <p:spPr/>
        <p:txBody>
          <a:bodyPr>
            <a:normAutofit/>
          </a:bodyPr>
          <a:lstStyle/>
          <a:p>
            <a:r>
              <a:rPr lang="en-US" dirty="0">
                <a:solidFill>
                  <a:srgbClr val="FF0000"/>
                </a:solidFill>
                <a:effectLst>
                  <a:outerShdw blurRad="38100" dist="38100" dir="2700000" algn="tl">
                    <a:srgbClr val="000000">
                      <a:alpha val="43137"/>
                    </a:srgbClr>
                  </a:outerShdw>
                </a:effectLst>
              </a:rPr>
              <a:t>N.B. In patients with AR, forward flow is improved by peripheral </a:t>
            </a:r>
            <a:r>
              <a:rPr lang="en-US" dirty="0" err="1">
                <a:solidFill>
                  <a:srgbClr val="FF0000"/>
                </a:solidFill>
                <a:effectLst>
                  <a:outerShdw blurRad="38100" dist="38100" dir="2700000" algn="tl">
                    <a:srgbClr val="000000">
                      <a:alpha val="43137"/>
                    </a:srgbClr>
                  </a:outerShdw>
                </a:effectLst>
              </a:rPr>
              <a:t>vasodilation</a:t>
            </a:r>
            <a:r>
              <a:rPr lang="en-US" dirty="0">
                <a:solidFill>
                  <a:srgbClr val="FF0000"/>
                </a:solidFill>
                <a:effectLst>
                  <a:outerShdw blurRad="38100" dist="38100" dir="2700000" algn="tl">
                    <a:srgbClr val="000000">
                      <a:alpha val="43137"/>
                    </a:srgbClr>
                  </a:outerShdw>
                </a:effectLst>
              </a:rPr>
              <a:t>. </a:t>
            </a:r>
            <a:endParaRPr lang="en-US" dirty="0"/>
          </a:p>
        </p:txBody>
      </p:sp>
      <p:sp>
        <p:nvSpPr>
          <p:cNvPr id="1048869" name="Slide Number Placeholder 3"/>
          <p:cNvSpPr>
            <a:spLocks noGrp="1"/>
          </p:cNvSpPr>
          <p:nvPr>
            <p:ph type="sldNum" sz="quarter" idx="10"/>
          </p:nvPr>
        </p:nvSpPr>
        <p:spPr/>
        <p:txBody>
          <a:bodyPr/>
          <a:lstStyle/>
          <a:p>
            <a:fld id="{3339A33E-CFCE-4DF7-B998-32133B188480}" type="slidenum">
              <a:rPr lang="en-US" smtClean="0"/>
              <a:pPr/>
              <a:t>51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75" name="Slide Image Placeholder 1"/>
          <p:cNvSpPr>
            <a:spLocks noGrp="1" noRot="1" noChangeAspect="1"/>
          </p:cNvSpPr>
          <p:nvPr>
            <p:ph type="sldImg"/>
          </p:nvPr>
        </p:nvSpPr>
        <p:spPr/>
      </p:sp>
      <p:sp>
        <p:nvSpPr>
          <p:cNvPr id="1048876" name="Notes Placeholder 2"/>
          <p:cNvSpPr>
            <a:spLocks noGrp="1"/>
          </p:cNvSpPr>
          <p:nvPr>
            <p:ph type="body" idx="1"/>
          </p:nvPr>
        </p:nvSpPr>
        <p:spPr/>
        <p:txBody>
          <a:bodyPr>
            <a:normAutofit/>
          </a:bodyPr>
          <a:lstStyle/>
          <a:p>
            <a:endParaRPr lang="en-US" dirty="0"/>
          </a:p>
        </p:txBody>
      </p:sp>
      <p:sp>
        <p:nvSpPr>
          <p:cNvPr id="1048877" name="Slide Number Placeholder 3"/>
          <p:cNvSpPr>
            <a:spLocks noGrp="1"/>
          </p:cNvSpPr>
          <p:nvPr>
            <p:ph type="sldNum" sz="quarter" idx="10"/>
          </p:nvPr>
        </p:nvSpPr>
        <p:spPr/>
        <p:txBody>
          <a:bodyPr/>
          <a:lstStyle/>
          <a:p>
            <a:fld id="{3339A33E-CFCE-4DF7-B998-32133B188480}" type="slidenum">
              <a:rPr lang="en-US" smtClean="0"/>
              <a:pPr/>
              <a:t>52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83" name="Slide Image Placeholder 1"/>
          <p:cNvSpPr>
            <a:spLocks noGrp="1" noRot="1" noChangeAspect="1"/>
          </p:cNvSpPr>
          <p:nvPr>
            <p:ph type="sldImg"/>
          </p:nvPr>
        </p:nvSpPr>
        <p:spPr/>
      </p:sp>
      <p:sp>
        <p:nvSpPr>
          <p:cNvPr id="1048884"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Notably,  (LVEDP) remains relatively normal because (LVEDV) increases slowly that is why remain asymptomatic </a:t>
            </a:r>
            <a:endParaRPr lang="en-US" dirty="0"/>
          </a:p>
        </p:txBody>
      </p:sp>
      <p:sp>
        <p:nvSpPr>
          <p:cNvPr id="1048885" name="Slide Number Placeholder 3"/>
          <p:cNvSpPr>
            <a:spLocks noGrp="1"/>
          </p:cNvSpPr>
          <p:nvPr>
            <p:ph type="sldNum" sz="quarter" idx="10"/>
          </p:nvPr>
        </p:nvSpPr>
        <p:spPr/>
        <p:txBody>
          <a:bodyPr/>
          <a:lstStyle/>
          <a:p>
            <a:fld id="{3339A33E-CFCE-4DF7-B998-32133B188480}" type="slidenum">
              <a:rPr lang="en-US" smtClean="0"/>
              <a:pPr/>
              <a:t>54</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91" name="Slide Image Placeholder 1"/>
          <p:cNvSpPr>
            <a:spLocks noGrp="1" noRot="1" noChangeAspect="1"/>
          </p:cNvSpPr>
          <p:nvPr>
            <p:ph type="sldImg"/>
          </p:nvPr>
        </p:nvSpPr>
        <p:spPr/>
      </p:sp>
      <p:sp>
        <p:nvSpPr>
          <p:cNvPr id="1048892"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 rapidly rising “, which collapses suddenly as arterial pressure falls rapidly during late systole and diastole (Corrigan’s pulse), and capillary pulsations, an alternate flushing and paling of the skin at the root of the nail while pressure is applied to the tip of the nail (</a:t>
            </a:r>
            <a:r>
              <a:rPr lang="en-US" sz="1200" kern="1200" baseline="0" dirty="0" err="1">
                <a:solidFill>
                  <a:schemeClr val="tx1"/>
                </a:solidFill>
                <a:latin typeface="+mn-lt"/>
                <a:ea typeface="+mn-ea"/>
                <a:cs typeface="+mn-cs"/>
              </a:rPr>
              <a:t>Quincke’s</a:t>
            </a:r>
            <a:r>
              <a:rPr lang="en-US" sz="1200" kern="1200" baseline="0" dirty="0">
                <a:solidFill>
                  <a:schemeClr val="tx1"/>
                </a:solidFill>
                <a:latin typeface="+mn-lt"/>
                <a:ea typeface="+mn-ea"/>
                <a:cs typeface="+mn-cs"/>
              </a:rPr>
              <a:t> pulse), are characteristic</a:t>
            </a:r>
            <a:endParaRPr lang="en-US" dirty="0"/>
          </a:p>
        </p:txBody>
      </p:sp>
      <p:sp>
        <p:nvSpPr>
          <p:cNvPr id="1048893" name="Slide Number Placeholder 3"/>
          <p:cNvSpPr>
            <a:spLocks noGrp="1"/>
          </p:cNvSpPr>
          <p:nvPr>
            <p:ph type="sldNum" sz="quarter" idx="10"/>
          </p:nvPr>
        </p:nvSpPr>
        <p:spPr/>
        <p:txBody>
          <a:bodyPr/>
          <a:lstStyle/>
          <a:p>
            <a:fld id="{3339A33E-CFCE-4DF7-B998-32133B188480}" type="slidenum">
              <a:rPr lang="en-US" smtClean="0"/>
              <a:pPr/>
              <a:t>55</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t>ECG</a:t>
            </a:r>
            <a:r>
              <a:rPr lang="en-US" dirty="0"/>
              <a:t> –</a:t>
            </a:r>
            <a:r>
              <a:rPr lang="en-US" i="1" dirty="0"/>
              <a:t>signs of LV hypertrophy ST-segment depression and T-wave inversion in( I, </a:t>
            </a:r>
            <a:r>
              <a:rPr lang="en-US" i="1" dirty="0" err="1"/>
              <a:t>aVL</a:t>
            </a:r>
            <a:r>
              <a:rPr lang="en-US" i="1" dirty="0"/>
              <a:t>, V5, and V6 (“LV strain”).</a:t>
            </a:r>
            <a:endParaRPr lang="en-US" dirty="0"/>
          </a:p>
          <a:p>
            <a:endParaRPr lang="en-US" dirty="0"/>
          </a:p>
        </p:txBody>
      </p:sp>
      <p:sp>
        <p:nvSpPr>
          <p:cNvPr id="4" name="Slide Number Placeholder 3"/>
          <p:cNvSpPr>
            <a:spLocks noGrp="1"/>
          </p:cNvSpPr>
          <p:nvPr>
            <p:ph type="sldNum" sz="quarter" idx="10"/>
          </p:nvPr>
        </p:nvSpPr>
        <p:spPr/>
        <p:txBody>
          <a:bodyPr/>
          <a:lstStyle/>
          <a:p>
            <a:fld id="{CCECC6E7-3549-4180-AF2C-5FEF77A539A9}" type="slidenum">
              <a:rPr lang="en-US" smtClean="0"/>
              <a:pPr/>
              <a:t>57</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04" name="Slide Image Placeholder 1"/>
          <p:cNvSpPr>
            <a:spLocks noGrp="1" noRot="1" noChangeAspect="1"/>
          </p:cNvSpPr>
          <p:nvPr>
            <p:ph type="sldImg"/>
          </p:nvPr>
        </p:nvSpPr>
        <p:spPr/>
      </p:sp>
      <p:sp>
        <p:nvSpPr>
          <p:cNvPr id="1048905" name="Notes Placeholder 2"/>
          <p:cNvSpPr>
            <a:spLocks noGrp="1"/>
          </p:cNvSpPr>
          <p:nvPr>
            <p:ph type="body" idx="1"/>
          </p:nvPr>
        </p:nvSpPr>
        <p:spPr/>
        <p:txBody>
          <a:bodyPr>
            <a:normAutofit/>
          </a:bodyPr>
          <a:lstStyle/>
          <a:p>
            <a:r>
              <a:rPr lang="en-US" dirty="0"/>
              <a:t>Beta blockers are also best avoided so as not to reduce the CO further or slow the heart</a:t>
            </a:r>
            <a:r>
              <a:rPr lang="en-US" baseline="0" dirty="0"/>
              <a:t> </a:t>
            </a:r>
            <a:r>
              <a:rPr lang="en-US" dirty="0"/>
              <a:t>rate, thus allowing more time for diastolic filling of the LV. Systolic blood pressure should be controlled (goal &lt;140 mmHg) in patients with chronic AR, and vasodilators are an excellent first choice as antihypertensive agents. </a:t>
            </a:r>
          </a:p>
        </p:txBody>
      </p:sp>
      <p:sp>
        <p:nvSpPr>
          <p:cNvPr id="1048906" name="Slide Number Placeholder 3"/>
          <p:cNvSpPr>
            <a:spLocks noGrp="1"/>
          </p:cNvSpPr>
          <p:nvPr>
            <p:ph type="sldNum" sz="quarter" idx="10"/>
          </p:nvPr>
        </p:nvSpPr>
        <p:spPr/>
        <p:txBody>
          <a:bodyPr/>
          <a:lstStyle/>
          <a:p>
            <a:fld id="{3339A33E-CFCE-4DF7-B998-32133B188480}" type="slidenum">
              <a:rPr lang="en-US" smtClean="0"/>
              <a:pPr/>
              <a:t>58</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17" name="Slide Image Placeholder 1"/>
          <p:cNvSpPr>
            <a:spLocks noGrp="1" noRot="1" noChangeAspect="1"/>
          </p:cNvSpPr>
          <p:nvPr>
            <p:ph type="sldImg"/>
          </p:nvPr>
        </p:nvSpPr>
        <p:spPr/>
      </p:sp>
      <p:sp>
        <p:nvSpPr>
          <p:cNvPr id="1048918"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[SVR]) will minimize the pressure gradient back across the aortic valve during diastole, improving forward flow and decreasing LVEDP </a:t>
            </a:r>
            <a:endParaRPr lang="en-US" dirty="0"/>
          </a:p>
        </p:txBody>
      </p:sp>
      <p:sp>
        <p:nvSpPr>
          <p:cNvPr id="1048919" name="Slide Number Placeholder 3"/>
          <p:cNvSpPr>
            <a:spLocks noGrp="1"/>
          </p:cNvSpPr>
          <p:nvPr>
            <p:ph type="sldNum" sz="quarter" idx="10"/>
          </p:nvPr>
        </p:nvSpPr>
        <p:spPr/>
        <p:txBody>
          <a:bodyPr/>
          <a:lstStyle/>
          <a:p>
            <a:fld id="{3339A33E-CFCE-4DF7-B998-32133B188480}" type="slidenum">
              <a:rPr lang="en-US" smtClean="0"/>
              <a:pPr/>
              <a:t>60</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34" name="Slide Image Placeholder 1"/>
          <p:cNvSpPr>
            <a:spLocks noGrp="1" noRot="1" noChangeAspect="1"/>
          </p:cNvSpPr>
          <p:nvPr>
            <p:ph type="sldImg"/>
          </p:nvPr>
        </p:nvSpPr>
        <p:spPr/>
      </p:sp>
      <p:sp>
        <p:nvSpPr>
          <p:cNvPr id="1048935"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Rheumatic heart disease was once the primary cause of mitral </a:t>
            </a:r>
            <a:r>
              <a:rPr lang="en-US" sz="1200" kern="1200" baseline="0" dirty="0" err="1">
                <a:solidFill>
                  <a:schemeClr val="tx1"/>
                </a:solidFill>
                <a:latin typeface="+mn-lt"/>
                <a:ea typeface="+mn-ea"/>
                <a:cs typeface="+mn-cs"/>
              </a:rPr>
              <a:t>stenosis</a:t>
            </a:r>
            <a:r>
              <a:rPr lang="en-US" sz="1200" kern="1200" baseline="0" dirty="0">
                <a:solidFill>
                  <a:schemeClr val="tx1"/>
                </a:solidFill>
                <a:latin typeface="+mn-lt"/>
                <a:ea typeface="+mn-ea"/>
                <a:cs typeface="+mn-cs"/>
              </a:rPr>
              <a:t> (MS), </a:t>
            </a:r>
            <a:endParaRPr lang="en-US" dirty="0"/>
          </a:p>
        </p:txBody>
      </p:sp>
      <p:sp>
        <p:nvSpPr>
          <p:cNvPr id="1048936" name="Slide Number Placeholder 3"/>
          <p:cNvSpPr>
            <a:spLocks noGrp="1"/>
          </p:cNvSpPr>
          <p:nvPr>
            <p:ph type="sldNum" sz="quarter" idx="10"/>
          </p:nvPr>
        </p:nvSpPr>
        <p:spPr/>
        <p:txBody>
          <a:bodyPr/>
          <a:lstStyle/>
          <a:p>
            <a:fld id="{3339A33E-CFCE-4DF7-B998-32133B188480}" type="slidenum">
              <a:rPr lang="en-US" smtClean="0"/>
              <a:pPr/>
              <a:t>64</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42" name="Slide Image Placeholder 1"/>
          <p:cNvSpPr>
            <a:spLocks noGrp="1" noRot="1" noChangeAspect="1"/>
          </p:cNvSpPr>
          <p:nvPr>
            <p:ph type="sldImg"/>
          </p:nvPr>
        </p:nvSpPr>
        <p:spPr/>
      </p:sp>
      <p:sp>
        <p:nvSpPr>
          <p:cNvPr id="104894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Tx/>
              <a:buNone/>
            </a:pPr>
            <a:r>
              <a:rPr lang="en-US" dirty="0">
                <a:effectLst>
                  <a:outerShdw blurRad="38100" dist="38100" dir="2700000" algn="tl">
                    <a:srgbClr val="000000"/>
                  </a:outerShdw>
                </a:effectLst>
              </a:rPr>
              <a:t>66% of patients are female</a:t>
            </a:r>
          </a:p>
          <a:p>
            <a:endParaRPr lang="en-US" dirty="0"/>
          </a:p>
        </p:txBody>
      </p:sp>
      <p:sp>
        <p:nvSpPr>
          <p:cNvPr id="1048944" name="Slide Number Placeholder 3"/>
          <p:cNvSpPr>
            <a:spLocks noGrp="1"/>
          </p:cNvSpPr>
          <p:nvPr>
            <p:ph type="sldNum" sz="quarter" idx="10"/>
          </p:nvPr>
        </p:nvSpPr>
        <p:spPr/>
        <p:txBody>
          <a:bodyPr/>
          <a:lstStyle/>
          <a:p>
            <a:fld id="{3339A33E-CFCE-4DF7-B998-32133B188480}" type="slidenum">
              <a:rPr lang="en-US" smtClean="0"/>
              <a:pPr/>
              <a:t>65</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59" name="Slide Image Placeholder 1"/>
          <p:cNvSpPr>
            <a:spLocks noGrp="1" noRot="1" noChangeAspect="1"/>
          </p:cNvSpPr>
          <p:nvPr>
            <p:ph type="sldImg"/>
          </p:nvPr>
        </p:nvSpPr>
        <p:spPr/>
      </p:sp>
      <p:sp>
        <p:nvSpPr>
          <p:cNvPr id="1048960"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increased left </a:t>
            </a:r>
            <a:r>
              <a:rPr lang="en-US" sz="1200" kern="1200" baseline="0" dirty="0" err="1">
                <a:solidFill>
                  <a:schemeClr val="tx1"/>
                </a:solidFill>
                <a:latin typeface="+mn-lt"/>
                <a:ea typeface="+mn-ea"/>
                <a:cs typeface="+mn-cs"/>
              </a:rPr>
              <a:t>atrial</a:t>
            </a:r>
            <a:r>
              <a:rPr lang="en-US" sz="1200" kern="1200" baseline="0" dirty="0">
                <a:solidFill>
                  <a:schemeClr val="tx1"/>
                </a:solidFill>
                <a:latin typeface="+mn-lt"/>
                <a:ea typeface="+mn-ea"/>
                <a:cs typeface="+mn-cs"/>
              </a:rPr>
              <a:t> pressure in patients with MS gradually produces left </a:t>
            </a:r>
            <a:r>
              <a:rPr lang="en-US" sz="1200" kern="1200" baseline="0" dirty="0" err="1">
                <a:solidFill>
                  <a:schemeClr val="tx1"/>
                </a:solidFill>
                <a:latin typeface="+mn-lt"/>
                <a:ea typeface="+mn-ea"/>
                <a:cs typeface="+mn-cs"/>
              </a:rPr>
              <a:t>atrial</a:t>
            </a:r>
            <a:r>
              <a:rPr lang="en-US" sz="1200" kern="1200" baseline="0" dirty="0">
                <a:solidFill>
                  <a:schemeClr val="tx1"/>
                </a:solidFill>
                <a:latin typeface="+mn-lt"/>
                <a:ea typeface="+mn-ea"/>
                <a:cs typeface="+mn-cs"/>
              </a:rPr>
              <a:t> dilation. Such </a:t>
            </a:r>
            <a:r>
              <a:rPr lang="en-US" sz="1200" kern="1200" baseline="0" dirty="0" err="1">
                <a:solidFill>
                  <a:schemeClr val="tx1"/>
                </a:solidFill>
                <a:latin typeface="+mn-lt"/>
                <a:ea typeface="+mn-ea"/>
                <a:cs typeface="+mn-cs"/>
              </a:rPr>
              <a:t>atrial</a:t>
            </a:r>
            <a:r>
              <a:rPr lang="en-US" sz="1200" kern="1200" baseline="0" dirty="0">
                <a:solidFill>
                  <a:schemeClr val="tx1"/>
                </a:solidFill>
                <a:latin typeface="+mn-lt"/>
                <a:ea typeface="+mn-ea"/>
                <a:cs typeface="+mn-cs"/>
              </a:rPr>
              <a:t> enlargement can lead to the onset of </a:t>
            </a:r>
            <a:r>
              <a:rPr lang="en-US" sz="1200" kern="1200" baseline="0" dirty="0" err="1">
                <a:solidFill>
                  <a:schemeClr val="tx1"/>
                </a:solidFill>
                <a:latin typeface="+mn-lt"/>
                <a:ea typeface="+mn-ea"/>
                <a:cs typeface="+mn-cs"/>
              </a:rPr>
              <a:t>atrial</a:t>
            </a:r>
            <a:r>
              <a:rPr lang="en-US" sz="1200" kern="1200" baseline="0" dirty="0">
                <a:solidFill>
                  <a:schemeClr val="tx1"/>
                </a:solidFill>
                <a:latin typeface="+mn-lt"/>
                <a:ea typeface="+mn-ea"/>
                <a:cs typeface="+mn-cs"/>
              </a:rPr>
              <a:t> fibrillation and also to </a:t>
            </a:r>
            <a:r>
              <a:rPr lang="en-US" sz="1200" kern="1200" baseline="0" dirty="0" err="1">
                <a:solidFill>
                  <a:schemeClr val="tx1"/>
                </a:solidFill>
                <a:latin typeface="+mn-lt"/>
                <a:ea typeface="+mn-ea"/>
                <a:cs typeface="+mn-cs"/>
              </a:rPr>
              <a:t>thromboembolic</a:t>
            </a:r>
            <a:r>
              <a:rPr lang="en-US" sz="1200" kern="1200" baseline="0" dirty="0">
                <a:solidFill>
                  <a:schemeClr val="tx1"/>
                </a:solidFill>
                <a:latin typeface="+mn-lt"/>
                <a:ea typeface="+mn-ea"/>
                <a:cs typeface="+mn-cs"/>
              </a:rPr>
              <a:t> complications if a clot forms in the atrium or appendage due to low velocity blood flow. </a:t>
            </a:r>
            <a:endParaRPr lang="en-US" dirty="0"/>
          </a:p>
        </p:txBody>
      </p:sp>
      <p:sp>
        <p:nvSpPr>
          <p:cNvPr id="1048961" name="Slide Number Placeholder 3"/>
          <p:cNvSpPr>
            <a:spLocks noGrp="1"/>
          </p:cNvSpPr>
          <p:nvPr>
            <p:ph type="sldNum" sz="quarter" idx="10"/>
          </p:nvPr>
        </p:nvSpPr>
        <p:spPr/>
        <p:txBody>
          <a:bodyPr/>
          <a:lstStyle/>
          <a:p>
            <a:fld id="{3339A33E-CFCE-4DF7-B998-32133B188480}" type="slidenum">
              <a:rPr lang="en-US" smtClean="0"/>
              <a:pPr/>
              <a:t>69</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66" name="Slide Image Placeholder 1"/>
          <p:cNvSpPr>
            <a:spLocks noGrp="1" noRot="1" noChangeAspect="1"/>
          </p:cNvSpPr>
          <p:nvPr>
            <p:ph type="sldImg"/>
          </p:nvPr>
        </p:nvSpPr>
        <p:spPr/>
      </p:sp>
      <p:sp>
        <p:nvSpPr>
          <p:cNvPr id="1048967"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In cases of MS, pressure-volume loops are shifted to the left, so that LVEDP and LVEDV are lower</a:t>
            </a:r>
            <a:endParaRPr lang="en-US" dirty="0"/>
          </a:p>
        </p:txBody>
      </p:sp>
      <p:sp>
        <p:nvSpPr>
          <p:cNvPr id="1048968" name="Slide Number Placeholder 3"/>
          <p:cNvSpPr>
            <a:spLocks noGrp="1"/>
          </p:cNvSpPr>
          <p:nvPr>
            <p:ph type="sldNum" sz="quarter" idx="10"/>
          </p:nvPr>
        </p:nvSpPr>
        <p:spPr/>
        <p:txBody>
          <a:bodyPr/>
          <a:lstStyle/>
          <a:p>
            <a:fld id="{3339A33E-CFCE-4DF7-B998-32133B188480}" type="slidenum">
              <a:rPr lang="en-US" smtClean="0"/>
              <a:pPr/>
              <a:t>70</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3000" u="sng" dirty="0">
                <a:effectLst>
                  <a:outerShdw blurRad="38100" dist="38100" dir="2700000" algn="tl">
                    <a:srgbClr val="000000">
                      <a:alpha val="43137"/>
                    </a:srgbClr>
                  </a:outerShdw>
                </a:effectLst>
              </a:rPr>
              <a:t>Preload</a:t>
            </a:r>
            <a:r>
              <a:rPr lang="en-US" sz="3000" dirty="0"/>
              <a:t>- Maintain or slightly increase to help with left ventricular filling; excess preload may cause pulmonary edema</a:t>
            </a:r>
          </a:p>
          <a:p>
            <a:endParaRPr lang="en-US" dirty="0"/>
          </a:p>
        </p:txBody>
      </p:sp>
      <p:sp>
        <p:nvSpPr>
          <p:cNvPr id="4" name="Slide Number Placeholder 3"/>
          <p:cNvSpPr>
            <a:spLocks noGrp="1"/>
          </p:cNvSpPr>
          <p:nvPr>
            <p:ph type="sldNum" sz="quarter" idx="10"/>
          </p:nvPr>
        </p:nvSpPr>
        <p:spPr/>
        <p:txBody>
          <a:bodyPr/>
          <a:lstStyle/>
          <a:p>
            <a:fld id="{CCECC6E7-3549-4180-AF2C-5FEF77A539A9}" type="slidenum">
              <a:rPr lang="en-US" smtClean="0"/>
              <a:pPr/>
              <a:t>74</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94" name="Slide Image Placeholder 1"/>
          <p:cNvSpPr>
            <a:spLocks noGrp="1" noRot="1" noChangeAspect="1"/>
          </p:cNvSpPr>
          <p:nvPr>
            <p:ph type="sldImg"/>
          </p:nvPr>
        </p:nvSpPr>
        <p:spPr/>
      </p:sp>
      <p:sp>
        <p:nvSpPr>
          <p:cNvPr id="1048995" name="Notes Placeholder 2"/>
          <p:cNvSpPr>
            <a:spLocks noGrp="1"/>
          </p:cNvSpPr>
          <p:nvPr>
            <p:ph type="body" idx="1"/>
          </p:nvPr>
        </p:nvSpPr>
        <p:spPr/>
        <p:txBody>
          <a:bodyPr>
            <a:normAutofit/>
          </a:bodyPr>
          <a:lstStyle/>
          <a:p>
            <a:pPr marL="342900" lvl="1" indent="-342900">
              <a:buBlip>
                <a:blip r:embed="rId3"/>
              </a:buBlip>
            </a:pPr>
            <a:r>
              <a:rPr lang="en-US" sz="2400" dirty="0" err="1">
                <a:effectLst>
                  <a:outerShdw blurRad="38100" dist="38100" dir="2700000" algn="tl">
                    <a:srgbClr val="000000"/>
                  </a:outerShdw>
                </a:effectLst>
              </a:rPr>
              <a:t>Phenylephrine</a:t>
            </a:r>
            <a:r>
              <a:rPr lang="en-US" sz="2400" dirty="0">
                <a:effectLst>
                  <a:outerShdw blurRad="38100" dist="38100" dir="2700000" algn="tl">
                    <a:srgbClr val="000000"/>
                  </a:outerShdw>
                </a:effectLst>
              </a:rPr>
              <a:t> is preferred over ephedrine.</a:t>
            </a:r>
            <a:r>
              <a:rPr lang="en-US" sz="2400" kern="1200" baseline="0" dirty="0">
                <a:solidFill>
                  <a:schemeClr val="tx1"/>
                </a:solidFill>
                <a:latin typeface="+mn-lt"/>
                <a:ea typeface="+mn-ea"/>
                <a:cs typeface="+mn-cs"/>
              </a:rPr>
              <a:t> the avoidance of tachycardia, as the time required for left ventricular diastolic </a:t>
            </a:r>
            <a:r>
              <a:rPr lang="en-US" sz="2400" kern="1200" baseline="0" dirty="0" err="1">
                <a:solidFill>
                  <a:schemeClr val="tx1"/>
                </a:solidFill>
                <a:latin typeface="+mn-lt"/>
                <a:ea typeface="+mn-ea"/>
                <a:cs typeface="+mn-cs"/>
              </a:rPr>
              <a:t>fi</a:t>
            </a:r>
            <a:r>
              <a:rPr lang="en-US" sz="2400" kern="1200" baseline="0" dirty="0">
                <a:solidFill>
                  <a:schemeClr val="tx1"/>
                </a:solidFill>
                <a:latin typeface="+mn-lt"/>
                <a:ea typeface="+mn-ea"/>
                <a:cs typeface="+mn-cs"/>
              </a:rPr>
              <a:t> </a:t>
            </a:r>
            <a:r>
              <a:rPr lang="en-US" sz="2400" kern="1200" baseline="0" dirty="0" err="1">
                <a:solidFill>
                  <a:schemeClr val="tx1"/>
                </a:solidFill>
                <a:latin typeface="+mn-lt"/>
                <a:ea typeface="+mn-ea"/>
                <a:cs typeface="+mn-cs"/>
              </a:rPr>
              <a:t>lling</a:t>
            </a:r>
            <a:r>
              <a:rPr lang="en-US" sz="2400" kern="1200" baseline="0" dirty="0">
                <a:solidFill>
                  <a:schemeClr val="tx1"/>
                </a:solidFill>
                <a:latin typeface="+mn-lt"/>
                <a:ea typeface="+mn-ea"/>
                <a:cs typeface="+mn-cs"/>
              </a:rPr>
              <a:t> is prolonged in mitral . A high </a:t>
            </a:r>
            <a:r>
              <a:rPr lang="en-US" sz="2400" kern="1200" baseline="0" dirty="0" err="1">
                <a:solidFill>
                  <a:schemeClr val="tx1"/>
                </a:solidFill>
                <a:latin typeface="+mn-lt"/>
                <a:ea typeface="+mn-ea"/>
                <a:cs typeface="+mn-cs"/>
              </a:rPr>
              <a:t>thrombo</a:t>
            </a:r>
            <a:r>
              <a:rPr lang="en-US" sz="2400" kern="1200" baseline="0" dirty="0">
                <a:solidFill>
                  <a:schemeClr val="tx1"/>
                </a:solidFill>
                <a:latin typeface="+mn-lt"/>
                <a:ea typeface="+mn-ea"/>
                <a:cs typeface="+mn-cs"/>
              </a:rPr>
              <a:t>-embolic risk is associated with </a:t>
            </a:r>
            <a:r>
              <a:rPr lang="en-US" sz="2400" kern="1200" baseline="0" dirty="0" err="1">
                <a:solidFill>
                  <a:schemeClr val="tx1"/>
                </a:solidFill>
                <a:latin typeface="+mn-lt"/>
                <a:ea typeface="+mn-ea"/>
                <a:cs typeface="+mn-cs"/>
              </a:rPr>
              <a:t>valvular</a:t>
            </a:r>
            <a:r>
              <a:rPr lang="en-US" sz="2400" kern="1200" baseline="0" dirty="0">
                <a:solidFill>
                  <a:schemeClr val="tx1"/>
                </a:solidFill>
                <a:latin typeface="+mn-lt"/>
                <a:ea typeface="+mn-ea"/>
                <a:cs typeface="+mn-cs"/>
              </a:rPr>
              <a:t> AF. This is particularly pronounced in patients with severe MS.</a:t>
            </a:r>
            <a:r>
              <a:rPr lang="en-US" sz="2400" dirty="0"/>
              <a:t> Prevention of pain, hypoxemia, </a:t>
            </a:r>
            <a:r>
              <a:rPr lang="en-US" sz="2400" dirty="0" err="1"/>
              <a:t>hypercarbia</a:t>
            </a:r>
            <a:r>
              <a:rPr lang="en-US" sz="2400" dirty="0"/>
              <a:t> and acidosis which may increase pulmonary </a:t>
            </a:r>
            <a:r>
              <a:rPr lang="en-US" sz="2400" dirty="0" err="1"/>
              <a:t>valvular</a:t>
            </a:r>
            <a:r>
              <a:rPr lang="en-US" sz="2400" dirty="0"/>
              <a:t> resistance</a:t>
            </a:r>
            <a:r>
              <a:rPr lang="en-US" sz="2400" kern="1200" baseline="0" dirty="0">
                <a:solidFill>
                  <a:schemeClr val="tx1"/>
                </a:solidFill>
                <a:latin typeface="+mn-lt"/>
                <a:ea typeface="+mn-ea"/>
                <a:cs typeface="+mn-cs"/>
              </a:rPr>
              <a:t> </a:t>
            </a:r>
            <a:endParaRPr lang="en-US" sz="2400" dirty="0">
              <a:effectLst>
                <a:outerShdw blurRad="38100" dist="38100" dir="2700000" algn="tl">
                  <a:srgbClr val="000000"/>
                </a:outerShdw>
              </a:effectLst>
            </a:endParaRPr>
          </a:p>
        </p:txBody>
      </p:sp>
      <p:sp>
        <p:nvSpPr>
          <p:cNvPr id="1048996" name="Slide Number Placeholder 3"/>
          <p:cNvSpPr>
            <a:spLocks noGrp="1"/>
          </p:cNvSpPr>
          <p:nvPr>
            <p:ph type="sldNum" sz="quarter" idx="10"/>
          </p:nvPr>
        </p:nvSpPr>
        <p:spPr/>
        <p:txBody>
          <a:bodyPr/>
          <a:lstStyle/>
          <a:p>
            <a:fld id="{3339A33E-CFCE-4DF7-B998-32133B188480}" type="slidenum">
              <a:rPr lang="en-US" smtClean="0"/>
              <a:pPr/>
              <a:t>75</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If patient has preexisting left </a:t>
            </a:r>
            <a:r>
              <a:rPr lang="en-US" dirty="0" err="1"/>
              <a:t>atrial</a:t>
            </a:r>
            <a:r>
              <a:rPr lang="en-US" dirty="0"/>
              <a:t> thrombus, patient should be induced in </a:t>
            </a:r>
            <a:r>
              <a:rPr lang="en-US" dirty="0" err="1"/>
              <a:t>Trendelenberg</a:t>
            </a:r>
            <a:r>
              <a:rPr lang="en-US" dirty="0"/>
              <a:t> position to avoid the risk of </a:t>
            </a:r>
            <a:r>
              <a:rPr lang="en-US" dirty="0" err="1"/>
              <a:t>thromboembolism</a:t>
            </a:r>
            <a:r>
              <a:rPr lang="en-US" dirty="0"/>
              <a:t> and LV inflow obstruction.</a:t>
            </a:r>
          </a:p>
        </p:txBody>
      </p:sp>
      <p:sp>
        <p:nvSpPr>
          <p:cNvPr id="4" name="Slide Number Placeholder 3"/>
          <p:cNvSpPr>
            <a:spLocks noGrp="1"/>
          </p:cNvSpPr>
          <p:nvPr>
            <p:ph type="sldNum" sz="quarter" idx="10"/>
          </p:nvPr>
        </p:nvSpPr>
        <p:spPr/>
        <p:txBody>
          <a:bodyPr/>
          <a:lstStyle/>
          <a:p>
            <a:fld id="{CCECC6E7-3549-4180-AF2C-5FEF77A539A9}" type="slidenum">
              <a:rPr lang="en-US" smtClean="0"/>
              <a:pPr/>
              <a:t>76</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02" name="Slide Image Placeholder 1"/>
          <p:cNvSpPr>
            <a:spLocks noGrp="1" noRot="1" noChangeAspect="1"/>
          </p:cNvSpPr>
          <p:nvPr>
            <p:ph type="sldImg"/>
          </p:nvPr>
        </p:nvSpPr>
        <p:spPr/>
      </p:sp>
      <p:sp>
        <p:nvSpPr>
          <p:cNvPr id="104900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Epinephrine and </a:t>
            </a:r>
            <a:r>
              <a:rPr lang="en-US" sz="1200" kern="1200" baseline="0" dirty="0" err="1">
                <a:solidFill>
                  <a:schemeClr val="tx1"/>
                </a:solidFill>
                <a:latin typeface="+mn-lt"/>
                <a:ea typeface="+mn-ea"/>
                <a:cs typeface="+mn-cs"/>
              </a:rPr>
              <a:t>milrinone</a:t>
            </a:r>
            <a:r>
              <a:rPr lang="en-US" sz="1200" kern="1200" baseline="0" dirty="0">
                <a:solidFill>
                  <a:schemeClr val="tx1"/>
                </a:solidFill>
                <a:latin typeface="+mn-lt"/>
                <a:ea typeface="+mn-ea"/>
                <a:cs typeface="+mn-cs"/>
              </a:rPr>
              <a:t> are good therapeutic options. Newer therapeutic options for treatment of refractory pulmonary hypertension include inhaled </a:t>
            </a:r>
            <a:r>
              <a:rPr lang="en-US" sz="1200" kern="1200" baseline="0" dirty="0" err="1">
                <a:solidFill>
                  <a:schemeClr val="tx1"/>
                </a:solidFill>
                <a:latin typeface="+mn-lt"/>
                <a:ea typeface="+mn-ea"/>
                <a:cs typeface="+mn-cs"/>
              </a:rPr>
              <a:t>prostacyclin</a:t>
            </a:r>
            <a:r>
              <a:rPr lang="en-US" sz="1200" kern="1200" baseline="0" dirty="0">
                <a:solidFill>
                  <a:schemeClr val="tx1"/>
                </a:solidFill>
                <a:latin typeface="+mn-lt"/>
                <a:ea typeface="+mn-ea"/>
                <a:cs typeface="+mn-cs"/>
              </a:rPr>
              <a:t> or nitric oxide.</a:t>
            </a:r>
            <a:endParaRPr lang="en-US" dirty="0"/>
          </a:p>
        </p:txBody>
      </p:sp>
      <p:sp>
        <p:nvSpPr>
          <p:cNvPr id="1049004" name="Slide Number Placeholder 3"/>
          <p:cNvSpPr>
            <a:spLocks noGrp="1"/>
          </p:cNvSpPr>
          <p:nvPr>
            <p:ph type="sldNum" sz="quarter" idx="10"/>
          </p:nvPr>
        </p:nvSpPr>
        <p:spPr/>
        <p:txBody>
          <a:bodyPr/>
          <a:lstStyle/>
          <a:p>
            <a:fld id="{3339A33E-CFCE-4DF7-B998-32133B188480}" type="slidenum">
              <a:rPr lang="en-US" smtClean="0"/>
              <a:pPr/>
              <a:t>77</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24" name="Slide Image Placeholder 1"/>
          <p:cNvSpPr>
            <a:spLocks noGrp="1" noRot="1" noChangeAspect="1"/>
          </p:cNvSpPr>
          <p:nvPr>
            <p:ph type="sldImg"/>
          </p:nvPr>
        </p:nvSpPr>
        <p:spPr/>
      </p:sp>
      <p:sp>
        <p:nvSpPr>
          <p:cNvPr id="1049025"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Tx/>
              <a:buNone/>
            </a:pPr>
            <a:r>
              <a:rPr lang="en-US" sz="2400" b="1" dirty="0">
                <a:effectLst>
                  <a:outerShdw blurRad="38100" dist="38100" dir="2700000" algn="tl">
                    <a:srgbClr val="000000"/>
                  </a:outerShdw>
                </a:effectLst>
              </a:rPr>
              <a:t>but the atrium</a:t>
            </a:r>
            <a:r>
              <a:rPr lang="en-US" sz="2400" dirty="0">
                <a:effectLst>
                  <a:outerShdw blurRad="38100" dist="38100" dir="2700000" algn="tl">
                    <a:srgbClr val="000000"/>
                  </a:outerShdw>
                </a:effectLst>
              </a:rPr>
              <a:t> </a:t>
            </a:r>
            <a:r>
              <a:rPr lang="en-US" sz="2400" b="1" dirty="0">
                <a:effectLst>
                  <a:outerShdw blurRad="38100" dist="38100" dir="2700000" algn="tl">
                    <a:srgbClr val="000000"/>
                  </a:outerShdw>
                </a:effectLst>
              </a:rPr>
              <a:t>usually does not enlarge</a:t>
            </a:r>
            <a:endParaRPr lang="en-US" sz="2400" dirty="0">
              <a:effectLst>
                <a:outerShdw blurRad="38100" dist="38100" dir="2700000" algn="tl">
                  <a:srgbClr val="000000"/>
                </a:outerShdw>
              </a:effectLst>
            </a:endParaRPr>
          </a:p>
          <a:p>
            <a:endParaRPr lang="en-US" dirty="0"/>
          </a:p>
        </p:txBody>
      </p:sp>
      <p:sp>
        <p:nvSpPr>
          <p:cNvPr id="1049026" name="Slide Number Placeholder 3"/>
          <p:cNvSpPr>
            <a:spLocks noGrp="1"/>
          </p:cNvSpPr>
          <p:nvPr>
            <p:ph type="sldNum" sz="quarter" idx="10"/>
          </p:nvPr>
        </p:nvSpPr>
        <p:spPr/>
        <p:txBody>
          <a:bodyPr/>
          <a:lstStyle/>
          <a:p>
            <a:fld id="{3339A33E-CFCE-4DF7-B998-32133B188480}" type="slidenum">
              <a:rPr lang="en-US" smtClean="0"/>
              <a:pPr/>
              <a:t>81</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42" name="Slide Image Placeholder 1"/>
          <p:cNvSpPr>
            <a:spLocks noGrp="1" noRot="1" noChangeAspect="1"/>
          </p:cNvSpPr>
          <p:nvPr>
            <p:ph type="sldImg"/>
          </p:nvPr>
        </p:nvSpPr>
        <p:spPr/>
      </p:sp>
      <p:sp>
        <p:nvSpPr>
          <p:cNvPr id="104904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Patients with chronic mild-to-moderate, isolated MR are </a:t>
            </a:r>
            <a:r>
              <a:rPr lang="en-US" sz="1200" kern="1200" baseline="0" dirty="0" err="1">
                <a:solidFill>
                  <a:schemeClr val="tx1"/>
                </a:solidFill>
                <a:latin typeface="+mn-lt"/>
                <a:ea typeface="+mn-ea"/>
                <a:cs typeface="+mn-cs"/>
              </a:rPr>
              <a:t>usuallyasymptomatic</a:t>
            </a:r>
            <a:r>
              <a:rPr lang="en-US" sz="1200" kern="1200" baseline="0" dirty="0">
                <a:solidFill>
                  <a:schemeClr val="tx1"/>
                </a:solidFill>
                <a:latin typeface="+mn-lt"/>
                <a:ea typeface="+mn-ea"/>
                <a:cs typeface="+mn-cs"/>
              </a:rPr>
              <a:t>. This form of LV volume overload is well tolerated</a:t>
            </a:r>
            <a:endParaRPr lang="en-US" dirty="0"/>
          </a:p>
        </p:txBody>
      </p:sp>
      <p:sp>
        <p:nvSpPr>
          <p:cNvPr id="1049044" name="Slide Number Placeholder 3"/>
          <p:cNvSpPr>
            <a:spLocks noGrp="1"/>
          </p:cNvSpPr>
          <p:nvPr>
            <p:ph type="sldNum" sz="quarter" idx="10"/>
          </p:nvPr>
        </p:nvSpPr>
        <p:spPr/>
        <p:txBody>
          <a:bodyPr/>
          <a:lstStyle/>
          <a:p>
            <a:fld id="{3339A33E-CFCE-4DF7-B998-32133B188480}" type="slidenum">
              <a:rPr lang="en-US" smtClean="0"/>
              <a:pPr/>
              <a:t>86</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50" name="Slide Image Placeholder 1"/>
          <p:cNvSpPr>
            <a:spLocks noGrp="1" noRot="1" noChangeAspect="1"/>
          </p:cNvSpPr>
          <p:nvPr>
            <p:ph type="sldImg"/>
          </p:nvPr>
        </p:nvSpPr>
        <p:spPr/>
      </p:sp>
      <p:sp>
        <p:nvSpPr>
          <p:cNvPr id="1049051" name="Notes Placeholder 2"/>
          <p:cNvSpPr>
            <a:spLocks noGrp="1"/>
          </p:cNvSpPr>
          <p:nvPr>
            <p:ph type="body" idx="1"/>
          </p:nvPr>
        </p:nvSpPr>
        <p:spPr/>
        <p:txBody>
          <a:bodyPr>
            <a:normAutofit/>
          </a:bodyPr>
          <a:lstStyle/>
          <a:p>
            <a:r>
              <a:rPr lang="en-US" dirty="0"/>
              <a:t>Right-sided heart failure, with</a:t>
            </a:r>
          </a:p>
          <a:p>
            <a:r>
              <a:rPr lang="en-US" dirty="0"/>
              <a:t>painful hepatic congestion, ankle edema, distended neck veins, </a:t>
            </a:r>
            <a:r>
              <a:rPr lang="en-US" dirty="0" err="1"/>
              <a:t>ascites</a:t>
            </a:r>
            <a:r>
              <a:rPr lang="en-US" dirty="0"/>
              <a:t>,</a:t>
            </a:r>
          </a:p>
          <a:p>
            <a:r>
              <a:rPr lang="en-US" dirty="0"/>
              <a:t>and secondary TR, occurs in patients with MR who have associated</a:t>
            </a:r>
          </a:p>
          <a:p>
            <a:r>
              <a:rPr lang="en-US" dirty="0"/>
              <a:t>pulmonary vascular disease and pulmonary hypertension</a:t>
            </a:r>
          </a:p>
        </p:txBody>
      </p:sp>
      <p:sp>
        <p:nvSpPr>
          <p:cNvPr id="1049052" name="Slide Number Placeholder 3"/>
          <p:cNvSpPr>
            <a:spLocks noGrp="1"/>
          </p:cNvSpPr>
          <p:nvPr>
            <p:ph type="sldNum" sz="quarter" idx="10"/>
          </p:nvPr>
        </p:nvSpPr>
        <p:spPr/>
        <p:txBody>
          <a:bodyPr/>
          <a:lstStyle/>
          <a:p>
            <a:fld id="{3339A33E-CFCE-4DF7-B998-32133B188480}" type="slidenum">
              <a:rPr lang="en-US" smtClean="0"/>
              <a:pPr/>
              <a:t>88</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63" name="Slide Image Placeholder 1"/>
          <p:cNvSpPr>
            <a:spLocks noGrp="1" noRot="1" noChangeAspect="1"/>
          </p:cNvSpPr>
          <p:nvPr>
            <p:ph type="sldImg"/>
          </p:nvPr>
        </p:nvSpPr>
        <p:spPr/>
      </p:sp>
      <p:sp>
        <p:nvSpPr>
          <p:cNvPr id="1049064" name="Notes Placeholder 2"/>
          <p:cNvSpPr>
            <a:spLocks noGrp="1"/>
          </p:cNvSpPr>
          <p:nvPr>
            <p:ph type="body" idx="1"/>
          </p:nvPr>
        </p:nvSpPr>
        <p:spPr/>
        <p:txBody>
          <a:bodyPr>
            <a:normAutofit/>
          </a:bodyPr>
          <a:lstStyle/>
          <a:p>
            <a:endParaRPr lang="en-US" dirty="0"/>
          </a:p>
        </p:txBody>
      </p:sp>
      <p:sp>
        <p:nvSpPr>
          <p:cNvPr id="1049065" name="Slide Number Placeholder 3"/>
          <p:cNvSpPr>
            <a:spLocks noGrp="1"/>
          </p:cNvSpPr>
          <p:nvPr>
            <p:ph type="sldNum" sz="quarter" idx="10"/>
          </p:nvPr>
        </p:nvSpPr>
        <p:spPr/>
        <p:txBody>
          <a:bodyPr/>
          <a:lstStyle/>
          <a:p>
            <a:fld id="{3339A33E-CFCE-4DF7-B998-32133B188480}" type="slidenum">
              <a:rPr lang="en-US" smtClean="0"/>
              <a:pPr/>
              <a:t>91</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71" name="Slide Image Placeholder 1"/>
          <p:cNvSpPr>
            <a:spLocks noGrp="1" noRot="1" noChangeAspect="1"/>
          </p:cNvSpPr>
          <p:nvPr>
            <p:ph type="sldImg"/>
          </p:nvPr>
        </p:nvSpPr>
        <p:spPr/>
      </p:sp>
      <p:sp>
        <p:nvSpPr>
          <p:cNvPr id="1049072" name="Notes Placeholder 2"/>
          <p:cNvSpPr>
            <a:spLocks noGrp="1"/>
          </p:cNvSpPr>
          <p:nvPr>
            <p:ph type="body" idx="1"/>
          </p:nvPr>
        </p:nvSpPr>
        <p:spPr/>
        <p:txBody>
          <a:bodyPr>
            <a:normAutofit/>
          </a:bodyPr>
          <a:lstStyle/>
          <a:p>
            <a:r>
              <a:rPr lang="en-US" dirty="0"/>
              <a:t>In the absence of acute deterioration, pharmacologic intervention is not needed</a:t>
            </a:r>
            <a:r>
              <a:rPr lang="en-US" baseline="0" dirty="0"/>
              <a:t> </a:t>
            </a:r>
            <a:r>
              <a:rPr lang="en-US" dirty="0"/>
              <a:t>usually until the </a:t>
            </a:r>
            <a:r>
              <a:rPr lang="en-US" dirty="0" err="1"/>
              <a:t>postbypass</a:t>
            </a:r>
            <a:r>
              <a:rPr lang="en-US" dirty="0"/>
              <a:t> period. </a:t>
            </a:r>
          </a:p>
        </p:txBody>
      </p:sp>
      <p:sp>
        <p:nvSpPr>
          <p:cNvPr id="1049073" name="Slide Number Placeholder 3"/>
          <p:cNvSpPr>
            <a:spLocks noGrp="1"/>
          </p:cNvSpPr>
          <p:nvPr>
            <p:ph type="sldNum" sz="quarter" idx="10"/>
          </p:nvPr>
        </p:nvSpPr>
        <p:spPr/>
        <p:txBody>
          <a:bodyPr/>
          <a:lstStyle/>
          <a:p>
            <a:fld id="{3339A33E-CFCE-4DF7-B998-32133B188480}" type="slidenum">
              <a:rPr lang="en-US" smtClean="0"/>
              <a:pPr/>
              <a:t>92</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u="sng" dirty="0"/>
              <a:t>Preload</a:t>
            </a:r>
            <a:r>
              <a:rPr lang="en-US" sz="1200" dirty="0"/>
              <a:t>- </a:t>
            </a:r>
            <a:r>
              <a:rPr lang="en-US" i="1" dirty="0"/>
              <a:t>Maintain or slightly increase</a:t>
            </a:r>
            <a:r>
              <a:rPr lang="en-US" dirty="0"/>
              <a:t>; an</a:t>
            </a:r>
            <a:r>
              <a:rPr lang="en-US" sz="1200" dirty="0"/>
              <a:t> </a:t>
            </a:r>
            <a:r>
              <a:rPr lang="en-US" dirty="0"/>
              <a:t>elevated preload will cause an increase in </a:t>
            </a:r>
            <a:r>
              <a:rPr lang="en-US" dirty="0" err="1"/>
              <a:t>regurgitant</a:t>
            </a:r>
            <a:r>
              <a:rPr lang="en-US" dirty="0"/>
              <a:t> flow, and low preload causes inadequate cardiac output</a:t>
            </a:r>
          </a:p>
        </p:txBody>
      </p:sp>
      <p:sp>
        <p:nvSpPr>
          <p:cNvPr id="4" name="Slide Number Placeholder 3"/>
          <p:cNvSpPr>
            <a:spLocks noGrp="1"/>
          </p:cNvSpPr>
          <p:nvPr>
            <p:ph type="sldNum" sz="quarter" idx="10"/>
          </p:nvPr>
        </p:nvSpPr>
        <p:spPr/>
        <p:txBody>
          <a:bodyPr/>
          <a:lstStyle/>
          <a:p>
            <a:fld id="{CCECC6E7-3549-4180-AF2C-5FEF77A539A9}" type="slidenum">
              <a:rPr lang="en-US" smtClean="0"/>
              <a:pPr/>
              <a:t>94</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89" name="Slide Image Placeholder 1"/>
          <p:cNvSpPr>
            <a:spLocks noGrp="1" noRot="1" noChangeAspect="1"/>
          </p:cNvSpPr>
          <p:nvPr>
            <p:ph type="sldImg"/>
          </p:nvPr>
        </p:nvSpPr>
        <p:spPr/>
      </p:sp>
      <p:sp>
        <p:nvSpPr>
          <p:cNvPr id="1049090" name="Notes Placeholder 2"/>
          <p:cNvSpPr>
            <a:spLocks noGrp="1"/>
          </p:cNvSpPr>
          <p:nvPr>
            <p:ph type="body" idx="1"/>
          </p:nvPr>
        </p:nvSpPr>
        <p:spPr/>
        <p:txBody>
          <a:bodyPr>
            <a:normAutofit/>
          </a:bodyPr>
          <a:lstStyle/>
          <a:p>
            <a:r>
              <a:rPr lang="en-US" dirty="0"/>
              <a:t>Spinal and epidural are well tolerated (avoid </a:t>
            </a:r>
            <a:r>
              <a:rPr lang="en-US" b="1" i="1" dirty="0" err="1">
                <a:solidFill>
                  <a:schemeClr val="accent2"/>
                </a:solidFill>
              </a:rPr>
              <a:t>bradycardia</a:t>
            </a:r>
            <a:r>
              <a:rPr lang="en-US" b="1" i="1" dirty="0">
                <a:solidFill>
                  <a:schemeClr val="accent2"/>
                </a:solidFill>
              </a:rPr>
              <a:t>)</a:t>
            </a:r>
            <a:endParaRPr lang="en-US" dirty="0"/>
          </a:p>
        </p:txBody>
      </p:sp>
      <p:sp>
        <p:nvSpPr>
          <p:cNvPr id="1049091" name="Slide Number Placeholder 3"/>
          <p:cNvSpPr>
            <a:spLocks noGrp="1"/>
          </p:cNvSpPr>
          <p:nvPr>
            <p:ph type="sldNum" sz="quarter" idx="10"/>
          </p:nvPr>
        </p:nvSpPr>
        <p:spPr/>
        <p:txBody>
          <a:bodyPr/>
          <a:lstStyle/>
          <a:p>
            <a:fld id="{3339A33E-CFCE-4DF7-B998-32133B188480}" type="slidenum">
              <a:rPr lang="en-US" smtClean="0"/>
              <a:pPr/>
              <a:t>96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1F426EE-0A78-4BFC-93DE-138A4033BB17}" type="datetime1">
              <a:rPr lang="en-US" smtClean="0"/>
              <a:t>8/9/2021</a:t>
            </a:fld>
            <a:endParaRPr lang="en-US"/>
          </a:p>
        </p:txBody>
      </p:sp>
      <p:sp>
        <p:nvSpPr>
          <p:cNvPr id="5" name="Footer Placeholder 4"/>
          <p:cNvSpPr>
            <a:spLocks noGrp="1"/>
          </p:cNvSpPr>
          <p:nvPr>
            <p:ph type="ftr" sz="quarter" idx="11"/>
          </p:nvPr>
        </p:nvSpPr>
        <p:spPr/>
        <p:txBody>
          <a:bodyPr/>
          <a:lstStyle/>
          <a:p>
            <a:r>
              <a:rPr lang="en-US"/>
              <a:t>Anesthesia for VHD </a:t>
            </a:r>
          </a:p>
        </p:txBody>
      </p:sp>
      <p:sp>
        <p:nvSpPr>
          <p:cNvPr id="6" name="Slide Number Placeholder 5"/>
          <p:cNvSpPr>
            <a:spLocks noGrp="1"/>
          </p:cNvSpPr>
          <p:nvPr>
            <p:ph type="sldNum" sz="quarter" idx="12"/>
          </p:nvPr>
        </p:nvSpPr>
        <p:spPr/>
        <p:txBody>
          <a:bodyPr/>
          <a:lstStyle/>
          <a:p>
            <a:fld id="{81D9AF01-45F5-44F6-94C9-E46484F8FCE6}"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E909AA4-4152-4FE1-8C0E-E39DCB1FC1C5}" type="datetime1">
              <a:rPr lang="en-US" smtClean="0"/>
              <a:t>8/9/2021</a:t>
            </a:fld>
            <a:endParaRPr lang="en-US"/>
          </a:p>
        </p:txBody>
      </p:sp>
      <p:sp>
        <p:nvSpPr>
          <p:cNvPr id="5" name="Footer Placeholder 4"/>
          <p:cNvSpPr>
            <a:spLocks noGrp="1"/>
          </p:cNvSpPr>
          <p:nvPr>
            <p:ph type="ftr" sz="quarter" idx="11"/>
          </p:nvPr>
        </p:nvSpPr>
        <p:spPr/>
        <p:txBody>
          <a:bodyPr/>
          <a:lstStyle/>
          <a:p>
            <a:r>
              <a:rPr lang="en-US"/>
              <a:t>Anesthesia for VHD </a:t>
            </a:r>
          </a:p>
        </p:txBody>
      </p:sp>
      <p:sp>
        <p:nvSpPr>
          <p:cNvPr id="6" name="Slide Number Placeholder 5"/>
          <p:cNvSpPr>
            <a:spLocks noGrp="1"/>
          </p:cNvSpPr>
          <p:nvPr>
            <p:ph type="sldNum" sz="quarter" idx="12"/>
          </p:nvPr>
        </p:nvSpPr>
        <p:spPr/>
        <p:txBody>
          <a:bodyPr/>
          <a:lstStyle/>
          <a:p>
            <a:fld id="{81D9AF01-45F5-44F6-94C9-E46484F8FCE6}"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33A954-2442-47AE-B240-076E778B4959}" type="datetime1">
              <a:rPr lang="en-US" smtClean="0"/>
              <a:t>8/9/2021</a:t>
            </a:fld>
            <a:endParaRPr lang="en-US"/>
          </a:p>
        </p:txBody>
      </p:sp>
      <p:sp>
        <p:nvSpPr>
          <p:cNvPr id="5" name="Footer Placeholder 4"/>
          <p:cNvSpPr>
            <a:spLocks noGrp="1"/>
          </p:cNvSpPr>
          <p:nvPr>
            <p:ph type="ftr" sz="quarter" idx="11"/>
          </p:nvPr>
        </p:nvSpPr>
        <p:spPr/>
        <p:txBody>
          <a:bodyPr/>
          <a:lstStyle/>
          <a:p>
            <a:r>
              <a:rPr lang="en-US"/>
              <a:t>Anesthesia for VHD </a:t>
            </a:r>
          </a:p>
        </p:txBody>
      </p:sp>
      <p:sp>
        <p:nvSpPr>
          <p:cNvPr id="6" name="Slide Number Placeholder 5"/>
          <p:cNvSpPr>
            <a:spLocks noGrp="1"/>
          </p:cNvSpPr>
          <p:nvPr>
            <p:ph type="sldNum" sz="quarter" idx="12"/>
          </p:nvPr>
        </p:nvSpPr>
        <p:spPr/>
        <p:txBody>
          <a:bodyPr/>
          <a:lstStyle/>
          <a:p>
            <a:fld id="{81D9AF01-45F5-44F6-94C9-E46484F8FCE6}"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86994D7-DC08-4A77-B195-9A3B9196BB31}" type="datetime1">
              <a:rPr lang="en-US" smtClean="0"/>
              <a:t>8/9/2021</a:t>
            </a:fld>
            <a:endParaRPr lang="en-US"/>
          </a:p>
        </p:txBody>
      </p:sp>
      <p:sp>
        <p:nvSpPr>
          <p:cNvPr id="6" name="Footer Placeholder 5"/>
          <p:cNvSpPr>
            <a:spLocks noGrp="1"/>
          </p:cNvSpPr>
          <p:nvPr>
            <p:ph type="ftr" sz="quarter" idx="11"/>
          </p:nvPr>
        </p:nvSpPr>
        <p:spPr/>
        <p:txBody>
          <a:bodyPr/>
          <a:lstStyle/>
          <a:p>
            <a:r>
              <a:rPr lang="en-US"/>
              <a:t>Anesthesia for VHD </a:t>
            </a:r>
          </a:p>
        </p:txBody>
      </p:sp>
      <p:sp>
        <p:nvSpPr>
          <p:cNvPr id="7" name="Slide Number Placeholder 6"/>
          <p:cNvSpPr>
            <a:spLocks noGrp="1"/>
          </p:cNvSpPr>
          <p:nvPr>
            <p:ph type="sldNum" sz="quarter" idx="12"/>
          </p:nvPr>
        </p:nvSpPr>
        <p:spPr/>
        <p:txBody>
          <a:bodyPr/>
          <a:lstStyle/>
          <a:p>
            <a:fld id="{81D9AF01-45F5-44F6-94C9-E46484F8FCE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457DDCC-B39F-4B1B-9035-507F08B1BC1C}" type="datetime1">
              <a:rPr lang="en-US" smtClean="0"/>
              <a:t>8/9/2021</a:t>
            </a:fld>
            <a:endParaRPr lang="en-US"/>
          </a:p>
        </p:txBody>
      </p:sp>
      <p:sp>
        <p:nvSpPr>
          <p:cNvPr id="8" name="Footer Placeholder 7"/>
          <p:cNvSpPr>
            <a:spLocks noGrp="1"/>
          </p:cNvSpPr>
          <p:nvPr>
            <p:ph type="ftr" sz="quarter" idx="11"/>
          </p:nvPr>
        </p:nvSpPr>
        <p:spPr/>
        <p:txBody>
          <a:bodyPr/>
          <a:lstStyle/>
          <a:p>
            <a:r>
              <a:rPr lang="en-US"/>
              <a:t>Anesthesia for VHD </a:t>
            </a:r>
          </a:p>
        </p:txBody>
      </p:sp>
      <p:sp>
        <p:nvSpPr>
          <p:cNvPr id="9" name="Slide Number Placeholder 8"/>
          <p:cNvSpPr>
            <a:spLocks noGrp="1"/>
          </p:cNvSpPr>
          <p:nvPr>
            <p:ph type="sldNum" sz="quarter" idx="12"/>
          </p:nvPr>
        </p:nvSpPr>
        <p:spPr/>
        <p:txBody>
          <a:bodyPr/>
          <a:lstStyle/>
          <a:p>
            <a:fld id="{81D9AF01-45F5-44F6-94C9-E46484F8FCE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26D05D5-E1B3-48BE-B0EE-15CAEC57BF27}" type="datetime1">
              <a:rPr lang="en-US" smtClean="0"/>
              <a:t>8/9/2021</a:t>
            </a:fld>
            <a:endParaRPr lang="en-US"/>
          </a:p>
        </p:txBody>
      </p:sp>
      <p:sp>
        <p:nvSpPr>
          <p:cNvPr id="4" name="Footer Placeholder 3"/>
          <p:cNvSpPr>
            <a:spLocks noGrp="1"/>
          </p:cNvSpPr>
          <p:nvPr>
            <p:ph type="ftr" sz="quarter" idx="11"/>
          </p:nvPr>
        </p:nvSpPr>
        <p:spPr/>
        <p:txBody>
          <a:bodyPr/>
          <a:lstStyle/>
          <a:p>
            <a:r>
              <a:rPr lang="en-US"/>
              <a:t>Anesthesia for VHD </a:t>
            </a:r>
          </a:p>
        </p:txBody>
      </p:sp>
      <p:sp>
        <p:nvSpPr>
          <p:cNvPr id="5" name="Slide Number Placeholder 4"/>
          <p:cNvSpPr>
            <a:spLocks noGrp="1"/>
          </p:cNvSpPr>
          <p:nvPr>
            <p:ph type="sldNum" sz="quarter" idx="12"/>
          </p:nvPr>
        </p:nvSpPr>
        <p:spPr/>
        <p:txBody>
          <a:bodyPr/>
          <a:lstStyle/>
          <a:p>
            <a:fld id="{81D9AF01-45F5-44F6-94C9-E46484F8FCE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64432F-99F0-413A-A111-3821A7E480A6}" type="datetime1">
              <a:rPr lang="en-US" smtClean="0"/>
              <a:t>8/9/2021</a:t>
            </a:fld>
            <a:endParaRPr lang="en-US"/>
          </a:p>
        </p:txBody>
      </p:sp>
      <p:sp>
        <p:nvSpPr>
          <p:cNvPr id="3" name="Footer Placeholder 2"/>
          <p:cNvSpPr>
            <a:spLocks noGrp="1"/>
          </p:cNvSpPr>
          <p:nvPr>
            <p:ph type="ftr" sz="quarter" idx="11"/>
          </p:nvPr>
        </p:nvSpPr>
        <p:spPr/>
        <p:txBody>
          <a:bodyPr/>
          <a:lstStyle/>
          <a:p>
            <a:r>
              <a:rPr lang="en-US"/>
              <a:t>Anesthesia for VHD </a:t>
            </a:r>
          </a:p>
        </p:txBody>
      </p:sp>
      <p:sp>
        <p:nvSpPr>
          <p:cNvPr id="4" name="Slide Number Placeholder 3"/>
          <p:cNvSpPr>
            <a:spLocks noGrp="1"/>
          </p:cNvSpPr>
          <p:nvPr>
            <p:ph type="sldNum" sz="quarter" idx="12"/>
          </p:nvPr>
        </p:nvSpPr>
        <p:spPr/>
        <p:txBody>
          <a:bodyPr/>
          <a:lstStyle/>
          <a:p>
            <a:fld id="{81D9AF01-45F5-44F6-94C9-E46484F8FCE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49502E4-781E-4786-8F6F-5658B3850F7C}" type="datetime1">
              <a:rPr lang="en-US" smtClean="0"/>
              <a:t>8/9/2021</a:t>
            </a:fld>
            <a:endParaRPr lang="en-US"/>
          </a:p>
        </p:txBody>
      </p:sp>
      <p:sp>
        <p:nvSpPr>
          <p:cNvPr id="6" name="Footer Placeholder 5"/>
          <p:cNvSpPr>
            <a:spLocks noGrp="1"/>
          </p:cNvSpPr>
          <p:nvPr>
            <p:ph type="ftr" sz="quarter" idx="11"/>
          </p:nvPr>
        </p:nvSpPr>
        <p:spPr/>
        <p:txBody>
          <a:bodyPr/>
          <a:lstStyle/>
          <a:p>
            <a:r>
              <a:rPr lang="en-US"/>
              <a:t>Anesthesia for VHD </a:t>
            </a:r>
          </a:p>
        </p:txBody>
      </p:sp>
      <p:sp>
        <p:nvSpPr>
          <p:cNvPr id="7" name="Slide Number Placeholder 6"/>
          <p:cNvSpPr>
            <a:spLocks noGrp="1"/>
          </p:cNvSpPr>
          <p:nvPr>
            <p:ph type="sldNum" sz="quarter" idx="12"/>
          </p:nvPr>
        </p:nvSpPr>
        <p:spPr/>
        <p:txBody>
          <a:bodyPr/>
          <a:lstStyle/>
          <a:p>
            <a:fld id="{81D9AF01-45F5-44F6-94C9-E46484F8FCE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9FC6A70-BA13-4812-BBCA-60B7BAADD755}" type="datetime1">
              <a:rPr lang="en-US" smtClean="0"/>
              <a:t>8/9/2021</a:t>
            </a:fld>
            <a:endParaRPr lang="en-US"/>
          </a:p>
        </p:txBody>
      </p:sp>
      <p:sp>
        <p:nvSpPr>
          <p:cNvPr id="6" name="Footer Placeholder 5"/>
          <p:cNvSpPr>
            <a:spLocks noGrp="1"/>
          </p:cNvSpPr>
          <p:nvPr>
            <p:ph type="ftr" sz="quarter" idx="11"/>
          </p:nvPr>
        </p:nvSpPr>
        <p:spPr/>
        <p:txBody>
          <a:bodyPr/>
          <a:lstStyle/>
          <a:p>
            <a:r>
              <a:rPr lang="en-US"/>
              <a:t>Anesthesia for VHD </a:t>
            </a:r>
          </a:p>
        </p:txBody>
      </p:sp>
      <p:sp>
        <p:nvSpPr>
          <p:cNvPr id="7" name="Slide Number Placeholder 6"/>
          <p:cNvSpPr>
            <a:spLocks noGrp="1"/>
          </p:cNvSpPr>
          <p:nvPr>
            <p:ph type="sldNum" sz="quarter" idx="12"/>
          </p:nvPr>
        </p:nvSpPr>
        <p:spPr/>
        <p:txBody>
          <a:bodyPr/>
          <a:lstStyle/>
          <a:p>
            <a:fld id="{81D9AF01-45F5-44F6-94C9-E46484F8FCE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7C3FE25-A770-4D09-892C-DEA25FD1BFF4}" type="datetime1">
              <a:rPr lang="en-US" smtClean="0"/>
              <a:t>8/9/2021</a:t>
            </a:fld>
            <a:endParaRPr lang="en-US"/>
          </a:p>
        </p:txBody>
      </p:sp>
      <p:sp>
        <p:nvSpPr>
          <p:cNvPr id="5" name="Footer Placeholder 4"/>
          <p:cNvSpPr>
            <a:spLocks noGrp="1"/>
          </p:cNvSpPr>
          <p:nvPr>
            <p:ph type="ftr" sz="quarter" idx="11"/>
          </p:nvPr>
        </p:nvSpPr>
        <p:spPr/>
        <p:txBody>
          <a:bodyPr/>
          <a:lstStyle/>
          <a:p>
            <a:r>
              <a:rPr lang="en-US"/>
              <a:t>Anesthesia for VHD </a:t>
            </a:r>
          </a:p>
        </p:txBody>
      </p:sp>
      <p:sp>
        <p:nvSpPr>
          <p:cNvPr id="6" name="Slide Number Placeholder 5"/>
          <p:cNvSpPr>
            <a:spLocks noGrp="1"/>
          </p:cNvSpPr>
          <p:nvPr>
            <p:ph type="sldNum" sz="quarter" idx="12"/>
          </p:nvPr>
        </p:nvSpPr>
        <p:spPr/>
        <p:txBody>
          <a:bodyPr/>
          <a:lstStyle/>
          <a:p>
            <a:fld id="{81D9AF01-45F5-44F6-94C9-E46484F8FCE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13FC7F9-B576-4DEC-AA33-2CEE43225014}" type="datetime1">
              <a:rPr lang="en-US" smtClean="0"/>
              <a:t>8/9/2021</a:t>
            </a:fld>
            <a:endParaRPr lang="en-US"/>
          </a:p>
        </p:txBody>
      </p:sp>
      <p:sp>
        <p:nvSpPr>
          <p:cNvPr id="5" name="Footer Placeholder 4"/>
          <p:cNvSpPr>
            <a:spLocks noGrp="1"/>
          </p:cNvSpPr>
          <p:nvPr>
            <p:ph type="ftr" sz="quarter" idx="11"/>
          </p:nvPr>
        </p:nvSpPr>
        <p:spPr/>
        <p:txBody>
          <a:bodyPr/>
          <a:lstStyle/>
          <a:p>
            <a:r>
              <a:rPr lang="en-US"/>
              <a:t>Anesthesia for VHD </a:t>
            </a:r>
          </a:p>
        </p:txBody>
      </p:sp>
      <p:sp>
        <p:nvSpPr>
          <p:cNvPr id="6" name="Slide Number Placeholder 5"/>
          <p:cNvSpPr>
            <a:spLocks noGrp="1"/>
          </p:cNvSpPr>
          <p:nvPr>
            <p:ph type="sldNum" sz="quarter" idx="12"/>
          </p:nvPr>
        </p:nvSpPr>
        <p:spPr/>
        <p:txBody>
          <a:bodyPr/>
          <a:lstStyle/>
          <a:p>
            <a:fld id="{81D9AF01-45F5-44F6-94C9-E46484F8FCE6}"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1048687" name="Title 1"/>
          <p:cNvSpPr>
            <a:spLocks noGrp="1"/>
          </p:cNvSpPr>
          <p:nvPr>
            <p:ph type="title"/>
          </p:nvPr>
        </p:nvSpPr>
        <p:spPr/>
        <p:txBody>
          <a:bodyPr/>
          <a:lstStyle/>
          <a:p>
            <a:r>
              <a:rPr lang="en-US"/>
              <a:t>Click to edit Master title style</a:t>
            </a:r>
          </a:p>
        </p:txBody>
      </p:sp>
      <p:sp>
        <p:nvSpPr>
          <p:cNvPr id="1048688"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9" name="Rectangle 4"/>
          <p:cNvSpPr>
            <a:spLocks noGrp="1" noChangeArrowheads="1"/>
          </p:cNvSpPr>
          <p:nvPr>
            <p:ph type="dt" sz="half" idx="10"/>
          </p:nvPr>
        </p:nvSpPr>
        <p:spPr/>
        <p:txBody>
          <a:bodyPr/>
          <a:lstStyle/>
          <a:p>
            <a:fld id="{45AD3155-8113-49B1-8F7F-6E6769EA9673}" type="datetime1">
              <a:rPr lang="en-US" altLang="en-US" smtClean="0"/>
              <a:t>8/9/2021</a:t>
            </a:fld>
            <a:endParaRPr lang="en-US" altLang="en-US"/>
          </a:p>
        </p:txBody>
      </p:sp>
      <p:sp>
        <p:nvSpPr>
          <p:cNvPr id="1048690" name="Rectangle 5"/>
          <p:cNvSpPr>
            <a:spLocks noGrp="1" noChangeArrowheads="1"/>
          </p:cNvSpPr>
          <p:nvPr>
            <p:ph type="ftr" sz="quarter" idx="11"/>
          </p:nvPr>
        </p:nvSpPr>
        <p:spPr/>
        <p:txBody>
          <a:bodyPr/>
          <a:lstStyle/>
          <a:p>
            <a:r>
              <a:rPr lang="en-US" altLang="en-US"/>
              <a:t>Anesthesia for VHD </a:t>
            </a:r>
          </a:p>
        </p:txBody>
      </p:sp>
      <p:sp>
        <p:nvSpPr>
          <p:cNvPr id="1048691" name="Rectangle 6"/>
          <p:cNvSpPr>
            <a:spLocks noGrp="1" noChangeArrowheads="1"/>
          </p:cNvSpPr>
          <p:nvPr>
            <p:ph type="sldNum" sz="quarter" idx="12"/>
          </p:nvPr>
        </p:nvSpPr>
        <p:spPr/>
        <p:txBody>
          <a:bodyPr/>
          <a:lstStyle/>
          <a:p>
            <a:fld id="{0E75A53D-4435-447B-8C10-A0587C3F8965}" type="slidenum">
              <a:rPr lang="en-US" altLang="en-US"/>
              <a:pPr/>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1CCF54-F8A1-41D7-A8AE-81A0AA552013}" type="datetime1">
              <a:rPr lang="en-US" smtClean="0"/>
              <a:t>8/9/2021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Anesthesia for VHD </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D9AF01-45F5-44F6-94C9-E46484F8FCE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gif"/><Relationship Id="rId4" Type="http://schemas.openxmlformats.org/officeDocument/2006/relationships/image" Target="../media/image2.gif"/></Relationships>
</file>

<file path=ppt/slides/_rels/slide9.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gif"/></Relationships>
</file>

<file path=ppt/slides/_rels/slide1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gif"/></Relationships>
</file>

<file path=ppt/slides/_rels/slide12.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gif"/></Relationships>
</file>

<file path=ppt/slides/_rels/slide13.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2.gif"/><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image" Target="../media/image19.gi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3.gi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8.gif"/></Relationships>
</file>

<file path=ppt/slides/_rels/slide38.xml.rels><?xml version="1.0" encoding="UTF-8" standalone="yes"?>
<Relationships xmlns="http://schemas.openxmlformats.org/package/2006/relationships"><Relationship Id="rId2" Type="http://schemas.openxmlformats.org/officeDocument/2006/relationships/image" Target="../media/image24.gi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28.gi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9.gi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30.gi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3.gif"/><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4.gif"/></Relationships>
</file>

<file path=ppt/slides/_rels/slide52.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6.gif"/></Relationships>
</file>

<file path=ppt/slides/_rels/slide53.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5.gif"/><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6.gif"/></Relationships>
</file>

<file path=ppt/slides/_rels/slide55.xml.rels><?xml version="1.0" encoding="UTF-8" standalone="yes"?>
<Relationships xmlns="http://schemas.openxmlformats.org/package/2006/relationships"><Relationship Id="rId3" Type="http://schemas.openxmlformats.org/officeDocument/2006/relationships/image" Target="../media/image37.gif"/><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6.gif"/></Relationships>
</file>

<file path=ppt/slides/_rels/slide56.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image" Target="../media/image37.gi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8.gi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9.gif"/><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jpeg"/></Relationships>
</file>

<file path=ppt/slides/_rels/slide6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6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5.gif"/><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image" Target="../media/image45.gif"/><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45.gif"/><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2.gif"/></Relationships>
</file>

<file path=ppt/slides/_rels/slide82.xml.rels><?xml version="1.0" encoding="UTF-8" standalone="yes"?>
<Relationships xmlns="http://schemas.openxmlformats.org/package/2006/relationships"><Relationship Id="rId2" Type="http://schemas.openxmlformats.org/officeDocument/2006/relationships/image" Target="../media/image16.gif"/><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30.gif"/><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49.gif"/><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49.gif"/><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45.gif"/><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50.gif"/><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50.gif"/><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51.gif"/><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53.jpeg"/><Relationship Id="rId4" Type="http://schemas.openxmlformats.org/officeDocument/2006/relationships/image" Target="../media/image52.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130424"/>
            <a:ext cx="8686800" cy="1737360"/>
          </a:xfr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en-US"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Anesthesia for valvular heart disease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sz="3600" b="1" dirty="0"/>
              <a:t>Objectives</a:t>
            </a:r>
            <a:r>
              <a:rPr lang="en-US" dirty="0"/>
              <a:t> </a:t>
            </a:r>
          </a:p>
        </p:txBody>
      </p:sp>
      <p:sp>
        <p:nvSpPr>
          <p:cNvPr id="3" name="Content Placeholder 2"/>
          <p:cNvSpPr>
            <a:spLocks noGrp="1"/>
          </p:cNvSpPr>
          <p:nvPr>
            <p:ph idx="1"/>
          </p:nvPr>
        </p:nvSpPr>
        <p:spPr>
          <a:xfrm>
            <a:off x="152400" y="1219200"/>
            <a:ext cx="8991600" cy="5257800"/>
          </a:xfrm>
        </p:spPr>
        <p:txBody>
          <a:bodyPr>
            <a:normAutofit fontScale="85000" lnSpcReduction="10000"/>
          </a:bodyPr>
          <a:lstStyle/>
          <a:p>
            <a:pPr>
              <a:buNone/>
            </a:pPr>
            <a:r>
              <a:rPr lang="en-US" dirty="0"/>
              <a:t>At the end of this section the student will be able to </a:t>
            </a:r>
          </a:p>
          <a:p>
            <a:pPr>
              <a:lnSpc>
                <a:spcPct val="150000"/>
              </a:lnSpc>
            </a:pPr>
            <a:r>
              <a:rPr lang="en-US" sz="2800" dirty="0"/>
              <a:t>Explain the pathophysiology of specific VHD</a:t>
            </a:r>
          </a:p>
          <a:p>
            <a:pPr>
              <a:lnSpc>
                <a:spcPct val="150000"/>
              </a:lnSpc>
            </a:pPr>
            <a:r>
              <a:rPr lang="en-US" sz="2800" dirty="0"/>
              <a:t>Identify common cause of VHD</a:t>
            </a:r>
          </a:p>
          <a:p>
            <a:pPr>
              <a:lnSpc>
                <a:spcPct val="150000"/>
              </a:lnSpc>
            </a:pPr>
            <a:r>
              <a:rPr lang="en-US" sz="2800" dirty="0"/>
              <a:t>Identify medical and surgical </a:t>
            </a:r>
            <a:r>
              <a:rPr lang="en-US" sz="2800" dirty="0" err="1"/>
              <a:t>tratment</a:t>
            </a:r>
            <a:r>
              <a:rPr lang="en-US" sz="2800" dirty="0"/>
              <a:t>  for VHD</a:t>
            </a:r>
          </a:p>
          <a:p>
            <a:pPr>
              <a:lnSpc>
                <a:spcPct val="150000"/>
              </a:lnSpc>
            </a:pPr>
            <a:r>
              <a:rPr lang="en-US" sz="2800" dirty="0"/>
              <a:t>Discuss preoperative approach to VHD</a:t>
            </a:r>
          </a:p>
          <a:p>
            <a:pPr>
              <a:lnSpc>
                <a:spcPct val="150000"/>
              </a:lnSpc>
            </a:pPr>
            <a:r>
              <a:rPr lang="en-US" sz="2800" dirty="0"/>
              <a:t>Explain choice of anesthetic technique  for VHD</a:t>
            </a:r>
          </a:p>
          <a:p>
            <a:pPr>
              <a:lnSpc>
                <a:spcPct val="150000"/>
              </a:lnSpc>
            </a:pPr>
            <a:r>
              <a:rPr lang="en-US" sz="2800" dirty="0"/>
              <a:t>Discuss choice of appropriate induction, analgesia and maintenance </a:t>
            </a:r>
          </a:p>
          <a:p>
            <a:pPr>
              <a:lnSpc>
                <a:spcPct val="150000"/>
              </a:lnSpc>
            </a:pPr>
            <a:r>
              <a:rPr lang="en-US" sz="2800" dirty="0"/>
              <a:t>Identify major </a:t>
            </a:r>
            <a:r>
              <a:rPr lang="en-US" sz="2800" dirty="0" err="1"/>
              <a:t>perioperative</a:t>
            </a:r>
            <a:r>
              <a:rPr lang="en-US" sz="2800" dirty="0"/>
              <a:t>  challenge </a:t>
            </a:r>
          </a:p>
          <a:p>
            <a:pPr>
              <a:lnSpc>
                <a:spcPct val="150000"/>
              </a:lnSpc>
            </a:pPr>
            <a:r>
              <a:rPr lang="en-US" sz="2800" dirty="0"/>
              <a:t>Describe post operative  management choice </a:t>
            </a:r>
          </a:p>
          <a:p>
            <a:endParaRPr lang="en-US" dirty="0"/>
          </a:p>
          <a:p>
            <a:endParaRPr lang="en-US" dirty="0"/>
          </a:p>
        </p:txBody>
      </p:sp>
      <p:sp>
        <p:nvSpPr>
          <p:cNvPr id="4" name="Date Placeholder 3"/>
          <p:cNvSpPr>
            <a:spLocks noGrp="1"/>
          </p:cNvSpPr>
          <p:nvPr>
            <p:ph type="dt" sz="half" idx="10"/>
          </p:nvPr>
        </p:nvSpPr>
        <p:spPr/>
        <p:txBody>
          <a:bodyPr/>
          <a:lstStyle/>
          <a:p>
            <a:fld id="{9FF623BF-81E1-400E-AFC4-BE86990C41E7}" type="datetime1">
              <a:rPr lang="en-US" smtClean="0"/>
              <a:t>8/9/2021</a:t>
            </a:fld>
            <a:endParaRPr lang="en-US"/>
          </a:p>
        </p:txBody>
      </p:sp>
      <p:sp>
        <p:nvSpPr>
          <p:cNvPr id="5" name="Slide Number Placeholder 4"/>
          <p:cNvSpPr>
            <a:spLocks noGrp="1"/>
          </p:cNvSpPr>
          <p:nvPr>
            <p:ph type="sldNum" sz="quarter" idx="12"/>
          </p:nvPr>
        </p:nvSpPr>
        <p:spPr/>
        <p:txBody>
          <a:bodyPr/>
          <a:lstStyle/>
          <a:p>
            <a:fld id="{81D9AF01-45F5-44F6-94C9-E46484F8FCE6}" type="slidenum">
              <a:rPr lang="en-US" smtClean="0"/>
              <a:pPr/>
              <a:t>2</a:t>
            </a:fld>
            <a:endParaRPr lang="en-US"/>
          </a:p>
        </p:txBody>
      </p:sp>
      <p:sp>
        <p:nvSpPr>
          <p:cNvPr id="7" name="Footer Placeholder 6">
            <a:extLst>
              <a:ext uri="{FF2B5EF4-FFF2-40B4-BE49-F238E27FC236}">
                <a16:creationId xmlns:a16="http://schemas.microsoft.com/office/drawing/2014/main" id="{DF8C9309-883A-4B74-83AF-63E9678DA640}"/>
              </a:ext>
            </a:extLst>
          </p:cNvPr>
          <p:cNvSpPr>
            <a:spLocks noGrp="1"/>
          </p:cNvSpPr>
          <p:nvPr>
            <p:ph type="ftr" sz="quarter" idx="11"/>
          </p:nvPr>
        </p:nvSpPr>
        <p:spPr/>
        <p:txBody>
          <a:bodyPr/>
          <a:lstStyle/>
          <a:p>
            <a:r>
              <a:rPr lang="en-US"/>
              <a:t>Anesthesia for VHD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1 </a:t>
            </a:r>
          </a:p>
        </p:txBody>
      </p:sp>
      <p:sp>
        <p:nvSpPr>
          <p:cNvPr id="3" name="Content Placeholder 2"/>
          <p:cNvSpPr>
            <a:spLocks noGrp="1"/>
          </p:cNvSpPr>
          <p:nvPr>
            <p:ph idx="1"/>
          </p:nvPr>
        </p:nvSpPr>
        <p:spPr>
          <a:xfrm>
            <a:off x="228600" y="1143000"/>
            <a:ext cx="8763000" cy="5334000"/>
          </a:xfrm>
        </p:spPr>
        <p:txBody>
          <a:bodyPr>
            <a:normAutofit fontScale="70000" lnSpcReduction="20000"/>
          </a:bodyPr>
          <a:lstStyle/>
          <a:p>
            <a:pPr>
              <a:lnSpc>
                <a:spcPct val="200000"/>
              </a:lnSpc>
              <a:buBlip>
                <a:blip r:embed="rId2"/>
              </a:buBlip>
            </a:pPr>
            <a:r>
              <a:rPr lang="en-US" sz="3600" dirty="0"/>
              <a:t>CVD is comprise the most prevalent serious disorders in industrialized nations and are a rapidly growing problem in developing nations.</a:t>
            </a:r>
          </a:p>
          <a:p>
            <a:pPr>
              <a:lnSpc>
                <a:spcPct val="200000"/>
              </a:lnSpc>
              <a:buBlip>
                <a:blip r:embed="rId2"/>
              </a:buBlip>
            </a:pPr>
            <a:r>
              <a:rPr lang="en-GB" sz="3600" dirty="0"/>
              <a:t>VHD account 2.5% in Industrialized </a:t>
            </a:r>
            <a:r>
              <a:rPr lang="en-GB" sz="3600" dirty="0">
                <a:solidFill>
                  <a:srgbClr val="FF0000"/>
                </a:solidFill>
              </a:rPr>
              <a:t>(2014,Jrn.cardiac,lung.B.etal</a:t>
            </a:r>
            <a:r>
              <a:rPr lang="en-GB" sz="3600" dirty="0"/>
              <a:t>) ,  while  42 % of cardiac patients in Ethiopia.(</a:t>
            </a:r>
            <a:r>
              <a:rPr lang="en-GB" sz="3600" dirty="0">
                <a:solidFill>
                  <a:srgbClr val="FF0000"/>
                </a:solidFill>
              </a:rPr>
              <a:t>2017,Jrn.CVS.medicine.Gemechu.etal.)</a:t>
            </a:r>
          </a:p>
          <a:p>
            <a:pPr>
              <a:lnSpc>
                <a:spcPct val="200000"/>
              </a:lnSpc>
              <a:buBlip>
                <a:blip r:embed="rId2"/>
              </a:buBlip>
            </a:pPr>
            <a:endParaRPr lang="en-US" sz="3000" dirty="0"/>
          </a:p>
          <a:p>
            <a:pPr>
              <a:lnSpc>
                <a:spcPct val="150000"/>
              </a:lnSpc>
              <a:buBlip>
                <a:blip r:embed="rId2"/>
              </a:buBlip>
            </a:pPr>
            <a:endParaRPr lang="en-US" dirty="0"/>
          </a:p>
          <a:p>
            <a:pPr>
              <a:lnSpc>
                <a:spcPct val="150000"/>
              </a:lnSpc>
              <a:buBlip>
                <a:blip r:embed="rId2"/>
              </a:buBlip>
            </a:pPr>
            <a:endParaRPr lang="en-US" dirty="0"/>
          </a:p>
          <a:p>
            <a:pPr>
              <a:lnSpc>
                <a:spcPct val="150000"/>
              </a:lnSpc>
              <a:buBlip>
                <a:blip r:embed="rId2"/>
              </a:buBlip>
            </a:pPr>
            <a:endParaRPr lang="en-US" dirty="0"/>
          </a:p>
          <a:p>
            <a:pPr>
              <a:lnSpc>
                <a:spcPct val="150000"/>
              </a:lnSpc>
              <a:buBlip>
                <a:blip r:embed="rId2"/>
              </a:buBlip>
            </a:pPr>
            <a:endParaRPr lang="en-US" dirty="0"/>
          </a:p>
          <a:p>
            <a:pPr>
              <a:buBlip>
                <a:blip r:embed="rId2"/>
              </a:buBlip>
            </a:pPr>
            <a:endParaRPr lang="en-US" dirty="0"/>
          </a:p>
        </p:txBody>
      </p:sp>
      <p:sp>
        <p:nvSpPr>
          <p:cNvPr id="4" name="Date Placeholder 3"/>
          <p:cNvSpPr>
            <a:spLocks noGrp="1"/>
          </p:cNvSpPr>
          <p:nvPr>
            <p:ph type="dt" sz="half" idx="10"/>
          </p:nvPr>
        </p:nvSpPr>
        <p:spPr/>
        <p:txBody>
          <a:bodyPr/>
          <a:lstStyle/>
          <a:p>
            <a:fld id="{5FB82782-526A-49F0-81ED-BEF631526329}" type="datetime1">
              <a:rPr lang="en-US" smtClean="0"/>
              <a:t>8/9/2021</a:t>
            </a:fld>
            <a:endParaRPr lang="en-US"/>
          </a:p>
        </p:txBody>
      </p:sp>
      <p:sp>
        <p:nvSpPr>
          <p:cNvPr id="5" name="Slide Number Placeholder 4"/>
          <p:cNvSpPr>
            <a:spLocks noGrp="1"/>
          </p:cNvSpPr>
          <p:nvPr>
            <p:ph type="sldNum" sz="quarter" idx="12"/>
          </p:nvPr>
        </p:nvSpPr>
        <p:spPr/>
        <p:txBody>
          <a:bodyPr/>
          <a:lstStyle/>
          <a:p>
            <a:fld id="{81D9AF01-45F5-44F6-94C9-E46484F8FCE6}" type="slidenum">
              <a:rPr lang="en-US" smtClean="0"/>
              <a:pPr/>
              <a:t>3</a:t>
            </a:fld>
            <a:endParaRPr lang="en-US"/>
          </a:p>
        </p:txBody>
      </p:sp>
      <p:sp>
        <p:nvSpPr>
          <p:cNvPr id="6"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38200"/>
          </a:xfrm>
        </p:spPr>
        <p:txBody>
          <a:bodyPr/>
          <a:lstStyle/>
          <a:p>
            <a:r>
              <a:rPr lang="en-US" dirty="0"/>
              <a:t>Cont….</a:t>
            </a:r>
          </a:p>
        </p:txBody>
      </p:sp>
      <p:sp>
        <p:nvSpPr>
          <p:cNvPr id="3" name="Content Placeholder 2"/>
          <p:cNvSpPr>
            <a:spLocks noGrp="1"/>
          </p:cNvSpPr>
          <p:nvPr>
            <p:ph idx="1"/>
          </p:nvPr>
        </p:nvSpPr>
        <p:spPr>
          <a:xfrm>
            <a:off x="152400" y="990600"/>
            <a:ext cx="8763000" cy="5562600"/>
          </a:xfrm>
        </p:spPr>
        <p:txBody>
          <a:bodyPr>
            <a:normAutofit/>
          </a:bodyPr>
          <a:lstStyle/>
          <a:p>
            <a:pPr>
              <a:lnSpc>
                <a:spcPct val="170000"/>
              </a:lnSpc>
              <a:buBlip>
                <a:blip r:embed="rId2"/>
              </a:buBlip>
            </a:pPr>
            <a:r>
              <a:rPr lang="en-US" dirty="0"/>
              <a:t>VHD is becoming more common in our aging population.</a:t>
            </a:r>
          </a:p>
          <a:p>
            <a:pPr>
              <a:lnSpc>
                <a:spcPct val="170000"/>
              </a:lnSpc>
              <a:buBlip>
                <a:blip r:embed="rId2"/>
              </a:buBlip>
            </a:pPr>
            <a:r>
              <a:rPr lang="en-US" dirty="0"/>
              <a:t>An estimate of the prevalence of moderate to severe disease in patients &gt; 75 years old is </a:t>
            </a:r>
            <a:r>
              <a:rPr lang="en-US" dirty="0">
                <a:solidFill>
                  <a:srgbClr val="FF0000"/>
                </a:solidFill>
              </a:rPr>
              <a:t>13.3%</a:t>
            </a:r>
          </a:p>
          <a:p>
            <a:pPr>
              <a:lnSpc>
                <a:spcPct val="170000"/>
              </a:lnSpc>
              <a:buBlip>
                <a:blip r:embed="rId2"/>
              </a:buBlip>
            </a:pPr>
            <a:r>
              <a:rPr lang="en-US" dirty="0"/>
              <a:t>Rheumatic fever is the dominant cause of VHD in developing and low income countries.</a:t>
            </a:r>
          </a:p>
          <a:p>
            <a:pPr>
              <a:lnSpc>
                <a:spcPct val="170000"/>
              </a:lnSpc>
              <a:buBlip>
                <a:blip r:embed="rId2"/>
              </a:buBlip>
            </a:pPr>
            <a:endParaRPr lang="en-US" dirty="0">
              <a:solidFill>
                <a:srgbClr val="FF0000"/>
              </a:solidFill>
            </a:endParaRPr>
          </a:p>
          <a:p>
            <a:endParaRPr lang="en-US" dirty="0"/>
          </a:p>
        </p:txBody>
      </p:sp>
      <p:sp>
        <p:nvSpPr>
          <p:cNvPr id="4" name="Date Placeholder 3"/>
          <p:cNvSpPr>
            <a:spLocks noGrp="1"/>
          </p:cNvSpPr>
          <p:nvPr>
            <p:ph type="dt" sz="half" idx="10"/>
          </p:nvPr>
        </p:nvSpPr>
        <p:spPr/>
        <p:txBody>
          <a:bodyPr/>
          <a:lstStyle/>
          <a:p>
            <a:fld id="{05EFA31A-823D-4F00-8196-CC86872D86BD}" type="datetime1">
              <a:rPr lang="en-US" smtClean="0"/>
              <a:t>8/9/2021</a:t>
            </a:fld>
            <a:endParaRPr lang="en-US"/>
          </a:p>
        </p:txBody>
      </p:sp>
      <p:sp>
        <p:nvSpPr>
          <p:cNvPr id="5" name="Slide Number Placeholder 4"/>
          <p:cNvSpPr>
            <a:spLocks noGrp="1"/>
          </p:cNvSpPr>
          <p:nvPr>
            <p:ph type="sldNum" sz="quarter" idx="12"/>
          </p:nvPr>
        </p:nvSpPr>
        <p:spPr/>
        <p:txBody>
          <a:bodyPr/>
          <a:lstStyle/>
          <a:p>
            <a:fld id="{81D9AF01-45F5-44F6-94C9-E46484F8FCE6}" type="slidenum">
              <a:rPr lang="en-US" smtClean="0"/>
              <a:pPr/>
              <a:t>4</a:t>
            </a:fld>
            <a:endParaRPr lang="en-US"/>
          </a:p>
        </p:txBody>
      </p:sp>
      <p:sp>
        <p:nvSpPr>
          <p:cNvPr id="6"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sp>
        <p:nvSpPr>
          <p:cNvPr id="3" name="Content Placeholder 2"/>
          <p:cNvSpPr>
            <a:spLocks noGrp="1"/>
          </p:cNvSpPr>
          <p:nvPr>
            <p:ph idx="1"/>
          </p:nvPr>
        </p:nvSpPr>
        <p:spPr>
          <a:xfrm>
            <a:off x="152400" y="1295400"/>
            <a:ext cx="8839200" cy="5257800"/>
          </a:xfrm>
        </p:spPr>
        <p:txBody>
          <a:bodyPr/>
          <a:lstStyle/>
          <a:p>
            <a:pPr>
              <a:lnSpc>
                <a:spcPct val="150000"/>
              </a:lnSpc>
              <a:buBlip>
                <a:blip r:embed="rId2"/>
              </a:buBlip>
            </a:pPr>
            <a:r>
              <a:rPr lang="en-US" dirty="0"/>
              <a:t>Primary VHD ranks well below CAD, stroke, hypertension, obesity, and diabetes as a major threat to the public health. </a:t>
            </a:r>
          </a:p>
          <a:p>
            <a:endParaRPr lang="en-US" dirty="0"/>
          </a:p>
        </p:txBody>
      </p:sp>
      <p:sp>
        <p:nvSpPr>
          <p:cNvPr id="4" name="Date Placeholder 3"/>
          <p:cNvSpPr>
            <a:spLocks noGrp="1"/>
          </p:cNvSpPr>
          <p:nvPr>
            <p:ph type="dt" sz="half" idx="10"/>
          </p:nvPr>
        </p:nvSpPr>
        <p:spPr/>
        <p:txBody>
          <a:bodyPr/>
          <a:lstStyle/>
          <a:p>
            <a:fld id="{CC01EFB9-776B-4586-A19C-9221418B157A}" type="datetime1">
              <a:rPr lang="en-US" smtClean="0"/>
              <a:t>8/9/2021</a:t>
            </a:fld>
            <a:endParaRPr lang="en-US"/>
          </a:p>
        </p:txBody>
      </p:sp>
      <p:sp>
        <p:nvSpPr>
          <p:cNvPr id="5" name="Slide Number Placeholder 4"/>
          <p:cNvSpPr>
            <a:spLocks noGrp="1"/>
          </p:cNvSpPr>
          <p:nvPr>
            <p:ph type="sldNum" sz="quarter" idx="12"/>
          </p:nvPr>
        </p:nvSpPr>
        <p:spPr/>
        <p:txBody>
          <a:bodyPr/>
          <a:lstStyle/>
          <a:p>
            <a:fld id="{81D9AF01-45F5-44F6-94C9-E46484F8FCE6}" type="slidenum">
              <a:rPr lang="en-US" smtClean="0"/>
              <a:pPr/>
              <a:t>5</a:t>
            </a:fld>
            <a:endParaRPr lang="en-US"/>
          </a:p>
        </p:txBody>
      </p:sp>
      <p:sp>
        <p:nvSpPr>
          <p:cNvPr id="6"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305800" cy="914400"/>
          </a:xfrm>
        </p:spPr>
        <p:txBody>
          <a:bodyPr/>
          <a:lstStyle/>
          <a:p>
            <a:r>
              <a:rPr lang="en-US" dirty="0"/>
              <a:t>Cont….</a:t>
            </a:r>
          </a:p>
        </p:txBody>
      </p:sp>
      <p:sp>
        <p:nvSpPr>
          <p:cNvPr id="3" name="Content Placeholder 2"/>
          <p:cNvSpPr>
            <a:spLocks noGrp="1"/>
          </p:cNvSpPr>
          <p:nvPr>
            <p:ph idx="1"/>
          </p:nvPr>
        </p:nvSpPr>
        <p:spPr>
          <a:xfrm>
            <a:off x="0" y="1143000"/>
            <a:ext cx="8686800" cy="4983163"/>
          </a:xfrm>
        </p:spPr>
        <p:txBody>
          <a:bodyPr/>
          <a:lstStyle/>
          <a:p>
            <a:pPr>
              <a:lnSpc>
                <a:spcPct val="150000"/>
              </a:lnSpc>
              <a:buBlip>
                <a:blip r:embed="rId2"/>
              </a:buBlip>
            </a:pPr>
            <a:r>
              <a:rPr lang="en-GB" dirty="0"/>
              <a:t>Aside from antibiotic prophylaxis, very little medical therapy is available for patients with VHD.</a:t>
            </a:r>
          </a:p>
          <a:p>
            <a:pPr>
              <a:lnSpc>
                <a:spcPct val="150000"/>
              </a:lnSpc>
              <a:buBlip>
                <a:blip r:embed="rId2"/>
              </a:buBlip>
            </a:pPr>
            <a:r>
              <a:rPr lang="en-GB" dirty="0"/>
              <a:t>surgery is the treatment for most </a:t>
            </a:r>
            <a:r>
              <a:rPr lang="en-GB" dirty="0">
                <a:solidFill>
                  <a:schemeClr val="accent2"/>
                </a:solidFill>
              </a:rPr>
              <a:t>symptomatic </a:t>
            </a:r>
            <a:r>
              <a:rPr lang="en-GB" dirty="0"/>
              <a:t>lesions or for lesions causing </a:t>
            </a:r>
            <a:r>
              <a:rPr lang="en-GB" i="1" dirty="0">
                <a:solidFill>
                  <a:schemeClr val="accent2"/>
                </a:solidFill>
              </a:rPr>
              <a:t>left ventricular </a:t>
            </a:r>
            <a:r>
              <a:rPr lang="en-GB" dirty="0"/>
              <a:t>dysfunction even in the absence of symptoms.</a:t>
            </a:r>
          </a:p>
          <a:p>
            <a:pPr>
              <a:buNone/>
            </a:pPr>
            <a:endParaRPr lang="en-US" dirty="0"/>
          </a:p>
        </p:txBody>
      </p:sp>
      <p:sp>
        <p:nvSpPr>
          <p:cNvPr id="4" name="Date Placeholder 3"/>
          <p:cNvSpPr>
            <a:spLocks noGrp="1"/>
          </p:cNvSpPr>
          <p:nvPr>
            <p:ph type="dt" sz="half" idx="10"/>
          </p:nvPr>
        </p:nvSpPr>
        <p:spPr/>
        <p:txBody>
          <a:bodyPr/>
          <a:lstStyle/>
          <a:p>
            <a:fld id="{1C51B483-B747-4A1F-A03C-ADEA5C6B9DFF}" type="datetime1">
              <a:rPr lang="en-US" smtClean="0"/>
              <a:t>8/9/2021</a:t>
            </a:fld>
            <a:endParaRPr lang="en-US"/>
          </a:p>
        </p:txBody>
      </p:sp>
      <p:sp>
        <p:nvSpPr>
          <p:cNvPr id="5" name="Slide Number Placeholder 4"/>
          <p:cNvSpPr>
            <a:spLocks noGrp="1"/>
          </p:cNvSpPr>
          <p:nvPr>
            <p:ph type="sldNum" sz="quarter" idx="12"/>
          </p:nvPr>
        </p:nvSpPr>
        <p:spPr/>
        <p:txBody>
          <a:bodyPr/>
          <a:lstStyle/>
          <a:p>
            <a:fld id="{81D9AF01-45F5-44F6-94C9-E46484F8FCE6}" type="slidenum">
              <a:rPr lang="en-US" smtClean="0"/>
              <a:pPr/>
              <a:t>6</a:t>
            </a:fld>
            <a:endParaRPr lang="en-US"/>
          </a:p>
        </p:txBody>
      </p:sp>
      <p:sp>
        <p:nvSpPr>
          <p:cNvPr id="6"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8" name="Title 1"/>
          <p:cNvSpPr>
            <a:spLocks noGrp="1"/>
          </p:cNvSpPr>
          <p:nvPr>
            <p:ph type="title"/>
          </p:nvPr>
        </p:nvSpPr>
        <p:spPr/>
        <p:txBody>
          <a:bodyPr/>
          <a:lstStyle/>
          <a:p>
            <a:r>
              <a:rPr lang="en-US" b="1" dirty="0"/>
              <a:t>Definition </a:t>
            </a:r>
          </a:p>
        </p:txBody>
      </p:sp>
      <p:sp>
        <p:nvSpPr>
          <p:cNvPr id="1048649" name="Content Placeholder 2"/>
          <p:cNvSpPr>
            <a:spLocks noGrp="1"/>
          </p:cNvSpPr>
          <p:nvPr>
            <p:ph idx="1"/>
          </p:nvPr>
        </p:nvSpPr>
        <p:spPr>
          <a:xfrm>
            <a:off x="228600" y="1295400"/>
            <a:ext cx="8915400" cy="5334000"/>
          </a:xfrm>
        </p:spPr>
        <p:txBody>
          <a:bodyPr/>
          <a:lstStyle/>
          <a:p>
            <a:pPr>
              <a:lnSpc>
                <a:spcPct val="200000"/>
              </a:lnSpc>
              <a:buNone/>
            </a:pPr>
            <a:r>
              <a:rPr lang="en-US" u="sng" dirty="0">
                <a:solidFill>
                  <a:schemeClr val="bg1">
                    <a:lumMod val="65000"/>
                  </a:schemeClr>
                </a:solidFill>
                <a:effectLst>
                  <a:outerShdw blurRad="38100" dist="38100" dir="2700000" algn="tl">
                    <a:srgbClr val="000000"/>
                  </a:outerShdw>
                </a:effectLst>
              </a:rPr>
              <a:t> </a:t>
            </a:r>
            <a:r>
              <a:rPr lang="en-US" sz="2800" u="sng" dirty="0">
                <a:solidFill>
                  <a:schemeClr val="bg1">
                    <a:lumMod val="65000"/>
                  </a:schemeClr>
                </a:solidFill>
                <a:effectLst>
                  <a:outerShdw blurRad="38100" dist="38100" dir="2700000" algn="tl">
                    <a:srgbClr val="000000"/>
                  </a:outerShdw>
                </a:effectLst>
              </a:rPr>
              <a:t>VHD IS </a:t>
            </a:r>
            <a:r>
              <a:rPr lang="en-US" sz="2800" dirty="0">
                <a:solidFill>
                  <a:schemeClr val="bg1">
                    <a:lumMod val="65000"/>
                  </a:schemeClr>
                </a:solidFill>
                <a:effectLst>
                  <a:outerShdw blurRad="38100" dist="38100" dir="2700000" algn="tl">
                    <a:srgbClr val="000000"/>
                  </a:outerShdw>
                </a:effectLst>
              </a:rPr>
              <a:t> </a:t>
            </a:r>
            <a:r>
              <a:rPr lang="en-US" sz="2800" dirty="0">
                <a:solidFill>
                  <a:schemeClr val="tx1">
                    <a:lumMod val="95000"/>
                    <a:lumOff val="5000"/>
                  </a:schemeClr>
                </a:solidFill>
              </a:rPr>
              <a:t>An acquired or </a:t>
            </a:r>
            <a:r>
              <a:rPr lang="en-US" sz="2800" dirty="0" err="1">
                <a:solidFill>
                  <a:schemeClr val="tx1">
                    <a:lumMod val="95000"/>
                    <a:lumOff val="5000"/>
                  </a:schemeClr>
                </a:solidFill>
              </a:rPr>
              <a:t>congential</a:t>
            </a:r>
            <a:r>
              <a:rPr lang="en-US" sz="2800" dirty="0">
                <a:solidFill>
                  <a:schemeClr val="tx1">
                    <a:lumMod val="95000"/>
                    <a:lumOff val="5000"/>
                  </a:schemeClr>
                </a:solidFill>
              </a:rPr>
              <a:t> disorder of a cardiac valve characterized by damage or defect in one of four valves </a:t>
            </a:r>
          </a:p>
          <a:p>
            <a:pPr>
              <a:lnSpc>
                <a:spcPct val="200000"/>
              </a:lnSpc>
              <a:buBlip>
                <a:blip r:embed="rId3"/>
              </a:buBlip>
            </a:pPr>
            <a:r>
              <a:rPr lang="en-GB" sz="2800" b="1" i="1" dirty="0"/>
              <a:t>Pressure overload</a:t>
            </a:r>
            <a:r>
              <a:rPr lang="en-GB" sz="2800" dirty="0"/>
              <a:t>: </a:t>
            </a:r>
            <a:r>
              <a:rPr lang="en-GB" sz="2800" dirty="0">
                <a:solidFill>
                  <a:schemeClr val="accent2"/>
                </a:solidFill>
              </a:rPr>
              <a:t>mitral</a:t>
            </a:r>
            <a:r>
              <a:rPr lang="en-GB" sz="2800" dirty="0"/>
              <a:t> &amp; aortic </a:t>
            </a:r>
            <a:r>
              <a:rPr lang="en-GB" sz="2800" dirty="0" err="1"/>
              <a:t>stenosis</a:t>
            </a:r>
            <a:endParaRPr lang="en-GB" sz="2800" dirty="0"/>
          </a:p>
          <a:p>
            <a:pPr>
              <a:lnSpc>
                <a:spcPct val="200000"/>
              </a:lnSpc>
              <a:buBlip>
                <a:blip r:embed="rId3"/>
              </a:buBlip>
            </a:pPr>
            <a:r>
              <a:rPr lang="en-GB" sz="2800" b="1" i="1" dirty="0"/>
              <a:t>Volume overload</a:t>
            </a:r>
            <a:r>
              <a:rPr lang="en-GB" sz="2800" dirty="0"/>
              <a:t>: mitral &amp; aortic regurgitation</a:t>
            </a:r>
          </a:p>
        </p:txBody>
      </p:sp>
      <p:sp>
        <p:nvSpPr>
          <p:cNvPr id="1048650" name="Date Placeholder 3"/>
          <p:cNvSpPr>
            <a:spLocks noGrp="1"/>
          </p:cNvSpPr>
          <p:nvPr>
            <p:ph type="dt" sz="half" idx="10"/>
          </p:nvPr>
        </p:nvSpPr>
        <p:spPr/>
        <p:txBody>
          <a:bodyPr/>
          <a:lstStyle/>
          <a:p>
            <a:fld id="{57B2DECE-1284-4C7C-8631-34C2729D610D}" type="datetime1">
              <a:rPr lang="en-US" smtClean="0"/>
              <a:t>8/9/2021</a:t>
            </a:fld>
            <a:endParaRPr lang="en-US"/>
          </a:p>
        </p:txBody>
      </p:sp>
      <p:sp>
        <p:nvSpPr>
          <p:cNvPr id="1048651" name="Slide Number Placeholder 4"/>
          <p:cNvSpPr>
            <a:spLocks noGrp="1"/>
          </p:cNvSpPr>
          <p:nvPr>
            <p:ph type="sldNum" sz="quarter" idx="12"/>
          </p:nvPr>
        </p:nvSpPr>
        <p:spPr/>
        <p:txBody>
          <a:bodyPr/>
          <a:lstStyle/>
          <a:p>
            <a:fld id="{124970EB-A8C4-40D2-AF81-C6C16288290E}" type="slidenum">
              <a:rPr lang="en-US" smtClean="0"/>
              <a:pPr/>
              <a:t>7</a:t>
            </a:fld>
            <a:endParaRPr lang="en-US"/>
          </a:p>
        </p:txBody>
      </p:sp>
      <p:sp>
        <p:nvSpPr>
          <p:cNvPr id="1048652"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6" name="Title 1"/>
          <p:cNvSpPr>
            <a:spLocks noGrp="1"/>
          </p:cNvSpPr>
          <p:nvPr>
            <p:ph type="title"/>
          </p:nvPr>
        </p:nvSpPr>
        <p:spPr>
          <a:xfrm>
            <a:off x="457200" y="274638"/>
            <a:ext cx="8229600" cy="792162"/>
          </a:xfrm>
        </p:spPr>
        <p:txBody>
          <a:bodyPr/>
          <a:lstStyle/>
          <a:p>
            <a:r>
              <a:rPr lang="en-US" dirty="0"/>
              <a:t>Cont…</a:t>
            </a:r>
          </a:p>
        </p:txBody>
      </p:sp>
      <p:sp>
        <p:nvSpPr>
          <p:cNvPr id="1048657" name="Content Placeholder 2"/>
          <p:cNvSpPr>
            <a:spLocks noGrp="1"/>
          </p:cNvSpPr>
          <p:nvPr>
            <p:ph idx="1"/>
          </p:nvPr>
        </p:nvSpPr>
        <p:spPr>
          <a:xfrm>
            <a:off x="228600" y="990600"/>
            <a:ext cx="8686800" cy="5562600"/>
          </a:xfrm>
        </p:spPr>
        <p:txBody>
          <a:bodyPr>
            <a:noAutofit/>
          </a:bodyPr>
          <a:lstStyle/>
          <a:p>
            <a:pPr>
              <a:lnSpc>
                <a:spcPct val="200000"/>
              </a:lnSpc>
              <a:buBlip>
                <a:blip r:embed="rId3"/>
              </a:buBlip>
            </a:pPr>
            <a:r>
              <a:rPr lang="en-US" sz="2800" dirty="0"/>
              <a:t>Compensatory mechanisms </a:t>
            </a:r>
          </a:p>
          <a:p>
            <a:pPr lvl="1">
              <a:lnSpc>
                <a:spcPct val="200000"/>
              </a:lnSpc>
              <a:buBlip>
                <a:blip r:embed="rId4"/>
              </a:buBlip>
            </a:pPr>
            <a:r>
              <a:rPr lang="en-US" dirty="0"/>
              <a:t>Chamber enlargement</a:t>
            </a:r>
          </a:p>
          <a:p>
            <a:pPr lvl="1">
              <a:lnSpc>
                <a:spcPct val="200000"/>
              </a:lnSpc>
              <a:buBlip>
                <a:blip r:embed="rId4"/>
              </a:buBlip>
            </a:pPr>
            <a:r>
              <a:rPr lang="en-US" dirty="0"/>
              <a:t>myocardial hypertrophy, </a:t>
            </a:r>
          </a:p>
          <a:p>
            <a:pPr lvl="1">
              <a:lnSpc>
                <a:spcPct val="200000"/>
              </a:lnSpc>
              <a:buBlip>
                <a:blip r:embed="rId4"/>
              </a:buBlip>
            </a:pPr>
            <a:r>
              <a:rPr lang="en-US" dirty="0"/>
              <a:t>variations in vascular tone and level of sympathetic activity.</a:t>
            </a:r>
          </a:p>
          <a:p>
            <a:pPr>
              <a:lnSpc>
                <a:spcPct val="200000"/>
              </a:lnSpc>
              <a:buBlip>
                <a:blip r:embed="rId5"/>
              </a:buBlip>
            </a:pPr>
            <a:r>
              <a:rPr lang="en-US" sz="2800" b="1" i="1" dirty="0">
                <a:solidFill>
                  <a:schemeClr val="accent2"/>
                </a:solidFill>
              </a:rPr>
              <a:t> So  what is the consequence ???? </a:t>
            </a:r>
          </a:p>
        </p:txBody>
      </p:sp>
      <p:sp>
        <p:nvSpPr>
          <p:cNvPr id="1048658" name="Date Placeholder 3"/>
          <p:cNvSpPr>
            <a:spLocks noGrp="1"/>
          </p:cNvSpPr>
          <p:nvPr>
            <p:ph type="dt" sz="half" idx="10"/>
          </p:nvPr>
        </p:nvSpPr>
        <p:spPr/>
        <p:txBody>
          <a:bodyPr/>
          <a:lstStyle/>
          <a:p>
            <a:fld id="{12F9D3AE-A7F0-4462-976E-021CE2CBA533}" type="datetime1">
              <a:rPr lang="en-US" smtClean="0"/>
              <a:t>8/9/2021</a:t>
            </a:fld>
            <a:endParaRPr lang="en-US"/>
          </a:p>
        </p:txBody>
      </p:sp>
      <p:sp>
        <p:nvSpPr>
          <p:cNvPr id="1048659" name="Slide Number Placeholder 4"/>
          <p:cNvSpPr>
            <a:spLocks noGrp="1"/>
          </p:cNvSpPr>
          <p:nvPr>
            <p:ph type="sldNum" sz="quarter" idx="12"/>
          </p:nvPr>
        </p:nvSpPr>
        <p:spPr/>
        <p:txBody>
          <a:bodyPr/>
          <a:lstStyle/>
          <a:p>
            <a:fld id="{124970EB-A8C4-40D2-AF81-C6C16288290E}" type="slidenum">
              <a:rPr lang="en-US" smtClean="0"/>
              <a:pPr/>
              <a:t>8</a:t>
            </a:fld>
            <a:endParaRPr lang="en-US"/>
          </a:p>
        </p:txBody>
      </p:sp>
      <p:sp>
        <p:nvSpPr>
          <p:cNvPr id="1048660"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4" name="Title 1"/>
          <p:cNvSpPr>
            <a:spLocks noGrp="1"/>
          </p:cNvSpPr>
          <p:nvPr>
            <p:ph type="title"/>
          </p:nvPr>
        </p:nvSpPr>
        <p:spPr>
          <a:xfrm>
            <a:off x="457200" y="274638"/>
            <a:ext cx="8229600" cy="715962"/>
          </a:xfrm>
        </p:spPr>
        <p:txBody>
          <a:bodyPr>
            <a:normAutofit fontScale="90000"/>
          </a:bodyPr>
          <a:lstStyle/>
          <a:p>
            <a:r>
              <a:rPr lang="en-US" dirty="0"/>
              <a:t>Cont…</a:t>
            </a:r>
          </a:p>
        </p:txBody>
      </p:sp>
      <p:sp>
        <p:nvSpPr>
          <p:cNvPr id="1048665" name="Content Placeholder 2"/>
          <p:cNvSpPr>
            <a:spLocks noGrp="1"/>
          </p:cNvSpPr>
          <p:nvPr>
            <p:ph idx="1"/>
          </p:nvPr>
        </p:nvSpPr>
        <p:spPr>
          <a:xfrm>
            <a:off x="304800" y="990600"/>
            <a:ext cx="8610600" cy="5562600"/>
          </a:xfrm>
        </p:spPr>
        <p:txBody>
          <a:bodyPr>
            <a:normAutofit fontScale="96786"/>
          </a:bodyPr>
          <a:lstStyle/>
          <a:p>
            <a:pPr>
              <a:lnSpc>
                <a:spcPct val="150000"/>
              </a:lnSpc>
              <a:buBlip>
                <a:blip r:embed="rId3"/>
              </a:buBlip>
            </a:pPr>
            <a:r>
              <a:rPr lang="en-US" sz="3300" dirty="0"/>
              <a:t>Anesthetic management of Patient with high-risk cardiovascular disease requires:</a:t>
            </a:r>
          </a:p>
          <a:p>
            <a:pPr lvl="1">
              <a:lnSpc>
                <a:spcPct val="150000"/>
              </a:lnSpc>
              <a:buBlip>
                <a:blip r:embed="rId4"/>
              </a:buBlip>
            </a:pPr>
            <a:r>
              <a:rPr lang="en-US" sz="2900" dirty="0"/>
              <a:t> understanding of  cardiac anatomy and </a:t>
            </a:r>
            <a:r>
              <a:rPr lang="en-US" sz="2900" dirty="0" err="1"/>
              <a:t>pathophysiology</a:t>
            </a:r>
            <a:endParaRPr lang="en-US" sz="2900" dirty="0"/>
          </a:p>
          <a:p>
            <a:pPr lvl="1">
              <a:lnSpc>
                <a:spcPct val="150000"/>
              </a:lnSpc>
              <a:buBlip>
                <a:blip r:embed="rId4"/>
              </a:buBlip>
            </a:pPr>
            <a:r>
              <a:rPr lang="en-US" sz="2900" dirty="0"/>
              <a:t> the hemodynamic alterations that may be induced by the choices of analgesic or anesthetic techniques</a:t>
            </a:r>
          </a:p>
          <a:p>
            <a:pPr>
              <a:lnSpc>
                <a:spcPct val="150000"/>
              </a:lnSpc>
            </a:pPr>
            <a:endParaRPr lang="en-US" dirty="0"/>
          </a:p>
        </p:txBody>
      </p:sp>
      <p:sp>
        <p:nvSpPr>
          <p:cNvPr id="1048666" name="Date Placeholder 3"/>
          <p:cNvSpPr>
            <a:spLocks noGrp="1"/>
          </p:cNvSpPr>
          <p:nvPr>
            <p:ph type="dt" sz="half" idx="10"/>
          </p:nvPr>
        </p:nvSpPr>
        <p:spPr/>
        <p:txBody>
          <a:bodyPr/>
          <a:lstStyle/>
          <a:p>
            <a:fld id="{07B9FF0C-9928-4F2F-BC60-1D0DECDEB3E7}" type="datetime1">
              <a:rPr lang="en-US" smtClean="0"/>
              <a:t>8/9/2021</a:t>
            </a:fld>
            <a:endParaRPr lang="en-US"/>
          </a:p>
        </p:txBody>
      </p:sp>
      <p:sp>
        <p:nvSpPr>
          <p:cNvPr id="1048667" name="Slide Number Placeholder 4"/>
          <p:cNvSpPr>
            <a:spLocks noGrp="1"/>
          </p:cNvSpPr>
          <p:nvPr>
            <p:ph type="sldNum" sz="quarter" idx="12"/>
          </p:nvPr>
        </p:nvSpPr>
        <p:spPr/>
        <p:txBody>
          <a:bodyPr/>
          <a:lstStyle/>
          <a:p>
            <a:fld id="{EF8E3FA9-2733-40BA-B69A-B3E3823E6788}" type="slidenum">
              <a:rPr lang="en-US" smtClean="0"/>
              <a:pPr/>
              <a:t>9</a:t>
            </a:fld>
            <a:endParaRPr lang="en-US"/>
          </a:p>
        </p:txBody>
      </p:sp>
      <p:sp>
        <p:nvSpPr>
          <p:cNvPr id="1048668" name="Footer Placeholder 5"/>
          <p:cNvSpPr>
            <a:spLocks noGrp="1"/>
          </p:cNvSpPr>
          <p:nvPr>
            <p:ph type="ftr" sz="quarter" idx="11"/>
          </p:nvPr>
        </p:nvSpPr>
        <p:spPr/>
        <p:txBody>
          <a:bodyPr/>
          <a:lstStyle/>
          <a:p>
            <a:r>
              <a:rPr lang="en-US"/>
              <a:t>Anesthesia for VHD </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Title 1"/>
          <p:cNvSpPr>
            <a:spLocks noGrp="1"/>
          </p:cNvSpPr>
          <p:nvPr>
            <p:ph type="title"/>
          </p:nvPr>
        </p:nvSpPr>
        <p:spPr>
          <a:xfrm>
            <a:off x="0" y="274638"/>
            <a:ext cx="8991600" cy="944562"/>
          </a:xfrm>
        </p:spPr>
        <p:txBody>
          <a:bodyPr>
            <a:normAutofit fontScale="90000"/>
          </a:bodyPr>
          <a:lstStyle/>
          <a:p>
            <a:r>
              <a:rPr lang="en-US" b="1" i="1" dirty="0"/>
              <a:t>General  preoperative Evaluation of Patients</a:t>
            </a:r>
            <a:endParaRPr lang="en-US" dirty="0"/>
          </a:p>
        </p:txBody>
      </p:sp>
      <p:sp>
        <p:nvSpPr>
          <p:cNvPr id="1048599" name="Content Placeholder 2"/>
          <p:cNvSpPr>
            <a:spLocks noGrp="1"/>
          </p:cNvSpPr>
          <p:nvPr>
            <p:ph idx="1"/>
          </p:nvPr>
        </p:nvSpPr>
        <p:spPr>
          <a:xfrm>
            <a:off x="228600" y="1371600"/>
            <a:ext cx="8915400" cy="5105400"/>
          </a:xfrm>
        </p:spPr>
        <p:txBody>
          <a:bodyPr>
            <a:normAutofit/>
          </a:bodyPr>
          <a:lstStyle/>
          <a:p>
            <a:pPr>
              <a:lnSpc>
                <a:spcPct val="150000"/>
              </a:lnSpc>
              <a:buBlip>
                <a:blip r:embed="rId2"/>
              </a:buBlip>
            </a:pPr>
            <a:r>
              <a:rPr lang="en-US" dirty="0"/>
              <a:t>CVD accounts for the majority of perioperative deaths. </a:t>
            </a:r>
          </a:p>
          <a:p>
            <a:pPr>
              <a:lnSpc>
                <a:spcPct val="150000"/>
              </a:lnSpc>
              <a:buBlip>
                <a:blip r:embed="rId2"/>
              </a:buBlip>
            </a:pPr>
            <a:r>
              <a:rPr lang="en-US" dirty="0"/>
              <a:t>Preoperative detection, investigation, treatment, and risk assessment helps minimize perioperative morbidity and mortality.</a:t>
            </a:r>
          </a:p>
          <a:p>
            <a:endParaRPr lang="en-US" dirty="0"/>
          </a:p>
        </p:txBody>
      </p:sp>
      <p:sp>
        <p:nvSpPr>
          <p:cNvPr id="4" name="Date Placeholder 3"/>
          <p:cNvSpPr>
            <a:spLocks noGrp="1"/>
          </p:cNvSpPr>
          <p:nvPr>
            <p:ph type="dt" sz="half" idx="10"/>
          </p:nvPr>
        </p:nvSpPr>
        <p:spPr/>
        <p:txBody>
          <a:bodyPr/>
          <a:lstStyle/>
          <a:p>
            <a:fld id="{6E57E7B6-1702-4264-AE84-BF3AB41E41F2}" type="datetime1">
              <a:rPr lang="en-US" smtClean="0"/>
              <a:t>8/9/2021</a:t>
            </a:fld>
            <a:endParaRPr lang="en-US"/>
          </a:p>
        </p:txBody>
      </p:sp>
      <p:sp>
        <p:nvSpPr>
          <p:cNvPr id="5" name="Slide Number Placeholder 4"/>
          <p:cNvSpPr>
            <a:spLocks noGrp="1"/>
          </p:cNvSpPr>
          <p:nvPr>
            <p:ph type="sldNum" sz="quarter" idx="12"/>
          </p:nvPr>
        </p:nvSpPr>
        <p:spPr/>
        <p:txBody>
          <a:bodyPr/>
          <a:lstStyle/>
          <a:p>
            <a:fld id="{81D9AF01-45F5-44F6-94C9-E46484F8FCE6}" type="slidenum">
              <a:rPr lang="en-US" smtClean="0"/>
              <a:pPr/>
              <a:t>10</a:t>
            </a:fld>
            <a:endParaRPr lang="en-US"/>
          </a:p>
        </p:txBody>
      </p:sp>
      <p:sp>
        <p:nvSpPr>
          <p:cNvPr id="6"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a:t>Cont…</a:t>
            </a:r>
          </a:p>
        </p:txBody>
      </p:sp>
      <p:sp>
        <p:nvSpPr>
          <p:cNvPr id="3" name="Content Placeholder 2"/>
          <p:cNvSpPr>
            <a:spLocks noGrp="1"/>
          </p:cNvSpPr>
          <p:nvPr>
            <p:ph idx="1"/>
          </p:nvPr>
        </p:nvSpPr>
        <p:spPr>
          <a:xfrm>
            <a:off x="304800" y="1219200"/>
            <a:ext cx="8534400" cy="5105400"/>
          </a:xfrm>
        </p:spPr>
        <p:txBody>
          <a:bodyPr>
            <a:normAutofit fontScale="92500" lnSpcReduction="10000"/>
          </a:bodyPr>
          <a:lstStyle/>
          <a:p>
            <a:pPr algn="just">
              <a:lnSpc>
                <a:spcPct val="160000"/>
              </a:lnSpc>
              <a:buBlip>
                <a:blip r:embed="rId3"/>
              </a:buBlip>
            </a:pPr>
            <a:r>
              <a:rPr lang="en-US" sz="3000" dirty="0"/>
              <a:t>preoperative evaluation should be primarily concerned with: </a:t>
            </a:r>
          </a:p>
          <a:p>
            <a:pPr algn="just">
              <a:lnSpc>
                <a:spcPct val="160000"/>
              </a:lnSpc>
              <a:buBlip>
                <a:blip r:embed="rId4"/>
              </a:buBlip>
            </a:pPr>
            <a:r>
              <a:rPr lang="en-US" sz="3000" dirty="0"/>
              <a:t>Determining the severity of the lesion and its hemodynamic significance</a:t>
            </a:r>
          </a:p>
          <a:p>
            <a:pPr algn="just">
              <a:lnSpc>
                <a:spcPct val="160000"/>
              </a:lnSpc>
              <a:buBlip>
                <a:blip r:embed="rId4"/>
              </a:buBlip>
            </a:pPr>
            <a:r>
              <a:rPr lang="en-US" sz="3000" dirty="0"/>
              <a:t>Residual ventricular function</a:t>
            </a:r>
          </a:p>
          <a:p>
            <a:pPr algn="just">
              <a:lnSpc>
                <a:spcPct val="160000"/>
              </a:lnSpc>
              <a:buBlip>
                <a:blip r:embed="rId4"/>
              </a:buBlip>
            </a:pPr>
            <a:r>
              <a:rPr lang="en-US" sz="3000" dirty="0"/>
              <a:t>The presence of secondary effects on organ function and </a:t>
            </a:r>
            <a:r>
              <a:rPr lang="en-US" sz="2800" dirty="0"/>
              <a:t>Concomitant CAD</a:t>
            </a:r>
            <a:endParaRPr lang="en-US" sz="3000" dirty="0"/>
          </a:p>
          <a:p>
            <a:pPr algn="just">
              <a:lnSpc>
                <a:spcPct val="150000"/>
              </a:lnSpc>
              <a:buBlip>
                <a:blip r:embed="rId4"/>
              </a:buBlip>
            </a:pPr>
            <a:endParaRPr lang="en-US" sz="150" dirty="0"/>
          </a:p>
          <a:p>
            <a:pPr algn="just">
              <a:lnSpc>
                <a:spcPct val="150000"/>
              </a:lnSpc>
              <a:buNone/>
            </a:pPr>
            <a:endParaRPr lang="en-US" dirty="0"/>
          </a:p>
        </p:txBody>
      </p:sp>
      <p:sp>
        <p:nvSpPr>
          <p:cNvPr id="4" name="Date Placeholder 3"/>
          <p:cNvSpPr>
            <a:spLocks noGrp="1"/>
          </p:cNvSpPr>
          <p:nvPr>
            <p:ph type="dt" sz="half" idx="10"/>
          </p:nvPr>
        </p:nvSpPr>
        <p:spPr/>
        <p:txBody>
          <a:bodyPr/>
          <a:lstStyle/>
          <a:p>
            <a:fld id="{CC494B9B-A205-4B8A-A15A-B2B9686AFCBD}" type="datetime1">
              <a:rPr lang="en-US" smtClean="0"/>
              <a:t>8/9/2021</a:t>
            </a:fld>
            <a:endParaRPr lang="en-US"/>
          </a:p>
        </p:txBody>
      </p:sp>
      <p:sp>
        <p:nvSpPr>
          <p:cNvPr id="5" name="Footer Placeholder 4"/>
          <p:cNvSpPr>
            <a:spLocks noGrp="1"/>
          </p:cNvSpPr>
          <p:nvPr>
            <p:ph type="ftr" sz="quarter" idx="11"/>
          </p:nvPr>
        </p:nvSpPr>
        <p:spPr/>
        <p:txBody>
          <a:bodyPr/>
          <a:lstStyle/>
          <a:p>
            <a:r>
              <a:rPr lang="en-US"/>
              <a:t>Anesthesia for VHD </a:t>
            </a:r>
          </a:p>
        </p:txBody>
      </p:sp>
      <p:sp>
        <p:nvSpPr>
          <p:cNvPr id="6" name="Slide Number Placeholder 5"/>
          <p:cNvSpPr>
            <a:spLocks noGrp="1"/>
          </p:cNvSpPr>
          <p:nvPr>
            <p:ph type="sldNum" sz="quarter" idx="12"/>
          </p:nvPr>
        </p:nvSpPr>
        <p:spPr/>
        <p:txBody>
          <a:bodyPr/>
          <a:lstStyle/>
          <a:p>
            <a:fld id="{124970EB-A8C4-40D2-AF81-C6C16288290E}"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Title 1"/>
          <p:cNvSpPr>
            <a:spLocks noGrp="1"/>
          </p:cNvSpPr>
          <p:nvPr>
            <p:ph type="title"/>
          </p:nvPr>
        </p:nvSpPr>
        <p:spPr>
          <a:xfrm>
            <a:off x="457200" y="274638"/>
            <a:ext cx="8229600" cy="868362"/>
          </a:xfrm>
        </p:spPr>
        <p:txBody>
          <a:bodyPr/>
          <a:lstStyle/>
          <a:p>
            <a:r>
              <a:rPr lang="en-GB" b="1" dirty="0"/>
              <a:t>Cont... </a:t>
            </a:r>
          </a:p>
        </p:txBody>
      </p:sp>
      <p:sp>
        <p:nvSpPr>
          <p:cNvPr id="1048611" name="Content Placeholder 2"/>
          <p:cNvSpPr>
            <a:spLocks noGrp="1"/>
          </p:cNvSpPr>
          <p:nvPr>
            <p:ph idx="1"/>
          </p:nvPr>
        </p:nvSpPr>
        <p:spPr>
          <a:xfrm>
            <a:off x="457200" y="1219200"/>
            <a:ext cx="8229600" cy="5181600"/>
          </a:xfrm>
        </p:spPr>
        <p:txBody>
          <a:bodyPr>
            <a:normAutofit fontScale="95000"/>
          </a:bodyPr>
          <a:lstStyle/>
          <a:p>
            <a:pPr>
              <a:lnSpc>
                <a:spcPct val="150000"/>
              </a:lnSpc>
              <a:buBlip>
                <a:blip r:embed="rId3"/>
              </a:buBlip>
            </a:pPr>
            <a:r>
              <a:rPr lang="en-US" dirty="0"/>
              <a:t>Cardiac complications after non-cardiac surgery depend on </a:t>
            </a:r>
          </a:p>
          <a:p>
            <a:pPr lvl="3">
              <a:lnSpc>
                <a:spcPct val="150000"/>
              </a:lnSpc>
              <a:buBlip>
                <a:blip r:embed="rId4"/>
              </a:buBlip>
            </a:pPr>
            <a:r>
              <a:rPr lang="en-US" sz="3200" dirty="0"/>
              <a:t>patient-related risk factors</a:t>
            </a:r>
          </a:p>
          <a:p>
            <a:pPr lvl="3">
              <a:lnSpc>
                <a:spcPct val="150000"/>
              </a:lnSpc>
              <a:buBlip>
                <a:blip r:embed="rId4"/>
              </a:buBlip>
            </a:pPr>
            <a:r>
              <a:rPr lang="en-US" sz="3200" dirty="0"/>
              <a:t>type of surgery </a:t>
            </a:r>
          </a:p>
          <a:p>
            <a:pPr lvl="3">
              <a:lnSpc>
                <a:spcPct val="150000"/>
              </a:lnSpc>
              <a:buBlip>
                <a:blip r:embed="rId4"/>
              </a:buBlip>
            </a:pPr>
            <a:r>
              <a:rPr lang="en-US" sz="3200" dirty="0"/>
              <a:t> the circumstances under which it takes place</a:t>
            </a:r>
          </a:p>
          <a:p>
            <a:pPr>
              <a:lnSpc>
                <a:spcPct val="150000"/>
              </a:lnSpc>
              <a:buBlip>
                <a:blip r:embed="rId3"/>
              </a:buBlip>
            </a:pPr>
            <a:endParaRPr lang="en-GB" dirty="0"/>
          </a:p>
          <a:p>
            <a:pPr>
              <a:lnSpc>
                <a:spcPct val="150000"/>
              </a:lnSpc>
              <a:buBlip>
                <a:blip r:embed="rId3"/>
              </a:buBlip>
            </a:pPr>
            <a:endParaRPr lang="en-GB" dirty="0"/>
          </a:p>
          <a:p>
            <a:pPr>
              <a:lnSpc>
                <a:spcPct val="150000"/>
              </a:lnSpc>
              <a:buBlip>
                <a:blip r:embed="rId3"/>
              </a:buBlip>
            </a:pPr>
            <a:endParaRPr lang="en-GB" dirty="0"/>
          </a:p>
        </p:txBody>
      </p:sp>
      <p:sp>
        <p:nvSpPr>
          <p:cNvPr id="1048612" name="Date Placeholder 3"/>
          <p:cNvSpPr>
            <a:spLocks noGrp="1"/>
          </p:cNvSpPr>
          <p:nvPr>
            <p:ph type="dt" sz="half" idx="10"/>
          </p:nvPr>
        </p:nvSpPr>
        <p:spPr/>
        <p:txBody>
          <a:bodyPr/>
          <a:lstStyle/>
          <a:p>
            <a:fld id="{A0C39E65-6E0A-48CB-88BB-0638EA34EDB6}" type="datetime1">
              <a:rPr lang="en-US" smtClean="0"/>
              <a:t>8/9/2021</a:t>
            </a:fld>
            <a:endParaRPr lang="en-US"/>
          </a:p>
        </p:txBody>
      </p:sp>
      <p:sp>
        <p:nvSpPr>
          <p:cNvPr id="1048613" name="Slide Number Placeholder 4"/>
          <p:cNvSpPr>
            <a:spLocks noGrp="1"/>
          </p:cNvSpPr>
          <p:nvPr>
            <p:ph type="sldNum" sz="quarter" idx="12"/>
          </p:nvPr>
        </p:nvSpPr>
        <p:spPr/>
        <p:txBody>
          <a:bodyPr/>
          <a:lstStyle/>
          <a:p>
            <a:fld id="{124970EB-A8C4-40D2-AF81-C6C16288290E}" type="slidenum">
              <a:rPr lang="en-US" smtClean="0"/>
              <a:pPr/>
              <a:t>12</a:t>
            </a:fld>
            <a:endParaRPr lang="en-US"/>
          </a:p>
        </p:txBody>
      </p:sp>
      <p:sp>
        <p:nvSpPr>
          <p:cNvPr id="1048614"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0" name="Title 1"/>
          <p:cNvSpPr>
            <a:spLocks noGrp="1"/>
          </p:cNvSpPr>
          <p:nvPr>
            <p:ph type="title"/>
          </p:nvPr>
        </p:nvSpPr>
        <p:spPr/>
        <p:txBody>
          <a:bodyPr/>
          <a:lstStyle/>
          <a:p>
            <a:r>
              <a:rPr lang="en-US" dirty="0"/>
              <a:t>Cont…</a:t>
            </a:r>
          </a:p>
        </p:txBody>
      </p:sp>
      <p:sp>
        <p:nvSpPr>
          <p:cNvPr id="1048601" name="Content Placeholder 2"/>
          <p:cNvSpPr>
            <a:spLocks noGrp="1"/>
          </p:cNvSpPr>
          <p:nvPr>
            <p:ph idx="1"/>
          </p:nvPr>
        </p:nvSpPr>
        <p:spPr>
          <a:xfrm>
            <a:off x="304800" y="1295400"/>
            <a:ext cx="8686800" cy="5029200"/>
          </a:xfrm>
        </p:spPr>
        <p:txBody>
          <a:bodyPr>
            <a:noAutofit/>
          </a:bodyPr>
          <a:lstStyle/>
          <a:p>
            <a:pPr>
              <a:lnSpc>
                <a:spcPct val="150000"/>
              </a:lnSpc>
              <a:buBlip>
                <a:blip r:embed="rId3"/>
              </a:buBlip>
            </a:pPr>
            <a:r>
              <a:rPr lang="en-US" sz="2800" dirty="0"/>
              <a:t>some patients with VHD and all patients with a mechanical valve prosthesis require long-term anticoagulation.</a:t>
            </a:r>
          </a:p>
          <a:p>
            <a:pPr>
              <a:lnSpc>
                <a:spcPct val="150000"/>
              </a:lnSpc>
              <a:buBlip>
                <a:blip r:embed="rId3"/>
              </a:buBlip>
            </a:pPr>
            <a:r>
              <a:rPr lang="en-US" sz="2800" dirty="0"/>
              <a:t>Assess for functional reserve of </a:t>
            </a:r>
            <a:r>
              <a:rPr lang="en-US" sz="2800" dirty="0" err="1"/>
              <a:t>cardiorespiratory</a:t>
            </a:r>
            <a:r>
              <a:rPr lang="en-US" sz="2800" dirty="0"/>
              <a:t> </a:t>
            </a:r>
          </a:p>
          <a:p>
            <a:pPr>
              <a:lnSpc>
                <a:spcPct val="150000"/>
              </a:lnSpc>
              <a:buBlip>
                <a:blip r:embed="rId3"/>
              </a:buBlip>
            </a:pPr>
            <a:r>
              <a:rPr lang="en-US" sz="2800" dirty="0"/>
              <a:t>Review  Medication </a:t>
            </a:r>
            <a:r>
              <a:rPr lang="en-US" sz="2800" dirty="0">
                <a:solidFill>
                  <a:srgbClr val="FF0000"/>
                </a:solidFill>
              </a:rPr>
              <a:t>(continuation </a:t>
            </a:r>
            <a:r>
              <a:rPr lang="en-US" sz="2800" dirty="0" err="1">
                <a:solidFill>
                  <a:srgbClr val="FF0000"/>
                </a:solidFill>
              </a:rPr>
              <a:t>vs</a:t>
            </a:r>
            <a:r>
              <a:rPr lang="en-US" sz="2800" dirty="0">
                <a:solidFill>
                  <a:srgbClr val="FF0000"/>
                </a:solidFill>
              </a:rPr>
              <a:t> discontinuation )</a:t>
            </a:r>
          </a:p>
        </p:txBody>
      </p:sp>
      <p:sp>
        <p:nvSpPr>
          <p:cNvPr id="1048602" name="Date Placeholder 3"/>
          <p:cNvSpPr>
            <a:spLocks noGrp="1"/>
          </p:cNvSpPr>
          <p:nvPr>
            <p:ph type="dt" sz="half" idx="10"/>
          </p:nvPr>
        </p:nvSpPr>
        <p:spPr/>
        <p:txBody>
          <a:bodyPr/>
          <a:lstStyle/>
          <a:p>
            <a:fld id="{0D38BCF5-BE55-4A91-A757-EC9C5ECBC236}" type="datetime1">
              <a:rPr lang="en-US" smtClean="0"/>
              <a:t>8/9/2021</a:t>
            </a:fld>
            <a:endParaRPr lang="en-US"/>
          </a:p>
        </p:txBody>
      </p:sp>
      <p:sp>
        <p:nvSpPr>
          <p:cNvPr id="1048603" name="Slide Number Placeholder 4"/>
          <p:cNvSpPr>
            <a:spLocks noGrp="1"/>
          </p:cNvSpPr>
          <p:nvPr>
            <p:ph type="sldNum" sz="quarter" idx="12"/>
          </p:nvPr>
        </p:nvSpPr>
        <p:spPr/>
        <p:txBody>
          <a:bodyPr/>
          <a:lstStyle/>
          <a:p>
            <a:fld id="{124970EB-A8C4-40D2-AF81-C6C16288290E}" type="slidenum">
              <a:rPr lang="en-US" smtClean="0"/>
              <a:pPr/>
              <a:t>13</a:t>
            </a:fld>
            <a:endParaRPr lang="en-US"/>
          </a:p>
        </p:txBody>
      </p:sp>
      <p:sp>
        <p:nvSpPr>
          <p:cNvPr id="1048604"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2" name="Picture 2"/>
          <p:cNvPicPr>
            <a:picLocks noGrp="1" noChangeAspect="1" noChangeArrowheads="1"/>
          </p:cNvPicPr>
          <p:nvPr>
            <p:ph idx="1"/>
          </p:nvPr>
        </p:nvPicPr>
        <p:blipFill>
          <a:blip r:embed="rId2"/>
          <a:srcRect/>
          <a:stretch>
            <a:fillRect/>
          </a:stretch>
        </p:blipFill>
        <p:spPr bwMode="auto">
          <a:xfrm>
            <a:off x="228600" y="228600"/>
            <a:ext cx="8915400" cy="1885697"/>
          </a:xfrm>
          <a:prstGeom prst="rect">
            <a:avLst/>
          </a:prstGeom>
          <a:noFill/>
          <a:ln w="9525">
            <a:noFill/>
            <a:miter lim="800000"/>
            <a:headEnd/>
            <a:tailEnd/>
          </a:ln>
          <a:effectLst/>
        </p:spPr>
      </p:pic>
      <p:pic>
        <p:nvPicPr>
          <p:cNvPr id="2097153" name="Picture 3"/>
          <p:cNvPicPr>
            <a:picLocks noChangeAspect="1" noChangeArrowheads="1"/>
          </p:cNvPicPr>
          <p:nvPr/>
        </p:nvPicPr>
        <p:blipFill>
          <a:blip r:embed="rId3"/>
          <a:srcRect/>
          <a:stretch>
            <a:fillRect/>
          </a:stretch>
        </p:blipFill>
        <p:spPr bwMode="auto">
          <a:xfrm>
            <a:off x="381000" y="2057400"/>
            <a:ext cx="8763000" cy="4419599"/>
          </a:xfrm>
          <a:prstGeom prst="rect">
            <a:avLst/>
          </a:prstGeom>
          <a:noFill/>
          <a:ln w="9525">
            <a:noFill/>
            <a:miter lim="800000"/>
            <a:headEnd/>
            <a:tailEnd/>
          </a:ln>
          <a:effectLst/>
        </p:spPr>
      </p:pic>
      <p:sp>
        <p:nvSpPr>
          <p:cNvPr id="1048586" name="Date Placeholder 5"/>
          <p:cNvSpPr>
            <a:spLocks noGrp="1"/>
          </p:cNvSpPr>
          <p:nvPr>
            <p:ph type="dt" sz="half" idx="10"/>
          </p:nvPr>
        </p:nvSpPr>
        <p:spPr/>
        <p:txBody>
          <a:bodyPr/>
          <a:lstStyle/>
          <a:p>
            <a:fld id="{DCDD0F9A-B44E-47F6-B3B0-4B4DE445F13A}" type="datetime1">
              <a:rPr lang="en-US" smtClean="0"/>
              <a:t>8/9/2021</a:t>
            </a:fld>
            <a:endParaRPr lang="en-US"/>
          </a:p>
        </p:txBody>
      </p:sp>
      <p:sp>
        <p:nvSpPr>
          <p:cNvPr id="1048587" name="Slide Number Placeholder 6"/>
          <p:cNvSpPr>
            <a:spLocks noGrp="1"/>
          </p:cNvSpPr>
          <p:nvPr>
            <p:ph type="sldNum" sz="quarter" idx="12"/>
          </p:nvPr>
        </p:nvSpPr>
        <p:spPr/>
        <p:txBody>
          <a:bodyPr/>
          <a:lstStyle/>
          <a:p>
            <a:fld id="{124970EB-A8C4-40D2-AF81-C6C16288290E}" type="slidenum">
              <a:rPr lang="en-US" smtClean="0"/>
              <a:pPr/>
              <a:t>14</a:t>
            </a:fld>
            <a:endParaRPr lang="en-US"/>
          </a:p>
        </p:txBody>
      </p:sp>
      <p:sp>
        <p:nvSpPr>
          <p:cNvPr id="1048588" name="Footer Placeholder 7"/>
          <p:cNvSpPr>
            <a:spLocks noGrp="1"/>
          </p:cNvSpPr>
          <p:nvPr>
            <p:ph type="ftr" sz="quarter" idx="11"/>
          </p:nvPr>
        </p:nvSpPr>
        <p:spPr/>
        <p:txBody>
          <a:bodyPr/>
          <a:lstStyle/>
          <a:p>
            <a:r>
              <a:rPr lang="en-US"/>
              <a:t>Anesthesia for VHD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A476B61-C145-4FAD-96CC-F73A5E6F24D7}" type="datetime1">
              <a:rPr lang="en-US" smtClean="0"/>
              <a:t>8/9/2021</a:t>
            </a:fld>
            <a:endParaRPr lang="en-US"/>
          </a:p>
        </p:txBody>
      </p:sp>
      <p:sp>
        <p:nvSpPr>
          <p:cNvPr id="5" name="Footer Placeholder 4"/>
          <p:cNvSpPr>
            <a:spLocks noGrp="1"/>
          </p:cNvSpPr>
          <p:nvPr>
            <p:ph type="ftr" sz="quarter" idx="11"/>
          </p:nvPr>
        </p:nvSpPr>
        <p:spPr/>
        <p:txBody>
          <a:bodyPr/>
          <a:lstStyle/>
          <a:p>
            <a:r>
              <a:rPr lang="en-US"/>
              <a:t>Anesthesia for VHD </a:t>
            </a:r>
          </a:p>
        </p:txBody>
      </p:sp>
      <p:sp>
        <p:nvSpPr>
          <p:cNvPr id="6" name="Slide Number Placeholder 5"/>
          <p:cNvSpPr>
            <a:spLocks noGrp="1"/>
          </p:cNvSpPr>
          <p:nvPr>
            <p:ph type="sldNum" sz="quarter" idx="12"/>
          </p:nvPr>
        </p:nvSpPr>
        <p:spPr/>
        <p:txBody>
          <a:bodyPr/>
          <a:lstStyle/>
          <a:p>
            <a:fld id="{124970EB-A8C4-40D2-AF81-C6C16288290E}" type="slidenum">
              <a:rPr lang="en-US" smtClean="0"/>
              <a:pPr/>
              <a:t>15</a:t>
            </a:fld>
            <a:endParaRPr lang="en-US"/>
          </a:p>
        </p:txBody>
      </p:sp>
      <p:pic>
        <p:nvPicPr>
          <p:cNvPr id="1026" name="Picture 2"/>
          <p:cNvPicPr>
            <a:picLocks noChangeAspect="1" noChangeArrowheads="1"/>
          </p:cNvPicPr>
          <p:nvPr/>
        </p:nvPicPr>
        <p:blipFill>
          <a:blip r:embed="rId2"/>
          <a:srcRect/>
          <a:stretch>
            <a:fillRect/>
          </a:stretch>
        </p:blipFill>
        <p:spPr bwMode="auto">
          <a:xfrm>
            <a:off x="228600" y="228601"/>
            <a:ext cx="8610600" cy="3581400"/>
          </a:xfrm>
          <a:prstGeom prst="rect">
            <a:avLst/>
          </a:prstGeom>
          <a:noFill/>
          <a:ln w="9525">
            <a:noFill/>
            <a:miter lim="800000"/>
            <a:headEnd/>
            <a:tailEnd/>
          </a:ln>
          <a:effectLst/>
        </p:spPr>
      </p:pic>
      <p:pic>
        <p:nvPicPr>
          <p:cNvPr id="1028" name="Picture 4"/>
          <p:cNvPicPr>
            <a:picLocks noChangeAspect="1" noChangeArrowheads="1"/>
          </p:cNvPicPr>
          <p:nvPr/>
        </p:nvPicPr>
        <p:blipFill>
          <a:blip r:embed="rId3"/>
          <a:srcRect/>
          <a:stretch>
            <a:fillRect/>
          </a:stretch>
        </p:blipFill>
        <p:spPr bwMode="auto">
          <a:xfrm>
            <a:off x="0" y="3886200"/>
            <a:ext cx="8763000" cy="1828800"/>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sp>
        <p:nvSpPr>
          <p:cNvPr id="4" name="Date Placeholder 3"/>
          <p:cNvSpPr>
            <a:spLocks noGrp="1"/>
          </p:cNvSpPr>
          <p:nvPr>
            <p:ph type="dt" sz="half" idx="10"/>
          </p:nvPr>
        </p:nvSpPr>
        <p:spPr/>
        <p:txBody>
          <a:bodyPr/>
          <a:lstStyle/>
          <a:p>
            <a:fld id="{F1788E1F-48A5-48B7-B8D9-277FFB4208E2}" type="datetime1">
              <a:rPr lang="en-US" smtClean="0"/>
              <a:t>8/9/2021</a:t>
            </a:fld>
            <a:endParaRPr lang="en-US"/>
          </a:p>
        </p:txBody>
      </p:sp>
      <p:sp>
        <p:nvSpPr>
          <p:cNvPr id="5" name="Footer Placeholder 4"/>
          <p:cNvSpPr>
            <a:spLocks noGrp="1"/>
          </p:cNvSpPr>
          <p:nvPr>
            <p:ph type="ftr" sz="quarter" idx="11"/>
          </p:nvPr>
        </p:nvSpPr>
        <p:spPr/>
        <p:txBody>
          <a:bodyPr/>
          <a:lstStyle/>
          <a:p>
            <a:r>
              <a:rPr lang="en-US"/>
              <a:t>Anesthesia for VHD </a:t>
            </a:r>
          </a:p>
        </p:txBody>
      </p:sp>
      <p:sp>
        <p:nvSpPr>
          <p:cNvPr id="6" name="Slide Number Placeholder 5"/>
          <p:cNvSpPr>
            <a:spLocks noGrp="1"/>
          </p:cNvSpPr>
          <p:nvPr>
            <p:ph type="sldNum" sz="quarter" idx="12"/>
          </p:nvPr>
        </p:nvSpPr>
        <p:spPr/>
        <p:txBody>
          <a:bodyPr/>
          <a:lstStyle/>
          <a:p>
            <a:fld id="{124970EB-A8C4-40D2-AF81-C6C16288290E}" type="slidenum">
              <a:rPr lang="en-US" smtClean="0"/>
              <a:pPr/>
              <a:t>16</a:t>
            </a:fld>
            <a:endParaRPr lang="en-US"/>
          </a:p>
        </p:txBody>
      </p:sp>
      <p:pic>
        <p:nvPicPr>
          <p:cNvPr id="2050" name="Picture 2"/>
          <p:cNvPicPr>
            <a:picLocks noGrp="1" noChangeAspect="1" noChangeArrowheads="1"/>
          </p:cNvPicPr>
          <p:nvPr>
            <p:ph idx="1"/>
          </p:nvPr>
        </p:nvPicPr>
        <p:blipFill>
          <a:blip r:embed="rId2"/>
          <a:srcRect/>
          <a:stretch>
            <a:fillRect/>
          </a:stretch>
        </p:blipFill>
        <p:spPr bwMode="auto">
          <a:xfrm>
            <a:off x="533400" y="1600200"/>
            <a:ext cx="8262604" cy="2321034"/>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4" name="Title 1"/>
          <p:cNvSpPr>
            <a:spLocks noGrp="1"/>
          </p:cNvSpPr>
          <p:nvPr>
            <p:ph type="title"/>
          </p:nvPr>
        </p:nvSpPr>
        <p:spPr/>
        <p:txBody>
          <a:bodyPr/>
          <a:lstStyle/>
          <a:p>
            <a:endParaRPr lang="en-US" dirty="0"/>
          </a:p>
        </p:txBody>
      </p:sp>
      <p:sp>
        <p:nvSpPr>
          <p:cNvPr id="1048595" name="Date Placeholder 3"/>
          <p:cNvSpPr>
            <a:spLocks noGrp="1"/>
          </p:cNvSpPr>
          <p:nvPr>
            <p:ph type="dt" sz="half" idx="10"/>
          </p:nvPr>
        </p:nvSpPr>
        <p:spPr/>
        <p:txBody>
          <a:bodyPr/>
          <a:lstStyle/>
          <a:p>
            <a:fld id="{849C08C7-F769-48BC-8F02-67C3815D41B4}" type="datetime1">
              <a:rPr lang="en-US" smtClean="0"/>
              <a:t>8/9/2021</a:t>
            </a:fld>
            <a:endParaRPr lang="en-US"/>
          </a:p>
        </p:txBody>
      </p:sp>
      <p:sp>
        <p:nvSpPr>
          <p:cNvPr id="1048596" name="Footer Placeholder 4"/>
          <p:cNvSpPr>
            <a:spLocks noGrp="1"/>
          </p:cNvSpPr>
          <p:nvPr>
            <p:ph type="ftr" sz="quarter" idx="11"/>
          </p:nvPr>
        </p:nvSpPr>
        <p:spPr/>
        <p:txBody>
          <a:bodyPr/>
          <a:lstStyle/>
          <a:p>
            <a:r>
              <a:rPr lang="en-US"/>
              <a:t>Anesthesia for VHD </a:t>
            </a:r>
          </a:p>
        </p:txBody>
      </p:sp>
      <p:sp>
        <p:nvSpPr>
          <p:cNvPr id="1048597" name="Slide Number Placeholder 5"/>
          <p:cNvSpPr>
            <a:spLocks noGrp="1"/>
          </p:cNvSpPr>
          <p:nvPr>
            <p:ph type="sldNum" sz="quarter" idx="12"/>
          </p:nvPr>
        </p:nvSpPr>
        <p:spPr/>
        <p:txBody>
          <a:bodyPr/>
          <a:lstStyle/>
          <a:p>
            <a:fld id="{124970EB-A8C4-40D2-AF81-C6C16288290E}" type="slidenum">
              <a:rPr lang="en-US" smtClean="0"/>
              <a:pPr/>
              <a:t>17</a:t>
            </a:fld>
            <a:endParaRPr lang="en-US"/>
          </a:p>
        </p:txBody>
      </p:sp>
      <p:pic>
        <p:nvPicPr>
          <p:cNvPr id="2097154" name="Picture 3"/>
          <p:cNvPicPr>
            <a:picLocks noGrp="1" noChangeAspect="1" noChangeArrowheads="1"/>
          </p:cNvPicPr>
          <p:nvPr>
            <p:ph idx="1"/>
          </p:nvPr>
        </p:nvPicPr>
        <p:blipFill>
          <a:blip r:embed="rId2"/>
          <a:srcRect/>
          <a:stretch>
            <a:fillRect/>
          </a:stretch>
        </p:blipFill>
        <p:spPr bwMode="auto">
          <a:xfrm>
            <a:off x="634796" y="1371600"/>
            <a:ext cx="8280603" cy="4724400"/>
          </a:xfrm>
          <a:prstGeom prst="rect">
            <a:avLst/>
          </a:prstGeom>
          <a:noFill/>
          <a:ln w="9525">
            <a:noFill/>
            <a:miter lim="800000"/>
            <a:headEnd/>
            <a:tailEnd/>
          </a:ln>
          <a:effectLst/>
        </p:spPr>
      </p:pic>
      <p:pic>
        <p:nvPicPr>
          <p:cNvPr id="2097155" name="Picture 4"/>
          <p:cNvPicPr>
            <a:picLocks noChangeAspect="1" noChangeArrowheads="1"/>
          </p:cNvPicPr>
          <p:nvPr/>
        </p:nvPicPr>
        <p:blipFill>
          <a:blip r:embed="rId3"/>
          <a:srcRect/>
          <a:stretch>
            <a:fillRect/>
          </a:stretch>
        </p:blipFill>
        <p:spPr bwMode="auto">
          <a:xfrm>
            <a:off x="228600" y="0"/>
            <a:ext cx="8915400" cy="1371600"/>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9" name="Title 1"/>
          <p:cNvSpPr>
            <a:spLocks noGrp="1"/>
          </p:cNvSpPr>
          <p:nvPr>
            <p:ph type="title"/>
          </p:nvPr>
        </p:nvSpPr>
        <p:spPr>
          <a:xfrm>
            <a:off x="457200" y="152400"/>
            <a:ext cx="8229600" cy="685800"/>
          </a:xfrm>
        </p:spPr>
        <p:txBody>
          <a:bodyPr>
            <a:normAutofit fontScale="90000"/>
          </a:bodyPr>
          <a:lstStyle/>
          <a:p>
            <a:r>
              <a:rPr lang="en-GB" b="1" dirty="0"/>
              <a:t>Cont…</a:t>
            </a:r>
          </a:p>
        </p:txBody>
      </p:sp>
      <p:sp>
        <p:nvSpPr>
          <p:cNvPr id="1048590" name="Content Placeholder 2"/>
          <p:cNvSpPr>
            <a:spLocks noGrp="1"/>
          </p:cNvSpPr>
          <p:nvPr>
            <p:ph idx="1"/>
          </p:nvPr>
        </p:nvSpPr>
        <p:spPr>
          <a:xfrm>
            <a:off x="0" y="914400"/>
            <a:ext cx="8686800" cy="5486400"/>
          </a:xfrm>
        </p:spPr>
        <p:txBody>
          <a:bodyPr>
            <a:normAutofit fontScale="96429" lnSpcReduction="10000"/>
          </a:bodyPr>
          <a:lstStyle/>
          <a:p>
            <a:pPr eaLnBrk="1" hangingPunct="1">
              <a:lnSpc>
                <a:spcPct val="150000"/>
              </a:lnSpc>
              <a:buNone/>
            </a:pPr>
            <a:r>
              <a:rPr lang="en-US" dirty="0">
                <a:effectLst>
                  <a:outerShdw blurRad="38100" dist="38100" dir="2700000" algn="tl">
                    <a:srgbClr val="000000"/>
                  </a:outerShdw>
                </a:effectLst>
              </a:rPr>
              <a:t>Common findings of patients with VHD:</a:t>
            </a:r>
          </a:p>
          <a:p>
            <a:pPr lvl="1" eaLnBrk="1" hangingPunct="1">
              <a:lnSpc>
                <a:spcPct val="150000"/>
              </a:lnSpc>
              <a:buBlip>
                <a:blip r:embed="rId3"/>
              </a:buBlip>
            </a:pPr>
            <a:r>
              <a:rPr lang="en-US" dirty="0"/>
              <a:t>A history of rheumatic fever</a:t>
            </a:r>
          </a:p>
          <a:p>
            <a:pPr lvl="1" eaLnBrk="1" hangingPunct="1">
              <a:lnSpc>
                <a:spcPct val="150000"/>
              </a:lnSpc>
              <a:buBlip>
                <a:blip r:embed="rId3"/>
              </a:buBlip>
            </a:pPr>
            <a:r>
              <a:rPr lang="en-US" dirty="0"/>
              <a:t> IV drug abuse,</a:t>
            </a:r>
          </a:p>
          <a:p>
            <a:pPr lvl="1">
              <a:lnSpc>
                <a:spcPct val="150000"/>
              </a:lnSpc>
              <a:buBlip>
                <a:blip r:embed="rId3"/>
              </a:buBlip>
            </a:pPr>
            <a:r>
              <a:rPr lang="en-US" sz="2900" dirty="0"/>
              <a:t>exercise intolerance, </a:t>
            </a:r>
          </a:p>
          <a:p>
            <a:pPr lvl="1">
              <a:lnSpc>
                <a:spcPct val="150000"/>
              </a:lnSpc>
              <a:buBlip>
                <a:blip r:embed="rId3"/>
              </a:buBlip>
            </a:pPr>
            <a:r>
              <a:rPr lang="en-US" sz="2900" dirty="0"/>
              <a:t>fatigability,</a:t>
            </a:r>
          </a:p>
          <a:p>
            <a:pPr lvl="1" eaLnBrk="1" hangingPunct="1">
              <a:lnSpc>
                <a:spcPct val="150000"/>
              </a:lnSpc>
              <a:buBlip>
                <a:blip r:embed="rId3"/>
              </a:buBlip>
            </a:pPr>
            <a:r>
              <a:rPr lang="en-US" dirty="0"/>
              <a:t>May exhibit S/S of CHF</a:t>
            </a:r>
            <a:endParaRPr lang="en-US" i="1" dirty="0">
              <a:solidFill>
                <a:schemeClr val="accent2"/>
              </a:solidFill>
            </a:endParaRPr>
          </a:p>
          <a:p>
            <a:pPr lvl="1" eaLnBrk="1" hangingPunct="1">
              <a:lnSpc>
                <a:spcPct val="150000"/>
              </a:lnSpc>
              <a:buBlip>
                <a:blip r:embed="rId3"/>
              </a:buBlip>
            </a:pPr>
            <a:r>
              <a:rPr lang="en-US" dirty="0"/>
              <a:t>Compensatory increases in SNS tone manifest as resting tachycardia, anxiety, and diaphoresis</a:t>
            </a:r>
          </a:p>
          <a:p>
            <a:endParaRPr lang="en-GB" dirty="0"/>
          </a:p>
        </p:txBody>
      </p:sp>
      <p:sp>
        <p:nvSpPr>
          <p:cNvPr id="1048591" name="Date Placeholder 3"/>
          <p:cNvSpPr>
            <a:spLocks noGrp="1"/>
          </p:cNvSpPr>
          <p:nvPr>
            <p:ph type="dt" sz="half" idx="10"/>
          </p:nvPr>
        </p:nvSpPr>
        <p:spPr/>
        <p:txBody>
          <a:bodyPr/>
          <a:lstStyle/>
          <a:p>
            <a:fld id="{72728363-67E0-42EF-9D13-9CE49A88C1F3}" type="datetime1">
              <a:rPr lang="en-US" smtClean="0"/>
              <a:t>8/9/2021</a:t>
            </a:fld>
            <a:endParaRPr lang="en-US"/>
          </a:p>
        </p:txBody>
      </p:sp>
      <p:sp>
        <p:nvSpPr>
          <p:cNvPr id="1048592" name="Slide Number Placeholder 4"/>
          <p:cNvSpPr>
            <a:spLocks noGrp="1"/>
          </p:cNvSpPr>
          <p:nvPr>
            <p:ph type="sldNum" sz="quarter" idx="12"/>
          </p:nvPr>
        </p:nvSpPr>
        <p:spPr/>
        <p:txBody>
          <a:bodyPr/>
          <a:lstStyle/>
          <a:p>
            <a:fld id="{124970EB-A8C4-40D2-AF81-C6C16288290E}" type="slidenum">
              <a:rPr lang="en-US" smtClean="0"/>
              <a:pPr/>
              <a:t>18</a:t>
            </a:fld>
            <a:endParaRPr lang="en-US"/>
          </a:p>
        </p:txBody>
      </p:sp>
      <p:sp>
        <p:nvSpPr>
          <p:cNvPr id="1048593"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1" name="Title 1"/>
          <p:cNvSpPr>
            <a:spLocks noGrp="1"/>
          </p:cNvSpPr>
          <p:nvPr>
            <p:ph type="title"/>
          </p:nvPr>
        </p:nvSpPr>
        <p:spPr/>
        <p:txBody>
          <a:bodyPr/>
          <a:lstStyle/>
          <a:p>
            <a:r>
              <a:rPr lang="en-US" dirty="0"/>
              <a:t>Cont… </a:t>
            </a:r>
          </a:p>
        </p:txBody>
      </p:sp>
      <p:sp>
        <p:nvSpPr>
          <p:cNvPr id="1048682" name="Content Placeholder 2"/>
          <p:cNvSpPr>
            <a:spLocks noGrp="1"/>
          </p:cNvSpPr>
          <p:nvPr>
            <p:ph idx="1"/>
          </p:nvPr>
        </p:nvSpPr>
        <p:spPr>
          <a:xfrm>
            <a:off x="304800" y="1143000"/>
            <a:ext cx="8458200" cy="5334000"/>
          </a:xfrm>
        </p:spPr>
        <p:txBody>
          <a:bodyPr>
            <a:normAutofit fontScale="97500"/>
          </a:bodyPr>
          <a:lstStyle/>
          <a:p>
            <a:pPr>
              <a:lnSpc>
                <a:spcPct val="200000"/>
              </a:lnSpc>
              <a:buBlip>
                <a:blip r:embed="rId3"/>
              </a:buBlip>
            </a:pPr>
            <a:r>
              <a:rPr lang="en-US" dirty="0"/>
              <a:t>Left –sided heart failure  --S 3 gallop or pulmonary rales) and</a:t>
            </a:r>
          </a:p>
          <a:p>
            <a:pPr>
              <a:lnSpc>
                <a:spcPct val="200000"/>
              </a:lnSpc>
              <a:buBlip>
                <a:blip r:embed="rId3"/>
              </a:buBlip>
            </a:pPr>
            <a:r>
              <a:rPr lang="en-US" dirty="0"/>
              <a:t>sustained PMI</a:t>
            </a:r>
            <a:endParaRPr lang="pt-BR" dirty="0"/>
          </a:p>
          <a:p>
            <a:pPr>
              <a:lnSpc>
                <a:spcPct val="200000"/>
              </a:lnSpc>
              <a:buBlip>
                <a:blip r:embed="rId3"/>
              </a:buBlip>
            </a:pPr>
            <a:r>
              <a:rPr lang="pt-BR" dirty="0"/>
              <a:t>Heart murmurs </a:t>
            </a:r>
          </a:p>
          <a:p>
            <a:pPr lvl="1">
              <a:lnSpc>
                <a:spcPct val="200000"/>
              </a:lnSpc>
              <a:buNone/>
            </a:pPr>
            <a:endParaRPr lang="en-US" dirty="0"/>
          </a:p>
        </p:txBody>
      </p:sp>
      <p:sp>
        <p:nvSpPr>
          <p:cNvPr id="4" name="Date Placeholder 3"/>
          <p:cNvSpPr>
            <a:spLocks noGrp="1"/>
          </p:cNvSpPr>
          <p:nvPr>
            <p:ph type="dt" sz="half" idx="10"/>
          </p:nvPr>
        </p:nvSpPr>
        <p:spPr/>
        <p:txBody>
          <a:bodyPr/>
          <a:lstStyle/>
          <a:p>
            <a:fld id="{848C49B7-BD46-4CDF-8C7C-1B1009734C22}" type="datetime1">
              <a:rPr lang="en-US" smtClean="0"/>
              <a:t>8/9/2021</a:t>
            </a:fld>
            <a:endParaRPr lang="en-US"/>
          </a:p>
        </p:txBody>
      </p:sp>
      <p:sp>
        <p:nvSpPr>
          <p:cNvPr id="5" name="Slide Number Placeholder 4"/>
          <p:cNvSpPr>
            <a:spLocks noGrp="1"/>
          </p:cNvSpPr>
          <p:nvPr>
            <p:ph type="sldNum" sz="quarter" idx="12"/>
          </p:nvPr>
        </p:nvSpPr>
        <p:spPr/>
        <p:txBody>
          <a:bodyPr/>
          <a:lstStyle/>
          <a:p>
            <a:fld id="{81D9AF01-45F5-44F6-94C9-E46484F8FCE6}" type="slidenum">
              <a:rPr lang="en-US" smtClean="0"/>
              <a:pPr/>
              <a:t>19</a:t>
            </a:fld>
            <a:endParaRPr lang="en-US"/>
          </a:p>
        </p:txBody>
      </p:sp>
      <p:sp>
        <p:nvSpPr>
          <p:cNvPr id="6"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4" name="Title 1"/>
          <p:cNvSpPr>
            <a:spLocks noGrp="1"/>
          </p:cNvSpPr>
          <p:nvPr>
            <p:ph type="title"/>
          </p:nvPr>
        </p:nvSpPr>
        <p:spPr/>
        <p:txBody>
          <a:bodyPr/>
          <a:lstStyle/>
          <a:p>
            <a:r>
              <a:rPr lang="en-US" dirty="0"/>
              <a:t>Cont…</a:t>
            </a:r>
          </a:p>
        </p:txBody>
      </p:sp>
      <p:pic>
        <p:nvPicPr>
          <p:cNvPr id="2097162" name="Content Placeholder 3"/>
          <p:cNvPicPr>
            <a:picLocks noGrp="1" noChangeAspect="1"/>
          </p:cNvPicPr>
          <p:nvPr>
            <p:ph idx="1"/>
          </p:nvPr>
        </p:nvPicPr>
        <p:blipFill>
          <a:blip r:embed="rId2"/>
          <a:stretch>
            <a:fillRect/>
          </a:stretch>
        </p:blipFill>
        <p:spPr>
          <a:xfrm>
            <a:off x="255723" y="1345446"/>
            <a:ext cx="8888277" cy="5055353"/>
          </a:xfrm>
          <a:prstGeom prst="rect">
            <a:avLst/>
          </a:prstGeom>
        </p:spPr>
      </p:pic>
      <p:sp>
        <p:nvSpPr>
          <p:cNvPr id="4" name="Date Placeholder 3"/>
          <p:cNvSpPr>
            <a:spLocks noGrp="1"/>
          </p:cNvSpPr>
          <p:nvPr>
            <p:ph type="dt" sz="half" idx="10"/>
          </p:nvPr>
        </p:nvSpPr>
        <p:spPr/>
        <p:txBody>
          <a:bodyPr/>
          <a:lstStyle/>
          <a:p>
            <a:fld id="{0BEFC757-83BB-4734-A5DD-A0C1325D2291}" type="datetime1">
              <a:rPr lang="en-US" smtClean="0"/>
              <a:t>8/9/2021</a:t>
            </a:fld>
            <a:endParaRPr lang="en-US"/>
          </a:p>
        </p:txBody>
      </p:sp>
      <p:sp>
        <p:nvSpPr>
          <p:cNvPr id="5" name="Slide Number Placeholder 4"/>
          <p:cNvSpPr>
            <a:spLocks noGrp="1"/>
          </p:cNvSpPr>
          <p:nvPr>
            <p:ph type="sldNum" sz="quarter" idx="12"/>
          </p:nvPr>
        </p:nvSpPr>
        <p:spPr/>
        <p:txBody>
          <a:bodyPr/>
          <a:lstStyle/>
          <a:p>
            <a:fld id="{81D9AF01-45F5-44F6-94C9-E46484F8FCE6}" type="slidenum">
              <a:rPr lang="en-US" smtClean="0"/>
              <a:pPr/>
              <a:t>20</a:t>
            </a:fld>
            <a:endParaRPr lang="en-US"/>
          </a:p>
        </p:txBody>
      </p:sp>
      <p:sp>
        <p:nvSpPr>
          <p:cNvPr id="6"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5" name="Title 1"/>
          <p:cNvSpPr>
            <a:spLocks noGrp="1"/>
          </p:cNvSpPr>
          <p:nvPr>
            <p:ph type="title"/>
          </p:nvPr>
        </p:nvSpPr>
        <p:spPr/>
        <p:txBody>
          <a:bodyPr/>
          <a:lstStyle/>
          <a:p>
            <a:r>
              <a:rPr lang="en-US" b="1" dirty="0"/>
              <a:t>Laboratory Evaluation</a:t>
            </a:r>
            <a:endParaRPr lang="en-US" dirty="0"/>
          </a:p>
        </p:txBody>
      </p:sp>
      <p:sp>
        <p:nvSpPr>
          <p:cNvPr id="1048686" name="Content Placeholder 2"/>
          <p:cNvSpPr>
            <a:spLocks noGrp="1"/>
          </p:cNvSpPr>
          <p:nvPr>
            <p:ph idx="1"/>
          </p:nvPr>
        </p:nvSpPr>
        <p:spPr>
          <a:xfrm>
            <a:off x="304800" y="1447800"/>
            <a:ext cx="8610600" cy="4876800"/>
          </a:xfrm>
        </p:spPr>
        <p:txBody>
          <a:bodyPr/>
          <a:lstStyle/>
          <a:p>
            <a:pPr>
              <a:lnSpc>
                <a:spcPct val="150000"/>
              </a:lnSpc>
              <a:buBlip>
                <a:blip r:embed="rId2"/>
              </a:buBlip>
            </a:pPr>
            <a:r>
              <a:rPr lang="en-US" dirty="0"/>
              <a:t>LFT --- right  sided heart failure </a:t>
            </a:r>
          </a:p>
          <a:p>
            <a:pPr>
              <a:lnSpc>
                <a:spcPct val="150000"/>
              </a:lnSpc>
              <a:buBlip>
                <a:blip r:embed="rId2"/>
              </a:buBlip>
            </a:pPr>
            <a:r>
              <a:rPr lang="en-US" dirty="0"/>
              <a:t> ABG– pulmonary edema</a:t>
            </a:r>
          </a:p>
          <a:p>
            <a:pPr>
              <a:lnSpc>
                <a:spcPct val="150000"/>
              </a:lnSpc>
              <a:buBlip>
                <a:blip r:embed="rId2"/>
              </a:buBlip>
            </a:pPr>
            <a:r>
              <a:rPr lang="en-US" dirty="0"/>
              <a:t>Coagulation profile (PTT,PT or  INR)- for pts on warfarin or heparin </a:t>
            </a:r>
          </a:p>
          <a:p>
            <a:endParaRPr lang="en-US" dirty="0"/>
          </a:p>
        </p:txBody>
      </p:sp>
      <p:sp>
        <p:nvSpPr>
          <p:cNvPr id="4" name="Date Placeholder 3"/>
          <p:cNvSpPr>
            <a:spLocks noGrp="1"/>
          </p:cNvSpPr>
          <p:nvPr>
            <p:ph type="dt" sz="half" idx="10"/>
          </p:nvPr>
        </p:nvSpPr>
        <p:spPr/>
        <p:txBody>
          <a:bodyPr/>
          <a:lstStyle/>
          <a:p>
            <a:fld id="{99A52DA0-6BDE-4747-8F6F-7D69AEC111C1}" type="datetime1">
              <a:rPr lang="en-US" smtClean="0"/>
              <a:t>8/9/2021</a:t>
            </a:fld>
            <a:endParaRPr lang="en-US"/>
          </a:p>
        </p:txBody>
      </p:sp>
      <p:sp>
        <p:nvSpPr>
          <p:cNvPr id="5" name="Slide Number Placeholder 4"/>
          <p:cNvSpPr>
            <a:spLocks noGrp="1"/>
          </p:cNvSpPr>
          <p:nvPr>
            <p:ph type="sldNum" sz="quarter" idx="12"/>
          </p:nvPr>
        </p:nvSpPr>
        <p:spPr/>
        <p:txBody>
          <a:bodyPr/>
          <a:lstStyle/>
          <a:p>
            <a:fld id="{81D9AF01-45F5-44F6-94C9-E46484F8FCE6}" type="slidenum">
              <a:rPr lang="en-US" smtClean="0"/>
              <a:pPr/>
              <a:t>21</a:t>
            </a:fld>
            <a:endParaRPr lang="en-US"/>
          </a:p>
        </p:txBody>
      </p:sp>
      <p:sp>
        <p:nvSpPr>
          <p:cNvPr id="6"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2" name="Rectangle 2"/>
          <p:cNvSpPr>
            <a:spLocks noGrp="1" noChangeArrowheads="1"/>
          </p:cNvSpPr>
          <p:nvPr>
            <p:ph type="title"/>
          </p:nvPr>
        </p:nvSpPr>
        <p:spPr>
          <a:noFill/>
        </p:spPr>
        <p:txBody>
          <a:bodyPr lIns="90488" tIns="44450" rIns="90488" bIns="44450"/>
          <a:lstStyle/>
          <a:p>
            <a:pPr marL="838200" indent="-838200" eaLnBrk="1" hangingPunct="1"/>
            <a:r>
              <a:rPr lang="en-US" sz="3600" b="1" dirty="0">
                <a:latin typeface="+mn-lt"/>
              </a:rPr>
              <a:t>Investigation</a:t>
            </a:r>
            <a:r>
              <a:rPr lang="en-US" b="1" dirty="0">
                <a:latin typeface="Arial" charset="0"/>
              </a:rPr>
              <a:t> </a:t>
            </a:r>
          </a:p>
        </p:txBody>
      </p:sp>
      <p:sp>
        <p:nvSpPr>
          <p:cNvPr id="1048693" name="Rectangle 3"/>
          <p:cNvSpPr>
            <a:spLocks noGrp="1" noChangeArrowheads="1"/>
          </p:cNvSpPr>
          <p:nvPr>
            <p:ph type="body" idx="1"/>
          </p:nvPr>
        </p:nvSpPr>
        <p:spPr>
          <a:xfrm>
            <a:off x="304800" y="1447800"/>
            <a:ext cx="8534400" cy="5029200"/>
          </a:xfrm>
          <a:noFill/>
        </p:spPr>
        <p:txBody>
          <a:bodyPr lIns="90488" tIns="44450" rIns="90488" bIns="44450">
            <a:normAutofit fontScale="96429"/>
          </a:bodyPr>
          <a:lstStyle/>
          <a:p>
            <a:pPr marL="609600" indent="-609600" eaLnBrk="1" hangingPunct="1">
              <a:lnSpc>
                <a:spcPct val="90000"/>
              </a:lnSpc>
              <a:buNone/>
            </a:pPr>
            <a:r>
              <a:rPr lang="en-US" b="1" dirty="0"/>
              <a:t>CXR</a:t>
            </a:r>
          </a:p>
          <a:p>
            <a:pPr marL="990600" lvl="1" indent="-646113">
              <a:lnSpc>
                <a:spcPct val="160000"/>
              </a:lnSpc>
              <a:buBlip>
                <a:blip r:embed="rId2"/>
              </a:buBlip>
            </a:pPr>
            <a:r>
              <a:rPr lang="en-US" dirty="0" err="1"/>
              <a:t>Cardiomegaly</a:t>
            </a:r>
            <a:r>
              <a:rPr lang="en-US" dirty="0"/>
              <a:t> and Calcification of the aortic valve</a:t>
            </a:r>
          </a:p>
          <a:p>
            <a:pPr marL="990600" lvl="1" indent="-646113" eaLnBrk="1" hangingPunct="1">
              <a:lnSpc>
                <a:spcPct val="160000"/>
              </a:lnSpc>
              <a:buBlip>
                <a:blip r:embed="rId2"/>
              </a:buBlip>
            </a:pPr>
            <a:r>
              <a:rPr lang="en-US" dirty="0"/>
              <a:t>Post-</a:t>
            </a:r>
            <a:r>
              <a:rPr lang="en-US" dirty="0" err="1"/>
              <a:t>stenotic</a:t>
            </a:r>
            <a:r>
              <a:rPr lang="en-US" dirty="0"/>
              <a:t> dilation of the ascending aorta</a:t>
            </a:r>
          </a:p>
          <a:p>
            <a:pPr marL="609600" indent="-609600" eaLnBrk="1" hangingPunct="1">
              <a:lnSpc>
                <a:spcPct val="90000"/>
              </a:lnSpc>
              <a:buNone/>
            </a:pPr>
            <a:r>
              <a:rPr lang="en-US" b="1" dirty="0"/>
              <a:t>ECG</a:t>
            </a:r>
          </a:p>
          <a:p>
            <a:pPr marL="990600" lvl="1" indent="-646113" eaLnBrk="1" hangingPunct="1">
              <a:lnSpc>
                <a:spcPct val="90000"/>
              </a:lnSpc>
              <a:buBlip>
                <a:blip r:embed="rId2"/>
              </a:buBlip>
            </a:pPr>
            <a:r>
              <a:rPr lang="en-US" b="1" dirty="0"/>
              <a:t>LVH</a:t>
            </a:r>
          </a:p>
          <a:p>
            <a:pPr marL="990600" lvl="1" indent="-646113" eaLnBrk="1" hangingPunct="1">
              <a:lnSpc>
                <a:spcPct val="90000"/>
              </a:lnSpc>
              <a:buBlip>
                <a:blip r:embed="rId2"/>
              </a:buBlip>
            </a:pPr>
            <a:r>
              <a:rPr lang="en-US" b="1" dirty="0" err="1"/>
              <a:t>Pseudoinfarction</a:t>
            </a:r>
            <a:r>
              <a:rPr lang="en-US" b="1" dirty="0"/>
              <a:t> pattern</a:t>
            </a:r>
          </a:p>
        </p:txBody>
      </p:sp>
      <p:sp>
        <p:nvSpPr>
          <p:cNvPr id="1048694" name="Date Placeholder 3"/>
          <p:cNvSpPr>
            <a:spLocks noGrp="1"/>
          </p:cNvSpPr>
          <p:nvPr>
            <p:ph type="dt" sz="half" idx="10"/>
          </p:nvPr>
        </p:nvSpPr>
        <p:spPr/>
        <p:txBody>
          <a:bodyPr/>
          <a:lstStyle/>
          <a:p>
            <a:fld id="{F0317FC3-6D99-453F-9E68-AB39C235BD90}" type="datetime1">
              <a:rPr lang="en-US" altLang="en-US" smtClean="0"/>
              <a:t>8/9/2021</a:t>
            </a:fld>
            <a:endParaRPr lang="en-US" altLang="en-US"/>
          </a:p>
        </p:txBody>
      </p:sp>
      <p:sp>
        <p:nvSpPr>
          <p:cNvPr id="1048695" name="Slide Number Placeholder 4"/>
          <p:cNvSpPr>
            <a:spLocks noGrp="1"/>
          </p:cNvSpPr>
          <p:nvPr>
            <p:ph type="sldNum" sz="quarter" idx="12"/>
          </p:nvPr>
        </p:nvSpPr>
        <p:spPr/>
        <p:txBody>
          <a:bodyPr/>
          <a:lstStyle/>
          <a:p>
            <a:fld id="{0E75A53D-4435-447B-8C10-A0587C3F8965}" type="slidenum">
              <a:rPr lang="en-US" altLang="en-US" smtClean="0"/>
              <a:pPr/>
              <a:t>22</a:t>
            </a:fld>
            <a:endParaRPr lang="en-US" altLang="en-US"/>
          </a:p>
        </p:txBody>
      </p:sp>
      <p:sp>
        <p:nvSpPr>
          <p:cNvPr id="1048696" name="Footer Placeholder 5"/>
          <p:cNvSpPr>
            <a:spLocks noGrp="1"/>
          </p:cNvSpPr>
          <p:nvPr>
            <p:ph type="ftr" sz="quarter" idx="11"/>
          </p:nvPr>
        </p:nvSpPr>
        <p:spPr/>
        <p:txBody>
          <a:bodyPr/>
          <a:lstStyle/>
          <a:p>
            <a:r>
              <a:rPr lang="en-US" altLang="en-US"/>
              <a:t>Anesthesia for VHD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9" name="Title 1"/>
          <p:cNvSpPr>
            <a:spLocks noGrp="1"/>
          </p:cNvSpPr>
          <p:nvPr>
            <p:ph type="title"/>
          </p:nvPr>
        </p:nvSpPr>
        <p:spPr/>
        <p:txBody>
          <a:bodyPr>
            <a:normAutofit/>
          </a:bodyPr>
          <a:lstStyle/>
          <a:p>
            <a:r>
              <a:rPr lang="en-US" dirty="0"/>
              <a:t>Cont…</a:t>
            </a:r>
          </a:p>
        </p:txBody>
      </p:sp>
      <p:sp>
        <p:nvSpPr>
          <p:cNvPr id="1048700" name="Content Placeholder 2"/>
          <p:cNvSpPr>
            <a:spLocks noGrp="1"/>
          </p:cNvSpPr>
          <p:nvPr>
            <p:ph idx="1"/>
          </p:nvPr>
        </p:nvSpPr>
        <p:spPr>
          <a:xfrm>
            <a:off x="228600" y="1600200"/>
            <a:ext cx="8458200" cy="4953000"/>
          </a:xfrm>
        </p:spPr>
        <p:txBody>
          <a:bodyPr>
            <a:normAutofit fontScale="93056"/>
          </a:bodyPr>
          <a:lstStyle/>
          <a:p>
            <a:pPr>
              <a:lnSpc>
                <a:spcPct val="150000"/>
              </a:lnSpc>
              <a:buFont typeface="Wingdings" panose="05000000000000000000" pitchFamily="2" charset="2"/>
              <a:buChar char="Ø"/>
            </a:pPr>
            <a:r>
              <a:rPr lang="en-GB" dirty="0">
                <a:latin typeface="Monotype Corsiva" panose="03010101010201010101" pitchFamily="66" charset="0"/>
              </a:rPr>
              <a:t>Echocardiography (LV function) </a:t>
            </a:r>
            <a:endParaRPr lang="en-US" dirty="0"/>
          </a:p>
          <a:p>
            <a:pPr lvl="3" algn="just">
              <a:lnSpc>
                <a:spcPct val="150000"/>
              </a:lnSpc>
              <a:buFont typeface="Wingdings" panose="05000000000000000000" pitchFamily="2" charset="2"/>
              <a:buChar char="Ø"/>
            </a:pPr>
            <a:r>
              <a:rPr lang="en-GB" sz="3000" dirty="0">
                <a:sym typeface="Symbol" panose="05050102010706020507" pitchFamily="18" charset="2"/>
              </a:rPr>
              <a:t>Trans valvular pressure gradient</a:t>
            </a:r>
          </a:p>
          <a:p>
            <a:pPr lvl="3" algn="just">
              <a:lnSpc>
                <a:spcPct val="150000"/>
              </a:lnSpc>
              <a:buFont typeface="Wingdings" panose="05000000000000000000" pitchFamily="2" charset="2"/>
              <a:buChar char="Ø"/>
            </a:pPr>
            <a:r>
              <a:rPr lang="en-GB" sz="3000" dirty="0">
                <a:sym typeface="Symbol" panose="05050102010706020507" pitchFamily="18" charset="2"/>
              </a:rPr>
              <a:t> Area of the valves and calcification </a:t>
            </a:r>
          </a:p>
          <a:p>
            <a:pPr lvl="3" algn="just">
              <a:lnSpc>
                <a:spcPct val="150000"/>
              </a:lnSpc>
              <a:buFont typeface="Wingdings" panose="05000000000000000000" pitchFamily="2" charset="2"/>
              <a:buChar char="Ø"/>
            </a:pPr>
            <a:r>
              <a:rPr lang="en-GB" sz="3000" dirty="0">
                <a:sym typeface="Symbol" panose="05050102010706020507" pitchFamily="18" charset="2"/>
              </a:rPr>
              <a:t>Ventricular wall thickness and chamber size   </a:t>
            </a:r>
            <a:endParaRPr lang="en-GB" sz="3000" dirty="0"/>
          </a:p>
          <a:p>
            <a:endParaRPr lang="en-US" sz="3900" dirty="0"/>
          </a:p>
        </p:txBody>
      </p:sp>
      <p:sp>
        <p:nvSpPr>
          <p:cNvPr id="4" name="Date Placeholder 3"/>
          <p:cNvSpPr>
            <a:spLocks noGrp="1"/>
          </p:cNvSpPr>
          <p:nvPr>
            <p:ph type="dt" sz="half" idx="10"/>
          </p:nvPr>
        </p:nvSpPr>
        <p:spPr/>
        <p:txBody>
          <a:bodyPr/>
          <a:lstStyle/>
          <a:p>
            <a:fld id="{DD483E2F-909B-463C-8AD3-8D0B39176A24}" type="datetime1">
              <a:rPr lang="en-US" smtClean="0"/>
              <a:t>8/9/2021</a:t>
            </a:fld>
            <a:endParaRPr lang="en-US"/>
          </a:p>
        </p:txBody>
      </p:sp>
      <p:sp>
        <p:nvSpPr>
          <p:cNvPr id="5" name="Slide Number Placeholder 4"/>
          <p:cNvSpPr>
            <a:spLocks noGrp="1"/>
          </p:cNvSpPr>
          <p:nvPr>
            <p:ph type="sldNum" sz="quarter" idx="12"/>
          </p:nvPr>
        </p:nvSpPr>
        <p:spPr/>
        <p:txBody>
          <a:bodyPr/>
          <a:lstStyle/>
          <a:p>
            <a:fld id="{81D9AF01-45F5-44F6-94C9-E46484F8FCE6}" type="slidenum">
              <a:rPr lang="en-US" smtClean="0"/>
              <a:pPr/>
              <a:t>23</a:t>
            </a:fld>
            <a:endParaRPr lang="en-US"/>
          </a:p>
        </p:txBody>
      </p:sp>
      <p:sp>
        <p:nvSpPr>
          <p:cNvPr id="6"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1" name="Rectangle 2"/>
          <p:cNvSpPr>
            <a:spLocks noGrp="1" noChangeArrowheads="1"/>
          </p:cNvSpPr>
          <p:nvPr>
            <p:ph type="title"/>
          </p:nvPr>
        </p:nvSpPr>
        <p:spPr>
          <a:xfrm>
            <a:off x="457200" y="274638"/>
            <a:ext cx="8229600" cy="868362"/>
          </a:xfrm>
          <a:noFill/>
        </p:spPr>
        <p:txBody>
          <a:bodyPr lIns="90488" tIns="44450" rIns="90488" bIns="44450">
            <a:normAutofit/>
          </a:bodyPr>
          <a:lstStyle/>
          <a:p>
            <a:pPr marL="838200" indent="-838200" eaLnBrk="1" hangingPunct="1"/>
            <a:r>
              <a:rPr lang="en-US" baseline="30000" dirty="0">
                <a:latin typeface="+mn-lt"/>
              </a:rPr>
              <a:t>cont….</a:t>
            </a:r>
          </a:p>
        </p:txBody>
      </p:sp>
      <p:sp>
        <p:nvSpPr>
          <p:cNvPr id="1048702" name="Rectangle 3"/>
          <p:cNvSpPr>
            <a:spLocks noGrp="1" noChangeArrowheads="1"/>
          </p:cNvSpPr>
          <p:nvPr>
            <p:ph type="body" idx="1"/>
          </p:nvPr>
        </p:nvSpPr>
        <p:spPr>
          <a:xfrm>
            <a:off x="381000" y="990600"/>
            <a:ext cx="8458200" cy="5257800"/>
          </a:xfrm>
          <a:noFill/>
        </p:spPr>
        <p:txBody>
          <a:bodyPr lIns="90488" tIns="44450" rIns="90488" bIns="44450">
            <a:noAutofit/>
          </a:bodyPr>
          <a:lstStyle/>
          <a:p>
            <a:pPr marL="990600" lvl="1" indent="-646113" eaLnBrk="1" hangingPunct="1">
              <a:lnSpc>
                <a:spcPct val="150000"/>
              </a:lnSpc>
              <a:buFont typeface="Wingdings" pitchFamily="2" charset="2"/>
              <a:buNone/>
            </a:pPr>
            <a:r>
              <a:rPr lang="en-US" sz="3200" b="1" dirty="0"/>
              <a:t>Doppler: </a:t>
            </a:r>
          </a:p>
          <a:p>
            <a:pPr marL="990600" lvl="1" indent="-646113" eaLnBrk="1" hangingPunct="1">
              <a:lnSpc>
                <a:spcPct val="150000"/>
              </a:lnSpc>
              <a:buBlip>
                <a:blip r:embed="rId2"/>
              </a:buBlip>
            </a:pPr>
            <a:r>
              <a:rPr lang="en-US" sz="3200" dirty="0"/>
              <a:t>Flow, severity of stenosis</a:t>
            </a:r>
          </a:p>
          <a:p>
            <a:pPr>
              <a:buNone/>
            </a:pPr>
            <a:r>
              <a:rPr lang="en-US" b="1" dirty="0"/>
              <a:t>Cardiac catheterization</a:t>
            </a:r>
          </a:p>
          <a:p>
            <a:pPr lvl="1">
              <a:buBlip>
                <a:blip r:embed="rId3"/>
              </a:buBlip>
            </a:pPr>
            <a:r>
              <a:rPr lang="en-US" dirty="0"/>
              <a:t>The measurement of pressures and cardiac output</a:t>
            </a:r>
            <a:endParaRPr lang="en-US" dirty="0">
              <a:effectLst>
                <a:outerShdw blurRad="38100" dist="38100" dir="2700000" algn="tl">
                  <a:srgbClr val="000000"/>
                </a:outerShdw>
              </a:effectLst>
            </a:endParaRPr>
          </a:p>
          <a:p>
            <a:pPr marL="990600" lvl="1" indent="-646113" eaLnBrk="1" hangingPunct="1">
              <a:lnSpc>
                <a:spcPct val="150000"/>
              </a:lnSpc>
              <a:buNone/>
            </a:pPr>
            <a:endParaRPr lang="en-US" sz="3200" dirty="0"/>
          </a:p>
        </p:txBody>
      </p:sp>
      <p:sp>
        <p:nvSpPr>
          <p:cNvPr id="1048703" name="Date Placeholder 3"/>
          <p:cNvSpPr>
            <a:spLocks noGrp="1"/>
          </p:cNvSpPr>
          <p:nvPr>
            <p:ph type="dt" sz="half" idx="10"/>
          </p:nvPr>
        </p:nvSpPr>
        <p:spPr/>
        <p:txBody>
          <a:bodyPr/>
          <a:lstStyle/>
          <a:p>
            <a:fld id="{8E495FAC-BBB7-4997-9CAE-6682AFCC6635}" type="datetime1">
              <a:rPr lang="en-US" altLang="en-US" smtClean="0"/>
              <a:t>8/9/2021</a:t>
            </a:fld>
            <a:endParaRPr lang="en-US" altLang="en-US"/>
          </a:p>
        </p:txBody>
      </p:sp>
      <p:sp>
        <p:nvSpPr>
          <p:cNvPr id="1048704" name="Slide Number Placeholder 4"/>
          <p:cNvSpPr>
            <a:spLocks noGrp="1"/>
          </p:cNvSpPr>
          <p:nvPr>
            <p:ph type="sldNum" sz="quarter" idx="12"/>
          </p:nvPr>
        </p:nvSpPr>
        <p:spPr/>
        <p:txBody>
          <a:bodyPr/>
          <a:lstStyle/>
          <a:p>
            <a:fld id="{0E75A53D-4435-447B-8C10-A0587C3F8965}" type="slidenum">
              <a:rPr lang="en-US" altLang="en-US" smtClean="0"/>
              <a:pPr/>
              <a:t>24</a:t>
            </a:fld>
            <a:endParaRPr lang="en-US" altLang="en-US"/>
          </a:p>
        </p:txBody>
      </p:sp>
      <p:sp>
        <p:nvSpPr>
          <p:cNvPr id="1048705" name="Footer Placeholder 5"/>
          <p:cNvSpPr>
            <a:spLocks noGrp="1"/>
          </p:cNvSpPr>
          <p:nvPr>
            <p:ph type="ftr" sz="quarter" idx="11"/>
          </p:nvPr>
        </p:nvSpPr>
        <p:spPr/>
        <p:txBody>
          <a:bodyPr/>
          <a:lstStyle/>
          <a:p>
            <a:r>
              <a:rPr lang="en-US" altLang="en-US"/>
              <a:t>Anesthesia for VHD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8" name="Title 1"/>
          <p:cNvSpPr>
            <a:spLocks noGrp="1"/>
          </p:cNvSpPr>
          <p:nvPr>
            <p:ph type="title"/>
          </p:nvPr>
        </p:nvSpPr>
        <p:spPr/>
        <p:txBody>
          <a:bodyPr/>
          <a:lstStyle/>
          <a:p>
            <a:r>
              <a:rPr lang="en-US" dirty="0"/>
              <a:t>Intraoperative monitoring  </a:t>
            </a:r>
          </a:p>
        </p:txBody>
      </p:sp>
      <p:sp>
        <p:nvSpPr>
          <p:cNvPr id="1048719" name="Text Placeholder 2"/>
          <p:cNvSpPr>
            <a:spLocks noGrp="1"/>
          </p:cNvSpPr>
          <p:nvPr>
            <p:ph type="body" idx="1"/>
          </p:nvPr>
        </p:nvSpPr>
        <p:spPr/>
        <p:txBody>
          <a:bodyPr>
            <a:normAutofit fontScale="97143"/>
          </a:bodyPr>
          <a:lstStyle/>
          <a:p>
            <a:pPr marL="514350" indent="-514350">
              <a:lnSpc>
                <a:spcPct val="150000"/>
              </a:lnSpc>
              <a:buBlip>
                <a:blip r:embed="rId2"/>
              </a:buBlip>
            </a:pPr>
            <a:r>
              <a:rPr lang="en-US" dirty="0"/>
              <a:t>Standard monitoring </a:t>
            </a:r>
            <a:r>
              <a:rPr lang="en-US" i="1" dirty="0">
                <a:solidFill>
                  <a:schemeClr val="accent2"/>
                </a:solidFill>
              </a:rPr>
              <a:t>(ECG, BP, TEMP. ,SPO2 ,ETCO2)</a:t>
            </a:r>
          </a:p>
          <a:p>
            <a:pPr marL="514350" indent="-514350">
              <a:lnSpc>
                <a:spcPct val="150000"/>
              </a:lnSpc>
              <a:buBlip>
                <a:blip r:embed="rId2"/>
              </a:buBlip>
            </a:pPr>
            <a:r>
              <a:rPr lang="en-US" dirty="0"/>
              <a:t>Invasive monitor </a:t>
            </a:r>
          </a:p>
          <a:p>
            <a:pPr lvl="1">
              <a:lnSpc>
                <a:spcPct val="150000"/>
              </a:lnSpc>
            </a:pPr>
            <a:r>
              <a:rPr lang="en-US" dirty="0"/>
              <a:t>Arterial line </a:t>
            </a:r>
          </a:p>
          <a:p>
            <a:pPr lvl="1">
              <a:lnSpc>
                <a:spcPct val="150000"/>
              </a:lnSpc>
            </a:pPr>
            <a:r>
              <a:rPr lang="en-US" dirty="0"/>
              <a:t>CVP </a:t>
            </a:r>
          </a:p>
          <a:p>
            <a:pPr lvl="1">
              <a:lnSpc>
                <a:spcPct val="150000"/>
              </a:lnSpc>
            </a:pPr>
            <a:r>
              <a:rPr lang="en-US" dirty="0"/>
              <a:t>PA Catheter </a:t>
            </a:r>
          </a:p>
        </p:txBody>
      </p:sp>
      <p:sp>
        <p:nvSpPr>
          <p:cNvPr id="1048720" name="Date Placeholder 3"/>
          <p:cNvSpPr>
            <a:spLocks noGrp="1"/>
          </p:cNvSpPr>
          <p:nvPr>
            <p:ph type="dt" sz="half" idx="10"/>
          </p:nvPr>
        </p:nvSpPr>
        <p:spPr/>
        <p:txBody>
          <a:bodyPr/>
          <a:lstStyle/>
          <a:p>
            <a:fld id="{289E64B0-FFCD-4FDC-ACA9-31A503790ADC}" type="datetime1">
              <a:rPr lang="en-US" altLang="en-US" smtClean="0"/>
              <a:t>8/9/2021</a:t>
            </a:fld>
            <a:endParaRPr lang="en-US" altLang="en-US"/>
          </a:p>
        </p:txBody>
      </p:sp>
      <p:sp>
        <p:nvSpPr>
          <p:cNvPr id="1048721" name="Footer Placeholder 4"/>
          <p:cNvSpPr>
            <a:spLocks noGrp="1"/>
          </p:cNvSpPr>
          <p:nvPr>
            <p:ph type="ftr" sz="quarter" idx="11"/>
          </p:nvPr>
        </p:nvSpPr>
        <p:spPr/>
        <p:txBody>
          <a:bodyPr/>
          <a:lstStyle/>
          <a:p>
            <a:r>
              <a:rPr lang="en-US" altLang="en-US"/>
              <a:t>Anesthesia for VHD </a:t>
            </a:r>
          </a:p>
        </p:txBody>
      </p:sp>
      <p:sp>
        <p:nvSpPr>
          <p:cNvPr id="1048722" name="Slide Number Placeholder 5"/>
          <p:cNvSpPr>
            <a:spLocks noGrp="1"/>
          </p:cNvSpPr>
          <p:nvPr>
            <p:ph type="sldNum" sz="quarter" idx="12"/>
          </p:nvPr>
        </p:nvSpPr>
        <p:spPr/>
        <p:txBody>
          <a:bodyPr/>
          <a:lstStyle/>
          <a:p>
            <a:fld id="{0E75A53D-4435-447B-8C10-A0587C3F8965}" type="slidenum">
              <a:rPr lang="en-US" altLang="en-US" smtClean="0"/>
              <a:pPr/>
              <a:t>25</a:t>
            </a:fld>
            <a:endParaRPr lang="en-US"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3" name="Title 1"/>
          <p:cNvSpPr>
            <a:spLocks noGrp="1"/>
          </p:cNvSpPr>
          <p:nvPr>
            <p:ph type="title"/>
          </p:nvPr>
        </p:nvSpPr>
        <p:spPr>
          <a:xfrm>
            <a:off x="457200" y="274638"/>
            <a:ext cx="8229600" cy="944562"/>
          </a:xfrm>
        </p:spPr>
        <p:txBody>
          <a:bodyPr>
            <a:normAutofit/>
          </a:bodyPr>
          <a:lstStyle/>
          <a:p>
            <a:r>
              <a:rPr lang="en-US" b="1" dirty="0"/>
              <a:t>Aortic stenosis</a:t>
            </a:r>
            <a:endParaRPr lang="en-US" dirty="0"/>
          </a:p>
        </p:txBody>
      </p:sp>
      <p:sp>
        <p:nvSpPr>
          <p:cNvPr id="1048724" name="Content Placeholder 2"/>
          <p:cNvSpPr>
            <a:spLocks noGrp="1"/>
          </p:cNvSpPr>
          <p:nvPr>
            <p:ph idx="1"/>
          </p:nvPr>
        </p:nvSpPr>
        <p:spPr>
          <a:xfrm>
            <a:off x="304800" y="1219200"/>
            <a:ext cx="8534400" cy="5257800"/>
          </a:xfrm>
        </p:spPr>
        <p:txBody>
          <a:bodyPr>
            <a:noAutofit/>
          </a:bodyPr>
          <a:lstStyle/>
          <a:p>
            <a:pPr>
              <a:lnSpc>
                <a:spcPct val="150000"/>
              </a:lnSpc>
              <a:buBlip>
                <a:blip r:embed="rId3"/>
              </a:buBlip>
            </a:pPr>
            <a:r>
              <a:rPr lang="en-US" dirty="0">
                <a:cs typeface="Arial" charset="0"/>
              </a:rPr>
              <a:t>AS is a fixed outlet obstruction to left ventricular ejection</a:t>
            </a:r>
          </a:p>
          <a:p>
            <a:pPr>
              <a:lnSpc>
                <a:spcPct val="150000"/>
              </a:lnSpc>
              <a:buBlip>
                <a:blip r:embed="rId3"/>
              </a:buBlip>
            </a:pPr>
            <a:r>
              <a:rPr lang="en-US" dirty="0"/>
              <a:t>AS occurs in about one-fourth of all patients with chronic VHD.</a:t>
            </a:r>
          </a:p>
          <a:p>
            <a:pPr>
              <a:lnSpc>
                <a:spcPct val="150000"/>
              </a:lnSpc>
              <a:buBlip>
                <a:blip r:embed="rId3"/>
              </a:buBlip>
            </a:pPr>
            <a:endParaRPr lang="en-US" dirty="0"/>
          </a:p>
        </p:txBody>
      </p:sp>
      <p:sp>
        <p:nvSpPr>
          <p:cNvPr id="1048725" name="Date Placeholder 3"/>
          <p:cNvSpPr>
            <a:spLocks noGrp="1"/>
          </p:cNvSpPr>
          <p:nvPr>
            <p:ph type="dt" sz="half" idx="10"/>
          </p:nvPr>
        </p:nvSpPr>
        <p:spPr/>
        <p:txBody>
          <a:bodyPr/>
          <a:lstStyle/>
          <a:p>
            <a:fld id="{A70EB880-0A45-4161-BB40-19F084A978FE}" type="datetime1">
              <a:rPr lang="en-US" smtClean="0"/>
              <a:t>8/9/2021</a:t>
            </a:fld>
            <a:endParaRPr lang="en-US"/>
          </a:p>
        </p:txBody>
      </p:sp>
      <p:sp>
        <p:nvSpPr>
          <p:cNvPr id="1048726" name="Slide Number Placeholder 4"/>
          <p:cNvSpPr>
            <a:spLocks noGrp="1"/>
          </p:cNvSpPr>
          <p:nvPr>
            <p:ph type="sldNum" sz="quarter" idx="12"/>
          </p:nvPr>
        </p:nvSpPr>
        <p:spPr/>
        <p:txBody>
          <a:bodyPr/>
          <a:lstStyle/>
          <a:p>
            <a:fld id="{124970EB-A8C4-40D2-AF81-C6C16288290E}" type="slidenum">
              <a:rPr lang="en-US" smtClean="0"/>
              <a:pPr/>
              <a:t>26</a:t>
            </a:fld>
            <a:endParaRPr lang="en-US"/>
          </a:p>
        </p:txBody>
      </p:sp>
      <p:sp>
        <p:nvSpPr>
          <p:cNvPr id="1048727"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sp>
        <p:nvSpPr>
          <p:cNvPr id="3" name="Content Placeholder 2"/>
          <p:cNvSpPr>
            <a:spLocks noGrp="1"/>
          </p:cNvSpPr>
          <p:nvPr>
            <p:ph idx="1"/>
          </p:nvPr>
        </p:nvSpPr>
        <p:spPr>
          <a:xfrm>
            <a:off x="152400" y="1219200"/>
            <a:ext cx="8763000" cy="5181600"/>
          </a:xfrm>
        </p:spPr>
        <p:txBody>
          <a:bodyPr/>
          <a:lstStyle/>
          <a:p>
            <a:pPr>
              <a:lnSpc>
                <a:spcPct val="150000"/>
              </a:lnSpc>
              <a:buBlip>
                <a:blip r:embed="rId2"/>
              </a:buBlip>
            </a:pPr>
            <a:r>
              <a:rPr lang="en-US" dirty="0"/>
              <a:t>The AV is composed of three </a:t>
            </a:r>
            <a:r>
              <a:rPr lang="en-US" dirty="0" err="1"/>
              <a:t>semilunar</a:t>
            </a:r>
            <a:r>
              <a:rPr lang="en-US" dirty="0"/>
              <a:t> </a:t>
            </a:r>
            <a:r>
              <a:rPr lang="en-US" dirty="0">
                <a:solidFill>
                  <a:schemeClr val="accent2"/>
                </a:solidFill>
              </a:rPr>
              <a:t>cusps</a:t>
            </a:r>
            <a:r>
              <a:rPr lang="en-US" dirty="0"/>
              <a:t> attached to the wall of the aorta.</a:t>
            </a:r>
          </a:p>
          <a:p>
            <a:pPr>
              <a:lnSpc>
                <a:spcPct val="150000"/>
              </a:lnSpc>
              <a:buBlip>
                <a:blip r:embed="rId2"/>
              </a:buBlip>
            </a:pPr>
            <a:r>
              <a:rPr lang="en-US" dirty="0"/>
              <a:t>The normal AV diameter is </a:t>
            </a:r>
            <a:r>
              <a:rPr lang="en-US" b="1" dirty="0">
                <a:solidFill>
                  <a:srgbClr val="FF0000"/>
                </a:solidFill>
              </a:rPr>
              <a:t>1.9- 2.3 cm </a:t>
            </a:r>
            <a:r>
              <a:rPr lang="en-US" dirty="0"/>
              <a:t>with an AV area of </a:t>
            </a:r>
            <a:r>
              <a:rPr lang="en-US" b="1" dirty="0">
                <a:solidFill>
                  <a:srgbClr val="FF0000"/>
                </a:solidFill>
              </a:rPr>
              <a:t>2 - 4 cm2</a:t>
            </a:r>
          </a:p>
        </p:txBody>
      </p:sp>
      <p:sp>
        <p:nvSpPr>
          <p:cNvPr id="4" name="Date Placeholder 3"/>
          <p:cNvSpPr>
            <a:spLocks noGrp="1"/>
          </p:cNvSpPr>
          <p:nvPr>
            <p:ph type="dt" sz="half" idx="10"/>
          </p:nvPr>
        </p:nvSpPr>
        <p:spPr/>
        <p:txBody>
          <a:bodyPr/>
          <a:lstStyle/>
          <a:p>
            <a:fld id="{F55B5055-C4C0-49B4-BA00-81BA5C9667B6}" type="datetime1">
              <a:rPr lang="en-US" smtClean="0"/>
              <a:t>8/9/2021</a:t>
            </a:fld>
            <a:endParaRPr lang="en-US"/>
          </a:p>
        </p:txBody>
      </p:sp>
      <p:sp>
        <p:nvSpPr>
          <p:cNvPr id="5" name="Slide Number Placeholder 4"/>
          <p:cNvSpPr>
            <a:spLocks noGrp="1"/>
          </p:cNvSpPr>
          <p:nvPr>
            <p:ph type="sldNum" sz="quarter" idx="12"/>
          </p:nvPr>
        </p:nvSpPr>
        <p:spPr/>
        <p:txBody>
          <a:bodyPr/>
          <a:lstStyle/>
          <a:p>
            <a:fld id="{81D9AF01-45F5-44F6-94C9-E46484F8FCE6}" type="slidenum">
              <a:rPr lang="en-US" smtClean="0"/>
              <a:pPr/>
              <a:t>27</a:t>
            </a:fld>
            <a:endParaRPr lang="en-US"/>
          </a:p>
        </p:txBody>
      </p:sp>
      <p:sp>
        <p:nvSpPr>
          <p:cNvPr id="6"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1" name="Title 1"/>
          <p:cNvSpPr>
            <a:spLocks noGrp="1"/>
          </p:cNvSpPr>
          <p:nvPr>
            <p:ph type="title"/>
          </p:nvPr>
        </p:nvSpPr>
        <p:spPr/>
        <p:txBody>
          <a:bodyPr/>
          <a:lstStyle/>
          <a:p>
            <a:r>
              <a:rPr lang="en-US" dirty="0"/>
              <a:t>Cont…</a:t>
            </a:r>
          </a:p>
        </p:txBody>
      </p:sp>
      <p:graphicFrame>
        <p:nvGraphicFramePr>
          <p:cNvPr id="4194304" name="Content Placeholder 7"/>
          <p:cNvGraphicFramePr>
            <a:graphicFrameLocks noGrp="1"/>
          </p:cNvGraphicFramePr>
          <p:nvPr>
            <p:ph idx="1"/>
          </p:nvPr>
        </p:nvGraphicFramePr>
        <p:xfrm>
          <a:off x="457200" y="1371600"/>
          <a:ext cx="8153400" cy="4663361"/>
        </p:xfrm>
        <a:graphic>
          <a:graphicData uri="http://schemas.openxmlformats.org/drawingml/2006/table">
            <a:tbl>
              <a:tblPr firstRow="1" bandRow="1">
                <a:tableStyleId>{5C22544A-7EE6-4342-B048-85BDC9FD1C3A}</a:tableStyleId>
              </a:tblPr>
              <a:tblGrid>
                <a:gridCol w="1902460">
                  <a:extLst>
                    <a:ext uri="{9D8B030D-6E8A-4147-A177-3AD203B41FA5}">
                      <a16:colId xmlns:a16="http://schemas.microsoft.com/office/drawing/2014/main" val="20000"/>
                    </a:ext>
                  </a:extLst>
                </a:gridCol>
                <a:gridCol w="2174240">
                  <a:extLst>
                    <a:ext uri="{9D8B030D-6E8A-4147-A177-3AD203B41FA5}">
                      <a16:colId xmlns:a16="http://schemas.microsoft.com/office/drawing/2014/main" val="20001"/>
                    </a:ext>
                  </a:extLst>
                </a:gridCol>
                <a:gridCol w="2038350">
                  <a:extLst>
                    <a:ext uri="{9D8B030D-6E8A-4147-A177-3AD203B41FA5}">
                      <a16:colId xmlns:a16="http://schemas.microsoft.com/office/drawing/2014/main" val="20002"/>
                    </a:ext>
                  </a:extLst>
                </a:gridCol>
                <a:gridCol w="2038350">
                  <a:extLst>
                    <a:ext uri="{9D8B030D-6E8A-4147-A177-3AD203B41FA5}">
                      <a16:colId xmlns:a16="http://schemas.microsoft.com/office/drawing/2014/main" val="20003"/>
                    </a:ext>
                  </a:extLst>
                </a:gridCol>
              </a:tblGrid>
              <a:tr h="777133">
                <a:tc gridSpan="2">
                  <a:txBody>
                    <a:bodyPr/>
                    <a:lstStyle/>
                    <a:p>
                      <a:r>
                        <a:rPr lang="en-US" sz="2400" dirty="0"/>
                        <a:t>AV Area</a:t>
                      </a:r>
                      <a:r>
                        <a:rPr lang="en-US" sz="2400" baseline="0" dirty="0"/>
                        <a:t> </a:t>
                      </a:r>
                      <a:endParaRPr lang="en-US" sz="2400" dirty="0"/>
                    </a:p>
                  </a:txBody>
                  <a:tcPr/>
                </a:tc>
                <a:tc hMerge="1">
                  <a:txBody>
                    <a:bodyPr/>
                    <a:lstStyle/>
                    <a:p>
                      <a:endParaRPr lang="en-US"/>
                    </a:p>
                  </a:txBody>
                  <a:tcPr/>
                </a:tc>
                <a:tc gridSpan="2">
                  <a:txBody>
                    <a:bodyPr/>
                    <a:lstStyle/>
                    <a:p>
                      <a:r>
                        <a:rPr lang="en-US" sz="2400" dirty="0"/>
                        <a:t>LV Aortic pressure gradient</a:t>
                      </a:r>
                      <a:r>
                        <a:rPr lang="en-US" sz="2400" baseline="0" dirty="0"/>
                        <a:t> </a:t>
                      </a:r>
                      <a:endParaRPr lang="en-US" sz="2400" dirty="0"/>
                    </a:p>
                  </a:txBody>
                  <a:tcPr/>
                </a:tc>
                <a:tc hMerge="1">
                  <a:txBody>
                    <a:bodyPr/>
                    <a:lstStyle/>
                    <a:p>
                      <a:endParaRPr lang="en-US"/>
                    </a:p>
                  </a:txBody>
                  <a:tcPr/>
                </a:tc>
                <a:extLst>
                  <a:ext uri="{0D108BD9-81ED-4DB2-BD59-A6C34878D82A}">
                    <a16:rowId xmlns:a16="http://schemas.microsoft.com/office/drawing/2014/main" val="10000"/>
                  </a:ext>
                </a:extLst>
              </a:tr>
              <a:tr h="1295410">
                <a:tc>
                  <a:txBody>
                    <a:bodyPr/>
                    <a:lstStyle/>
                    <a:p>
                      <a:pPr marL="0" marR="0" indent="0" algn="l" defTabSz="914400" rtl="0" eaLnBrk="1" fontAlgn="auto" latinLnBrk="0" hangingPunct="1">
                        <a:lnSpc>
                          <a:spcPct val="100000"/>
                        </a:lnSpc>
                        <a:spcBef>
                          <a:spcPts val="0"/>
                        </a:spcBef>
                        <a:spcAft>
                          <a:spcPts val="0"/>
                        </a:spcAft>
                        <a:buClrTx/>
                        <a:buSzTx/>
                        <a:buFontTx/>
                        <a:buNone/>
                      </a:pPr>
                      <a:r>
                        <a:rPr lang="en-US" sz="2400" dirty="0"/>
                        <a:t>mild AS</a:t>
                      </a:r>
                      <a:endParaRPr lang="en-US" sz="2400" dirty="0">
                        <a:solidFill>
                          <a:schemeClr val="tx1"/>
                        </a:solidFill>
                      </a:endParaRPr>
                    </a:p>
                  </a:txBody>
                  <a:tcPr>
                    <a:lnR w="12700" cap="flat" cmpd="sng" algn="ctr">
                      <a:solidFill>
                        <a:schemeClr val="tx1"/>
                      </a:solidFill>
                      <a:prstDash val="solid"/>
                      <a:round/>
                      <a:headEnd type="none" w="med" len="med"/>
                      <a:tailEnd type="none" w="med" len="med"/>
                    </a:lnR>
                  </a:tcPr>
                </a:tc>
                <a:tc>
                  <a:txBody>
                    <a:bodyPr/>
                    <a:lstStyle/>
                    <a:p>
                      <a:r>
                        <a:rPr lang="en-US" sz="2400" dirty="0">
                          <a:solidFill>
                            <a:schemeClr val="tx1"/>
                          </a:solidFill>
                        </a:rPr>
                        <a:t>1.5–2 cm2.</a:t>
                      </a:r>
                      <a:endParaRPr lang="en-US" sz="2400" dirty="0"/>
                    </a:p>
                  </a:txBody>
                  <a:tcPr>
                    <a:lnL w="12700" cap="flat" cmpd="sng" algn="ctr">
                      <a:solidFill>
                        <a:schemeClr val="tx1"/>
                      </a:solidFill>
                      <a:prstDash val="solid"/>
                      <a:round/>
                      <a:headEnd type="none" w="med" len="med"/>
                      <a:tailEnd type="none" w="med" len="med"/>
                    </a:lnL>
                  </a:tcPr>
                </a:tc>
                <a:tc>
                  <a:txBody>
                    <a:bodyPr/>
                    <a:lstStyle/>
                    <a:p>
                      <a:r>
                        <a:rPr lang="en-US" sz="2400" kern="1200" baseline="0" dirty="0">
                          <a:solidFill>
                            <a:schemeClr val="dk1"/>
                          </a:solidFill>
                          <a:latin typeface="+mn-lt"/>
                          <a:ea typeface="+mn-ea"/>
                          <a:cs typeface="+mn-cs"/>
                        </a:rPr>
                        <a:t>Mild</a:t>
                      </a:r>
                    </a:p>
                  </a:txBody>
                  <a:tcPr>
                    <a:lnR w="12700" cap="flat" cmpd="sng" algn="ctr">
                      <a:solidFill>
                        <a:schemeClr val="tx1"/>
                      </a:solidFill>
                      <a:prstDash val="solid"/>
                      <a:round/>
                      <a:headEnd type="none" w="med" len="med"/>
                      <a:tailEnd type="none" w="med" len="med"/>
                    </a:lnR>
                  </a:tcPr>
                </a:tc>
                <a:tc>
                  <a:txBody>
                    <a:bodyPr/>
                    <a:lstStyle/>
                    <a:p>
                      <a:r>
                        <a:rPr lang="en-US" sz="2400" kern="1200" baseline="0" dirty="0">
                          <a:solidFill>
                            <a:schemeClr val="dk1"/>
                          </a:solidFill>
                          <a:latin typeface="+mn-lt"/>
                          <a:ea typeface="+mn-ea"/>
                          <a:cs typeface="+mn-cs"/>
                        </a:rPr>
                        <a:t>12 – 25 mmHg </a:t>
                      </a:r>
                    </a:p>
                    <a:p>
                      <a:pPr marL="0" marR="0" indent="0" algn="l" defTabSz="914400" rtl="0" eaLnBrk="1" fontAlgn="auto" latinLnBrk="0" hangingPunct="1">
                        <a:lnSpc>
                          <a:spcPct val="100000"/>
                        </a:lnSpc>
                        <a:spcBef>
                          <a:spcPts val="0"/>
                        </a:spcBef>
                        <a:spcAft>
                          <a:spcPts val="0"/>
                        </a:spcAft>
                        <a:buClrTx/>
                        <a:buSzTx/>
                        <a:buFontTx/>
                        <a:buNone/>
                      </a:pPr>
                      <a:endParaRPr lang="en-US" sz="2400" kern="1200" baseline="0" dirty="0">
                        <a:solidFill>
                          <a:schemeClr val="dk1"/>
                        </a:solidFill>
                        <a:latin typeface="+mn-lt"/>
                        <a:ea typeface="+mn-ea"/>
                        <a:cs typeface="+mn-cs"/>
                      </a:endParaRPr>
                    </a:p>
                    <a:p>
                      <a:endParaRPr lang="en-US" sz="2400"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906786">
                <a:tc>
                  <a:txBody>
                    <a:bodyPr/>
                    <a:lstStyle/>
                    <a:p>
                      <a:r>
                        <a:rPr lang="en-US" sz="2400" dirty="0">
                          <a:solidFill>
                            <a:schemeClr val="tx1"/>
                          </a:solidFill>
                        </a:rPr>
                        <a:t>moderate</a:t>
                      </a:r>
                    </a:p>
                  </a:txBody>
                  <a:tcPr>
                    <a:lnR w="12700" cap="flat" cmpd="sng" algn="ctr">
                      <a:solidFill>
                        <a:schemeClr val="tx1"/>
                      </a:solidFill>
                      <a:prstDash val="solid"/>
                      <a:round/>
                      <a:headEnd type="none" w="med" len="med"/>
                      <a:tailEnd type="none" w="med" len="med"/>
                    </a:lnR>
                  </a:tcPr>
                </a:tc>
                <a:tc>
                  <a:txBody>
                    <a:bodyPr/>
                    <a:lstStyle/>
                    <a:p>
                      <a:r>
                        <a:rPr lang="en-US" sz="2400" dirty="0">
                          <a:solidFill>
                            <a:schemeClr val="tx1"/>
                          </a:solidFill>
                        </a:rPr>
                        <a:t>1–1.5 cm2</a:t>
                      </a:r>
                    </a:p>
                  </a:txBody>
                  <a:tcPr>
                    <a:lnL w="12700" cap="flat" cmpd="sng" algn="ctr">
                      <a:solidFill>
                        <a:schemeClr val="tx1"/>
                      </a:solidFill>
                      <a:prstDash val="solid"/>
                      <a:round/>
                      <a:headEnd type="none" w="med" len="med"/>
                      <a:tailEnd type="none" w="med" len="med"/>
                    </a:lnL>
                  </a:tcPr>
                </a:tc>
                <a:tc>
                  <a:txBody>
                    <a:bodyPr/>
                    <a:lstStyle/>
                    <a:p>
                      <a:pPr marL="0" marR="0" indent="0" algn="l" defTabSz="914400" rtl="0" eaLnBrk="1" fontAlgn="auto" latinLnBrk="0" hangingPunct="1">
                        <a:lnSpc>
                          <a:spcPct val="100000"/>
                        </a:lnSpc>
                        <a:spcBef>
                          <a:spcPts val="0"/>
                        </a:spcBef>
                        <a:spcAft>
                          <a:spcPts val="0"/>
                        </a:spcAft>
                        <a:buClrTx/>
                        <a:buSzTx/>
                        <a:buFontTx/>
                        <a:buNone/>
                      </a:pPr>
                      <a:r>
                        <a:rPr lang="en-US" sz="2400" kern="1200" baseline="0" dirty="0">
                          <a:solidFill>
                            <a:schemeClr val="dk1"/>
                          </a:solidFill>
                          <a:latin typeface="+mn-lt"/>
                          <a:ea typeface="+mn-ea"/>
                          <a:cs typeface="+mn-cs"/>
                        </a:rPr>
                        <a:t>Moderate</a:t>
                      </a:r>
                      <a:endParaRPr lang="en-US" sz="2400" dirty="0"/>
                    </a:p>
                  </a:txBody>
                  <a:tcPr>
                    <a:lnR w="12700" cap="flat" cmpd="sng" algn="ctr">
                      <a:solidFill>
                        <a:schemeClr val="tx1"/>
                      </a:solidFill>
                      <a:prstDash val="solid"/>
                      <a:round/>
                      <a:headEnd type="none" w="med" len="med"/>
                      <a:tailEnd type="none" w="med" len="med"/>
                    </a:lnR>
                  </a:tcPr>
                </a:tc>
                <a:tc>
                  <a:txBody>
                    <a:bodyPr/>
                    <a:lstStyle/>
                    <a:p>
                      <a:pPr marL="0" marR="0" indent="0" algn="l" defTabSz="914400" rtl="0" eaLnBrk="1" fontAlgn="auto" latinLnBrk="0" hangingPunct="1">
                        <a:lnSpc>
                          <a:spcPct val="100000"/>
                        </a:lnSpc>
                        <a:spcBef>
                          <a:spcPts val="0"/>
                        </a:spcBef>
                        <a:spcAft>
                          <a:spcPts val="0"/>
                        </a:spcAft>
                        <a:buClrTx/>
                        <a:buSzTx/>
                        <a:buFontTx/>
                        <a:buNone/>
                      </a:pPr>
                      <a:r>
                        <a:rPr lang="en-US" sz="2400" kern="1200" baseline="0" dirty="0">
                          <a:solidFill>
                            <a:schemeClr val="dk1"/>
                          </a:solidFill>
                          <a:latin typeface="+mn-lt"/>
                          <a:ea typeface="+mn-ea"/>
                          <a:cs typeface="+mn-cs"/>
                        </a:rPr>
                        <a:t>25 - 40 mmHg</a:t>
                      </a:r>
                      <a:endParaRPr lang="en-US" sz="2400" dirty="0"/>
                    </a:p>
                    <a:p>
                      <a:endParaRPr lang="en-US" sz="2400"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906899">
                <a:tc>
                  <a:txBody>
                    <a:bodyPr/>
                    <a:lstStyle/>
                    <a:p>
                      <a:r>
                        <a:rPr lang="en-US" sz="2400" dirty="0"/>
                        <a:t>severe </a:t>
                      </a:r>
                    </a:p>
                  </a:txBody>
                  <a:tcPr>
                    <a:lnR w="12700" cap="flat" cmpd="sng" algn="ctr">
                      <a:solidFill>
                        <a:schemeClr val="tx1"/>
                      </a:solidFill>
                      <a:prstDash val="solid"/>
                      <a:round/>
                      <a:headEnd type="none" w="med" len="med"/>
                      <a:tailEnd type="none" w="med" len="med"/>
                    </a:lnR>
                  </a:tcPr>
                </a:tc>
                <a:tc>
                  <a:txBody>
                    <a:bodyPr/>
                    <a:lstStyle/>
                    <a:p>
                      <a:r>
                        <a:rPr lang="en-US" sz="2400" dirty="0">
                          <a:solidFill>
                            <a:schemeClr val="tx1"/>
                          </a:solidFill>
                        </a:rPr>
                        <a:t>&lt;1 cm2</a:t>
                      </a:r>
                      <a:endParaRPr lang="en-US" sz="2400" dirty="0"/>
                    </a:p>
                  </a:txBody>
                  <a:tcPr>
                    <a:lnL w="12700" cap="flat" cmpd="sng" algn="ctr">
                      <a:solidFill>
                        <a:schemeClr val="tx1"/>
                      </a:solidFill>
                      <a:prstDash val="solid"/>
                      <a:round/>
                      <a:headEnd type="none" w="med" len="med"/>
                      <a:tailEnd type="none" w="med" len="med"/>
                    </a:lnL>
                  </a:tcPr>
                </a:tc>
                <a:tc>
                  <a:txBody>
                    <a:bodyPr/>
                    <a:lstStyle/>
                    <a:p>
                      <a:pPr marL="0" marR="0" indent="0" algn="l" defTabSz="914400" rtl="0" eaLnBrk="1" fontAlgn="auto" latinLnBrk="0" hangingPunct="1">
                        <a:lnSpc>
                          <a:spcPct val="100000"/>
                        </a:lnSpc>
                        <a:spcBef>
                          <a:spcPts val="0"/>
                        </a:spcBef>
                        <a:spcAft>
                          <a:spcPts val="0"/>
                        </a:spcAft>
                        <a:buClrTx/>
                        <a:buSzTx/>
                        <a:buFontTx/>
                        <a:buNone/>
                      </a:pPr>
                      <a:r>
                        <a:rPr lang="en-US" sz="2400" kern="1200" baseline="0">
                          <a:solidFill>
                            <a:schemeClr val="dk1"/>
                          </a:solidFill>
                          <a:latin typeface="+mn-lt"/>
                          <a:ea typeface="+mn-ea"/>
                          <a:cs typeface="+mn-cs"/>
                        </a:rPr>
                        <a:t>Significant</a:t>
                      </a:r>
                    </a:p>
                    <a:p>
                      <a:endParaRPr lang="en-US" sz="2400" dirty="0"/>
                    </a:p>
                  </a:txBody>
                  <a:tcPr>
                    <a:lnR w="12700" cap="flat" cmpd="sng" algn="ctr">
                      <a:solidFill>
                        <a:schemeClr val="tx1"/>
                      </a:solidFill>
                      <a:prstDash val="solid"/>
                      <a:round/>
                      <a:headEnd type="none" w="med" len="med"/>
                      <a:tailEnd type="none" w="med" len="med"/>
                    </a:lnR>
                  </a:tcPr>
                </a:tc>
                <a:tc>
                  <a:txBody>
                    <a:bodyPr/>
                    <a:lstStyle/>
                    <a:p>
                      <a:r>
                        <a:rPr lang="en-US" sz="2400" dirty="0"/>
                        <a:t>40-50 </a:t>
                      </a:r>
                      <a:r>
                        <a:rPr lang="en-US" sz="2400" dirty="0" err="1"/>
                        <a:t>mmhg</a:t>
                      </a:r>
                      <a:endParaRPr lang="en-US" sz="2400"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r h="777133">
                <a:tc>
                  <a:txBody>
                    <a:bodyPr/>
                    <a:lstStyle/>
                    <a:p>
                      <a:endParaRPr lang="en-US" sz="2400" dirty="0"/>
                    </a:p>
                  </a:txBody>
                  <a:tcPr>
                    <a:lnR w="12700" cap="flat" cmpd="sng" algn="ctr">
                      <a:solidFill>
                        <a:schemeClr val="tx1"/>
                      </a:solidFill>
                      <a:prstDash val="solid"/>
                      <a:round/>
                      <a:headEnd type="none" w="med" len="med"/>
                      <a:tailEnd type="none" w="med" len="med"/>
                    </a:lnR>
                  </a:tcPr>
                </a:tc>
                <a:tc>
                  <a:txBody>
                    <a:bodyPr/>
                    <a:lstStyle/>
                    <a:p>
                      <a:endParaRPr lang="en-US" sz="2400" dirty="0"/>
                    </a:p>
                  </a:txBody>
                  <a:tcPr>
                    <a:lnL w="12700" cap="flat" cmpd="sng" algn="ctr">
                      <a:solidFill>
                        <a:schemeClr val="tx1"/>
                      </a:solidFill>
                      <a:prstDash val="solid"/>
                      <a:round/>
                      <a:headEnd type="none" w="med" len="med"/>
                      <a:tailEnd type="none" w="med" len="med"/>
                    </a:lnL>
                  </a:tcPr>
                </a:tc>
                <a:tc>
                  <a:txBody>
                    <a:bodyPr/>
                    <a:lstStyle/>
                    <a:p>
                      <a:r>
                        <a:rPr lang="en-US" sz="2400" kern="1200" baseline="0">
                          <a:solidFill>
                            <a:schemeClr val="dk1"/>
                          </a:solidFill>
                          <a:latin typeface="+mn-lt"/>
                          <a:ea typeface="+mn-ea"/>
                          <a:cs typeface="+mn-cs"/>
                        </a:rPr>
                        <a:t>Critical</a:t>
                      </a:r>
                      <a:endParaRPr lang="en-US" sz="2400" dirty="0"/>
                    </a:p>
                  </a:txBody>
                  <a:tcPr>
                    <a:lnR w="12700" cap="flat" cmpd="sng" algn="ctr">
                      <a:solidFill>
                        <a:schemeClr val="tx1"/>
                      </a:solidFill>
                      <a:prstDash val="solid"/>
                      <a:round/>
                      <a:headEnd type="none" w="med" len="med"/>
                      <a:tailEnd type="none" w="med" len="med"/>
                    </a:lnR>
                  </a:tcPr>
                </a:tc>
                <a:tc>
                  <a:txBody>
                    <a:bodyPr/>
                    <a:lstStyle/>
                    <a:p>
                      <a:r>
                        <a:rPr lang="en-US" sz="2400" kern="1200" baseline="0" dirty="0">
                          <a:solidFill>
                            <a:schemeClr val="dk1"/>
                          </a:solidFill>
                          <a:latin typeface="+mn-lt"/>
                          <a:ea typeface="+mn-ea"/>
                          <a:cs typeface="+mn-cs"/>
                        </a:rPr>
                        <a:t>&gt; 50 mmHg </a:t>
                      </a:r>
                      <a:endParaRPr lang="en-US" sz="2400"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4"/>
                  </a:ext>
                </a:extLst>
              </a:tr>
            </a:tbl>
          </a:graphicData>
        </a:graphic>
      </p:graphicFrame>
      <p:sp>
        <p:nvSpPr>
          <p:cNvPr id="1048732" name="Date Placeholder 3"/>
          <p:cNvSpPr>
            <a:spLocks noGrp="1"/>
          </p:cNvSpPr>
          <p:nvPr>
            <p:ph type="dt" sz="half" idx="10"/>
          </p:nvPr>
        </p:nvSpPr>
        <p:spPr/>
        <p:txBody>
          <a:bodyPr/>
          <a:lstStyle/>
          <a:p>
            <a:fld id="{9B3BD3FA-3B7C-4112-9DB2-DFE23BBA16A5}" type="datetime1">
              <a:rPr lang="en-US" smtClean="0"/>
              <a:t>8/9/2021</a:t>
            </a:fld>
            <a:endParaRPr lang="en-US"/>
          </a:p>
        </p:txBody>
      </p:sp>
      <p:sp>
        <p:nvSpPr>
          <p:cNvPr id="1048733" name="Footer Placeholder 4"/>
          <p:cNvSpPr>
            <a:spLocks noGrp="1"/>
          </p:cNvSpPr>
          <p:nvPr>
            <p:ph type="ftr" sz="quarter" idx="11"/>
          </p:nvPr>
        </p:nvSpPr>
        <p:spPr/>
        <p:txBody>
          <a:bodyPr/>
          <a:lstStyle/>
          <a:p>
            <a:r>
              <a:rPr lang="en-US"/>
              <a:t>Anesthesia for VHD </a:t>
            </a:r>
          </a:p>
        </p:txBody>
      </p:sp>
      <p:sp>
        <p:nvSpPr>
          <p:cNvPr id="1048734" name="Slide Number Placeholder 5"/>
          <p:cNvSpPr>
            <a:spLocks noGrp="1"/>
          </p:cNvSpPr>
          <p:nvPr>
            <p:ph type="sldNum" sz="quarter" idx="12"/>
          </p:nvPr>
        </p:nvSpPr>
        <p:spPr/>
        <p:txBody>
          <a:bodyPr/>
          <a:lstStyle/>
          <a:p>
            <a:fld id="{124970EB-A8C4-40D2-AF81-C6C16288290E}" type="slidenum">
              <a:rPr lang="en-US" smtClean="0"/>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5" name="Title 1"/>
          <p:cNvSpPr>
            <a:spLocks noGrp="1"/>
          </p:cNvSpPr>
          <p:nvPr>
            <p:ph type="title"/>
          </p:nvPr>
        </p:nvSpPr>
        <p:spPr>
          <a:xfrm>
            <a:off x="457200" y="274638"/>
            <a:ext cx="8229600" cy="715962"/>
          </a:xfrm>
        </p:spPr>
        <p:txBody>
          <a:bodyPr>
            <a:normAutofit fontScale="90000"/>
          </a:bodyPr>
          <a:lstStyle/>
          <a:p>
            <a:r>
              <a:rPr lang="en-US" dirty="0"/>
              <a:t>Cont…</a:t>
            </a:r>
          </a:p>
        </p:txBody>
      </p:sp>
      <p:sp>
        <p:nvSpPr>
          <p:cNvPr id="1048736" name="Content Placeholder 2"/>
          <p:cNvSpPr>
            <a:spLocks noGrp="1"/>
          </p:cNvSpPr>
          <p:nvPr>
            <p:ph idx="1"/>
          </p:nvPr>
        </p:nvSpPr>
        <p:spPr>
          <a:xfrm>
            <a:off x="152400" y="1066800"/>
            <a:ext cx="8839200" cy="5333999"/>
          </a:xfrm>
        </p:spPr>
        <p:txBody>
          <a:bodyPr>
            <a:normAutofit fontScale="96875"/>
          </a:bodyPr>
          <a:lstStyle/>
          <a:p>
            <a:pPr>
              <a:buBlip>
                <a:blip r:embed="rId2"/>
              </a:buBlip>
            </a:pPr>
            <a:r>
              <a:rPr lang="en-US" dirty="0"/>
              <a:t>The increased perioperative risk during noncardiac surgery in patients with severe AS face a </a:t>
            </a:r>
            <a:r>
              <a:rPr lang="en-US" i="1" dirty="0">
                <a:solidFill>
                  <a:srgbClr val="FF0000"/>
                </a:solidFill>
                <a:effectLst>
                  <a:outerShdw blurRad="38100" dist="38100" dir="2700000" algn="tl">
                    <a:srgbClr val="000000">
                      <a:alpha val="43137"/>
                    </a:srgbClr>
                  </a:outerShdw>
                </a:effectLst>
              </a:rPr>
              <a:t>17.3%</a:t>
            </a:r>
            <a:r>
              <a:rPr lang="en-US" dirty="0"/>
              <a:t> risk of cardiac complications and a </a:t>
            </a:r>
            <a:r>
              <a:rPr lang="en-US" i="1" dirty="0">
                <a:solidFill>
                  <a:srgbClr val="FF0000"/>
                </a:solidFill>
                <a:effectLst>
                  <a:outerShdw blurRad="38100" dist="38100" dir="2700000" algn="tl">
                    <a:srgbClr val="000000">
                      <a:alpha val="43137"/>
                    </a:srgbClr>
                  </a:outerShdw>
                </a:effectLst>
              </a:rPr>
              <a:t>13%</a:t>
            </a:r>
            <a:r>
              <a:rPr lang="en-US" dirty="0">
                <a:solidFill>
                  <a:srgbClr val="FF0000"/>
                </a:solidFill>
                <a:effectLst>
                  <a:outerShdw blurRad="38100" dist="38100" dir="2700000" algn="tl">
                    <a:srgbClr val="000000">
                      <a:alpha val="43137"/>
                    </a:srgbClr>
                  </a:outerShdw>
                </a:effectLst>
              </a:rPr>
              <a:t> </a:t>
            </a:r>
            <a:r>
              <a:rPr lang="en-US" dirty="0"/>
              <a:t>mortality rate during noncardiac surgery. </a:t>
            </a:r>
            <a:r>
              <a:rPr lang="en-US" b="1" i="1" dirty="0">
                <a:solidFill>
                  <a:srgbClr val="FF0000"/>
                </a:solidFill>
              </a:rPr>
              <a:t>( 2007,Stewart et al and </a:t>
            </a:r>
            <a:r>
              <a:rPr lang="en-US" b="1" i="1" dirty="0" err="1">
                <a:solidFill>
                  <a:srgbClr val="FF0000"/>
                </a:solidFill>
              </a:rPr>
              <a:t>Lindroos</a:t>
            </a:r>
            <a:r>
              <a:rPr lang="en-US" b="1" i="1" dirty="0">
                <a:solidFill>
                  <a:srgbClr val="FF0000"/>
                </a:solidFill>
              </a:rPr>
              <a:t> et al 2003)</a:t>
            </a:r>
          </a:p>
          <a:p>
            <a:pPr>
              <a:buBlip>
                <a:blip r:embed="rId2"/>
              </a:buBlip>
            </a:pPr>
            <a:r>
              <a:rPr lang="en-US" dirty="0"/>
              <a:t>In a retrospective cohort </a:t>
            </a:r>
            <a:r>
              <a:rPr lang="en-US" dirty="0" err="1"/>
              <a:t>perioperative</a:t>
            </a:r>
            <a:r>
              <a:rPr lang="en-US" dirty="0"/>
              <a:t> mortality and nonfatal myocardial infarction was more common in patients with aortic </a:t>
            </a:r>
            <a:r>
              <a:rPr lang="en-US" dirty="0" err="1"/>
              <a:t>stenosis</a:t>
            </a:r>
            <a:r>
              <a:rPr lang="en-US" dirty="0"/>
              <a:t> than in those without it (14% </a:t>
            </a:r>
            <a:r>
              <a:rPr lang="en-US" dirty="0" err="1"/>
              <a:t>vs</a:t>
            </a:r>
            <a:r>
              <a:rPr lang="en-US" dirty="0"/>
              <a:t> 2%,respectively).</a:t>
            </a:r>
            <a:r>
              <a:rPr lang="en-US" b="1" i="1" dirty="0">
                <a:solidFill>
                  <a:srgbClr val="FF0000"/>
                </a:solidFill>
              </a:rPr>
              <a:t>(</a:t>
            </a:r>
            <a:r>
              <a:rPr lang="en-US" i="1" dirty="0" err="1">
                <a:solidFill>
                  <a:srgbClr val="FF0000"/>
                </a:solidFill>
              </a:rPr>
              <a:t>Kertai</a:t>
            </a:r>
            <a:r>
              <a:rPr lang="en-US" i="1" dirty="0">
                <a:solidFill>
                  <a:srgbClr val="FF0000"/>
                </a:solidFill>
              </a:rPr>
              <a:t> MD et al. 2004, Pub med )</a:t>
            </a:r>
            <a:endParaRPr lang="en-US" b="1" i="1" dirty="0">
              <a:solidFill>
                <a:srgbClr val="FF0000"/>
              </a:solidFill>
            </a:endParaRPr>
          </a:p>
        </p:txBody>
      </p:sp>
      <p:sp>
        <p:nvSpPr>
          <p:cNvPr id="1048737" name="Date Placeholder 3"/>
          <p:cNvSpPr>
            <a:spLocks noGrp="1"/>
          </p:cNvSpPr>
          <p:nvPr>
            <p:ph type="dt" sz="half" idx="10"/>
          </p:nvPr>
        </p:nvSpPr>
        <p:spPr/>
        <p:txBody>
          <a:bodyPr/>
          <a:lstStyle/>
          <a:p>
            <a:fld id="{E18BE382-54F6-4E5B-B65E-BDD46274854B}" type="datetime1">
              <a:rPr lang="en-US" smtClean="0"/>
              <a:t>8/9/2021</a:t>
            </a:fld>
            <a:endParaRPr lang="en-US"/>
          </a:p>
        </p:txBody>
      </p:sp>
      <p:sp>
        <p:nvSpPr>
          <p:cNvPr id="1048738" name="Footer Placeholder 4"/>
          <p:cNvSpPr>
            <a:spLocks noGrp="1"/>
          </p:cNvSpPr>
          <p:nvPr>
            <p:ph type="ftr" sz="quarter" idx="11"/>
          </p:nvPr>
        </p:nvSpPr>
        <p:spPr/>
        <p:txBody>
          <a:bodyPr/>
          <a:lstStyle/>
          <a:p>
            <a:r>
              <a:rPr lang="en-US"/>
              <a:t>Anesthesia for VHD </a:t>
            </a:r>
          </a:p>
        </p:txBody>
      </p:sp>
      <p:sp>
        <p:nvSpPr>
          <p:cNvPr id="1048739" name="Slide Number Placeholder 5"/>
          <p:cNvSpPr>
            <a:spLocks noGrp="1"/>
          </p:cNvSpPr>
          <p:nvPr>
            <p:ph type="sldNum" sz="quarter" idx="12"/>
          </p:nvPr>
        </p:nvSpPr>
        <p:spPr/>
        <p:txBody>
          <a:bodyPr/>
          <a:lstStyle/>
          <a:p>
            <a:fld id="{124970EB-A8C4-40D2-AF81-C6C16288290E}" type="slidenum">
              <a:rPr lang="en-US" smtClean="0"/>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0" name="Title 1"/>
          <p:cNvSpPr>
            <a:spLocks noGrp="1"/>
          </p:cNvSpPr>
          <p:nvPr>
            <p:ph type="title"/>
          </p:nvPr>
        </p:nvSpPr>
        <p:spPr>
          <a:xfrm>
            <a:off x="457200" y="274638"/>
            <a:ext cx="8229600" cy="944562"/>
          </a:xfrm>
        </p:spPr>
        <p:txBody>
          <a:bodyPr>
            <a:normAutofit/>
          </a:bodyPr>
          <a:lstStyle/>
          <a:p>
            <a:r>
              <a:rPr lang="en-US" sz="3200" b="1" dirty="0"/>
              <a:t>ETIOLOGY AND PATHOGENESIS</a:t>
            </a:r>
          </a:p>
        </p:txBody>
      </p:sp>
      <p:sp>
        <p:nvSpPr>
          <p:cNvPr id="1048741" name="Content Placeholder 2"/>
          <p:cNvSpPr>
            <a:spLocks noGrp="1"/>
          </p:cNvSpPr>
          <p:nvPr>
            <p:ph idx="1"/>
          </p:nvPr>
        </p:nvSpPr>
        <p:spPr>
          <a:xfrm>
            <a:off x="228600" y="1371600"/>
            <a:ext cx="8686800" cy="5257800"/>
          </a:xfrm>
        </p:spPr>
        <p:txBody>
          <a:bodyPr>
            <a:normAutofit fontScale="93333"/>
          </a:bodyPr>
          <a:lstStyle/>
          <a:p>
            <a:pPr>
              <a:buBlip>
                <a:blip r:embed="rId2"/>
              </a:buBlip>
            </a:pPr>
            <a:r>
              <a:rPr lang="en-US" b="1" dirty="0"/>
              <a:t>Etiology:</a:t>
            </a:r>
            <a:r>
              <a:rPr lang="en-US" dirty="0"/>
              <a:t> </a:t>
            </a:r>
          </a:p>
          <a:p>
            <a:pPr lvl="2">
              <a:lnSpc>
                <a:spcPct val="150000"/>
              </a:lnSpc>
              <a:buBlip>
                <a:blip r:embed="rId3"/>
              </a:buBlip>
            </a:pPr>
            <a:r>
              <a:rPr lang="en-US" dirty="0"/>
              <a:t> </a:t>
            </a:r>
            <a:r>
              <a:rPr lang="en-US" sz="3300" dirty="0"/>
              <a:t>degenerative and calcification of the aortic cusps (</a:t>
            </a:r>
            <a:r>
              <a:rPr lang="en-US" sz="3300" dirty="0">
                <a:solidFill>
                  <a:schemeClr val="accent2"/>
                </a:solidFill>
              </a:rPr>
              <a:t>in adult</a:t>
            </a:r>
            <a:r>
              <a:rPr lang="en-US" sz="3300" dirty="0"/>
              <a:t>)</a:t>
            </a:r>
          </a:p>
          <a:p>
            <a:pPr lvl="2">
              <a:lnSpc>
                <a:spcPct val="150000"/>
              </a:lnSpc>
              <a:buBlip>
                <a:blip r:embed="rId3"/>
              </a:buBlip>
            </a:pPr>
            <a:r>
              <a:rPr lang="en-US" sz="3300" dirty="0"/>
              <a:t>   congenital  (bicuspid aortic valve( </a:t>
            </a:r>
            <a:r>
              <a:rPr lang="en-US" sz="3300" dirty="0">
                <a:solidFill>
                  <a:schemeClr val="accent2"/>
                </a:solidFill>
              </a:rPr>
              <a:t>most common </a:t>
            </a:r>
            <a:r>
              <a:rPr lang="en-US" sz="3300" dirty="0"/>
              <a:t>),</a:t>
            </a:r>
            <a:r>
              <a:rPr lang="en-US" sz="3300" dirty="0" err="1"/>
              <a:t>unicuspid</a:t>
            </a:r>
            <a:r>
              <a:rPr lang="en-US" sz="3300" dirty="0"/>
              <a:t> )</a:t>
            </a:r>
          </a:p>
          <a:p>
            <a:pPr lvl="2">
              <a:lnSpc>
                <a:spcPct val="150000"/>
              </a:lnSpc>
              <a:buBlip>
                <a:blip r:embed="rId3"/>
              </a:buBlip>
            </a:pPr>
            <a:r>
              <a:rPr lang="en-US" sz="3300" dirty="0"/>
              <a:t>chronic (</a:t>
            </a:r>
            <a:r>
              <a:rPr lang="en-US" sz="3300" dirty="0" err="1"/>
              <a:t>trileaflet</a:t>
            </a:r>
            <a:r>
              <a:rPr lang="en-US" sz="3300" dirty="0"/>
              <a:t>) deterioration</a:t>
            </a:r>
          </a:p>
          <a:p>
            <a:pPr lvl="2">
              <a:lnSpc>
                <a:spcPct val="150000"/>
              </a:lnSpc>
              <a:buBlip>
                <a:blip r:embed="rId3"/>
              </a:buBlip>
            </a:pPr>
            <a:r>
              <a:rPr lang="en-US" sz="3300" dirty="0"/>
              <a:t> previous rheumatic inflammation</a:t>
            </a:r>
            <a:r>
              <a:rPr lang="en-US" sz="3200" dirty="0"/>
              <a:t>.</a:t>
            </a:r>
          </a:p>
        </p:txBody>
      </p:sp>
      <p:sp>
        <p:nvSpPr>
          <p:cNvPr id="1048742" name="Date Placeholder 3"/>
          <p:cNvSpPr>
            <a:spLocks noGrp="1"/>
          </p:cNvSpPr>
          <p:nvPr>
            <p:ph type="dt" sz="half" idx="10"/>
          </p:nvPr>
        </p:nvSpPr>
        <p:spPr/>
        <p:txBody>
          <a:bodyPr/>
          <a:lstStyle/>
          <a:p>
            <a:fld id="{1A605B88-AA38-4868-BFFB-4571D66D6812}" type="datetime1">
              <a:rPr lang="en-US" smtClean="0"/>
              <a:t>8/9/2021</a:t>
            </a:fld>
            <a:endParaRPr lang="en-US"/>
          </a:p>
        </p:txBody>
      </p:sp>
      <p:sp>
        <p:nvSpPr>
          <p:cNvPr id="1048743" name="Slide Number Placeholder 4"/>
          <p:cNvSpPr>
            <a:spLocks noGrp="1"/>
          </p:cNvSpPr>
          <p:nvPr>
            <p:ph type="sldNum" sz="quarter" idx="12"/>
          </p:nvPr>
        </p:nvSpPr>
        <p:spPr/>
        <p:txBody>
          <a:bodyPr/>
          <a:lstStyle/>
          <a:p>
            <a:fld id="{124970EB-A8C4-40D2-AF81-C6C16288290E}" type="slidenum">
              <a:rPr lang="en-US" smtClean="0"/>
              <a:pPr/>
              <a:t>30</a:t>
            </a:fld>
            <a:endParaRPr lang="en-US"/>
          </a:p>
        </p:txBody>
      </p:sp>
      <p:sp>
        <p:nvSpPr>
          <p:cNvPr id="1048744"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5" name="Title 1"/>
          <p:cNvSpPr>
            <a:spLocks noGrp="1"/>
          </p:cNvSpPr>
          <p:nvPr>
            <p:ph type="title"/>
          </p:nvPr>
        </p:nvSpPr>
        <p:spPr>
          <a:xfrm>
            <a:off x="457200" y="274638"/>
            <a:ext cx="8229600" cy="792162"/>
          </a:xfrm>
        </p:spPr>
        <p:txBody>
          <a:bodyPr>
            <a:normAutofit/>
          </a:bodyPr>
          <a:lstStyle/>
          <a:p>
            <a:r>
              <a:rPr lang="en-US" sz="3600" b="1" dirty="0"/>
              <a:t>PATHOPHYSIOLOGY</a:t>
            </a:r>
          </a:p>
        </p:txBody>
      </p:sp>
      <p:pic>
        <p:nvPicPr>
          <p:cNvPr id="2097166" name="Picture 2"/>
          <p:cNvPicPr>
            <a:picLocks noGrp="1" noChangeAspect="1" noChangeArrowheads="1"/>
          </p:cNvPicPr>
          <p:nvPr>
            <p:ph idx="1"/>
          </p:nvPr>
        </p:nvPicPr>
        <p:blipFill>
          <a:blip r:embed="rId3"/>
          <a:srcRect/>
          <a:stretch>
            <a:fillRect/>
          </a:stretch>
        </p:blipFill>
        <p:spPr bwMode="auto">
          <a:xfrm>
            <a:off x="228601" y="983343"/>
            <a:ext cx="8628184" cy="5341257"/>
          </a:xfrm>
          <a:prstGeom prst="rect">
            <a:avLst/>
          </a:prstGeom>
          <a:noFill/>
          <a:ln w="9525">
            <a:noFill/>
            <a:miter lim="800000"/>
            <a:headEnd/>
            <a:tailEnd/>
          </a:ln>
          <a:effectLst/>
        </p:spPr>
      </p:pic>
      <p:sp>
        <p:nvSpPr>
          <p:cNvPr id="1048746" name="Date Placeholder 3"/>
          <p:cNvSpPr>
            <a:spLocks noGrp="1"/>
          </p:cNvSpPr>
          <p:nvPr>
            <p:ph type="dt" sz="half" idx="10"/>
          </p:nvPr>
        </p:nvSpPr>
        <p:spPr/>
        <p:txBody>
          <a:bodyPr/>
          <a:lstStyle/>
          <a:p>
            <a:fld id="{B0DB8716-6F8A-4CEB-B8AF-D620FA8548BB}" type="datetime1">
              <a:rPr lang="en-US" smtClean="0"/>
              <a:t>8/9/2021</a:t>
            </a:fld>
            <a:endParaRPr lang="en-US"/>
          </a:p>
        </p:txBody>
      </p:sp>
      <p:sp>
        <p:nvSpPr>
          <p:cNvPr id="1048747" name="Slide Number Placeholder 4"/>
          <p:cNvSpPr>
            <a:spLocks noGrp="1"/>
          </p:cNvSpPr>
          <p:nvPr>
            <p:ph type="sldNum" sz="quarter" idx="12"/>
          </p:nvPr>
        </p:nvSpPr>
        <p:spPr/>
        <p:txBody>
          <a:bodyPr/>
          <a:lstStyle/>
          <a:p>
            <a:fld id="{124970EB-A8C4-40D2-AF81-C6C16288290E}" type="slidenum">
              <a:rPr lang="en-US" smtClean="0"/>
              <a:pPr/>
              <a:t>31</a:t>
            </a:fld>
            <a:endParaRPr lang="en-US"/>
          </a:p>
        </p:txBody>
      </p:sp>
      <p:sp>
        <p:nvSpPr>
          <p:cNvPr id="1048748"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2" name="Title 1"/>
          <p:cNvSpPr>
            <a:spLocks noGrp="1"/>
          </p:cNvSpPr>
          <p:nvPr>
            <p:ph type="title"/>
          </p:nvPr>
        </p:nvSpPr>
        <p:spPr/>
        <p:txBody>
          <a:bodyPr/>
          <a:lstStyle/>
          <a:p>
            <a:r>
              <a:rPr lang="en-US" dirty="0"/>
              <a:t>Cont…</a:t>
            </a:r>
          </a:p>
        </p:txBody>
      </p:sp>
      <p:sp>
        <p:nvSpPr>
          <p:cNvPr id="1048753" name="Date Placeholder 3"/>
          <p:cNvSpPr>
            <a:spLocks noGrp="1"/>
          </p:cNvSpPr>
          <p:nvPr>
            <p:ph type="dt" sz="half" idx="10"/>
          </p:nvPr>
        </p:nvSpPr>
        <p:spPr/>
        <p:txBody>
          <a:bodyPr/>
          <a:lstStyle/>
          <a:p>
            <a:fld id="{EBC3CA84-37E5-4BA9-9399-734E24ACB0AB}" type="datetime1">
              <a:rPr lang="en-US" smtClean="0"/>
              <a:t>8/9/2021</a:t>
            </a:fld>
            <a:endParaRPr lang="en-US"/>
          </a:p>
        </p:txBody>
      </p:sp>
      <p:sp>
        <p:nvSpPr>
          <p:cNvPr id="1048754" name="Footer Placeholder 4"/>
          <p:cNvSpPr>
            <a:spLocks noGrp="1"/>
          </p:cNvSpPr>
          <p:nvPr>
            <p:ph type="ftr" sz="quarter" idx="11"/>
          </p:nvPr>
        </p:nvSpPr>
        <p:spPr/>
        <p:txBody>
          <a:bodyPr/>
          <a:lstStyle/>
          <a:p>
            <a:r>
              <a:rPr lang="en-US"/>
              <a:t>Anesthesia for VHD </a:t>
            </a:r>
          </a:p>
        </p:txBody>
      </p:sp>
      <p:sp>
        <p:nvSpPr>
          <p:cNvPr id="1048755" name="Slide Number Placeholder 5"/>
          <p:cNvSpPr>
            <a:spLocks noGrp="1"/>
          </p:cNvSpPr>
          <p:nvPr>
            <p:ph type="sldNum" sz="quarter" idx="12"/>
          </p:nvPr>
        </p:nvSpPr>
        <p:spPr/>
        <p:txBody>
          <a:bodyPr/>
          <a:lstStyle/>
          <a:p>
            <a:fld id="{124970EB-A8C4-40D2-AF81-C6C16288290E}" type="slidenum">
              <a:rPr lang="en-US" smtClean="0"/>
              <a:pPr/>
              <a:t>32</a:t>
            </a:fld>
            <a:endParaRPr lang="en-US"/>
          </a:p>
        </p:txBody>
      </p:sp>
      <p:pic>
        <p:nvPicPr>
          <p:cNvPr id="2097167" name="Content Placeholder 3" descr="Aortic Stenosis-2"/>
          <p:cNvPicPr>
            <a:picLocks noGrp="1" noChangeAspect="1" noChangeArrowheads="1"/>
          </p:cNvPicPr>
          <p:nvPr>
            <p:ph idx="1"/>
          </p:nvPr>
        </p:nvPicPr>
        <p:blipFill>
          <a:blip r:embed="rId2"/>
          <a:srcRect/>
          <a:stretch>
            <a:fillRect/>
          </a:stretch>
        </p:blipFill>
        <p:spPr>
          <a:xfrm>
            <a:off x="457200" y="1752600"/>
            <a:ext cx="2895600" cy="3733800"/>
          </a:xfrm>
          <a:noFill/>
        </p:spPr>
      </p:pic>
      <p:pic>
        <p:nvPicPr>
          <p:cNvPr id="2097168" name="Picture 2"/>
          <p:cNvPicPr>
            <a:picLocks noChangeAspect="1" noChangeArrowheads="1"/>
          </p:cNvPicPr>
          <p:nvPr/>
        </p:nvPicPr>
        <p:blipFill>
          <a:blip r:embed="rId3"/>
          <a:srcRect/>
          <a:stretch>
            <a:fillRect/>
          </a:stretch>
        </p:blipFill>
        <p:spPr bwMode="auto">
          <a:xfrm>
            <a:off x="3200400" y="1600200"/>
            <a:ext cx="5715000" cy="4648200"/>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6" name="Title 1"/>
          <p:cNvSpPr>
            <a:spLocks noGrp="1"/>
          </p:cNvSpPr>
          <p:nvPr>
            <p:ph type="title"/>
          </p:nvPr>
        </p:nvSpPr>
        <p:spPr>
          <a:xfrm>
            <a:off x="457200" y="274638"/>
            <a:ext cx="8229600" cy="715962"/>
          </a:xfrm>
        </p:spPr>
        <p:txBody>
          <a:bodyPr>
            <a:normAutofit fontScale="90000"/>
          </a:bodyPr>
          <a:lstStyle/>
          <a:p>
            <a:r>
              <a:rPr lang="en-US" dirty="0"/>
              <a:t>Cont…</a:t>
            </a:r>
          </a:p>
        </p:txBody>
      </p:sp>
      <p:sp>
        <p:nvSpPr>
          <p:cNvPr id="1048757" name="Content Placeholder 2"/>
          <p:cNvSpPr>
            <a:spLocks noGrp="1"/>
          </p:cNvSpPr>
          <p:nvPr>
            <p:ph idx="1"/>
          </p:nvPr>
        </p:nvSpPr>
        <p:spPr>
          <a:xfrm>
            <a:off x="228600" y="1066800"/>
            <a:ext cx="8763000" cy="5562600"/>
          </a:xfrm>
        </p:spPr>
        <p:txBody>
          <a:bodyPr>
            <a:normAutofit fontScale="96429"/>
          </a:bodyPr>
          <a:lstStyle/>
          <a:p>
            <a:pPr>
              <a:lnSpc>
                <a:spcPct val="150000"/>
              </a:lnSpc>
              <a:buBlip>
                <a:blip r:embed="rId3"/>
              </a:buBlip>
            </a:pPr>
            <a:r>
              <a:rPr lang="en-US" dirty="0"/>
              <a:t>The classic </a:t>
            </a:r>
            <a:r>
              <a:rPr lang="en-US" dirty="0">
                <a:solidFill>
                  <a:schemeClr val="accent2"/>
                </a:solidFill>
              </a:rPr>
              <a:t>symptoms</a:t>
            </a:r>
            <a:r>
              <a:rPr lang="en-US" dirty="0"/>
              <a:t> of AS </a:t>
            </a:r>
          </a:p>
          <a:p>
            <a:pPr lvl="3">
              <a:lnSpc>
                <a:spcPct val="150000"/>
              </a:lnSpc>
            </a:pPr>
            <a:r>
              <a:rPr lang="en-US" sz="3200" dirty="0"/>
              <a:t> </a:t>
            </a:r>
            <a:r>
              <a:rPr lang="en-US" sz="3200" dirty="0">
                <a:solidFill>
                  <a:schemeClr val="accent2"/>
                </a:solidFill>
              </a:rPr>
              <a:t>angina</a:t>
            </a:r>
            <a:r>
              <a:rPr lang="en-US" sz="3200" dirty="0"/>
              <a:t> (35%), </a:t>
            </a:r>
            <a:r>
              <a:rPr lang="en-US" sz="3200" dirty="0">
                <a:solidFill>
                  <a:schemeClr val="accent2"/>
                </a:solidFill>
              </a:rPr>
              <a:t>syncope</a:t>
            </a:r>
            <a:r>
              <a:rPr lang="en-US" sz="3200" dirty="0"/>
              <a:t> (15%), and </a:t>
            </a:r>
            <a:r>
              <a:rPr lang="en-US" sz="3200" dirty="0" err="1"/>
              <a:t>exertional</a:t>
            </a:r>
            <a:r>
              <a:rPr lang="en-US" sz="3200" dirty="0"/>
              <a:t> </a:t>
            </a:r>
            <a:r>
              <a:rPr lang="en-US" sz="3200" dirty="0" err="1">
                <a:solidFill>
                  <a:schemeClr val="accent2"/>
                </a:solidFill>
              </a:rPr>
              <a:t>dyspnea</a:t>
            </a:r>
            <a:r>
              <a:rPr lang="en-US" sz="3200" dirty="0"/>
              <a:t> (50%)</a:t>
            </a:r>
          </a:p>
          <a:p>
            <a:pPr lvl="3">
              <a:lnSpc>
                <a:spcPct val="150000"/>
              </a:lnSpc>
            </a:pPr>
            <a:r>
              <a:rPr lang="en-US" sz="3200" dirty="0"/>
              <a:t>CHF.</a:t>
            </a:r>
          </a:p>
        </p:txBody>
      </p:sp>
      <p:sp>
        <p:nvSpPr>
          <p:cNvPr id="1048758" name="Date Placeholder 3"/>
          <p:cNvSpPr>
            <a:spLocks noGrp="1"/>
          </p:cNvSpPr>
          <p:nvPr>
            <p:ph type="dt" sz="half" idx="10"/>
          </p:nvPr>
        </p:nvSpPr>
        <p:spPr/>
        <p:txBody>
          <a:bodyPr/>
          <a:lstStyle/>
          <a:p>
            <a:fld id="{F049F546-E45A-4CBF-99B9-693D7396CCF7}" type="datetime1">
              <a:rPr lang="en-US" smtClean="0"/>
              <a:t>8/9/2021</a:t>
            </a:fld>
            <a:endParaRPr lang="en-US"/>
          </a:p>
        </p:txBody>
      </p:sp>
      <p:sp>
        <p:nvSpPr>
          <p:cNvPr id="1048759" name="Slide Number Placeholder 4"/>
          <p:cNvSpPr>
            <a:spLocks noGrp="1"/>
          </p:cNvSpPr>
          <p:nvPr>
            <p:ph type="sldNum" sz="quarter" idx="12"/>
          </p:nvPr>
        </p:nvSpPr>
        <p:spPr/>
        <p:txBody>
          <a:bodyPr/>
          <a:lstStyle/>
          <a:p>
            <a:fld id="{124970EB-A8C4-40D2-AF81-C6C16288290E}" type="slidenum">
              <a:rPr lang="en-US" smtClean="0"/>
              <a:pPr/>
              <a:t>33</a:t>
            </a:fld>
            <a:endParaRPr lang="en-US"/>
          </a:p>
        </p:txBody>
      </p:sp>
      <p:sp>
        <p:nvSpPr>
          <p:cNvPr id="1048760"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sp>
        <p:nvSpPr>
          <p:cNvPr id="3" name="Content Placeholder 2"/>
          <p:cNvSpPr>
            <a:spLocks noGrp="1"/>
          </p:cNvSpPr>
          <p:nvPr>
            <p:ph idx="1"/>
          </p:nvPr>
        </p:nvSpPr>
        <p:spPr/>
        <p:txBody>
          <a:bodyPr>
            <a:normAutofit lnSpcReduction="10000"/>
          </a:bodyPr>
          <a:lstStyle/>
          <a:p>
            <a:pPr>
              <a:lnSpc>
                <a:spcPct val="200000"/>
              </a:lnSpc>
              <a:buNone/>
            </a:pPr>
            <a:r>
              <a:rPr lang="en-US" b="1" dirty="0"/>
              <a:t>Physical findings</a:t>
            </a:r>
            <a:r>
              <a:rPr lang="en-US" dirty="0"/>
              <a:t>:</a:t>
            </a:r>
          </a:p>
          <a:p>
            <a:pPr lvl="1">
              <a:lnSpc>
                <a:spcPct val="200000"/>
              </a:lnSpc>
            </a:pPr>
            <a:r>
              <a:rPr lang="en-US" dirty="0"/>
              <a:t>thrill or </a:t>
            </a:r>
            <a:r>
              <a:rPr lang="en-US" dirty="0" err="1"/>
              <a:t>anacrotic</a:t>
            </a:r>
            <a:r>
              <a:rPr lang="en-US" dirty="0"/>
              <a:t> “shudder” may be palpable over the carotid arteries</a:t>
            </a:r>
          </a:p>
          <a:p>
            <a:pPr lvl="1">
              <a:lnSpc>
                <a:spcPct val="200000"/>
              </a:lnSpc>
            </a:pPr>
            <a:r>
              <a:rPr lang="en-US" dirty="0"/>
              <a:t>ejection (mid) systolic murmur(most commonly 2</a:t>
            </a:r>
            <a:r>
              <a:rPr lang="en-US" baseline="30000" dirty="0"/>
              <a:t>nd</a:t>
            </a:r>
            <a:r>
              <a:rPr lang="en-US" dirty="0"/>
              <a:t> ICS)</a:t>
            </a:r>
          </a:p>
          <a:p>
            <a:endParaRPr lang="en-US" dirty="0"/>
          </a:p>
        </p:txBody>
      </p:sp>
      <p:sp>
        <p:nvSpPr>
          <p:cNvPr id="4" name="Date Placeholder 3"/>
          <p:cNvSpPr>
            <a:spLocks noGrp="1"/>
          </p:cNvSpPr>
          <p:nvPr>
            <p:ph type="dt" sz="half" idx="10"/>
          </p:nvPr>
        </p:nvSpPr>
        <p:spPr/>
        <p:txBody>
          <a:bodyPr/>
          <a:lstStyle/>
          <a:p>
            <a:fld id="{17F1A44B-380B-4F73-BB4C-6C940044421E}" type="datetime1">
              <a:rPr lang="en-US" smtClean="0"/>
              <a:t>8/9/2021</a:t>
            </a:fld>
            <a:endParaRPr lang="en-US"/>
          </a:p>
        </p:txBody>
      </p:sp>
      <p:sp>
        <p:nvSpPr>
          <p:cNvPr id="5" name="Slide Number Placeholder 4"/>
          <p:cNvSpPr>
            <a:spLocks noGrp="1"/>
          </p:cNvSpPr>
          <p:nvPr>
            <p:ph type="sldNum" sz="quarter" idx="12"/>
          </p:nvPr>
        </p:nvSpPr>
        <p:spPr/>
        <p:txBody>
          <a:bodyPr/>
          <a:lstStyle/>
          <a:p>
            <a:fld id="{81D9AF01-45F5-44F6-94C9-E46484F8FCE6}" type="slidenum">
              <a:rPr lang="en-US" smtClean="0"/>
              <a:pPr/>
              <a:t>34</a:t>
            </a:fld>
            <a:endParaRPr lang="en-US"/>
          </a:p>
        </p:txBody>
      </p:sp>
      <p:sp>
        <p:nvSpPr>
          <p:cNvPr id="6"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4" name="Title 1"/>
          <p:cNvSpPr>
            <a:spLocks noGrp="1"/>
          </p:cNvSpPr>
          <p:nvPr>
            <p:ph type="title"/>
          </p:nvPr>
        </p:nvSpPr>
        <p:spPr/>
        <p:txBody>
          <a:bodyPr>
            <a:normAutofit/>
          </a:bodyPr>
          <a:lstStyle/>
          <a:p>
            <a:r>
              <a:rPr lang="en-US" sz="3600" b="1" dirty="0"/>
              <a:t>LABORATORY EXAMINATION</a:t>
            </a:r>
          </a:p>
        </p:txBody>
      </p:sp>
      <p:sp>
        <p:nvSpPr>
          <p:cNvPr id="1048765" name="Content Placeholder 2"/>
          <p:cNvSpPr>
            <a:spLocks noGrp="1"/>
          </p:cNvSpPr>
          <p:nvPr>
            <p:ph idx="1"/>
          </p:nvPr>
        </p:nvSpPr>
        <p:spPr>
          <a:xfrm>
            <a:off x="228600" y="1295400"/>
            <a:ext cx="8763000" cy="5334000"/>
          </a:xfrm>
        </p:spPr>
        <p:txBody>
          <a:bodyPr>
            <a:normAutofit fontScale="92857"/>
          </a:bodyPr>
          <a:lstStyle/>
          <a:p>
            <a:pPr>
              <a:lnSpc>
                <a:spcPct val="150000"/>
              </a:lnSpc>
              <a:buBlip>
                <a:blip r:embed="rId3"/>
              </a:buBlip>
            </a:pPr>
            <a:r>
              <a:rPr lang="en-US" dirty="0"/>
              <a:t>Baseline investigation(CBC, organ function test )</a:t>
            </a:r>
          </a:p>
          <a:p>
            <a:pPr>
              <a:lnSpc>
                <a:spcPct val="150000"/>
              </a:lnSpc>
              <a:buBlip>
                <a:blip r:embed="rId3"/>
              </a:buBlip>
            </a:pPr>
            <a:r>
              <a:rPr lang="en-US" dirty="0"/>
              <a:t>ECG-</a:t>
            </a:r>
            <a:r>
              <a:rPr lang="en-US" sz="2800" b="1" i="1" dirty="0"/>
              <a:t>(LV hypertrophy, ST segment </a:t>
            </a:r>
            <a:r>
              <a:rPr lang="en-US" sz="2800" b="1" i="1" dirty="0" err="1"/>
              <a:t>depresion</a:t>
            </a:r>
            <a:r>
              <a:rPr lang="en-US" sz="2800" b="1" i="1" dirty="0"/>
              <a:t>, T wave)</a:t>
            </a:r>
            <a:endParaRPr lang="en-US" b="1" i="1" dirty="0"/>
          </a:p>
          <a:p>
            <a:pPr>
              <a:lnSpc>
                <a:spcPct val="150000"/>
              </a:lnSpc>
              <a:buBlip>
                <a:blip r:embed="rId3"/>
              </a:buBlip>
            </a:pPr>
            <a:r>
              <a:rPr lang="en-US" dirty="0"/>
              <a:t>C-X-Ray </a:t>
            </a:r>
          </a:p>
          <a:p>
            <a:pPr>
              <a:lnSpc>
                <a:spcPct val="150000"/>
              </a:lnSpc>
              <a:buBlip>
                <a:blip r:embed="rId3"/>
              </a:buBlip>
            </a:pPr>
            <a:r>
              <a:rPr lang="en-US" dirty="0"/>
              <a:t>Catheterization –</a:t>
            </a:r>
            <a:r>
              <a:rPr lang="en-US" i="1" dirty="0"/>
              <a:t>special when a discrepancy between the clinical and noninvasive findings</a:t>
            </a:r>
          </a:p>
        </p:txBody>
      </p:sp>
      <p:sp>
        <p:nvSpPr>
          <p:cNvPr id="1048766" name="Date Placeholder 3"/>
          <p:cNvSpPr>
            <a:spLocks noGrp="1"/>
          </p:cNvSpPr>
          <p:nvPr>
            <p:ph type="dt" sz="half" idx="10"/>
          </p:nvPr>
        </p:nvSpPr>
        <p:spPr/>
        <p:txBody>
          <a:bodyPr/>
          <a:lstStyle/>
          <a:p>
            <a:fld id="{2FF2270E-C9CA-4766-B508-9BCD967551B9}" type="datetime1">
              <a:rPr lang="en-US" smtClean="0"/>
              <a:t>8/9/2021</a:t>
            </a:fld>
            <a:endParaRPr lang="en-US"/>
          </a:p>
        </p:txBody>
      </p:sp>
      <p:sp>
        <p:nvSpPr>
          <p:cNvPr id="1048767" name="Slide Number Placeholder 4"/>
          <p:cNvSpPr>
            <a:spLocks noGrp="1"/>
          </p:cNvSpPr>
          <p:nvPr>
            <p:ph type="sldNum" sz="quarter" idx="12"/>
          </p:nvPr>
        </p:nvSpPr>
        <p:spPr/>
        <p:txBody>
          <a:bodyPr/>
          <a:lstStyle/>
          <a:p>
            <a:fld id="{124970EB-A8C4-40D2-AF81-C6C16288290E}" type="slidenum">
              <a:rPr lang="en-US" smtClean="0"/>
              <a:pPr/>
              <a:t>35</a:t>
            </a:fld>
            <a:endParaRPr lang="en-US"/>
          </a:p>
        </p:txBody>
      </p:sp>
      <p:sp>
        <p:nvSpPr>
          <p:cNvPr id="1048768"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2" name="Title 1"/>
          <p:cNvSpPr>
            <a:spLocks noGrp="1"/>
          </p:cNvSpPr>
          <p:nvPr>
            <p:ph type="title"/>
          </p:nvPr>
        </p:nvSpPr>
        <p:spPr>
          <a:xfrm>
            <a:off x="457200" y="274638"/>
            <a:ext cx="8229600" cy="868362"/>
          </a:xfrm>
        </p:spPr>
        <p:txBody>
          <a:bodyPr/>
          <a:lstStyle/>
          <a:p>
            <a:r>
              <a:rPr lang="en-US" dirty="0"/>
              <a:t>Cont…</a:t>
            </a:r>
          </a:p>
        </p:txBody>
      </p:sp>
      <p:sp>
        <p:nvSpPr>
          <p:cNvPr id="1048773" name="Content Placeholder 2"/>
          <p:cNvSpPr>
            <a:spLocks noGrp="1"/>
          </p:cNvSpPr>
          <p:nvPr>
            <p:ph idx="1"/>
          </p:nvPr>
        </p:nvSpPr>
        <p:spPr>
          <a:xfrm>
            <a:off x="457200" y="1143000"/>
            <a:ext cx="8458200" cy="5410200"/>
          </a:xfrm>
        </p:spPr>
        <p:txBody>
          <a:bodyPr>
            <a:normAutofit fontScale="96429"/>
          </a:bodyPr>
          <a:lstStyle/>
          <a:p>
            <a:pPr>
              <a:lnSpc>
                <a:spcPct val="150000"/>
              </a:lnSpc>
              <a:buBlip>
                <a:blip r:embed="rId2"/>
              </a:buBlip>
            </a:pPr>
            <a:r>
              <a:rPr lang="en-US" dirty="0"/>
              <a:t> echocardiography </a:t>
            </a:r>
          </a:p>
          <a:p>
            <a:pPr lvl="1">
              <a:lnSpc>
                <a:spcPct val="150000"/>
              </a:lnSpc>
              <a:buBlip>
                <a:blip r:embed="rId3"/>
              </a:buBlip>
            </a:pPr>
            <a:r>
              <a:rPr lang="en-US" dirty="0"/>
              <a:t>identifying coexisting </a:t>
            </a:r>
            <a:r>
              <a:rPr lang="en-US" dirty="0" err="1"/>
              <a:t>valvular</a:t>
            </a:r>
            <a:r>
              <a:rPr lang="en-US" dirty="0"/>
              <a:t> abnormalities</a:t>
            </a:r>
          </a:p>
          <a:p>
            <a:pPr lvl="1">
              <a:lnSpc>
                <a:spcPct val="150000"/>
              </a:lnSpc>
              <a:buBlip>
                <a:blip r:embed="rId3"/>
              </a:buBlip>
            </a:pPr>
            <a:r>
              <a:rPr lang="en-US" dirty="0"/>
              <a:t> differentiating </a:t>
            </a:r>
            <a:r>
              <a:rPr lang="en-US" dirty="0" err="1"/>
              <a:t>valvular</a:t>
            </a:r>
            <a:r>
              <a:rPr lang="en-US" dirty="0"/>
              <a:t> AS from other forms of LV outflow obstruction</a:t>
            </a:r>
          </a:p>
          <a:p>
            <a:pPr lvl="1">
              <a:lnSpc>
                <a:spcPct val="150000"/>
              </a:lnSpc>
              <a:buBlip>
                <a:blip r:embed="rId3"/>
              </a:buBlip>
            </a:pPr>
            <a:r>
              <a:rPr lang="en-US" dirty="0"/>
              <a:t> for measurement of the aortic root and proximal ascending aortic dimensions.</a:t>
            </a:r>
          </a:p>
        </p:txBody>
      </p:sp>
      <p:sp>
        <p:nvSpPr>
          <p:cNvPr id="1048774" name="Date Placeholder 3"/>
          <p:cNvSpPr>
            <a:spLocks noGrp="1"/>
          </p:cNvSpPr>
          <p:nvPr>
            <p:ph type="dt" sz="half" idx="10"/>
          </p:nvPr>
        </p:nvSpPr>
        <p:spPr/>
        <p:txBody>
          <a:bodyPr/>
          <a:lstStyle/>
          <a:p>
            <a:fld id="{3C3B5990-43E1-4AD7-9615-8B9F6F642C24}" type="datetime1">
              <a:rPr lang="en-US" smtClean="0"/>
              <a:t>8/9/2021</a:t>
            </a:fld>
            <a:endParaRPr lang="en-US"/>
          </a:p>
        </p:txBody>
      </p:sp>
      <p:sp>
        <p:nvSpPr>
          <p:cNvPr id="1048775" name="Slide Number Placeholder 4"/>
          <p:cNvSpPr>
            <a:spLocks noGrp="1"/>
          </p:cNvSpPr>
          <p:nvPr>
            <p:ph type="sldNum" sz="quarter" idx="12"/>
          </p:nvPr>
        </p:nvSpPr>
        <p:spPr/>
        <p:txBody>
          <a:bodyPr/>
          <a:lstStyle/>
          <a:p>
            <a:fld id="{124970EB-A8C4-40D2-AF81-C6C16288290E}" type="slidenum">
              <a:rPr lang="en-US" smtClean="0"/>
              <a:pPr/>
              <a:t>36</a:t>
            </a:fld>
            <a:endParaRPr lang="en-US"/>
          </a:p>
        </p:txBody>
      </p:sp>
      <p:sp>
        <p:nvSpPr>
          <p:cNvPr id="1048776"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7" name="Title 1"/>
          <p:cNvSpPr>
            <a:spLocks noGrp="1"/>
          </p:cNvSpPr>
          <p:nvPr>
            <p:ph type="title"/>
          </p:nvPr>
        </p:nvSpPr>
        <p:spPr>
          <a:xfrm>
            <a:off x="457200" y="274638"/>
            <a:ext cx="8229600" cy="792162"/>
          </a:xfrm>
        </p:spPr>
        <p:txBody>
          <a:bodyPr>
            <a:normAutofit/>
          </a:bodyPr>
          <a:lstStyle/>
          <a:p>
            <a:r>
              <a:rPr lang="en-US" sz="3200" b="1" dirty="0"/>
              <a:t>TREATMENT</a:t>
            </a:r>
          </a:p>
        </p:txBody>
      </p:sp>
      <p:sp>
        <p:nvSpPr>
          <p:cNvPr id="1048778" name="Content Placeholder 2"/>
          <p:cNvSpPr>
            <a:spLocks noGrp="1"/>
          </p:cNvSpPr>
          <p:nvPr>
            <p:ph idx="1"/>
          </p:nvPr>
        </p:nvSpPr>
        <p:spPr>
          <a:xfrm>
            <a:off x="228600" y="1219200"/>
            <a:ext cx="8686800" cy="5334000"/>
          </a:xfrm>
        </p:spPr>
        <p:txBody>
          <a:bodyPr>
            <a:normAutofit fontScale="96875"/>
          </a:bodyPr>
          <a:lstStyle/>
          <a:p>
            <a:pPr>
              <a:buBlip>
                <a:blip r:embed="rId3"/>
              </a:buBlip>
            </a:pPr>
            <a:r>
              <a:rPr lang="en-US" b="1" dirty="0"/>
              <a:t>MEDICAL</a:t>
            </a:r>
            <a:r>
              <a:rPr lang="en-US" dirty="0"/>
              <a:t> </a:t>
            </a:r>
          </a:p>
          <a:p>
            <a:pPr>
              <a:lnSpc>
                <a:spcPct val="200000"/>
              </a:lnSpc>
              <a:buBlip>
                <a:blip r:embed="rId4"/>
              </a:buBlip>
            </a:pPr>
            <a:r>
              <a:rPr lang="en-US" sz="2900" dirty="0"/>
              <a:t>avoided strenuous physical activity and competitive sports </a:t>
            </a:r>
          </a:p>
          <a:p>
            <a:pPr>
              <a:lnSpc>
                <a:spcPct val="200000"/>
              </a:lnSpc>
              <a:buBlip>
                <a:blip r:embed="rId4"/>
              </a:buBlip>
            </a:pPr>
            <a:r>
              <a:rPr lang="en-US" sz="2900" dirty="0"/>
              <a:t>beta blockers and </a:t>
            </a:r>
            <a:r>
              <a:rPr lang="en-US" sz="2900" dirty="0" err="1"/>
              <a:t>angiotensin</a:t>
            </a:r>
            <a:r>
              <a:rPr lang="en-US" sz="2900" dirty="0"/>
              <a:t>-converting </a:t>
            </a:r>
            <a:r>
              <a:rPr lang="en-US" sz="2900" dirty="0" err="1"/>
              <a:t>enzye</a:t>
            </a:r>
            <a:r>
              <a:rPr lang="en-US" sz="2900" dirty="0"/>
              <a:t> (ACE) inhibitors and Nitroglycerin</a:t>
            </a:r>
          </a:p>
        </p:txBody>
      </p:sp>
      <p:sp>
        <p:nvSpPr>
          <p:cNvPr id="1048779" name="Date Placeholder 3"/>
          <p:cNvSpPr>
            <a:spLocks noGrp="1"/>
          </p:cNvSpPr>
          <p:nvPr>
            <p:ph type="dt" sz="half" idx="10"/>
          </p:nvPr>
        </p:nvSpPr>
        <p:spPr/>
        <p:txBody>
          <a:bodyPr/>
          <a:lstStyle/>
          <a:p>
            <a:fld id="{510DF851-A5F9-46FA-BB73-0ABB8F021C6B}" type="datetime1">
              <a:rPr lang="en-US" smtClean="0"/>
              <a:t>8/9/2021</a:t>
            </a:fld>
            <a:endParaRPr lang="en-US"/>
          </a:p>
        </p:txBody>
      </p:sp>
      <p:sp>
        <p:nvSpPr>
          <p:cNvPr id="1048780" name="Slide Number Placeholder 4"/>
          <p:cNvSpPr>
            <a:spLocks noGrp="1"/>
          </p:cNvSpPr>
          <p:nvPr>
            <p:ph type="sldNum" sz="quarter" idx="12"/>
          </p:nvPr>
        </p:nvSpPr>
        <p:spPr/>
        <p:txBody>
          <a:bodyPr/>
          <a:lstStyle/>
          <a:p>
            <a:fld id="{124970EB-A8C4-40D2-AF81-C6C16288290E}" type="slidenum">
              <a:rPr lang="en-US" smtClean="0"/>
              <a:pPr/>
              <a:t>37</a:t>
            </a:fld>
            <a:endParaRPr lang="en-US"/>
          </a:p>
        </p:txBody>
      </p:sp>
      <p:sp>
        <p:nvSpPr>
          <p:cNvPr id="1048781"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sp>
        <p:nvSpPr>
          <p:cNvPr id="3" name="Content Placeholder 2"/>
          <p:cNvSpPr>
            <a:spLocks noGrp="1"/>
          </p:cNvSpPr>
          <p:nvPr>
            <p:ph idx="1"/>
          </p:nvPr>
        </p:nvSpPr>
        <p:spPr>
          <a:xfrm>
            <a:off x="0" y="1143000"/>
            <a:ext cx="9144000" cy="5410200"/>
          </a:xfrm>
        </p:spPr>
        <p:txBody>
          <a:bodyPr/>
          <a:lstStyle/>
          <a:p>
            <a:pPr>
              <a:buNone/>
            </a:pPr>
            <a:r>
              <a:rPr lang="en-US" b="1" dirty="0">
                <a:effectLst>
                  <a:outerShdw blurRad="38100" dist="38100" dir="2700000" algn="tl">
                    <a:srgbClr val="000000">
                      <a:alpha val="43137"/>
                    </a:srgbClr>
                  </a:outerShdw>
                </a:effectLst>
              </a:rPr>
              <a:t>SURGERY</a:t>
            </a:r>
            <a:r>
              <a:rPr lang="en-US" dirty="0"/>
              <a:t>- </a:t>
            </a:r>
            <a:r>
              <a:rPr lang="en-US" dirty="0">
                <a:solidFill>
                  <a:srgbClr val="FF0000"/>
                </a:solidFill>
              </a:rPr>
              <a:t>percutaneous balloon valvulotomy or aortic replacement</a:t>
            </a:r>
          </a:p>
          <a:p>
            <a:pPr lvl="1">
              <a:lnSpc>
                <a:spcPct val="150000"/>
              </a:lnSpc>
              <a:buBlip>
                <a:blip r:embed="rId2"/>
              </a:buBlip>
            </a:pPr>
            <a:r>
              <a:rPr lang="en-US" dirty="0"/>
              <a:t>severe AS area &lt;1 cm2 or 0.6 cm2/m2 BSA, </a:t>
            </a:r>
          </a:p>
          <a:p>
            <a:pPr lvl="1">
              <a:lnSpc>
                <a:spcPct val="150000"/>
              </a:lnSpc>
              <a:buBlip>
                <a:blip r:embed="rId2"/>
              </a:buBlip>
            </a:pPr>
            <a:r>
              <a:rPr lang="en-US" dirty="0"/>
              <a:t>who are symptomatic, </a:t>
            </a:r>
          </a:p>
          <a:p>
            <a:pPr lvl="1">
              <a:lnSpc>
                <a:spcPct val="150000"/>
              </a:lnSpc>
              <a:buBlip>
                <a:blip r:embed="rId2"/>
              </a:buBlip>
            </a:pPr>
            <a:r>
              <a:rPr lang="en-US" dirty="0"/>
              <a:t>LV systolic dysfunction (EF &lt;50%), </a:t>
            </a:r>
          </a:p>
          <a:p>
            <a:pPr lvl="1">
              <a:lnSpc>
                <a:spcPct val="150000"/>
              </a:lnSpc>
              <a:buBlip>
                <a:blip r:embed="rId2"/>
              </a:buBlip>
            </a:pPr>
            <a:r>
              <a:rPr lang="en-US" dirty="0"/>
              <a:t>BAV disease and an </a:t>
            </a:r>
            <a:r>
              <a:rPr lang="en-US" dirty="0" err="1"/>
              <a:t>aneurysmal</a:t>
            </a:r>
            <a:r>
              <a:rPr lang="en-US" dirty="0"/>
              <a:t> root or ascending aorta (maximal dimension &gt;5.5 cm).</a:t>
            </a:r>
            <a:endParaRPr lang="en-US" b="1" dirty="0"/>
          </a:p>
          <a:p>
            <a:endParaRPr lang="en-US" dirty="0"/>
          </a:p>
        </p:txBody>
      </p:sp>
      <p:sp>
        <p:nvSpPr>
          <p:cNvPr id="4" name="Date Placeholder 3"/>
          <p:cNvSpPr>
            <a:spLocks noGrp="1"/>
          </p:cNvSpPr>
          <p:nvPr>
            <p:ph type="dt" sz="half" idx="10"/>
          </p:nvPr>
        </p:nvSpPr>
        <p:spPr/>
        <p:txBody>
          <a:bodyPr/>
          <a:lstStyle/>
          <a:p>
            <a:fld id="{4B77A860-1744-4731-9AFE-487072C7CF21}" type="datetime1">
              <a:rPr lang="en-US" smtClean="0"/>
              <a:t>8/9/2021</a:t>
            </a:fld>
            <a:endParaRPr lang="en-US"/>
          </a:p>
        </p:txBody>
      </p:sp>
      <p:sp>
        <p:nvSpPr>
          <p:cNvPr id="5" name="Slide Number Placeholder 4"/>
          <p:cNvSpPr>
            <a:spLocks noGrp="1"/>
          </p:cNvSpPr>
          <p:nvPr>
            <p:ph type="sldNum" sz="quarter" idx="12"/>
          </p:nvPr>
        </p:nvSpPr>
        <p:spPr/>
        <p:txBody>
          <a:bodyPr/>
          <a:lstStyle/>
          <a:p>
            <a:fld id="{81D9AF01-45F5-44F6-94C9-E46484F8FCE6}" type="slidenum">
              <a:rPr lang="en-US" smtClean="0"/>
              <a:pPr/>
              <a:t>38</a:t>
            </a:fld>
            <a:endParaRPr lang="en-US"/>
          </a:p>
        </p:txBody>
      </p:sp>
      <p:sp>
        <p:nvSpPr>
          <p:cNvPr id="6"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85" name="Title 1"/>
          <p:cNvSpPr>
            <a:spLocks noGrp="1"/>
          </p:cNvSpPr>
          <p:nvPr>
            <p:ph type="title"/>
          </p:nvPr>
        </p:nvSpPr>
        <p:spPr/>
        <p:txBody>
          <a:bodyPr>
            <a:normAutofit/>
          </a:bodyPr>
          <a:lstStyle/>
          <a:p>
            <a:r>
              <a:rPr lang="en-US" sz="3600" b="1" dirty="0"/>
              <a:t>Anesthesia consideration for AS</a:t>
            </a:r>
          </a:p>
        </p:txBody>
      </p:sp>
      <p:sp>
        <p:nvSpPr>
          <p:cNvPr id="1048786" name="Date Placeholder 3"/>
          <p:cNvSpPr>
            <a:spLocks noGrp="1"/>
          </p:cNvSpPr>
          <p:nvPr>
            <p:ph type="dt" sz="half" idx="10"/>
          </p:nvPr>
        </p:nvSpPr>
        <p:spPr/>
        <p:txBody>
          <a:bodyPr/>
          <a:lstStyle/>
          <a:p>
            <a:fld id="{EC3F3058-0F00-4FEC-9612-8FD3826832AE}" type="datetime1">
              <a:rPr lang="en-US" smtClean="0"/>
              <a:t>8/9/2021</a:t>
            </a:fld>
            <a:endParaRPr lang="en-US"/>
          </a:p>
        </p:txBody>
      </p:sp>
      <p:sp>
        <p:nvSpPr>
          <p:cNvPr id="1048787" name="Footer Placeholder 4"/>
          <p:cNvSpPr>
            <a:spLocks noGrp="1"/>
          </p:cNvSpPr>
          <p:nvPr>
            <p:ph type="ftr" sz="quarter" idx="11"/>
          </p:nvPr>
        </p:nvSpPr>
        <p:spPr/>
        <p:txBody>
          <a:bodyPr/>
          <a:lstStyle/>
          <a:p>
            <a:r>
              <a:rPr lang="en-US"/>
              <a:t>Anesthesia for VHD </a:t>
            </a:r>
          </a:p>
        </p:txBody>
      </p:sp>
      <p:sp>
        <p:nvSpPr>
          <p:cNvPr id="1048788" name="Slide Number Placeholder 5"/>
          <p:cNvSpPr>
            <a:spLocks noGrp="1"/>
          </p:cNvSpPr>
          <p:nvPr>
            <p:ph type="sldNum" sz="quarter" idx="12"/>
          </p:nvPr>
        </p:nvSpPr>
        <p:spPr/>
        <p:txBody>
          <a:bodyPr/>
          <a:lstStyle/>
          <a:p>
            <a:fld id="{124970EB-A8C4-40D2-AF81-C6C16288290E}" type="slidenum">
              <a:rPr lang="en-US" smtClean="0"/>
              <a:pPr/>
              <a:t>39</a:t>
            </a:fld>
            <a:endParaRPr lang="en-US"/>
          </a:p>
        </p:txBody>
      </p:sp>
      <p:pic>
        <p:nvPicPr>
          <p:cNvPr id="2097169" name="Picture 2"/>
          <p:cNvPicPr>
            <a:picLocks noGrp="1" noChangeAspect="1" noChangeArrowheads="1"/>
          </p:cNvPicPr>
          <p:nvPr>
            <p:ph idx="1"/>
          </p:nvPr>
        </p:nvPicPr>
        <p:blipFill>
          <a:blip r:embed="rId2"/>
          <a:srcRect/>
          <a:stretch>
            <a:fillRect/>
          </a:stretch>
        </p:blipFill>
        <p:spPr bwMode="auto">
          <a:xfrm>
            <a:off x="762000" y="1295400"/>
            <a:ext cx="8077200" cy="5306273"/>
          </a:xfrm>
          <a:prstGeom prst="rect">
            <a:avLst/>
          </a:prstGeom>
          <a:noFill/>
          <a:ln w="9525">
            <a:noFill/>
            <a:miter lim="800000"/>
            <a:headEnd/>
            <a:tailEnd/>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89" name="Title 1"/>
          <p:cNvSpPr>
            <a:spLocks noGrp="1"/>
          </p:cNvSpPr>
          <p:nvPr>
            <p:ph type="title"/>
          </p:nvPr>
        </p:nvSpPr>
        <p:spPr/>
        <p:txBody>
          <a:bodyPr>
            <a:normAutofit/>
          </a:bodyPr>
          <a:lstStyle/>
          <a:p>
            <a:r>
              <a:rPr lang="en-US" sz="3200" b="1" dirty="0"/>
              <a:t>Anesthetic Considerations</a:t>
            </a:r>
            <a:endParaRPr lang="en-US" sz="3200" dirty="0"/>
          </a:p>
        </p:txBody>
      </p:sp>
      <p:sp>
        <p:nvSpPr>
          <p:cNvPr id="1048790" name="Content Placeholder 4"/>
          <p:cNvSpPr>
            <a:spLocks noGrp="1"/>
          </p:cNvSpPr>
          <p:nvPr>
            <p:ph idx="1"/>
          </p:nvPr>
        </p:nvSpPr>
        <p:spPr>
          <a:xfrm>
            <a:off x="304800" y="1600200"/>
            <a:ext cx="8610600" cy="5105400"/>
          </a:xfrm>
        </p:spPr>
        <p:txBody>
          <a:bodyPr>
            <a:normAutofit fontScale="86875"/>
          </a:bodyPr>
          <a:lstStyle/>
          <a:p>
            <a:pPr>
              <a:lnSpc>
                <a:spcPct val="150000"/>
              </a:lnSpc>
              <a:buNone/>
            </a:pPr>
            <a:r>
              <a:rPr lang="en-US" b="1" dirty="0">
                <a:cs typeface="Arial" charset="0"/>
              </a:rPr>
              <a:t> Hemodynamic Goal </a:t>
            </a:r>
          </a:p>
          <a:p>
            <a:pPr>
              <a:lnSpc>
                <a:spcPct val="150000"/>
              </a:lnSpc>
              <a:buBlip>
                <a:blip r:embed="rId2"/>
              </a:buBlip>
            </a:pPr>
            <a:r>
              <a:rPr lang="en-US" b="1" dirty="0">
                <a:cs typeface="Arial" charset="0"/>
              </a:rPr>
              <a:t>Preload</a:t>
            </a:r>
            <a:r>
              <a:rPr lang="en-US" dirty="0">
                <a:cs typeface="Arial" charset="0"/>
              </a:rPr>
              <a:t>- full, adequate IVV to fill noncompliant ventricle</a:t>
            </a:r>
          </a:p>
          <a:p>
            <a:pPr>
              <a:lnSpc>
                <a:spcPct val="150000"/>
              </a:lnSpc>
              <a:buBlip>
                <a:blip r:embed="rId2"/>
              </a:buBlip>
            </a:pPr>
            <a:r>
              <a:rPr lang="en-US" b="1" dirty="0" err="1">
                <a:cs typeface="Arial" charset="0"/>
              </a:rPr>
              <a:t>Afterload</a:t>
            </a:r>
            <a:r>
              <a:rPr lang="en-US" dirty="0">
                <a:cs typeface="Arial" charset="0"/>
              </a:rPr>
              <a:t> - already elevated but relatively fixed, CPP must be maintained</a:t>
            </a:r>
          </a:p>
          <a:p>
            <a:pPr>
              <a:lnSpc>
                <a:spcPct val="150000"/>
              </a:lnSpc>
              <a:buBlip>
                <a:blip r:embed="rId2"/>
              </a:buBlip>
            </a:pPr>
            <a:r>
              <a:rPr lang="en-US" b="1" dirty="0">
                <a:cs typeface="Arial" charset="0"/>
              </a:rPr>
              <a:t>Contractility</a:t>
            </a:r>
            <a:r>
              <a:rPr lang="en-US" dirty="0">
                <a:cs typeface="Arial" charset="0"/>
              </a:rPr>
              <a:t>- usually not a problem, </a:t>
            </a:r>
            <a:r>
              <a:rPr lang="en-US" dirty="0" err="1">
                <a:cs typeface="Arial" charset="0"/>
              </a:rPr>
              <a:t>inotropes</a:t>
            </a:r>
            <a:r>
              <a:rPr lang="en-US" dirty="0">
                <a:cs typeface="Arial" charset="0"/>
              </a:rPr>
              <a:t> may be helpful </a:t>
            </a:r>
            <a:r>
              <a:rPr lang="en-US" dirty="0" err="1">
                <a:cs typeface="Arial" charset="0"/>
              </a:rPr>
              <a:t>preinduction</a:t>
            </a:r>
            <a:r>
              <a:rPr lang="en-US" dirty="0">
                <a:cs typeface="Arial" charset="0"/>
              </a:rPr>
              <a:t> in end-stage AS with hypotension</a:t>
            </a:r>
          </a:p>
          <a:p>
            <a:pPr>
              <a:buBlip>
                <a:blip r:embed="rId2"/>
              </a:buBlip>
            </a:pPr>
            <a:endParaRPr lang="en-US" dirty="0"/>
          </a:p>
        </p:txBody>
      </p:sp>
      <p:sp>
        <p:nvSpPr>
          <p:cNvPr id="1048791" name="Date Placeholder 3"/>
          <p:cNvSpPr>
            <a:spLocks noGrp="1"/>
          </p:cNvSpPr>
          <p:nvPr>
            <p:ph type="dt" sz="half" idx="10"/>
          </p:nvPr>
        </p:nvSpPr>
        <p:spPr/>
        <p:txBody>
          <a:bodyPr/>
          <a:lstStyle/>
          <a:p>
            <a:fld id="{45B4EDD2-D24D-4457-8FDD-AD19AB53AFCF}" type="datetime1">
              <a:rPr lang="en-US" smtClean="0"/>
              <a:t>8/9/2021</a:t>
            </a:fld>
            <a:endParaRPr lang="en-US"/>
          </a:p>
        </p:txBody>
      </p:sp>
      <p:sp>
        <p:nvSpPr>
          <p:cNvPr id="1048792" name="Slide Number Placeholder 5"/>
          <p:cNvSpPr>
            <a:spLocks noGrp="1"/>
          </p:cNvSpPr>
          <p:nvPr>
            <p:ph type="sldNum" sz="quarter" idx="12"/>
          </p:nvPr>
        </p:nvSpPr>
        <p:spPr/>
        <p:txBody>
          <a:bodyPr/>
          <a:lstStyle/>
          <a:p>
            <a:fld id="{124970EB-A8C4-40D2-AF81-C6C16288290E}" type="slidenum">
              <a:rPr lang="en-US" smtClean="0"/>
              <a:pPr/>
              <a:t>40</a:t>
            </a:fld>
            <a:endParaRPr lang="en-US"/>
          </a:p>
        </p:txBody>
      </p:sp>
      <p:sp>
        <p:nvSpPr>
          <p:cNvPr id="1048793" name="Footer Placeholder 6"/>
          <p:cNvSpPr>
            <a:spLocks noGrp="1"/>
          </p:cNvSpPr>
          <p:nvPr>
            <p:ph type="ftr" sz="quarter" idx="11"/>
          </p:nvPr>
        </p:nvSpPr>
        <p:spPr/>
        <p:txBody>
          <a:bodyPr/>
          <a:lstStyle/>
          <a:p>
            <a:r>
              <a:rPr lang="en-US"/>
              <a:t>Anesthesia for VHD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94" name="Rectangle 2"/>
          <p:cNvSpPr>
            <a:spLocks noGrp="1" noChangeArrowheads="1"/>
          </p:cNvSpPr>
          <p:nvPr>
            <p:ph type="title"/>
          </p:nvPr>
        </p:nvSpPr>
        <p:spPr>
          <a:noFill/>
        </p:spPr>
        <p:txBody>
          <a:bodyPr lIns="90488" tIns="44450" rIns="90488" bIns="44450">
            <a:normAutofit/>
          </a:bodyPr>
          <a:lstStyle/>
          <a:p>
            <a:pPr eaLnBrk="1" hangingPunct="1"/>
            <a:r>
              <a:rPr lang="en-US" b="1" dirty="0">
                <a:latin typeface="Arial" charset="0"/>
                <a:cs typeface="Arial" charset="0"/>
              </a:rPr>
              <a:t>Cont….</a:t>
            </a:r>
          </a:p>
        </p:txBody>
      </p:sp>
      <p:sp>
        <p:nvSpPr>
          <p:cNvPr id="1048795" name="Rectangle 3"/>
          <p:cNvSpPr>
            <a:spLocks noGrp="1" noChangeArrowheads="1"/>
          </p:cNvSpPr>
          <p:nvPr>
            <p:ph type="body" idx="1"/>
          </p:nvPr>
        </p:nvSpPr>
        <p:spPr>
          <a:xfrm>
            <a:off x="228600" y="1219200"/>
            <a:ext cx="8610600" cy="5334000"/>
          </a:xfrm>
          <a:noFill/>
        </p:spPr>
        <p:txBody>
          <a:bodyPr lIns="90488" tIns="44450" rIns="90488" bIns="44450">
            <a:noAutofit/>
          </a:bodyPr>
          <a:lstStyle/>
          <a:p>
            <a:pPr eaLnBrk="1" hangingPunct="1">
              <a:lnSpc>
                <a:spcPct val="200000"/>
              </a:lnSpc>
              <a:buFont typeface="Wingdings" pitchFamily="2" charset="2"/>
              <a:buNone/>
            </a:pPr>
            <a:r>
              <a:rPr lang="en-US" sz="2800" b="1" dirty="0">
                <a:cs typeface="Arial" charset="0"/>
              </a:rPr>
              <a:t>Rate</a:t>
            </a:r>
            <a:r>
              <a:rPr lang="en-US" sz="2800" dirty="0">
                <a:cs typeface="Arial" charset="0"/>
              </a:rPr>
              <a:t> – </a:t>
            </a:r>
            <a:r>
              <a:rPr lang="en-US" sz="2800" dirty="0">
                <a:solidFill>
                  <a:srgbClr val="FF0000"/>
                </a:solidFill>
                <a:cs typeface="Arial" charset="0"/>
              </a:rPr>
              <a:t>(60-80), </a:t>
            </a:r>
            <a:r>
              <a:rPr lang="en-US" sz="2800" dirty="0">
                <a:cs typeface="Arial" charset="0"/>
              </a:rPr>
              <a:t>not too slow (decrease CO), not too fast (ischemia)</a:t>
            </a:r>
          </a:p>
          <a:p>
            <a:pPr eaLnBrk="1" hangingPunct="1">
              <a:lnSpc>
                <a:spcPct val="200000"/>
              </a:lnSpc>
              <a:buFont typeface="Wingdings" pitchFamily="2" charset="2"/>
              <a:buNone/>
            </a:pPr>
            <a:r>
              <a:rPr lang="en-US" sz="2800" b="1" dirty="0">
                <a:cs typeface="Arial" charset="0"/>
              </a:rPr>
              <a:t>Rhythm</a:t>
            </a:r>
            <a:r>
              <a:rPr lang="en-US" sz="2800" dirty="0">
                <a:cs typeface="Arial" charset="0"/>
              </a:rPr>
              <a:t> - Sinus!! </a:t>
            </a:r>
            <a:r>
              <a:rPr lang="en-US" sz="2800" dirty="0" err="1">
                <a:cs typeface="Arial" charset="0"/>
              </a:rPr>
              <a:t>Cardioversion</a:t>
            </a:r>
            <a:r>
              <a:rPr lang="en-US" sz="2800" dirty="0">
                <a:cs typeface="Arial" charset="0"/>
              </a:rPr>
              <a:t> if hemodynamic instability from SV </a:t>
            </a:r>
            <a:r>
              <a:rPr lang="en-US" sz="2800" dirty="0" err="1">
                <a:cs typeface="Arial" charset="0"/>
              </a:rPr>
              <a:t>dysrhythmias</a:t>
            </a:r>
            <a:endParaRPr lang="en-US" sz="2800" dirty="0">
              <a:cs typeface="Arial" charset="0"/>
            </a:endParaRPr>
          </a:p>
          <a:p>
            <a:pPr eaLnBrk="1" hangingPunct="1">
              <a:lnSpc>
                <a:spcPct val="200000"/>
              </a:lnSpc>
              <a:buFont typeface="Wingdings" pitchFamily="2" charset="2"/>
              <a:buNone/>
            </a:pPr>
            <a:r>
              <a:rPr lang="en-US" sz="2800" b="1" dirty="0">
                <a:cs typeface="Arial" charset="0"/>
              </a:rPr>
              <a:t>MVO</a:t>
            </a:r>
            <a:r>
              <a:rPr lang="en-US" sz="2800" b="1" baseline="-25000" dirty="0">
                <a:cs typeface="Arial" charset="0"/>
              </a:rPr>
              <a:t>2</a:t>
            </a:r>
            <a:r>
              <a:rPr lang="en-US" sz="2800" baseline="-25000" dirty="0">
                <a:cs typeface="Arial" charset="0"/>
              </a:rPr>
              <a:t> </a:t>
            </a:r>
            <a:r>
              <a:rPr lang="en-US" sz="2800" dirty="0">
                <a:cs typeface="Arial" charset="0"/>
              </a:rPr>
              <a:t>- Ischemia is an ever present risk, Avoid tachycardia and hypotension </a:t>
            </a:r>
          </a:p>
        </p:txBody>
      </p:sp>
      <p:sp>
        <p:nvSpPr>
          <p:cNvPr id="1048796" name="Date Placeholder 3"/>
          <p:cNvSpPr>
            <a:spLocks noGrp="1"/>
          </p:cNvSpPr>
          <p:nvPr>
            <p:ph type="dt" sz="half" idx="10"/>
          </p:nvPr>
        </p:nvSpPr>
        <p:spPr/>
        <p:txBody>
          <a:bodyPr/>
          <a:lstStyle/>
          <a:p>
            <a:fld id="{D2DA1EFE-FA54-4B51-BA5A-09C425D86F45}" type="datetime1">
              <a:rPr lang="en-US" altLang="en-US" smtClean="0"/>
              <a:t>8/9/2021</a:t>
            </a:fld>
            <a:endParaRPr lang="en-US" altLang="en-US"/>
          </a:p>
        </p:txBody>
      </p:sp>
      <p:sp>
        <p:nvSpPr>
          <p:cNvPr id="1048797" name="Slide Number Placeholder 4"/>
          <p:cNvSpPr>
            <a:spLocks noGrp="1"/>
          </p:cNvSpPr>
          <p:nvPr>
            <p:ph type="sldNum" sz="quarter" idx="12"/>
          </p:nvPr>
        </p:nvSpPr>
        <p:spPr/>
        <p:txBody>
          <a:bodyPr/>
          <a:lstStyle/>
          <a:p>
            <a:fld id="{0E75A53D-4435-447B-8C10-A0587C3F8965}" type="slidenum">
              <a:rPr lang="en-US" altLang="en-US" smtClean="0"/>
              <a:pPr/>
              <a:t>41</a:t>
            </a:fld>
            <a:endParaRPr lang="en-US" altLang="en-US"/>
          </a:p>
        </p:txBody>
      </p:sp>
      <p:sp>
        <p:nvSpPr>
          <p:cNvPr id="1048798" name="Footer Placeholder 5"/>
          <p:cNvSpPr>
            <a:spLocks noGrp="1"/>
          </p:cNvSpPr>
          <p:nvPr>
            <p:ph type="ftr" sz="quarter" idx="11"/>
          </p:nvPr>
        </p:nvSpPr>
        <p:spPr/>
        <p:txBody>
          <a:bodyPr/>
          <a:lstStyle/>
          <a:p>
            <a:r>
              <a:rPr lang="en-US" altLang="en-US"/>
              <a:t>Anesthesia for VHD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02" name="Title 1"/>
          <p:cNvSpPr>
            <a:spLocks noGrp="1"/>
          </p:cNvSpPr>
          <p:nvPr>
            <p:ph type="title"/>
          </p:nvPr>
        </p:nvSpPr>
        <p:spPr>
          <a:xfrm>
            <a:off x="457200" y="228600"/>
            <a:ext cx="8229600" cy="762000"/>
          </a:xfrm>
        </p:spPr>
        <p:txBody>
          <a:bodyPr>
            <a:normAutofit/>
          </a:bodyPr>
          <a:lstStyle/>
          <a:p>
            <a:r>
              <a:rPr lang="en-US" sz="3200" b="1" dirty="0"/>
              <a:t>Anesthesia managements for AS</a:t>
            </a:r>
          </a:p>
        </p:txBody>
      </p:sp>
      <p:sp>
        <p:nvSpPr>
          <p:cNvPr id="1048803" name="Text Placeholder 2"/>
          <p:cNvSpPr>
            <a:spLocks noGrp="1"/>
          </p:cNvSpPr>
          <p:nvPr>
            <p:ph type="body" idx="1"/>
          </p:nvPr>
        </p:nvSpPr>
        <p:spPr>
          <a:xfrm>
            <a:off x="381000" y="1295400"/>
            <a:ext cx="8458200" cy="5029200"/>
          </a:xfrm>
        </p:spPr>
        <p:txBody>
          <a:bodyPr>
            <a:normAutofit fontScale="96875"/>
          </a:bodyPr>
          <a:lstStyle/>
          <a:p>
            <a:pPr>
              <a:lnSpc>
                <a:spcPct val="150000"/>
              </a:lnSpc>
              <a:buBlip>
                <a:blip r:embed="rId3"/>
              </a:buBlip>
            </a:pPr>
            <a:r>
              <a:rPr lang="en-US" sz="2800" dirty="0"/>
              <a:t>Anything interfering with </a:t>
            </a:r>
            <a:r>
              <a:rPr lang="en-US" sz="2800" dirty="0" err="1"/>
              <a:t>atrial</a:t>
            </a:r>
            <a:r>
              <a:rPr lang="en-US" sz="2800" dirty="0"/>
              <a:t> function ( </a:t>
            </a:r>
            <a:r>
              <a:rPr lang="en-US" sz="2800" i="1" dirty="0" err="1">
                <a:solidFill>
                  <a:srgbClr val="FF0000"/>
                </a:solidFill>
              </a:rPr>
              <a:t>junctional</a:t>
            </a:r>
            <a:r>
              <a:rPr lang="en-US" sz="2800" i="1" dirty="0">
                <a:solidFill>
                  <a:srgbClr val="FF0000"/>
                </a:solidFill>
              </a:rPr>
              <a:t> rhythm or </a:t>
            </a:r>
            <a:r>
              <a:rPr lang="en-US" sz="2800" i="1" dirty="0" err="1">
                <a:solidFill>
                  <a:srgbClr val="FF0000"/>
                </a:solidFill>
              </a:rPr>
              <a:t>atrial</a:t>
            </a:r>
            <a:r>
              <a:rPr lang="en-US" sz="2800" i="1" dirty="0">
                <a:solidFill>
                  <a:srgbClr val="FF0000"/>
                </a:solidFill>
              </a:rPr>
              <a:t> fibrillation</a:t>
            </a:r>
            <a:r>
              <a:rPr lang="en-US" sz="2800" dirty="0"/>
              <a:t>) can lead to severe hypotension. </a:t>
            </a:r>
          </a:p>
          <a:p>
            <a:pPr lvl="2" algn="ctr">
              <a:lnSpc>
                <a:spcPct val="150000"/>
              </a:lnSpc>
              <a:buFont typeface="Wingdings" pitchFamily="2" charset="2"/>
              <a:buChar char="ü"/>
            </a:pPr>
            <a:r>
              <a:rPr lang="en-US" sz="2800" dirty="0"/>
              <a:t>avoid either </a:t>
            </a:r>
            <a:r>
              <a:rPr lang="en-US" sz="2800" i="1" dirty="0">
                <a:solidFill>
                  <a:srgbClr val="FF0000"/>
                </a:solidFill>
              </a:rPr>
              <a:t>tachycardia or </a:t>
            </a:r>
            <a:r>
              <a:rPr lang="en-US" sz="2800" i="1" dirty="0" err="1">
                <a:solidFill>
                  <a:srgbClr val="FF0000"/>
                </a:solidFill>
              </a:rPr>
              <a:t>bradycardia</a:t>
            </a:r>
            <a:r>
              <a:rPr lang="en-US" sz="2800" i="1" dirty="0">
                <a:solidFill>
                  <a:srgbClr val="FF0000"/>
                </a:solidFill>
              </a:rPr>
              <a:t> and hypotension</a:t>
            </a:r>
          </a:p>
          <a:p>
            <a:pPr>
              <a:lnSpc>
                <a:spcPct val="150000"/>
              </a:lnSpc>
              <a:buBlip>
                <a:blip r:embed="rId3"/>
              </a:buBlip>
            </a:pPr>
            <a:r>
              <a:rPr lang="en-US" sz="2800" dirty="0"/>
              <a:t>Maintain preload and contractility</a:t>
            </a:r>
          </a:p>
        </p:txBody>
      </p:sp>
      <p:sp>
        <p:nvSpPr>
          <p:cNvPr id="1048804" name="Date Placeholder 3"/>
          <p:cNvSpPr>
            <a:spLocks noGrp="1"/>
          </p:cNvSpPr>
          <p:nvPr>
            <p:ph type="dt" sz="half" idx="10"/>
          </p:nvPr>
        </p:nvSpPr>
        <p:spPr/>
        <p:txBody>
          <a:bodyPr/>
          <a:lstStyle/>
          <a:p>
            <a:fld id="{A5108B52-32C9-4801-A6AF-A65E517FEBFD}" type="datetime1">
              <a:rPr lang="en-US" altLang="en-US" smtClean="0"/>
              <a:t>8/9/2021</a:t>
            </a:fld>
            <a:endParaRPr lang="en-US" altLang="en-US"/>
          </a:p>
        </p:txBody>
      </p:sp>
      <p:sp>
        <p:nvSpPr>
          <p:cNvPr id="1048805" name="Footer Placeholder 4"/>
          <p:cNvSpPr>
            <a:spLocks noGrp="1"/>
          </p:cNvSpPr>
          <p:nvPr>
            <p:ph type="ftr" sz="quarter" idx="11"/>
          </p:nvPr>
        </p:nvSpPr>
        <p:spPr/>
        <p:txBody>
          <a:bodyPr/>
          <a:lstStyle/>
          <a:p>
            <a:r>
              <a:rPr lang="en-US" altLang="en-US"/>
              <a:t>Anesthesia for VHD </a:t>
            </a:r>
          </a:p>
        </p:txBody>
      </p:sp>
      <p:sp>
        <p:nvSpPr>
          <p:cNvPr id="1048806" name="Slide Number Placeholder 5"/>
          <p:cNvSpPr>
            <a:spLocks noGrp="1"/>
          </p:cNvSpPr>
          <p:nvPr>
            <p:ph type="sldNum" sz="quarter" idx="12"/>
          </p:nvPr>
        </p:nvSpPr>
        <p:spPr/>
        <p:txBody>
          <a:bodyPr/>
          <a:lstStyle/>
          <a:p>
            <a:fld id="{0E75A53D-4435-447B-8C10-A0587C3F8965}" type="slidenum">
              <a:rPr lang="en-US" altLang="en-US" smtClean="0"/>
              <a:pPr/>
              <a:t>42</a:t>
            </a:fld>
            <a:endParaRPr lang="en-US"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07" name="Title 1"/>
          <p:cNvSpPr>
            <a:spLocks noGrp="1"/>
          </p:cNvSpPr>
          <p:nvPr>
            <p:ph type="title"/>
          </p:nvPr>
        </p:nvSpPr>
        <p:spPr/>
        <p:txBody>
          <a:bodyPr/>
          <a:lstStyle/>
          <a:p>
            <a:endParaRPr lang="en-US"/>
          </a:p>
        </p:txBody>
      </p:sp>
      <p:sp>
        <p:nvSpPr>
          <p:cNvPr id="1048808" name="Text Placeholder 2"/>
          <p:cNvSpPr>
            <a:spLocks noGrp="1"/>
          </p:cNvSpPr>
          <p:nvPr>
            <p:ph type="body" idx="1"/>
          </p:nvPr>
        </p:nvSpPr>
        <p:spPr/>
        <p:txBody>
          <a:bodyPr/>
          <a:lstStyle/>
          <a:p>
            <a:endParaRPr lang="en-US" dirty="0"/>
          </a:p>
        </p:txBody>
      </p:sp>
      <p:sp>
        <p:nvSpPr>
          <p:cNvPr id="1048809" name="Date Placeholder 3"/>
          <p:cNvSpPr>
            <a:spLocks noGrp="1"/>
          </p:cNvSpPr>
          <p:nvPr>
            <p:ph type="dt" sz="half" idx="10"/>
          </p:nvPr>
        </p:nvSpPr>
        <p:spPr/>
        <p:txBody>
          <a:bodyPr/>
          <a:lstStyle/>
          <a:p>
            <a:fld id="{245C753B-AB1B-4D7E-9060-2681E243EC4A}" type="datetime1">
              <a:rPr lang="en-US" altLang="en-US" smtClean="0"/>
              <a:t>8/9/2021</a:t>
            </a:fld>
            <a:endParaRPr lang="en-US" altLang="en-US"/>
          </a:p>
        </p:txBody>
      </p:sp>
      <p:sp>
        <p:nvSpPr>
          <p:cNvPr id="1048810" name="Footer Placeholder 4"/>
          <p:cNvSpPr>
            <a:spLocks noGrp="1"/>
          </p:cNvSpPr>
          <p:nvPr>
            <p:ph type="ftr" sz="quarter" idx="11"/>
          </p:nvPr>
        </p:nvSpPr>
        <p:spPr/>
        <p:txBody>
          <a:bodyPr/>
          <a:lstStyle/>
          <a:p>
            <a:r>
              <a:rPr lang="en-US" altLang="en-US"/>
              <a:t>Anesthesia for VHD </a:t>
            </a:r>
          </a:p>
        </p:txBody>
      </p:sp>
      <p:sp>
        <p:nvSpPr>
          <p:cNvPr id="1048811" name="Slide Number Placeholder 5"/>
          <p:cNvSpPr>
            <a:spLocks noGrp="1"/>
          </p:cNvSpPr>
          <p:nvPr>
            <p:ph type="sldNum" sz="quarter" idx="12"/>
          </p:nvPr>
        </p:nvSpPr>
        <p:spPr/>
        <p:txBody>
          <a:bodyPr/>
          <a:lstStyle/>
          <a:p>
            <a:fld id="{0E75A53D-4435-447B-8C10-A0587C3F8965}" type="slidenum">
              <a:rPr lang="en-US" altLang="en-US" smtClean="0"/>
              <a:pPr/>
              <a:t>43</a:t>
            </a:fld>
            <a:endParaRPr lang="en-US" altLang="en-US"/>
          </a:p>
        </p:txBody>
      </p:sp>
      <p:pic>
        <p:nvPicPr>
          <p:cNvPr id="2097170" name="Picture 2"/>
          <p:cNvPicPr>
            <a:picLocks noChangeAspect="1" noChangeArrowheads="1"/>
          </p:cNvPicPr>
          <p:nvPr/>
        </p:nvPicPr>
        <p:blipFill>
          <a:blip r:embed="rId2"/>
          <a:srcRect/>
          <a:stretch>
            <a:fillRect/>
          </a:stretch>
        </p:blipFill>
        <p:spPr bwMode="auto">
          <a:xfrm>
            <a:off x="533400" y="152400"/>
            <a:ext cx="8229600" cy="5791200"/>
          </a:xfrm>
          <a:prstGeom prst="rect">
            <a:avLst/>
          </a:prstGeom>
          <a:noFill/>
          <a:ln w="9525">
            <a:noFill/>
            <a:miter lim="800000"/>
            <a:headEnd/>
            <a:tailEnd/>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2" name="Title 1"/>
          <p:cNvSpPr>
            <a:spLocks noGrp="1"/>
          </p:cNvSpPr>
          <p:nvPr>
            <p:ph type="title"/>
          </p:nvPr>
        </p:nvSpPr>
        <p:spPr/>
        <p:txBody>
          <a:bodyPr/>
          <a:lstStyle/>
          <a:p>
            <a:r>
              <a:rPr lang="en-US" b="1" dirty="0"/>
              <a:t>Choice of anesthesia</a:t>
            </a:r>
          </a:p>
        </p:txBody>
      </p:sp>
      <p:sp>
        <p:nvSpPr>
          <p:cNvPr id="1048813" name="Content Placeholder 2"/>
          <p:cNvSpPr>
            <a:spLocks noGrp="1"/>
          </p:cNvSpPr>
          <p:nvPr>
            <p:ph idx="1"/>
          </p:nvPr>
        </p:nvSpPr>
        <p:spPr>
          <a:xfrm>
            <a:off x="0" y="1371600"/>
            <a:ext cx="9144000" cy="5105400"/>
          </a:xfrm>
        </p:spPr>
        <p:txBody>
          <a:bodyPr>
            <a:normAutofit fontScale="96429"/>
          </a:bodyPr>
          <a:lstStyle/>
          <a:p>
            <a:pPr>
              <a:lnSpc>
                <a:spcPct val="200000"/>
              </a:lnSpc>
              <a:buBlip>
                <a:blip r:embed="rId3"/>
              </a:buBlip>
            </a:pPr>
            <a:r>
              <a:rPr lang="en-US" dirty="0"/>
              <a:t>Measure Operative risk </a:t>
            </a:r>
          </a:p>
          <a:p>
            <a:pPr>
              <a:lnSpc>
                <a:spcPct val="200000"/>
              </a:lnSpc>
              <a:buBlip>
                <a:blip r:embed="rId3"/>
              </a:buBlip>
            </a:pPr>
            <a:r>
              <a:rPr lang="en-US" dirty="0"/>
              <a:t>avoiding fluctuations in the patient’s </a:t>
            </a:r>
            <a:r>
              <a:rPr lang="en-US" dirty="0" err="1"/>
              <a:t>hemodynamics</a:t>
            </a:r>
            <a:r>
              <a:rPr lang="en-US" dirty="0"/>
              <a:t>, while achieving adequate anesthetic depth.</a:t>
            </a:r>
            <a:endParaRPr lang="en-US" dirty="0">
              <a:cs typeface="Arial" charset="0"/>
            </a:endParaRPr>
          </a:p>
          <a:p>
            <a:pPr>
              <a:lnSpc>
                <a:spcPct val="200000"/>
              </a:lnSpc>
              <a:buBlip>
                <a:blip r:embed="rId3"/>
              </a:buBlip>
            </a:pPr>
            <a:r>
              <a:rPr lang="en-US" i="1" dirty="0">
                <a:solidFill>
                  <a:schemeClr val="accent2"/>
                </a:solidFill>
                <a:cs typeface="Arial" charset="0"/>
              </a:rPr>
              <a:t>Regional </a:t>
            </a:r>
            <a:r>
              <a:rPr lang="en-US" i="1" dirty="0" err="1">
                <a:solidFill>
                  <a:schemeClr val="accent2"/>
                </a:solidFill>
                <a:cs typeface="Arial" charset="0"/>
              </a:rPr>
              <a:t>vs</a:t>
            </a:r>
            <a:r>
              <a:rPr lang="en-US" i="1" dirty="0">
                <a:solidFill>
                  <a:schemeClr val="accent2"/>
                </a:solidFill>
                <a:cs typeface="Arial" charset="0"/>
              </a:rPr>
              <a:t> GA</a:t>
            </a:r>
            <a:endParaRPr lang="en-US" dirty="0"/>
          </a:p>
        </p:txBody>
      </p:sp>
      <p:sp>
        <p:nvSpPr>
          <p:cNvPr id="1048814" name="Date Placeholder 3"/>
          <p:cNvSpPr>
            <a:spLocks noGrp="1"/>
          </p:cNvSpPr>
          <p:nvPr>
            <p:ph type="dt" sz="half" idx="10"/>
          </p:nvPr>
        </p:nvSpPr>
        <p:spPr/>
        <p:txBody>
          <a:bodyPr/>
          <a:lstStyle/>
          <a:p>
            <a:fld id="{FE4A93C1-773C-4D29-BA3B-9F75B3FBF523}" type="datetime1">
              <a:rPr lang="en-US" smtClean="0"/>
              <a:t>8/9/2021</a:t>
            </a:fld>
            <a:endParaRPr lang="en-US"/>
          </a:p>
        </p:txBody>
      </p:sp>
      <p:sp>
        <p:nvSpPr>
          <p:cNvPr id="1048815" name="Slide Number Placeholder 4"/>
          <p:cNvSpPr>
            <a:spLocks noGrp="1"/>
          </p:cNvSpPr>
          <p:nvPr>
            <p:ph type="sldNum" sz="quarter" idx="12"/>
          </p:nvPr>
        </p:nvSpPr>
        <p:spPr/>
        <p:txBody>
          <a:bodyPr/>
          <a:lstStyle/>
          <a:p>
            <a:fld id="{124970EB-A8C4-40D2-AF81-C6C16288290E}" type="slidenum">
              <a:rPr lang="en-US" smtClean="0"/>
              <a:pPr/>
              <a:t>44</a:t>
            </a:fld>
            <a:endParaRPr lang="en-US"/>
          </a:p>
        </p:txBody>
      </p:sp>
      <p:sp>
        <p:nvSpPr>
          <p:cNvPr id="1048816"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20" name="Title 1"/>
          <p:cNvSpPr>
            <a:spLocks noGrp="1"/>
          </p:cNvSpPr>
          <p:nvPr>
            <p:ph type="title"/>
          </p:nvPr>
        </p:nvSpPr>
        <p:spPr/>
        <p:txBody>
          <a:bodyPr>
            <a:normAutofit/>
          </a:bodyPr>
          <a:lstStyle/>
          <a:p>
            <a:r>
              <a:rPr lang="en-US" sz="3600" b="1" dirty="0"/>
              <a:t>Aortic regurgitation </a:t>
            </a:r>
          </a:p>
        </p:txBody>
      </p:sp>
      <p:sp>
        <p:nvSpPr>
          <p:cNvPr id="1048821" name="Content Placeholder 2"/>
          <p:cNvSpPr>
            <a:spLocks noGrp="1"/>
          </p:cNvSpPr>
          <p:nvPr>
            <p:ph idx="1"/>
          </p:nvPr>
        </p:nvSpPr>
        <p:spPr>
          <a:xfrm>
            <a:off x="304800" y="1600200"/>
            <a:ext cx="8382000" cy="4876800"/>
          </a:xfrm>
        </p:spPr>
        <p:txBody>
          <a:bodyPr>
            <a:normAutofit fontScale="93929"/>
          </a:bodyPr>
          <a:lstStyle/>
          <a:p>
            <a:pPr>
              <a:lnSpc>
                <a:spcPct val="150000"/>
              </a:lnSpc>
              <a:buBlip>
                <a:blip r:embed="rId3"/>
              </a:buBlip>
            </a:pPr>
            <a:r>
              <a:rPr lang="en-US" sz="2800" dirty="0"/>
              <a:t>AR is the flow of blood from the aorta backwards into the LV during the </a:t>
            </a:r>
            <a:r>
              <a:rPr lang="en-US" sz="2800" b="1" i="1" dirty="0">
                <a:solidFill>
                  <a:srgbClr val="FF0000"/>
                </a:solidFill>
              </a:rPr>
              <a:t>diastolic phase </a:t>
            </a:r>
            <a:r>
              <a:rPr lang="en-US" sz="2800" dirty="0"/>
              <a:t>of the cardiac cycle.</a:t>
            </a:r>
          </a:p>
          <a:p>
            <a:pPr>
              <a:lnSpc>
                <a:spcPct val="150000"/>
              </a:lnSpc>
              <a:buBlip>
                <a:blip r:embed="rId3"/>
              </a:buBlip>
            </a:pPr>
            <a:r>
              <a:rPr lang="en-US" sz="2800" dirty="0"/>
              <a:t> Is the result of annular dilatation or structural AV cusp lesions.</a:t>
            </a:r>
          </a:p>
          <a:p>
            <a:pPr>
              <a:buNone/>
            </a:pPr>
            <a:endParaRPr lang="en-US" sz="2800" b="1" dirty="0"/>
          </a:p>
        </p:txBody>
      </p:sp>
      <p:sp>
        <p:nvSpPr>
          <p:cNvPr id="1048822" name="Date Placeholder 3"/>
          <p:cNvSpPr>
            <a:spLocks noGrp="1"/>
          </p:cNvSpPr>
          <p:nvPr>
            <p:ph type="dt" sz="half" idx="10"/>
          </p:nvPr>
        </p:nvSpPr>
        <p:spPr/>
        <p:txBody>
          <a:bodyPr/>
          <a:lstStyle/>
          <a:p>
            <a:fld id="{D9533C36-3F60-433D-91A1-629A83AB7396}" type="datetime1">
              <a:rPr lang="en-US" smtClean="0"/>
              <a:t>8/9/2021</a:t>
            </a:fld>
            <a:endParaRPr lang="en-US"/>
          </a:p>
        </p:txBody>
      </p:sp>
      <p:sp>
        <p:nvSpPr>
          <p:cNvPr id="1048823" name="Slide Number Placeholder 4"/>
          <p:cNvSpPr>
            <a:spLocks noGrp="1"/>
          </p:cNvSpPr>
          <p:nvPr>
            <p:ph type="sldNum" sz="quarter" idx="12"/>
          </p:nvPr>
        </p:nvSpPr>
        <p:spPr/>
        <p:txBody>
          <a:bodyPr/>
          <a:lstStyle/>
          <a:p>
            <a:fld id="{124970EB-A8C4-40D2-AF81-C6C16288290E}" type="slidenum">
              <a:rPr lang="en-US" smtClean="0"/>
              <a:pPr/>
              <a:t>45</a:t>
            </a:fld>
            <a:endParaRPr lang="en-US"/>
          </a:p>
        </p:txBody>
      </p:sp>
      <p:sp>
        <p:nvSpPr>
          <p:cNvPr id="1048824"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34" name="Title 1"/>
          <p:cNvSpPr>
            <a:spLocks noGrp="1"/>
          </p:cNvSpPr>
          <p:nvPr>
            <p:ph type="title"/>
          </p:nvPr>
        </p:nvSpPr>
        <p:spPr>
          <a:xfrm>
            <a:off x="457200" y="274638"/>
            <a:ext cx="8229600" cy="944562"/>
          </a:xfrm>
        </p:spPr>
        <p:txBody>
          <a:bodyPr>
            <a:normAutofit fontScale="90000"/>
          </a:bodyPr>
          <a:lstStyle/>
          <a:p>
            <a:r>
              <a:rPr lang="en-US" b="1" dirty="0"/>
              <a:t>Etiology </a:t>
            </a:r>
            <a:br>
              <a:rPr lang="en-US" b="1" dirty="0"/>
            </a:br>
            <a:endParaRPr lang="en-US" dirty="0"/>
          </a:p>
        </p:txBody>
      </p:sp>
      <p:sp>
        <p:nvSpPr>
          <p:cNvPr id="1048835" name="Content Placeholder 2"/>
          <p:cNvSpPr>
            <a:spLocks noGrp="1"/>
          </p:cNvSpPr>
          <p:nvPr>
            <p:ph sz="half" idx="1"/>
          </p:nvPr>
        </p:nvSpPr>
        <p:spPr>
          <a:xfrm>
            <a:off x="457200" y="1371600"/>
            <a:ext cx="4191000" cy="4876800"/>
          </a:xfrm>
        </p:spPr>
        <p:txBody>
          <a:bodyPr>
            <a:normAutofit fontScale="88929" lnSpcReduction="10000"/>
          </a:bodyPr>
          <a:lstStyle/>
          <a:p>
            <a:pPr>
              <a:buNone/>
            </a:pPr>
            <a:r>
              <a:rPr lang="en-US" b="1" dirty="0"/>
              <a:t>Primary valve  disease</a:t>
            </a:r>
          </a:p>
          <a:p>
            <a:pPr>
              <a:lnSpc>
                <a:spcPct val="150000"/>
              </a:lnSpc>
              <a:buBlip>
                <a:blip r:embed="rId2"/>
              </a:buBlip>
            </a:pPr>
            <a:r>
              <a:rPr lang="en-US" sz="2900" b="1" dirty="0"/>
              <a:t>Congenital (bicuspid</a:t>
            </a:r>
            <a:r>
              <a:rPr lang="en-US" sz="2900" dirty="0"/>
              <a:t>)</a:t>
            </a:r>
          </a:p>
          <a:p>
            <a:pPr>
              <a:lnSpc>
                <a:spcPct val="150000"/>
              </a:lnSpc>
              <a:buBlip>
                <a:blip r:embed="rId2"/>
              </a:buBlip>
            </a:pPr>
            <a:r>
              <a:rPr lang="en-US" sz="2900" dirty="0" err="1"/>
              <a:t>Endocarditis</a:t>
            </a:r>
            <a:endParaRPr lang="en-US" sz="2900" dirty="0"/>
          </a:p>
          <a:p>
            <a:pPr>
              <a:lnSpc>
                <a:spcPct val="150000"/>
              </a:lnSpc>
              <a:buBlip>
                <a:blip r:embed="rId2"/>
              </a:buBlip>
            </a:pPr>
            <a:r>
              <a:rPr lang="en-US" sz="2900" dirty="0"/>
              <a:t>Rheumatic fever</a:t>
            </a:r>
          </a:p>
          <a:p>
            <a:pPr>
              <a:lnSpc>
                <a:spcPct val="150000"/>
              </a:lnSpc>
              <a:buBlip>
                <a:blip r:embed="rId2"/>
              </a:buBlip>
            </a:pPr>
            <a:r>
              <a:rPr lang="en-US" sz="2900" dirty="0" err="1"/>
              <a:t>Myxomatous</a:t>
            </a:r>
            <a:r>
              <a:rPr lang="en-US" sz="2900" dirty="0"/>
              <a:t> (</a:t>
            </a:r>
            <a:r>
              <a:rPr lang="en-US" sz="2900" dirty="0" err="1"/>
              <a:t>prolapse</a:t>
            </a:r>
            <a:r>
              <a:rPr lang="en-US" sz="2900" dirty="0"/>
              <a:t>)</a:t>
            </a:r>
          </a:p>
          <a:p>
            <a:pPr>
              <a:lnSpc>
                <a:spcPct val="150000"/>
              </a:lnSpc>
              <a:buBlip>
                <a:blip r:embed="rId2"/>
              </a:buBlip>
            </a:pPr>
            <a:r>
              <a:rPr lang="en-US" sz="2900" dirty="0"/>
              <a:t>Traumatic</a:t>
            </a:r>
          </a:p>
          <a:p>
            <a:pPr>
              <a:lnSpc>
                <a:spcPct val="150000"/>
              </a:lnSpc>
              <a:buBlip>
                <a:blip r:embed="rId2"/>
              </a:buBlip>
            </a:pPr>
            <a:r>
              <a:rPr lang="en-US" sz="2900" dirty="0"/>
              <a:t>Syphilis</a:t>
            </a:r>
          </a:p>
          <a:p>
            <a:pPr>
              <a:lnSpc>
                <a:spcPct val="150000"/>
              </a:lnSpc>
              <a:buBlip>
                <a:blip r:embed="rId2"/>
              </a:buBlip>
            </a:pPr>
            <a:r>
              <a:rPr lang="en-US" sz="2900" dirty="0" err="1"/>
              <a:t>Ankylosing</a:t>
            </a:r>
            <a:r>
              <a:rPr lang="en-US" sz="2900" dirty="0"/>
              <a:t> </a:t>
            </a:r>
            <a:r>
              <a:rPr lang="en-US" sz="2900" dirty="0" err="1"/>
              <a:t>spondylitis</a:t>
            </a:r>
            <a:endParaRPr lang="en-US" dirty="0"/>
          </a:p>
          <a:p>
            <a:pPr>
              <a:buBlip>
                <a:blip r:embed="rId2"/>
              </a:buBlip>
            </a:pPr>
            <a:endParaRPr lang="en-US" dirty="0"/>
          </a:p>
        </p:txBody>
      </p:sp>
      <p:sp>
        <p:nvSpPr>
          <p:cNvPr id="1048836" name="Content Placeholder 3"/>
          <p:cNvSpPr>
            <a:spLocks noGrp="1"/>
          </p:cNvSpPr>
          <p:nvPr>
            <p:ph sz="half" idx="2"/>
          </p:nvPr>
        </p:nvSpPr>
        <p:spPr>
          <a:xfrm>
            <a:off x="4648200" y="1447800"/>
            <a:ext cx="4343400" cy="4876800"/>
          </a:xfrm>
        </p:spPr>
        <p:txBody>
          <a:bodyPr>
            <a:noAutofit/>
          </a:bodyPr>
          <a:lstStyle/>
          <a:p>
            <a:pPr>
              <a:lnSpc>
                <a:spcPct val="150000"/>
              </a:lnSpc>
              <a:buNone/>
            </a:pPr>
            <a:r>
              <a:rPr lang="en-US" b="1" dirty="0"/>
              <a:t>Root disease</a:t>
            </a:r>
          </a:p>
          <a:p>
            <a:pPr>
              <a:lnSpc>
                <a:spcPct val="150000"/>
              </a:lnSpc>
              <a:buBlip>
                <a:blip r:embed="rId2"/>
              </a:buBlip>
            </a:pPr>
            <a:r>
              <a:rPr lang="en-US" dirty="0"/>
              <a:t>Aortic dissection</a:t>
            </a:r>
          </a:p>
          <a:p>
            <a:pPr>
              <a:lnSpc>
                <a:spcPct val="150000"/>
              </a:lnSpc>
              <a:buBlip>
                <a:blip r:embed="rId2"/>
              </a:buBlip>
            </a:pPr>
            <a:r>
              <a:rPr lang="en-US" dirty="0"/>
              <a:t>Cystic medial degeneration</a:t>
            </a:r>
          </a:p>
          <a:p>
            <a:pPr>
              <a:lnSpc>
                <a:spcPct val="150000"/>
              </a:lnSpc>
              <a:buBlip>
                <a:blip r:embed="rId2"/>
              </a:buBlip>
            </a:pPr>
            <a:r>
              <a:rPr lang="en-US" dirty="0" err="1"/>
              <a:t>Marfan’s</a:t>
            </a:r>
            <a:r>
              <a:rPr lang="en-US" dirty="0"/>
              <a:t> syndrome</a:t>
            </a:r>
          </a:p>
          <a:p>
            <a:pPr>
              <a:lnSpc>
                <a:spcPct val="150000"/>
              </a:lnSpc>
              <a:buBlip>
                <a:blip r:embed="rId2"/>
              </a:buBlip>
            </a:pPr>
            <a:r>
              <a:rPr lang="en-US" dirty="0"/>
              <a:t>Bicuspid aortic valve</a:t>
            </a:r>
          </a:p>
          <a:p>
            <a:pPr>
              <a:lnSpc>
                <a:spcPct val="150000"/>
              </a:lnSpc>
              <a:buNone/>
            </a:pPr>
            <a:endParaRPr lang="en-US" b="1" dirty="0"/>
          </a:p>
          <a:p>
            <a:pPr>
              <a:lnSpc>
                <a:spcPct val="150000"/>
              </a:lnSpc>
            </a:pPr>
            <a:endParaRPr lang="en-US" dirty="0"/>
          </a:p>
        </p:txBody>
      </p:sp>
      <p:sp>
        <p:nvSpPr>
          <p:cNvPr id="1048837" name="Date Placeholder 4"/>
          <p:cNvSpPr>
            <a:spLocks noGrp="1"/>
          </p:cNvSpPr>
          <p:nvPr>
            <p:ph type="dt" sz="half" idx="10"/>
          </p:nvPr>
        </p:nvSpPr>
        <p:spPr/>
        <p:txBody>
          <a:bodyPr/>
          <a:lstStyle/>
          <a:p>
            <a:fld id="{854AE395-E997-4EB9-B20B-D1A6068DAF0D}" type="datetime1">
              <a:rPr lang="en-US" smtClean="0"/>
              <a:t>8/9/2021</a:t>
            </a:fld>
            <a:endParaRPr lang="en-US"/>
          </a:p>
        </p:txBody>
      </p:sp>
      <p:sp>
        <p:nvSpPr>
          <p:cNvPr id="1048838" name="Footer Placeholder 5"/>
          <p:cNvSpPr>
            <a:spLocks noGrp="1"/>
          </p:cNvSpPr>
          <p:nvPr>
            <p:ph type="ftr" sz="quarter" idx="11"/>
          </p:nvPr>
        </p:nvSpPr>
        <p:spPr/>
        <p:txBody>
          <a:bodyPr/>
          <a:lstStyle/>
          <a:p>
            <a:r>
              <a:rPr lang="en-US"/>
              <a:t>Anesthesia for VHD </a:t>
            </a:r>
          </a:p>
        </p:txBody>
      </p:sp>
      <p:sp>
        <p:nvSpPr>
          <p:cNvPr id="1048839" name="Slide Number Placeholder 6"/>
          <p:cNvSpPr>
            <a:spLocks noGrp="1"/>
          </p:cNvSpPr>
          <p:nvPr>
            <p:ph type="sldNum" sz="quarter" idx="12"/>
          </p:nvPr>
        </p:nvSpPr>
        <p:spPr/>
        <p:txBody>
          <a:bodyPr/>
          <a:lstStyle/>
          <a:p>
            <a:fld id="{124970EB-A8C4-40D2-AF81-C6C16288290E}" type="slidenum">
              <a:rPr lang="en-US" smtClean="0"/>
              <a:pPr/>
              <a:t>46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48835">
                                            <p:txEl>
                                              <p:pRg st="0" end="0"/>
                                            </p:txEl>
                                          </p:spTgt>
                                        </p:tgtEl>
                                        <p:attrNameLst>
                                          <p:attrName>style.visibility</p:attrName>
                                        </p:attrNameLst>
                                      </p:cBhvr>
                                      <p:to>
                                        <p:strVal val="visible"/>
                                      </p:to>
                                    </p:set>
                                    <p:anim calcmode="lin" valueType="num">
                                      <p:cBhvr additive="base">
                                        <p:cTn id="7" dur="500" fill="hold"/>
                                        <p:tgtEl>
                                          <p:spTgt spid="10488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488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48835">
                                            <p:txEl>
                                              <p:pRg st="1" end="1"/>
                                            </p:txEl>
                                          </p:spTgt>
                                        </p:tgtEl>
                                        <p:attrNameLst>
                                          <p:attrName>style.visibility</p:attrName>
                                        </p:attrNameLst>
                                      </p:cBhvr>
                                      <p:to>
                                        <p:strVal val="visible"/>
                                      </p:to>
                                    </p:set>
                                    <p:anim calcmode="lin" valueType="num">
                                      <p:cBhvr additive="base">
                                        <p:cTn id="13" dur="500" fill="hold"/>
                                        <p:tgtEl>
                                          <p:spTgt spid="104883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488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48835">
                                            <p:txEl>
                                              <p:pRg st="2" end="2"/>
                                            </p:txEl>
                                          </p:spTgt>
                                        </p:tgtEl>
                                        <p:attrNameLst>
                                          <p:attrName>style.visibility</p:attrName>
                                        </p:attrNameLst>
                                      </p:cBhvr>
                                      <p:to>
                                        <p:strVal val="visible"/>
                                      </p:to>
                                    </p:set>
                                    <p:anim calcmode="lin" valueType="num">
                                      <p:cBhvr additive="base">
                                        <p:cTn id="19" dur="500" fill="hold"/>
                                        <p:tgtEl>
                                          <p:spTgt spid="104883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488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48835">
                                            <p:txEl>
                                              <p:pRg st="3" end="3"/>
                                            </p:txEl>
                                          </p:spTgt>
                                        </p:tgtEl>
                                        <p:attrNameLst>
                                          <p:attrName>style.visibility</p:attrName>
                                        </p:attrNameLst>
                                      </p:cBhvr>
                                      <p:to>
                                        <p:strVal val="visible"/>
                                      </p:to>
                                    </p:set>
                                    <p:anim calcmode="lin" valueType="num">
                                      <p:cBhvr additive="base">
                                        <p:cTn id="25" dur="500" fill="hold"/>
                                        <p:tgtEl>
                                          <p:spTgt spid="104883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4883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48835">
                                            <p:txEl>
                                              <p:pRg st="4" end="4"/>
                                            </p:txEl>
                                          </p:spTgt>
                                        </p:tgtEl>
                                        <p:attrNameLst>
                                          <p:attrName>style.visibility</p:attrName>
                                        </p:attrNameLst>
                                      </p:cBhvr>
                                      <p:to>
                                        <p:strVal val="visible"/>
                                      </p:to>
                                    </p:set>
                                    <p:anim calcmode="lin" valueType="num">
                                      <p:cBhvr additive="base">
                                        <p:cTn id="31" dur="500" fill="hold"/>
                                        <p:tgtEl>
                                          <p:spTgt spid="104883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4883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048835">
                                            <p:txEl>
                                              <p:pRg st="5" end="5"/>
                                            </p:txEl>
                                          </p:spTgt>
                                        </p:tgtEl>
                                        <p:attrNameLst>
                                          <p:attrName>style.visibility</p:attrName>
                                        </p:attrNameLst>
                                      </p:cBhvr>
                                      <p:to>
                                        <p:strVal val="visible"/>
                                      </p:to>
                                    </p:set>
                                    <p:anim calcmode="lin" valueType="num">
                                      <p:cBhvr additive="base">
                                        <p:cTn id="37" dur="500" fill="hold"/>
                                        <p:tgtEl>
                                          <p:spTgt spid="104883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04883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048835">
                                            <p:txEl>
                                              <p:pRg st="6" end="6"/>
                                            </p:txEl>
                                          </p:spTgt>
                                        </p:tgtEl>
                                        <p:attrNameLst>
                                          <p:attrName>style.visibility</p:attrName>
                                        </p:attrNameLst>
                                      </p:cBhvr>
                                      <p:to>
                                        <p:strVal val="visible"/>
                                      </p:to>
                                    </p:set>
                                    <p:anim calcmode="lin" valueType="num">
                                      <p:cBhvr additive="base">
                                        <p:cTn id="43" dur="500" fill="hold"/>
                                        <p:tgtEl>
                                          <p:spTgt spid="104883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04883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048835">
                                            <p:txEl>
                                              <p:pRg st="7" end="7"/>
                                            </p:txEl>
                                          </p:spTgt>
                                        </p:tgtEl>
                                        <p:attrNameLst>
                                          <p:attrName>style.visibility</p:attrName>
                                        </p:attrNameLst>
                                      </p:cBhvr>
                                      <p:to>
                                        <p:strVal val="visible"/>
                                      </p:to>
                                    </p:set>
                                    <p:anim calcmode="lin" valueType="num">
                                      <p:cBhvr additive="base">
                                        <p:cTn id="49" dur="500" fill="hold"/>
                                        <p:tgtEl>
                                          <p:spTgt spid="1048835">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04883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048836">
                                            <p:txEl>
                                              <p:pRg st="0" end="0"/>
                                            </p:txEl>
                                          </p:spTgt>
                                        </p:tgtEl>
                                        <p:attrNameLst>
                                          <p:attrName>style.visibility</p:attrName>
                                        </p:attrNameLst>
                                      </p:cBhvr>
                                      <p:to>
                                        <p:strVal val="visible"/>
                                      </p:to>
                                    </p:set>
                                    <p:anim calcmode="lin" valueType="num">
                                      <p:cBhvr additive="base">
                                        <p:cTn id="55" dur="500" fill="hold"/>
                                        <p:tgtEl>
                                          <p:spTgt spid="1048836">
                                            <p:txEl>
                                              <p:pRg st="0" end="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04883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048836">
                                            <p:txEl>
                                              <p:pRg st="1" end="1"/>
                                            </p:txEl>
                                          </p:spTgt>
                                        </p:tgtEl>
                                        <p:attrNameLst>
                                          <p:attrName>style.visibility</p:attrName>
                                        </p:attrNameLst>
                                      </p:cBhvr>
                                      <p:to>
                                        <p:strVal val="visible"/>
                                      </p:to>
                                    </p:set>
                                    <p:anim calcmode="lin" valueType="num">
                                      <p:cBhvr additive="base">
                                        <p:cTn id="61" dur="500" fill="hold"/>
                                        <p:tgtEl>
                                          <p:spTgt spid="1048836">
                                            <p:txEl>
                                              <p:pRg st="1" end="1"/>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104883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1048836">
                                            <p:txEl>
                                              <p:pRg st="2" end="2"/>
                                            </p:txEl>
                                          </p:spTgt>
                                        </p:tgtEl>
                                        <p:attrNameLst>
                                          <p:attrName>style.visibility</p:attrName>
                                        </p:attrNameLst>
                                      </p:cBhvr>
                                      <p:to>
                                        <p:strVal val="visible"/>
                                      </p:to>
                                    </p:set>
                                    <p:anim calcmode="lin" valueType="num">
                                      <p:cBhvr additive="base">
                                        <p:cTn id="67" dur="500" fill="hold"/>
                                        <p:tgtEl>
                                          <p:spTgt spid="1048836">
                                            <p:txEl>
                                              <p:pRg st="2" end="2"/>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104883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1048836">
                                            <p:txEl>
                                              <p:pRg st="3" end="3"/>
                                            </p:txEl>
                                          </p:spTgt>
                                        </p:tgtEl>
                                        <p:attrNameLst>
                                          <p:attrName>style.visibility</p:attrName>
                                        </p:attrNameLst>
                                      </p:cBhvr>
                                      <p:to>
                                        <p:strVal val="visible"/>
                                      </p:to>
                                    </p:set>
                                    <p:anim calcmode="lin" valueType="num">
                                      <p:cBhvr additive="base">
                                        <p:cTn id="73" dur="500" fill="hold"/>
                                        <p:tgtEl>
                                          <p:spTgt spid="1048836">
                                            <p:txEl>
                                              <p:pRg st="3" end="3"/>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104883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1048836">
                                            <p:txEl>
                                              <p:pRg st="4" end="4"/>
                                            </p:txEl>
                                          </p:spTgt>
                                        </p:tgtEl>
                                        <p:attrNameLst>
                                          <p:attrName>style.visibility</p:attrName>
                                        </p:attrNameLst>
                                      </p:cBhvr>
                                      <p:to>
                                        <p:strVal val="visible"/>
                                      </p:to>
                                    </p:set>
                                    <p:anim calcmode="lin" valueType="num">
                                      <p:cBhvr additive="base">
                                        <p:cTn id="79" dur="500" fill="hold"/>
                                        <p:tgtEl>
                                          <p:spTgt spid="1048836">
                                            <p:txEl>
                                              <p:pRg st="4" end="4"/>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104883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835" grpId="0" build="p"/>
      <p:bldP spid="1048836"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40" name="Title 1"/>
          <p:cNvSpPr>
            <a:spLocks noGrp="1"/>
          </p:cNvSpPr>
          <p:nvPr>
            <p:ph type="title"/>
          </p:nvPr>
        </p:nvSpPr>
        <p:spPr/>
        <p:txBody>
          <a:bodyPr>
            <a:normAutofit/>
          </a:bodyPr>
          <a:lstStyle/>
          <a:p>
            <a:r>
              <a:rPr lang="en-US" sz="4000" b="1" dirty="0"/>
              <a:t>PATHOPHYSIOLOGY</a:t>
            </a:r>
          </a:p>
        </p:txBody>
      </p:sp>
      <p:sp>
        <p:nvSpPr>
          <p:cNvPr id="1048841" name="Content Placeholder 2"/>
          <p:cNvSpPr>
            <a:spLocks noGrp="1"/>
          </p:cNvSpPr>
          <p:nvPr>
            <p:ph idx="1"/>
          </p:nvPr>
        </p:nvSpPr>
        <p:spPr>
          <a:xfrm>
            <a:off x="228600" y="1295400"/>
            <a:ext cx="8686800" cy="5334000"/>
          </a:xfrm>
        </p:spPr>
        <p:txBody>
          <a:bodyPr>
            <a:normAutofit fontScale="96875"/>
          </a:bodyPr>
          <a:lstStyle/>
          <a:p>
            <a:pPr>
              <a:lnSpc>
                <a:spcPct val="200000"/>
              </a:lnSpc>
              <a:buBlip>
                <a:blip r:embed="rId3"/>
              </a:buBlip>
            </a:pPr>
            <a:r>
              <a:rPr lang="en-US" sz="2900" dirty="0"/>
              <a:t>The </a:t>
            </a:r>
            <a:r>
              <a:rPr lang="en-US" sz="2900" dirty="0">
                <a:solidFill>
                  <a:schemeClr val="accent2"/>
                </a:solidFill>
              </a:rPr>
              <a:t>total stroke volume </a:t>
            </a:r>
            <a:r>
              <a:rPr lang="en-US" sz="2900" dirty="0"/>
              <a:t>ejected by the LV is increased in patients with AR.</a:t>
            </a:r>
          </a:p>
          <a:p>
            <a:pPr>
              <a:lnSpc>
                <a:spcPct val="200000"/>
              </a:lnSpc>
              <a:buBlip>
                <a:blip r:embed="rId3"/>
              </a:buBlip>
            </a:pPr>
            <a:r>
              <a:rPr lang="en-US" sz="2900" dirty="0"/>
              <a:t>In patients with severe AR, the volume of </a:t>
            </a:r>
            <a:r>
              <a:rPr lang="en-US" sz="2900" dirty="0" err="1"/>
              <a:t>regurgitant</a:t>
            </a:r>
            <a:r>
              <a:rPr lang="en-US" sz="2900" dirty="0"/>
              <a:t> flow may equal the effective forward stroke volume.</a:t>
            </a:r>
          </a:p>
          <a:p>
            <a:endParaRPr lang="en-US" b="1" dirty="0"/>
          </a:p>
        </p:txBody>
      </p:sp>
      <p:sp>
        <p:nvSpPr>
          <p:cNvPr id="1048842" name="Date Placeholder 3"/>
          <p:cNvSpPr>
            <a:spLocks noGrp="1"/>
          </p:cNvSpPr>
          <p:nvPr>
            <p:ph type="dt" sz="half" idx="10"/>
          </p:nvPr>
        </p:nvSpPr>
        <p:spPr/>
        <p:txBody>
          <a:bodyPr/>
          <a:lstStyle/>
          <a:p>
            <a:fld id="{93CA07D1-FD49-4633-BE92-6C18A9E87B92}" type="datetime1">
              <a:rPr lang="en-US" smtClean="0"/>
              <a:t>8/9/2021</a:t>
            </a:fld>
            <a:endParaRPr lang="en-US"/>
          </a:p>
        </p:txBody>
      </p:sp>
      <p:sp>
        <p:nvSpPr>
          <p:cNvPr id="1048843" name="Slide Number Placeholder 4"/>
          <p:cNvSpPr>
            <a:spLocks noGrp="1"/>
          </p:cNvSpPr>
          <p:nvPr>
            <p:ph type="sldNum" sz="quarter" idx="12"/>
          </p:nvPr>
        </p:nvSpPr>
        <p:spPr/>
        <p:txBody>
          <a:bodyPr/>
          <a:lstStyle/>
          <a:p>
            <a:fld id="{124970EB-A8C4-40D2-AF81-C6C16288290E}" type="slidenum">
              <a:rPr lang="en-US" smtClean="0"/>
              <a:pPr/>
              <a:t>47</a:t>
            </a:fld>
            <a:endParaRPr lang="en-US"/>
          </a:p>
        </p:txBody>
      </p:sp>
      <p:sp>
        <p:nvSpPr>
          <p:cNvPr id="1048844"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b="1" dirty="0"/>
              <a:t>major hemodynamic compensation for AR</a:t>
            </a:r>
            <a:br>
              <a:rPr lang="en-US" sz="3600" b="1" dirty="0"/>
            </a:br>
            <a:endParaRPr lang="en-US" dirty="0"/>
          </a:p>
        </p:txBody>
      </p:sp>
      <p:sp>
        <p:nvSpPr>
          <p:cNvPr id="3" name="Content Placeholder 2"/>
          <p:cNvSpPr>
            <a:spLocks noGrp="1"/>
          </p:cNvSpPr>
          <p:nvPr>
            <p:ph idx="1"/>
          </p:nvPr>
        </p:nvSpPr>
        <p:spPr>
          <a:xfrm>
            <a:off x="152400" y="1295400"/>
            <a:ext cx="8534400" cy="4830763"/>
          </a:xfrm>
        </p:spPr>
        <p:txBody>
          <a:bodyPr/>
          <a:lstStyle/>
          <a:p>
            <a:pPr>
              <a:lnSpc>
                <a:spcPct val="200000"/>
              </a:lnSpc>
              <a:buBlip>
                <a:blip r:embed="rId2"/>
              </a:buBlip>
            </a:pPr>
            <a:r>
              <a:rPr lang="en-US" dirty="0"/>
              <a:t>increase in the LV end-diastolic volume</a:t>
            </a:r>
          </a:p>
          <a:p>
            <a:pPr>
              <a:lnSpc>
                <a:spcPct val="200000"/>
              </a:lnSpc>
              <a:buBlip>
                <a:blip r:embed="rId2"/>
              </a:buBlip>
            </a:pPr>
            <a:r>
              <a:rPr lang="en-US" dirty="0"/>
              <a:t>The dilation and </a:t>
            </a:r>
            <a:r>
              <a:rPr lang="en-US" i="1" dirty="0">
                <a:solidFill>
                  <a:srgbClr val="FF0000"/>
                </a:solidFill>
              </a:rPr>
              <a:t>eccentric hypertrophy </a:t>
            </a:r>
            <a:r>
              <a:rPr lang="en-US" dirty="0"/>
              <a:t>of the LV</a:t>
            </a:r>
          </a:p>
          <a:p>
            <a:endParaRPr lang="en-US" dirty="0"/>
          </a:p>
        </p:txBody>
      </p:sp>
      <p:sp>
        <p:nvSpPr>
          <p:cNvPr id="4" name="Date Placeholder 3"/>
          <p:cNvSpPr>
            <a:spLocks noGrp="1"/>
          </p:cNvSpPr>
          <p:nvPr>
            <p:ph type="dt" sz="half" idx="10"/>
          </p:nvPr>
        </p:nvSpPr>
        <p:spPr/>
        <p:txBody>
          <a:bodyPr/>
          <a:lstStyle/>
          <a:p>
            <a:fld id="{AB7DB05B-8107-4F83-B03B-363309A2F1F7}" type="datetime1">
              <a:rPr lang="en-US" smtClean="0"/>
              <a:t>8/9/2021</a:t>
            </a:fld>
            <a:endParaRPr lang="en-US"/>
          </a:p>
        </p:txBody>
      </p:sp>
      <p:sp>
        <p:nvSpPr>
          <p:cNvPr id="5" name="Slide Number Placeholder 4"/>
          <p:cNvSpPr>
            <a:spLocks noGrp="1"/>
          </p:cNvSpPr>
          <p:nvPr>
            <p:ph type="sldNum" sz="quarter" idx="12"/>
          </p:nvPr>
        </p:nvSpPr>
        <p:spPr/>
        <p:txBody>
          <a:bodyPr/>
          <a:lstStyle/>
          <a:p>
            <a:fld id="{81D9AF01-45F5-44F6-94C9-E46484F8FCE6}" type="slidenum">
              <a:rPr lang="en-US" smtClean="0"/>
              <a:pPr/>
              <a:t>48</a:t>
            </a:fld>
            <a:endParaRPr lang="en-US"/>
          </a:p>
        </p:txBody>
      </p:sp>
      <p:sp>
        <p:nvSpPr>
          <p:cNvPr id="6"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48" name="Title 1"/>
          <p:cNvSpPr>
            <a:spLocks noGrp="1"/>
          </p:cNvSpPr>
          <p:nvPr>
            <p:ph type="title"/>
          </p:nvPr>
        </p:nvSpPr>
        <p:spPr>
          <a:xfrm>
            <a:off x="457200" y="274638"/>
            <a:ext cx="8229600" cy="715962"/>
          </a:xfrm>
        </p:spPr>
        <p:txBody>
          <a:bodyPr>
            <a:normAutofit fontScale="90000"/>
          </a:bodyPr>
          <a:lstStyle/>
          <a:p>
            <a:r>
              <a:rPr lang="en-US" b="1" dirty="0" err="1"/>
              <a:t>Pathophysiology</a:t>
            </a:r>
            <a:r>
              <a:rPr lang="en-US" b="1" dirty="0"/>
              <a:t> </a:t>
            </a:r>
          </a:p>
        </p:txBody>
      </p:sp>
      <p:pic>
        <p:nvPicPr>
          <p:cNvPr id="2097171" name="Picture 2"/>
          <p:cNvPicPr>
            <a:picLocks noGrp="1" noChangeAspect="1" noChangeArrowheads="1"/>
          </p:cNvPicPr>
          <p:nvPr>
            <p:ph idx="1"/>
          </p:nvPr>
        </p:nvPicPr>
        <p:blipFill>
          <a:blip r:embed="rId3"/>
          <a:srcRect/>
          <a:stretch>
            <a:fillRect/>
          </a:stretch>
        </p:blipFill>
        <p:spPr bwMode="auto">
          <a:xfrm>
            <a:off x="304800" y="1143000"/>
            <a:ext cx="8581294" cy="5312230"/>
          </a:xfrm>
          <a:prstGeom prst="rect">
            <a:avLst/>
          </a:prstGeom>
          <a:noFill/>
          <a:ln w="9525">
            <a:noFill/>
            <a:miter lim="800000"/>
            <a:headEnd/>
            <a:tailEnd/>
          </a:ln>
          <a:effectLst/>
        </p:spPr>
      </p:pic>
      <p:sp>
        <p:nvSpPr>
          <p:cNvPr id="1048849" name="Date Placeholder 3"/>
          <p:cNvSpPr>
            <a:spLocks noGrp="1"/>
          </p:cNvSpPr>
          <p:nvPr>
            <p:ph type="dt" sz="half" idx="10"/>
          </p:nvPr>
        </p:nvSpPr>
        <p:spPr/>
        <p:txBody>
          <a:bodyPr/>
          <a:lstStyle/>
          <a:p>
            <a:fld id="{1E9C7D12-853F-4816-B92E-BBD5D8D58906}" type="datetime1">
              <a:rPr lang="en-US" smtClean="0"/>
              <a:t>8/9/2021</a:t>
            </a:fld>
            <a:endParaRPr lang="en-US"/>
          </a:p>
        </p:txBody>
      </p:sp>
      <p:sp>
        <p:nvSpPr>
          <p:cNvPr id="1048850" name="Slide Number Placeholder 4"/>
          <p:cNvSpPr>
            <a:spLocks noGrp="1"/>
          </p:cNvSpPr>
          <p:nvPr>
            <p:ph type="sldNum" sz="quarter" idx="12"/>
          </p:nvPr>
        </p:nvSpPr>
        <p:spPr/>
        <p:txBody>
          <a:bodyPr/>
          <a:lstStyle/>
          <a:p>
            <a:fld id="{124970EB-A8C4-40D2-AF81-C6C16288290E}" type="slidenum">
              <a:rPr lang="en-US" smtClean="0"/>
              <a:pPr/>
              <a:t>49</a:t>
            </a:fld>
            <a:endParaRPr lang="en-US"/>
          </a:p>
        </p:txBody>
      </p:sp>
      <p:sp>
        <p:nvSpPr>
          <p:cNvPr id="1048851"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55" name="Title 1"/>
          <p:cNvSpPr>
            <a:spLocks noGrp="1"/>
          </p:cNvSpPr>
          <p:nvPr>
            <p:ph type="title"/>
          </p:nvPr>
        </p:nvSpPr>
        <p:spPr/>
        <p:txBody>
          <a:bodyPr/>
          <a:lstStyle/>
          <a:p>
            <a:r>
              <a:rPr lang="en-US" dirty="0"/>
              <a:t>Cont….</a:t>
            </a:r>
          </a:p>
        </p:txBody>
      </p:sp>
      <p:sp>
        <p:nvSpPr>
          <p:cNvPr id="1048856" name="Date Placeholder 3"/>
          <p:cNvSpPr>
            <a:spLocks noGrp="1"/>
          </p:cNvSpPr>
          <p:nvPr>
            <p:ph type="dt" sz="half" idx="10"/>
          </p:nvPr>
        </p:nvSpPr>
        <p:spPr/>
        <p:txBody>
          <a:bodyPr/>
          <a:lstStyle/>
          <a:p>
            <a:fld id="{C603EDDD-5E73-4328-9EC1-90E13973826E}" type="datetime1">
              <a:rPr lang="en-US" smtClean="0"/>
              <a:t>8/9/2021</a:t>
            </a:fld>
            <a:endParaRPr lang="en-US"/>
          </a:p>
        </p:txBody>
      </p:sp>
      <p:sp>
        <p:nvSpPr>
          <p:cNvPr id="1048857" name="Footer Placeholder 4"/>
          <p:cNvSpPr>
            <a:spLocks noGrp="1"/>
          </p:cNvSpPr>
          <p:nvPr>
            <p:ph type="ftr" sz="quarter" idx="11"/>
          </p:nvPr>
        </p:nvSpPr>
        <p:spPr/>
        <p:txBody>
          <a:bodyPr/>
          <a:lstStyle/>
          <a:p>
            <a:r>
              <a:rPr lang="en-US"/>
              <a:t>Anesthesia for VHD </a:t>
            </a:r>
          </a:p>
        </p:txBody>
      </p:sp>
      <p:sp>
        <p:nvSpPr>
          <p:cNvPr id="1048858" name="Slide Number Placeholder 5"/>
          <p:cNvSpPr>
            <a:spLocks noGrp="1"/>
          </p:cNvSpPr>
          <p:nvPr>
            <p:ph type="sldNum" sz="quarter" idx="12"/>
          </p:nvPr>
        </p:nvSpPr>
        <p:spPr/>
        <p:txBody>
          <a:bodyPr/>
          <a:lstStyle/>
          <a:p>
            <a:fld id="{124970EB-A8C4-40D2-AF81-C6C16288290E}" type="slidenum">
              <a:rPr lang="en-US" smtClean="0"/>
              <a:pPr/>
              <a:t>50</a:t>
            </a:fld>
            <a:endParaRPr lang="en-US"/>
          </a:p>
        </p:txBody>
      </p:sp>
      <p:pic>
        <p:nvPicPr>
          <p:cNvPr id="2097172" name="Picture 2"/>
          <p:cNvPicPr>
            <a:picLocks noGrp="1" noChangeAspect="1" noChangeArrowheads="1"/>
          </p:cNvPicPr>
          <p:nvPr>
            <p:ph idx="1"/>
          </p:nvPr>
        </p:nvPicPr>
        <p:blipFill>
          <a:blip r:embed="rId3"/>
          <a:srcRect/>
          <a:stretch>
            <a:fillRect/>
          </a:stretch>
        </p:blipFill>
        <p:spPr bwMode="auto">
          <a:xfrm>
            <a:off x="457200" y="1295400"/>
            <a:ext cx="8001000" cy="4953000"/>
          </a:xfrm>
          <a:prstGeom prst="rect">
            <a:avLst/>
          </a:prstGeom>
          <a:noFill/>
          <a:ln w="9525">
            <a:noFill/>
            <a:miter lim="800000"/>
            <a:headEnd/>
            <a:tailEnd/>
          </a:ln>
          <a:effec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62" name="Title 1"/>
          <p:cNvSpPr>
            <a:spLocks noGrp="1"/>
          </p:cNvSpPr>
          <p:nvPr>
            <p:ph type="title"/>
          </p:nvPr>
        </p:nvSpPr>
        <p:spPr>
          <a:xfrm>
            <a:off x="533400" y="0"/>
            <a:ext cx="8229600" cy="1143000"/>
          </a:xfrm>
        </p:spPr>
        <p:txBody>
          <a:bodyPr/>
          <a:lstStyle/>
          <a:p>
            <a:r>
              <a:rPr lang="en-US" dirty="0"/>
              <a:t>CONT….</a:t>
            </a:r>
          </a:p>
        </p:txBody>
      </p:sp>
      <p:sp>
        <p:nvSpPr>
          <p:cNvPr id="1048863" name="Content Placeholder 2"/>
          <p:cNvSpPr>
            <a:spLocks noGrp="1"/>
          </p:cNvSpPr>
          <p:nvPr>
            <p:ph idx="1"/>
          </p:nvPr>
        </p:nvSpPr>
        <p:spPr>
          <a:xfrm>
            <a:off x="304800" y="1143000"/>
            <a:ext cx="8610600" cy="5715000"/>
          </a:xfrm>
        </p:spPr>
        <p:txBody>
          <a:bodyPr>
            <a:normAutofit fontScale="96429"/>
          </a:bodyPr>
          <a:lstStyle/>
          <a:p>
            <a:pPr>
              <a:buBlip>
                <a:blip r:embed="rId3"/>
              </a:buBlip>
            </a:pPr>
            <a:r>
              <a:rPr lang="en-US" dirty="0">
                <a:latin typeface="Arial" charset="0"/>
                <a:cs typeface="Arial" charset="0"/>
              </a:rPr>
              <a:t>Characterized by:</a:t>
            </a:r>
          </a:p>
          <a:p>
            <a:pPr lvl="1">
              <a:lnSpc>
                <a:spcPct val="150000"/>
              </a:lnSpc>
              <a:buBlip>
                <a:blip r:embed="rId4"/>
              </a:buBlip>
            </a:pPr>
            <a:r>
              <a:rPr lang="en-US" dirty="0">
                <a:latin typeface="Arial" charset="0"/>
                <a:cs typeface="Arial" charset="0"/>
              </a:rPr>
              <a:t>Chronic volume overload</a:t>
            </a:r>
          </a:p>
          <a:p>
            <a:pPr lvl="1">
              <a:lnSpc>
                <a:spcPct val="150000"/>
              </a:lnSpc>
              <a:buBlip>
                <a:blip r:embed="rId4"/>
              </a:buBlip>
            </a:pPr>
            <a:r>
              <a:rPr lang="en-US" dirty="0">
                <a:latin typeface="Arial" charset="0"/>
                <a:cs typeface="Arial" charset="0"/>
              </a:rPr>
              <a:t>Eccentric hypertrophy</a:t>
            </a:r>
          </a:p>
          <a:p>
            <a:pPr lvl="1">
              <a:lnSpc>
                <a:spcPct val="150000"/>
              </a:lnSpc>
              <a:buBlip>
                <a:blip r:embed="rId4"/>
              </a:buBlip>
            </a:pPr>
            <a:r>
              <a:rPr lang="en-US" dirty="0">
                <a:latin typeface="Arial" charset="0"/>
                <a:cs typeface="Arial" charset="0"/>
              </a:rPr>
              <a:t>Forward stroke volume higher than normal causing increased systolic pressure</a:t>
            </a:r>
          </a:p>
          <a:p>
            <a:pPr lvl="1">
              <a:lnSpc>
                <a:spcPct val="150000"/>
              </a:lnSpc>
              <a:buBlip>
                <a:blip r:embed="rId4"/>
              </a:buBlip>
            </a:pPr>
            <a:r>
              <a:rPr lang="en-US" dirty="0">
                <a:latin typeface="Arial" charset="0"/>
                <a:cs typeface="Arial" charset="0"/>
              </a:rPr>
              <a:t>Regurgitation across the valve causes diastolic pressure to be lower than normal</a:t>
            </a:r>
          </a:p>
          <a:p>
            <a:pPr>
              <a:buNone/>
            </a:pPr>
            <a:endParaRPr lang="en-US" dirty="0">
              <a:solidFill>
                <a:srgbClr val="FF0000"/>
              </a:solidFill>
              <a:effectLst>
                <a:outerShdw blurRad="38100" dist="38100" dir="2700000" algn="tl">
                  <a:srgbClr val="000000">
                    <a:alpha val="43137"/>
                  </a:srgbClr>
                </a:outerShdw>
              </a:effectLst>
              <a:latin typeface="Arial" charset="0"/>
              <a:cs typeface="Arial" charset="0"/>
            </a:endParaRPr>
          </a:p>
          <a:p>
            <a:pPr>
              <a:buBlip>
                <a:blip r:embed="rId4"/>
              </a:buBlip>
            </a:pPr>
            <a:endParaRPr lang="en-US" dirty="0"/>
          </a:p>
        </p:txBody>
      </p:sp>
      <p:sp>
        <p:nvSpPr>
          <p:cNvPr id="1048864" name="Date Placeholder 3"/>
          <p:cNvSpPr>
            <a:spLocks noGrp="1"/>
          </p:cNvSpPr>
          <p:nvPr>
            <p:ph type="dt" sz="half" idx="10"/>
          </p:nvPr>
        </p:nvSpPr>
        <p:spPr/>
        <p:txBody>
          <a:bodyPr/>
          <a:lstStyle/>
          <a:p>
            <a:fld id="{9AA870B4-94C7-4158-85ED-583A550DB3EF}" type="datetime1">
              <a:rPr lang="en-US" smtClean="0"/>
              <a:t>8/9/2021</a:t>
            </a:fld>
            <a:endParaRPr lang="en-US"/>
          </a:p>
        </p:txBody>
      </p:sp>
      <p:sp>
        <p:nvSpPr>
          <p:cNvPr id="1048865" name="Slide Number Placeholder 4"/>
          <p:cNvSpPr>
            <a:spLocks noGrp="1"/>
          </p:cNvSpPr>
          <p:nvPr>
            <p:ph type="sldNum" sz="quarter" idx="12"/>
          </p:nvPr>
        </p:nvSpPr>
        <p:spPr/>
        <p:txBody>
          <a:bodyPr/>
          <a:lstStyle/>
          <a:p>
            <a:fld id="{124970EB-A8C4-40D2-AF81-C6C16288290E}" type="slidenum">
              <a:rPr lang="en-US" smtClean="0"/>
              <a:pPr/>
              <a:t>51</a:t>
            </a:fld>
            <a:endParaRPr lang="en-US"/>
          </a:p>
        </p:txBody>
      </p:sp>
      <p:sp>
        <p:nvSpPr>
          <p:cNvPr id="1048866" name="Footer Placeholder 5"/>
          <p:cNvSpPr>
            <a:spLocks noGrp="1"/>
          </p:cNvSpPr>
          <p:nvPr>
            <p:ph type="ftr" sz="quarter" idx="11"/>
          </p:nvPr>
        </p:nvSpPr>
        <p:spPr/>
        <p:txBody>
          <a:bodyPr/>
          <a:lstStyle/>
          <a:p>
            <a:r>
              <a:rPr lang="en-US"/>
              <a:t>Anesthesia for VHD </a:t>
            </a:r>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70" name="Title 1"/>
          <p:cNvSpPr>
            <a:spLocks noGrp="1"/>
          </p:cNvSpPr>
          <p:nvPr>
            <p:ph type="title"/>
          </p:nvPr>
        </p:nvSpPr>
        <p:spPr/>
        <p:txBody>
          <a:bodyPr/>
          <a:lstStyle/>
          <a:p>
            <a:r>
              <a:rPr lang="en-US" dirty="0"/>
              <a:t>Cont….</a:t>
            </a:r>
          </a:p>
        </p:txBody>
      </p:sp>
      <p:sp>
        <p:nvSpPr>
          <p:cNvPr id="1048871" name="Content Placeholder 2"/>
          <p:cNvSpPr>
            <a:spLocks noGrp="1"/>
          </p:cNvSpPr>
          <p:nvPr>
            <p:ph idx="1"/>
          </p:nvPr>
        </p:nvSpPr>
        <p:spPr>
          <a:xfrm>
            <a:off x="0" y="1143000"/>
            <a:ext cx="9144000" cy="5334000"/>
          </a:xfrm>
        </p:spPr>
        <p:txBody>
          <a:bodyPr>
            <a:normAutofit fontScale="96250"/>
          </a:bodyPr>
          <a:lstStyle/>
          <a:p>
            <a:pPr>
              <a:lnSpc>
                <a:spcPct val="150000"/>
              </a:lnSpc>
              <a:buBlip>
                <a:blip r:embed="rId3"/>
              </a:buBlip>
            </a:pPr>
            <a:r>
              <a:rPr lang="en-US" dirty="0"/>
              <a:t>acute AR causes an acute increase in the volume coming into the left ventricle. </a:t>
            </a:r>
          </a:p>
          <a:p>
            <a:pPr>
              <a:lnSpc>
                <a:spcPct val="150000"/>
              </a:lnSpc>
              <a:buBlip>
                <a:blip r:embed="rId3"/>
              </a:buBlip>
            </a:pPr>
            <a:r>
              <a:rPr lang="en-US" dirty="0"/>
              <a:t>the </a:t>
            </a:r>
            <a:r>
              <a:rPr lang="en-US" dirty="0" err="1"/>
              <a:t>regurgitant</a:t>
            </a:r>
            <a:r>
              <a:rPr lang="en-US" dirty="0"/>
              <a:t> volume depends </a:t>
            </a:r>
          </a:p>
          <a:p>
            <a:pPr lvl="2">
              <a:lnSpc>
                <a:spcPct val="150000"/>
              </a:lnSpc>
              <a:buBlip>
                <a:blip r:embed="rId4"/>
              </a:buBlip>
            </a:pPr>
            <a:r>
              <a:rPr lang="en-US" sz="2900" dirty="0"/>
              <a:t> diastolic time interval </a:t>
            </a:r>
          </a:p>
          <a:p>
            <a:pPr lvl="2">
              <a:lnSpc>
                <a:spcPct val="150000"/>
              </a:lnSpc>
              <a:buBlip>
                <a:blip r:embed="rId4"/>
              </a:buBlip>
            </a:pPr>
            <a:r>
              <a:rPr lang="en-US" sz="2900" dirty="0"/>
              <a:t>the diastolic pressure gradient across the valve</a:t>
            </a:r>
          </a:p>
          <a:p>
            <a:pPr lvl="2">
              <a:lnSpc>
                <a:spcPct val="150000"/>
              </a:lnSpc>
              <a:buBlip>
                <a:blip r:embed="rId4"/>
              </a:buBlip>
            </a:pPr>
            <a:r>
              <a:rPr lang="en-US" sz="2900" dirty="0"/>
              <a:t>the </a:t>
            </a:r>
            <a:r>
              <a:rPr lang="en-US" sz="2900" dirty="0" err="1"/>
              <a:t>regurgitant</a:t>
            </a:r>
            <a:r>
              <a:rPr lang="en-US" sz="2900" dirty="0"/>
              <a:t> orifice area</a:t>
            </a:r>
          </a:p>
        </p:txBody>
      </p:sp>
      <p:sp>
        <p:nvSpPr>
          <p:cNvPr id="1048872" name="Date Placeholder 3"/>
          <p:cNvSpPr>
            <a:spLocks noGrp="1"/>
          </p:cNvSpPr>
          <p:nvPr>
            <p:ph type="dt" sz="half" idx="10"/>
          </p:nvPr>
        </p:nvSpPr>
        <p:spPr/>
        <p:txBody>
          <a:bodyPr/>
          <a:lstStyle/>
          <a:p>
            <a:fld id="{832A681A-D92E-4B59-A45B-18C1084B7774}" type="datetime1">
              <a:rPr lang="en-US" smtClean="0"/>
              <a:t>8/9/2021</a:t>
            </a:fld>
            <a:endParaRPr lang="en-US"/>
          </a:p>
        </p:txBody>
      </p:sp>
      <p:sp>
        <p:nvSpPr>
          <p:cNvPr id="1048873" name="Footer Placeholder 4"/>
          <p:cNvSpPr>
            <a:spLocks noGrp="1"/>
          </p:cNvSpPr>
          <p:nvPr>
            <p:ph type="ftr" sz="quarter" idx="11"/>
          </p:nvPr>
        </p:nvSpPr>
        <p:spPr/>
        <p:txBody>
          <a:bodyPr/>
          <a:lstStyle/>
          <a:p>
            <a:r>
              <a:rPr lang="en-US"/>
              <a:t>Anesthesia for VHD </a:t>
            </a:r>
          </a:p>
        </p:txBody>
      </p:sp>
      <p:sp>
        <p:nvSpPr>
          <p:cNvPr id="1048874" name="Slide Number Placeholder 5"/>
          <p:cNvSpPr>
            <a:spLocks noGrp="1"/>
          </p:cNvSpPr>
          <p:nvPr>
            <p:ph type="sldNum" sz="quarter" idx="12"/>
          </p:nvPr>
        </p:nvSpPr>
        <p:spPr/>
        <p:txBody>
          <a:bodyPr/>
          <a:lstStyle/>
          <a:p>
            <a:fld id="{124970EB-A8C4-40D2-AF81-C6C16288290E}" type="slidenum">
              <a:rPr lang="en-US" smtClean="0"/>
              <a:pPr/>
              <a:t>52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48871">
                                            <p:txEl>
                                              <p:pRg st="2" end="2"/>
                                            </p:txEl>
                                          </p:spTgt>
                                        </p:tgtEl>
                                        <p:attrNameLst>
                                          <p:attrName>style.visibility</p:attrName>
                                        </p:attrNameLst>
                                      </p:cBhvr>
                                      <p:to>
                                        <p:strVal val="visible"/>
                                      </p:to>
                                    </p:set>
                                    <p:anim calcmode="lin" valueType="num">
                                      <p:cBhvr additive="base">
                                        <p:cTn id="7" dur="500" fill="hold"/>
                                        <p:tgtEl>
                                          <p:spTgt spid="1048871">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48871">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48871">
                                            <p:txEl>
                                              <p:pRg st="3" end="3"/>
                                            </p:txEl>
                                          </p:spTgt>
                                        </p:tgtEl>
                                        <p:attrNameLst>
                                          <p:attrName>style.visibility</p:attrName>
                                        </p:attrNameLst>
                                      </p:cBhvr>
                                      <p:to>
                                        <p:strVal val="visible"/>
                                      </p:to>
                                    </p:set>
                                    <p:anim calcmode="lin" valueType="num">
                                      <p:cBhvr additive="base">
                                        <p:cTn id="11" dur="500" fill="hold"/>
                                        <p:tgtEl>
                                          <p:spTgt spid="1048871">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048871">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048871">
                                            <p:txEl>
                                              <p:pRg st="4" end="4"/>
                                            </p:txEl>
                                          </p:spTgt>
                                        </p:tgtEl>
                                        <p:attrNameLst>
                                          <p:attrName>style.visibility</p:attrName>
                                        </p:attrNameLst>
                                      </p:cBhvr>
                                      <p:to>
                                        <p:strVal val="visible"/>
                                      </p:to>
                                    </p:set>
                                    <p:anim calcmode="lin" valueType="num">
                                      <p:cBhvr additive="base">
                                        <p:cTn id="15" dur="500" fill="hold"/>
                                        <p:tgtEl>
                                          <p:spTgt spid="1048871">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04887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t>Cont…</a:t>
            </a:r>
          </a:p>
        </p:txBody>
      </p:sp>
      <p:sp>
        <p:nvSpPr>
          <p:cNvPr id="3" name="Content Placeholder 2"/>
          <p:cNvSpPr>
            <a:spLocks noGrp="1"/>
          </p:cNvSpPr>
          <p:nvPr>
            <p:ph idx="1"/>
          </p:nvPr>
        </p:nvSpPr>
        <p:spPr>
          <a:xfrm>
            <a:off x="228600" y="1143000"/>
            <a:ext cx="8686800" cy="5334000"/>
          </a:xfrm>
        </p:spPr>
        <p:txBody>
          <a:bodyPr/>
          <a:lstStyle/>
          <a:p>
            <a:pPr>
              <a:lnSpc>
                <a:spcPct val="150000"/>
              </a:lnSpc>
              <a:buBlip>
                <a:blip r:embed="rId2"/>
              </a:buBlip>
            </a:pPr>
            <a:r>
              <a:rPr lang="en-US" dirty="0"/>
              <a:t>Degree of AR based on </a:t>
            </a:r>
            <a:r>
              <a:rPr lang="en-US" dirty="0" err="1"/>
              <a:t>regurgitant</a:t>
            </a:r>
            <a:r>
              <a:rPr lang="en-US" dirty="0"/>
              <a:t> volume</a:t>
            </a:r>
          </a:p>
          <a:p>
            <a:pPr lvl="1">
              <a:lnSpc>
                <a:spcPct val="150000"/>
              </a:lnSpc>
              <a:buBlip>
                <a:blip r:embed="rId3"/>
              </a:buBlip>
            </a:pPr>
            <a:r>
              <a:rPr lang="en-US" dirty="0"/>
              <a:t> </a:t>
            </a:r>
            <a:r>
              <a:rPr lang="en-US" i="1" dirty="0">
                <a:solidFill>
                  <a:srgbClr val="FF0000"/>
                </a:solidFill>
              </a:rPr>
              <a:t>&lt; 20% </a:t>
            </a:r>
            <a:r>
              <a:rPr lang="en-US" dirty="0"/>
              <a:t>of the total left ventricular stroke volume is considered mild,</a:t>
            </a:r>
          </a:p>
          <a:p>
            <a:pPr lvl="1">
              <a:lnSpc>
                <a:spcPct val="150000"/>
              </a:lnSpc>
              <a:buBlip>
                <a:blip r:embed="rId3"/>
              </a:buBlip>
            </a:pPr>
            <a:r>
              <a:rPr lang="en-US" i="1" dirty="0">
                <a:solidFill>
                  <a:srgbClr val="FF0000"/>
                </a:solidFill>
              </a:rPr>
              <a:t>20%-39% -</a:t>
            </a:r>
            <a:r>
              <a:rPr lang="en-US" dirty="0"/>
              <a:t> moderate</a:t>
            </a:r>
          </a:p>
          <a:p>
            <a:pPr lvl="1">
              <a:lnSpc>
                <a:spcPct val="150000"/>
              </a:lnSpc>
              <a:buBlip>
                <a:blip r:embed="rId3"/>
              </a:buBlip>
            </a:pPr>
            <a:r>
              <a:rPr lang="en-US" dirty="0"/>
              <a:t> </a:t>
            </a:r>
            <a:r>
              <a:rPr lang="en-US" i="1" dirty="0">
                <a:solidFill>
                  <a:srgbClr val="FF0000"/>
                </a:solidFill>
              </a:rPr>
              <a:t>40%-60% -</a:t>
            </a:r>
            <a:r>
              <a:rPr lang="en-US" dirty="0"/>
              <a:t>moderately severe,</a:t>
            </a:r>
          </a:p>
          <a:p>
            <a:pPr lvl="1">
              <a:lnSpc>
                <a:spcPct val="150000"/>
              </a:lnSpc>
              <a:buBlip>
                <a:blip r:embed="rId3"/>
              </a:buBlip>
            </a:pPr>
            <a:r>
              <a:rPr lang="en-US" dirty="0">
                <a:solidFill>
                  <a:srgbClr val="FF0000"/>
                </a:solidFill>
              </a:rPr>
              <a:t> &gt; 60% -</a:t>
            </a:r>
            <a:r>
              <a:rPr lang="en-US" dirty="0"/>
              <a:t>severe</a:t>
            </a:r>
          </a:p>
          <a:p>
            <a:endParaRPr lang="en-US" dirty="0"/>
          </a:p>
        </p:txBody>
      </p:sp>
      <p:sp>
        <p:nvSpPr>
          <p:cNvPr id="4" name="Date Placeholder 3"/>
          <p:cNvSpPr>
            <a:spLocks noGrp="1"/>
          </p:cNvSpPr>
          <p:nvPr>
            <p:ph type="dt" sz="half" idx="10"/>
          </p:nvPr>
        </p:nvSpPr>
        <p:spPr/>
        <p:txBody>
          <a:bodyPr/>
          <a:lstStyle/>
          <a:p>
            <a:fld id="{6A928D01-6698-4359-9E57-7B1CE1346F12}" type="datetime1">
              <a:rPr lang="en-US" smtClean="0"/>
              <a:t>8/9/2021</a:t>
            </a:fld>
            <a:endParaRPr lang="en-US"/>
          </a:p>
        </p:txBody>
      </p:sp>
      <p:sp>
        <p:nvSpPr>
          <p:cNvPr id="5" name="Slide Number Placeholder 4"/>
          <p:cNvSpPr>
            <a:spLocks noGrp="1"/>
          </p:cNvSpPr>
          <p:nvPr>
            <p:ph type="sldNum" sz="quarter" idx="12"/>
          </p:nvPr>
        </p:nvSpPr>
        <p:spPr/>
        <p:txBody>
          <a:bodyPr/>
          <a:lstStyle/>
          <a:p>
            <a:fld id="{81D9AF01-45F5-44F6-94C9-E46484F8FCE6}" type="slidenum">
              <a:rPr lang="en-US" smtClean="0"/>
              <a:pPr/>
              <a:t>53</a:t>
            </a:fld>
            <a:endParaRPr lang="en-US"/>
          </a:p>
        </p:txBody>
      </p:sp>
      <p:sp>
        <p:nvSpPr>
          <p:cNvPr id="6"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78" name="Title 1"/>
          <p:cNvSpPr>
            <a:spLocks noGrp="1"/>
          </p:cNvSpPr>
          <p:nvPr>
            <p:ph type="title"/>
          </p:nvPr>
        </p:nvSpPr>
        <p:spPr/>
        <p:txBody>
          <a:bodyPr>
            <a:normAutofit fontScale="90000"/>
          </a:bodyPr>
          <a:lstStyle/>
          <a:p>
            <a:r>
              <a:rPr lang="en-US" b="1" dirty="0">
                <a:latin typeface="Arial" charset="0"/>
                <a:cs typeface="Arial" charset="0"/>
              </a:rPr>
              <a:t>Signs and symptoms</a:t>
            </a:r>
            <a:br>
              <a:rPr lang="en-US" b="1" dirty="0">
                <a:latin typeface="Arial" charset="0"/>
                <a:cs typeface="Arial" charset="0"/>
              </a:rPr>
            </a:br>
            <a:endParaRPr lang="en-US" dirty="0"/>
          </a:p>
        </p:txBody>
      </p:sp>
      <p:sp>
        <p:nvSpPr>
          <p:cNvPr id="1048879" name="Content Placeholder 2"/>
          <p:cNvSpPr>
            <a:spLocks noGrp="1"/>
          </p:cNvSpPr>
          <p:nvPr>
            <p:ph idx="1"/>
          </p:nvPr>
        </p:nvSpPr>
        <p:spPr>
          <a:xfrm>
            <a:off x="228600" y="1371600"/>
            <a:ext cx="8686800" cy="5181600"/>
          </a:xfrm>
        </p:spPr>
        <p:txBody>
          <a:bodyPr>
            <a:normAutofit fontScale="96875"/>
          </a:bodyPr>
          <a:lstStyle/>
          <a:p>
            <a:pPr>
              <a:lnSpc>
                <a:spcPct val="150000"/>
              </a:lnSpc>
              <a:buBlip>
                <a:blip r:embed="rId3"/>
              </a:buBlip>
            </a:pPr>
            <a:r>
              <a:rPr lang="en-US" dirty="0">
                <a:cs typeface="Arial" charset="0"/>
              </a:rPr>
              <a:t>Patients may be asymptomatic for as long as 20 years; initial symptoms are:</a:t>
            </a:r>
            <a:endParaRPr lang="en-US" sz="3600" dirty="0">
              <a:cs typeface="Arial" charset="0"/>
            </a:endParaRPr>
          </a:p>
          <a:p>
            <a:pPr lvl="2">
              <a:lnSpc>
                <a:spcPct val="150000"/>
              </a:lnSpc>
              <a:buBlip>
                <a:blip r:embed="rId4"/>
              </a:buBlip>
            </a:pPr>
            <a:r>
              <a:rPr lang="en-US" sz="3200" dirty="0" err="1">
                <a:cs typeface="Arial" charset="0"/>
              </a:rPr>
              <a:t>exertional</a:t>
            </a:r>
            <a:r>
              <a:rPr lang="en-US" sz="3200" dirty="0">
                <a:cs typeface="Arial" charset="0"/>
              </a:rPr>
              <a:t> </a:t>
            </a:r>
            <a:r>
              <a:rPr lang="en-US" sz="3200" dirty="0" err="1">
                <a:cs typeface="Arial" charset="0"/>
              </a:rPr>
              <a:t>dyspnea</a:t>
            </a:r>
            <a:endParaRPr lang="en-US" sz="3200" dirty="0">
              <a:cs typeface="Arial" charset="0"/>
            </a:endParaRPr>
          </a:p>
          <a:p>
            <a:pPr lvl="2">
              <a:lnSpc>
                <a:spcPct val="150000"/>
              </a:lnSpc>
              <a:buBlip>
                <a:blip r:embed="rId4"/>
              </a:buBlip>
            </a:pPr>
            <a:r>
              <a:rPr lang="en-US" sz="3200" dirty="0" err="1">
                <a:cs typeface="Arial" charset="0"/>
              </a:rPr>
              <a:t>orthopnea</a:t>
            </a:r>
            <a:endParaRPr lang="en-US" sz="3200" dirty="0">
              <a:cs typeface="Arial" charset="0"/>
            </a:endParaRPr>
          </a:p>
          <a:p>
            <a:pPr lvl="2">
              <a:lnSpc>
                <a:spcPct val="150000"/>
              </a:lnSpc>
              <a:buBlip>
                <a:blip r:embed="rId4"/>
              </a:buBlip>
            </a:pPr>
            <a:r>
              <a:rPr lang="en-US" sz="3200" dirty="0">
                <a:cs typeface="Arial" charset="0"/>
              </a:rPr>
              <a:t>paroxysmal nocturnal </a:t>
            </a:r>
            <a:r>
              <a:rPr lang="en-US" sz="3200" dirty="0" err="1">
                <a:cs typeface="Arial" charset="0"/>
              </a:rPr>
              <a:t>dyspnea</a:t>
            </a:r>
            <a:endParaRPr lang="en-US" sz="3600" dirty="0">
              <a:cs typeface="Arial" charset="0"/>
            </a:endParaRPr>
          </a:p>
          <a:p>
            <a:pPr>
              <a:lnSpc>
                <a:spcPct val="150000"/>
              </a:lnSpc>
            </a:pPr>
            <a:endParaRPr lang="en-US" sz="4400" dirty="0"/>
          </a:p>
        </p:txBody>
      </p:sp>
      <p:sp>
        <p:nvSpPr>
          <p:cNvPr id="1048880" name="Date Placeholder 3"/>
          <p:cNvSpPr>
            <a:spLocks noGrp="1"/>
          </p:cNvSpPr>
          <p:nvPr>
            <p:ph type="dt" sz="half" idx="10"/>
          </p:nvPr>
        </p:nvSpPr>
        <p:spPr/>
        <p:txBody>
          <a:bodyPr/>
          <a:lstStyle/>
          <a:p>
            <a:fld id="{3CABDBF4-8471-45E9-8A88-883879AF47B8}" type="datetime1">
              <a:rPr lang="en-US" smtClean="0"/>
              <a:t>8/9/2021</a:t>
            </a:fld>
            <a:endParaRPr lang="en-US"/>
          </a:p>
        </p:txBody>
      </p:sp>
      <p:sp>
        <p:nvSpPr>
          <p:cNvPr id="1048881" name="Slide Number Placeholder 4"/>
          <p:cNvSpPr>
            <a:spLocks noGrp="1"/>
          </p:cNvSpPr>
          <p:nvPr>
            <p:ph type="sldNum" sz="quarter" idx="12"/>
          </p:nvPr>
        </p:nvSpPr>
        <p:spPr/>
        <p:txBody>
          <a:bodyPr/>
          <a:lstStyle/>
          <a:p>
            <a:fld id="{124970EB-A8C4-40D2-AF81-C6C16288290E}" type="slidenum">
              <a:rPr lang="en-US" smtClean="0"/>
              <a:pPr/>
              <a:t>54</a:t>
            </a:fld>
            <a:endParaRPr lang="en-US"/>
          </a:p>
        </p:txBody>
      </p:sp>
      <p:sp>
        <p:nvSpPr>
          <p:cNvPr id="1048882"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86" name="Title 1"/>
          <p:cNvSpPr>
            <a:spLocks noGrp="1"/>
          </p:cNvSpPr>
          <p:nvPr>
            <p:ph type="title"/>
          </p:nvPr>
        </p:nvSpPr>
        <p:spPr>
          <a:xfrm>
            <a:off x="457200" y="274638"/>
            <a:ext cx="8229600" cy="944562"/>
          </a:xfrm>
        </p:spPr>
        <p:txBody>
          <a:bodyPr>
            <a:normAutofit/>
          </a:bodyPr>
          <a:lstStyle/>
          <a:p>
            <a:r>
              <a:rPr lang="en-US" dirty="0"/>
              <a:t>Cont…</a:t>
            </a:r>
          </a:p>
        </p:txBody>
      </p:sp>
      <p:sp>
        <p:nvSpPr>
          <p:cNvPr id="1048887" name="Content Placeholder 2"/>
          <p:cNvSpPr>
            <a:spLocks noGrp="1"/>
          </p:cNvSpPr>
          <p:nvPr>
            <p:ph idx="1"/>
          </p:nvPr>
        </p:nvSpPr>
        <p:spPr>
          <a:xfrm>
            <a:off x="228600" y="1066800"/>
            <a:ext cx="8610600" cy="5486400"/>
          </a:xfrm>
        </p:spPr>
        <p:txBody>
          <a:bodyPr>
            <a:normAutofit fontScale="97500"/>
          </a:bodyPr>
          <a:lstStyle/>
          <a:p>
            <a:pPr>
              <a:lnSpc>
                <a:spcPct val="150000"/>
              </a:lnSpc>
              <a:buBlip>
                <a:blip r:embed="rId3"/>
              </a:buBlip>
            </a:pPr>
            <a:r>
              <a:rPr lang="en-US" sz="3300" i="1" u="sng" dirty="0">
                <a:cs typeface="Arial" charset="0"/>
              </a:rPr>
              <a:t>Acute</a:t>
            </a:r>
            <a:r>
              <a:rPr lang="en-US" sz="3300" u="sng" dirty="0">
                <a:cs typeface="Arial" charset="0"/>
              </a:rPr>
              <a:t> aortic regurgitation</a:t>
            </a:r>
            <a:r>
              <a:rPr lang="en-US" sz="3300" dirty="0">
                <a:cs typeface="Arial" charset="0"/>
              </a:rPr>
              <a:t> reflects cardiovascular collapse and patients present with:</a:t>
            </a:r>
            <a:endParaRPr lang="en-US" sz="2900" dirty="0">
              <a:cs typeface="Arial" charset="0"/>
            </a:endParaRPr>
          </a:p>
          <a:p>
            <a:pPr lvl="2">
              <a:lnSpc>
                <a:spcPct val="150000"/>
              </a:lnSpc>
              <a:buBlip>
                <a:blip r:embed="rId4"/>
              </a:buBlip>
            </a:pPr>
            <a:r>
              <a:rPr lang="en-US" sz="3300" dirty="0">
                <a:cs typeface="Arial" charset="0"/>
              </a:rPr>
              <a:t>severe </a:t>
            </a:r>
            <a:r>
              <a:rPr lang="en-US" sz="3300" dirty="0" err="1">
                <a:cs typeface="Arial" charset="0"/>
              </a:rPr>
              <a:t>dyspnea</a:t>
            </a:r>
            <a:endParaRPr lang="en-US" sz="3300" dirty="0">
              <a:cs typeface="Arial" charset="0"/>
            </a:endParaRPr>
          </a:p>
          <a:p>
            <a:pPr lvl="2">
              <a:lnSpc>
                <a:spcPct val="150000"/>
              </a:lnSpc>
              <a:buBlip>
                <a:blip r:embed="rId4"/>
              </a:buBlip>
            </a:pPr>
            <a:r>
              <a:rPr lang="en-US" sz="3300" dirty="0">
                <a:cs typeface="Arial" charset="0"/>
              </a:rPr>
              <a:t>hypotension, and weakness</a:t>
            </a:r>
            <a:endParaRPr lang="en-US" sz="3700" dirty="0">
              <a:cs typeface="Arial" charset="0"/>
            </a:endParaRPr>
          </a:p>
          <a:p>
            <a:pPr>
              <a:buNone/>
            </a:pPr>
            <a:endParaRPr lang="en-US" dirty="0"/>
          </a:p>
        </p:txBody>
      </p:sp>
      <p:sp>
        <p:nvSpPr>
          <p:cNvPr id="1048888" name="Date Placeholder 3"/>
          <p:cNvSpPr>
            <a:spLocks noGrp="1"/>
          </p:cNvSpPr>
          <p:nvPr>
            <p:ph type="dt" sz="half" idx="10"/>
          </p:nvPr>
        </p:nvSpPr>
        <p:spPr/>
        <p:txBody>
          <a:bodyPr/>
          <a:lstStyle/>
          <a:p>
            <a:fld id="{C85C4510-FC90-443E-A67C-7A248D7799F4}" type="datetime1">
              <a:rPr lang="en-US" smtClean="0"/>
              <a:t>8/9/2021</a:t>
            </a:fld>
            <a:endParaRPr lang="en-US"/>
          </a:p>
        </p:txBody>
      </p:sp>
      <p:sp>
        <p:nvSpPr>
          <p:cNvPr id="1048889" name="Slide Number Placeholder 4"/>
          <p:cNvSpPr>
            <a:spLocks noGrp="1"/>
          </p:cNvSpPr>
          <p:nvPr>
            <p:ph type="sldNum" sz="quarter" idx="12"/>
          </p:nvPr>
        </p:nvSpPr>
        <p:spPr/>
        <p:txBody>
          <a:bodyPr/>
          <a:lstStyle/>
          <a:p>
            <a:fld id="{124970EB-A8C4-40D2-AF81-C6C16288290E}" type="slidenum">
              <a:rPr lang="en-US" smtClean="0"/>
              <a:pPr/>
              <a:t>55</a:t>
            </a:fld>
            <a:endParaRPr lang="en-US"/>
          </a:p>
        </p:txBody>
      </p:sp>
      <p:sp>
        <p:nvSpPr>
          <p:cNvPr id="1048890"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sp>
        <p:nvSpPr>
          <p:cNvPr id="3" name="Content Placeholder 2"/>
          <p:cNvSpPr>
            <a:spLocks noGrp="1"/>
          </p:cNvSpPr>
          <p:nvPr>
            <p:ph idx="1"/>
          </p:nvPr>
        </p:nvSpPr>
        <p:spPr>
          <a:xfrm>
            <a:off x="228600" y="1295400"/>
            <a:ext cx="8610600" cy="5181600"/>
          </a:xfrm>
        </p:spPr>
        <p:txBody>
          <a:bodyPr>
            <a:normAutofit/>
          </a:bodyPr>
          <a:lstStyle/>
          <a:p>
            <a:pPr>
              <a:lnSpc>
                <a:spcPct val="150000"/>
              </a:lnSpc>
              <a:buBlip>
                <a:blip r:embed="rId2"/>
              </a:buBlip>
            </a:pPr>
            <a:r>
              <a:rPr lang="en-US" i="1" u="sng" dirty="0">
                <a:cs typeface="Arial" charset="0"/>
              </a:rPr>
              <a:t>Chronic</a:t>
            </a:r>
            <a:r>
              <a:rPr lang="en-US" u="sng" dirty="0">
                <a:cs typeface="Arial" charset="0"/>
              </a:rPr>
              <a:t> aortic regurgitation</a:t>
            </a:r>
            <a:r>
              <a:rPr lang="en-US" dirty="0">
                <a:cs typeface="Arial" charset="0"/>
              </a:rPr>
              <a:t> exhibits:</a:t>
            </a:r>
            <a:endParaRPr lang="en-US" sz="2800" dirty="0">
              <a:cs typeface="Arial" charset="0"/>
            </a:endParaRPr>
          </a:p>
          <a:p>
            <a:pPr lvl="2">
              <a:lnSpc>
                <a:spcPct val="150000"/>
              </a:lnSpc>
              <a:buBlip>
                <a:blip r:embed="rId3"/>
              </a:buBlip>
            </a:pPr>
            <a:r>
              <a:rPr lang="en-US" sz="2800" dirty="0">
                <a:cs typeface="Arial" charset="0"/>
              </a:rPr>
              <a:t>diastolic murmur , decreased diastolic pressure,</a:t>
            </a:r>
            <a:r>
              <a:rPr lang="en-US" sz="2800" dirty="0"/>
              <a:t> water-hammer” pulse</a:t>
            </a:r>
            <a:endParaRPr lang="en-US" sz="2800" dirty="0">
              <a:cs typeface="Arial" charset="0"/>
            </a:endParaRPr>
          </a:p>
          <a:p>
            <a:pPr lvl="2">
              <a:lnSpc>
                <a:spcPct val="150000"/>
              </a:lnSpc>
              <a:buBlip>
                <a:blip r:embed="rId3"/>
              </a:buBlip>
            </a:pPr>
            <a:r>
              <a:rPr lang="en-US" sz="2800" dirty="0">
                <a:cs typeface="Arial" charset="0"/>
              </a:rPr>
              <a:t> widened pulse pressure, bounding peripheral pulses</a:t>
            </a:r>
            <a:endParaRPr lang="en-US" sz="3200" dirty="0">
              <a:cs typeface="Arial" charset="0"/>
            </a:endParaRPr>
          </a:p>
          <a:p>
            <a:pPr>
              <a:buNone/>
            </a:pPr>
            <a:endParaRPr lang="en-US" sz="3600" dirty="0"/>
          </a:p>
        </p:txBody>
      </p:sp>
      <p:sp>
        <p:nvSpPr>
          <p:cNvPr id="4" name="Date Placeholder 3"/>
          <p:cNvSpPr>
            <a:spLocks noGrp="1"/>
          </p:cNvSpPr>
          <p:nvPr>
            <p:ph type="dt" sz="half" idx="10"/>
          </p:nvPr>
        </p:nvSpPr>
        <p:spPr/>
        <p:txBody>
          <a:bodyPr/>
          <a:lstStyle/>
          <a:p>
            <a:fld id="{3EC3B328-82EF-4921-A07F-7D6E6C47CA5D}" type="datetime1">
              <a:rPr lang="en-US" smtClean="0"/>
              <a:t>8/9/2021</a:t>
            </a:fld>
            <a:endParaRPr lang="en-US"/>
          </a:p>
        </p:txBody>
      </p:sp>
      <p:sp>
        <p:nvSpPr>
          <p:cNvPr id="5" name="Slide Number Placeholder 4"/>
          <p:cNvSpPr>
            <a:spLocks noGrp="1"/>
          </p:cNvSpPr>
          <p:nvPr>
            <p:ph type="sldNum" sz="quarter" idx="12"/>
          </p:nvPr>
        </p:nvSpPr>
        <p:spPr/>
        <p:txBody>
          <a:bodyPr/>
          <a:lstStyle/>
          <a:p>
            <a:fld id="{81D9AF01-45F5-44F6-94C9-E46484F8FCE6}" type="slidenum">
              <a:rPr lang="en-US" smtClean="0"/>
              <a:pPr/>
              <a:t>56</a:t>
            </a:fld>
            <a:endParaRPr lang="en-US"/>
          </a:p>
        </p:txBody>
      </p:sp>
      <p:sp>
        <p:nvSpPr>
          <p:cNvPr id="6"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94" name="Title 1"/>
          <p:cNvSpPr>
            <a:spLocks noGrp="1"/>
          </p:cNvSpPr>
          <p:nvPr>
            <p:ph type="title"/>
          </p:nvPr>
        </p:nvSpPr>
        <p:spPr/>
        <p:txBody>
          <a:bodyPr>
            <a:normAutofit/>
          </a:bodyPr>
          <a:lstStyle/>
          <a:p>
            <a:r>
              <a:rPr lang="en-US" sz="4000" b="1" dirty="0"/>
              <a:t>LABORATORY EXAMINATION</a:t>
            </a:r>
          </a:p>
        </p:txBody>
      </p:sp>
      <p:sp>
        <p:nvSpPr>
          <p:cNvPr id="1048895" name="Content Placeholder 2"/>
          <p:cNvSpPr>
            <a:spLocks noGrp="1"/>
          </p:cNvSpPr>
          <p:nvPr>
            <p:ph idx="1"/>
          </p:nvPr>
        </p:nvSpPr>
        <p:spPr>
          <a:xfrm>
            <a:off x="304800" y="1447800"/>
            <a:ext cx="8610600" cy="5029200"/>
          </a:xfrm>
        </p:spPr>
        <p:txBody>
          <a:bodyPr>
            <a:normAutofit fontScale="96875"/>
          </a:bodyPr>
          <a:lstStyle/>
          <a:p>
            <a:pPr>
              <a:lnSpc>
                <a:spcPct val="150000"/>
              </a:lnSpc>
              <a:buBlip>
                <a:blip r:embed="rId3"/>
              </a:buBlip>
            </a:pPr>
            <a:r>
              <a:rPr lang="en-US" b="1" dirty="0"/>
              <a:t>ECG</a:t>
            </a:r>
            <a:r>
              <a:rPr lang="en-US" dirty="0"/>
              <a:t> </a:t>
            </a:r>
          </a:p>
          <a:p>
            <a:pPr>
              <a:lnSpc>
                <a:spcPct val="150000"/>
              </a:lnSpc>
              <a:buBlip>
                <a:blip r:embed="rId3"/>
              </a:buBlip>
            </a:pPr>
            <a:r>
              <a:rPr lang="en-US" b="1" dirty="0"/>
              <a:t>C-X ray</a:t>
            </a:r>
          </a:p>
          <a:p>
            <a:pPr>
              <a:lnSpc>
                <a:spcPct val="150000"/>
              </a:lnSpc>
            </a:pPr>
            <a:r>
              <a:rPr lang="en-US" b="1" dirty="0"/>
              <a:t>Echo</a:t>
            </a:r>
            <a:r>
              <a:rPr lang="en-US" b="1" i="1" dirty="0"/>
              <a:t>-</a:t>
            </a:r>
            <a:r>
              <a:rPr lang="en-US" dirty="0"/>
              <a:t> determining the cause of AR, by detecting dilation of the aortic annulus and root</a:t>
            </a:r>
            <a:endParaRPr lang="en-US" b="1" dirty="0"/>
          </a:p>
          <a:p>
            <a:pPr>
              <a:lnSpc>
                <a:spcPct val="150000"/>
              </a:lnSpc>
              <a:buBlip>
                <a:blip r:embed="rId3"/>
              </a:buBlip>
            </a:pPr>
            <a:r>
              <a:rPr lang="en-US" b="1" dirty="0"/>
              <a:t>Cardiac  catatherization </a:t>
            </a:r>
          </a:p>
        </p:txBody>
      </p:sp>
      <p:sp>
        <p:nvSpPr>
          <p:cNvPr id="1048896" name="Date Placeholder 3"/>
          <p:cNvSpPr>
            <a:spLocks noGrp="1"/>
          </p:cNvSpPr>
          <p:nvPr>
            <p:ph type="dt" sz="half" idx="10"/>
          </p:nvPr>
        </p:nvSpPr>
        <p:spPr/>
        <p:txBody>
          <a:bodyPr/>
          <a:lstStyle/>
          <a:p>
            <a:fld id="{8C3E04D6-51B5-4FFD-9055-566D5C848CD0}" type="datetime1">
              <a:rPr lang="en-US" smtClean="0"/>
              <a:t>8/9/2021</a:t>
            </a:fld>
            <a:endParaRPr lang="en-US"/>
          </a:p>
        </p:txBody>
      </p:sp>
      <p:sp>
        <p:nvSpPr>
          <p:cNvPr id="1048897" name="Slide Number Placeholder 4"/>
          <p:cNvSpPr>
            <a:spLocks noGrp="1"/>
          </p:cNvSpPr>
          <p:nvPr>
            <p:ph type="sldNum" sz="quarter" idx="12"/>
          </p:nvPr>
        </p:nvSpPr>
        <p:spPr/>
        <p:txBody>
          <a:bodyPr/>
          <a:lstStyle/>
          <a:p>
            <a:fld id="{124970EB-A8C4-40D2-AF81-C6C16288290E}" type="slidenum">
              <a:rPr lang="en-US" smtClean="0"/>
              <a:pPr/>
              <a:t>57</a:t>
            </a:fld>
            <a:endParaRPr lang="en-US"/>
          </a:p>
        </p:txBody>
      </p:sp>
      <p:sp>
        <p:nvSpPr>
          <p:cNvPr id="1048898"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99" name="Title 1"/>
          <p:cNvSpPr>
            <a:spLocks noGrp="1"/>
          </p:cNvSpPr>
          <p:nvPr>
            <p:ph type="title"/>
          </p:nvPr>
        </p:nvSpPr>
        <p:spPr/>
        <p:txBody>
          <a:bodyPr>
            <a:normAutofit/>
          </a:bodyPr>
          <a:lstStyle/>
          <a:p>
            <a:r>
              <a:rPr lang="en-US" sz="4000" b="1" dirty="0"/>
              <a:t>Treatment of AR </a:t>
            </a:r>
          </a:p>
        </p:txBody>
      </p:sp>
      <p:sp>
        <p:nvSpPr>
          <p:cNvPr id="1048900" name="Content Placeholder 2"/>
          <p:cNvSpPr>
            <a:spLocks noGrp="1"/>
          </p:cNvSpPr>
          <p:nvPr>
            <p:ph idx="1"/>
          </p:nvPr>
        </p:nvSpPr>
        <p:spPr>
          <a:xfrm>
            <a:off x="304800" y="1295400"/>
            <a:ext cx="8534400" cy="5257800"/>
          </a:xfrm>
        </p:spPr>
        <p:txBody>
          <a:bodyPr>
            <a:normAutofit fontScale="90000" lnSpcReduction="10000"/>
          </a:bodyPr>
          <a:lstStyle/>
          <a:p>
            <a:pPr>
              <a:lnSpc>
                <a:spcPct val="150000"/>
              </a:lnSpc>
              <a:buBlip>
                <a:blip r:embed="rId3"/>
              </a:buBlip>
            </a:pPr>
            <a:r>
              <a:rPr lang="en-US" dirty="0"/>
              <a:t>intravenous diuretics and vasodilators. </a:t>
            </a:r>
          </a:p>
          <a:p>
            <a:pPr>
              <a:lnSpc>
                <a:spcPct val="150000"/>
              </a:lnSpc>
              <a:buBlip>
                <a:blip r:embed="rId3"/>
              </a:buBlip>
            </a:pPr>
            <a:r>
              <a:rPr lang="en-US" dirty="0"/>
              <a:t>It is often difficult to achieve adequate control because of the increased stroke volume that accompanies severe AR. </a:t>
            </a:r>
          </a:p>
          <a:p>
            <a:pPr>
              <a:lnSpc>
                <a:spcPct val="150000"/>
              </a:lnSpc>
              <a:buBlip>
                <a:blip r:embed="rId3"/>
              </a:buBlip>
            </a:pPr>
            <a:r>
              <a:rPr lang="en-US" dirty="0"/>
              <a:t>Surgical intervention. </a:t>
            </a:r>
          </a:p>
          <a:p>
            <a:pPr>
              <a:lnSpc>
                <a:spcPct val="150000"/>
              </a:lnSpc>
              <a:buBlip>
                <a:blip r:embed="rId3"/>
              </a:buBlip>
            </a:pPr>
            <a:r>
              <a:rPr lang="en-US" dirty="0"/>
              <a:t>Cardiac arrhythmias and systemic infections are poorly tolerated in patients with severe AR and must be treated promptly and vigorously. </a:t>
            </a:r>
          </a:p>
        </p:txBody>
      </p:sp>
      <p:sp>
        <p:nvSpPr>
          <p:cNvPr id="1048901" name="Date Placeholder 3"/>
          <p:cNvSpPr>
            <a:spLocks noGrp="1"/>
          </p:cNvSpPr>
          <p:nvPr>
            <p:ph type="dt" sz="half" idx="10"/>
          </p:nvPr>
        </p:nvSpPr>
        <p:spPr/>
        <p:txBody>
          <a:bodyPr/>
          <a:lstStyle/>
          <a:p>
            <a:fld id="{6DC95295-0115-4430-8EE6-73E38928F7C9}" type="datetime1">
              <a:rPr lang="en-US" smtClean="0"/>
              <a:t>8/9/2021</a:t>
            </a:fld>
            <a:endParaRPr lang="en-US"/>
          </a:p>
        </p:txBody>
      </p:sp>
      <p:sp>
        <p:nvSpPr>
          <p:cNvPr id="1048902" name="Slide Number Placeholder 4"/>
          <p:cNvSpPr>
            <a:spLocks noGrp="1"/>
          </p:cNvSpPr>
          <p:nvPr>
            <p:ph type="sldNum" sz="quarter" idx="12"/>
          </p:nvPr>
        </p:nvSpPr>
        <p:spPr/>
        <p:txBody>
          <a:bodyPr/>
          <a:lstStyle/>
          <a:p>
            <a:fld id="{124970EB-A8C4-40D2-AF81-C6C16288290E}" type="slidenum">
              <a:rPr lang="en-US" smtClean="0"/>
              <a:pPr/>
              <a:t>58</a:t>
            </a:fld>
            <a:endParaRPr lang="en-US"/>
          </a:p>
        </p:txBody>
      </p:sp>
      <p:sp>
        <p:nvSpPr>
          <p:cNvPr id="1048903"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07" name="Title 1"/>
          <p:cNvSpPr>
            <a:spLocks noGrp="1"/>
          </p:cNvSpPr>
          <p:nvPr>
            <p:ph type="title"/>
          </p:nvPr>
        </p:nvSpPr>
        <p:spPr/>
        <p:txBody>
          <a:bodyPr>
            <a:normAutofit/>
          </a:bodyPr>
          <a:lstStyle/>
          <a:p>
            <a:r>
              <a:rPr lang="en-US" sz="3600" b="1" dirty="0"/>
              <a:t>Anesthesia consideration </a:t>
            </a:r>
          </a:p>
        </p:txBody>
      </p:sp>
      <p:sp>
        <p:nvSpPr>
          <p:cNvPr id="1048908" name="Content Placeholder 2"/>
          <p:cNvSpPr>
            <a:spLocks noGrp="1"/>
          </p:cNvSpPr>
          <p:nvPr>
            <p:ph idx="1"/>
          </p:nvPr>
        </p:nvSpPr>
        <p:spPr>
          <a:xfrm>
            <a:off x="304800" y="1371600"/>
            <a:ext cx="8610600" cy="5257800"/>
          </a:xfrm>
        </p:spPr>
        <p:txBody>
          <a:bodyPr>
            <a:normAutofit fontScale="96250"/>
          </a:bodyPr>
          <a:lstStyle/>
          <a:p>
            <a:pPr>
              <a:buNone/>
            </a:pPr>
            <a:r>
              <a:rPr lang="en-US" b="1" dirty="0">
                <a:cs typeface="Arial" charset="0"/>
              </a:rPr>
              <a:t>Hemodynamic goal </a:t>
            </a:r>
          </a:p>
          <a:p>
            <a:pPr>
              <a:lnSpc>
                <a:spcPct val="150000"/>
              </a:lnSpc>
              <a:buBlip>
                <a:blip r:embed="rId2"/>
              </a:buBlip>
            </a:pPr>
            <a:r>
              <a:rPr lang="en-US" b="1" dirty="0">
                <a:cs typeface="Arial" charset="0"/>
              </a:rPr>
              <a:t>P</a:t>
            </a:r>
            <a:r>
              <a:rPr lang="en-US" dirty="0">
                <a:cs typeface="Arial" charset="0"/>
              </a:rPr>
              <a:t> – normal,  avoid </a:t>
            </a:r>
            <a:r>
              <a:rPr lang="en-US" dirty="0" err="1">
                <a:cs typeface="Arial" charset="0"/>
              </a:rPr>
              <a:t>hypervolemia</a:t>
            </a:r>
            <a:endParaRPr lang="en-US" dirty="0">
              <a:cs typeface="Arial" charset="0"/>
            </a:endParaRPr>
          </a:p>
          <a:p>
            <a:pPr>
              <a:lnSpc>
                <a:spcPct val="150000"/>
              </a:lnSpc>
              <a:buBlip>
                <a:blip r:embed="rId2"/>
              </a:buBlip>
            </a:pPr>
            <a:r>
              <a:rPr lang="en-US" b="1" dirty="0">
                <a:cs typeface="Arial" charset="0"/>
              </a:rPr>
              <a:t>A</a:t>
            </a:r>
            <a:r>
              <a:rPr lang="en-US" dirty="0">
                <a:cs typeface="Arial" charset="0"/>
              </a:rPr>
              <a:t> - Reduce</a:t>
            </a:r>
          </a:p>
          <a:p>
            <a:pPr>
              <a:lnSpc>
                <a:spcPct val="150000"/>
              </a:lnSpc>
              <a:buBlip>
                <a:blip r:embed="rId2"/>
              </a:buBlip>
            </a:pPr>
            <a:r>
              <a:rPr lang="en-US" b="1" dirty="0">
                <a:cs typeface="Arial" charset="0"/>
              </a:rPr>
              <a:t>C</a:t>
            </a:r>
            <a:r>
              <a:rPr lang="en-US" dirty="0">
                <a:cs typeface="Arial" charset="0"/>
              </a:rPr>
              <a:t> - usually adequate</a:t>
            </a:r>
          </a:p>
          <a:p>
            <a:pPr>
              <a:lnSpc>
                <a:spcPct val="150000"/>
              </a:lnSpc>
              <a:buBlip>
                <a:blip r:embed="rId2"/>
              </a:buBlip>
            </a:pPr>
            <a:r>
              <a:rPr lang="en-US" b="1" dirty="0">
                <a:cs typeface="Arial" charset="0"/>
              </a:rPr>
              <a:t>R</a:t>
            </a:r>
            <a:r>
              <a:rPr lang="en-US" dirty="0">
                <a:cs typeface="Arial" charset="0"/>
              </a:rPr>
              <a:t> - Modest tachycardia(80-100) -</a:t>
            </a:r>
            <a:r>
              <a:rPr lang="en-US" i="1" dirty="0">
                <a:effectLst>
                  <a:outerShdw blurRad="38100" dist="38100" dir="2700000" algn="tl">
                    <a:srgbClr val="000000">
                      <a:alpha val="43137"/>
                    </a:srgbClr>
                  </a:outerShdw>
                </a:effectLst>
                <a:cs typeface="Arial" charset="0"/>
              </a:rPr>
              <a:t>reduces ventricular volume, raises aortic diastolic pressure</a:t>
            </a:r>
          </a:p>
          <a:p>
            <a:endParaRPr lang="en-US" dirty="0"/>
          </a:p>
        </p:txBody>
      </p:sp>
      <p:sp>
        <p:nvSpPr>
          <p:cNvPr id="1048909" name="Date Placeholder 3"/>
          <p:cNvSpPr>
            <a:spLocks noGrp="1"/>
          </p:cNvSpPr>
          <p:nvPr>
            <p:ph type="dt" sz="half" idx="10"/>
          </p:nvPr>
        </p:nvSpPr>
        <p:spPr/>
        <p:txBody>
          <a:bodyPr/>
          <a:lstStyle/>
          <a:p>
            <a:fld id="{926F98EF-FAB5-4EC2-AD36-4D8865A3F513}" type="datetime1">
              <a:rPr lang="en-US" smtClean="0"/>
              <a:t>8/9/2021</a:t>
            </a:fld>
            <a:endParaRPr lang="en-US"/>
          </a:p>
        </p:txBody>
      </p:sp>
      <p:sp>
        <p:nvSpPr>
          <p:cNvPr id="1048910" name="Slide Number Placeholder 4"/>
          <p:cNvSpPr>
            <a:spLocks noGrp="1"/>
          </p:cNvSpPr>
          <p:nvPr>
            <p:ph type="sldNum" sz="quarter" idx="12"/>
          </p:nvPr>
        </p:nvSpPr>
        <p:spPr/>
        <p:txBody>
          <a:bodyPr/>
          <a:lstStyle/>
          <a:p>
            <a:fld id="{124970EB-A8C4-40D2-AF81-C6C16288290E}" type="slidenum">
              <a:rPr lang="en-US" smtClean="0"/>
              <a:pPr/>
              <a:t>59</a:t>
            </a:fld>
            <a:endParaRPr lang="en-US"/>
          </a:p>
        </p:txBody>
      </p:sp>
      <p:sp>
        <p:nvSpPr>
          <p:cNvPr id="1048911"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12" name="Title 1"/>
          <p:cNvSpPr>
            <a:spLocks noGrp="1"/>
          </p:cNvSpPr>
          <p:nvPr>
            <p:ph type="title"/>
          </p:nvPr>
        </p:nvSpPr>
        <p:spPr/>
        <p:txBody>
          <a:bodyPr>
            <a:normAutofit/>
          </a:bodyPr>
          <a:lstStyle/>
          <a:p>
            <a:r>
              <a:rPr lang="en-US" sz="4000" b="1" dirty="0"/>
              <a:t>Anesthesia management  </a:t>
            </a:r>
          </a:p>
        </p:txBody>
      </p:sp>
      <p:sp>
        <p:nvSpPr>
          <p:cNvPr id="1048913" name="Content Placeholder 2"/>
          <p:cNvSpPr>
            <a:spLocks noGrp="1"/>
          </p:cNvSpPr>
          <p:nvPr>
            <p:ph idx="1"/>
          </p:nvPr>
        </p:nvSpPr>
        <p:spPr>
          <a:xfrm>
            <a:off x="304800" y="1371600"/>
            <a:ext cx="8534400" cy="5257800"/>
          </a:xfrm>
        </p:spPr>
        <p:txBody>
          <a:bodyPr>
            <a:normAutofit fontScale="96429"/>
          </a:bodyPr>
          <a:lstStyle/>
          <a:p>
            <a:pPr lvl="1">
              <a:buNone/>
            </a:pPr>
            <a:endParaRPr lang="en-US" b="1" dirty="0">
              <a:latin typeface="Arial" charset="0"/>
              <a:cs typeface="Arial" charset="0"/>
            </a:endParaRPr>
          </a:p>
          <a:p>
            <a:pPr>
              <a:lnSpc>
                <a:spcPct val="150000"/>
              </a:lnSpc>
              <a:buBlip>
                <a:blip r:embed="rId3"/>
              </a:buBlip>
            </a:pPr>
            <a:r>
              <a:rPr lang="en-US" sz="2900" dirty="0"/>
              <a:t>The main goal is to avoid further increases in LV wall stress. </a:t>
            </a:r>
          </a:p>
          <a:p>
            <a:pPr marL="342900" lvl="1" indent="-342900">
              <a:lnSpc>
                <a:spcPct val="150000"/>
              </a:lnSpc>
              <a:buBlip>
                <a:blip r:embed="rId3"/>
              </a:buBlip>
            </a:pPr>
            <a:r>
              <a:rPr lang="en-US" sz="2900" dirty="0"/>
              <a:t>mildly </a:t>
            </a:r>
            <a:r>
              <a:rPr lang="en-US" sz="2900" dirty="0" err="1"/>
              <a:t>vasodilated</a:t>
            </a:r>
            <a:r>
              <a:rPr lang="en-US" sz="2900" dirty="0"/>
              <a:t>, and modestly </a:t>
            </a:r>
            <a:r>
              <a:rPr lang="en-US" sz="2900" dirty="0" err="1"/>
              <a:t>tachycardic</a:t>
            </a:r>
            <a:r>
              <a:rPr lang="en-US" sz="2900" dirty="0"/>
              <a:t> described</a:t>
            </a:r>
            <a:endParaRPr lang="en-US" sz="2900" dirty="0">
              <a:cs typeface="Arial" charset="0"/>
            </a:endParaRPr>
          </a:p>
          <a:p>
            <a:pPr marL="342900" lvl="1" indent="-342900">
              <a:lnSpc>
                <a:spcPct val="150000"/>
              </a:lnSpc>
              <a:buBlip>
                <a:blip r:embed="rId3"/>
              </a:buBlip>
            </a:pPr>
            <a:r>
              <a:rPr lang="en-US" sz="2900" dirty="0">
                <a:cs typeface="Arial" charset="0"/>
              </a:rPr>
              <a:t>Keep SVR low</a:t>
            </a:r>
          </a:p>
          <a:p>
            <a:pPr marL="342900" lvl="1" indent="-342900">
              <a:lnSpc>
                <a:spcPct val="150000"/>
              </a:lnSpc>
              <a:buBlip>
                <a:blip r:embed="rId3"/>
              </a:buBlip>
            </a:pPr>
            <a:r>
              <a:rPr lang="en-US" sz="2900" dirty="0">
                <a:cs typeface="Arial" charset="0"/>
              </a:rPr>
              <a:t>Avoid myocardial depression</a:t>
            </a:r>
          </a:p>
          <a:p>
            <a:pPr marL="342900" lvl="1" indent="-342900">
              <a:lnSpc>
                <a:spcPct val="150000"/>
              </a:lnSpc>
              <a:buBlip>
                <a:blip r:embed="rId3"/>
              </a:buBlip>
            </a:pPr>
            <a:r>
              <a:rPr lang="en-US" sz="2900" dirty="0">
                <a:cs typeface="Arial" charset="0"/>
              </a:rPr>
              <a:t>Give prophylactic antibiotics</a:t>
            </a:r>
          </a:p>
          <a:p>
            <a:pPr lvl="1"/>
            <a:endParaRPr lang="en-US" sz="3200" dirty="0"/>
          </a:p>
        </p:txBody>
      </p:sp>
      <p:sp>
        <p:nvSpPr>
          <p:cNvPr id="1048914" name="Date Placeholder 3"/>
          <p:cNvSpPr>
            <a:spLocks noGrp="1"/>
          </p:cNvSpPr>
          <p:nvPr>
            <p:ph type="dt" sz="half" idx="10"/>
          </p:nvPr>
        </p:nvSpPr>
        <p:spPr/>
        <p:txBody>
          <a:bodyPr/>
          <a:lstStyle/>
          <a:p>
            <a:fld id="{64C79E26-B755-4992-8A64-12700838D8DE}" type="datetime1">
              <a:rPr lang="en-US" smtClean="0"/>
              <a:t>8/9/2021</a:t>
            </a:fld>
            <a:endParaRPr lang="en-US"/>
          </a:p>
        </p:txBody>
      </p:sp>
      <p:sp>
        <p:nvSpPr>
          <p:cNvPr id="1048915" name="Slide Number Placeholder 4"/>
          <p:cNvSpPr>
            <a:spLocks noGrp="1"/>
          </p:cNvSpPr>
          <p:nvPr>
            <p:ph type="sldNum" sz="quarter" idx="12"/>
          </p:nvPr>
        </p:nvSpPr>
        <p:spPr/>
        <p:txBody>
          <a:bodyPr/>
          <a:lstStyle/>
          <a:p>
            <a:fld id="{124970EB-A8C4-40D2-AF81-C6C16288290E}" type="slidenum">
              <a:rPr lang="en-US" smtClean="0"/>
              <a:pPr/>
              <a:t>60</a:t>
            </a:fld>
            <a:endParaRPr lang="en-US"/>
          </a:p>
        </p:txBody>
      </p:sp>
      <p:sp>
        <p:nvSpPr>
          <p:cNvPr id="1048916"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20" name="Title 1"/>
          <p:cNvSpPr>
            <a:spLocks noGrp="1"/>
          </p:cNvSpPr>
          <p:nvPr>
            <p:ph type="title"/>
          </p:nvPr>
        </p:nvSpPr>
        <p:spPr/>
        <p:txBody>
          <a:bodyPr/>
          <a:lstStyle/>
          <a:p>
            <a:r>
              <a:rPr lang="en-US" b="1" dirty="0"/>
              <a:t>Choice of anesthesia </a:t>
            </a:r>
          </a:p>
        </p:txBody>
      </p:sp>
      <p:sp>
        <p:nvSpPr>
          <p:cNvPr id="1048921" name="Content Placeholder 2"/>
          <p:cNvSpPr>
            <a:spLocks noGrp="1"/>
          </p:cNvSpPr>
          <p:nvPr>
            <p:ph idx="1"/>
          </p:nvPr>
        </p:nvSpPr>
        <p:spPr>
          <a:xfrm>
            <a:off x="304800" y="1447800"/>
            <a:ext cx="8610600" cy="4800600"/>
          </a:xfrm>
        </p:spPr>
        <p:txBody>
          <a:bodyPr/>
          <a:lstStyle/>
          <a:p>
            <a:pPr marL="342900" lvl="1" indent="-342900">
              <a:buBlip>
                <a:blip r:embed="rId2"/>
              </a:buBlip>
            </a:pPr>
            <a:r>
              <a:rPr lang="en-US" dirty="0">
                <a:latin typeface="Arial" charset="0"/>
                <a:cs typeface="Arial" charset="0"/>
              </a:rPr>
              <a:t>Most patients will tolerate </a:t>
            </a:r>
            <a:r>
              <a:rPr lang="en-US" b="1" dirty="0">
                <a:latin typeface="Arial" charset="0"/>
                <a:cs typeface="Arial" charset="0"/>
              </a:rPr>
              <a:t>spinal or epidural</a:t>
            </a:r>
            <a:r>
              <a:rPr lang="en-US" dirty="0">
                <a:latin typeface="Arial" charset="0"/>
                <a:cs typeface="Arial" charset="0"/>
              </a:rPr>
              <a:t>, provided intravascular volume is maintained.</a:t>
            </a:r>
          </a:p>
          <a:p>
            <a:pPr marL="342900" lvl="1" indent="-342900">
              <a:buBlip>
                <a:blip r:embed="rId2"/>
              </a:buBlip>
            </a:pPr>
            <a:endParaRPr lang="en-US" dirty="0">
              <a:latin typeface="Arial" charset="0"/>
              <a:cs typeface="Arial" charset="0"/>
            </a:endParaRPr>
          </a:p>
          <a:p>
            <a:pPr marL="342900" lvl="1" indent="-342900">
              <a:buBlip>
                <a:blip r:embed="rId2"/>
              </a:buBlip>
            </a:pPr>
            <a:r>
              <a:rPr lang="en-US" dirty="0"/>
              <a:t>Monitoring should be aimed at detecting </a:t>
            </a:r>
            <a:r>
              <a:rPr lang="en-US" dirty="0">
                <a:solidFill>
                  <a:srgbClr val="FF0000"/>
                </a:solidFill>
              </a:rPr>
              <a:t>arrhythmias </a:t>
            </a:r>
            <a:r>
              <a:rPr lang="en-US" dirty="0"/>
              <a:t>and</a:t>
            </a:r>
            <a:r>
              <a:rPr lang="en-US" dirty="0">
                <a:solidFill>
                  <a:srgbClr val="FF0000"/>
                </a:solidFill>
              </a:rPr>
              <a:t> myocardial ischemia</a:t>
            </a:r>
          </a:p>
          <a:p>
            <a:pPr marL="342900" lvl="1" indent="-342900">
              <a:buNone/>
            </a:pPr>
            <a:endParaRPr lang="en-US" dirty="0">
              <a:solidFill>
                <a:srgbClr val="FF0000"/>
              </a:solidFill>
            </a:endParaRPr>
          </a:p>
          <a:p>
            <a:pPr marL="342900" lvl="1" indent="-342900">
              <a:buBlip>
                <a:blip r:embed="rId2"/>
              </a:buBlip>
            </a:pPr>
            <a:r>
              <a:rPr lang="en-US" dirty="0"/>
              <a:t>Severe AR may necessitate monitoring with a PA catheter or TEE</a:t>
            </a:r>
            <a:endParaRPr lang="en-US" dirty="0">
              <a:solidFill>
                <a:srgbClr val="FF0000"/>
              </a:solidFill>
              <a:latin typeface="Arial" charset="0"/>
              <a:cs typeface="Arial" charset="0"/>
            </a:endParaRPr>
          </a:p>
          <a:p>
            <a:pPr>
              <a:buNone/>
            </a:pPr>
            <a:endParaRPr lang="en-US" dirty="0"/>
          </a:p>
        </p:txBody>
      </p:sp>
      <p:sp>
        <p:nvSpPr>
          <p:cNvPr id="1048922" name="Date Placeholder 3"/>
          <p:cNvSpPr>
            <a:spLocks noGrp="1"/>
          </p:cNvSpPr>
          <p:nvPr>
            <p:ph type="dt" sz="half" idx="10"/>
          </p:nvPr>
        </p:nvSpPr>
        <p:spPr/>
        <p:txBody>
          <a:bodyPr/>
          <a:lstStyle/>
          <a:p>
            <a:fld id="{DB5D866A-8892-44D7-8DA1-09580CC20583}" type="datetime1">
              <a:rPr lang="en-US" smtClean="0"/>
              <a:t>8/9/2021</a:t>
            </a:fld>
            <a:endParaRPr lang="en-US"/>
          </a:p>
        </p:txBody>
      </p:sp>
      <p:sp>
        <p:nvSpPr>
          <p:cNvPr id="1048923" name="Slide Number Placeholder 4"/>
          <p:cNvSpPr>
            <a:spLocks noGrp="1"/>
          </p:cNvSpPr>
          <p:nvPr>
            <p:ph type="sldNum" sz="quarter" idx="12"/>
          </p:nvPr>
        </p:nvSpPr>
        <p:spPr/>
        <p:txBody>
          <a:bodyPr/>
          <a:lstStyle/>
          <a:p>
            <a:fld id="{124970EB-A8C4-40D2-AF81-C6C16288290E}" type="slidenum">
              <a:rPr lang="en-US" smtClean="0"/>
              <a:pPr/>
              <a:t>61</a:t>
            </a:fld>
            <a:endParaRPr lang="en-US"/>
          </a:p>
        </p:txBody>
      </p:sp>
      <p:sp>
        <p:nvSpPr>
          <p:cNvPr id="1048924"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t>Postoperative management </a:t>
            </a:r>
          </a:p>
        </p:txBody>
      </p:sp>
      <p:sp>
        <p:nvSpPr>
          <p:cNvPr id="3" name="Content Placeholder 2"/>
          <p:cNvSpPr>
            <a:spLocks noGrp="1"/>
          </p:cNvSpPr>
          <p:nvPr>
            <p:ph idx="1"/>
          </p:nvPr>
        </p:nvSpPr>
        <p:spPr/>
        <p:txBody>
          <a:bodyPr/>
          <a:lstStyle/>
          <a:p>
            <a:r>
              <a:rPr lang="en-US" dirty="0"/>
              <a:t>Deep </a:t>
            </a:r>
            <a:r>
              <a:rPr lang="en-US" dirty="0" err="1"/>
              <a:t>vs</a:t>
            </a:r>
            <a:r>
              <a:rPr lang="en-US" dirty="0"/>
              <a:t> awake </a:t>
            </a:r>
          </a:p>
          <a:p>
            <a:r>
              <a:rPr lang="en-US" dirty="0"/>
              <a:t>Pain management</a:t>
            </a:r>
          </a:p>
          <a:p>
            <a:r>
              <a:rPr lang="en-US" dirty="0"/>
              <a:t>Fluid management</a:t>
            </a:r>
          </a:p>
          <a:p>
            <a:r>
              <a:rPr lang="en-US" dirty="0"/>
              <a:t>O2 support </a:t>
            </a:r>
          </a:p>
          <a:p>
            <a:r>
              <a:rPr lang="en-US" dirty="0"/>
              <a:t>Positioning </a:t>
            </a:r>
          </a:p>
          <a:p>
            <a:r>
              <a:rPr lang="en-US" dirty="0"/>
              <a:t>Hemodynamic goal should be  achieved</a:t>
            </a:r>
          </a:p>
        </p:txBody>
      </p:sp>
      <p:sp>
        <p:nvSpPr>
          <p:cNvPr id="4" name="Date Placeholder 3"/>
          <p:cNvSpPr>
            <a:spLocks noGrp="1"/>
          </p:cNvSpPr>
          <p:nvPr>
            <p:ph type="dt" sz="half" idx="10"/>
          </p:nvPr>
        </p:nvSpPr>
        <p:spPr/>
        <p:txBody>
          <a:bodyPr/>
          <a:lstStyle/>
          <a:p>
            <a:fld id="{8DB4A274-641F-4AF8-BD1F-8A3AA9852563}" type="datetime1">
              <a:rPr lang="en-US" smtClean="0"/>
              <a:t>8/9/2021</a:t>
            </a:fld>
            <a:endParaRPr lang="en-US"/>
          </a:p>
        </p:txBody>
      </p:sp>
      <p:sp>
        <p:nvSpPr>
          <p:cNvPr id="5" name="Footer Placeholder 4"/>
          <p:cNvSpPr>
            <a:spLocks noGrp="1"/>
          </p:cNvSpPr>
          <p:nvPr>
            <p:ph type="ftr" sz="quarter" idx="11"/>
          </p:nvPr>
        </p:nvSpPr>
        <p:spPr/>
        <p:txBody>
          <a:bodyPr/>
          <a:lstStyle/>
          <a:p>
            <a:r>
              <a:rPr lang="en-US"/>
              <a:t>Anesthesia for VHD </a:t>
            </a:r>
          </a:p>
        </p:txBody>
      </p:sp>
      <p:sp>
        <p:nvSpPr>
          <p:cNvPr id="6" name="Slide Number Placeholder 5"/>
          <p:cNvSpPr>
            <a:spLocks noGrp="1"/>
          </p:cNvSpPr>
          <p:nvPr>
            <p:ph type="sldNum" sz="quarter" idx="12"/>
          </p:nvPr>
        </p:nvSpPr>
        <p:spPr/>
        <p:txBody>
          <a:bodyPr/>
          <a:lstStyle/>
          <a:p>
            <a:fld id="{81D9AF01-45F5-44F6-94C9-E46484F8FCE6}" type="slidenum">
              <a:rPr lang="en-US" smtClean="0"/>
              <a:pPr/>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25" name="Date Placeholder 3"/>
          <p:cNvSpPr>
            <a:spLocks noGrp="1"/>
          </p:cNvSpPr>
          <p:nvPr>
            <p:ph type="dt" sz="half" idx="10"/>
          </p:nvPr>
        </p:nvSpPr>
        <p:spPr/>
        <p:txBody>
          <a:bodyPr/>
          <a:lstStyle/>
          <a:p>
            <a:fld id="{FEF1A6D2-9EFF-49D0-8FFD-0C9C4DEC6492}" type="datetime1">
              <a:rPr lang="en-US" smtClean="0"/>
              <a:t>8/9/2021</a:t>
            </a:fld>
            <a:endParaRPr lang="en-US"/>
          </a:p>
        </p:txBody>
      </p:sp>
      <p:sp>
        <p:nvSpPr>
          <p:cNvPr id="1048926" name="Footer Placeholder 4"/>
          <p:cNvSpPr>
            <a:spLocks noGrp="1"/>
          </p:cNvSpPr>
          <p:nvPr>
            <p:ph type="ftr" sz="quarter" idx="11"/>
          </p:nvPr>
        </p:nvSpPr>
        <p:spPr/>
        <p:txBody>
          <a:bodyPr/>
          <a:lstStyle/>
          <a:p>
            <a:r>
              <a:rPr lang="en-US"/>
              <a:t>Anesthesia for VHD </a:t>
            </a:r>
          </a:p>
        </p:txBody>
      </p:sp>
      <p:sp>
        <p:nvSpPr>
          <p:cNvPr id="1048927" name="Slide Number Placeholder 5"/>
          <p:cNvSpPr>
            <a:spLocks noGrp="1"/>
          </p:cNvSpPr>
          <p:nvPr>
            <p:ph type="sldNum" sz="quarter" idx="12"/>
          </p:nvPr>
        </p:nvSpPr>
        <p:spPr/>
        <p:txBody>
          <a:bodyPr/>
          <a:lstStyle/>
          <a:p>
            <a:fld id="{124970EB-A8C4-40D2-AF81-C6C16288290E}" type="slidenum">
              <a:rPr lang="en-US" smtClean="0"/>
              <a:pPr/>
              <a:t>63</a:t>
            </a:fld>
            <a:endParaRPr lang="en-US"/>
          </a:p>
        </p:txBody>
      </p:sp>
      <p:sp>
        <p:nvSpPr>
          <p:cNvPr id="1048928" name="Content Placeholder 7"/>
          <p:cNvSpPr>
            <a:spLocks noGrp="1"/>
          </p:cNvSpPr>
          <p:nvPr>
            <p:ph idx="1"/>
          </p:nvPr>
        </p:nvSpPr>
        <p:spPr/>
        <p:txBody>
          <a:bodyPr/>
          <a:lstStyle/>
          <a:p>
            <a:endParaRPr lang="en-US" dirty="0"/>
          </a:p>
        </p:txBody>
      </p:sp>
      <p:pic>
        <p:nvPicPr>
          <p:cNvPr id="2097173" name="Picture 3"/>
          <p:cNvPicPr>
            <a:picLocks noChangeAspect="1" noChangeArrowheads="1"/>
          </p:cNvPicPr>
          <p:nvPr/>
        </p:nvPicPr>
        <p:blipFill>
          <a:blip r:embed="rId2"/>
          <a:srcRect/>
          <a:stretch>
            <a:fillRect/>
          </a:stretch>
        </p:blipFill>
        <p:spPr bwMode="auto">
          <a:xfrm>
            <a:off x="228599" y="1600200"/>
            <a:ext cx="8534401" cy="4495800"/>
          </a:xfrm>
          <a:prstGeom prst="rect">
            <a:avLst/>
          </a:prstGeom>
          <a:noFill/>
          <a:ln w="9525">
            <a:noFill/>
            <a:miter lim="800000"/>
            <a:headEnd/>
            <a:tailEnd/>
          </a:ln>
          <a:effectLst/>
        </p:spPr>
      </p:pic>
      <p:pic>
        <p:nvPicPr>
          <p:cNvPr id="2097174" name="Picture 4"/>
          <p:cNvPicPr>
            <a:picLocks noChangeAspect="1" noChangeArrowheads="1"/>
          </p:cNvPicPr>
          <p:nvPr/>
        </p:nvPicPr>
        <p:blipFill>
          <a:blip r:embed="rId3"/>
          <a:srcRect/>
          <a:stretch>
            <a:fillRect/>
          </a:stretch>
        </p:blipFill>
        <p:spPr bwMode="auto">
          <a:xfrm>
            <a:off x="0" y="0"/>
            <a:ext cx="9144000" cy="1524000"/>
          </a:xfrm>
          <a:prstGeom prst="rect">
            <a:avLst/>
          </a:prstGeom>
          <a:noFill/>
          <a:ln w="9525">
            <a:noFill/>
            <a:miter lim="800000"/>
            <a:headEnd/>
            <a:tailEnd/>
          </a:ln>
          <a:effectLst/>
        </p:spPr>
      </p:pic>
      <p:pic>
        <p:nvPicPr>
          <p:cNvPr id="8" name="Picture 4" descr="E:\msc\monitoring\new monitoring 2012\thk.jpg"/>
          <p:cNvPicPr>
            <a:picLocks noChangeAspect="1" noChangeArrowheads="1"/>
          </p:cNvPicPr>
          <p:nvPr/>
        </p:nvPicPr>
        <p:blipFill>
          <a:blip r:embed="rId4"/>
          <a:srcRect/>
          <a:stretch>
            <a:fillRect/>
          </a:stretch>
        </p:blipFill>
        <p:spPr bwMode="auto">
          <a:xfrm>
            <a:off x="228600" y="0"/>
            <a:ext cx="8686799" cy="6585857"/>
          </a:xfrm>
          <a:prstGeom prst="rect">
            <a:avLst/>
          </a:prstGeom>
          <a:noFill/>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29" name="Title 1"/>
          <p:cNvSpPr>
            <a:spLocks noGrp="1"/>
          </p:cNvSpPr>
          <p:nvPr>
            <p:ph type="title"/>
          </p:nvPr>
        </p:nvSpPr>
        <p:spPr/>
        <p:txBody>
          <a:bodyPr>
            <a:normAutofit/>
          </a:bodyPr>
          <a:lstStyle/>
          <a:p>
            <a:r>
              <a:rPr lang="en-US" sz="4000" b="1" dirty="0"/>
              <a:t>Mitral stenosis </a:t>
            </a:r>
          </a:p>
        </p:txBody>
      </p:sp>
      <p:sp>
        <p:nvSpPr>
          <p:cNvPr id="1048930" name="Content Placeholder 2"/>
          <p:cNvSpPr>
            <a:spLocks noGrp="1"/>
          </p:cNvSpPr>
          <p:nvPr>
            <p:ph idx="1"/>
          </p:nvPr>
        </p:nvSpPr>
        <p:spPr/>
        <p:txBody>
          <a:bodyPr/>
          <a:lstStyle/>
          <a:p>
            <a:pPr>
              <a:lnSpc>
                <a:spcPct val="150000"/>
              </a:lnSpc>
              <a:buBlip>
                <a:blip r:embed="rId3"/>
              </a:buBlip>
            </a:pPr>
            <a:r>
              <a:rPr lang="en-US" b="1" u="sng" dirty="0">
                <a:effectLst>
                  <a:outerShdw blurRad="38100" dist="38100" dir="2700000" algn="tl">
                    <a:srgbClr val="000000">
                      <a:alpha val="43137"/>
                    </a:srgbClr>
                  </a:outerShdw>
                </a:effectLst>
              </a:rPr>
              <a:t>MS</a:t>
            </a:r>
            <a:r>
              <a:rPr lang="en-US" dirty="0"/>
              <a:t> is characterized by mechanical obstruction to left ventricular diastolic filling secondary to a progressive decrease in the orifice at the mitral valve</a:t>
            </a:r>
          </a:p>
          <a:p>
            <a:pPr>
              <a:buBlip>
                <a:blip r:embed="rId3"/>
              </a:buBlip>
            </a:pPr>
            <a:endParaRPr lang="en-US" dirty="0"/>
          </a:p>
        </p:txBody>
      </p:sp>
      <p:sp>
        <p:nvSpPr>
          <p:cNvPr id="1048931" name="Date Placeholder 3"/>
          <p:cNvSpPr>
            <a:spLocks noGrp="1"/>
          </p:cNvSpPr>
          <p:nvPr>
            <p:ph type="dt" sz="half" idx="10"/>
          </p:nvPr>
        </p:nvSpPr>
        <p:spPr/>
        <p:txBody>
          <a:bodyPr/>
          <a:lstStyle/>
          <a:p>
            <a:fld id="{F55877D5-06B8-450B-8F93-1D69D0AA603D}" type="datetime1">
              <a:rPr lang="en-US" smtClean="0"/>
              <a:t>8/9/2021</a:t>
            </a:fld>
            <a:endParaRPr lang="en-US"/>
          </a:p>
        </p:txBody>
      </p:sp>
      <p:sp>
        <p:nvSpPr>
          <p:cNvPr id="1048932" name="Slide Number Placeholder 4"/>
          <p:cNvSpPr>
            <a:spLocks noGrp="1"/>
          </p:cNvSpPr>
          <p:nvPr>
            <p:ph type="sldNum" sz="quarter" idx="12"/>
          </p:nvPr>
        </p:nvSpPr>
        <p:spPr/>
        <p:txBody>
          <a:bodyPr/>
          <a:lstStyle/>
          <a:p>
            <a:fld id="{124970EB-A8C4-40D2-AF81-C6C16288290E}" type="slidenum">
              <a:rPr lang="en-US" smtClean="0"/>
              <a:pPr/>
              <a:t>64</a:t>
            </a:fld>
            <a:endParaRPr lang="en-US"/>
          </a:p>
        </p:txBody>
      </p:sp>
      <p:sp>
        <p:nvSpPr>
          <p:cNvPr id="1048933" name="Footer Placeholder 5"/>
          <p:cNvSpPr>
            <a:spLocks noGrp="1"/>
          </p:cNvSpPr>
          <p:nvPr>
            <p:ph type="ftr" sz="quarter" idx="11"/>
          </p:nvPr>
        </p:nvSpPr>
        <p:spPr/>
        <p:txBody>
          <a:bodyPr/>
          <a:lstStyle/>
          <a:p>
            <a:r>
              <a:rPr lang="en-US"/>
              <a:t>Anesthesia for VHD </a:t>
            </a:r>
          </a:p>
        </p:txBody>
      </p:sp>
      <p:pic>
        <p:nvPicPr>
          <p:cNvPr id="9" name="Picture 2"/>
          <p:cNvPicPr>
            <a:picLocks noChangeAspect="1" noChangeArrowheads="1"/>
          </p:cNvPicPr>
          <p:nvPr/>
        </p:nvPicPr>
        <p:blipFill>
          <a:blip r:embed="rId4"/>
          <a:srcRect/>
          <a:stretch>
            <a:fillRect/>
          </a:stretch>
        </p:blipFill>
        <p:spPr bwMode="auto">
          <a:xfrm>
            <a:off x="6553200" y="3733800"/>
            <a:ext cx="2590800" cy="28956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37" name="Title 1"/>
          <p:cNvSpPr>
            <a:spLocks noGrp="1"/>
          </p:cNvSpPr>
          <p:nvPr>
            <p:ph type="title"/>
          </p:nvPr>
        </p:nvSpPr>
        <p:spPr>
          <a:xfrm>
            <a:off x="457200" y="0"/>
            <a:ext cx="8229600" cy="990600"/>
          </a:xfrm>
        </p:spPr>
        <p:txBody>
          <a:bodyPr>
            <a:normAutofit/>
          </a:bodyPr>
          <a:lstStyle/>
          <a:p>
            <a:r>
              <a:rPr lang="en-US" sz="3200" b="1" dirty="0"/>
              <a:t>Mitral stenosis</a:t>
            </a:r>
          </a:p>
        </p:txBody>
      </p:sp>
      <p:sp>
        <p:nvSpPr>
          <p:cNvPr id="1048938" name="Content Placeholder 2"/>
          <p:cNvSpPr>
            <a:spLocks noGrp="1"/>
          </p:cNvSpPr>
          <p:nvPr>
            <p:ph idx="1"/>
          </p:nvPr>
        </p:nvSpPr>
        <p:spPr>
          <a:xfrm>
            <a:off x="0" y="990600"/>
            <a:ext cx="8991600" cy="5562600"/>
          </a:xfrm>
        </p:spPr>
        <p:txBody>
          <a:bodyPr>
            <a:normAutofit/>
          </a:bodyPr>
          <a:lstStyle/>
          <a:p>
            <a:pPr>
              <a:buNone/>
            </a:pPr>
            <a:r>
              <a:rPr lang="en-US" b="1" dirty="0"/>
              <a:t>ETIOLOGY</a:t>
            </a:r>
          </a:p>
          <a:p>
            <a:pPr>
              <a:lnSpc>
                <a:spcPct val="150000"/>
              </a:lnSpc>
              <a:buBlip>
                <a:blip r:embed="rId3"/>
              </a:buBlip>
            </a:pPr>
            <a:r>
              <a:rPr lang="en-US" dirty="0">
                <a:solidFill>
                  <a:schemeClr val="accent2"/>
                </a:solidFill>
              </a:rPr>
              <a:t>Rheumatic fever</a:t>
            </a:r>
            <a:endParaRPr lang="en-US" dirty="0"/>
          </a:p>
          <a:p>
            <a:pPr>
              <a:lnSpc>
                <a:spcPct val="150000"/>
              </a:lnSpc>
              <a:buBlip>
                <a:blip r:embed="rId3"/>
              </a:buBlip>
            </a:pPr>
            <a:r>
              <a:rPr lang="en-US" dirty="0"/>
              <a:t> congenital mitral valve stenosis</a:t>
            </a:r>
          </a:p>
          <a:p>
            <a:pPr>
              <a:lnSpc>
                <a:spcPct val="150000"/>
              </a:lnSpc>
              <a:buBlip>
                <a:blip r:embed="rId3"/>
              </a:buBlip>
            </a:pPr>
            <a:r>
              <a:rPr lang="en-US" dirty="0"/>
              <a:t>mitral annular calcification</a:t>
            </a:r>
          </a:p>
          <a:p>
            <a:pPr>
              <a:lnSpc>
                <a:spcPct val="150000"/>
              </a:lnSpc>
              <a:buBlip>
                <a:blip r:embed="rId3"/>
              </a:buBlip>
            </a:pPr>
            <a:r>
              <a:rPr lang="en-US" dirty="0"/>
              <a:t>Systemic lupus </a:t>
            </a:r>
            <a:r>
              <a:rPr lang="en-US" dirty="0" err="1"/>
              <a:t>erythematosus</a:t>
            </a:r>
            <a:r>
              <a:rPr lang="en-US" dirty="0"/>
              <a:t>, </a:t>
            </a:r>
          </a:p>
          <a:p>
            <a:pPr>
              <a:lnSpc>
                <a:spcPct val="150000"/>
              </a:lnSpc>
              <a:buBlip>
                <a:blip r:embed="rId3"/>
              </a:buBlip>
            </a:pPr>
            <a:r>
              <a:rPr lang="en-US" dirty="0"/>
              <a:t>rheumatoid arthritis and left </a:t>
            </a:r>
            <a:r>
              <a:rPr lang="en-US" dirty="0" err="1"/>
              <a:t>atrial</a:t>
            </a:r>
            <a:r>
              <a:rPr lang="en-US" dirty="0"/>
              <a:t> </a:t>
            </a:r>
            <a:r>
              <a:rPr lang="en-US" dirty="0" err="1"/>
              <a:t>myxoma</a:t>
            </a:r>
            <a:r>
              <a:rPr lang="en-US" dirty="0"/>
              <a:t> </a:t>
            </a:r>
          </a:p>
        </p:txBody>
      </p:sp>
      <p:sp>
        <p:nvSpPr>
          <p:cNvPr id="1048939" name="Date Placeholder 3"/>
          <p:cNvSpPr>
            <a:spLocks noGrp="1"/>
          </p:cNvSpPr>
          <p:nvPr>
            <p:ph type="dt" sz="half" idx="10"/>
          </p:nvPr>
        </p:nvSpPr>
        <p:spPr/>
        <p:txBody>
          <a:bodyPr/>
          <a:lstStyle/>
          <a:p>
            <a:fld id="{6AEE8C8B-266B-4760-B847-A4D8D4842605}" type="datetime1">
              <a:rPr lang="en-US" smtClean="0"/>
              <a:t>8/9/2021</a:t>
            </a:fld>
            <a:endParaRPr lang="en-US"/>
          </a:p>
        </p:txBody>
      </p:sp>
      <p:sp>
        <p:nvSpPr>
          <p:cNvPr id="1048940" name="Slide Number Placeholder 4"/>
          <p:cNvSpPr>
            <a:spLocks noGrp="1"/>
          </p:cNvSpPr>
          <p:nvPr>
            <p:ph type="sldNum" sz="quarter" idx="12"/>
          </p:nvPr>
        </p:nvSpPr>
        <p:spPr/>
        <p:txBody>
          <a:bodyPr/>
          <a:lstStyle/>
          <a:p>
            <a:fld id="{124970EB-A8C4-40D2-AF81-C6C16288290E}" type="slidenum">
              <a:rPr lang="en-US" smtClean="0"/>
              <a:pPr/>
              <a:t>65</a:t>
            </a:fld>
            <a:endParaRPr lang="en-US"/>
          </a:p>
        </p:txBody>
      </p:sp>
      <p:sp>
        <p:nvSpPr>
          <p:cNvPr id="1048941"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45" name="Title 1"/>
          <p:cNvSpPr>
            <a:spLocks noGrp="1"/>
          </p:cNvSpPr>
          <p:nvPr>
            <p:ph type="title"/>
          </p:nvPr>
        </p:nvSpPr>
        <p:spPr>
          <a:xfrm>
            <a:off x="457200" y="274638"/>
            <a:ext cx="8229600" cy="792162"/>
          </a:xfrm>
        </p:spPr>
        <p:txBody>
          <a:bodyPr/>
          <a:lstStyle/>
          <a:p>
            <a:r>
              <a:rPr lang="en-US" b="1" dirty="0" err="1"/>
              <a:t>Pathophysiology</a:t>
            </a:r>
            <a:r>
              <a:rPr lang="en-US" dirty="0"/>
              <a:t> </a:t>
            </a:r>
          </a:p>
        </p:txBody>
      </p:sp>
      <p:sp>
        <p:nvSpPr>
          <p:cNvPr id="1048946" name="Content Placeholder 2"/>
          <p:cNvSpPr>
            <a:spLocks noGrp="1"/>
          </p:cNvSpPr>
          <p:nvPr>
            <p:ph idx="1"/>
          </p:nvPr>
        </p:nvSpPr>
        <p:spPr>
          <a:xfrm>
            <a:off x="304800" y="1371600"/>
            <a:ext cx="8610600" cy="5181600"/>
          </a:xfrm>
        </p:spPr>
        <p:txBody>
          <a:bodyPr>
            <a:normAutofit lnSpcReduction="10000"/>
          </a:bodyPr>
          <a:lstStyle/>
          <a:p>
            <a:pPr>
              <a:lnSpc>
                <a:spcPct val="150000"/>
              </a:lnSpc>
              <a:buBlip>
                <a:blip r:embed="rId2"/>
              </a:buBlip>
            </a:pPr>
            <a:r>
              <a:rPr lang="en-US" dirty="0"/>
              <a:t>In normal adults, the area of the mitral valve orifice is 4–6 cm2. </a:t>
            </a:r>
          </a:p>
          <a:p>
            <a:pPr>
              <a:lnSpc>
                <a:spcPct val="150000"/>
              </a:lnSpc>
              <a:buBlip>
                <a:blip r:embed="rId2"/>
              </a:buBlip>
            </a:pPr>
            <a:r>
              <a:rPr lang="en-US" dirty="0"/>
              <a:t>The orifice area is reduced to &lt; ~2 cm2, In the presence of significant obstruction blood can flow from the LA to LV  only if propelled by an abnormally </a:t>
            </a:r>
            <a:r>
              <a:rPr lang="en-US" dirty="0">
                <a:solidFill>
                  <a:srgbClr val="FF0000"/>
                </a:solidFill>
              </a:rPr>
              <a:t>elevated left </a:t>
            </a:r>
            <a:r>
              <a:rPr lang="en-US" dirty="0" err="1">
                <a:solidFill>
                  <a:srgbClr val="FF0000"/>
                </a:solidFill>
              </a:rPr>
              <a:t>atrioventricular</a:t>
            </a:r>
            <a:r>
              <a:rPr lang="en-US" dirty="0">
                <a:solidFill>
                  <a:srgbClr val="FF0000"/>
                </a:solidFill>
              </a:rPr>
              <a:t> pressure gradient</a:t>
            </a:r>
            <a:r>
              <a:rPr lang="en-US" dirty="0"/>
              <a:t>.</a:t>
            </a:r>
          </a:p>
        </p:txBody>
      </p:sp>
      <p:sp>
        <p:nvSpPr>
          <p:cNvPr id="1048947" name="Date Placeholder 3"/>
          <p:cNvSpPr>
            <a:spLocks noGrp="1"/>
          </p:cNvSpPr>
          <p:nvPr>
            <p:ph type="dt" sz="half" idx="10"/>
          </p:nvPr>
        </p:nvSpPr>
        <p:spPr/>
        <p:txBody>
          <a:bodyPr/>
          <a:lstStyle/>
          <a:p>
            <a:fld id="{7B2E5BF8-21EA-4812-BC89-685621EBD975}" type="datetime1">
              <a:rPr lang="en-US" smtClean="0"/>
              <a:t>8/9/2021</a:t>
            </a:fld>
            <a:endParaRPr lang="en-US"/>
          </a:p>
        </p:txBody>
      </p:sp>
      <p:sp>
        <p:nvSpPr>
          <p:cNvPr id="1048948" name="Slide Number Placeholder 4"/>
          <p:cNvSpPr>
            <a:spLocks noGrp="1"/>
          </p:cNvSpPr>
          <p:nvPr>
            <p:ph type="sldNum" sz="quarter" idx="12"/>
          </p:nvPr>
        </p:nvSpPr>
        <p:spPr/>
        <p:txBody>
          <a:bodyPr/>
          <a:lstStyle/>
          <a:p>
            <a:fld id="{124970EB-A8C4-40D2-AF81-C6C16288290E}" type="slidenum">
              <a:rPr lang="en-US" smtClean="0"/>
              <a:pPr/>
              <a:t>66</a:t>
            </a:fld>
            <a:endParaRPr lang="en-US"/>
          </a:p>
        </p:txBody>
      </p:sp>
      <p:sp>
        <p:nvSpPr>
          <p:cNvPr id="1048949"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62000"/>
          </a:xfrm>
        </p:spPr>
        <p:txBody>
          <a:bodyPr/>
          <a:lstStyle/>
          <a:p>
            <a:r>
              <a:rPr lang="en-US" dirty="0"/>
              <a:t>Cont…</a:t>
            </a:r>
          </a:p>
        </p:txBody>
      </p:sp>
      <p:sp>
        <p:nvSpPr>
          <p:cNvPr id="3" name="Content Placeholder 2"/>
          <p:cNvSpPr>
            <a:spLocks noGrp="1"/>
          </p:cNvSpPr>
          <p:nvPr>
            <p:ph idx="1"/>
          </p:nvPr>
        </p:nvSpPr>
        <p:spPr>
          <a:xfrm>
            <a:off x="152400" y="914400"/>
            <a:ext cx="8991600" cy="5410200"/>
          </a:xfrm>
        </p:spPr>
        <p:txBody>
          <a:bodyPr/>
          <a:lstStyle/>
          <a:p>
            <a:pPr>
              <a:lnSpc>
                <a:spcPct val="150000"/>
              </a:lnSpc>
              <a:buBlip>
                <a:blip r:embed="rId2"/>
              </a:buBlip>
            </a:pPr>
            <a:r>
              <a:rPr lang="en-US" dirty="0"/>
              <a:t>Severe MS </a:t>
            </a:r>
            <a:r>
              <a:rPr lang="en-US" i="1" dirty="0">
                <a:solidFill>
                  <a:schemeClr val="accent2"/>
                </a:solidFill>
              </a:rPr>
              <a:t>( &lt;1 cm2) -</a:t>
            </a:r>
            <a:r>
              <a:rPr lang="en-US" dirty="0"/>
              <a:t>LA pressure of ~25 mmHg is required to maintain a normal CO. </a:t>
            </a:r>
          </a:p>
          <a:p>
            <a:pPr>
              <a:lnSpc>
                <a:spcPct val="150000"/>
              </a:lnSpc>
              <a:buBlip>
                <a:blip r:embed="rId2"/>
              </a:buBlip>
            </a:pPr>
            <a:r>
              <a:rPr lang="en-US" dirty="0"/>
              <a:t>The elevated pulmonary venous and pulmonary arterial wedge pressures reduce pulmonary compliance, contributing to </a:t>
            </a:r>
            <a:r>
              <a:rPr lang="en-US" dirty="0" err="1"/>
              <a:t>exertional</a:t>
            </a:r>
            <a:r>
              <a:rPr lang="en-US" dirty="0"/>
              <a:t> </a:t>
            </a:r>
            <a:r>
              <a:rPr lang="en-US" dirty="0" err="1"/>
              <a:t>dyspnea</a:t>
            </a:r>
            <a:r>
              <a:rPr lang="en-US" dirty="0"/>
              <a:t>.</a:t>
            </a:r>
          </a:p>
          <a:p>
            <a:endParaRPr lang="en-US" dirty="0"/>
          </a:p>
        </p:txBody>
      </p:sp>
      <p:sp>
        <p:nvSpPr>
          <p:cNvPr id="4" name="Date Placeholder 3"/>
          <p:cNvSpPr>
            <a:spLocks noGrp="1"/>
          </p:cNvSpPr>
          <p:nvPr>
            <p:ph type="dt" sz="half" idx="10"/>
          </p:nvPr>
        </p:nvSpPr>
        <p:spPr/>
        <p:txBody>
          <a:bodyPr/>
          <a:lstStyle/>
          <a:p>
            <a:fld id="{E32C868E-326F-46FE-B427-A88AC469424A}" type="datetime1">
              <a:rPr lang="en-US" smtClean="0"/>
              <a:t>8/9/2021</a:t>
            </a:fld>
            <a:endParaRPr lang="en-US"/>
          </a:p>
        </p:txBody>
      </p:sp>
      <p:sp>
        <p:nvSpPr>
          <p:cNvPr id="5" name="Footer Placeholder 4"/>
          <p:cNvSpPr>
            <a:spLocks noGrp="1"/>
          </p:cNvSpPr>
          <p:nvPr>
            <p:ph type="ftr" sz="quarter" idx="11"/>
          </p:nvPr>
        </p:nvSpPr>
        <p:spPr/>
        <p:txBody>
          <a:bodyPr/>
          <a:lstStyle/>
          <a:p>
            <a:r>
              <a:rPr lang="en-US"/>
              <a:t>Anesthesia for VHD </a:t>
            </a:r>
          </a:p>
        </p:txBody>
      </p:sp>
      <p:sp>
        <p:nvSpPr>
          <p:cNvPr id="6" name="Slide Number Placeholder 5"/>
          <p:cNvSpPr>
            <a:spLocks noGrp="1"/>
          </p:cNvSpPr>
          <p:nvPr>
            <p:ph type="sldNum" sz="quarter" idx="12"/>
          </p:nvPr>
        </p:nvSpPr>
        <p:spPr/>
        <p:txBody>
          <a:bodyPr/>
          <a:lstStyle/>
          <a:p>
            <a:fld id="{81D9AF01-45F5-44F6-94C9-E46484F8FCE6}" type="slidenum">
              <a:rPr lang="en-US" smtClean="0"/>
              <a:pPr/>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50" name="Title 1"/>
          <p:cNvSpPr>
            <a:spLocks noGrp="1"/>
          </p:cNvSpPr>
          <p:nvPr>
            <p:ph type="title"/>
          </p:nvPr>
        </p:nvSpPr>
        <p:spPr/>
        <p:txBody>
          <a:bodyPr/>
          <a:lstStyle/>
          <a:p>
            <a:r>
              <a:rPr lang="en-US" dirty="0"/>
              <a:t>Cont…</a:t>
            </a:r>
          </a:p>
        </p:txBody>
      </p:sp>
      <p:sp>
        <p:nvSpPr>
          <p:cNvPr id="1048951" name="Content Placeholder 2"/>
          <p:cNvSpPr>
            <a:spLocks noGrp="1"/>
          </p:cNvSpPr>
          <p:nvPr>
            <p:ph idx="1"/>
          </p:nvPr>
        </p:nvSpPr>
        <p:spPr>
          <a:xfrm>
            <a:off x="228600" y="1600200"/>
            <a:ext cx="8610600" cy="4876800"/>
          </a:xfrm>
        </p:spPr>
        <p:txBody>
          <a:bodyPr>
            <a:normAutofit fontScale="92500" lnSpcReduction="10000"/>
          </a:bodyPr>
          <a:lstStyle/>
          <a:p>
            <a:pPr marL="609600" indent="-609600">
              <a:buNone/>
            </a:pPr>
            <a:r>
              <a:rPr lang="en-US" b="1" dirty="0"/>
              <a:t>Mitral valve orifice size </a:t>
            </a:r>
          </a:p>
          <a:p>
            <a:pPr marL="990600" lvl="1" indent="-646113">
              <a:lnSpc>
                <a:spcPct val="150000"/>
              </a:lnSpc>
              <a:buNone/>
            </a:pPr>
            <a:r>
              <a:rPr lang="en-US" sz="3200" dirty="0"/>
              <a:t>Normal: 			4 - 6 cm</a:t>
            </a:r>
            <a:r>
              <a:rPr lang="en-US" sz="3200" baseline="30000" dirty="0"/>
              <a:t>2</a:t>
            </a:r>
            <a:endParaRPr lang="en-US" sz="3200" dirty="0"/>
          </a:p>
          <a:p>
            <a:pPr marL="990600" lvl="1" indent="-646113">
              <a:lnSpc>
                <a:spcPct val="150000"/>
              </a:lnSpc>
              <a:buNone/>
            </a:pPr>
            <a:r>
              <a:rPr lang="en-US" sz="3200" dirty="0"/>
              <a:t>Mildly </a:t>
            </a:r>
            <a:r>
              <a:rPr lang="en-US" sz="3200" dirty="0" err="1"/>
              <a:t>stenotic</a:t>
            </a:r>
            <a:r>
              <a:rPr lang="en-US" sz="3200" dirty="0"/>
              <a:t>: 		1.5 - 2.5 cm</a:t>
            </a:r>
            <a:r>
              <a:rPr lang="en-US" sz="3200" baseline="30000" dirty="0"/>
              <a:t>2</a:t>
            </a:r>
            <a:endParaRPr lang="en-US" sz="3200" dirty="0"/>
          </a:p>
          <a:p>
            <a:pPr marL="990600" lvl="1" indent="-646113">
              <a:lnSpc>
                <a:spcPct val="150000"/>
              </a:lnSpc>
              <a:buNone/>
            </a:pPr>
            <a:r>
              <a:rPr lang="en-US" sz="3200" dirty="0"/>
              <a:t>Moderately </a:t>
            </a:r>
            <a:r>
              <a:rPr lang="en-US" sz="3200" dirty="0" err="1"/>
              <a:t>stenotic</a:t>
            </a:r>
            <a:r>
              <a:rPr lang="en-US" sz="3200" dirty="0"/>
              <a:t>: 	1.1 - 1.5 cm</a:t>
            </a:r>
            <a:r>
              <a:rPr lang="en-US" sz="3200" baseline="30000" dirty="0"/>
              <a:t>2</a:t>
            </a:r>
            <a:endParaRPr lang="en-US" sz="3200" dirty="0"/>
          </a:p>
          <a:p>
            <a:pPr marL="990600" lvl="1" indent="-646113">
              <a:lnSpc>
                <a:spcPct val="150000"/>
              </a:lnSpc>
              <a:buNone/>
            </a:pPr>
            <a:r>
              <a:rPr lang="en-US" sz="3200" dirty="0"/>
              <a:t>Severely </a:t>
            </a:r>
            <a:r>
              <a:rPr lang="en-US" sz="3200" dirty="0" err="1"/>
              <a:t>stenotic</a:t>
            </a:r>
            <a:r>
              <a:rPr lang="en-US" sz="3200" dirty="0"/>
              <a:t>: 		&lt; 1 cm</a:t>
            </a:r>
            <a:r>
              <a:rPr lang="en-US" sz="3200" baseline="30000" dirty="0"/>
              <a:t>2</a:t>
            </a:r>
          </a:p>
          <a:p>
            <a:pPr marL="990600" lvl="1" indent="-646113">
              <a:lnSpc>
                <a:spcPct val="150000"/>
              </a:lnSpc>
              <a:buNone/>
            </a:pPr>
            <a:r>
              <a:rPr lang="en-US" sz="3200" dirty="0"/>
              <a:t>Usually have symptoms when area is decreased by 50%</a:t>
            </a:r>
          </a:p>
          <a:p>
            <a:endParaRPr lang="en-US" dirty="0"/>
          </a:p>
        </p:txBody>
      </p:sp>
      <p:sp>
        <p:nvSpPr>
          <p:cNvPr id="1048952" name="Date Placeholder 3"/>
          <p:cNvSpPr>
            <a:spLocks noGrp="1"/>
          </p:cNvSpPr>
          <p:nvPr>
            <p:ph type="dt" sz="half" idx="10"/>
          </p:nvPr>
        </p:nvSpPr>
        <p:spPr/>
        <p:txBody>
          <a:bodyPr/>
          <a:lstStyle/>
          <a:p>
            <a:fld id="{ADAC5B84-22ED-42EB-9D02-FC52BA64835A}" type="datetime1">
              <a:rPr lang="en-US" smtClean="0"/>
              <a:t>8/9/2021</a:t>
            </a:fld>
            <a:endParaRPr lang="en-US"/>
          </a:p>
        </p:txBody>
      </p:sp>
      <p:sp>
        <p:nvSpPr>
          <p:cNvPr id="1048953" name="Slide Number Placeholder 4"/>
          <p:cNvSpPr>
            <a:spLocks noGrp="1"/>
          </p:cNvSpPr>
          <p:nvPr>
            <p:ph type="sldNum" sz="quarter" idx="12"/>
          </p:nvPr>
        </p:nvSpPr>
        <p:spPr/>
        <p:txBody>
          <a:bodyPr/>
          <a:lstStyle/>
          <a:p>
            <a:fld id="{124970EB-A8C4-40D2-AF81-C6C16288290E}" type="slidenum">
              <a:rPr lang="en-US" smtClean="0"/>
              <a:pPr/>
              <a:t>68</a:t>
            </a:fld>
            <a:endParaRPr lang="en-US"/>
          </a:p>
        </p:txBody>
      </p:sp>
      <p:sp>
        <p:nvSpPr>
          <p:cNvPr id="1048954"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55" name="Title 1"/>
          <p:cNvSpPr>
            <a:spLocks noGrp="1"/>
          </p:cNvSpPr>
          <p:nvPr>
            <p:ph type="title"/>
          </p:nvPr>
        </p:nvSpPr>
        <p:spPr/>
        <p:txBody>
          <a:bodyPr/>
          <a:lstStyle/>
          <a:p>
            <a:r>
              <a:rPr lang="en-US" dirty="0"/>
              <a:t>Cont…</a:t>
            </a:r>
          </a:p>
        </p:txBody>
      </p:sp>
      <p:pic>
        <p:nvPicPr>
          <p:cNvPr id="2097175" name="Picture 2"/>
          <p:cNvPicPr>
            <a:picLocks noGrp="1" noChangeAspect="1" noChangeArrowheads="1"/>
          </p:cNvPicPr>
          <p:nvPr>
            <p:ph idx="1"/>
          </p:nvPr>
        </p:nvPicPr>
        <p:blipFill>
          <a:blip r:embed="rId3"/>
          <a:srcRect/>
          <a:stretch>
            <a:fillRect/>
          </a:stretch>
        </p:blipFill>
        <p:spPr bwMode="auto">
          <a:xfrm>
            <a:off x="685800" y="1657977"/>
            <a:ext cx="7848600" cy="4742823"/>
          </a:xfrm>
          <a:prstGeom prst="rect">
            <a:avLst/>
          </a:prstGeom>
          <a:noFill/>
          <a:ln w="9525">
            <a:noFill/>
            <a:miter lim="800000"/>
            <a:headEnd/>
            <a:tailEnd/>
          </a:ln>
          <a:effectLst/>
        </p:spPr>
      </p:pic>
      <p:sp>
        <p:nvSpPr>
          <p:cNvPr id="1048956" name="Date Placeholder 3"/>
          <p:cNvSpPr>
            <a:spLocks noGrp="1"/>
          </p:cNvSpPr>
          <p:nvPr>
            <p:ph type="dt" sz="half" idx="10"/>
          </p:nvPr>
        </p:nvSpPr>
        <p:spPr/>
        <p:txBody>
          <a:bodyPr/>
          <a:lstStyle/>
          <a:p>
            <a:fld id="{61056524-E06F-4AA5-829F-0095D9AFDDAC}" type="datetime1">
              <a:rPr lang="en-US" smtClean="0"/>
              <a:t>8/9/2021</a:t>
            </a:fld>
            <a:endParaRPr lang="en-US"/>
          </a:p>
        </p:txBody>
      </p:sp>
      <p:sp>
        <p:nvSpPr>
          <p:cNvPr id="1048957" name="Slide Number Placeholder 4"/>
          <p:cNvSpPr>
            <a:spLocks noGrp="1"/>
          </p:cNvSpPr>
          <p:nvPr>
            <p:ph type="sldNum" sz="quarter" idx="12"/>
          </p:nvPr>
        </p:nvSpPr>
        <p:spPr/>
        <p:txBody>
          <a:bodyPr/>
          <a:lstStyle/>
          <a:p>
            <a:fld id="{124970EB-A8C4-40D2-AF81-C6C16288290E}" type="slidenum">
              <a:rPr lang="en-US" smtClean="0"/>
              <a:pPr/>
              <a:t>69</a:t>
            </a:fld>
            <a:endParaRPr lang="en-US"/>
          </a:p>
        </p:txBody>
      </p:sp>
      <p:sp>
        <p:nvSpPr>
          <p:cNvPr id="1048958"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62" name="Title 1"/>
          <p:cNvSpPr>
            <a:spLocks noGrp="1"/>
          </p:cNvSpPr>
          <p:nvPr>
            <p:ph type="title"/>
          </p:nvPr>
        </p:nvSpPr>
        <p:spPr/>
        <p:txBody>
          <a:bodyPr/>
          <a:lstStyle/>
          <a:p>
            <a:r>
              <a:rPr lang="en-US" dirty="0"/>
              <a:t>CONT…</a:t>
            </a:r>
          </a:p>
        </p:txBody>
      </p:sp>
      <p:sp>
        <p:nvSpPr>
          <p:cNvPr id="1048963" name="Date Placeholder 3"/>
          <p:cNvSpPr>
            <a:spLocks noGrp="1"/>
          </p:cNvSpPr>
          <p:nvPr>
            <p:ph type="dt" sz="half" idx="10"/>
          </p:nvPr>
        </p:nvSpPr>
        <p:spPr/>
        <p:txBody>
          <a:bodyPr/>
          <a:lstStyle/>
          <a:p>
            <a:fld id="{7C400EB5-001B-4137-9520-672B32820B63}" type="datetime1">
              <a:rPr lang="en-US" smtClean="0"/>
              <a:t>8/9/2021</a:t>
            </a:fld>
            <a:endParaRPr lang="en-US"/>
          </a:p>
        </p:txBody>
      </p:sp>
      <p:sp>
        <p:nvSpPr>
          <p:cNvPr id="1048964" name="Footer Placeholder 4"/>
          <p:cNvSpPr>
            <a:spLocks noGrp="1"/>
          </p:cNvSpPr>
          <p:nvPr>
            <p:ph type="ftr" sz="quarter" idx="11"/>
          </p:nvPr>
        </p:nvSpPr>
        <p:spPr/>
        <p:txBody>
          <a:bodyPr/>
          <a:lstStyle/>
          <a:p>
            <a:r>
              <a:rPr lang="en-US"/>
              <a:t>Anesthesia for VHD </a:t>
            </a:r>
          </a:p>
        </p:txBody>
      </p:sp>
      <p:sp>
        <p:nvSpPr>
          <p:cNvPr id="1048965" name="Slide Number Placeholder 5"/>
          <p:cNvSpPr>
            <a:spLocks noGrp="1"/>
          </p:cNvSpPr>
          <p:nvPr>
            <p:ph type="sldNum" sz="quarter" idx="12"/>
          </p:nvPr>
        </p:nvSpPr>
        <p:spPr/>
        <p:txBody>
          <a:bodyPr/>
          <a:lstStyle/>
          <a:p>
            <a:fld id="{124970EB-A8C4-40D2-AF81-C6C16288290E}" type="slidenum">
              <a:rPr lang="en-US" smtClean="0"/>
              <a:pPr/>
              <a:t>70</a:t>
            </a:fld>
            <a:endParaRPr lang="en-US"/>
          </a:p>
        </p:txBody>
      </p:sp>
      <p:pic>
        <p:nvPicPr>
          <p:cNvPr id="2097176" name="Picture 2"/>
          <p:cNvPicPr>
            <a:picLocks noGrp="1" noChangeAspect="1" noChangeArrowheads="1"/>
          </p:cNvPicPr>
          <p:nvPr>
            <p:ph idx="1"/>
          </p:nvPr>
        </p:nvPicPr>
        <p:blipFill>
          <a:blip r:embed="rId3"/>
          <a:srcRect/>
          <a:stretch>
            <a:fillRect/>
          </a:stretch>
        </p:blipFill>
        <p:spPr bwMode="auto">
          <a:xfrm>
            <a:off x="304800" y="1333342"/>
            <a:ext cx="8839200" cy="5112342"/>
          </a:xfrm>
          <a:prstGeom prst="rect">
            <a:avLst/>
          </a:prstGeom>
          <a:noFill/>
          <a:ln w="9525">
            <a:noFill/>
            <a:miter lim="800000"/>
            <a:headEnd/>
            <a:tailEnd/>
          </a:ln>
          <a:effec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69" name="Title 1"/>
          <p:cNvSpPr>
            <a:spLocks noGrp="1"/>
          </p:cNvSpPr>
          <p:nvPr>
            <p:ph type="title"/>
          </p:nvPr>
        </p:nvSpPr>
        <p:spPr>
          <a:xfrm>
            <a:off x="457200" y="274638"/>
            <a:ext cx="8229600" cy="868362"/>
          </a:xfrm>
        </p:spPr>
        <p:txBody>
          <a:bodyPr/>
          <a:lstStyle/>
          <a:p>
            <a:r>
              <a:rPr lang="en-US" dirty="0"/>
              <a:t>Signs and symptoms</a:t>
            </a:r>
          </a:p>
        </p:txBody>
      </p:sp>
      <p:sp>
        <p:nvSpPr>
          <p:cNvPr id="1048970" name="Content Placeholder 2"/>
          <p:cNvSpPr>
            <a:spLocks noGrp="1"/>
          </p:cNvSpPr>
          <p:nvPr>
            <p:ph idx="1"/>
          </p:nvPr>
        </p:nvSpPr>
        <p:spPr>
          <a:xfrm>
            <a:off x="228600" y="1066800"/>
            <a:ext cx="8686800" cy="5410200"/>
          </a:xfrm>
        </p:spPr>
        <p:txBody>
          <a:bodyPr>
            <a:normAutofit lnSpcReduction="10000"/>
          </a:bodyPr>
          <a:lstStyle/>
          <a:p>
            <a:pPr marL="342900" lvl="1" indent="-342900">
              <a:lnSpc>
                <a:spcPct val="200000"/>
              </a:lnSpc>
              <a:buBlip>
                <a:blip r:embed="rId2"/>
              </a:buBlip>
            </a:pPr>
            <a:r>
              <a:rPr lang="en-US" dirty="0"/>
              <a:t>90% of patients present with CHF and </a:t>
            </a:r>
            <a:r>
              <a:rPr lang="en-US" dirty="0" err="1"/>
              <a:t>Atrial</a:t>
            </a:r>
            <a:r>
              <a:rPr lang="en-US" dirty="0"/>
              <a:t> fibrillation</a:t>
            </a:r>
          </a:p>
          <a:p>
            <a:pPr>
              <a:lnSpc>
                <a:spcPct val="200000"/>
              </a:lnSpc>
              <a:buBlip>
                <a:blip r:embed="rId2"/>
              </a:buBlip>
            </a:pPr>
            <a:r>
              <a:rPr lang="en-US" sz="2800" dirty="0"/>
              <a:t>10-15% develop chest pain</a:t>
            </a:r>
          </a:p>
          <a:p>
            <a:pPr>
              <a:lnSpc>
                <a:spcPct val="200000"/>
              </a:lnSpc>
              <a:buBlip>
                <a:blip r:embed="rId2"/>
              </a:buBlip>
            </a:pPr>
            <a:r>
              <a:rPr lang="en-US" sz="2800" dirty="0"/>
              <a:t>Hoarseness caused by enlarged left atrium putting pressure on left recurrent laryngeal nerve </a:t>
            </a:r>
          </a:p>
          <a:p>
            <a:pPr>
              <a:lnSpc>
                <a:spcPct val="200000"/>
              </a:lnSpc>
              <a:buBlip>
                <a:blip r:embed="rId2"/>
              </a:buBlip>
            </a:pPr>
            <a:r>
              <a:rPr lang="en-US" sz="2800" dirty="0"/>
              <a:t>Pulmonary HTN from chronic increase in PVR</a:t>
            </a:r>
          </a:p>
          <a:p>
            <a:pPr>
              <a:lnSpc>
                <a:spcPct val="200000"/>
              </a:lnSpc>
              <a:buBlip>
                <a:blip r:embed="rId2"/>
              </a:buBlip>
            </a:pPr>
            <a:r>
              <a:rPr lang="en-US" sz="2800" dirty="0" err="1"/>
              <a:t>Hemoptysis</a:t>
            </a:r>
            <a:r>
              <a:rPr lang="en-US" sz="2800" dirty="0"/>
              <a:t> </a:t>
            </a:r>
          </a:p>
          <a:p>
            <a:pPr>
              <a:lnSpc>
                <a:spcPct val="200000"/>
              </a:lnSpc>
              <a:buBlip>
                <a:blip r:embed="rId2"/>
              </a:buBlip>
            </a:pPr>
            <a:endParaRPr lang="en-US" sz="2800" dirty="0"/>
          </a:p>
        </p:txBody>
      </p:sp>
      <p:sp>
        <p:nvSpPr>
          <p:cNvPr id="1048971" name="Date Placeholder 3"/>
          <p:cNvSpPr>
            <a:spLocks noGrp="1"/>
          </p:cNvSpPr>
          <p:nvPr>
            <p:ph type="dt" sz="half" idx="10"/>
          </p:nvPr>
        </p:nvSpPr>
        <p:spPr/>
        <p:txBody>
          <a:bodyPr/>
          <a:lstStyle/>
          <a:p>
            <a:fld id="{11361877-2C58-409A-BF87-1FEC540FEA7D}" type="datetime1">
              <a:rPr lang="en-US" smtClean="0"/>
              <a:t>8/9/2021</a:t>
            </a:fld>
            <a:endParaRPr lang="en-US"/>
          </a:p>
        </p:txBody>
      </p:sp>
      <p:sp>
        <p:nvSpPr>
          <p:cNvPr id="1048972" name="Slide Number Placeholder 4"/>
          <p:cNvSpPr>
            <a:spLocks noGrp="1"/>
          </p:cNvSpPr>
          <p:nvPr>
            <p:ph type="sldNum" sz="quarter" idx="12"/>
          </p:nvPr>
        </p:nvSpPr>
        <p:spPr/>
        <p:txBody>
          <a:bodyPr/>
          <a:lstStyle/>
          <a:p>
            <a:fld id="{124970EB-A8C4-40D2-AF81-C6C16288290E}" type="slidenum">
              <a:rPr lang="en-US" smtClean="0"/>
              <a:pPr/>
              <a:t>71</a:t>
            </a:fld>
            <a:endParaRPr lang="en-US"/>
          </a:p>
        </p:txBody>
      </p:sp>
      <p:sp>
        <p:nvSpPr>
          <p:cNvPr id="1048973"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74" name="Title 1"/>
          <p:cNvSpPr>
            <a:spLocks noGrp="1"/>
          </p:cNvSpPr>
          <p:nvPr>
            <p:ph type="title"/>
          </p:nvPr>
        </p:nvSpPr>
        <p:spPr>
          <a:xfrm>
            <a:off x="457200" y="274638"/>
            <a:ext cx="8229600" cy="715962"/>
          </a:xfrm>
        </p:spPr>
        <p:txBody>
          <a:bodyPr>
            <a:normAutofit fontScale="90000"/>
          </a:bodyPr>
          <a:lstStyle/>
          <a:p>
            <a:r>
              <a:rPr lang="en-US" dirty="0"/>
              <a:t>Cont…</a:t>
            </a:r>
          </a:p>
        </p:txBody>
      </p:sp>
      <p:sp>
        <p:nvSpPr>
          <p:cNvPr id="1048975" name="Content Placeholder 2"/>
          <p:cNvSpPr>
            <a:spLocks noGrp="1"/>
          </p:cNvSpPr>
          <p:nvPr>
            <p:ph idx="1"/>
          </p:nvPr>
        </p:nvSpPr>
        <p:spPr>
          <a:xfrm>
            <a:off x="228600" y="1143001"/>
            <a:ext cx="8763000" cy="5410200"/>
          </a:xfrm>
        </p:spPr>
        <p:txBody>
          <a:bodyPr>
            <a:normAutofit fontScale="92500" lnSpcReduction="10000"/>
          </a:bodyPr>
          <a:lstStyle/>
          <a:p>
            <a:pPr>
              <a:lnSpc>
                <a:spcPct val="150000"/>
              </a:lnSpc>
              <a:buBlip>
                <a:blip r:embed="rId2"/>
              </a:buBlip>
            </a:pPr>
            <a:r>
              <a:rPr lang="en-US" dirty="0"/>
              <a:t>Soft, grade I or II/VI </a:t>
            </a:r>
            <a:r>
              <a:rPr lang="en-US" dirty="0" err="1"/>
              <a:t>middiastolic</a:t>
            </a:r>
            <a:r>
              <a:rPr lang="en-US" dirty="0"/>
              <a:t> murmurs are commonly heard at the apex or along the left </a:t>
            </a:r>
            <a:r>
              <a:rPr lang="en-US" dirty="0" err="1"/>
              <a:t>sternal</a:t>
            </a:r>
            <a:r>
              <a:rPr lang="en-US" dirty="0"/>
              <a:t> border </a:t>
            </a:r>
          </a:p>
          <a:p>
            <a:pPr>
              <a:lnSpc>
                <a:spcPct val="150000"/>
              </a:lnSpc>
              <a:buBlip>
                <a:blip r:embed="rId2"/>
              </a:buBlip>
            </a:pPr>
            <a:r>
              <a:rPr lang="en-US" dirty="0" err="1"/>
              <a:t>Hepatomegaly</a:t>
            </a:r>
            <a:r>
              <a:rPr lang="en-US" dirty="0"/>
              <a:t>, ankle edema, </a:t>
            </a:r>
            <a:r>
              <a:rPr lang="en-US" dirty="0" err="1"/>
              <a:t>ascites</a:t>
            </a:r>
            <a:r>
              <a:rPr lang="en-US" dirty="0"/>
              <a:t>, and pleural effusion,</a:t>
            </a:r>
          </a:p>
          <a:p>
            <a:pPr>
              <a:lnSpc>
                <a:spcPct val="150000"/>
              </a:lnSpc>
              <a:buBlip>
                <a:blip r:embed="rId3"/>
              </a:buBlip>
            </a:pPr>
            <a:r>
              <a:rPr lang="en-US" dirty="0"/>
              <a:t>Diagnostic modality </a:t>
            </a:r>
          </a:p>
          <a:p>
            <a:pPr lvl="1">
              <a:lnSpc>
                <a:spcPct val="150000"/>
              </a:lnSpc>
              <a:buFont typeface="Wingdings" pitchFamily="2" charset="2"/>
              <a:buChar char="ü"/>
            </a:pPr>
            <a:r>
              <a:rPr lang="en-US" dirty="0"/>
              <a:t>ECG/echocardiography </a:t>
            </a:r>
          </a:p>
          <a:p>
            <a:pPr lvl="1">
              <a:lnSpc>
                <a:spcPct val="150000"/>
              </a:lnSpc>
              <a:buFont typeface="Wingdings" pitchFamily="2" charset="2"/>
              <a:buChar char="ü"/>
            </a:pPr>
            <a:r>
              <a:rPr lang="en-US" dirty="0"/>
              <a:t>C-X ray  and cardiac catheterization </a:t>
            </a:r>
          </a:p>
        </p:txBody>
      </p:sp>
      <p:sp>
        <p:nvSpPr>
          <p:cNvPr id="1048976" name="Date Placeholder 3"/>
          <p:cNvSpPr>
            <a:spLocks noGrp="1"/>
          </p:cNvSpPr>
          <p:nvPr>
            <p:ph type="dt" sz="half" idx="10"/>
          </p:nvPr>
        </p:nvSpPr>
        <p:spPr/>
        <p:txBody>
          <a:bodyPr/>
          <a:lstStyle/>
          <a:p>
            <a:fld id="{2B227B1B-B784-4661-A00A-05DF9E389399}" type="datetime1">
              <a:rPr lang="en-US" smtClean="0"/>
              <a:t>8/9/2021</a:t>
            </a:fld>
            <a:endParaRPr lang="en-US"/>
          </a:p>
        </p:txBody>
      </p:sp>
      <p:sp>
        <p:nvSpPr>
          <p:cNvPr id="1048977" name="Slide Number Placeholder 4"/>
          <p:cNvSpPr>
            <a:spLocks noGrp="1"/>
          </p:cNvSpPr>
          <p:nvPr>
            <p:ph type="sldNum" sz="quarter" idx="12"/>
          </p:nvPr>
        </p:nvSpPr>
        <p:spPr/>
        <p:txBody>
          <a:bodyPr/>
          <a:lstStyle/>
          <a:p>
            <a:fld id="{124970EB-A8C4-40D2-AF81-C6C16288290E}" type="slidenum">
              <a:rPr lang="en-US" smtClean="0"/>
              <a:pPr/>
              <a:t>72</a:t>
            </a:fld>
            <a:endParaRPr lang="en-US"/>
          </a:p>
        </p:txBody>
      </p:sp>
      <p:sp>
        <p:nvSpPr>
          <p:cNvPr id="1048978"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79" name="Title 1"/>
          <p:cNvSpPr>
            <a:spLocks noGrp="1"/>
          </p:cNvSpPr>
          <p:nvPr>
            <p:ph type="title"/>
          </p:nvPr>
        </p:nvSpPr>
        <p:spPr/>
        <p:txBody>
          <a:bodyPr>
            <a:normAutofit/>
          </a:bodyPr>
          <a:lstStyle/>
          <a:p>
            <a:r>
              <a:rPr lang="en-US" dirty="0">
                <a:effectLst>
                  <a:outerShdw blurRad="38100" dist="38100" dir="2700000" algn="tl">
                    <a:srgbClr val="000000"/>
                  </a:outerShdw>
                </a:effectLst>
              </a:rPr>
              <a:t>Treatment</a:t>
            </a:r>
            <a:endParaRPr lang="en-US" dirty="0"/>
          </a:p>
        </p:txBody>
      </p:sp>
      <p:sp>
        <p:nvSpPr>
          <p:cNvPr id="1048980" name="Content Placeholder 2"/>
          <p:cNvSpPr>
            <a:spLocks noGrp="1"/>
          </p:cNvSpPr>
          <p:nvPr>
            <p:ph idx="1"/>
          </p:nvPr>
        </p:nvSpPr>
        <p:spPr/>
        <p:txBody>
          <a:bodyPr/>
          <a:lstStyle/>
          <a:p>
            <a:pPr lvl="1">
              <a:lnSpc>
                <a:spcPct val="150000"/>
              </a:lnSpc>
            </a:pPr>
            <a:r>
              <a:rPr lang="en-US" dirty="0"/>
              <a:t>Anticoagulation</a:t>
            </a:r>
          </a:p>
          <a:p>
            <a:pPr lvl="1">
              <a:lnSpc>
                <a:spcPct val="150000"/>
              </a:lnSpc>
            </a:pPr>
            <a:r>
              <a:rPr lang="en-US" dirty="0"/>
              <a:t>Sodium restriction</a:t>
            </a:r>
          </a:p>
          <a:p>
            <a:pPr lvl="1">
              <a:lnSpc>
                <a:spcPct val="150000"/>
              </a:lnSpc>
            </a:pPr>
            <a:r>
              <a:rPr lang="en-US" dirty="0"/>
              <a:t>Diuretics</a:t>
            </a:r>
          </a:p>
          <a:p>
            <a:pPr lvl="1">
              <a:lnSpc>
                <a:spcPct val="150000"/>
              </a:lnSpc>
            </a:pPr>
            <a:r>
              <a:rPr lang="en-US" dirty="0"/>
              <a:t>Valve replacement</a:t>
            </a:r>
          </a:p>
          <a:p>
            <a:endParaRPr lang="en-US" dirty="0"/>
          </a:p>
        </p:txBody>
      </p:sp>
      <p:sp>
        <p:nvSpPr>
          <p:cNvPr id="1048981" name="Date Placeholder 3"/>
          <p:cNvSpPr>
            <a:spLocks noGrp="1"/>
          </p:cNvSpPr>
          <p:nvPr>
            <p:ph type="dt" sz="half" idx="10"/>
          </p:nvPr>
        </p:nvSpPr>
        <p:spPr/>
        <p:txBody>
          <a:bodyPr/>
          <a:lstStyle/>
          <a:p>
            <a:fld id="{EF7C7990-863D-430B-915A-1970023BA256}" type="datetime1">
              <a:rPr lang="en-US" smtClean="0"/>
              <a:t>8/9/2021</a:t>
            </a:fld>
            <a:endParaRPr lang="en-US"/>
          </a:p>
        </p:txBody>
      </p:sp>
      <p:sp>
        <p:nvSpPr>
          <p:cNvPr id="1048982" name="Slide Number Placeholder 4"/>
          <p:cNvSpPr>
            <a:spLocks noGrp="1"/>
          </p:cNvSpPr>
          <p:nvPr>
            <p:ph type="sldNum" sz="quarter" idx="12"/>
          </p:nvPr>
        </p:nvSpPr>
        <p:spPr/>
        <p:txBody>
          <a:bodyPr/>
          <a:lstStyle/>
          <a:p>
            <a:fld id="{124970EB-A8C4-40D2-AF81-C6C16288290E}" type="slidenum">
              <a:rPr lang="en-US" smtClean="0"/>
              <a:pPr/>
              <a:t>73</a:t>
            </a:fld>
            <a:endParaRPr lang="en-US"/>
          </a:p>
        </p:txBody>
      </p:sp>
      <p:sp>
        <p:nvSpPr>
          <p:cNvPr id="1048983"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84" name="Title 1"/>
          <p:cNvSpPr>
            <a:spLocks noGrp="1"/>
          </p:cNvSpPr>
          <p:nvPr>
            <p:ph type="title"/>
          </p:nvPr>
        </p:nvSpPr>
        <p:spPr/>
        <p:txBody>
          <a:bodyPr/>
          <a:lstStyle/>
          <a:p>
            <a:r>
              <a:rPr lang="en-US" dirty="0"/>
              <a:t>Anesthesia management </a:t>
            </a:r>
          </a:p>
        </p:txBody>
      </p:sp>
      <p:sp>
        <p:nvSpPr>
          <p:cNvPr id="1048985" name="Rectangle 3"/>
          <p:cNvSpPr>
            <a:spLocks noGrp="1" noChangeArrowheads="1"/>
          </p:cNvSpPr>
          <p:nvPr>
            <p:ph idx="1"/>
          </p:nvPr>
        </p:nvSpPr>
        <p:spPr>
          <a:xfrm>
            <a:off x="152400" y="1219200"/>
            <a:ext cx="8991600" cy="5334000"/>
          </a:xfrm>
        </p:spPr>
        <p:txBody>
          <a:bodyPr>
            <a:normAutofit fontScale="85000" lnSpcReduction="10000"/>
          </a:bodyPr>
          <a:lstStyle/>
          <a:p>
            <a:pPr eaLnBrk="1" hangingPunct="1">
              <a:buFontTx/>
              <a:buNone/>
            </a:pPr>
            <a:r>
              <a:rPr lang="en-US" dirty="0" err="1">
                <a:effectLst>
                  <a:outerShdw blurRad="38100" dist="38100" dir="2700000" algn="tl">
                    <a:srgbClr val="000000"/>
                  </a:outerShdw>
                </a:effectLst>
              </a:rPr>
              <a:t>Hemodianamic</a:t>
            </a:r>
            <a:r>
              <a:rPr lang="en-US" dirty="0">
                <a:effectLst>
                  <a:outerShdw blurRad="38100" dist="38100" dir="2700000" algn="tl">
                    <a:srgbClr val="000000"/>
                  </a:outerShdw>
                </a:effectLst>
              </a:rPr>
              <a:t>  goal </a:t>
            </a:r>
          </a:p>
          <a:p>
            <a:pPr lvl="1" eaLnBrk="1" hangingPunct="1">
              <a:lnSpc>
                <a:spcPct val="150000"/>
              </a:lnSpc>
              <a:buFontTx/>
              <a:buNone/>
            </a:pPr>
            <a:r>
              <a:rPr lang="en-US" sz="3500" b="1" u="sng" dirty="0"/>
              <a:t>HR</a:t>
            </a:r>
            <a:r>
              <a:rPr lang="en-US" sz="3000" dirty="0"/>
              <a:t>- keep slow to allow for diastolic filling; avoid sinus tachycardia</a:t>
            </a:r>
          </a:p>
          <a:p>
            <a:pPr lvl="1" eaLnBrk="1" hangingPunct="1">
              <a:lnSpc>
                <a:spcPct val="150000"/>
              </a:lnSpc>
              <a:buFontTx/>
              <a:buNone/>
            </a:pPr>
            <a:r>
              <a:rPr lang="en-US" sz="3000" u="sng" dirty="0">
                <a:effectLst>
                  <a:outerShdw blurRad="38100" dist="38100" dir="2700000" algn="tl">
                    <a:srgbClr val="000000">
                      <a:alpha val="43137"/>
                    </a:srgbClr>
                  </a:outerShdw>
                </a:effectLst>
              </a:rPr>
              <a:t>Rhythm</a:t>
            </a:r>
            <a:r>
              <a:rPr lang="en-US" sz="3000" dirty="0">
                <a:effectLst>
                  <a:outerShdw blurRad="38100" dist="38100" dir="2700000" algn="tl">
                    <a:srgbClr val="000000">
                      <a:alpha val="43137"/>
                    </a:srgbClr>
                  </a:outerShdw>
                </a:effectLst>
              </a:rPr>
              <a:t>-</a:t>
            </a:r>
            <a:r>
              <a:rPr lang="en-US" sz="3000" dirty="0"/>
              <a:t> sinus rhythm; if A-fib, control rate</a:t>
            </a:r>
          </a:p>
          <a:p>
            <a:pPr lvl="1" eaLnBrk="1" hangingPunct="1">
              <a:lnSpc>
                <a:spcPct val="150000"/>
              </a:lnSpc>
              <a:buFontTx/>
              <a:buNone/>
            </a:pPr>
            <a:r>
              <a:rPr lang="en-US" sz="3000" u="sng" dirty="0">
                <a:effectLst>
                  <a:outerShdw blurRad="38100" dist="38100" dir="2700000" algn="tl">
                    <a:srgbClr val="000000">
                      <a:alpha val="43137"/>
                    </a:srgbClr>
                  </a:outerShdw>
                </a:effectLst>
              </a:rPr>
              <a:t>Preload</a:t>
            </a:r>
            <a:r>
              <a:rPr lang="en-US" sz="3000" dirty="0"/>
              <a:t>- Maintain or slightly</a:t>
            </a:r>
          </a:p>
          <a:p>
            <a:pPr lvl="1" eaLnBrk="1" hangingPunct="1">
              <a:lnSpc>
                <a:spcPct val="150000"/>
              </a:lnSpc>
              <a:buFontTx/>
              <a:buNone/>
            </a:pPr>
            <a:r>
              <a:rPr lang="en-US" sz="3000" u="sng" dirty="0" err="1">
                <a:effectLst>
                  <a:outerShdw blurRad="38100" dist="38100" dir="2700000" algn="tl">
                    <a:srgbClr val="000000">
                      <a:alpha val="43137"/>
                    </a:srgbClr>
                  </a:outerShdw>
                </a:effectLst>
              </a:rPr>
              <a:t>Afterload</a:t>
            </a:r>
            <a:r>
              <a:rPr lang="en-US" sz="3000" dirty="0"/>
              <a:t>-  SVR should be maintained; avoid decreases in SVR; avoid increases in PVR</a:t>
            </a:r>
          </a:p>
          <a:p>
            <a:pPr lvl="1" eaLnBrk="1" hangingPunct="1">
              <a:lnSpc>
                <a:spcPct val="150000"/>
              </a:lnSpc>
              <a:buFontTx/>
              <a:buNone/>
            </a:pPr>
            <a:r>
              <a:rPr lang="en-US" sz="3000" u="sng" dirty="0">
                <a:effectLst>
                  <a:outerShdw blurRad="38100" dist="38100" dir="2700000" algn="tl">
                    <a:srgbClr val="000000">
                      <a:alpha val="43137"/>
                    </a:srgbClr>
                  </a:outerShdw>
                </a:effectLst>
              </a:rPr>
              <a:t>Contractility</a:t>
            </a:r>
            <a:r>
              <a:rPr lang="en-US" sz="3000" dirty="0"/>
              <a:t>- Maintain to provide adequate cardiac output</a:t>
            </a:r>
          </a:p>
          <a:p>
            <a:pPr lvl="1" eaLnBrk="1" hangingPunct="1">
              <a:buFontTx/>
              <a:buNone/>
            </a:pPr>
            <a:endParaRPr lang="en-US" sz="3500" dirty="0">
              <a:effectLst>
                <a:outerShdw blurRad="38100" dist="38100" dir="2700000" algn="tl">
                  <a:srgbClr val="000000"/>
                </a:outerShdw>
              </a:effectLst>
            </a:endParaRPr>
          </a:p>
        </p:txBody>
      </p:sp>
      <p:sp>
        <p:nvSpPr>
          <p:cNvPr id="1048986" name="Date Placeholder 4"/>
          <p:cNvSpPr>
            <a:spLocks noGrp="1"/>
          </p:cNvSpPr>
          <p:nvPr>
            <p:ph type="dt" sz="half" idx="10"/>
          </p:nvPr>
        </p:nvSpPr>
        <p:spPr/>
        <p:txBody>
          <a:bodyPr/>
          <a:lstStyle/>
          <a:p>
            <a:fld id="{991BD810-0ABC-41E7-9DBC-E33948E12CB4}" type="datetime1">
              <a:rPr lang="en-US" smtClean="0"/>
              <a:t>8/9/2021</a:t>
            </a:fld>
            <a:endParaRPr lang="en-US"/>
          </a:p>
        </p:txBody>
      </p:sp>
      <p:sp>
        <p:nvSpPr>
          <p:cNvPr id="1048987" name="Slide Number Placeholder 5"/>
          <p:cNvSpPr>
            <a:spLocks noGrp="1"/>
          </p:cNvSpPr>
          <p:nvPr>
            <p:ph type="sldNum" sz="quarter" idx="12"/>
          </p:nvPr>
        </p:nvSpPr>
        <p:spPr/>
        <p:txBody>
          <a:bodyPr/>
          <a:lstStyle/>
          <a:p>
            <a:fld id="{124970EB-A8C4-40D2-AF81-C6C16288290E}" type="slidenum">
              <a:rPr lang="en-US" smtClean="0"/>
              <a:pPr/>
              <a:t>74</a:t>
            </a:fld>
            <a:endParaRPr lang="en-US"/>
          </a:p>
        </p:txBody>
      </p:sp>
      <p:sp>
        <p:nvSpPr>
          <p:cNvPr id="1048988" name="Footer Placeholder 6"/>
          <p:cNvSpPr>
            <a:spLocks noGrp="1"/>
          </p:cNvSpPr>
          <p:nvPr>
            <p:ph type="ftr" sz="quarter" idx="11"/>
          </p:nvPr>
        </p:nvSpPr>
        <p:spPr/>
        <p:txBody>
          <a:bodyPr/>
          <a:lstStyle/>
          <a:p>
            <a:r>
              <a:rPr lang="en-US"/>
              <a:t>Anesthesia for VHD </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89" name="Title 1"/>
          <p:cNvSpPr>
            <a:spLocks noGrp="1"/>
          </p:cNvSpPr>
          <p:nvPr>
            <p:ph type="title"/>
          </p:nvPr>
        </p:nvSpPr>
        <p:spPr>
          <a:xfrm>
            <a:off x="457200" y="274638"/>
            <a:ext cx="8229600" cy="715962"/>
          </a:xfrm>
        </p:spPr>
        <p:txBody>
          <a:bodyPr>
            <a:normAutofit fontScale="90000"/>
          </a:bodyPr>
          <a:lstStyle/>
          <a:p>
            <a:r>
              <a:rPr lang="en-US" b="1" dirty="0"/>
              <a:t>Anesthesia consideration </a:t>
            </a:r>
          </a:p>
        </p:txBody>
      </p:sp>
      <p:sp>
        <p:nvSpPr>
          <p:cNvPr id="1048990" name="Content Placeholder 2"/>
          <p:cNvSpPr>
            <a:spLocks noGrp="1"/>
          </p:cNvSpPr>
          <p:nvPr>
            <p:ph idx="1"/>
          </p:nvPr>
        </p:nvSpPr>
        <p:spPr>
          <a:xfrm>
            <a:off x="228600" y="1066800"/>
            <a:ext cx="8686800" cy="5486400"/>
          </a:xfrm>
        </p:spPr>
        <p:txBody>
          <a:bodyPr/>
          <a:lstStyle/>
          <a:p>
            <a:pPr marL="609600" indent="-609600">
              <a:lnSpc>
                <a:spcPct val="150000"/>
              </a:lnSpc>
              <a:buBlip>
                <a:blip r:embed="rId3"/>
              </a:buBlip>
            </a:pPr>
            <a:r>
              <a:rPr lang="en-US" dirty="0"/>
              <a:t>Prevent rapid ventricular wall stress increases</a:t>
            </a:r>
          </a:p>
          <a:p>
            <a:pPr marL="609600" indent="-609600">
              <a:lnSpc>
                <a:spcPct val="150000"/>
              </a:lnSpc>
              <a:buBlip>
                <a:blip r:embed="rId3"/>
              </a:buBlip>
            </a:pPr>
            <a:r>
              <a:rPr lang="en-US" dirty="0"/>
              <a:t>Minimize increases in central blood volume</a:t>
            </a:r>
          </a:p>
          <a:p>
            <a:pPr marL="609600" indent="-609600">
              <a:lnSpc>
                <a:spcPct val="150000"/>
              </a:lnSpc>
              <a:buBlip>
                <a:blip r:embed="rId3"/>
              </a:buBlip>
            </a:pPr>
            <a:r>
              <a:rPr lang="en-US" dirty="0"/>
              <a:t>Avoid marked decreases in SVR</a:t>
            </a:r>
          </a:p>
          <a:p>
            <a:pPr marL="609600" indent="-609600">
              <a:lnSpc>
                <a:spcPct val="150000"/>
              </a:lnSpc>
              <a:buBlip>
                <a:blip r:embed="rId3"/>
              </a:buBlip>
            </a:pPr>
            <a:r>
              <a:rPr lang="en-US" dirty="0"/>
              <a:t>Prevent increase in PA pressure</a:t>
            </a:r>
          </a:p>
          <a:p>
            <a:pPr>
              <a:lnSpc>
                <a:spcPct val="150000"/>
              </a:lnSpc>
            </a:pPr>
            <a:endParaRPr lang="en-US" dirty="0"/>
          </a:p>
        </p:txBody>
      </p:sp>
      <p:sp>
        <p:nvSpPr>
          <p:cNvPr id="1048991" name="Date Placeholder 3"/>
          <p:cNvSpPr>
            <a:spLocks noGrp="1"/>
          </p:cNvSpPr>
          <p:nvPr>
            <p:ph type="dt" sz="half" idx="10"/>
          </p:nvPr>
        </p:nvSpPr>
        <p:spPr/>
        <p:txBody>
          <a:bodyPr/>
          <a:lstStyle/>
          <a:p>
            <a:fld id="{CB69DFF6-BDF9-4398-A117-E5684BE5A1F7}" type="datetime1">
              <a:rPr lang="en-US" smtClean="0"/>
              <a:t>8/9/2021</a:t>
            </a:fld>
            <a:endParaRPr lang="en-US"/>
          </a:p>
        </p:txBody>
      </p:sp>
      <p:sp>
        <p:nvSpPr>
          <p:cNvPr id="1048992" name="Slide Number Placeholder 4"/>
          <p:cNvSpPr>
            <a:spLocks noGrp="1"/>
          </p:cNvSpPr>
          <p:nvPr>
            <p:ph type="sldNum" sz="quarter" idx="12"/>
          </p:nvPr>
        </p:nvSpPr>
        <p:spPr/>
        <p:txBody>
          <a:bodyPr/>
          <a:lstStyle/>
          <a:p>
            <a:fld id="{124970EB-A8C4-40D2-AF81-C6C16288290E}" type="slidenum">
              <a:rPr lang="en-US" smtClean="0"/>
              <a:pPr/>
              <a:t>75</a:t>
            </a:fld>
            <a:endParaRPr lang="en-US"/>
          </a:p>
        </p:txBody>
      </p:sp>
      <p:sp>
        <p:nvSpPr>
          <p:cNvPr id="1048993"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sp>
        <p:nvSpPr>
          <p:cNvPr id="3" name="Content Placeholder 2"/>
          <p:cNvSpPr>
            <a:spLocks noGrp="1"/>
          </p:cNvSpPr>
          <p:nvPr>
            <p:ph idx="1"/>
          </p:nvPr>
        </p:nvSpPr>
        <p:spPr>
          <a:xfrm>
            <a:off x="228600" y="1371600"/>
            <a:ext cx="8763000" cy="5029200"/>
          </a:xfrm>
        </p:spPr>
        <p:txBody>
          <a:bodyPr>
            <a:normAutofit/>
          </a:bodyPr>
          <a:lstStyle/>
          <a:p>
            <a:pPr marL="609600" indent="-609600">
              <a:lnSpc>
                <a:spcPct val="150000"/>
              </a:lnSpc>
              <a:buBlip>
                <a:blip r:embed="rId3"/>
              </a:buBlip>
            </a:pPr>
            <a:r>
              <a:rPr lang="en-US" dirty="0"/>
              <a:t>Maintain sinus rhythm avoid tachycardia</a:t>
            </a:r>
          </a:p>
          <a:p>
            <a:pPr marL="609600" indent="-609600">
              <a:lnSpc>
                <a:spcPct val="150000"/>
              </a:lnSpc>
              <a:buBlip>
                <a:blip r:embed="rId3"/>
              </a:buBlip>
            </a:pPr>
            <a:r>
              <a:rPr lang="en-US" dirty="0"/>
              <a:t>Avoid  increase in PVR and HR</a:t>
            </a:r>
          </a:p>
          <a:p>
            <a:pPr marL="609600" indent="-609600">
              <a:lnSpc>
                <a:spcPct val="150000"/>
              </a:lnSpc>
              <a:buBlip>
                <a:blip r:embed="rId3"/>
              </a:buBlip>
            </a:pPr>
            <a:r>
              <a:rPr lang="en-US" dirty="0"/>
              <a:t>Avoid large increase in CO both </a:t>
            </a:r>
            <a:r>
              <a:rPr lang="en-US" dirty="0" err="1"/>
              <a:t>hypovolemia</a:t>
            </a:r>
            <a:r>
              <a:rPr lang="en-US" dirty="0"/>
              <a:t> &amp; fluid over load</a:t>
            </a:r>
          </a:p>
          <a:p>
            <a:pPr marL="609600" indent="-609600">
              <a:lnSpc>
                <a:spcPct val="150000"/>
              </a:lnSpc>
              <a:buBlip>
                <a:blip r:embed="rId3"/>
              </a:buBlip>
            </a:pPr>
            <a:r>
              <a:rPr lang="en-US" dirty="0"/>
              <a:t>induce in </a:t>
            </a:r>
            <a:r>
              <a:rPr lang="en-US" dirty="0" err="1"/>
              <a:t>Trendelenberg</a:t>
            </a:r>
            <a:r>
              <a:rPr lang="en-US" dirty="0"/>
              <a:t> position </a:t>
            </a:r>
            <a:r>
              <a:rPr lang="en-US" b="1" dirty="0">
                <a:solidFill>
                  <a:srgbClr val="FF0000"/>
                </a:solidFill>
              </a:rPr>
              <a:t>(</a:t>
            </a:r>
            <a:r>
              <a:rPr lang="en-US" b="1" dirty="0" err="1">
                <a:solidFill>
                  <a:srgbClr val="FF0000"/>
                </a:solidFill>
              </a:rPr>
              <a:t>Preexsting</a:t>
            </a:r>
            <a:r>
              <a:rPr lang="en-US" b="1" dirty="0">
                <a:solidFill>
                  <a:srgbClr val="FF0000"/>
                </a:solidFill>
              </a:rPr>
              <a:t> left </a:t>
            </a:r>
            <a:r>
              <a:rPr lang="en-US" b="1" dirty="0" err="1">
                <a:solidFill>
                  <a:srgbClr val="FF0000"/>
                </a:solidFill>
              </a:rPr>
              <a:t>atrial</a:t>
            </a:r>
            <a:r>
              <a:rPr lang="en-US" b="1" dirty="0">
                <a:solidFill>
                  <a:srgbClr val="FF0000"/>
                </a:solidFill>
              </a:rPr>
              <a:t> thrombus).</a:t>
            </a:r>
          </a:p>
          <a:p>
            <a:pPr marL="609600" indent="-609600">
              <a:lnSpc>
                <a:spcPct val="150000"/>
              </a:lnSpc>
              <a:buBlip>
                <a:blip r:embed="rId3"/>
              </a:buBlip>
            </a:pPr>
            <a:endParaRPr lang="en-US" dirty="0"/>
          </a:p>
          <a:p>
            <a:pPr>
              <a:lnSpc>
                <a:spcPct val="150000"/>
              </a:lnSpc>
            </a:pPr>
            <a:endParaRPr lang="en-US" dirty="0"/>
          </a:p>
        </p:txBody>
      </p:sp>
      <p:sp>
        <p:nvSpPr>
          <p:cNvPr id="4" name="Date Placeholder 3"/>
          <p:cNvSpPr>
            <a:spLocks noGrp="1"/>
          </p:cNvSpPr>
          <p:nvPr>
            <p:ph type="dt" sz="half" idx="10"/>
          </p:nvPr>
        </p:nvSpPr>
        <p:spPr/>
        <p:txBody>
          <a:bodyPr/>
          <a:lstStyle/>
          <a:p>
            <a:fld id="{A4E9319C-0EEC-42ED-9001-D48C64A73D5B}" type="datetime1">
              <a:rPr lang="en-US" smtClean="0"/>
              <a:t>8/9/2021</a:t>
            </a:fld>
            <a:endParaRPr lang="en-US"/>
          </a:p>
        </p:txBody>
      </p:sp>
      <p:sp>
        <p:nvSpPr>
          <p:cNvPr id="5" name="Footer Placeholder 4"/>
          <p:cNvSpPr>
            <a:spLocks noGrp="1"/>
          </p:cNvSpPr>
          <p:nvPr>
            <p:ph type="ftr" sz="quarter" idx="11"/>
          </p:nvPr>
        </p:nvSpPr>
        <p:spPr/>
        <p:txBody>
          <a:bodyPr/>
          <a:lstStyle/>
          <a:p>
            <a:r>
              <a:rPr lang="en-US"/>
              <a:t>Anesthesia for VHD </a:t>
            </a:r>
          </a:p>
        </p:txBody>
      </p:sp>
      <p:sp>
        <p:nvSpPr>
          <p:cNvPr id="6" name="Slide Number Placeholder 5"/>
          <p:cNvSpPr>
            <a:spLocks noGrp="1"/>
          </p:cNvSpPr>
          <p:nvPr>
            <p:ph type="sldNum" sz="quarter" idx="12"/>
          </p:nvPr>
        </p:nvSpPr>
        <p:spPr/>
        <p:txBody>
          <a:bodyPr/>
          <a:lstStyle/>
          <a:p>
            <a:fld id="{81D9AF01-45F5-44F6-94C9-E46484F8FCE6}" type="slidenum">
              <a:rPr lang="en-US" smtClean="0"/>
              <a:pPr/>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97" name="Title 1"/>
          <p:cNvSpPr>
            <a:spLocks noGrp="1"/>
          </p:cNvSpPr>
          <p:nvPr>
            <p:ph type="title"/>
          </p:nvPr>
        </p:nvSpPr>
        <p:spPr/>
        <p:txBody>
          <a:bodyPr/>
          <a:lstStyle/>
          <a:p>
            <a:r>
              <a:rPr lang="en-US" dirty="0"/>
              <a:t>Cont…</a:t>
            </a:r>
          </a:p>
        </p:txBody>
      </p:sp>
      <p:sp>
        <p:nvSpPr>
          <p:cNvPr id="1048998" name="Content Placeholder 2"/>
          <p:cNvSpPr>
            <a:spLocks noGrp="1"/>
          </p:cNvSpPr>
          <p:nvPr>
            <p:ph idx="1"/>
          </p:nvPr>
        </p:nvSpPr>
        <p:spPr>
          <a:xfrm>
            <a:off x="228600" y="1524000"/>
            <a:ext cx="8686800" cy="4800600"/>
          </a:xfrm>
        </p:spPr>
        <p:txBody>
          <a:bodyPr/>
          <a:lstStyle/>
          <a:p>
            <a:pPr>
              <a:lnSpc>
                <a:spcPct val="150000"/>
              </a:lnSpc>
              <a:buBlip>
                <a:blip r:embed="rId3"/>
              </a:buBlip>
            </a:pPr>
            <a:r>
              <a:rPr lang="en-US" dirty="0"/>
              <a:t>In patients with MS, </a:t>
            </a:r>
            <a:r>
              <a:rPr lang="en-US" dirty="0" err="1"/>
              <a:t>oversedation</a:t>
            </a:r>
            <a:r>
              <a:rPr lang="en-US" dirty="0"/>
              <a:t> in the preoperative period should be avoided to prevent hypoventilation. </a:t>
            </a:r>
          </a:p>
          <a:p>
            <a:pPr>
              <a:lnSpc>
                <a:spcPct val="150000"/>
              </a:lnSpc>
              <a:buBlip>
                <a:blip r:embed="rId3"/>
              </a:buBlip>
            </a:pPr>
            <a:r>
              <a:rPr lang="en-US" dirty="0"/>
              <a:t>Bleeding complications from chronic anticoagulation in patients with </a:t>
            </a:r>
            <a:r>
              <a:rPr lang="en-US" dirty="0" err="1"/>
              <a:t>atrial</a:t>
            </a:r>
            <a:r>
              <a:rPr lang="en-US" dirty="0"/>
              <a:t> fibrillation should be anticipated </a:t>
            </a:r>
          </a:p>
        </p:txBody>
      </p:sp>
      <p:sp>
        <p:nvSpPr>
          <p:cNvPr id="1048999" name="Date Placeholder 3"/>
          <p:cNvSpPr>
            <a:spLocks noGrp="1"/>
          </p:cNvSpPr>
          <p:nvPr>
            <p:ph type="dt" sz="half" idx="10"/>
          </p:nvPr>
        </p:nvSpPr>
        <p:spPr/>
        <p:txBody>
          <a:bodyPr/>
          <a:lstStyle/>
          <a:p>
            <a:fld id="{A04A493A-7528-494F-A0E2-8478BBCA6169}" type="datetime1">
              <a:rPr lang="en-US" smtClean="0"/>
              <a:t>8/9/2021</a:t>
            </a:fld>
            <a:endParaRPr lang="en-US"/>
          </a:p>
        </p:txBody>
      </p:sp>
      <p:sp>
        <p:nvSpPr>
          <p:cNvPr id="1049000" name="Footer Placeholder 4"/>
          <p:cNvSpPr>
            <a:spLocks noGrp="1"/>
          </p:cNvSpPr>
          <p:nvPr>
            <p:ph type="ftr" sz="quarter" idx="11"/>
          </p:nvPr>
        </p:nvSpPr>
        <p:spPr/>
        <p:txBody>
          <a:bodyPr/>
          <a:lstStyle/>
          <a:p>
            <a:r>
              <a:rPr lang="en-US"/>
              <a:t>Anesthesia for VHD </a:t>
            </a:r>
          </a:p>
        </p:txBody>
      </p:sp>
      <p:sp>
        <p:nvSpPr>
          <p:cNvPr id="1049001" name="Slide Number Placeholder 5"/>
          <p:cNvSpPr>
            <a:spLocks noGrp="1"/>
          </p:cNvSpPr>
          <p:nvPr>
            <p:ph type="sldNum" sz="quarter" idx="12"/>
          </p:nvPr>
        </p:nvSpPr>
        <p:spPr/>
        <p:txBody>
          <a:bodyPr/>
          <a:lstStyle/>
          <a:p>
            <a:fld id="{124970EB-A8C4-40D2-AF81-C6C16288290E}" type="slidenum">
              <a:rPr lang="en-US" smtClean="0"/>
              <a:pPr/>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05" name="Title 1"/>
          <p:cNvSpPr>
            <a:spLocks noGrp="1"/>
          </p:cNvSpPr>
          <p:nvPr>
            <p:ph type="title"/>
          </p:nvPr>
        </p:nvSpPr>
        <p:spPr>
          <a:xfrm>
            <a:off x="457200" y="5867400"/>
            <a:ext cx="8229600" cy="685800"/>
          </a:xfrm>
        </p:spPr>
        <p:txBody>
          <a:bodyPr>
            <a:normAutofit fontScale="90000"/>
          </a:bodyPr>
          <a:lstStyle/>
          <a:p>
            <a:r>
              <a:rPr lang="en-US" dirty="0">
                <a:solidFill>
                  <a:srgbClr val="FF0000"/>
                </a:solidFill>
              </a:rPr>
              <a:t>2007, J. </a:t>
            </a:r>
            <a:r>
              <a:rPr lang="en-US" dirty="0" err="1">
                <a:solidFill>
                  <a:srgbClr val="FF0000"/>
                </a:solidFill>
              </a:rPr>
              <a:t>Anaesth</a:t>
            </a:r>
            <a:endParaRPr lang="en-US" dirty="0">
              <a:solidFill>
                <a:srgbClr val="FF0000"/>
              </a:solidFill>
            </a:endParaRPr>
          </a:p>
        </p:txBody>
      </p:sp>
      <p:pic>
        <p:nvPicPr>
          <p:cNvPr id="2097177" name="Picture 2"/>
          <p:cNvPicPr>
            <a:picLocks noGrp="1" noChangeAspect="1" noChangeArrowheads="1"/>
          </p:cNvPicPr>
          <p:nvPr>
            <p:ph idx="1"/>
          </p:nvPr>
        </p:nvPicPr>
        <p:blipFill>
          <a:blip r:embed="rId2"/>
          <a:srcRect/>
          <a:stretch>
            <a:fillRect/>
          </a:stretch>
        </p:blipFill>
        <p:spPr>
          <a:xfrm>
            <a:off x="304800" y="381000"/>
            <a:ext cx="8584924" cy="5486399"/>
          </a:xfrm>
          <a:noFill/>
        </p:spPr>
      </p:pic>
      <p:sp>
        <p:nvSpPr>
          <p:cNvPr id="1049006" name="Date Placeholder 4"/>
          <p:cNvSpPr>
            <a:spLocks noGrp="1"/>
          </p:cNvSpPr>
          <p:nvPr>
            <p:ph type="dt" sz="half" idx="10"/>
          </p:nvPr>
        </p:nvSpPr>
        <p:spPr/>
        <p:txBody>
          <a:bodyPr/>
          <a:lstStyle/>
          <a:p>
            <a:fld id="{C55E2C0E-5CF2-473C-B5A6-A95F9E98E3D3}" type="datetime1">
              <a:rPr lang="en-US" smtClean="0"/>
              <a:t>8/9/2021</a:t>
            </a:fld>
            <a:endParaRPr lang="en-US"/>
          </a:p>
        </p:txBody>
      </p:sp>
      <p:sp>
        <p:nvSpPr>
          <p:cNvPr id="1049007" name="Slide Number Placeholder 5"/>
          <p:cNvSpPr>
            <a:spLocks noGrp="1"/>
          </p:cNvSpPr>
          <p:nvPr>
            <p:ph type="sldNum" sz="quarter" idx="12"/>
          </p:nvPr>
        </p:nvSpPr>
        <p:spPr/>
        <p:txBody>
          <a:bodyPr/>
          <a:lstStyle/>
          <a:p>
            <a:fld id="{EF8E3FA9-2733-40BA-B69A-B3E3823E6788}" type="slidenum">
              <a:rPr lang="en-US" smtClean="0"/>
              <a:pPr/>
              <a:t>78</a:t>
            </a:fld>
            <a:endParaRPr lang="en-US"/>
          </a:p>
        </p:txBody>
      </p:sp>
      <p:sp>
        <p:nvSpPr>
          <p:cNvPr id="1049008" name="Footer Placeholder 6"/>
          <p:cNvSpPr>
            <a:spLocks noGrp="1"/>
          </p:cNvSpPr>
          <p:nvPr>
            <p:ph type="ftr" sz="quarter" idx="11"/>
          </p:nvPr>
        </p:nvSpPr>
        <p:spPr/>
        <p:txBody>
          <a:bodyPr/>
          <a:lstStyle/>
          <a:p>
            <a:r>
              <a:rPr lang="en-US"/>
              <a:t>Anesthesia for VHD </a:t>
            </a:r>
            <a:endParaRPr 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09" name="Title 1"/>
          <p:cNvSpPr>
            <a:spLocks noGrp="1"/>
          </p:cNvSpPr>
          <p:nvPr>
            <p:ph type="title"/>
          </p:nvPr>
        </p:nvSpPr>
        <p:spPr/>
        <p:txBody>
          <a:bodyPr/>
          <a:lstStyle/>
          <a:p>
            <a:r>
              <a:rPr lang="en-US" b="1" dirty="0"/>
              <a:t>Choice of anesthesia </a:t>
            </a:r>
          </a:p>
        </p:txBody>
      </p:sp>
      <p:sp>
        <p:nvSpPr>
          <p:cNvPr id="1049010" name="Content Placeholder 2"/>
          <p:cNvSpPr>
            <a:spLocks noGrp="1"/>
          </p:cNvSpPr>
          <p:nvPr>
            <p:ph idx="1"/>
          </p:nvPr>
        </p:nvSpPr>
        <p:spPr>
          <a:xfrm>
            <a:off x="457200" y="1447800"/>
            <a:ext cx="8458200" cy="4678363"/>
          </a:xfrm>
        </p:spPr>
        <p:txBody>
          <a:bodyPr>
            <a:normAutofit/>
          </a:bodyPr>
          <a:lstStyle/>
          <a:p>
            <a:pPr marL="342900" lvl="1" indent="-342900">
              <a:lnSpc>
                <a:spcPct val="150000"/>
              </a:lnSpc>
              <a:buBlip>
                <a:blip r:embed="rId2"/>
              </a:buBlip>
            </a:pPr>
            <a:r>
              <a:rPr lang="en-US" sz="3200" b="1" i="1" dirty="0">
                <a:solidFill>
                  <a:srgbClr val="FF0000"/>
                </a:solidFill>
              </a:rPr>
              <a:t>GA VS RA</a:t>
            </a:r>
            <a:endParaRPr lang="en-US" sz="2400" i="1" dirty="0">
              <a:solidFill>
                <a:srgbClr val="FF0000"/>
              </a:solidFill>
            </a:endParaRPr>
          </a:p>
          <a:p>
            <a:pPr marL="342900" lvl="1" indent="-342900">
              <a:lnSpc>
                <a:spcPct val="150000"/>
              </a:lnSpc>
              <a:buBlip>
                <a:blip r:embed="rId2"/>
              </a:buBlip>
            </a:pPr>
            <a:r>
              <a:rPr lang="en-US" sz="3200" dirty="0"/>
              <a:t>GA also provides very stable hemodynamic course, if the cardiovascular effects associated with </a:t>
            </a:r>
            <a:r>
              <a:rPr lang="en-US" sz="3200" dirty="0" err="1"/>
              <a:t>laryngoscopy</a:t>
            </a:r>
            <a:r>
              <a:rPr lang="en-US" sz="3200" dirty="0"/>
              <a:t>, intubation and oral suction are minimized.</a:t>
            </a:r>
          </a:p>
          <a:p>
            <a:pPr marL="342900" lvl="1" indent="-342900">
              <a:lnSpc>
                <a:spcPct val="150000"/>
              </a:lnSpc>
              <a:buBlip>
                <a:blip r:embed="rId2"/>
              </a:buBlip>
            </a:pPr>
            <a:endParaRPr lang="en-US" sz="2400" i="1" dirty="0">
              <a:solidFill>
                <a:srgbClr val="FF0000"/>
              </a:solidFill>
            </a:endParaRPr>
          </a:p>
          <a:p>
            <a:pPr marL="342900" lvl="1" indent="-342900">
              <a:lnSpc>
                <a:spcPct val="150000"/>
              </a:lnSpc>
              <a:buBlip>
                <a:blip r:embed="rId2"/>
              </a:buBlip>
            </a:pPr>
            <a:endParaRPr lang="en-US" sz="2400" dirty="0"/>
          </a:p>
          <a:p>
            <a:pPr marL="342900" lvl="1" indent="-342900">
              <a:buNone/>
            </a:pPr>
            <a:endParaRPr lang="en-US" sz="2400" dirty="0"/>
          </a:p>
          <a:p>
            <a:pPr marL="342900" lvl="1" indent="-342900">
              <a:buBlip>
                <a:blip r:embed="rId2"/>
              </a:buBlip>
            </a:pPr>
            <a:endParaRPr lang="en-US" sz="2400" dirty="0"/>
          </a:p>
        </p:txBody>
      </p:sp>
      <p:sp>
        <p:nvSpPr>
          <p:cNvPr id="1049011" name="Date Placeholder 3"/>
          <p:cNvSpPr>
            <a:spLocks noGrp="1"/>
          </p:cNvSpPr>
          <p:nvPr>
            <p:ph type="dt" sz="half" idx="10"/>
          </p:nvPr>
        </p:nvSpPr>
        <p:spPr/>
        <p:txBody>
          <a:bodyPr/>
          <a:lstStyle/>
          <a:p>
            <a:fld id="{274E84B3-2904-4AEE-9B25-3DDA0D17A4C2}" type="datetime1">
              <a:rPr lang="en-US" smtClean="0"/>
              <a:t>8/9/2021</a:t>
            </a:fld>
            <a:endParaRPr lang="en-US"/>
          </a:p>
        </p:txBody>
      </p:sp>
      <p:sp>
        <p:nvSpPr>
          <p:cNvPr id="1049012" name="Slide Number Placeholder 4"/>
          <p:cNvSpPr>
            <a:spLocks noGrp="1"/>
          </p:cNvSpPr>
          <p:nvPr>
            <p:ph type="sldNum" sz="quarter" idx="12"/>
          </p:nvPr>
        </p:nvSpPr>
        <p:spPr/>
        <p:txBody>
          <a:bodyPr/>
          <a:lstStyle/>
          <a:p>
            <a:fld id="{124970EB-A8C4-40D2-AF81-C6C16288290E}" type="slidenum">
              <a:rPr lang="en-US" smtClean="0"/>
              <a:pPr/>
              <a:t>79</a:t>
            </a:fld>
            <a:endParaRPr lang="en-US"/>
          </a:p>
        </p:txBody>
      </p:sp>
      <p:sp>
        <p:nvSpPr>
          <p:cNvPr id="1049013"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14" name="Title 1"/>
          <p:cNvSpPr>
            <a:spLocks noGrp="1"/>
          </p:cNvSpPr>
          <p:nvPr>
            <p:ph type="title"/>
          </p:nvPr>
        </p:nvSpPr>
        <p:spPr/>
        <p:txBody>
          <a:bodyPr/>
          <a:lstStyle/>
          <a:p>
            <a:r>
              <a:rPr lang="en-US" dirty="0"/>
              <a:t>Cont….</a:t>
            </a:r>
          </a:p>
        </p:txBody>
      </p:sp>
      <p:sp>
        <p:nvSpPr>
          <p:cNvPr id="1049015" name="Content Placeholder 2"/>
          <p:cNvSpPr>
            <a:spLocks noGrp="1"/>
          </p:cNvSpPr>
          <p:nvPr>
            <p:ph idx="1"/>
          </p:nvPr>
        </p:nvSpPr>
        <p:spPr>
          <a:xfrm>
            <a:off x="381000" y="1600200"/>
            <a:ext cx="8458200" cy="4648200"/>
          </a:xfrm>
        </p:spPr>
        <p:txBody>
          <a:bodyPr>
            <a:noAutofit/>
          </a:bodyPr>
          <a:lstStyle/>
          <a:p>
            <a:pPr marL="342900" lvl="1" indent="-342900">
              <a:lnSpc>
                <a:spcPct val="150000"/>
              </a:lnSpc>
              <a:buBlip>
                <a:blip r:embed="rId2"/>
              </a:buBlip>
            </a:pPr>
            <a:r>
              <a:rPr lang="en-US" dirty="0"/>
              <a:t>A beta-blocker such as </a:t>
            </a:r>
            <a:r>
              <a:rPr lang="en-US" dirty="0" err="1"/>
              <a:t>esmolol</a:t>
            </a:r>
            <a:r>
              <a:rPr lang="en-US" dirty="0"/>
              <a:t> and a modest dose of </a:t>
            </a:r>
            <a:r>
              <a:rPr lang="en-US" dirty="0" err="1"/>
              <a:t>opioid</a:t>
            </a:r>
            <a:r>
              <a:rPr lang="en-US" dirty="0"/>
              <a:t> should be administered before or during the induction of general anesthesia.</a:t>
            </a:r>
          </a:p>
          <a:p>
            <a:pPr marL="342900" lvl="1" indent="-342900">
              <a:lnSpc>
                <a:spcPct val="150000"/>
              </a:lnSpc>
              <a:buBlip>
                <a:blip r:embed="rId2"/>
              </a:buBlip>
            </a:pPr>
            <a:r>
              <a:rPr lang="en-US" dirty="0"/>
              <a:t>Modified rapid sequence intubation an ideal choice in severe </a:t>
            </a:r>
            <a:r>
              <a:rPr lang="en-US" dirty="0" err="1"/>
              <a:t>stenosis</a:t>
            </a:r>
            <a:r>
              <a:rPr lang="en-US" dirty="0"/>
              <a:t> with pulmonary hypertension. </a:t>
            </a:r>
          </a:p>
          <a:p>
            <a:pPr marL="342900" lvl="1" indent="-342900">
              <a:lnSpc>
                <a:spcPct val="150000"/>
              </a:lnSpc>
              <a:buBlip>
                <a:blip r:embed="rId2"/>
              </a:buBlip>
            </a:pPr>
            <a:r>
              <a:rPr lang="en-US" dirty="0"/>
              <a:t>Maintenance of anesthesia can be carried out with oxygen, </a:t>
            </a:r>
            <a:r>
              <a:rPr lang="en-US" dirty="0" err="1"/>
              <a:t>isoflurane</a:t>
            </a:r>
            <a:r>
              <a:rPr lang="en-US" dirty="0"/>
              <a:t>, </a:t>
            </a:r>
            <a:r>
              <a:rPr lang="en-US" dirty="0" err="1"/>
              <a:t>opioids</a:t>
            </a:r>
            <a:r>
              <a:rPr lang="en-US" dirty="0"/>
              <a:t> and </a:t>
            </a:r>
            <a:r>
              <a:rPr lang="en-US" dirty="0" err="1"/>
              <a:t>vecuronium</a:t>
            </a:r>
            <a:r>
              <a:rPr lang="en-US" dirty="0"/>
              <a:t>. </a:t>
            </a:r>
          </a:p>
          <a:p>
            <a:pPr marL="342900" lvl="1" indent="-342900">
              <a:lnSpc>
                <a:spcPct val="150000"/>
              </a:lnSpc>
              <a:buBlip>
                <a:blip r:embed="rId2"/>
              </a:buBlip>
            </a:pPr>
            <a:endParaRPr lang="en-US" dirty="0"/>
          </a:p>
          <a:p>
            <a:endParaRPr lang="en-US" dirty="0"/>
          </a:p>
        </p:txBody>
      </p:sp>
      <p:sp>
        <p:nvSpPr>
          <p:cNvPr id="1049016" name="Date Placeholder 3"/>
          <p:cNvSpPr>
            <a:spLocks noGrp="1"/>
          </p:cNvSpPr>
          <p:nvPr>
            <p:ph type="dt" sz="half" idx="10"/>
          </p:nvPr>
        </p:nvSpPr>
        <p:spPr/>
        <p:txBody>
          <a:bodyPr/>
          <a:lstStyle/>
          <a:p>
            <a:fld id="{A5695F11-C454-44B2-BD13-84EB07118BEB}" type="datetime1">
              <a:rPr lang="en-US" smtClean="0"/>
              <a:t>8/9/2021</a:t>
            </a:fld>
            <a:endParaRPr lang="en-US"/>
          </a:p>
        </p:txBody>
      </p:sp>
      <p:sp>
        <p:nvSpPr>
          <p:cNvPr id="1049017" name="Footer Placeholder 4"/>
          <p:cNvSpPr>
            <a:spLocks noGrp="1"/>
          </p:cNvSpPr>
          <p:nvPr>
            <p:ph type="ftr" sz="quarter" idx="11"/>
          </p:nvPr>
        </p:nvSpPr>
        <p:spPr/>
        <p:txBody>
          <a:bodyPr/>
          <a:lstStyle/>
          <a:p>
            <a:r>
              <a:rPr lang="en-US"/>
              <a:t>Anesthesia for VHD </a:t>
            </a:r>
          </a:p>
        </p:txBody>
      </p:sp>
      <p:sp>
        <p:nvSpPr>
          <p:cNvPr id="1049018" name="Slide Number Placeholder 5"/>
          <p:cNvSpPr>
            <a:spLocks noGrp="1"/>
          </p:cNvSpPr>
          <p:nvPr>
            <p:ph type="sldNum" sz="quarter" idx="12"/>
          </p:nvPr>
        </p:nvSpPr>
        <p:spPr/>
        <p:txBody>
          <a:bodyPr/>
          <a:lstStyle/>
          <a:p>
            <a:fld id="{124970EB-A8C4-40D2-AF81-C6C16288290E}" type="slidenum">
              <a:rPr lang="en-US" smtClean="0"/>
              <a:pPr/>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19" name="Title 1"/>
          <p:cNvSpPr>
            <a:spLocks noGrp="1"/>
          </p:cNvSpPr>
          <p:nvPr>
            <p:ph type="title"/>
          </p:nvPr>
        </p:nvSpPr>
        <p:spPr>
          <a:xfrm>
            <a:off x="152400" y="274638"/>
            <a:ext cx="8534400" cy="715962"/>
          </a:xfrm>
        </p:spPr>
        <p:txBody>
          <a:bodyPr>
            <a:normAutofit/>
          </a:bodyPr>
          <a:lstStyle/>
          <a:p>
            <a:r>
              <a:rPr lang="en-US" sz="3200" b="1" dirty="0"/>
              <a:t>Mitral Regurtation </a:t>
            </a:r>
          </a:p>
        </p:txBody>
      </p:sp>
      <p:sp>
        <p:nvSpPr>
          <p:cNvPr id="1049020" name="Content Placeholder 2"/>
          <p:cNvSpPr>
            <a:spLocks noGrp="1"/>
          </p:cNvSpPr>
          <p:nvPr>
            <p:ph idx="1"/>
          </p:nvPr>
        </p:nvSpPr>
        <p:spPr>
          <a:xfrm>
            <a:off x="228600" y="990600"/>
            <a:ext cx="8686800" cy="5486400"/>
          </a:xfrm>
        </p:spPr>
        <p:txBody>
          <a:bodyPr>
            <a:normAutofit/>
          </a:bodyPr>
          <a:lstStyle/>
          <a:p>
            <a:pPr>
              <a:buBlip>
                <a:blip r:embed="rId3"/>
              </a:buBlip>
            </a:pPr>
            <a:r>
              <a:rPr lang="en-US" dirty="0"/>
              <a:t>back flow of blood into LA during systole because of an incompetent valve.  This leads to:</a:t>
            </a:r>
          </a:p>
          <a:p>
            <a:pPr lvl="1">
              <a:lnSpc>
                <a:spcPct val="150000"/>
              </a:lnSpc>
              <a:buBlip>
                <a:blip r:embed="rId4"/>
              </a:buBlip>
            </a:pPr>
            <a:r>
              <a:rPr lang="en-US" dirty="0"/>
              <a:t>Increased left </a:t>
            </a:r>
            <a:r>
              <a:rPr lang="en-US" dirty="0" err="1"/>
              <a:t>atrial</a:t>
            </a:r>
            <a:r>
              <a:rPr lang="en-US" dirty="0"/>
              <a:t> pressure</a:t>
            </a:r>
            <a:endParaRPr lang="en-US" b="1" dirty="0"/>
          </a:p>
          <a:p>
            <a:pPr lvl="1">
              <a:lnSpc>
                <a:spcPct val="150000"/>
              </a:lnSpc>
              <a:buBlip>
                <a:blip r:embed="rId4"/>
              </a:buBlip>
            </a:pPr>
            <a:r>
              <a:rPr lang="en-US" dirty="0"/>
              <a:t>Increased pulmonary artery pressure</a:t>
            </a:r>
          </a:p>
          <a:p>
            <a:pPr lvl="1">
              <a:lnSpc>
                <a:spcPct val="150000"/>
              </a:lnSpc>
              <a:buBlip>
                <a:blip r:embed="rId4"/>
              </a:buBlip>
            </a:pPr>
            <a:r>
              <a:rPr lang="en-US" dirty="0"/>
              <a:t>Pulmonary edema/HTN</a:t>
            </a:r>
          </a:p>
          <a:p>
            <a:pPr lvl="1">
              <a:lnSpc>
                <a:spcPct val="150000"/>
              </a:lnSpc>
              <a:buBlip>
                <a:blip r:embed="rId4"/>
              </a:buBlip>
            </a:pPr>
            <a:r>
              <a:rPr lang="en-US" dirty="0"/>
              <a:t>Left ventricular hypertrophy occurs due to the increased workload required to maintain volume output</a:t>
            </a:r>
            <a:endParaRPr lang="en-US" sz="3200" dirty="0"/>
          </a:p>
          <a:p>
            <a:pPr>
              <a:lnSpc>
                <a:spcPct val="150000"/>
              </a:lnSpc>
              <a:buBlip>
                <a:blip r:embed="rId4"/>
              </a:buBlip>
            </a:pPr>
            <a:endParaRPr lang="en-US" sz="3600" dirty="0"/>
          </a:p>
        </p:txBody>
      </p:sp>
      <p:sp>
        <p:nvSpPr>
          <p:cNvPr id="1049021" name="Date Placeholder 3"/>
          <p:cNvSpPr>
            <a:spLocks noGrp="1"/>
          </p:cNvSpPr>
          <p:nvPr>
            <p:ph type="dt" sz="half" idx="10"/>
          </p:nvPr>
        </p:nvSpPr>
        <p:spPr/>
        <p:txBody>
          <a:bodyPr/>
          <a:lstStyle/>
          <a:p>
            <a:fld id="{74A94FCA-7F15-4118-94C0-37F2CFA70E7B}" type="datetime1">
              <a:rPr lang="en-US" smtClean="0"/>
              <a:t>8/9/2021</a:t>
            </a:fld>
            <a:endParaRPr lang="en-US"/>
          </a:p>
        </p:txBody>
      </p:sp>
      <p:sp>
        <p:nvSpPr>
          <p:cNvPr id="1049022" name="Slide Number Placeholder 4"/>
          <p:cNvSpPr>
            <a:spLocks noGrp="1"/>
          </p:cNvSpPr>
          <p:nvPr>
            <p:ph type="sldNum" sz="quarter" idx="12"/>
          </p:nvPr>
        </p:nvSpPr>
        <p:spPr/>
        <p:txBody>
          <a:bodyPr/>
          <a:lstStyle/>
          <a:p>
            <a:fld id="{124970EB-A8C4-40D2-AF81-C6C16288290E}" type="slidenum">
              <a:rPr lang="en-US" smtClean="0"/>
              <a:pPr/>
              <a:t>81</a:t>
            </a:fld>
            <a:endParaRPr lang="en-US"/>
          </a:p>
        </p:txBody>
      </p:sp>
      <p:sp>
        <p:nvSpPr>
          <p:cNvPr id="1049023"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27" name="Title 1"/>
          <p:cNvSpPr>
            <a:spLocks noGrp="1"/>
          </p:cNvSpPr>
          <p:nvPr>
            <p:ph type="title"/>
          </p:nvPr>
        </p:nvSpPr>
        <p:spPr/>
        <p:txBody>
          <a:bodyPr/>
          <a:lstStyle/>
          <a:p>
            <a:r>
              <a:rPr lang="en-US" dirty="0"/>
              <a:t>Etiology </a:t>
            </a:r>
          </a:p>
        </p:txBody>
      </p:sp>
      <p:sp>
        <p:nvSpPr>
          <p:cNvPr id="1049028" name="Content Placeholder 2"/>
          <p:cNvSpPr>
            <a:spLocks noGrp="1"/>
          </p:cNvSpPr>
          <p:nvPr>
            <p:ph sz="half" idx="1"/>
          </p:nvPr>
        </p:nvSpPr>
        <p:spPr/>
        <p:txBody>
          <a:bodyPr>
            <a:normAutofit fontScale="92500" lnSpcReduction="20000"/>
          </a:bodyPr>
          <a:lstStyle/>
          <a:p>
            <a:pPr>
              <a:buNone/>
            </a:pPr>
            <a:r>
              <a:rPr lang="en-US" b="1" dirty="0"/>
              <a:t>Acute</a:t>
            </a:r>
          </a:p>
          <a:p>
            <a:pPr>
              <a:lnSpc>
                <a:spcPct val="170000"/>
              </a:lnSpc>
              <a:buBlip>
                <a:blip r:embed="rId2"/>
              </a:buBlip>
            </a:pPr>
            <a:r>
              <a:rPr lang="en-US" dirty="0" err="1"/>
              <a:t>Endocarditis</a:t>
            </a:r>
            <a:endParaRPr lang="en-US" dirty="0"/>
          </a:p>
          <a:p>
            <a:pPr>
              <a:lnSpc>
                <a:spcPct val="170000"/>
              </a:lnSpc>
              <a:buBlip>
                <a:blip r:embed="rId2"/>
              </a:buBlip>
            </a:pPr>
            <a:r>
              <a:rPr lang="en-US" dirty="0"/>
              <a:t>Papillary muscle rupture (post-MI)</a:t>
            </a:r>
          </a:p>
          <a:p>
            <a:pPr>
              <a:lnSpc>
                <a:spcPct val="170000"/>
              </a:lnSpc>
              <a:buBlip>
                <a:blip r:embed="rId2"/>
              </a:buBlip>
            </a:pPr>
            <a:r>
              <a:rPr lang="en-US" dirty="0"/>
              <a:t>Trauma</a:t>
            </a:r>
          </a:p>
          <a:p>
            <a:pPr>
              <a:lnSpc>
                <a:spcPct val="170000"/>
              </a:lnSpc>
              <a:buBlip>
                <a:blip r:embed="rId2"/>
              </a:buBlip>
            </a:pPr>
            <a:r>
              <a:rPr lang="en-US" dirty="0" err="1"/>
              <a:t>Chordal</a:t>
            </a:r>
            <a:r>
              <a:rPr lang="en-US" dirty="0"/>
              <a:t> rupture/leaflet flail (MVP, IE)</a:t>
            </a:r>
          </a:p>
        </p:txBody>
      </p:sp>
      <p:sp>
        <p:nvSpPr>
          <p:cNvPr id="1049029" name="Content Placeholder 3"/>
          <p:cNvSpPr>
            <a:spLocks noGrp="1"/>
          </p:cNvSpPr>
          <p:nvPr>
            <p:ph sz="half" idx="2"/>
          </p:nvPr>
        </p:nvSpPr>
        <p:spPr/>
        <p:txBody>
          <a:bodyPr>
            <a:normAutofit fontScale="92500" lnSpcReduction="20000"/>
          </a:bodyPr>
          <a:lstStyle/>
          <a:p>
            <a:pPr>
              <a:buNone/>
            </a:pPr>
            <a:r>
              <a:rPr lang="en-US" b="1" dirty="0"/>
              <a:t>Chronic</a:t>
            </a:r>
          </a:p>
          <a:p>
            <a:pPr>
              <a:buBlip>
                <a:blip r:embed="rId2"/>
              </a:buBlip>
            </a:pPr>
            <a:r>
              <a:rPr lang="en-US" dirty="0" err="1"/>
              <a:t>Myxomatous</a:t>
            </a:r>
            <a:r>
              <a:rPr lang="en-US" dirty="0"/>
              <a:t> (MVP)</a:t>
            </a:r>
          </a:p>
          <a:p>
            <a:pPr>
              <a:buBlip>
                <a:blip r:embed="rId2"/>
              </a:buBlip>
            </a:pPr>
            <a:r>
              <a:rPr lang="en-US" dirty="0"/>
              <a:t>Rheumatic fever</a:t>
            </a:r>
          </a:p>
          <a:p>
            <a:pPr>
              <a:buBlip>
                <a:blip r:embed="rId2"/>
              </a:buBlip>
            </a:pPr>
            <a:r>
              <a:rPr lang="en-US" dirty="0" err="1"/>
              <a:t>Endocarditis</a:t>
            </a:r>
            <a:r>
              <a:rPr lang="en-US" dirty="0"/>
              <a:t> (healed)</a:t>
            </a:r>
          </a:p>
          <a:p>
            <a:pPr>
              <a:buBlip>
                <a:blip r:embed="rId2"/>
              </a:buBlip>
            </a:pPr>
            <a:r>
              <a:rPr lang="en-US" dirty="0"/>
              <a:t>Mitral annular calcification</a:t>
            </a:r>
          </a:p>
          <a:p>
            <a:pPr>
              <a:buBlip>
                <a:blip r:embed="rId2"/>
              </a:buBlip>
            </a:pPr>
            <a:r>
              <a:rPr lang="en-US" dirty="0"/>
              <a:t>Congenital (cleft, AV canal)</a:t>
            </a:r>
          </a:p>
          <a:p>
            <a:pPr>
              <a:buBlip>
                <a:blip r:embed="rId2"/>
              </a:buBlip>
            </a:pPr>
            <a:r>
              <a:rPr lang="en-US" dirty="0"/>
              <a:t>HOCM with SAM</a:t>
            </a:r>
          </a:p>
          <a:p>
            <a:pPr>
              <a:buBlip>
                <a:blip r:embed="rId2"/>
              </a:buBlip>
            </a:pPr>
            <a:r>
              <a:rPr lang="en-US" dirty="0"/>
              <a:t>Ischemic (LV remodeling)</a:t>
            </a:r>
          </a:p>
          <a:p>
            <a:pPr>
              <a:buBlip>
                <a:blip r:embed="rId2"/>
              </a:buBlip>
            </a:pPr>
            <a:r>
              <a:rPr lang="en-US" dirty="0"/>
              <a:t>Dilated </a:t>
            </a:r>
            <a:r>
              <a:rPr lang="en-US" dirty="0" err="1"/>
              <a:t>cardiomyopathy</a:t>
            </a:r>
            <a:endParaRPr lang="en-US" dirty="0"/>
          </a:p>
          <a:p>
            <a:endParaRPr lang="en-US" dirty="0"/>
          </a:p>
        </p:txBody>
      </p:sp>
      <p:sp>
        <p:nvSpPr>
          <p:cNvPr id="1049030" name="Date Placeholder 4"/>
          <p:cNvSpPr>
            <a:spLocks noGrp="1"/>
          </p:cNvSpPr>
          <p:nvPr>
            <p:ph type="dt" sz="half" idx="10"/>
          </p:nvPr>
        </p:nvSpPr>
        <p:spPr/>
        <p:txBody>
          <a:bodyPr/>
          <a:lstStyle/>
          <a:p>
            <a:fld id="{F76251C4-277C-49D1-BA60-5E83ACE8D04C}" type="datetime1">
              <a:rPr lang="en-US" smtClean="0"/>
              <a:t>8/9/2021</a:t>
            </a:fld>
            <a:endParaRPr lang="en-US"/>
          </a:p>
        </p:txBody>
      </p:sp>
      <p:sp>
        <p:nvSpPr>
          <p:cNvPr id="1049031" name="Slide Number Placeholder 5"/>
          <p:cNvSpPr>
            <a:spLocks noGrp="1"/>
          </p:cNvSpPr>
          <p:nvPr>
            <p:ph type="sldNum" sz="quarter" idx="12"/>
          </p:nvPr>
        </p:nvSpPr>
        <p:spPr/>
        <p:txBody>
          <a:bodyPr/>
          <a:lstStyle/>
          <a:p>
            <a:fld id="{124970EB-A8C4-40D2-AF81-C6C16288290E}" type="slidenum">
              <a:rPr lang="en-US" smtClean="0"/>
              <a:pPr/>
              <a:t>82</a:t>
            </a:fld>
            <a:endParaRPr lang="en-US"/>
          </a:p>
        </p:txBody>
      </p:sp>
      <p:sp>
        <p:nvSpPr>
          <p:cNvPr id="1049032" name="Footer Placeholder 6"/>
          <p:cNvSpPr>
            <a:spLocks noGrp="1"/>
          </p:cNvSpPr>
          <p:nvPr>
            <p:ph type="ftr" sz="quarter" idx="11"/>
          </p:nvPr>
        </p:nvSpPr>
        <p:spPr/>
        <p:txBody>
          <a:bodyPr/>
          <a:lstStyle/>
          <a:p>
            <a:r>
              <a:rPr lang="en-US"/>
              <a:t>Anesthesia for VHD </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33" name="Title 1"/>
          <p:cNvSpPr>
            <a:spLocks noGrp="1"/>
          </p:cNvSpPr>
          <p:nvPr>
            <p:ph type="title"/>
          </p:nvPr>
        </p:nvSpPr>
        <p:spPr/>
        <p:txBody>
          <a:bodyPr>
            <a:normAutofit/>
          </a:bodyPr>
          <a:lstStyle/>
          <a:p>
            <a:r>
              <a:rPr lang="en-US" sz="3600" b="1" dirty="0"/>
              <a:t>PATHOPHYSIOLOGY</a:t>
            </a:r>
          </a:p>
        </p:txBody>
      </p:sp>
      <p:pic>
        <p:nvPicPr>
          <p:cNvPr id="2097178" name="Picture 2"/>
          <p:cNvPicPr>
            <a:picLocks noGrp="1" noChangeAspect="1" noChangeArrowheads="1"/>
          </p:cNvPicPr>
          <p:nvPr>
            <p:ph idx="1"/>
          </p:nvPr>
        </p:nvPicPr>
        <p:blipFill>
          <a:blip r:embed="rId2"/>
          <a:srcRect/>
          <a:stretch>
            <a:fillRect/>
          </a:stretch>
        </p:blipFill>
        <p:spPr bwMode="auto">
          <a:xfrm>
            <a:off x="838200" y="1295400"/>
            <a:ext cx="7772400" cy="4800600"/>
          </a:xfrm>
          <a:prstGeom prst="rect">
            <a:avLst/>
          </a:prstGeom>
          <a:noFill/>
          <a:ln w="9525">
            <a:noFill/>
            <a:miter lim="800000"/>
            <a:headEnd/>
            <a:tailEnd/>
          </a:ln>
          <a:effectLst/>
        </p:spPr>
      </p:pic>
      <p:sp>
        <p:nvSpPr>
          <p:cNvPr id="1049034" name="Date Placeholder 4"/>
          <p:cNvSpPr>
            <a:spLocks noGrp="1"/>
          </p:cNvSpPr>
          <p:nvPr>
            <p:ph type="dt" sz="half" idx="10"/>
          </p:nvPr>
        </p:nvSpPr>
        <p:spPr/>
        <p:txBody>
          <a:bodyPr/>
          <a:lstStyle/>
          <a:p>
            <a:fld id="{BAD4EDFF-19DD-40D4-A6D5-38C3629580F9}" type="datetime1">
              <a:rPr lang="en-US" smtClean="0"/>
              <a:t>8/9/2021</a:t>
            </a:fld>
            <a:endParaRPr lang="en-US"/>
          </a:p>
        </p:txBody>
      </p:sp>
      <p:sp>
        <p:nvSpPr>
          <p:cNvPr id="1049035" name="Slide Number Placeholder 5"/>
          <p:cNvSpPr>
            <a:spLocks noGrp="1"/>
          </p:cNvSpPr>
          <p:nvPr>
            <p:ph type="sldNum" sz="quarter" idx="12"/>
          </p:nvPr>
        </p:nvSpPr>
        <p:spPr/>
        <p:txBody>
          <a:bodyPr/>
          <a:lstStyle/>
          <a:p>
            <a:fld id="{124970EB-A8C4-40D2-AF81-C6C16288290E}" type="slidenum">
              <a:rPr lang="en-US" smtClean="0"/>
              <a:pPr/>
              <a:t>83</a:t>
            </a:fld>
            <a:endParaRPr lang="en-US"/>
          </a:p>
        </p:txBody>
      </p:sp>
      <p:sp>
        <p:nvSpPr>
          <p:cNvPr id="1049036" name="Footer Placeholder 6"/>
          <p:cNvSpPr>
            <a:spLocks noGrp="1"/>
          </p:cNvSpPr>
          <p:nvPr>
            <p:ph type="ftr" sz="quarter" idx="11"/>
          </p:nvPr>
        </p:nvSpPr>
        <p:spPr/>
        <p:txBody>
          <a:bodyPr/>
          <a:lstStyle/>
          <a:p>
            <a:r>
              <a:rPr lang="en-US"/>
              <a:t>Anesthesia for VHD </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sp>
        <p:nvSpPr>
          <p:cNvPr id="3" name="Content Placeholder 2"/>
          <p:cNvSpPr>
            <a:spLocks noGrp="1"/>
          </p:cNvSpPr>
          <p:nvPr>
            <p:ph idx="1"/>
          </p:nvPr>
        </p:nvSpPr>
        <p:spPr>
          <a:xfrm>
            <a:off x="228600" y="1600200"/>
            <a:ext cx="8610600" cy="4876800"/>
          </a:xfrm>
        </p:spPr>
        <p:txBody>
          <a:bodyPr/>
          <a:lstStyle/>
          <a:p>
            <a:pPr>
              <a:lnSpc>
                <a:spcPct val="150000"/>
              </a:lnSpc>
            </a:pPr>
            <a:r>
              <a:rPr lang="en-US" dirty="0"/>
              <a:t>The fraction of left ventricular stroke volume that regurgitates into the left atrium depends on</a:t>
            </a:r>
          </a:p>
          <a:p>
            <a:pPr lvl="1">
              <a:lnSpc>
                <a:spcPct val="150000"/>
              </a:lnSpc>
            </a:pPr>
            <a:r>
              <a:rPr lang="en-US" dirty="0"/>
              <a:t>the size of the mitral valve orifice</a:t>
            </a:r>
          </a:p>
          <a:p>
            <a:pPr lvl="1">
              <a:lnSpc>
                <a:spcPct val="150000"/>
              </a:lnSpc>
            </a:pPr>
            <a:r>
              <a:rPr lang="en-US" dirty="0"/>
              <a:t> heart rate- determines the duration of ventricular ejection</a:t>
            </a:r>
          </a:p>
          <a:p>
            <a:pPr lvl="1">
              <a:lnSpc>
                <a:spcPct val="150000"/>
              </a:lnSpc>
            </a:pPr>
            <a:r>
              <a:rPr lang="en-US" dirty="0"/>
              <a:t> pressure gradients across the mitral valve</a:t>
            </a:r>
          </a:p>
        </p:txBody>
      </p:sp>
      <p:sp>
        <p:nvSpPr>
          <p:cNvPr id="4" name="Date Placeholder 3"/>
          <p:cNvSpPr>
            <a:spLocks noGrp="1"/>
          </p:cNvSpPr>
          <p:nvPr>
            <p:ph type="dt" sz="half" idx="10"/>
          </p:nvPr>
        </p:nvSpPr>
        <p:spPr/>
        <p:txBody>
          <a:bodyPr/>
          <a:lstStyle/>
          <a:p>
            <a:fld id="{D5892AB5-2F5C-48E9-B31C-A11A7F2B01FD}" type="datetime1">
              <a:rPr lang="en-US" smtClean="0"/>
              <a:t>8/9/2021</a:t>
            </a:fld>
            <a:endParaRPr lang="en-US"/>
          </a:p>
        </p:txBody>
      </p:sp>
      <p:sp>
        <p:nvSpPr>
          <p:cNvPr id="5" name="Footer Placeholder 4"/>
          <p:cNvSpPr>
            <a:spLocks noGrp="1"/>
          </p:cNvSpPr>
          <p:nvPr>
            <p:ph type="ftr" sz="quarter" idx="11"/>
          </p:nvPr>
        </p:nvSpPr>
        <p:spPr/>
        <p:txBody>
          <a:bodyPr/>
          <a:lstStyle/>
          <a:p>
            <a:r>
              <a:rPr lang="en-US"/>
              <a:t>Anesthesia for VHD </a:t>
            </a:r>
          </a:p>
        </p:txBody>
      </p:sp>
      <p:sp>
        <p:nvSpPr>
          <p:cNvPr id="6" name="Slide Number Placeholder 5"/>
          <p:cNvSpPr>
            <a:spLocks noGrp="1"/>
          </p:cNvSpPr>
          <p:nvPr>
            <p:ph type="sldNum" sz="quarter" idx="12"/>
          </p:nvPr>
        </p:nvSpPr>
        <p:spPr/>
        <p:txBody>
          <a:bodyPr/>
          <a:lstStyle/>
          <a:p>
            <a:fld id="{81D9AF01-45F5-44F6-94C9-E46484F8FCE6}" type="slidenum">
              <a:rPr lang="en-US" smtClean="0"/>
              <a:pPr/>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sp>
        <p:nvSpPr>
          <p:cNvPr id="4" name="Date Placeholder 3"/>
          <p:cNvSpPr>
            <a:spLocks noGrp="1"/>
          </p:cNvSpPr>
          <p:nvPr>
            <p:ph type="dt" sz="half" idx="10"/>
          </p:nvPr>
        </p:nvSpPr>
        <p:spPr/>
        <p:txBody>
          <a:bodyPr/>
          <a:lstStyle/>
          <a:p>
            <a:fld id="{420C508B-BEBE-4B72-9775-B4C12BF0467F}" type="datetime1">
              <a:rPr lang="en-US" smtClean="0"/>
              <a:t>8/9/2021</a:t>
            </a:fld>
            <a:endParaRPr lang="en-US"/>
          </a:p>
        </p:txBody>
      </p:sp>
      <p:sp>
        <p:nvSpPr>
          <p:cNvPr id="5" name="Footer Placeholder 4"/>
          <p:cNvSpPr>
            <a:spLocks noGrp="1"/>
          </p:cNvSpPr>
          <p:nvPr>
            <p:ph type="ftr" sz="quarter" idx="11"/>
          </p:nvPr>
        </p:nvSpPr>
        <p:spPr/>
        <p:txBody>
          <a:bodyPr/>
          <a:lstStyle/>
          <a:p>
            <a:r>
              <a:rPr lang="en-US"/>
              <a:t>Anesthesia for VHD </a:t>
            </a:r>
          </a:p>
        </p:txBody>
      </p:sp>
      <p:sp>
        <p:nvSpPr>
          <p:cNvPr id="6" name="Slide Number Placeholder 5"/>
          <p:cNvSpPr>
            <a:spLocks noGrp="1"/>
          </p:cNvSpPr>
          <p:nvPr>
            <p:ph type="sldNum" sz="quarter" idx="12"/>
          </p:nvPr>
        </p:nvSpPr>
        <p:spPr/>
        <p:txBody>
          <a:bodyPr/>
          <a:lstStyle/>
          <a:p>
            <a:fld id="{81D9AF01-45F5-44F6-94C9-E46484F8FCE6}" type="slidenum">
              <a:rPr lang="en-US" smtClean="0"/>
              <a:pPr/>
              <a:t>85</a:t>
            </a:fld>
            <a:endParaRPr lang="en-US"/>
          </a:p>
        </p:txBody>
      </p:sp>
      <p:pic>
        <p:nvPicPr>
          <p:cNvPr id="3074" name="Picture 2"/>
          <p:cNvPicPr>
            <a:picLocks noGrp="1" noChangeAspect="1" noChangeArrowheads="1"/>
          </p:cNvPicPr>
          <p:nvPr>
            <p:ph idx="1"/>
          </p:nvPr>
        </p:nvPicPr>
        <p:blipFill>
          <a:blip r:embed="rId2"/>
          <a:srcRect/>
          <a:stretch>
            <a:fillRect/>
          </a:stretch>
        </p:blipFill>
        <p:spPr bwMode="auto">
          <a:xfrm>
            <a:off x="110994" y="1371600"/>
            <a:ext cx="9044835" cy="4800600"/>
          </a:xfrm>
          <a:prstGeom prst="rect">
            <a:avLst/>
          </a:prstGeom>
          <a:noFill/>
          <a:ln w="9525">
            <a:noFill/>
            <a:miter lim="800000"/>
            <a:headEnd/>
            <a:tailEnd/>
          </a:ln>
          <a:effectLst/>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37" name="Title 1"/>
          <p:cNvSpPr>
            <a:spLocks noGrp="1"/>
          </p:cNvSpPr>
          <p:nvPr>
            <p:ph type="title"/>
          </p:nvPr>
        </p:nvSpPr>
        <p:spPr>
          <a:xfrm>
            <a:off x="457200" y="274638"/>
            <a:ext cx="8229600" cy="715962"/>
          </a:xfrm>
        </p:spPr>
        <p:txBody>
          <a:bodyPr>
            <a:normAutofit fontScale="90000"/>
          </a:bodyPr>
          <a:lstStyle/>
          <a:p>
            <a:r>
              <a:rPr lang="en-US" dirty="0">
                <a:effectLst>
                  <a:outerShdw blurRad="38100" dist="38100" dir="2700000" algn="tl">
                    <a:srgbClr val="000000"/>
                  </a:outerShdw>
                </a:effectLst>
              </a:rPr>
              <a:t>Signs and symptoms MR</a:t>
            </a:r>
            <a:endParaRPr lang="en-US" dirty="0"/>
          </a:p>
        </p:txBody>
      </p:sp>
      <p:sp>
        <p:nvSpPr>
          <p:cNvPr id="1049038" name="Content Placeholder 2"/>
          <p:cNvSpPr>
            <a:spLocks noGrp="1"/>
          </p:cNvSpPr>
          <p:nvPr>
            <p:ph idx="1"/>
          </p:nvPr>
        </p:nvSpPr>
        <p:spPr>
          <a:xfrm>
            <a:off x="0" y="1219200"/>
            <a:ext cx="8915400" cy="5334000"/>
          </a:xfrm>
        </p:spPr>
        <p:txBody>
          <a:bodyPr>
            <a:normAutofit/>
          </a:bodyPr>
          <a:lstStyle/>
          <a:p>
            <a:pPr lvl="1">
              <a:lnSpc>
                <a:spcPct val="170000"/>
              </a:lnSpc>
              <a:buBlip>
                <a:blip r:embed="rId3"/>
              </a:buBlip>
            </a:pPr>
            <a:r>
              <a:rPr lang="en-US" sz="3600" dirty="0"/>
              <a:t>Degree of </a:t>
            </a:r>
            <a:r>
              <a:rPr lang="en-US" sz="3600" dirty="0" err="1"/>
              <a:t>atrial</a:t>
            </a:r>
            <a:r>
              <a:rPr lang="en-US" sz="3600" dirty="0"/>
              <a:t> compliance will determine the clinical manifestations.</a:t>
            </a:r>
          </a:p>
          <a:p>
            <a:pPr lvl="1">
              <a:lnSpc>
                <a:spcPct val="170000"/>
              </a:lnSpc>
              <a:buBlip>
                <a:blip r:embed="rId3"/>
              </a:buBlip>
            </a:pPr>
            <a:r>
              <a:rPr lang="en-US" sz="3200" dirty="0"/>
              <a:t>Patients with chronic mild-to-moderate, isolated MR are usually asymptomatic.</a:t>
            </a:r>
          </a:p>
          <a:p>
            <a:pPr lvl="2">
              <a:lnSpc>
                <a:spcPct val="160000"/>
              </a:lnSpc>
              <a:buFont typeface="Wingdings" pitchFamily="2" charset="2"/>
              <a:buChar char="ü"/>
            </a:pPr>
            <a:endParaRPr lang="en-US" sz="3200" dirty="0"/>
          </a:p>
          <a:p>
            <a:endParaRPr lang="en-US" dirty="0"/>
          </a:p>
        </p:txBody>
      </p:sp>
      <p:sp>
        <p:nvSpPr>
          <p:cNvPr id="1049039" name="Date Placeholder 3"/>
          <p:cNvSpPr>
            <a:spLocks noGrp="1"/>
          </p:cNvSpPr>
          <p:nvPr>
            <p:ph type="dt" sz="half" idx="10"/>
          </p:nvPr>
        </p:nvSpPr>
        <p:spPr/>
        <p:txBody>
          <a:bodyPr/>
          <a:lstStyle/>
          <a:p>
            <a:fld id="{8B7E439E-CB73-43CA-BCED-5303ADE02A54}" type="datetime1">
              <a:rPr lang="en-US" smtClean="0"/>
              <a:t>8/9/2021</a:t>
            </a:fld>
            <a:endParaRPr lang="en-US"/>
          </a:p>
        </p:txBody>
      </p:sp>
      <p:sp>
        <p:nvSpPr>
          <p:cNvPr id="1049040" name="Slide Number Placeholder 4"/>
          <p:cNvSpPr>
            <a:spLocks noGrp="1"/>
          </p:cNvSpPr>
          <p:nvPr>
            <p:ph type="sldNum" sz="quarter" idx="12"/>
          </p:nvPr>
        </p:nvSpPr>
        <p:spPr/>
        <p:txBody>
          <a:bodyPr/>
          <a:lstStyle/>
          <a:p>
            <a:fld id="{124970EB-A8C4-40D2-AF81-C6C16288290E}" type="slidenum">
              <a:rPr lang="en-US" smtClean="0"/>
              <a:pPr/>
              <a:t>86</a:t>
            </a:fld>
            <a:endParaRPr lang="en-US"/>
          </a:p>
        </p:txBody>
      </p:sp>
      <p:sp>
        <p:nvSpPr>
          <p:cNvPr id="1049041"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sp>
        <p:nvSpPr>
          <p:cNvPr id="3" name="Content Placeholder 2"/>
          <p:cNvSpPr>
            <a:spLocks noGrp="1"/>
          </p:cNvSpPr>
          <p:nvPr>
            <p:ph idx="1"/>
          </p:nvPr>
        </p:nvSpPr>
        <p:spPr>
          <a:xfrm>
            <a:off x="152400" y="1295400"/>
            <a:ext cx="8991600" cy="5029200"/>
          </a:xfrm>
        </p:spPr>
        <p:txBody>
          <a:bodyPr>
            <a:normAutofit/>
          </a:bodyPr>
          <a:lstStyle/>
          <a:p>
            <a:pPr lvl="2">
              <a:lnSpc>
                <a:spcPct val="160000"/>
              </a:lnSpc>
              <a:buFont typeface="Wingdings" pitchFamily="2" charset="2"/>
              <a:buChar char="ü"/>
            </a:pPr>
            <a:r>
              <a:rPr lang="en-US" sz="3200" dirty="0"/>
              <a:t>Normal or reduced </a:t>
            </a:r>
            <a:r>
              <a:rPr lang="en-US" sz="3200" dirty="0" err="1"/>
              <a:t>atrial</a:t>
            </a:r>
            <a:r>
              <a:rPr lang="en-US" sz="3200" dirty="0"/>
              <a:t> compliance (acute MR) will result in </a:t>
            </a:r>
            <a:r>
              <a:rPr lang="en-US" sz="3200" i="1" dirty="0">
                <a:solidFill>
                  <a:schemeClr val="accent2"/>
                </a:solidFill>
                <a:effectLst>
                  <a:outerShdw blurRad="38100" dist="38100" dir="2700000" algn="tl">
                    <a:srgbClr val="000000">
                      <a:alpha val="43137"/>
                    </a:srgbClr>
                  </a:outerShdw>
                </a:effectLst>
              </a:rPr>
              <a:t>pulmonary vascular congestion </a:t>
            </a:r>
            <a:r>
              <a:rPr lang="en-US" sz="3200" dirty="0"/>
              <a:t>and </a:t>
            </a:r>
            <a:r>
              <a:rPr lang="en-US" sz="3200" dirty="0">
                <a:solidFill>
                  <a:schemeClr val="accent2"/>
                </a:solidFill>
                <a:effectLst>
                  <a:outerShdw blurRad="38100" dist="38100" dir="2700000" algn="tl">
                    <a:srgbClr val="000000">
                      <a:alpha val="43137"/>
                    </a:srgbClr>
                  </a:outerShdw>
                </a:effectLst>
              </a:rPr>
              <a:t>edema</a:t>
            </a:r>
          </a:p>
          <a:p>
            <a:pPr lvl="2">
              <a:lnSpc>
                <a:spcPct val="160000"/>
              </a:lnSpc>
              <a:buFont typeface="Wingdings" pitchFamily="2" charset="2"/>
              <a:buChar char="ü"/>
            </a:pPr>
            <a:r>
              <a:rPr lang="en-US" sz="3200" dirty="0"/>
              <a:t>Increased </a:t>
            </a:r>
            <a:r>
              <a:rPr lang="en-US" sz="3200" dirty="0" err="1"/>
              <a:t>atrial</a:t>
            </a:r>
            <a:r>
              <a:rPr lang="en-US" sz="3200" dirty="0"/>
              <a:t> compliance (chronic MR) will demonstrate signs of decreased cardiac output</a:t>
            </a:r>
            <a:endParaRPr lang="en-US" dirty="0"/>
          </a:p>
        </p:txBody>
      </p:sp>
      <p:sp>
        <p:nvSpPr>
          <p:cNvPr id="4" name="Date Placeholder 3"/>
          <p:cNvSpPr>
            <a:spLocks noGrp="1"/>
          </p:cNvSpPr>
          <p:nvPr>
            <p:ph type="dt" sz="half" idx="10"/>
          </p:nvPr>
        </p:nvSpPr>
        <p:spPr/>
        <p:txBody>
          <a:bodyPr/>
          <a:lstStyle/>
          <a:p>
            <a:fld id="{0AD1BD32-95ED-4FB2-9EE8-4006815515BF}" type="datetime1">
              <a:rPr lang="en-US" smtClean="0"/>
              <a:t>8/9/2021</a:t>
            </a:fld>
            <a:endParaRPr lang="en-US"/>
          </a:p>
        </p:txBody>
      </p:sp>
      <p:sp>
        <p:nvSpPr>
          <p:cNvPr id="5" name="Footer Placeholder 4"/>
          <p:cNvSpPr>
            <a:spLocks noGrp="1"/>
          </p:cNvSpPr>
          <p:nvPr>
            <p:ph type="ftr" sz="quarter" idx="11"/>
          </p:nvPr>
        </p:nvSpPr>
        <p:spPr/>
        <p:txBody>
          <a:bodyPr/>
          <a:lstStyle/>
          <a:p>
            <a:r>
              <a:rPr lang="en-US"/>
              <a:t>Anesthesia for VHD </a:t>
            </a:r>
          </a:p>
        </p:txBody>
      </p:sp>
      <p:sp>
        <p:nvSpPr>
          <p:cNvPr id="6" name="Slide Number Placeholder 5"/>
          <p:cNvSpPr>
            <a:spLocks noGrp="1"/>
          </p:cNvSpPr>
          <p:nvPr>
            <p:ph type="sldNum" sz="quarter" idx="12"/>
          </p:nvPr>
        </p:nvSpPr>
        <p:spPr/>
        <p:txBody>
          <a:bodyPr/>
          <a:lstStyle/>
          <a:p>
            <a:fld id="{81D9AF01-45F5-44F6-94C9-E46484F8FCE6}" type="slidenum">
              <a:rPr lang="en-US" smtClean="0"/>
              <a:pPr/>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45" name="Title 1"/>
          <p:cNvSpPr>
            <a:spLocks noGrp="1"/>
          </p:cNvSpPr>
          <p:nvPr>
            <p:ph type="title"/>
          </p:nvPr>
        </p:nvSpPr>
        <p:spPr/>
        <p:txBody>
          <a:bodyPr/>
          <a:lstStyle/>
          <a:p>
            <a:r>
              <a:rPr lang="en-US" dirty="0"/>
              <a:t>Cont…</a:t>
            </a:r>
          </a:p>
        </p:txBody>
      </p:sp>
      <p:sp>
        <p:nvSpPr>
          <p:cNvPr id="1049046" name="Content Placeholder 2"/>
          <p:cNvSpPr>
            <a:spLocks noGrp="1"/>
          </p:cNvSpPr>
          <p:nvPr>
            <p:ph idx="1"/>
          </p:nvPr>
        </p:nvSpPr>
        <p:spPr>
          <a:xfrm>
            <a:off x="304800" y="1447800"/>
            <a:ext cx="8382000" cy="4953000"/>
          </a:xfrm>
        </p:spPr>
        <p:txBody>
          <a:bodyPr>
            <a:normAutofit/>
          </a:bodyPr>
          <a:lstStyle/>
          <a:p>
            <a:pPr>
              <a:lnSpc>
                <a:spcPct val="160000"/>
              </a:lnSpc>
              <a:buFont typeface="Wingdings" pitchFamily="2" charset="2"/>
              <a:buChar char="ü"/>
            </a:pPr>
            <a:r>
              <a:rPr lang="en-US" sz="2800" dirty="0"/>
              <a:t>Fatigue, </a:t>
            </a:r>
            <a:r>
              <a:rPr lang="en-US" sz="2800" dirty="0" err="1"/>
              <a:t>exertional</a:t>
            </a:r>
            <a:r>
              <a:rPr lang="en-US" sz="2800" dirty="0"/>
              <a:t> </a:t>
            </a:r>
            <a:r>
              <a:rPr lang="en-US" sz="2800" dirty="0" err="1"/>
              <a:t>dyspnea</a:t>
            </a:r>
            <a:r>
              <a:rPr lang="en-US" sz="2800" dirty="0"/>
              <a:t>, and </a:t>
            </a:r>
            <a:r>
              <a:rPr lang="en-US" sz="2800" dirty="0" err="1"/>
              <a:t>orthopnea</a:t>
            </a:r>
            <a:r>
              <a:rPr lang="en-US" sz="2800" dirty="0"/>
              <a:t> are the most prominent complaints in patients with chronic severe MR. </a:t>
            </a:r>
          </a:p>
          <a:p>
            <a:pPr>
              <a:lnSpc>
                <a:spcPct val="160000"/>
              </a:lnSpc>
              <a:buFont typeface="Wingdings" pitchFamily="2" charset="2"/>
              <a:buChar char="ü"/>
            </a:pPr>
            <a:r>
              <a:rPr lang="en-US" sz="2800" dirty="0"/>
              <a:t>Blowing </a:t>
            </a:r>
            <a:r>
              <a:rPr lang="en-US" sz="2800" dirty="0" err="1"/>
              <a:t>pansystolic</a:t>
            </a:r>
            <a:r>
              <a:rPr lang="en-US" sz="2800" dirty="0"/>
              <a:t> murmur” best heard at the cardiac apex and often radiating to left </a:t>
            </a:r>
            <a:r>
              <a:rPr lang="en-US" sz="2800" dirty="0" err="1"/>
              <a:t>axilla</a:t>
            </a:r>
            <a:endParaRPr lang="en-US" sz="2800" dirty="0"/>
          </a:p>
          <a:p>
            <a:pPr>
              <a:lnSpc>
                <a:spcPct val="150000"/>
              </a:lnSpc>
              <a:buFont typeface="Wingdings" pitchFamily="2" charset="2"/>
              <a:buChar char="ü"/>
            </a:pPr>
            <a:endParaRPr lang="en-US" dirty="0"/>
          </a:p>
        </p:txBody>
      </p:sp>
      <p:sp>
        <p:nvSpPr>
          <p:cNvPr id="1049047" name="Date Placeholder 3"/>
          <p:cNvSpPr>
            <a:spLocks noGrp="1"/>
          </p:cNvSpPr>
          <p:nvPr>
            <p:ph type="dt" sz="half" idx="10"/>
          </p:nvPr>
        </p:nvSpPr>
        <p:spPr/>
        <p:txBody>
          <a:bodyPr/>
          <a:lstStyle/>
          <a:p>
            <a:fld id="{E6BACCFA-E051-4B97-B2C5-BB4405A77C8B}" type="datetime1">
              <a:rPr lang="en-US" smtClean="0"/>
              <a:t>8/9/2021</a:t>
            </a:fld>
            <a:endParaRPr lang="en-US"/>
          </a:p>
        </p:txBody>
      </p:sp>
      <p:sp>
        <p:nvSpPr>
          <p:cNvPr id="1049048" name="Slide Number Placeholder 4"/>
          <p:cNvSpPr>
            <a:spLocks noGrp="1"/>
          </p:cNvSpPr>
          <p:nvPr>
            <p:ph type="sldNum" sz="quarter" idx="12"/>
          </p:nvPr>
        </p:nvSpPr>
        <p:spPr/>
        <p:txBody>
          <a:bodyPr/>
          <a:lstStyle/>
          <a:p>
            <a:fld id="{124970EB-A8C4-40D2-AF81-C6C16288290E}" type="slidenum">
              <a:rPr lang="en-US" smtClean="0"/>
              <a:pPr/>
              <a:t>88</a:t>
            </a:fld>
            <a:endParaRPr lang="en-US"/>
          </a:p>
        </p:txBody>
      </p:sp>
      <p:sp>
        <p:nvSpPr>
          <p:cNvPr id="1049049"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a:t>Cont…</a:t>
            </a:r>
          </a:p>
        </p:txBody>
      </p:sp>
      <p:sp>
        <p:nvSpPr>
          <p:cNvPr id="3" name="Content Placeholder 2"/>
          <p:cNvSpPr>
            <a:spLocks noGrp="1"/>
          </p:cNvSpPr>
          <p:nvPr>
            <p:ph idx="1"/>
          </p:nvPr>
        </p:nvSpPr>
        <p:spPr>
          <a:xfrm>
            <a:off x="381000" y="1371600"/>
            <a:ext cx="8534400" cy="4876800"/>
          </a:xfrm>
        </p:spPr>
        <p:txBody>
          <a:bodyPr/>
          <a:lstStyle/>
          <a:p>
            <a:pPr>
              <a:lnSpc>
                <a:spcPct val="150000"/>
              </a:lnSpc>
              <a:buFont typeface="Wingdings" pitchFamily="2" charset="2"/>
              <a:buChar char="ü"/>
            </a:pPr>
            <a:r>
              <a:rPr lang="en-US" dirty="0"/>
              <a:t>Palpitations are common and may signify the onset of AF.</a:t>
            </a:r>
          </a:p>
          <a:p>
            <a:pPr>
              <a:lnSpc>
                <a:spcPct val="150000"/>
              </a:lnSpc>
              <a:buFont typeface="Wingdings" pitchFamily="2" charset="2"/>
              <a:buChar char="ü"/>
            </a:pPr>
            <a:r>
              <a:rPr lang="en-US" dirty="0"/>
              <a:t>Right-sided heart failure</a:t>
            </a:r>
          </a:p>
          <a:p>
            <a:pPr>
              <a:lnSpc>
                <a:spcPct val="150000"/>
              </a:lnSpc>
              <a:buNone/>
            </a:pPr>
            <a:endParaRPr lang="en-US" dirty="0"/>
          </a:p>
          <a:p>
            <a:pPr>
              <a:lnSpc>
                <a:spcPct val="150000"/>
              </a:lnSpc>
              <a:buNone/>
            </a:pPr>
            <a:r>
              <a:rPr lang="en-US" b="1" dirty="0"/>
              <a:t>Diagnostic modality –</a:t>
            </a:r>
            <a:r>
              <a:rPr lang="en-US" dirty="0"/>
              <a:t>ECG/Echo, C-x- ray</a:t>
            </a:r>
          </a:p>
          <a:p>
            <a:pPr>
              <a:lnSpc>
                <a:spcPct val="150000"/>
              </a:lnSpc>
              <a:buNone/>
            </a:pPr>
            <a:endParaRPr lang="en-US" dirty="0"/>
          </a:p>
        </p:txBody>
      </p:sp>
      <p:sp>
        <p:nvSpPr>
          <p:cNvPr id="4" name="Date Placeholder 3"/>
          <p:cNvSpPr>
            <a:spLocks noGrp="1"/>
          </p:cNvSpPr>
          <p:nvPr>
            <p:ph type="dt" sz="half" idx="10"/>
          </p:nvPr>
        </p:nvSpPr>
        <p:spPr/>
        <p:txBody>
          <a:bodyPr/>
          <a:lstStyle/>
          <a:p>
            <a:fld id="{512CE32D-7F2E-45B7-AEC3-788C9EB2FD2D}" type="datetime1">
              <a:rPr lang="en-US" smtClean="0"/>
              <a:t>8/9/2021</a:t>
            </a:fld>
            <a:endParaRPr lang="en-US"/>
          </a:p>
        </p:txBody>
      </p:sp>
      <p:sp>
        <p:nvSpPr>
          <p:cNvPr id="5" name="Footer Placeholder 4"/>
          <p:cNvSpPr>
            <a:spLocks noGrp="1"/>
          </p:cNvSpPr>
          <p:nvPr>
            <p:ph type="ftr" sz="quarter" idx="11"/>
          </p:nvPr>
        </p:nvSpPr>
        <p:spPr/>
        <p:txBody>
          <a:bodyPr/>
          <a:lstStyle/>
          <a:p>
            <a:r>
              <a:rPr lang="en-US"/>
              <a:t>Anesthesia for VHD </a:t>
            </a:r>
          </a:p>
        </p:txBody>
      </p:sp>
      <p:sp>
        <p:nvSpPr>
          <p:cNvPr id="6" name="Slide Number Placeholder 5"/>
          <p:cNvSpPr>
            <a:spLocks noGrp="1"/>
          </p:cNvSpPr>
          <p:nvPr>
            <p:ph type="sldNum" sz="quarter" idx="12"/>
          </p:nvPr>
        </p:nvSpPr>
        <p:spPr/>
        <p:txBody>
          <a:bodyPr/>
          <a:lstStyle/>
          <a:p>
            <a:fld id="{81D9AF01-45F5-44F6-94C9-E46484F8FCE6}" type="slidenum">
              <a:rPr lang="en-US" smtClean="0"/>
              <a:pPr/>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53" name="Title 1"/>
          <p:cNvSpPr>
            <a:spLocks noGrp="1"/>
          </p:cNvSpPr>
          <p:nvPr>
            <p:ph type="title"/>
          </p:nvPr>
        </p:nvSpPr>
        <p:spPr>
          <a:xfrm>
            <a:off x="457200" y="274638"/>
            <a:ext cx="8229600" cy="792162"/>
          </a:xfrm>
        </p:spPr>
        <p:txBody>
          <a:bodyPr>
            <a:normAutofit fontScale="90000"/>
          </a:bodyPr>
          <a:lstStyle/>
          <a:p>
            <a:r>
              <a:rPr lang="en-US" sz="3600" b="1" dirty="0"/>
              <a:t>TREATMENT </a:t>
            </a:r>
            <a:br>
              <a:rPr lang="en-US" sz="3600" b="1" dirty="0"/>
            </a:br>
            <a:endParaRPr lang="en-US" dirty="0"/>
          </a:p>
        </p:txBody>
      </p:sp>
      <p:sp>
        <p:nvSpPr>
          <p:cNvPr id="1049054" name="Content Placeholder 2"/>
          <p:cNvSpPr>
            <a:spLocks noGrp="1"/>
          </p:cNvSpPr>
          <p:nvPr>
            <p:ph idx="1"/>
          </p:nvPr>
        </p:nvSpPr>
        <p:spPr>
          <a:xfrm>
            <a:off x="228600" y="1066800"/>
            <a:ext cx="8915400" cy="5486400"/>
          </a:xfrm>
        </p:spPr>
        <p:txBody>
          <a:bodyPr>
            <a:normAutofit/>
          </a:bodyPr>
          <a:lstStyle/>
          <a:p>
            <a:pPr>
              <a:buBlip>
                <a:blip r:embed="rId2"/>
              </a:buBlip>
            </a:pPr>
            <a:r>
              <a:rPr lang="en-US" b="1" dirty="0"/>
              <a:t>Medical therapy </a:t>
            </a:r>
          </a:p>
          <a:p>
            <a:pPr>
              <a:buBlip>
                <a:blip r:embed="rId3"/>
              </a:buBlip>
            </a:pPr>
            <a:r>
              <a:rPr lang="en-US" dirty="0" err="1"/>
              <a:t>Warfarin</a:t>
            </a:r>
            <a:r>
              <a:rPr lang="en-US" dirty="0"/>
              <a:t> should be provided once AF intervenes with a target </a:t>
            </a:r>
            <a:r>
              <a:rPr lang="en-US" b="1" i="1" dirty="0"/>
              <a:t>INR of 2–3</a:t>
            </a:r>
            <a:r>
              <a:rPr lang="en-US" dirty="0"/>
              <a:t>.</a:t>
            </a:r>
          </a:p>
          <a:p>
            <a:pPr>
              <a:buBlip>
                <a:blip r:embed="rId3"/>
              </a:buBlip>
            </a:pPr>
            <a:r>
              <a:rPr lang="en-US" dirty="0" err="1"/>
              <a:t>Cardioversion</a:t>
            </a:r>
            <a:r>
              <a:rPr lang="en-US" dirty="0"/>
              <a:t> should be considered depending on the clinical context and LA size.</a:t>
            </a:r>
          </a:p>
          <a:p>
            <a:pPr>
              <a:buBlip>
                <a:blip r:embed="rId3"/>
              </a:buBlip>
            </a:pPr>
            <a:r>
              <a:rPr lang="en-US" dirty="0"/>
              <a:t>Stabilization of heart failure </a:t>
            </a:r>
          </a:p>
        </p:txBody>
      </p:sp>
      <p:sp>
        <p:nvSpPr>
          <p:cNvPr id="1049055" name="Date Placeholder 3"/>
          <p:cNvSpPr>
            <a:spLocks noGrp="1"/>
          </p:cNvSpPr>
          <p:nvPr>
            <p:ph type="dt" sz="half" idx="10"/>
          </p:nvPr>
        </p:nvSpPr>
        <p:spPr/>
        <p:txBody>
          <a:bodyPr/>
          <a:lstStyle/>
          <a:p>
            <a:fld id="{0054B67A-FEB3-4051-8592-77C76E6C60F6}" type="datetime1">
              <a:rPr lang="en-US" smtClean="0"/>
              <a:t>8/9/2021</a:t>
            </a:fld>
            <a:endParaRPr lang="en-US"/>
          </a:p>
        </p:txBody>
      </p:sp>
      <p:sp>
        <p:nvSpPr>
          <p:cNvPr id="1049056" name="Slide Number Placeholder 4"/>
          <p:cNvSpPr>
            <a:spLocks noGrp="1"/>
          </p:cNvSpPr>
          <p:nvPr>
            <p:ph type="sldNum" sz="quarter" idx="12"/>
          </p:nvPr>
        </p:nvSpPr>
        <p:spPr/>
        <p:txBody>
          <a:bodyPr/>
          <a:lstStyle/>
          <a:p>
            <a:fld id="{124970EB-A8C4-40D2-AF81-C6C16288290E}" type="slidenum">
              <a:rPr lang="en-US" smtClean="0"/>
              <a:pPr/>
              <a:t>90</a:t>
            </a:fld>
            <a:endParaRPr lang="en-US"/>
          </a:p>
        </p:txBody>
      </p:sp>
      <p:sp>
        <p:nvSpPr>
          <p:cNvPr id="1049057"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58" name="Title 1"/>
          <p:cNvSpPr>
            <a:spLocks noGrp="1"/>
          </p:cNvSpPr>
          <p:nvPr>
            <p:ph type="title"/>
          </p:nvPr>
        </p:nvSpPr>
        <p:spPr/>
        <p:txBody>
          <a:bodyPr/>
          <a:lstStyle/>
          <a:p>
            <a:r>
              <a:rPr lang="en-US" dirty="0"/>
              <a:t>Cont…</a:t>
            </a:r>
          </a:p>
        </p:txBody>
      </p:sp>
      <p:sp>
        <p:nvSpPr>
          <p:cNvPr id="1049059" name="Content Placeholder 2"/>
          <p:cNvSpPr>
            <a:spLocks noGrp="1"/>
          </p:cNvSpPr>
          <p:nvPr>
            <p:ph idx="1"/>
          </p:nvPr>
        </p:nvSpPr>
        <p:spPr>
          <a:xfrm>
            <a:off x="304800" y="1600200"/>
            <a:ext cx="8534400" cy="5029200"/>
          </a:xfrm>
        </p:spPr>
        <p:txBody>
          <a:bodyPr/>
          <a:lstStyle/>
          <a:p>
            <a:pPr>
              <a:lnSpc>
                <a:spcPct val="150000"/>
              </a:lnSpc>
              <a:buBlip>
                <a:blip r:embed="rId3"/>
              </a:buBlip>
            </a:pPr>
            <a:r>
              <a:rPr lang="en-US" dirty="0"/>
              <a:t>Patients with acute severe MR require urgent stabilization and preparation for surgery</a:t>
            </a:r>
          </a:p>
          <a:p>
            <a:pPr>
              <a:lnSpc>
                <a:spcPct val="150000"/>
              </a:lnSpc>
              <a:buBlip>
                <a:blip r:embed="rId3"/>
              </a:buBlip>
            </a:pPr>
            <a:r>
              <a:rPr lang="en-US" dirty="0"/>
              <a:t>Surgical treatment </a:t>
            </a:r>
            <a:r>
              <a:rPr lang="en-US" b="1" dirty="0"/>
              <a:t>–trans catheter mitral valve repair</a:t>
            </a:r>
          </a:p>
          <a:p>
            <a:pPr>
              <a:buBlip>
                <a:blip r:embed="rId3"/>
              </a:buBlip>
            </a:pPr>
            <a:endParaRPr lang="en-US" dirty="0"/>
          </a:p>
        </p:txBody>
      </p:sp>
      <p:sp>
        <p:nvSpPr>
          <p:cNvPr id="1049060" name="Date Placeholder 3"/>
          <p:cNvSpPr>
            <a:spLocks noGrp="1"/>
          </p:cNvSpPr>
          <p:nvPr>
            <p:ph type="dt" sz="half" idx="10"/>
          </p:nvPr>
        </p:nvSpPr>
        <p:spPr/>
        <p:txBody>
          <a:bodyPr/>
          <a:lstStyle/>
          <a:p>
            <a:fld id="{29AB0E4B-CD1F-4CEF-BB00-933A0A77FC0F}" type="datetime1">
              <a:rPr lang="en-US" smtClean="0"/>
              <a:t>8/9/2021</a:t>
            </a:fld>
            <a:endParaRPr lang="en-US"/>
          </a:p>
        </p:txBody>
      </p:sp>
      <p:sp>
        <p:nvSpPr>
          <p:cNvPr id="1049061" name="Slide Number Placeholder 4"/>
          <p:cNvSpPr>
            <a:spLocks noGrp="1"/>
          </p:cNvSpPr>
          <p:nvPr>
            <p:ph type="sldNum" sz="quarter" idx="12"/>
          </p:nvPr>
        </p:nvSpPr>
        <p:spPr/>
        <p:txBody>
          <a:bodyPr/>
          <a:lstStyle/>
          <a:p>
            <a:fld id="{124970EB-A8C4-40D2-AF81-C6C16288290E}" type="slidenum">
              <a:rPr lang="en-US" smtClean="0"/>
              <a:pPr/>
              <a:t>91</a:t>
            </a:fld>
            <a:endParaRPr lang="en-US"/>
          </a:p>
        </p:txBody>
      </p:sp>
      <p:sp>
        <p:nvSpPr>
          <p:cNvPr id="1049062"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66" name="Title 1"/>
          <p:cNvSpPr>
            <a:spLocks noGrp="1"/>
          </p:cNvSpPr>
          <p:nvPr>
            <p:ph type="title"/>
          </p:nvPr>
        </p:nvSpPr>
        <p:spPr/>
        <p:txBody>
          <a:bodyPr>
            <a:normAutofit/>
          </a:bodyPr>
          <a:lstStyle/>
          <a:p>
            <a:r>
              <a:rPr lang="en-US" sz="3600" b="1" dirty="0"/>
              <a:t>Anesthesia consideration of MR</a:t>
            </a:r>
          </a:p>
        </p:txBody>
      </p:sp>
      <p:sp>
        <p:nvSpPr>
          <p:cNvPr id="1049067" name="Content Placeholder 2"/>
          <p:cNvSpPr>
            <a:spLocks noGrp="1"/>
          </p:cNvSpPr>
          <p:nvPr>
            <p:ph idx="1"/>
          </p:nvPr>
        </p:nvSpPr>
        <p:spPr>
          <a:xfrm>
            <a:off x="381000" y="1600200"/>
            <a:ext cx="8458200" cy="4953000"/>
          </a:xfrm>
        </p:spPr>
        <p:txBody>
          <a:bodyPr>
            <a:normAutofit/>
          </a:bodyPr>
          <a:lstStyle/>
          <a:p>
            <a:pPr>
              <a:lnSpc>
                <a:spcPct val="150000"/>
              </a:lnSpc>
              <a:buBlip>
                <a:blip r:embed="rId3"/>
              </a:buBlip>
            </a:pPr>
            <a:r>
              <a:rPr lang="en-US" dirty="0"/>
              <a:t>Selection of anesthetics that promote </a:t>
            </a:r>
            <a:r>
              <a:rPr lang="en-US" dirty="0" err="1"/>
              <a:t>vasodilation</a:t>
            </a:r>
            <a:r>
              <a:rPr lang="en-US" dirty="0"/>
              <a:t> and tachycardia</a:t>
            </a:r>
          </a:p>
          <a:p>
            <a:pPr>
              <a:lnSpc>
                <a:spcPct val="150000"/>
              </a:lnSpc>
              <a:buBlip>
                <a:blip r:embed="rId3"/>
              </a:buBlip>
            </a:pPr>
            <a:r>
              <a:rPr lang="en-US" dirty="0"/>
              <a:t> In chronic MR, </a:t>
            </a:r>
            <a:r>
              <a:rPr lang="en-US" dirty="0" err="1"/>
              <a:t>vasoactive</a:t>
            </a:r>
            <a:r>
              <a:rPr lang="en-US" dirty="0"/>
              <a:t> medications are usually not necessary because of LV compensatory mechanisms. </a:t>
            </a:r>
          </a:p>
          <a:p>
            <a:pPr>
              <a:buNone/>
            </a:pPr>
            <a:endParaRPr lang="en-US" dirty="0"/>
          </a:p>
        </p:txBody>
      </p:sp>
      <p:sp>
        <p:nvSpPr>
          <p:cNvPr id="1049068" name="Date Placeholder 3"/>
          <p:cNvSpPr>
            <a:spLocks noGrp="1"/>
          </p:cNvSpPr>
          <p:nvPr>
            <p:ph type="dt" sz="half" idx="10"/>
          </p:nvPr>
        </p:nvSpPr>
        <p:spPr/>
        <p:txBody>
          <a:bodyPr/>
          <a:lstStyle/>
          <a:p>
            <a:fld id="{EDDAA22F-A7C3-44C1-93B1-28EDFFF97E5D}" type="datetime1">
              <a:rPr lang="en-US" smtClean="0"/>
              <a:t>8/9/2021</a:t>
            </a:fld>
            <a:endParaRPr lang="en-US"/>
          </a:p>
        </p:txBody>
      </p:sp>
      <p:sp>
        <p:nvSpPr>
          <p:cNvPr id="1049069" name="Slide Number Placeholder 4"/>
          <p:cNvSpPr>
            <a:spLocks noGrp="1"/>
          </p:cNvSpPr>
          <p:nvPr>
            <p:ph type="sldNum" sz="quarter" idx="12"/>
          </p:nvPr>
        </p:nvSpPr>
        <p:spPr/>
        <p:txBody>
          <a:bodyPr/>
          <a:lstStyle/>
          <a:p>
            <a:fld id="{124970EB-A8C4-40D2-AF81-C6C16288290E}" type="slidenum">
              <a:rPr lang="en-US" smtClean="0"/>
              <a:pPr/>
              <a:t>92</a:t>
            </a:fld>
            <a:endParaRPr lang="en-US"/>
          </a:p>
        </p:txBody>
      </p:sp>
      <p:sp>
        <p:nvSpPr>
          <p:cNvPr id="1049070"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sp>
        <p:nvSpPr>
          <p:cNvPr id="3" name="Content Placeholder 2"/>
          <p:cNvSpPr>
            <a:spLocks noGrp="1"/>
          </p:cNvSpPr>
          <p:nvPr>
            <p:ph idx="1"/>
          </p:nvPr>
        </p:nvSpPr>
        <p:spPr/>
        <p:txBody>
          <a:bodyPr/>
          <a:lstStyle/>
          <a:p>
            <a:pPr>
              <a:lnSpc>
                <a:spcPct val="150000"/>
              </a:lnSpc>
              <a:buBlip>
                <a:blip r:embed="rId2"/>
              </a:buBlip>
            </a:pPr>
            <a:r>
              <a:rPr lang="en-US" dirty="0"/>
              <a:t>However, patients with acute MR may need aggressive pharmacologic management. </a:t>
            </a:r>
          </a:p>
          <a:p>
            <a:pPr>
              <a:lnSpc>
                <a:spcPct val="150000"/>
              </a:lnSpc>
              <a:buBlip>
                <a:blip r:embed="rId2"/>
              </a:buBlip>
            </a:pPr>
            <a:r>
              <a:rPr lang="en-US" dirty="0"/>
              <a:t>However, vasodilators and </a:t>
            </a:r>
            <a:r>
              <a:rPr lang="en-US" dirty="0" err="1"/>
              <a:t>inotropes</a:t>
            </a:r>
            <a:r>
              <a:rPr lang="en-US" dirty="0"/>
              <a:t> may lead to reoccurrence or worsening of MR.</a:t>
            </a:r>
          </a:p>
        </p:txBody>
      </p:sp>
      <p:sp>
        <p:nvSpPr>
          <p:cNvPr id="4" name="Date Placeholder 3"/>
          <p:cNvSpPr>
            <a:spLocks noGrp="1"/>
          </p:cNvSpPr>
          <p:nvPr>
            <p:ph type="dt" sz="half" idx="10"/>
          </p:nvPr>
        </p:nvSpPr>
        <p:spPr/>
        <p:txBody>
          <a:bodyPr/>
          <a:lstStyle/>
          <a:p>
            <a:fld id="{84A4D74D-2AB2-4C81-B013-0F8014BEEB5C}" type="datetime1">
              <a:rPr lang="en-US" smtClean="0"/>
              <a:t>8/9/2021</a:t>
            </a:fld>
            <a:endParaRPr lang="en-US"/>
          </a:p>
        </p:txBody>
      </p:sp>
      <p:sp>
        <p:nvSpPr>
          <p:cNvPr id="5" name="Footer Placeholder 4"/>
          <p:cNvSpPr>
            <a:spLocks noGrp="1"/>
          </p:cNvSpPr>
          <p:nvPr>
            <p:ph type="ftr" sz="quarter" idx="11"/>
          </p:nvPr>
        </p:nvSpPr>
        <p:spPr/>
        <p:txBody>
          <a:bodyPr/>
          <a:lstStyle/>
          <a:p>
            <a:r>
              <a:rPr lang="en-US"/>
              <a:t>Anesthesia for VHD </a:t>
            </a:r>
          </a:p>
        </p:txBody>
      </p:sp>
      <p:sp>
        <p:nvSpPr>
          <p:cNvPr id="6" name="Slide Number Placeholder 5"/>
          <p:cNvSpPr>
            <a:spLocks noGrp="1"/>
          </p:cNvSpPr>
          <p:nvPr>
            <p:ph type="sldNum" sz="quarter" idx="12"/>
          </p:nvPr>
        </p:nvSpPr>
        <p:spPr/>
        <p:txBody>
          <a:bodyPr/>
          <a:lstStyle/>
          <a:p>
            <a:fld id="{81D9AF01-45F5-44F6-94C9-E46484F8FCE6}" type="slidenum">
              <a:rPr lang="en-US" smtClean="0"/>
              <a:pPr/>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74" name="Title 1"/>
          <p:cNvSpPr>
            <a:spLocks noGrp="1"/>
          </p:cNvSpPr>
          <p:nvPr>
            <p:ph type="title"/>
          </p:nvPr>
        </p:nvSpPr>
        <p:spPr/>
        <p:txBody>
          <a:bodyPr/>
          <a:lstStyle/>
          <a:p>
            <a:r>
              <a:rPr lang="en-US" dirty="0"/>
              <a:t>Anesthesia management</a:t>
            </a:r>
          </a:p>
        </p:txBody>
      </p:sp>
      <p:sp>
        <p:nvSpPr>
          <p:cNvPr id="1049075" name="Content Placeholder 2"/>
          <p:cNvSpPr>
            <a:spLocks noGrp="1"/>
          </p:cNvSpPr>
          <p:nvPr>
            <p:ph idx="1"/>
          </p:nvPr>
        </p:nvSpPr>
        <p:spPr>
          <a:xfrm>
            <a:off x="457200" y="1371600"/>
            <a:ext cx="8458200" cy="4953000"/>
          </a:xfrm>
        </p:spPr>
        <p:txBody>
          <a:bodyPr>
            <a:normAutofit fontScale="92500" lnSpcReduction="10000"/>
          </a:bodyPr>
          <a:lstStyle/>
          <a:p>
            <a:pPr lvl="1">
              <a:lnSpc>
                <a:spcPct val="150000"/>
              </a:lnSpc>
              <a:buBlip>
                <a:blip r:embed="rId3"/>
              </a:buBlip>
            </a:pPr>
            <a:r>
              <a:rPr lang="en-US" sz="3200" u="sng" dirty="0"/>
              <a:t>HR</a:t>
            </a:r>
            <a:r>
              <a:rPr lang="en-US" sz="3200" dirty="0"/>
              <a:t>- </a:t>
            </a:r>
            <a:r>
              <a:rPr lang="en-US" dirty="0"/>
              <a:t>maintain or increase; (80-100 ideal)</a:t>
            </a:r>
            <a:endParaRPr lang="en-US" sz="3200" dirty="0"/>
          </a:p>
          <a:p>
            <a:pPr lvl="1">
              <a:lnSpc>
                <a:spcPct val="150000"/>
              </a:lnSpc>
              <a:buBlip>
                <a:blip r:embed="rId3"/>
              </a:buBlip>
            </a:pPr>
            <a:r>
              <a:rPr lang="en-US" sz="3200" u="sng" dirty="0"/>
              <a:t>Rhythm</a:t>
            </a:r>
            <a:r>
              <a:rPr lang="en-US" sz="3200" dirty="0"/>
              <a:t>- </a:t>
            </a:r>
            <a:r>
              <a:rPr lang="en-US" i="1" dirty="0"/>
              <a:t>sinus rhythm</a:t>
            </a:r>
            <a:endParaRPr lang="en-US" sz="3200" dirty="0"/>
          </a:p>
          <a:p>
            <a:pPr lvl="1">
              <a:lnSpc>
                <a:spcPct val="150000"/>
              </a:lnSpc>
              <a:buBlip>
                <a:blip r:embed="rId3"/>
              </a:buBlip>
            </a:pPr>
            <a:r>
              <a:rPr lang="en-US" sz="3200" u="sng" dirty="0"/>
              <a:t>Preload</a:t>
            </a:r>
            <a:r>
              <a:rPr lang="en-US" sz="3200" dirty="0"/>
              <a:t>- </a:t>
            </a:r>
            <a:r>
              <a:rPr lang="en-US" i="1" dirty="0"/>
              <a:t>Maintain or slightly increase</a:t>
            </a:r>
            <a:endParaRPr lang="en-US" dirty="0"/>
          </a:p>
          <a:p>
            <a:pPr lvl="1">
              <a:lnSpc>
                <a:spcPct val="150000"/>
              </a:lnSpc>
              <a:buBlip>
                <a:blip r:embed="rId3"/>
              </a:buBlip>
            </a:pPr>
            <a:r>
              <a:rPr lang="en-US" sz="3200" u="sng" dirty="0" err="1"/>
              <a:t>Afterload</a:t>
            </a:r>
            <a:r>
              <a:rPr lang="en-US" dirty="0"/>
              <a:t>- </a:t>
            </a:r>
            <a:r>
              <a:rPr lang="en-US" i="1" dirty="0"/>
              <a:t>Decrease</a:t>
            </a:r>
            <a:r>
              <a:rPr lang="en-US" dirty="0"/>
              <a:t> to improve forward cardiac output; avoid sudden increases in SVR</a:t>
            </a:r>
          </a:p>
          <a:p>
            <a:pPr lvl="1">
              <a:lnSpc>
                <a:spcPct val="150000"/>
              </a:lnSpc>
              <a:buBlip>
                <a:blip r:embed="rId3"/>
              </a:buBlip>
            </a:pPr>
            <a:r>
              <a:rPr lang="en-US" sz="3200" u="sng" dirty="0"/>
              <a:t>Contractility</a:t>
            </a:r>
            <a:r>
              <a:rPr lang="en-US" dirty="0"/>
              <a:t>- </a:t>
            </a:r>
            <a:r>
              <a:rPr lang="en-US" i="1" dirty="0"/>
              <a:t>Maintain or increase</a:t>
            </a:r>
            <a:r>
              <a:rPr lang="en-US" dirty="0"/>
              <a:t> to decrease left ventricular volume</a:t>
            </a:r>
          </a:p>
          <a:p>
            <a:endParaRPr lang="en-US" sz="3600" dirty="0"/>
          </a:p>
        </p:txBody>
      </p:sp>
      <p:sp>
        <p:nvSpPr>
          <p:cNvPr id="1049076" name="Date Placeholder 3"/>
          <p:cNvSpPr>
            <a:spLocks noGrp="1"/>
          </p:cNvSpPr>
          <p:nvPr>
            <p:ph type="dt" sz="half" idx="10"/>
          </p:nvPr>
        </p:nvSpPr>
        <p:spPr/>
        <p:txBody>
          <a:bodyPr/>
          <a:lstStyle/>
          <a:p>
            <a:fld id="{55CE77B0-B640-4AB5-AE02-7FB9DFA3717B}" type="datetime1">
              <a:rPr lang="en-US" smtClean="0"/>
              <a:t>8/9/2021</a:t>
            </a:fld>
            <a:endParaRPr lang="en-US"/>
          </a:p>
        </p:txBody>
      </p:sp>
      <p:sp>
        <p:nvSpPr>
          <p:cNvPr id="1049077" name="Slide Number Placeholder 4"/>
          <p:cNvSpPr>
            <a:spLocks noGrp="1"/>
          </p:cNvSpPr>
          <p:nvPr>
            <p:ph type="sldNum" sz="quarter" idx="12"/>
          </p:nvPr>
        </p:nvSpPr>
        <p:spPr/>
        <p:txBody>
          <a:bodyPr/>
          <a:lstStyle/>
          <a:p>
            <a:fld id="{124970EB-A8C4-40D2-AF81-C6C16288290E}" type="slidenum">
              <a:rPr lang="en-US" smtClean="0"/>
              <a:pPr/>
              <a:t>94</a:t>
            </a:fld>
            <a:endParaRPr lang="en-US"/>
          </a:p>
        </p:txBody>
      </p:sp>
      <p:sp>
        <p:nvSpPr>
          <p:cNvPr id="1049078"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79" name="Title 1"/>
          <p:cNvSpPr>
            <a:spLocks noGrp="1"/>
          </p:cNvSpPr>
          <p:nvPr>
            <p:ph type="title"/>
          </p:nvPr>
        </p:nvSpPr>
        <p:spPr/>
        <p:txBody>
          <a:bodyPr/>
          <a:lstStyle/>
          <a:p>
            <a:r>
              <a:rPr lang="en-US" dirty="0"/>
              <a:t>Cont….</a:t>
            </a:r>
          </a:p>
        </p:txBody>
      </p:sp>
      <p:sp>
        <p:nvSpPr>
          <p:cNvPr id="1049080" name="Content Placeholder 2"/>
          <p:cNvSpPr>
            <a:spLocks noGrp="1"/>
          </p:cNvSpPr>
          <p:nvPr>
            <p:ph idx="1"/>
          </p:nvPr>
        </p:nvSpPr>
        <p:spPr>
          <a:xfrm>
            <a:off x="304800" y="1371600"/>
            <a:ext cx="8610600" cy="5105400"/>
          </a:xfrm>
        </p:spPr>
        <p:txBody>
          <a:bodyPr/>
          <a:lstStyle/>
          <a:p>
            <a:pPr lvl="1">
              <a:lnSpc>
                <a:spcPct val="150000"/>
              </a:lnSpc>
              <a:buBlip>
                <a:blip r:embed="rId2"/>
              </a:buBlip>
            </a:pPr>
            <a:r>
              <a:rPr lang="en-US" sz="3200" dirty="0"/>
              <a:t>Take care of IV FLUIDS</a:t>
            </a:r>
          </a:p>
          <a:p>
            <a:pPr lvl="2">
              <a:lnSpc>
                <a:spcPct val="150000"/>
              </a:lnSpc>
              <a:buFont typeface="Wingdings" pitchFamily="2" charset="2"/>
              <a:buChar char="ü"/>
            </a:pPr>
            <a:r>
              <a:rPr lang="en-US" sz="2800" dirty="0"/>
              <a:t>excess fluids will dilate the LV and worsen regurgitation</a:t>
            </a:r>
          </a:p>
          <a:p>
            <a:pPr lvl="2">
              <a:lnSpc>
                <a:spcPct val="150000"/>
              </a:lnSpc>
              <a:buFont typeface="Wingdings" pitchFamily="2" charset="2"/>
              <a:buChar char="ü"/>
            </a:pPr>
            <a:r>
              <a:rPr lang="en-US" sz="2800" dirty="0"/>
              <a:t>Need adequate volume to maintain forward SV</a:t>
            </a:r>
          </a:p>
          <a:p>
            <a:pPr lvl="1">
              <a:lnSpc>
                <a:spcPct val="150000"/>
              </a:lnSpc>
              <a:buBlip>
                <a:blip r:embed="rId2"/>
              </a:buBlip>
            </a:pPr>
            <a:r>
              <a:rPr lang="en-US" sz="3200" dirty="0"/>
              <a:t>Minimize drug-induced myocardial depression</a:t>
            </a:r>
          </a:p>
          <a:p>
            <a:pPr lvl="1">
              <a:lnSpc>
                <a:spcPct val="150000"/>
              </a:lnSpc>
              <a:buBlip>
                <a:blip r:embed="rId2"/>
              </a:buBlip>
            </a:pPr>
            <a:r>
              <a:rPr lang="en-US" sz="3200" dirty="0"/>
              <a:t>Give prophylactic antibiotics</a:t>
            </a:r>
          </a:p>
          <a:p>
            <a:pPr lvl="1">
              <a:lnSpc>
                <a:spcPct val="150000"/>
              </a:lnSpc>
              <a:buBlip>
                <a:blip r:embed="rId2"/>
              </a:buBlip>
            </a:pPr>
            <a:endParaRPr lang="en-US" dirty="0"/>
          </a:p>
          <a:p>
            <a:pPr lvl="2">
              <a:lnSpc>
                <a:spcPct val="150000"/>
              </a:lnSpc>
              <a:buNone/>
            </a:pPr>
            <a:endParaRPr lang="en-US" dirty="0"/>
          </a:p>
        </p:txBody>
      </p:sp>
      <p:sp>
        <p:nvSpPr>
          <p:cNvPr id="1049081" name="Date Placeholder 3"/>
          <p:cNvSpPr>
            <a:spLocks noGrp="1"/>
          </p:cNvSpPr>
          <p:nvPr>
            <p:ph type="dt" sz="half" idx="10"/>
          </p:nvPr>
        </p:nvSpPr>
        <p:spPr/>
        <p:txBody>
          <a:bodyPr/>
          <a:lstStyle/>
          <a:p>
            <a:fld id="{DFDDAA3F-FE8B-4F56-BD30-EB074F4C460D}" type="datetime1">
              <a:rPr lang="en-US" smtClean="0"/>
              <a:t>8/9/2021</a:t>
            </a:fld>
            <a:endParaRPr lang="en-US"/>
          </a:p>
        </p:txBody>
      </p:sp>
      <p:sp>
        <p:nvSpPr>
          <p:cNvPr id="1049082" name="Slide Number Placeholder 4"/>
          <p:cNvSpPr>
            <a:spLocks noGrp="1"/>
          </p:cNvSpPr>
          <p:nvPr>
            <p:ph type="sldNum" sz="quarter" idx="12"/>
          </p:nvPr>
        </p:nvSpPr>
        <p:spPr/>
        <p:txBody>
          <a:bodyPr/>
          <a:lstStyle/>
          <a:p>
            <a:fld id="{124970EB-A8C4-40D2-AF81-C6C16288290E}" type="slidenum">
              <a:rPr lang="en-US" smtClean="0"/>
              <a:pPr/>
              <a:t>95</a:t>
            </a:fld>
            <a:endParaRPr lang="en-US"/>
          </a:p>
        </p:txBody>
      </p:sp>
      <p:sp>
        <p:nvSpPr>
          <p:cNvPr id="1049083"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84" name="Title 1"/>
          <p:cNvSpPr>
            <a:spLocks noGrp="1"/>
          </p:cNvSpPr>
          <p:nvPr>
            <p:ph type="title"/>
          </p:nvPr>
        </p:nvSpPr>
        <p:spPr/>
        <p:txBody>
          <a:bodyPr/>
          <a:lstStyle/>
          <a:p>
            <a:r>
              <a:rPr lang="en-US" dirty="0"/>
              <a:t>Choice of anesthesia </a:t>
            </a:r>
          </a:p>
        </p:txBody>
      </p:sp>
      <p:sp>
        <p:nvSpPr>
          <p:cNvPr id="1049085" name="Content Placeholder 2"/>
          <p:cNvSpPr>
            <a:spLocks noGrp="1"/>
          </p:cNvSpPr>
          <p:nvPr>
            <p:ph idx="1"/>
          </p:nvPr>
        </p:nvSpPr>
        <p:spPr>
          <a:xfrm>
            <a:off x="304800" y="1295400"/>
            <a:ext cx="8610600" cy="5181600"/>
          </a:xfrm>
        </p:spPr>
        <p:txBody>
          <a:bodyPr>
            <a:normAutofit/>
          </a:bodyPr>
          <a:lstStyle/>
          <a:p>
            <a:pPr marL="342900" lvl="1" indent="-342900">
              <a:lnSpc>
                <a:spcPct val="170000"/>
              </a:lnSpc>
              <a:buBlip>
                <a:blip r:embed="rId3"/>
              </a:buBlip>
            </a:pPr>
            <a:r>
              <a:rPr lang="en-US" sz="3000" dirty="0"/>
              <a:t>Spinal and Epidural is tolerable </a:t>
            </a:r>
          </a:p>
          <a:p>
            <a:pPr marL="342900" lvl="1" indent="-342900">
              <a:lnSpc>
                <a:spcPct val="170000"/>
              </a:lnSpc>
              <a:buNone/>
            </a:pPr>
            <a:r>
              <a:rPr lang="en-US" sz="3000" dirty="0"/>
              <a:t>(avoid </a:t>
            </a:r>
            <a:r>
              <a:rPr lang="en-US" sz="3000" b="1" i="1" dirty="0" err="1">
                <a:solidFill>
                  <a:schemeClr val="accent2"/>
                </a:solidFill>
              </a:rPr>
              <a:t>bradycardia</a:t>
            </a:r>
            <a:r>
              <a:rPr lang="en-US" sz="3000" b="1" i="1" dirty="0">
                <a:solidFill>
                  <a:schemeClr val="accent2"/>
                </a:solidFill>
              </a:rPr>
              <a:t>)</a:t>
            </a:r>
            <a:endParaRPr lang="en-US" sz="3000" dirty="0"/>
          </a:p>
          <a:p>
            <a:pPr>
              <a:lnSpc>
                <a:spcPct val="170000"/>
              </a:lnSpc>
              <a:buBlip>
                <a:blip r:embed="rId3"/>
              </a:buBlip>
            </a:pPr>
            <a:r>
              <a:rPr lang="en-US" sz="2800" dirty="0"/>
              <a:t>In contrast to patients with mitral </a:t>
            </a:r>
            <a:r>
              <a:rPr lang="en-US" sz="2800" dirty="0" err="1"/>
              <a:t>stenosis</a:t>
            </a:r>
            <a:r>
              <a:rPr lang="en-US" sz="2800" dirty="0"/>
              <a:t>, patients with mitral regurgitation may benefit from the </a:t>
            </a:r>
            <a:r>
              <a:rPr lang="en-US" sz="2800" dirty="0" err="1"/>
              <a:t>chronotropic</a:t>
            </a:r>
            <a:r>
              <a:rPr lang="en-US" sz="2800" dirty="0"/>
              <a:t> effect of ephedrine if </a:t>
            </a:r>
            <a:r>
              <a:rPr lang="en-US" sz="2800" dirty="0" err="1"/>
              <a:t>vasopressor</a:t>
            </a:r>
            <a:r>
              <a:rPr lang="en-US" sz="2800" dirty="0"/>
              <a:t> is required</a:t>
            </a:r>
            <a:r>
              <a:rPr lang="en-US" sz="4400" dirty="0"/>
              <a:t>. </a:t>
            </a:r>
          </a:p>
          <a:p>
            <a:endParaRPr lang="en-US" dirty="0"/>
          </a:p>
        </p:txBody>
      </p:sp>
      <p:sp>
        <p:nvSpPr>
          <p:cNvPr id="1049086" name="Date Placeholder 3"/>
          <p:cNvSpPr>
            <a:spLocks noGrp="1"/>
          </p:cNvSpPr>
          <p:nvPr>
            <p:ph type="dt" sz="half" idx="10"/>
          </p:nvPr>
        </p:nvSpPr>
        <p:spPr/>
        <p:txBody>
          <a:bodyPr/>
          <a:lstStyle/>
          <a:p>
            <a:fld id="{9F86F5BB-5DA8-4185-A7A4-51728F6344C3}" type="datetime1">
              <a:rPr lang="en-US" smtClean="0"/>
              <a:t>8/9/2021</a:t>
            </a:fld>
            <a:endParaRPr lang="en-US"/>
          </a:p>
        </p:txBody>
      </p:sp>
      <p:sp>
        <p:nvSpPr>
          <p:cNvPr id="1049087" name="Slide Number Placeholder 4"/>
          <p:cNvSpPr>
            <a:spLocks noGrp="1"/>
          </p:cNvSpPr>
          <p:nvPr>
            <p:ph type="sldNum" sz="quarter" idx="12"/>
          </p:nvPr>
        </p:nvSpPr>
        <p:spPr/>
        <p:txBody>
          <a:bodyPr/>
          <a:lstStyle/>
          <a:p>
            <a:fld id="{124970EB-A8C4-40D2-AF81-C6C16288290E}" type="slidenum">
              <a:rPr lang="en-US" smtClean="0"/>
              <a:pPr/>
              <a:t>96</a:t>
            </a:fld>
            <a:endParaRPr lang="en-US"/>
          </a:p>
        </p:txBody>
      </p:sp>
      <p:sp>
        <p:nvSpPr>
          <p:cNvPr id="1049088" name="Footer Placeholder 5"/>
          <p:cNvSpPr>
            <a:spLocks noGrp="1"/>
          </p:cNvSpPr>
          <p:nvPr>
            <p:ph type="ftr" sz="quarter" idx="11"/>
          </p:nvPr>
        </p:nvSpPr>
        <p:spPr/>
        <p:txBody>
          <a:bodyPr/>
          <a:lstStyle/>
          <a:p>
            <a:r>
              <a:rPr lang="en-US"/>
              <a:t>Anesthesia for VHD </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92" name="Title 1"/>
          <p:cNvSpPr>
            <a:spLocks noGrp="1"/>
          </p:cNvSpPr>
          <p:nvPr>
            <p:ph type="title"/>
          </p:nvPr>
        </p:nvSpPr>
        <p:spPr/>
        <p:txBody>
          <a:bodyPr/>
          <a:lstStyle/>
          <a:p>
            <a:r>
              <a:rPr lang="en-US" dirty="0"/>
              <a:t>Cont…</a:t>
            </a:r>
          </a:p>
        </p:txBody>
      </p:sp>
      <p:sp>
        <p:nvSpPr>
          <p:cNvPr id="1049093" name="Content Placeholder 2"/>
          <p:cNvSpPr>
            <a:spLocks noGrp="1"/>
          </p:cNvSpPr>
          <p:nvPr>
            <p:ph idx="1"/>
          </p:nvPr>
        </p:nvSpPr>
        <p:spPr>
          <a:xfrm>
            <a:off x="228600" y="1447800"/>
            <a:ext cx="8686800" cy="4876800"/>
          </a:xfrm>
        </p:spPr>
        <p:txBody>
          <a:bodyPr/>
          <a:lstStyle/>
          <a:p>
            <a:pPr>
              <a:lnSpc>
                <a:spcPct val="150000"/>
              </a:lnSpc>
              <a:buBlip>
                <a:blip r:embed="rId2"/>
              </a:buBlip>
            </a:pPr>
            <a:r>
              <a:rPr lang="en-US" dirty="0"/>
              <a:t>If GA is required, </a:t>
            </a:r>
            <a:r>
              <a:rPr lang="en-US" dirty="0" err="1"/>
              <a:t>ketamine</a:t>
            </a:r>
            <a:r>
              <a:rPr lang="en-US" dirty="0"/>
              <a:t> and </a:t>
            </a:r>
            <a:r>
              <a:rPr lang="en-US" dirty="0" err="1"/>
              <a:t>pancuronium</a:t>
            </a:r>
            <a:r>
              <a:rPr lang="en-US" dirty="0"/>
              <a:t> are desirable agents in these patients.</a:t>
            </a:r>
          </a:p>
          <a:p>
            <a:pPr>
              <a:lnSpc>
                <a:spcPct val="150000"/>
              </a:lnSpc>
              <a:buBlip>
                <a:blip r:embed="rId2"/>
              </a:buBlip>
            </a:pPr>
            <a:r>
              <a:rPr lang="en-US" dirty="0"/>
              <a:t>BP monitoring and pulmonary artery catheter monitoring are advisable. </a:t>
            </a:r>
          </a:p>
          <a:p>
            <a:endParaRPr lang="en-US" dirty="0"/>
          </a:p>
        </p:txBody>
      </p:sp>
      <p:sp>
        <p:nvSpPr>
          <p:cNvPr id="1049094" name="Date Placeholder 3"/>
          <p:cNvSpPr>
            <a:spLocks noGrp="1"/>
          </p:cNvSpPr>
          <p:nvPr>
            <p:ph type="dt" sz="half" idx="10"/>
          </p:nvPr>
        </p:nvSpPr>
        <p:spPr/>
        <p:txBody>
          <a:bodyPr/>
          <a:lstStyle/>
          <a:p>
            <a:fld id="{C71AA382-8843-4057-80EC-8CCA1F87FD78}" type="datetime1">
              <a:rPr lang="en-US" smtClean="0"/>
              <a:t>8/9/2021</a:t>
            </a:fld>
            <a:endParaRPr lang="en-US"/>
          </a:p>
        </p:txBody>
      </p:sp>
      <p:sp>
        <p:nvSpPr>
          <p:cNvPr id="1049095" name="Footer Placeholder 4"/>
          <p:cNvSpPr>
            <a:spLocks noGrp="1"/>
          </p:cNvSpPr>
          <p:nvPr>
            <p:ph type="ftr" sz="quarter" idx="11"/>
          </p:nvPr>
        </p:nvSpPr>
        <p:spPr/>
        <p:txBody>
          <a:bodyPr/>
          <a:lstStyle/>
          <a:p>
            <a:r>
              <a:rPr lang="en-US"/>
              <a:t>Anesthesia for VHD </a:t>
            </a:r>
          </a:p>
        </p:txBody>
      </p:sp>
      <p:sp>
        <p:nvSpPr>
          <p:cNvPr id="1049096" name="Slide Number Placeholder 5"/>
          <p:cNvSpPr>
            <a:spLocks noGrp="1"/>
          </p:cNvSpPr>
          <p:nvPr>
            <p:ph type="sldNum" sz="quarter" idx="12"/>
          </p:nvPr>
        </p:nvSpPr>
        <p:spPr/>
        <p:txBody>
          <a:bodyPr/>
          <a:lstStyle/>
          <a:p>
            <a:fld id="{124970EB-A8C4-40D2-AF81-C6C16288290E}" type="slidenum">
              <a:rPr lang="en-US" smtClean="0"/>
              <a:pPr/>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97" name="Title 1"/>
          <p:cNvSpPr>
            <a:spLocks noGrp="1"/>
          </p:cNvSpPr>
          <p:nvPr>
            <p:ph type="title"/>
          </p:nvPr>
        </p:nvSpPr>
        <p:spPr/>
        <p:txBody>
          <a:bodyPr/>
          <a:lstStyle/>
          <a:p>
            <a:r>
              <a:rPr lang="en-US" b="1" dirty="0"/>
              <a:t>Summary </a:t>
            </a:r>
          </a:p>
        </p:txBody>
      </p:sp>
      <p:sp>
        <p:nvSpPr>
          <p:cNvPr id="1049098" name="Content Placeholder 2"/>
          <p:cNvSpPr>
            <a:spLocks noGrp="1"/>
          </p:cNvSpPr>
          <p:nvPr>
            <p:ph idx="1"/>
          </p:nvPr>
        </p:nvSpPr>
        <p:spPr>
          <a:xfrm>
            <a:off x="304800" y="1143000"/>
            <a:ext cx="8839200" cy="5257800"/>
          </a:xfrm>
        </p:spPr>
        <p:txBody>
          <a:bodyPr>
            <a:normAutofit/>
          </a:bodyPr>
          <a:lstStyle/>
          <a:p>
            <a:pPr>
              <a:buFont typeface="Wingdings" pitchFamily="2" charset="2"/>
              <a:buChar char="Ü"/>
            </a:pPr>
            <a:r>
              <a:rPr lang="en-GB" dirty="0"/>
              <a:t>Management in </a:t>
            </a:r>
            <a:r>
              <a:rPr lang="en-GB" dirty="0" err="1"/>
              <a:t>perioperative</a:t>
            </a:r>
            <a:r>
              <a:rPr lang="en-GB" dirty="0"/>
              <a:t> period require understanding of hemodynamic alteration that accompanies dysfunction of cardiac valve</a:t>
            </a:r>
            <a:r>
              <a:rPr lang="en-US" dirty="0"/>
              <a:t>.</a:t>
            </a:r>
          </a:p>
          <a:p>
            <a:pPr>
              <a:buFont typeface="Wingdings" pitchFamily="2" charset="2"/>
              <a:buChar char="Ü"/>
            </a:pPr>
            <a:r>
              <a:rPr lang="en-US" dirty="0"/>
              <a:t>RA provides the least amount of alteration in </a:t>
            </a:r>
            <a:r>
              <a:rPr lang="en-US" dirty="0" err="1"/>
              <a:t>hemodynamics</a:t>
            </a:r>
            <a:r>
              <a:rPr lang="en-US" dirty="0"/>
              <a:t>, although GA  equally safe when the abrupt changes associated with </a:t>
            </a:r>
            <a:r>
              <a:rPr lang="en-US" dirty="0" err="1"/>
              <a:t>laryngoscopy</a:t>
            </a:r>
            <a:r>
              <a:rPr lang="en-US" dirty="0"/>
              <a:t>, intubation, and </a:t>
            </a:r>
            <a:r>
              <a:rPr lang="en-US" dirty="0" err="1"/>
              <a:t>extubation</a:t>
            </a:r>
            <a:r>
              <a:rPr lang="en-US" dirty="0"/>
              <a:t> are blunted by the appropriate choice of pharmacological agents and anesthetic techniques</a:t>
            </a:r>
            <a:endParaRPr lang="en-GB" dirty="0"/>
          </a:p>
        </p:txBody>
      </p:sp>
      <p:sp>
        <p:nvSpPr>
          <p:cNvPr id="1049099" name="Date Placeholder 3"/>
          <p:cNvSpPr>
            <a:spLocks noGrp="1"/>
          </p:cNvSpPr>
          <p:nvPr>
            <p:ph type="dt" sz="half" idx="10"/>
          </p:nvPr>
        </p:nvSpPr>
        <p:spPr/>
        <p:txBody>
          <a:bodyPr/>
          <a:lstStyle/>
          <a:p>
            <a:fld id="{61BCABEA-F7B2-4AD8-933E-238401977058}" type="datetime1">
              <a:rPr lang="en-US" smtClean="0"/>
              <a:t>8/9/2021</a:t>
            </a:fld>
            <a:endParaRPr lang="en-US"/>
          </a:p>
        </p:txBody>
      </p:sp>
      <p:sp>
        <p:nvSpPr>
          <p:cNvPr id="1049100" name="Footer Placeholder 4"/>
          <p:cNvSpPr>
            <a:spLocks noGrp="1"/>
          </p:cNvSpPr>
          <p:nvPr>
            <p:ph type="ftr" sz="quarter" idx="11"/>
          </p:nvPr>
        </p:nvSpPr>
        <p:spPr/>
        <p:txBody>
          <a:bodyPr/>
          <a:lstStyle/>
          <a:p>
            <a:r>
              <a:rPr lang="en-US"/>
              <a:t>Anesthesia for VHD </a:t>
            </a:r>
          </a:p>
        </p:txBody>
      </p:sp>
      <p:sp>
        <p:nvSpPr>
          <p:cNvPr id="1049101" name="Slide Number Placeholder 5"/>
          <p:cNvSpPr>
            <a:spLocks noGrp="1"/>
          </p:cNvSpPr>
          <p:nvPr>
            <p:ph type="sldNum" sz="quarter" idx="12"/>
          </p:nvPr>
        </p:nvSpPr>
        <p:spPr/>
        <p:txBody>
          <a:bodyPr/>
          <a:lstStyle/>
          <a:p>
            <a:fld id="{124970EB-A8C4-40D2-AF81-C6C16288290E}" type="slidenum">
              <a:rPr lang="en-US" smtClean="0"/>
              <a:pPr/>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02" name="Title 1"/>
          <p:cNvSpPr>
            <a:spLocks noGrp="1"/>
          </p:cNvSpPr>
          <p:nvPr>
            <p:ph type="title"/>
          </p:nvPr>
        </p:nvSpPr>
        <p:spPr/>
        <p:txBody>
          <a:bodyPr/>
          <a:lstStyle/>
          <a:p>
            <a:r>
              <a:rPr lang="en-US" dirty="0"/>
              <a:t>Cont…</a:t>
            </a:r>
          </a:p>
        </p:txBody>
      </p:sp>
      <p:sp>
        <p:nvSpPr>
          <p:cNvPr id="1049103" name="Content Placeholder 2"/>
          <p:cNvSpPr>
            <a:spLocks noGrp="1"/>
          </p:cNvSpPr>
          <p:nvPr>
            <p:ph idx="1"/>
          </p:nvPr>
        </p:nvSpPr>
        <p:spPr>
          <a:xfrm>
            <a:off x="152400" y="1219200"/>
            <a:ext cx="8991600" cy="5181600"/>
          </a:xfrm>
        </p:spPr>
        <p:txBody>
          <a:bodyPr/>
          <a:lstStyle/>
          <a:p>
            <a:pPr>
              <a:lnSpc>
                <a:spcPct val="150000"/>
              </a:lnSpc>
              <a:buBlip>
                <a:blip r:embed="rId2"/>
              </a:buBlip>
            </a:pPr>
            <a:r>
              <a:rPr lang="en-US" dirty="0"/>
              <a:t> </a:t>
            </a:r>
            <a:r>
              <a:rPr lang="en-US" dirty="0" err="1"/>
              <a:t>Pos.op.Every</a:t>
            </a:r>
            <a:r>
              <a:rPr lang="en-US" dirty="0"/>
              <a:t> cardiac pts. Should on100% 02 supplement ,get adequate ant pain ,</a:t>
            </a:r>
          </a:p>
          <a:p>
            <a:pPr>
              <a:lnSpc>
                <a:spcPct val="150000"/>
              </a:lnSpc>
              <a:buBlip>
                <a:blip r:embed="rId2"/>
              </a:buBlip>
            </a:pPr>
            <a:r>
              <a:rPr lang="en-US" dirty="0"/>
              <a:t>15-30 degree head up position.</a:t>
            </a:r>
          </a:p>
          <a:p>
            <a:pPr>
              <a:lnSpc>
                <a:spcPct val="150000"/>
              </a:lnSpc>
              <a:buBlip>
                <a:blip r:embed="rId2"/>
              </a:buBlip>
            </a:pPr>
            <a:r>
              <a:rPr lang="en-US" dirty="0"/>
              <a:t>Fluid balance should be adjusted for the particular disorder.</a:t>
            </a:r>
          </a:p>
          <a:p>
            <a:pPr>
              <a:lnSpc>
                <a:spcPct val="150000"/>
              </a:lnSpc>
              <a:buBlip>
                <a:blip r:embed="rId2"/>
              </a:buBlip>
            </a:pPr>
            <a:r>
              <a:rPr lang="en-US" dirty="0"/>
              <a:t> Ideally </a:t>
            </a:r>
            <a:r>
              <a:rPr lang="en-US" dirty="0" err="1"/>
              <a:t>normovolaemia</a:t>
            </a:r>
            <a:r>
              <a:rPr lang="en-US" dirty="0"/>
              <a:t> should be achieved </a:t>
            </a:r>
          </a:p>
          <a:p>
            <a:pPr>
              <a:lnSpc>
                <a:spcPct val="150000"/>
              </a:lnSpc>
              <a:buBlip>
                <a:blip r:embed="rId2"/>
              </a:buBlip>
            </a:pPr>
            <a:endParaRPr lang="en-US" dirty="0"/>
          </a:p>
        </p:txBody>
      </p:sp>
      <p:sp>
        <p:nvSpPr>
          <p:cNvPr id="1049104" name="Date Placeholder 3"/>
          <p:cNvSpPr>
            <a:spLocks noGrp="1"/>
          </p:cNvSpPr>
          <p:nvPr>
            <p:ph type="dt" sz="half" idx="10"/>
          </p:nvPr>
        </p:nvSpPr>
        <p:spPr/>
        <p:txBody>
          <a:bodyPr/>
          <a:lstStyle/>
          <a:p>
            <a:fld id="{6905DC45-50A8-49E4-902A-CC18E5D87DB9}" type="datetime1">
              <a:rPr lang="en-US" smtClean="0"/>
              <a:t>8/9/2021</a:t>
            </a:fld>
            <a:endParaRPr lang="en-US"/>
          </a:p>
        </p:txBody>
      </p:sp>
      <p:sp>
        <p:nvSpPr>
          <p:cNvPr id="1049105" name="Footer Placeholder 4"/>
          <p:cNvSpPr>
            <a:spLocks noGrp="1"/>
          </p:cNvSpPr>
          <p:nvPr>
            <p:ph type="ftr" sz="quarter" idx="11"/>
          </p:nvPr>
        </p:nvSpPr>
        <p:spPr/>
        <p:txBody>
          <a:bodyPr/>
          <a:lstStyle/>
          <a:p>
            <a:r>
              <a:rPr lang="en-US"/>
              <a:t>Anesthesia for VHD </a:t>
            </a:r>
            <a:endParaRPr lang="en-US" dirty="0"/>
          </a:p>
        </p:txBody>
      </p:sp>
      <p:sp>
        <p:nvSpPr>
          <p:cNvPr id="1049106" name="Slide Number Placeholder 5"/>
          <p:cNvSpPr>
            <a:spLocks noGrp="1"/>
          </p:cNvSpPr>
          <p:nvPr>
            <p:ph type="sldNum" sz="quarter" idx="12"/>
          </p:nvPr>
        </p:nvSpPr>
        <p:spPr/>
        <p:txBody>
          <a:bodyPr/>
          <a:lstStyle/>
          <a:p>
            <a:fld id="{EF8E3FA9-2733-40BA-B69A-B3E3823E6788}" type="slidenum">
              <a:rPr lang="en-US" smtClean="0"/>
              <a:pPr/>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6" name="Object 2"/>
          <p:cNvGraphicFramePr>
            <a:graphicFrameLocks noGrp="1" noChangeAspect="1"/>
          </p:cNvGraphicFramePr>
          <p:nvPr>
            <p:ph idx="1"/>
          </p:nvPr>
        </p:nvGraphicFramePr>
        <p:xfrm>
          <a:off x="304800" y="1676400"/>
          <a:ext cx="3877469" cy="4572000"/>
        </p:xfrm>
        <a:graphic>
          <a:graphicData uri="http://schemas.openxmlformats.org/presentationml/2006/ole">
            <mc:AlternateContent xmlns:mc="http://schemas.openxmlformats.org/markup-compatibility/2006">
              <mc:Choice xmlns:v="urn:schemas-microsoft-com:vml" Requires="v">
                <p:oleObj spid="_x0000_s1026" name="Clip" r:id="rId3" imgW="3025440" imgH="3252600" progId="">
                  <p:embed/>
                </p:oleObj>
              </mc:Choice>
              <mc:Fallback>
                <p:oleObj name="Clip" r:id="rId3" imgW="3025440" imgH="325260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1676400"/>
                        <a:ext cx="3877469" cy="457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5" name="Picture 2" descr="E:\msc\monitoring\new monitoring 2012\images.jpg"/>
          <p:cNvPicPr>
            <a:picLocks noChangeAspect="1" noChangeArrowheads="1"/>
          </p:cNvPicPr>
          <p:nvPr/>
        </p:nvPicPr>
        <p:blipFill>
          <a:blip r:embed="rId5"/>
          <a:srcRect/>
          <a:stretch>
            <a:fillRect/>
          </a:stretch>
        </p:blipFill>
        <p:spPr bwMode="auto">
          <a:xfrm rot="-960000">
            <a:off x="3521428" y="1348786"/>
            <a:ext cx="4835964" cy="411479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 name="Date Placeholder 1">
            <a:extLst>
              <a:ext uri="{FF2B5EF4-FFF2-40B4-BE49-F238E27FC236}">
                <a16:creationId xmlns:a16="http://schemas.microsoft.com/office/drawing/2014/main" id="{FF67D41B-07E8-4E32-B50B-21C45AD362A9}"/>
              </a:ext>
            </a:extLst>
          </p:cNvPr>
          <p:cNvSpPr>
            <a:spLocks noGrp="1"/>
          </p:cNvSpPr>
          <p:nvPr>
            <p:ph type="dt" sz="half" idx="10"/>
          </p:nvPr>
        </p:nvSpPr>
        <p:spPr/>
        <p:txBody>
          <a:bodyPr/>
          <a:lstStyle/>
          <a:p>
            <a:fld id="{51416306-52C4-4941-8C39-BB037E8B7808}" type="datetime1">
              <a:rPr lang="en-US" smtClean="0"/>
              <a:t>8/9/2021</a:t>
            </a:fld>
            <a:endParaRPr lang="en-US"/>
          </a:p>
        </p:txBody>
      </p:sp>
      <p:sp>
        <p:nvSpPr>
          <p:cNvPr id="3" name="Footer Placeholder 2">
            <a:extLst>
              <a:ext uri="{FF2B5EF4-FFF2-40B4-BE49-F238E27FC236}">
                <a16:creationId xmlns:a16="http://schemas.microsoft.com/office/drawing/2014/main" id="{801A1AA9-4DDC-49FC-9F06-7B4235FE0B14}"/>
              </a:ext>
            </a:extLst>
          </p:cNvPr>
          <p:cNvSpPr>
            <a:spLocks noGrp="1"/>
          </p:cNvSpPr>
          <p:nvPr>
            <p:ph type="ftr" sz="quarter" idx="11"/>
          </p:nvPr>
        </p:nvSpPr>
        <p:spPr/>
        <p:txBody>
          <a:bodyPr/>
          <a:lstStyle/>
          <a:p>
            <a:r>
              <a:rPr lang="en-US"/>
              <a:t>Anesthesia for VHD </a:t>
            </a:r>
          </a:p>
        </p:txBody>
      </p:sp>
      <p:sp>
        <p:nvSpPr>
          <p:cNvPr id="4" name="Slide Number Placeholder 3">
            <a:extLst>
              <a:ext uri="{FF2B5EF4-FFF2-40B4-BE49-F238E27FC236}">
                <a16:creationId xmlns:a16="http://schemas.microsoft.com/office/drawing/2014/main" id="{955A138A-5DE9-493A-8BEA-6DD2664F89A2}"/>
              </a:ext>
            </a:extLst>
          </p:cNvPr>
          <p:cNvSpPr>
            <a:spLocks noGrp="1"/>
          </p:cNvSpPr>
          <p:nvPr>
            <p:ph type="sldNum" sz="quarter" idx="12"/>
          </p:nvPr>
        </p:nvSpPr>
        <p:spPr/>
        <p:txBody>
          <a:bodyPr/>
          <a:lstStyle/>
          <a:p>
            <a:fld id="{81D9AF01-45F5-44F6-94C9-E46484F8FCE6}" type="slidenum">
              <a:rPr lang="en-US" smtClean="0"/>
              <a:pPr/>
              <a:t>100</a:t>
            </a:fld>
            <a:endParaRPr lang="en-US"/>
          </a:p>
        </p:txBody>
      </p:sp>
    </p:spTree>
  </p:cSld>
  <p:clrMapOvr>
    <a:masterClrMapping/>
  </p:clrMapOvr>
  <p:transition>
    <p:sndAc>
      <p:stSnd>
        <p:snd r:embed="rId2" name="applause.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347</TotalTime>
  <Words>4554</Words>
  <Application>Microsoft Office PowerPoint</Application>
  <PresentationFormat>On-screen Show (4:3)</PresentationFormat>
  <Paragraphs>817</Paragraphs>
  <Slides>100</Slides>
  <Notes>42</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100</vt:i4>
      </vt:variant>
    </vt:vector>
  </HeadingPairs>
  <TitlesOfParts>
    <vt:vector size="106" baseType="lpstr">
      <vt:lpstr>Arial</vt:lpstr>
      <vt:lpstr>Calibri</vt:lpstr>
      <vt:lpstr>Monotype Corsiva</vt:lpstr>
      <vt:lpstr>Wingdings</vt:lpstr>
      <vt:lpstr>Office Theme</vt:lpstr>
      <vt:lpstr>Clip</vt:lpstr>
      <vt:lpstr>Anesthesia for valvular heart disease </vt:lpstr>
      <vt:lpstr>Objectives </vt:lpstr>
      <vt:lpstr>Key 1 </vt:lpstr>
      <vt:lpstr>Cont….</vt:lpstr>
      <vt:lpstr>Cont….</vt:lpstr>
      <vt:lpstr>Cont….</vt:lpstr>
      <vt:lpstr>Definition </vt:lpstr>
      <vt:lpstr>Cont…</vt:lpstr>
      <vt:lpstr>Cont…</vt:lpstr>
      <vt:lpstr>General  preoperative Evaluation of Patients</vt:lpstr>
      <vt:lpstr>Cont…</vt:lpstr>
      <vt:lpstr>Cont... </vt:lpstr>
      <vt:lpstr>Cont…</vt:lpstr>
      <vt:lpstr>PowerPoint Presentation</vt:lpstr>
      <vt:lpstr>PowerPoint Presentation</vt:lpstr>
      <vt:lpstr>Cont….</vt:lpstr>
      <vt:lpstr>PowerPoint Presentation</vt:lpstr>
      <vt:lpstr>Cont…</vt:lpstr>
      <vt:lpstr>Cont… </vt:lpstr>
      <vt:lpstr>Cont…</vt:lpstr>
      <vt:lpstr>Laboratory Evaluation</vt:lpstr>
      <vt:lpstr>Investigation </vt:lpstr>
      <vt:lpstr>Cont…</vt:lpstr>
      <vt:lpstr>cont….</vt:lpstr>
      <vt:lpstr>Intraoperative monitoring  </vt:lpstr>
      <vt:lpstr>Aortic stenosis</vt:lpstr>
      <vt:lpstr>Cont…</vt:lpstr>
      <vt:lpstr>Cont…</vt:lpstr>
      <vt:lpstr>Cont…</vt:lpstr>
      <vt:lpstr>ETIOLOGY AND PATHOGENESIS</vt:lpstr>
      <vt:lpstr>PATHOPHYSIOLOGY</vt:lpstr>
      <vt:lpstr>Cont…</vt:lpstr>
      <vt:lpstr>Cont…</vt:lpstr>
      <vt:lpstr>Cont….</vt:lpstr>
      <vt:lpstr>LABORATORY EXAMINATION</vt:lpstr>
      <vt:lpstr>Cont…</vt:lpstr>
      <vt:lpstr>TREATMENT</vt:lpstr>
      <vt:lpstr>Cont….</vt:lpstr>
      <vt:lpstr>Anesthesia consideration for AS</vt:lpstr>
      <vt:lpstr>Anesthetic Considerations</vt:lpstr>
      <vt:lpstr>Cont….</vt:lpstr>
      <vt:lpstr>Anesthesia managements for AS</vt:lpstr>
      <vt:lpstr>PowerPoint Presentation</vt:lpstr>
      <vt:lpstr>Choice of anesthesia</vt:lpstr>
      <vt:lpstr>Aortic regurgitation </vt:lpstr>
      <vt:lpstr>Etiology  </vt:lpstr>
      <vt:lpstr>PATHOPHYSIOLOGY</vt:lpstr>
      <vt:lpstr>major hemodynamic compensation for AR </vt:lpstr>
      <vt:lpstr>Pathophysiology </vt:lpstr>
      <vt:lpstr>Cont….</vt:lpstr>
      <vt:lpstr>CONT….</vt:lpstr>
      <vt:lpstr>Cont….</vt:lpstr>
      <vt:lpstr>Cont…</vt:lpstr>
      <vt:lpstr>Signs and symptoms </vt:lpstr>
      <vt:lpstr>Cont…</vt:lpstr>
      <vt:lpstr>Cont…</vt:lpstr>
      <vt:lpstr>LABORATORY EXAMINATION</vt:lpstr>
      <vt:lpstr>Treatment of AR </vt:lpstr>
      <vt:lpstr>Anesthesia consideration </vt:lpstr>
      <vt:lpstr>Anesthesia management  </vt:lpstr>
      <vt:lpstr>Choice of anesthesia </vt:lpstr>
      <vt:lpstr>Postoperative management </vt:lpstr>
      <vt:lpstr>PowerPoint Presentation</vt:lpstr>
      <vt:lpstr>Mitral stenosis </vt:lpstr>
      <vt:lpstr>Mitral stenosis</vt:lpstr>
      <vt:lpstr>Pathophysiology </vt:lpstr>
      <vt:lpstr>Cont…</vt:lpstr>
      <vt:lpstr>Cont…</vt:lpstr>
      <vt:lpstr>Cont…</vt:lpstr>
      <vt:lpstr>CONT…</vt:lpstr>
      <vt:lpstr>Signs and symptoms</vt:lpstr>
      <vt:lpstr>Cont…</vt:lpstr>
      <vt:lpstr>Treatment</vt:lpstr>
      <vt:lpstr>Anesthesia management </vt:lpstr>
      <vt:lpstr>Anesthesia consideration </vt:lpstr>
      <vt:lpstr>Cont….</vt:lpstr>
      <vt:lpstr>Cont…</vt:lpstr>
      <vt:lpstr>2007, J. Anaesth</vt:lpstr>
      <vt:lpstr>Choice of anesthesia </vt:lpstr>
      <vt:lpstr>Cont….</vt:lpstr>
      <vt:lpstr>Mitral Regurtation </vt:lpstr>
      <vt:lpstr>Etiology </vt:lpstr>
      <vt:lpstr>PATHOPHYSIOLOGY</vt:lpstr>
      <vt:lpstr>Cont….</vt:lpstr>
      <vt:lpstr>Cont….</vt:lpstr>
      <vt:lpstr>Signs and symptoms MR</vt:lpstr>
      <vt:lpstr>Cont….</vt:lpstr>
      <vt:lpstr>Cont…</vt:lpstr>
      <vt:lpstr>Cont…</vt:lpstr>
      <vt:lpstr>TREATMENT  </vt:lpstr>
      <vt:lpstr>Cont…</vt:lpstr>
      <vt:lpstr>Anesthesia consideration of MR</vt:lpstr>
      <vt:lpstr>Cont….</vt:lpstr>
      <vt:lpstr>Anesthesia management</vt:lpstr>
      <vt:lpstr>Cont….</vt:lpstr>
      <vt:lpstr>Choice of anesthesia </vt:lpstr>
      <vt:lpstr>Cont…</vt:lpstr>
      <vt:lpstr>Summary </vt:lpstr>
      <vt:lpstr>Cont…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Anesthesia for valvular heart disease </dc:title>
  <dc:creator>Dell Series</dc:creator>
  <cp:lastModifiedBy>Admin</cp:lastModifiedBy>
  <cp:revision>45</cp:revision>
  <dcterms:created xsi:type="dcterms:W3CDTF">2019-12-10T19:26:31Z</dcterms:created>
  <dcterms:modified xsi:type="dcterms:W3CDTF">2021-08-09T14:07:54Z</dcterms:modified>
</cp:coreProperties>
</file>