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av" ContentType="audio/wav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3" r:id="rId1"/>
  </p:sldMasterIdLst>
  <p:notesMasterIdLst>
    <p:notesMasterId r:id="rId132"/>
  </p:notesMasterIdLst>
  <p:sldIdLst>
    <p:sldId id="282" r:id="rId2"/>
    <p:sldId id="281" r:id="rId3"/>
    <p:sldId id="257" r:id="rId4"/>
    <p:sldId id="258" r:id="rId5"/>
    <p:sldId id="259" r:id="rId6"/>
    <p:sldId id="260" r:id="rId7"/>
    <p:sldId id="261" r:id="rId8"/>
    <p:sldId id="264" r:id="rId9"/>
    <p:sldId id="265" r:id="rId10"/>
    <p:sldId id="266" r:id="rId11"/>
    <p:sldId id="283" r:id="rId12"/>
    <p:sldId id="268" r:id="rId13"/>
    <p:sldId id="267" r:id="rId14"/>
    <p:sldId id="263" r:id="rId15"/>
    <p:sldId id="276" r:id="rId16"/>
    <p:sldId id="277" r:id="rId17"/>
    <p:sldId id="275" r:id="rId18"/>
    <p:sldId id="274" r:id="rId19"/>
    <p:sldId id="278" r:id="rId20"/>
    <p:sldId id="269" r:id="rId21"/>
    <p:sldId id="396" r:id="rId22"/>
    <p:sldId id="395" r:id="rId23"/>
    <p:sldId id="397" r:id="rId24"/>
    <p:sldId id="398" r:id="rId25"/>
    <p:sldId id="399" r:id="rId26"/>
    <p:sldId id="400" r:id="rId27"/>
    <p:sldId id="401" r:id="rId28"/>
    <p:sldId id="402" r:id="rId29"/>
    <p:sldId id="279" r:id="rId30"/>
    <p:sldId id="271" r:id="rId31"/>
    <p:sldId id="403" r:id="rId32"/>
    <p:sldId id="287" r:id="rId33"/>
    <p:sldId id="272" r:id="rId34"/>
    <p:sldId id="270" r:id="rId35"/>
    <p:sldId id="406" r:id="rId36"/>
    <p:sldId id="407" r:id="rId37"/>
    <p:sldId id="404" r:id="rId38"/>
    <p:sldId id="354" r:id="rId39"/>
    <p:sldId id="405" r:id="rId40"/>
    <p:sldId id="288" r:id="rId41"/>
    <p:sldId id="289" r:id="rId42"/>
    <p:sldId id="353" r:id="rId43"/>
    <p:sldId id="355" r:id="rId44"/>
    <p:sldId id="360" r:id="rId45"/>
    <p:sldId id="391" r:id="rId46"/>
    <p:sldId id="361" r:id="rId47"/>
    <p:sldId id="362" r:id="rId48"/>
    <p:sldId id="363" r:id="rId49"/>
    <p:sldId id="364" r:id="rId50"/>
    <p:sldId id="365" r:id="rId51"/>
    <p:sldId id="366" r:id="rId52"/>
    <p:sldId id="367" r:id="rId53"/>
    <p:sldId id="359" r:id="rId54"/>
    <p:sldId id="325" r:id="rId55"/>
    <p:sldId id="369" r:id="rId56"/>
    <p:sldId id="356" r:id="rId57"/>
    <p:sldId id="368" r:id="rId58"/>
    <p:sldId id="370" r:id="rId59"/>
    <p:sldId id="357" r:id="rId60"/>
    <p:sldId id="371" r:id="rId61"/>
    <p:sldId id="328" r:id="rId62"/>
    <p:sldId id="326" r:id="rId63"/>
    <p:sldId id="327" r:id="rId64"/>
    <p:sldId id="329" r:id="rId65"/>
    <p:sldId id="330" r:id="rId66"/>
    <p:sldId id="334" r:id="rId67"/>
    <p:sldId id="358" r:id="rId68"/>
    <p:sldId id="372" r:id="rId69"/>
    <p:sldId id="335" r:id="rId70"/>
    <p:sldId id="336" r:id="rId71"/>
    <p:sldId id="337" r:id="rId72"/>
    <p:sldId id="341" r:id="rId73"/>
    <p:sldId id="342" r:id="rId74"/>
    <p:sldId id="343" r:id="rId75"/>
    <p:sldId id="344" r:id="rId76"/>
    <p:sldId id="345" r:id="rId77"/>
    <p:sldId id="346" r:id="rId78"/>
    <p:sldId id="374" r:id="rId79"/>
    <p:sldId id="347" r:id="rId80"/>
    <p:sldId id="348" r:id="rId81"/>
    <p:sldId id="349" r:id="rId82"/>
    <p:sldId id="375" r:id="rId83"/>
    <p:sldId id="376" r:id="rId84"/>
    <p:sldId id="377" r:id="rId85"/>
    <p:sldId id="378" r:id="rId86"/>
    <p:sldId id="379" r:id="rId87"/>
    <p:sldId id="380" r:id="rId88"/>
    <p:sldId id="381" r:id="rId89"/>
    <p:sldId id="382" r:id="rId90"/>
    <p:sldId id="383" r:id="rId91"/>
    <p:sldId id="384" r:id="rId92"/>
    <p:sldId id="387" r:id="rId93"/>
    <p:sldId id="385" r:id="rId94"/>
    <p:sldId id="386" r:id="rId95"/>
    <p:sldId id="388" r:id="rId96"/>
    <p:sldId id="389" r:id="rId97"/>
    <p:sldId id="390" r:id="rId98"/>
    <p:sldId id="291" r:id="rId99"/>
    <p:sldId id="292" r:id="rId100"/>
    <p:sldId id="293" r:id="rId101"/>
    <p:sldId id="294" r:id="rId102"/>
    <p:sldId id="392" r:id="rId103"/>
    <p:sldId id="323" r:id="rId104"/>
    <p:sldId id="324" r:id="rId105"/>
    <p:sldId id="321" r:id="rId106"/>
    <p:sldId id="322" r:id="rId107"/>
    <p:sldId id="393" r:id="rId108"/>
    <p:sldId id="296" r:id="rId109"/>
    <p:sldId id="306" r:id="rId110"/>
    <p:sldId id="297" r:id="rId111"/>
    <p:sldId id="298" r:id="rId112"/>
    <p:sldId id="299" r:id="rId113"/>
    <p:sldId id="300" r:id="rId114"/>
    <p:sldId id="301" r:id="rId115"/>
    <p:sldId id="302" r:id="rId116"/>
    <p:sldId id="312" r:id="rId117"/>
    <p:sldId id="303" r:id="rId118"/>
    <p:sldId id="313" r:id="rId119"/>
    <p:sldId id="394" r:id="rId120"/>
    <p:sldId id="308" r:id="rId121"/>
    <p:sldId id="350" r:id="rId122"/>
    <p:sldId id="351" r:id="rId123"/>
    <p:sldId id="352" r:id="rId124"/>
    <p:sldId id="317" r:id="rId125"/>
    <p:sldId id="314" r:id="rId126"/>
    <p:sldId id="315" r:id="rId127"/>
    <p:sldId id="304" r:id="rId128"/>
    <p:sldId id="305" r:id="rId129"/>
    <p:sldId id="290" r:id="rId130"/>
    <p:sldId id="284" r:id="rId1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6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notesMaster" Target="notesMasters/notesMaster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AD44A-DB9F-4F1C-B28B-3C79F14705FF}" type="datetimeFigureOut">
              <a:rPr lang="en-US" smtClean="0"/>
              <a:pPr/>
              <a:t>10/28/2024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DCC17D-F858-4A93-A565-9B9F3C6BE8D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445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DCC17D-F858-4A93-A565-9B9F3C6BE8D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1385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Decreased sympathetic activity as a consequence of the anesthetized state can lead to </a:t>
            </a:r>
            <a:r>
              <a:rPr lang="en-US" b="1" dirty="0"/>
              <a:t>acute circulatory collapse.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DCC17D-F858-4A93-A565-9B9F3C6BE8D4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5113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Even anesthetics that </a:t>
            </a:r>
            <a:r>
              <a:rPr lang="en-US" b="1" dirty="0"/>
              <a:t>have</a:t>
            </a:r>
            <a:r>
              <a:rPr lang="en-US" dirty="0"/>
              <a:t> </a:t>
            </a:r>
            <a:r>
              <a:rPr lang="en-US" b="1" dirty="0"/>
              <a:t>no</a:t>
            </a:r>
            <a:r>
              <a:rPr lang="en-US" dirty="0"/>
              <a:t> </a:t>
            </a:r>
            <a:r>
              <a:rPr lang="en-US" b="1" dirty="0"/>
              <a:t>direct</a:t>
            </a:r>
            <a:r>
              <a:rPr lang="en-US" dirty="0"/>
              <a:t> </a:t>
            </a:r>
            <a:r>
              <a:rPr lang="en-US" b="1" dirty="0"/>
              <a:t>circulatory</a:t>
            </a:r>
            <a:r>
              <a:rPr lang="en-US" dirty="0"/>
              <a:t> </a:t>
            </a:r>
            <a:r>
              <a:rPr lang="en-US" b="1" dirty="0"/>
              <a:t>effects</a:t>
            </a:r>
            <a:r>
              <a:rPr lang="en-US" dirty="0"/>
              <a:t> may cause apparent circulatory depression in severely compromised patients who are dependent on the enhanced sympathetic activity </a:t>
            </a:r>
            <a:r>
              <a:rPr lang="en-US" dirty="0" err="1"/>
              <a:t>Xic</a:t>
            </a:r>
            <a:r>
              <a:rPr lang="en-US" dirty="0"/>
              <a:t> of HF or acute blood loss.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DCC17D-F858-4A93-A565-9B9F3C6BE8D4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3757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68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sz="1600" b="1" dirty="0"/>
              <a:t>This graph depicts LVPV Relationship  during cardiac cycle. </a:t>
            </a:r>
          </a:p>
          <a:p>
            <a:r>
              <a:rPr lang="en-US" sz="1600" b="1" dirty="0"/>
              <a:t>A:</a:t>
            </a:r>
            <a:r>
              <a:rPr lang="en-US" sz="1600" b="1" baseline="0" dirty="0"/>
              <a:t> E</a:t>
            </a:r>
            <a:r>
              <a:rPr lang="en-US" sz="1600" b="1" dirty="0"/>
              <a:t>nd systolic volume </a:t>
            </a:r>
          </a:p>
          <a:p>
            <a:r>
              <a:rPr lang="en-US" sz="1600" b="1" dirty="0"/>
              <a:t>B:</a:t>
            </a:r>
            <a:r>
              <a:rPr lang="en-US" sz="1600" b="1" baseline="0" dirty="0"/>
              <a:t> E</a:t>
            </a:r>
            <a:r>
              <a:rPr lang="en-US" sz="1600" b="1" dirty="0"/>
              <a:t>nd</a:t>
            </a:r>
            <a:r>
              <a:rPr lang="en-US" sz="1600" b="1" baseline="0" dirty="0"/>
              <a:t> diastolic volume </a:t>
            </a:r>
            <a:endParaRPr lang="en-US" sz="1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C675D3-D64D-4070-848A-20ECD5AF7F64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7294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 failure: systolic dysfunction and diastolic dysfunction. The most common causes of systolic dysfunction (defined by a left-ventricular ejection fraction of  50%) are ischemic heart disease, idiopathic dilated </a:t>
            </a:r>
            <a:r>
              <a:rPr lang="en-US" dirty="0" err="1"/>
              <a:t>cardiomyopathy</a:t>
            </a:r>
            <a:r>
              <a:rPr lang="en-US" dirty="0"/>
              <a:t>, hypertension, and </a:t>
            </a:r>
            <a:r>
              <a:rPr lang="en-US" dirty="0" err="1"/>
              <a:t>valvular</a:t>
            </a:r>
            <a:r>
              <a:rPr lang="en-US" dirty="0"/>
              <a:t> heart disease. Diastolic dysfunction (defined as dysfunction of left-ventricular filling with preserved systolic function) may occur in up to 40–50% of patients with heart failure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DCC17D-F858-4A93-A565-9B9F3C6BE8D4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1238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hallmark of AHF is congestion. Congestion is either peripheral, characterized by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DCC17D-F858-4A93-A565-9B9F3C6BE8D4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7766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Patients unable to sustain 4 ‘metabolic equivalents’ (climbing a flight of stairs) are particularly at risk for perioperative complications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6EA1D9-2321-493F-BECC-F880357DDE5E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0348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Normal:60-80%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6EA1D9-2321-493F-BECC-F880357DDE5E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4174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Other blood tests which may reveal aggravating factors include liver and thyroid function tests and glucose.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6EA1D9-2321-493F-BECC-F880357DDE5E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3784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</a:t>
            </a:r>
            <a:r>
              <a:rPr lang="en-US" b="1" dirty="0"/>
              <a:t>increased HR </a:t>
            </a:r>
            <a:r>
              <a:rPr lang="en-US" dirty="0"/>
              <a:t>is more likely than systemic HTN to produce signs of </a:t>
            </a:r>
            <a:r>
              <a:rPr lang="en-US" b="1" dirty="0"/>
              <a:t>myocardial ischemia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DCC17D-F858-4A93-A565-9B9F3C6BE8D4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1403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/>
              <a:t>)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ED204F-12D1-451D-9EC3-525C6EC710C5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5240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&gt;1/3 of the QRS complex length)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&gt;1 mm from baseline </a:t>
            </a:r>
            <a:r>
              <a:rPr lang="en-US" dirty="0"/>
              <a:t>in case</a:t>
            </a:r>
            <a:endParaRPr lang="en-US" i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ED204F-12D1-451D-9EC3-525C6EC710C5}" type="slidenum">
              <a:rPr lang="en-US" smtClean="0"/>
              <a:pPr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8268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Induction of anesthesia is acceptably accomplished with the IV administration of rapidly acting drugs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DCC17D-F858-4A93-A565-9B9F3C6BE8D4}" type="slidenum">
              <a:rPr lang="en-US" smtClean="0"/>
              <a:pPr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0847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Opioids</a:t>
            </a:r>
            <a:r>
              <a:rPr lang="en-US" dirty="0"/>
              <a:t> may be selected as the primary anesthetic in patients with compromised LV function.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DCC17D-F858-4A93-A565-9B9F3C6BE8D4}" type="slidenum">
              <a:rPr lang="en-US" smtClean="0"/>
              <a:pPr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9880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dirty="0"/>
              <a:t>Concomitant coronary artery disease should be evaluated-Myocardial ischemia may present in patients with severe aortic </a:t>
            </a:r>
            <a:r>
              <a:rPr lang="en-US" dirty="0" err="1"/>
              <a:t>stenosis</a:t>
            </a:r>
            <a:r>
              <a:rPr lang="en-US" dirty="0"/>
              <a:t> or regurgitation.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DCC17D-F858-4A93-A565-9B9F3C6BE8D4}" type="slidenum">
              <a:rPr lang="en-US" smtClean="0"/>
              <a:pPr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6002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</a:t>
            </a:r>
            <a:r>
              <a:rPr lang="en-US" dirty="0" err="1"/>
              <a:t>ventQuestions</a:t>
            </a:r>
            <a:r>
              <a:rPr lang="en-US" dirty="0"/>
              <a:t> should concern </a:t>
            </a:r>
            <a:r>
              <a:rPr lang="en-US" dirty="0">
                <a:solidFill>
                  <a:srgbClr val="00B0F0"/>
                </a:solidFill>
              </a:rPr>
              <a:t>exercise tolerance, fatigability, and pedal edema and shortness of breath in general, when lying flat, or at </a:t>
            </a:r>
            <a:r>
              <a:rPr lang="en-US" dirty="0" err="1">
                <a:solidFill>
                  <a:srgbClr val="00B0F0"/>
                </a:solidFill>
              </a:rPr>
              <a:t>night</a:t>
            </a:r>
            <a:r>
              <a:rPr lang="en-US" sz="1200" dirty="0" err="1">
                <a:latin typeface="Calibri" pitchFamily="34" charset="0"/>
              </a:rPr>
              <a:t>Inquire</a:t>
            </a:r>
            <a:r>
              <a:rPr lang="en-US" sz="1200" dirty="0">
                <a:latin typeface="Calibri" pitchFamily="34" charset="0"/>
              </a:rPr>
              <a:t> about chest pains and neurologic symptoms prior to  procedures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srgbClr val="00B0F0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DCC17D-F858-4A93-A565-9B9F3C6BE8D4}" type="slidenum">
              <a:rPr lang="en-US" smtClean="0"/>
              <a:pPr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2220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N.B.</a:t>
            </a:r>
            <a:r>
              <a:rPr lang="en-US" dirty="0"/>
              <a:t> </a:t>
            </a:r>
            <a:r>
              <a:rPr lang="en-US" sz="1200" dirty="0" err="1"/>
              <a:t>perioperative</a:t>
            </a:r>
            <a:r>
              <a:rPr lang="en-US" sz="1200" dirty="0"/>
              <a:t> cardiac and long-term risk is higher in patients unable to perform 4 METs of work during daily activities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DCC17D-F858-4A93-A565-9B9F3C6BE8D4}" type="slidenum">
              <a:rPr lang="en-US" smtClean="0"/>
              <a:pPr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964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Uses 6 independent predictors of major cardiac complications for</a:t>
            </a:r>
            <a:r>
              <a:rPr lang="en-US" baseline="0" dirty="0"/>
              <a:t> </a:t>
            </a:r>
            <a:r>
              <a:rPr lang="en-US" dirty="0"/>
              <a:t>patients undergoing elective non cardiac surgery. 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DCC17D-F858-4A93-A565-9B9F3C6BE8D4}" type="slidenum">
              <a:rPr lang="en-US" smtClean="0"/>
              <a:pPr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617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1AF6F-F994-4EA1-AE9D-9F8F69AD3294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AE2AF-0B28-49C3-B8E5-A13FCE7B5F38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7BD49-7742-4534-8C3E-16E0B0FEE7CE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462C9-5ACA-4C37-A789-EF8C431EEA47}" type="datetime1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006CA-CF97-4A91-A9E2-B5861DD446ED}" type="datetime1">
              <a:rPr lang="en-US" smtClean="0"/>
              <a:t>10/28/2024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1DE03-EAD9-4724-8875-7972DF57A508}" type="datetime1">
              <a:rPr lang="en-US" smtClean="0"/>
              <a:t>10/28/2024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646A9-CD8A-43C1-AD88-CFE1BF63EA4D}" type="datetime1">
              <a:rPr lang="en-US" smtClean="0"/>
              <a:t>10/28/2024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8C3A6-D4AB-4B95-A387-BF679CB44DD5}" type="datetime1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3F2C8-EC7A-4ED1-9FD3-ACF25394900E}" type="datetime1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65141-F18A-4A42-A9B1-9023037D9CCD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16C8B-FF00-4FF1-A9B6-7E7A8B426CE3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C80FF0-D2DB-4F93-9B58-7BBE3001135F}" type="datetime1">
              <a:rPr lang="en-US" altLang="en-US" smtClean="0"/>
              <a:t>10/28/2024</a:t>
            </a:fld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Anesthesia for Cardiac surgery 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75A53D-4435-447B-8C10-A0587C3F89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41E215-264A-4353-BC24-D342842640A7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60899A-8D29-4C05-94B4-ADE9D09EECB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gif"/><Relationship Id="rId4" Type="http://schemas.openxmlformats.org/officeDocument/2006/relationships/image" Target="../media/image5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gi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29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gi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gi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gi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gif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gif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gif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gif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gif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6.gif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image" Target="../media/image56.gif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gif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gif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gif"/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gif"/><Relationship Id="rId1" Type="http://schemas.openxmlformats.org/officeDocument/2006/relationships/slideLayout" Target="../slideLayouts/slideLayout1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Title 1"/>
          <p:cNvSpPr>
            <a:spLocks noGrp="1"/>
          </p:cNvSpPr>
          <p:nvPr>
            <p:ph type="ctrTitle"/>
          </p:nvPr>
        </p:nvSpPr>
        <p:spPr>
          <a:xfrm rot="-420000">
            <a:off x="857968" y="3460253"/>
            <a:ext cx="6766560" cy="1853316"/>
          </a:xfr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US" sz="72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Anesthesia for Cardiac </a:t>
            </a:r>
            <a:r>
              <a:rPr lang="en-US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Illness</a:t>
            </a:r>
            <a:endParaRPr lang="en-US" sz="72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600200" y="5562600"/>
            <a:ext cx="5867400" cy="381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  <a:scene3d>
              <a:camera prst="perspectiveContrastingRightFacing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j-lt"/>
                <a:ea typeface="+mj-ea"/>
                <a:cs typeface="+mj-cs"/>
              </a:rPr>
              <a:t>By :</a:t>
            </a:r>
            <a:r>
              <a:rPr lang="en-US" sz="4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j-lt"/>
                <a:ea typeface="+mj-ea"/>
                <a:cs typeface="+mj-cs"/>
              </a:rPr>
              <a:t>Biruk T</a:t>
            </a:r>
            <a:r>
              <a:rPr kumimoji="0" lang="en-US" sz="4400" b="1" i="0" u="none" strike="noStrike" kern="1200" normalizeH="0" baseline="0" noProof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 </a:t>
            </a:r>
            <a:endParaRPr kumimoji="0" lang="en-US" sz="4000" b="1" i="0" u="none" strike="noStrike" kern="1200" normalizeH="0" baseline="0" noProof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Administrator\Downloads\image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57199"/>
            <a:ext cx="9144000" cy="574534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Objectives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638800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dirty="0"/>
              <a:t>At the end of this session the students will able </a:t>
            </a:r>
          </a:p>
          <a:p>
            <a:pPr>
              <a:lnSpc>
                <a:spcPct val="150000"/>
              </a:lnSpc>
            </a:pPr>
            <a:r>
              <a:rPr lang="en-US" dirty="0"/>
              <a:t> </a:t>
            </a:r>
            <a:r>
              <a:rPr lang="en-US" sz="2800" dirty="0"/>
              <a:t>explain  functional anatomy of heart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Describe pathophysiology of common valvular cardiac lesion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Describe anesthesia consideration of VHD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Discuss perioperative approach to cardiac patients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Identify risk factors for perioperative mortality and morbidity for cardiac patients coming for cardiac surgery and non cardiac surgery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510A7-480E-4F43-9867-3B8E68AE40FF}" type="datetime1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/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839200" cy="54864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Describe </a:t>
            </a:r>
            <a:r>
              <a:rPr lang="en-US" sz="2800" dirty="0" err="1"/>
              <a:t>pathophysiology</a:t>
            </a:r>
            <a:r>
              <a:rPr lang="en-US" sz="2800" dirty="0"/>
              <a:t>  of congenital heart disease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Explain anesthesia management for CHD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Discuss anesthesia consideration for IHD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Describe anesthesia management for cardiopulmonary by pass </a:t>
            </a:r>
          </a:p>
          <a:p>
            <a:pPr>
              <a:lnSpc>
                <a:spcPct val="150000"/>
              </a:lnSpc>
            </a:pPr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F34CA-B497-494C-B9DE-FA6A5BB31AA1}" type="datetime1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/>
              <a:t>Outline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686800" cy="57150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2800" dirty="0"/>
              <a:t>Introduction </a:t>
            </a:r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2800" dirty="0"/>
              <a:t>Functional Anatomy </a:t>
            </a:r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2800" dirty="0"/>
              <a:t>Heart failure </a:t>
            </a:r>
            <a:r>
              <a:rPr lang="en-US" sz="2800" dirty="0" err="1"/>
              <a:t>pathophysiology</a:t>
            </a:r>
            <a:endParaRPr lang="en-US" sz="2800" dirty="0"/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2800" dirty="0"/>
              <a:t>Perioperative anesthesia approach</a:t>
            </a:r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2800" dirty="0"/>
              <a:t> IHD and anesthesia management  </a:t>
            </a:r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2800" dirty="0"/>
              <a:t>VHD and anesthesia management</a:t>
            </a:r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2800" dirty="0"/>
              <a:t>CHD and anesthesia management</a:t>
            </a:r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2800" dirty="0"/>
              <a:t>Anesthesia for CPB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F27B5-F273-40BA-B053-BE2E86B5095F}" type="datetime1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686800" cy="52578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2800" dirty="0"/>
              <a:t>The heart is an </a:t>
            </a:r>
            <a:r>
              <a:rPr lang="en-US" sz="2800" i="1" dirty="0"/>
              <a:t>electrically </a:t>
            </a:r>
            <a:r>
              <a:rPr lang="en-US" sz="2800" i="1" dirty="0">
                <a:solidFill>
                  <a:srgbClr val="FF0000"/>
                </a:solidFill>
              </a:rPr>
              <a:t>self-actuated</a:t>
            </a:r>
            <a:r>
              <a:rPr lang="en-US" sz="2800" i="1" dirty="0"/>
              <a:t>, </a:t>
            </a:r>
            <a:r>
              <a:rPr lang="en-US" sz="2800" i="1" dirty="0" err="1">
                <a:solidFill>
                  <a:srgbClr val="FF0000"/>
                </a:solidFill>
              </a:rPr>
              <a:t>phasic</a:t>
            </a:r>
            <a:r>
              <a:rPr lang="en-US" sz="2800" i="1" dirty="0">
                <a:solidFill>
                  <a:srgbClr val="FF0000"/>
                </a:solidFill>
              </a:rPr>
              <a:t>, variable speed</a:t>
            </a:r>
            <a:r>
              <a:rPr lang="en-US" sz="2800" i="1" dirty="0"/>
              <a:t>, </a:t>
            </a:r>
            <a:r>
              <a:rPr lang="en-US" sz="2800" i="1" dirty="0">
                <a:solidFill>
                  <a:srgbClr val="FF0000"/>
                </a:solidFill>
              </a:rPr>
              <a:t>hydraulic pump </a:t>
            </a:r>
            <a:r>
              <a:rPr lang="en-US" sz="2800" i="1" dirty="0"/>
              <a:t>composed of two dual-component, elastic muscular chambers</a:t>
            </a:r>
            <a:r>
              <a:rPr lang="en-US" sz="2800" dirty="0"/>
              <a:t>, each consisting of an atrium and a ventricle, connected in series that simultaneously provide an equal quantity of blood to the pulmonary and systemic circulations. </a:t>
            </a:r>
          </a:p>
          <a:p>
            <a:pPr>
              <a:lnSpc>
                <a:spcPct val="150000"/>
              </a:lnSpc>
              <a:buBlip>
                <a:blip r:embed="rId2"/>
              </a:buBlip>
            </a:pPr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B76C8-BE2F-4B8D-8D2A-C14582EBEB45}" type="datetime1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Anesthesia for Cardiac surgery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dirty="0"/>
              <a:t>Cont….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8763000" cy="52578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2800" dirty="0"/>
              <a:t>Cardiovascular complications account for 25% to 50% of deaths following </a:t>
            </a:r>
            <a:r>
              <a:rPr lang="en-US" sz="2800" dirty="0" err="1"/>
              <a:t>noncardiac</a:t>
            </a:r>
            <a:r>
              <a:rPr lang="en-US" sz="2800" dirty="0"/>
              <a:t> surgery.</a:t>
            </a:r>
          </a:p>
          <a:p>
            <a:pPr>
              <a:lnSpc>
                <a:spcPct val="150000"/>
              </a:lnSpc>
              <a:buBlip>
                <a:blip r:embed="rId2"/>
              </a:buBlip>
            </a:pPr>
            <a:endParaRPr lang="en-US" sz="2800" b="1" i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2800" b="1" i="1" dirty="0">
                <a:solidFill>
                  <a:srgbClr val="FF0000"/>
                </a:solidFill>
              </a:rPr>
              <a:t>Hypertensive, ischemic, congenital, and VHD</a:t>
            </a:r>
            <a:r>
              <a:rPr lang="en-US" sz="2800" dirty="0"/>
              <a:t>— are among the medical illnesses most frequently encountered in anesthetic practice and are a major cause of </a:t>
            </a:r>
            <a:r>
              <a:rPr lang="en-US" sz="2800" dirty="0" err="1"/>
              <a:t>perioperative</a:t>
            </a:r>
            <a:r>
              <a:rPr lang="en-US" sz="2800" dirty="0"/>
              <a:t> morbidity and mortality</a:t>
            </a:r>
          </a:p>
          <a:p>
            <a:pPr>
              <a:lnSpc>
                <a:spcPct val="150000"/>
              </a:lnSpc>
              <a:buBlip>
                <a:blip r:embed="rId2"/>
              </a:buBlip>
            </a:pPr>
            <a:endParaRPr lang="en-US" sz="2800" dirty="0"/>
          </a:p>
          <a:p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D4A-FD19-4B89-828C-E7322489108E}" type="datetime1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/>
              <a:t>Cont….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382000" cy="4953000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Blip>
                <a:blip r:embed="rId3"/>
              </a:buBlip>
            </a:pPr>
            <a:r>
              <a:rPr lang="en-US" sz="2800" dirty="0"/>
              <a:t>Management of patients with these diseases continues to challenge the anesthetist</a:t>
            </a:r>
            <a:r>
              <a:rPr lang="en-US" sz="2800" i="1" dirty="0">
                <a:solidFill>
                  <a:srgbClr val="FF0000"/>
                </a:solidFill>
              </a:rPr>
              <a:t>. Why?</a:t>
            </a:r>
          </a:p>
          <a:p>
            <a:pPr lvl="3">
              <a:lnSpc>
                <a:spcPct val="150000"/>
              </a:lnSpc>
              <a:buBlip>
                <a:blip r:embed="rId4"/>
              </a:buBlip>
            </a:pPr>
            <a:r>
              <a:rPr lang="en-US" sz="2800" dirty="0"/>
              <a:t>The </a:t>
            </a:r>
            <a:r>
              <a:rPr lang="en-US" sz="2800" b="1" dirty="0"/>
              <a:t>adrenergic</a:t>
            </a:r>
            <a:r>
              <a:rPr lang="en-US" sz="2800" dirty="0"/>
              <a:t> </a:t>
            </a:r>
            <a:r>
              <a:rPr lang="en-US" sz="2800" b="1" dirty="0"/>
              <a:t>response</a:t>
            </a:r>
            <a:r>
              <a:rPr lang="en-US" sz="2800" dirty="0"/>
              <a:t> to surgical stimulation and the </a:t>
            </a:r>
            <a:r>
              <a:rPr lang="en-US" sz="2800" b="1" dirty="0"/>
              <a:t>circulatory</a:t>
            </a:r>
            <a:r>
              <a:rPr lang="en-US" sz="2800" dirty="0"/>
              <a:t> </a:t>
            </a:r>
            <a:r>
              <a:rPr lang="en-US" sz="2800" b="1" dirty="0"/>
              <a:t>effects</a:t>
            </a:r>
            <a:r>
              <a:rPr lang="en-US" sz="2800" dirty="0"/>
              <a:t>  of      </a:t>
            </a:r>
          </a:p>
          <a:p>
            <a:pPr marL="2080260" lvl="6" indent="0">
              <a:lnSpc>
                <a:spcPct val="150000"/>
              </a:lnSpc>
              <a:buBlip>
                <a:blip r:embed="rId5"/>
              </a:buBlip>
            </a:pPr>
            <a:r>
              <a:rPr lang="en-US" sz="2800" dirty="0"/>
              <a:t>  Anesthetic agents</a:t>
            </a:r>
          </a:p>
          <a:p>
            <a:pPr marL="2080260" lvl="6" indent="0">
              <a:lnSpc>
                <a:spcPct val="150000"/>
              </a:lnSpc>
              <a:buBlip>
                <a:blip r:embed="rId5"/>
              </a:buBlip>
            </a:pPr>
            <a:r>
              <a:rPr lang="en-US" sz="2800" dirty="0"/>
              <a:t>  ET tube intubation</a:t>
            </a:r>
          </a:p>
          <a:p>
            <a:pPr marL="514350" indent="-514350">
              <a:lnSpc>
                <a:spcPct val="200000"/>
              </a:lnSpc>
              <a:buBlip>
                <a:blip r:embed="rId3"/>
              </a:buBlip>
            </a:pPr>
            <a:endParaRPr lang="en-US" sz="2800" i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E21EF-355D-4611-8754-56BC9CE868C0}" type="datetime1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/>
              <a:t>Cont….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10600" cy="53340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endParaRPr lang="en-US" sz="2800" dirty="0"/>
          </a:p>
          <a:p>
            <a:pPr marL="1257300" lvl="3" indent="0">
              <a:lnSpc>
                <a:spcPct val="150000"/>
              </a:lnSpc>
              <a:buBlip>
                <a:blip r:embed="rId3"/>
              </a:buBlip>
            </a:pPr>
            <a:r>
              <a:rPr lang="en-US" sz="2800" dirty="0"/>
              <a:t> Blood loss</a:t>
            </a:r>
          </a:p>
          <a:p>
            <a:pPr marL="1257300" lvl="3" indent="0">
              <a:lnSpc>
                <a:spcPct val="150000"/>
              </a:lnSpc>
              <a:buBlip>
                <a:blip r:embed="rId3"/>
              </a:buBlip>
            </a:pPr>
            <a:r>
              <a:rPr lang="en-US" sz="2800" dirty="0"/>
              <a:t>PPV</a:t>
            </a:r>
          </a:p>
          <a:p>
            <a:pPr marL="1257300" lvl="3" indent="0">
              <a:lnSpc>
                <a:spcPct val="150000"/>
              </a:lnSpc>
              <a:buBlip>
                <a:blip r:embed="rId3"/>
              </a:buBlip>
            </a:pPr>
            <a:r>
              <a:rPr lang="en-US" sz="2800" dirty="0"/>
              <a:t>  Fluid shifts and alterations in body T⁰ impose additional burdens on an often </a:t>
            </a:r>
            <a:r>
              <a:rPr lang="en-US" sz="2800" b="1" dirty="0"/>
              <a:t>already</a:t>
            </a:r>
            <a:r>
              <a:rPr lang="en-US" sz="2800" dirty="0"/>
              <a:t> </a:t>
            </a:r>
            <a:r>
              <a:rPr lang="en-US" sz="2800" b="1" dirty="0"/>
              <a:t>compromised</a:t>
            </a:r>
            <a:r>
              <a:rPr lang="en-US" sz="2800" dirty="0"/>
              <a:t> </a:t>
            </a:r>
            <a:r>
              <a:rPr lang="en-US" sz="2800" b="1" dirty="0"/>
              <a:t>cardiovascular</a:t>
            </a:r>
            <a:r>
              <a:rPr lang="en-US" sz="2800" dirty="0"/>
              <a:t> </a:t>
            </a:r>
            <a:r>
              <a:rPr lang="en-US" sz="2800" b="1" dirty="0"/>
              <a:t>system</a:t>
            </a:r>
            <a:r>
              <a:rPr lang="en-US" sz="2800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8CB10-E5BB-407B-8065-BFD074AE5236}" type="datetime1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228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8" decel="50000" autoRev="1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38" presetClass="entr" presetSubtype="0" accel="5000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28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8" decel="50000" autoRev="1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8" presetClass="entr" presetSubtype="0" accel="5000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1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28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8" decel="50000" autoRev="1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639762"/>
          </a:xfrm>
        </p:spPr>
        <p:txBody>
          <a:bodyPr>
            <a:normAutofit fontScale="90000"/>
          </a:bodyPr>
          <a:lstStyle/>
          <a:p>
            <a:r>
              <a:rPr lang="en-US" dirty="0"/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610600" cy="5486400"/>
          </a:xfrm>
        </p:spPr>
        <p:txBody>
          <a:bodyPr/>
          <a:lstStyle/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2800" dirty="0"/>
              <a:t>Good anesthetic management of patients with cardiovascular disease requires a thorough knowledge of </a:t>
            </a:r>
          </a:p>
          <a:p>
            <a:pPr marL="800100" lvl="2" indent="0">
              <a:lnSpc>
                <a:spcPct val="150000"/>
              </a:lnSpc>
              <a:buBlip>
                <a:blip r:embed="rId3"/>
              </a:buBlip>
            </a:pPr>
            <a:r>
              <a:rPr lang="en-US" sz="2800" dirty="0"/>
              <a:t>Normal cardiac anatomy &amp; physiology</a:t>
            </a:r>
          </a:p>
          <a:p>
            <a:pPr marL="800100" lvl="2" indent="0">
              <a:lnSpc>
                <a:spcPct val="150000"/>
              </a:lnSpc>
              <a:buBlip>
                <a:blip r:embed="rId3"/>
              </a:buBlip>
            </a:pPr>
            <a:r>
              <a:rPr lang="en-US" sz="2800" dirty="0"/>
              <a:t>The hemodynamic effects of the various   anesthetic agents</a:t>
            </a:r>
          </a:p>
          <a:p>
            <a:pPr marL="800100" lvl="2" indent="0">
              <a:lnSpc>
                <a:spcPct val="150000"/>
              </a:lnSpc>
              <a:buBlip>
                <a:blip r:embed="rId3"/>
              </a:buBlip>
            </a:pPr>
            <a:r>
              <a:rPr lang="en-US" sz="2800" dirty="0" err="1"/>
              <a:t>Pathophysiology</a:t>
            </a:r>
            <a:r>
              <a:rPr lang="en-US" sz="2800" dirty="0"/>
              <a:t> and treatment of the CVDs.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14E60-6BE5-4B31-91F3-522435D23833}" type="datetime1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228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8" decel="50000" autoRev="1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38" presetClass="entr" presetSubtype="0" accel="5000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28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8" decel="50000" autoRev="1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8" presetClass="entr" presetSubtype="0" accel="5000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1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28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8" decel="50000" autoRev="1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Cont…..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81000" y="1447800"/>
            <a:ext cx="8382000" cy="5029200"/>
          </a:xfrm>
        </p:spPr>
        <p:txBody>
          <a:bodyPr>
            <a:normAutofit fontScale="40000" lnSpcReduction="20000"/>
          </a:bodyPr>
          <a:lstStyle/>
          <a:p>
            <a:pPr>
              <a:lnSpc>
                <a:spcPct val="170000"/>
              </a:lnSpc>
            </a:pPr>
            <a:r>
              <a:rPr lang="en-US" sz="5900" dirty="0"/>
              <a:t>What does the normal structure of the heart look like?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5900" dirty="0"/>
              <a:t>           - Chambers?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5900" dirty="0"/>
              <a:t>           - Valves?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5900" dirty="0"/>
              <a:t>           - Layers?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5900" dirty="0"/>
              <a:t>           - Septum?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5900" dirty="0"/>
              <a:t>           - Blood Circulation?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5900" dirty="0"/>
              <a:t> </a:t>
            </a: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42CCA-CA10-4DCB-AFCF-7DF21860A42B}" type="datetime1">
              <a:rPr lang="en-US" smtClean="0"/>
              <a:t>10/28/2024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42DFD-CADE-4B6B-82ED-41B9438B87B5}" type="datetime1">
              <a:rPr lang="en-US" smtClean="0"/>
              <a:t>10/28/2024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828800" y="304800"/>
            <a:ext cx="5867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Functional anatomy of heart 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95800" y="838200"/>
            <a:ext cx="4200525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 descr="E:\msc\monitoring\new monitoring 2012\hrt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" y="1095374"/>
            <a:ext cx="4495800" cy="49244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>
            <a:normAutofit/>
          </a:bodyPr>
          <a:lstStyle/>
          <a:p>
            <a:r>
              <a:rPr lang="en-US" b="1" dirty="0"/>
              <a:t>Functional anatomy of heart </a:t>
            </a:r>
            <a:endParaRPr lang="en-US" dirty="0"/>
          </a:p>
        </p:txBody>
      </p:sp>
      <p:pic>
        <p:nvPicPr>
          <p:cNvPr id="4" name="Picture 2" descr="C:\Users\Administrator\Downloads\Blood Circulation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" y="1066800"/>
            <a:ext cx="8305800" cy="5257800"/>
          </a:xfrm>
          <a:prstGeom prst="rect">
            <a:avLst/>
          </a:prstGeom>
          <a:noFill/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754FB-EBAA-4DBD-91A2-A1A100BF86FF}" type="datetime1">
              <a:rPr lang="en-US" smtClean="0"/>
              <a:t>10/28/2024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762000"/>
          </a:xfrm>
        </p:spPr>
        <p:txBody>
          <a:bodyPr>
            <a:normAutofit/>
          </a:bodyPr>
          <a:lstStyle/>
          <a:p>
            <a:r>
              <a:rPr lang="en-US" sz="3200" b="1" dirty="0"/>
              <a:t>Cont….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AD3EB-AA02-4F4F-BFC4-F1377A9E74AA}" type="datetime1">
              <a:rPr lang="en-US" smtClean="0"/>
              <a:t>10/28/2024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5" name="Picture 2" descr="C:\Users\Administrator\Downloads\layer of heart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219200"/>
            <a:ext cx="8001000" cy="4953000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  <a:headEnd/>
            <a:tailEnd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828800" y="228600"/>
            <a:ext cx="5029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E6E33-670E-4A78-B44F-81117F55F6AA}" type="datetime1">
              <a:rPr lang="en-US" smtClean="0"/>
              <a:t>10/28/2024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838200"/>
            <a:ext cx="4876800" cy="5181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25995" y="990600"/>
            <a:ext cx="3789405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019800" y="5661781"/>
            <a:ext cx="2819400" cy="3580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676400" y="6019800"/>
            <a:ext cx="2932642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38201" y="381001"/>
            <a:ext cx="5181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9BFD9-A888-43C9-A291-620B0C70E2EA}" type="datetime1">
              <a:rPr lang="en-US" smtClean="0"/>
              <a:t>10/28/2024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2400" y="1066800"/>
            <a:ext cx="4953000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en-US" sz="3200" dirty="0"/>
              <a:t>  </a:t>
            </a:r>
            <a:r>
              <a:rPr lang="en-US" sz="2800" b="1" dirty="0"/>
              <a:t>vagus</a:t>
            </a:r>
            <a:r>
              <a:rPr lang="en-US" sz="2800" dirty="0"/>
              <a:t> (cardio-inhibitor)</a:t>
            </a:r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en-US" sz="2800" dirty="0"/>
              <a:t> </a:t>
            </a:r>
            <a:r>
              <a:rPr lang="en-US" sz="2800" b="1" dirty="0"/>
              <a:t>Cervical and upper thoracic sympathetic ganglia </a:t>
            </a:r>
            <a:r>
              <a:rPr lang="en-US" sz="2800" dirty="0"/>
              <a:t>(cardio-accelerator) by way of the </a:t>
            </a:r>
            <a:r>
              <a:rPr lang="en-US" sz="2800" dirty="0">
                <a:solidFill>
                  <a:srgbClr val="FF0000"/>
                </a:solidFill>
              </a:rPr>
              <a:t>superficial </a:t>
            </a:r>
            <a:r>
              <a:rPr lang="en-US" sz="2800" dirty="0"/>
              <a:t>and </a:t>
            </a:r>
            <a:r>
              <a:rPr lang="en-US" sz="2800" dirty="0">
                <a:solidFill>
                  <a:srgbClr val="FF0000"/>
                </a:solidFill>
              </a:rPr>
              <a:t>deep cardiac plexuses </a:t>
            </a:r>
          </a:p>
        </p:txBody>
      </p:sp>
      <p:pic>
        <p:nvPicPr>
          <p:cNvPr id="3076" name="Picture 4" descr="E:\msc\monitoring\new monitoring 2012\2032_Automatic_Innervation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76800" y="838200"/>
            <a:ext cx="4267200" cy="5410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8600" y="838200"/>
            <a:ext cx="86106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BD4A3-6AAC-4189-801C-96CD990766FE}" type="datetime1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05000" y="152400"/>
            <a:ext cx="4572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Picture 2" descr="6F850A0E"/>
          <p:cNvPicPr>
            <a:picLocks noChangeAspect="1" noChangeArrowheads="1"/>
          </p:cNvPicPr>
          <p:nvPr/>
        </p:nvPicPr>
        <p:blipFill>
          <a:blip r:embed="rId3">
            <a:lum bright="-10000"/>
          </a:blip>
          <a:srcRect/>
          <a:stretch>
            <a:fillRect/>
          </a:stretch>
        </p:blipFill>
        <p:spPr bwMode="auto">
          <a:xfrm>
            <a:off x="457200" y="304800"/>
            <a:ext cx="8077200" cy="655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D2F4B-2F6A-440B-B603-63CCE6FEEC06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A9ADED-1CCE-43F6-9FA9-1F1040ED0CB7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5794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</p:spPr>
        <p:txBody>
          <a:bodyPr>
            <a:normAutofit/>
          </a:bodyPr>
          <a:lstStyle/>
          <a:p>
            <a:r>
              <a:rPr lang="en-US" sz="3600" b="1" dirty="0"/>
              <a:t>Factors affecting cardiac out put </a:t>
            </a:r>
          </a:p>
        </p:txBody>
      </p:sp>
      <p:pic>
        <p:nvPicPr>
          <p:cNvPr id="3" name="Content Placeholder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59264" y="1447800"/>
            <a:ext cx="8856136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73AC7-2C24-4617-8B81-3C9365758D24}" type="datetime1">
              <a:rPr lang="en-US" smtClean="0"/>
              <a:t>10/28/2024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2000"/>
          </a:xfrm>
        </p:spPr>
        <p:txBody>
          <a:bodyPr>
            <a:normAutofit/>
          </a:bodyPr>
          <a:lstStyle/>
          <a:p>
            <a:r>
              <a:rPr lang="en-US" sz="3200" b="1" dirty="0"/>
              <a:t>Anesthesia for heart failure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763000" cy="5562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2800" b="1" dirty="0"/>
              <a:t>What is HF? </a:t>
            </a:r>
          </a:p>
          <a:p>
            <a:pPr lvl="1">
              <a:lnSpc>
                <a:spcPct val="150000"/>
              </a:lnSpc>
              <a:buBlip>
                <a:blip r:embed="rId3"/>
              </a:buBlip>
            </a:pPr>
            <a:r>
              <a:rPr lang="en-US" sz="2800" i="1" dirty="0"/>
              <a:t> a complex clinical syndrome characterized by </a:t>
            </a:r>
            <a:r>
              <a:rPr lang="en-US" sz="2800" b="1" i="1" dirty="0"/>
              <a:t>impaired ventricular performance</a:t>
            </a:r>
            <a:r>
              <a:rPr lang="en-US" sz="2800" i="1" dirty="0"/>
              <a:t>, </a:t>
            </a:r>
            <a:r>
              <a:rPr lang="en-US" sz="2800" b="1" i="1" dirty="0"/>
              <a:t>exercise intolerance</a:t>
            </a:r>
            <a:r>
              <a:rPr lang="en-US" sz="2800" i="1" dirty="0"/>
              <a:t>, and </a:t>
            </a:r>
            <a:r>
              <a:rPr lang="en-US" sz="2800" b="1" i="1" dirty="0"/>
              <a:t>a high incidence of ventricular arrhythmias.</a:t>
            </a:r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2800" dirty="0"/>
              <a:t>HF may occur suddenly or develop gradually and is the final common pathway of a variety of primary CVD entities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D8F85-A670-428A-A145-36F45367C9B3}" type="datetime1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E1BC9A7-2B41-47AA-9261-EE706359F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D04CD58-555C-4910-89B0-02EF74513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2400" b="1" u="none" strike="noStrike" baseline="0" dirty="0">
                <a:latin typeface="Arial-ItalicMT"/>
              </a:rPr>
              <a:t>Decreased contractile function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latin typeface="ArialMT"/>
              </a:rPr>
              <a:t>a. Valvular heart disease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latin typeface="ArialMT"/>
              </a:rPr>
              <a:t>b. Coronary Heart Disease : Myocardial ischemia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latin typeface="ArialMT"/>
              </a:rPr>
              <a:t>c. Myocardial Disease : Cardiomyopathy, Myocarditis</a:t>
            </a:r>
          </a:p>
          <a:p>
            <a:pPr marL="0" indent="0" algn="l">
              <a:buNone/>
            </a:pPr>
            <a:r>
              <a:rPr lang="en-US" sz="2400" b="1" u="none" strike="noStrike" baseline="0" dirty="0">
                <a:latin typeface="Arial-ItalicMT"/>
              </a:rPr>
              <a:t> Increased after load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latin typeface="ArialMT"/>
              </a:rPr>
              <a:t>a. Acute systemic hypertension</a:t>
            </a:r>
          </a:p>
          <a:p>
            <a:pPr marL="0" indent="0" algn="l">
              <a:buNone/>
            </a:pPr>
            <a:r>
              <a:rPr lang="en-US" sz="2400" b="1" u="none" strike="noStrike" baseline="0" dirty="0">
                <a:latin typeface="Arial-ItalicMT"/>
              </a:rPr>
              <a:t>Abnormalities in preload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latin typeface="ArialMT"/>
              </a:rPr>
              <a:t>a. Excessive preload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latin typeface="ArialMT"/>
              </a:rPr>
              <a:t>b. Reduced preload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latin typeface="ArialMT"/>
              </a:rPr>
              <a:t>Reduced compliance states: </a:t>
            </a:r>
          </a:p>
          <a:p>
            <a:pPr algn="l">
              <a:buAutoNum type="alphaLcPeriod"/>
            </a:pPr>
            <a:r>
              <a:rPr lang="en-US" sz="1800" b="0" i="0" u="none" strike="noStrike" baseline="0" dirty="0">
                <a:latin typeface="ArialMT"/>
              </a:rPr>
              <a:t>Constrictive pericarditis  </a:t>
            </a:r>
          </a:p>
          <a:p>
            <a:pPr algn="l">
              <a:buAutoNum type="alphaLcPeriod"/>
            </a:pPr>
            <a:r>
              <a:rPr lang="en-US" sz="1800" b="0" i="0" u="none" strike="noStrike" baseline="0" dirty="0">
                <a:latin typeface="ArialMT"/>
              </a:rPr>
              <a:t>Restrictive cardiomyopathy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A7FE920-D749-4BAA-8F78-838D13346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AE2AF-0B28-49C3-B8E5-A13FCE7B5F38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1F393C5-B46D-48A6-B698-4B8B38FF6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BFC6872-3A68-497C-A6EB-3C10F6C46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4733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75C9B07-5BAC-4239-8955-22B1A6BDB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HEART FAILS</a:t>
            </a:r>
            <a:br>
              <a:rPr lang="en-US" dirty="0"/>
            </a:br>
            <a:r>
              <a:rPr lang="en-US" dirty="0"/>
              <a:t>precipitating factors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83F9890-D58B-43A4-936F-F3970FD67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800" b="1" i="1" u="none" strike="noStrike" baseline="0" dirty="0">
                <a:solidFill>
                  <a:srgbClr val="FF0000"/>
                </a:solidFill>
                <a:latin typeface="Arial-BoldItalicMT"/>
              </a:rPr>
              <a:t>H</a:t>
            </a:r>
            <a:r>
              <a:rPr lang="en-US" sz="1800" b="1" i="1" u="none" strike="noStrike" baseline="0" dirty="0">
                <a:latin typeface="Arial-BoldItalicMT"/>
              </a:rPr>
              <a:t>- </a:t>
            </a:r>
            <a:r>
              <a:rPr lang="en-US" sz="1800" b="1" u="none" strike="noStrike" baseline="0" dirty="0">
                <a:latin typeface="Arial-BoldItalicMT"/>
              </a:rPr>
              <a:t>Hypertension (systemic)</a:t>
            </a:r>
          </a:p>
          <a:p>
            <a:pPr marL="0" indent="0" algn="l">
              <a:buNone/>
            </a:pPr>
            <a:r>
              <a:rPr lang="en-US" sz="1800" b="1" u="none" strike="noStrike" baseline="0" dirty="0">
                <a:solidFill>
                  <a:srgbClr val="FF0000"/>
                </a:solidFill>
                <a:latin typeface="Arial-BoldItalicMT"/>
              </a:rPr>
              <a:t>E</a:t>
            </a:r>
            <a:r>
              <a:rPr lang="en-US" sz="1800" b="1" u="none" strike="noStrike" baseline="0" dirty="0">
                <a:latin typeface="Arial-BoldItalicMT"/>
              </a:rPr>
              <a:t>- Endocarditis (infections)</a:t>
            </a:r>
          </a:p>
          <a:p>
            <a:pPr marL="0" indent="0" algn="l">
              <a:buNone/>
            </a:pPr>
            <a:r>
              <a:rPr lang="en-US" sz="1800" b="1" u="none" strike="noStrike" baseline="0" dirty="0">
                <a:solidFill>
                  <a:srgbClr val="FF0000"/>
                </a:solidFill>
                <a:latin typeface="Arial-BoldItalicMT"/>
              </a:rPr>
              <a:t>A</a:t>
            </a:r>
            <a:r>
              <a:rPr lang="en-US" sz="1800" b="1" u="none" strike="noStrike" baseline="0" dirty="0">
                <a:latin typeface="Arial-BoldItalicMT"/>
              </a:rPr>
              <a:t>- Anemia</a:t>
            </a:r>
          </a:p>
          <a:p>
            <a:pPr marL="0" indent="0" algn="l">
              <a:buNone/>
            </a:pPr>
            <a:r>
              <a:rPr lang="en-US" sz="1800" b="1" u="none" strike="noStrike" baseline="0" dirty="0">
                <a:solidFill>
                  <a:srgbClr val="FF0000"/>
                </a:solidFill>
                <a:latin typeface="Arial-BoldItalicMT"/>
              </a:rPr>
              <a:t>R</a:t>
            </a:r>
            <a:r>
              <a:rPr lang="en-US" sz="1800" b="1" u="none" strike="noStrike" baseline="0" dirty="0">
                <a:latin typeface="Arial-BoldItalicMT"/>
              </a:rPr>
              <a:t>- Rheumatic fever and myocarditis</a:t>
            </a:r>
          </a:p>
          <a:p>
            <a:pPr marL="0" indent="0" algn="l">
              <a:buNone/>
            </a:pPr>
            <a:r>
              <a:rPr lang="en-US" sz="1800" b="1" u="none" strike="noStrike" baseline="0" dirty="0">
                <a:solidFill>
                  <a:srgbClr val="FF0000"/>
                </a:solidFill>
                <a:latin typeface="Arial-BoldItalicMT"/>
              </a:rPr>
              <a:t>T</a:t>
            </a:r>
            <a:r>
              <a:rPr lang="en-US" sz="1800" b="1" u="none" strike="noStrike" baseline="0" dirty="0">
                <a:latin typeface="Arial-BoldItalicMT"/>
              </a:rPr>
              <a:t>- Thyrotoxicosis and pregnancy</a:t>
            </a:r>
          </a:p>
          <a:p>
            <a:pPr marL="0" indent="0" algn="l">
              <a:buNone/>
            </a:pPr>
            <a:r>
              <a:rPr lang="en-US" sz="1800" b="1" u="none" strike="noStrike" baseline="0" dirty="0">
                <a:solidFill>
                  <a:srgbClr val="FF0000"/>
                </a:solidFill>
                <a:latin typeface="Arial-BoldItalicMT"/>
              </a:rPr>
              <a:t>F</a:t>
            </a:r>
            <a:r>
              <a:rPr lang="en-US" sz="1800" b="1" u="none" strike="noStrike" baseline="0" dirty="0">
                <a:latin typeface="Arial-BoldItalicMT"/>
              </a:rPr>
              <a:t>- Fever (infections)</a:t>
            </a:r>
          </a:p>
          <a:p>
            <a:pPr marL="0" indent="0" algn="l">
              <a:buNone/>
            </a:pPr>
            <a:r>
              <a:rPr lang="en-US" sz="1800" b="1" u="none" strike="noStrike" baseline="0" dirty="0">
                <a:solidFill>
                  <a:srgbClr val="FF0000"/>
                </a:solidFill>
                <a:latin typeface="Arial-BoldItalicMT"/>
              </a:rPr>
              <a:t>A</a:t>
            </a:r>
            <a:r>
              <a:rPr lang="en-US" sz="1800" b="1" u="none" strike="noStrike" baseline="0" dirty="0">
                <a:latin typeface="Arial-BoldItalicMT"/>
              </a:rPr>
              <a:t>- Arrhythmia</a:t>
            </a:r>
          </a:p>
          <a:p>
            <a:pPr marL="0" indent="0" algn="l">
              <a:buNone/>
            </a:pPr>
            <a:r>
              <a:rPr lang="en-US" sz="1800" b="1" u="none" strike="noStrike" baseline="0" dirty="0">
                <a:solidFill>
                  <a:srgbClr val="FF0000"/>
                </a:solidFill>
                <a:latin typeface="Arial-BoldItalicMT"/>
              </a:rPr>
              <a:t>I</a:t>
            </a:r>
            <a:r>
              <a:rPr lang="en-US" sz="1800" b="1" u="none" strike="noStrike" baseline="0" dirty="0">
                <a:latin typeface="Arial-BoldItalicMT"/>
              </a:rPr>
              <a:t>- infarction (myocardial)</a:t>
            </a:r>
          </a:p>
          <a:p>
            <a:pPr marL="0" indent="0" algn="l">
              <a:buNone/>
            </a:pPr>
            <a:r>
              <a:rPr lang="en-US" sz="1800" b="1" u="none" strike="noStrike" baseline="0" dirty="0">
                <a:solidFill>
                  <a:srgbClr val="FF0000"/>
                </a:solidFill>
                <a:latin typeface="Arial-BoldItalicMT"/>
              </a:rPr>
              <a:t>L</a:t>
            </a:r>
            <a:r>
              <a:rPr lang="en-US" sz="1800" b="1" u="none" strike="noStrike" baseline="0" dirty="0">
                <a:latin typeface="Arial-BoldItalicMT"/>
              </a:rPr>
              <a:t>- Lung infection</a:t>
            </a:r>
          </a:p>
          <a:p>
            <a:pPr marL="0" indent="0" algn="l">
              <a:buNone/>
            </a:pPr>
            <a:r>
              <a:rPr lang="en-US" sz="1800" b="1" u="none" strike="noStrike" baseline="0" dirty="0">
                <a:solidFill>
                  <a:srgbClr val="FF0000"/>
                </a:solidFill>
                <a:latin typeface="Arial-BoldItalicMT"/>
              </a:rPr>
              <a:t>E</a:t>
            </a:r>
            <a:r>
              <a:rPr lang="en-US" sz="1800" b="1" u="none" strike="noStrike" baseline="0" dirty="0">
                <a:latin typeface="Arial-BoldItalicMT"/>
              </a:rPr>
              <a:t>- Embolism (pulmonary)</a:t>
            </a:r>
          </a:p>
          <a:p>
            <a:pPr marL="0" indent="0" algn="l">
              <a:buNone/>
            </a:pPr>
            <a:r>
              <a:rPr lang="en-US" sz="1800" b="1" u="none" strike="noStrike" baseline="0" dirty="0">
                <a:solidFill>
                  <a:srgbClr val="FF0000"/>
                </a:solidFill>
                <a:latin typeface="Arial-BoldItalicMT"/>
              </a:rPr>
              <a:t>S</a:t>
            </a:r>
            <a:r>
              <a:rPr lang="en-US" sz="1800" b="1" u="none" strike="noStrike" baseline="0" dirty="0">
                <a:latin typeface="Arial-BoldItalicMT"/>
              </a:rPr>
              <a:t>- Stress (emotional, physical, environment, dietary, fluid excess</a:t>
            </a:r>
            <a:r>
              <a:rPr lang="en-US" sz="1800" b="1" i="1" u="none" strike="noStrike" baseline="0" dirty="0">
                <a:latin typeface="Arial-BoldItalicMT"/>
              </a:rPr>
              <a:t>)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F4770FB-25C3-435D-9DCE-EEB1EF5EF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AE2AF-0B28-49C3-B8E5-A13FCE7B5F38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F6068A0-324A-44CB-B7F3-B37720685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D5AC050-6B03-43E1-A127-39A450F78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885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E5E030E-A689-4191-AAD3-2ECA89817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Clinical manifestations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36E7670-199C-4BD2-8EE2-6D969725F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b="0" i="0" u="none" strike="noStrike" baseline="0" dirty="0">
                <a:latin typeface="ArialMT"/>
              </a:rPr>
              <a:t>Progressive dyspnea</a:t>
            </a:r>
          </a:p>
          <a:p>
            <a:pPr marL="0" indent="0">
              <a:buNone/>
            </a:pPr>
            <a:endParaRPr lang="en-US" sz="2400" b="0" i="0" u="none" strike="noStrike" baseline="0" dirty="0">
              <a:latin typeface="ArialMT"/>
            </a:endParaRPr>
          </a:p>
          <a:p>
            <a:r>
              <a:rPr lang="en-US" sz="2400" b="0" i="0" u="none" strike="noStrike" baseline="0" dirty="0">
                <a:latin typeface="ArialMT"/>
              </a:rPr>
              <a:t>Orthopnea and paroxysmal nocturnal dyspnea (PND)</a:t>
            </a:r>
          </a:p>
          <a:p>
            <a:pPr marL="0" indent="0">
              <a:buNone/>
            </a:pPr>
            <a:endParaRPr lang="en-US" sz="2400" dirty="0">
              <a:latin typeface="ArialMT"/>
            </a:endParaRPr>
          </a:p>
          <a:p>
            <a:r>
              <a:rPr lang="en-US" sz="2400" b="0" i="0" u="none" strike="noStrike" baseline="0" dirty="0">
                <a:latin typeface="ArialMT"/>
              </a:rPr>
              <a:t>Cough productive of pink, frothy sputum</a:t>
            </a:r>
          </a:p>
          <a:p>
            <a:pPr marL="0" indent="0">
              <a:buNone/>
            </a:pPr>
            <a:endParaRPr lang="en-US" sz="2400" b="0" i="0" u="none" strike="noStrike" baseline="0" dirty="0">
              <a:latin typeface="ArialMT"/>
            </a:endParaRPr>
          </a:p>
          <a:p>
            <a:pPr algn="l"/>
            <a:r>
              <a:rPr lang="en-US" sz="2400" b="0" i="0" u="none" strike="noStrike" baseline="0" dirty="0">
                <a:latin typeface="ArialMT"/>
              </a:rPr>
              <a:t>Peripheral edema and ascites</a:t>
            </a:r>
          </a:p>
          <a:p>
            <a:pPr marL="0" indent="0" algn="l">
              <a:buNone/>
            </a:pPr>
            <a:endParaRPr lang="en-US" sz="2400" b="0" i="0" u="none" strike="noStrike" baseline="0" dirty="0">
              <a:latin typeface="ArialMT"/>
            </a:endParaRPr>
          </a:p>
          <a:p>
            <a:pPr algn="l"/>
            <a:r>
              <a:rPr lang="en-US" sz="2400" b="0" i="0" u="none" strike="noStrike" baseline="0" dirty="0">
                <a:latin typeface="ArialMT"/>
              </a:rPr>
              <a:t>Nonspecific complaints include the following: easy fatigability, light headedness,</a:t>
            </a:r>
            <a:r>
              <a:rPr lang="fi-FI" sz="2400" b="0" i="0" u="none" strike="noStrike" baseline="0" dirty="0">
                <a:latin typeface="ArialMT"/>
              </a:rPr>
              <a:t>malaise anxiety abdominal pain, nausea</a:t>
            </a:r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0539E29-D938-415B-A827-9EA220D13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AE2AF-0B28-49C3-B8E5-A13FCE7B5F38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F0F99E7-BC8A-4AFF-8CE7-A097E788E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0C7D2DB-DC46-4EA7-A8F2-03EBFECE3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526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0110F89-3D1A-4693-B31B-F39AC84F8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8185153-CE98-4DB2-8275-868314D8A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000" b="0" i="0" u="none" strike="noStrike" baseline="0" dirty="0">
                <a:latin typeface="ArialMT"/>
              </a:rPr>
              <a:t>Tachycardia and Tachypnea</a:t>
            </a:r>
          </a:p>
          <a:p>
            <a:pPr marL="0" indent="0" algn="l">
              <a:buNone/>
            </a:pPr>
            <a:endParaRPr lang="en-US" sz="2000" b="0" i="0" u="none" strike="noStrike" baseline="0" dirty="0">
              <a:latin typeface="ArialMT"/>
            </a:endParaRPr>
          </a:p>
          <a:p>
            <a:pPr algn="l"/>
            <a:r>
              <a:rPr lang="en-US" sz="2000" b="0" i="0" u="none" strike="noStrike" baseline="0" dirty="0">
                <a:latin typeface="ArialMT"/>
              </a:rPr>
              <a:t>Jugular venous distention (JVD) </a:t>
            </a:r>
          </a:p>
          <a:p>
            <a:pPr marL="0" indent="0" algn="l">
              <a:buNone/>
            </a:pPr>
            <a:endParaRPr lang="en-US" sz="2000" b="0" i="0" u="none" strike="noStrike" baseline="0" dirty="0">
              <a:latin typeface="ArialMT"/>
            </a:endParaRPr>
          </a:p>
          <a:p>
            <a:pPr algn="l"/>
            <a:r>
              <a:rPr lang="en-US" sz="2000" b="0" i="0" u="none" strike="noStrike" baseline="0" dirty="0">
                <a:latin typeface="ArialMT"/>
              </a:rPr>
              <a:t>Pulsus alternans (alternating weak and strong pulse indicative of depressed left ventricle [LV] function</a:t>
            </a:r>
          </a:p>
          <a:p>
            <a:pPr marL="0" indent="0" algn="l">
              <a:buNone/>
            </a:pPr>
            <a:endParaRPr lang="en-US" sz="2000" b="0" i="0" u="none" strike="noStrike" baseline="0" dirty="0">
              <a:latin typeface="ArialMT"/>
            </a:endParaRPr>
          </a:p>
          <a:p>
            <a:pPr algn="l"/>
            <a:r>
              <a:rPr lang="en-US" sz="2000" b="0" i="0" u="none" strike="noStrike" baseline="0" dirty="0">
                <a:latin typeface="ArialMT"/>
              </a:rPr>
              <a:t>Wheezing or rales may be heard on lung auscultation and there may be bilateral basal dullness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F95716D-7B82-4197-BEBB-9FDEA7B9C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AE2AF-0B28-49C3-B8E5-A13FCE7B5F38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EB7EF20-8736-4F38-8CF6-3B6DE1C9D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5B340E8-2A1F-4049-BB1F-5A9B56A47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203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AD9978-F977-4004-8245-04A531129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38EC27D-D493-4B9D-A511-1763F8E58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2400" b="0" i="0" u="none" strike="noStrike" baseline="0" dirty="0">
                <a:latin typeface="ArialMT"/>
              </a:rPr>
              <a:t>Apical impulse frequently is displaced laterally</a:t>
            </a:r>
          </a:p>
          <a:p>
            <a:pPr marL="0" indent="0" algn="l">
              <a:buNone/>
            </a:pPr>
            <a:endParaRPr lang="en-US" sz="2400" b="0" i="0" u="none" strike="noStrike" baseline="0" dirty="0">
              <a:latin typeface="ArialMT"/>
            </a:endParaRPr>
          </a:p>
          <a:p>
            <a:pPr algn="l"/>
            <a:r>
              <a:rPr lang="en-US" sz="2400" b="0" i="0" u="none" strike="noStrike" baseline="0" dirty="0">
                <a:latin typeface="ArialMT"/>
              </a:rPr>
              <a:t>Cardiac auscultation may reveal aortic or mitral valvular abnormalities, S3 or S4</a:t>
            </a:r>
          </a:p>
          <a:p>
            <a:pPr algn="l"/>
            <a:endParaRPr lang="en-US" sz="2400" dirty="0">
              <a:latin typeface="ArialMT"/>
            </a:endParaRPr>
          </a:p>
          <a:p>
            <a:pPr algn="l"/>
            <a:r>
              <a:rPr lang="en-US" sz="2400" b="0" i="0" u="none" strike="noStrike" baseline="0" dirty="0">
                <a:latin typeface="ArialMT"/>
              </a:rPr>
              <a:t>Skin may be diaphoretic or cold, gray, and cyanotic</a:t>
            </a:r>
          </a:p>
          <a:p>
            <a:pPr marL="0" indent="0" algn="l">
              <a:buNone/>
            </a:pPr>
            <a:endParaRPr lang="en-US" sz="2400" b="0" i="0" u="none" strike="noStrike" baseline="0" dirty="0">
              <a:latin typeface="ArialMT"/>
            </a:endParaRPr>
          </a:p>
          <a:p>
            <a:pPr algn="l"/>
            <a:r>
              <a:rPr lang="en-US" sz="2400" b="0" i="0" u="none" strike="noStrike" baseline="0" dirty="0">
                <a:latin typeface="ArialMT"/>
              </a:rPr>
              <a:t>Lower extremity edema also may be noted, especially in the subacute process</a:t>
            </a:r>
            <a:endParaRPr lang="en-US" sz="2400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0D038F9-D6FC-420D-9BD8-B89A04ED7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AE2AF-0B28-49C3-B8E5-A13FCE7B5F38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3856568-41C7-4C79-A870-5A189505F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9A3BBA7-96C5-4F24-BF51-2421BAA43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3105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CDA040A-1775-461B-898E-FE4EA4772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drug &amp; side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6C6C522-B10A-4E93-A422-0DF297665B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Diuretics – azotemia, hypokalemia &amp; metabolic alkalosis</a:t>
            </a:r>
          </a:p>
          <a:p>
            <a:endParaRPr lang="en-US" sz="2400" dirty="0"/>
          </a:p>
          <a:p>
            <a:r>
              <a:rPr lang="en-US" sz="2400" dirty="0"/>
              <a:t>Spironolactone- hyperkalemia &amp; gynecomastia</a:t>
            </a:r>
          </a:p>
          <a:p>
            <a:endParaRPr lang="en-US" sz="2400" dirty="0"/>
          </a:p>
          <a:p>
            <a:r>
              <a:rPr lang="en-US" sz="2400" dirty="0"/>
              <a:t>Digoxin – electrolyte disturbance toxicity with hypokalemia</a:t>
            </a:r>
          </a:p>
          <a:p>
            <a:endParaRPr lang="en-US" sz="2400" dirty="0"/>
          </a:p>
          <a:p>
            <a:r>
              <a:rPr lang="en-US" sz="2400" dirty="0"/>
              <a:t>ACEI – acute renal failure, angioedema, </a:t>
            </a:r>
          </a:p>
          <a:p>
            <a:endParaRPr lang="en-US" sz="2400" dirty="0"/>
          </a:p>
          <a:p>
            <a:r>
              <a:rPr lang="en-US" sz="2400" dirty="0"/>
              <a:t>Beta blockers- brady cardia, hypotension</a:t>
            </a:r>
          </a:p>
          <a:p>
            <a:endParaRPr lang="en-US" sz="2400" dirty="0"/>
          </a:p>
          <a:p>
            <a:r>
              <a:rPr lang="en-US" sz="2400" dirty="0"/>
              <a:t>Vasodilators (hydralazine) - hypotension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50DBF65-F318-49A9-8CF0-37ADCEABF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AE2AF-0B28-49C3-B8E5-A13FCE7B5F38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339FF20-6634-40E5-B57D-7904754DA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30131DD-7EDA-41AA-8DE2-4839E95B1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9852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3BD4430-27B6-49D4-BED1-3D1A787E0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4024" y="1417638"/>
            <a:ext cx="7362825" cy="42100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916DD05-2B7D-4A0B-9A98-CF5489072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AE2AF-0B28-49C3-B8E5-A13FCE7B5F38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3AF5247-A290-40C5-BF19-155ABF59C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73E9F04-7893-46BE-A5CC-B421C5F31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1539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" y="1417638"/>
            <a:ext cx="8458200" cy="475456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AE2AF-0B28-49C3-B8E5-A13FCE7B5F38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Anesthesia for Cardiac surgery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573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763000" cy="54102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2800" dirty="0"/>
              <a:t>Perioperative risk is proportional both to the </a:t>
            </a:r>
            <a:r>
              <a:rPr lang="en-US" sz="2800" i="1" dirty="0">
                <a:solidFill>
                  <a:srgbClr val="FF0000"/>
                </a:solidFill>
              </a:rPr>
              <a:t>severity of the patient’s HF </a:t>
            </a:r>
            <a:r>
              <a:rPr lang="en-US" sz="2800" dirty="0"/>
              <a:t>and </a:t>
            </a:r>
            <a:r>
              <a:rPr lang="en-US" sz="2800" i="1" dirty="0">
                <a:solidFill>
                  <a:srgbClr val="FF0000"/>
                </a:solidFill>
              </a:rPr>
              <a:t>the surgical risk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  <a:buNone/>
            </a:pPr>
            <a:endParaRPr lang="en-US" sz="2800" dirty="0"/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2800" dirty="0"/>
              <a:t>Close attention to </a:t>
            </a:r>
            <a:r>
              <a:rPr lang="en-US" sz="2800" i="1" dirty="0">
                <a:solidFill>
                  <a:srgbClr val="FF0000"/>
                </a:solidFill>
              </a:rPr>
              <a:t>fluid balance </a:t>
            </a:r>
            <a:r>
              <a:rPr lang="en-US" sz="2800" dirty="0"/>
              <a:t>and CVs stability is essential to prevent an acute exacerbation of HF or other major CVs morbidity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7225B-AE01-477B-8747-1BEC3E7FECD8}" type="datetime1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Etiology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10600" cy="5410200"/>
          </a:xfrm>
        </p:spPr>
        <p:txBody>
          <a:bodyPr numCol="1"/>
          <a:lstStyle/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en-US" sz="2800" dirty="0">
                <a:solidFill>
                  <a:srgbClr val="FF0000"/>
                </a:solidFill>
              </a:rPr>
              <a:t>CAD </a:t>
            </a: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en-US" sz="2800" dirty="0">
                <a:solidFill>
                  <a:srgbClr val="FF0000"/>
                </a:solidFill>
              </a:rPr>
              <a:t>hypertension</a:t>
            </a: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en-US" sz="2800" dirty="0"/>
              <a:t>Diabetic </a:t>
            </a: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en-US" sz="2800" dirty="0"/>
              <a:t>VHD</a:t>
            </a: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en-US" sz="2800" dirty="0"/>
              <a:t>Age</a:t>
            </a: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en-US" sz="2800" dirty="0"/>
              <a:t>non‐</a:t>
            </a:r>
            <a:r>
              <a:rPr lang="en-US" sz="2800" dirty="0" err="1"/>
              <a:t>ischaemic</a:t>
            </a:r>
            <a:r>
              <a:rPr lang="en-US" sz="2800" dirty="0"/>
              <a:t> </a:t>
            </a:r>
            <a:r>
              <a:rPr lang="en-US" sz="2800" dirty="0" err="1"/>
              <a:t>myopathies</a:t>
            </a:r>
            <a:endParaRPr lang="en-US" sz="28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B3AB6-5ECA-4C6A-87D9-9222E0FF1C8F}" type="datetime1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524000"/>
            <a:ext cx="8229600" cy="43434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AE2AF-0B28-49C3-B8E5-A13FCE7B5F38}" type="datetime1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Anesthesia for Cardiac surgery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2621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Cont…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533400" y="1295400"/>
            <a:ext cx="8229600" cy="4800600"/>
          </a:xfrm>
        </p:spPr>
        <p:txBody>
          <a:bodyPr numCol="1"/>
          <a:lstStyle/>
          <a:p>
            <a:pPr>
              <a:buNone/>
            </a:pPr>
            <a:r>
              <a:rPr lang="en-US" dirty="0"/>
              <a:t> </a:t>
            </a:r>
            <a:r>
              <a:rPr lang="en-US" b="1" dirty="0"/>
              <a:t>P</a:t>
            </a:r>
            <a:r>
              <a:rPr lang="en-US" sz="3200" b="1" dirty="0"/>
              <a:t>athophysiologic mechanisms of HF: </a:t>
            </a:r>
            <a:endParaRPr lang="en-US" b="1" dirty="0"/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en-US" dirty="0"/>
              <a:t> V</a:t>
            </a:r>
            <a:r>
              <a:rPr lang="en-US" sz="3200" dirty="0"/>
              <a:t>olume overload</a:t>
            </a: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en-US" dirty="0"/>
              <a:t>P</a:t>
            </a:r>
            <a:r>
              <a:rPr lang="en-US" sz="3200" dirty="0"/>
              <a:t>ressure overload</a:t>
            </a: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en-US" sz="3200" dirty="0"/>
              <a:t> Myocardial loss </a:t>
            </a: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en-US" dirty="0"/>
              <a:t>I</a:t>
            </a:r>
            <a:r>
              <a:rPr lang="en-US" sz="3200" dirty="0"/>
              <a:t>mpaired ventricular filling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EDC9-14E1-4E3F-A04D-9C9BA91C0695}" type="datetime1">
              <a:rPr lang="en-US" smtClean="0"/>
              <a:t>10/28/2024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US" sz="3200" b="1" dirty="0"/>
              <a:t>Pathophysiology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486400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800" b="1" i="1" dirty="0">
                <a:solidFill>
                  <a:srgbClr val="C00000"/>
                </a:solidFill>
                <a:latin typeface="Bodoni MT" pitchFamily="18" charset="0"/>
                <a:cs typeface="Times New Roman" pitchFamily="18" charset="0"/>
              </a:rPr>
              <a:t>Structural changes </a:t>
            </a:r>
            <a:r>
              <a:rPr lang="en-US" sz="2800" dirty="0">
                <a:latin typeface="Bodoni MT" pitchFamily="18" charset="0"/>
                <a:cs typeface="Times New Roman" pitchFamily="18" charset="0"/>
              </a:rPr>
              <a:t>:  </a:t>
            </a:r>
          </a:p>
          <a:p>
            <a:pPr marL="857250" lvl="1" indent="-457200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800" dirty="0">
                <a:latin typeface="Bodoni MT" pitchFamily="18" charset="0"/>
                <a:cs typeface="Times New Roman" pitchFamily="18" charset="0"/>
              </a:rPr>
              <a:t>The chambers  enlargement,  increased wall thickness and stiffness. </a:t>
            </a:r>
          </a:p>
          <a:p>
            <a:pPr marL="857250" lvl="1" indent="-457200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800" dirty="0">
                <a:latin typeface="Bodoni MT" pitchFamily="18" charset="0"/>
                <a:cs typeface="Times New Roman" pitchFamily="18" charset="0"/>
              </a:rPr>
              <a:t> fibrosis and </a:t>
            </a:r>
            <a:r>
              <a:rPr lang="en-US" sz="2800" dirty="0" err="1">
                <a:latin typeface="Bodoni MT" pitchFamily="18" charset="0"/>
                <a:cs typeface="Times New Roman" pitchFamily="18" charset="0"/>
              </a:rPr>
              <a:t>myocellular</a:t>
            </a:r>
            <a:r>
              <a:rPr lang="en-US" sz="2800" dirty="0">
                <a:latin typeface="Bodoni MT" pitchFamily="18" charset="0"/>
                <a:cs typeface="Times New Roman" pitchFamily="18" charset="0"/>
              </a:rPr>
              <a:t> hypertrophy.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itchFamily="18" charset="0"/>
                <a:cs typeface="Times New Roman" pitchFamily="18" charset="0"/>
              </a:rPr>
              <a:t>2. Functional changes 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800" dirty="0">
                <a:latin typeface="Bodoni MT" pitchFamily="18" charset="0"/>
                <a:cs typeface="Times New Roman" pitchFamily="18" charset="0"/>
              </a:rPr>
              <a:t>affect both diastole (relaxation) and systole (contraction).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CAB4A-D342-458A-AC22-BA946DDA5F91}" type="datetime1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/>
              <a:t>Cont….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763000" cy="5410200"/>
          </a:xfrm>
        </p:spPr>
        <p:txBody>
          <a:bodyPr>
            <a:normAutofit fontScale="92500"/>
          </a:bodyPr>
          <a:lstStyle/>
          <a:p>
            <a:pPr marL="514350" indent="-514350">
              <a:lnSpc>
                <a:spcPct val="150000"/>
              </a:lnSpc>
              <a:buBlip>
                <a:blip r:embed="rId2"/>
              </a:buBlip>
            </a:pPr>
            <a:r>
              <a:rPr lang="en-US" sz="3000" dirty="0"/>
              <a:t>HF can be broadly subdivided into </a:t>
            </a:r>
            <a:r>
              <a:rPr lang="en-US" sz="3000" b="1" dirty="0"/>
              <a:t>two</a:t>
            </a:r>
            <a:r>
              <a:rPr lang="en-US" sz="3000" dirty="0"/>
              <a:t> distinct forms</a:t>
            </a:r>
          </a:p>
          <a:p>
            <a:pPr lvl="1" fontAlgn="base">
              <a:lnSpc>
                <a:spcPct val="150000"/>
              </a:lnSpc>
              <a:buBlip>
                <a:blip r:embed="rId3"/>
              </a:buBlip>
            </a:pPr>
            <a:r>
              <a:rPr lang="en-US" sz="3000" b="1" dirty="0"/>
              <a:t> Diastolic dysfunction </a:t>
            </a:r>
            <a:r>
              <a:rPr lang="en-US" sz="3000" dirty="0"/>
              <a:t>or </a:t>
            </a:r>
            <a:r>
              <a:rPr lang="en-US" sz="3000" b="1" dirty="0"/>
              <a:t>diastolic heart failure </a:t>
            </a:r>
          </a:p>
          <a:p>
            <a:pPr lvl="3" fontAlgn="base">
              <a:lnSpc>
                <a:spcPct val="150000"/>
              </a:lnSpc>
              <a:buBlip>
                <a:blip r:embed="rId4"/>
              </a:buBlip>
            </a:pPr>
            <a:r>
              <a:rPr lang="en-US" sz="2800" dirty="0"/>
              <a:t>affects the left ventricle.</a:t>
            </a:r>
          </a:p>
          <a:p>
            <a:pPr lvl="1" fontAlgn="base">
              <a:lnSpc>
                <a:spcPct val="150000"/>
              </a:lnSpc>
              <a:buBlip>
                <a:blip r:embed="rId3"/>
              </a:buBlip>
            </a:pPr>
            <a:r>
              <a:rPr lang="en-US" sz="3000" b="1" dirty="0"/>
              <a:t>systolic dysfunction or systolic heart failure(</a:t>
            </a:r>
            <a:r>
              <a:rPr lang="en-US" sz="3000" b="1" dirty="0">
                <a:solidFill>
                  <a:srgbClr val="FF0000"/>
                </a:solidFill>
              </a:rPr>
              <a:t>common</a:t>
            </a:r>
            <a:r>
              <a:rPr lang="en-US" b="1" dirty="0"/>
              <a:t>)</a:t>
            </a:r>
          </a:p>
          <a:p>
            <a:pPr lvl="3" fontAlgn="base">
              <a:lnSpc>
                <a:spcPct val="150000"/>
              </a:lnSpc>
              <a:buBlip>
                <a:blip r:embed="rId4"/>
              </a:buBlip>
            </a:pPr>
            <a:r>
              <a:rPr lang="en-US" sz="2800" dirty="0"/>
              <a:t>affect either ventricle but failure of the left heart is more common.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7B989-ADE9-4DF0-B0E9-F9374950FA32}" type="datetime1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8" presetClass="entr" presetSubtype="0" accel="5000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8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Low-output </a:t>
            </a:r>
            <a:r>
              <a:rPr lang="en-US" dirty="0"/>
              <a:t>heart failure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Causes </a:t>
            </a:r>
            <a:r>
              <a:rPr lang="en-US" dirty="0"/>
              <a:t>of </a:t>
            </a:r>
            <a:r>
              <a:rPr lang="en-US" dirty="0" smtClean="0"/>
              <a:t>low-output heart </a:t>
            </a:r>
            <a:r>
              <a:rPr lang="en-US" dirty="0"/>
              <a:t>failure are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CAD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Cardiomyopathy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Hypertension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Valvular disease &amp;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Pericardial disease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AE2AF-0B28-49C3-B8E5-A13FCE7B5F38}" type="datetime1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Anesthesia for Cardiac surgery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7757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High </a:t>
            </a:r>
            <a:r>
              <a:rPr lang="en-US" dirty="0"/>
              <a:t>cardiac output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Causes of high cardiac </a:t>
            </a:r>
            <a:r>
              <a:rPr lang="en-US"/>
              <a:t>output </a:t>
            </a:r>
            <a:r>
              <a:rPr lang="en-US" smtClean="0"/>
              <a:t>HF include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Anemia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Pregnancy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Arteriovenous fistulas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Severe hyperthyroidism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Beriberi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Paget’s disease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AE2AF-0B28-49C3-B8E5-A13FCE7B5F38}" type="datetime1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Anesthesia for Cardiac surgery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1941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" y="228600"/>
            <a:ext cx="8534400" cy="55626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AE2AF-0B28-49C3-B8E5-A13FCE7B5F38}" type="datetime1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Anesthesia for Cardiac surgery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8584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715000" cy="563562"/>
          </a:xfrm>
        </p:spPr>
        <p:txBody>
          <a:bodyPr>
            <a:noAutofit/>
          </a:bodyPr>
          <a:lstStyle/>
          <a:p>
            <a:r>
              <a:rPr lang="en-US" sz="2800" b="1" dirty="0"/>
              <a:t>Diastolic dysfunction mechanism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E897E-D96E-4771-868E-893C21BF1E0B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38</a:t>
            </a:fld>
            <a:endParaRPr lang="en-US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8600" y="990600"/>
            <a:ext cx="44958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8200" y="1600200"/>
            <a:ext cx="4200526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5257800" y="1219200"/>
            <a:ext cx="36576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latin typeface="+mj-lt"/>
                <a:ea typeface="+mj-ea"/>
                <a:cs typeface="+mj-cs"/>
              </a:rPr>
              <a:t>HF in depressed EF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Adaptive </a:t>
            </a:r>
            <a:r>
              <a:rPr lang="en-US" dirty="0"/>
              <a:t>mechanisms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In </a:t>
            </a:r>
            <a:r>
              <a:rPr lang="en-US" dirty="0"/>
              <a:t>the failing ventricle, various adaptive mechanisms are initiated to help </a:t>
            </a:r>
            <a:r>
              <a:rPr lang="en-US" dirty="0" smtClean="0"/>
              <a:t>maintain a </a:t>
            </a:r>
            <a:r>
              <a:rPr lang="en-US" dirty="0"/>
              <a:t>normal cardiac </a:t>
            </a:r>
            <a:r>
              <a:rPr lang="en-US" dirty="0" smtClean="0"/>
              <a:t>output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</a:t>
            </a:r>
            <a:r>
              <a:rPr lang="en-US" dirty="0" smtClean="0"/>
              <a:t>ncreases in SV </a:t>
            </a:r>
            <a:r>
              <a:rPr lang="en-US" dirty="0"/>
              <a:t>according to the Frank-Starling </a:t>
            </a:r>
            <a:r>
              <a:rPr lang="en-US" dirty="0" smtClean="0"/>
              <a:t>relationship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</a:t>
            </a:r>
            <a:r>
              <a:rPr lang="en-US" dirty="0" smtClean="0"/>
              <a:t>ctivation </a:t>
            </a:r>
            <a:r>
              <a:rPr lang="en-US" dirty="0"/>
              <a:t>of the </a:t>
            </a:r>
            <a:r>
              <a:rPr lang="en-US" dirty="0" smtClean="0"/>
              <a:t>SNS 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</a:t>
            </a:r>
            <a:r>
              <a:rPr lang="en-US" dirty="0" smtClean="0"/>
              <a:t>lterations </a:t>
            </a:r>
            <a:r>
              <a:rPr lang="en-US" dirty="0"/>
              <a:t>in the inotropic state, heart rate, and </a:t>
            </a:r>
            <a:r>
              <a:rPr lang="en-US" dirty="0" smtClean="0"/>
              <a:t>afterload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H</a:t>
            </a:r>
            <a:r>
              <a:rPr lang="en-US" dirty="0" err="1" smtClean="0"/>
              <a:t>umorally</a:t>
            </a:r>
            <a:r>
              <a:rPr lang="en-US" dirty="0" smtClean="0"/>
              <a:t> </a:t>
            </a:r>
            <a:r>
              <a:rPr lang="en-US" dirty="0"/>
              <a:t>mediated responses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AE2AF-0B28-49C3-B8E5-A13FCE7B5F38}" type="datetime1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Anesthesia for Cardiac surgery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448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7772400" cy="685800"/>
          </a:xfrm>
        </p:spPr>
        <p:txBody>
          <a:bodyPr>
            <a:normAutofit/>
          </a:bodyPr>
          <a:lstStyle/>
          <a:p>
            <a:r>
              <a:rPr lang="en-US" sz="3600" b="1" dirty="0"/>
              <a:t>              Clinical  picture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04800" y="990600"/>
            <a:ext cx="8534400" cy="5181600"/>
          </a:xfrm>
        </p:spPr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The hallmark of AHF is congestion</a:t>
            </a:r>
            <a:endParaRPr lang="en-US" dirty="0"/>
          </a:p>
          <a:p>
            <a:pPr lvl="1">
              <a:lnSpc>
                <a:spcPct val="150000"/>
              </a:lnSpc>
              <a:buBlip>
                <a:blip r:embed="rId3"/>
              </a:buBlip>
            </a:pPr>
            <a:r>
              <a:rPr lang="en-US" sz="2800" i="1" dirty="0"/>
              <a:t>by weight gain, peripheral edema, jugular vein distension</a:t>
            </a:r>
          </a:p>
          <a:p>
            <a:pPr lvl="1">
              <a:lnSpc>
                <a:spcPct val="150000"/>
              </a:lnSpc>
              <a:buBlip>
                <a:blip r:embed="rId3"/>
              </a:buBlip>
            </a:pPr>
            <a:r>
              <a:rPr lang="en-US" sz="2800" i="1" dirty="0"/>
              <a:t> hepatic enlargement, and/or pain, </a:t>
            </a:r>
            <a:r>
              <a:rPr lang="en-US" sz="2800" i="1" dirty="0" err="1"/>
              <a:t>hepato</a:t>
            </a:r>
            <a:r>
              <a:rPr lang="en-US" sz="2800" i="1" dirty="0"/>
              <a:t>-jugular reflux </a:t>
            </a:r>
          </a:p>
          <a:p>
            <a:pPr lvl="1">
              <a:lnSpc>
                <a:spcPct val="150000"/>
              </a:lnSpc>
              <a:buBlip>
                <a:blip r:embed="rId3"/>
              </a:buBlip>
            </a:pPr>
            <a:r>
              <a:rPr lang="en-US" sz="2800" i="1" dirty="0"/>
              <a:t>ascites or pulmonary congestion, characterized by dyspnoea of varying severity and lung </a:t>
            </a:r>
            <a:r>
              <a:rPr lang="en-US" sz="2800" i="1" dirty="0" err="1"/>
              <a:t>rales</a:t>
            </a:r>
            <a:r>
              <a:rPr lang="en-US" sz="2800" i="1" dirty="0"/>
              <a:t>.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CCAF9-DAA1-4332-9149-5962A00887C5}" type="datetime1">
              <a:rPr lang="en-US" smtClean="0"/>
              <a:t>10/28/2024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8305800" cy="838200"/>
          </a:xfrm>
        </p:spPr>
        <p:txBody>
          <a:bodyPr>
            <a:normAutofit/>
          </a:bodyPr>
          <a:lstStyle/>
          <a:p>
            <a:r>
              <a:rPr lang="en-US" dirty="0"/>
              <a:t>             Cont….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85800" y="1066800"/>
            <a:ext cx="7924800" cy="5152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5A4D0-ED47-4098-81F5-03DA9BCF64C9}" type="datetime1">
              <a:rPr lang="en-US" smtClean="0"/>
              <a:t>10/28/2024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62000"/>
          </a:xfrm>
        </p:spPr>
        <p:txBody>
          <a:bodyPr>
            <a:normAutofit/>
          </a:bodyPr>
          <a:lstStyle/>
          <a:p>
            <a:r>
              <a:rPr lang="en-US" sz="3200" b="1" dirty="0"/>
              <a:t>DIAGNOSIS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3657600" cy="4495800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US" sz="2400" dirty="0"/>
              <a:t>History and PE</a:t>
            </a:r>
          </a:p>
          <a:p>
            <a:pPr>
              <a:lnSpc>
                <a:spcPct val="170000"/>
              </a:lnSpc>
            </a:pPr>
            <a:r>
              <a:rPr lang="en-US" sz="2400" dirty="0"/>
              <a:t>Assessment of heart murmur </a:t>
            </a:r>
          </a:p>
          <a:p>
            <a:pPr>
              <a:lnSpc>
                <a:spcPct val="170000"/>
              </a:lnSpc>
            </a:pPr>
            <a:r>
              <a:rPr lang="en-US" sz="2400" dirty="0"/>
              <a:t>Routine lab test</a:t>
            </a:r>
          </a:p>
          <a:p>
            <a:pPr>
              <a:lnSpc>
                <a:spcPct val="170000"/>
              </a:lnSpc>
            </a:pPr>
            <a:r>
              <a:rPr lang="en-US" sz="2400" dirty="0"/>
              <a:t>Biomarker (BNP)</a:t>
            </a:r>
          </a:p>
          <a:p>
            <a:pPr>
              <a:lnSpc>
                <a:spcPct val="170000"/>
              </a:lnSpc>
            </a:pPr>
            <a:r>
              <a:rPr lang="en-US" sz="2400" dirty="0"/>
              <a:t>Assessment of functional impairment(</a:t>
            </a:r>
            <a:r>
              <a:rPr lang="en-US" sz="2400" dirty="0" err="1"/>
              <a:t>echo,ECG</a:t>
            </a:r>
            <a:r>
              <a:rPr lang="en-US" sz="2400" dirty="0"/>
              <a:t>)</a:t>
            </a:r>
          </a:p>
          <a:p>
            <a:pPr>
              <a:lnSpc>
                <a:spcPct val="170000"/>
              </a:lnSpc>
              <a:buNone/>
            </a:pPr>
            <a:endParaRPr lang="en-US" sz="1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07FB-08FA-499F-8F03-9B5451F44AF9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42</a:t>
            </a:fld>
            <a:endParaRPr lang="en-US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2800" y="914400"/>
            <a:ext cx="5791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/>
          <a:lstStyle/>
          <a:p>
            <a:r>
              <a:rPr lang="en-US" sz="3200" b="1" dirty="0"/>
              <a:t>Management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4864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b="1" dirty="0"/>
              <a:t>Volume management 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 err="1"/>
              <a:t>Diruretic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b="1" dirty="0"/>
              <a:t>Pressure management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/>
              <a:t>ca channel or B-blocker</a:t>
            </a:r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b="1" dirty="0" err="1"/>
              <a:t>Vasculary</a:t>
            </a:r>
            <a:r>
              <a:rPr lang="en-US" b="1" dirty="0"/>
              <a:t> therapy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/>
              <a:t>vasodilator</a:t>
            </a:r>
            <a:endParaRPr lang="en-US" b="1" dirty="0"/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b="1" dirty="0"/>
              <a:t>Maintain </a:t>
            </a:r>
            <a:r>
              <a:rPr lang="en-US" b="1" dirty="0" err="1"/>
              <a:t>atrial</a:t>
            </a:r>
            <a:r>
              <a:rPr lang="en-US" b="1" dirty="0"/>
              <a:t> contractility and prevent tachycardia</a:t>
            </a:r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b="1" dirty="0"/>
              <a:t>Inotropic therapy  </a:t>
            </a:r>
          </a:p>
          <a:p>
            <a:pPr lvl="1">
              <a:lnSpc>
                <a:spcPct val="150000"/>
              </a:lnSpc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66304-E6CA-4BBD-8FA6-759B387409E0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4114800" cy="365125"/>
          </a:xfrm>
        </p:spPr>
        <p:txBody>
          <a:bodyPr/>
          <a:lstStyle/>
          <a:p>
            <a:r>
              <a:rPr lang="en-US"/>
              <a:t>Anesthesia for Cardiac surgery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C00000"/>
                </a:solidFill>
              </a:rPr>
              <a:t>Pre op assessment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726488" cy="5334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Hx: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Evidence of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decompensation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within 6 months of surgery is associated with increased risk.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An ejection fraction (EF).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Metabolic equivalent test (MET):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Risk stratification via different cardiac risk indexes is crucial  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89C9-4173-4354-9C78-DB1464C7A95D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5B415-062C-4531-A2B3-A509C3452491}" type="datetime1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</p:spTree>
    <p:extLst>
      <p:ext uri="{BB962C8B-B14F-4D97-AF65-F5344CB8AC3E}">
        <p14:creationId xmlns:p14="http://schemas.microsoft.com/office/powerpoint/2010/main" val="26831746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Cont….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10600" cy="5334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Active</a:t>
            </a:r>
            <a:r>
              <a:rPr lang="en-US" dirty="0"/>
              <a:t> </a:t>
            </a:r>
            <a:r>
              <a:rPr lang="en-US" b="1" dirty="0"/>
              <a:t>cardiac</a:t>
            </a:r>
            <a:r>
              <a:rPr lang="en-US" dirty="0"/>
              <a:t> </a:t>
            </a:r>
            <a:r>
              <a:rPr lang="en-US" b="1" dirty="0"/>
              <a:t>conditions</a:t>
            </a:r>
            <a:r>
              <a:rPr lang="en-US" dirty="0"/>
              <a:t> for which the patient should undergo evaluation and treatment before </a:t>
            </a:r>
            <a:r>
              <a:rPr lang="en-US" dirty="0" err="1"/>
              <a:t>noncardiac</a:t>
            </a:r>
            <a:r>
              <a:rPr lang="en-US" dirty="0"/>
              <a:t> surgery</a:t>
            </a:r>
          </a:p>
          <a:p>
            <a:pPr marL="0" indent="0">
              <a:buNone/>
            </a:pPr>
            <a:r>
              <a:rPr lang="en-US" dirty="0"/>
              <a:t>          - </a:t>
            </a:r>
            <a:r>
              <a:rPr lang="en-US" sz="2800" b="1" dirty="0"/>
              <a:t>Unstable coronary syndromes </a:t>
            </a:r>
          </a:p>
          <a:p>
            <a:pPr marL="0" indent="0">
              <a:buNone/>
            </a:pPr>
            <a:r>
              <a:rPr lang="en-US" dirty="0"/>
              <a:t>          - </a:t>
            </a:r>
            <a:r>
              <a:rPr lang="en-US" sz="2800" b="1" dirty="0" err="1"/>
              <a:t>Decompensated</a:t>
            </a:r>
            <a:r>
              <a:rPr lang="en-US" sz="2800" b="1" dirty="0"/>
              <a:t> HF</a:t>
            </a:r>
          </a:p>
          <a:p>
            <a:pPr marL="0" indent="0">
              <a:buNone/>
            </a:pPr>
            <a:r>
              <a:rPr lang="en-US" dirty="0"/>
              <a:t>          - </a:t>
            </a:r>
            <a:r>
              <a:rPr lang="en-US" b="1" dirty="0"/>
              <a:t>Significan</a:t>
            </a:r>
            <a:r>
              <a:rPr lang="en-US" sz="2800" b="1" dirty="0"/>
              <a:t>t arrhythmias 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          - </a:t>
            </a:r>
            <a:r>
              <a:rPr lang="en-US" sz="2800" b="1" dirty="0"/>
              <a:t>Severe </a:t>
            </a:r>
            <a:r>
              <a:rPr lang="en-US" sz="2800" b="1" dirty="0" err="1"/>
              <a:t>Valvular</a:t>
            </a:r>
            <a:r>
              <a:rPr lang="en-US" sz="2800" b="1" dirty="0"/>
              <a:t> disease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859CD-D747-4B89-9C83-F667F76D930B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Estimating LV impairments from EF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077200" cy="403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6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0386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346200">
                <a:tc>
                  <a:txBody>
                    <a:bodyPr/>
                    <a:lstStyle/>
                    <a:p>
                      <a:r>
                        <a:rPr lang="en-US" sz="2400" dirty="0"/>
                        <a:t>Ejection fraction 40-50%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Mild LV impairment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346200">
                <a:tc>
                  <a:txBody>
                    <a:bodyPr/>
                    <a:lstStyle/>
                    <a:p>
                      <a:r>
                        <a:rPr lang="en-US" sz="2400" dirty="0"/>
                        <a:t>Ejection fraction 30-40%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Moderate LV impairment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346200">
                <a:tc>
                  <a:txBody>
                    <a:bodyPr/>
                    <a:lstStyle/>
                    <a:p>
                      <a:r>
                        <a:rPr lang="en-US" sz="2400" dirty="0"/>
                        <a:t>Ejection fraction &lt; 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Severe  LV impairment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89C9-4173-4354-9C78-DB1464C7A95D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D2319-BCED-4632-A87C-02ADC80AF9AE}" type="datetime1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</p:spTree>
    <p:extLst>
      <p:ext uri="{BB962C8B-B14F-4D97-AF65-F5344CB8AC3E}">
        <p14:creationId xmlns:p14="http://schemas.microsoft.com/office/powerpoint/2010/main" val="374364746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9144000" cy="62484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150000"/>
              </a:lnSpc>
            </a:pPr>
            <a:r>
              <a:rPr lang="en-US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Investigations;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CBC : Anaemia and electrolyte disturbance (especially for patients taking diuretics) should be identified and treated.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ECG: Check for arrhythmias, cardiac axis, QRS morphology...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CXR:- cardiomegaly, pleural effusions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Echocardiogram :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Transthoracic echocardiogram (EF, Valve </a:t>
            </a:r>
            <a:r>
              <a:rPr lang="en-US" sz="3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D. …)</a:t>
            </a: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89C9-4173-4354-9C78-DB1464C7A95D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5614E-2204-487F-BD74-7E483788B803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</p:spTree>
    <p:extLst>
      <p:ext uri="{BB962C8B-B14F-4D97-AF65-F5344CB8AC3E}">
        <p14:creationId xmlns:p14="http://schemas.microsoft.com/office/powerpoint/2010/main" val="21637002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Induction and intra op management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47800"/>
            <a:ext cx="8915400" cy="4800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Hemodynamic goals :</a:t>
            </a:r>
          </a:p>
          <a:p>
            <a:pPr lvl="1">
              <a:lnSpc>
                <a:spcPct val="200000"/>
              </a:lnSpc>
              <a:buBlip>
                <a:blip r:embed="rId2"/>
              </a:buBlip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preserving CO </a:t>
            </a:r>
          </a:p>
          <a:p>
            <a:pPr lvl="1">
              <a:lnSpc>
                <a:spcPct val="200000"/>
              </a:lnSpc>
              <a:buBlip>
                <a:blip r:embed="rId2"/>
              </a:buBlip>
            </a:pPr>
            <a:r>
              <a:rPr lang="en-US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minimizing myocardial work</a:t>
            </a:r>
            <a:r>
              <a:rPr lang="en-US" sz="32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89C9-4173-4354-9C78-DB1464C7A95D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ABF92-2F13-4C3D-8D09-8A583408CAE5}" type="datetime1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</p:spTree>
    <p:extLst>
      <p:ext uri="{BB962C8B-B14F-4D97-AF65-F5344CB8AC3E}">
        <p14:creationId xmlns:p14="http://schemas.microsoft.com/office/powerpoint/2010/main" val="11659597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2000"/>
            <a:ext cx="9144000" cy="55626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Preserving cardiac out put: </a:t>
            </a:r>
          </a:p>
          <a:p>
            <a:pPr lvl="3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Increase the central venous pressure </a:t>
            </a:r>
          </a:p>
          <a:p>
            <a:pPr lvl="3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Avoid tachycardia </a:t>
            </a:r>
          </a:p>
          <a:p>
            <a:pPr lvl="3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Avoid /treat /control Arrythmias </a:t>
            </a:r>
            <a:r>
              <a:rPr lang="en-US" sz="2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ESP. atrial fibrillation</a:t>
            </a:r>
          </a:p>
          <a:p>
            <a:pPr lvl="3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Use IV agents which have sympathomimetic effects for induction .</a:t>
            </a:r>
          </a:p>
          <a:p>
            <a:pPr>
              <a:buFont typeface="Wingdings" pitchFamily="2" charset="2"/>
              <a:buChar char="ü"/>
            </a:pPr>
            <a:endParaRPr lang="en-US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89C9-4173-4354-9C78-DB1464C7A95D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84BF8-558D-42E2-954A-2CBBDE1378F9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</p:spTree>
    <p:extLst>
      <p:ext uri="{BB962C8B-B14F-4D97-AF65-F5344CB8AC3E}">
        <p14:creationId xmlns:p14="http://schemas.microsoft.com/office/powerpoint/2010/main" val="17688779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/>
          <a:lstStyle/>
          <a:p>
            <a:pPr marL="342900" lvl="3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Avoid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hypovolemia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Vasopressor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Inotrope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or phosphodiesterase inhibitors may be required for patients who decompensate in the perioperative period.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89C9-4173-4354-9C78-DB1464C7A95D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3060D-10A9-4A14-BBED-6BA0C1D00DF4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</p:spTree>
    <p:extLst>
      <p:ext uri="{BB962C8B-B14F-4D97-AF65-F5344CB8AC3E}">
        <p14:creationId xmlns:p14="http://schemas.microsoft.com/office/powerpoint/2010/main" val="32655653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04800"/>
            <a:ext cx="8726488" cy="6172199"/>
          </a:xfrm>
        </p:spPr>
        <p:txBody>
          <a:bodyPr/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Minimize  myocardial work load </a:t>
            </a:r>
          </a:p>
          <a:p>
            <a:pPr lvl="1">
              <a:lnSpc>
                <a:spcPct val="200000"/>
              </a:lnSpc>
              <a:buBlip>
                <a:blip r:embed="rId3"/>
              </a:buBlip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Avoid Tachycardia  by preventing factors which may precipitate tachycardia, including intubation, surgical stimulus, Hypovolaemia, anemia, hypoxia, hypercapina, post-operative pain, nausea and vomiting.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89C9-4173-4354-9C78-DB1464C7A95D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4AA59-5F72-409F-8DFE-5C2022ED3D5C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</p:spTree>
    <p:extLst>
      <p:ext uri="{BB962C8B-B14F-4D97-AF65-F5344CB8AC3E}">
        <p14:creationId xmlns:p14="http://schemas.microsoft.com/office/powerpoint/2010/main" val="35401672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609600"/>
            <a:ext cx="8726488" cy="552291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2800" dirty="0"/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Opioids such as</a:t>
            </a:r>
            <a:r>
              <a:rPr 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alfentanil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attenuate the response to intubation.</a:t>
            </a:r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Effective analgesia is important and use of regional techniques should be considered</a:t>
            </a:r>
            <a:endParaRPr lang="en-US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89C9-4173-4354-9C78-DB1464C7A95D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3ADC1-16E9-4FD8-B665-18F589D71631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</p:spTree>
    <p:extLst>
      <p:ext uri="{BB962C8B-B14F-4D97-AF65-F5344CB8AC3E}">
        <p14:creationId xmlns:p14="http://schemas.microsoft.com/office/powerpoint/2010/main" val="2418685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Cont…..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991600" cy="5562600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Symptomatic arrhythmias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should be treated, and attempts made to control heart rate to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around 80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bpm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Atrial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fibrillation is poorly tolerated</a:t>
            </a:r>
          </a:p>
          <a:p>
            <a:pPr>
              <a:lnSpc>
                <a:spcPct val="150000"/>
              </a:lnSpc>
            </a:pPr>
            <a:endParaRPr lang="en-US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Elective surgery should be postponed until medical management has been </a:t>
            </a:r>
            <a:r>
              <a:rPr lang="en-US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optimised</a:t>
            </a:r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and risk assessed thoroughly against benefit…. (2 – 6wks)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D0D15-5B53-428C-93F1-7DCFC4354A78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Coronary artery disease </a:t>
            </a:r>
            <a:br>
              <a:rPr lang="en-US" sz="3200" b="1" dirty="0"/>
            </a:br>
            <a:r>
              <a:rPr lang="en-US" sz="3200" b="1" dirty="0"/>
              <a:t>Ischemic heart disease </a:t>
            </a:r>
            <a:r>
              <a:rPr lang="en-US" sz="3200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295400"/>
            <a:ext cx="8458200" cy="52578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2800" dirty="0"/>
              <a:t>An inadequate supply of </a:t>
            </a:r>
            <a:r>
              <a:rPr lang="en-US" sz="2800" dirty="0">
                <a:solidFill>
                  <a:srgbClr val="FF0000"/>
                </a:solidFill>
              </a:rPr>
              <a:t>blood and oxygen </a:t>
            </a:r>
            <a:r>
              <a:rPr lang="en-US" sz="2800" dirty="0"/>
              <a:t>to a portion of the myocardium </a:t>
            </a:r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2800" dirty="0"/>
              <a:t>An imbalance between myocardial oxygen supply and demand. </a:t>
            </a:r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2800" dirty="0"/>
              <a:t>The most common cause of myocardial ischemia is </a:t>
            </a:r>
            <a:r>
              <a:rPr lang="en-US" sz="2800" i="1" dirty="0">
                <a:solidFill>
                  <a:srgbClr val="FF0000"/>
                </a:solidFill>
              </a:rPr>
              <a:t>atherosclerotic</a:t>
            </a:r>
            <a:r>
              <a:rPr lang="en-US" sz="2800" dirty="0"/>
              <a:t> disease of an </a:t>
            </a:r>
            <a:r>
              <a:rPr lang="en-US" sz="2800" dirty="0" err="1"/>
              <a:t>epicardial</a:t>
            </a:r>
            <a:r>
              <a:rPr lang="en-US" sz="2800" dirty="0"/>
              <a:t> coronary artery (or arteries)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89C9-4173-4354-9C78-DB1464C7A95D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D584F-B441-4767-B2A8-B4EBECA7E3A8}" type="datetime1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</p:spTree>
    <p:extLst>
      <p:ext uri="{BB962C8B-B14F-4D97-AF65-F5344CB8AC3E}">
        <p14:creationId xmlns:p14="http://schemas.microsoft.com/office/powerpoint/2010/main" val="37822444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2000"/>
          </a:xfrm>
        </p:spPr>
        <p:txBody>
          <a:bodyPr>
            <a:normAutofit/>
          </a:bodyPr>
          <a:lstStyle/>
          <a:p>
            <a:r>
              <a:rPr lang="en-US" dirty="0"/>
              <a:t>CAD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39BA5-8B43-4E51-9180-90A24A7E590A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55</a:t>
            </a:fld>
            <a:endParaRPr lang="en-US"/>
          </a:p>
        </p:txBody>
      </p:sp>
      <p:pic>
        <p:nvPicPr>
          <p:cNvPr id="7" name="Picture 2" descr="C:\Users\Administrator\Downloads\download (1)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1" y="1295400"/>
            <a:ext cx="4495799" cy="4876800"/>
          </a:xfrm>
          <a:prstGeom prst="rect">
            <a:avLst/>
          </a:prstGeom>
          <a:noFill/>
        </p:spPr>
      </p:pic>
      <p:pic>
        <p:nvPicPr>
          <p:cNvPr id="8" name="Picture 2" descr="C:\Users\Administrator\Downloads\coronary-artery-disease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00600" y="1143000"/>
            <a:ext cx="4343400" cy="5105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US" dirty="0"/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10600" cy="53340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dirty="0"/>
              <a:t>The prevalence of vascular disease and ischemic heart disease increases significantly with age - in the US 30% of patients who undergo surgery annually have  IHD</a:t>
            </a:r>
          </a:p>
          <a:p>
            <a:pPr>
              <a:lnSpc>
                <a:spcPct val="150000"/>
              </a:lnSpc>
              <a:buBlip>
                <a:blip r:embed="rId2"/>
              </a:buBlip>
            </a:pPr>
            <a:endParaRPr lang="en-US" dirty="0"/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dirty="0"/>
              <a:t> 5% of patients &gt;35 years of age have </a:t>
            </a:r>
            <a:r>
              <a:rPr lang="en-US" b="1" dirty="0"/>
              <a:t>asymptomatic </a:t>
            </a:r>
            <a:r>
              <a:rPr lang="en-US" dirty="0"/>
              <a:t>ischemic heart disease. 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79625-3038-479D-8CF7-F6B5D8A07F63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Cont….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458200" cy="5181600"/>
          </a:xfrm>
        </p:spPr>
        <p:txBody>
          <a:bodyPr/>
          <a:lstStyle/>
          <a:p>
            <a:pPr>
              <a:buNone/>
            </a:pPr>
            <a:r>
              <a:rPr lang="en-US" dirty="0"/>
              <a:t> </a:t>
            </a:r>
            <a:r>
              <a:rPr lang="en-US" b="1" u="sng" dirty="0"/>
              <a:t>Disease of the coronary arteries can cause</a:t>
            </a:r>
          </a:p>
          <a:p>
            <a:pPr lvl="1">
              <a:lnSpc>
                <a:spcPct val="150000"/>
              </a:lnSpc>
              <a:buBlip>
                <a:blip r:embed="rId2"/>
              </a:buBlip>
            </a:pPr>
            <a:r>
              <a:rPr lang="en-US" sz="3200" dirty="0"/>
              <a:t>M</a:t>
            </a:r>
            <a:r>
              <a:rPr lang="en-US" dirty="0"/>
              <a:t>yocardial infarction (MI)</a:t>
            </a:r>
          </a:p>
          <a:p>
            <a:pPr lvl="1">
              <a:lnSpc>
                <a:spcPct val="150000"/>
              </a:lnSpc>
              <a:buBlip>
                <a:blip r:embed="rId2"/>
              </a:buBlip>
            </a:pPr>
            <a:r>
              <a:rPr lang="en-US" sz="3200" dirty="0"/>
              <a:t>A</a:t>
            </a:r>
            <a:r>
              <a:rPr lang="en-US" dirty="0"/>
              <a:t>ngina</a:t>
            </a:r>
          </a:p>
          <a:p>
            <a:pPr lvl="1">
              <a:lnSpc>
                <a:spcPct val="150000"/>
              </a:lnSpc>
              <a:buBlip>
                <a:blip r:embed="rId2"/>
              </a:buBlip>
            </a:pPr>
            <a:r>
              <a:rPr lang="en-US" sz="3200" dirty="0"/>
              <a:t>C</a:t>
            </a:r>
            <a:r>
              <a:rPr lang="en-US" dirty="0"/>
              <a:t>ardiac arrhythmias</a:t>
            </a:r>
          </a:p>
          <a:p>
            <a:pPr lvl="1">
              <a:lnSpc>
                <a:spcPct val="150000"/>
              </a:lnSpc>
              <a:buBlip>
                <a:blip r:embed="rId2"/>
              </a:buBlip>
            </a:pPr>
            <a:r>
              <a:rPr lang="en-US" sz="3200" dirty="0"/>
              <a:t>H</a:t>
            </a:r>
            <a:r>
              <a:rPr lang="en-US" dirty="0"/>
              <a:t>eart failure</a:t>
            </a:r>
          </a:p>
          <a:p>
            <a:pPr lvl="1">
              <a:lnSpc>
                <a:spcPct val="150000"/>
              </a:lnSpc>
              <a:buBlip>
                <a:blip r:embed="rId2"/>
              </a:buBlip>
            </a:pPr>
            <a:r>
              <a:rPr lang="en-US" sz="3500" dirty="0"/>
              <a:t>S</a:t>
            </a:r>
            <a:r>
              <a:rPr lang="en-US" dirty="0"/>
              <a:t>udden death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077F-1F30-4197-B0C8-87091A3806ED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Cont……….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7B17E-35DD-41B5-A0DC-FDE712B4CFC0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58</a:t>
            </a:fld>
            <a:endParaRPr lang="en-US"/>
          </a:p>
        </p:txBody>
      </p:sp>
      <p:pic>
        <p:nvPicPr>
          <p:cNvPr id="7" name="Picture 3" descr="C:\Users\Administrator\Documents\MI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09600" y="3200400"/>
            <a:ext cx="3429000" cy="29718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>
          <a:xfrm>
            <a:off x="304800" y="1371600"/>
            <a:ext cx="54102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An inadequate blood supply to the heart muscle ( </a:t>
            </a:r>
            <a:r>
              <a:rPr lang="en-US" sz="2800" b="1" dirty="0"/>
              <a:t>myocardial ischemia)</a:t>
            </a:r>
            <a:r>
              <a:rPr lang="en-US" sz="2800" dirty="0"/>
              <a:t>.        </a:t>
            </a:r>
            <a:r>
              <a:rPr lang="en-US" sz="2800" b="1" dirty="0"/>
              <a:t>acute coronary syndromes</a:t>
            </a:r>
            <a:endParaRPr lang="en-US" sz="2800" dirty="0"/>
          </a:p>
        </p:txBody>
      </p:sp>
      <p:pic>
        <p:nvPicPr>
          <p:cNvPr id="9" name="Picture 2" descr="C:\Users\Administrator\Documents\MI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5000" y="1676400"/>
            <a:ext cx="3429000" cy="4419600"/>
          </a:xfrm>
          <a:prstGeom prst="rect">
            <a:avLst/>
          </a:prstGeom>
          <a:noFill/>
        </p:spPr>
      </p:pic>
      <p:sp>
        <p:nvSpPr>
          <p:cNvPr id="10" name="Right Arrow 9"/>
          <p:cNvSpPr/>
          <p:nvPr/>
        </p:nvSpPr>
        <p:spPr>
          <a:xfrm>
            <a:off x="1828800" y="2438400"/>
            <a:ext cx="597408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887B0-78D4-4266-8371-347E7BC0F93B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59</a:t>
            </a:fld>
            <a:endParaRPr lang="en-US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04800" y="1395820"/>
            <a:ext cx="8839200" cy="4956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457200"/>
            <a:ext cx="7848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Cont….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10600" cy="52578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What three factors determine the severity of an MI?</a:t>
            </a:r>
          </a:p>
          <a:p>
            <a:pPr lvl="1">
              <a:lnSpc>
                <a:spcPct val="150000"/>
              </a:lnSpc>
              <a:buBlip>
                <a:blip r:embed="rId2"/>
              </a:buBlip>
            </a:pPr>
            <a:r>
              <a:rPr lang="en-US" dirty="0"/>
              <a:t>The </a:t>
            </a:r>
            <a:r>
              <a:rPr lang="en-US" b="1" dirty="0"/>
              <a:t>level of the occlusion </a:t>
            </a:r>
            <a:r>
              <a:rPr lang="en-US" dirty="0"/>
              <a:t>in the coronary artery</a:t>
            </a:r>
          </a:p>
          <a:p>
            <a:pPr lvl="1">
              <a:lnSpc>
                <a:spcPct val="150000"/>
              </a:lnSpc>
              <a:buBlip>
                <a:blip r:embed="rId2"/>
              </a:buBlip>
            </a:pPr>
            <a:r>
              <a:rPr lang="en-US" dirty="0"/>
              <a:t>The </a:t>
            </a:r>
            <a:r>
              <a:rPr lang="en-US" b="1" dirty="0"/>
              <a:t>length of time of the occlusion </a:t>
            </a:r>
            <a:r>
              <a:rPr lang="en-US" dirty="0"/>
              <a:t>of the artery</a:t>
            </a:r>
          </a:p>
          <a:p>
            <a:pPr lvl="1">
              <a:lnSpc>
                <a:spcPct val="150000"/>
              </a:lnSpc>
              <a:buBlip>
                <a:blip r:embed="rId2"/>
              </a:buBlip>
            </a:pPr>
            <a:r>
              <a:rPr lang="en-US" dirty="0"/>
              <a:t>The </a:t>
            </a:r>
            <a:r>
              <a:rPr lang="en-US" b="1" dirty="0"/>
              <a:t>presence or absence of collateral circulation</a:t>
            </a:r>
          </a:p>
          <a:p>
            <a:pPr>
              <a:lnSpc>
                <a:spcPct val="150000"/>
              </a:lnSpc>
              <a:buBlip>
                <a:blip r:embed="rId2"/>
              </a:buBlip>
            </a:pPr>
            <a:endParaRPr lang="en-US" dirty="0"/>
          </a:p>
          <a:p>
            <a:pPr>
              <a:lnSpc>
                <a:spcPct val="150000"/>
              </a:lnSpc>
              <a:buBlip>
                <a:blip r:embed="rId2"/>
              </a:buBlip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09476-04B7-4033-9355-662CB55E9364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60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2" y="1371600"/>
            <a:ext cx="8854438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1371600" y="274638"/>
            <a:ext cx="7772400" cy="1143000"/>
          </a:xfrm>
        </p:spPr>
        <p:txBody>
          <a:bodyPr>
            <a:normAutofit/>
          </a:bodyPr>
          <a:lstStyle/>
          <a:p>
            <a:r>
              <a:rPr lang="en-US" sz="3200" b="1" dirty="0"/>
              <a:t>Blood supply of the Heart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89C9-4173-4354-9C78-DB1464C7A95D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D1EDC-E09C-42B5-B3E0-BECE92ABFE4C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</p:spTree>
    <p:extLst>
      <p:ext uri="{BB962C8B-B14F-4D97-AF65-F5344CB8AC3E}">
        <p14:creationId xmlns:p14="http://schemas.microsoft.com/office/powerpoint/2010/main" val="15671399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/>
              <a:t>Cont....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990600"/>
            <a:ext cx="845820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89C9-4173-4354-9C78-DB1464C7A95D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B9DA0-456B-4F63-B9EB-2650DCD23232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</p:spTree>
    <p:extLst>
      <p:ext uri="{BB962C8B-B14F-4D97-AF65-F5344CB8AC3E}">
        <p14:creationId xmlns:p14="http://schemas.microsoft.com/office/powerpoint/2010/main" val="101858742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Determinant of myocardial o2 demand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371600"/>
            <a:ext cx="8534400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89C9-4173-4354-9C78-DB1464C7A95D}" type="slidenum">
              <a:rPr lang="en-US" smtClean="0"/>
              <a:pPr/>
              <a:t>63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69CCA-66AD-4E34-9AD1-B06D94987982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</p:spTree>
    <p:extLst>
      <p:ext uri="{BB962C8B-B14F-4D97-AF65-F5344CB8AC3E}">
        <p14:creationId xmlns:p14="http://schemas.microsoft.com/office/powerpoint/2010/main" val="217909602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447800"/>
            <a:ext cx="8458200" cy="5105400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US" dirty="0"/>
              <a:t>Male gender</a:t>
            </a:r>
          </a:p>
          <a:p>
            <a:pPr>
              <a:lnSpc>
                <a:spcPct val="170000"/>
              </a:lnSpc>
            </a:pPr>
            <a:r>
              <a:rPr lang="en-US" dirty="0"/>
              <a:t>Increasing age</a:t>
            </a:r>
          </a:p>
          <a:p>
            <a:pPr>
              <a:lnSpc>
                <a:spcPct val="170000"/>
              </a:lnSpc>
            </a:pPr>
            <a:r>
              <a:rPr lang="en-US" dirty="0"/>
              <a:t>Hypercholesterolemia</a:t>
            </a:r>
          </a:p>
          <a:p>
            <a:pPr>
              <a:lnSpc>
                <a:spcPct val="170000"/>
              </a:lnSpc>
            </a:pPr>
            <a:r>
              <a:rPr lang="en-US" dirty="0"/>
              <a:t>Hypertension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89C9-4173-4354-9C78-DB1464C7A95D}" type="slidenum">
              <a:rPr lang="en-US" smtClean="0"/>
              <a:pPr/>
              <a:t>64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Risk Factors for Development of IHD</a:t>
            </a:r>
            <a:endParaRPr lang="en-US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343400" y="1295400"/>
            <a:ext cx="4800600" cy="5105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/>
          <a:p>
            <a:pPr lvl="0">
              <a:lnSpc>
                <a:spcPct val="170000"/>
              </a:lnSpc>
              <a:spcBef>
                <a:spcPct val="0"/>
              </a:spcBef>
              <a:buFont typeface="Arial" pitchFamily="34" charset="0"/>
              <a:buChar char="•"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lang="en-US" sz="9600" dirty="0">
              <a:latin typeface="+mj-lt"/>
              <a:ea typeface="+mj-ea"/>
              <a:cs typeface="+mj-cs"/>
            </a:endParaRPr>
          </a:p>
          <a:p>
            <a:pPr lvl="0">
              <a:lnSpc>
                <a:spcPct val="170000"/>
              </a:lnSpc>
              <a:spcBef>
                <a:spcPct val="0"/>
              </a:spcBef>
              <a:buFont typeface="Arial" pitchFamily="34" charset="0"/>
              <a:buChar char="•"/>
            </a:pPr>
            <a:r>
              <a:rPr lang="en-US" sz="11200" dirty="0">
                <a:latin typeface="+mj-lt"/>
                <a:ea typeface="+mj-ea"/>
                <a:cs typeface="+mj-cs"/>
              </a:rPr>
              <a:t>Obesity</a:t>
            </a:r>
          </a:p>
          <a:p>
            <a:pPr lvl="0">
              <a:lnSpc>
                <a:spcPct val="170000"/>
              </a:lnSpc>
              <a:spcBef>
                <a:spcPct val="0"/>
              </a:spcBef>
              <a:buFont typeface="Arial" pitchFamily="34" charset="0"/>
              <a:buChar char="•"/>
            </a:pPr>
            <a:r>
              <a:rPr lang="en-US" sz="11200" dirty="0">
                <a:latin typeface="+mj-lt"/>
                <a:ea typeface="+mj-ea"/>
                <a:cs typeface="+mj-cs"/>
              </a:rPr>
              <a:t>Diabetes mellitus</a:t>
            </a:r>
            <a:endParaRPr kumimoji="0" lang="en-US" sz="1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lvl="0">
              <a:lnSpc>
                <a:spcPct val="170000"/>
              </a:lnSpc>
              <a:spcBef>
                <a:spcPct val="0"/>
              </a:spcBef>
              <a:buFont typeface="Arial" pitchFamily="34" charset="0"/>
              <a:buChar char="•"/>
            </a:pPr>
            <a:r>
              <a:rPr lang="en-US" sz="11200" dirty="0"/>
              <a:t> Cigarette smoking</a:t>
            </a:r>
            <a:endParaRPr lang="en-US" sz="11200" dirty="0">
              <a:latin typeface="+mj-lt"/>
              <a:ea typeface="+mj-ea"/>
              <a:cs typeface="+mj-cs"/>
            </a:endParaRPr>
          </a:p>
          <a:p>
            <a:pPr lvl="0">
              <a:lnSpc>
                <a:spcPct val="170000"/>
              </a:lnSpc>
              <a:spcBef>
                <a:spcPct val="0"/>
              </a:spcBef>
              <a:buFont typeface="Arial" pitchFamily="34" charset="0"/>
              <a:buChar char="•"/>
            </a:pPr>
            <a:r>
              <a:rPr kumimoji="0" lang="en-US" sz="1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Sedentary lifestyle</a:t>
            </a:r>
          </a:p>
          <a:p>
            <a:pPr lvl="0">
              <a:lnSpc>
                <a:spcPct val="170000"/>
              </a:lnSpc>
              <a:spcBef>
                <a:spcPct val="0"/>
              </a:spcBef>
              <a:buFont typeface="Arial" pitchFamily="34" charset="0"/>
              <a:buChar char="•"/>
            </a:pPr>
            <a:r>
              <a:rPr kumimoji="0" lang="en-US" sz="1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Genetic factors</a:t>
            </a:r>
            <a:r>
              <a:rPr lang="en-US" sz="11200" dirty="0">
                <a:latin typeface="+mj-lt"/>
                <a:ea typeface="+mj-ea"/>
                <a:cs typeface="+mj-cs"/>
              </a:rPr>
              <a:t> </a:t>
            </a:r>
          </a:p>
          <a:p>
            <a:pPr lvl="0">
              <a:lnSpc>
                <a:spcPct val="170000"/>
              </a:lnSpc>
              <a:spcBef>
                <a:spcPct val="0"/>
              </a:spcBef>
              <a:buFont typeface="Arial" pitchFamily="34" charset="0"/>
              <a:buChar char="•"/>
            </a:pPr>
            <a:r>
              <a:rPr kumimoji="0" lang="en-US" sz="1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Family history of premature ischemic heart disease</a:t>
            </a: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en-US" sz="9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90914-1C75-47E2-8B72-CBAE62503435}" type="datetime1">
              <a:rPr lang="en-US" smtClean="0"/>
              <a:t>10/28/2024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</p:spTree>
    <p:extLst>
      <p:ext uri="{BB962C8B-B14F-4D97-AF65-F5344CB8AC3E}">
        <p14:creationId xmlns:p14="http://schemas.microsoft.com/office/powerpoint/2010/main" val="4037817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371600" y="274638"/>
            <a:ext cx="7772400" cy="1143000"/>
          </a:xfrm>
        </p:spPr>
        <p:txBody>
          <a:bodyPr>
            <a:normAutofit/>
          </a:bodyPr>
          <a:lstStyle/>
          <a:p>
            <a:r>
              <a:rPr lang="en-US" sz="3200" b="1" dirty="0"/>
              <a:t>Spectrum Of IHD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0"/>
            <a:ext cx="8686799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89C9-4173-4354-9C78-DB1464C7A95D}" type="slidenum">
              <a:rPr lang="en-US" smtClean="0"/>
              <a:pPr/>
              <a:t>65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61E6A-67B5-46D7-99EF-5BAF4CC484E3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</p:spTree>
    <p:extLst>
      <p:ext uri="{BB962C8B-B14F-4D97-AF65-F5344CB8AC3E}">
        <p14:creationId xmlns:p14="http://schemas.microsoft.com/office/powerpoint/2010/main" val="265771634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Myocardial Infarction (MI)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066800"/>
            <a:ext cx="8686800" cy="5334000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  <a:buBlip>
                <a:blip r:embed="rId2"/>
              </a:buBlip>
            </a:pPr>
            <a:r>
              <a:rPr lang="en-US" dirty="0"/>
              <a:t> </a:t>
            </a:r>
            <a:r>
              <a:rPr lang="en-US" sz="4100" b="1" dirty="0"/>
              <a:t>"</a:t>
            </a:r>
            <a:r>
              <a:rPr lang="en-US" sz="2800" b="1" dirty="0"/>
              <a:t>heart attack," </a:t>
            </a:r>
            <a:r>
              <a:rPr lang="en-US" sz="2800" dirty="0"/>
              <a:t>is the death of cardiac muscle resulting from ischemia.</a:t>
            </a:r>
          </a:p>
          <a:p>
            <a:pPr>
              <a:lnSpc>
                <a:spcPct val="160000"/>
              </a:lnSpc>
              <a:buBlip>
                <a:blip r:embed="rId2"/>
              </a:buBlip>
            </a:pPr>
            <a:r>
              <a:rPr lang="en-US" sz="2800" dirty="0"/>
              <a:t>Region of myocardial necrosis </a:t>
            </a:r>
            <a:r>
              <a:rPr lang="en-US" sz="2800" i="1" dirty="0">
                <a:solidFill>
                  <a:srgbClr val="FF0000"/>
                </a:solidFill>
              </a:rPr>
              <a:t>(prolonged cessation of </a:t>
            </a:r>
            <a:r>
              <a:rPr lang="en-US" sz="2800" b="1" i="1" dirty="0">
                <a:solidFill>
                  <a:srgbClr val="FF0000"/>
                </a:solidFill>
              </a:rPr>
              <a:t>blood supply)</a:t>
            </a:r>
          </a:p>
          <a:p>
            <a:pPr>
              <a:lnSpc>
                <a:spcPct val="160000"/>
              </a:lnSpc>
              <a:buBlip>
                <a:blip r:embed="rId2"/>
              </a:buBlip>
            </a:pPr>
            <a:r>
              <a:rPr lang="en-US" sz="2800" dirty="0"/>
              <a:t>Resulted from acute thrombus at side of coronary </a:t>
            </a:r>
            <a:r>
              <a:rPr lang="en-US" sz="2800" b="1" dirty="0"/>
              <a:t>atherosclerotic or </a:t>
            </a:r>
            <a:r>
              <a:rPr lang="en-US" sz="2800" dirty="0" err="1"/>
              <a:t>stenosis</a:t>
            </a:r>
            <a:endParaRPr lang="en-US" sz="28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89C9-4173-4354-9C78-DB1464C7A95D}" type="slidenum">
              <a:rPr lang="en-US" smtClean="0"/>
              <a:pPr/>
              <a:t>66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CEA5A-C1A6-4DC7-9FBA-6ED9BFC0949C}" type="datetime1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</p:spTree>
    <p:extLst>
      <p:ext uri="{BB962C8B-B14F-4D97-AF65-F5344CB8AC3E}">
        <p14:creationId xmlns:p14="http://schemas.microsoft.com/office/powerpoint/2010/main" val="13121108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82000" cy="1143000"/>
          </a:xfrm>
        </p:spPr>
        <p:txBody>
          <a:bodyPr>
            <a:normAutofit/>
          </a:bodyPr>
          <a:lstStyle/>
          <a:p>
            <a:r>
              <a:rPr lang="en-US" sz="3200" b="1" dirty="0"/>
              <a:t>Typical symptoms of acute myocardial infarction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5181600"/>
          </a:xfrm>
        </p:spPr>
        <p:txBody>
          <a:bodyPr>
            <a:normAutofit lnSpcReduction="10000"/>
          </a:bodyPr>
          <a:lstStyle/>
          <a:p>
            <a:pPr lvl="2">
              <a:lnSpc>
                <a:spcPct val="160000"/>
              </a:lnSpc>
              <a:buFont typeface="Wingdings" pitchFamily="2" charset="2"/>
              <a:buChar char="Ø"/>
            </a:pPr>
            <a:r>
              <a:rPr lang="en-US" sz="2800" dirty="0"/>
              <a:t>Sudden Chest Pain,</a:t>
            </a:r>
          </a:p>
          <a:p>
            <a:pPr lvl="2">
              <a:lnSpc>
                <a:spcPct val="160000"/>
              </a:lnSpc>
              <a:buFont typeface="Wingdings" pitchFamily="2" charset="2"/>
              <a:buChar char="Ø"/>
            </a:pPr>
            <a:r>
              <a:rPr lang="en-US" sz="2800" dirty="0"/>
              <a:t>Shortness Of Breath,</a:t>
            </a:r>
          </a:p>
          <a:p>
            <a:pPr lvl="2">
              <a:lnSpc>
                <a:spcPct val="160000"/>
              </a:lnSpc>
              <a:buFont typeface="Wingdings" pitchFamily="2" charset="2"/>
              <a:buChar char="Ø"/>
            </a:pPr>
            <a:r>
              <a:rPr lang="en-US" sz="2800" dirty="0"/>
              <a:t>Nausea, Vomiting,</a:t>
            </a:r>
          </a:p>
          <a:p>
            <a:pPr lvl="2">
              <a:lnSpc>
                <a:spcPct val="160000"/>
              </a:lnSpc>
              <a:buFont typeface="Wingdings" pitchFamily="2" charset="2"/>
              <a:buChar char="Ø"/>
            </a:pPr>
            <a:r>
              <a:rPr lang="en-US" sz="2800" dirty="0"/>
              <a:t>Palpitations, Sweating</a:t>
            </a:r>
          </a:p>
          <a:p>
            <a:pPr lvl="2">
              <a:lnSpc>
                <a:spcPct val="160000"/>
              </a:lnSpc>
              <a:buFont typeface="Wingdings" pitchFamily="2" charset="2"/>
              <a:buChar char="Ø"/>
            </a:pPr>
            <a:r>
              <a:rPr lang="en-US" sz="2800" dirty="0"/>
              <a:t>Weakness, Light-headedness</a:t>
            </a:r>
          </a:p>
          <a:p>
            <a:pPr lvl="2">
              <a:lnSpc>
                <a:spcPct val="160000"/>
              </a:lnSpc>
              <a:buFont typeface="Wingdings" pitchFamily="2" charset="2"/>
              <a:buChar char="Ø"/>
            </a:pPr>
            <a:r>
              <a:rPr lang="en-US" sz="2800" dirty="0"/>
              <a:t>Collapse/syncope </a:t>
            </a:r>
            <a:br>
              <a:rPr lang="en-US" sz="2800" dirty="0"/>
            </a:br>
            <a:endParaRPr lang="en-US" sz="2800" dirty="0"/>
          </a:p>
          <a:p>
            <a:pPr>
              <a:lnSpc>
                <a:spcPct val="160000"/>
              </a:lnSpc>
            </a:pPr>
            <a:endParaRPr lang="en-US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0299B-29F5-4ED0-9765-60A0B3B45C36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67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3600" y="1371600"/>
            <a:ext cx="2819400" cy="490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Signs  of AMI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0"/>
            <a:ext cx="8763000" cy="48768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2800" b="1" i="1" dirty="0"/>
              <a:t>Tachycardia, anxiety and restlessness</a:t>
            </a:r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2800" b="1" i="1" dirty="0"/>
              <a:t>Skin pale cool and moist</a:t>
            </a:r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2800" b="1" i="1" dirty="0"/>
              <a:t>Hypotension and shock</a:t>
            </a:r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2800" b="1" i="1" dirty="0"/>
              <a:t>Sudden death </a:t>
            </a:r>
            <a:r>
              <a:rPr lang="en-US" sz="2800" dirty="0"/>
              <a:t>– fatal arrhythmias (</a:t>
            </a:r>
            <a:r>
              <a:rPr lang="en-US" sz="2800" b="1" i="1" dirty="0"/>
              <a:t>ventricular fibrillation</a:t>
            </a:r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A47FB-E7A2-44A3-B48A-7790795451BA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Myocardial Infarction (MI)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447800"/>
            <a:ext cx="8763000" cy="510540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Diagnosis of Acute MI: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At least 2 of the following</a:t>
            </a:r>
            <a:br>
              <a:rPr lang="en-US" dirty="0"/>
            </a:br>
            <a:r>
              <a:rPr lang="en-US" dirty="0"/>
              <a:t>• Ischemic symptoms</a:t>
            </a:r>
            <a:br>
              <a:rPr lang="en-US" dirty="0"/>
            </a:br>
            <a:r>
              <a:rPr lang="en-US" dirty="0"/>
              <a:t>• Diagnostic ECG changes</a:t>
            </a:r>
            <a:br>
              <a:rPr lang="en-US" dirty="0"/>
            </a:br>
            <a:r>
              <a:rPr lang="en-US" dirty="0"/>
              <a:t>• Serum cardiac marker elevations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89C9-4173-4354-9C78-DB1464C7A95D}" type="slidenum">
              <a:rPr lang="en-US" smtClean="0"/>
              <a:pPr/>
              <a:t>69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F9F8E-61F7-4113-B31B-36D4AB806F2A}" type="datetime1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</p:spTree>
    <p:extLst>
      <p:ext uri="{BB962C8B-B14F-4D97-AF65-F5344CB8AC3E}">
        <p14:creationId xmlns:p14="http://schemas.microsoft.com/office/powerpoint/2010/main" val="334057772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371600" y="274638"/>
            <a:ext cx="7772400" cy="1143000"/>
          </a:xfrm>
        </p:spPr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Myocardial Infarction (MI) 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747838"/>
            <a:ext cx="8229600" cy="4729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89C9-4173-4354-9C78-DB1464C7A95D}" type="slidenum">
              <a:rPr lang="en-US" smtClean="0"/>
              <a:pPr/>
              <a:t>70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4432F-2316-40AC-B64B-0F9AA9212944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</p:spTree>
    <p:extLst>
      <p:ext uri="{BB962C8B-B14F-4D97-AF65-F5344CB8AC3E}">
        <p14:creationId xmlns:p14="http://schemas.microsoft.com/office/powerpoint/2010/main" val="98579119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Screening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219200"/>
            <a:ext cx="8686800" cy="525780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60000"/>
              </a:lnSpc>
              <a:buNone/>
            </a:pPr>
            <a:r>
              <a:rPr lang="en-US" b="1" dirty="0"/>
              <a:t>Goals</a:t>
            </a:r>
            <a:br>
              <a:rPr lang="en-US" b="1" dirty="0"/>
            </a:br>
            <a:r>
              <a:rPr lang="en-US" sz="3300" b="1" dirty="0"/>
              <a:t>• </a:t>
            </a:r>
            <a:r>
              <a:rPr lang="en-US" sz="3300" dirty="0"/>
              <a:t>Identify the risk for heart disease based on risk factors.</a:t>
            </a:r>
            <a:br>
              <a:rPr lang="en-US" sz="3300" dirty="0"/>
            </a:br>
            <a:r>
              <a:rPr lang="en-US" sz="3300" dirty="0"/>
              <a:t>• Identify the presence and severity of heart disease (</a:t>
            </a:r>
            <a:r>
              <a:rPr lang="en-US" sz="3300" i="1" dirty="0">
                <a:solidFill>
                  <a:srgbClr val="FF0000"/>
                </a:solidFill>
              </a:rPr>
              <a:t>symptoms, physical findings, or diagnostic tests</a:t>
            </a:r>
            <a:r>
              <a:rPr lang="en-US" sz="3300" dirty="0"/>
              <a:t>) .</a:t>
            </a:r>
            <a:br>
              <a:rPr lang="en-US" sz="3300" dirty="0"/>
            </a:br>
            <a:r>
              <a:rPr lang="en-US" sz="3300" dirty="0"/>
              <a:t>• Determine the need for preoperative interventions.</a:t>
            </a:r>
            <a:br>
              <a:rPr lang="en-US" sz="3300" dirty="0"/>
            </a:br>
            <a:r>
              <a:rPr lang="en-US" sz="3300" dirty="0"/>
              <a:t>• Modify the risk for perioperative adverse events. </a:t>
            </a:r>
            <a:br>
              <a:rPr lang="en-US" sz="3300" dirty="0"/>
            </a:br>
            <a:endParaRPr lang="en-US" sz="33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89C9-4173-4354-9C78-DB1464C7A95D}" type="slidenum">
              <a:rPr lang="en-US" smtClean="0"/>
              <a:pPr/>
              <a:t>71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A2C16-6901-4C44-9A56-2F24FE36DA81}" type="datetime1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</p:spTree>
    <p:extLst>
      <p:ext uri="{BB962C8B-B14F-4D97-AF65-F5344CB8AC3E}">
        <p14:creationId xmlns:p14="http://schemas.microsoft.com/office/powerpoint/2010/main" val="297412163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Specialized Preoperative Testing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447800"/>
            <a:ext cx="8686800" cy="5029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12-lead ECG: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Prominent </a:t>
            </a:r>
            <a:r>
              <a:rPr lang="en-US" b="1" dirty="0"/>
              <a:t>Q waves) </a:t>
            </a:r>
            <a:r>
              <a:rPr lang="en-US" dirty="0"/>
              <a:t>in 2 or more leads - </a:t>
            </a:r>
            <a:r>
              <a:rPr lang="en-US" b="1" dirty="0"/>
              <a:t>old MI  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ST segment depression</a:t>
            </a:r>
            <a:r>
              <a:rPr lang="en-US" dirty="0"/>
              <a:t> - angina pectoris 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ST-segment elevation, </a:t>
            </a:r>
            <a:r>
              <a:rPr lang="en-US" dirty="0"/>
              <a:t>increased </a:t>
            </a:r>
            <a:r>
              <a:rPr lang="en-US" b="1" dirty="0"/>
              <a:t>T-wave</a:t>
            </a:r>
            <a:r>
              <a:rPr lang="en-US" dirty="0"/>
              <a:t> amplitude,</a:t>
            </a:r>
            <a:br>
              <a:rPr lang="en-US" dirty="0"/>
            </a:br>
            <a:r>
              <a:rPr lang="en-US" dirty="0"/>
              <a:t>followed by ST elevation -  </a:t>
            </a:r>
            <a:r>
              <a:rPr lang="en-US" b="1" dirty="0"/>
              <a:t>AMI</a:t>
            </a:r>
            <a:r>
              <a:rPr lang="en-US" dirty="0"/>
              <a:t> or </a:t>
            </a:r>
            <a:r>
              <a:rPr lang="en-US" b="1" dirty="0"/>
              <a:t>variant angina</a:t>
            </a:r>
            <a:r>
              <a:rPr lang="en-US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Reversible </a:t>
            </a:r>
            <a:r>
              <a:rPr lang="en-US" b="1" dirty="0"/>
              <a:t>T wave inversion - angina pectoris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89C9-4173-4354-9C78-DB1464C7A95D}" type="slidenum">
              <a:rPr lang="en-US" smtClean="0"/>
              <a:pPr/>
              <a:t>72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8A057-919C-40EB-B2B7-050C2252CCD0}" type="datetime1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</p:spTree>
    <p:extLst>
      <p:ext uri="{BB962C8B-B14F-4D97-AF65-F5344CB8AC3E}">
        <p14:creationId xmlns:p14="http://schemas.microsoft.com/office/powerpoint/2010/main" val="8211674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228600" y="1371600"/>
            <a:ext cx="8915400" cy="510540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60000"/>
              </a:lnSpc>
            </a:pPr>
            <a:r>
              <a:rPr lang="en-US" b="1" dirty="0"/>
              <a:t>Exercise ECG -</a:t>
            </a:r>
            <a:r>
              <a:rPr lang="en-US" sz="3000" dirty="0"/>
              <a:t>for detecting signs of </a:t>
            </a:r>
            <a:r>
              <a:rPr lang="en-US" sz="3000" b="1" dirty="0"/>
              <a:t>myocardial ischemia </a:t>
            </a:r>
            <a:r>
              <a:rPr lang="en-US" sz="3000" dirty="0"/>
              <a:t>as well as for </a:t>
            </a:r>
            <a:r>
              <a:rPr lang="en-US" sz="3000" b="1" dirty="0"/>
              <a:t>evaluation of exercise capacity</a:t>
            </a:r>
            <a:endParaRPr lang="en-US" b="1" dirty="0"/>
          </a:p>
          <a:p>
            <a:pPr>
              <a:lnSpc>
                <a:spcPct val="160000"/>
              </a:lnSpc>
              <a:buNone/>
            </a:pPr>
            <a:r>
              <a:rPr lang="en-US" b="1" dirty="0">
                <a:solidFill>
                  <a:srgbClr val="FF0000"/>
                </a:solidFill>
              </a:rPr>
              <a:t>Contraindications</a:t>
            </a:r>
            <a:r>
              <a:rPr lang="en-US" b="1" dirty="0"/>
              <a:t>:</a:t>
            </a:r>
            <a:br>
              <a:rPr lang="en-US" b="1" dirty="0"/>
            </a:br>
            <a:r>
              <a:rPr lang="en-US" dirty="0"/>
              <a:t>• Severe AS</a:t>
            </a:r>
            <a:br>
              <a:rPr lang="en-US" dirty="0"/>
            </a:br>
            <a:r>
              <a:rPr lang="en-US" dirty="0"/>
              <a:t>• Severe hypotension</a:t>
            </a:r>
            <a:br>
              <a:rPr lang="en-US" dirty="0"/>
            </a:br>
            <a:r>
              <a:rPr lang="en-US" dirty="0"/>
              <a:t>• Acute myocarditis</a:t>
            </a:r>
            <a:br>
              <a:rPr lang="en-US" dirty="0"/>
            </a:br>
            <a:r>
              <a:rPr lang="en-US" dirty="0"/>
              <a:t>• Uncontrolled HF</a:t>
            </a:r>
            <a:br>
              <a:rPr lang="en-US" dirty="0"/>
            </a:br>
            <a:r>
              <a:rPr lang="en-US" dirty="0"/>
              <a:t>• Infective Endocarditis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89C9-4173-4354-9C78-DB1464C7A95D}" type="slidenum">
              <a:rPr lang="en-US" smtClean="0"/>
              <a:pPr/>
              <a:t>73</a:t>
            </a:fld>
            <a:endParaRPr lang="en-US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dirty="0">
                <a:latin typeface="+mj-lt"/>
                <a:ea typeface="+mj-ea"/>
                <a:cs typeface="+mj-cs"/>
              </a:rPr>
              <a:t>Cont….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A7E23-FF11-4A46-B20C-9055FD31FF3B}" type="datetime1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</p:spTree>
    <p:extLst>
      <p:ext uri="{BB962C8B-B14F-4D97-AF65-F5344CB8AC3E}">
        <p14:creationId xmlns:p14="http://schemas.microsoft.com/office/powerpoint/2010/main" val="52418143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533400" y="1447800"/>
            <a:ext cx="8610600" cy="4572000"/>
          </a:xfrm>
        </p:spPr>
        <p:txBody>
          <a:bodyPr/>
          <a:lstStyle/>
          <a:p>
            <a:r>
              <a:rPr lang="en-US" b="1" dirty="0"/>
              <a:t>ECG Changes in Stable Angina</a:t>
            </a:r>
            <a:r>
              <a:rPr lang="en-US" dirty="0"/>
              <a:t>: </a:t>
            </a:r>
            <a:r>
              <a:rPr lang="en-US" b="1" dirty="0"/>
              <a:t>Transient ST depression</a:t>
            </a:r>
            <a:r>
              <a:rPr lang="en-US" dirty="0"/>
              <a:t> 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362200"/>
            <a:ext cx="79248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89C9-4173-4354-9C78-DB1464C7A95D}" type="slidenum">
              <a:rPr lang="en-US" smtClean="0"/>
              <a:pPr/>
              <a:t>74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FABD1-1AFA-48DF-95C9-6D7AB4DE064B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</p:spTree>
    <p:extLst>
      <p:ext uri="{BB962C8B-B14F-4D97-AF65-F5344CB8AC3E}">
        <p14:creationId xmlns:p14="http://schemas.microsoft.com/office/powerpoint/2010/main" val="39168051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0" y="1447800"/>
            <a:ext cx="8458200" cy="5029200"/>
          </a:xfrm>
        </p:spPr>
        <p:txBody>
          <a:bodyPr>
            <a:normAutofit fontScale="77500" lnSpcReduction="20000"/>
          </a:bodyPr>
          <a:lstStyle/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ECG Changes in Unstable Angina</a:t>
            </a:r>
            <a:r>
              <a:rPr lang="en-US" dirty="0"/>
              <a:t>: </a:t>
            </a:r>
            <a:r>
              <a:rPr lang="en-US" b="1" dirty="0"/>
              <a:t>Transient ST depression / T wave inversion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229600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89C9-4173-4354-9C78-DB1464C7A95D}" type="slidenum">
              <a:rPr lang="en-US" smtClean="0"/>
              <a:pPr/>
              <a:t>75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A81F8-C7A2-4C49-93C1-6FDB37F1A3DB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</p:spTree>
    <p:extLst>
      <p:ext uri="{BB962C8B-B14F-4D97-AF65-F5344CB8AC3E}">
        <p14:creationId xmlns:p14="http://schemas.microsoft.com/office/powerpoint/2010/main" val="265481380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447800"/>
            <a:ext cx="8458199" cy="4876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89C9-4173-4354-9C78-DB1464C7A95D}" type="slidenum">
              <a:rPr lang="en-US" smtClean="0"/>
              <a:pPr/>
              <a:t>76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D69DD-FC6D-4B5F-A901-EAF49C885314}" type="datetime1">
              <a:rPr lang="en-US" smtClean="0"/>
              <a:t>10/28/2024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</p:spTree>
    <p:extLst>
      <p:ext uri="{BB962C8B-B14F-4D97-AF65-F5344CB8AC3E}">
        <p14:creationId xmlns:p14="http://schemas.microsoft.com/office/powerpoint/2010/main" val="376348360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371600"/>
            <a:ext cx="8305800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89C9-4173-4354-9C78-DB1464C7A95D}" type="slidenum">
              <a:rPr lang="en-US" smtClean="0"/>
              <a:pPr/>
              <a:t>77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09ED-F3C7-4C45-86AB-EE2B74921DC1}" type="datetime1">
              <a:rPr lang="en-US" smtClean="0"/>
              <a:t>10/28/2024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</p:spTree>
    <p:extLst>
      <p:ext uri="{BB962C8B-B14F-4D97-AF65-F5344CB8AC3E}">
        <p14:creationId xmlns:p14="http://schemas.microsoft.com/office/powerpoint/2010/main" val="392208578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33400"/>
          </a:xfrm>
        </p:spPr>
        <p:txBody>
          <a:bodyPr>
            <a:normAutofit fontScale="90000"/>
          </a:bodyPr>
          <a:lstStyle/>
          <a:p>
            <a:r>
              <a:rPr lang="en-US" dirty="0"/>
              <a:t>CONT….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685800"/>
            <a:ext cx="8686800" cy="5715000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70000"/>
              </a:lnSpc>
              <a:buBlip>
                <a:blip r:embed="rId2"/>
              </a:buBlip>
            </a:pPr>
            <a:r>
              <a:rPr lang="en-US" sz="5100" dirty="0"/>
              <a:t>a common recommendation is to delay elective surgery, especially </a:t>
            </a:r>
            <a:r>
              <a:rPr lang="en-US" sz="5100" b="1" dirty="0"/>
              <a:t>thoracic</a:t>
            </a:r>
            <a:r>
              <a:rPr lang="en-US" sz="5100" dirty="0"/>
              <a:t>, upper </a:t>
            </a:r>
            <a:r>
              <a:rPr lang="en-US" sz="5100" b="1" dirty="0"/>
              <a:t>abdominal</a:t>
            </a:r>
            <a:r>
              <a:rPr lang="en-US" sz="5100" dirty="0"/>
              <a:t>, or other </a:t>
            </a:r>
            <a:r>
              <a:rPr lang="en-US" sz="5100" b="1" dirty="0"/>
              <a:t>major</a:t>
            </a:r>
            <a:r>
              <a:rPr lang="en-US" sz="5100" dirty="0"/>
              <a:t> procedures, for a period of </a:t>
            </a:r>
            <a:r>
              <a:rPr lang="en-US" sz="5100" b="1" dirty="0"/>
              <a:t>6 months </a:t>
            </a:r>
            <a:r>
              <a:rPr lang="en-US" sz="5100" dirty="0"/>
              <a:t>after MI.</a:t>
            </a:r>
          </a:p>
          <a:p>
            <a:pPr>
              <a:lnSpc>
                <a:spcPct val="170000"/>
              </a:lnSpc>
              <a:buBlip>
                <a:blip r:embed="rId2"/>
              </a:buBlip>
            </a:pPr>
            <a:r>
              <a:rPr lang="en-US" sz="5100" dirty="0"/>
              <a:t>Most </a:t>
            </a:r>
            <a:r>
              <a:rPr lang="en-US" sz="5100" dirty="0" err="1"/>
              <a:t>perioperative</a:t>
            </a:r>
            <a:r>
              <a:rPr lang="en-US" sz="5100" dirty="0"/>
              <a:t> myocardial </a:t>
            </a:r>
            <a:r>
              <a:rPr lang="en-US" sz="5100" dirty="0" err="1"/>
              <a:t>reinfarction</a:t>
            </a:r>
            <a:r>
              <a:rPr lang="en-US" sz="5100" dirty="0"/>
              <a:t> occur in the first </a:t>
            </a:r>
            <a:r>
              <a:rPr lang="en-US" sz="5100" b="1" dirty="0"/>
              <a:t>48 to 72 hrs</a:t>
            </a:r>
            <a:r>
              <a:rPr lang="en-US" sz="5100" dirty="0"/>
              <a:t> </a:t>
            </a:r>
            <a:r>
              <a:rPr lang="en-US" sz="5100" b="1" dirty="0"/>
              <a:t>postoperatively</a:t>
            </a:r>
            <a:r>
              <a:rPr lang="en-US" sz="5100" dirty="0"/>
              <a:t>. </a:t>
            </a:r>
          </a:p>
          <a:p>
            <a:pPr>
              <a:lnSpc>
                <a:spcPct val="170000"/>
              </a:lnSpc>
              <a:buBlip>
                <a:blip r:embed="rId2"/>
              </a:buBlip>
            </a:pPr>
            <a:r>
              <a:rPr lang="en-US" sz="5100" b="1" dirty="0" err="1"/>
              <a:t>Perioperative</a:t>
            </a:r>
            <a:r>
              <a:rPr lang="en-US" sz="5100" b="1" dirty="0"/>
              <a:t> </a:t>
            </a:r>
            <a:r>
              <a:rPr lang="el-GR" sz="5100" b="1" dirty="0"/>
              <a:t>β</a:t>
            </a:r>
            <a:r>
              <a:rPr lang="en-US" sz="5100" b="1" dirty="0"/>
              <a:t>-blockade started 7 to 30 days before surgery and continued for 30 days postoperatively has been shown to reduce the risk for cardiac morbidity (MI or cardiac death) by 90%. </a:t>
            </a:r>
          </a:p>
          <a:p>
            <a:pPr>
              <a:lnSpc>
                <a:spcPct val="200000"/>
              </a:lnSpc>
              <a:buBlip>
                <a:blip r:embed="rId2"/>
              </a:buBlip>
            </a:pPr>
            <a:endParaRPr lang="en-US" sz="2800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5474A-3905-4E2A-9103-126A3D8BC2E5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Echocardiography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8382000" cy="502920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3000" dirty="0"/>
              <a:t>localize the </a:t>
            </a:r>
            <a:r>
              <a:rPr lang="en-US" sz="3000" b="1" dirty="0"/>
              <a:t>obstructive</a:t>
            </a:r>
            <a:r>
              <a:rPr lang="en-US" sz="3000" dirty="0"/>
              <a:t> coronary lesions.</a:t>
            </a:r>
          </a:p>
          <a:p>
            <a:pPr>
              <a:lnSpc>
                <a:spcPct val="150000"/>
              </a:lnSpc>
            </a:pPr>
            <a:r>
              <a:rPr lang="en-US" sz="3000" dirty="0"/>
              <a:t>used to assess </a:t>
            </a:r>
            <a:r>
              <a:rPr lang="en-US" sz="3000" b="1" dirty="0"/>
              <a:t>global cardiac function</a:t>
            </a:r>
            <a:r>
              <a:rPr lang="en-US" sz="3000" dirty="0"/>
              <a:t> -</a:t>
            </a:r>
          </a:p>
          <a:p>
            <a:pPr>
              <a:lnSpc>
                <a:spcPct val="150000"/>
              </a:lnSpc>
            </a:pPr>
            <a:r>
              <a:rPr lang="en-US" sz="3000" dirty="0"/>
              <a:t>To assess </a:t>
            </a:r>
            <a:r>
              <a:rPr lang="en-US" sz="3000" b="1" dirty="0"/>
              <a:t>regional wall motion abnormalities </a:t>
            </a:r>
            <a:r>
              <a:rPr lang="en-US" sz="3000" dirty="0"/>
              <a:t>&amp; detect the </a:t>
            </a:r>
            <a:r>
              <a:rPr lang="en-US" sz="3000" b="1" dirty="0"/>
              <a:t>presence of previous myocardial injury</a:t>
            </a:r>
            <a:r>
              <a:rPr lang="en-US" sz="30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000" dirty="0"/>
              <a:t/>
            </a:r>
            <a:br>
              <a:rPr lang="en-US" sz="3000" dirty="0"/>
            </a:b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89C9-4173-4354-9C78-DB1464C7A95D}" type="slidenum">
              <a:rPr lang="en-US" smtClean="0"/>
              <a:pPr/>
              <a:t>79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37BAB-FA49-4E5C-AECF-2A9F87A49454}" type="datetime1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</p:spTree>
    <p:extLst>
      <p:ext uri="{BB962C8B-B14F-4D97-AF65-F5344CB8AC3E}">
        <p14:creationId xmlns:p14="http://schemas.microsoft.com/office/powerpoint/2010/main" val="33792540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Stress echocardiography: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8382000" cy="4572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This is used with </a:t>
            </a:r>
            <a:r>
              <a:rPr lang="en-US" b="1" dirty="0"/>
              <a:t>pharmacologic induction </a:t>
            </a:r>
            <a:r>
              <a:rPr lang="en-US" dirty="0"/>
              <a:t>of cardiac stress</a:t>
            </a:r>
            <a:br>
              <a:rPr lang="en-US" dirty="0"/>
            </a:br>
            <a:r>
              <a:rPr lang="en-US" dirty="0"/>
              <a:t>(</a:t>
            </a:r>
            <a:r>
              <a:rPr lang="en-US" b="1" dirty="0"/>
              <a:t>dobutamine</a:t>
            </a:r>
            <a:r>
              <a:rPr lang="en-US" dirty="0"/>
              <a:t>) or exercise to look at LV segmental wall function at </a:t>
            </a:r>
            <a:r>
              <a:rPr lang="en-US" b="1" dirty="0">
                <a:solidFill>
                  <a:srgbClr val="FF0000"/>
                </a:solidFill>
              </a:rPr>
              <a:t>rest &amp; with stress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This can be also used to differentiate between viable (hibernating, stunned) &amp; nonviable (infarcted) myocardial segments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89C9-4173-4354-9C78-DB1464C7A95D}" type="slidenum">
              <a:rPr lang="en-US" smtClean="0"/>
              <a:pPr/>
              <a:t>80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35062-BB12-433B-B515-8CBE2AE05A18}" type="datetime1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</p:spTree>
    <p:extLst>
      <p:ext uri="{BB962C8B-B14F-4D97-AF65-F5344CB8AC3E}">
        <p14:creationId xmlns:p14="http://schemas.microsoft.com/office/powerpoint/2010/main" val="73609201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imagings…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371600"/>
            <a:ext cx="8534400" cy="5029200"/>
          </a:xfrm>
        </p:spPr>
        <p:txBody>
          <a:bodyPr/>
          <a:lstStyle/>
          <a:p>
            <a:endParaRPr lang="en-US" b="1" dirty="0"/>
          </a:p>
          <a:p>
            <a:pPr>
              <a:lnSpc>
                <a:spcPct val="200000"/>
              </a:lnSpc>
            </a:pPr>
            <a:r>
              <a:rPr lang="en-US" sz="2800" b="1" dirty="0"/>
              <a:t>Nuclear Stress Imaging </a:t>
            </a:r>
            <a:endParaRPr lang="en-US" sz="2800" dirty="0"/>
          </a:p>
          <a:p>
            <a:pPr>
              <a:lnSpc>
                <a:spcPct val="200000"/>
              </a:lnSpc>
            </a:pPr>
            <a:r>
              <a:rPr lang="en-US" sz="2800" b="1" dirty="0"/>
              <a:t>Coronary Angiography</a:t>
            </a:r>
          </a:p>
          <a:p>
            <a:pPr>
              <a:lnSpc>
                <a:spcPct val="200000"/>
              </a:lnSpc>
            </a:pPr>
            <a:r>
              <a:rPr lang="en-US" sz="2800" b="1" dirty="0"/>
              <a:t>Positron Emission Tomography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89C9-4173-4354-9C78-DB1464C7A95D}" type="slidenum">
              <a:rPr lang="en-US" smtClean="0"/>
              <a:pPr/>
              <a:t>81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F7AED-AAAE-4947-970C-073D59BC1631}" type="datetime1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</p:spTree>
    <p:extLst>
      <p:ext uri="{BB962C8B-B14F-4D97-AF65-F5344CB8AC3E}">
        <p14:creationId xmlns:p14="http://schemas.microsoft.com/office/powerpoint/2010/main" val="299926955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Management Prior to Surgery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8610600" cy="4953000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Three options</a:t>
            </a:r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i="1" dirty="0"/>
              <a:t>Revascularization by surgery (CABG)</a:t>
            </a:r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i="1" dirty="0"/>
              <a:t>Revascularization by PCI</a:t>
            </a:r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i="1" dirty="0"/>
              <a:t>Optimal Medical Management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89C9-4173-4354-9C78-DB1464C7A95D}" type="slidenum">
              <a:rPr lang="en-US" smtClean="0"/>
              <a:pPr/>
              <a:t>82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6ECE0-2ED3-4EDD-B9A0-1594304C05AE}" type="datetime1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</p:spTree>
    <p:extLst>
      <p:ext uri="{BB962C8B-B14F-4D97-AF65-F5344CB8AC3E}">
        <p14:creationId xmlns:p14="http://schemas.microsoft.com/office/powerpoint/2010/main" val="94209207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/>
              <a:t>High /Intermediate risk Surgery + Moderate Clinical Risk Factors </a:t>
            </a:r>
          </a:p>
        </p:txBody>
      </p:sp>
      <p:pic>
        <p:nvPicPr>
          <p:cNvPr id="1945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1000" y="1524000"/>
            <a:ext cx="8305800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89C9-4173-4354-9C78-DB1464C7A95D}" type="slidenum">
              <a:rPr lang="en-US" smtClean="0"/>
              <a:pPr/>
              <a:t>83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3FD9D-A048-4558-B74C-5F80985BD9CF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</p:spTree>
    <p:extLst>
      <p:ext uri="{BB962C8B-B14F-4D97-AF65-F5344CB8AC3E}">
        <p14:creationId xmlns:p14="http://schemas.microsoft.com/office/powerpoint/2010/main" val="78010718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800" b="1" dirty="0"/>
              <a:t>High /Intermediate risk Surgery + Moderate – Minor Clinical Risk Factors</a:t>
            </a:r>
            <a:r>
              <a:rPr lang="en-US" sz="2800" dirty="0"/>
              <a:t> 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447800"/>
            <a:ext cx="853440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89C9-4173-4354-9C78-DB1464C7A95D}" type="slidenum">
              <a:rPr lang="en-US" smtClean="0"/>
              <a:pPr/>
              <a:t>84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91B15-307F-4BFB-AC49-8E3CBBBF9D60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</p:spTree>
    <p:extLst>
      <p:ext uri="{BB962C8B-B14F-4D97-AF65-F5344CB8AC3E}">
        <p14:creationId xmlns:p14="http://schemas.microsoft.com/office/powerpoint/2010/main" val="84162943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609600" y="1447800"/>
            <a:ext cx="8534400" cy="4953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dirty="0" err="1"/>
              <a:t>Perioperative</a:t>
            </a:r>
            <a:r>
              <a:rPr lang="en-US" dirty="0"/>
              <a:t> beta-blocker therapy</a:t>
            </a:r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dirty="0" err="1"/>
              <a:t>Perioperative</a:t>
            </a:r>
            <a:r>
              <a:rPr lang="en-US" dirty="0"/>
              <a:t> </a:t>
            </a:r>
            <a:r>
              <a:rPr lang="en-US" dirty="0" err="1"/>
              <a:t>statin</a:t>
            </a:r>
            <a:r>
              <a:rPr lang="en-US" dirty="0"/>
              <a:t> therapy</a:t>
            </a:r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dirty="0"/>
              <a:t>ACE inhibitors</a:t>
            </a:r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dirty="0" err="1"/>
              <a:t>Antiplatelet</a:t>
            </a:r>
            <a:r>
              <a:rPr lang="en-US" dirty="0"/>
              <a:t> agents</a:t>
            </a:r>
          </a:p>
          <a:p>
            <a:pPr marL="0" indent="0">
              <a:lnSpc>
                <a:spcPct val="150000"/>
              </a:lnSpc>
              <a:buBlip>
                <a:blip r:embed="rId2"/>
              </a:buBlip>
            </a:pP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89C9-4173-4354-9C78-DB1464C7A95D}" type="slidenum">
              <a:rPr lang="en-US" smtClean="0"/>
              <a:pPr/>
              <a:t>85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609600" y="0"/>
            <a:ext cx="800099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</a:pPr>
            <a:r>
              <a:rPr lang="en-US" sz="3200" b="1" dirty="0">
                <a:solidFill>
                  <a:prstClr val="black"/>
                </a:solidFill>
              </a:rPr>
              <a:t>Pharmacological Management (ACC/AHA + European Guidelines)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71F77-75A0-4168-A809-1A93EA75A454}" type="datetime1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</p:spTree>
    <p:extLst>
      <p:ext uri="{BB962C8B-B14F-4D97-AF65-F5344CB8AC3E}">
        <p14:creationId xmlns:p14="http://schemas.microsoft.com/office/powerpoint/2010/main" val="39173362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>
            <a:normAutofit/>
          </a:bodyPr>
          <a:lstStyle/>
          <a:p>
            <a:r>
              <a:rPr lang="en-US" sz="3200" b="1" dirty="0"/>
              <a:t>Anesthesia management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5334000"/>
          </a:xfrm>
        </p:spPr>
        <p:txBody>
          <a:bodyPr/>
          <a:lstStyle/>
          <a:p>
            <a:pPr>
              <a:buNone/>
            </a:pPr>
            <a:r>
              <a:rPr lang="en-US" b="1" dirty="0"/>
              <a:t>Goal</a:t>
            </a:r>
            <a:r>
              <a:rPr lang="en-US" dirty="0"/>
              <a:t> </a:t>
            </a:r>
          </a:p>
          <a:p>
            <a:pPr>
              <a:lnSpc>
                <a:spcPct val="200000"/>
              </a:lnSpc>
              <a:buBlip>
                <a:blip r:embed="rId2"/>
              </a:buBlip>
            </a:pPr>
            <a:r>
              <a:rPr lang="en-US" sz="2800" dirty="0"/>
              <a:t>maintenance of a favorable balance between myocardial O₂ requirements and myocardial O₂ delivery </a:t>
            </a:r>
          </a:p>
          <a:p>
            <a:pPr>
              <a:lnSpc>
                <a:spcPct val="200000"/>
              </a:lnSpc>
              <a:buBlip>
                <a:blip r:embed="rId2"/>
              </a:buBlip>
            </a:pPr>
            <a:r>
              <a:rPr lang="en-US" sz="2800" dirty="0"/>
              <a:t>Avoid </a:t>
            </a:r>
            <a:r>
              <a:rPr lang="en-US" sz="2800" b="1" dirty="0"/>
              <a:t>adrenergic surge </a:t>
            </a:r>
            <a:r>
              <a:rPr lang="en-US" sz="2800" dirty="0"/>
              <a:t>leading to an imbalance in myocardial o2 supply – demand ratio</a:t>
            </a:r>
          </a:p>
          <a:p>
            <a:pPr>
              <a:lnSpc>
                <a:spcPct val="200000"/>
              </a:lnSpc>
              <a:buBlip>
                <a:blip r:embed="rId2"/>
              </a:buBlip>
            </a:pPr>
            <a:r>
              <a:rPr lang="en-US" sz="2800" dirty="0"/>
              <a:t>Preserve CO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3A403-DBC0-4BE4-8F4A-AAAD1313CE0B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86</a:t>
            </a:fld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Causes Of Myocardial O2 Imbalance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447800"/>
            <a:ext cx="8458200" cy="5029200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b="1" dirty="0"/>
              <a:t>1. </a:t>
            </a:r>
            <a:r>
              <a:rPr lang="en-US" sz="3500" b="1" dirty="0"/>
              <a:t>Decreased O2 supply</a:t>
            </a:r>
          </a:p>
          <a:p>
            <a:pPr>
              <a:lnSpc>
                <a:spcPct val="160000"/>
              </a:lnSpc>
              <a:buBlip>
                <a:blip r:embed="rId2"/>
              </a:buBlip>
            </a:pPr>
            <a:r>
              <a:rPr lang="en-US" sz="3500" dirty="0"/>
              <a:t>Decreased blood coronary flow</a:t>
            </a:r>
          </a:p>
          <a:p>
            <a:pPr lvl="1">
              <a:lnSpc>
                <a:spcPct val="160000"/>
              </a:lnSpc>
              <a:buBlip>
                <a:blip r:embed="rId3"/>
              </a:buBlip>
            </a:pPr>
            <a:r>
              <a:rPr lang="en-US" sz="3000" dirty="0"/>
              <a:t>tachycardia (decreased diastolic perfusion time)</a:t>
            </a:r>
          </a:p>
          <a:p>
            <a:pPr lvl="1">
              <a:lnSpc>
                <a:spcPct val="160000"/>
              </a:lnSpc>
              <a:buBlip>
                <a:blip r:embed="rId3"/>
              </a:buBlip>
            </a:pPr>
            <a:r>
              <a:rPr lang="en-US" sz="3000" dirty="0"/>
              <a:t>hypotension (</a:t>
            </a:r>
            <a:r>
              <a:rPr lang="en-US" sz="3000" dirty="0" err="1"/>
              <a:t>esp</a:t>
            </a:r>
            <a:r>
              <a:rPr lang="en-US" sz="3000" dirty="0"/>
              <a:t> diastolic BP)</a:t>
            </a:r>
          </a:p>
          <a:p>
            <a:pPr lvl="1">
              <a:lnSpc>
                <a:spcPct val="160000"/>
              </a:lnSpc>
              <a:buBlip>
                <a:blip r:embed="rId3"/>
              </a:buBlip>
            </a:pPr>
            <a:r>
              <a:rPr lang="en-US" sz="3000" dirty="0" err="1"/>
              <a:t>hypocapnia</a:t>
            </a:r>
            <a:r>
              <a:rPr lang="en-US" sz="3000" dirty="0"/>
              <a:t> (coronary </a:t>
            </a:r>
            <a:r>
              <a:rPr lang="en-US" sz="3000" dirty="0" err="1"/>
              <a:t>vaso</a:t>
            </a:r>
            <a:r>
              <a:rPr lang="en-US" sz="3000" dirty="0"/>
              <a:t> constriction)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89C9-4173-4354-9C78-DB1464C7A95D}" type="slidenum">
              <a:rPr lang="en-US" smtClean="0"/>
              <a:pPr/>
              <a:t>87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080C8-231A-40D8-94CF-122E0D8DF337}" type="datetime1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</p:spTree>
    <p:extLst>
      <p:ext uri="{BB962C8B-B14F-4D97-AF65-F5344CB8AC3E}">
        <p14:creationId xmlns:p14="http://schemas.microsoft.com/office/powerpoint/2010/main" val="141207860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/>
              <a:t>Cont….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8686800" cy="513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3600" b="1" dirty="0"/>
              <a:t>Decreased O2 content &amp; availability</a:t>
            </a:r>
          </a:p>
          <a:p>
            <a:pPr lvl="2">
              <a:lnSpc>
                <a:spcPct val="150000"/>
              </a:lnSpc>
              <a:buBlip>
                <a:blip r:embed="rId3"/>
              </a:buBlip>
            </a:pPr>
            <a:r>
              <a:rPr lang="en-US" sz="2800" dirty="0"/>
              <a:t> anemia</a:t>
            </a:r>
          </a:p>
          <a:p>
            <a:pPr lvl="2">
              <a:lnSpc>
                <a:spcPct val="150000"/>
              </a:lnSpc>
              <a:buBlip>
                <a:blip r:embed="rId3"/>
              </a:buBlip>
            </a:pPr>
            <a:r>
              <a:rPr lang="en-US" sz="2800" dirty="0"/>
              <a:t>Hypoxemia</a:t>
            </a:r>
          </a:p>
          <a:p>
            <a:pPr lvl="2">
              <a:lnSpc>
                <a:spcPct val="150000"/>
              </a:lnSpc>
              <a:buBlip>
                <a:blip r:embed="rId3"/>
              </a:buBlip>
            </a:pPr>
            <a:r>
              <a:rPr lang="en-US" sz="2800" dirty="0"/>
              <a:t> ODC shift to left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CCFC6-F31E-4BD5-8663-1B0807EBD9C6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88</a:t>
            </a:fld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2. Increased O2 demand</a:t>
            </a:r>
            <a:br>
              <a:rPr lang="en-US" b="1" dirty="0"/>
            </a:br>
            <a:r>
              <a:rPr lang="en-US" b="1" dirty="0"/>
              <a:t>   </a:t>
            </a:r>
            <a:r>
              <a:rPr lang="en-US" dirty="0"/>
              <a:t>• tachycardia</a:t>
            </a:r>
            <a:br>
              <a:rPr lang="en-US" dirty="0"/>
            </a:br>
            <a:r>
              <a:rPr lang="en-US" dirty="0"/>
              <a:t>   • increased wall tension</a:t>
            </a:r>
            <a:br>
              <a:rPr lang="en-US" dirty="0"/>
            </a:br>
            <a:r>
              <a:rPr lang="en-US" dirty="0"/>
              <a:t>   • increased preload</a:t>
            </a:r>
            <a:br>
              <a:rPr lang="en-US" dirty="0"/>
            </a:br>
            <a:r>
              <a:rPr lang="en-US" dirty="0"/>
              <a:t>   • increased after load</a:t>
            </a:r>
            <a:br>
              <a:rPr lang="en-US" dirty="0"/>
            </a:br>
            <a:r>
              <a:rPr lang="en-US" dirty="0"/>
              <a:t>   • increased myocardial contractility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9815F-253A-449E-BF33-787123A84ABF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89</a:t>
            </a:fld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Management….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Avoid Any event associated with </a:t>
            </a:r>
          </a:p>
          <a:p>
            <a:pPr marL="800100" lvl="2" indent="0">
              <a:lnSpc>
                <a:spcPct val="200000"/>
              </a:lnSpc>
              <a:buFont typeface="Wingdings" pitchFamily="2" charset="2"/>
              <a:buChar char="ü"/>
            </a:pPr>
            <a:r>
              <a:rPr lang="en-US" b="1" dirty="0"/>
              <a:t>  Persistent Tachycardia</a:t>
            </a:r>
            <a:endParaRPr lang="en-US" dirty="0"/>
          </a:p>
          <a:p>
            <a:pPr marL="800100" lvl="2" indent="0">
              <a:lnSpc>
                <a:spcPct val="200000"/>
              </a:lnSpc>
              <a:buFont typeface="Wingdings" pitchFamily="2" charset="2"/>
              <a:buChar char="ü"/>
            </a:pPr>
            <a:r>
              <a:rPr lang="en-US" b="1" dirty="0"/>
              <a:t> Systolic HTN</a:t>
            </a:r>
            <a:endParaRPr lang="en-US" dirty="0"/>
          </a:p>
          <a:p>
            <a:pPr marL="800100" lvl="2" indent="0">
              <a:lnSpc>
                <a:spcPct val="200000"/>
              </a:lnSpc>
              <a:buFont typeface="Wingdings" pitchFamily="2" charset="2"/>
              <a:buChar char="ü"/>
            </a:pPr>
            <a:r>
              <a:rPr lang="en-US" b="1" dirty="0"/>
              <a:t> Arterial hypoxemia</a:t>
            </a:r>
            <a:r>
              <a:rPr lang="en-US" dirty="0"/>
              <a:t> or </a:t>
            </a:r>
          </a:p>
          <a:p>
            <a:pPr marL="800100" lvl="2" indent="0">
              <a:lnSpc>
                <a:spcPct val="200000"/>
              </a:lnSpc>
              <a:buFont typeface="Wingdings" pitchFamily="2" charset="2"/>
              <a:buChar char="ü"/>
            </a:pPr>
            <a:r>
              <a:rPr lang="en-US" b="1" dirty="0"/>
              <a:t> Diastolic hypotension </a:t>
            </a:r>
          </a:p>
          <a:p>
            <a:pPr>
              <a:lnSpc>
                <a:spcPct val="200000"/>
              </a:lnSpc>
              <a:buFont typeface="Wingdings" pitchFamily="2" charset="2"/>
              <a:buChar char="ü"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13EA2-9D69-4C64-9969-C16505C33D9D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90</a:t>
            </a:fld>
            <a:endParaRPr 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en-US" dirty="0"/>
              <a:t>Management….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382000" cy="5257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Pre Medication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Benzodiazepines –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Intravenous narcotics (e.g. </a:t>
            </a:r>
            <a:r>
              <a:rPr lang="en-US" sz="2800" dirty="0" err="1"/>
              <a:t>Fentanyl</a:t>
            </a:r>
            <a:r>
              <a:rPr lang="en-US" sz="2800" dirty="0"/>
              <a:t>)</a:t>
            </a:r>
          </a:p>
          <a:p>
            <a:pPr>
              <a:buNone/>
            </a:pPr>
            <a:r>
              <a:rPr lang="en-US" b="1" dirty="0"/>
              <a:t>Induction agent</a:t>
            </a:r>
            <a:r>
              <a:rPr lang="en-US" dirty="0"/>
              <a:t>:</a:t>
            </a:r>
          </a:p>
          <a:p>
            <a:pPr lvl="1">
              <a:buFont typeface="Arial" pitchFamily="34" charset="0"/>
              <a:buChar char="•"/>
            </a:pPr>
            <a:r>
              <a:rPr lang="en-US" b="1" dirty="0" err="1"/>
              <a:t>Etomidate</a:t>
            </a:r>
            <a:r>
              <a:rPr lang="en-US" dirty="0"/>
              <a:t>: Causes minimal hemodynamic changes and is a good choice for patients with poor cardiac reserve.</a:t>
            </a:r>
          </a:p>
          <a:p>
            <a:pPr lvl="1">
              <a:buFont typeface="Arial" pitchFamily="34" charset="0"/>
              <a:buChar char="•"/>
            </a:pPr>
            <a:r>
              <a:rPr lang="en-US" b="1" dirty="0" err="1"/>
              <a:t>Ketamine</a:t>
            </a:r>
            <a:r>
              <a:rPr lang="en-US" b="1" dirty="0"/>
              <a:t> -best</a:t>
            </a:r>
            <a:r>
              <a:rPr lang="en-US" dirty="0"/>
              <a:t> to be avoided</a:t>
            </a:r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381C2-609B-4A54-9A5D-95FC5DA2F0E4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91</a:t>
            </a:fld>
            <a:endParaRPr 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err="1"/>
              <a:t>Perioperative</a:t>
            </a:r>
            <a:r>
              <a:rPr lang="en-US" sz="3200" b="1" dirty="0"/>
              <a:t> Monitoring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dirty="0"/>
              <a:t>ECG</a:t>
            </a:r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dirty="0"/>
              <a:t>PA catheter </a:t>
            </a:r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dirty="0"/>
              <a:t>CVP</a:t>
            </a:r>
          </a:p>
          <a:p>
            <a:pPr marL="0" indent="0">
              <a:lnSpc>
                <a:spcPct val="150000"/>
              </a:lnSpc>
              <a:buBlip>
                <a:blip r:embed="rId2"/>
              </a:buBlip>
            </a:pPr>
            <a:r>
              <a:rPr lang="en-US" b="1" dirty="0" err="1"/>
              <a:t>Transesophageal</a:t>
            </a:r>
            <a:r>
              <a:rPr lang="en-US" b="1" dirty="0"/>
              <a:t> echocardiography</a:t>
            </a:r>
            <a:r>
              <a:rPr lang="en-US" dirty="0"/>
              <a:t>:</a:t>
            </a:r>
          </a:p>
          <a:p>
            <a:pPr lvl="1">
              <a:lnSpc>
                <a:spcPct val="150000"/>
              </a:lnSpc>
              <a:buNone/>
            </a:pPr>
            <a:r>
              <a:rPr lang="en-US" b="1" dirty="0"/>
              <a:t>-Most sensitive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F333B-1A76-4E36-95D8-8FB0F22F660F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92</a:t>
            </a:fld>
            <a:endParaRPr 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</p:spPr>
        <p:txBody>
          <a:bodyPr/>
          <a:lstStyle/>
          <a:p>
            <a:r>
              <a:rPr lang="en-US" dirty="0"/>
              <a:t>Cont….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686800" cy="5257800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Intubation</a:t>
            </a:r>
            <a:r>
              <a:rPr lang="en-US" dirty="0"/>
              <a:t>: To be facilitated by the use of </a:t>
            </a:r>
            <a:r>
              <a:rPr lang="en-US" dirty="0" err="1"/>
              <a:t>succinylcholine</a:t>
            </a:r>
            <a:r>
              <a:rPr lang="en-US" dirty="0"/>
              <a:t> or a NDMR.</a:t>
            </a:r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dirty="0"/>
              <a:t>Blunting of hemodynamic response to tracheal intubation by</a:t>
            </a:r>
            <a:br>
              <a:rPr lang="en-US" dirty="0"/>
            </a:br>
            <a:r>
              <a:rPr lang="en-US" dirty="0"/>
              <a:t>   • Keeping the duration short (&lt;15s)</a:t>
            </a:r>
            <a:br>
              <a:rPr lang="en-US" dirty="0"/>
            </a:br>
            <a:r>
              <a:rPr lang="en-US" dirty="0"/>
              <a:t>    • Use of </a:t>
            </a:r>
            <a:r>
              <a:rPr lang="en-US" dirty="0" err="1"/>
              <a:t>laryngotracheal</a:t>
            </a:r>
            <a:r>
              <a:rPr lang="en-US" dirty="0"/>
              <a:t> </a:t>
            </a:r>
            <a:r>
              <a:rPr lang="en-US" dirty="0" err="1"/>
              <a:t>Lidocaine</a:t>
            </a:r>
            <a:r>
              <a:rPr lang="en-US" dirty="0"/>
              <a:t>, intravenous </a:t>
            </a:r>
            <a:r>
              <a:rPr lang="en-US" dirty="0" err="1"/>
              <a:t>lidocaine</a:t>
            </a:r>
            <a:r>
              <a:rPr lang="en-US" dirty="0"/>
              <a:t>, </a:t>
            </a:r>
            <a:r>
              <a:rPr lang="en-US" dirty="0" err="1"/>
              <a:t>esmolol</a:t>
            </a:r>
            <a:r>
              <a:rPr lang="en-US" dirty="0"/>
              <a:t>, </a:t>
            </a:r>
            <a:r>
              <a:rPr lang="en-US" dirty="0" err="1"/>
              <a:t>fentanyl</a:t>
            </a:r>
            <a:r>
              <a:rPr lang="en-US" dirty="0"/>
              <a:t>, </a:t>
            </a:r>
            <a:r>
              <a:rPr lang="en-US" dirty="0" err="1"/>
              <a:t>dexmedetomidine</a:t>
            </a:r>
            <a:r>
              <a:rPr lang="en-US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376BF-0F2D-4560-9448-36F8542FA068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93</a:t>
            </a:fld>
            <a:endParaRPr lang="en-US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>
            <a:normAutofit/>
          </a:bodyPr>
          <a:lstStyle/>
          <a:p>
            <a:r>
              <a:rPr lang="en-US" b="1" dirty="0"/>
              <a:t>Maintenance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5257800"/>
          </a:xfrm>
        </p:spPr>
        <p:txBody>
          <a:bodyPr/>
          <a:lstStyle/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dirty="0"/>
              <a:t>The choice of anesthesia is often based on the patient’s </a:t>
            </a:r>
            <a:r>
              <a:rPr lang="en-US" b="1" dirty="0"/>
              <a:t>left ventricular function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dirty="0"/>
              <a:t>AHA guidelines recommend </a:t>
            </a:r>
            <a:r>
              <a:rPr lang="en-US" b="1" i="1" dirty="0">
                <a:solidFill>
                  <a:srgbClr val="FF0000"/>
                </a:solidFill>
              </a:rPr>
              <a:t>volatile anesthetic </a:t>
            </a:r>
            <a:r>
              <a:rPr lang="en-US" dirty="0"/>
              <a:t>agents for maintenance of anesthesia in patients with IHD in a </a:t>
            </a:r>
            <a:r>
              <a:rPr lang="en-US" b="1" i="1" dirty="0" err="1">
                <a:solidFill>
                  <a:srgbClr val="FF0000"/>
                </a:solidFill>
              </a:rPr>
              <a:t>hemodynamically</a:t>
            </a:r>
            <a:r>
              <a:rPr lang="en-US" b="1" i="1" dirty="0">
                <a:solidFill>
                  <a:srgbClr val="FF0000"/>
                </a:solidFill>
              </a:rPr>
              <a:t> stable </a:t>
            </a:r>
            <a:r>
              <a:rPr lang="en-US" dirty="0"/>
              <a:t>patient with no evidence of CHF</a:t>
            </a:r>
          </a:p>
          <a:p>
            <a:pPr>
              <a:lnSpc>
                <a:spcPct val="150000"/>
              </a:lnSpc>
              <a:buBlip>
                <a:blip r:embed="rId2"/>
              </a:buBlip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78B58-032E-49BE-B045-36A0739E57DC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94</a:t>
            </a:fld>
            <a:endParaRPr 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Maintenance …..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4102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en-US" dirty="0" err="1"/>
              <a:t>Isoflorane</a:t>
            </a:r>
            <a:r>
              <a:rPr lang="en-US" dirty="0"/>
              <a:t> - reduces coronary vascular resistance </a:t>
            </a:r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en-US" dirty="0" err="1"/>
              <a:t>Opoids</a:t>
            </a:r>
            <a:endParaRPr lang="en-US" dirty="0"/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en-US" dirty="0"/>
              <a:t>Muscle relaxant (</a:t>
            </a:r>
            <a:r>
              <a:rPr lang="en-US" i="1" dirty="0">
                <a:solidFill>
                  <a:srgbClr val="FF0000"/>
                </a:solidFill>
              </a:rPr>
              <a:t>avoid </a:t>
            </a:r>
            <a:r>
              <a:rPr lang="en-US" i="1" dirty="0" err="1">
                <a:solidFill>
                  <a:srgbClr val="FF0000"/>
                </a:solidFill>
              </a:rPr>
              <a:t>pancronium</a:t>
            </a:r>
            <a:r>
              <a:rPr lang="en-US" dirty="0"/>
              <a:t>)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C6889-4771-4013-A0BC-5FE630271C26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95</a:t>
            </a:fld>
            <a:endParaRPr lang="en-US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334000"/>
          </a:xfrm>
        </p:spPr>
        <p:txBody>
          <a:bodyPr/>
          <a:lstStyle/>
          <a:p>
            <a:pPr>
              <a:buNone/>
            </a:pPr>
            <a:r>
              <a:rPr lang="en-US" b="1" dirty="0"/>
              <a:t>Regional </a:t>
            </a:r>
            <a:r>
              <a:rPr lang="en-US" b="1" dirty="0" err="1"/>
              <a:t>vs</a:t>
            </a:r>
            <a:r>
              <a:rPr lang="en-US" b="1" dirty="0"/>
              <a:t> GA</a:t>
            </a:r>
          </a:p>
          <a:p>
            <a:r>
              <a:rPr lang="en-US" dirty="0"/>
              <a:t>RA may be preferred to GA if possible</a:t>
            </a:r>
          </a:p>
          <a:p>
            <a:pPr>
              <a:lnSpc>
                <a:spcPct val="150000"/>
              </a:lnSpc>
            </a:pPr>
            <a:r>
              <a:rPr lang="en-US" dirty="0"/>
              <a:t>Preoperative epidural analgesia may be considered to decrease the incidence of preoperative adverse cardiac events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BA20B-622C-4D64-B390-0271088362A1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96</a:t>
            </a:fld>
            <a:endParaRPr 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Autofit/>
          </a:bodyPr>
          <a:lstStyle/>
          <a:p>
            <a:r>
              <a:rPr lang="en-US" sz="3200" b="1" dirty="0"/>
              <a:t>Post Operative And Long-term Management</a:t>
            </a:r>
            <a:r>
              <a:rPr lang="en-US" sz="3200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686800" cy="510540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60000"/>
              </a:lnSpc>
            </a:pPr>
            <a:r>
              <a:rPr lang="en-US" b="1" dirty="0"/>
              <a:t>Early </a:t>
            </a:r>
            <a:r>
              <a:rPr lang="en-US" b="1" dirty="0" err="1"/>
              <a:t>extubation</a:t>
            </a:r>
            <a:r>
              <a:rPr lang="en-US" b="1" dirty="0"/>
              <a:t> </a:t>
            </a:r>
          </a:p>
          <a:p>
            <a:pPr>
              <a:lnSpc>
                <a:spcPct val="160000"/>
              </a:lnSpc>
            </a:pPr>
            <a:r>
              <a:rPr lang="en-US" dirty="0"/>
              <a:t> </a:t>
            </a:r>
            <a:r>
              <a:rPr lang="en-US" b="1" dirty="0"/>
              <a:t>hemodynamic alterations </a:t>
            </a:r>
            <a:r>
              <a:rPr lang="en-US" dirty="0"/>
              <a:t>must be blunted by β-blocker or combined α- and β-blockers such as </a:t>
            </a:r>
            <a:r>
              <a:rPr lang="en-US" dirty="0" err="1"/>
              <a:t>labetalol</a:t>
            </a:r>
            <a:r>
              <a:rPr lang="en-US" dirty="0"/>
              <a:t>, </a:t>
            </a:r>
            <a:r>
              <a:rPr lang="en-US" dirty="0" err="1"/>
              <a:t>lidoccaine</a:t>
            </a:r>
            <a:r>
              <a:rPr lang="en-US" dirty="0"/>
              <a:t> or </a:t>
            </a:r>
            <a:r>
              <a:rPr lang="en-US" dirty="0" err="1"/>
              <a:t>fentanyl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dirty="0"/>
              <a:t>Proper </a:t>
            </a:r>
            <a:r>
              <a:rPr lang="en-US" b="1" dirty="0"/>
              <a:t>pain control</a:t>
            </a:r>
            <a:r>
              <a:rPr lang="en-US" dirty="0"/>
              <a:t>.</a:t>
            </a:r>
          </a:p>
          <a:p>
            <a:pPr>
              <a:lnSpc>
                <a:spcPct val="160000"/>
              </a:lnSpc>
            </a:pPr>
            <a:r>
              <a:rPr lang="en-US" b="1" dirty="0"/>
              <a:t>Continuous ECG monitoring with </a:t>
            </a:r>
            <a:r>
              <a:rPr lang="en-US" dirty="0"/>
              <a:t>ST-segment analysis</a:t>
            </a:r>
          </a:p>
          <a:p>
            <a:pPr>
              <a:lnSpc>
                <a:spcPct val="160000"/>
              </a:lnSpc>
            </a:pPr>
            <a:r>
              <a:rPr lang="en-US" b="1" dirty="0"/>
              <a:t>Supplemental O</a:t>
            </a:r>
            <a:r>
              <a:rPr lang="en-US" dirty="0"/>
              <a:t>2 to maintain adequate oxygen saturation is important.</a:t>
            </a:r>
          </a:p>
          <a:p>
            <a:pPr>
              <a:lnSpc>
                <a:spcPct val="160000"/>
              </a:lnSpc>
            </a:pPr>
            <a:r>
              <a:rPr lang="en-US" dirty="0"/>
              <a:t>Avoid &amp; treat </a:t>
            </a:r>
            <a:r>
              <a:rPr lang="en-US" b="1" dirty="0"/>
              <a:t>shivering</a:t>
            </a:r>
            <a:r>
              <a:rPr lang="en-US" dirty="0"/>
              <a:t>.</a:t>
            </a:r>
          </a:p>
          <a:p>
            <a:pPr>
              <a:lnSpc>
                <a:spcPct val="160000"/>
              </a:lnSpc>
            </a:pPr>
            <a:r>
              <a:rPr lang="en-US" dirty="0"/>
              <a:t>Prevent.</a:t>
            </a:r>
            <a:r>
              <a:rPr lang="en-US" b="1" dirty="0"/>
              <a:t> hypoxemia, </a:t>
            </a:r>
            <a:r>
              <a:rPr lang="en-US" b="1" dirty="0" err="1"/>
              <a:t>hypercarbia</a:t>
            </a:r>
            <a:r>
              <a:rPr lang="en-US" b="1" dirty="0"/>
              <a:t>,  </a:t>
            </a:r>
            <a:r>
              <a:rPr lang="en-US" b="1" dirty="0" err="1"/>
              <a:t>hypovolemia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  <a:p>
            <a:pPr>
              <a:lnSpc>
                <a:spcPct val="160000"/>
              </a:lnSpc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688D3-A538-4E58-A829-5C28E4573A50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97</a:t>
            </a:fld>
            <a:endParaRPr 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4638"/>
            <a:ext cx="8153400" cy="944562"/>
          </a:xfrm>
        </p:spPr>
        <p:txBody>
          <a:bodyPr>
            <a:normAutofit/>
          </a:bodyPr>
          <a:lstStyle/>
          <a:p>
            <a:r>
              <a:rPr lang="en-US" sz="3200" b="1" i="1" dirty="0">
                <a:latin typeface="Calibri" pitchFamily="34" charset="0"/>
              </a:rPr>
              <a:t>General Evaluation of Patients with CVS</a:t>
            </a:r>
            <a:endParaRPr lang="en-US" sz="3200" dirty="0">
              <a:latin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382000" cy="525780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Blip>
                <a:blip r:embed="rId2"/>
              </a:buBlip>
            </a:pPr>
            <a:r>
              <a:rPr lang="en-US" sz="2800" dirty="0"/>
              <a:t>CVD  accounts for the majority of perioperative deaths. </a:t>
            </a:r>
          </a:p>
          <a:p>
            <a:pPr>
              <a:lnSpc>
                <a:spcPct val="200000"/>
              </a:lnSpc>
              <a:buBlip>
                <a:blip r:embed="rId2"/>
              </a:buBlip>
            </a:pPr>
            <a:r>
              <a:rPr lang="en-US" sz="2800" dirty="0"/>
              <a:t>Preoperative detection, investigation, treatment, and risk assessment helps minimize perioperative morbidity and mortality.</a:t>
            </a:r>
          </a:p>
          <a:p>
            <a:pPr>
              <a:lnSpc>
                <a:spcPct val="200000"/>
              </a:lnSpc>
              <a:buBlip>
                <a:blip r:embed="rId2"/>
              </a:buBlip>
            </a:pPr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F7AA0-EE3F-4FBA-99F3-11C0BB7CEED6}" type="datetime1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41305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</p:spPr>
        <p:txBody>
          <a:bodyPr/>
          <a:lstStyle/>
          <a:p>
            <a:r>
              <a:rPr lang="en-US" dirty="0"/>
              <a:t>                Cont….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5257800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3000" dirty="0">
                <a:solidFill>
                  <a:srgbClr val="00B050"/>
                </a:solidFill>
                <a:latin typeface="Calibri" pitchFamily="34" charset="0"/>
              </a:rPr>
              <a:t>Regardless of the lesion or its cause</a:t>
            </a:r>
            <a:r>
              <a:rPr lang="en-US" sz="3000" dirty="0">
                <a:latin typeface="Calibri" pitchFamily="34" charset="0"/>
              </a:rPr>
              <a:t>, preoperative evaluation should be primarily concerned with: </a:t>
            </a:r>
          </a:p>
          <a:p>
            <a:pPr lvl="1" algn="just">
              <a:lnSpc>
                <a:spcPct val="160000"/>
              </a:lnSpc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itchFamily="34" charset="0"/>
              </a:rPr>
              <a:t>Determining the severity of the lesion and its hemodynamic significance</a:t>
            </a:r>
          </a:p>
          <a:p>
            <a:pPr lvl="1" algn="just">
              <a:lnSpc>
                <a:spcPct val="160000"/>
              </a:lnSpc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itchFamily="34" charset="0"/>
              </a:rPr>
              <a:t>Residual ventricular function</a:t>
            </a:r>
          </a:p>
          <a:p>
            <a:pPr lvl="1" algn="just">
              <a:lnSpc>
                <a:spcPct val="160000"/>
              </a:lnSpc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itchFamily="34" charset="0"/>
              </a:rPr>
              <a:t>The presence of secondary effects on organ function</a:t>
            </a:r>
          </a:p>
          <a:p>
            <a:pPr algn="just">
              <a:lnSpc>
                <a:spcPct val="160000"/>
              </a:lnSpc>
              <a:buNone/>
            </a:pPr>
            <a:endParaRPr lang="en-US" sz="2800" dirty="0">
              <a:latin typeface="Calibri" pitchFamily="34" charset="0"/>
            </a:endParaRPr>
          </a:p>
          <a:p>
            <a:pPr algn="just">
              <a:lnSpc>
                <a:spcPct val="160000"/>
              </a:lnSpc>
              <a:buNone/>
            </a:pPr>
            <a:r>
              <a:rPr lang="en-US" sz="2800" dirty="0">
                <a:latin typeface="Calibri" pitchFamily="34" charset="0"/>
              </a:rPr>
              <a:t> 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DC8D4-BD23-44BE-BB42-FE2939308ECB}" type="datetime1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48097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29FF7-CAC5-46C7-98E5-14A83FCE6483}" type="datetime1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CDE5793-7825-41BC-AE83-631026A905A1}" type="slidenum">
              <a:rPr lang="en-GB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100</a:t>
            </a:fld>
            <a:endParaRPr lang="en-GB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228600"/>
            <a:ext cx="8610600" cy="6172200"/>
          </a:xfrm>
        </p:spPr>
        <p:txBody>
          <a:bodyPr>
            <a:normAutofit/>
          </a:bodyPr>
          <a:lstStyle/>
          <a:p>
            <a:pPr eaLnBrk="1" hangingPunct="1">
              <a:buFont typeface="Wingdings" pitchFamily="2" charset="2"/>
              <a:buChar char="q"/>
              <a:defRPr/>
            </a:pPr>
            <a:r>
              <a:rPr lang="en-US" sz="3000" b="1" dirty="0">
                <a:latin typeface="Monotype Corsiva" pitchFamily="66" charset="0"/>
              </a:rPr>
              <a:t>History:</a:t>
            </a:r>
          </a:p>
          <a:p>
            <a:pPr eaLnBrk="1" hangingPunct="1">
              <a:buFont typeface="Arial" charset="0"/>
              <a:buNone/>
              <a:defRPr/>
            </a:pPr>
            <a:endParaRPr lang="en-US" sz="750" b="1" dirty="0">
              <a:latin typeface="Monotype Corsiva" pitchFamily="66" charset="0"/>
            </a:endParaRPr>
          </a:p>
          <a:p>
            <a:pPr marL="429816" lvl="1" indent="-86916" algn="just">
              <a:lnSpc>
                <a:spcPct val="200000"/>
              </a:lnSpc>
              <a:buFont typeface="Wingdings" pitchFamily="2" charset="2"/>
              <a:buChar char="§"/>
              <a:defRPr/>
            </a:pPr>
            <a:r>
              <a:rPr lang="en-US" sz="2800" b="1" dirty="0">
                <a:latin typeface="Calibri" pitchFamily="34" charset="0"/>
              </a:rPr>
              <a:t>Focus on symptoms related to ventricular function</a:t>
            </a:r>
            <a:r>
              <a:rPr lang="en-US" b="1" dirty="0">
                <a:latin typeface="Calibri" pitchFamily="34" charset="0"/>
              </a:rPr>
              <a:t>s</a:t>
            </a:r>
            <a:endParaRPr lang="en-US" sz="2800" dirty="0">
              <a:latin typeface="Calibri" pitchFamily="34" charset="0"/>
            </a:endParaRPr>
          </a:p>
          <a:p>
            <a:pPr lvl="1" algn="just">
              <a:lnSpc>
                <a:spcPct val="200000"/>
              </a:lnSpc>
              <a:buFont typeface="Wingdings" pitchFamily="2" charset="2"/>
              <a:buChar char="§"/>
              <a:tabLst>
                <a:tab pos="476250" algn="l"/>
              </a:tabLst>
              <a:defRPr/>
            </a:pPr>
            <a:r>
              <a:rPr lang="en-US" dirty="0"/>
              <a:t>evidence of current or recent decompensation</a:t>
            </a:r>
          </a:p>
          <a:p>
            <a:pPr lvl="1" algn="just">
              <a:lnSpc>
                <a:spcPct val="200000"/>
              </a:lnSpc>
              <a:buFont typeface="Wingdings" pitchFamily="2" charset="2"/>
              <a:buChar char="§"/>
              <a:tabLst>
                <a:tab pos="476250" algn="l"/>
              </a:tabLst>
              <a:defRPr/>
            </a:pPr>
            <a:r>
              <a:rPr lang="en-US" sz="2800" dirty="0">
                <a:latin typeface="Calibri" pitchFamily="34" charset="0"/>
              </a:rPr>
              <a:t>Review of medication patients took </a:t>
            </a:r>
          </a:p>
          <a:p>
            <a:pPr lvl="1" algn="just">
              <a:lnSpc>
                <a:spcPct val="200000"/>
              </a:lnSpc>
              <a:buFont typeface="Wingdings" pitchFamily="2" charset="2"/>
              <a:buChar char="§"/>
              <a:tabLst>
                <a:tab pos="476250" algn="l"/>
              </a:tabLst>
              <a:defRPr/>
            </a:pPr>
            <a:r>
              <a:rPr lang="en-US" sz="2800" dirty="0">
                <a:latin typeface="Calibri" pitchFamily="34" charset="0"/>
              </a:rPr>
              <a:t>End organ damage </a:t>
            </a:r>
            <a:endParaRPr lang="en-GB" sz="28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3367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>
                <a:latin typeface="Monotype Corsiva" panose="03010101010201010101" pitchFamily="66" charset="0"/>
              </a:rPr>
              <a:t>Functional capacity</a:t>
            </a:r>
            <a:br>
              <a:rPr lang="en-GB" b="1" dirty="0">
                <a:latin typeface="Monotype Corsiva" panose="03010101010201010101" pitchFamily="66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FF0000"/>
                </a:solidFill>
              </a:rPr>
              <a:t>Exercise tolerance is a major predictor of perioperative risk.</a:t>
            </a:r>
          </a:p>
          <a:p>
            <a:pPr marL="0" indent="0">
              <a:buNone/>
            </a:pPr>
            <a:endParaRPr lang="en-GB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Ability to exercise is an excellent indicator of ‘</a:t>
            </a:r>
            <a:r>
              <a:rPr lang="en-GB" dirty="0">
                <a:solidFill>
                  <a:srgbClr val="00B050"/>
                </a:solidFill>
              </a:rPr>
              <a:t>cardiovascular fitness</a:t>
            </a:r>
            <a:r>
              <a:rPr lang="en-GB" dirty="0"/>
              <a:t>’</a:t>
            </a:r>
          </a:p>
          <a:p>
            <a:pPr marL="0" indent="0">
              <a:buNone/>
            </a:pP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It is usually expressed in metabolic equivalents(METs) on a scale defined by the Duke Activity Status Index.</a:t>
            </a:r>
          </a:p>
          <a:p>
            <a:pPr marL="0" indent="0">
              <a:buNone/>
            </a:pP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Pts who cannot sustain 4METs of physical activity </a:t>
            </a:r>
            <a:r>
              <a:rPr lang="en-GB" dirty="0">
                <a:solidFill>
                  <a:srgbClr val="00B050"/>
                </a:solidFill>
              </a:rPr>
              <a:t>frequently have adverse outcomes following high risk surgery.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17A77-41AD-420C-B65A-DC3928921B36}" type="datetime1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99646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CE552CC-8917-4CA9-B505-2E4FBAB3C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AE2AF-0B28-49C3-B8E5-A13FCE7B5F38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2C795ED-27D5-4A0A-826C-7A0ECE4D8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223E3C3-75D5-4D6D-A522-72F173A66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102</a:t>
            </a:fld>
            <a:endParaRPr lang="en-US"/>
          </a:p>
        </p:txBody>
      </p:sp>
      <p:pic>
        <p:nvPicPr>
          <p:cNvPr id="7" name="Content Placeholder 4">
            <a:extLst>
              <a:ext uri="{FF2B5EF4-FFF2-40B4-BE49-F238E27FC236}">
                <a16:creationId xmlns="" xmlns:a16="http://schemas.microsoft.com/office/drawing/2014/main" id="{0E245149-173D-4966-9036-46773359E9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09600"/>
            <a:ext cx="9067800" cy="5562600"/>
          </a:xfrm>
        </p:spPr>
      </p:pic>
    </p:spTree>
    <p:extLst>
      <p:ext uri="{BB962C8B-B14F-4D97-AF65-F5344CB8AC3E}">
        <p14:creationId xmlns:p14="http://schemas.microsoft.com/office/powerpoint/2010/main" val="270297672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156D5-C795-4420-949D-C690929EA2A5}" type="datetime1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6FD93-4613-4872-9429-9C0DB7E19B79}" type="slidenum">
              <a:rPr lang="en-GB" smtClean="0"/>
              <a:pPr/>
              <a:t>103</a:t>
            </a:fld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407987"/>
            <a:ext cx="8526074" cy="5898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26234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CONT….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2000"/>
            <a:ext cx="8991600" cy="5562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/>
              <a:t>Functional capacity is classified as: </a:t>
            </a:r>
          </a:p>
          <a:p>
            <a:pPr lvl="2">
              <a:lnSpc>
                <a:spcPct val="150000"/>
              </a:lnSpc>
            </a:pPr>
            <a:r>
              <a:rPr lang="en-US" sz="2800" b="1" dirty="0"/>
              <a:t>Excellent</a:t>
            </a:r>
            <a:r>
              <a:rPr lang="en-US" sz="2800" dirty="0"/>
              <a:t>—&gt; 10 METs </a:t>
            </a:r>
          </a:p>
          <a:p>
            <a:pPr lvl="2">
              <a:lnSpc>
                <a:spcPct val="150000"/>
              </a:lnSpc>
            </a:pPr>
            <a:r>
              <a:rPr lang="en-US" sz="2800" dirty="0"/>
              <a:t> </a:t>
            </a:r>
            <a:r>
              <a:rPr lang="en-US" sz="2800" b="1" dirty="0"/>
              <a:t>Good</a:t>
            </a:r>
            <a:r>
              <a:rPr lang="en-US" sz="2800" dirty="0"/>
              <a:t>—7–10 METS </a:t>
            </a:r>
          </a:p>
          <a:p>
            <a:pPr lvl="2">
              <a:lnSpc>
                <a:spcPct val="150000"/>
              </a:lnSpc>
            </a:pPr>
            <a:r>
              <a:rPr lang="en-US" sz="2800" b="1" dirty="0"/>
              <a:t>Moderate</a:t>
            </a:r>
            <a:r>
              <a:rPr lang="en-US" sz="2800" dirty="0"/>
              <a:t>—4–6 METs </a:t>
            </a:r>
          </a:p>
          <a:p>
            <a:pPr lvl="2">
              <a:lnSpc>
                <a:spcPct val="150000"/>
              </a:lnSpc>
            </a:pPr>
            <a:r>
              <a:rPr lang="en-US" sz="2800" dirty="0"/>
              <a:t> </a:t>
            </a:r>
            <a:r>
              <a:rPr lang="en-US" sz="2800" b="1" dirty="0"/>
              <a:t>Poor</a:t>
            </a:r>
            <a:r>
              <a:rPr lang="en-US" sz="2800" dirty="0"/>
              <a:t>-&lt;4 METS</a:t>
            </a:r>
          </a:p>
          <a:p>
            <a:pPr lvl="2">
              <a:lnSpc>
                <a:spcPct val="150000"/>
              </a:lnSpc>
              <a:buNone/>
            </a:pPr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B9C3-1134-41A3-803E-351676037031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104</a:t>
            </a:fld>
            <a:endParaRPr lang="en-US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8229600" cy="944562"/>
          </a:xfrm>
        </p:spPr>
        <p:txBody>
          <a:bodyPr/>
          <a:lstStyle/>
          <a:p>
            <a:r>
              <a:rPr lang="en-US" b="1" dirty="0"/>
              <a:t>NYHA classification 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228600" y="1219200"/>
            <a:ext cx="8763000" cy="4953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 </a:t>
            </a:r>
            <a:r>
              <a:rPr lang="en-US" sz="2800" b="1" dirty="0"/>
              <a:t>Class I: </a:t>
            </a:r>
            <a:r>
              <a:rPr lang="en-US" sz="2800" dirty="0"/>
              <a:t>no limitation of physical activity. Ordinary physical activity does not cause symptoms of heart failure.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Class II: </a:t>
            </a:r>
            <a:r>
              <a:rPr lang="en-US" sz="2800" dirty="0"/>
              <a:t>slight limitation of physical activity.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/>
              <a:t>Comfortable at rest, but ordinary physical activity results in symptoms of heart failure.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45205-F55E-4C66-BFBE-707232882410}" type="datetime1">
              <a:rPr lang="en-US" smtClean="0"/>
              <a:t>10/28/2024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105</a:t>
            </a:fld>
            <a:endParaRPr lang="en-US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Cont….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04800" y="1447800"/>
            <a:ext cx="8610600" cy="51054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/>
              <a:t>Class III: </a:t>
            </a:r>
            <a:r>
              <a:rPr lang="en-US" sz="2800" dirty="0"/>
              <a:t>marked limitation of physical activity.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/>
              <a:t>Comfortable at rest, but less than ordinary activity causes symptoms of heart failure.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 Class IV: </a:t>
            </a:r>
            <a:r>
              <a:rPr lang="en-US" sz="2800" dirty="0"/>
              <a:t>unable to carry out any physical activity without symptoms of HF, or symptoms of heart failure at rest</a:t>
            </a: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A31EA-5E35-43CE-BCDB-DC13E72D16BA}" type="datetime1">
              <a:rPr lang="en-US" smtClean="0"/>
              <a:t>10/28/2024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106</a:t>
            </a:fld>
            <a:endParaRPr lang="en-US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9F247CA-3A2E-4C71-9EA4-91F607C7F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dirty="0">
                <a:solidFill>
                  <a:srgbClr val="231F20"/>
                </a:solidFill>
                <a:latin typeface="Arial Black" panose="020B0A04020102020204" pitchFamily="34" charset="0"/>
              </a:rPr>
              <a:t>Modified New York</a:t>
            </a:r>
            <a:br>
              <a:rPr lang="en-US" sz="1800" b="1" dirty="0">
                <a:solidFill>
                  <a:srgbClr val="231F20"/>
                </a:solidFill>
                <a:latin typeface="Arial Black" panose="020B0A04020102020204" pitchFamily="34" charset="0"/>
              </a:rPr>
            </a:br>
            <a:r>
              <a:rPr lang="en-US" sz="1800" b="1" dirty="0">
                <a:solidFill>
                  <a:srgbClr val="231F20"/>
                </a:solidFill>
                <a:latin typeface="Arial Black" panose="020B0A04020102020204" pitchFamily="34" charset="0"/>
              </a:rPr>
              <a:t>Association functional classification of heart</a:t>
            </a:r>
            <a:br>
              <a:rPr lang="en-US" sz="1800" b="1" dirty="0">
                <a:solidFill>
                  <a:srgbClr val="231F20"/>
                </a:solidFill>
                <a:latin typeface="Arial Black" panose="020B0A04020102020204" pitchFamily="34" charset="0"/>
              </a:rPr>
            </a:br>
            <a:r>
              <a:rPr lang="en-US" sz="1800" b="1" dirty="0">
                <a:solidFill>
                  <a:srgbClr val="231F20"/>
                </a:solidFill>
                <a:latin typeface="Arial Black" panose="020B0A04020102020204" pitchFamily="34" charset="0"/>
              </a:rPr>
              <a:t>disease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="" xmlns:a16="http://schemas.microsoft.com/office/drawing/2014/main" id="{20D3C0EC-FB47-42A2-899F-E043C03180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752600"/>
            <a:ext cx="8229600" cy="3581400"/>
          </a:xfrm>
        </p:spPr>
      </p:pic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2681206-6BB5-45C4-83A4-EBF169979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AE2AF-0B28-49C3-B8E5-A13FCE7B5F38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AB74997-CC78-4BA0-B5EF-7080B7A17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9D28F29-59D9-4EAC-9364-CE5D0A3D5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66193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8305800" cy="715962"/>
          </a:xfrm>
        </p:spPr>
        <p:txBody>
          <a:bodyPr>
            <a:normAutofit/>
          </a:bodyPr>
          <a:lstStyle/>
          <a:p>
            <a:r>
              <a:rPr lang="en-US" sz="3200" b="1" dirty="0"/>
              <a:t>Physical examination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66800"/>
            <a:ext cx="8915400" cy="5257800"/>
          </a:xfrm>
        </p:spPr>
        <p:txBody>
          <a:bodyPr>
            <a:normAutofit/>
          </a:bodyPr>
          <a:lstStyle/>
          <a:p>
            <a:r>
              <a:rPr lang="en-US" sz="2800" dirty="0"/>
              <a:t>The most important signs of congestive heart failure</a:t>
            </a:r>
          </a:p>
          <a:p>
            <a:pPr lvl="1">
              <a:lnSpc>
                <a:spcPct val="150000"/>
              </a:lnSpc>
              <a:buBlip>
                <a:blip r:embed="rId2"/>
              </a:buBlip>
            </a:pPr>
            <a:r>
              <a:rPr lang="en-US" sz="3200" b="1" dirty="0">
                <a:latin typeface="Calibri" pitchFamily="34" charset="0"/>
              </a:rPr>
              <a:t>Left –sided heart failure</a:t>
            </a:r>
            <a:r>
              <a:rPr lang="en-US" sz="2800" dirty="0">
                <a:latin typeface="Calibri" pitchFamily="34" charset="0"/>
              </a:rPr>
              <a:t>  -</a:t>
            </a:r>
            <a:r>
              <a:rPr lang="en-US" sz="2800" i="1" dirty="0">
                <a:latin typeface="Calibri" pitchFamily="34" charset="0"/>
              </a:rPr>
              <a:t>S 3 gallop or pulmonary rales) </a:t>
            </a:r>
          </a:p>
          <a:p>
            <a:pPr lvl="1">
              <a:lnSpc>
                <a:spcPct val="150000"/>
              </a:lnSpc>
              <a:buBlip>
                <a:blip r:embed="rId2"/>
              </a:buBlip>
            </a:pPr>
            <a:r>
              <a:rPr lang="en-US" sz="3200" b="1" dirty="0">
                <a:latin typeface="Calibri" pitchFamily="34" charset="0"/>
              </a:rPr>
              <a:t>Right sided heart failure </a:t>
            </a:r>
            <a:r>
              <a:rPr lang="en-US" sz="2800" dirty="0">
                <a:latin typeface="Calibri" pitchFamily="34" charset="0"/>
              </a:rPr>
              <a:t>--</a:t>
            </a:r>
            <a:r>
              <a:rPr lang="en-US" sz="2800" i="1" dirty="0">
                <a:latin typeface="Calibri" pitchFamily="34" charset="0"/>
              </a:rPr>
              <a:t>jugular venous distention, hepatojugular </a:t>
            </a:r>
            <a:r>
              <a:rPr lang="pt-BR" sz="2800" i="1" dirty="0">
                <a:latin typeface="Calibri" pitchFamily="34" charset="0"/>
              </a:rPr>
              <a:t>reflux, hepatosplenomegaly, or pedal edema</a:t>
            </a:r>
          </a:p>
          <a:p>
            <a:pPr>
              <a:buBlip>
                <a:blip r:embed="rId2"/>
              </a:buBlip>
            </a:pPr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5CF69-46A2-4D33-B66B-00A737C7F6DE}" type="datetime1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34860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Cont…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81000" y="1447800"/>
            <a:ext cx="8534400" cy="4876800"/>
          </a:xfrm>
        </p:spPr>
        <p:txBody>
          <a:bodyPr/>
          <a:lstStyle/>
          <a:p>
            <a:pPr>
              <a:buFont typeface="Wingdings" pitchFamily="2" charset="2"/>
              <a:buChar char="v"/>
            </a:pPr>
            <a:r>
              <a:rPr lang="pt-BR" dirty="0"/>
              <a:t>Heart murmurs </a:t>
            </a:r>
          </a:p>
          <a:p>
            <a:pPr lvl="2">
              <a:lnSpc>
                <a:spcPct val="150000"/>
              </a:lnSpc>
              <a:buBlip>
                <a:blip r:embed="rId2"/>
              </a:buBlip>
            </a:pPr>
            <a:r>
              <a:rPr lang="en-US" dirty="0"/>
              <a:t> </a:t>
            </a:r>
            <a:r>
              <a:rPr lang="en-US" sz="2800" dirty="0"/>
              <a:t>Determining the cause of cardiac murmurs</a:t>
            </a:r>
          </a:p>
          <a:p>
            <a:pPr lvl="2">
              <a:lnSpc>
                <a:spcPct val="150000"/>
              </a:lnSpc>
              <a:buBlip>
                <a:blip r:embed="rId2"/>
              </a:buBlip>
            </a:pPr>
            <a:r>
              <a:rPr lang="en-US" sz="2800" dirty="0"/>
              <a:t> Distinguishing between significant murmurs and those that are clinically unimportant</a:t>
            </a:r>
          </a:p>
          <a:p>
            <a:pPr>
              <a:lnSpc>
                <a:spcPct val="150000"/>
              </a:lnSpc>
              <a:buBlip>
                <a:blip r:embed="rId2"/>
              </a:buBlip>
            </a:pPr>
            <a:endParaRPr lang="en-US" sz="36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D3E93-7093-4F99-8F86-4D37CA01CA67}" type="datetime1">
              <a:rPr lang="en-US" smtClean="0"/>
              <a:t>10/28/2024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109</a:t>
            </a:fld>
            <a:endParaRPr lang="en-US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3820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                                   Cont…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" y="796496"/>
            <a:ext cx="8839200" cy="5451904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2FDB-526A-4FD0-B964-B374251C53FC}" type="datetime1">
              <a:rPr lang="en-US" smtClean="0"/>
              <a:t>10/28/2024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77311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Laboratory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534400" cy="4800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ri" pitchFamily="34" charset="0"/>
              </a:rPr>
              <a:t>LFT --- right  sided heart failure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ri" pitchFamily="34" charset="0"/>
              </a:rPr>
              <a:t> ABG– pulmonary edema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FF0000"/>
                </a:solidFill>
                <a:latin typeface="Calibri" pitchFamily="34" charset="0"/>
              </a:rPr>
              <a:t>Coagulation profile </a:t>
            </a:r>
            <a:r>
              <a:rPr lang="en-US" sz="2800" dirty="0">
                <a:latin typeface="Calibri" pitchFamily="34" charset="0"/>
              </a:rPr>
              <a:t>(PTT,PT or  INR)- </a:t>
            </a:r>
            <a:r>
              <a:rPr lang="en-US" sz="2800" dirty="0">
                <a:solidFill>
                  <a:srgbClr val="FF0000"/>
                </a:solidFill>
                <a:latin typeface="Calibri" pitchFamily="34" charset="0"/>
              </a:rPr>
              <a:t>for pts on warfarin or heparin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FF0000"/>
                </a:solidFill>
              </a:rPr>
              <a:t>Blood tests: </a:t>
            </a:r>
            <a:r>
              <a:rPr lang="en-US" sz="2800" dirty="0"/>
              <a:t>Anemia and electrolyte disturbance (especially for patients taking diuretics)</a:t>
            </a:r>
            <a:endParaRPr lang="en-US" sz="2800" dirty="0">
              <a:solidFill>
                <a:srgbClr val="FF0000"/>
              </a:solidFill>
              <a:latin typeface="Calibri" pitchFamily="34" charset="0"/>
            </a:endParaRPr>
          </a:p>
          <a:p>
            <a:pPr>
              <a:lnSpc>
                <a:spcPct val="150000"/>
              </a:lnSpc>
            </a:pPr>
            <a:endParaRPr lang="en-US" sz="2800" dirty="0">
              <a:latin typeface="Calibri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4DFE1-29EB-460F-AABE-BA67CC58964A}" type="datetime1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0885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pPr marL="838200" indent="-838200" eaLnBrk="1" hangingPunct="1"/>
            <a:r>
              <a:rPr lang="en-US" sz="3600" b="1" dirty="0">
                <a:latin typeface="+mn-lt"/>
              </a:rPr>
              <a:t>Investigation</a:t>
            </a:r>
            <a:r>
              <a:rPr lang="en-US" b="1" dirty="0">
                <a:latin typeface="Arial" charset="0"/>
              </a:rPr>
              <a:t> 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534400" cy="5029200"/>
          </a:xfrm>
          <a:noFill/>
        </p:spPr>
        <p:txBody>
          <a:bodyPr lIns="90488" tIns="44450" rIns="90488" bIns="44450">
            <a:normAutofit/>
          </a:bodyPr>
          <a:lstStyle/>
          <a:p>
            <a:pPr marL="609600" indent="-609600" eaLnBrk="1" hangingPunct="1">
              <a:lnSpc>
                <a:spcPct val="90000"/>
              </a:lnSpc>
              <a:buNone/>
            </a:pPr>
            <a:r>
              <a:rPr lang="en-US" b="1" dirty="0"/>
              <a:t>CXR</a:t>
            </a:r>
          </a:p>
          <a:p>
            <a:pPr marL="990600" lvl="1" indent="-646113">
              <a:lnSpc>
                <a:spcPct val="160000"/>
              </a:lnSpc>
              <a:buBlip>
                <a:blip r:embed="rId2"/>
              </a:buBlip>
            </a:pPr>
            <a:r>
              <a:rPr lang="en-US" dirty="0" err="1"/>
              <a:t>Cardiomegally</a:t>
            </a:r>
            <a:r>
              <a:rPr lang="en-US" dirty="0"/>
              <a:t> and Calcification of the aortic valve</a:t>
            </a:r>
          </a:p>
          <a:p>
            <a:pPr marL="990600" lvl="1" indent="-646113" eaLnBrk="1" hangingPunct="1">
              <a:lnSpc>
                <a:spcPct val="160000"/>
              </a:lnSpc>
              <a:buBlip>
                <a:blip r:embed="rId2"/>
              </a:buBlip>
            </a:pPr>
            <a:r>
              <a:rPr lang="en-US" dirty="0"/>
              <a:t>Post-stenotic dilation of the ascending aorta</a:t>
            </a:r>
          </a:p>
          <a:p>
            <a:pPr marL="609600" indent="-609600" eaLnBrk="1" hangingPunct="1">
              <a:lnSpc>
                <a:spcPct val="90000"/>
              </a:lnSpc>
              <a:buNone/>
            </a:pPr>
            <a:r>
              <a:rPr lang="en-US" b="1" dirty="0"/>
              <a:t>ECG</a:t>
            </a:r>
          </a:p>
          <a:p>
            <a:pPr marL="990600" lvl="1" indent="-646113" eaLnBrk="1" hangingPunct="1">
              <a:lnSpc>
                <a:spcPct val="90000"/>
              </a:lnSpc>
              <a:buBlip>
                <a:blip r:embed="rId2"/>
              </a:buBlip>
            </a:pPr>
            <a:r>
              <a:rPr lang="en-US" b="1" dirty="0"/>
              <a:t>LVH</a:t>
            </a:r>
          </a:p>
          <a:p>
            <a:pPr marL="990600" lvl="1" indent="-646113" eaLnBrk="1" hangingPunct="1">
              <a:lnSpc>
                <a:spcPct val="90000"/>
              </a:lnSpc>
              <a:buBlip>
                <a:blip r:embed="rId2"/>
              </a:buBlip>
            </a:pPr>
            <a:r>
              <a:rPr lang="en-US" b="1" dirty="0"/>
              <a:t>Pseudo infarction/ischemia pattern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191A80E-CFC2-4C4C-9A19-F563C2B5E615}" type="datetime1">
              <a:rPr lang="en-US" altLang="en-US" smtClean="0"/>
              <a:t>10/28/2024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Anesthesia for Cardiac surgery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75A53D-4435-447B-8C10-A0587C3F8965}" type="slidenum">
              <a:rPr lang="en-US" altLang="en-US" smtClean="0"/>
              <a:pPr>
                <a:defRPr/>
              </a:pPr>
              <a:t>112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032007"/>
      </p:ext>
    </p:extLst>
  </p:cSld>
  <p:clrMapOvr>
    <a:masterClrMapping/>
  </p:clrMapOvr>
  <p:transition/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F125D-2570-4766-A7AA-E1C0323CCBD3}" type="datetime1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72B9292-06AD-4653-B4C6-9CACB063E1E4}" type="slidenum">
              <a:rPr lang="en-GB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113</a:t>
            </a:fld>
            <a:endParaRPr lang="en-GB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18435" name="Content Placeholder 2"/>
          <p:cNvSpPr>
            <a:spLocks noGrp="1"/>
          </p:cNvSpPr>
          <p:nvPr>
            <p:ph idx="4294967295"/>
          </p:nvPr>
        </p:nvSpPr>
        <p:spPr>
          <a:xfrm>
            <a:off x="0" y="838200"/>
            <a:ext cx="8686800" cy="5334000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sz="3000" b="1" dirty="0">
                <a:latin typeface="Monotype Corsiva" panose="03010101010201010101" pitchFamily="66" charset="0"/>
              </a:rPr>
              <a:t>Special diagnostic studies:</a:t>
            </a:r>
          </a:p>
          <a:p>
            <a:pPr lvl="1" algn="just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/>
              <a:t>Echocardiography, angiography, and cardiac catheterization provide significant diagnostic and prognostic information about Valvular lesions.</a:t>
            </a:r>
          </a:p>
          <a:p>
            <a:pPr lvl="1" algn="just" eaLnBrk="1" hangingPunct="1">
              <a:lnSpc>
                <a:spcPct val="150000"/>
              </a:lnSpc>
              <a:buNone/>
            </a:pPr>
            <a:endParaRPr lang="en-US" dirty="0"/>
          </a:p>
          <a:p>
            <a:pPr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434834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Monotype Corsiva" panose="03010101010201010101" pitchFamily="66" charset="0"/>
              </a:rPr>
              <a:t>Echocardiography (LV function) </a:t>
            </a:r>
            <a:br>
              <a:rPr lang="en-GB" dirty="0">
                <a:latin typeface="Monotype Corsiva" panose="03010101010201010101" pitchFamily="66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610600" cy="5257800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Modern echo machines generate values for </a:t>
            </a:r>
            <a:r>
              <a:rPr lang="en-GB" dirty="0">
                <a:solidFill>
                  <a:srgbClr val="00B0F0"/>
                </a:solidFill>
              </a:rPr>
              <a:t>ejection fraction </a:t>
            </a:r>
            <a:r>
              <a:rPr lang="en-GB" dirty="0">
                <a:solidFill>
                  <a:srgbClr val="FF0000"/>
                </a:solidFill>
              </a:rPr>
              <a:t>( normal range 60-80%)</a:t>
            </a:r>
            <a:endParaRPr lang="en-GB" sz="900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dirty="0"/>
              <a:t>Ejection fraction: 40-50 % </a:t>
            </a:r>
            <a:r>
              <a:rPr lang="en-GB" dirty="0">
                <a:sym typeface="Symbol" panose="05050102010706020507" pitchFamily="18" charset="2"/>
              </a:rPr>
              <a:t> mild LV impairment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dirty="0">
                <a:sym typeface="Symbol" panose="05050102010706020507" pitchFamily="18" charset="2"/>
              </a:rPr>
              <a:t>Ejection fraction: 30-40%   moderate LV impairment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dirty="0">
                <a:sym typeface="Symbol" panose="05050102010706020507" pitchFamily="18" charset="2"/>
              </a:rPr>
              <a:t>Ejection fraction: &lt;30%  severe LV impairment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sym typeface="Symbol" panose="05050102010706020507" pitchFamily="18" charset="2"/>
              </a:rPr>
              <a:t>Trans valvular pressure gradient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sym typeface="Symbol" panose="05050102010706020507" pitchFamily="18" charset="2"/>
              </a:rPr>
              <a:t> Area of the valves and calcification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sym typeface="Symbol" panose="05050102010706020507" pitchFamily="18" charset="2"/>
              </a:rPr>
              <a:t>Ventricular wall thickness and chamber size   </a:t>
            </a:r>
            <a:endParaRPr lang="en-GB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5CE6-3708-4D85-8F5A-935AFC645C2A}" type="datetime1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94887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  <a:noFill/>
        </p:spPr>
        <p:txBody>
          <a:bodyPr lIns="90488" tIns="44450" rIns="90488" bIns="44450"/>
          <a:lstStyle/>
          <a:p>
            <a:pPr marL="838200" indent="-838200" eaLnBrk="1" hangingPunct="1"/>
            <a:r>
              <a:rPr lang="en-US" baseline="30000" dirty="0">
                <a:latin typeface="+mn-lt"/>
              </a:rPr>
              <a:t>cont….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990600"/>
            <a:ext cx="8458200" cy="5257800"/>
          </a:xfrm>
          <a:noFill/>
        </p:spPr>
        <p:txBody>
          <a:bodyPr lIns="90488" tIns="44450" rIns="90488" bIns="44450">
            <a:noAutofit/>
          </a:bodyPr>
          <a:lstStyle/>
          <a:p>
            <a:pPr marL="990600" lvl="1" indent="-646113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sz="3600" b="1" dirty="0"/>
              <a:t>Doppler: </a:t>
            </a:r>
          </a:p>
          <a:p>
            <a:pPr marL="990600" lvl="1" indent="-646113" eaLnBrk="1" hangingPunct="1">
              <a:lnSpc>
                <a:spcPct val="150000"/>
              </a:lnSpc>
              <a:buBlip>
                <a:blip r:embed="rId2"/>
              </a:buBlip>
            </a:pPr>
            <a:r>
              <a:rPr lang="en-US" sz="2800" dirty="0"/>
              <a:t>Flow, severity of stenosis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/>
              <a:t>Cardiac catheterization</a:t>
            </a:r>
          </a:p>
          <a:p>
            <a:pPr lvl="1">
              <a:lnSpc>
                <a:spcPct val="150000"/>
              </a:lnSpc>
              <a:buBlip>
                <a:blip r:embed="rId3"/>
              </a:buBlip>
            </a:pPr>
            <a:r>
              <a:rPr lang="en-US" sz="2800" dirty="0"/>
              <a:t>The measurement of pressures and cardiac output</a:t>
            </a:r>
            <a:endParaRPr lang="en-US" sz="2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990600" lvl="1" indent="-646113" eaLnBrk="1" hangingPunct="1">
              <a:lnSpc>
                <a:spcPct val="150000"/>
              </a:lnSpc>
              <a:buNone/>
            </a:pPr>
            <a:endParaRPr lang="en-US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0CA0E01-6C0F-4D4E-BABF-39CF5C75D462}" type="datetime1">
              <a:rPr lang="en-US" altLang="en-US" smtClean="0"/>
              <a:t>10/28/2024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Anesthesia for Cardiac surgery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75A53D-4435-447B-8C10-A0587C3F8965}" type="slidenum">
              <a:rPr lang="en-US" altLang="en-US" smtClean="0"/>
              <a:pPr>
                <a:defRPr/>
              </a:pPr>
              <a:t>115</a:t>
            </a:fld>
            <a:endParaRPr lang="en-US" altLang="en-US"/>
          </a:p>
        </p:txBody>
      </p:sp>
    </p:spTree>
  </p:cSld>
  <p:clrMapOvr>
    <a:masterClrMapping/>
  </p:clrMapOvr>
  <p:transition/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66800"/>
            <a:ext cx="8686800" cy="54265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457200" y="152400"/>
            <a:ext cx="8686800" cy="762000"/>
          </a:xfrm>
        </p:spPr>
        <p:txBody>
          <a:bodyPr>
            <a:normAutofit/>
          </a:bodyPr>
          <a:lstStyle/>
          <a:p>
            <a:r>
              <a:rPr lang="en-US" b="1" dirty="0"/>
              <a:t>              Cardiac Markers</a:t>
            </a:r>
            <a:r>
              <a:rPr lang="en-US" dirty="0"/>
              <a:t>: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89C9-4173-4354-9C78-DB1464C7A95D}" type="slidenum">
              <a:rPr lang="en-US" smtClean="0"/>
              <a:pPr/>
              <a:t>116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20C13-D2D1-4134-8370-A6479AF8A6CB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</p:spTree>
    <p:extLst>
      <p:ext uri="{BB962C8B-B14F-4D97-AF65-F5344CB8AC3E}">
        <p14:creationId xmlns:p14="http://schemas.microsoft.com/office/powerpoint/2010/main" val="1696415158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382000" cy="838200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Simplified cardiac evaluation for noncardiac surgery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" y="946149"/>
            <a:ext cx="8534400" cy="541020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C4497-D14B-4E0B-876D-0B92AA145E64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970EB-A8C4-40D2-AF81-C6C16288290E}" type="slidenum">
              <a:rPr lang="en-US" smtClean="0"/>
              <a:pPr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149044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Risk Stratification indices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447800"/>
            <a:ext cx="8686800" cy="5029200"/>
          </a:xfrm>
        </p:spPr>
        <p:txBody>
          <a:bodyPr>
            <a:normAutofit/>
          </a:bodyPr>
          <a:lstStyle/>
          <a:p>
            <a:endParaRPr lang="en-US" b="1" dirty="0"/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AIM</a:t>
            </a:r>
            <a:r>
              <a:rPr lang="en-US" dirty="0"/>
              <a:t>: Identify patients at increased risk so as to manage them with pharmacological and other </a:t>
            </a:r>
            <a:r>
              <a:rPr lang="en-US" b="1" dirty="0"/>
              <a:t>perioperative</a:t>
            </a:r>
            <a:r>
              <a:rPr lang="en-US" dirty="0"/>
              <a:t> interventions that can lessen the risk and severity of perioperative cardiac events.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89C9-4173-4354-9C78-DB1464C7A95D}" type="slidenum">
              <a:rPr lang="en-US" smtClean="0"/>
              <a:pPr/>
              <a:t>118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BD763-2013-4DC1-B3EA-C68ED5730B5A}" type="datetime1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</p:spTree>
    <p:extLst>
      <p:ext uri="{BB962C8B-B14F-4D97-AF65-F5344CB8AC3E}">
        <p14:creationId xmlns:p14="http://schemas.microsoft.com/office/powerpoint/2010/main" val="264405601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496F1E7-65CB-439C-8A3E-D0114C5E3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/>
              <a:t>Lee’s Revised Cardiac Risk Index</a:t>
            </a:r>
            <a:br>
              <a:rPr lang="en-US" sz="4400" b="1" dirty="0"/>
            </a:br>
            <a:r>
              <a:rPr lang="en-US" sz="4400" b="1" dirty="0"/>
              <a:t>(RCI)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22364A-D733-437B-AB26-6E3786AAF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tool used estimate predict patients risk of developing postoperative: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MI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Pulmonary edema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Ventricular fibrillation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Cardiac arrest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Compete heart block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08C1AB8-8557-4E7E-B73D-AB5CEA711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AE2AF-0B28-49C3-B8E5-A13FCE7B5F38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532C1F1-F75B-4463-8DF0-56BE7A209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B5E3A13-64E2-404A-BB36-708C1F880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459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Lee’s Revised Cardiac Risk Index</a:t>
            </a:r>
            <a:r>
              <a:rPr lang="en-US" dirty="0"/>
              <a:t>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89C9-4173-4354-9C78-DB1464C7A95D}" type="slidenum">
              <a:rPr lang="en-US" smtClean="0"/>
              <a:pPr/>
              <a:t>120</a:t>
            </a:fld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381000" y="990600"/>
            <a:ext cx="8610600" cy="5736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45308-0CF5-4287-80C0-E95662813D48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</p:spTree>
    <p:extLst>
      <p:ext uri="{BB962C8B-B14F-4D97-AF65-F5344CB8AC3E}">
        <p14:creationId xmlns:p14="http://schemas.microsoft.com/office/powerpoint/2010/main" val="4047854245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7620000" cy="914400"/>
          </a:xfrm>
        </p:spPr>
        <p:txBody>
          <a:bodyPr>
            <a:normAutofit/>
          </a:bodyPr>
          <a:lstStyle/>
          <a:p>
            <a:r>
              <a:rPr lang="en-US" sz="3200" b="1" dirty="0"/>
              <a:t>Goldman Cardiac Risk Index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9EF16-690F-48F3-A00B-69C0479EA6CB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121</a:t>
            </a:fld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88233" y="769144"/>
            <a:ext cx="8727167" cy="5704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C9080-5A6F-4735-BCE6-11183B1D538E}" type="datetime1">
              <a:rPr lang="en-US" smtClean="0"/>
              <a:t>10/28/2024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122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304801"/>
            <a:ext cx="8534400" cy="479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03DC1-959A-468C-A574-3ED62E357632}" type="datetime1">
              <a:rPr lang="en-US" smtClean="0"/>
              <a:t>10/28/2024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123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1" y="990600"/>
            <a:ext cx="8610600" cy="4873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457200" y="0"/>
            <a:ext cx="8229600" cy="9906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Cont….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89C9-4173-4354-9C78-DB1464C7A95D}" type="slidenum">
              <a:rPr lang="en-US" smtClean="0"/>
              <a:pPr/>
              <a:t>124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304800" y="1447800"/>
            <a:ext cx="8686800" cy="51054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800" dirty="0"/>
              <a:t>The ACC/AHA guidelines integrate risk stratification</a:t>
            </a:r>
            <a:br>
              <a:rPr lang="en-US" sz="2800" dirty="0"/>
            </a:br>
            <a:r>
              <a:rPr lang="en-US" sz="2800" dirty="0"/>
              <a:t>according to:</a:t>
            </a:r>
          </a:p>
          <a:p>
            <a:pPr lvl="5">
              <a:lnSpc>
                <a:spcPct val="150000"/>
              </a:lnSpc>
              <a:buBlip>
                <a:blip r:embed="rId2"/>
              </a:buBlip>
            </a:pPr>
            <a:r>
              <a:rPr lang="en-US" sz="3200" b="1" i="1" dirty="0"/>
              <a:t>Clinical risk factors &amp; ECG review.</a:t>
            </a:r>
          </a:p>
          <a:p>
            <a:pPr lvl="5">
              <a:lnSpc>
                <a:spcPct val="150000"/>
              </a:lnSpc>
              <a:buBlip>
                <a:blip r:embed="rId2"/>
              </a:buBlip>
            </a:pPr>
            <a:r>
              <a:rPr lang="en-US" sz="3200" b="1" i="1" dirty="0"/>
              <a:t> Functional Capacity.</a:t>
            </a:r>
          </a:p>
          <a:p>
            <a:pPr lvl="5">
              <a:lnSpc>
                <a:spcPct val="150000"/>
              </a:lnSpc>
              <a:buBlip>
                <a:blip r:embed="rId2"/>
              </a:buBlip>
            </a:pPr>
            <a:r>
              <a:rPr lang="en-US" sz="2800" b="1" i="1" dirty="0"/>
              <a:t>Surgery specific risk factors.</a:t>
            </a:r>
            <a:r>
              <a:rPr lang="en-US" sz="2800" i="1" dirty="0"/>
              <a:t> </a:t>
            </a:r>
            <a:r>
              <a:rPr lang="en-US" i="1" dirty="0"/>
              <a:t/>
            </a:r>
            <a:br>
              <a:rPr lang="en-US" i="1" dirty="0"/>
            </a:br>
            <a:endParaRPr lang="en-US" i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1E040-A912-4A04-88E3-4C8C733FBD37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</p:spTree>
    <p:extLst>
      <p:ext uri="{BB962C8B-B14F-4D97-AF65-F5344CB8AC3E}">
        <p14:creationId xmlns:p14="http://schemas.microsoft.com/office/powerpoint/2010/main" val="406943650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8077200" cy="114300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/>
              <a:t>Clinical Predictors of Increased Perioperative Cardiovascular risk</a:t>
            </a:r>
            <a:r>
              <a:rPr lang="en-US" sz="2800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8686800" cy="51054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Major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000" dirty="0"/>
              <a:t>Unstable coronary syndromes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000" dirty="0"/>
              <a:t>Acute / Recent MI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000" dirty="0"/>
              <a:t>Unstable/ Severe Angina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000" dirty="0"/>
              <a:t>Decompensated Heart Failure 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000" dirty="0"/>
              <a:t>High grade AV-block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000" dirty="0"/>
              <a:t>Symptomatic Ventricular Dysrhythmias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000" dirty="0"/>
              <a:t>Severe Valvular Heart Disease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89C9-4173-4354-9C78-DB1464C7A95D}" type="slidenum">
              <a:rPr lang="en-US" smtClean="0"/>
              <a:pPr/>
              <a:t>125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9AF2E-2E70-4A40-8C68-F0DC751C55F5}" type="datetime1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</p:spTree>
    <p:extLst>
      <p:ext uri="{BB962C8B-B14F-4D97-AF65-F5344CB8AC3E}">
        <p14:creationId xmlns:p14="http://schemas.microsoft.com/office/powerpoint/2010/main" val="3655485393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9445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/>
              <a:t>Clinical Predictors of Increased Perioperative Cardiovascular risk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752600"/>
            <a:ext cx="4495800" cy="51054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Intermediate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3000" dirty="0"/>
              <a:t>Stable Angina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3000" dirty="0"/>
              <a:t>Previous MI (history/ECG)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3000" dirty="0"/>
              <a:t>Compensated or previous heart failure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3000" dirty="0"/>
              <a:t>DM/Renal Insufficiency </a:t>
            </a:r>
          </a:p>
          <a:p>
            <a:pPr marL="0" indent="0">
              <a:lnSpc>
                <a:spcPct val="150000"/>
              </a:lnSpc>
              <a:buFont typeface="Wingdings" pitchFamily="2" charset="2"/>
              <a:buChar char="ü"/>
            </a:pPr>
            <a:endParaRPr lang="en-US" sz="3000" b="1" dirty="0"/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89C9-4173-4354-9C78-DB1464C7A95D}" type="slidenum">
              <a:rPr lang="en-US" smtClean="0"/>
              <a:pPr/>
              <a:t>126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257800" y="1600200"/>
            <a:ext cx="3657600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Minor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800" dirty="0"/>
              <a:t>Age&gt;70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800" dirty="0"/>
              <a:t>ECG: LVH,LBBB ST-T abnormalities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800" dirty="0"/>
              <a:t>Low functional capacity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800" dirty="0" err="1"/>
              <a:t>Hx</a:t>
            </a:r>
            <a:r>
              <a:rPr lang="en-US" sz="2800" dirty="0"/>
              <a:t> of CVA/HTN 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003C4-DB62-49C3-902B-7EA9941F1060}" type="datetime1">
              <a:rPr lang="en-US" smtClean="0"/>
              <a:t>10/28/2024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</p:spTree>
    <p:extLst>
      <p:ext uri="{BB962C8B-B14F-4D97-AF65-F5344CB8AC3E}">
        <p14:creationId xmlns:p14="http://schemas.microsoft.com/office/powerpoint/2010/main" val="3650506979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/>
              <a:t>         Cont….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" y="770238"/>
            <a:ext cx="8991600" cy="571603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EE0D8-1E05-4F05-BF2B-ACDC229D1882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970EB-A8C4-40D2-AF81-C6C16288290E}" type="slidenum">
              <a:rPr lang="en-US" smtClean="0"/>
              <a:pPr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679718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763000" cy="914400"/>
          </a:xfrm>
        </p:spPr>
        <p:txBody>
          <a:bodyPr>
            <a:normAutofit/>
          </a:bodyPr>
          <a:lstStyle/>
          <a:p>
            <a:r>
              <a:rPr lang="en-US" dirty="0"/>
              <a:t>               Cont…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" y="1004047"/>
            <a:ext cx="8610600" cy="557156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66CF1-0E2A-4EF9-8921-758A726D81DD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970EB-A8C4-40D2-AF81-C6C16288290E}" type="slidenum">
              <a:rPr lang="en-US" smtClean="0"/>
              <a:pPr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306695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Intraoperative monitoring 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295400"/>
            <a:ext cx="8534400" cy="495300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Blip>
                <a:blip r:embed="rId2"/>
              </a:buBlip>
            </a:pPr>
            <a:r>
              <a:rPr lang="en-US" sz="2800" dirty="0">
                <a:latin typeface="Calibri" pitchFamily="34" charset="0"/>
              </a:rPr>
              <a:t>Standard monitoring </a:t>
            </a:r>
            <a:r>
              <a:rPr lang="en-US" sz="2800" i="1" dirty="0">
                <a:solidFill>
                  <a:schemeClr val="accent2"/>
                </a:solidFill>
                <a:latin typeface="Calibri" pitchFamily="34" charset="0"/>
              </a:rPr>
              <a:t>(ECG, BP, TEMP. ,SPO2 ,ETCO2)</a:t>
            </a:r>
          </a:p>
          <a:p>
            <a:pPr marL="514350" indent="-514350">
              <a:lnSpc>
                <a:spcPct val="150000"/>
              </a:lnSpc>
              <a:buBlip>
                <a:blip r:embed="rId2"/>
              </a:buBlip>
            </a:pPr>
            <a:r>
              <a:rPr lang="en-US" sz="2800" dirty="0">
                <a:latin typeface="Calibri" pitchFamily="34" charset="0"/>
              </a:rPr>
              <a:t>Invasive monitor </a:t>
            </a:r>
          </a:p>
          <a:p>
            <a:pPr lvl="4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800" dirty="0">
                <a:latin typeface="Calibri" pitchFamily="34" charset="0"/>
              </a:rPr>
              <a:t>Arterial line </a:t>
            </a:r>
          </a:p>
          <a:p>
            <a:pPr lvl="4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800" dirty="0">
                <a:latin typeface="Calibri" pitchFamily="34" charset="0"/>
              </a:rPr>
              <a:t>CVP </a:t>
            </a:r>
          </a:p>
          <a:p>
            <a:pPr lvl="4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800" dirty="0">
                <a:latin typeface="Calibri" pitchFamily="34" charset="0"/>
              </a:rPr>
              <a:t>PA Catheter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39C1D7-9814-4656-B5CD-FE87073B6D64}" type="datetime1">
              <a:rPr lang="en-US" altLang="en-US" smtClean="0"/>
              <a:t>10/28/2024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Anesthesia for Cardiac surgery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75A53D-4435-447B-8C10-A0587C3F8965}" type="slidenum">
              <a:rPr lang="en-US" altLang="en-US" smtClean="0"/>
              <a:pPr>
                <a:defRPr/>
              </a:pPr>
              <a:t>129</a:t>
            </a:fld>
            <a:endParaRPr lang="en-US" altLang="en-US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E:\msc\monitoring\new monitoring 2012\images.jpg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 rot="-960000">
            <a:off x="990600" y="1752600"/>
            <a:ext cx="7467599" cy="411479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37EFC-DD61-42F7-832D-654E7B68F83A}" type="datetime1">
              <a:rPr lang="en-US" smtClean="0"/>
              <a:t>10/28/2024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Anesthesia for Cardiac surgery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0899A-8D29-4C05-94B4-ADE9D09EECBC}" type="slidenum">
              <a:rPr lang="en-US" smtClean="0"/>
              <a:pPr/>
              <a:t>130</a:t>
            </a:fld>
            <a:endParaRPr lang="en-US"/>
          </a:p>
        </p:txBody>
      </p:sp>
    </p:spTree>
  </p:cSld>
  <p:clrMapOvr>
    <a:masterClrMapping/>
  </p:clrMapOvr>
  <p:transition>
    <p:wheel spokes="8"/>
    <p:sndAc>
      <p:stSnd>
        <p:snd r:embed="rId2" name="applause.wav"/>
      </p:stSnd>
    </p:sndAc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12751</TotalTime>
  <Words>4088</Words>
  <Application>Microsoft Office PowerPoint</Application>
  <PresentationFormat>On-screen Show (4:3)</PresentationFormat>
  <Paragraphs>963</Paragraphs>
  <Slides>130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130</vt:i4>
      </vt:variant>
    </vt:vector>
  </HeadingPairs>
  <TitlesOfParts>
    <vt:vector size="143" baseType="lpstr">
      <vt:lpstr>Arial</vt:lpstr>
      <vt:lpstr>Arial Black</vt:lpstr>
      <vt:lpstr>Arial-BoldItalicMT</vt:lpstr>
      <vt:lpstr>Arial-ItalicMT</vt:lpstr>
      <vt:lpstr>ArialMT</vt:lpstr>
      <vt:lpstr>Bodoni MT</vt:lpstr>
      <vt:lpstr>Calibri</vt:lpstr>
      <vt:lpstr>Courier New</vt:lpstr>
      <vt:lpstr>Monotype Corsiva</vt:lpstr>
      <vt:lpstr>Symbol</vt:lpstr>
      <vt:lpstr>Times New Roman</vt:lpstr>
      <vt:lpstr>Wingdings</vt:lpstr>
      <vt:lpstr>Office Theme</vt:lpstr>
      <vt:lpstr>Anesthesia for Cardiac Illness</vt:lpstr>
      <vt:lpstr>PowerPoint Presentation</vt:lpstr>
      <vt:lpstr>Objectives </vt:lpstr>
      <vt:lpstr>Cont…</vt:lpstr>
      <vt:lpstr>Outline </vt:lpstr>
      <vt:lpstr>Key 1</vt:lpstr>
      <vt:lpstr>Cont….</vt:lpstr>
      <vt:lpstr>Cont….</vt:lpstr>
      <vt:lpstr>Cont….</vt:lpstr>
      <vt:lpstr>Cont…</vt:lpstr>
      <vt:lpstr>Cont…..</vt:lpstr>
      <vt:lpstr>PowerPoint Presentation</vt:lpstr>
      <vt:lpstr>Functional anatomy of heart </vt:lpstr>
      <vt:lpstr>Cont…. </vt:lpstr>
      <vt:lpstr>PowerPoint Presentation</vt:lpstr>
      <vt:lpstr>PowerPoint Presentation</vt:lpstr>
      <vt:lpstr>PowerPoint Presentation</vt:lpstr>
      <vt:lpstr>PowerPoint Presentation</vt:lpstr>
      <vt:lpstr>Factors affecting cardiac out put </vt:lpstr>
      <vt:lpstr>Anesthesia for heart failure </vt:lpstr>
      <vt:lpstr>Causes </vt:lpstr>
      <vt:lpstr>HEART FAILS precipitating factors </vt:lpstr>
      <vt:lpstr>Clinical manifestations </vt:lpstr>
      <vt:lpstr>Physical findings</vt:lpstr>
      <vt:lpstr>Physical findings</vt:lpstr>
      <vt:lpstr>Common drug &amp; side effect</vt:lpstr>
      <vt:lpstr>PowerPoint Presentation</vt:lpstr>
      <vt:lpstr>PowerPoint Presentation</vt:lpstr>
      <vt:lpstr>Cont…</vt:lpstr>
      <vt:lpstr>Etiology </vt:lpstr>
      <vt:lpstr>PowerPoint Presentation</vt:lpstr>
      <vt:lpstr>Cont…</vt:lpstr>
      <vt:lpstr>Pathophysiology </vt:lpstr>
      <vt:lpstr>Cont….</vt:lpstr>
      <vt:lpstr>Low-output heart failure </vt:lpstr>
      <vt:lpstr>High cardiac output </vt:lpstr>
      <vt:lpstr>PowerPoint Presentation</vt:lpstr>
      <vt:lpstr>Diastolic dysfunction mechanism</vt:lpstr>
      <vt:lpstr>Adaptive mechanisms </vt:lpstr>
      <vt:lpstr>              Clinical  picture </vt:lpstr>
      <vt:lpstr>             Cont….</vt:lpstr>
      <vt:lpstr>DIAGNOSIS</vt:lpstr>
      <vt:lpstr>Management</vt:lpstr>
      <vt:lpstr>Pre op assessment </vt:lpstr>
      <vt:lpstr>Cont….</vt:lpstr>
      <vt:lpstr>Estimating LV impairments from EF</vt:lpstr>
      <vt:lpstr>PowerPoint Presentation</vt:lpstr>
      <vt:lpstr>Induction and intra op management </vt:lpstr>
      <vt:lpstr>PowerPoint Presentation</vt:lpstr>
      <vt:lpstr>PowerPoint Presentation</vt:lpstr>
      <vt:lpstr>PowerPoint Presentation</vt:lpstr>
      <vt:lpstr>PowerPoint Presentation</vt:lpstr>
      <vt:lpstr>Cont…..</vt:lpstr>
      <vt:lpstr>Coronary artery disease  Ischemic heart disease  </vt:lpstr>
      <vt:lpstr>CAD</vt:lpstr>
      <vt:lpstr>Cont…</vt:lpstr>
      <vt:lpstr>Cont….</vt:lpstr>
      <vt:lpstr>Cont……….</vt:lpstr>
      <vt:lpstr>PowerPoint Presentation</vt:lpstr>
      <vt:lpstr>Cont….</vt:lpstr>
      <vt:lpstr>Blood supply of the Heart</vt:lpstr>
      <vt:lpstr>Cont....</vt:lpstr>
      <vt:lpstr>Determinant of myocardial o2 demand</vt:lpstr>
      <vt:lpstr>Risk Factors for Development of IHD</vt:lpstr>
      <vt:lpstr>Spectrum Of IHD </vt:lpstr>
      <vt:lpstr>Myocardial Infarction (MI) </vt:lpstr>
      <vt:lpstr>Typical symptoms of acute myocardial infarction </vt:lpstr>
      <vt:lpstr>Signs  of AMI</vt:lpstr>
      <vt:lpstr>Myocardial Infarction (MI) </vt:lpstr>
      <vt:lpstr>Myocardial Infarction (MI) </vt:lpstr>
      <vt:lpstr>Screening &amp; Evaluation</vt:lpstr>
      <vt:lpstr>Specialized Preoperative Testing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CONT….</vt:lpstr>
      <vt:lpstr>Echocardiography </vt:lpstr>
      <vt:lpstr>Stress echocardiography: </vt:lpstr>
      <vt:lpstr>Other imagings… </vt:lpstr>
      <vt:lpstr>Management Prior to Surgery </vt:lpstr>
      <vt:lpstr>High /Intermediate risk Surgery + Moderate Clinical Risk Factors </vt:lpstr>
      <vt:lpstr>High /Intermediate risk Surgery + Moderate – Minor Clinical Risk Factors </vt:lpstr>
      <vt:lpstr>PowerPoint Presentation</vt:lpstr>
      <vt:lpstr>Anesthesia management </vt:lpstr>
      <vt:lpstr>Causes Of Myocardial O2 Imbalance</vt:lpstr>
      <vt:lpstr>Cont….</vt:lpstr>
      <vt:lpstr>Cont…</vt:lpstr>
      <vt:lpstr>Management….</vt:lpstr>
      <vt:lpstr>Management….</vt:lpstr>
      <vt:lpstr>Perioperative Monitoring </vt:lpstr>
      <vt:lpstr>Cont….</vt:lpstr>
      <vt:lpstr>Maintenance</vt:lpstr>
      <vt:lpstr>Maintenance …..</vt:lpstr>
      <vt:lpstr>Cont…</vt:lpstr>
      <vt:lpstr>Post Operative And Long-term Management </vt:lpstr>
      <vt:lpstr>General Evaluation of Patients with CVS</vt:lpstr>
      <vt:lpstr>                Cont….</vt:lpstr>
      <vt:lpstr>PowerPoint Presentation</vt:lpstr>
      <vt:lpstr>Functional capacity </vt:lpstr>
      <vt:lpstr>PowerPoint Presentation</vt:lpstr>
      <vt:lpstr>PowerPoint Presentation</vt:lpstr>
      <vt:lpstr>CONT….</vt:lpstr>
      <vt:lpstr>NYHA classification </vt:lpstr>
      <vt:lpstr>Cont….</vt:lpstr>
      <vt:lpstr>Modified New York Association functional classification of heart disease</vt:lpstr>
      <vt:lpstr>Physical examination </vt:lpstr>
      <vt:lpstr>Cont…</vt:lpstr>
      <vt:lpstr>                                   Cont…</vt:lpstr>
      <vt:lpstr>Laboratory Evaluation</vt:lpstr>
      <vt:lpstr>Investigation </vt:lpstr>
      <vt:lpstr>PowerPoint Presentation</vt:lpstr>
      <vt:lpstr>Echocardiography (LV function)  </vt:lpstr>
      <vt:lpstr>cont….</vt:lpstr>
      <vt:lpstr>              Cardiac Markers:</vt:lpstr>
      <vt:lpstr>Simplified cardiac evaluation for noncardiac surgery</vt:lpstr>
      <vt:lpstr>Risk Stratification indices  </vt:lpstr>
      <vt:lpstr>Lee’s Revised Cardiac Risk Index (RCI)</vt:lpstr>
      <vt:lpstr>Lee’s Revised Cardiac Risk Index:</vt:lpstr>
      <vt:lpstr>Goldman Cardiac Risk Index </vt:lpstr>
      <vt:lpstr>PowerPoint Presentation</vt:lpstr>
      <vt:lpstr>PowerPoint Presentation</vt:lpstr>
      <vt:lpstr>PowerPoint Presentation</vt:lpstr>
      <vt:lpstr>Clinical Predictors of Increased Perioperative Cardiovascular risk </vt:lpstr>
      <vt:lpstr>Clinical Predictors of Increased Perioperative Cardiovascular risk </vt:lpstr>
      <vt:lpstr>         Cont….</vt:lpstr>
      <vt:lpstr>               Cont…</vt:lpstr>
      <vt:lpstr>Intraoperative monitoring  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 Series</dc:creator>
  <cp:lastModifiedBy>biruk</cp:lastModifiedBy>
  <cp:revision>110</cp:revision>
  <dcterms:created xsi:type="dcterms:W3CDTF">2019-11-05T04:59:55Z</dcterms:created>
  <dcterms:modified xsi:type="dcterms:W3CDTF">2024-10-30T09:03:05Z</dcterms:modified>
</cp:coreProperties>
</file>