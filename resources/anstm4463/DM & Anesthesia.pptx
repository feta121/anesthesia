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60AAB2-492D-4D50-88B3-2FEDF219BAB0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72E68-B10D-4232-B60D-F5C0D9991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474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2.The test should be performed as described by the WHO, using a glucose load containing the equivalent of 75-g anhydrous glucose dissolved in water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272E68-B10D-4232-B60D-F5C0D99910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81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89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375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376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9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803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15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06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36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87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7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1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3813F-B11D-449B-83D2-3AFCC3B0A6B9}" type="datetimeFigureOut">
              <a:rPr lang="en-US" smtClean="0"/>
              <a:t>8/26/2025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4C72E-9B66-40BA-8CD6-BEDE463F44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61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DM &amp; Anesthesia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Biruk 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81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Liver is the 1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° source of endogenous glucose production through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Glycogenolysis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Gluconeogenesis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Meal →↑plasma glucose→↑insulin secretion→↑glucose utilization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After 2-4 hours of a meal →glucose utilization &gt; glucose production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Leads to transition from exogenous glucose → endogenous production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Endogenous glucose production  maintain normal plasma glucose   </a:t>
            </a:r>
          </a:p>
          <a:p>
            <a:pPr>
              <a:buFont typeface="Wingdings" panose="05000000000000000000" pitchFamily="2" charset="2"/>
              <a:buChar char="ü"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572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70-80% of liver glucose is metabolized by insulin insensitive tissues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Brain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GI tract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Red blood cells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↓insulin secretion is important for maintenance of normal plasma glucose concentration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0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Hyperglycemia producing hormones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Glucagon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Growth hormone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Epinephrine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Cortisol are counter regulatory systems </a:t>
            </a:r>
          </a:p>
          <a:p>
            <a:r>
              <a:rPr lang="en-US" dirty="0" smtClean="0"/>
              <a:t>Support glucose production</a:t>
            </a:r>
          </a:p>
          <a:p>
            <a:r>
              <a:rPr lang="en-US" dirty="0" smtClean="0"/>
              <a:t>Glucagon stimulate glycogenolysis, gluconeogenesis &amp; inhibit glycolysis</a:t>
            </a:r>
          </a:p>
          <a:p>
            <a:r>
              <a:rPr lang="en-US" dirty="0" smtClean="0"/>
              <a:t>DM inadequate supply of insulin and/or inadequate tissue response to insulin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0318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Type 1A DM: autoimmune destruction 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ß cells in pancreatic islets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Resulting in complete absence or minimal circulating insulin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Type 1B: rare disease of absolute insulin deficiency 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Not immune mediated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2. Type 2 DM: defects in insulin receptors &amp; post receptor signaling pathway</a:t>
            </a:r>
          </a:p>
          <a:p>
            <a:pPr marL="0" indent="0">
              <a:buNone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3. Gestational DM: diagnosed in the 2</a:t>
            </a:r>
            <a:r>
              <a:rPr lang="en-US" baseline="30000" dirty="0" smtClean="0"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&amp; 3</a:t>
            </a:r>
            <a:r>
              <a:rPr lang="en-US" baseline="30000" dirty="0" smtClean="0">
                <a:latin typeface="Calibri" panose="020F0502020204030204" pitchFamily="34" charset="0"/>
                <a:cs typeface="Calibri" panose="020F0502020204030204" pitchFamily="34" charset="0"/>
              </a:rPr>
              <a:t>rd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trimester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It is not overt DM prior to gestation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19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4. Specific types of DM to other causes</a:t>
            </a:r>
          </a:p>
          <a:p>
            <a:r>
              <a:rPr lang="en-US" dirty="0" smtClean="0"/>
              <a:t>Monozygotic diabetes syndrome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Neonatal DM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Maturity onset DM of the young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Diseases of the exocrine pancreas: cystic fibrosis, pancreatitis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Drugs or chemical induced DM : glucocorticoids, Rx of HIV/</a:t>
            </a:r>
            <a:r>
              <a:rPr lang="en-US" dirty="0" err="1" smtClean="0"/>
              <a:t>AIDS,organ</a:t>
            </a:r>
            <a:r>
              <a:rPr lang="en-US" dirty="0" smtClean="0"/>
              <a:t> transplantation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83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 &amp; symptoms</a:t>
            </a:r>
            <a:br>
              <a:rPr lang="en-US" dirty="0" smtClean="0"/>
            </a:br>
            <a:r>
              <a:rPr lang="en-US" dirty="0" smtClean="0"/>
              <a:t>type I DM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52448"/>
          </a:xfrm>
        </p:spPr>
        <p:txBody>
          <a:bodyPr/>
          <a:lstStyle/>
          <a:p>
            <a:r>
              <a:rPr lang="en-US" dirty="0" smtClean="0"/>
              <a:t>5%-10% of DM of all cases of DM</a:t>
            </a:r>
          </a:p>
          <a:p>
            <a:r>
              <a:rPr lang="en-US" dirty="0" smtClean="0"/>
              <a:t>Type 1 T- cell mediated autoimmune destruction of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ß cells in the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panc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Unknown causes – enterovirus, dietary protein, drugs &amp; chemicals initiate the autoimmune response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80-90% of ß cell function is lost before hyperglycemia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Hyperglycemia, fatigue, weight loss,polyuria,polydipsia, blurring of vision &amp; signs of IV depletion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Ketoacidosis – severe insulin deficiency &amp; unrestrained lipolysis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32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90% of all cases of DM, overweight, middle age &amp; older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Relative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ß cell insufficiency &amp; insulin resistance</a:t>
            </a:r>
          </a:p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Insulin insensitivity →↑pancreatic secretion(to maintain normal PG)</a:t>
            </a:r>
          </a:p>
          <a:p>
            <a:pPr marL="0" indent="0">
              <a:buNone/>
            </a:pP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As disease progress→↓pancreatic cell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function→insulin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 levels are unable to </a:t>
            </a:r>
            <a:r>
              <a:rPr lang="en-US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compensate→hyperglycemia</a:t>
            </a:r>
            <a:endParaRPr lang="en-US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881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 important defects in type 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↑ rate of hepatic glucose release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Impaired basal &amp; stimulated insulin secretion</a:t>
            </a:r>
          </a:p>
          <a:p>
            <a:pPr marL="514350" indent="-514350">
              <a:buAutoNum type="arabicPeriod"/>
            </a:pP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Inefficient use of glucose by peripheral tissue (insulin resistance)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Obese patients- compensatory hyper insulinemia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Desensitized target organs</a:t>
            </a:r>
          </a:p>
          <a:p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↓ insulin response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0165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9707" y="759853"/>
            <a:ext cx="9645001" cy="512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781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Metabolic syndrome, or insulin-resistance syndrome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Fasting plasma glucose level ≥ 110 mg/</a:t>
            </a:r>
            <a:r>
              <a:rPr lang="en-US" dirty="0" err="1" smtClean="0"/>
              <a:t>dL</a:t>
            </a:r>
            <a:r>
              <a:rPr lang="en-US" dirty="0" smtClean="0"/>
              <a:t> </a:t>
            </a:r>
          </a:p>
          <a:p>
            <a:pPr marL="514350" indent="-514350">
              <a:buAutoNum type="arabicPeriod"/>
            </a:pPr>
            <a:r>
              <a:rPr lang="en-US" dirty="0" smtClean="0"/>
              <a:t>Abdominal obesity (waist girth &gt; 40 inches in men, &gt;35 inches in women) </a:t>
            </a:r>
          </a:p>
          <a:p>
            <a:pPr marL="514350" indent="-514350">
              <a:buAutoNum type="arabicPeriod"/>
            </a:pPr>
            <a:r>
              <a:rPr lang="en-US" dirty="0" smtClean="0"/>
              <a:t>Serum triglyceride level ≥ 150 mg/</a:t>
            </a:r>
            <a:r>
              <a:rPr lang="en-US" dirty="0" err="1" smtClean="0"/>
              <a:t>dL</a:t>
            </a:r>
            <a:r>
              <a:rPr lang="en-US" dirty="0" smtClean="0"/>
              <a:t> </a:t>
            </a:r>
          </a:p>
          <a:p>
            <a:pPr marL="514350" indent="-514350">
              <a:buAutoNum type="arabicPeriod" startAt="4"/>
            </a:pPr>
            <a:r>
              <a:rPr lang="en-US" dirty="0" smtClean="0"/>
              <a:t>Serum high-density lipoprotein cholesterol level &lt; 40 mg/</a:t>
            </a:r>
            <a:r>
              <a:rPr lang="en-US" dirty="0" err="1" smtClean="0"/>
              <a:t>dL</a:t>
            </a:r>
            <a:r>
              <a:rPr lang="en-US" dirty="0" smtClean="0"/>
              <a:t> in men,</a:t>
            </a:r>
          </a:p>
          <a:p>
            <a:pPr marL="0" indent="0">
              <a:buNone/>
            </a:pPr>
            <a:r>
              <a:rPr lang="en-US" dirty="0" smtClean="0"/>
              <a:t>&lt; 50 mg/dl in women</a:t>
            </a:r>
          </a:p>
          <a:p>
            <a:pPr marL="0" indent="0">
              <a:buNone/>
            </a:pPr>
            <a:r>
              <a:rPr lang="en-US" dirty="0"/>
              <a:t>5. </a:t>
            </a:r>
            <a:r>
              <a:rPr lang="en-US" dirty="0" smtClean="0"/>
              <a:t>Blood </a:t>
            </a:r>
            <a:r>
              <a:rPr lang="en-US" dirty="0"/>
              <a:t>pressure ≥ 130/85 mm </a:t>
            </a:r>
            <a:r>
              <a:rPr lang="en-US" dirty="0" smtClean="0"/>
              <a:t>Hg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At least three of the above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16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American Diabetes Association (ADA) has established diagnostic criteria for diabetes mellitus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 smtClean="0"/>
              <a:t>❖ </a:t>
            </a:r>
            <a:r>
              <a:rPr lang="en-US" dirty="0"/>
              <a:t>Categories of increased risk for diabetes (prediabetes)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FPG 100 </a:t>
            </a:r>
            <a:r>
              <a:rPr lang="en-US" dirty="0" smtClean="0"/>
              <a:t>mg/</a:t>
            </a:r>
            <a:r>
              <a:rPr lang="en-US" dirty="0" err="1" smtClean="0"/>
              <a:t>dL</a:t>
            </a:r>
            <a:r>
              <a:rPr lang="en-US" dirty="0" smtClean="0"/>
              <a:t> -  </a:t>
            </a:r>
            <a:r>
              <a:rPr lang="en-US" dirty="0"/>
              <a:t>125 </a:t>
            </a:r>
            <a:r>
              <a:rPr lang="en-US" dirty="0" smtClean="0"/>
              <a:t>mg/</a:t>
            </a:r>
            <a:r>
              <a:rPr lang="en-US" dirty="0" err="1" smtClean="0"/>
              <a:t>dL</a:t>
            </a:r>
            <a:r>
              <a:rPr lang="en-US" dirty="0" smtClean="0"/>
              <a:t> </a:t>
            </a:r>
            <a:r>
              <a:rPr lang="en-US" dirty="0"/>
              <a:t>(IFG) OR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2-h PG during 75-g OGTT 140 mg/</a:t>
            </a:r>
            <a:r>
              <a:rPr lang="en-US" dirty="0" err="1"/>
              <a:t>dL</a:t>
            </a:r>
            <a:r>
              <a:rPr lang="en-US" dirty="0"/>
              <a:t> </a:t>
            </a:r>
            <a:r>
              <a:rPr lang="en-US" dirty="0" smtClean="0"/>
              <a:t>to </a:t>
            </a:r>
            <a:r>
              <a:rPr lang="en-US" dirty="0"/>
              <a:t>199 mg/</a:t>
            </a:r>
            <a:r>
              <a:rPr lang="en-US" dirty="0" err="1"/>
              <a:t>dL</a:t>
            </a: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/>
              <a:t>(IGT) OR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A1C 5.7–6.4% </a:t>
            </a:r>
          </a:p>
        </p:txBody>
      </p:sp>
    </p:spTree>
    <p:extLst>
      <p:ext uri="{BB962C8B-B14F-4D97-AF65-F5344CB8AC3E}">
        <p14:creationId xmlns:p14="http://schemas.microsoft.com/office/powerpoint/2010/main" val="685975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Criteria for the diagnosis of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FPG ≥ 126 mg/</a:t>
            </a:r>
            <a:r>
              <a:rPr lang="en-US" dirty="0" err="1"/>
              <a:t>dL</a:t>
            </a:r>
            <a:r>
              <a:rPr lang="en-US" dirty="0"/>
              <a:t> (7.0 mmol/L). Fasting is defined as no caloric intake for at least 8 h. OR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2-h PG ≥ 200mg/</a:t>
            </a:r>
            <a:r>
              <a:rPr lang="en-US" dirty="0" err="1"/>
              <a:t>dL</a:t>
            </a:r>
            <a:r>
              <a:rPr lang="en-US" dirty="0"/>
              <a:t> (11.1mmol/L) during OGTT</a:t>
            </a:r>
            <a:r>
              <a:rPr lang="en-US" dirty="0" smtClean="0"/>
              <a:t>.. </a:t>
            </a:r>
            <a:r>
              <a:rPr lang="en-US" dirty="0"/>
              <a:t>OR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A1C ≥ 6.5% (48 mmol/</a:t>
            </a:r>
            <a:r>
              <a:rPr lang="en-US" dirty="0" err="1"/>
              <a:t>mol</a:t>
            </a:r>
            <a:r>
              <a:rPr lang="en-US" dirty="0"/>
              <a:t>). </a:t>
            </a:r>
            <a:r>
              <a:rPr lang="en-US" dirty="0" smtClean="0"/>
              <a:t>OR </a:t>
            </a:r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In a patient with classic symptoms of hyperglycemia or hyperglycemic crisis, a random plasma glucose ≥ 200 mg/</a:t>
            </a:r>
            <a:r>
              <a:rPr lang="en-US" dirty="0" err="1"/>
              <a:t>dL</a:t>
            </a:r>
            <a:r>
              <a:rPr lang="en-US" dirty="0"/>
              <a:t> (11.1 mmol/L). </a:t>
            </a:r>
          </a:p>
        </p:txBody>
      </p:sp>
    </p:spTree>
    <p:extLst>
      <p:ext uri="{BB962C8B-B14F-4D97-AF65-F5344CB8AC3E}">
        <p14:creationId xmlns:p14="http://schemas.microsoft.com/office/powerpoint/2010/main" val="537853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Hemoglobin A1C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62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HbA1c test provides a valuable measure of long-term glycemic </a:t>
            </a:r>
            <a:r>
              <a:rPr lang="en-US" dirty="0" smtClean="0"/>
              <a:t>control</a:t>
            </a:r>
          </a:p>
          <a:p>
            <a:r>
              <a:rPr lang="en-US" dirty="0" smtClean="0"/>
              <a:t>Hemoglobin </a:t>
            </a:r>
            <a:r>
              <a:rPr lang="en-US" dirty="0"/>
              <a:t>is </a:t>
            </a:r>
            <a:r>
              <a:rPr lang="en-US" dirty="0" smtClean="0"/>
              <a:t>non-enzymatically </a:t>
            </a:r>
            <a:r>
              <a:rPr lang="en-US" dirty="0"/>
              <a:t>glycosylated by glucose, which freely crosses red blood cell membranes.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percentage of hemoglobin molecules participating in this reaction is proportional to the average plasma glucose concentration during the preceding 60–90 days.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normal range for HbA1c is 4%–6</a:t>
            </a:r>
            <a:r>
              <a:rPr lang="en-US" dirty="0" smtClean="0"/>
              <a:t>%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Increased </a:t>
            </a:r>
            <a:r>
              <a:rPr lang="en-US" dirty="0"/>
              <a:t>risk of microvascular and macrovascular disease begins when the HbA1c proportion is 6.5% or </a:t>
            </a:r>
            <a:r>
              <a:rPr lang="en-US" dirty="0" smtClean="0"/>
              <a:t>higher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63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cornerstones of treatment for type 2 diabetes are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</a:t>
            </a:r>
            <a:r>
              <a:rPr lang="en-US" dirty="0" smtClean="0"/>
              <a:t>ietary </a:t>
            </a:r>
            <a:r>
              <a:rPr lang="en-US" dirty="0"/>
              <a:t>adjustments along with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</a:t>
            </a:r>
            <a:r>
              <a:rPr lang="en-US" dirty="0" smtClean="0"/>
              <a:t>eight loss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</a:t>
            </a:r>
            <a:r>
              <a:rPr lang="en-US" dirty="0" smtClean="0"/>
              <a:t>xercise therapy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</a:t>
            </a:r>
            <a:r>
              <a:rPr lang="en-US" dirty="0" smtClean="0"/>
              <a:t>ral </a:t>
            </a:r>
            <a:r>
              <a:rPr lang="en-US" dirty="0"/>
              <a:t>antidiabetic drugs</a:t>
            </a:r>
          </a:p>
        </p:txBody>
      </p:sp>
    </p:spTree>
    <p:extLst>
      <p:ext uri="{BB962C8B-B14F-4D97-AF65-F5344CB8AC3E}">
        <p14:creationId xmlns:p14="http://schemas.microsoft.com/office/powerpoint/2010/main" val="2644154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Oral Antidiabetic Drugs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❖ The four major classes of oral antidiabetic medications are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 err="1"/>
              <a:t>secretagogues</a:t>
            </a:r>
            <a:r>
              <a:rPr lang="en-US" dirty="0"/>
              <a:t> (sulfonylureas, meglitinides), which increase insulin availability; 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 err="1"/>
              <a:t>biguanides</a:t>
            </a:r>
            <a:r>
              <a:rPr lang="en-US" dirty="0"/>
              <a:t> (metformin), which suppress excessive hepatic glucose release; 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n-US" dirty="0" err="1"/>
              <a:t>thiazolidinediones</a:t>
            </a:r>
            <a:r>
              <a:rPr lang="en-US" dirty="0"/>
              <a:t> or </a:t>
            </a:r>
            <a:r>
              <a:rPr lang="en-US" dirty="0" err="1"/>
              <a:t>glitazones</a:t>
            </a:r>
            <a:r>
              <a:rPr lang="en-US" dirty="0"/>
              <a:t> (rosiglitazone, pioglitazone), which improve insulin sensitivity; </a:t>
            </a:r>
          </a:p>
          <a:p>
            <a:pPr marL="514350" indent="-514350">
              <a:buAutoNum type="arabicPeriod"/>
            </a:pPr>
            <a:r>
              <a:rPr lang="en-US" dirty="0" smtClean="0"/>
              <a:t>The </a:t>
            </a:r>
            <a:r>
              <a:rPr lang="el-GR" dirty="0"/>
              <a:t>α-</a:t>
            </a:r>
            <a:r>
              <a:rPr lang="en-US" dirty="0"/>
              <a:t>glucosidase inhibitors (</a:t>
            </a:r>
            <a:r>
              <a:rPr lang="en-US" dirty="0" err="1"/>
              <a:t>acarbose</a:t>
            </a:r>
            <a:r>
              <a:rPr lang="en-US" dirty="0"/>
              <a:t>, </a:t>
            </a:r>
            <a:r>
              <a:rPr lang="en-US" dirty="0" err="1"/>
              <a:t>miglitol</a:t>
            </a:r>
            <a:r>
              <a:rPr lang="en-US" dirty="0"/>
              <a:t>), which delay GI glucose absorption</a:t>
            </a:r>
          </a:p>
        </p:txBody>
      </p:sp>
    </p:spTree>
    <p:extLst>
      <p:ext uri="{BB962C8B-B14F-4D97-AF65-F5344CB8AC3E}">
        <p14:creationId xmlns:p14="http://schemas.microsoft.com/office/powerpoint/2010/main" val="1894826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agents are used to maintain glucose control, which is defined as 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Fasting glucose level of 90–130 mg/</a:t>
            </a:r>
            <a:r>
              <a:rPr lang="en-US" dirty="0" err="1"/>
              <a:t>dL</a:t>
            </a:r>
            <a:r>
              <a:rPr lang="en-US" dirty="0"/>
              <a:t>,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Peak postprandial glucose level below 180 mg/</a:t>
            </a:r>
            <a:r>
              <a:rPr lang="en-US" dirty="0" err="1"/>
              <a:t>dL</a:t>
            </a:r>
            <a:r>
              <a:rPr lang="en-US" dirty="0"/>
              <a:t>, and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HbA1c level below 7% in the initial stages of the disease</a:t>
            </a:r>
          </a:p>
        </p:txBody>
      </p:sp>
    </p:spTree>
    <p:extLst>
      <p:ext uri="{BB962C8B-B14F-4D97-AF65-F5344CB8AC3E}">
        <p14:creationId xmlns:p14="http://schemas.microsoft.com/office/powerpoint/2010/main" val="2490349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sulfonylureas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are usually the initial pharmacologic treatment for type 2 diabetes </a:t>
            </a:r>
            <a:r>
              <a:rPr lang="en-US" dirty="0" smtClean="0"/>
              <a:t>mellitus</a:t>
            </a:r>
          </a:p>
          <a:p>
            <a:r>
              <a:rPr lang="en-US" dirty="0"/>
              <a:t>They act by stimulating insulin secretion from pancreatic beta cells;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They can also enhance insulin-stimulated peripheral tissue utilization of </a:t>
            </a:r>
            <a:r>
              <a:rPr lang="en-US" dirty="0" smtClean="0"/>
              <a:t>glucose </a:t>
            </a:r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The second-generation agents (glyburide, glipizide, glimepiride) are more potent and have fewer side effects than their predecessors</a:t>
            </a:r>
          </a:p>
        </p:txBody>
      </p:sp>
    </p:spTree>
    <p:extLst>
      <p:ext uri="{BB962C8B-B14F-4D97-AF65-F5344CB8AC3E}">
        <p14:creationId xmlns:p14="http://schemas.microsoft.com/office/powerpoint/2010/main" val="1230431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36728"/>
            <a:ext cx="10515600" cy="5740235"/>
          </a:xfrm>
        </p:spPr>
        <p:txBody>
          <a:bodyPr>
            <a:normAutofit/>
          </a:bodyPr>
          <a:lstStyle/>
          <a:p>
            <a:r>
              <a:rPr lang="en-US" dirty="0"/>
              <a:t>Another class of insulin </a:t>
            </a:r>
            <a:r>
              <a:rPr lang="en-US" dirty="0" err="1"/>
              <a:t>secretagogues</a:t>
            </a:r>
            <a:r>
              <a:rPr lang="en-US" dirty="0"/>
              <a:t> act as GLP-1 (glucagon-like peptide 1) agonists or enhance endogenous GLP-1 activity in the </a:t>
            </a:r>
            <a:r>
              <a:rPr lang="en-US" dirty="0" smtClean="0"/>
              <a:t>gut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r>
              <a:rPr lang="en-US" dirty="0" err="1" smtClean="0"/>
              <a:t>Exenatide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dirty="0" err="1"/>
              <a:t>liraglutide</a:t>
            </a:r>
            <a:r>
              <a:rPr lang="en-US" dirty="0"/>
              <a:t> are examples and have been approved for treatment for type 2 </a:t>
            </a:r>
            <a:r>
              <a:rPr lang="en-US" dirty="0" smtClean="0"/>
              <a:t>diabetes </a:t>
            </a:r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These agents (incretins) increase glucose-stimulated insulin secretion ✓ Suppress glucagon, and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Slow gastric </a:t>
            </a:r>
            <a:r>
              <a:rPr lang="en-US" dirty="0" smtClean="0"/>
              <a:t>emptying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Dipeptidyl </a:t>
            </a:r>
            <a:r>
              <a:rPr lang="en-US" dirty="0"/>
              <a:t>peptidase-4 inhibitors (</a:t>
            </a:r>
            <a:r>
              <a:rPr lang="en-US" dirty="0" err="1"/>
              <a:t>saxagliptin</a:t>
            </a:r>
            <a:r>
              <a:rPr lang="en-US" dirty="0"/>
              <a:t>, </a:t>
            </a:r>
            <a:r>
              <a:rPr lang="en-US" dirty="0" err="1"/>
              <a:t>sitagliptin</a:t>
            </a:r>
            <a:r>
              <a:rPr lang="en-US" dirty="0"/>
              <a:t>, </a:t>
            </a:r>
            <a:r>
              <a:rPr lang="en-US" dirty="0" err="1"/>
              <a:t>vildagliptin</a:t>
            </a:r>
            <a:r>
              <a:rPr lang="en-US" dirty="0"/>
              <a:t>) inhibit the degradation of native GLP-1 and thus enhance glucose-stimulated insulin secretion</a:t>
            </a:r>
          </a:p>
        </p:txBody>
      </p:sp>
    </p:spTree>
    <p:extLst>
      <p:ext uri="{BB962C8B-B14F-4D97-AF65-F5344CB8AC3E}">
        <p14:creationId xmlns:p14="http://schemas.microsoft.com/office/powerpoint/2010/main" val="15486904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biguanides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Decrease hepatic gluconeogenesis and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</a:t>
            </a:r>
            <a:r>
              <a:rPr lang="en-US" dirty="0" smtClean="0"/>
              <a:t>o </a:t>
            </a:r>
            <a:r>
              <a:rPr lang="en-US" dirty="0"/>
              <a:t>a lesser degree enhance utilization of glucose by skeletal muscle and adipose tissue by increasing glucose transport across cell </a:t>
            </a:r>
            <a:r>
              <a:rPr lang="en-US" dirty="0" smtClean="0"/>
              <a:t>membranes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</a:t>
            </a:r>
            <a:r>
              <a:rPr lang="en-US" dirty="0" smtClean="0"/>
              <a:t>owering </a:t>
            </a:r>
            <a:r>
              <a:rPr lang="en-US" dirty="0"/>
              <a:t>glucose </a:t>
            </a:r>
            <a:r>
              <a:rPr lang="en-US" dirty="0" smtClean="0"/>
              <a:t>levels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</a:t>
            </a:r>
            <a:r>
              <a:rPr lang="en-US" dirty="0" smtClean="0"/>
              <a:t>hey </a:t>
            </a:r>
            <a:r>
              <a:rPr lang="en-US" dirty="0"/>
              <a:t>decrease plasma levels of triglycerides </a:t>
            </a:r>
            <a:r>
              <a:rPr lang="en-US" dirty="0" smtClean="0"/>
              <a:t>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Low-density </a:t>
            </a:r>
            <a:r>
              <a:rPr lang="en-US" dirty="0"/>
              <a:t>lipoprotein </a:t>
            </a:r>
            <a:r>
              <a:rPr lang="en-US" dirty="0" smtClean="0"/>
              <a:t>cholesterol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</a:t>
            </a:r>
            <a:r>
              <a:rPr lang="en-US" dirty="0" smtClean="0"/>
              <a:t>educe </a:t>
            </a:r>
            <a:r>
              <a:rPr lang="en-US" dirty="0"/>
              <a:t>postprandial hyperlipidemia and plasma free fatty acids</a:t>
            </a:r>
          </a:p>
        </p:txBody>
      </p:sp>
    </p:spTree>
    <p:extLst>
      <p:ext uri="{BB962C8B-B14F-4D97-AF65-F5344CB8AC3E}">
        <p14:creationId xmlns:p14="http://schemas.microsoft.com/office/powerpoint/2010/main" val="119767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The risk of hypoglycemia is less than that with the </a:t>
            </a:r>
            <a:r>
              <a:rPr lang="en-US" dirty="0" smtClean="0"/>
              <a:t>sulfonylureas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Lactic </a:t>
            </a:r>
            <a:r>
              <a:rPr lang="en-US" dirty="0"/>
              <a:t>acidosis is a rare but serious side effect of the </a:t>
            </a:r>
            <a:r>
              <a:rPr lang="en-US" dirty="0" err="1" smtClean="0"/>
              <a:t>biguanides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risk is particularly high in patients with renal </a:t>
            </a:r>
            <a:r>
              <a:rPr lang="en-US" dirty="0" smtClean="0"/>
              <a:t>insufficiency.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It </a:t>
            </a:r>
            <a:r>
              <a:rPr lang="en-US" dirty="0"/>
              <a:t>is much less common with metformin than with its predecessor </a:t>
            </a:r>
            <a:r>
              <a:rPr lang="en-US" dirty="0" err="1"/>
              <a:t>phenformin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41382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Thiazolidinediones </a:t>
            </a:r>
            <a:r>
              <a:rPr lang="en-US" dirty="0"/>
              <a:t>or </a:t>
            </a:r>
            <a:r>
              <a:rPr lang="en-US" dirty="0" err="1"/>
              <a:t>glitazones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Are insulin </a:t>
            </a:r>
            <a:r>
              <a:rPr lang="en-US" dirty="0" err="1" smtClean="0"/>
              <a:t>sensetizers</a:t>
            </a:r>
            <a:endParaRPr lang="en-US" dirty="0" smtClean="0"/>
          </a:p>
          <a:p>
            <a:r>
              <a:rPr lang="en-US" dirty="0"/>
              <a:t>That decrease insulin resistance by binding to peroxisome proliferator–activated receptors located in skeletal muscle, liver, and adipose tissue.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drugs influence the expression of genes encoding proteins for glucose and lipid metabolism, endothelial function, and </a:t>
            </a:r>
            <a:r>
              <a:rPr lang="en-US" dirty="0" err="1"/>
              <a:t>atherogenesis</a:t>
            </a:r>
            <a:r>
              <a:rPr lang="en-US" dirty="0"/>
              <a:t>; </a:t>
            </a:r>
            <a:endParaRPr lang="en-US" dirty="0" smtClean="0"/>
          </a:p>
          <a:p>
            <a:r>
              <a:rPr lang="en-US" dirty="0"/>
              <a:t>A</a:t>
            </a:r>
            <a:r>
              <a:rPr lang="en-US" dirty="0" smtClean="0"/>
              <a:t>s </a:t>
            </a:r>
            <a:r>
              <a:rPr lang="en-US" dirty="0"/>
              <a:t>a result, they may influence diabetic dyslipidemia in addition to hyperglycemia</a:t>
            </a:r>
          </a:p>
        </p:txBody>
      </p:sp>
    </p:spTree>
    <p:extLst>
      <p:ext uri="{BB962C8B-B14F-4D97-AF65-F5344CB8AC3E}">
        <p14:creationId xmlns:p14="http://schemas.microsoft.com/office/powerpoint/2010/main" val="2749295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l-GR" dirty="0"/>
              <a:t>α-</a:t>
            </a:r>
            <a:r>
              <a:rPr lang="en-US" dirty="0"/>
              <a:t>glucosidase inhibitors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inhibit α-glucosidase enzymes in the brush border of enterocytes in the proximal small intestine, </a:t>
            </a:r>
            <a:endParaRPr lang="en-US" dirty="0" smtClean="0"/>
          </a:p>
          <a:p>
            <a:r>
              <a:rPr lang="en-US" dirty="0" smtClean="0"/>
              <a:t>which </a:t>
            </a:r>
            <a:r>
              <a:rPr lang="en-US" dirty="0"/>
              <a:t>results in a delay in intraluminal production and subsequent absorption of glucose. </a:t>
            </a:r>
            <a:endParaRPr lang="en-US" dirty="0" smtClean="0"/>
          </a:p>
          <a:p>
            <a:r>
              <a:rPr lang="en-US" dirty="0" smtClean="0"/>
              <a:t>They </a:t>
            </a:r>
            <a:r>
              <a:rPr lang="en-US" dirty="0"/>
              <a:t>are administered before a main meal to ensure their presence at the site of </a:t>
            </a:r>
            <a:r>
              <a:rPr lang="en-US" dirty="0" smtClean="0"/>
              <a:t>action</a:t>
            </a:r>
          </a:p>
          <a:p>
            <a:endParaRPr lang="en-US" dirty="0"/>
          </a:p>
          <a:p>
            <a:r>
              <a:rPr lang="en-US" dirty="0"/>
              <a:t>In most patients, therapy is initiated with a sulfonylurea or </a:t>
            </a:r>
            <a:r>
              <a:rPr lang="en-US" dirty="0" err="1"/>
              <a:t>biguanide</a:t>
            </a:r>
            <a:r>
              <a:rPr lang="en-US" dirty="0"/>
              <a:t> and titrated to achieve fasting and peak postprandial glucose levels recommended by the ADA</a:t>
            </a:r>
          </a:p>
        </p:txBody>
      </p:sp>
    </p:spTree>
    <p:extLst>
      <p:ext uri="{BB962C8B-B14F-4D97-AF65-F5344CB8AC3E}">
        <p14:creationId xmlns:p14="http://schemas.microsoft.com/office/powerpoint/2010/main" val="3460055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878" y="341193"/>
            <a:ext cx="10822674" cy="6209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24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854" y="286602"/>
            <a:ext cx="10727139" cy="5786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0322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➢ Acute complications: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Diabetic ketoacidosis (DKA)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Hyperosmolar </a:t>
            </a:r>
            <a:r>
              <a:rPr lang="en-US" dirty="0" err="1"/>
              <a:t>nonketotic</a:t>
            </a:r>
            <a:r>
              <a:rPr lang="en-US" dirty="0"/>
              <a:t> coma (HONC)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Hypoglycemia (Blood glucose ≤ 50 mg/dl). </a:t>
            </a:r>
          </a:p>
        </p:txBody>
      </p:sp>
    </p:spTree>
    <p:extLst>
      <p:ext uri="{BB962C8B-B14F-4D97-AF65-F5344CB8AC3E}">
        <p14:creationId xmlns:p14="http://schemas.microsoft.com/office/powerpoint/2010/main" val="3734370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➢ Chronic complications: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Microvascular: o Eye disease: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▪ </a:t>
            </a:r>
            <a:r>
              <a:rPr lang="en-US" dirty="0"/>
              <a:t>Retinopathy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▪ </a:t>
            </a:r>
            <a:r>
              <a:rPr lang="en-US" dirty="0"/>
              <a:t>Macular edema.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Neuropathy</a:t>
            </a:r>
            <a:r>
              <a:rPr lang="en-US" dirty="0"/>
              <a:t>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▪ </a:t>
            </a:r>
            <a:r>
              <a:rPr lang="en-US" dirty="0"/>
              <a:t>Sensory and motor neuropathy (“stocking-glove” distribution), foot fractures (Charcot joint)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▪ </a:t>
            </a:r>
            <a:r>
              <a:rPr lang="en-US" dirty="0"/>
              <a:t>Autonomic neuropathy.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Nephropathy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9137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Macrovascular: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Coronary </a:t>
            </a:r>
            <a:r>
              <a:rPr lang="en-US" dirty="0"/>
              <a:t>artery disease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Cerebrovascular </a:t>
            </a:r>
            <a:r>
              <a:rPr lang="en-US" dirty="0"/>
              <a:t>accidents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Peripheral </a:t>
            </a:r>
            <a:r>
              <a:rPr lang="en-US" dirty="0"/>
              <a:t>vascular disease</a:t>
            </a:r>
          </a:p>
        </p:txBody>
      </p:sp>
    </p:spTree>
    <p:extLst>
      <p:ext uri="{BB962C8B-B14F-4D97-AF65-F5344CB8AC3E}">
        <p14:creationId xmlns:p14="http://schemas.microsoft.com/office/powerpoint/2010/main" val="16878584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Cardiac complications: The diabetic patient has an increased risk of</a:t>
            </a:r>
            <a:r>
              <a:rPr lang="en-US" dirty="0" smtClean="0"/>
              <a:t>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Coronary </a:t>
            </a:r>
            <a:r>
              <a:rPr lang="en-US" dirty="0"/>
              <a:t>artery </a:t>
            </a:r>
            <a:r>
              <a:rPr lang="en-US" dirty="0" smtClean="0"/>
              <a:t>disease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✓ Diabetic patients &gt; 65 years of age have significant symptomatic/asymptomatic coronary artery disease.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Silent </a:t>
            </a:r>
            <a:r>
              <a:rPr lang="en-US" dirty="0"/>
              <a:t>ischemia may be present because of diabetic autonomic neuropathy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Hypertension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Peripheral </a:t>
            </a:r>
            <a:r>
              <a:rPr lang="en-US" dirty="0"/>
              <a:t>arterial disease</a:t>
            </a:r>
          </a:p>
        </p:txBody>
      </p:sp>
    </p:spTree>
    <p:extLst>
      <p:ext uri="{BB962C8B-B14F-4D97-AF65-F5344CB8AC3E}">
        <p14:creationId xmlns:p14="http://schemas.microsoft.com/office/powerpoint/2010/main" val="21986144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Systolic </a:t>
            </a:r>
            <a:r>
              <a:rPr lang="en-US" dirty="0"/>
              <a:t>and diastolic dysfunction, related to: </a:t>
            </a:r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Coronary artery disease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Hypertension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✓ Left ventricular hypertrophy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Endothelial dysfunction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Obesity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Autonomic neuropathy</a:t>
            </a:r>
          </a:p>
        </p:txBody>
      </p:sp>
    </p:spTree>
    <p:extLst>
      <p:ext uri="{BB962C8B-B14F-4D97-AF65-F5344CB8AC3E}">
        <p14:creationId xmlns:p14="http://schemas.microsoft.com/office/powerpoint/2010/main" val="23069887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complications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Cataract</a:t>
            </a:r>
            <a:r>
              <a:rPr lang="en-US" dirty="0"/>
              <a:t>, glaucoma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Gastrointestinal: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Gastroparesis, constipation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Diarrhea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Genitourinary: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Uropathy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✓ </a:t>
            </a:r>
            <a:r>
              <a:rPr lang="en-US" dirty="0"/>
              <a:t>Erectile </a:t>
            </a:r>
            <a:r>
              <a:rPr lang="en-US" dirty="0" smtClean="0"/>
              <a:t>dysfunction </a:t>
            </a:r>
          </a:p>
          <a:p>
            <a:pPr marL="0" indent="0">
              <a:buNone/>
            </a:pPr>
            <a:r>
              <a:rPr lang="en-US" dirty="0" smtClean="0"/>
              <a:t>Dermatological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Infection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3589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ASSESS FOR AUTONOMIC NEUROPATHY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Overt </a:t>
            </a:r>
            <a:r>
              <a:rPr lang="en-US" dirty="0"/>
              <a:t>signs and symptoms of autonomic disease are as follows: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Cardiovascular </a:t>
            </a:r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Resting tachycardia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Exercise intolerance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Orthostatic hypotension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Silent myocardial ischemia. </a:t>
            </a:r>
          </a:p>
        </p:txBody>
      </p:sp>
    </p:spTree>
    <p:extLst>
      <p:ext uri="{BB962C8B-B14F-4D97-AF65-F5344CB8AC3E}">
        <p14:creationId xmlns:p14="http://schemas.microsoft.com/office/powerpoint/2010/main" val="1441092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GI </a:t>
            </a:r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Esophageal </a:t>
            </a:r>
            <a:r>
              <a:rPr lang="en-US" dirty="0" err="1"/>
              <a:t>dysmotility</a:t>
            </a:r>
            <a:r>
              <a:rPr lang="en-US" dirty="0"/>
              <a:t> (dysphagia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✓ Gastroparesis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Constipation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Diarrhea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Fecal incontinence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012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72955"/>
            <a:ext cx="10515600" cy="590400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Genitourinary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Neurogenic bladder (diabetic </a:t>
            </a:r>
            <a:r>
              <a:rPr lang="en-US" dirty="0" err="1"/>
              <a:t>cystopathy</a:t>
            </a:r>
            <a:r>
              <a:rPr lang="en-US" dirty="0"/>
              <a:t>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Erectile dysfunction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Retrograde ejaculation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Female sexual dysfunction (e.g. loss of vaginal lubrication).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Metabolic </a:t>
            </a:r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Hypoglycemia unawareness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Hypoglycemia-associated autonomic failure</a:t>
            </a:r>
          </a:p>
        </p:txBody>
      </p:sp>
    </p:spTree>
    <p:extLst>
      <p:ext uri="{BB962C8B-B14F-4D97-AF65-F5344CB8AC3E}">
        <p14:creationId xmlns:p14="http://schemas.microsoft.com/office/powerpoint/2010/main" val="26924360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err="1"/>
              <a:t>Sudomotor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Anhidrosis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Heat intolerance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Gustatory sweating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Dry skin. </a:t>
            </a:r>
            <a:endParaRPr lang="en-US" dirty="0" smtClean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Pupillary </a:t>
            </a:r>
          </a:p>
          <a:p>
            <a:pPr marL="0" indent="0">
              <a:buNone/>
            </a:pPr>
            <a:r>
              <a:rPr lang="en-US" dirty="0" smtClean="0"/>
              <a:t>✓ Pupilometer </a:t>
            </a:r>
            <a:r>
              <a:rPr lang="en-US" dirty="0"/>
              <a:t>function impairment (e.g. decreased diameter of dark adapted pupil)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Argyll-Robertson pupil. </a:t>
            </a:r>
          </a:p>
        </p:txBody>
      </p:sp>
    </p:spTree>
    <p:extLst>
      <p:ext uri="{BB962C8B-B14F-4D97-AF65-F5344CB8AC3E}">
        <p14:creationId xmlns:p14="http://schemas.microsoft.com/office/powerpoint/2010/main" val="153795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TESTS FOR DIABETIC AUTONOMIC NEUROPATHY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✓ </a:t>
            </a:r>
            <a:r>
              <a:rPr lang="en-US" b="1" dirty="0"/>
              <a:t>Early stage</a:t>
            </a:r>
            <a:r>
              <a:rPr lang="en-US" dirty="0"/>
              <a:t>: Abnormality of heart rate response during deep breathing alone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b="1" dirty="0"/>
              <a:t>Intermediate stage</a:t>
            </a:r>
            <a:r>
              <a:rPr lang="en-US" dirty="0"/>
              <a:t>: An abnormality of Valsalva response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b="1" dirty="0"/>
              <a:t>Late stage</a:t>
            </a:r>
            <a:r>
              <a:rPr lang="en-US" dirty="0"/>
              <a:t>: The presence of postural hypotension</a:t>
            </a:r>
          </a:p>
        </p:txBody>
      </p:sp>
    </p:spTree>
    <p:extLst>
      <p:ext uri="{BB962C8B-B14F-4D97-AF65-F5344CB8AC3E}">
        <p14:creationId xmlns:p14="http://schemas.microsoft.com/office/powerpoint/2010/main" val="3899488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8616"/>
            <a:ext cx="10515600" cy="60050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tests for </a:t>
            </a:r>
            <a:r>
              <a:rPr lang="en-US" b="1" dirty="0"/>
              <a:t>parasympathetic</a:t>
            </a:r>
            <a:r>
              <a:rPr lang="en-US" dirty="0"/>
              <a:t> control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Heart rate variability (HRV) in response to: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Deep </a:t>
            </a:r>
            <a:r>
              <a:rPr lang="en-US" dirty="0"/>
              <a:t>breathing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</a:t>
            </a:r>
            <a:r>
              <a:rPr lang="en-US" dirty="0"/>
              <a:t>. Standing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</a:t>
            </a:r>
            <a:r>
              <a:rPr lang="en-US" dirty="0"/>
              <a:t>. Valsalva maneuver.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tests for </a:t>
            </a:r>
            <a:r>
              <a:rPr lang="en-US" b="1" dirty="0"/>
              <a:t>sympathetic</a:t>
            </a:r>
            <a:r>
              <a:rPr lang="en-US" dirty="0"/>
              <a:t> control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Blood pressure response to: </a:t>
            </a:r>
          </a:p>
          <a:p>
            <a:pPr marL="514350" indent="-514350">
              <a:buAutoNum type="arabicPeriod"/>
            </a:pPr>
            <a:r>
              <a:rPr lang="en-US" dirty="0" smtClean="0"/>
              <a:t>Standing </a:t>
            </a:r>
            <a:r>
              <a:rPr lang="en-US" dirty="0"/>
              <a:t>or passive tilting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Sustained </a:t>
            </a:r>
            <a:r>
              <a:rPr lang="en-US" dirty="0"/>
              <a:t>handgrip </a:t>
            </a:r>
            <a:endParaRPr lang="en-US" dirty="0" smtClean="0"/>
          </a:p>
          <a:p>
            <a:pPr marL="514350" indent="-514350">
              <a:buAutoNum type="arabicPeriod"/>
            </a:pPr>
            <a:r>
              <a:rPr lang="en-US" dirty="0" smtClean="0"/>
              <a:t>Response </a:t>
            </a:r>
            <a:r>
              <a:rPr lang="en-US" dirty="0"/>
              <a:t>to the Valsalva </a:t>
            </a:r>
            <a:r>
              <a:rPr lang="en-US" dirty="0" smtClean="0"/>
              <a:t>maneuver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806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to the Valsalva maneuver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the standard Valsalva maneuver, the supine patient, connected to an ECG monitor, forcibly exhales for 15 s against a fixed resistance (40 mmHg) with an open glottis.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results in a sudden transient increase in intrathoracic and intra abdominal pressures, with a characteristic hemodynamic response</a:t>
            </a:r>
          </a:p>
        </p:txBody>
      </p:sp>
    </p:spTree>
    <p:extLst>
      <p:ext uri="{BB962C8B-B14F-4D97-AF65-F5344CB8AC3E}">
        <p14:creationId xmlns:p14="http://schemas.microsoft.com/office/powerpoint/2010/main" val="3104058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7546"/>
            <a:ext cx="10515600" cy="5849417"/>
          </a:xfrm>
        </p:spPr>
        <p:txBody>
          <a:bodyPr/>
          <a:lstStyle/>
          <a:p>
            <a:pPr marL="514350" indent="-514350">
              <a:buFont typeface="+mj-lt"/>
              <a:buAutoNum type="alphaUcPeriod"/>
            </a:pPr>
            <a:r>
              <a:rPr lang="en-US" dirty="0" smtClean="0"/>
              <a:t>Phase </a:t>
            </a:r>
            <a:r>
              <a:rPr lang="en-US" dirty="0"/>
              <a:t>I: Transient rise in blood pressure and a fall in heart rate due to compression of the aorta and propulsion of blood into the peripheral circulation.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Hemodynamic </a:t>
            </a:r>
            <a:r>
              <a:rPr lang="en-US" dirty="0"/>
              <a:t>changes are due to mechanical </a:t>
            </a:r>
            <a:r>
              <a:rPr lang="en-US" dirty="0" smtClean="0"/>
              <a:t>factors </a:t>
            </a:r>
          </a:p>
          <a:p>
            <a:pPr marL="0" indent="0">
              <a:buNone/>
            </a:pPr>
            <a:r>
              <a:rPr lang="en-US" dirty="0" smtClean="0"/>
              <a:t>B. Phase </a:t>
            </a:r>
            <a:r>
              <a:rPr lang="en-US" dirty="0"/>
              <a:t>II: Initial fall in </a:t>
            </a:r>
            <a:r>
              <a:rPr lang="en-US" dirty="0" smtClean="0"/>
              <a:t>BP </a:t>
            </a:r>
            <a:r>
              <a:rPr lang="en-US" dirty="0"/>
              <a:t>followed by the recovery of </a:t>
            </a:r>
            <a:r>
              <a:rPr lang="en-US" dirty="0" smtClean="0"/>
              <a:t>BP </a:t>
            </a:r>
            <a:r>
              <a:rPr lang="en-US" dirty="0"/>
              <a:t>later in the </a:t>
            </a:r>
            <a:r>
              <a:rPr lang="en-US" dirty="0" smtClean="0"/>
              <a:t>phase </a:t>
            </a:r>
          </a:p>
          <a:p>
            <a:r>
              <a:rPr lang="en-US" dirty="0" smtClean="0"/>
              <a:t>The BP </a:t>
            </a:r>
            <a:r>
              <a:rPr lang="en-US" dirty="0"/>
              <a:t>changes are accompanied by an increase in </a:t>
            </a:r>
            <a:r>
              <a:rPr lang="en-US" dirty="0" smtClean="0"/>
              <a:t>HR </a:t>
            </a:r>
          </a:p>
          <a:p>
            <a:r>
              <a:rPr lang="en-US" dirty="0" smtClean="0"/>
              <a:t>There </a:t>
            </a:r>
            <a:r>
              <a:rPr lang="en-US" dirty="0"/>
              <a:t>is a fall in cardiac output due to decreased venous return which causes reflex tachycardia and </a:t>
            </a:r>
            <a:r>
              <a:rPr lang="en-US" dirty="0" smtClean="0"/>
              <a:t> </a:t>
            </a:r>
            <a:r>
              <a:rPr lang="en-US" dirty="0"/>
              <a:t>peripheral resistance</a:t>
            </a:r>
          </a:p>
        </p:txBody>
      </p:sp>
    </p:spTree>
    <p:extLst>
      <p:ext uri="{BB962C8B-B14F-4D97-AF65-F5344CB8AC3E}">
        <p14:creationId xmlns:p14="http://schemas.microsoft.com/office/powerpoint/2010/main" val="39724504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C. Phase </a:t>
            </a:r>
            <a:r>
              <a:rPr lang="en-US" dirty="0"/>
              <a:t>III: Drop in </a:t>
            </a:r>
            <a:r>
              <a:rPr lang="en-US" dirty="0" smtClean="0"/>
              <a:t>BP &amp; </a:t>
            </a:r>
            <a:r>
              <a:rPr lang="en-US" dirty="0"/>
              <a:t>rise in </a:t>
            </a:r>
            <a:r>
              <a:rPr lang="en-US" dirty="0" smtClean="0"/>
              <a:t>HR </a:t>
            </a:r>
            <a:r>
              <a:rPr lang="en-US" dirty="0"/>
              <a:t>when expiration </a:t>
            </a:r>
            <a:r>
              <a:rPr lang="en-US" dirty="0" smtClean="0"/>
              <a:t>stopped </a:t>
            </a:r>
          </a:p>
          <a:p>
            <a:pPr marL="0" indent="0">
              <a:buNone/>
            </a:pPr>
            <a:r>
              <a:rPr lang="en-US" dirty="0" smtClean="0"/>
              <a:t>D. </a:t>
            </a:r>
            <a:r>
              <a:rPr lang="en-US" dirty="0"/>
              <a:t>Phase IV: Overshoot of </a:t>
            </a:r>
            <a:r>
              <a:rPr lang="en-US" dirty="0" smtClean="0"/>
              <a:t>BP </a:t>
            </a:r>
            <a:r>
              <a:rPr lang="en-US" dirty="0"/>
              <a:t>above the baseline value due to residual vasoconstriction in a setting of a now normal venous return and cardiac output. </a:t>
            </a:r>
            <a:endParaRPr lang="en-US" dirty="0" smtClean="0"/>
          </a:p>
          <a:p>
            <a:r>
              <a:rPr lang="en-US" dirty="0" smtClean="0"/>
              <a:t>There </a:t>
            </a:r>
            <a:r>
              <a:rPr lang="en-US" dirty="0"/>
              <a:t>is a reflex </a:t>
            </a:r>
            <a:r>
              <a:rPr lang="en-US" dirty="0" smtClean="0"/>
              <a:t>bradycardia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3043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Valsalva ratio is calculated from the ECG waveform by dividing the longest R-R interval after the maneuver (in phase IV) to the shortest R-R interval during the maneuver.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Valsalva ratio &lt; 1.2 is </a:t>
            </a:r>
            <a:r>
              <a:rPr lang="en-US" dirty="0" smtClean="0"/>
              <a:t>abnorma</a:t>
            </a:r>
            <a:r>
              <a:rPr lang="en-US" dirty="0"/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8055611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HRV (Heart Rate Variability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➢ Respiratory sinus arrhythmia (RSA) is a normal phenomenon due to vagal input to sinus node during expiration causing cardio deceleration.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Autonomic neuropathy decreases the HRV (difference in between maximum and minimum heart rate during the respiratory cycle</a:t>
            </a:r>
            <a:r>
              <a:rPr lang="en-US" dirty="0" smtClean="0"/>
              <a:t>) </a:t>
            </a:r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A clinical but less accurate method is to ask the patient to breathe quietly and deeply at a rate of six breaths per minute (at this rate there is maximum variation in heart rate)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Normal variability &gt; 15 beats /min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Abnormal result &lt; 10 beats /min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4762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Aging is associated with decreased RSA due to decreased vagal tone and decreased beta receptor responsiveness and the criteria may not apply to patients above 60 years of age</a:t>
            </a:r>
          </a:p>
        </p:txBody>
      </p:sp>
    </p:spTree>
    <p:extLst>
      <p:ext uri="{BB962C8B-B14F-4D97-AF65-F5344CB8AC3E}">
        <p14:creationId xmlns:p14="http://schemas.microsoft.com/office/powerpoint/2010/main" val="1438307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Response to standing up (30: 15 ratio)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There is a rapid increase in heart rate in response to standing that is maximal at approximately the 15th beat after standing.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This is followed by a relative bradycardia that is maximal at approximately the 30th beat after standing.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The heart rate should increase by 10%. </a:t>
            </a:r>
            <a:endParaRPr lang="en-US" dirty="0" smtClean="0"/>
          </a:p>
          <a:p>
            <a:r>
              <a:rPr lang="en-US" dirty="0" smtClean="0"/>
              <a:t>30:15 </a:t>
            </a:r>
            <a:r>
              <a:rPr lang="en-US" dirty="0"/>
              <a:t>ratio is measured as the longest R-R interval during beats 20–40 divided by the shortest R-R interval during beats 5–25.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235515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patients with DAN, there is only a gradual increase in heart rate. </a:t>
            </a:r>
          </a:p>
          <a:p>
            <a:pPr marL="0" indent="0">
              <a:buNone/>
            </a:pPr>
            <a:r>
              <a:rPr lang="en-US" dirty="0"/>
              <a:t>A. 30:15 ratio &gt;1.04 is normal </a:t>
            </a:r>
          </a:p>
          <a:p>
            <a:pPr marL="0" indent="0">
              <a:buNone/>
            </a:pPr>
            <a:r>
              <a:rPr lang="en-US" dirty="0"/>
              <a:t>B. 1.01 – 1.03 is borderline </a:t>
            </a:r>
          </a:p>
          <a:p>
            <a:pPr marL="0" indent="0">
              <a:buNone/>
            </a:pPr>
            <a:r>
              <a:rPr lang="en-US" dirty="0"/>
              <a:t>C. &lt; 1.01 is </a:t>
            </a:r>
            <a:r>
              <a:rPr lang="en-US" dirty="0" err="1"/>
              <a:t>abnorma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4876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Orthostatic hypotension: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It is defined as a fall in </a:t>
            </a:r>
            <a:r>
              <a:rPr lang="en-US" dirty="0" smtClean="0"/>
              <a:t>BP </a:t>
            </a:r>
            <a:r>
              <a:rPr lang="en-US" dirty="0"/>
              <a:t>&gt; 30 mm Hg for systolic or &gt;10 mm Hg for diastolic </a:t>
            </a:r>
            <a:r>
              <a:rPr lang="en-US" dirty="0" smtClean="0"/>
              <a:t>BP </a:t>
            </a:r>
            <a:r>
              <a:rPr lang="en-US" dirty="0"/>
              <a:t>in response to postural change, from supine to standing.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Normally, </a:t>
            </a:r>
            <a:r>
              <a:rPr lang="en-US" dirty="0" smtClean="0"/>
              <a:t>BP </a:t>
            </a:r>
            <a:r>
              <a:rPr lang="en-US" dirty="0"/>
              <a:t>is rapidly corrected by </a:t>
            </a:r>
            <a:r>
              <a:rPr lang="en-US" dirty="0" err="1"/>
              <a:t>baroreflex</a:t>
            </a:r>
            <a:r>
              <a:rPr lang="en-US" dirty="0"/>
              <a:t>-mediated peripheral vasoconstriction and tachycardia and the fall in SBP is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&lt; 10 mm Hg- Normal.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 drop by 11–29 mm Hg is borderline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 drop &gt; 30 mm Hg is significant</a:t>
            </a:r>
          </a:p>
        </p:txBody>
      </p:sp>
    </p:spTree>
    <p:extLst>
      <p:ext uri="{BB962C8B-B14F-4D97-AF65-F5344CB8AC3E}">
        <p14:creationId xmlns:p14="http://schemas.microsoft.com/office/powerpoint/2010/main" val="29023384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Sustained hand grip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Sustained muscle contraction causes a rise in systolic and diastolic blood pressure and heart </a:t>
            </a:r>
            <a:r>
              <a:rPr lang="en-US" dirty="0" smtClean="0"/>
              <a:t>rate </a:t>
            </a:r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Exercising muscle stimulates a reflex arc resulting in increased cardiac output and heart </a:t>
            </a:r>
            <a:r>
              <a:rPr lang="en-US" dirty="0" smtClean="0"/>
              <a:t>rate </a:t>
            </a:r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As the peripheral vascular resistance is maintained the diastolic pressure rises by &gt; 16 mm </a:t>
            </a:r>
            <a:r>
              <a:rPr lang="en-US" dirty="0" smtClean="0"/>
              <a:t>Hg </a:t>
            </a:r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A response of &lt; 10 mm Hg is considered abnormal</a:t>
            </a:r>
          </a:p>
        </p:txBody>
      </p:sp>
    </p:spTree>
    <p:extLst>
      <p:ext uri="{BB962C8B-B14F-4D97-AF65-F5344CB8AC3E}">
        <p14:creationId xmlns:p14="http://schemas.microsoft.com/office/powerpoint/2010/main" val="21926887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Gastroparesis: The finding of retained food in the stomach after an 8–12 h fast in the absence of obstruction is diagnostic of gastroparesis. </a:t>
            </a:r>
            <a:endParaRPr lang="en-US" dirty="0" smtClean="0"/>
          </a:p>
          <a:p>
            <a:r>
              <a:rPr lang="en-US" dirty="0" smtClean="0"/>
              <a:t>Management </a:t>
            </a:r>
            <a:r>
              <a:rPr lang="en-US" dirty="0"/>
              <a:t>of DAN: Control of blood sugar levels, ACE inhibitors and b-blockers have been tried for control of the condition</a:t>
            </a:r>
          </a:p>
        </p:txBody>
      </p:sp>
    </p:spTree>
    <p:extLst>
      <p:ext uri="{BB962C8B-B14F-4D97-AF65-F5344CB8AC3E}">
        <p14:creationId xmlns:p14="http://schemas.microsoft.com/office/powerpoint/2010/main" val="38799669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Sliding scale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2765" y="1828800"/>
            <a:ext cx="8611736" cy="4435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643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PREOPERATIVE EVALUATION: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28549"/>
            <a:ext cx="10515600" cy="4648414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History</a:t>
            </a:r>
            <a:r>
              <a:rPr lang="en-US" dirty="0"/>
              <a:t>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Central nervous system: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Peripheral neuropathy (glove and stocking neuropathy)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Headache, syncope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TIA/stroke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Cardiovascular: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MI: Increased chances if erectile dysfunction present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Silent MI: Increased chances if autonomic neuropathy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Hypertension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Congestive cardiac failure: Especially if poor glycemic control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Dyspnea on exertion/reduced exercise tolerance</a:t>
            </a:r>
          </a:p>
        </p:txBody>
      </p:sp>
    </p:spTree>
    <p:extLst>
      <p:ext uri="{BB962C8B-B14F-4D97-AF65-F5344CB8AC3E}">
        <p14:creationId xmlns:p14="http://schemas.microsoft.com/office/powerpoint/2010/main" val="31448433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4024"/>
            <a:ext cx="10515600" cy="57129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➢ Respiratory: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Frequent infections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Reduced VC, FVC, FEV, DLCO.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Gastrointestinal: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Gastroparesis due to ganglion cell damage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Postprandial vomiting, early satiety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Delayed gastric emptying.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Genitourinary: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Erectile dysfunction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Renal failure especially if age &gt; 55 years and diabetes &amp;</a:t>
            </a:r>
            <a:r>
              <a:rPr lang="en-US" dirty="0" smtClean="0"/>
              <a:t> </a:t>
            </a:r>
            <a:r>
              <a:rPr lang="en-US" dirty="0"/>
              <a:t>hypertension coexist.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Medication history, history of anesthetic exposure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Episodes of hypoglycemia/hyperglycemia</a:t>
            </a:r>
          </a:p>
        </p:txBody>
      </p:sp>
    </p:spTree>
    <p:extLst>
      <p:ext uri="{BB962C8B-B14F-4D97-AF65-F5344CB8AC3E}">
        <p14:creationId xmlns:p14="http://schemas.microsoft.com/office/powerpoint/2010/main" val="40472582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Physical examination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➢ Document vitals, orthostatic vital signs and skin breakdown points ➢ Sensory examination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Airway examination: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Stiff joint syndrome: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Seen in poorly controlled DM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Reduced mobility of cervical, </a:t>
            </a:r>
            <a:r>
              <a:rPr lang="en-US" dirty="0" smtClean="0"/>
              <a:t>atlantooccipital </a:t>
            </a:r>
            <a:r>
              <a:rPr lang="en-US" dirty="0"/>
              <a:t>and TM joint occurs.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Prayer sign: inability to approximate palmar surface of interphalangeal joints </a:t>
            </a:r>
          </a:p>
        </p:txBody>
      </p:sp>
    </p:spTree>
    <p:extLst>
      <p:ext uri="{BB962C8B-B14F-4D97-AF65-F5344CB8AC3E}">
        <p14:creationId xmlns:p14="http://schemas.microsoft.com/office/powerpoint/2010/main" val="9473606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Palm print sign: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Alteration in palm print when it is taken on paper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✓ </a:t>
            </a:r>
            <a:r>
              <a:rPr lang="en-US" dirty="0"/>
              <a:t>Indicates interphalangeal joint stiffness.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 err="1"/>
              <a:t>Fundoscopy</a:t>
            </a:r>
            <a:r>
              <a:rPr lang="en-US" dirty="0"/>
              <a:t> for retinopathy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Tests for autonomic dysfunction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Back for edema and infection: Difficult to perform subarachnoid block</a:t>
            </a:r>
          </a:p>
        </p:txBody>
      </p:sp>
    </p:spTree>
    <p:extLst>
      <p:ext uri="{BB962C8B-B14F-4D97-AF65-F5344CB8AC3E}">
        <p14:creationId xmlns:p14="http://schemas.microsoft.com/office/powerpoint/2010/main" val="142558750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➢ Routine blood: </a:t>
            </a:r>
            <a:r>
              <a:rPr lang="en-US" dirty="0" err="1"/>
              <a:t>Hb</a:t>
            </a:r>
            <a:r>
              <a:rPr lang="en-US" dirty="0"/>
              <a:t>, TC, DC, ESR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Renal function tests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Preoperative FBS &lt; 110 mg% in </a:t>
            </a:r>
            <a:r>
              <a:rPr lang="en-US" dirty="0" smtClean="0"/>
              <a:t>non-critically </a:t>
            </a:r>
            <a:r>
              <a:rPr lang="en-US" dirty="0"/>
              <a:t>ill patients: ACE recommendations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ECG, treadmill test for silent MI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Chest X-ray: Cardiomegaly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Pulmonary function tests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920043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Investigation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➢ Glycated hemoglobin: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Called HbA1c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Best evidence of glucose control over the last 1–2 months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Level &lt; 2% recommended by ADA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Microalbuminuria 29 mg/day with HbA1c 8.1% predicts 80% risk of CRF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HbA1c 8.5–9% predicts increased chances of retinopathy.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7795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CHOICE OF ANESTHETIC TECHNIQUE: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Regional Anesthesia : Technique of choice where applicable: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Advantages: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Avoids aspiration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Better if difficult airway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Patient is awake: Easy to recognize hypoglycemia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Reduced incidence of DVT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Reduced stress response to surgery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Good postoperative analgesia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Reduced chances of pulmonary infection.</a:t>
            </a:r>
          </a:p>
        </p:txBody>
      </p:sp>
    </p:spTree>
    <p:extLst>
      <p:ext uri="{BB962C8B-B14F-4D97-AF65-F5344CB8AC3E}">
        <p14:creationId xmlns:p14="http://schemas.microsoft.com/office/powerpoint/2010/main" val="26855823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Disadvantages: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Exaggerated hypotension especially if autonomic neuropathy present ◼ Increased risk of epidural abscess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Caution if pre-existing neuropathy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Increased risk of nerve injury. </a:t>
            </a:r>
          </a:p>
        </p:txBody>
      </p:sp>
    </p:spTree>
    <p:extLst>
      <p:ext uri="{BB962C8B-B14F-4D97-AF65-F5344CB8AC3E}">
        <p14:creationId xmlns:p14="http://schemas.microsoft.com/office/powerpoint/2010/main" val="42230324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➢ Guidelines: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Local anesthetic requirement is lower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Combination of LA with adrenaline may increase risk of ischemic or edematous nerve injury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Bradycardia may be unresponsive to atropine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 err="1"/>
              <a:t>Isoprenaline</a:t>
            </a:r>
            <a:r>
              <a:rPr lang="en-US" dirty="0"/>
              <a:t>/1:10,000 adrenaline used in such cases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Chart pre-existing nerve damage as increased chance of nerve injury ◼ Technique: May be difficult if edema is present</a:t>
            </a:r>
          </a:p>
        </p:txBody>
      </p:sp>
    </p:spTree>
    <p:extLst>
      <p:ext uri="{BB962C8B-B14F-4D97-AF65-F5344CB8AC3E}">
        <p14:creationId xmlns:p14="http://schemas.microsoft.com/office/powerpoint/2010/main" val="53378154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➢ Contraindications: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Autonomic neuropathy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Infections</a:t>
            </a:r>
          </a:p>
        </p:txBody>
      </p:sp>
    </p:spTree>
    <p:extLst>
      <p:ext uri="{BB962C8B-B14F-4D97-AF65-F5344CB8AC3E}">
        <p14:creationId xmlns:p14="http://schemas.microsoft.com/office/powerpoint/2010/main" val="35471309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Anesthesia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➢ Advantages: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Better cardiovascular stability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Airway is protected from silent aspiration.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Disadvantages: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Difficult intubation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Difficult to recognize hypoglycemia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Altered elimination of drugs due to renal involvement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◼ </a:t>
            </a:r>
            <a:r>
              <a:rPr lang="en-US" dirty="0"/>
              <a:t>Increased stress response</a:t>
            </a:r>
          </a:p>
        </p:txBody>
      </p:sp>
    </p:spTree>
    <p:extLst>
      <p:ext uri="{BB962C8B-B14F-4D97-AF65-F5344CB8AC3E}">
        <p14:creationId xmlns:p14="http://schemas.microsoft.com/office/powerpoint/2010/main" val="19171362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PREOPERATIVE EVALUATION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Emphasize </a:t>
            </a:r>
            <a:r>
              <a:rPr lang="en-US" dirty="0"/>
              <a:t>the cardiovascular, renal, neurologic, and musculoskeletal </a:t>
            </a:r>
            <a:r>
              <a:rPr lang="en-US" dirty="0" smtClean="0"/>
              <a:t>systems</a:t>
            </a:r>
          </a:p>
          <a:p>
            <a:r>
              <a:rPr lang="en-US" dirty="0"/>
              <a:t>Silent ischemia is possible if autonomic neuropathy is present, and </a:t>
            </a:r>
            <a:endParaRPr lang="en-US" dirty="0" smtClean="0"/>
          </a:p>
          <a:p>
            <a:r>
              <a:rPr lang="en-US" dirty="0" smtClean="0"/>
              <a:t>stress </a:t>
            </a:r>
            <a:r>
              <a:rPr lang="en-US" dirty="0"/>
              <a:t>testing should be considered in patients with multiple cardiac risk factors and poor or indeterminate exercise </a:t>
            </a:r>
            <a:r>
              <a:rPr lang="en-US" dirty="0" smtClean="0"/>
              <a:t>tolerance</a:t>
            </a:r>
          </a:p>
          <a:p>
            <a:r>
              <a:rPr lang="en-US" dirty="0"/>
              <a:t>For renal disease, control of hypertension is </a:t>
            </a:r>
            <a:r>
              <a:rPr lang="en-US" dirty="0" smtClean="0"/>
              <a:t>important</a:t>
            </a:r>
          </a:p>
          <a:p>
            <a:r>
              <a:rPr lang="en-US" dirty="0" smtClean="0"/>
              <a:t>Preservation </a:t>
            </a:r>
            <a:r>
              <a:rPr lang="en-US" dirty="0"/>
              <a:t>of renal blood flow are also essential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71179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</a:t>
            </a:r>
            <a:r>
              <a:rPr lang="en-US" dirty="0" smtClean="0"/>
              <a:t>utonomic </a:t>
            </a:r>
            <a:r>
              <a:rPr lang="en-US" dirty="0"/>
              <a:t>neuropathy predisposes </a:t>
            </a:r>
            <a:r>
              <a:rPr lang="en-US" dirty="0" smtClean="0"/>
              <a:t>to </a:t>
            </a:r>
            <a:r>
              <a:rPr lang="en-US" dirty="0"/>
              <a:t>perioperative dysrhythmias &amp;</a:t>
            </a:r>
            <a:r>
              <a:rPr lang="en-US" dirty="0" smtClean="0"/>
              <a:t> </a:t>
            </a:r>
            <a:r>
              <a:rPr lang="en-US" dirty="0"/>
              <a:t>intraoperative </a:t>
            </a:r>
            <a:r>
              <a:rPr lang="en-US" dirty="0" smtClean="0"/>
              <a:t>hypotension</a:t>
            </a:r>
          </a:p>
          <a:p>
            <a:r>
              <a:rPr lang="en-US" dirty="0"/>
              <a:t>loss of compensatory sympathetic responses interferes with detection and treatment of hemodynamic </a:t>
            </a:r>
            <a:r>
              <a:rPr lang="en-US" dirty="0" smtClean="0"/>
              <a:t>insults</a:t>
            </a:r>
          </a:p>
          <a:p>
            <a:r>
              <a:rPr lang="en-US" dirty="0" smtClean="0"/>
              <a:t>Limited </a:t>
            </a:r>
            <a:r>
              <a:rPr lang="en-US" dirty="0"/>
              <a:t>joint mobility caused by </a:t>
            </a:r>
            <a:r>
              <a:rPr lang="en-US" dirty="0" smtClean="0"/>
              <a:t>non-enzymatic </a:t>
            </a:r>
            <a:r>
              <a:rPr lang="en-US" dirty="0"/>
              <a:t>glycosylation of proteins and abnormal cross-linking of </a:t>
            </a:r>
            <a:r>
              <a:rPr lang="en-US" dirty="0" smtClean="0"/>
              <a:t>collagen</a:t>
            </a:r>
          </a:p>
          <a:p>
            <a:r>
              <a:rPr lang="en-US" dirty="0"/>
              <a:t>Gastroparesis may increase the risk of aspiration, regardless of nothing-by-mouth </a:t>
            </a:r>
            <a:r>
              <a:rPr lang="en-US" dirty="0" smtClean="0"/>
              <a:t>status</a:t>
            </a:r>
          </a:p>
          <a:p>
            <a:r>
              <a:rPr lang="en-US" dirty="0"/>
              <a:t>Oral </a:t>
            </a:r>
            <a:r>
              <a:rPr lang="en-US" dirty="0" err="1"/>
              <a:t>hypoglycemics</a:t>
            </a:r>
            <a:r>
              <a:rPr lang="en-US" dirty="0"/>
              <a:t> should be discontinued 24–48 hours preoperatively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846781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2681287"/>
            <a:ext cx="7315200" cy="14954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42666" y="1690688"/>
            <a:ext cx="10243782" cy="468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5187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7104" y="271321"/>
            <a:ext cx="8691349" cy="290591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279" y="3177240"/>
            <a:ext cx="7353300" cy="235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17296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9307"/>
            <a:ext cx="10515600" cy="5917656"/>
          </a:xfrm>
        </p:spPr>
        <p:txBody>
          <a:bodyPr/>
          <a:lstStyle/>
          <a:p>
            <a:r>
              <a:rPr lang="en-US" dirty="0"/>
              <a:t>It is advised that sulfonylureas be avoided during the entire perioperative period </a:t>
            </a:r>
            <a:endParaRPr lang="en-US" dirty="0" smtClean="0"/>
          </a:p>
          <a:p>
            <a:r>
              <a:rPr lang="en-US" dirty="0"/>
              <a:t>T</a:t>
            </a:r>
            <a:r>
              <a:rPr lang="en-US" dirty="0" smtClean="0"/>
              <a:t>hey </a:t>
            </a:r>
            <a:r>
              <a:rPr lang="en-US" dirty="0"/>
              <a:t>block the myocardial potassium adenosine triphosphate (ATP) channels responsible for ischemia- and anesthetic-induced </a:t>
            </a:r>
            <a:r>
              <a:rPr lang="en-US" dirty="0" smtClean="0"/>
              <a:t>preconditioning</a:t>
            </a:r>
          </a:p>
          <a:p>
            <a:endParaRPr lang="en-US" dirty="0"/>
          </a:p>
          <a:p>
            <a:r>
              <a:rPr lang="en-US" dirty="0"/>
              <a:t>Ideally a continuous infusion of insulin should be initiated at least 2 hours before surgery. </a:t>
            </a:r>
            <a:endParaRPr lang="en-US" dirty="0" smtClean="0"/>
          </a:p>
          <a:p>
            <a:r>
              <a:rPr lang="en-US" dirty="0" smtClean="0"/>
              <a:t>Intraoperative </a:t>
            </a:r>
            <a:r>
              <a:rPr lang="en-US" dirty="0"/>
              <a:t>serum glucose levels should be maintained between 120 and 180 mg/</a:t>
            </a:r>
            <a:r>
              <a:rPr lang="en-US" dirty="0" err="1"/>
              <a:t>dL</a:t>
            </a:r>
            <a:r>
              <a:rPr lang="en-US" dirty="0"/>
              <a:t>. 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Levels </a:t>
            </a:r>
            <a:r>
              <a:rPr lang="en-US" dirty="0"/>
              <a:t>above 200 mg/</a:t>
            </a:r>
            <a:r>
              <a:rPr lang="en-US" dirty="0" err="1"/>
              <a:t>dL</a:t>
            </a:r>
            <a:r>
              <a:rPr lang="en-US" dirty="0"/>
              <a:t> are likely to cause glycosuria and dehydration and to inhibit wound healing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3670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Higher insulin requirement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Insulin infusion requirements are higher for patients undergoing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C</a:t>
            </a:r>
            <a:r>
              <a:rPr lang="en-US" dirty="0" smtClean="0"/>
              <a:t>oronary </a:t>
            </a:r>
            <a:r>
              <a:rPr lang="en-US" dirty="0"/>
              <a:t>artery bypass graft </a:t>
            </a:r>
            <a:r>
              <a:rPr lang="en-US" dirty="0" smtClean="0"/>
              <a:t>surgery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</a:t>
            </a:r>
            <a:r>
              <a:rPr lang="en-US" dirty="0" smtClean="0"/>
              <a:t>atients </a:t>
            </a:r>
            <a:r>
              <a:rPr lang="en-US" dirty="0"/>
              <a:t>receiving </a:t>
            </a:r>
            <a:r>
              <a:rPr lang="en-US" dirty="0" smtClean="0"/>
              <a:t>steroids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</a:t>
            </a:r>
            <a:r>
              <a:rPr lang="en-US" dirty="0" smtClean="0"/>
              <a:t>atients </a:t>
            </a:r>
            <a:r>
              <a:rPr lang="en-US" dirty="0"/>
              <a:t>with severe </a:t>
            </a:r>
            <a:r>
              <a:rPr lang="en-US" dirty="0" smtClean="0"/>
              <a:t>infection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</a:t>
            </a:r>
            <a:r>
              <a:rPr lang="en-US" dirty="0" smtClean="0"/>
              <a:t>atients </a:t>
            </a:r>
            <a:r>
              <a:rPr lang="en-US" dirty="0"/>
              <a:t>receiving </a:t>
            </a:r>
            <a:r>
              <a:rPr lang="en-US" dirty="0" err="1"/>
              <a:t>hyperalimentation</a:t>
            </a:r>
            <a:r>
              <a:rPr lang="en-US" dirty="0"/>
              <a:t>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 </a:t>
            </a:r>
            <a:r>
              <a:rPr lang="en-US" dirty="0" smtClean="0"/>
              <a:t>Vasopressor </a:t>
            </a:r>
            <a:r>
              <a:rPr lang="en-US" dirty="0"/>
              <a:t>infusions</a:t>
            </a:r>
          </a:p>
        </p:txBody>
      </p:sp>
    </p:spTree>
    <p:extLst>
      <p:ext uri="{BB962C8B-B14F-4D97-AF65-F5344CB8AC3E}">
        <p14:creationId xmlns:p14="http://schemas.microsoft.com/office/powerpoint/2010/main" val="61717340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Insulin infusion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insulin infusion should be accompanied by an infusion of 5% dextrose in half-normal saline </a:t>
            </a:r>
            <a:endParaRPr lang="en-US" dirty="0" smtClean="0"/>
          </a:p>
          <a:p>
            <a:r>
              <a:rPr lang="en-US" dirty="0" smtClean="0"/>
              <a:t>20 </a:t>
            </a:r>
            <a:r>
              <a:rPr lang="en-US" dirty="0" err="1"/>
              <a:t>mEq</a:t>
            </a:r>
            <a:r>
              <a:rPr lang="en-US" dirty="0"/>
              <a:t> </a:t>
            </a:r>
            <a:r>
              <a:rPr lang="en-US" dirty="0" err="1"/>
              <a:t>KCl</a:t>
            </a:r>
            <a:r>
              <a:rPr lang="en-US" dirty="0"/>
              <a:t> at 100–150 mL/h to provide enough carbohydrate (at least 150 g/day) to inhibit hepatic glucose production and protein </a:t>
            </a:r>
            <a:r>
              <a:rPr lang="en-US" dirty="0" smtClean="0"/>
              <a:t>catabolism</a:t>
            </a:r>
          </a:p>
          <a:p>
            <a:r>
              <a:rPr lang="en-US" dirty="0"/>
              <a:t>Serum glucose levels should be monitored at least every </a:t>
            </a:r>
            <a:r>
              <a:rPr lang="en-US" dirty="0" smtClean="0"/>
              <a:t>hour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914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Glucose measurement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Glucose determination is preferentially made using venous plasma or serum </a:t>
            </a:r>
            <a:r>
              <a:rPr lang="en-US" dirty="0" smtClean="0"/>
              <a:t>samples </a:t>
            </a:r>
          </a:p>
          <a:p>
            <a:r>
              <a:rPr lang="en-US" dirty="0"/>
              <a:t>A</a:t>
            </a:r>
            <a:r>
              <a:rPr lang="en-US" dirty="0" smtClean="0"/>
              <a:t>rterial </a:t>
            </a:r>
            <a:r>
              <a:rPr lang="en-US" dirty="0"/>
              <a:t>and capillary blood yields glucose values approximately 7% higher than those for venous </a:t>
            </a:r>
            <a:r>
              <a:rPr lang="en-US" dirty="0" smtClean="0"/>
              <a:t>blood </a:t>
            </a:r>
          </a:p>
          <a:p>
            <a:r>
              <a:rPr lang="en-US" dirty="0"/>
              <a:t>W</a:t>
            </a:r>
            <a:r>
              <a:rPr lang="en-US" dirty="0" smtClean="0"/>
              <a:t>hole-blood </a:t>
            </a:r>
            <a:r>
              <a:rPr lang="en-US" dirty="0"/>
              <a:t>determinations are usually 15% lower than plasma or serum </a:t>
            </a:r>
            <a:r>
              <a:rPr lang="en-US" dirty="0" smtClean="0"/>
              <a:t>values </a:t>
            </a:r>
          </a:p>
          <a:p>
            <a:r>
              <a:rPr lang="en-US" dirty="0" smtClean="0"/>
              <a:t>Urine </a:t>
            </a:r>
            <a:r>
              <a:rPr lang="en-US" dirty="0"/>
              <a:t>glucose monitoring is not reliable</a:t>
            </a:r>
          </a:p>
        </p:txBody>
      </p:sp>
    </p:spTree>
    <p:extLst>
      <p:ext uri="{BB962C8B-B14F-4D97-AF65-F5344CB8AC3E}">
        <p14:creationId xmlns:p14="http://schemas.microsoft.com/office/powerpoint/2010/main" val="2832618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Avoidance of hypoglycemia is especially </a:t>
            </a:r>
            <a:r>
              <a:rPr lang="en-US" dirty="0" smtClean="0"/>
              <a:t>critical </a:t>
            </a:r>
          </a:p>
          <a:p>
            <a:r>
              <a:rPr lang="en-US" dirty="0"/>
              <a:t>R</a:t>
            </a:r>
            <a:r>
              <a:rPr lang="en-US" dirty="0" smtClean="0"/>
              <a:t>ecognition </a:t>
            </a:r>
            <a:r>
              <a:rPr lang="en-US" dirty="0"/>
              <a:t>of hypoglycemia may be delayed in patients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Under anesthesia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Sedatives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 Analgesics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ß</a:t>
            </a:r>
            <a:r>
              <a:rPr lang="en-US" dirty="0" smtClean="0"/>
              <a:t>-blockers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Sympatholytic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Autonomic </a:t>
            </a:r>
            <a:r>
              <a:rPr lang="en-US" dirty="0"/>
              <a:t>neuropathy</a:t>
            </a:r>
          </a:p>
        </p:txBody>
      </p:sp>
    </p:spTree>
    <p:extLst>
      <p:ext uri="{BB962C8B-B14F-4D97-AF65-F5344CB8AC3E}">
        <p14:creationId xmlns:p14="http://schemas.microsoft.com/office/powerpoint/2010/main" val="35291305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During hypoglycemia -administration </a:t>
            </a:r>
            <a:r>
              <a:rPr lang="en-US" dirty="0"/>
              <a:t>of 50 mL of 50% dextrose in </a:t>
            </a:r>
            <a:r>
              <a:rPr lang="en-US" dirty="0" smtClean="0"/>
              <a:t>water-increases </a:t>
            </a:r>
            <a:r>
              <a:rPr lang="en-US" dirty="0"/>
              <a:t>the glucose level 100 mg/</a:t>
            </a:r>
            <a:r>
              <a:rPr lang="en-US" dirty="0" err="1"/>
              <a:t>dL</a:t>
            </a:r>
            <a:r>
              <a:rPr lang="en-US" dirty="0"/>
              <a:t> or 2 mg/</a:t>
            </a:r>
            <a:r>
              <a:rPr lang="en-US" dirty="0" err="1"/>
              <a:t>dL</a:t>
            </a:r>
            <a:r>
              <a:rPr lang="en-US" dirty="0"/>
              <a:t>/</a:t>
            </a:r>
            <a:r>
              <a:rPr lang="en-US" dirty="0" err="1"/>
              <a:t>mL.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4022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Postoperative 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Postoperative </a:t>
            </a:r>
            <a:r>
              <a:rPr lang="en-US" dirty="0"/>
              <a:t>management of diabetic patients requires meticulous monitoring of insulin </a:t>
            </a:r>
            <a:r>
              <a:rPr lang="en-US" dirty="0" smtClean="0"/>
              <a:t>requirements </a:t>
            </a:r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Hyperglycemia has been associated with poor outcomes in postoperative and critically ill </a:t>
            </a:r>
            <a:r>
              <a:rPr lang="en-US" dirty="0" smtClean="0"/>
              <a:t>patients </a:t>
            </a:r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The risks of hypoglycemia must also be </a:t>
            </a:r>
            <a:r>
              <a:rPr lang="en-US" dirty="0" smtClean="0"/>
              <a:t>considered </a:t>
            </a:r>
          </a:p>
          <a:p>
            <a:pPr marL="0" indent="0">
              <a:buNone/>
            </a:pPr>
            <a:r>
              <a:rPr lang="en-US" dirty="0" smtClean="0"/>
              <a:t>➢ </a:t>
            </a:r>
            <a:r>
              <a:rPr lang="en-US" dirty="0"/>
              <a:t>Currently the ADA recommends that glucose levels be maintained between 140 and 180 mg/</a:t>
            </a:r>
            <a:r>
              <a:rPr lang="en-US" dirty="0" err="1"/>
              <a:t>dL</a:t>
            </a:r>
            <a:r>
              <a:rPr lang="en-US" dirty="0"/>
              <a:t> in critically ill patients and that </a:t>
            </a:r>
            <a:endParaRPr lang="en-US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 I</a:t>
            </a:r>
            <a:r>
              <a:rPr lang="en-US" dirty="0" smtClean="0"/>
              <a:t>nsulin </a:t>
            </a:r>
            <a:r>
              <a:rPr lang="en-US" dirty="0"/>
              <a:t>treatment be initiated if serum glucose levels exceed 180 mg/</a:t>
            </a:r>
            <a:r>
              <a:rPr lang="en-US" dirty="0" err="1"/>
              <a:t>dL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64617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887876"/>
              </p:ext>
            </p:extLst>
          </p:nvPr>
        </p:nvGraphicFramePr>
        <p:xfrm>
          <a:off x="982638" y="545911"/>
          <a:ext cx="8904300" cy="5630224"/>
        </p:xfrm>
        <a:graphic>
          <a:graphicData uri="http://schemas.openxmlformats.org/drawingml/2006/table">
            <a:tbl>
              <a:tblPr/>
              <a:tblGrid>
                <a:gridCol w="4452150"/>
                <a:gridCol w="4452150"/>
              </a:tblGrid>
              <a:tr h="341473">
                <a:tc>
                  <a:txBody>
                    <a:bodyPr/>
                    <a:lstStyle/>
                    <a:p>
                      <a:r>
                        <a:rPr lang="en-US" sz="1300" b="1" dirty="0"/>
                        <a:t>Drug/Class</a:t>
                      </a:r>
                      <a:endParaRPr lang="en-US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/>
                        <a:t>Effect on Glucose &amp; Endocrine Response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473">
                <a:tc>
                  <a:txBody>
                    <a:bodyPr/>
                    <a:lstStyle/>
                    <a:p>
                      <a:r>
                        <a:rPr lang="en-US" sz="1300" b="1"/>
                        <a:t>Ketamine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May cause significant </a:t>
                      </a:r>
                      <a:r>
                        <a:rPr lang="en-US" sz="1300" b="1"/>
                        <a:t>hyperglycemia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52609">
                <a:tc>
                  <a:txBody>
                    <a:bodyPr/>
                    <a:lstStyle/>
                    <a:p>
                      <a:r>
                        <a:rPr lang="en-US" sz="1300" b="1"/>
                        <a:t>Etomidate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Blocks </a:t>
                      </a:r>
                      <a:r>
                        <a:rPr lang="en-US" sz="1300" b="1"/>
                        <a:t>adrenal steroidogenesis</a:t>
                      </a:r>
                      <a:r>
                        <a:rPr lang="en-US" sz="1300"/>
                        <a:t> → ↓ cortisol synthesis; decreases hyperglycemic response to surgery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7685">
                <a:tc>
                  <a:txBody>
                    <a:bodyPr/>
                    <a:lstStyle/>
                    <a:p>
                      <a:r>
                        <a:rPr lang="en-US" sz="1300" b="1"/>
                        <a:t>Propofol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Effect on insulin secretion unclear; in diabetics: reduced ability to clear </a:t>
                      </a:r>
                      <a:r>
                        <a:rPr lang="en-US" sz="1300" b="1" dirty="0"/>
                        <a:t>lipids</a:t>
                      </a:r>
                      <a:endParaRPr lang="en-US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6826">
                <a:tc>
                  <a:txBody>
                    <a:bodyPr/>
                    <a:lstStyle/>
                    <a:p>
                      <a:r>
                        <a:rPr lang="en-US" sz="1300" b="1"/>
                        <a:t>Volatile agents</a:t>
                      </a:r>
                      <a:r>
                        <a:rPr lang="en-US" sz="1300"/>
                        <a:t> (Halothane, Enflurane, Isoflurane, Sevoflurane)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Inhibit </a:t>
                      </a:r>
                      <a:r>
                        <a:rPr lang="en-US" sz="1300" b="1"/>
                        <a:t>insulin response</a:t>
                      </a:r>
                      <a:r>
                        <a:rPr lang="en-US" sz="1300"/>
                        <a:t> to glucose (dose-dependent, reversible)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08391">
                <a:tc>
                  <a:txBody>
                    <a:bodyPr/>
                    <a:lstStyle/>
                    <a:p>
                      <a:r>
                        <a:rPr lang="en-US" sz="1300" b="1"/>
                        <a:t>Benzodiazepines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High doses: ↓ ACTH &amp; cortisol; ↓ sympathetic stimulation; ↑ GH secretion → ↓ glycemic response; minimal effect in usual sedative doses (e.g., midazolam)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852609">
                <a:tc>
                  <a:txBody>
                    <a:bodyPr/>
                    <a:lstStyle/>
                    <a:p>
                      <a:r>
                        <a:rPr lang="en-US" sz="1300" b="1" dirty="0"/>
                        <a:t>Opioids</a:t>
                      </a:r>
                      <a:endParaRPr lang="en-US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High-dose: metabolic stability; but </a:t>
                      </a:r>
                      <a:r>
                        <a:rPr lang="en-US" sz="1300" b="1"/>
                        <a:t>midazolam + fentanyl</a:t>
                      </a:r>
                      <a:r>
                        <a:rPr lang="en-US" sz="1300"/>
                        <a:t> may cause hyperglycemia (↓ glucose clearance)</a:t>
                      </a:r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97685">
                <a:tc>
                  <a:txBody>
                    <a:bodyPr/>
                    <a:lstStyle/>
                    <a:p>
                      <a:r>
                        <a:rPr lang="en-US" sz="1300" b="1"/>
                        <a:t>Ganglion-blocking agents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/>
                        <a:t>Block sympathetically mediated </a:t>
                      </a:r>
                      <a:r>
                        <a:rPr lang="en-US" sz="1300" b="1"/>
                        <a:t>hepatic gluconeogenesis</a:t>
                      </a:r>
                      <a:r>
                        <a:rPr lang="en-US" sz="1300"/>
                        <a:t> → may cause </a:t>
                      </a:r>
                      <a:r>
                        <a:rPr lang="en-US" sz="1300" b="1"/>
                        <a:t>hypoglycemia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41473">
                <a:tc>
                  <a:txBody>
                    <a:bodyPr/>
                    <a:lstStyle/>
                    <a:p>
                      <a:r>
                        <a:rPr lang="el-GR" sz="1300" b="1"/>
                        <a:t>β-</a:t>
                      </a:r>
                      <a:r>
                        <a:rPr lang="en-US" sz="1300" b="1"/>
                        <a:t>blockers</a:t>
                      </a:r>
                      <a:endParaRPr lang="en-US" sz="130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Associated with </a:t>
                      </a:r>
                      <a:r>
                        <a:rPr lang="en-US" sz="1300" b="1" dirty="0"/>
                        <a:t>slower recovery from hypoglycemia</a:t>
                      </a:r>
                      <a:endParaRPr lang="en-US" sz="1300" dirty="0"/>
                    </a:p>
                  </a:txBody>
                  <a:tcPr marL="65929" marR="65929" marT="32965" marB="32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457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3329</Words>
  <Application>Microsoft Office PowerPoint</Application>
  <PresentationFormat>Widescreen</PresentationFormat>
  <Paragraphs>416</Paragraphs>
  <Slides>72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7" baseType="lpstr">
      <vt:lpstr>Arial</vt:lpstr>
      <vt:lpstr>Calibri</vt:lpstr>
      <vt:lpstr>Calibri Light</vt:lpstr>
      <vt:lpstr>Wingdings</vt:lpstr>
      <vt:lpstr>Office Theme</vt:lpstr>
      <vt:lpstr>DM &amp; Anesthesia</vt:lpstr>
      <vt:lpstr>PowerPoint Presentation</vt:lpstr>
      <vt:lpstr>PowerPoint Presentation</vt:lpstr>
      <vt:lpstr>PowerPoint Presentation</vt:lpstr>
      <vt:lpstr>Classification </vt:lpstr>
      <vt:lpstr>Classification</vt:lpstr>
      <vt:lpstr>Sign &amp; symptoms type I DM</vt:lpstr>
      <vt:lpstr>Type 2</vt:lpstr>
      <vt:lpstr>3 important defects in type 2</vt:lpstr>
      <vt:lpstr>PowerPoint Presentation</vt:lpstr>
      <vt:lpstr>Metabolic syndrome, or insulin-resistance syndrome</vt:lpstr>
      <vt:lpstr>Diagnosis</vt:lpstr>
      <vt:lpstr>Criteria for the diagnosis of diabetes</vt:lpstr>
      <vt:lpstr>Hemoglobin A1C</vt:lpstr>
      <vt:lpstr>TREATMENT</vt:lpstr>
      <vt:lpstr>Oral Antidiabetic Drugs</vt:lpstr>
      <vt:lpstr>PowerPoint Presentation</vt:lpstr>
      <vt:lpstr>sulfonylureas</vt:lpstr>
      <vt:lpstr>PowerPoint Presentation</vt:lpstr>
      <vt:lpstr>The biguanides </vt:lpstr>
      <vt:lpstr>PowerPoint Presentation</vt:lpstr>
      <vt:lpstr>Thiazolidinediones or glitazones </vt:lpstr>
      <vt:lpstr>The α-glucosidase inhibitors </vt:lpstr>
      <vt:lpstr>PowerPoint Presentation</vt:lpstr>
      <vt:lpstr>PowerPoint Presentation</vt:lpstr>
      <vt:lpstr>COMPLICATIONS</vt:lpstr>
      <vt:lpstr>PowerPoint Presentation</vt:lpstr>
      <vt:lpstr>PowerPoint Presentation</vt:lpstr>
      <vt:lpstr>PowerPoint Presentation</vt:lpstr>
      <vt:lpstr>PowerPoint Presentation</vt:lpstr>
      <vt:lpstr>Other complications</vt:lpstr>
      <vt:lpstr>HOW TO ASSESS FOR AUTONOMIC NEUROPATHY</vt:lpstr>
      <vt:lpstr>PowerPoint Presentation</vt:lpstr>
      <vt:lpstr>PowerPoint Presentation</vt:lpstr>
      <vt:lpstr>PowerPoint Presentation</vt:lpstr>
      <vt:lpstr>TESTS FOR DIABETIC AUTONOMIC NEUROPATHY</vt:lpstr>
      <vt:lpstr>PowerPoint Presentation</vt:lpstr>
      <vt:lpstr>Response to the Valsalva maneuver</vt:lpstr>
      <vt:lpstr>PowerPoint Presentation</vt:lpstr>
      <vt:lpstr>PowerPoint Presentation</vt:lpstr>
      <vt:lpstr>PowerPoint Presentation</vt:lpstr>
      <vt:lpstr>HRV (Heart Rate Variability)</vt:lpstr>
      <vt:lpstr>PowerPoint Presentation</vt:lpstr>
      <vt:lpstr>Response to standing up (30: 15 ratio)</vt:lpstr>
      <vt:lpstr>PowerPoint Presentation</vt:lpstr>
      <vt:lpstr>PowerPoint Presentation</vt:lpstr>
      <vt:lpstr>Sustained hand grip</vt:lpstr>
      <vt:lpstr>PowerPoint Presentation</vt:lpstr>
      <vt:lpstr>Sliding scale</vt:lpstr>
      <vt:lpstr>PREOPERATIVE EVALUATION:</vt:lpstr>
      <vt:lpstr>PowerPoint Presentation</vt:lpstr>
      <vt:lpstr>Physical examination </vt:lpstr>
      <vt:lpstr>PowerPoint Presentation</vt:lpstr>
      <vt:lpstr>Investigation </vt:lpstr>
      <vt:lpstr>Investigation </vt:lpstr>
      <vt:lpstr>CHOICE OF ANESTHETIC TECHNIQUE: </vt:lpstr>
      <vt:lpstr>PowerPoint Presentation</vt:lpstr>
      <vt:lpstr>PowerPoint Presentation</vt:lpstr>
      <vt:lpstr>PowerPoint Presentation</vt:lpstr>
      <vt:lpstr>General Anesthesia</vt:lpstr>
      <vt:lpstr>PREOPERATIVE EVALUATION </vt:lpstr>
      <vt:lpstr>PowerPoint Presentation</vt:lpstr>
      <vt:lpstr>PowerPoint Presentation</vt:lpstr>
      <vt:lpstr>PowerPoint Presentation</vt:lpstr>
      <vt:lpstr>PowerPoint Presentation</vt:lpstr>
      <vt:lpstr>Higher insulin requirement</vt:lpstr>
      <vt:lpstr>Insulin infusion</vt:lpstr>
      <vt:lpstr>Glucose measurement</vt:lpstr>
      <vt:lpstr>PowerPoint Presentation</vt:lpstr>
      <vt:lpstr>PowerPoint Presentation</vt:lpstr>
      <vt:lpstr>Postoperative management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 &amp; Anesthesia</dc:title>
  <dc:creator>biruk</dc:creator>
  <cp:lastModifiedBy>biruk</cp:lastModifiedBy>
  <cp:revision>41</cp:revision>
  <dcterms:created xsi:type="dcterms:W3CDTF">2025-08-24T04:30:29Z</dcterms:created>
  <dcterms:modified xsi:type="dcterms:W3CDTF">2025-08-26T15:51:24Z</dcterms:modified>
</cp:coreProperties>
</file>