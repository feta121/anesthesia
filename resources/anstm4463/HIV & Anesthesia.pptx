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93" r:id="rId7"/>
    <p:sldId id="257" r:id="rId8"/>
    <p:sldId id="259" r:id="rId9"/>
    <p:sldId id="258" r:id="rId10"/>
    <p:sldId id="280" r:id="rId11"/>
    <p:sldId id="281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4" r:id="rId22"/>
    <p:sldId id="270" r:id="rId23"/>
    <p:sldId id="271" r:id="rId24"/>
    <p:sldId id="272" r:id="rId25"/>
    <p:sldId id="273" r:id="rId26"/>
    <p:sldId id="275" r:id="rId27"/>
    <p:sldId id="276" r:id="rId28"/>
    <p:sldId id="277" r:id="rId29"/>
    <p:sldId id="278" r:id="rId30"/>
    <p:sldId id="279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260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HIV &amp; Anesthesia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BIRUK T. (</a:t>
            </a:r>
            <a:r>
              <a:rPr lang="en-US" dirty="0" err="1" smtClean="0"/>
              <a:t>Bsc</a:t>
            </a:r>
            <a:r>
              <a:rPr lang="en-US" dirty="0" smtClean="0"/>
              <a:t>, </a:t>
            </a:r>
            <a:r>
              <a:rPr lang="en-US" dirty="0" err="1" smtClean="0"/>
              <a:t>Msc</a:t>
            </a:r>
            <a:r>
              <a:rPr lang="en-US" dirty="0" smtClean="0"/>
              <a:t>, CAPS)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1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HIV is a single-stranded RNA virus of the </a:t>
            </a:r>
            <a:r>
              <a:rPr lang="en-US" dirty="0" smtClean="0"/>
              <a:t>lentivirus subfamily </a:t>
            </a:r>
            <a:r>
              <a:rPr lang="en-US" dirty="0"/>
              <a:t>of the retrovirus </a:t>
            </a:r>
            <a:r>
              <a:rPr lang="en-US" dirty="0" smtClean="0"/>
              <a:t>family</a:t>
            </a:r>
          </a:p>
          <a:p>
            <a:r>
              <a:rPr lang="en-US" dirty="0"/>
              <a:t>Two </a:t>
            </a:r>
            <a:r>
              <a:rPr lang="en-US" dirty="0" smtClean="0"/>
              <a:t>subtypes have </a:t>
            </a:r>
            <a:r>
              <a:rPr lang="en-US" dirty="0"/>
              <a:t>been </a:t>
            </a:r>
            <a:r>
              <a:rPr lang="en-US" dirty="0" smtClean="0"/>
              <a:t>identified - HIV-1 </a:t>
            </a:r>
            <a:r>
              <a:rPr lang="en-US" dirty="0"/>
              <a:t>and </a:t>
            </a:r>
            <a:r>
              <a:rPr lang="en-US" dirty="0" smtClean="0"/>
              <a:t>HIV-2</a:t>
            </a:r>
          </a:p>
          <a:p>
            <a:r>
              <a:rPr lang="en-US" dirty="0"/>
              <a:t>HIV contains the enzyme </a:t>
            </a:r>
            <a:r>
              <a:rPr lang="en-US" dirty="0" smtClean="0"/>
              <a:t>reverse transcriptase </a:t>
            </a:r>
            <a:r>
              <a:rPr lang="en-US" dirty="0"/>
              <a:t>that enables viral RNA to be </a:t>
            </a:r>
            <a:r>
              <a:rPr lang="en-US" dirty="0" smtClean="0"/>
              <a:t>transcribed to DNA</a:t>
            </a:r>
          </a:p>
          <a:p>
            <a:r>
              <a:rPr lang="en-US" dirty="0" smtClean="0"/>
              <a:t>Incorporate into the </a:t>
            </a:r>
            <a:r>
              <a:rPr lang="en-US" dirty="0"/>
              <a:t>host cell genome &amp;</a:t>
            </a:r>
            <a:r>
              <a:rPr lang="en-US" dirty="0" smtClean="0"/>
              <a:t> </a:t>
            </a:r>
            <a:r>
              <a:rPr lang="en-US" dirty="0"/>
              <a:t>is able to replicate </a:t>
            </a:r>
            <a:r>
              <a:rPr lang="en-US" dirty="0" smtClean="0"/>
              <a:t>freely</a:t>
            </a:r>
          </a:p>
          <a:p>
            <a:r>
              <a:rPr lang="en-US" dirty="0"/>
              <a:t>Inhibition of this viral replication process is the </a:t>
            </a:r>
            <a:r>
              <a:rPr lang="en-US" dirty="0" smtClean="0"/>
              <a:t>target of ART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7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HIV  infects </a:t>
            </a:r>
            <a:r>
              <a:rPr lang="en-US" dirty="0"/>
              <a:t>T helper lymphocytes (CD4 T cells</a:t>
            </a:r>
            <a:r>
              <a:rPr lang="en-US" dirty="0" smtClean="0"/>
              <a:t>)</a:t>
            </a:r>
          </a:p>
          <a:p>
            <a:r>
              <a:rPr lang="en-US" dirty="0" smtClean="0"/>
              <a:t>Cause progressive </a:t>
            </a:r>
            <a:r>
              <a:rPr lang="en-US" dirty="0"/>
              <a:t>quantitative and </a:t>
            </a:r>
            <a:r>
              <a:rPr lang="en-US" dirty="0" smtClean="0"/>
              <a:t>qualitative destruction: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M</a:t>
            </a:r>
            <a:r>
              <a:rPr lang="en-US" dirty="0" smtClean="0"/>
              <a:t>aking </a:t>
            </a:r>
            <a:r>
              <a:rPr lang="en-US" dirty="0"/>
              <a:t>the host more susceptible </a:t>
            </a:r>
            <a:r>
              <a:rPr lang="en-US" dirty="0" smtClean="0"/>
              <a:t>to opportunistic </a:t>
            </a:r>
            <a:r>
              <a:rPr lang="en-US" dirty="0"/>
              <a:t>infections </a:t>
            </a:r>
            <a:r>
              <a:rPr lang="en-US" dirty="0" smtClean="0"/>
              <a:t>&amp; malignancies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85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 of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Sexual intercourse (60-70%)</a:t>
            </a:r>
          </a:p>
          <a:p>
            <a:r>
              <a:rPr lang="en-US" dirty="0" smtClean="0"/>
              <a:t>Mother to child –pregnancy, labor &amp; breast feeding (20-30%)</a:t>
            </a:r>
          </a:p>
          <a:p>
            <a:r>
              <a:rPr lang="en-US" dirty="0" smtClean="0"/>
              <a:t>Contaminated </a:t>
            </a:r>
            <a:r>
              <a:rPr lang="en-US" dirty="0"/>
              <a:t>blood, blood products &amp;</a:t>
            </a:r>
            <a:r>
              <a:rPr lang="en-US" dirty="0" smtClean="0"/>
              <a:t> organ donations (3-5%)</a:t>
            </a:r>
          </a:p>
          <a:p>
            <a:r>
              <a:rPr lang="en-US" dirty="0" smtClean="0"/>
              <a:t>Contaminated needles (2-3%)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8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RISK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High-risk </a:t>
            </a:r>
            <a:r>
              <a:rPr lang="en-US" dirty="0"/>
              <a:t>groups including</a:t>
            </a:r>
            <a:r>
              <a:rPr lang="en-US" dirty="0" smtClean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Promiscuous hetero- &amp; homosexuals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</a:t>
            </a:r>
            <a:r>
              <a:rPr lang="en-US" dirty="0" smtClean="0"/>
              <a:t>atients </a:t>
            </a:r>
            <a:r>
              <a:rPr lang="en-US" dirty="0"/>
              <a:t>with other sexually </a:t>
            </a:r>
            <a:r>
              <a:rPr lang="en-US" dirty="0" smtClean="0"/>
              <a:t>transmitted diseases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I</a:t>
            </a:r>
            <a:r>
              <a:rPr lang="en-US" dirty="0" smtClean="0"/>
              <a:t>ntravenous </a:t>
            </a:r>
            <a:r>
              <a:rPr lang="en-US" dirty="0"/>
              <a:t>drug </a:t>
            </a:r>
            <a:r>
              <a:rPr lang="en-US" dirty="0" smtClean="0"/>
              <a:t>users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Haemophiliacs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</a:t>
            </a:r>
            <a:r>
              <a:rPr lang="en-US" dirty="0" smtClean="0"/>
              <a:t>atients </a:t>
            </a:r>
            <a:r>
              <a:rPr lang="en-US" dirty="0"/>
              <a:t>from endemic areas</a:t>
            </a:r>
          </a:p>
        </p:txBody>
      </p:sp>
    </p:spTree>
    <p:extLst>
      <p:ext uri="{BB962C8B-B14F-4D97-AF65-F5344CB8AC3E}">
        <p14:creationId xmlns:p14="http://schemas.microsoft.com/office/powerpoint/2010/main" val="42907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HIV infection is classified according to its </a:t>
            </a:r>
            <a:r>
              <a:rPr lang="en-US" dirty="0" smtClean="0"/>
              <a:t>associated clinical symptoms</a:t>
            </a:r>
          </a:p>
          <a:p>
            <a:r>
              <a:rPr lang="en-US" dirty="0"/>
              <a:t>T</a:t>
            </a:r>
            <a:r>
              <a:rPr lang="en-US" dirty="0" smtClean="0"/>
              <a:t>he severity </a:t>
            </a:r>
            <a:r>
              <a:rPr lang="en-US" dirty="0"/>
              <a:t>of immunological depression reflected by </a:t>
            </a:r>
            <a:r>
              <a:rPr lang="en-US" dirty="0" smtClean="0"/>
              <a:t>age related </a:t>
            </a:r>
            <a:r>
              <a:rPr lang="en-US" dirty="0"/>
              <a:t>CD4+ T cell </a:t>
            </a:r>
            <a:r>
              <a:rPr lang="en-US" dirty="0" smtClean="0"/>
              <a:t>counts also used</a:t>
            </a:r>
          </a:p>
          <a:p>
            <a:r>
              <a:rPr lang="en-US" dirty="0" smtClean="0"/>
              <a:t>The </a:t>
            </a:r>
            <a:r>
              <a:rPr lang="en-US" dirty="0"/>
              <a:t>diagnosis of </a:t>
            </a:r>
            <a:r>
              <a:rPr lang="en-US" dirty="0" smtClean="0"/>
              <a:t>advanced HIV </a:t>
            </a:r>
            <a:r>
              <a:rPr lang="en-US" dirty="0"/>
              <a:t>infection is made when the patient is in stage </a:t>
            </a:r>
            <a:r>
              <a:rPr lang="en-US" dirty="0" smtClean="0"/>
              <a:t>3 or </a:t>
            </a:r>
            <a:r>
              <a:rPr lang="en-US" dirty="0"/>
              <a:t>4 and/or has advanced </a:t>
            </a:r>
            <a:r>
              <a:rPr lang="en-US" dirty="0" smtClean="0"/>
              <a:t>immunodeficiency</a:t>
            </a:r>
          </a:p>
          <a:p>
            <a:r>
              <a:rPr lang="en-US" dirty="0" smtClean="0"/>
              <a:t>Severe clinical </a:t>
            </a:r>
            <a:r>
              <a:rPr lang="en-US" dirty="0"/>
              <a:t>conditions and/or severe </a:t>
            </a:r>
            <a:r>
              <a:rPr lang="en-US" dirty="0" smtClean="0"/>
              <a:t>immunodeficiency are </a:t>
            </a:r>
            <a:r>
              <a:rPr lang="en-US" dirty="0"/>
              <a:t>known as AIDS</a:t>
            </a:r>
          </a:p>
        </p:txBody>
      </p:sp>
    </p:spTree>
    <p:extLst>
      <p:ext uri="{BB962C8B-B14F-4D97-AF65-F5344CB8AC3E}">
        <p14:creationId xmlns:p14="http://schemas.microsoft.com/office/powerpoint/2010/main" val="323522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istory </a:t>
            </a:r>
            <a:r>
              <a:rPr lang="en-US" dirty="0" smtClean="0"/>
              <a:t>of </a:t>
            </a:r>
            <a:r>
              <a:rPr lang="en-US" dirty="0" smtClean="0"/>
              <a:t>ART </a:t>
            </a:r>
            <a:r>
              <a:rPr lang="en-US" dirty="0" smtClean="0"/>
              <a:t>therapy</a:t>
            </a:r>
          </a:p>
          <a:p>
            <a:r>
              <a:rPr lang="en-US" dirty="0" smtClean="0"/>
              <a:t>History of opportunistic infection &amp; antiopportunistic drugs</a:t>
            </a:r>
          </a:p>
          <a:p>
            <a:r>
              <a:rPr lang="en-US" dirty="0" smtClean="0"/>
              <a:t>CBC, </a:t>
            </a:r>
            <a:r>
              <a:rPr lang="en-US" dirty="0"/>
              <a:t>clotting functions, glucose, </a:t>
            </a:r>
            <a:r>
              <a:rPr lang="en-US" dirty="0" smtClean="0"/>
              <a:t>LFT &amp; RFT </a:t>
            </a:r>
          </a:p>
          <a:p>
            <a:r>
              <a:rPr lang="en-US" dirty="0" smtClean="0"/>
              <a:t>Verification </a:t>
            </a:r>
            <a:r>
              <a:rPr lang="en-US" dirty="0"/>
              <a:t>of the immunological status i.e. the CD4+ lymphocyte cell count and viral load </a:t>
            </a:r>
            <a:r>
              <a:rPr lang="en-US" dirty="0" smtClean="0"/>
              <a:t>during 3 months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66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immunosuppression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Possible effect of GA &amp; opioid on the immune system</a:t>
            </a:r>
          </a:p>
          <a:p>
            <a:r>
              <a:rPr lang="en-US" dirty="0" smtClean="0"/>
              <a:t>Pulmonary &amp; neurologic status of HIV patients</a:t>
            </a:r>
          </a:p>
          <a:p>
            <a:r>
              <a:rPr lang="en-US" dirty="0" smtClean="0"/>
              <a:t>Interaction of anesthetic agent &amp; RVI medications</a:t>
            </a:r>
          </a:p>
          <a:p>
            <a:r>
              <a:rPr lang="en-US" dirty="0" smtClean="0"/>
              <a:t>GA &amp; oxidants have negative effect on immune function</a:t>
            </a:r>
          </a:p>
          <a:p>
            <a:r>
              <a:rPr lang="en-US" dirty="0" smtClean="0"/>
              <a:t>Immuno</a:t>
            </a:r>
            <a:r>
              <a:rPr lang="en-US" dirty="0"/>
              <a:t>-</a:t>
            </a:r>
            <a:r>
              <a:rPr lang="en-US" dirty="0" smtClean="0"/>
              <a:t>suppressant effect of GA occurs starting from 15 mins to 3 up to eleven days</a:t>
            </a:r>
          </a:p>
          <a:p>
            <a:r>
              <a:rPr lang="en-US" dirty="0" smtClean="0"/>
              <a:t>Postoperative immunosuppression lasts longer in inherently immunosuppressed patients</a:t>
            </a:r>
          </a:p>
          <a:p>
            <a:r>
              <a:rPr lang="en-US" dirty="0" smtClean="0"/>
              <a:t>Predispose to postoperative infection &amp; tumor growth &amp; metastasis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9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CD4 count and viral load in the past 3 months</a:t>
            </a:r>
          </a:p>
          <a:p>
            <a:r>
              <a:rPr lang="en-US" dirty="0" smtClean="0"/>
              <a:t>Chest radiograph &amp; ECG for all patients</a:t>
            </a:r>
          </a:p>
          <a:p>
            <a:r>
              <a:rPr lang="en-US" dirty="0" smtClean="0"/>
              <a:t>Signs of cardiac &amp; pulmonary dysfunction – ABG &amp; Echocardiography</a:t>
            </a:r>
          </a:p>
          <a:p>
            <a:r>
              <a:rPr lang="en-US" dirty="0" smtClean="0"/>
              <a:t>Patients are exposed to cardiotoxic antiretroviral drugs</a:t>
            </a:r>
          </a:p>
          <a:p>
            <a:r>
              <a:rPr lang="en-US" dirty="0" smtClean="0"/>
              <a:t>Patients are in hypercoagulable state</a:t>
            </a:r>
          </a:p>
          <a:p>
            <a:r>
              <a:rPr lang="en-US" dirty="0" smtClean="0"/>
              <a:t>Decreased left ventricular function</a:t>
            </a:r>
          </a:p>
          <a:p>
            <a:r>
              <a:rPr lang="en-US" dirty="0" smtClean="0"/>
              <a:t>Accelerated coronary atherosclerosis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4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stages of hiv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2180492"/>
            <a:ext cx="6656363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9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365761"/>
            <a:ext cx="8610600" cy="62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Systematic effect of HIV</a:t>
            </a:r>
            <a:br>
              <a:rPr lang="en-US" dirty="0" smtClean="0"/>
            </a:br>
            <a:r>
              <a:rPr lang="en-US" dirty="0" smtClean="0"/>
              <a:t>CVS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Pericardial</a:t>
            </a:r>
            <a:r>
              <a:rPr lang="en-US" dirty="0"/>
              <a:t>, myocardial, endocardial or vascular lesions, as well as </a:t>
            </a:r>
            <a:r>
              <a:rPr lang="en-US" dirty="0" smtClean="0"/>
              <a:t>neoplasm</a:t>
            </a:r>
          </a:p>
          <a:p>
            <a:r>
              <a:rPr lang="en-US" dirty="0"/>
              <a:t>Dilated cardiomyopathy</a:t>
            </a:r>
          </a:p>
          <a:p>
            <a:r>
              <a:rPr lang="en-US" dirty="0" smtClean="0"/>
              <a:t>Pericardial </a:t>
            </a:r>
            <a:r>
              <a:rPr lang="en-US" dirty="0"/>
              <a:t>effusions</a:t>
            </a:r>
          </a:p>
          <a:p>
            <a:r>
              <a:rPr lang="en-US" dirty="0" smtClean="0"/>
              <a:t>Endocarditis </a:t>
            </a:r>
            <a:r>
              <a:rPr lang="en-US" dirty="0"/>
              <a:t>and valvular lesions</a:t>
            </a:r>
          </a:p>
          <a:p>
            <a:r>
              <a:rPr lang="en-US" dirty="0" smtClean="0"/>
              <a:t>Acute </a:t>
            </a:r>
            <a:r>
              <a:rPr lang="en-US" dirty="0"/>
              <a:t>coronary syndrome</a:t>
            </a:r>
          </a:p>
          <a:p>
            <a:r>
              <a:rPr lang="en-US" dirty="0" smtClean="0"/>
              <a:t>Vasculitis</a:t>
            </a:r>
            <a:endParaRPr lang="en-US" dirty="0"/>
          </a:p>
          <a:p>
            <a:r>
              <a:rPr lang="en-US" dirty="0" smtClean="0"/>
              <a:t>Pulmonary </a:t>
            </a:r>
            <a:r>
              <a:rPr lang="en-US" dirty="0"/>
              <a:t>hypertension.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3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the upper and lower airway can be </a:t>
            </a:r>
            <a:r>
              <a:rPr lang="en-US" dirty="0" smtClean="0"/>
              <a:t>involved</a:t>
            </a:r>
          </a:p>
          <a:p>
            <a:r>
              <a:rPr lang="en-US" dirty="0"/>
              <a:t>Airway obstruction (by Kaposi sarcoma or infections)</a:t>
            </a:r>
          </a:p>
          <a:p>
            <a:r>
              <a:rPr lang="en-US" dirty="0" smtClean="0"/>
              <a:t>Bronchitis</a:t>
            </a:r>
            <a:endParaRPr lang="en-US" dirty="0"/>
          </a:p>
          <a:p>
            <a:r>
              <a:rPr lang="en-US" dirty="0" smtClean="0"/>
              <a:t>Sinusitis</a:t>
            </a:r>
            <a:endParaRPr lang="en-US" dirty="0"/>
          </a:p>
          <a:p>
            <a:r>
              <a:rPr lang="en-US" dirty="0" smtClean="0"/>
              <a:t>Pneumonia</a:t>
            </a:r>
            <a:endParaRPr lang="en-US" dirty="0"/>
          </a:p>
          <a:p>
            <a:r>
              <a:rPr lang="en-US" dirty="0" smtClean="0"/>
              <a:t>Pneumonitis</a:t>
            </a:r>
            <a:endParaRPr lang="en-US" dirty="0"/>
          </a:p>
          <a:p>
            <a:r>
              <a:rPr lang="en-US" dirty="0" smtClean="0"/>
              <a:t>Atypical </a:t>
            </a:r>
            <a:r>
              <a:rPr lang="en-US" dirty="0"/>
              <a:t>infections (commonly tuberculosis, other </a:t>
            </a:r>
            <a:r>
              <a:rPr lang="en-US" dirty="0" smtClean="0"/>
              <a:t>mycobacteria &amp; fungal </a:t>
            </a:r>
            <a:r>
              <a:rPr lang="en-US" dirty="0"/>
              <a:t>infections)</a:t>
            </a:r>
          </a:p>
        </p:txBody>
      </p:sp>
    </p:spTree>
    <p:extLst>
      <p:ext uri="{BB962C8B-B14F-4D97-AF65-F5344CB8AC3E}">
        <p14:creationId xmlns:p14="http://schemas.microsoft.com/office/powerpoint/2010/main" val="390895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GASTROINTESTINAL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or pain on swallowing</a:t>
            </a:r>
          </a:p>
          <a:p>
            <a:r>
              <a:rPr lang="en-US" dirty="0" smtClean="0"/>
              <a:t>Increased </a:t>
            </a:r>
            <a:r>
              <a:rPr lang="en-US" dirty="0"/>
              <a:t>gastric emptying times</a:t>
            </a:r>
          </a:p>
          <a:p>
            <a:r>
              <a:rPr lang="en-US" dirty="0" smtClean="0"/>
              <a:t>Bleeding </a:t>
            </a:r>
            <a:r>
              <a:rPr lang="en-US" dirty="0"/>
              <a:t>tendency on airway </a:t>
            </a:r>
            <a:r>
              <a:rPr lang="en-US" dirty="0" smtClean="0"/>
              <a:t>instrumentation/NGT insertion</a:t>
            </a:r>
            <a:endParaRPr lang="en-US" dirty="0"/>
          </a:p>
          <a:p>
            <a:r>
              <a:rPr lang="en-US" dirty="0" smtClean="0"/>
              <a:t>Diarrhea </a:t>
            </a:r>
            <a:r>
              <a:rPr lang="en-US" dirty="0"/>
              <a:t>with associated electrolyte dysfunction &amp; dehydration</a:t>
            </a:r>
          </a:p>
          <a:p>
            <a:r>
              <a:rPr lang="en-US" dirty="0" smtClean="0"/>
              <a:t>Hepatobiliary </a:t>
            </a:r>
            <a:r>
              <a:rPr lang="en-US" dirty="0"/>
              <a:t>impairment</a:t>
            </a:r>
          </a:p>
          <a:p>
            <a:r>
              <a:rPr lang="en-US" dirty="0" smtClean="0"/>
              <a:t>Pancreatitis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61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RENAL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Acute &amp;</a:t>
            </a:r>
            <a:r>
              <a:rPr lang="en-US" dirty="0" smtClean="0"/>
              <a:t> </a:t>
            </a:r>
            <a:r>
              <a:rPr lang="en-US" dirty="0"/>
              <a:t>chronic renal disease can be associated with HIV </a:t>
            </a:r>
            <a:endParaRPr lang="en-US" dirty="0" smtClean="0"/>
          </a:p>
          <a:p>
            <a:r>
              <a:rPr lang="en-US" dirty="0" smtClean="0"/>
              <a:t> The causes </a:t>
            </a:r>
            <a:r>
              <a:rPr lang="en-US" dirty="0"/>
              <a:t>of renal impairment can be multifactorial:</a:t>
            </a:r>
          </a:p>
          <a:p>
            <a:r>
              <a:rPr lang="en-US" dirty="0" smtClean="0"/>
              <a:t>Drug-induced </a:t>
            </a:r>
            <a:r>
              <a:rPr lang="en-US" dirty="0"/>
              <a:t>nephrotoxicity, hypertension &amp; diabetes</a:t>
            </a:r>
          </a:p>
          <a:p>
            <a:r>
              <a:rPr lang="en-US" dirty="0" smtClean="0"/>
              <a:t> </a:t>
            </a:r>
            <a:r>
              <a:rPr lang="en-US" dirty="0"/>
              <a:t>HIV-associated </a:t>
            </a:r>
            <a:r>
              <a:rPr lang="en-US" dirty="0" smtClean="0"/>
              <a:t>nephropathy</a:t>
            </a:r>
          </a:p>
          <a:p>
            <a:pPr marL="0" indent="0">
              <a:buNone/>
            </a:pPr>
            <a:r>
              <a:rPr lang="en-US" dirty="0" smtClean="0"/>
              <a:t>ADJUSTMENT</a:t>
            </a:r>
          </a:p>
          <a:p>
            <a:r>
              <a:rPr lang="en-US" dirty="0"/>
              <a:t>A</a:t>
            </a:r>
            <a:r>
              <a:rPr lang="en-US" dirty="0" smtClean="0"/>
              <a:t>voidance of nephrotoxic </a:t>
            </a:r>
            <a:r>
              <a:rPr lang="en-US" dirty="0" smtClean="0"/>
              <a:t>drugs</a:t>
            </a:r>
            <a:endParaRPr lang="en-US" dirty="0" smtClean="0"/>
          </a:p>
          <a:p>
            <a:r>
              <a:rPr lang="en-US" dirty="0"/>
              <a:t>D</a:t>
            </a:r>
            <a:r>
              <a:rPr lang="en-US" dirty="0" smtClean="0"/>
              <a:t>ose </a:t>
            </a:r>
            <a:r>
              <a:rPr lang="en-US" dirty="0"/>
              <a:t>adjustment of renally excreted drugs </a:t>
            </a:r>
          </a:p>
          <a:p>
            <a:r>
              <a:rPr lang="en-US" dirty="0" smtClean="0"/>
              <a:t>The </a:t>
            </a:r>
            <a:r>
              <a:rPr lang="en-US" dirty="0"/>
              <a:t>need for adequate hydration to prevent further deterioration </a:t>
            </a:r>
            <a:r>
              <a:rPr lang="en-US" dirty="0" smtClean="0"/>
              <a:t>of renal </a:t>
            </a:r>
            <a:r>
              <a:rPr lang="en-US" dirty="0"/>
              <a:t>function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1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Neurological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cause for neurological involvement: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Direct infection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Inflammation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Demyelination </a:t>
            </a:r>
            <a:r>
              <a:rPr lang="en-US" dirty="0"/>
              <a:t>or a degenerative process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Opportunistic </a:t>
            </a:r>
            <a:r>
              <a:rPr lang="en-US" dirty="0" smtClean="0"/>
              <a:t>infections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Neoplasms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Immune deficiency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3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Neurological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can involve all structures including the </a:t>
            </a:r>
            <a:r>
              <a:rPr lang="en-US" dirty="0" smtClean="0"/>
              <a:t>meninges, brain</a:t>
            </a:r>
            <a:r>
              <a:rPr lang="en-US" dirty="0"/>
              <a:t>, spinal cord, peripheral nerve or </a:t>
            </a:r>
            <a:r>
              <a:rPr lang="en-US" dirty="0" smtClean="0"/>
              <a:t>muscle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Neurocognitive impairment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Encephalopathy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Autonomic </a:t>
            </a:r>
            <a:r>
              <a:rPr lang="en-US" dirty="0"/>
              <a:t>neuropathy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Seizures</a:t>
            </a:r>
          </a:p>
          <a:p>
            <a:r>
              <a:rPr lang="en-US" dirty="0" smtClean="0"/>
              <a:t>Complete neurological exam &amp; record findings specially for regional anesthesia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8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Hematological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Anemia</a:t>
            </a:r>
            <a:endParaRPr lang="en-US" dirty="0"/>
          </a:p>
          <a:p>
            <a:r>
              <a:rPr lang="en-US" dirty="0" smtClean="0"/>
              <a:t>Neutropenia</a:t>
            </a:r>
            <a:endParaRPr lang="en-US" dirty="0"/>
          </a:p>
          <a:p>
            <a:r>
              <a:rPr lang="en-US" dirty="0" smtClean="0"/>
              <a:t>Thrombocytopenia</a:t>
            </a:r>
            <a:endParaRPr lang="en-US" dirty="0"/>
          </a:p>
          <a:p>
            <a:r>
              <a:rPr lang="en-US" dirty="0" smtClean="0"/>
              <a:t>Persistent generalized </a:t>
            </a:r>
            <a:r>
              <a:rPr lang="en-US" dirty="0"/>
              <a:t>lymphadenopathy</a:t>
            </a:r>
          </a:p>
          <a:p>
            <a:r>
              <a:rPr lang="en-US" dirty="0" smtClean="0"/>
              <a:t>Hematological </a:t>
            </a:r>
            <a:r>
              <a:rPr lang="en-US" dirty="0"/>
              <a:t>malignancies</a:t>
            </a:r>
          </a:p>
          <a:p>
            <a:r>
              <a:rPr lang="en-US" dirty="0" smtClean="0"/>
              <a:t>Coagulation </a:t>
            </a:r>
            <a:r>
              <a:rPr lang="en-US" dirty="0" smtClean="0"/>
              <a:t>abnormalities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4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Endocrine &amp; metabolic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Lipodystrophy (truncal obesity, buffalo hump, </a:t>
            </a:r>
            <a:r>
              <a:rPr lang="en-US" dirty="0" smtClean="0"/>
              <a:t>peripheral wasting</a:t>
            </a:r>
            <a:r>
              <a:rPr lang="en-US" dirty="0"/>
              <a:t>)</a:t>
            </a:r>
          </a:p>
          <a:p>
            <a:r>
              <a:rPr lang="en-US" dirty="0" smtClean="0"/>
              <a:t>Metabolic </a:t>
            </a:r>
            <a:r>
              <a:rPr lang="en-US" dirty="0"/>
              <a:t>syndrome (raised plasma triglycerides, </a:t>
            </a:r>
            <a:r>
              <a:rPr lang="en-US" dirty="0" smtClean="0"/>
              <a:t>cholesterol, glucose</a:t>
            </a:r>
            <a:r>
              <a:rPr lang="en-US" dirty="0"/>
              <a:t>)</a:t>
            </a:r>
          </a:p>
          <a:p>
            <a:r>
              <a:rPr lang="en-US" dirty="0" smtClean="0"/>
              <a:t>Disorders </a:t>
            </a:r>
            <a:r>
              <a:rPr lang="en-US" dirty="0"/>
              <a:t>of the hypothalamic–pituitary–adrenal axis including</a:t>
            </a:r>
          </a:p>
          <a:p>
            <a:r>
              <a:rPr lang="en-US" dirty="0"/>
              <a:t>Cushing’s syndrome and Addison’s disease</a:t>
            </a:r>
          </a:p>
          <a:p>
            <a:r>
              <a:rPr lang="en-US" dirty="0" smtClean="0"/>
              <a:t>Hyponatremia </a:t>
            </a:r>
            <a:r>
              <a:rPr lang="en-US" dirty="0"/>
              <a:t>due to syndrome of inappropriate </a:t>
            </a:r>
            <a:r>
              <a:rPr lang="en-US" dirty="0" smtClean="0"/>
              <a:t>antidiuretic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7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Endocrine &amp; metabolic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ormone </a:t>
            </a:r>
            <a:r>
              <a:rPr lang="en-US" dirty="0"/>
              <a:t>or adrenal failure</a:t>
            </a:r>
          </a:p>
          <a:p>
            <a:r>
              <a:rPr lang="en-US" dirty="0"/>
              <a:t>Hypo- or hyperthyroidism</a:t>
            </a:r>
          </a:p>
          <a:p>
            <a:r>
              <a:rPr lang="en-US" dirty="0"/>
              <a:t>Lactic acidosis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Adherence to </a:t>
            </a:r>
            <a:r>
              <a:rPr lang="en-US" dirty="0" smtClean="0"/>
              <a:t>ART </a:t>
            </a:r>
            <a:r>
              <a:rPr lang="en-US" dirty="0"/>
              <a:t>is of paramount </a:t>
            </a:r>
            <a:r>
              <a:rPr lang="en-US" dirty="0" smtClean="0"/>
              <a:t>importance</a:t>
            </a:r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dherence &lt; </a:t>
            </a:r>
            <a:r>
              <a:rPr lang="en-US" dirty="0"/>
              <a:t>95% being associated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in </a:t>
            </a:r>
            <a:r>
              <a:rPr lang="en-US" dirty="0"/>
              <a:t>viral load &amp;</a:t>
            </a:r>
            <a:r>
              <a:rPr lang="en-US" dirty="0" smtClean="0"/>
              <a:t> </a:t>
            </a:r>
            <a:r>
              <a:rPr lang="en-US" dirty="0"/>
              <a:t>drug </a:t>
            </a:r>
            <a:r>
              <a:rPr lang="en-US" dirty="0" smtClean="0"/>
              <a:t>resistance </a:t>
            </a:r>
          </a:p>
          <a:p>
            <a:r>
              <a:rPr lang="en-US" dirty="0" smtClean="0"/>
              <a:t>This </a:t>
            </a:r>
            <a:r>
              <a:rPr lang="en-US" dirty="0"/>
              <a:t>naturally has implications </a:t>
            </a:r>
            <a:r>
              <a:rPr lang="en-US" dirty="0" smtClean="0"/>
              <a:t>for interruption </a:t>
            </a:r>
            <a:r>
              <a:rPr lang="en-US" dirty="0"/>
              <a:t>of </a:t>
            </a:r>
            <a:r>
              <a:rPr lang="en-US" dirty="0" smtClean="0"/>
              <a:t>ART </a:t>
            </a:r>
            <a:r>
              <a:rPr lang="en-US" dirty="0"/>
              <a:t>therapy due to perioperative </a:t>
            </a:r>
            <a:r>
              <a:rPr lang="en-US" dirty="0" smtClean="0"/>
              <a:t>fasting</a:t>
            </a:r>
            <a:endParaRPr lang="en-US" dirty="0" smtClean="0"/>
          </a:p>
          <a:p>
            <a:r>
              <a:rPr lang="en-US" dirty="0" smtClean="0"/>
              <a:t>Fasting times </a:t>
            </a:r>
            <a:r>
              <a:rPr lang="en-US" dirty="0"/>
              <a:t>should be kept to an absolute minimum</a:t>
            </a:r>
          </a:p>
        </p:txBody>
      </p:sp>
    </p:spTree>
    <p:extLst>
      <p:ext uri="{BB962C8B-B14F-4D97-AF65-F5344CB8AC3E}">
        <p14:creationId xmlns:p14="http://schemas.microsoft.com/office/powerpoint/2010/main" val="386649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288" y="2193925"/>
            <a:ext cx="9367911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0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2193925"/>
            <a:ext cx="8610600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6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049" y="2222695"/>
            <a:ext cx="8707902" cy="34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SIDE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Classified into four groups: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Mitochondrial </a:t>
            </a:r>
            <a:r>
              <a:rPr lang="en-US" dirty="0"/>
              <a:t>dysfunction: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L</a:t>
            </a:r>
            <a:r>
              <a:rPr lang="en-US" dirty="0" smtClean="0"/>
              <a:t>actic </a:t>
            </a:r>
            <a:r>
              <a:rPr lang="en-US" dirty="0" smtClean="0"/>
              <a:t>acidosis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H</a:t>
            </a:r>
            <a:r>
              <a:rPr lang="en-US" dirty="0" smtClean="0"/>
              <a:t>epatic </a:t>
            </a:r>
            <a:r>
              <a:rPr lang="en-US" dirty="0" smtClean="0"/>
              <a:t>toxicity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Pancreatitis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Peripheral </a:t>
            </a:r>
            <a:r>
              <a:rPr lang="en-US" dirty="0" smtClean="0"/>
              <a:t>neuropathy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6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Side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Bone marrow suppression: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Anemia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Neutropenia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Thrombocytopenia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Allergic </a:t>
            </a:r>
            <a:r>
              <a:rPr lang="en-US" dirty="0"/>
              <a:t>reactions: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Skin </a:t>
            </a:r>
            <a:r>
              <a:rPr lang="en-US" dirty="0"/>
              <a:t>rashes </a:t>
            </a:r>
            <a:r>
              <a:rPr lang="en-US" dirty="0" smtClean="0"/>
              <a:t>and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Hypersensitivity </a:t>
            </a:r>
            <a:r>
              <a:rPr lang="en-US" dirty="0"/>
              <a:t>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2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Metabolic abnormalities: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Fat maldistribution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Change </a:t>
            </a:r>
            <a:r>
              <a:rPr lang="en-US" dirty="0"/>
              <a:t>in body </a:t>
            </a:r>
            <a:r>
              <a:rPr lang="en-US" dirty="0" smtClean="0"/>
              <a:t>habitus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Dyslipidemia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Hyperglycemia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Insulin resistance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B</a:t>
            </a:r>
            <a:r>
              <a:rPr lang="en-US" dirty="0" smtClean="0"/>
              <a:t>one </a:t>
            </a:r>
            <a:r>
              <a:rPr lang="en-US" dirty="0"/>
              <a:t>disorders e.g. </a:t>
            </a:r>
            <a:r>
              <a:rPr lang="en-US" dirty="0" smtClean="0"/>
              <a:t>osteopenia, </a:t>
            </a:r>
            <a:r>
              <a:rPr lang="en-US" dirty="0"/>
              <a:t>osteoporosis and osteonecrosis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78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Drug interaction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alothane </a:t>
            </a:r>
            <a:r>
              <a:rPr lang="en-US" dirty="0"/>
              <a:t>or </a:t>
            </a:r>
            <a:r>
              <a:rPr lang="en-US" dirty="0" smtClean="0"/>
              <a:t>methoxyflurane cause hepatic </a:t>
            </a:r>
            <a:r>
              <a:rPr lang="en-US" dirty="0"/>
              <a:t>or renal </a:t>
            </a:r>
            <a:r>
              <a:rPr lang="en-US" dirty="0" smtClean="0"/>
              <a:t>dysfunction</a:t>
            </a:r>
          </a:p>
          <a:p>
            <a:r>
              <a:rPr lang="en-US" dirty="0"/>
              <a:t>Propofol and NRTIs may </a:t>
            </a:r>
            <a:r>
              <a:rPr lang="en-US" dirty="0" smtClean="0"/>
              <a:t>both potentially </a:t>
            </a:r>
            <a:r>
              <a:rPr lang="en-US" dirty="0"/>
              <a:t>promote mitochondrial toxicity &amp;</a:t>
            </a:r>
            <a:r>
              <a:rPr lang="en-US" dirty="0" smtClean="0"/>
              <a:t> </a:t>
            </a:r>
            <a:r>
              <a:rPr lang="en-US" dirty="0"/>
              <a:t>lactic </a:t>
            </a:r>
            <a:r>
              <a:rPr lang="en-US" dirty="0" smtClean="0"/>
              <a:t>acidosis</a:t>
            </a:r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void </a:t>
            </a:r>
            <a:r>
              <a:rPr lang="en-US" dirty="0"/>
              <a:t>propofol infusions in patients receiving </a:t>
            </a:r>
            <a:r>
              <a:rPr lang="en-US" dirty="0" smtClean="0"/>
              <a:t>ART</a:t>
            </a:r>
          </a:p>
          <a:p>
            <a:r>
              <a:rPr lang="en-US" dirty="0" smtClean="0"/>
              <a:t>Protease </a:t>
            </a:r>
            <a:r>
              <a:rPr lang="en-US" dirty="0"/>
              <a:t>inhibitors (PIs) and NNRTIs are the </a:t>
            </a:r>
            <a:r>
              <a:rPr lang="en-US" dirty="0" smtClean="0"/>
              <a:t>most commonly </a:t>
            </a:r>
            <a:r>
              <a:rPr lang="en-US" dirty="0"/>
              <a:t>implicated group of </a:t>
            </a:r>
            <a:r>
              <a:rPr lang="en-US" dirty="0" smtClean="0"/>
              <a:t>ARTs </a:t>
            </a:r>
            <a:r>
              <a:rPr lang="en-US" dirty="0"/>
              <a:t>in drug </a:t>
            </a:r>
            <a:r>
              <a:rPr lang="en-US" dirty="0" smtClean="0"/>
              <a:t>interactions </a:t>
            </a:r>
            <a:endParaRPr lang="en-US" dirty="0" smtClean="0"/>
          </a:p>
          <a:p>
            <a:r>
              <a:rPr lang="en-US" dirty="0" smtClean="0"/>
              <a:t>Enzyme induction </a:t>
            </a:r>
            <a:r>
              <a:rPr lang="en-US" dirty="0"/>
              <a:t>or inhibition can affect the action of several classes </a:t>
            </a:r>
            <a:r>
              <a:rPr lang="en-US" dirty="0" smtClean="0"/>
              <a:t>of anesthetic </a:t>
            </a:r>
            <a:r>
              <a:rPr lang="en-US" dirty="0"/>
              <a:t>drugs</a:t>
            </a:r>
          </a:p>
        </p:txBody>
      </p:sp>
    </p:spTree>
    <p:extLst>
      <p:ext uri="{BB962C8B-B14F-4D97-AF65-F5344CB8AC3E}">
        <p14:creationId xmlns:p14="http://schemas.microsoft.com/office/powerpoint/2010/main" val="214191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Drug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Opioids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The </a:t>
            </a:r>
            <a:r>
              <a:rPr lang="en-US" dirty="0"/>
              <a:t>effects of fentanyl may be enhanced by </a:t>
            </a:r>
            <a:r>
              <a:rPr lang="en-US" dirty="0" smtClean="0"/>
              <a:t>ritonavir due </a:t>
            </a:r>
            <a:r>
              <a:rPr lang="en-US" dirty="0"/>
              <a:t>to both liver enzyme inhibition and </a:t>
            </a:r>
            <a:r>
              <a:rPr lang="en-US" dirty="0" smtClean="0"/>
              <a:t>induction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Enzyme inhibition </a:t>
            </a:r>
            <a:r>
              <a:rPr lang="en-US" dirty="0"/>
              <a:t>reduces fentanyl clearance </a:t>
            </a:r>
            <a:r>
              <a:rPr lang="en-US" dirty="0"/>
              <a:t>&amp;</a:t>
            </a:r>
            <a:r>
              <a:rPr lang="en-US" dirty="0" smtClean="0"/>
              <a:t> </a:t>
            </a:r>
            <a:r>
              <a:rPr lang="en-US" dirty="0"/>
              <a:t>enzyme </a:t>
            </a:r>
            <a:r>
              <a:rPr lang="en-US" dirty="0" smtClean="0"/>
              <a:t>induction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I</a:t>
            </a:r>
            <a:r>
              <a:rPr lang="en-US" dirty="0" smtClean="0"/>
              <a:t>ncreases </a:t>
            </a:r>
            <a:r>
              <a:rPr lang="en-US" dirty="0"/>
              <a:t>metabolism to active metabolites such as </a:t>
            </a:r>
            <a:r>
              <a:rPr lang="en-US" dirty="0" smtClean="0"/>
              <a:t>pethidine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Benzodiazepines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Saquinavir </a:t>
            </a:r>
            <a:r>
              <a:rPr lang="en-US" dirty="0"/>
              <a:t>may inhibit </a:t>
            </a:r>
            <a:r>
              <a:rPr lang="en-US" dirty="0" smtClean="0"/>
              <a:t>midazolam metabolism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6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Drug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Calcium </a:t>
            </a:r>
            <a:r>
              <a:rPr lang="en-US" b="1" dirty="0"/>
              <a:t>channel blockers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may </a:t>
            </a:r>
            <a:r>
              <a:rPr lang="en-US" dirty="0"/>
              <a:t>have enhanced hypotensive </a:t>
            </a:r>
            <a:r>
              <a:rPr lang="en-US" dirty="0" smtClean="0"/>
              <a:t>effects due </a:t>
            </a:r>
            <a:r>
              <a:rPr lang="en-US" dirty="0"/>
              <a:t>to enzyme </a:t>
            </a:r>
            <a:r>
              <a:rPr lang="en-US" dirty="0" smtClean="0"/>
              <a:t>inhibition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Neuromuscular </a:t>
            </a:r>
            <a:r>
              <a:rPr lang="en-US" b="1" dirty="0"/>
              <a:t>blocker </a:t>
            </a:r>
            <a:r>
              <a:rPr lang="en-US" dirty="0"/>
              <a:t>effects may be prolonged, even a </a:t>
            </a:r>
            <a:r>
              <a:rPr lang="en-US" dirty="0" smtClean="0"/>
              <a:t>single dose </a:t>
            </a:r>
            <a:r>
              <a:rPr lang="en-US" dirty="0"/>
              <a:t>of vecuronium for </a:t>
            </a:r>
            <a:r>
              <a:rPr lang="en-US" dirty="0" smtClean="0"/>
              <a:t>instance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Local anesthetics </a:t>
            </a:r>
            <a:r>
              <a:rPr lang="en-US" dirty="0"/>
              <a:t>such as </a:t>
            </a:r>
            <a:r>
              <a:rPr lang="en-US" dirty="0" smtClean="0"/>
              <a:t>lidocaine </a:t>
            </a:r>
            <a:r>
              <a:rPr lang="en-US" dirty="0"/>
              <a:t>may have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plasma levels </a:t>
            </a:r>
            <a:r>
              <a:rPr lang="en-US" dirty="0"/>
              <a:t>due to enzyme inhibition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9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is recommended that </a:t>
            </a:r>
            <a:r>
              <a:rPr lang="en-US" dirty="0" smtClean="0"/>
              <a:t>ART </a:t>
            </a:r>
            <a:r>
              <a:rPr lang="en-US" dirty="0"/>
              <a:t>therapy be continued </a:t>
            </a:r>
            <a:r>
              <a:rPr lang="en-US" dirty="0" smtClean="0"/>
              <a:t>throughout the perioperative </a:t>
            </a:r>
            <a:r>
              <a:rPr lang="en-US" dirty="0"/>
              <a:t>period if at all </a:t>
            </a:r>
            <a:r>
              <a:rPr lang="en-US" dirty="0" smtClean="0"/>
              <a:t>possible</a:t>
            </a:r>
          </a:p>
          <a:p>
            <a:r>
              <a:rPr lang="en-US" dirty="0" smtClean="0"/>
              <a:t>Some </a:t>
            </a:r>
            <a:r>
              <a:rPr lang="en-US" dirty="0"/>
              <a:t>ARVs are available in liquid form enabling administration </a:t>
            </a:r>
            <a:r>
              <a:rPr lang="en-US" dirty="0" smtClean="0"/>
              <a:t>via </a:t>
            </a:r>
            <a:r>
              <a:rPr lang="en-US" dirty="0"/>
              <a:t>feeding tube or </a:t>
            </a:r>
            <a:r>
              <a:rPr lang="en-US" dirty="0" smtClean="0"/>
              <a:t>gastrostomy</a:t>
            </a:r>
          </a:p>
          <a:p>
            <a:r>
              <a:rPr lang="en-US" dirty="0" smtClean="0"/>
              <a:t> </a:t>
            </a:r>
            <a:r>
              <a:rPr lang="en-US" dirty="0"/>
              <a:t>Parenteral preparations are limited </a:t>
            </a:r>
            <a:r>
              <a:rPr lang="en-US" dirty="0" smtClean="0"/>
              <a:t>to zidovudine </a:t>
            </a:r>
            <a:r>
              <a:rPr lang="en-US" dirty="0"/>
              <a:t>and enfuvirtide only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1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Regional anesthesia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HIV complications may pose relative contraindications to </a:t>
            </a:r>
            <a:r>
              <a:rPr lang="en-US" dirty="0" smtClean="0"/>
              <a:t>regional anesthesia: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Myelopathy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Vertebral </a:t>
            </a:r>
            <a:r>
              <a:rPr lang="en-US" dirty="0"/>
              <a:t>or spinal </a:t>
            </a:r>
            <a:r>
              <a:rPr lang="en-US" dirty="0" smtClean="0"/>
              <a:t>neoplasms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CNS infection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Coagulopathy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5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anesthesia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presence of HIV infection is not an absolute contraindication </a:t>
            </a:r>
            <a:r>
              <a:rPr lang="en-US" dirty="0" smtClean="0"/>
              <a:t>to RA</a:t>
            </a:r>
          </a:p>
          <a:p>
            <a:r>
              <a:rPr lang="en-US" dirty="0" smtClean="0"/>
              <a:t>There </a:t>
            </a:r>
            <a:r>
              <a:rPr lang="en-US" dirty="0"/>
              <a:t>is no evidence that HIV </a:t>
            </a:r>
            <a:r>
              <a:rPr lang="en-US" dirty="0" smtClean="0"/>
              <a:t>progression 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</a:t>
            </a:r>
            <a:r>
              <a:rPr lang="en-US" dirty="0"/>
              <a:t>by central neuraxial </a:t>
            </a:r>
            <a:r>
              <a:rPr lang="en-US" dirty="0" smtClean="0"/>
              <a:t>blockade</a:t>
            </a:r>
          </a:p>
          <a:p>
            <a:r>
              <a:rPr lang="en-US" dirty="0"/>
              <a:t>It is essential to conduct a full preoperative neurological </a:t>
            </a:r>
            <a:r>
              <a:rPr lang="en-US" dirty="0" smtClean="0"/>
              <a:t>assessment &amp; </a:t>
            </a:r>
            <a:r>
              <a:rPr lang="en-US" dirty="0"/>
              <a:t>to document any neurological deficit</a:t>
            </a:r>
          </a:p>
        </p:txBody>
      </p:sp>
    </p:spTree>
    <p:extLst>
      <p:ext uri="{BB962C8B-B14F-4D97-AF65-F5344CB8AC3E}">
        <p14:creationId xmlns:p14="http://schemas.microsoft.com/office/powerpoint/2010/main" val="8221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evaluations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multisystem &amp;</a:t>
            </a:r>
            <a:r>
              <a:rPr lang="en-US" dirty="0" smtClean="0"/>
              <a:t> </a:t>
            </a:r>
            <a:r>
              <a:rPr lang="en-US" dirty="0"/>
              <a:t>multidisciplinary approach is </a:t>
            </a:r>
            <a:r>
              <a:rPr lang="en-US" dirty="0" smtClean="0"/>
              <a:t>recommended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Thorough preoperative assessment for status of HIV </a:t>
            </a:r>
            <a:r>
              <a:rPr lang="en-US" dirty="0" smtClean="0"/>
              <a:t>infection includes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History, including risk factors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Physical </a:t>
            </a:r>
            <a:r>
              <a:rPr lang="en-US" dirty="0"/>
              <a:t>examination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Laboratory </a:t>
            </a:r>
            <a:r>
              <a:rPr lang="en-US" dirty="0"/>
              <a:t>tests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Assess </a:t>
            </a:r>
            <a:r>
              <a:rPr lang="en-US" dirty="0"/>
              <a:t>organ involvement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Drug </a:t>
            </a:r>
            <a:r>
              <a:rPr lang="en-US" dirty="0"/>
              <a:t>history and side effects</a:t>
            </a:r>
          </a:p>
        </p:txBody>
      </p:sp>
    </p:spTree>
    <p:extLst>
      <p:ext uri="{BB962C8B-B14F-4D97-AF65-F5344CB8AC3E}">
        <p14:creationId xmlns:p14="http://schemas.microsoft.com/office/powerpoint/2010/main" val="398208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Blood transfusion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evidence that allogeneic blood transfusion in the HIV</a:t>
            </a:r>
          </a:p>
          <a:p>
            <a:r>
              <a:rPr lang="en-US" dirty="0" smtClean="0"/>
              <a:t>Infected </a:t>
            </a:r>
            <a:r>
              <a:rPr lang="en-US" dirty="0"/>
              <a:t>patient can lead to transfusion-related </a:t>
            </a:r>
            <a:r>
              <a:rPr lang="en-US" dirty="0" smtClean="0"/>
              <a:t>immunomodulation (TRIM</a:t>
            </a:r>
            <a:r>
              <a:rPr lang="en-US" dirty="0"/>
              <a:t>) </a:t>
            </a:r>
            <a:endParaRPr lang="en-US" dirty="0" smtClean="0"/>
          </a:p>
          <a:p>
            <a:r>
              <a:rPr lang="en-US" dirty="0"/>
              <a:t>C</a:t>
            </a:r>
            <a:r>
              <a:rPr lang="en-US" dirty="0" smtClean="0"/>
              <a:t>an </a:t>
            </a:r>
            <a:r>
              <a:rPr lang="en-US" dirty="0"/>
              <a:t>result </a:t>
            </a:r>
            <a:r>
              <a:rPr lang="en-US" dirty="0" smtClean="0"/>
              <a:t>in Increase </a:t>
            </a:r>
            <a:r>
              <a:rPr lang="en-US" dirty="0"/>
              <a:t>in HIV viral </a:t>
            </a:r>
            <a:r>
              <a:rPr lang="en-US" dirty="0" smtClean="0"/>
              <a:t>load </a:t>
            </a:r>
          </a:p>
          <a:p>
            <a:r>
              <a:rPr lang="en-US" dirty="0" smtClean="0"/>
              <a:t>Blood should </a:t>
            </a:r>
            <a:r>
              <a:rPr lang="en-US" dirty="0"/>
              <a:t>only be transfused where unavoidable to maintain </a:t>
            </a:r>
            <a:r>
              <a:rPr lang="en-US" dirty="0" smtClean="0"/>
              <a:t>patient safety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4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HIV-infected patients may require intensive care </a:t>
            </a:r>
            <a:r>
              <a:rPr lang="en-US" dirty="0" smtClean="0"/>
              <a:t>treatment</a:t>
            </a:r>
          </a:p>
          <a:p>
            <a:r>
              <a:rPr lang="en-US" dirty="0" smtClean="0"/>
              <a:t>Circumstances </a:t>
            </a:r>
            <a:r>
              <a:rPr lang="en-US" dirty="0"/>
              <a:t>related to </a:t>
            </a:r>
            <a:r>
              <a:rPr lang="en-US" dirty="0" smtClean="0"/>
              <a:t>HIV </a:t>
            </a:r>
            <a:r>
              <a:rPr lang="en-US" dirty="0"/>
              <a:t>&amp;</a:t>
            </a:r>
            <a:r>
              <a:rPr lang="en-US" dirty="0" smtClean="0"/>
              <a:t> </a:t>
            </a:r>
            <a:r>
              <a:rPr lang="en-US" dirty="0"/>
              <a:t>for medical </a:t>
            </a:r>
            <a:r>
              <a:rPr lang="en-US" dirty="0" smtClean="0"/>
              <a:t>&amp; surgical </a:t>
            </a:r>
            <a:r>
              <a:rPr lang="en-US" dirty="0"/>
              <a:t>conditions unrelated to </a:t>
            </a:r>
            <a:r>
              <a:rPr lang="en-US" dirty="0" smtClean="0"/>
              <a:t>HIV</a:t>
            </a:r>
          </a:p>
          <a:p>
            <a:r>
              <a:rPr lang="en-US" dirty="0"/>
              <a:t>Overall mortality rates </a:t>
            </a:r>
            <a:r>
              <a:rPr lang="en-US" dirty="0" smtClean="0"/>
              <a:t>for HIV-infected </a:t>
            </a:r>
            <a:r>
              <a:rPr lang="en-US" dirty="0"/>
              <a:t>patients requiring </a:t>
            </a:r>
            <a:r>
              <a:rPr lang="en-US" dirty="0" smtClean="0"/>
              <a:t>ICU </a:t>
            </a:r>
          </a:p>
          <a:p>
            <a:r>
              <a:rPr lang="en-US" dirty="0" smtClean="0"/>
              <a:t>Improved from approximately </a:t>
            </a:r>
            <a:r>
              <a:rPr lang="en-US" dirty="0"/>
              <a:t>70% in the early 1980s to 30-40% at </a:t>
            </a:r>
            <a:r>
              <a:rPr lang="en-US" dirty="0" smtClean="0"/>
              <a:t>present</a:t>
            </a:r>
          </a:p>
          <a:p>
            <a:r>
              <a:rPr lang="en-US" dirty="0" smtClean="0"/>
              <a:t>New diagnosis </a:t>
            </a:r>
            <a:r>
              <a:rPr lang="en-US" dirty="0"/>
              <a:t>of HIV in the ventilated, sedated patient who is unable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consent </a:t>
            </a:r>
            <a:r>
              <a:rPr lang="en-US" dirty="0">
                <a:solidFill>
                  <a:srgbClr val="FF0000"/>
                </a:solidFill>
              </a:rPr>
              <a:t>to testing </a:t>
            </a:r>
            <a:r>
              <a:rPr lang="en-US" dirty="0" smtClean="0"/>
              <a:t>present </a:t>
            </a:r>
            <a:r>
              <a:rPr lang="en-US" dirty="0"/>
              <a:t>a</a:t>
            </a:r>
            <a:r>
              <a:rPr lang="en-US" dirty="0" smtClean="0"/>
              <a:t>s </a:t>
            </a:r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ethical </a:t>
            </a:r>
            <a:r>
              <a:rPr lang="en-US" dirty="0" smtClean="0">
                <a:solidFill>
                  <a:srgbClr val="FF0000"/>
                </a:solidFill>
              </a:rPr>
              <a:t>problem</a:t>
            </a:r>
          </a:p>
          <a:p>
            <a:r>
              <a:rPr lang="en-US" dirty="0" smtClean="0"/>
              <a:t>No evidence </a:t>
            </a:r>
            <a:r>
              <a:rPr lang="en-US" dirty="0" err="1" smtClean="0"/>
              <a:t>ot</a:t>
            </a:r>
            <a:r>
              <a:rPr lang="en-US" dirty="0" smtClean="0"/>
              <a:t> </a:t>
            </a:r>
            <a:r>
              <a:rPr lang="en-US" dirty="0"/>
              <a:t>the initiation of ART may </a:t>
            </a:r>
            <a:r>
              <a:rPr lang="en-US" dirty="0" smtClean="0"/>
              <a:t>improve outcome </a:t>
            </a:r>
            <a:r>
              <a:rPr lang="en-US" dirty="0"/>
              <a:t>in the critically ill HIV patient</a:t>
            </a:r>
            <a:endParaRPr lang="en-US" dirty="0" smtClean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71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Pain is common in advanced HIV disease and can be very </a:t>
            </a:r>
            <a:r>
              <a:rPr lang="en-US" dirty="0" smtClean="0"/>
              <a:t>difficult to treat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Cause</a:t>
            </a:r>
            <a:r>
              <a:rPr lang="en-US" dirty="0" smtClean="0"/>
              <a:t> of pain </a:t>
            </a:r>
            <a:r>
              <a:rPr lang="en-US" dirty="0"/>
              <a:t>can be </a:t>
            </a:r>
            <a:r>
              <a:rPr lang="en-US" dirty="0" smtClean="0"/>
              <a:t>multifactorial: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Opportunistic </a:t>
            </a:r>
            <a:r>
              <a:rPr lang="en-US" dirty="0"/>
              <a:t>infections such as herpes </a:t>
            </a:r>
            <a:r>
              <a:rPr lang="en-US" dirty="0" smtClean="0"/>
              <a:t>simplex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HIV-related arthralgia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</a:t>
            </a:r>
            <a:r>
              <a:rPr lang="en-US" dirty="0" smtClean="0"/>
              <a:t>eripheral </a:t>
            </a:r>
            <a:r>
              <a:rPr lang="en-US" dirty="0"/>
              <a:t>neuropathy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D</a:t>
            </a:r>
            <a:r>
              <a:rPr lang="en-US" dirty="0" smtClean="0"/>
              <a:t>rug-related pain</a:t>
            </a:r>
          </a:p>
          <a:p>
            <a:pPr marL="0" indent="0">
              <a:buNone/>
            </a:pPr>
            <a:r>
              <a:rPr lang="en-US" dirty="0" smtClean="0"/>
              <a:t>Can have </a:t>
            </a:r>
            <a:r>
              <a:rPr lang="en-US" dirty="0"/>
              <a:t>impact also on the treatment of postoperative pain relief &amp;</a:t>
            </a:r>
          </a:p>
          <a:p>
            <a:pPr marL="0" indent="0">
              <a:buNone/>
            </a:pPr>
            <a:r>
              <a:rPr lang="en-US" dirty="0"/>
              <a:t>will necessitate a multimodal approach</a:t>
            </a:r>
          </a:p>
        </p:txBody>
      </p:sp>
    </p:spTree>
    <p:extLst>
      <p:ext uri="{BB962C8B-B14F-4D97-AF65-F5344CB8AC3E}">
        <p14:creationId xmlns:p14="http://schemas.microsoft.com/office/powerpoint/2010/main" val="69063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child with HIV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80% of HIV-infections in children are due to </a:t>
            </a:r>
            <a:r>
              <a:rPr lang="en-US" dirty="0" smtClean="0"/>
              <a:t>transplacental exposure </a:t>
            </a:r>
            <a:r>
              <a:rPr lang="en-US" dirty="0"/>
              <a:t>to maternal HIV during the perinatal </a:t>
            </a:r>
            <a:r>
              <a:rPr lang="en-US" dirty="0" smtClean="0"/>
              <a:t>period</a:t>
            </a:r>
          </a:p>
          <a:p>
            <a:r>
              <a:rPr lang="en-US" dirty="0" smtClean="0"/>
              <a:t>13</a:t>
            </a:r>
            <a:r>
              <a:rPr lang="en-US" dirty="0"/>
              <a:t>% of </a:t>
            </a:r>
            <a:r>
              <a:rPr lang="en-US" dirty="0" smtClean="0"/>
              <a:t>HIV infected </a:t>
            </a:r>
            <a:r>
              <a:rPr lang="en-US" dirty="0"/>
              <a:t>children are exposed during blood transfusions </a:t>
            </a:r>
          </a:p>
          <a:p>
            <a:r>
              <a:rPr lang="en-US" dirty="0" smtClean="0"/>
              <a:t>5</a:t>
            </a:r>
            <a:r>
              <a:rPr lang="en-US" dirty="0"/>
              <a:t>% </a:t>
            </a:r>
            <a:r>
              <a:rPr lang="en-US" dirty="0" smtClean="0"/>
              <a:t>from blood </a:t>
            </a:r>
            <a:r>
              <a:rPr lang="en-US" dirty="0"/>
              <a:t>products for treatment of coagulation </a:t>
            </a:r>
            <a:r>
              <a:rPr lang="en-US" dirty="0" smtClean="0"/>
              <a:t>disorders</a:t>
            </a:r>
          </a:p>
          <a:p>
            <a:r>
              <a:rPr lang="en-US" dirty="0" smtClean="0"/>
              <a:t>Pediatric AIDS </a:t>
            </a:r>
            <a:r>
              <a:rPr lang="en-US" dirty="0"/>
              <a:t>is a disease of early childhood with 50% of cases </a:t>
            </a:r>
            <a:r>
              <a:rPr lang="en-US" dirty="0" smtClean="0"/>
              <a:t>displaying clinical </a:t>
            </a:r>
            <a:r>
              <a:rPr lang="en-US" dirty="0"/>
              <a:t>manifestations by 1 year of age &amp;</a:t>
            </a:r>
            <a:r>
              <a:rPr lang="en-US" dirty="0" smtClean="0"/>
              <a:t> </a:t>
            </a:r>
            <a:r>
              <a:rPr lang="en-US" dirty="0"/>
              <a:t>80% by 3 years of age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99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manifestation in children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Clinical manifestation differ from adults in different ways: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Pulmonary </a:t>
            </a:r>
            <a:r>
              <a:rPr lang="en-US" dirty="0"/>
              <a:t>disease is the leading cause of morbidity &amp; </a:t>
            </a:r>
            <a:r>
              <a:rPr lang="en-US" dirty="0" smtClean="0"/>
              <a:t>mortality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Lymphoid </a:t>
            </a:r>
            <a:r>
              <a:rPr lang="en-US" dirty="0"/>
              <a:t>interstitial pneumonitis (chronic lung disease) is </a:t>
            </a:r>
            <a:r>
              <a:rPr lang="en-US" dirty="0" smtClean="0"/>
              <a:t>more common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Cardiac </a:t>
            </a:r>
            <a:r>
              <a:rPr lang="en-US" dirty="0"/>
              <a:t>abnormalities are noted in both asymptomatic </a:t>
            </a:r>
            <a:r>
              <a:rPr lang="en-US" dirty="0" smtClean="0"/>
              <a:t>HIV infection </a:t>
            </a:r>
            <a:r>
              <a:rPr lang="en-US" dirty="0"/>
              <a:t>as well as advanced </a:t>
            </a:r>
            <a:r>
              <a:rPr lang="en-US" dirty="0" smtClean="0"/>
              <a:t>AIDS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25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manifestation in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Neurological abnormalities including: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</a:t>
            </a:r>
            <a:r>
              <a:rPr lang="en-US" dirty="0" smtClean="0"/>
              <a:t>rogressive </a:t>
            </a:r>
            <a:r>
              <a:rPr lang="en-US" dirty="0"/>
              <a:t>encephalopathy with </a:t>
            </a:r>
            <a:r>
              <a:rPr lang="en-US" dirty="0" smtClean="0"/>
              <a:t>signs of </a:t>
            </a:r>
            <a:r>
              <a:rPr lang="en-US" dirty="0"/>
              <a:t>developmental </a:t>
            </a:r>
            <a:r>
              <a:rPr lang="en-US" dirty="0" smtClean="0"/>
              <a:t>delay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Progressive </a:t>
            </a:r>
            <a:r>
              <a:rPr lang="en-US" dirty="0"/>
              <a:t>motor </a:t>
            </a:r>
            <a:r>
              <a:rPr lang="en-US" dirty="0" smtClean="0"/>
              <a:t>dysfunction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Loss of milestones &amp; behavioral changes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Opportunistic </a:t>
            </a:r>
            <a:r>
              <a:rPr lang="en-US" dirty="0"/>
              <a:t>infections of the central nervous system are </a:t>
            </a:r>
            <a:r>
              <a:rPr lang="en-US" dirty="0" smtClean="0"/>
              <a:t>less common </a:t>
            </a:r>
            <a:r>
              <a:rPr lang="en-US" dirty="0"/>
              <a:t>than in </a:t>
            </a:r>
            <a:r>
              <a:rPr lang="en-US" dirty="0" smtClean="0"/>
              <a:t>adult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Children </a:t>
            </a:r>
            <a:r>
              <a:rPr lang="en-US" dirty="0"/>
              <a:t>with HIV often fail to thrive, primarily from </a:t>
            </a:r>
            <a:r>
              <a:rPr lang="en-US" dirty="0" smtClean="0"/>
              <a:t>chronic infectious diarrhea </a:t>
            </a:r>
            <a:r>
              <a:rPr lang="en-US" dirty="0"/>
              <a:t>and mucocutaneous candidiasis in 75</a:t>
            </a:r>
            <a:r>
              <a:rPr lang="en-US" dirty="0" smtClean="0"/>
              <a:t>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Lymphadenopathy is a common presenting feature </a:t>
            </a:r>
          </a:p>
        </p:txBody>
      </p:sp>
    </p:spTree>
    <p:extLst>
      <p:ext uri="{BB962C8B-B14F-4D97-AF65-F5344CB8AC3E}">
        <p14:creationId xmlns:p14="http://schemas.microsoft.com/office/powerpoint/2010/main" val="368790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surgical conditions in hiv-children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Therapeutic &amp; </a:t>
            </a:r>
            <a:r>
              <a:rPr lang="en-US" dirty="0"/>
              <a:t>diagnostic procedures </a:t>
            </a:r>
            <a:r>
              <a:rPr lang="en-US" dirty="0" smtClean="0"/>
              <a:t>predominate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Central </a:t>
            </a:r>
            <a:r>
              <a:rPr lang="en-US" dirty="0"/>
              <a:t>venous catheter </a:t>
            </a:r>
            <a:r>
              <a:rPr lang="en-US" dirty="0" smtClean="0"/>
              <a:t>placement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Gastrostomy tube placement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Lung </a:t>
            </a:r>
            <a:r>
              <a:rPr lang="en-US" dirty="0"/>
              <a:t>and liver </a:t>
            </a:r>
            <a:r>
              <a:rPr lang="en-US" dirty="0" smtClean="0"/>
              <a:t>biopsies</a:t>
            </a:r>
          </a:p>
          <a:p>
            <a:r>
              <a:rPr lang="en-US" dirty="0"/>
              <a:t>Common surgical </a:t>
            </a:r>
            <a:r>
              <a:rPr lang="en-US" dirty="0" smtClean="0"/>
              <a:t>procedures of </a:t>
            </a:r>
            <a:r>
              <a:rPr lang="en-US" dirty="0"/>
              <a:t>childhood such as tonsillectomy or herniorrhaphy may also </a:t>
            </a:r>
            <a:r>
              <a:rPr lang="en-US" dirty="0" smtClean="0"/>
              <a:t>be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8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INFECTON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Adopt </a:t>
            </a:r>
            <a:r>
              <a:rPr lang="en-US" dirty="0"/>
              <a:t>universal infection </a:t>
            </a:r>
            <a:r>
              <a:rPr lang="en-US" dirty="0" smtClean="0"/>
              <a:t>control precautions </a:t>
            </a:r>
            <a:r>
              <a:rPr lang="en-US" dirty="0"/>
              <a:t>for all </a:t>
            </a:r>
            <a:r>
              <a:rPr lang="en-US" dirty="0" smtClean="0"/>
              <a:t>patients</a:t>
            </a:r>
          </a:p>
          <a:p>
            <a:r>
              <a:rPr lang="en-US" dirty="0" smtClean="0"/>
              <a:t>Against blood-borne infections </a:t>
            </a:r>
            <a:r>
              <a:rPr lang="en-US" dirty="0"/>
              <a:t>as in areas of high HIV </a:t>
            </a:r>
            <a:r>
              <a:rPr lang="en-US" dirty="0" smtClean="0"/>
              <a:t>prevalence</a:t>
            </a:r>
          </a:p>
          <a:p>
            <a:r>
              <a:rPr lang="en-US" dirty="0" smtClean="0"/>
              <a:t>Many </a:t>
            </a:r>
            <a:r>
              <a:rPr lang="en-US" dirty="0"/>
              <a:t>patients will </a:t>
            </a:r>
            <a:r>
              <a:rPr lang="en-US" dirty="0" smtClean="0"/>
              <a:t>be asymptomatic </a:t>
            </a:r>
            <a:r>
              <a:rPr lang="en-US" dirty="0"/>
              <a:t>and may be classified as ASA </a:t>
            </a:r>
            <a:r>
              <a:rPr lang="en-US" dirty="0" smtClean="0"/>
              <a:t>1-2</a:t>
            </a:r>
          </a:p>
          <a:p>
            <a:r>
              <a:rPr lang="en-US" dirty="0" smtClean="0"/>
              <a:t>Risk </a:t>
            </a:r>
            <a:r>
              <a:rPr lang="en-US" dirty="0"/>
              <a:t>of contracting HIV over an anaesthetic career can be as high </a:t>
            </a:r>
            <a:r>
              <a:rPr lang="en-US" dirty="0" smtClean="0"/>
              <a:t>as 4.5</a:t>
            </a:r>
            <a:r>
              <a:rPr lang="en-US" dirty="0"/>
              <a:t>% in areas of high </a:t>
            </a:r>
            <a:r>
              <a:rPr lang="en-US" dirty="0" smtClean="0"/>
              <a:t>prevalence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1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CAUSES OF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Needle </a:t>
            </a:r>
            <a:r>
              <a:rPr lang="en-US" dirty="0"/>
              <a:t>stick </a:t>
            </a:r>
            <a:r>
              <a:rPr lang="en-US" dirty="0" smtClean="0"/>
              <a:t>injury as </a:t>
            </a:r>
            <a:r>
              <a:rPr lang="en-US" dirty="0"/>
              <a:t>with hollow needles or deep punctures (transmission risk </a:t>
            </a:r>
            <a:r>
              <a:rPr lang="en-US" dirty="0" smtClean="0"/>
              <a:t>of 0.3%)</a:t>
            </a:r>
          </a:p>
          <a:p>
            <a:r>
              <a:rPr lang="en-US" dirty="0" smtClean="0"/>
              <a:t>Mucocutaneous </a:t>
            </a:r>
            <a:r>
              <a:rPr lang="en-US" dirty="0"/>
              <a:t>route (</a:t>
            </a:r>
            <a:r>
              <a:rPr lang="en-US" dirty="0" smtClean="0"/>
              <a:t>splashing of </a:t>
            </a:r>
            <a:r>
              <a:rPr lang="en-US" dirty="0"/>
              <a:t>a mucosal surface or broken skin by body </a:t>
            </a:r>
            <a:r>
              <a:rPr lang="en-US" dirty="0" smtClean="0"/>
              <a:t>fluid)</a:t>
            </a:r>
          </a:p>
          <a:p>
            <a:r>
              <a:rPr lang="en-US" dirty="0" smtClean="0"/>
              <a:t>Transmission risk 0.03%</a:t>
            </a:r>
          </a:p>
          <a:p>
            <a:r>
              <a:rPr lang="en-US" dirty="0" smtClean="0"/>
              <a:t>All healthcare </a:t>
            </a:r>
            <a:r>
              <a:rPr lang="en-US" dirty="0"/>
              <a:t>workers should be </a:t>
            </a:r>
            <a:r>
              <a:rPr lang="en-US" dirty="0" smtClean="0"/>
              <a:t>immunized </a:t>
            </a:r>
            <a:r>
              <a:rPr lang="en-US" dirty="0"/>
              <a:t>against hepatitis B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66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precautions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Dispose </a:t>
            </a:r>
            <a:r>
              <a:rPr lang="en-US" dirty="0"/>
              <a:t>of sharps </a:t>
            </a:r>
            <a:r>
              <a:rPr lang="en-US" dirty="0" smtClean="0"/>
              <a:t>safely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Do </a:t>
            </a:r>
            <a:r>
              <a:rPr lang="en-US" dirty="0"/>
              <a:t>not re-sheath needles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Wear gloves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Use disposable equipment where possible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Clean reusable equipment promptly &amp;</a:t>
            </a:r>
            <a:r>
              <a:rPr lang="en-US" dirty="0" smtClean="0"/>
              <a:t> proper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10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Post-exposure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FIRST AID</a:t>
            </a:r>
          </a:p>
          <a:p>
            <a:r>
              <a:rPr lang="en-US" dirty="0"/>
              <a:t>Needle stick or contaminated wound – encourage bleeding </a:t>
            </a:r>
            <a:r>
              <a:rPr lang="en-US" dirty="0" smtClean="0"/>
              <a:t>from the </a:t>
            </a:r>
            <a:r>
              <a:rPr lang="en-US" dirty="0"/>
              <a:t>skin wound </a:t>
            </a:r>
            <a:endParaRPr lang="en-US" dirty="0" smtClean="0"/>
          </a:p>
          <a:p>
            <a:r>
              <a:rPr lang="en-US" dirty="0" smtClean="0"/>
              <a:t>Wash </a:t>
            </a:r>
            <a:r>
              <a:rPr lang="en-US" dirty="0"/>
              <a:t>the area with copious soapy water </a:t>
            </a:r>
            <a:r>
              <a:rPr lang="en-US" dirty="0" smtClean="0"/>
              <a:t>or disinfectant</a:t>
            </a:r>
            <a:endParaRPr lang="en-US" dirty="0"/>
          </a:p>
          <a:p>
            <a:r>
              <a:rPr lang="en-US" b="1" dirty="0" smtClean="0"/>
              <a:t>Contaminated </a:t>
            </a:r>
            <a:r>
              <a:rPr lang="en-US" b="1" dirty="0"/>
              <a:t>intact skin </a:t>
            </a:r>
            <a:r>
              <a:rPr lang="en-US" dirty="0"/>
              <a:t>– wash with soap and </a:t>
            </a:r>
            <a:r>
              <a:rPr lang="en-US" dirty="0" smtClean="0"/>
              <a:t>water</a:t>
            </a:r>
          </a:p>
          <a:p>
            <a:r>
              <a:rPr lang="en-US" b="1" dirty="0"/>
              <a:t>Contaminated eyes </a:t>
            </a:r>
            <a:r>
              <a:rPr lang="en-US" dirty="0"/>
              <a:t>– gently rinse eyes while open with saline </a:t>
            </a:r>
            <a:r>
              <a:rPr lang="en-US" dirty="0" smtClean="0"/>
              <a:t>or water</a:t>
            </a:r>
            <a:endParaRPr lang="en-US" dirty="0"/>
          </a:p>
          <a:p>
            <a:r>
              <a:rPr lang="en-US" b="1" dirty="0" smtClean="0"/>
              <a:t>Contaminated </a:t>
            </a:r>
            <a:r>
              <a:rPr lang="en-US" b="1" dirty="0"/>
              <a:t>mouth </a:t>
            </a:r>
            <a:r>
              <a:rPr lang="en-US" dirty="0"/>
              <a:t>– spit out any fluid, rinse the mouth </a:t>
            </a:r>
            <a:r>
              <a:rPr lang="en-US" dirty="0" smtClean="0"/>
              <a:t>with water &amp; </a:t>
            </a:r>
            <a:r>
              <a:rPr lang="en-US" dirty="0"/>
              <a:t>spit out again</a:t>
            </a:r>
          </a:p>
        </p:txBody>
      </p:sp>
    </p:spTree>
    <p:extLst>
      <p:ext uri="{BB962C8B-B14F-4D97-AF65-F5344CB8AC3E}">
        <p14:creationId xmlns:p14="http://schemas.microsoft.com/office/powerpoint/2010/main" val="309760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Post-exposure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patient is known to be HIV </a:t>
            </a:r>
            <a:r>
              <a:rPr lang="en-US" dirty="0" smtClean="0"/>
              <a:t>positive - the </a:t>
            </a:r>
            <a:r>
              <a:rPr lang="en-US" dirty="0"/>
              <a:t>healthcare </a:t>
            </a:r>
            <a:r>
              <a:rPr lang="en-US" dirty="0" smtClean="0"/>
              <a:t>worker should </a:t>
            </a:r>
            <a:r>
              <a:rPr lang="en-US" dirty="0"/>
              <a:t>receive post-exposure prophylaxis as soon as possible </a:t>
            </a:r>
            <a:endParaRPr lang="en-US" dirty="0" smtClean="0"/>
          </a:p>
          <a:p>
            <a:r>
              <a:rPr lang="en-US" dirty="0" smtClean="0"/>
              <a:t>After exposure </a:t>
            </a:r>
            <a:r>
              <a:rPr lang="en-US" dirty="0"/>
              <a:t>(ideally within the first 1-2hrs</a:t>
            </a:r>
            <a:r>
              <a:rPr lang="en-US" dirty="0" smtClean="0"/>
              <a:t>)</a:t>
            </a:r>
          </a:p>
          <a:p>
            <a:r>
              <a:rPr lang="en-US" dirty="0"/>
              <a:t>If </a:t>
            </a:r>
            <a:r>
              <a:rPr lang="en-US" dirty="0" smtClean="0"/>
              <a:t>TB </a:t>
            </a:r>
            <a:r>
              <a:rPr lang="en-US" dirty="0"/>
              <a:t>is suspected or likely in a </a:t>
            </a:r>
            <a:r>
              <a:rPr lang="en-US" dirty="0" smtClean="0"/>
              <a:t>patient-the healthcare worker </a:t>
            </a:r>
            <a:r>
              <a:rPr lang="en-US" dirty="0"/>
              <a:t>should wear a tight fitting facemask to reduce the risk </a:t>
            </a:r>
            <a:r>
              <a:rPr lang="en-US" dirty="0" smtClean="0"/>
              <a:t>of transmission </a:t>
            </a:r>
          </a:p>
          <a:p>
            <a:r>
              <a:rPr lang="en-US" dirty="0"/>
              <a:t>I</a:t>
            </a:r>
            <a:r>
              <a:rPr lang="en-US" dirty="0" smtClean="0"/>
              <a:t>deally </a:t>
            </a:r>
            <a:r>
              <a:rPr lang="en-US" dirty="0"/>
              <a:t>a high quality particulate mask if </a:t>
            </a:r>
            <a:r>
              <a:rPr lang="en-US" dirty="0" smtClean="0"/>
              <a:t>available e.g</a:t>
            </a:r>
            <a:r>
              <a:rPr lang="en-US" dirty="0"/>
              <a:t>. N95 or </a:t>
            </a:r>
            <a:r>
              <a:rPr lang="en-US" dirty="0" smtClean="0"/>
              <a:t>HEPA</a:t>
            </a:r>
          </a:p>
          <a:p>
            <a:r>
              <a:rPr lang="en-US" dirty="0"/>
              <a:t>Anaesthetic breathing equipment should </a:t>
            </a:r>
            <a:r>
              <a:rPr lang="en-US" dirty="0" smtClean="0"/>
              <a:t>be decontaminated </a:t>
            </a:r>
            <a:r>
              <a:rPr lang="en-US" dirty="0"/>
              <a:t>after use to protect future patients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2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ANESTHETIC MANAGEMENT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multisystem and multidisciplinary approach is </a:t>
            </a:r>
            <a:r>
              <a:rPr lang="en-US" dirty="0" smtClean="0"/>
              <a:t>recommended</a:t>
            </a:r>
            <a:endParaRPr lang="en-US" dirty="0"/>
          </a:p>
          <a:p>
            <a:r>
              <a:rPr lang="en-US" dirty="0"/>
              <a:t>Thorough preoperative assessment for status of HIV </a:t>
            </a:r>
            <a:r>
              <a:rPr lang="en-US" dirty="0" smtClean="0"/>
              <a:t>infection includes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History</a:t>
            </a:r>
            <a:r>
              <a:rPr lang="en-US" dirty="0"/>
              <a:t>, including risk </a:t>
            </a:r>
            <a:r>
              <a:rPr lang="en-US" dirty="0" smtClean="0"/>
              <a:t>factors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Physical examination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Laboratory tests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Assess </a:t>
            </a:r>
            <a:r>
              <a:rPr lang="en-US" dirty="0"/>
              <a:t>organ </a:t>
            </a:r>
            <a:r>
              <a:rPr lang="en-US" dirty="0" smtClean="0"/>
              <a:t>involvement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Drug </a:t>
            </a:r>
            <a:r>
              <a:rPr lang="en-US" dirty="0"/>
              <a:t>history and side effects</a:t>
            </a:r>
          </a:p>
        </p:txBody>
      </p:sp>
    </p:spTree>
    <p:extLst>
      <p:ext uri="{BB962C8B-B14F-4D97-AF65-F5344CB8AC3E}">
        <p14:creationId xmlns:p14="http://schemas.microsoft.com/office/powerpoint/2010/main" val="63539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CBC</a:t>
            </a:r>
            <a:endParaRPr lang="en-US" dirty="0"/>
          </a:p>
          <a:p>
            <a:r>
              <a:rPr lang="en-US" dirty="0" smtClean="0"/>
              <a:t>Coagulation profile (consideration </a:t>
            </a:r>
            <a:r>
              <a:rPr lang="en-US" dirty="0"/>
              <a:t>of use of TEG/platelet mapping if available)</a:t>
            </a:r>
          </a:p>
          <a:p>
            <a:r>
              <a:rPr lang="en-US" dirty="0" smtClean="0"/>
              <a:t>RFT, LFT, RBS, electrolyte profile  </a:t>
            </a:r>
            <a:endParaRPr lang="en-US" dirty="0"/>
          </a:p>
          <a:p>
            <a:r>
              <a:rPr lang="en-US" dirty="0" smtClean="0"/>
              <a:t>Viral </a:t>
            </a:r>
            <a:r>
              <a:rPr lang="en-US" dirty="0"/>
              <a:t>load and CD4+ count</a:t>
            </a:r>
          </a:p>
          <a:p>
            <a:r>
              <a:rPr lang="en-US" dirty="0" smtClean="0"/>
              <a:t>Chest </a:t>
            </a:r>
            <a:r>
              <a:rPr lang="en-US" dirty="0"/>
              <a:t>radiography to screen for opportunistic infections &amp;</a:t>
            </a:r>
            <a:r>
              <a:rPr lang="en-US" dirty="0" smtClean="0"/>
              <a:t> tuberculosis</a:t>
            </a:r>
            <a:endParaRPr lang="en-US" dirty="0"/>
          </a:p>
          <a:p>
            <a:r>
              <a:rPr lang="en-US" dirty="0" smtClean="0"/>
              <a:t>Cardiac </a:t>
            </a:r>
            <a:r>
              <a:rPr lang="en-US" dirty="0"/>
              <a:t>evaluation with </a:t>
            </a:r>
            <a:r>
              <a:rPr lang="en-US" dirty="0" smtClean="0"/>
              <a:t>ECG &amp; echo (if </a:t>
            </a:r>
            <a:r>
              <a:rPr lang="en-US" dirty="0"/>
              <a:t>possible) to screen for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22363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Before induction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Possible interaction of the anesthetic agents with ART medications</a:t>
            </a:r>
          </a:p>
          <a:p>
            <a:r>
              <a:rPr lang="en-US" dirty="0" smtClean="0"/>
              <a:t>Adverse effects mimic sign &amp; symptoms of HIV</a:t>
            </a:r>
          </a:p>
          <a:p>
            <a:r>
              <a:rPr lang="en-US" dirty="0" smtClean="0"/>
              <a:t>Side effect may also be caused by drugs that are used to prevent opportunistic infection</a:t>
            </a:r>
          </a:p>
          <a:p>
            <a:r>
              <a:rPr lang="en-US" dirty="0" smtClean="0"/>
              <a:t>Dosing during pregnancy should consider volume of distribution &amp; blood volume</a:t>
            </a:r>
          </a:p>
          <a:p>
            <a:r>
              <a:rPr lang="en-US" dirty="0" smtClean="0"/>
              <a:t>Toxic side effects might affect the fetus &amp; the new born</a:t>
            </a:r>
          </a:p>
          <a:p>
            <a:r>
              <a:rPr lang="en-US" dirty="0"/>
              <a:t>N</a:t>
            </a:r>
            <a:r>
              <a:rPr lang="en-US" dirty="0" smtClean="0"/>
              <a:t>europathy </a:t>
            </a:r>
            <a:r>
              <a:rPr lang="en-US" dirty="0"/>
              <a:t>or myopathy </a:t>
            </a:r>
            <a:r>
              <a:rPr lang="en-US" dirty="0" smtClean="0"/>
              <a:t>may make us change plan &amp; drugs of anesthesia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 of </a:t>
            </a:r>
            <a:r>
              <a:rPr lang="en-US" dirty="0" smtClean="0"/>
              <a:t>or &amp; professionals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Universal precautions with </a:t>
            </a:r>
            <a:r>
              <a:rPr lang="en-US" dirty="0"/>
              <a:t>gloves, aprons, visors </a:t>
            </a:r>
            <a:r>
              <a:rPr lang="en-US" dirty="0" smtClean="0"/>
              <a:t>etc.</a:t>
            </a:r>
          </a:p>
          <a:p>
            <a:r>
              <a:rPr lang="en-US" dirty="0"/>
              <a:t>Sharp object collection devices with appropriate sharps handling</a:t>
            </a:r>
          </a:p>
          <a:p>
            <a:r>
              <a:rPr lang="en-US" dirty="0"/>
              <a:t>N</a:t>
            </a:r>
            <a:r>
              <a:rPr lang="en-US" dirty="0" smtClean="0"/>
              <a:t>o </a:t>
            </a:r>
            <a:r>
              <a:rPr lang="en-US" dirty="0"/>
              <a:t>re-sheathing of </a:t>
            </a:r>
            <a:r>
              <a:rPr lang="en-US" dirty="0" smtClean="0"/>
              <a:t>needles</a:t>
            </a:r>
          </a:p>
          <a:p>
            <a:r>
              <a:rPr lang="en-US" dirty="0"/>
              <a:t>Staff fully aware of protocols in the event of </a:t>
            </a:r>
            <a:r>
              <a:rPr lang="en-US" dirty="0" smtClean="0"/>
              <a:t>occupational exposure: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Rinse </a:t>
            </a:r>
            <a:r>
              <a:rPr lang="en-US" dirty="0"/>
              <a:t>&amp; wash affected area with soap &amp; water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Recipient </a:t>
            </a:r>
            <a:r>
              <a:rPr lang="en-US" dirty="0"/>
              <a:t>lab tests: </a:t>
            </a:r>
            <a:r>
              <a:rPr lang="en-US" dirty="0" smtClean="0"/>
              <a:t>HIV &amp; acute </a:t>
            </a:r>
            <a:r>
              <a:rPr lang="en-US" dirty="0"/>
              <a:t>hepatitis panel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Determine infectious status of </a:t>
            </a:r>
            <a:r>
              <a:rPr lang="en-US" dirty="0" smtClean="0"/>
              <a:t>source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Availability of post exposure prophylaxis to be started </a:t>
            </a:r>
            <a:r>
              <a:rPr lang="en-US" dirty="0" smtClean="0"/>
              <a:t>ASAP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37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 of or &amp; professionals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Hepatitis B immune globulin and/or hepatitis B vaccine</a:t>
            </a:r>
          </a:p>
          <a:p>
            <a:r>
              <a:rPr lang="en-US" dirty="0" smtClean="0"/>
              <a:t>Achieve </a:t>
            </a:r>
            <a:r>
              <a:rPr lang="en-US" dirty="0"/>
              <a:t>early identification of chronic hepatitis C disease</a:t>
            </a:r>
          </a:p>
          <a:p>
            <a:r>
              <a:rPr lang="en-US" dirty="0" smtClean="0"/>
              <a:t>HIV </a:t>
            </a:r>
            <a:r>
              <a:rPr lang="en-US" dirty="0"/>
              <a:t>PEP protocol with 3 or more </a:t>
            </a:r>
            <a:r>
              <a:rPr lang="en-US" dirty="0" smtClean="0"/>
              <a:t>ARTs </a:t>
            </a:r>
            <a:r>
              <a:rPr lang="en-US" dirty="0"/>
              <a:t>if known </a:t>
            </a:r>
            <a:r>
              <a:rPr lang="en-US" dirty="0" smtClean="0"/>
              <a:t>HIV +VE </a:t>
            </a:r>
            <a:r>
              <a:rPr lang="en-US" dirty="0"/>
              <a:t>donor or high-risk patient or with 2 or more </a:t>
            </a:r>
            <a:r>
              <a:rPr lang="en-US" dirty="0" smtClean="0"/>
              <a:t>ARTs if </a:t>
            </a:r>
            <a:r>
              <a:rPr lang="en-US" dirty="0"/>
              <a:t>low </a:t>
            </a:r>
            <a:r>
              <a:rPr lang="en-US" dirty="0" smtClean="0"/>
              <a:t>risk</a:t>
            </a:r>
          </a:p>
          <a:p>
            <a:r>
              <a:rPr lang="en-US" dirty="0" smtClean="0"/>
              <a:t>These ARTs </a:t>
            </a:r>
            <a:r>
              <a:rPr lang="en-US" dirty="0"/>
              <a:t>are given for 4 weeks or until </a:t>
            </a:r>
            <a:r>
              <a:rPr lang="en-US" dirty="0" smtClean="0"/>
              <a:t>source person </a:t>
            </a:r>
            <a:r>
              <a:rPr lang="en-US" dirty="0"/>
              <a:t>is found to </a:t>
            </a:r>
            <a:r>
              <a:rPr lang="en-US" dirty="0" smtClean="0"/>
              <a:t>be -VE </a:t>
            </a:r>
            <a:r>
              <a:rPr lang="en-US" dirty="0"/>
              <a:t>for </a:t>
            </a:r>
            <a:r>
              <a:rPr lang="en-US" dirty="0" smtClean="0"/>
              <a:t>HIV</a:t>
            </a:r>
            <a:endParaRPr lang="en-US" dirty="0"/>
          </a:p>
          <a:p>
            <a:r>
              <a:rPr lang="en-US" dirty="0" smtClean="0"/>
              <a:t>Follow </a:t>
            </a:r>
            <a:r>
              <a:rPr lang="en-US" dirty="0"/>
              <a:t>up with counselling &amp;</a:t>
            </a:r>
            <a:r>
              <a:rPr lang="en-US" dirty="0" smtClean="0"/>
              <a:t> </a:t>
            </a:r>
            <a:r>
              <a:rPr lang="en-US" dirty="0"/>
              <a:t>HIV testing for at least </a:t>
            </a:r>
            <a:r>
              <a:rPr lang="en-US" dirty="0" smtClean="0"/>
              <a:t>6 months </a:t>
            </a:r>
            <a:r>
              <a:rPr lang="en-US" dirty="0"/>
              <a:t>post exposure (tests done at baseline, 6 weeks, </a:t>
            </a:r>
            <a:r>
              <a:rPr lang="en-US" dirty="0" smtClean="0"/>
              <a:t>12 weeks &amp; </a:t>
            </a:r>
            <a:r>
              <a:rPr lang="en-US" dirty="0"/>
              <a:t>6 </a:t>
            </a:r>
            <a:r>
              <a:rPr lang="en-US" dirty="0" smtClean="0"/>
              <a:t>months)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04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Perioperative considerations for the patient with HIV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Minimize </a:t>
            </a:r>
            <a:r>
              <a:rPr lang="en-US" dirty="0"/>
              <a:t>interruptions in </a:t>
            </a:r>
            <a:r>
              <a:rPr lang="en-US" dirty="0" smtClean="0"/>
              <a:t>ART </a:t>
            </a:r>
            <a:r>
              <a:rPr lang="en-US" dirty="0"/>
              <a:t>therapy as possible to </a:t>
            </a:r>
            <a:r>
              <a:rPr lang="en-US" dirty="0" smtClean="0"/>
              <a:t>diminish drug </a:t>
            </a:r>
            <a:r>
              <a:rPr lang="en-US" dirty="0"/>
              <a:t>resistance</a:t>
            </a:r>
          </a:p>
          <a:p>
            <a:r>
              <a:rPr lang="en-US" dirty="0" smtClean="0"/>
              <a:t>Consider </a:t>
            </a:r>
            <a:r>
              <a:rPr lang="en-US" dirty="0"/>
              <a:t>drug interactions with </a:t>
            </a:r>
            <a:r>
              <a:rPr lang="en-US" dirty="0" smtClean="0"/>
              <a:t>ART </a:t>
            </a:r>
            <a:r>
              <a:rPr lang="en-US" dirty="0"/>
              <a:t>with use of drugs </a:t>
            </a:r>
            <a:r>
              <a:rPr lang="en-US" dirty="0" smtClean="0"/>
              <a:t>affected by </a:t>
            </a:r>
            <a:r>
              <a:rPr lang="en-US" dirty="0"/>
              <a:t>hepatic enzyme inhibition and/or induction</a:t>
            </a:r>
          </a:p>
          <a:p>
            <a:r>
              <a:rPr lang="en-US" dirty="0" smtClean="0"/>
              <a:t>Strict </a:t>
            </a:r>
            <a:r>
              <a:rPr lang="en-US" dirty="0"/>
              <a:t>aseptic technique to be exercised as HIV infected </a:t>
            </a:r>
            <a:r>
              <a:rPr lang="en-US" dirty="0" smtClean="0"/>
              <a:t>patients are </a:t>
            </a:r>
            <a:r>
              <a:rPr lang="en-US" dirty="0"/>
              <a:t>immunocompromised &amp;</a:t>
            </a:r>
            <a:r>
              <a:rPr lang="en-US" dirty="0" smtClean="0"/>
              <a:t> </a:t>
            </a:r>
            <a:r>
              <a:rPr lang="en-US" dirty="0"/>
              <a:t>are susceptible to </a:t>
            </a:r>
            <a:r>
              <a:rPr lang="en-US" dirty="0" smtClean="0"/>
              <a:t>bacterial infections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anaesthetic plan should be tailored to the individual </a:t>
            </a:r>
            <a:r>
              <a:rPr lang="en-US" dirty="0" smtClean="0"/>
              <a:t>patient &amp; </a:t>
            </a:r>
            <a:r>
              <a:rPr lang="en-US" dirty="0"/>
              <a:t>the type of </a:t>
            </a:r>
            <a:r>
              <a:rPr lang="en-US" dirty="0" smtClean="0"/>
              <a:t>surgery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1281</TotalTime>
  <Words>2157</Words>
  <Application>Microsoft Office PowerPoint</Application>
  <PresentationFormat>Widescreen</PresentationFormat>
  <Paragraphs>303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Century Gothic</vt:lpstr>
      <vt:lpstr>Wingdings</vt:lpstr>
      <vt:lpstr>Vapor Trail</vt:lpstr>
      <vt:lpstr>HIV &amp; Anesthesia</vt:lpstr>
      <vt:lpstr>HIV</vt:lpstr>
      <vt:lpstr>HIV</vt:lpstr>
      <vt:lpstr>Mode of transmission</vt:lpstr>
      <vt:lpstr>HIGH RISK GROUP</vt:lpstr>
      <vt:lpstr>DIAGNOSIS</vt:lpstr>
      <vt:lpstr>history</vt:lpstr>
      <vt:lpstr>immunosuppression</vt:lpstr>
      <vt:lpstr>investigations</vt:lpstr>
      <vt:lpstr>Clinical stages of hiv</vt:lpstr>
      <vt:lpstr>PowerPoint Presentation</vt:lpstr>
      <vt:lpstr>Systematic effect of HIV CVS</vt:lpstr>
      <vt:lpstr>RESPIRATORY SYSTEM</vt:lpstr>
      <vt:lpstr>GASTROINTESTINAL SYSTEM </vt:lpstr>
      <vt:lpstr>RENAL SYSTEM</vt:lpstr>
      <vt:lpstr>Neurological system</vt:lpstr>
      <vt:lpstr>Neurological system</vt:lpstr>
      <vt:lpstr>Hematological system</vt:lpstr>
      <vt:lpstr>Endocrine &amp; metabolic system</vt:lpstr>
      <vt:lpstr>Endocrine &amp; metabolic system</vt:lpstr>
      <vt:lpstr>ART</vt:lpstr>
      <vt:lpstr>art</vt:lpstr>
      <vt:lpstr>ART</vt:lpstr>
      <vt:lpstr>ART</vt:lpstr>
      <vt:lpstr>SIDE EFFECT</vt:lpstr>
      <vt:lpstr>Side effects</vt:lpstr>
      <vt:lpstr>PowerPoint Presentation</vt:lpstr>
      <vt:lpstr>Drug interaction</vt:lpstr>
      <vt:lpstr>Drug interaction</vt:lpstr>
      <vt:lpstr>Drug interaction</vt:lpstr>
      <vt:lpstr>PowerPoint Presentation</vt:lpstr>
      <vt:lpstr>Regional anesthesia</vt:lpstr>
      <vt:lpstr>Regional anesthesia</vt:lpstr>
      <vt:lpstr>Preoperative evaluations</vt:lpstr>
      <vt:lpstr>Blood transfusion</vt:lpstr>
      <vt:lpstr>CRITICAL CARE</vt:lpstr>
      <vt:lpstr>PAIN</vt:lpstr>
      <vt:lpstr>The child with HIV</vt:lpstr>
      <vt:lpstr>Clinical manifestation in children</vt:lpstr>
      <vt:lpstr>Clinical manifestation in children</vt:lpstr>
      <vt:lpstr>Common surgical conditions in hiv-children</vt:lpstr>
      <vt:lpstr>INFECTON CONTROL</vt:lpstr>
      <vt:lpstr>CAUSES OF TRANSMISSION</vt:lpstr>
      <vt:lpstr>precautions</vt:lpstr>
      <vt:lpstr>Post-exposure steps</vt:lpstr>
      <vt:lpstr>Post-exposure steps</vt:lpstr>
      <vt:lpstr>ANESTHETIC MANAGEMENT PLAN</vt:lpstr>
      <vt:lpstr>INVESTIGATION</vt:lpstr>
      <vt:lpstr>Before induction</vt:lpstr>
      <vt:lpstr>Preparation of or &amp; professionals</vt:lpstr>
      <vt:lpstr>Preparation of or &amp; professionals</vt:lpstr>
      <vt:lpstr>Perioperative considerations for the patient with HIV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 &amp; Anesthesia</dc:title>
  <dc:creator>biruk</dc:creator>
  <cp:lastModifiedBy>biruk</cp:lastModifiedBy>
  <cp:revision>69</cp:revision>
  <dcterms:created xsi:type="dcterms:W3CDTF">2024-03-16T05:26:32Z</dcterms:created>
  <dcterms:modified xsi:type="dcterms:W3CDTF">2024-03-20T16:25:30Z</dcterms:modified>
</cp:coreProperties>
</file>