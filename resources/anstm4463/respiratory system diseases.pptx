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5"/>
  </p:notesMasterIdLst>
  <p:sldIdLst>
    <p:sldId id="256" r:id="rId2"/>
    <p:sldId id="257" r:id="rId3"/>
    <p:sldId id="258" r:id="rId4"/>
    <p:sldId id="259" r:id="rId5"/>
    <p:sldId id="261" r:id="rId6"/>
    <p:sldId id="263" r:id="rId7"/>
    <p:sldId id="262" r:id="rId8"/>
    <p:sldId id="267" r:id="rId9"/>
    <p:sldId id="268" r:id="rId10"/>
    <p:sldId id="271" r:id="rId11"/>
    <p:sldId id="272" r:id="rId12"/>
    <p:sldId id="273" r:id="rId13"/>
    <p:sldId id="269" r:id="rId14"/>
    <p:sldId id="266" r:id="rId15"/>
    <p:sldId id="274" r:id="rId16"/>
    <p:sldId id="270" r:id="rId17"/>
    <p:sldId id="264" r:id="rId18"/>
    <p:sldId id="265" r:id="rId19"/>
    <p:sldId id="277" r:id="rId20"/>
    <p:sldId id="278" r:id="rId21"/>
    <p:sldId id="279" r:id="rId22"/>
    <p:sldId id="280" r:id="rId23"/>
    <p:sldId id="282" r:id="rId24"/>
    <p:sldId id="281" r:id="rId25"/>
    <p:sldId id="283" r:id="rId26"/>
    <p:sldId id="284" r:id="rId27"/>
    <p:sldId id="285" r:id="rId28"/>
    <p:sldId id="287" r:id="rId29"/>
    <p:sldId id="290" r:id="rId30"/>
    <p:sldId id="291" r:id="rId31"/>
    <p:sldId id="288" r:id="rId32"/>
    <p:sldId id="292" r:id="rId33"/>
    <p:sldId id="286" r:id="rId34"/>
    <p:sldId id="275" r:id="rId35"/>
    <p:sldId id="276" r:id="rId36"/>
    <p:sldId id="289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19" r:id="rId52"/>
    <p:sldId id="320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21" r:id="rId74"/>
    <p:sldId id="330" r:id="rId75"/>
    <p:sldId id="331" r:id="rId76"/>
    <p:sldId id="335" r:id="rId77"/>
    <p:sldId id="336" r:id="rId78"/>
    <p:sldId id="337" r:id="rId79"/>
    <p:sldId id="338" r:id="rId80"/>
    <p:sldId id="332" r:id="rId81"/>
    <p:sldId id="333" r:id="rId82"/>
    <p:sldId id="334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64" r:id="rId104"/>
    <p:sldId id="359" r:id="rId105"/>
    <p:sldId id="360" r:id="rId106"/>
    <p:sldId id="361" r:id="rId107"/>
    <p:sldId id="362" r:id="rId108"/>
    <p:sldId id="363" r:id="rId109"/>
    <p:sldId id="365" r:id="rId110"/>
    <p:sldId id="366" r:id="rId111"/>
    <p:sldId id="367" r:id="rId112"/>
    <p:sldId id="368" r:id="rId113"/>
    <p:sldId id="369" r:id="rId114"/>
    <p:sldId id="370" r:id="rId115"/>
    <p:sldId id="371" r:id="rId116"/>
    <p:sldId id="372" r:id="rId117"/>
    <p:sldId id="373" r:id="rId118"/>
    <p:sldId id="374" r:id="rId119"/>
    <p:sldId id="375" r:id="rId120"/>
    <p:sldId id="376" r:id="rId121"/>
    <p:sldId id="377" r:id="rId122"/>
    <p:sldId id="378" r:id="rId123"/>
    <p:sldId id="379" r:id="rId1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201" autoAdjust="0"/>
  </p:normalViewPr>
  <p:slideViewPr>
    <p:cSldViewPr snapToGrid="0">
      <p:cViewPr varScale="1">
        <p:scale>
          <a:sx n="63" d="100"/>
          <a:sy n="63" d="100"/>
        </p:scale>
        <p:origin x="3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tableStyles" Target="tableStyle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F37FB-CFCA-4265-AFF4-55E91D335939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3FBA5D-9A34-4EEB-AECA-F8E35561E9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575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normal QRS axis should be between -30 and +90 degrees. Left axis deviation is defined as the major QRS vector, falling between -30 and -90 degrees. Right axis deviation occurs with the QRS axis and is between +90 and +180 degrees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3FBA5D-9A34-4EEB-AECA-F8E35561E98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066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3FBA5D-9A34-4EEB-AECA-F8E35561E98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6263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3FBA5D-9A34-4EEB-AECA-F8E35561E98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765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flow-volume loop (F/V-loop) is a presentation of inhalation and exhalation of air stream volume during inspiration and expiration. It demonstrates the obstructive, restrictive and mixed pattern lung pathology.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3FBA5D-9A34-4EEB-AECA-F8E35561E988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7072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Flow-volume curves in different conditions: obstructive</a:t>
            </a:r>
          </a:p>
          <a:p>
            <a:r>
              <a:rPr lang="en-US" dirty="0" smtClean="0"/>
              <a:t>disease, O; </a:t>
            </a:r>
            <a:r>
              <a:rPr lang="en-US" dirty="0" err="1" smtClean="0"/>
              <a:t>extraparenchymal</a:t>
            </a:r>
            <a:r>
              <a:rPr lang="en-US" dirty="0" smtClean="0"/>
              <a:t> restrictive disease with limitation in</a:t>
            </a:r>
          </a:p>
          <a:p>
            <a:r>
              <a:rPr lang="en-US" dirty="0" smtClean="0"/>
              <a:t>inspiration and expiration, R(E); and parenchymal restrictive disease,</a:t>
            </a:r>
          </a:p>
          <a:p>
            <a:r>
              <a:rPr lang="en-US" dirty="0" smtClean="0"/>
              <a:t>R(P). Forced expiration is plotted for all conditions; forced inspiration is shown only for the normal curve. By convention, lung volume</a:t>
            </a:r>
          </a:p>
          <a:p>
            <a:r>
              <a:rPr lang="en-US" dirty="0" smtClean="0"/>
              <a:t>increases to the left on the abscissa. The arrow alongside the normal</a:t>
            </a:r>
          </a:p>
          <a:p>
            <a:r>
              <a:rPr lang="en-US" dirty="0" smtClean="0"/>
              <a:t>curve indicates the direction of expiration from total lung capacity</a:t>
            </a:r>
          </a:p>
          <a:p>
            <a:r>
              <a:rPr lang="en-US" dirty="0" smtClean="0"/>
              <a:t>(TLC) to residual volume (RV)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3FBA5D-9A34-4EEB-AECA-F8E35561E988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4587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3FBA5D-9A34-4EEB-AECA-F8E35561E988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819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1A62B-3BE8-45B7-A2EB-F75252C1A648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34D5-E8D0-48BD-AF3A-FEC3C6135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894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1A62B-3BE8-45B7-A2EB-F75252C1A648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34D5-E8D0-48BD-AF3A-FEC3C6135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326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1A62B-3BE8-45B7-A2EB-F75252C1A648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34D5-E8D0-48BD-AF3A-FEC3C6135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915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1A62B-3BE8-45B7-A2EB-F75252C1A648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34D5-E8D0-48BD-AF3A-FEC3C6135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491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1A62B-3BE8-45B7-A2EB-F75252C1A648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34D5-E8D0-48BD-AF3A-FEC3C6135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377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1A62B-3BE8-45B7-A2EB-F75252C1A648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34D5-E8D0-48BD-AF3A-FEC3C6135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311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1A62B-3BE8-45B7-A2EB-F75252C1A648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34D5-E8D0-48BD-AF3A-FEC3C6135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063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1A62B-3BE8-45B7-A2EB-F75252C1A648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34D5-E8D0-48BD-AF3A-FEC3C6135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281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1A62B-3BE8-45B7-A2EB-F75252C1A648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34D5-E8D0-48BD-AF3A-FEC3C6135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609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1A62B-3BE8-45B7-A2EB-F75252C1A648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34D5-E8D0-48BD-AF3A-FEC3C6135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85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1A62B-3BE8-45B7-A2EB-F75252C1A648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34D5-E8D0-48BD-AF3A-FEC3C6135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782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1A62B-3BE8-45B7-A2EB-F75252C1A648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F934D5-E8D0-48BD-AF3A-FEC3C6135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831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Anesthesia for diseases of the RS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Biruk T.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402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Management of anesthesia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</a:t>
            </a:r>
            <a:r>
              <a:rPr lang="en-US" dirty="0" smtClean="0"/>
              <a:t>ccurrence of severe bronchospasm is 0.2 </a:t>
            </a:r>
            <a:r>
              <a:rPr lang="en-US" dirty="0" err="1" smtClean="0"/>
              <a:t>upto</a:t>
            </a:r>
            <a:r>
              <a:rPr lang="en-US" dirty="0" smtClean="0"/>
              <a:t> 4.2 % under all GA</a:t>
            </a:r>
          </a:p>
          <a:p>
            <a:r>
              <a:rPr lang="en-US" dirty="0" smtClean="0"/>
              <a:t>Risk factors for the development of bronchospasm includes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Type of surgery (abdominal and oncologic surgeries)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Recent asthmatic attack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64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Effect of GA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General anesthesia increase the airway resistance due to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depression of cough reflex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impaired </a:t>
            </a:r>
            <a:r>
              <a:rPr lang="en-US" dirty="0" err="1" smtClean="0"/>
              <a:t>mucocilliary</a:t>
            </a:r>
            <a:r>
              <a:rPr lang="en-US" dirty="0" smtClean="0"/>
              <a:t> function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decreased </a:t>
            </a:r>
            <a:r>
              <a:rPr lang="en-US" dirty="0" err="1" smtClean="0"/>
              <a:t>palatopharyngeal</a:t>
            </a:r>
            <a:r>
              <a:rPr lang="en-US" dirty="0" smtClean="0"/>
              <a:t> muscle tone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depression of diaphragmatic function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810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Effect of GA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</a:t>
            </a:r>
            <a:r>
              <a:rPr lang="en-US" dirty="0" smtClean="0"/>
              <a:t>ncreased fluid in the airway wall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E</a:t>
            </a:r>
            <a:r>
              <a:rPr lang="en-US" dirty="0" smtClean="0"/>
              <a:t>ndotracheal intubation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</a:t>
            </a:r>
            <a:r>
              <a:rPr lang="en-US" dirty="0" smtClean="0"/>
              <a:t>ctivation of the parasympathetic nervous system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R</a:t>
            </a:r>
            <a:r>
              <a:rPr lang="en-US" dirty="0" smtClean="0"/>
              <a:t>elease of neurotransmitters of pain such as substance P  &amp; </a:t>
            </a:r>
            <a:r>
              <a:rPr lang="en-US" dirty="0" err="1" smtClean="0"/>
              <a:t>neurokinines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497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Characteristics of asthma to be evaluated preoperatively</a:t>
            </a:r>
            <a:endParaRPr lang="en-US" sz="32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47164"/>
            <a:ext cx="8128379" cy="3493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259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Severity assessment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4651" y="1690688"/>
            <a:ext cx="8120418" cy="4355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027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Preoperative assessment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Severity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Effectiveness of treatment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Pharmacological management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The need for additional therapy before surgery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Characteristics of asthma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739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Preoperative evaluation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Goal of preoperative </a:t>
            </a:r>
            <a:r>
              <a:rPr lang="en-US" dirty="0" smtClean="0"/>
              <a:t>evaluation: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To </a:t>
            </a:r>
            <a:r>
              <a:rPr lang="en-US" dirty="0"/>
              <a:t>formulate anesthetic plan </a:t>
            </a:r>
            <a:r>
              <a:rPr lang="en-US" dirty="0" smtClean="0"/>
              <a:t>that </a:t>
            </a:r>
            <a:r>
              <a:rPr lang="en-US" dirty="0"/>
              <a:t>prevent or blunt expiratory airflow </a:t>
            </a:r>
            <a:r>
              <a:rPr lang="en-US" dirty="0" smtClean="0"/>
              <a:t>obstruction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Preoperative evaluation begins with a history to elicit the</a:t>
            </a:r>
            <a:br>
              <a:rPr lang="en-US" dirty="0"/>
            </a:br>
            <a:r>
              <a:rPr lang="en-US" dirty="0"/>
              <a:t>severity and characteristics of the patient’s </a:t>
            </a:r>
            <a:r>
              <a:rPr lang="en-US" dirty="0" smtClean="0"/>
              <a:t>asthma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On PE </a:t>
            </a:r>
            <a:r>
              <a:rPr lang="en-US" dirty="0"/>
              <a:t>the general appearance </a:t>
            </a:r>
            <a:r>
              <a:rPr lang="en-US" dirty="0" smtClean="0"/>
              <a:t>of the </a:t>
            </a:r>
            <a:r>
              <a:rPr lang="en-US" dirty="0"/>
              <a:t>patient and any use of accessory muscles of </a:t>
            </a:r>
            <a:r>
              <a:rPr lang="en-US" dirty="0" smtClean="0"/>
              <a:t>respiration should </a:t>
            </a:r>
            <a:r>
              <a:rPr lang="en-US" dirty="0"/>
              <a:t>be </a:t>
            </a:r>
            <a:r>
              <a:rPr lang="en-US" dirty="0" smtClean="0"/>
              <a:t>noted</a:t>
            </a:r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r>
              <a:rPr lang="en-US" dirty="0" smtClean="0"/>
              <a:t>Auscultation </a:t>
            </a:r>
            <a:r>
              <a:rPr lang="en-US" dirty="0"/>
              <a:t>of the chest to detect wheezing or </a:t>
            </a:r>
            <a:r>
              <a:rPr lang="en-US" dirty="0" smtClean="0"/>
              <a:t>crepitation </a:t>
            </a:r>
            <a:r>
              <a:rPr lang="en-US" dirty="0"/>
              <a:t>is </a:t>
            </a:r>
            <a:r>
              <a:rPr lang="en-US" dirty="0" smtClean="0"/>
              <a:t>important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815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Investigation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Blood </a:t>
            </a:r>
            <a:r>
              <a:rPr lang="en-US" dirty="0"/>
              <a:t>eosinophil </a:t>
            </a:r>
            <a:r>
              <a:rPr lang="en-US" dirty="0" smtClean="0"/>
              <a:t>counts often </a:t>
            </a:r>
            <a:r>
              <a:rPr lang="en-US" dirty="0"/>
              <a:t>parallel the degree of airway </a:t>
            </a:r>
            <a:r>
              <a:rPr lang="en-US" dirty="0" smtClean="0"/>
              <a:t>inflammation</a:t>
            </a:r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r>
              <a:rPr lang="en-US" dirty="0" smtClean="0"/>
              <a:t>Airway hyper reactivity </a:t>
            </a:r>
            <a:r>
              <a:rPr lang="en-US" dirty="0"/>
              <a:t>provides an indirect assessment of the current status of the </a:t>
            </a:r>
            <a:r>
              <a:rPr lang="en-US" dirty="0" smtClean="0"/>
              <a:t>disease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PFTs (especially FEV1) performed</a:t>
            </a:r>
            <a:br>
              <a:rPr lang="en-US" dirty="0"/>
            </a:br>
            <a:r>
              <a:rPr lang="en-US" dirty="0"/>
              <a:t>before and after bronchodilator therapy </a:t>
            </a:r>
            <a:r>
              <a:rPr lang="en-US" dirty="0" smtClean="0"/>
              <a:t>may </a:t>
            </a:r>
            <a:r>
              <a:rPr lang="en-US" dirty="0"/>
              <a:t>be indicated </a:t>
            </a:r>
            <a:r>
              <a:rPr lang="en-US" dirty="0" smtClean="0"/>
              <a:t>inpatients </a:t>
            </a:r>
            <a:r>
              <a:rPr lang="en-US" dirty="0"/>
              <a:t>scheduled for major </a:t>
            </a:r>
            <a:r>
              <a:rPr lang="en-US" dirty="0" smtClean="0"/>
              <a:t>surgery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reduction in FEV1 </a:t>
            </a:r>
            <a:r>
              <a:rPr lang="en-US" dirty="0" smtClean="0"/>
              <a:t>or FVC &lt; 70</a:t>
            </a:r>
            <a:r>
              <a:rPr lang="en-US" dirty="0"/>
              <a:t>% of </a:t>
            </a:r>
            <a:r>
              <a:rPr lang="en-US" dirty="0" smtClean="0"/>
              <a:t>predicted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FEV1:FVC &lt; 65</a:t>
            </a:r>
            <a:r>
              <a:rPr lang="en-US" dirty="0"/>
              <a:t>% of predicted, </a:t>
            </a:r>
            <a:r>
              <a:rPr lang="en-US" dirty="0" smtClean="0"/>
              <a:t>usually </a:t>
            </a:r>
            <a:r>
              <a:rPr lang="en-US" dirty="0"/>
              <a:t>considered a risk factor for perioperative </a:t>
            </a:r>
            <a:r>
              <a:rPr lang="en-US" dirty="0" smtClean="0"/>
              <a:t>respiratory complications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027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Investigation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PFT/Spirometry</a:t>
            </a:r>
            <a:r>
              <a:rPr lang="en-US" b="1" dirty="0" smtClean="0"/>
              <a:t>: </a:t>
            </a:r>
            <a:r>
              <a:rPr lang="en-US" dirty="0" smtClean="0"/>
              <a:t>helps </a:t>
            </a:r>
            <a:r>
              <a:rPr lang="en-US" dirty="0"/>
              <a:t>for chronic and uncontrolled asthmatic </a:t>
            </a:r>
            <a:r>
              <a:rPr lang="en-US" dirty="0" smtClean="0"/>
              <a:t>patients</a:t>
            </a:r>
          </a:p>
          <a:p>
            <a:r>
              <a:rPr lang="en-US" dirty="0" smtClean="0"/>
              <a:t> To determine airflow </a:t>
            </a:r>
            <a:r>
              <a:rPr lang="en-US" dirty="0"/>
              <a:t>obstruction is at least partially reversible after use of bronchodilators </a:t>
            </a:r>
            <a:endParaRPr lang="en-US" dirty="0" smtClean="0"/>
          </a:p>
          <a:p>
            <a:r>
              <a:rPr lang="en-US" dirty="0"/>
              <a:t>R</a:t>
            </a:r>
            <a:r>
              <a:rPr lang="en-US" dirty="0" smtClean="0"/>
              <a:t>eversibility </a:t>
            </a:r>
            <a:r>
              <a:rPr lang="en-US" dirty="0"/>
              <a:t>is indicated by an increase of at least 12% in FEV1 from baseline</a:t>
            </a:r>
            <a:r>
              <a:rPr lang="en-US" dirty="0" smtClean="0"/>
              <a:t>.</a:t>
            </a:r>
          </a:p>
          <a:p>
            <a:r>
              <a:rPr lang="en-US" dirty="0" smtClean="0"/>
              <a:t>In </a:t>
            </a:r>
            <a:r>
              <a:rPr lang="en-US" dirty="0"/>
              <a:t>adults, an increase in FEV1 of </a:t>
            </a:r>
            <a:r>
              <a:rPr lang="en-US" dirty="0" smtClean="0"/>
              <a:t>&gt; 200</a:t>
            </a:r>
            <a:r>
              <a:rPr lang="en-US" dirty="0"/>
              <a:t> mL from baseline also constitutes </a:t>
            </a:r>
            <a:r>
              <a:rPr lang="en-US" dirty="0" smtClean="0"/>
              <a:t>reversibility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8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Investigation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Electrocardiogram (ECG): asthmatic patients may show 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R</a:t>
            </a:r>
            <a:r>
              <a:rPr lang="en-US" dirty="0" smtClean="0"/>
              <a:t>ight atrial or ventricular hypertrophy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A</a:t>
            </a:r>
            <a:r>
              <a:rPr lang="en-US" dirty="0" smtClean="0"/>
              <a:t>cute strain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R</a:t>
            </a:r>
            <a:r>
              <a:rPr lang="en-US" dirty="0" smtClean="0"/>
              <a:t>ight axis deviation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R</a:t>
            </a:r>
            <a:r>
              <a:rPr lang="en-US" dirty="0" smtClean="0"/>
              <a:t>ight bundle branch block</a:t>
            </a:r>
          </a:p>
          <a:p>
            <a:r>
              <a:rPr lang="en-US" dirty="0" smtClean="0"/>
              <a:t>we should routinely check an ECG during and after the acute attack for comparison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402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Investigation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Chest x-rays: </a:t>
            </a:r>
            <a:r>
              <a:rPr lang="en-US" dirty="0" smtClean="0"/>
              <a:t>rule </a:t>
            </a:r>
            <a:r>
              <a:rPr lang="en-US" dirty="0"/>
              <a:t>out pneumonia or heart </a:t>
            </a:r>
            <a:r>
              <a:rPr lang="en-US" dirty="0" smtClean="0"/>
              <a:t>failure</a:t>
            </a:r>
          </a:p>
          <a:p>
            <a:r>
              <a:rPr lang="en-US" dirty="0" smtClean="0"/>
              <a:t>Hyperinflation </a:t>
            </a:r>
            <a:r>
              <a:rPr lang="en-US" dirty="0"/>
              <a:t>and increased lung markings, bronchial thickening are</a:t>
            </a:r>
            <a:br>
              <a:rPr lang="en-US" dirty="0"/>
            </a:br>
            <a:r>
              <a:rPr lang="en-US" dirty="0"/>
              <a:t>common radiographic findings of asthma </a:t>
            </a:r>
            <a:endParaRPr lang="en-US" dirty="0" smtClean="0"/>
          </a:p>
          <a:p>
            <a:r>
              <a:rPr lang="en-US" dirty="0"/>
              <a:t>H</a:t>
            </a:r>
            <a:r>
              <a:rPr lang="en-US" dirty="0" smtClean="0"/>
              <a:t>as </a:t>
            </a:r>
            <a:r>
              <a:rPr lang="en-US" dirty="0"/>
              <a:t>little value </a:t>
            </a:r>
            <a:r>
              <a:rPr lang="en-US" dirty="0" smtClean="0"/>
              <a:t>in formulating </a:t>
            </a:r>
            <a:r>
              <a:rPr lang="en-US" dirty="0"/>
              <a:t>changes in </a:t>
            </a:r>
            <a:r>
              <a:rPr lang="en-US" dirty="0" smtClean="0"/>
              <a:t>therapy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668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Reversible component of asthma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Preoperative physiotherapy</a:t>
            </a:r>
          </a:p>
          <a:p>
            <a:r>
              <a:rPr lang="en-US" dirty="0" smtClean="0"/>
              <a:t>Antibiotics</a:t>
            </a:r>
          </a:p>
          <a:p>
            <a:r>
              <a:rPr lang="en-US" dirty="0" smtClean="0"/>
              <a:t>Bronchodilators </a:t>
            </a:r>
          </a:p>
          <a:p>
            <a:r>
              <a:rPr lang="en-US" dirty="0" smtClean="0"/>
              <a:t>Ventilation and oxygenation issue can be investigated using ABG (arterial blood gas analysis)</a:t>
            </a:r>
          </a:p>
          <a:p>
            <a:r>
              <a:rPr lang="en-US" dirty="0" smtClean="0"/>
              <a:t>Continue anti- inflammatory &amp; bronchodilator therapy perioperatively</a:t>
            </a:r>
          </a:p>
          <a:p>
            <a:r>
              <a:rPr lang="en-US" dirty="0" smtClean="0"/>
              <a:t>‘’stress dose’’ hydrocortisone or methyl prednisolone – if patient is taking corticosteroid therapy for ≥ 6 months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103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Requirement for PFT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9264" y="1690688"/>
            <a:ext cx="10536071" cy="475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189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1080" y="716280"/>
            <a:ext cx="9784080" cy="492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4815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selected patients a preoperative course of oral corticosteroids may be useful to improve overall lung function</a:t>
            </a:r>
          </a:p>
          <a:p>
            <a:r>
              <a:rPr lang="en-US" dirty="0" smtClean="0"/>
              <a:t>Patients should be free of wheezing</a:t>
            </a:r>
          </a:p>
          <a:p>
            <a:r>
              <a:rPr lang="en-US" dirty="0" smtClean="0"/>
              <a:t>PEFR(peak expiratory flow rate- &gt; 80% of predicted or at the patient’s personal best value before surgery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709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Preoperative control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5911" y="1869742"/>
            <a:ext cx="9212238" cy="4503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6214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Preoperative control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9558" y="1910687"/>
            <a:ext cx="9376012" cy="3576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84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Induction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Deep anesthesia with IV anesthetics</a:t>
            </a:r>
          </a:p>
          <a:p>
            <a:r>
              <a:rPr lang="en-US" dirty="0" smtClean="0"/>
              <a:t>Ventilate the lung IAAs after induction of GA</a:t>
            </a:r>
          </a:p>
          <a:p>
            <a:r>
              <a:rPr lang="en-US" dirty="0" smtClean="0"/>
              <a:t>Use of ultrashort acting opioids (remifentanil)</a:t>
            </a:r>
          </a:p>
          <a:p>
            <a:r>
              <a:rPr lang="en-US" dirty="0" smtClean="0"/>
              <a:t>Avoiding bronchospasm as it is life threatening complication that can lead to hypoxia, irreversible brain damage ultimately death due to inability to ventilate</a:t>
            </a:r>
          </a:p>
          <a:p>
            <a:r>
              <a:rPr lang="en-US" dirty="0" smtClean="0"/>
              <a:t>Light plane of anesthesia with airway instrumentation leads to bronchospasm </a:t>
            </a:r>
          </a:p>
        </p:txBody>
      </p:sp>
    </p:spTree>
    <p:extLst>
      <p:ext uri="{BB962C8B-B14F-4D97-AF65-F5344CB8AC3E}">
        <p14:creationId xmlns:p14="http://schemas.microsoft.com/office/powerpoint/2010/main" val="5156723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Regional </a:t>
            </a:r>
            <a:r>
              <a:rPr lang="en-US" dirty="0"/>
              <a:t>anesthesia is </a:t>
            </a:r>
            <a:r>
              <a:rPr lang="en-US" dirty="0" smtClean="0"/>
              <a:t>preferred </a:t>
            </a:r>
            <a:r>
              <a:rPr lang="en-US" dirty="0"/>
              <a:t>technique to avoid airway instrumentation</a:t>
            </a:r>
          </a:p>
          <a:p>
            <a:r>
              <a:rPr lang="en-US" dirty="0" smtClean="0"/>
              <a:t>High </a:t>
            </a:r>
            <a:r>
              <a:rPr lang="en-US" dirty="0"/>
              <a:t>sensory block causing sympathetic block to result in bronchoconstriction is unfounded</a:t>
            </a:r>
          </a:p>
          <a:p>
            <a:r>
              <a:rPr lang="en-US" dirty="0"/>
              <a:t>propofol is </a:t>
            </a:r>
            <a:r>
              <a:rPr lang="en-US" dirty="0" smtClean="0"/>
              <a:t>preferred induction </a:t>
            </a:r>
            <a:r>
              <a:rPr lang="en-US" dirty="0"/>
              <a:t>drug for hemodynamically stable </a:t>
            </a:r>
            <a:r>
              <a:rPr lang="en-US" dirty="0" smtClean="0"/>
              <a:t>patients </a:t>
            </a:r>
          </a:p>
          <a:p>
            <a:r>
              <a:rPr lang="en-US" dirty="0"/>
              <a:t>I</a:t>
            </a:r>
            <a:r>
              <a:rPr lang="en-US" dirty="0" smtClean="0"/>
              <a:t>f </a:t>
            </a:r>
            <a:r>
              <a:rPr lang="en-US" dirty="0"/>
              <a:t>patients hemodynamics is unstable ketamine can be a preferred choice of IV anesthetic drug</a:t>
            </a:r>
          </a:p>
          <a:p>
            <a:r>
              <a:rPr lang="en-US" dirty="0" smtClean="0"/>
              <a:t>Sevoflurane </a:t>
            </a:r>
            <a:r>
              <a:rPr lang="en-US" dirty="0"/>
              <a:t>better than isoflurane and desflurane </a:t>
            </a:r>
            <a:r>
              <a:rPr lang="en-US" dirty="0" smtClean="0"/>
              <a:t>in terms </a:t>
            </a:r>
            <a:r>
              <a:rPr lang="en-US" dirty="0"/>
              <a:t>of pungency to avoid stimulating airway reflex</a:t>
            </a:r>
          </a:p>
        </p:txBody>
      </p:sp>
    </p:spTree>
    <p:extLst>
      <p:ext uri="{BB962C8B-B14F-4D97-AF65-F5344CB8AC3E}">
        <p14:creationId xmlns:p14="http://schemas.microsoft.com/office/powerpoint/2010/main" val="35004847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Opioids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Another </a:t>
            </a:r>
            <a:r>
              <a:rPr lang="en-US" dirty="0"/>
              <a:t>option is giving IV lidocaine 1.5 mg/kg several minute before airway instrumentation </a:t>
            </a:r>
          </a:p>
          <a:p>
            <a:r>
              <a:rPr lang="en-US" dirty="0" smtClean="0"/>
              <a:t>Opioids </a:t>
            </a:r>
            <a:r>
              <a:rPr lang="en-US" dirty="0"/>
              <a:t>help in providing deeper level of anesthesia to </a:t>
            </a:r>
            <a:r>
              <a:rPr lang="en-US" dirty="0" smtClean="0"/>
              <a:t>suppress </a:t>
            </a:r>
            <a:r>
              <a:rPr lang="en-US" dirty="0"/>
              <a:t>airway </a:t>
            </a:r>
            <a:r>
              <a:rPr lang="en-US" dirty="0" smtClean="0"/>
              <a:t>reflex </a:t>
            </a:r>
          </a:p>
          <a:p>
            <a:r>
              <a:rPr lang="en-US" dirty="0"/>
              <a:t>M</a:t>
            </a:r>
            <a:r>
              <a:rPr lang="en-US" dirty="0" smtClean="0"/>
              <a:t>ost opioids </a:t>
            </a:r>
            <a:r>
              <a:rPr lang="en-US" dirty="0"/>
              <a:t>release histamine that provide a risk factor for the development of </a:t>
            </a:r>
            <a:r>
              <a:rPr lang="en-US" dirty="0" smtClean="0"/>
              <a:t>bronchospasm </a:t>
            </a:r>
          </a:p>
          <a:p>
            <a:r>
              <a:rPr lang="en-US" dirty="0"/>
              <a:t>F</a:t>
            </a:r>
            <a:r>
              <a:rPr lang="en-US" dirty="0" smtClean="0"/>
              <a:t>entanyl </a:t>
            </a:r>
            <a:r>
              <a:rPr lang="en-US" dirty="0"/>
              <a:t>and its alike are </a:t>
            </a:r>
            <a:r>
              <a:rPr lang="en-US" dirty="0" smtClean="0"/>
              <a:t>safe </a:t>
            </a:r>
          </a:p>
          <a:p>
            <a:r>
              <a:rPr lang="en-US" dirty="0"/>
              <a:t>R</a:t>
            </a:r>
            <a:r>
              <a:rPr lang="en-US" dirty="0" smtClean="0"/>
              <a:t>emifentanil </a:t>
            </a:r>
            <a:r>
              <a:rPr lang="en-US" dirty="0"/>
              <a:t>is the best due to its ultra short acting </a:t>
            </a:r>
            <a:r>
              <a:rPr lang="en-US" dirty="0" smtClean="0"/>
              <a:t>effect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503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Muscle relaxants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NDMR </a:t>
            </a:r>
            <a:r>
              <a:rPr lang="en-US" dirty="0"/>
              <a:t>can be used for skeletal muscle </a:t>
            </a:r>
            <a:r>
              <a:rPr lang="en-US" dirty="0" smtClean="0"/>
              <a:t>relaxation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A</a:t>
            </a:r>
            <a:r>
              <a:rPr lang="en-US" dirty="0" smtClean="0"/>
              <a:t>s </a:t>
            </a:r>
            <a:r>
              <a:rPr lang="en-US" dirty="0"/>
              <a:t>much as </a:t>
            </a:r>
            <a:r>
              <a:rPr lang="en-US" dirty="0" smtClean="0"/>
              <a:t>possible its </a:t>
            </a:r>
            <a:r>
              <a:rPr lang="en-US" dirty="0"/>
              <a:t>better to </a:t>
            </a:r>
            <a:r>
              <a:rPr lang="en-US" dirty="0" smtClean="0"/>
              <a:t>use </a:t>
            </a:r>
            <a:r>
              <a:rPr lang="en-US" dirty="0"/>
              <a:t>NDMRs that </a:t>
            </a:r>
            <a:r>
              <a:rPr lang="en-US" dirty="0" smtClean="0"/>
              <a:t>doesn't </a:t>
            </a:r>
            <a:r>
              <a:rPr lang="en-US" dirty="0"/>
              <a:t>cause release of </a:t>
            </a:r>
            <a:r>
              <a:rPr lang="en-US" dirty="0" smtClean="0"/>
              <a:t>histamine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Mivarurium, Atracurium </a:t>
            </a:r>
            <a:r>
              <a:rPr lang="en-US" dirty="0"/>
              <a:t>and </a:t>
            </a:r>
            <a:r>
              <a:rPr lang="en-US" dirty="0" smtClean="0"/>
              <a:t>tubocurarine are NDMRs that are associated with significant histamine release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0759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Muscle relaxants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20895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NMBDs </a:t>
            </a:r>
            <a:r>
              <a:rPr lang="en-US" dirty="0"/>
              <a:t>agents </a:t>
            </a:r>
            <a:r>
              <a:rPr lang="en-US" dirty="0" smtClean="0"/>
              <a:t>cause </a:t>
            </a:r>
            <a:r>
              <a:rPr lang="en-US" dirty="0"/>
              <a:t>allergic reactions in the </a:t>
            </a:r>
            <a:r>
              <a:rPr lang="en-US" dirty="0" smtClean="0"/>
              <a:t>OR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Even </a:t>
            </a:r>
            <a:r>
              <a:rPr lang="en-US" dirty="0"/>
              <a:t>though, suxamethonium can releases low levels of </a:t>
            </a:r>
            <a:r>
              <a:rPr lang="en-US" dirty="0" smtClean="0"/>
              <a:t>histamine</a:t>
            </a:r>
          </a:p>
          <a:p>
            <a:r>
              <a:rPr lang="en-US" dirty="0"/>
              <a:t>U</a:t>
            </a:r>
            <a:r>
              <a:rPr lang="en-US" dirty="0" smtClean="0"/>
              <a:t>seful </a:t>
            </a:r>
            <a:r>
              <a:rPr lang="en-US" dirty="0"/>
              <a:t>for the asthmatic that needs a </a:t>
            </a:r>
            <a:r>
              <a:rPr lang="en-US" dirty="0" smtClean="0"/>
              <a:t>RSIs </a:t>
            </a:r>
            <a:r>
              <a:rPr lang="en-US" dirty="0"/>
              <a:t>in</a:t>
            </a:r>
            <a:br>
              <a:rPr lang="en-US" dirty="0"/>
            </a:br>
            <a:r>
              <a:rPr lang="en-US" dirty="0"/>
              <a:t>low resource settings without significant morbidity &amp;</a:t>
            </a:r>
            <a:r>
              <a:rPr lang="en-US" dirty="0" smtClean="0"/>
              <a:t> </a:t>
            </a:r>
            <a:r>
              <a:rPr lang="en-US" dirty="0"/>
              <a:t>mortality 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Vecuronium</a:t>
            </a:r>
            <a:r>
              <a:rPr lang="en-US" dirty="0"/>
              <a:t>, rocuronium, and </a:t>
            </a:r>
            <a:r>
              <a:rPr lang="en-US" dirty="0" smtClean="0"/>
              <a:t>cis-</a:t>
            </a:r>
            <a:r>
              <a:rPr lang="en-US" dirty="0" err="1" smtClean="0"/>
              <a:t>atracurium</a:t>
            </a:r>
            <a:r>
              <a:rPr lang="en-US" dirty="0" smtClean="0"/>
              <a:t> </a:t>
            </a:r>
            <a:r>
              <a:rPr lang="en-US" dirty="0"/>
              <a:t>are safe for use in asthmatics during induction and maintenance 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Pancuronium </a:t>
            </a:r>
            <a:r>
              <a:rPr lang="en-US" dirty="0"/>
              <a:t>which releases low levels of </a:t>
            </a:r>
            <a:r>
              <a:rPr lang="en-US" dirty="0" smtClean="0"/>
              <a:t>histamine - used </a:t>
            </a:r>
            <a:r>
              <a:rPr lang="en-US" dirty="0"/>
              <a:t>safely in asthmatics with little morbidity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5092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Reversal of NMBDs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</a:t>
            </a:r>
            <a:r>
              <a:rPr lang="en-US" dirty="0" smtClean="0"/>
              <a:t>eversal of neuromuscular blockade with anticholinesterase drugs could precipitate bronchospasm due to postganglionic cholinergic receptors in airway smooth muscle</a:t>
            </a:r>
          </a:p>
          <a:p>
            <a:r>
              <a:rPr lang="en-US" dirty="0"/>
              <a:t>B</a:t>
            </a:r>
            <a:r>
              <a:rPr lang="en-US" dirty="0" smtClean="0"/>
              <a:t>ut it doesn't predictably occur due to the use of anticholinergic drugs since they have Broncho-dilating effect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0987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94360"/>
            <a:ext cx="10515600" cy="5958840"/>
          </a:xfrm>
        </p:spPr>
        <p:txBody>
          <a:bodyPr>
            <a:normAutofit fontScale="92500" lnSpcReduction="20000"/>
          </a:bodyPr>
          <a:lstStyle/>
          <a:p>
            <a:r>
              <a:rPr lang="en-US" sz="3000" dirty="0" smtClean="0"/>
              <a:t>Warm and humidified oxygen/air should be used at all times</a:t>
            </a:r>
          </a:p>
          <a:p>
            <a:pPr marL="0" indent="0">
              <a:buNone/>
            </a:pPr>
            <a:endParaRPr lang="en-US" sz="3000" dirty="0" smtClean="0"/>
          </a:p>
          <a:p>
            <a:r>
              <a:rPr lang="en-US" sz="3000" dirty="0" smtClean="0"/>
              <a:t>Specially </a:t>
            </a:r>
            <a:r>
              <a:rPr lang="en-US" sz="3000" dirty="0"/>
              <a:t>for patients with </a:t>
            </a:r>
            <a:r>
              <a:rPr lang="en-US" sz="3000" dirty="0" smtClean="0"/>
              <a:t>exercise </a:t>
            </a:r>
            <a:r>
              <a:rPr lang="en-US" sz="3000" dirty="0"/>
              <a:t>induced asthma important to decrease </a:t>
            </a:r>
            <a:r>
              <a:rPr lang="en-US" sz="3000" dirty="0" smtClean="0"/>
              <a:t>trans-mucosal </a:t>
            </a:r>
            <a:r>
              <a:rPr lang="en-US" sz="3000" dirty="0"/>
              <a:t>heat </a:t>
            </a:r>
            <a:r>
              <a:rPr lang="en-US" sz="3000" dirty="0" smtClean="0"/>
              <a:t>loss</a:t>
            </a:r>
          </a:p>
          <a:p>
            <a:pPr marL="0" indent="0">
              <a:buNone/>
            </a:pPr>
            <a:endParaRPr lang="en-US" sz="3000" dirty="0" smtClean="0"/>
          </a:p>
          <a:p>
            <a:r>
              <a:rPr lang="en-US" sz="3000" dirty="0" smtClean="0"/>
              <a:t>Adequate </a:t>
            </a:r>
            <a:r>
              <a:rPr lang="en-US" sz="3000" dirty="0"/>
              <a:t>hydration of patients with fluid is important to avoid mucus plugging in the airway to remove them </a:t>
            </a:r>
            <a:r>
              <a:rPr lang="en-US" sz="3000" dirty="0" smtClean="0"/>
              <a:t>easily</a:t>
            </a:r>
          </a:p>
          <a:p>
            <a:pPr marL="0" indent="0">
              <a:buNone/>
            </a:pPr>
            <a:endParaRPr lang="en-US" sz="3000" dirty="0" smtClean="0"/>
          </a:p>
          <a:p>
            <a:r>
              <a:rPr lang="en-US" sz="3000" dirty="0" smtClean="0"/>
              <a:t>The </a:t>
            </a:r>
            <a:r>
              <a:rPr lang="en-US" sz="3000" dirty="0"/>
              <a:t>use of LMA is better than ETT to avoid </a:t>
            </a:r>
            <a:r>
              <a:rPr lang="en-US" sz="3000" dirty="0" smtClean="0"/>
              <a:t>occurrence </a:t>
            </a:r>
            <a:r>
              <a:rPr lang="en-US" sz="3000" dirty="0"/>
              <a:t>of bronchoconstriction in patients who are not at increased risk of reflux or </a:t>
            </a:r>
            <a:r>
              <a:rPr lang="en-US" sz="3000" dirty="0" smtClean="0"/>
              <a:t>aspiration</a:t>
            </a:r>
          </a:p>
          <a:p>
            <a:pPr marL="0" indent="0">
              <a:buNone/>
            </a:pPr>
            <a:r>
              <a:rPr lang="en-US" sz="3000" dirty="0" smtClean="0"/>
              <a:t> </a:t>
            </a:r>
          </a:p>
          <a:p>
            <a:r>
              <a:rPr lang="en-US" sz="3000" dirty="0"/>
              <a:t>L</a:t>
            </a:r>
            <a:r>
              <a:rPr lang="en-US" sz="3000" dirty="0" smtClean="0"/>
              <a:t>ight </a:t>
            </a:r>
            <a:r>
              <a:rPr lang="en-US" sz="3000" dirty="0"/>
              <a:t>stage of anesthesia </a:t>
            </a:r>
            <a:r>
              <a:rPr lang="en-US" sz="3000" dirty="0" smtClean="0"/>
              <a:t>may </a:t>
            </a:r>
            <a:r>
              <a:rPr lang="en-US" sz="3000" dirty="0"/>
              <a:t>be confused with bronchospasm deeper level of anesthesia and use of muscle relaxant can help to rule out between two</a:t>
            </a:r>
            <a:endParaRPr lang="en-US" sz="30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2427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Deep &amp;</a:t>
            </a:r>
            <a:r>
              <a:rPr lang="en-US" dirty="0" smtClean="0"/>
              <a:t> </a:t>
            </a:r>
            <a:r>
              <a:rPr lang="en-US" dirty="0"/>
              <a:t>smooth extubation is recommended if airway difficulties were not encountered during </a:t>
            </a:r>
            <a:r>
              <a:rPr lang="en-US" dirty="0" smtClean="0"/>
              <a:t>induction</a:t>
            </a:r>
          </a:p>
          <a:p>
            <a:r>
              <a:rPr lang="en-US" dirty="0" smtClean="0"/>
              <a:t> When </a:t>
            </a:r>
            <a:r>
              <a:rPr lang="en-US" dirty="0"/>
              <a:t>difficulty is anticipated the patient may be taken to the </a:t>
            </a:r>
            <a:r>
              <a:rPr lang="en-US" dirty="0" smtClean="0"/>
              <a:t>PACU </a:t>
            </a:r>
            <a:r>
              <a:rPr lang="en-US" dirty="0"/>
              <a:t>as intubated with opioids administered to </a:t>
            </a:r>
            <a:r>
              <a:rPr lang="en-US" dirty="0" smtClean="0"/>
              <a:t>facilitate tolerance </a:t>
            </a:r>
            <a:r>
              <a:rPr lang="en-US" dirty="0"/>
              <a:t>to the </a:t>
            </a:r>
            <a:r>
              <a:rPr lang="en-US" dirty="0" smtClean="0"/>
              <a:t>ETT</a:t>
            </a:r>
          </a:p>
          <a:p>
            <a:r>
              <a:rPr lang="en-US" dirty="0"/>
              <a:t>When the patient is awake &amp;</a:t>
            </a:r>
            <a:r>
              <a:rPr lang="en-US" dirty="0" smtClean="0"/>
              <a:t> possesses </a:t>
            </a:r>
            <a:r>
              <a:rPr lang="en-US" dirty="0"/>
              <a:t>appropriate airway reflexes, Extubate with IV lidocaine </a:t>
            </a:r>
            <a:r>
              <a:rPr lang="en-US" dirty="0" smtClean="0"/>
              <a:t>to prevent </a:t>
            </a:r>
            <a:r>
              <a:rPr lang="en-US" dirty="0"/>
              <a:t>bronchospasm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973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Desired </a:t>
            </a:r>
            <a:r>
              <a:rPr lang="en-US" dirty="0"/>
              <a:t>level of arterial </a:t>
            </a:r>
            <a:r>
              <a:rPr lang="en-US" dirty="0" smtClean="0"/>
              <a:t>O</a:t>
            </a:r>
            <a:r>
              <a:rPr lang="en-US" sz="2000" dirty="0" smtClean="0"/>
              <a:t>2</a:t>
            </a:r>
            <a:r>
              <a:rPr lang="en-US" dirty="0" smtClean="0"/>
              <a:t> &amp; CO</a:t>
            </a:r>
            <a:r>
              <a:rPr lang="en-US" sz="2000" dirty="0" smtClean="0"/>
              <a:t>2</a:t>
            </a:r>
            <a:r>
              <a:rPr lang="en-US" dirty="0" smtClean="0"/>
              <a:t> </a:t>
            </a:r>
            <a:r>
              <a:rPr lang="en-US" dirty="0"/>
              <a:t>removal can be secured with </a:t>
            </a:r>
            <a:r>
              <a:rPr lang="en-US" dirty="0" smtClean="0"/>
              <a:t>MV </a:t>
            </a:r>
            <a:r>
              <a:rPr lang="en-US" dirty="0"/>
              <a:t>with providing prolonged expiratory time to avoid air trapping and </a:t>
            </a:r>
            <a:r>
              <a:rPr lang="en-US" dirty="0" smtClean="0"/>
              <a:t>occurrence </a:t>
            </a:r>
            <a:r>
              <a:rPr lang="en-US" dirty="0"/>
              <a:t>of intrinsic </a:t>
            </a:r>
            <a:r>
              <a:rPr lang="en-US" dirty="0" smtClean="0"/>
              <a:t>PEEP</a:t>
            </a:r>
          </a:p>
          <a:p>
            <a:r>
              <a:rPr lang="en-US" dirty="0" smtClean="0"/>
              <a:t>This </a:t>
            </a:r>
            <a:r>
              <a:rPr lang="en-US" dirty="0"/>
              <a:t>can be facilitated by using smaller tidal volumes than</a:t>
            </a:r>
            <a:br>
              <a:rPr lang="en-US" dirty="0"/>
            </a:br>
            <a:r>
              <a:rPr lang="en-US" dirty="0"/>
              <a:t>usual </a:t>
            </a:r>
            <a:endParaRPr lang="en-US" dirty="0" smtClean="0"/>
          </a:p>
          <a:p>
            <a:r>
              <a:rPr lang="en-US" dirty="0"/>
              <a:t>when situations </a:t>
            </a:r>
            <a:r>
              <a:rPr lang="en-US" dirty="0" err="1"/>
              <a:t>doesnt</a:t>
            </a:r>
            <a:r>
              <a:rPr lang="en-US" dirty="0"/>
              <a:t> intel to extubate patients to extubate patients deep awake extubation with use of inhaled bronchodilators or IV lidocaine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5876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Bronchospasm </a:t>
            </a:r>
            <a:r>
              <a:rPr lang="en-US" dirty="0"/>
              <a:t>can be caused by light anesthesia sign and symptoms are </a:t>
            </a:r>
            <a:r>
              <a:rPr lang="en-US" dirty="0" smtClean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High </a:t>
            </a:r>
            <a:r>
              <a:rPr lang="en-US" dirty="0"/>
              <a:t>peak airway </a:t>
            </a:r>
            <a:r>
              <a:rPr lang="en-US" dirty="0" smtClean="0"/>
              <a:t>pressure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Upsloping </a:t>
            </a:r>
            <a:r>
              <a:rPr lang="en-US" dirty="0"/>
              <a:t>of the end tidal </a:t>
            </a:r>
            <a:r>
              <a:rPr lang="en-US" dirty="0" smtClean="0"/>
              <a:t>CO</a:t>
            </a:r>
            <a:r>
              <a:rPr lang="en-US" sz="2400" dirty="0" smtClean="0"/>
              <a:t>2</a:t>
            </a:r>
            <a:r>
              <a:rPr lang="en-US" dirty="0" smtClean="0"/>
              <a:t> </a:t>
            </a:r>
            <a:r>
              <a:rPr lang="en-US" dirty="0"/>
              <a:t>waveform &amp;</a:t>
            </a:r>
            <a:r>
              <a:rPr lang="en-US" dirty="0" smtClean="0"/>
              <a:t>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Wheezing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D</a:t>
            </a:r>
            <a:r>
              <a:rPr lang="en-US" dirty="0" smtClean="0"/>
              <a:t>esaturation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776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Treatment of intraoperative </a:t>
            </a:r>
            <a:br>
              <a:rPr lang="en-US" dirty="0" smtClean="0"/>
            </a:br>
            <a:r>
              <a:rPr lang="en-US" dirty="0" smtClean="0"/>
              <a:t>Bronchospasm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5832318"/>
              </p:ext>
            </p:extLst>
          </p:nvPr>
        </p:nvGraphicFramePr>
        <p:xfrm>
          <a:off x="838200" y="1825624"/>
          <a:ext cx="10515600" cy="4194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0"/>
              </a:tblGrid>
              <a:tr h="838835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chemeClr val="tx1"/>
                          </a:solidFill>
                        </a:rPr>
                        <a:t>Deepening</a:t>
                      </a:r>
                      <a:r>
                        <a:rPr lang="en-US" sz="2400" baseline="0" dirty="0" smtClean="0">
                          <a:solidFill>
                            <a:schemeClr val="tx1"/>
                          </a:solidFill>
                        </a:rPr>
                        <a:t> of anesthesia – IAA &amp; Propofol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838835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Rapid</a:t>
                      </a:r>
                      <a:r>
                        <a:rPr lang="en-US" sz="2400" b="1" baseline="0" dirty="0" smtClean="0">
                          <a:solidFill>
                            <a:schemeClr val="tx1"/>
                          </a:solidFill>
                        </a:rPr>
                        <a:t> acting </a:t>
                      </a:r>
                      <a:r>
                        <a:rPr lang="en-US" sz="2400" b="1" baseline="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ß2 agonists- albuterol via the ETT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838835"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IV</a:t>
                      </a:r>
                      <a:r>
                        <a:rPr lang="en-US" sz="2400" b="1" baseline="0" dirty="0" smtClean="0"/>
                        <a:t> corticosteroids</a:t>
                      </a:r>
                      <a:endParaRPr lang="en-US" sz="2400" b="1" dirty="0"/>
                    </a:p>
                  </a:txBody>
                  <a:tcPr/>
                </a:tc>
              </a:tr>
              <a:tr h="838835"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Adrenaline</a:t>
                      </a:r>
                      <a:endParaRPr lang="en-US" sz="2400" b="1" dirty="0"/>
                    </a:p>
                  </a:txBody>
                  <a:tcPr/>
                </a:tc>
              </a:tr>
              <a:tr h="838835"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Magnesium</a:t>
                      </a:r>
                      <a:endParaRPr lang="en-US" sz="2400" b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69715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Asthma in Emergency Surgery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Weigh the risk between risk of aspiration &amp; triggering significant bronchospasm</a:t>
            </a:r>
          </a:p>
          <a:p>
            <a:r>
              <a:rPr lang="en-US" dirty="0" smtClean="0"/>
              <a:t>No sufficient time to optimize bronchodilator therapy prior to surgery</a:t>
            </a:r>
          </a:p>
          <a:p>
            <a:r>
              <a:rPr lang="en-US" dirty="0" smtClean="0"/>
              <a:t>Regional anesthesia is a good option if it is suitable for the site of the surgery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003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712" y="3119437"/>
            <a:ext cx="3838575" cy="619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39" y="1197294"/>
            <a:ext cx="7009447" cy="783906"/>
          </a:xfrm>
          <a:prstGeom prst="rect">
            <a:avLst/>
          </a:prstGeom>
        </p:spPr>
      </p:pic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005840" y="1981200"/>
            <a:ext cx="9860280" cy="408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1690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Bronchospasm </a:t>
            </a:r>
            <a:r>
              <a:rPr lang="en-US" dirty="0"/>
              <a:t>should be differentiated from anaphylaxis by the absence </a:t>
            </a:r>
            <a:r>
              <a:rPr lang="en-US" dirty="0" smtClean="0"/>
              <a:t>of: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Hypotension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 Flushing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</a:t>
            </a:r>
            <a:r>
              <a:rPr lang="en-US" dirty="0" smtClean="0"/>
              <a:t>Rash and/or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 Angioedema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9781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Postoperative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Reversal of NMBDs</a:t>
            </a:r>
          </a:p>
          <a:p>
            <a:r>
              <a:rPr lang="en-US" dirty="0" smtClean="0"/>
              <a:t>Neostigmine may contribute to bronchospasm by inhibiting breakdown of acetylcholine</a:t>
            </a:r>
          </a:p>
          <a:p>
            <a:r>
              <a:rPr lang="en-US" dirty="0" smtClean="0"/>
              <a:t>Sugammadex can be used to reverse rocuronium &amp; vecuronium without risk of bronchoconstriction</a:t>
            </a:r>
          </a:p>
          <a:p>
            <a:r>
              <a:rPr lang="en-US" dirty="0" smtClean="0"/>
              <a:t>Research showed no significant difference b/n awake versus deep extubation as it is related to PARE(perioperative adverse respiratory events)</a:t>
            </a:r>
          </a:p>
          <a:p>
            <a:r>
              <a:rPr lang="en-US" dirty="0" smtClean="0"/>
              <a:t>Monitor </a:t>
            </a:r>
            <a:r>
              <a:rPr lang="en-US" dirty="0"/>
              <a:t>very </a:t>
            </a:r>
            <a:r>
              <a:rPr lang="en-US" dirty="0" smtClean="0"/>
              <a:t>closely</a:t>
            </a:r>
            <a:r>
              <a:rPr lang="en-US" dirty="0"/>
              <a:t> </a:t>
            </a:r>
            <a:r>
              <a:rPr lang="en-US" dirty="0" smtClean="0"/>
              <a:t>&amp; </a:t>
            </a:r>
          </a:p>
          <a:p>
            <a:r>
              <a:rPr lang="en-US" dirty="0"/>
              <a:t>R</a:t>
            </a:r>
            <a:r>
              <a:rPr lang="en-US" dirty="0" smtClean="0"/>
              <a:t>eturn </a:t>
            </a:r>
            <a:r>
              <a:rPr lang="en-US" dirty="0"/>
              <a:t>to the </a:t>
            </a:r>
            <a:r>
              <a:rPr lang="en-US" dirty="0" smtClean="0"/>
              <a:t>preoperative asthma regimen ASAP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7410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6360" y="685800"/>
            <a:ext cx="8641080" cy="5177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824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75360" y="716281"/>
            <a:ext cx="10119360" cy="490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1799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Level of Anesthesia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640" y="2274411"/>
            <a:ext cx="9220200" cy="3852069"/>
          </a:xfrm>
        </p:spPr>
      </p:pic>
    </p:spTree>
    <p:extLst>
      <p:ext uri="{BB962C8B-B14F-4D97-AF65-F5344CB8AC3E}">
        <p14:creationId xmlns:p14="http://schemas.microsoft.com/office/powerpoint/2010/main" val="35478726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COPD: progressive loss of alveolar tissue and progressive non reversible airflow </a:t>
            </a:r>
            <a:r>
              <a:rPr lang="en-US" dirty="0" smtClean="0"/>
              <a:t>obstruction</a:t>
            </a:r>
            <a:endParaRPr lang="en-US" dirty="0"/>
          </a:p>
          <a:p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third leading cause of death globally according to WHO </a:t>
            </a:r>
          </a:p>
          <a:p>
            <a:r>
              <a:rPr lang="en-US" dirty="0"/>
              <a:t>P</a:t>
            </a:r>
            <a:r>
              <a:rPr lang="en-US" dirty="0" smtClean="0"/>
              <a:t>ulmonary </a:t>
            </a:r>
            <a:r>
              <a:rPr lang="en-US" dirty="0"/>
              <a:t>elastic recoil is lost </a:t>
            </a:r>
          </a:p>
          <a:p>
            <a:r>
              <a:rPr lang="en-US" dirty="0"/>
              <a:t>A</a:t>
            </a:r>
            <a:r>
              <a:rPr lang="en-US" dirty="0" smtClean="0"/>
              <a:t>lveolar </a:t>
            </a:r>
            <a:r>
              <a:rPr lang="en-US" dirty="0"/>
              <a:t>and bronchial destruction </a:t>
            </a:r>
          </a:p>
          <a:p>
            <a:r>
              <a:rPr lang="en-US" dirty="0" smtClean="0"/>
              <a:t>Due </a:t>
            </a:r>
            <a:r>
              <a:rPr lang="en-US" dirty="0"/>
              <a:t>to inhalation or exposure to chemical substances like </a:t>
            </a:r>
            <a:r>
              <a:rPr lang="en-US" dirty="0" smtClean="0"/>
              <a:t>cigarette </a:t>
            </a:r>
            <a:r>
              <a:rPr lang="en-US" dirty="0"/>
              <a:t>smoke</a:t>
            </a:r>
          </a:p>
        </p:txBody>
      </p:sp>
    </p:spTree>
    <p:extLst>
      <p:ext uri="{BB962C8B-B14F-4D97-AF65-F5344CB8AC3E}">
        <p14:creationId xmlns:p14="http://schemas.microsoft.com/office/powerpoint/2010/main" val="42542946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Cigarette </a:t>
            </a:r>
            <a:r>
              <a:rPr lang="en-US" dirty="0"/>
              <a:t>smoke </a:t>
            </a:r>
          </a:p>
          <a:p>
            <a:r>
              <a:rPr lang="en-US" dirty="0" smtClean="0"/>
              <a:t>Occupational </a:t>
            </a:r>
            <a:r>
              <a:rPr lang="en-US" dirty="0"/>
              <a:t>exposure to </a:t>
            </a:r>
            <a:r>
              <a:rPr lang="en-US" dirty="0" smtClean="0"/>
              <a:t>chemicals </a:t>
            </a:r>
            <a:r>
              <a:rPr lang="en-US" dirty="0"/>
              <a:t>in coal mining, gold mining &amp; textile industry</a:t>
            </a:r>
          </a:p>
          <a:p>
            <a:r>
              <a:rPr lang="en-US" dirty="0"/>
              <a:t>Indoor and outdoor pollution</a:t>
            </a:r>
          </a:p>
          <a:p>
            <a:r>
              <a:rPr lang="en-US" dirty="0" smtClean="0"/>
              <a:t>Recurrent </a:t>
            </a:r>
            <a:r>
              <a:rPr lang="en-US" dirty="0"/>
              <a:t>childhood respiratory infections</a:t>
            </a:r>
          </a:p>
          <a:p>
            <a:r>
              <a:rPr lang="en-US" dirty="0"/>
              <a:t>Low birth weight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5493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Intraoperative </a:t>
            </a:r>
            <a:r>
              <a:rPr lang="en-US" dirty="0"/>
              <a:t>and postoperative pulmonary complications</a:t>
            </a:r>
          </a:p>
          <a:p>
            <a:r>
              <a:rPr lang="en-US" dirty="0"/>
              <a:t>I</a:t>
            </a:r>
            <a:r>
              <a:rPr lang="en-US" dirty="0" smtClean="0"/>
              <a:t>ncreased </a:t>
            </a:r>
            <a:r>
              <a:rPr lang="en-US" dirty="0"/>
              <a:t>hospital stay </a:t>
            </a:r>
          </a:p>
          <a:p>
            <a:r>
              <a:rPr lang="en-US" dirty="0"/>
              <a:t>I</a:t>
            </a:r>
            <a:r>
              <a:rPr lang="en-US" dirty="0" smtClean="0"/>
              <a:t>ncreased </a:t>
            </a:r>
            <a:r>
              <a:rPr lang="en-US" dirty="0"/>
              <a:t>mortality rate</a:t>
            </a:r>
          </a:p>
        </p:txBody>
      </p:sp>
    </p:spTree>
    <p:extLst>
      <p:ext uri="{BB962C8B-B14F-4D97-AF65-F5344CB8AC3E}">
        <p14:creationId xmlns:p14="http://schemas.microsoft.com/office/powerpoint/2010/main" val="34070363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COPD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Pathologic </a:t>
            </a:r>
            <a:r>
              <a:rPr lang="en-US" dirty="0"/>
              <a:t>deterioration in elasticity or recoil within the lung parenchyma which helps the airway to be open</a:t>
            </a:r>
          </a:p>
          <a:p>
            <a:r>
              <a:rPr lang="en-US" dirty="0" smtClean="0"/>
              <a:t>Pathologic </a:t>
            </a:r>
            <a:r>
              <a:rPr lang="en-US" dirty="0"/>
              <a:t>changes that decreases </a:t>
            </a:r>
            <a:r>
              <a:rPr lang="en-US" dirty="0" smtClean="0"/>
              <a:t>rigidity </a:t>
            </a:r>
            <a:r>
              <a:rPr lang="en-US" dirty="0"/>
              <a:t>of </a:t>
            </a:r>
            <a:r>
              <a:rPr lang="en-US" dirty="0" smtClean="0"/>
              <a:t>bronchiole </a:t>
            </a:r>
            <a:r>
              <a:rPr lang="en-US" dirty="0"/>
              <a:t>wall and predispose them to collapse during exhalation</a:t>
            </a:r>
          </a:p>
          <a:p>
            <a:r>
              <a:rPr lang="en-US" dirty="0"/>
              <a:t>I</a:t>
            </a:r>
            <a:r>
              <a:rPr lang="en-US" dirty="0" smtClean="0"/>
              <a:t>ncrease </a:t>
            </a:r>
            <a:r>
              <a:rPr lang="en-US" dirty="0"/>
              <a:t>in gas flow velocity in narrowed </a:t>
            </a:r>
            <a:r>
              <a:rPr lang="en-US" dirty="0" smtClean="0"/>
              <a:t>bronchiole </a:t>
            </a:r>
            <a:r>
              <a:rPr lang="en-US" dirty="0"/>
              <a:t>which lowers the pressure inside them that leads to airway collapse</a:t>
            </a:r>
          </a:p>
          <a:p>
            <a:r>
              <a:rPr lang="en-US" dirty="0" smtClean="0"/>
              <a:t>Active </a:t>
            </a:r>
            <a:r>
              <a:rPr lang="en-US" dirty="0"/>
              <a:t>bronchospasm and obstruction resulting in increased pulmonary secretion</a:t>
            </a:r>
          </a:p>
          <a:p>
            <a:r>
              <a:rPr lang="en-US" dirty="0" smtClean="0"/>
              <a:t>Destruction </a:t>
            </a:r>
            <a:r>
              <a:rPr lang="en-US" dirty="0"/>
              <a:t>of lung parenchyma, enlargement of </a:t>
            </a:r>
            <a:r>
              <a:rPr lang="en-US" dirty="0" smtClean="0"/>
              <a:t>air sacs </a:t>
            </a:r>
            <a:r>
              <a:rPr lang="en-US" dirty="0"/>
              <a:t>&amp; development of emphysema </a:t>
            </a:r>
          </a:p>
        </p:txBody>
      </p:sp>
    </p:spTree>
    <p:extLst>
      <p:ext uri="{BB962C8B-B14F-4D97-AF65-F5344CB8AC3E}">
        <p14:creationId xmlns:p14="http://schemas.microsoft.com/office/powerpoint/2010/main" val="35487041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 and </a:t>
            </a:r>
            <a:r>
              <a:rPr lang="en-US" dirty="0" smtClean="0"/>
              <a:t>Symptom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</a:t>
            </a:r>
            <a:r>
              <a:rPr lang="en-US" dirty="0" smtClean="0"/>
              <a:t>yspnea </a:t>
            </a:r>
            <a:r>
              <a:rPr lang="en-US" dirty="0"/>
              <a:t>on exertion or at rest</a:t>
            </a:r>
          </a:p>
          <a:p>
            <a:r>
              <a:rPr lang="en-US" dirty="0"/>
              <a:t>C</a:t>
            </a:r>
            <a:r>
              <a:rPr lang="en-US" dirty="0" smtClean="0"/>
              <a:t>hronic </a:t>
            </a:r>
            <a:r>
              <a:rPr lang="en-US" dirty="0"/>
              <a:t>cough</a:t>
            </a:r>
          </a:p>
          <a:p>
            <a:r>
              <a:rPr lang="en-US" dirty="0"/>
              <a:t>C</a:t>
            </a:r>
            <a:r>
              <a:rPr lang="en-US" dirty="0" smtClean="0"/>
              <a:t>hronic </a:t>
            </a:r>
            <a:r>
              <a:rPr lang="en-US" dirty="0"/>
              <a:t>sputum production</a:t>
            </a:r>
          </a:p>
          <a:p>
            <a:r>
              <a:rPr lang="en-US" dirty="0"/>
              <a:t>E</a:t>
            </a:r>
            <a:r>
              <a:rPr lang="en-US" dirty="0" smtClean="0"/>
              <a:t>xpiratory wheeze </a:t>
            </a:r>
            <a:endParaRPr lang="en-US" dirty="0"/>
          </a:p>
          <a:p>
            <a:r>
              <a:rPr lang="en-US" dirty="0"/>
              <a:t>D</a:t>
            </a:r>
            <a:r>
              <a:rPr lang="en-US" dirty="0" smtClean="0"/>
              <a:t>ecreased </a:t>
            </a:r>
            <a:r>
              <a:rPr lang="en-US" dirty="0"/>
              <a:t>breath sounds</a:t>
            </a:r>
          </a:p>
          <a:p>
            <a:r>
              <a:rPr lang="en-US" dirty="0"/>
              <a:t>P</a:t>
            </a:r>
            <a:r>
              <a:rPr lang="en-US" dirty="0" smtClean="0"/>
              <a:t>eriods </a:t>
            </a:r>
            <a:r>
              <a:rPr lang="en-US" dirty="0"/>
              <a:t>of worsening symptoms secondary to acute worsening in airway flow</a:t>
            </a:r>
          </a:p>
          <a:p>
            <a:r>
              <a:rPr lang="en-US" dirty="0" smtClean="0"/>
              <a:t>As </a:t>
            </a:r>
            <a:r>
              <a:rPr lang="en-US" dirty="0"/>
              <a:t>expiratory flow obstruction increase in severity : tachypnea &amp; prolonged expiratory phase </a:t>
            </a:r>
          </a:p>
        </p:txBody>
      </p:sp>
    </p:spTree>
    <p:extLst>
      <p:ext uri="{BB962C8B-B14F-4D97-AF65-F5344CB8AC3E}">
        <p14:creationId xmlns:p14="http://schemas.microsoft.com/office/powerpoint/2010/main" val="29684081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Diagnosis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</a:t>
            </a:r>
            <a:r>
              <a:rPr lang="en-US" dirty="0" smtClean="0"/>
              <a:t>n </a:t>
            </a:r>
            <a:r>
              <a:rPr lang="en-US" dirty="0"/>
              <a:t>the history dyspnea &amp; chronic fatigue</a:t>
            </a:r>
          </a:p>
          <a:p>
            <a:r>
              <a:rPr lang="en-US" dirty="0"/>
              <a:t>E</a:t>
            </a:r>
            <a:r>
              <a:rPr lang="en-US" dirty="0" smtClean="0"/>
              <a:t>xposure </a:t>
            </a:r>
            <a:r>
              <a:rPr lang="en-US" dirty="0"/>
              <a:t>to the risk factors - smoke &amp; chemicals</a:t>
            </a:r>
          </a:p>
          <a:p>
            <a:r>
              <a:rPr lang="en-US" dirty="0"/>
              <a:t>COPD can not be definitively diagnosed without </a:t>
            </a:r>
            <a:r>
              <a:rPr lang="en-US" dirty="0" smtClean="0"/>
              <a:t>PFT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9697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Pulmonary </a:t>
            </a:r>
            <a:r>
              <a:rPr lang="en-US" dirty="0" smtClean="0"/>
              <a:t>Function Test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</a:t>
            </a:r>
            <a:r>
              <a:rPr lang="en-US" dirty="0" smtClean="0"/>
              <a:t>ecreased </a:t>
            </a:r>
            <a:r>
              <a:rPr lang="en-US" dirty="0"/>
              <a:t>FEV1: FVC </a:t>
            </a:r>
          </a:p>
          <a:p>
            <a:r>
              <a:rPr lang="en-US" dirty="0"/>
              <a:t>G</a:t>
            </a:r>
            <a:r>
              <a:rPr lang="en-US" dirty="0" smtClean="0"/>
              <a:t>reater </a:t>
            </a:r>
            <a:r>
              <a:rPr lang="en-US" dirty="0"/>
              <a:t>decrease in FEF 25-75% of Vital capacity</a:t>
            </a:r>
          </a:p>
          <a:p>
            <a:r>
              <a:rPr lang="en-US" dirty="0" smtClean="0"/>
              <a:t>FEV1:FVC </a:t>
            </a:r>
            <a:r>
              <a:rPr lang="en-US" dirty="0"/>
              <a:t>&lt;70% which is not reversible or bronchodilators confirms the diagnosis</a:t>
            </a:r>
          </a:p>
          <a:p>
            <a:r>
              <a:rPr lang="en-US" dirty="0"/>
              <a:t>I</a:t>
            </a:r>
            <a:r>
              <a:rPr lang="en-US" dirty="0" smtClean="0"/>
              <a:t>ncrease </a:t>
            </a:r>
            <a:r>
              <a:rPr lang="en-US" dirty="0"/>
              <a:t>in FRC and TLC</a:t>
            </a:r>
          </a:p>
        </p:txBody>
      </p:sp>
    </p:spTree>
    <p:extLst>
      <p:ext uri="{BB962C8B-B14F-4D97-AF65-F5344CB8AC3E}">
        <p14:creationId xmlns:p14="http://schemas.microsoft.com/office/powerpoint/2010/main" val="876686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Increase </a:t>
            </a:r>
            <a:r>
              <a:rPr lang="en-US" dirty="0"/>
              <a:t>in RV is secondary to :</a:t>
            </a:r>
          </a:p>
          <a:p>
            <a:r>
              <a:rPr lang="en-US" dirty="0"/>
              <a:t>S</a:t>
            </a:r>
            <a:r>
              <a:rPr lang="en-US" dirty="0" smtClean="0"/>
              <a:t>lowing </a:t>
            </a:r>
            <a:r>
              <a:rPr lang="en-US" dirty="0"/>
              <a:t>of expiratory airflow</a:t>
            </a:r>
          </a:p>
          <a:p>
            <a:r>
              <a:rPr lang="en-US" dirty="0"/>
              <a:t>G</a:t>
            </a:r>
            <a:r>
              <a:rPr lang="en-US" dirty="0" smtClean="0"/>
              <a:t>as </a:t>
            </a:r>
            <a:r>
              <a:rPr lang="en-US" dirty="0"/>
              <a:t>trapping behind prematurely closed airways</a:t>
            </a:r>
          </a:p>
        </p:txBody>
      </p:sp>
    </p:spTree>
    <p:extLst>
      <p:ext uri="{BB962C8B-B14F-4D97-AF65-F5344CB8AC3E}">
        <p14:creationId xmlns:p14="http://schemas.microsoft.com/office/powerpoint/2010/main" val="2473197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This </a:t>
            </a:r>
            <a:r>
              <a:rPr lang="en-US" dirty="0"/>
              <a:t>pathologic ''advantage'' of COPD patients with increased RV &amp; FRC is due to</a:t>
            </a:r>
          </a:p>
          <a:p>
            <a:r>
              <a:rPr lang="en-US" dirty="0"/>
              <a:t>E</a:t>
            </a:r>
            <a:r>
              <a:rPr lang="en-US" dirty="0" smtClean="0"/>
              <a:t>nlarged </a:t>
            </a:r>
            <a:r>
              <a:rPr lang="en-US" dirty="0"/>
              <a:t>airway diameter</a:t>
            </a:r>
          </a:p>
          <a:p>
            <a:r>
              <a:rPr lang="en-US" dirty="0"/>
              <a:t>I</a:t>
            </a:r>
            <a:r>
              <a:rPr lang="en-US" dirty="0" smtClean="0"/>
              <a:t>ncreased </a:t>
            </a:r>
            <a:r>
              <a:rPr lang="en-US" dirty="0"/>
              <a:t>elastic recoil for exhalation</a:t>
            </a:r>
          </a:p>
          <a:p>
            <a:pPr marL="0" indent="0">
              <a:buNone/>
            </a:pPr>
            <a:r>
              <a:rPr lang="en-US" dirty="0" smtClean="0"/>
              <a:t>Leads patients </a:t>
            </a:r>
            <a:r>
              <a:rPr lang="en-US" dirty="0"/>
              <a:t>to:</a:t>
            </a:r>
          </a:p>
          <a:p>
            <a:r>
              <a:rPr lang="en-US" dirty="0"/>
              <a:t>H</a:t>
            </a:r>
            <a:r>
              <a:rPr lang="en-US" dirty="0" smtClean="0"/>
              <a:t>ave </a:t>
            </a:r>
            <a:r>
              <a:rPr lang="en-US" dirty="0"/>
              <a:t>greater cost of increased work of breathing at </a:t>
            </a:r>
          </a:p>
          <a:p>
            <a:r>
              <a:rPr lang="en-US" dirty="0"/>
              <a:t>H</a:t>
            </a:r>
            <a:r>
              <a:rPr lang="en-US" dirty="0" smtClean="0"/>
              <a:t>igher </a:t>
            </a:r>
            <a:r>
              <a:rPr lang="en-US" dirty="0"/>
              <a:t>lung volumes</a:t>
            </a:r>
          </a:p>
        </p:txBody>
      </p:sp>
    </p:spTree>
    <p:extLst>
      <p:ext uri="{BB962C8B-B14F-4D97-AF65-F5344CB8AC3E}">
        <p14:creationId xmlns:p14="http://schemas.microsoft.com/office/powerpoint/2010/main" val="21705623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325563"/>
          </a:xfrm>
        </p:spPr>
        <p:txBody>
          <a:bodyPr>
            <a:normAutofit fontScale="90000"/>
          </a:bodyPr>
          <a:lstStyle/>
          <a:p>
            <a:r>
              <a:rPr lang="en-US"/>
              <a:t>GOLD Spirometric Criteria for COPD Severity (Based on Postbronchodilator FEV1 Measurement)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844040"/>
            <a:ext cx="11353800" cy="5013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8455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Chest </a:t>
            </a:r>
            <a:r>
              <a:rPr lang="en-US" dirty="0" smtClean="0"/>
              <a:t>X-ray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Minimal </a:t>
            </a:r>
            <a:r>
              <a:rPr lang="en-US" dirty="0"/>
              <a:t>abnormalities even in severe COPD</a:t>
            </a:r>
          </a:p>
          <a:p>
            <a:r>
              <a:rPr lang="en-US" dirty="0" smtClean="0"/>
              <a:t>Hyperlucency </a:t>
            </a:r>
            <a:r>
              <a:rPr lang="en-US" dirty="0"/>
              <a:t>due to arterial vascular deficiency in the lung parenchyma</a:t>
            </a:r>
          </a:p>
          <a:p>
            <a:r>
              <a:rPr lang="en-US" dirty="0" smtClean="0"/>
              <a:t>Hyperinflation(flattening </a:t>
            </a:r>
            <a:r>
              <a:rPr lang="en-US" dirty="0"/>
              <a:t>of the diaphragm with loss of its dome shape </a:t>
            </a:r>
            <a:r>
              <a:rPr lang="en-US" dirty="0" smtClean="0"/>
              <a:t>appearance)</a:t>
            </a:r>
            <a:endParaRPr lang="en-US" dirty="0"/>
          </a:p>
          <a:p>
            <a:r>
              <a:rPr lang="en-US" dirty="0" smtClean="0"/>
              <a:t>Vertical </a:t>
            </a:r>
            <a:r>
              <a:rPr lang="en-US" dirty="0"/>
              <a:t>cardiac </a:t>
            </a:r>
            <a:r>
              <a:rPr lang="en-US" dirty="0" smtClean="0"/>
              <a:t>silhouette(which </a:t>
            </a:r>
            <a:r>
              <a:rPr lang="en-US" dirty="0"/>
              <a:t>is </a:t>
            </a:r>
            <a:r>
              <a:rPr lang="en-US" dirty="0" smtClean="0"/>
              <a:t>assign </a:t>
            </a:r>
            <a:r>
              <a:rPr lang="en-US" dirty="0"/>
              <a:t>of </a:t>
            </a:r>
            <a:r>
              <a:rPr lang="en-US" dirty="0" smtClean="0"/>
              <a:t>emphysema)</a:t>
            </a:r>
            <a:endParaRPr lang="en-US" dirty="0"/>
          </a:p>
          <a:p>
            <a:r>
              <a:rPr lang="en-US" sz="3200" dirty="0" smtClean="0"/>
              <a:t>I</a:t>
            </a:r>
            <a:r>
              <a:rPr lang="en-US" dirty="0" smtClean="0"/>
              <a:t>f </a:t>
            </a:r>
            <a:r>
              <a:rPr lang="en-US" dirty="0"/>
              <a:t>bullae is diagnosis of emphysema is certain</a:t>
            </a:r>
          </a:p>
          <a:p>
            <a:r>
              <a:rPr lang="en-US" dirty="0" smtClean="0"/>
              <a:t>Small </a:t>
            </a:r>
            <a:r>
              <a:rPr lang="en-US" dirty="0"/>
              <a:t>percentage of patients with emphysema have bullae</a:t>
            </a:r>
          </a:p>
        </p:txBody>
      </p:sp>
    </p:spTree>
    <p:extLst>
      <p:ext uri="{BB962C8B-B14F-4D97-AF65-F5344CB8AC3E}">
        <p14:creationId xmlns:p14="http://schemas.microsoft.com/office/powerpoint/2010/main" val="28375850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 </a:t>
            </a:r>
            <a:r>
              <a:rPr lang="en-US" dirty="0" smtClean="0"/>
              <a:t>scan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</a:t>
            </a:r>
            <a:r>
              <a:rPr lang="en-US" dirty="0" smtClean="0"/>
              <a:t>ore sensitive </a:t>
            </a:r>
            <a:r>
              <a:rPr lang="en-US" dirty="0"/>
              <a:t>test but used mostly to screen lung Ca</a:t>
            </a:r>
          </a:p>
          <a:p>
            <a:r>
              <a:rPr lang="en-US" dirty="0"/>
              <a:t>T</a:t>
            </a:r>
            <a:r>
              <a:rPr lang="en-US" dirty="0" smtClean="0"/>
              <a:t>o </a:t>
            </a:r>
            <a:r>
              <a:rPr lang="en-US" dirty="0"/>
              <a:t>evaluate condition of the lung before surgery</a:t>
            </a:r>
          </a:p>
          <a:p>
            <a:r>
              <a:rPr lang="en-US" dirty="0"/>
              <a:t>I</a:t>
            </a:r>
            <a:r>
              <a:rPr lang="en-US" dirty="0" smtClean="0"/>
              <a:t>t </a:t>
            </a:r>
            <a:r>
              <a:rPr lang="en-US" dirty="0"/>
              <a:t>shows bronchial wall thickening</a:t>
            </a:r>
          </a:p>
          <a:p>
            <a:r>
              <a:rPr lang="en-US" dirty="0" smtClean="0"/>
              <a:t>Alveolar </a:t>
            </a:r>
            <a:r>
              <a:rPr lang="en-US" dirty="0"/>
              <a:t>septal destruction &amp; airspace enlargement</a:t>
            </a:r>
          </a:p>
        </p:txBody>
      </p:sp>
    </p:spTree>
    <p:extLst>
      <p:ext uri="{BB962C8B-B14F-4D97-AF65-F5344CB8AC3E}">
        <p14:creationId xmlns:p14="http://schemas.microsoft.com/office/powerpoint/2010/main" val="16996958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Arterial blood gas analysis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</a:t>
            </a:r>
            <a:r>
              <a:rPr lang="en-US" dirty="0" smtClean="0"/>
              <a:t>emain </a:t>
            </a:r>
            <a:r>
              <a:rPr lang="en-US" dirty="0"/>
              <a:t>normal until COPD is severe</a:t>
            </a:r>
          </a:p>
          <a:p>
            <a:r>
              <a:rPr lang="en-US" dirty="0" smtClean="0"/>
              <a:t>PaO2 doesn't </a:t>
            </a:r>
            <a:r>
              <a:rPr lang="en-US" dirty="0"/>
              <a:t>decrease until FEV1 is &lt;50%</a:t>
            </a:r>
          </a:p>
          <a:p>
            <a:r>
              <a:rPr lang="en-US" dirty="0" smtClean="0"/>
              <a:t>PaCO2 </a:t>
            </a:r>
            <a:r>
              <a:rPr lang="en-US" dirty="0"/>
              <a:t>may not increase until FEV1 is even lower</a:t>
            </a:r>
          </a:p>
        </p:txBody>
      </p:sp>
    </p:spTree>
    <p:extLst>
      <p:ext uri="{BB962C8B-B14F-4D97-AF65-F5344CB8AC3E}">
        <p14:creationId xmlns:p14="http://schemas.microsoft.com/office/powerpoint/2010/main" val="7299327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Treatment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 G</a:t>
            </a:r>
            <a:r>
              <a:rPr lang="en-US" dirty="0" smtClean="0"/>
              <a:t>oal </a:t>
            </a:r>
            <a:r>
              <a:rPr lang="en-US" dirty="0"/>
              <a:t>of treatment is to slow progression of the disease &amp; improve quality of life</a:t>
            </a:r>
          </a:p>
          <a:p>
            <a:r>
              <a:rPr lang="en-US" dirty="0"/>
              <a:t>main focus are smoking cessation and long term oxygen administration</a:t>
            </a:r>
          </a:p>
          <a:p>
            <a:r>
              <a:rPr lang="en-US" dirty="0"/>
              <a:t>it helps to alter the natural history of the disease</a:t>
            </a:r>
          </a:p>
          <a:p>
            <a:pPr marL="0" indent="0">
              <a:buNone/>
            </a:pPr>
            <a:r>
              <a:rPr lang="en-US" dirty="0" smtClean="0"/>
              <a:t>Cessation </a:t>
            </a:r>
            <a:r>
              <a:rPr lang="en-US" dirty="0"/>
              <a:t>of smoking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↓</a:t>
            </a:r>
            <a:r>
              <a:rPr lang="en-US" dirty="0" smtClean="0"/>
              <a:t> </a:t>
            </a:r>
            <a:r>
              <a:rPr lang="en-US" dirty="0"/>
              <a:t>disease progression</a:t>
            </a:r>
          </a:p>
          <a:p>
            <a:r>
              <a:rPr lang="en-US" dirty="0"/>
              <a:t>A</a:t>
            </a:r>
            <a:r>
              <a:rPr lang="en-US" dirty="0" smtClean="0"/>
              <a:t>lter </a:t>
            </a:r>
            <a:r>
              <a:rPr lang="en-US" dirty="0"/>
              <a:t>natural history of COPD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↓ </a:t>
            </a:r>
            <a:r>
              <a:rPr lang="en-US" dirty="0" smtClean="0"/>
              <a:t>mortality </a:t>
            </a:r>
            <a:r>
              <a:rPr lang="en-US" dirty="0"/>
              <a:t>by 18%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↓ </a:t>
            </a:r>
            <a:r>
              <a:rPr lang="en-US" dirty="0" smtClean="0"/>
              <a:t> </a:t>
            </a:r>
            <a:r>
              <a:rPr lang="en-US" dirty="0"/>
              <a:t>or stop the symptoms of chronic bronchitis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↓ </a:t>
            </a:r>
            <a:r>
              <a:rPr lang="en-US" dirty="0" smtClean="0"/>
              <a:t> </a:t>
            </a:r>
            <a:r>
              <a:rPr lang="en-US" dirty="0"/>
              <a:t>accelerated loss of lung function</a:t>
            </a:r>
          </a:p>
        </p:txBody>
      </p:sp>
    </p:spTree>
    <p:extLst>
      <p:ext uri="{BB962C8B-B14F-4D97-AF65-F5344CB8AC3E}">
        <p14:creationId xmlns:p14="http://schemas.microsoft.com/office/powerpoint/2010/main" val="58376218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Treatment of COPD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9509759" cy="4710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0753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Treatment of exacerbation    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3880" y="1690688"/>
            <a:ext cx="9022079" cy="283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9855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term oxygen administration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indicated </a:t>
            </a:r>
            <a:r>
              <a:rPr lang="en-US" dirty="0"/>
              <a:t>if PaO2 is &lt;55 mmHg &amp; </a:t>
            </a:r>
            <a:r>
              <a:rPr lang="en-US" dirty="0" err="1"/>
              <a:t>Hct</a:t>
            </a:r>
            <a:r>
              <a:rPr lang="en-US" dirty="0"/>
              <a:t> is &gt; 55%</a:t>
            </a:r>
          </a:p>
          <a:p>
            <a:r>
              <a:rPr lang="en-US" dirty="0" smtClean="0"/>
              <a:t>presence </a:t>
            </a:r>
            <a:r>
              <a:rPr lang="en-US" dirty="0"/>
              <a:t>of corpulmonale</a:t>
            </a:r>
          </a:p>
          <a:p>
            <a:r>
              <a:rPr lang="en-US" dirty="0" smtClean="0"/>
              <a:t>to achieve </a:t>
            </a:r>
            <a:r>
              <a:rPr lang="en-US" dirty="0"/>
              <a:t>PaO2 &gt; 60 mmHg</a:t>
            </a:r>
          </a:p>
          <a:p>
            <a:r>
              <a:rPr lang="en-US" dirty="0" smtClean="0"/>
              <a:t>delivered </a:t>
            </a:r>
            <a:r>
              <a:rPr lang="en-US" dirty="0"/>
              <a:t>with nasal cannula at 2 L/min can be </a:t>
            </a:r>
            <a:r>
              <a:rPr lang="en-US" dirty="0" smtClean="0"/>
              <a:t>titrated </a:t>
            </a:r>
            <a:r>
              <a:rPr lang="en-US" dirty="0"/>
              <a:t>with ABG or pulse oximeter</a:t>
            </a:r>
          </a:p>
          <a:p>
            <a:pPr marL="0" indent="0">
              <a:buNone/>
            </a:pPr>
            <a:r>
              <a:rPr lang="en-US" dirty="0"/>
              <a:t>Oxygen therapy is effective than drug therapy </a:t>
            </a:r>
          </a:p>
          <a:p>
            <a:r>
              <a:rPr lang="en-US" dirty="0"/>
              <a:t>T</a:t>
            </a:r>
            <a:r>
              <a:rPr lang="en-US" dirty="0" smtClean="0"/>
              <a:t>o </a:t>
            </a:r>
            <a:r>
              <a:rPr lang="en-US" dirty="0"/>
              <a:t>decrease pulmonary vascular resistance</a:t>
            </a:r>
          </a:p>
          <a:p>
            <a:r>
              <a:rPr lang="en-US" dirty="0"/>
              <a:t>P</a:t>
            </a:r>
            <a:r>
              <a:rPr lang="en-US" dirty="0" smtClean="0"/>
              <a:t>ulmonary </a:t>
            </a:r>
            <a:r>
              <a:rPr lang="en-US" dirty="0"/>
              <a:t>hypertension can be attenuated with this</a:t>
            </a:r>
          </a:p>
          <a:p>
            <a:r>
              <a:rPr lang="en-US" dirty="0"/>
              <a:t>C</a:t>
            </a:r>
            <a:r>
              <a:rPr lang="en-US" dirty="0" smtClean="0"/>
              <a:t>an </a:t>
            </a:r>
            <a:r>
              <a:rPr lang="en-US" dirty="0"/>
              <a:t>alter </a:t>
            </a:r>
            <a:r>
              <a:rPr lang="en-US" dirty="0" smtClean="0"/>
              <a:t>Erythrocytosis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0743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Drugs - </a:t>
            </a:r>
          </a:p>
          <a:p>
            <a:r>
              <a:rPr lang="en-US" dirty="0"/>
              <a:t>L</a:t>
            </a:r>
            <a:r>
              <a:rPr lang="en-US" dirty="0" smtClean="0"/>
              <a:t>ong </a:t>
            </a:r>
            <a:r>
              <a:rPr lang="en-US" dirty="0"/>
              <a:t>acting beta 2 agonists, </a:t>
            </a:r>
          </a:p>
          <a:p>
            <a:r>
              <a:rPr lang="en-US" dirty="0"/>
              <a:t>I</a:t>
            </a:r>
            <a:r>
              <a:rPr lang="en-US" dirty="0" smtClean="0"/>
              <a:t>nhaled </a:t>
            </a:r>
            <a:r>
              <a:rPr lang="en-US" dirty="0"/>
              <a:t>corticosteroids</a:t>
            </a:r>
          </a:p>
          <a:p>
            <a:r>
              <a:rPr lang="en-US" dirty="0"/>
              <a:t>L</a:t>
            </a:r>
            <a:r>
              <a:rPr lang="en-US" dirty="0" smtClean="0"/>
              <a:t>ong </a:t>
            </a:r>
            <a:r>
              <a:rPr lang="en-US" dirty="0"/>
              <a:t>acting cholinergic drugs</a:t>
            </a:r>
          </a:p>
          <a:p>
            <a:r>
              <a:rPr lang="en-US" dirty="0"/>
              <a:t>D</a:t>
            </a:r>
            <a:r>
              <a:rPr lang="en-US" dirty="0" smtClean="0"/>
              <a:t>rug </a:t>
            </a:r>
            <a:r>
              <a:rPr lang="en-US" dirty="0"/>
              <a:t>therapy reduces dyspnea &amp; increase FEV1</a:t>
            </a:r>
          </a:p>
          <a:p>
            <a:r>
              <a:rPr lang="en-US" dirty="0" smtClean="0"/>
              <a:t>Decrease </a:t>
            </a:r>
            <a:r>
              <a:rPr lang="en-US" dirty="0"/>
              <a:t>exacerbation of COPD by 25%</a:t>
            </a:r>
          </a:p>
        </p:txBody>
      </p:sp>
    </p:spTree>
    <p:extLst>
      <p:ext uri="{BB962C8B-B14F-4D97-AF65-F5344CB8AC3E}">
        <p14:creationId xmlns:p14="http://schemas.microsoft.com/office/powerpoint/2010/main" val="165275417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Diuretics </a:t>
            </a:r>
            <a:r>
              <a:rPr lang="en-US" dirty="0"/>
              <a:t>can be administered if the presence of RV dysfunction or corpulmonale is suspected</a:t>
            </a:r>
          </a:p>
          <a:p>
            <a:r>
              <a:rPr lang="en-US" dirty="0" smtClean="0"/>
              <a:t>Be </a:t>
            </a:r>
            <a:r>
              <a:rPr lang="en-US" dirty="0"/>
              <a:t>careful as it induces decrement in chloride which leads to hypochloremic metabolic alkalosis</a:t>
            </a:r>
          </a:p>
          <a:p>
            <a:r>
              <a:rPr lang="en-US" dirty="0"/>
              <a:t>which depress ventilatory drive &amp; chronic CO2 retention</a:t>
            </a:r>
          </a:p>
          <a:p>
            <a:r>
              <a:rPr lang="en-US" dirty="0" smtClean="0"/>
              <a:t>Physical exercise </a:t>
            </a:r>
            <a:r>
              <a:rPr lang="en-US" dirty="0"/>
              <a:t>increase </a:t>
            </a:r>
            <a:r>
              <a:rPr lang="en-US" dirty="0" smtClean="0"/>
              <a:t>exercise </a:t>
            </a:r>
            <a:r>
              <a:rPr lang="en-US" dirty="0"/>
              <a:t>capacity of patients but has no change in the PFT</a:t>
            </a:r>
          </a:p>
          <a:p>
            <a:r>
              <a:rPr lang="en-US" dirty="0" smtClean="0"/>
              <a:t>Prompt deconditioning </a:t>
            </a:r>
            <a:r>
              <a:rPr lang="en-US" dirty="0"/>
              <a:t>occurs when PE is discontinued</a:t>
            </a:r>
          </a:p>
        </p:txBody>
      </p:sp>
    </p:spTree>
    <p:extLst>
      <p:ext uri="{BB962C8B-B14F-4D97-AF65-F5344CB8AC3E}">
        <p14:creationId xmlns:p14="http://schemas.microsoft.com/office/powerpoint/2010/main" val="30562384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Lung volume reduction surgery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</a:t>
            </a:r>
            <a:r>
              <a:rPr lang="en-US" dirty="0" smtClean="0"/>
              <a:t>or </a:t>
            </a:r>
            <a:r>
              <a:rPr lang="en-US" dirty="0"/>
              <a:t>patients who are not responding for maximal medical therapy</a:t>
            </a:r>
          </a:p>
          <a:p>
            <a:r>
              <a:rPr lang="en-US" dirty="0"/>
              <a:t>W</a:t>
            </a:r>
            <a:r>
              <a:rPr lang="en-US" dirty="0" smtClean="0"/>
              <a:t>ho </a:t>
            </a:r>
            <a:r>
              <a:rPr lang="en-US" dirty="0"/>
              <a:t>have regions of over distended, poorly functioning lung tissue </a:t>
            </a:r>
          </a:p>
          <a:p>
            <a:r>
              <a:rPr lang="en-US" dirty="0"/>
              <a:t>I</a:t>
            </a:r>
            <a:r>
              <a:rPr lang="en-US" dirty="0" smtClean="0"/>
              <a:t>t </a:t>
            </a:r>
            <a:r>
              <a:rPr lang="en-US" dirty="0"/>
              <a:t>helps to have normal areas of the lung to expand &amp; improve lung function and quality of life</a:t>
            </a:r>
          </a:p>
          <a:p>
            <a:r>
              <a:rPr lang="en-US" dirty="0"/>
              <a:t>A</a:t>
            </a:r>
            <a:r>
              <a:rPr lang="en-US" dirty="0" smtClean="0"/>
              <a:t>pproach </a:t>
            </a:r>
            <a:r>
              <a:rPr lang="en-US" dirty="0"/>
              <a:t>for the surgery is through VATS or median sternotomy</a:t>
            </a:r>
          </a:p>
        </p:txBody>
      </p:sp>
    </p:spTree>
    <p:extLst>
      <p:ext uri="{BB962C8B-B14F-4D97-AF65-F5344CB8AC3E}">
        <p14:creationId xmlns:p14="http://schemas.microsoft.com/office/powerpoint/2010/main" val="273716688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Proposed mechanism for improvement after the surgery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↑</a:t>
            </a:r>
            <a:r>
              <a:rPr lang="en-US" dirty="0" smtClean="0"/>
              <a:t> </a:t>
            </a:r>
            <a:r>
              <a:rPr lang="en-US" dirty="0"/>
              <a:t>in elastic recoil and increase in </a:t>
            </a:r>
            <a:r>
              <a:rPr lang="en-US" dirty="0" smtClean="0"/>
              <a:t>expiratory airflow</a:t>
            </a:r>
            <a:endParaRPr lang="en-US" dirty="0"/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↓</a:t>
            </a:r>
            <a:r>
              <a:rPr lang="en-US" dirty="0" smtClean="0"/>
              <a:t> </a:t>
            </a:r>
            <a:r>
              <a:rPr lang="en-US" dirty="0"/>
              <a:t>degree of hyperinflation which improves chest wall and diaphragmatic mechanics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↓</a:t>
            </a:r>
            <a:r>
              <a:rPr lang="en-US" dirty="0" smtClean="0"/>
              <a:t> </a:t>
            </a:r>
            <a:r>
              <a:rPr lang="en-US" dirty="0"/>
              <a:t>in the non uniformity of regional ventilation and perfusion which </a:t>
            </a:r>
            <a:r>
              <a:rPr lang="en-US" dirty="0" smtClean="0"/>
              <a:t>improve: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Alveolar </a:t>
            </a:r>
            <a:r>
              <a:rPr lang="en-US" dirty="0"/>
              <a:t>gas </a:t>
            </a:r>
            <a:r>
              <a:rPr lang="en-US" dirty="0" smtClean="0"/>
              <a:t>exchange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Increase </a:t>
            </a:r>
            <a:r>
              <a:rPr lang="en-US" dirty="0"/>
              <a:t>effectiveness of ventilation</a:t>
            </a:r>
          </a:p>
        </p:txBody>
      </p:sp>
    </p:spTree>
    <p:extLst>
      <p:ext uri="{BB962C8B-B14F-4D97-AF65-F5344CB8AC3E}">
        <p14:creationId xmlns:p14="http://schemas.microsoft.com/office/powerpoint/2010/main" val="77062306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anesthetic management of </a:t>
            </a:r>
            <a:r>
              <a:rPr lang="en-US" dirty="0" smtClean="0"/>
              <a:t>LVRS</a:t>
            </a:r>
            <a:br>
              <a:rPr lang="en-US" dirty="0" smtClean="0"/>
            </a:br>
            <a:r>
              <a:rPr lang="en-US" dirty="0" smtClean="0"/>
              <a:t>(Lung volume reduction surgery)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U</a:t>
            </a:r>
            <a:r>
              <a:rPr lang="en-US" dirty="0" smtClean="0"/>
              <a:t>ses </a:t>
            </a:r>
            <a:r>
              <a:rPr lang="en-US" dirty="0"/>
              <a:t>double lumen </a:t>
            </a:r>
            <a:r>
              <a:rPr lang="en-US" dirty="0" smtClean="0"/>
              <a:t>tube(DLT)</a:t>
            </a:r>
            <a:endParaRPr lang="en-US" dirty="0"/>
          </a:p>
          <a:p>
            <a:r>
              <a:rPr lang="en-US" dirty="0"/>
              <a:t>D</a:t>
            </a:r>
            <a:r>
              <a:rPr lang="en-US" dirty="0" smtClean="0"/>
              <a:t>ecrease </a:t>
            </a:r>
            <a:r>
              <a:rPr lang="en-US" dirty="0"/>
              <a:t>positive pressure </a:t>
            </a:r>
            <a:r>
              <a:rPr lang="en-US" dirty="0" smtClean="0"/>
              <a:t>ventilation</a:t>
            </a:r>
            <a:endParaRPr lang="en-US" dirty="0"/>
          </a:p>
          <a:p>
            <a:r>
              <a:rPr lang="en-US" dirty="0" smtClean="0"/>
              <a:t>Peak airway </a:t>
            </a:r>
            <a:r>
              <a:rPr lang="en-US" dirty="0"/>
              <a:t>pressure &lt; 25 </a:t>
            </a:r>
            <a:r>
              <a:rPr lang="en-US" dirty="0" smtClean="0"/>
              <a:t>cmH</a:t>
            </a:r>
            <a:r>
              <a:rPr lang="en-US" sz="2000" dirty="0" smtClean="0"/>
              <a:t>2</a:t>
            </a:r>
            <a:r>
              <a:rPr lang="en-US" dirty="0" smtClean="0"/>
              <a:t>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78092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ANESTHETIC MANAGEMENT OF COPD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History that helps to determine: cause, severity &amp; course of COPD</a:t>
            </a:r>
          </a:p>
          <a:p>
            <a:r>
              <a:rPr lang="en-US" dirty="0" smtClean="0"/>
              <a:t>Smoking history, current medication recent use of corticosteroids </a:t>
            </a:r>
          </a:p>
          <a:p>
            <a:r>
              <a:rPr lang="en-US" dirty="0" smtClean="0"/>
              <a:t>Frequency of exacerbation, timing of most recent exacerbation</a:t>
            </a:r>
          </a:p>
          <a:p>
            <a:r>
              <a:rPr lang="en-US" dirty="0" smtClean="0"/>
              <a:t>Exercise tolerance</a:t>
            </a:r>
          </a:p>
          <a:p>
            <a:r>
              <a:rPr lang="en-US" dirty="0" smtClean="0"/>
              <a:t>The need for hospitalization</a:t>
            </a:r>
          </a:p>
          <a:p>
            <a:r>
              <a:rPr lang="en-US" dirty="0" smtClean="0"/>
              <a:t>The need for NIPPV or </a:t>
            </a:r>
            <a:r>
              <a:rPr lang="en-US" dirty="0" err="1" smtClean="0"/>
              <a:t>H</a:t>
            </a:r>
            <a:r>
              <a:rPr lang="en-US" sz="2400" dirty="0" err="1" smtClean="0"/>
              <a:t>x</a:t>
            </a:r>
            <a:r>
              <a:rPr lang="en-US" sz="2400" dirty="0" smtClean="0"/>
              <a:t> of </a:t>
            </a:r>
            <a:r>
              <a:rPr lang="en-US" dirty="0" smtClean="0"/>
              <a:t>mechanical ventilation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14663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Concomitant diseases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COPD is associated with: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Diabetes Mellitus(DM)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Hypertension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Peripheral vascular disease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Heart failure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Lung cancer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Cardiac dysrhythmia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Ischemic heart disease</a:t>
            </a:r>
          </a:p>
        </p:txBody>
      </p:sp>
    </p:spTree>
    <p:extLst>
      <p:ext uri="{BB962C8B-B14F-4D97-AF65-F5344CB8AC3E}">
        <p14:creationId xmlns:p14="http://schemas.microsoft.com/office/powerpoint/2010/main" val="425779264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Long acting bronchodilators</a:t>
            </a:r>
          </a:p>
          <a:p>
            <a:r>
              <a:rPr lang="en-US" dirty="0" smtClean="0"/>
              <a:t>Anticholinergics</a:t>
            </a:r>
          </a:p>
          <a:p>
            <a:r>
              <a:rPr lang="en-US" dirty="0" smtClean="0"/>
              <a:t>Inhaled corticosteroids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Should be continued until the morning of the surgery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Patients should have to be optimized to decrease morbidity &amp; mortality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Value of PFT preoperatively is controversial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ABG &amp; PFT better in predicting pulmonary function after resection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Do not reliably predict the occurrence of PPC in non thoracic surgery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44370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Presence of smoking history, productive cough &amp; wheeze better predict PPCs than spirometric tests</a:t>
            </a:r>
          </a:p>
          <a:p>
            <a:r>
              <a:rPr lang="en-US" dirty="0" smtClean="0"/>
              <a:t>COPD patients undergoing peripheral surgeries do not require PFT, if doubt exists FEV</a:t>
            </a:r>
            <a:r>
              <a:rPr lang="en-US" sz="2000" dirty="0" smtClean="0"/>
              <a:t>1 </a:t>
            </a:r>
            <a:r>
              <a:rPr lang="en-US" dirty="0" smtClean="0"/>
              <a:t>is enough</a:t>
            </a:r>
          </a:p>
          <a:p>
            <a:r>
              <a:rPr lang="en-US" dirty="0" smtClean="0"/>
              <a:t>Patients defined as high risk by spirometric measurements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FEV1 &lt; 70% &amp; FEV1: FVC &lt; 65% OR ABG PaCO</a:t>
            </a:r>
            <a:r>
              <a:rPr lang="en-US" sz="2000" dirty="0" smtClean="0"/>
              <a:t>2</a:t>
            </a:r>
            <a:r>
              <a:rPr lang="en-US" dirty="0" smtClean="0"/>
              <a:t> &gt; 45 mmHg</a:t>
            </a:r>
          </a:p>
          <a:p>
            <a:r>
              <a:rPr lang="en-US" dirty="0" smtClean="0"/>
              <a:t>Can undergo surgery including lung resection with acceptable PPC</a:t>
            </a:r>
          </a:p>
          <a:p>
            <a:r>
              <a:rPr lang="en-US" dirty="0" smtClean="0"/>
              <a:t>PFT should be used to optimize patients not predict risk</a:t>
            </a:r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47574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Indication for preop PFT</a:t>
            </a:r>
            <a:br>
              <a:rPr lang="en-US" dirty="0" smtClean="0"/>
            </a:br>
            <a:r>
              <a:rPr lang="en-US" dirty="0" smtClean="0"/>
              <a:t>(including pulmonologist consultation)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Hypoxemia on room air, the need for home O</a:t>
            </a:r>
            <a:r>
              <a:rPr lang="en-US" sz="2000" dirty="0" smtClean="0"/>
              <a:t>2 </a:t>
            </a:r>
            <a:r>
              <a:rPr lang="en-US" dirty="0" smtClean="0"/>
              <a:t>without a known cause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Bicarbonate concentration of ≥ 33 </a:t>
            </a:r>
            <a:r>
              <a:rPr lang="en-US" dirty="0" err="1" smtClean="0"/>
              <a:t>mEq</a:t>
            </a:r>
            <a:r>
              <a:rPr lang="en-US" dirty="0"/>
              <a:t>/L </a:t>
            </a:r>
            <a:r>
              <a:rPr lang="en-US" dirty="0" smtClean="0"/>
              <a:t>or PaCO</a:t>
            </a:r>
            <a:r>
              <a:rPr lang="en-US" sz="2000" dirty="0" smtClean="0"/>
              <a:t>2</a:t>
            </a:r>
            <a:r>
              <a:rPr lang="en-US" dirty="0" smtClean="0"/>
              <a:t> ≥ 50 whose pulmonary disease is not evaluated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History of respiratory failure resulting from a problem that still exists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Severe shortness of breath attributed to respiratory disease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Planned pneumonectomy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Difficulty in assessing pulmonary function by clinical sign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96445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87680"/>
            <a:ext cx="10515600" cy="568928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7. The need to distinguish between potential causes of significant respiratory compromise</a:t>
            </a:r>
          </a:p>
          <a:p>
            <a:pPr marL="0" indent="0">
              <a:buNone/>
            </a:pPr>
            <a:r>
              <a:rPr lang="en-US" dirty="0" smtClean="0"/>
              <a:t>8. The need to determine the response to bronchodilator</a:t>
            </a:r>
          </a:p>
          <a:p>
            <a:pPr marL="0" indent="0">
              <a:buNone/>
            </a:pPr>
            <a:r>
              <a:rPr lang="en-US" dirty="0" smtClean="0"/>
              <a:t>9. Suspected pulmonary hypertension </a:t>
            </a:r>
          </a:p>
          <a:p>
            <a:r>
              <a:rPr lang="en-US" dirty="0" smtClean="0"/>
              <a:t>Carefully assess right ventricular function – clinical exam &amp; echo (advanced pulmonary function)</a:t>
            </a:r>
          </a:p>
          <a:p>
            <a:r>
              <a:rPr lang="en-US" dirty="0" smtClean="0"/>
              <a:t>Ventilatory function should be assessed – static condition &amp; dynamic condition – through flow rate</a:t>
            </a:r>
          </a:p>
          <a:p>
            <a:r>
              <a:rPr lang="en-US" dirty="0" smtClean="0"/>
              <a:t>Expiratory flow rates plotted against lung volumes to produce flow volume curves</a:t>
            </a:r>
          </a:p>
          <a:p>
            <a:r>
              <a:rPr lang="en-US" dirty="0" smtClean="0"/>
              <a:t>When flow rates are added during inspiration to these curves flow volume loops are obtained</a:t>
            </a:r>
          </a:p>
        </p:txBody>
      </p:sp>
    </p:spTree>
    <p:extLst>
      <p:ext uri="{BB962C8B-B14F-4D97-AF65-F5344CB8AC3E}">
        <p14:creationId xmlns:p14="http://schemas.microsoft.com/office/powerpoint/2010/main" val="203006683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flow rate </a:t>
            </a:r>
            <a:r>
              <a:rPr lang="en-US" dirty="0" smtClean="0"/>
              <a:t>is zero </a:t>
            </a:r>
            <a:r>
              <a:rPr lang="en-US" dirty="0"/>
              <a:t>at TLC before the start of </a:t>
            </a:r>
            <a:r>
              <a:rPr lang="en-US" dirty="0" smtClean="0"/>
              <a:t>expiration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Once </a:t>
            </a:r>
            <a:r>
              <a:rPr lang="en-US" dirty="0"/>
              <a:t>forced expiration begins, the peak flow rate is achieved rapidly, and the </a:t>
            </a:r>
            <a:r>
              <a:rPr lang="en-US" dirty="0" smtClean="0"/>
              <a:t>flow rate </a:t>
            </a:r>
            <a:r>
              <a:rPr lang="en-US" dirty="0"/>
              <a:t>then falls in a linear fashion as the lung volume </a:t>
            </a:r>
            <a:r>
              <a:rPr lang="en-US" dirty="0" smtClean="0"/>
              <a:t>decreases to RV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During </a:t>
            </a:r>
            <a:r>
              <a:rPr lang="en-US" dirty="0"/>
              <a:t>maximal inspiration from RV to TLC, the inspiratory flow is most rapid at the midpoint of inspiration, so </a:t>
            </a:r>
            <a:r>
              <a:rPr lang="en-US" dirty="0" smtClean="0"/>
              <a:t>that the </a:t>
            </a:r>
            <a:r>
              <a:rPr lang="en-US" dirty="0"/>
              <a:t>inspiratory curve is U-shaped</a:t>
            </a:r>
          </a:p>
        </p:txBody>
      </p:sp>
    </p:spTree>
    <p:extLst>
      <p:ext uri="{BB962C8B-B14F-4D97-AF65-F5344CB8AC3E}">
        <p14:creationId xmlns:p14="http://schemas.microsoft.com/office/powerpoint/2010/main" val="344379801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1" y="1844040"/>
            <a:ext cx="7567612" cy="5013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57074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1560" y="304800"/>
            <a:ext cx="7208520" cy="633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88360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44401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41667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41133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35280"/>
            <a:ext cx="10515600" cy="5841683"/>
          </a:xfrm>
        </p:spPr>
        <p:txBody>
          <a:bodyPr/>
          <a:lstStyle/>
          <a:p>
            <a:r>
              <a:rPr lang="en-US" dirty="0"/>
              <a:t>What part of the flow-volume loop is represented below the x axis (the </a:t>
            </a:r>
            <a:r>
              <a:rPr lang="en-US" dirty="0" smtClean="0"/>
              <a:t>negative deflection?)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720" y="1158240"/>
            <a:ext cx="6858000" cy="489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25823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518160"/>
            <a:ext cx="2657475" cy="496808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955" y="670560"/>
            <a:ext cx="2609850" cy="481568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7595" y="899160"/>
            <a:ext cx="2914650" cy="469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66578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Major Risk factors for PPC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9144000" cy="448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88624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COPD </a:t>
            </a:r>
            <a:r>
              <a:rPr lang="en-US" dirty="0"/>
              <a:t>there is a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↓</a:t>
            </a:r>
            <a:r>
              <a:rPr lang="en-US" dirty="0" smtClean="0"/>
              <a:t> </a:t>
            </a:r>
            <a:r>
              <a:rPr lang="en-US" dirty="0"/>
              <a:t>in the </a:t>
            </a:r>
            <a:r>
              <a:rPr lang="en-US" dirty="0" smtClean="0"/>
              <a:t>expiratory flow </a:t>
            </a:r>
            <a:r>
              <a:rPr lang="en-US" dirty="0"/>
              <a:t>rate at any given lung </a:t>
            </a:r>
            <a:r>
              <a:rPr lang="en-US" dirty="0" smtClean="0"/>
              <a:t>volume</a:t>
            </a:r>
          </a:p>
          <a:p>
            <a:r>
              <a:rPr lang="en-US" dirty="0"/>
              <a:t>The expiratory curve </a:t>
            </a:r>
            <a:r>
              <a:rPr lang="en-US" dirty="0" smtClean="0"/>
              <a:t>is upward </a:t>
            </a:r>
            <a:r>
              <a:rPr lang="en-US" dirty="0"/>
              <a:t>due to </a:t>
            </a:r>
            <a:r>
              <a:rPr lang="en-US" dirty="0" smtClean="0"/>
              <a:t>homogenous </a:t>
            </a:r>
            <a:r>
              <a:rPr lang="en-US" dirty="0"/>
              <a:t>emptying of the </a:t>
            </a:r>
            <a:r>
              <a:rPr lang="en-US" dirty="0" smtClean="0"/>
              <a:t>airways</a:t>
            </a:r>
          </a:p>
          <a:p>
            <a:r>
              <a:rPr lang="en-US" dirty="0" smtClean="0"/>
              <a:t> The RV </a:t>
            </a:r>
            <a:r>
              <a:rPr lang="en-US" dirty="0"/>
              <a:t>is increased because of air </a:t>
            </a:r>
            <a:r>
              <a:rPr lang="en-US" dirty="0" smtClean="0"/>
              <a:t>trapping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55149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Risk reduction techniques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Cessation of smoking</a:t>
            </a:r>
          </a:p>
          <a:p>
            <a:r>
              <a:rPr lang="en-US" dirty="0" smtClean="0"/>
              <a:t>is </a:t>
            </a:r>
            <a:r>
              <a:rPr lang="en-US" dirty="0"/>
              <a:t>the single </a:t>
            </a:r>
            <a:r>
              <a:rPr lang="en-US" dirty="0" smtClean="0"/>
              <a:t>most important </a:t>
            </a:r>
            <a:r>
              <a:rPr lang="en-US" dirty="0"/>
              <a:t>risk factor for the development of COPD and </a:t>
            </a:r>
            <a:r>
              <a:rPr lang="en-US" dirty="0" smtClean="0"/>
              <a:t>death caused </a:t>
            </a:r>
            <a:r>
              <a:rPr lang="en-US" dirty="0"/>
              <a:t>by lung </a:t>
            </a:r>
            <a:r>
              <a:rPr lang="en-US" dirty="0" smtClean="0"/>
              <a:t>disease</a:t>
            </a:r>
          </a:p>
          <a:p>
            <a:r>
              <a:rPr lang="en-US" dirty="0"/>
              <a:t>The maximum benefit of </a:t>
            </a:r>
            <a:r>
              <a:rPr lang="en-US" dirty="0" smtClean="0"/>
              <a:t>stopping </a:t>
            </a:r>
            <a:r>
              <a:rPr lang="en-US" dirty="0"/>
              <a:t>is not usually seen </a:t>
            </a:r>
            <a:r>
              <a:rPr lang="en-US" dirty="0" smtClean="0"/>
              <a:t>unless it </a:t>
            </a:r>
            <a:r>
              <a:rPr lang="en-US" dirty="0"/>
              <a:t>is stopped </a:t>
            </a:r>
            <a:r>
              <a:rPr lang="en-US" dirty="0" smtClean="0"/>
              <a:t>&gt; 8 </a:t>
            </a:r>
            <a:r>
              <a:rPr lang="en-US" dirty="0"/>
              <a:t>weeks prior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Predictive factors for the development of pulmonary complication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Lower diffusing capacity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&gt;60 pack years smoking</a:t>
            </a:r>
          </a:p>
          <a:p>
            <a:r>
              <a:rPr lang="en-US" dirty="0" smtClean="0"/>
              <a:t>Stopping smoking will make the symptoms of bronchiolitis to resolve</a:t>
            </a:r>
          </a:p>
          <a:p>
            <a:r>
              <a:rPr lang="en-US" dirty="0" smtClean="0"/>
              <a:t>Stop the rapid loss of lung function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01926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Effect of stopping smoking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adverse effects of </a:t>
            </a:r>
            <a:r>
              <a:rPr lang="en-US" dirty="0" smtClean="0"/>
              <a:t>CO </a:t>
            </a:r>
            <a:r>
              <a:rPr lang="en-US" dirty="0"/>
              <a:t>on oxygen-carrying capacity &amp;</a:t>
            </a:r>
            <a:r>
              <a:rPr lang="en-US" dirty="0" smtClean="0"/>
              <a:t> </a:t>
            </a:r>
            <a:r>
              <a:rPr lang="en-US" dirty="0"/>
              <a:t>of nicotine</a:t>
            </a:r>
          </a:p>
          <a:p>
            <a:pPr marL="0" indent="0">
              <a:buNone/>
            </a:pPr>
            <a:r>
              <a:rPr lang="en-US" dirty="0"/>
              <a:t>on the </a:t>
            </a:r>
            <a:r>
              <a:rPr lang="en-US" dirty="0" smtClean="0"/>
              <a:t>CVS </a:t>
            </a:r>
            <a:r>
              <a:rPr lang="en-US" dirty="0"/>
              <a:t>are </a:t>
            </a:r>
            <a:r>
              <a:rPr lang="en-US" dirty="0" smtClean="0"/>
              <a:t>short</a:t>
            </a:r>
          </a:p>
          <a:p>
            <a:r>
              <a:rPr lang="en-US" dirty="0" smtClean="0"/>
              <a:t>In 12 </a:t>
            </a:r>
            <a:r>
              <a:rPr lang="en-US" dirty="0"/>
              <a:t>hours after </a:t>
            </a:r>
            <a:r>
              <a:rPr lang="en-US" dirty="0" smtClean="0"/>
              <a:t>stopping </a:t>
            </a:r>
            <a:r>
              <a:rPr lang="en-US" dirty="0"/>
              <a:t>of smoking, the Pao2 at </a:t>
            </a:r>
            <a:r>
              <a:rPr lang="en-US" dirty="0" smtClean="0"/>
              <a:t>P50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↑</a:t>
            </a:r>
            <a:r>
              <a:rPr lang="en-US" dirty="0" smtClean="0"/>
              <a:t> </a:t>
            </a:r>
            <a:r>
              <a:rPr lang="en-US" dirty="0"/>
              <a:t>from 22.9 to 26.4 mm </a:t>
            </a:r>
            <a:r>
              <a:rPr lang="en-US" dirty="0" smtClean="0"/>
              <a:t>Hg</a:t>
            </a:r>
            <a:endParaRPr lang="en-US" dirty="0"/>
          </a:p>
          <a:p>
            <a:r>
              <a:rPr lang="en-US" dirty="0" smtClean="0"/>
              <a:t> </a:t>
            </a:r>
            <a:r>
              <a:rPr lang="en-US" dirty="0"/>
              <a:t>the </a:t>
            </a:r>
            <a:r>
              <a:rPr lang="en-US" dirty="0" smtClean="0"/>
              <a:t>plasma levels </a:t>
            </a:r>
            <a:r>
              <a:rPr lang="en-US" dirty="0"/>
              <a:t>of carboxyhemoglobin decrease from 6.5% to about 1%.</a:t>
            </a:r>
          </a:p>
          <a:p>
            <a:r>
              <a:rPr lang="en-US" dirty="0" smtClean="0"/>
              <a:t>CO </a:t>
            </a:r>
            <a:r>
              <a:rPr lang="en-US" dirty="0"/>
              <a:t>have negative inotropic </a:t>
            </a:r>
            <a:r>
              <a:rPr lang="en-US" dirty="0" smtClean="0"/>
              <a:t>effects</a:t>
            </a:r>
          </a:p>
          <a:p>
            <a:r>
              <a:rPr lang="en-US" dirty="0" smtClean="0"/>
              <a:t>Sympathomimetic effect of nicotine lasts 20-30 minutes</a:t>
            </a:r>
          </a:p>
          <a:p>
            <a:r>
              <a:rPr lang="en-US" dirty="0" smtClean="0"/>
              <a:t>Short term abstinence doesn’t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↓ the incidence of PPC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14850794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Intermediate to Long-Term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Cigarette </a:t>
            </a:r>
            <a:r>
              <a:rPr lang="en-US" dirty="0" smtClean="0"/>
              <a:t>smoking causes - mucus </a:t>
            </a:r>
            <a:r>
              <a:rPr lang="en-US" dirty="0"/>
              <a:t>hypersecretion, impairment of </a:t>
            </a:r>
            <a:r>
              <a:rPr lang="en-US" dirty="0" smtClean="0"/>
              <a:t>mucociliary transport</a:t>
            </a:r>
            <a:r>
              <a:rPr lang="en-US" dirty="0"/>
              <a:t>, &amp;</a:t>
            </a:r>
            <a:r>
              <a:rPr lang="en-US" dirty="0" smtClean="0"/>
              <a:t> </a:t>
            </a:r>
            <a:r>
              <a:rPr lang="en-US" dirty="0"/>
              <a:t>narrowing of small </a:t>
            </a:r>
            <a:r>
              <a:rPr lang="en-US" dirty="0" smtClean="0"/>
              <a:t>airways</a:t>
            </a:r>
          </a:p>
          <a:p>
            <a:r>
              <a:rPr lang="en-US" dirty="0" smtClean="0"/>
              <a:t>Changes comes over weeks of abstinence</a:t>
            </a:r>
          </a:p>
          <a:p>
            <a:r>
              <a:rPr lang="en-US" dirty="0"/>
              <a:t>Return </a:t>
            </a:r>
            <a:r>
              <a:rPr lang="en-US" dirty="0" smtClean="0"/>
              <a:t>of normal </a:t>
            </a:r>
            <a:r>
              <a:rPr lang="en-US" dirty="0"/>
              <a:t>immune function requires at least 6 weeks of abstinence from smoking </a:t>
            </a:r>
            <a:endParaRPr lang="en-US" dirty="0" smtClean="0"/>
          </a:p>
          <a:p>
            <a:r>
              <a:rPr lang="en-US" dirty="0" smtClean="0"/>
              <a:t>Impair hepatic enzyme/ return of normal function need 6 weeks</a:t>
            </a:r>
          </a:p>
          <a:p>
            <a:r>
              <a:rPr lang="en-US" dirty="0" smtClean="0"/>
              <a:t>There </a:t>
            </a:r>
            <a:r>
              <a:rPr lang="en-US" dirty="0"/>
              <a:t>can be disadvantages to smoking cessation </a:t>
            </a:r>
            <a:r>
              <a:rPr lang="en-US" dirty="0" smtClean="0"/>
              <a:t>in the </a:t>
            </a:r>
            <a:r>
              <a:rPr lang="en-US" dirty="0"/>
              <a:t>immediate preoperative </a:t>
            </a:r>
            <a:r>
              <a:rPr lang="en-US" dirty="0" smtClean="0"/>
              <a:t>period: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Sputum production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</a:t>
            </a:r>
            <a:r>
              <a:rPr lang="en-US" dirty="0" smtClean="0"/>
              <a:t>atient </a:t>
            </a:r>
            <a:r>
              <a:rPr lang="en-US" dirty="0"/>
              <a:t>fear of the inability to </a:t>
            </a:r>
            <a:r>
              <a:rPr lang="en-US" dirty="0" smtClean="0"/>
              <a:t>handle stress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N</a:t>
            </a:r>
            <a:r>
              <a:rPr lang="en-US" dirty="0" smtClean="0"/>
              <a:t>icotine withdrawal symptoms </a:t>
            </a:r>
            <a:r>
              <a:rPr lang="en-US" dirty="0"/>
              <a:t>-</a:t>
            </a:r>
            <a:r>
              <a:rPr lang="en-US" dirty="0" smtClean="0"/>
              <a:t> </a:t>
            </a:r>
            <a:r>
              <a:rPr lang="en-US" dirty="0"/>
              <a:t>irritability, restlessness, sleep disturbances, and depression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34477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Aids in stopping smoking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Counseling </a:t>
            </a:r>
          </a:p>
          <a:p>
            <a:r>
              <a:rPr lang="en-US" dirty="0"/>
              <a:t>P</a:t>
            </a:r>
            <a:r>
              <a:rPr lang="en-US" dirty="0" smtClean="0"/>
              <a:t>harmacotherapy </a:t>
            </a:r>
          </a:p>
          <a:p>
            <a:r>
              <a:rPr lang="en-US" dirty="0" smtClean="0"/>
              <a:t>Nicotine </a:t>
            </a:r>
            <a:r>
              <a:rPr lang="en-US" dirty="0"/>
              <a:t>replacement </a:t>
            </a:r>
            <a:r>
              <a:rPr lang="en-US" dirty="0" smtClean="0"/>
              <a:t>therapy with </a:t>
            </a:r>
            <a:r>
              <a:rPr lang="en-US" dirty="0"/>
              <a:t>various delivery systems </a:t>
            </a:r>
            <a:r>
              <a:rPr lang="en-US" dirty="0" smtClean="0"/>
              <a:t>- patches</a:t>
            </a:r>
            <a:r>
              <a:rPr lang="en-US" dirty="0"/>
              <a:t>, inhalers, nasal sprays, </a:t>
            </a:r>
            <a:r>
              <a:rPr lang="en-US" dirty="0" smtClean="0"/>
              <a:t>lozenges, and gum</a:t>
            </a:r>
            <a:endParaRPr lang="en-US" dirty="0"/>
          </a:p>
          <a:p>
            <a:r>
              <a:rPr lang="en-US" dirty="0" smtClean="0"/>
              <a:t>The </a:t>
            </a:r>
            <a:r>
              <a:rPr lang="en-US" dirty="0"/>
              <a:t>atypical antidepressant bupropion in a sustained-release formulation </a:t>
            </a:r>
            <a:r>
              <a:rPr lang="en-US" dirty="0" smtClean="0"/>
              <a:t>can also </a:t>
            </a:r>
            <a:r>
              <a:rPr lang="en-US" dirty="0"/>
              <a:t>aid in smoking </a:t>
            </a:r>
            <a:r>
              <a:rPr lang="en-US" dirty="0" smtClean="0"/>
              <a:t>cessation</a:t>
            </a:r>
          </a:p>
          <a:p>
            <a:r>
              <a:rPr lang="en-US" dirty="0" smtClean="0"/>
              <a:t>The </a:t>
            </a:r>
            <a:r>
              <a:rPr lang="en-US" dirty="0"/>
              <a:t>drug is typically started </a:t>
            </a:r>
            <a:r>
              <a:rPr lang="en-US" dirty="0" smtClean="0"/>
              <a:t>1–2 weeks </a:t>
            </a:r>
            <a:r>
              <a:rPr lang="en-US" dirty="0"/>
              <a:t>before smoking is stopped</a:t>
            </a:r>
          </a:p>
        </p:txBody>
      </p:sp>
    </p:spTree>
    <p:extLst>
      <p:ext uri="{BB962C8B-B14F-4D97-AF65-F5344CB8AC3E}">
        <p14:creationId xmlns:p14="http://schemas.microsoft.com/office/powerpoint/2010/main" val="370579386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Nutritional status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Poor nutritional status with a low serum albumin level (&lt;</a:t>
            </a:r>
            <a:r>
              <a:rPr lang="en-US" dirty="0" smtClean="0"/>
              <a:t>3.5mg/</a:t>
            </a:r>
            <a:r>
              <a:rPr lang="en-US" dirty="0" err="1" smtClean="0"/>
              <a:t>dL</a:t>
            </a:r>
            <a:r>
              <a:rPr lang="en-US" dirty="0"/>
              <a:t>) is a powerful predictor of </a:t>
            </a:r>
            <a:r>
              <a:rPr lang="en-US" dirty="0" smtClean="0"/>
              <a:t>PPC </a:t>
            </a:r>
            <a:r>
              <a:rPr lang="en-US" dirty="0"/>
              <a:t>in COPD </a:t>
            </a:r>
            <a:r>
              <a:rPr lang="en-US" dirty="0" smtClean="0"/>
              <a:t>patients </a:t>
            </a:r>
          </a:p>
          <a:p>
            <a:r>
              <a:rPr lang="en-US" dirty="0" smtClean="0"/>
              <a:t>Malnutrition </a:t>
            </a:r>
            <a:r>
              <a:rPr lang="en-US" dirty="0"/>
              <a:t>can </a:t>
            </a:r>
            <a:r>
              <a:rPr lang="en-US" dirty="0" smtClean="0"/>
              <a:t>increase the </a:t>
            </a:r>
            <a:r>
              <a:rPr lang="en-US" dirty="0"/>
              <a:t>risk of prolonged postoperative air leaks after lung surgery</a:t>
            </a:r>
          </a:p>
        </p:txBody>
      </p:sp>
    </p:spTree>
    <p:extLst>
      <p:ext uri="{BB962C8B-B14F-4D97-AF65-F5344CB8AC3E}">
        <p14:creationId xmlns:p14="http://schemas.microsoft.com/office/powerpoint/2010/main" val="290311353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Effects of smoking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98320"/>
            <a:ext cx="10515599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38286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Reducing PPC in non-cardiothoracic surgeries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9320" y="1690688"/>
            <a:ext cx="7421880" cy="478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9489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Periop pulmonary complication reduction strategy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7486650" cy="474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56271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Regional anesthesia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Preferred technique </a:t>
            </a:r>
          </a:p>
          <a:p>
            <a:r>
              <a:rPr lang="en-US" dirty="0" smtClean="0"/>
              <a:t>Avoid risk of laryngospasm, bronchospasm, </a:t>
            </a:r>
            <a:r>
              <a:rPr lang="en-US" dirty="0" smtClean="0"/>
              <a:t>barotrauma &amp; hypoxemia</a:t>
            </a:r>
            <a:endParaRPr lang="en-US" dirty="0" smtClean="0"/>
          </a:p>
          <a:p>
            <a:r>
              <a:rPr lang="en-US" dirty="0" smtClean="0"/>
              <a:t>For extremity, lower abdominal &amp; non peritoneal procedures</a:t>
            </a:r>
          </a:p>
          <a:p>
            <a:r>
              <a:rPr lang="en-US" dirty="0" smtClean="0"/>
              <a:t>GA is reserved for upper abdominal &amp; thoracic </a:t>
            </a:r>
            <a:r>
              <a:rPr lang="en-US" dirty="0" smtClean="0"/>
              <a:t>procedures</a:t>
            </a:r>
          </a:p>
          <a:p>
            <a:r>
              <a:rPr lang="en-US" dirty="0" smtClean="0"/>
              <a:t>RA </a:t>
            </a:r>
            <a:r>
              <a:rPr lang="en-US" dirty="0"/>
              <a:t>via peripheral nerve blockade </a:t>
            </a:r>
            <a:r>
              <a:rPr lang="en-US" dirty="0" smtClean="0"/>
              <a:t>carries a </a:t>
            </a:r>
            <a:r>
              <a:rPr lang="en-US" dirty="0"/>
              <a:t>low risk of </a:t>
            </a:r>
            <a:r>
              <a:rPr lang="en-US" dirty="0" smtClean="0"/>
              <a:t>pulmonary complications</a:t>
            </a:r>
          </a:p>
          <a:p>
            <a:r>
              <a:rPr lang="en-US" dirty="0"/>
              <a:t>an interscalene block typically causes ipsilateral phrenic nerve palsy &amp;</a:t>
            </a:r>
            <a:r>
              <a:rPr lang="en-US" dirty="0" smtClean="0"/>
              <a:t> should </a:t>
            </a:r>
            <a:r>
              <a:rPr lang="en-US" dirty="0"/>
              <a:t>be avoided in patients with severe COPD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57566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RA can be employed if only heavy sedation &amp; large dose of anxiolytic is not going to be used</a:t>
            </a:r>
          </a:p>
          <a:p>
            <a:r>
              <a:rPr lang="en-US" dirty="0" smtClean="0"/>
              <a:t>Patients are sensitive for ventilatory depressant effects of such drugs</a:t>
            </a:r>
          </a:p>
          <a:p>
            <a:r>
              <a:rPr lang="en-US" dirty="0" smtClean="0"/>
              <a:t>Sensory block above T6 is not recommended</a:t>
            </a:r>
          </a:p>
          <a:p>
            <a:r>
              <a:rPr lang="en-US" dirty="0" smtClean="0"/>
              <a:t>Above T6 impair ventilation that require active exhalation</a:t>
            </a:r>
          </a:p>
          <a:p>
            <a:r>
              <a:rPr lang="en-US" dirty="0" smtClean="0"/>
              <a:t>ERV, PEFR &amp; MMV are affected – impaired cough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9102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General anesthesia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IAAs are rapidly eliminated – sevoflurane &amp; desflurane</a:t>
            </a:r>
          </a:p>
          <a:p>
            <a:r>
              <a:rPr lang="en-US" dirty="0" smtClean="0"/>
              <a:t>Residual ventilatory depression (early postop) minimal</a:t>
            </a:r>
          </a:p>
          <a:p>
            <a:r>
              <a:rPr lang="en-US" dirty="0" smtClean="0"/>
              <a:t>Bronchodilating effect &amp; treat status asthmaticus </a:t>
            </a:r>
          </a:p>
          <a:p>
            <a:r>
              <a:rPr lang="en-US" dirty="0" smtClean="0"/>
              <a:t>Desflurane increase airway resistance and irritant – incases of severe airway reactivity</a:t>
            </a:r>
          </a:p>
          <a:p>
            <a:r>
              <a:rPr lang="en-US" dirty="0" smtClean="0"/>
              <a:t>Prolonged emergence in patients with significant airway obstruction</a:t>
            </a:r>
          </a:p>
          <a:p>
            <a:r>
              <a:rPr lang="en-US" dirty="0" smtClean="0"/>
              <a:t>Trapping of air also trap IAAs</a:t>
            </a:r>
          </a:p>
          <a:p>
            <a:r>
              <a:rPr lang="en-US" dirty="0" smtClean="0"/>
              <a:t>TIVA with propofol is another option</a:t>
            </a:r>
          </a:p>
          <a:p>
            <a:r>
              <a:rPr lang="en-US" dirty="0" smtClean="0"/>
              <a:t>Remifentanil relieve airway irritation of the ETT</a:t>
            </a:r>
          </a:p>
          <a:p>
            <a:r>
              <a:rPr lang="en-US" dirty="0" smtClean="0"/>
              <a:t>Required level of propofol can be reduced to decrease risk of hypotension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55641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Nitrous oxide cannot be used due to bullae – tension pneumothorax</a:t>
            </a:r>
          </a:p>
          <a:p>
            <a:r>
              <a:rPr lang="en-US" dirty="0" smtClean="0"/>
              <a:t>Limit inspired(FiO</a:t>
            </a:r>
            <a:r>
              <a:rPr lang="en-US" sz="2000" dirty="0" smtClean="0"/>
              <a:t>2</a:t>
            </a:r>
            <a:r>
              <a:rPr lang="en-US" dirty="0" smtClean="0"/>
              <a:t>) oxygen that can be used </a:t>
            </a:r>
          </a:p>
          <a:p>
            <a:r>
              <a:rPr lang="en-US" dirty="0" smtClean="0"/>
              <a:t>IAA attenuate regional hypoxic pulmonary vasoconstriction – shunting</a:t>
            </a:r>
          </a:p>
          <a:p>
            <a:r>
              <a:rPr lang="en-US" dirty="0" smtClean="0"/>
              <a:t>Opioids are less useful – prolonged emergence/ventilatory depression</a:t>
            </a:r>
          </a:p>
          <a:p>
            <a:r>
              <a:rPr lang="en-US" dirty="0" smtClean="0"/>
              <a:t>Thiopental &amp; midazolam – have prolonged effect</a:t>
            </a:r>
          </a:p>
          <a:p>
            <a:r>
              <a:rPr lang="en-US" dirty="0" smtClean="0"/>
              <a:t>Humidification of inspired gas</a:t>
            </a:r>
          </a:p>
          <a:p>
            <a:r>
              <a:rPr lang="en-US" dirty="0" smtClean="0"/>
              <a:t>Low gas flow to keep airway secretion moist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86800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Patients are at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↑ risk of lung injury during mechanical ventilation</a:t>
            </a:r>
          </a:p>
          <a:p>
            <a:pPr marL="0" indent="0">
              <a:buNone/>
            </a:pPr>
            <a:r>
              <a:rPr lang="en-US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Goals of MV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Avoid dynamic hyperinflation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Prevent development of </a:t>
            </a:r>
            <a:r>
              <a:rPr lang="en-US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autoPEEP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TV 6 – 8ml/kg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Peak airway pressure &lt; 3o cmH2O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FiO2 titrated to keep the SaO2 &gt; 90%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20736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goals leads to lower levels of inflammatory markers in </a:t>
            </a:r>
            <a:r>
              <a:rPr lang="en-US" dirty="0" err="1" smtClean="0"/>
              <a:t>broncho</a:t>
            </a:r>
            <a:r>
              <a:rPr lang="en-US" dirty="0" smtClean="0"/>
              <a:t>-alveolar lavage fluid of mechanical ventilated patients</a:t>
            </a:r>
          </a:p>
          <a:p>
            <a:r>
              <a:rPr lang="en-US" dirty="0" smtClean="0"/>
              <a:t>Moderate to severe COPD – cystic air space in the alveoli – risk of rupture once PPV is started</a:t>
            </a:r>
          </a:p>
          <a:p>
            <a:r>
              <a:rPr lang="en-US" dirty="0" smtClean="0"/>
              <a:t>BPF &amp; tension pneumothorax – </a:t>
            </a:r>
            <a:r>
              <a:rPr lang="en-US" dirty="0" err="1" smtClean="0"/>
              <a:t>DDx</a:t>
            </a:r>
            <a:r>
              <a:rPr lang="en-US" dirty="0" smtClean="0"/>
              <a:t> in hemodynamically unstable</a:t>
            </a:r>
          </a:p>
          <a:p>
            <a:r>
              <a:rPr lang="en-US" dirty="0" err="1" smtClean="0"/>
              <a:t>Airtrapping</a:t>
            </a:r>
            <a:r>
              <a:rPr lang="en-US" dirty="0" smtClean="0"/>
              <a:t> – </a:t>
            </a:r>
            <a:r>
              <a:rPr lang="en-US" dirty="0" err="1" smtClean="0"/>
              <a:t>autoPEEP</a:t>
            </a:r>
            <a:r>
              <a:rPr lang="en-US" dirty="0" smtClean="0"/>
              <a:t>(intrinsic PEEP) – dynamic hyperinflation – when PPV applied with long expiratory time is not applied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95941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↑ intrathoracic pressure →↓venous return which increase pulmonary artery pressure → RV strain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Inflated lung exert pressure on the heart – limits its ability to expand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During diastole even with adequate preload </a:t>
            </a:r>
          </a:p>
          <a:p>
            <a:r>
              <a:rPr lang="en-US" dirty="0"/>
              <a:t>Shift of the ventricular septum &amp;</a:t>
            </a:r>
            <a:r>
              <a:rPr lang="en-US" dirty="0" smtClean="0"/>
              <a:t> ventricular </a:t>
            </a:r>
            <a:r>
              <a:rPr lang="en-US" dirty="0"/>
              <a:t>interdependence due to the shared </a:t>
            </a:r>
            <a:r>
              <a:rPr lang="en-US" dirty="0" smtClean="0"/>
              <a:t>pericardium may </a:t>
            </a:r>
            <a:r>
              <a:rPr lang="en-US" dirty="0"/>
              <a:t>cause a distended </a:t>
            </a:r>
            <a:r>
              <a:rPr lang="en-US" dirty="0" smtClean="0"/>
              <a:t>RV </a:t>
            </a:r>
            <a:r>
              <a:rPr lang="en-US" dirty="0"/>
              <a:t>to impinge on filling </a:t>
            </a:r>
            <a:r>
              <a:rPr lang="en-US" dirty="0" smtClean="0"/>
              <a:t>of the LV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83714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3115"/>
          </a:xfrm>
        </p:spPr>
        <p:txBody>
          <a:bodyPr/>
          <a:lstStyle/>
          <a:p>
            <a:r>
              <a:rPr lang="en-US" dirty="0" smtClean="0"/>
              <a:t>Air trapping during MV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8240"/>
            <a:ext cx="10515600" cy="50187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1.Capnography </a:t>
            </a:r>
            <a:r>
              <a:rPr lang="en-US" dirty="0"/>
              <a:t>shows that the carbon dioxide concentration does not plateau but is still upsloping at the time of </a:t>
            </a:r>
            <a:r>
              <a:rPr lang="en-US" dirty="0" smtClean="0"/>
              <a:t>the next </a:t>
            </a:r>
            <a:r>
              <a:rPr lang="en-US" dirty="0"/>
              <a:t>breath. This indicates that there is still admixture of </a:t>
            </a:r>
            <a:r>
              <a:rPr lang="en-US" dirty="0" smtClean="0"/>
              <a:t>air from </a:t>
            </a:r>
            <a:r>
              <a:rPr lang="en-US" dirty="0"/>
              <a:t>dead space reducing the </a:t>
            </a:r>
            <a:r>
              <a:rPr lang="en-US" dirty="0" smtClean="0"/>
              <a:t>ETCO2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Direct measurement of flow may be displayed </a:t>
            </a:r>
            <a:r>
              <a:rPr lang="en-US" dirty="0" smtClean="0"/>
              <a:t>graphically by </a:t>
            </a:r>
            <a:r>
              <a:rPr lang="en-US" dirty="0"/>
              <a:t>the ventilator, showing that the expiratory flow has </a:t>
            </a:r>
            <a:r>
              <a:rPr lang="en-US" dirty="0" smtClean="0"/>
              <a:t>not reached </a:t>
            </a:r>
            <a:r>
              <a:rPr lang="en-US" dirty="0"/>
              <a:t>baseline (zero) before initiation of the next </a:t>
            </a:r>
            <a:r>
              <a:rPr lang="en-US" dirty="0" smtClean="0"/>
              <a:t>breath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3. Direct measurement of the resulting PEEP can be performed using more advanced ventilators that are capable </a:t>
            </a:r>
            <a:r>
              <a:rPr lang="en-US" dirty="0" smtClean="0"/>
              <a:t>of an </a:t>
            </a:r>
            <a:r>
              <a:rPr lang="en-US" dirty="0"/>
              <a:t>expiratory hold</a:t>
            </a:r>
          </a:p>
        </p:txBody>
      </p:sp>
    </p:spTree>
    <p:extLst>
      <p:ext uri="{BB962C8B-B14F-4D97-AF65-F5344CB8AC3E}">
        <p14:creationId xmlns:p14="http://schemas.microsoft.com/office/powerpoint/2010/main" val="208657255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04800"/>
            <a:ext cx="10515600" cy="5872163"/>
          </a:xfrm>
        </p:spPr>
        <p:txBody>
          <a:bodyPr>
            <a:normAutofit/>
          </a:bodyPr>
          <a:lstStyle/>
          <a:p>
            <a:r>
              <a:rPr lang="en-US" dirty="0" smtClean="0"/>
              <a:t>Air trapping – hemodynamic instability,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↓venous return, ↑intrathoracic pressure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Treatment - ↓respiratory rate, ↑expiratory time, disconnect the patient from the ventilator too allow complete exhalation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Patients at risk of bronchospasm – light anesthesia &amp; airway manipulation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Treatment deepen anesthesia with propofol/ IAA 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Short acting bronchodilator through the ET tube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Suctioning secretion 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IV corticosteroid &amp; epinephrine if initial management fails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Avoid high FiO2 – oxygen species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45190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Surgery, anesthesia, &amp; positioning </a:t>
            </a:r>
            <a:r>
              <a:rPr lang="en-US" dirty="0" smtClean="0"/>
              <a:t>- airway </a:t>
            </a:r>
            <a:r>
              <a:rPr lang="en-US" dirty="0"/>
              <a:t>closure &amp;</a:t>
            </a:r>
            <a:r>
              <a:rPr lang="en-US" dirty="0" smtClean="0"/>
              <a:t> atelectasis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Alveoli containing 100% oxygen collapse faster than air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Barotrauma – in bullae with high positive airway </a:t>
            </a:r>
            <a:r>
              <a:rPr lang="en-US" dirty="0"/>
              <a:t>pressures are required to provide adequate </a:t>
            </a:r>
            <a:r>
              <a:rPr lang="en-US" dirty="0" smtClean="0"/>
              <a:t>ventilation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In spontaneously breathing COPD patients ventilatory depression is greater than in healthy patient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53036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Postoperative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Prevention </a:t>
            </a:r>
            <a:r>
              <a:rPr lang="en-US" dirty="0"/>
              <a:t>of </a:t>
            </a:r>
            <a:r>
              <a:rPr lang="en-US" dirty="0" smtClean="0"/>
              <a:t>PPC </a:t>
            </a:r>
            <a:r>
              <a:rPr lang="en-US" dirty="0"/>
              <a:t>is </a:t>
            </a:r>
            <a:r>
              <a:rPr lang="en-US" dirty="0" smtClean="0"/>
              <a:t>based on </a:t>
            </a:r>
            <a:r>
              <a:rPr lang="en-US" dirty="0"/>
              <a:t>maintaining adequate lung volumes, especially </a:t>
            </a:r>
            <a:r>
              <a:rPr lang="en-US" dirty="0" smtClean="0"/>
              <a:t>FRC</a:t>
            </a:r>
            <a:r>
              <a:rPr lang="en-US" dirty="0"/>
              <a:t> </a:t>
            </a:r>
            <a:r>
              <a:rPr lang="en-US" dirty="0" smtClean="0"/>
              <a:t>&amp; facilitating </a:t>
            </a:r>
            <a:r>
              <a:rPr lang="en-US" dirty="0"/>
              <a:t>an effective </a:t>
            </a:r>
            <a:r>
              <a:rPr lang="en-US" dirty="0" smtClean="0"/>
              <a:t>cough</a:t>
            </a:r>
          </a:p>
          <a:p>
            <a:r>
              <a:rPr lang="en-US" dirty="0" smtClean="0"/>
              <a:t>Lung expansion maneuvers –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Deep </a:t>
            </a:r>
            <a:r>
              <a:rPr lang="en-US" dirty="0"/>
              <a:t>breathing </a:t>
            </a:r>
            <a:r>
              <a:rPr lang="en-US" dirty="0" smtClean="0"/>
              <a:t>exercises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Incentive </a:t>
            </a:r>
            <a:r>
              <a:rPr lang="en-US" dirty="0"/>
              <a:t>spirometry,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</a:t>
            </a:r>
            <a:r>
              <a:rPr lang="en-US" dirty="0" smtClean="0"/>
              <a:t>hest </a:t>
            </a:r>
            <a:r>
              <a:rPr lang="en-US" dirty="0"/>
              <a:t>physiotherapy,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</a:t>
            </a:r>
            <a:r>
              <a:rPr lang="en-US" dirty="0" smtClean="0"/>
              <a:t>ositive pressure breathing techniques</a:t>
            </a:r>
          </a:p>
          <a:p>
            <a:r>
              <a:rPr lang="en-US" dirty="0" smtClean="0"/>
              <a:t>Prevent the occurrence of PPC in high risk patients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93760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0520"/>
            <a:ext cx="10515600" cy="5826443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↓</a:t>
            </a:r>
            <a:r>
              <a:rPr lang="en-US" dirty="0" smtClean="0"/>
              <a:t> </a:t>
            </a:r>
            <a:r>
              <a:rPr lang="en-US" dirty="0"/>
              <a:t>the risk of atelectasis by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↑ </a:t>
            </a:r>
            <a:r>
              <a:rPr lang="en-US" dirty="0" smtClean="0"/>
              <a:t>lung volumes</a:t>
            </a:r>
          </a:p>
          <a:p>
            <a:r>
              <a:rPr lang="en-US" dirty="0"/>
              <a:t>Incentive spirometry is simple </a:t>
            </a:r>
            <a:r>
              <a:rPr lang="en-US" dirty="0" smtClean="0"/>
              <a:t>&amp; inexpensive &amp; provides </a:t>
            </a:r>
            <a:r>
              <a:rPr lang="en-US" dirty="0"/>
              <a:t>objective goals for and </a:t>
            </a:r>
            <a:r>
              <a:rPr lang="en-US" dirty="0" smtClean="0"/>
              <a:t>monitoring of </a:t>
            </a:r>
            <a:r>
              <a:rPr lang="en-US" dirty="0"/>
              <a:t>patient </a:t>
            </a:r>
            <a:r>
              <a:rPr lang="en-US" dirty="0" smtClean="0"/>
              <a:t>performance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Disadvantage </a:t>
            </a:r>
            <a:r>
              <a:rPr lang="en-US" dirty="0"/>
              <a:t>-</a:t>
            </a:r>
            <a:r>
              <a:rPr lang="en-US" dirty="0" smtClean="0"/>
              <a:t> the need </a:t>
            </a:r>
            <a:r>
              <a:rPr lang="en-US" dirty="0"/>
              <a:t>for patient cooperation to accomplish the </a:t>
            </a:r>
            <a:r>
              <a:rPr lang="en-US" dirty="0" smtClean="0"/>
              <a:t>treatment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Provide </a:t>
            </a:r>
            <a:r>
              <a:rPr lang="en-US" dirty="0"/>
              <a:t>education in lung expansion maneuvers before </a:t>
            </a:r>
            <a:r>
              <a:rPr lang="en-US" dirty="0" smtClean="0"/>
              <a:t>surgery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CPAP </a:t>
            </a:r>
            <a:r>
              <a:rPr lang="en-US" dirty="0"/>
              <a:t>is </a:t>
            </a:r>
            <a:r>
              <a:rPr lang="en-US" dirty="0" smtClean="0"/>
              <a:t>reserved for </a:t>
            </a:r>
            <a:r>
              <a:rPr lang="en-US" dirty="0"/>
              <a:t>the prevention of </a:t>
            </a:r>
            <a:r>
              <a:rPr lang="en-US" dirty="0" smtClean="0"/>
              <a:t>PPC in </a:t>
            </a:r>
            <a:r>
              <a:rPr lang="en-US" dirty="0"/>
              <a:t>patients who are not able to perform deep-breathing exercises or incentive spirometry. </a:t>
            </a:r>
            <a:endParaRPr lang="en-US" dirty="0" smtClean="0"/>
          </a:p>
          <a:p>
            <a:r>
              <a:rPr lang="en-US" dirty="0" smtClean="0"/>
              <a:t>Nasal </a:t>
            </a:r>
            <a:r>
              <a:rPr lang="en-US" dirty="0"/>
              <a:t>positive airway </a:t>
            </a:r>
            <a:r>
              <a:rPr lang="en-US" dirty="0" smtClean="0"/>
              <a:t>pressure can </a:t>
            </a:r>
            <a:r>
              <a:rPr lang="en-US" dirty="0"/>
              <a:t>also minimize the expected decrease in lung volumes </a:t>
            </a:r>
            <a:r>
              <a:rPr lang="en-US" dirty="0" smtClean="0"/>
              <a:t>after surgery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61310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02920"/>
            <a:ext cx="10515600" cy="5674043"/>
          </a:xfrm>
        </p:spPr>
        <p:txBody>
          <a:bodyPr/>
          <a:lstStyle/>
          <a:p>
            <a:r>
              <a:rPr lang="en-US" dirty="0"/>
              <a:t>Postoperative neuraxial analgesia with </a:t>
            </a:r>
            <a:r>
              <a:rPr lang="en-US" dirty="0" smtClean="0"/>
              <a:t>opioids</a:t>
            </a:r>
          </a:p>
          <a:p>
            <a:r>
              <a:rPr lang="en-US" dirty="0"/>
              <a:t>The sympathetic blockade, muscle weakness, and loss of proprioception that are </a:t>
            </a:r>
            <a:r>
              <a:rPr lang="en-US" dirty="0" smtClean="0"/>
              <a:t>produced by LA </a:t>
            </a:r>
            <a:r>
              <a:rPr lang="en-US" dirty="0"/>
              <a:t>are not produced by neuraxial opioids</a:t>
            </a:r>
            <a:endParaRPr lang="en-US" dirty="0" smtClean="0"/>
          </a:p>
          <a:p>
            <a:r>
              <a:rPr lang="en-US" dirty="0"/>
              <a:t>Ambulation </a:t>
            </a:r>
            <a:r>
              <a:rPr lang="en-US" dirty="0" smtClean="0"/>
              <a:t>serves to </a:t>
            </a:r>
            <a:r>
              <a:rPr lang="en-US" dirty="0"/>
              <a:t>increase FRC and improve </a:t>
            </a:r>
            <a:r>
              <a:rPr lang="en-US" dirty="0" smtClean="0"/>
              <a:t>oxygenation</a:t>
            </a:r>
          </a:p>
          <a:p>
            <a:r>
              <a:rPr lang="en-US" dirty="0"/>
              <a:t>Neuraxial </a:t>
            </a:r>
            <a:r>
              <a:rPr lang="en-US" dirty="0" smtClean="0"/>
              <a:t>opioids may </a:t>
            </a:r>
            <a:r>
              <a:rPr lang="en-US" dirty="0"/>
              <a:t>be especially useful after intrathoracic &amp;</a:t>
            </a:r>
            <a:r>
              <a:rPr lang="en-US" dirty="0" smtClean="0"/>
              <a:t> </a:t>
            </a:r>
            <a:r>
              <a:rPr lang="en-US" dirty="0"/>
              <a:t>upper abdominal </a:t>
            </a:r>
            <a:r>
              <a:rPr lang="en-US" dirty="0" smtClean="0"/>
              <a:t>surgery</a:t>
            </a:r>
          </a:p>
          <a:p>
            <a:r>
              <a:rPr lang="en-US" dirty="0" smtClean="0"/>
              <a:t>Poorly </a:t>
            </a:r>
            <a:r>
              <a:rPr lang="en-US" dirty="0"/>
              <a:t>lipid-soluble opioids such </a:t>
            </a:r>
            <a:r>
              <a:rPr lang="en-US" dirty="0" smtClean="0"/>
              <a:t>as morphine should not be used</a:t>
            </a:r>
          </a:p>
          <a:p>
            <a:r>
              <a:rPr lang="en-US" dirty="0" smtClean="0"/>
              <a:t>Neuraxial analgesia reduce incidence of pneumonia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3232754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320" y="365124"/>
            <a:ext cx="10515600" cy="6188075"/>
          </a:xfrm>
        </p:spPr>
        <p:txBody>
          <a:bodyPr>
            <a:normAutofit/>
          </a:bodyPr>
          <a:lstStyle/>
          <a:p>
            <a:r>
              <a:rPr lang="en-US" dirty="0" smtClean="0"/>
              <a:t>Patients with preoperative FEV1:FVC &lt; 0.5 or with a preoperative Paco2 of &gt; 50 mm Hg are likely to need a period of postoperative mechanical ventilation</a:t>
            </a:r>
          </a:p>
          <a:p>
            <a:r>
              <a:rPr lang="en-US" dirty="0" smtClean="0"/>
              <a:t>Chronic hypercapnia not be corrected rapidly to avoid metabolic alkalosis – dysrhythmia, CNS irritability &amp; seizure</a:t>
            </a:r>
          </a:p>
          <a:p>
            <a:r>
              <a:rPr lang="en-US" dirty="0" smtClean="0"/>
              <a:t>FiO2 </a:t>
            </a:r>
            <a:r>
              <a:rPr lang="en-US" dirty="0" err="1" smtClean="0"/>
              <a:t>keept</a:t>
            </a:r>
            <a:r>
              <a:rPr lang="en-US" dirty="0" smtClean="0"/>
              <a:t> SaO2 of 90%</a:t>
            </a:r>
          </a:p>
          <a:p>
            <a:r>
              <a:rPr lang="en-US" dirty="0" smtClean="0"/>
              <a:t>PH 7.35-7.45 </a:t>
            </a:r>
          </a:p>
          <a:p>
            <a:r>
              <a:rPr lang="en-US" dirty="0" smtClean="0"/>
              <a:t>Reduce Respiratory rate – air trapping avoided</a:t>
            </a:r>
          </a:p>
          <a:p>
            <a:r>
              <a:rPr lang="en-US" dirty="0" smtClean="0"/>
              <a:t>Hypercapnia, acidosis &amp; hypoxia – pulmonary hypertension – RV strain</a:t>
            </a:r>
          </a:p>
          <a:p>
            <a:r>
              <a:rPr lang="en-US" dirty="0"/>
              <a:t>sympathomimetic bronchodilators such as albuterol </a:t>
            </a:r>
            <a:r>
              <a:rPr lang="en-US" dirty="0" smtClean="0"/>
              <a:t>and inhaled </a:t>
            </a:r>
            <a:r>
              <a:rPr lang="en-US" dirty="0"/>
              <a:t>anticholinergics such as ipratropium may improve airflow if a reactive component of air trapping is </a:t>
            </a:r>
            <a:r>
              <a:rPr lang="en-US" dirty="0" smtClean="0"/>
              <a:t>present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6642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Patients </a:t>
            </a:r>
            <a:r>
              <a:rPr lang="en-US" dirty="0"/>
              <a:t>with severe COPD and a tenuous </a:t>
            </a:r>
            <a:r>
              <a:rPr lang="en-US" dirty="0" smtClean="0"/>
              <a:t>post-extubation respiratory </a:t>
            </a:r>
            <a:r>
              <a:rPr lang="en-US" dirty="0"/>
              <a:t>status may respond to a trial of </a:t>
            </a:r>
            <a:r>
              <a:rPr lang="en-US" dirty="0" err="1"/>
              <a:t>BiPAP</a:t>
            </a:r>
            <a:r>
              <a:rPr lang="en-US" dirty="0"/>
              <a:t>, </a:t>
            </a:r>
            <a:endParaRPr lang="en-US" dirty="0" smtClean="0"/>
          </a:p>
          <a:p>
            <a:r>
              <a:rPr lang="en-US" dirty="0" err="1" smtClean="0"/>
              <a:t>BiPAP</a:t>
            </a:r>
            <a:r>
              <a:rPr lang="en-US" dirty="0" smtClean="0"/>
              <a:t> lower </a:t>
            </a:r>
            <a:r>
              <a:rPr lang="en-US" dirty="0"/>
              <a:t>the </a:t>
            </a:r>
            <a:r>
              <a:rPr lang="en-US" dirty="0" smtClean="0"/>
              <a:t>RR,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↓</a:t>
            </a:r>
            <a:r>
              <a:rPr lang="en-US" dirty="0" smtClean="0"/>
              <a:t>the </a:t>
            </a:r>
            <a:r>
              <a:rPr lang="en-US" dirty="0"/>
              <a:t>work of </a:t>
            </a:r>
            <a:r>
              <a:rPr lang="en-US" dirty="0" smtClean="0"/>
              <a:t>breathing &amp;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↓</a:t>
            </a:r>
            <a:r>
              <a:rPr lang="en-US" dirty="0" smtClean="0"/>
              <a:t>the </a:t>
            </a:r>
            <a:r>
              <a:rPr lang="en-US" dirty="0"/>
              <a:t>need for </a:t>
            </a:r>
            <a:r>
              <a:rPr lang="en-US" dirty="0" smtClean="0"/>
              <a:t>reintubation</a:t>
            </a:r>
            <a:endParaRPr lang="en-US" dirty="0"/>
          </a:p>
          <a:p>
            <a:r>
              <a:rPr lang="en-US" dirty="0"/>
              <a:t>Early mobilization postoperatively can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↓</a:t>
            </a:r>
            <a:r>
              <a:rPr lang="en-US" dirty="0" smtClean="0"/>
              <a:t> </a:t>
            </a:r>
            <a:r>
              <a:rPr lang="en-US" dirty="0"/>
              <a:t>pulmonary complications by </a:t>
            </a:r>
            <a:r>
              <a:rPr lang="en-US" dirty="0" smtClean="0"/>
              <a:t>leading to  - deeper </a:t>
            </a:r>
            <a:r>
              <a:rPr lang="en-US" dirty="0"/>
              <a:t>breathing, </a:t>
            </a:r>
            <a:r>
              <a:rPr lang="en-US" dirty="0" smtClean="0"/>
              <a:t>lung expansion</a:t>
            </a:r>
            <a:r>
              <a:rPr lang="en-US" dirty="0"/>
              <a:t>, and cough</a:t>
            </a:r>
          </a:p>
        </p:txBody>
      </p:sp>
    </p:spTree>
    <p:extLst>
      <p:ext uri="{BB962C8B-B14F-4D97-AF65-F5344CB8AC3E}">
        <p14:creationId xmlns:p14="http://schemas.microsoft.com/office/powerpoint/2010/main" val="245736775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Restrictive lung disease (RLD)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8360" y="1690688"/>
            <a:ext cx="6797040" cy="4892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29147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Present unique challenges intra &amp; postoperative care of patients</a:t>
            </a:r>
          </a:p>
          <a:p>
            <a:r>
              <a:rPr lang="en-US" dirty="0" smtClean="0"/>
              <a:t>Cardiac, thoracic &amp; vascular surgeries with RLD produce periop respiratory compromise on the patients</a:t>
            </a:r>
          </a:p>
          <a:p>
            <a:r>
              <a:rPr lang="en-US" dirty="0" smtClean="0"/>
              <a:t>Its associated with higher mortality &amp; morbidity</a:t>
            </a:r>
          </a:p>
          <a:p>
            <a:r>
              <a:rPr lang="en-US" dirty="0" smtClean="0"/>
              <a:t>Affects lung expansion &amp; compliance</a:t>
            </a:r>
          </a:p>
          <a:p>
            <a:r>
              <a:rPr lang="en-US" dirty="0" err="1" smtClean="0"/>
              <a:t>Czd</a:t>
            </a:r>
            <a:r>
              <a:rPr lang="en-US" dirty="0" smtClean="0"/>
              <a:t> by: 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↓ in all lung volumes specially TLC, ↓ in lung compliance &amp; preservation of expiratory flow 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Hallmark is inability to increase lung volume in proportion to an increase in pressure in the alveoli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478231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Caused by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</a:t>
            </a:r>
            <a:r>
              <a:rPr lang="en-US" dirty="0" smtClean="0"/>
              <a:t>can be due to: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Connective </a:t>
            </a:r>
            <a:r>
              <a:rPr lang="en-US" dirty="0"/>
              <a:t>tissue </a:t>
            </a:r>
            <a:r>
              <a:rPr lang="en-US" dirty="0" smtClean="0"/>
              <a:t>diseases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Environmental </a:t>
            </a:r>
            <a:r>
              <a:rPr lang="en-US" dirty="0"/>
              <a:t>factors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Other </a:t>
            </a:r>
            <a:r>
              <a:rPr lang="en-US" dirty="0"/>
              <a:t>conditions that lead to pulmonary </a:t>
            </a:r>
            <a:r>
              <a:rPr lang="en-US" dirty="0" smtClean="0"/>
              <a:t>fibrosis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Any </a:t>
            </a:r>
            <a:r>
              <a:rPr lang="en-US" dirty="0"/>
              <a:t>conditions that increase alveolar or interstitial </a:t>
            </a:r>
            <a:r>
              <a:rPr lang="en-US" dirty="0" smtClean="0"/>
              <a:t>fluid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Any </a:t>
            </a:r>
            <a:r>
              <a:rPr lang="en-US" dirty="0"/>
              <a:t>conditions that limit appropriate excursion of the chest/</a:t>
            </a:r>
          </a:p>
          <a:p>
            <a:pPr marL="0" indent="0">
              <a:buNone/>
            </a:pPr>
            <a:r>
              <a:rPr lang="en-US" dirty="0"/>
              <a:t>diaphragm during breathing</a:t>
            </a:r>
          </a:p>
        </p:txBody>
      </p:sp>
    </p:spTree>
    <p:extLst>
      <p:ext uri="{BB962C8B-B14F-4D97-AF65-F5344CB8AC3E}">
        <p14:creationId xmlns:p14="http://schemas.microsoft.com/office/powerpoint/2010/main" val="413843960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Leads to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Reduction </a:t>
            </a:r>
            <a:r>
              <a:rPr lang="en-US" dirty="0"/>
              <a:t>in available surface area for gas </a:t>
            </a:r>
            <a:r>
              <a:rPr lang="en-US" dirty="0" smtClean="0"/>
              <a:t>diffusion </a:t>
            </a:r>
          </a:p>
          <a:p>
            <a:r>
              <a:rPr lang="en-US" dirty="0" smtClean="0"/>
              <a:t>V/Q mismatching &amp; hypoxia </a:t>
            </a:r>
          </a:p>
          <a:p>
            <a:r>
              <a:rPr lang="en-US" dirty="0"/>
              <a:t>I</a:t>
            </a:r>
            <a:r>
              <a:rPr lang="en-US" dirty="0" smtClean="0"/>
              <a:t>nability </a:t>
            </a:r>
            <a:r>
              <a:rPr lang="en-US" dirty="0"/>
              <a:t>to clear </a:t>
            </a:r>
            <a:r>
              <a:rPr lang="en-US" dirty="0" smtClean="0"/>
              <a:t>lung secretions</a:t>
            </a:r>
          </a:p>
          <a:p>
            <a:r>
              <a:rPr lang="en-US" dirty="0" smtClean="0"/>
              <a:t>Hypoventilation </a:t>
            </a:r>
          </a:p>
          <a:p>
            <a:r>
              <a:rPr lang="en-US" dirty="0" smtClean="0"/>
              <a:t> </a:t>
            </a:r>
            <a:r>
              <a:rPr lang="en-US" dirty="0"/>
              <a:t>reduced </a:t>
            </a:r>
            <a:r>
              <a:rPr lang="en-US" dirty="0" smtClean="0"/>
              <a:t>FEV1 &amp; </a:t>
            </a:r>
            <a:r>
              <a:rPr lang="en-US" dirty="0"/>
              <a:t>forced vital capacity (FVC</a:t>
            </a:r>
            <a:r>
              <a:rPr lang="en-US" dirty="0" smtClean="0"/>
              <a:t>) </a:t>
            </a:r>
          </a:p>
          <a:p>
            <a:r>
              <a:rPr lang="en-US" dirty="0"/>
              <a:t>N</a:t>
            </a:r>
            <a:r>
              <a:rPr lang="en-US" dirty="0" smtClean="0"/>
              <a:t>ormal </a:t>
            </a:r>
            <a:r>
              <a:rPr lang="en-US" dirty="0"/>
              <a:t>or increased </a:t>
            </a:r>
            <a:r>
              <a:rPr lang="en-US" dirty="0" smtClean="0"/>
              <a:t>FEV 1/FVC ratio</a:t>
            </a:r>
          </a:p>
          <a:p>
            <a:r>
              <a:rPr lang="en-US" dirty="0" smtClean="0"/>
              <a:t> A reduced DLCO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2419690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Classification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TLC is used to classify R</a:t>
            </a:r>
            <a:r>
              <a:rPr lang="en-US" dirty="0" smtClean="0"/>
              <a:t>LD 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Mild </a:t>
            </a:r>
            <a:r>
              <a:rPr lang="en-US" dirty="0"/>
              <a:t>disease -</a:t>
            </a:r>
            <a:r>
              <a:rPr lang="en-US" dirty="0" smtClean="0"/>
              <a:t> </a:t>
            </a:r>
            <a:r>
              <a:rPr lang="en-US" dirty="0"/>
              <a:t>a TLC that is 65</a:t>
            </a:r>
            <a:r>
              <a:rPr lang="en-US" dirty="0" smtClean="0"/>
              <a:t>%– 80</a:t>
            </a:r>
            <a:r>
              <a:rPr lang="en-US" dirty="0"/>
              <a:t>%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smtClean="0"/>
              <a:t>Moderate - </a:t>
            </a:r>
            <a:r>
              <a:rPr lang="en-US" dirty="0"/>
              <a:t>a TLC that is 50%–</a:t>
            </a:r>
            <a:r>
              <a:rPr lang="en-US" dirty="0" smtClean="0"/>
              <a:t>65%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S</a:t>
            </a:r>
            <a:r>
              <a:rPr lang="en-US" dirty="0" smtClean="0"/>
              <a:t>evere </a:t>
            </a:r>
            <a:r>
              <a:rPr lang="en-US" dirty="0"/>
              <a:t>by a TLC that </a:t>
            </a:r>
            <a:r>
              <a:rPr lang="en-US" dirty="0" smtClean="0"/>
              <a:t>is &lt; 50</a:t>
            </a:r>
            <a:r>
              <a:rPr lang="en-US" dirty="0"/>
              <a:t>%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861036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5360" y="2167731"/>
            <a:ext cx="9845039" cy="429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94095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Classification based on - cause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5320" y="1844040"/>
            <a:ext cx="7502843" cy="5013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65822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1" y="1859280"/>
            <a:ext cx="7910512" cy="489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76901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98320"/>
            <a:ext cx="8281987" cy="505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66365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98320"/>
            <a:ext cx="7615237" cy="280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25362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Pulmonary edema (PE)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leakage of </a:t>
            </a:r>
            <a:r>
              <a:rPr lang="en-US" dirty="0" smtClean="0"/>
              <a:t>IV </a:t>
            </a:r>
            <a:r>
              <a:rPr lang="en-US" dirty="0"/>
              <a:t>into the interstitium </a:t>
            </a:r>
            <a:r>
              <a:rPr lang="en-US" dirty="0" smtClean="0"/>
              <a:t>&amp; the </a:t>
            </a:r>
            <a:r>
              <a:rPr lang="en-US" dirty="0"/>
              <a:t>alveolar space leads to pulmonary </a:t>
            </a:r>
            <a:r>
              <a:rPr lang="en-US" dirty="0" smtClean="0"/>
              <a:t>edema</a:t>
            </a:r>
          </a:p>
          <a:p>
            <a:r>
              <a:rPr lang="en-US" dirty="0"/>
              <a:t>Acute pulmonary edema can be </a:t>
            </a:r>
            <a:r>
              <a:rPr lang="en-US" dirty="0" smtClean="0"/>
              <a:t>caused by: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↑ </a:t>
            </a:r>
            <a:r>
              <a:rPr lang="en-US" dirty="0"/>
              <a:t>C</a:t>
            </a:r>
            <a:r>
              <a:rPr lang="en-US" dirty="0" smtClean="0"/>
              <a:t>apillary </a:t>
            </a:r>
            <a:r>
              <a:rPr lang="en-US" dirty="0"/>
              <a:t>pressure (hydrostatic or cardiogenic pulmonary </a:t>
            </a:r>
            <a:r>
              <a:rPr lang="en-US" dirty="0" smtClean="0"/>
              <a:t>edema)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↑ </a:t>
            </a:r>
            <a:r>
              <a:rPr lang="en-US" dirty="0"/>
              <a:t>C</a:t>
            </a:r>
            <a:r>
              <a:rPr lang="en-US" dirty="0" smtClean="0"/>
              <a:t>apillary permeability</a:t>
            </a:r>
          </a:p>
          <a:p>
            <a:r>
              <a:rPr lang="en-US" dirty="0"/>
              <a:t> Both of these lead to a condition </a:t>
            </a:r>
            <a:r>
              <a:rPr lang="en-US" dirty="0" smtClean="0"/>
              <a:t>called capillary </a:t>
            </a:r>
            <a:r>
              <a:rPr lang="en-US" dirty="0"/>
              <a:t>stress failure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492774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9315"/>
          </a:xfrm>
        </p:spPr>
        <p:txBody>
          <a:bodyPr/>
          <a:lstStyle/>
          <a:p>
            <a:r>
              <a:rPr lang="en-US" dirty="0" smtClean="0"/>
              <a:t>Increased capillary pressure 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4440"/>
            <a:ext cx="10515600" cy="4942523"/>
          </a:xfrm>
        </p:spPr>
        <p:txBody>
          <a:bodyPr>
            <a:normAutofit/>
          </a:bodyPr>
          <a:lstStyle/>
          <a:p>
            <a:r>
              <a:rPr lang="en-US" dirty="0"/>
              <a:t>Pulmonary edema typically appears </a:t>
            </a:r>
            <a:r>
              <a:rPr lang="en-US" dirty="0" smtClean="0"/>
              <a:t>as bilateral</a:t>
            </a:r>
            <a:r>
              <a:rPr lang="en-US" dirty="0"/>
              <a:t>, symmetric perihilar opacities on chest </a:t>
            </a:r>
            <a:r>
              <a:rPr lang="en-US" dirty="0" smtClean="0"/>
              <a:t>radiography</a:t>
            </a:r>
            <a:endParaRPr lang="en-US" dirty="0"/>
          </a:p>
          <a:p>
            <a:r>
              <a:rPr lang="en-US" dirty="0"/>
              <a:t>B</a:t>
            </a:r>
            <a:r>
              <a:rPr lang="en-US" dirty="0" smtClean="0"/>
              <a:t>utterfly </a:t>
            </a:r>
            <a:r>
              <a:rPr lang="en-US" dirty="0"/>
              <a:t>fluid pattern is more commonly </a:t>
            </a:r>
            <a:r>
              <a:rPr lang="en-US" dirty="0" smtClean="0"/>
              <a:t>seen with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↑</a:t>
            </a:r>
            <a:r>
              <a:rPr lang="en-US" dirty="0" smtClean="0"/>
              <a:t> </a:t>
            </a:r>
            <a:r>
              <a:rPr lang="en-US" dirty="0"/>
              <a:t>capillary </a:t>
            </a:r>
            <a:r>
              <a:rPr lang="en-US" dirty="0" smtClean="0"/>
              <a:t>pressure</a:t>
            </a:r>
          </a:p>
          <a:p>
            <a:r>
              <a:rPr lang="en-US" dirty="0" smtClean="0"/>
              <a:t>high </a:t>
            </a:r>
            <a:r>
              <a:rPr lang="en-US" dirty="0"/>
              <a:t>concentration of </a:t>
            </a:r>
            <a:r>
              <a:rPr lang="en-US" dirty="0" smtClean="0"/>
              <a:t>protein &amp; secretory </a:t>
            </a:r>
            <a:r>
              <a:rPr lang="en-US" dirty="0"/>
              <a:t>products in </a:t>
            </a:r>
            <a:r>
              <a:rPr lang="en-US" dirty="0" smtClean="0"/>
              <a:t>the edema </a:t>
            </a:r>
            <a:r>
              <a:rPr lang="en-US" dirty="0"/>
              <a:t>fluid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3270" y="3474403"/>
            <a:ext cx="4762500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2772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Increased capillary permeability 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presence of air bronchograms suggests increased-permeability pulmonary </a:t>
            </a:r>
            <a:r>
              <a:rPr lang="en-US" dirty="0" smtClean="0"/>
              <a:t>edema</a:t>
            </a:r>
            <a:endParaRPr lang="en-US" dirty="0"/>
          </a:p>
          <a:p>
            <a:r>
              <a:rPr lang="en-US" dirty="0"/>
              <a:t> </a:t>
            </a:r>
            <a:r>
              <a:rPr lang="en-US" dirty="0" smtClean="0"/>
              <a:t>Diffuse </a:t>
            </a:r>
            <a:r>
              <a:rPr lang="en-US" dirty="0"/>
              <a:t>alveolar damage is typically present </a:t>
            </a:r>
            <a:r>
              <a:rPr lang="en-US" dirty="0" smtClean="0"/>
              <a:t>with the </a:t>
            </a:r>
            <a:r>
              <a:rPr lang="en-US" dirty="0"/>
              <a:t>increased-permeability pulmonary edema associated </a:t>
            </a:r>
            <a:r>
              <a:rPr lang="en-US" dirty="0" smtClean="0"/>
              <a:t>with ARDS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59664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Cardiogenic pulmonary edema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Cardiogenic </a:t>
            </a:r>
            <a:r>
              <a:rPr lang="en-US" dirty="0" smtClean="0"/>
              <a:t>PE is </a:t>
            </a:r>
            <a:r>
              <a:rPr lang="en-US" dirty="0" err="1" smtClean="0"/>
              <a:t>czd</a:t>
            </a:r>
            <a:r>
              <a:rPr lang="en-US" dirty="0" smtClean="0"/>
              <a:t> by: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Dyspnea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Tachypnea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Signs </a:t>
            </a:r>
            <a:r>
              <a:rPr lang="en-US" dirty="0"/>
              <a:t>of sympathetic nervous system activation (hypertension, tachycardia, diaphoresis) </a:t>
            </a:r>
            <a:endParaRPr lang="en-US" dirty="0" smtClean="0"/>
          </a:p>
          <a:p>
            <a:r>
              <a:rPr lang="en-US" dirty="0"/>
              <a:t>M</a:t>
            </a:r>
            <a:r>
              <a:rPr lang="en-US" dirty="0" smtClean="0"/>
              <a:t>ore </a:t>
            </a:r>
            <a:r>
              <a:rPr lang="en-US" dirty="0"/>
              <a:t>pronounced than that seen in patients with </a:t>
            </a:r>
            <a:r>
              <a:rPr lang="en-US" dirty="0" smtClean="0"/>
              <a:t>increased permeability 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93679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Causes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Decompensated  CHF - elevated cardiac </a:t>
            </a:r>
            <a:r>
              <a:rPr lang="en-US" dirty="0" smtClean="0"/>
              <a:t>pressures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D</a:t>
            </a:r>
            <a:r>
              <a:rPr lang="en-US" dirty="0" smtClean="0"/>
              <a:t>iastolic or systolic heart failure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 Aortic </a:t>
            </a:r>
            <a:r>
              <a:rPr lang="en-US" dirty="0"/>
              <a:t>regurgitation &amp;</a:t>
            </a:r>
            <a:r>
              <a:rPr lang="en-US" dirty="0" smtClean="0"/>
              <a:t> </a:t>
            </a:r>
            <a:r>
              <a:rPr lang="en-US" dirty="0"/>
              <a:t>acute mitral regurgitation </a:t>
            </a:r>
            <a:r>
              <a:rPr lang="en-US" dirty="0" smtClean="0"/>
              <a:t>– acute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↑</a:t>
            </a:r>
            <a:r>
              <a:rPr lang="en-US" dirty="0" smtClean="0"/>
              <a:t>preload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 Ventricular </a:t>
            </a:r>
            <a:r>
              <a:rPr lang="en-US" dirty="0"/>
              <a:t>outflow tract (LVOT) </a:t>
            </a:r>
            <a:r>
              <a:rPr lang="en-US" dirty="0" smtClean="0"/>
              <a:t>obstruction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M</a:t>
            </a:r>
            <a:r>
              <a:rPr lang="en-US" dirty="0" smtClean="0"/>
              <a:t>itral stenosis</a:t>
            </a: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 Reno-vascular hypertension -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↑ after load &amp; SVR</a:t>
            </a:r>
            <a:r>
              <a:rPr lang="en-US" dirty="0"/>
              <a:t/>
            </a:r>
            <a:br>
              <a:rPr lang="en-US" dirty="0"/>
            </a:b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05966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Radiograph shows acute pulmonary edema in a patient who was admitted with acute anterior myocardial infarction. Findings are vascular redistribution, indistinct hila, and alveolar infiltrates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9760" y="1798320"/>
            <a:ext cx="6736080" cy="4800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09288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Negative pressure pulmonary edema (NPPE)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NPPE </a:t>
            </a:r>
            <a:r>
              <a:rPr lang="en-US" dirty="0"/>
              <a:t>follows the relief of </a:t>
            </a:r>
            <a:r>
              <a:rPr lang="en-US" dirty="0" smtClean="0"/>
              <a:t>acute upper </a:t>
            </a:r>
            <a:r>
              <a:rPr lang="en-US" dirty="0"/>
              <a:t>airway obstruction.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is also called </a:t>
            </a:r>
            <a:r>
              <a:rPr lang="en-US" dirty="0" smtClean="0"/>
              <a:t>post-obstructive PE </a:t>
            </a:r>
          </a:p>
          <a:p>
            <a:r>
              <a:rPr lang="en-US" dirty="0" smtClean="0"/>
              <a:t>It </a:t>
            </a:r>
            <a:r>
              <a:rPr lang="en-US" dirty="0"/>
              <a:t>is caused </a:t>
            </a:r>
            <a:r>
              <a:rPr lang="en-US" dirty="0" smtClean="0"/>
              <a:t>by: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Post-extubation laryngospasm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Epiglottitis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Tumors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Obesity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Hiccups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Obstructive </a:t>
            </a:r>
            <a:r>
              <a:rPr lang="en-US" dirty="0"/>
              <a:t>sleep </a:t>
            </a:r>
            <a:r>
              <a:rPr lang="en-US" dirty="0" smtClean="0"/>
              <a:t>apnea in </a:t>
            </a:r>
            <a:r>
              <a:rPr lang="en-US" dirty="0"/>
              <a:t>spontaneously breathing patients</a:t>
            </a:r>
          </a:p>
        </p:txBody>
      </p:sp>
    </p:spTree>
    <p:extLst>
      <p:ext uri="{BB962C8B-B14F-4D97-AF65-F5344CB8AC3E}">
        <p14:creationId xmlns:p14="http://schemas.microsoft.com/office/powerpoint/2010/main" val="3619112743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Spontaneous ventilation </a:t>
            </a:r>
            <a:r>
              <a:rPr lang="en-US" dirty="0" smtClean="0"/>
              <a:t>is necessary </a:t>
            </a:r>
            <a:r>
              <a:rPr lang="en-US" dirty="0"/>
              <a:t>to create the marked negative pressure that </a:t>
            </a:r>
            <a:r>
              <a:rPr lang="en-US" dirty="0" smtClean="0"/>
              <a:t>causes this problem</a:t>
            </a:r>
          </a:p>
          <a:p>
            <a:r>
              <a:rPr lang="en-US" dirty="0" smtClean="0"/>
              <a:t>The </a:t>
            </a:r>
            <a:r>
              <a:rPr lang="en-US" dirty="0"/>
              <a:t>time to onset of </a:t>
            </a:r>
            <a:r>
              <a:rPr lang="en-US" dirty="0" smtClean="0"/>
              <a:t>PE </a:t>
            </a:r>
            <a:r>
              <a:rPr lang="en-US" dirty="0"/>
              <a:t>after </a:t>
            </a:r>
            <a:r>
              <a:rPr lang="en-US" dirty="0" smtClean="0"/>
              <a:t>relief of </a:t>
            </a:r>
            <a:r>
              <a:rPr lang="en-US" dirty="0"/>
              <a:t>airway obstruction ranges from a few minutes to as long as </a:t>
            </a:r>
            <a:r>
              <a:rPr lang="en-US" dirty="0" smtClean="0"/>
              <a:t>2 - 3 hrs. </a:t>
            </a:r>
          </a:p>
          <a:p>
            <a:r>
              <a:rPr lang="en-US" dirty="0" smtClean="0"/>
              <a:t>Tachypnea</a:t>
            </a:r>
            <a:r>
              <a:rPr lang="en-US" dirty="0"/>
              <a:t>, </a:t>
            </a:r>
            <a:r>
              <a:rPr lang="en-US" dirty="0" smtClean="0"/>
              <a:t>cough &amp; failure </a:t>
            </a:r>
            <a:r>
              <a:rPr lang="en-US" dirty="0"/>
              <a:t>to maintain </a:t>
            </a:r>
            <a:r>
              <a:rPr lang="en-US" dirty="0" smtClean="0"/>
              <a:t>oxygen saturation &gt; 95</a:t>
            </a:r>
            <a:r>
              <a:rPr lang="en-US" dirty="0"/>
              <a:t>% </a:t>
            </a:r>
          </a:p>
          <a:p>
            <a:r>
              <a:rPr lang="en-US" dirty="0" smtClean="0"/>
              <a:t>Confused </a:t>
            </a:r>
            <a:r>
              <a:rPr lang="en-US" dirty="0"/>
              <a:t>with pulmonary aspiration or pulmonary </a:t>
            </a:r>
            <a:r>
              <a:rPr lang="en-US" dirty="0" smtClean="0"/>
              <a:t>embolism</a:t>
            </a:r>
          </a:p>
          <a:p>
            <a:r>
              <a:rPr lang="en-US" dirty="0" smtClean="0"/>
              <a:t>Common with postop desaturation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48346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US" dirty="0" smtClean="0"/>
              <a:t>athogenesis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Obstructed upper airway               vigorous inspiratory effort </a:t>
            </a:r>
          </a:p>
          <a:p>
            <a:pPr marL="0" indent="0">
              <a:buNone/>
            </a:pPr>
            <a:r>
              <a:rPr lang="en-US" dirty="0" smtClean="0"/>
              <a:t>High negative intrapleural pressure                 reverse Valsalva maneuver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↓</a:t>
            </a:r>
            <a:r>
              <a:rPr lang="en-US" dirty="0" smtClean="0"/>
              <a:t> </a:t>
            </a:r>
            <a:r>
              <a:rPr lang="en-US" dirty="0"/>
              <a:t>the interstitial </a:t>
            </a:r>
            <a:r>
              <a:rPr lang="en-US" dirty="0" smtClean="0"/>
              <a:t>hydrostatic pressure</a:t>
            </a:r>
            <a:r>
              <a:rPr lang="en-US" dirty="0"/>
              <a:t>,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↑</a:t>
            </a:r>
            <a:r>
              <a:rPr lang="en-US" dirty="0" smtClean="0"/>
              <a:t>venous return</a:t>
            </a:r>
            <a:r>
              <a:rPr lang="en-US" dirty="0"/>
              <a:t> </a:t>
            </a:r>
            <a:r>
              <a:rPr lang="en-US" dirty="0" smtClean="0"/>
              <a:t>&amp;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↑</a:t>
            </a:r>
            <a:r>
              <a:rPr lang="en-US" dirty="0" smtClean="0"/>
              <a:t> </a:t>
            </a:r>
            <a:r>
              <a:rPr lang="en-US" dirty="0"/>
              <a:t>left </a:t>
            </a:r>
            <a:r>
              <a:rPr lang="en-US" dirty="0" smtClean="0"/>
              <a:t>ventricular </a:t>
            </a:r>
            <a:r>
              <a:rPr lang="en-US" dirty="0"/>
              <a:t>afterload             </a:t>
            </a:r>
            <a:r>
              <a:rPr lang="en-US" dirty="0" smtClean="0"/>
              <a:t>intense sympathetic </a:t>
            </a:r>
            <a:r>
              <a:rPr lang="en-US" dirty="0"/>
              <a:t>nervous system activation             </a:t>
            </a:r>
            <a:r>
              <a:rPr lang="en-US" dirty="0" smtClean="0"/>
              <a:t>trans-capillary pressure gradient           PE</a:t>
            </a:r>
            <a:endParaRPr lang="en-US" dirty="0"/>
          </a:p>
        </p:txBody>
      </p:sp>
      <p:sp>
        <p:nvSpPr>
          <p:cNvPr id="4" name="Right Arrow 3"/>
          <p:cNvSpPr/>
          <p:nvPr/>
        </p:nvSpPr>
        <p:spPr>
          <a:xfrm>
            <a:off x="4922520" y="2087880"/>
            <a:ext cx="960120" cy="457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4"/>
          <p:cNvSpPr/>
          <p:nvPr/>
        </p:nvSpPr>
        <p:spPr>
          <a:xfrm>
            <a:off x="9906000" y="2087880"/>
            <a:ext cx="838200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Arrow 5"/>
          <p:cNvSpPr/>
          <p:nvPr/>
        </p:nvSpPr>
        <p:spPr>
          <a:xfrm>
            <a:off x="6065520" y="2545081"/>
            <a:ext cx="1127760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>
            <a:off x="975360" y="2987041"/>
            <a:ext cx="1127760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4556760" y="3459480"/>
            <a:ext cx="822960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>
            <a:off x="2453640" y="3855720"/>
            <a:ext cx="822960" cy="76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>
            <a:off x="8214360" y="3855720"/>
            <a:ext cx="655320" cy="76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126901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Treatment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Maintenance of a patent upper </a:t>
            </a:r>
            <a:r>
              <a:rPr lang="en-US" dirty="0" smtClean="0"/>
              <a:t>airway</a:t>
            </a:r>
          </a:p>
          <a:p>
            <a:r>
              <a:rPr lang="en-US" dirty="0" smtClean="0"/>
              <a:t>Administration of supplemental </a:t>
            </a:r>
            <a:r>
              <a:rPr lang="en-US" dirty="0"/>
              <a:t>oxygen </a:t>
            </a:r>
          </a:p>
          <a:p>
            <a:r>
              <a:rPr lang="en-US" dirty="0" smtClean="0"/>
              <a:t>Mechanical ventilation </a:t>
            </a:r>
            <a:endParaRPr lang="en-US" dirty="0"/>
          </a:p>
          <a:p>
            <a:r>
              <a:rPr lang="en-US" dirty="0"/>
              <a:t>Hemodynamic monitoring </a:t>
            </a:r>
            <a:r>
              <a:rPr lang="en-US" dirty="0" smtClean="0"/>
              <a:t> </a:t>
            </a:r>
          </a:p>
          <a:p>
            <a:r>
              <a:rPr lang="en-US" dirty="0" smtClean="0"/>
              <a:t>Central </a:t>
            </a:r>
            <a:r>
              <a:rPr lang="en-US" dirty="0"/>
              <a:t>venous pressure and </a:t>
            </a:r>
            <a:r>
              <a:rPr lang="en-US" dirty="0" smtClean="0"/>
              <a:t>pulmonary artery </a:t>
            </a:r>
            <a:r>
              <a:rPr lang="en-US" dirty="0"/>
              <a:t>occlusion pressure are also </a:t>
            </a:r>
            <a:r>
              <a:rPr lang="en-US" dirty="0" smtClean="0"/>
              <a:t>normal</a:t>
            </a:r>
          </a:p>
          <a:p>
            <a:r>
              <a:rPr lang="en-US" dirty="0" smtClean="0"/>
              <a:t>Radiographic </a:t>
            </a:r>
            <a:r>
              <a:rPr lang="en-US" dirty="0"/>
              <a:t>evidence </a:t>
            </a:r>
            <a:r>
              <a:rPr lang="en-US" dirty="0" smtClean="0"/>
              <a:t>lasts briefly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038803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Neurogenic pulmonary edema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Occur in patients </a:t>
            </a:r>
            <a:r>
              <a:rPr lang="en-US" dirty="0"/>
              <a:t>experiencing acute brain </a:t>
            </a:r>
            <a:r>
              <a:rPr lang="en-US" dirty="0" smtClean="0"/>
              <a:t>injury</a:t>
            </a:r>
          </a:p>
          <a:p>
            <a:r>
              <a:rPr lang="en-US" dirty="0"/>
              <a:t> </a:t>
            </a:r>
            <a:r>
              <a:rPr lang="en-US" dirty="0" smtClean="0"/>
              <a:t>Minutes </a:t>
            </a:r>
            <a:r>
              <a:rPr lang="en-US" dirty="0"/>
              <a:t>to hours after </a:t>
            </a:r>
            <a:r>
              <a:rPr lang="en-US" dirty="0" smtClean="0"/>
              <a:t>CNS injury</a:t>
            </a:r>
          </a:p>
          <a:p>
            <a:r>
              <a:rPr lang="en-US" dirty="0" smtClean="0"/>
              <a:t> Manifest </a:t>
            </a:r>
            <a:r>
              <a:rPr lang="en-US" dirty="0"/>
              <a:t>during the </a:t>
            </a:r>
            <a:r>
              <a:rPr lang="en-US" dirty="0" smtClean="0"/>
              <a:t>perioperatively</a:t>
            </a:r>
          </a:p>
          <a:p>
            <a:r>
              <a:rPr lang="en-US" dirty="0" smtClean="0"/>
              <a:t> Massive </a:t>
            </a:r>
            <a:r>
              <a:rPr lang="en-US" dirty="0"/>
              <a:t>outpouring of </a:t>
            </a:r>
            <a:r>
              <a:rPr lang="en-US" dirty="0" smtClean="0"/>
              <a:t>sympathetic impulses </a:t>
            </a:r>
            <a:r>
              <a:rPr lang="en-US" dirty="0"/>
              <a:t>from the injured </a:t>
            </a:r>
            <a:r>
              <a:rPr lang="en-US" dirty="0" smtClean="0"/>
              <a:t>CNS</a:t>
            </a:r>
          </a:p>
          <a:p>
            <a:r>
              <a:rPr lang="en-US" dirty="0" smtClean="0"/>
              <a:t>Leads to generalized </a:t>
            </a:r>
            <a:r>
              <a:rPr lang="en-US" dirty="0"/>
              <a:t>vasoconstriction </a:t>
            </a:r>
            <a:r>
              <a:rPr lang="en-US" dirty="0" smtClean="0"/>
              <a:t>&amp; a </a:t>
            </a:r>
            <a:r>
              <a:rPr lang="en-US" dirty="0"/>
              <a:t>shift of blood volume into the </a:t>
            </a:r>
            <a:r>
              <a:rPr lang="en-US" dirty="0" smtClean="0"/>
              <a:t>pulmonary circulation</a:t>
            </a:r>
          </a:p>
          <a:p>
            <a:r>
              <a:rPr lang="en-US" dirty="0"/>
              <a:t>T</a:t>
            </a:r>
            <a:r>
              <a:rPr lang="en-US" dirty="0" smtClean="0"/>
              <a:t>ransudation </a:t>
            </a:r>
            <a:r>
              <a:rPr lang="en-US" dirty="0"/>
              <a:t>of fluid into the interstitium </a:t>
            </a:r>
            <a:r>
              <a:rPr lang="en-US" dirty="0" smtClean="0"/>
              <a:t>&amp; alveoli</a:t>
            </a:r>
          </a:p>
          <a:p>
            <a:r>
              <a:rPr lang="en-US" dirty="0"/>
              <a:t>increased pulmonary </a:t>
            </a:r>
            <a:r>
              <a:rPr lang="en-US" dirty="0" smtClean="0"/>
              <a:t>capillary pressure</a:t>
            </a:r>
          </a:p>
          <a:p>
            <a:r>
              <a:rPr lang="en-US" dirty="0" smtClean="0"/>
              <a:t>Chemical pneumonitis is </a:t>
            </a:r>
            <a:r>
              <a:rPr lang="en-US" dirty="0" err="1" smtClean="0"/>
              <a:t>DDx</a:t>
            </a:r>
            <a:r>
              <a:rPr lang="en-US" dirty="0" smtClean="0"/>
              <a:t> – but lasts longer &amp; complicated by bacterial infection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342590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Re-expansion pulmonary edema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Rapid expansion of collapsed lung</a:t>
            </a:r>
          </a:p>
          <a:p>
            <a:r>
              <a:rPr lang="en-US" dirty="0" smtClean="0"/>
              <a:t>After relief of pneumothorax or effusion</a:t>
            </a:r>
          </a:p>
          <a:p>
            <a:r>
              <a:rPr lang="en-US" dirty="0" smtClean="0"/>
              <a:t>Risk depend on the volume of space occupying entity, duration of collapse &amp; rate of re-expansion</a:t>
            </a:r>
          </a:p>
          <a:p>
            <a:r>
              <a:rPr lang="en-US" dirty="0"/>
              <a:t>E</a:t>
            </a:r>
            <a:r>
              <a:rPr lang="en-US" dirty="0" smtClean="0"/>
              <a:t>nhanced </a:t>
            </a:r>
            <a:r>
              <a:rPr lang="en-US" dirty="0"/>
              <a:t>capillary </a:t>
            </a:r>
            <a:r>
              <a:rPr lang="en-US" dirty="0" smtClean="0"/>
              <a:t>membrane permeability – high protein content</a:t>
            </a:r>
          </a:p>
          <a:p>
            <a:r>
              <a:rPr lang="en-US" dirty="0" smtClean="0"/>
              <a:t>Treatment is supportive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76753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Reading assignment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Drug induced pulmonary edema</a:t>
            </a:r>
          </a:p>
          <a:p>
            <a:r>
              <a:rPr lang="en-US" dirty="0" smtClean="0"/>
              <a:t>High altitude pulmonary edema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465741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of Anesthesia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Elective surgery should be delayed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Every </a:t>
            </a:r>
            <a:r>
              <a:rPr lang="en-US" dirty="0"/>
              <a:t>effort must be made to optimize cardiorespiratory function before </a:t>
            </a:r>
            <a:r>
              <a:rPr lang="en-US" dirty="0" smtClean="0"/>
              <a:t>surgery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Large </a:t>
            </a:r>
            <a:r>
              <a:rPr lang="en-US" dirty="0"/>
              <a:t>pleural </a:t>
            </a:r>
            <a:r>
              <a:rPr lang="en-US" dirty="0" smtClean="0"/>
              <a:t>effusions may </a:t>
            </a:r>
            <a:r>
              <a:rPr lang="en-US" dirty="0"/>
              <a:t>need to be drained.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Persistent </a:t>
            </a:r>
            <a:r>
              <a:rPr lang="en-US" dirty="0"/>
              <a:t>hypoxemia may </a:t>
            </a:r>
            <a:r>
              <a:rPr lang="en-US" dirty="0" smtClean="0"/>
              <a:t>require mechanical </a:t>
            </a:r>
            <a:r>
              <a:rPr lang="en-US" dirty="0"/>
              <a:t>ventilation </a:t>
            </a:r>
            <a:r>
              <a:rPr lang="en-US" dirty="0" smtClean="0"/>
              <a:t>&amp; PEEP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Hemodynamic monitoring may be useful in both the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Assessment &amp; </a:t>
            </a:r>
            <a:r>
              <a:rPr lang="en-US" dirty="0"/>
              <a:t>treatment of pulmonary </a:t>
            </a:r>
            <a:r>
              <a:rPr lang="en-US" dirty="0" smtClean="0"/>
              <a:t>edema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PE patients are critically ill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0902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74320"/>
            <a:ext cx="10515600" cy="590264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Intraoperative </a:t>
            </a:r>
            <a:r>
              <a:rPr lang="en-US" dirty="0" smtClean="0"/>
              <a:t>management should </a:t>
            </a:r>
            <a:r>
              <a:rPr lang="en-US" dirty="0"/>
              <a:t>be a continuation of critical care </a:t>
            </a:r>
            <a:r>
              <a:rPr lang="en-US" dirty="0" smtClean="0"/>
              <a:t>management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Plan </a:t>
            </a:r>
            <a:r>
              <a:rPr lang="en-US" dirty="0"/>
              <a:t>for intraoperative ventilator </a:t>
            </a:r>
            <a:r>
              <a:rPr lang="en-US" dirty="0" smtClean="0"/>
              <a:t>management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Ventilate with </a:t>
            </a:r>
            <a:r>
              <a:rPr lang="en-US" dirty="0"/>
              <a:t>low tidal volumes </a:t>
            </a:r>
            <a:r>
              <a:rPr lang="en-US" dirty="0" smtClean="0"/>
              <a:t>- 6–8 mL/kg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Ventilatory rate </a:t>
            </a:r>
            <a:r>
              <a:rPr lang="en-US" dirty="0"/>
              <a:t>of 14 to 18 </a:t>
            </a:r>
            <a:r>
              <a:rPr lang="en-US" dirty="0" smtClean="0"/>
              <a:t>bpm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Keep the </a:t>
            </a:r>
            <a:r>
              <a:rPr lang="en-US" dirty="0"/>
              <a:t>end-inspiratory plateau pressure at less than 30 cm </a:t>
            </a:r>
            <a:r>
              <a:rPr lang="en-US" dirty="0" smtClean="0"/>
              <a:t>H2O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Careful </a:t>
            </a:r>
            <a:r>
              <a:rPr lang="en-US" dirty="0"/>
              <a:t>titration of PEEP in conjunction with </a:t>
            </a:r>
            <a:r>
              <a:rPr lang="en-US" dirty="0" smtClean="0"/>
              <a:t>inspiratory pause </a:t>
            </a:r>
            <a:r>
              <a:rPr lang="en-US" dirty="0"/>
              <a:t>is recommended to optimize lung </a:t>
            </a:r>
            <a:r>
              <a:rPr lang="en-US" dirty="0" smtClean="0"/>
              <a:t>compliance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876865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Patients with </a:t>
            </a:r>
            <a:r>
              <a:rPr lang="en-US" dirty="0"/>
              <a:t>restrictive lung disease typically have rapid, </a:t>
            </a:r>
            <a:r>
              <a:rPr lang="en-US" dirty="0" smtClean="0"/>
              <a:t>shallow breathing</a:t>
            </a:r>
          </a:p>
          <a:p>
            <a:r>
              <a:rPr lang="en-US" dirty="0" smtClean="0"/>
              <a:t>Tachypnea is </a:t>
            </a:r>
            <a:r>
              <a:rPr lang="en-US" dirty="0"/>
              <a:t>likely during the weaning </a:t>
            </a:r>
            <a:r>
              <a:rPr lang="en-US" dirty="0" smtClean="0"/>
              <a:t>process and </a:t>
            </a:r>
            <a:r>
              <a:rPr lang="en-US" dirty="0"/>
              <a:t>should not be used as the sole criterion for delaying extubation if gas exchange and results of other assessments </a:t>
            </a:r>
            <a:r>
              <a:rPr lang="en-US" dirty="0" smtClean="0"/>
              <a:t>are satisfactory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303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2185</TotalTime>
  <Words>4608</Words>
  <Application>Microsoft Office PowerPoint</Application>
  <PresentationFormat>Widescreen</PresentationFormat>
  <Paragraphs>593</Paragraphs>
  <Slides>123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123</vt:i4>
      </vt:variant>
    </vt:vector>
  </HeadingPairs>
  <TitlesOfParts>
    <vt:vector size="128" baseType="lpstr">
      <vt:lpstr>Arial</vt:lpstr>
      <vt:lpstr>Calibri</vt:lpstr>
      <vt:lpstr>Calibri Light</vt:lpstr>
      <vt:lpstr>Wingdings</vt:lpstr>
      <vt:lpstr>Office Theme</vt:lpstr>
      <vt:lpstr>Anesthesia for diseases of the RS</vt:lpstr>
      <vt:lpstr>Management of anesthesia </vt:lpstr>
      <vt:lpstr>Effect of GA</vt:lpstr>
      <vt:lpstr>Effect of GA</vt:lpstr>
      <vt:lpstr>Characteristics of asthma to be evaluated preoperatively</vt:lpstr>
      <vt:lpstr>Severity assessment</vt:lpstr>
      <vt:lpstr>Preoperative assessment </vt:lpstr>
      <vt:lpstr>Preoperative evaluation</vt:lpstr>
      <vt:lpstr>Investigation</vt:lpstr>
      <vt:lpstr>Investigation </vt:lpstr>
      <vt:lpstr>Investigation</vt:lpstr>
      <vt:lpstr>Investigation</vt:lpstr>
      <vt:lpstr>Reversible component of asthma</vt:lpstr>
      <vt:lpstr>Requirement for PFT</vt:lpstr>
      <vt:lpstr>PowerPoint Presentation</vt:lpstr>
      <vt:lpstr>PowerPoint Presentation</vt:lpstr>
      <vt:lpstr>Preoperative control</vt:lpstr>
      <vt:lpstr>Preoperative control</vt:lpstr>
      <vt:lpstr>Induction </vt:lpstr>
      <vt:lpstr>Induction</vt:lpstr>
      <vt:lpstr>Opioids</vt:lpstr>
      <vt:lpstr>Muscle relaxants </vt:lpstr>
      <vt:lpstr>Muscle relaxants</vt:lpstr>
      <vt:lpstr>Reversal of NMBDs</vt:lpstr>
      <vt:lpstr>PowerPoint Presentation</vt:lpstr>
      <vt:lpstr>PowerPoint Presentation</vt:lpstr>
      <vt:lpstr>PowerPoint Presentation</vt:lpstr>
      <vt:lpstr>PowerPoint Presentation</vt:lpstr>
      <vt:lpstr>Treatment of intraoperative  Bronchospasm</vt:lpstr>
      <vt:lpstr>Asthma in Emergency Surgery</vt:lpstr>
      <vt:lpstr>PowerPoint Presentation</vt:lpstr>
      <vt:lpstr>PowerPoint Presentation</vt:lpstr>
      <vt:lpstr>Postoperative management</vt:lpstr>
      <vt:lpstr>PowerPoint Presentation</vt:lpstr>
      <vt:lpstr>PowerPoint Presentation</vt:lpstr>
      <vt:lpstr>Level of Anesthesia</vt:lpstr>
      <vt:lpstr>PowerPoint Presentation</vt:lpstr>
      <vt:lpstr>Risk factors</vt:lpstr>
      <vt:lpstr>Challenges</vt:lpstr>
      <vt:lpstr>COPD</vt:lpstr>
      <vt:lpstr>Sign and Symptom</vt:lpstr>
      <vt:lpstr>Diagnosis</vt:lpstr>
      <vt:lpstr>Pulmonary Function Test </vt:lpstr>
      <vt:lpstr>PowerPoint Presentation</vt:lpstr>
      <vt:lpstr>PowerPoint Presentation</vt:lpstr>
      <vt:lpstr>GOLD Spirometric Criteria for COPD Severity (Based on Postbronchodilator FEV1 Measurement)</vt:lpstr>
      <vt:lpstr>Chest X-ray</vt:lpstr>
      <vt:lpstr>CT scan</vt:lpstr>
      <vt:lpstr>Arterial blood gas analysis </vt:lpstr>
      <vt:lpstr>Treatment</vt:lpstr>
      <vt:lpstr>Treatment of COPD</vt:lpstr>
      <vt:lpstr>Treatment of exacerbation     </vt:lpstr>
      <vt:lpstr>Long term oxygen administration</vt:lpstr>
      <vt:lpstr>PowerPoint Presentation</vt:lpstr>
      <vt:lpstr>PowerPoint Presentation</vt:lpstr>
      <vt:lpstr>Lung volume reduction surgery </vt:lpstr>
      <vt:lpstr>PowerPoint Presentation</vt:lpstr>
      <vt:lpstr>The anesthetic management of LVRS (Lung volume reduction surgery) </vt:lpstr>
      <vt:lpstr>ANESTHETIC MANAGEMENT OF COPD</vt:lpstr>
      <vt:lpstr>Concomitant diseases</vt:lpstr>
      <vt:lpstr>PowerPoint Presentation</vt:lpstr>
      <vt:lpstr>PowerPoint Presentation</vt:lpstr>
      <vt:lpstr>Indication for preop PFT (including pulmonologist consultation)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Major Risk factors for PPC</vt:lpstr>
      <vt:lpstr>PowerPoint Presentation</vt:lpstr>
      <vt:lpstr>Risk reduction techniques</vt:lpstr>
      <vt:lpstr>Effect of stopping smoking</vt:lpstr>
      <vt:lpstr>Intermediate to Long-Term Effects</vt:lpstr>
      <vt:lpstr>Aids in stopping smoking</vt:lpstr>
      <vt:lpstr>Nutritional status</vt:lpstr>
      <vt:lpstr>Effects of smoking</vt:lpstr>
      <vt:lpstr>Reducing PPC in non-cardiothoracic surgeries</vt:lpstr>
      <vt:lpstr>Periop pulmonary complication reduction strategy</vt:lpstr>
      <vt:lpstr>Regional anesthesia </vt:lpstr>
      <vt:lpstr>PowerPoint Presentation</vt:lpstr>
      <vt:lpstr>General anesthesia</vt:lpstr>
      <vt:lpstr>PowerPoint Presentation</vt:lpstr>
      <vt:lpstr>PowerPoint Presentation</vt:lpstr>
      <vt:lpstr>PowerPoint Presentation</vt:lpstr>
      <vt:lpstr>PowerPoint Presentation</vt:lpstr>
      <vt:lpstr>Air trapping during MV</vt:lpstr>
      <vt:lpstr>PowerPoint Presentation</vt:lpstr>
      <vt:lpstr>PowerPoint Presentation</vt:lpstr>
      <vt:lpstr>Postoperative </vt:lpstr>
      <vt:lpstr>PowerPoint Presentation</vt:lpstr>
      <vt:lpstr>PowerPoint Presentation</vt:lpstr>
      <vt:lpstr>PowerPoint Presentation</vt:lpstr>
      <vt:lpstr>PowerPoint Presentation</vt:lpstr>
      <vt:lpstr>Restrictive lung disease (RLD)</vt:lpstr>
      <vt:lpstr>PowerPoint Presentation</vt:lpstr>
      <vt:lpstr>Caused by</vt:lpstr>
      <vt:lpstr>Leads to</vt:lpstr>
      <vt:lpstr>Classification </vt:lpstr>
      <vt:lpstr>PowerPoint Presentation</vt:lpstr>
      <vt:lpstr>Classification based on - cause</vt:lpstr>
      <vt:lpstr>PowerPoint Presentation</vt:lpstr>
      <vt:lpstr>PowerPoint Presentation</vt:lpstr>
      <vt:lpstr>PowerPoint Presentation</vt:lpstr>
      <vt:lpstr>Pulmonary edema (PE)</vt:lpstr>
      <vt:lpstr>Increased capillary pressure PE</vt:lpstr>
      <vt:lpstr>Increased capillary permeability PE</vt:lpstr>
      <vt:lpstr>Cardiogenic pulmonary edema</vt:lpstr>
      <vt:lpstr>Causes</vt:lpstr>
      <vt:lpstr>Radiograph shows acute pulmonary edema in a patient who was admitted with acute anterior myocardial infarction. Findings are vascular redistribution, indistinct hila, and alveolar infiltrates</vt:lpstr>
      <vt:lpstr>Negative pressure pulmonary edema (NPPE)</vt:lpstr>
      <vt:lpstr>PowerPoint Presentation</vt:lpstr>
      <vt:lpstr>Pathogenesis</vt:lpstr>
      <vt:lpstr>Treatment </vt:lpstr>
      <vt:lpstr>Neurogenic pulmonary edema</vt:lpstr>
      <vt:lpstr>Re-expansion pulmonary edema</vt:lpstr>
      <vt:lpstr>Reading assignment </vt:lpstr>
      <vt:lpstr>Management of Anesthesia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Anesthesia for diseases of the RS</dc:title>
  <dc:creator>biruk</dc:creator>
  <cp:lastModifiedBy>biruk</cp:lastModifiedBy>
  <cp:revision>116</cp:revision>
  <dcterms:created xsi:type="dcterms:W3CDTF">2024-02-08T14:40:10Z</dcterms:created>
  <dcterms:modified xsi:type="dcterms:W3CDTF">2024-03-01T02:24:44Z</dcterms:modified>
</cp:coreProperties>
</file>