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94" r:id="rId4"/>
    <p:sldId id="258" r:id="rId5"/>
    <p:sldId id="259" r:id="rId6"/>
    <p:sldId id="260" r:id="rId7"/>
    <p:sldId id="293" r:id="rId8"/>
    <p:sldId id="292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7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B0528-30C0-452A-AC3D-AF819A5AD511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78C84-B302-4B6E-BB43-E9D5F69CE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632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B0528-30C0-452A-AC3D-AF819A5AD511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78C84-B302-4B6E-BB43-E9D5F69CE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658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B0528-30C0-452A-AC3D-AF819A5AD511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78C84-B302-4B6E-BB43-E9D5F69CE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637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B0528-30C0-452A-AC3D-AF819A5AD511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78C84-B302-4B6E-BB43-E9D5F69CE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884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B0528-30C0-452A-AC3D-AF819A5AD511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78C84-B302-4B6E-BB43-E9D5F69CE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458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B0528-30C0-452A-AC3D-AF819A5AD511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78C84-B302-4B6E-BB43-E9D5F69CE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938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B0528-30C0-452A-AC3D-AF819A5AD511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78C84-B302-4B6E-BB43-E9D5F69CE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988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B0528-30C0-452A-AC3D-AF819A5AD511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78C84-B302-4B6E-BB43-E9D5F69CE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440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B0528-30C0-452A-AC3D-AF819A5AD511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78C84-B302-4B6E-BB43-E9D5F69CE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703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B0528-30C0-452A-AC3D-AF819A5AD511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78C84-B302-4B6E-BB43-E9D5F69CE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417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B0528-30C0-452A-AC3D-AF819A5AD511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78C84-B302-4B6E-BB43-E9D5F69CE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527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DB0528-30C0-452A-AC3D-AF819A5AD511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778C84-B302-4B6E-BB43-E9D5F69CE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450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Thyroid and Anesthesia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500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Thyroid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Patient may present for – thyroid and non – thyroid surgery</a:t>
            </a:r>
          </a:p>
          <a:p>
            <a:pPr marL="514350" indent="-514350">
              <a:buAutoNum type="alphaUcPeriod"/>
            </a:pPr>
            <a:r>
              <a:rPr lang="en-US" b="1" dirty="0" smtClean="0"/>
              <a:t>Hypothyroidism</a:t>
            </a:r>
          </a:p>
          <a:p>
            <a:r>
              <a:rPr lang="en-US" dirty="0" smtClean="0"/>
              <a:t>Auto-immune thyroid destruction </a:t>
            </a:r>
          </a:p>
          <a:p>
            <a:r>
              <a:rPr lang="en-US" dirty="0" smtClean="0"/>
              <a:t>CVS – decreased blood volume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Decreased cardiac output           this generally leads to hypotension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Decreased heart rate                     and IHD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dirty="0"/>
          </a:p>
          <a:p>
            <a:r>
              <a:rPr lang="en-US" dirty="0" smtClean="0"/>
              <a:t>Pericardial effusion </a:t>
            </a:r>
            <a:endParaRPr lang="en-US" dirty="0"/>
          </a:p>
        </p:txBody>
      </p:sp>
      <p:sp>
        <p:nvSpPr>
          <p:cNvPr id="5" name="Right Brace 4"/>
          <p:cNvSpPr/>
          <p:nvPr/>
        </p:nvSpPr>
        <p:spPr>
          <a:xfrm>
            <a:off x="5627077" y="3418449"/>
            <a:ext cx="182880" cy="184286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748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880"/>
            <a:ext cx="10515600" cy="6288259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In </a:t>
            </a:r>
            <a:r>
              <a:rPr lang="en-US" b="1" dirty="0"/>
              <a:t>hypothyroidism</a:t>
            </a:r>
            <a:r>
              <a:rPr lang="en-US" dirty="0"/>
              <a:t>, patients often develop </a:t>
            </a:r>
            <a:r>
              <a:rPr lang="en-US" b="1" dirty="0"/>
              <a:t>hypercholesterolemia and hypertriglyceridemia</a:t>
            </a:r>
            <a:r>
              <a:rPr lang="en-US" dirty="0"/>
              <a:t>, which increases the risk of </a:t>
            </a:r>
            <a:r>
              <a:rPr lang="en-US" b="1" dirty="0"/>
              <a:t>coronary artery disease (CAD)</a:t>
            </a:r>
            <a:r>
              <a:rPr lang="en-US" dirty="0"/>
              <a:t>.</a:t>
            </a:r>
          </a:p>
          <a:p>
            <a:r>
              <a:rPr lang="en-US" b="1" dirty="0"/>
              <a:t>The main causes are:</a:t>
            </a:r>
          </a:p>
          <a:p>
            <a:r>
              <a:rPr lang="en-US" b="1" dirty="0"/>
              <a:t>Reduced LDL receptor activity</a:t>
            </a:r>
            <a:endParaRPr lang="en-US" dirty="0"/>
          </a:p>
          <a:p>
            <a:pPr lvl="1"/>
            <a:r>
              <a:rPr lang="en-US" dirty="0"/>
              <a:t>Thyroid hormones (especially </a:t>
            </a:r>
            <a:r>
              <a:rPr lang="en-US" b="1" dirty="0"/>
              <a:t>T3</a:t>
            </a:r>
            <a:r>
              <a:rPr lang="en-US" dirty="0"/>
              <a:t>) normally stimulate LDL receptor expression in the liver.</a:t>
            </a:r>
          </a:p>
          <a:p>
            <a:pPr lvl="1"/>
            <a:r>
              <a:rPr lang="en-US" dirty="0"/>
              <a:t>In hypothyroidism → ↓ T3 → ↓ LDL receptor number and activity → </a:t>
            </a:r>
            <a:r>
              <a:rPr lang="en-US" b="1" dirty="0"/>
              <a:t>reduced clearance of LDL</a:t>
            </a:r>
            <a:r>
              <a:rPr lang="en-US" dirty="0"/>
              <a:t> from the blood → ↑ LDL cholesterol.</a:t>
            </a:r>
          </a:p>
          <a:p>
            <a:r>
              <a:rPr lang="en-US" b="1" dirty="0"/>
              <a:t>Decreased activity of lipoprotein lipase (LPL)</a:t>
            </a:r>
            <a:endParaRPr lang="en-US" dirty="0"/>
          </a:p>
          <a:p>
            <a:pPr lvl="1"/>
            <a:r>
              <a:rPr lang="en-US" dirty="0"/>
              <a:t>LPL is important for breaking down triglyceride-rich lipoproteins (VLDL, chylomicrons).</a:t>
            </a:r>
          </a:p>
          <a:p>
            <a:pPr lvl="1"/>
            <a:r>
              <a:rPr lang="en-US" dirty="0"/>
              <a:t>Hypothyroidism → ↓ LPL activity → </a:t>
            </a:r>
            <a:r>
              <a:rPr lang="en-US" b="1" dirty="0"/>
              <a:t>hypertriglyceridemia</a:t>
            </a:r>
            <a:r>
              <a:rPr lang="en-US" dirty="0"/>
              <a:t>.</a:t>
            </a:r>
          </a:p>
          <a:p>
            <a:r>
              <a:rPr lang="en-US" b="1" dirty="0"/>
              <a:t>Decreased bile acid synthesis</a:t>
            </a:r>
            <a:endParaRPr lang="en-US" dirty="0"/>
          </a:p>
          <a:p>
            <a:pPr lvl="1"/>
            <a:r>
              <a:rPr lang="en-US" dirty="0"/>
              <a:t>T3 also regulates cholesterol metabolism and conversion into bile acids.</a:t>
            </a:r>
          </a:p>
          <a:p>
            <a:pPr lvl="1"/>
            <a:r>
              <a:rPr lang="en-US" dirty="0"/>
              <a:t>Hypothyroidism → ↓ conversion → </a:t>
            </a:r>
            <a:r>
              <a:rPr lang="en-US" b="1" dirty="0"/>
              <a:t>cholesterol accumulation</a:t>
            </a:r>
            <a:r>
              <a:rPr lang="en-US" dirty="0"/>
              <a:t>.</a:t>
            </a:r>
          </a:p>
          <a:p>
            <a:r>
              <a:rPr lang="en-US" b="1" dirty="0"/>
              <a:t>Pro-</a:t>
            </a:r>
            <a:r>
              <a:rPr lang="en-US" b="1" dirty="0" err="1"/>
              <a:t>atherogenic</a:t>
            </a:r>
            <a:r>
              <a:rPr lang="en-US" b="1" dirty="0"/>
              <a:t> lipid profile</a:t>
            </a:r>
            <a:endParaRPr lang="en-US" dirty="0"/>
          </a:p>
          <a:p>
            <a:pPr lvl="1"/>
            <a:r>
              <a:rPr lang="en-US" dirty="0"/>
              <a:t>Elevated LDL and VLDL.</a:t>
            </a:r>
          </a:p>
          <a:p>
            <a:pPr lvl="1"/>
            <a:r>
              <a:rPr lang="en-US" dirty="0"/>
              <a:t>Sometimes increased lipoprotein(a).</a:t>
            </a:r>
          </a:p>
          <a:p>
            <a:pPr lvl="1"/>
            <a:r>
              <a:rPr lang="en-US" dirty="0"/>
              <a:t>HDL may be normal or low.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800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176963"/>
          </a:xfrm>
        </p:spPr>
        <p:txBody>
          <a:bodyPr/>
          <a:lstStyle/>
          <a:p>
            <a:r>
              <a:rPr lang="en-US" dirty="0" smtClean="0"/>
              <a:t>If there is clinical presentation- delay elective surgery to euthyroid</a:t>
            </a:r>
          </a:p>
          <a:p>
            <a:pPr marL="0" indent="0">
              <a:buNone/>
            </a:pPr>
            <a:r>
              <a:rPr lang="en-US" dirty="0" smtClean="0"/>
              <a:t> </a:t>
            </a:r>
          </a:p>
          <a:p>
            <a:r>
              <a:rPr lang="en-US" dirty="0" smtClean="0"/>
              <a:t>Request endocrinology evaluation</a:t>
            </a:r>
          </a:p>
          <a:p>
            <a:pPr marL="0" indent="0">
              <a:buNone/>
            </a:pPr>
            <a:r>
              <a:rPr lang="en-US" dirty="0" smtClean="0"/>
              <a:t> </a:t>
            </a:r>
          </a:p>
          <a:p>
            <a:r>
              <a:rPr lang="en-US" dirty="0" smtClean="0"/>
              <a:t>Give L-thyroxine (starting 50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µg increasing to 100-200 PO over several week)</a:t>
            </a:r>
          </a:p>
          <a:p>
            <a:pPr marL="0" indent="0">
              <a:buNone/>
            </a:pPr>
            <a:endParaRPr lang="en-US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Geriatric patients – susceptible to angina &amp; heart failure 2° to thyroxine &amp; ↑ cardiac work load</a:t>
            </a:r>
          </a:p>
          <a:p>
            <a:pPr marL="0" indent="0">
              <a:buNone/>
            </a:pP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 Give 25µg for these group</a:t>
            </a:r>
          </a:p>
          <a:p>
            <a:pPr marL="0" indent="0">
              <a:buNone/>
            </a:pPr>
            <a:endParaRPr lang="en-US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↑ 25 µg every 3-4 week interval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50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1353801" cy="6176963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If urgent surgery – </a:t>
            </a:r>
            <a:r>
              <a:rPr lang="en-US" dirty="0" err="1" smtClean="0"/>
              <a:t>Liothyronine</a:t>
            </a:r>
            <a:r>
              <a:rPr lang="en-US" dirty="0" smtClean="0"/>
              <a:t> (T</a:t>
            </a:r>
            <a:r>
              <a:rPr lang="en-US" sz="2000" dirty="0" smtClean="0"/>
              <a:t>3</a:t>
            </a:r>
            <a:r>
              <a:rPr lang="en-US" dirty="0" smtClean="0"/>
              <a:t>) 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50 – 100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µg slow IV ECG monitoring followed by 25µg 8 hourly  can used</a:t>
            </a:r>
          </a:p>
          <a:p>
            <a:pPr marL="0" indent="0">
              <a:buNone/>
            </a:pPr>
            <a:endParaRPr lang="en-US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B. Hyperthyroidism (thyrotoxicosis)</a:t>
            </a:r>
          </a:p>
          <a:p>
            <a:r>
              <a:rPr lang="en-US" dirty="0" smtClean="0"/>
              <a:t>Presents with weight loss, sweating, hypertension and cardiac arrhythmia(atrial fibrillation)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 Treatment – carbimazole( 30-40, daily 6-8 weeks)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This iodination of thyrosyl residues in thyroglobulin</a:t>
            </a:r>
          </a:p>
          <a:p>
            <a:pPr marL="0" indent="0">
              <a:buNone/>
            </a:pPr>
            <a:r>
              <a:rPr lang="en-US" dirty="0" smtClean="0"/>
              <a:t> </a:t>
            </a:r>
          </a:p>
          <a:p>
            <a:r>
              <a:rPr lang="en-US" dirty="0" smtClean="0"/>
              <a:t>Large thyroid – </a:t>
            </a:r>
            <a:r>
              <a:rPr lang="en-US" dirty="0" err="1" smtClean="0"/>
              <a:t>lugol’s</a:t>
            </a:r>
            <a:r>
              <a:rPr lang="en-US" dirty="0" smtClean="0"/>
              <a:t> iodine is substituted 10 days before surgery to reduce gland vascularity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2613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ß- blocker –propranolol 30 -60  mg TID if there is tremor &amp; palpitation</a:t>
            </a: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Non selective ß blocker propranolol are more effective than selective ones</a:t>
            </a: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ß1 blockade treat tachycardia </a:t>
            </a: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ß2 blockade prevents peripheral conversion of T4 to T3 </a:t>
            </a:r>
          </a:p>
          <a:p>
            <a:pPr marL="0" indent="0">
              <a:buNone/>
            </a:pP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5262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2926283"/>
              </p:ext>
            </p:extLst>
          </p:nvPr>
        </p:nvGraphicFramePr>
        <p:xfrm>
          <a:off x="239152" y="168810"/>
          <a:ext cx="11114648" cy="6008153"/>
        </p:xfrm>
        <a:graphic>
          <a:graphicData uri="http://schemas.openxmlformats.org/drawingml/2006/table">
            <a:tbl>
              <a:tblPr/>
              <a:tblGrid>
                <a:gridCol w="2778662"/>
                <a:gridCol w="2778662"/>
                <a:gridCol w="2778662"/>
                <a:gridCol w="2778662"/>
              </a:tblGrid>
              <a:tr h="429154">
                <a:tc>
                  <a:txBody>
                    <a:bodyPr/>
                    <a:lstStyle/>
                    <a:p>
                      <a:r>
                        <a:rPr lang="en-US" sz="1500"/>
                        <a:t>Condition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TSH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Free T4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Free T3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29154">
                <a:tc>
                  <a:txBody>
                    <a:bodyPr/>
                    <a:lstStyle/>
                    <a:p>
                      <a:r>
                        <a:rPr lang="en-US" sz="1500" b="1"/>
                        <a:t>Normal (Euthyroid)</a:t>
                      </a:r>
                      <a:endParaRPr lang="en-US" sz="1500"/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0.4 – 4.0 mIU/L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0.8 – 1.8 ng/dL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2.3 – 4.2 pg/mL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51019">
                <a:tc>
                  <a:txBody>
                    <a:bodyPr/>
                    <a:lstStyle/>
                    <a:p>
                      <a:r>
                        <a:rPr lang="en-US" sz="1500" b="1"/>
                        <a:t>Primary Hypothyroidism</a:t>
                      </a:r>
                      <a:r>
                        <a:rPr lang="en-US" sz="1500"/>
                        <a:t> (thyroid gland problem)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↑ High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↓ Low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↓ or normal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51019">
                <a:tc>
                  <a:txBody>
                    <a:bodyPr/>
                    <a:lstStyle/>
                    <a:p>
                      <a:r>
                        <a:rPr lang="en-US" sz="1500" b="1"/>
                        <a:t>Subclinical Hypothyroidism</a:t>
                      </a:r>
                      <a:endParaRPr lang="en-US" sz="1500"/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↑ High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Normal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Normal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394749">
                <a:tc>
                  <a:txBody>
                    <a:bodyPr/>
                    <a:lstStyle/>
                    <a:p>
                      <a:r>
                        <a:rPr lang="en-US" sz="1500" b="1"/>
                        <a:t>Secondary (Central) Hypothyroidism</a:t>
                      </a:r>
                      <a:r>
                        <a:rPr lang="en-US" sz="1500"/>
                        <a:t> (pituitary/hypothalamus problem)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↓ Low or normal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↓ Low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↓ or normal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72885">
                <a:tc>
                  <a:txBody>
                    <a:bodyPr/>
                    <a:lstStyle/>
                    <a:p>
                      <a:r>
                        <a:rPr lang="en-US" sz="1500" b="1"/>
                        <a:t>Primary Hyperthyroidism (Thyrotoxicosis, e.g. Graves’)</a:t>
                      </a:r>
                      <a:endParaRPr lang="en-US" sz="1500"/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↓ Low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↑ High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↑ High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51019">
                <a:tc>
                  <a:txBody>
                    <a:bodyPr/>
                    <a:lstStyle/>
                    <a:p>
                      <a:r>
                        <a:rPr lang="en-US" sz="1500" b="1"/>
                        <a:t>Subclinical Hyperthyroidism</a:t>
                      </a:r>
                      <a:endParaRPr lang="en-US" sz="1500"/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↓ Low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Normal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Normal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29154">
                <a:tc>
                  <a:txBody>
                    <a:bodyPr/>
                    <a:lstStyle/>
                    <a:p>
                      <a:r>
                        <a:rPr lang="en-US" sz="1500" b="1"/>
                        <a:t>T3-Toxicosis</a:t>
                      </a:r>
                      <a:endParaRPr lang="en-US" sz="1500"/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↓ Low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Normal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↑ High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4108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7452" y="689317"/>
            <a:ext cx="10311619" cy="5487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9255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Preoperative Assessment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Thyroid function </a:t>
            </a:r>
            <a:r>
              <a:rPr lang="en-US" dirty="0" smtClean="0"/>
              <a:t>– euthyroid – HR &lt; 80 bpm, patient no tremor</a:t>
            </a:r>
          </a:p>
          <a:p>
            <a:r>
              <a:rPr lang="en-US" dirty="0" smtClean="0"/>
              <a:t>Delay surgery if possible until this is achieved</a:t>
            </a:r>
          </a:p>
          <a:p>
            <a:r>
              <a:rPr lang="en-US" dirty="0" smtClean="0"/>
              <a:t>Patients with subclinical hypothyroidism present no anesthetic problems</a:t>
            </a:r>
          </a:p>
          <a:p>
            <a:r>
              <a:rPr lang="en-US" dirty="0" smtClean="0"/>
              <a:t>Elective surgery can proceed without special preparation</a:t>
            </a:r>
          </a:p>
          <a:p>
            <a:pPr marL="0" indent="0">
              <a:buNone/>
            </a:pPr>
            <a:r>
              <a:rPr lang="en-US" b="1" dirty="0" smtClean="0"/>
              <a:t>Airway- </a:t>
            </a:r>
            <a:r>
              <a:rPr lang="en-US" dirty="0" smtClean="0"/>
              <a:t>look for tracheal deviation- respiration obstruction 2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° to large </a:t>
            </a:r>
            <a:r>
              <a:rPr lang="en-US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goitor</a:t>
            </a:r>
            <a:endParaRPr lang="en-US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 smtClean="0"/>
              <a:t>Respiratory obstruction – in retrosternal </a:t>
            </a:r>
            <a:r>
              <a:rPr lang="en-US" dirty="0" err="1" smtClean="0"/>
              <a:t>goitor</a:t>
            </a:r>
            <a:r>
              <a:rPr lang="en-US" dirty="0" smtClean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165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 dirty="0" smtClean="0"/>
              <a:t>History of positional dyspnea &amp; dysphagia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Tracheal compression: shortness of breath, dysphagia &amp; stridor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Stridor occur in 50% compression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Infiltrating carcinoma – can restrict neck movement – predictor for difficult intubation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Superior vena cava obstruction – venous engorgement (distention) that do not change with respiration (SVC syndrome)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17654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Investigation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CBC</a:t>
            </a:r>
          </a:p>
          <a:p>
            <a:r>
              <a:rPr lang="en-US" dirty="0" smtClean="0"/>
              <a:t>Electrolyte, serum calcium</a:t>
            </a:r>
          </a:p>
          <a:p>
            <a:r>
              <a:rPr lang="en-US" dirty="0" smtClean="0"/>
              <a:t>Urea and creatinine</a:t>
            </a:r>
          </a:p>
          <a:p>
            <a:r>
              <a:rPr lang="en-US" dirty="0" smtClean="0"/>
              <a:t>Thyroid function test</a:t>
            </a:r>
          </a:p>
          <a:p>
            <a:r>
              <a:rPr lang="en-US" dirty="0" smtClean="0"/>
              <a:t>CT/MRI – tracheal compression site, length of narrowing &amp; calcification</a:t>
            </a:r>
          </a:p>
          <a:p>
            <a:r>
              <a:rPr lang="en-US" dirty="0" smtClean="0"/>
              <a:t>Refer to ENT surgeon for vocal cord evaluation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52028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Anesthesia management 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Hypothyroidism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Give all drug slowly</a:t>
            </a:r>
          </a:p>
          <a:p>
            <a:r>
              <a:rPr lang="en-US" dirty="0" smtClean="0"/>
              <a:t>Profound hypotension</a:t>
            </a:r>
          </a:p>
          <a:p>
            <a:r>
              <a:rPr lang="en-US" dirty="0" smtClean="0"/>
              <a:t>Resistant to catecholamine therapy</a:t>
            </a:r>
          </a:p>
          <a:p>
            <a:r>
              <a:rPr lang="en-US" dirty="0" smtClean="0"/>
              <a:t>low metabolic rate leads to hypothermia –warm patients</a:t>
            </a:r>
          </a:p>
          <a:p>
            <a:r>
              <a:rPr lang="en-US" dirty="0" smtClean="0"/>
              <a:t>Very active warming can lead to profound vasodilation</a:t>
            </a:r>
          </a:p>
          <a:p>
            <a:r>
              <a:rPr lang="en-US" dirty="0" smtClean="0"/>
              <a:t>Slow drug metabolism- reduce dose of opioids &amp; muscle relaxants</a:t>
            </a:r>
          </a:p>
          <a:p>
            <a:r>
              <a:rPr lang="en-US" dirty="0" smtClean="0"/>
              <a:t>Monitor twitch response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22526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Hyperthyroidism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Continue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ß blockade therapy perioperatively</a:t>
            </a: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Reduce the occurrence of thyroid storm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1460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Thyroid storm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Life threatening exacerbation of hyperthyroid state</a:t>
            </a:r>
          </a:p>
          <a:p>
            <a:r>
              <a:rPr lang="en-US" dirty="0" smtClean="0"/>
              <a:t>Signs and symptoms of decompensation </a:t>
            </a:r>
          </a:p>
          <a:p>
            <a:r>
              <a:rPr lang="en-US" dirty="0" smtClean="0"/>
              <a:t>Inadequately or untreated hyperthyroidism</a:t>
            </a:r>
          </a:p>
          <a:p>
            <a:r>
              <a:rPr lang="en-US" dirty="0" smtClean="0"/>
              <a:t>Multi system syndrome</a:t>
            </a:r>
          </a:p>
          <a:p>
            <a:r>
              <a:rPr lang="en-US" dirty="0" smtClean="0"/>
              <a:t>Usually occurs 6-24 hours after surgery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98821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Sign &amp; symptoms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Hyperpyrexia- 39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°C- 40°C</a:t>
            </a: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Profound sweating</a:t>
            </a: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Tachycardia </a:t>
            </a: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Atrial fibrillation</a:t>
            </a: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Hypertension( early)</a:t>
            </a:r>
            <a:r>
              <a:rPr lang="en-US" dirty="0" smtClean="0"/>
              <a:t>- hypotension---shock </a:t>
            </a: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Heart failure (↓ air entry, pulmonary congestion)</a:t>
            </a: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Agitation, anxiety, psychosis, seizure &amp; coma</a:t>
            </a: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Nausea vomiting , diarrhea, abdominal pain, jaundice</a:t>
            </a:r>
          </a:p>
        </p:txBody>
      </p:sp>
    </p:spTree>
    <p:extLst>
      <p:ext uri="{BB962C8B-B14F-4D97-AF65-F5344CB8AC3E}">
        <p14:creationId xmlns:p14="http://schemas.microsoft.com/office/powerpoint/2010/main" val="288454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Burch–</a:t>
            </a:r>
            <a:r>
              <a:rPr lang="en-US" b="1" dirty="0" err="1"/>
              <a:t>Wartofsky</a:t>
            </a:r>
            <a:r>
              <a:rPr lang="en-US" b="1" dirty="0"/>
              <a:t> Point Scale (BWPS)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1</a:t>
            </a:r>
            <a:r>
              <a:rPr lang="en-US" b="1" dirty="0"/>
              <a:t>. Thermoregulatory dysfunction (fever)</a:t>
            </a:r>
            <a:endParaRPr lang="en-US" dirty="0"/>
          </a:p>
          <a:p>
            <a:r>
              <a:rPr lang="en-US" dirty="0"/>
              <a:t>37.2–37.7 °C → 5 points</a:t>
            </a:r>
          </a:p>
          <a:p>
            <a:r>
              <a:rPr lang="en-US" dirty="0"/>
              <a:t>37.8–38.3 °C → 10 points</a:t>
            </a:r>
          </a:p>
          <a:p>
            <a:r>
              <a:rPr lang="en-US" dirty="0"/>
              <a:t>38.4–38.8 °C → 15 points</a:t>
            </a:r>
          </a:p>
          <a:p>
            <a:r>
              <a:rPr lang="en-US" dirty="0"/>
              <a:t>38.9–39.4 °C → 20 points</a:t>
            </a:r>
          </a:p>
          <a:p>
            <a:r>
              <a:rPr lang="en-US" dirty="0"/>
              <a:t>39.5–39.9 °C → 25 points</a:t>
            </a:r>
          </a:p>
          <a:p>
            <a:r>
              <a:rPr lang="en-US" dirty="0"/>
              <a:t>≥ 40 °C → 30 points</a:t>
            </a:r>
          </a:p>
          <a:p>
            <a:r>
              <a:rPr lang="en-US" b="1" dirty="0"/>
              <a:t>2. CNS effects</a:t>
            </a:r>
            <a:endParaRPr lang="en-US" dirty="0"/>
          </a:p>
          <a:p>
            <a:r>
              <a:rPr lang="en-US" dirty="0"/>
              <a:t>Mild (agitation) → 10 points</a:t>
            </a:r>
          </a:p>
          <a:p>
            <a:r>
              <a:rPr lang="en-US" dirty="0"/>
              <a:t>Moderate (delirium, psychosis, extreme lethargy) → 20 points</a:t>
            </a:r>
          </a:p>
          <a:p>
            <a:r>
              <a:rPr lang="en-US" dirty="0" smtClean="0"/>
              <a:t>Severe (seizures, coma) → 30 points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9533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3. GI–hepatic dysfunction</a:t>
            </a:r>
            <a:endParaRPr lang="en-US" dirty="0" smtClean="0"/>
          </a:p>
          <a:p>
            <a:r>
              <a:rPr lang="en-US" dirty="0" smtClean="0"/>
              <a:t>Moderate (diarrhea, nausea/vomiting, abdominal pain) → 10 points</a:t>
            </a:r>
          </a:p>
          <a:p>
            <a:r>
              <a:rPr lang="en-US" dirty="0" smtClean="0"/>
              <a:t>Severe (jaundice) → 20 points</a:t>
            </a:r>
          </a:p>
          <a:p>
            <a:r>
              <a:rPr lang="en-US" b="1" dirty="0" smtClean="0"/>
              <a:t>4. Cardiovascular dysfunction</a:t>
            </a:r>
            <a:endParaRPr lang="en-US" dirty="0" smtClean="0"/>
          </a:p>
          <a:p>
            <a:r>
              <a:rPr lang="en-US" b="1" dirty="0" smtClean="0"/>
              <a:t>Tachycardia:</a:t>
            </a:r>
            <a:endParaRPr lang="en-US" dirty="0" smtClean="0"/>
          </a:p>
          <a:p>
            <a:r>
              <a:rPr lang="en-US" dirty="0" smtClean="0"/>
              <a:t>90–109 bpm → 5 points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01956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110–119 bpm → 10 points</a:t>
            </a:r>
          </a:p>
          <a:p>
            <a:r>
              <a:rPr lang="en-US" dirty="0"/>
              <a:t>120–129 bpm → 15 points</a:t>
            </a:r>
          </a:p>
          <a:p>
            <a:r>
              <a:rPr lang="en-US" dirty="0"/>
              <a:t>130–139 bpm → 20 points</a:t>
            </a:r>
          </a:p>
          <a:p>
            <a:r>
              <a:rPr lang="en-US" dirty="0"/>
              <a:t>≥140 bpm → 25 points</a:t>
            </a:r>
          </a:p>
          <a:p>
            <a:r>
              <a:rPr lang="en-US" b="1" dirty="0"/>
              <a:t>Atrial fibrillation → 10 points</a:t>
            </a:r>
            <a:endParaRPr lang="en-US" dirty="0"/>
          </a:p>
          <a:p>
            <a:r>
              <a:rPr lang="en-US" b="1" dirty="0"/>
              <a:t>Heart failure:</a:t>
            </a:r>
            <a:endParaRPr lang="en-US" dirty="0"/>
          </a:p>
          <a:p>
            <a:r>
              <a:rPr lang="en-US" dirty="0"/>
              <a:t>Mild (pedal edema) → 5 points</a:t>
            </a:r>
          </a:p>
          <a:p>
            <a:r>
              <a:rPr lang="en-US" dirty="0"/>
              <a:t>Moderate (bibasilar rales) → 10 points</a:t>
            </a:r>
          </a:p>
          <a:p>
            <a:r>
              <a:rPr lang="en-US" dirty="0"/>
              <a:t>Severe (pulmonary edema) → 15 points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4977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Precipitating event (infection, surgery, trauma, withdrawal of </a:t>
            </a:r>
            <a:r>
              <a:rPr lang="en-US" b="1" dirty="0" err="1"/>
              <a:t>antithyroid</a:t>
            </a:r>
            <a:r>
              <a:rPr lang="en-US" b="1" dirty="0"/>
              <a:t> drugs, childbirth) → 10</a:t>
            </a:r>
            <a:r>
              <a:rPr lang="en-US" dirty="0"/>
              <a:t> </a:t>
            </a:r>
            <a:r>
              <a:rPr lang="en-US" b="1" dirty="0"/>
              <a:t>points</a:t>
            </a:r>
            <a:endParaRPr lang="en-US" dirty="0"/>
          </a:p>
          <a:p>
            <a:r>
              <a:rPr lang="en-US" b="1" dirty="0"/>
              <a:t>Interpretation</a:t>
            </a:r>
            <a:endParaRPr lang="en-US" dirty="0"/>
          </a:p>
          <a:p>
            <a:r>
              <a:rPr lang="en-US" b="1" dirty="0"/>
              <a:t>≥ 45 points → highly suggestive of thyroid storm</a:t>
            </a:r>
            <a:endParaRPr lang="en-US" dirty="0"/>
          </a:p>
          <a:p>
            <a:r>
              <a:rPr lang="en-US" b="1" dirty="0"/>
              <a:t>25–44 points → Impending storm</a:t>
            </a:r>
            <a:endParaRPr lang="en-US" dirty="0"/>
          </a:p>
          <a:p>
            <a:r>
              <a:rPr lang="en-US" b="1" dirty="0"/>
              <a:t>&lt; 25 points → Thyrotoxicosis unlikely to be thyroid storm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93937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Treatment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</a:t>
            </a:r>
            <a:r>
              <a:rPr lang="en-US" dirty="0" smtClean="0"/>
              <a:t>ehydrate with IV saline and glucose</a:t>
            </a:r>
          </a:p>
          <a:p>
            <a:r>
              <a:rPr lang="en-US" dirty="0" smtClean="0"/>
              <a:t>Treat hyperthermia with tepid sponging and paracetamol</a:t>
            </a:r>
          </a:p>
          <a:p>
            <a:r>
              <a:rPr lang="en-US" dirty="0" smtClean="0"/>
              <a:t>Do not give NSAIDs or aspirin</a:t>
            </a:r>
          </a:p>
          <a:p>
            <a:r>
              <a:rPr lang="en-US" dirty="0"/>
              <a:t>T</a:t>
            </a:r>
            <a:r>
              <a:rPr lang="en-US" dirty="0" smtClean="0"/>
              <a:t>hese displace thyroid hormone from serum binding sites</a:t>
            </a:r>
          </a:p>
          <a:p>
            <a:r>
              <a:rPr lang="en-US" dirty="0" smtClean="0"/>
              <a:t>Give propranolol (1mg increments, up to 10mg), to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↓</a:t>
            </a:r>
            <a:r>
              <a:rPr lang="en-US" dirty="0" smtClean="0"/>
              <a:t> the HR to &lt;90bpm</a:t>
            </a:r>
          </a:p>
          <a:p>
            <a:r>
              <a:rPr lang="en-US" dirty="0"/>
              <a:t>G</a:t>
            </a:r>
            <a:r>
              <a:rPr lang="en-US" dirty="0" smtClean="0"/>
              <a:t>ive esmolol (loading dose 250–500 micrograms/kg, followed by 50–100 micrograms/kg/min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35537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Treatment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Give hydrocortisone (200mg IV </a:t>
            </a:r>
            <a:r>
              <a:rPr lang="en-US" dirty="0" err="1" smtClean="0"/>
              <a:t>qds</a:t>
            </a:r>
            <a:r>
              <a:rPr lang="en-US" dirty="0" smtClean="0"/>
              <a:t>)</a:t>
            </a:r>
          </a:p>
          <a:p>
            <a:r>
              <a:rPr lang="en-US" dirty="0"/>
              <a:t>T</a:t>
            </a:r>
            <a:r>
              <a:rPr lang="en-US" dirty="0" smtClean="0"/>
              <a:t>o treat adrenal insufficiency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&amp;</a:t>
            </a:r>
            <a:r>
              <a:rPr lang="en-US" dirty="0" smtClean="0"/>
              <a:t> to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↓</a:t>
            </a:r>
            <a:r>
              <a:rPr lang="en-US" dirty="0" smtClean="0"/>
              <a:t> T4 release &amp; conversion to T3 at very high levels</a:t>
            </a:r>
          </a:p>
          <a:p>
            <a:r>
              <a:rPr lang="en-US" dirty="0" smtClean="0"/>
              <a:t>Give PTU (1g loading dose via NGT, followed by 200–300mg </a:t>
            </a:r>
            <a:r>
              <a:rPr lang="en-US" dirty="0" err="1" smtClean="0"/>
              <a:t>qds</a:t>
            </a:r>
            <a:r>
              <a:rPr lang="en-US" dirty="0" smtClean="0"/>
              <a:t>)</a:t>
            </a:r>
          </a:p>
          <a:p>
            <a:r>
              <a:rPr lang="en-US" dirty="0" smtClean="0"/>
              <a:t>This inhibits thyroid hormone release &amp; also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↓</a:t>
            </a:r>
            <a:r>
              <a:rPr lang="en-US" dirty="0" smtClean="0"/>
              <a:t> the peripheral conversion of T4  to T3</a:t>
            </a:r>
          </a:p>
          <a:p>
            <a:r>
              <a:rPr lang="en-US" dirty="0" smtClean="0"/>
              <a:t>After blockade by PTU, give </a:t>
            </a:r>
            <a:r>
              <a:rPr lang="en-US" dirty="0" err="1" smtClean="0"/>
              <a:t>NaI</a:t>
            </a:r>
            <a:r>
              <a:rPr lang="en-US" dirty="0" smtClean="0"/>
              <a:t> (500mg </a:t>
            </a:r>
            <a:r>
              <a:rPr lang="en-US" dirty="0" err="1" smtClean="0"/>
              <a:t>tds</a:t>
            </a:r>
            <a:r>
              <a:rPr lang="en-US" dirty="0" smtClean="0"/>
              <a:t> IV), K iodide (five drops </a:t>
            </a:r>
            <a:r>
              <a:rPr lang="en-US" dirty="0" err="1" smtClean="0"/>
              <a:t>qds</a:t>
            </a:r>
            <a:r>
              <a:rPr lang="en-US" dirty="0" smtClean="0"/>
              <a:t> via NGT), or </a:t>
            </a:r>
            <a:r>
              <a:rPr lang="en-US" dirty="0" err="1" smtClean="0"/>
              <a:t>Lugol’s</a:t>
            </a:r>
            <a:r>
              <a:rPr lang="en-US" dirty="0" smtClean="0"/>
              <a:t> iodine (5–10 drops </a:t>
            </a:r>
            <a:r>
              <a:rPr lang="en-US" dirty="0" err="1" smtClean="0"/>
              <a:t>qds</a:t>
            </a:r>
            <a:r>
              <a:rPr lang="en-US" dirty="0" smtClean="0"/>
              <a:t> via NGT)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88667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Hypothyroid coma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 rare form of decompensated hypothyroidism—mortality 15–20%</a:t>
            </a:r>
          </a:p>
          <a:p>
            <a:r>
              <a:rPr lang="en-US" dirty="0" smtClean="0"/>
              <a:t>Precipitated by infection, trauma, cold, and CNS depressants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1982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Sign &amp; symptom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US" dirty="0" smtClean="0"/>
              <a:t>oma </a:t>
            </a:r>
          </a:p>
          <a:p>
            <a:r>
              <a:rPr lang="en-US" dirty="0"/>
              <a:t>H</a:t>
            </a:r>
            <a:r>
              <a:rPr lang="en-US" dirty="0" smtClean="0"/>
              <a:t>ypoventilation </a:t>
            </a:r>
          </a:p>
          <a:p>
            <a:r>
              <a:rPr lang="en-US" dirty="0" smtClean="0"/>
              <a:t>Bradycardia </a:t>
            </a:r>
          </a:p>
          <a:p>
            <a:r>
              <a:rPr lang="en-US" dirty="0"/>
              <a:t>H</a:t>
            </a:r>
            <a:r>
              <a:rPr lang="en-US" dirty="0" smtClean="0"/>
              <a:t>ypotension and </a:t>
            </a:r>
          </a:p>
          <a:p>
            <a:r>
              <a:rPr lang="en-US" dirty="0"/>
              <a:t>S</a:t>
            </a:r>
            <a:r>
              <a:rPr lang="en-US" dirty="0" smtClean="0"/>
              <a:t>evere dilutional hyponatremia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3789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Treatment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Rehydrate with saline and glucose</a:t>
            </a:r>
          </a:p>
          <a:p>
            <a:r>
              <a:rPr lang="en-US" dirty="0" smtClean="0"/>
              <a:t>Stabilize cardiac and respiratory system</a:t>
            </a:r>
          </a:p>
          <a:p>
            <a:r>
              <a:rPr lang="en-US" dirty="0" smtClean="0"/>
              <a:t>May require ventilation</a:t>
            </a:r>
          </a:p>
          <a:p>
            <a:r>
              <a:rPr lang="en-US" dirty="0" smtClean="0"/>
              <a:t>Passive external warming </a:t>
            </a:r>
          </a:p>
          <a:p>
            <a:r>
              <a:rPr lang="en-US" dirty="0" smtClean="0"/>
              <a:t>Sudden warming – extreme peripheral vasodilation</a:t>
            </a:r>
          </a:p>
          <a:p>
            <a:r>
              <a:rPr lang="en-US" dirty="0" smtClean="0"/>
              <a:t>Give levothyroxine (200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µg-400µg) IV bolus</a:t>
            </a: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Smaller dose for CVS patients</a:t>
            </a:r>
          </a:p>
          <a:p>
            <a:r>
              <a:rPr lang="en-US" dirty="0" smtClean="0"/>
              <a:t>100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µg the next day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57894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Treatment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Hypothyroidism - 1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° &amp; 2° adrenal insufficiency </a:t>
            </a: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Give 1</a:t>
            </a:r>
            <a:r>
              <a:rPr lang="en-US" baseline="30000" dirty="0" smtClean="0">
                <a:latin typeface="Calibri" panose="020F0502020204030204" pitchFamily="34" charset="0"/>
                <a:cs typeface="Calibri" panose="020F0502020204030204" pitchFamily="34" charset="0"/>
              </a:rPr>
              <a:t>st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 stress dose steroids</a:t>
            </a: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Hydrocortisone 100 mg QID</a:t>
            </a: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Consider combination of IV T3 &amp; T3 (for urgent surgery)</a:t>
            </a: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T4 to t3 conversions is suppressed in hypothyroid coma</a:t>
            </a: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T3 is more active than T4</a:t>
            </a: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Transfer to ICU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17481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Anesthesia for thyroid surgery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Can range from nodule removal to retrosternal excision </a:t>
            </a:r>
          </a:p>
          <a:p>
            <a:r>
              <a:rPr lang="en-US" dirty="0"/>
              <a:t>R</a:t>
            </a:r>
            <a:r>
              <a:rPr lang="en-US" dirty="0" smtClean="0"/>
              <a:t>etrosternal goiter is usually excised through a standard incision, but occasionally through sternotomy. </a:t>
            </a:r>
          </a:p>
          <a:p>
            <a:r>
              <a:rPr lang="en-US" dirty="0"/>
              <a:t>R</a:t>
            </a:r>
            <a:r>
              <a:rPr lang="en-US" dirty="0" smtClean="0"/>
              <a:t>ecurrent laryngeal nerves &amp; parathyroid glands may be injured or removed </a:t>
            </a:r>
          </a:p>
          <a:p>
            <a:r>
              <a:rPr lang="en-US" dirty="0" smtClean="0"/>
              <a:t>Unilateral surgery can be done with cervical plexus block</a:t>
            </a:r>
          </a:p>
          <a:p>
            <a:r>
              <a:rPr lang="en-US" dirty="0" smtClean="0"/>
              <a:t>But GA  is standard</a:t>
            </a:r>
          </a:p>
          <a:p>
            <a:r>
              <a:rPr lang="en-US" dirty="0" smtClean="0"/>
              <a:t>Deep and superficial cervical plexus blockade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8613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Preoperative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Patient should be euthyroid</a:t>
            </a:r>
          </a:p>
          <a:p>
            <a:r>
              <a:rPr lang="en-US" dirty="0" smtClean="0"/>
              <a:t>Chronic complications- AF, exophtalmos &amp; tachycardia</a:t>
            </a:r>
          </a:p>
          <a:p>
            <a:r>
              <a:rPr lang="en-US" dirty="0" smtClean="0"/>
              <a:t>Iodine and corticosteroid for emergency thyrotoxic patient</a:t>
            </a:r>
          </a:p>
          <a:p>
            <a:r>
              <a:rPr lang="en-US" dirty="0" smtClean="0"/>
              <a:t>Multidisciplinary management</a:t>
            </a:r>
          </a:p>
          <a:p>
            <a:r>
              <a:rPr lang="en-US" dirty="0" smtClean="0"/>
              <a:t>Look for tracheomalacia in longstanding goiter</a:t>
            </a:r>
          </a:p>
          <a:p>
            <a:r>
              <a:rPr lang="en-US" dirty="0" smtClean="0"/>
              <a:t>Positional breathlessness</a:t>
            </a:r>
          </a:p>
          <a:p>
            <a:r>
              <a:rPr lang="en-US" dirty="0" smtClean="0"/>
              <a:t>Standard airway assessment</a:t>
            </a:r>
          </a:p>
          <a:p>
            <a:r>
              <a:rPr lang="en-US" dirty="0" smtClean="0"/>
              <a:t>Check the size, consistency &amp; lower border of the mass</a:t>
            </a:r>
          </a:p>
          <a:p>
            <a:r>
              <a:rPr lang="en-US" dirty="0" smtClean="0"/>
              <a:t>X-ray for possible tracheal deviation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97660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Preoperative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Look for stridor</a:t>
            </a:r>
          </a:p>
          <a:p>
            <a:r>
              <a:rPr lang="en-US" dirty="0" smtClean="0"/>
              <a:t>SVC obstruction – distended neck vein no change during respiration</a:t>
            </a:r>
          </a:p>
          <a:p>
            <a:r>
              <a:rPr lang="en-US" dirty="0" smtClean="0"/>
              <a:t>Pre-emptive analgesia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5102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Investigation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CBC, OFT, TFT, Ca</a:t>
            </a:r>
          </a:p>
          <a:p>
            <a:r>
              <a:rPr lang="en-US" dirty="0" smtClean="0"/>
              <a:t>CXR – thoracic inlet</a:t>
            </a:r>
          </a:p>
          <a:p>
            <a:r>
              <a:rPr lang="en-US" dirty="0" smtClean="0"/>
              <a:t>CT –scan </a:t>
            </a:r>
          </a:p>
          <a:p>
            <a:r>
              <a:rPr lang="en-US" dirty="0" smtClean="0"/>
              <a:t>ENT Consultation – cord function</a:t>
            </a:r>
          </a:p>
          <a:p>
            <a:r>
              <a:rPr lang="en-US" dirty="0" smtClean="0"/>
              <a:t>Fibreoptic examination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8168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Airway 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Majority of  cases are easy </a:t>
            </a:r>
          </a:p>
          <a:p>
            <a:r>
              <a:rPr lang="en-US" dirty="0" smtClean="0"/>
              <a:t>Even if there is deviation or compression</a:t>
            </a:r>
          </a:p>
          <a:p>
            <a:r>
              <a:rPr lang="en-US" dirty="0" smtClean="0"/>
              <a:t>Benign goiter will accommodate an ETT beyond the predicted size-as the gland is soft</a:t>
            </a:r>
          </a:p>
          <a:p>
            <a:r>
              <a:rPr lang="en-US" dirty="0" smtClean="0"/>
              <a:t>Preoxygenation followed by induction &amp; muscle relaxation</a:t>
            </a:r>
          </a:p>
          <a:p>
            <a:r>
              <a:rPr lang="en-US" dirty="0" smtClean="0"/>
              <a:t>Cord palsy is likely during – malignancy</a:t>
            </a:r>
          </a:p>
          <a:p>
            <a:r>
              <a:rPr lang="en-US" dirty="0" err="1" smtClean="0"/>
              <a:t>si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8750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High risk factors which require discussion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Malignancy- Cord palsies are likely</a:t>
            </a:r>
          </a:p>
          <a:p>
            <a:r>
              <a:rPr lang="en-US" dirty="0" smtClean="0"/>
              <a:t> Distortion and rigidity of surrounding structures</a:t>
            </a:r>
          </a:p>
          <a:p>
            <a:r>
              <a:rPr lang="en-US" dirty="0" smtClean="0"/>
              <a:t>Possibility of intraluminal spread. The larynx may be displaced </a:t>
            </a:r>
          </a:p>
          <a:p>
            <a:r>
              <a:rPr lang="en-US" dirty="0" smtClean="0"/>
              <a:t>The tumor can produce obstruction anywhere from the glottis to the carina </a:t>
            </a:r>
          </a:p>
          <a:p>
            <a:r>
              <a:rPr lang="en-US" dirty="0" smtClean="0"/>
              <a:t>Significant respiratory symptoms or &gt;50% narrowing on chest radiograph or lateral thoracic inlet view </a:t>
            </a:r>
          </a:p>
          <a:p>
            <a:r>
              <a:rPr lang="en-US" dirty="0" smtClean="0"/>
              <a:t>Coexisting predictors of difficult intubation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8667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Difficult airway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Multidisciplinary approach</a:t>
            </a:r>
          </a:p>
          <a:p>
            <a:r>
              <a:rPr lang="en-US" dirty="0" smtClean="0"/>
              <a:t>Inhalational induction with sevoflurane &amp; isoflurane</a:t>
            </a:r>
          </a:p>
          <a:p>
            <a:r>
              <a:rPr lang="en-US" dirty="0" smtClean="0"/>
              <a:t>Fibreoptic intubation – not helpful in stridor</a:t>
            </a:r>
          </a:p>
          <a:p>
            <a:r>
              <a:rPr lang="en-US" dirty="0" smtClean="0"/>
              <a:t>LMA – difficult to place in patients with laryngeal displacement</a:t>
            </a:r>
          </a:p>
          <a:p>
            <a:r>
              <a:rPr lang="en-US" dirty="0" smtClean="0"/>
              <a:t>Rigid bronchoscope – for failed ETT insertion attempt</a:t>
            </a:r>
          </a:p>
          <a:p>
            <a:r>
              <a:rPr lang="en-US" dirty="0" smtClean="0"/>
              <a:t>Plan C of difficult intubation is not applicable- Cricothyrotomy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47867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Perioperative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Eye padding &amp; lubricant in patients with exophthalmos</a:t>
            </a:r>
          </a:p>
          <a:p>
            <a:r>
              <a:rPr lang="en-US" dirty="0" smtClean="0"/>
              <a:t>Complete muscle relaxation </a:t>
            </a:r>
          </a:p>
          <a:p>
            <a:r>
              <a:rPr lang="en-US" dirty="0" smtClean="0"/>
              <a:t>LA on the ETT to reduce stimulation during tracheal manipulation</a:t>
            </a:r>
          </a:p>
          <a:p>
            <a:r>
              <a:rPr lang="en-US" dirty="0" smtClean="0"/>
              <a:t>Electrophysiological monitoring of RLN intraop</a:t>
            </a:r>
          </a:p>
          <a:p>
            <a:r>
              <a:rPr lang="en-US" dirty="0" smtClean="0"/>
              <a:t>This require specialized reinforced ETT</a:t>
            </a:r>
          </a:p>
          <a:p>
            <a:r>
              <a:rPr lang="en-US" dirty="0" smtClean="0"/>
              <a:t>Secure ETT with tape not tie- difficult access </a:t>
            </a:r>
          </a:p>
          <a:p>
            <a:r>
              <a:rPr lang="en-US" dirty="0" smtClean="0"/>
              <a:t>Head and neck extension slight head up tilt</a:t>
            </a:r>
          </a:p>
          <a:p>
            <a:r>
              <a:rPr lang="en-US" dirty="0" smtClean="0"/>
              <a:t>SCP block for postoperative analgesia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03971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IV line extension – arms to the side </a:t>
            </a:r>
          </a:p>
          <a:p>
            <a:r>
              <a:rPr lang="en-US" dirty="0" smtClean="0"/>
              <a:t>Monitor muscle relaxation on the leg</a:t>
            </a:r>
          </a:p>
          <a:p>
            <a:r>
              <a:rPr lang="en-US" dirty="0" smtClean="0"/>
              <a:t>Excessive air way pressure- manipulation of the trachea</a:t>
            </a:r>
          </a:p>
          <a:p>
            <a:r>
              <a:rPr lang="en-US" dirty="0" smtClean="0"/>
              <a:t>Presence of tracheomalacia checked by slight withdrawal of the ETT</a:t>
            </a:r>
          </a:p>
          <a:p>
            <a:r>
              <a:rPr lang="en-US" dirty="0" smtClean="0"/>
              <a:t>Extubate in sitting to decrease venous compression</a:t>
            </a:r>
          </a:p>
          <a:p>
            <a:r>
              <a:rPr lang="en-US" dirty="0" smtClean="0"/>
              <a:t>Decrease cough, bucking&amp; struggle during extubation</a:t>
            </a:r>
          </a:p>
          <a:p>
            <a:r>
              <a:rPr lang="en-US" dirty="0" smtClean="0"/>
              <a:t>To reduce the risk of secondary hemorrhage </a:t>
            </a:r>
          </a:p>
          <a:p>
            <a:r>
              <a:rPr lang="en-US" dirty="0" smtClean="0"/>
              <a:t>Check the tracheomalacia &amp; RLN injury in the RR at sitting position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07726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Postop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Intermittent opioids with oral/rectal paracetamol &amp; </a:t>
            </a:r>
            <a:r>
              <a:rPr lang="en-US" dirty="0" err="1" smtClean="0"/>
              <a:t>NSaIDs</a:t>
            </a:r>
            <a:endParaRPr lang="en-US" dirty="0"/>
          </a:p>
          <a:p>
            <a:r>
              <a:rPr lang="en-US" dirty="0" smtClean="0"/>
              <a:t>The opioid requirement is reduced with SC infiltration &amp; superficial cervical plexus blocks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91397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Postop stridor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Hemorrhage</a:t>
            </a:r>
          </a:p>
          <a:p>
            <a:r>
              <a:rPr lang="en-US" dirty="0" smtClean="0"/>
              <a:t>Tracheomalacia</a:t>
            </a:r>
          </a:p>
          <a:p>
            <a:r>
              <a:rPr lang="en-US" dirty="0" smtClean="0"/>
              <a:t>Bilateral recurrent laryngeal nerve palsies</a:t>
            </a:r>
            <a:endParaRPr lang="en-US" dirty="0"/>
          </a:p>
          <a:p>
            <a:r>
              <a:rPr lang="en-US" dirty="0" smtClean="0"/>
              <a:t>Hypocalcemia</a:t>
            </a:r>
          </a:p>
          <a:p>
            <a:r>
              <a:rPr lang="en-US" dirty="0" smtClean="0"/>
              <a:t>Thyroid storm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2238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Hypocalcemia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Hypocalcaemia from parathyroid removal is rare </a:t>
            </a:r>
          </a:p>
          <a:p>
            <a:r>
              <a:rPr lang="en-US" dirty="0" smtClean="0"/>
              <a:t>Serum Ca2+ should be checked at 24hr, and again daily if low </a:t>
            </a:r>
          </a:p>
          <a:p>
            <a:r>
              <a:rPr lang="en-US" b="1" dirty="0" smtClean="0"/>
              <a:t>Presentation</a:t>
            </a:r>
            <a:r>
              <a:rPr lang="en-US" dirty="0" smtClean="0"/>
              <a:t>—may present with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S</a:t>
            </a:r>
            <a:r>
              <a:rPr lang="en-US" dirty="0" smtClean="0"/>
              <a:t>igns of neuromuscular excitability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Tingling around the mouth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T</a:t>
            </a:r>
            <a:r>
              <a:rPr lang="en-US" dirty="0" smtClean="0"/>
              <a:t>etany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Seizure or ventricular arrhythmias.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44451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Diagnosis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</a:t>
            </a:r>
            <a:r>
              <a:rPr lang="en-US" dirty="0" err="1" smtClean="0"/>
              <a:t>arpopedal</a:t>
            </a:r>
            <a:r>
              <a:rPr lang="en-US" dirty="0" smtClean="0"/>
              <a:t> spasm (flexed wrists, fingers drawn together) may be precipitated by cuff inflation (</a:t>
            </a:r>
            <a:r>
              <a:rPr lang="en-US" b="1" dirty="0" smtClean="0"/>
              <a:t>Trousseau’s sign</a:t>
            </a:r>
            <a:r>
              <a:rPr lang="en-US" dirty="0" smtClean="0"/>
              <a:t>). </a:t>
            </a:r>
          </a:p>
          <a:p>
            <a:r>
              <a:rPr lang="en-US" dirty="0" smtClean="0"/>
              <a:t>Tapping over the facial nerve at the parotid may cause facial twitching (</a:t>
            </a:r>
            <a:r>
              <a:rPr lang="en-US" b="1" dirty="0" err="1" smtClean="0"/>
              <a:t>Chvostek’s</a:t>
            </a:r>
            <a:r>
              <a:rPr lang="en-US" b="1" dirty="0" smtClean="0"/>
              <a:t> sign</a:t>
            </a:r>
            <a:r>
              <a:rPr lang="en-US" dirty="0" smtClean="0"/>
              <a:t>). </a:t>
            </a:r>
          </a:p>
          <a:p>
            <a:r>
              <a:rPr lang="en-US" dirty="0" smtClean="0"/>
              <a:t>Prolonged QT interval on ECG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926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Treatment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</a:t>
            </a:r>
            <a:r>
              <a:rPr lang="en-US" dirty="0" smtClean="0"/>
              <a:t>erum Ca2+ below 2mmol/L should be treated urgently with 10mL of 10% calcium gluconate over 3min &amp; calcium gluconate </a:t>
            </a:r>
          </a:p>
          <a:p>
            <a:r>
              <a:rPr lang="en-US" dirty="0" smtClean="0"/>
              <a:t>Check the level after 4hr, and consider Ca2+ infusion if still low. </a:t>
            </a:r>
          </a:p>
          <a:p>
            <a:r>
              <a:rPr lang="en-US" dirty="0" smtClean="0"/>
              <a:t>If hypocalcaemia, but level above 2mmol/L, treat with oral Ca2+ supplements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25912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5530</TotalTime>
  <Words>1636</Words>
  <Application>Microsoft Office PowerPoint</Application>
  <PresentationFormat>Widescreen</PresentationFormat>
  <Paragraphs>296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Arial</vt:lpstr>
      <vt:lpstr>Calibri</vt:lpstr>
      <vt:lpstr>Calibri Light</vt:lpstr>
      <vt:lpstr>Wingdings</vt:lpstr>
      <vt:lpstr>Office Theme</vt:lpstr>
      <vt:lpstr>Thyroid and Anesthesia</vt:lpstr>
      <vt:lpstr>Thyroid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Preoperative Assessment</vt:lpstr>
      <vt:lpstr>PowerPoint Presentation</vt:lpstr>
      <vt:lpstr>Investigation </vt:lpstr>
      <vt:lpstr>Anesthesia management  Hypothyroidism</vt:lpstr>
      <vt:lpstr>Hyperthyroidism </vt:lpstr>
      <vt:lpstr>Thyroid storm</vt:lpstr>
      <vt:lpstr>Sign &amp; symptoms</vt:lpstr>
      <vt:lpstr>Burch–Wartofsky Point Scale (BWPS) </vt:lpstr>
      <vt:lpstr>PowerPoint Presentation</vt:lpstr>
      <vt:lpstr>PowerPoint Presentation</vt:lpstr>
      <vt:lpstr>PowerPoint Presentation</vt:lpstr>
      <vt:lpstr>Treatment </vt:lpstr>
      <vt:lpstr>Treatment</vt:lpstr>
      <vt:lpstr>Hypothyroid coma</vt:lpstr>
      <vt:lpstr>Sign &amp; symptom</vt:lpstr>
      <vt:lpstr>Treatment</vt:lpstr>
      <vt:lpstr>Treatment </vt:lpstr>
      <vt:lpstr>Anesthesia for thyroid surgery</vt:lpstr>
      <vt:lpstr>Preoperative </vt:lpstr>
      <vt:lpstr>Preoperative </vt:lpstr>
      <vt:lpstr>Investigation </vt:lpstr>
      <vt:lpstr>Airway management</vt:lpstr>
      <vt:lpstr>High risk factors which require discussion</vt:lpstr>
      <vt:lpstr>Difficult airway</vt:lpstr>
      <vt:lpstr>Perioperative </vt:lpstr>
      <vt:lpstr>PowerPoint Presentation</vt:lpstr>
      <vt:lpstr>Postop </vt:lpstr>
      <vt:lpstr>Postop stridor</vt:lpstr>
      <vt:lpstr>Hypocalcemia </vt:lpstr>
      <vt:lpstr>Diagnosis</vt:lpstr>
      <vt:lpstr>Treatment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Thyroid and Anesthesia</dc:title>
  <dc:creator>biruk</dc:creator>
  <cp:lastModifiedBy>biruk</cp:lastModifiedBy>
  <cp:revision>55</cp:revision>
  <dcterms:created xsi:type="dcterms:W3CDTF">2025-08-16T15:24:42Z</dcterms:created>
  <dcterms:modified xsi:type="dcterms:W3CDTF">2025-08-28T15:52:47Z</dcterms:modified>
</cp:coreProperties>
</file>