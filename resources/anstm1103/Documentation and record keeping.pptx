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3" r:id="rId4"/>
    <p:sldId id="277" r:id="rId5"/>
    <p:sldId id="278" r:id="rId6"/>
    <p:sldId id="258" r:id="rId7"/>
    <p:sldId id="259" r:id="rId8"/>
    <p:sldId id="260" r:id="rId9"/>
    <p:sldId id="261" r:id="rId10"/>
    <p:sldId id="262" r:id="rId11"/>
    <p:sldId id="263" r:id="rId12"/>
    <p:sldId id="279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281" r:id="rId22"/>
    <p:sldId id="290" r:id="rId23"/>
    <p:sldId id="291" r:id="rId24"/>
    <p:sldId id="271" r:id="rId25"/>
    <p:sldId id="273" r:id="rId26"/>
    <p:sldId id="287" r:id="rId27"/>
    <p:sldId id="275" r:id="rId28"/>
    <p:sldId id="276" r:id="rId29"/>
    <p:sldId id="284" r:id="rId30"/>
    <p:sldId id="285" r:id="rId31"/>
    <p:sldId id="286" r:id="rId32"/>
    <p:sldId id="292" r:id="rId33"/>
  </p:sldIdLst>
  <p:sldSz cx="9144000" cy="6858000" type="screen4x3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751E07D-E85E-4C3B-AFB2-7DADD5861941}" type="datetimeFigureOut">
              <a:rPr lang="en-US" smtClean="0"/>
              <a:pPr/>
              <a:t>3/5/2023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A10D-3805-4B1B-99C1-E5B569FCDD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045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E07D-E85E-4C3B-AFB2-7DADD5861941}" type="datetimeFigureOut">
              <a:rPr lang="en-US" smtClean="0"/>
              <a:pPr/>
              <a:t>3/5/2023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A10D-3805-4B1B-99C1-E5B569FCD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18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E07D-E85E-4C3B-AFB2-7DADD5861941}" type="datetimeFigureOut">
              <a:rPr lang="en-US" smtClean="0"/>
              <a:pPr/>
              <a:t>3/5/2023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A10D-3805-4B1B-99C1-E5B569FCDD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846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E07D-E85E-4C3B-AFB2-7DADD5861941}" type="datetimeFigureOut">
              <a:rPr lang="en-US" smtClean="0"/>
              <a:pPr/>
              <a:t>3/5/2023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A10D-3805-4B1B-99C1-E5B569FCD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39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E07D-E85E-4C3B-AFB2-7DADD5861941}" type="datetimeFigureOut">
              <a:rPr lang="en-US" smtClean="0"/>
              <a:pPr/>
              <a:t>3/5/2023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A10D-3805-4B1B-99C1-E5B569FCD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88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E07D-E85E-4C3B-AFB2-7DADD5861941}" type="datetimeFigureOut">
              <a:rPr lang="en-US" smtClean="0"/>
              <a:pPr/>
              <a:t>3/5/2023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A10D-3805-4B1B-99C1-E5B569FCD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0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E07D-E85E-4C3B-AFB2-7DADD5861941}" type="datetimeFigureOut">
              <a:rPr lang="en-US" smtClean="0"/>
              <a:pPr/>
              <a:t>3/5/2023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A10D-3805-4B1B-99C1-E5B569FCD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3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E07D-E85E-4C3B-AFB2-7DADD5861941}" type="datetimeFigureOut">
              <a:rPr lang="en-US" smtClean="0"/>
              <a:pPr/>
              <a:t>3/5/2023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A10D-3805-4B1B-99C1-E5B569FCD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1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E07D-E85E-4C3B-AFB2-7DADD5861941}" type="datetimeFigureOut">
              <a:rPr lang="en-US" smtClean="0"/>
              <a:pPr/>
              <a:t>3/5/2023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A10D-3805-4B1B-99C1-E5B569FCDD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28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E07D-E85E-4C3B-AFB2-7DADD5861941}" type="datetimeFigureOut">
              <a:rPr lang="en-US" smtClean="0"/>
              <a:pPr/>
              <a:t>3/5/2023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A10D-3805-4B1B-99C1-E5B569FCDD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0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E07D-E85E-4C3B-AFB2-7DADD5861941}" type="datetimeFigureOut">
              <a:rPr lang="en-US" smtClean="0"/>
              <a:pPr/>
              <a:t>3/5/2023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A10D-3805-4B1B-99C1-E5B569FCDD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340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51E07D-E85E-4C3B-AFB2-7DADD5861941}" type="datetimeFigureOut">
              <a:rPr lang="en-US" smtClean="0"/>
              <a:pPr/>
              <a:t>3/5/2023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80CA10D-3805-4B1B-99C1-E5B569FCDD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49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Documentation  record keeping</a:t>
            </a:r>
            <a:br>
              <a:rPr lang="en-US" dirty="0" smtClean="0"/>
            </a:br>
            <a:r>
              <a:rPr lang="en-US" dirty="0" smtClean="0"/>
              <a:t>and ethical issues  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Leulayehu</a:t>
            </a:r>
            <a:r>
              <a:rPr lang="en-US" dirty="0" smtClean="0"/>
              <a:t> </a:t>
            </a:r>
            <a:r>
              <a:rPr lang="en-US" dirty="0" err="1" smtClean="0"/>
              <a:t>akalu</a:t>
            </a:r>
            <a:endParaRPr lang="en-US" dirty="0" smtClean="0"/>
          </a:p>
          <a:p>
            <a:r>
              <a:rPr lang="en-US" dirty="0" err="1" smtClean="0"/>
              <a:t>Ass.Professor</a:t>
            </a:r>
            <a:r>
              <a:rPr lang="en-US" dirty="0" smtClean="0"/>
              <a:t> 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Maintaining record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Maintaining accurate record is fundamental for accountability and professional integrity </a:t>
            </a:r>
          </a:p>
          <a:p>
            <a:r>
              <a:rPr lang="en-US" dirty="0" smtClean="0"/>
              <a:t>Accountability confidentiality competence and professional responsibility are the basis for our practice in anesthesia (proven through evidence in documentation 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the Functions of good record keeping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06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To  improve communication between healthcare professionals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To support continuity of patient care,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To Demonstrate clinical judgements and decision making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To identify risk for patients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Medico legal value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Patient health records also have a function in </a:t>
            </a:r>
            <a:r>
              <a:rPr lang="en-US" dirty="0" smtClean="0">
                <a:solidFill>
                  <a:srgbClr val="FF0000"/>
                </a:solidFill>
              </a:rPr>
              <a:t>improving accountability and in so doing have a legal purpose in providing evidence of the practitioners' involvement or interventions i</a:t>
            </a:r>
            <a:r>
              <a:rPr lang="en-US" dirty="0" smtClean="0"/>
              <a:t>n relation to patients or clients.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Anesthetists are held accountable by their </a:t>
            </a:r>
            <a:r>
              <a:rPr lang="en-US" dirty="0" smtClean="0">
                <a:solidFill>
                  <a:srgbClr val="FF0000"/>
                </a:solidFill>
              </a:rPr>
              <a:t>records professionally ethically and legally . </a:t>
            </a:r>
          </a:p>
          <a:p>
            <a:r>
              <a:rPr lang="en-US" dirty="0" smtClean="0"/>
              <a:t>There are different formats and systems for documentation (standard 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Purpose of documentation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1-to facilitate communication between the patient and clients /health care facilities </a:t>
            </a:r>
          </a:p>
          <a:p>
            <a:r>
              <a:rPr lang="en-US" dirty="0" smtClean="0"/>
              <a:t>2-plan care (anesthetic plan/ care )</a:t>
            </a:r>
          </a:p>
          <a:p>
            <a:r>
              <a:rPr lang="en-US" dirty="0" smtClean="0"/>
              <a:t>3-quality assurance of care </a:t>
            </a:r>
          </a:p>
          <a:p>
            <a:r>
              <a:rPr lang="en-US" dirty="0" smtClean="0"/>
              <a:t>3-educational tools for professional development</a:t>
            </a:r>
          </a:p>
          <a:p>
            <a:r>
              <a:rPr lang="en-US" dirty="0" smtClean="0"/>
              <a:t>4- legal documentation for court cases </a:t>
            </a:r>
          </a:p>
          <a:p>
            <a:r>
              <a:rPr lang="en-US" dirty="0" smtClean="0"/>
              <a:t>5-for research </a:t>
            </a:r>
          </a:p>
          <a:p>
            <a:r>
              <a:rPr lang="en-US" dirty="0" smtClean="0"/>
              <a:t>6-to assure continuity of care </a:t>
            </a:r>
          </a:p>
          <a:p>
            <a:r>
              <a:rPr lang="en-US" dirty="0" smtClean="0"/>
              <a:t>7-for reporting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keep accurate record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1-by using electronics devices (computers )</a:t>
            </a:r>
          </a:p>
          <a:p>
            <a:r>
              <a:rPr lang="en-US" dirty="0" smtClean="0"/>
              <a:t>2-anesthesia record sheet </a:t>
            </a:r>
          </a:p>
          <a:p>
            <a:r>
              <a:rPr lang="en-US" dirty="0" smtClean="0"/>
              <a:t>3-patient chart </a:t>
            </a:r>
          </a:p>
          <a:p>
            <a:r>
              <a:rPr lang="en-US" dirty="0" smtClean="0"/>
              <a:t>4-incident report (separate out of charting 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Principles of record keeping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Documentation of date and time </a:t>
            </a:r>
          </a:p>
          <a:p>
            <a:r>
              <a:rPr lang="en-US" dirty="0" smtClean="0"/>
              <a:t>Legible entries </a:t>
            </a:r>
          </a:p>
          <a:p>
            <a:r>
              <a:rPr lang="en-US" dirty="0" smtClean="0"/>
              <a:t>Permanency </a:t>
            </a:r>
          </a:p>
          <a:p>
            <a:r>
              <a:rPr lang="en-US" dirty="0" smtClean="0"/>
              <a:t>Use of ink (different color's )</a:t>
            </a:r>
          </a:p>
          <a:p>
            <a:r>
              <a:rPr lang="en-US" dirty="0" smtClean="0"/>
              <a:t>Using recognized approved technology and abbreviations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Accuraecy of patient identification </a:t>
            </a:r>
          </a:p>
          <a:p>
            <a:r>
              <a:rPr lang="en-US" dirty="0" smtClean="0"/>
              <a:t>Accuraecy of events</a:t>
            </a:r>
          </a:p>
          <a:p>
            <a:r>
              <a:rPr lang="en-US" dirty="0" smtClean="0"/>
              <a:t>Facts rather than opinions are recorded </a:t>
            </a:r>
          </a:p>
          <a:p>
            <a:r>
              <a:rPr lang="en-US" dirty="0" smtClean="0"/>
              <a:t>Written errors should have a line through them rather than erased completeness of reporting and communication </a:t>
            </a:r>
          </a:p>
          <a:p>
            <a:r>
              <a:rPr lang="en-US" dirty="0" smtClean="0"/>
              <a:t>Concise reporting </a:t>
            </a:r>
          </a:p>
          <a:p>
            <a:r>
              <a:rPr lang="en-US" dirty="0" smtClean="0"/>
              <a:t>All entries must be signed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Ethical issues and recording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Confidentiality </a:t>
            </a:r>
          </a:p>
          <a:p>
            <a:r>
              <a:rPr lang="en-US" dirty="0" smtClean="0"/>
              <a:t>Privacy </a:t>
            </a:r>
          </a:p>
          <a:p>
            <a:r>
              <a:rPr lang="en-US" dirty="0" smtClean="0"/>
              <a:t>Documentation details </a:t>
            </a:r>
          </a:p>
          <a:p>
            <a:r>
              <a:rPr lang="en-US" dirty="0" smtClean="0"/>
              <a:t>Informed Consent to treatment </a:t>
            </a:r>
          </a:p>
          <a:p>
            <a:r>
              <a:rPr lang="en-US" dirty="0" smtClean="0"/>
              <a:t>Use of patient record for research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Informed consent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principle of consent is one of the </a:t>
            </a:r>
            <a:r>
              <a:rPr lang="en-US" dirty="0" smtClean="0">
                <a:solidFill>
                  <a:srgbClr val="FF0000"/>
                </a:solidFill>
              </a:rPr>
              <a:t>cornerstones of medical ethics (the principle of autonomy upholds the right of the individual to make their own decisions). Consent is also enshrined in international human rights law.  It is a complex issue with the law offering a considerable amount of information and guidance 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Informed Consent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 has been repeatedly shown that most patients place high importance on seeing an anesthetist prior to surgery</a:t>
            </a:r>
          </a:p>
          <a:p>
            <a:endParaRPr lang="en-US" dirty="0" smtClean="0"/>
          </a:p>
          <a:p>
            <a:r>
              <a:rPr lang="en-US" dirty="0" smtClean="0"/>
              <a:t>Primary focus should be to prepare patients for surgery and ensure they are informed enough to make the choices that best meet their needs</a:t>
            </a:r>
          </a:p>
          <a:p>
            <a:endParaRPr lang="en-US" dirty="0" smtClean="0"/>
          </a:p>
          <a:p>
            <a:r>
              <a:rPr lang="en-US" dirty="0" smtClean="0"/>
              <a:t>The preoperative consultation provides opportunity not only for an evaluation of the patient, but also to disclose risks, explain, reassure and develop rapport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The most successful anesthesia has the least impact on patients – </a:t>
            </a:r>
            <a:r>
              <a:rPr lang="en-US" dirty="0" smtClean="0">
                <a:solidFill>
                  <a:srgbClr val="FF0000"/>
                </a:solidFill>
              </a:rPr>
              <a:t>leaving them clear-minded, pain-free, without nausea, a little euphoric</a:t>
            </a:r>
            <a:r>
              <a:rPr lang="en-US" dirty="0" smtClean="0"/>
              <a:t>. Thus, it’s understandable patients don’t know the importance of the care they have received and thus the associated risks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Conveying the risks of anesthesia depends on successful </a:t>
            </a:r>
            <a:r>
              <a:rPr lang="en-US" i="1" dirty="0" smtClean="0">
                <a:solidFill>
                  <a:srgbClr val="FF0000"/>
                </a:solidFill>
              </a:rPr>
              <a:t>communication </a:t>
            </a:r>
            <a:r>
              <a:rPr lang="en-US" dirty="0" smtClean="0">
                <a:solidFill>
                  <a:srgbClr val="FF0000"/>
                </a:solidFill>
              </a:rPr>
              <a:t>between anesthetists and their patients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“</a:t>
            </a:r>
            <a:r>
              <a:rPr lang="en-US" dirty="0" smtClean="0">
                <a:solidFill>
                  <a:srgbClr val="FF0000"/>
                </a:solidFill>
              </a:rPr>
              <a:t>informed consent” is not whether the patient has consented, but whether the anesthetist has taken reasonable care to provide information to enable the patient to make an informed decision</a:t>
            </a:r>
          </a:p>
          <a:p>
            <a:endParaRPr lang="en-US" dirty="0" smtClean="0"/>
          </a:p>
          <a:p>
            <a:r>
              <a:rPr lang="en-US" dirty="0" smtClean="0"/>
              <a:t>The focus is away from the clinician-patient relationship that is a clinician-oriented </a:t>
            </a:r>
            <a:r>
              <a:rPr lang="en-US" dirty="0" smtClean="0">
                <a:solidFill>
                  <a:srgbClr val="FF0000"/>
                </a:solidFill>
              </a:rPr>
              <a:t>paternalistic approach</a:t>
            </a:r>
            <a:r>
              <a:rPr lang="en-US" dirty="0" smtClean="0"/>
              <a:t>, to a </a:t>
            </a:r>
            <a:r>
              <a:rPr lang="en-US" dirty="0" smtClean="0">
                <a:solidFill>
                  <a:srgbClr val="FF0000"/>
                </a:solidFill>
              </a:rPr>
              <a:t>patient-centered model </a:t>
            </a:r>
            <a:r>
              <a:rPr lang="en-US" dirty="0" smtClean="0"/>
              <a:t>which </a:t>
            </a:r>
            <a:r>
              <a:rPr lang="en-US" dirty="0" smtClean="0">
                <a:solidFill>
                  <a:srgbClr val="FF0000"/>
                </a:solidFill>
              </a:rPr>
              <a:t>emphasizes autonomy </a:t>
            </a:r>
            <a:r>
              <a:rPr lang="en-US" dirty="0" smtClean="0"/>
              <a:t>and self-determination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What does informed consent contain 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Conversation with a patient </a:t>
            </a:r>
            <a:r>
              <a:rPr lang="en-US" dirty="0" smtClean="0"/>
              <a:t>in which explanations are given, risks explained, alternatives outlined, questions answered and advice provided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Enough time </a:t>
            </a:r>
            <a:r>
              <a:rPr lang="en-US" dirty="0" smtClean="0"/>
              <a:t>for patients to process information and ask questions</a:t>
            </a:r>
          </a:p>
          <a:p>
            <a:endParaRPr lang="en-US" dirty="0" smtClean="0"/>
          </a:p>
          <a:p>
            <a:r>
              <a:rPr lang="en-US" dirty="0" smtClean="0"/>
              <a:t>Doesn’t end with signing a form but </a:t>
            </a:r>
            <a:r>
              <a:rPr lang="en-US" dirty="0" smtClean="0">
                <a:solidFill>
                  <a:srgbClr val="FF0000"/>
                </a:solidFill>
              </a:rPr>
              <a:t>continues as care continues, with new information provided as events progress – into the post-operative </a:t>
            </a:r>
            <a:r>
              <a:rPr lang="en-US" dirty="0" smtClean="0"/>
              <a:t>period</a:t>
            </a:r>
          </a:p>
          <a:p>
            <a:endParaRPr lang="en-US" dirty="0" smtClean="0"/>
          </a:p>
          <a:p>
            <a:r>
              <a:rPr lang="en-US" dirty="0" smtClean="0"/>
              <a:t>For major surgery or patients who suffer complications of anesthesia, the process may become quite involved.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Over time, mutual trust </a:t>
            </a:r>
            <a:r>
              <a:rPr lang="en-US" dirty="0" smtClean="0"/>
              <a:t>and rapport should grow, and the clinician-patient relationship should strengthen.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246312" y="2611437"/>
            <a:ext cx="4333875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disclose risks to the patient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nature of the matter to be disclosed </a:t>
            </a:r>
          </a:p>
          <a:p>
            <a:r>
              <a:rPr lang="en-US" dirty="0" smtClean="0"/>
              <a:t>The nature of the proposed procedure </a:t>
            </a:r>
          </a:p>
          <a:p>
            <a:r>
              <a:rPr lang="en-US" dirty="0" smtClean="0"/>
              <a:t>The patients desire for information </a:t>
            </a:r>
          </a:p>
          <a:p>
            <a:r>
              <a:rPr lang="en-US" dirty="0" smtClean="0"/>
              <a:t>The temperament and health of the patient </a:t>
            </a:r>
          </a:p>
          <a:p>
            <a:r>
              <a:rPr lang="en-US" dirty="0" smtClean="0"/>
              <a:t>The general surrounding circumstances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Factors which may contribute to gain informed consent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Systemic factors </a:t>
            </a:r>
          </a:p>
          <a:p>
            <a:r>
              <a:rPr lang="en-US" dirty="0" smtClean="0"/>
              <a:t>Anesthetic factors </a:t>
            </a:r>
          </a:p>
          <a:p>
            <a:r>
              <a:rPr lang="en-US" dirty="0" smtClean="0"/>
              <a:t>Patient factors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once you get the informed consent it has to be documented appropriately.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 Confidentiality of Records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 The management ensure that records are kept in a secure location and that only authorized persons have access to records.</a:t>
            </a:r>
          </a:p>
          <a:p>
            <a:r>
              <a:rPr lang="en-US" b="1" dirty="0" smtClean="0"/>
              <a:t>Permission to Record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professionals  obtain permission from clients prior to recording sessions through electronic or other means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Controversies in informed consent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Emergency situation </a:t>
            </a:r>
          </a:p>
          <a:p>
            <a:r>
              <a:rPr lang="en-US" dirty="0"/>
              <a:t>Refusing to provide care (non emergent situation )</a:t>
            </a:r>
          </a:p>
          <a:p>
            <a:r>
              <a:rPr lang="en-US" dirty="0"/>
              <a:t>Jehovah witness</a:t>
            </a:r>
          </a:p>
          <a:p>
            <a:r>
              <a:rPr lang="en-US" dirty="0"/>
              <a:t>Confidentiality </a:t>
            </a:r>
          </a:p>
          <a:p>
            <a:r>
              <a:rPr lang="en-US" dirty="0"/>
              <a:t>Genetic testing </a:t>
            </a:r>
          </a:p>
          <a:p>
            <a:r>
              <a:rPr lang="en-US" dirty="0"/>
              <a:t>Pediatric informed consent (the issue of assent</a:t>
            </a:r>
          </a:p>
        </p:txBody>
      </p:sp>
    </p:spTree>
    <p:extLst>
      <p:ext uri="{BB962C8B-B14F-4D97-AF65-F5344CB8AC3E}">
        <p14:creationId xmlns:p14="http://schemas.microsoft.com/office/powerpoint/2010/main" val="1713426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Involving children in the decision process if they are capable to understand it .</a:t>
            </a:r>
          </a:p>
        </p:txBody>
      </p:sp>
    </p:spTree>
    <p:extLst>
      <p:ext uri="{BB962C8B-B14F-4D97-AF65-F5344CB8AC3E}">
        <p14:creationId xmlns:p14="http://schemas.microsoft.com/office/powerpoint/2010/main" val="100684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Legal considerations in record keeping documentation / informed consent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Gives proof of care provided </a:t>
            </a:r>
          </a:p>
          <a:p>
            <a:r>
              <a:rPr lang="en-US" dirty="0" smtClean="0"/>
              <a:t>Used as evidence in criminal prosecution legal claims</a:t>
            </a:r>
          </a:p>
          <a:p>
            <a:r>
              <a:rPr lang="en-US" dirty="0" smtClean="0"/>
              <a:t> Accurate complete documentation is vital  to demonstrate standards of care were maintained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Protects the anesthetist </a:t>
            </a:r>
          </a:p>
          <a:p>
            <a:r>
              <a:rPr lang="en-US" dirty="0" smtClean="0"/>
              <a:t>Protects the patient </a:t>
            </a:r>
          </a:p>
          <a:p>
            <a:r>
              <a:rPr lang="en-US" dirty="0" smtClean="0"/>
              <a:t>Protects the institution </a:t>
            </a:r>
          </a:p>
          <a:p>
            <a:pPr>
              <a:buNone/>
            </a:pPr>
            <a:r>
              <a:rPr lang="en-US" dirty="0" smtClean="0"/>
              <a:t>Because a court case may appear after a year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fMHACA</a:t>
            </a:r>
            <a:r>
              <a:rPr lang="en-US" dirty="0" smtClean="0"/>
              <a:t> finding </a:t>
            </a:r>
            <a:r>
              <a:rPr lang="en-US" smtClean="0"/>
              <a:t>on documentation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POOR DOCUMENTATION</a:t>
            </a:r>
            <a:endParaRPr lang="en-US" dirty="0"/>
          </a:p>
          <a:p>
            <a:r>
              <a:rPr lang="en-US" dirty="0"/>
              <a:t>“It is what is recorded in the chart that goes to the court”</a:t>
            </a:r>
          </a:p>
          <a:p>
            <a:r>
              <a:rPr lang="en-US" dirty="0"/>
              <a:t>- Name? Signature?</a:t>
            </a:r>
          </a:p>
          <a:p>
            <a:r>
              <a:rPr lang="en-US" dirty="0"/>
              <a:t>Unclear words &amp; Poor hand writing</a:t>
            </a:r>
          </a:p>
          <a:p>
            <a:r>
              <a:rPr lang="en-US" dirty="0"/>
              <a:t>Lost charts</a:t>
            </a:r>
          </a:p>
          <a:p>
            <a:r>
              <a:rPr lang="en-US" dirty="0"/>
              <a:t>Deletions, missing pages</a:t>
            </a:r>
          </a:p>
          <a:p>
            <a:r>
              <a:rPr lang="en-US" dirty="0"/>
              <a:t>Consent, Operation notes….</a:t>
            </a:r>
          </a:p>
          <a:p>
            <a:r>
              <a:rPr lang="en-US" dirty="0"/>
              <a:t>Problems with Digital records (CD?)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287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should be done to improve documentation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Education </a:t>
            </a:r>
          </a:p>
          <a:p>
            <a:r>
              <a:rPr lang="en-US" dirty="0" smtClean="0"/>
              <a:t>Continuous professional support                      Seminars </a:t>
            </a:r>
          </a:p>
          <a:p>
            <a:r>
              <a:rPr lang="en-US" dirty="0" smtClean="0"/>
              <a:t>Regular supervisions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Way forward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Legislation  </a:t>
            </a:r>
          </a:p>
          <a:p>
            <a:pPr>
              <a:buNone/>
            </a:pPr>
            <a:r>
              <a:rPr lang="en-US" dirty="0" smtClean="0"/>
              <a:t>Patient access to his records</a:t>
            </a:r>
          </a:p>
          <a:p>
            <a:pPr>
              <a:buNone/>
            </a:pPr>
            <a:r>
              <a:rPr lang="en-US" dirty="0" smtClean="0"/>
              <a:t>Training on record keeping and documentation 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Answer the following questions regarding documentations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1-do I have to include my credentials in my signature ?</a:t>
            </a:r>
          </a:p>
          <a:p>
            <a:r>
              <a:rPr lang="en-US" dirty="0" smtClean="0"/>
              <a:t>2-do the supervisor need to co sign all documentations completed by the student?</a:t>
            </a:r>
          </a:p>
          <a:p>
            <a:r>
              <a:rPr lang="en-US" dirty="0" smtClean="0"/>
              <a:t>3-how long after an evaluation or treatment must I complete my documentation ?</a:t>
            </a:r>
          </a:p>
          <a:p>
            <a:r>
              <a:rPr lang="en-US" dirty="0" smtClean="0"/>
              <a:t>4-can </a:t>
            </a:r>
            <a:r>
              <a:rPr lang="en-US" dirty="0" err="1" smtClean="0"/>
              <a:t>i</a:t>
            </a:r>
            <a:r>
              <a:rPr lang="en-US" dirty="0" smtClean="0"/>
              <a:t> take documentation home to complete it a night or on the weekend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5-Who owns the documentation ?the clinician the family or the hospital ?</a:t>
            </a:r>
          </a:p>
          <a:p>
            <a:pPr>
              <a:buNone/>
            </a:pPr>
            <a:r>
              <a:rPr lang="en-US" dirty="0" smtClean="0"/>
              <a:t>6-what do I do when I am ordered by my administrator to alter the documents?</a:t>
            </a:r>
          </a:p>
          <a:p>
            <a:pPr>
              <a:buNone/>
            </a:pPr>
            <a:r>
              <a:rPr lang="en-US" dirty="0" smtClean="0"/>
              <a:t>7-what do I do when I am asked to complete documentation for a colleague who has moved on when I was not previously involved in the case ?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8-should I release copies of the records when requested by the journalists or the family members ?</a:t>
            </a:r>
          </a:p>
          <a:p>
            <a:r>
              <a:rPr lang="en-US" dirty="0" smtClean="0"/>
              <a:t>9-can any one else consent on behalf of adult patient ?</a:t>
            </a:r>
          </a:p>
          <a:p>
            <a:r>
              <a:rPr lang="en-US" dirty="0" smtClean="0"/>
              <a:t>10 –what is the difference between consent and assent ?</a:t>
            </a:r>
          </a:p>
          <a:p>
            <a:r>
              <a:rPr lang="en-US" dirty="0" smtClean="0"/>
              <a:t>11-Do we have to allow patients to see their records ?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THANK YOU</a:t>
            </a:r>
          </a:p>
          <a:p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3430671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412</TotalTime>
  <Words>1022</Words>
  <Application>Microsoft Office PowerPoint</Application>
  <PresentationFormat>On-screen Show (4:3)</PresentationFormat>
  <Paragraphs>133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Tw Cen MT</vt:lpstr>
      <vt:lpstr>Tw Cen MT Condensed</vt:lpstr>
      <vt:lpstr>Wingdings</vt:lpstr>
      <vt:lpstr>Wingdings 3</vt:lpstr>
      <vt:lpstr>Integral</vt:lpstr>
      <vt:lpstr>Documentation  record keeping and ethical issues   </vt:lpstr>
      <vt:lpstr>Maintaining record </vt:lpstr>
      <vt:lpstr>What are the Functions of good record keeping ?</vt:lpstr>
      <vt:lpstr>PowerPoint Presentation</vt:lpstr>
      <vt:lpstr>Medico legal value </vt:lpstr>
      <vt:lpstr>PowerPoint Presentation</vt:lpstr>
      <vt:lpstr>Purpose of documentation</vt:lpstr>
      <vt:lpstr>How to keep accurate record </vt:lpstr>
      <vt:lpstr>Principles of record keeping </vt:lpstr>
      <vt:lpstr>Cont’d</vt:lpstr>
      <vt:lpstr>Ethical issues and recording </vt:lpstr>
      <vt:lpstr>Informed consent </vt:lpstr>
      <vt:lpstr>Informed Consent </vt:lpstr>
      <vt:lpstr>PowerPoint Presentation</vt:lpstr>
      <vt:lpstr>PowerPoint Presentation</vt:lpstr>
      <vt:lpstr>What does informed consent contain ?</vt:lpstr>
      <vt:lpstr>PowerPoint Presentation</vt:lpstr>
      <vt:lpstr>How to disclose risks to the patient </vt:lpstr>
      <vt:lpstr>Factors which may contribute to gain informed consent </vt:lpstr>
      <vt:lpstr>PowerPoint Presentation</vt:lpstr>
      <vt:lpstr>PowerPoint Presentation</vt:lpstr>
      <vt:lpstr>Controversies in informed consent </vt:lpstr>
      <vt:lpstr>Assent </vt:lpstr>
      <vt:lpstr>Legal considerations in record keeping documentation / informed consent</vt:lpstr>
      <vt:lpstr>Cont’d</vt:lpstr>
      <vt:lpstr>fMHACA finding on documentation </vt:lpstr>
      <vt:lpstr>What should be done to improve documentation ?</vt:lpstr>
      <vt:lpstr>Way forward </vt:lpstr>
      <vt:lpstr>Answer the following questions regarding documentations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Documentation</dc:title>
  <dc:creator>HP</dc:creator>
  <cp:lastModifiedBy>My</cp:lastModifiedBy>
  <cp:revision>50</cp:revision>
  <dcterms:created xsi:type="dcterms:W3CDTF">2014-01-07T13:36:19Z</dcterms:created>
  <dcterms:modified xsi:type="dcterms:W3CDTF">2023-03-05T01:13:02Z</dcterms:modified>
</cp:coreProperties>
</file>