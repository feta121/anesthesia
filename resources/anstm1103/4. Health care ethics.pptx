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12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13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14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Override17.xml" ContentType="application/vnd.openxmlformats-officedocument.themeOverr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theme/themeOverride20.xml" ContentType="application/vnd.openxmlformats-officedocument.themeOverride+xml"/>
  <Override PartName="/ppt/theme/themeOverride21.xml" ContentType="application/vnd.openxmlformats-officedocument.themeOverride+xml"/>
  <Override PartName="/ppt/theme/themeOverride22.xml" ContentType="application/vnd.openxmlformats-officedocument.themeOverride+xml"/>
  <Override PartName="/ppt/theme/themeOverride23.xml" ContentType="application/vnd.openxmlformats-officedocument.themeOverride+xml"/>
  <Override PartName="/ppt/theme/themeOverride24.xml" ContentType="application/vnd.openxmlformats-officedocument.themeOverride+xml"/>
  <Override PartName="/ppt/theme/themeOverride25.xml" ContentType="application/vnd.openxmlformats-officedocument.themeOverride+xml"/>
  <Override PartName="/ppt/theme/themeOverride26.xml" ContentType="application/vnd.openxmlformats-officedocument.themeOverride+xml"/>
  <Override PartName="/ppt/theme/themeOverride27.xml" ContentType="application/vnd.openxmlformats-officedocument.themeOverride+xml"/>
  <Override PartName="/ppt/theme/themeOverride28.xml" ContentType="application/vnd.openxmlformats-officedocument.themeOverride+xml"/>
  <Override PartName="/ppt/theme/themeOverride29.xml" ContentType="application/vnd.openxmlformats-officedocument.themeOverride+xml"/>
  <Override PartName="/ppt/theme/themeOverride30.xml" ContentType="application/vnd.openxmlformats-officedocument.themeOverride+xml"/>
  <Override PartName="/ppt/theme/themeOverride3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notesMasterIdLst>
    <p:notesMasterId r:id="rId85"/>
  </p:notesMasterIdLst>
  <p:sldIdLst>
    <p:sldId id="294" r:id="rId2"/>
    <p:sldId id="389" r:id="rId3"/>
    <p:sldId id="359" r:id="rId4"/>
    <p:sldId id="296" r:id="rId5"/>
    <p:sldId id="392" r:id="rId6"/>
    <p:sldId id="299" r:id="rId7"/>
    <p:sldId id="485" r:id="rId8"/>
    <p:sldId id="301" r:id="rId9"/>
    <p:sldId id="302" r:id="rId10"/>
    <p:sldId id="303" r:id="rId11"/>
    <p:sldId id="487" r:id="rId12"/>
    <p:sldId id="489" r:id="rId13"/>
    <p:sldId id="488" r:id="rId14"/>
    <p:sldId id="363" r:id="rId15"/>
    <p:sldId id="345" r:id="rId16"/>
    <p:sldId id="364" r:id="rId17"/>
    <p:sldId id="366" r:id="rId18"/>
    <p:sldId id="490" r:id="rId19"/>
    <p:sldId id="491" r:id="rId20"/>
    <p:sldId id="346" r:id="rId21"/>
    <p:sldId id="369" r:id="rId22"/>
    <p:sldId id="492" r:id="rId23"/>
    <p:sldId id="409" r:id="rId24"/>
    <p:sldId id="495" r:id="rId25"/>
    <p:sldId id="370" r:id="rId26"/>
    <p:sldId id="504" r:id="rId27"/>
    <p:sldId id="498" r:id="rId28"/>
    <p:sldId id="493" r:id="rId29"/>
    <p:sldId id="494" r:id="rId30"/>
    <p:sldId id="281" r:id="rId31"/>
    <p:sldId id="496" r:id="rId32"/>
    <p:sldId id="497" r:id="rId33"/>
    <p:sldId id="390" r:id="rId34"/>
    <p:sldId id="499" r:id="rId35"/>
    <p:sldId id="500" r:id="rId36"/>
    <p:sldId id="374" r:id="rId37"/>
    <p:sldId id="376" r:id="rId38"/>
    <p:sldId id="501" r:id="rId39"/>
    <p:sldId id="378" r:id="rId40"/>
    <p:sldId id="506" r:id="rId41"/>
    <p:sldId id="502" r:id="rId42"/>
    <p:sldId id="503" r:id="rId43"/>
    <p:sldId id="505" r:id="rId44"/>
    <p:sldId id="411" r:id="rId45"/>
    <p:sldId id="412" r:id="rId46"/>
    <p:sldId id="507" r:id="rId47"/>
    <p:sldId id="510" r:id="rId48"/>
    <p:sldId id="531" r:id="rId49"/>
    <p:sldId id="511" r:id="rId50"/>
    <p:sldId id="512" r:id="rId51"/>
    <p:sldId id="514" r:id="rId52"/>
    <p:sldId id="515" r:id="rId53"/>
    <p:sldId id="516" r:id="rId54"/>
    <p:sldId id="534" r:id="rId55"/>
    <p:sldId id="508" r:id="rId56"/>
    <p:sldId id="509" r:id="rId57"/>
    <p:sldId id="519" r:id="rId58"/>
    <p:sldId id="532" r:id="rId59"/>
    <p:sldId id="533" r:id="rId60"/>
    <p:sldId id="539" r:id="rId61"/>
    <p:sldId id="549" r:id="rId62"/>
    <p:sldId id="520" r:id="rId63"/>
    <p:sldId id="521" r:id="rId64"/>
    <p:sldId id="522" r:id="rId65"/>
    <p:sldId id="381" r:id="rId66"/>
    <p:sldId id="395" r:id="rId67"/>
    <p:sldId id="544" r:id="rId68"/>
    <p:sldId id="523" r:id="rId69"/>
    <p:sldId id="524" r:id="rId70"/>
    <p:sldId id="540" r:id="rId71"/>
    <p:sldId id="527" r:id="rId72"/>
    <p:sldId id="541" r:id="rId73"/>
    <p:sldId id="542" r:id="rId74"/>
    <p:sldId id="528" r:id="rId75"/>
    <p:sldId id="530" r:id="rId76"/>
    <p:sldId id="329" r:id="rId77"/>
    <p:sldId id="545" r:id="rId78"/>
    <p:sldId id="546" r:id="rId79"/>
    <p:sldId id="547" r:id="rId80"/>
    <p:sldId id="402" r:id="rId81"/>
    <p:sldId id="548" r:id="rId82"/>
    <p:sldId id="535" r:id="rId83"/>
    <p:sldId id="361" r:id="rId8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066" autoAdjust="0"/>
    <p:restoredTop sz="90361" autoAdjust="0"/>
  </p:normalViewPr>
  <p:slideViewPr>
    <p:cSldViewPr snapToGrid="0" snapToObjects="1">
      <p:cViewPr>
        <p:scale>
          <a:sx n="73" d="100"/>
          <a:sy n="73" d="100"/>
        </p:scale>
        <p:origin x="-1062" y="-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E38C9C-0EA5-AE46-8D6A-B16534613C3C}" type="datetimeFigureOut">
              <a:rPr lang="en-US" smtClean="0"/>
              <a:pPr/>
              <a:t>25-Jun-17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37A203-E61B-A941-B651-AA13FF4A31D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4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The autonomous person must be able to determine personal goals. The goals may be explicit or may be less well defined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The autonomous person has the capacity to decide on a plan of action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smtClean="0"/>
              <a:t>The autonomous person has the freedom to act upon the choices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37A203-E61B-A941-B651-AA13FF4A31DF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2465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37A203-E61B-A941-B651-AA13FF4A31DF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4879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37A203-E61B-A941-B651-AA13FF4A31DF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0692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•	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37A203-E61B-A941-B651-AA13FF4A31DF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526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jpe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 shadeToTitle="1">
        <a:gradFill flip="none" rotWithShape="1">
          <a:gsLst>
            <a:gs pos="0">
              <a:schemeClr val="accent6">
                <a:lumMod val="40000"/>
                <a:lumOff val="6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path path="shap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109830"/>
            <a:ext cx="9274629" cy="6598881"/>
            <a:chOff x="0" y="211434"/>
            <a:chExt cx="9278874" cy="6958648"/>
          </a:xfrm>
          <a:noFill/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7" y="211434"/>
              <a:ext cx="9278197" cy="6958648"/>
            </a:xfrm>
            <a:prstGeom prst="rect">
              <a:avLst/>
            </a:prstGeom>
            <a:grpFill/>
          </p:spPr>
        </p:pic>
        <p:sp>
          <p:nvSpPr>
            <p:cNvPr id="11" name="Rectangle 10"/>
            <p:cNvSpPr/>
            <p:nvPr/>
          </p:nvSpPr>
          <p:spPr>
            <a:xfrm>
              <a:off x="1515532" y="1682076"/>
              <a:ext cx="6112935" cy="3656814"/>
            </a:xfrm>
            <a:prstGeom prst="rect">
              <a:avLst/>
            </a:prstGeom>
            <a:grp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  <a:grpFill/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  <a:grpFill/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56662" y="1879926"/>
            <a:ext cx="5820385" cy="1528328"/>
          </a:xfrm>
        </p:spPr>
        <p:txBody>
          <a:bodyPr anchor="b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2800" b="1" smtClean="0">
                <a:effectLst/>
              </a:defRPr>
            </a:lvl1pPr>
          </a:lstStyle>
          <a:p>
            <a:r>
              <a:rPr lang="en-US" altLang="en-US" smtClean="0">
                <a:solidFill>
                  <a:prstClr val="black"/>
                </a:solidFill>
              </a:rPr>
              <a:t>Click to edit Master title style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32652" y="3597481"/>
            <a:ext cx="4478695" cy="1012902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b="0" i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71241" y="4972192"/>
            <a:ext cx="972156" cy="361810"/>
          </a:xfrm>
        </p:spPr>
        <p:txBody>
          <a:bodyPr/>
          <a:lstStyle/>
          <a:p>
            <a:fld id="{A17168AA-0939-E949-9F6C-AD600B1C58A4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4972193"/>
            <a:ext cx="3749306" cy="361809"/>
          </a:xfrm>
        </p:spPr>
        <p:txBody>
          <a:bodyPr/>
          <a:lstStyle/>
          <a:p>
            <a:r>
              <a:rPr lang="en-US" altLang="en-US" dirty="0" smtClean="0">
                <a:solidFill>
                  <a:prstClr val="black"/>
                </a:solidFill>
              </a:rPr>
              <a:t>National CRC training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1347" y="4972192"/>
            <a:ext cx="726151" cy="361809"/>
          </a:xfrm>
        </p:spPr>
        <p:txBody>
          <a:bodyPr/>
          <a:lstStyle/>
          <a:p>
            <a:r>
              <a:rPr lang="en-US" altLang="en-US" dirty="0" smtClean="0">
                <a:solidFill>
                  <a:prstClr val="black"/>
                </a:solidFill>
              </a:rPr>
              <a:t>CH-I-</a:t>
            </a:r>
            <a:fld id="{CAC22B12-0DAA-A446-9F32-6553C8E628F3}" type="slidenum">
              <a:rPr lang="en-US" altLang="en-US" smtClean="0">
                <a:solidFill>
                  <a:prstClr val="black"/>
                </a:solidFill>
              </a:rPr>
              <a:pPr/>
              <a:t>‹#›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 userDrawn="1"/>
        </p:nvGrpSpPr>
        <p:grpSpPr>
          <a:xfrm>
            <a:off x="2979689" y="76751"/>
            <a:ext cx="3029101" cy="1142630"/>
            <a:chOff x="2823850" y="0"/>
            <a:chExt cx="3344655" cy="1448456"/>
          </a:xfrm>
        </p:grpSpPr>
        <p:pic>
          <p:nvPicPr>
            <p:cNvPr id="16" name="Picture 15" descr="Ethiopia_MOH"/>
            <p:cNvPicPr/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4364" y="0"/>
              <a:ext cx="1083629" cy="1033072"/>
            </a:xfrm>
            <a:prstGeom prst="ellipse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TextBox 6"/>
            <p:cNvSpPr txBox="1"/>
            <p:nvPr userDrawn="1"/>
          </p:nvSpPr>
          <p:spPr>
            <a:xfrm>
              <a:off x="2823850" y="1037574"/>
              <a:ext cx="3344655" cy="410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800" smtClean="0">
                  <a:solidFill>
                    <a:srgbClr val="0066FF"/>
                  </a:solidFill>
                  <a:effectLst/>
                  <a:latin typeface="Britannic Bold" charset="0"/>
                  <a:ea typeface="Calibri" charset="0"/>
                  <a:cs typeface="Times New Roman" charset="0"/>
                </a:rPr>
                <a:t>Federal Ministry of Health</a:t>
              </a:r>
              <a:endParaRPr lang="en-US" sz="1600" smtClean="0">
                <a:effectLst/>
                <a:latin typeface="Calibri" charset="0"/>
                <a:ea typeface="Calibri" charset="0"/>
                <a:cs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6438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1030778"/>
            <a:ext cx="6798734" cy="1188426"/>
          </a:xfrm>
        </p:spPr>
        <p:txBody>
          <a:bodyPr>
            <a:noAutofit/>
          </a:bodyPr>
          <a:lstStyle>
            <a:lvl1pPr>
              <a:defRPr sz="4400" b="1" u="none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285750" indent="-285750">
              <a:buSzPct val="95000"/>
              <a:buFont typeface="Wingdings" pitchFamily="2" charset="2"/>
              <a:buChar char="v"/>
              <a:defRPr sz="3200">
                <a:latin typeface="Arial" pitchFamily="34" charset="0"/>
                <a:cs typeface="Arial" pitchFamily="34" charset="0"/>
              </a:defRPr>
            </a:lvl1pPr>
            <a:lvl2pPr marL="742950" indent="-285750">
              <a:buSzPct val="95000"/>
              <a:buFont typeface="Wingdings" pitchFamily="2" charset="2"/>
              <a:buChar char="v"/>
              <a:defRPr sz="2800">
                <a:latin typeface="Arial" pitchFamily="34" charset="0"/>
                <a:cs typeface="Arial" pitchFamily="34" charset="0"/>
              </a:defRPr>
            </a:lvl2pPr>
            <a:lvl3pPr marL="1200150" indent="-285750">
              <a:buSzPct val="95000"/>
              <a:buFont typeface="Wingdings" pitchFamily="2" charset="2"/>
              <a:buChar char="v"/>
              <a:defRPr sz="2400">
                <a:latin typeface="Arial" pitchFamily="34" charset="0"/>
                <a:cs typeface="Arial" pitchFamily="34" charset="0"/>
              </a:defRPr>
            </a:lvl3pPr>
            <a:lvl4pPr marL="1543050" indent="-171450">
              <a:buSzPct val="95000"/>
              <a:buFont typeface="Wingdings" pitchFamily="2" charset="2"/>
              <a:buChar char="v"/>
              <a:defRPr sz="2000">
                <a:latin typeface="Arial" pitchFamily="34" charset="0"/>
                <a:cs typeface="Arial" pitchFamily="34" charset="0"/>
              </a:defRPr>
            </a:lvl4pPr>
            <a:lvl5pPr marL="2000250" indent="-171450">
              <a:buSzPct val="95000"/>
              <a:buFont typeface="Wingdings" pitchFamily="2" charset="2"/>
              <a:buChar char="v"/>
              <a:defRPr sz="180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56671" y="5960533"/>
            <a:ext cx="850200" cy="279400"/>
          </a:xfrm>
        </p:spPr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dirty="0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06871" y="5960533"/>
            <a:ext cx="724154" cy="279400"/>
          </a:xfrm>
        </p:spPr>
        <p:txBody>
          <a:bodyPr/>
          <a:lstStyle/>
          <a:p>
            <a:r>
              <a:rPr lang="en-US" altLang="en-US" dirty="0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  <p:grpSp>
        <p:nvGrpSpPr>
          <p:cNvPr id="8" name="Group 7"/>
          <p:cNvGrpSpPr/>
          <p:nvPr userDrawn="1"/>
        </p:nvGrpSpPr>
        <p:grpSpPr>
          <a:xfrm>
            <a:off x="3372583" y="37322"/>
            <a:ext cx="2407298" cy="1306286"/>
            <a:chOff x="2823850" y="0"/>
            <a:chExt cx="3344655" cy="1951286"/>
          </a:xfrm>
        </p:grpSpPr>
        <p:pic>
          <p:nvPicPr>
            <p:cNvPr id="9" name="Picture 8" descr="Ethiopia_MOH"/>
            <p:cNvPicPr/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4364" y="0"/>
              <a:ext cx="1083629" cy="1033072"/>
            </a:xfrm>
            <a:prstGeom prst="ellipse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" name="TextBox 9"/>
            <p:cNvSpPr txBox="1"/>
            <p:nvPr userDrawn="1"/>
          </p:nvSpPr>
          <p:spPr>
            <a:xfrm>
              <a:off x="2823850" y="1037574"/>
              <a:ext cx="3344655" cy="9137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 dirty="0" smtClean="0">
                  <a:solidFill>
                    <a:srgbClr val="0066FF"/>
                  </a:solidFill>
                  <a:effectLst/>
                  <a:latin typeface="Britannic Bold" charset="0"/>
                  <a:ea typeface="Calibri" charset="0"/>
                  <a:cs typeface="Times New Roman" charset="0"/>
                </a:rPr>
                <a:t>Federal Ministry of Health</a:t>
              </a:r>
              <a:endParaRPr lang="en-US" sz="1100" dirty="0" smtClean="0">
                <a:effectLst/>
                <a:latin typeface="Calibri" charset="0"/>
                <a:ea typeface="Calibri" charset="0"/>
                <a:cs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0560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gradFill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F222C-BE2A-F444-8A5C-7D05C0390F8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dirty="0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80091" y="5960533"/>
            <a:ext cx="865640" cy="279400"/>
          </a:xfrm>
        </p:spPr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CH-I-</a:t>
            </a:r>
            <a:fld id="{EA6F0968-608B-9B45-B887-1974F736E627}" type="slidenum">
              <a:rPr lang="en-US" altLang="en-US" smtClean="0">
                <a:solidFill>
                  <a:prstClr val="black"/>
                </a:solidFill>
              </a:rPr>
              <a:pPr/>
              <a:t>‹#›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oup 7"/>
          <p:cNvGrpSpPr/>
          <p:nvPr userDrawn="1"/>
        </p:nvGrpSpPr>
        <p:grpSpPr>
          <a:xfrm>
            <a:off x="3372583" y="335127"/>
            <a:ext cx="2407298" cy="1306286"/>
            <a:chOff x="2823850" y="0"/>
            <a:chExt cx="3344655" cy="1951286"/>
          </a:xfrm>
        </p:grpSpPr>
        <p:pic>
          <p:nvPicPr>
            <p:cNvPr id="9" name="Picture 8" descr="Ethiopia_MOH"/>
            <p:cNvPicPr/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4364" y="0"/>
              <a:ext cx="1083629" cy="1033072"/>
            </a:xfrm>
            <a:prstGeom prst="ellipse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" name="TextBox 9"/>
            <p:cNvSpPr txBox="1"/>
            <p:nvPr userDrawn="1"/>
          </p:nvSpPr>
          <p:spPr>
            <a:xfrm>
              <a:off x="2823850" y="1037574"/>
              <a:ext cx="3344655" cy="9137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 dirty="0" smtClean="0">
                  <a:solidFill>
                    <a:srgbClr val="0066FF"/>
                  </a:solidFill>
                  <a:effectLst/>
                  <a:latin typeface="Britannic Bold" charset="0"/>
                  <a:ea typeface="Calibri" charset="0"/>
                  <a:cs typeface="Times New Roman" charset="0"/>
                </a:rPr>
                <a:t>Federal Ministry of Health</a:t>
              </a:r>
              <a:endParaRPr lang="en-US" sz="1100" dirty="0" smtClean="0">
                <a:effectLst/>
                <a:latin typeface="Calibri" charset="0"/>
                <a:ea typeface="Calibri" charset="0"/>
                <a:cs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40397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gradFill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902036" y="5960533"/>
            <a:ext cx="1148283" cy="279400"/>
          </a:xfrm>
        </p:spPr>
        <p:txBody>
          <a:bodyPr/>
          <a:lstStyle/>
          <a:p>
            <a:fld id="{A02B8DCB-40AB-2745-8952-E8154995B2C3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76865" y="5960533"/>
            <a:ext cx="4725171" cy="279400"/>
          </a:xfrm>
        </p:spPr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050319" y="5960533"/>
            <a:ext cx="925282" cy="279400"/>
          </a:xfrm>
        </p:spPr>
        <p:txBody>
          <a:bodyPr/>
          <a:lstStyle/>
          <a:p>
            <a:r>
              <a:rPr lang="en-US" altLang="en-US" dirty="0" smtClean="0">
                <a:solidFill>
                  <a:prstClr val="black"/>
                </a:solidFill>
              </a:rPr>
              <a:t>CH-I-</a:t>
            </a:r>
            <a:fld id="{C28A11DA-0D0F-ED44-BDBE-29B644A10FAD}" type="slidenum">
              <a:rPr lang="en-US" altLang="en-US" smtClean="0">
                <a:solidFill>
                  <a:prstClr val="black"/>
                </a:solidFill>
              </a:rPr>
              <a:pPr/>
              <a:t>‹#›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grpSp>
        <p:nvGrpSpPr>
          <p:cNvPr id="9" name="Group 8"/>
          <p:cNvGrpSpPr/>
          <p:nvPr userDrawn="1"/>
        </p:nvGrpSpPr>
        <p:grpSpPr>
          <a:xfrm>
            <a:off x="3372583" y="128212"/>
            <a:ext cx="2407298" cy="1306286"/>
            <a:chOff x="2823850" y="0"/>
            <a:chExt cx="3344655" cy="1951286"/>
          </a:xfrm>
        </p:grpSpPr>
        <p:pic>
          <p:nvPicPr>
            <p:cNvPr id="10" name="Picture 9" descr="Ethiopia_MOH"/>
            <p:cNvPicPr/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4364" y="0"/>
              <a:ext cx="1083629" cy="1033072"/>
            </a:xfrm>
            <a:prstGeom prst="ellipse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" name="TextBox 10"/>
            <p:cNvSpPr txBox="1"/>
            <p:nvPr userDrawn="1"/>
          </p:nvSpPr>
          <p:spPr>
            <a:xfrm>
              <a:off x="2823850" y="1037574"/>
              <a:ext cx="3344655" cy="9137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 dirty="0" smtClean="0">
                  <a:solidFill>
                    <a:srgbClr val="0066FF"/>
                  </a:solidFill>
                  <a:effectLst/>
                  <a:latin typeface="Britannic Bold" charset="0"/>
                  <a:ea typeface="Calibri" charset="0"/>
                  <a:cs typeface="Times New Roman" charset="0"/>
                </a:rPr>
                <a:t>Federal Ministry of Health</a:t>
              </a:r>
              <a:endParaRPr lang="en-US" sz="1100" dirty="0" smtClean="0">
                <a:effectLst/>
                <a:latin typeface="Calibri" charset="0"/>
                <a:ea typeface="Calibri" charset="0"/>
                <a:cs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7443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57168-DD96-D547-A1D8-B9B375905A6F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2B81B-1B66-2845-AB93-0F52B5001E07}" type="slidenum">
              <a:rPr lang="en-US" altLang="en-US" smtClean="0">
                <a:solidFill>
                  <a:prstClr val="black"/>
                </a:solidFill>
              </a:rPr>
              <a:pPr/>
              <a:t>‹#›</a:t>
            </a:fld>
            <a:endParaRPr lang="en-US" altLang="en-US">
              <a:solidFill>
                <a:prstClr val="black"/>
              </a:solidFill>
            </a:endParaRPr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1381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5824662" y="5960533"/>
            <a:ext cx="1148283" cy="279400"/>
          </a:xfrm>
        </p:spPr>
        <p:txBody>
          <a:bodyPr/>
          <a:lstStyle/>
          <a:p>
            <a:fld id="{75308496-BBD4-0849-A672-712274D54530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76866" y="5960533"/>
            <a:ext cx="4603016" cy="279400"/>
          </a:xfrm>
        </p:spPr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017725" y="5960533"/>
            <a:ext cx="957876" cy="279400"/>
          </a:xfrm>
        </p:spPr>
        <p:txBody>
          <a:bodyPr/>
          <a:lstStyle/>
          <a:p>
            <a:r>
              <a:rPr lang="en-US" altLang="en-US" dirty="0" smtClean="0">
                <a:solidFill>
                  <a:prstClr val="black"/>
                </a:solidFill>
              </a:rPr>
              <a:t>CH-I-</a:t>
            </a:r>
            <a:fld id="{3C561990-EC96-DB44-A9C3-A4966711F1EC}" type="slidenum">
              <a:rPr lang="en-US" altLang="en-US" smtClean="0">
                <a:solidFill>
                  <a:prstClr val="black"/>
                </a:solidFill>
              </a:rPr>
              <a:pPr/>
              <a:t>‹#›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" name="Group 6"/>
          <p:cNvGrpSpPr/>
          <p:nvPr userDrawn="1"/>
        </p:nvGrpSpPr>
        <p:grpSpPr>
          <a:xfrm>
            <a:off x="3372583" y="0"/>
            <a:ext cx="2407298" cy="1306286"/>
            <a:chOff x="2823850" y="0"/>
            <a:chExt cx="3344655" cy="1951286"/>
          </a:xfrm>
        </p:grpSpPr>
        <p:pic>
          <p:nvPicPr>
            <p:cNvPr id="8" name="Picture 7" descr="Ethiopia_MOH"/>
            <p:cNvPicPr/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4364" y="0"/>
              <a:ext cx="1083629" cy="1033072"/>
            </a:xfrm>
            <a:prstGeom prst="ellipse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" name="TextBox 8"/>
            <p:cNvSpPr txBox="1"/>
            <p:nvPr userDrawn="1"/>
          </p:nvSpPr>
          <p:spPr>
            <a:xfrm>
              <a:off x="2823850" y="1037574"/>
              <a:ext cx="3344655" cy="91371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 dirty="0" smtClean="0">
                  <a:solidFill>
                    <a:srgbClr val="0066FF"/>
                  </a:solidFill>
                  <a:effectLst/>
                  <a:latin typeface="Britannic Bold" charset="0"/>
                  <a:ea typeface="Calibri" charset="0"/>
                  <a:cs typeface="Times New Roman" charset="0"/>
                </a:rPr>
                <a:t>Federal Ministry of Health</a:t>
              </a:r>
              <a:endParaRPr lang="en-US" sz="1100" dirty="0" smtClean="0">
                <a:effectLst/>
                <a:latin typeface="Calibri" charset="0"/>
                <a:ea typeface="Calibri" charset="0"/>
                <a:cs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73762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F4C899-483E-EF49-951C-A0906AEB4582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B23F3C-0195-2548-BB68-610F011F251E}" type="slidenum">
              <a:rPr lang="en-US" altLang="en-US" smtClean="0">
                <a:solidFill>
                  <a:prstClr val="black"/>
                </a:solidFill>
              </a:rPr>
              <a:pPr/>
              <a:t>‹#›</a:t>
            </a:fld>
            <a:endParaRPr lang="en-US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0749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099F8-BA1C-514B-A2A2-26F56F4A024E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7E5C4A-1D07-ED45-ABCF-9955D9CF5C81}" type="slidenum">
              <a:rPr lang="en-US" altLang="en-US" smtClean="0">
                <a:solidFill>
                  <a:prstClr val="black"/>
                </a:solidFill>
              </a:rPr>
              <a:pPr/>
              <a:t>‹#›</a:t>
            </a:fld>
            <a:endParaRPr lang="en-US" altLang="en-US">
              <a:solidFill>
                <a:prstClr val="black"/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2529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EEEBD-76A7-904B-9314-FD2507F5C23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0B3DF-8569-0A41-9F83-5C9CE256F002}" type="slidenum">
              <a:rPr lang="en-US" altLang="en-US" smtClean="0">
                <a:solidFill>
                  <a:prstClr val="black"/>
                </a:solidFill>
              </a:rPr>
              <a:pPr/>
              <a:t>‹#›</a:t>
            </a:fld>
            <a:endParaRPr lang="en-US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4546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626C4-C767-D749-B8E9-9CD7F3C717C6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AE20A8-0246-2644-B82D-FAA2CAE63CFA}" type="slidenum">
              <a:rPr lang="en-US" altLang="en-US" smtClean="0">
                <a:solidFill>
                  <a:prstClr val="black"/>
                </a:solidFill>
              </a:rPr>
              <a:pPr/>
              <a:t>‹#›</a:t>
            </a:fld>
            <a:endParaRPr lang="en-US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0522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7C24CF-F547-404E-A6C4-4E41177462F1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68ACBC-9EA7-A244-A886-3AFF58BF125F}" type="slidenum">
              <a:rPr lang="en-US" altLang="en-US" smtClean="0">
                <a:solidFill>
                  <a:prstClr val="black"/>
                </a:solidFill>
              </a:rPr>
              <a:pPr/>
              <a:t>‹#›</a:t>
            </a:fld>
            <a:endParaRPr lang="en-US" altLang="en-US">
              <a:solidFill>
                <a:prstClr val="black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75331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C7C92-6F8B-CB4E-89AE-80256CF1780A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77A51C-4AB6-E440-8827-1CF97D5D41B3}" type="slidenum">
              <a:rPr lang="en-US" altLang="en-US" smtClean="0">
                <a:solidFill>
                  <a:prstClr val="black"/>
                </a:solidFill>
              </a:rPr>
              <a:pPr/>
              <a:t>‹#›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85380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C8CBF4-EB8F-9243-A525-44930A49E877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15BA1-9538-3042-AE4E-329752C8999E}" type="slidenum">
              <a:rPr lang="en-US" altLang="en-US" smtClean="0">
                <a:solidFill>
                  <a:prstClr val="black"/>
                </a:solidFill>
              </a:rPr>
              <a:pPr/>
              <a:t>‹#›</a:t>
            </a:fld>
            <a:endParaRPr lang="en-US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6209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32FA7-8A4C-7F48-802C-D16B79E24536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4B134D-A47A-D342-9435-60791C1BAF0D}" type="slidenum">
              <a:rPr lang="en-US" altLang="en-US" smtClean="0">
                <a:solidFill>
                  <a:prstClr val="black"/>
                </a:solidFill>
              </a:rPr>
              <a:pPr/>
              <a:t>‹#›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08044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E5DC1-9303-6144-948F-242483DC1560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FC105E-D6BE-AB42-A5B9-B52D7B9D46FF}" type="slidenum">
              <a:rPr lang="en-US" altLang="en-US" smtClean="0">
                <a:solidFill>
                  <a:prstClr val="black"/>
                </a:solidFill>
              </a:rPr>
              <a:pPr/>
              <a:t>‹#›</a:t>
            </a:fld>
            <a:endParaRPr lang="en-US" altLang="en-US">
              <a:solidFill>
                <a:prstClr val="black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91839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CBC68-D2A8-C34D-AE96-93BCEE29F626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8749E4-5B3E-AA4A-8A38-9F8B1FD85889}" type="slidenum">
              <a:rPr lang="en-US" altLang="en-US" smtClean="0">
                <a:solidFill>
                  <a:prstClr val="black"/>
                </a:solidFill>
              </a:rPr>
              <a:pPr/>
              <a:t>‹#›</a:t>
            </a:fld>
            <a:endParaRPr lang="en-US" altLang="en-US">
              <a:solidFill>
                <a:prstClr val="black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29234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4E021-BA43-E14D-B1C0-D02ED1B7308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379DE-0313-864F-AED4-D237FE8D9987}" type="slidenum">
              <a:rPr lang="en-US" altLang="en-US" smtClean="0">
                <a:solidFill>
                  <a:prstClr val="black"/>
                </a:solidFill>
              </a:rPr>
              <a:pPr/>
              <a:t>‹#›</a:t>
            </a:fld>
            <a:endParaRPr lang="en-US" altLang="en-US">
              <a:solidFill>
                <a:prstClr val="black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4354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50B79ABA-CB85-CA4C-9514-3624A8CFCD1D}" type="datetime1">
              <a:rPr lang="en-US" altLang="en-US" smtClean="0">
                <a:solidFill>
                  <a:prstClr val="black"/>
                </a:solidFill>
                <a:ea typeface="Arial" charset="0"/>
                <a:cs typeface="Arial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25-Jun-17</a:t>
            </a:fld>
            <a:endParaRPr lang="en-US" altLang="en-US">
              <a:solidFill>
                <a:prstClr val="black"/>
              </a:solidFill>
              <a:ea typeface="Arial" charset="0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mtClean="0">
                <a:solidFill>
                  <a:prstClr val="black"/>
                </a:solidFill>
                <a:ea typeface="Arial" charset="0"/>
                <a:cs typeface="Arial" charset="0"/>
              </a:rPr>
              <a:t>National CRC training </a:t>
            </a:r>
            <a:endParaRPr lang="en-US" altLang="en-US">
              <a:solidFill>
                <a:prstClr val="black"/>
              </a:solidFill>
              <a:ea typeface="Arial" charset="0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fld id="{2CA64E32-FAB1-8A4C-AF2E-34389923546F}" type="slidenum">
              <a:rPr lang="en-US" altLang="en-US" smtClean="0">
                <a:solidFill>
                  <a:prstClr val="black"/>
                </a:solidFill>
                <a:ea typeface="Arial" charset="0"/>
                <a:cs typeface="Arial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prstClr val="black"/>
              </a:solidFill>
              <a:ea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5299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hf hdr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Arial" pitchFamily="34" charset="0"/>
          <a:ea typeface="+mj-ea"/>
          <a:cs typeface="Arial" pitchFamily="34" charset="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5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8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9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0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>
                <a:solidFill>
                  <a:prstClr val="black"/>
                </a:solidFill>
              </a:rPr>
              <a:t>NATIONAL COMPASSIONATE, RESPECTFUL AND CARING TRAINING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32652" y="3597480"/>
            <a:ext cx="4478695" cy="1374711"/>
          </a:xfrm>
        </p:spPr>
        <p:txBody>
          <a:bodyPr>
            <a:normAutofit/>
          </a:bodyPr>
          <a:lstStyle/>
          <a:p>
            <a:r>
              <a:rPr lang="en-US" dirty="0" smtClean="0"/>
              <a:t>CHAPTER TWO</a:t>
            </a:r>
          </a:p>
          <a:p>
            <a:r>
              <a:rPr lang="en-US" dirty="0" smtClean="0"/>
              <a:t>HEALTH CARE ETHICS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3C75D-86F2-974E-8CC7-ED35F8F033E3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 smtClean="0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CH-I-</a:t>
            </a:r>
            <a:fld id="{CAC22B12-0DAA-A446-9F32-6553C8E628F3}" type="slidenum">
              <a:rPr lang="en-US" altLang="en-US" smtClean="0">
                <a:solidFill>
                  <a:prstClr val="black"/>
                </a:solidFill>
              </a:rPr>
              <a:pPr/>
              <a:t>1</a:t>
            </a:fld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49500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Chapter introduction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9264" y="2490135"/>
            <a:ext cx="7205471" cy="3444997"/>
          </a:xfrm>
        </p:spPr>
        <p:txBody>
          <a:bodyPr>
            <a:normAutofit/>
          </a:bodyPr>
          <a:lstStyle/>
          <a:p>
            <a:pPr marR="0" algn="just">
              <a:lnSpc>
                <a:spcPct val="115000"/>
              </a:lnSpc>
              <a:spcBef>
                <a:spcPts val="0"/>
              </a:spcBef>
              <a:spcAft>
                <a:spcPts val="790"/>
              </a:spcAft>
              <a:buFont typeface="Wingdings" pitchFamily="2" charset="2"/>
              <a:buChar char="v"/>
            </a:pPr>
            <a:r>
              <a:rPr lang="en-US" dirty="0" smtClea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itchFamily="34" charset="0"/>
                <a:ea typeface="Arial Unicode MS" panose="020B0604020202020204" pitchFamily="34" charset="-128"/>
                <a:cs typeface="Arial" pitchFamily="34" charset="0"/>
              </a:rPr>
              <a:t>Ethics in the previous and current health care curriculum </a:t>
            </a:r>
          </a:p>
          <a:p>
            <a:pPr marR="0" algn="just">
              <a:lnSpc>
                <a:spcPct val="115000"/>
              </a:lnSpc>
              <a:spcBef>
                <a:spcPts val="0"/>
              </a:spcBef>
              <a:spcAft>
                <a:spcPts val="790"/>
              </a:spcAft>
              <a:buFont typeface="Wingdings" pitchFamily="2" charset="2"/>
              <a:buChar char="v"/>
            </a:pPr>
            <a:r>
              <a:rPr lang="en-US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itchFamily="34" charset="0"/>
                <a:ea typeface="Arial Unicode MS" panose="020B0604020202020204" pitchFamily="34" charset="-128"/>
                <a:cs typeface="Arial" pitchFamily="34" charset="0"/>
              </a:rPr>
              <a:t> </a:t>
            </a:r>
            <a:r>
              <a:rPr lang="en-US" dirty="0" smtClea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itchFamily="34" charset="0"/>
                <a:ea typeface="Arial Unicode MS" panose="020B0604020202020204" pitchFamily="34" charset="-128"/>
                <a:cs typeface="Arial" pitchFamily="34" charset="0"/>
              </a:rPr>
              <a:t>Concepts of ethics and its basic principles</a:t>
            </a:r>
          </a:p>
          <a:p>
            <a:pPr marR="0" algn="just">
              <a:lnSpc>
                <a:spcPct val="115000"/>
              </a:lnSpc>
              <a:spcBef>
                <a:spcPts val="0"/>
              </a:spcBef>
              <a:spcAft>
                <a:spcPts val="790"/>
              </a:spcAft>
              <a:buFont typeface="Wingdings" pitchFamily="2" charset="2"/>
              <a:buChar char="v"/>
            </a:pPr>
            <a:r>
              <a:rPr lang="en-US" dirty="0" smtClean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Arial" pitchFamily="34" charset="0"/>
                <a:ea typeface="Arial Unicode MS" panose="020B0604020202020204" pitchFamily="34" charset="-128"/>
                <a:cs typeface="Arial" pitchFamily="34" charset="0"/>
              </a:rPr>
              <a:t>Preventive ethics, ethics and law </a:t>
            </a:r>
          </a:p>
          <a:p>
            <a:pPr marR="0" algn="just">
              <a:lnSpc>
                <a:spcPct val="115000"/>
              </a:lnSpc>
              <a:spcBef>
                <a:spcPts val="0"/>
              </a:spcBef>
              <a:spcAft>
                <a:spcPts val="790"/>
              </a:spcAft>
              <a:buFont typeface="Wingdings" pitchFamily="2" charset="2"/>
              <a:buChar char="v"/>
            </a:pPr>
            <a:endParaRPr lang="en-US" dirty="0" smtClean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itchFamily="34" charset="0"/>
              <a:ea typeface="Arial Unicode MS" panose="020B0604020202020204" pitchFamily="34" charset="-128"/>
              <a:cs typeface="Arial" pitchFamily="34" charset="0"/>
            </a:endParaRPr>
          </a:p>
          <a:p>
            <a:pPr marL="0" marR="0" indent="0" algn="just">
              <a:lnSpc>
                <a:spcPct val="115000"/>
              </a:lnSpc>
              <a:spcBef>
                <a:spcPts val="0"/>
              </a:spcBef>
              <a:spcAft>
                <a:spcPts val="790"/>
              </a:spcAft>
              <a:buNone/>
            </a:pPr>
            <a:endParaRPr lang="en-GB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Arial" pitchFamily="34" charset="0"/>
              <a:ea typeface="Arial Unicode MS" panose="020B0604020202020204" pitchFamily="34" charset="-128"/>
              <a:cs typeface="Arial" pitchFamily="34" charset="0"/>
            </a:endParaRPr>
          </a:p>
          <a:p>
            <a:pPr marL="0" indent="0">
              <a:buNone/>
            </a:pPr>
            <a:endParaRPr lang="en-GB" sz="36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11756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Chapter Objective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buFont typeface="Wingdings" pitchFamily="2" charset="2"/>
              <a:buChar char="Ø"/>
            </a:pPr>
            <a:r>
              <a:rPr lang="en-US" sz="3200" dirty="0" smtClean="0"/>
              <a:t>Participants will be able to provide ethically acceptable healthcare services</a:t>
            </a:r>
          </a:p>
          <a:p>
            <a:pPr marL="457200" lvl="1" indent="0">
              <a:buNone/>
            </a:pPr>
            <a:r>
              <a:rPr lang="en-US" sz="3200" dirty="0" smtClean="0"/>
              <a:t> </a:t>
            </a:r>
            <a:endParaRPr lang="en-US" sz="3200" dirty="0"/>
          </a:p>
          <a:p>
            <a:endParaRPr lang="en-US" sz="3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  <p:pic>
        <p:nvPicPr>
          <p:cNvPr id="7" name="Picture 6" descr="Image result for Healthcare Ethics and law, cartoon and pictures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9600" y="4457700"/>
            <a:ext cx="2286000" cy="1600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945185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Enabling objectives</a:t>
            </a:r>
            <a:endParaRPr lang="en-GB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Font typeface="Wingdings" pitchFamily="2" charset="2"/>
              <a:buChar char="v"/>
            </a:pPr>
            <a:r>
              <a:rPr lang="en-US" dirty="0" smtClean="0"/>
              <a:t> </a:t>
            </a:r>
            <a:r>
              <a:rPr lang="en-US" sz="3300" dirty="0"/>
              <a:t>D</a:t>
            </a:r>
            <a:r>
              <a:rPr lang="en-US" sz="3300" dirty="0" smtClean="0"/>
              <a:t>iscuss the </a:t>
            </a:r>
            <a:r>
              <a:rPr lang="en-US" sz="3300" dirty="0"/>
              <a:t>basic concepts </a:t>
            </a:r>
            <a:r>
              <a:rPr lang="en-US" sz="3300" dirty="0" smtClean="0"/>
              <a:t>of </a:t>
            </a:r>
            <a:r>
              <a:rPr lang="en-US" sz="3300" dirty="0"/>
              <a:t>principles of </a:t>
            </a:r>
            <a:r>
              <a:rPr lang="en-US" sz="3300" dirty="0" smtClean="0"/>
              <a:t> healthcare </a:t>
            </a:r>
            <a:r>
              <a:rPr lang="en-US" sz="3300" dirty="0"/>
              <a:t>ethics </a:t>
            </a:r>
            <a:endParaRPr lang="en-US" sz="3300" dirty="0" smtClean="0"/>
          </a:p>
          <a:p>
            <a:pPr>
              <a:buFont typeface="Wingdings" pitchFamily="2" charset="2"/>
              <a:buChar char="v"/>
            </a:pPr>
            <a:r>
              <a:rPr lang="en-US" sz="3300" dirty="0"/>
              <a:t>	</a:t>
            </a:r>
            <a:r>
              <a:rPr lang="en-US" sz="3300" dirty="0" smtClean="0"/>
              <a:t>Describe </a:t>
            </a:r>
            <a:r>
              <a:rPr lang="en-US" sz="3300" dirty="0"/>
              <a:t>confidentiality and informed consents in CRC model </a:t>
            </a:r>
            <a:r>
              <a:rPr lang="en-US" sz="3300" dirty="0" smtClean="0"/>
              <a:t>healthcare </a:t>
            </a:r>
          </a:p>
          <a:p>
            <a:pPr>
              <a:buFont typeface="Wingdings" pitchFamily="2" charset="2"/>
              <a:buChar char="v"/>
            </a:pPr>
            <a:r>
              <a:rPr lang="en-US" sz="3300" dirty="0" smtClean="0"/>
              <a:t>Identify </a:t>
            </a:r>
            <a:r>
              <a:rPr lang="en-US" sz="3300" dirty="0"/>
              <a:t>preventive ethics as a standard practice for the health </a:t>
            </a:r>
            <a:r>
              <a:rPr lang="en-US" sz="3300" dirty="0" smtClean="0"/>
              <a:t>workforce</a:t>
            </a:r>
          </a:p>
          <a:p>
            <a:pPr>
              <a:buFont typeface="Wingdings" pitchFamily="2" charset="2"/>
              <a:buChar char="v"/>
            </a:pPr>
            <a:r>
              <a:rPr lang="en-US" sz="3300" dirty="0" smtClean="0"/>
              <a:t>Recognize </a:t>
            </a:r>
            <a:r>
              <a:rPr lang="en-US" sz="3300" dirty="0"/>
              <a:t>the relationship of  ethics and law to exercise </a:t>
            </a:r>
            <a:r>
              <a:rPr lang="en-US" sz="3300" dirty="0" smtClean="0"/>
              <a:t>CRC</a:t>
            </a:r>
          </a:p>
          <a:p>
            <a:endParaRPr lang="en-US" dirty="0" smtClean="0"/>
          </a:p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CH-I-</a:t>
            </a:r>
            <a:fld id="{3FB30F3C-053D-864C-B962-F2E761156877}" type="slidenum">
              <a:rPr lang="en-US" altLang="en-US" smtClean="0">
                <a:solidFill>
                  <a:prstClr val="black"/>
                </a:solidFill>
              </a:rPr>
              <a:pPr/>
              <a:t>4</a:t>
            </a:fld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29724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Font typeface="Wingdings" pitchFamily="2" charset="2"/>
              <a:buChar char="v"/>
            </a:pPr>
            <a:r>
              <a:rPr lang="en-US" dirty="0" smtClean="0"/>
              <a:t> </a:t>
            </a:r>
            <a:r>
              <a:rPr lang="en-US" sz="4100" dirty="0" smtClean="0"/>
              <a:t>2.1 </a:t>
            </a:r>
            <a:r>
              <a:rPr lang="en-US" sz="4100" dirty="0"/>
              <a:t>P</a:t>
            </a:r>
            <a:r>
              <a:rPr lang="en-US" sz="4100" dirty="0" smtClean="0"/>
              <a:t>rinciples </a:t>
            </a:r>
            <a:r>
              <a:rPr lang="en-US" sz="4100" dirty="0"/>
              <a:t>of health care </a:t>
            </a:r>
            <a:r>
              <a:rPr lang="en-US" sz="4100" dirty="0" smtClean="0"/>
              <a:t>ethics</a:t>
            </a:r>
          </a:p>
          <a:p>
            <a:pPr>
              <a:buFont typeface="Wingdings" pitchFamily="2" charset="2"/>
              <a:buChar char="v"/>
            </a:pPr>
            <a:r>
              <a:rPr lang="en-US" sz="4100" dirty="0" smtClean="0"/>
              <a:t>2.2</a:t>
            </a:r>
            <a:r>
              <a:rPr lang="en-US" sz="4100" dirty="0"/>
              <a:t> </a:t>
            </a:r>
            <a:r>
              <a:rPr lang="en-US" sz="4100" dirty="0" smtClean="0"/>
              <a:t>Confidentiality </a:t>
            </a:r>
            <a:r>
              <a:rPr lang="en-US" sz="4100" dirty="0"/>
              <a:t>and informed </a:t>
            </a:r>
            <a:r>
              <a:rPr lang="en-US" sz="4100" dirty="0" smtClean="0"/>
              <a:t>consent</a:t>
            </a:r>
          </a:p>
          <a:p>
            <a:pPr>
              <a:buFont typeface="Wingdings" pitchFamily="2" charset="2"/>
              <a:buChar char="v"/>
            </a:pPr>
            <a:r>
              <a:rPr lang="en-US" sz="4100" dirty="0" smtClean="0"/>
              <a:t>2.3</a:t>
            </a:r>
            <a:r>
              <a:rPr lang="en-US" sz="4100" dirty="0"/>
              <a:t> </a:t>
            </a:r>
            <a:r>
              <a:rPr lang="en-US" sz="4100" dirty="0" smtClean="0"/>
              <a:t>Preventive </a:t>
            </a:r>
            <a:r>
              <a:rPr lang="en-US" sz="4100" dirty="0"/>
              <a:t>ethics in the aspect of </a:t>
            </a:r>
            <a:r>
              <a:rPr lang="en-US" sz="4100" dirty="0" smtClean="0"/>
              <a:t>CRC</a:t>
            </a:r>
          </a:p>
          <a:p>
            <a:pPr>
              <a:buFont typeface="Wingdings" pitchFamily="2" charset="2"/>
              <a:buChar char="v"/>
            </a:pPr>
            <a:r>
              <a:rPr lang="en-US" sz="4100" dirty="0" smtClean="0"/>
              <a:t>2.4Ethics </a:t>
            </a:r>
            <a:r>
              <a:rPr lang="en-US" sz="4100" dirty="0"/>
              <a:t>and law as enablers of CRC</a:t>
            </a:r>
          </a:p>
          <a:p>
            <a:pPr>
              <a:buFont typeface="Wingdings" pitchFamily="2" charset="2"/>
              <a:buChar char="q"/>
            </a:pPr>
            <a:endParaRPr lang="en-US" sz="35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CH-I-</a:t>
            </a:r>
            <a:fld id="{3FB30F3C-053D-864C-B962-F2E761156877}" type="slidenum">
              <a:rPr lang="en-US" altLang="en-US" smtClean="0">
                <a:solidFill>
                  <a:prstClr val="black"/>
                </a:solidFill>
              </a:rPr>
              <a:pPr/>
              <a:t>5</a:t>
            </a:fld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1832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1273" y="2490135"/>
            <a:ext cx="7467600" cy="3444997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algn="ctr"/>
            <a:endParaRPr lang="en-US" sz="4400" dirty="0"/>
          </a:p>
          <a:p>
            <a:pPr marL="0" indent="0" algn="ctr">
              <a:buNone/>
            </a:pPr>
            <a:r>
              <a:rPr lang="en-US" sz="4400" b="1" dirty="0" smtClean="0"/>
              <a:t>Session 2.1 </a:t>
            </a:r>
          </a:p>
          <a:p>
            <a:pPr marL="0" indent="0" algn="ctr">
              <a:buNone/>
            </a:pPr>
            <a:r>
              <a:rPr lang="en-US" sz="4400" dirty="0" smtClean="0"/>
              <a:t>Definitions </a:t>
            </a:r>
            <a:r>
              <a:rPr lang="en-US" sz="4400" dirty="0"/>
              <a:t>and principles of health care ethics</a:t>
            </a:r>
          </a:p>
          <a:p>
            <a:pPr marL="0" indent="0" algn="ctr">
              <a:buNone/>
            </a:pPr>
            <a:r>
              <a:rPr lang="en-US" sz="4400" dirty="0" smtClean="0"/>
              <a:t> </a:t>
            </a:r>
            <a:endParaRPr lang="en-US" sz="4400" dirty="0"/>
          </a:p>
          <a:p>
            <a:pPr algn="ctr"/>
            <a:endParaRPr lang="en-GB" sz="4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CH-I-</a:t>
            </a:r>
            <a:fld id="{3FB30F3C-053D-864C-B962-F2E761156877}" type="slidenum">
              <a:rPr lang="en-US" altLang="en-US" smtClean="0">
                <a:solidFill>
                  <a:prstClr val="black"/>
                </a:solidFill>
              </a:rPr>
              <a:pPr/>
              <a:t>6</a:t>
            </a:fld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94308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Session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smtClean="0"/>
              <a:t> </a:t>
            </a:r>
          </a:p>
          <a:p>
            <a:pPr>
              <a:buFont typeface="Wingdings" pitchFamily="2" charset="2"/>
              <a:buChar char="v"/>
            </a:pPr>
            <a:r>
              <a:rPr lang="en-US" sz="3500" dirty="0" smtClean="0"/>
              <a:t>Define </a:t>
            </a:r>
            <a:r>
              <a:rPr lang="en-US" sz="3500" dirty="0"/>
              <a:t>ethics and health care </a:t>
            </a:r>
            <a:r>
              <a:rPr lang="en-US" sz="3500" dirty="0" smtClean="0"/>
              <a:t>ethics</a:t>
            </a:r>
          </a:p>
          <a:p>
            <a:pPr>
              <a:buFont typeface="Wingdings" pitchFamily="2" charset="2"/>
              <a:buChar char="v"/>
            </a:pPr>
            <a:r>
              <a:rPr lang="en-US" sz="3500" dirty="0" smtClean="0"/>
              <a:t>List </a:t>
            </a:r>
            <a:r>
              <a:rPr lang="en-US" sz="3500" dirty="0"/>
              <a:t>principles of health care </a:t>
            </a:r>
            <a:r>
              <a:rPr lang="en-US" sz="3500" dirty="0" smtClean="0"/>
              <a:t>ethics</a:t>
            </a:r>
          </a:p>
          <a:p>
            <a:r>
              <a:rPr lang="en-US" sz="3500" dirty="0" smtClean="0"/>
              <a:t>Discuss </a:t>
            </a:r>
            <a:r>
              <a:rPr lang="en-US" sz="3500" dirty="0"/>
              <a:t>each of healthcare ethics </a:t>
            </a:r>
            <a:r>
              <a:rPr lang="en-US" sz="3500" dirty="0" smtClean="0"/>
              <a:t>principle</a:t>
            </a:r>
            <a:endParaRPr lang="en-US" sz="3500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3751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 </a:t>
            </a:r>
            <a:r>
              <a:rPr lang="en-US" dirty="0" smtClean="0"/>
              <a:t>Definitions of Ethics and Health Care Ethics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endParaRPr lang="en-US" dirty="0" smtClean="0"/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b="1" dirty="0" smtClean="0"/>
              <a:t>Discussion question: 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hat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 ethics in general, and 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health care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ethics in particular</a:t>
            </a:r>
            <a:r>
              <a:rPr lang="en-US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? ( 5 min)</a:t>
            </a:r>
            <a:endParaRPr lang="en-GB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E1F13-6DD4-5D4B-86C8-908C01B938EC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CH-I-</a:t>
            </a:r>
            <a:fld id="{3FB30F3C-053D-864C-B962-F2E761156877}" type="slidenum">
              <a:rPr lang="en-US" altLang="en-US" smtClean="0">
                <a:solidFill>
                  <a:prstClr val="black"/>
                </a:solidFill>
              </a:rPr>
              <a:pPr/>
              <a:t>8</a:t>
            </a:fld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6724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smtClean="0"/>
              <a:t>Definition of Ethics and Health Care Ethics Continues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500" b="1" dirty="0" smtClean="0"/>
              <a:t>Ethics</a:t>
            </a:r>
            <a:r>
              <a:rPr lang="en-US" sz="3500" dirty="0" smtClean="0"/>
              <a:t> : derived from the Greek word “ Ethos” meaning “ custom” or “Character”</a:t>
            </a:r>
          </a:p>
          <a:p>
            <a:pPr marL="0" indent="0">
              <a:buNone/>
            </a:pPr>
            <a:r>
              <a:rPr lang="en-US" sz="3500" b="1" dirty="0" smtClean="0"/>
              <a:t>Ethics:</a:t>
            </a:r>
            <a:r>
              <a:rPr lang="en-US" sz="3500" dirty="0" smtClean="0"/>
              <a:t> is the study of morality—careful and systematic reflection on and analysis of moral decisions and behavior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dirty="0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CH-I-</a:t>
            </a:r>
            <a:fld id="{3FB30F3C-053D-864C-B962-F2E761156877}" type="slidenum">
              <a:rPr lang="en-US" altLang="en-US" smtClean="0">
                <a:solidFill>
                  <a:prstClr val="black"/>
                </a:solidFill>
              </a:rPr>
              <a:pPr/>
              <a:t>9</a:t>
            </a:fld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1614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Definition of Ethics continues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buClr>
                <a:srgbClr val="83992A"/>
              </a:buClr>
              <a:buNone/>
            </a:pPr>
            <a:r>
              <a:rPr lang="en-US" b="1" dirty="0">
                <a:solidFill>
                  <a:prstClr val="black">
                    <a:lumMod val="85000"/>
                    <a:lumOff val="15000"/>
                  </a:prstClr>
                </a:solidFill>
              </a:rPr>
              <a:t>Ethics </a:t>
            </a:r>
            <a:r>
              <a:rPr lang="en-US" dirty="0">
                <a:solidFill>
                  <a:prstClr val="black">
                    <a:lumMod val="85000"/>
                    <a:lumOff val="15000"/>
                  </a:prstClr>
                </a:solidFill>
              </a:rPr>
              <a:t>can be defined as the branch of philosophy dealing with standards of conduct and moral judgment.</a:t>
            </a:r>
          </a:p>
          <a:p>
            <a:pPr marL="0" indent="0" algn="just">
              <a:buNone/>
            </a:pPr>
            <a:r>
              <a:rPr lang="en-US" b="1" dirty="0" smtClean="0"/>
              <a:t>Health care </a:t>
            </a:r>
            <a:r>
              <a:rPr lang="en-US" b="1" dirty="0"/>
              <a:t>e</a:t>
            </a:r>
            <a:r>
              <a:rPr lang="en-US" b="1" dirty="0" smtClean="0"/>
              <a:t>thics: </a:t>
            </a:r>
            <a:r>
              <a:rPr lang="en-US" dirty="0"/>
              <a:t>a set of moral principles, beliefs and values that guide us in making choices about health care.</a:t>
            </a:r>
          </a:p>
          <a:p>
            <a:pPr marL="0" indent="0">
              <a:buNone/>
            </a:pPr>
            <a:endParaRPr lang="en-US" sz="28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CH-I-</a:t>
            </a:r>
            <a:fld id="{3FB30F3C-053D-864C-B962-F2E761156877}" type="slidenum">
              <a:rPr lang="en-US" altLang="en-US" smtClean="0">
                <a:solidFill>
                  <a:prstClr val="black"/>
                </a:solidFill>
              </a:rPr>
              <a:pPr/>
              <a:t>10</a:t>
            </a:fld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15053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pPr marL="0" indent="0">
              <a:buNone/>
            </a:pPr>
            <a:r>
              <a:rPr lang="en-US" sz="3600" b="1" dirty="0" smtClean="0"/>
              <a:t>Principles of healthcare ethics</a:t>
            </a:r>
            <a:r>
              <a:rPr lang="en-US" dirty="0" smtClean="0"/>
              <a:t> </a:t>
            </a:r>
            <a:br>
              <a:rPr lang="en-US" dirty="0" smtClean="0"/>
            </a:b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/>
              <a:pPr/>
              <a:t>25-Jun-17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/>
              <a:t>National CRC training </a:t>
            </a:r>
            <a:endParaRPr lang="en-US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/>
              <a:t>CH-II-5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590270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What </a:t>
            </a:r>
            <a:r>
              <a:rPr lang="en-US" dirty="0"/>
              <a:t>are the fundamental principles of healthcare ethics? 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47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3500" dirty="0" smtClean="0">
                <a:latin typeface="Arial" pitchFamily="34" charset="0"/>
                <a:cs typeface="Arial" pitchFamily="34" charset="0"/>
              </a:rPr>
              <a:t>There are four fundamental principles of healthcare ethics.</a:t>
            </a:r>
          </a:p>
          <a:p>
            <a:pPr marL="0" indent="0">
              <a:buNone/>
            </a:pPr>
            <a:r>
              <a:rPr lang="en-US" sz="3500" dirty="0" smtClean="0">
                <a:latin typeface="Arial" pitchFamily="34" charset="0"/>
                <a:cs typeface="Arial" pitchFamily="34" charset="0"/>
              </a:rPr>
              <a:t>1</a:t>
            </a:r>
            <a:r>
              <a:rPr lang="en-US" sz="3500" dirty="0">
                <a:latin typeface="Arial" pitchFamily="34" charset="0"/>
                <a:cs typeface="Arial" pitchFamily="34" charset="0"/>
              </a:rPr>
              <a:t>.	Autonomy</a:t>
            </a:r>
          </a:p>
          <a:p>
            <a:pPr marL="0" indent="0">
              <a:buNone/>
            </a:pPr>
            <a:r>
              <a:rPr lang="en-US" sz="3500" dirty="0">
                <a:latin typeface="Arial" pitchFamily="34" charset="0"/>
                <a:cs typeface="Arial" pitchFamily="34" charset="0"/>
              </a:rPr>
              <a:t>2.	Beneficence</a:t>
            </a:r>
          </a:p>
          <a:p>
            <a:pPr marL="0" indent="0">
              <a:buNone/>
            </a:pPr>
            <a:r>
              <a:rPr lang="en-US" sz="3500" dirty="0">
                <a:latin typeface="Arial" pitchFamily="34" charset="0"/>
                <a:cs typeface="Arial" pitchFamily="34" charset="0"/>
              </a:rPr>
              <a:t>3.	</a:t>
            </a:r>
            <a:r>
              <a:rPr lang="en-US" sz="3500" dirty="0" smtClean="0">
                <a:latin typeface="Arial" pitchFamily="34" charset="0"/>
                <a:cs typeface="Arial" pitchFamily="34" charset="0"/>
              </a:rPr>
              <a:t>Non-maleficence </a:t>
            </a:r>
            <a:endParaRPr lang="en-US" sz="3500" dirty="0">
              <a:latin typeface="Arial" pitchFamily="34" charset="0"/>
              <a:cs typeface="Arial" pitchFamily="34" charset="0"/>
            </a:endParaRPr>
          </a:p>
          <a:p>
            <a:pPr marL="0" indent="0">
              <a:buNone/>
            </a:pPr>
            <a:r>
              <a:rPr lang="en-US" sz="3500" dirty="0">
                <a:latin typeface="Arial" pitchFamily="34" charset="0"/>
                <a:cs typeface="Arial" pitchFamily="34" charset="0"/>
              </a:rPr>
              <a:t>4.	 Justice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4600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Ethical principles---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>
              <a:spcBef>
                <a:spcPts val="0"/>
              </a:spcBef>
              <a:spcAft>
                <a:spcPts val="0"/>
              </a:spcAft>
              <a:buClr>
                <a:srgbClr val="83992A"/>
              </a:buClr>
              <a:buFont typeface="Wingdings" panose="05000000000000000000" pitchFamily="2" charset="2"/>
              <a:buChar char="q"/>
            </a:pPr>
            <a:endParaRPr lang="en-US" sz="2200" dirty="0" smtClean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ct val="80000"/>
              </a:lnSpc>
              <a:buFont typeface="Wingdings" pitchFamily="2" charset="2"/>
              <a:buChar char="v"/>
            </a:pPr>
            <a:r>
              <a:rPr lang="en-US" dirty="0" smtClean="0"/>
              <a:t>Ethical </a:t>
            </a:r>
            <a:r>
              <a:rPr lang="en-US" dirty="0"/>
              <a:t>principles are the foundations of ethical </a:t>
            </a:r>
            <a:r>
              <a:rPr lang="en-US" dirty="0" smtClean="0"/>
              <a:t>analysis</a:t>
            </a:r>
          </a:p>
          <a:p>
            <a:pPr>
              <a:lnSpc>
                <a:spcPct val="80000"/>
              </a:lnSpc>
              <a:buFont typeface="Wingdings" pitchFamily="2" charset="2"/>
              <a:buChar char="v"/>
            </a:pPr>
            <a:r>
              <a:rPr lang="en-US" dirty="0" smtClean="0"/>
              <a:t>They </a:t>
            </a:r>
            <a:r>
              <a:rPr lang="en-US" dirty="0"/>
              <a:t>are the viewpoints from which guidance can be obtained along the pathway to a decision.</a:t>
            </a:r>
          </a:p>
          <a:p>
            <a:endParaRPr lang="en-US" dirty="0" smtClean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06789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1030778"/>
            <a:ext cx="6798734" cy="1269686"/>
          </a:xfrm>
        </p:spPr>
        <p:txBody>
          <a:bodyPr/>
          <a:lstStyle/>
          <a:p>
            <a:r>
              <a:rPr lang="en-US" sz="4000" dirty="0" smtClean="0"/>
              <a:t>Autonomy  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0690" y="2325864"/>
            <a:ext cx="7084911" cy="3609269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Independent choice, </a:t>
            </a:r>
            <a:r>
              <a:rPr lang="en-US" dirty="0"/>
              <a:t>self-determination and freedom of action </a:t>
            </a:r>
            <a:endParaRPr lang="en-US" b="1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CH-I-</a:t>
            </a:r>
            <a:fld id="{3FB30F3C-053D-864C-B962-F2E761156877}" type="slidenum">
              <a:rPr lang="en-US" altLang="en-US" smtClean="0">
                <a:solidFill>
                  <a:prstClr val="black"/>
                </a:solidFill>
              </a:rPr>
              <a:pPr/>
              <a:t>15</a:t>
            </a:fld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11614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Autonomy ---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4" y="2490135"/>
            <a:ext cx="7217327" cy="34703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>
                <a:ea typeface="Arial Unicode MS" panose="020B0604020202020204" pitchFamily="34" charset="-128"/>
              </a:rPr>
              <a:t>Case one</a:t>
            </a:r>
          </a:p>
          <a:p>
            <a:pPr marL="0" indent="0">
              <a:buNone/>
            </a:pPr>
            <a:r>
              <a:rPr lang="en-US" dirty="0" smtClean="0">
                <a:ea typeface="Arial Unicode MS" panose="020B0604020202020204" pitchFamily="34" charset="-128"/>
              </a:rPr>
              <a:t>Please read and discuss the case scenario on the participants’ manual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27057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Beneficence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buClr>
                <a:srgbClr val="83992A"/>
              </a:buClr>
              <a:buFont typeface="Wingdings" pitchFamily="2" charset="2"/>
              <a:buChar char="v"/>
            </a:pPr>
            <a:r>
              <a:rPr lang="en-US" dirty="0" smtClean="0">
                <a:solidFill>
                  <a:prstClr val="black">
                    <a:lumMod val="85000"/>
                    <a:lumOff val="15000"/>
                  </a:prstClr>
                </a:solidFill>
              </a:rPr>
              <a:t>Beneficence is </a:t>
            </a:r>
            <a:r>
              <a:rPr lang="en-US" dirty="0">
                <a:solidFill>
                  <a:prstClr val="black">
                    <a:lumMod val="85000"/>
                    <a:lumOff val="15000"/>
                  </a:prstClr>
                </a:solidFill>
              </a:rPr>
              <a:t>“doing what is best to the patient”. </a:t>
            </a:r>
            <a:endParaRPr lang="en-US" dirty="0" smtClean="0">
              <a:solidFill>
                <a:prstClr val="black">
                  <a:lumMod val="85000"/>
                  <a:lumOff val="15000"/>
                </a:prstClr>
              </a:solidFill>
            </a:endParaRPr>
          </a:p>
          <a:p>
            <a:pPr lvl="0">
              <a:buClr>
                <a:srgbClr val="83992A"/>
              </a:buClr>
              <a:buFont typeface="Wingdings" pitchFamily="2" charset="2"/>
              <a:buChar char="v"/>
            </a:pPr>
            <a:r>
              <a:rPr lang="en-US" dirty="0" smtClean="0">
                <a:solidFill>
                  <a:prstClr val="black">
                    <a:lumMod val="85000"/>
                    <a:lumOff val="15000"/>
                  </a:prstClr>
                </a:solidFill>
              </a:rPr>
              <a:t>In </a:t>
            </a:r>
            <a:r>
              <a:rPr lang="en-US" dirty="0">
                <a:solidFill>
                  <a:prstClr val="black">
                    <a:lumMod val="85000"/>
                    <a:lumOff val="15000"/>
                  </a:prstClr>
                </a:solidFill>
              </a:rPr>
              <a:t>favor the wellbeing and interest of </a:t>
            </a:r>
            <a:r>
              <a:rPr lang="en-US" dirty="0" smtClean="0">
                <a:solidFill>
                  <a:prstClr val="black">
                    <a:lumMod val="85000"/>
                    <a:lumOff val="15000"/>
                  </a:prstClr>
                </a:solidFill>
              </a:rPr>
              <a:t>the patients</a:t>
            </a:r>
            <a:r>
              <a:rPr lang="en-US" b="1" dirty="0">
                <a:solidFill>
                  <a:prstClr val="black">
                    <a:lumMod val="85000"/>
                    <a:lumOff val="15000"/>
                  </a:prstClr>
                </a:solidFill>
              </a:rPr>
              <a:t>. </a:t>
            </a:r>
            <a:r>
              <a:rPr lang="en-US" b="1" dirty="0" smtClean="0">
                <a:solidFill>
                  <a:prstClr val="black">
                    <a:lumMod val="85000"/>
                    <a:lumOff val="15000"/>
                  </a:prstClr>
                </a:solidFill>
              </a:rPr>
              <a:t> </a:t>
            </a:r>
            <a:endParaRPr lang="en-US" dirty="0" smtClean="0">
              <a:solidFill>
                <a:prstClr val="black">
                  <a:lumMod val="85000"/>
                  <a:lumOff val="15000"/>
                </a:prstClr>
              </a:solidFill>
            </a:endParaRPr>
          </a:p>
          <a:p>
            <a:pPr marL="0" lvl="0" indent="0">
              <a:buClr>
                <a:srgbClr val="83992A"/>
              </a:buClr>
              <a:buNone/>
            </a:pPr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  <a:p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42983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Beneficence...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Case two:</a:t>
            </a:r>
          </a:p>
          <a:p>
            <a:pPr marL="0" indent="0">
              <a:buNone/>
            </a:pPr>
            <a:r>
              <a:rPr lang="en-US" dirty="0" smtClean="0"/>
              <a:t>Please read and discuss the case scenario on participants’ manual 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7183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Non-maleficence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Non-maleficence </a:t>
            </a:r>
            <a:r>
              <a:rPr lang="en-US" dirty="0"/>
              <a:t>refers to “avoid doing </a:t>
            </a:r>
            <a:r>
              <a:rPr lang="en-US" dirty="0" smtClean="0"/>
              <a:t>harm”, which can occur by  omitting </a:t>
            </a:r>
            <a:r>
              <a:rPr lang="en-US" dirty="0"/>
              <a:t>or committing </a:t>
            </a:r>
            <a:r>
              <a:rPr lang="en-US" dirty="0" smtClean="0"/>
              <a:t>the care.  </a:t>
            </a:r>
          </a:p>
          <a:p>
            <a:r>
              <a:rPr lang="en-US" dirty="0" smtClean="0"/>
              <a:t>Always, benefit has to weigh over harm 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3766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1030778"/>
            <a:ext cx="6798734" cy="899194"/>
          </a:xfrm>
        </p:spPr>
        <p:txBody>
          <a:bodyPr/>
          <a:lstStyle/>
          <a:p>
            <a:r>
              <a:rPr lang="en-US" dirty="0" smtClean="0"/>
              <a:t>Non-maleficence…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2760" y="2490135"/>
            <a:ext cx="7735802" cy="374979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3500" b="1" dirty="0" smtClean="0"/>
              <a:t>Examples</a:t>
            </a:r>
            <a:r>
              <a:rPr lang="en-US" sz="3500" dirty="0" smtClean="0"/>
              <a:t>:</a:t>
            </a:r>
          </a:p>
          <a:p>
            <a:r>
              <a:rPr lang="en-US" sz="3900" dirty="0" smtClean="0"/>
              <a:t>Nurse who carelessly delays patient’s medication.</a:t>
            </a:r>
          </a:p>
          <a:p>
            <a:r>
              <a:rPr lang="en-US" sz="3900" dirty="0" smtClean="0"/>
              <a:t>Laboratory technologist who carelessly does and  report wrong results.</a:t>
            </a:r>
          </a:p>
          <a:p>
            <a:r>
              <a:rPr lang="en-US" sz="3900" dirty="0" smtClean="0"/>
              <a:t>Finance manager who carelessly delays the procurement of drugs and equipment.  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lvl="0" indent="0">
              <a:buNone/>
            </a:pP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CH-I-</a:t>
            </a:r>
            <a:fld id="{3FB30F3C-053D-864C-B962-F2E761156877}" type="slidenum">
              <a:rPr lang="en-US" altLang="en-US" smtClean="0">
                <a:solidFill>
                  <a:prstClr val="black"/>
                </a:solidFill>
              </a:rPr>
              <a:pPr/>
              <a:t>20</a:t>
            </a:fld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29645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Justice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lvl="0">
              <a:buClr>
                <a:srgbClr val="83992A"/>
              </a:buClr>
            </a:pPr>
            <a:r>
              <a:rPr lang="en-US" sz="4600" dirty="0" smtClean="0">
                <a:solidFill>
                  <a:prstClr val="black">
                    <a:lumMod val="85000"/>
                    <a:lumOff val="15000"/>
                  </a:prstClr>
                </a:solidFill>
              </a:rPr>
              <a:t>Justice is fair handling and similar standard of care for similar case; fair and equitable resource distribution among citizens.</a:t>
            </a:r>
          </a:p>
          <a:p>
            <a:pPr lvl="0">
              <a:buClr>
                <a:srgbClr val="83992A"/>
              </a:buClr>
            </a:pPr>
            <a:r>
              <a:rPr lang="en-US" sz="4600" dirty="0" smtClean="0">
                <a:solidFill>
                  <a:prstClr val="black">
                    <a:lumMod val="85000"/>
                    <a:lumOff val="15000"/>
                  </a:prstClr>
                </a:solidFill>
              </a:rPr>
              <a:t>Regardless of gender, educational, income or any other personal background. </a:t>
            </a:r>
          </a:p>
          <a:p>
            <a:pPr marL="0" lvl="0" indent="0">
              <a:buClr>
                <a:srgbClr val="83992A"/>
              </a:buClr>
              <a:buNone/>
            </a:pPr>
            <a:r>
              <a:rPr lang="en-US" dirty="0" smtClean="0">
                <a:solidFill>
                  <a:prstClr val="black">
                    <a:lumMod val="85000"/>
                    <a:lumOff val="15000"/>
                  </a:prstClr>
                </a:solidFill>
              </a:rPr>
              <a:t> 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99095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Justice…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Please read examples on the participant manual and discuss</a:t>
            </a:r>
          </a:p>
          <a:p>
            <a:r>
              <a:rPr lang="en-US" dirty="0" smtClean="0"/>
              <a:t>Case study: Refer the manual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13988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  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are the main principles of health care ethics?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89511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3600" dirty="0" smtClean="0"/>
          </a:p>
          <a:p>
            <a:pPr marL="0" indent="0">
              <a:buNone/>
            </a:pPr>
            <a:r>
              <a:rPr lang="en-US" sz="3600" dirty="0" smtClean="0"/>
              <a:t>Thank you</a:t>
            </a:r>
            <a:r>
              <a:rPr lang="en-US" sz="4000" dirty="0" smtClean="0"/>
              <a:t> </a:t>
            </a:r>
            <a:r>
              <a:rPr lang="en-US" sz="3600" dirty="0" smtClean="0"/>
              <a:t>for you participation!</a:t>
            </a:r>
            <a:endParaRPr lang="en-US" sz="3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5889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356" y="2471847"/>
            <a:ext cx="8082181" cy="3444997"/>
          </a:xfrm>
        </p:spPr>
        <p:txBody>
          <a:bodyPr>
            <a:normAutofit fontScale="62500" lnSpcReduction="20000"/>
          </a:bodyPr>
          <a:lstStyle/>
          <a:p>
            <a:pPr algn="ctr"/>
            <a:endParaRPr lang="en-US" sz="4400" dirty="0" smtClean="0"/>
          </a:p>
          <a:p>
            <a:pPr marL="0" indent="0" algn="ctr">
              <a:buNone/>
            </a:pPr>
            <a:r>
              <a:rPr lang="en-US" sz="6400" b="1" dirty="0" smtClean="0"/>
              <a:t>Session 2.2 </a:t>
            </a:r>
          </a:p>
          <a:p>
            <a:pPr marL="0" indent="0" algn="ctr">
              <a:buNone/>
            </a:pPr>
            <a:endParaRPr lang="en-US" sz="4400" b="1" dirty="0" smtClean="0"/>
          </a:p>
          <a:p>
            <a:pPr marL="0" indent="0" algn="ctr">
              <a:buNone/>
            </a:pPr>
            <a:r>
              <a:rPr lang="en-US" sz="5100" b="1" dirty="0" smtClean="0"/>
              <a:t>Confidentiality and Informed consent</a:t>
            </a:r>
          </a:p>
          <a:p>
            <a:pPr marL="0" indent="0" algn="ctr">
              <a:buNone/>
            </a:pPr>
            <a:r>
              <a:rPr lang="en-US" sz="5100" b="1" dirty="0" smtClean="0"/>
              <a:t> </a:t>
            </a:r>
            <a:endParaRPr lang="en-US" sz="5100" b="1" dirty="0"/>
          </a:p>
          <a:p>
            <a:pPr algn="ctr"/>
            <a:endParaRPr lang="en-US" sz="4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CH-I-</a:t>
            </a:r>
            <a:fld id="{3FB30F3C-053D-864C-B962-F2E761156877}" type="slidenum">
              <a:rPr lang="en-US" altLang="en-US" smtClean="0">
                <a:solidFill>
                  <a:prstClr val="black"/>
                </a:solidFill>
              </a:rPr>
              <a:pPr/>
              <a:t>25</a:t>
            </a:fld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61607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Session objectives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Describe </a:t>
            </a:r>
            <a:r>
              <a:rPr lang="en-US" dirty="0"/>
              <a:t>confidentiality and informed </a:t>
            </a:r>
            <a:r>
              <a:rPr lang="en-US" dirty="0" smtClean="0"/>
              <a:t>consent</a:t>
            </a:r>
            <a:endParaRPr lang="en-US" dirty="0"/>
          </a:p>
          <a:p>
            <a:r>
              <a:rPr lang="en-US" dirty="0" smtClean="0"/>
              <a:t>Practice </a:t>
            </a:r>
            <a:r>
              <a:rPr lang="en-US" dirty="0"/>
              <a:t>confidentiality and informed consent in </a:t>
            </a:r>
            <a:r>
              <a:rPr lang="en-US" dirty="0" smtClean="0"/>
              <a:t>the healthcare 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67909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</a:t>
            </a:r>
            <a:r>
              <a:rPr lang="en-US" b="1" dirty="0" smtClean="0"/>
              <a:t>CONFIDENTIALITY </a:t>
            </a:r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3421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Confidentiality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Confidentiality refers to the privacy </a:t>
            </a:r>
            <a:r>
              <a:rPr lang="en-US" dirty="0"/>
              <a:t>of </a:t>
            </a:r>
            <a:r>
              <a:rPr lang="en-US" dirty="0" smtClean="0"/>
              <a:t>patient’s information</a:t>
            </a:r>
          </a:p>
          <a:p>
            <a:r>
              <a:rPr lang="en-US" dirty="0"/>
              <a:t>E</a:t>
            </a:r>
            <a:r>
              <a:rPr lang="en-US" dirty="0" smtClean="0"/>
              <a:t>nsures </a:t>
            </a:r>
            <a:r>
              <a:rPr lang="en-US" dirty="0"/>
              <a:t>patient’s </a:t>
            </a:r>
            <a:r>
              <a:rPr lang="en-US" dirty="0" smtClean="0"/>
              <a:t>respect.</a:t>
            </a:r>
          </a:p>
          <a:p>
            <a:r>
              <a:rPr lang="en-US" dirty="0" smtClean="0"/>
              <a:t> </a:t>
            </a:r>
            <a:r>
              <a:rPr lang="en-US" dirty="0"/>
              <a:t>T</a:t>
            </a:r>
            <a:r>
              <a:rPr lang="en-US" dirty="0" smtClean="0"/>
              <a:t>he </a:t>
            </a:r>
            <a:r>
              <a:rPr lang="en-US" dirty="0"/>
              <a:t>autonomy of </a:t>
            </a:r>
            <a:r>
              <a:rPr lang="en-US" dirty="0" smtClean="0"/>
              <a:t>patient.</a:t>
            </a:r>
          </a:p>
          <a:p>
            <a:r>
              <a:rPr lang="en-US" dirty="0"/>
              <a:t>T</a:t>
            </a:r>
            <a:r>
              <a:rPr lang="en-US" dirty="0" smtClean="0"/>
              <a:t>rustful relationship with patient.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5976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Confidentiality…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u="sng" dirty="0" smtClean="0"/>
              <a:t>All identifiable information about:</a:t>
            </a:r>
          </a:p>
          <a:p>
            <a:r>
              <a:rPr lang="en-US" sz="3000" dirty="0" smtClean="0"/>
              <a:t>A patient’s health status, </a:t>
            </a:r>
          </a:p>
          <a:p>
            <a:r>
              <a:rPr lang="en-US" sz="3000" dirty="0" smtClean="0"/>
              <a:t>Medical condition,</a:t>
            </a:r>
          </a:p>
          <a:p>
            <a:r>
              <a:rPr lang="en-US" sz="3000" dirty="0" smtClean="0"/>
              <a:t>Diagnosis, prognosis and treatment</a:t>
            </a:r>
          </a:p>
          <a:p>
            <a:r>
              <a:rPr lang="en-US" sz="3000" dirty="0" smtClean="0"/>
              <a:t> All information's of a personal kind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dirty="0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4668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Confidentiality 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u="sng" dirty="0"/>
              <a:t>Exception to maintain </a:t>
            </a:r>
            <a:r>
              <a:rPr lang="en-US" u="sng" dirty="0" smtClean="0"/>
              <a:t>confidentiality:</a:t>
            </a:r>
          </a:p>
          <a:p>
            <a:pPr lvl="1"/>
            <a:r>
              <a:rPr lang="en-US" dirty="0" smtClean="0"/>
              <a:t>In health institutions</a:t>
            </a:r>
          </a:p>
          <a:p>
            <a:pPr lvl="1"/>
            <a:r>
              <a:rPr lang="en-US" dirty="0" smtClean="0"/>
              <a:t>Inform the family members of a deceased person about the cause of death</a:t>
            </a:r>
          </a:p>
          <a:p>
            <a:pPr lvl="1"/>
            <a:r>
              <a:rPr lang="en-US" dirty="0" smtClean="0"/>
              <a:t>Jurisdiction related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Confidentiality…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Case three</a:t>
            </a:r>
          </a:p>
          <a:p>
            <a:r>
              <a:rPr lang="en-US" dirty="0" smtClean="0"/>
              <a:t>Please read and discuss case scenario on participant manual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528461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Confidentiality…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Confidentiality </a:t>
            </a:r>
            <a:r>
              <a:rPr lang="en-US" b="1" dirty="0"/>
              <a:t>r</a:t>
            </a:r>
            <a:r>
              <a:rPr lang="en-US" b="1" dirty="0" smtClean="0"/>
              <a:t>elated law</a:t>
            </a:r>
          </a:p>
          <a:p>
            <a:pPr marL="0" indent="0">
              <a:buNone/>
            </a:pPr>
            <a:r>
              <a:rPr lang="en-US" dirty="0" smtClean="0"/>
              <a:t>Please read and discuss the FMHACA-Council of Ministers Regulation No 299/2013, Article 77-professional confidentiality on participant manual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dirty="0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974569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   </a:t>
            </a:r>
            <a:r>
              <a:rPr lang="en-US" b="1" dirty="0" smtClean="0"/>
              <a:t> INFORMED CONSENT</a:t>
            </a:r>
            <a:endParaRPr lang="en-GB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45911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Informed consent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Informed consent </a:t>
            </a:r>
            <a:r>
              <a:rPr lang="en-US" dirty="0" smtClean="0"/>
              <a:t>refers to </a:t>
            </a:r>
            <a:r>
              <a:rPr lang="en-US" dirty="0"/>
              <a:t>legal document whereby a patient signs in </a:t>
            </a:r>
            <a:r>
              <a:rPr lang="en-US" dirty="0" smtClean="0"/>
              <a:t>writing before he/she </a:t>
            </a:r>
            <a:r>
              <a:rPr lang="en-US" dirty="0"/>
              <a:t>receives the care intended. </a:t>
            </a:r>
            <a:endParaRPr lang="en-US" dirty="0" smtClean="0"/>
          </a:p>
          <a:p>
            <a:r>
              <a:rPr lang="en-US" dirty="0" smtClean="0"/>
              <a:t>The document with complete </a:t>
            </a:r>
            <a:r>
              <a:rPr lang="en-US" dirty="0"/>
              <a:t>information about the purpose, benefits, risks and other </a:t>
            </a:r>
            <a:r>
              <a:rPr lang="en-US" dirty="0" smtClean="0"/>
              <a:t>alternatives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83129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Informed consent…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Informed </a:t>
            </a:r>
            <a:r>
              <a:rPr lang="en-US" dirty="0" smtClean="0"/>
              <a:t>consent </a:t>
            </a:r>
            <a:r>
              <a:rPr lang="en-US" dirty="0"/>
              <a:t>is a body of shared </a:t>
            </a:r>
            <a:r>
              <a:rPr lang="en-US" dirty="0" smtClean="0"/>
              <a:t>decision-making process; </a:t>
            </a:r>
            <a:r>
              <a:rPr lang="en-US" dirty="0"/>
              <a:t>not just an agreement.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57042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Informed consent---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For consent to be valid, it must be: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Voluntarily: by the person themselves, free of influence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Informed: given all the necessary information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Capacity: person must be capable of giving the consent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2129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Informed Consent--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 smtClean="0"/>
              <a:t>Informed consent has to be taken</a:t>
            </a:r>
          </a:p>
          <a:p>
            <a:r>
              <a:rPr lang="en-US" dirty="0" smtClean="0"/>
              <a:t>After adequate &amp; clear communication </a:t>
            </a:r>
          </a:p>
          <a:p>
            <a:r>
              <a:rPr lang="en-US" dirty="0" smtClean="0"/>
              <a:t>Before any medical treatment  </a:t>
            </a:r>
          </a:p>
          <a:p>
            <a:r>
              <a:rPr lang="en-US" dirty="0" smtClean="0"/>
              <a:t>Timing: when </a:t>
            </a:r>
            <a:r>
              <a:rPr lang="en-US" dirty="0"/>
              <a:t>the patient is best able to understand and retain the </a:t>
            </a:r>
            <a:r>
              <a:rPr lang="en-US" dirty="0" smtClean="0"/>
              <a:t>information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44202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Informed consent…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3500" dirty="0"/>
              <a:t>Professional has to know his/her level of practice and responsibility </a:t>
            </a:r>
          </a:p>
          <a:p>
            <a:r>
              <a:rPr lang="en-US" sz="3500" dirty="0"/>
              <a:t>Handle appropriately when patient is incompetent to make a decision</a:t>
            </a:r>
          </a:p>
          <a:p>
            <a:r>
              <a:rPr lang="en-US" sz="3500" dirty="0" smtClean="0"/>
              <a:t>Respect </a:t>
            </a:r>
            <a:r>
              <a:rPr lang="en-US" sz="3500" dirty="0"/>
              <a:t>patient’s decision to refuse treatment </a:t>
            </a:r>
            <a:r>
              <a:rPr lang="en-US" sz="3500" dirty="0" smtClean="0"/>
              <a:t>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5976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 Informed consent 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/>
              <a:t>Informed consent related law</a:t>
            </a:r>
          </a:p>
          <a:p>
            <a:pPr>
              <a:buNone/>
            </a:pPr>
            <a:r>
              <a:rPr lang="en-US" dirty="0" smtClean="0"/>
              <a:t>Please read and discuss EFMHACA-</a:t>
            </a:r>
            <a:r>
              <a:rPr lang="en-US" dirty="0" err="1" smtClean="0"/>
              <a:t>CoM</a:t>
            </a:r>
            <a:r>
              <a:rPr lang="en-US" dirty="0" smtClean="0"/>
              <a:t> regulation NO- 299/2013, Article 52 on participant manual  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74072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Informed consent and confidentiality…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Case study 2</a:t>
            </a:r>
          </a:p>
          <a:p>
            <a:pPr marL="0" indent="0">
              <a:buNone/>
            </a:pPr>
            <a:r>
              <a:rPr lang="en-US" dirty="0" smtClean="0"/>
              <a:t>Please read and discuss the case study on the participant manual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426490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is informed consent?</a:t>
            </a:r>
          </a:p>
          <a:p>
            <a:r>
              <a:rPr lang="en-US" dirty="0" smtClean="0"/>
              <a:t>What are the necessary conditions for informed consent to be valid ?</a:t>
            </a:r>
          </a:p>
          <a:p>
            <a:r>
              <a:rPr lang="en-US" dirty="0" smtClean="0"/>
              <a:t>Do we always need informed consent?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845191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3600" dirty="0" smtClean="0"/>
          </a:p>
          <a:p>
            <a:pPr marL="0" indent="0">
              <a:buNone/>
            </a:pPr>
            <a:r>
              <a:rPr lang="en-US" sz="3600" dirty="0" smtClean="0"/>
              <a:t>Thank you for your participation!</a:t>
            </a:r>
            <a:endParaRPr lang="en-US" sz="3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16806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Session 2.3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sz="3600" b="1" dirty="0" smtClean="0"/>
              <a:t>Preventive </a:t>
            </a:r>
            <a:r>
              <a:rPr lang="en-US" sz="3600" b="1" dirty="0"/>
              <a:t>ethics in the aspect of CRC</a:t>
            </a:r>
          </a:p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8222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1030778"/>
            <a:ext cx="6798734" cy="899622"/>
          </a:xfrm>
        </p:spPr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Session objectives</a:t>
            </a:r>
            <a:r>
              <a:rPr lang="en-US" dirty="0"/>
              <a:t>: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0100" y="1930401"/>
            <a:ext cx="7632700" cy="400473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At </a:t>
            </a:r>
            <a:r>
              <a:rPr lang="en-US" b="1" dirty="0"/>
              <a:t>the end of this session participants will be able to </a:t>
            </a:r>
          </a:p>
          <a:p>
            <a:pPr lvl="0">
              <a:buFont typeface="Wingdings" charset="2"/>
              <a:buChar char="q"/>
            </a:pPr>
            <a:endParaRPr lang="en-US" b="1" dirty="0" smtClean="0"/>
          </a:p>
          <a:p>
            <a:pPr marL="514350" lvl="0" indent="-514350">
              <a:buFont typeface="+mj-lt"/>
              <a:buAutoNum type="arabicPeriod"/>
            </a:pPr>
            <a:r>
              <a:rPr lang="en-US" dirty="0" smtClean="0"/>
              <a:t>Explain </a:t>
            </a:r>
            <a:r>
              <a:rPr lang="en-US" dirty="0"/>
              <a:t>preventive ethics and its relevance for CRC and quality of </a:t>
            </a:r>
            <a:r>
              <a:rPr lang="en-US" dirty="0" smtClean="0"/>
              <a:t>care.</a:t>
            </a:r>
            <a:endParaRPr lang="en-US" dirty="0"/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Identify ethical dilemmas and apply </a:t>
            </a:r>
            <a:r>
              <a:rPr lang="en-US" dirty="0" smtClean="0"/>
              <a:t>systematic ethical </a:t>
            </a:r>
            <a:r>
              <a:rPr lang="en-US" dirty="0"/>
              <a:t>case </a:t>
            </a:r>
            <a:r>
              <a:rPr lang="en-US" dirty="0" smtClean="0"/>
              <a:t>analysis.</a:t>
            </a:r>
            <a:endParaRPr lang="en-US" dirty="0"/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Explain healthcare priority setting/rationing to handle resource scarcity </a:t>
            </a:r>
            <a:r>
              <a:rPr lang="en-US" dirty="0" smtClean="0"/>
              <a:t>issues.</a:t>
            </a:r>
            <a:endParaRPr lang="en-US" dirty="0"/>
          </a:p>
          <a:p>
            <a:pPr marL="514350" lvl="0" indent="-514350">
              <a:buFont typeface="+mj-lt"/>
              <a:buAutoNum type="arabicPeriod"/>
            </a:pPr>
            <a:r>
              <a:rPr lang="en-US" dirty="0"/>
              <a:t>Identify practical support mechanisms for the implementation of preventive </a:t>
            </a:r>
            <a:r>
              <a:rPr lang="en-US" dirty="0" smtClean="0"/>
              <a:t>ethics. </a:t>
            </a:r>
            <a:endParaRPr lang="en-US" dirty="0"/>
          </a:p>
          <a:p>
            <a:pPr>
              <a:buFont typeface="Wingdings" charset="2"/>
              <a:buChar char="q"/>
            </a:pPr>
            <a:endParaRPr lang="en-US" b="1" dirty="0"/>
          </a:p>
          <a:p>
            <a:pPr>
              <a:buFont typeface="Wingdings" charset="2"/>
              <a:buChar char="q"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dirty="0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dirty="0" smtClean="0">
                <a:solidFill>
                  <a:prstClr val="black"/>
                </a:solidFill>
              </a:rPr>
              <a:t>CH-I-</a:t>
            </a:r>
            <a:fld id="{3FB30F3C-053D-864C-B962-F2E761156877}" type="slidenum">
              <a:rPr lang="en-US" altLang="en-US" smtClean="0">
                <a:solidFill>
                  <a:prstClr val="black"/>
                </a:solidFill>
              </a:rPr>
              <a:pPr/>
              <a:t>44</a:t>
            </a:fld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9463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Preventive ethics…</a:t>
            </a:r>
            <a:br>
              <a:rPr lang="en-US" dirty="0" smtClean="0"/>
            </a:b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8500" y="2490135"/>
            <a:ext cx="8026400" cy="34449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Definition </a:t>
            </a:r>
          </a:p>
          <a:p>
            <a:r>
              <a:rPr lang="en-US" dirty="0" smtClean="0"/>
              <a:t>Preventive </a:t>
            </a:r>
            <a:r>
              <a:rPr lang="en-US" dirty="0"/>
              <a:t>ethics is a </a:t>
            </a:r>
            <a:r>
              <a:rPr lang="en-US" u="sng" dirty="0"/>
              <a:t>systematic application </a:t>
            </a:r>
            <a:r>
              <a:rPr lang="en-US" dirty="0"/>
              <a:t>of </a:t>
            </a:r>
            <a:r>
              <a:rPr lang="en-US" i="1" dirty="0"/>
              <a:t>ethical principles and values </a:t>
            </a:r>
            <a:r>
              <a:rPr lang="en-US" dirty="0"/>
              <a:t>to </a:t>
            </a:r>
            <a:r>
              <a:rPr lang="en-US" dirty="0" smtClean="0"/>
              <a:t>identify and handle </a:t>
            </a:r>
            <a:r>
              <a:rPr lang="en-US" i="1" dirty="0"/>
              <a:t>ethical dilemmas, challenges</a:t>
            </a:r>
            <a:r>
              <a:rPr lang="en-US" i="1" u="sng" dirty="0"/>
              <a:t> </a:t>
            </a:r>
            <a:r>
              <a:rPr lang="en-US" i="1" dirty="0"/>
              <a:t>and errors</a:t>
            </a:r>
            <a:r>
              <a:rPr lang="en-US" dirty="0"/>
              <a:t> </a:t>
            </a:r>
            <a:r>
              <a:rPr lang="en-US" dirty="0" smtClean="0"/>
              <a:t>appropriately </a:t>
            </a:r>
            <a:r>
              <a:rPr lang="en-US" dirty="0"/>
              <a:t>and </a:t>
            </a:r>
            <a:r>
              <a:rPr lang="en-US" dirty="0" smtClean="0"/>
              <a:t>fairly.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dirty="0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dirty="0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2958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Preventive ethics…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 smtClean="0"/>
              <a:t> Why PE in CRC-model healthcare </a:t>
            </a:r>
            <a:endParaRPr lang="en-US" b="1" dirty="0"/>
          </a:p>
          <a:p>
            <a:r>
              <a:rPr lang="en-US" dirty="0" smtClean="0"/>
              <a:t>Engages health </a:t>
            </a:r>
            <a:r>
              <a:rPr lang="en-US" dirty="0"/>
              <a:t>workforce, </a:t>
            </a:r>
            <a:r>
              <a:rPr lang="en-US" dirty="0" smtClean="0"/>
              <a:t>patients/families </a:t>
            </a:r>
            <a:r>
              <a:rPr lang="en-US" dirty="0"/>
              <a:t>and the community at large </a:t>
            </a:r>
            <a:r>
              <a:rPr lang="en-US" dirty="0" smtClean="0"/>
              <a:t> </a:t>
            </a:r>
          </a:p>
          <a:p>
            <a:r>
              <a:rPr lang="en-US" dirty="0"/>
              <a:t> </a:t>
            </a:r>
            <a:r>
              <a:rPr lang="en-US" dirty="0" smtClean="0"/>
              <a:t>Thus, enhances </a:t>
            </a:r>
            <a:r>
              <a:rPr lang="en-US" dirty="0"/>
              <a:t>honesty and transparency </a:t>
            </a:r>
            <a:r>
              <a:rPr lang="en-US" dirty="0" smtClean="0"/>
              <a:t>among stakeholders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6337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Preventive ethics…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12800" dirty="0" smtClean="0"/>
              <a:t>PE activities can be carried out by individuals or a group on behalf of healthcare organization.</a:t>
            </a:r>
          </a:p>
          <a:p>
            <a:r>
              <a:rPr lang="en-US" sz="12800" dirty="0" smtClean="0"/>
              <a:t>Step-by-step analyze and identifies the ethical quality gap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3254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Preventive ethics…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lr>
                <a:srgbClr val="83992A"/>
              </a:buClr>
            </a:pPr>
            <a:r>
              <a:rPr lang="en-US" dirty="0" smtClean="0">
                <a:solidFill>
                  <a:prstClr val="black">
                    <a:lumMod val="85000"/>
                    <a:lumOff val="15000"/>
                  </a:prstClr>
                </a:solidFill>
              </a:rPr>
              <a:t> P</a:t>
            </a:r>
            <a:r>
              <a:rPr lang="en-US" dirty="0" smtClean="0">
                <a:solidFill>
                  <a:prstClr val="black">
                    <a:lumMod val="85000"/>
                    <a:lumOff val="15000"/>
                  </a:prstClr>
                </a:solidFill>
                <a:ea typeface="MS Mincho"/>
              </a:rPr>
              <a:t>redict</a:t>
            </a:r>
            <a:r>
              <a:rPr lang="en-US" dirty="0">
                <a:solidFill>
                  <a:prstClr val="black">
                    <a:lumMod val="85000"/>
                    <a:lumOff val="15000"/>
                  </a:prstClr>
                </a:solidFill>
                <a:ea typeface="MS Mincho"/>
              </a:rPr>
              <a:t>, identify, </a:t>
            </a:r>
            <a:r>
              <a:rPr lang="en-US" dirty="0" smtClean="0">
                <a:solidFill>
                  <a:prstClr val="black">
                    <a:lumMod val="85000"/>
                    <a:lumOff val="15000"/>
                  </a:prstClr>
                </a:solidFill>
                <a:ea typeface="MS Mincho"/>
              </a:rPr>
              <a:t>analyze, synthesize </a:t>
            </a:r>
            <a:r>
              <a:rPr lang="en-US" dirty="0">
                <a:solidFill>
                  <a:prstClr val="black">
                    <a:lumMod val="85000"/>
                    <a:lumOff val="15000"/>
                  </a:prstClr>
                </a:solidFill>
                <a:ea typeface="MS Mincho"/>
              </a:rPr>
              <a:t>and manage ethical dilemmas, challenges and errors</a:t>
            </a:r>
            <a:endParaRPr lang="en-US" dirty="0">
              <a:solidFill>
                <a:prstClr val="black">
                  <a:lumMod val="85000"/>
                  <a:lumOff val="15000"/>
                </a:prstClr>
              </a:solidFill>
            </a:endParaRP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121257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Preventive ethics…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u="sng" dirty="0" smtClean="0"/>
              <a:t>Support mechanism for PE</a:t>
            </a:r>
          </a:p>
          <a:p>
            <a:pPr marL="0" indent="0">
              <a:buNone/>
            </a:pPr>
            <a:r>
              <a:rPr lang="en-GB" dirty="0" smtClean="0"/>
              <a:t>1. Develop </a:t>
            </a:r>
            <a:r>
              <a:rPr lang="en-GB" dirty="0"/>
              <a:t>functional </a:t>
            </a:r>
            <a:r>
              <a:rPr lang="en-GB" dirty="0" smtClean="0"/>
              <a:t>tools, documentation</a:t>
            </a:r>
            <a:r>
              <a:rPr lang="en-GB" dirty="0"/>
              <a:t>, case banks, research, monitoring and evaluation system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37779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Preventive ethics…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2. Educate to build </a:t>
            </a:r>
            <a:r>
              <a:rPr lang="en-US" b="1" dirty="0"/>
              <a:t>capacities and capabilities </a:t>
            </a:r>
          </a:p>
          <a:p>
            <a:r>
              <a:rPr lang="en-US" dirty="0"/>
              <a:t>Knowledge, skills and </a:t>
            </a:r>
            <a:r>
              <a:rPr lang="en-US" dirty="0" smtClean="0"/>
              <a:t>attitude</a:t>
            </a:r>
          </a:p>
          <a:p>
            <a:r>
              <a:rPr lang="en-US" dirty="0" smtClean="0"/>
              <a:t>Teaching </a:t>
            </a:r>
            <a:r>
              <a:rPr lang="en-US" dirty="0"/>
              <a:t>health care ethics (at pre and in-service training</a:t>
            </a:r>
            <a:r>
              <a:rPr lang="en-US" dirty="0" smtClean="0"/>
              <a:t>) </a:t>
            </a:r>
            <a:r>
              <a:rPr lang="en-US" dirty="0"/>
              <a:t>tools to handle ethical </a:t>
            </a:r>
            <a:r>
              <a:rPr lang="en-US" dirty="0" smtClean="0"/>
              <a:t>dilemmas</a:t>
            </a:r>
          </a:p>
          <a:p>
            <a:r>
              <a:rPr lang="en-US" dirty="0" smtClean="0"/>
              <a:t>Evidence </a:t>
            </a:r>
            <a:r>
              <a:rPr lang="en-US" dirty="0"/>
              <a:t>generation and </a:t>
            </a:r>
            <a:r>
              <a:rPr lang="en-US" dirty="0" smtClean="0"/>
              <a:t>use 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68346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Preventive ethics…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4100" b="1" dirty="0" smtClean="0"/>
              <a:t>3. Ethical consultation</a:t>
            </a:r>
          </a:p>
          <a:p>
            <a:pPr marL="0" indent="0">
              <a:buNone/>
            </a:pPr>
            <a:r>
              <a:rPr lang="en-US" b="1" dirty="0" smtClean="0"/>
              <a:t>Definition</a:t>
            </a:r>
            <a:r>
              <a:rPr lang="en-US" b="1" dirty="0"/>
              <a:t>: </a:t>
            </a:r>
          </a:p>
          <a:p>
            <a:r>
              <a:rPr lang="en-US" dirty="0"/>
              <a:t>A service provided by an individual or group to help patients, families, surrogates, health care providers, or other involved parties.</a:t>
            </a:r>
          </a:p>
          <a:p>
            <a:r>
              <a:rPr lang="en-US" dirty="0"/>
              <a:t>It address uncertainty or conflict regarding value laden issues that emerge in health care.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dirty="0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366915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Preventive ethics…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Ethical consultation goal</a:t>
            </a:r>
          </a:p>
          <a:p>
            <a:r>
              <a:rPr lang="en-US" dirty="0" smtClean="0"/>
              <a:t>To </a:t>
            </a:r>
            <a:r>
              <a:rPr lang="en-US" dirty="0"/>
              <a:t>maximize benefit and minimize harm to patients, families, professionals and </a:t>
            </a:r>
            <a:r>
              <a:rPr lang="en-US" dirty="0" smtClean="0"/>
              <a:t>institutions.</a:t>
            </a:r>
          </a:p>
          <a:p>
            <a:r>
              <a:rPr lang="en-US" dirty="0" smtClean="0"/>
              <a:t>Fostering </a:t>
            </a:r>
            <a:r>
              <a:rPr lang="en-US" dirty="0"/>
              <a:t>a fair and inclusive decision making process.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770120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Preventive ethics…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Ethical consultation goal…</a:t>
            </a:r>
          </a:p>
          <a:p>
            <a:r>
              <a:rPr lang="en-US" dirty="0" smtClean="0"/>
              <a:t>To </a:t>
            </a:r>
            <a:r>
              <a:rPr lang="en-US" dirty="0"/>
              <a:t>facilitate resolution of conflicts in a respectful atmosphere with attention to the interests, rights, and responsibilities of those </a:t>
            </a:r>
            <a:r>
              <a:rPr lang="en-US" dirty="0" smtClean="0"/>
              <a:t>involved</a:t>
            </a:r>
          </a:p>
          <a:p>
            <a:r>
              <a:rPr lang="en-US" dirty="0" smtClean="0"/>
              <a:t>To </a:t>
            </a:r>
            <a:r>
              <a:rPr lang="en-US" dirty="0"/>
              <a:t>enable the health workforce in charge to make final evidence base decisions.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148049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Preventive ethics…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 smtClean="0"/>
              <a:t>How do we organize for ethical consultation committee?</a:t>
            </a:r>
            <a:endParaRPr lang="en-US" b="1" dirty="0"/>
          </a:p>
          <a:p>
            <a:r>
              <a:rPr lang="en-US" dirty="0"/>
              <a:t>Include representative of various constituencies in your </a:t>
            </a:r>
            <a:r>
              <a:rPr lang="en-US" dirty="0" smtClean="0"/>
              <a:t>institution.</a:t>
            </a:r>
          </a:p>
          <a:p>
            <a:r>
              <a:rPr lang="en-US" dirty="0" smtClean="0"/>
              <a:t>Include </a:t>
            </a:r>
            <a:r>
              <a:rPr lang="en-US" dirty="0"/>
              <a:t>outside members – community representatives.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713904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Preventive ethics…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500" b="1" dirty="0"/>
              <a:t>Ethical dilemmas </a:t>
            </a:r>
            <a:endParaRPr lang="en-US" sz="3500" b="1" dirty="0" smtClean="0"/>
          </a:p>
          <a:p>
            <a:pPr marL="0" indent="0">
              <a:buNone/>
            </a:pPr>
            <a:r>
              <a:rPr lang="en-US" b="1" dirty="0" smtClean="0"/>
              <a:t>Definition</a:t>
            </a:r>
          </a:p>
          <a:p>
            <a:r>
              <a:rPr lang="en-US" dirty="0" smtClean="0"/>
              <a:t>Ethical dilemmas </a:t>
            </a:r>
            <a:r>
              <a:rPr lang="en-US" dirty="0"/>
              <a:t>arise when principles cannot be respected and people disagree on what the best solution is; as legitimate solutions philosophically or practically.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489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Ethical dilemmas…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 smtClean="0"/>
              <a:t>Ethical dilemmas encounter in:</a:t>
            </a:r>
          </a:p>
          <a:p>
            <a:r>
              <a:rPr lang="en-US" dirty="0" smtClean="0"/>
              <a:t>Resource scarcity </a:t>
            </a:r>
          </a:p>
          <a:p>
            <a:r>
              <a:rPr lang="en-US" dirty="0" smtClean="0"/>
              <a:t>Refusal of treatment </a:t>
            </a:r>
          </a:p>
          <a:p>
            <a:r>
              <a:rPr lang="en-US" dirty="0" smtClean="0"/>
              <a:t>Disclosure </a:t>
            </a:r>
            <a:r>
              <a:rPr lang="en-US" dirty="0"/>
              <a:t>and </a:t>
            </a:r>
            <a:r>
              <a:rPr lang="en-US" dirty="0" smtClean="0"/>
              <a:t>truth telling </a:t>
            </a:r>
          </a:p>
          <a:p>
            <a:r>
              <a:rPr lang="en-US" dirty="0" smtClean="0"/>
              <a:t>End </a:t>
            </a:r>
            <a:r>
              <a:rPr lang="en-US" dirty="0"/>
              <a:t>of Life </a:t>
            </a:r>
            <a:r>
              <a:rPr lang="en-US" dirty="0" smtClean="0"/>
              <a:t>dilemma</a:t>
            </a:r>
          </a:p>
          <a:p>
            <a:r>
              <a:rPr lang="en-US" dirty="0" smtClean="0"/>
              <a:t>Disagreement/conflict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dirty="0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510311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Preventive ethics…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Ethical dilemmas step-by-step analysis</a:t>
            </a:r>
          </a:p>
          <a:p>
            <a:r>
              <a:rPr lang="en-US" dirty="0" smtClean="0"/>
              <a:t>Please read on the participant manual and discuss.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344602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smtClean="0"/>
              <a:t>Preventive </a:t>
            </a:r>
            <a:r>
              <a:rPr lang="en-US" sz="3200" dirty="0"/>
              <a:t>ethics…</a:t>
            </a:r>
            <a:br>
              <a:rPr lang="en-US" sz="3200" dirty="0"/>
            </a:br>
            <a:r>
              <a:rPr lang="en-US" sz="3200" dirty="0"/>
              <a:t>Priority setting and rationing</a:t>
            </a:r>
            <a:r>
              <a:rPr lang="en-US" sz="3600" dirty="0"/>
              <a:t/>
            </a:r>
            <a:br>
              <a:rPr lang="en-US" sz="3600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P</a:t>
            </a:r>
            <a:r>
              <a:rPr lang="en-US" b="1" dirty="0" smtClean="0"/>
              <a:t>riority setting</a:t>
            </a:r>
          </a:p>
          <a:p>
            <a:pPr marL="0" indent="0">
              <a:buNone/>
            </a:pPr>
            <a:r>
              <a:rPr lang="en-US" dirty="0" smtClean="0"/>
              <a:t>Definition</a:t>
            </a:r>
          </a:p>
          <a:p>
            <a:pPr marL="0" indent="0">
              <a:buNone/>
            </a:pPr>
            <a:r>
              <a:rPr lang="en-US" dirty="0" smtClean="0"/>
              <a:t>Priority </a:t>
            </a:r>
            <a:r>
              <a:rPr lang="en-US" dirty="0"/>
              <a:t>setting in health care is the ranking of health services and the ranking of recipients of these services</a:t>
            </a:r>
          </a:p>
          <a:p>
            <a:pPr marL="0" indent="0">
              <a:buNone/>
            </a:pPr>
            <a:r>
              <a:rPr lang="en-US" dirty="0"/>
              <a:t>Priorities are often set through a process of decision-making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430848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Preventive ethics…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 dirty="0" smtClean="0"/>
              <a:t>Rationing</a:t>
            </a:r>
          </a:p>
          <a:p>
            <a:pPr marL="0" indent="0">
              <a:buNone/>
            </a:pPr>
            <a:r>
              <a:rPr lang="en-US" dirty="0" smtClean="0"/>
              <a:t>Is </a:t>
            </a:r>
            <a:r>
              <a:rPr lang="en-US" dirty="0"/>
              <a:t>defined as withholding of health services that could be of benefit to the patient on the ground of resource scarcity</a:t>
            </a:r>
          </a:p>
          <a:p>
            <a:pPr marL="0" indent="0">
              <a:buNone/>
            </a:pPr>
            <a:r>
              <a:rPr lang="en-US" dirty="0"/>
              <a:t>Resources should be understood broadly to include health personnel, time, equipment, infrastructure, medicines, beds, operating rooms, and money.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484608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u="sng" dirty="0" smtClean="0"/>
              <a:t>Levels of priority setting 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 smtClean="0"/>
              <a:t>International 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 smtClean="0"/>
              <a:t>National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 err="1" smtClean="0"/>
              <a:t>Meso</a:t>
            </a:r>
            <a:r>
              <a:rPr lang="en-GB" dirty="0" smtClean="0"/>
              <a:t>: health facility level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 smtClean="0"/>
              <a:t>Micro: at the bed side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Preventive ethics…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77943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Preventive ethics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 smtClean="0"/>
              <a:t>Summary</a:t>
            </a:r>
          </a:p>
          <a:p>
            <a:pPr marL="0" indent="0">
              <a:buNone/>
            </a:pPr>
            <a:r>
              <a:rPr lang="en-GB" dirty="0" smtClean="0"/>
              <a:t>Do you think preventive ethics is applicable in our setup?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689485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3600" dirty="0" smtClean="0"/>
          </a:p>
          <a:p>
            <a:pPr marL="0" indent="0">
              <a:buNone/>
            </a:pPr>
            <a:r>
              <a:rPr lang="en-US" sz="3600" dirty="0" smtClean="0"/>
              <a:t>Thank you for your participation!</a:t>
            </a:r>
            <a:endParaRPr lang="en-US" sz="3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0410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Session 2.4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Ethics </a:t>
            </a:r>
            <a:r>
              <a:rPr lang="en-US" b="1" dirty="0"/>
              <a:t>and </a:t>
            </a:r>
            <a:r>
              <a:rPr lang="en-US" b="1" dirty="0" smtClean="0"/>
              <a:t>law </a:t>
            </a:r>
            <a:r>
              <a:rPr lang="en-US" b="1" dirty="0"/>
              <a:t>as </a:t>
            </a:r>
            <a:r>
              <a:rPr lang="en-US" b="1" dirty="0" smtClean="0"/>
              <a:t>enablers </a:t>
            </a:r>
            <a:r>
              <a:rPr lang="en-US" b="1" dirty="0"/>
              <a:t>of CRC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302987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Session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Recognize </a:t>
            </a:r>
            <a:r>
              <a:rPr lang="en-US" dirty="0"/>
              <a:t>the relationship between ethics and </a:t>
            </a:r>
            <a:r>
              <a:rPr lang="en-US" dirty="0" smtClean="0"/>
              <a:t>law</a:t>
            </a:r>
          </a:p>
          <a:p>
            <a:r>
              <a:rPr lang="en-US" dirty="0" smtClean="0"/>
              <a:t>Practice </a:t>
            </a:r>
            <a:r>
              <a:rPr lang="en-US" dirty="0"/>
              <a:t>the laws of the land related to health in their daily practice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457556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relation between Ethics and </a:t>
            </a:r>
            <a:r>
              <a:rPr lang="en-US" dirty="0" smtClean="0"/>
              <a:t>law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b="1" dirty="0" smtClean="0"/>
              <a:t>Ethics: </a:t>
            </a:r>
            <a:r>
              <a:rPr lang="en-US" dirty="0" smtClean="0"/>
              <a:t>a standard of behavior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ea typeface="Arial Unicode MS" panose="020B0604020202020204" pitchFamily="34" charset="-128"/>
              </a:rPr>
              <a:t>C</a:t>
            </a:r>
            <a:r>
              <a:rPr lang="en-US" dirty="0" smtClean="0">
                <a:latin typeface="Times New Roman" panose="02020603050405020304" pitchFamily="18" charset="0"/>
                <a:ea typeface="Arial Unicode MS" panose="020B0604020202020204" pitchFamily="34" charset="-128"/>
              </a:rPr>
              <a:t>oncept </a:t>
            </a:r>
            <a:r>
              <a:rPr lang="en-US" dirty="0">
                <a:latin typeface="Times New Roman" panose="02020603050405020304" pitchFamily="18" charset="0"/>
                <a:ea typeface="Arial Unicode MS" panose="020B0604020202020204" pitchFamily="34" charset="-128"/>
              </a:rPr>
              <a:t>of right and wrong beyond what the legal consideration is in any given </a:t>
            </a:r>
            <a:r>
              <a:rPr lang="en-US" dirty="0" smtClean="0">
                <a:latin typeface="Times New Roman" panose="02020603050405020304" pitchFamily="18" charset="0"/>
                <a:ea typeface="Arial Unicode MS" panose="020B0604020202020204" pitchFamily="34" charset="-128"/>
              </a:rPr>
              <a:t>situation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ea typeface="Arial Unicode MS" panose="020B0604020202020204" pitchFamily="34" charset="-128"/>
              </a:rPr>
              <a:t>A </a:t>
            </a:r>
            <a:r>
              <a:rPr lang="en-US" b="1" dirty="0">
                <a:latin typeface="Times New Roman" panose="02020603050405020304" pitchFamily="18" charset="0"/>
                <a:ea typeface="Arial Unicode MS" panose="020B0604020202020204" pitchFamily="34" charset="-128"/>
              </a:rPr>
              <a:t>law</a:t>
            </a:r>
            <a:r>
              <a:rPr lang="en-US" dirty="0">
                <a:latin typeface="Times New Roman" panose="02020603050405020304" pitchFamily="18" charset="0"/>
                <a:ea typeface="Arial Unicode MS" panose="020B0604020202020204" pitchFamily="34" charset="-128"/>
              </a:rPr>
              <a:t> is defined as a rule of conduct or action prescribed or formally recognized as binding or enforced by a controlling authority</a:t>
            </a:r>
            <a:endParaRPr lang="en-US" dirty="0" smtClean="0"/>
          </a:p>
          <a:p>
            <a:pPr>
              <a:buFont typeface="Wingdings" panose="05000000000000000000" pitchFamily="2" charset="2"/>
              <a:buChar char="q"/>
            </a:pP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dirty="0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7574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600" dirty="0" smtClean="0"/>
              <a:t>The relationship between health ethics and the law</a:t>
            </a:r>
            <a:endParaRPr lang="en-GB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4" y="2490135"/>
            <a:ext cx="7114519" cy="3444997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q"/>
            </a:pPr>
            <a:endParaRPr lang="en-GB" sz="2800" dirty="0" smtClean="0"/>
          </a:p>
          <a:p>
            <a:pPr>
              <a:buFont typeface="Wingdings" pitchFamily="2" charset="2"/>
              <a:buChar char="q"/>
            </a:pPr>
            <a:r>
              <a:rPr lang="en-GB" sz="2800" dirty="0" smtClean="0"/>
              <a:t>Ethics is similar but not identical with law</a:t>
            </a:r>
          </a:p>
          <a:p>
            <a:pPr>
              <a:buFont typeface="Wingdings" pitchFamily="2" charset="2"/>
              <a:buChar char="q"/>
            </a:pPr>
            <a:r>
              <a:rPr lang="en-GB" sz="2800" dirty="0" smtClean="0"/>
              <a:t>Ethics serves as fundamental source of law</a:t>
            </a:r>
          </a:p>
          <a:p>
            <a:pPr>
              <a:buFont typeface="Wingdings" pitchFamily="2" charset="2"/>
              <a:buChar char="q"/>
            </a:pPr>
            <a:r>
              <a:rPr lang="en-GB" sz="2800" dirty="0" smtClean="0"/>
              <a:t>Ethical values are subjective. The law ensures uniformity of conduct.</a:t>
            </a:r>
          </a:p>
          <a:p>
            <a:pPr>
              <a:buFont typeface="Wingdings" pitchFamily="2" charset="2"/>
              <a:buChar char="q"/>
            </a:pPr>
            <a:endParaRPr lang="en-GB" sz="28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dirty="0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CH-I-</a:t>
            </a:r>
            <a:fld id="{3FB30F3C-053D-864C-B962-F2E761156877}" type="slidenum">
              <a:rPr lang="en-US" altLang="en-US" smtClean="0">
                <a:solidFill>
                  <a:prstClr val="black"/>
                </a:solidFill>
              </a:rPr>
              <a:pPr/>
              <a:t>66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pic>
        <p:nvPicPr>
          <p:cNvPr id="7" name="Picture 6" descr="Image result for Healthcare Ethics and law, cartoon and pictures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8303" y="1780674"/>
            <a:ext cx="2007297" cy="136340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184791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Ethics Vs Law</a:t>
            </a:r>
            <a:endParaRPr lang="en-GB" sz="36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GB" dirty="0" smtClean="0"/>
              <a:t> </a:t>
            </a:r>
            <a:endParaRPr lang="en-GB" sz="2800" b="1" dirty="0" smtClean="0">
              <a:latin typeface="Gabriola" pitchFamily="82" charset="0"/>
            </a:endParaRPr>
          </a:p>
          <a:p>
            <a:pPr>
              <a:buNone/>
            </a:pPr>
            <a:r>
              <a:rPr lang="en-GB" b="1" dirty="0" smtClean="0">
                <a:latin typeface="Gabriola" pitchFamily="82" charset="0"/>
              </a:rPr>
              <a:t>           </a:t>
            </a:r>
          </a:p>
          <a:p>
            <a:pPr>
              <a:buNone/>
            </a:pPr>
            <a:r>
              <a:rPr lang="en-GB" dirty="0" smtClean="0"/>
              <a:t>           </a:t>
            </a:r>
          </a:p>
          <a:p>
            <a:pPr>
              <a:buNone/>
            </a:pPr>
            <a:r>
              <a:rPr lang="en-GB" dirty="0" smtClean="0"/>
              <a:t>           </a:t>
            </a:r>
          </a:p>
          <a:p>
            <a:pPr>
              <a:buNone/>
            </a:pPr>
            <a:r>
              <a:rPr lang="en-GB" dirty="0" smtClean="0"/>
              <a:t>           </a:t>
            </a:r>
          </a:p>
          <a:p>
            <a:pPr>
              <a:buNone/>
            </a:pPr>
            <a:r>
              <a:rPr lang="en-GB" dirty="0" smtClean="0"/>
              <a:t>          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6A00C-71D7-4BC6-ABCE-9C6F7C39EBBB}" type="datetime1">
              <a:rPr lang="en-GB" smtClean="0">
                <a:solidFill>
                  <a:prstClr val="black"/>
                </a:solidFill>
              </a:rPr>
              <a:pPr/>
              <a:t>25/06/2017</a:t>
            </a:fld>
            <a:endParaRPr lang="en-GB">
              <a:solidFill>
                <a:prstClr val="black"/>
              </a:solidFill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EBAF42-D15B-45AD-ACA2-F6F2754800A7}" type="slidenum">
              <a:rPr lang="en-GB" smtClean="0">
                <a:solidFill>
                  <a:prstClr val="black"/>
                </a:solidFill>
              </a:rPr>
              <a:pPr/>
              <a:t>67</a:t>
            </a:fld>
            <a:endParaRPr lang="en-GB">
              <a:solidFill>
                <a:prstClr val="black"/>
              </a:solidFill>
            </a:endParaRPr>
          </a:p>
        </p:txBody>
      </p:sp>
      <p:sp>
        <p:nvSpPr>
          <p:cNvPr id="4" name="Oval 3"/>
          <p:cNvSpPr/>
          <p:nvPr/>
        </p:nvSpPr>
        <p:spPr>
          <a:xfrm>
            <a:off x="5444249" y="4049073"/>
            <a:ext cx="2272553" cy="36943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prstClr val="white"/>
                </a:solidFill>
              </a:rPr>
              <a:t>Regulations</a:t>
            </a:r>
            <a:endParaRPr lang="en-GB" dirty="0">
              <a:solidFill>
                <a:prstClr val="white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4110748" y="3570554"/>
            <a:ext cx="2469778" cy="4908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prstClr val="white"/>
                </a:solidFill>
              </a:rPr>
              <a:t>Proclamations</a:t>
            </a:r>
            <a:endParaRPr lang="en-GB" dirty="0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494270" y="2449797"/>
            <a:ext cx="1655807" cy="68336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prstClr val="white"/>
                </a:solidFill>
              </a:rPr>
              <a:t>Ethical guidelines </a:t>
            </a:r>
            <a:endParaRPr lang="en-GB" dirty="0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1832674" y="2780633"/>
            <a:ext cx="1614861" cy="60511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prstClr val="white"/>
                </a:solidFill>
              </a:rPr>
              <a:t>Criminal law</a:t>
            </a:r>
            <a:endParaRPr lang="en-GB" dirty="0">
              <a:solidFill>
                <a:prstClr val="white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3143524" y="3133163"/>
            <a:ext cx="1519518" cy="55514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prstClr val="white"/>
                </a:solidFill>
              </a:rPr>
              <a:t>Civil laws</a:t>
            </a:r>
            <a:endParaRPr lang="en-GB" dirty="0">
              <a:solidFill>
                <a:prstClr val="white"/>
              </a:solidFill>
            </a:endParaRPr>
          </a:p>
        </p:txBody>
      </p:sp>
      <p:sp>
        <p:nvSpPr>
          <p:cNvPr id="11" name="Oval Callout 10"/>
          <p:cNvSpPr/>
          <p:nvPr/>
        </p:nvSpPr>
        <p:spPr>
          <a:xfrm>
            <a:off x="891142" y="4266079"/>
            <a:ext cx="3012141" cy="1936377"/>
          </a:xfrm>
          <a:prstGeom prst="wedgeEllipseCallout">
            <a:avLst>
              <a:gd name="adj1" fmla="val 77145"/>
              <a:gd name="adj2" fmla="val -82761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prstClr val="white"/>
                </a:solidFill>
              </a:rPr>
              <a:t>The laws are enacted on the basis of accepted standard in the medical community</a:t>
            </a:r>
            <a:endParaRPr lang="en-GB" dirty="0">
              <a:solidFill>
                <a:prstClr val="white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5988771" y="4438575"/>
            <a:ext cx="2272553" cy="54369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prstClr val="white"/>
                </a:solidFill>
              </a:rPr>
              <a:t>Directives</a:t>
            </a:r>
            <a:endParaRPr lang="en-GB" dirty="0">
              <a:solidFill>
                <a:prstClr val="white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6406245" y="5076614"/>
            <a:ext cx="2272553" cy="54369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>
                <a:solidFill>
                  <a:prstClr val="white"/>
                </a:solidFill>
              </a:rPr>
              <a:t>Standards </a:t>
            </a:r>
            <a:endParaRPr lang="en-GB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895705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Ethics and law…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500" b="1" u="sng" dirty="0" smtClean="0"/>
              <a:t>Laws regulating health care practice in Ethiopia</a:t>
            </a:r>
          </a:p>
          <a:p>
            <a:r>
              <a:rPr lang="en-US" dirty="0" smtClean="0"/>
              <a:t>Proclamation </a:t>
            </a:r>
            <a:r>
              <a:rPr lang="en-US" dirty="0"/>
              <a:t>661/2009 and Regulation 299/2013 outlines ethical </a:t>
            </a:r>
            <a:r>
              <a:rPr lang="en-US" dirty="0" smtClean="0"/>
              <a:t>requirements.</a:t>
            </a:r>
          </a:p>
          <a:p>
            <a:r>
              <a:rPr lang="en-US" dirty="0" smtClean="0"/>
              <a:t>Civil law, penal law, the constitution other proclamations</a:t>
            </a:r>
            <a:r>
              <a:rPr lang="en-US" dirty="0"/>
              <a:t> </a:t>
            </a:r>
            <a:r>
              <a:rPr lang="en-US" dirty="0" smtClean="0"/>
              <a:t>and regulations 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4497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Ethics and law…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 smtClean="0"/>
              <a:t>Main </a:t>
            </a:r>
            <a:r>
              <a:rPr lang="en-US" b="1" u="sng" dirty="0"/>
              <a:t>Responsibilities of Health Professionals toward </a:t>
            </a:r>
            <a:r>
              <a:rPr lang="en-US" b="1" u="sng" dirty="0" smtClean="0"/>
              <a:t>patients </a:t>
            </a:r>
          </a:p>
          <a:p>
            <a:pPr marL="0" indent="0">
              <a:buNone/>
            </a:pPr>
            <a:r>
              <a:rPr lang="en-US" b="1" dirty="0" smtClean="0"/>
              <a:t>Discussion</a:t>
            </a:r>
          </a:p>
          <a:p>
            <a:pPr marL="0" indent="0">
              <a:buNone/>
            </a:pPr>
            <a:r>
              <a:rPr lang="en-US" dirty="0" smtClean="0"/>
              <a:t>Read and discuss on the participant manual ?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4917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u="sng" dirty="0"/>
              <a:t>Inter professional communication and teamwork among health </a:t>
            </a:r>
            <a:r>
              <a:rPr lang="en-GB" b="1" u="sng" dirty="0" smtClean="0"/>
              <a:t>workers</a:t>
            </a:r>
          </a:p>
          <a:p>
            <a:pPr marL="0" indent="0">
              <a:buNone/>
            </a:pPr>
            <a:r>
              <a:rPr lang="en-GB" b="1" dirty="0" smtClean="0"/>
              <a:t>Discussion</a:t>
            </a:r>
          </a:p>
          <a:p>
            <a:pPr marL="0" indent="0">
              <a:buNone/>
            </a:pPr>
            <a:r>
              <a:rPr lang="en-GB" dirty="0" smtClean="0"/>
              <a:t>Read and discuss on the participant manual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dirty="0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Ethics and law…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207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Ethics and law…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u="sng" dirty="0" smtClean="0"/>
              <a:t>Duty to report</a:t>
            </a:r>
          </a:p>
          <a:p>
            <a:pPr marL="0" indent="0">
              <a:buNone/>
            </a:pPr>
            <a:r>
              <a:rPr lang="en-US" dirty="0" smtClean="0"/>
              <a:t>FMHACA </a:t>
            </a:r>
            <a:r>
              <a:rPr lang="en-US" dirty="0" err="1"/>
              <a:t>CoM</a:t>
            </a:r>
            <a:r>
              <a:rPr lang="en-US" dirty="0"/>
              <a:t> regulation no -299/2013 under article 95 clearly states that</a:t>
            </a:r>
          </a:p>
          <a:p>
            <a:pPr marL="0" indent="0">
              <a:buNone/>
            </a:pPr>
            <a:r>
              <a:rPr lang="en-US" dirty="0" smtClean="0"/>
              <a:t>Any </a:t>
            </a:r>
            <a:r>
              <a:rPr lang="en-US" dirty="0"/>
              <a:t>person who believes that a health professional is unfit to practice or commits unprofessional conduct shall notify the appropriate organ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2558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 smtClean="0"/>
              <a:t>Case scenario on the participant manual</a:t>
            </a:r>
            <a:endParaRPr lang="en-GB" b="1" dirty="0"/>
          </a:p>
          <a:p>
            <a:r>
              <a:rPr lang="en-GB" dirty="0" smtClean="0"/>
              <a:t>Read and discuss on the case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Ethics and law…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525476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u="sng" dirty="0" smtClean="0"/>
              <a:t>Ethical liability of health professionals</a:t>
            </a:r>
          </a:p>
          <a:p>
            <a:r>
              <a:rPr lang="en-GB" dirty="0" smtClean="0"/>
              <a:t>Read on the participant manual as a pair and discuss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Ethics and law…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77957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Ethics and law…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 smtClean="0"/>
              <a:t>Professional ethics committee</a:t>
            </a:r>
          </a:p>
          <a:p>
            <a:pPr marL="0" indent="0">
              <a:buNone/>
            </a:pPr>
            <a:r>
              <a:rPr lang="en-US" b="1" dirty="0" smtClean="0"/>
              <a:t>Discussion</a:t>
            </a:r>
          </a:p>
          <a:p>
            <a:pPr marL="0" indent="0">
              <a:buNone/>
            </a:pPr>
            <a:r>
              <a:rPr lang="en-US" dirty="0" smtClean="0"/>
              <a:t>Pair and read on the participant manual and discuss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2546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Ethics and law…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sz="4000" dirty="0" smtClean="0"/>
          </a:p>
          <a:p>
            <a:pPr marL="0" indent="0">
              <a:buNone/>
            </a:pPr>
            <a:r>
              <a:rPr lang="en-US" b="1" u="sng" dirty="0" smtClean="0"/>
              <a:t>Patients right  and responsibility </a:t>
            </a:r>
            <a:endParaRPr lang="en-US" b="1" u="sng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23610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E</a:t>
            </a:r>
            <a:r>
              <a:rPr lang="en-US" dirty="0" smtClean="0"/>
              <a:t>thics and law…</a:t>
            </a:r>
            <a:r>
              <a:rPr lang="en-GB" sz="3600" dirty="0" smtClean="0"/>
              <a:t/>
            </a:r>
            <a:br>
              <a:rPr lang="en-GB" sz="3600" dirty="0" smtClean="0"/>
            </a:br>
            <a:endParaRPr lang="en-GB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u="sng" dirty="0" smtClean="0"/>
              <a:t>Patient’s rights   </a:t>
            </a:r>
          </a:p>
          <a:p>
            <a:pPr marL="0" indent="0">
              <a:buNone/>
            </a:pPr>
            <a:endParaRPr lang="en-GB" sz="2800" dirty="0" smtClean="0"/>
          </a:p>
          <a:p>
            <a:r>
              <a:rPr lang="en-GB" sz="2800" dirty="0" smtClean="0"/>
              <a:t> </a:t>
            </a:r>
            <a:r>
              <a:rPr lang="en-GB" dirty="0" smtClean="0"/>
              <a:t>World Medical Association  declaration of Lisbon put the following rights for patients</a:t>
            </a:r>
          </a:p>
          <a:p>
            <a:pPr marL="0" indent="0">
              <a:buNone/>
            </a:pPr>
            <a:endParaRPr lang="en-GB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CH-I-</a:t>
            </a:r>
            <a:fld id="{3FB30F3C-053D-864C-B962-F2E761156877}" type="slidenum">
              <a:rPr lang="en-US" altLang="en-US" smtClean="0">
                <a:solidFill>
                  <a:prstClr val="black"/>
                </a:solidFill>
              </a:rPr>
              <a:pPr/>
              <a:t>76</a:t>
            </a:fld>
            <a:endParaRPr lang="en-US" altLang="en-US" dirty="0">
              <a:solidFill>
                <a:prstClr val="black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1.The right on medical care of good quality</a:t>
            </a:r>
          </a:p>
          <a:p>
            <a:pPr marL="0" indent="0">
              <a:buNone/>
            </a:pPr>
            <a:r>
              <a:rPr lang="en-US" dirty="0" smtClean="0"/>
              <a:t>2.The right to freedom of choice</a:t>
            </a:r>
          </a:p>
          <a:p>
            <a:pPr marL="0" indent="0">
              <a:buNone/>
            </a:pPr>
            <a:r>
              <a:rPr lang="en-US" dirty="0" smtClean="0"/>
              <a:t>3.The right to self determination( refusal to treatment, to give or withdraw consent)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CH-I-</a:t>
            </a:r>
            <a:fld id="{3FB30F3C-053D-864C-B962-F2E761156877}" type="slidenum">
              <a:rPr lang="en-US" altLang="en-US" smtClean="0">
                <a:solidFill>
                  <a:prstClr val="black"/>
                </a:solidFill>
              </a:rPr>
              <a:pPr/>
              <a:t>77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1329266" y="1183178"/>
            <a:ext cx="6798734" cy="118842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1" u="none" kern="1200" cap="none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itchFamily="34" charset="0"/>
                <a:ea typeface="+mj-ea"/>
                <a:cs typeface="Arial" pitchFamily="34" charset="0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Ethics and law…</a:t>
            </a:r>
            <a:r>
              <a:rPr lang="en-GB" sz="3600" smtClean="0"/>
              <a:t/>
            </a:r>
            <a:br>
              <a:rPr lang="en-GB" sz="3600" smtClean="0"/>
            </a:b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527239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 smtClean="0"/>
              <a:t>Patient right…</a:t>
            </a:r>
            <a:endParaRPr lang="en-GB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4. The unconscious </a:t>
            </a:r>
            <a:r>
              <a:rPr lang="en-GB" dirty="0" smtClean="0"/>
              <a:t>patient</a:t>
            </a:r>
          </a:p>
          <a:p>
            <a:pPr marL="0" indent="0">
              <a:buNone/>
            </a:pPr>
            <a:r>
              <a:rPr lang="en-GB" dirty="0" smtClean="0"/>
              <a:t>5. Legally incompetent patient.</a:t>
            </a:r>
          </a:p>
          <a:p>
            <a:pPr marL="0" indent="0">
              <a:buNone/>
            </a:pPr>
            <a:r>
              <a:rPr lang="en-GB" dirty="0" smtClean="0"/>
              <a:t>6. Procedure’s against patients will( diagnostic procedures and treatment) against patients’ will if the law permitted to do so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CH-I-</a:t>
            </a:r>
            <a:fld id="{3FB30F3C-053D-864C-B962-F2E761156877}" type="slidenum">
              <a:rPr lang="en-US" altLang="en-US" smtClean="0">
                <a:solidFill>
                  <a:prstClr val="black"/>
                </a:solidFill>
              </a:rPr>
              <a:pPr/>
              <a:t>78</a:t>
            </a:fld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6396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dirty="0" smtClean="0"/>
              <a:t>Patient right…</a:t>
            </a:r>
            <a:endParaRPr lang="en-GB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2800" dirty="0" smtClean="0"/>
              <a:t>7</a:t>
            </a:r>
            <a:r>
              <a:rPr lang="en-GB" dirty="0" smtClean="0"/>
              <a:t>. Right to information( to receive information)</a:t>
            </a:r>
          </a:p>
          <a:p>
            <a:pPr marL="0" indent="0">
              <a:buNone/>
            </a:pPr>
            <a:r>
              <a:rPr lang="en-GB" dirty="0" smtClean="0"/>
              <a:t>8. Right to confidentiality.</a:t>
            </a:r>
          </a:p>
          <a:p>
            <a:pPr marL="0" indent="0">
              <a:buNone/>
            </a:pPr>
            <a:r>
              <a:rPr lang="en-GB" dirty="0" smtClean="0"/>
              <a:t>9.Right to heath education.</a:t>
            </a:r>
          </a:p>
          <a:p>
            <a:pPr marL="0" indent="0">
              <a:buNone/>
            </a:pPr>
            <a:r>
              <a:rPr lang="en-GB" dirty="0" smtClean="0"/>
              <a:t>10. Right to dignified care.</a:t>
            </a:r>
          </a:p>
          <a:p>
            <a:pPr marL="0" indent="0">
              <a:buNone/>
            </a:pPr>
            <a:r>
              <a:rPr lang="en-GB" dirty="0" smtClean="0"/>
              <a:t>11. Right to religious assistance. 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CH-I-</a:t>
            </a:r>
            <a:fld id="{3FB30F3C-053D-864C-B962-F2E761156877}" type="slidenum">
              <a:rPr lang="en-US" altLang="en-US" smtClean="0">
                <a:solidFill>
                  <a:prstClr val="black"/>
                </a:solidFill>
              </a:rPr>
              <a:pPr/>
              <a:t>79</a:t>
            </a:fld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9871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Patients responsibilities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Please read individually on the manual about patient responsibilities and discuss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6628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sz="3600" b="1" dirty="0" smtClean="0"/>
              <a:t>Case scenario: on Patient right </a:t>
            </a:r>
            <a:endParaRPr lang="en-GB" sz="36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30930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GB" dirty="0"/>
              <a:t>1.</a:t>
            </a:r>
            <a:r>
              <a:rPr lang="en-GB" sz="4000" dirty="0"/>
              <a:t>	</a:t>
            </a:r>
            <a:r>
              <a:rPr lang="en-GB" sz="4400" dirty="0"/>
              <a:t>Medical Ethics Manual, World Medical Association, 2nd Edition 2009 </a:t>
            </a:r>
          </a:p>
          <a:p>
            <a:pPr marL="0" indent="0">
              <a:buNone/>
            </a:pPr>
            <a:r>
              <a:rPr lang="en-GB" sz="4400" dirty="0"/>
              <a:t>2.	WHO, Global Health Ethics, Key Issues, 2015</a:t>
            </a:r>
          </a:p>
          <a:p>
            <a:pPr marL="0" indent="0">
              <a:buNone/>
            </a:pPr>
            <a:r>
              <a:rPr lang="en-GB" sz="4400" dirty="0"/>
              <a:t>3.	ESA, Comprehensive Specialized Hospital Requirements, Ethiopian Standard: ES3618/2012</a:t>
            </a:r>
          </a:p>
          <a:p>
            <a:pPr marL="0" indent="0">
              <a:buNone/>
            </a:pPr>
            <a:r>
              <a:rPr lang="en-GB" sz="4400" dirty="0"/>
              <a:t>4.	Exploring Integrity in medicine, The </a:t>
            </a:r>
            <a:r>
              <a:rPr lang="en-GB" sz="4400" dirty="0" err="1"/>
              <a:t>Bander</a:t>
            </a:r>
            <a:r>
              <a:rPr lang="en-GB" sz="4400" dirty="0"/>
              <a:t> </a:t>
            </a:r>
            <a:r>
              <a:rPr lang="en-GB" sz="4400" dirty="0" err="1"/>
              <a:t>Center</a:t>
            </a:r>
            <a:r>
              <a:rPr lang="en-GB" sz="4400" dirty="0"/>
              <a:t> for Medical Business Ethics Casebook, </a:t>
            </a:r>
          </a:p>
          <a:p>
            <a:pPr marL="0" indent="0">
              <a:buNone/>
            </a:pPr>
            <a:r>
              <a:rPr lang="en-GB" sz="4400" dirty="0"/>
              <a:t>5.	FDRE, Proclamation No. 661/2009, Food, Medicine and Health Care Administration and Control Proclamation</a:t>
            </a:r>
          </a:p>
          <a:p>
            <a:pPr marL="0" indent="0">
              <a:buNone/>
            </a:pPr>
            <a:r>
              <a:rPr lang="en-GB" sz="4400" dirty="0"/>
              <a:t>6.	FDRE, Regulation No ,299/2013, Food, Medicine and Health Care Administration and Control, Council of Ministers Regulation</a:t>
            </a:r>
          </a:p>
          <a:p>
            <a:pPr marL="0" indent="0">
              <a:buNone/>
            </a:pPr>
            <a:r>
              <a:rPr lang="en-GB" sz="4400" dirty="0" smtClean="0"/>
              <a:t>7</a:t>
            </a:r>
            <a:r>
              <a:rPr lang="en-GB" sz="4400" dirty="0"/>
              <a:t>	Guide to Professional Conduct and Ethics for Registered Medical Practitioners, 7th Edition, 2009</a:t>
            </a:r>
          </a:p>
          <a:p>
            <a:pPr marL="0" indent="0">
              <a:buNone/>
            </a:pPr>
            <a:r>
              <a:rPr lang="en-GB" sz="4400" dirty="0"/>
              <a:t>8.	EMA, Code of Ethics for Doctors practicing in Ethiopia, </a:t>
            </a:r>
            <a:r>
              <a:rPr lang="en-GB" sz="4400" dirty="0" smtClean="0"/>
              <a:t>2009</a:t>
            </a:r>
          </a:p>
          <a:p>
            <a:pPr marL="0" indent="0">
              <a:buNone/>
            </a:pPr>
            <a:r>
              <a:rPr lang="en-GB" sz="4400" dirty="0" smtClean="0"/>
              <a:t>9</a:t>
            </a:r>
            <a:r>
              <a:rPr lang="en-GB" sz="4400" dirty="0"/>
              <a:t>	Royal Pharmaceutical Society of Great Britain, Code of Ethics for Pharmacists and Pharmacy Technicians, Aug, </a:t>
            </a:r>
            <a:r>
              <a:rPr lang="en-GB" sz="4400" dirty="0" smtClean="0"/>
              <a:t>2007</a:t>
            </a:r>
          </a:p>
          <a:p>
            <a:pPr marL="0" indent="0">
              <a:buNone/>
            </a:pPr>
            <a:r>
              <a:rPr lang="en-GB" sz="4400" dirty="0" smtClean="0"/>
              <a:t>10Physicians </a:t>
            </a:r>
            <a:r>
              <a:rPr lang="en-GB" sz="4400" dirty="0"/>
              <a:t>top 20 ethical dilemmas: survey results slide shows   http://www.medscape.com/features/slideshow/public/ethical-dilemmas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68836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0"/>
                <a:lumOff val="100000"/>
              </a:schemeClr>
            </a:gs>
            <a:gs pos="35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 you </a:t>
            </a:r>
            <a:endParaRPr lang="en-US" dirty="0"/>
          </a:p>
        </p:txBody>
      </p:sp>
      <p:pic>
        <p:nvPicPr>
          <p:cNvPr id="8" name="Content Placeholder 7" descr="Image result for Healthcare Ethics and law, cartoon and pictures"/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13944" y="3027363"/>
            <a:ext cx="1924050" cy="2371725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88CBF-8E6A-FF4C-B61B-9224EAD071EB}" type="datetime1">
              <a:rPr lang="en-US" altLang="en-US" smtClean="0">
                <a:solidFill>
                  <a:prstClr val="black"/>
                </a:solidFill>
              </a:rPr>
              <a:pPr/>
              <a:t>25-Jun-17</a:t>
            </a:fld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National CRC training 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en-US" smtClean="0">
                <a:solidFill>
                  <a:prstClr val="black"/>
                </a:solidFill>
              </a:rPr>
              <a:t>CH-II-5</a:t>
            </a:r>
            <a:endParaRPr lang="en-US" alt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98839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RC Training template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CRC Training template" id="{8FAF3806-4ECC-C94E-B0C1-1FA276833AD3}" vid="{6A4EA211-2C33-8946-9340-339AB08BDA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rganic">
    <a:dk1>
      <a:sysClr val="windowText" lastClr="000000"/>
    </a:dk1>
    <a:lt1>
      <a:sysClr val="window" lastClr="FFFFFF"/>
    </a:lt1>
    <a:dk2>
      <a:srgbClr val="212121"/>
    </a:dk2>
    <a:lt2>
      <a:srgbClr val="DADADA"/>
    </a:lt2>
    <a:accent1>
      <a:srgbClr val="83992A"/>
    </a:accent1>
    <a:accent2>
      <a:srgbClr val="3C9770"/>
    </a:accent2>
    <a:accent3>
      <a:srgbClr val="44709D"/>
    </a:accent3>
    <a:accent4>
      <a:srgbClr val="A23C33"/>
    </a:accent4>
    <a:accent5>
      <a:srgbClr val="D97828"/>
    </a:accent5>
    <a:accent6>
      <a:srgbClr val="DEB340"/>
    </a:accent6>
    <a:hlink>
      <a:srgbClr val="A8BF4D"/>
    </a:hlink>
    <a:folHlink>
      <a:srgbClr val="B4CA80"/>
    </a:folHlink>
  </a:clrScheme>
</a:themeOverride>
</file>

<file path=ppt/theme/themeOverride2.xml><?xml version="1.0" encoding="utf-8"?>
<a:themeOverride xmlns:a="http://schemas.openxmlformats.org/drawingml/2006/main">
  <a:clrScheme name="Organic">
    <a:dk1>
      <a:sysClr val="windowText" lastClr="000000"/>
    </a:dk1>
    <a:lt1>
      <a:sysClr val="window" lastClr="FFFFFF"/>
    </a:lt1>
    <a:dk2>
      <a:srgbClr val="212121"/>
    </a:dk2>
    <a:lt2>
      <a:srgbClr val="DADADA"/>
    </a:lt2>
    <a:accent1>
      <a:srgbClr val="83992A"/>
    </a:accent1>
    <a:accent2>
      <a:srgbClr val="3C9770"/>
    </a:accent2>
    <a:accent3>
      <a:srgbClr val="44709D"/>
    </a:accent3>
    <a:accent4>
      <a:srgbClr val="A23C33"/>
    </a:accent4>
    <a:accent5>
      <a:srgbClr val="D97828"/>
    </a:accent5>
    <a:accent6>
      <a:srgbClr val="DEB340"/>
    </a:accent6>
    <a:hlink>
      <a:srgbClr val="A8BF4D"/>
    </a:hlink>
    <a:folHlink>
      <a:srgbClr val="B4CA80"/>
    </a:folHlink>
  </a:clrScheme>
</a:themeOverride>
</file>

<file path=ppt/theme/themeOverride3.xml><?xml version="1.0" encoding="utf-8"?>
<a:themeOverride xmlns:a="http://schemas.openxmlformats.org/drawingml/2006/main">
  <a:clrScheme name="Organic">
    <a:dk1>
      <a:sysClr val="windowText" lastClr="000000"/>
    </a:dk1>
    <a:lt1>
      <a:sysClr val="window" lastClr="FFFFFF"/>
    </a:lt1>
    <a:dk2>
      <a:srgbClr val="212121"/>
    </a:dk2>
    <a:lt2>
      <a:srgbClr val="DADADA"/>
    </a:lt2>
    <a:accent1>
      <a:srgbClr val="83992A"/>
    </a:accent1>
    <a:accent2>
      <a:srgbClr val="3C9770"/>
    </a:accent2>
    <a:accent3>
      <a:srgbClr val="44709D"/>
    </a:accent3>
    <a:accent4>
      <a:srgbClr val="A23C33"/>
    </a:accent4>
    <a:accent5>
      <a:srgbClr val="D97828"/>
    </a:accent5>
    <a:accent6>
      <a:srgbClr val="DEB340"/>
    </a:accent6>
    <a:hlink>
      <a:srgbClr val="A8BF4D"/>
    </a:hlink>
    <a:folHlink>
      <a:srgbClr val="B4CA80"/>
    </a:folHlink>
  </a:clrScheme>
</a:themeOverride>
</file>

<file path=ppt/theme/themeOverride4.xml><?xml version="1.0" encoding="utf-8"?>
<a:themeOverride xmlns:a="http://schemas.openxmlformats.org/drawingml/2006/main">
  <a:clrScheme name="Organic">
    <a:dk1>
      <a:sysClr val="windowText" lastClr="000000"/>
    </a:dk1>
    <a:lt1>
      <a:sysClr val="window" lastClr="FFFFFF"/>
    </a:lt1>
    <a:dk2>
      <a:srgbClr val="212121"/>
    </a:dk2>
    <a:lt2>
      <a:srgbClr val="DADADA"/>
    </a:lt2>
    <a:accent1>
      <a:srgbClr val="83992A"/>
    </a:accent1>
    <a:accent2>
      <a:srgbClr val="3C9770"/>
    </a:accent2>
    <a:accent3>
      <a:srgbClr val="44709D"/>
    </a:accent3>
    <a:accent4>
      <a:srgbClr val="A23C33"/>
    </a:accent4>
    <a:accent5>
      <a:srgbClr val="D97828"/>
    </a:accent5>
    <a:accent6>
      <a:srgbClr val="DEB340"/>
    </a:accent6>
    <a:hlink>
      <a:srgbClr val="A8BF4D"/>
    </a:hlink>
    <a:folHlink>
      <a:srgbClr val="B4CA80"/>
    </a:folHlink>
  </a:clrScheme>
</a:themeOverride>
</file>

<file path=ppt/theme/themeOverride5.xml><?xml version="1.0" encoding="utf-8"?>
<a:themeOverride xmlns:a="http://schemas.openxmlformats.org/drawingml/2006/main">
  <a:clrScheme name="Organic">
    <a:dk1>
      <a:sysClr val="windowText" lastClr="000000"/>
    </a:dk1>
    <a:lt1>
      <a:sysClr val="window" lastClr="FFFFFF"/>
    </a:lt1>
    <a:dk2>
      <a:srgbClr val="212121"/>
    </a:dk2>
    <a:lt2>
      <a:srgbClr val="DADADA"/>
    </a:lt2>
    <a:accent1>
      <a:srgbClr val="83992A"/>
    </a:accent1>
    <a:accent2>
      <a:srgbClr val="3C9770"/>
    </a:accent2>
    <a:accent3>
      <a:srgbClr val="44709D"/>
    </a:accent3>
    <a:accent4>
      <a:srgbClr val="A23C33"/>
    </a:accent4>
    <a:accent5>
      <a:srgbClr val="D97828"/>
    </a:accent5>
    <a:accent6>
      <a:srgbClr val="DEB340"/>
    </a:accent6>
    <a:hlink>
      <a:srgbClr val="A8BF4D"/>
    </a:hlink>
    <a:folHlink>
      <a:srgbClr val="B4CA80"/>
    </a:folHlink>
  </a:clrScheme>
</a:themeOverride>
</file>

<file path=ppt/theme/themeOverride6.xml><?xml version="1.0" encoding="utf-8"?>
<a:themeOverride xmlns:a="http://schemas.openxmlformats.org/drawingml/2006/main">
  <a:clrScheme name="Organic">
    <a:dk1>
      <a:sysClr val="windowText" lastClr="000000"/>
    </a:dk1>
    <a:lt1>
      <a:sysClr val="window" lastClr="FFFFFF"/>
    </a:lt1>
    <a:dk2>
      <a:srgbClr val="212121"/>
    </a:dk2>
    <a:lt2>
      <a:srgbClr val="DADADA"/>
    </a:lt2>
    <a:accent1>
      <a:srgbClr val="83992A"/>
    </a:accent1>
    <a:accent2>
      <a:srgbClr val="3C9770"/>
    </a:accent2>
    <a:accent3>
      <a:srgbClr val="44709D"/>
    </a:accent3>
    <a:accent4>
      <a:srgbClr val="A23C33"/>
    </a:accent4>
    <a:accent5>
      <a:srgbClr val="D97828"/>
    </a:accent5>
    <a:accent6>
      <a:srgbClr val="DEB340"/>
    </a:accent6>
    <a:hlink>
      <a:srgbClr val="A8BF4D"/>
    </a:hlink>
    <a:folHlink>
      <a:srgbClr val="B4CA80"/>
    </a:folHlink>
  </a:clrScheme>
</a:themeOverride>
</file>

<file path=ppt/theme/themeOverride7.xml><?xml version="1.0" encoding="utf-8"?>
<a:themeOverride xmlns:a="http://schemas.openxmlformats.org/drawingml/2006/main">
  <a:clrScheme name="Organic">
    <a:dk1>
      <a:sysClr val="windowText" lastClr="000000"/>
    </a:dk1>
    <a:lt1>
      <a:sysClr val="window" lastClr="FFFFFF"/>
    </a:lt1>
    <a:dk2>
      <a:srgbClr val="212121"/>
    </a:dk2>
    <a:lt2>
      <a:srgbClr val="DADADA"/>
    </a:lt2>
    <a:accent1>
      <a:srgbClr val="83992A"/>
    </a:accent1>
    <a:accent2>
      <a:srgbClr val="3C9770"/>
    </a:accent2>
    <a:accent3>
      <a:srgbClr val="44709D"/>
    </a:accent3>
    <a:accent4>
      <a:srgbClr val="A23C33"/>
    </a:accent4>
    <a:accent5>
      <a:srgbClr val="D97828"/>
    </a:accent5>
    <a:accent6>
      <a:srgbClr val="DEB340"/>
    </a:accent6>
    <a:hlink>
      <a:srgbClr val="A8BF4D"/>
    </a:hlink>
    <a:folHlink>
      <a:srgbClr val="B4CA80"/>
    </a:folHlink>
  </a:clrScheme>
</a:themeOverride>
</file>

<file path=ppt/theme/themeOverride8.xml><?xml version="1.0" encoding="utf-8"?>
<a:themeOverride xmlns:a="http://schemas.openxmlformats.org/drawingml/2006/main">
  <a:clrScheme name="Organic">
    <a:dk1>
      <a:sysClr val="windowText" lastClr="000000"/>
    </a:dk1>
    <a:lt1>
      <a:sysClr val="window" lastClr="FFFFFF"/>
    </a:lt1>
    <a:dk2>
      <a:srgbClr val="212121"/>
    </a:dk2>
    <a:lt2>
      <a:srgbClr val="DADADA"/>
    </a:lt2>
    <a:accent1>
      <a:srgbClr val="83992A"/>
    </a:accent1>
    <a:accent2>
      <a:srgbClr val="3C9770"/>
    </a:accent2>
    <a:accent3>
      <a:srgbClr val="44709D"/>
    </a:accent3>
    <a:accent4>
      <a:srgbClr val="A23C33"/>
    </a:accent4>
    <a:accent5>
      <a:srgbClr val="D97828"/>
    </a:accent5>
    <a:accent6>
      <a:srgbClr val="DEB340"/>
    </a:accent6>
    <a:hlink>
      <a:srgbClr val="A8BF4D"/>
    </a:hlink>
    <a:folHlink>
      <a:srgbClr val="B4CA80"/>
    </a:folHlink>
  </a:clrScheme>
</a:themeOverride>
</file>

<file path=ppt/theme/themeOverride9.xml><?xml version="1.0" encoding="utf-8"?>
<a:themeOverride xmlns:a="http://schemas.openxmlformats.org/drawingml/2006/main">
  <a:clrScheme name="Organic">
    <a:dk1>
      <a:sysClr val="windowText" lastClr="000000"/>
    </a:dk1>
    <a:lt1>
      <a:sysClr val="window" lastClr="FFFFFF"/>
    </a:lt1>
    <a:dk2>
      <a:srgbClr val="212121"/>
    </a:dk2>
    <a:lt2>
      <a:srgbClr val="DADADA"/>
    </a:lt2>
    <a:accent1>
      <a:srgbClr val="83992A"/>
    </a:accent1>
    <a:accent2>
      <a:srgbClr val="3C9770"/>
    </a:accent2>
    <a:accent3>
      <a:srgbClr val="44709D"/>
    </a:accent3>
    <a:accent4>
      <a:srgbClr val="A23C33"/>
    </a:accent4>
    <a:accent5>
      <a:srgbClr val="D97828"/>
    </a:accent5>
    <a:accent6>
      <a:srgbClr val="DEB340"/>
    </a:accent6>
    <a:hlink>
      <a:srgbClr val="A8BF4D"/>
    </a:hlink>
    <a:folHlink>
      <a:srgbClr val="B4CA80"/>
    </a:folHlink>
  </a:clrScheme>
</a:themeOverride>
</file>

<file path=ppt/theme/themeOverride10.xml><?xml version="1.0" encoding="utf-8"?>
<a:themeOverride xmlns:a="http://schemas.openxmlformats.org/drawingml/2006/main">
  <a:clrScheme name="Organic">
    <a:dk1>
      <a:sysClr val="windowText" lastClr="000000"/>
    </a:dk1>
    <a:lt1>
      <a:sysClr val="window" lastClr="FFFFFF"/>
    </a:lt1>
    <a:dk2>
      <a:srgbClr val="212121"/>
    </a:dk2>
    <a:lt2>
      <a:srgbClr val="DADADA"/>
    </a:lt2>
    <a:accent1>
      <a:srgbClr val="83992A"/>
    </a:accent1>
    <a:accent2>
      <a:srgbClr val="3C9770"/>
    </a:accent2>
    <a:accent3>
      <a:srgbClr val="44709D"/>
    </a:accent3>
    <a:accent4>
      <a:srgbClr val="A23C33"/>
    </a:accent4>
    <a:accent5>
      <a:srgbClr val="D97828"/>
    </a:accent5>
    <a:accent6>
      <a:srgbClr val="DEB340"/>
    </a:accent6>
    <a:hlink>
      <a:srgbClr val="A8BF4D"/>
    </a:hlink>
    <a:folHlink>
      <a:srgbClr val="B4CA80"/>
    </a:folHlink>
  </a:clrScheme>
</a:themeOverride>
</file>

<file path=ppt/theme/themeOverride11.xml><?xml version="1.0" encoding="utf-8"?>
<a:themeOverride xmlns:a="http://schemas.openxmlformats.org/drawingml/2006/main">
  <a:clrScheme name="Organic">
    <a:dk1>
      <a:sysClr val="windowText" lastClr="000000"/>
    </a:dk1>
    <a:lt1>
      <a:sysClr val="window" lastClr="FFFFFF"/>
    </a:lt1>
    <a:dk2>
      <a:srgbClr val="212121"/>
    </a:dk2>
    <a:lt2>
      <a:srgbClr val="DADADA"/>
    </a:lt2>
    <a:accent1>
      <a:srgbClr val="83992A"/>
    </a:accent1>
    <a:accent2>
      <a:srgbClr val="3C9770"/>
    </a:accent2>
    <a:accent3>
      <a:srgbClr val="44709D"/>
    </a:accent3>
    <a:accent4>
      <a:srgbClr val="A23C33"/>
    </a:accent4>
    <a:accent5>
      <a:srgbClr val="D97828"/>
    </a:accent5>
    <a:accent6>
      <a:srgbClr val="DEB340"/>
    </a:accent6>
    <a:hlink>
      <a:srgbClr val="A8BF4D"/>
    </a:hlink>
    <a:folHlink>
      <a:srgbClr val="B4CA80"/>
    </a:folHlink>
  </a:clrScheme>
</a:themeOverride>
</file>

<file path=ppt/theme/themeOverride12.xml><?xml version="1.0" encoding="utf-8"?>
<a:themeOverride xmlns:a="http://schemas.openxmlformats.org/drawingml/2006/main">
  <a:clrScheme name="Organic">
    <a:dk1>
      <a:sysClr val="windowText" lastClr="000000"/>
    </a:dk1>
    <a:lt1>
      <a:sysClr val="window" lastClr="FFFFFF"/>
    </a:lt1>
    <a:dk2>
      <a:srgbClr val="212121"/>
    </a:dk2>
    <a:lt2>
      <a:srgbClr val="DADADA"/>
    </a:lt2>
    <a:accent1>
      <a:srgbClr val="83992A"/>
    </a:accent1>
    <a:accent2>
      <a:srgbClr val="3C9770"/>
    </a:accent2>
    <a:accent3>
      <a:srgbClr val="44709D"/>
    </a:accent3>
    <a:accent4>
      <a:srgbClr val="A23C33"/>
    </a:accent4>
    <a:accent5>
      <a:srgbClr val="D97828"/>
    </a:accent5>
    <a:accent6>
      <a:srgbClr val="DEB340"/>
    </a:accent6>
    <a:hlink>
      <a:srgbClr val="A8BF4D"/>
    </a:hlink>
    <a:folHlink>
      <a:srgbClr val="B4CA80"/>
    </a:folHlink>
  </a:clrScheme>
</a:themeOverride>
</file>

<file path=ppt/theme/themeOverride13.xml><?xml version="1.0" encoding="utf-8"?>
<a:themeOverride xmlns:a="http://schemas.openxmlformats.org/drawingml/2006/main">
  <a:clrScheme name="Organic">
    <a:dk1>
      <a:sysClr val="windowText" lastClr="000000"/>
    </a:dk1>
    <a:lt1>
      <a:sysClr val="window" lastClr="FFFFFF"/>
    </a:lt1>
    <a:dk2>
      <a:srgbClr val="212121"/>
    </a:dk2>
    <a:lt2>
      <a:srgbClr val="DADADA"/>
    </a:lt2>
    <a:accent1>
      <a:srgbClr val="83992A"/>
    </a:accent1>
    <a:accent2>
      <a:srgbClr val="3C9770"/>
    </a:accent2>
    <a:accent3>
      <a:srgbClr val="44709D"/>
    </a:accent3>
    <a:accent4>
      <a:srgbClr val="A23C33"/>
    </a:accent4>
    <a:accent5>
      <a:srgbClr val="D97828"/>
    </a:accent5>
    <a:accent6>
      <a:srgbClr val="DEB340"/>
    </a:accent6>
    <a:hlink>
      <a:srgbClr val="A8BF4D"/>
    </a:hlink>
    <a:folHlink>
      <a:srgbClr val="B4CA80"/>
    </a:folHlink>
  </a:clrScheme>
</a:themeOverride>
</file>

<file path=ppt/theme/themeOverride14.xml><?xml version="1.0" encoding="utf-8"?>
<a:themeOverride xmlns:a="http://schemas.openxmlformats.org/drawingml/2006/main">
  <a:clrScheme name="Organic">
    <a:dk1>
      <a:sysClr val="windowText" lastClr="000000"/>
    </a:dk1>
    <a:lt1>
      <a:sysClr val="window" lastClr="FFFFFF"/>
    </a:lt1>
    <a:dk2>
      <a:srgbClr val="212121"/>
    </a:dk2>
    <a:lt2>
      <a:srgbClr val="DADADA"/>
    </a:lt2>
    <a:accent1>
      <a:srgbClr val="83992A"/>
    </a:accent1>
    <a:accent2>
      <a:srgbClr val="3C9770"/>
    </a:accent2>
    <a:accent3>
      <a:srgbClr val="44709D"/>
    </a:accent3>
    <a:accent4>
      <a:srgbClr val="A23C33"/>
    </a:accent4>
    <a:accent5>
      <a:srgbClr val="D97828"/>
    </a:accent5>
    <a:accent6>
      <a:srgbClr val="DEB340"/>
    </a:accent6>
    <a:hlink>
      <a:srgbClr val="A8BF4D"/>
    </a:hlink>
    <a:folHlink>
      <a:srgbClr val="B4CA80"/>
    </a:folHlink>
  </a:clrScheme>
</a:themeOverride>
</file>

<file path=ppt/theme/themeOverride15.xml><?xml version="1.0" encoding="utf-8"?>
<a:themeOverride xmlns:a="http://schemas.openxmlformats.org/drawingml/2006/main">
  <a:clrScheme name="Organic">
    <a:dk1>
      <a:sysClr val="windowText" lastClr="000000"/>
    </a:dk1>
    <a:lt1>
      <a:sysClr val="window" lastClr="FFFFFF"/>
    </a:lt1>
    <a:dk2>
      <a:srgbClr val="212121"/>
    </a:dk2>
    <a:lt2>
      <a:srgbClr val="DADADA"/>
    </a:lt2>
    <a:accent1>
      <a:srgbClr val="83992A"/>
    </a:accent1>
    <a:accent2>
      <a:srgbClr val="3C9770"/>
    </a:accent2>
    <a:accent3>
      <a:srgbClr val="44709D"/>
    </a:accent3>
    <a:accent4>
      <a:srgbClr val="A23C33"/>
    </a:accent4>
    <a:accent5>
      <a:srgbClr val="D97828"/>
    </a:accent5>
    <a:accent6>
      <a:srgbClr val="DEB340"/>
    </a:accent6>
    <a:hlink>
      <a:srgbClr val="A8BF4D"/>
    </a:hlink>
    <a:folHlink>
      <a:srgbClr val="B4CA80"/>
    </a:folHlink>
  </a:clrScheme>
</a:themeOverride>
</file>

<file path=ppt/theme/themeOverride16.xml><?xml version="1.0" encoding="utf-8"?>
<a:themeOverride xmlns:a="http://schemas.openxmlformats.org/drawingml/2006/main">
  <a:clrScheme name="Organic">
    <a:dk1>
      <a:sysClr val="windowText" lastClr="000000"/>
    </a:dk1>
    <a:lt1>
      <a:sysClr val="window" lastClr="FFFFFF"/>
    </a:lt1>
    <a:dk2>
      <a:srgbClr val="212121"/>
    </a:dk2>
    <a:lt2>
      <a:srgbClr val="DADADA"/>
    </a:lt2>
    <a:accent1>
      <a:srgbClr val="83992A"/>
    </a:accent1>
    <a:accent2>
      <a:srgbClr val="3C9770"/>
    </a:accent2>
    <a:accent3>
      <a:srgbClr val="44709D"/>
    </a:accent3>
    <a:accent4>
      <a:srgbClr val="A23C33"/>
    </a:accent4>
    <a:accent5>
      <a:srgbClr val="D97828"/>
    </a:accent5>
    <a:accent6>
      <a:srgbClr val="DEB340"/>
    </a:accent6>
    <a:hlink>
      <a:srgbClr val="A8BF4D"/>
    </a:hlink>
    <a:folHlink>
      <a:srgbClr val="B4CA80"/>
    </a:folHlink>
  </a:clrScheme>
</a:themeOverride>
</file>

<file path=ppt/theme/themeOverride17.xml><?xml version="1.0" encoding="utf-8"?>
<a:themeOverride xmlns:a="http://schemas.openxmlformats.org/drawingml/2006/main">
  <a:clrScheme name="Organic">
    <a:dk1>
      <a:sysClr val="windowText" lastClr="000000"/>
    </a:dk1>
    <a:lt1>
      <a:sysClr val="window" lastClr="FFFFFF"/>
    </a:lt1>
    <a:dk2>
      <a:srgbClr val="212121"/>
    </a:dk2>
    <a:lt2>
      <a:srgbClr val="DADADA"/>
    </a:lt2>
    <a:accent1>
      <a:srgbClr val="83992A"/>
    </a:accent1>
    <a:accent2>
      <a:srgbClr val="3C9770"/>
    </a:accent2>
    <a:accent3>
      <a:srgbClr val="44709D"/>
    </a:accent3>
    <a:accent4>
      <a:srgbClr val="A23C33"/>
    </a:accent4>
    <a:accent5>
      <a:srgbClr val="D97828"/>
    </a:accent5>
    <a:accent6>
      <a:srgbClr val="DEB340"/>
    </a:accent6>
    <a:hlink>
      <a:srgbClr val="A8BF4D"/>
    </a:hlink>
    <a:folHlink>
      <a:srgbClr val="B4CA80"/>
    </a:folHlink>
  </a:clrScheme>
</a:themeOverride>
</file>

<file path=ppt/theme/themeOverride18.xml><?xml version="1.0" encoding="utf-8"?>
<a:themeOverride xmlns:a="http://schemas.openxmlformats.org/drawingml/2006/main">
  <a:clrScheme name="Organic">
    <a:dk1>
      <a:sysClr val="windowText" lastClr="000000"/>
    </a:dk1>
    <a:lt1>
      <a:sysClr val="window" lastClr="FFFFFF"/>
    </a:lt1>
    <a:dk2>
      <a:srgbClr val="212121"/>
    </a:dk2>
    <a:lt2>
      <a:srgbClr val="DADADA"/>
    </a:lt2>
    <a:accent1>
      <a:srgbClr val="83992A"/>
    </a:accent1>
    <a:accent2>
      <a:srgbClr val="3C9770"/>
    </a:accent2>
    <a:accent3>
      <a:srgbClr val="44709D"/>
    </a:accent3>
    <a:accent4>
      <a:srgbClr val="A23C33"/>
    </a:accent4>
    <a:accent5>
      <a:srgbClr val="D97828"/>
    </a:accent5>
    <a:accent6>
      <a:srgbClr val="DEB340"/>
    </a:accent6>
    <a:hlink>
      <a:srgbClr val="A8BF4D"/>
    </a:hlink>
    <a:folHlink>
      <a:srgbClr val="B4CA80"/>
    </a:folHlink>
  </a:clrScheme>
</a:themeOverride>
</file>

<file path=ppt/theme/themeOverride19.xml><?xml version="1.0" encoding="utf-8"?>
<a:themeOverride xmlns:a="http://schemas.openxmlformats.org/drawingml/2006/main">
  <a:clrScheme name="Organic">
    <a:dk1>
      <a:sysClr val="windowText" lastClr="000000"/>
    </a:dk1>
    <a:lt1>
      <a:sysClr val="window" lastClr="FFFFFF"/>
    </a:lt1>
    <a:dk2>
      <a:srgbClr val="212121"/>
    </a:dk2>
    <a:lt2>
      <a:srgbClr val="DADADA"/>
    </a:lt2>
    <a:accent1>
      <a:srgbClr val="83992A"/>
    </a:accent1>
    <a:accent2>
      <a:srgbClr val="3C9770"/>
    </a:accent2>
    <a:accent3>
      <a:srgbClr val="44709D"/>
    </a:accent3>
    <a:accent4>
      <a:srgbClr val="A23C33"/>
    </a:accent4>
    <a:accent5>
      <a:srgbClr val="D97828"/>
    </a:accent5>
    <a:accent6>
      <a:srgbClr val="DEB340"/>
    </a:accent6>
    <a:hlink>
      <a:srgbClr val="A8BF4D"/>
    </a:hlink>
    <a:folHlink>
      <a:srgbClr val="B4CA80"/>
    </a:folHlink>
  </a:clrScheme>
</a:themeOverride>
</file>

<file path=ppt/theme/themeOverride20.xml><?xml version="1.0" encoding="utf-8"?>
<a:themeOverride xmlns:a="http://schemas.openxmlformats.org/drawingml/2006/main">
  <a:clrScheme name="Organic">
    <a:dk1>
      <a:sysClr val="windowText" lastClr="000000"/>
    </a:dk1>
    <a:lt1>
      <a:sysClr val="window" lastClr="FFFFFF"/>
    </a:lt1>
    <a:dk2>
      <a:srgbClr val="212121"/>
    </a:dk2>
    <a:lt2>
      <a:srgbClr val="DADADA"/>
    </a:lt2>
    <a:accent1>
      <a:srgbClr val="83992A"/>
    </a:accent1>
    <a:accent2>
      <a:srgbClr val="3C9770"/>
    </a:accent2>
    <a:accent3>
      <a:srgbClr val="44709D"/>
    </a:accent3>
    <a:accent4>
      <a:srgbClr val="A23C33"/>
    </a:accent4>
    <a:accent5>
      <a:srgbClr val="D97828"/>
    </a:accent5>
    <a:accent6>
      <a:srgbClr val="DEB340"/>
    </a:accent6>
    <a:hlink>
      <a:srgbClr val="A8BF4D"/>
    </a:hlink>
    <a:folHlink>
      <a:srgbClr val="B4CA80"/>
    </a:folHlink>
  </a:clrScheme>
</a:themeOverride>
</file>

<file path=ppt/theme/themeOverride21.xml><?xml version="1.0" encoding="utf-8"?>
<a:themeOverride xmlns:a="http://schemas.openxmlformats.org/drawingml/2006/main">
  <a:clrScheme name="Organic">
    <a:dk1>
      <a:sysClr val="windowText" lastClr="000000"/>
    </a:dk1>
    <a:lt1>
      <a:sysClr val="window" lastClr="FFFFFF"/>
    </a:lt1>
    <a:dk2>
      <a:srgbClr val="212121"/>
    </a:dk2>
    <a:lt2>
      <a:srgbClr val="DADADA"/>
    </a:lt2>
    <a:accent1>
      <a:srgbClr val="83992A"/>
    </a:accent1>
    <a:accent2>
      <a:srgbClr val="3C9770"/>
    </a:accent2>
    <a:accent3>
      <a:srgbClr val="44709D"/>
    </a:accent3>
    <a:accent4>
      <a:srgbClr val="A23C33"/>
    </a:accent4>
    <a:accent5>
      <a:srgbClr val="D97828"/>
    </a:accent5>
    <a:accent6>
      <a:srgbClr val="DEB340"/>
    </a:accent6>
    <a:hlink>
      <a:srgbClr val="A8BF4D"/>
    </a:hlink>
    <a:folHlink>
      <a:srgbClr val="B4CA80"/>
    </a:folHlink>
  </a:clrScheme>
</a:themeOverride>
</file>

<file path=ppt/theme/themeOverride22.xml><?xml version="1.0" encoding="utf-8"?>
<a:themeOverride xmlns:a="http://schemas.openxmlformats.org/drawingml/2006/main">
  <a:clrScheme name="Organic">
    <a:dk1>
      <a:sysClr val="windowText" lastClr="000000"/>
    </a:dk1>
    <a:lt1>
      <a:sysClr val="window" lastClr="FFFFFF"/>
    </a:lt1>
    <a:dk2>
      <a:srgbClr val="212121"/>
    </a:dk2>
    <a:lt2>
      <a:srgbClr val="DADADA"/>
    </a:lt2>
    <a:accent1>
      <a:srgbClr val="83992A"/>
    </a:accent1>
    <a:accent2>
      <a:srgbClr val="3C9770"/>
    </a:accent2>
    <a:accent3>
      <a:srgbClr val="44709D"/>
    </a:accent3>
    <a:accent4>
      <a:srgbClr val="A23C33"/>
    </a:accent4>
    <a:accent5>
      <a:srgbClr val="D97828"/>
    </a:accent5>
    <a:accent6>
      <a:srgbClr val="DEB340"/>
    </a:accent6>
    <a:hlink>
      <a:srgbClr val="A8BF4D"/>
    </a:hlink>
    <a:folHlink>
      <a:srgbClr val="B4CA80"/>
    </a:folHlink>
  </a:clrScheme>
</a:themeOverride>
</file>

<file path=ppt/theme/themeOverride23.xml><?xml version="1.0" encoding="utf-8"?>
<a:themeOverride xmlns:a="http://schemas.openxmlformats.org/drawingml/2006/main">
  <a:clrScheme name="Organic">
    <a:dk1>
      <a:sysClr val="windowText" lastClr="000000"/>
    </a:dk1>
    <a:lt1>
      <a:sysClr val="window" lastClr="FFFFFF"/>
    </a:lt1>
    <a:dk2>
      <a:srgbClr val="212121"/>
    </a:dk2>
    <a:lt2>
      <a:srgbClr val="DADADA"/>
    </a:lt2>
    <a:accent1>
      <a:srgbClr val="83992A"/>
    </a:accent1>
    <a:accent2>
      <a:srgbClr val="3C9770"/>
    </a:accent2>
    <a:accent3>
      <a:srgbClr val="44709D"/>
    </a:accent3>
    <a:accent4>
      <a:srgbClr val="A23C33"/>
    </a:accent4>
    <a:accent5>
      <a:srgbClr val="D97828"/>
    </a:accent5>
    <a:accent6>
      <a:srgbClr val="DEB340"/>
    </a:accent6>
    <a:hlink>
      <a:srgbClr val="A8BF4D"/>
    </a:hlink>
    <a:folHlink>
      <a:srgbClr val="B4CA80"/>
    </a:folHlink>
  </a:clrScheme>
</a:themeOverride>
</file>

<file path=ppt/theme/themeOverride24.xml><?xml version="1.0" encoding="utf-8"?>
<a:themeOverride xmlns:a="http://schemas.openxmlformats.org/drawingml/2006/main">
  <a:clrScheme name="Organic">
    <a:dk1>
      <a:sysClr val="windowText" lastClr="000000"/>
    </a:dk1>
    <a:lt1>
      <a:sysClr val="window" lastClr="FFFFFF"/>
    </a:lt1>
    <a:dk2>
      <a:srgbClr val="212121"/>
    </a:dk2>
    <a:lt2>
      <a:srgbClr val="DADADA"/>
    </a:lt2>
    <a:accent1>
      <a:srgbClr val="83992A"/>
    </a:accent1>
    <a:accent2>
      <a:srgbClr val="3C9770"/>
    </a:accent2>
    <a:accent3>
      <a:srgbClr val="44709D"/>
    </a:accent3>
    <a:accent4>
      <a:srgbClr val="A23C33"/>
    </a:accent4>
    <a:accent5>
      <a:srgbClr val="D97828"/>
    </a:accent5>
    <a:accent6>
      <a:srgbClr val="DEB340"/>
    </a:accent6>
    <a:hlink>
      <a:srgbClr val="A8BF4D"/>
    </a:hlink>
    <a:folHlink>
      <a:srgbClr val="B4CA80"/>
    </a:folHlink>
  </a:clrScheme>
</a:themeOverride>
</file>

<file path=ppt/theme/themeOverride25.xml><?xml version="1.0" encoding="utf-8"?>
<a:themeOverride xmlns:a="http://schemas.openxmlformats.org/drawingml/2006/main">
  <a:clrScheme name="Organic">
    <a:dk1>
      <a:sysClr val="windowText" lastClr="000000"/>
    </a:dk1>
    <a:lt1>
      <a:sysClr val="window" lastClr="FFFFFF"/>
    </a:lt1>
    <a:dk2>
      <a:srgbClr val="212121"/>
    </a:dk2>
    <a:lt2>
      <a:srgbClr val="DADADA"/>
    </a:lt2>
    <a:accent1>
      <a:srgbClr val="83992A"/>
    </a:accent1>
    <a:accent2>
      <a:srgbClr val="3C9770"/>
    </a:accent2>
    <a:accent3>
      <a:srgbClr val="44709D"/>
    </a:accent3>
    <a:accent4>
      <a:srgbClr val="A23C33"/>
    </a:accent4>
    <a:accent5>
      <a:srgbClr val="D97828"/>
    </a:accent5>
    <a:accent6>
      <a:srgbClr val="DEB340"/>
    </a:accent6>
    <a:hlink>
      <a:srgbClr val="A8BF4D"/>
    </a:hlink>
    <a:folHlink>
      <a:srgbClr val="B4CA80"/>
    </a:folHlink>
  </a:clrScheme>
</a:themeOverride>
</file>

<file path=ppt/theme/themeOverride26.xml><?xml version="1.0" encoding="utf-8"?>
<a:themeOverride xmlns:a="http://schemas.openxmlformats.org/drawingml/2006/main">
  <a:clrScheme name="Organic">
    <a:dk1>
      <a:sysClr val="windowText" lastClr="000000"/>
    </a:dk1>
    <a:lt1>
      <a:sysClr val="window" lastClr="FFFFFF"/>
    </a:lt1>
    <a:dk2>
      <a:srgbClr val="212121"/>
    </a:dk2>
    <a:lt2>
      <a:srgbClr val="DADADA"/>
    </a:lt2>
    <a:accent1>
      <a:srgbClr val="83992A"/>
    </a:accent1>
    <a:accent2>
      <a:srgbClr val="3C9770"/>
    </a:accent2>
    <a:accent3>
      <a:srgbClr val="44709D"/>
    </a:accent3>
    <a:accent4>
      <a:srgbClr val="A23C33"/>
    </a:accent4>
    <a:accent5>
      <a:srgbClr val="D97828"/>
    </a:accent5>
    <a:accent6>
      <a:srgbClr val="DEB340"/>
    </a:accent6>
    <a:hlink>
      <a:srgbClr val="A8BF4D"/>
    </a:hlink>
    <a:folHlink>
      <a:srgbClr val="B4CA80"/>
    </a:folHlink>
  </a:clrScheme>
</a:themeOverride>
</file>

<file path=ppt/theme/themeOverride27.xml><?xml version="1.0" encoding="utf-8"?>
<a:themeOverride xmlns:a="http://schemas.openxmlformats.org/drawingml/2006/main">
  <a:clrScheme name="Organic">
    <a:dk1>
      <a:sysClr val="windowText" lastClr="000000"/>
    </a:dk1>
    <a:lt1>
      <a:sysClr val="window" lastClr="FFFFFF"/>
    </a:lt1>
    <a:dk2>
      <a:srgbClr val="212121"/>
    </a:dk2>
    <a:lt2>
      <a:srgbClr val="DADADA"/>
    </a:lt2>
    <a:accent1>
      <a:srgbClr val="83992A"/>
    </a:accent1>
    <a:accent2>
      <a:srgbClr val="3C9770"/>
    </a:accent2>
    <a:accent3>
      <a:srgbClr val="44709D"/>
    </a:accent3>
    <a:accent4>
      <a:srgbClr val="A23C33"/>
    </a:accent4>
    <a:accent5>
      <a:srgbClr val="D97828"/>
    </a:accent5>
    <a:accent6>
      <a:srgbClr val="DEB340"/>
    </a:accent6>
    <a:hlink>
      <a:srgbClr val="A8BF4D"/>
    </a:hlink>
    <a:folHlink>
      <a:srgbClr val="B4CA80"/>
    </a:folHlink>
  </a:clrScheme>
</a:themeOverride>
</file>

<file path=ppt/theme/themeOverride28.xml><?xml version="1.0" encoding="utf-8"?>
<a:themeOverride xmlns:a="http://schemas.openxmlformats.org/drawingml/2006/main">
  <a:clrScheme name="Organic">
    <a:dk1>
      <a:sysClr val="windowText" lastClr="000000"/>
    </a:dk1>
    <a:lt1>
      <a:sysClr val="window" lastClr="FFFFFF"/>
    </a:lt1>
    <a:dk2>
      <a:srgbClr val="212121"/>
    </a:dk2>
    <a:lt2>
      <a:srgbClr val="DADADA"/>
    </a:lt2>
    <a:accent1>
      <a:srgbClr val="83992A"/>
    </a:accent1>
    <a:accent2>
      <a:srgbClr val="3C9770"/>
    </a:accent2>
    <a:accent3>
      <a:srgbClr val="44709D"/>
    </a:accent3>
    <a:accent4>
      <a:srgbClr val="A23C33"/>
    </a:accent4>
    <a:accent5>
      <a:srgbClr val="D97828"/>
    </a:accent5>
    <a:accent6>
      <a:srgbClr val="DEB340"/>
    </a:accent6>
    <a:hlink>
      <a:srgbClr val="A8BF4D"/>
    </a:hlink>
    <a:folHlink>
      <a:srgbClr val="B4CA80"/>
    </a:folHlink>
  </a:clrScheme>
</a:themeOverride>
</file>

<file path=ppt/theme/themeOverride29.xml><?xml version="1.0" encoding="utf-8"?>
<a:themeOverride xmlns:a="http://schemas.openxmlformats.org/drawingml/2006/main">
  <a:clrScheme name="Organic">
    <a:dk1>
      <a:sysClr val="windowText" lastClr="000000"/>
    </a:dk1>
    <a:lt1>
      <a:sysClr val="window" lastClr="FFFFFF"/>
    </a:lt1>
    <a:dk2>
      <a:srgbClr val="212121"/>
    </a:dk2>
    <a:lt2>
      <a:srgbClr val="DADADA"/>
    </a:lt2>
    <a:accent1>
      <a:srgbClr val="83992A"/>
    </a:accent1>
    <a:accent2>
      <a:srgbClr val="3C9770"/>
    </a:accent2>
    <a:accent3>
      <a:srgbClr val="44709D"/>
    </a:accent3>
    <a:accent4>
      <a:srgbClr val="A23C33"/>
    </a:accent4>
    <a:accent5>
      <a:srgbClr val="D97828"/>
    </a:accent5>
    <a:accent6>
      <a:srgbClr val="DEB340"/>
    </a:accent6>
    <a:hlink>
      <a:srgbClr val="A8BF4D"/>
    </a:hlink>
    <a:folHlink>
      <a:srgbClr val="B4CA80"/>
    </a:folHlink>
  </a:clrScheme>
</a:themeOverride>
</file>

<file path=ppt/theme/themeOverride30.xml><?xml version="1.0" encoding="utf-8"?>
<a:themeOverride xmlns:a="http://schemas.openxmlformats.org/drawingml/2006/main">
  <a:clrScheme name="Organic">
    <a:dk1>
      <a:sysClr val="windowText" lastClr="000000"/>
    </a:dk1>
    <a:lt1>
      <a:sysClr val="window" lastClr="FFFFFF"/>
    </a:lt1>
    <a:dk2>
      <a:srgbClr val="212121"/>
    </a:dk2>
    <a:lt2>
      <a:srgbClr val="DADADA"/>
    </a:lt2>
    <a:accent1>
      <a:srgbClr val="83992A"/>
    </a:accent1>
    <a:accent2>
      <a:srgbClr val="3C9770"/>
    </a:accent2>
    <a:accent3>
      <a:srgbClr val="44709D"/>
    </a:accent3>
    <a:accent4>
      <a:srgbClr val="A23C33"/>
    </a:accent4>
    <a:accent5>
      <a:srgbClr val="D97828"/>
    </a:accent5>
    <a:accent6>
      <a:srgbClr val="DEB340"/>
    </a:accent6>
    <a:hlink>
      <a:srgbClr val="A8BF4D"/>
    </a:hlink>
    <a:folHlink>
      <a:srgbClr val="B4CA80"/>
    </a:folHlink>
  </a:clrScheme>
</a:themeOverride>
</file>

<file path=ppt/theme/themeOverride31.xml><?xml version="1.0" encoding="utf-8"?>
<a:themeOverride xmlns:a="http://schemas.openxmlformats.org/drawingml/2006/main">
  <a:clrScheme name="Organic">
    <a:dk1>
      <a:sysClr val="windowText" lastClr="000000"/>
    </a:dk1>
    <a:lt1>
      <a:sysClr val="window" lastClr="FFFFFF"/>
    </a:lt1>
    <a:dk2>
      <a:srgbClr val="212121"/>
    </a:dk2>
    <a:lt2>
      <a:srgbClr val="DADADA"/>
    </a:lt2>
    <a:accent1>
      <a:srgbClr val="83992A"/>
    </a:accent1>
    <a:accent2>
      <a:srgbClr val="3C9770"/>
    </a:accent2>
    <a:accent3>
      <a:srgbClr val="44709D"/>
    </a:accent3>
    <a:accent4>
      <a:srgbClr val="A23C33"/>
    </a:accent4>
    <a:accent5>
      <a:srgbClr val="D97828"/>
    </a:accent5>
    <a:accent6>
      <a:srgbClr val="DEB340"/>
    </a:accent6>
    <a:hlink>
      <a:srgbClr val="A8BF4D"/>
    </a:hlink>
    <a:folHlink>
      <a:srgbClr val="B4CA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12532</TotalTime>
  <Words>2352</Words>
  <Application>Microsoft Office PowerPoint</Application>
  <PresentationFormat>On-screen Show (4:3)</PresentationFormat>
  <Paragraphs>584</Paragraphs>
  <Slides>83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84" baseType="lpstr">
      <vt:lpstr>CRC Training template</vt:lpstr>
      <vt:lpstr>NATIONAL COMPASSIONATE, RESPECTFUL AND CARING TRAINING</vt:lpstr>
      <vt:lpstr>Chapter introduction</vt:lpstr>
      <vt:lpstr>Chapter Objective </vt:lpstr>
      <vt:lpstr>Enabling objectives</vt:lpstr>
      <vt:lpstr>Outline</vt:lpstr>
      <vt:lpstr>PowerPoint Presentation</vt:lpstr>
      <vt:lpstr>Session objectives</vt:lpstr>
      <vt:lpstr> Definitions of Ethics and Health Care Ethics</vt:lpstr>
      <vt:lpstr>Definition of Ethics and Health Care Ethics Continues</vt:lpstr>
      <vt:lpstr>Definition of Ethics continues</vt:lpstr>
      <vt:lpstr>PowerPoint Presentation</vt:lpstr>
      <vt:lpstr>PowerPoint Presentation</vt:lpstr>
      <vt:lpstr>PowerPoint Presentation</vt:lpstr>
      <vt:lpstr>Ethical principles---</vt:lpstr>
      <vt:lpstr>Autonomy  </vt:lpstr>
      <vt:lpstr>Autonomy ---</vt:lpstr>
      <vt:lpstr>Beneficence </vt:lpstr>
      <vt:lpstr>Beneficence...</vt:lpstr>
      <vt:lpstr>Non-maleficence</vt:lpstr>
      <vt:lpstr>Non-maleficence…</vt:lpstr>
      <vt:lpstr>Justice </vt:lpstr>
      <vt:lpstr>Justice…</vt:lpstr>
      <vt:lpstr>Summary   </vt:lpstr>
      <vt:lpstr>PowerPoint Presentation</vt:lpstr>
      <vt:lpstr>PowerPoint Presentation</vt:lpstr>
      <vt:lpstr>Session objectives </vt:lpstr>
      <vt:lpstr>PowerPoint Presentation</vt:lpstr>
      <vt:lpstr>Confidentiality </vt:lpstr>
      <vt:lpstr>Confidentiality…</vt:lpstr>
      <vt:lpstr>Confidentiality …</vt:lpstr>
      <vt:lpstr>Confidentiality…</vt:lpstr>
      <vt:lpstr>Confidentiality…</vt:lpstr>
      <vt:lpstr>PowerPoint Presentation</vt:lpstr>
      <vt:lpstr>Informed consent</vt:lpstr>
      <vt:lpstr>Informed consent…</vt:lpstr>
      <vt:lpstr>Informed consent---</vt:lpstr>
      <vt:lpstr>Informed Consent-- </vt:lpstr>
      <vt:lpstr>Informed consent…</vt:lpstr>
      <vt:lpstr>  Informed consent …</vt:lpstr>
      <vt:lpstr>Informed consent and confidentiality…</vt:lpstr>
      <vt:lpstr>Summary </vt:lpstr>
      <vt:lpstr>PowerPoint Presentation</vt:lpstr>
      <vt:lpstr>Session 2.3 </vt:lpstr>
      <vt:lpstr> Session objectives:  </vt:lpstr>
      <vt:lpstr> Preventive ethics…  </vt:lpstr>
      <vt:lpstr>Preventive ethics…</vt:lpstr>
      <vt:lpstr>Preventive ethics…</vt:lpstr>
      <vt:lpstr>Preventive ethics…</vt:lpstr>
      <vt:lpstr>Preventive ethics…</vt:lpstr>
      <vt:lpstr>Preventive ethics…</vt:lpstr>
      <vt:lpstr>Preventive ethics…</vt:lpstr>
      <vt:lpstr>Preventive ethics…</vt:lpstr>
      <vt:lpstr>Preventive ethics…</vt:lpstr>
      <vt:lpstr>Preventive ethics…</vt:lpstr>
      <vt:lpstr>Preventive ethics… </vt:lpstr>
      <vt:lpstr>Ethical dilemmas…</vt:lpstr>
      <vt:lpstr>Preventive ethics…</vt:lpstr>
      <vt:lpstr>Preventive ethics… Priority setting and rationing </vt:lpstr>
      <vt:lpstr>Preventive ethics…</vt:lpstr>
      <vt:lpstr>Preventive ethics…</vt:lpstr>
      <vt:lpstr>Preventive ethics</vt:lpstr>
      <vt:lpstr>PowerPoint Presentation</vt:lpstr>
      <vt:lpstr>Session 2.4</vt:lpstr>
      <vt:lpstr>Session objectives</vt:lpstr>
      <vt:lpstr>The relation between Ethics and law </vt:lpstr>
      <vt:lpstr>The relationship between health ethics and the law</vt:lpstr>
      <vt:lpstr>Ethics Vs Law</vt:lpstr>
      <vt:lpstr>Ethics and law… </vt:lpstr>
      <vt:lpstr>Ethics and law…</vt:lpstr>
      <vt:lpstr>Ethics and law…</vt:lpstr>
      <vt:lpstr>Ethics and law…</vt:lpstr>
      <vt:lpstr>Ethics and law…</vt:lpstr>
      <vt:lpstr>Ethics and law…</vt:lpstr>
      <vt:lpstr>Ethics and law…</vt:lpstr>
      <vt:lpstr>Ethics and law…</vt:lpstr>
      <vt:lpstr> Ethics and law… </vt:lpstr>
      <vt:lpstr> </vt:lpstr>
      <vt:lpstr>Patient right…</vt:lpstr>
      <vt:lpstr>Patient right…</vt:lpstr>
      <vt:lpstr>Patients responsibilities</vt:lpstr>
      <vt:lpstr>PowerPoint Presentation</vt:lpstr>
      <vt:lpstr>References </vt:lpstr>
      <vt:lpstr>Thank you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NATIONAL COMPASSIONATE, RESPECTFUL AND CARING TRAINING</dc:title>
  <dc:creator>user</dc:creator>
  <cp:lastModifiedBy>Lili</cp:lastModifiedBy>
  <cp:revision>366</cp:revision>
  <dcterms:created xsi:type="dcterms:W3CDTF">2016-08-17T11:29:18Z</dcterms:created>
  <dcterms:modified xsi:type="dcterms:W3CDTF">2017-06-26T06:25:40Z</dcterms:modified>
</cp:coreProperties>
</file>