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89" r:id="rId3"/>
    <p:sldId id="290" r:id="rId4"/>
    <p:sldId id="257" r:id="rId5"/>
    <p:sldId id="281" r:id="rId6"/>
    <p:sldId id="258" r:id="rId7"/>
    <p:sldId id="259" r:id="rId8"/>
    <p:sldId id="260" r:id="rId9"/>
    <p:sldId id="282" r:id="rId10"/>
    <p:sldId id="261" r:id="rId11"/>
    <p:sldId id="262" r:id="rId12"/>
    <p:sldId id="263" r:id="rId13"/>
    <p:sldId id="264" r:id="rId14"/>
    <p:sldId id="283" r:id="rId15"/>
    <p:sldId id="265" r:id="rId16"/>
    <p:sldId id="284" r:id="rId17"/>
    <p:sldId id="266" r:id="rId18"/>
    <p:sldId id="267" r:id="rId19"/>
    <p:sldId id="268" r:id="rId20"/>
    <p:sldId id="269" r:id="rId21"/>
    <p:sldId id="270" r:id="rId22"/>
    <p:sldId id="271" r:id="rId23"/>
    <p:sldId id="272" r:id="rId24"/>
    <p:sldId id="273" r:id="rId25"/>
    <p:sldId id="285" r:id="rId26"/>
    <p:sldId id="274" r:id="rId27"/>
    <p:sldId id="286" r:id="rId28"/>
    <p:sldId id="275" r:id="rId29"/>
    <p:sldId id="287" r:id="rId30"/>
    <p:sldId id="276" r:id="rId31"/>
    <p:sldId id="277" r:id="rId32"/>
    <p:sldId id="278" r:id="rId33"/>
    <p:sldId id="279" r:id="rId34"/>
    <p:sldId id="288" r:id="rId35"/>
    <p:sldId id="280"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11/13/2023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11/13/2023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11/13/2023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11/13/2023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11/13/2023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11/13/2023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11/13/2023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11/13/2023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11/13/2023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11/13/2023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11/13/2023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11/13/2023</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Ethical code standards and scope of practice </a:t>
            </a:r>
            <a:endParaRPr lang="en-US" dirty="0"/>
          </a:p>
        </p:txBody>
      </p:sp>
      <p:sp>
        <p:nvSpPr>
          <p:cNvPr id="3" name="Subtitle 2"/>
          <p:cNvSpPr>
            <a:spLocks noGrp="1"/>
          </p:cNvSpPr>
          <p:nvPr>
            <p:ph type="subTitle" idx="1"/>
          </p:nvPr>
        </p:nvSpPr>
        <p:spPr/>
        <p:txBody>
          <a:bodyPr/>
          <a:lstStyle/>
          <a:p>
            <a:r>
              <a:rPr lang="en-US" dirty="0" err="1" smtClean="0"/>
              <a:t>Leulayehu</a:t>
            </a:r>
            <a:r>
              <a:rPr lang="en-US" dirty="0" smtClean="0"/>
              <a:t> </a:t>
            </a:r>
            <a:r>
              <a:rPr lang="en-US" dirty="0" err="1" smtClean="0"/>
              <a:t>akalu</a:t>
            </a:r>
            <a:r>
              <a:rPr lang="en-US" dirty="0" smtClean="0"/>
              <a:t> (</a:t>
            </a:r>
            <a:r>
              <a:rPr lang="en-US" dirty="0" err="1" smtClean="0"/>
              <a:t>Ass.professor</a:t>
            </a:r>
            <a:r>
              <a:rPr lang="en-US" dirty="0" smtClean="0"/>
              <a:t> )</a:t>
            </a:r>
            <a:endParaRPr lang="en-US" dirty="0"/>
          </a:p>
        </p:txBody>
      </p:sp>
    </p:spTree>
    <p:extLst>
      <p:ext uri="{BB962C8B-B14F-4D97-AF65-F5344CB8AC3E}">
        <p14:creationId xmlns:p14="http://schemas.microsoft.com/office/powerpoint/2010/main" val="4109977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 </a:t>
            </a:r>
            <a:endParaRPr lang="en-US" dirty="0"/>
          </a:p>
        </p:txBody>
      </p:sp>
      <p:sp>
        <p:nvSpPr>
          <p:cNvPr id="3" name="Content Placeholder 2"/>
          <p:cNvSpPr>
            <a:spLocks noGrp="1"/>
          </p:cNvSpPr>
          <p:nvPr>
            <p:ph idx="1"/>
          </p:nvPr>
        </p:nvSpPr>
        <p:spPr/>
        <p:txBody>
          <a:bodyPr/>
          <a:lstStyle/>
          <a:p>
            <a:r>
              <a:rPr lang="en-US" dirty="0" smtClean="0"/>
              <a:t>At the end of this session the learner will be able to </a:t>
            </a:r>
          </a:p>
          <a:p>
            <a:r>
              <a:rPr lang="en-US" dirty="0" smtClean="0"/>
              <a:t>Describe code of ethics </a:t>
            </a:r>
          </a:p>
          <a:p>
            <a:r>
              <a:rPr lang="en-US" dirty="0" smtClean="0"/>
              <a:t>Describe  scope of practice </a:t>
            </a:r>
            <a:r>
              <a:rPr lang="en-US" smtClean="0"/>
              <a:t>and standards for </a:t>
            </a:r>
            <a:r>
              <a:rPr lang="en-US" dirty="0" err="1" smtClean="0"/>
              <a:t>Bsc</a:t>
            </a:r>
            <a:r>
              <a:rPr lang="en-US" dirty="0" smtClean="0"/>
              <a:t> anesthetists </a:t>
            </a:r>
            <a:endParaRPr lang="en-US" dirty="0"/>
          </a:p>
        </p:txBody>
      </p:sp>
    </p:spTree>
    <p:extLst>
      <p:ext uri="{BB962C8B-B14F-4D97-AF65-F5344CB8AC3E}">
        <p14:creationId xmlns:p14="http://schemas.microsoft.com/office/powerpoint/2010/main" val="2638144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Ethical code </a:t>
            </a:r>
            <a:endParaRPr lang="en-US" dirty="0"/>
          </a:p>
        </p:txBody>
      </p:sp>
      <p:sp>
        <p:nvSpPr>
          <p:cNvPr id="3" name="Content Placeholder 2"/>
          <p:cNvSpPr>
            <a:spLocks noGrp="1"/>
          </p:cNvSpPr>
          <p:nvPr>
            <p:ph idx="1"/>
          </p:nvPr>
        </p:nvSpPr>
        <p:spPr/>
        <p:txBody>
          <a:bodyPr>
            <a:normAutofit/>
          </a:bodyPr>
          <a:lstStyle/>
          <a:p>
            <a:r>
              <a:rPr lang="en-US" sz="2400" dirty="0"/>
              <a:t>Man</a:t>
            </a:r>
            <a:r>
              <a:rPr lang="de-DE" sz="2400" dirty="0"/>
              <a:t>y professions and communities have formalized ethical codes to guide professionals in their field</a:t>
            </a:r>
          </a:p>
          <a:p>
            <a:pPr lvl="1"/>
            <a:r>
              <a:rPr lang="de-DE" sz="2400" dirty="0"/>
              <a:t>The Hippocratic Oath: doctors should „do no harm“ to their patients.</a:t>
            </a:r>
          </a:p>
          <a:p>
            <a:pPr lvl="1"/>
            <a:r>
              <a:rPr lang="de-DE" sz="2400" dirty="0"/>
              <a:t>Professional engineers code of ethics: „</a:t>
            </a:r>
            <a:r>
              <a:rPr lang="en-US" sz="2400" dirty="0"/>
              <a:t>hold paramount the safety, health, and welfare of the public.”</a:t>
            </a:r>
          </a:p>
          <a:p>
            <a:pPr lvl="1"/>
            <a:r>
              <a:rPr lang="en-US" sz="2400" dirty="0"/>
              <a:t>First law of robotics: “A robot may not injure a human being.”</a:t>
            </a:r>
            <a:endParaRPr lang="de-DE" sz="2400" dirty="0"/>
          </a:p>
          <a:p>
            <a:r>
              <a:rPr lang="de-DE" sz="2400" dirty="0"/>
              <a:t>Ideally, ethical principles become ingrained in everyday professional practices – part of the way a profession is practiced.</a:t>
            </a:r>
          </a:p>
          <a:p>
            <a:r>
              <a:rPr lang="de-DE" sz="2400" dirty="0"/>
              <a:t>A breach of ethics is considered a very serious offence – punishable within the profession and sometimes also by law.</a:t>
            </a:r>
            <a:endParaRPr lang="de-DE" sz="2400" dirty="0"/>
          </a:p>
        </p:txBody>
      </p:sp>
    </p:spTree>
    <p:extLst>
      <p:ext uri="{BB962C8B-B14F-4D97-AF65-F5344CB8AC3E}">
        <p14:creationId xmlns:p14="http://schemas.microsoft.com/office/powerpoint/2010/main" val="2545254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 of ethics </a:t>
            </a:r>
            <a:endParaRPr lang="en-US" dirty="0"/>
          </a:p>
        </p:txBody>
      </p:sp>
      <p:sp>
        <p:nvSpPr>
          <p:cNvPr id="3" name="Content Placeholder 2"/>
          <p:cNvSpPr>
            <a:spLocks noGrp="1"/>
          </p:cNvSpPr>
          <p:nvPr>
            <p:ph idx="1"/>
          </p:nvPr>
        </p:nvSpPr>
        <p:spPr/>
        <p:txBody>
          <a:bodyPr/>
          <a:lstStyle/>
          <a:p>
            <a:r>
              <a:rPr lang="en-US" b="1" dirty="0" smtClean="0"/>
              <a:t>Benefit of ethical </a:t>
            </a:r>
            <a:r>
              <a:rPr lang="en-US" b="1" smtClean="0"/>
              <a:t>code </a:t>
            </a:r>
            <a:endParaRPr lang="en-US" smtClean="0"/>
          </a:p>
          <a:p>
            <a:r>
              <a:rPr lang="en-US" dirty="0" smtClean="0"/>
              <a:t>It </a:t>
            </a:r>
            <a:r>
              <a:rPr lang="en-US" dirty="0"/>
              <a:t>fosters and guaranty the ethos and makes them more concrete .</a:t>
            </a:r>
          </a:p>
          <a:p>
            <a:r>
              <a:rPr lang="en-US" dirty="0"/>
              <a:t>It assures the members of the profession and the society standard of professional </a:t>
            </a:r>
            <a:r>
              <a:rPr lang="en-US" dirty="0" smtClean="0"/>
              <a:t>relationship</a:t>
            </a:r>
            <a:endParaRPr lang="en-US" dirty="0"/>
          </a:p>
        </p:txBody>
      </p:sp>
    </p:spTree>
    <p:extLst>
      <p:ext uri="{BB962C8B-B14F-4D97-AF65-F5344CB8AC3E}">
        <p14:creationId xmlns:p14="http://schemas.microsoft.com/office/powerpoint/2010/main" val="1333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It verbalizes the ethos defines the norms and serves as a guide </a:t>
            </a:r>
          </a:p>
          <a:p>
            <a:r>
              <a:rPr lang="en-US" dirty="0"/>
              <a:t>Ethical code is different from legislation</a:t>
            </a:r>
          </a:p>
          <a:p>
            <a:r>
              <a:rPr lang="en-US" dirty="0"/>
              <a:t>All members of the society are expected to adhere to the code</a:t>
            </a:r>
          </a:p>
          <a:p>
            <a:endParaRPr lang="en-US" dirty="0"/>
          </a:p>
        </p:txBody>
      </p:sp>
    </p:spTree>
    <p:extLst>
      <p:ext uri="{BB962C8B-B14F-4D97-AF65-F5344CB8AC3E}">
        <p14:creationId xmlns:p14="http://schemas.microsoft.com/office/powerpoint/2010/main" val="2478295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Rules of conduct based on moral values which are stated by recognized organization (association )</a:t>
            </a:r>
          </a:p>
        </p:txBody>
      </p:sp>
    </p:spTree>
    <p:extLst>
      <p:ext uri="{BB962C8B-B14F-4D97-AF65-F5344CB8AC3E}">
        <p14:creationId xmlns:p14="http://schemas.microsoft.com/office/powerpoint/2010/main" val="2150954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It is a commitment to good professional and ethical practice </a:t>
            </a:r>
          </a:p>
        </p:txBody>
      </p:sp>
    </p:spTree>
    <p:extLst>
      <p:ext uri="{BB962C8B-B14F-4D97-AF65-F5344CB8AC3E}">
        <p14:creationId xmlns:p14="http://schemas.microsoft.com/office/powerpoint/2010/main" val="1635372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a:t>It is a set of rules out lining the responsibilities  for of or proper practices for individual or organization </a:t>
            </a:r>
          </a:p>
        </p:txBody>
      </p:sp>
    </p:spTree>
    <p:extLst>
      <p:ext uri="{BB962C8B-B14F-4D97-AF65-F5344CB8AC3E}">
        <p14:creationId xmlns:p14="http://schemas.microsoft.com/office/powerpoint/2010/main" val="1783218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a:t>It is a principles/ values /standards or rules of behavior that guides the decisions procedures and systems of an organization in a way that </a:t>
            </a:r>
            <a:endParaRPr lang="en-US" dirty="0" smtClean="0"/>
          </a:p>
          <a:p>
            <a:pPr>
              <a:buNone/>
            </a:pPr>
            <a:r>
              <a:rPr lang="en-US" dirty="0" smtClean="0"/>
              <a:t> </a:t>
            </a:r>
            <a:endParaRPr lang="en-US" dirty="0"/>
          </a:p>
          <a:p>
            <a:pPr>
              <a:buNone/>
            </a:pPr>
            <a:r>
              <a:rPr lang="en-US" dirty="0"/>
              <a:t>A-contributes to the welfare of its key stake holders </a:t>
            </a:r>
            <a:endParaRPr lang="en-US" dirty="0" smtClean="0"/>
          </a:p>
          <a:p>
            <a:pPr>
              <a:buNone/>
            </a:pPr>
            <a:endParaRPr lang="en-US" dirty="0"/>
          </a:p>
          <a:p>
            <a:pPr>
              <a:buNone/>
            </a:pPr>
            <a:r>
              <a:rPr lang="en-US" dirty="0"/>
              <a:t>B –respects the rights of all constituents affected by its operations.(international good practice guide line 2007 )  </a:t>
            </a:r>
          </a:p>
          <a:p>
            <a:endParaRPr lang="en-US" dirty="0"/>
          </a:p>
        </p:txBody>
      </p:sp>
    </p:spTree>
    <p:extLst>
      <p:ext uri="{BB962C8B-B14F-4D97-AF65-F5344CB8AC3E}">
        <p14:creationId xmlns:p14="http://schemas.microsoft.com/office/powerpoint/2010/main" val="1967809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It helps to </a:t>
            </a:r>
            <a:endParaRPr lang="en-US" dirty="0"/>
          </a:p>
        </p:txBody>
      </p:sp>
      <p:sp>
        <p:nvSpPr>
          <p:cNvPr id="3" name="Content Placeholder 2"/>
          <p:cNvSpPr>
            <a:spLocks noGrp="1"/>
          </p:cNvSpPr>
          <p:nvPr>
            <p:ph idx="1"/>
          </p:nvPr>
        </p:nvSpPr>
        <p:spPr/>
        <p:txBody>
          <a:bodyPr/>
          <a:lstStyle/>
          <a:p>
            <a:r>
              <a:rPr lang="en-US" dirty="0"/>
              <a:t>Maintain the highest standards of personal conduct and integrity </a:t>
            </a:r>
            <a:endParaRPr lang="en-US" dirty="0" smtClean="0"/>
          </a:p>
          <a:p>
            <a:endParaRPr lang="en-US" dirty="0"/>
          </a:p>
          <a:p>
            <a:r>
              <a:rPr lang="en-US" dirty="0"/>
              <a:t>Provide to the team work respective contribution with integrity </a:t>
            </a:r>
            <a:endParaRPr lang="en-US" dirty="0" smtClean="0"/>
          </a:p>
          <a:p>
            <a:endParaRPr lang="en-US" dirty="0"/>
          </a:p>
          <a:p>
            <a:r>
              <a:rPr lang="en-US" dirty="0"/>
              <a:t>Keeping professional knowledge and skills up to date </a:t>
            </a:r>
          </a:p>
          <a:p>
            <a:endParaRPr lang="en-US" dirty="0"/>
          </a:p>
        </p:txBody>
      </p:sp>
    </p:spTree>
    <p:extLst>
      <p:ext uri="{BB962C8B-B14F-4D97-AF65-F5344CB8AC3E}">
        <p14:creationId xmlns:p14="http://schemas.microsoft.com/office/powerpoint/2010/main" val="3794779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Maintaining effective and proper communications with patients and other professionals </a:t>
            </a:r>
            <a:endParaRPr lang="en-US" dirty="0" smtClean="0"/>
          </a:p>
          <a:p>
            <a:endParaRPr lang="en-US" dirty="0"/>
          </a:p>
          <a:p>
            <a:r>
              <a:rPr lang="en-US" dirty="0"/>
              <a:t>Keeping accurate client record </a:t>
            </a:r>
          </a:p>
          <a:p>
            <a:endParaRPr lang="en-US" dirty="0"/>
          </a:p>
        </p:txBody>
      </p:sp>
    </p:spTree>
    <p:extLst>
      <p:ext uri="{BB962C8B-B14F-4D97-AF65-F5344CB8AC3E}">
        <p14:creationId xmlns:p14="http://schemas.microsoft.com/office/powerpoint/2010/main" val="3974872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 guides to adhere to ethical principles </a:t>
            </a:r>
            <a:br>
              <a:rPr lang="en-US" dirty="0"/>
            </a:br>
            <a:endParaRPr lang="en-US" dirty="0"/>
          </a:p>
        </p:txBody>
      </p:sp>
      <p:sp>
        <p:nvSpPr>
          <p:cNvPr id="3" name="Content Placeholder 2"/>
          <p:cNvSpPr>
            <a:spLocks noGrp="1"/>
          </p:cNvSpPr>
          <p:nvPr>
            <p:ph idx="1"/>
          </p:nvPr>
        </p:nvSpPr>
        <p:spPr/>
        <p:txBody>
          <a:bodyPr/>
          <a:lstStyle/>
          <a:p>
            <a:r>
              <a:rPr lang="en-US" dirty="0" smtClean="0"/>
              <a:t>Respect </a:t>
            </a:r>
            <a:r>
              <a:rPr lang="en-US" dirty="0"/>
              <a:t>for patient autonomy (informed consent )</a:t>
            </a:r>
            <a:r>
              <a:rPr lang="en-US" dirty="0">
                <a:ea typeface="ＭＳ Ｐゴシック"/>
                <a:cs typeface="ＭＳ Ｐゴシック"/>
              </a:rPr>
              <a:t> </a:t>
            </a:r>
          </a:p>
          <a:p>
            <a:r>
              <a:rPr lang="en-US" dirty="0">
                <a:ea typeface="ＭＳ Ｐゴシック"/>
                <a:cs typeface="ＭＳ Ｐゴシック"/>
              </a:rPr>
              <a:t>Beneficence – do good</a:t>
            </a:r>
          </a:p>
          <a:p>
            <a:r>
              <a:rPr lang="en-US" dirty="0">
                <a:ea typeface="ＭＳ Ｐゴシック"/>
                <a:cs typeface="ＭＳ Ｐゴシック"/>
              </a:rPr>
              <a:t>Non-maleficence – do no harm</a:t>
            </a:r>
          </a:p>
          <a:p>
            <a:r>
              <a:rPr lang="en-US" dirty="0">
                <a:ea typeface="ＭＳ Ｐゴシック"/>
                <a:cs typeface="ＭＳ Ｐゴシック"/>
              </a:rPr>
              <a:t>Justice – fair </a:t>
            </a:r>
            <a:r>
              <a:rPr lang="en-US" i="1" dirty="0">
                <a:ea typeface="ＭＳ Ｐゴシック"/>
                <a:cs typeface="ＭＳ Ｐゴシック"/>
              </a:rPr>
              <a:t>distribution</a:t>
            </a:r>
            <a:r>
              <a:rPr lang="en-US" dirty="0">
                <a:ea typeface="ＭＳ Ｐゴシック"/>
                <a:cs typeface="ＭＳ Ｐゴシック"/>
              </a:rPr>
              <a:t> of harms and benefits</a:t>
            </a:r>
          </a:p>
        </p:txBody>
      </p:sp>
    </p:spTree>
    <p:extLst>
      <p:ext uri="{BB962C8B-B14F-4D97-AF65-F5344CB8AC3E}">
        <p14:creationId xmlns:p14="http://schemas.microsoft.com/office/powerpoint/2010/main" val="1899776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a:t>Respect for patients and their decisions</a:t>
            </a:r>
          </a:p>
          <a:p>
            <a:r>
              <a:rPr lang="en-US" dirty="0"/>
              <a:t>Respect for </a:t>
            </a:r>
            <a:r>
              <a:rPr lang="en-US" dirty="0" smtClean="0"/>
              <a:t>confidentiality</a:t>
            </a:r>
            <a:endParaRPr lang="en-US" dirty="0"/>
          </a:p>
        </p:txBody>
      </p:sp>
    </p:spTree>
    <p:extLst>
      <p:ext uri="{BB962C8B-B14F-4D97-AF65-F5344CB8AC3E}">
        <p14:creationId xmlns:p14="http://schemas.microsoft.com/office/powerpoint/2010/main" val="998581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Respect for promises</a:t>
            </a:r>
          </a:p>
          <a:p>
            <a:r>
              <a:rPr lang="en-US" dirty="0"/>
              <a:t>Honesty: Not to deceive others </a:t>
            </a:r>
          </a:p>
          <a:p>
            <a:r>
              <a:rPr lang="en-US" dirty="0"/>
              <a:t>Implies good respectful communication – listening to patients’ preferences</a:t>
            </a:r>
          </a:p>
        </p:txBody>
      </p:sp>
    </p:spTree>
    <p:extLst>
      <p:ext uri="{BB962C8B-B14F-4D97-AF65-F5344CB8AC3E}">
        <p14:creationId xmlns:p14="http://schemas.microsoft.com/office/powerpoint/2010/main" val="2464590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 of ethics for anesthetists </a:t>
            </a:r>
            <a:endParaRPr lang="en-US" dirty="0"/>
          </a:p>
        </p:txBody>
      </p:sp>
      <p:sp>
        <p:nvSpPr>
          <p:cNvPr id="3" name="Content Placeholder 2"/>
          <p:cNvSpPr>
            <a:spLocks noGrp="1"/>
          </p:cNvSpPr>
          <p:nvPr>
            <p:ph idx="1"/>
          </p:nvPr>
        </p:nvSpPr>
        <p:spPr/>
        <p:txBody>
          <a:bodyPr/>
          <a:lstStyle/>
          <a:p>
            <a:r>
              <a:rPr lang="en-US" dirty="0"/>
              <a:t>Is a guiding principle to the anesthetist and should focus on  </a:t>
            </a:r>
          </a:p>
          <a:p>
            <a:r>
              <a:rPr lang="en-US" dirty="0"/>
              <a:t>1-General provisions of the anesthetist </a:t>
            </a:r>
          </a:p>
          <a:p>
            <a:endParaRPr lang="en-US" dirty="0"/>
          </a:p>
        </p:txBody>
      </p:sp>
    </p:spTree>
    <p:extLst>
      <p:ext uri="{BB962C8B-B14F-4D97-AF65-F5344CB8AC3E}">
        <p14:creationId xmlns:p14="http://schemas.microsoft.com/office/powerpoint/2010/main" val="38674538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a:t>Duties and responsibilities of anesthetist to the patient </a:t>
            </a:r>
          </a:p>
          <a:p>
            <a:pPr>
              <a:buNone/>
            </a:pPr>
            <a:r>
              <a:rPr lang="en-US" dirty="0"/>
              <a:t>The primary concern of the anesthetist should be to promote the health and well being of the patient and there by avoiding any harm or act that endangers the patients health </a:t>
            </a:r>
          </a:p>
          <a:p>
            <a:endParaRPr lang="en-US" dirty="0"/>
          </a:p>
        </p:txBody>
      </p:sp>
    </p:spTree>
    <p:extLst>
      <p:ext uri="{BB962C8B-B14F-4D97-AF65-F5344CB8AC3E}">
        <p14:creationId xmlns:p14="http://schemas.microsoft.com/office/powerpoint/2010/main" val="3827301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2-duties to colleagues and other health professionals </a:t>
            </a:r>
          </a:p>
          <a:p>
            <a:pPr>
              <a:buNone/>
            </a:pPr>
            <a:r>
              <a:rPr lang="en-US" dirty="0"/>
              <a:t>The anesthetist should maintain good professional relation ship with other health professionals </a:t>
            </a:r>
          </a:p>
          <a:p>
            <a:endParaRPr lang="en-US" dirty="0"/>
          </a:p>
          <a:p>
            <a:endParaRPr lang="en-US" dirty="0"/>
          </a:p>
        </p:txBody>
      </p:sp>
    </p:spTree>
    <p:extLst>
      <p:ext uri="{BB962C8B-B14F-4D97-AF65-F5344CB8AC3E}">
        <p14:creationId xmlns:p14="http://schemas.microsoft.com/office/powerpoint/2010/main" val="3711947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3-duties to self </a:t>
            </a:r>
          </a:p>
          <a:p>
            <a:pPr>
              <a:buNone/>
            </a:pPr>
            <a:r>
              <a:rPr lang="en-US" dirty="0"/>
              <a:t>Maintaining competency in practice</a:t>
            </a:r>
          </a:p>
          <a:p>
            <a:pPr>
              <a:buNone/>
            </a:pPr>
            <a:r>
              <a:rPr lang="en-US" dirty="0"/>
              <a:t>Making sure that professional judgment Is not impaired  </a:t>
            </a:r>
          </a:p>
          <a:p>
            <a:pPr>
              <a:buNone/>
            </a:pPr>
            <a:r>
              <a:rPr lang="en-US" dirty="0"/>
              <a:t>Under take and maintain up-to-date evidence of continuing professional development </a:t>
            </a:r>
          </a:p>
          <a:p>
            <a:endParaRPr lang="en-US" dirty="0"/>
          </a:p>
        </p:txBody>
      </p:sp>
    </p:spTree>
    <p:extLst>
      <p:ext uri="{BB962C8B-B14F-4D97-AF65-F5344CB8AC3E}">
        <p14:creationId xmlns:p14="http://schemas.microsoft.com/office/powerpoint/2010/main" val="33681978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Duties to the society </a:t>
            </a:r>
          </a:p>
          <a:p>
            <a:pPr>
              <a:buNone/>
            </a:pPr>
            <a:r>
              <a:rPr lang="en-US" dirty="0"/>
              <a:t>Dedicate to serve the health care needs of the public </a:t>
            </a:r>
          </a:p>
          <a:p>
            <a:endParaRPr lang="en-US" dirty="0"/>
          </a:p>
          <a:p>
            <a:endParaRPr lang="en-US" dirty="0"/>
          </a:p>
        </p:txBody>
      </p:sp>
    </p:spTree>
    <p:extLst>
      <p:ext uri="{BB962C8B-B14F-4D97-AF65-F5344CB8AC3E}">
        <p14:creationId xmlns:p14="http://schemas.microsoft.com/office/powerpoint/2010/main" val="35505704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6-Duties to the environment  </a:t>
            </a:r>
          </a:p>
          <a:p>
            <a:pPr>
              <a:buNone/>
            </a:pPr>
            <a:r>
              <a:rPr lang="en-US" dirty="0"/>
              <a:t>Protecting the public and the environment  </a:t>
            </a:r>
          </a:p>
          <a:p>
            <a:endParaRPr lang="en-US" dirty="0"/>
          </a:p>
        </p:txBody>
      </p:sp>
    </p:spTree>
    <p:extLst>
      <p:ext uri="{BB962C8B-B14F-4D97-AF65-F5344CB8AC3E}">
        <p14:creationId xmlns:p14="http://schemas.microsoft.com/office/powerpoint/2010/main" val="9653520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7-Research </a:t>
            </a:r>
          </a:p>
          <a:p>
            <a:pPr>
              <a:buNone/>
            </a:pPr>
            <a:r>
              <a:rPr lang="en-US" dirty="0"/>
              <a:t>Ethical clearance and approval by the concerned authority as well as written consent from the subject .</a:t>
            </a:r>
          </a:p>
          <a:p>
            <a:pPr>
              <a:buNone/>
            </a:pPr>
            <a:r>
              <a:rPr lang="en-US" dirty="0"/>
              <a:t>Performs research according to the accepted ethical and reporting standard. </a:t>
            </a:r>
          </a:p>
          <a:p>
            <a:endParaRPr lang="en-US" dirty="0"/>
          </a:p>
          <a:p>
            <a:endParaRPr lang="en-US" dirty="0"/>
          </a:p>
        </p:txBody>
      </p:sp>
    </p:spTree>
    <p:extLst>
      <p:ext uri="{BB962C8B-B14F-4D97-AF65-F5344CB8AC3E}">
        <p14:creationId xmlns:p14="http://schemas.microsoft.com/office/powerpoint/2010/main" val="17564524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Ethical guideline </a:t>
            </a:r>
            <a:endParaRPr lang="en-US" dirty="0"/>
          </a:p>
        </p:txBody>
      </p:sp>
      <p:sp>
        <p:nvSpPr>
          <p:cNvPr id="3" name="Content Placeholder 2"/>
          <p:cNvSpPr>
            <a:spLocks noGrp="1"/>
          </p:cNvSpPr>
          <p:nvPr>
            <p:ph idx="1"/>
          </p:nvPr>
        </p:nvSpPr>
        <p:spPr/>
        <p:txBody>
          <a:bodyPr/>
          <a:lstStyle/>
          <a:p>
            <a:pPr lvl="1">
              <a:buNone/>
            </a:pPr>
            <a:r>
              <a:rPr lang="en-US" dirty="0"/>
              <a:t>Ethical guidelines	 </a:t>
            </a:r>
          </a:p>
          <a:p>
            <a:pPr lvl="1"/>
            <a:r>
              <a:rPr lang="en-US" dirty="0"/>
              <a:t>Help health professionals make better choices for the patient in accordance with agreed norms and values in society</a:t>
            </a:r>
          </a:p>
          <a:p>
            <a:pPr lvl="1"/>
            <a:r>
              <a:rPr lang="en-US" dirty="0"/>
              <a:t>Support the health professional and patient in making difficult </a:t>
            </a:r>
            <a:r>
              <a:rPr lang="en-US" dirty="0" smtClean="0"/>
              <a:t>decisions</a:t>
            </a:r>
            <a:endParaRPr lang="en-US" dirty="0"/>
          </a:p>
        </p:txBody>
      </p:sp>
    </p:spTree>
    <p:extLst>
      <p:ext uri="{BB962C8B-B14F-4D97-AF65-F5344CB8AC3E}">
        <p14:creationId xmlns:p14="http://schemas.microsoft.com/office/powerpoint/2010/main" val="36205411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1"/>
            <a:r>
              <a:rPr lang="en-US" dirty="0"/>
              <a:t>Reduce disagreement</a:t>
            </a:r>
          </a:p>
          <a:p>
            <a:pPr lvl="1"/>
            <a:r>
              <a:rPr lang="en-US" dirty="0"/>
              <a:t>Function as an arena for debate in the medical community and in society</a:t>
            </a:r>
          </a:p>
          <a:p>
            <a:pPr lvl="1"/>
            <a:r>
              <a:rPr lang="en-US" dirty="0"/>
              <a:t>Be used in teaching, in basic education and through specialization </a:t>
            </a:r>
          </a:p>
          <a:p>
            <a:pPr lvl="1"/>
            <a:r>
              <a:rPr lang="en-US" dirty="0"/>
              <a:t>Make ethical choices more transparent, accountable, and legitimate</a:t>
            </a:r>
          </a:p>
          <a:p>
            <a:endParaRPr lang="en-US" dirty="0"/>
          </a:p>
          <a:p>
            <a:endParaRPr lang="en-US" dirty="0"/>
          </a:p>
        </p:txBody>
      </p:sp>
    </p:spTree>
    <p:extLst>
      <p:ext uri="{BB962C8B-B14F-4D97-AF65-F5344CB8AC3E}">
        <p14:creationId xmlns:p14="http://schemas.microsoft.com/office/powerpoint/2010/main" val="23533402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Scope and standard of practice </a:t>
            </a:r>
            <a:endParaRPr lang="en-US" dirty="0"/>
          </a:p>
        </p:txBody>
      </p:sp>
      <p:sp>
        <p:nvSpPr>
          <p:cNvPr id="3" name="Content Placeholder 2"/>
          <p:cNvSpPr>
            <a:spLocks noGrp="1"/>
          </p:cNvSpPr>
          <p:nvPr>
            <p:ph idx="1"/>
          </p:nvPr>
        </p:nvSpPr>
        <p:spPr/>
        <p:txBody>
          <a:bodyPr/>
          <a:lstStyle/>
          <a:p>
            <a:r>
              <a:rPr lang="en-US" dirty="0"/>
              <a:t>Performing and documenting pre anesthetic assessment evaluation of patient /requesting consultations /diagnostic study/administering pre anesthetic medications/</a:t>
            </a:r>
          </a:p>
          <a:p>
            <a:r>
              <a:rPr lang="en-US" dirty="0"/>
              <a:t>obtaining informed consent</a:t>
            </a:r>
            <a:r>
              <a:rPr lang="en-US" dirty="0" smtClean="0"/>
              <a:t>.</a:t>
            </a:r>
            <a:endParaRPr lang="en-US" dirty="0"/>
          </a:p>
        </p:txBody>
      </p:sp>
    </p:spTree>
    <p:extLst>
      <p:ext uri="{BB962C8B-B14F-4D97-AF65-F5344CB8AC3E}">
        <p14:creationId xmlns:p14="http://schemas.microsoft.com/office/powerpoint/2010/main" val="7181354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Developing and implementing anesthetic plan</a:t>
            </a:r>
          </a:p>
          <a:p>
            <a:r>
              <a:rPr lang="en-US" dirty="0"/>
              <a:t>Initiating anesthetic technique </a:t>
            </a:r>
          </a:p>
          <a:p>
            <a:r>
              <a:rPr lang="en-US" dirty="0"/>
              <a:t>Selecting applying and inserting appropriate non invasive </a:t>
            </a:r>
            <a:r>
              <a:rPr lang="en-US" dirty="0">
                <a:solidFill>
                  <a:srgbClr val="FF0000"/>
                </a:solidFill>
              </a:rPr>
              <a:t>and invasive </a:t>
            </a:r>
            <a:r>
              <a:rPr lang="en-US" dirty="0"/>
              <a:t>modalities</a:t>
            </a:r>
          </a:p>
        </p:txBody>
      </p:sp>
    </p:spTree>
    <p:extLst>
      <p:ext uri="{BB962C8B-B14F-4D97-AF65-F5344CB8AC3E}">
        <p14:creationId xmlns:p14="http://schemas.microsoft.com/office/powerpoint/2010/main" val="24279611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Selecting ,administering anesthetics and adjuvant drugs /fluids blood</a:t>
            </a:r>
          </a:p>
          <a:p>
            <a:r>
              <a:rPr lang="en-US" dirty="0"/>
              <a:t>Managing patients airway pulmonary </a:t>
            </a:r>
            <a:r>
              <a:rPr lang="en-US" dirty="0" smtClean="0"/>
              <a:t>status</a:t>
            </a:r>
            <a:endParaRPr lang="en-US" dirty="0"/>
          </a:p>
        </p:txBody>
      </p:sp>
    </p:spTree>
    <p:extLst>
      <p:ext uri="{BB962C8B-B14F-4D97-AF65-F5344CB8AC3E}">
        <p14:creationId xmlns:p14="http://schemas.microsoft.com/office/powerpoint/2010/main" val="23821876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Facilitating emergence and recovery from anesthesia ( PACU)service</a:t>
            </a:r>
          </a:p>
          <a:p>
            <a:r>
              <a:rPr lang="en-US" dirty="0"/>
              <a:t>Discharging patient from post anesthetic care area </a:t>
            </a:r>
          </a:p>
          <a:p>
            <a:r>
              <a:rPr lang="en-US" dirty="0"/>
              <a:t> providing post anesthesia follow up and evaluation </a:t>
            </a:r>
          </a:p>
          <a:p>
            <a:endParaRPr lang="en-US" dirty="0"/>
          </a:p>
        </p:txBody>
      </p:sp>
    </p:spTree>
    <p:extLst>
      <p:ext uri="{BB962C8B-B14F-4D97-AF65-F5344CB8AC3E}">
        <p14:creationId xmlns:p14="http://schemas.microsoft.com/office/powerpoint/2010/main" val="25910007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Educational  clinical and didactic teaching</a:t>
            </a:r>
          </a:p>
          <a:p>
            <a:r>
              <a:rPr lang="en-US" dirty="0"/>
              <a:t>Research</a:t>
            </a:r>
          </a:p>
          <a:p>
            <a:r>
              <a:rPr lang="en-US" dirty="0"/>
              <a:t>Committee appointment </a:t>
            </a:r>
          </a:p>
        </p:txBody>
      </p:sp>
    </p:spTree>
    <p:extLst>
      <p:ext uri="{BB962C8B-B14F-4D97-AF65-F5344CB8AC3E}">
        <p14:creationId xmlns:p14="http://schemas.microsoft.com/office/powerpoint/2010/main" val="33228881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Inter departmental liaison</a:t>
            </a:r>
          </a:p>
          <a:p>
            <a:r>
              <a:rPr lang="en-US" dirty="0"/>
              <a:t>Clinical /administrative over sight of other departments ,respiratory </a:t>
            </a:r>
            <a:r>
              <a:rPr lang="en-US" dirty="0" err="1"/>
              <a:t>theaurapy</a:t>
            </a:r>
            <a:r>
              <a:rPr lang="en-US" dirty="0"/>
              <a:t> /operating room / SICU/pain clinic</a:t>
            </a:r>
          </a:p>
        </p:txBody>
      </p:sp>
    </p:spTree>
    <p:extLst>
      <p:ext uri="{BB962C8B-B14F-4D97-AF65-F5344CB8AC3E}">
        <p14:creationId xmlns:p14="http://schemas.microsoft.com/office/powerpoint/2010/main" val="12715886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Standards </a:t>
            </a:r>
            <a:endParaRPr lang="en-US" dirty="0"/>
          </a:p>
        </p:txBody>
      </p:sp>
      <p:sp>
        <p:nvSpPr>
          <p:cNvPr id="3" name="Content Placeholder 2"/>
          <p:cNvSpPr>
            <a:spLocks noGrp="1"/>
          </p:cNvSpPr>
          <p:nvPr>
            <p:ph idx="1"/>
          </p:nvPr>
        </p:nvSpPr>
        <p:spPr/>
        <p:txBody>
          <a:bodyPr/>
          <a:lstStyle/>
          <a:p>
            <a:r>
              <a:rPr lang="en-US" dirty="0"/>
              <a:t>Standard I—perform a thorough and complete pre anesthetic </a:t>
            </a:r>
            <a:r>
              <a:rPr lang="en-US" dirty="0" smtClean="0"/>
              <a:t>assessment</a:t>
            </a:r>
          </a:p>
          <a:p>
            <a:r>
              <a:rPr lang="en-US" dirty="0" smtClean="0"/>
              <a:t> </a:t>
            </a:r>
            <a:endParaRPr lang="en-US" dirty="0"/>
          </a:p>
          <a:p>
            <a:r>
              <a:rPr lang="en-US" dirty="0"/>
              <a:t>Standard II—obtain an informed cons cent for the planned anesthetic technique from the patient or legal </a:t>
            </a:r>
            <a:r>
              <a:rPr lang="en-US" dirty="0" smtClean="0"/>
              <a:t>guardian</a:t>
            </a:r>
          </a:p>
          <a:p>
            <a:endParaRPr lang="en-US" dirty="0"/>
          </a:p>
          <a:p>
            <a:r>
              <a:rPr lang="en-US" dirty="0"/>
              <a:t>Standard III—formulate a patient specific plan for anesthetic care</a:t>
            </a:r>
          </a:p>
          <a:p>
            <a:endParaRPr lang="en-US" dirty="0"/>
          </a:p>
        </p:txBody>
      </p:sp>
    </p:spTree>
    <p:extLst>
      <p:ext uri="{BB962C8B-B14F-4D97-AF65-F5344CB8AC3E}">
        <p14:creationId xmlns:p14="http://schemas.microsoft.com/office/powerpoint/2010/main" val="29944745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Standard IV—Implement and adjust the anesthetic care plan based on the patients physiologic </a:t>
            </a:r>
            <a:r>
              <a:rPr lang="en-US" dirty="0" smtClean="0"/>
              <a:t>response</a:t>
            </a:r>
          </a:p>
          <a:p>
            <a:endParaRPr lang="en-US" dirty="0"/>
          </a:p>
          <a:p>
            <a:r>
              <a:rPr lang="en-US" dirty="0"/>
              <a:t>Standard V—Monitor the patients physiologic condition (monitor ventilation /oxygenation /CVS/body temperature /neuromuscular function /body </a:t>
            </a:r>
            <a:r>
              <a:rPr lang="en-US" dirty="0" smtClean="0"/>
              <a:t>position</a:t>
            </a:r>
          </a:p>
          <a:p>
            <a:endParaRPr lang="en-US" dirty="0"/>
          </a:p>
          <a:p>
            <a:r>
              <a:rPr lang="en-US" dirty="0"/>
              <a:t>Standard VI—complete accurate and timely documentation of pertinent information  </a:t>
            </a:r>
          </a:p>
          <a:p>
            <a:endParaRPr lang="en-US" dirty="0"/>
          </a:p>
        </p:txBody>
      </p:sp>
    </p:spTree>
    <p:extLst>
      <p:ext uri="{BB962C8B-B14F-4D97-AF65-F5344CB8AC3E}">
        <p14:creationId xmlns:p14="http://schemas.microsoft.com/office/powerpoint/2010/main" val="31224993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Standard VII– transfer the responsibility for care of the patient to other qualified providers in manner which assures continuity of care and patient </a:t>
            </a:r>
            <a:r>
              <a:rPr lang="en-US" dirty="0" smtClean="0"/>
              <a:t>safety</a:t>
            </a:r>
          </a:p>
          <a:p>
            <a:endParaRPr lang="en-US" dirty="0"/>
          </a:p>
          <a:p>
            <a:r>
              <a:rPr lang="en-US" dirty="0"/>
              <a:t>Standard VIII—Adhere to appropriate safety precautions as established with in the institution to minimize the risks of fire hazard explosions electrical shock and equipment malfunction</a:t>
            </a:r>
          </a:p>
        </p:txBody>
      </p:sp>
    </p:spTree>
    <p:extLst>
      <p:ext uri="{BB962C8B-B14F-4D97-AF65-F5344CB8AC3E}">
        <p14:creationId xmlns:p14="http://schemas.microsoft.com/office/powerpoint/2010/main" val="10566127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Standard IX– Minimize the risks of </a:t>
            </a:r>
            <a:r>
              <a:rPr lang="en-US" dirty="0" smtClean="0"/>
              <a:t>infection</a:t>
            </a:r>
          </a:p>
          <a:p>
            <a:endParaRPr lang="en-US" dirty="0"/>
          </a:p>
          <a:p>
            <a:r>
              <a:rPr lang="en-US" dirty="0"/>
              <a:t>Standard X– Review and evaluation of quality appropriateness of anesthesia care(anesthesia care shall be assessed to assure its quality and contribution to positive patient out comes</a:t>
            </a:r>
            <a:r>
              <a:rPr lang="en-US" dirty="0" smtClean="0"/>
              <a:t>)</a:t>
            </a:r>
          </a:p>
          <a:p>
            <a:endParaRPr lang="en-US" dirty="0"/>
          </a:p>
          <a:p>
            <a:r>
              <a:rPr lang="en-US" dirty="0"/>
              <a:t>Standard XI—Respect and maintain the basic rights of patients</a:t>
            </a:r>
          </a:p>
          <a:p>
            <a:endParaRPr lang="en-US" dirty="0"/>
          </a:p>
        </p:txBody>
      </p:sp>
    </p:spTree>
    <p:extLst>
      <p:ext uri="{BB962C8B-B14F-4D97-AF65-F5344CB8AC3E}">
        <p14:creationId xmlns:p14="http://schemas.microsoft.com/office/powerpoint/2010/main" val="38137084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p:cNvPicPr>
            <a:picLocks noGrp="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71234" y="2485624"/>
            <a:ext cx="5885645" cy="4056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6639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7200" dirty="0" smtClean="0"/>
              <a:t>Thank You </a:t>
            </a:r>
            <a:endParaRPr lang="en-US" sz="7200" dirty="0"/>
          </a:p>
        </p:txBody>
      </p:sp>
    </p:spTree>
    <p:extLst>
      <p:ext uri="{BB962C8B-B14F-4D97-AF65-F5344CB8AC3E}">
        <p14:creationId xmlns:p14="http://schemas.microsoft.com/office/powerpoint/2010/main" val="28681038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33</TotalTime>
  <Words>899</Words>
  <Application>Microsoft Office PowerPoint</Application>
  <PresentationFormat>Widescreen</PresentationFormat>
  <Paragraphs>109</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ＭＳ Ｐゴシック</vt:lpstr>
      <vt:lpstr>Tw Cen MT</vt:lpstr>
      <vt:lpstr>Tw Cen MT Condensed</vt:lpstr>
      <vt:lpstr>Wingdings 3</vt:lpstr>
      <vt:lpstr>Integral</vt:lpstr>
      <vt:lpstr>Ethical code standards and scope of practice </vt:lpstr>
      <vt:lpstr>Objective </vt:lpstr>
      <vt:lpstr>Ethical code </vt:lpstr>
      <vt:lpstr>Code of ethics </vt:lpstr>
      <vt:lpstr>PowerPoint Presentation</vt:lpstr>
      <vt:lpstr>PowerPoint Presentation</vt:lpstr>
      <vt:lpstr>PowerPoint Presentation</vt:lpstr>
      <vt:lpstr>PowerPoint Presentation</vt:lpstr>
      <vt:lpstr>PowerPoint Presentation</vt:lpstr>
      <vt:lpstr>It helps to </vt:lpstr>
      <vt:lpstr>PowerPoint Presentation</vt:lpstr>
      <vt:lpstr>It guides to adhere to ethical principles  </vt:lpstr>
      <vt:lpstr>PowerPoint Presentation</vt:lpstr>
      <vt:lpstr>PowerPoint Presentation</vt:lpstr>
      <vt:lpstr>Code of ethics for anesthetists </vt:lpstr>
      <vt:lpstr>PowerPoint Presentation</vt:lpstr>
      <vt:lpstr>PowerPoint Presentation</vt:lpstr>
      <vt:lpstr>PowerPoint Presentation</vt:lpstr>
      <vt:lpstr>PowerPoint Presentation</vt:lpstr>
      <vt:lpstr>PowerPoint Presentation</vt:lpstr>
      <vt:lpstr>PowerPoint Presentation</vt:lpstr>
      <vt:lpstr>Ethical guideline </vt:lpstr>
      <vt:lpstr>PowerPoint Presentation</vt:lpstr>
      <vt:lpstr>Scope and standard of practice </vt:lpstr>
      <vt:lpstr>PowerPoint Presentation</vt:lpstr>
      <vt:lpstr>PowerPoint Presentation</vt:lpstr>
      <vt:lpstr>PowerPoint Presentation</vt:lpstr>
      <vt:lpstr>PowerPoint Presentation</vt:lpstr>
      <vt:lpstr>PowerPoint Presentation</vt:lpstr>
      <vt:lpstr>Standards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code standards and scope of practice </dc:title>
  <dc:creator>My</dc:creator>
  <cp:lastModifiedBy>My</cp:lastModifiedBy>
  <cp:revision>9</cp:revision>
  <dcterms:created xsi:type="dcterms:W3CDTF">2023-10-30T07:33:59Z</dcterms:created>
  <dcterms:modified xsi:type="dcterms:W3CDTF">2023-11-13T08:01:00Z</dcterms:modified>
</cp:coreProperties>
</file>