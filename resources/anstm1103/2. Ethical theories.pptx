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304" r:id="rId5"/>
    <p:sldId id="305" r:id="rId6"/>
    <p:sldId id="315" r:id="rId7"/>
    <p:sldId id="316" r:id="rId8"/>
    <p:sldId id="317" r:id="rId9"/>
    <p:sldId id="318" r:id="rId10"/>
    <p:sldId id="319" r:id="rId11"/>
    <p:sldId id="321" r:id="rId12"/>
    <p:sldId id="320" r:id="rId13"/>
    <p:sldId id="306" r:id="rId14"/>
    <p:sldId id="307" r:id="rId15"/>
    <p:sldId id="259" r:id="rId16"/>
    <p:sldId id="260" r:id="rId17"/>
    <p:sldId id="261" r:id="rId18"/>
    <p:sldId id="302" r:id="rId19"/>
    <p:sldId id="262" r:id="rId20"/>
    <p:sldId id="263" r:id="rId21"/>
    <p:sldId id="264" r:id="rId22"/>
    <p:sldId id="298" r:id="rId23"/>
    <p:sldId id="299" r:id="rId24"/>
    <p:sldId id="265" r:id="rId25"/>
    <p:sldId id="300" r:id="rId26"/>
    <p:sldId id="301" r:id="rId27"/>
    <p:sldId id="266" r:id="rId28"/>
    <p:sldId id="269" r:id="rId29"/>
    <p:sldId id="267" r:id="rId30"/>
    <p:sldId id="276" r:id="rId31"/>
    <p:sldId id="275" r:id="rId32"/>
    <p:sldId id="280" r:id="rId33"/>
    <p:sldId id="270" r:id="rId34"/>
    <p:sldId id="274" r:id="rId35"/>
    <p:sldId id="268" r:id="rId36"/>
    <p:sldId id="277" r:id="rId37"/>
    <p:sldId id="278" r:id="rId38"/>
    <p:sldId id="279" r:id="rId39"/>
    <p:sldId id="303" r:id="rId40"/>
    <p:sldId id="308" r:id="rId41"/>
    <p:sldId id="322" r:id="rId42"/>
    <p:sldId id="309" r:id="rId43"/>
    <p:sldId id="310" r:id="rId44"/>
    <p:sldId id="311" r:id="rId45"/>
    <p:sldId id="271" r:id="rId46"/>
    <p:sldId id="272" r:id="rId47"/>
    <p:sldId id="273" r:id="rId48"/>
    <p:sldId id="281" r:id="rId49"/>
    <p:sldId id="282" r:id="rId50"/>
    <p:sldId id="283" r:id="rId51"/>
    <p:sldId id="284" r:id="rId52"/>
    <p:sldId id="285" r:id="rId53"/>
    <p:sldId id="286" r:id="rId54"/>
    <p:sldId id="287" r:id="rId55"/>
    <p:sldId id="288" r:id="rId56"/>
    <p:sldId id="313" r:id="rId57"/>
    <p:sldId id="296" r:id="rId58"/>
    <p:sldId id="314" r:id="rId59"/>
    <p:sldId id="297" r:id="rId60"/>
    <p:sldId id="312"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11/7/2023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11/7/2023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11/7/2023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11/7/2023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11/7/2023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11/7/2023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11/7/2023</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Ethical theories </a:t>
            </a:r>
            <a:endParaRPr lang="en-US" dirty="0"/>
          </a:p>
        </p:txBody>
      </p:sp>
      <p:sp>
        <p:nvSpPr>
          <p:cNvPr id="3" name="Subtitle 2"/>
          <p:cNvSpPr>
            <a:spLocks noGrp="1"/>
          </p:cNvSpPr>
          <p:nvPr>
            <p:ph type="subTitle" idx="1"/>
          </p:nvPr>
        </p:nvSpPr>
        <p:spPr/>
        <p:txBody>
          <a:bodyPr/>
          <a:lstStyle/>
          <a:p>
            <a:r>
              <a:rPr lang="en-US" dirty="0" err="1" smtClean="0"/>
              <a:t>Leulayehu</a:t>
            </a:r>
            <a:r>
              <a:rPr lang="en-US" dirty="0" smtClean="0"/>
              <a:t> </a:t>
            </a:r>
            <a:r>
              <a:rPr lang="en-US" dirty="0" err="1" smtClean="0"/>
              <a:t>akalu</a:t>
            </a:r>
            <a:r>
              <a:rPr lang="en-US" dirty="0" smtClean="0"/>
              <a:t> (</a:t>
            </a:r>
            <a:r>
              <a:rPr lang="en-US" dirty="0" err="1" smtClean="0"/>
              <a:t>Ass.prof</a:t>
            </a:r>
            <a:r>
              <a:rPr lang="en-US" dirty="0" smtClean="0"/>
              <a:t> )</a:t>
            </a:r>
            <a:endParaRPr lang="en-US" dirty="0"/>
          </a:p>
        </p:txBody>
      </p:sp>
    </p:spTree>
    <p:extLst>
      <p:ext uri="{BB962C8B-B14F-4D97-AF65-F5344CB8AC3E}">
        <p14:creationId xmlns:p14="http://schemas.microsoft.com/office/powerpoint/2010/main" val="3526090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Medical ethics </a:t>
            </a:r>
            <a:endParaRPr lang="en-US" dirty="0"/>
          </a:p>
        </p:txBody>
      </p:sp>
      <p:sp>
        <p:nvSpPr>
          <p:cNvPr id="3" name="Content Placeholder 2"/>
          <p:cNvSpPr>
            <a:spLocks noGrp="1"/>
          </p:cNvSpPr>
          <p:nvPr>
            <p:ph idx="1"/>
          </p:nvPr>
        </p:nvSpPr>
        <p:spPr/>
        <p:txBody>
          <a:bodyPr/>
          <a:lstStyle/>
          <a:p>
            <a:r>
              <a:rPr lang="en-US" dirty="0"/>
              <a:t>It is part of general ethics</a:t>
            </a:r>
          </a:p>
          <a:p>
            <a:r>
              <a:rPr lang="en-US" dirty="0"/>
              <a:t>Application of what is good and right </a:t>
            </a:r>
          </a:p>
          <a:p>
            <a:r>
              <a:rPr lang="en-US" dirty="0"/>
              <a:t>Derived from values in medical care</a:t>
            </a:r>
          </a:p>
          <a:p>
            <a:endParaRPr lang="en-US" dirty="0"/>
          </a:p>
        </p:txBody>
      </p:sp>
    </p:spTree>
    <p:extLst>
      <p:ext uri="{BB962C8B-B14F-4D97-AF65-F5344CB8AC3E}">
        <p14:creationId xmlns:p14="http://schemas.microsoft.com/office/powerpoint/2010/main" val="1832819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r>
              <a:rPr lang="en-US" dirty="0"/>
              <a:t>Deals with the norms that govern the behavior of medical professional</a:t>
            </a:r>
          </a:p>
          <a:p>
            <a:r>
              <a:rPr lang="en-US" dirty="0"/>
              <a:t>It is a systemic effort to work with in the ethos of medicine </a:t>
            </a:r>
          </a:p>
          <a:p>
            <a:r>
              <a:rPr lang="en-US" dirty="0"/>
              <a:t>Traditionally it is a service to the sick</a:t>
            </a:r>
          </a:p>
          <a:p>
            <a:endParaRPr lang="en-US" dirty="0"/>
          </a:p>
        </p:txBody>
      </p:sp>
    </p:spTree>
    <p:extLst>
      <p:ext uri="{BB962C8B-B14F-4D97-AF65-F5344CB8AC3E}">
        <p14:creationId xmlns:p14="http://schemas.microsoft.com/office/powerpoint/2010/main" val="4097269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dirty="0" smtClean="0"/>
              <a:t>Medical Ethics </a:t>
            </a:r>
            <a:r>
              <a:rPr lang="en-US" dirty="0"/>
              <a:t>is </a:t>
            </a:r>
            <a:r>
              <a:rPr lang="en-US" i="1" dirty="0"/>
              <a:t>the analysis, evaluation, and promotion of correct conduct and/or good character, according to the best available standards</a:t>
            </a:r>
            <a:r>
              <a:rPr lang="en-US" dirty="0"/>
              <a:t>.</a:t>
            </a:r>
          </a:p>
          <a:p>
            <a:r>
              <a:rPr lang="en-US" dirty="0"/>
              <a:t>Ethics asks what we should do in some circumstance, or what we should do as participants in some form of activity or profession</a:t>
            </a:r>
            <a:r>
              <a:rPr lang="en-US" dirty="0" smtClean="0"/>
              <a:t>.</a:t>
            </a:r>
          </a:p>
          <a:p>
            <a:endParaRPr lang="en-US" dirty="0"/>
          </a:p>
          <a:p>
            <a:r>
              <a:rPr lang="en-US" dirty="0" smtClean="0"/>
              <a:t> </a:t>
            </a:r>
            <a:r>
              <a:rPr lang="en-US" dirty="0"/>
              <a:t>Ethics is not limited to the acts of a single person. Ethics is also interested in the correct practices of governments, corporations, professionals and many other groups. To these issues, ethics seeks a reasoned, principled, position.</a:t>
            </a:r>
          </a:p>
        </p:txBody>
      </p:sp>
    </p:spTree>
    <p:extLst>
      <p:ext uri="{BB962C8B-B14F-4D97-AF65-F5344CB8AC3E}">
        <p14:creationId xmlns:p14="http://schemas.microsoft.com/office/powerpoint/2010/main" val="1555404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E</a:t>
            </a:r>
            <a:r>
              <a:rPr lang="en-US" dirty="0" smtClean="0"/>
              <a:t>thics </a:t>
            </a:r>
            <a:r>
              <a:rPr lang="en-US" dirty="0"/>
              <a:t>is the dynamic, evolving activity of applying, balancing, and modifying principles in light of new facts, new technology, new social attitudes and changing economic and political </a:t>
            </a:r>
            <a:r>
              <a:rPr lang="en-US" dirty="0" smtClean="0"/>
              <a:t>conditions.</a:t>
            </a:r>
            <a:endParaRPr lang="en-US" dirty="0"/>
          </a:p>
        </p:txBody>
      </p:sp>
    </p:spTree>
    <p:extLst>
      <p:ext uri="{BB962C8B-B14F-4D97-AF65-F5344CB8AC3E}">
        <p14:creationId xmlns:p14="http://schemas.microsoft.com/office/powerpoint/2010/main" val="1032621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fundamental principles of ethics </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083022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Autonomy </a:t>
            </a:r>
            <a:endParaRPr lang="en-US" dirty="0"/>
          </a:p>
        </p:txBody>
      </p:sp>
      <p:sp>
        <p:nvSpPr>
          <p:cNvPr id="3" name="Content Placeholder 2"/>
          <p:cNvSpPr>
            <a:spLocks noGrp="1"/>
          </p:cNvSpPr>
          <p:nvPr>
            <p:ph idx="1"/>
          </p:nvPr>
        </p:nvSpPr>
        <p:spPr/>
        <p:txBody>
          <a:bodyPr/>
          <a:lstStyle/>
          <a:p>
            <a:r>
              <a:rPr lang="en-US" dirty="0"/>
              <a:t>Respect for autonomy implies that patients, not the clinician, has the right to decide about their medical treatment</a:t>
            </a:r>
          </a:p>
          <a:p>
            <a:endParaRPr lang="en-US" dirty="0"/>
          </a:p>
          <a:p>
            <a:r>
              <a:rPr lang="en-US" dirty="0"/>
              <a:t>Clinicians understand the medical issues, but only the patient knows his own values which determines what he’s willing to undergo:  the willingness to take risks, bear pain or physical restrictions and the like.</a:t>
            </a:r>
          </a:p>
          <a:p>
            <a:endParaRPr lang="en-US" dirty="0"/>
          </a:p>
        </p:txBody>
      </p:sp>
    </p:spTree>
    <p:extLst>
      <p:ext uri="{BB962C8B-B14F-4D97-AF65-F5344CB8AC3E}">
        <p14:creationId xmlns:p14="http://schemas.microsoft.com/office/powerpoint/2010/main" val="730098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 </a:t>
            </a:r>
            <a:r>
              <a:rPr lang="en-US" dirty="0" err="1" smtClean="0"/>
              <a:t>malfecince</a:t>
            </a:r>
            <a:endParaRPr lang="en-US" dirty="0"/>
          </a:p>
        </p:txBody>
      </p:sp>
      <p:sp>
        <p:nvSpPr>
          <p:cNvPr id="3" name="Content Placeholder 2"/>
          <p:cNvSpPr>
            <a:spLocks noGrp="1"/>
          </p:cNvSpPr>
          <p:nvPr>
            <p:ph idx="1"/>
          </p:nvPr>
        </p:nvSpPr>
        <p:spPr/>
        <p:txBody>
          <a:bodyPr/>
          <a:lstStyle/>
          <a:p>
            <a:r>
              <a:rPr lang="en-US" dirty="0"/>
              <a:t>An obligation not to inflict harm on others</a:t>
            </a:r>
          </a:p>
          <a:p>
            <a:endParaRPr lang="en-US" dirty="0"/>
          </a:p>
          <a:p>
            <a:endParaRPr lang="en-US" dirty="0"/>
          </a:p>
        </p:txBody>
      </p:sp>
    </p:spTree>
    <p:extLst>
      <p:ext uri="{BB962C8B-B14F-4D97-AF65-F5344CB8AC3E}">
        <p14:creationId xmlns:p14="http://schemas.microsoft.com/office/powerpoint/2010/main" val="1698092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Beneficience</a:t>
            </a:r>
            <a:r>
              <a:rPr lang="en-US" dirty="0" smtClean="0"/>
              <a:t> </a:t>
            </a:r>
            <a:endParaRPr lang="en-US" dirty="0"/>
          </a:p>
        </p:txBody>
      </p:sp>
      <p:sp>
        <p:nvSpPr>
          <p:cNvPr id="3" name="Content Placeholder 2"/>
          <p:cNvSpPr>
            <a:spLocks noGrp="1"/>
          </p:cNvSpPr>
          <p:nvPr>
            <p:ph idx="1"/>
          </p:nvPr>
        </p:nvSpPr>
        <p:spPr/>
        <p:txBody>
          <a:bodyPr/>
          <a:lstStyle/>
          <a:p>
            <a:r>
              <a:rPr lang="en-US" sz="2000" dirty="0"/>
              <a:t>An obligation to act in the benefit of others</a:t>
            </a:r>
          </a:p>
          <a:p>
            <a:endParaRPr lang="en-US" dirty="0"/>
          </a:p>
        </p:txBody>
      </p:sp>
    </p:spTree>
    <p:extLst>
      <p:ext uri="{BB962C8B-B14F-4D97-AF65-F5344CB8AC3E}">
        <p14:creationId xmlns:p14="http://schemas.microsoft.com/office/powerpoint/2010/main" val="1868996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400" dirty="0"/>
              <a:t>Two major types:</a:t>
            </a:r>
          </a:p>
          <a:p>
            <a:pPr lvl="1"/>
            <a:r>
              <a:rPr lang="en-US" sz="2400" dirty="0"/>
              <a:t>Positive beneficence – provides benefit to patient</a:t>
            </a:r>
          </a:p>
          <a:p>
            <a:pPr lvl="1"/>
            <a:r>
              <a:rPr lang="en-US" sz="2400" dirty="0"/>
              <a:t>Utility beneficence – balance of benefits, in a community-oriented context</a:t>
            </a:r>
          </a:p>
          <a:p>
            <a:pPr lvl="1">
              <a:buNone/>
            </a:pPr>
            <a:endParaRPr lang="en-US" sz="2400" dirty="0"/>
          </a:p>
          <a:p>
            <a:r>
              <a:rPr lang="en-US" sz="2400" dirty="0"/>
              <a:t>Sometimes there are conflicts of the principles i.e. autonomy vs. beneficence </a:t>
            </a:r>
          </a:p>
          <a:p>
            <a:endParaRPr lang="en-US" dirty="0"/>
          </a:p>
        </p:txBody>
      </p:sp>
    </p:spTree>
    <p:extLst>
      <p:ext uri="{BB962C8B-B14F-4D97-AF65-F5344CB8AC3E}">
        <p14:creationId xmlns:p14="http://schemas.microsoft.com/office/powerpoint/2010/main" val="640490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for discussion </a:t>
            </a:r>
            <a:endParaRPr lang="en-US" dirty="0"/>
          </a:p>
        </p:txBody>
      </p:sp>
      <p:sp>
        <p:nvSpPr>
          <p:cNvPr id="3" name="Content Placeholder 2"/>
          <p:cNvSpPr>
            <a:spLocks noGrp="1"/>
          </p:cNvSpPr>
          <p:nvPr>
            <p:ph idx="1"/>
          </p:nvPr>
        </p:nvSpPr>
        <p:spPr/>
        <p:txBody>
          <a:bodyPr/>
          <a:lstStyle/>
          <a:p>
            <a:r>
              <a:rPr lang="en-US" dirty="0"/>
              <a:t>59  years old male patient un controlled diabetics mellitus developed gangrene of the right foot and advised for BKA patient does not want to live with a compromised quality of life patient goes in to coma</a:t>
            </a:r>
          </a:p>
          <a:p>
            <a:r>
              <a:rPr lang="en-US" dirty="0"/>
              <a:t>Argument –should we amputate the limb and save the life of the patient against his will? </a:t>
            </a:r>
          </a:p>
          <a:p>
            <a:endParaRPr lang="en-US" dirty="0"/>
          </a:p>
        </p:txBody>
      </p:sp>
    </p:spTree>
    <p:extLst>
      <p:ext uri="{BB962C8B-B14F-4D97-AF65-F5344CB8AC3E}">
        <p14:creationId xmlns:p14="http://schemas.microsoft.com/office/powerpoint/2010/main" val="741582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Justice </a:t>
            </a:r>
            <a:endParaRPr lang="en-US" dirty="0"/>
          </a:p>
        </p:txBody>
      </p:sp>
      <p:sp>
        <p:nvSpPr>
          <p:cNvPr id="3" name="Content Placeholder 2"/>
          <p:cNvSpPr>
            <a:spLocks noGrp="1"/>
          </p:cNvSpPr>
          <p:nvPr>
            <p:ph idx="1"/>
          </p:nvPr>
        </p:nvSpPr>
        <p:spPr/>
        <p:txBody>
          <a:bodyPr/>
          <a:lstStyle/>
          <a:p>
            <a:r>
              <a:rPr lang="en-US" dirty="0"/>
              <a:t>Fair equitable treatment in light of what is owed or due to an individual</a:t>
            </a:r>
          </a:p>
          <a:p>
            <a:endParaRPr lang="en-US" dirty="0"/>
          </a:p>
          <a:p>
            <a:r>
              <a:rPr lang="en-US" dirty="0"/>
              <a:t>Might include rationing of scarce resources, ensuring that all patients are treated alike, without discrimination, and considering the rights of health professionals.</a:t>
            </a:r>
          </a:p>
          <a:p>
            <a:endParaRPr lang="en-US" dirty="0"/>
          </a:p>
          <a:p>
            <a:endParaRPr lang="en-US" dirty="0"/>
          </a:p>
        </p:txBody>
      </p:sp>
    </p:spTree>
    <p:extLst>
      <p:ext uri="{BB962C8B-B14F-4D97-AF65-F5344CB8AC3E}">
        <p14:creationId xmlns:p14="http://schemas.microsoft.com/office/powerpoint/2010/main" val="2579852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b="1" dirty="0"/>
              <a:t>Range of Ethics</a:t>
            </a:r>
            <a:br>
              <a:rPr lang="en-US" b="1" dirty="0"/>
            </a:br>
            <a:endParaRPr lang="en-US" dirty="0"/>
          </a:p>
        </p:txBody>
      </p:sp>
      <p:sp>
        <p:nvSpPr>
          <p:cNvPr id="3" name="Content Placeholder 2"/>
          <p:cNvSpPr>
            <a:spLocks noGrp="1"/>
          </p:cNvSpPr>
          <p:nvPr>
            <p:ph idx="1"/>
          </p:nvPr>
        </p:nvSpPr>
        <p:spPr/>
        <p:txBody>
          <a:bodyPr/>
          <a:lstStyle/>
          <a:p>
            <a:pPr fontAlgn="base"/>
            <a:r>
              <a:rPr lang="en-US" dirty="0"/>
              <a:t>•  </a:t>
            </a:r>
            <a:r>
              <a:rPr lang="en-US" sz="2400" dirty="0"/>
              <a:t>Personal ethics: e.g. questions about one’s basic values and plan of </a:t>
            </a:r>
            <a:r>
              <a:rPr lang="en-US" sz="2400" dirty="0" smtClean="0"/>
              <a:t>life</a:t>
            </a:r>
          </a:p>
          <a:p>
            <a:pPr fontAlgn="base"/>
            <a:r>
              <a:rPr lang="en-US" sz="2400" dirty="0"/>
              <a:t/>
            </a:r>
            <a:br>
              <a:rPr lang="en-US" sz="2400" dirty="0"/>
            </a:br>
            <a:r>
              <a:rPr lang="en-US" sz="2400" dirty="0"/>
              <a:t>•  Professional ethics: principles and practices of major </a:t>
            </a:r>
            <a:r>
              <a:rPr lang="en-US" sz="2400" dirty="0" smtClean="0"/>
              <a:t>professions</a:t>
            </a:r>
          </a:p>
          <a:p>
            <a:pPr fontAlgn="base"/>
            <a:r>
              <a:rPr lang="en-US" sz="2400" dirty="0"/>
              <a:t/>
            </a:r>
            <a:br>
              <a:rPr lang="en-US" sz="2400" dirty="0"/>
            </a:br>
            <a:r>
              <a:rPr lang="en-US" sz="2400" dirty="0"/>
              <a:t>•  Social and political ethics: e.g., issues of social justice, political </a:t>
            </a:r>
            <a:r>
              <a:rPr lang="en-US" sz="2400" dirty="0" smtClean="0"/>
              <a:t>rights</a:t>
            </a:r>
          </a:p>
          <a:p>
            <a:pPr fontAlgn="base"/>
            <a:r>
              <a:rPr lang="en-US" sz="2400" dirty="0"/>
              <a:t/>
            </a:r>
            <a:br>
              <a:rPr lang="en-US" sz="2400" dirty="0"/>
            </a:br>
            <a:r>
              <a:rPr lang="en-US" sz="2400" dirty="0"/>
              <a:t>•  Ethics of sexual and gender relations</a:t>
            </a:r>
            <a:br>
              <a:rPr lang="en-US" sz="2400" dirty="0"/>
            </a:br>
            <a:endParaRPr lang="en-US" sz="2400" dirty="0"/>
          </a:p>
        </p:txBody>
      </p:sp>
    </p:spTree>
    <p:extLst>
      <p:ext uri="{BB962C8B-B14F-4D97-AF65-F5344CB8AC3E}">
        <p14:creationId xmlns:p14="http://schemas.microsoft.com/office/powerpoint/2010/main" val="1786675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t>
            </a:r>
            <a:r>
              <a:rPr lang="en-US" dirty="0" smtClean="0"/>
              <a:t> </a:t>
            </a:r>
            <a:r>
              <a:rPr lang="en-US" sz="2400" dirty="0" smtClean="0"/>
              <a:t>Research </a:t>
            </a:r>
            <a:r>
              <a:rPr lang="en-US" sz="2400" dirty="0"/>
              <a:t>ethics in academia and the private </a:t>
            </a:r>
            <a:r>
              <a:rPr lang="en-US" sz="2400" dirty="0" smtClean="0"/>
              <a:t>sector</a:t>
            </a:r>
          </a:p>
          <a:p>
            <a:r>
              <a:rPr lang="en-US" sz="2400" dirty="0"/>
              <a:t/>
            </a:r>
            <a:br>
              <a:rPr lang="en-US" sz="2400" dirty="0"/>
            </a:br>
            <a:r>
              <a:rPr lang="en-US" sz="2400" dirty="0"/>
              <a:t>•  Environmental ethics, including the ethical treatment of </a:t>
            </a:r>
            <a:r>
              <a:rPr lang="en-US" sz="2400" dirty="0" smtClean="0"/>
              <a:t>animals</a:t>
            </a:r>
          </a:p>
          <a:p>
            <a:r>
              <a:rPr lang="en-US" sz="2400" dirty="0"/>
              <a:t/>
            </a:r>
            <a:br>
              <a:rPr lang="en-US" sz="2400" dirty="0"/>
            </a:br>
            <a:r>
              <a:rPr lang="en-US" sz="2400" dirty="0"/>
              <a:t>•  Global ethics: ethics of international affairs, human </a:t>
            </a:r>
            <a:r>
              <a:rPr lang="en-US" sz="2400" dirty="0" smtClean="0"/>
              <a:t>rights</a:t>
            </a:r>
          </a:p>
          <a:p>
            <a:r>
              <a:rPr lang="en-US" sz="2400" dirty="0"/>
              <a:t/>
            </a:r>
            <a:br>
              <a:rPr lang="en-US" sz="2400" dirty="0"/>
            </a:br>
            <a:r>
              <a:rPr lang="en-US" sz="2400" dirty="0"/>
              <a:t>•  Communication ethics, including media, public relations and journalism</a:t>
            </a:r>
          </a:p>
        </p:txBody>
      </p:sp>
    </p:spTree>
    <p:extLst>
      <p:ext uri="{BB962C8B-B14F-4D97-AF65-F5344CB8AC3E}">
        <p14:creationId xmlns:p14="http://schemas.microsoft.com/office/powerpoint/2010/main" val="33054515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Aim of medical ethics </a:t>
            </a:r>
            <a:endParaRPr lang="en-US" dirty="0"/>
          </a:p>
        </p:txBody>
      </p:sp>
      <p:sp>
        <p:nvSpPr>
          <p:cNvPr id="3" name="Content Placeholder 2"/>
          <p:cNvSpPr>
            <a:spLocks noGrp="1"/>
          </p:cNvSpPr>
          <p:nvPr>
            <p:ph idx="1"/>
          </p:nvPr>
        </p:nvSpPr>
        <p:spPr/>
        <p:txBody>
          <a:bodyPr/>
          <a:lstStyle/>
          <a:p>
            <a:r>
              <a:rPr lang="en-US" dirty="0"/>
              <a:t>Give maximum benefit to the patient </a:t>
            </a:r>
          </a:p>
          <a:p>
            <a:r>
              <a:rPr lang="en-US" dirty="0"/>
              <a:t>Least risk</a:t>
            </a:r>
          </a:p>
          <a:p>
            <a:r>
              <a:rPr lang="en-US" dirty="0"/>
              <a:t>Correct diagnosis and management of the patient </a:t>
            </a:r>
          </a:p>
          <a:p>
            <a:endParaRPr lang="en-US" dirty="0"/>
          </a:p>
          <a:p>
            <a:endParaRPr lang="en-US" dirty="0"/>
          </a:p>
        </p:txBody>
      </p:sp>
    </p:spTree>
    <p:extLst>
      <p:ext uri="{BB962C8B-B14F-4D97-AF65-F5344CB8AC3E}">
        <p14:creationId xmlns:p14="http://schemas.microsoft.com/office/powerpoint/2010/main" val="1227091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Keep interest of the patient foremost</a:t>
            </a:r>
          </a:p>
          <a:p>
            <a:r>
              <a:rPr lang="en-US" dirty="0"/>
              <a:t>Needs of the patient guardian and families</a:t>
            </a:r>
          </a:p>
          <a:p>
            <a:r>
              <a:rPr lang="en-US" dirty="0"/>
              <a:t>Cost to the patient family and society</a:t>
            </a:r>
          </a:p>
          <a:p>
            <a:r>
              <a:rPr lang="en-US" dirty="0"/>
              <a:t>Availability of resources</a:t>
            </a:r>
          </a:p>
          <a:p>
            <a:endParaRPr lang="en-US" dirty="0"/>
          </a:p>
        </p:txBody>
      </p:sp>
    </p:spTree>
    <p:extLst>
      <p:ext uri="{BB962C8B-B14F-4D97-AF65-F5344CB8AC3E}">
        <p14:creationId xmlns:p14="http://schemas.microsoft.com/office/powerpoint/2010/main" val="783140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Principle </a:t>
            </a:r>
            <a:endParaRPr lang="en-US" dirty="0"/>
          </a:p>
        </p:txBody>
      </p:sp>
      <p:sp>
        <p:nvSpPr>
          <p:cNvPr id="3" name="Content Placeholder 2"/>
          <p:cNvSpPr>
            <a:spLocks noGrp="1"/>
          </p:cNvSpPr>
          <p:nvPr>
            <p:ph idx="1"/>
          </p:nvPr>
        </p:nvSpPr>
        <p:spPr/>
        <p:txBody>
          <a:bodyPr/>
          <a:lstStyle/>
          <a:p>
            <a:pPr>
              <a:buNone/>
            </a:pPr>
            <a:r>
              <a:rPr lang="en-US" dirty="0"/>
              <a:t>In all circumstances and to the best of your ability strive to alleviate the suffering of the patient (heal him /her)</a:t>
            </a:r>
          </a:p>
        </p:txBody>
      </p:sp>
    </p:spTree>
    <p:extLst>
      <p:ext uri="{BB962C8B-B14F-4D97-AF65-F5344CB8AC3E}">
        <p14:creationId xmlns:p14="http://schemas.microsoft.com/office/powerpoint/2010/main" val="687196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Principle </a:t>
            </a:r>
            <a:endParaRPr lang="en-US" dirty="0"/>
          </a:p>
        </p:txBody>
      </p:sp>
      <p:sp>
        <p:nvSpPr>
          <p:cNvPr id="3" name="Content Placeholder 2"/>
          <p:cNvSpPr>
            <a:spLocks noGrp="1"/>
          </p:cNvSpPr>
          <p:nvPr>
            <p:ph idx="1"/>
          </p:nvPr>
        </p:nvSpPr>
        <p:spPr/>
        <p:txBody>
          <a:bodyPr>
            <a:normAutofit/>
          </a:bodyPr>
          <a:lstStyle/>
          <a:p>
            <a:pPr>
              <a:buNone/>
            </a:pPr>
            <a:r>
              <a:rPr lang="en-US" sz="2400" dirty="0"/>
              <a:t>T</a:t>
            </a:r>
            <a:r>
              <a:rPr lang="en-US" sz="2400" dirty="0" smtClean="0"/>
              <a:t>o </a:t>
            </a:r>
            <a:r>
              <a:rPr lang="en-US" sz="2400" dirty="0"/>
              <a:t>cure sometimes </a:t>
            </a:r>
            <a:endParaRPr lang="en-US" sz="2400" dirty="0" smtClean="0"/>
          </a:p>
          <a:p>
            <a:pPr>
              <a:buNone/>
            </a:pPr>
            <a:r>
              <a:rPr lang="en-US" sz="2400" dirty="0"/>
              <a:t>T</a:t>
            </a:r>
            <a:r>
              <a:rPr lang="en-US" sz="2400" dirty="0" smtClean="0"/>
              <a:t>o </a:t>
            </a:r>
            <a:r>
              <a:rPr lang="en-US" sz="2400" dirty="0"/>
              <a:t>relief often </a:t>
            </a:r>
            <a:endParaRPr lang="en-US" sz="2400" dirty="0" smtClean="0"/>
          </a:p>
          <a:p>
            <a:pPr>
              <a:buNone/>
            </a:pPr>
            <a:r>
              <a:rPr lang="en-US" sz="2400" dirty="0"/>
              <a:t>T</a:t>
            </a:r>
            <a:r>
              <a:rPr lang="en-US" sz="2400" dirty="0" smtClean="0"/>
              <a:t>o </a:t>
            </a:r>
            <a:r>
              <a:rPr lang="en-US" sz="2400" dirty="0"/>
              <a:t>comfort always</a:t>
            </a:r>
          </a:p>
        </p:txBody>
      </p:sp>
    </p:spTree>
    <p:extLst>
      <p:ext uri="{BB962C8B-B14F-4D97-AF65-F5344CB8AC3E}">
        <p14:creationId xmlns:p14="http://schemas.microsoft.com/office/powerpoint/2010/main" val="1435886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Fundamental values </a:t>
            </a:r>
            <a:endParaRPr lang="en-US" dirty="0"/>
          </a:p>
        </p:txBody>
      </p:sp>
      <p:sp>
        <p:nvSpPr>
          <p:cNvPr id="3" name="Content Placeholder 2"/>
          <p:cNvSpPr>
            <a:spLocks noGrp="1"/>
          </p:cNvSpPr>
          <p:nvPr>
            <p:ph idx="1"/>
          </p:nvPr>
        </p:nvSpPr>
        <p:spPr/>
        <p:txBody>
          <a:bodyPr/>
          <a:lstStyle/>
          <a:p>
            <a:r>
              <a:rPr lang="en-US" dirty="0"/>
              <a:t>Preservation of life </a:t>
            </a:r>
          </a:p>
          <a:p>
            <a:r>
              <a:rPr lang="en-US" dirty="0"/>
              <a:t>Relief of suffering </a:t>
            </a:r>
          </a:p>
          <a:p>
            <a:r>
              <a:rPr lang="en-US" dirty="0"/>
              <a:t>Cure of </a:t>
            </a:r>
            <a:r>
              <a:rPr lang="en-US" dirty="0" smtClean="0"/>
              <a:t>disease</a:t>
            </a:r>
            <a:endParaRPr lang="en-US" dirty="0"/>
          </a:p>
        </p:txBody>
      </p:sp>
    </p:spTree>
    <p:extLst>
      <p:ext uri="{BB962C8B-B14F-4D97-AF65-F5344CB8AC3E}">
        <p14:creationId xmlns:p14="http://schemas.microsoft.com/office/powerpoint/2010/main" val="1980202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Care of the person </a:t>
            </a:r>
          </a:p>
          <a:p>
            <a:r>
              <a:rPr lang="en-US" dirty="0"/>
              <a:t>Prevention of disease </a:t>
            </a:r>
          </a:p>
          <a:p>
            <a:r>
              <a:rPr lang="en-US" dirty="0"/>
              <a:t>Promotion of health </a:t>
            </a:r>
          </a:p>
          <a:p>
            <a:endParaRPr lang="en-US" dirty="0"/>
          </a:p>
          <a:p>
            <a:endParaRPr lang="en-US" dirty="0"/>
          </a:p>
        </p:txBody>
      </p:sp>
    </p:spTree>
    <p:extLst>
      <p:ext uri="{BB962C8B-B14F-4D97-AF65-F5344CB8AC3E}">
        <p14:creationId xmlns:p14="http://schemas.microsoft.com/office/powerpoint/2010/main" val="32808138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connected with the beginning and end of life</a:t>
            </a:r>
          </a:p>
        </p:txBody>
      </p:sp>
      <p:sp>
        <p:nvSpPr>
          <p:cNvPr id="3" name="Content Placeholder 2"/>
          <p:cNvSpPr>
            <a:spLocks noGrp="1"/>
          </p:cNvSpPr>
          <p:nvPr>
            <p:ph idx="1"/>
          </p:nvPr>
        </p:nvSpPr>
        <p:spPr/>
        <p:txBody>
          <a:bodyPr/>
          <a:lstStyle/>
          <a:p>
            <a:r>
              <a:rPr lang="en-US" dirty="0"/>
              <a:t>Control of fertility contraception </a:t>
            </a:r>
          </a:p>
          <a:p>
            <a:r>
              <a:rPr lang="en-US" dirty="0"/>
              <a:t>Right to life /abortion</a:t>
            </a:r>
          </a:p>
          <a:p>
            <a:r>
              <a:rPr lang="en-US" dirty="0"/>
              <a:t>Care of the terminally ill patient </a:t>
            </a:r>
          </a:p>
          <a:p>
            <a:r>
              <a:rPr lang="en-US" dirty="0"/>
              <a:t>Euthanasia</a:t>
            </a:r>
          </a:p>
          <a:p>
            <a:endParaRPr lang="en-US" dirty="0"/>
          </a:p>
          <a:p>
            <a:endParaRPr lang="en-US" dirty="0"/>
          </a:p>
        </p:txBody>
      </p:sp>
    </p:spTree>
    <p:extLst>
      <p:ext uri="{BB962C8B-B14F-4D97-AF65-F5344CB8AC3E}">
        <p14:creationId xmlns:p14="http://schemas.microsoft.com/office/powerpoint/2010/main" val="2749346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 related to professional conduct </a:t>
            </a:r>
            <a:endParaRPr lang="en-US" dirty="0"/>
          </a:p>
        </p:txBody>
      </p:sp>
      <p:sp>
        <p:nvSpPr>
          <p:cNvPr id="3" name="Content Placeholder 2"/>
          <p:cNvSpPr>
            <a:spLocks noGrp="1"/>
          </p:cNvSpPr>
          <p:nvPr>
            <p:ph idx="1"/>
          </p:nvPr>
        </p:nvSpPr>
        <p:spPr/>
        <p:txBody>
          <a:bodyPr/>
          <a:lstStyle/>
          <a:p>
            <a:r>
              <a:rPr lang="en-US" dirty="0"/>
              <a:t>Malpractice and negligence</a:t>
            </a:r>
          </a:p>
          <a:p>
            <a:r>
              <a:rPr lang="en-US" dirty="0"/>
              <a:t>Un ethical advertising </a:t>
            </a:r>
          </a:p>
          <a:p>
            <a:r>
              <a:rPr lang="en-US" dirty="0"/>
              <a:t>Autonomy of the patient VS </a:t>
            </a:r>
            <a:r>
              <a:rPr lang="en-US" dirty="0" smtClean="0"/>
              <a:t>paternalism</a:t>
            </a:r>
            <a:endParaRPr lang="en-US" dirty="0"/>
          </a:p>
        </p:txBody>
      </p:sp>
    </p:spTree>
    <p:extLst>
      <p:ext uri="{BB962C8B-B14F-4D97-AF65-F5344CB8AC3E}">
        <p14:creationId xmlns:p14="http://schemas.microsoft.com/office/powerpoint/2010/main" val="7241010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Informed cons cent </a:t>
            </a:r>
          </a:p>
          <a:p>
            <a:r>
              <a:rPr lang="en-US" dirty="0"/>
              <a:t>Confidentiality</a:t>
            </a:r>
          </a:p>
          <a:p>
            <a:r>
              <a:rPr lang="en-US" dirty="0"/>
              <a:t>Research</a:t>
            </a:r>
          </a:p>
          <a:p>
            <a:r>
              <a:rPr lang="en-US" dirty="0"/>
              <a:t>Irrational use of drugs </a:t>
            </a:r>
          </a:p>
        </p:txBody>
      </p:sp>
    </p:spTree>
    <p:extLst>
      <p:ext uri="{BB962C8B-B14F-4D97-AF65-F5344CB8AC3E}">
        <p14:creationId xmlns:p14="http://schemas.microsoft.com/office/powerpoint/2010/main" val="34869072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involving social justice and equity in health</a:t>
            </a:r>
          </a:p>
        </p:txBody>
      </p:sp>
      <p:sp>
        <p:nvSpPr>
          <p:cNvPr id="3" name="Content Placeholder 2"/>
          <p:cNvSpPr>
            <a:spLocks noGrp="1"/>
          </p:cNvSpPr>
          <p:nvPr>
            <p:ph idx="1"/>
          </p:nvPr>
        </p:nvSpPr>
        <p:spPr/>
        <p:txBody>
          <a:bodyPr/>
          <a:lstStyle/>
          <a:p>
            <a:r>
              <a:rPr lang="en-US" dirty="0"/>
              <a:t>Right to health </a:t>
            </a:r>
          </a:p>
          <a:p>
            <a:r>
              <a:rPr lang="en-US" dirty="0"/>
              <a:t>Health policy </a:t>
            </a:r>
          </a:p>
          <a:p>
            <a:r>
              <a:rPr lang="en-US" dirty="0"/>
              <a:t>Distribution justice in health care </a:t>
            </a:r>
          </a:p>
          <a:p>
            <a:r>
              <a:rPr lang="en-US" dirty="0"/>
              <a:t>Commercialization of medical care </a:t>
            </a:r>
          </a:p>
          <a:p>
            <a:endParaRPr lang="en-US" dirty="0"/>
          </a:p>
        </p:txBody>
      </p:sp>
    </p:spTree>
    <p:extLst>
      <p:ext uri="{BB962C8B-B14F-4D97-AF65-F5344CB8AC3E}">
        <p14:creationId xmlns:p14="http://schemas.microsoft.com/office/powerpoint/2010/main" val="18731279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involving social justice and equity in health</a:t>
            </a:r>
          </a:p>
        </p:txBody>
      </p:sp>
      <p:sp>
        <p:nvSpPr>
          <p:cNvPr id="3" name="Content Placeholder 2"/>
          <p:cNvSpPr>
            <a:spLocks noGrp="1"/>
          </p:cNvSpPr>
          <p:nvPr>
            <p:ph idx="1"/>
          </p:nvPr>
        </p:nvSpPr>
        <p:spPr/>
        <p:txBody>
          <a:bodyPr/>
          <a:lstStyle/>
          <a:p>
            <a:r>
              <a:rPr lang="en-US" dirty="0"/>
              <a:t>Right to health </a:t>
            </a:r>
          </a:p>
          <a:p>
            <a:r>
              <a:rPr lang="en-US" dirty="0"/>
              <a:t>Health policy </a:t>
            </a:r>
          </a:p>
          <a:p>
            <a:r>
              <a:rPr lang="en-US" dirty="0"/>
              <a:t>Distribution justice in health care </a:t>
            </a:r>
          </a:p>
          <a:p>
            <a:r>
              <a:rPr lang="en-US" dirty="0"/>
              <a:t>Commercialization of medical care </a:t>
            </a:r>
          </a:p>
        </p:txBody>
      </p:sp>
    </p:spTree>
    <p:extLst>
      <p:ext uri="{BB962C8B-B14F-4D97-AF65-F5344CB8AC3E}">
        <p14:creationId xmlns:p14="http://schemas.microsoft.com/office/powerpoint/2010/main" val="35144783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Resource allocation </a:t>
            </a:r>
            <a:endParaRPr lang="en-US" dirty="0"/>
          </a:p>
        </p:txBody>
      </p:sp>
      <p:sp>
        <p:nvSpPr>
          <p:cNvPr id="3" name="Content Placeholder 2"/>
          <p:cNvSpPr>
            <a:spLocks noGrp="1"/>
          </p:cNvSpPr>
          <p:nvPr>
            <p:ph idx="1"/>
          </p:nvPr>
        </p:nvSpPr>
        <p:spPr/>
        <p:txBody>
          <a:bodyPr/>
          <a:lstStyle/>
          <a:p>
            <a:r>
              <a:rPr lang="en-US" dirty="0"/>
              <a:t>Reasonable criteria might include:</a:t>
            </a:r>
          </a:p>
          <a:p>
            <a:pPr lvl="1"/>
            <a:r>
              <a:rPr lang="en-US" dirty="0"/>
              <a:t>Likelihood of patient benefit</a:t>
            </a:r>
          </a:p>
          <a:p>
            <a:pPr lvl="1"/>
            <a:r>
              <a:rPr lang="en-US" dirty="0"/>
              <a:t>Improvement in patient’s quality of life</a:t>
            </a:r>
          </a:p>
          <a:p>
            <a:pPr lvl="1"/>
            <a:r>
              <a:rPr lang="en-US" dirty="0"/>
              <a:t>Duration of benefit</a:t>
            </a:r>
          </a:p>
          <a:p>
            <a:pPr lvl="1"/>
            <a:r>
              <a:rPr lang="en-US" dirty="0"/>
              <a:t>Urgency of need (based on medical condition)</a:t>
            </a:r>
          </a:p>
          <a:p>
            <a:pPr lvl="1"/>
            <a:r>
              <a:rPr lang="en-US" dirty="0"/>
              <a:t>What (amount) resources are needed for successful treatment</a:t>
            </a:r>
          </a:p>
          <a:p>
            <a:endParaRPr lang="en-US" dirty="0"/>
          </a:p>
          <a:p>
            <a:endParaRPr lang="en-US" dirty="0"/>
          </a:p>
        </p:txBody>
      </p:sp>
    </p:spTree>
    <p:extLst>
      <p:ext uri="{BB962C8B-B14F-4D97-AF65-F5344CB8AC3E}">
        <p14:creationId xmlns:p14="http://schemas.microsoft.com/office/powerpoint/2010/main" val="30197829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Ethical theories </a:t>
            </a:r>
            <a:endParaRPr lang="en-US" dirty="0"/>
          </a:p>
        </p:txBody>
      </p:sp>
      <p:sp>
        <p:nvSpPr>
          <p:cNvPr id="3" name="Content Placeholder 2"/>
          <p:cNvSpPr>
            <a:spLocks noGrp="1"/>
          </p:cNvSpPr>
          <p:nvPr>
            <p:ph idx="1"/>
          </p:nvPr>
        </p:nvSpPr>
        <p:spPr/>
        <p:txBody>
          <a:bodyPr/>
          <a:lstStyle/>
          <a:p>
            <a:r>
              <a:rPr lang="en-US" dirty="0"/>
              <a:t>Ethical theories are philosophical attempts at explaining and systematizing human morality. </a:t>
            </a:r>
            <a:endParaRPr lang="en-US" dirty="0" smtClean="0"/>
          </a:p>
          <a:p>
            <a:r>
              <a:rPr lang="en-US" dirty="0" smtClean="0"/>
              <a:t>Generally</a:t>
            </a:r>
            <a:r>
              <a:rPr lang="en-US" dirty="0"/>
              <a:t>, most ethical theory is an attempt to describe or prescribe what philosophers call "right action" and "wrong action." </a:t>
            </a:r>
            <a:endParaRPr lang="en-US" dirty="0" smtClean="0"/>
          </a:p>
          <a:p>
            <a:endParaRPr lang="en-US" dirty="0"/>
          </a:p>
          <a:p>
            <a:r>
              <a:rPr lang="en-US" dirty="0" smtClean="0"/>
              <a:t>Most </a:t>
            </a:r>
            <a:r>
              <a:rPr lang="en-US" dirty="0"/>
              <a:t>modern ethical theories can be classed as either deontological or consequentialist</a:t>
            </a:r>
          </a:p>
        </p:txBody>
      </p:sp>
    </p:spTree>
    <p:extLst>
      <p:ext uri="{BB962C8B-B14F-4D97-AF65-F5344CB8AC3E}">
        <p14:creationId xmlns:p14="http://schemas.microsoft.com/office/powerpoint/2010/main" val="15956524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r>
              <a:rPr lang="en-US" dirty="0" smtClean="0"/>
              <a:t>Ethical </a:t>
            </a:r>
            <a:r>
              <a:rPr lang="en-US" dirty="0"/>
              <a:t>theory examples that are deontological include Kant's categorical imperative and modern Scanlon's contractualism</a:t>
            </a:r>
            <a:r>
              <a:rPr lang="en-US" dirty="0" smtClean="0"/>
              <a:t>.</a:t>
            </a:r>
          </a:p>
          <a:p>
            <a:endParaRPr lang="en-US" dirty="0"/>
          </a:p>
          <a:p>
            <a:r>
              <a:rPr lang="en-US" dirty="0" smtClean="0"/>
              <a:t> </a:t>
            </a:r>
            <a:r>
              <a:rPr lang="en-US" dirty="0"/>
              <a:t>Ethical theories can also be consequentialist. Consequentialist theories insist that to determine the morality of an action, you must understand its outcomes</a:t>
            </a:r>
          </a:p>
        </p:txBody>
      </p:sp>
    </p:spTree>
    <p:extLst>
      <p:ext uri="{BB962C8B-B14F-4D97-AF65-F5344CB8AC3E}">
        <p14:creationId xmlns:p14="http://schemas.microsoft.com/office/powerpoint/2010/main" val="14569010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Models of amoral principle</a:t>
            </a:r>
          </a:p>
        </p:txBody>
      </p:sp>
      <p:sp>
        <p:nvSpPr>
          <p:cNvPr id="3" name="Content Placeholder 2"/>
          <p:cNvSpPr>
            <a:spLocks noGrp="1"/>
          </p:cNvSpPr>
          <p:nvPr>
            <p:ph idx="1"/>
          </p:nvPr>
        </p:nvSpPr>
        <p:spPr/>
        <p:txBody>
          <a:bodyPr/>
          <a:lstStyle/>
          <a:p>
            <a:r>
              <a:rPr lang="en-US" dirty="0" smtClean="0"/>
              <a:t>Model1.Consequentialist (theological </a:t>
            </a:r>
            <a:r>
              <a:rPr lang="en-US" dirty="0"/>
              <a:t>ethics)</a:t>
            </a:r>
          </a:p>
          <a:p>
            <a:pPr>
              <a:buNone/>
            </a:pPr>
            <a:r>
              <a:rPr lang="en-US" dirty="0"/>
              <a:t>Evaluates the out come of a given action </a:t>
            </a:r>
          </a:p>
          <a:p>
            <a:pPr>
              <a:buNone/>
            </a:pPr>
            <a:r>
              <a:rPr lang="en-US" dirty="0"/>
              <a:t>Utilitarian</a:t>
            </a:r>
          </a:p>
          <a:p>
            <a:pPr>
              <a:buNone/>
            </a:pPr>
            <a:r>
              <a:rPr lang="en-US" dirty="0"/>
              <a:t>Goodness to him is to most of the people</a:t>
            </a:r>
          </a:p>
        </p:txBody>
      </p:sp>
    </p:spTree>
    <p:extLst>
      <p:ext uri="{BB962C8B-B14F-4D97-AF65-F5344CB8AC3E}">
        <p14:creationId xmlns:p14="http://schemas.microsoft.com/office/powerpoint/2010/main" val="10397344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 is wrong to kill ,it is wrong to have abortion </a:t>
            </a:r>
            <a:endParaRPr lang="en-US" dirty="0"/>
          </a:p>
        </p:txBody>
      </p:sp>
      <p:sp>
        <p:nvSpPr>
          <p:cNvPr id="3" name="Content Placeholder 2"/>
          <p:cNvSpPr>
            <a:spLocks noGrp="1"/>
          </p:cNvSpPr>
          <p:nvPr>
            <p:ph idx="1"/>
          </p:nvPr>
        </p:nvSpPr>
        <p:spPr/>
        <p:txBody>
          <a:bodyPr/>
          <a:lstStyle/>
          <a:p>
            <a:pPr>
              <a:buNone/>
            </a:pPr>
            <a:r>
              <a:rPr lang="en-US" dirty="0"/>
              <a:t>What if a patient who is morally ill suffering wishes painless death?</a:t>
            </a:r>
          </a:p>
        </p:txBody>
      </p:sp>
    </p:spTree>
    <p:extLst>
      <p:ext uri="{BB962C8B-B14F-4D97-AF65-F5344CB8AC3E}">
        <p14:creationId xmlns:p14="http://schemas.microsoft.com/office/powerpoint/2010/main" val="30610717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Consequentialist </a:t>
            </a:r>
            <a:endParaRPr lang="en-US" dirty="0"/>
          </a:p>
        </p:txBody>
      </p:sp>
      <p:sp>
        <p:nvSpPr>
          <p:cNvPr id="3" name="Content Placeholder 2"/>
          <p:cNvSpPr>
            <a:spLocks noGrp="1"/>
          </p:cNvSpPr>
          <p:nvPr>
            <p:ph idx="1"/>
          </p:nvPr>
        </p:nvSpPr>
        <p:spPr/>
        <p:txBody>
          <a:bodyPr/>
          <a:lstStyle/>
          <a:p>
            <a:r>
              <a:rPr lang="en-US" dirty="0"/>
              <a:t>Rejects the effect it has on the greater number of people </a:t>
            </a:r>
          </a:p>
          <a:p>
            <a:r>
              <a:rPr lang="en-US" dirty="0"/>
              <a:t>The greatest good is when a physician considers the patients welfare as primary(physician should not harm a patient) </a:t>
            </a:r>
          </a:p>
        </p:txBody>
      </p:sp>
    </p:spTree>
    <p:extLst>
      <p:ext uri="{BB962C8B-B14F-4D97-AF65-F5344CB8AC3E}">
        <p14:creationId xmlns:p14="http://schemas.microsoft.com/office/powerpoint/2010/main" val="21324740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 with consequentialist analysis </a:t>
            </a:r>
            <a:endParaRPr lang="en-US" dirty="0"/>
          </a:p>
        </p:txBody>
      </p:sp>
      <p:sp>
        <p:nvSpPr>
          <p:cNvPr id="3" name="Content Placeholder 2"/>
          <p:cNvSpPr>
            <a:spLocks noGrp="1"/>
          </p:cNvSpPr>
          <p:nvPr>
            <p:ph idx="1"/>
          </p:nvPr>
        </p:nvSpPr>
        <p:spPr/>
        <p:txBody>
          <a:bodyPr/>
          <a:lstStyle/>
          <a:p>
            <a:r>
              <a:rPr lang="en-US" dirty="0"/>
              <a:t>Morality changes the general rule </a:t>
            </a:r>
          </a:p>
          <a:p>
            <a:r>
              <a:rPr lang="en-US" dirty="0"/>
              <a:t>Slippery slope phenomenon </a:t>
            </a:r>
          </a:p>
        </p:txBody>
      </p:sp>
    </p:spTree>
    <p:extLst>
      <p:ext uri="{BB962C8B-B14F-4D97-AF65-F5344CB8AC3E}">
        <p14:creationId xmlns:p14="http://schemas.microsoft.com/office/powerpoint/2010/main" val="18331986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Model 2.</a:t>
            </a:r>
          </a:p>
          <a:p>
            <a:r>
              <a:rPr lang="en-US" dirty="0" smtClean="0"/>
              <a:t>The </a:t>
            </a:r>
            <a:r>
              <a:rPr lang="en-US" dirty="0"/>
              <a:t>deontological class of ethical theories states that people should adhere to their </a:t>
            </a:r>
            <a:r>
              <a:rPr lang="en-US" dirty="0" smtClean="0"/>
              <a:t>obligations </a:t>
            </a:r>
            <a:r>
              <a:rPr lang="en-US" dirty="0"/>
              <a:t>and duties when engaged in decision making when ethics are in </a:t>
            </a:r>
            <a:r>
              <a:rPr lang="en-US" dirty="0" smtClean="0"/>
              <a:t>play(</a:t>
            </a:r>
            <a:r>
              <a:rPr lang="en-US" dirty="0" err="1" smtClean="0"/>
              <a:t>Emanueal</a:t>
            </a:r>
            <a:r>
              <a:rPr lang="en-US" dirty="0" smtClean="0"/>
              <a:t> Kant )</a:t>
            </a:r>
            <a:endParaRPr lang="en-US" dirty="0"/>
          </a:p>
        </p:txBody>
      </p:sp>
    </p:spTree>
    <p:extLst>
      <p:ext uri="{BB962C8B-B14F-4D97-AF65-F5344CB8AC3E}">
        <p14:creationId xmlns:p14="http://schemas.microsoft.com/office/powerpoint/2010/main" val="12927951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 consequentialism </a:t>
            </a:r>
            <a:endParaRPr lang="en-US" dirty="0"/>
          </a:p>
        </p:txBody>
      </p:sp>
      <p:sp>
        <p:nvSpPr>
          <p:cNvPr id="3" name="Content Placeholder 2"/>
          <p:cNvSpPr>
            <a:spLocks noGrp="1"/>
          </p:cNvSpPr>
          <p:nvPr>
            <p:ph idx="1"/>
          </p:nvPr>
        </p:nvSpPr>
        <p:spPr/>
        <p:txBody>
          <a:bodyPr/>
          <a:lstStyle/>
          <a:p>
            <a:r>
              <a:rPr lang="en-US" dirty="0"/>
              <a:t>Deontological ethics –considers the feature effects of an action either irrelevant or impossible to determine thus defends amoral principle on its merits alone </a:t>
            </a:r>
          </a:p>
          <a:p>
            <a:r>
              <a:rPr lang="en-US" dirty="0"/>
              <a:t>When you do x” that is your duty not to get y”</a:t>
            </a:r>
          </a:p>
        </p:txBody>
      </p:sp>
    </p:spTree>
    <p:extLst>
      <p:ext uri="{BB962C8B-B14F-4D97-AF65-F5344CB8AC3E}">
        <p14:creationId xmlns:p14="http://schemas.microsoft.com/office/powerpoint/2010/main" val="12559547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Four broad categories of ethical theories </a:t>
            </a:r>
            <a:endParaRPr lang="en-US" dirty="0"/>
          </a:p>
        </p:txBody>
      </p:sp>
      <p:sp>
        <p:nvSpPr>
          <p:cNvPr id="3" name="Content Placeholder 2"/>
          <p:cNvSpPr>
            <a:spLocks noGrp="1"/>
          </p:cNvSpPr>
          <p:nvPr>
            <p:ph idx="1"/>
          </p:nvPr>
        </p:nvSpPr>
        <p:spPr/>
        <p:txBody>
          <a:bodyPr/>
          <a:lstStyle/>
          <a:p>
            <a:r>
              <a:rPr lang="en-US" dirty="0"/>
              <a:t>D</a:t>
            </a:r>
            <a:r>
              <a:rPr lang="en-US" dirty="0" smtClean="0"/>
              <a:t>eontology </a:t>
            </a:r>
          </a:p>
          <a:p>
            <a:r>
              <a:rPr lang="en-US" dirty="0"/>
              <a:t>U</a:t>
            </a:r>
            <a:r>
              <a:rPr lang="en-US" dirty="0" smtClean="0"/>
              <a:t>tilitarianism </a:t>
            </a:r>
          </a:p>
          <a:p>
            <a:r>
              <a:rPr lang="en-US" dirty="0"/>
              <a:t>R</a:t>
            </a:r>
            <a:r>
              <a:rPr lang="en-US" dirty="0" smtClean="0"/>
              <a:t>ights </a:t>
            </a:r>
          </a:p>
          <a:p>
            <a:r>
              <a:rPr lang="en-US" dirty="0"/>
              <a:t>V</a:t>
            </a:r>
            <a:r>
              <a:rPr lang="en-US" dirty="0" smtClean="0"/>
              <a:t>irtues</a:t>
            </a:r>
            <a:endParaRPr lang="en-US" dirty="0"/>
          </a:p>
        </p:txBody>
      </p:sp>
    </p:spTree>
    <p:extLst>
      <p:ext uri="{BB962C8B-B14F-4D97-AF65-F5344CB8AC3E}">
        <p14:creationId xmlns:p14="http://schemas.microsoft.com/office/powerpoint/2010/main" val="17263528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Utilitarian </a:t>
            </a:r>
            <a:endParaRPr lang="en-US" dirty="0"/>
          </a:p>
        </p:txBody>
      </p:sp>
      <p:sp>
        <p:nvSpPr>
          <p:cNvPr id="3" name="Content Placeholder 2"/>
          <p:cNvSpPr>
            <a:spLocks noGrp="1"/>
          </p:cNvSpPr>
          <p:nvPr>
            <p:ph idx="1"/>
          </p:nvPr>
        </p:nvSpPr>
        <p:spPr/>
        <p:txBody>
          <a:bodyPr/>
          <a:lstStyle/>
          <a:p>
            <a:r>
              <a:rPr lang="en-US" dirty="0"/>
              <a:t>1. </a:t>
            </a:r>
            <a:r>
              <a:rPr lang="en-US" i="1" dirty="0"/>
              <a:t>Teleological or “goods-based” ethics</a:t>
            </a:r>
            <a:r>
              <a:rPr lang="en-US" dirty="0"/>
              <a:t>: For these theories, ethics is primarily about bringing about goods, the most goods, or the good life.  Ethical theories in this tradition include “consequential” theories that attempt to maximize valuable outcomes and minimize harms. One form of consequentialism is utilitarianism, where valuable outcomes are defined in terms of utility. The classic definition of utility is the greatest happiness of the greatest number</a:t>
            </a:r>
          </a:p>
        </p:txBody>
      </p:sp>
    </p:spTree>
    <p:extLst>
      <p:ext uri="{BB962C8B-B14F-4D97-AF65-F5344CB8AC3E}">
        <p14:creationId xmlns:p14="http://schemas.microsoft.com/office/powerpoint/2010/main" val="7732865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Deontology </a:t>
            </a:r>
            <a:endParaRPr lang="en-US" dirty="0"/>
          </a:p>
        </p:txBody>
      </p:sp>
      <p:sp>
        <p:nvSpPr>
          <p:cNvPr id="3" name="Content Placeholder 2"/>
          <p:cNvSpPr>
            <a:spLocks noGrp="1"/>
          </p:cNvSpPr>
          <p:nvPr>
            <p:ph idx="1"/>
          </p:nvPr>
        </p:nvSpPr>
        <p:spPr/>
        <p:txBody>
          <a:bodyPr/>
          <a:lstStyle/>
          <a:p>
            <a:r>
              <a:rPr lang="en-US" dirty="0"/>
              <a:t>2. </a:t>
            </a:r>
            <a:r>
              <a:rPr lang="en-US" i="1" dirty="0"/>
              <a:t>“Duty” or “de-ontological” ethics</a:t>
            </a:r>
            <a:r>
              <a:rPr lang="en-US" dirty="0"/>
              <a:t>: For these theories, ethics is primarily about the rights and duties of agents. Rights and duties allow people to interact in responsible ways. Ethics is less about individuals seeking to maximize their goods and more about right relations among people. Therefore, concepts of justice and fairness figure prominently in duty theories. This group of theories is distinguished by their view that basic rights and duties should restrain individual (or group) pursuit of the good. Basic rights and duties to others cannot be overridden by the wishes of the majority, or utilitarian calculations about what would make most people happy. Ethical systems in this tradition include the philosophy of Immanuel Kant and John Rawls.</a:t>
            </a:r>
          </a:p>
          <a:p>
            <a:endParaRPr lang="en-US" dirty="0"/>
          </a:p>
        </p:txBody>
      </p:sp>
    </p:spTree>
    <p:extLst>
      <p:ext uri="{BB962C8B-B14F-4D97-AF65-F5344CB8AC3E}">
        <p14:creationId xmlns:p14="http://schemas.microsoft.com/office/powerpoint/2010/main" val="27310605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Virtue </a:t>
            </a:r>
            <a:endParaRPr lang="en-US" dirty="0"/>
          </a:p>
        </p:txBody>
      </p:sp>
      <p:sp>
        <p:nvSpPr>
          <p:cNvPr id="3" name="Content Placeholder 2"/>
          <p:cNvSpPr>
            <a:spLocks noGrp="1"/>
          </p:cNvSpPr>
          <p:nvPr>
            <p:ph idx="1"/>
          </p:nvPr>
        </p:nvSpPr>
        <p:spPr/>
        <p:txBody>
          <a:bodyPr/>
          <a:lstStyle/>
          <a:p>
            <a:r>
              <a:rPr lang="en-US" dirty="0"/>
              <a:t>3. </a:t>
            </a:r>
            <a:r>
              <a:rPr lang="en-US" i="1" dirty="0"/>
              <a:t>Virtue ethics</a:t>
            </a:r>
            <a:r>
              <a:rPr lang="en-US" dirty="0"/>
              <a:t>: For these theories, ethics is concerned with developing virtuous persons and civic-minded citizens. Ethics is not primarily about formulating an unchanging set of principles or duties. Nor is it about enjoying various benefits. It is about developing ethical character and the practical wisdom to choose the right thing to do in complex situations. Here, ethical education and development plays a central role. Ethical thought in this tradition derives from the virtue ethics of Plato and Aristotle, with its stress on achieving the good life, through a character of virtuous dispositions.</a:t>
            </a:r>
          </a:p>
          <a:p>
            <a:endParaRPr lang="en-US" dirty="0"/>
          </a:p>
        </p:txBody>
      </p:sp>
    </p:spTree>
    <p:extLst>
      <p:ext uri="{BB962C8B-B14F-4D97-AF65-F5344CB8AC3E}">
        <p14:creationId xmlns:p14="http://schemas.microsoft.com/office/powerpoint/2010/main" val="27986911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Rights ethics </a:t>
            </a:r>
            <a:endParaRPr lang="en-US" dirty="0"/>
          </a:p>
        </p:txBody>
      </p:sp>
      <p:sp>
        <p:nvSpPr>
          <p:cNvPr id="3" name="Content Placeholder 2"/>
          <p:cNvSpPr>
            <a:spLocks noGrp="1"/>
          </p:cNvSpPr>
          <p:nvPr>
            <p:ph idx="1"/>
          </p:nvPr>
        </p:nvSpPr>
        <p:spPr/>
        <p:txBody>
          <a:bodyPr/>
          <a:lstStyle/>
          <a:p>
            <a:r>
              <a:rPr lang="en-US" dirty="0" smtClean="0"/>
              <a:t>Focuses on respect on human dignity which hold that our dignity is based on our ability to choose freely how we live and that we have a moral right to respect for our choices as free equal and rational and a moral duly to respect others </a:t>
            </a:r>
            <a:endParaRPr lang="en-US" dirty="0"/>
          </a:p>
        </p:txBody>
      </p:sp>
    </p:spTree>
    <p:extLst>
      <p:ext uri="{BB962C8B-B14F-4D97-AF65-F5344CB8AC3E}">
        <p14:creationId xmlns:p14="http://schemas.microsoft.com/office/powerpoint/2010/main" val="18070563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Rights of patients </a:t>
            </a:r>
            <a:endParaRPr lang="en-US" dirty="0"/>
          </a:p>
        </p:txBody>
      </p:sp>
      <p:sp>
        <p:nvSpPr>
          <p:cNvPr id="3" name="Content Placeholder 2"/>
          <p:cNvSpPr>
            <a:spLocks noGrp="1"/>
          </p:cNvSpPr>
          <p:nvPr>
            <p:ph idx="1"/>
          </p:nvPr>
        </p:nvSpPr>
        <p:spPr/>
        <p:txBody>
          <a:bodyPr>
            <a:normAutofit/>
          </a:bodyPr>
          <a:lstStyle/>
          <a:p>
            <a:r>
              <a:rPr lang="en-US" dirty="0"/>
              <a:t>Has the right to considerate and respectful care </a:t>
            </a:r>
          </a:p>
          <a:p>
            <a:r>
              <a:rPr lang="en-US" dirty="0"/>
              <a:t>To complete current </a:t>
            </a:r>
            <a:r>
              <a:rPr lang="en-US" dirty="0" smtClean="0"/>
              <a:t>information</a:t>
            </a:r>
            <a:endParaRPr lang="en-US" dirty="0"/>
          </a:p>
        </p:txBody>
      </p:sp>
    </p:spTree>
    <p:extLst>
      <p:ext uri="{BB962C8B-B14F-4D97-AF65-F5344CB8AC3E}">
        <p14:creationId xmlns:p14="http://schemas.microsoft.com/office/powerpoint/2010/main" val="42287984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To informed consent </a:t>
            </a:r>
          </a:p>
          <a:p>
            <a:r>
              <a:rPr lang="en-US" dirty="0"/>
              <a:t>To know the name of responsible person</a:t>
            </a:r>
          </a:p>
          <a:p>
            <a:endParaRPr lang="en-US" dirty="0"/>
          </a:p>
        </p:txBody>
      </p:sp>
    </p:spTree>
    <p:extLst>
      <p:ext uri="{BB962C8B-B14F-4D97-AF65-F5344CB8AC3E}">
        <p14:creationId xmlns:p14="http://schemas.microsoft.com/office/powerpoint/2010/main" val="1965498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To refuse to treatment</a:t>
            </a:r>
          </a:p>
          <a:p>
            <a:r>
              <a:rPr lang="en-US" dirty="0"/>
              <a:t>To every  consideration of his privacy</a:t>
            </a:r>
          </a:p>
          <a:p>
            <a:r>
              <a:rPr lang="en-US" dirty="0"/>
              <a:t>Confidentiality of </a:t>
            </a:r>
            <a:r>
              <a:rPr lang="en-US" dirty="0" smtClean="0"/>
              <a:t>records</a:t>
            </a:r>
            <a:endParaRPr lang="en-US" dirty="0"/>
          </a:p>
        </p:txBody>
      </p:sp>
    </p:spTree>
    <p:extLst>
      <p:ext uri="{BB962C8B-B14F-4D97-AF65-F5344CB8AC3E}">
        <p14:creationId xmlns:p14="http://schemas.microsoft.com/office/powerpoint/2010/main" val="7548749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To be transferred to an other facility</a:t>
            </a:r>
          </a:p>
          <a:p>
            <a:r>
              <a:rPr lang="en-US" dirty="0"/>
              <a:t>To obtain information about the hospital</a:t>
            </a:r>
          </a:p>
          <a:p>
            <a:r>
              <a:rPr lang="en-US" dirty="0"/>
              <a:t>To know About human experimentation</a:t>
            </a:r>
          </a:p>
          <a:p>
            <a:endParaRPr lang="en-US" dirty="0"/>
          </a:p>
        </p:txBody>
      </p:sp>
    </p:spTree>
    <p:extLst>
      <p:ext uri="{BB962C8B-B14F-4D97-AF65-F5344CB8AC3E}">
        <p14:creationId xmlns:p14="http://schemas.microsoft.com/office/powerpoint/2010/main" val="1267964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To expect reasonable continuity of care</a:t>
            </a:r>
          </a:p>
          <a:p>
            <a:r>
              <a:rPr lang="en-US" dirty="0"/>
              <a:t>To know about his bill</a:t>
            </a:r>
          </a:p>
          <a:p>
            <a:r>
              <a:rPr lang="en-US" dirty="0"/>
              <a:t>To know about hospital rules</a:t>
            </a:r>
          </a:p>
          <a:p>
            <a:r>
              <a:rPr lang="en-US" dirty="0"/>
              <a:t>To see his medical record?</a:t>
            </a:r>
          </a:p>
        </p:txBody>
      </p:sp>
    </p:spTree>
    <p:extLst>
      <p:ext uri="{BB962C8B-B14F-4D97-AF65-F5344CB8AC3E}">
        <p14:creationId xmlns:p14="http://schemas.microsoft.com/office/powerpoint/2010/main" val="11396066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ethics </a:t>
            </a:r>
            <a:endParaRPr lang="en-US" dirty="0"/>
          </a:p>
        </p:txBody>
      </p:sp>
      <p:sp>
        <p:nvSpPr>
          <p:cNvPr id="3" name="Content Placeholder 2"/>
          <p:cNvSpPr>
            <a:spLocks noGrp="1"/>
          </p:cNvSpPr>
          <p:nvPr>
            <p:ph idx="1"/>
          </p:nvPr>
        </p:nvSpPr>
        <p:spPr/>
        <p:txBody>
          <a:bodyPr/>
          <a:lstStyle/>
          <a:p>
            <a:endParaRPr lang="en-US" dirty="0" smtClean="0"/>
          </a:p>
          <a:p>
            <a:r>
              <a:rPr lang="en-US" dirty="0" smtClean="0"/>
              <a:t>Theoretical </a:t>
            </a:r>
            <a:r>
              <a:rPr lang="en-US" dirty="0"/>
              <a:t>and Applied Ethics</a:t>
            </a:r>
            <a:br>
              <a:rPr lang="en-US" dirty="0"/>
            </a:br>
            <a:endParaRPr lang="en-US" dirty="0"/>
          </a:p>
          <a:p>
            <a:r>
              <a:rPr lang="en-US" dirty="0" smtClean="0"/>
              <a:t> </a:t>
            </a:r>
            <a:r>
              <a:rPr lang="en-US" dirty="0"/>
              <a:t>Theoretical ethics is concerned with understanding the nature of ethics, ethical language and ethical </a:t>
            </a:r>
            <a:r>
              <a:rPr lang="en-US" dirty="0" smtClean="0"/>
              <a:t>reasoning.</a:t>
            </a:r>
            <a:endParaRPr lang="en-US" dirty="0"/>
          </a:p>
        </p:txBody>
      </p:sp>
    </p:spTree>
    <p:extLst>
      <p:ext uri="{BB962C8B-B14F-4D97-AF65-F5344CB8AC3E}">
        <p14:creationId xmlns:p14="http://schemas.microsoft.com/office/powerpoint/2010/main" val="11015303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Applied ethics </a:t>
            </a:r>
            <a:endParaRPr lang="en-US" dirty="0"/>
          </a:p>
        </p:txBody>
      </p:sp>
      <p:sp>
        <p:nvSpPr>
          <p:cNvPr id="3" name="Content Placeholder 2"/>
          <p:cNvSpPr>
            <a:spLocks noGrp="1"/>
          </p:cNvSpPr>
          <p:nvPr>
            <p:ph idx="1"/>
          </p:nvPr>
        </p:nvSpPr>
        <p:spPr/>
        <p:txBody>
          <a:bodyPr/>
          <a:lstStyle/>
          <a:p>
            <a:pPr marL="0" indent="0">
              <a:buNone/>
            </a:pPr>
            <a:r>
              <a:rPr lang="en-US" dirty="0" smtClean="0"/>
              <a:t> </a:t>
            </a:r>
            <a:r>
              <a:rPr lang="en-US" dirty="0"/>
              <a:t>The application and evaluation of the principles that guide practice in particular domains. </a:t>
            </a:r>
            <a:endParaRPr lang="en-US" dirty="0" smtClean="0"/>
          </a:p>
          <a:p>
            <a:pPr marL="0" indent="0">
              <a:buNone/>
            </a:pPr>
            <a:endParaRPr lang="en-US" dirty="0" smtClean="0"/>
          </a:p>
          <a:p>
            <a:pPr marL="0" indent="0">
              <a:buNone/>
            </a:pPr>
            <a:r>
              <a:rPr lang="en-US" dirty="0" smtClean="0"/>
              <a:t>Applied </a:t>
            </a:r>
            <a:r>
              <a:rPr lang="en-US" dirty="0"/>
              <a:t>ethics concerns the issues and problems specific to the field in question. Major questions include how existing principles apply to new issues, the ranking of rival principles, the standards of “best practice” in a profession, and ethical decision-making in the field.</a:t>
            </a:r>
          </a:p>
          <a:p>
            <a:endParaRPr lang="en-US" dirty="0"/>
          </a:p>
        </p:txBody>
      </p:sp>
    </p:spTree>
    <p:extLst>
      <p:ext uri="{BB962C8B-B14F-4D97-AF65-F5344CB8AC3E}">
        <p14:creationId xmlns:p14="http://schemas.microsoft.com/office/powerpoint/2010/main" val="33803162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i="1" dirty="0" smtClean="0"/>
          </a:p>
          <a:p>
            <a:r>
              <a:rPr lang="en-US" i="1" dirty="0" smtClean="0">
                <a:solidFill>
                  <a:srgbClr val="FF0000"/>
                </a:solidFill>
              </a:rPr>
              <a:t>Professional </a:t>
            </a:r>
            <a:r>
              <a:rPr lang="en-US" i="1" dirty="0">
                <a:solidFill>
                  <a:srgbClr val="FF0000"/>
                </a:solidFill>
              </a:rPr>
              <a:t>ethics</a:t>
            </a:r>
            <a:r>
              <a:rPr lang="en-US" dirty="0"/>
              <a:t> is a major division of applied ethics. It is the application and evaluation of norms in various professions. </a:t>
            </a:r>
          </a:p>
        </p:txBody>
      </p:sp>
    </p:spTree>
    <p:extLst>
      <p:ext uri="{BB962C8B-B14F-4D97-AF65-F5344CB8AC3E}">
        <p14:creationId xmlns:p14="http://schemas.microsoft.com/office/powerpoint/2010/main" val="12692842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Pertinent and emotional issues affecting anesthesiology</a:t>
            </a:r>
          </a:p>
        </p:txBody>
      </p:sp>
      <p:sp>
        <p:nvSpPr>
          <p:cNvPr id="3" name="Content Placeholder 2"/>
          <p:cNvSpPr>
            <a:spLocks noGrp="1"/>
          </p:cNvSpPr>
          <p:nvPr>
            <p:ph idx="1"/>
          </p:nvPr>
        </p:nvSpPr>
        <p:spPr/>
        <p:txBody>
          <a:bodyPr/>
          <a:lstStyle/>
          <a:p>
            <a:r>
              <a:rPr lang="en-US" dirty="0"/>
              <a:t>Anesthesia for a patient undergoing abortion</a:t>
            </a:r>
          </a:p>
          <a:p>
            <a:r>
              <a:rPr lang="en-US" dirty="0"/>
              <a:t>Transfusion of whole blood for Jehovah witness</a:t>
            </a:r>
          </a:p>
        </p:txBody>
      </p:sp>
    </p:spTree>
    <p:extLst>
      <p:ext uri="{BB962C8B-B14F-4D97-AF65-F5344CB8AC3E}">
        <p14:creationId xmlns:p14="http://schemas.microsoft.com/office/powerpoint/2010/main" val="12977794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br>
              <a:rPr lang="en-US" dirty="0"/>
            </a:br>
            <a:r>
              <a:rPr lang="en-US" dirty="0"/>
              <a:t>Jehovah witness mother </a:t>
            </a:r>
          </a:p>
        </p:txBody>
      </p:sp>
      <p:sp>
        <p:nvSpPr>
          <p:cNvPr id="3" name="Content Placeholder 2"/>
          <p:cNvSpPr>
            <a:spLocks noGrp="1"/>
          </p:cNvSpPr>
          <p:nvPr>
            <p:ph idx="1"/>
          </p:nvPr>
        </p:nvSpPr>
        <p:spPr/>
        <p:txBody>
          <a:bodyPr/>
          <a:lstStyle/>
          <a:p>
            <a:r>
              <a:rPr lang="en-US" dirty="0"/>
              <a:t>What if </a:t>
            </a:r>
            <a:r>
              <a:rPr lang="en-US" dirty="0" smtClean="0"/>
              <a:t>a pregnant  </a:t>
            </a:r>
            <a:r>
              <a:rPr lang="en-US" dirty="0"/>
              <a:t>mother with ruptured uterus severe hemorrhagic shock? </a:t>
            </a:r>
          </a:p>
        </p:txBody>
      </p:sp>
    </p:spTree>
    <p:extLst>
      <p:ext uri="{BB962C8B-B14F-4D97-AF65-F5344CB8AC3E}">
        <p14:creationId xmlns:p14="http://schemas.microsoft.com/office/powerpoint/2010/main" val="15700354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 </a:t>
            </a:r>
            <a:endParaRPr lang="en-US" dirty="0"/>
          </a:p>
        </p:txBody>
      </p:sp>
      <p:sp>
        <p:nvSpPr>
          <p:cNvPr id="3" name="Content Placeholder 2"/>
          <p:cNvSpPr>
            <a:spLocks noGrp="1"/>
          </p:cNvSpPr>
          <p:nvPr>
            <p:ph idx="1"/>
          </p:nvPr>
        </p:nvSpPr>
        <p:spPr/>
        <p:txBody>
          <a:bodyPr/>
          <a:lstStyle/>
          <a:p>
            <a:r>
              <a:rPr lang="en-US" dirty="0"/>
              <a:t>In this situation our bias is that it is better to err such that life is preserved rather than lost this is more true when a child is involved</a:t>
            </a:r>
          </a:p>
        </p:txBody>
      </p:sp>
    </p:spTree>
    <p:extLst>
      <p:ext uri="{BB962C8B-B14F-4D97-AF65-F5344CB8AC3E}">
        <p14:creationId xmlns:p14="http://schemas.microsoft.com/office/powerpoint/2010/main" val="20889489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Right to life </a:t>
            </a:r>
            <a:endParaRPr lang="en-US" dirty="0"/>
          </a:p>
        </p:txBody>
      </p:sp>
      <p:sp>
        <p:nvSpPr>
          <p:cNvPr id="3" name="Content Placeholder 2"/>
          <p:cNvSpPr>
            <a:spLocks noGrp="1"/>
          </p:cNvSpPr>
          <p:nvPr>
            <p:ph idx="1"/>
          </p:nvPr>
        </p:nvSpPr>
        <p:spPr/>
        <p:txBody>
          <a:bodyPr/>
          <a:lstStyle/>
          <a:p>
            <a:r>
              <a:rPr lang="en-US" dirty="0"/>
              <a:t>Every one has the right to life liberty and security of person</a:t>
            </a:r>
          </a:p>
          <a:p>
            <a:endParaRPr lang="en-US" dirty="0"/>
          </a:p>
        </p:txBody>
      </p:sp>
    </p:spTree>
    <p:extLst>
      <p:ext uri="{BB962C8B-B14F-4D97-AF65-F5344CB8AC3E}">
        <p14:creationId xmlns:p14="http://schemas.microsoft.com/office/powerpoint/2010/main" val="26895754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Who is a human being ?</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39853261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Abortion </a:t>
            </a:r>
            <a:endParaRPr lang="en-US" dirty="0"/>
          </a:p>
        </p:txBody>
      </p:sp>
      <p:sp>
        <p:nvSpPr>
          <p:cNvPr id="3" name="Content Placeholder 2"/>
          <p:cNvSpPr>
            <a:spLocks noGrp="1"/>
          </p:cNvSpPr>
          <p:nvPr>
            <p:ph idx="1"/>
          </p:nvPr>
        </p:nvSpPr>
        <p:spPr/>
        <p:txBody>
          <a:bodyPr/>
          <a:lstStyle/>
          <a:p>
            <a:r>
              <a:rPr lang="en-US" dirty="0"/>
              <a:t>Therapeutic –when physical and mental health of the mother is at risk for carrying the pregnancy to term</a:t>
            </a:r>
          </a:p>
          <a:p>
            <a:endParaRPr lang="en-US" dirty="0"/>
          </a:p>
        </p:txBody>
      </p:sp>
    </p:spTree>
    <p:extLst>
      <p:ext uri="{BB962C8B-B14F-4D97-AF65-F5344CB8AC3E}">
        <p14:creationId xmlns:p14="http://schemas.microsoft.com/office/powerpoint/2010/main" val="19340226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Eugenic –when the pregnancy is likely to result in the birth of severely hand capped child</a:t>
            </a:r>
          </a:p>
          <a:p>
            <a:endParaRPr lang="en-US" dirty="0"/>
          </a:p>
        </p:txBody>
      </p:sp>
    </p:spTree>
    <p:extLst>
      <p:ext uri="{BB962C8B-B14F-4D97-AF65-F5344CB8AC3E}">
        <p14:creationId xmlns:p14="http://schemas.microsoft.com/office/powerpoint/2010/main" val="466223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Personal ---when the pregnancy has occurred in spite of the  accepted methods of contraception or </a:t>
            </a:r>
            <a:endParaRPr lang="en-US" dirty="0" smtClean="0"/>
          </a:p>
          <a:p>
            <a:r>
              <a:rPr lang="en-US" dirty="0"/>
              <a:t>I</a:t>
            </a:r>
            <a:r>
              <a:rPr lang="en-US" dirty="0" smtClean="0"/>
              <a:t>s </a:t>
            </a:r>
            <a:r>
              <a:rPr lang="en-US" dirty="0"/>
              <a:t>alleged to have resulted from rape </a:t>
            </a:r>
            <a:r>
              <a:rPr lang="en-US" dirty="0" smtClean="0"/>
              <a:t>.</a:t>
            </a:r>
            <a:endParaRPr lang="en-US" dirty="0"/>
          </a:p>
          <a:p>
            <a:endParaRPr lang="en-US" dirty="0"/>
          </a:p>
        </p:txBody>
      </p:sp>
    </p:spTree>
    <p:extLst>
      <p:ext uri="{BB962C8B-B14F-4D97-AF65-F5344CB8AC3E}">
        <p14:creationId xmlns:p14="http://schemas.microsoft.com/office/powerpoint/2010/main" val="32028622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right to control theory </a:t>
            </a:r>
          </a:p>
        </p:txBody>
      </p:sp>
      <p:sp>
        <p:nvSpPr>
          <p:cNvPr id="3" name="Content Placeholder 2"/>
          <p:cNvSpPr>
            <a:spLocks noGrp="1"/>
          </p:cNvSpPr>
          <p:nvPr>
            <p:ph idx="1"/>
          </p:nvPr>
        </p:nvSpPr>
        <p:spPr/>
        <p:txBody>
          <a:bodyPr>
            <a:normAutofit/>
          </a:bodyPr>
          <a:lstStyle/>
          <a:p>
            <a:r>
              <a:rPr lang="en-US" sz="2400" dirty="0" smtClean="0">
                <a:solidFill>
                  <a:srgbClr val="FF0000"/>
                </a:solidFill>
              </a:rPr>
              <a:t>Who is the captain of the ship ?</a:t>
            </a:r>
            <a:endParaRPr lang="en-US" sz="2400" dirty="0">
              <a:solidFill>
                <a:srgbClr val="FF0000"/>
              </a:solidFill>
            </a:endParaRPr>
          </a:p>
        </p:txBody>
      </p:sp>
    </p:spTree>
    <p:extLst>
      <p:ext uri="{BB962C8B-B14F-4D97-AF65-F5344CB8AC3E}">
        <p14:creationId xmlns:p14="http://schemas.microsoft.com/office/powerpoint/2010/main" val="28852839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right to control theory </a:t>
            </a:r>
            <a:endParaRPr lang="en-US" dirty="0"/>
          </a:p>
        </p:txBody>
      </p:sp>
      <p:sp>
        <p:nvSpPr>
          <p:cNvPr id="3" name="Content Placeholder 2"/>
          <p:cNvSpPr>
            <a:spLocks noGrp="1"/>
          </p:cNvSpPr>
          <p:nvPr>
            <p:ph idx="1"/>
          </p:nvPr>
        </p:nvSpPr>
        <p:spPr/>
        <p:txBody>
          <a:bodyPr/>
          <a:lstStyle/>
          <a:p>
            <a:r>
              <a:rPr lang="en-US" dirty="0"/>
              <a:t>The surgeon is not </a:t>
            </a:r>
            <a:r>
              <a:rPr lang="en-US" dirty="0" err="1"/>
              <a:t>laible</a:t>
            </a:r>
            <a:r>
              <a:rPr lang="en-US" dirty="0"/>
              <a:t> for the negligence of anesthesiologist but for the CRNA(</a:t>
            </a:r>
            <a:r>
              <a:rPr lang="en-US" dirty="0" err="1"/>
              <a:t>Doctorine</a:t>
            </a:r>
            <a:r>
              <a:rPr lang="en-US" dirty="0"/>
              <a:t> of </a:t>
            </a:r>
            <a:r>
              <a:rPr lang="en-US" dirty="0" err="1"/>
              <a:t>capitain</a:t>
            </a:r>
            <a:r>
              <a:rPr lang="en-US" dirty="0"/>
              <a:t> of the ship)</a:t>
            </a:r>
          </a:p>
          <a:p>
            <a:r>
              <a:rPr lang="en-US" dirty="0"/>
              <a:t>The surgeon is liable for the negligence of all </a:t>
            </a:r>
            <a:r>
              <a:rPr lang="en-US" dirty="0" err="1"/>
              <a:t>personel</a:t>
            </a:r>
            <a:r>
              <a:rPr lang="en-US" dirty="0"/>
              <a:t> working under surgeons </a:t>
            </a:r>
            <a:r>
              <a:rPr lang="en-US" dirty="0" smtClean="0"/>
              <a:t>supervision</a:t>
            </a:r>
            <a:endParaRPr lang="en-US" dirty="0"/>
          </a:p>
        </p:txBody>
      </p:sp>
    </p:spTree>
    <p:extLst>
      <p:ext uri="{BB962C8B-B14F-4D97-AF65-F5344CB8AC3E}">
        <p14:creationId xmlns:p14="http://schemas.microsoft.com/office/powerpoint/2010/main" val="15801931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a:t>
            </a:r>
            <a:r>
              <a:rPr lang="en-US" dirty="0" err="1"/>
              <a:t>capitain</a:t>
            </a:r>
            <a:r>
              <a:rPr lang="en-US" dirty="0"/>
              <a:t> of the ship </a:t>
            </a:r>
            <a:r>
              <a:rPr lang="en-US" dirty="0" err="1"/>
              <a:t>Doctorine</a:t>
            </a:r>
            <a:r>
              <a:rPr lang="en-US" dirty="0"/>
              <a:t> is rejected concluded that the surgeon is not responsible for the CRNA </a:t>
            </a:r>
            <a:endParaRPr lang="en-US" dirty="0"/>
          </a:p>
        </p:txBody>
      </p:sp>
    </p:spTree>
    <p:extLst>
      <p:ext uri="{BB962C8B-B14F-4D97-AF65-F5344CB8AC3E}">
        <p14:creationId xmlns:p14="http://schemas.microsoft.com/office/powerpoint/2010/main" val="9507488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r>
              <a:rPr lang="en-US" dirty="0" smtClean="0"/>
              <a:t>Practice </a:t>
            </a:r>
            <a:r>
              <a:rPr lang="en-US" dirty="0"/>
              <a:t>of anesthesiology by anesthesiologist is a </a:t>
            </a:r>
            <a:r>
              <a:rPr lang="en-US" dirty="0" smtClean="0"/>
              <a:t>specialty </a:t>
            </a:r>
            <a:r>
              <a:rPr lang="en-US" dirty="0"/>
              <a:t>unto </a:t>
            </a:r>
            <a:r>
              <a:rPr lang="en-US" dirty="0" smtClean="0"/>
              <a:t>itself</a:t>
            </a:r>
          </a:p>
          <a:p>
            <a:endParaRPr lang="en-US" dirty="0"/>
          </a:p>
          <a:p>
            <a:endParaRPr lang="en-US" dirty="0"/>
          </a:p>
          <a:p>
            <a:r>
              <a:rPr lang="en-US" dirty="0"/>
              <a:t>The surgeon takes the position of knowing little about anesthesia the CRNA is more expert than the surgeon  </a:t>
            </a:r>
          </a:p>
          <a:p>
            <a:endParaRPr lang="en-US" dirty="0"/>
          </a:p>
        </p:txBody>
      </p:sp>
    </p:spTree>
    <p:extLst>
      <p:ext uri="{BB962C8B-B14F-4D97-AF65-F5344CB8AC3E}">
        <p14:creationId xmlns:p14="http://schemas.microsoft.com/office/powerpoint/2010/main" val="8044981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8000" dirty="0" smtClean="0"/>
              <a:t>THANKS</a:t>
            </a:r>
            <a:endParaRPr lang="en-US" sz="8000" dirty="0"/>
          </a:p>
        </p:txBody>
      </p:sp>
    </p:spTree>
    <p:extLst>
      <p:ext uri="{BB962C8B-B14F-4D97-AF65-F5344CB8AC3E}">
        <p14:creationId xmlns:p14="http://schemas.microsoft.com/office/powerpoint/2010/main" val="14727594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262</TotalTime>
  <Words>1200</Words>
  <Application>Microsoft Office PowerPoint</Application>
  <PresentationFormat>Widescreen</PresentationFormat>
  <Paragraphs>188</Paragraphs>
  <Slides>60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60</vt:i4>
      </vt:variant>
    </vt:vector>
  </HeadingPairs>
  <TitlesOfParts>
    <vt:vector size="64" baseType="lpstr">
      <vt:lpstr>Tw Cen MT</vt:lpstr>
      <vt:lpstr>Tw Cen MT Condensed</vt:lpstr>
      <vt:lpstr>Wingdings 3</vt:lpstr>
      <vt:lpstr>Integral</vt:lpstr>
      <vt:lpstr>Ethical theories </vt:lpstr>
      <vt:lpstr>Medical ethics </vt:lpstr>
      <vt:lpstr>Cont”d</vt:lpstr>
      <vt:lpstr>PowerPoint Presentation</vt:lpstr>
      <vt:lpstr>PowerPoint Presentation</vt:lpstr>
      <vt:lpstr>fundamental principles of ethics </vt:lpstr>
      <vt:lpstr>Autonomy </vt:lpstr>
      <vt:lpstr>Non malfecince</vt:lpstr>
      <vt:lpstr>Beneficience </vt:lpstr>
      <vt:lpstr>PowerPoint Presentation</vt:lpstr>
      <vt:lpstr>Case for discussion </vt:lpstr>
      <vt:lpstr>Justice </vt:lpstr>
      <vt:lpstr>The Range of Ethics </vt:lpstr>
      <vt:lpstr>PowerPoint Presentation</vt:lpstr>
      <vt:lpstr>Aim of medical ethics </vt:lpstr>
      <vt:lpstr>PowerPoint Presentation</vt:lpstr>
      <vt:lpstr>Principle </vt:lpstr>
      <vt:lpstr>Principle </vt:lpstr>
      <vt:lpstr>Fundamental values </vt:lpstr>
      <vt:lpstr>PowerPoint Presentation</vt:lpstr>
      <vt:lpstr>Problems connected with the beginning and end of life</vt:lpstr>
      <vt:lpstr>Problems related to professional conduct </vt:lpstr>
      <vt:lpstr>PowerPoint Presentation</vt:lpstr>
      <vt:lpstr>Problems involving social justice and equity in health</vt:lpstr>
      <vt:lpstr>Problems involving social justice and equity in health</vt:lpstr>
      <vt:lpstr>Resource allocation </vt:lpstr>
      <vt:lpstr>Ethical theories </vt:lpstr>
      <vt:lpstr>PowerPoint Presentation</vt:lpstr>
      <vt:lpstr>Models of amoral principle</vt:lpstr>
      <vt:lpstr>It is wrong to kill ,it is wrong to have abortion </vt:lpstr>
      <vt:lpstr>Consequentialist </vt:lpstr>
      <vt:lpstr>Problems with consequentialist analysis </vt:lpstr>
      <vt:lpstr>PowerPoint Presentation</vt:lpstr>
      <vt:lpstr>Non consequentialism </vt:lpstr>
      <vt:lpstr>Four broad categories of ethical theories </vt:lpstr>
      <vt:lpstr>Utilitarian </vt:lpstr>
      <vt:lpstr>Deontology </vt:lpstr>
      <vt:lpstr>Virtue </vt:lpstr>
      <vt:lpstr>Rights ethics </vt:lpstr>
      <vt:lpstr>Rights of patients </vt:lpstr>
      <vt:lpstr>PowerPoint Presentation</vt:lpstr>
      <vt:lpstr>PowerPoint Presentation</vt:lpstr>
      <vt:lpstr>PowerPoint Presentation</vt:lpstr>
      <vt:lpstr>PowerPoint Presentation</vt:lpstr>
      <vt:lpstr>Types of ethics </vt:lpstr>
      <vt:lpstr>Applied ethics </vt:lpstr>
      <vt:lpstr>PowerPoint Presentation</vt:lpstr>
      <vt:lpstr>Pertinent and emotional issues affecting anesthesiology</vt:lpstr>
      <vt:lpstr>Question Jehovah witness mother </vt:lpstr>
      <vt:lpstr>Answer </vt:lpstr>
      <vt:lpstr>Right to life </vt:lpstr>
      <vt:lpstr>Who is a human being ?</vt:lpstr>
      <vt:lpstr>Abortion </vt:lpstr>
      <vt:lpstr>PowerPoint Presentation</vt:lpstr>
      <vt:lpstr>PowerPoint Presentation</vt:lpstr>
      <vt:lpstr>The right to control theory </vt:lpstr>
      <vt:lpstr>The right to control theory </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theories</dc:title>
  <dc:creator>My</dc:creator>
  <cp:lastModifiedBy>My</cp:lastModifiedBy>
  <cp:revision>29</cp:revision>
  <dcterms:created xsi:type="dcterms:W3CDTF">2023-11-01T06:36:11Z</dcterms:created>
  <dcterms:modified xsi:type="dcterms:W3CDTF">2023-11-07T08:58:24Z</dcterms:modified>
</cp:coreProperties>
</file>