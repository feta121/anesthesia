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0" r:id="rId3"/>
    <p:sldId id="281" r:id="rId4"/>
    <p:sldId id="282" r:id="rId5"/>
    <p:sldId id="283" r:id="rId6"/>
    <p:sldId id="263" r:id="rId7"/>
    <p:sldId id="264" r:id="rId8"/>
    <p:sldId id="268" r:id="rId9"/>
    <p:sldId id="260" r:id="rId10"/>
    <p:sldId id="267" r:id="rId11"/>
    <p:sldId id="261" r:id="rId12"/>
    <p:sldId id="262" r:id="rId13"/>
    <p:sldId id="265" r:id="rId14"/>
    <p:sldId id="258" r:id="rId15"/>
    <p:sldId id="259" r:id="rId16"/>
    <p:sldId id="266" r:id="rId17"/>
    <p:sldId id="269" r:id="rId18"/>
    <p:sldId id="274" r:id="rId19"/>
    <p:sldId id="270" r:id="rId20"/>
    <p:sldId id="275" r:id="rId21"/>
    <p:sldId id="276" r:id="rId22"/>
    <p:sldId id="277" r:id="rId23"/>
    <p:sldId id="271" r:id="rId24"/>
    <p:sldId id="272" r:id="rId25"/>
    <p:sldId id="273" r:id="rId26"/>
    <p:sldId id="323" r:id="rId27"/>
    <p:sldId id="278" r:id="rId28"/>
    <p:sldId id="279"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11/13/2023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11/13/2023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11/13/2023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11/13/2023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11/13/2023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11/13/2023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11/13/2023</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upload.wikimedia.org/wikipedia/commons/0/0f/Milgram_Experiment_v2.pn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www.hhs.gov/ohrp/archive/nurcode.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Research ethics </a:t>
            </a:r>
            <a:endParaRPr lang="en-US" dirty="0"/>
          </a:p>
        </p:txBody>
      </p:sp>
      <p:sp>
        <p:nvSpPr>
          <p:cNvPr id="3" name="Subtitle 2"/>
          <p:cNvSpPr>
            <a:spLocks noGrp="1"/>
          </p:cNvSpPr>
          <p:nvPr>
            <p:ph type="subTitle" idx="1"/>
          </p:nvPr>
        </p:nvSpPr>
        <p:spPr/>
        <p:txBody>
          <a:bodyPr/>
          <a:lstStyle/>
          <a:p>
            <a:r>
              <a:rPr lang="en-US" dirty="0" err="1" smtClean="0"/>
              <a:t>Leulayehu</a:t>
            </a:r>
            <a:r>
              <a:rPr lang="en-US" dirty="0" smtClean="0"/>
              <a:t> </a:t>
            </a:r>
            <a:r>
              <a:rPr lang="en-US" dirty="0" err="1" smtClean="0"/>
              <a:t>Akalu</a:t>
            </a:r>
            <a:r>
              <a:rPr lang="en-US" dirty="0" smtClean="0"/>
              <a:t> (</a:t>
            </a:r>
            <a:r>
              <a:rPr lang="en-US" dirty="0" err="1" smtClean="0"/>
              <a:t>Ass.Prof</a:t>
            </a:r>
            <a:r>
              <a:rPr lang="en-US" dirty="0" smtClean="0"/>
              <a:t>)</a:t>
            </a:r>
            <a:endParaRPr lang="en-US" dirty="0"/>
          </a:p>
        </p:txBody>
      </p:sp>
    </p:spTree>
    <p:extLst>
      <p:ext uri="{BB962C8B-B14F-4D97-AF65-F5344CB8AC3E}">
        <p14:creationId xmlns:p14="http://schemas.microsoft.com/office/powerpoint/2010/main" val="2841402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de-DE" sz="2400" b="1" dirty="0" smtClean="0"/>
              <a:t>Ethics</a:t>
            </a:r>
            <a:r>
              <a:rPr lang="de-DE" sz="2400" dirty="0" smtClean="0"/>
              <a:t> </a:t>
            </a:r>
            <a:r>
              <a:rPr lang="de-DE" sz="2400" dirty="0" smtClean="0">
                <a:solidFill>
                  <a:srgbClr val="FF0000"/>
                </a:solidFill>
              </a:rPr>
              <a:t>A </a:t>
            </a:r>
            <a:r>
              <a:rPr lang="de-DE" sz="2400" dirty="0">
                <a:solidFill>
                  <a:srgbClr val="FF0000"/>
                </a:solidFill>
              </a:rPr>
              <a:t>branch of philosophy </a:t>
            </a:r>
            <a:r>
              <a:rPr lang="de-DE" sz="2400" dirty="0"/>
              <a:t>that </a:t>
            </a:r>
            <a:r>
              <a:rPr lang="en-US" sz="2400" dirty="0"/>
              <a:t>addresses questions about morality, that is, concepts like good and bad, right and wrong, justice and injustice, and virtue and evil</a:t>
            </a:r>
            <a:r>
              <a:rPr lang="en-US" sz="2400" dirty="0" smtClean="0"/>
              <a:t>.</a:t>
            </a:r>
          </a:p>
          <a:p>
            <a:endParaRPr lang="en-US" sz="2400" dirty="0"/>
          </a:p>
          <a:p>
            <a:endParaRPr lang="en-US" sz="2400" dirty="0"/>
          </a:p>
          <a:p>
            <a:r>
              <a:rPr lang="en-US" sz="2400" b="1" dirty="0"/>
              <a:t>Ethics </a:t>
            </a:r>
            <a:r>
              <a:rPr lang="en-US" sz="2400" dirty="0"/>
              <a:t>are defined as </a:t>
            </a:r>
            <a:r>
              <a:rPr lang="en-US" sz="2400" b="1" dirty="0"/>
              <a:t>a set of moral obligations that define the principles of right and wrong conduct </a:t>
            </a:r>
            <a:r>
              <a:rPr lang="en-US" sz="2400" dirty="0"/>
              <a:t>in a community or profession, and which can be used by individuals to guide their choices and </a:t>
            </a:r>
            <a:r>
              <a:rPr lang="en-US" sz="2400" dirty="0" smtClean="0"/>
              <a:t>behaviors.</a:t>
            </a:r>
            <a:endParaRPr lang="en-US" sz="2400" dirty="0"/>
          </a:p>
        </p:txBody>
      </p:sp>
    </p:spTree>
    <p:extLst>
      <p:ext uri="{BB962C8B-B14F-4D97-AF65-F5344CB8AC3E}">
        <p14:creationId xmlns:p14="http://schemas.microsoft.com/office/powerpoint/2010/main" val="3882782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concepts in ethics </a:t>
            </a:r>
            <a:endParaRPr lang="en-US" dirty="0"/>
          </a:p>
        </p:txBody>
      </p:sp>
      <p:sp>
        <p:nvSpPr>
          <p:cNvPr id="3" name="Content Placeholder 2"/>
          <p:cNvSpPr>
            <a:spLocks noGrp="1"/>
          </p:cNvSpPr>
          <p:nvPr>
            <p:ph idx="1"/>
          </p:nvPr>
        </p:nvSpPr>
        <p:spPr/>
        <p:txBody>
          <a:bodyPr/>
          <a:lstStyle/>
          <a:p>
            <a:r>
              <a:rPr lang="en-US" dirty="0"/>
              <a:t>Ethical behavior describes a set of actions that abide by certain rules of :</a:t>
            </a:r>
          </a:p>
          <a:p>
            <a:pPr lvl="1"/>
            <a:r>
              <a:rPr lang="en-US" sz="2400" b="1" dirty="0"/>
              <a:t>Responsibility</a:t>
            </a:r>
            <a:r>
              <a:rPr lang="en-US" sz="2400" dirty="0"/>
              <a:t> means accepting the potential costs, duties, and obligations of </a:t>
            </a:r>
            <a:r>
              <a:rPr lang="de-DE" sz="2400" dirty="0"/>
              <a:t>one’s decisions.</a:t>
            </a:r>
          </a:p>
          <a:p>
            <a:pPr lvl="1"/>
            <a:r>
              <a:rPr lang="en-US" sz="2400" b="1" dirty="0"/>
              <a:t>Accountability</a:t>
            </a:r>
            <a:r>
              <a:rPr lang="en-US" sz="2400" dirty="0"/>
              <a:t> means being answerable to others for decisions made and actions </a:t>
            </a:r>
            <a:r>
              <a:rPr lang="de-DE" sz="2400" dirty="0"/>
              <a:t>taken</a:t>
            </a:r>
            <a:r>
              <a:rPr lang="de-DE" sz="2400" dirty="0" smtClean="0"/>
              <a:t>.</a:t>
            </a:r>
            <a:endParaRPr lang="de-DE" sz="2400" dirty="0"/>
          </a:p>
        </p:txBody>
      </p:sp>
    </p:spTree>
    <p:extLst>
      <p:ext uri="{BB962C8B-B14F-4D97-AF65-F5344CB8AC3E}">
        <p14:creationId xmlns:p14="http://schemas.microsoft.com/office/powerpoint/2010/main" val="3791121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sz="2400" b="1" dirty="0"/>
              <a:t>Liability</a:t>
            </a:r>
            <a:r>
              <a:rPr lang="en-US" sz="2400" dirty="0"/>
              <a:t> means accepting responsibility and accountability so individuals can recover damages done to them through breaches of responsibility.</a:t>
            </a:r>
          </a:p>
          <a:p>
            <a:pPr lvl="1"/>
            <a:r>
              <a:rPr lang="en-US" sz="2400" b="1" dirty="0"/>
              <a:t>Due diligence </a:t>
            </a:r>
            <a:r>
              <a:rPr lang="en-US" sz="2400" dirty="0"/>
              <a:t>means investigating or exercising care to ensure individuals can examine or appeal how responsibility, accountability, and liability are </a:t>
            </a:r>
            <a:r>
              <a:rPr lang="en-US" sz="2400" dirty="0" smtClean="0"/>
              <a:t>applied.</a:t>
            </a:r>
            <a:endParaRPr lang="en-US" dirty="0"/>
          </a:p>
        </p:txBody>
      </p:sp>
    </p:spTree>
    <p:extLst>
      <p:ext uri="{BB962C8B-B14F-4D97-AF65-F5344CB8AC3E}">
        <p14:creationId xmlns:p14="http://schemas.microsoft.com/office/powerpoint/2010/main" val="4045010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goals in scientific ethics </a:t>
            </a:r>
            <a:endParaRPr lang="en-US" dirty="0"/>
          </a:p>
        </p:txBody>
      </p:sp>
      <p:sp>
        <p:nvSpPr>
          <p:cNvPr id="3" name="Content Placeholder 2"/>
          <p:cNvSpPr>
            <a:spLocks noGrp="1"/>
          </p:cNvSpPr>
          <p:nvPr>
            <p:ph idx="1"/>
          </p:nvPr>
        </p:nvSpPr>
        <p:spPr/>
        <p:txBody>
          <a:bodyPr/>
          <a:lstStyle/>
          <a:p>
            <a:r>
              <a:rPr lang="en-US" dirty="0"/>
              <a:t>Maintaining “honesty and integrity” in all stages of scientific </a:t>
            </a:r>
            <a:r>
              <a:rPr lang="en-US"/>
              <a:t>conduct</a:t>
            </a:r>
            <a:r>
              <a:rPr lang="en-US" smtClean="0"/>
              <a:t>.</a:t>
            </a:r>
          </a:p>
          <a:p>
            <a:endParaRPr lang="en-US" dirty="0"/>
          </a:p>
          <a:p>
            <a:pPr lvl="1"/>
            <a:r>
              <a:rPr lang="en-US" sz="2400" dirty="0"/>
              <a:t>includes all aspects of scientific activity, such as experimentation, testing, education, data collection, data analysis, data storage, data sharing, peer review, etc. </a:t>
            </a:r>
          </a:p>
          <a:p>
            <a:pPr lvl="1"/>
            <a:endParaRPr lang="en-US" sz="2400" dirty="0"/>
          </a:p>
          <a:p>
            <a:pPr lvl="1"/>
            <a:r>
              <a:rPr lang="en-US" sz="2400" dirty="0"/>
              <a:t>Also other activities that have a direct bearing on science, such as government funding or staffing of research teams.</a:t>
            </a:r>
            <a:endParaRPr lang="de-DE" sz="2400" dirty="0"/>
          </a:p>
          <a:p>
            <a:endParaRPr lang="en-US" dirty="0"/>
          </a:p>
        </p:txBody>
      </p:sp>
    </p:spTree>
    <p:extLst>
      <p:ext uri="{BB962C8B-B14F-4D97-AF65-F5344CB8AC3E}">
        <p14:creationId xmlns:p14="http://schemas.microsoft.com/office/powerpoint/2010/main" val="2339236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ethics </a:t>
            </a:r>
            <a:endParaRPr lang="en-US" dirty="0"/>
          </a:p>
        </p:txBody>
      </p:sp>
      <p:sp>
        <p:nvSpPr>
          <p:cNvPr id="3" name="Content Placeholder 2"/>
          <p:cNvSpPr>
            <a:spLocks noGrp="1"/>
          </p:cNvSpPr>
          <p:nvPr>
            <p:ph idx="1"/>
          </p:nvPr>
        </p:nvSpPr>
        <p:spPr/>
        <p:txBody>
          <a:bodyPr/>
          <a:lstStyle/>
          <a:p>
            <a:r>
              <a:rPr lang="en-US" dirty="0"/>
              <a:t>Ethics in research - - The set of values, standards, and principles used to distinguish </a:t>
            </a:r>
          </a:p>
          <a:p>
            <a:r>
              <a:rPr lang="en-US" dirty="0"/>
              <a:t>between appropriate and acceptable conduct and </a:t>
            </a:r>
            <a:r>
              <a:rPr lang="en-US" dirty="0" smtClean="0"/>
              <a:t>unacceptable conduct </a:t>
            </a:r>
            <a:r>
              <a:rPr lang="en-US" dirty="0"/>
              <a:t>at all stages of </a:t>
            </a:r>
            <a:r>
              <a:rPr lang="en-US" dirty="0" smtClean="0"/>
              <a:t>the </a:t>
            </a:r>
            <a:r>
              <a:rPr lang="en-US" dirty="0"/>
              <a:t>research process.</a:t>
            </a:r>
          </a:p>
        </p:txBody>
      </p:sp>
    </p:spTree>
    <p:extLst>
      <p:ext uri="{BB962C8B-B14F-4D97-AF65-F5344CB8AC3E}">
        <p14:creationId xmlns:p14="http://schemas.microsoft.com/office/powerpoint/2010/main" val="2495092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ethics</a:t>
            </a:r>
            <a:endParaRPr lang="en-US" dirty="0"/>
          </a:p>
        </p:txBody>
      </p:sp>
      <p:sp>
        <p:nvSpPr>
          <p:cNvPr id="3" name="Content Placeholder 2"/>
          <p:cNvSpPr>
            <a:spLocks noGrp="1"/>
          </p:cNvSpPr>
          <p:nvPr>
            <p:ph idx="1"/>
          </p:nvPr>
        </p:nvSpPr>
        <p:spPr/>
        <p:txBody>
          <a:bodyPr/>
          <a:lstStyle/>
          <a:p>
            <a:pPr algn="just">
              <a:defRPr/>
            </a:pPr>
            <a:r>
              <a:rPr lang="en-US" sz="2000" b="1" dirty="0">
                <a:cs typeface="Times New Roman" pitchFamily="18" charset="0"/>
              </a:rPr>
              <a:t>Involves the application of fundamental </a:t>
            </a:r>
            <a:r>
              <a:rPr lang="en-US" sz="2000" b="1" dirty="0">
                <a:solidFill>
                  <a:srgbClr val="00B050"/>
                </a:solidFill>
                <a:cs typeface="Times New Roman" pitchFamily="18" charset="0"/>
              </a:rPr>
              <a:t>ethical principles </a:t>
            </a:r>
            <a:r>
              <a:rPr lang="en-US" sz="2000" b="1" dirty="0">
                <a:cs typeface="Times New Roman" pitchFamily="18" charset="0"/>
              </a:rPr>
              <a:t>to </a:t>
            </a:r>
            <a:r>
              <a:rPr lang="en-US" sz="2000" b="1" dirty="0">
                <a:solidFill>
                  <a:srgbClr val="FF99FF"/>
                </a:solidFill>
                <a:cs typeface="Times New Roman" pitchFamily="18" charset="0"/>
              </a:rPr>
              <a:t>planning</a:t>
            </a:r>
            <a:r>
              <a:rPr lang="en-US" sz="2000" b="1" dirty="0">
                <a:cs typeface="Times New Roman" pitchFamily="18" charset="0"/>
              </a:rPr>
              <a:t>, </a:t>
            </a:r>
            <a:r>
              <a:rPr lang="en-US" sz="2000" b="1" dirty="0">
                <a:solidFill>
                  <a:srgbClr val="FF99FF"/>
                </a:solidFill>
                <a:cs typeface="Times New Roman" pitchFamily="18" charset="0"/>
              </a:rPr>
              <a:t>conducting</a:t>
            </a:r>
            <a:r>
              <a:rPr lang="en-US" sz="2000" b="1" dirty="0">
                <a:cs typeface="Times New Roman" pitchFamily="18" charset="0"/>
              </a:rPr>
              <a:t> &amp; </a:t>
            </a:r>
            <a:r>
              <a:rPr lang="en-US" sz="2000" b="1" dirty="0">
                <a:solidFill>
                  <a:srgbClr val="FF99FF"/>
                </a:solidFill>
                <a:cs typeface="Times New Roman" pitchFamily="18" charset="0"/>
              </a:rPr>
              <a:t>publishing</a:t>
            </a:r>
            <a:r>
              <a:rPr lang="en-US" sz="2000" b="1" dirty="0">
                <a:cs typeface="Times New Roman" pitchFamily="18" charset="0"/>
              </a:rPr>
              <a:t> of research .</a:t>
            </a:r>
            <a:r>
              <a:rPr lang="en-US" sz="2000" b="1" dirty="0">
                <a:solidFill>
                  <a:schemeClr val="folHlink"/>
                </a:solidFill>
                <a:cs typeface="Times New Roman" pitchFamily="18" charset="0"/>
              </a:rPr>
              <a:t>  </a:t>
            </a:r>
            <a:r>
              <a:rPr lang="en-US" sz="2000" b="1" dirty="0">
                <a:cs typeface="Times New Roman" pitchFamily="18" charset="0"/>
              </a:rPr>
              <a:t> </a:t>
            </a:r>
          </a:p>
        </p:txBody>
      </p:sp>
    </p:spTree>
    <p:extLst>
      <p:ext uri="{BB962C8B-B14F-4D97-AF65-F5344CB8AC3E}">
        <p14:creationId xmlns:p14="http://schemas.microsoft.com/office/powerpoint/2010/main" val="41431145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defRPr/>
            </a:pPr>
            <a:r>
              <a:rPr lang="en-US" altLang="en-US" dirty="0"/>
              <a:t>Research ethics concerns the responsibility of researchers to be </a:t>
            </a:r>
            <a:r>
              <a:rPr lang="en-US" altLang="en-US" b="1" dirty="0">
                <a:solidFill>
                  <a:schemeClr val="tx2">
                    <a:lumMod val="60000"/>
                    <a:lumOff val="40000"/>
                  </a:schemeClr>
                </a:solidFill>
              </a:rPr>
              <a:t>honest and respectful </a:t>
            </a:r>
            <a:r>
              <a:rPr lang="en-US" altLang="en-US" dirty="0">
                <a:solidFill>
                  <a:srgbClr val="FF0000"/>
                </a:solidFill>
              </a:rPr>
              <a:t>to </a:t>
            </a:r>
            <a:r>
              <a:rPr lang="en-US" altLang="en-US" b="1" dirty="0">
                <a:solidFill>
                  <a:srgbClr val="FF0000"/>
                </a:solidFill>
              </a:rPr>
              <a:t>all individuals</a:t>
            </a:r>
            <a:r>
              <a:rPr lang="en-US" altLang="en-US" dirty="0">
                <a:solidFill>
                  <a:srgbClr val="FF0000"/>
                </a:solidFill>
              </a:rPr>
              <a:t> </a:t>
            </a:r>
            <a:r>
              <a:rPr lang="en-US" altLang="en-US" dirty="0"/>
              <a:t>who are affected by their research studies or their reports of the studies’ results.</a:t>
            </a:r>
          </a:p>
        </p:txBody>
      </p:sp>
    </p:spTree>
    <p:extLst>
      <p:ext uri="{BB962C8B-B14F-4D97-AF65-F5344CB8AC3E}">
        <p14:creationId xmlns:p14="http://schemas.microsoft.com/office/powerpoint/2010/main" val="970863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B050"/>
                </a:solidFill>
              </a:rPr>
              <a:t>1.Professional  </a:t>
            </a:r>
            <a:r>
              <a:rPr lang="en-US" dirty="0">
                <a:solidFill>
                  <a:srgbClr val="00B050"/>
                </a:solidFill>
              </a:rPr>
              <a:t/>
            </a:r>
            <a:br>
              <a:rPr lang="en-US" dirty="0">
                <a:solidFill>
                  <a:srgbClr val="00B050"/>
                </a:solidFill>
              </a:rPr>
            </a:br>
            <a:endParaRPr lang="en-US" dirty="0">
              <a:solidFill>
                <a:srgbClr val="00B050"/>
              </a:solidFill>
            </a:endParaRPr>
          </a:p>
        </p:txBody>
      </p:sp>
      <p:sp>
        <p:nvSpPr>
          <p:cNvPr id="3" name="Content Placeholder 2"/>
          <p:cNvSpPr>
            <a:spLocks noGrp="1"/>
          </p:cNvSpPr>
          <p:nvPr>
            <p:ph idx="1"/>
          </p:nvPr>
        </p:nvSpPr>
        <p:spPr/>
        <p:txBody>
          <a:bodyPr>
            <a:normAutofit/>
          </a:bodyPr>
          <a:lstStyle/>
          <a:p>
            <a:r>
              <a:rPr lang="en-US" sz="2400" dirty="0" smtClean="0"/>
              <a:t>Reporting </a:t>
            </a:r>
          </a:p>
          <a:p>
            <a:r>
              <a:rPr lang="en-US" sz="2400" dirty="0" smtClean="0"/>
              <a:t>Credits </a:t>
            </a:r>
          </a:p>
          <a:p>
            <a:r>
              <a:rPr lang="en-US" sz="2400" dirty="0" smtClean="0"/>
              <a:t>Plagiarism </a:t>
            </a:r>
            <a:endParaRPr lang="en-US" sz="2400" dirty="0"/>
          </a:p>
        </p:txBody>
      </p:sp>
    </p:spTree>
    <p:extLst>
      <p:ext uri="{BB962C8B-B14F-4D97-AF65-F5344CB8AC3E}">
        <p14:creationId xmlns:p14="http://schemas.microsoft.com/office/powerpoint/2010/main" val="12478501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Professional pressures </a:t>
            </a:r>
            <a:endParaRPr lang="en-US" dirty="0"/>
          </a:p>
        </p:txBody>
      </p:sp>
      <p:sp>
        <p:nvSpPr>
          <p:cNvPr id="3" name="Content Placeholder 2"/>
          <p:cNvSpPr>
            <a:spLocks noGrp="1"/>
          </p:cNvSpPr>
          <p:nvPr>
            <p:ph idx="1"/>
          </p:nvPr>
        </p:nvSpPr>
        <p:spPr/>
        <p:txBody>
          <a:bodyPr>
            <a:normAutofit/>
          </a:bodyPr>
          <a:lstStyle/>
          <a:p>
            <a:pPr marL="0" indent="0">
              <a:buNone/>
            </a:pPr>
            <a:r>
              <a:rPr lang="en-US" sz="2400" dirty="0" smtClean="0"/>
              <a:t> </a:t>
            </a:r>
            <a:r>
              <a:rPr lang="en-US" sz="2400" dirty="0" smtClean="0">
                <a:solidFill>
                  <a:srgbClr val="00B050"/>
                </a:solidFill>
              </a:rPr>
              <a:t>Publish</a:t>
            </a:r>
            <a:r>
              <a:rPr lang="en-US" sz="2400" dirty="0">
                <a:solidFill>
                  <a:srgbClr val="00B050"/>
                </a:solidFill>
              </a:rPr>
              <a:t>	</a:t>
            </a:r>
            <a:r>
              <a:rPr lang="en-US" sz="2400" dirty="0" smtClean="0">
                <a:solidFill>
                  <a:srgbClr val="00B050"/>
                </a:solidFill>
              </a:rPr>
              <a:t> or perish</a:t>
            </a:r>
            <a:r>
              <a:rPr lang="en-US" sz="2400" dirty="0">
                <a:solidFill>
                  <a:srgbClr val="00B050"/>
                </a:solidFill>
              </a:rPr>
              <a:t>	</a:t>
            </a:r>
          </a:p>
          <a:p>
            <a:r>
              <a:rPr lang="en-US" sz="2400" dirty="0"/>
              <a:t>•  </a:t>
            </a:r>
            <a:r>
              <a:rPr lang="en-US" sz="2400" dirty="0" smtClean="0"/>
              <a:t>Tenure/retaining a job</a:t>
            </a:r>
            <a:r>
              <a:rPr lang="en-US" sz="2400" dirty="0"/>
              <a:t>	</a:t>
            </a:r>
          </a:p>
          <a:p>
            <a:r>
              <a:rPr lang="en-US" sz="2400" dirty="0"/>
              <a:t>•  “Keeping	</a:t>
            </a:r>
            <a:r>
              <a:rPr lang="en-US" sz="2400" dirty="0" smtClean="0"/>
              <a:t>up "with peers</a:t>
            </a:r>
            <a:r>
              <a:rPr lang="en-US" sz="2400" dirty="0"/>
              <a:t>	</a:t>
            </a:r>
          </a:p>
          <a:p>
            <a:r>
              <a:rPr lang="en-US" sz="2400" dirty="0"/>
              <a:t>•  Securing	grants	</a:t>
            </a:r>
          </a:p>
          <a:p>
            <a:r>
              <a:rPr lang="en-US" sz="2400" dirty="0"/>
              <a:t>•  </a:t>
            </a:r>
            <a:r>
              <a:rPr lang="en-US" sz="2400" dirty="0" smtClean="0"/>
              <a:t>Being first to a discovery</a:t>
            </a:r>
            <a:r>
              <a:rPr lang="en-US" sz="2400" dirty="0"/>
              <a:t>	</a:t>
            </a:r>
          </a:p>
          <a:p>
            <a:r>
              <a:rPr lang="en-US" sz="2400" dirty="0" smtClean="0"/>
              <a:t>All of</a:t>
            </a:r>
            <a:r>
              <a:rPr lang="en-US" sz="2400" dirty="0"/>
              <a:t>	these	</a:t>
            </a:r>
            <a:r>
              <a:rPr lang="en-US" sz="2400" dirty="0" smtClean="0">
                <a:solidFill>
                  <a:srgbClr val="FF0000"/>
                </a:solidFill>
              </a:rPr>
              <a:t>encourage shortcuts</a:t>
            </a:r>
            <a:r>
              <a:rPr lang="en-US" sz="2400" dirty="0">
                <a:solidFill>
                  <a:srgbClr val="FF0000"/>
                </a:solidFill>
              </a:rPr>
              <a:t>	</a:t>
            </a:r>
            <a:r>
              <a:rPr lang="en-US" sz="2400" dirty="0" smtClean="0">
                <a:solidFill>
                  <a:srgbClr val="FF0000"/>
                </a:solidFill>
              </a:rPr>
              <a:t>and“ misdemeanors</a:t>
            </a:r>
            <a:r>
              <a:rPr lang="en-US" sz="2400" dirty="0">
                <a:solidFill>
                  <a:srgbClr val="FF0000"/>
                </a:solidFill>
              </a:rPr>
              <a:t>,”	</a:t>
            </a:r>
            <a:r>
              <a:rPr lang="en-US" sz="2400" dirty="0" smtClean="0">
                <a:solidFill>
                  <a:srgbClr val="FF0000"/>
                </a:solidFill>
              </a:rPr>
              <a:t>or worse</a:t>
            </a:r>
            <a:r>
              <a:rPr lang="en-US" sz="2400" dirty="0">
                <a:solidFill>
                  <a:srgbClr val="FF0000"/>
                </a:solidFill>
              </a:rPr>
              <a:t>	</a:t>
            </a:r>
          </a:p>
          <a:p>
            <a:endParaRPr lang="en-US" sz="2400" dirty="0">
              <a:solidFill>
                <a:srgbClr val="FF0000"/>
              </a:solidFill>
            </a:endParaRPr>
          </a:p>
        </p:txBody>
      </p:sp>
    </p:spTree>
    <p:extLst>
      <p:ext uri="{BB962C8B-B14F-4D97-AF65-F5344CB8AC3E}">
        <p14:creationId xmlns:p14="http://schemas.microsoft.com/office/powerpoint/2010/main" val="6343083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B050"/>
                </a:solidFill>
              </a:rPr>
              <a:t>2.Data gathering </a:t>
            </a:r>
            <a:endParaRPr lang="en-US" dirty="0">
              <a:solidFill>
                <a:srgbClr val="00B050"/>
              </a:solidFill>
            </a:endParaRPr>
          </a:p>
        </p:txBody>
      </p:sp>
      <p:sp>
        <p:nvSpPr>
          <p:cNvPr id="3" name="Content Placeholder 2"/>
          <p:cNvSpPr>
            <a:spLocks noGrp="1"/>
          </p:cNvSpPr>
          <p:nvPr>
            <p:ph idx="1"/>
          </p:nvPr>
        </p:nvSpPr>
        <p:spPr/>
        <p:txBody>
          <a:bodyPr/>
          <a:lstStyle/>
          <a:p>
            <a:r>
              <a:rPr lang="en-US" sz="2400" dirty="0" smtClean="0"/>
              <a:t>Voluntary participation </a:t>
            </a:r>
          </a:p>
          <a:p>
            <a:r>
              <a:rPr lang="en-US" sz="2400" dirty="0" smtClean="0"/>
              <a:t>Informed consent </a:t>
            </a:r>
          </a:p>
          <a:p>
            <a:r>
              <a:rPr lang="en-US" sz="2400" dirty="0" smtClean="0"/>
              <a:t>No harm </a:t>
            </a:r>
          </a:p>
          <a:p>
            <a:r>
              <a:rPr lang="en-US" sz="2400" dirty="0" smtClean="0"/>
              <a:t>PAC (privacy ,anonymity confidentiality </a:t>
            </a:r>
            <a:r>
              <a:rPr lang="en-US" dirty="0" smtClean="0"/>
              <a:t>)</a:t>
            </a:r>
            <a:endParaRPr lang="en-US" dirty="0"/>
          </a:p>
        </p:txBody>
      </p:sp>
    </p:spTree>
    <p:extLst>
      <p:ext uri="{BB962C8B-B14F-4D97-AF65-F5344CB8AC3E}">
        <p14:creationId xmlns:p14="http://schemas.microsoft.com/office/powerpoint/2010/main" val="35225578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B050"/>
                </a:solidFill>
              </a:rPr>
              <a:t>3.Values </a:t>
            </a:r>
            <a:endParaRPr lang="en-US" dirty="0">
              <a:solidFill>
                <a:srgbClr val="00B050"/>
              </a:solidFill>
            </a:endParaRPr>
          </a:p>
        </p:txBody>
      </p:sp>
      <p:sp>
        <p:nvSpPr>
          <p:cNvPr id="4" name="AutoShape 2" descr="Ethics in research"/>
          <p:cNvSpPr>
            <a:spLocks noGrp="1" noChangeAspect="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smtClean="0"/>
          </a:p>
          <a:p>
            <a:r>
              <a:rPr lang="en-US" dirty="0" smtClean="0"/>
              <a:t>TRUST</a:t>
            </a:r>
            <a:r>
              <a:rPr lang="en-US" dirty="0"/>
              <a:t>— Core ethical value in the scientific </a:t>
            </a:r>
            <a:r>
              <a:rPr lang="en-US" dirty="0" smtClean="0"/>
              <a:t>pursuit </a:t>
            </a:r>
            <a:r>
              <a:rPr lang="en-US" dirty="0"/>
              <a:t>of the </a:t>
            </a:r>
            <a:r>
              <a:rPr lang="en-US" dirty="0" smtClean="0"/>
              <a:t>truth</a:t>
            </a:r>
          </a:p>
          <a:p>
            <a:endParaRPr lang="en-US" dirty="0"/>
          </a:p>
          <a:p>
            <a:r>
              <a:rPr lang="en-US" dirty="0"/>
              <a:t>HONESTY — Conveying information truthfully </a:t>
            </a:r>
            <a:r>
              <a:rPr lang="en-US" dirty="0" smtClean="0"/>
              <a:t>and </a:t>
            </a:r>
            <a:r>
              <a:rPr lang="en-US" dirty="0"/>
              <a:t>honoring </a:t>
            </a:r>
            <a:r>
              <a:rPr lang="en-US" dirty="0" smtClean="0"/>
              <a:t>commitments</a:t>
            </a:r>
            <a:endParaRPr lang="en-US" dirty="0"/>
          </a:p>
        </p:txBody>
      </p:sp>
    </p:spTree>
    <p:extLst>
      <p:ext uri="{BB962C8B-B14F-4D97-AF65-F5344CB8AC3E}">
        <p14:creationId xmlns:p14="http://schemas.microsoft.com/office/powerpoint/2010/main" val="21074986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r>
              <a:rPr lang="en-US" dirty="0" smtClean="0"/>
              <a:t>ACCURACY</a:t>
            </a:r>
            <a:r>
              <a:rPr lang="en-US" dirty="0"/>
              <a:t>— Reporting findings precisely and </a:t>
            </a:r>
            <a:r>
              <a:rPr lang="en-US" dirty="0" smtClean="0"/>
              <a:t>taking </a:t>
            </a:r>
            <a:r>
              <a:rPr lang="en-US" dirty="0"/>
              <a:t>care to avoid errors </a:t>
            </a:r>
            <a:endParaRPr lang="en-US" dirty="0" smtClean="0"/>
          </a:p>
          <a:p>
            <a:endParaRPr lang="en-US" dirty="0"/>
          </a:p>
          <a:p>
            <a:r>
              <a:rPr lang="en-US" dirty="0"/>
              <a:t>OBJECTIVITY— Letting the facts speak for </a:t>
            </a:r>
            <a:r>
              <a:rPr lang="en-US" dirty="0" smtClean="0"/>
              <a:t>themselves </a:t>
            </a:r>
            <a:r>
              <a:rPr lang="en-US" dirty="0"/>
              <a:t>and avoiding bias</a:t>
            </a:r>
          </a:p>
        </p:txBody>
      </p:sp>
    </p:spTree>
    <p:extLst>
      <p:ext uri="{BB962C8B-B14F-4D97-AF65-F5344CB8AC3E}">
        <p14:creationId xmlns:p14="http://schemas.microsoft.com/office/powerpoint/2010/main" val="14088523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Guiding principles </a:t>
            </a:r>
            <a:endParaRPr lang="en-US" dirty="0"/>
          </a:p>
        </p:txBody>
      </p:sp>
      <p:sp>
        <p:nvSpPr>
          <p:cNvPr id="3" name="Content Placeholder 2"/>
          <p:cNvSpPr>
            <a:spLocks noGrp="1"/>
          </p:cNvSpPr>
          <p:nvPr>
            <p:ph idx="1"/>
          </p:nvPr>
        </p:nvSpPr>
        <p:spPr/>
        <p:txBody>
          <a:bodyPr/>
          <a:lstStyle/>
          <a:p>
            <a:pPr lvl="1">
              <a:buClr>
                <a:srgbClr val="FF99FF"/>
              </a:buClr>
              <a:defRPr/>
            </a:pPr>
            <a:r>
              <a:rPr lang="en-US" sz="3600" b="1" dirty="0"/>
              <a:t>Autonomy and respect</a:t>
            </a:r>
          </a:p>
          <a:p>
            <a:pPr lvl="1">
              <a:buClr>
                <a:srgbClr val="FF99FF"/>
              </a:buClr>
              <a:defRPr/>
            </a:pPr>
            <a:r>
              <a:rPr lang="en-US" sz="3600" b="1" dirty="0"/>
              <a:t>Beneficence</a:t>
            </a:r>
          </a:p>
          <a:p>
            <a:pPr lvl="1">
              <a:buClr>
                <a:srgbClr val="FF99FF"/>
              </a:buClr>
              <a:defRPr/>
            </a:pPr>
            <a:r>
              <a:rPr lang="en-US" sz="3600" b="1" dirty="0"/>
              <a:t>Non-maleficence</a:t>
            </a:r>
          </a:p>
          <a:p>
            <a:pPr lvl="1">
              <a:buClr>
                <a:srgbClr val="FF99FF"/>
              </a:buClr>
              <a:defRPr/>
            </a:pPr>
            <a:r>
              <a:rPr lang="en-US" sz="3600" b="1" dirty="0"/>
              <a:t>Justice ( free from exploitation)</a:t>
            </a:r>
          </a:p>
          <a:p>
            <a:pPr lvl="1" algn="just">
              <a:buClr>
                <a:srgbClr val="FF99FF"/>
              </a:buClr>
              <a:defRPr/>
            </a:pPr>
            <a:r>
              <a:rPr lang="en-US" sz="3600" b="1" dirty="0"/>
              <a:t>Scientific validity</a:t>
            </a:r>
          </a:p>
          <a:p>
            <a:pPr lvl="1" algn="just">
              <a:buClr>
                <a:srgbClr val="FF99FF"/>
              </a:buClr>
              <a:defRPr/>
            </a:pPr>
            <a:r>
              <a:rPr lang="en-US" sz="3600" b="1" dirty="0"/>
              <a:t>Honesty</a:t>
            </a:r>
          </a:p>
        </p:txBody>
      </p:sp>
    </p:spTree>
    <p:extLst>
      <p:ext uri="{BB962C8B-B14F-4D97-AF65-F5344CB8AC3E}">
        <p14:creationId xmlns:p14="http://schemas.microsoft.com/office/powerpoint/2010/main" val="15229536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research ethics </a:t>
            </a:r>
            <a:endParaRPr lang="en-US" dirty="0"/>
          </a:p>
        </p:txBody>
      </p:sp>
      <p:sp>
        <p:nvSpPr>
          <p:cNvPr id="3" name="Content Placeholder 2"/>
          <p:cNvSpPr>
            <a:spLocks noGrp="1"/>
          </p:cNvSpPr>
          <p:nvPr>
            <p:ph idx="1"/>
          </p:nvPr>
        </p:nvSpPr>
        <p:spPr/>
        <p:txBody>
          <a:bodyPr>
            <a:normAutofit/>
          </a:bodyPr>
          <a:lstStyle/>
          <a:p>
            <a:pPr>
              <a:buClr>
                <a:srgbClr val="FF99FF"/>
              </a:buClr>
              <a:defRPr/>
            </a:pPr>
            <a:r>
              <a:rPr lang="en-US" sz="2400" b="1" dirty="0"/>
              <a:t>To protect participants /patients /society /resources /</a:t>
            </a:r>
            <a:r>
              <a:rPr lang="en-US" sz="2400" b="1" dirty="0">
                <a:solidFill>
                  <a:schemeClr val="tx2">
                    <a:lumMod val="75000"/>
                  </a:schemeClr>
                </a:solidFill>
              </a:rPr>
              <a:t>researcher?</a:t>
            </a:r>
          </a:p>
          <a:p>
            <a:pPr marL="0" indent="0">
              <a:buNone/>
              <a:defRPr/>
            </a:pPr>
            <a:endParaRPr lang="en-US" sz="2400" b="1" dirty="0"/>
          </a:p>
          <a:p>
            <a:pPr>
              <a:buClr>
                <a:srgbClr val="FF99FF"/>
              </a:buClr>
              <a:defRPr/>
            </a:pPr>
            <a:r>
              <a:rPr lang="en-US" sz="2400" b="1" dirty="0"/>
              <a:t>To ensure accuracy of scientific knowledge</a:t>
            </a:r>
          </a:p>
          <a:p>
            <a:pPr marL="0" indent="0">
              <a:buNone/>
              <a:defRPr/>
            </a:pPr>
            <a:r>
              <a:rPr lang="en-US" sz="2400" b="1" dirty="0"/>
              <a:t>			</a:t>
            </a:r>
          </a:p>
          <a:p>
            <a:pPr>
              <a:buClr>
                <a:srgbClr val="FF99FF"/>
              </a:buClr>
              <a:defRPr/>
            </a:pPr>
            <a:r>
              <a:rPr lang="en-US" sz="2400" b="1" dirty="0"/>
              <a:t>To protect intellectual and property rights</a:t>
            </a:r>
          </a:p>
        </p:txBody>
      </p:sp>
    </p:spTree>
    <p:extLst>
      <p:ext uri="{BB962C8B-B14F-4D97-AF65-F5344CB8AC3E}">
        <p14:creationId xmlns:p14="http://schemas.microsoft.com/office/powerpoint/2010/main" val="16633836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Unethical examples </a:t>
            </a:r>
            <a:endParaRPr lang="en-US" dirty="0"/>
          </a:p>
        </p:txBody>
      </p:sp>
      <p:sp>
        <p:nvSpPr>
          <p:cNvPr id="3" name="Content Placeholder 2"/>
          <p:cNvSpPr>
            <a:spLocks noGrp="1"/>
          </p:cNvSpPr>
          <p:nvPr>
            <p:ph idx="1"/>
          </p:nvPr>
        </p:nvSpPr>
        <p:spPr/>
        <p:txBody>
          <a:bodyPr/>
          <a:lstStyle/>
          <a:p>
            <a:pPr>
              <a:spcAft>
                <a:spcPts val="0"/>
              </a:spcAft>
              <a:defRPr/>
            </a:pPr>
            <a:r>
              <a:rPr lang="en-US" dirty="0"/>
              <a:t>Breaking and re-breaking of </a:t>
            </a:r>
            <a:r>
              <a:rPr lang="en-US" dirty="0">
                <a:solidFill>
                  <a:srgbClr val="FF0000"/>
                </a:solidFill>
              </a:rPr>
              <a:t>bones </a:t>
            </a:r>
            <a:r>
              <a:rPr lang="en-US" dirty="0"/>
              <a:t>( to see how many times they could be broken before healing failed to occur) </a:t>
            </a:r>
            <a:r>
              <a:rPr lang="en-US" dirty="0">
                <a:solidFill>
                  <a:schemeClr val="tx2">
                    <a:lumMod val="60000"/>
                    <a:lumOff val="40000"/>
                  </a:schemeClr>
                </a:solidFill>
              </a:rPr>
              <a:t>Nazi</a:t>
            </a:r>
          </a:p>
          <a:p>
            <a:pPr>
              <a:spcAft>
                <a:spcPts val="0"/>
              </a:spcAft>
              <a:defRPr/>
            </a:pPr>
            <a:r>
              <a:rPr lang="en-US" dirty="0"/>
              <a:t>Patients had been </a:t>
            </a:r>
            <a:r>
              <a:rPr lang="en-US" dirty="0">
                <a:solidFill>
                  <a:srgbClr val="FF0000"/>
                </a:solidFill>
              </a:rPr>
              <a:t>injected</a:t>
            </a:r>
            <a:r>
              <a:rPr lang="en-US" dirty="0"/>
              <a:t> with live cancer cells </a:t>
            </a:r>
            <a:r>
              <a:rPr lang="en-US" dirty="0">
                <a:solidFill>
                  <a:schemeClr val="tx2">
                    <a:lumMod val="60000"/>
                    <a:lumOff val="40000"/>
                  </a:schemeClr>
                </a:solidFill>
              </a:rPr>
              <a:t>(Jewish Chronic Disease Hospital, NY, 1963)</a:t>
            </a:r>
          </a:p>
          <a:p>
            <a:pPr>
              <a:spcAft>
                <a:spcPts val="0"/>
              </a:spcAft>
              <a:defRPr/>
            </a:pPr>
            <a:r>
              <a:rPr lang="en-US" dirty="0"/>
              <a:t>400 men had been </a:t>
            </a:r>
            <a:r>
              <a:rPr lang="en-US" dirty="0">
                <a:solidFill>
                  <a:srgbClr val="FF0000"/>
                </a:solidFill>
              </a:rPr>
              <a:t>left to suffer</a:t>
            </a:r>
            <a:r>
              <a:rPr lang="en-US" dirty="0"/>
              <a:t> with syphilis long after a cure ( penicillin) was available. (</a:t>
            </a:r>
            <a:r>
              <a:rPr lang="en-US" dirty="0">
                <a:solidFill>
                  <a:schemeClr val="tx2">
                    <a:lumMod val="60000"/>
                    <a:lumOff val="40000"/>
                  </a:schemeClr>
                </a:solidFill>
              </a:rPr>
              <a:t>Tuskegee, Alabama, 1932-72</a:t>
            </a:r>
            <a:r>
              <a:rPr lang="en-US" dirty="0"/>
              <a:t>) </a:t>
            </a:r>
          </a:p>
          <a:p>
            <a:pPr>
              <a:spcAft>
                <a:spcPts val="0"/>
              </a:spcAft>
              <a:defRPr/>
            </a:pPr>
            <a:r>
              <a:rPr lang="en-US" dirty="0"/>
              <a:t>Milgram’s study sustained no physical harm, they </a:t>
            </a:r>
            <a:r>
              <a:rPr lang="en-US" dirty="0">
                <a:solidFill>
                  <a:srgbClr val="FF0000"/>
                </a:solidFill>
              </a:rPr>
              <a:t>suffered shame </a:t>
            </a:r>
            <a:r>
              <a:rPr lang="en-US" dirty="0"/>
              <a:t>and embarrassment for having behaved inhumanely toward their fellow human beings.(</a:t>
            </a:r>
            <a:r>
              <a:rPr lang="en-US" dirty="0">
                <a:solidFill>
                  <a:schemeClr val="tx2">
                    <a:lumMod val="60000"/>
                    <a:lumOff val="40000"/>
                  </a:schemeClr>
                </a:solidFill>
              </a:rPr>
              <a:t>1963</a:t>
            </a:r>
            <a:r>
              <a:rPr lang="en-US" dirty="0"/>
              <a:t>)</a:t>
            </a:r>
          </a:p>
        </p:txBody>
      </p:sp>
    </p:spTree>
    <p:extLst>
      <p:ext uri="{BB962C8B-B14F-4D97-AF65-F5344CB8AC3E}">
        <p14:creationId xmlns:p14="http://schemas.microsoft.com/office/powerpoint/2010/main" val="11100673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Milligrams </a:t>
            </a:r>
            <a:endParaRPr lang="en-US" dirty="0"/>
          </a:p>
        </p:txBody>
      </p:sp>
      <p:sp>
        <p:nvSpPr>
          <p:cNvPr id="3" name="Content Placeholder 2"/>
          <p:cNvSpPr>
            <a:spLocks noGrp="1"/>
          </p:cNvSpPr>
          <p:nvPr>
            <p:ph idx="1"/>
          </p:nvPr>
        </p:nvSpPr>
        <p:spPr>
          <a:xfrm>
            <a:off x="1024129" y="2285999"/>
            <a:ext cx="9720072" cy="3805707"/>
          </a:xfrm>
        </p:spPr>
        <p:txBody>
          <a:bodyPr/>
          <a:lstStyle/>
          <a:p>
            <a:r>
              <a:rPr lang="en-US" altLang="en-US" sz="2400" dirty="0"/>
              <a:t>Please </a:t>
            </a:r>
            <a:r>
              <a:rPr lang="en-US" altLang="en-US" sz="2400" i="1" dirty="0"/>
              <a:t>continue</a:t>
            </a:r>
            <a:r>
              <a:rPr lang="en-US" altLang="en-US" sz="2400" dirty="0"/>
              <a:t>.</a:t>
            </a:r>
          </a:p>
          <a:p>
            <a:r>
              <a:rPr lang="en-US" altLang="en-US" sz="2400" dirty="0"/>
              <a:t>The experiment requires that you </a:t>
            </a:r>
            <a:r>
              <a:rPr lang="en-US" altLang="en-US" sz="2400" i="1" dirty="0"/>
              <a:t>continue</a:t>
            </a:r>
            <a:r>
              <a:rPr lang="en-US" altLang="en-US" sz="2400" dirty="0"/>
              <a:t>.</a:t>
            </a:r>
          </a:p>
          <a:p>
            <a:r>
              <a:rPr lang="en-US" altLang="en-US" sz="2400" dirty="0"/>
              <a:t>It is absolutely essential that you </a:t>
            </a:r>
            <a:r>
              <a:rPr lang="en-US" altLang="en-US" sz="2400" i="1" dirty="0"/>
              <a:t>continue</a:t>
            </a:r>
            <a:r>
              <a:rPr lang="en-US" altLang="en-US" sz="2400" dirty="0"/>
              <a:t>.</a:t>
            </a:r>
          </a:p>
          <a:p>
            <a:r>
              <a:rPr lang="en-US" altLang="en-US" sz="2400" dirty="0"/>
              <a:t>You have no other choice, you </a:t>
            </a:r>
            <a:r>
              <a:rPr lang="en-US" altLang="en-US" sz="2400" i="1" dirty="0"/>
              <a:t>must</a:t>
            </a:r>
            <a:r>
              <a:rPr lang="en-US" altLang="en-US" sz="2400" dirty="0"/>
              <a:t> go on.</a:t>
            </a:r>
          </a:p>
          <a:p>
            <a:endParaRPr lang="en-US" altLang="en-US" sz="2400" dirty="0"/>
          </a:p>
          <a:p>
            <a:endParaRPr lang="en-US" dirty="0"/>
          </a:p>
        </p:txBody>
      </p:sp>
      <p:pic>
        <p:nvPicPr>
          <p:cNvPr id="4" name="Picture 2" descr="File:Milgram Experiment v2.pn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4287" y="1152525"/>
            <a:ext cx="5164427" cy="570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52882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Regulations in research ethics </a:t>
            </a:r>
            <a:br>
              <a:rPr lang="en-US" b="1" dirty="0">
                <a:solidFill>
                  <a:srgbClr val="FF0000"/>
                </a:solidFill>
              </a:rPr>
            </a:br>
            <a:endParaRPr lang="en-US" dirty="0"/>
          </a:p>
        </p:txBody>
      </p:sp>
      <p:sp>
        <p:nvSpPr>
          <p:cNvPr id="3" name="Content Placeholder 2"/>
          <p:cNvSpPr>
            <a:spLocks noGrp="1"/>
          </p:cNvSpPr>
          <p:nvPr>
            <p:ph idx="1"/>
          </p:nvPr>
        </p:nvSpPr>
        <p:spPr/>
        <p:txBody>
          <a:bodyPr/>
          <a:lstStyle/>
          <a:p>
            <a:pPr>
              <a:lnSpc>
                <a:spcPct val="80000"/>
              </a:lnSpc>
            </a:pPr>
            <a:r>
              <a:rPr lang="en-US" b="1" dirty="0" smtClean="0"/>
              <a:t>It </a:t>
            </a:r>
            <a:r>
              <a:rPr lang="en-US" b="1" dirty="0"/>
              <a:t>is clear that Various cultures such as ancient  Egypt , Persia ,  Babylonia and Greece have attempted to regulate medicine and protect patient rights.</a:t>
            </a:r>
          </a:p>
          <a:p>
            <a:pPr>
              <a:lnSpc>
                <a:spcPct val="80000"/>
              </a:lnSpc>
            </a:pPr>
            <a:r>
              <a:rPr lang="en-US" b="1" dirty="0">
                <a:solidFill>
                  <a:srgbClr val="C00000"/>
                </a:solidFill>
              </a:rPr>
              <a:t>One of the earliest written provisions in the field is that comes about 1750 BC is the Code of Hammurabi</a:t>
            </a:r>
            <a:r>
              <a:rPr lang="ar-SA" b="1" dirty="0">
                <a:solidFill>
                  <a:srgbClr val="C00000"/>
                </a:solidFill>
              </a:rPr>
              <a:t>.</a:t>
            </a:r>
            <a:endParaRPr lang="en-US" b="1" dirty="0">
              <a:solidFill>
                <a:srgbClr val="C00000"/>
              </a:solidFill>
            </a:endParaRPr>
          </a:p>
          <a:p>
            <a:endParaRPr lang="en-US" dirty="0">
              <a:solidFill>
                <a:srgbClr val="C00000"/>
              </a:solidFill>
            </a:endParaRPr>
          </a:p>
          <a:p>
            <a:endParaRPr lang="en-US" dirty="0"/>
          </a:p>
        </p:txBody>
      </p:sp>
    </p:spTree>
    <p:extLst>
      <p:ext uri="{BB962C8B-B14F-4D97-AF65-F5344CB8AC3E}">
        <p14:creationId xmlns:p14="http://schemas.microsoft.com/office/powerpoint/2010/main" val="2913615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Ethical codes </a:t>
            </a:r>
            <a:endParaRPr lang="en-US" dirty="0"/>
          </a:p>
        </p:txBody>
      </p:sp>
      <p:sp>
        <p:nvSpPr>
          <p:cNvPr id="3" name="Content Placeholder 2"/>
          <p:cNvSpPr>
            <a:spLocks noGrp="1"/>
          </p:cNvSpPr>
          <p:nvPr>
            <p:ph idx="1"/>
          </p:nvPr>
        </p:nvSpPr>
        <p:spPr/>
        <p:txBody>
          <a:bodyPr/>
          <a:lstStyle/>
          <a:p>
            <a:r>
              <a:rPr lang="en-US" altLang="en-US" dirty="0">
                <a:solidFill>
                  <a:srgbClr val="FF0000"/>
                </a:solidFill>
                <a:hlinkClick r:id="rId2"/>
              </a:rPr>
              <a:t>Nuremberg Code</a:t>
            </a:r>
            <a:r>
              <a:rPr lang="en-US" altLang="en-US" dirty="0"/>
              <a:t>, a set of 10 guidelines for the ethical treatment of human participants in research. </a:t>
            </a:r>
            <a:r>
              <a:rPr lang="en-US" altLang="en-US" dirty="0" smtClean="0">
                <a:solidFill>
                  <a:srgbClr val="FF0000"/>
                </a:solidFill>
              </a:rPr>
              <a:t>1949</a:t>
            </a:r>
          </a:p>
          <a:p>
            <a:endParaRPr lang="en-US" altLang="en-US" dirty="0">
              <a:solidFill>
                <a:srgbClr val="FF0000"/>
              </a:solidFill>
            </a:endParaRPr>
          </a:p>
        </p:txBody>
      </p:sp>
    </p:spTree>
    <p:extLst>
      <p:ext uri="{BB962C8B-B14F-4D97-AF65-F5344CB8AC3E}">
        <p14:creationId xmlns:p14="http://schemas.microsoft.com/office/powerpoint/2010/main" val="1968175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Numbering code </a:t>
            </a:r>
            <a:endParaRPr lang="en-US" dirty="0"/>
          </a:p>
        </p:txBody>
      </p:sp>
      <p:sp>
        <p:nvSpPr>
          <p:cNvPr id="3" name="Content Placeholder 2"/>
          <p:cNvSpPr>
            <a:spLocks noGrp="1"/>
          </p:cNvSpPr>
          <p:nvPr>
            <p:ph idx="1"/>
          </p:nvPr>
        </p:nvSpPr>
        <p:spPr/>
        <p:txBody>
          <a:bodyPr/>
          <a:lstStyle/>
          <a:p>
            <a:pPr lvl="1">
              <a:lnSpc>
                <a:spcPct val="80000"/>
              </a:lnSpc>
            </a:pPr>
            <a:r>
              <a:rPr lang="en-AU" sz="2000" b="1" dirty="0">
                <a:solidFill>
                  <a:srgbClr val="C00000"/>
                </a:solidFill>
              </a:rPr>
              <a:t>Voluntary informed consent</a:t>
            </a:r>
          </a:p>
          <a:p>
            <a:pPr lvl="1">
              <a:lnSpc>
                <a:spcPct val="80000"/>
              </a:lnSpc>
            </a:pPr>
            <a:r>
              <a:rPr lang="en-AU" sz="2000" b="1" dirty="0">
                <a:solidFill>
                  <a:srgbClr val="C00000"/>
                </a:solidFill>
              </a:rPr>
              <a:t>Likelihood of some good resulting</a:t>
            </a:r>
          </a:p>
          <a:p>
            <a:pPr lvl="1">
              <a:lnSpc>
                <a:spcPct val="80000"/>
              </a:lnSpc>
            </a:pPr>
            <a:r>
              <a:rPr lang="en-AU" sz="2000" b="1" dirty="0">
                <a:solidFill>
                  <a:srgbClr val="C00000"/>
                </a:solidFill>
              </a:rPr>
              <a:t>Based on prior research (animal models</a:t>
            </a:r>
            <a:r>
              <a:rPr lang="en-AU" sz="2000" b="1" dirty="0" smtClean="0">
                <a:solidFill>
                  <a:srgbClr val="C00000"/>
                </a:solidFill>
              </a:rPr>
              <a:t>)</a:t>
            </a:r>
            <a:endParaRPr lang="en-AU" sz="2000" b="1" dirty="0">
              <a:solidFill>
                <a:srgbClr val="C00000"/>
              </a:solidFill>
            </a:endParaRPr>
          </a:p>
        </p:txBody>
      </p:sp>
    </p:spTree>
    <p:extLst>
      <p:ext uri="{BB962C8B-B14F-4D97-AF65-F5344CB8AC3E}">
        <p14:creationId xmlns:p14="http://schemas.microsoft.com/office/powerpoint/2010/main" val="1824957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lnSpc>
                <a:spcPct val="80000"/>
              </a:lnSpc>
            </a:pPr>
            <a:r>
              <a:rPr lang="en-AU" sz="2000" b="1" dirty="0">
                <a:solidFill>
                  <a:srgbClr val="C00000"/>
                </a:solidFill>
              </a:rPr>
              <a:t>Avoidance of physical or psychological injury or harm</a:t>
            </a:r>
          </a:p>
          <a:p>
            <a:pPr lvl="1">
              <a:lnSpc>
                <a:spcPct val="80000"/>
              </a:lnSpc>
            </a:pPr>
            <a:r>
              <a:rPr lang="en-AU" sz="2000" b="1" dirty="0">
                <a:solidFill>
                  <a:srgbClr val="C00000"/>
                </a:solidFill>
              </a:rPr>
              <a:t>Benefits should outweigh risks</a:t>
            </a:r>
          </a:p>
          <a:p>
            <a:pPr lvl="1">
              <a:lnSpc>
                <a:spcPct val="80000"/>
              </a:lnSpc>
            </a:pPr>
            <a:r>
              <a:rPr lang="en-AU" sz="2000" b="1" dirty="0">
                <a:solidFill>
                  <a:srgbClr val="C00000"/>
                </a:solidFill>
              </a:rPr>
              <a:t>Proper experience of researcher</a:t>
            </a:r>
          </a:p>
          <a:p>
            <a:pPr lvl="1">
              <a:lnSpc>
                <a:spcPct val="80000"/>
              </a:lnSpc>
            </a:pPr>
            <a:r>
              <a:rPr lang="en-AU" sz="2000" b="1" dirty="0">
                <a:solidFill>
                  <a:srgbClr val="C00000"/>
                </a:solidFill>
              </a:rPr>
              <a:t>Right to withdraw consent</a:t>
            </a:r>
          </a:p>
          <a:p>
            <a:pPr lvl="1">
              <a:lnSpc>
                <a:spcPct val="80000"/>
              </a:lnSpc>
            </a:pPr>
            <a:r>
              <a:rPr lang="en-AU" sz="2000" b="1" dirty="0">
                <a:solidFill>
                  <a:srgbClr val="C00000"/>
                </a:solidFill>
              </a:rPr>
              <a:t>Research must stop if harm is resulting</a:t>
            </a:r>
          </a:p>
          <a:p>
            <a:endParaRPr lang="en-US" dirty="0">
              <a:solidFill>
                <a:srgbClr val="C00000"/>
              </a:solidFill>
            </a:endParaRPr>
          </a:p>
        </p:txBody>
      </p:sp>
    </p:spTree>
    <p:extLst>
      <p:ext uri="{BB962C8B-B14F-4D97-AF65-F5344CB8AC3E}">
        <p14:creationId xmlns:p14="http://schemas.microsoft.com/office/powerpoint/2010/main" val="1847833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Helsiniky Declaration (1964</a:t>
            </a:r>
            <a:r>
              <a:rPr lang="en-US" dirty="0"/>
              <a:t>)</a:t>
            </a:r>
            <a:br>
              <a:rPr lang="en-US" dirty="0"/>
            </a:br>
            <a:endParaRPr lang="en-US" dirty="0"/>
          </a:p>
        </p:txBody>
      </p:sp>
      <p:sp>
        <p:nvSpPr>
          <p:cNvPr id="3" name="Content Placeholder 2"/>
          <p:cNvSpPr>
            <a:spLocks noGrp="1"/>
          </p:cNvSpPr>
          <p:nvPr>
            <p:ph idx="1"/>
          </p:nvPr>
        </p:nvSpPr>
        <p:spPr/>
        <p:txBody>
          <a:bodyPr/>
          <a:lstStyle/>
          <a:p>
            <a:r>
              <a:rPr lang="en-US" dirty="0" smtClean="0"/>
              <a:t>The </a:t>
            </a:r>
            <a:r>
              <a:rPr lang="en-US" dirty="0"/>
              <a:t>World Medical Association (WMA) has developed the </a:t>
            </a:r>
            <a:r>
              <a:rPr lang="en-US" dirty="0">
                <a:solidFill>
                  <a:srgbClr val="C00000"/>
                </a:solidFill>
              </a:rPr>
              <a:t>Declaration of Helsinki as a statement of ethical principles for medical research involving human subjects, including research on identifiable human material and data. </a:t>
            </a:r>
            <a:r>
              <a:rPr lang="en-US" dirty="0"/>
              <a:t>The first version was adopted in 1964 and has been amended six times since, most recently at the General Assembly in October 2008. The current (2008) version is the only official one.</a:t>
            </a:r>
          </a:p>
          <a:p>
            <a:endParaRPr lang="en-US" dirty="0"/>
          </a:p>
        </p:txBody>
      </p:sp>
    </p:spTree>
    <p:extLst>
      <p:ext uri="{BB962C8B-B14F-4D97-AF65-F5344CB8AC3E}">
        <p14:creationId xmlns:p14="http://schemas.microsoft.com/office/powerpoint/2010/main" val="1904329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Belmont's code </a:t>
            </a:r>
            <a:endParaRPr lang="en-US" dirty="0"/>
          </a:p>
        </p:txBody>
      </p:sp>
      <p:sp>
        <p:nvSpPr>
          <p:cNvPr id="3" name="Content Placeholder 2"/>
          <p:cNvSpPr>
            <a:spLocks noGrp="1"/>
          </p:cNvSpPr>
          <p:nvPr>
            <p:ph idx="1"/>
          </p:nvPr>
        </p:nvSpPr>
        <p:spPr/>
        <p:txBody>
          <a:bodyPr/>
          <a:lstStyle/>
          <a:p>
            <a:pPr marL="0" indent="0">
              <a:buNone/>
              <a:defRPr/>
            </a:pPr>
            <a:r>
              <a:rPr lang="en-US" altLang="en-US" dirty="0"/>
              <a:t>25 years later</a:t>
            </a:r>
          </a:p>
          <a:p>
            <a:pPr>
              <a:buFont typeface="Arial" charset="0"/>
              <a:buChar char="•"/>
              <a:defRPr/>
            </a:pPr>
            <a:r>
              <a:rPr lang="en-US" altLang="en-US" dirty="0"/>
              <a:t>National Research Act. 1974</a:t>
            </a:r>
          </a:p>
          <a:p>
            <a:pPr>
              <a:buFont typeface="Arial" charset="0"/>
              <a:buChar char="•"/>
              <a:defRPr/>
            </a:pPr>
            <a:r>
              <a:rPr lang="en-US" altLang="en-US" dirty="0"/>
              <a:t>The Belmont Report, 1979</a:t>
            </a:r>
          </a:p>
          <a:p>
            <a:pPr>
              <a:buFont typeface="Arial" charset="0"/>
              <a:buChar char="•"/>
              <a:defRPr/>
            </a:pPr>
            <a:endParaRPr lang="en-US" altLang="en-US" dirty="0"/>
          </a:p>
          <a:p>
            <a:endParaRPr lang="en-US" dirty="0"/>
          </a:p>
        </p:txBody>
      </p:sp>
    </p:spTree>
    <p:extLst>
      <p:ext uri="{BB962C8B-B14F-4D97-AF65-F5344CB8AC3E}">
        <p14:creationId xmlns:p14="http://schemas.microsoft.com/office/powerpoint/2010/main" val="1162574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Belmont report </a:t>
            </a:r>
            <a:endParaRPr lang="en-US" dirty="0"/>
          </a:p>
        </p:txBody>
      </p:sp>
      <p:sp>
        <p:nvSpPr>
          <p:cNvPr id="3" name="Content Placeholder 2"/>
          <p:cNvSpPr>
            <a:spLocks noGrp="1"/>
          </p:cNvSpPr>
          <p:nvPr>
            <p:ph idx="1"/>
          </p:nvPr>
        </p:nvSpPr>
        <p:spPr/>
        <p:txBody>
          <a:bodyPr/>
          <a:lstStyle/>
          <a:p>
            <a:pPr marL="0" indent="0">
              <a:spcAft>
                <a:spcPts val="0"/>
              </a:spcAft>
              <a:buNone/>
              <a:defRPr/>
            </a:pPr>
            <a:r>
              <a:rPr lang="en-US" dirty="0"/>
              <a:t>( 1) Individuals </a:t>
            </a:r>
            <a:r>
              <a:rPr lang="en-US" dirty="0">
                <a:solidFill>
                  <a:srgbClr val="FF0000"/>
                </a:solidFill>
              </a:rPr>
              <a:t>should consent </a:t>
            </a:r>
            <a:r>
              <a:rPr lang="en-US" dirty="0"/>
              <a:t>to participate in studies and those who cannot give their consent, such as children, people with diminished abilities, and prisoners, need to be protected.</a:t>
            </a:r>
          </a:p>
          <a:p>
            <a:pPr marL="0" indent="0">
              <a:spcAft>
                <a:spcPts val="0"/>
              </a:spcAft>
              <a:buNone/>
              <a:defRPr/>
            </a:pPr>
            <a:r>
              <a:rPr lang="en-US" dirty="0"/>
              <a:t>( 2) The researcher </a:t>
            </a:r>
            <a:r>
              <a:rPr lang="en-US" dirty="0">
                <a:solidFill>
                  <a:srgbClr val="FF0000"/>
                </a:solidFill>
              </a:rPr>
              <a:t>not harm </a:t>
            </a:r>
            <a:r>
              <a:rPr lang="en-US" dirty="0"/>
              <a:t>the participants, minimize risks, and maximize possible benefits. </a:t>
            </a:r>
          </a:p>
          <a:p>
            <a:pPr marL="0" indent="0">
              <a:spcAft>
                <a:spcPts val="0"/>
              </a:spcAft>
              <a:buNone/>
              <a:defRPr/>
            </a:pPr>
            <a:r>
              <a:rPr lang="en-US" dirty="0"/>
              <a:t>( 3) </a:t>
            </a:r>
            <a:r>
              <a:rPr lang="en-US" dirty="0">
                <a:solidFill>
                  <a:srgbClr val="FF0000"/>
                </a:solidFill>
              </a:rPr>
              <a:t>fairness</a:t>
            </a:r>
            <a:r>
              <a:rPr lang="en-US" dirty="0"/>
              <a:t> in procedures for </a:t>
            </a:r>
            <a:r>
              <a:rPr lang="en-US" dirty="0">
                <a:solidFill>
                  <a:srgbClr val="FF0000"/>
                </a:solidFill>
              </a:rPr>
              <a:t>selecting</a:t>
            </a:r>
            <a:r>
              <a:rPr lang="en-US" dirty="0"/>
              <a:t> participants</a:t>
            </a:r>
          </a:p>
        </p:txBody>
      </p:sp>
    </p:spTree>
    <p:extLst>
      <p:ext uri="{BB962C8B-B14F-4D97-AF65-F5344CB8AC3E}">
        <p14:creationId xmlns:p14="http://schemas.microsoft.com/office/powerpoint/2010/main" val="3721509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ethics check list </a:t>
            </a:r>
            <a:endParaRPr lang="en-US" dirty="0"/>
          </a:p>
        </p:txBody>
      </p:sp>
      <p:sp>
        <p:nvSpPr>
          <p:cNvPr id="3" name="Content Placeholder 2"/>
          <p:cNvSpPr>
            <a:spLocks noGrp="1"/>
          </p:cNvSpPr>
          <p:nvPr>
            <p:ph idx="1"/>
          </p:nvPr>
        </p:nvSpPr>
        <p:spPr/>
        <p:txBody>
          <a:bodyPr>
            <a:normAutofit lnSpcReduction="10000"/>
          </a:bodyPr>
          <a:lstStyle/>
          <a:p>
            <a:pPr>
              <a:lnSpc>
                <a:spcPct val="80000"/>
              </a:lnSpc>
            </a:pPr>
            <a:r>
              <a:rPr lang="en-US" altLang="en-US" b="1" dirty="0"/>
              <a:t>. The goals and methods of the project</a:t>
            </a:r>
          </a:p>
          <a:p>
            <a:pPr lvl="1">
              <a:lnSpc>
                <a:spcPct val="80000"/>
              </a:lnSpc>
            </a:pPr>
            <a:r>
              <a:rPr lang="en-US" altLang="en-US" dirty="0"/>
              <a:t>Do the project contradict generally accepted values? (Manipulation, environment disturbance, military implications, violation of animal protection etc.) </a:t>
            </a:r>
            <a:r>
              <a:rPr lang="en-US" altLang="en-US" dirty="0">
                <a:solidFill>
                  <a:srgbClr val="FF0000"/>
                </a:solidFill>
              </a:rPr>
              <a:t>(Universal principles?)</a:t>
            </a:r>
          </a:p>
          <a:p>
            <a:pPr>
              <a:lnSpc>
                <a:spcPct val="80000"/>
              </a:lnSpc>
            </a:pPr>
            <a:r>
              <a:rPr lang="en-US" altLang="en-US" b="1" dirty="0"/>
              <a:t>2. The rights of participants/informants </a:t>
            </a:r>
          </a:p>
          <a:p>
            <a:pPr lvl="1">
              <a:lnSpc>
                <a:spcPct val="80000"/>
              </a:lnSpc>
            </a:pPr>
            <a:r>
              <a:rPr lang="en-US" altLang="en-US" dirty="0"/>
              <a:t>Informed and independent consent. </a:t>
            </a:r>
            <a:r>
              <a:rPr lang="en-US" altLang="en-US" dirty="0">
                <a:solidFill>
                  <a:srgbClr val="FF0000"/>
                </a:solidFill>
              </a:rPr>
              <a:t>(Universal principles?)</a:t>
            </a:r>
            <a:endParaRPr lang="en-US" altLang="en-US" b="1" dirty="0"/>
          </a:p>
          <a:p>
            <a:pPr>
              <a:lnSpc>
                <a:spcPct val="80000"/>
              </a:lnSpc>
            </a:pPr>
            <a:r>
              <a:rPr lang="en-US" altLang="en-US" b="1" dirty="0"/>
              <a:t>3. Data displaying personal information</a:t>
            </a:r>
          </a:p>
          <a:p>
            <a:pPr lvl="1">
              <a:lnSpc>
                <a:spcPct val="80000"/>
              </a:lnSpc>
            </a:pPr>
            <a:r>
              <a:rPr lang="en-US" altLang="en-US" dirty="0"/>
              <a:t>Anonymity to protect the security of participants. </a:t>
            </a:r>
            <a:r>
              <a:rPr lang="en-US" altLang="en-US" dirty="0">
                <a:solidFill>
                  <a:srgbClr val="FF0000"/>
                </a:solidFill>
              </a:rPr>
              <a:t>(Universal principles and relations?)</a:t>
            </a:r>
            <a:endParaRPr lang="en-US" altLang="en-US" b="1" dirty="0"/>
          </a:p>
          <a:p>
            <a:pPr>
              <a:lnSpc>
                <a:spcPct val="80000"/>
              </a:lnSpc>
            </a:pPr>
            <a:r>
              <a:rPr lang="en-US" altLang="en-US" b="1" dirty="0"/>
              <a:t>4. Risk and security</a:t>
            </a:r>
          </a:p>
          <a:p>
            <a:pPr lvl="1">
              <a:lnSpc>
                <a:spcPct val="80000"/>
              </a:lnSpc>
            </a:pPr>
            <a:r>
              <a:rPr lang="en-US" altLang="en-US" dirty="0"/>
              <a:t>Risk of damage to humans, animals or nature known and accepted? </a:t>
            </a:r>
            <a:r>
              <a:rPr lang="en-US" altLang="en-US" dirty="0">
                <a:solidFill>
                  <a:srgbClr val="FF0000"/>
                </a:solidFill>
              </a:rPr>
              <a:t>(Universal principles, consequences and relations?)</a:t>
            </a:r>
            <a:endParaRPr lang="en-US" altLang="en-US" b="1" dirty="0"/>
          </a:p>
          <a:p>
            <a:pPr>
              <a:lnSpc>
                <a:spcPct val="80000"/>
              </a:lnSpc>
            </a:pPr>
            <a:r>
              <a:rPr lang="en-US" altLang="en-US" b="1" dirty="0"/>
              <a:t>5. Whistle-blowing – built in warning system</a:t>
            </a:r>
          </a:p>
          <a:p>
            <a:pPr lvl="1">
              <a:lnSpc>
                <a:spcPct val="80000"/>
              </a:lnSpc>
            </a:pPr>
            <a:r>
              <a:rPr lang="en-US" altLang="en-US" dirty="0"/>
              <a:t>Will it be possible for participants to raise objections and will the objections be treated by an independent body? </a:t>
            </a:r>
            <a:r>
              <a:rPr lang="en-US" altLang="en-US" dirty="0">
                <a:solidFill>
                  <a:srgbClr val="FF0000"/>
                </a:solidFill>
              </a:rPr>
              <a:t>(Universal principles and relations?)</a:t>
            </a:r>
            <a:endParaRPr lang="en-US" altLang="en-US" dirty="0"/>
          </a:p>
          <a:p>
            <a:endParaRPr lang="en-US" dirty="0"/>
          </a:p>
        </p:txBody>
      </p:sp>
    </p:spTree>
    <p:extLst>
      <p:ext uri="{BB962C8B-B14F-4D97-AF65-F5344CB8AC3E}">
        <p14:creationId xmlns:p14="http://schemas.microsoft.com/office/powerpoint/2010/main" val="3331967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Institutional review board </a:t>
            </a:r>
            <a:endParaRPr lang="en-US" dirty="0"/>
          </a:p>
        </p:txBody>
      </p:sp>
      <p:sp>
        <p:nvSpPr>
          <p:cNvPr id="3" name="Content Placeholder 2"/>
          <p:cNvSpPr>
            <a:spLocks noGrp="1"/>
          </p:cNvSpPr>
          <p:nvPr>
            <p:ph idx="1"/>
          </p:nvPr>
        </p:nvSpPr>
        <p:spPr/>
        <p:txBody>
          <a:bodyPr>
            <a:normAutofit lnSpcReduction="10000"/>
          </a:bodyPr>
          <a:lstStyle/>
          <a:p>
            <a:r>
              <a:rPr lang="de-DE" sz="2400" dirty="0"/>
              <a:t>An IRB evaluates</a:t>
            </a:r>
          </a:p>
          <a:p>
            <a:pPr marL="697183" lvl="1" indent="-457189">
              <a:buFont typeface="+mj-lt"/>
              <a:buAutoNum type="arabicPeriod"/>
            </a:pPr>
            <a:r>
              <a:rPr lang="en-US" sz="2133" dirty="0"/>
              <a:t>the extent to which participation in a study</a:t>
            </a:r>
          </a:p>
          <a:p>
            <a:pPr lvl="2"/>
            <a:r>
              <a:rPr lang="en-US" sz="1867" dirty="0"/>
              <a:t>is voluntary,</a:t>
            </a:r>
          </a:p>
          <a:p>
            <a:pPr lvl="2"/>
            <a:r>
              <a:rPr lang="en-US" sz="1867" dirty="0"/>
              <a:t>does not exert  physical or psychological stress, and </a:t>
            </a:r>
          </a:p>
          <a:p>
            <a:pPr lvl="2"/>
            <a:r>
              <a:rPr lang="en-US" sz="1867" dirty="0"/>
              <a:t>not cause other kinds of damage to participants</a:t>
            </a:r>
          </a:p>
          <a:p>
            <a:pPr marL="697183" lvl="1" indent="-457189">
              <a:buFont typeface="+mj-lt"/>
              <a:buAutoNum type="arabicPeriod"/>
            </a:pPr>
            <a:r>
              <a:rPr lang="en-US" sz="2133" dirty="0"/>
              <a:t>whether participants must give consent regarding</a:t>
            </a:r>
          </a:p>
          <a:p>
            <a:pPr lvl="2"/>
            <a:r>
              <a:rPr lang="en-US" sz="1867" dirty="0"/>
              <a:t>how their data will be used</a:t>
            </a:r>
          </a:p>
          <a:p>
            <a:pPr lvl="2"/>
            <a:r>
              <a:rPr lang="en-US" sz="1867" dirty="0"/>
              <a:t>how their data will be reported </a:t>
            </a:r>
          </a:p>
          <a:p>
            <a:pPr lvl="2"/>
            <a:r>
              <a:rPr lang="en-US" sz="1867" dirty="0"/>
              <a:t>how the data will be protected in terms of anonymity or confidentiality</a:t>
            </a:r>
          </a:p>
          <a:p>
            <a:pPr marL="697183" lvl="1" indent="-457189">
              <a:buFont typeface="+mj-lt"/>
              <a:buAutoNum type="arabicPeriod"/>
            </a:pPr>
            <a:r>
              <a:rPr lang="en-US" sz="2133" dirty="0"/>
              <a:t>whether participants have the right to withdraw from participation at </a:t>
            </a:r>
            <a:r>
              <a:rPr lang="de-DE" sz="2133" dirty="0"/>
              <a:t>any time.</a:t>
            </a:r>
          </a:p>
          <a:p>
            <a:pPr marL="697183" lvl="1" indent="-457189">
              <a:buFont typeface="+mj-lt"/>
              <a:buAutoNum type="arabicPeriod"/>
            </a:pPr>
            <a:r>
              <a:rPr lang="de-DE" sz="2133" dirty="0"/>
              <a:t>how data is stored and analysed</a:t>
            </a:r>
          </a:p>
          <a:p>
            <a:pPr lvl="2"/>
            <a:r>
              <a:rPr lang="en-US" sz="1867" dirty="0"/>
              <a:t>Involves ownership, storage and backup, privacy, confidentiality, access, and reuse.</a:t>
            </a:r>
            <a:endParaRPr lang="de-DE" sz="1867" dirty="0"/>
          </a:p>
        </p:txBody>
      </p:sp>
    </p:spTree>
    <p:extLst>
      <p:ext uri="{BB962C8B-B14F-4D97-AF65-F5344CB8AC3E}">
        <p14:creationId xmlns:p14="http://schemas.microsoft.com/office/powerpoint/2010/main" val="2483916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a:solidFill>
                  <a:srgbClr val="FF0000"/>
                </a:solidFill>
              </a:rPr>
              <a:t>Seven main principles to conduct research</a:t>
            </a:r>
            <a:br>
              <a:rPr lang="en-US" b="1" dirty="0">
                <a:solidFill>
                  <a:srgbClr val="FF0000"/>
                </a:solidFill>
              </a:rPr>
            </a:br>
            <a:endParaRPr lang="en-US" dirty="0"/>
          </a:p>
        </p:txBody>
      </p:sp>
      <p:sp>
        <p:nvSpPr>
          <p:cNvPr id="3" name="Content Placeholder 2"/>
          <p:cNvSpPr>
            <a:spLocks noGrp="1"/>
          </p:cNvSpPr>
          <p:nvPr>
            <p:ph idx="1"/>
          </p:nvPr>
        </p:nvSpPr>
        <p:spPr/>
        <p:txBody>
          <a:bodyPr/>
          <a:lstStyle/>
          <a:p>
            <a:pPr lvl="0"/>
            <a:r>
              <a:rPr lang="en-US" b="1" dirty="0" smtClean="0"/>
              <a:t>Social </a:t>
            </a:r>
            <a:r>
              <a:rPr lang="en-US" b="1" dirty="0"/>
              <a:t>and clinical value</a:t>
            </a:r>
            <a:endParaRPr lang="en-US" dirty="0"/>
          </a:p>
          <a:p>
            <a:pPr lvl="0"/>
            <a:r>
              <a:rPr lang="en-US" b="1" dirty="0"/>
              <a:t>Scientific validity</a:t>
            </a:r>
            <a:endParaRPr lang="en-US" dirty="0"/>
          </a:p>
          <a:p>
            <a:pPr lvl="0"/>
            <a:r>
              <a:rPr lang="en-US" b="1" dirty="0"/>
              <a:t>Fair subject selection</a:t>
            </a:r>
            <a:endParaRPr lang="en-US" dirty="0"/>
          </a:p>
          <a:p>
            <a:pPr lvl="0"/>
            <a:r>
              <a:rPr lang="en-US" b="1" dirty="0"/>
              <a:t>Favorable risk-benefit ratio</a:t>
            </a:r>
            <a:endParaRPr lang="en-US" dirty="0"/>
          </a:p>
          <a:p>
            <a:pPr lvl="0"/>
            <a:r>
              <a:rPr lang="en-US" b="1" dirty="0"/>
              <a:t>Independent review</a:t>
            </a:r>
            <a:endParaRPr lang="en-US" dirty="0"/>
          </a:p>
          <a:p>
            <a:pPr lvl="0"/>
            <a:r>
              <a:rPr lang="en-US" b="1" dirty="0"/>
              <a:t>Informed consent</a:t>
            </a:r>
            <a:endParaRPr lang="en-US" dirty="0"/>
          </a:p>
          <a:p>
            <a:r>
              <a:rPr lang="en-US" b="1" dirty="0"/>
              <a:t>Respect for potential and enrolled subjects</a:t>
            </a:r>
            <a:endParaRPr lang="en-US" dirty="0"/>
          </a:p>
        </p:txBody>
      </p:sp>
    </p:spTree>
    <p:extLst>
      <p:ext uri="{BB962C8B-B14F-4D97-AF65-F5344CB8AC3E}">
        <p14:creationId xmlns:p14="http://schemas.microsoft.com/office/powerpoint/2010/main" val="1519103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Social and clinical value </a:t>
            </a:r>
            <a:br>
              <a:rPr lang="en-US" b="1"/>
            </a:br>
            <a:endParaRPr lang="en-US"/>
          </a:p>
        </p:txBody>
      </p:sp>
      <p:sp>
        <p:nvSpPr>
          <p:cNvPr id="3" name="Content Placeholder 2"/>
          <p:cNvSpPr>
            <a:spLocks noGrp="1"/>
          </p:cNvSpPr>
          <p:nvPr>
            <p:ph idx="1"/>
          </p:nvPr>
        </p:nvSpPr>
        <p:spPr/>
        <p:txBody>
          <a:bodyPr/>
          <a:lstStyle/>
          <a:p>
            <a:r>
              <a:rPr lang="en-US" dirty="0" smtClean="0">
                <a:solidFill>
                  <a:srgbClr val="C00000"/>
                </a:solidFill>
              </a:rPr>
              <a:t>Every </a:t>
            </a:r>
            <a:r>
              <a:rPr lang="en-US" dirty="0">
                <a:solidFill>
                  <a:srgbClr val="C00000"/>
                </a:solidFill>
              </a:rPr>
              <a:t>research study is designed to answer a specific question. The answer should be important enough to justify asking people to accept some risk or inconvenience for others</a:t>
            </a:r>
          </a:p>
          <a:p>
            <a:endParaRPr lang="en-US" dirty="0"/>
          </a:p>
        </p:txBody>
      </p:sp>
    </p:spTree>
    <p:extLst>
      <p:ext uri="{BB962C8B-B14F-4D97-AF65-F5344CB8AC3E}">
        <p14:creationId xmlns:p14="http://schemas.microsoft.com/office/powerpoint/2010/main" val="2120425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Scientific validity </a:t>
            </a:r>
          </a:p>
        </p:txBody>
      </p:sp>
      <p:sp>
        <p:nvSpPr>
          <p:cNvPr id="3" name="Content Placeholder 2"/>
          <p:cNvSpPr>
            <a:spLocks noGrp="1"/>
          </p:cNvSpPr>
          <p:nvPr>
            <p:ph idx="1"/>
          </p:nvPr>
        </p:nvSpPr>
        <p:spPr/>
        <p:txBody>
          <a:bodyPr/>
          <a:lstStyle/>
          <a:p>
            <a:r>
              <a:rPr lang="en-US" dirty="0" smtClean="0">
                <a:solidFill>
                  <a:srgbClr val="C00000"/>
                </a:solidFill>
              </a:rPr>
              <a:t>whether </a:t>
            </a:r>
            <a:r>
              <a:rPr lang="en-US" dirty="0">
                <a:solidFill>
                  <a:srgbClr val="C00000"/>
                </a:solidFill>
              </a:rPr>
              <a:t>the research methods are valid and feasible, and whether the study is designed with accepted principles, clear methods</a:t>
            </a:r>
            <a:r>
              <a:rPr lang="en-US" dirty="0"/>
              <a:t>, and reliable practices</a:t>
            </a:r>
            <a:r>
              <a:rPr lang="en-US" dirty="0">
                <a:solidFill>
                  <a:srgbClr val="C00000"/>
                </a:solidFill>
              </a:rPr>
              <a:t>. Invalid research is unethical because it is a waste of resources and exposes people to risk for no purpose</a:t>
            </a:r>
          </a:p>
        </p:txBody>
      </p:sp>
    </p:spTree>
    <p:extLst>
      <p:ext uri="{BB962C8B-B14F-4D97-AF65-F5344CB8AC3E}">
        <p14:creationId xmlns:p14="http://schemas.microsoft.com/office/powerpoint/2010/main" val="2353005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Fair subject matter selection </a:t>
            </a:r>
            <a:br>
              <a:rPr lang="en-US" dirty="0"/>
            </a:br>
            <a:endParaRPr lang="en-US" dirty="0"/>
          </a:p>
        </p:txBody>
      </p:sp>
      <p:sp>
        <p:nvSpPr>
          <p:cNvPr id="3" name="Content Placeholder 2"/>
          <p:cNvSpPr>
            <a:spLocks noGrp="1"/>
          </p:cNvSpPr>
          <p:nvPr>
            <p:ph idx="1"/>
          </p:nvPr>
        </p:nvSpPr>
        <p:spPr/>
        <p:txBody>
          <a:bodyPr/>
          <a:lstStyle/>
          <a:p>
            <a:r>
              <a:rPr lang="en-US" dirty="0" smtClean="0">
                <a:solidFill>
                  <a:srgbClr val="C00000"/>
                </a:solidFill>
              </a:rPr>
              <a:t>Participants </a:t>
            </a:r>
            <a:r>
              <a:rPr lang="en-US" dirty="0">
                <a:solidFill>
                  <a:srgbClr val="C00000"/>
                </a:solidFill>
              </a:rPr>
              <a:t>who accept the risks of research should be in a position to enjoy its benefits</a:t>
            </a:r>
            <a:endParaRPr lang="en-US" dirty="0"/>
          </a:p>
          <a:p>
            <a:endParaRPr lang="en-US" dirty="0"/>
          </a:p>
        </p:txBody>
      </p:sp>
    </p:spTree>
    <p:extLst>
      <p:ext uri="{BB962C8B-B14F-4D97-AF65-F5344CB8AC3E}">
        <p14:creationId xmlns:p14="http://schemas.microsoft.com/office/powerpoint/2010/main" val="17175556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Favorable risk and benefit ratio</a:t>
            </a:r>
            <a:br>
              <a:rPr lang="en-US" dirty="0">
                <a:solidFill>
                  <a:srgbClr val="C00000"/>
                </a:solidFill>
              </a:rPr>
            </a:br>
            <a:endParaRPr lang="en-US" dirty="0"/>
          </a:p>
        </p:txBody>
      </p:sp>
      <p:sp>
        <p:nvSpPr>
          <p:cNvPr id="3" name="Content Placeholder 2"/>
          <p:cNvSpPr>
            <a:spLocks noGrp="1"/>
          </p:cNvSpPr>
          <p:nvPr>
            <p:ph idx="1"/>
          </p:nvPr>
        </p:nvSpPr>
        <p:spPr/>
        <p:txBody>
          <a:bodyPr/>
          <a:lstStyle/>
          <a:p>
            <a:r>
              <a:rPr lang="en-US" dirty="0" smtClean="0"/>
              <a:t>Risks </a:t>
            </a:r>
            <a:r>
              <a:rPr lang="en-US" dirty="0"/>
              <a:t>can be physical, psychological, economic, or social</a:t>
            </a:r>
            <a:r>
              <a:rPr lang="en-US" dirty="0">
                <a:solidFill>
                  <a:srgbClr val="C00000"/>
                </a:solidFill>
              </a:rPr>
              <a:t>. Everything should be done to minimize the risks and inconvenience to research participants to maximize the potential benefit </a:t>
            </a:r>
            <a:r>
              <a:rPr lang="en-US" dirty="0" smtClean="0">
                <a:solidFill>
                  <a:srgbClr val="C00000"/>
                </a:solidFill>
              </a:rPr>
              <a:t>.</a:t>
            </a:r>
            <a:endParaRPr lang="en-US" dirty="0"/>
          </a:p>
        </p:txBody>
      </p:sp>
    </p:spTree>
    <p:extLst>
      <p:ext uri="{BB962C8B-B14F-4D97-AF65-F5344CB8AC3E}">
        <p14:creationId xmlns:p14="http://schemas.microsoft.com/office/powerpoint/2010/main" val="2787770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Independent Review </a:t>
            </a:r>
            <a:br>
              <a:rPr lang="en-US" dirty="0">
                <a:solidFill>
                  <a:srgbClr val="C00000"/>
                </a:solidFill>
              </a:rPr>
            </a:br>
            <a:endParaRPr lang="en-US" dirty="0"/>
          </a:p>
        </p:txBody>
      </p:sp>
      <p:sp>
        <p:nvSpPr>
          <p:cNvPr id="3" name="Content Placeholder 2"/>
          <p:cNvSpPr>
            <a:spLocks noGrp="1"/>
          </p:cNvSpPr>
          <p:nvPr>
            <p:ph idx="1"/>
          </p:nvPr>
        </p:nvSpPr>
        <p:spPr/>
        <p:txBody>
          <a:bodyPr/>
          <a:lstStyle/>
          <a:p>
            <a:r>
              <a:rPr lang="en-US" dirty="0" smtClean="0"/>
              <a:t>To </a:t>
            </a:r>
            <a:r>
              <a:rPr lang="en-US" dirty="0"/>
              <a:t>minimize potential conflicts of interest and make sure a study is ethically acceptable before it starts</a:t>
            </a:r>
            <a:r>
              <a:rPr lang="en-US" dirty="0">
                <a:solidFill>
                  <a:srgbClr val="C00000"/>
                </a:solidFill>
              </a:rPr>
              <a:t>, an independent review panel should review the proposal and ask important questions</a:t>
            </a:r>
          </a:p>
          <a:p>
            <a:endParaRPr lang="en-US" dirty="0"/>
          </a:p>
        </p:txBody>
      </p:sp>
    </p:spTree>
    <p:extLst>
      <p:ext uri="{BB962C8B-B14F-4D97-AF65-F5344CB8AC3E}">
        <p14:creationId xmlns:p14="http://schemas.microsoft.com/office/powerpoint/2010/main" val="4182476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Informed consent </a:t>
            </a:r>
            <a:br>
              <a:rPr lang="en-US" dirty="0">
                <a:solidFill>
                  <a:srgbClr val="C00000"/>
                </a:solidFill>
              </a:rPr>
            </a:br>
            <a:endParaRPr lang="en-US" dirty="0"/>
          </a:p>
        </p:txBody>
      </p:sp>
      <p:sp>
        <p:nvSpPr>
          <p:cNvPr id="3" name="Content Placeholder 2"/>
          <p:cNvSpPr>
            <a:spLocks noGrp="1"/>
          </p:cNvSpPr>
          <p:nvPr>
            <p:ph idx="1"/>
          </p:nvPr>
        </p:nvSpPr>
        <p:spPr/>
        <p:txBody>
          <a:bodyPr/>
          <a:lstStyle/>
          <a:p>
            <a:r>
              <a:rPr lang="en-US" dirty="0" smtClean="0">
                <a:solidFill>
                  <a:srgbClr val="C00000"/>
                </a:solidFill>
              </a:rPr>
              <a:t>inform </a:t>
            </a:r>
            <a:r>
              <a:rPr lang="en-US" dirty="0">
                <a:solidFill>
                  <a:srgbClr val="C00000"/>
                </a:solidFill>
              </a:rPr>
              <a:t>the purpose, methods, risks, benefits, and alternatives to the research </a:t>
            </a:r>
          </a:p>
          <a:p>
            <a:r>
              <a:rPr lang="en-US" dirty="0"/>
              <a:t>understand this information and how it relates to their own clinical situation or interests </a:t>
            </a:r>
          </a:p>
          <a:p>
            <a:r>
              <a:rPr lang="en-US" dirty="0"/>
              <a:t> </a:t>
            </a:r>
            <a:r>
              <a:rPr lang="en-US" dirty="0">
                <a:solidFill>
                  <a:srgbClr val="C00000"/>
                </a:solidFill>
              </a:rPr>
              <a:t>make a voluntary decision about whether to participate </a:t>
            </a:r>
            <a:r>
              <a:rPr lang="en-US" dirty="0"/>
              <a:t>or not </a:t>
            </a:r>
          </a:p>
          <a:p>
            <a:endParaRPr lang="en-US" dirty="0"/>
          </a:p>
        </p:txBody>
      </p:sp>
    </p:spTree>
    <p:extLst>
      <p:ext uri="{BB962C8B-B14F-4D97-AF65-F5344CB8AC3E}">
        <p14:creationId xmlns:p14="http://schemas.microsoft.com/office/powerpoint/2010/main" val="439960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solidFill>
                  <a:srgbClr val="FF0000"/>
                </a:solidFill>
              </a:rPr>
              <a:t>Respect for potential and enrolled participants </a:t>
            </a:r>
            <a:br>
              <a:rPr lang="en-US" dirty="0">
                <a:solidFill>
                  <a:srgbClr val="FF0000"/>
                </a:solidFill>
              </a:rPr>
            </a:br>
            <a:endParaRPr lang="en-US" dirty="0"/>
          </a:p>
        </p:txBody>
      </p:sp>
      <p:sp>
        <p:nvSpPr>
          <p:cNvPr id="3" name="Content Placeholder 2"/>
          <p:cNvSpPr>
            <a:spLocks noGrp="1"/>
          </p:cNvSpPr>
          <p:nvPr>
            <p:ph idx="1"/>
          </p:nvPr>
        </p:nvSpPr>
        <p:spPr/>
        <p:txBody>
          <a:bodyPr/>
          <a:lstStyle/>
          <a:p>
            <a:pPr lvl="0"/>
            <a:r>
              <a:rPr lang="en-US" dirty="0" smtClean="0"/>
              <a:t>Respecting </a:t>
            </a:r>
            <a:r>
              <a:rPr lang="en-US" dirty="0"/>
              <a:t>their privacy and keeping their private information confidential</a:t>
            </a:r>
          </a:p>
          <a:p>
            <a:pPr lvl="0"/>
            <a:r>
              <a:rPr lang="en-US" dirty="0"/>
              <a:t>respecting their right to change their mind, to decide that the research does not match their interests, and to withdraw without a penalty</a:t>
            </a:r>
          </a:p>
          <a:p>
            <a:pPr lvl="0"/>
            <a:r>
              <a:rPr lang="en-US" dirty="0"/>
              <a:t>informing them of new information that might emerge in the course of research, which might change their assessment of the risks and benefits of participating</a:t>
            </a:r>
          </a:p>
          <a:p>
            <a:endParaRPr lang="en-US" dirty="0"/>
          </a:p>
          <a:p>
            <a:endParaRPr lang="en-US" dirty="0"/>
          </a:p>
        </p:txBody>
      </p:sp>
    </p:spTree>
    <p:extLst>
      <p:ext uri="{BB962C8B-B14F-4D97-AF65-F5344CB8AC3E}">
        <p14:creationId xmlns:p14="http://schemas.microsoft.com/office/powerpoint/2010/main" val="15817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t>monitoring their welfare and, if they experience adverse reactions, unexpected effects, or changes in clinical status, ensuring appropriate treatment and, when necessary, removal from the study</a:t>
            </a:r>
          </a:p>
          <a:p>
            <a:pPr lvl="0"/>
            <a:r>
              <a:rPr lang="en-US" dirty="0"/>
              <a:t>informing them about what was learned from the research</a:t>
            </a:r>
          </a:p>
          <a:p>
            <a:endParaRPr lang="en-US" dirty="0"/>
          </a:p>
        </p:txBody>
      </p:sp>
    </p:spTree>
    <p:extLst>
      <p:ext uri="{BB962C8B-B14F-4D97-AF65-F5344CB8AC3E}">
        <p14:creationId xmlns:p14="http://schemas.microsoft.com/office/powerpoint/2010/main" val="19451921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Ethical codes </a:t>
            </a:r>
            <a:r>
              <a:rPr lang="en-US" b="1" dirty="0" err="1"/>
              <a:t>adressed</a:t>
            </a:r>
            <a:r>
              <a:rPr lang="en-US" b="1" dirty="0"/>
              <a:t> in research</a:t>
            </a:r>
          </a:p>
        </p:txBody>
      </p:sp>
      <p:sp>
        <p:nvSpPr>
          <p:cNvPr id="3" name="Content Placeholder 2"/>
          <p:cNvSpPr>
            <a:spLocks noGrp="1"/>
          </p:cNvSpPr>
          <p:nvPr>
            <p:ph idx="1"/>
          </p:nvPr>
        </p:nvSpPr>
        <p:spPr/>
        <p:txBody>
          <a:bodyPr/>
          <a:lstStyle/>
          <a:p>
            <a:r>
              <a:rPr lang="en-US" b="1" dirty="0" smtClean="0"/>
              <a:t>Honesty</a:t>
            </a:r>
            <a:endParaRPr lang="en-US" dirty="0"/>
          </a:p>
          <a:p>
            <a:r>
              <a:rPr lang="en-US" dirty="0">
                <a:solidFill>
                  <a:srgbClr val="C00000"/>
                </a:solidFill>
              </a:rPr>
              <a:t>Strive for honesty in all scientific communications. Honestly report data, results, methods and procedures, and publication status</a:t>
            </a:r>
            <a:r>
              <a:rPr lang="en-US" dirty="0"/>
              <a:t>. Do not fabricate, falsify, or misrepresent data. Do not deceive colleagues, research sponsors, or the public</a:t>
            </a:r>
          </a:p>
        </p:txBody>
      </p:sp>
    </p:spTree>
    <p:extLst>
      <p:ext uri="{BB962C8B-B14F-4D97-AF65-F5344CB8AC3E}">
        <p14:creationId xmlns:p14="http://schemas.microsoft.com/office/powerpoint/2010/main" val="42926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solidFill>
                  <a:srgbClr val="C00000"/>
                </a:solidFill>
              </a:rPr>
              <a:t>Objectivity</a:t>
            </a:r>
            <a:endParaRPr lang="en-US" dirty="0">
              <a:solidFill>
                <a:srgbClr val="C00000"/>
              </a:solidFill>
            </a:endParaRPr>
          </a:p>
          <a:p>
            <a:r>
              <a:rPr lang="en-US" dirty="0">
                <a:solidFill>
                  <a:srgbClr val="C00000"/>
                </a:solidFill>
              </a:rPr>
              <a:t>Strive to avoid bias in experimental design, data analysis, data interpretation</a:t>
            </a:r>
            <a:r>
              <a:rPr lang="en-US" dirty="0"/>
              <a:t>, peer review, personnel decisions, grant writing, expert testimony, and other aspects of research where objectivity is expected or required</a:t>
            </a:r>
          </a:p>
        </p:txBody>
      </p:sp>
    </p:spTree>
    <p:extLst>
      <p:ext uri="{BB962C8B-B14F-4D97-AF65-F5344CB8AC3E}">
        <p14:creationId xmlns:p14="http://schemas.microsoft.com/office/powerpoint/2010/main" val="13411616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Integrity</a:t>
            </a:r>
            <a:endParaRPr lang="en-US" dirty="0"/>
          </a:p>
          <a:p>
            <a:r>
              <a:rPr lang="en-US" dirty="0">
                <a:solidFill>
                  <a:srgbClr val="C00000"/>
                </a:solidFill>
              </a:rPr>
              <a:t>Keep your promises and agreements</a:t>
            </a:r>
            <a:r>
              <a:rPr lang="en-US" dirty="0"/>
              <a:t>; act with sincerity; strive for consistency of thought and action</a:t>
            </a:r>
          </a:p>
        </p:txBody>
      </p:sp>
    </p:spTree>
    <p:extLst>
      <p:ext uri="{BB962C8B-B14F-4D97-AF65-F5344CB8AC3E}">
        <p14:creationId xmlns:p14="http://schemas.microsoft.com/office/powerpoint/2010/main" val="36811281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Carefulness</a:t>
            </a:r>
            <a:endParaRPr lang="en-US" dirty="0"/>
          </a:p>
          <a:p>
            <a:r>
              <a:rPr lang="en-US" dirty="0">
                <a:solidFill>
                  <a:srgbClr val="C00000"/>
                </a:solidFill>
              </a:rPr>
              <a:t>Avoid careless errors and negligence</a:t>
            </a:r>
            <a:r>
              <a:rPr lang="en-US" dirty="0"/>
              <a:t>; carefully and critically examine your own work and the work of your peers. Keep good records of research activities, such as data collection, research design, and correspondence with agencies or journals</a:t>
            </a:r>
          </a:p>
          <a:p>
            <a:endParaRPr lang="en-US" dirty="0"/>
          </a:p>
        </p:txBody>
      </p:sp>
    </p:spTree>
    <p:extLst>
      <p:ext uri="{BB962C8B-B14F-4D97-AF65-F5344CB8AC3E}">
        <p14:creationId xmlns:p14="http://schemas.microsoft.com/office/powerpoint/2010/main" val="699872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solidFill>
                  <a:srgbClr val="C00000"/>
                </a:solidFill>
              </a:rPr>
              <a:t>Openness</a:t>
            </a:r>
            <a:endParaRPr lang="en-US" dirty="0">
              <a:solidFill>
                <a:srgbClr val="C00000"/>
              </a:solidFill>
            </a:endParaRPr>
          </a:p>
          <a:p>
            <a:r>
              <a:rPr lang="en-US" dirty="0"/>
              <a:t>Share data, results, ideas, tools, resources</a:t>
            </a:r>
            <a:r>
              <a:rPr lang="en-US" dirty="0">
                <a:solidFill>
                  <a:srgbClr val="C00000"/>
                </a:solidFill>
              </a:rPr>
              <a:t>. Be open to criticism and new ideas</a:t>
            </a:r>
          </a:p>
          <a:p>
            <a:endParaRPr lang="en-US" dirty="0"/>
          </a:p>
        </p:txBody>
      </p:sp>
    </p:spTree>
    <p:extLst>
      <p:ext uri="{BB962C8B-B14F-4D97-AF65-F5344CB8AC3E}">
        <p14:creationId xmlns:p14="http://schemas.microsoft.com/office/powerpoint/2010/main" val="5653182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Respect for Intellectual Property</a:t>
            </a:r>
            <a:endParaRPr lang="en-US" dirty="0"/>
          </a:p>
          <a:p>
            <a:r>
              <a:rPr lang="en-US" dirty="0">
                <a:solidFill>
                  <a:srgbClr val="C00000"/>
                </a:solidFill>
              </a:rPr>
              <a:t>Honor patients, copyrights, and other forms of intellectual </a:t>
            </a:r>
            <a:r>
              <a:rPr lang="en-US" dirty="0"/>
              <a:t>property. Do not use unpublished data, methods, or results without permission. Give proper acknowledgement or credit for all contributions to research. Never plagiarize</a:t>
            </a:r>
          </a:p>
        </p:txBody>
      </p:sp>
    </p:spTree>
    <p:extLst>
      <p:ext uri="{BB962C8B-B14F-4D97-AF65-F5344CB8AC3E}">
        <p14:creationId xmlns:p14="http://schemas.microsoft.com/office/powerpoint/2010/main" val="2519335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Confidentiality</a:t>
            </a:r>
            <a:endParaRPr lang="en-US" dirty="0"/>
          </a:p>
          <a:p>
            <a:r>
              <a:rPr lang="en-US" dirty="0">
                <a:solidFill>
                  <a:srgbClr val="C00000"/>
                </a:solidFill>
              </a:rPr>
              <a:t>Protect confidential communications</a:t>
            </a:r>
            <a:r>
              <a:rPr lang="en-US" dirty="0"/>
              <a:t>, such as papers or grants submitted for publication, personnel records</a:t>
            </a:r>
          </a:p>
          <a:p>
            <a:endParaRPr lang="en-US" dirty="0"/>
          </a:p>
        </p:txBody>
      </p:sp>
    </p:spTree>
    <p:extLst>
      <p:ext uri="{BB962C8B-B14F-4D97-AF65-F5344CB8AC3E}">
        <p14:creationId xmlns:p14="http://schemas.microsoft.com/office/powerpoint/2010/main" val="3466759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Responsible Publication</a:t>
            </a:r>
            <a:endParaRPr lang="en-US" dirty="0"/>
          </a:p>
          <a:p>
            <a:r>
              <a:rPr lang="en-US" dirty="0">
                <a:solidFill>
                  <a:srgbClr val="C00000"/>
                </a:solidFill>
              </a:rPr>
              <a:t>Publish in order to advance research and scholarship,  not to advance just your own career. A</a:t>
            </a:r>
            <a:r>
              <a:rPr lang="en-US" dirty="0"/>
              <a:t>void wasteful and duplicative publication</a:t>
            </a:r>
          </a:p>
        </p:txBody>
      </p:sp>
    </p:spTree>
    <p:extLst>
      <p:ext uri="{BB962C8B-B14F-4D97-AF65-F5344CB8AC3E}">
        <p14:creationId xmlns:p14="http://schemas.microsoft.com/office/powerpoint/2010/main" val="32562737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Responsible Mentoring</a:t>
            </a:r>
            <a:endParaRPr lang="en-US" dirty="0"/>
          </a:p>
          <a:p>
            <a:r>
              <a:rPr lang="en-US" dirty="0">
                <a:solidFill>
                  <a:srgbClr val="C00000"/>
                </a:solidFill>
              </a:rPr>
              <a:t>Help to educate, mentor, and advise students. Promote </a:t>
            </a:r>
            <a:r>
              <a:rPr lang="en-US" dirty="0"/>
              <a:t>their welfare and allow them to make their own decisions</a:t>
            </a:r>
          </a:p>
        </p:txBody>
      </p:sp>
    </p:spTree>
    <p:extLst>
      <p:ext uri="{BB962C8B-B14F-4D97-AF65-F5344CB8AC3E}">
        <p14:creationId xmlns:p14="http://schemas.microsoft.com/office/powerpoint/2010/main" val="38788080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Respect for colleagues</a:t>
            </a:r>
            <a:endParaRPr lang="en-US" dirty="0"/>
          </a:p>
          <a:p>
            <a:r>
              <a:rPr lang="en-US" dirty="0">
                <a:solidFill>
                  <a:srgbClr val="C00000"/>
                </a:solidFill>
              </a:rPr>
              <a:t>Respect your colleagues and treat them fairly</a:t>
            </a:r>
          </a:p>
        </p:txBody>
      </p:sp>
    </p:spTree>
    <p:extLst>
      <p:ext uri="{BB962C8B-B14F-4D97-AF65-F5344CB8AC3E}">
        <p14:creationId xmlns:p14="http://schemas.microsoft.com/office/powerpoint/2010/main" val="26442724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Social Responsibility</a:t>
            </a:r>
            <a:endParaRPr lang="en-US" dirty="0"/>
          </a:p>
          <a:p>
            <a:r>
              <a:rPr lang="en-US" dirty="0">
                <a:solidFill>
                  <a:srgbClr val="C00000"/>
                </a:solidFill>
              </a:rPr>
              <a:t>Strive to promote social good and prevent or mitigate social harms</a:t>
            </a:r>
            <a:r>
              <a:rPr lang="en-US" dirty="0"/>
              <a:t> through research, public education, and advocacy</a:t>
            </a:r>
          </a:p>
        </p:txBody>
      </p:sp>
    </p:spTree>
    <p:extLst>
      <p:ext uri="{BB962C8B-B14F-4D97-AF65-F5344CB8AC3E}">
        <p14:creationId xmlns:p14="http://schemas.microsoft.com/office/powerpoint/2010/main" val="42816826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Non-Discrimination</a:t>
            </a:r>
            <a:endParaRPr lang="en-US" dirty="0"/>
          </a:p>
          <a:p>
            <a:r>
              <a:rPr lang="en-US" dirty="0">
                <a:solidFill>
                  <a:srgbClr val="C00000"/>
                </a:solidFill>
              </a:rPr>
              <a:t>Avoid discrimination against colleagues or students on the </a:t>
            </a:r>
            <a:r>
              <a:rPr lang="en-US" dirty="0"/>
              <a:t>basis of sex, race, ethnicity, or other factors not related to scientific competence and integrity.</a:t>
            </a:r>
          </a:p>
          <a:p>
            <a:endParaRPr lang="en-US" dirty="0"/>
          </a:p>
        </p:txBody>
      </p:sp>
    </p:spTree>
    <p:extLst>
      <p:ext uri="{BB962C8B-B14F-4D97-AF65-F5344CB8AC3E}">
        <p14:creationId xmlns:p14="http://schemas.microsoft.com/office/powerpoint/2010/main" val="35261658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competence </a:t>
            </a:r>
            <a:endParaRPr lang="en-US" dirty="0"/>
          </a:p>
          <a:p>
            <a:r>
              <a:rPr lang="en-US" dirty="0">
                <a:solidFill>
                  <a:srgbClr val="C00000"/>
                </a:solidFill>
              </a:rPr>
              <a:t>Maintain and improve your own professional competence </a:t>
            </a:r>
            <a:r>
              <a:rPr lang="en-US" dirty="0"/>
              <a:t>and expertise through lifelong education and learning; take steps to promote competence in science as a whole</a:t>
            </a:r>
          </a:p>
          <a:p>
            <a:endParaRPr lang="en-US" dirty="0"/>
          </a:p>
        </p:txBody>
      </p:sp>
    </p:spTree>
    <p:extLst>
      <p:ext uri="{BB962C8B-B14F-4D97-AF65-F5344CB8AC3E}">
        <p14:creationId xmlns:p14="http://schemas.microsoft.com/office/powerpoint/2010/main" val="10717351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 Legality	</a:t>
            </a:r>
            <a:endParaRPr lang="en-US" dirty="0"/>
          </a:p>
          <a:p>
            <a:r>
              <a:rPr lang="en-US" dirty="0">
                <a:solidFill>
                  <a:srgbClr val="C00000"/>
                </a:solidFill>
              </a:rPr>
              <a:t>Know and obey relevant laws and institutional and governmental </a:t>
            </a:r>
            <a:r>
              <a:rPr lang="en-US" dirty="0"/>
              <a:t>policies</a:t>
            </a:r>
          </a:p>
          <a:p>
            <a:endParaRPr lang="en-US" dirty="0"/>
          </a:p>
        </p:txBody>
      </p:sp>
    </p:spTree>
    <p:extLst>
      <p:ext uri="{BB962C8B-B14F-4D97-AF65-F5344CB8AC3E}">
        <p14:creationId xmlns:p14="http://schemas.microsoft.com/office/powerpoint/2010/main" val="21351867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Animal Care</a:t>
            </a:r>
            <a:endParaRPr lang="en-US" dirty="0"/>
          </a:p>
          <a:p>
            <a:r>
              <a:rPr lang="en-US" dirty="0">
                <a:solidFill>
                  <a:srgbClr val="C00000"/>
                </a:solidFill>
              </a:rPr>
              <a:t>Show proper respect and care for animals when using </a:t>
            </a:r>
            <a:r>
              <a:rPr lang="en-US" dirty="0"/>
              <a:t>them in research. Do not conduct unnecessary or poorly designed animal experiments</a:t>
            </a:r>
          </a:p>
        </p:txBody>
      </p:sp>
    </p:spTree>
    <p:extLst>
      <p:ext uri="{BB962C8B-B14F-4D97-AF65-F5344CB8AC3E}">
        <p14:creationId xmlns:p14="http://schemas.microsoft.com/office/powerpoint/2010/main" val="36466998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Human Subjects Protection</a:t>
            </a:r>
            <a:endParaRPr lang="en-US" dirty="0"/>
          </a:p>
          <a:p>
            <a:r>
              <a:rPr lang="en-US" dirty="0">
                <a:solidFill>
                  <a:srgbClr val="C00000"/>
                </a:solidFill>
              </a:rPr>
              <a:t>When conducting research on human subjects, minimize harms and risks and maximize benefits; respect human dignity, privacy, and autonomy</a:t>
            </a:r>
            <a:r>
              <a:rPr lang="en-US" dirty="0"/>
              <a:t>; take special precautions with vulnerable populations; and strive to distribute the benefits and burdens of research fairly.</a:t>
            </a:r>
          </a:p>
          <a:p>
            <a:endParaRPr lang="en-US" dirty="0"/>
          </a:p>
        </p:txBody>
      </p:sp>
    </p:spTree>
    <p:extLst>
      <p:ext uri="{BB962C8B-B14F-4D97-AF65-F5344CB8AC3E}">
        <p14:creationId xmlns:p14="http://schemas.microsoft.com/office/powerpoint/2010/main" val="20859438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solidFill>
                  <a:srgbClr val="C00000"/>
                </a:solidFill>
              </a:rPr>
              <a:t>Un Ethical facts in publishing </a:t>
            </a:r>
            <a:br>
              <a:rPr lang="en-US" dirty="0">
                <a:solidFill>
                  <a:srgbClr val="C00000"/>
                </a:solidFill>
              </a:rPr>
            </a:br>
            <a:endParaRPr lang="en-US" dirty="0"/>
          </a:p>
        </p:txBody>
      </p:sp>
      <p:sp>
        <p:nvSpPr>
          <p:cNvPr id="3" name="Content Placeholder 2"/>
          <p:cNvSpPr>
            <a:spLocks noGrp="1"/>
          </p:cNvSpPr>
          <p:nvPr>
            <p:ph idx="1"/>
          </p:nvPr>
        </p:nvSpPr>
        <p:spPr/>
        <p:txBody>
          <a:bodyPr/>
          <a:lstStyle/>
          <a:p>
            <a:pPr lvl="0"/>
            <a:r>
              <a:rPr lang="en-US" dirty="0" smtClean="0">
                <a:solidFill>
                  <a:srgbClr val="FF0000"/>
                </a:solidFill>
              </a:rPr>
              <a:t>Publishing </a:t>
            </a:r>
            <a:r>
              <a:rPr lang="en-US" dirty="0">
                <a:solidFill>
                  <a:srgbClr val="FF0000"/>
                </a:solidFill>
              </a:rPr>
              <a:t>the same paper in two different journals without telling the editors</a:t>
            </a:r>
          </a:p>
          <a:p>
            <a:pPr lvl="0"/>
            <a:r>
              <a:rPr lang="en-US" dirty="0">
                <a:solidFill>
                  <a:srgbClr val="FF0000"/>
                </a:solidFill>
              </a:rPr>
              <a:t>Submitting the same paper to different journals without telling the editors</a:t>
            </a:r>
          </a:p>
          <a:p>
            <a:pPr lvl="0"/>
            <a:r>
              <a:rPr lang="en-US" dirty="0">
                <a:solidFill>
                  <a:srgbClr val="FF0000"/>
                </a:solidFill>
              </a:rPr>
              <a:t>Not informing a collaborator of your intent to file a patent in order to make sure that you are the sole </a:t>
            </a:r>
            <a:r>
              <a:rPr lang="en-US" dirty="0" smtClean="0">
                <a:solidFill>
                  <a:srgbClr val="FF0000"/>
                </a:solidFill>
              </a:rPr>
              <a:t>inventor</a:t>
            </a:r>
            <a:endParaRPr lang="en-US" dirty="0">
              <a:solidFill>
                <a:srgbClr val="FF0000"/>
              </a:solidFill>
            </a:endParaRPr>
          </a:p>
        </p:txBody>
      </p:sp>
    </p:spTree>
    <p:extLst>
      <p:ext uri="{BB962C8B-B14F-4D97-AF65-F5344CB8AC3E}">
        <p14:creationId xmlns:p14="http://schemas.microsoft.com/office/powerpoint/2010/main" val="25730120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solidFill>
                  <a:srgbClr val="FF0000"/>
                </a:solidFill>
              </a:rPr>
              <a:t>Including a colleague as an author on a paper in return for a favor even though the colleague did not make a serious contribution to the paper</a:t>
            </a:r>
          </a:p>
          <a:p>
            <a:pPr lvl="0" algn="just"/>
            <a:r>
              <a:rPr lang="en-US" dirty="0">
                <a:solidFill>
                  <a:srgbClr val="FF0000"/>
                </a:solidFill>
              </a:rPr>
              <a:t>Discussing with your colleagues confidential data from a paper that you are reviewing for a journal</a:t>
            </a:r>
          </a:p>
          <a:p>
            <a:endParaRPr lang="en-US" dirty="0"/>
          </a:p>
        </p:txBody>
      </p:sp>
    </p:spTree>
    <p:extLst>
      <p:ext uri="{BB962C8B-B14F-4D97-AF65-F5344CB8AC3E}">
        <p14:creationId xmlns:p14="http://schemas.microsoft.com/office/powerpoint/2010/main" val="19021823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t>Using data, ideas, or methods you learn about while reviewing a grant or a papers without permission</a:t>
            </a:r>
          </a:p>
          <a:p>
            <a:pPr lvl="0"/>
            <a:r>
              <a:rPr lang="en-US" dirty="0"/>
              <a:t>Trimming outliers from a data set without discussing your reasons in paper</a:t>
            </a:r>
          </a:p>
          <a:p>
            <a:pPr lvl="0"/>
            <a:r>
              <a:rPr lang="en-US" dirty="0"/>
              <a:t>Using an inappropriate statistical technique in order to enhance the significance of your research</a:t>
            </a:r>
          </a:p>
          <a:p>
            <a:pPr lvl="0"/>
            <a:r>
              <a:rPr lang="en-US" dirty="0">
                <a:solidFill>
                  <a:srgbClr val="FF0000"/>
                </a:solidFill>
              </a:rPr>
              <a:t>Bypassing the peer review process and announcing your results through a press conference without giving peers adequate information to review your work</a:t>
            </a:r>
          </a:p>
          <a:p>
            <a:pPr lvl="0"/>
            <a:r>
              <a:rPr lang="en-US" dirty="0">
                <a:solidFill>
                  <a:srgbClr val="FF0000"/>
                </a:solidFill>
              </a:rPr>
              <a:t>Conducting a review of the literature that fails to acknowledge the contributions of other people in the field or relevant prior work</a:t>
            </a:r>
          </a:p>
          <a:p>
            <a:endParaRPr lang="en-US" dirty="0"/>
          </a:p>
        </p:txBody>
      </p:sp>
    </p:spTree>
    <p:extLst>
      <p:ext uri="{BB962C8B-B14F-4D97-AF65-F5344CB8AC3E}">
        <p14:creationId xmlns:p14="http://schemas.microsoft.com/office/powerpoint/2010/main" val="2783363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solidFill>
                  <a:srgbClr val="FF0000"/>
                </a:solidFill>
              </a:rPr>
              <a:t>Stretching the truth on a job application or curriculum vitae</a:t>
            </a:r>
          </a:p>
          <a:p>
            <a:pPr lvl="0"/>
            <a:r>
              <a:rPr lang="en-US" dirty="0">
                <a:solidFill>
                  <a:srgbClr val="FF0000"/>
                </a:solidFill>
              </a:rPr>
              <a:t>Giving the same research project to two graduate students in order to see who can do it the fastest</a:t>
            </a:r>
          </a:p>
          <a:p>
            <a:pPr lvl="0"/>
            <a:r>
              <a:rPr lang="en-US" dirty="0">
                <a:solidFill>
                  <a:srgbClr val="FF0000"/>
                </a:solidFill>
              </a:rPr>
              <a:t>Overworking, neglecting, or exploiting graduate or post-doctoral students</a:t>
            </a:r>
          </a:p>
          <a:p>
            <a:pPr lvl="0"/>
            <a:r>
              <a:rPr lang="en-US" dirty="0">
                <a:solidFill>
                  <a:srgbClr val="FF0000"/>
                </a:solidFill>
              </a:rPr>
              <a:t>Failing to keep good research records</a:t>
            </a:r>
          </a:p>
          <a:p>
            <a:pPr lvl="0"/>
            <a:r>
              <a:rPr lang="en-US" dirty="0">
                <a:solidFill>
                  <a:srgbClr val="FF0000"/>
                </a:solidFill>
              </a:rPr>
              <a:t>Failing to maintain research data for a reasonable period of time</a:t>
            </a:r>
          </a:p>
          <a:p>
            <a:pPr lvl="0"/>
            <a:r>
              <a:rPr lang="en-US" dirty="0">
                <a:solidFill>
                  <a:srgbClr val="FF0000"/>
                </a:solidFill>
              </a:rPr>
              <a:t>Making derogatory comments and personal attacks in your review of author's submission</a:t>
            </a:r>
          </a:p>
          <a:p>
            <a:endParaRPr lang="en-US" dirty="0"/>
          </a:p>
        </p:txBody>
      </p:sp>
    </p:spTree>
    <p:extLst>
      <p:ext uri="{BB962C8B-B14F-4D97-AF65-F5344CB8AC3E}">
        <p14:creationId xmlns:p14="http://schemas.microsoft.com/office/powerpoint/2010/main" val="25872915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solidFill>
                  <a:srgbClr val="FF0000"/>
                </a:solidFill>
              </a:rPr>
              <a:t>Promising a student a better grade for sexual favors</a:t>
            </a:r>
          </a:p>
          <a:p>
            <a:pPr lvl="0"/>
            <a:r>
              <a:rPr lang="en-US" dirty="0">
                <a:solidFill>
                  <a:srgbClr val="FF0000"/>
                </a:solidFill>
              </a:rPr>
              <a:t>Using a racist epithet in the laboratory</a:t>
            </a:r>
          </a:p>
          <a:p>
            <a:pPr lvl="0"/>
            <a:r>
              <a:rPr lang="en-US" dirty="0">
                <a:solidFill>
                  <a:srgbClr val="FF0000"/>
                </a:solidFill>
              </a:rPr>
              <a:t>Making significant deviations from the research protocol approved by your </a:t>
            </a:r>
            <a:r>
              <a:rPr lang="en-US" dirty="0"/>
              <a:t>institution's Animal Care and Use Committee or Institutional Review Board for Human Subjects Research without telling the committee or the board</a:t>
            </a:r>
          </a:p>
          <a:p>
            <a:pPr lvl="0"/>
            <a:r>
              <a:rPr lang="en-US" dirty="0">
                <a:solidFill>
                  <a:srgbClr val="FF0000"/>
                </a:solidFill>
              </a:rPr>
              <a:t>Not reporting an adverse event in a human research experiment</a:t>
            </a:r>
          </a:p>
        </p:txBody>
      </p:sp>
    </p:spTree>
    <p:extLst>
      <p:ext uri="{BB962C8B-B14F-4D97-AF65-F5344CB8AC3E}">
        <p14:creationId xmlns:p14="http://schemas.microsoft.com/office/powerpoint/2010/main" val="5872418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7329687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t>Wasting animals in research</a:t>
            </a:r>
          </a:p>
          <a:p>
            <a:pPr lvl="0"/>
            <a:r>
              <a:rPr lang="en-US" dirty="0">
                <a:solidFill>
                  <a:srgbClr val="FF0000"/>
                </a:solidFill>
              </a:rPr>
              <a:t>Exposing students and staff to biological risks in violation of your institution's biosafety rules</a:t>
            </a:r>
          </a:p>
          <a:p>
            <a:pPr lvl="0"/>
            <a:r>
              <a:rPr lang="en-US" dirty="0">
                <a:solidFill>
                  <a:srgbClr val="FF0000"/>
                </a:solidFill>
              </a:rPr>
              <a:t>Sabotaging someone's work</a:t>
            </a:r>
          </a:p>
          <a:p>
            <a:pPr lvl="0"/>
            <a:r>
              <a:rPr lang="en-US" dirty="0"/>
              <a:t>Stealing supplies, books, or data</a:t>
            </a:r>
          </a:p>
          <a:p>
            <a:pPr lvl="0"/>
            <a:r>
              <a:rPr lang="en-US" dirty="0"/>
              <a:t>Rigging an experiment so you know how it will turn out</a:t>
            </a:r>
          </a:p>
          <a:p>
            <a:pPr lvl="0"/>
            <a:r>
              <a:rPr lang="en-US" dirty="0"/>
              <a:t>Making unauthorized copies of data, papers, or computer programs</a:t>
            </a:r>
          </a:p>
          <a:p>
            <a:pPr lvl="0"/>
            <a:r>
              <a:rPr lang="en-US" dirty="0"/>
              <a:t>Owning over $10,000 in stock in a company that sponsors your research and not disclosing this financial interest</a:t>
            </a:r>
          </a:p>
          <a:p>
            <a:endParaRPr lang="en-US" dirty="0"/>
          </a:p>
        </p:txBody>
      </p:sp>
    </p:spTree>
    <p:extLst>
      <p:ext uri="{BB962C8B-B14F-4D97-AF65-F5344CB8AC3E}">
        <p14:creationId xmlns:p14="http://schemas.microsoft.com/office/powerpoint/2010/main" val="18196078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solidFill>
                  <a:srgbClr val="C00000"/>
                </a:solidFill>
              </a:rPr>
              <a:t>Deliberately overestimating the clinical significance of a new drug in order to obtain economic benefits</a:t>
            </a:r>
          </a:p>
          <a:p>
            <a:endParaRPr lang="en-US" dirty="0"/>
          </a:p>
        </p:txBody>
      </p:sp>
    </p:spTree>
    <p:extLst>
      <p:ext uri="{BB962C8B-B14F-4D97-AF65-F5344CB8AC3E}">
        <p14:creationId xmlns:p14="http://schemas.microsoft.com/office/powerpoint/2010/main" val="34116688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5400" dirty="0">
                <a:solidFill>
                  <a:srgbClr val="C00000"/>
                </a:solidFill>
              </a:rPr>
              <a:t>Summary</a:t>
            </a:r>
            <a:br>
              <a:rPr lang="en-US" altLang="en-US" sz="5400" dirty="0">
                <a:solidFill>
                  <a:srgbClr val="C00000"/>
                </a:solidFill>
              </a:rPr>
            </a:br>
            <a:endParaRPr lang="en-US" dirty="0"/>
          </a:p>
        </p:txBody>
      </p:sp>
      <p:sp>
        <p:nvSpPr>
          <p:cNvPr id="3" name="Content Placeholder 2"/>
          <p:cNvSpPr>
            <a:spLocks noGrp="1"/>
          </p:cNvSpPr>
          <p:nvPr>
            <p:ph idx="1"/>
          </p:nvPr>
        </p:nvSpPr>
        <p:spPr/>
        <p:txBody>
          <a:bodyPr/>
          <a:lstStyle/>
          <a:p>
            <a:pPr algn="ctr"/>
            <a:r>
              <a:rPr lang="en-US" altLang="en-US" sz="2800" dirty="0" smtClean="0"/>
              <a:t>Six </a:t>
            </a:r>
            <a:r>
              <a:rPr lang="en-US" altLang="en-US" sz="2800" dirty="0"/>
              <a:t>Norms of Scientific Research</a:t>
            </a:r>
            <a:endParaRPr lang="en-US" altLang="en-US" dirty="0"/>
          </a:p>
          <a:p>
            <a:pPr>
              <a:buClr>
                <a:schemeClr val="tx2"/>
              </a:buClr>
              <a:buFont typeface="Wingdings" panose="05000000000000000000" pitchFamily="2" charset="2"/>
              <a:buChar char="v"/>
            </a:pPr>
            <a:r>
              <a:rPr lang="en-US" altLang="en-US" dirty="0">
                <a:solidFill>
                  <a:srgbClr val="FF0000"/>
                </a:solidFill>
              </a:rPr>
              <a:t>Valid research design </a:t>
            </a:r>
            <a:r>
              <a:rPr lang="en-US" altLang="en-US" dirty="0"/>
              <a:t>– takes into account relevant theory, methods, and prior findings</a:t>
            </a:r>
          </a:p>
          <a:p>
            <a:pPr algn="r"/>
            <a:endParaRPr lang="en-US" altLang="en-US" sz="1200" dirty="0"/>
          </a:p>
          <a:p>
            <a:pPr algn="r"/>
            <a:endParaRPr lang="en-US" altLang="en-US" sz="1200" dirty="0"/>
          </a:p>
          <a:p>
            <a:pPr algn="r"/>
            <a:endParaRPr lang="en-US" altLang="en-US" sz="1200" dirty="0"/>
          </a:p>
          <a:p>
            <a:pPr algn="r"/>
            <a:endParaRPr lang="en-US" altLang="en-US" sz="1200" dirty="0"/>
          </a:p>
        </p:txBody>
      </p:sp>
    </p:spTree>
    <p:extLst>
      <p:ext uri="{BB962C8B-B14F-4D97-AF65-F5344CB8AC3E}">
        <p14:creationId xmlns:p14="http://schemas.microsoft.com/office/powerpoint/2010/main" val="8454894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Clr>
                <a:schemeClr val="tx2"/>
              </a:buClr>
              <a:buFont typeface="Wingdings" panose="05000000000000000000" pitchFamily="2" charset="2"/>
              <a:buChar char="v"/>
            </a:pPr>
            <a:r>
              <a:rPr lang="en-US" altLang="en-US" dirty="0">
                <a:solidFill>
                  <a:srgbClr val="FF0000"/>
                </a:solidFill>
              </a:rPr>
              <a:t>Competence of researcher </a:t>
            </a:r>
            <a:r>
              <a:rPr lang="en-US" altLang="en-US" dirty="0"/>
              <a:t>– capable to carry out the procedures</a:t>
            </a:r>
          </a:p>
        </p:txBody>
      </p:sp>
    </p:spTree>
    <p:extLst>
      <p:ext uri="{BB962C8B-B14F-4D97-AF65-F5344CB8AC3E}">
        <p14:creationId xmlns:p14="http://schemas.microsoft.com/office/powerpoint/2010/main" val="10630664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Clr>
                <a:schemeClr val="tx2"/>
              </a:buClr>
              <a:buFont typeface="Wingdings" panose="05000000000000000000" pitchFamily="2" charset="2"/>
              <a:buChar char="v"/>
            </a:pPr>
            <a:r>
              <a:rPr lang="en-US" altLang="en-US" dirty="0">
                <a:solidFill>
                  <a:srgbClr val="FF0000"/>
                </a:solidFill>
              </a:rPr>
              <a:t>Identification of consequences </a:t>
            </a:r>
            <a:r>
              <a:rPr lang="en-US" altLang="en-US" dirty="0"/>
              <a:t>– assessment of risks and benefits (maximizing benefit and minimizing risk)</a:t>
            </a:r>
          </a:p>
        </p:txBody>
      </p:sp>
    </p:spTree>
    <p:extLst>
      <p:ext uri="{BB962C8B-B14F-4D97-AF65-F5344CB8AC3E}">
        <p14:creationId xmlns:p14="http://schemas.microsoft.com/office/powerpoint/2010/main" val="38163958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Clr>
                <a:schemeClr val="tx2"/>
              </a:buClr>
              <a:buFont typeface="Wingdings" panose="05000000000000000000" pitchFamily="2" charset="2"/>
              <a:buChar char="v"/>
            </a:pPr>
            <a:r>
              <a:rPr lang="en-US" altLang="en-US" dirty="0">
                <a:solidFill>
                  <a:srgbClr val="FF0000"/>
                </a:solidFill>
              </a:rPr>
              <a:t>Selection of subjects </a:t>
            </a:r>
            <a:r>
              <a:rPr lang="en-US" altLang="en-US" dirty="0"/>
              <a:t>– appropriate to the purposes of the study, representative of the population that will benefit from the research and appropriate in number</a:t>
            </a:r>
          </a:p>
        </p:txBody>
      </p:sp>
    </p:spTree>
    <p:extLst>
      <p:ext uri="{BB962C8B-B14F-4D97-AF65-F5344CB8AC3E}">
        <p14:creationId xmlns:p14="http://schemas.microsoft.com/office/powerpoint/2010/main" val="19608217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Clr>
                <a:schemeClr val="tx2"/>
              </a:buClr>
              <a:buFont typeface="Wingdings" panose="05000000000000000000" pitchFamily="2" charset="2"/>
              <a:buChar char="v"/>
            </a:pPr>
            <a:r>
              <a:rPr lang="en-US" altLang="en-US" dirty="0">
                <a:solidFill>
                  <a:srgbClr val="FF0000"/>
                </a:solidFill>
              </a:rPr>
              <a:t>Voluntary informed consent </a:t>
            </a:r>
            <a:r>
              <a:rPr lang="en-US" altLang="en-US" dirty="0"/>
              <a:t>– obtained before study begins, without undue threat or inducement, with enough information, and agreement to participate</a:t>
            </a:r>
          </a:p>
        </p:txBody>
      </p:sp>
    </p:spTree>
    <p:extLst>
      <p:ext uri="{BB962C8B-B14F-4D97-AF65-F5344CB8AC3E}">
        <p14:creationId xmlns:p14="http://schemas.microsoft.com/office/powerpoint/2010/main" val="39326660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dirty="0">
                <a:solidFill>
                  <a:srgbClr val="FF0000"/>
                </a:solidFill>
              </a:rPr>
              <a:t>Compensation for injury </a:t>
            </a:r>
            <a:r>
              <a:rPr lang="en-US" altLang="en-US" dirty="0"/>
              <a:t>– responsibility for what happens to the subject (federal law requires that subjects be informed about compensation, but does not require compensation</a:t>
            </a:r>
            <a:endParaRPr lang="en-US" dirty="0"/>
          </a:p>
        </p:txBody>
      </p:sp>
    </p:spTree>
    <p:extLst>
      <p:ext uri="{BB962C8B-B14F-4D97-AF65-F5344CB8AC3E}">
        <p14:creationId xmlns:p14="http://schemas.microsoft.com/office/powerpoint/2010/main" val="27518065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dirty="0">
                <a:solidFill>
                  <a:srgbClr val="FF0000"/>
                </a:solidFill>
              </a:rPr>
              <a:t>The public’s perception of research, its benefits and its risks is shaped by the way research is conducted</a:t>
            </a:r>
            <a:r>
              <a:rPr lang="en-US" altLang="en-US" dirty="0"/>
              <a:t>”.</a:t>
            </a:r>
          </a:p>
          <a:p>
            <a:endParaRPr lang="en-US" dirty="0"/>
          </a:p>
        </p:txBody>
      </p:sp>
    </p:spTree>
    <p:extLst>
      <p:ext uri="{BB962C8B-B14F-4D97-AF65-F5344CB8AC3E}">
        <p14:creationId xmlns:p14="http://schemas.microsoft.com/office/powerpoint/2010/main" val="6934638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3359254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336</TotalTime>
  <Words>2362</Words>
  <Application>Microsoft Office PowerPoint</Application>
  <PresentationFormat>Widescreen</PresentationFormat>
  <Paragraphs>221</Paragraphs>
  <Slides>67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67</vt:i4>
      </vt:variant>
    </vt:vector>
  </HeadingPairs>
  <TitlesOfParts>
    <vt:vector size="74" baseType="lpstr">
      <vt:lpstr>Arial</vt:lpstr>
      <vt:lpstr>Times New Roman</vt:lpstr>
      <vt:lpstr>Tw Cen MT</vt:lpstr>
      <vt:lpstr>Tw Cen MT Condensed</vt:lpstr>
      <vt:lpstr>Wingdings</vt:lpstr>
      <vt:lpstr>Wingdings 3</vt:lpstr>
      <vt:lpstr>Integral</vt:lpstr>
      <vt:lpstr>Research ethics </vt:lpstr>
      <vt:lpstr>PowerPoint Presentation</vt:lpstr>
      <vt:lpstr>Key concepts in ethics </vt:lpstr>
      <vt:lpstr>PowerPoint Presentation</vt:lpstr>
      <vt:lpstr>Key goals in scientific ethics </vt:lpstr>
      <vt:lpstr>Research ethics </vt:lpstr>
      <vt:lpstr>Research ethics</vt:lpstr>
      <vt:lpstr>PowerPoint Presentation</vt:lpstr>
      <vt:lpstr>1.Professional   </vt:lpstr>
      <vt:lpstr>Professional pressures </vt:lpstr>
      <vt:lpstr>2.Data gathering </vt:lpstr>
      <vt:lpstr>3.Values </vt:lpstr>
      <vt:lpstr>PowerPoint Presentation</vt:lpstr>
      <vt:lpstr>Guiding principles </vt:lpstr>
      <vt:lpstr>Why research ethics </vt:lpstr>
      <vt:lpstr>Unethical examples </vt:lpstr>
      <vt:lpstr>Milligrams </vt:lpstr>
      <vt:lpstr>Regulations in research ethics  </vt:lpstr>
      <vt:lpstr>Ethical codes </vt:lpstr>
      <vt:lpstr>Numbering code </vt:lpstr>
      <vt:lpstr>PowerPoint Presentation</vt:lpstr>
      <vt:lpstr>Helsiniky Declaration (1964) </vt:lpstr>
      <vt:lpstr>The Belmont's code </vt:lpstr>
      <vt:lpstr>The Belmont report </vt:lpstr>
      <vt:lpstr>Research ethics check list </vt:lpstr>
      <vt:lpstr>Institutional review board </vt:lpstr>
      <vt:lpstr>Seven main principles to conduct research </vt:lpstr>
      <vt:lpstr>Social and clinical value  </vt:lpstr>
      <vt:lpstr>Scientific validity </vt:lpstr>
      <vt:lpstr>Fair subject matter selection  </vt:lpstr>
      <vt:lpstr>Favorable risk and benefit ratio </vt:lpstr>
      <vt:lpstr>Independent Review  </vt:lpstr>
      <vt:lpstr>Informed consent  </vt:lpstr>
      <vt:lpstr>Respect for potential and enrolled participants  </vt:lpstr>
      <vt:lpstr>PowerPoint Presentation</vt:lpstr>
      <vt:lpstr>Ethical codes adressed in research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 Ethical facts in publishing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ethics</dc:title>
  <dc:creator>My</dc:creator>
  <cp:lastModifiedBy>My</cp:lastModifiedBy>
  <cp:revision>25</cp:revision>
  <dcterms:created xsi:type="dcterms:W3CDTF">2023-11-11T04:50:59Z</dcterms:created>
  <dcterms:modified xsi:type="dcterms:W3CDTF">2023-11-13T10:31:23Z</dcterms:modified>
</cp:coreProperties>
</file>