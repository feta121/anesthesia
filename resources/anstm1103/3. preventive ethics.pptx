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1" r:id="rId10"/>
    <p:sldId id="264" r:id="rId11"/>
    <p:sldId id="265" r:id="rId12"/>
    <p:sldId id="275" r:id="rId13"/>
    <p:sldId id="276" r:id="rId14"/>
    <p:sldId id="277" r:id="rId15"/>
    <p:sldId id="266" r:id="rId16"/>
    <p:sldId id="267" r:id="rId17"/>
    <p:sldId id="268" r:id="rId18"/>
    <p:sldId id="269" r:id="rId19"/>
    <p:sldId id="270" r:id="rId20"/>
    <p:sldId id="271" r:id="rId21"/>
    <p:sldId id="288" r:id="rId22"/>
    <p:sldId id="289" r:id="rId23"/>
    <p:sldId id="292" r:id="rId24"/>
    <p:sldId id="290" r:id="rId25"/>
    <p:sldId id="272" r:id="rId26"/>
    <p:sldId id="273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PR" TargetMode="External"/><Relationship Id="rId2" Type="http://schemas.openxmlformats.org/officeDocument/2006/relationships/hyperlink" Target="https://en.wikipedia.org/wiki/Tracheal_intubation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preventive ethics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Leulayehu</a:t>
            </a:r>
            <a:r>
              <a:rPr lang="en-US" dirty="0" smtClean="0"/>
              <a:t> </a:t>
            </a:r>
            <a:r>
              <a:rPr lang="en-US" dirty="0" err="1" smtClean="0"/>
              <a:t>Akalu</a:t>
            </a:r>
            <a:r>
              <a:rPr lang="en-US" dirty="0" smtClean="0"/>
              <a:t> (</a:t>
            </a:r>
            <a:r>
              <a:rPr lang="en-US" dirty="0" err="1" smtClean="0"/>
              <a:t>Ass.Professor</a:t>
            </a:r>
            <a:r>
              <a:rPr lang="en-US" dirty="0" smtClean="0"/>
              <a:t>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86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 </a:t>
            </a:r>
          </a:p>
          <a:p>
            <a:r>
              <a:rPr lang="en-US" dirty="0"/>
              <a:t>Preventive ethics is a </a:t>
            </a:r>
            <a:r>
              <a:rPr lang="en-US" u="sng" dirty="0"/>
              <a:t>systematic application </a:t>
            </a:r>
            <a:r>
              <a:rPr lang="en-US" dirty="0"/>
              <a:t>of </a:t>
            </a:r>
            <a:r>
              <a:rPr lang="en-US" i="1" dirty="0"/>
              <a:t>ethical principles and values </a:t>
            </a:r>
            <a:r>
              <a:rPr lang="en-US" dirty="0"/>
              <a:t>to identify and </a:t>
            </a:r>
            <a:r>
              <a:rPr lang="en-US" dirty="0">
                <a:solidFill>
                  <a:srgbClr val="FF0000"/>
                </a:solidFill>
              </a:rPr>
              <a:t>handle </a:t>
            </a:r>
            <a:r>
              <a:rPr lang="en-US" i="1" dirty="0">
                <a:solidFill>
                  <a:srgbClr val="FF0000"/>
                </a:solidFill>
              </a:rPr>
              <a:t>ethical dilemmas, challenges</a:t>
            </a:r>
            <a:r>
              <a:rPr lang="en-US" i="1" u="sng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and errors</a:t>
            </a:r>
            <a:r>
              <a:rPr lang="en-US" dirty="0">
                <a:solidFill>
                  <a:srgbClr val="FF0000"/>
                </a:solidFill>
              </a:rPr>
              <a:t> appropriately and </a:t>
            </a:r>
            <a:r>
              <a:rPr lang="en-US" dirty="0" smtClean="0">
                <a:solidFill>
                  <a:srgbClr val="FF0000"/>
                </a:solidFill>
              </a:rPr>
              <a:t>fairly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4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Preventive ethics  helps for Step-by-step analyses </a:t>
            </a:r>
            <a:r>
              <a:rPr lang="en-US" sz="2400" dirty="0"/>
              <a:t>and </a:t>
            </a:r>
            <a:r>
              <a:rPr lang="en-US" sz="2400" dirty="0" smtClean="0"/>
              <a:t>identify </a:t>
            </a:r>
            <a:r>
              <a:rPr lang="en-US" sz="2400" dirty="0"/>
              <a:t>the ethical quality gap 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24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Support mechanism for PE</a:t>
            </a:r>
            <a:br>
              <a:rPr lang="en-US" b="1" u="sn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1</a:t>
            </a:r>
            <a:r>
              <a:rPr lang="en-GB" dirty="0"/>
              <a:t>. Develop functional tools, documentation, case banks, research, monitoring and evaluation system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Educate to build capacities and capabilities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9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 smtClean="0">
                <a:solidFill>
                  <a:srgbClr val="FF0000"/>
                </a:solidFill>
              </a:rPr>
              <a:t>Ethical consultation </a:t>
            </a:r>
            <a:r>
              <a:rPr lang="en-US" dirty="0" smtClean="0"/>
              <a:t>which is a </a:t>
            </a:r>
            <a:r>
              <a:rPr lang="en-US" dirty="0"/>
              <a:t>service provided by an individual or group to help patients, families, surrogates, health care providers, or other involved </a:t>
            </a:r>
            <a:r>
              <a:rPr lang="en-US" dirty="0" smtClean="0"/>
              <a:t>parties is vital in preventive ethics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37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sz="5400" b="1" dirty="0"/>
              <a:t>Ethical dilemmas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Ethical dilemmas arise when </a:t>
            </a:r>
            <a:r>
              <a:rPr lang="en-US" dirty="0">
                <a:solidFill>
                  <a:srgbClr val="FF0000"/>
                </a:solidFill>
              </a:rPr>
              <a:t>principles cannot be respected and people disagree on what the best solution is; as legitimate solutions philosophically or practically</a:t>
            </a:r>
          </a:p>
        </p:txBody>
      </p:sp>
    </p:spTree>
    <p:extLst>
      <p:ext uri="{BB962C8B-B14F-4D97-AF65-F5344CB8AC3E}">
        <p14:creationId xmlns:p14="http://schemas.microsoft.com/office/powerpoint/2010/main" val="350744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dilemmas encounter in: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Resource </a:t>
            </a:r>
            <a:r>
              <a:rPr lang="en-US" dirty="0"/>
              <a:t>scarcity </a:t>
            </a:r>
          </a:p>
          <a:p>
            <a:r>
              <a:rPr lang="en-US" dirty="0">
                <a:solidFill>
                  <a:srgbClr val="FF0000"/>
                </a:solidFill>
              </a:rPr>
              <a:t>Refusal of treatment </a:t>
            </a:r>
          </a:p>
          <a:p>
            <a:r>
              <a:rPr lang="en-US" dirty="0"/>
              <a:t>Disclosure and truth telling </a:t>
            </a:r>
          </a:p>
        </p:txBody>
      </p:sp>
    </p:spTree>
    <p:extLst>
      <p:ext uri="{BB962C8B-B14F-4D97-AF65-F5344CB8AC3E}">
        <p14:creationId xmlns:p14="http://schemas.microsoft.com/office/powerpoint/2010/main" val="1310139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 of Life dilemma</a:t>
            </a:r>
          </a:p>
          <a:p>
            <a:r>
              <a:rPr lang="en-US" dirty="0"/>
              <a:t>Disagreement/conflict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615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Competent patients have virtually un limited right to refuse life sustaining medical treatment 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183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appropriate to let the dying process take its course .</a:t>
            </a:r>
          </a:p>
        </p:txBody>
      </p:sp>
    </p:spTree>
    <p:extLst>
      <p:ext uri="{BB962C8B-B14F-4D97-AF65-F5344CB8AC3E}">
        <p14:creationId xmlns:p14="http://schemas.microsoft.com/office/powerpoint/2010/main" val="2077670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Norway 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 of life decisions, guidance based on the Patient’s Rights Act (1999)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5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sz="2400" dirty="0" smtClean="0"/>
              <a:t>A </a:t>
            </a:r>
            <a:r>
              <a:rPr lang="en-US" sz="2400" dirty="0"/>
              <a:t>dying patient has the right to refuse life-prolonging interventions when:</a:t>
            </a:r>
          </a:p>
          <a:p>
            <a:endParaRPr lang="en-US" sz="2400" dirty="0"/>
          </a:p>
          <a:p>
            <a:pPr lvl="1"/>
            <a:r>
              <a:rPr lang="en-US" sz="2400" dirty="0"/>
              <a:t>There is no chance of cure of improvement of health status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7394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patient, or the closest relative confirms that this is the patient's own </a:t>
            </a:r>
            <a:r>
              <a:rPr lang="en-US" sz="2400" dirty="0" smtClean="0"/>
              <a:t>preference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And the physician, after own independent assessment, finds that withholding treatment is according to the patient's own whishes</a:t>
            </a:r>
          </a:p>
        </p:txBody>
      </p:sp>
    </p:spTree>
    <p:extLst>
      <p:ext uri="{BB962C8B-B14F-4D97-AF65-F5344CB8AC3E}">
        <p14:creationId xmlns:p14="http://schemas.microsoft.com/office/powerpoint/2010/main" val="222566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medical order to with hold resuscitation in the event of CPR must be documented on the patients </a:t>
            </a:r>
            <a:r>
              <a:rPr lang="en-US" dirty="0" smtClean="0"/>
              <a:t>chart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Specify exactly what should be with </a:t>
            </a:r>
            <a:r>
              <a:rPr lang="en-US" dirty="0" smtClean="0"/>
              <a:t>held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69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DNR </a:t>
            </a:r>
            <a:r>
              <a:rPr lang="en-US" dirty="0"/>
              <a:t>decision must be made in conjunction with the patient &amp;</a:t>
            </a:r>
            <a:r>
              <a:rPr lang="en-US" dirty="0" smtClean="0"/>
              <a:t>family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DNR should be discussed with other members of the health care team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416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DNR </a:t>
            </a:r>
            <a:r>
              <a:rPr lang="en-US" dirty="0"/>
              <a:t>should be reviewed regularly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DNR </a:t>
            </a:r>
            <a:r>
              <a:rPr lang="en-US" dirty="0"/>
              <a:t>should be understood by the patient and family</a:t>
            </a:r>
          </a:p>
        </p:txBody>
      </p:sp>
    </p:spTree>
    <p:extLst>
      <p:ext uri="{BB962C8B-B14F-4D97-AF65-F5344CB8AC3E}">
        <p14:creationId xmlns:p14="http://schemas.microsoft.com/office/powerpoint/2010/main" val="3512835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if the patient is incompetent to decide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Incompetency </a:t>
            </a:r>
            <a:r>
              <a:rPr lang="en-US" dirty="0"/>
              <a:t>must be proved</a:t>
            </a:r>
          </a:p>
          <a:p>
            <a:r>
              <a:rPr lang="en-US" dirty="0"/>
              <a:t>Written instructions that pre date patients incompetency must be accepted </a:t>
            </a:r>
          </a:p>
          <a:p>
            <a:r>
              <a:rPr lang="en-US" dirty="0"/>
              <a:t>If no written instructions exist the family should make judgment </a:t>
            </a:r>
          </a:p>
          <a:p>
            <a:r>
              <a:rPr lang="en-US" dirty="0"/>
              <a:t>If judgment of the family is unreasonable request judicial 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382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written instructions exist and if in conflict with the family position seek opinion from </a:t>
            </a:r>
            <a:r>
              <a:rPr lang="en-US" dirty="0" smtClean="0"/>
              <a:t>court</a:t>
            </a:r>
          </a:p>
          <a:p>
            <a:endParaRPr lang="en-US" dirty="0"/>
          </a:p>
          <a:p>
            <a:r>
              <a:rPr lang="en-US" dirty="0"/>
              <a:t>In rare cases the court may intervene if no guardian or family</a:t>
            </a:r>
          </a:p>
          <a:p>
            <a:r>
              <a:rPr lang="en-US" dirty="0"/>
              <a:t>A single list of criteria will not work for all patients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651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care of the dying patient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Needs of the </a:t>
            </a:r>
            <a:r>
              <a:rPr lang="en-US" dirty="0" smtClean="0"/>
              <a:t>patient</a:t>
            </a:r>
          </a:p>
          <a:p>
            <a:endParaRPr lang="en-US" dirty="0"/>
          </a:p>
          <a:p>
            <a:r>
              <a:rPr lang="en-US" dirty="0"/>
              <a:t>Needs of the family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Needs of the clinical team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52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to be </a:t>
            </a:r>
            <a:r>
              <a:rPr lang="en-US" dirty="0" smtClean="0"/>
              <a:t>withhold during dnr  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77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A </a:t>
            </a:r>
            <a:r>
              <a:rPr lang="en-US" sz="2400" dirty="0">
                <a:solidFill>
                  <a:srgbClr val="FF0000"/>
                </a:solidFill>
              </a:rPr>
              <a:t>DNR does not affect any treatment other than that which would require </a:t>
            </a:r>
            <a:r>
              <a:rPr lang="en-US" sz="2400" u="sng" dirty="0">
                <a:solidFill>
                  <a:srgbClr val="FF0000"/>
                </a:solidFill>
                <a:hlinkClick r:id="rId2"/>
              </a:rPr>
              <a:t>intubation</a:t>
            </a:r>
            <a:r>
              <a:rPr lang="en-US" sz="2400" dirty="0">
                <a:solidFill>
                  <a:srgbClr val="FF0000"/>
                </a:solidFill>
              </a:rPr>
              <a:t> and ventilation or </a:t>
            </a:r>
            <a:r>
              <a:rPr lang="en-US" sz="2400" u="sng" dirty="0">
                <a:solidFill>
                  <a:srgbClr val="FF0000"/>
                </a:solidFill>
                <a:hlinkClick r:id="rId3"/>
              </a:rPr>
              <a:t>CPR</a:t>
            </a:r>
            <a:r>
              <a:rPr lang="en-US" sz="2400" dirty="0">
                <a:solidFill>
                  <a:srgbClr val="FF0000"/>
                </a:solidFill>
              </a:rPr>
              <a:t>. Cardio stimulatory drugs /chemotherapy, antibiotics, dialysis, or any other appropriate treatments that may postpone the death of the patient 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55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allowed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85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allowed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Gastrostomy feeding fluid therapy analgesics are allowed 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707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Physicians aid in dying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physician makes the medication available for the patient and the patient performs the act of </a:t>
            </a:r>
            <a:r>
              <a:rPr lang="en-US" dirty="0" smtClean="0"/>
              <a:t>ingestion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Physician administered euthanasia in which the physician administers the medications directly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1427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 for and against legalizing PAD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Three important issues</a:t>
            </a:r>
          </a:p>
          <a:p>
            <a:pPr>
              <a:buNone/>
            </a:pPr>
            <a:r>
              <a:rPr lang="en-US" dirty="0"/>
              <a:t>Autonomy </a:t>
            </a:r>
          </a:p>
          <a:p>
            <a:pPr>
              <a:buNone/>
            </a:pPr>
            <a:r>
              <a:rPr lang="en-US" dirty="0"/>
              <a:t>Beneficence </a:t>
            </a:r>
          </a:p>
          <a:p>
            <a:pPr>
              <a:buNone/>
            </a:pPr>
            <a:r>
              <a:rPr lang="en-US" dirty="0"/>
              <a:t>Legalization  </a:t>
            </a:r>
          </a:p>
        </p:txBody>
      </p:sp>
    </p:spTree>
    <p:extLst>
      <p:ext uri="{BB962C8B-B14F-4D97-AF65-F5344CB8AC3E}">
        <p14:creationId xmlns:p14="http://schemas.microsoft.com/office/powerpoint/2010/main" val="1357314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 when patients relatives and health professionals disagree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Disagreement on medical facts </a:t>
            </a:r>
          </a:p>
          <a:p>
            <a:r>
              <a:rPr lang="en-US" dirty="0"/>
              <a:t>If Disagreement on values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Follow Husted's model of flow chart </a:t>
            </a:r>
          </a:p>
        </p:txBody>
      </p:sp>
    </p:spTree>
    <p:extLst>
      <p:ext uri="{BB962C8B-B14F-4D97-AF65-F5344CB8AC3E}">
        <p14:creationId xmlns:p14="http://schemas.microsoft.com/office/powerpoint/2010/main" val="3585428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Various 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The child came to hospital with end stage chronic renal failure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He was treated with symptomatic treatment</a:t>
            </a:r>
          </a:p>
          <a:p>
            <a:r>
              <a:rPr lang="en-US" sz="2400" dirty="0">
                <a:solidFill>
                  <a:srgbClr val="FF0000"/>
                </a:solidFill>
              </a:rPr>
              <a:t>We want to send him home after counseling since we do not have bed for other emergency patients, but the family refused to take him</a:t>
            </a:r>
          </a:p>
          <a:p>
            <a:r>
              <a:rPr lang="en-US" sz="2400" dirty="0">
                <a:solidFill>
                  <a:srgbClr val="FF0000"/>
                </a:solidFill>
              </a:rPr>
              <a:t>What to do?</a:t>
            </a:r>
          </a:p>
        </p:txBody>
      </p:sp>
    </p:spTree>
    <p:extLst>
      <p:ext uri="{BB962C8B-B14F-4D97-AF65-F5344CB8AC3E}">
        <p14:creationId xmlns:p14="http://schemas.microsoft.com/office/powerpoint/2010/main" val="803745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 girl presented with gangrenous foot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she was given option to have amputation, but the parents refused to have amputation.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Knowing that the child will die what to do with the parents?</a:t>
            </a:r>
            <a:endParaRPr lang="nb-NO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364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Priority setting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Priority setting in health care is the ranking of health services and the ranking of recipients of these </a:t>
            </a:r>
            <a:r>
              <a:rPr lang="en-US" dirty="0" smtClean="0"/>
              <a:t>services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Priorities are often set through a process of decision-making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165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Rationing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Is </a:t>
            </a:r>
            <a:r>
              <a:rPr lang="en-US" dirty="0"/>
              <a:t>defined as withholding of health services that could be of benefit to the patient on the ground of resource </a:t>
            </a:r>
            <a:r>
              <a:rPr lang="en-US" dirty="0" smtClean="0"/>
              <a:t>scarcity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Resources should be understood broadly to include health personnel, time, equipment, infrastructure, medicines, beds, operating rooms, and </a:t>
            </a:r>
            <a:r>
              <a:rPr lang="en-US" dirty="0" smtClean="0"/>
              <a:t>money.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118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GB" b="1" u="sng" dirty="0"/>
              <a:t>Levels of priority setting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International 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National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Meso</a:t>
            </a:r>
            <a:r>
              <a:rPr lang="en-GB" dirty="0"/>
              <a:t>: health facility level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Micro: at the bed side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74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Rationing intensive care unit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with HIV AIDS PCP needs admission intubation and ventilation</a:t>
            </a:r>
          </a:p>
          <a:p>
            <a:r>
              <a:rPr lang="en-US" dirty="0"/>
              <a:t>What is your decision about admission?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50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Extension of our ethics of agency –our rule is to help a person under our care obtain every possible resource 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935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has right to expect decisions and choices made by that professional are competent </a:t>
            </a:r>
            <a:r>
              <a:rPr lang="en-US" dirty="0" smtClean="0"/>
              <a:t>respectful</a:t>
            </a:r>
          </a:p>
          <a:p>
            <a:endParaRPr lang="en-US" dirty="0"/>
          </a:p>
          <a:p>
            <a:r>
              <a:rPr lang="en-US" dirty="0"/>
              <a:t>We argue for those whom we serve(extension of our ethics of </a:t>
            </a:r>
            <a:r>
              <a:rPr lang="en-US" dirty="0" smtClean="0"/>
              <a:t>agency)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390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7200" dirty="0"/>
              <a:t>THANKS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20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78</TotalTime>
  <Words>777</Words>
  <Application>Microsoft Office PowerPoint</Application>
  <PresentationFormat>Widescreen</PresentationFormat>
  <Paragraphs>117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Tw Cen MT</vt:lpstr>
      <vt:lpstr>Tw Cen MT Condensed</vt:lpstr>
      <vt:lpstr>Wingdings 3</vt:lpstr>
      <vt:lpstr>Integral</vt:lpstr>
      <vt:lpstr> preventive ethics </vt:lpstr>
      <vt:lpstr>PowerPoint Presentation</vt:lpstr>
      <vt:lpstr>PowerPoint Presentation</vt:lpstr>
      <vt:lpstr>Support mechanism for PE </vt:lpstr>
      <vt:lpstr>PowerPoint Presentation</vt:lpstr>
      <vt:lpstr>PowerPoint Presentation</vt:lpstr>
      <vt:lpstr>Ethical dilemmas </vt:lpstr>
      <vt:lpstr>Ethical dilemmas encounter in: </vt:lpstr>
      <vt:lpstr>PowerPoint Presentation</vt:lpstr>
      <vt:lpstr>DNR </vt:lpstr>
      <vt:lpstr>PowerPoint Presentation</vt:lpstr>
      <vt:lpstr>Norway example </vt:lpstr>
      <vt:lpstr>PowerPoint Presentation</vt:lpstr>
      <vt:lpstr>PowerPoint Presentation</vt:lpstr>
      <vt:lpstr>DNR </vt:lpstr>
      <vt:lpstr>PowerPoint Presentation</vt:lpstr>
      <vt:lpstr>PowerPoint Presentation</vt:lpstr>
      <vt:lpstr>What if the patient is incompetent to decide ?</vt:lpstr>
      <vt:lpstr>PowerPoint Presentation</vt:lpstr>
      <vt:lpstr>Good care of the dying patient </vt:lpstr>
      <vt:lpstr>What is to be withhold during dnr  ?</vt:lpstr>
      <vt:lpstr>PowerPoint Presentation</vt:lpstr>
      <vt:lpstr>What is allowed ?</vt:lpstr>
      <vt:lpstr>What is allowed ?</vt:lpstr>
      <vt:lpstr>Physicians aid in dying </vt:lpstr>
      <vt:lpstr>Arguments for and against legalizing PAD</vt:lpstr>
      <vt:lpstr>What to do when patients relatives and health professionals disagree</vt:lpstr>
      <vt:lpstr>Various examples </vt:lpstr>
      <vt:lpstr>PowerPoint Presentation</vt:lpstr>
      <vt:lpstr>Priority setting </vt:lpstr>
      <vt:lpstr>Rationing </vt:lpstr>
      <vt:lpstr>Levels of priority setting </vt:lpstr>
      <vt:lpstr>Rationing intensive care unit </vt:lpstr>
      <vt:lpstr>Answer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preventive ethics</dc:title>
  <dc:creator>My</dc:creator>
  <cp:lastModifiedBy>My</cp:lastModifiedBy>
  <cp:revision>14</cp:revision>
  <dcterms:created xsi:type="dcterms:W3CDTF">2023-11-04T08:59:42Z</dcterms:created>
  <dcterms:modified xsi:type="dcterms:W3CDTF">2023-11-13T07:44:20Z</dcterms:modified>
</cp:coreProperties>
</file>