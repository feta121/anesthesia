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91" r:id="rId3"/>
    <p:sldId id="292" r:id="rId4"/>
    <p:sldId id="293" r:id="rId5"/>
    <p:sldId id="295" r:id="rId6"/>
    <p:sldId id="347" r:id="rId7"/>
    <p:sldId id="297" r:id="rId8"/>
    <p:sldId id="315" r:id="rId9"/>
    <p:sldId id="299" r:id="rId10"/>
    <p:sldId id="340" r:id="rId11"/>
    <p:sldId id="341" r:id="rId12"/>
    <p:sldId id="342" r:id="rId13"/>
    <p:sldId id="346" r:id="rId14"/>
    <p:sldId id="334" r:id="rId15"/>
    <p:sldId id="303" r:id="rId16"/>
    <p:sldId id="335" r:id="rId17"/>
    <p:sldId id="304" r:id="rId18"/>
    <p:sldId id="305" r:id="rId19"/>
    <p:sldId id="306" r:id="rId20"/>
    <p:sldId id="336" r:id="rId21"/>
    <p:sldId id="337" r:id="rId22"/>
    <p:sldId id="338" r:id="rId23"/>
    <p:sldId id="339" r:id="rId24"/>
    <p:sldId id="332" r:id="rId25"/>
    <p:sldId id="298" r:id="rId26"/>
    <p:sldId id="258" r:id="rId27"/>
    <p:sldId id="259" r:id="rId28"/>
    <p:sldId id="329" r:id="rId29"/>
    <p:sldId id="260" r:id="rId30"/>
    <p:sldId id="261" r:id="rId31"/>
    <p:sldId id="262" r:id="rId32"/>
    <p:sldId id="263" r:id="rId33"/>
    <p:sldId id="264" r:id="rId34"/>
    <p:sldId id="265" r:id="rId35"/>
    <p:sldId id="266" r:id="rId36"/>
    <p:sldId id="267" r:id="rId37"/>
    <p:sldId id="307" r:id="rId38"/>
    <p:sldId id="268" r:id="rId39"/>
    <p:sldId id="269" r:id="rId40"/>
    <p:sldId id="270" r:id="rId41"/>
    <p:sldId id="271" r:id="rId42"/>
    <p:sldId id="272" r:id="rId43"/>
    <p:sldId id="273" r:id="rId44"/>
    <p:sldId id="308" r:id="rId45"/>
    <p:sldId id="274" r:id="rId46"/>
    <p:sldId id="309" r:id="rId47"/>
    <p:sldId id="310" r:id="rId48"/>
    <p:sldId id="321" r:id="rId49"/>
    <p:sldId id="311" r:id="rId50"/>
    <p:sldId id="312" r:id="rId51"/>
    <p:sldId id="313" r:id="rId52"/>
    <p:sldId id="314" r:id="rId53"/>
    <p:sldId id="324" r:id="rId54"/>
    <p:sldId id="327" r:id="rId55"/>
    <p:sldId id="322" r:id="rId56"/>
    <p:sldId id="275" r:id="rId57"/>
    <p:sldId id="276" r:id="rId58"/>
    <p:sldId id="277" r:id="rId59"/>
    <p:sldId id="278" r:id="rId60"/>
    <p:sldId id="279" r:id="rId61"/>
    <p:sldId id="280" r:id="rId62"/>
    <p:sldId id="281" r:id="rId63"/>
    <p:sldId id="282" r:id="rId64"/>
    <p:sldId id="283" r:id="rId65"/>
    <p:sldId id="284" r:id="rId66"/>
    <p:sldId id="330" r:id="rId67"/>
    <p:sldId id="285" r:id="rId68"/>
    <p:sldId id="286" r:id="rId69"/>
    <p:sldId id="287" r:id="rId70"/>
    <p:sldId id="288" r:id="rId71"/>
    <p:sldId id="289" r:id="rId72"/>
    <p:sldId id="301" r:id="rId73"/>
    <p:sldId id="302" r:id="rId74"/>
    <p:sldId id="333" r:id="rId75"/>
    <p:sldId id="331" r:id="rId76"/>
    <p:sldId id="290" r:id="rId7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2B836935-BFCB-44B9-8553-AE23270EFC6D}" type="datetimeFigureOut">
              <a:rPr lang="en-US" smtClean="0"/>
              <a:pPr/>
              <a:t>2/1/2022</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AD1AA404-DEFF-42B0-B954-B0166609F43D}"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B836935-BFCB-44B9-8553-AE23270EFC6D}" type="datetimeFigureOut">
              <a:rPr lang="en-US" smtClean="0"/>
              <a:pPr/>
              <a:t>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1AA404-DEFF-42B0-B954-B0166609F43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2B836935-BFCB-44B9-8553-AE23270EFC6D}" type="datetimeFigureOut">
              <a:rPr lang="en-US" smtClean="0"/>
              <a:pPr/>
              <a:t>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1AA404-DEFF-42B0-B954-B0166609F43D}"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2B836935-BFCB-44B9-8553-AE23270EFC6D}" type="datetimeFigureOut">
              <a:rPr lang="en-US" smtClean="0"/>
              <a:pPr/>
              <a:t>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1AA404-DEFF-42B0-B954-B0166609F43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2B836935-BFCB-44B9-8553-AE23270EFC6D}" type="datetimeFigureOut">
              <a:rPr lang="en-US" smtClean="0"/>
              <a:pPr/>
              <a:t>2/1/2022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1AA404-DEFF-42B0-B954-B0166609F43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2B836935-BFCB-44B9-8553-AE23270EFC6D}" type="datetimeFigureOut">
              <a:rPr lang="en-US" smtClean="0"/>
              <a:pPr/>
              <a:t>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1AA404-DEFF-42B0-B954-B0166609F43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836935-BFCB-44B9-8553-AE23270EFC6D}" type="datetimeFigureOut">
              <a:rPr lang="en-US" smtClean="0"/>
              <a:pPr/>
              <a:t>2/1/2022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1AA404-DEFF-42B0-B954-B0166609F43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2B836935-BFCB-44B9-8553-AE23270EFC6D}" type="datetimeFigureOut">
              <a:rPr lang="en-US" smtClean="0"/>
              <a:pPr/>
              <a:t>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1AA404-DEFF-42B0-B954-B0166609F43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2B836935-BFCB-44B9-8553-AE23270EFC6D}" type="datetimeFigureOut">
              <a:rPr lang="en-US" smtClean="0"/>
              <a:pPr/>
              <a:t>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AD1AA404-DEFF-42B0-B954-B0166609F43D}"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B836935-BFCB-44B9-8553-AE23270EFC6D}" type="datetimeFigureOut">
              <a:rPr lang="en-US" smtClean="0"/>
              <a:pPr/>
              <a:t>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1AA404-DEFF-42B0-B954-B0166609F43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B836935-BFCB-44B9-8553-AE23270EFC6D}" type="datetimeFigureOut">
              <a:rPr lang="en-US" smtClean="0"/>
              <a:pPr/>
              <a:t>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1AA404-DEFF-42B0-B954-B0166609F43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2B836935-BFCB-44B9-8553-AE23270EFC6D}" type="datetimeFigureOut">
              <a:rPr lang="en-US" smtClean="0"/>
              <a:pPr/>
              <a:t>2/1/2022</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AD1AA404-DEFF-42B0-B954-B0166609F43D}"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Ethics and Law</a:t>
            </a:r>
            <a:br>
              <a:rPr lang="en-US" dirty="0" smtClean="0"/>
            </a:br>
            <a:r>
              <a:rPr lang="en-US" dirty="0" err="1" smtClean="0"/>
              <a:t>Leulayehu</a:t>
            </a:r>
            <a:r>
              <a:rPr lang="en-US" dirty="0" smtClean="0"/>
              <a:t> </a:t>
            </a:r>
            <a:r>
              <a:rPr lang="en-US" dirty="0" err="1" smtClean="0"/>
              <a:t>Akalu</a:t>
            </a:r>
            <a:r>
              <a:rPr lang="en-US" dirty="0" smtClean="0"/>
              <a:t/>
            </a:r>
            <a:br>
              <a:rPr lang="en-US" dirty="0" smtClean="0"/>
            </a:br>
            <a:r>
              <a:rPr lang="en-US" dirty="0" smtClean="0"/>
              <a:t>(</a:t>
            </a:r>
            <a:r>
              <a:rPr lang="en-US" dirty="0"/>
              <a:t>A</a:t>
            </a:r>
            <a:r>
              <a:rPr lang="en-US" dirty="0" smtClean="0"/>
              <a:t>ssistant professor)  </a:t>
            </a:r>
            <a:endParaRPr lang="en-US" dirty="0"/>
          </a:p>
        </p:txBody>
      </p:sp>
      <p:sp>
        <p:nvSpPr>
          <p:cNvPr id="3" name="Subtitle 2"/>
          <p:cNvSpPr>
            <a:spLocks noGrp="1"/>
          </p:cNvSpPr>
          <p:nvPr>
            <p:ph type="subTitle" idx="1"/>
          </p:nvPr>
        </p:nvSpPr>
        <p:spPr/>
        <p:txBody>
          <a:bodyPr/>
          <a:lstStyle/>
          <a:p>
            <a:r>
              <a:rPr lang="en-US" dirty="0" smtClean="0"/>
              <a:t> </a:t>
            </a:r>
            <a:endParaRPr lang="en-US" dirty="0"/>
          </a:p>
        </p:txBody>
      </p:sp>
    </p:spTree>
  </p:cSld>
  <p:clrMapOvr>
    <a:masterClrMapping/>
  </p:clrMapOvr>
  <p:transition>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Ethics and law </a:t>
            </a:r>
            <a:br>
              <a:rPr lang="en-US" dirty="0" smtClean="0"/>
            </a:br>
            <a:r>
              <a:rPr lang="en-US" dirty="0" smtClean="0"/>
              <a:t>Course out line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43624416"/>
              </p:ext>
            </p:extLst>
          </p:nvPr>
        </p:nvGraphicFramePr>
        <p:xfrm>
          <a:off x="457200" y="1935163"/>
          <a:ext cx="8229600" cy="3235960"/>
        </p:xfrm>
        <a:graphic>
          <a:graphicData uri="http://schemas.openxmlformats.org/drawingml/2006/table">
            <a:tbl>
              <a:tblPr firstRow="1" bandRow="1">
                <a:tableStyleId>{5C22544A-7EE6-4342-B048-85BDC9FD1C3A}</a:tableStyleId>
              </a:tblPr>
              <a:tblGrid>
                <a:gridCol w="4114800"/>
                <a:gridCol w="4114800"/>
              </a:tblGrid>
              <a:tr h="370840">
                <a:tc>
                  <a:txBody>
                    <a:bodyPr/>
                    <a:lstStyle/>
                    <a:p>
                      <a:endParaRPr lang="en-US" dirty="0"/>
                    </a:p>
                  </a:txBody>
                  <a:tcPr/>
                </a:tc>
                <a:tc>
                  <a:txBody>
                    <a:bodyPr/>
                    <a:lstStyle/>
                    <a:p>
                      <a:endParaRPr lang="en-US"/>
                    </a:p>
                  </a:txBody>
                  <a:tcPr/>
                </a:tc>
              </a:tr>
              <a:tr h="370840">
                <a:tc>
                  <a:txBody>
                    <a:bodyPr/>
                    <a:lstStyle/>
                    <a:p>
                      <a:r>
                        <a:rPr lang="en-US" dirty="0" smtClean="0"/>
                        <a:t>School </a:t>
                      </a:r>
                      <a:endParaRPr lang="en-US" dirty="0"/>
                    </a:p>
                  </a:txBody>
                  <a:tcPr/>
                </a:tc>
                <a:tc>
                  <a:txBody>
                    <a:bodyPr/>
                    <a:lstStyle/>
                    <a:p>
                      <a:r>
                        <a:rPr lang="en-US" dirty="0" smtClean="0"/>
                        <a:t>School of medicine </a:t>
                      </a:r>
                      <a:endParaRPr lang="en-US" dirty="0"/>
                    </a:p>
                  </a:txBody>
                  <a:tcPr/>
                </a:tc>
              </a:tr>
              <a:tr h="370840">
                <a:tc>
                  <a:txBody>
                    <a:bodyPr/>
                    <a:lstStyle/>
                    <a:p>
                      <a:r>
                        <a:rPr lang="en-US" dirty="0" smtClean="0"/>
                        <a:t>Corse Title </a:t>
                      </a:r>
                      <a:endParaRPr lang="en-US" dirty="0"/>
                    </a:p>
                  </a:txBody>
                  <a:tcPr/>
                </a:tc>
                <a:tc>
                  <a:txBody>
                    <a:bodyPr/>
                    <a:lstStyle/>
                    <a:p>
                      <a:r>
                        <a:rPr lang="en-US" dirty="0" smtClean="0"/>
                        <a:t>Ethics and law </a:t>
                      </a:r>
                      <a:endParaRPr lang="en-US" dirty="0"/>
                    </a:p>
                  </a:txBody>
                  <a:tcPr/>
                </a:tc>
              </a:tr>
              <a:tr h="370840">
                <a:tc>
                  <a:txBody>
                    <a:bodyPr/>
                    <a:lstStyle/>
                    <a:p>
                      <a:r>
                        <a:rPr lang="en-US" dirty="0" smtClean="0"/>
                        <a:t>Program (Target Group)</a:t>
                      </a:r>
                      <a:endParaRPr lang="en-US" dirty="0"/>
                    </a:p>
                  </a:txBody>
                  <a:tcPr/>
                </a:tc>
                <a:tc>
                  <a:txBody>
                    <a:bodyPr/>
                    <a:lstStyle/>
                    <a:p>
                      <a:r>
                        <a:rPr lang="en-US" dirty="0" smtClean="0"/>
                        <a:t>Under graduate medical/anesthesia  students(MD)</a:t>
                      </a:r>
                      <a:r>
                        <a:rPr lang="en-US" dirty="0" err="1" smtClean="0"/>
                        <a:t>Bsc</a:t>
                      </a:r>
                      <a:r>
                        <a:rPr lang="en-US" smtClean="0"/>
                        <a:t> </a:t>
                      </a:r>
                      <a:endParaRPr lang="en-US" dirty="0"/>
                    </a:p>
                  </a:txBody>
                  <a:tcPr/>
                </a:tc>
              </a:tr>
              <a:tr h="370840">
                <a:tc>
                  <a:txBody>
                    <a:bodyPr/>
                    <a:lstStyle/>
                    <a:p>
                      <a:r>
                        <a:rPr lang="en-US" dirty="0" smtClean="0"/>
                        <a:t>Module Title </a:t>
                      </a:r>
                      <a:endParaRPr lang="en-US" dirty="0"/>
                    </a:p>
                  </a:txBody>
                  <a:tcPr/>
                </a:tc>
                <a:tc>
                  <a:txBody>
                    <a:bodyPr/>
                    <a:lstStyle/>
                    <a:p>
                      <a:r>
                        <a:rPr lang="en-US" dirty="0" smtClean="0"/>
                        <a:t>Medical</a:t>
                      </a:r>
                      <a:r>
                        <a:rPr lang="en-US" baseline="0" dirty="0" smtClean="0"/>
                        <a:t> ethics </a:t>
                      </a:r>
                      <a:endParaRPr lang="en-US" dirty="0"/>
                    </a:p>
                  </a:txBody>
                  <a:tcPr/>
                </a:tc>
              </a:tr>
              <a:tr h="370840">
                <a:tc>
                  <a:txBody>
                    <a:bodyPr/>
                    <a:lstStyle/>
                    <a:p>
                      <a:r>
                        <a:rPr lang="en-US" dirty="0" smtClean="0"/>
                        <a:t>Module Code </a:t>
                      </a:r>
                      <a:endParaRPr lang="en-US" dirty="0"/>
                    </a:p>
                  </a:txBody>
                  <a:tcPr/>
                </a:tc>
                <a:tc>
                  <a:txBody>
                    <a:bodyPr/>
                    <a:lstStyle/>
                    <a:p>
                      <a:r>
                        <a:rPr lang="en-US" dirty="0" smtClean="0"/>
                        <a:t>-</a:t>
                      </a:r>
                      <a:endParaRPr lang="en-US" dirty="0"/>
                    </a:p>
                  </a:txBody>
                  <a:tcPr/>
                </a:tc>
              </a:tr>
              <a:tr h="370840">
                <a:tc>
                  <a:txBody>
                    <a:bodyPr/>
                    <a:lstStyle/>
                    <a:p>
                      <a:r>
                        <a:rPr lang="en-US" dirty="0" smtClean="0"/>
                        <a:t>Module ECTS</a:t>
                      </a:r>
                      <a:endParaRPr lang="en-US" dirty="0"/>
                    </a:p>
                  </a:txBody>
                  <a:tcPr/>
                </a:tc>
                <a:tc>
                  <a:txBody>
                    <a:bodyPr/>
                    <a:lstStyle/>
                    <a:p>
                      <a:r>
                        <a:rPr lang="en-US" dirty="0" smtClean="0"/>
                        <a:t>-</a:t>
                      </a:r>
                      <a:endParaRPr lang="en-US" dirty="0"/>
                    </a:p>
                  </a:txBody>
                  <a:tcPr/>
                </a:tc>
              </a:tr>
              <a:tr h="370840">
                <a:tc>
                  <a:txBody>
                    <a:bodyPr/>
                    <a:lstStyle/>
                    <a:p>
                      <a:r>
                        <a:rPr lang="en-US" dirty="0" smtClean="0"/>
                        <a:t>Instructors Name </a:t>
                      </a:r>
                      <a:endParaRPr lang="en-US" dirty="0"/>
                    </a:p>
                  </a:txBody>
                  <a:tcPr/>
                </a:tc>
                <a:tc>
                  <a:txBody>
                    <a:bodyPr/>
                    <a:lstStyle/>
                    <a:p>
                      <a:r>
                        <a:rPr lang="en-US" dirty="0" err="1" smtClean="0"/>
                        <a:t>Leulayehu</a:t>
                      </a:r>
                      <a:r>
                        <a:rPr lang="en-US" baseline="0" dirty="0" smtClean="0"/>
                        <a:t> </a:t>
                      </a:r>
                      <a:r>
                        <a:rPr lang="en-US" baseline="0" dirty="0" err="1" smtClean="0"/>
                        <a:t>akalu</a:t>
                      </a:r>
                      <a:r>
                        <a:rPr lang="en-US" baseline="0" dirty="0" smtClean="0"/>
                        <a:t> (Ass .professor )</a:t>
                      </a:r>
                      <a:endParaRPr lang="en-US" dirty="0"/>
                    </a:p>
                  </a:txBody>
                  <a:tcPr/>
                </a:tc>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Students and instructors work load </a:t>
            </a:r>
            <a:endParaRPr lang="en-US" dirty="0"/>
          </a:p>
        </p:txBody>
      </p:sp>
      <p:graphicFrame>
        <p:nvGraphicFramePr>
          <p:cNvPr id="4" name="Content Placeholder 3"/>
          <p:cNvGraphicFramePr>
            <a:graphicFrameLocks noGrp="1"/>
          </p:cNvGraphicFramePr>
          <p:nvPr>
            <p:ph idx="1"/>
          </p:nvPr>
        </p:nvGraphicFramePr>
        <p:xfrm>
          <a:off x="457200" y="1935163"/>
          <a:ext cx="8229599" cy="3139440"/>
        </p:xfrm>
        <a:graphic>
          <a:graphicData uri="http://schemas.openxmlformats.org/drawingml/2006/table">
            <a:tbl>
              <a:tblPr firstRow="1" bandRow="1">
                <a:tableStyleId>{5C22544A-7EE6-4342-B048-85BDC9FD1C3A}</a:tableStyleId>
              </a:tblPr>
              <a:tblGrid>
                <a:gridCol w="1175657"/>
                <a:gridCol w="1175657"/>
                <a:gridCol w="1175657"/>
                <a:gridCol w="1175657"/>
                <a:gridCol w="1175657"/>
                <a:gridCol w="1175657"/>
                <a:gridCol w="1175657"/>
              </a:tblGrid>
              <a:tr h="370840">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r>
                        <a:rPr lang="en-US" dirty="0" smtClean="0"/>
                        <a:t>Lecture </a:t>
                      </a:r>
                      <a:endParaRPr lang="en-US" dirty="0"/>
                    </a:p>
                  </a:txBody>
                  <a:tcPr/>
                </a:tc>
                <a:tc>
                  <a:txBody>
                    <a:bodyPr/>
                    <a:lstStyle/>
                    <a:p>
                      <a:r>
                        <a:rPr lang="en-US" dirty="0" smtClean="0"/>
                        <a:t>Assignment</a:t>
                      </a:r>
                      <a:r>
                        <a:rPr lang="en-US" baseline="0" dirty="0" smtClean="0"/>
                        <a:t> </a:t>
                      </a:r>
                      <a:endParaRPr lang="en-US" dirty="0"/>
                    </a:p>
                  </a:txBody>
                  <a:tcPr/>
                </a:tc>
                <a:tc>
                  <a:txBody>
                    <a:bodyPr/>
                    <a:lstStyle/>
                    <a:p>
                      <a:r>
                        <a:rPr lang="en-US" dirty="0" smtClean="0"/>
                        <a:t>Seminars </a:t>
                      </a:r>
                      <a:endParaRPr lang="en-US" dirty="0"/>
                    </a:p>
                  </a:txBody>
                  <a:tcPr/>
                </a:tc>
                <a:tc>
                  <a:txBody>
                    <a:bodyPr/>
                    <a:lstStyle/>
                    <a:p>
                      <a:r>
                        <a:rPr lang="en-US" dirty="0" smtClean="0"/>
                        <a:t>Home study </a:t>
                      </a:r>
                      <a:endParaRPr lang="en-US" dirty="0"/>
                    </a:p>
                  </a:txBody>
                  <a:tcPr/>
                </a:tc>
                <a:tc>
                  <a:txBody>
                    <a:bodyPr/>
                    <a:lstStyle/>
                    <a:p>
                      <a:r>
                        <a:rPr lang="en-US" dirty="0" smtClean="0"/>
                        <a:t>Case presentation </a:t>
                      </a:r>
                      <a:endParaRPr lang="en-US" dirty="0"/>
                    </a:p>
                  </a:txBody>
                  <a:tcPr/>
                </a:tc>
                <a:tc>
                  <a:txBody>
                    <a:bodyPr/>
                    <a:lstStyle/>
                    <a:p>
                      <a:r>
                        <a:rPr lang="en-US" dirty="0" smtClean="0"/>
                        <a:t>Role play </a:t>
                      </a:r>
                      <a:endParaRPr lang="en-US" dirty="0"/>
                    </a:p>
                  </a:txBody>
                  <a:tcPr/>
                </a:tc>
                <a:tc>
                  <a:txBody>
                    <a:bodyPr/>
                    <a:lstStyle/>
                    <a:p>
                      <a:r>
                        <a:rPr lang="en-US" dirty="0" smtClean="0"/>
                        <a:t>Total </a:t>
                      </a:r>
                      <a:endParaRPr lang="en-US" dirty="0"/>
                    </a:p>
                  </a:txBody>
                  <a:tcPr/>
                </a:tc>
              </a:tr>
              <a:tr h="370840">
                <a:tc>
                  <a:txBody>
                    <a:bodyPr/>
                    <a:lstStyle/>
                    <a:p>
                      <a:r>
                        <a:rPr lang="en-US" dirty="0" smtClean="0"/>
                        <a:t>10hrs</a:t>
                      </a:r>
                      <a:r>
                        <a:rPr lang="en-US" baseline="0" dirty="0" smtClean="0"/>
                        <a:t> </a:t>
                      </a:r>
                      <a:endParaRPr lang="en-US" dirty="0"/>
                    </a:p>
                  </a:txBody>
                  <a:tcPr/>
                </a:tc>
                <a:tc>
                  <a:txBody>
                    <a:bodyPr/>
                    <a:lstStyle/>
                    <a:p>
                      <a:r>
                        <a:rPr lang="en-US" dirty="0" smtClean="0"/>
                        <a:t>6 hrs </a:t>
                      </a:r>
                      <a:endParaRPr lang="en-US" dirty="0"/>
                    </a:p>
                  </a:txBody>
                  <a:tcPr/>
                </a:tc>
                <a:tc>
                  <a:txBody>
                    <a:bodyPr/>
                    <a:lstStyle/>
                    <a:p>
                      <a:r>
                        <a:rPr lang="en-US" dirty="0" smtClean="0"/>
                        <a:t>6 hrs </a:t>
                      </a:r>
                      <a:endParaRPr lang="en-US" dirty="0"/>
                    </a:p>
                  </a:txBody>
                  <a:tcPr/>
                </a:tc>
                <a:tc>
                  <a:txBody>
                    <a:bodyPr/>
                    <a:lstStyle/>
                    <a:p>
                      <a:r>
                        <a:rPr lang="en-US" dirty="0" smtClean="0"/>
                        <a:t>10 hrs </a:t>
                      </a:r>
                      <a:endParaRPr lang="en-US" dirty="0"/>
                    </a:p>
                  </a:txBody>
                  <a:tcPr/>
                </a:tc>
                <a:tc>
                  <a:txBody>
                    <a:bodyPr/>
                    <a:lstStyle/>
                    <a:p>
                      <a:r>
                        <a:rPr lang="en-US" dirty="0" smtClean="0"/>
                        <a:t>10 hrs </a:t>
                      </a:r>
                      <a:endParaRPr lang="en-US" dirty="0"/>
                    </a:p>
                  </a:txBody>
                  <a:tcPr/>
                </a:tc>
                <a:tc>
                  <a:txBody>
                    <a:bodyPr/>
                    <a:lstStyle/>
                    <a:p>
                      <a:r>
                        <a:rPr lang="en-US" dirty="0" smtClean="0"/>
                        <a:t>10 hrs </a:t>
                      </a:r>
                      <a:endParaRPr lang="en-US" dirty="0"/>
                    </a:p>
                  </a:txBody>
                  <a:tcPr/>
                </a:tc>
                <a:tc>
                  <a:txBody>
                    <a:bodyPr/>
                    <a:lstStyle/>
                    <a:p>
                      <a:r>
                        <a:rPr lang="en-US" dirty="0" smtClean="0"/>
                        <a:t>56 hrs</a:t>
                      </a:r>
                      <a:endParaRPr lang="en-US" dirty="0"/>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Assessment evaluation and grading system </a:t>
            </a:r>
            <a:endParaRPr lang="en-US" dirty="0"/>
          </a:p>
        </p:txBody>
      </p:sp>
      <p:graphicFrame>
        <p:nvGraphicFramePr>
          <p:cNvPr id="4" name="Content Placeholder 3"/>
          <p:cNvGraphicFramePr>
            <a:graphicFrameLocks noGrp="1"/>
          </p:cNvGraphicFramePr>
          <p:nvPr>
            <p:ph idx="1"/>
          </p:nvPr>
        </p:nvGraphicFramePr>
        <p:xfrm>
          <a:off x="457200" y="1935163"/>
          <a:ext cx="8229600" cy="2966720"/>
        </p:xfrm>
        <a:graphic>
          <a:graphicData uri="http://schemas.openxmlformats.org/drawingml/2006/table">
            <a:tbl>
              <a:tblPr firstRow="1" bandRow="1">
                <a:tableStyleId>{5C22544A-7EE6-4342-B048-85BDC9FD1C3A}</a:tableStyleId>
              </a:tblPr>
              <a:tblGrid>
                <a:gridCol w="4114800"/>
                <a:gridCol w="4114800"/>
              </a:tblGrid>
              <a:tr h="370840">
                <a:tc>
                  <a:txBody>
                    <a:bodyPr/>
                    <a:lstStyle/>
                    <a:p>
                      <a:r>
                        <a:rPr lang="en-US" dirty="0" smtClean="0"/>
                        <a:t>Method of assessment </a:t>
                      </a:r>
                      <a:endParaRPr lang="en-US" dirty="0"/>
                    </a:p>
                  </a:txBody>
                  <a:tcPr/>
                </a:tc>
                <a:tc>
                  <a:txBody>
                    <a:bodyPr/>
                    <a:lstStyle/>
                    <a:p>
                      <a:r>
                        <a:rPr lang="en-US" dirty="0" smtClean="0"/>
                        <a:t>Grade (value )</a:t>
                      </a:r>
                      <a:endParaRPr lang="en-US" dirty="0"/>
                    </a:p>
                  </a:txBody>
                  <a:tcPr/>
                </a:tc>
              </a:tr>
              <a:tr h="370840">
                <a:tc>
                  <a:txBody>
                    <a:bodyPr/>
                    <a:lstStyle/>
                    <a:p>
                      <a:r>
                        <a:rPr lang="en-US" dirty="0" smtClean="0"/>
                        <a:t>Assignment </a:t>
                      </a:r>
                      <a:endParaRPr lang="en-US" dirty="0"/>
                    </a:p>
                  </a:txBody>
                  <a:tcPr/>
                </a:tc>
                <a:tc>
                  <a:txBody>
                    <a:bodyPr/>
                    <a:lstStyle/>
                    <a:p>
                      <a:r>
                        <a:rPr lang="en-US" dirty="0" smtClean="0"/>
                        <a:t>10%</a:t>
                      </a:r>
                      <a:endParaRPr lang="en-US" dirty="0"/>
                    </a:p>
                  </a:txBody>
                  <a:tcPr/>
                </a:tc>
              </a:tr>
              <a:tr h="370840">
                <a:tc>
                  <a:txBody>
                    <a:bodyPr/>
                    <a:lstStyle/>
                    <a:p>
                      <a:r>
                        <a:rPr lang="en-US" dirty="0" smtClean="0"/>
                        <a:t>Case presentation </a:t>
                      </a:r>
                      <a:endParaRPr lang="en-US" dirty="0"/>
                    </a:p>
                  </a:txBody>
                  <a:tcPr/>
                </a:tc>
                <a:tc>
                  <a:txBody>
                    <a:bodyPr/>
                    <a:lstStyle/>
                    <a:p>
                      <a:r>
                        <a:rPr lang="en-US" dirty="0" smtClean="0"/>
                        <a:t>10%</a:t>
                      </a:r>
                      <a:endParaRPr lang="en-US" dirty="0"/>
                    </a:p>
                  </a:txBody>
                  <a:tcPr/>
                </a:tc>
              </a:tr>
              <a:tr h="370840">
                <a:tc>
                  <a:txBody>
                    <a:bodyPr/>
                    <a:lstStyle/>
                    <a:p>
                      <a:r>
                        <a:rPr lang="en-US" dirty="0" smtClean="0"/>
                        <a:t>First Test</a:t>
                      </a:r>
                      <a:endParaRPr lang="en-US" dirty="0"/>
                    </a:p>
                  </a:txBody>
                  <a:tcPr/>
                </a:tc>
                <a:tc>
                  <a:txBody>
                    <a:bodyPr/>
                    <a:lstStyle/>
                    <a:p>
                      <a:r>
                        <a:rPr lang="en-US" dirty="0" smtClean="0"/>
                        <a:t>15%</a:t>
                      </a:r>
                      <a:endParaRPr lang="en-US" dirty="0"/>
                    </a:p>
                  </a:txBody>
                  <a:tcPr/>
                </a:tc>
              </a:tr>
              <a:tr h="370840">
                <a:tc>
                  <a:txBody>
                    <a:bodyPr/>
                    <a:lstStyle/>
                    <a:p>
                      <a:r>
                        <a:rPr lang="en-US" dirty="0" smtClean="0"/>
                        <a:t>Second test </a:t>
                      </a:r>
                      <a:endParaRPr lang="en-US" dirty="0"/>
                    </a:p>
                  </a:txBody>
                  <a:tcPr/>
                </a:tc>
                <a:tc>
                  <a:txBody>
                    <a:bodyPr/>
                    <a:lstStyle/>
                    <a:p>
                      <a:r>
                        <a:rPr lang="en-US" dirty="0" smtClean="0"/>
                        <a:t>15%</a:t>
                      </a:r>
                      <a:endParaRPr lang="en-US" dirty="0"/>
                    </a:p>
                  </a:txBody>
                  <a:tcPr/>
                </a:tc>
              </a:tr>
              <a:tr h="370840">
                <a:tc>
                  <a:txBody>
                    <a:bodyPr/>
                    <a:lstStyle/>
                    <a:p>
                      <a:r>
                        <a:rPr lang="en-US" dirty="0" smtClean="0"/>
                        <a:t>Final examination </a:t>
                      </a:r>
                      <a:endParaRPr lang="en-US" dirty="0"/>
                    </a:p>
                  </a:txBody>
                  <a:tcPr/>
                </a:tc>
                <a:tc>
                  <a:txBody>
                    <a:bodyPr/>
                    <a:lstStyle/>
                    <a:p>
                      <a:r>
                        <a:rPr lang="en-US" dirty="0" smtClean="0"/>
                        <a:t>50%</a:t>
                      </a:r>
                      <a:endParaRPr lang="en-US" dirty="0"/>
                    </a:p>
                  </a:txBody>
                  <a:tcPr/>
                </a:tc>
              </a:tr>
              <a:tr h="370840">
                <a:tc>
                  <a:txBody>
                    <a:bodyPr/>
                    <a:lstStyle/>
                    <a:p>
                      <a:r>
                        <a:rPr lang="en-US" dirty="0" smtClean="0"/>
                        <a:t>                            Total </a:t>
                      </a:r>
                      <a:endParaRPr lang="en-US" dirty="0"/>
                    </a:p>
                  </a:txBody>
                  <a:tcPr/>
                </a:tc>
                <a:tc>
                  <a:txBody>
                    <a:bodyPr/>
                    <a:lstStyle/>
                    <a:p>
                      <a:r>
                        <a:rPr lang="en-US" dirty="0" smtClean="0"/>
                        <a:t>100%</a:t>
                      </a:r>
                      <a:endParaRPr lang="en-US" dirty="0"/>
                    </a:p>
                  </a:txBody>
                  <a:tcPr/>
                </a:tc>
              </a:tr>
              <a:tr h="370840">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Teaching and learning methods </a:t>
            </a:r>
            <a:endParaRPr lang="en-US" dirty="0"/>
          </a:p>
        </p:txBody>
      </p:sp>
      <p:sp>
        <p:nvSpPr>
          <p:cNvPr id="3" name="Content Placeholder 2"/>
          <p:cNvSpPr>
            <a:spLocks noGrp="1"/>
          </p:cNvSpPr>
          <p:nvPr>
            <p:ph idx="1"/>
          </p:nvPr>
        </p:nvSpPr>
        <p:spPr/>
        <p:txBody>
          <a:bodyPr/>
          <a:lstStyle/>
          <a:p>
            <a:pPr lvl="0"/>
            <a:r>
              <a:rPr lang="en-US" dirty="0" smtClean="0"/>
              <a:t>Group discussion</a:t>
            </a:r>
            <a:endParaRPr lang="en-US" sz="2800" dirty="0" smtClean="0"/>
          </a:p>
          <a:p>
            <a:pPr lvl="0"/>
            <a:r>
              <a:rPr lang="en-US" dirty="0" smtClean="0"/>
              <a:t>Illustrated lectures </a:t>
            </a:r>
            <a:endParaRPr lang="en-US" sz="2800" dirty="0" smtClean="0"/>
          </a:p>
          <a:p>
            <a:pPr lvl="0"/>
            <a:r>
              <a:rPr lang="en-US" dirty="0" smtClean="0"/>
              <a:t>Case study </a:t>
            </a:r>
            <a:endParaRPr lang="en-US" sz="2800" dirty="0" smtClean="0"/>
          </a:p>
          <a:p>
            <a:pPr lvl="0"/>
            <a:r>
              <a:rPr lang="en-US" dirty="0" smtClean="0"/>
              <a:t>Patient based discussion</a:t>
            </a:r>
            <a:endParaRPr lang="en-US" sz="2800" dirty="0" smtClean="0"/>
          </a:p>
          <a:p>
            <a:pPr lvl="0"/>
            <a:r>
              <a:rPr lang="en-US" dirty="0" smtClean="0"/>
              <a:t>Morning session</a:t>
            </a:r>
            <a:endParaRPr lang="en-US" sz="2800" dirty="0" smtClean="0"/>
          </a:p>
          <a:p>
            <a:pPr lvl="0"/>
            <a:r>
              <a:rPr lang="en-US" dirty="0" smtClean="0"/>
              <a:t>Seminars </a:t>
            </a:r>
          </a:p>
          <a:p>
            <a:pPr lvl="0"/>
            <a:r>
              <a:rPr lang="en-US" dirty="0" smtClean="0"/>
              <a:t>Role play </a:t>
            </a:r>
            <a:endParaRPr lang="en-US" sz="2800" dirty="0" smtClean="0"/>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Main objective </a:t>
            </a:r>
            <a:endParaRPr lang="en-US" dirty="0"/>
          </a:p>
        </p:txBody>
      </p:sp>
      <p:sp>
        <p:nvSpPr>
          <p:cNvPr id="3" name="Content Placeholder 2"/>
          <p:cNvSpPr>
            <a:spLocks noGrp="1"/>
          </p:cNvSpPr>
          <p:nvPr>
            <p:ph idx="1"/>
          </p:nvPr>
        </p:nvSpPr>
        <p:spPr/>
        <p:txBody>
          <a:bodyPr/>
          <a:lstStyle/>
          <a:p>
            <a:pPr marL="684213" indent="-684213" algn="just" eaLnBrk="0" hangingPunct="0">
              <a:buNone/>
            </a:pPr>
            <a:r>
              <a:rPr lang="en-US" dirty="0"/>
              <a:t>Describe the relation ship between ethics and law                                                                               Discuss the measures a medical practice must take to avoid malpractice claims.</a:t>
            </a:r>
          </a:p>
        </p:txBody>
      </p:sp>
    </p:spTree>
    <p:extLst>
      <p:ext uri="{BB962C8B-B14F-4D97-AF65-F5344CB8AC3E}">
        <p14:creationId xmlns:p14="http://schemas.microsoft.com/office/powerpoint/2010/main" val="3562267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Specific Objectives </a:t>
            </a:r>
            <a:endParaRPr lang="en-US" dirty="0"/>
          </a:p>
        </p:txBody>
      </p:sp>
      <p:sp>
        <p:nvSpPr>
          <p:cNvPr id="3" name="Content Placeholder 2"/>
          <p:cNvSpPr>
            <a:spLocks noGrp="1"/>
          </p:cNvSpPr>
          <p:nvPr>
            <p:ph idx="1"/>
          </p:nvPr>
        </p:nvSpPr>
        <p:spPr/>
        <p:txBody>
          <a:bodyPr/>
          <a:lstStyle/>
          <a:p>
            <a:pPr>
              <a:defRPr/>
            </a:pPr>
            <a:r>
              <a:rPr lang="en-US" dirty="0" smtClean="0"/>
              <a:t>Explain ethics and legal conflicts.</a:t>
            </a:r>
          </a:p>
          <a:p>
            <a:pPr>
              <a:defRPr/>
            </a:pPr>
            <a:r>
              <a:rPr lang="en-US" dirty="0" smtClean="0"/>
              <a:t>Evaluate the laws and regulations affecting medical practice (physician and patient rights )</a:t>
            </a:r>
          </a:p>
          <a:p>
            <a:pPr marL="684213" indent="-684213" eaLnBrk="0" hangingPunct="0">
              <a:buNone/>
            </a:pPr>
            <a:r>
              <a:rPr lang="en-US" dirty="0" smtClean="0"/>
              <a:t>Analyze medico legal problems</a:t>
            </a:r>
          </a:p>
          <a:p>
            <a:pPr marL="684213" indent="-684213" eaLnBrk="0" hangingPunct="0">
              <a:buNone/>
            </a:pPr>
            <a:r>
              <a:rPr lang="en-US" dirty="0" smtClean="0"/>
              <a:t>Define </a:t>
            </a:r>
            <a:r>
              <a:rPr lang="en-US" dirty="0"/>
              <a:t>ethics, and  medical law.  </a:t>
            </a:r>
          </a:p>
          <a:p>
            <a:pPr marL="684213" indent="-684213" eaLnBrk="0" hangingPunct="0">
              <a:buNone/>
            </a:pPr>
            <a:r>
              <a:rPr lang="en-US" dirty="0" smtClean="0"/>
              <a:t>Discuss </a:t>
            </a:r>
            <a:r>
              <a:rPr lang="en-US" dirty="0"/>
              <a:t>medical documentation and how it applies to medical law.</a:t>
            </a:r>
          </a:p>
          <a:p>
            <a:pPr>
              <a:defRPr/>
            </a:pPr>
            <a:endParaRPr lang="en-US" dirty="0" smtClean="0"/>
          </a:p>
          <a:p>
            <a:pPr>
              <a:defRPr/>
            </a:pPr>
            <a:endParaRPr lang="en-US" dirty="0" smtClean="0"/>
          </a:p>
          <a:p>
            <a:pPr>
              <a:lnSpc>
                <a:spcPct val="90000"/>
              </a:lnSpc>
            </a:pPr>
            <a:endParaRPr lang="en-US" dirty="0" smtClean="0"/>
          </a:p>
          <a:p>
            <a:pPr>
              <a:lnSpc>
                <a:spcPct val="90000"/>
              </a:lnSpc>
            </a:pPr>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solidFill>
                  <a:srgbClr val="7030A0"/>
                </a:solidFill>
              </a:rPr>
              <a:t>why do we study ethics and </a:t>
            </a:r>
            <a:r>
              <a:rPr lang="en-US" b="1" i="1" dirty="0" smtClean="0">
                <a:solidFill>
                  <a:srgbClr val="7030A0"/>
                </a:solidFill>
              </a:rPr>
              <a:t>law?</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2581404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914400"/>
            <a:ext cx="8229600" cy="1143000"/>
          </a:xfrm>
        </p:spPr>
        <p:txBody>
          <a:bodyPr>
            <a:normAutofit/>
          </a:bodyPr>
          <a:lstStyle/>
          <a:p>
            <a:endParaRPr lang="en-US" dirty="0"/>
          </a:p>
        </p:txBody>
      </p:sp>
      <p:sp>
        <p:nvSpPr>
          <p:cNvPr id="3" name="Content Placeholder 2"/>
          <p:cNvSpPr>
            <a:spLocks noGrp="1"/>
          </p:cNvSpPr>
          <p:nvPr>
            <p:ph idx="1"/>
          </p:nvPr>
        </p:nvSpPr>
        <p:spPr/>
        <p:txBody>
          <a:bodyPr/>
          <a:lstStyle/>
          <a:p>
            <a:pPr lvl="1"/>
            <a:r>
              <a:rPr lang="en-US" sz="3200" dirty="0" smtClean="0"/>
              <a:t>To function at the highest professional level.</a:t>
            </a:r>
          </a:p>
          <a:p>
            <a:pPr lvl="1"/>
            <a:r>
              <a:rPr lang="en-US" sz="3200" dirty="0" smtClean="0"/>
              <a:t>To avoid legal problems</a:t>
            </a:r>
          </a:p>
          <a:p>
            <a:pPr lvl="1"/>
            <a:r>
              <a:rPr lang="en-US" sz="3200" dirty="0" smtClean="0"/>
              <a:t>To maximize patient benefit </a:t>
            </a:r>
          </a:p>
          <a:p>
            <a:pPr lvl="1"/>
            <a:r>
              <a:rPr lang="en-US" sz="3200" dirty="0" smtClean="0"/>
              <a:t>To minimize risks </a:t>
            </a:r>
          </a:p>
          <a:p>
            <a:pPr lvl="1"/>
            <a:r>
              <a:rPr lang="en-US" sz="3200" smtClean="0"/>
              <a:t>Justice </a:t>
            </a:r>
            <a:r>
              <a:rPr lang="en-US" sz="3200" dirty="0" smtClean="0"/>
              <a:t>practice </a:t>
            </a:r>
          </a:p>
          <a:p>
            <a:pPr lvl="1"/>
            <a:r>
              <a:rPr lang="en-US" sz="3200" dirty="0" smtClean="0"/>
              <a:t>Respect Autonomy </a:t>
            </a:r>
            <a:endParaRPr lang="en-US" dirty="0" smtClean="0"/>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Compassionate and respectful care ?</a:t>
            </a:r>
            <a:endParaRPr lang="en-US" dirty="0"/>
          </a:p>
        </p:txBody>
      </p:sp>
      <p:sp>
        <p:nvSpPr>
          <p:cNvPr id="3" name="Content Placeholder 2"/>
          <p:cNvSpPr>
            <a:spLocks noGrp="1"/>
          </p:cNvSpPr>
          <p:nvPr>
            <p:ph idx="1"/>
          </p:nvPr>
        </p:nvSpPr>
        <p:spPr/>
        <p:txBody>
          <a:bodyPr/>
          <a:lstStyle/>
          <a:p>
            <a:pPr lvl="0" algn="just"/>
            <a:r>
              <a:rPr lang="en-US" altLang="en-US" sz="2800" dirty="0"/>
              <a:t>‘All human beings are born free and equal in dignity and rights’. </a:t>
            </a:r>
            <a:r>
              <a:rPr lang="en-US" altLang="en-US" sz="2400" dirty="0"/>
              <a:t>UN </a:t>
            </a:r>
            <a:r>
              <a:rPr lang="en-US" altLang="en-US" sz="1800" dirty="0"/>
              <a:t>human rights declaration</a:t>
            </a:r>
          </a:p>
          <a:p>
            <a:pPr lvl="0" latinLnBrk="1"/>
            <a:r>
              <a:rPr lang="en-US" altLang="en-US" sz="2800" dirty="0">
                <a:solidFill>
                  <a:schemeClr val="dk1"/>
                </a:solidFill>
              </a:rPr>
              <a:t>A major challenge for the health care delivery system </a:t>
            </a:r>
          </a:p>
          <a:p>
            <a:pPr marL="0" lvl="0" indent="0" latinLnBrk="1">
              <a:buNone/>
            </a:pPr>
            <a:r>
              <a:rPr lang="en-US" altLang="en-US" sz="2800" dirty="0" smtClean="0"/>
              <a:t>  </a:t>
            </a:r>
            <a:r>
              <a:rPr lang="en-US" altLang="en-US" sz="2800" dirty="0"/>
              <a:t>Lack of respect to patients and their families</a:t>
            </a:r>
          </a:p>
        </p:txBody>
      </p:sp>
    </p:spTree>
    <p:extLst>
      <p:ext uri="{BB962C8B-B14F-4D97-AF65-F5344CB8AC3E}">
        <p14:creationId xmlns:p14="http://schemas.microsoft.com/office/powerpoint/2010/main" val="5621500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lvl="0" indent="0">
              <a:lnSpc>
                <a:spcPct val="90000"/>
              </a:lnSpc>
              <a:buFont typeface="Wingdings" pitchFamily="2" charset="2"/>
              <a:buChar char="v"/>
            </a:pPr>
            <a:r>
              <a:rPr lang="en-US" altLang="en-US" sz="2800" dirty="0"/>
              <a:t>Many professionals see patients as just ‘cases’ </a:t>
            </a:r>
          </a:p>
          <a:p>
            <a:pPr marL="0" lvl="0" indent="0" algn="just" latinLnBrk="1">
              <a:lnSpc>
                <a:spcPct val="90000"/>
              </a:lnSpc>
            </a:pPr>
            <a:r>
              <a:rPr lang="en-US" altLang="en-US" sz="2800" dirty="0"/>
              <a:t>Breach of ethical laws  and negligence were the causes for complaints related to disability and death.</a:t>
            </a:r>
          </a:p>
          <a:p>
            <a:pPr marL="0" lvl="0" indent="0" algn="just" latinLnBrk="1">
              <a:lnSpc>
                <a:spcPct val="90000"/>
              </a:lnSpc>
              <a:buNone/>
            </a:pPr>
            <a:r>
              <a:rPr lang="en-US" altLang="en-US" sz="2800" dirty="0"/>
              <a:t>                   </a:t>
            </a:r>
          </a:p>
        </p:txBody>
      </p:sp>
    </p:spTree>
    <p:extLst>
      <p:ext uri="{BB962C8B-B14F-4D97-AF65-F5344CB8AC3E}">
        <p14:creationId xmlns:p14="http://schemas.microsoft.com/office/powerpoint/2010/main" val="22226724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lgn="just" latinLnBrk="1">
              <a:lnSpc>
                <a:spcPct val="80000"/>
              </a:lnSpc>
            </a:pPr>
            <a:r>
              <a:rPr lang="en-US" altLang="en-US" sz="2800" dirty="0"/>
              <a:t>Shouting on patients, Mistreatment and </a:t>
            </a:r>
            <a:r>
              <a:rPr lang="en-US" altLang="en-US" sz="2800" dirty="0">
                <a:solidFill>
                  <a:schemeClr val="dk1"/>
                </a:solidFill>
              </a:rPr>
              <a:t>Insulting are some manifestations of health professionals.</a:t>
            </a:r>
          </a:p>
          <a:p>
            <a:pPr lvl="0" algn="just" latinLnBrk="1">
              <a:lnSpc>
                <a:spcPct val="80000"/>
              </a:lnSpc>
            </a:pPr>
            <a:r>
              <a:rPr lang="en-US" altLang="en-US" sz="2800" dirty="0"/>
              <a:t>Lack of role models in many health facilities  </a:t>
            </a:r>
          </a:p>
          <a:p>
            <a:pPr lvl="0" algn="just" latinLnBrk="1">
              <a:lnSpc>
                <a:spcPct val="80000"/>
              </a:lnSpc>
            </a:pPr>
            <a:r>
              <a:rPr lang="en-US" altLang="en-US" sz="2800" dirty="0"/>
              <a:t>The emergence of Medical ethics </a:t>
            </a:r>
          </a:p>
          <a:p>
            <a:endParaRPr lang="en-US" dirty="0"/>
          </a:p>
        </p:txBody>
      </p:sp>
    </p:spTree>
    <p:extLst>
      <p:ext uri="{BB962C8B-B14F-4D97-AF65-F5344CB8AC3E}">
        <p14:creationId xmlns:p14="http://schemas.microsoft.com/office/powerpoint/2010/main" val="4451983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5619961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we need law in Ethiopian context ?</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5060514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dirty="0"/>
          </a:p>
        </p:txBody>
      </p:sp>
      <p:sp>
        <p:nvSpPr>
          <p:cNvPr id="3" name="Content Placeholder 2"/>
          <p:cNvSpPr>
            <a:spLocks noGrp="1"/>
          </p:cNvSpPr>
          <p:nvPr>
            <p:ph idx="1"/>
          </p:nvPr>
        </p:nvSpPr>
        <p:spPr/>
        <p:txBody>
          <a:bodyPr/>
          <a:lstStyle/>
          <a:p>
            <a:pPr marL="0" indent="0">
              <a:buNone/>
            </a:pPr>
            <a:r>
              <a:rPr lang="en-US" dirty="0" smtClean="0"/>
              <a:t>To Govern professionals </a:t>
            </a:r>
          </a:p>
          <a:p>
            <a:pPr marL="0" indent="0">
              <a:buNone/>
            </a:pPr>
            <a:r>
              <a:rPr lang="en-US" dirty="0" smtClean="0"/>
              <a:t>To properly handle medico legal issues </a:t>
            </a:r>
          </a:p>
          <a:p>
            <a:pPr marL="0" indent="0">
              <a:buNone/>
            </a:pPr>
            <a:r>
              <a:rPr lang="en-US" dirty="0" smtClean="0"/>
              <a:t>To minimize risk to the community  </a:t>
            </a:r>
          </a:p>
          <a:p>
            <a:pPr marL="0" indent="0">
              <a:buNone/>
            </a:pPr>
            <a:endParaRPr lang="en-US" dirty="0"/>
          </a:p>
        </p:txBody>
      </p:sp>
    </p:spTree>
    <p:extLst>
      <p:ext uri="{BB962C8B-B14F-4D97-AF65-F5344CB8AC3E}">
        <p14:creationId xmlns:p14="http://schemas.microsoft.com/office/powerpoint/2010/main" val="36171112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complaints </a:t>
            </a:r>
            <a:r>
              <a:rPr lang="en-US" smtClean="0"/>
              <a:t>by patients ?</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2186170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Patient injury </a:t>
            </a:r>
          </a:p>
          <a:p>
            <a:r>
              <a:rPr lang="en-US" dirty="0" smtClean="0"/>
              <a:t>Communication gap </a:t>
            </a:r>
          </a:p>
          <a:p>
            <a:r>
              <a:rPr lang="en-US" dirty="0" smtClean="0"/>
              <a:t>minimum standard not fulfilled </a:t>
            </a:r>
          </a:p>
          <a:p>
            <a:r>
              <a:rPr lang="en-US" dirty="0" smtClean="0"/>
              <a:t>Absence of License </a:t>
            </a:r>
          </a:p>
          <a:p>
            <a:r>
              <a:rPr lang="en-US" dirty="0" smtClean="0"/>
              <a:t>Manipulating and mocked records </a:t>
            </a:r>
          </a:p>
          <a:p>
            <a:r>
              <a:rPr lang="en-US" dirty="0" smtClean="0"/>
              <a:t>Not taking informed consent </a:t>
            </a:r>
          </a:p>
          <a:p>
            <a:endParaRPr lang="en-US" dirty="0"/>
          </a:p>
        </p:txBody>
      </p:sp>
    </p:spTree>
    <p:extLst>
      <p:ext uri="{BB962C8B-B14F-4D97-AF65-F5344CB8AC3E}">
        <p14:creationId xmlns:p14="http://schemas.microsoft.com/office/powerpoint/2010/main" val="350900221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3" name="Content Placeholder 2"/>
          <p:cNvSpPr>
            <a:spLocks noGrp="1"/>
          </p:cNvSpPr>
          <p:nvPr>
            <p:ph idx="1"/>
          </p:nvPr>
        </p:nvSpPr>
        <p:spPr/>
        <p:txBody>
          <a:bodyPr/>
          <a:lstStyle/>
          <a:p>
            <a:r>
              <a:rPr lang="en-US" dirty="0" smtClean="0"/>
              <a:t>Delayed referral </a:t>
            </a:r>
          </a:p>
          <a:p>
            <a:r>
              <a:rPr lang="en-US" dirty="0" smtClean="0"/>
              <a:t>Absence from working area </a:t>
            </a:r>
          </a:p>
          <a:p>
            <a:r>
              <a:rPr lang="en-US" dirty="0" smtClean="0"/>
              <a:t>Confidentiality </a:t>
            </a:r>
          </a:p>
          <a:p>
            <a:r>
              <a:rPr lang="en-US" dirty="0" smtClean="0"/>
              <a:t>Not admitting mistakes (Apology )</a:t>
            </a:r>
            <a:endParaRPr lang="en-US" dirty="0"/>
          </a:p>
        </p:txBody>
      </p:sp>
    </p:spTree>
    <p:extLst>
      <p:ext uri="{BB962C8B-B14F-4D97-AF65-F5344CB8AC3E}">
        <p14:creationId xmlns:p14="http://schemas.microsoft.com/office/powerpoint/2010/main" val="1083561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Health professionals regulations in Ethiopia </a:t>
            </a:r>
            <a:endParaRPr lang="en-US" dirty="0"/>
          </a:p>
        </p:txBody>
      </p:sp>
      <p:sp>
        <p:nvSpPr>
          <p:cNvPr id="3" name="Content Placeholder 2"/>
          <p:cNvSpPr>
            <a:spLocks noGrp="1"/>
          </p:cNvSpPr>
          <p:nvPr>
            <p:ph idx="1"/>
          </p:nvPr>
        </p:nvSpPr>
        <p:spPr/>
        <p:txBody>
          <a:bodyPr>
            <a:normAutofit fontScale="92500" lnSpcReduction="10000"/>
          </a:bodyPr>
          <a:lstStyle/>
          <a:p>
            <a:r>
              <a:rPr lang="en-US" sz="3200" dirty="0"/>
              <a:t>1941-------------Proclamation No .100/1941</a:t>
            </a:r>
          </a:p>
          <a:p>
            <a:r>
              <a:rPr lang="en-US" sz="3200" dirty="0"/>
              <a:t>2002------------661/2002</a:t>
            </a:r>
          </a:p>
          <a:p>
            <a:pPr marL="0" indent="0">
              <a:buNone/>
            </a:pPr>
            <a:r>
              <a:rPr lang="en-US" sz="3200" dirty="0"/>
              <a:t>2006-</a:t>
            </a:r>
            <a:r>
              <a:rPr lang="en-US" sz="3200"/>
              <a:t>----------</a:t>
            </a:r>
            <a:r>
              <a:rPr lang="en-US" sz="3200" smtClean="0"/>
              <a:t>299/  </a:t>
            </a:r>
            <a:r>
              <a:rPr lang="en-US" dirty="0"/>
              <a:t>FMHACA</a:t>
            </a:r>
            <a:endParaRPr lang="en-GB" b="1" u="sng" dirty="0"/>
          </a:p>
          <a:p>
            <a:r>
              <a:rPr lang="en-GB" dirty="0"/>
              <a:t> Regulation No. 189/2009; </a:t>
            </a:r>
          </a:p>
          <a:p>
            <a:r>
              <a:rPr lang="en-GB" dirty="0"/>
              <a:t>PROCLAMATION NO 661/2009</a:t>
            </a:r>
          </a:p>
          <a:p>
            <a:r>
              <a:rPr lang="en-GB" dirty="0"/>
              <a:t>REGULATION NO 299/2006</a:t>
            </a:r>
          </a:p>
          <a:p>
            <a:r>
              <a:rPr lang="en-GB" dirty="0"/>
              <a:t> THE 2005 FDRE CRIMINAL CODE </a:t>
            </a:r>
          </a:p>
          <a:p>
            <a:r>
              <a:rPr lang="en-GB" dirty="0"/>
              <a:t>THE 1960 CIVIL CODE OF ETHIOPIA</a:t>
            </a:r>
          </a:p>
          <a:p>
            <a:r>
              <a:rPr lang="en-GB" dirty="0"/>
              <a:t>HP REGISTRATION AND LICENCING DIRECTIVE (EFMHACA</a:t>
            </a:r>
            <a:endParaRPr lang="en-US" dirty="0"/>
          </a:p>
        </p:txBody>
      </p:sp>
    </p:spTree>
    <p:extLst>
      <p:ext uri="{BB962C8B-B14F-4D97-AF65-F5344CB8AC3E}">
        <p14:creationId xmlns:p14="http://schemas.microsoft.com/office/powerpoint/2010/main" val="32963498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lnSpc>
                <a:spcPct val="150000"/>
              </a:lnSpc>
            </a:pPr>
            <a:r>
              <a:rPr lang="en-GB" dirty="0"/>
              <a:t>To begin with, unlike other professions, health professionals in Ethiopia are considered as insufficiently available professionals.(</a:t>
            </a:r>
            <a:r>
              <a:rPr lang="en-GB" dirty="0" err="1"/>
              <a:t>በበቂ</a:t>
            </a:r>
            <a:r>
              <a:rPr lang="en-GB" dirty="0"/>
              <a:t> </a:t>
            </a:r>
            <a:r>
              <a:rPr lang="en-GB" dirty="0" err="1"/>
              <a:t>መጠን</a:t>
            </a:r>
            <a:r>
              <a:rPr lang="en-GB" dirty="0"/>
              <a:t> </a:t>
            </a:r>
            <a:r>
              <a:rPr lang="en-GB" dirty="0" err="1"/>
              <a:t>የማይገኙ</a:t>
            </a:r>
            <a:r>
              <a:rPr lang="en-GB" dirty="0"/>
              <a:t> </a:t>
            </a:r>
            <a:r>
              <a:rPr lang="en-GB" dirty="0" err="1"/>
              <a:t>ባለሙያዎች</a:t>
            </a:r>
            <a:r>
              <a:rPr lang="en-GB" dirty="0"/>
              <a:t>)</a:t>
            </a:r>
          </a:p>
          <a:p>
            <a:pPr algn="just">
              <a:lnSpc>
                <a:spcPct val="150000"/>
              </a:lnSpc>
            </a:pPr>
            <a:r>
              <a:rPr lang="en-GB" dirty="0">
                <a:solidFill>
                  <a:srgbClr val="FF0000"/>
                </a:solidFill>
              </a:rPr>
              <a:t>Hence, to use the health professionals sufficiently they are subjected by law to register and license, among other reasons</a:t>
            </a:r>
            <a:endParaRPr lang="en-US" dirty="0"/>
          </a:p>
        </p:txBody>
      </p:sp>
    </p:spTree>
    <p:extLst>
      <p:ext uri="{BB962C8B-B14F-4D97-AF65-F5344CB8AC3E}">
        <p14:creationId xmlns:p14="http://schemas.microsoft.com/office/powerpoint/2010/main" val="6585969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GB" dirty="0">
                <a:solidFill>
                  <a:srgbClr val="FF0000"/>
                </a:solidFill>
              </a:rPr>
              <a:t>Once health professionals are registered and  licensed, it is inevitable to regulate their medical competence and medical ethics</a:t>
            </a:r>
            <a:endParaRPr lang="en-US" dirty="0"/>
          </a:p>
          <a:p>
            <a:endParaRPr lang="en-US" dirty="0"/>
          </a:p>
        </p:txBody>
      </p:sp>
    </p:spTree>
    <p:extLst>
      <p:ext uri="{BB962C8B-B14F-4D97-AF65-F5344CB8AC3E}">
        <p14:creationId xmlns:p14="http://schemas.microsoft.com/office/powerpoint/2010/main" val="4085586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defRPr/>
            </a:pPr>
            <a:r>
              <a:rPr lang="en-US" b="1" dirty="0"/>
              <a:t>The total number and complexity of complaints has shown progressive </a:t>
            </a:r>
            <a:r>
              <a:rPr lang="en-US" b="1" u="sng" dirty="0"/>
              <a:t>increase</a:t>
            </a:r>
            <a:r>
              <a:rPr lang="en-US" b="1" dirty="0"/>
              <a:t> in the last few years. </a:t>
            </a:r>
          </a:p>
          <a:p>
            <a:pPr>
              <a:defRPr/>
            </a:pPr>
            <a:r>
              <a:rPr lang="en-US" b="1" dirty="0"/>
              <a:t>Are we protected to practice?</a:t>
            </a:r>
          </a:p>
          <a:p>
            <a:pPr>
              <a:defRPr/>
            </a:pPr>
            <a:r>
              <a:rPr lang="en-US" b="1" dirty="0"/>
              <a:t>Is it an increase in Awareness? </a:t>
            </a:r>
          </a:p>
        </p:txBody>
      </p:sp>
    </p:spTree>
    <p:extLst>
      <p:ext uri="{BB962C8B-B14F-4D97-AF65-F5344CB8AC3E}">
        <p14:creationId xmlns:p14="http://schemas.microsoft.com/office/powerpoint/2010/main" val="24599234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defRPr/>
            </a:pPr>
            <a:r>
              <a:rPr lang="en-US" b="1" dirty="0"/>
              <a:t>Is there really an increase in malpractice/Error?</a:t>
            </a:r>
          </a:p>
          <a:p>
            <a:pPr>
              <a:defRPr/>
            </a:pPr>
            <a:r>
              <a:rPr lang="en-US" b="1" dirty="0"/>
              <a:t> Is it the MEDIA BIAS?</a:t>
            </a:r>
          </a:p>
          <a:p>
            <a:pPr>
              <a:defRPr/>
            </a:pPr>
            <a:r>
              <a:rPr lang="en-US" b="1" dirty="0"/>
              <a:t>Accessibility of committees</a:t>
            </a:r>
            <a:endParaRPr lang="en-US" dirty="0"/>
          </a:p>
          <a:p>
            <a:endParaRPr lang="en-US" dirty="0"/>
          </a:p>
          <a:p>
            <a:endParaRPr lang="en-US" dirty="0"/>
          </a:p>
        </p:txBody>
      </p:sp>
    </p:spTree>
    <p:extLst>
      <p:ext uri="{BB962C8B-B14F-4D97-AF65-F5344CB8AC3E}">
        <p14:creationId xmlns:p14="http://schemas.microsoft.com/office/powerpoint/2010/main" val="1728453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Every professional must know </a:t>
            </a:r>
            <a:endParaRPr lang="en-US" dirty="0"/>
          </a:p>
        </p:txBody>
      </p:sp>
      <p:sp>
        <p:nvSpPr>
          <p:cNvPr id="3" name="Content Placeholder 2"/>
          <p:cNvSpPr>
            <a:spLocks noGrp="1"/>
          </p:cNvSpPr>
          <p:nvPr>
            <p:ph idx="1"/>
          </p:nvPr>
        </p:nvSpPr>
        <p:spPr/>
        <p:txBody>
          <a:bodyPr/>
          <a:lstStyle/>
          <a:p>
            <a:r>
              <a:rPr lang="en-GB" sz="2800" b="1" dirty="0"/>
              <a:t>Ignorance of the law is no excuse</a:t>
            </a:r>
          </a:p>
          <a:p>
            <a:endParaRPr lang="en-US" dirty="0"/>
          </a:p>
        </p:txBody>
      </p:sp>
    </p:spTree>
    <p:extLst>
      <p:ext uri="{BB962C8B-B14F-4D97-AF65-F5344CB8AC3E}">
        <p14:creationId xmlns:p14="http://schemas.microsoft.com/office/powerpoint/2010/main" val="1063906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Ethics </a:t>
            </a:r>
            <a:endParaRPr lang="en-US" dirty="0"/>
          </a:p>
        </p:txBody>
      </p:sp>
      <p:sp>
        <p:nvSpPr>
          <p:cNvPr id="3" name="Content Placeholder 2"/>
          <p:cNvSpPr>
            <a:spLocks noGrp="1"/>
          </p:cNvSpPr>
          <p:nvPr>
            <p:ph idx="1"/>
          </p:nvPr>
        </p:nvSpPr>
        <p:spPr/>
        <p:txBody>
          <a:bodyPr>
            <a:normAutofit/>
          </a:bodyPr>
          <a:lstStyle/>
          <a:p>
            <a:pPr eaLnBrk="0" hangingPunct="0"/>
            <a:r>
              <a:rPr lang="en-US" i="1" dirty="0" smtClean="0">
                <a:solidFill>
                  <a:schemeClr val="accent2"/>
                </a:solidFill>
              </a:rPr>
              <a:t>Ethics</a:t>
            </a:r>
            <a:r>
              <a:rPr lang="en-US" dirty="0" smtClean="0">
                <a:solidFill>
                  <a:schemeClr val="accent2"/>
                </a:solidFill>
              </a:rPr>
              <a:t> </a:t>
            </a:r>
            <a:r>
              <a:rPr lang="en-US" dirty="0" smtClean="0"/>
              <a:t>is a standard of behavior and a concept of right or wrong.                                                                     Ethics –is deciding what is right or wrong in a reasoned, impartial manner</a:t>
            </a:r>
          </a:p>
          <a:p>
            <a:pPr eaLnBrk="0" hangingPunct="0">
              <a:buNone/>
            </a:pPr>
            <a:r>
              <a:rPr lang="en-US" i="1" dirty="0" smtClean="0">
                <a:solidFill>
                  <a:schemeClr val="accent2"/>
                </a:solidFill>
              </a:rPr>
              <a:t>Moral values</a:t>
            </a:r>
            <a:r>
              <a:rPr lang="en-US" dirty="0" smtClean="0"/>
              <a:t> serve as the basis for ethical conduct.</a:t>
            </a:r>
          </a:p>
          <a:p>
            <a:pPr eaLnBrk="0" hangingPunct="0">
              <a:lnSpc>
                <a:spcPct val="70000"/>
              </a:lnSpc>
            </a:pPr>
            <a:endParaRPr lang="en-US" dirty="0" smtClean="0"/>
          </a:p>
          <a:p>
            <a:r>
              <a:rPr lang="en-US" dirty="0" smtClean="0"/>
              <a:t>Ethics  is an inherent characteristics of professional behavior</a:t>
            </a:r>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Law </a:t>
            </a:r>
            <a:endParaRPr lang="en-US" dirty="0"/>
          </a:p>
        </p:txBody>
      </p:sp>
      <p:sp>
        <p:nvSpPr>
          <p:cNvPr id="3" name="Content Placeholder 2"/>
          <p:cNvSpPr>
            <a:spLocks noGrp="1"/>
          </p:cNvSpPr>
          <p:nvPr>
            <p:ph idx="1"/>
          </p:nvPr>
        </p:nvSpPr>
        <p:spPr/>
        <p:txBody>
          <a:bodyPr/>
          <a:lstStyle/>
          <a:p>
            <a:r>
              <a:rPr lang="en-US" dirty="0" smtClean="0"/>
              <a:t>Law is a system of rules that govern a society with the intention of maintaining social order, upholding justice and preventing harm to individuals and property.  Law systems are often based on ethical principles and are enforced by the police and criminal justice systems such as the courts</a:t>
            </a:r>
          </a:p>
          <a:p>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Ethics and law</a:t>
            </a:r>
            <a:endParaRPr lang="en-US" dirty="0"/>
          </a:p>
        </p:txBody>
      </p:sp>
      <p:sp>
        <p:nvSpPr>
          <p:cNvPr id="3" name="Content Placeholder 2"/>
          <p:cNvSpPr>
            <a:spLocks noGrp="1"/>
          </p:cNvSpPr>
          <p:nvPr>
            <p:ph idx="1"/>
          </p:nvPr>
        </p:nvSpPr>
        <p:spPr/>
        <p:txBody>
          <a:bodyPr/>
          <a:lstStyle/>
          <a:p>
            <a:r>
              <a:rPr lang="en-US" dirty="0" smtClean="0"/>
              <a:t>Law defines what must be done </a:t>
            </a:r>
          </a:p>
          <a:p>
            <a:r>
              <a:rPr lang="en-US" dirty="0" smtClean="0"/>
              <a:t>Law provides the boundaries</a:t>
            </a:r>
          </a:p>
          <a:p>
            <a:r>
              <a:rPr lang="en-US" dirty="0" smtClean="0"/>
              <a:t>Law is enforced by the government</a:t>
            </a:r>
          </a:p>
          <a:p>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Which one is superior ?Ethics or Law ?</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982805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Ethics and law are not identical</a:t>
            </a:r>
          </a:p>
          <a:p>
            <a:pPr>
              <a:buNone/>
            </a:pPr>
            <a:r>
              <a:rPr lang="en-US" dirty="0" smtClean="0"/>
              <a:t>Ethics prescribes higher standards of behavior than does the law, and occasionally ethics requires that physicians disobey laws that demand unethical behavior</a:t>
            </a:r>
          </a:p>
          <a:p>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Laws differ significantly from one country to another while ethics is applicable across national boundaries</a:t>
            </a: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relation ship between ethics and law </a:t>
            </a:r>
            <a:endParaRPr lang="en-US" dirty="0"/>
          </a:p>
        </p:txBody>
      </p:sp>
      <p:sp>
        <p:nvSpPr>
          <p:cNvPr id="3" name="Content Placeholder 2"/>
          <p:cNvSpPr>
            <a:spLocks noGrp="1"/>
          </p:cNvSpPr>
          <p:nvPr>
            <p:ph idx="1"/>
          </p:nvPr>
        </p:nvSpPr>
        <p:spPr/>
        <p:txBody>
          <a:bodyPr/>
          <a:lstStyle/>
          <a:p>
            <a:r>
              <a:rPr lang="en-US" dirty="0" smtClean="0"/>
              <a:t>If everyone made the same ethical decisions with the same results, there would be no need for law. In the real world, however, some people engage in conduct that most people agree is wrong</a:t>
            </a:r>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Law is necessary </a:t>
            </a:r>
            <a:endParaRPr lang="en-US" dirty="0"/>
          </a:p>
        </p:txBody>
      </p:sp>
      <p:sp>
        <p:nvSpPr>
          <p:cNvPr id="3" name="Content Placeholder 2"/>
          <p:cNvSpPr>
            <a:spLocks noGrp="1"/>
          </p:cNvSpPr>
          <p:nvPr>
            <p:ph idx="1"/>
          </p:nvPr>
        </p:nvSpPr>
        <p:spPr/>
        <p:txBody>
          <a:bodyPr/>
          <a:lstStyle/>
          <a:p>
            <a:r>
              <a:rPr lang="en-US" b="1" dirty="0" smtClean="0"/>
              <a:t>Law</a:t>
            </a:r>
            <a:r>
              <a:rPr lang="en-US" dirty="0" smtClean="0"/>
              <a:t> is the system of rules of conduct established by the government of a society to maintain stability and justice.</a:t>
            </a:r>
          </a:p>
          <a:p>
            <a:r>
              <a:rPr lang="en-US" dirty="0" smtClean="0"/>
              <a:t>Law defines the legal rights and duties of the people and provides the means of enforcing these rights and duties</a:t>
            </a:r>
          </a:p>
          <a:p>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defRPr/>
            </a:pPr>
            <a:r>
              <a:rPr lang="en-US" dirty="0"/>
              <a:t>Ethics tell us what we should do, it may be subjective. People do not always do what they should do, so laws are defined providing an objective standard of behavior</a:t>
            </a:r>
          </a:p>
          <a:p>
            <a:pPr>
              <a:defRPr/>
            </a:pPr>
            <a:r>
              <a:rPr lang="en-US" dirty="0"/>
              <a:t>Law is important because society needs a system of rules to maintain stability and peace.</a:t>
            </a:r>
          </a:p>
          <a:p>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Ethics and legal conflicts </a:t>
            </a:r>
            <a:endParaRPr lang="en-US" dirty="0"/>
          </a:p>
        </p:txBody>
      </p:sp>
      <p:sp>
        <p:nvSpPr>
          <p:cNvPr id="3" name="Content Placeholder 2"/>
          <p:cNvSpPr>
            <a:spLocks noGrp="1"/>
          </p:cNvSpPr>
          <p:nvPr>
            <p:ph idx="1"/>
          </p:nvPr>
        </p:nvSpPr>
        <p:spPr/>
        <p:txBody>
          <a:bodyPr/>
          <a:lstStyle/>
          <a:p>
            <a:pPr>
              <a:defRPr/>
            </a:pPr>
            <a:r>
              <a:rPr lang="en-US" dirty="0"/>
              <a:t>Because law is made by people, it is imperfect.</a:t>
            </a:r>
          </a:p>
          <a:p>
            <a:pPr>
              <a:defRPr/>
            </a:pPr>
            <a:r>
              <a:rPr lang="en-US" dirty="0"/>
              <a:t>Legislators and judges bring their own personal opinions on ethics to the lawmaking process.</a:t>
            </a:r>
          </a:p>
          <a:p>
            <a:pPr>
              <a:defRPr/>
            </a:pPr>
            <a:r>
              <a:rPr lang="en-US" dirty="0"/>
              <a:t>As a result, ethics and law will sometimes conflict</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Medical law and ethics </a:t>
            </a:r>
            <a:endParaRPr lang="en-US" dirty="0"/>
          </a:p>
        </p:txBody>
      </p:sp>
      <p:sp>
        <p:nvSpPr>
          <p:cNvPr id="3" name="Content Placeholder 2"/>
          <p:cNvSpPr>
            <a:spLocks noGrp="1"/>
          </p:cNvSpPr>
          <p:nvPr>
            <p:ph idx="1"/>
          </p:nvPr>
        </p:nvSpPr>
        <p:spPr/>
        <p:txBody>
          <a:bodyPr/>
          <a:lstStyle/>
          <a:p>
            <a:pPr>
              <a:buNone/>
            </a:pPr>
            <a:r>
              <a:rPr lang="en-US" dirty="0" smtClean="0"/>
              <a:t>Legal system of civil laws are divided into </a:t>
            </a:r>
          </a:p>
          <a:p>
            <a:pPr>
              <a:buNone/>
            </a:pPr>
            <a:r>
              <a:rPr lang="en-US" dirty="0" smtClean="0"/>
              <a:t>Contractual law  </a:t>
            </a:r>
          </a:p>
          <a:p>
            <a:pPr>
              <a:buNone/>
            </a:pPr>
            <a:r>
              <a:rPr lang="en-US" dirty="0" smtClean="0"/>
              <a:t>Tort law</a:t>
            </a:r>
          </a:p>
          <a:p>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Contract </a:t>
            </a:r>
            <a:endParaRPr lang="en-US" dirty="0"/>
          </a:p>
        </p:txBody>
      </p:sp>
      <p:sp>
        <p:nvSpPr>
          <p:cNvPr id="3" name="Content Placeholder 2"/>
          <p:cNvSpPr>
            <a:spLocks noGrp="1"/>
          </p:cNvSpPr>
          <p:nvPr>
            <p:ph idx="1"/>
          </p:nvPr>
        </p:nvSpPr>
        <p:spPr/>
        <p:txBody>
          <a:bodyPr/>
          <a:lstStyle/>
          <a:p>
            <a:r>
              <a:rPr lang="en-US" dirty="0" smtClean="0"/>
              <a:t>A </a:t>
            </a:r>
            <a:r>
              <a:rPr lang="en-US" i="1" dirty="0" smtClean="0">
                <a:solidFill>
                  <a:schemeClr val="folHlink"/>
                </a:solidFill>
              </a:rPr>
              <a:t>contract</a:t>
            </a:r>
            <a:r>
              <a:rPr lang="en-US" dirty="0" smtClean="0"/>
              <a:t> is a voluntary agreement between two parties in which specific promises are made for a consideration.</a:t>
            </a:r>
          </a:p>
          <a:p>
            <a:pPr>
              <a:buNone/>
            </a:pPr>
            <a:r>
              <a:rPr lang="en-US" b="1" dirty="0" smtClean="0"/>
              <a:t>        Elements of contract </a:t>
            </a:r>
          </a:p>
          <a:p>
            <a:pPr>
              <a:buNone/>
            </a:pPr>
            <a:r>
              <a:rPr lang="en-US" dirty="0" smtClean="0"/>
              <a:t>Agreement </a:t>
            </a:r>
          </a:p>
          <a:p>
            <a:pPr>
              <a:buNone/>
            </a:pPr>
            <a:r>
              <a:rPr lang="en-US" dirty="0" smtClean="0"/>
              <a:t>Contractual capacity </a:t>
            </a:r>
          </a:p>
          <a:p>
            <a:pPr>
              <a:buNone/>
            </a:pPr>
            <a:r>
              <a:rPr lang="en-US" dirty="0" smtClean="0"/>
              <a:t>Legal subject matter </a:t>
            </a:r>
          </a:p>
          <a:p>
            <a:pPr>
              <a:buNone/>
            </a:pPr>
            <a:r>
              <a:rPr lang="en-US" dirty="0" smtClean="0"/>
              <a:t>Consideration </a:t>
            </a:r>
          </a:p>
          <a:p>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Medical practice</a:t>
            </a:r>
            <a:endParaRPr lang="en-US" dirty="0"/>
          </a:p>
        </p:txBody>
      </p:sp>
      <p:sp>
        <p:nvSpPr>
          <p:cNvPr id="3" name="Content Placeholder 2"/>
          <p:cNvSpPr>
            <a:spLocks noGrp="1"/>
          </p:cNvSpPr>
          <p:nvPr>
            <p:ph idx="1"/>
          </p:nvPr>
        </p:nvSpPr>
        <p:spPr/>
        <p:txBody>
          <a:bodyPr/>
          <a:lstStyle/>
          <a:p>
            <a:r>
              <a:rPr lang="en-US" dirty="0" smtClean="0"/>
              <a:t>It is a contract </a:t>
            </a:r>
          </a:p>
          <a:p>
            <a:r>
              <a:rPr lang="en-US" dirty="0" smtClean="0"/>
              <a:t>Malpractice is violation of contract </a:t>
            </a:r>
          </a:p>
          <a:p>
            <a:pPr marL="0" indent="0">
              <a:buNone/>
            </a:pPr>
            <a:r>
              <a:rPr lang="en-US" dirty="0" smtClean="0"/>
              <a:t>(standard of treatment /standard of conduct )standard of care </a:t>
            </a:r>
            <a:endParaRPr lang="en-US" dirty="0"/>
          </a:p>
        </p:txBody>
      </p:sp>
    </p:spTree>
    <p:extLst>
      <p:ext uri="{BB962C8B-B14F-4D97-AF65-F5344CB8AC3E}">
        <p14:creationId xmlns:p14="http://schemas.microsoft.com/office/powerpoint/2010/main" val="24159090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Physician and patient contract </a:t>
            </a:r>
            <a:endParaRPr lang="en-US" dirty="0"/>
          </a:p>
        </p:txBody>
      </p:sp>
      <p:sp>
        <p:nvSpPr>
          <p:cNvPr id="3" name="Content Placeholder 2"/>
          <p:cNvSpPr>
            <a:spLocks noGrp="1"/>
          </p:cNvSpPr>
          <p:nvPr>
            <p:ph idx="1"/>
          </p:nvPr>
        </p:nvSpPr>
        <p:spPr/>
        <p:txBody>
          <a:bodyPr/>
          <a:lstStyle/>
          <a:p>
            <a:r>
              <a:rPr lang="en-US" dirty="0" smtClean="0"/>
              <a:t>Reasonable limitations</a:t>
            </a:r>
          </a:p>
          <a:p>
            <a:endParaRPr lang="en-US" dirty="0" smtClean="0"/>
          </a:p>
          <a:p>
            <a:r>
              <a:rPr lang="en-US" dirty="0" smtClean="0"/>
              <a:t>Both parties have rights and responsibilities related to the contract</a:t>
            </a:r>
          </a:p>
          <a:p>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Physician right </a:t>
            </a:r>
            <a:endParaRPr lang="en-US" dirty="0"/>
          </a:p>
        </p:txBody>
      </p:sp>
      <p:sp>
        <p:nvSpPr>
          <p:cNvPr id="3" name="Content Placeholder 2"/>
          <p:cNvSpPr>
            <a:spLocks noGrp="1"/>
          </p:cNvSpPr>
          <p:nvPr>
            <p:ph idx="1"/>
          </p:nvPr>
        </p:nvSpPr>
        <p:spPr/>
        <p:txBody>
          <a:bodyPr/>
          <a:lstStyle/>
          <a:p>
            <a:pPr>
              <a:lnSpc>
                <a:spcPct val="90000"/>
              </a:lnSpc>
            </a:pPr>
            <a:r>
              <a:rPr lang="en-US" sz="2400" dirty="0" smtClean="0"/>
              <a:t>Set up a practice within the boundaries of his or her license to practice medicine</a:t>
            </a:r>
          </a:p>
          <a:p>
            <a:pPr lvl="3">
              <a:lnSpc>
                <a:spcPct val="60000"/>
              </a:lnSpc>
            </a:pPr>
            <a:endParaRPr lang="en-US" sz="1200" dirty="0" smtClean="0"/>
          </a:p>
          <a:p>
            <a:pPr>
              <a:lnSpc>
                <a:spcPct val="90000"/>
              </a:lnSpc>
            </a:pPr>
            <a:r>
              <a:rPr lang="en-US" sz="2400" dirty="0" smtClean="0"/>
              <a:t>Select where to set up an office and establish office hours</a:t>
            </a:r>
          </a:p>
          <a:p>
            <a:pPr lvl="3">
              <a:lnSpc>
                <a:spcPct val="60000"/>
              </a:lnSpc>
            </a:pPr>
            <a:endParaRPr lang="en-US" sz="1200" dirty="0" smtClean="0"/>
          </a:p>
          <a:p>
            <a:pPr>
              <a:lnSpc>
                <a:spcPct val="90000"/>
              </a:lnSpc>
            </a:pPr>
            <a:r>
              <a:rPr lang="en-US" sz="2400" dirty="0" smtClean="0"/>
              <a:t>Specialize</a:t>
            </a:r>
          </a:p>
          <a:p>
            <a:pPr lvl="3">
              <a:lnSpc>
                <a:spcPct val="60000"/>
              </a:lnSpc>
            </a:pPr>
            <a:endParaRPr lang="en-US" sz="1200" dirty="0" smtClean="0"/>
          </a:p>
          <a:p>
            <a:pPr>
              <a:lnSpc>
                <a:spcPct val="90000"/>
              </a:lnSpc>
            </a:pPr>
            <a:r>
              <a:rPr lang="en-US" sz="2400" dirty="0" smtClean="0"/>
              <a:t>Decide which services to provide and how those services will be provided</a:t>
            </a:r>
          </a:p>
          <a:p>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Physician responsibility </a:t>
            </a:r>
            <a:endParaRPr lang="en-US" dirty="0"/>
          </a:p>
        </p:txBody>
      </p:sp>
      <p:sp>
        <p:nvSpPr>
          <p:cNvPr id="3" name="Content Placeholder 2"/>
          <p:cNvSpPr>
            <a:spLocks noGrp="1"/>
          </p:cNvSpPr>
          <p:nvPr>
            <p:ph idx="1"/>
          </p:nvPr>
        </p:nvSpPr>
        <p:spPr/>
        <p:txBody>
          <a:bodyPr/>
          <a:lstStyle/>
          <a:p>
            <a:r>
              <a:rPr lang="en-US" sz="2800" dirty="0" smtClean="0"/>
              <a:t>Physician responsibilities</a:t>
            </a:r>
          </a:p>
          <a:p>
            <a:pPr lvl="1"/>
            <a:r>
              <a:rPr lang="en-US" dirty="0" smtClean="0"/>
              <a:t>Use due care, skill, and judgment </a:t>
            </a:r>
          </a:p>
          <a:p>
            <a:pPr lvl="4"/>
            <a:endParaRPr lang="en-US" sz="1800" dirty="0" smtClean="0"/>
          </a:p>
          <a:p>
            <a:pPr lvl="1"/>
            <a:r>
              <a:rPr lang="en-US" dirty="0" smtClean="0"/>
              <a:t>Keep knowledge up-to-date</a:t>
            </a:r>
          </a:p>
          <a:p>
            <a:pPr lvl="4"/>
            <a:endParaRPr lang="en-US" sz="1800" dirty="0" smtClean="0"/>
          </a:p>
          <a:p>
            <a:pPr lvl="1"/>
            <a:r>
              <a:rPr lang="en-US" dirty="0" smtClean="0"/>
              <a:t>Perform to the best of his or her ability</a:t>
            </a:r>
          </a:p>
          <a:p>
            <a:pPr lvl="4"/>
            <a:endParaRPr lang="en-US" sz="1800" dirty="0" smtClean="0"/>
          </a:p>
          <a:p>
            <a:pPr lvl="1"/>
            <a:r>
              <a:rPr lang="en-US" dirty="0" smtClean="0"/>
              <a:t>Furnish complete information and instructions to the patient</a:t>
            </a:r>
            <a:endParaRPr lang="en-US" sz="3200" dirty="0" smtClean="0"/>
          </a:p>
          <a:p>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Patient rights and responsibilities </a:t>
            </a:r>
            <a:endParaRPr lang="en-US" dirty="0"/>
          </a:p>
        </p:txBody>
      </p:sp>
      <p:sp>
        <p:nvSpPr>
          <p:cNvPr id="3" name="Content Placeholder 2"/>
          <p:cNvSpPr>
            <a:spLocks noGrp="1"/>
          </p:cNvSpPr>
          <p:nvPr>
            <p:ph idx="1"/>
          </p:nvPr>
        </p:nvSpPr>
        <p:spPr/>
        <p:txBody>
          <a:bodyPr/>
          <a:lstStyle/>
          <a:p>
            <a:pPr marL="469900" indent="-469900">
              <a:lnSpc>
                <a:spcPct val="80000"/>
              </a:lnSpc>
              <a:buClr>
                <a:schemeClr val="bg2"/>
              </a:buClr>
              <a:buSzPct val="70000"/>
              <a:buFont typeface="Wingdings" pitchFamily="2" charset="2"/>
              <a:buChar char="o"/>
              <a:defRPr/>
            </a:pPr>
            <a:r>
              <a:rPr lang="en-US" sz="2400" dirty="0"/>
              <a:t>Patients</a:t>
            </a:r>
            <a:r>
              <a:rPr lang="en-US" sz="2000" dirty="0"/>
              <a:t> </a:t>
            </a:r>
          </a:p>
          <a:p>
            <a:pPr marL="908050" lvl="1" indent="-436563">
              <a:lnSpc>
                <a:spcPct val="80000"/>
              </a:lnSpc>
              <a:buClr>
                <a:schemeClr val="accent2"/>
              </a:buClr>
              <a:buSzPct val="75000"/>
              <a:buFont typeface="Wingdings" pitchFamily="2" charset="2"/>
              <a:buChar char="n"/>
              <a:defRPr/>
            </a:pPr>
            <a:r>
              <a:rPr lang="en-US" sz="2000" dirty="0"/>
              <a:t>May choose their physician</a:t>
            </a:r>
          </a:p>
          <a:p>
            <a:pPr marL="2754313" lvl="5" indent="-468313">
              <a:lnSpc>
                <a:spcPct val="80000"/>
              </a:lnSpc>
              <a:buClr>
                <a:schemeClr val="accent1"/>
              </a:buClr>
              <a:buSzPct val="50000"/>
              <a:buFont typeface="Wingdings" pitchFamily="2" charset="2"/>
              <a:buChar char="o"/>
              <a:defRPr/>
            </a:pPr>
            <a:endParaRPr lang="en-US" sz="1600" dirty="0"/>
          </a:p>
          <a:p>
            <a:pPr marL="908050" lvl="1" indent="-436563">
              <a:lnSpc>
                <a:spcPct val="80000"/>
              </a:lnSpc>
              <a:buClr>
                <a:schemeClr val="accent2"/>
              </a:buClr>
              <a:buSzPct val="75000"/>
              <a:buFont typeface="Wingdings" pitchFamily="2" charset="2"/>
              <a:buChar char="n"/>
              <a:defRPr/>
            </a:pPr>
            <a:r>
              <a:rPr lang="en-US" sz="2000" dirty="0"/>
              <a:t>May terminate a physician’s services</a:t>
            </a:r>
          </a:p>
          <a:p>
            <a:pPr marL="2754313" lvl="5" indent="-468313">
              <a:lnSpc>
                <a:spcPct val="80000"/>
              </a:lnSpc>
              <a:buClr>
                <a:schemeClr val="accent1"/>
              </a:buClr>
              <a:buSzPct val="50000"/>
              <a:buFont typeface="Wingdings" pitchFamily="2" charset="2"/>
              <a:buChar char="o"/>
              <a:defRPr/>
            </a:pPr>
            <a:endParaRPr lang="en-US" sz="1600" dirty="0"/>
          </a:p>
          <a:p>
            <a:pPr marL="469900" indent="-469900">
              <a:buClr>
                <a:schemeClr val="bg2"/>
              </a:buClr>
              <a:buSzPct val="70000"/>
              <a:buFont typeface="Wingdings" pitchFamily="2" charset="2"/>
              <a:buChar char="o"/>
              <a:defRPr/>
            </a:pPr>
            <a:r>
              <a:rPr lang="en-US" sz="2400" dirty="0"/>
              <a:t>The Patient Care Partnership</a:t>
            </a:r>
          </a:p>
          <a:p>
            <a:pPr marL="908050" lvl="1" indent="-436563">
              <a:buClr>
                <a:schemeClr val="accent2"/>
              </a:buClr>
              <a:buSzPct val="75000"/>
              <a:buFont typeface="Wingdings" pitchFamily="2" charset="2"/>
              <a:buChar char="n"/>
              <a:defRPr/>
            </a:pPr>
            <a:r>
              <a:rPr lang="en-US" sz="2000" dirty="0"/>
              <a:t>A list of standards that patients can expect in health care</a:t>
            </a:r>
          </a:p>
          <a:p>
            <a:pPr marL="908050" lvl="1" indent="-436563">
              <a:buClr>
                <a:schemeClr val="accent2"/>
              </a:buClr>
              <a:buSzPct val="75000"/>
              <a:buFont typeface="Wingdings" pitchFamily="2" charset="2"/>
              <a:buChar char="n"/>
              <a:defRPr/>
            </a:pPr>
            <a:r>
              <a:rPr lang="en-US" sz="2000" dirty="0"/>
              <a:t>Formerly the Patient’s Bill of Rights</a:t>
            </a:r>
          </a:p>
          <a:p>
            <a:endParaRPr lang="en-US" dirty="0" smtClean="0"/>
          </a:p>
          <a:p>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Patient responsibilities </a:t>
            </a:r>
            <a:endParaRPr lang="en-US" dirty="0"/>
          </a:p>
        </p:txBody>
      </p:sp>
      <p:sp>
        <p:nvSpPr>
          <p:cNvPr id="3" name="Content Placeholder 2"/>
          <p:cNvSpPr>
            <a:spLocks noGrp="1"/>
          </p:cNvSpPr>
          <p:nvPr>
            <p:ph idx="1"/>
          </p:nvPr>
        </p:nvSpPr>
        <p:spPr/>
        <p:txBody>
          <a:bodyPr/>
          <a:lstStyle/>
          <a:p>
            <a:r>
              <a:rPr lang="en-US" sz="2400" dirty="0" smtClean="0"/>
              <a:t>Patient responsibilities</a:t>
            </a:r>
          </a:p>
          <a:p>
            <a:pPr lvl="1"/>
            <a:r>
              <a:rPr lang="en-US" sz="2000" dirty="0" smtClean="0"/>
              <a:t>Follow physician’s instructions and cooperate with care</a:t>
            </a:r>
          </a:p>
          <a:p>
            <a:pPr lvl="4"/>
            <a:endParaRPr lang="en-US" sz="1600" dirty="0" smtClean="0"/>
          </a:p>
          <a:p>
            <a:pPr lvl="1"/>
            <a:r>
              <a:rPr lang="en-US" sz="2000" dirty="0" smtClean="0"/>
              <a:t>Provide relevant information to the physician </a:t>
            </a:r>
          </a:p>
          <a:p>
            <a:pPr lvl="4"/>
            <a:endParaRPr lang="en-US" sz="1400" dirty="0" smtClean="0"/>
          </a:p>
          <a:p>
            <a:pPr lvl="1"/>
            <a:r>
              <a:rPr lang="en-US" sz="2000" dirty="0" smtClean="0"/>
              <a:t>Follow the physician’s orders for treatment</a:t>
            </a:r>
          </a:p>
          <a:p>
            <a:pPr lvl="4"/>
            <a:endParaRPr lang="en-US" sz="1400" dirty="0" smtClean="0"/>
          </a:p>
          <a:p>
            <a:pPr lvl="1"/>
            <a:r>
              <a:rPr lang="en-US" sz="2000" dirty="0" smtClean="0"/>
              <a:t>Pay the fees charged for services provided</a:t>
            </a:r>
            <a:endParaRPr lang="en-US" sz="1800" dirty="0" smtClean="0"/>
          </a:p>
          <a:p>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Negligence </a:t>
            </a:r>
            <a:endParaRPr lang="en-US" dirty="0"/>
          </a:p>
        </p:txBody>
      </p:sp>
      <p:sp>
        <p:nvSpPr>
          <p:cNvPr id="3" name="Content Placeholder 2"/>
          <p:cNvSpPr>
            <a:spLocks noGrp="1"/>
          </p:cNvSpPr>
          <p:nvPr>
            <p:ph idx="1"/>
          </p:nvPr>
        </p:nvSpPr>
        <p:spPr/>
        <p:txBody>
          <a:bodyPr/>
          <a:lstStyle/>
          <a:p>
            <a:r>
              <a:rPr lang="en-US" dirty="0" smtClean="0"/>
              <a:t>If your performance fall below standard of reasonably competent at that level</a:t>
            </a:r>
          </a:p>
          <a:p>
            <a:r>
              <a:rPr lang="en-US" dirty="0" smtClean="0"/>
              <a:t>If there is failure to take all reasonable precautions</a:t>
            </a:r>
          </a:p>
          <a:p>
            <a:r>
              <a:rPr lang="en-US" dirty="0" smtClean="0"/>
              <a:t>If there is negligence in diagnosis administration of drugs or procedures including  patient management or in providing care </a:t>
            </a:r>
          </a:p>
          <a:p>
            <a:endParaRPr lang="en-US" dirty="0" smtClean="0"/>
          </a:p>
          <a:p>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Negligence </a:t>
            </a:r>
            <a:endParaRPr lang="en-US" dirty="0"/>
          </a:p>
        </p:txBody>
      </p:sp>
      <p:sp>
        <p:nvSpPr>
          <p:cNvPr id="3" name="Content Placeholder 2"/>
          <p:cNvSpPr>
            <a:spLocks noGrp="1"/>
          </p:cNvSpPr>
          <p:nvPr>
            <p:ph idx="1"/>
          </p:nvPr>
        </p:nvSpPr>
        <p:spPr/>
        <p:txBody>
          <a:bodyPr/>
          <a:lstStyle/>
          <a:p>
            <a:r>
              <a:rPr lang="en-US" dirty="0" smtClean="0"/>
              <a:t>Is failure to exercise the care that is reasonably prudent person would exercise in like circumstances .</a:t>
            </a:r>
          </a:p>
          <a:p>
            <a:pPr marL="0" indent="0">
              <a:buNone/>
            </a:pPr>
            <a:r>
              <a:rPr lang="en-US" dirty="0" smtClean="0"/>
              <a:t>    Cases of negligence is often filled in civil courts .</a:t>
            </a:r>
          </a:p>
          <a:p>
            <a:pPr marL="0" indent="0">
              <a:buNone/>
            </a:pPr>
            <a:endParaRPr lang="en-US" dirty="0"/>
          </a:p>
        </p:txBody>
      </p:sp>
    </p:spTree>
    <p:extLst>
      <p:ext uri="{BB962C8B-B14F-4D97-AF65-F5344CB8AC3E}">
        <p14:creationId xmlns:p14="http://schemas.microsoft.com/office/powerpoint/2010/main" val="38733595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Malpractice </a:t>
            </a:r>
            <a:endParaRPr lang="en-US" dirty="0"/>
          </a:p>
        </p:txBody>
      </p:sp>
      <p:sp>
        <p:nvSpPr>
          <p:cNvPr id="3" name="Content Placeholder 2"/>
          <p:cNvSpPr>
            <a:spLocks noGrp="1"/>
          </p:cNvSpPr>
          <p:nvPr>
            <p:ph idx="1"/>
          </p:nvPr>
        </p:nvSpPr>
        <p:spPr/>
        <p:txBody>
          <a:bodyPr/>
          <a:lstStyle/>
          <a:p>
            <a:pPr>
              <a:buNone/>
            </a:pPr>
            <a:r>
              <a:rPr lang="en-US" dirty="0"/>
              <a:t> </a:t>
            </a:r>
            <a:r>
              <a:rPr lang="en-US" dirty="0" smtClean="0"/>
              <a:t> 1-Proffessional misconduct</a:t>
            </a:r>
          </a:p>
          <a:p>
            <a:pPr>
              <a:buNone/>
            </a:pPr>
            <a:r>
              <a:rPr lang="en-US" dirty="0" smtClean="0"/>
              <a:t>   2-Failure in carrying out professional duties with care competency and integrity in the best interests of the patient</a:t>
            </a:r>
          </a:p>
          <a:p>
            <a:pPr>
              <a:buNone/>
            </a:pPr>
            <a:r>
              <a:rPr lang="en-US" dirty="0" smtClean="0"/>
              <a:t>    3-Insufficient knowledge and skills /defective application</a:t>
            </a:r>
          </a:p>
          <a:p>
            <a:pPr>
              <a:buNone/>
            </a:pPr>
            <a:r>
              <a:rPr lang="en-US" dirty="0" smtClean="0"/>
              <a:t>     4-Wrong </a:t>
            </a:r>
            <a:r>
              <a:rPr lang="en-US" dirty="0"/>
              <a:t>attitude </a:t>
            </a:r>
            <a:endParaRPr lang="en-US" dirty="0" smtClean="0"/>
          </a:p>
          <a:p>
            <a:pPr>
              <a:buNone/>
            </a:pPr>
            <a:r>
              <a:rPr lang="en-US" dirty="0" smtClean="0"/>
              <a:t>Malpractice </a:t>
            </a:r>
            <a:r>
              <a:rPr lang="en-US" dirty="0"/>
              <a:t>–is type of negligence which is often called professional negligence </a:t>
            </a:r>
          </a:p>
          <a:p>
            <a:pPr>
              <a:buNone/>
            </a:pPr>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do health workers commit malpractice ?</a:t>
            </a:r>
            <a:endParaRPr lang="en-US" dirty="0"/>
          </a:p>
        </p:txBody>
      </p:sp>
      <p:sp>
        <p:nvSpPr>
          <p:cNvPr id="3" name="Content Placeholder 2"/>
          <p:cNvSpPr>
            <a:spLocks noGrp="1"/>
          </p:cNvSpPr>
          <p:nvPr>
            <p:ph idx="1"/>
          </p:nvPr>
        </p:nvSpPr>
        <p:spPr/>
        <p:txBody>
          <a:bodyPr/>
          <a:lstStyle/>
          <a:p>
            <a:r>
              <a:rPr lang="en-US" dirty="0" smtClean="0"/>
              <a:t>It is difficult and complex </a:t>
            </a:r>
          </a:p>
          <a:p>
            <a:r>
              <a:rPr lang="en-US" dirty="0" smtClean="0"/>
              <a:t>Systems and process designs have substantial effects </a:t>
            </a:r>
            <a:endParaRPr lang="en-US" dirty="0"/>
          </a:p>
        </p:txBody>
      </p:sp>
    </p:spTree>
    <p:extLst>
      <p:ext uri="{BB962C8B-B14F-4D97-AF65-F5344CB8AC3E}">
        <p14:creationId xmlns:p14="http://schemas.microsoft.com/office/powerpoint/2010/main" val="18220155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Common causes for medical Error </a:t>
            </a:r>
            <a:endParaRPr lang="en-US" dirty="0"/>
          </a:p>
        </p:txBody>
      </p:sp>
      <p:sp>
        <p:nvSpPr>
          <p:cNvPr id="3" name="Content Placeholder 2"/>
          <p:cNvSpPr>
            <a:spLocks noGrp="1"/>
          </p:cNvSpPr>
          <p:nvPr>
            <p:ph idx="1"/>
          </p:nvPr>
        </p:nvSpPr>
        <p:spPr/>
        <p:txBody>
          <a:bodyPr/>
          <a:lstStyle/>
          <a:p>
            <a:r>
              <a:rPr lang="en-US" dirty="0" smtClean="0"/>
              <a:t>Individual Practitioners mistake</a:t>
            </a:r>
          </a:p>
          <a:p>
            <a:r>
              <a:rPr lang="en-US" dirty="0" smtClean="0"/>
              <a:t>Patient mistake Laboratory mistakes </a:t>
            </a:r>
          </a:p>
          <a:p>
            <a:r>
              <a:rPr lang="en-US" dirty="0" smtClean="0"/>
              <a:t>Surgical mistakes </a:t>
            </a:r>
          </a:p>
          <a:p>
            <a:r>
              <a:rPr lang="en-US" dirty="0" smtClean="0"/>
              <a:t>Hospital mistakes </a:t>
            </a:r>
          </a:p>
          <a:p>
            <a:r>
              <a:rPr lang="en-US" dirty="0" smtClean="0"/>
              <a:t>Pharmacy and dispensary mistake  </a:t>
            </a:r>
            <a:endParaRPr lang="en-US" dirty="0"/>
          </a:p>
        </p:txBody>
      </p:sp>
    </p:spTree>
    <p:extLst>
      <p:ext uri="{BB962C8B-B14F-4D97-AF65-F5344CB8AC3E}">
        <p14:creationId xmlns:p14="http://schemas.microsoft.com/office/powerpoint/2010/main" val="4429617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ICU 1.7 Medical errors/day </a:t>
            </a:r>
          </a:p>
          <a:p>
            <a:r>
              <a:rPr lang="en-US" dirty="0" smtClean="0"/>
              <a:t>Preventable errors the third most leading cause of death </a:t>
            </a:r>
            <a:endParaRPr lang="en-US" dirty="0"/>
          </a:p>
        </p:txBody>
      </p:sp>
    </p:spTree>
    <p:extLst>
      <p:ext uri="{BB962C8B-B14F-4D97-AF65-F5344CB8AC3E}">
        <p14:creationId xmlns:p14="http://schemas.microsoft.com/office/powerpoint/2010/main" val="40655950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Magnitude of malpractice Globally </a:t>
            </a:r>
            <a:endParaRPr lang="en-US" dirty="0"/>
          </a:p>
        </p:txBody>
      </p:sp>
      <p:sp>
        <p:nvSpPr>
          <p:cNvPr id="3" name="Content Placeholder 2"/>
          <p:cNvSpPr>
            <a:spLocks noGrp="1"/>
          </p:cNvSpPr>
          <p:nvPr>
            <p:ph idx="1"/>
          </p:nvPr>
        </p:nvSpPr>
        <p:spPr/>
        <p:txBody>
          <a:bodyPr/>
          <a:lstStyle/>
          <a:p>
            <a:r>
              <a:rPr lang="en-US" dirty="0" smtClean="0"/>
              <a:t>More than 400000 deaths associated with preventable harm done to patients in hospital settings .(USA)</a:t>
            </a:r>
          </a:p>
          <a:p>
            <a:r>
              <a:rPr lang="en-US" dirty="0" smtClean="0"/>
              <a:t>Hospital errors third leading cause of death in America </a:t>
            </a:r>
          </a:p>
          <a:p>
            <a:r>
              <a:rPr lang="en-US" dirty="0" smtClean="0"/>
              <a:t>Huge economic impact </a:t>
            </a:r>
          </a:p>
          <a:p>
            <a:r>
              <a:rPr lang="en-US" dirty="0" smtClean="0"/>
              <a:t>Defensive medicine </a:t>
            </a:r>
          </a:p>
          <a:p>
            <a:r>
              <a:rPr lang="en-US" dirty="0" smtClean="0"/>
              <a:t>Health service management on quality  </a:t>
            </a:r>
          </a:p>
          <a:p>
            <a:endParaRPr lang="en-US" dirty="0"/>
          </a:p>
        </p:txBody>
      </p:sp>
    </p:spTree>
    <p:extLst>
      <p:ext uri="{BB962C8B-B14F-4D97-AF65-F5344CB8AC3E}">
        <p14:creationId xmlns:p14="http://schemas.microsoft.com/office/powerpoint/2010/main" val="33192251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Malpractice </a:t>
            </a:r>
            <a:endParaRPr lang="en-US" dirty="0"/>
          </a:p>
        </p:txBody>
      </p:sp>
      <p:sp>
        <p:nvSpPr>
          <p:cNvPr id="3" name="Content Placeholder 2"/>
          <p:cNvSpPr>
            <a:spLocks noGrp="1"/>
          </p:cNvSpPr>
          <p:nvPr>
            <p:ph idx="1"/>
          </p:nvPr>
        </p:nvSpPr>
        <p:spPr/>
        <p:txBody>
          <a:bodyPr/>
          <a:lstStyle/>
          <a:p>
            <a:pPr marL="0" indent="0">
              <a:buNone/>
            </a:pPr>
            <a:r>
              <a:rPr lang="en-US" dirty="0" smtClean="0"/>
              <a:t>Filled in civil courts to get compensation </a:t>
            </a:r>
          </a:p>
          <a:p>
            <a:r>
              <a:rPr lang="en-US" dirty="0" smtClean="0"/>
              <a:t>National health system litigation authority (England )</a:t>
            </a:r>
          </a:p>
          <a:p>
            <a:r>
              <a:rPr lang="en-US" dirty="0" smtClean="0"/>
              <a:t>Medical practitioners association (Canada )</a:t>
            </a:r>
          </a:p>
          <a:p>
            <a:pPr marL="0" indent="0">
              <a:buNone/>
            </a:pPr>
            <a:r>
              <a:rPr lang="en-US" dirty="0" smtClean="0"/>
              <a:t>Covered by liability insurances (medical centers )Canada </a:t>
            </a:r>
          </a:p>
          <a:p>
            <a:pPr marL="0" indent="0">
              <a:buNone/>
            </a:pPr>
            <a:r>
              <a:rPr lang="en-US" dirty="0" smtClean="0"/>
              <a:t>Only 8% end in litigation in court </a:t>
            </a:r>
          </a:p>
          <a:p>
            <a:pPr marL="0" indent="0">
              <a:buNone/>
            </a:pPr>
            <a:r>
              <a:rPr lang="en-US" dirty="0" smtClean="0"/>
              <a:t>Consumer protection Act 1986 (India )</a:t>
            </a:r>
          </a:p>
          <a:p>
            <a:pPr marL="0" indent="0">
              <a:buNone/>
            </a:pPr>
            <a:r>
              <a:rPr lang="en-US" dirty="0" smtClean="0"/>
              <a:t>Kenya proclamation (Act )</a:t>
            </a:r>
            <a:endParaRPr lang="en-US" dirty="0"/>
          </a:p>
        </p:txBody>
      </p:sp>
    </p:spTree>
    <p:extLst>
      <p:ext uri="{BB962C8B-B14F-4D97-AF65-F5344CB8AC3E}">
        <p14:creationId xmlns:p14="http://schemas.microsoft.com/office/powerpoint/2010/main" val="7904003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National patient safety foundation survey (USA)</a:t>
            </a:r>
            <a:endParaRPr lang="en-US" dirty="0"/>
          </a:p>
        </p:txBody>
      </p:sp>
      <p:sp>
        <p:nvSpPr>
          <p:cNvPr id="3" name="Content Placeholder 2"/>
          <p:cNvSpPr>
            <a:spLocks noGrp="1"/>
          </p:cNvSpPr>
          <p:nvPr>
            <p:ph idx="1"/>
          </p:nvPr>
        </p:nvSpPr>
        <p:spPr/>
        <p:txBody>
          <a:bodyPr/>
          <a:lstStyle/>
          <a:p>
            <a:r>
              <a:rPr lang="en-US" dirty="0" smtClean="0"/>
              <a:t>Misdiagnosis -40%</a:t>
            </a:r>
          </a:p>
          <a:p>
            <a:r>
              <a:rPr lang="en-US" dirty="0" smtClean="0"/>
              <a:t>Medication error -28%</a:t>
            </a:r>
          </a:p>
          <a:p>
            <a:r>
              <a:rPr lang="en-US" dirty="0" smtClean="0"/>
              <a:t>Medical procedure error -22%</a:t>
            </a:r>
          </a:p>
          <a:p>
            <a:r>
              <a:rPr lang="en-US" dirty="0" smtClean="0"/>
              <a:t>Administrative error -4%</a:t>
            </a:r>
          </a:p>
          <a:p>
            <a:r>
              <a:rPr lang="en-US" dirty="0" smtClean="0"/>
              <a:t>Communication error- 2%</a:t>
            </a:r>
          </a:p>
          <a:p>
            <a:r>
              <a:rPr lang="en-US" dirty="0" smtClean="0"/>
              <a:t>Incorrect lab results -2%</a:t>
            </a:r>
          </a:p>
          <a:p>
            <a:r>
              <a:rPr lang="en-US" dirty="0" smtClean="0"/>
              <a:t>Equipment malfunction -1%</a:t>
            </a:r>
          </a:p>
          <a:p>
            <a:r>
              <a:rPr lang="en-US" dirty="0" smtClean="0"/>
              <a:t>Others -8%</a:t>
            </a:r>
            <a:endParaRPr lang="en-US" dirty="0"/>
          </a:p>
        </p:txBody>
      </p:sp>
    </p:spTree>
    <p:extLst>
      <p:ext uri="{BB962C8B-B14F-4D97-AF65-F5344CB8AC3E}">
        <p14:creationId xmlns:p14="http://schemas.microsoft.com/office/powerpoint/2010/main" val="509925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Ethiopian experience </a:t>
            </a:r>
            <a:endParaRPr lang="en-US" dirty="0"/>
          </a:p>
        </p:txBody>
      </p:sp>
      <p:sp>
        <p:nvSpPr>
          <p:cNvPr id="3" name="Content Placeholder 2"/>
          <p:cNvSpPr>
            <a:spLocks noGrp="1"/>
          </p:cNvSpPr>
          <p:nvPr>
            <p:ph idx="1"/>
          </p:nvPr>
        </p:nvSpPr>
        <p:spPr/>
        <p:txBody>
          <a:bodyPr/>
          <a:lstStyle/>
          <a:p>
            <a:r>
              <a:rPr lang="en-US" dirty="0" smtClean="0"/>
              <a:t>Health professional subject by law to register and license .</a:t>
            </a:r>
          </a:p>
          <a:p>
            <a:r>
              <a:rPr lang="en-US" dirty="0" smtClean="0"/>
              <a:t>Professionals are regulated by three ways </a:t>
            </a:r>
          </a:p>
          <a:p>
            <a:pPr marL="0" indent="0">
              <a:buNone/>
            </a:pPr>
            <a:r>
              <a:rPr lang="en-US" dirty="0" smtClean="0"/>
              <a:t>1-administratively –license (administrative liability )</a:t>
            </a:r>
          </a:p>
          <a:p>
            <a:pPr marL="0" indent="0">
              <a:buNone/>
            </a:pPr>
            <a:r>
              <a:rPr lang="en-US" dirty="0" smtClean="0"/>
              <a:t>2-criminally –when crime is committed (criminal liability )</a:t>
            </a:r>
          </a:p>
          <a:p>
            <a:pPr marL="0" indent="0">
              <a:buNone/>
            </a:pPr>
            <a:r>
              <a:rPr lang="en-US" dirty="0" smtClean="0"/>
              <a:t>3-civil liability –compensation  </a:t>
            </a:r>
            <a:endParaRPr lang="en-US" dirty="0"/>
          </a:p>
        </p:txBody>
      </p:sp>
    </p:spTree>
    <p:extLst>
      <p:ext uri="{BB962C8B-B14F-4D97-AF65-F5344CB8AC3E}">
        <p14:creationId xmlns:p14="http://schemas.microsoft.com/office/powerpoint/2010/main" val="36229917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No license</a:t>
            </a:r>
          </a:p>
          <a:p>
            <a:r>
              <a:rPr lang="en-US" dirty="0" smtClean="0"/>
              <a:t>Out of scope </a:t>
            </a:r>
          </a:p>
          <a:p>
            <a:r>
              <a:rPr lang="en-US" dirty="0" smtClean="0"/>
              <a:t>Forged Certificate </a:t>
            </a:r>
          </a:p>
          <a:p>
            <a:r>
              <a:rPr lang="en-US" dirty="0" smtClean="0"/>
              <a:t>Grievance</a:t>
            </a:r>
          </a:p>
          <a:p>
            <a:r>
              <a:rPr lang="en-US" dirty="0" smtClean="0"/>
              <a:t>No CPD</a:t>
            </a:r>
          </a:p>
          <a:p>
            <a:r>
              <a:rPr lang="en-US" dirty="0" smtClean="0"/>
              <a:t>Keeping Secret </a:t>
            </a:r>
          </a:p>
          <a:p>
            <a:r>
              <a:rPr lang="en-US" dirty="0" smtClean="0"/>
              <a:t>No Explanation  </a:t>
            </a:r>
            <a:endParaRPr lang="en-US" dirty="0"/>
          </a:p>
        </p:txBody>
      </p:sp>
    </p:spTree>
    <p:extLst>
      <p:ext uri="{BB962C8B-B14F-4D97-AF65-F5344CB8AC3E}">
        <p14:creationId xmlns:p14="http://schemas.microsoft.com/office/powerpoint/2010/main" val="14691961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Who fills the complaints </a:t>
            </a:r>
            <a:endParaRPr lang="en-US" dirty="0"/>
          </a:p>
        </p:txBody>
      </p:sp>
      <p:sp>
        <p:nvSpPr>
          <p:cNvPr id="3" name="Content Placeholder 2"/>
          <p:cNvSpPr>
            <a:spLocks noGrp="1"/>
          </p:cNvSpPr>
          <p:nvPr>
            <p:ph idx="1"/>
          </p:nvPr>
        </p:nvSpPr>
        <p:spPr/>
        <p:txBody>
          <a:bodyPr/>
          <a:lstStyle/>
          <a:p>
            <a:r>
              <a:rPr lang="en-US" dirty="0" smtClean="0"/>
              <a:t>Court</a:t>
            </a:r>
          </a:p>
          <a:p>
            <a:r>
              <a:rPr lang="en-US" dirty="0" smtClean="0"/>
              <a:t>Family</a:t>
            </a:r>
          </a:p>
          <a:p>
            <a:r>
              <a:rPr lang="en-US" dirty="0" smtClean="0"/>
              <a:t>RHB</a:t>
            </a:r>
          </a:p>
          <a:p>
            <a:r>
              <a:rPr lang="en-US" dirty="0" smtClean="0"/>
              <a:t>FMOH</a:t>
            </a:r>
          </a:p>
          <a:p>
            <a:r>
              <a:rPr lang="en-US" dirty="0" smtClean="0"/>
              <a:t>Others </a:t>
            </a:r>
            <a:endParaRPr lang="en-US" dirty="0"/>
          </a:p>
        </p:txBody>
      </p:sp>
    </p:spTree>
    <p:extLst>
      <p:ext uri="{BB962C8B-B14F-4D97-AF65-F5344CB8AC3E}">
        <p14:creationId xmlns:p14="http://schemas.microsoft.com/office/powerpoint/2010/main" val="24617581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Complaints </a:t>
            </a:r>
            <a:endParaRPr lang="en-US" dirty="0"/>
          </a:p>
        </p:txBody>
      </p:sp>
      <p:sp>
        <p:nvSpPr>
          <p:cNvPr id="3" name="Content Placeholder 2"/>
          <p:cNvSpPr>
            <a:spLocks noGrp="1"/>
          </p:cNvSpPr>
          <p:nvPr>
            <p:ph idx="1"/>
          </p:nvPr>
        </p:nvSpPr>
        <p:spPr/>
        <p:txBody>
          <a:bodyPr/>
          <a:lstStyle/>
          <a:p>
            <a:r>
              <a:rPr lang="en-US" dirty="0" smtClean="0"/>
              <a:t>Death </a:t>
            </a:r>
          </a:p>
          <a:p>
            <a:r>
              <a:rPr lang="en-US" dirty="0" smtClean="0"/>
              <a:t>Injury </a:t>
            </a:r>
          </a:p>
          <a:p>
            <a:r>
              <a:rPr lang="en-US" dirty="0" smtClean="0"/>
              <a:t>Others </a:t>
            </a:r>
            <a:endParaRPr lang="en-US" dirty="0"/>
          </a:p>
        </p:txBody>
      </p:sp>
    </p:spTree>
    <p:extLst>
      <p:ext uri="{BB962C8B-B14F-4D97-AF65-F5344CB8AC3E}">
        <p14:creationId xmlns:p14="http://schemas.microsoft.com/office/powerpoint/2010/main" val="332887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Preventing law suits </a:t>
            </a:r>
            <a:endParaRPr lang="en-US" dirty="0"/>
          </a:p>
        </p:txBody>
      </p:sp>
      <p:sp>
        <p:nvSpPr>
          <p:cNvPr id="3" name="Content Placeholder 2"/>
          <p:cNvSpPr>
            <a:spLocks noGrp="1"/>
          </p:cNvSpPr>
          <p:nvPr>
            <p:ph idx="1"/>
          </p:nvPr>
        </p:nvSpPr>
        <p:spPr/>
        <p:txBody>
          <a:bodyPr/>
          <a:lstStyle/>
          <a:p>
            <a:r>
              <a:rPr lang="en-US" sz="2800" dirty="0" smtClean="0"/>
              <a:t>Lawsuits </a:t>
            </a:r>
          </a:p>
          <a:p>
            <a:pPr lvl="1"/>
            <a:r>
              <a:rPr lang="en-US" dirty="0" smtClean="0"/>
              <a:t>Add to cost of health care</a:t>
            </a:r>
          </a:p>
          <a:p>
            <a:pPr lvl="1"/>
            <a:r>
              <a:rPr lang="en-US" dirty="0" smtClean="0"/>
              <a:t>Take a psychological toll on all</a:t>
            </a:r>
            <a:br>
              <a:rPr lang="en-US" dirty="0" smtClean="0"/>
            </a:br>
            <a:r>
              <a:rPr lang="en-US" dirty="0" smtClean="0"/>
              <a:t> involved</a:t>
            </a:r>
          </a:p>
          <a:p>
            <a:pPr lvl="1"/>
            <a:endParaRPr lang="en-US" dirty="0" smtClean="0"/>
          </a:p>
          <a:p>
            <a:r>
              <a:rPr lang="en-US" sz="2800" dirty="0" smtClean="0"/>
              <a:t>Prevention </a:t>
            </a:r>
          </a:p>
          <a:p>
            <a:pPr lvl="1"/>
            <a:r>
              <a:rPr lang="en-US" dirty="0" smtClean="0"/>
              <a:t>Use of reasonable care to prevent professional liability</a:t>
            </a:r>
          </a:p>
          <a:p>
            <a:endParaRPr lang="en-US" dirty="0" smtClean="0"/>
          </a:p>
          <a:p>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Standard of care </a:t>
            </a:r>
            <a:endParaRPr lang="en-US" dirty="0"/>
          </a:p>
        </p:txBody>
      </p:sp>
      <p:sp>
        <p:nvSpPr>
          <p:cNvPr id="3" name="Content Placeholder 2"/>
          <p:cNvSpPr>
            <a:spLocks noGrp="1"/>
          </p:cNvSpPr>
          <p:nvPr>
            <p:ph idx="1"/>
          </p:nvPr>
        </p:nvSpPr>
        <p:spPr/>
        <p:txBody>
          <a:bodyPr>
            <a:normAutofit/>
          </a:bodyPr>
          <a:lstStyle/>
          <a:p>
            <a:r>
              <a:rPr lang="en-US" dirty="0" smtClean="0"/>
              <a:t>Apply legal concepts to practice by</a:t>
            </a:r>
          </a:p>
          <a:p>
            <a:pPr lvl="1"/>
            <a:r>
              <a:rPr lang="en-US" dirty="0" smtClean="0"/>
              <a:t>Maintaining confidentiality</a:t>
            </a:r>
          </a:p>
          <a:p>
            <a:pPr lvl="4">
              <a:lnSpc>
                <a:spcPct val="40000"/>
              </a:lnSpc>
            </a:pPr>
            <a:endParaRPr lang="en-US" dirty="0" smtClean="0"/>
          </a:p>
          <a:p>
            <a:pPr lvl="1"/>
            <a:r>
              <a:rPr lang="en-US" dirty="0" smtClean="0"/>
              <a:t>Practicing within the scope of training and capabilities</a:t>
            </a:r>
          </a:p>
          <a:p>
            <a:pPr lvl="4">
              <a:lnSpc>
                <a:spcPct val="40000"/>
              </a:lnSpc>
            </a:pPr>
            <a:endParaRPr lang="en-US" dirty="0" smtClean="0"/>
          </a:p>
          <a:p>
            <a:pPr lvl="1"/>
            <a:r>
              <a:rPr lang="en-US" dirty="0" smtClean="0"/>
              <a:t>Preparing and maintaining medical records</a:t>
            </a:r>
          </a:p>
          <a:p>
            <a:pPr lvl="4">
              <a:lnSpc>
                <a:spcPct val="30000"/>
              </a:lnSpc>
            </a:pPr>
            <a:endParaRPr lang="en-US" dirty="0" smtClean="0"/>
          </a:p>
          <a:p>
            <a:pPr lvl="1"/>
            <a:r>
              <a:rPr lang="en-US" dirty="0" smtClean="0"/>
              <a:t>Documenting accurately</a:t>
            </a:r>
          </a:p>
          <a:p>
            <a:pPr lvl="4">
              <a:lnSpc>
                <a:spcPct val="30000"/>
              </a:lnSpc>
            </a:pPr>
            <a:endParaRPr lang="en-US" dirty="0" smtClean="0"/>
          </a:p>
          <a:p>
            <a:pPr lvl="1"/>
            <a:r>
              <a:rPr lang="en-US" dirty="0" smtClean="0"/>
              <a:t>Using proper guidelines when releasing information</a:t>
            </a:r>
          </a:p>
          <a:p>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Causes of suit </a:t>
            </a:r>
            <a:endParaRPr lang="en-US" dirty="0"/>
          </a:p>
        </p:txBody>
      </p:sp>
      <p:sp>
        <p:nvSpPr>
          <p:cNvPr id="3" name="Content Placeholder 2"/>
          <p:cNvSpPr>
            <a:spLocks noGrp="1"/>
          </p:cNvSpPr>
          <p:nvPr>
            <p:ph idx="1"/>
          </p:nvPr>
        </p:nvSpPr>
        <p:spPr/>
        <p:txBody>
          <a:bodyPr/>
          <a:lstStyle/>
          <a:p>
            <a:pPr>
              <a:buNone/>
            </a:pPr>
            <a:endParaRPr lang="en-US" dirty="0" smtClean="0"/>
          </a:p>
          <a:p>
            <a:r>
              <a:rPr lang="en-US" dirty="0" smtClean="0"/>
              <a:t> The principal cause of suits against physician is patient injury</a:t>
            </a:r>
          </a:p>
          <a:p>
            <a:endParaRPr lang="en-US" dirty="0" smtClean="0"/>
          </a:p>
          <a:p>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four C’s of malpractice prevention </a:t>
            </a:r>
            <a:endParaRPr lang="en-US" dirty="0"/>
          </a:p>
        </p:txBody>
      </p:sp>
      <p:sp>
        <p:nvSpPr>
          <p:cNvPr id="3" name="Content Placeholder 2"/>
          <p:cNvSpPr>
            <a:spLocks noGrp="1"/>
          </p:cNvSpPr>
          <p:nvPr>
            <p:ph idx="1"/>
          </p:nvPr>
        </p:nvSpPr>
        <p:spPr/>
        <p:txBody>
          <a:bodyPr/>
          <a:lstStyle/>
          <a:p>
            <a:r>
              <a:rPr lang="en-US" dirty="0" smtClean="0"/>
              <a:t>Caring -Sincere caring decreases the likelihood that a patient will sue if outcomes are unsatisfactory or adverse events occur</a:t>
            </a:r>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Communication-develop trust and respect with patients by communicating professionally and confirming that you have been understood.</a:t>
            </a:r>
          </a:p>
          <a:p>
            <a:endParaRPr lang="en-US" dirty="0" smtClean="0"/>
          </a:p>
          <a:p>
            <a:endParaRPr 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Competence-maintain competence and update knowledge and skills frequently.</a:t>
            </a:r>
          </a:p>
          <a:p>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Charting -documentation is proof of competence. Chart every conversation and interaction you have with a patient.</a:t>
            </a:r>
          </a:p>
          <a:p>
            <a:endParaRPr 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factors in preventing patient injury </a:t>
            </a:r>
            <a:endParaRPr lang="en-US" dirty="0"/>
          </a:p>
        </p:txBody>
      </p:sp>
      <p:sp>
        <p:nvSpPr>
          <p:cNvPr id="3" name="Content Placeholder 2"/>
          <p:cNvSpPr>
            <a:spLocks noGrp="1"/>
          </p:cNvSpPr>
          <p:nvPr>
            <p:ph idx="1"/>
          </p:nvPr>
        </p:nvSpPr>
        <p:spPr/>
        <p:txBody>
          <a:bodyPr/>
          <a:lstStyle/>
          <a:p>
            <a:r>
              <a:rPr lang="en-US" dirty="0" smtClean="0"/>
              <a:t>Vigilance </a:t>
            </a:r>
          </a:p>
          <a:p>
            <a:r>
              <a:rPr lang="en-US" dirty="0" smtClean="0"/>
              <a:t>Up to date knowledge </a:t>
            </a:r>
          </a:p>
          <a:p>
            <a:r>
              <a:rPr lang="en-US" dirty="0" smtClean="0"/>
              <a:t>Adequate monitoring(physiologic monitoring and monitoring of equipment function)</a:t>
            </a:r>
          </a:p>
          <a:p>
            <a:r>
              <a:rPr lang="en-US" dirty="0" smtClean="0"/>
              <a:t>Presence of qualified  personnel in the operating room</a:t>
            </a:r>
          </a:p>
          <a:p>
            <a:r>
              <a:rPr lang="en-US" dirty="0" smtClean="0"/>
              <a:t>Use of check list prior to each case </a:t>
            </a:r>
          </a:p>
          <a:p>
            <a:r>
              <a:rPr lang="en-US" dirty="0" smtClean="0"/>
              <a:t>Pre and post operative rounds</a:t>
            </a:r>
          </a:p>
          <a:p>
            <a:endParaRPr lang="en-US" dirty="0" smtClean="0"/>
          </a:p>
          <a:p>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Developing good patient relationship</a:t>
            </a:r>
          </a:p>
          <a:p>
            <a:r>
              <a:rPr lang="en-US" dirty="0" smtClean="0"/>
              <a:t>Maintaining up to date practice habit</a:t>
            </a:r>
          </a:p>
          <a:p>
            <a:r>
              <a:rPr lang="en-US" dirty="0" smtClean="0"/>
              <a:t>Good records(good defense if adequate if not disastrous</a:t>
            </a:r>
          </a:p>
          <a:p>
            <a:r>
              <a:rPr lang="en-US" dirty="0" smtClean="0"/>
              <a:t>Informed cons cent  </a:t>
            </a:r>
          </a:p>
          <a:p>
            <a:endParaRPr 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Malpractice suit </a:t>
            </a:r>
            <a:endParaRPr lang="en-US" dirty="0"/>
          </a:p>
        </p:txBody>
      </p:sp>
      <p:sp>
        <p:nvSpPr>
          <p:cNvPr id="3" name="Content Placeholder 2"/>
          <p:cNvSpPr>
            <a:spLocks noGrp="1"/>
          </p:cNvSpPr>
          <p:nvPr>
            <p:ph idx="1"/>
          </p:nvPr>
        </p:nvSpPr>
        <p:spPr/>
        <p:txBody>
          <a:bodyPr>
            <a:normAutofit/>
          </a:bodyPr>
          <a:lstStyle/>
          <a:p>
            <a:pPr>
              <a:buNone/>
            </a:pPr>
            <a:r>
              <a:rPr lang="en-US" dirty="0" smtClean="0"/>
              <a:t>To be successful in malpractice suit four  elements must be proved by plain tiff attorney </a:t>
            </a:r>
          </a:p>
          <a:p>
            <a:pPr>
              <a:buNone/>
            </a:pPr>
            <a:r>
              <a:rPr lang="en-US" dirty="0" smtClean="0"/>
              <a:t>Duty –the  physician owed him or her a duty </a:t>
            </a:r>
          </a:p>
          <a:p>
            <a:pPr>
              <a:buNone/>
            </a:pPr>
            <a:r>
              <a:rPr lang="en-US" dirty="0" smtClean="0"/>
              <a:t>Breach of duty-Physician failed to fulfill his or her duty</a:t>
            </a:r>
          </a:p>
          <a:p>
            <a:pPr>
              <a:buNone/>
            </a:pPr>
            <a:r>
              <a:rPr lang="en-US" dirty="0" smtClean="0"/>
              <a:t>Causation-close causal relation ship exists between the acts of the physician  and the resultant injury</a:t>
            </a:r>
          </a:p>
          <a:p>
            <a:pPr>
              <a:buNone/>
            </a:pPr>
            <a:r>
              <a:rPr lang="en-US" dirty="0" smtClean="0"/>
              <a:t>Damages –the actual damages resulted because of the acts of the physician . </a:t>
            </a:r>
          </a:p>
          <a:p>
            <a:endParaRPr 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physicians are sued ?</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6911317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physicians are sued ?</a:t>
            </a:r>
            <a:endParaRPr lang="en-US" dirty="0"/>
          </a:p>
        </p:txBody>
      </p:sp>
      <p:sp>
        <p:nvSpPr>
          <p:cNvPr id="3" name="Content Placeholder 2"/>
          <p:cNvSpPr>
            <a:spLocks noGrp="1"/>
          </p:cNvSpPr>
          <p:nvPr>
            <p:ph idx="1"/>
          </p:nvPr>
        </p:nvSpPr>
        <p:spPr/>
        <p:txBody>
          <a:bodyPr/>
          <a:lstStyle/>
          <a:p>
            <a:pPr lvl="1"/>
            <a:r>
              <a:rPr lang="en-US" dirty="0" smtClean="0"/>
              <a:t>Unrealistic expectations</a:t>
            </a:r>
          </a:p>
          <a:p>
            <a:pPr lvl="4"/>
            <a:endParaRPr lang="en-US" sz="1800" dirty="0" smtClean="0"/>
          </a:p>
          <a:p>
            <a:pPr lvl="1"/>
            <a:r>
              <a:rPr lang="en-US" dirty="0" smtClean="0"/>
              <a:t>Poor rapport and poor</a:t>
            </a:r>
            <a:br>
              <a:rPr lang="en-US" dirty="0" smtClean="0"/>
            </a:br>
            <a:r>
              <a:rPr lang="en-US" dirty="0" smtClean="0"/>
              <a:t> communication		</a:t>
            </a:r>
            <a:endParaRPr lang="en-US" sz="1800" dirty="0" smtClean="0"/>
          </a:p>
          <a:p>
            <a:pPr lvl="1"/>
            <a:r>
              <a:rPr lang="en-US" dirty="0" smtClean="0"/>
              <a:t>Greed and or litigious </a:t>
            </a:r>
            <a:br>
              <a:rPr lang="en-US" dirty="0" smtClean="0"/>
            </a:br>
            <a:r>
              <a:rPr lang="en-US" dirty="0" smtClean="0"/>
              <a:t>society</a:t>
            </a:r>
          </a:p>
          <a:p>
            <a:pPr lvl="4"/>
            <a:endParaRPr lang="en-US" sz="1800" dirty="0" smtClean="0"/>
          </a:p>
          <a:p>
            <a:pPr lvl="1"/>
            <a:r>
              <a:rPr lang="en-US" dirty="0" smtClean="0"/>
              <a:t>Poor quality of care</a:t>
            </a:r>
          </a:p>
          <a:p>
            <a:endParaRPr 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to do when sued ?</a:t>
            </a:r>
            <a:endParaRPr lang="en-US" dirty="0"/>
          </a:p>
        </p:txBody>
      </p:sp>
      <p:sp>
        <p:nvSpPr>
          <p:cNvPr id="3" name="Content Placeholder 2"/>
          <p:cNvSpPr>
            <a:spLocks noGrp="1"/>
          </p:cNvSpPr>
          <p:nvPr>
            <p:ph idx="1"/>
          </p:nvPr>
        </p:nvSpPr>
        <p:spPr/>
        <p:txBody>
          <a:bodyPr/>
          <a:lstStyle/>
          <a:p>
            <a:pPr>
              <a:buNone/>
            </a:pPr>
            <a:r>
              <a:rPr lang="en-US" dirty="0" smtClean="0"/>
              <a:t>Specific actions </a:t>
            </a:r>
          </a:p>
          <a:p>
            <a:pPr>
              <a:buNone/>
            </a:pPr>
            <a:r>
              <a:rPr lang="en-US" dirty="0" smtClean="0"/>
              <a:t>Don't discuss the case with any one </a:t>
            </a:r>
          </a:p>
          <a:p>
            <a:pPr>
              <a:buNone/>
            </a:pPr>
            <a:r>
              <a:rPr lang="en-US" dirty="0" smtClean="0"/>
              <a:t>Never alter any records </a:t>
            </a:r>
          </a:p>
          <a:p>
            <a:pPr>
              <a:buNone/>
            </a:pPr>
            <a:r>
              <a:rPr lang="en-US" dirty="0" smtClean="0"/>
              <a:t>Gather together all pertinent records </a:t>
            </a:r>
          </a:p>
          <a:p>
            <a:pPr>
              <a:buNone/>
            </a:pPr>
            <a:r>
              <a:rPr lang="en-US" dirty="0" smtClean="0"/>
              <a:t>Make notes recalling all events </a:t>
            </a:r>
          </a:p>
          <a:p>
            <a:pPr>
              <a:buNone/>
            </a:pPr>
            <a:r>
              <a:rPr lang="en-US" dirty="0" smtClean="0"/>
              <a:t>Cooperate fully with the attorney provided by the insurer or other bodies. </a:t>
            </a:r>
          </a:p>
          <a:p>
            <a:endParaRPr lang="en-US"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Do’s</a:t>
            </a:r>
            <a:endParaRPr lang="en-US" dirty="0"/>
          </a:p>
        </p:txBody>
      </p:sp>
      <p:sp>
        <p:nvSpPr>
          <p:cNvPr id="3" name="Content Placeholder 2"/>
          <p:cNvSpPr>
            <a:spLocks noGrp="1"/>
          </p:cNvSpPr>
          <p:nvPr>
            <p:ph idx="1"/>
          </p:nvPr>
        </p:nvSpPr>
        <p:spPr/>
        <p:txBody>
          <a:bodyPr/>
          <a:lstStyle/>
          <a:p>
            <a:r>
              <a:rPr lang="en-US" dirty="0" smtClean="0"/>
              <a:t>Review record </a:t>
            </a:r>
          </a:p>
          <a:p>
            <a:r>
              <a:rPr lang="en-US" dirty="0" smtClean="0"/>
              <a:t>Analyze the case </a:t>
            </a:r>
          </a:p>
          <a:p>
            <a:r>
              <a:rPr lang="en-US" dirty="0" smtClean="0"/>
              <a:t>Look for other relevant documents</a:t>
            </a:r>
          </a:p>
          <a:p>
            <a:r>
              <a:rPr lang="en-US" dirty="0" smtClean="0"/>
              <a:t>Review  literature </a:t>
            </a:r>
          </a:p>
          <a:p>
            <a:r>
              <a:rPr lang="en-US" dirty="0" smtClean="0"/>
              <a:t>Identify experts in the field </a:t>
            </a:r>
          </a:p>
          <a:p>
            <a:r>
              <a:rPr lang="en-US" dirty="0" smtClean="0"/>
              <a:t>Make a list of fact witness </a:t>
            </a:r>
          </a:p>
          <a:p>
            <a:r>
              <a:rPr lang="en-US" dirty="0" smtClean="0"/>
              <a:t>Educate your attorney </a:t>
            </a:r>
          </a:p>
          <a:p>
            <a:endParaRPr lang="en-US" dirty="0" smtClean="0"/>
          </a:p>
          <a:p>
            <a:endParaRPr lang="en-US"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Don’ts </a:t>
            </a:r>
            <a:endParaRPr lang="en-US" dirty="0"/>
          </a:p>
        </p:txBody>
      </p:sp>
      <p:sp>
        <p:nvSpPr>
          <p:cNvPr id="3" name="Content Placeholder 2"/>
          <p:cNvSpPr>
            <a:spLocks noGrp="1"/>
          </p:cNvSpPr>
          <p:nvPr>
            <p:ph idx="1"/>
          </p:nvPr>
        </p:nvSpPr>
        <p:spPr/>
        <p:txBody>
          <a:bodyPr/>
          <a:lstStyle/>
          <a:p>
            <a:r>
              <a:rPr lang="en-US" dirty="0" smtClean="0"/>
              <a:t>Don’t discuss the case with any one</a:t>
            </a:r>
          </a:p>
          <a:p>
            <a:r>
              <a:rPr lang="en-US" dirty="0" smtClean="0"/>
              <a:t>Don’t change the records </a:t>
            </a:r>
          </a:p>
          <a:p>
            <a:r>
              <a:rPr lang="en-US" dirty="0" smtClean="0"/>
              <a:t>Don’t accept any calls from other attorneys or patient or family members</a:t>
            </a:r>
          </a:p>
          <a:p>
            <a:r>
              <a:rPr lang="en-US" dirty="0" smtClean="0"/>
              <a:t>Don’t talk to media </a:t>
            </a:r>
          </a:p>
          <a:p>
            <a:endParaRPr lang="en-US"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Court room conduct </a:t>
            </a:r>
            <a:endParaRPr lang="en-US" dirty="0"/>
          </a:p>
        </p:txBody>
      </p:sp>
      <p:sp>
        <p:nvSpPr>
          <p:cNvPr id="3" name="Content Placeholder 2"/>
          <p:cNvSpPr>
            <a:spLocks noGrp="1"/>
          </p:cNvSpPr>
          <p:nvPr>
            <p:ph idx="1"/>
          </p:nvPr>
        </p:nvSpPr>
        <p:spPr/>
        <p:txBody>
          <a:bodyPr>
            <a:normAutofit lnSpcReduction="10000"/>
          </a:bodyPr>
          <a:lstStyle/>
          <a:p>
            <a:r>
              <a:rPr lang="en-US" dirty="0" smtClean="0"/>
              <a:t>Attend court proceedings as required and do not be late for scheduled hearings</a:t>
            </a:r>
          </a:p>
          <a:p>
            <a:r>
              <a:rPr lang="en-US" dirty="0" smtClean="0"/>
              <a:t>Bring required documents to court and present them when requested to</a:t>
            </a:r>
          </a:p>
          <a:p>
            <a:r>
              <a:rPr lang="en-US" dirty="0" smtClean="0"/>
              <a:t>Refresh your memory before testifying</a:t>
            </a:r>
          </a:p>
          <a:p>
            <a:r>
              <a:rPr lang="en-US" dirty="0" smtClean="0"/>
              <a:t>Speak slowly, clearly, and professionally</a:t>
            </a:r>
          </a:p>
          <a:p>
            <a:r>
              <a:rPr lang="en-US" dirty="0" smtClean="0"/>
              <a:t>Answer all questions in a straightforward manner</a:t>
            </a:r>
          </a:p>
          <a:p>
            <a:r>
              <a:rPr lang="en-US" dirty="0" smtClean="0"/>
              <a:t>Answer only the question asked</a:t>
            </a:r>
          </a:p>
          <a:p>
            <a:r>
              <a:rPr lang="en-US" dirty="0" smtClean="0"/>
              <a:t>Appear well groomed, and dress in clean, conservative clothing</a:t>
            </a:r>
          </a:p>
          <a:p>
            <a:endParaRPr lang="en-US"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 </a:t>
            </a:r>
            <a:endParaRPr lang="en-US" dirty="0"/>
          </a:p>
        </p:txBody>
      </p:sp>
      <p:sp>
        <p:nvSpPr>
          <p:cNvPr id="3" name="Content Placeholder 2"/>
          <p:cNvSpPr>
            <a:spLocks noGrp="1"/>
          </p:cNvSpPr>
          <p:nvPr>
            <p:ph idx="1"/>
          </p:nvPr>
        </p:nvSpPr>
        <p:spPr/>
        <p:txBody>
          <a:bodyPr/>
          <a:lstStyle/>
          <a:p>
            <a:pPr>
              <a:buNone/>
            </a:pPr>
            <a:r>
              <a:rPr lang="en-US" dirty="0" smtClean="0"/>
              <a:t>World Medical Association</a:t>
            </a:r>
          </a:p>
          <a:p>
            <a:pPr>
              <a:buNone/>
            </a:pPr>
            <a:r>
              <a:rPr lang="en-US" b="1" dirty="0" smtClean="0"/>
              <a:t>      Medical Ethics Manual</a:t>
            </a:r>
            <a:r>
              <a:rPr lang="en-US" dirty="0" smtClean="0"/>
              <a:t> 2nd edition 2009                                                                                 Karen </a:t>
            </a:r>
            <a:r>
              <a:rPr lang="en-US" dirty="0" err="1" smtClean="0"/>
              <a:t>Mazurek</a:t>
            </a:r>
            <a:r>
              <a:rPr lang="en-US" dirty="0" smtClean="0"/>
              <a:t> MD</a:t>
            </a:r>
          </a:p>
          <a:p>
            <a:pPr>
              <a:buNone/>
            </a:pPr>
            <a:r>
              <a:rPr lang="en-US" dirty="0" smtClean="0"/>
              <a:t>Trevor </a:t>
            </a:r>
            <a:r>
              <a:rPr lang="en-US" dirty="0" err="1" smtClean="0"/>
              <a:t>Theman</a:t>
            </a:r>
            <a:r>
              <a:rPr lang="en-US" dirty="0" smtClean="0"/>
              <a:t> MD</a:t>
            </a:r>
          </a:p>
          <a:p>
            <a:pPr>
              <a:buNone/>
            </a:pPr>
            <a:r>
              <a:rPr lang="en-US" dirty="0" smtClean="0"/>
              <a:t>College of Physicians &amp; Surgeons of Alberta</a:t>
            </a:r>
          </a:p>
          <a:p>
            <a:pPr>
              <a:buNone/>
            </a:pPr>
            <a:r>
              <a:rPr lang="en-US" dirty="0" smtClean="0"/>
              <a:t>Ingrid </a:t>
            </a:r>
            <a:r>
              <a:rPr lang="en-US" dirty="0" err="1" smtClean="0"/>
              <a:t>Miletej</a:t>
            </a:r>
            <a:r>
              <a:rPr lang="en-US" dirty="0" smtClean="0"/>
              <a:t> / </a:t>
            </a:r>
            <a:r>
              <a:rPr lang="en-US" dirty="0" err="1" smtClean="0"/>
              <a:t>Dawit</a:t>
            </a:r>
            <a:r>
              <a:rPr lang="en-US" dirty="0" smtClean="0"/>
              <a:t> </a:t>
            </a:r>
            <a:r>
              <a:rPr lang="en-US" dirty="0" err="1" smtClean="0"/>
              <a:t>Desalegne</a:t>
            </a:r>
            <a:r>
              <a:rPr lang="en-US" dirty="0" smtClean="0"/>
              <a:t>  Ethical lecture  notes AAU CHS School of medicine (Addis Ababa Ethiopia )</a:t>
            </a:r>
          </a:p>
          <a:p>
            <a:pPr>
              <a:buNone/>
            </a:pPr>
            <a:r>
              <a:rPr lang="en-US" dirty="0" smtClean="0"/>
              <a:t> </a:t>
            </a:r>
          </a:p>
          <a:p>
            <a:endParaRPr lang="en-US"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Professional Liability, Quality Improvement, and Anesthetic Risk</a:t>
            </a:r>
          </a:p>
          <a:p>
            <a:pPr>
              <a:buNone/>
            </a:pPr>
            <a:r>
              <a:rPr lang="en-US" dirty="0" smtClean="0"/>
              <a:t>Karen L. </a:t>
            </a:r>
            <a:r>
              <a:rPr lang="en-US" dirty="0" err="1" smtClean="0"/>
              <a:t>PosnerFrederick</a:t>
            </a:r>
            <a:r>
              <a:rPr lang="en-US" dirty="0" smtClean="0"/>
              <a:t> W. Cheney </a:t>
            </a:r>
            <a:r>
              <a:rPr lang="en-US" dirty="0" err="1" smtClean="0"/>
              <a:t>Jr.Donald</a:t>
            </a:r>
            <a:r>
              <a:rPr lang="en-US" dirty="0" smtClean="0"/>
              <a:t> A. Kroll</a:t>
            </a:r>
          </a:p>
          <a:p>
            <a:r>
              <a:rPr lang="en-US" dirty="0" err="1" smtClean="0"/>
              <a:t>Barash</a:t>
            </a:r>
            <a:r>
              <a:rPr lang="en-US" dirty="0" smtClean="0"/>
              <a:t>, Paul G.; Cullen, Bruce F.; </a:t>
            </a:r>
            <a:r>
              <a:rPr lang="en-US" dirty="0" err="1" smtClean="0"/>
              <a:t>Stoelting</a:t>
            </a:r>
            <a:r>
              <a:rPr lang="en-US" dirty="0" smtClean="0"/>
              <a:t>, Robert K.</a:t>
            </a:r>
          </a:p>
          <a:p>
            <a:pPr>
              <a:buNone/>
            </a:pPr>
            <a:r>
              <a:rPr lang="en-US" dirty="0" smtClean="0"/>
              <a:t>Title: Clinical Anesthesia, 5th Edition</a:t>
            </a:r>
          </a:p>
          <a:p>
            <a:pPr lvl="0"/>
            <a:r>
              <a:rPr lang="en-US" dirty="0" smtClean="0"/>
              <a:t>Internet  different wave sites   Wikipedia, Google and </a:t>
            </a:r>
            <a:r>
              <a:rPr lang="en-US" dirty="0" err="1" smtClean="0"/>
              <a:t>Medscape</a:t>
            </a:r>
            <a:endParaRPr lang="en-US"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7200" dirty="0" smtClean="0"/>
              <a:t>THANK  YOU</a:t>
            </a:r>
            <a:endParaRPr lang="en-US" sz="7200" dirty="0"/>
          </a:p>
        </p:txBody>
      </p:sp>
    </p:spTree>
    <p:extLst>
      <p:ext uri="{BB962C8B-B14F-4D97-AF65-F5344CB8AC3E}">
        <p14:creationId xmlns:p14="http://schemas.microsoft.com/office/powerpoint/2010/main" val="234976902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noChangeArrowheads="1"/>
          </p:cNvPicPr>
          <p:nvPr>
            <p:ph idx="1"/>
          </p:nvPr>
        </p:nvPicPr>
        <p:blipFill>
          <a:blip r:embed="rId2"/>
          <a:srcRect/>
          <a:stretch>
            <a:fillRect/>
          </a:stretch>
        </p:blipFill>
        <p:spPr>
          <a:xfrm>
            <a:off x="1676400" y="2057400"/>
            <a:ext cx="4572000" cy="4267199"/>
          </a:xfrm>
        </p:spPr>
      </p:pic>
    </p:spTree>
    <p:extLst>
      <p:ext uri="{BB962C8B-B14F-4D97-AF65-F5344CB8AC3E}">
        <p14:creationId xmlns:p14="http://schemas.microsoft.com/office/powerpoint/2010/main" val="40099633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sz="6600" smtClean="0"/>
              <a:t>             </a:t>
            </a:r>
            <a:r>
              <a:rPr lang="en-US" sz="6600" dirty="0" smtClean="0"/>
              <a:t>THANK YOU </a:t>
            </a:r>
            <a:endParaRPr lang="en-US" sz="6600"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837</TotalTime>
  <Words>2012</Words>
  <Application>Microsoft Office PowerPoint</Application>
  <PresentationFormat>On-screen Show (4:3)</PresentationFormat>
  <Paragraphs>365</Paragraphs>
  <Slides>76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76</vt:i4>
      </vt:variant>
    </vt:vector>
  </HeadingPairs>
  <TitlesOfParts>
    <vt:vector size="81" baseType="lpstr">
      <vt:lpstr>Calibri</vt:lpstr>
      <vt:lpstr>Constantia</vt:lpstr>
      <vt:lpstr>Wingdings</vt:lpstr>
      <vt:lpstr>Wingdings 2</vt:lpstr>
      <vt:lpstr>Flow</vt:lpstr>
      <vt:lpstr>Ethics and Law Leulayehu Akalu (Assistant professor)  </vt:lpstr>
      <vt:lpstr>Ethics and law  Course out line </vt:lpstr>
      <vt:lpstr>Students and instructors work load </vt:lpstr>
      <vt:lpstr>Assessment evaluation and grading system </vt:lpstr>
      <vt:lpstr>Teaching and learning methods </vt:lpstr>
      <vt:lpstr>Main objective </vt:lpstr>
      <vt:lpstr>Specific Objectives </vt:lpstr>
      <vt:lpstr>why do we study ethics and law?</vt:lpstr>
      <vt:lpstr>PowerPoint Presentation</vt:lpstr>
      <vt:lpstr>Why Compassionate and respectful care ?</vt:lpstr>
      <vt:lpstr>PowerPoint Presentation</vt:lpstr>
      <vt:lpstr>PowerPoint Presentation</vt:lpstr>
      <vt:lpstr>PowerPoint Presentation</vt:lpstr>
      <vt:lpstr>Why we need law in Ethiopian context ?</vt:lpstr>
      <vt:lpstr>PowerPoint Presentation</vt:lpstr>
      <vt:lpstr>Why complaints by patients ?</vt:lpstr>
      <vt:lpstr>PowerPoint Presentation</vt:lpstr>
      <vt:lpstr> </vt:lpstr>
      <vt:lpstr>Health professionals regulations in Ethiopia </vt:lpstr>
      <vt:lpstr>PowerPoint Presentation</vt:lpstr>
      <vt:lpstr>PowerPoint Presentation</vt:lpstr>
      <vt:lpstr>PowerPoint Presentation</vt:lpstr>
      <vt:lpstr>PowerPoint Presentation</vt:lpstr>
      <vt:lpstr>Every professional must know </vt:lpstr>
      <vt:lpstr>Ethics </vt:lpstr>
      <vt:lpstr>Law </vt:lpstr>
      <vt:lpstr>Ethics and law</vt:lpstr>
      <vt:lpstr>Which one is superior ?Ethics or Law ?</vt:lpstr>
      <vt:lpstr>PowerPoint Presentation</vt:lpstr>
      <vt:lpstr>PowerPoint Presentation</vt:lpstr>
      <vt:lpstr>The relation ship between ethics and law </vt:lpstr>
      <vt:lpstr>Law is necessary </vt:lpstr>
      <vt:lpstr>PowerPoint Presentation</vt:lpstr>
      <vt:lpstr>Ethics and legal conflicts </vt:lpstr>
      <vt:lpstr>Medical law and ethics </vt:lpstr>
      <vt:lpstr>Contract </vt:lpstr>
      <vt:lpstr>Medical practice</vt:lpstr>
      <vt:lpstr>Physician and patient contract </vt:lpstr>
      <vt:lpstr>Physician right </vt:lpstr>
      <vt:lpstr>Physician responsibility </vt:lpstr>
      <vt:lpstr>Patient rights and responsibilities </vt:lpstr>
      <vt:lpstr>Patient responsibilities </vt:lpstr>
      <vt:lpstr>Negligence </vt:lpstr>
      <vt:lpstr>Negligence </vt:lpstr>
      <vt:lpstr>Malpractice </vt:lpstr>
      <vt:lpstr>Why do health workers commit malpractice ?</vt:lpstr>
      <vt:lpstr>Common causes for medical Error </vt:lpstr>
      <vt:lpstr>PowerPoint Presentation</vt:lpstr>
      <vt:lpstr>Magnitude of malpractice Globally </vt:lpstr>
      <vt:lpstr>Malpractice </vt:lpstr>
      <vt:lpstr>National patient safety foundation survey (USA)</vt:lpstr>
      <vt:lpstr>Ethiopian experience </vt:lpstr>
      <vt:lpstr>PowerPoint Presentation</vt:lpstr>
      <vt:lpstr>Who fills the complaints </vt:lpstr>
      <vt:lpstr>Complaints </vt:lpstr>
      <vt:lpstr>Preventing law suits </vt:lpstr>
      <vt:lpstr>Standard of care </vt:lpstr>
      <vt:lpstr>Causes of suit </vt:lpstr>
      <vt:lpstr>The four C’s of malpractice prevention </vt:lpstr>
      <vt:lpstr>PowerPoint Presentation</vt:lpstr>
      <vt:lpstr>PowerPoint Presentation</vt:lpstr>
      <vt:lpstr>PowerPoint Presentation</vt:lpstr>
      <vt:lpstr>Key factors in preventing patient injury </vt:lpstr>
      <vt:lpstr>PowerPoint Presentation</vt:lpstr>
      <vt:lpstr>Malpractice suit </vt:lpstr>
      <vt:lpstr>Why physicians are sued ?</vt:lpstr>
      <vt:lpstr>Why physicians are sued ?</vt:lpstr>
      <vt:lpstr>What to do when sued ?</vt:lpstr>
      <vt:lpstr>The Do’s</vt:lpstr>
      <vt:lpstr>The Don’ts </vt:lpstr>
      <vt:lpstr>Court room conduct </vt:lpstr>
      <vt:lpstr>References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Ethics and Law Leulayehu Akalu</dc:title>
  <dc:creator>HP</dc:creator>
  <cp:lastModifiedBy>My</cp:lastModifiedBy>
  <cp:revision>95</cp:revision>
  <dcterms:created xsi:type="dcterms:W3CDTF">2015-02-11T15:47:09Z</dcterms:created>
  <dcterms:modified xsi:type="dcterms:W3CDTF">2022-02-01T07:14:39Z</dcterms:modified>
</cp:coreProperties>
</file>