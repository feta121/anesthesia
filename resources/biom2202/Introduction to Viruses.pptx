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95" r:id="rId3"/>
    <p:sldId id="296" r:id="rId4"/>
    <p:sldId id="312" r:id="rId5"/>
    <p:sldId id="298" r:id="rId6"/>
    <p:sldId id="313" r:id="rId7"/>
    <p:sldId id="299" r:id="rId8"/>
    <p:sldId id="300" r:id="rId9"/>
    <p:sldId id="301" r:id="rId10"/>
    <p:sldId id="302" r:id="rId11"/>
    <p:sldId id="303" r:id="rId12"/>
    <p:sldId id="304" r:id="rId13"/>
    <p:sldId id="305" r:id="rId14"/>
    <p:sldId id="306" r:id="rId15"/>
    <p:sldId id="307" r:id="rId16"/>
    <p:sldId id="310" r:id="rId17"/>
    <p:sldId id="276" r:id="rId18"/>
    <p:sldId id="277" r:id="rId19"/>
    <p:sldId id="280" r:id="rId20"/>
    <p:sldId id="292" r:id="rId21"/>
    <p:sldId id="281" r:id="rId22"/>
    <p:sldId id="315" r:id="rId23"/>
    <p:sldId id="316" r:id="rId24"/>
    <p:sldId id="317" r:id="rId25"/>
    <p:sldId id="318" r:id="rId26"/>
    <p:sldId id="319" r:id="rId27"/>
    <p:sldId id="294" r:id="rId28"/>
    <p:sldId id="290" r:id="rId29"/>
    <p:sldId id="320" r:id="rId30"/>
    <p:sldId id="289" r:id="rId31"/>
    <p:sldId id="274" r:id="rId32"/>
    <p:sldId id="275" r:id="rId33"/>
    <p:sldId id="314" r:id="rId3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5" autoAdjust="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29B6D0-8915-45B8-AE64-9861D43E57AA}" type="datetimeFigureOut">
              <a:rPr lang="en-US" smtClean="0"/>
              <a:t>1/23/2023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F8C8A7-53C5-496A-99E2-7A857B91B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608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F8C8A7-53C5-496A-99E2-7A857B91B80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015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ICTV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F8C8A7-53C5-496A-99E2-7A857B91B80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85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Nucleic</a:t>
            </a:r>
            <a:r>
              <a:rPr lang="en-US" baseline="0" dirty="0" smtClean="0"/>
              <a:t> acid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F8C8A7-53C5-496A-99E2-7A857B91B80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248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FBB43-5DA9-4318-984C-AC93AD78B4A7}" type="datetime1">
              <a:rPr lang="en-US" smtClean="0"/>
              <a:t>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Shemse Sebre(BSc, MSc)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816F2-D9F1-49F9-89D5-C370369A7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079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B3EAC-CC46-47B8-9789-FB26E2BEAA5E}" type="datetime1">
              <a:rPr lang="en-US" smtClean="0"/>
              <a:t>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Shemse Sebre(BSc, MSc)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816F2-D9F1-49F9-89D5-C370369A7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056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B7248-06A0-4473-885F-E624C4C31183}" type="datetime1">
              <a:rPr lang="en-US" smtClean="0"/>
              <a:t>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Shemse Sebre(BSc, MSc)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816F2-D9F1-49F9-89D5-C370369A7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292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49161-3F3E-488B-B8A1-9AFFBBF540BA}" type="datetime1">
              <a:rPr lang="en-US" smtClean="0"/>
              <a:t>1/23/2023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Shemse Sebre(BSc, MSc)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816F2-D9F1-49F9-89D5-C370369A7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450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F0E5C-9C70-4629-85B5-FCBA552DB8AE}" type="datetime1">
              <a:rPr lang="en-US" smtClean="0"/>
              <a:t>1/23/2023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Shemse Sebre(BSc, MSc)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816F2-D9F1-49F9-89D5-C370369A7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959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A1716-D4A2-4849-83C0-25F3DF4ADD21}" type="datetime1">
              <a:rPr lang="en-US" smtClean="0"/>
              <a:t>1/23/2023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Shemse Sebre(BSc, MSc)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816F2-D9F1-49F9-89D5-C370369A7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746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13F00-E7A4-4CD4-BB74-9DA8C1E6068E}" type="datetime1">
              <a:rPr lang="en-US" smtClean="0"/>
              <a:t>1/23/2023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Shemse Sebre(BSc, MSc)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816F2-D9F1-49F9-89D5-C370369A7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454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408E3-228E-4A8B-9BC4-BE1068865EDF}" type="datetime1">
              <a:rPr lang="en-US" smtClean="0"/>
              <a:t>1/23/2023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Shemse Sebre(BSc, MSc)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816F2-D9F1-49F9-89D5-C370369A7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203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A787D-4C66-417A-87E1-CD4385D06C0F}" type="datetime1">
              <a:rPr lang="en-US" smtClean="0"/>
              <a:t>1/23/2023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Shemse Sebre(BSc, MSc)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816F2-D9F1-49F9-89D5-C370369A7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272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CC707-808C-4B57-ABA2-28078D7FD845}" type="datetime1">
              <a:rPr lang="en-US" smtClean="0"/>
              <a:t>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Shemse Sebre(BSc, MSc)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816F2-D9F1-49F9-89D5-C370369A7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982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46591-351A-40B7-BCE4-BAC86F4237FD}" type="datetime1">
              <a:rPr lang="en-US" smtClean="0"/>
              <a:t>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Shemse Sebre(BSc, MSc)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816F2-D9F1-49F9-89D5-C370369A7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544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C1C18C-85B7-4274-8830-D91A46F61067}" type="datetime1">
              <a:rPr lang="en-US" smtClean="0"/>
              <a:t>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Shemse Sebre(BSc, MSc)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0816F2-D9F1-49F9-89D5-C370369A7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201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b="1" dirty="0" smtClean="0"/>
              <a:t>Viruses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75DC7-0FE6-4CE0-B43A-E9311B088ABB}" type="datetime1">
              <a:rPr lang="en-US" smtClean="0"/>
              <a:t>1/23/2023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Shemse Sebre(BSc, MSc)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313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l"/>
            <a:r>
              <a:rPr lang="en-US" sz="3100" b="1" dirty="0" smtClean="0"/>
              <a:t>Outline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/>
          <a:lstStyle/>
          <a:p>
            <a:r>
              <a:rPr lang="en-US" sz="2400" b="1" dirty="0" smtClean="0"/>
              <a:t>Introduction</a:t>
            </a:r>
          </a:p>
          <a:p>
            <a:r>
              <a:rPr lang="en-US" sz="2400" b="1" dirty="0" smtClean="0"/>
              <a:t>General </a:t>
            </a:r>
            <a:r>
              <a:rPr lang="en-US" sz="2400" b="1" dirty="0"/>
              <a:t>properties of </a:t>
            </a:r>
            <a:r>
              <a:rPr lang="en-US" sz="2400" b="1" dirty="0" smtClean="0"/>
              <a:t>viruses</a:t>
            </a:r>
          </a:p>
          <a:p>
            <a:r>
              <a:rPr lang="en-US" sz="2400" b="1" dirty="0"/>
              <a:t>Structure of </a:t>
            </a:r>
            <a:r>
              <a:rPr lang="en-US" sz="2400" b="1" dirty="0" smtClean="0"/>
              <a:t>viruses</a:t>
            </a:r>
          </a:p>
          <a:p>
            <a:r>
              <a:rPr lang="en-US" sz="2400" b="1" dirty="0" smtClean="0"/>
              <a:t>Replication of Virus</a:t>
            </a:r>
          </a:p>
          <a:p>
            <a:endParaRPr lang="en-US" sz="2400" b="1" dirty="0" smtClean="0"/>
          </a:p>
          <a:p>
            <a:endParaRPr lang="en-US" sz="2400" b="1" dirty="0" smtClean="0"/>
          </a:p>
          <a:p>
            <a:endParaRPr lang="en-US" b="1" dirty="0" smtClean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34D-E892-4B49-94AC-EEBD9D5A964A}" type="datetime1">
              <a:rPr lang="en-US" smtClean="0"/>
              <a:t>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Shemse Sebre (BSc, MSc)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2330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b="1" dirty="0" smtClean="0"/>
              <a:t>Nature and classification of virus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400" i="1" dirty="0" smtClean="0"/>
              <a:t>Virus </a:t>
            </a:r>
            <a:r>
              <a:rPr lang="en-US" sz="2400" dirty="0"/>
              <a:t>which in Latin </a:t>
            </a:r>
            <a:r>
              <a:rPr lang="en-US" sz="2400" dirty="0" smtClean="0"/>
              <a:t>means</a:t>
            </a:r>
            <a:r>
              <a:rPr lang="en-US" sz="2400" dirty="0"/>
              <a:t> </a:t>
            </a:r>
            <a:r>
              <a:rPr lang="en-US" sz="2400" i="1" dirty="0" smtClean="0"/>
              <a:t>poison</a:t>
            </a:r>
            <a:endParaRPr lang="en-US" sz="2400" dirty="0" smtClean="0"/>
          </a:p>
          <a:p>
            <a:pPr>
              <a:buFont typeface="Wingdings" pitchFamily="2" charset="2"/>
              <a:buChar char="§"/>
            </a:pPr>
            <a:r>
              <a:rPr lang="en-US" sz="2400" dirty="0" smtClean="0"/>
              <a:t>Viruses </a:t>
            </a:r>
            <a:r>
              <a:rPr lang="en-US" sz="2400" dirty="0"/>
              <a:t>are </a:t>
            </a:r>
            <a:r>
              <a:rPr lang="en-US" sz="2400" b="1" i="1" dirty="0">
                <a:solidFill>
                  <a:srgbClr val="7030A0"/>
                </a:solidFill>
              </a:rPr>
              <a:t>obligate intracellular </a:t>
            </a:r>
            <a:r>
              <a:rPr lang="en-US" sz="2400" b="1" i="1" dirty="0" smtClean="0">
                <a:solidFill>
                  <a:srgbClr val="7030A0"/>
                </a:solidFill>
              </a:rPr>
              <a:t>parasites</a:t>
            </a:r>
          </a:p>
          <a:p>
            <a:pPr lvl="1">
              <a:buFont typeface="Wingdings" pitchFamily="2" charset="2"/>
              <a:buChar char="ü"/>
            </a:pPr>
            <a:r>
              <a:rPr lang="en-US" sz="2000" dirty="0" smtClean="0"/>
              <a:t>Replicate </a:t>
            </a:r>
            <a:r>
              <a:rPr lang="en-US" sz="2000" dirty="0"/>
              <a:t>(or multiply) only inside a </a:t>
            </a:r>
            <a:r>
              <a:rPr lang="en-US" sz="2000" dirty="0" smtClean="0"/>
              <a:t>living host </a:t>
            </a:r>
            <a:r>
              <a:rPr lang="en-US" sz="2000" dirty="0"/>
              <a:t>cell. </a:t>
            </a:r>
            <a:endParaRPr lang="en-US" sz="2000" dirty="0" smtClean="0"/>
          </a:p>
          <a:p>
            <a:pPr>
              <a:buFont typeface="Wingdings" pitchFamily="2" charset="2"/>
              <a:buChar char="§"/>
            </a:pPr>
            <a:r>
              <a:rPr lang="en-US" sz="2400" dirty="0" smtClean="0"/>
              <a:t>These </a:t>
            </a:r>
            <a:r>
              <a:rPr lang="en-US" sz="2400" dirty="0"/>
              <a:t>have very simple structural organization but are characterized by certain </a:t>
            </a:r>
            <a:r>
              <a:rPr lang="en-US" sz="2400" dirty="0" smtClean="0"/>
              <a:t>distinctive features 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B3EAC-CC46-47B8-9789-FB26E2BEAA5E}" type="datetime1">
              <a:rPr lang="en-US" smtClean="0"/>
              <a:t>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Shemse Sebre(BSc, MSc)</a:t>
            </a:r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581400"/>
            <a:ext cx="6553200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1828800" y="3276600"/>
            <a:ext cx="4572000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b="1" dirty="0"/>
              <a:t>Table </a:t>
            </a:r>
            <a:r>
              <a:rPr lang="en-US" b="1" dirty="0" smtClean="0"/>
              <a:t>1</a:t>
            </a:r>
            <a:r>
              <a:rPr lang="en-US" b="1" dirty="0"/>
              <a:t>. Distinctive features of </a:t>
            </a:r>
            <a:r>
              <a:rPr lang="en-US" b="1" dirty="0" smtClean="0"/>
              <a:t>viruses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93941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800" b="1" dirty="0"/>
              <a:t>General properties of </a:t>
            </a:r>
            <a:r>
              <a:rPr lang="en-US" sz="2800" b="1" dirty="0" smtClean="0"/>
              <a:t>viruses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50292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2400" dirty="0"/>
              <a:t>All forms of life —</a:t>
            </a:r>
            <a:r>
              <a:rPr lang="en-US" sz="2400" b="1" dirty="0">
                <a:solidFill>
                  <a:srgbClr val="002060"/>
                </a:solidFill>
              </a:rPr>
              <a:t>animal, plant and </a:t>
            </a:r>
            <a:r>
              <a:rPr lang="en-US" sz="2400" b="1" dirty="0" smtClean="0">
                <a:solidFill>
                  <a:srgbClr val="002060"/>
                </a:solidFill>
              </a:rPr>
              <a:t>even bacterial </a:t>
            </a:r>
            <a:r>
              <a:rPr lang="en-US" sz="2400" dirty="0"/>
              <a:t>—are susceptible to infection by </a:t>
            </a:r>
            <a:r>
              <a:rPr lang="en-US" sz="2400" b="1" dirty="0" smtClean="0">
                <a:solidFill>
                  <a:srgbClr val="002060"/>
                </a:solidFill>
              </a:rPr>
              <a:t>viruses (Host range)</a:t>
            </a:r>
            <a:r>
              <a:rPr lang="en-US" sz="2400" dirty="0" smtClean="0"/>
              <a:t>.</a:t>
            </a:r>
          </a:p>
          <a:p>
            <a:r>
              <a:rPr lang="en-US" sz="2000" b="1" i="1" dirty="0">
                <a:solidFill>
                  <a:srgbClr val="FF0000"/>
                </a:solidFill>
              </a:rPr>
              <a:t>satellite viruses </a:t>
            </a:r>
            <a:r>
              <a:rPr lang="en-US" sz="2000" dirty="0"/>
              <a:t>which depend upon other viruses for their survival and replication.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Polioviruses</a:t>
            </a:r>
            <a:r>
              <a:rPr lang="en-US" sz="2400" dirty="0"/>
              <a:t>: only infect human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Rabies virus</a:t>
            </a:r>
            <a:r>
              <a:rPr lang="en-US" sz="2400" dirty="0"/>
              <a:t>: attacks cells of CNS of human and variety of warm-blooded animals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58BB5-CF1E-4166-B83D-AB77DBE6133B}" type="datetime1">
              <a:rPr lang="en-US" smtClean="0"/>
              <a:t>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Shemse Sebre(BSc, MSc)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175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pPr algn="r"/>
            <a:r>
              <a:rPr lang="en-US" sz="3100" dirty="0" smtClean="0"/>
              <a:t>Cont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rmAutofit/>
          </a:bodyPr>
          <a:lstStyle/>
          <a:p>
            <a:r>
              <a:rPr lang="en-US" sz="2400" dirty="0"/>
              <a:t>The </a:t>
            </a:r>
            <a:r>
              <a:rPr lang="en-US" sz="2400" b="1" i="1" dirty="0">
                <a:solidFill>
                  <a:srgbClr val="FF0000"/>
                </a:solidFill>
              </a:rPr>
              <a:t>specificity </a:t>
            </a:r>
            <a:r>
              <a:rPr lang="en-US" sz="2400" dirty="0"/>
              <a:t>of a virus refers to </a:t>
            </a:r>
            <a:r>
              <a:rPr lang="en-US" sz="2400" dirty="0" smtClean="0"/>
              <a:t>specific </a:t>
            </a:r>
            <a:r>
              <a:rPr lang="en-US" sz="2400" dirty="0"/>
              <a:t>kinds of cells </a:t>
            </a:r>
            <a:r>
              <a:rPr lang="en-US" sz="2400" dirty="0" smtClean="0"/>
              <a:t>virus </a:t>
            </a:r>
            <a:r>
              <a:rPr lang="en-US" sz="2400" dirty="0"/>
              <a:t>can infect. </a:t>
            </a:r>
            <a:endParaRPr lang="en-US" sz="2400" dirty="0" smtClean="0"/>
          </a:p>
          <a:p>
            <a:r>
              <a:rPr lang="en-US" sz="2400" dirty="0" smtClean="0"/>
              <a:t>Virus specificity: A </a:t>
            </a:r>
            <a:r>
              <a:rPr lang="en-US" sz="2400" dirty="0"/>
              <a:t>virus can attach to a cell or not. </a:t>
            </a:r>
            <a:endParaRPr lang="en-US" sz="2400" dirty="0" smtClean="0"/>
          </a:p>
          <a:p>
            <a:r>
              <a:rPr lang="en-US" sz="2400" dirty="0" smtClean="0"/>
              <a:t>This</a:t>
            </a:r>
            <a:r>
              <a:rPr lang="en-US" sz="2400" dirty="0"/>
              <a:t> </a:t>
            </a:r>
            <a:r>
              <a:rPr lang="en-US" sz="2400" dirty="0" smtClean="0"/>
              <a:t>depends </a:t>
            </a:r>
            <a:r>
              <a:rPr lang="en-US" sz="2400" dirty="0"/>
              <a:t>upon the presence of specific receptors on </a:t>
            </a:r>
            <a:r>
              <a:rPr lang="en-US" sz="2400" dirty="0" smtClean="0"/>
              <a:t>the surface </a:t>
            </a:r>
            <a:r>
              <a:rPr lang="en-US" sz="2400" dirty="0"/>
              <a:t>of the virus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B3EAC-CC46-47B8-9789-FB26E2BEAA5E}" type="datetime1">
              <a:rPr lang="en-US" smtClean="0"/>
              <a:t>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Shemse Sebre(BSc, MSc)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699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Autofit/>
          </a:bodyPr>
          <a:lstStyle/>
          <a:p>
            <a:pPr algn="r"/>
            <a:r>
              <a:rPr lang="en-US" sz="2800" dirty="0" smtClean="0"/>
              <a:t>Cont.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/>
          <a:lstStyle/>
          <a:p>
            <a:r>
              <a:rPr lang="en-US" dirty="0"/>
              <a:t>Three main properties distinguish </a:t>
            </a:r>
            <a:r>
              <a:rPr lang="en-US" b="1" dirty="0">
                <a:solidFill>
                  <a:srgbClr val="002060"/>
                </a:solidFill>
              </a:rPr>
              <a:t>viruses</a:t>
            </a:r>
            <a:r>
              <a:rPr lang="en-US" dirty="0"/>
              <a:t> from their various </a:t>
            </a:r>
            <a:r>
              <a:rPr lang="en-US" dirty="0">
                <a:solidFill>
                  <a:srgbClr val="002060"/>
                </a:solidFill>
              </a:rPr>
              <a:t>host cells: 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/>
              <a:t>Size, 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/>
              <a:t>Nucleic acid content and 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/>
              <a:t>Metabolic capabilities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B3EAC-CC46-47B8-9789-FB26E2BEAA5E}" type="datetime1">
              <a:rPr lang="en-US" smtClean="0"/>
              <a:t>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Shemse Sebre(BSc, MSc)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054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200" b="1" dirty="0">
                <a:solidFill>
                  <a:srgbClr val="7030A0"/>
                </a:solidFill>
              </a:rPr>
              <a:t>Classification of </a:t>
            </a:r>
            <a:r>
              <a:rPr lang="en-US" sz="3200" b="1" dirty="0" smtClean="0">
                <a:solidFill>
                  <a:srgbClr val="7030A0"/>
                </a:solidFill>
              </a:rPr>
              <a:t>Viruses</a:t>
            </a:r>
            <a:endParaRPr lang="en-US" sz="3200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r>
              <a:rPr lang="en-US" sz="2400" b="1" dirty="0"/>
              <a:t>Based on Physicochemical </a:t>
            </a:r>
            <a:r>
              <a:rPr lang="en-US" sz="2400" b="1" dirty="0" smtClean="0"/>
              <a:t>Criteria</a:t>
            </a:r>
          </a:p>
          <a:p>
            <a:pPr marL="0" indent="0">
              <a:buNone/>
            </a:pPr>
            <a:r>
              <a:rPr lang="en-US" sz="2400" dirty="0"/>
              <a:t>a. Kind of nucleic acid and strategy of viral replication</a:t>
            </a:r>
            <a:br>
              <a:rPr lang="en-US" sz="2400" dirty="0"/>
            </a:br>
            <a:r>
              <a:rPr lang="en-US" sz="2400" dirty="0"/>
              <a:t>b. Morphology of virion which includes size, </a:t>
            </a:r>
            <a:r>
              <a:rPr lang="en-US" sz="2400" dirty="0" smtClean="0"/>
              <a:t>shape, symmetry </a:t>
            </a:r>
            <a:r>
              <a:rPr lang="en-US" sz="2400" dirty="0"/>
              <a:t>of nucleocapsid and presence of envelope.</a:t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B3EAC-CC46-47B8-9789-FB26E2BEAA5E}" type="datetime1">
              <a:rPr lang="en-US" smtClean="0"/>
              <a:t>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Shemse Sebre(BSc, MSc)</a:t>
            </a:r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2971800"/>
            <a:ext cx="4562475" cy="3667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5029200" y="2743200"/>
            <a:ext cx="2743200" cy="92333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All DNA viruses are </a:t>
            </a:r>
            <a:r>
              <a:rPr lang="en-US" b="1" dirty="0" smtClean="0">
                <a:solidFill>
                  <a:srgbClr val="7030A0"/>
                </a:solidFill>
              </a:rPr>
              <a:t>ds</a:t>
            </a:r>
            <a:r>
              <a:rPr lang="en-US" b="1" dirty="0">
                <a:solidFill>
                  <a:srgbClr val="7030A0"/>
                </a:solidFill>
              </a:rPr>
              <a:t> </a:t>
            </a:r>
            <a:r>
              <a:rPr lang="en-US" dirty="0" smtClean="0"/>
              <a:t>except </a:t>
            </a:r>
            <a:r>
              <a:rPr lang="en-US" b="1" dirty="0">
                <a:solidFill>
                  <a:srgbClr val="7030A0"/>
                </a:solidFill>
              </a:rPr>
              <a:t>parvoviruses</a:t>
            </a:r>
            <a:r>
              <a:rPr lang="en-US" dirty="0"/>
              <a:t> which are </a:t>
            </a:r>
            <a:r>
              <a:rPr lang="en-US" b="1" dirty="0" smtClean="0"/>
              <a:t>ss</a:t>
            </a:r>
            <a:endParaRPr lang="en-US" b="1" dirty="0"/>
          </a:p>
        </p:txBody>
      </p:sp>
      <p:sp>
        <p:nvSpPr>
          <p:cNvPr id="7" name="Rectangle 6"/>
          <p:cNvSpPr/>
          <p:nvPr/>
        </p:nvSpPr>
        <p:spPr>
          <a:xfrm>
            <a:off x="990600" y="2819400"/>
            <a:ext cx="2971800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RNA </a:t>
            </a:r>
            <a:r>
              <a:rPr lang="en-US" dirty="0" smtClean="0"/>
              <a:t>viruses : ss or ds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304800" y="3200400"/>
            <a:ext cx="2667000" cy="64633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231F20"/>
                </a:solidFill>
                <a:latin typeface="Palatino-Roman"/>
              </a:rPr>
              <a:t>Influenza and reoviruses:  segmented.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8927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800" b="1" dirty="0"/>
              <a:t>Nomenclature of </a:t>
            </a:r>
            <a:r>
              <a:rPr lang="en-US" sz="2800" b="1" dirty="0" smtClean="0"/>
              <a:t>Viruses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 smtClean="0"/>
              <a:t>Decided </a:t>
            </a:r>
            <a:r>
              <a:rPr lang="en-US" sz="2400" dirty="0"/>
              <a:t>by </a:t>
            </a:r>
            <a:r>
              <a:rPr lang="en-US" sz="2400" dirty="0" smtClean="0"/>
              <a:t>International </a:t>
            </a:r>
            <a:r>
              <a:rPr lang="en-US" sz="2400" dirty="0"/>
              <a:t>Committee on </a:t>
            </a:r>
            <a:r>
              <a:rPr lang="en-US" sz="2400" dirty="0" smtClean="0"/>
              <a:t>Taxonomy of </a:t>
            </a:r>
            <a:r>
              <a:rPr lang="en-US" sz="2400" dirty="0"/>
              <a:t>Viruses. </a:t>
            </a:r>
            <a:endParaRPr lang="en-US" sz="2400" dirty="0" smtClean="0"/>
          </a:p>
          <a:p>
            <a:pPr marL="0" indent="0">
              <a:buNone/>
            </a:pPr>
            <a:r>
              <a:rPr lang="en-US" sz="2600" dirty="0"/>
              <a:t>The viruses are grouped </a:t>
            </a:r>
            <a:r>
              <a:rPr lang="en-US" sz="2600" dirty="0" smtClean="0"/>
              <a:t>in to </a:t>
            </a:r>
            <a:endParaRPr lang="en-US" sz="2600" dirty="0"/>
          </a:p>
          <a:p>
            <a:pPr>
              <a:buFont typeface="Wingdings" pitchFamily="2" charset="2"/>
              <a:buChar char="Ø"/>
            </a:pPr>
            <a:r>
              <a:rPr lang="en-US" sz="2600" dirty="0" smtClean="0"/>
              <a:t>Families: a </a:t>
            </a:r>
            <a:r>
              <a:rPr lang="en-US" sz="2600" dirty="0"/>
              <a:t>suffix</a:t>
            </a:r>
            <a:r>
              <a:rPr lang="en-US" sz="2600" i="1" dirty="0"/>
              <a:t>-</a:t>
            </a:r>
            <a:r>
              <a:rPr lang="en-US" sz="2600" i="1" dirty="0" err="1"/>
              <a:t>viridae</a:t>
            </a:r>
            <a:r>
              <a:rPr lang="en-US" sz="2600" i="1" dirty="0"/>
              <a:t>. </a:t>
            </a:r>
            <a:endParaRPr lang="en-US" sz="2600" i="1" dirty="0" smtClean="0"/>
          </a:p>
          <a:p>
            <a:pPr>
              <a:buFont typeface="Wingdings" pitchFamily="2" charset="2"/>
              <a:buChar char="Ø"/>
            </a:pPr>
            <a:r>
              <a:rPr lang="en-US" sz="2600" dirty="0" smtClean="0"/>
              <a:t>Subfamilies: suffix</a:t>
            </a:r>
            <a:r>
              <a:rPr lang="en-US" sz="2600" i="1" dirty="0" smtClean="0"/>
              <a:t>-</a:t>
            </a:r>
            <a:r>
              <a:rPr lang="en-US" sz="2600" i="1" dirty="0" err="1" smtClean="0"/>
              <a:t>virinae</a:t>
            </a:r>
            <a:r>
              <a:rPr lang="en-US" sz="2600" i="1" dirty="0" smtClean="0"/>
              <a:t> </a:t>
            </a:r>
            <a:endParaRPr lang="en-US" sz="2600" dirty="0" smtClean="0"/>
          </a:p>
          <a:p>
            <a:pPr>
              <a:buFont typeface="Wingdings" pitchFamily="2" charset="2"/>
              <a:buChar char="Ø"/>
            </a:pPr>
            <a:r>
              <a:rPr lang="en-US" sz="2600" dirty="0" smtClean="0"/>
              <a:t>Genera : suffix </a:t>
            </a:r>
            <a:r>
              <a:rPr lang="en-US" sz="2600" dirty="0"/>
              <a:t>of </a:t>
            </a:r>
            <a:r>
              <a:rPr lang="en-US" sz="2600" dirty="0" smtClean="0"/>
              <a:t>–</a:t>
            </a:r>
            <a:r>
              <a:rPr lang="en-US" sz="2600" i="1" dirty="0" smtClean="0"/>
              <a:t>virus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/>
              <a:t>prefix may be another </a:t>
            </a:r>
            <a:r>
              <a:rPr lang="en-US" sz="2800" dirty="0" err="1"/>
              <a:t>latin</a:t>
            </a:r>
            <a:r>
              <a:rPr lang="en-US" sz="2800" dirty="0"/>
              <a:t> </a:t>
            </a:r>
            <a:r>
              <a:rPr lang="en-US" sz="2800" dirty="0" smtClean="0"/>
              <a:t>word or </a:t>
            </a:r>
            <a:r>
              <a:rPr lang="en-US" sz="2800" dirty="0"/>
              <a:t>a </a:t>
            </a:r>
            <a:r>
              <a:rPr lang="en-US" sz="2800" i="1" dirty="0" err="1"/>
              <a:t>sigla</a:t>
            </a:r>
            <a:r>
              <a:rPr lang="en-US" sz="2800" i="1" dirty="0"/>
              <a:t>, 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B3EAC-CC46-47B8-9789-FB26E2BEAA5E}" type="datetime1">
              <a:rPr lang="en-US" smtClean="0"/>
              <a:t>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Shemse Sebre(BSc, MSc)</a:t>
            </a:r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505200"/>
            <a:ext cx="8201025" cy="2486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1676400" y="5943600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Fig. 56–1. </a:t>
            </a:r>
            <a:r>
              <a:rPr lang="en-US" dirty="0"/>
              <a:t>Parameters used to classify </a:t>
            </a:r>
            <a:r>
              <a:rPr lang="en-US" dirty="0" smtClean="0"/>
              <a:t>viruses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78682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Size of </a:t>
            </a:r>
            <a:r>
              <a:rPr lang="en-US" sz="2400" b="1" dirty="0" smtClean="0">
                <a:solidFill>
                  <a:srgbClr val="FF0000"/>
                </a:solidFill>
              </a:rPr>
              <a:t>Viruses</a:t>
            </a:r>
            <a:endParaRPr lang="en-US" sz="2400" b="1" dirty="0">
              <a:solidFill>
                <a:srgbClr val="FF0000"/>
              </a:solidFill>
            </a:endParaRPr>
          </a:p>
          <a:p>
            <a:r>
              <a:rPr lang="en-US" sz="2400" dirty="0"/>
              <a:t>The viruses are measured in units of </a:t>
            </a:r>
            <a:r>
              <a:rPr lang="en-US" sz="2400" dirty="0" smtClean="0"/>
              <a:t>nanometer</a:t>
            </a:r>
          </a:p>
          <a:p>
            <a:r>
              <a:rPr lang="en-US" sz="2400" dirty="0"/>
              <a:t>Viruses vary in diameter </a:t>
            </a:r>
            <a:r>
              <a:rPr lang="en-US" sz="2400" dirty="0" smtClean="0"/>
              <a:t>from </a:t>
            </a:r>
            <a:r>
              <a:rPr lang="en-US" sz="2400" b="1" dirty="0" smtClean="0">
                <a:solidFill>
                  <a:srgbClr val="FF0000"/>
                </a:solidFill>
              </a:rPr>
              <a:t>3 </a:t>
            </a:r>
            <a:r>
              <a:rPr lang="en-US" sz="2400" b="1" dirty="0">
                <a:solidFill>
                  <a:srgbClr val="FF0000"/>
                </a:solidFill>
              </a:rPr>
              <a:t>to 20 </a:t>
            </a:r>
            <a:r>
              <a:rPr lang="en-US" sz="2400" dirty="0"/>
              <a:t>nm</a:t>
            </a:r>
            <a:r>
              <a:rPr lang="en-US" sz="2400" dirty="0" smtClean="0"/>
              <a:t>.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B3EAC-CC46-47B8-9789-FB26E2BEAA5E}" type="datetime1">
              <a:rPr lang="en-US" smtClean="0"/>
              <a:t>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Shemse Sebre(BSc, MSc)</a:t>
            </a:r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133600"/>
            <a:ext cx="6705600" cy="2771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3449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dirty="0" smtClean="0"/>
              <a:t>Viruses Morphology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/>
          </a:bodyPr>
          <a:lstStyle/>
          <a:p>
            <a:r>
              <a:rPr lang="en-US" sz="2400" dirty="0" smtClean="0"/>
              <a:t>composed </a:t>
            </a:r>
            <a:r>
              <a:rPr lang="en-US" sz="2400" dirty="0"/>
              <a:t>of </a:t>
            </a:r>
            <a:r>
              <a:rPr lang="en-US" sz="2400" dirty="0">
                <a:solidFill>
                  <a:srgbClr val="FF0000"/>
                </a:solidFill>
              </a:rPr>
              <a:t>nucleic acids and </a:t>
            </a:r>
            <a:r>
              <a:rPr lang="en-US" sz="2400" dirty="0" smtClean="0">
                <a:solidFill>
                  <a:srgbClr val="FF0000"/>
                </a:solidFill>
              </a:rPr>
              <a:t>proteins</a:t>
            </a:r>
            <a:r>
              <a:rPr lang="en-US" sz="2400" dirty="0" smtClean="0"/>
              <a:t>.</a:t>
            </a:r>
          </a:p>
          <a:p>
            <a:r>
              <a:rPr lang="en-US" sz="2400" i="1" dirty="0" smtClean="0"/>
              <a:t>Genome </a:t>
            </a:r>
            <a:r>
              <a:rPr lang="en-US" sz="2400" dirty="0"/>
              <a:t>consists of single </a:t>
            </a:r>
            <a:r>
              <a:rPr lang="en-US" sz="2400" dirty="0" smtClean="0"/>
              <a:t>NA : stores</a:t>
            </a:r>
            <a:r>
              <a:rPr lang="en-US" sz="2400" dirty="0"/>
              <a:t> </a:t>
            </a:r>
            <a:r>
              <a:rPr lang="en-US" sz="2400" dirty="0" smtClean="0"/>
              <a:t>all vital </a:t>
            </a:r>
            <a:r>
              <a:rPr lang="en-US" sz="2400" dirty="0"/>
              <a:t>information </a:t>
            </a:r>
            <a:endParaRPr lang="en-US" sz="2400" dirty="0" smtClean="0"/>
          </a:p>
          <a:p>
            <a:r>
              <a:rPr lang="en-US" sz="2400" dirty="0" smtClean="0"/>
              <a:t>Genome surrounded </a:t>
            </a:r>
            <a:r>
              <a:rPr lang="en-US" sz="2400" dirty="0"/>
              <a:t>by a shell </a:t>
            </a:r>
            <a:r>
              <a:rPr lang="en-US" sz="2400" dirty="0" smtClean="0"/>
              <a:t>/coat </a:t>
            </a:r>
            <a:r>
              <a:rPr lang="en-US" sz="2400" dirty="0"/>
              <a:t>made of </a:t>
            </a:r>
            <a:r>
              <a:rPr lang="en-US" sz="2400" dirty="0" smtClean="0"/>
              <a:t>protein: </a:t>
            </a:r>
            <a:r>
              <a:rPr lang="en-US" sz="2400" b="1" i="1" dirty="0" smtClean="0">
                <a:solidFill>
                  <a:srgbClr val="FF0000"/>
                </a:solidFill>
              </a:rPr>
              <a:t>capsid</a:t>
            </a:r>
            <a:r>
              <a:rPr lang="en-US" sz="2400" b="1" dirty="0" smtClean="0">
                <a:solidFill>
                  <a:srgbClr val="FF0000"/>
                </a:solidFill>
              </a:rPr>
              <a:t> </a:t>
            </a:r>
          </a:p>
          <a:p>
            <a:r>
              <a:rPr lang="en-US" sz="2400" dirty="0" smtClean="0"/>
              <a:t>Genome and </a:t>
            </a:r>
            <a:r>
              <a:rPr lang="en-US" sz="2400" dirty="0"/>
              <a:t>capsid </a:t>
            </a:r>
            <a:r>
              <a:rPr lang="en-US" sz="2400" dirty="0" smtClean="0"/>
              <a:t>: </a:t>
            </a:r>
            <a:r>
              <a:rPr lang="en-US" sz="2400" b="1" i="1" dirty="0" smtClean="0">
                <a:solidFill>
                  <a:srgbClr val="FF0000"/>
                </a:solidFill>
              </a:rPr>
              <a:t>nucleocapsid</a:t>
            </a:r>
            <a:endParaRPr lang="en-US" sz="2400" b="1" dirty="0">
              <a:solidFill>
                <a:srgbClr val="FF0000"/>
              </a:solidFill>
            </a:endParaRPr>
          </a:p>
          <a:p>
            <a:r>
              <a:rPr lang="en-US" sz="2400" dirty="0" smtClean="0"/>
              <a:t>An </a:t>
            </a:r>
            <a:r>
              <a:rPr lang="en-US" sz="2400" dirty="0"/>
              <a:t>additional covering of </a:t>
            </a:r>
            <a:r>
              <a:rPr lang="en-US" sz="2400" dirty="0" smtClean="0"/>
              <a:t>lipid around nucleocapsid: </a:t>
            </a:r>
            <a:r>
              <a:rPr lang="en-US" sz="2400" b="1" i="1" dirty="0" smtClean="0">
                <a:solidFill>
                  <a:srgbClr val="FF0000"/>
                </a:solidFill>
              </a:rPr>
              <a:t>envelope</a:t>
            </a:r>
            <a:endParaRPr lang="en-US" sz="2400" b="1" dirty="0" smtClean="0">
              <a:solidFill>
                <a:srgbClr val="FF0000"/>
              </a:solidFill>
            </a:endParaRPr>
          </a:p>
          <a:p>
            <a:r>
              <a:rPr lang="en-US" sz="2400" dirty="0" smtClean="0"/>
              <a:t>Complete </a:t>
            </a:r>
            <a:r>
              <a:rPr lang="en-US" sz="2400" dirty="0"/>
              <a:t>virus </a:t>
            </a:r>
            <a:r>
              <a:rPr lang="en-US" sz="2400" dirty="0" smtClean="0"/>
              <a:t>particle: </a:t>
            </a:r>
            <a:r>
              <a:rPr lang="en-US" sz="2400" b="1" i="1" dirty="0" smtClean="0">
                <a:solidFill>
                  <a:srgbClr val="FF0000"/>
                </a:solidFill>
              </a:rPr>
              <a:t>Virion</a:t>
            </a:r>
            <a:r>
              <a:rPr lang="en-US" sz="2400" b="1" dirty="0" smtClean="0">
                <a:solidFill>
                  <a:srgbClr val="FF0000"/>
                </a:solidFill>
              </a:rPr>
              <a:t> </a:t>
            </a:r>
          </a:p>
          <a:p>
            <a:r>
              <a:rPr lang="en-US" sz="2400" b="1" dirty="0" smtClean="0">
                <a:solidFill>
                  <a:srgbClr val="FF0000"/>
                </a:solidFill>
              </a:rPr>
              <a:t>Virion</a:t>
            </a:r>
            <a:r>
              <a:rPr lang="en-US" sz="2400" dirty="0" smtClean="0"/>
              <a:t> : virus is infectious </a:t>
            </a:r>
            <a:r>
              <a:rPr lang="en-US" sz="2400" dirty="0"/>
              <a:t>as well as structurally intact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B3EAC-CC46-47B8-9789-FB26E2BEAA5E}" type="datetime1">
              <a:rPr lang="en-US" smtClean="0"/>
              <a:t>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Shemse Sebre(BSc, MSc)</a:t>
            </a:r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4419600"/>
            <a:ext cx="4019550" cy="1866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/>
        </p:nvSpPr>
        <p:spPr>
          <a:xfrm>
            <a:off x="1219200" y="5562600"/>
            <a:ext cx="1308371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dirty="0"/>
              <a:t>Nucleic acid</a:t>
            </a:r>
          </a:p>
        </p:txBody>
      </p:sp>
    </p:spTree>
    <p:extLst>
      <p:ext uri="{BB962C8B-B14F-4D97-AF65-F5344CB8AC3E}">
        <p14:creationId xmlns:p14="http://schemas.microsoft.com/office/powerpoint/2010/main" val="33983836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>
            <a:normAutofit/>
          </a:bodyPr>
          <a:lstStyle/>
          <a:p>
            <a:r>
              <a:rPr lang="en-US" sz="2400" dirty="0"/>
              <a:t>Viral Nucleic </a:t>
            </a:r>
            <a:r>
              <a:rPr lang="en-US" sz="2400" dirty="0" smtClean="0"/>
              <a:t>Acids:</a:t>
            </a:r>
            <a:r>
              <a:rPr lang="en-US" sz="2400" dirty="0"/>
              <a:t> </a:t>
            </a:r>
            <a:r>
              <a:rPr lang="en-US" sz="2400" dirty="0" smtClean="0"/>
              <a:t>DNA/RNA</a:t>
            </a:r>
          </a:p>
          <a:p>
            <a:r>
              <a:rPr lang="en-US" sz="2400" b="1" dirty="0" smtClean="0">
                <a:solidFill>
                  <a:srgbClr val="002060"/>
                </a:solidFill>
              </a:rPr>
              <a:t>Capsids:</a:t>
            </a:r>
            <a:r>
              <a:rPr lang="en-US" sz="2400" b="1" dirty="0">
                <a:solidFill>
                  <a:srgbClr val="002060"/>
                </a:solidFill>
              </a:rPr>
              <a:t> </a:t>
            </a:r>
            <a:r>
              <a:rPr lang="en-US" sz="2400" dirty="0"/>
              <a:t>aggregates of repeating subunits arranged in a defined pattern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The </a:t>
            </a:r>
            <a:r>
              <a:rPr lang="en-US" sz="2400" dirty="0"/>
              <a:t>subunits are called as </a:t>
            </a:r>
            <a:r>
              <a:rPr lang="en-US" sz="2400" b="1" dirty="0" smtClean="0">
                <a:solidFill>
                  <a:srgbClr val="002060"/>
                </a:solidFill>
              </a:rPr>
              <a:t>capsomeres</a:t>
            </a:r>
            <a:r>
              <a:rPr lang="en-US" sz="2400" dirty="0" smtClean="0"/>
              <a:t>.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The capsid has two </a:t>
            </a:r>
            <a:r>
              <a:rPr lang="en-US" sz="2400" b="1" dirty="0" smtClean="0">
                <a:solidFill>
                  <a:srgbClr val="FF0000"/>
                </a:solidFill>
              </a:rPr>
              <a:t>functions: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dirty="0"/>
              <a:t>protect </a:t>
            </a:r>
            <a:r>
              <a:rPr lang="en-US" sz="2400" dirty="0" smtClean="0"/>
              <a:t>genome </a:t>
            </a:r>
            <a:r>
              <a:rPr lang="en-US" sz="2400" dirty="0"/>
              <a:t>from external </a:t>
            </a:r>
            <a:r>
              <a:rPr lang="en-US" sz="2400" dirty="0" smtClean="0"/>
              <a:t>harmful factors</a:t>
            </a:r>
            <a:endParaRPr lang="en-US" sz="2400" dirty="0"/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dirty="0"/>
              <a:t>introduce </a:t>
            </a:r>
            <a:r>
              <a:rPr lang="en-US" sz="2400" dirty="0" smtClean="0"/>
              <a:t>viral </a:t>
            </a:r>
            <a:r>
              <a:rPr lang="en-US" sz="2400" dirty="0"/>
              <a:t>genome into </a:t>
            </a:r>
            <a:r>
              <a:rPr lang="en-US" sz="2400" dirty="0" smtClean="0"/>
              <a:t>host cells. </a:t>
            </a:r>
          </a:p>
          <a:p>
            <a:pPr>
              <a:buFont typeface="Wingdings" pitchFamily="2" charset="2"/>
              <a:buChar char="q"/>
            </a:pPr>
            <a:r>
              <a:rPr lang="en-US" sz="2400" dirty="0" smtClean="0"/>
              <a:t>Similar </a:t>
            </a:r>
            <a:r>
              <a:rPr lang="en-US" sz="2400" dirty="0"/>
              <a:t>functions are also performed </a:t>
            </a:r>
            <a:r>
              <a:rPr lang="en-US" sz="2400" dirty="0" smtClean="0"/>
              <a:t>by lipid</a:t>
            </a:r>
            <a:r>
              <a:rPr lang="en-US" sz="2400" dirty="0"/>
              <a:t> </a:t>
            </a:r>
            <a:r>
              <a:rPr lang="en-US" sz="2400" dirty="0" smtClean="0"/>
              <a:t>envelope </a:t>
            </a:r>
            <a:r>
              <a:rPr lang="en-US" sz="2400" dirty="0"/>
              <a:t>of </a:t>
            </a:r>
            <a:r>
              <a:rPr lang="en-US" sz="2400" dirty="0" smtClean="0"/>
              <a:t>virus.</a:t>
            </a:r>
            <a:r>
              <a:rPr lang="en-US" sz="2400" dirty="0"/>
              <a:t/>
            </a:r>
            <a:br>
              <a:rPr lang="en-US" sz="2400" dirty="0"/>
            </a:br>
            <a:endParaRPr lang="en-US" sz="2400" dirty="0" smtClean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B3EAC-CC46-47B8-9789-FB26E2BEAA5E}" type="datetime1">
              <a:rPr lang="en-US" smtClean="0"/>
              <a:t>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Shemse Sebre(BSc, MSc)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9182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/>
              <a:t>Envelope</a:t>
            </a:r>
            <a:endParaRPr lang="en-US" dirty="0"/>
          </a:p>
          <a:p>
            <a:r>
              <a:rPr lang="en-US" sz="2400" dirty="0"/>
              <a:t>In some viruses </a:t>
            </a:r>
            <a:r>
              <a:rPr lang="en-US" sz="2400" dirty="0" smtClean="0"/>
              <a:t>capsid </a:t>
            </a:r>
            <a:r>
              <a:rPr lang="en-US" sz="2400" dirty="0"/>
              <a:t>is covered by a lipid </a:t>
            </a:r>
            <a:r>
              <a:rPr lang="en-US" sz="2400" dirty="0" smtClean="0"/>
              <a:t>envelope/proteins</a:t>
            </a:r>
          </a:p>
          <a:p>
            <a:r>
              <a:rPr lang="en-US" sz="2400" dirty="0"/>
              <a:t>Depending on </a:t>
            </a:r>
            <a:r>
              <a:rPr lang="en-US" sz="2400" dirty="0" smtClean="0"/>
              <a:t>virus</a:t>
            </a:r>
            <a:r>
              <a:rPr lang="en-US" sz="2400" dirty="0"/>
              <a:t>, envelopes may </a:t>
            </a:r>
            <a:r>
              <a:rPr lang="en-US" sz="2400" dirty="0" smtClean="0"/>
              <a:t>be </a:t>
            </a:r>
            <a:r>
              <a:rPr lang="en-US" sz="2400" dirty="0"/>
              <a:t>covered by </a:t>
            </a:r>
            <a:r>
              <a:rPr lang="en-US" sz="2400" b="1" dirty="0" smtClean="0">
                <a:solidFill>
                  <a:srgbClr val="002060"/>
                </a:solidFill>
              </a:rPr>
              <a:t>spikes</a:t>
            </a:r>
          </a:p>
          <a:p>
            <a:r>
              <a:rPr lang="en-US" sz="2400" b="1" i="1" dirty="0" smtClean="0">
                <a:solidFill>
                  <a:srgbClr val="002060"/>
                </a:solidFill>
              </a:rPr>
              <a:t>Haemagglutination</a:t>
            </a:r>
            <a:r>
              <a:rPr lang="en-US" sz="2400" dirty="0" smtClean="0"/>
              <a:t>: </a:t>
            </a:r>
            <a:r>
              <a:rPr lang="en-US" sz="2400" dirty="0"/>
              <a:t>clump red blood </a:t>
            </a:r>
            <a:r>
              <a:rPr lang="en-US" sz="2400" dirty="0" smtClean="0"/>
              <a:t>cells</a:t>
            </a:r>
            <a:r>
              <a:rPr lang="en-US" sz="2400" dirty="0"/>
              <a:t> </a:t>
            </a:r>
            <a:r>
              <a:rPr lang="en-US" sz="2400" dirty="0" smtClean="0"/>
              <a:t>by </a:t>
            </a:r>
            <a:r>
              <a:rPr lang="en-US" sz="2400" dirty="0"/>
              <a:t>influenza </a:t>
            </a:r>
            <a:r>
              <a:rPr lang="en-US" sz="2400" dirty="0" smtClean="0"/>
              <a:t>virus</a:t>
            </a:r>
          </a:p>
          <a:p>
            <a:r>
              <a:rPr lang="en-US" sz="2400" dirty="0"/>
              <a:t>Viruses whose capsid is not covered by an </a:t>
            </a:r>
            <a:r>
              <a:rPr lang="en-US" sz="2400" dirty="0" smtClean="0"/>
              <a:t>envelope: </a:t>
            </a:r>
            <a:r>
              <a:rPr lang="en-US" sz="2400" b="1" i="1" dirty="0" smtClean="0">
                <a:solidFill>
                  <a:srgbClr val="002060"/>
                </a:solidFill>
              </a:rPr>
              <a:t>naked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B3EAC-CC46-47B8-9789-FB26E2BEAA5E}" type="datetime1">
              <a:rPr lang="en-US" smtClean="0"/>
              <a:t>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Shemse Sebre(BSc, MSc)</a:t>
            </a:r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3124200"/>
            <a:ext cx="4200525" cy="1876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1447800" y="5181600"/>
            <a:ext cx="6477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Fig. </a:t>
            </a:r>
            <a:r>
              <a:rPr lang="en-US" b="1" dirty="0" smtClean="0"/>
              <a:t>2</a:t>
            </a:r>
            <a:r>
              <a:rPr lang="en-US" b="1" dirty="0"/>
              <a:t>. </a:t>
            </a:r>
            <a:r>
              <a:rPr lang="en-US" dirty="0"/>
              <a:t>Naked virus (A) and enveloped virus with spikes (B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8276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Symmetry of </a:t>
            </a:r>
            <a:r>
              <a:rPr lang="en-US" sz="2400" b="1" dirty="0" smtClean="0"/>
              <a:t>Viruses-</a:t>
            </a:r>
            <a:r>
              <a:rPr lang="en-US" sz="2400" dirty="0" smtClean="0"/>
              <a:t> capsids</a:t>
            </a:r>
            <a:endParaRPr lang="en-US" sz="2400" dirty="0"/>
          </a:p>
          <a:p>
            <a:r>
              <a:rPr lang="en-US" sz="2400" dirty="0" smtClean="0"/>
              <a:t>Two types of symmetries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b="1" dirty="0" smtClean="0">
                <a:solidFill>
                  <a:srgbClr val="002060"/>
                </a:solidFill>
              </a:rPr>
              <a:t>Helical</a:t>
            </a:r>
            <a:r>
              <a:rPr lang="en-US" sz="2400" dirty="0" smtClean="0"/>
              <a:t>:</a:t>
            </a:r>
            <a:r>
              <a:rPr lang="en-US" sz="2400" dirty="0"/>
              <a:t> </a:t>
            </a:r>
            <a:r>
              <a:rPr lang="en-US" sz="2400" dirty="0" smtClean="0"/>
              <a:t>10-20 nm </a:t>
            </a:r>
            <a:r>
              <a:rPr lang="en-US" sz="2400" dirty="0"/>
              <a:t>in </a:t>
            </a:r>
            <a:r>
              <a:rPr lang="en-US" sz="2400" dirty="0" smtClean="0"/>
              <a:t>diameter </a:t>
            </a:r>
            <a:r>
              <a:rPr lang="en-US" sz="2400" dirty="0"/>
              <a:t>resemble long rods that may be </a:t>
            </a:r>
            <a:r>
              <a:rPr lang="en-US" sz="2400" dirty="0" smtClean="0"/>
              <a:t>rigid or </a:t>
            </a:r>
            <a:r>
              <a:rPr lang="en-US" sz="2400" dirty="0"/>
              <a:t>flexible</a:t>
            </a:r>
            <a:r>
              <a:rPr lang="en-US" sz="2400" dirty="0" smtClean="0"/>
              <a:t>.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b="1" dirty="0" smtClean="0">
                <a:solidFill>
                  <a:srgbClr val="002060"/>
                </a:solidFill>
              </a:rPr>
              <a:t>Icosahedral </a:t>
            </a:r>
            <a:r>
              <a:rPr lang="en-US" sz="2400" dirty="0"/>
              <a:t>(or cubic </a:t>
            </a:r>
            <a:r>
              <a:rPr lang="en-US" sz="2400" dirty="0" smtClean="0"/>
              <a:t>or polyhedral):</a:t>
            </a:r>
            <a:r>
              <a:rPr lang="en-US" dirty="0"/>
              <a:t> </a:t>
            </a:r>
            <a:r>
              <a:rPr lang="en-US" sz="2400" dirty="0"/>
              <a:t>12 vertices, and 20 faces each an </a:t>
            </a:r>
            <a:r>
              <a:rPr lang="en-US" sz="2400" dirty="0" smtClean="0"/>
              <a:t>equilateral triangle.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 smtClean="0"/>
              <a:t>Capsomers arranged : 5:3:2- fold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B3EAC-CC46-47B8-9789-FB26E2BEAA5E}" type="datetime1">
              <a:rPr lang="en-US" smtClean="0"/>
              <a:t>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Shemse Sebre(BSc, MSc)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657600"/>
            <a:ext cx="3219450" cy="227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609600" y="5867400"/>
            <a:ext cx="3200400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/>
              <a:t>Fig. </a:t>
            </a:r>
            <a:r>
              <a:rPr lang="en-US" b="1" dirty="0" smtClean="0"/>
              <a:t>3</a:t>
            </a:r>
            <a:r>
              <a:rPr lang="en-US" b="1" dirty="0"/>
              <a:t>. </a:t>
            </a:r>
            <a:r>
              <a:rPr lang="en-US" dirty="0"/>
              <a:t>An </a:t>
            </a:r>
            <a:r>
              <a:rPr lang="en-US" dirty="0" smtClean="0"/>
              <a:t>icosahedron</a:t>
            </a:r>
            <a:endParaRPr lang="en-US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3581400"/>
            <a:ext cx="3390900" cy="2257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/>
        </p:nvSpPr>
        <p:spPr>
          <a:xfrm>
            <a:off x="5029200" y="5715000"/>
            <a:ext cx="3429000" cy="64633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/>
              <a:t>Fig. </a:t>
            </a:r>
            <a:r>
              <a:rPr lang="en-US" b="1" dirty="0" smtClean="0"/>
              <a:t>4</a:t>
            </a:r>
            <a:r>
              <a:rPr lang="en-US" b="1" dirty="0"/>
              <a:t>. </a:t>
            </a:r>
            <a:r>
              <a:rPr lang="en-US" dirty="0"/>
              <a:t>Morphology of helical </a:t>
            </a:r>
            <a:r>
              <a:rPr lang="en-US" dirty="0" smtClean="0"/>
              <a:t>virus</a:t>
            </a:r>
          </a:p>
          <a:p>
            <a:r>
              <a:rPr lang="en-US" dirty="0" smtClean="0"/>
              <a:t>TMV and </a:t>
            </a:r>
            <a:r>
              <a:rPr lang="en-US" dirty="0"/>
              <a:t>Rabies </a:t>
            </a:r>
            <a:r>
              <a:rPr lang="en-US" dirty="0" smtClean="0"/>
              <a:t>virus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2810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Complex </a:t>
            </a:r>
            <a:r>
              <a:rPr lang="en-US" sz="2400" b="1" dirty="0" smtClean="0">
                <a:solidFill>
                  <a:srgbClr val="002060"/>
                </a:solidFill>
              </a:rPr>
              <a:t>Viruses</a:t>
            </a:r>
            <a:endParaRPr lang="en-US" sz="2400" dirty="0">
              <a:solidFill>
                <a:srgbClr val="002060"/>
              </a:solidFill>
            </a:endParaRPr>
          </a:p>
          <a:p>
            <a:pPr>
              <a:buFont typeface="Wingdings" pitchFamily="2" charset="2"/>
              <a:buChar char="§"/>
            </a:pPr>
            <a:r>
              <a:rPr lang="en-US" sz="2400" dirty="0" smtClean="0"/>
              <a:t>Some </a:t>
            </a:r>
            <a:r>
              <a:rPr lang="en-US" sz="2400" dirty="0"/>
              <a:t>viruses have a very complicated </a:t>
            </a:r>
            <a:r>
              <a:rPr lang="en-US" sz="2400" dirty="0" smtClean="0"/>
              <a:t>structure</a:t>
            </a:r>
            <a:endParaRPr lang="en-US" sz="2400" dirty="0"/>
          </a:p>
          <a:p>
            <a:pPr>
              <a:buFont typeface="Wingdings" pitchFamily="2" charset="2"/>
              <a:buChar char="§"/>
            </a:pPr>
            <a:r>
              <a:rPr lang="en-US" sz="2400" dirty="0" smtClean="0"/>
              <a:t>E.g. </a:t>
            </a:r>
            <a:r>
              <a:rPr lang="en-US" sz="2400" dirty="0"/>
              <a:t> </a:t>
            </a:r>
            <a:r>
              <a:rPr lang="en-US" sz="2400" b="1" dirty="0" smtClean="0">
                <a:solidFill>
                  <a:srgbClr val="FF0000"/>
                </a:solidFill>
              </a:rPr>
              <a:t>Poxviruses</a:t>
            </a:r>
            <a:r>
              <a:rPr lang="en-US" sz="2400" dirty="0"/>
              <a:t>, which </a:t>
            </a:r>
            <a:r>
              <a:rPr lang="en-US" sz="2400" dirty="0" smtClean="0"/>
              <a:t>don’t contain</a:t>
            </a:r>
            <a:r>
              <a:rPr lang="en-US" sz="2400" dirty="0"/>
              <a:t> </a:t>
            </a:r>
            <a:r>
              <a:rPr lang="en-US" sz="2400" dirty="0" smtClean="0"/>
              <a:t>identifiable capsids with several coats around </a:t>
            </a:r>
            <a:r>
              <a:rPr lang="en-US" sz="2400" dirty="0"/>
              <a:t>the nucleic acid</a:t>
            </a:r>
            <a:r>
              <a:rPr lang="en-US" sz="2400" dirty="0" smtClean="0"/>
              <a:t>.</a:t>
            </a:r>
          </a:p>
          <a:p>
            <a:pPr>
              <a:buFont typeface="Wingdings" pitchFamily="2" charset="2"/>
              <a:buChar char="§"/>
            </a:pPr>
            <a:r>
              <a:rPr lang="en-US" sz="2400" b="1" dirty="0"/>
              <a:t>Viral </a:t>
            </a:r>
            <a:r>
              <a:rPr lang="en-US" sz="2400" b="1" dirty="0" smtClean="0"/>
              <a:t>Proteins</a:t>
            </a:r>
            <a:r>
              <a:rPr lang="en-US" sz="2400" dirty="0"/>
              <a:t> </a:t>
            </a:r>
            <a:r>
              <a:rPr lang="en-US" sz="2400" dirty="0" smtClean="0"/>
              <a:t>two </a:t>
            </a:r>
            <a:r>
              <a:rPr lang="en-US" sz="2400" dirty="0"/>
              <a:t>groups:</a:t>
            </a:r>
            <a:br>
              <a:rPr lang="en-US" sz="2400" dirty="0"/>
            </a:br>
            <a:r>
              <a:rPr lang="en-US" sz="2400" dirty="0"/>
              <a:t>a. </a:t>
            </a:r>
            <a:r>
              <a:rPr lang="en-US" sz="2400" b="1" dirty="0">
                <a:solidFill>
                  <a:srgbClr val="002060"/>
                </a:solidFill>
              </a:rPr>
              <a:t>Structural </a:t>
            </a:r>
            <a:r>
              <a:rPr lang="en-US" sz="2400" b="1" dirty="0" smtClean="0">
                <a:solidFill>
                  <a:srgbClr val="002060"/>
                </a:solidFill>
              </a:rPr>
              <a:t>proteins</a:t>
            </a:r>
            <a:r>
              <a:rPr lang="en-US" sz="2400" dirty="0" smtClean="0"/>
              <a:t>: </a:t>
            </a:r>
            <a:r>
              <a:rPr lang="en-US" sz="2400" dirty="0"/>
              <a:t>present in </a:t>
            </a:r>
            <a:r>
              <a:rPr lang="en-US" sz="2400" dirty="0" smtClean="0"/>
              <a:t>coat </a:t>
            </a:r>
            <a:r>
              <a:rPr lang="en-US" sz="2400" dirty="0"/>
              <a:t>of </a:t>
            </a:r>
            <a:r>
              <a:rPr lang="en-US" sz="2400" dirty="0" smtClean="0"/>
              <a:t>virus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b. </a:t>
            </a:r>
            <a:r>
              <a:rPr lang="en-US" sz="2400" b="1" dirty="0">
                <a:solidFill>
                  <a:srgbClr val="002060"/>
                </a:solidFill>
              </a:rPr>
              <a:t>Non-structural proteins </a:t>
            </a:r>
            <a:r>
              <a:rPr lang="en-US" sz="2400" dirty="0"/>
              <a:t>(functional proteins</a:t>
            </a:r>
            <a:r>
              <a:rPr lang="en-US" sz="2400" dirty="0" smtClean="0"/>
              <a:t>):</a:t>
            </a:r>
            <a:r>
              <a:rPr lang="en-US" sz="2400" dirty="0"/>
              <a:t> </a:t>
            </a:r>
            <a:r>
              <a:rPr lang="en-US" sz="2400" dirty="0" smtClean="0"/>
              <a:t>enzymes </a:t>
            </a:r>
            <a:r>
              <a:rPr lang="en-US" sz="2400" dirty="0"/>
              <a:t>and haemagglutinins </a:t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B3EAC-CC46-47B8-9789-FB26E2BEAA5E}" type="datetime1">
              <a:rPr lang="en-US" smtClean="0"/>
              <a:t>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Shemse Sebre(BSc, MSc)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4631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/>
          </a:bodyPr>
          <a:lstStyle/>
          <a:p>
            <a:r>
              <a:rPr lang="en-US" sz="2400" dirty="0"/>
              <a:t> </a:t>
            </a:r>
            <a:r>
              <a:rPr lang="en-US" sz="2400" dirty="0" smtClean="0"/>
              <a:t>Four </a:t>
            </a:r>
            <a:r>
              <a:rPr lang="en-US" sz="2400" dirty="0"/>
              <a:t>groups of </a:t>
            </a:r>
            <a:r>
              <a:rPr lang="en-US" sz="2400" dirty="0">
                <a:solidFill>
                  <a:srgbClr val="002060"/>
                </a:solidFill>
              </a:rPr>
              <a:t>enzymes </a:t>
            </a:r>
            <a:r>
              <a:rPr lang="en-US" sz="2400" dirty="0"/>
              <a:t>have been detected in </a:t>
            </a:r>
            <a:r>
              <a:rPr lang="en-US" sz="2400" dirty="0" smtClean="0"/>
              <a:t>viruses:</a:t>
            </a:r>
            <a:br>
              <a:rPr lang="en-US" sz="2400" dirty="0" smtClean="0"/>
            </a:br>
            <a:r>
              <a:rPr lang="en-US" sz="2400" dirty="0" smtClean="0"/>
              <a:t>a</a:t>
            </a:r>
            <a:r>
              <a:rPr lang="en-US" sz="2400" dirty="0"/>
              <a:t>. Neuraminidase</a:t>
            </a:r>
            <a:br>
              <a:rPr lang="en-US" sz="2400" dirty="0"/>
            </a:br>
            <a:r>
              <a:rPr lang="en-US" sz="2400" dirty="0"/>
              <a:t>b. RNA polymerase</a:t>
            </a:r>
            <a:br>
              <a:rPr lang="en-US" sz="2400" dirty="0"/>
            </a:br>
            <a:r>
              <a:rPr lang="en-US" sz="2400" dirty="0"/>
              <a:t>c. Reverse transcriptase</a:t>
            </a:r>
            <a:br>
              <a:rPr lang="en-US" sz="2400" dirty="0"/>
            </a:br>
            <a:r>
              <a:rPr lang="en-US" sz="2400" dirty="0"/>
              <a:t>d. Enzymes of cellular origin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B3EAC-CC46-47B8-9789-FB26E2BEAA5E}" type="datetime1">
              <a:rPr lang="en-US" smtClean="0"/>
              <a:t>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Shemse Sebre(BSc, MSc)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3004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9436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endParaRPr lang="en-US" sz="2400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/>
              <a:t>Two </a:t>
            </a:r>
            <a:r>
              <a:rPr lang="en-US" sz="2400" dirty="0"/>
              <a:t>classes of infectious agents </a:t>
            </a:r>
            <a:r>
              <a:rPr lang="en-US" sz="2400" dirty="0" smtClean="0"/>
              <a:t>exist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 smtClean="0"/>
              <a:t>Structurally </a:t>
            </a:r>
            <a:r>
              <a:rPr lang="en-US" sz="2000" dirty="0"/>
              <a:t>simpler than viruses</a:t>
            </a:r>
            <a:r>
              <a:rPr lang="en-US" sz="2000" dirty="0" smtClean="0"/>
              <a:t>.</a:t>
            </a:r>
          </a:p>
          <a:p>
            <a:pPr marL="514350" indent="-514350">
              <a:buAutoNum type="romanUcPeriod"/>
            </a:pPr>
            <a:r>
              <a:rPr lang="en-US" sz="2400" b="1" dirty="0" smtClean="0">
                <a:solidFill>
                  <a:srgbClr val="002060"/>
                </a:solidFill>
              </a:rPr>
              <a:t>Viroids: </a:t>
            </a:r>
            <a:r>
              <a:rPr lang="en-US" sz="2400" dirty="0" smtClean="0"/>
              <a:t>infectious </a:t>
            </a:r>
            <a:r>
              <a:rPr lang="en-US" sz="2400" dirty="0"/>
              <a:t>circular RNA molecules </a:t>
            </a:r>
            <a:r>
              <a:rPr lang="en-US" sz="2400" dirty="0" smtClean="0"/>
              <a:t>lack </a:t>
            </a:r>
            <a:r>
              <a:rPr lang="en-US" sz="2400" dirty="0"/>
              <a:t>protein </a:t>
            </a:r>
            <a:r>
              <a:rPr lang="en-US" sz="2400" dirty="0" smtClean="0"/>
              <a:t>shells 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 smtClean="0"/>
              <a:t>Responsible </a:t>
            </a:r>
            <a:r>
              <a:rPr lang="en-US" sz="2000" dirty="0"/>
              <a:t>for a variety of plant diseases</a:t>
            </a:r>
            <a:r>
              <a:rPr lang="en-US" sz="2000" dirty="0" smtClean="0"/>
              <a:t>.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 smtClean="0"/>
              <a:t> </a:t>
            </a:r>
            <a:r>
              <a:rPr lang="en-US" sz="1800" b="1" dirty="0">
                <a:solidFill>
                  <a:srgbClr val="002060"/>
                </a:solidFill>
              </a:rPr>
              <a:t>Hepatitis </a:t>
            </a:r>
            <a:r>
              <a:rPr lang="en-US" sz="1800" b="1" dirty="0" smtClean="0">
                <a:solidFill>
                  <a:srgbClr val="002060"/>
                </a:solidFill>
              </a:rPr>
              <a:t>delta</a:t>
            </a:r>
            <a:r>
              <a:rPr lang="en-US" sz="1800" dirty="0"/>
              <a:t> </a:t>
            </a:r>
            <a:r>
              <a:rPr lang="en-US" sz="1800" dirty="0" smtClean="0"/>
              <a:t>found </a:t>
            </a:r>
            <a:r>
              <a:rPr lang="en-US" sz="1800" dirty="0"/>
              <a:t>in association with </a:t>
            </a:r>
            <a:r>
              <a:rPr lang="en-US" sz="1800" dirty="0" smtClean="0"/>
              <a:t>HBV</a:t>
            </a:r>
          </a:p>
          <a:p>
            <a:pPr marL="0" indent="0">
              <a:buNone/>
            </a:pPr>
            <a:r>
              <a:rPr lang="en-US" sz="2000" dirty="0" smtClean="0"/>
              <a:t> </a:t>
            </a:r>
            <a:r>
              <a:rPr lang="en-US" sz="2400" b="1" dirty="0" smtClean="0">
                <a:solidFill>
                  <a:srgbClr val="002060"/>
                </a:solidFill>
              </a:rPr>
              <a:t>II. Prions:  </a:t>
            </a:r>
            <a:r>
              <a:rPr lang="en-US" sz="2400" dirty="0" smtClean="0"/>
              <a:t>lack </a:t>
            </a:r>
            <a:r>
              <a:rPr lang="en-US" sz="2400" dirty="0"/>
              <a:t>any genes and </a:t>
            </a:r>
            <a:r>
              <a:rPr lang="en-US" sz="2400" dirty="0" smtClean="0"/>
              <a:t>composed </a:t>
            </a:r>
            <a:r>
              <a:rPr lang="en-US" sz="2400" dirty="0"/>
              <a:t>only of </a:t>
            </a:r>
            <a:r>
              <a:rPr lang="en-US" sz="2400" dirty="0" smtClean="0"/>
              <a:t>protein</a:t>
            </a:r>
            <a:endParaRPr lang="en-US" sz="2400" dirty="0"/>
          </a:p>
          <a:p>
            <a:pPr lvl="1">
              <a:buFont typeface="Wingdings" pitchFamily="2" charset="2"/>
              <a:buChar char="Ø"/>
            </a:pPr>
            <a:r>
              <a:rPr lang="en-US" sz="2000" dirty="0" smtClean="0"/>
              <a:t>Responsible </a:t>
            </a:r>
            <a:r>
              <a:rPr lang="en-US" sz="2000" dirty="0"/>
              <a:t>for some transmissible and inherited spongiform encephalopathies such </a:t>
            </a:r>
            <a:r>
              <a:rPr lang="en-US" sz="2000" dirty="0" smtClean="0"/>
              <a:t>as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 smtClean="0"/>
              <a:t> </a:t>
            </a:r>
            <a:r>
              <a:rPr lang="en-US" sz="2000" dirty="0">
                <a:solidFill>
                  <a:srgbClr val="002060"/>
                </a:solidFill>
              </a:rPr>
              <a:t>scrapie</a:t>
            </a:r>
            <a:r>
              <a:rPr lang="en-US" sz="2000" dirty="0"/>
              <a:t> in sheep; </a:t>
            </a:r>
            <a:r>
              <a:rPr lang="en-US" sz="2000" dirty="0">
                <a:solidFill>
                  <a:srgbClr val="002060"/>
                </a:solidFill>
              </a:rPr>
              <a:t>bovine spongiform encephalopathy </a:t>
            </a:r>
            <a:r>
              <a:rPr lang="en-US" sz="2000" dirty="0" smtClean="0"/>
              <a:t>in cattle</a:t>
            </a:r>
            <a:r>
              <a:rPr lang="en-US" sz="2000" dirty="0"/>
              <a:t>; and </a:t>
            </a:r>
            <a:r>
              <a:rPr lang="en-US" sz="2000" dirty="0">
                <a:solidFill>
                  <a:srgbClr val="002060"/>
                </a:solidFill>
              </a:rPr>
              <a:t>kuru</a:t>
            </a:r>
            <a:r>
              <a:rPr lang="en-US" sz="2000" dirty="0"/>
              <a:t>, </a:t>
            </a:r>
            <a:r>
              <a:rPr lang="en-US" sz="2000" dirty="0">
                <a:solidFill>
                  <a:srgbClr val="002060"/>
                </a:solidFill>
              </a:rPr>
              <a:t>Creutzfeldt-Jakob disease</a:t>
            </a:r>
            <a:r>
              <a:rPr lang="en-US" sz="2000" dirty="0"/>
              <a:t>, and </a:t>
            </a:r>
            <a:r>
              <a:rPr lang="en-US" sz="2000" dirty="0">
                <a:solidFill>
                  <a:srgbClr val="002060"/>
                </a:solidFill>
              </a:rPr>
              <a:t>Gerstmann-Sträussler-Scheinker syndrome </a:t>
            </a:r>
            <a:r>
              <a:rPr lang="en-US" sz="2000" dirty="0"/>
              <a:t>in humans</a:t>
            </a:r>
            <a:r>
              <a:rPr lang="en-US" sz="2000" dirty="0" smtClean="0"/>
              <a:t>.</a:t>
            </a:r>
            <a:endParaRPr lang="en-US" sz="20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F3703-BA72-4B2B-ADDF-B08D1EA2A99A}" type="datetime1">
              <a:rPr lang="en-US" smtClean="0"/>
              <a:t>1/23/2023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Shemse Sebre(BSc, MSc)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9233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endParaRPr lang="en-US" sz="2400" dirty="0" smtClean="0"/>
          </a:p>
          <a:p>
            <a:r>
              <a:rPr lang="en-US" sz="2400" dirty="0" smtClean="0"/>
              <a:t>All </a:t>
            </a:r>
            <a:r>
              <a:rPr lang="en-US" sz="2400" dirty="0"/>
              <a:t>viruses follow a similar set of steps to generate new </a:t>
            </a:r>
            <a:r>
              <a:rPr lang="en-US" sz="2400" dirty="0" smtClean="0"/>
              <a:t>viruses.</a:t>
            </a:r>
          </a:p>
          <a:p>
            <a:r>
              <a:rPr lang="en-US" sz="2400" dirty="0" smtClean="0"/>
              <a:t>The </a:t>
            </a:r>
            <a:r>
              <a:rPr lang="en-US" sz="2400" dirty="0"/>
              <a:t>basic </a:t>
            </a:r>
            <a:r>
              <a:rPr lang="en-US" sz="2400" dirty="0" smtClean="0"/>
              <a:t>steps for </a:t>
            </a:r>
            <a:r>
              <a:rPr lang="en-US" sz="2400" b="1" dirty="0">
                <a:solidFill>
                  <a:srgbClr val="FF0000"/>
                </a:solidFill>
              </a:rPr>
              <a:t>replicating </a:t>
            </a:r>
            <a:r>
              <a:rPr lang="en-US" sz="2400" b="1" dirty="0" smtClean="0">
                <a:solidFill>
                  <a:srgbClr val="FF0000"/>
                </a:solidFill>
              </a:rPr>
              <a:t>virus </a:t>
            </a:r>
            <a:r>
              <a:rPr lang="en-US" sz="2400" dirty="0"/>
              <a:t>include:</a:t>
            </a:r>
            <a:br>
              <a:rPr lang="en-US" sz="2400" dirty="0"/>
            </a:br>
            <a:r>
              <a:rPr lang="en-US" sz="2400" dirty="0"/>
              <a:t>1. Recognition and attachment</a:t>
            </a:r>
            <a:br>
              <a:rPr lang="en-US" sz="2400" dirty="0"/>
            </a:br>
            <a:r>
              <a:rPr lang="en-US" sz="2400" dirty="0"/>
              <a:t>2. Entry into </a:t>
            </a:r>
            <a:r>
              <a:rPr lang="en-US" sz="2400" dirty="0" smtClean="0"/>
              <a:t>cell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3. Uncoating</a:t>
            </a:r>
            <a:br>
              <a:rPr lang="en-US" sz="2400" dirty="0"/>
            </a:br>
            <a:r>
              <a:rPr lang="en-US" sz="2400" dirty="0"/>
              <a:t>4. Synthesis of </a:t>
            </a:r>
            <a:r>
              <a:rPr lang="en-US" sz="2400" dirty="0" smtClean="0"/>
              <a:t>macromolecular components</a:t>
            </a:r>
            <a:r>
              <a:rPr lang="en-US" sz="2400" dirty="0"/>
              <a:t> </a:t>
            </a:r>
            <a:r>
              <a:rPr lang="en-US" sz="2400" dirty="0" smtClean="0"/>
              <a:t>(genome </a:t>
            </a:r>
            <a:r>
              <a:rPr lang="en-US" sz="2400" dirty="0"/>
              <a:t>and </a:t>
            </a:r>
            <a:r>
              <a:rPr lang="en-US" sz="2400" dirty="0" smtClean="0"/>
              <a:t>structural parts </a:t>
            </a:r>
            <a:r>
              <a:rPr lang="en-US" sz="2400" dirty="0"/>
              <a:t>of </a:t>
            </a:r>
            <a:r>
              <a:rPr lang="en-US" sz="2400" dirty="0" smtClean="0"/>
              <a:t>virion particle)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5. Assembly of </a:t>
            </a:r>
            <a:r>
              <a:rPr lang="en-US" sz="2400" dirty="0" smtClean="0"/>
              <a:t>new </a:t>
            </a:r>
            <a:r>
              <a:rPr lang="en-US" sz="2400" dirty="0"/>
              <a:t>virion particles</a:t>
            </a:r>
            <a:br>
              <a:rPr lang="en-US" sz="2400" dirty="0"/>
            </a:br>
            <a:r>
              <a:rPr lang="en-US" sz="2400" dirty="0"/>
              <a:t>6. Exit from the cell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3ACE1-8C44-400F-9FAE-AABC5E00F7A2}" type="datetime1">
              <a:rPr lang="en-US" smtClean="0"/>
              <a:t>1/23/2023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Shemse Sebre(BSc, MSc)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0921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7912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1" y="914400"/>
            <a:ext cx="78486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1714501" y="5867400"/>
            <a:ext cx="5638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</a:rPr>
              <a:t>Figure: The </a:t>
            </a:r>
            <a:r>
              <a:rPr lang="en-US" b="1" dirty="0">
                <a:solidFill>
                  <a:srgbClr val="002060"/>
                </a:solidFill>
              </a:rPr>
              <a:t>basic </a:t>
            </a:r>
            <a:r>
              <a:rPr lang="en-US" b="1" dirty="0" smtClean="0">
                <a:solidFill>
                  <a:srgbClr val="002060"/>
                </a:solidFill>
              </a:rPr>
              <a:t>steps for </a:t>
            </a:r>
            <a:r>
              <a:rPr lang="en-US" b="1" dirty="0">
                <a:solidFill>
                  <a:srgbClr val="002060"/>
                </a:solidFill>
              </a:rPr>
              <a:t>replicating the </a:t>
            </a:r>
            <a:r>
              <a:rPr lang="en-US" b="1" dirty="0" smtClean="0">
                <a:solidFill>
                  <a:srgbClr val="002060"/>
                </a:solidFill>
              </a:rPr>
              <a:t>virus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3AE58-51BC-4F3B-BA42-8E92C56B3585}" type="datetime1">
              <a:rPr lang="en-US" smtClean="0"/>
              <a:t>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Shemse Sebre(BSc, MSc)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827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b="1" dirty="0" smtClean="0"/>
              <a:t>1. Recognition, attachment, and entry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2578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400" dirty="0"/>
              <a:t>Finding and binding of </a:t>
            </a:r>
            <a:r>
              <a:rPr lang="en-US" sz="2400" dirty="0" smtClean="0"/>
              <a:t>virus </a:t>
            </a:r>
            <a:r>
              <a:rPr lang="en-US" sz="2400" dirty="0"/>
              <a:t>to </a:t>
            </a:r>
            <a:r>
              <a:rPr lang="en-US" sz="2400" dirty="0" smtClean="0"/>
              <a:t>appropriate </a:t>
            </a:r>
            <a:r>
              <a:rPr lang="en-US" sz="2400" dirty="0"/>
              <a:t>cell is mediated </a:t>
            </a:r>
            <a:r>
              <a:rPr lang="en-US" sz="2400" dirty="0" smtClean="0"/>
              <a:t>by: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b="1" dirty="0" smtClean="0">
                <a:solidFill>
                  <a:srgbClr val="002060"/>
                </a:solidFill>
              </a:rPr>
              <a:t>Surface </a:t>
            </a:r>
            <a:r>
              <a:rPr lang="en-US" sz="2000" b="1" dirty="0">
                <a:solidFill>
                  <a:srgbClr val="002060"/>
                </a:solidFill>
              </a:rPr>
              <a:t>structures </a:t>
            </a:r>
            <a:r>
              <a:rPr lang="en-US" sz="2000" dirty="0" smtClean="0"/>
              <a:t>of naked </a:t>
            </a:r>
            <a:r>
              <a:rPr lang="en-US" sz="2000" dirty="0"/>
              <a:t>capsid virus </a:t>
            </a:r>
            <a:r>
              <a:rPr lang="en-US" sz="2000" dirty="0" smtClean="0"/>
              <a:t>or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b="1" dirty="0" smtClean="0">
                <a:solidFill>
                  <a:srgbClr val="002060"/>
                </a:solidFill>
              </a:rPr>
              <a:t>Glycoproteins</a:t>
            </a:r>
            <a:r>
              <a:rPr lang="en-US" sz="2000" dirty="0" smtClean="0"/>
              <a:t> of the envelope virus.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b="1" dirty="0">
                <a:solidFill>
                  <a:srgbClr val="7030A0"/>
                </a:solidFill>
              </a:rPr>
              <a:t>Neutralizing antibodies </a:t>
            </a:r>
            <a:r>
              <a:rPr lang="en-US" sz="2000" dirty="0"/>
              <a:t>are </a:t>
            </a:r>
            <a:r>
              <a:rPr lang="en-US" sz="2000" dirty="0" smtClean="0"/>
              <a:t>often specific </a:t>
            </a:r>
            <a:r>
              <a:rPr lang="en-US" sz="2000" dirty="0"/>
              <a:t>for attachment </a:t>
            </a:r>
            <a:r>
              <a:rPr lang="en-US" sz="2000" dirty="0" smtClean="0"/>
              <a:t>proteins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6DFA0-2266-4268-8BDF-D4735979AEA7}" type="datetime1">
              <a:rPr lang="en-US" smtClean="0"/>
              <a:t>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Shemse Sebre(BSc, MSc)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501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Autofit/>
          </a:bodyPr>
          <a:lstStyle/>
          <a:p>
            <a:pPr algn="r"/>
            <a:r>
              <a:rPr lang="en-US" sz="2000" dirty="0" smtClean="0"/>
              <a:t>Cont.</a:t>
            </a:r>
            <a:endParaRPr lang="en-US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400" b="1" dirty="0" smtClean="0">
                <a:solidFill>
                  <a:srgbClr val="002060"/>
                </a:solidFill>
              </a:rPr>
              <a:t>Viral </a:t>
            </a:r>
            <a:r>
              <a:rPr lang="en-US" sz="2400" b="1" dirty="0">
                <a:solidFill>
                  <a:srgbClr val="002060"/>
                </a:solidFill>
              </a:rPr>
              <a:t>attachment proteins (VAP) </a:t>
            </a:r>
            <a:r>
              <a:rPr lang="en-US" sz="2400" dirty="0" smtClean="0"/>
              <a:t> 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 smtClean="0"/>
              <a:t>keys interact </a:t>
            </a:r>
            <a:r>
              <a:rPr lang="en-US" sz="2000" dirty="0"/>
              <a:t>with </a:t>
            </a:r>
            <a:r>
              <a:rPr lang="en-US" sz="2000" b="1" dirty="0">
                <a:solidFill>
                  <a:srgbClr val="002060"/>
                </a:solidFill>
              </a:rPr>
              <a:t>cell surface receptors </a:t>
            </a:r>
            <a:r>
              <a:rPr lang="en-US" sz="2000" dirty="0"/>
              <a:t>and </a:t>
            </a:r>
            <a:endParaRPr lang="en-US" sz="2000" dirty="0" smtClean="0"/>
          </a:p>
          <a:p>
            <a:pPr lvl="1">
              <a:buFont typeface="Wingdings" pitchFamily="2" charset="2"/>
              <a:buChar char="Ø"/>
            </a:pPr>
            <a:r>
              <a:rPr lang="en-US" sz="2000" dirty="0" smtClean="0"/>
              <a:t>open doors </a:t>
            </a:r>
            <a:r>
              <a:rPr lang="en-US" sz="2000" dirty="0"/>
              <a:t>of entry into the cell.</a:t>
            </a:r>
          </a:p>
          <a:p>
            <a:pPr>
              <a:buFont typeface="Wingdings" pitchFamily="2" charset="2"/>
              <a:buChar char="§"/>
            </a:pPr>
            <a:r>
              <a:rPr lang="en-US" sz="2400" b="1" dirty="0">
                <a:solidFill>
                  <a:srgbClr val="002060"/>
                </a:solidFill>
              </a:rPr>
              <a:t>Adsorption</a:t>
            </a:r>
            <a:r>
              <a:rPr lang="en-US" sz="2400" dirty="0"/>
              <a:t> involves </a:t>
            </a:r>
            <a:r>
              <a:rPr lang="en-US" sz="2400" b="1" dirty="0">
                <a:solidFill>
                  <a:srgbClr val="002060"/>
                </a:solidFill>
              </a:rPr>
              <a:t>VAP</a:t>
            </a:r>
            <a:r>
              <a:rPr lang="en-US" sz="2400" dirty="0"/>
              <a:t> and </a:t>
            </a:r>
            <a:r>
              <a:rPr lang="en-US" sz="2400" b="1" dirty="0">
                <a:solidFill>
                  <a:srgbClr val="002060"/>
                </a:solidFill>
              </a:rPr>
              <a:t>cell surface receptor </a:t>
            </a:r>
            <a:r>
              <a:rPr lang="en-US" sz="2400" dirty="0"/>
              <a:t>proteins.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 smtClean="0"/>
              <a:t>There </a:t>
            </a:r>
            <a:r>
              <a:rPr lang="en-US" sz="2400" dirty="0"/>
              <a:t>are </a:t>
            </a:r>
            <a:r>
              <a:rPr lang="en-US" sz="2400" dirty="0" smtClean="0"/>
              <a:t>10</a:t>
            </a:r>
            <a:r>
              <a:rPr lang="en-US" sz="2400" baseline="30000" dirty="0" smtClean="0"/>
              <a:t>4  </a:t>
            </a:r>
            <a:r>
              <a:rPr lang="en-US" sz="2400" dirty="0"/>
              <a:t>to </a:t>
            </a:r>
            <a:r>
              <a:rPr lang="en-US" sz="2400" dirty="0" smtClean="0"/>
              <a:t>10</a:t>
            </a:r>
            <a:r>
              <a:rPr lang="en-US" sz="2400" baseline="30000" dirty="0" smtClean="0"/>
              <a:t>5</a:t>
            </a:r>
            <a:r>
              <a:rPr lang="en-US" sz="2400" dirty="0"/>
              <a:t> </a:t>
            </a:r>
            <a:r>
              <a:rPr lang="en-US" sz="2400" dirty="0" smtClean="0"/>
              <a:t>receptors </a:t>
            </a:r>
            <a:r>
              <a:rPr lang="en-US" sz="2400" dirty="0"/>
              <a:t>on </a:t>
            </a:r>
            <a:r>
              <a:rPr lang="en-US" sz="2400" dirty="0" smtClean="0"/>
              <a:t>cell </a:t>
            </a:r>
            <a:r>
              <a:rPr lang="en-US" sz="2400" dirty="0"/>
              <a:t>surface.</a:t>
            </a:r>
          </a:p>
          <a:p>
            <a:pPr>
              <a:buFont typeface="Wingdings" pitchFamily="2" charset="2"/>
              <a:buChar char="§"/>
            </a:pPr>
            <a:r>
              <a:rPr lang="en-US" sz="2400" b="1" dirty="0" smtClean="0">
                <a:solidFill>
                  <a:srgbClr val="002060"/>
                </a:solidFill>
              </a:rPr>
              <a:t>Bacteriophages </a:t>
            </a:r>
            <a:r>
              <a:rPr lang="en-US" sz="2400" dirty="0" smtClean="0"/>
              <a:t>: </a:t>
            </a:r>
            <a:r>
              <a:rPr lang="en-US" sz="2400" b="1" dirty="0" smtClean="0">
                <a:solidFill>
                  <a:srgbClr val="002060"/>
                </a:solidFill>
              </a:rPr>
              <a:t>pili</a:t>
            </a:r>
            <a:r>
              <a:rPr lang="en-US" sz="2400" dirty="0" smtClean="0"/>
              <a:t> </a:t>
            </a:r>
            <a:endParaRPr lang="en-US" sz="2400" dirty="0"/>
          </a:p>
          <a:p>
            <a:pPr>
              <a:buFont typeface="Wingdings" pitchFamily="2" charset="2"/>
              <a:buChar char="§"/>
            </a:pPr>
            <a:r>
              <a:rPr lang="en-US" sz="2400" dirty="0" smtClean="0"/>
              <a:t>Animal </a:t>
            </a:r>
            <a:r>
              <a:rPr lang="en-US" sz="2400" dirty="0"/>
              <a:t>viruses </a:t>
            </a:r>
            <a:r>
              <a:rPr lang="en-US" sz="2400" dirty="0" smtClean="0"/>
              <a:t>: </a:t>
            </a:r>
            <a:r>
              <a:rPr lang="en-US" sz="2400" b="1" dirty="0" smtClean="0">
                <a:solidFill>
                  <a:srgbClr val="002060"/>
                </a:solidFill>
              </a:rPr>
              <a:t>glycoproteins</a:t>
            </a:r>
            <a:r>
              <a:rPr lang="en-US" sz="2400" dirty="0" smtClean="0"/>
              <a:t> (</a:t>
            </a:r>
            <a:r>
              <a:rPr lang="en-US" sz="2400" b="1" dirty="0" smtClean="0">
                <a:solidFill>
                  <a:srgbClr val="002060"/>
                </a:solidFill>
              </a:rPr>
              <a:t>plasma </a:t>
            </a:r>
            <a:r>
              <a:rPr lang="en-US" sz="2400" b="1" dirty="0">
                <a:solidFill>
                  <a:srgbClr val="002060"/>
                </a:solidFill>
              </a:rPr>
              <a:t>membrane </a:t>
            </a:r>
            <a:r>
              <a:rPr lang="en-US" sz="2400" dirty="0" smtClean="0"/>
              <a:t>)</a:t>
            </a:r>
            <a:endParaRPr lang="en-US" sz="2400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619EC-8C23-4A62-9DDD-794E07223036}" type="datetime1">
              <a:rPr lang="en-US" smtClean="0"/>
              <a:t>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Shemse Sebre(BSc, MSc)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6454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8655" y="304800"/>
            <a:ext cx="8596745" cy="65532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457200"/>
            <a:ext cx="8077200" cy="586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318655" y="6273225"/>
            <a:ext cx="8763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Abbreviations</a:t>
            </a:r>
            <a:r>
              <a:rPr lang="en-US" sz="1600" b="1" i="1" dirty="0"/>
              <a:t>: </a:t>
            </a:r>
            <a:r>
              <a:rPr lang="en-US" sz="1600" b="1" dirty="0"/>
              <a:t>EGF, endothelial growth factor; HIV, human immunodeficiency virus; ICAM, intercellular adhesion molecule; MHC, major histocompatibility complex; PVR, poliovirus </a:t>
            </a:r>
            <a:r>
              <a:rPr lang="en-US" sz="1600" b="1" dirty="0" smtClean="0"/>
              <a:t>receptor</a:t>
            </a:r>
            <a:endParaRPr lang="en-US" sz="1600" b="1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0D2E3-3AF5-43DC-AC5C-B0A13C53B144}" type="datetime1">
              <a:rPr lang="en-US" smtClean="0"/>
              <a:t>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Shemse Sebre(BSc, MSc)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804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Uncoating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Uncoating </a:t>
            </a:r>
            <a:r>
              <a:rPr lang="en-US" dirty="0"/>
              <a:t>follows, which involves the enzymatic removal of viral protein coat and liberation of nucleic acid and attached core</a:t>
            </a:r>
            <a:br>
              <a:rPr lang="en-US" dirty="0"/>
            </a:br>
            <a:r>
              <a:rPr lang="en-US" dirty="0"/>
              <a:t>proteins;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B3EAC-CC46-47B8-9789-FB26E2BEAA5E}" type="datetime1">
              <a:rPr lang="en-US" smtClean="0"/>
              <a:t>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Shemse Sebre(BSc, MSc)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673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800" b="1" dirty="0"/>
              <a:t>Production of virus-specific mRNA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/>
          </a:bodyPr>
          <a:lstStyle/>
          <a:p>
            <a:r>
              <a:rPr lang="en-US" sz="2400" dirty="0" smtClean="0"/>
              <a:t>In </a:t>
            </a:r>
            <a:r>
              <a:rPr lang="en-US" sz="2400" dirty="0"/>
              <a:t>order </a:t>
            </a:r>
            <a:r>
              <a:rPr lang="en-US" sz="2400" dirty="0" smtClean="0"/>
              <a:t>to direct host </a:t>
            </a:r>
            <a:r>
              <a:rPr lang="en-US" sz="2400" dirty="0"/>
              <a:t>cell ribosome to produce </a:t>
            </a:r>
            <a:r>
              <a:rPr lang="en-US" sz="2400" dirty="0" smtClean="0"/>
              <a:t>viral proteins </a:t>
            </a:r>
            <a:r>
              <a:rPr lang="en-US" sz="2400" b="1" dirty="0">
                <a:solidFill>
                  <a:srgbClr val="FF0000"/>
                </a:solidFill>
              </a:rPr>
              <a:t>(core, capsid)</a:t>
            </a:r>
            <a:r>
              <a:rPr lang="en-US" sz="2400" dirty="0"/>
              <a:t>. </a:t>
            </a:r>
            <a:endParaRPr lang="en-US" sz="2400" dirty="0" smtClean="0"/>
          </a:p>
          <a:p>
            <a:r>
              <a:rPr lang="en-US" sz="2400" dirty="0" smtClean="0"/>
              <a:t>The </a:t>
            </a:r>
            <a:r>
              <a:rPr lang="en-US" sz="2400" dirty="0"/>
              <a:t>mechanisms for </a:t>
            </a:r>
            <a:r>
              <a:rPr lang="en-US" sz="2400" b="1" dirty="0">
                <a:solidFill>
                  <a:srgbClr val="FF0000"/>
                </a:solidFill>
              </a:rPr>
              <a:t>virus-specific mRNA </a:t>
            </a:r>
            <a:r>
              <a:rPr lang="en-US" sz="2400" dirty="0"/>
              <a:t>production depend on </a:t>
            </a:r>
            <a:r>
              <a:rPr lang="en-US" sz="2400" dirty="0" smtClean="0"/>
              <a:t>the viral </a:t>
            </a:r>
            <a:r>
              <a:rPr lang="en-US" sz="2400" dirty="0"/>
              <a:t>genome type:</a:t>
            </a:r>
            <a:br>
              <a:rPr lang="en-US" sz="2400" dirty="0"/>
            </a:br>
            <a:r>
              <a:rPr lang="en-US" sz="2400" dirty="0"/>
              <a:t>(a) RNA or DNA;</a:t>
            </a:r>
            <a:br>
              <a:rPr lang="en-US" sz="2400" dirty="0"/>
            </a:br>
            <a:r>
              <a:rPr lang="en-US" sz="2400" dirty="0"/>
              <a:t>(b) single or double stranded;</a:t>
            </a:r>
            <a:br>
              <a:rPr lang="en-US" sz="2400" dirty="0"/>
            </a:br>
            <a:r>
              <a:rPr lang="en-US" sz="2400" dirty="0"/>
              <a:t>(c) positive sense or negative sense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B3EAC-CC46-47B8-9789-FB26E2BEAA5E}" type="datetime1">
              <a:rPr lang="en-US" smtClean="0"/>
              <a:t>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Shemse Sebre(BSc, MSc)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962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B3EAC-CC46-47B8-9789-FB26E2BEAA5E}" type="datetime1">
              <a:rPr lang="en-US" smtClean="0"/>
              <a:t>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Shemse Sebre(BSc, MSc)</a:t>
            </a:r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914401"/>
            <a:ext cx="7772399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2286000" y="5791200"/>
            <a:ext cx="4572000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dirty="0" smtClean="0"/>
              <a:t>Figure.  </a:t>
            </a:r>
            <a:r>
              <a:rPr lang="en-US" dirty="0"/>
              <a:t>Synthesis of virus-specific mRNA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1493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dirty="0" smtClean="0"/>
              <a:t>Assembly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800" b="1" dirty="0" smtClean="0">
                <a:solidFill>
                  <a:srgbClr val="FF0000"/>
                </a:solidFill>
              </a:rPr>
              <a:t>Morphogenesis </a:t>
            </a:r>
            <a:r>
              <a:rPr lang="en-US" sz="2800" b="1" dirty="0">
                <a:solidFill>
                  <a:srgbClr val="FF0000"/>
                </a:solidFill>
              </a:rPr>
              <a:t>and maturation </a:t>
            </a:r>
            <a:r>
              <a:rPr lang="en-US" sz="2800" dirty="0"/>
              <a:t>occur with assembly of components (nucleic acid and proteins) to </a:t>
            </a:r>
            <a:r>
              <a:rPr lang="en-US" sz="2800" dirty="0" smtClean="0"/>
              <a:t>form</a:t>
            </a:r>
          </a:p>
          <a:p>
            <a:pPr lvl="2">
              <a:buFont typeface="Wingdings" pitchFamily="2" charset="2"/>
              <a:buChar char="ü"/>
            </a:pPr>
            <a:r>
              <a:rPr lang="en-US" dirty="0" smtClean="0"/>
              <a:t>sub-viral </a:t>
            </a:r>
            <a:r>
              <a:rPr lang="en-US" dirty="0"/>
              <a:t>particles (pre-core, </a:t>
            </a:r>
            <a:r>
              <a:rPr lang="en-US" dirty="0" smtClean="0"/>
              <a:t>core particles</a:t>
            </a:r>
            <a:r>
              <a:rPr lang="en-US" dirty="0"/>
              <a:t>) and viral particles (virions, </a:t>
            </a:r>
            <a:r>
              <a:rPr lang="en-US" dirty="0" smtClean="0"/>
              <a:t>empty particles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B3EAC-CC46-47B8-9789-FB26E2BEAA5E}" type="datetime1">
              <a:rPr lang="en-US" smtClean="0"/>
              <a:t>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Shemse Sebre(BSc, MSc)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4955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Release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Release of virus is by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 smtClean="0"/>
              <a:t> Bursting of infected cells (lysis): Cell death or 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 smtClean="0"/>
              <a:t>Budding </a:t>
            </a:r>
            <a:r>
              <a:rPr lang="en-US" sz="2400" dirty="0"/>
              <a:t>through the plasma </a:t>
            </a:r>
            <a:r>
              <a:rPr lang="en-US" sz="2400" dirty="0" smtClean="0"/>
              <a:t>membrane:  does </a:t>
            </a:r>
            <a:r>
              <a:rPr lang="en-US" sz="2400" dirty="0"/>
              <a:t>not necessarily kill cells, allowing viral particles to be shed for extended periods</a:t>
            </a:r>
            <a:r>
              <a:rPr lang="en-US" sz="2400" dirty="0" smtClean="0"/>
              <a:t>,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B3EAC-CC46-47B8-9789-FB26E2BEAA5E}" type="datetime1">
              <a:rPr lang="en-US" smtClean="0"/>
              <a:t>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Shemse Sebre(BSc, MSc)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2793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58762"/>
          </a:xfrm>
        </p:spPr>
        <p:txBody>
          <a:bodyPr>
            <a:noAutofit/>
          </a:bodyPr>
          <a:lstStyle/>
          <a:p>
            <a:pPr algn="r"/>
            <a:r>
              <a:rPr lang="en-US" sz="2000" dirty="0" smtClean="0"/>
              <a:t>Cont.</a:t>
            </a:r>
            <a:endParaRPr lang="en-US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>
                <a:solidFill>
                  <a:srgbClr val="002060"/>
                </a:solidFill>
              </a:rPr>
              <a:t>Most </a:t>
            </a:r>
            <a:r>
              <a:rPr lang="en-US" sz="2400" b="1" dirty="0">
                <a:solidFill>
                  <a:srgbClr val="002060"/>
                </a:solidFill>
              </a:rPr>
              <a:t>RNA viruses 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Replicate using an </a:t>
            </a:r>
            <a:r>
              <a:rPr lang="en-US" sz="2400" b="1" dirty="0">
                <a:solidFill>
                  <a:srgbClr val="002060"/>
                </a:solidFill>
              </a:rPr>
              <a:t>RNA-dependent RNA polymerase</a:t>
            </a:r>
            <a:r>
              <a:rPr lang="en-US" sz="2400" dirty="0"/>
              <a:t>.</a:t>
            </a:r>
          </a:p>
          <a:p>
            <a:pPr>
              <a:buFont typeface="Wingdings" pitchFamily="2" charset="2"/>
              <a:buChar char="Ø"/>
            </a:pPr>
            <a:r>
              <a:rPr lang="en-US" sz="2400" b="1" dirty="0">
                <a:solidFill>
                  <a:srgbClr val="002060"/>
                </a:solidFill>
              </a:rPr>
              <a:t>Retroviruses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/>
              <a:t>and </a:t>
            </a:r>
            <a:r>
              <a:rPr lang="en-US" sz="2400" b="1" dirty="0">
                <a:solidFill>
                  <a:srgbClr val="002060"/>
                </a:solidFill>
              </a:rPr>
              <a:t>HBV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/>
              <a:t>utilize both RNA and DNA in their replication.</a:t>
            </a:r>
          </a:p>
          <a:p>
            <a:pPr>
              <a:buFont typeface="Wingdings" pitchFamily="2" charset="2"/>
              <a:buChar char="Ø"/>
            </a:pPr>
            <a:r>
              <a:rPr lang="en-US" sz="2400" b="1" dirty="0">
                <a:solidFill>
                  <a:srgbClr val="7030A0"/>
                </a:solidFill>
              </a:rPr>
              <a:t>Retroviral RNA </a:t>
            </a:r>
            <a:r>
              <a:rPr lang="en-US" sz="2400" dirty="0"/>
              <a:t>is copied to DNA by virion </a:t>
            </a:r>
            <a:r>
              <a:rPr lang="en-US" sz="2400" b="1" dirty="0">
                <a:solidFill>
                  <a:srgbClr val="7030A0"/>
                </a:solidFill>
              </a:rPr>
              <a:t>reverse transcriptase</a:t>
            </a:r>
            <a:r>
              <a:rPr lang="en-US" sz="2400" dirty="0"/>
              <a:t>; host RNA polymerase transcribes DNA into more RNA.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06FC1-103B-42BF-82C5-E0A7F75605CA}" type="datetime1">
              <a:rPr lang="en-US" smtClean="0"/>
              <a:t>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Shemse Sebre(BSc, MSc)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425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295400"/>
            <a:ext cx="7772400" cy="44195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1600200" y="5714999"/>
            <a:ext cx="5943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Fig. Pathways </a:t>
            </a:r>
            <a:r>
              <a:rPr lang="en-US" dirty="0"/>
              <a:t>of mRNA synthesis for major virus groups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85800" y="880547"/>
            <a:ext cx="7696200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/>
              <a:t>There are a variety of </a:t>
            </a:r>
            <a:r>
              <a:rPr lang="en-US" b="1" dirty="0" smtClean="0"/>
              <a:t>pathways for </a:t>
            </a:r>
            <a:r>
              <a:rPr lang="en-US" b="1" dirty="0"/>
              <a:t>synthesis of mRNA </a:t>
            </a:r>
            <a:r>
              <a:rPr lang="en-US" b="1" dirty="0" smtClean="0"/>
              <a:t>by different </a:t>
            </a:r>
            <a:r>
              <a:rPr lang="en-US" b="1" dirty="0"/>
              <a:t>virus </a:t>
            </a:r>
            <a:r>
              <a:rPr lang="en-US" b="1" dirty="0" smtClean="0"/>
              <a:t>groups</a:t>
            </a:r>
            <a:endParaRPr lang="en-US" b="1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86CCB-EA3B-452A-A3D6-2D65DBA4C39A}" type="datetime1">
              <a:rPr lang="en-US" smtClean="0"/>
              <a:t>1/23/2023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Shemse Sebre(BSc, MSc)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641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B3EAC-CC46-47B8-9789-FB26E2BEAA5E}" type="datetime1">
              <a:rPr lang="en-US" smtClean="0"/>
              <a:t>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Shemse Sebre(BSc, MSc)</a:t>
            </a:r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838200"/>
            <a:ext cx="8001000" cy="533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40540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pPr algn="r"/>
            <a:r>
              <a:rPr lang="en-US" sz="2700" dirty="0" smtClean="0"/>
              <a:t>Cont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3340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endParaRPr lang="en-US" sz="2400" dirty="0" smtClean="0"/>
          </a:p>
          <a:p>
            <a:pPr>
              <a:buFont typeface="Wingdings" pitchFamily="2" charset="2"/>
              <a:buChar char="§"/>
            </a:pPr>
            <a:r>
              <a:rPr lang="en-US" sz="2400" dirty="0" smtClean="0">
                <a:solidFill>
                  <a:schemeClr val="accent4">
                    <a:lumMod val="75000"/>
                  </a:schemeClr>
                </a:solidFill>
              </a:rPr>
              <a:t>Some viruses (e.g</a:t>
            </a:r>
            <a:r>
              <a:rPr lang="en-US" sz="2400" dirty="0">
                <a:solidFill>
                  <a:schemeClr val="accent4">
                    <a:lumMod val="75000"/>
                  </a:schemeClr>
                </a:solidFill>
              </a:rPr>
              <a:t>., herpes simplex virus) can move between cells </a:t>
            </a:r>
            <a:r>
              <a:rPr lang="en-US" sz="2400" dirty="0">
                <a:solidFill>
                  <a:srgbClr val="002060"/>
                </a:solidFill>
              </a:rPr>
              <a:t>(intercellular spaces) </a:t>
            </a:r>
            <a:r>
              <a:rPr lang="en-US" sz="2400" dirty="0">
                <a:solidFill>
                  <a:schemeClr val="accent4">
                    <a:lumMod val="75000"/>
                  </a:schemeClr>
                </a:solidFill>
              </a:rPr>
              <a:t>to infect neighboring </a:t>
            </a:r>
            <a:r>
              <a:rPr lang="en-US" sz="2400" dirty="0" smtClean="0">
                <a:solidFill>
                  <a:schemeClr val="accent4">
                    <a:lumMod val="75000"/>
                  </a:schemeClr>
                </a:solidFill>
              </a:rPr>
              <a:t>cells without </a:t>
            </a:r>
            <a:r>
              <a:rPr lang="en-US" sz="2400" dirty="0">
                <a:solidFill>
                  <a:schemeClr val="accent4">
                    <a:lumMod val="75000"/>
                  </a:schemeClr>
                </a:solidFill>
              </a:rPr>
              <a:t>exposing themselves to antibody detection. </a:t>
            </a:r>
            <a:endParaRPr lang="en-US" sz="2400" dirty="0" smtClean="0">
              <a:solidFill>
                <a:schemeClr val="accent4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§"/>
            </a:pPr>
            <a:r>
              <a:rPr lang="en-US" sz="2400" dirty="0" smtClean="0">
                <a:solidFill>
                  <a:schemeClr val="accent4">
                    <a:lumMod val="75000"/>
                  </a:schemeClr>
                </a:solidFill>
              </a:rPr>
              <a:t>Other </a:t>
            </a:r>
            <a:r>
              <a:rPr lang="en-US" sz="2400" dirty="0">
                <a:solidFill>
                  <a:schemeClr val="accent4">
                    <a:lumMod val="75000"/>
                  </a:schemeClr>
                </a:solidFill>
              </a:rPr>
              <a:t>viruses (HSV, varicella zoster, </a:t>
            </a:r>
            <a:r>
              <a:rPr lang="en-US" sz="2400" dirty="0" smtClean="0">
                <a:solidFill>
                  <a:schemeClr val="accent4">
                    <a:lumMod val="75000"/>
                  </a:schemeClr>
                </a:solidFill>
              </a:rPr>
              <a:t>measles and </a:t>
            </a:r>
            <a:r>
              <a:rPr lang="en-US" sz="2400" dirty="0">
                <a:solidFill>
                  <a:schemeClr val="accent4">
                    <a:lumMod val="75000"/>
                  </a:schemeClr>
                </a:solidFill>
              </a:rPr>
              <a:t>other paramyxoviruses, and HIV) recruit large numbers of cells into their factory by </a:t>
            </a:r>
            <a:r>
              <a:rPr lang="en-US" sz="2400" dirty="0" smtClean="0">
                <a:solidFill>
                  <a:schemeClr val="accent4">
                    <a:lumMod val="75000"/>
                  </a:schemeClr>
                </a:solidFill>
              </a:rPr>
              <a:t>fusing them </a:t>
            </a:r>
            <a:r>
              <a:rPr lang="en-US" sz="2400" dirty="0">
                <a:solidFill>
                  <a:schemeClr val="accent4">
                    <a:lumMod val="75000"/>
                  </a:schemeClr>
                </a:solidFill>
              </a:rPr>
              <a:t>together into multinucleated giant cells </a:t>
            </a:r>
            <a:r>
              <a:rPr lang="en-US" sz="2400" b="1" dirty="0">
                <a:solidFill>
                  <a:srgbClr val="002060"/>
                </a:solidFill>
              </a:rPr>
              <a:t>(syncytia). </a:t>
            </a:r>
            <a:endParaRPr lang="en-US" sz="2400" b="1" dirty="0" smtClean="0">
              <a:solidFill>
                <a:srgbClr val="002060"/>
              </a:solidFill>
            </a:endParaRPr>
          </a:p>
          <a:p>
            <a:pPr>
              <a:buFont typeface="Wingdings" pitchFamily="2" charset="2"/>
              <a:buChar char="§"/>
            </a:pPr>
            <a:r>
              <a:rPr lang="en-US" sz="2400" b="1" dirty="0" smtClean="0">
                <a:solidFill>
                  <a:srgbClr val="002060"/>
                </a:solidFill>
              </a:rPr>
              <a:t>Syncytia </a:t>
            </a:r>
            <a:r>
              <a:rPr lang="en-US" sz="2400" b="1" dirty="0">
                <a:solidFill>
                  <a:srgbClr val="002060"/>
                </a:solidFill>
              </a:rPr>
              <a:t>formation </a:t>
            </a:r>
            <a:r>
              <a:rPr lang="en-US" sz="2400" dirty="0">
                <a:solidFill>
                  <a:schemeClr val="accent4">
                    <a:lumMod val="75000"/>
                  </a:schemeClr>
                </a:solidFill>
              </a:rPr>
              <a:t>is also a </a:t>
            </a:r>
            <a:r>
              <a:rPr lang="en-US" sz="2400" dirty="0" smtClean="0">
                <a:solidFill>
                  <a:schemeClr val="accent4">
                    <a:lumMod val="75000"/>
                  </a:schemeClr>
                </a:solidFill>
              </a:rPr>
              <a:t>diagnostic characteristic </a:t>
            </a:r>
            <a:r>
              <a:rPr lang="en-US" sz="2400" dirty="0">
                <a:solidFill>
                  <a:schemeClr val="accent4">
                    <a:lumMod val="75000"/>
                  </a:schemeClr>
                </a:solidFill>
              </a:rPr>
              <a:t>of these viruses</a:t>
            </a:r>
            <a:r>
              <a:rPr lang="en-US" sz="2400" dirty="0" smtClean="0">
                <a:solidFill>
                  <a:schemeClr val="accent4">
                    <a:lumMod val="75000"/>
                  </a:schemeClr>
                </a:solidFill>
              </a:rPr>
              <a:t>.</a:t>
            </a:r>
            <a:endParaRPr lang="en-US" sz="2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DC8A7-F761-4934-88BA-9FCF4D8586DB}" type="datetime1">
              <a:rPr lang="en-US" smtClean="0"/>
              <a:t>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Shemse Sebre(BSc, MSc)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821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Medical important Virus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295400"/>
            <a:ext cx="8000999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95154-EBD9-4CF6-BBAE-FDC55EC133E2}" type="datetime1">
              <a:rPr lang="en-US" smtClean="0"/>
              <a:t>1/23/2023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Shemse Sebre(BSc, MSc)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768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313" y="762000"/>
            <a:ext cx="8091487" cy="525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67CB-86C3-4238-8FB0-60681ACCC14C}" type="datetime1">
              <a:rPr lang="en-US" smtClean="0"/>
              <a:t>1/23/2023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Shemse Sebre(BSc, MSc)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661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2800" b="1" dirty="0"/>
              <a:t>DIAGNOSIS OF VIRAL </a:t>
            </a:r>
            <a:r>
              <a:rPr lang="en-US" sz="2800" b="1" dirty="0" smtClean="0"/>
              <a:t>INFECTIONS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678363"/>
          </a:xfrm>
        </p:spPr>
        <p:txBody>
          <a:bodyPr>
            <a:normAutofit fontScale="92500" lnSpcReduction="20000"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Direct Examination of Clinical Material: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>-Microscopy </a:t>
            </a:r>
            <a:r>
              <a:rPr lang="en-US" sz="2400" dirty="0"/>
              <a:t>and </a:t>
            </a:r>
            <a:r>
              <a:rPr lang="en-US" sz="2400" dirty="0" smtClean="0"/>
              <a:t>Stains</a:t>
            </a:r>
            <a:r>
              <a:rPr lang="en-US" sz="2400" dirty="0"/>
              <a:t> </a:t>
            </a:r>
            <a:r>
              <a:rPr lang="en-US" sz="2400" dirty="0" smtClean="0"/>
              <a:t>(HSV, VZV, Rabies)</a:t>
            </a:r>
          </a:p>
          <a:p>
            <a:r>
              <a:rPr lang="en-US" sz="2400" dirty="0" smtClean="0">
                <a:solidFill>
                  <a:schemeClr val="accent4">
                    <a:lumMod val="75000"/>
                  </a:schemeClr>
                </a:solidFill>
              </a:rPr>
              <a:t>Recruit </a:t>
            </a:r>
            <a:r>
              <a:rPr lang="en-US" sz="2400" dirty="0">
                <a:solidFill>
                  <a:schemeClr val="accent4">
                    <a:lumMod val="75000"/>
                  </a:schemeClr>
                </a:solidFill>
              </a:rPr>
              <a:t>large numbers of cells into their factory by fusing them together into multinucleated giant cells </a:t>
            </a:r>
            <a:r>
              <a:rPr lang="en-US" sz="2400" b="1" dirty="0">
                <a:solidFill>
                  <a:srgbClr val="002060"/>
                </a:solidFill>
              </a:rPr>
              <a:t>(syncytia). </a:t>
            </a:r>
          </a:p>
          <a:p>
            <a:r>
              <a:rPr lang="en-US" sz="2400" b="1" dirty="0" smtClean="0">
                <a:solidFill>
                  <a:srgbClr val="002060"/>
                </a:solidFill>
              </a:rPr>
              <a:t>Syncytia </a:t>
            </a:r>
            <a:r>
              <a:rPr lang="en-US" sz="2400" b="1" dirty="0">
                <a:solidFill>
                  <a:srgbClr val="002060"/>
                </a:solidFill>
              </a:rPr>
              <a:t>formation </a:t>
            </a:r>
            <a:r>
              <a:rPr lang="en-US" sz="2400" dirty="0">
                <a:solidFill>
                  <a:schemeClr val="accent4">
                    <a:lumMod val="75000"/>
                  </a:schemeClr>
                </a:solidFill>
              </a:rPr>
              <a:t>is also a diagnostic characteristic of these </a:t>
            </a:r>
            <a:r>
              <a:rPr lang="en-US" sz="2400" dirty="0" smtClean="0">
                <a:solidFill>
                  <a:schemeClr val="accent4">
                    <a:lumMod val="75000"/>
                  </a:schemeClr>
                </a:solidFill>
              </a:rPr>
              <a:t>viruses (HSV)</a:t>
            </a:r>
            <a:endParaRPr lang="en-US" sz="2400" dirty="0"/>
          </a:p>
          <a:p>
            <a:r>
              <a:rPr lang="en-US" dirty="0" smtClean="0"/>
              <a:t>Antibody </a:t>
            </a:r>
            <a:r>
              <a:rPr lang="en-US" dirty="0"/>
              <a:t>tests </a:t>
            </a:r>
            <a:endParaRPr lang="en-US" dirty="0" smtClean="0"/>
          </a:p>
          <a:p>
            <a:r>
              <a:rPr lang="en-US" dirty="0" smtClean="0"/>
              <a:t>Virus </a:t>
            </a:r>
            <a:r>
              <a:rPr lang="en-US" dirty="0"/>
              <a:t>isolation, </a:t>
            </a:r>
            <a:endParaRPr lang="en-US" dirty="0" smtClean="0"/>
          </a:p>
          <a:p>
            <a:r>
              <a:rPr lang="en-US" dirty="0" smtClean="0"/>
              <a:t>Antigen detection </a:t>
            </a:r>
            <a:r>
              <a:rPr lang="en-US" dirty="0"/>
              <a:t>or </a:t>
            </a:r>
            <a:endParaRPr lang="en-US" dirty="0" smtClean="0"/>
          </a:p>
          <a:p>
            <a:r>
              <a:rPr lang="en-US" dirty="0" smtClean="0"/>
              <a:t>NAAT (PCR)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B3EAC-CC46-47B8-9789-FB26E2BEAA5E}" type="datetime1">
              <a:rPr lang="en-US" smtClean="0"/>
              <a:t>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Shemse Sebre(BSc, MSc)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396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1172</TotalTime>
  <Words>1314</Words>
  <Application>Microsoft Office PowerPoint</Application>
  <PresentationFormat>On-screen Show (4:3)</PresentationFormat>
  <Paragraphs>212</Paragraphs>
  <Slides>33</Slides>
  <Notes>3</Notes>
  <HiddenSlides>2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Office Theme</vt:lpstr>
      <vt:lpstr>Viruses</vt:lpstr>
      <vt:lpstr>Outline</vt:lpstr>
      <vt:lpstr>Nature and classification of virus</vt:lpstr>
      <vt:lpstr>General properties of viruses</vt:lpstr>
      <vt:lpstr>Cont.</vt:lpstr>
      <vt:lpstr>Cont.</vt:lpstr>
      <vt:lpstr>Classification of Viruses</vt:lpstr>
      <vt:lpstr>Nomenclature of Viruses</vt:lpstr>
      <vt:lpstr>PowerPoint Presentation</vt:lpstr>
      <vt:lpstr>Viruses Morphology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1. Recognition, attachment, and entry</vt:lpstr>
      <vt:lpstr>Cont.</vt:lpstr>
      <vt:lpstr>PowerPoint Presentation</vt:lpstr>
      <vt:lpstr>Uncoating</vt:lpstr>
      <vt:lpstr>Production of virus-specific mRNA</vt:lpstr>
      <vt:lpstr>PowerPoint Presentation</vt:lpstr>
      <vt:lpstr>Assembly</vt:lpstr>
      <vt:lpstr>Release</vt:lpstr>
      <vt:lpstr>Cont.</vt:lpstr>
      <vt:lpstr>PowerPoint Presentation</vt:lpstr>
      <vt:lpstr>PowerPoint Presentation</vt:lpstr>
      <vt:lpstr>Cont.</vt:lpstr>
      <vt:lpstr>PowerPoint Presentation</vt:lpstr>
      <vt:lpstr>PowerPoint Presentation</vt:lpstr>
      <vt:lpstr>DIAGNOSIS OF VIRAL INFECTIONS</vt:lpstr>
    </vt:vector>
  </TitlesOfParts>
  <Company>home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Viruses</dc:title>
  <dc:creator>Shemsu- [2020]</dc:creator>
  <cp:lastModifiedBy>Shemsu- [2022]</cp:lastModifiedBy>
  <cp:revision>217</cp:revision>
  <dcterms:created xsi:type="dcterms:W3CDTF">2020-11-07T18:13:45Z</dcterms:created>
  <dcterms:modified xsi:type="dcterms:W3CDTF">2023-01-23T10:10:29Z</dcterms:modified>
</cp:coreProperties>
</file>