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289" r:id="rId3"/>
    <p:sldId id="345" r:id="rId4"/>
    <p:sldId id="291" r:id="rId5"/>
    <p:sldId id="294" r:id="rId6"/>
    <p:sldId id="295" r:id="rId7"/>
    <p:sldId id="296" r:id="rId8"/>
    <p:sldId id="297" r:id="rId9"/>
    <p:sldId id="298" r:id="rId10"/>
    <p:sldId id="299" r:id="rId11"/>
    <p:sldId id="301" r:id="rId12"/>
    <p:sldId id="341" r:id="rId13"/>
    <p:sldId id="302" r:id="rId14"/>
    <p:sldId id="303" r:id="rId15"/>
    <p:sldId id="304" r:id="rId16"/>
    <p:sldId id="313" r:id="rId17"/>
    <p:sldId id="314" r:id="rId18"/>
    <p:sldId id="315" r:id="rId19"/>
    <p:sldId id="316" r:id="rId20"/>
    <p:sldId id="318" r:id="rId21"/>
    <p:sldId id="305" r:id="rId22"/>
    <p:sldId id="342" r:id="rId23"/>
    <p:sldId id="306" r:id="rId24"/>
    <p:sldId id="343" r:id="rId25"/>
    <p:sldId id="308" r:id="rId26"/>
    <p:sldId id="307" r:id="rId27"/>
    <p:sldId id="347" r:id="rId28"/>
    <p:sldId id="312" r:id="rId29"/>
    <p:sldId id="309" r:id="rId30"/>
    <p:sldId id="310" r:id="rId31"/>
    <p:sldId id="311" r:id="rId32"/>
    <p:sldId id="257" r:id="rId33"/>
    <p:sldId id="258" r:id="rId34"/>
    <p:sldId id="259" r:id="rId35"/>
    <p:sldId id="260" r:id="rId36"/>
    <p:sldId id="261" r:id="rId37"/>
    <p:sldId id="262" r:id="rId38"/>
    <p:sldId id="263" r:id="rId39"/>
    <p:sldId id="264" r:id="rId40"/>
    <p:sldId id="265" r:id="rId41"/>
    <p:sldId id="269" r:id="rId42"/>
    <p:sldId id="266" r:id="rId43"/>
    <p:sldId id="268" r:id="rId44"/>
    <p:sldId id="272" r:id="rId45"/>
    <p:sldId id="273" r:id="rId46"/>
    <p:sldId id="364" r:id="rId47"/>
    <p:sldId id="366" r:id="rId48"/>
    <p:sldId id="275" r:id="rId49"/>
    <p:sldId id="287" r:id="rId50"/>
    <p:sldId id="286" r:id="rId51"/>
    <p:sldId id="354" r:id="rId52"/>
    <p:sldId id="355" r:id="rId53"/>
    <p:sldId id="357" r:id="rId54"/>
    <p:sldId id="359" r:id="rId55"/>
    <p:sldId id="279" r:id="rId56"/>
    <p:sldId id="276" r:id="rId57"/>
    <p:sldId id="277" r:id="rId58"/>
    <p:sldId id="285" r:id="rId59"/>
    <p:sldId id="319" r:id="rId60"/>
    <p:sldId id="320" r:id="rId61"/>
    <p:sldId id="321" r:id="rId62"/>
    <p:sldId id="368" r:id="rId63"/>
    <p:sldId id="370" r:id="rId64"/>
    <p:sldId id="372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49794F-A562-4A22-9275-1BCCD7751A8F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676EDAA-DE91-443C-88AC-866676E25C94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b="1" i="0" dirty="0"/>
            <a:t>An antigen induces the formation of IgE antibody</a:t>
          </a:r>
          <a:endParaRPr lang="en-US" sz="2000" b="1" dirty="0"/>
        </a:p>
      </dgm:t>
    </dgm:pt>
    <dgm:pt modelId="{1004AB6A-B20B-4EB8-8224-13685F523366}" type="parTrans" cxnId="{7AC3A045-8109-46C7-A5FE-1DB240B56FE0}">
      <dgm:prSet/>
      <dgm:spPr/>
      <dgm:t>
        <a:bodyPr/>
        <a:lstStyle/>
        <a:p>
          <a:endParaRPr lang="en-US"/>
        </a:p>
      </dgm:t>
    </dgm:pt>
    <dgm:pt modelId="{A8A7EE1B-2E82-4E22-826A-DFAA8D3981C1}" type="sibTrans" cxnId="{7AC3A045-8109-46C7-A5FE-1DB240B56FE0}">
      <dgm:prSet/>
      <dgm:spPr/>
      <dgm:t>
        <a:bodyPr/>
        <a:lstStyle/>
        <a:p>
          <a:endParaRPr lang="en-US"/>
        </a:p>
      </dgm:t>
    </dgm:pt>
    <dgm:pt modelId="{843C25E8-C0D8-4281-9BC6-5F4CB4B9D6A9}">
      <dgm:prSet phldrT="[Text]"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Which binds firmly by its Fc portion to high-</a:t>
          </a:r>
          <a:r>
            <a:rPr lang="en-US" sz="1800" b="1" i="0" dirty="0" err="1">
              <a:solidFill>
                <a:srgbClr val="002060"/>
              </a:solidFill>
            </a:rPr>
            <a:t>affinty</a:t>
          </a:r>
          <a:r>
            <a:rPr lang="en-US" sz="1800" b="1" i="0" dirty="0">
              <a:solidFill>
                <a:srgbClr val="002060"/>
              </a:solidFill>
            </a:rPr>
            <a:t> IgE receptors on mast cells, basophils, and possibly eosinophils</a:t>
          </a:r>
          <a:endParaRPr lang="en-US" sz="1800" b="1" dirty="0">
            <a:solidFill>
              <a:srgbClr val="002060"/>
            </a:solidFill>
          </a:endParaRPr>
        </a:p>
      </dgm:t>
    </dgm:pt>
    <dgm:pt modelId="{72C0857A-2198-4106-B72A-1DF32F97469D}" type="parTrans" cxnId="{363FE8A9-EBDD-47BA-AEC1-BC69BE18184B}">
      <dgm:prSet/>
      <dgm:spPr/>
      <dgm:t>
        <a:bodyPr/>
        <a:lstStyle/>
        <a:p>
          <a:endParaRPr lang="en-US"/>
        </a:p>
      </dgm:t>
    </dgm:pt>
    <dgm:pt modelId="{294FCBC7-6F68-42D2-B8C9-261C0C581678}" type="sibTrans" cxnId="{363FE8A9-EBDD-47BA-AEC1-BC69BE18184B}">
      <dgm:prSet/>
      <dgm:spPr/>
      <dgm:t>
        <a:bodyPr/>
        <a:lstStyle/>
        <a:p>
          <a:endParaRPr lang="en-US"/>
        </a:p>
      </dgm:t>
    </dgm:pt>
    <dgm:pt modelId="{02912576-20D8-4904-901A-8A139BE39090}">
      <dgm:prSet phldrT="[Text]"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A second exposure of the individual with the same antigen results in the antigen’s binding to cell-bound IgE,</a:t>
          </a:r>
          <a:endParaRPr lang="en-US" sz="1800" b="1" dirty="0">
            <a:solidFill>
              <a:srgbClr val="002060"/>
            </a:solidFill>
          </a:endParaRPr>
        </a:p>
      </dgm:t>
    </dgm:pt>
    <dgm:pt modelId="{5DFAE469-DA71-43C4-89DA-99F5D152D974}" type="parTrans" cxnId="{DB1AE28E-32EB-442D-B810-DC3518C1C9C8}">
      <dgm:prSet/>
      <dgm:spPr/>
      <dgm:t>
        <a:bodyPr/>
        <a:lstStyle/>
        <a:p>
          <a:endParaRPr lang="en-US"/>
        </a:p>
      </dgm:t>
    </dgm:pt>
    <dgm:pt modelId="{DFA1923C-B3A4-442E-8C0F-E0B5E9BEC976}" type="sibTrans" cxnId="{DB1AE28E-32EB-442D-B810-DC3518C1C9C8}">
      <dgm:prSet/>
      <dgm:spPr/>
      <dgm:t>
        <a:bodyPr/>
        <a:lstStyle/>
        <a:p>
          <a:endParaRPr lang="en-US"/>
        </a:p>
      </dgm:t>
    </dgm:pt>
    <dgm:pt modelId="{F08FCDB7-555A-499B-BD9D-57763240D146}">
      <dgm:prSet phldrT="[Text]"/>
      <dgm:spPr/>
      <dgm:t>
        <a:bodyPr/>
        <a:lstStyle/>
        <a:p>
          <a:r>
            <a:rPr lang="en-US" b="1" i="0" dirty="0"/>
            <a:t>Cross-linking of IgE molecules, and inducing the release of pharmacologically active mediators from cells within seconds to minutes</a:t>
          </a:r>
          <a:endParaRPr lang="en-US" b="1" dirty="0"/>
        </a:p>
      </dgm:t>
    </dgm:pt>
    <dgm:pt modelId="{CF60E046-0D38-4821-AF5A-C3D9B6297B5C}" type="parTrans" cxnId="{B696B2CA-D3A7-4F62-AA9B-407FCD83CEB7}">
      <dgm:prSet/>
      <dgm:spPr/>
      <dgm:t>
        <a:bodyPr/>
        <a:lstStyle/>
        <a:p>
          <a:endParaRPr lang="en-US"/>
        </a:p>
      </dgm:t>
    </dgm:pt>
    <dgm:pt modelId="{C391ADD6-704D-4D25-A4FF-F77EA5DA8A10}" type="sibTrans" cxnId="{B696B2CA-D3A7-4F62-AA9B-407FCD83CEB7}">
      <dgm:prSet/>
      <dgm:spPr/>
      <dgm:t>
        <a:bodyPr/>
        <a:lstStyle/>
        <a:p>
          <a:endParaRPr lang="en-US"/>
        </a:p>
      </dgm:t>
    </dgm:pt>
    <dgm:pt modelId="{31F0E141-AAFB-42CF-83E9-BB9BB4D58036}">
      <dgm:prSet phldrT="[Text]" custT="1"/>
      <dgm:spPr/>
      <dgm:t>
        <a:bodyPr/>
        <a:lstStyle/>
        <a:p>
          <a:r>
            <a:rPr lang="en-US" sz="1800" b="1" i="0" dirty="0">
              <a:solidFill>
                <a:srgbClr val="002060"/>
              </a:solidFill>
            </a:rPr>
            <a:t>Cyclic nucleotides and calcium are essential in the release of mediators.</a:t>
          </a:r>
          <a:endParaRPr lang="en-US" sz="1800" b="1" dirty="0">
            <a:solidFill>
              <a:srgbClr val="002060"/>
            </a:solidFill>
          </a:endParaRPr>
        </a:p>
      </dgm:t>
    </dgm:pt>
    <dgm:pt modelId="{BCFA937A-53A2-4CE4-90F6-78A1A3A0286C}" type="parTrans" cxnId="{38F10448-28E9-4CB7-AFA0-047CAF40D606}">
      <dgm:prSet/>
      <dgm:spPr/>
      <dgm:t>
        <a:bodyPr/>
        <a:lstStyle/>
        <a:p>
          <a:endParaRPr lang="en-US"/>
        </a:p>
      </dgm:t>
    </dgm:pt>
    <dgm:pt modelId="{9CE42DAB-8478-44A8-944C-25219382A0F4}" type="sibTrans" cxnId="{38F10448-28E9-4CB7-AFA0-047CAF40D606}">
      <dgm:prSet/>
      <dgm:spPr/>
      <dgm:t>
        <a:bodyPr/>
        <a:lstStyle/>
        <a:p>
          <a:endParaRPr lang="en-US"/>
        </a:p>
      </dgm:t>
    </dgm:pt>
    <dgm:pt modelId="{89BE0F6D-C890-49A7-BEC1-87479C1C2533}">
      <dgm:prSet phldrT="[Text]" custT="1"/>
      <dgm:spPr/>
      <dgm:t>
        <a:bodyPr/>
        <a:lstStyle/>
        <a:p>
          <a:r>
            <a:rPr lang="en-US" sz="2000" b="1" i="0" dirty="0">
              <a:solidFill>
                <a:srgbClr val="002060"/>
              </a:solidFill>
            </a:rPr>
            <a:t>Involves infiltration of tissues with leukocytes, particularly eosinophils</a:t>
          </a:r>
          <a:endParaRPr lang="en-US" sz="2000" b="1" dirty="0">
            <a:solidFill>
              <a:srgbClr val="002060"/>
            </a:solidFill>
          </a:endParaRPr>
        </a:p>
      </dgm:t>
    </dgm:pt>
    <dgm:pt modelId="{2C9DBD1E-86EC-409C-A7AF-EA70EA168DA2}" type="parTrans" cxnId="{C44B8F57-E84D-444E-8187-D1E6D5DA393F}">
      <dgm:prSet/>
      <dgm:spPr/>
      <dgm:t>
        <a:bodyPr/>
        <a:lstStyle/>
        <a:p>
          <a:endParaRPr lang="en-US"/>
        </a:p>
      </dgm:t>
    </dgm:pt>
    <dgm:pt modelId="{7D7765D2-2AC8-4940-8BB8-7BE4C5B54397}" type="sibTrans" cxnId="{C44B8F57-E84D-444E-8187-D1E6D5DA393F}">
      <dgm:prSet/>
      <dgm:spPr/>
      <dgm:t>
        <a:bodyPr/>
        <a:lstStyle/>
        <a:p>
          <a:endParaRPr lang="en-US"/>
        </a:p>
      </dgm:t>
    </dgm:pt>
    <dgm:pt modelId="{E5405C8D-3ED2-4AE0-90BB-294F6A6E925A}" type="pres">
      <dgm:prSet presAssocID="{2E49794F-A562-4A22-9275-1BCCD7751A8F}" presName="Name0" presStyleCnt="0">
        <dgm:presLayoutVars>
          <dgm:chMax/>
          <dgm:chPref/>
          <dgm:dir/>
        </dgm:presLayoutVars>
      </dgm:prSet>
      <dgm:spPr/>
    </dgm:pt>
    <dgm:pt modelId="{44EE32C5-490B-4DD1-9235-E9B22D8E0524}" type="pres">
      <dgm:prSet presAssocID="{4676EDAA-DE91-443C-88AC-866676E25C94}" presName="parenttextcomposite" presStyleCnt="0"/>
      <dgm:spPr/>
    </dgm:pt>
    <dgm:pt modelId="{5F9097A6-6FFF-4A2C-B915-E45F15A7BD42}" type="pres">
      <dgm:prSet presAssocID="{4676EDAA-DE91-443C-88AC-866676E25C94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75BADD42-F674-499B-8775-1D0283D2AD2B}" type="pres">
      <dgm:prSet presAssocID="{4676EDAA-DE91-443C-88AC-866676E25C94}" presName="composite" presStyleCnt="0"/>
      <dgm:spPr/>
    </dgm:pt>
    <dgm:pt modelId="{FF0FF5FC-A7E3-462F-AA7B-30ADDC43FE23}" type="pres">
      <dgm:prSet presAssocID="{4676EDAA-DE91-443C-88AC-866676E25C94}" presName="chevron1" presStyleLbl="alignNode1" presStyleIdx="0" presStyleCnt="21"/>
      <dgm:spPr/>
    </dgm:pt>
    <dgm:pt modelId="{4A5B24BE-32E5-4184-8221-4075BBB63DCE}" type="pres">
      <dgm:prSet presAssocID="{4676EDAA-DE91-443C-88AC-866676E25C94}" presName="chevron2" presStyleLbl="alignNode1" presStyleIdx="1" presStyleCnt="21"/>
      <dgm:spPr/>
    </dgm:pt>
    <dgm:pt modelId="{F6BCF979-60C0-46F0-905A-CA482BFFE308}" type="pres">
      <dgm:prSet presAssocID="{4676EDAA-DE91-443C-88AC-866676E25C94}" presName="chevron3" presStyleLbl="alignNode1" presStyleIdx="2" presStyleCnt="21"/>
      <dgm:spPr/>
    </dgm:pt>
    <dgm:pt modelId="{0D384C3E-7628-4E01-BFB2-F3BB88AC5AE0}" type="pres">
      <dgm:prSet presAssocID="{4676EDAA-DE91-443C-88AC-866676E25C94}" presName="chevron4" presStyleLbl="alignNode1" presStyleIdx="3" presStyleCnt="21"/>
      <dgm:spPr/>
    </dgm:pt>
    <dgm:pt modelId="{899C0864-27CC-4A8C-B28B-9562F6C39FCE}" type="pres">
      <dgm:prSet presAssocID="{4676EDAA-DE91-443C-88AC-866676E25C94}" presName="chevron5" presStyleLbl="alignNode1" presStyleIdx="4" presStyleCnt="21"/>
      <dgm:spPr/>
    </dgm:pt>
    <dgm:pt modelId="{F2E3B621-33BA-4FF0-A70D-68A4414DB187}" type="pres">
      <dgm:prSet presAssocID="{4676EDAA-DE91-443C-88AC-866676E25C94}" presName="chevron6" presStyleLbl="alignNode1" presStyleIdx="5" presStyleCnt="21"/>
      <dgm:spPr/>
    </dgm:pt>
    <dgm:pt modelId="{F170591A-BC10-485F-8277-4ACDC395A761}" type="pres">
      <dgm:prSet presAssocID="{4676EDAA-DE91-443C-88AC-866676E25C94}" presName="chevron7" presStyleLbl="alignNode1" presStyleIdx="6" presStyleCnt="21"/>
      <dgm:spPr/>
    </dgm:pt>
    <dgm:pt modelId="{9DC1EEED-9B7E-489D-AEEB-D5672ADCAFF5}" type="pres">
      <dgm:prSet presAssocID="{4676EDAA-DE91-443C-88AC-866676E25C94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60421C29-23E7-4DF7-8BF5-EF8B3EBCDA64}" type="pres">
      <dgm:prSet presAssocID="{A8A7EE1B-2E82-4E22-826A-DFAA8D3981C1}" presName="sibTrans" presStyleCnt="0"/>
      <dgm:spPr/>
    </dgm:pt>
    <dgm:pt modelId="{0D39C11C-3E3B-407D-987F-45F937517603}" type="pres">
      <dgm:prSet presAssocID="{02912576-20D8-4904-901A-8A139BE39090}" presName="parenttextcomposite" presStyleCnt="0"/>
      <dgm:spPr/>
    </dgm:pt>
    <dgm:pt modelId="{D084BF63-3416-442F-B72A-677CA41CF517}" type="pres">
      <dgm:prSet presAssocID="{02912576-20D8-4904-901A-8A139BE39090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BB92B8F4-55D1-4DE3-82CA-224F01E84777}" type="pres">
      <dgm:prSet presAssocID="{02912576-20D8-4904-901A-8A139BE39090}" presName="composite" presStyleCnt="0"/>
      <dgm:spPr/>
    </dgm:pt>
    <dgm:pt modelId="{56BBAF72-17C1-4D25-9AA8-BF7087296A70}" type="pres">
      <dgm:prSet presAssocID="{02912576-20D8-4904-901A-8A139BE39090}" presName="chevron1" presStyleLbl="alignNode1" presStyleIdx="7" presStyleCnt="21"/>
      <dgm:spPr/>
    </dgm:pt>
    <dgm:pt modelId="{3D814B9B-6CF0-4D57-BA6B-F16DA902DC0F}" type="pres">
      <dgm:prSet presAssocID="{02912576-20D8-4904-901A-8A139BE39090}" presName="chevron2" presStyleLbl="alignNode1" presStyleIdx="8" presStyleCnt="21"/>
      <dgm:spPr/>
    </dgm:pt>
    <dgm:pt modelId="{796C3C5B-6876-45C8-9302-15B88363E541}" type="pres">
      <dgm:prSet presAssocID="{02912576-20D8-4904-901A-8A139BE39090}" presName="chevron3" presStyleLbl="alignNode1" presStyleIdx="9" presStyleCnt="21"/>
      <dgm:spPr/>
    </dgm:pt>
    <dgm:pt modelId="{6CCD9AAA-BDBA-4822-935B-FD71B3421F4E}" type="pres">
      <dgm:prSet presAssocID="{02912576-20D8-4904-901A-8A139BE39090}" presName="chevron4" presStyleLbl="alignNode1" presStyleIdx="10" presStyleCnt="21"/>
      <dgm:spPr/>
    </dgm:pt>
    <dgm:pt modelId="{586EDE36-1B5F-42B7-B661-DEB6F9CC4557}" type="pres">
      <dgm:prSet presAssocID="{02912576-20D8-4904-901A-8A139BE39090}" presName="chevron5" presStyleLbl="alignNode1" presStyleIdx="11" presStyleCnt="21"/>
      <dgm:spPr/>
    </dgm:pt>
    <dgm:pt modelId="{920F686C-F615-450B-BA01-C4752028A760}" type="pres">
      <dgm:prSet presAssocID="{02912576-20D8-4904-901A-8A139BE39090}" presName="chevron6" presStyleLbl="alignNode1" presStyleIdx="12" presStyleCnt="21"/>
      <dgm:spPr/>
    </dgm:pt>
    <dgm:pt modelId="{0D4BFB0A-352A-4B21-88D4-2B63C96700E2}" type="pres">
      <dgm:prSet presAssocID="{02912576-20D8-4904-901A-8A139BE39090}" presName="chevron7" presStyleLbl="alignNode1" presStyleIdx="13" presStyleCnt="21"/>
      <dgm:spPr/>
    </dgm:pt>
    <dgm:pt modelId="{DC0A32BB-AB40-460A-AAEA-53F1CFD55B95}" type="pres">
      <dgm:prSet presAssocID="{02912576-20D8-4904-901A-8A139BE39090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5113F248-1102-49BE-85C5-218785D616C5}" type="pres">
      <dgm:prSet presAssocID="{DFA1923C-B3A4-442E-8C0F-E0B5E9BEC976}" presName="sibTrans" presStyleCnt="0"/>
      <dgm:spPr/>
    </dgm:pt>
    <dgm:pt modelId="{B31B518C-66D2-45E9-8650-D40AC5FD50A5}" type="pres">
      <dgm:prSet presAssocID="{31F0E141-AAFB-42CF-83E9-BB9BB4D58036}" presName="parenttextcomposite" presStyleCnt="0"/>
      <dgm:spPr/>
    </dgm:pt>
    <dgm:pt modelId="{159E0774-A983-403F-9F33-F0796FEAB953}" type="pres">
      <dgm:prSet presAssocID="{31F0E141-AAFB-42CF-83E9-BB9BB4D58036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28EDAFB8-E716-4F4D-828B-C2CB6A9B93D6}" type="pres">
      <dgm:prSet presAssocID="{31F0E141-AAFB-42CF-83E9-BB9BB4D58036}" presName="composite" presStyleCnt="0"/>
      <dgm:spPr/>
    </dgm:pt>
    <dgm:pt modelId="{70D43A4D-78C0-445A-8192-435DB42CD784}" type="pres">
      <dgm:prSet presAssocID="{31F0E141-AAFB-42CF-83E9-BB9BB4D58036}" presName="chevron1" presStyleLbl="alignNode1" presStyleIdx="14" presStyleCnt="21"/>
      <dgm:spPr/>
    </dgm:pt>
    <dgm:pt modelId="{037109F0-979E-4F51-B79E-D9461E7B37C7}" type="pres">
      <dgm:prSet presAssocID="{31F0E141-AAFB-42CF-83E9-BB9BB4D58036}" presName="chevron2" presStyleLbl="alignNode1" presStyleIdx="15" presStyleCnt="21"/>
      <dgm:spPr/>
    </dgm:pt>
    <dgm:pt modelId="{D8D42FF4-9CE1-4097-A731-4D7910DB2313}" type="pres">
      <dgm:prSet presAssocID="{31F0E141-AAFB-42CF-83E9-BB9BB4D58036}" presName="chevron3" presStyleLbl="alignNode1" presStyleIdx="16" presStyleCnt="21"/>
      <dgm:spPr/>
    </dgm:pt>
    <dgm:pt modelId="{6F466493-CAE1-46F4-8EA4-390AD3B15F57}" type="pres">
      <dgm:prSet presAssocID="{31F0E141-AAFB-42CF-83E9-BB9BB4D58036}" presName="chevron4" presStyleLbl="alignNode1" presStyleIdx="17" presStyleCnt="21"/>
      <dgm:spPr/>
    </dgm:pt>
    <dgm:pt modelId="{2BAC00D6-71E5-4C5A-88DC-04CCC023134F}" type="pres">
      <dgm:prSet presAssocID="{31F0E141-AAFB-42CF-83E9-BB9BB4D58036}" presName="chevron5" presStyleLbl="alignNode1" presStyleIdx="18" presStyleCnt="21"/>
      <dgm:spPr/>
    </dgm:pt>
    <dgm:pt modelId="{ECE0DD18-E126-4502-8BA8-D04864BE95FC}" type="pres">
      <dgm:prSet presAssocID="{31F0E141-AAFB-42CF-83E9-BB9BB4D58036}" presName="chevron6" presStyleLbl="alignNode1" presStyleIdx="19" presStyleCnt="21"/>
      <dgm:spPr/>
    </dgm:pt>
    <dgm:pt modelId="{2A1B4FA5-EB3F-4A41-9E67-6A543662FD55}" type="pres">
      <dgm:prSet presAssocID="{31F0E141-AAFB-42CF-83E9-BB9BB4D58036}" presName="chevron7" presStyleLbl="alignNode1" presStyleIdx="20" presStyleCnt="21" custScaleX="91325" custScaleY="66932"/>
      <dgm:spPr/>
    </dgm:pt>
    <dgm:pt modelId="{F7DD6589-5E34-455C-A4BA-5DB53E8733AC}" type="pres">
      <dgm:prSet presAssocID="{31F0E141-AAFB-42CF-83E9-BB9BB4D58036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15363313-E787-4287-8DA1-CD5796AA9A51}" type="presOf" srcId="{F08FCDB7-555A-499B-BD9D-57763240D146}" destId="{DC0A32BB-AB40-460A-AAEA-53F1CFD55B95}" srcOrd="0" destOrd="0" presId="urn:microsoft.com/office/officeart/2008/layout/VerticalAccentList"/>
    <dgm:cxn modelId="{D28E7A13-F35B-4749-BCC8-70F868A59229}" type="presOf" srcId="{02912576-20D8-4904-901A-8A139BE39090}" destId="{D084BF63-3416-442F-B72A-677CA41CF517}" srcOrd="0" destOrd="0" presId="urn:microsoft.com/office/officeart/2008/layout/VerticalAccentList"/>
    <dgm:cxn modelId="{69B14941-64AD-4FB4-A9F6-ABC0C8C0BFAF}" type="presOf" srcId="{31F0E141-AAFB-42CF-83E9-BB9BB4D58036}" destId="{159E0774-A983-403F-9F33-F0796FEAB953}" srcOrd="0" destOrd="0" presId="urn:microsoft.com/office/officeart/2008/layout/VerticalAccentList"/>
    <dgm:cxn modelId="{88F4AC43-6AB7-43D1-88FE-503133E5F3A9}" type="presOf" srcId="{4676EDAA-DE91-443C-88AC-866676E25C94}" destId="{5F9097A6-6FFF-4A2C-B915-E45F15A7BD42}" srcOrd="0" destOrd="0" presId="urn:microsoft.com/office/officeart/2008/layout/VerticalAccentList"/>
    <dgm:cxn modelId="{7AC3A045-8109-46C7-A5FE-1DB240B56FE0}" srcId="{2E49794F-A562-4A22-9275-1BCCD7751A8F}" destId="{4676EDAA-DE91-443C-88AC-866676E25C94}" srcOrd="0" destOrd="0" parTransId="{1004AB6A-B20B-4EB8-8224-13685F523366}" sibTransId="{A8A7EE1B-2E82-4E22-826A-DFAA8D3981C1}"/>
    <dgm:cxn modelId="{38F10448-28E9-4CB7-AFA0-047CAF40D606}" srcId="{2E49794F-A562-4A22-9275-1BCCD7751A8F}" destId="{31F0E141-AAFB-42CF-83E9-BB9BB4D58036}" srcOrd="2" destOrd="0" parTransId="{BCFA937A-53A2-4CE4-90F6-78A1A3A0286C}" sibTransId="{9CE42DAB-8478-44A8-944C-25219382A0F4}"/>
    <dgm:cxn modelId="{C44B8F57-E84D-444E-8187-D1E6D5DA393F}" srcId="{31F0E141-AAFB-42CF-83E9-BB9BB4D58036}" destId="{89BE0F6D-C890-49A7-BEC1-87479C1C2533}" srcOrd="0" destOrd="0" parTransId="{2C9DBD1E-86EC-409C-A7AF-EA70EA168DA2}" sibTransId="{7D7765D2-2AC8-4940-8BB8-7BE4C5B54397}"/>
    <dgm:cxn modelId="{4C813A8A-EC90-4431-962E-114C665F2747}" type="presOf" srcId="{2E49794F-A562-4A22-9275-1BCCD7751A8F}" destId="{E5405C8D-3ED2-4AE0-90BB-294F6A6E925A}" srcOrd="0" destOrd="0" presId="urn:microsoft.com/office/officeart/2008/layout/VerticalAccentList"/>
    <dgm:cxn modelId="{DB1AE28E-32EB-442D-B810-DC3518C1C9C8}" srcId="{2E49794F-A562-4A22-9275-1BCCD7751A8F}" destId="{02912576-20D8-4904-901A-8A139BE39090}" srcOrd="1" destOrd="0" parTransId="{5DFAE469-DA71-43C4-89DA-99F5D152D974}" sibTransId="{DFA1923C-B3A4-442E-8C0F-E0B5E9BEC976}"/>
    <dgm:cxn modelId="{363FE8A9-EBDD-47BA-AEC1-BC69BE18184B}" srcId="{4676EDAA-DE91-443C-88AC-866676E25C94}" destId="{843C25E8-C0D8-4281-9BC6-5F4CB4B9D6A9}" srcOrd="0" destOrd="0" parTransId="{72C0857A-2198-4106-B72A-1DF32F97469D}" sibTransId="{294FCBC7-6F68-42D2-B8C9-261C0C581678}"/>
    <dgm:cxn modelId="{600008B9-99C4-415C-A47D-B6421819B242}" type="presOf" srcId="{843C25E8-C0D8-4281-9BC6-5F4CB4B9D6A9}" destId="{9DC1EEED-9B7E-489D-AEEB-D5672ADCAFF5}" srcOrd="0" destOrd="0" presId="urn:microsoft.com/office/officeart/2008/layout/VerticalAccentList"/>
    <dgm:cxn modelId="{29C0CCC9-3F46-4C42-B615-44D04286BA5E}" type="presOf" srcId="{89BE0F6D-C890-49A7-BEC1-87479C1C2533}" destId="{F7DD6589-5E34-455C-A4BA-5DB53E8733AC}" srcOrd="0" destOrd="0" presId="urn:microsoft.com/office/officeart/2008/layout/VerticalAccentList"/>
    <dgm:cxn modelId="{B696B2CA-D3A7-4F62-AA9B-407FCD83CEB7}" srcId="{02912576-20D8-4904-901A-8A139BE39090}" destId="{F08FCDB7-555A-499B-BD9D-57763240D146}" srcOrd="0" destOrd="0" parTransId="{CF60E046-0D38-4821-AF5A-C3D9B6297B5C}" sibTransId="{C391ADD6-704D-4D25-A4FF-F77EA5DA8A10}"/>
    <dgm:cxn modelId="{892118DC-7F09-465A-A612-905E7C9B41FC}" type="presParOf" srcId="{E5405C8D-3ED2-4AE0-90BB-294F6A6E925A}" destId="{44EE32C5-490B-4DD1-9235-E9B22D8E0524}" srcOrd="0" destOrd="0" presId="urn:microsoft.com/office/officeart/2008/layout/VerticalAccentList"/>
    <dgm:cxn modelId="{3FD7EFEE-8C31-48B3-ADDC-53CCFE56BE93}" type="presParOf" srcId="{44EE32C5-490B-4DD1-9235-E9B22D8E0524}" destId="{5F9097A6-6FFF-4A2C-B915-E45F15A7BD42}" srcOrd="0" destOrd="0" presId="urn:microsoft.com/office/officeart/2008/layout/VerticalAccentList"/>
    <dgm:cxn modelId="{845E0035-090A-4F10-BD47-294C793718FB}" type="presParOf" srcId="{E5405C8D-3ED2-4AE0-90BB-294F6A6E925A}" destId="{75BADD42-F674-499B-8775-1D0283D2AD2B}" srcOrd="1" destOrd="0" presId="urn:microsoft.com/office/officeart/2008/layout/VerticalAccentList"/>
    <dgm:cxn modelId="{B8586844-A5DC-4919-A736-3FFA40CCEC07}" type="presParOf" srcId="{75BADD42-F674-499B-8775-1D0283D2AD2B}" destId="{FF0FF5FC-A7E3-462F-AA7B-30ADDC43FE23}" srcOrd="0" destOrd="0" presId="urn:microsoft.com/office/officeart/2008/layout/VerticalAccentList"/>
    <dgm:cxn modelId="{77AE55EF-1AFC-4776-BF1A-83FB667737A0}" type="presParOf" srcId="{75BADD42-F674-499B-8775-1D0283D2AD2B}" destId="{4A5B24BE-32E5-4184-8221-4075BBB63DCE}" srcOrd="1" destOrd="0" presId="urn:microsoft.com/office/officeart/2008/layout/VerticalAccentList"/>
    <dgm:cxn modelId="{D48B91F0-B3B5-4E1E-86E4-5189DCA5CA2D}" type="presParOf" srcId="{75BADD42-F674-499B-8775-1D0283D2AD2B}" destId="{F6BCF979-60C0-46F0-905A-CA482BFFE308}" srcOrd="2" destOrd="0" presId="urn:microsoft.com/office/officeart/2008/layout/VerticalAccentList"/>
    <dgm:cxn modelId="{2E381E4E-3853-4D87-B796-ACAEF5B206B2}" type="presParOf" srcId="{75BADD42-F674-499B-8775-1D0283D2AD2B}" destId="{0D384C3E-7628-4E01-BFB2-F3BB88AC5AE0}" srcOrd="3" destOrd="0" presId="urn:microsoft.com/office/officeart/2008/layout/VerticalAccentList"/>
    <dgm:cxn modelId="{3CB47161-E335-4C10-BC67-28E24DE62179}" type="presParOf" srcId="{75BADD42-F674-499B-8775-1D0283D2AD2B}" destId="{899C0864-27CC-4A8C-B28B-9562F6C39FCE}" srcOrd="4" destOrd="0" presId="urn:microsoft.com/office/officeart/2008/layout/VerticalAccentList"/>
    <dgm:cxn modelId="{BD092594-B911-4E18-BAF5-0EE131F36941}" type="presParOf" srcId="{75BADD42-F674-499B-8775-1D0283D2AD2B}" destId="{F2E3B621-33BA-4FF0-A70D-68A4414DB187}" srcOrd="5" destOrd="0" presId="urn:microsoft.com/office/officeart/2008/layout/VerticalAccentList"/>
    <dgm:cxn modelId="{F405D434-A4BA-4260-A5D4-49C64D7D812B}" type="presParOf" srcId="{75BADD42-F674-499B-8775-1D0283D2AD2B}" destId="{F170591A-BC10-485F-8277-4ACDC395A761}" srcOrd="6" destOrd="0" presId="urn:microsoft.com/office/officeart/2008/layout/VerticalAccentList"/>
    <dgm:cxn modelId="{5294DDD5-C394-43E3-AD55-CF58DF4BB15A}" type="presParOf" srcId="{75BADD42-F674-499B-8775-1D0283D2AD2B}" destId="{9DC1EEED-9B7E-489D-AEEB-D5672ADCAFF5}" srcOrd="7" destOrd="0" presId="urn:microsoft.com/office/officeart/2008/layout/VerticalAccentList"/>
    <dgm:cxn modelId="{08AF0FBD-BC16-4810-8079-F97743480C7E}" type="presParOf" srcId="{E5405C8D-3ED2-4AE0-90BB-294F6A6E925A}" destId="{60421C29-23E7-4DF7-8BF5-EF8B3EBCDA64}" srcOrd="2" destOrd="0" presId="urn:microsoft.com/office/officeart/2008/layout/VerticalAccentList"/>
    <dgm:cxn modelId="{F062949D-F0E5-4529-9EC1-890F47803BF1}" type="presParOf" srcId="{E5405C8D-3ED2-4AE0-90BB-294F6A6E925A}" destId="{0D39C11C-3E3B-407D-987F-45F937517603}" srcOrd="3" destOrd="0" presId="urn:microsoft.com/office/officeart/2008/layout/VerticalAccentList"/>
    <dgm:cxn modelId="{AB0F6ED4-1F80-45FE-B7D3-D2A33A4EF3C1}" type="presParOf" srcId="{0D39C11C-3E3B-407D-987F-45F937517603}" destId="{D084BF63-3416-442F-B72A-677CA41CF517}" srcOrd="0" destOrd="0" presId="urn:microsoft.com/office/officeart/2008/layout/VerticalAccentList"/>
    <dgm:cxn modelId="{BE6A950C-7EBC-4E59-AC42-53BF12536F1B}" type="presParOf" srcId="{E5405C8D-3ED2-4AE0-90BB-294F6A6E925A}" destId="{BB92B8F4-55D1-4DE3-82CA-224F01E84777}" srcOrd="4" destOrd="0" presId="urn:microsoft.com/office/officeart/2008/layout/VerticalAccentList"/>
    <dgm:cxn modelId="{EDD94FC4-7379-4710-9B42-02DD7ABBCE59}" type="presParOf" srcId="{BB92B8F4-55D1-4DE3-82CA-224F01E84777}" destId="{56BBAF72-17C1-4D25-9AA8-BF7087296A70}" srcOrd="0" destOrd="0" presId="urn:microsoft.com/office/officeart/2008/layout/VerticalAccentList"/>
    <dgm:cxn modelId="{ED046187-8CD3-49E7-BD76-9BA4308A034D}" type="presParOf" srcId="{BB92B8F4-55D1-4DE3-82CA-224F01E84777}" destId="{3D814B9B-6CF0-4D57-BA6B-F16DA902DC0F}" srcOrd="1" destOrd="0" presId="urn:microsoft.com/office/officeart/2008/layout/VerticalAccentList"/>
    <dgm:cxn modelId="{0B6462F0-81A9-41FF-9BE2-828C8398FE29}" type="presParOf" srcId="{BB92B8F4-55D1-4DE3-82CA-224F01E84777}" destId="{796C3C5B-6876-45C8-9302-15B88363E541}" srcOrd="2" destOrd="0" presId="urn:microsoft.com/office/officeart/2008/layout/VerticalAccentList"/>
    <dgm:cxn modelId="{C4173FF7-792E-45EB-B28C-4B6429DF81CA}" type="presParOf" srcId="{BB92B8F4-55D1-4DE3-82CA-224F01E84777}" destId="{6CCD9AAA-BDBA-4822-935B-FD71B3421F4E}" srcOrd="3" destOrd="0" presId="urn:microsoft.com/office/officeart/2008/layout/VerticalAccentList"/>
    <dgm:cxn modelId="{6D83BB98-26F1-48BE-83EA-6C835D8C7AE7}" type="presParOf" srcId="{BB92B8F4-55D1-4DE3-82CA-224F01E84777}" destId="{586EDE36-1B5F-42B7-B661-DEB6F9CC4557}" srcOrd="4" destOrd="0" presId="urn:microsoft.com/office/officeart/2008/layout/VerticalAccentList"/>
    <dgm:cxn modelId="{E265ABBC-A7DC-44BA-93DC-FC813A79F06F}" type="presParOf" srcId="{BB92B8F4-55D1-4DE3-82CA-224F01E84777}" destId="{920F686C-F615-450B-BA01-C4752028A760}" srcOrd="5" destOrd="0" presId="urn:microsoft.com/office/officeart/2008/layout/VerticalAccentList"/>
    <dgm:cxn modelId="{3F678EB1-FC5D-4C12-BFA3-CEF120A2371A}" type="presParOf" srcId="{BB92B8F4-55D1-4DE3-82CA-224F01E84777}" destId="{0D4BFB0A-352A-4B21-88D4-2B63C96700E2}" srcOrd="6" destOrd="0" presId="urn:microsoft.com/office/officeart/2008/layout/VerticalAccentList"/>
    <dgm:cxn modelId="{128E68EC-B498-409E-9190-4D96AD43E8BE}" type="presParOf" srcId="{BB92B8F4-55D1-4DE3-82CA-224F01E84777}" destId="{DC0A32BB-AB40-460A-AAEA-53F1CFD55B95}" srcOrd="7" destOrd="0" presId="urn:microsoft.com/office/officeart/2008/layout/VerticalAccentList"/>
    <dgm:cxn modelId="{E92263E2-6F31-49F5-959C-910C14E9D6E4}" type="presParOf" srcId="{E5405C8D-3ED2-4AE0-90BB-294F6A6E925A}" destId="{5113F248-1102-49BE-85C5-218785D616C5}" srcOrd="5" destOrd="0" presId="urn:microsoft.com/office/officeart/2008/layout/VerticalAccentList"/>
    <dgm:cxn modelId="{1CAAE7E9-EFCE-4EEA-8E4D-B8ADE3B83F4A}" type="presParOf" srcId="{E5405C8D-3ED2-4AE0-90BB-294F6A6E925A}" destId="{B31B518C-66D2-45E9-8650-D40AC5FD50A5}" srcOrd="6" destOrd="0" presId="urn:microsoft.com/office/officeart/2008/layout/VerticalAccentList"/>
    <dgm:cxn modelId="{7B38E8C7-85D3-4713-BEEF-98B5B6869E5E}" type="presParOf" srcId="{B31B518C-66D2-45E9-8650-D40AC5FD50A5}" destId="{159E0774-A983-403F-9F33-F0796FEAB953}" srcOrd="0" destOrd="0" presId="urn:microsoft.com/office/officeart/2008/layout/VerticalAccentList"/>
    <dgm:cxn modelId="{65C4B3DD-1572-4C12-81C9-208A5D000A32}" type="presParOf" srcId="{E5405C8D-3ED2-4AE0-90BB-294F6A6E925A}" destId="{28EDAFB8-E716-4F4D-828B-C2CB6A9B93D6}" srcOrd="7" destOrd="0" presId="urn:microsoft.com/office/officeart/2008/layout/VerticalAccentList"/>
    <dgm:cxn modelId="{23678DDB-2EA2-403C-B929-1A2465163E50}" type="presParOf" srcId="{28EDAFB8-E716-4F4D-828B-C2CB6A9B93D6}" destId="{70D43A4D-78C0-445A-8192-435DB42CD784}" srcOrd="0" destOrd="0" presId="urn:microsoft.com/office/officeart/2008/layout/VerticalAccentList"/>
    <dgm:cxn modelId="{4EFF6FF8-B023-4E3E-A183-F8A0ED101A9B}" type="presParOf" srcId="{28EDAFB8-E716-4F4D-828B-C2CB6A9B93D6}" destId="{037109F0-979E-4F51-B79E-D9461E7B37C7}" srcOrd="1" destOrd="0" presId="urn:microsoft.com/office/officeart/2008/layout/VerticalAccentList"/>
    <dgm:cxn modelId="{0A1B3CE1-1DE1-42A8-9FA1-69FCF80AD2AC}" type="presParOf" srcId="{28EDAFB8-E716-4F4D-828B-C2CB6A9B93D6}" destId="{D8D42FF4-9CE1-4097-A731-4D7910DB2313}" srcOrd="2" destOrd="0" presId="urn:microsoft.com/office/officeart/2008/layout/VerticalAccentList"/>
    <dgm:cxn modelId="{5D5C32FF-A644-45CF-9875-51FE7F563B79}" type="presParOf" srcId="{28EDAFB8-E716-4F4D-828B-C2CB6A9B93D6}" destId="{6F466493-CAE1-46F4-8EA4-390AD3B15F57}" srcOrd="3" destOrd="0" presId="urn:microsoft.com/office/officeart/2008/layout/VerticalAccentList"/>
    <dgm:cxn modelId="{7CDF759E-15D8-40CB-A16F-AE390F5D758D}" type="presParOf" srcId="{28EDAFB8-E716-4F4D-828B-C2CB6A9B93D6}" destId="{2BAC00D6-71E5-4C5A-88DC-04CCC023134F}" srcOrd="4" destOrd="0" presId="urn:microsoft.com/office/officeart/2008/layout/VerticalAccentList"/>
    <dgm:cxn modelId="{317CAEDB-EC44-4552-9971-F271F327F3C3}" type="presParOf" srcId="{28EDAFB8-E716-4F4D-828B-C2CB6A9B93D6}" destId="{ECE0DD18-E126-4502-8BA8-D04864BE95FC}" srcOrd="5" destOrd="0" presId="urn:microsoft.com/office/officeart/2008/layout/VerticalAccentList"/>
    <dgm:cxn modelId="{28BBA623-8C9B-46CC-8816-0C3CB625DEC3}" type="presParOf" srcId="{28EDAFB8-E716-4F4D-828B-C2CB6A9B93D6}" destId="{2A1B4FA5-EB3F-4A41-9E67-6A543662FD55}" srcOrd="6" destOrd="0" presId="urn:microsoft.com/office/officeart/2008/layout/VerticalAccentList"/>
    <dgm:cxn modelId="{301E982B-758A-4641-90AD-F99A3531649F}" type="presParOf" srcId="{28EDAFB8-E716-4F4D-828B-C2CB6A9B93D6}" destId="{F7DD6589-5E34-455C-A4BA-5DB53E8733AC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097A6-6FFF-4A2C-B915-E45F15A7BD42}">
      <dsp:nvSpPr>
        <dsp:cNvPr id="0" name=""/>
        <dsp:cNvSpPr/>
      </dsp:nvSpPr>
      <dsp:spPr>
        <a:xfrm>
          <a:off x="930618" y="1622"/>
          <a:ext cx="5909399" cy="537218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An antigen induces the formation of IgE antibody</a:t>
          </a:r>
          <a:endParaRPr lang="en-US" sz="2000" b="1" kern="1200" dirty="0"/>
        </a:p>
      </dsp:txBody>
      <dsp:txXfrm>
        <a:off x="930618" y="1622"/>
        <a:ext cx="5909399" cy="537218"/>
      </dsp:txXfrm>
    </dsp:sp>
    <dsp:sp modelId="{FF0FF5FC-A7E3-462F-AA7B-30ADDC43FE23}">
      <dsp:nvSpPr>
        <dsp:cNvPr id="0" name=""/>
        <dsp:cNvSpPr/>
      </dsp:nvSpPr>
      <dsp:spPr>
        <a:xfrm>
          <a:off x="930618" y="538840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B24BE-32E5-4184-8221-4075BBB63DCE}">
      <dsp:nvSpPr>
        <dsp:cNvPr id="0" name=""/>
        <dsp:cNvSpPr/>
      </dsp:nvSpPr>
      <dsp:spPr>
        <a:xfrm>
          <a:off x="1761217" y="538840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496694"/>
            <a:satOff val="1991"/>
            <a:lumOff val="431"/>
            <a:alphaOff val="0"/>
          </a:schemeClr>
        </a:solidFill>
        <a:ln w="25400" cap="flat" cmpd="sng" algn="ctr">
          <a:solidFill>
            <a:schemeClr val="accent5">
              <a:hueOff val="-496694"/>
              <a:satOff val="1991"/>
              <a:lumOff val="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CF979-60C0-46F0-905A-CA482BFFE308}">
      <dsp:nvSpPr>
        <dsp:cNvPr id="0" name=""/>
        <dsp:cNvSpPr/>
      </dsp:nvSpPr>
      <dsp:spPr>
        <a:xfrm>
          <a:off x="2592473" y="538840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993388"/>
            <a:satOff val="3981"/>
            <a:lumOff val="863"/>
            <a:alphaOff val="0"/>
          </a:schemeClr>
        </a:solidFill>
        <a:ln w="25400" cap="flat" cmpd="sng" algn="ctr">
          <a:solidFill>
            <a:schemeClr val="accent5">
              <a:hueOff val="-993388"/>
              <a:satOff val="3981"/>
              <a:lumOff val="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84C3E-7628-4E01-BFB2-F3BB88AC5AE0}">
      <dsp:nvSpPr>
        <dsp:cNvPr id="0" name=""/>
        <dsp:cNvSpPr/>
      </dsp:nvSpPr>
      <dsp:spPr>
        <a:xfrm>
          <a:off x="3423071" y="538840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1490082"/>
            <a:satOff val="5972"/>
            <a:lumOff val="1294"/>
            <a:alphaOff val="0"/>
          </a:schemeClr>
        </a:solidFill>
        <a:ln w="25400" cap="flat" cmpd="sng" algn="ctr">
          <a:solidFill>
            <a:schemeClr val="accent5">
              <a:hueOff val="-1490082"/>
              <a:satOff val="5972"/>
              <a:lumOff val="1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C0864-27CC-4A8C-B28B-9562F6C39FCE}">
      <dsp:nvSpPr>
        <dsp:cNvPr id="0" name=""/>
        <dsp:cNvSpPr/>
      </dsp:nvSpPr>
      <dsp:spPr>
        <a:xfrm>
          <a:off x="4254327" y="538840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E3B621-33BA-4FF0-A70D-68A4414DB187}">
      <dsp:nvSpPr>
        <dsp:cNvPr id="0" name=""/>
        <dsp:cNvSpPr/>
      </dsp:nvSpPr>
      <dsp:spPr>
        <a:xfrm>
          <a:off x="5084926" y="538840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0591A-BC10-485F-8277-4ACDC395A761}">
      <dsp:nvSpPr>
        <dsp:cNvPr id="0" name=""/>
        <dsp:cNvSpPr/>
      </dsp:nvSpPr>
      <dsp:spPr>
        <a:xfrm>
          <a:off x="5916181" y="538840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2980163"/>
            <a:satOff val="11943"/>
            <a:lumOff val="2588"/>
            <a:alphaOff val="0"/>
          </a:schemeClr>
        </a:solidFill>
        <a:ln w="25400" cap="flat" cmpd="sng" algn="ctr">
          <a:solidFill>
            <a:schemeClr val="accent5">
              <a:hueOff val="-2980163"/>
              <a:satOff val="11943"/>
              <a:lumOff val="2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1EEED-9B7E-489D-AEEB-D5672ADCAFF5}">
      <dsp:nvSpPr>
        <dsp:cNvPr id="0" name=""/>
        <dsp:cNvSpPr/>
      </dsp:nvSpPr>
      <dsp:spPr>
        <a:xfrm>
          <a:off x="930618" y="648273"/>
          <a:ext cx="5986221" cy="8754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Which binds firmly by its Fc portion to high-</a:t>
          </a:r>
          <a:r>
            <a:rPr lang="en-US" sz="1800" b="1" i="0" kern="1200" dirty="0" err="1">
              <a:solidFill>
                <a:srgbClr val="002060"/>
              </a:solidFill>
            </a:rPr>
            <a:t>affinty</a:t>
          </a:r>
          <a:r>
            <a:rPr lang="en-US" sz="1800" b="1" i="0" kern="1200" dirty="0">
              <a:solidFill>
                <a:srgbClr val="002060"/>
              </a:solidFill>
            </a:rPr>
            <a:t> IgE receptors on mast cells, basophils, and possibly eosinophils</a:t>
          </a:r>
          <a:endParaRPr lang="en-US" sz="1800" b="1" kern="1200" dirty="0">
            <a:solidFill>
              <a:srgbClr val="002060"/>
            </a:solidFill>
          </a:endParaRPr>
        </a:p>
      </dsp:txBody>
      <dsp:txXfrm>
        <a:off x="930618" y="648273"/>
        <a:ext cx="5986221" cy="875466"/>
      </dsp:txXfrm>
    </dsp:sp>
    <dsp:sp modelId="{D084BF63-3416-442F-B72A-677CA41CF517}">
      <dsp:nvSpPr>
        <dsp:cNvPr id="0" name=""/>
        <dsp:cNvSpPr/>
      </dsp:nvSpPr>
      <dsp:spPr>
        <a:xfrm>
          <a:off x="930618" y="1713905"/>
          <a:ext cx="5909399" cy="537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A second exposure of the individual with the same antigen results in the antigen’s binding to cell-bound IgE,</a:t>
          </a:r>
          <a:endParaRPr lang="en-US" sz="1800" b="1" kern="1200" dirty="0">
            <a:solidFill>
              <a:srgbClr val="002060"/>
            </a:solidFill>
          </a:endParaRPr>
        </a:p>
      </dsp:txBody>
      <dsp:txXfrm>
        <a:off x="930618" y="1713905"/>
        <a:ext cx="5909399" cy="537218"/>
      </dsp:txXfrm>
    </dsp:sp>
    <dsp:sp modelId="{56BBAF72-17C1-4D25-9AA8-BF7087296A70}">
      <dsp:nvSpPr>
        <dsp:cNvPr id="0" name=""/>
        <dsp:cNvSpPr/>
      </dsp:nvSpPr>
      <dsp:spPr>
        <a:xfrm>
          <a:off x="930618" y="2251123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3476857"/>
            <a:satOff val="13934"/>
            <a:lumOff val="3020"/>
            <a:alphaOff val="0"/>
          </a:schemeClr>
        </a:solidFill>
        <a:ln w="25400" cap="flat" cmpd="sng" algn="ctr">
          <a:solidFill>
            <a:schemeClr val="accent5">
              <a:hueOff val="-3476857"/>
              <a:satOff val="13934"/>
              <a:lumOff val="30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14B9B-6CF0-4D57-BA6B-F16DA902DC0F}">
      <dsp:nvSpPr>
        <dsp:cNvPr id="0" name=""/>
        <dsp:cNvSpPr/>
      </dsp:nvSpPr>
      <dsp:spPr>
        <a:xfrm>
          <a:off x="1761217" y="2251123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C3C5B-6876-45C8-9302-15B88363E541}">
      <dsp:nvSpPr>
        <dsp:cNvPr id="0" name=""/>
        <dsp:cNvSpPr/>
      </dsp:nvSpPr>
      <dsp:spPr>
        <a:xfrm>
          <a:off x="2592473" y="2251123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4470244"/>
            <a:satOff val="17915"/>
            <a:lumOff val="3883"/>
            <a:alphaOff val="0"/>
          </a:schemeClr>
        </a:solidFill>
        <a:ln w="25400" cap="flat" cmpd="sng" algn="ctr">
          <a:solidFill>
            <a:schemeClr val="accent5">
              <a:hueOff val="-4470244"/>
              <a:satOff val="17915"/>
              <a:lumOff val="3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D9AAA-BDBA-4822-935B-FD71B3421F4E}">
      <dsp:nvSpPr>
        <dsp:cNvPr id="0" name=""/>
        <dsp:cNvSpPr/>
      </dsp:nvSpPr>
      <dsp:spPr>
        <a:xfrm>
          <a:off x="3423071" y="2251123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6EDE36-1B5F-42B7-B661-DEB6F9CC4557}">
      <dsp:nvSpPr>
        <dsp:cNvPr id="0" name=""/>
        <dsp:cNvSpPr/>
      </dsp:nvSpPr>
      <dsp:spPr>
        <a:xfrm>
          <a:off x="4254327" y="2251123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5463632"/>
            <a:satOff val="21896"/>
            <a:lumOff val="4745"/>
            <a:alphaOff val="0"/>
          </a:schemeClr>
        </a:solidFill>
        <a:ln w="25400" cap="flat" cmpd="sng" algn="ctr">
          <a:solidFill>
            <a:schemeClr val="accent5">
              <a:hueOff val="-5463632"/>
              <a:satOff val="21896"/>
              <a:lumOff val="4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F686C-F615-450B-BA01-C4752028A760}">
      <dsp:nvSpPr>
        <dsp:cNvPr id="0" name=""/>
        <dsp:cNvSpPr/>
      </dsp:nvSpPr>
      <dsp:spPr>
        <a:xfrm>
          <a:off x="5084926" y="2251123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BFB0A-352A-4B21-88D4-2B63C96700E2}">
      <dsp:nvSpPr>
        <dsp:cNvPr id="0" name=""/>
        <dsp:cNvSpPr/>
      </dsp:nvSpPr>
      <dsp:spPr>
        <a:xfrm>
          <a:off x="5916181" y="2251123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6457019"/>
            <a:satOff val="25877"/>
            <a:lumOff val="5608"/>
            <a:alphaOff val="0"/>
          </a:schemeClr>
        </a:solidFill>
        <a:ln w="25400" cap="flat" cmpd="sng" algn="ctr">
          <a:solidFill>
            <a:schemeClr val="accent5">
              <a:hueOff val="-6457019"/>
              <a:satOff val="25877"/>
              <a:lumOff val="5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A32BB-AB40-460A-AAEA-53F1CFD55B95}">
      <dsp:nvSpPr>
        <dsp:cNvPr id="0" name=""/>
        <dsp:cNvSpPr/>
      </dsp:nvSpPr>
      <dsp:spPr>
        <a:xfrm>
          <a:off x="930618" y="2360557"/>
          <a:ext cx="5986221" cy="8754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Cross-linking of IgE molecules, and inducing the release of pharmacologically active mediators from cells within seconds to minutes</a:t>
          </a:r>
          <a:endParaRPr lang="en-US" sz="1800" b="1" kern="1200" dirty="0"/>
        </a:p>
      </dsp:txBody>
      <dsp:txXfrm>
        <a:off x="930618" y="2360557"/>
        <a:ext cx="5986221" cy="875466"/>
      </dsp:txXfrm>
    </dsp:sp>
    <dsp:sp modelId="{159E0774-A983-403F-9F33-F0796FEAB953}">
      <dsp:nvSpPr>
        <dsp:cNvPr id="0" name=""/>
        <dsp:cNvSpPr/>
      </dsp:nvSpPr>
      <dsp:spPr>
        <a:xfrm>
          <a:off x="930618" y="3426189"/>
          <a:ext cx="5909399" cy="537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rgbClr val="002060"/>
              </a:solidFill>
            </a:rPr>
            <a:t>Cyclic nucleotides and calcium are essential in the release of mediators.</a:t>
          </a:r>
          <a:endParaRPr lang="en-US" sz="1800" b="1" kern="1200" dirty="0">
            <a:solidFill>
              <a:srgbClr val="002060"/>
            </a:solidFill>
          </a:endParaRPr>
        </a:p>
      </dsp:txBody>
      <dsp:txXfrm>
        <a:off x="930618" y="3426189"/>
        <a:ext cx="5909399" cy="537218"/>
      </dsp:txXfrm>
    </dsp:sp>
    <dsp:sp modelId="{70D43A4D-78C0-445A-8192-435DB42CD784}">
      <dsp:nvSpPr>
        <dsp:cNvPr id="0" name=""/>
        <dsp:cNvSpPr/>
      </dsp:nvSpPr>
      <dsp:spPr>
        <a:xfrm>
          <a:off x="930618" y="3963407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6953714"/>
            <a:satOff val="27868"/>
            <a:lumOff val="6040"/>
            <a:alphaOff val="0"/>
          </a:schemeClr>
        </a:solidFill>
        <a:ln w="25400" cap="flat" cmpd="sng" algn="ctr">
          <a:solidFill>
            <a:schemeClr val="accent5">
              <a:hueOff val="-6953714"/>
              <a:satOff val="27868"/>
              <a:lumOff val="60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109F0-979E-4F51-B79E-D9461E7B37C7}">
      <dsp:nvSpPr>
        <dsp:cNvPr id="0" name=""/>
        <dsp:cNvSpPr/>
      </dsp:nvSpPr>
      <dsp:spPr>
        <a:xfrm>
          <a:off x="1761217" y="3963407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42FF4-9CE1-4097-A731-4D7910DB2313}">
      <dsp:nvSpPr>
        <dsp:cNvPr id="0" name=""/>
        <dsp:cNvSpPr/>
      </dsp:nvSpPr>
      <dsp:spPr>
        <a:xfrm>
          <a:off x="2592473" y="3963407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66493-CAE1-46F4-8EA4-390AD3B15F57}">
      <dsp:nvSpPr>
        <dsp:cNvPr id="0" name=""/>
        <dsp:cNvSpPr/>
      </dsp:nvSpPr>
      <dsp:spPr>
        <a:xfrm>
          <a:off x="3423071" y="3963407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8443795"/>
            <a:satOff val="33839"/>
            <a:lumOff val="7334"/>
            <a:alphaOff val="0"/>
          </a:schemeClr>
        </a:solidFill>
        <a:ln w="25400" cap="flat" cmpd="sng" algn="ctr">
          <a:solidFill>
            <a:schemeClr val="accent5">
              <a:hueOff val="-8443795"/>
              <a:satOff val="33839"/>
              <a:lumOff val="733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C00D6-71E5-4C5A-88DC-04CCC023134F}">
      <dsp:nvSpPr>
        <dsp:cNvPr id="0" name=""/>
        <dsp:cNvSpPr/>
      </dsp:nvSpPr>
      <dsp:spPr>
        <a:xfrm>
          <a:off x="4254327" y="3963407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8940489"/>
            <a:satOff val="35830"/>
            <a:lumOff val="7765"/>
            <a:alphaOff val="0"/>
          </a:schemeClr>
        </a:solidFill>
        <a:ln w="25400" cap="flat" cmpd="sng" algn="ctr">
          <a:solidFill>
            <a:schemeClr val="accent5">
              <a:hueOff val="-8940489"/>
              <a:satOff val="35830"/>
              <a:lumOff val="7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0DD18-E126-4502-8BA8-D04864BE95FC}">
      <dsp:nvSpPr>
        <dsp:cNvPr id="0" name=""/>
        <dsp:cNvSpPr/>
      </dsp:nvSpPr>
      <dsp:spPr>
        <a:xfrm>
          <a:off x="5084926" y="3963407"/>
          <a:ext cx="1382799" cy="1094333"/>
        </a:xfrm>
        <a:prstGeom prst="chevron">
          <a:avLst>
            <a:gd name="adj" fmla="val 70610"/>
          </a:avLst>
        </a:prstGeom>
        <a:solidFill>
          <a:schemeClr val="accent5">
            <a:hueOff val="-9437183"/>
            <a:satOff val="37820"/>
            <a:lumOff val="8197"/>
            <a:alphaOff val="0"/>
          </a:schemeClr>
        </a:solidFill>
        <a:ln w="25400" cap="flat" cmpd="sng" algn="ctr">
          <a:solidFill>
            <a:schemeClr val="accent5">
              <a:hueOff val="-9437183"/>
              <a:satOff val="37820"/>
              <a:lumOff val="81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B4FA5-EB3F-4A41-9E67-6A543662FD55}">
      <dsp:nvSpPr>
        <dsp:cNvPr id="0" name=""/>
        <dsp:cNvSpPr/>
      </dsp:nvSpPr>
      <dsp:spPr>
        <a:xfrm>
          <a:off x="5976160" y="4144344"/>
          <a:ext cx="1262841" cy="732459"/>
        </a:xfrm>
        <a:prstGeom prst="chevron">
          <a:avLst>
            <a:gd name="adj" fmla="val 7061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D6589-5E34-455C-A4BA-5DB53E8733AC}">
      <dsp:nvSpPr>
        <dsp:cNvPr id="0" name=""/>
        <dsp:cNvSpPr/>
      </dsp:nvSpPr>
      <dsp:spPr>
        <a:xfrm>
          <a:off x="930618" y="4072841"/>
          <a:ext cx="5986221" cy="8754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rgbClr val="002060"/>
              </a:solidFill>
            </a:rPr>
            <a:t>Involves infiltration of tissues with leukocytes, particularly eosinophils</a:t>
          </a:r>
          <a:endParaRPr lang="en-US" sz="2000" b="1" kern="1200" dirty="0">
            <a:solidFill>
              <a:srgbClr val="002060"/>
            </a:solidFill>
          </a:endParaRPr>
        </a:p>
      </dsp:txBody>
      <dsp:txXfrm>
        <a:off x="930618" y="4072841"/>
        <a:ext cx="5986221" cy="875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28F33-C9D0-4EBA-9C65-4207095BF882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929DA-3116-4C10-AEEA-6C96AC294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WBC, White blood cells; PMNs, Polymorph nuclear neutrophils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60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Abs,</a:t>
            </a:r>
            <a:r>
              <a:rPr lang="en-US" baseline="0" dirty="0"/>
              <a:t> Antibodies; Ag, Antigen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24949-F4BF-46C4-88EE-16FC013D0EF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3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APC,</a:t>
            </a:r>
            <a:r>
              <a:rPr lang="en-US" baseline="0" dirty="0"/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antigen presenting cell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24949-F4BF-46C4-88EE-16FC013D0EF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3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Ag, Antigen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24949-F4BF-46C4-88EE-16FC013D0EF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9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bone marrow  (BM), </a:t>
            </a:r>
            <a:r>
              <a:rPr lang="en-US" sz="1200" dirty="0"/>
              <a:t>hematopoietic stem cells  (HSC), APCs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34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23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 leukocyte antigen [HLA]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36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APC, Antigen presenting cell (Macrophage, Dendritic cell and B-Cell)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3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Ag, Antigen; APC, Antigen presenting cell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5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Tetanus antitoxin (ATS),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 gangrene antitoxin (AGS),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Diphtheria antitoxin (ADS),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Antirabies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serum (ARS),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Antisnake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venom polyvalent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50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11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solidFill>
                  <a:srgbClr val="7030A0"/>
                </a:solidFill>
              </a:rPr>
              <a:t>Macrophages, Dendritic cells: </a:t>
            </a:r>
            <a:r>
              <a:rPr lang="en-US" sz="1200" b="1" dirty="0" err="1">
                <a:solidFill>
                  <a:srgbClr val="7030A0"/>
                </a:solidFill>
              </a:rPr>
              <a:t>APC+Phagocytosis</a:t>
            </a:r>
            <a:r>
              <a:rPr lang="en-US" sz="1200" b="1" dirty="0">
                <a:solidFill>
                  <a:srgbClr val="7030A0"/>
                </a:solidFill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33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cell-mediated immunity (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04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Immunoglobulins (Ig)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929DA-3116-4C10-AEEA-6C96AC29420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84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MAC,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membrane attack complex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24949-F4BF-46C4-88EE-16FC013D0EF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41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Mos. microorganism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24949-F4BF-46C4-88EE-16FC013D0EF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6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91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0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1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3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6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48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94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1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5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4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2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2A1D6-1056-44F9-95A4-B99F1796BBA5}" type="datetimeFigureOut">
              <a:rPr lang="en-US" smtClean="0"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49DC4-174C-47E1-86DD-B4EB8C438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9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/>
              <a:t>IMMUNE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37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/>
              <a:t>Immune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/>
              <a:t>The word </a:t>
            </a:r>
            <a:r>
              <a:rPr lang="en-US" sz="2400" i="1" dirty="0"/>
              <a:t>immune </a:t>
            </a:r>
            <a:r>
              <a:rPr lang="en-US" sz="2400" dirty="0"/>
              <a:t>literally means </a:t>
            </a:r>
            <a:r>
              <a:rPr lang="en-US" sz="2400" i="1" dirty="0"/>
              <a:t>free from burden</a:t>
            </a:r>
            <a:endParaRPr lang="en-US" sz="2400" dirty="0"/>
          </a:p>
          <a:p>
            <a:r>
              <a:rPr lang="en-US" sz="2400" dirty="0"/>
              <a:t>A collection of cells and proteins  </a:t>
            </a:r>
          </a:p>
          <a:p>
            <a:r>
              <a:rPr lang="en-US" sz="2400" dirty="0"/>
              <a:t>Function to protect body from foreign antigens (microbes,  cancer cells, and toxins).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Immunology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study of </a:t>
            </a:r>
            <a:r>
              <a:rPr lang="en-US" sz="2400" i="1" dirty="0"/>
              <a:t>specific </a:t>
            </a:r>
            <a:r>
              <a:rPr lang="en-US" sz="2400" dirty="0"/>
              <a:t>immunity and how</a:t>
            </a:r>
            <a:br>
              <a:rPr lang="en-US" sz="2400" dirty="0"/>
            </a:br>
            <a:r>
              <a:rPr lang="en-US" sz="2400" dirty="0"/>
              <a:t>immune system responds to specific infectious agents.</a:t>
            </a:r>
          </a:p>
          <a:p>
            <a:r>
              <a:rPr lang="en-US" sz="2400" dirty="0"/>
              <a:t>Two “lines of defense”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Innate immunity: </a:t>
            </a:r>
            <a:r>
              <a:rPr lang="en-US" sz="2400" dirty="0"/>
              <a:t>1</a:t>
            </a:r>
            <a:r>
              <a:rPr lang="en-US" sz="2400" baseline="30000" dirty="0"/>
              <a:t>st</a:t>
            </a:r>
            <a:r>
              <a:rPr lang="en-US" sz="2400" dirty="0"/>
              <a:t> line of defense 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Adaptive immunity: </a:t>
            </a:r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 line defense  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1835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838200"/>
            <a:ext cx="7924800" cy="5638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2" name="Rectangle 1"/>
          <p:cNvSpPr/>
          <p:nvPr/>
        </p:nvSpPr>
        <p:spPr>
          <a:xfrm>
            <a:off x="1219200" y="1295400"/>
            <a:ext cx="4012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430 BC: Plague in Athens by Thucydides </a:t>
            </a:r>
          </a:p>
        </p:txBody>
      </p:sp>
    </p:spTree>
    <p:extLst>
      <p:ext uri="{BB962C8B-B14F-4D97-AF65-F5344CB8AC3E}">
        <p14:creationId xmlns:p14="http://schemas.microsoft.com/office/powerpoint/2010/main" val="332165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Innate Vs Adaptive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4191000" cy="4038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</a:rPr>
              <a:t>Innate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Non-specific to invading pathogen (Ag)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Rapidly mobilized at initial site of infection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Lacks immunologic memory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Effective and critical in eliminating most pathogens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Phagocytes and NK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800" y="1600200"/>
            <a:ext cx="3581400" cy="41148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</a:rPr>
              <a:t>Adaptive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Antigen-dependent and antigen-specific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Confer protective immunity to reinfection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Capacity for memory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>
                <a:solidFill>
                  <a:srgbClr val="002060"/>
                </a:solidFill>
              </a:rPr>
              <a:t>Lymphocytes </a:t>
            </a:r>
            <a:r>
              <a:rPr lang="en-US" dirty="0"/>
              <a:t>carrying cellular receptors and specific antibodies</a:t>
            </a:r>
          </a:p>
        </p:txBody>
      </p:sp>
    </p:spTree>
    <p:extLst>
      <p:ext uri="{BB962C8B-B14F-4D97-AF65-F5344CB8AC3E}">
        <p14:creationId xmlns:p14="http://schemas.microsoft.com/office/powerpoint/2010/main" val="298126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/>
              <a:t>Factors influencing Innate immunity</a:t>
            </a:r>
            <a:r>
              <a:rPr lang="en-US" sz="24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Age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Immature immune system in very young children and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waning immunity in older individuals </a:t>
            </a:r>
            <a:endParaRPr lang="en-US" sz="2000" b="1" dirty="0"/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Nutritional status</a:t>
            </a:r>
            <a:r>
              <a:rPr lang="en-US" sz="2400" b="1" dirty="0"/>
              <a:t>: </a:t>
            </a:r>
            <a:r>
              <a:rPr lang="en-US" sz="2400" dirty="0"/>
              <a:t>immunities are lowered in malnutrition </a:t>
            </a:r>
            <a:endParaRPr lang="en-US" sz="2400" b="1" dirty="0"/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Hormonal levels</a:t>
            </a:r>
            <a:r>
              <a:rPr lang="en-US" sz="2400" b="1" dirty="0"/>
              <a:t>:</a:t>
            </a:r>
            <a:r>
              <a:rPr lang="en-US" sz="2400" dirty="0"/>
              <a:t> hormonal disorders increasingly susceptible to infection.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Pregnant women: </a:t>
            </a:r>
            <a:r>
              <a:rPr lang="en-US" sz="2400" dirty="0"/>
              <a:t>higher level of steroid </a:t>
            </a:r>
            <a:br>
              <a:rPr lang="en-US" sz="2400" dirty="0"/>
            </a:br>
            <a:r>
              <a:rPr lang="en-US" sz="2400" b="1" dirty="0">
                <a:solidFill>
                  <a:srgbClr val="002060"/>
                </a:solidFill>
              </a:rPr>
              <a:t> 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751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Mechanisms of innate immunity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/>
              <a:t>Function of innate immunity;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It kills invading microbes and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 It activates acquired (adaptive) immune processes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Primarily dependent on </a:t>
            </a:r>
            <a:r>
              <a:rPr lang="en-US" sz="2400" b="1" dirty="0">
                <a:solidFill>
                  <a:srgbClr val="002060"/>
                </a:solidFill>
              </a:rPr>
              <a:t>four types of defensive barriers:</a:t>
            </a:r>
            <a:r>
              <a:rPr lang="en-US" sz="2400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) Anatomic barriers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 (</a:t>
            </a:r>
            <a:r>
              <a:rPr lang="en-US" sz="2000" i="1" dirty="0"/>
              <a:t>b</a:t>
            </a:r>
            <a:r>
              <a:rPr lang="en-US" sz="2000" dirty="0"/>
              <a:t>) Physiologic barriers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 (</a:t>
            </a:r>
            <a:r>
              <a:rPr lang="en-US" sz="2000" i="1" dirty="0"/>
              <a:t>c</a:t>
            </a:r>
            <a:r>
              <a:rPr lang="en-US" sz="2000" dirty="0"/>
              <a:t>) Phagocytosis, and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 (</a:t>
            </a:r>
            <a:r>
              <a:rPr lang="en-US" sz="2000" i="1" dirty="0"/>
              <a:t>d</a:t>
            </a:r>
            <a:r>
              <a:rPr lang="en-US" sz="2000" dirty="0"/>
              <a:t>) Inflammatory responses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54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/>
              <a:t>A. Anatomic barriers/</a:t>
            </a:r>
            <a:r>
              <a:rPr lang="en-US" sz="2200" b="1" dirty="0">
                <a:solidFill>
                  <a:srgbClr val="002060"/>
                </a:solidFill>
              </a:rPr>
              <a:t>mechanical barriers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Skin and mucous membrane.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Sweat and sebaceous</a:t>
            </a:r>
            <a:r>
              <a:rPr lang="en-US" sz="2400" dirty="0"/>
              <a:t>:  Antimicrobial properties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Saliva, tears, and mucous secretions tend to wash away potential invading mos.</a:t>
            </a:r>
            <a:r>
              <a:rPr lang="en-US" sz="18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Respiratory tract</a:t>
            </a:r>
            <a:r>
              <a:rPr lang="en-US" sz="2400" dirty="0"/>
              <a:t>: Ciliated cells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Vagina</a:t>
            </a:r>
            <a:r>
              <a:rPr lang="en-US" sz="2400" dirty="0"/>
              <a:t>: Lactobacilli and urethra (20 cm) in men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Urinary tract</a:t>
            </a:r>
            <a:r>
              <a:rPr lang="en-US" sz="2400" dirty="0"/>
              <a:t>: Flushing action of urination</a:t>
            </a:r>
          </a:p>
        </p:txBody>
      </p:sp>
    </p:spTree>
    <p:extLst>
      <p:ext uri="{BB962C8B-B14F-4D97-AF65-F5344CB8AC3E}">
        <p14:creationId xmlns:p14="http://schemas.microsoft.com/office/powerpoint/2010/main" val="3647882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/>
              <a:t>B. Physiologic barriers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Gastric acidity</a:t>
            </a:r>
            <a:r>
              <a:rPr lang="en-US" sz="2400" dirty="0"/>
              <a:t>: low pH of stomach (</a:t>
            </a:r>
            <a:r>
              <a:rPr lang="en-US" sz="1800" dirty="0"/>
              <a:t>0.2% hydrochloric acid )</a:t>
            </a:r>
          </a:p>
          <a:p>
            <a:r>
              <a:rPr lang="en-US" sz="1800" dirty="0"/>
              <a:t> </a:t>
            </a:r>
            <a:r>
              <a:rPr lang="en-US" sz="2400" dirty="0"/>
              <a:t>Soluble mediators of innate immunity;</a:t>
            </a:r>
            <a:r>
              <a:rPr lang="en-US" sz="1600" dirty="0"/>
              <a:t> 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Lysozyme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Interferon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Complement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85406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C. Phagocytosis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The process whereby a phagocytic cell </a:t>
            </a:r>
            <a:r>
              <a:rPr lang="en-US" sz="2200" dirty="0"/>
              <a:t>(</a:t>
            </a:r>
            <a:r>
              <a:rPr lang="en-US" sz="2400" b="1" dirty="0">
                <a:solidFill>
                  <a:srgbClr val="002060"/>
                </a:solidFill>
              </a:rPr>
              <a:t>blood monocytes, neutrophils, and tissue macrophages)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Recognizes pathogen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Ingests it, and then 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Destroys engulfed organism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 type of </a:t>
            </a:r>
            <a:r>
              <a:rPr lang="en-US" sz="2400" b="1" dirty="0">
                <a:solidFill>
                  <a:srgbClr val="002060"/>
                </a:solidFill>
              </a:rPr>
              <a:t>endocytosis</a:t>
            </a:r>
            <a:r>
              <a:rPr lang="en-US" sz="2400" dirty="0"/>
              <a:t> in which invading microbes are ingested by </a:t>
            </a:r>
            <a:r>
              <a:rPr lang="en-US" sz="2400" b="1" dirty="0">
                <a:solidFill>
                  <a:srgbClr val="002060"/>
                </a:solidFill>
              </a:rPr>
              <a:t>phagocytic cells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Plasma membrane of cell expands around particulate material (mos.) to form large vesicles called </a:t>
            </a:r>
            <a:r>
              <a:rPr lang="en-US" sz="2400" b="1" dirty="0">
                <a:solidFill>
                  <a:srgbClr val="002060"/>
                </a:solidFill>
              </a:rPr>
              <a:t>phagosomes.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301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sz="2400" dirty="0"/>
              <a:t>The main functions of phagocytic cells include: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Chemotaxis, Migration, Ingestion, </a:t>
            </a:r>
            <a:r>
              <a:rPr lang="en-US" sz="2000" dirty="0">
                <a:solidFill>
                  <a:srgbClr val="002060"/>
                </a:solidFill>
              </a:rPr>
              <a:t>and </a:t>
            </a:r>
            <a:r>
              <a:rPr lang="en-US" sz="2000" b="1" dirty="0">
                <a:solidFill>
                  <a:srgbClr val="002060"/>
                </a:solidFill>
              </a:rPr>
              <a:t>microbial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b="1" dirty="0">
                <a:solidFill>
                  <a:srgbClr val="002060"/>
                </a:solidFill>
              </a:rPr>
              <a:t>killing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  <a:p>
            <a:r>
              <a:rPr lang="en-US" sz="2400" dirty="0"/>
              <a:t>Phagocytes in immune system consist of: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(1) Monocytes and macrophages</a:t>
            </a:r>
            <a:r>
              <a:rPr lang="en-US" sz="2000" dirty="0"/>
              <a:t>; 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(2) Granulocytes (PMNs,  eosinophils and basophils) </a:t>
            </a:r>
            <a:r>
              <a:rPr lang="en-US" sz="2000" dirty="0"/>
              <a:t>and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(3) Dendritic cells.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</a:p>
          <a:p>
            <a:pPr marL="457200" lvl="1" indent="0">
              <a:buNone/>
            </a:pP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53FF7-6181-4118-9DFD-B983CA33C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52800"/>
            <a:ext cx="3810002" cy="312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3D90AB-CA69-4D85-BD30-B606EE357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198" y="3352800"/>
            <a:ext cx="3810002" cy="3124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BA9882-4BC1-DECC-19E7-F9ACFCB60E9D}"/>
              </a:ext>
            </a:extLst>
          </p:cNvPr>
          <p:cNvSpPr txBox="1"/>
          <p:nvPr/>
        </p:nvSpPr>
        <p:spPr>
          <a:xfrm>
            <a:off x="1371600" y="6503658"/>
            <a:ext cx="28194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Fig. 1 WBC types</a:t>
            </a:r>
          </a:p>
        </p:txBody>
      </p:sp>
    </p:spTree>
    <p:extLst>
      <p:ext uri="{BB962C8B-B14F-4D97-AF65-F5344CB8AC3E}">
        <p14:creationId xmlns:p14="http://schemas.microsoft.com/office/powerpoint/2010/main" val="3716014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D. Inflammatory responses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3753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dirty="0"/>
              <a:t>Tissue damage caused by a </a:t>
            </a:r>
            <a:r>
              <a:rPr lang="en-US" sz="2400" b="1" dirty="0">
                <a:solidFill>
                  <a:srgbClr val="002060"/>
                </a:solidFill>
              </a:rPr>
              <a:t>wound </a:t>
            </a:r>
            <a:r>
              <a:rPr lang="en-US" sz="2400" dirty="0"/>
              <a:t>or by an </a:t>
            </a:r>
            <a:r>
              <a:rPr lang="en-US" sz="2400" b="1" dirty="0">
                <a:solidFill>
                  <a:srgbClr val="002060"/>
                </a:solidFill>
              </a:rPr>
              <a:t>invading pathogenic mos</a:t>
            </a:r>
            <a:r>
              <a:rPr lang="en-US" sz="2400" dirty="0"/>
              <a:t>. induces a complex sequence of events </a:t>
            </a:r>
          </a:p>
          <a:p>
            <a:r>
              <a:rPr lang="en-US" sz="2400" dirty="0"/>
              <a:t>The end result</a:t>
            </a:r>
            <a:r>
              <a:rPr lang="en-US" sz="1800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Activation of immune response or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Clearance of invader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 5 cardinal features of inflammatory responses;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 err="1">
                <a:solidFill>
                  <a:srgbClr val="002060"/>
                </a:solidFill>
              </a:rPr>
              <a:t>Rubor</a:t>
            </a:r>
            <a:r>
              <a:rPr lang="en-US" sz="2000" b="1" i="1" dirty="0">
                <a:solidFill>
                  <a:srgbClr val="002060"/>
                </a:solidFill>
              </a:rPr>
              <a:t> </a:t>
            </a:r>
            <a:r>
              <a:rPr lang="en-US" sz="2000" b="1" dirty="0">
                <a:solidFill>
                  <a:srgbClr val="002060"/>
                </a:solidFill>
              </a:rPr>
              <a:t>(redness),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 err="1">
                <a:solidFill>
                  <a:srgbClr val="002060"/>
                </a:solidFill>
              </a:rPr>
              <a:t>Calor</a:t>
            </a:r>
            <a:r>
              <a:rPr lang="en-US" sz="2000" b="1" i="1" dirty="0">
                <a:solidFill>
                  <a:srgbClr val="002060"/>
                </a:solidFill>
              </a:rPr>
              <a:t> </a:t>
            </a:r>
            <a:r>
              <a:rPr lang="en-US" sz="2000" b="1" dirty="0">
                <a:solidFill>
                  <a:srgbClr val="002060"/>
                </a:solidFill>
              </a:rPr>
              <a:t>(rise in temperature),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</a:rPr>
              <a:t>Dolor </a:t>
            </a:r>
            <a:r>
              <a:rPr lang="en-US" sz="2000" b="1" dirty="0">
                <a:solidFill>
                  <a:srgbClr val="002060"/>
                </a:solidFill>
              </a:rPr>
              <a:t>(pain), and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</a:rPr>
              <a:t>Tumor </a:t>
            </a:r>
            <a:r>
              <a:rPr lang="en-US" sz="2000" b="1" dirty="0">
                <a:solidFill>
                  <a:srgbClr val="002060"/>
                </a:solidFill>
              </a:rPr>
              <a:t>(swelling)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rgbClr val="002060"/>
                </a:solidFill>
              </a:rPr>
              <a:t>functio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laesa</a:t>
            </a:r>
            <a:r>
              <a:rPr lang="en-US" sz="2000" b="1" dirty="0">
                <a:solidFill>
                  <a:srgbClr val="002060"/>
                </a:solidFill>
              </a:rPr>
              <a:t> (loss of function)</a:t>
            </a:r>
            <a:r>
              <a:rPr lang="en-US" sz="2000" b="1" dirty="0"/>
              <a:t> </a:t>
            </a:r>
            <a:br>
              <a:rPr lang="en-US" sz="2000" b="1" dirty="0"/>
            </a:b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485865"/>
            <a:ext cx="3962400" cy="26209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00773" y="6054487"/>
            <a:ext cx="4951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Fig 2. cardinal features of inflammatory responses</a:t>
            </a:r>
          </a:p>
        </p:txBody>
      </p:sp>
    </p:spTree>
    <p:extLst>
      <p:ext uri="{BB962C8B-B14F-4D97-AF65-F5344CB8AC3E}">
        <p14:creationId xmlns:p14="http://schemas.microsoft.com/office/powerpoint/2010/main" val="157609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11C5D-BACE-43C0-A80B-DFED730EB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r>
              <a:rPr lang="en-US" sz="2400" dirty="0"/>
              <a:t>Goals of inflammatory response: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Prevent </a:t>
            </a:r>
            <a:r>
              <a:rPr lang="en-US" sz="2400" b="1" dirty="0">
                <a:solidFill>
                  <a:srgbClr val="FF0000"/>
                </a:solidFill>
              </a:rPr>
              <a:t>initial establishment of infection </a:t>
            </a:r>
            <a:r>
              <a:rPr lang="en-US" sz="2400" dirty="0"/>
              <a:t>or remove damaged tissue.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Prevent spread of infection or repair damaged tissue.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Recruit effector cells if immune cells of innate immune system cannot control infection or repair damaged tissue.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Mobilize effector cells (T and B lymphocytes)</a:t>
            </a:r>
          </a:p>
        </p:txBody>
      </p:sp>
    </p:spTree>
    <p:extLst>
      <p:ext uri="{BB962C8B-B14F-4D97-AF65-F5344CB8AC3E}">
        <p14:creationId xmlns:p14="http://schemas.microsoft.com/office/powerpoint/2010/main" val="2456977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0"/>
            <a:ext cx="8001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990600" y="152400"/>
            <a:ext cx="70104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Table 2: Characteristics and function of cells involved in innate immunity</a:t>
            </a:r>
          </a:p>
        </p:txBody>
      </p:sp>
    </p:spTree>
    <p:extLst>
      <p:ext uri="{BB962C8B-B14F-4D97-AF65-F5344CB8AC3E}">
        <p14:creationId xmlns:p14="http://schemas.microsoft.com/office/powerpoint/2010/main" val="1815961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09600" y="381000"/>
            <a:ext cx="830580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Table 3:  Summary of non-specific host-defense MOA for barriers of innate immunity</a:t>
            </a:r>
          </a:p>
        </p:txBody>
      </p:sp>
    </p:spTree>
    <p:extLst>
      <p:ext uri="{BB962C8B-B14F-4D97-AF65-F5344CB8AC3E}">
        <p14:creationId xmlns:p14="http://schemas.microsoft.com/office/powerpoint/2010/main" val="300945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2. Adaptive immunity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Develops when innate immunity is </a:t>
            </a:r>
            <a:r>
              <a:rPr lang="en-US" sz="2400" b="1" dirty="0">
                <a:solidFill>
                  <a:srgbClr val="FF0000"/>
                </a:solidFill>
              </a:rPr>
              <a:t>ineffective</a:t>
            </a:r>
            <a:r>
              <a:rPr lang="en-US" sz="2400" dirty="0"/>
              <a:t> and infection is established.</a:t>
            </a:r>
          </a:p>
          <a:p>
            <a:r>
              <a:rPr lang="en-US" sz="2400" dirty="0"/>
              <a:t>The recognition of specific </a:t>
            </a:r>
            <a:r>
              <a:rPr lang="en-US" sz="2400" b="1" dirty="0">
                <a:solidFill>
                  <a:srgbClr val="002060"/>
                </a:solidFill>
              </a:rPr>
              <a:t>“non-self” </a:t>
            </a:r>
            <a:r>
              <a:rPr lang="en-US" sz="2400" dirty="0"/>
              <a:t>antigens in presence of </a:t>
            </a:r>
            <a:r>
              <a:rPr lang="en-US" sz="2400" b="1" dirty="0">
                <a:solidFill>
                  <a:srgbClr val="002060"/>
                </a:solidFill>
              </a:rPr>
              <a:t>“self” </a:t>
            </a:r>
            <a:r>
              <a:rPr lang="en-US" sz="2400" dirty="0"/>
              <a:t>antigens</a:t>
            </a:r>
          </a:p>
          <a:p>
            <a:r>
              <a:rPr lang="en-US" sz="2400" dirty="0"/>
              <a:t>Generation of pathogen-specific immunologic effector</a:t>
            </a:r>
          </a:p>
          <a:p>
            <a:r>
              <a:rPr lang="en-US" sz="2400" dirty="0"/>
              <a:t>Development of an immunologic memory</a:t>
            </a:r>
          </a:p>
          <a:p>
            <a:r>
              <a:rPr lang="en-US" sz="2400" dirty="0"/>
              <a:t>Cells include: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T cells</a:t>
            </a:r>
            <a:r>
              <a:rPr lang="en-US" sz="2000" dirty="0"/>
              <a:t>: activated through action of antigen presenting cells (APCs),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B cells</a:t>
            </a:r>
          </a:p>
        </p:txBody>
      </p:sp>
    </p:spTree>
    <p:extLst>
      <p:ext uri="{BB962C8B-B14F-4D97-AF65-F5344CB8AC3E}">
        <p14:creationId xmlns:p14="http://schemas.microsoft.com/office/powerpoint/2010/main" val="1561595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Antigens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Substance provoke production of an Abs.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“Antibody generator.”</a:t>
            </a:r>
          </a:p>
          <a:p>
            <a:pPr>
              <a:buFont typeface="Wingdings" pitchFamily="2" charset="2"/>
              <a:buChar char="§"/>
            </a:pPr>
            <a:r>
              <a:rPr lang="en-US" sz="2400" b="1" i="1" u="sng" dirty="0">
                <a:solidFill>
                  <a:srgbClr val="002060"/>
                </a:solidFill>
              </a:rPr>
              <a:t>Immunogens </a:t>
            </a:r>
            <a:r>
              <a:rPr lang="en-US" sz="2400" dirty="0"/>
              <a:t>are molecules that induce an immune response.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Antigens are immunogens.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Ags that are not immunogenic but can take part in immune reactions are termed as </a:t>
            </a:r>
            <a:r>
              <a:rPr lang="en-US" sz="2400" b="1" i="1" u="sng" dirty="0">
                <a:solidFill>
                  <a:srgbClr val="002060"/>
                </a:solidFill>
              </a:rPr>
              <a:t>Haptens</a:t>
            </a:r>
            <a:r>
              <a:rPr lang="en-US" sz="2400" b="1" dirty="0"/>
              <a:t>. </a:t>
            </a:r>
          </a:p>
          <a:p>
            <a:pPr>
              <a:buFont typeface="Wingdings" pitchFamily="2" charset="2"/>
              <a:buChar char="§"/>
            </a:pPr>
            <a:r>
              <a:rPr lang="en-US" sz="2400" b="1" i="1" u="sng" dirty="0">
                <a:solidFill>
                  <a:srgbClr val="002060"/>
                </a:solidFill>
              </a:rPr>
              <a:t>Immunogenicity </a:t>
            </a:r>
            <a:r>
              <a:rPr lang="en-US" sz="2400" dirty="0"/>
              <a:t>means ability of an Ag to elicit an immune reaction in form of a </a:t>
            </a:r>
            <a:r>
              <a:rPr lang="en-US" sz="2400" b="1" dirty="0">
                <a:solidFill>
                  <a:srgbClr val="002060"/>
                </a:solidFill>
              </a:rPr>
              <a:t>B or T-cell response</a:t>
            </a:r>
            <a:r>
              <a:rPr lang="en-US" sz="2400" dirty="0"/>
              <a:t>.</a:t>
            </a:r>
            <a:br>
              <a:rPr lang="en-US" b="1" dirty="0"/>
            </a:br>
            <a:br>
              <a:rPr lang="en-US" b="1" dirty="0"/>
            </a:b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17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</a:rPr>
              <a:t>Determinants of Antigenicity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A number of factors have been identified that make a substance immunogenic, include:</a:t>
            </a:r>
          </a:p>
          <a:p>
            <a:pPr marL="514350" indent="-4572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Foreignness: </a:t>
            </a:r>
            <a:r>
              <a:rPr lang="en-US" sz="2400" dirty="0"/>
              <a:t>Recognized as “non-self.”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ability of host to tolerate self antigens. </a:t>
            </a: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2. Size: </a:t>
            </a:r>
            <a:r>
              <a:rPr lang="en-US" sz="2400" dirty="0"/>
              <a:t>large molecular weight are highly antigenic.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Certain small molecules (</a:t>
            </a:r>
            <a:r>
              <a:rPr lang="en-US" sz="2400" dirty="0" err="1"/>
              <a:t>e.g</a:t>
            </a:r>
            <a:r>
              <a:rPr lang="en-US" sz="2400" dirty="0"/>
              <a:t>, </a:t>
            </a:r>
            <a:r>
              <a:rPr lang="en-US" sz="2400" b="1" dirty="0"/>
              <a:t>haptens</a:t>
            </a:r>
            <a:r>
              <a:rPr lang="en-US" sz="2400" dirty="0"/>
              <a:t>) become immunogenic only when linked to a carrier protein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559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24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3. Chemical and structural complexity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Proteins </a:t>
            </a:r>
            <a:r>
              <a:rPr lang="en-US" sz="2400" dirty="0"/>
              <a:t>are most potent immunogens followed by polysaccharides.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4. Stability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Highly stable and non-degradable substances (e.g., some plastics, metals, or chains of D-amino acids) are not immunogenic</a:t>
            </a: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5. Genetic constitution of host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6. Dosage, route, and timing of antigen administration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booster doses: Repeated administration of antigens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Parenteral route/subcutaneous route</a:t>
            </a:r>
            <a:br>
              <a:rPr lang="en-US" sz="2000" dirty="0"/>
            </a:br>
            <a:br>
              <a:rPr lang="en-US" sz="2000" dirty="0"/>
            </a:b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634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</a:rPr>
              <a:t>Adjuvants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It enhance </a:t>
            </a:r>
            <a:r>
              <a:rPr lang="en-US" sz="2400" b="1" dirty="0">
                <a:solidFill>
                  <a:srgbClr val="002060"/>
                </a:solidFill>
              </a:rPr>
              <a:t>immunogenicity</a:t>
            </a:r>
            <a:r>
              <a:rPr lang="en-US" sz="2400" dirty="0"/>
              <a:t> of a substance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Stimulate immune response by facilitating uptake into APCs.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Increase both strength and duration of immune response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Adjuvants boost immunogenicity of antigens in several ways: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Aluminum potassium sulfate (alum) and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Freund’s water-in-oil </a:t>
            </a:r>
            <a:br>
              <a:rPr lang="en-US" sz="2000" dirty="0"/>
            </a:b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178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/>
              <a:t>Antigenic Specificity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Antigenic specificity of Ag depends on </a:t>
            </a:r>
            <a:r>
              <a:rPr lang="en-US" sz="2400" dirty="0">
                <a:solidFill>
                  <a:srgbClr val="FF0000"/>
                </a:solidFill>
              </a:rPr>
              <a:t>antigenic determinants </a:t>
            </a:r>
            <a:r>
              <a:rPr lang="en-US" sz="2400" dirty="0"/>
              <a:t>or </a:t>
            </a:r>
            <a:r>
              <a:rPr lang="en-US" sz="2400" b="1" dirty="0">
                <a:solidFill>
                  <a:srgbClr val="002060"/>
                </a:solidFill>
              </a:rPr>
              <a:t>epitopes</a:t>
            </a:r>
            <a:r>
              <a:rPr lang="en-US" sz="2400" dirty="0"/>
              <a:t>.</a:t>
            </a:r>
          </a:p>
          <a:p>
            <a:r>
              <a:rPr lang="en-US" sz="2400" dirty="0"/>
              <a:t>An </a:t>
            </a:r>
            <a:r>
              <a:rPr lang="en-US" sz="2400" b="1" i="1" dirty="0">
                <a:solidFill>
                  <a:srgbClr val="002060"/>
                </a:solidFill>
              </a:rPr>
              <a:t>epitope</a:t>
            </a:r>
            <a:r>
              <a:rPr lang="en-US" sz="2400" i="1" dirty="0"/>
              <a:t> </a:t>
            </a:r>
            <a:r>
              <a:rPr lang="en-US" sz="2400" dirty="0"/>
              <a:t>is defined as immunologically active region of</a:t>
            </a:r>
            <a:br>
              <a:rPr lang="en-US" sz="2400" dirty="0"/>
            </a:br>
            <a:r>
              <a:rPr lang="en-US" sz="2400" dirty="0"/>
              <a:t>an immunogen that binds to Ag-specific membrane receptors on lymphocytes or secreted antibodies.</a:t>
            </a:r>
          </a:p>
          <a:p>
            <a:r>
              <a:rPr lang="en-US" sz="2400" dirty="0"/>
              <a:t>There are two types of epitopes: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B-cell epitopes and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T-cell epitopes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 descr="Epitope | definition of epitope by Medical dictionary">
            <a:extLst>
              <a:ext uri="{FF2B5EF4-FFF2-40B4-BE49-F238E27FC236}">
                <a16:creationId xmlns:a16="http://schemas.microsoft.com/office/drawing/2014/main" id="{2F963B85-19C6-4473-BA4B-A6B27ABFE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97" y="4507705"/>
            <a:ext cx="28575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6DE0315-827E-470E-92E4-DEAAF83B3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197" y="3784599"/>
            <a:ext cx="5562600" cy="279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325F88-306C-4C91-9264-0B2D22C0A013}"/>
              </a:ext>
            </a:extLst>
          </p:cNvPr>
          <p:cNvSpPr/>
          <p:nvPr/>
        </p:nvSpPr>
        <p:spPr>
          <a:xfrm>
            <a:off x="2438400" y="6430963"/>
            <a:ext cx="628239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Libre Franklin"/>
              </a:rPr>
              <a:t>Fig. 4 B-cell (left) and T-cell (right) epitope recognition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90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T cells and APCs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/>
              <a:t>T cells derive from HSCs in BM and, following migration, mature in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thymus.</a:t>
            </a:r>
          </a:p>
          <a:p>
            <a:r>
              <a:rPr lang="en-US" sz="2400" dirty="0"/>
              <a:t>These cells express a unique </a:t>
            </a:r>
            <a:r>
              <a:rPr lang="en-US" sz="2400" b="1" dirty="0">
                <a:solidFill>
                  <a:srgbClr val="7030A0"/>
                </a:solidFill>
              </a:rPr>
              <a:t>antigen-binding receptor </a:t>
            </a:r>
            <a:r>
              <a:rPr lang="en-US" sz="2400" dirty="0"/>
              <a:t>on their membrane (TCR) </a:t>
            </a:r>
          </a:p>
          <a:p>
            <a:r>
              <a:rPr lang="en-US" sz="2400" dirty="0"/>
              <a:t>TCR: require action of APCs to recognize a specific antigen.</a:t>
            </a:r>
          </a:p>
          <a:p>
            <a:r>
              <a:rPr lang="en-US" sz="2400" dirty="0"/>
              <a:t>The surfaces of APCs express cell-surface proteins known as </a:t>
            </a:r>
            <a:r>
              <a:rPr lang="en-US" sz="2400" b="1" dirty="0">
                <a:solidFill>
                  <a:srgbClr val="FF0000"/>
                </a:solidFill>
              </a:rPr>
              <a:t>major histocompatibility complex (MHC)</a:t>
            </a:r>
            <a:r>
              <a:rPr lang="en-US" sz="2400" dirty="0"/>
              <a:t>.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MHC protein</a:t>
            </a:r>
            <a:r>
              <a:rPr lang="en-US" sz="2400" dirty="0"/>
              <a:t>: displays fragments of antigens (peptides) when a cell is infected or has phagocytosed foreign proteins</a:t>
            </a:r>
          </a:p>
          <a:p>
            <a:endParaRPr lang="en-US" sz="2400" dirty="0"/>
          </a:p>
          <a:p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826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6BD09-34AF-40EC-8EA9-D374F7554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99C239-6356-460F-8EB3-C75A4D00C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8" y="381000"/>
            <a:ext cx="7716837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031DE3-1EA2-69B8-6040-AAB8F5F2C0F6}"/>
              </a:ext>
            </a:extLst>
          </p:cNvPr>
          <p:cNvSpPr txBox="1"/>
          <p:nvPr/>
        </p:nvSpPr>
        <p:spPr>
          <a:xfrm>
            <a:off x="1371600" y="6292334"/>
            <a:ext cx="4572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Fig. 5 Structure of T-Cell</a:t>
            </a:r>
          </a:p>
        </p:txBody>
      </p:sp>
    </p:spTree>
    <p:extLst>
      <p:ext uri="{BB962C8B-B14F-4D97-AF65-F5344CB8AC3E}">
        <p14:creationId xmlns:p14="http://schemas.microsoft.com/office/powerpoint/2010/main" val="2480783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MHC classified as: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Class I</a:t>
            </a:r>
            <a:r>
              <a:rPr lang="en-US" sz="2400" dirty="0"/>
              <a:t> (HLA: A, B and C)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Found on all nucleated cells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Present endogenous (intracellular) peptides 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Presentation of peptide antigens to </a:t>
            </a:r>
            <a:r>
              <a:rPr lang="en-US" sz="2400" b="1" dirty="0">
                <a:solidFill>
                  <a:srgbClr val="FF0000"/>
                </a:solidFill>
              </a:rPr>
              <a:t>TC cells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Class II </a:t>
            </a:r>
            <a:r>
              <a:rPr lang="en-US" sz="2400" dirty="0"/>
              <a:t>(HLA:  DP, DQ and DR) 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Found on only certain cells of immune system (APCs)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Present exogenous (extracellular) peptides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/>
              <a:t>Present processed antigenic peptides to </a:t>
            </a:r>
            <a:r>
              <a:rPr lang="en-US" sz="2400" b="1" dirty="0">
                <a:solidFill>
                  <a:srgbClr val="FF0000"/>
                </a:solidFill>
              </a:rPr>
              <a:t>TH cells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2220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BB87-3D46-4BF5-A36C-333CDE76B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 descr="What is MHC and why does it matter? – ImmunoBites">
            <a:extLst>
              <a:ext uri="{FF2B5EF4-FFF2-40B4-BE49-F238E27FC236}">
                <a16:creationId xmlns:a16="http://schemas.microsoft.com/office/drawing/2014/main" id="{BC322020-1923-4D6A-B763-5FA84F17B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31837"/>
            <a:ext cx="7772400" cy="513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1F567C-8AE0-B945-238F-CE5539F693F9}"/>
              </a:ext>
            </a:extLst>
          </p:cNvPr>
          <p:cNvSpPr txBox="1"/>
          <p:nvPr/>
        </p:nvSpPr>
        <p:spPr>
          <a:xfrm>
            <a:off x="2286000" y="6216134"/>
            <a:ext cx="4572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Fig. 6 Structure of MHC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94A4C-2CF5-DBA1-452A-220915F1FAA3}"/>
              </a:ext>
            </a:extLst>
          </p:cNvPr>
          <p:cNvSpPr txBox="1"/>
          <p:nvPr/>
        </p:nvSpPr>
        <p:spPr>
          <a:xfrm>
            <a:off x="685800" y="5498068"/>
            <a:ext cx="1828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All nucleated cell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ADE00-0C90-D1BD-D199-E822D3B0C341}"/>
              </a:ext>
            </a:extLst>
          </p:cNvPr>
          <p:cNvSpPr txBox="1"/>
          <p:nvPr/>
        </p:nvSpPr>
        <p:spPr>
          <a:xfrm>
            <a:off x="3581400" y="5498068"/>
            <a:ext cx="6096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APC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CAF39-021D-AFD2-D842-B3662A8FF510}"/>
              </a:ext>
            </a:extLst>
          </p:cNvPr>
          <p:cNvSpPr txBox="1"/>
          <p:nvPr/>
        </p:nvSpPr>
        <p:spPr>
          <a:xfrm>
            <a:off x="1295400" y="409853"/>
            <a:ext cx="4572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Extracellular fluid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E6741D-58B1-1C0E-3273-914DE7DEFF9B}"/>
              </a:ext>
            </a:extLst>
          </p:cNvPr>
          <p:cNvSpPr txBox="1"/>
          <p:nvPr/>
        </p:nvSpPr>
        <p:spPr>
          <a:xfrm>
            <a:off x="2081134" y="5804178"/>
            <a:ext cx="129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cytoplasm</a:t>
            </a:r>
          </a:p>
        </p:txBody>
      </p:sp>
    </p:spTree>
    <p:extLst>
      <p:ext uri="{BB962C8B-B14F-4D97-AF65-F5344CB8AC3E}">
        <p14:creationId xmlns:p14="http://schemas.microsoft.com/office/powerpoint/2010/main" val="4007790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762000"/>
            <a:ext cx="434340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3400" y="838200"/>
            <a:ext cx="3657600" cy="5105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000" b="1" dirty="0">
                <a:solidFill>
                  <a:srgbClr val="7030A0"/>
                </a:solidFill>
              </a:rPr>
              <a:t>T cells </a:t>
            </a:r>
            <a:r>
              <a:rPr lang="en-US" sz="2000" dirty="0"/>
              <a:t>are activated when they encounter an </a:t>
            </a:r>
            <a:r>
              <a:rPr lang="en-US" sz="2000" b="1" dirty="0">
                <a:solidFill>
                  <a:srgbClr val="7030A0"/>
                </a:solidFill>
              </a:rPr>
              <a:t>APC</a:t>
            </a:r>
            <a:r>
              <a:rPr lang="en-US" sz="2000" dirty="0"/>
              <a:t> that has digested an antigen and is displaying antigen fragments bound to its </a:t>
            </a:r>
            <a:r>
              <a:rPr lang="en-US" sz="2000" b="1" dirty="0">
                <a:solidFill>
                  <a:srgbClr val="7030A0"/>
                </a:solidFill>
              </a:rPr>
              <a:t>MHC molecules</a:t>
            </a:r>
            <a:r>
              <a:rPr lang="en-US" sz="2000" dirty="0"/>
              <a:t>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MHC-antigen complex </a:t>
            </a:r>
            <a:r>
              <a:rPr lang="en-US" sz="2000" dirty="0"/>
              <a:t>activates </a:t>
            </a:r>
            <a:r>
              <a:rPr lang="en-US" sz="2000" b="1" dirty="0">
                <a:solidFill>
                  <a:srgbClr val="FF0000"/>
                </a:solidFill>
              </a:rPr>
              <a:t>TCR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FF0000"/>
                </a:solidFill>
              </a:rPr>
              <a:t>T cell secretes </a:t>
            </a:r>
            <a:r>
              <a:rPr lang="en-US" sz="2000" dirty="0"/>
              <a:t>cytokines which further control immune response.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/>
              <a:t>This antigen presentation process stimulates T cells to differentiate into either </a:t>
            </a:r>
            <a:r>
              <a:rPr lang="en-US" sz="2000" b="1" dirty="0">
                <a:solidFill>
                  <a:srgbClr val="FF0000"/>
                </a:solidFill>
              </a:rPr>
              <a:t>cytotoxic T cells </a:t>
            </a:r>
            <a:r>
              <a:rPr lang="en-US" sz="2000" dirty="0"/>
              <a:t>(CD8+ cells) or </a:t>
            </a:r>
            <a:r>
              <a:rPr lang="en-US" sz="2000" b="1" dirty="0">
                <a:solidFill>
                  <a:srgbClr val="FF0000"/>
                </a:solidFill>
              </a:rPr>
              <a:t>T-helper (Th) cells </a:t>
            </a:r>
            <a:r>
              <a:rPr lang="en-US" sz="2000" dirty="0"/>
              <a:t>(CD4+ cells)</a:t>
            </a:r>
          </a:p>
        </p:txBody>
      </p:sp>
    </p:spTree>
    <p:extLst>
      <p:ext uri="{BB962C8B-B14F-4D97-AF65-F5344CB8AC3E}">
        <p14:creationId xmlns:p14="http://schemas.microsoft.com/office/powerpoint/2010/main" val="1638518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838200"/>
            <a:ext cx="8153400" cy="56689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Processing of an Ag by APCs is absolutely essential for a T cell to recognize it.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Two different types of processing can prepare a protein Ag for Ag presentation.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These include: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Externally derived antigens’ processing: </a:t>
            </a:r>
            <a:r>
              <a:rPr lang="en-US" sz="2400" b="1" dirty="0">
                <a:solidFill>
                  <a:srgbClr val="002060"/>
                </a:solidFill>
              </a:rPr>
              <a:t>class II MHC</a:t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>
                <a:solidFill>
                  <a:srgbClr val="002060"/>
                </a:solidFill>
              </a:rPr>
              <a:t>molecules and </a:t>
            </a:r>
            <a:r>
              <a:rPr lang="en-US" sz="2400" dirty="0"/>
              <a:t>are recognized by </a:t>
            </a:r>
            <a:r>
              <a:rPr lang="en-US" sz="2400" b="1" dirty="0">
                <a:solidFill>
                  <a:srgbClr val="002060"/>
                </a:solidFill>
              </a:rPr>
              <a:t>CD4- positive helper T cells.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/>
              <a:t>Endogenously derived antigens’ processing: </a:t>
            </a:r>
            <a:r>
              <a:rPr lang="en-US" sz="2400" dirty="0"/>
              <a:t>virus proteins synthesized in a cell present to </a:t>
            </a:r>
            <a:r>
              <a:rPr lang="en-US" sz="2400" b="1" dirty="0">
                <a:solidFill>
                  <a:srgbClr val="002060"/>
                </a:solidFill>
              </a:rPr>
              <a:t>class I MHC molecules and </a:t>
            </a:r>
            <a:r>
              <a:rPr lang="en-US" sz="2400" dirty="0"/>
              <a:t> recognized by CD8-positive cytotoxic T lymphocytes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57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000" dirty="0"/>
              <a:t>The common is that T lymphocyte  recognize, through their: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TCR complex (CD3, CD4 or CD8, TCR), Ag fragments in association with MHC molecules.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CD4+ cells </a:t>
            </a:r>
            <a:r>
              <a:rPr lang="en-US" sz="2000" dirty="0"/>
              <a:t>produce molecules, lymphokines, that stimulate and support production of immune system cells.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CD8+ cells </a:t>
            </a:r>
            <a:r>
              <a:rPr lang="en-US" sz="2000" dirty="0"/>
              <a:t>are involved in destruction of virally infected cells and the destruction of tissue grafts from MHC incompatible donors. </a:t>
            </a:r>
            <a:br>
              <a:rPr lang="en-US" sz="2000" dirty="0"/>
            </a:br>
            <a:br>
              <a:rPr lang="en-US" sz="2400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7620000" cy="2590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81200" y="6178034"/>
            <a:ext cx="518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RotisSansSerif"/>
              </a:rPr>
              <a:t>Fig. Molecules involved in T cell recognition.</a:t>
            </a:r>
            <a:r>
              <a:rPr lang="en-US" b="1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4731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dirty="0"/>
              <a:t>Some </a:t>
            </a:r>
            <a:r>
              <a:rPr lang="en-US" sz="2400" b="1" dirty="0"/>
              <a:t>super-antigens </a:t>
            </a:r>
            <a:r>
              <a:rPr lang="en-US" sz="2400" dirty="0"/>
              <a:t>are able to bind to MHC molecules outside the peptide-binding cleft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38100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787022" y="4343400"/>
            <a:ext cx="7620000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Fig</a:t>
            </a:r>
            <a:r>
              <a:rPr lang="en-US" dirty="0"/>
              <a:t>. Binding of antigen by MHC and T-cell receptor. </a:t>
            </a:r>
          </a:p>
          <a:p>
            <a:r>
              <a:rPr lang="en-US" b="1" dirty="0"/>
              <a:t>In </a:t>
            </a:r>
            <a:r>
              <a:rPr lang="en-US" b="1" i="1" dirty="0"/>
              <a:t>panel A</a:t>
            </a:r>
            <a:r>
              <a:rPr lang="en-US" dirty="0"/>
              <a:t>, V α and V β regions of the TCR are shown interacting with the α helices that form the peptide-binding groove of MHC. </a:t>
            </a:r>
          </a:p>
          <a:p>
            <a:r>
              <a:rPr lang="en-US" b="1" dirty="0"/>
              <a:t>In </a:t>
            </a:r>
            <a:r>
              <a:rPr lang="en-US" b="1" i="1" dirty="0"/>
              <a:t>panel B</a:t>
            </a:r>
            <a:r>
              <a:rPr lang="en-US" dirty="0"/>
              <a:t>: The super-antigen interacts with the V β region of the TCR and with class II MHC outside the peptide-binding groove. </a:t>
            </a:r>
          </a:p>
        </p:txBody>
      </p:sp>
      <p:pic>
        <p:nvPicPr>
          <p:cNvPr id="3076" name="Picture 4" descr="C:\Users\DELL\Desktop\Microbiology reference book\General Microbiology ppt\Immunology\Immunology reference\Image\Antigen-and-superantigen-recognition-via-the-MHC-T-cell-receptor-compl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022" y="1752600"/>
            <a:ext cx="4089778" cy="249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286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Antibody-mediated (AMI) vs. cell-mediated immunity (CMI)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Antibody-mediated (AMI): </a:t>
            </a:r>
            <a:r>
              <a:rPr lang="en-US" sz="2400" dirty="0"/>
              <a:t>mediated by B-cell antibody production.</a:t>
            </a:r>
          </a:p>
          <a:p>
            <a:r>
              <a:rPr lang="en-US" sz="2400" dirty="0"/>
              <a:t>The secreted antibodies bind to antigens on surface of pathogens, flagging them for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Destruction through pathogen and toxin neutralization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Classical complement activation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Opsonin promotion of phagocytosis and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Pathogen elimination.</a:t>
            </a:r>
          </a:p>
        </p:txBody>
      </p:sp>
    </p:spTree>
    <p:extLst>
      <p:ext uri="{BB962C8B-B14F-4D97-AF65-F5344CB8AC3E}">
        <p14:creationId xmlns:p14="http://schemas.microsoft.com/office/powerpoint/2010/main" val="3754288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/>
              <a:t>CMI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Directed primarily at microbes that survive in phagocytes and infect non-phagocytic cells</a:t>
            </a:r>
          </a:p>
          <a:p>
            <a:r>
              <a:rPr lang="en-US" sz="2400" dirty="0"/>
              <a:t>Most effective in eliminating virus-infected cells</a:t>
            </a:r>
          </a:p>
          <a:p>
            <a:r>
              <a:rPr lang="en-US" sz="2400" dirty="0"/>
              <a:t>Plays a major role in transplant rejection.</a:t>
            </a:r>
          </a:p>
        </p:txBody>
      </p:sp>
    </p:spTree>
    <p:extLst>
      <p:ext uri="{BB962C8B-B14F-4D97-AF65-F5344CB8AC3E}">
        <p14:creationId xmlns:p14="http://schemas.microsoft.com/office/powerpoint/2010/main" val="593475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Passive vs. active immunization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14400"/>
            <a:ext cx="7772399" cy="4952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06002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IMMUNE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sz="2400" dirty="0"/>
              <a:t>Immune system consist of 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Cellular components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Molecular components</a:t>
            </a:r>
          </a:p>
        </p:txBody>
      </p:sp>
      <p:pic>
        <p:nvPicPr>
          <p:cNvPr id="1026" name="Picture 2" descr="Components of the Immune System">
            <a:extLst>
              <a:ext uri="{FF2B5EF4-FFF2-40B4-BE49-F238E27FC236}">
                <a16:creationId xmlns:a16="http://schemas.microsoft.com/office/drawing/2014/main" id="{F6496F56-E640-40CC-B091-16CDA43C0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90800"/>
            <a:ext cx="69342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405B09-7C17-4987-8B5B-F9736726E9EC}"/>
              </a:ext>
            </a:extLst>
          </p:cNvPr>
          <p:cNvSpPr/>
          <p:nvPr/>
        </p:nvSpPr>
        <p:spPr>
          <a:xfrm>
            <a:off x="4572000" y="2221468"/>
            <a:ext cx="214667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/>
              <a:t>Cellular components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9523E-8C02-4CF2-B8B6-8A00A84EF6B8}"/>
              </a:ext>
            </a:extLst>
          </p:cNvPr>
          <p:cNvSpPr/>
          <p:nvPr/>
        </p:nvSpPr>
        <p:spPr>
          <a:xfrm>
            <a:off x="1524000" y="5756831"/>
            <a:ext cx="150791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Red blood cell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7FD19E-9A63-4335-90E8-6784028ABB15}"/>
              </a:ext>
            </a:extLst>
          </p:cNvPr>
          <p:cNvSpPr/>
          <p:nvPr/>
        </p:nvSpPr>
        <p:spPr>
          <a:xfrm>
            <a:off x="3044808" y="6214030"/>
            <a:ext cx="89857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Platelet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3C9651-D893-45B6-B410-C10FBFB342CD}"/>
              </a:ext>
            </a:extLst>
          </p:cNvPr>
          <p:cNvSpPr/>
          <p:nvPr/>
        </p:nvSpPr>
        <p:spPr>
          <a:xfrm>
            <a:off x="6698307" y="3962400"/>
            <a:ext cx="198849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Lymphoid stem cell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702FDA-7662-4ABB-8C36-97D9FEB68F39}"/>
              </a:ext>
            </a:extLst>
          </p:cNvPr>
          <p:cNvSpPr/>
          <p:nvPr/>
        </p:nvSpPr>
        <p:spPr>
          <a:xfrm>
            <a:off x="3962144" y="5029200"/>
            <a:ext cx="122283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Myeloblast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A22E56-3A8D-4E2B-BD32-D48941BA18A0}"/>
              </a:ext>
            </a:extLst>
          </p:cNvPr>
          <p:cNvSpPr/>
          <p:nvPr/>
        </p:nvSpPr>
        <p:spPr>
          <a:xfrm>
            <a:off x="2732457" y="3932237"/>
            <a:ext cx="183954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Myeloid stem cell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0730DC-B31E-427F-A0DF-597FB9B7AA93}"/>
              </a:ext>
            </a:extLst>
          </p:cNvPr>
          <p:cNvSpPr/>
          <p:nvPr/>
        </p:nvSpPr>
        <p:spPr>
          <a:xfrm>
            <a:off x="4824986" y="3244334"/>
            <a:ext cx="161108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blood stem cell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2CC974-AEB1-400E-9284-34252A560441}"/>
              </a:ext>
            </a:extLst>
          </p:cNvPr>
          <p:cNvSpPr/>
          <p:nvPr/>
        </p:nvSpPr>
        <p:spPr>
          <a:xfrm>
            <a:off x="6436068" y="6046549"/>
            <a:ext cx="68159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B cell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003415-F0C3-44B9-99B8-2C710574D69B}"/>
              </a:ext>
            </a:extLst>
          </p:cNvPr>
          <p:cNvSpPr/>
          <p:nvPr/>
        </p:nvSpPr>
        <p:spPr>
          <a:xfrm>
            <a:off x="7220635" y="6310829"/>
            <a:ext cx="68159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T cell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4F690D-3EC7-4DB6-BE62-84157650020F}"/>
              </a:ext>
            </a:extLst>
          </p:cNvPr>
          <p:cNvSpPr/>
          <p:nvPr/>
        </p:nvSpPr>
        <p:spPr>
          <a:xfrm>
            <a:off x="8068017" y="6213823"/>
            <a:ext cx="8258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NK cell</a:t>
            </a:r>
          </a:p>
        </p:txBody>
      </p:sp>
    </p:spTree>
    <p:extLst>
      <p:ext uri="{BB962C8B-B14F-4D97-AF65-F5344CB8AC3E}">
        <p14:creationId xmlns:p14="http://schemas.microsoft.com/office/powerpoint/2010/main" val="2736882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/>
              <a:t>A. Cellular components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1. Antigen-presenting cell (APCs)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Dendritic cells</a:t>
            </a:r>
            <a:r>
              <a:rPr lang="en-US" sz="2400" dirty="0"/>
              <a:t>: skin, lymph node and other tissues.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Sentinel APCs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Taking up antigen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Activate T-cells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Monocytes: </a:t>
            </a:r>
            <a:r>
              <a:rPr lang="en-US" sz="2400" dirty="0"/>
              <a:t>Circulating in Blood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Macrophages</a:t>
            </a:r>
            <a:r>
              <a:rPr lang="en-US" sz="2400" dirty="0"/>
              <a:t>: tissue (long-lived cells)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B-cells: </a:t>
            </a:r>
            <a:r>
              <a:rPr lang="en-US" sz="2400" dirty="0"/>
              <a:t>develop in to plasma cells, manufacture and secret </a:t>
            </a:r>
            <a:r>
              <a:rPr lang="en-US" sz="2400" b="1" dirty="0">
                <a:solidFill>
                  <a:srgbClr val="002060"/>
                </a:solidFill>
              </a:rPr>
              <a:t>antibodies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3000" y="1981200"/>
            <a:ext cx="3886200" cy="175432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Alveolar macrophages </a:t>
            </a:r>
            <a:r>
              <a:rPr lang="en-US" dirty="0"/>
              <a:t>in lung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Histiocytes </a:t>
            </a:r>
            <a:r>
              <a:rPr lang="en-US" dirty="0"/>
              <a:t>in connective tissues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Kupffer cells </a:t>
            </a:r>
            <a:r>
              <a:rPr lang="en-US" dirty="0"/>
              <a:t>in the liver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Mesangial cells </a:t>
            </a:r>
            <a:r>
              <a:rPr lang="en-US" dirty="0"/>
              <a:t>in the kidney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Microglial cells </a:t>
            </a:r>
            <a:r>
              <a:rPr lang="en-US" dirty="0"/>
              <a:t>in the brain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Osteoclasts </a:t>
            </a:r>
            <a:r>
              <a:rPr lang="en-US" dirty="0"/>
              <a:t>in bone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04286-1246-4F9E-BEBE-68C7BA710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4497526"/>
            <a:ext cx="2941122" cy="22080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D25471D-A6B7-4CB3-B212-FEB52A938F2E}"/>
              </a:ext>
            </a:extLst>
          </p:cNvPr>
          <p:cNvSpPr/>
          <p:nvPr/>
        </p:nvSpPr>
        <p:spPr>
          <a:xfrm>
            <a:off x="2133600" y="6430963"/>
            <a:ext cx="5638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3333"/>
                </a:solidFill>
                <a:latin typeface="Roboto"/>
              </a:rPr>
              <a:t>Fig.</a:t>
            </a:r>
            <a:r>
              <a:rPr lang="en-US" dirty="0">
                <a:solidFill>
                  <a:srgbClr val="333333"/>
                </a:solidFill>
                <a:latin typeface="Roboto"/>
              </a:rPr>
              <a:t> Tumor Antigens Presented on APC( </a:t>
            </a:r>
            <a:r>
              <a:rPr lang="en-US" dirty="0" err="1">
                <a:solidFill>
                  <a:srgbClr val="333333"/>
                </a:solidFill>
                <a:latin typeface="Roboto"/>
              </a:rPr>
              <a:t>Asim</a:t>
            </a:r>
            <a:r>
              <a:rPr lang="en-US" dirty="0">
                <a:solidFill>
                  <a:srgbClr val="333333"/>
                </a:solidFill>
                <a:latin typeface="Roboto"/>
              </a:rPr>
              <a:t> Amin)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402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7030A0"/>
                </a:solidFill>
              </a:rPr>
              <a:t>2. Lymphocytes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2 main types of lymphocytes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b="1" dirty="0">
                <a:solidFill>
                  <a:srgbClr val="C00000"/>
                </a:solidFill>
              </a:rPr>
              <a:t>B-cells: </a:t>
            </a:r>
            <a:r>
              <a:rPr lang="en-US" sz="2400" dirty="0"/>
              <a:t>mature in bone marrow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b="1" dirty="0">
                <a:solidFill>
                  <a:srgbClr val="C00000"/>
                </a:solidFill>
              </a:rPr>
              <a:t>T-cells: </a:t>
            </a:r>
            <a:r>
              <a:rPr lang="en-US" sz="2400" dirty="0"/>
              <a:t>mature in thymus</a:t>
            </a:r>
          </a:p>
          <a:p>
            <a:pPr marL="457200" lvl="1" indent="0">
              <a:buNone/>
            </a:pPr>
            <a:r>
              <a:rPr lang="en-US" sz="2400" dirty="0"/>
              <a:t>-cooperate with B cells and produce cytokines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7030A0"/>
                </a:solidFill>
              </a:rPr>
              <a:t>Functions of T Cells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CMI through production of cytokines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Act on and destroy virus infected cells, tumour and foreign cells (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cytotoxic action</a:t>
            </a:r>
            <a:r>
              <a:rPr lang="en-US" sz="2400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Act as regulatory cells: help or suppression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9083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T Cell Subsets and their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Three major functional subsets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Helper T cells (CD4 Cells):</a:t>
            </a:r>
            <a:r>
              <a:rPr lang="en-US" sz="2400" dirty="0"/>
              <a:t>help B cells and other T cells to multiply into large clones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Cytotoxic T cells (CD8 Cells): </a:t>
            </a:r>
            <a:r>
              <a:rPr lang="en-US" sz="2400" dirty="0"/>
              <a:t>killing virus-infected</a:t>
            </a:r>
            <a:br>
              <a:rPr lang="en-US" sz="2400" dirty="0"/>
            </a:br>
            <a:r>
              <a:rPr lang="en-US" sz="2400" dirty="0"/>
              <a:t>cells, transplant tissue, and cancer cells by secreting a</a:t>
            </a:r>
            <a:br>
              <a:rPr lang="en-US" sz="2400" dirty="0"/>
            </a:br>
            <a:r>
              <a:rPr lang="en-US" sz="2400" dirty="0"/>
              <a:t>series of molecules known as </a:t>
            </a:r>
            <a:r>
              <a:rPr lang="en-US" sz="2400" i="1" dirty="0"/>
              <a:t>lymphotoxins </a:t>
            </a:r>
            <a:r>
              <a:rPr lang="en-US" sz="2400" dirty="0"/>
              <a:t>(LT)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Delayed type hypersensitivity T cells</a:t>
            </a:r>
            <a:r>
              <a:rPr lang="en-US" sz="2400" dirty="0"/>
              <a:t>: DTH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267200"/>
            <a:ext cx="62579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00200" y="6324600"/>
            <a:ext cx="45720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/>
              <a:t>Fig. Subsets of T cells</a:t>
            </a:r>
          </a:p>
        </p:txBody>
      </p:sp>
    </p:spTree>
    <p:extLst>
      <p:ext uri="{BB962C8B-B14F-4D97-AF65-F5344CB8AC3E}">
        <p14:creationId xmlns:p14="http://schemas.microsoft.com/office/powerpoint/2010/main" val="2968819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Mast cells</a:t>
            </a:r>
          </a:p>
          <a:p>
            <a:r>
              <a:rPr lang="en-US" sz="2400" dirty="0"/>
              <a:t>similar to basophils (development of allergies): </a:t>
            </a:r>
            <a:r>
              <a:rPr lang="en-US" sz="2400" dirty="0">
                <a:solidFill>
                  <a:srgbClr val="FF0000"/>
                </a:solidFill>
              </a:rPr>
              <a:t>Histamine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Natural killer (NK) cells: </a:t>
            </a:r>
            <a:r>
              <a:rPr lang="en-US" sz="2400" dirty="0"/>
              <a:t>Innate lymphoid cells (5 to 15%)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Tumor surveillance and some virus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Antibody-dependent cell-mediated cytotoxicity (ADCC)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Polymorph-nuclear Leukocytes (PMNs)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Neutrophils</a:t>
            </a:r>
            <a:r>
              <a:rPr lang="en-US" sz="2400" dirty="0">
                <a:solidFill>
                  <a:srgbClr val="002060"/>
                </a:solidFill>
              </a:rPr>
              <a:t> (</a:t>
            </a:r>
            <a:r>
              <a:rPr lang="en-US" sz="2400" dirty="0"/>
              <a:t>50–70%): Phagocytic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First to arrive at a site of inflammation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short-lived cells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Eosinophils </a:t>
            </a:r>
            <a:r>
              <a:rPr lang="en-US" sz="2400" dirty="0"/>
              <a:t>(1–3%):Phagocytic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Defense against parasitic organisms 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Basophils </a:t>
            </a:r>
            <a:r>
              <a:rPr lang="en-US" sz="2400" dirty="0"/>
              <a:t>(&lt;1%): Non-Phagocytic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Role in certain allergic responses)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solidFill>
                  <a:srgbClr val="002060"/>
                </a:solidFill>
              </a:rPr>
              <a:t>High affinity to IgE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200400"/>
            <a:ext cx="3352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055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B. Molecular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1. Acute phase reactant: </a:t>
            </a:r>
            <a:r>
              <a:rPr lang="en-US" sz="2400" dirty="0"/>
              <a:t>Liver</a:t>
            </a:r>
            <a:r>
              <a:rPr lang="en-US" sz="2400" b="1" dirty="0"/>
              <a:t> </a:t>
            </a:r>
            <a:r>
              <a:rPr lang="en-US" sz="2400" dirty="0"/>
              <a:t>plasma proteins whose level dramatically  or   due to IL-1 and IL-6 in infection or tissue damage</a:t>
            </a:r>
          </a:p>
          <a:p>
            <a:r>
              <a:rPr lang="en-US" sz="2400" dirty="0"/>
              <a:t>CRP</a:t>
            </a:r>
          </a:p>
          <a:p>
            <a:r>
              <a:rPr lang="en-US" sz="2400" dirty="0"/>
              <a:t>Serum amyloid A</a:t>
            </a:r>
          </a:p>
          <a:p>
            <a:r>
              <a:rPr lang="en-US" sz="2400" dirty="0"/>
              <a:t>Mannose-binding lectin</a:t>
            </a:r>
          </a:p>
        </p:txBody>
      </p:sp>
      <p:sp>
        <p:nvSpPr>
          <p:cNvPr id="5" name="Down Arrow 4"/>
          <p:cNvSpPr/>
          <p:nvPr/>
        </p:nvSpPr>
        <p:spPr>
          <a:xfrm>
            <a:off x="2514600" y="1600200"/>
            <a:ext cx="45719" cy="228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2133600" y="1676400"/>
            <a:ext cx="45719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39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2. Antibodies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/>
              <a:t>Blood proteins (</a:t>
            </a:r>
            <a:r>
              <a:rPr lang="en-US" sz="2400" i="1" dirty="0"/>
              <a:t>humoral antibodies)</a:t>
            </a:r>
            <a:endParaRPr lang="en-US" sz="2400" dirty="0"/>
          </a:p>
          <a:p>
            <a:r>
              <a:rPr lang="en-US" sz="2400" dirty="0"/>
              <a:t>Globulins (Igs) part of gamma fraction of serum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Structure</a:t>
            </a:r>
          </a:p>
          <a:p>
            <a:r>
              <a:rPr lang="en-US" sz="2400" dirty="0"/>
              <a:t>Igs: molecules are symmetrical structures</a:t>
            </a:r>
          </a:p>
          <a:p>
            <a:r>
              <a:rPr lang="en-US" sz="2400" dirty="0"/>
              <a:t>‘Y’-shaped after binding to an antigen</a:t>
            </a:r>
          </a:p>
          <a:p>
            <a:r>
              <a:rPr lang="en-US" sz="2400" dirty="0"/>
              <a:t>Each molecule consists of four  polypeptide chains: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Two identical </a:t>
            </a:r>
            <a:r>
              <a:rPr lang="en-US" sz="2000" b="1" dirty="0">
                <a:solidFill>
                  <a:srgbClr val="FF0000"/>
                </a:solidFill>
              </a:rPr>
              <a:t>heavy (H) </a:t>
            </a:r>
            <a:r>
              <a:rPr lang="en-US" sz="2000" dirty="0"/>
              <a:t>chains and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Two identical </a:t>
            </a:r>
            <a:r>
              <a:rPr lang="en-US" sz="2000" b="1" dirty="0">
                <a:solidFill>
                  <a:srgbClr val="FF0000"/>
                </a:solidFill>
              </a:rPr>
              <a:t>light (L) </a:t>
            </a:r>
            <a:r>
              <a:rPr lang="en-US" sz="2000" dirty="0"/>
              <a:t>chains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L-chain to H-chain by </a:t>
            </a:r>
            <a:r>
              <a:rPr lang="en-US" sz="2000" dirty="0">
                <a:solidFill>
                  <a:srgbClr val="7030A0"/>
                </a:solidFill>
              </a:rPr>
              <a:t>disulphide bond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H-distinct for each class of Igs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L-Similar in all classes of Ig (Kappa (</a:t>
            </a:r>
            <a:r>
              <a:rPr lang="el-GR" sz="2000" dirty="0"/>
              <a:t>κ)</a:t>
            </a:r>
            <a:br>
              <a:rPr lang="el-GR" sz="2000" dirty="0"/>
            </a:br>
            <a:r>
              <a:rPr lang="en-US" sz="2000" dirty="0"/>
              <a:t>and lambda (</a:t>
            </a:r>
            <a:r>
              <a:rPr lang="el-GR" sz="2000" dirty="0"/>
              <a:t>λ)</a:t>
            </a:r>
            <a:r>
              <a:rPr lang="en-US" sz="2000" dirty="0"/>
              <a:t>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886200"/>
            <a:ext cx="22098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638800" y="6400800"/>
            <a:ext cx="3158836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/>
              <a:t>Fig. </a:t>
            </a:r>
            <a:r>
              <a:rPr lang="en-US" sz="1400" dirty="0"/>
              <a:t>Antibody molecule</a:t>
            </a:r>
          </a:p>
        </p:txBody>
      </p:sp>
    </p:spTree>
    <p:extLst>
      <p:ext uri="{BB962C8B-B14F-4D97-AF65-F5344CB8AC3E}">
        <p14:creationId xmlns:p14="http://schemas.microsoft.com/office/powerpoint/2010/main" val="1961625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685800"/>
            <a:ext cx="3962400" cy="5334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L and H chains are subdivided into </a:t>
            </a:r>
            <a:r>
              <a:rPr lang="en-US" b="1" i="1" dirty="0">
                <a:solidFill>
                  <a:srgbClr val="FF0000"/>
                </a:solidFill>
              </a:rPr>
              <a:t>variable regions </a:t>
            </a:r>
            <a:r>
              <a:rPr lang="en-US" dirty="0"/>
              <a:t>and </a:t>
            </a:r>
            <a:r>
              <a:rPr lang="en-US" b="1" i="1" dirty="0">
                <a:solidFill>
                  <a:srgbClr val="FF0000"/>
                </a:solidFill>
              </a:rPr>
              <a:t>constant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i="1" dirty="0">
                <a:solidFill>
                  <a:srgbClr val="FF0000"/>
                </a:solidFill>
              </a:rPr>
              <a:t>regions.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An L-chain consists of one variable domain (VL) and one constant domain (CL).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Most H-chains consist of one variable domain (VH) and 3 or more</a:t>
            </a:r>
            <a:br>
              <a:rPr lang="en-US" dirty="0"/>
            </a:br>
            <a:r>
              <a:rPr lang="en-US" dirty="0"/>
              <a:t>constant domains (CH).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Variable regions are responsible</a:t>
            </a:r>
            <a:br>
              <a:rPr lang="en-US" dirty="0"/>
            </a:br>
            <a:r>
              <a:rPr lang="en-US" dirty="0"/>
              <a:t>for </a:t>
            </a:r>
            <a:r>
              <a:rPr lang="en-US" b="1" dirty="0">
                <a:solidFill>
                  <a:srgbClr val="FF0000"/>
                </a:solidFill>
              </a:rPr>
              <a:t>antigen binding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Constant regions are responsible for </a:t>
            </a:r>
            <a:r>
              <a:rPr lang="en-US" b="1" dirty="0">
                <a:solidFill>
                  <a:srgbClr val="FF0000"/>
                </a:solidFill>
              </a:rPr>
              <a:t>biological functions</a:t>
            </a:r>
          </a:p>
          <a:p>
            <a:r>
              <a:rPr lang="en-US" dirty="0"/>
              <a:t>Antibody split by papain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i="1" dirty="0"/>
              <a:t>Fab-fragment</a:t>
            </a:r>
            <a:r>
              <a:rPr lang="en-US" dirty="0"/>
              <a:t>: </a:t>
            </a:r>
            <a:r>
              <a:rPr lang="en-US" i="1" dirty="0"/>
              <a:t>antigen binding</a:t>
            </a:r>
            <a:r>
              <a:rPr lang="en-US" dirty="0"/>
              <a:t> (2)</a:t>
            </a:r>
          </a:p>
          <a:p>
            <a:r>
              <a:rPr lang="en-US" dirty="0"/>
              <a:t>(paratope)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i="1" dirty="0"/>
              <a:t>Fc-fragment</a:t>
            </a:r>
            <a:r>
              <a:rPr lang="en-US" dirty="0"/>
              <a:t>: </a:t>
            </a:r>
            <a:r>
              <a:rPr lang="en-US" i="1" dirty="0"/>
              <a:t>crystallizable (</a:t>
            </a:r>
            <a:r>
              <a:rPr lang="en-US" dirty="0"/>
              <a:t>effector function of antibody)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990600"/>
            <a:ext cx="371475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4876800" y="4495800"/>
            <a:ext cx="3657600" cy="14773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Effector function (Fc)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Complement fixation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Binding to phagocytes &amp; mast cell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Transplacental transfer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secretion into body fluids</a:t>
            </a:r>
          </a:p>
        </p:txBody>
      </p:sp>
    </p:spTree>
    <p:extLst>
      <p:ext uri="{BB962C8B-B14F-4D97-AF65-F5344CB8AC3E}">
        <p14:creationId xmlns:p14="http://schemas.microsoft.com/office/powerpoint/2010/main" val="1634429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Classes (Isotypes of Ig)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Based upon structure of </a:t>
            </a:r>
            <a:r>
              <a:rPr lang="en-US" sz="2400" b="1" dirty="0">
                <a:solidFill>
                  <a:srgbClr val="FF0000"/>
                </a:solidFill>
              </a:rPr>
              <a:t>heavy chain constant region</a:t>
            </a:r>
          </a:p>
          <a:p>
            <a:r>
              <a:rPr lang="en-US" sz="2400" dirty="0"/>
              <a:t>Five classes: IgG, IgA, IgM, IgD and IgE</a:t>
            </a:r>
          </a:p>
          <a:p>
            <a:r>
              <a:rPr lang="en-US" sz="2400" dirty="0"/>
              <a:t>H-chain designated by Greek letter as gamma (</a:t>
            </a:r>
            <a:r>
              <a:rPr lang="el-GR" sz="2400" dirty="0"/>
              <a:t>γ),</a:t>
            </a:r>
            <a:r>
              <a:rPr lang="en-US" sz="2400" dirty="0"/>
              <a:t> alpha (</a:t>
            </a:r>
            <a:r>
              <a:rPr lang="el-GR" sz="2400" dirty="0"/>
              <a:t>α), </a:t>
            </a:r>
            <a:r>
              <a:rPr lang="en-US" sz="2400" dirty="0"/>
              <a:t>mu (</a:t>
            </a:r>
            <a:r>
              <a:rPr lang="el-GR" sz="2400" dirty="0"/>
              <a:t>μ), </a:t>
            </a:r>
            <a:r>
              <a:rPr lang="en-US" sz="2400" dirty="0"/>
              <a:t>delta (</a:t>
            </a:r>
            <a:r>
              <a:rPr lang="el-GR" sz="2400" dirty="0"/>
              <a:t>δ) </a:t>
            </a:r>
            <a:r>
              <a:rPr lang="en-US" sz="2400" dirty="0"/>
              <a:t>and epsilon (</a:t>
            </a:r>
            <a:r>
              <a:rPr lang="el-GR" sz="2400" dirty="0"/>
              <a:t>ε) </a:t>
            </a:r>
            <a:r>
              <a:rPr lang="en-US" sz="2400" dirty="0"/>
              <a:t>respectively</a:t>
            </a:r>
          </a:p>
          <a:p>
            <a:r>
              <a:rPr lang="en-US" sz="2600" dirty="0"/>
              <a:t>Class IgG *distinctive H-chains and differing functional properties*  four subclasses: IgG1, IgG2, IgG3 and IgG4. </a:t>
            </a:r>
          </a:p>
          <a:p>
            <a:r>
              <a:rPr lang="en-US" sz="2600" dirty="0"/>
              <a:t>Similarly there are two subclasses each of IgA and IgM.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099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838200"/>
            <a:ext cx="4572000" cy="20313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IgG: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Abundant in serum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Synthesized in secondary immune response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Major line of defense in a newborn (pass placenta and secreted in colostrum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Four isotypic subclasses - IgG1, IgG2, IgG3, and IgG4.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124200"/>
            <a:ext cx="4572000" cy="23083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IgA: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defend exposed external surfaces of body against attack by microbes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Found in secretion (tear, saliva, colostrum sweat)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Synthesized locally by plasma cells.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Two subclass IgA1 and IgA2.</a:t>
            </a:r>
            <a:br>
              <a:rPr lang="en-US" dirty="0"/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0" y="914400"/>
            <a:ext cx="3505200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IgM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high </a:t>
            </a:r>
            <a:r>
              <a:rPr lang="en-US" dirty="0" err="1"/>
              <a:t>M.wt</a:t>
            </a:r>
            <a:r>
              <a:rPr lang="en-US" dirty="0"/>
              <a:t> (900,000)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A polymer of five four peptide units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i="1" dirty="0"/>
              <a:t>Macroglobulin </a:t>
            </a:r>
            <a:r>
              <a:rPr lang="en-US" dirty="0"/>
              <a:t>antibody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Primary immune response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486400" y="3048000"/>
            <a:ext cx="3276600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IgD</a:t>
            </a:r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present on surface of lymphocytes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control of lymphocyte activation and suppression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5934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410200" y="4800600"/>
            <a:ext cx="3276600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IgE</a:t>
            </a:r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Con. in serum very low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Bound to mast cells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triggering an acute inflammatory reaction</a:t>
            </a:r>
          </a:p>
        </p:txBody>
      </p:sp>
    </p:spTree>
    <p:extLst>
      <p:ext uri="{BB962C8B-B14F-4D97-AF65-F5344CB8AC3E}">
        <p14:creationId xmlns:p14="http://schemas.microsoft.com/office/powerpoint/2010/main" val="13905643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Characteristics of Immunoglobulins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1447800"/>
            <a:ext cx="770572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19200" y="990600"/>
            <a:ext cx="5105400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Table. Characteristics of human Igs</a:t>
            </a:r>
          </a:p>
        </p:txBody>
      </p:sp>
    </p:spTree>
    <p:extLst>
      <p:ext uri="{BB962C8B-B14F-4D97-AF65-F5344CB8AC3E}">
        <p14:creationId xmlns:p14="http://schemas.microsoft.com/office/powerpoint/2010/main" val="3931123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400275"/>
              </p:ext>
            </p:extLst>
          </p:nvPr>
        </p:nvGraphicFramePr>
        <p:xfrm>
          <a:off x="457200" y="990600"/>
          <a:ext cx="8229600" cy="43383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Function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IgA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IgD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IgE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IgG1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IgG2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IgG3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IgG4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IgM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effectLst/>
                        </a:rPr>
                        <a:t>Neutralize</a:t>
                      </a:r>
                      <a:endParaRPr lang="en-US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br>
                        <a:rPr lang="en-US" sz="1800" kern="1200" dirty="0">
                          <a:effectLst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+++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effectLst/>
                        </a:rPr>
                        <a:t>Complement fixation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±a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br>
                        <a:rPr lang="en-US" sz="1800" kern="1200" dirty="0">
                          <a:effectLst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+++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effectLst/>
                        </a:rPr>
                        <a:t>Binding to phagocytes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±b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br>
                        <a:rPr lang="en-US" sz="1800" kern="1200" dirty="0">
                          <a:effectLst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+++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effectLst/>
                        </a:rPr>
                        <a:t>Binding to mast cells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br>
                        <a:rPr lang="en-US" sz="1800" kern="1200" dirty="0">
                          <a:effectLst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effectLst/>
                        </a:rPr>
                        <a:t>Enter tissues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br>
                        <a:rPr lang="en-US" sz="1800" kern="1200" dirty="0">
                          <a:effectLst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effectLst/>
                        </a:rPr>
                        <a:t>Placental transfer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effectLst/>
                        </a:rPr>
                        <a:t>Protects mucosal surfaces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sz="180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−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74427" y="5410200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Note</a:t>
            </a:r>
            <a:r>
              <a:rPr lang="en-US" dirty="0"/>
              <a:t>: These activities are determined by the Fc portion of the molecules.</a:t>
            </a:r>
            <a:br>
              <a:rPr lang="en-US" dirty="0"/>
            </a:br>
            <a:r>
              <a:rPr lang="en-US" i="1" dirty="0"/>
              <a:t>a </a:t>
            </a:r>
            <a:r>
              <a:rPr lang="en-US" dirty="0"/>
              <a:t>IgA activates alternative pathway.</a:t>
            </a:r>
            <a:br>
              <a:rPr lang="en-US" dirty="0"/>
            </a:br>
            <a:r>
              <a:rPr lang="en-US" i="1" dirty="0"/>
              <a:t>b </a:t>
            </a:r>
            <a:r>
              <a:rPr lang="en-US" dirty="0"/>
              <a:t>Receptors for Fc portion of IgA have been found on neutrophils and alveolar macrophages.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47680"/>
            <a:ext cx="82296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Table: Summary of biological properties of human Igs</a:t>
            </a:r>
          </a:p>
        </p:txBody>
      </p:sp>
    </p:spTree>
    <p:extLst>
      <p:ext uri="{BB962C8B-B14F-4D97-AF65-F5344CB8AC3E}">
        <p14:creationId xmlns:p14="http://schemas.microsoft.com/office/powerpoint/2010/main" val="11872493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3. Cytokines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Cytokines</a:t>
            </a:r>
            <a:r>
              <a:rPr lang="en-US" sz="2400" dirty="0"/>
              <a:t> are potent, low-molecular weight protein cell regulators produced </a:t>
            </a:r>
            <a:r>
              <a:rPr lang="en-US" sz="2400" b="1" dirty="0">
                <a:solidFill>
                  <a:srgbClr val="002060"/>
                </a:solidFill>
              </a:rPr>
              <a:t>transiently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2060"/>
                </a:solidFill>
              </a:rPr>
              <a:t>locally</a:t>
            </a:r>
            <a:r>
              <a:rPr lang="en-US" sz="2400" dirty="0"/>
              <a:t> by numerous cell types. </a:t>
            </a:r>
          </a:p>
          <a:p>
            <a:r>
              <a:rPr lang="en-US" sz="2400" dirty="0"/>
              <a:t>Not antigen specific</a:t>
            </a:r>
          </a:p>
          <a:p>
            <a:r>
              <a:rPr lang="en-US" sz="2400" dirty="0"/>
              <a:t>Role in cell-to-cell communication</a:t>
            </a:r>
          </a:p>
          <a:p>
            <a:r>
              <a:rPr lang="en-US" sz="2400" dirty="0"/>
              <a:t>A key role in: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 Hematopoiesis, Immunity, Infectious disease, tumorigenesis, Homeostasis, tissue repair, and cellular development and growth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841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/>
              <a:t>Classification and Functions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Groups based on their common functions. </a:t>
            </a:r>
          </a:p>
          <a:p>
            <a:pPr>
              <a:buFont typeface="Wingdings" pitchFamily="2" charset="2"/>
              <a:buChar char="Ø"/>
            </a:pPr>
            <a:r>
              <a:rPr lang="en-US" sz="2400" u="sng" dirty="0">
                <a:solidFill>
                  <a:srgbClr val="002060"/>
                </a:solidFill>
              </a:rPr>
              <a:t>Immuno-regulatory</a:t>
            </a:r>
            <a:r>
              <a:rPr lang="en-US" sz="2400" dirty="0"/>
              <a:t>: IFN- </a:t>
            </a:r>
            <a:r>
              <a:rPr lang="el-GR" sz="2400" dirty="0"/>
              <a:t>γ</a:t>
            </a:r>
            <a:r>
              <a:rPr lang="en-US" sz="2400" dirty="0"/>
              <a:t> (antigen presentation)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dirty="0"/>
              <a:t>Inhibition of viral replication</a:t>
            </a:r>
          </a:p>
          <a:p>
            <a:pPr>
              <a:buFont typeface="Wingdings" pitchFamily="2" charset="2"/>
              <a:buChar char="Ø"/>
            </a:pPr>
            <a:r>
              <a:rPr lang="en-US" sz="2400" u="sng" dirty="0">
                <a:solidFill>
                  <a:srgbClr val="002060"/>
                </a:solidFill>
              </a:rPr>
              <a:t>Proinflmmatory</a:t>
            </a:r>
            <a:r>
              <a:rPr lang="en-US" sz="2400" dirty="0"/>
              <a:t>: IL-1, IL-6, TNF-α, and IFNs (in infectious diseases) </a:t>
            </a:r>
          </a:p>
          <a:p>
            <a:pPr>
              <a:buFont typeface="Wingdings" pitchFamily="2" charset="2"/>
              <a:buChar char="Ø"/>
            </a:pPr>
            <a:r>
              <a:rPr lang="en-US" sz="2400" u="sng" dirty="0">
                <a:solidFill>
                  <a:srgbClr val="002060"/>
                </a:solidFill>
              </a:rPr>
              <a:t>Anti-inflammatory</a:t>
            </a:r>
            <a:r>
              <a:rPr lang="en-US" sz="2400" dirty="0"/>
              <a:t>: TGF- </a:t>
            </a:r>
            <a:r>
              <a:rPr lang="el-GR" sz="2400" dirty="0"/>
              <a:t>β, </a:t>
            </a:r>
            <a:r>
              <a:rPr lang="en-US" sz="2400" dirty="0"/>
              <a:t>IL-10, IL-11, and IFN- </a:t>
            </a:r>
            <a:r>
              <a:rPr lang="el-GR" sz="2400" dirty="0"/>
              <a:t>β</a:t>
            </a:r>
            <a:r>
              <a:rPr lang="en-US" sz="2400" dirty="0"/>
              <a:t> (dampen or downregulate an overactive inflammatory response) and </a:t>
            </a:r>
          </a:p>
          <a:p>
            <a:pPr>
              <a:buFont typeface="Wingdings" pitchFamily="2" charset="2"/>
              <a:buChar char="Ø"/>
            </a:pPr>
            <a:r>
              <a:rPr lang="en-US" sz="2400" u="sng" dirty="0">
                <a:solidFill>
                  <a:srgbClr val="002060"/>
                </a:solidFill>
              </a:rPr>
              <a:t>Growth and differentiation</a:t>
            </a:r>
            <a:r>
              <a:rPr lang="en-US" sz="2400" dirty="0"/>
              <a:t>: colony stimulation factors (CSFs) and stem cell factor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3007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pPr algn="r"/>
            <a:r>
              <a:rPr lang="en-US" sz="24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T cells use cytokines for differentiation into T-cell subsets.</a:t>
            </a:r>
          </a:p>
          <a:p>
            <a:r>
              <a:rPr lang="en-US" sz="2400" b="1" u="sng" dirty="0">
                <a:solidFill>
                  <a:srgbClr val="002060"/>
                </a:solidFill>
              </a:rPr>
              <a:t>Th 1 </a:t>
            </a:r>
            <a:r>
              <a:rPr lang="en-US" sz="2400" dirty="0"/>
              <a:t>cells are generated in presence of </a:t>
            </a:r>
            <a:r>
              <a:rPr lang="en-US" sz="2400" b="1" dirty="0">
                <a:solidFill>
                  <a:srgbClr val="002060"/>
                </a:solidFill>
              </a:rPr>
              <a:t>IFN- γ </a:t>
            </a:r>
          </a:p>
          <a:p>
            <a:r>
              <a:rPr lang="en-US" sz="2400" b="1" u="sng" dirty="0">
                <a:solidFill>
                  <a:srgbClr val="002060"/>
                </a:solidFill>
              </a:rPr>
              <a:t>Th 2 </a:t>
            </a:r>
            <a:r>
              <a:rPr lang="en-US" sz="2400" dirty="0"/>
              <a:t>cells are differentiated in the presence of </a:t>
            </a:r>
            <a:r>
              <a:rPr lang="en-US" sz="2400" b="1" dirty="0">
                <a:solidFill>
                  <a:srgbClr val="002060"/>
                </a:solidFill>
              </a:rPr>
              <a:t>IL-4</a:t>
            </a:r>
            <a:r>
              <a:rPr lang="en-US" sz="2400" dirty="0"/>
              <a:t>. </a:t>
            </a:r>
          </a:p>
          <a:p>
            <a:r>
              <a:rPr lang="en-US" sz="2400" b="1" u="sng" dirty="0">
                <a:solidFill>
                  <a:srgbClr val="002060"/>
                </a:solidFill>
              </a:rPr>
              <a:t>Th7</a:t>
            </a:r>
            <a:r>
              <a:rPr lang="en-US" sz="2400" dirty="0"/>
              <a:t> cells are produced in presence of </a:t>
            </a:r>
            <a:r>
              <a:rPr lang="en-US" sz="2400" b="1" dirty="0">
                <a:solidFill>
                  <a:srgbClr val="002060"/>
                </a:solidFill>
              </a:rPr>
              <a:t>TGF- β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2060"/>
                </a:solidFill>
              </a:rPr>
              <a:t>IL-6</a:t>
            </a:r>
            <a:endParaRPr lang="en-US" sz="2400" dirty="0"/>
          </a:p>
          <a:p>
            <a:r>
              <a:rPr lang="en-US" sz="2400" b="1" u="sng" dirty="0">
                <a:solidFill>
                  <a:srgbClr val="002060"/>
                </a:solidFill>
              </a:rPr>
              <a:t>Treg</a:t>
            </a:r>
            <a:r>
              <a:rPr lang="en-US" sz="2400" dirty="0"/>
              <a:t> cells are formed in presence of </a:t>
            </a:r>
            <a:r>
              <a:rPr lang="en-US" sz="2400" b="1" dirty="0">
                <a:solidFill>
                  <a:srgbClr val="002060"/>
                </a:solidFill>
              </a:rPr>
              <a:t>TGF- β </a:t>
            </a:r>
            <a:r>
              <a:rPr lang="en-US" sz="2400" dirty="0"/>
              <a:t>alone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345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/>
              <a:t>Clinical Applications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2400" dirty="0"/>
              <a:t>At least four major clinical applications of cytokines.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Biomarkers of disease and provide clues for MOA of disease </a:t>
            </a:r>
            <a:r>
              <a:rPr lang="en-US" sz="2000" dirty="0">
                <a:solidFill>
                  <a:srgbClr val="002060"/>
                </a:solidFill>
              </a:rPr>
              <a:t>(TNF- </a:t>
            </a:r>
            <a:r>
              <a:rPr lang="el-GR" sz="2000" dirty="0">
                <a:solidFill>
                  <a:srgbClr val="002060"/>
                </a:solidFill>
              </a:rPr>
              <a:t>α, </a:t>
            </a:r>
            <a:r>
              <a:rPr lang="en-US" sz="2000" dirty="0">
                <a:solidFill>
                  <a:srgbClr val="002060"/>
                </a:solidFill>
              </a:rPr>
              <a:t>IL-1, and IL-6 with septic shock-</a:t>
            </a:r>
            <a:r>
              <a:rPr lang="en-US" sz="2000" u="sng" dirty="0">
                <a:solidFill>
                  <a:srgbClr val="002060"/>
                </a:solidFill>
              </a:rPr>
              <a:t>Proinflmmatory</a:t>
            </a:r>
            <a:r>
              <a:rPr lang="en-US" sz="2000" dirty="0">
                <a:solidFill>
                  <a:srgbClr val="002060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measurement of cytokine production in vitro is a useful monitor of immune status </a:t>
            </a:r>
            <a:r>
              <a:rPr lang="en-US" sz="2000" b="1" dirty="0">
                <a:solidFill>
                  <a:srgbClr val="002060"/>
                </a:solidFill>
              </a:rPr>
              <a:t>(IFN- </a:t>
            </a:r>
            <a:r>
              <a:rPr lang="el-GR" sz="2000" b="1" dirty="0">
                <a:solidFill>
                  <a:srgbClr val="002060"/>
                </a:solidFill>
              </a:rPr>
              <a:t>γ</a:t>
            </a:r>
            <a:r>
              <a:rPr lang="en-US" sz="2000" b="1" dirty="0">
                <a:solidFill>
                  <a:srgbClr val="002060"/>
                </a:solidFill>
              </a:rPr>
              <a:t>: T-cell function,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2060"/>
                </a:solidFill>
              </a:rPr>
              <a:t>TB reactivity)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Recombinant cytokines are key therapeutic agents </a:t>
            </a:r>
            <a:r>
              <a:rPr lang="en-US" sz="2000" b="1" dirty="0">
                <a:solidFill>
                  <a:srgbClr val="002060"/>
                </a:solidFill>
              </a:rPr>
              <a:t>(IFN- α for HCV, IFN- β for multiple sclerosis, and IFN- γ for CGD)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cytokines can be targets of therapeutics: 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dirty="0"/>
              <a:t>Inhibitors of </a:t>
            </a:r>
            <a:r>
              <a:rPr lang="en-US" sz="1800" b="1" dirty="0">
                <a:solidFill>
                  <a:srgbClr val="002060"/>
                </a:solidFill>
              </a:rPr>
              <a:t>TNF- α </a:t>
            </a:r>
            <a:r>
              <a:rPr lang="en-US" sz="1800" dirty="0"/>
              <a:t>used to manage rheumatoid arthritis (RA) and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dirty="0"/>
              <a:t>Inhibitors of </a:t>
            </a:r>
            <a:r>
              <a:rPr lang="en-US" sz="1800" b="1" dirty="0">
                <a:solidFill>
                  <a:srgbClr val="002060"/>
                </a:solidFill>
              </a:rPr>
              <a:t>IL-2 and IL-15 </a:t>
            </a:r>
            <a:r>
              <a:rPr lang="en-US" sz="1800" dirty="0"/>
              <a:t>used in transplantation and cancer.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55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3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Complement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en-US" sz="2400" dirty="0"/>
              <a:t>Enzyme cascade that helps defend against infection</a:t>
            </a:r>
          </a:p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en-US" sz="2400" dirty="0"/>
              <a:t>Includes serum (zymogens) and membrane bound proteins </a:t>
            </a:r>
          </a:p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en-US" sz="2400" dirty="0"/>
              <a:t> Bridges innate and acquired immunity by; 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000" dirty="0"/>
              <a:t>Augmenting Ab responses and immunological memory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000" dirty="0"/>
              <a:t>Lysing foreign cells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000" dirty="0"/>
              <a:t>Clearing immune complex and apoptotic cells</a:t>
            </a:r>
            <a:endParaRPr lang="en-US" dirty="0"/>
          </a:p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en-US" sz="2400" dirty="0"/>
              <a:t>Highly regulated and interact via a series of proteolytic cascades. </a:t>
            </a:r>
          </a:p>
          <a:p>
            <a:pPr marL="457200" lvl="1" indent="0">
              <a:buClr>
                <a:srgbClr val="FF0000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5127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990600"/>
            <a:ext cx="7010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90600" y="685800"/>
            <a:ext cx="45720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/>
              <a:t>Table  </a:t>
            </a:r>
            <a:r>
              <a:rPr lang="en-US" dirty="0"/>
              <a:t>General properties of complement</a:t>
            </a:r>
          </a:p>
        </p:txBody>
      </p:sp>
    </p:spTree>
    <p:extLst>
      <p:ext uri="{BB962C8B-B14F-4D97-AF65-F5344CB8AC3E}">
        <p14:creationId xmlns:p14="http://schemas.microsoft.com/office/powerpoint/2010/main" val="10069480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Complement activations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en-US" sz="2800" dirty="0"/>
              <a:t>3 </a:t>
            </a:r>
            <a:r>
              <a:rPr lang="en-US" sz="2400" dirty="0"/>
              <a:t>Pathways of complement activations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sz="2400" dirty="0"/>
              <a:t>1. </a:t>
            </a:r>
            <a:r>
              <a:rPr lang="en-US" sz="2400" dirty="0">
                <a:solidFill>
                  <a:srgbClr val="FF0000"/>
                </a:solidFill>
              </a:rPr>
              <a:t>Classical: </a:t>
            </a:r>
            <a:r>
              <a:rPr lang="en-US" sz="2400" dirty="0"/>
              <a:t> labeled as “C” numbered from C1 to C9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000" dirty="0"/>
              <a:t>Antibody dependent (Ag-IgM/Ag-IgG)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000" dirty="0"/>
              <a:t>Antibody independent (</a:t>
            </a:r>
            <a:r>
              <a:rPr lang="en-US" sz="2000" dirty="0" err="1"/>
              <a:t>polyanions</a:t>
            </a:r>
            <a:r>
              <a:rPr lang="en-US" sz="2000" dirty="0"/>
              <a:t>/GNB/CRP) direct with C1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000" dirty="0"/>
              <a:t>Reaction sequence is C1-C4-C2-C3-C5-C6-C7-C8-C9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sz="2400" dirty="0"/>
              <a:t>2. </a:t>
            </a:r>
            <a:r>
              <a:rPr lang="en-US" sz="2400" dirty="0">
                <a:solidFill>
                  <a:srgbClr val="FF0000"/>
                </a:solidFill>
              </a:rPr>
              <a:t>Lectin</a:t>
            </a:r>
            <a:r>
              <a:rPr lang="en-US" sz="2400" dirty="0"/>
              <a:t>: Ab-independent (MBL)</a:t>
            </a:r>
          </a:p>
          <a:p>
            <a:pPr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400" dirty="0"/>
              <a:t>Serum protein bind Mannose/NAG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sz="2400" dirty="0"/>
              <a:t>3. </a:t>
            </a:r>
            <a:r>
              <a:rPr lang="en-US" sz="2400" dirty="0">
                <a:solidFill>
                  <a:srgbClr val="FF0000"/>
                </a:solidFill>
              </a:rPr>
              <a:t>Alternative</a:t>
            </a:r>
            <a:r>
              <a:rPr lang="en-US" sz="2400" dirty="0"/>
              <a:t>: Lettered (Factor B, D) or named (properdin)</a:t>
            </a:r>
          </a:p>
          <a:p>
            <a:pPr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000" dirty="0"/>
              <a:t>microbial cell surfaces (yeast, LPS, Igs) cleave small amount of C3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dirty="0"/>
              <a:t>All the 3 leads to membrane attack complex (MAC)</a:t>
            </a:r>
          </a:p>
          <a:p>
            <a:pPr marL="400050" lvl="1" indent="0">
              <a:buClr>
                <a:srgbClr val="FF0000"/>
              </a:buClr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84472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609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/>
              <a:t>1. The Classical Pathway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endParaRPr lang="en-US" sz="2000" b="1" dirty="0">
              <a:solidFill>
                <a:srgbClr val="002060"/>
              </a:solidFill>
            </a:endParaRPr>
          </a:p>
          <a:p>
            <a:r>
              <a:rPr lang="en-US" sz="2000" b="1" dirty="0">
                <a:solidFill>
                  <a:srgbClr val="002060"/>
                </a:solidFill>
              </a:rPr>
              <a:t>C1</a:t>
            </a:r>
            <a:r>
              <a:rPr lang="en-US" sz="2000" dirty="0"/>
              <a:t>, binds to </a:t>
            </a:r>
            <a:r>
              <a:rPr lang="en-US" sz="2000" b="1" dirty="0">
                <a:solidFill>
                  <a:srgbClr val="002060"/>
                </a:solidFill>
              </a:rPr>
              <a:t>Fc region of an Ig</a:t>
            </a:r>
            <a:r>
              <a:rPr lang="en-US" sz="2000" dirty="0"/>
              <a:t>,</a:t>
            </a:r>
          </a:p>
          <a:p>
            <a:r>
              <a:rPr lang="en-US" sz="2000" dirty="0"/>
              <a:t>It  is composed of three proteins, </a:t>
            </a:r>
            <a:r>
              <a:rPr lang="en-US" sz="2000" b="1" dirty="0">
                <a:solidFill>
                  <a:srgbClr val="002060"/>
                </a:solidFill>
              </a:rPr>
              <a:t>C1q, C1r, and C1s</a:t>
            </a:r>
            <a:r>
              <a:rPr lang="en-US" sz="2000" dirty="0"/>
              <a:t>.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C1q</a:t>
            </a:r>
            <a:r>
              <a:rPr lang="en-US" sz="2000" dirty="0"/>
              <a:t> is an aggregate of polypeptides that bind to </a:t>
            </a:r>
            <a:r>
              <a:rPr lang="en-US" sz="2000" b="1" dirty="0">
                <a:solidFill>
                  <a:srgbClr val="002060"/>
                </a:solidFill>
              </a:rPr>
              <a:t>Fc portion of IgG and IgM. </a:t>
            </a:r>
          </a:p>
          <a:p>
            <a:r>
              <a:rPr lang="en-US" sz="2000" dirty="0"/>
              <a:t>The Ab–Ag immune complex bound to C1 activates C1s</a:t>
            </a:r>
          </a:p>
          <a:p>
            <a:r>
              <a:rPr lang="en-US" sz="2000" dirty="0"/>
              <a:t> which cleaves C4 and C2 to form </a:t>
            </a:r>
            <a:r>
              <a:rPr lang="en-US" sz="2000" b="1" dirty="0">
                <a:solidFill>
                  <a:srgbClr val="002060"/>
                </a:solidFill>
              </a:rPr>
              <a:t>C4b2b</a:t>
            </a:r>
            <a:r>
              <a:rPr lang="en-US" sz="2000" dirty="0"/>
              <a:t>.</a:t>
            </a:r>
          </a:p>
          <a:p>
            <a:r>
              <a:rPr lang="en-US" sz="2000" dirty="0"/>
              <a:t>The latter is an active </a:t>
            </a:r>
            <a:r>
              <a:rPr lang="en-US" sz="2000" b="1" dirty="0">
                <a:solidFill>
                  <a:srgbClr val="002060"/>
                </a:solidFill>
              </a:rPr>
              <a:t>C3 convertase</a:t>
            </a:r>
            <a:r>
              <a:rPr lang="en-US" sz="2000" dirty="0"/>
              <a:t>, which cleaves C3 molecules into two fragments, </a:t>
            </a:r>
            <a:r>
              <a:rPr lang="en-US" sz="2000" b="1" dirty="0">
                <a:solidFill>
                  <a:srgbClr val="002060"/>
                </a:solidFill>
              </a:rPr>
              <a:t>C3a and C3b</a:t>
            </a:r>
            <a:r>
              <a:rPr lang="en-US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515042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b="1" dirty="0">
                <a:solidFill>
                  <a:srgbClr val="002060"/>
                </a:solidFill>
              </a:rPr>
              <a:t>C3a</a:t>
            </a:r>
            <a:r>
              <a:rPr lang="en-US" sz="2400" dirty="0"/>
              <a:t> is an </a:t>
            </a:r>
            <a:r>
              <a:rPr lang="en-US" sz="2400" b="1" dirty="0">
                <a:solidFill>
                  <a:srgbClr val="002060"/>
                </a:solidFill>
              </a:rPr>
              <a:t>anaphylatoxin</a:t>
            </a:r>
            <a:r>
              <a:rPr lang="en-US" sz="2400" dirty="0"/>
              <a:t>.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C3b</a:t>
            </a:r>
            <a:r>
              <a:rPr lang="en-US" sz="2400" dirty="0"/>
              <a:t> forms a complex with C4b2b, producing a new enzyme, C5 convertase</a:t>
            </a:r>
          </a:p>
          <a:p>
            <a:r>
              <a:rPr lang="en-US" sz="2400" dirty="0"/>
              <a:t> which cleaves C5 to form C5a and C5b.</a:t>
            </a:r>
          </a:p>
          <a:p>
            <a:r>
              <a:rPr lang="en-US" sz="2400" dirty="0"/>
              <a:t>This leads to MAC and then to cell lysis. </a:t>
            </a:r>
          </a:p>
          <a:p>
            <a:r>
              <a:rPr lang="en-US" sz="2400" dirty="0"/>
              <a:t>Only IgM and IgG activate or fix complement via the classical pathway.</a:t>
            </a:r>
          </a:p>
          <a:p>
            <a:r>
              <a:rPr lang="en-US" sz="2400" dirty="0"/>
              <a:t>Only IgG subclass 1, 2, and 3 fix complement; IgG4 does not.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7106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2. The Alternative Pathway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Infectious agents can activate complement system by triggering cellular production of factors B, D, and properdin.</a:t>
            </a:r>
          </a:p>
          <a:p>
            <a:r>
              <a:rPr lang="en-US" sz="2400" dirty="0"/>
              <a:t> These factors cleave C3 and generate C3 convertase. </a:t>
            </a:r>
          </a:p>
          <a:p>
            <a:r>
              <a:rPr lang="en-US" sz="2400" dirty="0"/>
              <a:t>C3 convertase (C3bBb) that was generated during the alternative pathway produces more C3b. </a:t>
            </a:r>
          </a:p>
          <a:p>
            <a:r>
              <a:rPr lang="en-US" sz="2400" dirty="0"/>
              <a:t>The additional C3b binds to the C3 convertase to form </a:t>
            </a:r>
            <a:r>
              <a:rPr lang="en-US" sz="2400" b="1" dirty="0">
                <a:solidFill>
                  <a:srgbClr val="002060"/>
                </a:solidFill>
              </a:rPr>
              <a:t>C3bBbC3b</a:t>
            </a:r>
            <a:r>
              <a:rPr lang="en-US" sz="2400" dirty="0"/>
              <a:t>. </a:t>
            </a:r>
          </a:p>
          <a:p>
            <a:r>
              <a:rPr lang="en-US" sz="2400" dirty="0"/>
              <a:t>This enzyme is the alternative pathway C5 convertase that generates C5b</a:t>
            </a:r>
          </a:p>
          <a:p>
            <a:r>
              <a:rPr lang="en-US" sz="2400" dirty="0"/>
              <a:t>Leading to production of the MAC described earlier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6757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3. Mannan-Binding Lectin (MBL) Pathway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Its main constituent is a plasma protein MBL. </a:t>
            </a:r>
          </a:p>
          <a:p>
            <a:r>
              <a:rPr lang="en-US" sz="2400" dirty="0"/>
              <a:t>MBL binds to sugar residues such as mannose found in microbial surface polysaccharides such as LPS. </a:t>
            </a:r>
          </a:p>
          <a:p>
            <a:r>
              <a:rPr lang="en-US" sz="2400" dirty="0"/>
              <a:t>The MBL complex, when bound to microbial surfaces, can activate C4 and C2. </a:t>
            </a:r>
          </a:p>
          <a:p>
            <a:r>
              <a:rPr lang="en-US" sz="2400" dirty="0"/>
              <a:t>The remaining steps in the pathway are the same as the classic pathway of complement activation.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1091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609600"/>
            <a:ext cx="58674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438400" y="6172200"/>
            <a:ext cx="45720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/>
              <a:t>Fig. Pathways of complement activation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4495800"/>
            <a:ext cx="4572000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Recognition Unit: </a:t>
            </a:r>
            <a:r>
              <a:rPr lang="en-US" b="1" dirty="0">
                <a:solidFill>
                  <a:schemeClr val="tx1"/>
                </a:solidFill>
              </a:rPr>
              <a:t>C1 (C1q, C1r, C1s)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Activation Complex: </a:t>
            </a:r>
            <a:r>
              <a:rPr lang="en-US" b="1" dirty="0">
                <a:solidFill>
                  <a:schemeClr val="tx1"/>
                </a:solidFill>
              </a:rPr>
              <a:t>C4, C2, C3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Membrane Attack Complex: </a:t>
            </a:r>
            <a:r>
              <a:rPr lang="en-US" b="1" dirty="0">
                <a:solidFill>
                  <a:schemeClr val="tx1"/>
                </a:solidFill>
              </a:rPr>
              <a:t>C5,C6, C7, C8, C9</a:t>
            </a:r>
          </a:p>
        </p:txBody>
      </p:sp>
    </p:spTree>
    <p:extLst>
      <p:ext uri="{BB962C8B-B14F-4D97-AF65-F5344CB8AC3E}">
        <p14:creationId xmlns:p14="http://schemas.microsoft.com/office/powerpoint/2010/main" val="3081438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/>
              <a:t>Biologic Effects of Complement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Activation of complement results in four major outcomes: </a:t>
            </a:r>
          </a:p>
          <a:p>
            <a:pPr marL="457200" lvl="1" indent="-457200">
              <a:buFont typeface="Arial" pitchFamily="34" charset="0"/>
              <a:buAutoNum type="arabicParenBoth"/>
            </a:pPr>
            <a:r>
              <a:rPr lang="en-US" sz="2400" b="1" dirty="0">
                <a:solidFill>
                  <a:srgbClr val="002060"/>
                </a:solidFill>
              </a:rPr>
              <a:t>Cytolysis</a:t>
            </a:r>
            <a:r>
              <a:rPr lang="en-US" sz="2400" dirty="0"/>
              <a:t>: </a:t>
            </a:r>
            <a:r>
              <a:rPr lang="en-US" sz="2000" dirty="0"/>
              <a:t>Lysis of cells </a:t>
            </a:r>
            <a:endParaRPr lang="en-US" sz="2400" dirty="0"/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Development of membrane attack complex (MAC) </a:t>
            </a:r>
            <a:r>
              <a:rPr lang="en-US" sz="2000" b="1" dirty="0">
                <a:solidFill>
                  <a:srgbClr val="002060"/>
                </a:solidFill>
              </a:rPr>
              <a:t>(C5b, 6, 7, 8, 9)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Inserts into membrane of an organism or cell.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MAC</a:t>
            </a:r>
            <a:r>
              <a:rPr lang="en-US" sz="2000" dirty="0"/>
              <a:t> leads to loss of osmotic integrity and cell lysis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(2) Chemotaxis</a:t>
            </a:r>
            <a:r>
              <a:rPr lang="en-US" sz="2400" dirty="0"/>
              <a:t>: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/>
              <a:t>An </a:t>
            </a:r>
            <a:r>
              <a:rPr lang="en-US" sz="2200" b="1" dirty="0">
                <a:solidFill>
                  <a:srgbClr val="002060"/>
                </a:solidFill>
              </a:rPr>
              <a:t>immune cell</a:t>
            </a:r>
            <a:r>
              <a:rPr lang="en-US" sz="2200" dirty="0"/>
              <a:t> (phagocyte)  is attracted to and moves toward a soluble factor.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>
                <a:solidFill>
                  <a:srgbClr val="002060"/>
                </a:solidFill>
              </a:rPr>
              <a:t>C5a</a:t>
            </a:r>
            <a:r>
              <a:rPr lang="en-US" sz="2200" dirty="0"/>
              <a:t> is a potent chemotactic agent that stimulates movement of neutrophils and monocytes toward sites of antigen deposition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5950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(3) Opsonization: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A process in which mos. and Ag-Ab complexes become coated with molecules that bind to receptors on phagocytes.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Phagocytosis -</a:t>
            </a:r>
            <a:r>
              <a:rPr lang="en-US" sz="2400" b="1" dirty="0">
                <a:solidFill>
                  <a:srgbClr val="002060"/>
                </a:solidFill>
              </a:rPr>
              <a:t>C3b</a:t>
            </a:r>
            <a:r>
              <a:rPr lang="en-US" sz="2400" dirty="0"/>
              <a:t> 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(4) Anaphylatoxins: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Promote vasodilation and increased vascular permeability.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Both </a:t>
            </a:r>
            <a:r>
              <a:rPr lang="en-US" sz="2400" b="1" dirty="0">
                <a:solidFill>
                  <a:srgbClr val="002060"/>
                </a:solidFill>
              </a:rPr>
              <a:t>C3a and C5a </a:t>
            </a:r>
            <a:r>
              <a:rPr lang="en-US" sz="2400" dirty="0"/>
              <a:t>are potent promoters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Stimulate </a:t>
            </a:r>
            <a:r>
              <a:rPr lang="en-US" sz="2400" b="1" dirty="0">
                <a:solidFill>
                  <a:srgbClr val="002060"/>
                </a:solidFill>
              </a:rPr>
              <a:t>mast cells and basophils </a:t>
            </a:r>
            <a:r>
              <a:rPr lang="en-US" sz="2400" dirty="0"/>
              <a:t>to release </a:t>
            </a:r>
            <a:r>
              <a:rPr lang="en-US" sz="2400" b="1" dirty="0">
                <a:solidFill>
                  <a:srgbClr val="002060"/>
                </a:solidFill>
              </a:rPr>
              <a:t>histamine.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C5a</a:t>
            </a:r>
            <a:r>
              <a:rPr lang="en-US" sz="2400" dirty="0"/>
              <a:t> is an anaphylatoxin as well as a chemotactic factor.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6082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/>
              <a:t>Complement Deficiencies and Pathogen</a:t>
            </a:r>
            <a:r>
              <a:rPr lang="en-US" sz="2400" dirty="0"/>
              <a:t> </a:t>
            </a:r>
            <a:r>
              <a:rPr lang="en-US" sz="2400" b="1" dirty="0"/>
              <a:t>Evasion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b="1" dirty="0">
                <a:solidFill>
                  <a:srgbClr val="002060"/>
                </a:solidFill>
              </a:rPr>
              <a:t>C2 </a:t>
            </a:r>
            <a:r>
              <a:rPr lang="en-US" sz="2400" dirty="0"/>
              <a:t>:  serious pyogenic bacterial infections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MAC</a:t>
            </a:r>
            <a:r>
              <a:rPr lang="en-US" sz="2400" dirty="0"/>
              <a:t>: susceptibility to neisserial infections.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Alternative pathway </a:t>
            </a:r>
            <a:r>
              <a:rPr lang="en-US" sz="2400" dirty="0"/>
              <a:t>(</a:t>
            </a:r>
            <a:r>
              <a:rPr lang="en-US" sz="2400" dirty="0" err="1"/>
              <a:t>e.g</a:t>
            </a:r>
            <a:r>
              <a:rPr lang="en-US" sz="2400" dirty="0"/>
              <a:t>, properdin):  susceptibility to meningococcal disease).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C1 inhibitor protein </a:t>
            </a:r>
            <a:r>
              <a:rPr lang="en-US" sz="2400" dirty="0"/>
              <a:t>leads to hereditary angioedema.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1841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Immunopathology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Defects or malfunctions in either innate or adaptive immune response can provoke illness or disease. </a:t>
            </a:r>
          </a:p>
          <a:p>
            <a:r>
              <a:rPr lang="en-US" sz="2400" dirty="0"/>
              <a:t>Such disorders are generally caused by an: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Hypersensitivity reactions</a:t>
            </a:r>
            <a:r>
              <a:rPr lang="en-US" sz="2000" dirty="0"/>
              <a:t>: overactive immune response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Autoimmunity</a:t>
            </a:r>
            <a:r>
              <a:rPr lang="en-US" sz="2000" dirty="0"/>
              <a:t>: inappropriate reaction to self or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Immunodeficiency</a:t>
            </a:r>
            <a:r>
              <a:rPr lang="en-US" sz="2000" dirty="0"/>
              <a:t>: ineffective immune responses</a:t>
            </a:r>
          </a:p>
        </p:txBody>
      </p:sp>
    </p:spTree>
    <p:extLst>
      <p:ext uri="{BB962C8B-B14F-4D97-AF65-F5344CB8AC3E}">
        <p14:creationId xmlns:p14="http://schemas.microsoft.com/office/powerpoint/2010/main" val="8403147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/>
              <a:t>1. Hypersensitivity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An immune response results in exaggerated or inappropriate rxns that are harmful to host. </a:t>
            </a:r>
          </a:p>
          <a:p>
            <a:r>
              <a:rPr lang="en-US" sz="2400" dirty="0"/>
              <a:t>occur after second contact with a specific Ag (allergen). </a:t>
            </a:r>
          </a:p>
          <a:p>
            <a:r>
              <a:rPr lang="en-US" sz="2400" dirty="0"/>
              <a:t>The first contact is a necessary preliminary event that induces sensitization to that allergen.</a:t>
            </a:r>
          </a:p>
          <a:p>
            <a:r>
              <a:rPr lang="en-US" sz="2400" dirty="0"/>
              <a:t>There are </a:t>
            </a:r>
            <a:r>
              <a:rPr lang="en-US" sz="2400" b="1" dirty="0">
                <a:solidFill>
                  <a:srgbClr val="002060"/>
                </a:solidFill>
              </a:rPr>
              <a:t>four</a:t>
            </a:r>
            <a:r>
              <a:rPr lang="en-US" sz="2400" dirty="0"/>
              <a:t> main types of </a:t>
            </a:r>
            <a:r>
              <a:rPr lang="en-US" sz="2400" b="1" dirty="0">
                <a:solidFill>
                  <a:srgbClr val="002060"/>
                </a:solidFill>
              </a:rPr>
              <a:t>hypersensitivity</a:t>
            </a:r>
            <a:r>
              <a:rPr lang="en-US" sz="2400" dirty="0"/>
              <a:t> rxns.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Types I, II, and III </a:t>
            </a:r>
            <a:r>
              <a:rPr lang="en-US" sz="2000" dirty="0"/>
              <a:t>are </a:t>
            </a:r>
            <a:r>
              <a:rPr lang="en-US" sz="2000" b="1" dirty="0">
                <a:solidFill>
                  <a:srgbClr val="002060"/>
                </a:solidFill>
              </a:rPr>
              <a:t>antibody mediated</a:t>
            </a:r>
            <a:r>
              <a:rPr lang="en-US" sz="2000" dirty="0"/>
              <a:t>,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Type IV </a:t>
            </a:r>
            <a:r>
              <a:rPr lang="en-US" sz="2000" dirty="0"/>
              <a:t>is </a:t>
            </a:r>
            <a:r>
              <a:rPr lang="en-US" sz="2000" b="1" dirty="0">
                <a:solidFill>
                  <a:srgbClr val="002060"/>
                </a:solidFill>
              </a:rPr>
              <a:t>T-cell mediated</a:t>
            </a:r>
            <a:r>
              <a:rPr lang="en-US" sz="2000" dirty="0"/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582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Type I: Immediate Hypersensitivity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(Allergy)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It manifests itself in tissue reactions occurring within seconds    after</a:t>
            </a:r>
          </a:p>
          <a:p>
            <a:r>
              <a:rPr lang="en-US" sz="2400" dirty="0"/>
              <a:t> The </a:t>
            </a:r>
            <a:r>
              <a:rPr lang="en-US" sz="2400" b="1" dirty="0">
                <a:solidFill>
                  <a:srgbClr val="002060"/>
                </a:solidFill>
              </a:rPr>
              <a:t>Ag combines with the specific IgE Ab</a:t>
            </a:r>
            <a:r>
              <a:rPr lang="en-US" sz="2400" dirty="0"/>
              <a:t>. </a:t>
            </a:r>
          </a:p>
          <a:p>
            <a:r>
              <a:rPr lang="en-US" sz="2400" dirty="0"/>
              <a:t>Its symptoms may manifest as: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A systemic anaphylaxis </a:t>
            </a:r>
            <a:r>
              <a:rPr lang="en-US" sz="2000" dirty="0"/>
              <a:t>(</a:t>
            </a:r>
            <a:r>
              <a:rPr lang="en-US" sz="2000" dirty="0" err="1"/>
              <a:t>eg</a:t>
            </a:r>
            <a:r>
              <a:rPr lang="en-US" sz="2000" dirty="0"/>
              <a:t>, after IV administration of heterologous proteins)  or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A local reaction </a:t>
            </a:r>
            <a:r>
              <a:rPr lang="en-US" sz="2000" dirty="0"/>
              <a:t>(</a:t>
            </a:r>
            <a:r>
              <a:rPr lang="en-US" sz="2000" dirty="0" err="1"/>
              <a:t>eg</a:t>
            </a:r>
            <a:r>
              <a:rPr lang="en-US" sz="2000" dirty="0"/>
              <a:t>, an atopic allergy involving rhinitis such as occurs with hay fever).</a:t>
            </a:r>
            <a:br>
              <a:rPr lang="en-US" dirty="0"/>
            </a:br>
            <a:endParaRPr lang="en-US" dirty="0"/>
          </a:p>
        </p:txBody>
      </p:sp>
      <p:sp>
        <p:nvSpPr>
          <p:cNvPr id="4" name="Down Arrow 3"/>
          <p:cNvSpPr/>
          <p:nvPr/>
        </p:nvSpPr>
        <p:spPr>
          <a:xfrm>
            <a:off x="1981200" y="1524000"/>
            <a:ext cx="152400" cy="533400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690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dirty="0"/>
              <a:t>Mechanism of immediate hypersensitivity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066800"/>
          <a:ext cx="8229600" cy="5059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73233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Mediators of type I hypersensitivity and their main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1. Histamine</a:t>
            </a:r>
          </a:p>
          <a:p>
            <a:r>
              <a:rPr lang="en-US" sz="2400" dirty="0"/>
              <a:t>It exists in a preformed state in platelets and in granules of </a:t>
            </a:r>
            <a:r>
              <a:rPr lang="en-US" sz="2400" b="1" dirty="0">
                <a:solidFill>
                  <a:srgbClr val="002060"/>
                </a:solidFill>
              </a:rPr>
              <a:t>mast cells, basophils, and eosinophils.</a:t>
            </a:r>
          </a:p>
          <a:p>
            <a:r>
              <a:rPr lang="en-US" sz="2400" dirty="0"/>
              <a:t>Its release causes: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 vasodilation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Increased capillary</a:t>
            </a:r>
            <a:r>
              <a:rPr lang="en-US" dirty="0"/>
              <a:t> </a:t>
            </a:r>
            <a:r>
              <a:rPr lang="en-US" sz="2000" dirty="0"/>
              <a:t>permeability,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smooth muscle contraction (</a:t>
            </a:r>
            <a:r>
              <a:rPr lang="en-US" sz="2000" dirty="0" err="1"/>
              <a:t>e.g</a:t>
            </a:r>
            <a:r>
              <a:rPr lang="en-US" sz="2000" dirty="0"/>
              <a:t>, bronchospasm). </a:t>
            </a:r>
          </a:p>
          <a:p>
            <a:r>
              <a:rPr lang="en-US" sz="2400" dirty="0"/>
              <a:t>Antihistamine drugs can block histamine receptor sites and are relatively effective in </a:t>
            </a:r>
            <a:r>
              <a:rPr lang="en-US" sz="2400" b="1" dirty="0">
                <a:solidFill>
                  <a:srgbClr val="002060"/>
                </a:solidFill>
              </a:rPr>
              <a:t>allergic rhinitis</a:t>
            </a:r>
            <a:r>
              <a:rPr lang="en-US" sz="2400" dirty="0"/>
              <a:t>.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Histamine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/>
              <a:t>is one of the primary mediators of a type I reaction.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2622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/>
              <a:t>2. Prostaglandins and leukotrienes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Derived from </a:t>
            </a:r>
            <a:r>
              <a:rPr lang="en-US" sz="2400" b="1" dirty="0">
                <a:solidFill>
                  <a:srgbClr val="002060"/>
                </a:solidFill>
              </a:rPr>
              <a:t>arachidonic acid </a:t>
            </a:r>
            <a:r>
              <a:rPr lang="en-US" sz="2400" dirty="0"/>
              <a:t>via the </a:t>
            </a:r>
            <a:r>
              <a:rPr lang="en-US" sz="2400" b="1" dirty="0">
                <a:solidFill>
                  <a:srgbClr val="002060"/>
                </a:solidFill>
              </a:rPr>
              <a:t>cyclooxygenase</a:t>
            </a:r>
            <a:r>
              <a:rPr lang="en-US" sz="2400" dirty="0"/>
              <a:t> pathway.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Prostaglandins</a:t>
            </a:r>
            <a:r>
              <a:rPr lang="en-US" sz="2400" dirty="0"/>
              <a:t> chiefly produce </a:t>
            </a:r>
            <a:r>
              <a:rPr lang="en-US" sz="2400" b="1" dirty="0">
                <a:solidFill>
                  <a:srgbClr val="002060"/>
                </a:solidFill>
              </a:rPr>
              <a:t>bronchoconstriction</a:t>
            </a:r>
            <a:r>
              <a:rPr lang="en-US" sz="2400" dirty="0"/>
              <a:t>.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Leukotrienes</a:t>
            </a:r>
            <a:r>
              <a:rPr lang="en-US" sz="2400" dirty="0"/>
              <a:t> chiefly cause increased permeability of capillaries.</a:t>
            </a:r>
          </a:p>
          <a:p>
            <a:r>
              <a:rPr lang="en-US" sz="2400" dirty="0"/>
              <a:t>These mediators, along with cytokines such as TNF- </a:t>
            </a:r>
            <a:r>
              <a:rPr lang="el-GR" sz="2400" dirty="0"/>
              <a:t>α </a:t>
            </a:r>
            <a:r>
              <a:rPr lang="en-US" sz="2400" dirty="0"/>
              <a:t>and IL-4, are referred to as secondary mediators of a type I reaction.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11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2. Type II: Hypersensitivity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It involves binding of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IgG Abs to cell surface Ags</a:t>
            </a:r>
            <a:r>
              <a:rPr lang="en-US" sz="2400" dirty="0"/>
              <a:t> or extracellular matrix molecules.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 Ab directed at cell surface Ags can activate complement to damage the cells.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The result may be complement-mediated lysis, which occurs: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Hemolytic anemias,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ABO transfusion reactions,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Rh hemolytic disease</a:t>
            </a:r>
            <a:r>
              <a:rPr lang="en-US" sz="2000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Goodpasture syndrome</a:t>
            </a:r>
            <a:r>
              <a:rPr lang="en-US" sz="2000" dirty="0"/>
              <a:t>: Ab forms against basement membranes of kidney and lung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Graves disease</a:t>
            </a:r>
            <a:r>
              <a:rPr lang="en-US" sz="2000" dirty="0"/>
              <a:t>: auto-Ab binds to the TSH receptor, stimulates the</a:t>
            </a:r>
            <a:br>
              <a:rPr lang="en-US" sz="2000" dirty="0"/>
            </a:br>
            <a:r>
              <a:rPr lang="en-US" sz="2000" dirty="0"/>
              <a:t>thyroid, and causes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hyperthyroidism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554629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3. Type III: Immune Complex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Hypersensitivity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2400" dirty="0"/>
              <a:t>When Ab combines with its specific Ag, immune complexes are formed. </a:t>
            </a:r>
          </a:p>
          <a:p>
            <a:r>
              <a:rPr lang="en-US" sz="2400" dirty="0"/>
              <a:t>They persist and deposited in tissues, resulting in several disorders. </a:t>
            </a:r>
          </a:p>
          <a:p>
            <a:r>
              <a:rPr lang="en-US" sz="2400" dirty="0"/>
              <a:t>In autoimmune disorders, “self” Ags may elicit Abs that bind to organ Ags or are deposited in organs and tissues as complexes: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Joints (arthritis), 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Kidneys (nephritis), and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Blood vessels (vasculitis).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Fungal spores and certain drugs </a:t>
            </a:r>
            <a:r>
              <a:rPr lang="en-US" sz="2000" dirty="0"/>
              <a:t>(environmental antigens)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695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US" sz="2400" dirty="0"/>
              <a:t>Two major forms of immune complex-mediated hypersensitivity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Local </a:t>
            </a:r>
            <a:r>
              <a:rPr lang="en-US" sz="2400" b="1" dirty="0"/>
              <a:t>(Arthus</a:t>
            </a:r>
            <a:r>
              <a:rPr lang="en-US" sz="2400" dirty="0"/>
              <a:t> </a:t>
            </a:r>
            <a:r>
              <a:rPr lang="en-US" sz="2400" b="1" dirty="0"/>
              <a:t>reaction):</a:t>
            </a:r>
            <a:r>
              <a:rPr lang="en-US" sz="2400" dirty="0"/>
              <a:t> skin (IgG antibodies are involved)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solidFill>
                  <a:srgbClr val="7030A0"/>
                </a:solidFill>
              </a:rPr>
              <a:t>systemic</a:t>
            </a:r>
            <a:r>
              <a:rPr lang="en-US" sz="2400" dirty="0"/>
              <a:t>: acute post-streptococcal glomerulonephritis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441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Type IV: Cell-Mediated, Delayed Hypersensitivity (DTH)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Sensitized T lymphocytes </a:t>
            </a:r>
            <a:r>
              <a:rPr lang="en-US" sz="2400" dirty="0"/>
              <a:t>that activate macrophages to cause an inflammatory response.</a:t>
            </a:r>
          </a:p>
          <a:p>
            <a:r>
              <a:rPr lang="en-US" sz="2400" dirty="0"/>
              <a:t>The response is delayed it usually, starts 2 or 3 days after contact with the antigen and often lasts for days.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A. Contact Hypersensitivity</a:t>
            </a:r>
          </a:p>
          <a:p>
            <a:r>
              <a:rPr lang="en-US" sz="2400" dirty="0"/>
              <a:t>Chemicals (</a:t>
            </a:r>
            <a:r>
              <a:rPr lang="en-US" sz="2400" dirty="0" err="1"/>
              <a:t>eg</a:t>
            </a:r>
            <a:r>
              <a:rPr lang="en-US" sz="2400" dirty="0"/>
              <a:t>, nickel, formaldehyde), </a:t>
            </a:r>
          </a:p>
          <a:p>
            <a:r>
              <a:rPr lang="en-US" sz="2400" dirty="0"/>
              <a:t>Plant materials (poison ivy, poison oak), </a:t>
            </a:r>
          </a:p>
          <a:p>
            <a:r>
              <a:rPr lang="en-US" sz="2400" dirty="0"/>
              <a:t>Topically applied drugs (sulfonamides, neomycin), some cosmetics, soaps, and other substances.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00295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US" sz="2400" dirty="0"/>
              <a:t>In all cases, small molecules enter the skin and then, acting as </a:t>
            </a:r>
            <a:r>
              <a:rPr lang="en-US" sz="2400" b="1" dirty="0">
                <a:solidFill>
                  <a:srgbClr val="7030A0"/>
                </a:solidFill>
              </a:rPr>
              <a:t>haptens</a:t>
            </a:r>
            <a:r>
              <a:rPr lang="en-US" sz="2400" dirty="0"/>
              <a:t>, attach to body proteins to serve as complete Ags. </a:t>
            </a:r>
          </a:p>
          <a:p>
            <a:r>
              <a:rPr lang="en-US" sz="2400" dirty="0"/>
              <a:t>CMI hypersensitivity is induced, particularly in the skin. </a:t>
            </a:r>
          </a:p>
          <a:p>
            <a:r>
              <a:rPr lang="en-US" sz="2400" dirty="0"/>
              <a:t>When the skin again comes in contact with offending agent, </a:t>
            </a:r>
          </a:p>
          <a:p>
            <a:r>
              <a:rPr lang="en-US" sz="2400" dirty="0"/>
              <a:t>The sensitized person develops: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Erythema,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Itching,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Vesication,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Eczema, or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Necrosis of skin </a:t>
            </a:r>
            <a:r>
              <a:rPr lang="en-US" sz="2000" dirty="0"/>
              <a:t>within 12-48 hours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355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B. Tuberculin-Type Hypersensitivity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sz="2400" dirty="0"/>
              <a:t>Tuberculin is injected into the epidermis of a patient previously exposed to </a:t>
            </a:r>
            <a:r>
              <a:rPr lang="en-US" sz="2400" i="1" dirty="0"/>
              <a:t>M.TB,</a:t>
            </a:r>
            <a:r>
              <a:rPr lang="en-US" sz="2400" dirty="0"/>
              <a:t> there is little immediate reaction.</a:t>
            </a:r>
          </a:p>
          <a:p>
            <a:r>
              <a:rPr lang="en-US" sz="2400" dirty="0"/>
              <a:t>Gradually, induration and redness develop and reach a peak in 24–72 hours.</a:t>
            </a:r>
          </a:p>
          <a:p>
            <a:r>
              <a:rPr lang="en-US" sz="2400" dirty="0"/>
              <a:t>Mononuclear cells accumulate in the subcutaneous tissue, and 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CD4 Th </a:t>
            </a:r>
            <a:r>
              <a:rPr lang="en-US" sz="2400" dirty="0"/>
              <a:t>cells in abundance. 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51833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A positive skin test indicates: infected with the agent</a:t>
            </a:r>
          </a:p>
          <a:p>
            <a:r>
              <a:rPr lang="en-US" sz="2400" dirty="0"/>
              <a:t>Negative to positive suggests recent infection and possible current activity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Positive skin test</a:t>
            </a:r>
            <a:r>
              <a:rPr lang="en-US" sz="2400" dirty="0"/>
              <a:t>: Tuberculoid disease with active CMI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Negative test</a:t>
            </a:r>
            <a:r>
              <a:rPr lang="en-US" sz="2400" dirty="0"/>
              <a:t>: Lepromatous leprosy with weak CMI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5348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Tolerance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The non-response to self molecules is due to natural tolerance.</a:t>
            </a:r>
          </a:p>
          <a:p>
            <a:r>
              <a:rPr lang="en-US" sz="2400" dirty="0"/>
              <a:t>If this tolerance breaks down and the body responds to self molecules, an </a:t>
            </a:r>
            <a:r>
              <a:rPr lang="en-US" sz="2400" b="1" dirty="0">
                <a:solidFill>
                  <a:srgbClr val="FF0000"/>
                </a:solidFill>
              </a:rPr>
              <a:t>autoimmune disease </a:t>
            </a:r>
            <a:r>
              <a:rPr lang="en-US" sz="2400" dirty="0"/>
              <a:t>will develop.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Acquired tolerance </a:t>
            </a:r>
            <a:r>
              <a:rPr lang="en-US" sz="2400" dirty="0"/>
              <a:t>arises when a potential immunogen induces a state of unresponsiveness to itself</a:t>
            </a:r>
          </a:p>
          <a:p>
            <a:r>
              <a:rPr lang="en-US" sz="2400" dirty="0"/>
              <a:t>A tolerogenic epitope on a pathogen may compromise the ability of the body to resist infection</a:t>
            </a:r>
          </a:p>
          <a:p>
            <a:r>
              <a:rPr lang="en-US" sz="2400" dirty="0"/>
              <a:t>The epitopes can act as either </a:t>
            </a:r>
            <a:r>
              <a:rPr lang="en-US" sz="2400" b="1" dirty="0">
                <a:solidFill>
                  <a:srgbClr val="002060"/>
                </a:solidFill>
              </a:rPr>
              <a:t>immunogens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002060"/>
                </a:solidFill>
              </a:rPr>
              <a:t>tolerogens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6328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Deficiencies of the immune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response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en-US" sz="2400" b="1" dirty="0">
                <a:solidFill>
                  <a:srgbClr val="002060"/>
                </a:solidFill>
              </a:rPr>
              <a:t>Immunodeficiency Diseases</a:t>
            </a:r>
          </a:p>
          <a:p>
            <a:r>
              <a:rPr lang="en-US" sz="2400" dirty="0"/>
              <a:t>Can be divided into two categories: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b="1" dirty="0">
                <a:solidFill>
                  <a:srgbClr val="002060"/>
                </a:solidFill>
              </a:rPr>
              <a:t>Primary immunodeficiency diseases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Defect is intrinsic to cells of immune system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Identified first by the type, duration, and frequency of infectious diseases and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b="1" dirty="0">
                <a:solidFill>
                  <a:srgbClr val="002060"/>
                </a:solidFill>
              </a:rPr>
              <a:t>Secondary immunodeficiency diseases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Defect is induced by external factors (viruses, malignancy, and drugs).</a:t>
            </a:r>
          </a:p>
        </p:txBody>
      </p:sp>
    </p:spTree>
    <p:extLst>
      <p:ext uri="{BB962C8B-B14F-4D97-AF65-F5344CB8AC3E}">
        <p14:creationId xmlns:p14="http://schemas.microsoft.com/office/powerpoint/2010/main" val="5124512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Primary immunodeficiency diseases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2060"/>
                </a:solidFill>
              </a:rPr>
              <a:t>genetic defect </a:t>
            </a:r>
            <a:r>
              <a:rPr lang="en-US" sz="2400" dirty="0"/>
              <a:t>results in the loss of number or function: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B cells, T cells, or phagocytic cells, complement components, cytokines, or TLRs.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>
                <a:solidFill>
                  <a:srgbClr val="002060"/>
                </a:solidFill>
              </a:rPr>
              <a:t>Chronic granulomatous disease (CGD): 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dirty="0"/>
              <a:t>Impairment of phagocytic cell function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dirty="0"/>
              <a:t>Genetic defect in cytochrome b-558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>
                <a:solidFill>
                  <a:srgbClr val="002060"/>
                </a:solidFill>
              </a:rPr>
              <a:t>Severe combined immunodeficiency (SCID): 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dirty="0"/>
              <a:t>Defects in both B- and T-cell function.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059887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/>
              <a:t>B. Secondary Immunodeficiencies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2400" dirty="0"/>
              <a:t>Associated with infections, malignancies, and drugs.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A. Infections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Induce immunosuppression in host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measles virus infection and EBV infection in mononucleosis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A depression of the DTH skin test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EBV</a:t>
            </a:r>
            <a:r>
              <a:rPr lang="en-US" sz="2000" dirty="0"/>
              <a:t> infects </a:t>
            </a:r>
            <a:r>
              <a:rPr lang="en-US" sz="2000" b="1" dirty="0">
                <a:solidFill>
                  <a:srgbClr val="002060"/>
                </a:solidFill>
              </a:rPr>
              <a:t>B cells</a:t>
            </a:r>
            <a:r>
              <a:rPr lang="en-US" sz="2000" dirty="0"/>
              <a:t>, resulting in a transformed cell that proliferates indefinitely.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EBV genome codes for a human IL-10 analog.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80916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1800" b="1" dirty="0">
                <a:solidFill>
                  <a:srgbClr val="002060"/>
                </a:solidFill>
              </a:rPr>
              <a:t>Cont</a:t>
            </a:r>
            <a:r>
              <a:rPr lang="en-US" sz="20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lnSpcReduction="10000"/>
          </a:bodyPr>
          <a:lstStyle/>
          <a:p>
            <a:endParaRPr lang="en-US" sz="2400" dirty="0"/>
          </a:p>
          <a:p>
            <a:r>
              <a:rPr lang="en-US" sz="2400" dirty="0"/>
              <a:t>A virus-induced immunodeficiency is </a:t>
            </a:r>
            <a:r>
              <a:rPr lang="en-US" sz="2400" b="1" dirty="0"/>
              <a:t>HIV </a:t>
            </a:r>
            <a:r>
              <a:rPr lang="en-US" sz="2400" dirty="0"/>
              <a:t>infection </a:t>
            </a:r>
          </a:p>
          <a:p>
            <a:r>
              <a:rPr lang="en-US" sz="2400" dirty="0"/>
              <a:t>The resulting disease, </a:t>
            </a:r>
            <a:r>
              <a:rPr lang="en-US" sz="2400" b="1" dirty="0">
                <a:solidFill>
                  <a:srgbClr val="002060"/>
                </a:solidFill>
              </a:rPr>
              <a:t>AIDS</a:t>
            </a:r>
            <a:r>
              <a:rPr lang="en-US" sz="2400" dirty="0"/>
              <a:t>. </a:t>
            </a:r>
          </a:p>
          <a:p>
            <a:r>
              <a:rPr lang="en-US" sz="2400" dirty="0"/>
              <a:t>HIV primarily infects </a:t>
            </a:r>
            <a:r>
              <a:rPr lang="en-US" sz="2400" b="1" dirty="0">
                <a:solidFill>
                  <a:srgbClr val="002060"/>
                </a:solidFill>
              </a:rPr>
              <a:t>CD4 T cells</a:t>
            </a:r>
            <a:r>
              <a:rPr lang="en-US" sz="2400" dirty="0"/>
              <a:t>. </a:t>
            </a:r>
          </a:p>
          <a:p>
            <a:r>
              <a:rPr lang="en-US" sz="2400" dirty="0"/>
              <a:t>The virus uses the </a:t>
            </a:r>
            <a:r>
              <a:rPr lang="en-US" sz="2400" b="1" dirty="0">
                <a:solidFill>
                  <a:srgbClr val="002060"/>
                </a:solidFill>
              </a:rPr>
              <a:t>CD4 molecule </a:t>
            </a:r>
            <a:r>
              <a:rPr lang="en-US" sz="2400" dirty="0"/>
              <a:t>itself as the virus receptor 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002060"/>
                </a:solidFill>
              </a:rPr>
              <a:t>chemokine receptor</a:t>
            </a:r>
            <a:r>
              <a:rPr lang="en-US" sz="2400" dirty="0"/>
              <a:t>, CCR5, as a co-receptor to enter the cell.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HIV replication </a:t>
            </a:r>
            <a:r>
              <a:rPr lang="en-US" sz="2400" dirty="0"/>
              <a:t>in CD4 T cells leads to a progressive loss of CD4 T cells and the development of AIDS.</a:t>
            </a:r>
          </a:p>
          <a:p>
            <a:r>
              <a:rPr lang="en-US" sz="2400" dirty="0"/>
              <a:t> As a consequence of this infection, HIV patients develop multiple </a:t>
            </a:r>
            <a:r>
              <a:rPr lang="en-US" sz="2400" b="1" dirty="0">
                <a:solidFill>
                  <a:srgbClr val="002060"/>
                </a:solidFill>
              </a:rPr>
              <a:t>opportunistic infections</a:t>
            </a:r>
            <a:r>
              <a:rPr lang="en-US" sz="2400" dirty="0"/>
              <a:t>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323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D. Malignancy</a:t>
            </a:r>
          </a:p>
          <a:p>
            <a:r>
              <a:rPr lang="en-US" sz="2400" dirty="0"/>
              <a:t>Selected </a:t>
            </a:r>
            <a:r>
              <a:rPr lang="en-US" sz="2400" b="1" dirty="0">
                <a:solidFill>
                  <a:srgbClr val="002060"/>
                </a:solidFill>
              </a:rPr>
              <a:t>leukemias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lymphomas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2060"/>
                </a:solidFill>
              </a:rPr>
              <a:t>multiple myeloma</a:t>
            </a:r>
            <a:r>
              <a:rPr lang="en-US" sz="2400" dirty="0"/>
              <a:t>, and</a:t>
            </a:r>
            <a:br>
              <a:rPr lang="en-US" sz="2400" dirty="0"/>
            </a:br>
            <a:r>
              <a:rPr lang="en-US" sz="2400" dirty="0"/>
              <a:t>other cancers can lead to immunodeficiency and increased</a:t>
            </a:r>
            <a:br>
              <a:rPr lang="en-US" sz="2400" dirty="0"/>
            </a:br>
            <a:r>
              <a:rPr lang="en-US" sz="2400" dirty="0"/>
              <a:t>infections.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Leukemia</a:t>
            </a:r>
            <a:r>
              <a:rPr lang="en-US" sz="2400" dirty="0"/>
              <a:t>: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A deficiency in neutrophils,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Loss of </a:t>
            </a:r>
            <a:r>
              <a:rPr lang="en-US" sz="2000" b="1" dirty="0">
                <a:solidFill>
                  <a:srgbClr val="002060"/>
                </a:solidFill>
              </a:rPr>
              <a:t>phagocytosis</a:t>
            </a:r>
            <a:r>
              <a:rPr lang="en-US" sz="2000" dirty="0"/>
              <a:t> and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Increased infections with bacteria and fungi.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Some tumors</a:t>
            </a:r>
            <a:r>
              <a:rPr lang="en-US" sz="2400" dirty="0"/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secrete high levels of TGF- β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suppress a variety of responses, including Th responses.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180622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</a:rPr>
              <a:t>E. Drugs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</a:rPr>
              <a:t>Cisplatin</a:t>
            </a:r>
            <a:r>
              <a:rPr lang="en-US" sz="2400" dirty="0"/>
              <a:t>: Cytotoxic drugs used to treat cancer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</a:rPr>
              <a:t>Cyclosporine</a:t>
            </a:r>
            <a:r>
              <a:rPr lang="en-US" sz="2400" dirty="0"/>
              <a:t>: immunosuppressive drugs that are used to manage </a:t>
            </a:r>
            <a:r>
              <a:rPr lang="en-US" sz="2400" b="1" dirty="0">
                <a:solidFill>
                  <a:srgbClr val="002060"/>
                </a:solidFill>
              </a:rPr>
              <a:t>transplant patients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</a:rPr>
              <a:t>Anti–TNF-</a:t>
            </a:r>
            <a:r>
              <a:rPr lang="el-GR" sz="2400" b="1" dirty="0">
                <a:solidFill>
                  <a:srgbClr val="002060"/>
                </a:solidFill>
              </a:rPr>
              <a:t>α</a:t>
            </a:r>
            <a:r>
              <a:rPr lang="en-US" sz="2400" dirty="0"/>
              <a:t>: newer anti-</a:t>
            </a:r>
            <a:r>
              <a:rPr lang="en-US" sz="2400" dirty="0" err="1"/>
              <a:t>cytokin</a:t>
            </a:r>
            <a:r>
              <a:rPr lang="en-US" sz="2400" dirty="0"/>
              <a:t> drugs used to treat autoimmune diseases (</a:t>
            </a:r>
            <a:r>
              <a:rPr lang="en-US" sz="2400" dirty="0" err="1"/>
              <a:t>eg</a:t>
            </a:r>
            <a:r>
              <a:rPr lang="en-US" sz="2400" dirty="0"/>
              <a:t>, RA)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All can lead to increased risk of infection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37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4907</Words>
  <Application>Microsoft Office PowerPoint</Application>
  <PresentationFormat>On-screen Show (4:3)</PresentationFormat>
  <Paragraphs>656</Paragraphs>
  <Slides>78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5" baseType="lpstr">
      <vt:lpstr>Arial</vt:lpstr>
      <vt:lpstr>Calibri</vt:lpstr>
      <vt:lpstr>Libre Franklin</vt:lpstr>
      <vt:lpstr>Roboto</vt:lpstr>
      <vt:lpstr>RotisSansSerif</vt:lpstr>
      <vt:lpstr>Wingdings</vt:lpstr>
      <vt:lpstr>Office Theme</vt:lpstr>
      <vt:lpstr>IMMUNE SYSTEM</vt:lpstr>
      <vt:lpstr>Immune system</vt:lpstr>
      <vt:lpstr>PowerPoint Presentation</vt:lpstr>
      <vt:lpstr>Innate Vs Adaptive</vt:lpstr>
      <vt:lpstr>Factors influencing Innate immunity </vt:lpstr>
      <vt:lpstr>Mechanisms of innate immunity </vt:lpstr>
      <vt:lpstr>A. Anatomic barriers/mechanical barriers </vt:lpstr>
      <vt:lpstr>B. Physiologic barriers</vt:lpstr>
      <vt:lpstr>C. Phagocytosis</vt:lpstr>
      <vt:lpstr>PowerPoint Presentation</vt:lpstr>
      <vt:lpstr>D. Inflammatory responses</vt:lpstr>
      <vt:lpstr>PowerPoint Presentation</vt:lpstr>
      <vt:lpstr>PowerPoint Presentation</vt:lpstr>
      <vt:lpstr>PowerPoint Presentation</vt:lpstr>
      <vt:lpstr>2. Adaptive immunity</vt:lpstr>
      <vt:lpstr>Antigens</vt:lpstr>
      <vt:lpstr>Determinants of Antigenicity</vt:lpstr>
      <vt:lpstr>Cont.</vt:lpstr>
      <vt:lpstr>Adjuvants</vt:lpstr>
      <vt:lpstr>Antigenic Specificity</vt:lpstr>
      <vt:lpstr>T cells and APCs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Cont.</vt:lpstr>
      <vt:lpstr>Cont.</vt:lpstr>
      <vt:lpstr>Antibody-mediated (AMI) vs. cell-mediated immunity (CMI)</vt:lpstr>
      <vt:lpstr>CMI</vt:lpstr>
      <vt:lpstr>Passive vs. active immunization</vt:lpstr>
      <vt:lpstr>IMMUNE SYSTEM</vt:lpstr>
      <vt:lpstr>A. Cellular components </vt:lpstr>
      <vt:lpstr>2. Lymphocytes</vt:lpstr>
      <vt:lpstr>T Cell Subsets and their Functions</vt:lpstr>
      <vt:lpstr>PowerPoint Presentation</vt:lpstr>
      <vt:lpstr>B. Molecular components</vt:lpstr>
      <vt:lpstr>2. Antibodies</vt:lpstr>
      <vt:lpstr>PowerPoint Presentation</vt:lpstr>
      <vt:lpstr>Classes (Isotypes of Ig)</vt:lpstr>
      <vt:lpstr>PowerPoint Presentation</vt:lpstr>
      <vt:lpstr>Characteristics of Immunoglobulins</vt:lpstr>
      <vt:lpstr>PowerPoint Presentation</vt:lpstr>
      <vt:lpstr>3. Cytokines</vt:lpstr>
      <vt:lpstr>Classification and Functions</vt:lpstr>
      <vt:lpstr>Cont.</vt:lpstr>
      <vt:lpstr>Clinical Applications</vt:lpstr>
      <vt:lpstr>Complement system</vt:lpstr>
      <vt:lpstr>PowerPoint Presentation</vt:lpstr>
      <vt:lpstr>Complement activations</vt:lpstr>
      <vt:lpstr>1. The Classical Pathway</vt:lpstr>
      <vt:lpstr>Cont.</vt:lpstr>
      <vt:lpstr>2. The Alternative Pathway</vt:lpstr>
      <vt:lpstr>3. Mannan-Binding Lectin (MBL) Pathway</vt:lpstr>
      <vt:lpstr>PowerPoint Presentation</vt:lpstr>
      <vt:lpstr>Biologic Effects of Complement</vt:lpstr>
      <vt:lpstr>Cont.</vt:lpstr>
      <vt:lpstr>Complement Deficiencies and Pathogen Evasion</vt:lpstr>
      <vt:lpstr>Immunopathology</vt:lpstr>
      <vt:lpstr>1. Hypersensitivity</vt:lpstr>
      <vt:lpstr>1. Type I: Immediate Hypersensitivity (Allergy).</vt:lpstr>
      <vt:lpstr>Mechanism of immediate hypersensitivity</vt:lpstr>
      <vt:lpstr>Mediators of type I hypersensitivity and their main effects</vt:lpstr>
      <vt:lpstr>2. Prostaglandins and leukotrienes</vt:lpstr>
      <vt:lpstr>2. Type II: Hypersensitivity</vt:lpstr>
      <vt:lpstr>3. Type III: Immune Complex Hypersensitivity</vt:lpstr>
      <vt:lpstr>Cont.</vt:lpstr>
      <vt:lpstr>Type IV: Cell-Mediated, Delayed Hypersensitivity (DTH)</vt:lpstr>
      <vt:lpstr>Cont.</vt:lpstr>
      <vt:lpstr>B. Tuberculin-Type Hypersensitivity</vt:lpstr>
      <vt:lpstr>Cont.</vt:lpstr>
      <vt:lpstr>Tolerance</vt:lpstr>
      <vt:lpstr>Deficiencies of the immune response</vt:lpstr>
      <vt:lpstr>Primary immunodeficiency diseases</vt:lpstr>
      <vt:lpstr>B. Secondary Immunodeficiencies</vt:lpstr>
      <vt:lpstr>Cont.</vt:lpstr>
      <vt:lpstr>Cont.</vt:lpstr>
      <vt:lpstr>E. Drugs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IMMUNE SYSTEM</dc:title>
  <dc:creator>Shemsu- [2022]</dc:creator>
  <cp:lastModifiedBy>#Kind</cp:lastModifiedBy>
  <cp:revision>245</cp:revision>
  <dcterms:created xsi:type="dcterms:W3CDTF">2023-01-29T06:33:23Z</dcterms:created>
  <dcterms:modified xsi:type="dcterms:W3CDTF">2023-12-02T13:48:09Z</dcterms:modified>
</cp:coreProperties>
</file>