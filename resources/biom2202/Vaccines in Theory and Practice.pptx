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7DD71-A364-4F30-8FCE-E97E5786D52A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4CFAC-9C22-46EA-9D45-A21A96F26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39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Ab, antibody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24CFAC-9C22-46EA-9D45-A21A96F26A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65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Ag, Antigen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24CFAC-9C22-46EA-9D45-A21A96F26A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84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86D7-0FEC-4ACC-B7AE-5EE5C9CE6848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86D52-CC9E-4D1F-B642-05D5E65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39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86D7-0FEC-4ACC-B7AE-5EE5C9CE6848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86D52-CC9E-4D1F-B642-05D5E65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66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86D7-0FEC-4ACC-B7AE-5EE5C9CE6848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86D52-CC9E-4D1F-B642-05D5E65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6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86D7-0FEC-4ACC-B7AE-5EE5C9CE6848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86D52-CC9E-4D1F-B642-05D5E65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0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86D7-0FEC-4ACC-B7AE-5EE5C9CE6848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86D52-CC9E-4D1F-B642-05D5E65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2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86D7-0FEC-4ACC-B7AE-5EE5C9CE6848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86D52-CC9E-4D1F-B642-05D5E65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11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86D7-0FEC-4ACC-B7AE-5EE5C9CE6848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86D52-CC9E-4D1F-B642-05D5E65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17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86D7-0FEC-4ACC-B7AE-5EE5C9CE6848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86D52-CC9E-4D1F-B642-05D5E65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41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86D7-0FEC-4ACC-B7AE-5EE5C9CE6848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86D52-CC9E-4D1F-B642-05D5E65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86D7-0FEC-4ACC-B7AE-5EE5C9CE6848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86D52-CC9E-4D1F-B642-05D5E65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9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A86D7-0FEC-4ACC-B7AE-5EE5C9CE6848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86D52-CC9E-4D1F-B642-05D5E65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4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86D7-0FEC-4ACC-B7AE-5EE5C9CE6848}" type="datetimeFigureOut">
              <a:rPr lang="en-US" smtClean="0"/>
              <a:t>3/27/2022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86D52-CC9E-4D1F-B642-05D5E65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9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1"/>
            <a:ext cx="7772400" cy="2895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b="1" dirty="0"/>
              <a:t>Vaccines in Theory and </a:t>
            </a:r>
            <a:r>
              <a:rPr lang="en-US" sz="3600" b="1" dirty="0" smtClean="0"/>
              <a:t>Practice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96435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2060"/>
                </a:solidFill>
              </a:rPr>
              <a:t>INTRODUCTION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In 1723:Variolation </a:t>
            </a:r>
            <a:r>
              <a:rPr lang="en-US" sz="2400" dirty="0"/>
              <a:t>proved to be protective against smallpox </a:t>
            </a:r>
            <a:endParaRPr lang="en-US" sz="2400" dirty="0" smtClean="0"/>
          </a:p>
          <a:p>
            <a:pPr lvl="2">
              <a:buFont typeface="Wingdings" pitchFamily="2" charset="2"/>
              <a:buChar char="ü"/>
            </a:pPr>
            <a:r>
              <a:rPr lang="en-US" sz="2000" b="1" i="1" dirty="0" err="1">
                <a:solidFill>
                  <a:srgbClr val="002060"/>
                </a:solidFill>
              </a:rPr>
              <a:t>variola</a:t>
            </a:r>
            <a:r>
              <a:rPr lang="en-US" sz="2000" b="1" i="1" dirty="0">
                <a:solidFill>
                  <a:srgbClr val="002060"/>
                </a:solidFill>
              </a:rPr>
              <a:t> </a:t>
            </a:r>
            <a:r>
              <a:rPr lang="en-US" sz="2000" b="1" dirty="0">
                <a:solidFill>
                  <a:srgbClr val="002060"/>
                </a:solidFill>
              </a:rPr>
              <a:t>comes from </a:t>
            </a:r>
            <a:r>
              <a:rPr lang="en-US" sz="2000" b="1" dirty="0" smtClean="0">
                <a:solidFill>
                  <a:srgbClr val="002060"/>
                </a:solidFill>
              </a:rPr>
              <a:t>Latin </a:t>
            </a:r>
            <a:r>
              <a:rPr lang="en-US" sz="2000" b="1" dirty="0">
                <a:solidFill>
                  <a:srgbClr val="002060"/>
                </a:solidFill>
              </a:rPr>
              <a:t>word </a:t>
            </a:r>
            <a:r>
              <a:rPr lang="en-US" sz="2000" b="1" i="1" dirty="0" err="1" smtClean="0">
                <a:solidFill>
                  <a:srgbClr val="002060"/>
                </a:solidFill>
              </a:rPr>
              <a:t>varus</a:t>
            </a:r>
            <a:r>
              <a:rPr lang="en-US" sz="2000" b="1" dirty="0" smtClean="0">
                <a:solidFill>
                  <a:srgbClr val="002060"/>
                </a:solidFill>
              </a:rPr>
              <a:t>, Mark </a:t>
            </a:r>
            <a:r>
              <a:rPr lang="en-US" sz="2000" b="1" dirty="0">
                <a:solidFill>
                  <a:srgbClr val="002060"/>
                </a:solidFill>
              </a:rPr>
              <a:t>on the </a:t>
            </a:r>
            <a:r>
              <a:rPr lang="en-US" sz="2000" b="1" dirty="0" smtClean="0">
                <a:solidFill>
                  <a:srgbClr val="002060"/>
                </a:solidFill>
              </a:rPr>
              <a:t>skin</a:t>
            </a:r>
          </a:p>
          <a:p>
            <a:r>
              <a:rPr lang="en-US" sz="2400" dirty="0"/>
              <a:t>In 1796, </a:t>
            </a:r>
            <a:r>
              <a:rPr lang="en-US" sz="2400" b="1" dirty="0">
                <a:solidFill>
                  <a:srgbClr val="002060"/>
                </a:solidFill>
              </a:rPr>
              <a:t>Edward </a:t>
            </a:r>
            <a:r>
              <a:rPr lang="en-US" sz="2400" b="1" dirty="0" smtClean="0">
                <a:solidFill>
                  <a:srgbClr val="002060"/>
                </a:solidFill>
              </a:rPr>
              <a:t>Jenner</a:t>
            </a:r>
            <a:r>
              <a:rPr lang="en-US" sz="2400" dirty="0" smtClean="0"/>
              <a:t>,</a:t>
            </a:r>
            <a:r>
              <a:rPr lang="en-US" sz="2400" dirty="0"/>
              <a:t> infections with cowpox provided protection from </a:t>
            </a:r>
            <a:r>
              <a:rPr lang="en-US" sz="2400" dirty="0" smtClean="0"/>
              <a:t>smallpox  </a:t>
            </a:r>
            <a:r>
              <a:rPr lang="en-US" sz="2400" b="1" dirty="0" smtClean="0">
                <a:solidFill>
                  <a:srgbClr val="002060"/>
                </a:solidFill>
              </a:rPr>
              <a:t>‘’Vaccination’’</a:t>
            </a:r>
          </a:p>
          <a:p>
            <a:pPr lvl="2">
              <a:buFont typeface="Wingdings" pitchFamily="2" charset="2"/>
              <a:buChar char="ü"/>
            </a:pPr>
            <a:r>
              <a:rPr lang="en-US" sz="2000" b="1" i="1" dirty="0" err="1">
                <a:solidFill>
                  <a:srgbClr val="002060"/>
                </a:solidFill>
              </a:rPr>
              <a:t>vacca</a:t>
            </a:r>
            <a:r>
              <a:rPr lang="en-US" sz="2000" b="1" dirty="0">
                <a:solidFill>
                  <a:srgbClr val="002060"/>
                </a:solidFill>
              </a:rPr>
              <a:t>, meaning “cow</a:t>
            </a:r>
            <a:r>
              <a:rPr lang="en-US" sz="2000" b="1" dirty="0" smtClean="0">
                <a:solidFill>
                  <a:srgbClr val="002060"/>
                </a:solidFill>
              </a:rPr>
              <a:t>,”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Louis </a:t>
            </a:r>
            <a:r>
              <a:rPr lang="en-US" sz="2400" b="1" dirty="0" smtClean="0">
                <a:solidFill>
                  <a:srgbClr val="002060"/>
                </a:solidFill>
              </a:rPr>
              <a:t>Pasteur</a:t>
            </a:r>
            <a:r>
              <a:rPr lang="en-US" sz="2400" dirty="0" smtClean="0"/>
              <a:t>: </a:t>
            </a:r>
            <a:r>
              <a:rPr lang="en-US" sz="2400" dirty="0"/>
              <a:t>developed vaccines for </a:t>
            </a:r>
            <a:r>
              <a:rPr lang="en-US" sz="2400" dirty="0" smtClean="0"/>
              <a:t>chicken cholera</a:t>
            </a:r>
            <a:r>
              <a:rPr lang="en-US" sz="2400" dirty="0"/>
              <a:t>, rabies, and anthrax by using weakened </a:t>
            </a:r>
            <a:r>
              <a:rPr lang="en-US" sz="2400" dirty="0" smtClean="0"/>
              <a:t>organisms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137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 smtClean="0"/>
              <a:t>Vaccines administration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Vaccines are administered by </a:t>
            </a:r>
            <a:endParaRPr lang="en-US" sz="2400" dirty="0" smtClean="0"/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Subcutaneous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Intramuscular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 b="1" u="sng" dirty="0" smtClean="0">
                <a:solidFill>
                  <a:srgbClr val="002060"/>
                </a:solidFill>
              </a:rPr>
              <a:t>Mucosal routes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200" dirty="0" smtClean="0"/>
              <a:t>Stimulate local immune responses to microbes at point of entry into the body. </a:t>
            </a:r>
          </a:p>
          <a:p>
            <a:pPr marL="0" indent="0">
              <a:buNone/>
            </a:pPr>
            <a:r>
              <a:rPr lang="en-US" sz="2200" dirty="0" smtClean="0"/>
              <a:t>Advantageous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Prevent both infection and dissemination to critical organs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 smtClean="0"/>
              <a:t>Easy to administer</a:t>
            </a:r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2895600" y="1981200"/>
            <a:ext cx="762000" cy="533400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657600" y="1946564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Stimulates </a:t>
            </a:r>
            <a:r>
              <a:rPr lang="en-US" dirty="0"/>
              <a:t>systemic immunity in the </a:t>
            </a:r>
            <a:r>
              <a:rPr lang="en-US" dirty="0" smtClean="0"/>
              <a:t>spleen, lymph </a:t>
            </a:r>
            <a:r>
              <a:rPr lang="en-US" dirty="0"/>
              <a:t>nodes, and peripheral blood. </a:t>
            </a:r>
          </a:p>
        </p:txBody>
      </p:sp>
    </p:spTree>
    <p:extLst>
      <p:ext uri="{BB962C8B-B14F-4D97-AF65-F5344CB8AC3E}">
        <p14:creationId xmlns:p14="http://schemas.microsoft.com/office/powerpoint/2010/main" val="2558623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2000" dirty="0" smtClean="0"/>
              <a:t>Cont.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route of administration determines which mucosal surface is stimulated by microbial agents. 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2060"/>
                </a:solidFill>
              </a:rPr>
              <a:t>Oral</a:t>
            </a:r>
            <a:r>
              <a:rPr lang="en-US" sz="2400" dirty="0" smtClean="0"/>
              <a:t>:  induces Ab </a:t>
            </a:r>
            <a:r>
              <a:rPr lang="en-US" sz="2400" dirty="0"/>
              <a:t>responses in </a:t>
            </a:r>
            <a:r>
              <a:rPr lang="en-US" sz="2400" dirty="0" smtClean="0"/>
              <a:t>small </a:t>
            </a:r>
            <a:r>
              <a:rPr lang="en-US" sz="2400" dirty="0"/>
              <a:t>intestine, </a:t>
            </a:r>
            <a:r>
              <a:rPr lang="en-US" sz="2400" dirty="0" smtClean="0"/>
              <a:t>ascending colon</a:t>
            </a:r>
            <a:r>
              <a:rPr lang="en-US" sz="2400" dirty="0"/>
              <a:t>, and mammary and salivary glands. 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2060"/>
                </a:solidFill>
              </a:rPr>
              <a:t>Nasal: </a:t>
            </a:r>
            <a:r>
              <a:rPr lang="en-US" sz="2400" dirty="0" smtClean="0"/>
              <a:t>protects upper </a:t>
            </a:r>
            <a:r>
              <a:rPr lang="en-US" sz="2400" dirty="0"/>
              <a:t>airways and </a:t>
            </a:r>
            <a:r>
              <a:rPr lang="en-US" sz="2400" dirty="0" smtClean="0"/>
              <a:t>lungs but has </a:t>
            </a:r>
            <a:r>
              <a:rPr lang="en-US" sz="2400" dirty="0"/>
              <a:t>no </a:t>
            </a:r>
            <a:r>
              <a:rPr lang="en-US" sz="2400" dirty="0" smtClean="0"/>
              <a:t>effect </a:t>
            </a:r>
            <a:r>
              <a:rPr lang="en-US" sz="2400" dirty="0"/>
              <a:t>on </a:t>
            </a:r>
            <a:r>
              <a:rPr lang="en-US" sz="2400" dirty="0" smtClean="0"/>
              <a:t>lymphoid </a:t>
            </a:r>
            <a:r>
              <a:rPr lang="en-US" sz="2400" dirty="0"/>
              <a:t>tissue in </a:t>
            </a:r>
            <a:r>
              <a:rPr lang="en-US" sz="2400" dirty="0" smtClean="0"/>
              <a:t>gut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6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b="1" dirty="0" smtClean="0"/>
              <a:t>Types of Vaccines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Live, attenuated </a:t>
            </a:r>
            <a:r>
              <a:rPr lang="en-US" sz="2400" dirty="0" smtClean="0"/>
              <a:t>vaccines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Inactivated vaccines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Subunit vaccines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Toxoid vaccines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Conjugate vaccines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Recombinant </a:t>
            </a:r>
            <a:r>
              <a:rPr lang="en-US" sz="2400" dirty="0"/>
              <a:t>vector </a:t>
            </a:r>
            <a:r>
              <a:rPr lang="en-US" sz="2400" dirty="0" smtClean="0"/>
              <a:t>vaccines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err="1" smtClean="0"/>
              <a:t>Virosomes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Plant </a:t>
            </a:r>
            <a:r>
              <a:rPr lang="en-US" sz="2400" dirty="0"/>
              <a:t>vaccines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72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Live Attenuated </a:t>
            </a:r>
            <a:r>
              <a:rPr lang="en-US" sz="2800" b="1" dirty="0" smtClean="0"/>
              <a:t>Vaccines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Attenuation</a:t>
            </a:r>
            <a:r>
              <a:rPr lang="en-US" sz="2400" dirty="0"/>
              <a:t>, which reduces virulence while maintaining immunogenicity. 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Microbes </a:t>
            </a:r>
            <a:r>
              <a:rPr lang="en-US" sz="2400" dirty="0"/>
              <a:t>are passed </a:t>
            </a:r>
            <a:r>
              <a:rPr lang="en-US" sz="2400" dirty="0" smtClean="0"/>
              <a:t>through;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 smtClean="0"/>
              <a:t>Unnatural </a:t>
            </a:r>
            <a:r>
              <a:rPr lang="en-US" sz="2000" dirty="0"/>
              <a:t>hosts</a:t>
            </a:r>
            <a:r>
              <a:rPr lang="en-US" sz="2000" dirty="0" smtClean="0"/>
              <a:t>,</a:t>
            </a:r>
            <a:r>
              <a:rPr lang="en-US" sz="2000" dirty="0"/>
              <a:t> </a:t>
            </a:r>
            <a:r>
              <a:rPr lang="en-US" sz="2000" dirty="0" smtClean="0"/>
              <a:t>grown </a:t>
            </a:r>
            <a:r>
              <a:rPr lang="en-US" sz="2000" dirty="0"/>
              <a:t>on unusual media, or exposed to harsh chemicals </a:t>
            </a:r>
            <a:r>
              <a:rPr lang="en-US" sz="2000" dirty="0" smtClean="0"/>
              <a:t>for extended periods.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 smtClean="0"/>
              <a:t>lose the </a:t>
            </a:r>
            <a:r>
              <a:rPr lang="en-US" sz="2000" dirty="0"/>
              <a:t>critical genes necessary to produce virulence factors</a:t>
            </a:r>
            <a:r>
              <a:rPr lang="en-US" sz="20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i="1" dirty="0" smtClean="0">
                <a:solidFill>
                  <a:srgbClr val="002060"/>
                </a:solidFill>
              </a:rPr>
              <a:t>Rationale </a:t>
            </a:r>
            <a:r>
              <a:rPr lang="en-US" sz="2400" b="1" i="1" dirty="0">
                <a:solidFill>
                  <a:srgbClr val="002060"/>
                </a:solidFill>
              </a:rPr>
              <a:t>attenuation </a:t>
            </a:r>
            <a:r>
              <a:rPr lang="en-US" sz="2400" dirty="0"/>
              <a:t>inactivates or removes virulence genes by targeted mutation or </a:t>
            </a:r>
            <a:r>
              <a:rPr lang="en-US" sz="2400" dirty="0" smtClean="0"/>
              <a:t>gene deletion.</a:t>
            </a:r>
          </a:p>
        </p:txBody>
      </p:sp>
    </p:spTree>
    <p:extLst>
      <p:ext uri="{BB962C8B-B14F-4D97-AF65-F5344CB8AC3E}">
        <p14:creationId xmlns:p14="http://schemas.microsoft.com/office/powerpoint/2010/main" val="158904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2000" dirty="0" smtClean="0"/>
              <a:t>Cont.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Viruses are relatively easy to attenuate. 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Sabin polio, 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2060"/>
                </a:solidFill>
              </a:rPr>
              <a:t>Measles–mumps–rubella </a:t>
            </a:r>
            <a:r>
              <a:rPr lang="en-US" sz="2400" b="1" dirty="0">
                <a:solidFill>
                  <a:srgbClr val="002060"/>
                </a:solidFill>
              </a:rPr>
              <a:t>(MMR), 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2060"/>
                </a:solidFill>
              </a:rPr>
              <a:t>Chickenpox</a:t>
            </a:r>
            <a:r>
              <a:rPr lang="en-US" sz="2400" b="1" dirty="0">
                <a:solidFill>
                  <a:srgbClr val="002060"/>
                </a:solidFill>
              </a:rPr>
              <a:t>, 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2060"/>
                </a:solidFill>
              </a:rPr>
              <a:t>Herpes </a:t>
            </a:r>
            <a:r>
              <a:rPr lang="en-US" sz="2400" b="1" dirty="0">
                <a:solidFill>
                  <a:srgbClr val="002060"/>
                </a:solidFill>
              </a:rPr>
              <a:t>zoster, and </a:t>
            </a:r>
            <a:endParaRPr lang="en-US" sz="24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2060"/>
                </a:solidFill>
              </a:rPr>
              <a:t>Hepatitis </a:t>
            </a:r>
            <a:r>
              <a:rPr lang="en-US" sz="2400" b="1" dirty="0">
                <a:solidFill>
                  <a:srgbClr val="002060"/>
                </a:solidFill>
              </a:rPr>
              <a:t>A </a:t>
            </a:r>
            <a:r>
              <a:rPr lang="en-US" sz="2400" b="1" dirty="0" smtClean="0">
                <a:solidFill>
                  <a:srgbClr val="002060"/>
                </a:solidFill>
              </a:rPr>
              <a:t>vaccines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Attenuated </a:t>
            </a:r>
            <a:r>
              <a:rPr lang="en-US" sz="2400" i="1" dirty="0" smtClean="0"/>
              <a:t>M. </a:t>
            </a:r>
            <a:r>
              <a:rPr lang="en-US" sz="2400" i="1" dirty="0"/>
              <a:t>bovis</a:t>
            </a:r>
            <a:r>
              <a:rPr lang="en-US" sz="2400" dirty="0"/>
              <a:t>, known </a:t>
            </a:r>
            <a:r>
              <a:rPr lang="en-US" sz="2400" dirty="0" smtClean="0"/>
              <a:t>as </a:t>
            </a:r>
            <a:r>
              <a:rPr lang="en-US" sz="2400" i="1" dirty="0" err="1" smtClean="0"/>
              <a:t>Bacille</a:t>
            </a:r>
            <a:r>
              <a:rPr lang="en-US" sz="2400" i="1" dirty="0" smtClean="0"/>
              <a:t> </a:t>
            </a:r>
            <a:r>
              <a:rPr lang="en-US" sz="2400" i="1" dirty="0" err="1"/>
              <a:t>Calmette-Guérin</a:t>
            </a:r>
            <a:r>
              <a:rPr lang="en-US" sz="2400" i="1" dirty="0"/>
              <a:t> (BCG</a:t>
            </a:r>
            <a:r>
              <a:rPr lang="en-US" sz="2400" i="1" dirty="0" smtClean="0"/>
              <a:t>)</a:t>
            </a:r>
          </a:p>
          <a:p>
            <a:pPr marL="0" indent="0">
              <a:buNone/>
            </a:pP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  <a:p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4648200" y="1447800"/>
            <a:ext cx="1295400" cy="1676400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791200" y="2078182"/>
            <a:ext cx="23622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Contain </a:t>
            </a:r>
            <a:r>
              <a:rPr lang="en-US" dirty="0"/>
              <a:t>live </a:t>
            </a:r>
            <a:r>
              <a:rPr lang="en-US" dirty="0" smtClean="0"/>
              <a:t>attenuated Vaccines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786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pPr algn="r"/>
            <a:r>
              <a:rPr lang="en-US" sz="1800" dirty="0" smtClean="0"/>
              <a:t>Cont.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Advantage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Body does not differentiate b/n an attenuated microbe and a wild type microbe, and both elicit a vigorous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long-lasting immune response.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only one immunization is required for lasting protection.</a:t>
            </a:r>
            <a:endParaRPr lang="en-US" sz="24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2060"/>
                </a:solidFill>
              </a:rPr>
              <a:t>Disadvantages</a:t>
            </a:r>
            <a:endParaRPr lang="en-US" b="1" dirty="0" smtClean="0">
              <a:solidFill>
                <a:srgbClr val="002060"/>
              </a:solidFill>
            </a:endParaRPr>
          </a:p>
          <a:p>
            <a:r>
              <a:rPr lang="en-US" sz="2400" dirty="0"/>
              <a:t>Viruses used in vaccines can mutate and </a:t>
            </a:r>
            <a:r>
              <a:rPr lang="en-US" sz="2400" dirty="0" smtClean="0"/>
              <a:t>revert to </a:t>
            </a:r>
            <a:r>
              <a:rPr lang="en-US" sz="2400" dirty="0"/>
              <a:t>being virulent organisms</a:t>
            </a:r>
            <a:r>
              <a:rPr lang="en-US" sz="2400" dirty="0" smtClean="0"/>
              <a:t>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36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 smtClean="0"/>
              <a:t>2. Inactivated Vaccines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Consist </a:t>
            </a:r>
            <a:r>
              <a:rPr lang="en-US" sz="2400" dirty="0"/>
              <a:t>of organisms killed by </a:t>
            </a:r>
            <a:r>
              <a:rPr lang="en-US" sz="2400" dirty="0" smtClean="0"/>
              <a:t>physical or </a:t>
            </a:r>
            <a:r>
              <a:rPr lang="en-US" sz="2400" dirty="0"/>
              <a:t>chemical means.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Advantage </a:t>
            </a:r>
          </a:p>
          <a:p>
            <a:r>
              <a:rPr lang="en-US" sz="2400" dirty="0" smtClean="0"/>
              <a:t>Do </a:t>
            </a:r>
            <a:r>
              <a:rPr lang="en-US" sz="2400" dirty="0"/>
              <a:t>not revert to the virulent state and pose little </a:t>
            </a:r>
            <a:r>
              <a:rPr lang="en-US" sz="2400" dirty="0" smtClean="0"/>
              <a:t>health risk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2060"/>
                </a:solidFill>
              </a:rPr>
              <a:t>Disadvantages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Only weakly </a:t>
            </a:r>
            <a:r>
              <a:rPr lang="en-US" sz="2000" dirty="0"/>
              <a:t>immunogenic and </a:t>
            </a:r>
            <a:r>
              <a:rPr lang="en-US" sz="2000" dirty="0" smtClean="0"/>
              <a:t>often </a:t>
            </a:r>
            <a:r>
              <a:rPr lang="en-US" sz="2000" dirty="0"/>
              <a:t>require booster immunizations to achieve lasting protection. 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The </a:t>
            </a:r>
            <a:r>
              <a:rPr lang="en-US" sz="2400" b="1" dirty="0">
                <a:solidFill>
                  <a:srgbClr val="002060"/>
                </a:solidFill>
              </a:rPr>
              <a:t>Salk polio </a:t>
            </a:r>
            <a:r>
              <a:rPr lang="en-US" sz="2400" dirty="0"/>
              <a:t>and </a:t>
            </a:r>
            <a:r>
              <a:rPr lang="en-US" sz="2400" dirty="0" smtClean="0"/>
              <a:t>some seasonal </a:t>
            </a:r>
            <a:r>
              <a:rPr lang="en-US" sz="2400" b="1" dirty="0" smtClean="0">
                <a:solidFill>
                  <a:srgbClr val="002060"/>
                </a:solidFill>
              </a:rPr>
              <a:t>influenza </a:t>
            </a:r>
            <a:r>
              <a:rPr lang="en-US" sz="2400" dirty="0"/>
              <a:t>vaccines contain inactivated viruses</a:t>
            </a:r>
            <a:r>
              <a:rPr lang="en-US" sz="2400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937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 smtClean="0"/>
              <a:t>3. Subunit Vaccines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Whole-cell vaccines </a:t>
            </a:r>
            <a:r>
              <a:rPr lang="en-US" sz="2400" dirty="0" smtClean="0"/>
              <a:t>often </a:t>
            </a:r>
            <a:r>
              <a:rPr lang="en-US" sz="2400" dirty="0"/>
              <a:t>contain </a:t>
            </a:r>
            <a:r>
              <a:rPr lang="en-US" sz="2400" dirty="0" smtClean="0"/>
              <a:t>non-antigenic </a:t>
            </a:r>
            <a:r>
              <a:rPr lang="en-US" sz="2400" dirty="0"/>
              <a:t>molecules </a:t>
            </a:r>
            <a:r>
              <a:rPr lang="en-US" sz="2400" dirty="0" smtClean="0"/>
              <a:t>that can </a:t>
            </a:r>
            <a:r>
              <a:rPr lang="en-US" sz="2400" dirty="0"/>
              <a:t>cause rare systemic and </a:t>
            </a:r>
            <a:endParaRPr lang="en-US" sz="2400" dirty="0" smtClean="0"/>
          </a:p>
          <a:p>
            <a:r>
              <a:rPr lang="en-US" sz="2400" dirty="0" smtClean="0"/>
              <a:t>Frequent </a:t>
            </a:r>
            <a:r>
              <a:rPr lang="en-US" sz="2400" dirty="0"/>
              <a:t>local adverse health </a:t>
            </a:r>
            <a:r>
              <a:rPr lang="en-US" sz="2400" dirty="0" smtClean="0"/>
              <a:t>effects.</a:t>
            </a:r>
          </a:p>
          <a:p>
            <a:r>
              <a:rPr lang="en-US" sz="2400" dirty="0"/>
              <a:t>Toxicity is reduced by eliminating all </a:t>
            </a:r>
            <a:r>
              <a:rPr lang="en-US" sz="2400" dirty="0" smtClean="0"/>
              <a:t>non-antigenic molecules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pertussis component </a:t>
            </a:r>
            <a:r>
              <a:rPr lang="en-US" sz="2400" dirty="0" smtClean="0"/>
              <a:t>DPT </a:t>
            </a:r>
            <a:r>
              <a:rPr lang="en-US" sz="2400" dirty="0"/>
              <a:t>vaccine </a:t>
            </a:r>
            <a:endParaRPr lang="en-US" sz="2400" dirty="0" smtClean="0"/>
          </a:p>
          <a:p>
            <a:pPr lvl="1"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</a:rPr>
              <a:t>Comprises </a:t>
            </a:r>
            <a:r>
              <a:rPr lang="en-US" sz="2000" b="1" dirty="0">
                <a:solidFill>
                  <a:srgbClr val="002060"/>
                </a:solidFill>
              </a:rPr>
              <a:t>inactivated pertussis toxin, </a:t>
            </a:r>
            <a:r>
              <a:rPr lang="en-US" sz="2000" b="1" dirty="0" smtClean="0">
                <a:solidFill>
                  <a:srgbClr val="002060"/>
                </a:solidFill>
              </a:rPr>
              <a:t>purified filamentous hemagglutinin, fimbriae, </a:t>
            </a:r>
            <a:r>
              <a:rPr lang="en-US" sz="2000" b="1" dirty="0">
                <a:solidFill>
                  <a:srgbClr val="002060"/>
                </a:solidFill>
              </a:rPr>
              <a:t>and pertactin. </a:t>
            </a:r>
            <a:endParaRPr lang="en-US" sz="20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They </a:t>
            </a:r>
            <a:r>
              <a:rPr lang="en-US" sz="2400" dirty="0"/>
              <a:t>do not cause </a:t>
            </a:r>
            <a:r>
              <a:rPr lang="en-US" sz="2400" dirty="0" smtClean="0"/>
              <a:t>infections and </a:t>
            </a:r>
            <a:r>
              <a:rPr lang="en-US" sz="2400" dirty="0"/>
              <a:t>pose little </a:t>
            </a:r>
            <a:r>
              <a:rPr lang="en-US" sz="2400" dirty="0" smtClean="0"/>
              <a:t>risk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63457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Toxoid </a:t>
            </a:r>
            <a:r>
              <a:rPr lang="en-US" sz="2400" b="1" dirty="0" smtClean="0">
                <a:solidFill>
                  <a:srgbClr val="002060"/>
                </a:solidFill>
              </a:rPr>
              <a:t>Vaccines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Modified </a:t>
            </a:r>
            <a:r>
              <a:rPr lang="en-US" sz="2400" dirty="0"/>
              <a:t>bacterial exotoxins known as </a:t>
            </a:r>
            <a:r>
              <a:rPr lang="en-US" sz="2400" i="1" dirty="0"/>
              <a:t>toxoids </a:t>
            </a:r>
            <a:r>
              <a:rPr lang="en-US" sz="2400" dirty="0"/>
              <a:t>are used in vaccines. </a:t>
            </a:r>
            <a:endParaRPr lang="en-US" sz="2400" dirty="0" smtClean="0"/>
          </a:p>
          <a:p>
            <a:r>
              <a:rPr lang="en-US" sz="2400" dirty="0" smtClean="0"/>
              <a:t>Toxins </a:t>
            </a:r>
            <a:r>
              <a:rPr lang="en-US" sz="2400" dirty="0"/>
              <a:t>are treated with iodine, pepsin, ascorbic acid, </a:t>
            </a:r>
            <a:r>
              <a:rPr lang="en-US" sz="2400" dirty="0" smtClean="0"/>
              <a:t>or formalin to reduce toxicity </a:t>
            </a:r>
            <a:r>
              <a:rPr lang="en-US" sz="2400" dirty="0"/>
              <a:t>while retaining the ability to stimulate an </a:t>
            </a:r>
            <a:r>
              <a:rPr lang="en-US" sz="2400" dirty="0" smtClean="0"/>
              <a:t>immune response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Abs directed </a:t>
            </a:r>
            <a:r>
              <a:rPr lang="en-US" sz="2400" dirty="0"/>
              <a:t>at the toxoid neutralize </a:t>
            </a:r>
            <a:r>
              <a:rPr lang="en-US" sz="2400" dirty="0" smtClean="0"/>
              <a:t>exotoxins</a:t>
            </a:r>
          </a:p>
          <a:p>
            <a:r>
              <a:rPr lang="en-US" sz="2400" dirty="0" smtClean="0"/>
              <a:t> </a:t>
            </a:r>
            <a:r>
              <a:rPr lang="en-US" sz="2400" b="1" dirty="0">
                <a:solidFill>
                  <a:srgbClr val="002060"/>
                </a:solidFill>
              </a:rPr>
              <a:t>Diphtheria and tetanus vaccines </a:t>
            </a:r>
            <a:r>
              <a:rPr lang="en-US" sz="2400" dirty="0"/>
              <a:t>contain </a:t>
            </a:r>
            <a:r>
              <a:rPr lang="en-US" sz="2400" dirty="0" smtClean="0"/>
              <a:t>toxoids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583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/>
              <a:t>Conjugate </a:t>
            </a:r>
            <a:r>
              <a:rPr lang="en-US" sz="2400" b="1" dirty="0" smtClean="0"/>
              <a:t>Vaccines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Polysaccharide capsules </a:t>
            </a:r>
            <a:r>
              <a:rPr lang="en-US" sz="2400" dirty="0"/>
              <a:t>are the major virulence factors for</a:t>
            </a:r>
            <a:br>
              <a:rPr lang="en-US" sz="2400" dirty="0"/>
            </a:br>
            <a:r>
              <a:rPr lang="en-US" sz="2400" dirty="0"/>
              <a:t>pneumococcus and </a:t>
            </a:r>
            <a:r>
              <a:rPr lang="en-US" sz="2400" i="1" dirty="0"/>
              <a:t>Pseudomonas </a:t>
            </a:r>
            <a:r>
              <a:rPr lang="en-US" sz="2400" dirty="0"/>
              <a:t>but have </a:t>
            </a:r>
            <a:endParaRPr lang="en-US" sz="2400" dirty="0" smtClean="0"/>
          </a:p>
          <a:p>
            <a:r>
              <a:rPr lang="en-US" sz="2400" dirty="0" smtClean="0"/>
              <a:t>Limited usefulness in </a:t>
            </a:r>
            <a:r>
              <a:rPr lang="en-US" sz="2400" dirty="0"/>
              <a:t>vaccines </a:t>
            </a:r>
            <a:endParaRPr lang="en-US" sz="2400" dirty="0" smtClean="0"/>
          </a:p>
          <a:p>
            <a:r>
              <a:rPr lang="en-US" sz="2400" dirty="0" smtClean="0"/>
              <a:t>poor </a:t>
            </a:r>
            <a:r>
              <a:rPr lang="en-US" sz="2400" dirty="0"/>
              <a:t>immunogens and type II </a:t>
            </a:r>
            <a:r>
              <a:rPr lang="en-US" sz="2400" dirty="0" smtClean="0"/>
              <a:t>T cell–independent Ags</a:t>
            </a:r>
            <a:endParaRPr lang="en-US" dirty="0"/>
          </a:p>
          <a:p>
            <a:r>
              <a:rPr lang="en-US" sz="2400" dirty="0" smtClean="0"/>
              <a:t>Capsular </a:t>
            </a:r>
            <a:r>
              <a:rPr lang="en-US" sz="2400" dirty="0"/>
              <a:t>polysaccharides are usually conjugated </a:t>
            </a:r>
            <a:r>
              <a:rPr lang="en-US" sz="2400" dirty="0" smtClean="0"/>
              <a:t>to;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Tetanus toxoid (</a:t>
            </a:r>
            <a:r>
              <a:rPr lang="en-US" sz="2000" i="1" dirty="0" smtClean="0"/>
              <a:t>Haemophilus </a:t>
            </a:r>
            <a:r>
              <a:rPr lang="en-US" sz="2000" dirty="0" smtClean="0"/>
              <a:t>vaccine),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Diphtheria protein (</a:t>
            </a:r>
            <a:r>
              <a:rPr lang="en-US" sz="2000" i="1" dirty="0" smtClean="0"/>
              <a:t>Pneumococcus</a:t>
            </a:r>
            <a:r>
              <a:rPr lang="en-US" sz="2000" dirty="0"/>
              <a:t>), </a:t>
            </a:r>
            <a:r>
              <a:rPr lang="en-US" sz="2000" dirty="0" smtClean="0"/>
              <a:t>or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 smtClean="0"/>
              <a:t>Outer </a:t>
            </a:r>
            <a:r>
              <a:rPr lang="en-US" sz="2000" dirty="0"/>
              <a:t>membrane complex from </a:t>
            </a:r>
            <a:r>
              <a:rPr lang="en-US" sz="2000" i="1" dirty="0"/>
              <a:t>Neisseria </a:t>
            </a:r>
            <a:r>
              <a:rPr lang="en-US" sz="2000" i="1" dirty="0" err="1"/>
              <a:t>meningitidis</a:t>
            </a:r>
            <a:r>
              <a:rPr lang="en-US" sz="2000" i="1" dirty="0"/>
              <a:t> </a:t>
            </a:r>
            <a:r>
              <a:rPr lang="en-US" sz="2000" dirty="0" err="1" smtClean="0"/>
              <a:t>serogroup</a:t>
            </a:r>
            <a:r>
              <a:rPr lang="en-US" sz="2000" dirty="0"/>
              <a:t> </a:t>
            </a:r>
            <a:r>
              <a:rPr lang="en-US" sz="2000" dirty="0" smtClean="0"/>
              <a:t>B.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79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Reassortment </a:t>
            </a:r>
            <a:r>
              <a:rPr lang="en-US" sz="2800" b="1" dirty="0" smtClean="0"/>
              <a:t>Vaccines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Contain </a:t>
            </a:r>
            <a:r>
              <a:rPr lang="en-US" sz="2400" dirty="0"/>
              <a:t>a </a:t>
            </a:r>
            <a:r>
              <a:rPr lang="en-US" sz="2400" dirty="0" smtClean="0"/>
              <a:t>non-infective </a:t>
            </a:r>
            <a:r>
              <a:rPr lang="en-US" sz="2400" dirty="0"/>
              <a:t>virus </a:t>
            </a:r>
            <a:r>
              <a:rPr lang="en-US" sz="2400" dirty="0" smtClean="0"/>
              <a:t>that expresses Ags </a:t>
            </a:r>
            <a:r>
              <a:rPr lang="en-US" sz="2400" dirty="0"/>
              <a:t>from multiple human and animal strains </a:t>
            </a:r>
            <a:r>
              <a:rPr lang="en-US" sz="2400" dirty="0" smtClean="0"/>
              <a:t>of the </a:t>
            </a:r>
            <a:r>
              <a:rPr lang="en-US" sz="2400" dirty="0"/>
              <a:t>same virus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</a:t>
            </a:r>
            <a:r>
              <a:rPr lang="en-US" sz="2400" dirty="0"/>
              <a:t>chicken egg can be infected </a:t>
            </a:r>
            <a:r>
              <a:rPr lang="en-US" sz="2400" dirty="0" smtClean="0"/>
              <a:t>with two different </a:t>
            </a:r>
            <a:r>
              <a:rPr lang="en-US" sz="2400" dirty="0"/>
              <a:t>viruses. </a:t>
            </a:r>
            <a:endParaRPr lang="en-US" sz="2400" dirty="0" smtClean="0"/>
          </a:p>
          <a:p>
            <a:r>
              <a:rPr lang="en-US" sz="2400" dirty="0" smtClean="0"/>
              <a:t>One </a:t>
            </a:r>
            <a:r>
              <a:rPr lang="en-US" sz="2400" dirty="0"/>
              <a:t>strain can infect humans, </a:t>
            </a:r>
            <a:r>
              <a:rPr lang="en-US" sz="2400" dirty="0" smtClean="0"/>
              <a:t>while </a:t>
            </a:r>
          </a:p>
          <a:p>
            <a:r>
              <a:rPr lang="en-US" sz="2400" dirty="0" smtClean="0"/>
              <a:t>Other </a:t>
            </a:r>
            <a:r>
              <a:rPr lang="en-US" sz="2400" dirty="0"/>
              <a:t>strain is </a:t>
            </a:r>
            <a:r>
              <a:rPr lang="en-US" sz="2400" dirty="0" smtClean="0"/>
              <a:t>non-infective </a:t>
            </a:r>
            <a:r>
              <a:rPr lang="en-US" sz="2400" dirty="0"/>
              <a:t>but grows well in </a:t>
            </a:r>
            <a:r>
              <a:rPr lang="en-US" sz="2400" dirty="0" smtClean="0"/>
              <a:t>eggs.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Genetic </a:t>
            </a:r>
            <a:r>
              <a:rPr lang="en-US" sz="2400" b="1" dirty="0">
                <a:solidFill>
                  <a:srgbClr val="002060"/>
                </a:solidFill>
              </a:rPr>
              <a:t>reassortments </a:t>
            </a:r>
            <a:r>
              <a:rPr lang="en-US" sz="2400" dirty="0"/>
              <a:t>in the egg produces a virus that </a:t>
            </a:r>
            <a:r>
              <a:rPr lang="en-US" sz="2400" dirty="0" smtClean="0"/>
              <a:t>expresses the Ags </a:t>
            </a:r>
            <a:r>
              <a:rPr lang="en-US" sz="2400" dirty="0"/>
              <a:t>from the infective virus but is </a:t>
            </a:r>
            <a:r>
              <a:rPr lang="en-US" sz="2400" dirty="0" smtClean="0"/>
              <a:t>non-infective and grows </a:t>
            </a:r>
            <a:r>
              <a:rPr lang="en-US" sz="2400" dirty="0"/>
              <a:t>well in eggs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 smtClean="0"/>
              <a:t>Rotavirus vaccine.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4549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/>
              <a:t>Recombinant Bacterial </a:t>
            </a:r>
            <a:r>
              <a:rPr lang="en-US" sz="2400" b="1" dirty="0" smtClean="0"/>
              <a:t>Vaccines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Plasmids containing </a:t>
            </a:r>
            <a:r>
              <a:rPr lang="en-US" sz="2400" dirty="0" smtClean="0"/>
              <a:t>Ag </a:t>
            </a:r>
            <a:r>
              <a:rPr lang="en-US" sz="2400" dirty="0"/>
              <a:t>genes from virulent </a:t>
            </a:r>
            <a:r>
              <a:rPr lang="en-US" sz="2400" dirty="0" smtClean="0"/>
              <a:t>organisms are </a:t>
            </a:r>
            <a:r>
              <a:rPr lang="en-US" sz="2400" dirty="0"/>
              <a:t>inserted into nonpathogenic commensal organisms </a:t>
            </a:r>
            <a:r>
              <a:rPr lang="en-US" sz="2400" dirty="0" smtClean="0"/>
              <a:t>such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i="1" dirty="0" smtClean="0"/>
              <a:t>Lactobacillus</a:t>
            </a:r>
            <a:r>
              <a:rPr lang="en-US" sz="2000" dirty="0"/>
              <a:t>, </a:t>
            </a:r>
            <a:r>
              <a:rPr lang="en-US" sz="2000" i="1" dirty="0" err="1"/>
              <a:t>Lactococcus</a:t>
            </a:r>
            <a:r>
              <a:rPr lang="en-US" sz="2000" dirty="0"/>
              <a:t>, or </a:t>
            </a:r>
            <a:r>
              <a:rPr lang="en-US" sz="2000" i="1" dirty="0"/>
              <a:t>Streptococcus </a:t>
            </a:r>
            <a:r>
              <a:rPr lang="en-US" sz="2000" i="1" dirty="0" err="1"/>
              <a:t>gordonii</a:t>
            </a:r>
            <a:r>
              <a:rPr lang="en-US" sz="2000" dirty="0"/>
              <a:t>. 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When transcribed </a:t>
            </a:r>
            <a:r>
              <a:rPr lang="en-US" sz="2400" dirty="0"/>
              <a:t>and translated, the </a:t>
            </a:r>
            <a:r>
              <a:rPr lang="en-US" sz="2400" dirty="0" smtClean="0"/>
              <a:t>Ags </a:t>
            </a:r>
            <a:r>
              <a:rPr lang="en-US" sz="2400" dirty="0"/>
              <a:t>and virulence </a:t>
            </a:r>
            <a:r>
              <a:rPr lang="en-US" sz="2400" dirty="0" smtClean="0"/>
              <a:t>factors are </a:t>
            </a:r>
            <a:r>
              <a:rPr lang="en-US" sz="2400" dirty="0"/>
              <a:t>expressed on the surface of the </a:t>
            </a:r>
            <a:r>
              <a:rPr lang="en-US" sz="2400" dirty="0" smtClean="0"/>
              <a:t>non-pathogenic </a:t>
            </a:r>
            <a:r>
              <a:rPr lang="en-US" sz="2400" dirty="0"/>
              <a:t>organism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A </a:t>
            </a:r>
            <a:r>
              <a:rPr lang="en-US" sz="2400" dirty="0"/>
              <a:t>strong immune response </a:t>
            </a:r>
            <a:r>
              <a:rPr lang="en-US" sz="2400" dirty="0" smtClean="0"/>
              <a:t>is generated </a:t>
            </a:r>
            <a:r>
              <a:rPr lang="en-US" sz="2400" dirty="0"/>
              <a:t>to </a:t>
            </a:r>
            <a:r>
              <a:rPr lang="en-US" sz="2400" dirty="0" smtClean="0"/>
              <a:t>virulence </a:t>
            </a:r>
            <a:r>
              <a:rPr lang="en-US" sz="2400" dirty="0"/>
              <a:t>factors</a:t>
            </a:r>
            <a:r>
              <a:rPr lang="en-US" sz="2400" dirty="0" smtClean="0"/>
              <a:t>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8094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Recombinant Viral </a:t>
            </a:r>
            <a:r>
              <a:rPr lang="en-US" sz="2800" b="1" dirty="0" smtClean="0">
                <a:solidFill>
                  <a:srgbClr val="002060"/>
                </a:solidFill>
              </a:rPr>
              <a:t>Vaccines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dirty="0"/>
              <a:t>Genes from pathogenic microbes can also be added to attenuated viruses. </a:t>
            </a:r>
            <a:endParaRPr lang="en-US" sz="2400" dirty="0" smtClean="0"/>
          </a:p>
          <a:p>
            <a:r>
              <a:rPr lang="en-US" sz="2400" dirty="0"/>
              <a:t>Members of the poxvirus family (e.g., </a:t>
            </a:r>
            <a:r>
              <a:rPr lang="en-US" sz="2400" dirty="0" smtClean="0"/>
              <a:t>vaccinia,</a:t>
            </a:r>
            <a:r>
              <a:rPr lang="en-US" sz="2400" dirty="0"/>
              <a:t> fowl pox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, canary pox</a:t>
            </a:r>
            <a:r>
              <a:rPr lang="en-US" sz="2400" dirty="0"/>
              <a:t>) and adenoviruses are common </a:t>
            </a:r>
            <a:r>
              <a:rPr lang="en-US" sz="2400" dirty="0" smtClean="0"/>
              <a:t>viral vectors</a:t>
            </a:r>
          </a:p>
          <a:p>
            <a:r>
              <a:rPr lang="en-US" sz="2600" dirty="0" smtClean="0"/>
              <a:t>Most </a:t>
            </a:r>
            <a:r>
              <a:rPr lang="en-US" sz="2600" dirty="0"/>
              <a:t>common vector is an attenuated </a:t>
            </a:r>
            <a:r>
              <a:rPr lang="en-US" sz="2600" dirty="0" smtClean="0"/>
              <a:t>vaccinia Ankara </a:t>
            </a:r>
            <a:r>
              <a:rPr lang="en-US" sz="2600" dirty="0"/>
              <a:t>virus (MVA</a:t>
            </a:r>
            <a:r>
              <a:rPr lang="en-US" sz="2600" dirty="0" smtClean="0"/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341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</a:rPr>
              <a:t>Plant vaccines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Experimental edible vaccines, which </a:t>
            </a:r>
            <a:r>
              <a:rPr lang="en-US" sz="2400" dirty="0" smtClean="0"/>
              <a:t>offer </a:t>
            </a:r>
            <a:r>
              <a:rPr lang="en-US" sz="2400" dirty="0"/>
              <a:t>protection </a:t>
            </a:r>
            <a:r>
              <a:rPr lang="en-US" sz="2400" dirty="0" smtClean="0"/>
              <a:t>against diarrheal disease</a:t>
            </a:r>
          </a:p>
          <a:p>
            <a:r>
              <a:rPr lang="en-US" sz="2400" dirty="0" smtClean="0"/>
              <a:t>Developed </a:t>
            </a:r>
            <a:r>
              <a:rPr lang="en-US" sz="2400" dirty="0"/>
              <a:t>by using </a:t>
            </a:r>
            <a:r>
              <a:rPr lang="en-US" sz="2400" dirty="0" smtClean="0"/>
              <a:t>potatoes, rice</a:t>
            </a:r>
            <a:r>
              <a:rPr lang="en-US" sz="2400" dirty="0"/>
              <a:t>, and bananas as vaccinating agents. </a:t>
            </a:r>
            <a:endParaRPr lang="en-US" sz="2400" dirty="0" smtClean="0"/>
          </a:p>
          <a:p>
            <a:r>
              <a:rPr lang="en-US" sz="2400" dirty="0" smtClean="0"/>
              <a:t>Microbial Ag </a:t>
            </a:r>
            <a:r>
              <a:rPr lang="en-US" sz="2400" dirty="0"/>
              <a:t>genes are inserted into a Ti </a:t>
            </a:r>
            <a:r>
              <a:rPr lang="en-US" sz="2400" dirty="0" smtClean="0"/>
              <a:t>plasmid isolated </a:t>
            </a:r>
            <a:r>
              <a:rPr lang="en-US" sz="2400" dirty="0"/>
              <a:t>from </a:t>
            </a:r>
            <a:r>
              <a:rPr lang="en-US" sz="2400" i="1" dirty="0"/>
              <a:t>Agrobacterium </a:t>
            </a:r>
            <a:r>
              <a:rPr lang="en-US" sz="2400" i="1" dirty="0" err="1"/>
              <a:t>tumefaciens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A </a:t>
            </a:r>
            <a:r>
              <a:rPr lang="en-US" sz="2400" dirty="0" smtClean="0"/>
              <a:t>modified </a:t>
            </a:r>
            <a:r>
              <a:rPr lang="en-US" sz="2400" b="1" dirty="0">
                <a:solidFill>
                  <a:srgbClr val="002060"/>
                </a:solidFill>
              </a:rPr>
              <a:t>Ti plasmid </a:t>
            </a:r>
            <a:r>
              <a:rPr lang="en-US" sz="2400" dirty="0"/>
              <a:t>is capable of integrating into </a:t>
            </a:r>
            <a:r>
              <a:rPr lang="en-US" sz="2400" dirty="0" smtClean="0"/>
              <a:t>plant </a:t>
            </a:r>
            <a:r>
              <a:rPr lang="en-US" sz="2400" dirty="0"/>
              <a:t>cell genome </a:t>
            </a:r>
            <a:r>
              <a:rPr lang="en-US" sz="2400" dirty="0" smtClean="0"/>
              <a:t>and transforming plant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mature, transformed plant produces glycosylated microbial proteins in the edible parts </a:t>
            </a:r>
            <a:r>
              <a:rPr lang="en-US" sz="2400" dirty="0" smtClean="0"/>
              <a:t>of the plant.</a:t>
            </a:r>
          </a:p>
          <a:p>
            <a:r>
              <a:rPr lang="en-US" sz="2400" dirty="0"/>
              <a:t>Inexpensive vaccines </a:t>
            </a:r>
          </a:p>
        </p:txBody>
      </p:sp>
    </p:spTree>
    <p:extLst>
      <p:ext uri="{BB962C8B-B14F-4D97-AF65-F5344CB8AC3E}">
        <p14:creationId xmlns:p14="http://schemas.microsoft.com/office/powerpoint/2010/main" val="1648146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800" b="1" dirty="0" smtClean="0"/>
              <a:t>Adjuvants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/>
              <a:t>When used with vaccinating agents, </a:t>
            </a:r>
            <a:r>
              <a:rPr lang="en-US" sz="2400" dirty="0" smtClean="0"/>
              <a:t>augment </a:t>
            </a:r>
            <a:r>
              <a:rPr lang="en-US" sz="2400" dirty="0"/>
              <a:t>systemic or mucosal immunity.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002060"/>
                </a:solidFill>
              </a:rPr>
              <a:t>Adjuvants</a:t>
            </a:r>
            <a:r>
              <a:rPr lang="en-US" sz="2400" dirty="0" smtClean="0"/>
              <a:t> </a:t>
            </a:r>
            <a:r>
              <a:rPr lang="en-US" sz="2400" dirty="0"/>
              <a:t>in vaccines </a:t>
            </a:r>
            <a:r>
              <a:rPr lang="en-US" sz="2400" dirty="0" smtClean="0"/>
              <a:t>designed to </a:t>
            </a:r>
            <a:r>
              <a:rPr lang="en-US" sz="2400" dirty="0"/>
              <a:t>elicit systemic immunity </a:t>
            </a:r>
            <a:r>
              <a:rPr lang="en-US" sz="2400" dirty="0" smtClean="0"/>
              <a:t>create </a:t>
            </a:r>
            <a:r>
              <a:rPr lang="en-US" sz="2400" dirty="0"/>
              <a:t>an insoluble antigen depot at the vaccination </a:t>
            </a:r>
            <a:r>
              <a:rPr lang="en-US" sz="2400" dirty="0" smtClean="0"/>
              <a:t>site.</a:t>
            </a:r>
          </a:p>
          <a:p>
            <a:r>
              <a:rPr lang="en-US" sz="2400" dirty="0"/>
              <a:t>A </a:t>
            </a:r>
            <a:r>
              <a:rPr lang="en-US" sz="2400" dirty="0" smtClean="0"/>
              <a:t>different strategy </a:t>
            </a:r>
            <a:r>
              <a:rPr lang="en-US" sz="2400" dirty="0"/>
              <a:t>is used to stimulate </a:t>
            </a:r>
            <a:r>
              <a:rPr lang="en-US" sz="2400" dirty="0" smtClean="0"/>
              <a:t>MALT</a:t>
            </a:r>
          </a:p>
          <a:p>
            <a:r>
              <a:rPr lang="en-US" sz="2400" dirty="0"/>
              <a:t>Aluminum </a:t>
            </a:r>
            <a:r>
              <a:rPr lang="en-US" sz="2400" dirty="0" smtClean="0"/>
              <a:t>Salts,</a:t>
            </a:r>
            <a:r>
              <a:rPr lang="en-US" sz="2400" dirty="0"/>
              <a:t> </a:t>
            </a:r>
            <a:r>
              <a:rPr lang="en-US" sz="2400" dirty="0" err="1"/>
              <a:t>Squalene</a:t>
            </a:r>
            <a:r>
              <a:rPr lang="en-US" sz="2400" dirty="0"/>
              <a:t> </a:t>
            </a:r>
            <a:r>
              <a:rPr lang="en-US" sz="2400" dirty="0" smtClean="0"/>
              <a:t>Adjuvants,</a:t>
            </a:r>
            <a:r>
              <a:rPr lang="en-US" dirty="0"/>
              <a:t> </a:t>
            </a:r>
            <a:r>
              <a:rPr lang="en-US" sz="2400" dirty="0"/>
              <a:t>Freund’s </a:t>
            </a:r>
            <a:r>
              <a:rPr lang="en-US" sz="2400" dirty="0" smtClean="0"/>
              <a:t>Adjuvants,</a:t>
            </a:r>
            <a:r>
              <a:rPr lang="en-US" dirty="0"/>
              <a:t> </a:t>
            </a:r>
            <a:r>
              <a:rPr lang="en-US" sz="2400" dirty="0" err="1"/>
              <a:t>Muramyl</a:t>
            </a:r>
            <a:r>
              <a:rPr lang="en-US" sz="2400" dirty="0"/>
              <a:t> </a:t>
            </a:r>
            <a:r>
              <a:rPr lang="en-US" sz="2400" dirty="0" smtClean="0"/>
              <a:t>Peptides, Liposomes for </a:t>
            </a:r>
            <a:r>
              <a:rPr lang="en-US" sz="2400" b="1" dirty="0"/>
              <a:t>Systemic </a:t>
            </a:r>
            <a:r>
              <a:rPr lang="en-US" sz="2400" b="1" dirty="0" smtClean="0"/>
              <a:t>Immunity</a:t>
            </a:r>
          </a:p>
          <a:p>
            <a:r>
              <a:rPr lang="en-US" sz="2400" dirty="0" err="1"/>
              <a:t>Monophosphoryl</a:t>
            </a:r>
            <a:r>
              <a:rPr lang="en-US" sz="2400" dirty="0"/>
              <a:t> Lipid </a:t>
            </a:r>
            <a:r>
              <a:rPr lang="en-US" sz="2400" dirty="0" smtClean="0"/>
              <a:t>A, </a:t>
            </a:r>
            <a:r>
              <a:rPr lang="en-US" sz="2400" dirty="0" err="1" smtClean="0"/>
              <a:t>Oligodeoxynucleotides</a:t>
            </a:r>
            <a:r>
              <a:rPr lang="en-US" sz="2400" dirty="0"/>
              <a:t> </a:t>
            </a:r>
            <a:r>
              <a:rPr lang="en-US" sz="2400" dirty="0" smtClean="0"/>
              <a:t>are </a:t>
            </a:r>
            <a:r>
              <a:rPr lang="en-US" sz="2400" b="1" dirty="0">
                <a:solidFill>
                  <a:srgbClr val="002060"/>
                </a:solidFill>
              </a:rPr>
              <a:t>Mucosal </a:t>
            </a:r>
            <a:r>
              <a:rPr lang="en-US" sz="2400" b="1" dirty="0" smtClean="0">
                <a:solidFill>
                  <a:srgbClr val="002060"/>
                </a:solidFill>
              </a:rPr>
              <a:t>Immunity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</a:rPr>
              <a:t>Adjuvants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277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3100" b="1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 smtClean="0"/>
              <a:t>Vaccines </a:t>
            </a:r>
            <a:r>
              <a:rPr lang="en-US" sz="2600" dirty="0"/>
              <a:t>are necessary to prevent person-to-person transmission of infectious diseases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contain </a:t>
            </a:r>
            <a:r>
              <a:rPr lang="en-US" sz="2600" b="1" dirty="0">
                <a:solidFill>
                  <a:srgbClr val="002060"/>
                </a:solidFill>
              </a:rPr>
              <a:t>virulence factors </a:t>
            </a:r>
            <a:r>
              <a:rPr lang="en-US" sz="2600" dirty="0"/>
              <a:t>from bacteria </a:t>
            </a:r>
            <a:r>
              <a:rPr lang="en-US" sz="2600" dirty="0" smtClean="0"/>
              <a:t>and viruses.</a:t>
            </a:r>
            <a:endParaRPr lang="en-US" sz="2600" dirty="0"/>
          </a:p>
          <a:p>
            <a:r>
              <a:rPr lang="en-US" sz="2600" dirty="0" smtClean="0"/>
              <a:t>Stimulate </a:t>
            </a:r>
            <a:r>
              <a:rPr lang="en-US" sz="2600" dirty="0"/>
              <a:t>systemic or mucosal </a:t>
            </a:r>
            <a:r>
              <a:rPr lang="en-US" sz="2600" dirty="0" smtClean="0"/>
              <a:t>immunity.</a:t>
            </a:r>
            <a:endParaRPr lang="en-US" sz="2600" dirty="0"/>
          </a:p>
          <a:p>
            <a:r>
              <a:rPr lang="en-US" sz="2600" dirty="0" smtClean="0"/>
              <a:t>Killed</a:t>
            </a:r>
            <a:r>
              <a:rPr lang="en-US" sz="2600" dirty="0"/>
              <a:t>, attenuated, subunit, conjugate, and reassortment</a:t>
            </a:r>
            <a:br>
              <a:rPr lang="en-US" sz="2600" dirty="0"/>
            </a:br>
            <a:r>
              <a:rPr lang="en-US" sz="2600" dirty="0"/>
              <a:t>vaccines are licensed in the United </a:t>
            </a:r>
            <a:r>
              <a:rPr lang="en-US" sz="2600" dirty="0" smtClean="0"/>
              <a:t>States.</a:t>
            </a:r>
            <a:endParaRPr lang="en-US" sz="2600" dirty="0"/>
          </a:p>
          <a:p>
            <a:r>
              <a:rPr lang="en-US" sz="2600" dirty="0" smtClean="0"/>
              <a:t>Adjuvants </a:t>
            </a:r>
            <a:r>
              <a:rPr lang="en-US" sz="2600" dirty="0"/>
              <a:t>are added to vaccines to enhance the immune</a:t>
            </a:r>
            <a:br>
              <a:rPr lang="en-US" sz="2600" dirty="0"/>
            </a:br>
            <a:r>
              <a:rPr lang="en-US" sz="2600" dirty="0"/>
              <a:t>response to microbial and viral virulence factors</a:t>
            </a:r>
            <a:r>
              <a:rPr lang="en-US" sz="2600" dirty="0" smtClean="0"/>
              <a:t>.</a:t>
            </a:r>
            <a:endParaRPr lang="en-US" sz="2600" dirty="0"/>
          </a:p>
          <a:p>
            <a:r>
              <a:rPr lang="en-US" sz="2600" dirty="0" smtClean="0"/>
              <a:t>Additives </a:t>
            </a:r>
            <a:r>
              <a:rPr lang="en-US" sz="2600" dirty="0"/>
              <a:t>or excipients such as antibiotics, egg protein,</a:t>
            </a:r>
            <a:br>
              <a:rPr lang="en-US" sz="2600" dirty="0"/>
            </a:br>
            <a:r>
              <a:rPr lang="en-US" sz="2600" dirty="0"/>
              <a:t>monosodium glutamate, gelatin, and latex are found in</a:t>
            </a:r>
            <a:br>
              <a:rPr lang="en-US" sz="2600" dirty="0"/>
            </a:br>
            <a:r>
              <a:rPr lang="en-US" sz="2600" dirty="0"/>
              <a:t>vaccines.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677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848</Words>
  <Application>Microsoft Office PowerPoint</Application>
  <PresentationFormat>On-screen Show (4:3)</PresentationFormat>
  <Paragraphs>120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Vaccines in Theory and Practice</vt:lpstr>
      <vt:lpstr>INTRODUCTION</vt:lpstr>
      <vt:lpstr>Vaccines administration</vt:lpstr>
      <vt:lpstr>Cont.</vt:lpstr>
      <vt:lpstr>Types of Vaccines</vt:lpstr>
      <vt:lpstr>Live Attenuated Vaccines</vt:lpstr>
      <vt:lpstr>Cont.</vt:lpstr>
      <vt:lpstr>Cont.</vt:lpstr>
      <vt:lpstr>2. Inactivated Vaccines</vt:lpstr>
      <vt:lpstr>3. Subunit Vaccines</vt:lpstr>
      <vt:lpstr>Toxoid Vaccines</vt:lpstr>
      <vt:lpstr>Conjugate Vaccines</vt:lpstr>
      <vt:lpstr>Reassortment Vaccines</vt:lpstr>
      <vt:lpstr>Recombinant Bacterial Vaccines</vt:lpstr>
      <vt:lpstr>Recombinant Viral Vaccines</vt:lpstr>
      <vt:lpstr>Plant vaccines</vt:lpstr>
      <vt:lpstr>Adjuvants</vt:lpstr>
      <vt:lpstr>Summary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Vaccines in Theory and Practice</dc:title>
  <dc:creator>Shemsu- [2020]</dc:creator>
  <cp:lastModifiedBy>Shemsu- [2020]</cp:lastModifiedBy>
  <cp:revision>56</cp:revision>
  <dcterms:created xsi:type="dcterms:W3CDTF">2021-04-11T06:04:02Z</dcterms:created>
  <dcterms:modified xsi:type="dcterms:W3CDTF">2022-03-27T10:29:08Z</dcterms:modified>
</cp:coreProperties>
</file>