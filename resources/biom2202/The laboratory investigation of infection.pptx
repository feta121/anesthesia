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9" r:id="rId4"/>
    <p:sldId id="267" r:id="rId5"/>
    <p:sldId id="268" r:id="rId6"/>
    <p:sldId id="271" r:id="rId7"/>
    <p:sldId id="270" r:id="rId8"/>
    <p:sldId id="272" r:id="rId9"/>
    <p:sldId id="258" r:id="rId10"/>
    <p:sldId id="273" r:id="rId11"/>
    <p:sldId id="259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4" r:id="rId21"/>
    <p:sldId id="282" r:id="rId22"/>
    <p:sldId id="286" r:id="rId23"/>
    <p:sldId id="287" r:id="rId24"/>
    <p:sldId id="288" r:id="rId25"/>
    <p:sldId id="261" r:id="rId26"/>
    <p:sldId id="262" r:id="rId27"/>
    <p:sldId id="289" r:id="rId28"/>
    <p:sldId id="290" r:id="rId29"/>
    <p:sldId id="266" r:id="rId30"/>
    <p:sldId id="263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DF9A8-7448-48D7-9D84-8473735740B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BDD24-FE96-4C81-B9D1-C4E525595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37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BDD24-FE96-4C81-B9D1-C4E525595B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22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Gram positive</a:t>
            </a:r>
            <a:r>
              <a:rPr lang="en-US" baseline="0" dirty="0" smtClean="0"/>
              <a:t> bacteria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BDD24-FE96-4C81-B9D1-C4E525595B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23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Acid fast </a:t>
            </a:r>
            <a:r>
              <a:rPr lang="en-US" dirty="0" err="1" smtClean="0"/>
              <a:t>bacill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BDD24-FE96-4C81-B9D1-C4E525595B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25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CSF-</a:t>
            </a:r>
            <a:r>
              <a:rPr lang="en-US" dirty="0" err="1" smtClean="0"/>
              <a:t>Cerbro</a:t>
            </a:r>
            <a:r>
              <a:rPr lang="en-US" dirty="0" smtClean="0"/>
              <a:t> spinal</a:t>
            </a:r>
            <a:r>
              <a:rPr lang="en-US" baseline="0" dirty="0" smtClean="0"/>
              <a:t> fluid; Ag-Antigen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BDD24-FE96-4C81-B9D1-C4E525595B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94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NA, Nucleic acid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BDD24-FE96-4C81-B9D1-C4E525595B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43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recovers clinically important bacteria including fastidious mos. </a:t>
            </a:r>
            <a:r>
              <a:rPr lang="en-US" sz="2000" dirty="0" smtClean="0"/>
              <a:t>recovers the majority of medically important bacteria (nutrient 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BDD24-FE96-4C81-B9D1-C4E525595B0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187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MSA; Mannitol salt agar; MAC; MacConkey agar; CLED; </a:t>
            </a:r>
            <a:r>
              <a:rPr lang="en-US" dirty="0" err="1" smtClean="0"/>
              <a:t>Cystine</a:t>
            </a:r>
            <a:r>
              <a:rPr lang="en-US" dirty="0" smtClean="0"/>
              <a:t> lactose</a:t>
            </a:r>
            <a:r>
              <a:rPr lang="en-US" baseline="0" dirty="0" smtClean="0"/>
              <a:t> electrolyte deficient agar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BDD24-FE96-4C81-B9D1-C4E525595B0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685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GP; Gram positive; GN; Gram-negative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BDD24-FE96-4C81-B9D1-C4E525595B0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20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MHA-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Mueller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Hinton agar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BDD24-FE96-4C81-B9D1-C4E525595B0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6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3CD4-4D87-4484-BD7B-32D05C610AC8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AAAC-54FA-480B-8794-8A5F0EE0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5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3CD4-4D87-4484-BD7B-32D05C610AC8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AAAC-54FA-480B-8794-8A5F0EE0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1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3CD4-4D87-4484-BD7B-32D05C610AC8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AAAC-54FA-480B-8794-8A5F0EE0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52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3CD4-4D87-4484-BD7B-32D05C610AC8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AAAC-54FA-480B-8794-8A5F0EE0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5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3CD4-4D87-4484-BD7B-32D05C610AC8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AAAC-54FA-480B-8794-8A5F0EE0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6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3CD4-4D87-4484-BD7B-32D05C610AC8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AAAC-54FA-480B-8794-8A5F0EE0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0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3CD4-4D87-4484-BD7B-32D05C610AC8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AAAC-54FA-480B-8794-8A5F0EE0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83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3CD4-4D87-4484-BD7B-32D05C610AC8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AAAC-54FA-480B-8794-8A5F0EE0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53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3CD4-4D87-4484-BD7B-32D05C610AC8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AAAC-54FA-480B-8794-8A5F0EE0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45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3CD4-4D87-4484-BD7B-32D05C610AC8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AAAC-54FA-480B-8794-8A5F0EE0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4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3CD4-4D87-4484-BD7B-32D05C610AC8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AAAC-54FA-480B-8794-8A5F0EE0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5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43CD4-4D87-4484-BD7B-32D05C610AC8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8AAAC-54FA-480B-8794-8A5F0EE0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9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1"/>
            <a:ext cx="7772400" cy="4419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/>
              <a:t>The laboratory investigation of </a:t>
            </a:r>
            <a:r>
              <a:rPr lang="en-US" b="1" dirty="0" smtClean="0"/>
              <a:t>infection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570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US" sz="2800" b="1" dirty="0" smtClean="0"/>
              <a:t>Outline of the Chapter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History </a:t>
            </a:r>
            <a:r>
              <a:rPr lang="en-US" dirty="0" smtClean="0"/>
              <a:t>and examination</a:t>
            </a:r>
          </a:p>
          <a:p>
            <a:r>
              <a:rPr lang="en-US" dirty="0" smtClean="0"/>
              <a:t>Differential diagnosis</a:t>
            </a:r>
          </a:p>
          <a:p>
            <a:r>
              <a:rPr lang="en-US" dirty="0"/>
              <a:t>Clinical request and sample </a:t>
            </a:r>
            <a:r>
              <a:rPr lang="en-US" dirty="0" smtClean="0"/>
              <a:t>collection</a:t>
            </a:r>
          </a:p>
          <a:p>
            <a:r>
              <a:rPr lang="en-US" dirty="0" smtClean="0"/>
              <a:t>Clinical specimen</a:t>
            </a:r>
          </a:p>
          <a:p>
            <a:r>
              <a:rPr lang="en-US" dirty="0" smtClean="0"/>
              <a:t>Non- culture </a:t>
            </a:r>
            <a:r>
              <a:rPr lang="en-US" dirty="0"/>
              <a:t>techniques</a:t>
            </a:r>
          </a:p>
          <a:p>
            <a:r>
              <a:rPr lang="en-US" dirty="0" smtClean="0"/>
              <a:t>Culture techniques</a:t>
            </a:r>
          </a:p>
          <a:p>
            <a:r>
              <a:rPr lang="en-US" dirty="0" smtClean="0"/>
              <a:t>Susceptibility</a:t>
            </a:r>
          </a:p>
          <a:p>
            <a:r>
              <a:rPr lang="en-US" dirty="0" smtClean="0"/>
              <a:t>Diagnosis</a:t>
            </a:r>
          </a:p>
          <a:p>
            <a:r>
              <a:rPr lang="en-US" dirty="0" smtClean="0"/>
              <a:t>Treatment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903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Diagnostic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Medical </a:t>
            </a:r>
            <a:r>
              <a:rPr lang="en-US" b="1" dirty="0">
                <a:solidFill>
                  <a:srgbClr val="FF0000"/>
                </a:solidFill>
              </a:rPr>
              <a:t>microbiology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sz="2400" dirty="0" smtClean="0"/>
              <a:t>Recognizing microorganism associated </a:t>
            </a:r>
            <a:r>
              <a:rPr lang="en-US" sz="2400" dirty="0"/>
              <a:t>with human disease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Concerned </a:t>
            </a:r>
            <a:r>
              <a:rPr lang="en-US" sz="2400" dirty="0"/>
              <a:t>with the etiologic diagnosis of </a:t>
            </a:r>
            <a:r>
              <a:rPr lang="en-US" sz="2400" dirty="0" smtClean="0"/>
              <a:t>infection</a:t>
            </a:r>
          </a:p>
          <a:p>
            <a:r>
              <a:rPr lang="en-US" sz="2400" dirty="0" smtClean="0"/>
              <a:t>Detect infections caused by: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 Bacteria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Viruses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Fungi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endParaRPr lang="en-US" sz="2400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10000"/>
            <a:ext cx="579120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828800" y="5562600"/>
            <a:ext cx="335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Fig. 1 </a:t>
            </a:r>
            <a:r>
              <a:rPr lang="en-US" dirty="0"/>
              <a:t>Diagnostic </a:t>
            </a:r>
            <a:r>
              <a:rPr lang="en-US" dirty="0" smtClean="0"/>
              <a:t>template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748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/>
              <a:t>Clinical request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3100" dirty="0" smtClean="0"/>
              <a:t>A </a:t>
            </a:r>
            <a:r>
              <a:rPr lang="en-US" sz="3100" dirty="0"/>
              <a:t>detailed request form that accompanies a </a:t>
            </a:r>
            <a:r>
              <a:rPr lang="en-US" sz="3100" b="1" dirty="0" smtClean="0">
                <a:solidFill>
                  <a:srgbClr val="002060"/>
                </a:solidFill>
              </a:rPr>
              <a:t>clinical sample </a:t>
            </a:r>
            <a:r>
              <a:rPr lang="en-US" sz="3100" dirty="0"/>
              <a:t>is pivotal in ensuring the </a:t>
            </a:r>
            <a:r>
              <a:rPr lang="en-US" sz="3100" dirty="0" smtClean="0"/>
              <a:t>appropriate </a:t>
            </a:r>
            <a:r>
              <a:rPr lang="en-US" sz="3100" b="1" dirty="0" smtClean="0">
                <a:solidFill>
                  <a:srgbClr val="002060"/>
                </a:solidFill>
              </a:rPr>
              <a:t>diagnostic </a:t>
            </a:r>
            <a:r>
              <a:rPr lang="en-US" sz="3100" b="1" dirty="0">
                <a:solidFill>
                  <a:srgbClr val="002060"/>
                </a:solidFill>
              </a:rPr>
              <a:t>procedures </a:t>
            </a:r>
          </a:p>
          <a:p>
            <a:pPr>
              <a:buFont typeface="Wingdings" pitchFamily="2" charset="2"/>
              <a:buChar char="§"/>
            </a:pPr>
            <a:r>
              <a:rPr lang="en-US" sz="3100" dirty="0" smtClean="0"/>
              <a:t>Information </a:t>
            </a:r>
            <a:r>
              <a:rPr lang="en-US" sz="3100" dirty="0"/>
              <a:t>should include</a:t>
            </a:r>
            <a:r>
              <a:rPr lang="en-US" dirty="0"/>
              <a:t>: </a:t>
            </a:r>
            <a:endParaRPr lang="en-US" dirty="0" smtClean="0"/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Patient details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Clinical diagnosis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Onset </a:t>
            </a:r>
            <a:r>
              <a:rPr lang="en-US" dirty="0"/>
              <a:t>of </a:t>
            </a:r>
            <a:r>
              <a:rPr lang="en-US" dirty="0" smtClean="0"/>
              <a:t>symptoms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Sample type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Time of collection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Treatment </a:t>
            </a:r>
            <a:r>
              <a:rPr lang="en-US" dirty="0"/>
              <a:t>history </a:t>
            </a:r>
            <a:endParaRPr lang="en-US" dirty="0" smtClean="0"/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Concurrent </a:t>
            </a:r>
            <a:r>
              <a:rPr lang="en-US" dirty="0"/>
              <a:t>antimicrobial therapy and </a:t>
            </a:r>
            <a:endParaRPr lang="en-US" dirty="0" smtClean="0"/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Any </a:t>
            </a:r>
            <a:r>
              <a:rPr lang="en-US" dirty="0"/>
              <a:t>health and safety issues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634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75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Laboratory </a:t>
            </a:r>
            <a:r>
              <a:rPr lang="en-US" sz="2400" dirty="0"/>
              <a:t>test </a:t>
            </a:r>
            <a:r>
              <a:rPr lang="en-US" sz="2400" dirty="0" smtClean="0"/>
              <a:t>results depend </a:t>
            </a:r>
            <a:r>
              <a:rPr lang="en-US" sz="2400" dirty="0"/>
              <a:t>largely </a:t>
            </a:r>
            <a:r>
              <a:rPr lang="en-US" sz="2400" dirty="0" smtClean="0"/>
              <a:t>on,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Quality </a:t>
            </a:r>
            <a:r>
              <a:rPr lang="en-US" sz="2400" dirty="0"/>
              <a:t>of </a:t>
            </a:r>
            <a:r>
              <a:rPr lang="en-US" sz="2400" dirty="0" smtClean="0"/>
              <a:t>specimen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Timing and care </a:t>
            </a:r>
            <a:r>
              <a:rPr lang="en-US" sz="2400" dirty="0"/>
              <a:t>with which it is collected </a:t>
            </a:r>
            <a:endParaRPr lang="en-US" sz="2400" dirty="0" smtClean="0"/>
          </a:p>
          <a:p>
            <a:pPr lvl="1">
              <a:buFont typeface="Wingdings" pitchFamily="2" charset="2"/>
              <a:buChar char="ü"/>
            </a:pPr>
            <a:r>
              <a:rPr lang="pt-BR" sz="2000" dirty="0" smtClean="0"/>
              <a:t>Sample through an area containig </a:t>
            </a:r>
            <a:r>
              <a:rPr lang="pt-BR" sz="2000" b="1" dirty="0" smtClean="0">
                <a:solidFill>
                  <a:srgbClr val="002060"/>
                </a:solidFill>
              </a:rPr>
              <a:t>normal flora</a:t>
            </a:r>
          </a:p>
          <a:p>
            <a:pPr lvl="1">
              <a:buFont typeface="Wingdings" pitchFamily="2" charset="2"/>
              <a:buChar char="ü"/>
            </a:pPr>
            <a:r>
              <a:rPr lang="pt-BR" sz="2000" dirty="0" smtClean="0"/>
              <a:t>Prior to commencement of antimicrobs</a:t>
            </a:r>
            <a:endParaRPr lang="pt-BR" sz="20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Transported</a:t>
            </a:r>
            <a:r>
              <a:rPr lang="en-US" sz="2400" dirty="0"/>
              <a:t>, and 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Technical proficiency </a:t>
            </a:r>
            <a:r>
              <a:rPr lang="en-US" sz="2400" dirty="0"/>
              <a:t>and 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Experience </a:t>
            </a:r>
            <a:r>
              <a:rPr lang="en-US" sz="2400" dirty="0"/>
              <a:t>of laboratory personnel.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Sample </a:t>
            </a:r>
            <a:r>
              <a:rPr lang="en-US" sz="2800" b="1" dirty="0" smtClean="0"/>
              <a:t>collection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95964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09600"/>
            <a:ext cx="8229600" cy="503238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Table: Sterile </a:t>
            </a:r>
            <a:r>
              <a:rPr lang="en-US" sz="2400" b="1" dirty="0"/>
              <a:t>and non-sterile sites of the human </a:t>
            </a:r>
            <a:r>
              <a:rPr lang="en-US" sz="2400" b="1" dirty="0" smtClean="0"/>
              <a:t>body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71600"/>
            <a:ext cx="7772399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283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/>
              <a:t>Transport of </a:t>
            </a:r>
            <a:r>
              <a:rPr lang="en-US" sz="3200" b="1" dirty="0" smtClean="0"/>
              <a:t>clinical</a:t>
            </a:r>
            <a:r>
              <a:rPr lang="en-US" sz="3200" b="1" dirty="0"/>
              <a:t> </a:t>
            </a:r>
            <a:r>
              <a:rPr lang="en-US" sz="3200" b="1" dirty="0" smtClean="0"/>
              <a:t>samples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pt-BR" sz="2400" dirty="0" smtClean="0"/>
              <a:t>Rapid transport of sample to Lab is necessary due to</a:t>
            </a:r>
          </a:p>
          <a:p>
            <a:pPr lvl="1">
              <a:buFont typeface="Wingdings" pitchFamily="2" charset="2"/>
              <a:buChar char="ü"/>
            </a:pPr>
            <a:r>
              <a:rPr lang="pt-BR" sz="2400" dirty="0" smtClean="0"/>
              <a:t>presence </a:t>
            </a:r>
            <a:r>
              <a:rPr lang="pt-BR" sz="2400" b="1" dirty="0" smtClean="0">
                <a:solidFill>
                  <a:srgbClr val="002060"/>
                </a:solidFill>
              </a:rPr>
              <a:t>fastidous microorganism</a:t>
            </a:r>
            <a:r>
              <a:rPr lang="pt-BR" sz="2400" dirty="0" smtClean="0"/>
              <a:t>;  </a:t>
            </a:r>
            <a:r>
              <a:rPr lang="en-US" sz="2400" i="1" dirty="0" smtClean="0"/>
              <a:t>N. gonorrhoeae &amp; </a:t>
            </a:r>
            <a:r>
              <a:rPr lang="en-US" sz="2400" i="1" dirty="0"/>
              <a:t>H. </a:t>
            </a:r>
            <a:r>
              <a:rPr lang="en-US" sz="2400" i="1" dirty="0" smtClean="0"/>
              <a:t>influenzae</a:t>
            </a:r>
            <a:r>
              <a:rPr lang="en-US" sz="2400" dirty="0" smtClean="0"/>
              <a:t>, </a:t>
            </a:r>
            <a:r>
              <a:rPr lang="en-US" sz="2400" dirty="0"/>
              <a:t>die during </a:t>
            </a:r>
            <a:r>
              <a:rPr lang="en-US" sz="2400" dirty="0" smtClean="0"/>
              <a:t>transit</a:t>
            </a:r>
            <a:endParaRPr lang="pt-BR" sz="2400" dirty="0"/>
          </a:p>
          <a:p>
            <a:pPr lvl="1">
              <a:buFont typeface="Wingdings" pitchFamily="2" charset="2"/>
              <a:buChar char="ü"/>
            </a:pPr>
            <a:r>
              <a:rPr lang="en-US" sz="2400" b="1" dirty="0" smtClean="0">
                <a:solidFill>
                  <a:srgbClr val="002060"/>
                </a:solidFill>
              </a:rPr>
              <a:t>overgrowth</a:t>
            </a:r>
            <a:r>
              <a:rPr lang="en-US" sz="2400" dirty="0" smtClean="0"/>
              <a:t> </a:t>
            </a:r>
            <a:r>
              <a:rPr lang="en-US" sz="2400" dirty="0"/>
              <a:t>by contaminating normal flora obscuring the </a:t>
            </a:r>
            <a:r>
              <a:rPr lang="en-US" sz="2400" dirty="0" smtClean="0"/>
              <a:t>pathogen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Use </a:t>
            </a:r>
            <a:r>
              <a:rPr lang="en-US" sz="2400" dirty="0"/>
              <a:t>of transport </a:t>
            </a:r>
            <a:r>
              <a:rPr lang="en-US" sz="2400" dirty="0" smtClean="0"/>
              <a:t>media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Short delay use refrigeration (4°C)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For long term storage  </a:t>
            </a:r>
            <a:r>
              <a:rPr lang="en-US" sz="2400" dirty="0"/>
              <a:t>freezing at </a:t>
            </a:r>
            <a:r>
              <a:rPr lang="en-US" sz="2400" dirty="0" smtClean="0"/>
              <a:t>70 °C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pt-BR" sz="2400" dirty="0"/>
              <a:t/>
            </a:r>
            <a:br>
              <a:rPr lang="pt-BR" sz="2400" dirty="0"/>
            </a:br>
            <a:r>
              <a:rPr lang="pt-BR" sz="2400" dirty="0"/>
              <a:t/>
            </a:r>
            <a:br>
              <a:rPr lang="pt-BR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243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73" y="1447800"/>
            <a:ext cx="76200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755073" y="838200"/>
            <a:ext cx="7620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Table: Common </a:t>
            </a:r>
            <a:r>
              <a:rPr lang="en-US" b="1" dirty="0"/>
              <a:t>transport </a:t>
            </a:r>
            <a:r>
              <a:rPr lang="en-US" b="1" dirty="0" smtClean="0"/>
              <a:t>media</a:t>
            </a:r>
          </a:p>
        </p:txBody>
      </p:sp>
    </p:spTree>
    <p:extLst>
      <p:ext uri="{BB962C8B-B14F-4D97-AF65-F5344CB8AC3E}">
        <p14:creationId xmlns:p14="http://schemas.microsoft.com/office/powerpoint/2010/main" val="422678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 smtClean="0"/>
              <a:t>Clinical Specimen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400" b="1" dirty="0"/>
              <a:t>Urinary tract infection (UTI)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– Midstream </a:t>
            </a:r>
            <a:r>
              <a:rPr lang="en-US" sz="2400" dirty="0" smtClean="0"/>
              <a:t>urine</a:t>
            </a:r>
          </a:p>
          <a:p>
            <a:r>
              <a:rPr lang="en-US" sz="2400" b="1" dirty="0" smtClean="0"/>
              <a:t>Wound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– Pus or </a:t>
            </a:r>
            <a:r>
              <a:rPr lang="en-US" sz="2400" dirty="0" smtClean="0"/>
              <a:t>swab</a:t>
            </a:r>
          </a:p>
          <a:p>
            <a:r>
              <a:rPr lang="en-US" sz="2400" b="1" dirty="0" smtClean="0"/>
              <a:t>Meningitis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– CSF &amp; </a:t>
            </a:r>
            <a:r>
              <a:rPr lang="en-US" sz="2400" dirty="0" smtClean="0"/>
              <a:t>blood</a:t>
            </a:r>
          </a:p>
          <a:p>
            <a:r>
              <a:rPr lang="en-US" sz="2400" b="1" dirty="0" smtClean="0"/>
              <a:t>Pyrexia </a:t>
            </a:r>
            <a:r>
              <a:rPr lang="en-US" sz="2400" b="1" dirty="0"/>
              <a:t>of unknown origin (PUO)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– Blood for culture + </a:t>
            </a:r>
            <a:r>
              <a:rPr lang="en-US" sz="2400" dirty="0" smtClean="0"/>
              <a:t>serology</a:t>
            </a:r>
          </a:p>
          <a:p>
            <a:r>
              <a:rPr lang="en-US" sz="2400" b="1" dirty="0" smtClean="0"/>
              <a:t>Pneumonia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– Sputum, lavage, </a:t>
            </a:r>
            <a:r>
              <a:rPr lang="en-US" sz="2400" dirty="0" smtClean="0"/>
              <a:t>serology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95156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 smtClean="0"/>
              <a:t>1. Non-culture techniques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Non-culture </a:t>
            </a:r>
            <a:r>
              <a:rPr lang="en-US" sz="2400" b="1" dirty="0">
                <a:solidFill>
                  <a:srgbClr val="FF0000"/>
                </a:solidFill>
              </a:rPr>
              <a:t>techniques </a:t>
            </a:r>
            <a:r>
              <a:rPr lang="en-US" sz="2400" dirty="0"/>
              <a:t>are </a:t>
            </a:r>
            <a:r>
              <a:rPr lang="en-US" sz="2400" dirty="0" smtClean="0"/>
              <a:t>of importance: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Microorganism cannot be readily </a:t>
            </a:r>
            <a:r>
              <a:rPr lang="en-US" sz="2000" dirty="0" smtClean="0"/>
              <a:t>cultured in </a:t>
            </a:r>
            <a:r>
              <a:rPr lang="en-US" sz="2000" dirty="0"/>
              <a:t>vitro</a:t>
            </a:r>
            <a:r>
              <a:rPr lang="en-US" sz="2000" dirty="0" smtClean="0"/>
              <a:t>;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Microorganism is slow-growing</a:t>
            </a:r>
            <a:r>
              <a:rPr lang="en-US" sz="2200" dirty="0" smtClean="0"/>
              <a:t>;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 smtClean="0"/>
              <a:t>Rapid </a:t>
            </a:r>
            <a:r>
              <a:rPr lang="en-US" sz="2200" dirty="0"/>
              <a:t>laboratory diagnosis significantly influences clinical </a:t>
            </a:r>
            <a:r>
              <a:rPr lang="en-US" sz="2200" dirty="0" smtClean="0"/>
              <a:t>management </a:t>
            </a:r>
            <a:r>
              <a:rPr lang="en-US" sz="2200" dirty="0"/>
              <a:t>of the </a:t>
            </a:r>
            <a:r>
              <a:rPr lang="en-US" sz="2200" dirty="0" smtClean="0"/>
              <a:t>patient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Direct microscopy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Immunological methods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Serology</a:t>
            </a:r>
            <a:r>
              <a:rPr lang="en-US" sz="2400" dirty="0"/>
              <a:t> </a:t>
            </a:r>
            <a:r>
              <a:rPr lang="en-US" sz="2400" dirty="0" smtClean="0"/>
              <a:t> </a:t>
            </a:r>
            <a:r>
              <a:rPr lang="en-US" sz="2400" dirty="0"/>
              <a:t>and 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Nucleic </a:t>
            </a:r>
            <a:r>
              <a:rPr lang="en-US" sz="2400" dirty="0"/>
              <a:t>acid amplification techniques (NAAT</a:t>
            </a:r>
            <a:r>
              <a:rPr lang="en-US" sz="2400" dirty="0" smtClean="0"/>
              <a:t>).</a:t>
            </a:r>
            <a:endParaRPr lang="en-US" sz="2000" dirty="0" smtClean="0"/>
          </a:p>
        </p:txBody>
      </p:sp>
      <p:sp>
        <p:nvSpPr>
          <p:cNvPr id="4" name="Right Brace 3"/>
          <p:cNvSpPr/>
          <p:nvPr/>
        </p:nvSpPr>
        <p:spPr>
          <a:xfrm>
            <a:off x="3657600" y="3200400"/>
            <a:ext cx="990600" cy="121920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648200" y="3657600"/>
            <a:ext cx="36795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defRPr/>
            </a:pPr>
            <a:r>
              <a:rPr lang="en-US" sz="2000" b="1" dirty="0" smtClean="0">
                <a:solidFill>
                  <a:srgbClr val="002060"/>
                </a:solidFill>
              </a:rPr>
              <a:t>Common non-culture </a:t>
            </a:r>
            <a:r>
              <a:rPr lang="en-US" sz="2000" b="1" dirty="0">
                <a:solidFill>
                  <a:srgbClr val="002060"/>
                </a:solidFill>
              </a:rPr>
              <a:t>techniques</a:t>
            </a:r>
          </a:p>
        </p:txBody>
      </p:sp>
    </p:spTree>
    <p:extLst>
      <p:ext uri="{BB962C8B-B14F-4D97-AF65-F5344CB8AC3E}">
        <p14:creationId xmlns:p14="http://schemas.microsoft.com/office/powerpoint/2010/main" val="198402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 smtClean="0"/>
              <a:t>1.1. MICROSCOPY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002060"/>
                </a:solidFill>
              </a:rPr>
              <a:t>Light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en-US" sz="2600" dirty="0"/>
              <a:t>– </a:t>
            </a:r>
            <a:r>
              <a:rPr lang="en-US" sz="2600" dirty="0" smtClean="0"/>
              <a:t>Direct/unstained wet mount </a:t>
            </a:r>
            <a:r>
              <a:rPr lang="en-US" sz="2600" dirty="0"/>
              <a:t>(stool – parasites)</a:t>
            </a:r>
            <a:br>
              <a:rPr lang="en-US" sz="2600" dirty="0"/>
            </a:br>
            <a:r>
              <a:rPr lang="en-US" sz="2600" dirty="0"/>
              <a:t>– </a:t>
            </a:r>
            <a:r>
              <a:rPr lang="en-US" sz="2600" dirty="0" smtClean="0"/>
              <a:t>Stained preparation; </a:t>
            </a:r>
          </a:p>
          <a:p>
            <a:pPr lvl="2">
              <a:buFont typeface="Wingdings" pitchFamily="2" charset="2"/>
              <a:buChar char="ü"/>
            </a:pPr>
            <a:r>
              <a:rPr lang="en-US" sz="2600" dirty="0" smtClean="0"/>
              <a:t>Gram </a:t>
            </a:r>
            <a:r>
              <a:rPr lang="en-US" sz="2600" dirty="0"/>
              <a:t>(CSF – bacteria</a:t>
            </a:r>
            <a:r>
              <a:rPr lang="en-US" sz="2600" dirty="0" smtClean="0"/>
              <a:t>)</a:t>
            </a:r>
          </a:p>
          <a:p>
            <a:pPr lvl="2">
              <a:buFont typeface="Wingdings" pitchFamily="2" charset="2"/>
              <a:buChar char="ü"/>
            </a:pPr>
            <a:r>
              <a:rPr lang="en-US" sz="2600" dirty="0" smtClean="0"/>
              <a:t> </a:t>
            </a:r>
            <a:r>
              <a:rPr lang="en-US" sz="2800" dirty="0" smtClean="0"/>
              <a:t>Ziehl-Neelson </a:t>
            </a:r>
            <a:r>
              <a:rPr lang="en-US" sz="2600" dirty="0" smtClean="0"/>
              <a:t>(sputum </a:t>
            </a:r>
            <a:r>
              <a:rPr lang="en-US" sz="2600" dirty="0"/>
              <a:t>– TB</a:t>
            </a:r>
            <a:r>
              <a:rPr lang="en-US" sz="2600" dirty="0" smtClean="0"/>
              <a:t>)</a:t>
            </a:r>
          </a:p>
          <a:p>
            <a:pPr lvl="2">
              <a:buFont typeface="Wingdings" pitchFamily="2" charset="2"/>
              <a:buChar char="ü"/>
            </a:pPr>
            <a:r>
              <a:rPr lang="en-US" sz="2600" dirty="0" smtClean="0"/>
              <a:t> </a:t>
            </a:r>
            <a:r>
              <a:rPr lang="en-US" sz="2600" dirty="0"/>
              <a:t>Giemsa (blood – malaria</a:t>
            </a:r>
            <a:r>
              <a:rPr lang="en-US" sz="2600" dirty="0" smtClean="0"/>
              <a:t>)</a:t>
            </a:r>
          </a:p>
          <a:p>
            <a:r>
              <a:rPr lang="en-US" sz="2600" b="1" dirty="0" smtClean="0">
                <a:solidFill>
                  <a:srgbClr val="002060"/>
                </a:solidFill>
              </a:rPr>
              <a:t>Immunofluorescence</a:t>
            </a: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/>
              <a:t>– Respiratory syncytial virus (RSV) </a:t>
            </a:r>
            <a:r>
              <a:rPr lang="en-US" sz="2600" dirty="0" smtClean="0"/>
              <a:t>diagnosis</a:t>
            </a:r>
          </a:p>
          <a:p>
            <a:r>
              <a:rPr lang="en-US" sz="2600" b="1" dirty="0" smtClean="0">
                <a:solidFill>
                  <a:srgbClr val="002060"/>
                </a:solidFill>
              </a:rPr>
              <a:t>Electron </a:t>
            </a:r>
            <a:r>
              <a:rPr lang="en-US" sz="2600" b="1" dirty="0">
                <a:solidFill>
                  <a:srgbClr val="002060"/>
                </a:solidFill>
              </a:rPr>
              <a:t>microscopy (EM)</a:t>
            </a: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/>
              <a:t>– Virus detection and identification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82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/>
              <a:t>Unstained wet </a:t>
            </a:r>
            <a:r>
              <a:rPr lang="en-US" sz="3200" b="1" dirty="0" smtClean="0"/>
              <a:t>mounts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/>
          <a:lstStyle/>
          <a:p>
            <a:r>
              <a:rPr lang="en-US" sz="2400" dirty="0" smtClean="0"/>
              <a:t>Identify </a:t>
            </a:r>
            <a:r>
              <a:rPr lang="en-US" sz="2400" dirty="0"/>
              <a:t>the presence </a:t>
            </a:r>
            <a:r>
              <a:rPr lang="en-US" sz="2400" dirty="0" smtClean="0"/>
              <a:t>of motile </a:t>
            </a:r>
            <a:r>
              <a:rPr lang="en-US" sz="2400" i="1" dirty="0" smtClean="0"/>
              <a:t>T. </a:t>
            </a:r>
            <a:r>
              <a:rPr lang="en-US" sz="2400" i="1" dirty="0" err="1"/>
              <a:t>vaginalis</a:t>
            </a:r>
            <a:r>
              <a:rPr lang="en-US" sz="2400" i="1" dirty="0"/>
              <a:t> </a:t>
            </a:r>
            <a:r>
              <a:rPr lang="en-US" sz="2400" dirty="0"/>
              <a:t>in fresh high vaginal </a:t>
            </a:r>
            <a:r>
              <a:rPr lang="en-US" sz="2400" dirty="0" smtClean="0"/>
              <a:t>specimens and </a:t>
            </a:r>
          </a:p>
          <a:p>
            <a:r>
              <a:rPr lang="en-US" sz="2400" dirty="0" smtClean="0"/>
              <a:t>Cysts/ova/larvae of gastrointestinal </a:t>
            </a:r>
            <a:r>
              <a:rPr lang="en-US" sz="2400" dirty="0"/>
              <a:t>parasites in faecal </a:t>
            </a:r>
            <a:r>
              <a:rPr lang="en-US" sz="2400" dirty="0" smtClean="0"/>
              <a:t>samples</a:t>
            </a:r>
          </a:p>
          <a:p>
            <a:r>
              <a:rPr lang="en-US" sz="2400" dirty="0" smtClean="0"/>
              <a:t>Value </a:t>
            </a:r>
            <a:r>
              <a:rPr lang="en-US" sz="2400" dirty="0"/>
              <a:t>in </a:t>
            </a:r>
            <a:r>
              <a:rPr lang="en-US" sz="2400" dirty="0" smtClean="0"/>
              <a:t>diagnosis </a:t>
            </a:r>
            <a:r>
              <a:rPr lang="en-US" sz="2400" dirty="0" smtClean="0"/>
              <a:t>of some </a:t>
            </a:r>
            <a:r>
              <a:rPr lang="en-US" sz="2400" dirty="0"/>
              <a:t>fungal infections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3074" name="Picture 2" descr="C:\Users\DELL\Desktop\General Microbiology ppt\Immunology\PPT\parasit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352800"/>
            <a:ext cx="5410200" cy="307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684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Stained </a:t>
            </a:r>
            <a:r>
              <a:rPr lang="en-US" sz="3200" b="1" dirty="0" smtClean="0">
                <a:solidFill>
                  <a:srgbClr val="002060"/>
                </a:solidFill>
              </a:rPr>
              <a:t>preparations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002060"/>
                </a:solidFill>
              </a:rPr>
              <a:t>1. Gram stain</a:t>
            </a:r>
          </a:p>
          <a:p>
            <a:r>
              <a:rPr lang="en-US" sz="2400" dirty="0"/>
              <a:t>Most widely used </a:t>
            </a:r>
            <a:r>
              <a:rPr lang="en-US" sz="2400" dirty="0" smtClean="0"/>
              <a:t>stain </a:t>
            </a:r>
          </a:p>
          <a:p>
            <a:r>
              <a:rPr lang="en-US" sz="2400" dirty="0" smtClean="0"/>
              <a:t>Classifies bacteria into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2060"/>
                </a:solidFill>
              </a:rPr>
              <a:t>Gram-positive cocci/bacilli </a:t>
            </a:r>
            <a:r>
              <a:rPr lang="en-US" sz="2400" dirty="0"/>
              <a:t>and </a:t>
            </a:r>
            <a:endParaRPr lang="en-US" sz="2400" dirty="0" smtClean="0"/>
          </a:p>
          <a:p>
            <a:pPr lvl="1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C00000"/>
                </a:solidFill>
              </a:rPr>
              <a:t>Gram-negative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cocci/bacilli</a:t>
            </a:r>
          </a:p>
          <a:p>
            <a:r>
              <a:rPr lang="en-US" sz="2400" dirty="0" smtClean="0"/>
              <a:t>Establishes presence of </a:t>
            </a:r>
            <a:r>
              <a:rPr lang="en-US" sz="2400" b="1" dirty="0">
                <a:solidFill>
                  <a:srgbClr val="FF0000"/>
                </a:solidFill>
              </a:rPr>
              <a:t>inflammatory </a:t>
            </a:r>
            <a:r>
              <a:rPr lang="en-US" sz="2400" b="1" dirty="0" smtClean="0">
                <a:solidFill>
                  <a:srgbClr val="FF0000"/>
                </a:solidFill>
              </a:rPr>
              <a:t>cells</a:t>
            </a:r>
          </a:p>
          <a:p>
            <a:r>
              <a:rPr lang="en-US" sz="2400" dirty="0"/>
              <a:t>Also facilitates </a:t>
            </a:r>
            <a:r>
              <a:rPr lang="en-US" sz="2400" dirty="0" smtClean="0"/>
              <a:t>diagnosis </a:t>
            </a:r>
            <a:r>
              <a:rPr lang="en-US" sz="2400" dirty="0"/>
              <a:t>of </a:t>
            </a:r>
            <a:r>
              <a:rPr lang="en-US" sz="2400" dirty="0" smtClean="0"/>
              <a:t>many </a:t>
            </a:r>
            <a:r>
              <a:rPr lang="en-US" sz="2400" b="1" dirty="0" smtClean="0">
                <a:solidFill>
                  <a:srgbClr val="C00000"/>
                </a:solidFill>
              </a:rPr>
              <a:t>fungal infections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025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Gram stain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400" dirty="0" smtClean="0"/>
              <a:t>Spread </a:t>
            </a:r>
            <a:r>
              <a:rPr lang="en-US" sz="2400" dirty="0"/>
              <a:t>specimen thinly on glass </a:t>
            </a:r>
            <a:r>
              <a:rPr lang="en-US" sz="2400" dirty="0" smtClean="0"/>
              <a:t>microscope slide </a:t>
            </a:r>
            <a:r>
              <a:rPr lang="en-US" sz="2400" dirty="0"/>
              <a:t>and heat </a:t>
            </a:r>
            <a:r>
              <a:rPr lang="en-US" sz="2400" dirty="0" smtClean="0"/>
              <a:t>fix;</a:t>
            </a:r>
            <a:endParaRPr lang="en-US" sz="2400" dirty="0"/>
          </a:p>
          <a:p>
            <a:pPr marL="514350" indent="-514350">
              <a:buAutoNum type="arabicPeriod"/>
            </a:pPr>
            <a:r>
              <a:rPr lang="en-US" sz="2400" dirty="0" smtClean="0"/>
              <a:t>Stain </a:t>
            </a:r>
            <a:r>
              <a:rPr lang="en-US" sz="2400" dirty="0"/>
              <a:t>with </a:t>
            </a:r>
            <a:r>
              <a:rPr lang="en-US" sz="2400" b="1" dirty="0">
                <a:solidFill>
                  <a:srgbClr val="C00000"/>
                </a:solidFill>
              </a:rPr>
              <a:t>crystal violet </a:t>
            </a:r>
            <a:r>
              <a:rPr lang="en-US" sz="2400" dirty="0"/>
              <a:t>(purple</a:t>
            </a:r>
            <a:r>
              <a:rPr lang="en-US" sz="2400" dirty="0" smtClean="0"/>
              <a:t>);</a:t>
            </a:r>
            <a:endParaRPr lang="en-US" sz="2400" dirty="0"/>
          </a:p>
          <a:p>
            <a:pPr marL="514350" indent="-514350">
              <a:buAutoNum type="arabicPeriod"/>
            </a:pPr>
            <a:r>
              <a:rPr lang="en-US" sz="2400" dirty="0" smtClean="0"/>
              <a:t>Add </a:t>
            </a:r>
            <a:r>
              <a:rPr lang="en-US" sz="2400" b="1" dirty="0">
                <a:solidFill>
                  <a:srgbClr val="7030A0"/>
                </a:solidFill>
              </a:rPr>
              <a:t>Lugols iodine </a:t>
            </a:r>
            <a:r>
              <a:rPr lang="en-US" sz="2400" dirty="0"/>
              <a:t>(this </a:t>
            </a:r>
            <a:r>
              <a:rPr lang="en-US" sz="2400" dirty="0" smtClean="0"/>
              <a:t>fixes dye in GPB only);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Decolourise </a:t>
            </a:r>
            <a:r>
              <a:rPr lang="en-US" sz="2400" dirty="0"/>
              <a:t>with </a:t>
            </a:r>
            <a:r>
              <a:rPr lang="en-US" sz="2400" b="1" dirty="0">
                <a:solidFill>
                  <a:srgbClr val="0070C0"/>
                </a:solidFill>
              </a:rPr>
              <a:t>acetone or alcohol </a:t>
            </a:r>
            <a:r>
              <a:rPr lang="en-US" sz="2400" dirty="0"/>
              <a:t>(</a:t>
            </a:r>
            <a:r>
              <a:rPr lang="en-US" sz="2400" dirty="0" smtClean="0"/>
              <a:t>only GNB </a:t>
            </a:r>
            <a:r>
              <a:rPr lang="en-US" sz="2400" dirty="0"/>
              <a:t>are </a:t>
            </a:r>
            <a:r>
              <a:rPr lang="en-US" sz="2400" dirty="0" smtClean="0"/>
              <a:t>decolourised; GP remain </a:t>
            </a:r>
            <a:r>
              <a:rPr lang="en-US" sz="2400" dirty="0"/>
              <a:t>purple</a:t>
            </a:r>
            <a:r>
              <a:rPr lang="en-US" sz="2400" dirty="0" smtClean="0"/>
              <a:t>);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Counter </a:t>
            </a:r>
            <a:r>
              <a:rPr lang="en-US" sz="2400" dirty="0"/>
              <a:t>stain; </a:t>
            </a:r>
            <a:r>
              <a:rPr lang="en-US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safranin/</a:t>
            </a:r>
            <a:r>
              <a:rPr lang="en-US" sz="2400" b="1" dirty="0" err="1" smtClean="0">
                <a:solidFill>
                  <a:srgbClr val="C00000"/>
                </a:solidFill>
              </a:rPr>
              <a:t>carbolfuchsin</a:t>
            </a:r>
            <a:r>
              <a:rPr lang="en-US" sz="2400" dirty="0" smtClean="0"/>
              <a:t> </a:t>
            </a:r>
            <a:r>
              <a:rPr lang="en-US" sz="2400" dirty="0"/>
              <a:t>(</a:t>
            </a:r>
            <a:r>
              <a:rPr lang="en-US" sz="2400" dirty="0" smtClean="0"/>
              <a:t>stains GNB  </a:t>
            </a:r>
            <a:r>
              <a:rPr lang="en-US" sz="2400" b="1" dirty="0" smtClean="0">
                <a:solidFill>
                  <a:srgbClr val="FF0000"/>
                </a:solidFill>
              </a:rPr>
              <a:t>Pink</a:t>
            </a:r>
            <a:r>
              <a:rPr lang="en-US" sz="2400" dirty="0"/>
              <a:t>; </a:t>
            </a:r>
            <a:r>
              <a:rPr lang="en-US" sz="2400" dirty="0" smtClean="0"/>
              <a:t>GPB remain </a:t>
            </a:r>
            <a:r>
              <a:rPr lang="en-US" sz="2400" b="1" dirty="0">
                <a:solidFill>
                  <a:srgbClr val="002060"/>
                </a:solidFill>
              </a:rPr>
              <a:t>purple</a:t>
            </a:r>
            <a:r>
              <a:rPr lang="en-US" sz="2400" dirty="0"/>
              <a:t>).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6111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914400"/>
            <a:ext cx="33909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D:\PhD concept paper\breast cancere colle\molecular biomarkers\images (1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914400"/>
            <a:ext cx="3657601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47800" y="5301734"/>
            <a:ext cx="23467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/>
              <a:t>Gram positive bacteria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5308661"/>
            <a:ext cx="246086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/>
              <a:t>Gram </a:t>
            </a:r>
            <a:r>
              <a:rPr lang="en-US" b="1" dirty="0" smtClean="0"/>
              <a:t>negative </a:t>
            </a:r>
            <a:r>
              <a:rPr lang="en-US" b="1" dirty="0"/>
              <a:t>bacteria</a:t>
            </a:r>
          </a:p>
        </p:txBody>
      </p:sp>
    </p:spTree>
    <p:extLst>
      <p:ext uri="{BB962C8B-B14F-4D97-AF65-F5344CB8AC3E}">
        <p14:creationId xmlns:p14="http://schemas.microsoft.com/office/powerpoint/2010/main" val="3293386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 smtClean="0"/>
              <a:t>Ziehl-Neelson </a:t>
            </a:r>
            <a:r>
              <a:rPr lang="en-US" sz="3200" b="1" dirty="0"/>
              <a:t>(ZN) </a:t>
            </a:r>
            <a:r>
              <a:rPr lang="en-US" sz="3200" b="1" dirty="0" smtClean="0"/>
              <a:t>stain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ZN stains can be performed on many </a:t>
            </a:r>
            <a:r>
              <a:rPr lang="en-US" sz="2600" dirty="0" smtClean="0"/>
              <a:t>clinical samples</a:t>
            </a:r>
          </a:p>
          <a:p>
            <a:r>
              <a:rPr lang="en-US" sz="2600" dirty="0" smtClean="0"/>
              <a:t>Principally </a:t>
            </a:r>
            <a:r>
              <a:rPr lang="en-US" sz="2600" dirty="0"/>
              <a:t>to identify mycobacterial </a:t>
            </a:r>
            <a:r>
              <a:rPr lang="en-US" sz="2600" dirty="0" smtClean="0"/>
              <a:t>infection (MTB)</a:t>
            </a:r>
          </a:p>
          <a:p>
            <a:pPr marL="0" indent="0">
              <a:buNone/>
            </a:pPr>
            <a:r>
              <a:rPr lang="en-US" sz="2600" b="1" dirty="0" smtClean="0"/>
              <a:t>Methods </a:t>
            </a:r>
          </a:p>
          <a:p>
            <a:pPr marL="514350" indent="-514350">
              <a:buAutoNum type="arabicPeriod"/>
            </a:pPr>
            <a:r>
              <a:rPr lang="en-US" sz="2600" dirty="0" smtClean="0"/>
              <a:t>Spread </a:t>
            </a:r>
            <a:r>
              <a:rPr lang="en-US" sz="2600" dirty="0"/>
              <a:t>specimen thinly on glass </a:t>
            </a:r>
            <a:r>
              <a:rPr lang="en-US" sz="2600" dirty="0" smtClean="0"/>
              <a:t>microscope slide </a:t>
            </a:r>
            <a:r>
              <a:rPr lang="en-US" sz="2600" dirty="0"/>
              <a:t>and heat </a:t>
            </a:r>
            <a:r>
              <a:rPr lang="en-US" sz="2600" dirty="0" smtClean="0"/>
              <a:t>fix;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US" sz="2600" dirty="0" smtClean="0"/>
              <a:t>Stain </a:t>
            </a:r>
            <a:r>
              <a:rPr lang="en-US" sz="2600" dirty="0"/>
              <a:t>with HOT </a:t>
            </a:r>
            <a:r>
              <a:rPr lang="en-US" sz="2600" b="1" u="sng" dirty="0" smtClean="0">
                <a:solidFill>
                  <a:srgbClr val="C00000"/>
                </a:solidFill>
              </a:rPr>
              <a:t>Carbol–</a:t>
            </a:r>
            <a:r>
              <a:rPr lang="en-US" sz="2600" b="1" u="sng" dirty="0" err="1" smtClean="0">
                <a:solidFill>
                  <a:srgbClr val="C00000"/>
                </a:solidFill>
              </a:rPr>
              <a:t>fuchsin</a:t>
            </a:r>
            <a:r>
              <a:rPr lang="en-US" sz="2600" b="1" u="sng" dirty="0" smtClean="0">
                <a:solidFill>
                  <a:srgbClr val="C00000"/>
                </a:solidFill>
              </a:rPr>
              <a:t> </a:t>
            </a:r>
            <a:r>
              <a:rPr lang="en-US" sz="2600" b="1" u="sng" dirty="0">
                <a:solidFill>
                  <a:srgbClr val="C00000"/>
                </a:solidFill>
              </a:rPr>
              <a:t>dye </a:t>
            </a:r>
            <a:r>
              <a:rPr lang="en-US" sz="2600" dirty="0"/>
              <a:t>(all bacteria are stained pink</a:t>
            </a:r>
            <a:r>
              <a:rPr lang="en-US" sz="2600" dirty="0" smtClean="0"/>
              <a:t>);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US" sz="2600" dirty="0" smtClean="0"/>
              <a:t>Decolourise </a:t>
            </a:r>
            <a:r>
              <a:rPr lang="en-US" sz="2600" dirty="0"/>
              <a:t>with </a:t>
            </a:r>
            <a:r>
              <a:rPr lang="en-US" sz="2600" u="sng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3% </a:t>
            </a:r>
            <a:r>
              <a:rPr lang="en-US" sz="2600" u="sng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acid-alcohol </a:t>
            </a:r>
            <a:r>
              <a:rPr lang="en-US" sz="2600" dirty="0" smtClean="0"/>
              <a:t>(</a:t>
            </a:r>
            <a:r>
              <a:rPr lang="en-US" sz="2600" dirty="0"/>
              <a:t>mycobacteria retain dye and are therefore </a:t>
            </a:r>
            <a:r>
              <a:rPr lang="en-US" sz="2600" b="1" dirty="0">
                <a:solidFill>
                  <a:srgbClr val="002060"/>
                </a:solidFill>
              </a:rPr>
              <a:t>‘</a:t>
            </a:r>
            <a:r>
              <a:rPr lang="en-US" sz="2600" b="1" dirty="0" smtClean="0">
                <a:solidFill>
                  <a:srgbClr val="002060"/>
                </a:solidFill>
              </a:rPr>
              <a:t>acid fast’);</a:t>
            </a:r>
            <a:endParaRPr lang="en-US" sz="2600" b="1" dirty="0">
              <a:solidFill>
                <a:srgbClr val="002060"/>
              </a:solidFill>
            </a:endParaRPr>
          </a:p>
          <a:p>
            <a:pPr marL="514350" indent="-514350">
              <a:buAutoNum type="arabicPeriod"/>
            </a:pPr>
            <a:r>
              <a:rPr lang="en-US" sz="2600" dirty="0" smtClean="0"/>
              <a:t>Counter </a:t>
            </a:r>
            <a:r>
              <a:rPr lang="en-US" sz="2600" dirty="0"/>
              <a:t>stain with </a:t>
            </a:r>
            <a:r>
              <a:rPr lang="en-US" sz="2600" b="1" u="sng" dirty="0" smtClean="0">
                <a:solidFill>
                  <a:srgbClr val="C00000"/>
                </a:solidFill>
              </a:rPr>
              <a:t>Methylene </a:t>
            </a:r>
            <a:r>
              <a:rPr lang="en-US" sz="2600" b="1" u="sng" dirty="0">
                <a:solidFill>
                  <a:srgbClr val="C00000"/>
                </a:solidFill>
              </a:rPr>
              <a:t>blue or malachite green </a:t>
            </a:r>
            <a:r>
              <a:rPr lang="en-US" sz="2600" dirty="0"/>
              <a:t>to reveal non-mycobacterial microorganisms. </a:t>
            </a:r>
            <a:endParaRPr lang="en-US" sz="2600" dirty="0" smtClean="0"/>
          </a:p>
          <a:p>
            <a:pPr marL="514350" indent="-514350">
              <a:buAutoNum type="arabicPeriod"/>
            </a:pPr>
            <a:r>
              <a:rPr lang="en-US" sz="2600" dirty="0" smtClean="0"/>
              <a:t>Mycobacteria </a:t>
            </a:r>
            <a:r>
              <a:rPr lang="en-US" sz="2600" dirty="0"/>
              <a:t>are </a:t>
            </a:r>
            <a:r>
              <a:rPr lang="en-US" sz="2600" dirty="0" smtClean="0"/>
              <a:t>stained </a:t>
            </a:r>
            <a:r>
              <a:rPr lang="en-US" sz="2600" b="1" dirty="0" smtClean="0">
                <a:solidFill>
                  <a:srgbClr val="C00000"/>
                </a:solidFill>
              </a:rPr>
              <a:t>pink</a:t>
            </a:r>
            <a:r>
              <a:rPr lang="en-US" sz="2600" dirty="0"/>
              <a:t>, non-mycobacteria are </a:t>
            </a:r>
            <a:r>
              <a:rPr lang="en-US" sz="2600" b="1" dirty="0">
                <a:solidFill>
                  <a:srgbClr val="002060"/>
                </a:solidFill>
              </a:rPr>
              <a:t>blue or </a:t>
            </a:r>
            <a:r>
              <a:rPr lang="en-US" sz="2600" b="1" dirty="0" smtClean="0">
                <a:solidFill>
                  <a:srgbClr val="002060"/>
                </a:solidFill>
              </a:rPr>
              <a:t>green</a:t>
            </a:r>
            <a:endParaRPr lang="en-US" sz="2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919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62000"/>
            <a:ext cx="7848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667000" y="5257800"/>
            <a:ext cx="2096664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Acid fast </a:t>
            </a:r>
            <a:r>
              <a:rPr lang="en-US" sz="2400" b="1" dirty="0" smtClean="0"/>
              <a:t>bacilli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73394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Electron </a:t>
            </a:r>
            <a:r>
              <a:rPr lang="en-US" sz="2800" b="1" dirty="0" smtClean="0"/>
              <a:t>microscopy </a:t>
            </a:r>
            <a:r>
              <a:rPr lang="en-US" sz="2800" b="1" dirty="0"/>
              <a:t>(EM</a:t>
            </a:r>
            <a:r>
              <a:rPr lang="en-US" sz="2800" b="1" dirty="0" smtClean="0"/>
              <a:t>)</a:t>
            </a:r>
            <a:endParaRPr lang="en-US" sz="2800" b="1" dirty="0"/>
          </a:p>
        </p:txBody>
      </p:sp>
      <p:pic>
        <p:nvPicPr>
          <p:cNvPr id="4098" name="Picture 2" descr="C:\Users\DELL\Desktop\General Microbiology ppt\Immunology\PPT\Electron_Microscope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012371"/>
            <a:ext cx="2926080" cy="390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09600" y="1295400"/>
            <a:ext cx="4191000" cy="29238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EM is used to </a:t>
            </a:r>
            <a:r>
              <a:rPr lang="en-US" sz="2400" dirty="0" smtClean="0"/>
              <a:t>visualize </a:t>
            </a:r>
            <a:r>
              <a:rPr lang="en-US" sz="2400" dirty="0"/>
              <a:t>and rapidly identify </a:t>
            </a:r>
            <a:r>
              <a:rPr lang="en-US" sz="2400" b="1" dirty="0" smtClean="0">
                <a:solidFill>
                  <a:schemeClr val="tx2"/>
                </a:solidFill>
              </a:rPr>
              <a:t>viruses</a:t>
            </a:r>
            <a:r>
              <a:rPr lang="en-US" sz="2400" dirty="0" smtClean="0"/>
              <a:t> in </a:t>
            </a:r>
            <a:r>
              <a:rPr lang="en-US" sz="2400" dirty="0"/>
              <a:t>some clinical </a:t>
            </a:r>
            <a:r>
              <a:rPr lang="en-US" sz="2400" dirty="0" smtClean="0"/>
              <a:t>samples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 smtClean="0"/>
              <a:t> </a:t>
            </a:r>
            <a:r>
              <a:rPr lang="en-US" sz="2000" dirty="0"/>
              <a:t>e.g. </a:t>
            </a:r>
            <a:r>
              <a:rPr lang="en-US" sz="2000" dirty="0" smtClean="0"/>
              <a:t>rotavirus/</a:t>
            </a:r>
            <a:r>
              <a:rPr lang="en-US" sz="2000" dirty="0" err="1" smtClean="0"/>
              <a:t>norovirus</a:t>
            </a:r>
            <a:r>
              <a:rPr lang="en-US" sz="2000" dirty="0" smtClean="0"/>
              <a:t>/</a:t>
            </a:r>
            <a:r>
              <a:rPr lang="en-US" sz="2000" dirty="0"/>
              <a:t> </a:t>
            </a:r>
            <a:r>
              <a:rPr lang="en-US" sz="2000" dirty="0" smtClean="0"/>
              <a:t>in </a:t>
            </a:r>
            <a:r>
              <a:rPr lang="en-US" sz="2000" dirty="0"/>
              <a:t>faecal samples or herpes simplex and </a:t>
            </a:r>
            <a:r>
              <a:rPr lang="en-US" sz="2000" dirty="0" smtClean="0"/>
              <a:t>varicella zoster </a:t>
            </a:r>
            <a:r>
              <a:rPr lang="en-US" sz="2000" dirty="0"/>
              <a:t>in blister fluids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5598969" y="4544479"/>
            <a:ext cx="2091342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smtClean="0"/>
              <a:t>Electron Microscopy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938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 smtClean="0"/>
              <a:t>1. 2. Immunological methods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Used </a:t>
            </a:r>
            <a:r>
              <a:rPr lang="en-US" sz="2400" dirty="0"/>
              <a:t>for </a:t>
            </a:r>
            <a:r>
              <a:rPr lang="en-US" sz="2400" dirty="0" smtClean="0"/>
              <a:t>detection </a:t>
            </a:r>
            <a:r>
              <a:rPr lang="en-US" sz="2400" dirty="0"/>
              <a:t>of </a:t>
            </a:r>
            <a:r>
              <a:rPr lang="en-US" sz="2400" b="1" dirty="0">
                <a:solidFill>
                  <a:srgbClr val="002060"/>
                </a:solidFill>
              </a:rPr>
              <a:t>bacterial antigen 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r>
              <a:rPr lang="en-US" sz="2400" dirty="0" smtClean="0"/>
              <a:t>Serological </a:t>
            </a:r>
            <a:r>
              <a:rPr lang="en-US" sz="2400" dirty="0"/>
              <a:t>detection </a:t>
            </a:r>
            <a:r>
              <a:rPr lang="en-US" sz="2400" dirty="0" smtClean="0"/>
              <a:t>of </a:t>
            </a:r>
            <a:r>
              <a:rPr lang="en-US" sz="2400" b="1" dirty="0" smtClean="0">
                <a:solidFill>
                  <a:srgbClr val="002060"/>
                </a:solidFill>
              </a:rPr>
              <a:t>antibody/antigen</a:t>
            </a:r>
            <a:r>
              <a:rPr lang="en-US" sz="2400" dirty="0" smtClean="0"/>
              <a:t> </a:t>
            </a:r>
            <a:r>
              <a:rPr lang="en-US" sz="2400" dirty="0"/>
              <a:t>in the patient’s serum.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002060"/>
                </a:solidFill>
              </a:rPr>
              <a:t>Antibody-antigen reaction </a:t>
            </a:r>
            <a:r>
              <a:rPr lang="en-US" sz="2400" dirty="0"/>
              <a:t>must be made visible and can be </a:t>
            </a:r>
            <a:r>
              <a:rPr lang="en-US" sz="2400" dirty="0" smtClean="0"/>
              <a:t>achieved by </a:t>
            </a:r>
            <a:r>
              <a:rPr lang="en-US" sz="2400" dirty="0"/>
              <a:t>various </a:t>
            </a:r>
            <a:r>
              <a:rPr lang="en-US" sz="2400" dirty="0" smtClean="0"/>
              <a:t>techniques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i="1" dirty="0" smtClean="0">
                <a:solidFill>
                  <a:srgbClr val="002060"/>
                </a:solidFill>
              </a:rPr>
              <a:t>C. </a:t>
            </a:r>
            <a:r>
              <a:rPr lang="en-US" sz="2000" b="1" i="1" dirty="0">
                <a:solidFill>
                  <a:srgbClr val="002060"/>
                </a:solidFill>
              </a:rPr>
              <a:t>neoformans </a:t>
            </a:r>
            <a:r>
              <a:rPr lang="en-US" sz="2000" dirty="0"/>
              <a:t>capsular </a:t>
            </a:r>
            <a:r>
              <a:rPr lang="en-US" sz="2000" dirty="0" smtClean="0"/>
              <a:t>Ag  in </a:t>
            </a:r>
            <a:r>
              <a:rPr lang="en-US" sz="2000" dirty="0"/>
              <a:t>CSF </a:t>
            </a:r>
            <a:r>
              <a:rPr lang="en-US" sz="2000" dirty="0" smtClean="0"/>
              <a:t>samples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i="1" dirty="0" smtClean="0">
                <a:solidFill>
                  <a:srgbClr val="002060"/>
                </a:solidFill>
              </a:rPr>
              <a:t>S. pneumoniae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dirty="0" smtClean="0"/>
              <a:t>Ag </a:t>
            </a:r>
            <a:r>
              <a:rPr lang="en-US" sz="2000" dirty="0"/>
              <a:t>in urine samples using specific </a:t>
            </a:r>
            <a:r>
              <a:rPr lang="en-US" sz="2000" dirty="0" smtClean="0"/>
              <a:t>antibody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03429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 smtClean="0"/>
              <a:t>1.3. SEROLOGICAL TECHNIQUES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Agglutination</a:t>
            </a:r>
          </a:p>
          <a:p>
            <a:r>
              <a:rPr lang="en-US" sz="2800" dirty="0" smtClean="0"/>
              <a:t>Precipitation</a:t>
            </a:r>
          </a:p>
          <a:p>
            <a:r>
              <a:rPr lang="en-US" sz="2800" dirty="0" smtClean="0"/>
              <a:t>Complement fixation</a:t>
            </a:r>
          </a:p>
          <a:p>
            <a:r>
              <a:rPr lang="en-US" sz="2800" dirty="0" smtClean="0"/>
              <a:t>Virus neutralization</a:t>
            </a:r>
          </a:p>
          <a:p>
            <a:r>
              <a:rPr lang="en-US" sz="2800" dirty="0" err="1" smtClean="0"/>
              <a:t>Enyzme</a:t>
            </a:r>
            <a:r>
              <a:rPr lang="en-US" sz="2800" dirty="0" smtClean="0"/>
              <a:t> </a:t>
            </a:r>
            <a:r>
              <a:rPr lang="en-US" sz="2800" dirty="0"/>
              <a:t>linked immunosorbent assay (ELISA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Radioimmunoassay </a:t>
            </a:r>
            <a:r>
              <a:rPr lang="en-US" sz="2800" dirty="0"/>
              <a:t>(RIA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Immunofluorescence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58471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73727"/>
            <a:ext cx="7620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09600" y="674454"/>
            <a:ext cx="75438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/>
              <a:t>Table: Direct </a:t>
            </a:r>
            <a:r>
              <a:rPr lang="en-US" sz="2000" b="1" dirty="0"/>
              <a:t>detection of </a:t>
            </a:r>
            <a:r>
              <a:rPr lang="en-US" sz="2000" b="1" dirty="0" smtClean="0"/>
              <a:t>Microbial  </a:t>
            </a:r>
            <a:r>
              <a:rPr lang="en-US" sz="2000" b="1" dirty="0"/>
              <a:t>antigens in clinical </a:t>
            </a:r>
            <a:r>
              <a:rPr lang="en-US" sz="2000" b="1" dirty="0" smtClean="0"/>
              <a:t>samples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07714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US" sz="2800" b="1" dirty="0" smtClean="0"/>
              <a:t>1.4. Molecular techniques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NAAT: Molecular </a:t>
            </a:r>
            <a:r>
              <a:rPr lang="en-US" sz="2400" dirty="0"/>
              <a:t>biology techniques for </a:t>
            </a:r>
            <a:r>
              <a:rPr lang="en-US" sz="2400" dirty="0" smtClean="0"/>
              <a:t>detection and </a:t>
            </a:r>
            <a:r>
              <a:rPr lang="en-US" sz="2400" dirty="0"/>
              <a:t>amplification of microbial </a:t>
            </a:r>
            <a:r>
              <a:rPr lang="en-US" sz="2400" dirty="0" smtClean="0"/>
              <a:t>NA in specimens</a:t>
            </a:r>
          </a:p>
          <a:p>
            <a:r>
              <a:rPr lang="en-US" sz="2400" dirty="0" smtClean="0"/>
              <a:t>Useful for mos. </a:t>
            </a:r>
            <a:r>
              <a:rPr lang="en-US" sz="2400" dirty="0"/>
              <a:t>that are difficult or slow to </a:t>
            </a:r>
            <a:r>
              <a:rPr lang="en-US" sz="2400" dirty="0" smtClean="0"/>
              <a:t>culture</a:t>
            </a:r>
            <a:endParaRPr lang="en-US" sz="2400" dirty="0"/>
          </a:p>
          <a:p>
            <a:r>
              <a:rPr lang="en-US" sz="2400" dirty="0" smtClean="0"/>
              <a:t>Greater sensitivity </a:t>
            </a:r>
          </a:p>
          <a:p>
            <a:pPr marL="0" indent="0">
              <a:buNone/>
            </a:pPr>
            <a:r>
              <a:rPr lang="en-US" sz="2400" b="1" dirty="0" smtClean="0"/>
              <a:t>DNA </a:t>
            </a:r>
            <a:r>
              <a:rPr lang="en-US" sz="2400" b="1" dirty="0"/>
              <a:t>hybridization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– </a:t>
            </a:r>
            <a:r>
              <a:rPr lang="en-US" sz="2400" dirty="0"/>
              <a:t>Nucleic acid amplification testing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>
                <a:solidFill>
                  <a:srgbClr val="FF0000"/>
                </a:solidFill>
              </a:rPr>
              <a:t>Polymerase chain reaction (PCR)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– Ligase chain reaction (LCR)</a:t>
            </a:r>
            <a:br>
              <a:rPr lang="en-US" sz="2400" dirty="0"/>
            </a:br>
            <a:r>
              <a:rPr lang="en-US" sz="2400" dirty="0"/>
              <a:t>– Automated DNA amplification</a:t>
            </a:r>
            <a:br>
              <a:rPr lang="en-US" sz="2400" dirty="0"/>
            </a:br>
            <a:r>
              <a:rPr lang="en-US" sz="2400" dirty="0"/>
              <a:t>– Real time </a:t>
            </a:r>
            <a:r>
              <a:rPr lang="en-US" sz="2400" dirty="0" smtClean="0"/>
              <a:t>PCR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Process: </a:t>
            </a:r>
            <a:r>
              <a:rPr lang="en-US" sz="2400" b="1" dirty="0" smtClean="0">
                <a:solidFill>
                  <a:srgbClr val="002060"/>
                </a:solidFill>
              </a:rPr>
              <a:t>Denaturing Primers </a:t>
            </a:r>
            <a:r>
              <a:rPr lang="en-US" sz="1800" b="1" dirty="0" smtClean="0">
                <a:solidFill>
                  <a:srgbClr val="002060"/>
                </a:solidFill>
              </a:rPr>
              <a:t>(94°C) </a:t>
            </a:r>
            <a:r>
              <a:rPr lang="en-US" sz="2400" b="1" dirty="0" smtClean="0">
                <a:solidFill>
                  <a:srgbClr val="002060"/>
                </a:solidFill>
              </a:rPr>
              <a:t>–annealing </a:t>
            </a:r>
            <a:r>
              <a:rPr lang="en-US" sz="1900" b="1" dirty="0" smtClean="0">
                <a:solidFill>
                  <a:srgbClr val="002060"/>
                </a:solidFill>
              </a:rPr>
              <a:t>(</a:t>
            </a:r>
            <a:r>
              <a:rPr lang="en-US" sz="1900" b="1" dirty="0" smtClean="0"/>
              <a:t>55°C) </a:t>
            </a:r>
            <a:r>
              <a:rPr lang="en-US" sz="2400" b="1" dirty="0" smtClean="0">
                <a:solidFill>
                  <a:srgbClr val="002060"/>
                </a:solidFill>
              </a:rPr>
              <a:t>– Extension </a:t>
            </a:r>
            <a:r>
              <a:rPr lang="en-US" sz="1700" b="1" dirty="0" smtClean="0">
                <a:solidFill>
                  <a:srgbClr val="002060"/>
                </a:solidFill>
              </a:rPr>
              <a:t>(72°C</a:t>
            </a:r>
            <a:r>
              <a:rPr lang="en-US" sz="1700" b="1" dirty="0">
                <a:solidFill>
                  <a:srgbClr val="002060"/>
                </a:solidFill>
              </a:rPr>
              <a:t>)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7723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2060"/>
                </a:solidFill>
              </a:rPr>
              <a:t>B. Culture techniques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/>
              <a:t>Most medically important bacteria and fungi </a:t>
            </a:r>
            <a:r>
              <a:rPr lang="en-US" sz="2400" dirty="0" smtClean="0"/>
              <a:t>can be </a:t>
            </a:r>
            <a:r>
              <a:rPr lang="en-US" sz="2400" dirty="0"/>
              <a:t>cultured </a:t>
            </a:r>
            <a:endParaRPr lang="en-US" sz="2400" dirty="0" smtClean="0"/>
          </a:p>
          <a:p>
            <a:pPr lvl="1">
              <a:buFont typeface="Wingdings" pitchFamily="2" charset="2"/>
              <a:buChar char="ü"/>
            </a:pPr>
            <a:r>
              <a:rPr lang="en-US" sz="2400" b="1" dirty="0" smtClean="0">
                <a:solidFill>
                  <a:srgbClr val="002060"/>
                </a:solidFill>
              </a:rPr>
              <a:t>on </a:t>
            </a:r>
            <a:r>
              <a:rPr lang="en-US" sz="2400" b="1" dirty="0">
                <a:solidFill>
                  <a:srgbClr val="002060"/>
                </a:solidFill>
              </a:rPr>
              <a:t>laboratory agar or in </a:t>
            </a:r>
            <a:r>
              <a:rPr lang="en-US" sz="2400" b="1" dirty="0" smtClean="0">
                <a:solidFill>
                  <a:srgbClr val="002060"/>
                </a:solidFill>
              </a:rPr>
              <a:t>enrichment broths.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Definitive </a:t>
            </a:r>
            <a:r>
              <a:rPr lang="en-US" sz="2400" b="1" dirty="0">
                <a:solidFill>
                  <a:srgbClr val="002060"/>
                </a:solidFill>
              </a:rPr>
              <a:t>method</a:t>
            </a:r>
            <a:r>
              <a:rPr lang="en-US" sz="2400" dirty="0"/>
              <a:t> of confirming a </a:t>
            </a:r>
            <a:r>
              <a:rPr lang="en-US" sz="2400" b="1" dirty="0">
                <a:solidFill>
                  <a:srgbClr val="002060"/>
                </a:solidFill>
              </a:rPr>
              <a:t>diagnosis of infection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Various </a:t>
            </a:r>
            <a:r>
              <a:rPr lang="en-US" sz="2400" dirty="0"/>
              <a:t>types </a:t>
            </a:r>
            <a:r>
              <a:rPr lang="en-US" sz="2400" dirty="0" smtClean="0"/>
              <a:t>of microbiological </a:t>
            </a:r>
            <a:r>
              <a:rPr lang="en-US" sz="2400" dirty="0"/>
              <a:t>media exist</a:t>
            </a:r>
            <a:r>
              <a:rPr lang="en-US" sz="2400" dirty="0" smtClean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Basic </a:t>
            </a:r>
            <a:r>
              <a:rPr lang="en-US" sz="2000" b="1" dirty="0" smtClean="0">
                <a:solidFill>
                  <a:srgbClr val="002060"/>
                </a:solidFill>
              </a:rPr>
              <a:t>agar</a:t>
            </a:r>
            <a:r>
              <a:rPr lang="en-US" sz="2000" dirty="0" smtClean="0"/>
              <a:t>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002060"/>
                </a:solidFill>
              </a:rPr>
              <a:t>Enriched agar</a:t>
            </a:r>
            <a:endParaRPr lang="en-US" sz="2000" dirty="0" smtClean="0"/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Selective </a:t>
            </a:r>
            <a:r>
              <a:rPr lang="en-US" sz="2000" dirty="0" smtClean="0"/>
              <a:t>agar</a:t>
            </a:r>
            <a:endParaRPr lang="en-US" sz="2000" dirty="0"/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Differential </a:t>
            </a:r>
            <a:r>
              <a:rPr lang="en-US" sz="2000" dirty="0" smtClean="0"/>
              <a:t>agar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Enrichment </a:t>
            </a:r>
            <a:r>
              <a:rPr lang="en-US" sz="2000" dirty="0" smtClean="0"/>
              <a:t>broth</a:t>
            </a:r>
            <a:endParaRPr lang="en-US" sz="2000" dirty="0"/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Selective enrichment </a:t>
            </a:r>
            <a:r>
              <a:rPr lang="en-US" sz="2000" dirty="0" smtClean="0"/>
              <a:t>broth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32281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2000" dirty="0" smtClean="0"/>
              <a:t>Cont.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2060"/>
                </a:solidFill>
              </a:rPr>
              <a:t>Simple media: </a:t>
            </a:r>
            <a:r>
              <a:rPr lang="en-US" sz="2200" dirty="0"/>
              <a:t>nutrient broth/nutrient agar: peptone/meat extract </a:t>
            </a:r>
            <a:endParaRPr lang="en-US" sz="2200" b="1" dirty="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2060"/>
                </a:solidFill>
              </a:rPr>
              <a:t>Enriched media: </a:t>
            </a:r>
            <a:r>
              <a:rPr lang="en-US" sz="2200" dirty="0"/>
              <a:t>Blood agar or Chocolate agar: </a:t>
            </a:r>
            <a:r>
              <a:rPr lang="en-US" sz="2200" b="1" dirty="0">
                <a:solidFill>
                  <a:srgbClr val="002060"/>
                </a:solidFill>
              </a:rPr>
              <a:t>additional nutrients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2060"/>
                </a:solidFill>
              </a:rPr>
              <a:t>Selective media: </a:t>
            </a:r>
            <a:r>
              <a:rPr lang="en-US" sz="2200" dirty="0"/>
              <a:t>growth of some bacteria/suppressing other: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rgbClr val="002060"/>
                </a:solidFill>
              </a:rPr>
              <a:t>MSA</a:t>
            </a:r>
            <a:r>
              <a:rPr lang="en-US" sz="2200" dirty="0"/>
              <a:t>: NaCl-recovery of staphylococci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rgbClr val="002060"/>
                </a:solidFill>
              </a:rPr>
              <a:t>MAC</a:t>
            </a:r>
            <a:r>
              <a:rPr lang="en-US" sz="2200" dirty="0"/>
              <a:t>: bile salts and allows the growth of bile-tolerant bacteria only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rgbClr val="002060"/>
                </a:solidFill>
              </a:rPr>
              <a:t>antibiotics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2060"/>
                </a:solidFill>
              </a:rPr>
              <a:t>Indicator </a:t>
            </a:r>
            <a:r>
              <a:rPr lang="en-US" sz="2200" b="1" dirty="0" smtClean="0">
                <a:solidFill>
                  <a:srgbClr val="002060"/>
                </a:solidFill>
              </a:rPr>
              <a:t>media/</a:t>
            </a:r>
            <a:r>
              <a:rPr lang="en-US" sz="2400" dirty="0" smtClean="0"/>
              <a:t>differential</a:t>
            </a:r>
            <a:r>
              <a:rPr lang="en-US" sz="2200" b="1" dirty="0" smtClean="0">
                <a:solidFill>
                  <a:srgbClr val="002060"/>
                </a:solidFill>
              </a:rPr>
              <a:t>: </a:t>
            </a:r>
            <a:r>
              <a:rPr lang="en-US" sz="2200" dirty="0"/>
              <a:t>sugar fermentation reactions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dirty="0"/>
              <a:t>production of acid and the subsequent </a:t>
            </a:r>
            <a:r>
              <a:rPr lang="en-US" sz="2200" dirty="0" smtClean="0"/>
              <a:t>color </a:t>
            </a:r>
            <a:r>
              <a:rPr lang="en-US" sz="2200" dirty="0"/>
              <a:t>change of a pH indicator (e.g. </a:t>
            </a:r>
            <a:r>
              <a:rPr lang="en-US" sz="2200" dirty="0" smtClean="0"/>
              <a:t>MAC and CLED)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3875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b="1" dirty="0" smtClean="0"/>
              <a:t>Atmosphere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 smtClean="0"/>
              <a:t>Following </a:t>
            </a:r>
            <a:r>
              <a:rPr lang="en-US" sz="2400" dirty="0"/>
              <a:t>inoculation, microbiological </a:t>
            </a:r>
            <a:r>
              <a:rPr lang="en-US" sz="2400" dirty="0" smtClean="0"/>
              <a:t>media are </a:t>
            </a:r>
            <a:r>
              <a:rPr lang="en-US" sz="2400" dirty="0"/>
              <a:t>incubated under specific atmospheric conditions to allow growth of </a:t>
            </a:r>
            <a:r>
              <a:rPr lang="en-US" sz="2400" dirty="0" smtClean="0"/>
              <a:t>mos.</a:t>
            </a:r>
          </a:p>
          <a:p>
            <a:pPr marL="0" indent="0">
              <a:buNone/>
            </a:pPr>
            <a:r>
              <a:rPr lang="en-US" sz="2400" dirty="0"/>
              <a:t>– Aerobic</a:t>
            </a:r>
            <a:br>
              <a:rPr lang="en-US" sz="2400" dirty="0"/>
            </a:br>
            <a:r>
              <a:rPr lang="en-US" sz="2400" dirty="0"/>
              <a:t>– CO2</a:t>
            </a:r>
            <a:br>
              <a:rPr lang="en-US" sz="2400" dirty="0"/>
            </a:br>
            <a:r>
              <a:rPr lang="en-US" sz="2400" dirty="0"/>
              <a:t>– Anaerobic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dirty="0" smtClean="0"/>
              <a:t>Microaerophilic</a:t>
            </a:r>
          </a:p>
          <a:p>
            <a:pPr marL="0" indent="0">
              <a:buNone/>
            </a:pPr>
            <a:r>
              <a:rPr lang="en-US" sz="2400" b="1" dirty="0"/>
              <a:t>Cell culture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– Virus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dirty="0" smtClean="0"/>
              <a:t>Chlamydia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362200"/>
            <a:ext cx="290512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67000" y="4800600"/>
            <a:ext cx="60960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Fig.  Anaerobic </a:t>
            </a:r>
            <a:r>
              <a:rPr lang="en-US" b="1" dirty="0"/>
              <a:t>cabinet used for </a:t>
            </a:r>
            <a:r>
              <a:rPr lang="en-US" b="1" dirty="0" smtClean="0"/>
              <a:t>growing anaerobic bacteria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325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 smtClean="0"/>
              <a:t>Bacterial</a:t>
            </a:r>
            <a:r>
              <a:rPr lang="en-US" sz="2800" b="1" dirty="0"/>
              <a:t> </a:t>
            </a:r>
            <a:r>
              <a:rPr lang="en-US" sz="2800" b="1" dirty="0" smtClean="0"/>
              <a:t>Identification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To ensure correct and appropriate </a:t>
            </a:r>
            <a:r>
              <a:rPr lang="en-US" sz="2600" dirty="0" smtClean="0"/>
              <a:t>Rx  of infection,</a:t>
            </a:r>
          </a:p>
          <a:p>
            <a:r>
              <a:rPr lang="en-US" sz="2600" dirty="0" smtClean="0"/>
              <a:t> It is essential </a:t>
            </a:r>
            <a:r>
              <a:rPr lang="en-US" sz="2600" dirty="0"/>
              <a:t>to accurately </a:t>
            </a:r>
            <a:r>
              <a:rPr lang="en-US" sz="2600" dirty="0" smtClean="0"/>
              <a:t>identify pathogens </a:t>
            </a:r>
            <a:r>
              <a:rPr lang="en-US" sz="2600" dirty="0"/>
              <a:t>recovered from samples. </a:t>
            </a:r>
            <a:endParaRPr lang="en-US" sz="2600" dirty="0" smtClean="0"/>
          </a:p>
          <a:p>
            <a:r>
              <a:rPr lang="en-US" sz="2600" dirty="0" smtClean="0"/>
              <a:t>Identification</a:t>
            </a:r>
            <a:r>
              <a:rPr lang="en-US" sz="2600" dirty="0"/>
              <a:t> </a:t>
            </a:r>
            <a:r>
              <a:rPr lang="en-US" sz="2600" dirty="0" smtClean="0"/>
              <a:t>techniques </a:t>
            </a:r>
            <a:r>
              <a:rPr lang="en-US" sz="2600" dirty="0"/>
              <a:t>include</a:t>
            </a:r>
            <a:r>
              <a:rPr lang="en-US" sz="2600" dirty="0" smtClean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sz="2600" b="1" dirty="0" smtClean="0">
                <a:solidFill>
                  <a:srgbClr val="002060"/>
                </a:solidFill>
              </a:rPr>
              <a:t>Growth </a:t>
            </a:r>
            <a:r>
              <a:rPr lang="en-US" sz="2600" b="1" dirty="0">
                <a:solidFill>
                  <a:srgbClr val="002060"/>
                </a:solidFill>
              </a:rPr>
              <a:t>characteristics</a:t>
            </a:r>
            <a:r>
              <a:rPr lang="en-US" sz="2400" dirty="0"/>
              <a:t>, </a:t>
            </a:r>
            <a:r>
              <a:rPr lang="en-US" sz="2200" dirty="0"/>
              <a:t>e.g. strictly aerobic/anaerobic, facultative anaerobe;  </a:t>
            </a:r>
            <a:r>
              <a:rPr lang="en-US" sz="2200" dirty="0" smtClean="0"/>
              <a:t>Speed </a:t>
            </a:r>
            <a:r>
              <a:rPr lang="en-US" sz="2200" dirty="0"/>
              <a:t>of growth</a:t>
            </a:r>
            <a:r>
              <a:rPr lang="en-US" sz="2200" dirty="0" smtClean="0"/>
              <a:t>;</a:t>
            </a:r>
            <a:endParaRPr lang="en-US" sz="2200" dirty="0"/>
          </a:p>
          <a:p>
            <a:pPr lvl="1">
              <a:buFont typeface="Wingdings" pitchFamily="2" charset="2"/>
              <a:buChar char="Ø"/>
            </a:pPr>
            <a:r>
              <a:rPr lang="en-US" sz="2600" b="1" dirty="0" smtClean="0">
                <a:solidFill>
                  <a:srgbClr val="002060"/>
                </a:solidFill>
              </a:rPr>
              <a:t>Colonial </a:t>
            </a:r>
            <a:r>
              <a:rPr lang="en-US" sz="2600" b="1" dirty="0">
                <a:solidFill>
                  <a:srgbClr val="002060"/>
                </a:solidFill>
              </a:rPr>
              <a:t>characteristics</a:t>
            </a:r>
            <a:r>
              <a:rPr lang="en-US" dirty="0"/>
              <a:t>, </a:t>
            </a:r>
            <a:r>
              <a:rPr lang="en-US" sz="2200" dirty="0"/>
              <a:t>e.g. size, shape, </a:t>
            </a:r>
            <a:r>
              <a:rPr lang="en-US" sz="2200" dirty="0" err="1"/>
              <a:t>haemolysis</a:t>
            </a:r>
            <a:r>
              <a:rPr lang="en-US" sz="2200" dirty="0"/>
              <a:t>, odour</a:t>
            </a:r>
            <a:r>
              <a:rPr lang="en-US" sz="2200" dirty="0" smtClean="0"/>
              <a:t>;</a:t>
            </a:r>
            <a:endParaRPr lang="en-US" dirty="0" smtClean="0"/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sz="2600" b="1" dirty="0" smtClean="0">
                <a:solidFill>
                  <a:srgbClr val="002060"/>
                </a:solidFill>
              </a:rPr>
              <a:t>Microscopical </a:t>
            </a:r>
            <a:r>
              <a:rPr lang="en-US" sz="2600" b="1" dirty="0">
                <a:solidFill>
                  <a:srgbClr val="002060"/>
                </a:solidFill>
              </a:rPr>
              <a:t>appearance</a:t>
            </a:r>
            <a:r>
              <a:rPr lang="en-US" dirty="0"/>
              <a:t>, </a:t>
            </a:r>
            <a:r>
              <a:rPr lang="en-US" sz="2200" dirty="0"/>
              <a:t>e.g. </a:t>
            </a:r>
            <a:r>
              <a:rPr lang="en-US" sz="2200" dirty="0" smtClean="0"/>
              <a:t>GP/ GN; </a:t>
            </a:r>
            <a:r>
              <a:rPr lang="en-US" sz="2200" dirty="0"/>
              <a:t>presence </a:t>
            </a:r>
            <a:r>
              <a:rPr lang="en-US" sz="2200" dirty="0" smtClean="0"/>
              <a:t>of hyphae/spores</a:t>
            </a:r>
            <a:r>
              <a:rPr lang="en-US" sz="2200" dirty="0"/>
              <a:t>; </a:t>
            </a:r>
            <a:r>
              <a:rPr lang="en-US" sz="2200" dirty="0" smtClean="0"/>
              <a:t>bacillus/ coccus;</a:t>
            </a:r>
          </a:p>
          <a:p>
            <a:pPr lvl="1">
              <a:buFont typeface="Wingdings" pitchFamily="2" charset="2"/>
              <a:buChar char="Ø"/>
            </a:pPr>
            <a:r>
              <a:rPr lang="en-US" sz="2600" b="1" dirty="0" smtClean="0">
                <a:solidFill>
                  <a:srgbClr val="002060"/>
                </a:solidFill>
              </a:rPr>
              <a:t>Antigenic </a:t>
            </a:r>
            <a:r>
              <a:rPr lang="en-US" sz="2600" b="1" dirty="0">
                <a:solidFill>
                  <a:srgbClr val="002060"/>
                </a:solidFill>
              </a:rPr>
              <a:t>characteristics</a:t>
            </a:r>
            <a:r>
              <a:rPr lang="en-US" dirty="0"/>
              <a:t>, </a:t>
            </a:r>
            <a:r>
              <a:rPr lang="en-US" sz="2200" dirty="0"/>
              <a:t>e.g. group specific carbohydrates (Lancefield </a:t>
            </a:r>
            <a:r>
              <a:rPr lang="en-US" sz="2200" dirty="0" smtClean="0"/>
              <a:t>grouping of b-</a:t>
            </a:r>
            <a:r>
              <a:rPr lang="en-US" sz="2200" dirty="0" err="1" smtClean="0"/>
              <a:t>haemolytic</a:t>
            </a:r>
            <a:r>
              <a:rPr lang="en-US" sz="2200" dirty="0"/>
              <a:t> </a:t>
            </a:r>
            <a:r>
              <a:rPr lang="en-US" sz="2200" dirty="0" smtClean="0"/>
              <a:t>streptococci</a:t>
            </a:r>
            <a:r>
              <a:rPr lang="en-US" sz="2200" dirty="0"/>
              <a:t>), presence of clumping factor/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41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pPr algn="r"/>
            <a:r>
              <a:rPr lang="en-US" sz="1800" dirty="0" smtClean="0"/>
              <a:t>Cont.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Protein </a:t>
            </a:r>
            <a:r>
              <a:rPr lang="en-US" sz="2400" dirty="0"/>
              <a:t>A </a:t>
            </a:r>
            <a:r>
              <a:rPr lang="en-US" sz="2000" dirty="0"/>
              <a:t>(</a:t>
            </a:r>
            <a:r>
              <a:rPr lang="en-US" sz="2000" i="1" dirty="0"/>
              <a:t>S. aureus</a:t>
            </a:r>
            <a:r>
              <a:rPr lang="en-US" sz="2000" dirty="0"/>
              <a:t>), </a:t>
            </a:r>
            <a:r>
              <a:rPr lang="en-US" sz="2400" dirty="0"/>
              <a:t>somatic/flagella </a:t>
            </a:r>
            <a:r>
              <a:rPr lang="en-US" sz="2400" dirty="0" smtClean="0"/>
              <a:t>Ags </a:t>
            </a:r>
            <a:r>
              <a:rPr lang="en-US" sz="2000" dirty="0" smtClean="0"/>
              <a:t>(Salmonella </a:t>
            </a:r>
            <a:r>
              <a:rPr lang="en-US" sz="2000" dirty="0"/>
              <a:t>spp</a:t>
            </a:r>
            <a:r>
              <a:rPr lang="en-US" sz="2000" dirty="0" smtClean="0"/>
              <a:t>.);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Biochemical </a:t>
            </a:r>
            <a:r>
              <a:rPr lang="en-US" sz="2400" b="1" dirty="0">
                <a:solidFill>
                  <a:srgbClr val="002060"/>
                </a:solidFill>
              </a:rPr>
              <a:t>properties</a:t>
            </a:r>
            <a:r>
              <a:rPr lang="en-US" sz="2400" dirty="0"/>
              <a:t>, </a:t>
            </a:r>
            <a:r>
              <a:rPr lang="en-US" sz="2000" dirty="0"/>
              <a:t>e.g. fermentation of sugars, enzyme </a:t>
            </a:r>
            <a:r>
              <a:rPr lang="en-US" sz="2000" dirty="0" smtClean="0"/>
              <a:t>production;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002060"/>
                </a:solidFill>
              </a:rPr>
              <a:t>Specific </a:t>
            </a:r>
            <a:r>
              <a:rPr lang="en-US" sz="2400" b="1" dirty="0">
                <a:solidFill>
                  <a:srgbClr val="002060"/>
                </a:solidFill>
              </a:rPr>
              <a:t>growth factor requirement, </a:t>
            </a:r>
            <a:r>
              <a:rPr lang="en-US" sz="2000" dirty="0"/>
              <a:t>e.g. X and </a:t>
            </a:r>
            <a:r>
              <a:rPr lang="en-US" sz="2000" dirty="0" smtClean="0"/>
              <a:t>V</a:t>
            </a:r>
            <a:r>
              <a:rPr lang="en-US" sz="2000" dirty="0"/>
              <a:t> </a:t>
            </a:r>
            <a:r>
              <a:rPr lang="en-US" sz="2000" dirty="0" smtClean="0"/>
              <a:t>(H. influenzae);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Gene </a:t>
            </a:r>
            <a:r>
              <a:rPr lang="en-US" sz="2400" b="1" dirty="0">
                <a:solidFill>
                  <a:srgbClr val="002060"/>
                </a:solidFill>
              </a:rPr>
              <a:t>probes</a:t>
            </a:r>
            <a:r>
              <a:rPr lang="en-US" sz="2400" dirty="0"/>
              <a:t>, </a:t>
            </a:r>
            <a:r>
              <a:rPr lang="en-US" sz="2000" dirty="0"/>
              <a:t>e.g. </a:t>
            </a:r>
            <a:r>
              <a:rPr lang="en-US" sz="2000" dirty="0" smtClean="0"/>
              <a:t>identify</a:t>
            </a:r>
            <a:r>
              <a:rPr lang="en-US" sz="2000" dirty="0"/>
              <a:t> </a:t>
            </a:r>
            <a:r>
              <a:rPr lang="en-US" sz="2000" dirty="0" smtClean="0"/>
              <a:t>bacterial </a:t>
            </a:r>
            <a:r>
              <a:rPr lang="en-US" sz="2000" dirty="0"/>
              <a:t>DNA/RNA, e.g. identification </a:t>
            </a:r>
            <a:r>
              <a:rPr lang="en-US" sz="2000" dirty="0" smtClean="0"/>
              <a:t>of mycobacteria;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Toxin </a:t>
            </a:r>
            <a:r>
              <a:rPr lang="en-US" sz="2400" b="1" dirty="0">
                <a:solidFill>
                  <a:srgbClr val="002060"/>
                </a:solidFill>
              </a:rPr>
              <a:t>production</a:t>
            </a:r>
            <a:r>
              <a:rPr lang="en-US" sz="2400" dirty="0"/>
              <a:t>, </a:t>
            </a:r>
            <a:r>
              <a:rPr lang="en-US" sz="2000" dirty="0"/>
              <a:t>e.g. </a:t>
            </a:r>
            <a:r>
              <a:rPr lang="en-US" sz="2000" dirty="0" err="1"/>
              <a:t>Nagler</a:t>
            </a:r>
            <a:r>
              <a:rPr lang="en-US" sz="2000" dirty="0"/>
              <a:t> test for </a:t>
            </a:r>
            <a:r>
              <a:rPr lang="en-US" sz="2000" dirty="0" smtClean="0"/>
              <a:t>Clostridium perfringens</a:t>
            </a:r>
            <a:r>
              <a:rPr lang="en-US" sz="2000" dirty="0"/>
              <a:t>, ELISA for C. difficile toxins.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962400"/>
            <a:ext cx="2905125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057400" y="5837367"/>
            <a:ext cx="6096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Fig. Commercial biochemical-based identification </a:t>
            </a:r>
            <a:r>
              <a:rPr lang="en-US" dirty="0"/>
              <a:t>system (API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14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Antibiotic Susceptibility </a:t>
            </a:r>
            <a:r>
              <a:rPr lang="en-US" sz="2800" b="1" dirty="0" smtClean="0"/>
              <a:t>Testing (AST)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sz="2400" dirty="0"/>
              <a:t>Microorganisms of clinical significance are investigated for antibiotic susceptibility. </a:t>
            </a:r>
            <a:endParaRPr lang="en-US" sz="2400" dirty="0" smtClean="0"/>
          </a:p>
          <a:p>
            <a:r>
              <a:rPr lang="en-US" sz="2400" dirty="0" smtClean="0"/>
              <a:t>Various AST methods </a:t>
            </a:r>
            <a:r>
              <a:rPr lang="en-US" sz="2400" dirty="0"/>
              <a:t>are used in the </a:t>
            </a:r>
            <a:r>
              <a:rPr lang="en-US" sz="2400" dirty="0" smtClean="0"/>
              <a:t>laboratory:</a:t>
            </a:r>
            <a:endParaRPr lang="en-US" sz="2400" dirty="0"/>
          </a:p>
          <a:p>
            <a:pPr lvl="1">
              <a:buFont typeface="Wingdings" pitchFamily="2" charset="2"/>
              <a:buChar char="Ø"/>
            </a:pPr>
            <a:r>
              <a:rPr lang="en-US" sz="2200" b="1" dirty="0" smtClean="0">
                <a:solidFill>
                  <a:srgbClr val="002060"/>
                </a:solidFill>
              </a:rPr>
              <a:t>Disc diffusion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b="1" dirty="0" smtClean="0">
                <a:solidFill>
                  <a:srgbClr val="002060"/>
                </a:solidFill>
              </a:rPr>
              <a:t>Minimum inhibitory/bactericidal concentrations </a:t>
            </a:r>
            <a:r>
              <a:rPr lang="en-US" sz="2200" b="1" dirty="0">
                <a:solidFill>
                  <a:srgbClr val="002060"/>
                </a:solidFill>
              </a:rPr>
              <a:t>(MIC/MBC</a:t>
            </a:r>
            <a:r>
              <a:rPr lang="en-US" sz="2200" b="1" dirty="0" smtClean="0">
                <a:solidFill>
                  <a:srgbClr val="002060"/>
                </a:solidFill>
              </a:rPr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b="1" dirty="0" smtClean="0">
                <a:solidFill>
                  <a:srgbClr val="002060"/>
                </a:solidFill>
              </a:rPr>
              <a:t>Agar dilution</a:t>
            </a:r>
            <a:r>
              <a:rPr lang="en-US" sz="2200" b="1" dirty="0">
                <a:solidFill>
                  <a:srgbClr val="002060"/>
                </a:solidFill>
              </a:rPr>
              <a:t> </a:t>
            </a:r>
            <a:r>
              <a:rPr lang="en-US" sz="2200" b="1" dirty="0" smtClean="0">
                <a:solidFill>
                  <a:srgbClr val="002060"/>
                </a:solidFill>
              </a:rPr>
              <a:t>assay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 smtClean="0"/>
              <a:t>VITEK R2 </a:t>
            </a:r>
            <a:r>
              <a:rPr lang="en-US" sz="2200" dirty="0"/>
              <a:t>(</a:t>
            </a:r>
            <a:r>
              <a:rPr lang="en-US" sz="2200" dirty="0" err="1" smtClean="0"/>
              <a:t>bioMerieux</a:t>
            </a:r>
            <a:r>
              <a:rPr lang="en-US" sz="2200" dirty="0" smtClean="0"/>
              <a:t>): identification and susceptibility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200" b="1" dirty="0">
                <a:solidFill>
                  <a:srgbClr val="002060"/>
                </a:solidFill>
              </a:rPr>
              <a:t/>
            </a:r>
            <a:br>
              <a:rPr lang="en-US" sz="2200" b="1" dirty="0">
                <a:solidFill>
                  <a:srgbClr val="002060"/>
                </a:solidFill>
              </a:rPr>
            </a:br>
            <a:endParaRPr lang="en-US" sz="2200" b="1" dirty="0">
              <a:solidFill>
                <a:srgbClr val="00206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267200"/>
            <a:ext cx="29146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19200" y="6266903"/>
            <a:ext cx="73914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Vitek</a:t>
            </a:r>
            <a:r>
              <a:rPr lang="en-US" dirty="0"/>
              <a:t> </a:t>
            </a:r>
            <a:r>
              <a:rPr lang="en-US" dirty="0" smtClean="0"/>
              <a:t>©2 </a:t>
            </a:r>
            <a:r>
              <a:rPr lang="en-US" dirty="0"/>
              <a:t>machine and cards used </a:t>
            </a:r>
            <a:r>
              <a:rPr lang="en-US" dirty="0" smtClean="0"/>
              <a:t>for automated </a:t>
            </a:r>
            <a:r>
              <a:rPr lang="en-US" dirty="0"/>
              <a:t>identification and </a:t>
            </a:r>
            <a:r>
              <a:rPr lang="en-US" dirty="0" smtClean="0"/>
              <a:t>AST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820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Susceptibility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95400"/>
            <a:ext cx="3886199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648199" y="1295400"/>
            <a:ext cx="3777962" cy="47555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Disk </a:t>
            </a:r>
            <a:r>
              <a:rPr lang="en-US" dirty="0"/>
              <a:t>test,” </a:t>
            </a:r>
            <a:r>
              <a:rPr lang="en-US" dirty="0" smtClean="0"/>
              <a:t>is used </a:t>
            </a:r>
            <a:r>
              <a:rPr lang="en-US" dirty="0"/>
              <a:t>to test the </a:t>
            </a:r>
            <a:r>
              <a:rPr lang="en-US" dirty="0" smtClean="0"/>
              <a:t>resistance of </a:t>
            </a:r>
            <a:r>
              <a:rPr lang="en-US" dirty="0"/>
              <a:t>a bacterial culture to various anti-infective agents.</a:t>
            </a:r>
            <a:br>
              <a:rPr lang="en-US" dirty="0"/>
            </a:br>
            <a:r>
              <a:rPr lang="en-US" dirty="0"/>
              <a:t>The method provides a basis</a:t>
            </a:r>
            <a:br>
              <a:rPr lang="en-US" dirty="0"/>
            </a:br>
            <a:r>
              <a:rPr lang="en-US" dirty="0"/>
              <a:t>for classification of a bacterial</a:t>
            </a:r>
            <a:br>
              <a:rPr lang="en-US" dirty="0"/>
            </a:br>
            <a:r>
              <a:rPr lang="en-US" dirty="0"/>
              <a:t>strain as “susceptible,” “resistant,” or “intermediate” according to the dimension </a:t>
            </a:r>
            <a:r>
              <a:rPr lang="en-US" dirty="0" smtClean="0"/>
              <a:t>of the </a:t>
            </a:r>
            <a:r>
              <a:rPr lang="en-US" dirty="0"/>
              <a:t>inhibition zone.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993573"/>
            <a:ext cx="3886199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3401" y="5782953"/>
            <a:ext cx="600377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Fig. Antibiotic </a:t>
            </a:r>
            <a:r>
              <a:rPr lang="en-US" b="1" dirty="0"/>
              <a:t>sensitivities of </a:t>
            </a:r>
            <a:r>
              <a:rPr lang="en-US" b="1" dirty="0" smtClean="0"/>
              <a:t>S</a:t>
            </a:r>
            <a:r>
              <a:rPr lang="en-US" b="1" dirty="0"/>
              <a:t>. </a:t>
            </a:r>
            <a:r>
              <a:rPr lang="en-US" b="1" dirty="0" smtClean="0"/>
              <a:t>pyogenes by disc diffusion 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782782" y="3593068"/>
            <a:ext cx="275723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/>
              <a:t>MHA-AST by disc diffusion </a:t>
            </a:r>
          </a:p>
        </p:txBody>
      </p:sp>
    </p:spTree>
    <p:extLst>
      <p:ext uri="{BB962C8B-B14F-4D97-AF65-F5344CB8AC3E}">
        <p14:creationId xmlns:p14="http://schemas.microsoft.com/office/powerpoint/2010/main" val="416017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Typing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Typing is necessary in outbreak situations identify there relatedness of strain include: </a:t>
            </a:r>
            <a:endParaRPr lang="en-US" dirty="0" smtClean="0"/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Phage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Serology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 smtClean="0"/>
              <a:t>Bacteriocin</a:t>
            </a:r>
            <a:endParaRPr lang="en-US" dirty="0" smtClean="0"/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Endonuclease digestion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 smtClean="0"/>
              <a:t>Multilocus</a:t>
            </a:r>
            <a:r>
              <a:rPr lang="en-US" dirty="0" smtClean="0"/>
              <a:t> sequence typing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Whole </a:t>
            </a:r>
            <a:r>
              <a:rPr lang="en-US" dirty="0"/>
              <a:t>genome sequence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072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1168</Words>
  <Application>Microsoft Office PowerPoint</Application>
  <PresentationFormat>On-screen Show (4:3)</PresentationFormat>
  <Paragraphs>203</Paragraphs>
  <Slides>30</Slides>
  <Notes>9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The laboratory investigation of infection</vt:lpstr>
      <vt:lpstr>Outline of the Chapter</vt:lpstr>
      <vt:lpstr>Diagnostic Medical microbiology </vt:lpstr>
      <vt:lpstr>Clinical request form</vt:lpstr>
      <vt:lpstr>Sample collection</vt:lpstr>
      <vt:lpstr>Table: Sterile and non-sterile sites of the human body</vt:lpstr>
      <vt:lpstr>Transport of clinical samples</vt:lpstr>
      <vt:lpstr>PowerPoint Presentation</vt:lpstr>
      <vt:lpstr>Clinical Specimen</vt:lpstr>
      <vt:lpstr>1. Non-culture techniques</vt:lpstr>
      <vt:lpstr>1.1. MICROSCOPY</vt:lpstr>
      <vt:lpstr>Unstained wet mounts</vt:lpstr>
      <vt:lpstr>Stained preparations</vt:lpstr>
      <vt:lpstr>Gram stain method</vt:lpstr>
      <vt:lpstr>PowerPoint Presentation</vt:lpstr>
      <vt:lpstr>Ziehl-Neelson (ZN) stain</vt:lpstr>
      <vt:lpstr>PowerPoint Presentation</vt:lpstr>
      <vt:lpstr>Electron microscopy (EM)</vt:lpstr>
      <vt:lpstr>1. 2. Immunological methods</vt:lpstr>
      <vt:lpstr>1.3. SEROLOGICAL TECHNIQUES</vt:lpstr>
      <vt:lpstr>PowerPoint Presentation</vt:lpstr>
      <vt:lpstr>1.4. Molecular techniques</vt:lpstr>
      <vt:lpstr>B. Culture techniques</vt:lpstr>
      <vt:lpstr>Cont.</vt:lpstr>
      <vt:lpstr>Atmosphere</vt:lpstr>
      <vt:lpstr>Bacterial Identification</vt:lpstr>
      <vt:lpstr>Cont.</vt:lpstr>
      <vt:lpstr>Antibiotic Susceptibility Testing (AST)</vt:lpstr>
      <vt:lpstr>Susceptibility</vt:lpstr>
      <vt:lpstr>Typing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laboratory investigation of infection</dc:title>
  <dc:creator>Shemsu- [2020]</dc:creator>
  <cp:lastModifiedBy>Shemsu- [2022]</cp:lastModifiedBy>
  <cp:revision>104</cp:revision>
  <dcterms:created xsi:type="dcterms:W3CDTF">2021-04-14T06:55:44Z</dcterms:created>
  <dcterms:modified xsi:type="dcterms:W3CDTF">2023-01-23T11:57:56Z</dcterms:modified>
</cp:coreProperties>
</file>