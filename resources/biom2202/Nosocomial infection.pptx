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3"/>
  </p:notesMasterIdLst>
  <p:sldIdLst>
    <p:sldId id="287" r:id="rId2"/>
    <p:sldId id="265" r:id="rId3"/>
    <p:sldId id="266" r:id="rId4"/>
    <p:sldId id="267" r:id="rId5"/>
    <p:sldId id="268" r:id="rId6"/>
    <p:sldId id="286" r:id="rId7"/>
    <p:sldId id="278" r:id="rId8"/>
    <p:sldId id="279" r:id="rId9"/>
    <p:sldId id="288" r:id="rId10"/>
    <p:sldId id="280" r:id="rId11"/>
    <p:sldId id="281" r:id="rId12"/>
    <p:sldId id="269" r:id="rId13"/>
    <p:sldId id="270" r:id="rId14"/>
    <p:sldId id="271" r:id="rId15"/>
    <p:sldId id="272" r:id="rId16"/>
    <p:sldId id="273" r:id="rId17"/>
    <p:sldId id="274" r:id="rId18"/>
    <p:sldId id="283" r:id="rId19"/>
    <p:sldId id="275" r:id="rId20"/>
    <p:sldId id="276" r:id="rId21"/>
    <p:sldId id="277" r:id="rId22"/>
    <p:sldId id="256" r:id="rId23"/>
    <p:sldId id="257" r:id="rId24"/>
    <p:sldId id="258" r:id="rId25"/>
    <p:sldId id="259" r:id="rId26"/>
    <p:sldId id="260" r:id="rId27"/>
    <p:sldId id="261" r:id="rId28"/>
    <p:sldId id="262" r:id="rId29"/>
    <p:sldId id="263" r:id="rId30"/>
    <p:sldId id="264" r:id="rId31"/>
    <p:sldId id="285" r:id="rId32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user" initials="u" lastIdx="1" clrIdx="0">
    <p:extLst>
      <p:ext uri="{19B8F6BF-5375-455C-9EA6-DF929625EA0E}">
        <p15:presenceInfo xmlns:p15="http://schemas.microsoft.com/office/powerpoint/2012/main" userId="user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8" d="100"/>
          <a:sy n="68" d="100"/>
        </p:scale>
        <p:origin x="1446" y="7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commentAuthors" Target="commentAuthor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02E754E-52BC-4E2F-A0F6-644AEE34A078}" type="datetimeFigureOut">
              <a:rPr lang="en-US" smtClean="0"/>
              <a:t>11/22/2023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0E6492C-0251-492E-BF9C-F556425844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93841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0E6492C-0251-492E-BF9C-F556425844DD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075714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A24723-DC6E-44A2-AAE9-56C2106C4DED}" type="datetimeFigureOut">
              <a:rPr lang="en-US" smtClean="0"/>
              <a:t>11/22/2023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3BBA53-BEFD-4AE1-A1D2-B44D702D55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73914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A24723-DC6E-44A2-AAE9-56C2106C4DED}" type="datetimeFigureOut">
              <a:rPr lang="en-US" smtClean="0"/>
              <a:t>11/22/2023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3BBA53-BEFD-4AE1-A1D2-B44D702D55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07832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A24723-DC6E-44A2-AAE9-56C2106C4DED}" type="datetimeFigureOut">
              <a:rPr lang="en-US" smtClean="0"/>
              <a:t>11/22/2023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3BBA53-BEFD-4AE1-A1D2-B44D702D55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20883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A24723-DC6E-44A2-AAE9-56C2106C4DED}" type="datetimeFigureOut">
              <a:rPr lang="en-US" smtClean="0"/>
              <a:t>11/22/2023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3BBA53-BEFD-4AE1-A1D2-B44D702D55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91819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A24723-DC6E-44A2-AAE9-56C2106C4DED}" type="datetimeFigureOut">
              <a:rPr lang="en-US" smtClean="0"/>
              <a:t>11/22/2023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3BBA53-BEFD-4AE1-A1D2-B44D702D55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54559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A24723-DC6E-44A2-AAE9-56C2106C4DED}" type="datetimeFigureOut">
              <a:rPr lang="en-US" smtClean="0"/>
              <a:t>11/22/2023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3BBA53-BEFD-4AE1-A1D2-B44D702D55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29398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A24723-DC6E-44A2-AAE9-56C2106C4DED}" type="datetimeFigureOut">
              <a:rPr lang="en-US" smtClean="0"/>
              <a:t>11/22/2023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3BBA53-BEFD-4AE1-A1D2-B44D702D55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10937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A24723-DC6E-44A2-AAE9-56C2106C4DED}" type="datetimeFigureOut">
              <a:rPr lang="en-US" smtClean="0"/>
              <a:t>11/22/2023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3BBA53-BEFD-4AE1-A1D2-B44D702D55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06377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A24723-DC6E-44A2-AAE9-56C2106C4DED}" type="datetimeFigureOut">
              <a:rPr lang="en-US" smtClean="0"/>
              <a:t>11/22/2023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3BBA53-BEFD-4AE1-A1D2-B44D702D55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8433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A24723-DC6E-44A2-AAE9-56C2106C4DED}" type="datetimeFigureOut">
              <a:rPr lang="en-US" smtClean="0"/>
              <a:t>11/22/2023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3BBA53-BEFD-4AE1-A1D2-B44D702D55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37981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A24723-DC6E-44A2-AAE9-56C2106C4DED}" type="datetimeFigureOut">
              <a:rPr lang="en-US" smtClean="0"/>
              <a:t>11/22/2023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3BBA53-BEFD-4AE1-A1D2-B44D702D55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92340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CA24723-DC6E-44A2-AAE9-56C2106C4DED}" type="datetimeFigureOut">
              <a:rPr lang="en-US" smtClean="0"/>
              <a:t>11/22/2023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73BBA53-BEFD-4AE1-A1D2-B44D702D55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643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/>
          <a:lstStyle/>
          <a:p>
            <a:pPr algn="l"/>
            <a:r>
              <a:rPr lang="en-US" b="1" dirty="0"/>
              <a:t>Outline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Epidemiology of infection</a:t>
            </a:r>
          </a:p>
          <a:p>
            <a:r>
              <a:rPr lang="en-US" dirty="0"/>
              <a:t>Nosocomial infections (NIs) /Healthcare-associated infections (HAIs)</a:t>
            </a:r>
            <a:br>
              <a:rPr lang="en-US" dirty="0"/>
            </a:br>
            <a:br>
              <a:rPr lang="en-US" dirty="0"/>
            </a:br>
            <a:endParaRPr lang="en-US" b="1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538043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639762"/>
          </a:xfr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r>
              <a:rPr lang="en-US" sz="3200" b="1" dirty="0"/>
              <a:t>Epidemiology of infection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43000"/>
            <a:ext cx="8229600" cy="4983163"/>
          </a:xfrm>
        </p:spPr>
        <p:txBody>
          <a:bodyPr>
            <a:normAutofit/>
          </a:bodyPr>
          <a:lstStyle/>
          <a:p>
            <a:r>
              <a:rPr lang="en-US" sz="2400" dirty="0"/>
              <a:t>Study of </a:t>
            </a:r>
            <a:r>
              <a:rPr lang="en-US" sz="2400" b="1" dirty="0">
                <a:solidFill>
                  <a:srgbClr val="C00000"/>
                </a:solidFill>
              </a:rPr>
              <a:t>determinants</a:t>
            </a:r>
            <a:r>
              <a:rPr lang="en-US" sz="2400" dirty="0"/>
              <a:t>, </a:t>
            </a:r>
            <a:r>
              <a:rPr lang="en-US" sz="2400" b="1" dirty="0">
                <a:solidFill>
                  <a:srgbClr val="002060"/>
                </a:solidFill>
              </a:rPr>
              <a:t>occurrence</a:t>
            </a:r>
            <a:r>
              <a:rPr lang="en-US" sz="2400" dirty="0"/>
              <a:t>, and </a:t>
            </a:r>
            <a:r>
              <a:rPr lang="en-US" sz="2400" b="1" dirty="0">
                <a:solidFill>
                  <a:srgbClr val="7030A0"/>
                </a:solidFill>
              </a:rPr>
              <a:t>distribution </a:t>
            </a:r>
            <a:r>
              <a:rPr lang="en-US" sz="2400" dirty="0"/>
              <a:t>of health and disease in a defined population</a:t>
            </a:r>
          </a:p>
          <a:p>
            <a:r>
              <a:rPr lang="en-US" sz="2400" b="1" dirty="0">
                <a:solidFill>
                  <a:srgbClr val="FF0000"/>
                </a:solidFill>
              </a:rPr>
              <a:t>Infection</a:t>
            </a:r>
            <a:r>
              <a:rPr lang="en-US" sz="2400" dirty="0"/>
              <a:t> is a replication of organisms in host tissue, which may cause disease. </a:t>
            </a:r>
          </a:p>
          <a:p>
            <a:pPr marL="0" indent="0">
              <a:buNone/>
            </a:pPr>
            <a:r>
              <a:rPr lang="en-US" sz="2400" b="1" dirty="0">
                <a:solidFill>
                  <a:srgbClr val="7030A0"/>
                </a:solidFill>
              </a:rPr>
              <a:t>Epidemiologic studies (Methods)</a:t>
            </a:r>
          </a:p>
          <a:p>
            <a:pPr>
              <a:buFont typeface="Wingdings" pitchFamily="2" charset="2"/>
              <a:buChar char="Ø"/>
            </a:pPr>
            <a:r>
              <a:rPr lang="en-US" sz="2400" b="1" dirty="0">
                <a:solidFill>
                  <a:srgbClr val="7030A0"/>
                </a:solidFill>
              </a:rPr>
              <a:t>Descriptive</a:t>
            </a:r>
            <a:r>
              <a:rPr lang="en-US" sz="2400" dirty="0"/>
              <a:t>, organizing data by time, place, and person </a:t>
            </a:r>
          </a:p>
          <a:p>
            <a:pPr>
              <a:buFont typeface="Wingdings" pitchFamily="2" charset="2"/>
              <a:buChar char="Ø"/>
            </a:pPr>
            <a:r>
              <a:rPr lang="en-US" sz="2400" b="1" dirty="0">
                <a:solidFill>
                  <a:srgbClr val="7030A0"/>
                </a:solidFill>
              </a:rPr>
              <a:t>Analytic</a:t>
            </a:r>
            <a:r>
              <a:rPr lang="en-US" sz="2400" dirty="0"/>
              <a:t>, incorporating a case-control or cohort study; or </a:t>
            </a:r>
          </a:p>
          <a:p>
            <a:pPr>
              <a:buFont typeface="Wingdings" pitchFamily="2" charset="2"/>
              <a:buChar char="Ø"/>
            </a:pPr>
            <a:r>
              <a:rPr lang="en-US" sz="2400" b="1" dirty="0">
                <a:solidFill>
                  <a:srgbClr val="7030A0"/>
                </a:solidFill>
              </a:rPr>
              <a:t>Experimental: </a:t>
            </a:r>
            <a:r>
              <a:rPr lang="en-US" sz="2400" dirty="0"/>
              <a:t>manipulate cause and note effect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3835998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43000"/>
            <a:ext cx="8229600" cy="4983163"/>
          </a:xfrm>
        </p:spPr>
        <p:txBody>
          <a:bodyPr/>
          <a:lstStyle/>
          <a:p>
            <a:r>
              <a:rPr lang="en-US" sz="2400" b="1" dirty="0">
                <a:solidFill>
                  <a:srgbClr val="7030A0"/>
                </a:solidFill>
              </a:rPr>
              <a:t>Factors affecting epidemiology of infections</a:t>
            </a:r>
          </a:p>
          <a:p>
            <a:endParaRPr lang="en-US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95400" y="1828800"/>
            <a:ext cx="5638800" cy="3810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56248496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487362"/>
          </a:xfr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r>
              <a:rPr lang="en-US" sz="3600" b="1" dirty="0">
                <a:solidFill>
                  <a:srgbClr val="7030A0"/>
                </a:solidFill>
              </a:rPr>
              <a:t>Definitions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43000"/>
            <a:ext cx="8229600" cy="4983163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FF0000"/>
                </a:solidFill>
              </a:rPr>
              <a:t>Incidence rate: </a:t>
            </a:r>
          </a:p>
          <a:p>
            <a:pPr>
              <a:buFont typeface="Wingdings" pitchFamily="2" charset="2"/>
              <a:buChar char="Ø"/>
            </a:pPr>
            <a:r>
              <a:rPr lang="en-US" sz="2400" b="1" dirty="0">
                <a:solidFill>
                  <a:schemeClr val="tx2"/>
                </a:solidFill>
              </a:rPr>
              <a:t>Number of new cases </a:t>
            </a:r>
            <a:r>
              <a:rPr lang="en-US" sz="2400" dirty="0"/>
              <a:t>of acute disease in a specified population over a defined period</a:t>
            </a:r>
          </a:p>
          <a:p>
            <a:pPr>
              <a:buFont typeface="Wingdings" pitchFamily="2" charset="2"/>
              <a:buChar char="Ø"/>
            </a:pPr>
            <a:r>
              <a:rPr lang="en-US" sz="2400" dirty="0"/>
              <a:t>Expressed as a proportion of total population studied</a:t>
            </a:r>
          </a:p>
          <a:p>
            <a:pPr marL="0" indent="0">
              <a:buNone/>
            </a:pPr>
            <a:r>
              <a:rPr lang="en-US" sz="2400" b="1" dirty="0">
                <a:solidFill>
                  <a:srgbClr val="FF0000"/>
                </a:solidFill>
              </a:rPr>
              <a:t>Prevalence rate:</a:t>
            </a:r>
          </a:p>
          <a:p>
            <a:pPr>
              <a:buFont typeface="Wingdings" pitchFamily="2" charset="2"/>
              <a:buChar char="Ø"/>
            </a:pPr>
            <a:r>
              <a:rPr lang="en-US" sz="2400" b="1" dirty="0">
                <a:solidFill>
                  <a:schemeClr val="tx2"/>
                </a:solidFill>
              </a:rPr>
              <a:t>Total number of cases</a:t>
            </a:r>
            <a:r>
              <a:rPr lang="en-US" sz="2400" dirty="0"/>
              <a:t> present in a defined population at a certain time point or over a certain period. </a:t>
            </a:r>
          </a:p>
          <a:p>
            <a:pPr>
              <a:buFont typeface="Wingdings" pitchFamily="2" charset="2"/>
              <a:buChar char="Ø"/>
            </a:pPr>
            <a:r>
              <a:rPr lang="en-US" sz="2400" dirty="0"/>
              <a:t>Prevalence exceeds incidence. </a:t>
            </a:r>
          </a:p>
          <a:p>
            <a:pPr marL="0" indent="0">
              <a:buNone/>
            </a:pPr>
            <a:r>
              <a:rPr lang="en-US" sz="2400" b="1" dirty="0">
                <a:solidFill>
                  <a:srgbClr val="FF0000"/>
                </a:solidFill>
              </a:rPr>
              <a:t>Attack rate: </a:t>
            </a:r>
          </a:p>
          <a:p>
            <a:pPr>
              <a:buFont typeface="Wingdings" pitchFamily="2" charset="2"/>
              <a:buChar char="Ø"/>
            </a:pPr>
            <a:r>
              <a:rPr lang="en-US" sz="2400" dirty="0"/>
              <a:t>Proportion of total population at risk, who became infected during an outbreak.</a:t>
            </a:r>
            <a:br>
              <a:rPr lang="en-US" sz="2400" dirty="0"/>
            </a:b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82634745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19200"/>
            <a:ext cx="8229600" cy="4906963"/>
          </a:xfrm>
        </p:spPr>
        <p:txBody>
          <a:bodyPr>
            <a:normAutofit/>
          </a:bodyPr>
          <a:lstStyle/>
          <a:p>
            <a:r>
              <a:rPr lang="en-US" sz="2400" dirty="0"/>
              <a:t>Microorganisms that have ability to </a:t>
            </a:r>
            <a:r>
              <a:rPr lang="en-US" sz="2400" b="1" dirty="0">
                <a:solidFill>
                  <a:srgbClr val="FF0000"/>
                </a:solidFill>
              </a:rPr>
              <a:t>cause disease </a:t>
            </a:r>
            <a:r>
              <a:rPr lang="en-US" sz="2400" dirty="0"/>
              <a:t>are called pathogens.</a:t>
            </a:r>
          </a:p>
          <a:p>
            <a:r>
              <a:rPr lang="en-US" sz="2400" dirty="0"/>
              <a:t>Infection occurs when a pathogen is able to establish itself in a person. </a:t>
            </a:r>
          </a:p>
          <a:p>
            <a:r>
              <a:rPr lang="en-US" sz="2400" dirty="0"/>
              <a:t>Not all infections, however, result in clinical infection </a:t>
            </a:r>
            <a:r>
              <a:rPr lang="en-US" sz="2400" b="1" dirty="0">
                <a:solidFill>
                  <a:srgbClr val="FF0000"/>
                </a:solidFill>
              </a:rPr>
              <a:t>(sub-clinical)</a:t>
            </a:r>
          </a:p>
          <a:p>
            <a:r>
              <a:rPr lang="en-US" sz="2400" dirty="0"/>
              <a:t>The </a:t>
            </a:r>
            <a:r>
              <a:rPr lang="en-US" sz="2400" b="1" dirty="0">
                <a:solidFill>
                  <a:srgbClr val="FF0000"/>
                </a:solidFill>
              </a:rPr>
              <a:t>infectiousness or communicability </a:t>
            </a:r>
            <a:r>
              <a:rPr lang="en-US" sz="2400" dirty="0"/>
              <a:t>of an organism refers to its capacity to spread.</a:t>
            </a:r>
          </a:p>
          <a:p>
            <a:r>
              <a:rPr lang="en-US" sz="2400" b="1" dirty="0">
                <a:solidFill>
                  <a:srgbClr val="FF0000"/>
                </a:solidFill>
              </a:rPr>
              <a:t>Epidemiology</a:t>
            </a:r>
            <a:r>
              <a:rPr lang="en-US" sz="2400" dirty="0"/>
              <a:t> is study of spread, distribution, prevalence, and control of disease in a community.</a:t>
            </a:r>
            <a:br>
              <a:rPr lang="en-US" sz="2400" dirty="0"/>
            </a:br>
            <a:br>
              <a:rPr lang="en-US" sz="2400" dirty="0"/>
            </a:br>
            <a:endParaRPr lang="en-US" sz="24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0104149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43000"/>
            <a:ext cx="8229600" cy="4983163"/>
          </a:xfrm>
        </p:spPr>
        <p:txBody>
          <a:bodyPr/>
          <a:lstStyle/>
          <a:p>
            <a:r>
              <a:rPr lang="en-US" sz="2400" dirty="0"/>
              <a:t>The spectrum of occurrence of disease in a defined population includes </a:t>
            </a:r>
          </a:p>
          <a:p>
            <a:pPr lvl="1">
              <a:buFont typeface="Wingdings" pitchFamily="2" charset="2"/>
              <a:buChar char="Ø"/>
            </a:pPr>
            <a:r>
              <a:rPr lang="en-US" sz="2400" b="1" dirty="0">
                <a:solidFill>
                  <a:srgbClr val="FF0000"/>
                </a:solidFill>
              </a:rPr>
              <a:t>Sporadic</a:t>
            </a:r>
            <a:r>
              <a:rPr lang="en-US" sz="2400" dirty="0"/>
              <a:t> (occasional occurrence) </a:t>
            </a:r>
          </a:p>
          <a:p>
            <a:pPr lvl="1">
              <a:buFont typeface="Wingdings" pitchFamily="2" charset="2"/>
              <a:buChar char="Ø"/>
            </a:pPr>
            <a:r>
              <a:rPr lang="en-US" sz="2400" b="1" dirty="0">
                <a:solidFill>
                  <a:srgbClr val="FF0000"/>
                </a:solidFill>
              </a:rPr>
              <a:t>Endemic </a:t>
            </a:r>
            <a:r>
              <a:rPr lang="en-US" sz="2400" dirty="0"/>
              <a:t>(regular, continuing occurrence): Malaria</a:t>
            </a:r>
          </a:p>
          <a:p>
            <a:pPr lvl="1">
              <a:buFont typeface="Wingdings" pitchFamily="2" charset="2"/>
              <a:buChar char="Ø"/>
            </a:pPr>
            <a:r>
              <a:rPr lang="en-US" sz="2400" b="1" dirty="0">
                <a:solidFill>
                  <a:srgbClr val="FF0000"/>
                </a:solidFill>
              </a:rPr>
              <a:t>Epidemic</a:t>
            </a:r>
            <a:r>
              <a:rPr lang="en-US" sz="2400" dirty="0"/>
              <a:t> (significantly increased occurrence) and </a:t>
            </a:r>
          </a:p>
          <a:p>
            <a:pPr lvl="1">
              <a:buFont typeface="Wingdings" pitchFamily="2" charset="2"/>
              <a:buChar char="Ø"/>
            </a:pPr>
            <a:r>
              <a:rPr lang="en-US" sz="2400" b="1" dirty="0">
                <a:solidFill>
                  <a:srgbClr val="FF0000"/>
                </a:solidFill>
              </a:rPr>
              <a:t>Pandemic </a:t>
            </a:r>
            <a:r>
              <a:rPr lang="en-US" sz="2400" dirty="0"/>
              <a:t>(epidemic occurrence in multiple countries)</a:t>
            </a:r>
          </a:p>
          <a:p>
            <a:pPr lvl="2">
              <a:buFont typeface="Wingdings" pitchFamily="2" charset="2"/>
              <a:buChar char="ü"/>
            </a:pPr>
            <a:r>
              <a:rPr lang="en-US" dirty="0"/>
              <a:t>HIV disease, influenza, cholera and COVID-19</a:t>
            </a:r>
            <a:br>
              <a:rPr lang="en-US" dirty="0"/>
            </a:br>
            <a:br>
              <a:rPr lang="en-US" dirty="0"/>
            </a:b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3081365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r>
              <a:rPr lang="en-US" sz="2800" b="1" dirty="0">
                <a:solidFill>
                  <a:srgbClr val="FF0000"/>
                </a:solidFill>
              </a:rPr>
              <a:t>Chain of infection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95400"/>
            <a:ext cx="8229600" cy="4830763"/>
          </a:xfrm>
        </p:spPr>
        <p:txBody>
          <a:bodyPr/>
          <a:lstStyle/>
          <a:p>
            <a:r>
              <a:rPr lang="en-US" sz="2400" dirty="0"/>
              <a:t>Includes three factors that lead to infection:  </a:t>
            </a:r>
          </a:p>
          <a:p>
            <a:pPr lvl="1">
              <a:buFont typeface="Wingdings" pitchFamily="2" charset="2"/>
              <a:buChar char="Ø"/>
            </a:pPr>
            <a:r>
              <a:rPr lang="en-US" sz="2400" dirty="0"/>
              <a:t>Etiologic agent </a:t>
            </a:r>
          </a:p>
          <a:p>
            <a:pPr lvl="1">
              <a:buFont typeface="Wingdings" pitchFamily="2" charset="2"/>
              <a:buChar char="Ø"/>
            </a:pPr>
            <a:r>
              <a:rPr lang="en-US" sz="2400" dirty="0"/>
              <a:t> Method of transmission, and </a:t>
            </a:r>
          </a:p>
          <a:p>
            <a:pPr lvl="1">
              <a:buFont typeface="Wingdings" pitchFamily="2" charset="2"/>
              <a:buChar char="Ø"/>
            </a:pPr>
            <a:r>
              <a:rPr lang="en-US" sz="2400" dirty="0"/>
              <a:t> Host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0200" y="3124200"/>
            <a:ext cx="5486400" cy="304800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1828800" y="6096000"/>
            <a:ext cx="52578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B01016"/>
                </a:solidFill>
                <a:latin typeface="Helvetica" panose="020B0604020202020204" pitchFamily="34" charset="0"/>
              </a:rPr>
              <a:t>Fig. Sources and vehicles of infections</a:t>
            </a:r>
            <a:r>
              <a:rPr lang="en-US" b="1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02854015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92162"/>
          </a:xfr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r>
              <a:rPr lang="en-US" sz="3200" b="1" dirty="0"/>
              <a:t>1. Etiologic Agent</a:t>
            </a:r>
            <a:endParaRPr lang="en-US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371600"/>
            <a:ext cx="8229600" cy="4754563"/>
          </a:xfrm>
        </p:spPr>
        <p:txBody>
          <a:bodyPr>
            <a:normAutofit/>
          </a:bodyPr>
          <a:lstStyle/>
          <a:p>
            <a:r>
              <a:rPr lang="en-US" sz="2400" dirty="0"/>
              <a:t>Any microorganism that can cause infection</a:t>
            </a:r>
          </a:p>
          <a:p>
            <a:r>
              <a:rPr lang="en-US" sz="2400" b="1" dirty="0">
                <a:solidFill>
                  <a:srgbClr val="FF0000"/>
                </a:solidFill>
              </a:rPr>
              <a:t>Pathogenicity</a:t>
            </a:r>
            <a:r>
              <a:rPr lang="en-US" sz="2400" dirty="0"/>
              <a:t> of an agent is its ability to </a:t>
            </a:r>
            <a:r>
              <a:rPr lang="en-US" sz="2400" b="1" dirty="0">
                <a:solidFill>
                  <a:srgbClr val="FF0000"/>
                </a:solidFill>
              </a:rPr>
              <a:t>cause disease</a:t>
            </a:r>
          </a:p>
          <a:p>
            <a:r>
              <a:rPr lang="en-US" sz="2400" dirty="0"/>
              <a:t>Describing organism's </a:t>
            </a:r>
            <a:r>
              <a:rPr lang="en-US" sz="2400" b="1" dirty="0">
                <a:solidFill>
                  <a:srgbClr val="7030A0"/>
                </a:solidFill>
              </a:rPr>
              <a:t>virulence</a:t>
            </a:r>
            <a:r>
              <a:rPr lang="en-US" sz="2400" dirty="0"/>
              <a:t> and </a:t>
            </a:r>
            <a:r>
              <a:rPr lang="en-US" sz="2400" b="1" dirty="0">
                <a:solidFill>
                  <a:srgbClr val="002060"/>
                </a:solidFill>
              </a:rPr>
              <a:t>invasiveness</a:t>
            </a:r>
            <a:r>
              <a:rPr lang="en-US" sz="2400" dirty="0"/>
              <a:t>.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sz="2400" b="1" dirty="0">
                <a:solidFill>
                  <a:srgbClr val="FF0000"/>
                </a:solidFill>
              </a:rPr>
              <a:t>Virulence </a:t>
            </a:r>
            <a:r>
              <a:rPr lang="en-US" sz="2400" dirty="0"/>
              <a:t>refers to severity of infection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400" b="1" dirty="0">
                <a:solidFill>
                  <a:srgbClr val="FF0000"/>
                </a:solidFill>
              </a:rPr>
              <a:t>Morbidity</a:t>
            </a:r>
            <a:r>
              <a:rPr lang="en-US" sz="2400" dirty="0"/>
              <a:t>: incidence of disease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400" b="1" dirty="0">
                <a:solidFill>
                  <a:srgbClr val="FF0000"/>
                </a:solidFill>
              </a:rPr>
              <a:t>Mortality</a:t>
            </a:r>
            <a:r>
              <a:rPr lang="en-US" sz="2400" dirty="0"/>
              <a:t>: death rate of infection </a:t>
            </a:r>
            <a:endParaRPr lang="en-US" sz="1800" dirty="0"/>
          </a:p>
          <a:p>
            <a:pPr>
              <a:buFont typeface="Wingdings" panose="05000000000000000000" pitchFamily="2" charset="2"/>
              <a:buChar char="q"/>
            </a:pPr>
            <a:r>
              <a:rPr lang="en-US" sz="2400" b="1" dirty="0">
                <a:solidFill>
                  <a:srgbClr val="FF0000"/>
                </a:solidFill>
              </a:rPr>
              <a:t>Invasiveness </a:t>
            </a:r>
            <a:r>
              <a:rPr lang="en-US" sz="2400" dirty="0"/>
              <a:t>of an organism refers to its ability to invade tissue (Toxin)</a:t>
            </a:r>
          </a:p>
          <a:p>
            <a:r>
              <a:rPr lang="en-US" sz="2400" b="1" dirty="0">
                <a:solidFill>
                  <a:srgbClr val="FF0000"/>
                </a:solidFill>
              </a:rPr>
              <a:t>Infecting dose</a:t>
            </a:r>
            <a:r>
              <a:rPr lang="en-US" sz="2400" dirty="0"/>
              <a:t>: number of organisms necessary to cause disease</a:t>
            </a:r>
          </a:p>
          <a:p>
            <a:r>
              <a:rPr lang="en-US" sz="2400" b="1" dirty="0">
                <a:solidFill>
                  <a:srgbClr val="FF0000"/>
                </a:solidFill>
              </a:rPr>
              <a:t>Specificity </a:t>
            </a:r>
            <a:r>
              <a:rPr lang="en-US" sz="2400" dirty="0">
                <a:solidFill>
                  <a:srgbClr val="FF0000"/>
                </a:solidFill>
              </a:rPr>
              <a:t>(</a:t>
            </a:r>
            <a:r>
              <a:rPr lang="en-US" sz="2400" i="1" dirty="0"/>
              <a:t>S. typhimurium vs S. typhi</a:t>
            </a:r>
            <a:r>
              <a:rPr lang="en-US" sz="2400" i="1" dirty="0">
                <a:solidFill>
                  <a:srgbClr val="FF0000"/>
                </a:solidFill>
              </a:rPr>
              <a:t>)</a:t>
            </a:r>
            <a:endParaRPr lang="en-US" sz="24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8067229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FA52C1-703F-4CB7-A7BE-422052569D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457199"/>
          </a:xfrm>
        </p:spPr>
        <p:txBody>
          <a:bodyPr>
            <a:normAutofit fontScale="90000"/>
          </a:bodyPr>
          <a:lstStyle/>
          <a:p>
            <a:r>
              <a:rPr lang="en-US" dirty="0"/>
              <a:t>Cont.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1D2CFE-238D-4B45-9927-ABA15D6A6C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066800"/>
            <a:ext cx="8229600" cy="5059363"/>
          </a:xfrm>
        </p:spPr>
        <p:txBody>
          <a:bodyPr>
            <a:normAutofit/>
          </a:bodyPr>
          <a:lstStyle/>
          <a:p>
            <a:r>
              <a:rPr lang="en-US" sz="2400" b="1" dirty="0">
                <a:solidFill>
                  <a:srgbClr val="FF0000"/>
                </a:solidFill>
              </a:rPr>
              <a:t>Reservoir</a:t>
            </a:r>
            <a:r>
              <a:rPr lang="en-US" sz="2400" dirty="0"/>
              <a:t> of an organism is a site where it resides, metabolizes, and multiplies</a:t>
            </a:r>
          </a:p>
          <a:p>
            <a:r>
              <a:rPr lang="en-US" sz="2400" dirty="0"/>
              <a:t>The reservoir and source can be </a:t>
            </a:r>
            <a:r>
              <a:rPr lang="en-US" sz="2400" b="1" dirty="0">
                <a:solidFill>
                  <a:srgbClr val="FF0000"/>
                </a:solidFill>
              </a:rPr>
              <a:t>different/same</a:t>
            </a:r>
          </a:p>
          <a:p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34182085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563562"/>
          </a:xfr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r>
              <a:rPr lang="en-US" sz="3200" b="1" dirty="0">
                <a:solidFill>
                  <a:srgbClr val="FF0000"/>
                </a:solidFill>
              </a:rPr>
              <a:t>2. Method of Transmission</a:t>
            </a:r>
            <a:endParaRPr lang="en-US" sz="3200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43000"/>
            <a:ext cx="8229600" cy="4983163"/>
          </a:xfrm>
        </p:spPr>
        <p:txBody>
          <a:bodyPr>
            <a:normAutofit/>
          </a:bodyPr>
          <a:lstStyle/>
          <a:p>
            <a:r>
              <a:rPr lang="en-US" sz="2400" dirty="0"/>
              <a:t>Means by which agent goes from source to host.</a:t>
            </a:r>
          </a:p>
          <a:p>
            <a:r>
              <a:rPr lang="en-US" sz="2400" dirty="0"/>
              <a:t>The four major methods of transmission are by </a:t>
            </a:r>
          </a:p>
          <a:p>
            <a:pPr lvl="1"/>
            <a:r>
              <a:rPr lang="en-US" sz="2400" b="1" dirty="0">
                <a:solidFill>
                  <a:srgbClr val="FF0000"/>
                </a:solidFill>
              </a:rPr>
              <a:t>Air</a:t>
            </a:r>
            <a:r>
              <a:rPr lang="en-US" sz="2400" dirty="0"/>
              <a:t>: droplet nuclei or dust </a:t>
            </a:r>
          </a:p>
          <a:p>
            <a:pPr lvl="1"/>
            <a:r>
              <a:rPr lang="en-US" sz="2400" b="1" dirty="0">
                <a:solidFill>
                  <a:srgbClr val="FF0000"/>
                </a:solidFill>
              </a:rPr>
              <a:t>Contact</a:t>
            </a:r>
            <a:r>
              <a:rPr lang="en-US" sz="2400" dirty="0"/>
              <a:t>- Direct /Indirect/ airborne droplets </a:t>
            </a:r>
          </a:p>
          <a:p>
            <a:pPr lvl="1"/>
            <a:r>
              <a:rPr lang="en-US" sz="2400" dirty="0">
                <a:solidFill>
                  <a:srgbClr val="FF0000"/>
                </a:solidFill>
              </a:rPr>
              <a:t>Common vehicle</a:t>
            </a:r>
            <a:r>
              <a:rPr lang="en-US" sz="2400" dirty="0"/>
              <a:t>: Food, water, medication, solution</a:t>
            </a:r>
          </a:p>
          <a:p>
            <a:pPr lvl="1"/>
            <a:r>
              <a:rPr lang="en-US" sz="2400" dirty="0"/>
              <a:t>via </a:t>
            </a:r>
            <a:r>
              <a:rPr lang="en-US" sz="2400" b="1" dirty="0">
                <a:solidFill>
                  <a:srgbClr val="FF0000"/>
                </a:solidFill>
              </a:rPr>
              <a:t>a vector</a:t>
            </a:r>
            <a:r>
              <a:rPr lang="en-US" sz="2400" dirty="0"/>
              <a:t>: arthropods  </a:t>
            </a:r>
          </a:p>
        </p:txBody>
      </p:sp>
    </p:spTree>
    <p:extLst>
      <p:ext uri="{BB962C8B-B14F-4D97-AF65-F5344CB8AC3E}">
        <p14:creationId xmlns:p14="http://schemas.microsoft.com/office/powerpoint/2010/main" val="257492480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563562"/>
          </a:xfr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>
            <a:normAutofit fontScale="90000"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3. Host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19200"/>
            <a:ext cx="8229600" cy="4906963"/>
          </a:xfrm>
        </p:spPr>
        <p:txBody>
          <a:bodyPr>
            <a:normAutofit/>
          </a:bodyPr>
          <a:lstStyle/>
          <a:p>
            <a:r>
              <a:rPr lang="en-US" sz="2400" dirty="0"/>
              <a:t>The organism may enter host through:</a:t>
            </a:r>
          </a:p>
          <a:p>
            <a:pPr>
              <a:buFont typeface="Wingdings" pitchFamily="2" charset="2"/>
              <a:buChar char="Ø"/>
            </a:pPr>
            <a:r>
              <a:rPr lang="en-US" sz="2400" dirty="0"/>
              <a:t>Skin, mucous membranes </a:t>
            </a:r>
          </a:p>
          <a:p>
            <a:pPr>
              <a:buFont typeface="Wingdings" pitchFamily="2" charset="2"/>
              <a:buChar char="Ø"/>
            </a:pPr>
            <a:r>
              <a:rPr lang="en-US" sz="2400" dirty="0"/>
              <a:t>Lungs </a:t>
            </a:r>
          </a:p>
          <a:p>
            <a:pPr>
              <a:buFont typeface="Wingdings" pitchFamily="2" charset="2"/>
              <a:buChar char="Ø"/>
            </a:pPr>
            <a:r>
              <a:rPr lang="en-US" sz="2400" dirty="0"/>
              <a:t>Gastrointestinal tract</a:t>
            </a:r>
          </a:p>
          <a:p>
            <a:pPr>
              <a:buFont typeface="Wingdings" pitchFamily="2" charset="2"/>
              <a:buChar char="Ø"/>
            </a:pPr>
            <a:r>
              <a:rPr lang="en-US" sz="2400" dirty="0"/>
              <a:t>Genitourinary tract, and </a:t>
            </a:r>
          </a:p>
          <a:p>
            <a:pPr>
              <a:buFont typeface="Wingdings" pitchFamily="2" charset="2"/>
              <a:buChar char="Ø"/>
            </a:pPr>
            <a:r>
              <a:rPr lang="en-US" sz="2400" dirty="0"/>
              <a:t>Enter fetuses through placenta</a:t>
            </a:r>
          </a:p>
          <a:p>
            <a:pPr>
              <a:buFont typeface="Wingdings" pitchFamily="2" charset="2"/>
              <a:buChar char="§"/>
            </a:pPr>
            <a:r>
              <a:rPr lang="en-US" sz="2400" dirty="0"/>
              <a:t>Non-specific defense mechanisms vs Specific defense mechanisms</a:t>
            </a:r>
          </a:p>
        </p:txBody>
      </p:sp>
    </p:spTree>
    <p:extLst>
      <p:ext uri="{BB962C8B-B14F-4D97-AF65-F5344CB8AC3E}">
        <p14:creationId xmlns:p14="http://schemas.microsoft.com/office/powerpoint/2010/main" val="35895088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639762"/>
          </a:xfr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>
            <a:normAutofit fontScale="90000"/>
          </a:bodyPr>
          <a:lstStyle/>
          <a:p>
            <a:r>
              <a:rPr lang="en-US" b="1" dirty="0"/>
              <a:t>Sources of infection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371600"/>
            <a:ext cx="8229600" cy="4754563"/>
          </a:xfrm>
        </p:spPr>
        <p:txBody>
          <a:bodyPr>
            <a:normAutofit/>
          </a:bodyPr>
          <a:lstStyle/>
          <a:p>
            <a:r>
              <a:rPr lang="en-US" sz="2400" dirty="0"/>
              <a:t>Endogenous</a:t>
            </a:r>
          </a:p>
          <a:p>
            <a:r>
              <a:rPr lang="en-US" sz="2400" dirty="0"/>
              <a:t>Exogenous:</a:t>
            </a:r>
          </a:p>
          <a:p>
            <a:pPr lvl="1">
              <a:buFont typeface="Wingdings" pitchFamily="2" charset="2"/>
              <a:buChar char="Ø"/>
            </a:pPr>
            <a:r>
              <a:rPr lang="en-US" sz="2000" b="1" dirty="0">
                <a:solidFill>
                  <a:srgbClr val="FF0000"/>
                </a:solidFill>
              </a:rPr>
              <a:t>Humans</a:t>
            </a:r>
            <a:r>
              <a:rPr lang="en-US" sz="2000" dirty="0"/>
              <a:t>: Typhoid carriage in gall bladder/ </a:t>
            </a:r>
            <a:r>
              <a:rPr lang="en-US" sz="2000" i="1" dirty="0"/>
              <a:t>S. aureus: </a:t>
            </a:r>
            <a:r>
              <a:rPr lang="en-US" sz="2000" dirty="0"/>
              <a:t>nose</a:t>
            </a:r>
            <a:r>
              <a:rPr lang="en-US" sz="2000" i="1" dirty="0"/>
              <a:t>  </a:t>
            </a:r>
          </a:p>
          <a:p>
            <a:pPr lvl="1">
              <a:buFont typeface="Wingdings" pitchFamily="2" charset="2"/>
              <a:buChar char="Ø"/>
            </a:pPr>
            <a:r>
              <a:rPr lang="en-US" sz="2000" b="1" dirty="0">
                <a:solidFill>
                  <a:srgbClr val="FF0000"/>
                </a:solidFill>
              </a:rPr>
              <a:t>Animals</a:t>
            </a:r>
            <a:r>
              <a:rPr lang="en-US" sz="2000" dirty="0"/>
              <a:t>: human infections acquired from animals-</a:t>
            </a:r>
            <a:r>
              <a:rPr lang="en-US" sz="2000" b="1" dirty="0" err="1">
                <a:solidFill>
                  <a:srgbClr val="FF0000"/>
                </a:solidFill>
              </a:rPr>
              <a:t>zoonoses</a:t>
            </a:r>
            <a:endParaRPr lang="en-US" sz="2000" b="1" dirty="0">
              <a:solidFill>
                <a:srgbClr val="FF0000"/>
              </a:solidFill>
            </a:endParaRPr>
          </a:p>
          <a:p>
            <a:pPr lvl="1">
              <a:buFont typeface="Wingdings" pitchFamily="2" charset="2"/>
              <a:buChar char="Ø"/>
            </a:pPr>
            <a:r>
              <a:rPr lang="en-US" sz="2000" b="1" dirty="0">
                <a:solidFill>
                  <a:srgbClr val="FF0000"/>
                </a:solidFill>
              </a:rPr>
              <a:t>Environment</a:t>
            </a:r>
            <a:r>
              <a:rPr lang="en-US" sz="2000" dirty="0"/>
              <a:t>: soil and water (e.g. </a:t>
            </a:r>
            <a:r>
              <a:rPr lang="en-US" sz="2000" i="1" dirty="0"/>
              <a:t>Clostridium tetani</a:t>
            </a:r>
            <a:r>
              <a:rPr lang="en-US" sz="2000" dirty="0"/>
              <a:t>; </a:t>
            </a:r>
            <a:r>
              <a:rPr lang="en-US" sz="2000" i="1" dirty="0"/>
              <a:t>Aspergillus </a:t>
            </a:r>
            <a:r>
              <a:rPr lang="en-US" sz="2000" dirty="0"/>
              <a:t>spp, </a:t>
            </a:r>
            <a:r>
              <a:rPr lang="en-US" sz="2000" i="1" dirty="0"/>
              <a:t>Legionella</a:t>
            </a:r>
            <a:r>
              <a:rPr lang="en-US" sz="2000" dirty="0"/>
              <a:t> spp)</a:t>
            </a:r>
          </a:p>
        </p:txBody>
      </p:sp>
    </p:spTree>
    <p:extLst>
      <p:ext uri="{BB962C8B-B14F-4D97-AF65-F5344CB8AC3E}">
        <p14:creationId xmlns:p14="http://schemas.microsoft.com/office/powerpoint/2010/main" val="124792518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639762"/>
          </a:xfr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r>
              <a:rPr lang="en-US" sz="3200" b="1" dirty="0">
                <a:solidFill>
                  <a:srgbClr val="C00000"/>
                </a:solidFill>
              </a:rPr>
              <a:t>Routes of spread of infection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19200"/>
            <a:ext cx="8229600" cy="4906963"/>
          </a:xfrm>
        </p:spPr>
        <p:txBody>
          <a:bodyPr>
            <a:normAutofit/>
          </a:bodyPr>
          <a:lstStyle/>
          <a:p>
            <a:r>
              <a:rPr lang="en-US" sz="2400" b="1" dirty="0">
                <a:solidFill>
                  <a:srgbClr val="7030A0"/>
                </a:solidFill>
              </a:rPr>
              <a:t>Airborne spread </a:t>
            </a:r>
            <a:r>
              <a:rPr lang="en-US" sz="2400" dirty="0"/>
              <a:t>can occur via:</a:t>
            </a:r>
          </a:p>
          <a:p>
            <a:pPr lvl="1"/>
            <a:r>
              <a:rPr lang="en-US" sz="2400" dirty="0"/>
              <a:t>Droplets </a:t>
            </a:r>
          </a:p>
          <a:p>
            <a:pPr lvl="2">
              <a:buFont typeface="Wingdings" pitchFamily="2" charset="2"/>
              <a:buChar char="Ø"/>
            </a:pPr>
            <a:r>
              <a:rPr lang="en-US" sz="1800" dirty="0"/>
              <a:t>Respiratory infection: influenza virus, MTB, SARS-Cov-2</a:t>
            </a:r>
          </a:p>
          <a:p>
            <a:pPr lvl="2">
              <a:buFont typeface="Wingdings" pitchFamily="2" charset="2"/>
              <a:buChar char="Ø"/>
            </a:pPr>
            <a:r>
              <a:rPr lang="en-US" sz="1800" dirty="0"/>
              <a:t>Ventilator nebulisers: </a:t>
            </a:r>
            <a:r>
              <a:rPr lang="en-US" sz="1800" i="1" dirty="0"/>
              <a:t>P.  aeruginosa </a:t>
            </a:r>
          </a:p>
          <a:p>
            <a:pPr lvl="2">
              <a:buFont typeface="Wingdings" pitchFamily="2" charset="2"/>
              <a:buChar char="Ø"/>
            </a:pPr>
            <a:r>
              <a:rPr lang="en-US" sz="1800" dirty="0"/>
              <a:t>Air-conditioning systems: </a:t>
            </a:r>
            <a:r>
              <a:rPr lang="en-US" sz="1800" i="1" dirty="0"/>
              <a:t>Legionella pneumophila</a:t>
            </a:r>
            <a:endParaRPr lang="en-US" i="1" dirty="0"/>
          </a:p>
          <a:p>
            <a:pPr lvl="1"/>
            <a:r>
              <a:rPr lang="en-US" sz="2400" dirty="0"/>
              <a:t>Shed squamous epithelial cells: staphylococci</a:t>
            </a:r>
          </a:p>
          <a:p>
            <a:pPr lvl="1"/>
            <a:r>
              <a:rPr lang="en-US" sz="2400" dirty="0"/>
              <a:t>Aerosolised spores: </a:t>
            </a:r>
            <a:r>
              <a:rPr lang="en-US" sz="2000" b="1" i="1" dirty="0">
                <a:solidFill>
                  <a:srgbClr val="C00000"/>
                </a:solidFill>
              </a:rPr>
              <a:t>Aspergillus fumigatus </a:t>
            </a:r>
            <a:r>
              <a:rPr lang="en-US" sz="2000" dirty="0"/>
              <a:t>from contaminated air-handling plants.</a:t>
            </a:r>
            <a:br>
              <a:rPr lang="en-US" dirty="0"/>
            </a:br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6638468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411162"/>
          </a:xfrm>
        </p:spPr>
        <p:txBody>
          <a:bodyPr>
            <a:noAutofit/>
          </a:bodyPr>
          <a:lstStyle/>
          <a:p>
            <a:pPr algn="r"/>
            <a:r>
              <a:rPr lang="en-US" sz="2400" dirty="0"/>
              <a:t>Cont.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14400"/>
            <a:ext cx="8229600" cy="5211763"/>
          </a:xfrm>
        </p:spPr>
        <p:txBody>
          <a:bodyPr/>
          <a:lstStyle/>
          <a:p>
            <a:r>
              <a:rPr lang="en-US" dirty="0"/>
              <a:t>Contact transfer</a:t>
            </a:r>
          </a:p>
          <a:p>
            <a:endParaRPr lang="en-US" dirty="0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0" y="1905000"/>
            <a:ext cx="5257800" cy="3276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Rectangle 3"/>
          <p:cNvSpPr/>
          <p:nvPr/>
        </p:nvSpPr>
        <p:spPr>
          <a:xfrm>
            <a:off x="838200" y="1524000"/>
            <a:ext cx="6019800" cy="369332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b="1" dirty="0"/>
              <a:t>Table</a:t>
            </a:r>
            <a:r>
              <a:rPr lang="en-US" dirty="0"/>
              <a:t>: Examples of oral transmission of infectious agents</a:t>
            </a:r>
          </a:p>
        </p:txBody>
      </p:sp>
    </p:spTree>
    <p:extLst>
      <p:ext uri="{BB962C8B-B14F-4D97-AF65-F5344CB8AC3E}">
        <p14:creationId xmlns:p14="http://schemas.microsoft.com/office/powerpoint/2010/main" val="212793435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411162"/>
          </a:xfrm>
        </p:spPr>
        <p:txBody>
          <a:bodyPr>
            <a:noAutofit/>
          </a:bodyPr>
          <a:lstStyle/>
          <a:p>
            <a:pPr algn="r"/>
            <a:r>
              <a:rPr lang="en-US" sz="2400" dirty="0"/>
              <a:t>Cont.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14400"/>
            <a:ext cx="8229600" cy="5211763"/>
          </a:xfrm>
        </p:spPr>
        <p:txBody>
          <a:bodyPr>
            <a:normAutofit/>
          </a:bodyPr>
          <a:lstStyle/>
          <a:p>
            <a:r>
              <a:rPr lang="en-US" sz="2400" b="1" dirty="0">
                <a:solidFill>
                  <a:srgbClr val="7030A0"/>
                </a:solidFill>
              </a:rPr>
              <a:t>Vertical transmission</a:t>
            </a:r>
          </a:p>
          <a:p>
            <a:pPr lvl="1"/>
            <a:r>
              <a:rPr lang="en-US" sz="2400" dirty="0"/>
              <a:t>Transmission from mother to foetus/baby</a:t>
            </a:r>
          </a:p>
          <a:p>
            <a:pPr lvl="1"/>
            <a:r>
              <a:rPr lang="en-US" sz="2400" b="1" dirty="0">
                <a:solidFill>
                  <a:srgbClr val="7030A0"/>
                </a:solidFill>
              </a:rPr>
              <a:t>Blood borne transmission </a:t>
            </a:r>
            <a:r>
              <a:rPr lang="en-US" sz="2400" dirty="0"/>
              <a:t>in utero via placenta e.g. rubella or via </a:t>
            </a:r>
          </a:p>
          <a:p>
            <a:pPr lvl="1"/>
            <a:r>
              <a:rPr lang="en-US" sz="2400" b="1" dirty="0">
                <a:solidFill>
                  <a:srgbClr val="7030A0"/>
                </a:solidFill>
              </a:rPr>
              <a:t>Contact transmission </a:t>
            </a:r>
            <a:r>
              <a:rPr lang="en-US" sz="2400" dirty="0"/>
              <a:t>in birth canal during delivery (e.g. HSV, HIV).</a:t>
            </a:r>
            <a:endParaRPr lang="en-US" dirty="0"/>
          </a:p>
          <a:p>
            <a:r>
              <a:rPr lang="en-US" sz="2400" b="1" dirty="0">
                <a:solidFill>
                  <a:srgbClr val="002060"/>
                </a:solidFill>
              </a:rPr>
              <a:t>Direct inoculation (injection) </a:t>
            </a:r>
          </a:p>
          <a:p>
            <a:pPr lvl="1"/>
            <a:r>
              <a:rPr lang="en-US" sz="2000" dirty="0"/>
              <a:t>e.g. needles, infusions (drugs, blood, fluids), tick or mosquito bites</a:t>
            </a:r>
          </a:p>
        </p:txBody>
      </p:sp>
    </p:spTree>
    <p:extLst>
      <p:ext uri="{BB962C8B-B14F-4D97-AF65-F5344CB8AC3E}">
        <p14:creationId xmlns:p14="http://schemas.microsoft.com/office/powerpoint/2010/main" val="361362358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14400"/>
            <a:ext cx="8229600" cy="5211763"/>
          </a:xfrm>
        </p:spPr>
        <p:txBody>
          <a:bodyPr/>
          <a:lstStyle/>
          <a:p>
            <a:endParaRPr lang="en-US" dirty="0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" y="1295400"/>
            <a:ext cx="6019800" cy="3962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Rectangle 3"/>
          <p:cNvSpPr/>
          <p:nvPr/>
        </p:nvSpPr>
        <p:spPr>
          <a:xfrm>
            <a:off x="838200" y="990600"/>
            <a:ext cx="6781800" cy="369332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b="1" dirty="0"/>
              <a:t>Table</a:t>
            </a:r>
            <a:r>
              <a:rPr lang="en-US" dirty="0"/>
              <a:t>: Examples of transmission by direct contact or transfer</a:t>
            </a:r>
          </a:p>
        </p:txBody>
      </p:sp>
    </p:spTree>
    <p:extLst>
      <p:ext uri="{BB962C8B-B14F-4D97-AF65-F5344CB8AC3E}">
        <p14:creationId xmlns:p14="http://schemas.microsoft.com/office/powerpoint/2010/main" val="24375102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639762"/>
          </a:xfr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r>
              <a:rPr lang="en-US" sz="3200" b="1" dirty="0">
                <a:solidFill>
                  <a:srgbClr val="002060"/>
                </a:solidFill>
              </a:rPr>
              <a:t>Factors affecting transmission of microbes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19200"/>
            <a:ext cx="8229600" cy="4906963"/>
          </a:xfrm>
        </p:spPr>
        <p:txBody>
          <a:bodyPr/>
          <a:lstStyle/>
          <a:p>
            <a:r>
              <a:rPr lang="en-US" sz="2400" dirty="0"/>
              <a:t>Survival in environment</a:t>
            </a:r>
          </a:p>
          <a:p>
            <a:r>
              <a:rPr lang="en-US" sz="2400" dirty="0"/>
              <a:t>Establishment on new host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1536335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66800" y="609600"/>
            <a:ext cx="7010399" cy="5486399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2050473" y="6100557"/>
            <a:ext cx="4572000" cy="369332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b="1" dirty="0">
                <a:solidFill>
                  <a:srgbClr val="B01016"/>
                </a:solidFill>
                <a:latin typeface="Arial" panose="020B0604020202020204" pitchFamily="34" charset="0"/>
              </a:rPr>
              <a:t>Fig. Dynamics of infection</a:t>
            </a:r>
            <a:r>
              <a:rPr lang="en-US" b="1" dirty="0"/>
              <a:t> </a:t>
            </a: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Shemse Sebre (MSc)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81BC50-4A76-4C78-9B6F-FE70E1743AA8}" type="slidenum">
              <a:rPr lang="en-US" smtClean="0"/>
              <a:t>18</a:t>
            </a:fld>
            <a:endParaRPr lang="en-US"/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9D33B9-562A-4C49-A2DC-27C26A07AA3B}" type="datetime1">
              <a:rPr lang="en-US" smtClean="0"/>
              <a:t>11/22/2023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3646516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92162"/>
          </a:xfr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r>
              <a:rPr lang="en-US" sz="3200" b="1" dirty="0">
                <a:solidFill>
                  <a:srgbClr val="002060"/>
                </a:solidFill>
              </a:rPr>
              <a:t>Key strategies to prevent infections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47800"/>
            <a:ext cx="8229600" cy="4678363"/>
          </a:xfrm>
        </p:spPr>
        <p:txBody>
          <a:bodyPr/>
          <a:lstStyle/>
          <a:p>
            <a:r>
              <a:rPr lang="en-US" sz="2400" dirty="0"/>
              <a:t>1. Reduce or eliminate exposure to sources of infection</a:t>
            </a:r>
          </a:p>
          <a:p>
            <a:pPr marL="0" indent="0">
              <a:buNone/>
            </a:pPr>
            <a:br>
              <a:rPr lang="en-US" dirty="0"/>
            </a:br>
            <a:br>
              <a:rPr lang="en-US" dirty="0"/>
            </a:br>
            <a:endParaRPr lang="en-US" dirty="0"/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" y="2133600"/>
            <a:ext cx="7924800" cy="3505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12762004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411162"/>
          </a:xfrm>
        </p:spPr>
        <p:txBody>
          <a:bodyPr>
            <a:noAutofit/>
          </a:bodyPr>
          <a:lstStyle/>
          <a:p>
            <a:pPr algn="r"/>
            <a:r>
              <a:rPr lang="en-US" sz="2400" dirty="0"/>
              <a:t>Cont.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838200"/>
            <a:ext cx="8229600" cy="52879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/>
              <a:t>2. Prevent transmission of infection</a:t>
            </a:r>
          </a:p>
          <a:p>
            <a:pPr>
              <a:buFont typeface="Wingdings" pitchFamily="2" charset="2"/>
              <a:buChar char="Ø"/>
            </a:pPr>
            <a:r>
              <a:rPr lang="en-US" sz="2000" b="1" dirty="0">
                <a:solidFill>
                  <a:srgbClr val="FF0000"/>
                </a:solidFill>
              </a:rPr>
              <a:t>Airborne</a:t>
            </a:r>
            <a:r>
              <a:rPr lang="en-US" sz="2000" dirty="0"/>
              <a:t>: Isolation of patients</a:t>
            </a:r>
          </a:p>
          <a:p>
            <a:pPr>
              <a:buFont typeface="Wingdings" pitchFamily="2" charset="2"/>
              <a:buChar char="Ø"/>
            </a:pPr>
            <a:r>
              <a:rPr lang="en-US" sz="2000" b="1" dirty="0">
                <a:solidFill>
                  <a:srgbClr val="FF0000"/>
                </a:solidFill>
              </a:rPr>
              <a:t>Water</a:t>
            </a:r>
            <a:r>
              <a:rPr lang="en-US" sz="2000" dirty="0"/>
              <a:t>: Separate sewage from drinking water and provision of potable water.</a:t>
            </a:r>
          </a:p>
          <a:p>
            <a:pPr>
              <a:buFont typeface="Wingdings" pitchFamily="2" charset="2"/>
              <a:buChar char="Ø"/>
            </a:pPr>
            <a:r>
              <a:rPr lang="en-US" sz="2000" b="1" dirty="0">
                <a:solidFill>
                  <a:srgbClr val="FF0000"/>
                </a:solidFill>
              </a:rPr>
              <a:t>Food: </a:t>
            </a:r>
            <a:r>
              <a:rPr lang="en-US" sz="2000" dirty="0"/>
              <a:t>Refrigeration/Separate storage, cooking and reheating</a:t>
            </a:r>
          </a:p>
          <a:p>
            <a:pPr>
              <a:buFont typeface="Wingdings" pitchFamily="2" charset="2"/>
              <a:buChar char="Ø"/>
            </a:pPr>
            <a:r>
              <a:rPr lang="en-US" sz="2000" b="1" dirty="0">
                <a:solidFill>
                  <a:srgbClr val="FF0000"/>
                </a:solidFill>
              </a:rPr>
              <a:t>Direct and contact transfer</a:t>
            </a:r>
            <a:r>
              <a:rPr lang="en-US" sz="2000" dirty="0"/>
              <a:t>:</a:t>
            </a:r>
            <a:r>
              <a:rPr lang="en-US" sz="1600" dirty="0"/>
              <a:t> </a:t>
            </a:r>
          </a:p>
          <a:p>
            <a:pPr lvl="1">
              <a:buFont typeface="Wingdings" pitchFamily="2" charset="2"/>
              <a:buChar char="ü"/>
            </a:pPr>
            <a:r>
              <a:rPr lang="en-US" sz="2000" dirty="0"/>
              <a:t>Good personal hygiene and isolate patients: </a:t>
            </a:r>
            <a:r>
              <a:rPr lang="en-US" sz="2000" dirty="0" err="1"/>
              <a:t>Faco</a:t>
            </a:r>
            <a:r>
              <a:rPr lang="en-US" sz="2000" dirty="0"/>
              <a:t>-oral</a:t>
            </a:r>
          </a:p>
          <a:p>
            <a:pPr lvl="1">
              <a:buFont typeface="Wingdings" pitchFamily="2" charset="2"/>
              <a:buChar char="ü"/>
            </a:pPr>
            <a:r>
              <a:rPr lang="en-US" sz="2000" dirty="0"/>
              <a:t>Safe sex, contact tracing and health education campaigns: STI</a:t>
            </a:r>
          </a:p>
          <a:p>
            <a:pPr lvl="1">
              <a:buFont typeface="Wingdings" pitchFamily="2" charset="2"/>
              <a:buChar char="ü"/>
            </a:pPr>
            <a:r>
              <a:rPr lang="en-US" sz="2000" dirty="0"/>
              <a:t>Blood-born protection: safe sharps practice, provision of sterile needles </a:t>
            </a:r>
            <a:br>
              <a:rPr lang="en-US" sz="2000" dirty="0"/>
            </a:br>
            <a:br>
              <a:rPr lang="en-US" sz="2000" dirty="0"/>
            </a:b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262427849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533400"/>
            <a:ext cx="8229600" cy="55927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FF0000"/>
                </a:solidFill>
              </a:rPr>
              <a:t>3. Increasing host resistance</a:t>
            </a:r>
          </a:p>
          <a:p>
            <a:pPr>
              <a:buFont typeface="Wingdings" pitchFamily="2" charset="2"/>
              <a:buChar char="Ø"/>
            </a:pPr>
            <a:r>
              <a:rPr lang="en-US" sz="2400" dirty="0"/>
              <a:t>Immunisation</a:t>
            </a:r>
          </a:p>
          <a:p>
            <a:pPr marL="0" indent="0">
              <a:buNone/>
            </a:pPr>
            <a:r>
              <a:rPr lang="en-US" sz="2400" dirty="0"/>
              <a:t>4. </a:t>
            </a:r>
            <a:r>
              <a:rPr lang="en-US" sz="2400" b="1" dirty="0">
                <a:solidFill>
                  <a:srgbClr val="FF0000"/>
                </a:solidFill>
              </a:rPr>
              <a:t>Antimicrobial prophylaxis</a:t>
            </a:r>
          </a:p>
          <a:p>
            <a:pPr>
              <a:buFont typeface="Wingdings" pitchFamily="2" charset="2"/>
              <a:buChar char="Ø"/>
            </a:pPr>
            <a:r>
              <a:rPr lang="en-US" sz="2400" dirty="0"/>
              <a:t>Preoperative</a:t>
            </a:r>
          </a:p>
          <a:p>
            <a:pPr>
              <a:buFont typeface="Wingdings" pitchFamily="2" charset="2"/>
              <a:buChar char="Ø"/>
            </a:pPr>
            <a:r>
              <a:rPr lang="en-US" sz="2400" dirty="0"/>
              <a:t>Immunocompromised patients: AIDS</a:t>
            </a:r>
          </a:p>
          <a:p>
            <a:pPr>
              <a:buFont typeface="Wingdings" pitchFamily="2" charset="2"/>
              <a:buChar char="Ø"/>
            </a:pPr>
            <a:r>
              <a:rPr lang="en-US" sz="2400" dirty="0"/>
              <a:t>Transplant patients to prevent CMV infection</a:t>
            </a:r>
          </a:p>
          <a:p>
            <a:pPr>
              <a:buFont typeface="Wingdings" pitchFamily="2" charset="2"/>
              <a:buChar char="Ø"/>
            </a:pPr>
            <a:r>
              <a:rPr lang="en-US" sz="2400" dirty="0"/>
              <a:t>Short-term for travellers : Anti-malaria</a:t>
            </a:r>
            <a:br>
              <a:rPr lang="en-US" sz="2400" dirty="0"/>
            </a:br>
            <a:br>
              <a:rPr lang="en-US" sz="2400" dirty="0"/>
            </a:br>
            <a:br>
              <a:rPr lang="en-US" sz="2400" dirty="0"/>
            </a:br>
            <a:br>
              <a:rPr lang="en-US" sz="2400" dirty="0"/>
            </a:br>
            <a:br>
              <a:rPr lang="en-US" sz="2400" dirty="0"/>
            </a:b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62392766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r>
              <a:rPr lang="en-US" b="1" i="1" dirty="0"/>
              <a:t>Nosocomial</a:t>
            </a:r>
            <a:r>
              <a:rPr lang="en-US" b="1" dirty="0"/>
              <a:t> </a:t>
            </a:r>
            <a:r>
              <a:rPr lang="en-US" b="1" i="1" dirty="0"/>
              <a:t>infections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399532747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639762"/>
          </a:xfr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>
            <a:normAutofit fontScale="90000"/>
          </a:bodyPr>
          <a:lstStyle/>
          <a:p>
            <a:r>
              <a:rPr lang="en-US" b="1" i="1" dirty="0">
                <a:solidFill>
                  <a:srgbClr val="002060"/>
                </a:solidFill>
              </a:rPr>
              <a:t>Nosocomial</a:t>
            </a:r>
            <a:r>
              <a:rPr lang="en-US" b="1" dirty="0">
                <a:solidFill>
                  <a:srgbClr val="002060"/>
                </a:solidFill>
              </a:rPr>
              <a:t> </a:t>
            </a:r>
            <a:r>
              <a:rPr lang="en-US" b="1" i="1" dirty="0">
                <a:solidFill>
                  <a:srgbClr val="002060"/>
                </a:solidFill>
              </a:rPr>
              <a:t>infections/NI</a:t>
            </a:r>
            <a:endParaRPr lang="en-US" b="1" dirty="0">
              <a:solidFill>
                <a:srgbClr val="00206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95400"/>
            <a:ext cx="8229600" cy="4830763"/>
          </a:xfrm>
        </p:spPr>
        <p:txBody>
          <a:bodyPr>
            <a:normAutofit/>
          </a:bodyPr>
          <a:lstStyle/>
          <a:p>
            <a:r>
              <a:rPr lang="en-US" sz="2400" b="1" dirty="0">
                <a:solidFill>
                  <a:srgbClr val="FF0000"/>
                </a:solidFill>
              </a:rPr>
              <a:t>Hospitals</a:t>
            </a:r>
            <a:r>
              <a:rPr lang="en-US" sz="2400" dirty="0"/>
              <a:t>: places that help people in getting cured of illnesses</a:t>
            </a:r>
          </a:p>
          <a:p>
            <a:r>
              <a:rPr lang="en-US" sz="2400" dirty="0"/>
              <a:t>Also as transmitters of diseases</a:t>
            </a:r>
          </a:p>
          <a:p>
            <a:r>
              <a:rPr lang="en-US" sz="2400" dirty="0"/>
              <a:t>Infections that are acquired in hospitals -</a:t>
            </a:r>
            <a:r>
              <a:rPr lang="en-US" sz="2400" b="1" i="1" dirty="0">
                <a:solidFill>
                  <a:srgbClr val="FF0000"/>
                </a:solidFill>
              </a:rPr>
              <a:t>hospital infections </a:t>
            </a:r>
            <a:r>
              <a:rPr lang="en-US" sz="2400" dirty="0"/>
              <a:t>or </a:t>
            </a:r>
            <a:r>
              <a:rPr lang="en-US" sz="2400" b="1" i="1" dirty="0">
                <a:solidFill>
                  <a:srgbClr val="FF0000"/>
                </a:solidFill>
              </a:rPr>
              <a:t>NIs</a:t>
            </a:r>
            <a:r>
              <a:rPr lang="en-US" sz="2400" i="1" dirty="0"/>
              <a:t>.</a:t>
            </a:r>
          </a:p>
          <a:p>
            <a:r>
              <a:rPr lang="en-US" sz="2400" dirty="0"/>
              <a:t>Nis: </a:t>
            </a:r>
          </a:p>
          <a:p>
            <a:pPr lvl="1">
              <a:buFont typeface="Wingdings" pitchFamily="2" charset="2"/>
              <a:buChar char="ü"/>
            </a:pPr>
            <a:r>
              <a:rPr lang="en-US" sz="2400" dirty="0"/>
              <a:t>Infections which </a:t>
            </a:r>
            <a:r>
              <a:rPr lang="en-US" sz="2400" b="1" dirty="0">
                <a:solidFill>
                  <a:srgbClr val="002060"/>
                </a:solidFill>
              </a:rPr>
              <a:t>develop during hospitalization (</a:t>
            </a:r>
            <a:r>
              <a:rPr lang="en-US" sz="2400" dirty="0"/>
              <a:t>(at least 2 days after admission) and </a:t>
            </a:r>
          </a:p>
          <a:p>
            <a:pPr lvl="1">
              <a:buFont typeface="Wingdings" pitchFamily="2" charset="2"/>
              <a:buChar char="ü"/>
            </a:pPr>
            <a:r>
              <a:rPr lang="en-US" sz="2400" dirty="0"/>
              <a:t>Not incubating or present at time of admission to hospital.</a:t>
            </a:r>
            <a:br>
              <a:rPr lang="en-US" sz="2000" dirty="0"/>
            </a:br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755112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639762"/>
          </a:xfr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>
            <a:normAutofit fontScale="90000"/>
          </a:bodyPr>
          <a:lstStyle/>
          <a:p>
            <a:r>
              <a:rPr lang="en-US" b="1" dirty="0"/>
              <a:t>Source of Infection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95400"/>
            <a:ext cx="8229600" cy="4830763"/>
          </a:xfrm>
        </p:spPr>
        <p:txBody>
          <a:bodyPr>
            <a:normAutofit/>
          </a:bodyPr>
          <a:lstStyle/>
          <a:p>
            <a:r>
              <a:rPr lang="en-US" sz="2400" b="1" dirty="0">
                <a:solidFill>
                  <a:srgbClr val="002060"/>
                </a:solidFill>
              </a:rPr>
              <a:t>Exogenous</a:t>
            </a:r>
            <a:r>
              <a:rPr lang="en-US" sz="2400" dirty="0"/>
              <a:t>: Human, animal or environments</a:t>
            </a:r>
          </a:p>
          <a:p>
            <a:pPr lvl="1">
              <a:buFont typeface="Wingdings" pitchFamily="2" charset="2"/>
              <a:buChar char="Ø"/>
            </a:pPr>
            <a:r>
              <a:rPr lang="en-US" sz="2400" dirty="0"/>
              <a:t>Another patient or a member of hospital staff or </a:t>
            </a:r>
          </a:p>
          <a:p>
            <a:pPr lvl="1">
              <a:buFont typeface="Wingdings" pitchFamily="2" charset="2"/>
              <a:buChar char="Ø"/>
            </a:pPr>
            <a:r>
              <a:rPr lang="en-US" sz="2400" dirty="0"/>
              <a:t>Inanimate environment in hospital</a:t>
            </a:r>
            <a:endParaRPr lang="en-US" sz="2000" dirty="0"/>
          </a:p>
          <a:p>
            <a:r>
              <a:rPr lang="en-US" sz="2400" b="1" dirty="0">
                <a:solidFill>
                  <a:srgbClr val="002060"/>
                </a:solidFill>
              </a:rPr>
              <a:t>Endogenous</a:t>
            </a:r>
            <a:r>
              <a:rPr lang="en-US" sz="2400" dirty="0"/>
              <a:t>: patient’s own flora </a:t>
            </a:r>
            <a:br>
              <a:rPr lang="en-US" sz="2400" dirty="0"/>
            </a:br>
            <a:br>
              <a:rPr lang="en-US" sz="2400" dirty="0"/>
            </a:br>
            <a:endParaRPr lang="en-US" sz="2400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400" y="3048000"/>
            <a:ext cx="7267575" cy="2914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Rectangle 3"/>
          <p:cNvSpPr/>
          <p:nvPr/>
        </p:nvSpPr>
        <p:spPr>
          <a:xfrm>
            <a:off x="1752600" y="6019800"/>
            <a:ext cx="4572000" cy="369332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r>
              <a:rPr lang="en-US" b="1" dirty="0"/>
              <a:t>Fig. </a:t>
            </a:r>
            <a:r>
              <a:rPr lang="en-US" dirty="0"/>
              <a:t>Acquisition of hospital infections</a:t>
            </a:r>
          </a:p>
        </p:txBody>
      </p:sp>
    </p:spTree>
    <p:extLst>
      <p:ext uri="{BB962C8B-B14F-4D97-AF65-F5344CB8AC3E}">
        <p14:creationId xmlns:p14="http://schemas.microsoft.com/office/powerpoint/2010/main" val="289264089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>
            <a:normAutofit fontScale="90000"/>
          </a:bodyPr>
          <a:lstStyle/>
          <a:p>
            <a:r>
              <a:rPr lang="en-US" b="1" dirty="0"/>
              <a:t>Persons at Risk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95400"/>
            <a:ext cx="8229600" cy="48307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/>
              <a:t>HAIs affect: </a:t>
            </a:r>
          </a:p>
          <a:p>
            <a:r>
              <a:rPr lang="en-US" sz="2400" dirty="0"/>
              <a:t>Discharged</a:t>
            </a:r>
          </a:p>
          <a:p>
            <a:r>
              <a:rPr lang="en-US" sz="2400" dirty="0"/>
              <a:t>Inpatients</a:t>
            </a:r>
          </a:p>
          <a:p>
            <a:r>
              <a:rPr lang="en-US" sz="2400" dirty="0"/>
              <a:t>Outpatients </a:t>
            </a:r>
          </a:p>
          <a:p>
            <a:r>
              <a:rPr lang="en-US" sz="2400" dirty="0"/>
              <a:t>Hospital staff and </a:t>
            </a:r>
          </a:p>
          <a:p>
            <a:r>
              <a:rPr lang="en-US" sz="2400" dirty="0"/>
              <a:t>Subsequently it may spill over in community.</a:t>
            </a:r>
          </a:p>
        </p:txBody>
      </p:sp>
    </p:spTree>
    <p:extLst>
      <p:ext uri="{BB962C8B-B14F-4D97-AF65-F5344CB8AC3E}">
        <p14:creationId xmlns:p14="http://schemas.microsoft.com/office/powerpoint/2010/main" val="173955452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639762"/>
          </a:xfr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r>
              <a:rPr lang="en-US" sz="3200" b="1" dirty="0">
                <a:solidFill>
                  <a:srgbClr val="002060"/>
                </a:solidFill>
              </a:rPr>
              <a:t>Predisposing Factors for NIs</a:t>
            </a:r>
            <a:endParaRPr lang="en-US" sz="3200" dirty="0">
              <a:solidFill>
                <a:srgbClr val="00206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371600"/>
            <a:ext cx="8229600" cy="4754563"/>
          </a:xfrm>
        </p:spPr>
        <p:txBody>
          <a:bodyPr>
            <a:normAutofit/>
          </a:bodyPr>
          <a:lstStyle/>
          <a:p>
            <a:r>
              <a:rPr lang="en-US" sz="2400" dirty="0"/>
              <a:t>Hospital environment </a:t>
            </a:r>
          </a:p>
          <a:p>
            <a:r>
              <a:rPr lang="en-US" sz="2400" dirty="0"/>
              <a:t>Hospital microbial flora </a:t>
            </a:r>
          </a:p>
          <a:p>
            <a:r>
              <a:rPr lang="en-US" sz="2400" dirty="0"/>
              <a:t>Instrumentation in hospitals</a:t>
            </a:r>
          </a:p>
          <a:p>
            <a:r>
              <a:rPr lang="en-US" sz="2400" dirty="0"/>
              <a:t>Blood, blood products and intravenous fluids </a:t>
            </a:r>
          </a:p>
          <a:p>
            <a:r>
              <a:rPr lang="en-US" sz="2400" dirty="0"/>
              <a:t>Accidental inoculation of infectious material</a:t>
            </a:r>
          </a:p>
        </p:txBody>
      </p:sp>
    </p:spTree>
    <p:extLst>
      <p:ext uri="{BB962C8B-B14F-4D97-AF65-F5344CB8AC3E}">
        <p14:creationId xmlns:p14="http://schemas.microsoft.com/office/powerpoint/2010/main" val="182716629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r>
              <a:rPr lang="en-US" sz="2800" b="1" dirty="0">
                <a:solidFill>
                  <a:srgbClr val="002060"/>
                </a:solidFill>
              </a:rPr>
              <a:t>Modes of Spread</a:t>
            </a:r>
            <a:endParaRPr lang="en-US" sz="2800" dirty="0">
              <a:solidFill>
                <a:srgbClr val="00206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43000"/>
            <a:ext cx="8229600" cy="49831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/>
              <a:t>Various modes of spread of nosocomial infections are:</a:t>
            </a:r>
          </a:p>
          <a:p>
            <a:pPr>
              <a:buFont typeface="Wingdings" pitchFamily="2" charset="2"/>
              <a:buChar char="Ø"/>
            </a:pPr>
            <a:r>
              <a:rPr lang="en-US" sz="2400" dirty="0"/>
              <a:t>Airborne</a:t>
            </a:r>
          </a:p>
          <a:p>
            <a:pPr>
              <a:buFont typeface="Wingdings" pitchFamily="2" charset="2"/>
              <a:buChar char="Ø"/>
            </a:pPr>
            <a:r>
              <a:rPr lang="en-US" sz="2400" dirty="0"/>
              <a:t>Infection by contact</a:t>
            </a:r>
          </a:p>
          <a:p>
            <a:pPr>
              <a:buFont typeface="Wingdings" pitchFamily="2" charset="2"/>
              <a:buChar char="Ø"/>
            </a:pPr>
            <a:r>
              <a:rPr lang="en-US" sz="2400" dirty="0"/>
              <a:t>Infections acquired from food</a:t>
            </a:r>
          </a:p>
          <a:p>
            <a:pPr>
              <a:buFont typeface="Wingdings" pitchFamily="2" charset="2"/>
              <a:buChar char="Ø"/>
            </a:pPr>
            <a:r>
              <a:rPr lang="en-US" sz="2400" dirty="0"/>
              <a:t>Infections associated with water</a:t>
            </a:r>
          </a:p>
          <a:p>
            <a:pPr>
              <a:buFont typeface="Wingdings" pitchFamily="2" charset="2"/>
              <a:buChar char="Ø"/>
            </a:pPr>
            <a:r>
              <a:rPr lang="en-US" sz="2400" dirty="0"/>
              <a:t>From hospital equipment</a:t>
            </a:r>
          </a:p>
          <a:p>
            <a:pPr>
              <a:buFont typeface="Wingdings" pitchFamily="2" charset="2"/>
              <a:buChar char="Ø"/>
            </a:pPr>
            <a:r>
              <a:rPr lang="en-US" sz="2400" dirty="0"/>
              <a:t>Infections by inoculation.</a:t>
            </a:r>
          </a:p>
        </p:txBody>
      </p:sp>
    </p:spTree>
    <p:extLst>
      <p:ext uri="{BB962C8B-B14F-4D97-AF65-F5344CB8AC3E}">
        <p14:creationId xmlns:p14="http://schemas.microsoft.com/office/powerpoint/2010/main" val="343487154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639762"/>
          </a:xfr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r>
              <a:rPr lang="en-US" sz="3200" b="1" dirty="0"/>
              <a:t>Common Type and Agents of NIs</a:t>
            </a:r>
            <a:endParaRPr lang="en-US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371600"/>
            <a:ext cx="8229600" cy="4754563"/>
          </a:xfrm>
        </p:spPr>
        <p:txBody>
          <a:bodyPr>
            <a:normAutofit/>
          </a:bodyPr>
          <a:lstStyle/>
          <a:p>
            <a:pPr>
              <a:buFont typeface="Wingdings" pitchFamily="2" charset="2"/>
              <a:buChar char="Ø"/>
            </a:pPr>
            <a:r>
              <a:rPr lang="en-US" sz="2400" dirty="0"/>
              <a:t>Wound infections: </a:t>
            </a:r>
            <a:r>
              <a:rPr lang="en-US" sz="2400" i="1" dirty="0"/>
              <a:t>S.aureus, P.aeruginosa</a:t>
            </a:r>
            <a:endParaRPr lang="en-US" sz="2400" dirty="0"/>
          </a:p>
          <a:p>
            <a:pPr>
              <a:buFont typeface="Wingdings" pitchFamily="2" charset="2"/>
              <a:buChar char="Ø"/>
            </a:pPr>
            <a:r>
              <a:rPr lang="en-US" sz="2400" dirty="0"/>
              <a:t>Urinary tract infections:</a:t>
            </a:r>
            <a:r>
              <a:rPr lang="en-US" sz="2400" i="1" dirty="0"/>
              <a:t> E. coli </a:t>
            </a:r>
            <a:endParaRPr lang="en-US" sz="2400" dirty="0"/>
          </a:p>
          <a:p>
            <a:pPr>
              <a:buFont typeface="Wingdings" pitchFamily="2" charset="2"/>
              <a:buChar char="Ø"/>
            </a:pPr>
            <a:r>
              <a:rPr lang="en-US" sz="2400" dirty="0"/>
              <a:t>Respiratory infections</a:t>
            </a:r>
          </a:p>
          <a:p>
            <a:pPr>
              <a:buFont typeface="Wingdings" pitchFamily="2" charset="2"/>
              <a:buChar char="Ø"/>
            </a:pPr>
            <a:r>
              <a:rPr lang="en-US" sz="2400" dirty="0"/>
              <a:t>Skin infections</a:t>
            </a:r>
          </a:p>
          <a:p>
            <a:pPr>
              <a:buFont typeface="Wingdings" pitchFamily="2" charset="2"/>
              <a:buChar char="Ø"/>
            </a:pPr>
            <a:r>
              <a:rPr lang="en-US" sz="2400" dirty="0"/>
              <a:t>Bacteraemia and septicaemia</a:t>
            </a:r>
          </a:p>
          <a:p>
            <a:pPr>
              <a:buFont typeface="Wingdings" pitchFamily="2" charset="2"/>
              <a:buChar char="Ø"/>
            </a:pPr>
            <a:r>
              <a:rPr lang="en-US" sz="2400" dirty="0"/>
              <a:t>Gastrointestinal infections</a:t>
            </a:r>
          </a:p>
          <a:p>
            <a:pPr>
              <a:buFont typeface="Wingdings" pitchFamily="2" charset="2"/>
              <a:buChar char="Ø"/>
            </a:pPr>
            <a:r>
              <a:rPr lang="en-US" sz="2400" dirty="0"/>
              <a:t>SARS-CoV-2</a:t>
            </a:r>
          </a:p>
          <a:p>
            <a:pPr>
              <a:buFont typeface="Wingdings" pitchFamily="2" charset="2"/>
              <a:buChar char="Ø"/>
            </a:pPr>
            <a:endParaRPr lang="en-US" sz="2400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4600" y="3962400"/>
            <a:ext cx="6553200" cy="2667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96271365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563562"/>
          </a:xfr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r>
              <a:rPr lang="en-US" sz="3600" b="1" dirty="0"/>
              <a:t>Control and Prevention</a:t>
            </a:r>
            <a:endParaRPr lang="en-US" sz="36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95400"/>
            <a:ext cx="8229600" cy="4830763"/>
          </a:xfrm>
        </p:spPr>
        <p:txBody>
          <a:bodyPr>
            <a:normAutofit/>
          </a:bodyPr>
          <a:lstStyle/>
          <a:p>
            <a:r>
              <a:rPr lang="en-US" sz="2400" dirty="0"/>
              <a:t>Hand washing</a:t>
            </a:r>
          </a:p>
          <a:p>
            <a:r>
              <a:rPr lang="en-US" sz="2400" dirty="0"/>
              <a:t>Intelligent use of instrumentation</a:t>
            </a:r>
          </a:p>
          <a:p>
            <a:r>
              <a:rPr lang="en-US" sz="2400" dirty="0"/>
              <a:t>Limitation of use of antibiotics</a:t>
            </a:r>
          </a:p>
          <a:p>
            <a:r>
              <a:rPr lang="en-US" sz="2400" dirty="0"/>
              <a:t>Prophylactic antibiotics in specific situations for short periods</a:t>
            </a:r>
          </a:p>
          <a:p>
            <a:r>
              <a:rPr lang="en-US" sz="2400" dirty="0"/>
              <a:t>Limitations of transfusions</a:t>
            </a:r>
          </a:p>
          <a:p>
            <a:r>
              <a:rPr lang="en-US" sz="2400" dirty="0"/>
              <a:t>Barrier precautions</a:t>
            </a:r>
          </a:p>
          <a:p>
            <a:r>
              <a:rPr lang="en-US" sz="2400" dirty="0"/>
              <a:t>Surveillance</a:t>
            </a:r>
          </a:p>
          <a:p>
            <a:r>
              <a:rPr lang="en-US" sz="2400" dirty="0"/>
              <a:t>Frequent change of intravenous lines</a:t>
            </a:r>
          </a:p>
        </p:txBody>
      </p:sp>
    </p:spTree>
    <p:extLst>
      <p:ext uri="{BB962C8B-B14F-4D97-AF65-F5344CB8AC3E}">
        <p14:creationId xmlns:p14="http://schemas.microsoft.com/office/powerpoint/2010/main" val="33572204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563562"/>
          </a:xfr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r>
              <a:rPr lang="en-US" sz="3200" b="1" dirty="0">
                <a:solidFill>
                  <a:srgbClr val="002060"/>
                </a:solidFill>
              </a:rPr>
              <a:t>Infection Committee</a:t>
            </a:r>
            <a:endParaRPr lang="en-US" sz="3200" dirty="0">
              <a:solidFill>
                <a:srgbClr val="00206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66800"/>
            <a:ext cx="8229600" cy="5059363"/>
          </a:xfrm>
        </p:spPr>
        <p:txBody>
          <a:bodyPr>
            <a:normAutofit/>
          </a:bodyPr>
          <a:lstStyle/>
          <a:p>
            <a:r>
              <a:rPr lang="en-US" sz="2400" dirty="0"/>
              <a:t>It is essential to establish an infection committee in the hospital which should consist:</a:t>
            </a:r>
          </a:p>
          <a:p>
            <a:pPr lvl="1">
              <a:buFont typeface="Wingdings" pitchFamily="2" charset="2"/>
              <a:buChar char="Ø"/>
            </a:pPr>
            <a:r>
              <a:rPr lang="en-US" sz="2400" dirty="0"/>
              <a:t>Physicians </a:t>
            </a:r>
          </a:p>
          <a:p>
            <a:pPr lvl="1">
              <a:buFont typeface="Wingdings" pitchFamily="2" charset="2"/>
              <a:buChar char="Ø"/>
            </a:pPr>
            <a:r>
              <a:rPr lang="en-US" sz="2400" dirty="0"/>
              <a:t>Nurses </a:t>
            </a:r>
          </a:p>
          <a:p>
            <a:pPr lvl="1">
              <a:buFont typeface="Wingdings" pitchFamily="2" charset="2"/>
              <a:buChar char="Ø"/>
            </a:pPr>
            <a:r>
              <a:rPr lang="en-US" sz="2400" dirty="0"/>
              <a:t>Administrators and </a:t>
            </a:r>
          </a:p>
          <a:p>
            <a:pPr lvl="1">
              <a:buFont typeface="Wingdings" pitchFamily="2" charset="2"/>
              <a:buChar char="Ø"/>
            </a:pPr>
            <a:r>
              <a:rPr lang="en-US" sz="2400" dirty="0"/>
              <a:t>Laboratory personnel</a:t>
            </a:r>
          </a:p>
          <a:p>
            <a:r>
              <a:rPr lang="en-US" sz="2400" dirty="0"/>
              <a:t>The committee should meet regularly and frequently and decide about hospital policy related to infection control.</a:t>
            </a:r>
            <a:br>
              <a:rPr lang="en-US" dirty="0"/>
            </a:br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1022785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487362"/>
          </a:xfr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r>
              <a:rPr lang="en-US" sz="3200" b="1" dirty="0">
                <a:solidFill>
                  <a:srgbClr val="002060"/>
                </a:solidFill>
              </a:rPr>
              <a:t>Biological warfare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66800"/>
            <a:ext cx="8229600" cy="5059363"/>
          </a:xfrm>
        </p:spPr>
        <p:txBody>
          <a:bodyPr>
            <a:normAutofit/>
          </a:bodyPr>
          <a:lstStyle/>
          <a:p>
            <a:r>
              <a:rPr lang="en-US" sz="2400" dirty="0"/>
              <a:t>Use of </a:t>
            </a:r>
            <a:r>
              <a:rPr lang="en-US" sz="2400" b="1" dirty="0"/>
              <a:t>biological</a:t>
            </a:r>
            <a:r>
              <a:rPr lang="en-US" sz="2400" dirty="0"/>
              <a:t> toxins or infectious agents with intent to kill, harm or incapacitate humans, animals or plants as an act of </a:t>
            </a:r>
            <a:r>
              <a:rPr lang="en-US" sz="2400" b="1" dirty="0"/>
              <a:t>war</a:t>
            </a:r>
            <a:r>
              <a:rPr lang="en-US" sz="2400" dirty="0"/>
              <a:t>.</a:t>
            </a:r>
          </a:p>
          <a:p>
            <a:r>
              <a:rPr lang="en-US" sz="2400" dirty="0"/>
              <a:t>Plans need to be in place, both in hospitals and community </a:t>
            </a:r>
          </a:p>
          <a:p>
            <a:r>
              <a:rPr lang="en-US" sz="2400" dirty="0"/>
              <a:t>In case of contamination with biological material, including </a:t>
            </a:r>
            <a:r>
              <a:rPr lang="en-US" sz="2400" b="1" dirty="0">
                <a:solidFill>
                  <a:srgbClr val="002060"/>
                </a:solidFill>
              </a:rPr>
              <a:t>smallpox and anthrax</a:t>
            </a:r>
            <a:r>
              <a:rPr lang="en-US" sz="2400" dirty="0"/>
              <a:t>. </a:t>
            </a:r>
          </a:p>
          <a:p>
            <a:r>
              <a:rPr lang="en-US" sz="2400" dirty="0"/>
              <a:t>Precautions include; 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2400" dirty="0"/>
              <a:t>Appropriate protective clothing, 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2400" dirty="0"/>
              <a:t>Prophylaxis and 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2400" dirty="0"/>
              <a:t>Immunization </a:t>
            </a:r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8285701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525</TotalTime>
  <Words>1173</Words>
  <Application>Microsoft Office PowerPoint</Application>
  <PresentationFormat>On-screen Show (4:3)</PresentationFormat>
  <Paragraphs>184</Paragraphs>
  <Slides>31</Slides>
  <Notes>1</Notes>
  <HiddenSlides>1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6" baseType="lpstr">
      <vt:lpstr>Arial</vt:lpstr>
      <vt:lpstr>Calibri</vt:lpstr>
      <vt:lpstr>Helvetica</vt:lpstr>
      <vt:lpstr>Wingdings</vt:lpstr>
      <vt:lpstr>Office Theme</vt:lpstr>
      <vt:lpstr>Outline</vt:lpstr>
      <vt:lpstr>Epidemiology of infection</vt:lpstr>
      <vt:lpstr>PowerPoint Presentation</vt:lpstr>
      <vt:lpstr>Definitions</vt:lpstr>
      <vt:lpstr>PowerPoint Presentation</vt:lpstr>
      <vt:lpstr>PowerPoint Presentation</vt:lpstr>
      <vt:lpstr>Chain of infection</vt:lpstr>
      <vt:lpstr>1. Etiologic Agent</vt:lpstr>
      <vt:lpstr>Cont.</vt:lpstr>
      <vt:lpstr>2. Method of Transmission</vt:lpstr>
      <vt:lpstr>3. Host</vt:lpstr>
      <vt:lpstr>Sources of infection</vt:lpstr>
      <vt:lpstr>Routes of spread of infection</vt:lpstr>
      <vt:lpstr>Cont.</vt:lpstr>
      <vt:lpstr>Cont.</vt:lpstr>
      <vt:lpstr>PowerPoint Presentation</vt:lpstr>
      <vt:lpstr>Factors affecting transmission of microbes</vt:lpstr>
      <vt:lpstr>PowerPoint Presentation</vt:lpstr>
      <vt:lpstr>Key strategies to prevent infections</vt:lpstr>
      <vt:lpstr>Cont.</vt:lpstr>
      <vt:lpstr>PowerPoint Presentation</vt:lpstr>
      <vt:lpstr>Nosocomial infections</vt:lpstr>
      <vt:lpstr>Nosocomial infections/NI</vt:lpstr>
      <vt:lpstr>Source of Infection</vt:lpstr>
      <vt:lpstr>Persons at Risk</vt:lpstr>
      <vt:lpstr>Predisposing Factors for NIs</vt:lpstr>
      <vt:lpstr>Modes of Spread</vt:lpstr>
      <vt:lpstr>Common Type and Agents of NIs</vt:lpstr>
      <vt:lpstr>Control and Prevention</vt:lpstr>
      <vt:lpstr>Infection Committee</vt:lpstr>
      <vt:lpstr>Biological warfare</vt:lpstr>
    </vt:vector>
  </TitlesOfParts>
  <Company>home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Nosocomial infections</dc:title>
  <dc:creator>Shemsu- [2022]</dc:creator>
  <cp:lastModifiedBy>user</cp:lastModifiedBy>
  <cp:revision>131</cp:revision>
  <dcterms:created xsi:type="dcterms:W3CDTF">2023-02-05T06:47:46Z</dcterms:created>
  <dcterms:modified xsi:type="dcterms:W3CDTF">2023-11-22T08:41:20Z</dcterms:modified>
</cp:coreProperties>
</file>