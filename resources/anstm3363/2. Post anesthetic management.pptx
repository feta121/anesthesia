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47"/>
  </p:notesMasterIdLst>
  <p:sldIdLst>
    <p:sldId id="256" r:id="rId2"/>
    <p:sldId id="320" r:id="rId3"/>
    <p:sldId id="257" r:id="rId4"/>
    <p:sldId id="321" r:id="rId5"/>
    <p:sldId id="322" r:id="rId6"/>
    <p:sldId id="323" r:id="rId7"/>
    <p:sldId id="324" r:id="rId8"/>
    <p:sldId id="332" r:id="rId9"/>
    <p:sldId id="326" r:id="rId10"/>
    <p:sldId id="325" r:id="rId11"/>
    <p:sldId id="258" r:id="rId12"/>
    <p:sldId id="259" r:id="rId13"/>
    <p:sldId id="260" r:id="rId14"/>
    <p:sldId id="261" r:id="rId15"/>
    <p:sldId id="262" r:id="rId16"/>
    <p:sldId id="263" r:id="rId17"/>
    <p:sldId id="266" r:id="rId18"/>
    <p:sldId id="264" r:id="rId19"/>
    <p:sldId id="327" r:id="rId20"/>
    <p:sldId id="265" r:id="rId21"/>
    <p:sldId id="267" r:id="rId22"/>
    <p:sldId id="268" r:id="rId23"/>
    <p:sldId id="269" r:id="rId24"/>
    <p:sldId id="270" r:id="rId25"/>
    <p:sldId id="290" r:id="rId26"/>
    <p:sldId id="271" r:id="rId27"/>
    <p:sldId id="272" r:id="rId28"/>
    <p:sldId id="273" r:id="rId29"/>
    <p:sldId id="274" r:id="rId30"/>
    <p:sldId id="275" r:id="rId31"/>
    <p:sldId id="279" r:id="rId32"/>
    <p:sldId id="347" r:id="rId33"/>
    <p:sldId id="276" r:id="rId34"/>
    <p:sldId id="277" r:id="rId35"/>
    <p:sldId id="288" r:id="rId36"/>
    <p:sldId id="291" r:id="rId37"/>
    <p:sldId id="328" r:id="rId38"/>
    <p:sldId id="292" r:id="rId39"/>
    <p:sldId id="293" r:id="rId40"/>
    <p:sldId id="303" r:id="rId41"/>
    <p:sldId id="295" r:id="rId42"/>
    <p:sldId id="304" r:id="rId43"/>
    <p:sldId id="296" r:id="rId44"/>
    <p:sldId id="297" r:id="rId45"/>
    <p:sldId id="305" r:id="rId46"/>
    <p:sldId id="298" r:id="rId47"/>
    <p:sldId id="299" r:id="rId48"/>
    <p:sldId id="294" r:id="rId49"/>
    <p:sldId id="306" r:id="rId50"/>
    <p:sldId id="307" r:id="rId51"/>
    <p:sldId id="308" r:id="rId52"/>
    <p:sldId id="309" r:id="rId53"/>
    <p:sldId id="310" r:id="rId54"/>
    <p:sldId id="300" r:id="rId55"/>
    <p:sldId id="301" r:id="rId56"/>
    <p:sldId id="311" r:id="rId57"/>
    <p:sldId id="329" r:id="rId58"/>
    <p:sldId id="330" r:id="rId59"/>
    <p:sldId id="331" r:id="rId60"/>
    <p:sldId id="312" r:id="rId61"/>
    <p:sldId id="313" r:id="rId62"/>
    <p:sldId id="314" r:id="rId63"/>
    <p:sldId id="315" r:id="rId64"/>
    <p:sldId id="316" r:id="rId65"/>
    <p:sldId id="317" r:id="rId66"/>
    <p:sldId id="318" r:id="rId67"/>
    <p:sldId id="345" r:id="rId68"/>
    <p:sldId id="346" r:id="rId69"/>
    <p:sldId id="278" r:id="rId70"/>
    <p:sldId id="280" r:id="rId71"/>
    <p:sldId id="281" r:id="rId72"/>
    <p:sldId id="282" r:id="rId73"/>
    <p:sldId id="283" r:id="rId74"/>
    <p:sldId id="284" r:id="rId75"/>
    <p:sldId id="285" r:id="rId76"/>
    <p:sldId id="286" r:id="rId77"/>
    <p:sldId id="287" r:id="rId78"/>
    <p:sldId id="333" r:id="rId79"/>
    <p:sldId id="343" r:id="rId80"/>
    <p:sldId id="344" r:id="rId81"/>
    <p:sldId id="334" r:id="rId82"/>
    <p:sldId id="335" r:id="rId83"/>
    <p:sldId id="336" r:id="rId84"/>
    <p:sldId id="337" r:id="rId85"/>
    <p:sldId id="338" r:id="rId86"/>
    <p:sldId id="339" r:id="rId87"/>
    <p:sldId id="340" r:id="rId88"/>
    <p:sldId id="341" r:id="rId89"/>
    <p:sldId id="342" r:id="rId90"/>
    <p:sldId id="348" r:id="rId91"/>
    <p:sldId id="357" r:id="rId92"/>
    <p:sldId id="358" r:id="rId93"/>
    <p:sldId id="359" r:id="rId94"/>
    <p:sldId id="350" r:id="rId95"/>
    <p:sldId id="352" r:id="rId96"/>
    <p:sldId id="353" r:id="rId97"/>
    <p:sldId id="349" r:id="rId98"/>
    <p:sldId id="400" r:id="rId99"/>
    <p:sldId id="402" r:id="rId100"/>
    <p:sldId id="401" r:id="rId101"/>
    <p:sldId id="351" r:id="rId102"/>
    <p:sldId id="354" r:id="rId103"/>
    <p:sldId id="355" r:id="rId104"/>
    <p:sldId id="360" r:id="rId105"/>
    <p:sldId id="356" r:id="rId106"/>
    <p:sldId id="361" r:id="rId107"/>
    <p:sldId id="362" r:id="rId108"/>
    <p:sldId id="364" r:id="rId109"/>
    <p:sldId id="363"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 id="377" r:id="rId123"/>
    <p:sldId id="378" r:id="rId124"/>
    <p:sldId id="379" r:id="rId125"/>
    <p:sldId id="380" r:id="rId126"/>
    <p:sldId id="381" r:id="rId127"/>
    <p:sldId id="382" r:id="rId128"/>
    <p:sldId id="383" r:id="rId129"/>
    <p:sldId id="384" r:id="rId130"/>
    <p:sldId id="385" r:id="rId131"/>
    <p:sldId id="386" r:id="rId132"/>
    <p:sldId id="387" r:id="rId133"/>
    <p:sldId id="388" r:id="rId134"/>
    <p:sldId id="389" r:id="rId135"/>
    <p:sldId id="390" r:id="rId136"/>
    <p:sldId id="391" r:id="rId137"/>
    <p:sldId id="392" r:id="rId138"/>
    <p:sldId id="394" r:id="rId139"/>
    <p:sldId id="393" r:id="rId140"/>
    <p:sldId id="395" r:id="rId141"/>
    <p:sldId id="396" r:id="rId142"/>
    <p:sldId id="397" r:id="rId143"/>
    <p:sldId id="398" r:id="rId144"/>
    <p:sldId id="399" r:id="rId145"/>
    <p:sldId id="403" r:id="rId14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71" d="100"/>
          <a:sy n="71" d="100"/>
        </p:scale>
        <p:origin x="69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viewProps" Target="viewProps.xml"/><Relationship Id="rId5" Type="http://schemas.openxmlformats.org/officeDocument/2006/relationships/slide" Target="slides/slide4.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slide" Target="slides/slide133.xml"/><Relationship Id="rId139" Type="http://schemas.openxmlformats.org/officeDocument/2006/relationships/slide" Target="slides/slide138.xml"/><Relationship Id="rId80" Type="http://schemas.openxmlformats.org/officeDocument/2006/relationships/slide" Target="slides/slide79.xml"/><Relationship Id="rId85" Type="http://schemas.openxmlformats.org/officeDocument/2006/relationships/slide" Target="slides/slide84.xml"/><Relationship Id="rId150" Type="http://schemas.openxmlformats.org/officeDocument/2006/relationships/theme" Target="theme/theme1.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40" Type="http://schemas.openxmlformats.org/officeDocument/2006/relationships/slide" Target="slides/slide139.xml"/><Relationship Id="rId145" Type="http://schemas.openxmlformats.org/officeDocument/2006/relationships/slide" Target="slides/slide144.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tableStyles" Target="tableStyle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75340E-F859-4B94-A21C-329506B3E563}" type="datetimeFigureOut">
              <a:rPr lang="en-US" smtClean="0"/>
              <a:t>1/27/2025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98A6FD0-4743-4D4C-9D99-FDF96EAA960E}" type="slidenum">
              <a:rPr lang="en-US" smtClean="0"/>
              <a:t>‹#›</a:t>
            </a:fld>
            <a:endParaRPr lang="en-US"/>
          </a:p>
        </p:txBody>
      </p:sp>
    </p:spTree>
    <p:extLst>
      <p:ext uri="{BB962C8B-B14F-4D97-AF65-F5344CB8AC3E}">
        <p14:creationId xmlns:p14="http://schemas.microsoft.com/office/powerpoint/2010/main" val="29284861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98A6FD0-4743-4D4C-9D99-FDF96EAA960E}" type="slidenum">
              <a:rPr lang="en-US" smtClean="0"/>
              <a:t>1</a:t>
            </a:fld>
            <a:endParaRPr lang="en-US"/>
          </a:p>
        </p:txBody>
      </p:sp>
    </p:spTree>
    <p:extLst>
      <p:ext uri="{BB962C8B-B14F-4D97-AF65-F5344CB8AC3E}">
        <p14:creationId xmlns:p14="http://schemas.microsoft.com/office/powerpoint/2010/main" val="13353281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8A6FD0-4743-4D4C-9D99-FDF96EAA960E}" type="slidenum">
              <a:rPr lang="en-US" smtClean="0"/>
              <a:t>45</a:t>
            </a:fld>
            <a:endParaRPr lang="en-US"/>
          </a:p>
        </p:txBody>
      </p:sp>
    </p:spTree>
    <p:extLst>
      <p:ext uri="{BB962C8B-B14F-4D97-AF65-F5344CB8AC3E}">
        <p14:creationId xmlns:p14="http://schemas.microsoft.com/office/powerpoint/2010/main" val="340525807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8A6FD0-4743-4D4C-9D99-FDF96EAA960E}" type="slidenum">
              <a:rPr lang="en-US" smtClean="0"/>
              <a:t>77</a:t>
            </a:fld>
            <a:endParaRPr lang="en-US"/>
          </a:p>
        </p:txBody>
      </p:sp>
    </p:spTree>
    <p:extLst>
      <p:ext uri="{BB962C8B-B14F-4D97-AF65-F5344CB8AC3E}">
        <p14:creationId xmlns:p14="http://schemas.microsoft.com/office/powerpoint/2010/main" val="229604507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smtClean="0"/>
              <a:t>Hypertension is a very common problem in the postoperative period.</a:t>
            </a:r>
          </a:p>
          <a:p>
            <a:r>
              <a:rPr lang="en-US" dirty="0" smtClean="0"/>
              <a:t>Typical onset is early, usually within 2 hours after surgery, and generally</a:t>
            </a:r>
          </a:p>
          <a:p>
            <a:r>
              <a:rPr lang="en-US" dirty="0" smtClean="0"/>
              <a:t>requires treatment for ≤6 hours. It occurs most commonly after vascular,</a:t>
            </a:r>
          </a:p>
          <a:p>
            <a:r>
              <a:rPr lang="en-US" dirty="0" smtClean="0"/>
              <a:t>head and neck, and neurosurgical procedures</a:t>
            </a:r>
            <a:endParaRPr lang="en-US" dirty="0"/>
          </a:p>
        </p:txBody>
      </p:sp>
      <p:sp>
        <p:nvSpPr>
          <p:cNvPr id="4" name="Slide Number Placeholder 3"/>
          <p:cNvSpPr>
            <a:spLocks noGrp="1"/>
          </p:cNvSpPr>
          <p:nvPr>
            <p:ph type="sldNum" sz="quarter" idx="10"/>
          </p:nvPr>
        </p:nvSpPr>
        <p:spPr/>
        <p:txBody>
          <a:bodyPr/>
          <a:lstStyle/>
          <a:p>
            <a:fld id="{798A6FD0-4743-4D4C-9D99-FDF96EAA960E}" type="slidenum">
              <a:rPr lang="en-US" smtClean="0"/>
              <a:t>102</a:t>
            </a:fld>
            <a:endParaRPr lang="en-US"/>
          </a:p>
        </p:txBody>
      </p:sp>
    </p:spTree>
    <p:extLst>
      <p:ext uri="{BB962C8B-B14F-4D97-AF65-F5344CB8AC3E}">
        <p14:creationId xmlns:p14="http://schemas.microsoft.com/office/powerpoint/2010/main" val="392064769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798A6FD0-4743-4D4C-9D99-FDF96EAA960E}" type="slidenum">
              <a:rPr lang="en-US" smtClean="0"/>
              <a:t>144</a:t>
            </a:fld>
            <a:endParaRPr lang="en-US"/>
          </a:p>
        </p:txBody>
      </p:sp>
    </p:spTree>
    <p:extLst>
      <p:ext uri="{BB962C8B-B14F-4D97-AF65-F5344CB8AC3E}">
        <p14:creationId xmlns:p14="http://schemas.microsoft.com/office/powerpoint/2010/main" val="18343189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A2FF21B-9389-416D-BEDE-49CE29FC720C}" type="datetime1">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745105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6F22BD7F-18F4-4A07-8CFD-4138C1AECF90}" type="datetime1">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12796203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0943F44-CBB6-40EB-98B6-3276E2FE1436}" type="datetime1">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36261824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9EAA994-D221-4AB0-AE44-6C0BE507BF35}" type="datetime1">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8791690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0EEC98B1-EC08-421A-B8F9-34EEE680ADA5}" type="datetime1">
              <a:rPr lang="en-US" smtClean="0"/>
              <a:t>1/31/2025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84572113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1BB0D4A-A1A1-45E2-97F1-2F21AC1603E9}" type="datetime1">
              <a:rPr lang="en-US" smtClean="0"/>
              <a:t>1/31/2025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11589522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BA5AF9F-28E0-45FC-8B04-BA3262725FB0}" type="datetime1">
              <a:rPr lang="en-US" smtClean="0"/>
              <a:t>1/31/2025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424111479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C4766A5-BEAB-4193-A0E4-7B5C0E9B86AC}" type="datetime1">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145330781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35F8E4-7A60-4F0C-BF03-3E48BD974330}" type="datetime1">
              <a:rPr lang="en-US" smtClean="0"/>
              <a:t>1/31/2025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7579085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893F602-ED8C-4128-98B6-FBD64A0104E3}" type="datetime1">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72567418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A2A75A32-1D7B-4740-A91F-E72D64EDC9A2}" type="datetime1">
              <a:rPr lang="en-US" smtClean="0"/>
              <a:t>1/31/2025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729D6FD-7D54-4FE7-AD94-F74F5883427C}" type="slidenum">
              <a:rPr lang="en-US" smtClean="0"/>
              <a:t>‹#›</a:t>
            </a:fld>
            <a:endParaRPr lang="en-US"/>
          </a:p>
        </p:txBody>
      </p:sp>
    </p:spTree>
    <p:extLst>
      <p:ext uri="{BB962C8B-B14F-4D97-AF65-F5344CB8AC3E}">
        <p14:creationId xmlns:p14="http://schemas.microsoft.com/office/powerpoint/2010/main" val="51340934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515AC4E-15A4-497A-B206-77114020A0D4}" type="datetime1">
              <a:rPr lang="en-US" smtClean="0"/>
              <a:t>1/31/2025</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29D6FD-7D54-4FE7-AD94-F74F5883427C}" type="slidenum">
              <a:rPr lang="en-US" smtClean="0"/>
              <a:t>‹#›</a:t>
            </a:fld>
            <a:endParaRPr lang="en-US"/>
          </a:p>
        </p:txBody>
      </p:sp>
    </p:spTree>
    <p:extLst>
      <p:ext uri="{BB962C8B-B14F-4D97-AF65-F5344CB8AC3E}">
        <p14:creationId xmlns:p14="http://schemas.microsoft.com/office/powerpoint/2010/main" val="227805559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r>
              <a:rPr lang="en-US" sz="3600" dirty="0" smtClean="0"/>
              <a:t>Post anesthetic management of surgical patients</a:t>
            </a:r>
            <a:endParaRPr lang="en-US" sz="3600" dirty="0"/>
          </a:p>
        </p:txBody>
      </p:sp>
      <p:sp>
        <p:nvSpPr>
          <p:cNvPr id="3" name="Subtitle 2"/>
          <p:cNvSpPr>
            <a:spLocks noGrp="1"/>
          </p:cNvSpPr>
          <p:nvPr>
            <p:ph type="subTitle" idx="1"/>
          </p:nvPr>
        </p:nvSpPr>
        <p:spPr/>
        <p:txBody>
          <a:bodyPr/>
          <a:lstStyle/>
          <a:p>
            <a:r>
              <a:rPr lang="en-US" dirty="0" err="1" smtClean="0"/>
              <a:t>Geresu</a:t>
            </a:r>
            <a:r>
              <a:rPr lang="en-US" dirty="0" smtClean="0"/>
              <a:t> </a:t>
            </a:r>
            <a:r>
              <a:rPr lang="en-US" dirty="0" err="1" smtClean="0"/>
              <a:t>Gebeyehu</a:t>
            </a:r>
            <a:r>
              <a:rPr lang="en-US" dirty="0" smtClean="0"/>
              <a:t> (</a:t>
            </a:r>
            <a:r>
              <a:rPr lang="en-US" dirty="0" err="1" smtClean="0"/>
              <a:t>Msc</a:t>
            </a:r>
            <a:r>
              <a:rPr lang="en-US" dirty="0" smtClean="0"/>
              <a:t>)</a:t>
            </a:r>
            <a:endParaRPr lang="en-US" dirty="0"/>
          </a:p>
        </p:txBody>
      </p:sp>
    </p:spTree>
    <p:extLst>
      <p:ext uri="{BB962C8B-B14F-4D97-AF65-F5344CB8AC3E}">
        <p14:creationId xmlns:p14="http://schemas.microsoft.com/office/powerpoint/2010/main" val="15079621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a:t>
            </a:r>
            <a:r>
              <a:rPr lang="en-US" sz="3200" dirty="0" smtClean="0"/>
              <a:t>iscussions </a:t>
            </a:r>
            <a:endParaRPr lang="en-US" sz="3200" dirty="0"/>
          </a:p>
        </p:txBody>
      </p:sp>
      <p:sp>
        <p:nvSpPr>
          <p:cNvPr id="3" name="Content Placeholder 2"/>
          <p:cNvSpPr>
            <a:spLocks noGrp="1"/>
          </p:cNvSpPr>
          <p:nvPr>
            <p:ph idx="1"/>
          </p:nvPr>
        </p:nvSpPr>
        <p:spPr/>
        <p:txBody>
          <a:bodyPr/>
          <a:lstStyle/>
          <a:p>
            <a:r>
              <a:rPr lang="en-US" dirty="0">
                <a:latin typeface="+mj-lt"/>
              </a:rPr>
              <a:t>T</a:t>
            </a:r>
            <a:r>
              <a:rPr lang="en-US" dirty="0" smtClean="0">
                <a:latin typeface="+mj-lt"/>
              </a:rPr>
              <a:t>he roles of </a:t>
            </a:r>
            <a:r>
              <a:rPr lang="en-US" dirty="0" smtClean="0">
                <a:latin typeface="+mj-lt"/>
              </a:rPr>
              <a:t>anesthetists </a:t>
            </a:r>
            <a:r>
              <a:rPr lang="en-US" dirty="0" smtClean="0">
                <a:latin typeface="+mj-lt"/>
              </a:rPr>
              <a:t>in PACU patient management?</a:t>
            </a:r>
          </a:p>
          <a:p>
            <a:r>
              <a:rPr lang="en-US" dirty="0" smtClean="0">
                <a:latin typeface="+mj-lt"/>
              </a:rPr>
              <a:t>why the surgical patients need PACU care?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a:t>
            </a:fld>
            <a:endParaRPr lang="en-US"/>
          </a:p>
        </p:txBody>
      </p:sp>
    </p:spTree>
    <p:extLst>
      <p:ext uri="{BB962C8B-B14F-4D97-AF65-F5344CB8AC3E}">
        <p14:creationId xmlns:p14="http://schemas.microsoft.com/office/powerpoint/2010/main" val="3586575445"/>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Introduction </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The post anesthesia period provides a monitored transition from the intraoperative or procedure period to assess and manage the patient’s hemodynamic, analgesic and general preparedness for rapid and optimal recovery</a:t>
            </a:r>
          </a:p>
          <a:p>
            <a:r>
              <a:rPr lang="en-US" dirty="0" smtClean="0">
                <a:latin typeface="+mj-lt"/>
              </a:rPr>
              <a:t>The plan for postoperative management of surgical patient begins as a patient is planned for surgery</a:t>
            </a:r>
          </a:p>
          <a:p>
            <a:r>
              <a:rPr lang="en-US" dirty="0" smtClean="0">
                <a:latin typeface="+mj-lt"/>
              </a:rPr>
              <a:t>Patients recovering from anesthesia and surgery has circumstances that require individualized approach in their postoperative care plan</a:t>
            </a:r>
          </a:p>
          <a:p>
            <a:r>
              <a:rPr lang="en-US" b="0" i="0" dirty="0" smtClean="0">
                <a:solidFill>
                  <a:srgbClr val="241F1F"/>
                </a:solidFill>
                <a:effectLst/>
                <a:latin typeface="+mj-lt"/>
              </a:rPr>
              <a:t>Patients are usually admitted to the PACU at the conclusion of procedures requiring anesthesia or sedation</a:t>
            </a:r>
            <a:r>
              <a:rPr lang="en-US" dirty="0" smtClean="0">
                <a:latin typeface="+mj-lt"/>
              </a:rPr>
              <a:t> </a:t>
            </a:r>
          </a:p>
        </p:txBody>
      </p:sp>
      <p:sp>
        <p:nvSpPr>
          <p:cNvPr id="4" name="Slide Number Placeholder 3"/>
          <p:cNvSpPr>
            <a:spLocks noGrp="1"/>
          </p:cNvSpPr>
          <p:nvPr>
            <p:ph type="sldNum" sz="quarter" idx="12"/>
          </p:nvPr>
        </p:nvSpPr>
        <p:spPr/>
        <p:txBody>
          <a:bodyPr/>
          <a:lstStyle/>
          <a:p>
            <a:fld id="{3729D6FD-7D54-4FE7-AD94-F74F5883427C}" type="slidenum">
              <a:rPr lang="en-US" smtClean="0"/>
              <a:t>3</a:t>
            </a:fld>
            <a:endParaRPr lang="en-US"/>
          </a:p>
        </p:txBody>
      </p:sp>
    </p:spTree>
    <p:extLst>
      <p:ext uri="{BB962C8B-B14F-4D97-AF65-F5344CB8AC3E}">
        <p14:creationId xmlns:p14="http://schemas.microsoft.com/office/powerpoint/2010/main" val="381536586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Any patient recovering from anesthesia and surgery should be admitted to post-anesthetic recovery unit and receive standard care by a specialized responsible personnel</a:t>
            </a:r>
          </a:p>
          <a:p>
            <a:r>
              <a:rPr lang="en-US" dirty="0" smtClean="0">
                <a:latin typeface="+mj-lt"/>
              </a:rPr>
              <a:t> The decision to admit the patient to the PACU or intensive care area is discussed by the surgeons and anesthesia professional</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a:t>
            </a:fld>
            <a:endParaRPr lang="en-US"/>
          </a:p>
        </p:txBody>
      </p:sp>
    </p:spTree>
    <p:extLst>
      <p:ext uri="{BB962C8B-B14F-4D97-AF65-F5344CB8AC3E}">
        <p14:creationId xmlns:p14="http://schemas.microsoft.com/office/powerpoint/2010/main" val="102379142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Phases of Post anesthesia Care</a:t>
            </a:r>
            <a:endParaRPr lang="en-US" sz="3200" dirty="0"/>
          </a:p>
        </p:txBody>
      </p:sp>
      <p:sp>
        <p:nvSpPr>
          <p:cNvPr id="3" name="Content Placeholder 2"/>
          <p:cNvSpPr>
            <a:spLocks noGrp="1"/>
          </p:cNvSpPr>
          <p:nvPr>
            <p:ph idx="1"/>
          </p:nvPr>
        </p:nvSpPr>
        <p:spPr>
          <a:xfrm>
            <a:off x="838200" y="1825624"/>
            <a:ext cx="10515600" cy="4698005"/>
          </a:xfrm>
        </p:spPr>
        <p:txBody>
          <a:bodyPr>
            <a:normAutofit/>
          </a:bodyPr>
          <a:lstStyle/>
          <a:p>
            <a:r>
              <a:rPr lang="en-US" i="1" dirty="0" smtClean="0">
                <a:solidFill>
                  <a:srgbClr val="FF0000"/>
                </a:solidFill>
                <a:latin typeface="+mj-lt"/>
              </a:rPr>
              <a:t>Phase I recovery: </a:t>
            </a:r>
            <a:r>
              <a:rPr lang="en-US" dirty="0" smtClean="0">
                <a:latin typeface="+mj-lt"/>
              </a:rPr>
              <a:t>takes place in the PACU, lasting from the initial admission to the PACU until protective airway reflexes and adequate motor function have recovered</a:t>
            </a:r>
          </a:p>
          <a:p>
            <a:r>
              <a:rPr lang="en-US" dirty="0" smtClean="0">
                <a:latin typeface="+mj-lt"/>
              </a:rPr>
              <a:t>Phase I mimics the immediate post emergence phase of recovery conducted in the OR</a:t>
            </a:r>
          </a:p>
          <a:p>
            <a:r>
              <a:rPr lang="en-US" dirty="0" smtClean="0">
                <a:latin typeface="+mj-lt"/>
              </a:rPr>
              <a:t>Staffing</a:t>
            </a:r>
            <a:r>
              <a:rPr lang="en-US" dirty="0">
                <a:latin typeface="+mj-lt"/>
              </a:rPr>
              <a:t> </a:t>
            </a:r>
            <a:r>
              <a:rPr lang="en-US" dirty="0" smtClean="0">
                <a:latin typeface="+mj-lt"/>
              </a:rPr>
              <a:t>may range from one nurse per two patients to two nurses for one unstable or complex patient.</a:t>
            </a:r>
          </a:p>
          <a:p>
            <a:r>
              <a:rPr lang="en-US" dirty="0" smtClean="0">
                <a:latin typeface="+mj-lt"/>
              </a:rPr>
              <a:t>Fully monitored during this stage, treatment of clinical issues such as nausea and vomiting, pain, respiratory compromise, and hemodynamic lability may be required</a:t>
            </a:r>
          </a:p>
          <a:p>
            <a:endParaRPr lang="en-US" dirty="0" smtClean="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a:t>
            </a:fld>
            <a:endParaRPr lang="en-US"/>
          </a:p>
        </p:txBody>
      </p:sp>
    </p:spTree>
    <p:extLst>
      <p:ext uri="{BB962C8B-B14F-4D97-AF65-F5344CB8AC3E}">
        <p14:creationId xmlns:p14="http://schemas.microsoft.com/office/powerpoint/2010/main" val="33137264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i="1" dirty="0" smtClean="0">
                <a:solidFill>
                  <a:srgbClr val="FF0000"/>
                </a:solidFill>
                <a:latin typeface="+mj-lt"/>
              </a:rPr>
              <a:t>Phase II recovery: </a:t>
            </a:r>
            <a:r>
              <a:rPr lang="en-US" dirty="0" smtClean="0">
                <a:latin typeface="+mj-lt"/>
              </a:rPr>
              <a:t>focuses on continued recovery and is based on facility policy and the needs of the patient.</a:t>
            </a:r>
          </a:p>
          <a:p>
            <a:r>
              <a:rPr lang="en-US" dirty="0" smtClean="0">
                <a:latin typeface="+mj-lt"/>
              </a:rPr>
              <a:t>The goal of this phase is to prepare the patient to be transferred home or to an extended care facility</a:t>
            </a:r>
          </a:p>
          <a:p>
            <a:r>
              <a:rPr lang="en-US" dirty="0" smtClean="0">
                <a:latin typeface="+mj-lt"/>
              </a:rPr>
              <a:t>Constitutes</a:t>
            </a:r>
            <a:r>
              <a:rPr lang="en-US" dirty="0">
                <a:latin typeface="+mj-lt"/>
              </a:rPr>
              <a:t> </a:t>
            </a:r>
            <a:r>
              <a:rPr lang="en-US" dirty="0" smtClean="0">
                <a:latin typeface="+mj-lt"/>
              </a:rPr>
              <a:t>a period during which the patient returns to an appropriate level of consciousness, vital signs remain stable, pain is effectively managed, and nausea and vomiting are adequately controlled</a:t>
            </a:r>
          </a:p>
          <a:p>
            <a:r>
              <a:rPr lang="en-US" dirty="0" smtClean="0">
                <a:latin typeface="+mj-lt"/>
              </a:rPr>
              <a:t>During this phase the patient is able to ambulate, take nutrition, and receive education and instructions necessary for self-management of care at home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a:t>
            </a:fld>
            <a:endParaRPr lang="en-US"/>
          </a:p>
        </p:txBody>
      </p:sp>
    </p:spTree>
    <p:extLst>
      <p:ext uri="{BB962C8B-B14F-4D97-AF65-F5344CB8AC3E}">
        <p14:creationId xmlns:p14="http://schemas.microsoft.com/office/powerpoint/2010/main" val="419240895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586854"/>
            <a:ext cx="10515600" cy="5590109"/>
          </a:xfrm>
        </p:spPr>
        <p:txBody>
          <a:bodyPr>
            <a:normAutofit/>
          </a:bodyPr>
          <a:lstStyle/>
          <a:p>
            <a:r>
              <a:rPr lang="en-US" sz="2600" i="1" dirty="0" smtClean="0">
                <a:solidFill>
                  <a:srgbClr val="FF0000"/>
                </a:solidFill>
                <a:latin typeface="+mj-lt"/>
              </a:rPr>
              <a:t>Fast tracking: </a:t>
            </a:r>
            <a:r>
              <a:rPr lang="en-US" sz="2600" dirty="0" smtClean="0">
                <a:latin typeface="+mj-lt"/>
              </a:rPr>
              <a:t>refers to the recovery of patients in areas other than a formal PACU</a:t>
            </a:r>
          </a:p>
          <a:p>
            <a:r>
              <a:rPr lang="en-US" sz="2600" dirty="0" smtClean="0">
                <a:latin typeface="+mj-lt"/>
              </a:rPr>
              <a:t>Some anesthesia techniques and procedures allow the patient to bypass Phase I care and go directly from the operating or procedure room to Phase II</a:t>
            </a:r>
          </a:p>
          <a:p>
            <a:r>
              <a:rPr lang="en-US" sz="2600" dirty="0" smtClean="0">
                <a:latin typeface="+mj-lt"/>
              </a:rPr>
              <a:t>Anesthesia and surgery team should determine the patient has adequately recovered and has </a:t>
            </a:r>
            <a:r>
              <a:rPr lang="en-US" sz="2600" dirty="0" smtClean="0">
                <a:solidFill>
                  <a:srgbClr val="FF0000"/>
                </a:solidFill>
                <a:latin typeface="+mj-lt"/>
              </a:rPr>
              <a:t>met the criteria </a:t>
            </a:r>
            <a:r>
              <a:rPr lang="en-US" sz="2600" dirty="0" smtClean="0">
                <a:latin typeface="+mj-lt"/>
              </a:rPr>
              <a:t>to be transitioned to Phase II care immediately in the post anesthesia period</a:t>
            </a:r>
          </a:p>
          <a:p>
            <a:r>
              <a:rPr lang="en-US" sz="2600" dirty="0" smtClean="0">
                <a:latin typeface="+mj-lt"/>
              </a:rPr>
              <a:t>This system can be used for patients undergoing ambulatory anesthesia with the marked increase in numbers of outpatient surgical procedures</a:t>
            </a:r>
          </a:p>
          <a:p>
            <a:r>
              <a:rPr lang="en-US" sz="2600" dirty="0" smtClean="0">
                <a:latin typeface="+mj-lt"/>
              </a:rPr>
              <a:t>A score of 12 or higher, with each category scoring a minimum of 1 point, indicates eligibility for the fast-track program to bypass Phase I recovery</a:t>
            </a:r>
            <a:endParaRPr lang="en-US" sz="2600" dirty="0">
              <a:latin typeface="+mj-lt"/>
            </a:endParaRPr>
          </a:p>
        </p:txBody>
      </p:sp>
      <p:sp>
        <p:nvSpPr>
          <p:cNvPr id="2" name="Slide Number Placeholder 1"/>
          <p:cNvSpPr>
            <a:spLocks noGrp="1"/>
          </p:cNvSpPr>
          <p:nvPr>
            <p:ph type="sldNum" sz="quarter" idx="12"/>
          </p:nvPr>
        </p:nvSpPr>
        <p:spPr/>
        <p:txBody>
          <a:bodyPr/>
          <a:lstStyle/>
          <a:p>
            <a:fld id="{3729D6FD-7D54-4FE7-AD94-F74F5883427C}" type="slidenum">
              <a:rPr lang="en-US" smtClean="0"/>
              <a:t>7</a:t>
            </a:fld>
            <a:endParaRPr lang="en-US"/>
          </a:p>
        </p:txBody>
      </p:sp>
    </p:spTree>
    <p:extLst>
      <p:ext uri="{BB962C8B-B14F-4D97-AF65-F5344CB8AC3E}">
        <p14:creationId xmlns:p14="http://schemas.microsoft.com/office/powerpoint/2010/main" val="239910107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483894" y="1"/>
            <a:ext cx="7833814" cy="7014948"/>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8</a:t>
            </a:fld>
            <a:endParaRPr lang="en-US"/>
          </a:p>
        </p:txBody>
      </p:sp>
    </p:spTree>
    <p:extLst>
      <p:ext uri="{BB962C8B-B14F-4D97-AF65-F5344CB8AC3E}">
        <p14:creationId xmlns:p14="http://schemas.microsoft.com/office/powerpoint/2010/main" val="356036708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368490"/>
            <a:ext cx="9323063" cy="6318913"/>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9</a:t>
            </a:fld>
            <a:endParaRPr lang="en-US"/>
          </a:p>
        </p:txBody>
      </p:sp>
    </p:spTree>
    <p:extLst>
      <p:ext uri="{BB962C8B-B14F-4D97-AF65-F5344CB8AC3E}">
        <p14:creationId xmlns:p14="http://schemas.microsoft.com/office/powerpoint/2010/main" val="124140148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i="1" dirty="0">
                <a:solidFill>
                  <a:srgbClr val="FF0000"/>
                </a:solidFill>
                <a:latin typeface="+mj-lt"/>
              </a:rPr>
              <a:t>P</a:t>
            </a:r>
            <a:r>
              <a:rPr lang="en-US" i="1" dirty="0" smtClean="0">
                <a:solidFill>
                  <a:srgbClr val="FF0000"/>
                </a:solidFill>
                <a:latin typeface="+mj-lt"/>
              </a:rPr>
              <a:t>hase III recovery (extended): </a:t>
            </a:r>
            <a:r>
              <a:rPr lang="en-US" dirty="0" smtClean="0">
                <a:latin typeface="+mj-lt"/>
              </a:rPr>
              <a:t>designated for patients requiring continued observation in preparation for discharge from the hospital or transfer to a general care unit</a:t>
            </a:r>
          </a:p>
          <a:p>
            <a:r>
              <a:rPr lang="en-US" dirty="0" smtClean="0">
                <a:latin typeface="+mj-lt"/>
              </a:rPr>
              <a:t>This phase is for patients who have met criteria to leave Phase I, but are not able to go to another location (insufficient inpatient beds)</a:t>
            </a:r>
          </a:p>
          <a:p>
            <a:r>
              <a:rPr lang="en-US" dirty="0" smtClean="0">
                <a:latin typeface="+mj-lt"/>
              </a:rPr>
              <a:t>These patients are assessed and managed as inpatients</a:t>
            </a:r>
          </a:p>
          <a:p>
            <a:r>
              <a:rPr lang="en-US" dirty="0" smtClean="0">
                <a:latin typeface="+mj-lt"/>
              </a:rPr>
              <a:t>A staffing include the ratio of one nurse to 3 to 5 patients in this final stage of recovery before discharge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a:t>
            </a:fld>
            <a:endParaRPr lang="en-US"/>
          </a:p>
        </p:txBody>
      </p:sp>
    </p:spTree>
    <p:extLst>
      <p:ext uri="{BB962C8B-B14F-4D97-AF65-F5344CB8AC3E}">
        <p14:creationId xmlns:p14="http://schemas.microsoft.com/office/powerpoint/2010/main" val="253928602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Post-anesthesia care unit (PACU)</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A specialized area for observation, follow-up, treatment, recovery and discharge of postoperative patients</a:t>
            </a:r>
          </a:p>
          <a:p>
            <a:r>
              <a:rPr lang="en-US" dirty="0" smtClean="0">
                <a:latin typeface="+mj-lt"/>
              </a:rPr>
              <a:t>Recovery of patients after procedures requiring anesthesia or sedation is most commonly performed in the PACU or recovery room</a:t>
            </a:r>
          </a:p>
          <a:p>
            <a:r>
              <a:rPr lang="en-US" dirty="0" smtClean="0">
                <a:latin typeface="+mj-lt"/>
              </a:rPr>
              <a:t>The PACU should be </a:t>
            </a:r>
            <a:r>
              <a:rPr lang="en-US" dirty="0" smtClean="0">
                <a:solidFill>
                  <a:srgbClr val="FF0000"/>
                </a:solidFill>
                <a:latin typeface="+mj-lt"/>
              </a:rPr>
              <a:t>located near the operating rooms </a:t>
            </a:r>
            <a:r>
              <a:rPr lang="en-US" dirty="0" smtClean="0">
                <a:latin typeface="+mj-lt"/>
              </a:rPr>
              <a:t>and oﬀ-site invasive procedure areas.</a:t>
            </a:r>
          </a:p>
          <a:p>
            <a:r>
              <a:rPr lang="en-US" dirty="0" smtClean="0">
                <a:latin typeface="+mj-lt"/>
              </a:rPr>
              <a:t>A central location in the OR itself is desirable, as it ensures that the patient can be rushed back to surgery, if needed, or that members of the OR team can quickly respond to urgent or emergent issues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a:t>
            </a:fld>
            <a:endParaRPr lang="en-US"/>
          </a:p>
        </p:txBody>
      </p:sp>
    </p:spTree>
    <p:extLst>
      <p:ext uri="{BB962C8B-B14F-4D97-AF65-F5344CB8AC3E}">
        <p14:creationId xmlns:p14="http://schemas.microsoft.com/office/powerpoint/2010/main" val="124911325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An open-ward design facilitates observation of multiple patients simultaneously</a:t>
            </a:r>
          </a:p>
          <a:p>
            <a:r>
              <a:rPr lang="en-US" dirty="0" smtClean="0">
                <a:latin typeface="+mj-lt"/>
              </a:rPr>
              <a:t>A ratio of 1-2 PACU beds per operating room is customary, although this number will vary depending on the respective OR suite’s case volume, variety of surgical procedures, and patient acuity</a:t>
            </a:r>
          </a:p>
          <a:p>
            <a:r>
              <a:rPr lang="en-US" dirty="0" smtClean="0">
                <a:latin typeface="+mj-lt"/>
              </a:rPr>
              <a:t>Each patient space should be well-lighted and large enough to allow easy access to patients in spite of poles for intravenous infusion pumps, a ventilator, or radiographic equipment</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a:t>
            </a:fld>
            <a:endParaRPr lang="en-US"/>
          </a:p>
        </p:txBody>
      </p:sp>
    </p:spTree>
    <p:extLst>
      <p:ext uri="{BB962C8B-B14F-4D97-AF65-F5344CB8AC3E}">
        <p14:creationId xmlns:p14="http://schemas.microsoft.com/office/powerpoint/2010/main" val="10866020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 PACU should be </a:t>
            </a:r>
            <a:r>
              <a:rPr lang="en-US" dirty="0" smtClean="0">
                <a:solidFill>
                  <a:srgbClr val="FF0000"/>
                </a:solidFill>
                <a:latin typeface="+mj-lt"/>
              </a:rPr>
              <a:t>well staffed</a:t>
            </a:r>
            <a:r>
              <a:rPr lang="en-US" dirty="0" smtClean="0">
                <a:latin typeface="+mj-lt"/>
              </a:rPr>
              <a:t>; inadequate staffing is often cited as a major contributing factor in PACU mishaps</a:t>
            </a:r>
          </a:p>
          <a:p>
            <a:r>
              <a:rPr lang="en-US" dirty="0" smtClean="0">
                <a:latin typeface="+mj-lt"/>
              </a:rPr>
              <a:t>The staff assigned to the PACU must have a thorough understanding of the surgeries performed and be familiar with potential postoperative complications associated with the anesthetic provided and the surgical procedure</a:t>
            </a:r>
          </a:p>
          <a:p>
            <a:r>
              <a:rPr lang="en-US" dirty="0" smtClean="0">
                <a:latin typeface="+mj-lt"/>
              </a:rPr>
              <a:t>The PACU should be staﬀed by trained nurses, anesthesia team and other supportive personnel. </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a:t>
            </a:fld>
            <a:endParaRPr lang="en-US"/>
          </a:p>
        </p:txBody>
      </p:sp>
    </p:spTree>
    <p:extLst>
      <p:ext uri="{BB962C8B-B14F-4D97-AF65-F5344CB8AC3E}">
        <p14:creationId xmlns:p14="http://schemas.microsoft.com/office/powerpoint/2010/main" val="33881477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prstClr val="black"/>
                </a:solidFill>
                <a:latin typeface="Calibri Light" panose="020F0302020204030204"/>
              </a:rPr>
              <a:t>Immediately after surgery, all patients not returning to a special care area </a:t>
            </a:r>
            <a:r>
              <a:rPr lang="en-US" dirty="0" smtClean="0">
                <a:solidFill>
                  <a:prstClr val="black"/>
                </a:solidFill>
                <a:latin typeface="Calibri Light" panose="020F0302020204030204"/>
              </a:rPr>
              <a:t>(ICU </a:t>
            </a:r>
            <a:r>
              <a:rPr lang="en-US" dirty="0">
                <a:solidFill>
                  <a:prstClr val="black"/>
                </a:solidFill>
                <a:latin typeface="Calibri Light" panose="020F0302020204030204"/>
              </a:rPr>
              <a:t>or </a:t>
            </a:r>
            <a:r>
              <a:rPr lang="en-US" dirty="0" smtClean="0">
                <a:solidFill>
                  <a:prstClr val="black"/>
                </a:solidFill>
                <a:latin typeface="Calibri Light" panose="020F0302020204030204"/>
              </a:rPr>
              <a:t>HDU</a:t>
            </a:r>
            <a:r>
              <a:rPr lang="en-US" dirty="0">
                <a:solidFill>
                  <a:prstClr val="black"/>
                </a:solidFill>
                <a:latin typeface="Calibri Light" panose="020F0302020204030204"/>
              </a:rPr>
              <a:t>) need to be nursed by those trained and practiced in postoperative </a:t>
            </a:r>
            <a:r>
              <a:rPr lang="en-US" dirty="0" smtClean="0">
                <a:solidFill>
                  <a:prstClr val="black"/>
                </a:solidFill>
                <a:latin typeface="Calibri Light" panose="020F0302020204030204"/>
              </a:rPr>
              <a:t>recovery</a:t>
            </a:r>
            <a:endParaRPr lang="en-US" dirty="0" smtClean="0">
              <a:latin typeface="+mj-lt"/>
            </a:endParaRPr>
          </a:p>
          <a:p>
            <a:r>
              <a:rPr lang="en-US" dirty="0" smtClean="0">
                <a:latin typeface="+mj-lt"/>
              </a:rPr>
              <a:t>The anesthetist should also retain a  responsibility for patients during their stay in the postanaesthesia care unit (PACU)</a:t>
            </a:r>
          </a:p>
          <a:p>
            <a:r>
              <a:rPr lang="en-US" dirty="0" smtClean="0">
                <a:latin typeface="+mj-lt"/>
              </a:rPr>
              <a:t>Patients in the PACU should be under the medical direction of an anesthesiologist, who must be immediately available to respond to urgent or emergent patient care problem</a:t>
            </a:r>
          </a:p>
          <a:p>
            <a:endParaRPr lang="en-US" dirty="0" smtClean="0">
              <a:latin typeface="+mj-lt"/>
            </a:endParaRPr>
          </a:p>
          <a:p>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14</a:t>
            </a:fld>
            <a:endParaRPr lang="en-US"/>
          </a:p>
        </p:txBody>
      </p:sp>
    </p:spTree>
    <p:extLst>
      <p:ext uri="{BB962C8B-B14F-4D97-AF65-F5344CB8AC3E}">
        <p14:creationId xmlns:p14="http://schemas.microsoft.com/office/powerpoint/2010/main" val="5374940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patient management </a:t>
            </a:r>
            <a:r>
              <a:rPr lang="en-US" dirty="0">
                <a:latin typeface="+mj-lt"/>
              </a:rPr>
              <a:t>in the PACU should reﬂect a </a:t>
            </a:r>
            <a:r>
              <a:rPr lang="en-US" dirty="0" smtClean="0">
                <a:latin typeface="+mj-lt"/>
              </a:rPr>
              <a:t>coordinated eﬀort </a:t>
            </a:r>
            <a:r>
              <a:rPr lang="en-US" dirty="0">
                <a:latin typeface="+mj-lt"/>
              </a:rPr>
              <a:t>involving anesthesiologists, surgeons, </a:t>
            </a:r>
            <a:r>
              <a:rPr lang="en-US" dirty="0" smtClean="0">
                <a:latin typeface="+mj-lt"/>
              </a:rPr>
              <a:t>nurses, respiratory </a:t>
            </a:r>
            <a:r>
              <a:rPr lang="en-US" dirty="0">
                <a:latin typeface="+mj-lt"/>
              </a:rPr>
              <a:t>therapists, and appropriate consultants</a:t>
            </a:r>
            <a:r>
              <a:rPr lang="en-US" dirty="0" smtClean="0">
                <a:latin typeface="+mj-lt"/>
              </a:rPr>
              <a:t> </a:t>
            </a:r>
          </a:p>
          <a:p>
            <a:r>
              <a:rPr lang="en-US" dirty="0" smtClean="0">
                <a:latin typeface="+mj-lt"/>
              </a:rPr>
              <a:t>The anesthesia team emphasizes management of pain, airway, cardiac, pulmonary, and metabolic problems, whereas the surgical team generally manages any problems directly related to the surgical procedure itself</a:t>
            </a:r>
          </a:p>
          <a:p>
            <a:pPr marL="0" indent="0">
              <a:buNone/>
            </a:pPr>
            <a:r>
              <a:rPr lang="en-US" dirty="0" smtClean="0">
                <a:latin typeface="+mj-lt"/>
              </a:rPr>
              <a:t/>
            </a:r>
            <a:br>
              <a:rPr lang="en-US" dirty="0" smtClean="0">
                <a:latin typeface="+mj-lt"/>
              </a:rPr>
            </a:b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15</a:t>
            </a:fld>
            <a:endParaRPr lang="en-US"/>
          </a:p>
        </p:txBody>
      </p:sp>
    </p:spTree>
    <p:extLst>
      <p:ext uri="{BB962C8B-B14F-4D97-AF65-F5344CB8AC3E}">
        <p14:creationId xmlns:p14="http://schemas.microsoft.com/office/powerpoint/2010/main" val="336959965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 PACU should be </a:t>
            </a:r>
            <a:r>
              <a:rPr lang="en-US" dirty="0" smtClean="0">
                <a:solidFill>
                  <a:srgbClr val="FF0000"/>
                </a:solidFill>
                <a:latin typeface="+mj-lt"/>
              </a:rPr>
              <a:t>well equipped </a:t>
            </a:r>
            <a:r>
              <a:rPr lang="en-US" dirty="0" smtClean="0">
                <a:latin typeface="+mj-lt"/>
              </a:rPr>
              <a:t>with all essential utilities for patient care</a:t>
            </a:r>
          </a:p>
          <a:p>
            <a:r>
              <a:rPr lang="en-US" dirty="0" smtClean="0">
                <a:latin typeface="+mj-lt"/>
              </a:rPr>
              <a:t>Many PACU incidents leading to serious morbidity or mortality are related to </a:t>
            </a:r>
            <a:r>
              <a:rPr lang="en-US" dirty="0" smtClean="0">
                <a:solidFill>
                  <a:srgbClr val="FF0000"/>
                </a:solidFill>
                <a:latin typeface="+mj-lt"/>
              </a:rPr>
              <a:t>inadequate monitoring</a:t>
            </a:r>
          </a:p>
          <a:p>
            <a:r>
              <a:rPr lang="en-US" dirty="0" smtClean="0">
                <a:latin typeface="+mj-lt"/>
              </a:rPr>
              <a:t>Minimum monitoring standards should be maintained until the patient has fully recovered from anesthesia</a:t>
            </a:r>
          </a:p>
          <a:p>
            <a:r>
              <a:rPr lang="en-US" dirty="0" smtClean="0">
                <a:latin typeface="+mj-lt"/>
              </a:rPr>
              <a:t>Standard monitors, oxygen sources, airway equipment, PPV sources, invasive monitors, Emergency carts (equipment and medications)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16</a:t>
            </a:fld>
            <a:endParaRPr lang="en-US"/>
          </a:p>
        </p:txBody>
      </p:sp>
    </p:spTree>
    <p:extLst>
      <p:ext uri="{BB962C8B-B14F-4D97-AF65-F5344CB8AC3E}">
        <p14:creationId xmlns:p14="http://schemas.microsoft.com/office/powerpoint/2010/main" val="1676756146"/>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257577"/>
            <a:ext cx="10515600" cy="5919386"/>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17</a:t>
            </a:fld>
            <a:endParaRPr lang="en-US"/>
          </a:p>
        </p:txBody>
      </p:sp>
    </p:spTree>
    <p:extLst>
      <p:ext uri="{BB962C8B-B14F-4D97-AF65-F5344CB8AC3E}">
        <p14:creationId xmlns:p14="http://schemas.microsoft.com/office/powerpoint/2010/main" val="223302066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Depending on the case load, two PACU beds per theatre are normally required to allow safe recovery of patients and discharge to the ward without delays to theatre schedules</a:t>
            </a:r>
          </a:p>
          <a:p>
            <a:r>
              <a:rPr lang="en-US" dirty="0" smtClean="0">
                <a:latin typeface="+mj-lt"/>
              </a:rPr>
              <a:t>Each bed space should be fitted with 12 electrical socket outlets (six on each side of the bed), one oxygen and one medical air pipeline outlet, two vacuum outlets, an adjustable examination light, an emergency call system, physiological monitors with a display screen and a recording system for patient data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18</a:t>
            </a:fld>
            <a:endParaRPr lang="en-US"/>
          </a:p>
        </p:txBody>
      </p:sp>
    </p:spTree>
    <p:extLst>
      <p:ext uri="{BB962C8B-B14F-4D97-AF65-F5344CB8AC3E}">
        <p14:creationId xmlns:p14="http://schemas.microsoft.com/office/powerpoint/2010/main" val="8520728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59809" y="300250"/>
            <a:ext cx="10098206" cy="5882185"/>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19</a:t>
            </a:fld>
            <a:endParaRPr lang="en-US"/>
          </a:p>
        </p:txBody>
      </p:sp>
    </p:spTree>
    <p:extLst>
      <p:ext uri="{BB962C8B-B14F-4D97-AF65-F5344CB8AC3E}">
        <p14:creationId xmlns:p14="http://schemas.microsoft.com/office/powerpoint/2010/main" val="33051602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ASA standards of post anesthesia care</a:t>
            </a:r>
            <a:endParaRPr lang="en-US" sz="3200" dirty="0"/>
          </a:p>
        </p:txBody>
      </p:sp>
      <p:sp>
        <p:nvSpPr>
          <p:cNvPr id="3" name="Content Placeholder 2"/>
          <p:cNvSpPr>
            <a:spLocks noGrp="1"/>
          </p:cNvSpPr>
          <p:nvPr>
            <p:ph idx="1"/>
          </p:nvPr>
        </p:nvSpPr>
        <p:spPr/>
        <p:txBody>
          <a:bodyPr/>
          <a:lstStyle/>
          <a:p>
            <a:r>
              <a:rPr lang="en-US" dirty="0" smtClean="0">
                <a:latin typeface="+mj-lt"/>
              </a:rPr>
              <a:t>Should apply to post anesthesia care in all locations and intended to encourage patient care</a:t>
            </a:r>
          </a:p>
          <a:p>
            <a:r>
              <a:rPr lang="en-US" dirty="0" smtClean="0">
                <a:latin typeface="+mj-lt"/>
              </a:rPr>
              <a:t>The five standards developed by “committee on standards and practice parameters” and last amended on 2019, a subject of revision as a time goes based technological advancement</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20</a:t>
            </a:fld>
            <a:endParaRPr lang="en-US"/>
          </a:p>
        </p:txBody>
      </p:sp>
    </p:spTree>
    <p:extLst>
      <p:ext uri="{BB962C8B-B14F-4D97-AF65-F5344CB8AC3E}">
        <p14:creationId xmlns:p14="http://schemas.microsoft.com/office/powerpoint/2010/main" val="116456728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Standard I</a:t>
            </a:r>
            <a:r>
              <a:rPr lang="en-US" dirty="0" smtClean="0">
                <a:latin typeface="+mj-lt"/>
              </a:rPr>
              <a:t>:All patients who received GA, RA or MAC shall receive appropriate post anesthetic management</a:t>
            </a:r>
          </a:p>
          <a:p>
            <a:pPr lvl="1"/>
            <a:endParaRPr lang="en-US" dirty="0" smtClean="0">
              <a:latin typeface="+mj-lt"/>
            </a:endParaRPr>
          </a:p>
          <a:p>
            <a:pPr lvl="1"/>
            <a:r>
              <a:rPr lang="en-US" dirty="0" smtClean="0">
                <a:latin typeface="+mj-lt"/>
              </a:rPr>
              <a:t>The medical aspects of PACU care shall be governed by policies and procedures which have been reviewed and approved by the Department of Anesthesiology</a:t>
            </a:r>
          </a:p>
          <a:p>
            <a:pPr lvl="1"/>
            <a:r>
              <a:rPr lang="en-US" dirty="0" smtClean="0">
                <a:latin typeface="+mj-lt"/>
              </a:rPr>
              <a:t>The design, equipment and staffing of the PACU shall meet requirements of the facility’s accrediting and licensing bodies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21</a:t>
            </a:fld>
            <a:endParaRPr lang="en-US"/>
          </a:p>
        </p:txBody>
      </p:sp>
    </p:spTree>
    <p:extLst>
      <p:ext uri="{BB962C8B-B14F-4D97-AF65-F5344CB8AC3E}">
        <p14:creationId xmlns:p14="http://schemas.microsoft.com/office/powerpoint/2010/main" val="4275118685"/>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Standard II</a:t>
            </a:r>
            <a:r>
              <a:rPr lang="en-US" dirty="0" smtClean="0">
                <a:latin typeface="+mj-lt"/>
              </a:rPr>
              <a:t>:A patient transported to the PACU shall be accompanied by </a:t>
            </a:r>
            <a:r>
              <a:rPr lang="en-US" dirty="0">
                <a:latin typeface="+mj-lt"/>
              </a:rPr>
              <a:t>a</a:t>
            </a:r>
            <a:r>
              <a:rPr lang="en-US" dirty="0" smtClean="0">
                <a:latin typeface="+mj-lt"/>
              </a:rPr>
              <a:t> member of the anesthesia care team who is  knowledgeable about the patients’ condition</a:t>
            </a:r>
          </a:p>
          <a:p>
            <a:pPr lvl="1"/>
            <a:r>
              <a:rPr lang="en-US" dirty="0" smtClean="0">
                <a:latin typeface="+mj-lt"/>
              </a:rPr>
              <a:t>The patient shall be continually evaluated and  treated during transport with monitoring and support appropriate to the patient’s condition</a:t>
            </a:r>
          </a:p>
        </p:txBody>
      </p:sp>
      <p:sp>
        <p:nvSpPr>
          <p:cNvPr id="4" name="Slide Number Placeholder 3"/>
          <p:cNvSpPr>
            <a:spLocks noGrp="1"/>
          </p:cNvSpPr>
          <p:nvPr>
            <p:ph type="sldNum" sz="quarter" idx="12"/>
          </p:nvPr>
        </p:nvSpPr>
        <p:spPr/>
        <p:txBody>
          <a:bodyPr/>
          <a:lstStyle/>
          <a:p>
            <a:fld id="{3729D6FD-7D54-4FE7-AD94-F74F5883427C}" type="slidenum">
              <a:rPr lang="en-US" smtClean="0"/>
              <a:t>22</a:t>
            </a:fld>
            <a:endParaRPr lang="en-US"/>
          </a:p>
        </p:txBody>
      </p:sp>
    </p:spTree>
    <p:extLst>
      <p:ext uri="{BB962C8B-B14F-4D97-AF65-F5344CB8AC3E}">
        <p14:creationId xmlns:p14="http://schemas.microsoft.com/office/powerpoint/2010/main" val="337118081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Standard III</a:t>
            </a:r>
            <a:r>
              <a:rPr lang="en-US" dirty="0" smtClean="0">
                <a:latin typeface="+mj-lt"/>
              </a:rPr>
              <a:t>: upon the arrival to the PACU, the patient shall be re-evaluated and a report provided to the responsible PACU nurse by the anesthesia team who gave care to the patient</a:t>
            </a:r>
          </a:p>
          <a:p>
            <a:pPr lvl="1"/>
            <a:r>
              <a:rPr lang="en-US" dirty="0" smtClean="0">
                <a:latin typeface="+mj-lt"/>
              </a:rPr>
              <a:t> The patient’s status on arrival in the PACU shall be reported and  documented</a:t>
            </a:r>
          </a:p>
          <a:p>
            <a:pPr lvl="1"/>
            <a:r>
              <a:rPr lang="en-US" dirty="0" smtClean="0">
                <a:latin typeface="+mj-lt"/>
              </a:rPr>
              <a:t> Information concerning the preoperative condition and the surgical/anesthetic course shall be transmitted to the PACU nurse</a:t>
            </a:r>
          </a:p>
          <a:p>
            <a:pPr lvl="1"/>
            <a:r>
              <a:rPr lang="en-US" dirty="0" smtClean="0">
                <a:latin typeface="+mj-lt"/>
              </a:rPr>
              <a:t>The member of the Anesthesia Care Team shall remain in the PACU until the PACU nurse accepts responsibility for the nursing care of the patient.</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23</a:t>
            </a:fld>
            <a:endParaRPr lang="en-US"/>
          </a:p>
        </p:txBody>
      </p:sp>
    </p:spTree>
    <p:extLst>
      <p:ext uri="{BB962C8B-B14F-4D97-AF65-F5344CB8AC3E}">
        <p14:creationId xmlns:p14="http://schemas.microsoft.com/office/powerpoint/2010/main" val="181978953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73498" y="103032"/>
            <a:ext cx="9002333" cy="6754968"/>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24</a:t>
            </a:fld>
            <a:endParaRPr lang="en-US"/>
          </a:p>
        </p:txBody>
      </p:sp>
    </p:spTree>
    <p:extLst>
      <p:ext uri="{BB962C8B-B14F-4D97-AF65-F5344CB8AC3E}">
        <p14:creationId xmlns:p14="http://schemas.microsoft.com/office/powerpoint/2010/main" val="134927751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71222" y="90152"/>
            <a:ext cx="8925059" cy="6980349"/>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25</a:t>
            </a:fld>
            <a:endParaRPr lang="en-US"/>
          </a:p>
        </p:txBody>
      </p:sp>
    </p:spTree>
    <p:extLst>
      <p:ext uri="{BB962C8B-B14F-4D97-AF65-F5344CB8AC3E}">
        <p14:creationId xmlns:p14="http://schemas.microsoft.com/office/powerpoint/2010/main" val="27482717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solidFill>
                  <a:srgbClr val="FF0000"/>
                </a:solidFill>
                <a:latin typeface="+mj-lt"/>
              </a:rPr>
              <a:t>Standard IV</a:t>
            </a:r>
            <a:r>
              <a:rPr lang="en-US" dirty="0" smtClean="0">
                <a:latin typeface="+mj-lt"/>
              </a:rPr>
              <a:t>: the patients condition shall be continually evaluated in the PACU</a:t>
            </a:r>
          </a:p>
          <a:p>
            <a:pPr lvl="1"/>
            <a:r>
              <a:rPr lang="en-US" dirty="0" smtClean="0">
                <a:latin typeface="+mj-lt"/>
              </a:rPr>
              <a:t>The patients’ oxygenation, ventilation, circulation, consciousness, and temperature shall be observed and monitored continually.</a:t>
            </a:r>
          </a:p>
          <a:p>
            <a:pPr lvl="1"/>
            <a:r>
              <a:rPr lang="en-US" dirty="0" smtClean="0">
                <a:latin typeface="+mj-lt"/>
              </a:rPr>
              <a:t>An accurate written report of the PACU period shall be maintained.  Use of an appropriate PACU scoring system is encouraged for each patient on admission, at appropriate intervals prior to discharge and at the time of discharge</a:t>
            </a:r>
          </a:p>
          <a:p>
            <a:pPr lvl="1"/>
            <a:r>
              <a:rPr lang="en-US" dirty="0" smtClean="0">
                <a:latin typeface="+mj-lt"/>
              </a:rPr>
              <a:t>General medical supervision and coordination of patient care in the PACU should be the responsibility of an anesthesiologist</a:t>
            </a:r>
          </a:p>
          <a:p>
            <a:pPr lvl="1"/>
            <a:r>
              <a:rPr lang="en-US" dirty="0" smtClean="0">
                <a:latin typeface="+mj-lt"/>
              </a:rPr>
              <a:t>There shall be a policy to assure the availability in the facility of a physician capable of managing complications and providing cardiopulmonary resuscitation for patients in the PACU</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26</a:t>
            </a:fld>
            <a:endParaRPr lang="en-US"/>
          </a:p>
        </p:txBody>
      </p:sp>
    </p:spTree>
    <p:extLst>
      <p:ext uri="{BB962C8B-B14F-4D97-AF65-F5344CB8AC3E}">
        <p14:creationId xmlns:p14="http://schemas.microsoft.com/office/powerpoint/2010/main" val="32122349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Standard V</a:t>
            </a:r>
            <a:r>
              <a:rPr lang="en-US" dirty="0" smtClean="0">
                <a:latin typeface="+mj-lt"/>
              </a:rPr>
              <a:t>: there should be a physician who is responsible for the discharge of the patients from the PACU</a:t>
            </a:r>
          </a:p>
          <a:p>
            <a:pPr lvl="1"/>
            <a:r>
              <a:rPr lang="en-US" dirty="0" smtClean="0">
                <a:latin typeface="+mj-lt"/>
              </a:rPr>
              <a:t>When discharge criteria are used, they must be approved by the Department of Anesthesiology and the medical staff.  They may vary depending upon whether the patient is discharged to a hospital room, to the Intensive Care Unit, to a short stay unit or home</a:t>
            </a:r>
          </a:p>
          <a:p>
            <a:pPr lvl="1"/>
            <a:r>
              <a:rPr lang="en-US" dirty="0" smtClean="0">
                <a:latin typeface="+mj-lt"/>
              </a:rPr>
              <a:t>In the absence of the physician responsible for the discharge, the PACU nurse shall determine that the patient meets the discharge criteria.  The name of the physician accepting responsibility for discharge shall be noted on the record.</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27</a:t>
            </a:fld>
            <a:endParaRPr lang="en-US"/>
          </a:p>
        </p:txBody>
      </p:sp>
    </p:spTree>
    <p:extLst>
      <p:ext uri="{BB962C8B-B14F-4D97-AF65-F5344CB8AC3E}">
        <p14:creationId xmlns:p14="http://schemas.microsoft.com/office/powerpoint/2010/main" val="130515466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257577"/>
            <a:ext cx="10515600" cy="6812923"/>
          </a:xfrm>
          <a:prstGeom prst="rect">
            <a:avLst/>
          </a:prstGeom>
        </p:spPr>
      </p:pic>
      <p:sp>
        <p:nvSpPr>
          <p:cNvPr id="3" name="Slide Number Placeholder 2"/>
          <p:cNvSpPr>
            <a:spLocks noGrp="1"/>
          </p:cNvSpPr>
          <p:nvPr>
            <p:ph type="sldNum" sz="quarter" idx="12"/>
          </p:nvPr>
        </p:nvSpPr>
        <p:spPr/>
        <p:txBody>
          <a:bodyPr/>
          <a:lstStyle/>
          <a:p>
            <a:fld id="{3729D6FD-7D54-4FE7-AD94-F74F5883427C}" type="slidenum">
              <a:rPr lang="en-US" smtClean="0"/>
              <a:t>28</a:t>
            </a:fld>
            <a:endParaRPr lang="en-US"/>
          </a:p>
        </p:txBody>
      </p:sp>
    </p:spTree>
    <p:extLst>
      <p:ext uri="{BB962C8B-B14F-4D97-AF65-F5344CB8AC3E}">
        <p14:creationId xmlns:p14="http://schemas.microsoft.com/office/powerpoint/2010/main" val="174281773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Managing and monitoring postoperative patients</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Recovery from general or regional anesthesia is a time of great physiological stress</a:t>
            </a:r>
          </a:p>
          <a:p>
            <a:r>
              <a:rPr lang="en-US" dirty="0" smtClean="0">
                <a:latin typeface="+mj-lt"/>
              </a:rPr>
              <a:t>With continued demand to increase overall health care efficiency, caution must be taken to provide the most appropriate care for each patient</a:t>
            </a:r>
          </a:p>
          <a:p>
            <a:r>
              <a:rPr lang="en-US" dirty="0" smtClean="0">
                <a:latin typeface="+mj-lt"/>
              </a:rPr>
              <a:t>Patients must be carefully evaluated to determine which level of care is appropriate</a:t>
            </a:r>
          </a:p>
          <a:p>
            <a:r>
              <a:rPr lang="en-US" dirty="0" smtClean="0">
                <a:latin typeface="+mj-lt"/>
              </a:rPr>
              <a:t>Each patient should have an individualized postanaesthesia care plan, which should be communicated in both written and verbal formats.</a:t>
            </a:r>
          </a:p>
          <a:p>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29</a:t>
            </a:fld>
            <a:endParaRPr lang="en-US"/>
          </a:p>
        </p:txBody>
      </p:sp>
    </p:spTree>
    <p:extLst>
      <p:ext uri="{BB962C8B-B14F-4D97-AF65-F5344CB8AC3E}">
        <p14:creationId xmlns:p14="http://schemas.microsoft.com/office/powerpoint/2010/main" val="228920562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Mechanisms for the early identification of patients requiring a higher level of care should be in place, as should the requirement for specialist postoperative intervention.</a:t>
            </a:r>
          </a:p>
          <a:p>
            <a:r>
              <a:rPr lang="en-US" dirty="0" smtClean="0">
                <a:latin typeface="+mj-lt"/>
              </a:rPr>
              <a:t>Triage should be based on clinical condition, length/type of procedure and anesthetic, and the potential for complications that require intervention</a:t>
            </a:r>
          </a:p>
          <a:p>
            <a:r>
              <a:rPr lang="en-US" dirty="0" smtClean="0">
                <a:latin typeface="+mj-lt"/>
              </a:rPr>
              <a:t>An individual patient undergoing a specific procedure or anesthetic should receive the same appropriate level of postoperative care whether the procedure is performed in a hospital OR, an ambulatory surgical center, and endoscopy room</a:t>
            </a:r>
          </a:p>
        </p:txBody>
      </p:sp>
      <p:sp>
        <p:nvSpPr>
          <p:cNvPr id="4" name="Slide Number Placeholder 3"/>
          <p:cNvSpPr>
            <a:spLocks noGrp="1"/>
          </p:cNvSpPr>
          <p:nvPr>
            <p:ph type="sldNum" sz="quarter" idx="12"/>
          </p:nvPr>
        </p:nvSpPr>
        <p:spPr/>
        <p:txBody>
          <a:bodyPr/>
          <a:lstStyle/>
          <a:p>
            <a:fld id="{3729D6FD-7D54-4FE7-AD94-F74F5883427C}" type="slidenum">
              <a:rPr lang="en-US" smtClean="0"/>
              <a:t>30</a:t>
            </a:fld>
            <a:endParaRPr lang="en-US"/>
          </a:p>
        </p:txBody>
      </p:sp>
    </p:spTree>
    <p:extLst>
      <p:ext uri="{BB962C8B-B14F-4D97-AF65-F5344CB8AC3E}">
        <p14:creationId xmlns:p14="http://schemas.microsoft.com/office/powerpoint/2010/main" val="69691245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There are four recognized levels of postoperative care:</a:t>
            </a:r>
          </a:p>
          <a:p>
            <a:pPr lvl="1"/>
            <a:r>
              <a:rPr lang="en-US" dirty="0" smtClean="0">
                <a:latin typeface="+mj-lt"/>
              </a:rPr>
              <a:t>Level 0: Ward – basic observations</a:t>
            </a:r>
          </a:p>
          <a:p>
            <a:pPr lvl="1"/>
            <a:r>
              <a:rPr lang="en-US" dirty="0" smtClean="0">
                <a:latin typeface="+mj-lt"/>
              </a:rPr>
              <a:t>Level 1: Enhanced ward – more frequent observations for patients at risk of deterioration or requiring basic resuscitation</a:t>
            </a:r>
          </a:p>
          <a:p>
            <a:pPr lvl="1"/>
            <a:r>
              <a:rPr lang="en-US" dirty="0" smtClean="0">
                <a:latin typeface="+mj-lt"/>
              </a:rPr>
              <a:t>Level 2: HDU – detailed observation or intervention, and patients requiring single-organ support, excluding tracheal intubation/ventilation</a:t>
            </a:r>
          </a:p>
          <a:p>
            <a:pPr lvl="1"/>
            <a:r>
              <a:rPr lang="en-US" dirty="0" smtClean="0">
                <a:latin typeface="+mj-lt"/>
              </a:rPr>
              <a:t>Level 3: ICU – complex patients requiring tracheal intubation/ventilation or support of more than one organ system</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31</a:t>
            </a:fld>
            <a:endParaRPr lang="en-US"/>
          </a:p>
        </p:txBody>
      </p:sp>
    </p:spTree>
    <p:extLst>
      <p:ext uri="{BB962C8B-B14F-4D97-AF65-F5344CB8AC3E}">
        <p14:creationId xmlns:p14="http://schemas.microsoft.com/office/powerpoint/2010/main" val="77017509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1" y="1690688"/>
            <a:ext cx="10515600" cy="5064953"/>
          </a:xfrm>
          <a:prstGeom prst="rect">
            <a:avLst/>
          </a:prstGeom>
        </p:spPr>
      </p:pic>
      <p:sp>
        <p:nvSpPr>
          <p:cNvPr id="3" name="Slide Number Placeholder 2"/>
          <p:cNvSpPr>
            <a:spLocks noGrp="1"/>
          </p:cNvSpPr>
          <p:nvPr>
            <p:ph type="sldNum" sz="quarter" idx="12"/>
          </p:nvPr>
        </p:nvSpPr>
        <p:spPr/>
        <p:txBody>
          <a:bodyPr/>
          <a:lstStyle/>
          <a:p>
            <a:fld id="{3729D6FD-7D54-4FE7-AD94-F74F5883427C}" type="slidenum">
              <a:rPr lang="en-US" smtClean="0"/>
              <a:t>32</a:t>
            </a:fld>
            <a:endParaRPr lang="en-US"/>
          </a:p>
        </p:txBody>
      </p:sp>
    </p:spTree>
    <p:extLst>
      <p:ext uri="{BB962C8B-B14F-4D97-AF65-F5344CB8AC3E}">
        <p14:creationId xmlns:p14="http://schemas.microsoft.com/office/powerpoint/2010/main" val="291724238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Every patient admitted to a PACU should have vital signs, airway patency, peripheral oxygen saturation, temperature, neuromuscular functions, respiratory rate/character, mental status, UOP, bleeding and drainage outputs and level of pain recorded and periodically monitored</a:t>
            </a:r>
          </a:p>
          <a:p>
            <a:pPr marL="0" indent="0">
              <a:buNone/>
            </a:pPr>
            <a:endParaRPr lang="en-US" dirty="0" smtClean="0">
              <a:latin typeface="+mj-lt"/>
            </a:endParaRPr>
          </a:p>
          <a:p>
            <a:r>
              <a:rPr lang="en-US" dirty="0" smtClean="0">
                <a:latin typeface="+mj-lt"/>
              </a:rPr>
              <a:t>The frequency and duration of monitoring is dictated by the clinical status of the patient</a:t>
            </a:r>
          </a:p>
          <a:p>
            <a:r>
              <a:rPr lang="en-US" dirty="0" smtClean="0">
                <a:latin typeface="+mj-lt"/>
              </a:rPr>
              <a:t>A periodic recording every 5 minutes for the first 15 minutes and every 15 minutes thereafter is a minimum</a:t>
            </a:r>
          </a:p>
        </p:txBody>
      </p:sp>
      <p:sp>
        <p:nvSpPr>
          <p:cNvPr id="4" name="Slide Number Placeholder 3"/>
          <p:cNvSpPr>
            <a:spLocks noGrp="1"/>
          </p:cNvSpPr>
          <p:nvPr>
            <p:ph type="sldNum" sz="quarter" idx="12"/>
          </p:nvPr>
        </p:nvSpPr>
        <p:spPr/>
        <p:txBody>
          <a:bodyPr/>
          <a:lstStyle/>
          <a:p>
            <a:fld id="{3729D6FD-7D54-4FE7-AD94-F74F5883427C}" type="slidenum">
              <a:rPr lang="en-US" smtClean="0"/>
              <a:t>33</a:t>
            </a:fld>
            <a:endParaRPr lang="en-US"/>
          </a:p>
        </p:txBody>
      </p:sp>
    </p:spTree>
    <p:extLst>
      <p:ext uri="{BB962C8B-B14F-4D97-AF65-F5344CB8AC3E}">
        <p14:creationId xmlns:p14="http://schemas.microsoft.com/office/powerpoint/2010/main" val="102024497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All patients recovering from general anesthesia must receive supplemental oxygen and pulse oximetry monitoring during emergence because transient hypoxemia can develop even in healthy patients</a:t>
            </a:r>
          </a:p>
          <a:p>
            <a:r>
              <a:rPr lang="en-US" dirty="0" smtClean="0">
                <a:latin typeface="+mj-lt"/>
              </a:rPr>
              <a:t>Patients should generally be nursed in the back-up position, whenever possible, to optimize oxygenation (LOC must be considered)</a:t>
            </a:r>
          </a:p>
          <a:p>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34</a:t>
            </a:fld>
            <a:endParaRPr lang="en-US"/>
          </a:p>
        </p:txBody>
      </p:sp>
    </p:spTree>
    <p:extLst>
      <p:ext uri="{BB962C8B-B14F-4D97-AF65-F5344CB8AC3E}">
        <p14:creationId xmlns:p14="http://schemas.microsoft.com/office/powerpoint/2010/main" val="350681907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75763" y="450761"/>
            <a:ext cx="9787944" cy="616898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35</a:t>
            </a:fld>
            <a:endParaRPr lang="en-US"/>
          </a:p>
        </p:txBody>
      </p:sp>
    </p:spTree>
    <p:extLst>
      <p:ext uri="{BB962C8B-B14F-4D97-AF65-F5344CB8AC3E}">
        <p14:creationId xmlns:p14="http://schemas.microsoft.com/office/powerpoint/2010/main" val="105281006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Fluid management</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All patients in the PACU must be evaluated for the adequacy of the intraoperative fluid resuscitation</a:t>
            </a:r>
          </a:p>
          <a:p>
            <a:r>
              <a:rPr lang="en-US" dirty="0">
                <a:latin typeface="+mj-lt"/>
              </a:rPr>
              <a:t>P</a:t>
            </a:r>
            <a:r>
              <a:rPr lang="en-US" dirty="0" smtClean="0">
                <a:latin typeface="+mj-lt"/>
              </a:rPr>
              <a:t>ostoperative fluid management plays a key role in providing adequate tissue perfusion, stable hemodynamics and reducing morbidities related with hemodynamics.</a:t>
            </a:r>
          </a:p>
          <a:p>
            <a:r>
              <a:rPr lang="en-US" dirty="0" smtClean="0">
                <a:latin typeface="+mj-lt"/>
              </a:rPr>
              <a:t>Management of postoperative fluid therapy should be done considering both patients’ status and intraoperative events</a:t>
            </a:r>
          </a:p>
          <a:p>
            <a:r>
              <a:rPr lang="en-US" dirty="0" smtClean="0">
                <a:latin typeface="+mj-lt"/>
              </a:rPr>
              <a:t>Types of the fluids, amount of the fluid given and timing of the administration are the main topics that determine the fluid management strategy</a:t>
            </a:r>
          </a:p>
        </p:txBody>
      </p:sp>
      <p:sp>
        <p:nvSpPr>
          <p:cNvPr id="4" name="Slide Number Placeholder 3"/>
          <p:cNvSpPr>
            <a:spLocks noGrp="1"/>
          </p:cNvSpPr>
          <p:nvPr>
            <p:ph type="sldNum" sz="quarter" idx="12"/>
          </p:nvPr>
        </p:nvSpPr>
        <p:spPr/>
        <p:txBody>
          <a:bodyPr/>
          <a:lstStyle/>
          <a:p>
            <a:fld id="{3729D6FD-7D54-4FE7-AD94-F74F5883427C}" type="slidenum">
              <a:rPr lang="en-US" smtClean="0"/>
              <a:t>36</a:t>
            </a:fld>
            <a:endParaRPr lang="en-US"/>
          </a:p>
        </p:txBody>
      </p:sp>
    </p:spTree>
    <p:extLst>
      <p:ext uri="{BB962C8B-B14F-4D97-AF65-F5344CB8AC3E}">
        <p14:creationId xmlns:p14="http://schemas.microsoft.com/office/powerpoint/2010/main" val="1002334840"/>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Presence of indicators for additional fluid requirement such as hypotension, tachycardia, and low urine output should be promptly looked for.</a:t>
            </a:r>
          </a:p>
          <a:p>
            <a:r>
              <a:rPr lang="en-US" dirty="0" smtClean="0">
                <a:latin typeface="+mj-lt"/>
              </a:rPr>
              <a:t>However until proven otherwise, bleeding must be the primary concern in postoperative hypotension</a:t>
            </a:r>
          </a:p>
          <a:p>
            <a:r>
              <a:rPr lang="en-US" dirty="0" smtClean="0">
                <a:latin typeface="+mj-lt"/>
              </a:rPr>
              <a:t>The approach to fluid resuscitation can vary according to the clinical situation and institutional protocol</a:t>
            </a:r>
          </a:p>
          <a:p>
            <a:r>
              <a:rPr lang="en-US" dirty="0">
                <a:latin typeface="+mj-lt"/>
              </a:rPr>
              <a:t>I</a:t>
            </a:r>
            <a:r>
              <a:rPr lang="en-US" dirty="0" smtClean="0">
                <a:latin typeface="+mj-lt"/>
              </a:rPr>
              <a:t>n general, goal directed strategy for fluid resuscitation in paramount important </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37</a:t>
            </a:fld>
            <a:endParaRPr lang="en-US"/>
          </a:p>
        </p:txBody>
      </p:sp>
    </p:spTree>
    <p:extLst>
      <p:ext uri="{BB962C8B-B14F-4D97-AF65-F5344CB8AC3E}">
        <p14:creationId xmlns:p14="http://schemas.microsoft.com/office/powerpoint/2010/main" val="257431781"/>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Pain management</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Pain is defined as unpleasant sensory response related actual or potential tissue damage.</a:t>
            </a:r>
          </a:p>
          <a:p>
            <a:r>
              <a:rPr lang="en-US" dirty="0" smtClean="0">
                <a:latin typeface="+mj-lt"/>
              </a:rPr>
              <a:t>Postoperative pain is a complex physiologic reaction to tissue injury and patients may encounter acute pain of various degree in PACU </a:t>
            </a:r>
          </a:p>
          <a:p>
            <a:r>
              <a:rPr lang="en-US" dirty="0" smtClean="0">
                <a:latin typeface="+mj-lt"/>
              </a:rPr>
              <a:t>Postoperative pain is directly related to patient satisfaction, which has evolved into an important measure for high-quality health care</a:t>
            </a:r>
          </a:p>
          <a:p>
            <a:r>
              <a:rPr lang="en-US" dirty="0" smtClean="0">
                <a:latin typeface="+mj-lt"/>
              </a:rPr>
              <a:t>Appropriate management of acute perioperative pain using multimodal opioid-sparing analgesia is therefore crucial</a:t>
            </a:r>
          </a:p>
          <a:p>
            <a:endParaRPr lang="en-US" dirty="0" smtClean="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38</a:t>
            </a:fld>
            <a:endParaRPr lang="en-US"/>
          </a:p>
        </p:txBody>
      </p:sp>
    </p:spTree>
    <p:extLst>
      <p:ext uri="{BB962C8B-B14F-4D97-AF65-F5344CB8AC3E}">
        <p14:creationId xmlns:p14="http://schemas.microsoft.com/office/powerpoint/2010/main" val="600163731"/>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Inadequate relief of postoperative pain has adverse physiologic effects that can contribute to significant morbidity and mortality, resulting in the delay of patient recovery and return to daily activities</a:t>
            </a:r>
          </a:p>
          <a:p>
            <a:r>
              <a:rPr lang="en-US" dirty="0" smtClean="0">
                <a:latin typeface="+mj-lt"/>
              </a:rPr>
              <a:t>In addition, poor postoperative pain control contributes to patient dissatisfaction with the surgical experience and can cause to a chronic pain condition.</a:t>
            </a:r>
          </a:p>
          <a:p>
            <a:r>
              <a:rPr lang="en-US" dirty="0" smtClean="0">
                <a:latin typeface="+mj-lt"/>
              </a:rPr>
              <a:t>Surgical procedures that can be associated with chronic painful conditions include amputation of a limb, lateral thoracotomy, inguinal herniorrhaphy, abdominal hysterectomy, saphenous vein stripping, open cholecystectomy, nephrectomy, and mastectomy</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39</a:t>
            </a:fld>
            <a:endParaRPr lang="en-US"/>
          </a:p>
        </p:txBody>
      </p:sp>
    </p:spTree>
    <p:extLst>
      <p:ext uri="{BB962C8B-B14F-4D97-AF65-F5344CB8AC3E}">
        <p14:creationId xmlns:p14="http://schemas.microsoft.com/office/powerpoint/2010/main" val="2292498341"/>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Factors that positively correlate with increased postoperative pain include but not limited to:</a:t>
            </a:r>
          </a:p>
          <a:p>
            <a:pPr lvl="1"/>
            <a:r>
              <a:rPr lang="en-US" dirty="0" smtClean="0">
                <a:latin typeface="+mj-lt"/>
              </a:rPr>
              <a:t> preoperative opioid intake</a:t>
            </a:r>
          </a:p>
          <a:p>
            <a:pPr lvl="1"/>
            <a:r>
              <a:rPr lang="en-US" dirty="0" smtClean="0">
                <a:latin typeface="+mj-lt"/>
              </a:rPr>
              <a:t> increased body mass index</a:t>
            </a:r>
          </a:p>
          <a:p>
            <a:pPr lvl="1"/>
            <a:r>
              <a:rPr lang="en-US" dirty="0" smtClean="0">
                <a:latin typeface="+mj-lt"/>
              </a:rPr>
              <a:t> anxiety</a:t>
            </a:r>
          </a:p>
          <a:p>
            <a:pPr lvl="1"/>
            <a:r>
              <a:rPr lang="en-US" dirty="0" smtClean="0">
                <a:latin typeface="+mj-lt"/>
              </a:rPr>
              <a:t>depression</a:t>
            </a:r>
          </a:p>
          <a:p>
            <a:pPr lvl="1"/>
            <a:r>
              <a:rPr lang="en-US" dirty="0" smtClean="0">
                <a:latin typeface="+mj-lt"/>
              </a:rPr>
              <a:t>pain intensity level</a:t>
            </a:r>
          </a:p>
          <a:p>
            <a:pPr lvl="1"/>
            <a:r>
              <a:rPr lang="en-US" dirty="0" smtClean="0">
                <a:latin typeface="+mj-lt"/>
              </a:rPr>
              <a:t>characteristics of fibromyalgia</a:t>
            </a:r>
          </a:p>
          <a:p>
            <a:pPr lvl="1"/>
            <a:r>
              <a:rPr lang="en-US" dirty="0" smtClean="0">
                <a:latin typeface="+mj-lt"/>
              </a:rPr>
              <a:t>duration of surgery</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40</a:t>
            </a:fld>
            <a:endParaRPr lang="en-US"/>
          </a:p>
        </p:txBody>
      </p:sp>
    </p:spTree>
    <p:extLst>
      <p:ext uri="{BB962C8B-B14F-4D97-AF65-F5344CB8AC3E}">
        <p14:creationId xmlns:p14="http://schemas.microsoft.com/office/powerpoint/2010/main" val="56902637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Most postoperative pain is nociceptive in character, but there are a small percentage of patients who can experience neuropathic pain postoperatively.</a:t>
            </a:r>
          </a:p>
          <a:p>
            <a:r>
              <a:rPr lang="en-US" dirty="0" smtClean="0">
                <a:latin typeface="+mj-lt"/>
              </a:rPr>
              <a:t>Neuropathic pain is a result of accidental nerve injury secondary to cutting, traction, compression, or entrapment</a:t>
            </a:r>
          </a:p>
          <a:p>
            <a:r>
              <a:rPr lang="en-US" dirty="0" smtClean="0">
                <a:latin typeface="+mj-lt"/>
              </a:rPr>
              <a:t>It is critical to recognize this fact because patients with neuropathic pain are at increased risk of progressing to a chronic pain state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41</a:t>
            </a:fld>
            <a:endParaRPr lang="en-US"/>
          </a:p>
        </p:txBody>
      </p:sp>
    </p:spTree>
    <p:extLst>
      <p:ext uri="{BB962C8B-B14F-4D97-AF65-F5344CB8AC3E}">
        <p14:creationId xmlns:p14="http://schemas.microsoft.com/office/powerpoint/2010/main" val="3800865937"/>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mj-lt"/>
              </a:rPr>
              <a:t>U</a:t>
            </a:r>
            <a:r>
              <a:rPr lang="en-US" dirty="0" smtClean="0">
                <a:latin typeface="+mj-lt"/>
              </a:rPr>
              <a:t>nderstanding of the epidemiology and pathophysiology of postoperative pain has increased the use of multimodal management of pain in an effort to improve patient comfort, decrease perioperative morbidity, and reduce cost</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42</a:t>
            </a:fld>
            <a:endParaRPr lang="en-US"/>
          </a:p>
        </p:txBody>
      </p:sp>
    </p:spTree>
    <p:extLst>
      <p:ext uri="{BB962C8B-B14F-4D97-AF65-F5344CB8AC3E}">
        <p14:creationId xmlns:p14="http://schemas.microsoft.com/office/powerpoint/2010/main" val="1202968837"/>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Nociceptive pain responds best to opioids, NSAIDs, para-aminophenol agents, and regional anesthesia techniques</a:t>
            </a:r>
          </a:p>
          <a:p>
            <a:r>
              <a:rPr lang="en-US" dirty="0" smtClean="0">
                <a:latin typeface="+mj-lt"/>
              </a:rPr>
              <a:t>Preventive analgesia use includes any anti nociceptive regimen delivered at any time during the perioperative period that will attenuate pain-induced sensitization</a:t>
            </a:r>
          </a:p>
          <a:p>
            <a:r>
              <a:rPr lang="en-US" dirty="0" smtClean="0">
                <a:latin typeface="+mj-lt"/>
              </a:rPr>
              <a:t>The goal of preventive analgesia is to block the development of sustained pain</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43</a:t>
            </a:fld>
            <a:endParaRPr lang="en-US"/>
          </a:p>
        </p:txBody>
      </p:sp>
    </p:spTree>
    <p:extLst>
      <p:ext uri="{BB962C8B-B14F-4D97-AF65-F5344CB8AC3E}">
        <p14:creationId xmlns:p14="http://schemas.microsoft.com/office/powerpoint/2010/main" val="2681580194"/>
      </p:ext>
    </p:extLst>
  </p:cSld>
  <p:clrMapOvr>
    <a:masterClrMapping/>
  </p:clrMapOvr>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In order for preventive analgesia to be successful, three critical principles must be adhered to:</a:t>
            </a:r>
          </a:p>
          <a:p>
            <a:pPr lvl="1"/>
            <a:r>
              <a:rPr lang="en-US" dirty="0" smtClean="0">
                <a:latin typeface="+mj-lt"/>
              </a:rPr>
              <a:t>The depth of analgesia must be adequate enough to block all nociceptive input during surgery</a:t>
            </a:r>
          </a:p>
          <a:p>
            <a:pPr lvl="1"/>
            <a:r>
              <a:rPr lang="en-US" dirty="0">
                <a:latin typeface="+mj-lt"/>
              </a:rPr>
              <a:t>T</a:t>
            </a:r>
            <a:r>
              <a:rPr lang="en-US" dirty="0" smtClean="0">
                <a:latin typeface="+mj-lt"/>
              </a:rPr>
              <a:t>he analgesic technique must be extensive enough to include the entire surgical field</a:t>
            </a:r>
          </a:p>
          <a:p>
            <a:pPr lvl="1"/>
            <a:r>
              <a:rPr lang="en-US" dirty="0">
                <a:latin typeface="+mj-lt"/>
              </a:rPr>
              <a:t>T</a:t>
            </a:r>
            <a:r>
              <a:rPr lang="en-US" dirty="0" smtClean="0">
                <a:latin typeface="+mj-lt"/>
              </a:rPr>
              <a:t>he duration of analgesia must include both the surgical and postsurgical periods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44</a:t>
            </a:fld>
            <a:endParaRPr lang="en-US"/>
          </a:p>
        </p:txBody>
      </p:sp>
    </p:spTree>
    <p:extLst>
      <p:ext uri="{BB962C8B-B14F-4D97-AF65-F5344CB8AC3E}">
        <p14:creationId xmlns:p14="http://schemas.microsoft.com/office/powerpoint/2010/main" val="859050471"/>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Multimodal Approach to Perioperative Recovery</a:t>
            </a:r>
            <a:endParaRPr lang="en-US" sz="3200" dirty="0"/>
          </a:p>
        </p:txBody>
      </p:sp>
      <p:sp>
        <p:nvSpPr>
          <p:cNvPr id="3" name="Content Placeholder 2"/>
          <p:cNvSpPr>
            <a:spLocks noGrp="1"/>
          </p:cNvSpPr>
          <p:nvPr>
            <p:ph idx="1"/>
          </p:nvPr>
        </p:nvSpPr>
        <p:spPr/>
        <p:txBody>
          <a:bodyPr>
            <a:normAutofit fontScale="92500"/>
          </a:bodyPr>
          <a:lstStyle/>
          <a:p>
            <a:r>
              <a:rPr lang="en-US" dirty="0" smtClean="0">
                <a:latin typeface="+mj-lt"/>
              </a:rPr>
              <a:t> Pain management techniques are evolving from the use of single-modal analgesia to engaging the patient as a member of the care team in multimodal, opioid-sparing analgesia through enhanced recovery pathways</a:t>
            </a:r>
          </a:p>
          <a:p>
            <a:r>
              <a:rPr lang="en-US" dirty="0" smtClean="0">
                <a:latin typeface="+mj-lt"/>
              </a:rPr>
              <a:t>Post procedural or posttraumatic pain is best managed through this multimodal approach</a:t>
            </a:r>
          </a:p>
          <a:p>
            <a:r>
              <a:rPr lang="en-US" dirty="0" smtClean="0">
                <a:latin typeface="+mj-lt"/>
              </a:rPr>
              <a:t>Combination of interventional analgesic techniques (nerve blocks) and a combination of systemic pharmacologic therapies</a:t>
            </a:r>
          </a:p>
          <a:p>
            <a:r>
              <a:rPr lang="en-US" dirty="0" smtClean="0">
                <a:latin typeface="+mj-lt"/>
              </a:rPr>
              <a:t>The principles of this strategy include improvement of the patient's pain to instill a sense of control over their pain, enable early mobilization, allow early enteral nutrition, and attenuate the perioperative stress response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45</a:t>
            </a:fld>
            <a:endParaRPr lang="en-US"/>
          </a:p>
        </p:txBody>
      </p:sp>
    </p:spTree>
    <p:extLst>
      <p:ext uri="{BB962C8B-B14F-4D97-AF65-F5344CB8AC3E}">
        <p14:creationId xmlns:p14="http://schemas.microsoft.com/office/powerpoint/2010/main" val="2923459458"/>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09934" y="0"/>
            <a:ext cx="10467833" cy="685800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46</a:t>
            </a:fld>
            <a:endParaRPr lang="en-US"/>
          </a:p>
        </p:txBody>
      </p:sp>
    </p:spTree>
    <p:extLst>
      <p:ext uri="{BB962C8B-B14F-4D97-AF65-F5344CB8AC3E}">
        <p14:creationId xmlns:p14="http://schemas.microsoft.com/office/powerpoint/2010/main" val="3928197720"/>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559558" y="696036"/>
            <a:ext cx="10658902" cy="5813946"/>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47</a:t>
            </a:fld>
            <a:endParaRPr lang="en-US"/>
          </a:p>
        </p:txBody>
      </p:sp>
    </p:spTree>
    <p:extLst>
      <p:ext uri="{BB962C8B-B14F-4D97-AF65-F5344CB8AC3E}">
        <p14:creationId xmlns:p14="http://schemas.microsoft.com/office/powerpoint/2010/main" val="2090230466"/>
      </p:ext>
    </p:extLst>
  </p:cSld>
  <p:clrMapOvr>
    <a:masterClrMapping/>
  </p:clrMapOvr>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96036" y="259307"/>
            <a:ext cx="11204811" cy="6428096"/>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48</a:t>
            </a:fld>
            <a:endParaRPr lang="en-US"/>
          </a:p>
        </p:txBody>
      </p:sp>
    </p:spTree>
    <p:extLst>
      <p:ext uri="{BB962C8B-B14F-4D97-AF65-F5344CB8AC3E}">
        <p14:creationId xmlns:p14="http://schemas.microsoft.com/office/powerpoint/2010/main" val="3533503135"/>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Oral medications are less desirable during perioperative time because of NPO status of the patients</a:t>
            </a:r>
          </a:p>
          <a:p>
            <a:r>
              <a:rPr lang="en-US" dirty="0" smtClean="0">
                <a:latin typeface="+mj-lt"/>
              </a:rPr>
              <a:t>Intermittent IV administration of small doses of opioids is commonly used to treat acute and severe pain in the PACU or ICU, where continuous nursing and monitoring are available</a:t>
            </a:r>
          </a:p>
          <a:p>
            <a:r>
              <a:rPr lang="en-US" dirty="0" smtClean="0">
                <a:latin typeface="+mj-lt"/>
              </a:rPr>
              <a:t>Rapid redistribution of the opioid produces a shorter duration of analgesia after a single IV administration than after an IM injection.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49</a:t>
            </a:fld>
            <a:endParaRPr lang="en-US"/>
          </a:p>
        </p:txBody>
      </p:sp>
    </p:spTree>
    <p:extLst>
      <p:ext uri="{BB962C8B-B14F-4D97-AF65-F5344CB8AC3E}">
        <p14:creationId xmlns:p14="http://schemas.microsoft.com/office/powerpoint/2010/main" val="3141004679"/>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409433"/>
            <a:ext cx="10515600" cy="6318913"/>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50</a:t>
            </a:fld>
            <a:endParaRPr lang="en-US"/>
          </a:p>
        </p:txBody>
      </p:sp>
    </p:spTree>
    <p:extLst>
      <p:ext uri="{BB962C8B-B14F-4D97-AF65-F5344CB8AC3E}">
        <p14:creationId xmlns:p14="http://schemas.microsoft.com/office/powerpoint/2010/main" val="3209640933"/>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Patient-Controlled Analgesia (PCA) provides better analgesia with more safety, less total drug use, less sedation, fewer nocturnal sleep disturbances, and more rapid return to physical activity</a:t>
            </a:r>
          </a:p>
          <a:p>
            <a:r>
              <a:rPr lang="en-US" dirty="0" smtClean="0">
                <a:latin typeface="+mj-lt"/>
              </a:rPr>
              <a:t>PCAs are designed to safely allow patient-administered analgesic medications</a:t>
            </a:r>
          </a:p>
          <a:p>
            <a:r>
              <a:rPr lang="en-US" dirty="0" smtClean="0">
                <a:latin typeface="+mj-lt"/>
              </a:rPr>
              <a:t>Upon activation of the delivery system, limits are placed on the number of doses per unit of time that will be administered to the patient.</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51</a:t>
            </a:fld>
            <a:endParaRPr lang="en-US"/>
          </a:p>
        </p:txBody>
      </p:sp>
    </p:spTree>
    <p:extLst>
      <p:ext uri="{BB962C8B-B14F-4D97-AF65-F5344CB8AC3E}">
        <p14:creationId xmlns:p14="http://schemas.microsoft.com/office/powerpoint/2010/main" val="1303152146"/>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46913" y="450376"/>
            <a:ext cx="9606886" cy="6407624"/>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52</a:t>
            </a:fld>
            <a:endParaRPr lang="en-US"/>
          </a:p>
        </p:txBody>
      </p:sp>
    </p:spTree>
    <p:extLst>
      <p:ext uri="{BB962C8B-B14F-4D97-AF65-F5344CB8AC3E}">
        <p14:creationId xmlns:p14="http://schemas.microsoft.com/office/powerpoint/2010/main" val="3781253744"/>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368490"/>
            <a:ext cx="9725167" cy="578665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53</a:t>
            </a:fld>
            <a:endParaRPr lang="en-US"/>
          </a:p>
        </p:txBody>
      </p:sp>
    </p:spTree>
    <p:extLst>
      <p:ext uri="{BB962C8B-B14F-4D97-AF65-F5344CB8AC3E}">
        <p14:creationId xmlns:p14="http://schemas.microsoft.com/office/powerpoint/2010/main" val="369840839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Assessment of Acute Pain</a:t>
            </a:r>
            <a:endParaRPr lang="en-US" sz="3200" dirty="0"/>
          </a:p>
        </p:txBody>
      </p:sp>
      <p:sp>
        <p:nvSpPr>
          <p:cNvPr id="3" name="Content Placeholder 2"/>
          <p:cNvSpPr>
            <a:spLocks noGrp="1"/>
          </p:cNvSpPr>
          <p:nvPr>
            <p:ph idx="1"/>
          </p:nvPr>
        </p:nvSpPr>
        <p:spPr/>
        <p:txBody>
          <a:bodyPr/>
          <a:lstStyle/>
          <a:p>
            <a:r>
              <a:rPr lang="en-US" dirty="0" smtClean="0">
                <a:latin typeface="+mj-lt"/>
              </a:rPr>
              <a:t>Effective treatment of acute pain requires assessment as well as vigilant reassessment to determine if the primary goals are met, adversity has occurred, or changes are necessary</a:t>
            </a:r>
          </a:p>
          <a:p>
            <a:r>
              <a:rPr lang="en-US" dirty="0">
                <a:latin typeface="+mj-lt"/>
              </a:rPr>
              <a:t>T</a:t>
            </a:r>
            <a:r>
              <a:rPr lang="en-US" dirty="0" smtClean="0">
                <a:latin typeface="+mj-lt"/>
              </a:rPr>
              <a:t>he traditional verbal analog score (VAS) 0 to 10 scale (“on a scale of 0 to 10, with 0 being no pain and 10 being the worst pain you can imagine</a:t>
            </a:r>
          </a:p>
          <a:p>
            <a:r>
              <a:rPr lang="en-US" dirty="0">
                <a:latin typeface="+mj-lt"/>
              </a:rPr>
              <a:t>B</a:t>
            </a:r>
            <a:r>
              <a:rPr lang="en-US" dirty="0" smtClean="0">
                <a:latin typeface="+mj-lt"/>
              </a:rPr>
              <a:t>ased on the reported pain score, the severity is categorized as mild, moderate and severe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54</a:t>
            </a:fld>
            <a:endParaRPr lang="en-US"/>
          </a:p>
        </p:txBody>
      </p:sp>
    </p:spTree>
    <p:extLst>
      <p:ext uri="{BB962C8B-B14F-4D97-AF65-F5344CB8AC3E}">
        <p14:creationId xmlns:p14="http://schemas.microsoft.com/office/powerpoint/2010/main" val="2842339082"/>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01471" y="682388"/>
            <a:ext cx="11790529" cy="5431809"/>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55</a:t>
            </a:fld>
            <a:endParaRPr lang="en-US"/>
          </a:p>
        </p:txBody>
      </p:sp>
    </p:spTree>
    <p:extLst>
      <p:ext uri="{BB962C8B-B14F-4D97-AF65-F5344CB8AC3E}">
        <p14:creationId xmlns:p14="http://schemas.microsoft.com/office/powerpoint/2010/main" val="72241403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WHO ladder of pain management</a:t>
            </a:r>
            <a:endParaRPr lang="en-US" sz="3200" dirty="0"/>
          </a:p>
        </p:txBody>
      </p:sp>
      <p:sp>
        <p:nvSpPr>
          <p:cNvPr id="3" name="Content Placeholder 2"/>
          <p:cNvSpPr>
            <a:spLocks noGrp="1"/>
          </p:cNvSpPr>
          <p:nvPr>
            <p:ph idx="1"/>
          </p:nvPr>
        </p:nvSpPr>
        <p:spPr/>
        <p:txBody>
          <a:bodyPr/>
          <a:lstStyle/>
          <a:p>
            <a:r>
              <a:rPr lang="en-US" dirty="0" smtClean="0">
                <a:latin typeface="+mj-lt"/>
              </a:rPr>
              <a:t>The three main principles of the WHO analgesic ladder are: “By the clock, by the mouth, by the ladder”</a:t>
            </a:r>
          </a:p>
          <a:p>
            <a:r>
              <a:rPr lang="en-US" dirty="0" smtClean="0">
                <a:latin typeface="+mj-lt"/>
              </a:rPr>
              <a:t>To maintain freedom from pain, drugs should be given “</a:t>
            </a:r>
            <a:r>
              <a:rPr lang="en-US" dirty="0" smtClean="0">
                <a:solidFill>
                  <a:srgbClr val="FF0000"/>
                </a:solidFill>
                <a:latin typeface="+mj-lt"/>
              </a:rPr>
              <a:t>by the clock” or “around the clock”</a:t>
            </a:r>
            <a:r>
              <a:rPr lang="en-US" dirty="0" smtClean="0">
                <a:latin typeface="+mj-lt"/>
              </a:rPr>
              <a:t> rather than only “on demand” (i.e. PRN)</a:t>
            </a:r>
          </a:p>
          <a:p>
            <a:pPr lvl="1"/>
            <a:endParaRPr lang="en-US" dirty="0" smtClean="0">
              <a:latin typeface="+mj-lt"/>
            </a:endParaRPr>
          </a:p>
          <a:p>
            <a:pPr lvl="1"/>
            <a:r>
              <a:rPr lang="en-US" dirty="0" smtClean="0">
                <a:latin typeface="+mj-lt"/>
              </a:rPr>
              <a:t>The frequency will depend on whether it is a long- or short-acting preparation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56</a:t>
            </a:fld>
            <a:endParaRPr lang="en-US"/>
          </a:p>
        </p:txBody>
      </p:sp>
    </p:spTree>
    <p:extLst>
      <p:ext uri="{BB962C8B-B14F-4D97-AF65-F5344CB8AC3E}">
        <p14:creationId xmlns:p14="http://schemas.microsoft.com/office/powerpoint/2010/main" val="1413205923"/>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a:t>
            </a:r>
            <a:r>
              <a:rPr lang="en-US" dirty="0" smtClean="0">
                <a:solidFill>
                  <a:srgbClr val="FF0000"/>
                </a:solidFill>
                <a:latin typeface="+mj-lt"/>
              </a:rPr>
              <a:t>oral route </a:t>
            </a:r>
            <a:r>
              <a:rPr lang="en-US" dirty="0" smtClean="0">
                <a:latin typeface="+mj-lt"/>
              </a:rPr>
              <a:t>is usually the preferred route for ease of use in a variety of care settings</a:t>
            </a:r>
          </a:p>
          <a:p>
            <a:pPr lvl="1"/>
            <a:endParaRPr lang="en-US" dirty="0">
              <a:latin typeface="+mj-lt"/>
            </a:endParaRPr>
          </a:p>
          <a:p>
            <a:pPr lvl="1"/>
            <a:r>
              <a:rPr lang="en-US" dirty="0" smtClean="0">
                <a:latin typeface="+mj-lt"/>
              </a:rPr>
              <a:t>However, it may not be possible for all patients (e.g. end-of-life, unconscious, swallowing issues)</a:t>
            </a:r>
          </a:p>
          <a:p>
            <a:pPr lvl="1"/>
            <a:r>
              <a:rPr lang="en-US" dirty="0" smtClean="0">
                <a:latin typeface="+mj-lt"/>
              </a:rPr>
              <a:t>When the oral route is not feasible, the least invasive route should be considered (e.g. sub-lingual or sub-cutaneous, suppository)</a:t>
            </a:r>
          </a:p>
          <a:p>
            <a:pPr lvl="1"/>
            <a:endParaRPr lang="en-US" dirty="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57</a:t>
            </a:fld>
            <a:endParaRPr lang="en-US"/>
          </a:p>
        </p:txBody>
      </p:sp>
    </p:spTree>
    <p:extLst>
      <p:ext uri="{BB962C8B-B14F-4D97-AF65-F5344CB8AC3E}">
        <p14:creationId xmlns:p14="http://schemas.microsoft.com/office/powerpoint/2010/main" val="3084351188"/>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a:latin typeface="+mj-lt"/>
              </a:rPr>
              <a:t>T</a:t>
            </a:r>
            <a:r>
              <a:rPr lang="en-US" dirty="0" smtClean="0">
                <a:latin typeface="+mj-lt"/>
              </a:rPr>
              <a:t>he </a:t>
            </a:r>
            <a:r>
              <a:rPr lang="en-US" dirty="0" smtClean="0">
                <a:solidFill>
                  <a:srgbClr val="FF0000"/>
                </a:solidFill>
                <a:latin typeface="+mj-lt"/>
              </a:rPr>
              <a:t>analgesic ladder </a:t>
            </a:r>
            <a:r>
              <a:rPr lang="en-US" dirty="0" smtClean="0">
                <a:latin typeface="+mj-lt"/>
              </a:rPr>
              <a:t>developed by WHO consisted of three </a:t>
            </a:r>
            <a:r>
              <a:rPr lang="en-US" dirty="0" smtClean="0">
                <a:solidFill>
                  <a:srgbClr val="FF0000"/>
                </a:solidFill>
                <a:latin typeface="+mj-lt"/>
              </a:rPr>
              <a:t>steps:</a:t>
            </a:r>
          </a:p>
          <a:p>
            <a:r>
              <a:rPr lang="en-US" dirty="0" smtClean="0">
                <a:latin typeface="+mj-lt"/>
              </a:rPr>
              <a:t>First Step - </a:t>
            </a:r>
            <a:r>
              <a:rPr lang="en-US" dirty="0" smtClean="0">
                <a:solidFill>
                  <a:srgbClr val="FF0000"/>
                </a:solidFill>
                <a:latin typeface="+mj-lt"/>
              </a:rPr>
              <a:t>Mild pain</a:t>
            </a:r>
            <a:r>
              <a:rPr lang="en-US" dirty="0" smtClean="0">
                <a:latin typeface="+mj-lt"/>
              </a:rPr>
              <a:t>: non-opioid analgesics such as nonsteroidal anti-inflammatory drugs (NSAIDs) or acetaminophen with or without adjuvants </a:t>
            </a:r>
          </a:p>
          <a:p>
            <a:r>
              <a:rPr lang="en-US" dirty="0" smtClean="0">
                <a:latin typeface="+mj-lt"/>
              </a:rPr>
              <a:t>Second Step - Moderate pain: weak opioids (hydrocodone, codeine, tramadol) with or without non-opioid analgesics and with or without adjuvants</a:t>
            </a:r>
          </a:p>
          <a:p>
            <a:r>
              <a:rPr lang="en-US" dirty="0" smtClean="0">
                <a:latin typeface="+mj-lt"/>
              </a:rPr>
              <a:t>Third Step - Severe and persistent pain: potent opioids (morphine, methadone, fentanyl, oxycodone, buprenorphine, </a:t>
            </a:r>
            <a:r>
              <a:rPr lang="en-US" dirty="0" err="1" smtClean="0">
                <a:latin typeface="+mj-lt"/>
              </a:rPr>
              <a:t>tapentadol</a:t>
            </a:r>
            <a:r>
              <a:rPr lang="en-US" dirty="0" smtClean="0">
                <a:latin typeface="+mj-lt"/>
              </a:rPr>
              <a:t>, hydromorphone, </a:t>
            </a:r>
            <a:r>
              <a:rPr lang="en-US" dirty="0" err="1" smtClean="0">
                <a:latin typeface="+mj-lt"/>
              </a:rPr>
              <a:t>oxymorphone</a:t>
            </a:r>
            <a:r>
              <a:rPr lang="en-US" dirty="0" smtClean="0">
                <a:latin typeface="+mj-lt"/>
              </a:rPr>
              <a:t>) with or without non-opioid analgesics, and with or without adjuvants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58</a:t>
            </a:fld>
            <a:endParaRPr lang="en-US"/>
          </a:p>
        </p:txBody>
      </p:sp>
    </p:spTree>
    <p:extLst>
      <p:ext uri="{BB962C8B-B14F-4D97-AF65-F5344CB8AC3E}">
        <p14:creationId xmlns:p14="http://schemas.microsoft.com/office/powerpoint/2010/main" val="523673771"/>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0"/>
            <a:ext cx="10515600" cy="685800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59</a:t>
            </a:fld>
            <a:endParaRPr lang="en-US"/>
          </a:p>
        </p:txBody>
      </p:sp>
    </p:spTree>
    <p:extLst>
      <p:ext uri="{BB962C8B-B14F-4D97-AF65-F5344CB8AC3E}">
        <p14:creationId xmlns:p14="http://schemas.microsoft.com/office/powerpoint/2010/main" val="4078080832"/>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D</a:t>
            </a:r>
            <a:r>
              <a:rPr lang="en-US" sz="3200" dirty="0" smtClean="0"/>
              <a:t>ischarge from PACU</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All patients must be evaluated by a qualified anesthesia provider prior to discharge from the PACU</a:t>
            </a:r>
          </a:p>
          <a:p>
            <a:r>
              <a:rPr lang="en-US" dirty="0" smtClean="0">
                <a:latin typeface="+mj-lt"/>
              </a:rPr>
              <a:t>Whilst the responsibility for the safe and appropriate discharge of patients from PACU lies with the anesthetist, the adoption of strict discharge criteria enables this to be delegated to PACU staff.</a:t>
            </a:r>
          </a:p>
          <a:p>
            <a:r>
              <a:rPr lang="en-US" dirty="0" smtClean="0">
                <a:latin typeface="+mj-lt"/>
              </a:rPr>
              <a:t>The PACU nurses discharges without the presence of a qualified anesthesia provider if all PACU discharge criteria have been met.</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60</a:t>
            </a:fld>
            <a:endParaRPr lang="en-US"/>
          </a:p>
        </p:txBody>
      </p:sp>
    </p:spTree>
    <p:extLst>
      <p:ext uri="{BB962C8B-B14F-4D97-AF65-F5344CB8AC3E}">
        <p14:creationId xmlns:p14="http://schemas.microsoft.com/office/powerpoint/2010/main" val="594358159"/>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lnSpcReduction="10000"/>
          </a:bodyPr>
          <a:lstStyle/>
          <a:p>
            <a:r>
              <a:rPr lang="en-US" dirty="0" smtClean="0">
                <a:latin typeface="+mj-lt"/>
              </a:rPr>
              <a:t>Before discharge, patients should have been observed for respiratory depression for at least 20–30 min after the last dose of parenteral opioid</a:t>
            </a:r>
          </a:p>
          <a:p>
            <a:r>
              <a:rPr lang="en-US" dirty="0" smtClean="0">
                <a:latin typeface="+mj-lt"/>
              </a:rPr>
              <a:t>Other minimum discharge criteria for patients recovering from general anesthesia usually include the following:</a:t>
            </a:r>
          </a:p>
          <a:p>
            <a:pPr lvl="1">
              <a:buFont typeface="Wingdings" panose="05000000000000000000" pitchFamily="2" charset="2"/>
              <a:buChar char="Ø"/>
            </a:pPr>
            <a:r>
              <a:rPr lang="en-US" dirty="0" smtClean="0">
                <a:latin typeface="+mj-lt"/>
              </a:rPr>
              <a:t>Easy </a:t>
            </a:r>
            <a:r>
              <a:rPr lang="en-US" dirty="0" err="1" smtClean="0">
                <a:latin typeface="+mj-lt"/>
              </a:rPr>
              <a:t>arousability</a:t>
            </a:r>
            <a:endParaRPr lang="en-US" dirty="0" smtClean="0">
              <a:latin typeface="+mj-lt"/>
            </a:endParaRPr>
          </a:p>
          <a:p>
            <a:pPr lvl="1">
              <a:buFont typeface="Wingdings" panose="05000000000000000000" pitchFamily="2" charset="2"/>
              <a:buChar char="Ø"/>
            </a:pPr>
            <a:r>
              <a:rPr lang="en-US" dirty="0" smtClean="0">
                <a:latin typeface="+mj-lt"/>
              </a:rPr>
              <a:t>Full orientation</a:t>
            </a:r>
          </a:p>
          <a:p>
            <a:pPr lvl="1">
              <a:buFont typeface="Wingdings" panose="05000000000000000000" pitchFamily="2" charset="2"/>
              <a:buChar char="Ø"/>
            </a:pPr>
            <a:r>
              <a:rPr lang="en-US" dirty="0" smtClean="0">
                <a:latin typeface="+mj-lt"/>
              </a:rPr>
              <a:t>The ability to maintain and protect the airway</a:t>
            </a:r>
          </a:p>
          <a:p>
            <a:pPr lvl="1">
              <a:buFont typeface="Wingdings" panose="05000000000000000000" pitchFamily="2" charset="2"/>
              <a:buChar char="Ø"/>
            </a:pPr>
            <a:r>
              <a:rPr lang="en-US" dirty="0" smtClean="0">
                <a:latin typeface="+mj-lt"/>
              </a:rPr>
              <a:t>Stable vital signs for at least 15–30 min</a:t>
            </a:r>
          </a:p>
          <a:p>
            <a:pPr lvl="1">
              <a:buFont typeface="Wingdings" panose="05000000000000000000" pitchFamily="2" charset="2"/>
              <a:buChar char="Ø"/>
            </a:pPr>
            <a:r>
              <a:rPr lang="en-US" dirty="0" smtClean="0">
                <a:latin typeface="+mj-lt"/>
              </a:rPr>
              <a:t>The ability to call for help, if necessary</a:t>
            </a:r>
          </a:p>
          <a:p>
            <a:pPr lvl="1">
              <a:buFont typeface="Wingdings" panose="05000000000000000000" pitchFamily="2" charset="2"/>
              <a:buChar char="Ø"/>
            </a:pPr>
            <a:r>
              <a:rPr lang="en-US" dirty="0" smtClean="0">
                <a:latin typeface="+mj-lt"/>
              </a:rPr>
              <a:t>No obvious surgical complications (such as active bleeding)</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61</a:t>
            </a:fld>
            <a:endParaRPr lang="en-US"/>
          </a:p>
        </p:txBody>
      </p:sp>
    </p:spTree>
    <p:extLst>
      <p:ext uri="{BB962C8B-B14F-4D97-AF65-F5344CB8AC3E}">
        <p14:creationId xmlns:p14="http://schemas.microsoft.com/office/powerpoint/2010/main" val="23461456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23583" y="272956"/>
            <a:ext cx="9648966" cy="6291618"/>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62</a:t>
            </a:fld>
            <a:endParaRPr lang="en-US"/>
          </a:p>
        </p:txBody>
      </p:sp>
    </p:spTree>
    <p:extLst>
      <p:ext uri="{BB962C8B-B14F-4D97-AF65-F5344CB8AC3E}">
        <p14:creationId xmlns:p14="http://schemas.microsoft.com/office/powerpoint/2010/main" val="497632931"/>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To standardize and facilitate discharge from PACU, several different scoring systems have been developed and updated over time</a:t>
            </a:r>
          </a:p>
          <a:p>
            <a:r>
              <a:rPr lang="en-US" dirty="0" smtClean="0">
                <a:latin typeface="+mj-lt"/>
              </a:rPr>
              <a:t>The most commonly used post anesthesia scoring system to monitor recovery from anesthesia is </a:t>
            </a:r>
            <a:r>
              <a:rPr lang="en-US" dirty="0" smtClean="0">
                <a:solidFill>
                  <a:srgbClr val="FF0000"/>
                </a:solidFill>
                <a:latin typeface="+mj-lt"/>
              </a:rPr>
              <a:t>the </a:t>
            </a:r>
            <a:r>
              <a:rPr lang="en-US" dirty="0" err="1" smtClean="0">
                <a:solidFill>
                  <a:srgbClr val="FF0000"/>
                </a:solidFill>
                <a:latin typeface="+mj-lt"/>
              </a:rPr>
              <a:t>Aldrete</a:t>
            </a:r>
            <a:r>
              <a:rPr lang="en-US" dirty="0" smtClean="0">
                <a:solidFill>
                  <a:srgbClr val="FF0000"/>
                </a:solidFill>
                <a:latin typeface="+mj-lt"/>
              </a:rPr>
              <a:t> score</a:t>
            </a:r>
            <a:r>
              <a:rPr lang="en-US" dirty="0" smtClean="0">
                <a:latin typeface="+mj-lt"/>
              </a:rPr>
              <a:t>, which was first described in 1970.</a:t>
            </a:r>
          </a:p>
          <a:p>
            <a:r>
              <a:rPr lang="en-US" dirty="0" smtClean="0">
                <a:latin typeface="+mj-lt"/>
              </a:rPr>
              <a:t>The original </a:t>
            </a:r>
            <a:r>
              <a:rPr lang="en-US" dirty="0" err="1" smtClean="0">
                <a:latin typeface="+mj-lt"/>
              </a:rPr>
              <a:t>Aldrete</a:t>
            </a:r>
            <a:r>
              <a:rPr lang="en-US" dirty="0">
                <a:latin typeface="+mj-lt"/>
              </a:rPr>
              <a:t> </a:t>
            </a:r>
            <a:r>
              <a:rPr lang="en-US" dirty="0" smtClean="0">
                <a:latin typeface="+mj-lt"/>
              </a:rPr>
              <a:t>score assigned a number of 0, 1, or 2 to five variables: activity, respiration, circulation, consciousness, and color</a:t>
            </a:r>
          </a:p>
          <a:p>
            <a:r>
              <a:rPr lang="en-US" dirty="0" smtClean="0">
                <a:latin typeface="+mj-lt"/>
              </a:rPr>
              <a:t>A score of 9 out of 10 was considered adequate for discharge from the PACU</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63</a:t>
            </a:fld>
            <a:endParaRPr lang="en-US"/>
          </a:p>
        </p:txBody>
      </p:sp>
    </p:spTree>
    <p:extLst>
      <p:ext uri="{BB962C8B-B14F-4D97-AF65-F5344CB8AC3E}">
        <p14:creationId xmlns:p14="http://schemas.microsoft.com/office/powerpoint/2010/main" val="2595129236"/>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183642" y="245660"/>
            <a:ext cx="7792871" cy="661234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64</a:t>
            </a:fld>
            <a:endParaRPr lang="en-US"/>
          </a:p>
        </p:txBody>
      </p:sp>
    </p:spTree>
    <p:extLst>
      <p:ext uri="{BB962C8B-B14F-4D97-AF65-F5344CB8AC3E}">
        <p14:creationId xmlns:p14="http://schemas.microsoft.com/office/powerpoint/2010/main" val="1397778875"/>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With the increase in number and complexity of outpatient surgeries, discharge criteria have been amended by various authors to include assessment of home readiness</a:t>
            </a:r>
          </a:p>
          <a:p>
            <a:r>
              <a:rPr lang="en-US" dirty="0" smtClean="0">
                <a:latin typeface="+mj-lt"/>
              </a:rPr>
              <a:t>the PADSS system (post anesthesia scoring system) was initially based on five criteria: vital signs, ambulation and mental status, pain and nausea/vomiting, surgical bleeding, and ﬂuid intake/output</a:t>
            </a:r>
          </a:p>
          <a:p>
            <a:r>
              <a:rPr lang="en-US" dirty="0" smtClean="0">
                <a:latin typeface="+mj-lt"/>
              </a:rPr>
              <a:t>The current version has been modified to separate pain and nausea/vomiting and to eliminate the need to urinate before discharge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65</a:t>
            </a:fld>
            <a:endParaRPr lang="en-US"/>
          </a:p>
        </p:txBody>
      </p:sp>
    </p:spTree>
    <p:extLst>
      <p:ext uri="{BB962C8B-B14F-4D97-AF65-F5344CB8AC3E}">
        <p14:creationId xmlns:p14="http://schemas.microsoft.com/office/powerpoint/2010/main" val="3006772162"/>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7230" y="464024"/>
            <a:ext cx="9758149" cy="6393976"/>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66</a:t>
            </a:fld>
            <a:endParaRPr lang="en-US"/>
          </a:p>
        </p:txBody>
      </p:sp>
    </p:spTree>
    <p:extLst>
      <p:ext uri="{BB962C8B-B14F-4D97-AF65-F5344CB8AC3E}">
        <p14:creationId xmlns:p14="http://schemas.microsoft.com/office/powerpoint/2010/main" val="2845914131"/>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a:t>
            </a:r>
            <a:r>
              <a:rPr lang="en-US" sz="3200" dirty="0" smtClean="0"/>
              <a:t>ostoperative evaluation</a:t>
            </a:r>
            <a:endParaRPr lang="en-US" sz="3200" dirty="0"/>
          </a:p>
        </p:txBody>
      </p:sp>
      <p:sp>
        <p:nvSpPr>
          <p:cNvPr id="3" name="Content Placeholder 2"/>
          <p:cNvSpPr>
            <a:spLocks noGrp="1"/>
          </p:cNvSpPr>
          <p:nvPr>
            <p:ph idx="1"/>
          </p:nvPr>
        </p:nvSpPr>
        <p:spPr/>
        <p:txBody>
          <a:bodyPr/>
          <a:lstStyle/>
          <a:p>
            <a:r>
              <a:rPr lang="en-US" dirty="0">
                <a:latin typeface="+mj-lt"/>
              </a:rPr>
              <a:t>P</a:t>
            </a:r>
            <a:r>
              <a:rPr lang="en-US" dirty="0" smtClean="0">
                <a:latin typeface="+mj-lt"/>
              </a:rPr>
              <a:t>ost anesthesia follow-up requires a written follow-up that is performed by an individual that is qualified to administer anesthesia</a:t>
            </a:r>
          </a:p>
          <a:p>
            <a:r>
              <a:rPr lang="en-US" dirty="0" smtClean="0">
                <a:latin typeface="+mj-lt"/>
              </a:rPr>
              <a:t>The timeframe starts as soon as the patient arrives in the recovery area or ICU</a:t>
            </a:r>
          </a:p>
          <a:p>
            <a:r>
              <a:rPr lang="en-US" dirty="0" smtClean="0">
                <a:latin typeface="+mj-lt"/>
              </a:rPr>
              <a:t>The evaluation should be performed only after the patient has sufficiently recovered from anesthesia and is able to participate and answer questions or perform simple tasks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67</a:t>
            </a:fld>
            <a:endParaRPr lang="en-US"/>
          </a:p>
        </p:txBody>
      </p:sp>
    </p:spTree>
    <p:extLst>
      <p:ext uri="{BB962C8B-B14F-4D97-AF65-F5344CB8AC3E}">
        <p14:creationId xmlns:p14="http://schemas.microsoft.com/office/powerpoint/2010/main" val="1522874485"/>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post anesthesia evaluation must contain the following elements:</a:t>
            </a:r>
          </a:p>
          <a:p>
            <a:pPr lvl="1">
              <a:buFont typeface="Wingdings" panose="05000000000000000000" pitchFamily="2" charset="2"/>
              <a:buChar char="ü"/>
            </a:pPr>
            <a:r>
              <a:rPr lang="en-US" dirty="0" smtClean="0">
                <a:latin typeface="+mj-lt"/>
              </a:rPr>
              <a:t>Respiratory function: respiratory rate, airway patency, and oxygen saturation</a:t>
            </a:r>
          </a:p>
          <a:p>
            <a:pPr lvl="1">
              <a:buFont typeface="Wingdings" panose="05000000000000000000" pitchFamily="2" charset="2"/>
              <a:buChar char="ü"/>
            </a:pPr>
            <a:r>
              <a:rPr lang="en-US" dirty="0" smtClean="0">
                <a:latin typeface="+mj-lt"/>
              </a:rPr>
              <a:t>Cardiovascular function, including pulse rate and blood pressure</a:t>
            </a:r>
          </a:p>
          <a:p>
            <a:pPr lvl="1">
              <a:buFont typeface="Wingdings" panose="05000000000000000000" pitchFamily="2" charset="2"/>
              <a:buChar char="ü"/>
            </a:pPr>
            <a:r>
              <a:rPr lang="en-US" dirty="0" smtClean="0">
                <a:latin typeface="+mj-lt"/>
              </a:rPr>
              <a:t>Mental status</a:t>
            </a:r>
          </a:p>
          <a:p>
            <a:pPr lvl="1">
              <a:buFont typeface="Wingdings" panose="05000000000000000000" pitchFamily="2" charset="2"/>
              <a:buChar char="ü"/>
            </a:pPr>
            <a:r>
              <a:rPr lang="en-US" dirty="0" smtClean="0">
                <a:latin typeface="+mj-lt"/>
              </a:rPr>
              <a:t>Temperature</a:t>
            </a:r>
          </a:p>
          <a:p>
            <a:pPr lvl="1">
              <a:buFont typeface="Wingdings" panose="05000000000000000000" pitchFamily="2" charset="2"/>
              <a:buChar char="ü"/>
            </a:pPr>
            <a:r>
              <a:rPr lang="en-US" dirty="0" smtClean="0">
                <a:latin typeface="+mj-lt"/>
              </a:rPr>
              <a:t>Pain</a:t>
            </a:r>
          </a:p>
          <a:p>
            <a:pPr lvl="1">
              <a:buFont typeface="Wingdings" panose="05000000000000000000" pitchFamily="2" charset="2"/>
              <a:buChar char="ü"/>
            </a:pPr>
            <a:r>
              <a:rPr lang="en-US" dirty="0" smtClean="0">
                <a:latin typeface="+mj-lt"/>
              </a:rPr>
              <a:t>Nausea and vomiting</a:t>
            </a:r>
          </a:p>
          <a:p>
            <a:pPr lvl="1">
              <a:buFont typeface="Wingdings" panose="05000000000000000000" pitchFamily="2" charset="2"/>
              <a:buChar char="ü"/>
            </a:pPr>
            <a:r>
              <a:rPr lang="en-US" dirty="0" smtClean="0">
                <a:latin typeface="+mj-lt"/>
              </a:rPr>
              <a:t>Postoperative hydration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68</a:t>
            </a:fld>
            <a:endParaRPr lang="en-US"/>
          </a:p>
        </p:txBody>
      </p:sp>
    </p:spTree>
    <p:extLst>
      <p:ext uri="{BB962C8B-B14F-4D97-AF65-F5344CB8AC3E}">
        <p14:creationId xmlns:p14="http://schemas.microsoft.com/office/powerpoint/2010/main" val="591395434"/>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Common postoperative complications and management</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Emergence from general anesthesia and surgery may be accompanied by a number of physiologic disturbances that affect multiple organ systems</a:t>
            </a:r>
          </a:p>
          <a:p>
            <a:r>
              <a:rPr lang="en-US" dirty="0" smtClean="0">
                <a:latin typeface="+mj-lt"/>
              </a:rPr>
              <a:t>Patients may encounter various issues that may range from very common events, such as inadequate analgesia, to less frequently experienced clinical problems such as negative pressure pulmonary edema</a:t>
            </a:r>
          </a:p>
          <a:p>
            <a:r>
              <a:rPr lang="en-US" dirty="0" smtClean="0">
                <a:latin typeface="+mj-lt"/>
              </a:rPr>
              <a:t>Postoperative complications are common and have an enormous impact on individual patient welfare and healthcare costs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69</a:t>
            </a:fld>
            <a:endParaRPr lang="en-US"/>
          </a:p>
        </p:txBody>
      </p:sp>
    </p:spTree>
    <p:extLst>
      <p:ext uri="{BB962C8B-B14F-4D97-AF65-F5344CB8AC3E}">
        <p14:creationId xmlns:p14="http://schemas.microsoft.com/office/powerpoint/2010/main" val="3930924724"/>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Anesthetists are well placed to work with surgical colleagues on the implementation of strategies to minimize complications and the development of novel approaches for patient care</a:t>
            </a:r>
          </a:p>
          <a:p>
            <a:r>
              <a:rPr lang="en-US" dirty="0" smtClean="0">
                <a:latin typeface="+mj-lt"/>
              </a:rPr>
              <a:t>Various methods has been used to identify postoperative complications in clinical practice</a:t>
            </a:r>
          </a:p>
          <a:p>
            <a:r>
              <a:rPr lang="en-US" dirty="0" smtClean="0">
                <a:latin typeface="+mj-lt"/>
              </a:rPr>
              <a:t>There were three popular methods in use to identify the presence of postoperative complications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70</a:t>
            </a:fld>
            <a:endParaRPr lang="en-US"/>
          </a:p>
        </p:txBody>
      </p:sp>
    </p:spTree>
    <p:extLst>
      <p:ext uri="{BB962C8B-B14F-4D97-AF65-F5344CB8AC3E}">
        <p14:creationId xmlns:p14="http://schemas.microsoft.com/office/powerpoint/2010/main" val="397871126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pic>
        <p:nvPicPr>
          <p:cNvPr id="4" name="Content Placeholder 3"/>
          <p:cNvPicPr>
            <a:picLocks noGrp="1" noChangeAspect="1"/>
          </p:cNvPicPr>
          <p:nvPr>
            <p:ph idx="1"/>
          </p:nvPr>
        </p:nvPicPr>
        <p:blipFill>
          <a:blip r:embed="rId2"/>
          <a:stretch>
            <a:fillRect/>
          </a:stretch>
        </p:blipFill>
        <p:spPr>
          <a:xfrm>
            <a:off x="838200" y="1326524"/>
            <a:ext cx="10515599" cy="5280338"/>
          </a:xfrm>
          <a:prstGeom prst="rect">
            <a:avLst/>
          </a:prstGeom>
        </p:spPr>
      </p:pic>
      <p:sp>
        <p:nvSpPr>
          <p:cNvPr id="3" name="Slide Number Placeholder 2"/>
          <p:cNvSpPr>
            <a:spLocks noGrp="1"/>
          </p:cNvSpPr>
          <p:nvPr>
            <p:ph type="sldNum" sz="quarter" idx="12"/>
          </p:nvPr>
        </p:nvSpPr>
        <p:spPr/>
        <p:txBody>
          <a:bodyPr/>
          <a:lstStyle/>
          <a:p>
            <a:fld id="{3729D6FD-7D54-4FE7-AD94-F74F5883427C}" type="slidenum">
              <a:rPr lang="en-US" smtClean="0"/>
              <a:t>71</a:t>
            </a:fld>
            <a:endParaRPr lang="en-US"/>
          </a:p>
        </p:txBody>
      </p:sp>
    </p:spTree>
    <p:extLst>
      <p:ext uri="{BB962C8B-B14F-4D97-AF65-F5344CB8AC3E}">
        <p14:creationId xmlns:p14="http://schemas.microsoft.com/office/powerpoint/2010/main" val="1127343141"/>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18198" y="115910"/>
            <a:ext cx="6838682" cy="6606862"/>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72</a:t>
            </a:fld>
            <a:endParaRPr lang="en-US"/>
          </a:p>
        </p:txBody>
      </p:sp>
    </p:spTree>
    <p:extLst>
      <p:ext uri="{BB962C8B-B14F-4D97-AF65-F5344CB8AC3E}">
        <p14:creationId xmlns:p14="http://schemas.microsoft.com/office/powerpoint/2010/main" val="10555760"/>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Clavien-dindo system</a:t>
            </a:r>
            <a:r>
              <a:rPr lang="en-US" dirty="0" smtClean="0">
                <a:latin typeface="+mj-lt"/>
              </a:rPr>
              <a:t>; utilizes treatments that are instituted for ‘deviations from the ideal postoperative course</a:t>
            </a:r>
          </a:p>
          <a:p>
            <a:r>
              <a:rPr lang="en-US" dirty="0" smtClean="0">
                <a:latin typeface="+mj-lt"/>
              </a:rPr>
              <a:t>Complications are graded on a </a:t>
            </a:r>
            <a:r>
              <a:rPr lang="en-US" dirty="0" smtClean="0">
                <a:solidFill>
                  <a:srgbClr val="FF0000"/>
                </a:solidFill>
                <a:latin typeface="+mj-lt"/>
              </a:rPr>
              <a:t>severity scale from I to IV</a:t>
            </a:r>
            <a:r>
              <a:rPr lang="en-US" dirty="0" smtClean="0">
                <a:latin typeface="+mj-lt"/>
              </a:rPr>
              <a:t>, ranging from mild deviations requiring additional medication to severe deviations requiring organ support </a:t>
            </a:r>
          </a:p>
          <a:p>
            <a:r>
              <a:rPr lang="en-US" dirty="0" smtClean="0">
                <a:latin typeface="+mj-lt"/>
              </a:rPr>
              <a:t>This system was a well validated in large cohorts and believed to have a good inter-observer reliability and increasing acceptance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73</a:t>
            </a:fld>
            <a:endParaRPr lang="en-US"/>
          </a:p>
        </p:txBody>
      </p:sp>
    </p:spTree>
    <p:extLst>
      <p:ext uri="{BB962C8B-B14F-4D97-AF65-F5344CB8AC3E}">
        <p14:creationId xmlns:p14="http://schemas.microsoft.com/office/powerpoint/2010/main" val="2065983995"/>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838200" y="115910"/>
            <a:ext cx="10515600" cy="674209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74</a:t>
            </a:fld>
            <a:endParaRPr lang="en-US"/>
          </a:p>
        </p:txBody>
      </p:sp>
    </p:spTree>
    <p:extLst>
      <p:ext uri="{BB962C8B-B14F-4D97-AF65-F5344CB8AC3E}">
        <p14:creationId xmlns:p14="http://schemas.microsoft.com/office/powerpoint/2010/main" val="313167861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solidFill>
                  <a:srgbClr val="FF0000"/>
                </a:solidFill>
                <a:latin typeface="+mj-lt"/>
              </a:rPr>
              <a:t>Postoperative Morbidity Survey (POMS):</a:t>
            </a:r>
            <a:r>
              <a:rPr lang="en-US" dirty="0" smtClean="0">
                <a:latin typeface="+mj-lt"/>
              </a:rPr>
              <a:t>requires objective </a:t>
            </a:r>
            <a:r>
              <a:rPr lang="en-US" dirty="0" smtClean="0">
                <a:solidFill>
                  <a:srgbClr val="FF0000"/>
                </a:solidFill>
                <a:latin typeface="+mj-lt"/>
              </a:rPr>
              <a:t>‘Yes or No’ </a:t>
            </a:r>
            <a:r>
              <a:rPr lang="en-US" dirty="0" smtClean="0">
                <a:latin typeface="+mj-lt"/>
              </a:rPr>
              <a:t>answers to questions interrogating morbidity in nine domain</a:t>
            </a:r>
          </a:p>
          <a:p>
            <a:r>
              <a:rPr lang="en-US" dirty="0" smtClean="0">
                <a:latin typeface="+mj-lt"/>
              </a:rPr>
              <a:t>Its purpose is to measure postoperative occurrences that prolong the length of hospital stay, largely based on the treatments instituted</a:t>
            </a:r>
          </a:p>
          <a:p>
            <a:r>
              <a:rPr lang="en-US" dirty="0" smtClean="0">
                <a:latin typeface="+mj-lt"/>
              </a:rPr>
              <a:t>Thought to be a sensitive approach that detect a minor perturbations in organ systems and features that prolong the postoperative course</a:t>
            </a:r>
          </a:p>
          <a:p>
            <a:r>
              <a:rPr lang="en-US" dirty="0" smtClean="0">
                <a:latin typeface="+mj-lt"/>
              </a:rPr>
              <a:t>POMS demonstrates excellent inter-observer reliability and is useful for comparing outcomes across institutions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75</a:t>
            </a:fld>
            <a:endParaRPr lang="en-US"/>
          </a:p>
        </p:txBody>
      </p:sp>
    </p:spTree>
    <p:extLst>
      <p:ext uri="{BB962C8B-B14F-4D97-AF65-F5344CB8AC3E}">
        <p14:creationId xmlns:p14="http://schemas.microsoft.com/office/powerpoint/2010/main" val="19742471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476518" y="627890"/>
            <a:ext cx="11423561" cy="623011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76</a:t>
            </a:fld>
            <a:endParaRPr lang="en-US"/>
          </a:p>
        </p:txBody>
      </p:sp>
    </p:spTree>
    <p:extLst>
      <p:ext uri="{BB962C8B-B14F-4D97-AF65-F5344CB8AC3E}">
        <p14:creationId xmlns:p14="http://schemas.microsoft.com/office/powerpoint/2010/main" val="399394744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R</a:t>
            </a:r>
            <a:r>
              <a:rPr lang="en-US" sz="3200" dirty="0" smtClean="0"/>
              <a:t>espiratory complications</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Most surgical patients arrive in the PACU after </a:t>
            </a:r>
            <a:r>
              <a:rPr lang="en-US" dirty="0" err="1" smtClean="0">
                <a:latin typeface="+mj-lt"/>
              </a:rPr>
              <a:t>extubation</a:t>
            </a:r>
            <a:r>
              <a:rPr lang="en-US" dirty="0" smtClean="0">
                <a:latin typeface="+mj-lt"/>
              </a:rPr>
              <a:t> in the OR with supplemental oxygen provided</a:t>
            </a:r>
          </a:p>
          <a:p>
            <a:r>
              <a:rPr lang="en-US" dirty="0" smtClean="0">
                <a:latin typeface="+mj-lt"/>
              </a:rPr>
              <a:t>Respiratory problems are the most frequently encountered serious complications in the PACU</a:t>
            </a:r>
          </a:p>
          <a:p>
            <a:r>
              <a:rPr lang="en-US" dirty="0" smtClean="0">
                <a:latin typeface="+mj-lt"/>
              </a:rPr>
              <a:t>Patients in in early postoperative period develop postoperative hypoxemia of different etiologies and should be closely observed and monitored</a:t>
            </a:r>
          </a:p>
          <a:p>
            <a:r>
              <a:rPr lang="en-US" dirty="0" smtClean="0">
                <a:latin typeface="+mj-lt"/>
              </a:rPr>
              <a:t>Mechanical, hemodynamic, and pharmacologic factors related to surgery and anesthesia impair ventilation, oxygenation, and airway maintenance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77</a:t>
            </a:fld>
            <a:endParaRPr lang="en-US"/>
          </a:p>
        </p:txBody>
      </p:sp>
    </p:spTree>
    <p:extLst>
      <p:ext uri="{BB962C8B-B14F-4D97-AF65-F5344CB8AC3E}">
        <p14:creationId xmlns:p14="http://schemas.microsoft.com/office/powerpoint/2010/main" val="4067815956"/>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Risk factors for postoperative pulmonary complications include preexisting patient conditions such as COPD, OSA, extreme age, tobacco use, high ASA status, obesity, asthma and malnutrition as well as surgical factors</a:t>
            </a:r>
          </a:p>
          <a:p>
            <a:pPr marL="0" indent="0">
              <a:buNone/>
            </a:pPr>
            <a:endParaRPr lang="en-US" dirty="0" smtClean="0">
              <a:latin typeface="+mj-lt"/>
            </a:endParaRPr>
          </a:p>
          <a:p>
            <a:r>
              <a:rPr lang="en-US" dirty="0" smtClean="0">
                <a:latin typeface="+mj-lt"/>
              </a:rPr>
              <a:t>The predominant issues include inadequate oxygenation or ventilation, upper airway obstruction, laryngospasm, and aspiration</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78</a:t>
            </a:fld>
            <a:endParaRPr lang="en-US"/>
          </a:p>
        </p:txBody>
      </p:sp>
    </p:spTree>
    <p:extLst>
      <p:ext uri="{BB962C8B-B14F-4D97-AF65-F5344CB8AC3E}">
        <p14:creationId xmlns:p14="http://schemas.microsoft.com/office/powerpoint/2010/main" val="3461617515"/>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Inadequate Postoperative Ventilation</a:t>
            </a:r>
            <a:endParaRPr lang="en-US" sz="3200" dirty="0"/>
          </a:p>
        </p:txBody>
      </p:sp>
      <p:sp>
        <p:nvSpPr>
          <p:cNvPr id="3" name="Content Placeholder 2"/>
          <p:cNvSpPr>
            <a:spLocks noGrp="1"/>
          </p:cNvSpPr>
          <p:nvPr>
            <p:ph idx="1"/>
          </p:nvPr>
        </p:nvSpPr>
        <p:spPr/>
        <p:txBody>
          <a:bodyPr>
            <a:normAutofit/>
          </a:bodyPr>
          <a:lstStyle/>
          <a:p>
            <a:r>
              <a:rPr lang="en-US" dirty="0">
                <a:latin typeface="+mj-lt"/>
              </a:rPr>
              <a:t>R</a:t>
            </a:r>
            <a:r>
              <a:rPr lang="en-US" dirty="0" smtClean="0">
                <a:latin typeface="+mj-lt"/>
              </a:rPr>
              <a:t>esidual effects of IV and inhalation anesthetics blunt the </a:t>
            </a:r>
            <a:r>
              <a:rPr lang="en-US" dirty="0" err="1" smtClean="0">
                <a:latin typeface="+mj-lt"/>
              </a:rPr>
              <a:t>ventilatory</a:t>
            </a:r>
            <a:r>
              <a:rPr lang="en-US" dirty="0" smtClean="0">
                <a:latin typeface="+mj-lt"/>
              </a:rPr>
              <a:t> responses to both hypercarbia and hypoxemia</a:t>
            </a:r>
          </a:p>
          <a:p>
            <a:r>
              <a:rPr lang="en-US" dirty="0" smtClean="0">
                <a:latin typeface="+mj-lt"/>
              </a:rPr>
              <a:t>In PACU patients, mild respiratory </a:t>
            </a:r>
            <a:r>
              <a:rPr lang="en-US" dirty="0" err="1" smtClean="0">
                <a:latin typeface="+mj-lt"/>
              </a:rPr>
              <a:t>acidemia</a:t>
            </a:r>
            <a:r>
              <a:rPr lang="en-US" dirty="0" smtClean="0">
                <a:latin typeface="+mj-lt"/>
              </a:rPr>
              <a:t> due to decreased minute ventilation is expected; thus elevated PaCO2 does not necessarily indicate inadequate postoperative ventilation</a:t>
            </a:r>
          </a:p>
        </p:txBody>
      </p:sp>
      <p:sp>
        <p:nvSpPr>
          <p:cNvPr id="4" name="Slide Number Placeholder 3"/>
          <p:cNvSpPr>
            <a:spLocks noGrp="1"/>
          </p:cNvSpPr>
          <p:nvPr>
            <p:ph type="sldNum" sz="quarter" idx="12"/>
          </p:nvPr>
        </p:nvSpPr>
        <p:spPr/>
        <p:txBody>
          <a:bodyPr/>
          <a:lstStyle/>
          <a:p>
            <a:fld id="{3729D6FD-7D54-4FE7-AD94-F74F5883427C}" type="slidenum">
              <a:rPr lang="en-US" smtClean="0"/>
              <a:t>79</a:t>
            </a:fld>
            <a:endParaRPr lang="en-US"/>
          </a:p>
        </p:txBody>
      </p:sp>
    </p:spTree>
    <p:extLst>
      <p:ext uri="{BB962C8B-B14F-4D97-AF65-F5344CB8AC3E}">
        <p14:creationId xmlns:p14="http://schemas.microsoft.com/office/powerpoint/2010/main" val="1387343178"/>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pPr lvl="0"/>
            <a:r>
              <a:rPr lang="en-US" dirty="0">
                <a:solidFill>
                  <a:prstClr val="black"/>
                </a:solidFill>
                <a:latin typeface="Calibri Light" panose="020F0302020204030204"/>
              </a:rPr>
              <a:t>Inadequate ventilation should be suspected when </a:t>
            </a:r>
          </a:p>
          <a:p>
            <a:pPr lvl="1"/>
            <a:r>
              <a:rPr lang="en-US" dirty="0">
                <a:solidFill>
                  <a:prstClr val="black"/>
                </a:solidFill>
                <a:latin typeface="Calibri Light" panose="020F0302020204030204"/>
              </a:rPr>
              <a:t>respiratory </a:t>
            </a:r>
            <a:r>
              <a:rPr lang="en-US" dirty="0" err="1">
                <a:solidFill>
                  <a:prstClr val="black"/>
                </a:solidFill>
                <a:latin typeface="Calibri Light" panose="020F0302020204030204"/>
              </a:rPr>
              <a:t>acidemia</a:t>
            </a:r>
            <a:r>
              <a:rPr lang="en-US" dirty="0">
                <a:solidFill>
                  <a:prstClr val="black"/>
                </a:solidFill>
                <a:latin typeface="Calibri Light" panose="020F0302020204030204"/>
              </a:rPr>
              <a:t> occurs coincident with tachypnea, anxiety, dyspnea, labored ventilation, or increased sympathetic nervous system activity</a:t>
            </a:r>
          </a:p>
          <a:p>
            <a:pPr lvl="1"/>
            <a:r>
              <a:rPr lang="en-US" dirty="0">
                <a:solidFill>
                  <a:prstClr val="black"/>
                </a:solidFill>
                <a:latin typeface="Calibri Light" panose="020F0302020204030204"/>
              </a:rPr>
              <a:t>hypercarbia reduces the arterial pH below 7.30</a:t>
            </a:r>
          </a:p>
          <a:p>
            <a:pPr lvl="1"/>
            <a:r>
              <a:rPr lang="en-US" dirty="0">
                <a:solidFill>
                  <a:prstClr val="black"/>
                </a:solidFill>
                <a:latin typeface="Calibri Light" panose="020F0302020204030204"/>
              </a:rPr>
              <a:t>PaCO2 progressively increases with a progressive decrease in arterial pH</a:t>
            </a:r>
          </a:p>
        </p:txBody>
      </p:sp>
      <p:sp>
        <p:nvSpPr>
          <p:cNvPr id="4" name="Slide Number Placeholder 3"/>
          <p:cNvSpPr>
            <a:spLocks noGrp="1"/>
          </p:cNvSpPr>
          <p:nvPr>
            <p:ph type="sldNum" sz="quarter" idx="12"/>
          </p:nvPr>
        </p:nvSpPr>
        <p:spPr/>
        <p:txBody>
          <a:bodyPr/>
          <a:lstStyle/>
          <a:p>
            <a:fld id="{3729D6FD-7D54-4FE7-AD94-F74F5883427C}" type="slidenum">
              <a:rPr lang="en-US" smtClean="0"/>
              <a:t>80</a:t>
            </a:fld>
            <a:endParaRPr lang="en-US"/>
          </a:p>
        </p:txBody>
      </p:sp>
    </p:spTree>
    <p:extLst>
      <p:ext uri="{BB962C8B-B14F-4D97-AF65-F5344CB8AC3E}">
        <p14:creationId xmlns:p14="http://schemas.microsoft.com/office/powerpoint/2010/main" val="2959160651"/>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A</a:t>
            </a:r>
            <a:r>
              <a:rPr lang="en-US" sz="3200" dirty="0" smtClean="0"/>
              <a:t>irway obstruction</a:t>
            </a:r>
            <a:endParaRPr lang="en-US" sz="3200" dirty="0"/>
          </a:p>
        </p:txBody>
      </p:sp>
      <p:sp>
        <p:nvSpPr>
          <p:cNvPr id="3" name="Content Placeholder 2"/>
          <p:cNvSpPr>
            <a:spLocks noGrp="1"/>
          </p:cNvSpPr>
          <p:nvPr>
            <p:ph idx="1"/>
          </p:nvPr>
        </p:nvSpPr>
        <p:spPr>
          <a:xfrm>
            <a:off x="838200" y="1839273"/>
            <a:ext cx="10515600" cy="4351338"/>
          </a:xfrm>
        </p:spPr>
        <p:txBody>
          <a:bodyPr>
            <a:normAutofit/>
          </a:bodyPr>
          <a:lstStyle/>
          <a:p>
            <a:r>
              <a:rPr lang="en-US" dirty="0" smtClean="0">
                <a:latin typeface="+mj-lt"/>
              </a:rPr>
              <a:t>Obstruction of the upper airway often occurs during recovery from anesthesia, and the recognition and management of airway compromise is a keystone of good anesthetic practice</a:t>
            </a:r>
          </a:p>
          <a:p>
            <a:r>
              <a:rPr lang="en-US" dirty="0" smtClean="0">
                <a:latin typeface="+mj-lt"/>
              </a:rPr>
              <a:t>Upper airway obstruction can arise in the pharynx from posterior tongue displacement or soft tissue collapse; the larynx from laryngeal edema, laryngospasm, or vocal cord paralysis; or the large airways from extrinsic compression</a:t>
            </a:r>
          </a:p>
          <a:p>
            <a:r>
              <a:rPr lang="en-US" dirty="0" smtClean="0">
                <a:latin typeface="+mj-lt"/>
              </a:rPr>
              <a:t>Partial obstruction of the airway is characterized by noisy ventilation, particularly on inspiration (stridor), tracheal tug, </a:t>
            </a:r>
            <a:r>
              <a:rPr lang="en-US" dirty="0" err="1" smtClean="0">
                <a:latin typeface="+mj-lt"/>
              </a:rPr>
              <a:t>indrawing</a:t>
            </a:r>
            <a:r>
              <a:rPr lang="en-US" dirty="0" smtClean="0">
                <a:latin typeface="+mj-lt"/>
              </a:rPr>
              <a:t> of the supraclavicular areas, and use of the accessory muscle of inspiration</a:t>
            </a:r>
          </a:p>
        </p:txBody>
      </p:sp>
      <p:sp>
        <p:nvSpPr>
          <p:cNvPr id="4" name="Slide Number Placeholder 3"/>
          <p:cNvSpPr>
            <a:spLocks noGrp="1"/>
          </p:cNvSpPr>
          <p:nvPr>
            <p:ph type="sldNum" sz="quarter" idx="12"/>
          </p:nvPr>
        </p:nvSpPr>
        <p:spPr/>
        <p:txBody>
          <a:bodyPr/>
          <a:lstStyle/>
          <a:p>
            <a:fld id="{3729D6FD-7D54-4FE7-AD94-F74F5883427C}" type="slidenum">
              <a:rPr lang="en-US" smtClean="0"/>
              <a:t>81</a:t>
            </a:fld>
            <a:endParaRPr lang="en-US"/>
          </a:p>
        </p:txBody>
      </p:sp>
    </p:spTree>
    <p:extLst>
      <p:ext uri="{BB962C8B-B14F-4D97-AF65-F5344CB8AC3E}">
        <p14:creationId xmlns:p14="http://schemas.microsoft.com/office/powerpoint/2010/main" val="137036343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Total obstruction is signaled by absent sounds of breathing and paradoxical movement of the chest wall and abdomen</a:t>
            </a:r>
          </a:p>
          <a:p>
            <a:r>
              <a:rPr lang="en-US" dirty="0" smtClean="0">
                <a:latin typeface="+mj-lt"/>
              </a:rPr>
              <a:t>possible causes include:</a:t>
            </a:r>
          </a:p>
          <a:p>
            <a:pPr lvl="1"/>
            <a:r>
              <a:rPr lang="en-US" dirty="0" smtClean="0">
                <a:latin typeface="+mj-lt"/>
              </a:rPr>
              <a:t>loss of pharyngeal muscle tone</a:t>
            </a:r>
          </a:p>
          <a:p>
            <a:pPr lvl="1"/>
            <a:r>
              <a:rPr lang="en-US" dirty="0" smtClean="0">
                <a:latin typeface="+mj-lt"/>
              </a:rPr>
              <a:t>problems within larynx</a:t>
            </a:r>
          </a:p>
          <a:p>
            <a:pPr lvl="1"/>
            <a:r>
              <a:rPr lang="en-US" dirty="0" smtClean="0">
                <a:latin typeface="+mj-lt"/>
              </a:rPr>
              <a:t>airway compression</a:t>
            </a:r>
          </a:p>
          <a:p>
            <a:pPr lvl="1"/>
            <a:r>
              <a:rPr lang="en-US" dirty="0" smtClean="0">
                <a:latin typeface="+mj-lt"/>
              </a:rPr>
              <a:t>foreign bodies</a:t>
            </a:r>
          </a:p>
          <a:p>
            <a:pPr lvl="1"/>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82</a:t>
            </a:fld>
            <a:endParaRPr lang="en-US"/>
          </a:p>
        </p:txBody>
      </p:sp>
    </p:spTree>
    <p:extLst>
      <p:ext uri="{BB962C8B-B14F-4D97-AF65-F5344CB8AC3E}">
        <p14:creationId xmlns:p14="http://schemas.microsoft.com/office/powerpoint/2010/main" val="61662663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P</a:t>
            </a:r>
            <a:r>
              <a:rPr lang="en-US" sz="3200" dirty="0" smtClean="0"/>
              <a:t>haryngeal obstruction</a:t>
            </a:r>
            <a:endParaRPr lang="en-US" sz="3200" dirty="0"/>
          </a:p>
        </p:txBody>
      </p:sp>
      <p:sp>
        <p:nvSpPr>
          <p:cNvPr id="3" name="Content Placeholder 2"/>
          <p:cNvSpPr>
            <a:spLocks noGrp="1"/>
          </p:cNvSpPr>
          <p:nvPr>
            <p:ph idx="1"/>
          </p:nvPr>
        </p:nvSpPr>
        <p:spPr/>
        <p:txBody>
          <a:bodyPr/>
          <a:lstStyle/>
          <a:p>
            <a:r>
              <a:rPr lang="en-US" dirty="0" smtClean="0">
                <a:latin typeface="+mj-lt"/>
              </a:rPr>
              <a:t>The most frequent cause of airway obstruction in the immediate postoperative period is the loss of pharyngeal muscle tone in a sedated or obtunded patient</a:t>
            </a:r>
          </a:p>
          <a:p>
            <a:r>
              <a:rPr lang="en-US" dirty="0" smtClean="0">
                <a:latin typeface="+mj-lt"/>
              </a:rPr>
              <a:t>The eﬀects of residual anesthetics, neuromuscular blockers, and opioids all contribute to the loss of pharyngeal tone in the PACU patient</a:t>
            </a:r>
          </a:p>
          <a:p>
            <a:r>
              <a:rPr lang="en-US" dirty="0" smtClean="0">
                <a:latin typeface="+mj-lt"/>
              </a:rPr>
              <a:t>The eﬀort to breathe against an obstructed airway is characterized by a paradoxical breathing pattern consisting of retraction of the sternal notch and exaggerated abdominal muscle activity</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83</a:t>
            </a:fld>
            <a:endParaRPr lang="en-US"/>
          </a:p>
        </p:txBody>
      </p:sp>
    </p:spTree>
    <p:extLst>
      <p:ext uri="{BB962C8B-B14F-4D97-AF65-F5344CB8AC3E}">
        <p14:creationId xmlns:p14="http://schemas.microsoft.com/office/powerpoint/2010/main" val="2908414216"/>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a:latin typeface="+mj-lt"/>
              </a:rPr>
              <a:t>R</a:t>
            </a:r>
            <a:r>
              <a:rPr lang="en-US" dirty="0" smtClean="0">
                <a:latin typeface="+mj-lt"/>
              </a:rPr>
              <a:t>emedies:</a:t>
            </a:r>
          </a:p>
          <a:p>
            <a:pPr lvl="1"/>
            <a:r>
              <a:rPr lang="en-US" dirty="0" smtClean="0">
                <a:latin typeface="+mj-lt"/>
              </a:rPr>
              <a:t>airway opening (jaw thrust, chin lift)</a:t>
            </a:r>
          </a:p>
          <a:p>
            <a:pPr lvl="1"/>
            <a:r>
              <a:rPr lang="en-US" dirty="0" smtClean="0">
                <a:latin typeface="+mj-lt"/>
              </a:rPr>
              <a:t>CPAP via facemask</a:t>
            </a:r>
          </a:p>
          <a:p>
            <a:pPr lvl="1"/>
            <a:r>
              <a:rPr lang="en-US" dirty="0" smtClean="0">
                <a:latin typeface="+mj-lt"/>
              </a:rPr>
              <a:t>oral or nasal airway</a:t>
            </a:r>
          </a:p>
          <a:p>
            <a:pPr lvl="1"/>
            <a:r>
              <a:rPr lang="en-US" dirty="0" smtClean="0">
                <a:latin typeface="+mj-lt"/>
              </a:rPr>
              <a:t>LMA insertion</a:t>
            </a:r>
          </a:p>
          <a:p>
            <a:pPr lvl="1"/>
            <a:r>
              <a:rPr lang="en-US" dirty="0" smtClean="0">
                <a:latin typeface="+mj-lt"/>
              </a:rPr>
              <a:t>reintubation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84</a:t>
            </a:fld>
            <a:endParaRPr lang="en-US"/>
          </a:p>
        </p:txBody>
      </p:sp>
    </p:spTree>
    <p:extLst>
      <p:ext uri="{BB962C8B-B14F-4D97-AF65-F5344CB8AC3E}">
        <p14:creationId xmlns:p14="http://schemas.microsoft.com/office/powerpoint/2010/main" val="791733256"/>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a:t>L</a:t>
            </a:r>
            <a:r>
              <a:rPr lang="en-US" sz="3200" dirty="0" smtClean="0"/>
              <a:t>aryngeal obstruction</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obstruction at the level of larynx can be because of edema or laryngospasm</a:t>
            </a:r>
          </a:p>
          <a:p>
            <a:r>
              <a:rPr lang="en-US" dirty="0" smtClean="0">
                <a:latin typeface="+mj-lt"/>
              </a:rPr>
              <a:t>Laryngospasm refers to a sudden spasm of the vocal cords that completely occludes the laryngeal opening</a:t>
            </a:r>
          </a:p>
          <a:p>
            <a:r>
              <a:rPr lang="en-US" dirty="0" smtClean="0">
                <a:latin typeface="+mj-lt"/>
              </a:rPr>
              <a:t>it usually characterized by high pitched crowing noises, but may be silent with complete </a:t>
            </a:r>
            <a:r>
              <a:rPr lang="en-US" dirty="0" err="1" smtClean="0">
                <a:latin typeface="+mj-lt"/>
              </a:rPr>
              <a:t>glottic</a:t>
            </a:r>
            <a:r>
              <a:rPr lang="en-US" dirty="0" smtClean="0">
                <a:latin typeface="+mj-lt"/>
              </a:rPr>
              <a:t> closure. </a:t>
            </a:r>
          </a:p>
          <a:p>
            <a:r>
              <a:rPr lang="en-US" dirty="0" smtClean="0">
                <a:latin typeface="+mj-lt"/>
              </a:rPr>
              <a:t>Spasm of the vocal cords is more apt to occur following airway trauma, repeated instrumentation, or stimulation from secretions or blood in the airway. </a:t>
            </a:r>
          </a:p>
        </p:txBody>
      </p:sp>
      <p:sp>
        <p:nvSpPr>
          <p:cNvPr id="4" name="Slide Number Placeholder 3"/>
          <p:cNvSpPr>
            <a:spLocks noGrp="1"/>
          </p:cNvSpPr>
          <p:nvPr>
            <p:ph type="sldNum" sz="quarter" idx="12"/>
          </p:nvPr>
        </p:nvSpPr>
        <p:spPr/>
        <p:txBody>
          <a:bodyPr/>
          <a:lstStyle/>
          <a:p>
            <a:fld id="{3729D6FD-7D54-4FE7-AD94-F74F5883427C}" type="slidenum">
              <a:rPr lang="en-US" smtClean="0"/>
              <a:t>85</a:t>
            </a:fld>
            <a:endParaRPr lang="en-US"/>
          </a:p>
        </p:txBody>
      </p:sp>
    </p:spTree>
    <p:extLst>
      <p:ext uri="{BB962C8B-B14F-4D97-AF65-F5344CB8AC3E}">
        <p14:creationId xmlns:p14="http://schemas.microsoft.com/office/powerpoint/2010/main" val="3922925316"/>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4"/>
            <a:ext cx="10515600" cy="4779891"/>
          </a:xfrm>
        </p:spPr>
        <p:txBody>
          <a:bodyPr/>
          <a:lstStyle/>
          <a:p>
            <a:r>
              <a:rPr lang="en-US" dirty="0" smtClean="0">
                <a:latin typeface="+mj-lt"/>
              </a:rPr>
              <a:t>It also can be caused by stimulation from an elongated uvula, may be sleep related, or may be stimulated by distal esophageal afferents</a:t>
            </a:r>
          </a:p>
          <a:p>
            <a:r>
              <a:rPr lang="en-US" dirty="0" smtClean="0">
                <a:latin typeface="+mj-lt"/>
              </a:rPr>
              <a:t>Although it is most likely to occur in the operating room at the time of tracheal </a:t>
            </a:r>
            <a:r>
              <a:rPr lang="en-US" dirty="0" err="1" smtClean="0">
                <a:latin typeface="+mj-lt"/>
              </a:rPr>
              <a:t>extubation</a:t>
            </a:r>
            <a:r>
              <a:rPr lang="en-US" dirty="0" smtClean="0">
                <a:latin typeface="+mj-lt"/>
              </a:rPr>
              <a:t>, patients who arrive in the PACU asleep after general anesthesia are also at risk</a:t>
            </a:r>
          </a:p>
          <a:p>
            <a:r>
              <a:rPr lang="en-US" dirty="0" smtClean="0">
                <a:latin typeface="+mj-lt"/>
              </a:rPr>
              <a:t> Partial laryngospasm allows for some air movement and may be difficult to distinguish from other causes of upper airway obstruction</a:t>
            </a:r>
          </a:p>
          <a:p>
            <a:r>
              <a:rPr lang="en-US" dirty="0" smtClean="0">
                <a:latin typeface="+mj-lt"/>
              </a:rPr>
              <a:t> Complete laryngospasm prevents all air movement and is a prominent cause of negative pressure pulmonary edema</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86</a:t>
            </a:fld>
            <a:endParaRPr lang="en-US"/>
          </a:p>
        </p:txBody>
      </p:sp>
    </p:spTree>
    <p:extLst>
      <p:ext uri="{BB962C8B-B14F-4D97-AF65-F5344CB8AC3E}">
        <p14:creationId xmlns:p14="http://schemas.microsoft.com/office/powerpoint/2010/main" val="2946016475"/>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Patients who smoke or are chronically exposed to smoke have irritable airway conditions, have copious secretions, or have undergone upper airway surgery are at higher risk</a:t>
            </a:r>
          </a:p>
          <a:p>
            <a:r>
              <a:rPr lang="en-US" dirty="0" smtClean="0">
                <a:latin typeface="+mj-lt"/>
              </a:rPr>
              <a:t>Remedies:</a:t>
            </a:r>
          </a:p>
          <a:p>
            <a:pPr lvl="1"/>
            <a:r>
              <a:rPr lang="en-US" dirty="0" smtClean="0">
                <a:latin typeface="+mj-lt"/>
              </a:rPr>
              <a:t>removing the noxious stimulus</a:t>
            </a:r>
          </a:p>
          <a:p>
            <a:pPr lvl="1"/>
            <a:r>
              <a:rPr lang="en-US" dirty="0" smtClean="0">
                <a:latin typeface="+mj-lt"/>
              </a:rPr>
              <a:t>jaw thrust</a:t>
            </a:r>
          </a:p>
          <a:p>
            <a:pPr lvl="1"/>
            <a:r>
              <a:rPr lang="en-US" dirty="0" smtClean="0">
                <a:latin typeface="+mj-lt"/>
              </a:rPr>
              <a:t>positive pressure ventilation (10-20 mmHg)</a:t>
            </a:r>
          </a:p>
          <a:p>
            <a:pPr lvl="1"/>
            <a:r>
              <a:rPr lang="en-US" dirty="0" smtClean="0">
                <a:latin typeface="+mj-lt"/>
              </a:rPr>
              <a:t>IV </a:t>
            </a:r>
            <a:r>
              <a:rPr lang="en-US" dirty="0" err="1" smtClean="0">
                <a:latin typeface="+mj-lt"/>
              </a:rPr>
              <a:t>propofol</a:t>
            </a:r>
            <a:r>
              <a:rPr lang="en-US" dirty="0" smtClean="0">
                <a:latin typeface="+mj-lt"/>
              </a:rPr>
              <a:t> (1mg/kg)</a:t>
            </a:r>
          </a:p>
          <a:p>
            <a:pPr lvl="1"/>
            <a:r>
              <a:rPr lang="en-US" dirty="0" smtClean="0">
                <a:latin typeface="+mj-lt"/>
              </a:rPr>
              <a:t>IV </a:t>
            </a:r>
            <a:r>
              <a:rPr lang="en-US" dirty="0" err="1" smtClean="0">
                <a:latin typeface="+mj-lt"/>
              </a:rPr>
              <a:t>suxamethonium</a:t>
            </a:r>
            <a:r>
              <a:rPr lang="en-US" dirty="0" smtClean="0">
                <a:latin typeface="+mj-lt"/>
              </a:rPr>
              <a:t> (0.1-0.5 mg/kg)</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87</a:t>
            </a:fld>
            <a:endParaRPr lang="en-US"/>
          </a:p>
        </p:txBody>
      </p:sp>
    </p:spTree>
    <p:extLst>
      <p:ext uri="{BB962C8B-B14F-4D97-AF65-F5344CB8AC3E}">
        <p14:creationId xmlns:p14="http://schemas.microsoft.com/office/powerpoint/2010/main" val="3792601485"/>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Laryngeal or subglottic edema can create airway obstruction occasionally after tracheal intubation and may result in severe obstruction, particularly in a child</a:t>
            </a:r>
          </a:p>
          <a:p>
            <a:r>
              <a:rPr lang="en-US" dirty="0" smtClean="0">
                <a:latin typeface="+mj-lt"/>
              </a:rPr>
              <a:t>Multiple or traumatic intubation attempts, prone or Trendelenburg intraoperative positioning, large volume fluid resuscitation, upper airway and major neck surgery, and the effects of prior neck radiation are predisposing factors</a:t>
            </a:r>
          </a:p>
          <a:p>
            <a:r>
              <a:rPr lang="en-US" dirty="0" smtClean="0">
                <a:latin typeface="+mj-lt"/>
              </a:rPr>
              <a:t>Soft-tissue edema worsens airway obstruction, especially in children and adults recovering from procedures on the neck</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88</a:t>
            </a:fld>
            <a:endParaRPr lang="en-US"/>
          </a:p>
        </p:txBody>
      </p:sp>
    </p:spTree>
    <p:extLst>
      <p:ext uri="{BB962C8B-B14F-4D97-AF65-F5344CB8AC3E}">
        <p14:creationId xmlns:p14="http://schemas.microsoft.com/office/powerpoint/2010/main" val="1058744010"/>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Although facial and scleral edema is an important physical sign, significant edema of pharyngeal tissue may not be accompanied by visible external signs</a:t>
            </a:r>
          </a:p>
          <a:p>
            <a:r>
              <a:rPr lang="en-US" dirty="0" smtClean="0">
                <a:latin typeface="+mj-lt"/>
              </a:rPr>
              <a:t>Treatment depends on the severity of the obstruction; immediate tracheal reintubation may be required if obstruction is complete</a:t>
            </a:r>
          </a:p>
          <a:p>
            <a:r>
              <a:rPr lang="en-US" dirty="0" smtClean="0">
                <a:latin typeface="+mj-lt"/>
              </a:rPr>
              <a:t> Partial obstruction may subside if the patient is treated with heated humidified gases</a:t>
            </a:r>
          </a:p>
          <a:p>
            <a:pPr lvl="1"/>
            <a:endParaRPr lang="en-US" dirty="0" smtClean="0">
              <a:latin typeface="+mj-lt"/>
            </a:endParaRPr>
          </a:p>
          <a:p>
            <a:pPr lvl="1"/>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89</a:t>
            </a:fld>
            <a:endParaRPr lang="en-US"/>
          </a:p>
        </p:txBody>
      </p:sp>
    </p:spTree>
    <p:extLst>
      <p:ext uri="{BB962C8B-B14F-4D97-AF65-F5344CB8AC3E}">
        <p14:creationId xmlns:p14="http://schemas.microsoft.com/office/powerpoint/2010/main" val="251020813"/>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 Treatment of partial airway obstruction resulting from airway edema includes head-up positioning to promote venous drainage and administration of steroids and nebulized epinephrine</a:t>
            </a:r>
          </a:p>
          <a:p>
            <a:r>
              <a:rPr lang="en-US" dirty="0" smtClean="0">
                <a:latin typeface="+mj-lt"/>
              </a:rPr>
              <a:t>Parenteral administration of corticosteroids, epinephrine nebulization, and inhalation of a helium-oxygen mixture are potentially effective</a:t>
            </a:r>
          </a:p>
          <a:p>
            <a:r>
              <a:rPr lang="en-US" dirty="0" smtClean="0">
                <a:latin typeface="+mj-lt"/>
              </a:rPr>
              <a:t>Patients with severe AWO may not be benefit from PPV with mask</a:t>
            </a:r>
          </a:p>
          <a:p>
            <a:r>
              <a:rPr lang="en-US" dirty="0" smtClean="0">
                <a:latin typeface="+mj-lt"/>
              </a:rPr>
              <a:t>Equipment and personnel necessary for emergency </a:t>
            </a:r>
            <a:r>
              <a:rPr lang="en-US" dirty="0" err="1" smtClean="0">
                <a:latin typeface="+mj-lt"/>
              </a:rPr>
              <a:t>cricothyroidotomy</a:t>
            </a:r>
            <a:r>
              <a:rPr lang="en-US" dirty="0" smtClean="0">
                <a:latin typeface="+mj-lt"/>
              </a:rPr>
              <a:t> or tracheostomy should be available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90</a:t>
            </a:fld>
            <a:endParaRPr lang="en-US"/>
          </a:p>
        </p:txBody>
      </p:sp>
    </p:spTree>
    <p:extLst>
      <p:ext uri="{BB962C8B-B14F-4D97-AF65-F5344CB8AC3E}">
        <p14:creationId xmlns:p14="http://schemas.microsoft.com/office/powerpoint/2010/main" val="284746119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Foreign body and external compression</a:t>
            </a:r>
            <a:endParaRPr lang="en-US" sz="3200" dirty="0"/>
          </a:p>
        </p:txBody>
      </p:sp>
      <p:sp>
        <p:nvSpPr>
          <p:cNvPr id="3" name="Content Placeholder 2"/>
          <p:cNvSpPr>
            <a:spLocks noGrp="1"/>
          </p:cNvSpPr>
          <p:nvPr>
            <p:ph idx="1"/>
          </p:nvPr>
        </p:nvSpPr>
        <p:spPr/>
        <p:txBody>
          <a:bodyPr/>
          <a:lstStyle/>
          <a:p>
            <a:r>
              <a:rPr lang="en-US" dirty="0" smtClean="0">
                <a:latin typeface="+mj-lt"/>
              </a:rPr>
              <a:t>Acute extrinsic neck compression from an expanding neck hematoma can be life-threatening</a:t>
            </a:r>
          </a:p>
          <a:p>
            <a:r>
              <a:rPr lang="en-US" dirty="0" smtClean="0">
                <a:latin typeface="+mj-lt"/>
              </a:rPr>
              <a:t>Neck hematomas can develop after carotid endarterectomy, thyroid or parathyroid surgery, or other neck surgery</a:t>
            </a:r>
          </a:p>
          <a:p>
            <a:r>
              <a:rPr lang="en-US" dirty="0" smtClean="0">
                <a:latin typeface="+mj-lt"/>
              </a:rPr>
              <a:t>The pressure caused by an expanding hematoma within the neck tissue planes causes obstruction of venous and lymphatic drainage and massive edema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91</a:t>
            </a:fld>
            <a:endParaRPr lang="en-US"/>
          </a:p>
        </p:txBody>
      </p:sp>
    </p:spTree>
    <p:extLst>
      <p:ext uri="{BB962C8B-B14F-4D97-AF65-F5344CB8AC3E}">
        <p14:creationId xmlns:p14="http://schemas.microsoft.com/office/powerpoint/2010/main" val="212579370"/>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Patients complain of local pain and pressure, dysphagia, and variable degrees of respiratory distress</a:t>
            </a:r>
          </a:p>
          <a:p>
            <a:r>
              <a:rPr lang="en-US" dirty="0" smtClean="0">
                <a:latin typeface="+mj-lt"/>
              </a:rPr>
              <a:t>A rapidly expanding hematoma can make emergency reintubation extremely difficult. </a:t>
            </a:r>
          </a:p>
          <a:p>
            <a:r>
              <a:rPr lang="en-US" dirty="0" smtClean="0">
                <a:latin typeface="+mj-lt"/>
              </a:rPr>
              <a:t>Opening the wound at the bedside can relieve tissue congestion and improve airway patency. </a:t>
            </a:r>
          </a:p>
          <a:p>
            <a:r>
              <a:rPr lang="en-US" dirty="0" smtClean="0">
                <a:latin typeface="+mj-lt"/>
              </a:rPr>
              <a:t>Definitive treatment usually requires returning to the operating room for hematoma evacuation and exploration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92</a:t>
            </a:fld>
            <a:endParaRPr lang="en-US"/>
          </a:p>
        </p:txBody>
      </p:sp>
    </p:spTree>
    <p:extLst>
      <p:ext uri="{BB962C8B-B14F-4D97-AF65-F5344CB8AC3E}">
        <p14:creationId xmlns:p14="http://schemas.microsoft.com/office/powerpoint/2010/main" val="150812028"/>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Retained surgical packs, dislodgement, and aspiration of teeth or dentures can result in airway obstruction</a:t>
            </a:r>
          </a:p>
          <a:p>
            <a:r>
              <a:rPr lang="en-US" dirty="0" smtClean="0">
                <a:latin typeface="+mj-lt"/>
              </a:rPr>
              <a:t>The presenting symptoms of foreign body aspiration may range from none to severe airway obstruction</a:t>
            </a:r>
          </a:p>
          <a:p>
            <a:r>
              <a:rPr lang="en-US" dirty="0" smtClean="0">
                <a:latin typeface="+mj-lt"/>
              </a:rPr>
              <a:t>Bronchoscopy is used to confirm the diagnosis and retrieve the object</a:t>
            </a:r>
          </a:p>
          <a:p>
            <a:r>
              <a:rPr lang="en-US" dirty="0" smtClean="0">
                <a:latin typeface="+mj-lt"/>
              </a:rPr>
              <a:t>Occasionally a cooperative mature patient can be examined under local anesthesia with fiber optic bronchoscopy however general anesthesia is typically required</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93</a:t>
            </a:fld>
            <a:endParaRPr lang="en-US"/>
          </a:p>
        </p:txBody>
      </p:sp>
    </p:spTree>
    <p:extLst>
      <p:ext uri="{BB962C8B-B14F-4D97-AF65-F5344CB8AC3E}">
        <p14:creationId xmlns:p14="http://schemas.microsoft.com/office/powerpoint/2010/main" val="827964627"/>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Alveolar Hypoventilation And V/Q Mismatch</a:t>
            </a:r>
            <a:endParaRPr lang="en-US" sz="3200" dirty="0"/>
          </a:p>
        </p:txBody>
      </p:sp>
      <p:sp>
        <p:nvSpPr>
          <p:cNvPr id="3" name="Content Placeholder 2"/>
          <p:cNvSpPr>
            <a:spLocks noGrp="1"/>
          </p:cNvSpPr>
          <p:nvPr>
            <p:ph idx="1"/>
          </p:nvPr>
        </p:nvSpPr>
        <p:spPr/>
        <p:txBody>
          <a:bodyPr/>
          <a:lstStyle/>
          <a:p>
            <a:r>
              <a:rPr lang="en-US" dirty="0" smtClean="0">
                <a:latin typeface="+mj-lt"/>
              </a:rPr>
              <a:t>Hypoventilation results in an increase in PaCO2 and a decrease in alveolar oxygen tension (PaO2)</a:t>
            </a:r>
          </a:p>
          <a:p>
            <a:r>
              <a:rPr lang="en-US" dirty="0" smtClean="0">
                <a:latin typeface="+mj-lt"/>
              </a:rPr>
              <a:t>In the immediate postoperative period, the residual eﬀects of inhaled anesthetics, opioids, and sedative-hypnotics can significantly depress this </a:t>
            </a:r>
            <a:r>
              <a:rPr lang="en-US" dirty="0" err="1" smtClean="0">
                <a:latin typeface="+mj-lt"/>
              </a:rPr>
              <a:t>ventilatory</a:t>
            </a:r>
            <a:r>
              <a:rPr lang="en-US" dirty="0" smtClean="0">
                <a:latin typeface="+mj-lt"/>
              </a:rPr>
              <a:t> response to carbon dioxide</a:t>
            </a:r>
          </a:p>
          <a:p>
            <a:r>
              <a:rPr lang="en-US" dirty="0" smtClean="0">
                <a:latin typeface="+mj-lt"/>
              </a:rPr>
              <a:t>The presence of restrictive pulmonary conditions, such as preexisting chest wall deformity, postoperative abdominal binding, or abdominal distention, can also contribute to inadequate ventilation</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94</a:t>
            </a:fld>
            <a:endParaRPr lang="en-US"/>
          </a:p>
        </p:txBody>
      </p:sp>
    </p:spTree>
    <p:extLst>
      <p:ext uri="{BB962C8B-B14F-4D97-AF65-F5344CB8AC3E}">
        <p14:creationId xmlns:p14="http://schemas.microsoft.com/office/powerpoint/2010/main" val="778990580"/>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Ventilation-perfusion (V̇/Q̇) abnormalities are the most common cause of </a:t>
            </a:r>
            <a:r>
              <a:rPr lang="en-US" dirty="0" err="1" smtClean="0">
                <a:latin typeface="+mj-lt"/>
              </a:rPr>
              <a:t>hypoxaemia</a:t>
            </a:r>
            <a:r>
              <a:rPr lang="en-US" dirty="0" smtClean="0">
                <a:latin typeface="+mj-lt"/>
              </a:rPr>
              <a:t> in the recovery room</a:t>
            </a:r>
          </a:p>
          <a:p>
            <a:r>
              <a:rPr lang="en-US" dirty="0" smtClean="0">
                <a:latin typeface="+mj-lt"/>
              </a:rPr>
              <a:t>In the PACU, the residual eﬀects of inhaled anesthetics and vasodilators used will blunt hypoxic pulmonary vasoconstriction and contribute to arterial hypoxemia</a:t>
            </a:r>
          </a:p>
          <a:p>
            <a:r>
              <a:rPr lang="en-US" dirty="0" smtClean="0">
                <a:latin typeface="+mj-lt"/>
              </a:rPr>
              <a:t>Causes of postoperative pulmonary shunt include atelectasis, pulmonary edema, gastric aspiration, pulmonary emboli, and pneumonia</a:t>
            </a:r>
          </a:p>
        </p:txBody>
      </p:sp>
      <p:sp>
        <p:nvSpPr>
          <p:cNvPr id="4" name="Slide Number Placeholder 3"/>
          <p:cNvSpPr>
            <a:spLocks noGrp="1"/>
          </p:cNvSpPr>
          <p:nvPr>
            <p:ph type="sldNum" sz="quarter" idx="12"/>
          </p:nvPr>
        </p:nvSpPr>
        <p:spPr/>
        <p:txBody>
          <a:bodyPr/>
          <a:lstStyle/>
          <a:p>
            <a:fld id="{3729D6FD-7D54-4FE7-AD94-F74F5883427C}" type="slidenum">
              <a:rPr lang="en-US" smtClean="0"/>
              <a:t>95</a:t>
            </a:fld>
            <a:endParaRPr lang="en-US"/>
          </a:p>
        </p:txBody>
      </p:sp>
    </p:spTree>
    <p:extLst>
      <p:ext uri="{BB962C8B-B14F-4D97-AF65-F5344CB8AC3E}">
        <p14:creationId xmlns:p14="http://schemas.microsoft.com/office/powerpoint/2010/main" val="1434420486"/>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Atelectasis is probably the most common cause of pulmonary shunting in the immediate postoperative period</a:t>
            </a:r>
          </a:p>
          <a:p>
            <a:r>
              <a:rPr lang="en-US" dirty="0" smtClean="0">
                <a:latin typeface="+mj-lt"/>
              </a:rPr>
              <a:t>Administration of supplemental oxygen, external stimulation of the patient to wakefulness, pharmacologic reversal of opioid or benzodiazepine eﬀect are known to be effective</a:t>
            </a:r>
          </a:p>
          <a:p>
            <a:r>
              <a:rPr lang="en-US" dirty="0" smtClean="0">
                <a:latin typeface="+mj-lt"/>
              </a:rPr>
              <a:t>Mobilization of the patient to the sitting position, incentive spirometry, and positive airway pressure by facemask can be eﬀective in treating atelectasis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96</a:t>
            </a:fld>
            <a:endParaRPr lang="en-US"/>
          </a:p>
        </p:txBody>
      </p:sp>
    </p:spTree>
    <p:extLst>
      <p:ext uri="{BB962C8B-B14F-4D97-AF65-F5344CB8AC3E}">
        <p14:creationId xmlns:p14="http://schemas.microsoft.com/office/powerpoint/2010/main" val="1494161646"/>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pic>
        <p:nvPicPr>
          <p:cNvPr id="4" name="Content Placeholder 3"/>
          <p:cNvPicPr>
            <a:picLocks noGrp="1" noChangeAspect="1"/>
          </p:cNvPicPr>
          <p:nvPr>
            <p:ph idx="1"/>
          </p:nvPr>
        </p:nvPicPr>
        <p:blipFill>
          <a:blip r:embed="rId2"/>
          <a:stretch>
            <a:fillRect/>
          </a:stretch>
        </p:blipFill>
        <p:spPr>
          <a:xfrm>
            <a:off x="838200" y="1"/>
            <a:ext cx="10515600" cy="6967182"/>
          </a:xfrm>
          <a:prstGeom prst="rect">
            <a:avLst/>
          </a:prstGeom>
        </p:spPr>
      </p:pic>
      <p:sp>
        <p:nvSpPr>
          <p:cNvPr id="3" name="Slide Number Placeholder 2"/>
          <p:cNvSpPr>
            <a:spLocks noGrp="1"/>
          </p:cNvSpPr>
          <p:nvPr>
            <p:ph type="sldNum" sz="quarter" idx="12"/>
          </p:nvPr>
        </p:nvSpPr>
        <p:spPr/>
        <p:txBody>
          <a:bodyPr/>
          <a:lstStyle/>
          <a:p>
            <a:fld id="{3729D6FD-7D54-4FE7-AD94-F74F5883427C}" type="slidenum">
              <a:rPr lang="en-US" smtClean="0"/>
              <a:t>97</a:t>
            </a:fld>
            <a:endParaRPr lang="en-US"/>
          </a:p>
        </p:txBody>
      </p:sp>
    </p:spTree>
    <p:extLst>
      <p:ext uri="{BB962C8B-B14F-4D97-AF65-F5344CB8AC3E}">
        <p14:creationId xmlns:p14="http://schemas.microsoft.com/office/powerpoint/2010/main" val="4270222216"/>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Oxygen therapy:</a:t>
            </a:r>
          </a:p>
          <a:p>
            <a:pPr lvl="1"/>
            <a:r>
              <a:rPr lang="en-US" dirty="0" smtClean="0">
                <a:latin typeface="+mj-lt"/>
              </a:rPr>
              <a:t>Hypoxemia may occur to some degree in any patient during the early recovery period</a:t>
            </a:r>
          </a:p>
          <a:p>
            <a:pPr lvl="1"/>
            <a:r>
              <a:rPr lang="en-US" dirty="0" smtClean="0">
                <a:latin typeface="+mj-lt"/>
              </a:rPr>
              <a:t>The majority of patients recovering after anesthesia require only a modest increase in FIO2 to overcome the combined effects of mild hypoventilation, diffusion hypoxia and some degree of increased V̇/Q </a:t>
            </a:r>
          </a:p>
          <a:p>
            <a:pPr lvl="1"/>
            <a:r>
              <a:rPr lang="en-US" dirty="0" smtClean="0">
                <a:latin typeface="+mj-lt"/>
              </a:rPr>
              <a:t>Consequently, all patients should receive additional oxygen for at least the first 10 min after general anesthesia has been discontinued</a:t>
            </a:r>
          </a:p>
          <a:p>
            <a:pPr lvl="1"/>
            <a:r>
              <a:rPr lang="en-US" dirty="0" smtClean="0">
                <a:latin typeface="+mj-lt"/>
              </a:rPr>
              <a:t>The choice of oxygen delivery system in the PACU is determined by the degree of hypoxemia, the surgical procedure, and patient compliance</a:t>
            </a:r>
          </a:p>
        </p:txBody>
      </p:sp>
      <p:sp>
        <p:nvSpPr>
          <p:cNvPr id="4" name="Slide Number Placeholder 3"/>
          <p:cNvSpPr>
            <a:spLocks noGrp="1"/>
          </p:cNvSpPr>
          <p:nvPr>
            <p:ph type="sldNum" sz="quarter" idx="12"/>
          </p:nvPr>
        </p:nvSpPr>
        <p:spPr/>
        <p:txBody>
          <a:bodyPr/>
          <a:lstStyle/>
          <a:p>
            <a:fld id="{3729D6FD-7D54-4FE7-AD94-F74F5883427C}" type="slidenum">
              <a:rPr lang="en-US" smtClean="0"/>
              <a:t>98</a:t>
            </a:fld>
            <a:endParaRPr lang="en-US"/>
          </a:p>
        </p:txBody>
      </p:sp>
    </p:spTree>
    <p:extLst>
      <p:ext uri="{BB962C8B-B14F-4D97-AF65-F5344CB8AC3E}">
        <p14:creationId xmlns:p14="http://schemas.microsoft.com/office/powerpoint/2010/main" val="3280510923"/>
      </p:ext>
    </p:extLst>
  </p:cSld>
  <p:clrMapOvr>
    <a:masterClrMapping/>
  </p:clrMapOvr>
  <p:timing>
    <p:tnLst>
      <p:par>
        <p:cTn id="1" dur="indefinite" restart="never" nodeType="tmRoot"/>
      </p:par>
    </p:tn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690688"/>
            <a:ext cx="10515600" cy="5167311"/>
          </a:xfrm>
        </p:spPr>
        <p:txBody>
          <a:bodyPr>
            <a:normAutofit fontScale="92500" lnSpcReduction="10000"/>
          </a:bodyPr>
          <a:lstStyle/>
          <a:p>
            <a:r>
              <a:rPr lang="en-US" dirty="0" smtClean="0">
                <a:latin typeface="+mj-lt"/>
              </a:rPr>
              <a:t>Patients who are status post head and neck surgery may not be candidates for facemask oxygen owing to the risk of pressure necrosis on incision sites and microvascular muscle ﬂaps</a:t>
            </a:r>
          </a:p>
          <a:p>
            <a:r>
              <a:rPr lang="en-US" dirty="0" smtClean="0">
                <a:latin typeface="+mj-lt"/>
              </a:rPr>
              <a:t>Oxygen therapy should be continued for a longer period in the presence of any of the following conditions:</a:t>
            </a:r>
          </a:p>
          <a:p>
            <a:pPr marL="457200" lvl="1" indent="0">
              <a:buNone/>
            </a:pPr>
            <a:r>
              <a:rPr lang="en-US" dirty="0" smtClean="0">
                <a:latin typeface="+mj-lt"/>
              </a:rPr>
              <a:t>• Hypotension</a:t>
            </a:r>
          </a:p>
          <a:p>
            <a:pPr marL="457200" lvl="1" indent="0">
              <a:buNone/>
            </a:pPr>
            <a:r>
              <a:rPr lang="en-US" dirty="0" smtClean="0">
                <a:latin typeface="+mj-lt"/>
              </a:rPr>
              <a:t>• Ischemic heart disease</a:t>
            </a:r>
          </a:p>
          <a:p>
            <a:pPr marL="457200" lvl="1" indent="0">
              <a:buNone/>
            </a:pPr>
            <a:r>
              <a:rPr lang="en-US" dirty="0" smtClean="0">
                <a:latin typeface="+mj-lt"/>
              </a:rPr>
              <a:t>• Reduced cardiac output</a:t>
            </a:r>
          </a:p>
          <a:p>
            <a:pPr marL="457200" lvl="1" indent="0">
              <a:buNone/>
            </a:pPr>
            <a:r>
              <a:rPr lang="en-US" dirty="0" smtClean="0">
                <a:latin typeface="+mj-lt"/>
              </a:rPr>
              <a:t>• Anemia</a:t>
            </a:r>
          </a:p>
          <a:p>
            <a:pPr marL="457200" lvl="1" indent="0">
              <a:buNone/>
            </a:pPr>
            <a:r>
              <a:rPr lang="en-US" dirty="0" smtClean="0">
                <a:latin typeface="+mj-lt"/>
              </a:rPr>
              <a:t>• Obesity</a:t>
            </a:r>
          </a:p>
          <a:p>
            <a:pPr marL="457200" lvl="1" indent="0">
              <a:buNone/>
            </a:pPr>
            <a:r>
              <a:rPr lang="en-US" dirty="0" smtClean="0">
                <a:latin typeface="+mj-lt"/>
              </a:rPr>
              <a:t>• Shivering</a:t>
            </a:r>
          </a:p>
          <a:p>
            <a:pPr marL="457200" lvl="1" indent="0">
              <a:buNone/>
            </a:pPr>
            <a:r>
              <a:rPr lang="en-US" dirty="0" smtClean="0">
                <a:latin typeface="+mj-lt"/>
              </a:rPr>
              <a:t>• Hypo- and hyperthermia</a:t>
            </a:r>
          </a:p>
          <a:p>
            <a:pPr marL="457200" lvl="1" indent="0">
              <a:buNone/>
            </a:pPr>
            <a:r>
              <a:rPr lang="en-US" dirty="0" smtClean="0">
                <a:latin typeface="+mj-lt"/>
              </a:rPr>
              <a:t>• Pulmonary edema</a:t>
            </a:r>
          </a:p>
          <a:p>
            <a:pPr marL="457200" lvl="1" indent="0">
              <a:buNone/>
            </a:pPr>
            <a:r>
              <a:rPr lang="en-US" dirty="0" smtClean="0">
                <a:latin typeface="+mj-lt"/>
              </a:rPr>
              <a:t>• Airway obstruction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99</a:t>
            </a:fld>
            <a:endParaRPr lang="en-US"/>
          </a:p>
        </p:txBody>
      </p:sp>
    </p:spTree>
    <p:extLst>
      <p:ext uri="{BB962C8B-B14F-4D97-AF65-F5344CB8AC3E}">
        <p14:creationId xmlns:p14="http://schemas.microsoft.com/office/powerpoint/2010/main" val="290575596"/>
      </p:ext>
    </p:extLst>
  </p:cSld>
  <p:clrMapOvr>
    <a:masterClrMapping/>
  </p:clrMapOvr>
  <p:timing>
    <p:tnLst>
      <p:par>
        <p:cTn id="1" dur="indefinite" restart="never" nodeType="tmRoot"/>
      </p:par>
    </p:tn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delivery of oxygen through a traditional nasal cannula with bubble humidifier is usually limited to a maximum ﬂow of 6 L/min to minimize the discomfort and complications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100</a:t>
            </a:fld>
            <a:endParaRPr lang="en-US"/>
          </a:p>
        </p:txBody>
      </p:sp>
    </p:spTree>
    <p:extLst>
      <p:ext uri="{BB962C8B-B14F-4D97-AF65-F5344CB8AC3E}">
        <p14:creationId xmlns:p14="http://schemas.microsoft.com/office/powerpoint/2010/main" val="3195472897"/>
      </p:ext>
    </p:extLst>
  </p:cSld>
  <p:clrMapOvr>
    <a:masterClrMapping/>
  </p:clrMapOvr>
  <p:timing>
    <p:tnLst>
      <p:par>
        <p:cTn id="1" dur="indefinite" restart="never" nodeType="tmRoot"/>
      </p:par>
    </p:tnLst>
  </p:timing>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3200" dirty="0" smtClean="0"/>
              <a:t>Cardiovascular Complications</a:t>
            </a:r>
            <a:endParaRPr lang="en-US" dirty="0"/>
          </a:p>
        </p:txBody>
      </p:sp>
      <p:sp>
        <p:nvSpPr>
          <p:cNvPr id="3" name="Content Placeholder 2"/>
          <p:cNvSpPr>
            <a:spLocks noGrp="1"/>
          </p:cNvSpPr>
          <p:nvPr>
            <p:ph idx="1"/>
          </p:nvPr>
        </p:nvSpPr>
        <p:spPr/>
        <p:txBody>
          <a:bodyPr>
            <a:normAutofit/>
          </a:bodyPr>
          <a:lstStyle/>
          <a:p>
            <a:r>
              <a:rPr lang="en-US" dirty="0" smtClean="0">
                <a:latin typeface="+mj-lt"/>
              </a:rPr>
              <a:t>In the PACU, some reflexes previously blunted by general anesthetics, sedatives, and opioids return toward baseline, revealing an unexpected cardiovascular compromise</a:t>
            </a:r>
          </a:p>
          <a:p>
            <a:r>
              <a:rPr lang="en-US" dirty="0" smtClean="0">
                <a:latin typeface="+mj-lt"/>
              </a:rPr>
              <a:t>Hemodynamic compromise in the PACU patient manifests in a number of ways (systemic hypertension, hypotension, tachycardia, or bradycardia) alone or in combination</a:t>
            </a:r>
          </a:p>
          <a:p>
            <a:r>
              <a:rPr lang="en-US" dirty="0" smtClean="0">
                <a:latin typeface="+mj-lt"/>
              </a:rPr>
              <a:t>Postoperative systemic hypertension and tachycardia are associated with an increased risk of unplanned critical care admission and a higher mortality than hypotension and bradycardia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101</a:t>
            </a:fld>
            <a:endParaRPr lang="en-US"/>
          </a:p>
        </p:txBody>
      </p:sp>
    </p:spTree>
    <p:extLst>
      <p:ext uri="{BB962C8B-B14F-4D97-AF65-F5344CB8AC3E}">
        <p14:creationId xmlns:p14="http://schemas.microsoft.com/office/powerpoint/2010/main" val="1826468151"/>
      </p:ext>
    </p:extLst>
  </p:cSld>
  <p:clrMapOvr>
    <a:masterClrMapping/>
  </p:clrMapOvr>
  <p:timing>
    <p:tnLst>
      <p:par>
        <p:cTn id="1" dur="indefinite" restart="never" nodeType="tmRoot"/>
      </p:par>
    </p:tn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Hypertension</a:t>
            </a:r>
          </a:p>
          <a:p>
            <a:pPr lvl="1">
              <a:buFont typeface="Wingdings" panose="05000000000000000000" pitchFamily="2" charset="2"/>
              <a:buChar char="Ø"/>
            </a:pPr>
            <a:r>
              <a:rPr lang="en-US" dirty="0" smtClean="0">
                <a:latin typeface="+mj-lt"/>
              </a:rPr>
              <a:t> Arterial hypertension is a common complication in the early postoperative period</a:t>
            </a:r>
          </a:p>
          <a:p>
            <a:pPr lvl="1">
              <a:buFont typeface="Wingdings" panose="05000000000000000000" pitchFamily="2" charset="2"/>
              <a:buChar char="Ø"/>
            </a:pPr>
            <a:r>
              <a:rPr lang="en-US" dirty="0" smtClean="0">
                <a:latin typeface="+mj-lt"/>
              </a:rPr>
              <a:t>Patients with a history of essential hypertension are at greatest risk for significant systemic hypertension in the PACU</a:t>
            </a:r>
          </a:p>
          <a:p>
            <a:pPr lvl="1">
              <a:buFont typeface="Wingdings" panose="05000000000000000000" pitchFamily="2" charset="2"/>
              <a:buChar char="Ø"/>
            </a:pPr>
            <a:r>
              <a:rPr lang="en-US" dirty="0" smtClean="0">
                <a:latin typeface="+mj-lt"/>
              </a:rPr>
              <a:t>The surgical procedures most commonly associated with postoperative hypertension are carotid endarterectomy and intracranial operations</a:t>
            </a:r>
          </a:p>
          <a:p>
            <a:pPr lvl="1">
              <a:buFont typeface="Wingdings" panose="05000000000000000000" pitchFamily="2" charset="2"/>
              <a:buChar char="Ø"/>
            </a:pPr>
            <a:r>
              <a:rPr lang="en-US" dirty="0" smtClean="0">
                <a:latin typeface="+mj-lt"/>
              </a:rPr>
              <a:t>A significant number of patients, especially those with a known history of hypertension, will require pharmacologic blood pressure control in the PACU</a:t>
            </a:r>
          </a:p>
        </p:txBody>
      </p:sp>
      <p:sp>
        <p:nvSpPr>
          <p:cNvPr id="4" name="Slide Number Placeholder 3"/>
          <p:cNvSpPr>
            <a:spLocks noGrp="1"/>
          </p:cNvSpPr>
          <p:nvPr>
            <p:ph type="sldNum" sz="quarter" idx="12"/>
          </p:nvPr>
        </p:nvSpPr>
        <p:spPr/>
        <p:txBody>
          <a:bodyPr/>
          <a:lstStyle/>
          <a:p>
            <a:fld id="{3729D6FD-7D54-4FE7-AD94-F74F5883427C}" type="slidenum">
              <a:rPr lang="en-US" smtClean="0"/>
              <a:t>102</a:t>
            </a:fld>
            <a:endParaRPr lang="en-US"/>
          </a:p>
        </p:txBody>
      </p:sp>
    </p:spTree>
    <p:extLst>
      <p:ext uri="{BB962C8B-B14F-4D97-AF65-F5344CB8AC3E}">
        <p14:creationId xmlns:p14="http://schemas.microsoft.com/office/powerpoint/2010/main" val="1330221382"/>
      </p:ext>
    </p:extLst>
  </p:cSld>
  <p:clrMapOvr>
    <a:masterClrMapping/>
  </p:clrMapOvr>
  <p:timing>
    <p:tnLst>
      <p:par>
        <p:cTn id="1" dur="indefinite" restart="never" nodeType="tmRoot"/>
      </p:par>
    </p:tn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b="0" i="0" dirty="0" smtClean="0">
                <a:solidFill>
                  <a:srgbClr val="000000"/>
                </a:solidFill>
                <a:effectLst/>
                <a:latin typeface="+mj-lt"/>
              </a:rPr>
              <a:t>Hypertension results in increased cardiac work and myocardial oxygen consumption and may result in myocardial ischemia, MI , left ventricular failure or cerebral hemorrhage</a:t>
            </a:r>
          </a:p>
          <a:p>
            <a:r>
              <a:rPr lang="en-US" b="0" i="0" dirty="0" smtClean="0">
                <a:solidFill>
                  <a:srgbClr val="000000"/>
                </a:solidFill>
                <a:effectLst/>
                <a:latin typeface="+mj-lt"/>
              </a:rPr>
              <a:t>A significant number of patients, especially those with a known history of hypertension, will require pharmacologic blood pressure control in the PACU</a:t>
            </a:r>
          </a:p>
          <a:p>
            <a:r>
              <a:rPr lang="en-US" b="0" i="0" dirty="0" smtClean="0">
                <a:solidFill>
                  <a:srgbClr val="000000"/>
                </a:solidFill>
                <a:effectLst/>
                <a:latin typeface="+mj-lt"/>
              </a:rPr>
              <a:t>The decision to treat hypertension requires consideration of the patient’s baseline blood pressure, coexisting diseases, and perceived risk of complications</a:t>
            </a:r>
          </a:p>
        </p:txBody>
      </p:sp>
      <p:sp>
        <p:nvSpPr>
          <p:cNvPr id="4" name="Slide Number Placeholder 3"/>
          <p:cNvSpPr>
            <a:spLocks noGrp="1"/>
          </p:cNvSpPr>
          <p:nvPr>
            <p:ph type="sldNum" sz="quarter" idx="12"/>
          </p:nvPr>
        </p:nvSpPr>
        <p:spPr/>
        <p:txBody>
          <a:bodyPr/>
          <a:lstStyle/>
          <a:p>
            <a:fld id="{3729D6FD-7D54-4FE7-AD94-F74F5883427C}" type="slidenum">
              <a:rPr lang="en-US" smtClean="0"/>
              <a:t>103</a:t>
            </a:fld>
            <a:endParaRPr lang="en-US"/>
          </a:p>
        </p:txBody>
      </p:sp>
    </p:spTree>
    <p:extLst>
      <p:ext uri="{BB962C8B-B14F-4D97-AF65-F5344CB8AC3E}">
        <p14:creationId xmlns:p14="http://schemas.microsoft.com/office/powerpoint/2010/main" val="995228301"/>
      </p:ext>
    </p:extLst>
  </p:cSld>
  <p:clrMapOvr>
    <a:masterClrMapping/>
  </p:clrMapOvr>
  <p:timing>
    <p:tnLst>
      <p:par>
        <p:cTn id="1" dur="indefinite" restart="never" nodeType="tmRoot"/>
      </p:par>
    </p:tn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Short-term control of blood pressure in the PACU is best accomplished with drugs that have a rapid onset and possess a short to intermediate duration of action</a:t>
            </a:r>
          </a:p>
          <a:p>
            <a:r>
              <a:rPr lang="en-US" dirty="0" smtClean="0">
                <a:latin typeface="+mj-lt"/>
              </a:rPr>
              <a:t>Intravenous agents such as labetalol, </a:t>
            </a:r>
            <a:r>
              <a:rPr lang="en-US" dirty="0" err="1" smtClean="0">
                <a:latin typeface="+mj-lt"/>
              </a:rPr>
              <a:t>esmolol</a:t>
            </a:r>
            <a:r>
              <a:rPr lang="en-US" dirty="0" smtClean="0">
                <a:latin typeface="+mj-lt"/>
              </a:rPr>
              <a:t>, propranolol, and hydralazine are commonly used for short-term control of blood pressure</a:t>
            </a:r>
          </a:p>
          <a:p>
            <a:r>
              <a:rPr lang="en-US" dirty="0" smtClean="0">
                <a:latin typeface="+mj-lt"/>
              </a:rPr>
              <a:t>For persistent or refractory hypertension, continuous infusions of vasodilators such as nitroprusside, nitroglycerin, </a:t>
            </a:r>
            <a:r>
              <a:rPr lang="en-US" dirty="0" err="1" smtClean="0">
                <a:latin typeface="+mj-lt"/>
              </a:rPr>
              <a:t>nicardipine</a:t>
            </a:r>
            <a:r>
              <a:rPr lang="en-US" dirty="0" smtClean="0">
                <a:latin typeface="+mj-lt"/>
              </a:rPr>
              <a:t>, or </a:t>
            </a:r>
            <a:r>
              <a:rPr lang="en-US" dirty="0" err="1" smtClean="0">
                <a:latin typeface="+mj-lt"/>
              </a:rPr>
              <a:t>fenoldopam</a:t>
            </a:r>
            <a:r>
              <a:rPr lang="en-US" dirty="0" smtClean="0">
                <a:latin typeface="+mj-lt"/>
              </a:rPr>
              <a:t> may be required</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104</a:t>
            </a:fld>
            <a:endParaRPr lang="en-US"/>
          </a:p>
        </p:txBody>
      </p:sp>
    </p:spTree>
    <p:extLst>
      <p:ext uri="{BB962C8B-B14F-4D97-AF65-F5344CB8AC3E}">
        <p14:creationId xmlns:p14="http://schemas.microsoft.com/office/powerpoint/2010/main" val="745640479"/>
      </p:ext>
    </p:extLst>
  </p:cSld>
  <p:clrMapOvr>
    <a:masterClrMapping/>
  </p:clrMapOvr>
  <p:timing>
    <p:tnLst>
      <p:par>
        <p:cTn id="1" dur="indefinite" restart="never" nodeType="tmRoot"/>
      </p:par>
    </p:tn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037230" y="436728"/>
            <a:ext cx="9949218" cy="6250675"/>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105</a:t>
            </a:fld>
            <a:endParaRPr lang="en-US"/>
          </a:p>
        </p:txBody>
      </p:sp>
    </p:spTree>
    <p:extLst>
      <p:ext uri="{BB962C8B-B14F-4D97-AF65-F5344CB8AC3E}">
        <p14:creationId xmlns:p14="http://schemas.microsoft.com/office/powerpoint/2010/main" val="3332785698"/>
      </p:ext>
    </p:extLst>
  </p:cSld>
  <p:clrMapOvr>
    <a:masterClrMapping/>
  </p:clrMapOvr>
  <p:timing>
    <p:tnLst>
      <p:par>
        <p:cTn id="1" dur="indefinite" restart="never" nodeType="tmRoot"/>
      </p:par>
    </p:tn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Hypotension </a:t>
            </a:r>
          </a:p>
          <a:p>
            <a:pPr lvl="1"/>
            <a:r>
              <a:rPr lang="en-US" dirty="0" smtClean="0">
                <a:latin typeface="+mj-lt"/>
              </a:rPr>
              <a:t>Systemic hypotension in the PACU is often due to decreased intravascular ﬂuid volume and preload</a:t>
            </a:r>
          </a:p>
          <a:p>
            <a:pPr lvl="1"/>
            <a:r>
              <a:rPr lang="en-US" dirty="0" smtClean="0">
                <a:latin typeface="+mj-lt"/>
              </a:rPr>
              <a:t>Up to 20% reduction in MAP from baseline is tolerated well, except by older patients or those with myocardial disease.</a:t>
            </a:r>
          </a:p>
          <a:p>
            <a:pPr lvl="1"/>
            <a:r>
              <a:rPr lang="en-US" dirty="0" smtClean="0">
                <a:latin typeface="+mj-lt"/>
              </a:rPr>
              <a:t>Common causes of decreased IV volume in the immediate postoperative period include third-space translocation of ﬂuid, inadequate intraoperative ﬂuid replacement (major intra-abdominal procedures or preoperative bowel preparation), and loss of SNS tone as a result of neuraxial blockade</a:t>
            </a:r>
          </a:p>
        </p:txBody>
      </p:sp>
      <p:sp>
        <p:nvSpPr>
          <p:cNvPr id="4" name="Slide Number Placeholder 3"/>
          <p:cNvSpPr>
            <a:spLocks noGrp="1"/>
          </p:cNvSpPr>
          <p:nvPr>
            <p:ph type="sldNum" sz="quarter" idx="12"/>
          </p:nvPr>
        </p:nvSpPr>
        <p:spPr/>
        <p:txBody>
          <a:bodyPr/>
          <a:lstStyle/>
          <a:p>
            <a:fld id="{3729D6FD-7D54-4FE7-AD94-F74F5883427C}" type="slidenum">
              <a:rPr lang="en-US" smtClean="0"/>
              <a:t>106</a:t>
            </a:fld>
            <a:endParaRPr lang="en-US"/>
          </a:p>
        </p:txBody>
      </p:sp>
    </p:spTree>
    <p:extLst>
      <p:ext uri="{BB962C8B-B14F-4D97-AF65-F5344CB8AC3E}">
        <p14:creationId xmlns:p14="http://schemas.microsoft.com/office/powerpoint/2010/main" val="1758365870"/>
      </p:ext>
    </p:extLst>
  </p:cSld>
  <p:clrMapOvr>
    <a:masterClrMapping/>
  </p:clrMapOvr>
  <p:timing>
    <p:tnLst>
      <p:par>
        <p:cTn id="1" dur="indefinite" restart="never" nodeType="tmRoot"/>
      </p:par>
    </p:tn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019869" y="327547"/>
            <a:ext cx="9280477" cy="6428096"/>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107</a:t>
            </a:fld>
            <a:endParaRPr lang="en-US"/>
          </a:p>
        </p:txBody>
      </p:sp>
    </p:spTree>
    <p:extLst>
      <p:ext uri="{BB962C8B-B14F-4D97-AF65-F5344CB8AC3E}">
        <p14:creationId xmlns:p14="http://schemas.microsoft.com/office/powerpoint/2010/main" val="3488347985"/>
      </p:ext>
    </p:extLst>
  </p:cSld>
  <p:clrMapOvr>
    <a:masterClrMapping/>
  </p:clrMapOvr>
  <p:timing>
    <p:tnLst>
      <p:par>
        <p:cTn id="1" dur="indefinite" restart="never" nodeType="tmRoot"/>
      </p:par>
    </p:tnLst>
  </p:timing>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Ongoing bleeding should be ruled out in hypotensive patients who have undergone a surgical procedure in which significant blood loss is possible</a:t>
            </a:r>
          </a:p>
          <a:p>
            <a:r>
              <a:rPr lang="en-US" dirty="0" smtClean="0">
                <a:latin typeface="+mj-lt"/>
              </a:rPr>
              <a:t>In most patients, the situation usually resolves comprises elevation of the legs and administration of appropriate crystalloid or colloid solutions</a:t>
            </a:r>
          </a:p>
          <a:p>
            <a:r>
              <a:rPr lang="en-US" dirty="0" smtClean="0">
                <a:latin typeface="+mj-lt"/>
              </a:rPr>
              <a:t>Infusion of 7–10ml/kg </a:t>
            </a:r>
            <a:r>
              <a:rPr lang="en-US" dirty="0" err="1" smtClean="0">
                <a:latin typeface="+mj-lt"/>
              </a:rPr>
              <a:t>i.v.</a:t>
            </a:r>
            <a:r>
              <a:rPr lang="en-US" dirty="0" smtClean="0">
                <a:latin typeface="+mj-lt"/>
              </a:rPr>
              <a:t> crystalloid or colloid is usually effective in restoring </a:t>
            </a:r>
            <a:r>
              <a:rPr lang="en-US" dirty="0" err="1" smtClean="0">
                <a:latin typeface="+mj-lt"/>
              </a:rPr>
              <a:t>normotension</a:t>
            </a:r>
            <a:r>
              <a:rPr lang="en-US" dirty="0" smtClean="0">
                <a:latin typeface="+mj-lt"/>
              </a:rPr>
              <a:t> if there is concern</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108</a:t>
            </a:fld>
            <a:endParaRPr lang="en-US"/>
          </a:p>
        </p:txBody>
      </p:sp>
    </p:spTree>
    <p:extLst>
      <p:ext uri="{BB962C8B-B14F-4D97-AF65-F5344CB8AC3E}">
        <p14:creationId xmlns:p14="http://schemas.microsoft.com/office/powerpoint/2010/main" val="3876962556"/>
      </p:ext>
    </p:extLst>
  </p:cSld>
  <p:clrMapOvr>
    <a:masterClrMapping/>
  </p:clrMapOvr>
  <p:timing>
    <p:tnLst>
      <p:par>
        <p:cTn id="1" dur="indefinite" restart="never" nodeType="tmRoot"/>
      </p:par>
    </p:tn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Arrhythmia</a:t>
            </a:r>
          </a:p>
          <a:p>
            <a:pPr lvl="1"/>
            <a:r>
              <a:rPr lang="en-US" dirty="0" smtClean="0">
                <a:latin typeface="+mj-lt"/>
              </a:rPr>
              <a:t>Arrhythmias are common during and immediately after anesthesia, although the majority are benign and require no treatment</a:t>
            </a:r>
          </a:p>
          <a:p>
            <a:pPr lvl="1"/>
            <a:r>
              <a:rPr lang="en-US" dirty="0" smtClean="0">
                <a:latin typeface="+mj-lt"/>
              </a:rPr>
              <a:t>The reported incidence of arrhythmias following major </a:t>
            </a:r>
            <a:r>
              <a:rPr lang="en-US" dirty="0" err="1" smtClean="0">
                <a:latin typeface="+mj-lt"/>
              </a:rPr>
              <a:t>noncardiothoracic</a:t>
            </a:r>
            <a:r>
              <a:rPr lang="en-US" dirty="0">
                <a:latin typeface="+mj-lt"/>
              </a:rPr>
              <a:t> </a:t>
            </a:r>
            <a:r>
              <a:rPr lang="en-US" dirty="0" smtClean="0">
                <a:latin typeface="+mj-lt"/>
              </a:rPr>
              <a:t>surgery ranges from 4% to 20%, depending on the type of surgery performed, the degree of cardiac monitoring undertaken, and the </a:t>
            </a:r>
            <a:r>
              <a:rPr lang="en-US" dirty="0" smtClean="0">
                <a:solidFill>
                  <a:srgbClr val="FF0000"/>
                </a:solidFill>
                <a:latin typeface="+mj-lt"/>
              </a:rPr>
              <a:t>type of arrhythmia studied</a:t>
            </a:r>
          </a:p>
          <a:p>
            <a:pPr lvl="1"/>
            <a:r>
              <a:rPr lang="en-US" dirty="0" smtClean="0">
                <a:latin typeface="+mj-lt"/>
              </a:rPr>
              <a:t>Most of the arrhythmias are atrial in origin, and most perioperative arrhythmias are benign</a:t>
            </a:r>
          </a:p>
          <a:p>
            <a:pPr marL="457200" lvl="1" indent="0">
              <a:buNone/>
            </a:pPr>
            <a:endParaRPr lang="en-US" dirty="0" smtClean="0">
              <a:latin typeface="+mj-lt"/>
            </a:endParaRPr>
          </a:p>
          <a:p>
            <a:pPr lvl="1"/>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109</a:t>
            </a:fld>
            <a:endParaRPr lang="en-US"/>
          </a:p>
        </p:txBody>
      </p:sp>
    </p:spTree>
    <p:extLst>
      <p:ext uri="{BB962C8B-B14F-4D97-AF65-F5344CB8AC3E}">
        <p14:creationId xmlns:p14="http://schemas.microsoft.com/office/powerpoint/2010/main" val="3837451471"/>
      </p:ext>
    </p:extLst>
  </p:cSld>
  <p:clrMapOvr>
    <a:masterClrMapping/>
  </p:clrMapOvr>
  <p:timing>
    <p:tnLst>
      <p:par>
        <p:cTn id="1" dur="indefinite" restart="never" nodeType="tmRoot"/>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incidence of new postoperative atrial dysrhythmias may be as high as 10% after major no cardiothoracic surgery</a:t>
            </a:r>
          </a:p>
          <a:p>
            <a:r>
              <a:rPr lang="en-US" dirty="0" smtClean="0">
                <a:latin typeface="+mj-lt"/>
              </a:rPr>
              <a:t>The clinical significance of an arrhythmia depends on the patient’s underlying cardiac function</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110</a:t>
            </a:fld>
            <a:endParaRPr lang="en-US"/>
          </a:p>
        </p:txBody>
      </p:sp>
    </p:spTree>
    <p:extLst>
      <p:ext uri="{BB962C8B-B14F-4D97-AF65-F5344CB8AC3E}">
        <p14:creationId xmlns:p14="http://schemas.microsoft.com/office/powerpoint/2010/main" val="2104589031"/>
      </p:ext>
    </p:extLst>
  </p:cSld>
  <p:clrMapOvr>
    <a:masterClrMapping/>
  </p:clrMapOvr>
  <p:timing>
    <p:tnLst>
      <p:par>
        <p:cTn id="1" dur="indefinite" restart="never" nodeType="tmRoot"/>
      </p:par>
    </p:tnLst>
  </p:timing>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Ventricular arrhythmias consist of ventricular premature beats, ventricular tachycardia, and ventricular fibrillation</a:t>
            </a:r>
          </a:p>
          <a:p>
            <a:r>
              <a:rPr lang="en-US" dirty="0" smtClean="0">
                <a:latin typeface="+mj-lt"/>
              </a:rPr>
              <a:t>Premature ventricular contractions (PVCs) and ventricular </a:t>
            </a:r>
            <a:r>
              <a:rPr lang="en-US" dirty="0" err="1" smtClean="0">
                <a:latin typeface="+mj-lt"/>
              </a:rPr>
              <a:t>bigeminy</a:t>
            </a:r>
            <a:r>
              <a:rPr lang="en-US" dirty="0" smtClean="0">
                <a:latin typeface="+mj-lt"/>
              </a:rPr>
              <a:t> occur commonly in the PACU</a:t>
            </a:r>
          </a:p>
          <a:p>
            <a:r>
              <a:rPr lang="en-US" dirty="0" smtClean="0">
                <a:latin typeface="+mj-lt"/>
              </a:rPr>
              <a:t>PVCs most often reﬂect increased sympathetic nervous system stimulation that may accompany tracheal intubation, pain, and transient hypercapnia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111</a:t>
            </a:fld>
            <a:endParaRPr lang="en-US"/>
          </a:p>
        </p:txBody>
      </p:sp>
    </p:spTree>
    <p:extLst>
      <p:ext uri="{BB962C8B-B14F-4D97-AF65-F5344CB8AC3E}">
        <p14:creationId xmlns:p14="http://schemas.microsoft.com/office/powerpoint/2010/main" val="1599919302"/>
      </p:ext>
    </p:extLst>
  </p:cSld>
  <p:clrMapOvr>
    <a:masterClrMapping/>
  </p:clrMapOvr>
  <p:timing>
    <p:tnLst>
      <p:par>
        <p:cTn id="1" dur="indefinite" restart="never" nodeType="tmRoot"/>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Tachyarrhythmia's are classified according to their anatomic origin as supraventricular or ventricular. </a:t>
            </a:r>
          </a:p>
          <a:p>
            <a:r>
              <a:rPr lang="en-US" dirty="0" smtClean="0">
                <a:latin typeface="+mj-lt"/>
              </a:rPr>
              <a:t>Supraventricular arrhythmias include sinus tachycardia, atrial fibrillation and flutter</a:t>
            </a:r>
          </a:p>
          <a:p>
            <a:r>
              <a:rPr lang="en-US" dirty="0" smtClean="0">
                <a:latin typeface="+mj-lt"/>
              </a:rPr>
              <a:t>Sinus tachycardia is the most common arrhythmia in the immediate postoperative period. Increased sympathetic discharge resulting from pain, hypovolemia, anemia, anxiety, hypoxia, and hypercarbia are common causes</a:t>
            </a:r>
          </a:p>
        </p:txBody>
      </p:sp>
      <p:sp>
        <p:nvSpPr>
          <p:cNvPr id="4" name="Slide Number Placeholder 3"/>
          <p:cNvSpPr>
            <a:spLocks noGrp="1"/>
          </p:cNvSpPr>
          <p:nvPr>
            <p:ph type="sldNum" sz="quarter" idx="12"/>
          </p:nvPr>
        </p:nvSpPr>
        <p:spPr/>
        <p:txBody>
          <a:bodyPr/>
          <a:lstStyle/>
          <a:p>
            <a:fld id="{3729D6FD-7D54-4FE7-AD94-F74F5883427C}" type="slidenum">
              <a:rPr lang="en-US" smtClean="0"/>
              <a:t>112</a:t>
            </a:fld>
            <a:endParaRPr lang="en-US"/>
          </a:p>
        </p:txBody>
      </p:sp>
    </p:spTree>
    <p:extLst>
      <p:ext uri="{BB962C8B-B14F-4D97-AF65-F5344CB8AC3E}">
        <p14:creationId xmlns:p14="http://schemas.microsoft.com/office/powerpoint/2010/main" val="3317536083"/>
      </p:ext>
    </p:extLst>
  </p:cSld>
  <p:clrMapOvr>
    <a:masterClrMapping/>
  </p:clrMapOvr>
  <p:timing>
    <p:tnLst>
      <p:par>
        <p:cTn id="1" dur="indefinite" restart="never" nodeType="tmRoot"/>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Sinus tachycardia usually is benign; however, it may precipitate myocardial ischemia in a patient with coronary artery disease</a:t>
            </a:r>
          </a:p>
          <a:p>
            <a:r>
              <a:rPr lang="en-US" dirty="0" smtClean="0">
                <a:latin typeface="+mj-lt"/>
              </a:rPr>
              <a:t>Treatment of the underlying cause(s) (</a:t>
            </a:r>
            <a:r>
              <a:rPr lang="en-US" dirty="0" err="1" smtClean="0">
                <a:latin typeface="+mj-lt"/>
              </a:rPr>
              <a:t>eg</a:t>
            </a:r>
            <a:r>
              <a:rPr lang="en-US" dirty="0" smtClean="0">
                <a:latin typeface="+mj-lt"/>
              </a:rPr>
              <a:t>, analgesics for pain, fluids for hypovolemia, sedatives for anxiety) usually is adequate for resolution.</a:t>
            </a:r>
          </a:p>
          <a:p>
            <a:r>
              <a:rPr lang="en-US" dirty="0" smtClean="0">
                <a:latin typeface="+mj-lt"/>
              </a:rPr>
              <a:t>In patients at risk for myocardial ischemia, β-blockade usually is effective in reducing the heart rate</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113</a:t>
            </a:fld>
            <a:endParaRPr lang="en-US"/>
          </a:p>
        </p:txBody>
      </p:sp>
    </p:spTree>
    <p:extLst>
      <p:ext uri="{BB962C8B-B14F-4D97-AF65-F5344CB8AC3E}">
        <p14:creationId xmlns:p14="http://schemas.microsoft.com/office/powerpoint/2010/main" val="598628199"/>
      </p:ext>
    </p:extLst>
  </p:cSld>
  <p:clrMapOvr>
    <a:masterClrMapping/>
  </p:clrMapOvr>
  <p:timing>
    <p:tnLst>
      <p:par>
        <p:cTn id="1" dur="indefinite" restart="never" nodeType="tmRoot"/>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Supraventricular </a:t>
            </a:r>
            <a:r>
              <a:rPr lang="en-US" dirty="0" err="1" smtClean="0">
                <a:latin typeface="+mj-lt"/>
              </a:rPr>
              <a:t>tachyarrhythmias</a:t>
            </a:r>
            <a:r>
              <a:rPr lang="en-US" dirty="0" smtClean="0">
                <a:latin typeface="+mj-lt"/>
              </a:rPr>
              <a:t> are more common after thoracic surgery than after other types of </a:t>
            </a:r>
            <a:r>
              <a:rPr lang="en-US" dirty="0" err="1" smtClean="0">
                <a:latin typeface="+mj-lt"/>
              </a:rPr>
              <a:t>noncardiac</a:t>
            </a:r>
            <a:r>
              <a:rPr lang="en-US" dirty="0" smtClean="0">
                <a:latin typeface="+mj-lt"/>
              </a:rPr>
              <a:t> surgery with a reported incidence of ≥13%</a:t>
            </a:r>
          </a:p>
          <a:p>
            <a:r>
              <a:rPr lang="en-US" dirty="0" smtClean="0">
                <a:latin typeface="+mj-lt"/>
              </a:rPr>
              <a:t> In these patients, preoperative β-blockers should be continued </a:t>
            </a:r>
            <a:r>
              <a:rPr lang="en-US" dirty="0" err="1" smtClean="0">
                <a:latin typeface="+mj-lt"/>
              </a:rPr>
              <a:t>postopratively</a:t>
            </a:r>
            <a:r>
              <a:rPr lang="en-US" dirty="0" smtClean="0">
                <a:latin typeface="+mj-lt"/>
              </a:rPr>
              <a:t>, and prophylaxis with calcium channel blockers significantly reduces the occurrence of atrial fibrillation</a:t>
            </a:r>
          </a:p>
          <a:p>
            <a:r>
              <a:rPr lang="en-US" dirty="0" smtClean="0">
                <a:latin typeface="+mj-lt"/>
              </a:rPr>
              <a:t>Atrial fibrillation is the most common supraventricular arrhythmia after either cardiac or </a:t>
            </a:r>
            <a:r>
              <a:rPr lang="en-US" dirty="0" err="1" smtClean="0">
                <a:latin typeface="+mj-lt"/>
              </a:rPr>
              <a:t>noncardiac</a:t>
            </a:r>
            <a:r>
              <a:rPr lang="en-US" dirty="0" smtClean="0">
                <a:latin typeface="+mj-lt"/>
              </a:rPr>
              <a:t> surgery and has the greatest potential for serious consequences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114</a:t>
            </a:fld>
            <a:endParaRPr lang="en-US"/>
          </a:p>
        </p:txBody>
      </p:sp>
    </p:spTree>
    <p:extLst>
      <p:ext uri="{BB962C8B-B14F-4D97-AF65-F5344CB8AC3E}">
        <p14:creationId xmlns:p14="http://schemas.microsoft.com/office/powerpoint/2010/main" val="2449541744"/>
      </p:ext>
    </p:extLst>
  </p:cSld>
  <p:clrMapOvr>
    <a:masterClrMapping/>
  </p:clrMapOvr>
  <p:timing>
    <p:tnLst>
      <p:par>
        <p:cTn id="1" dur="indefinite" restart="never" nodeType="tmRoot"/>
      </p:par>
    </p:tnLst>
  </p:timing>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In hemodynamically stable patients, β-blockers, calcium channel blockers, or amiodarone are alternatives for rate control</a:t>
            </a:r>
          </a:p>
          <a:p>
            <a:r>
              <a:rPr lang="en-US" dirty="0" smtClean="0">
                <a:latin typeface="+mj-lt"/>
              </a:rPr>
              <a:t>Bradycardia usually is associated with sinus node or atrioventricular node dysfunction</a:t>
            </a:r>
          </a:p>
          <a:p>
            <a:r>
              <a:rPr lang="en-US" dirty="0" smtClean="0">
                <a:latin typeface="+mj-lt"/>
              </a:rPr>
              <a:t>In the postoperative setting, bradycardia is often due to increased vagal tone as a result of hypoxemia, pain, nausea, drugs (</a:t>
            </a:r>
            <a:r>
              <a:rPr lang="en-US" dirty="0" err="1" smtClean="0">
                <a:latin typeface="+mj-lt"/>
              </a:rPr>
              <a:t>eg</a:t>
            </a:r>
            <a:r>
              <a:rPr lang="en-US" dirty="0" smtClean="0">
                <a:latin typeface="+mj-lt"/>
              </a:rPr>
              <a:t>, neostigmine, </a:t>
            </a:r>
            <a:r>
              <a:rPr lang="el-GR" dirty="0" smtClean="0">
                <a:latin typeface="+mj-lt"/>
              </a:rPr>
              <a:t>β-</a:t>
            </a:r>
            <a:r>
              <a:rPr lang="en-US" dirty="0" smtClean="0">
                <a:latin typeface="+mj-lt"/>
              </a:rPr>
              <a:t>blockers, </a:t>
            </a:r>
            <a:r>
              <a:rPr lang="en-US" dirty="0" err="1" smtClean="0">
                <a:latin typeface="+mj-lt"/>
              </a:rPr>
              <a:t>dexmedetomidine</a:t>
            </a:r>
            <a:r>
              <a:rPr lang="en-US" dirty="0" smtClean="0">
                <a:latin typeface="+mj-lt"/>
              </a:rPr>
              <a:t> or opioids) or the effects of neuraxial anesthesia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115</a:t>
            </a:fld>
            <a:endParaRPr lang="en-US"/>
          </a:p>
        </p:txBody>
      </p:sp>
    </p:spTree>
    <p:extLst>
      <p:ext uri="{BB962C8B-B14F-4D97-AF65-F5344CB8AC3E}">
        <p14:creationId xmlns:p14="http://schemas.microsoft.com/office/powerpoint/2010/main" val="1662112259"/>
      </p:ext>
    </p:extLst>
  </p:cSld>
  <p:clrMapOvr>
    <a:masterClrMapping/>
  </p:clrMapOvr>
  <p:timing>
    <p:tnLst>
      <p:par>
        <p:cTn id="1" dur="indefinite" restart="never" nodeType="tmRoot"/>
      </p:par>
    </p:tnLst>
  </p:timing>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 Sinus bradycardia can be a normal rhythm in a young healthy patient. Bradycardia without hypotension usually is benign and no treatment is necessary</a:t>
            </a:r>
          </a:p>
          <a:p>
            <a:r>
              <a:rPr lang="en-US" dirty="0" smtClean="0">
                <a:latin typeface="+mj-lt"/>
              </a:rPr>
              <a:t>If bradycardia is associated with hemodynamic compromise (hypotension, low cardiac output), treatment with </a:t>
            </a:r>
            <a:r>
              <a:rPr lang="en-US" dirty="0" err="1" smtClean="0">
                <a:latin typeface="+mj-lt"/>
              </a:rPr>
              <a:t>antimuscarinic</a:t>
            </a:r>
            <a:r>
              <a:rPr lang="en-US" dirty="0" smtClean="0">
                <a:latin typeface="+mj-lt"/>
              </a:rPr>
              <a:t> agents (</a:t>
            </a:r>
            <a:r>
              <a:rPr lang="en-US" dirty="0" err="1" smtClean="0">
                <a:latin typeface="+mj-lt"/>
              </a:rPr>
              <a:t>glycopyrrolate</a:t>
            </a:r>
            <a:r>
              <a:rPr lang="en-US" dirty="0" smtClean="0">
                <a:latin typeface="+mj-lt"/>
              </a:rPr>
              <a:t> or atropine) or </a:t>
            </a:r>
            <a:r>
              <a:rPr lang="el-GR" dirty="0" smtClean="0">
                <a:latin typeface="+mj-lt"/>
              </a:rPr>
              <a:t>β-</a:t>
            </a:r>
            <a:r>
              <a:rPr lang="en-US" dirty="0" smtClean="0">
                <a:latin typeface="+mj-lt"/>
              </a:rPr>
              <a:t>agonists (ephedrine) can restore normal sinus rhythm</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116</a:t>
            </a:fld>
            <a:endParaRPr lang="en-US"/>
          </a:p>
        </p:txBody>
      </p:sp>
    </p:spTree>
    <p:extLst>
      <p:ext uri="{BB962C8B-B14F-4D97-AF65-F5344CB8AC3E}">
        <p14:creationId xmlns:p14="http://schemas.microsoft.com/office/powerpoint/2010/main" val="3039926399"/>
      </p:ext>
    </p:extLst>
  </p:cSld>
  <p:clrMapOvr>
    <a:masterClrMapping/>
  </p:clrMapOvr>
  <p:timing>
    <p:tnLst>
      <p:par>
        <p:cTn id="1" dur="indefinite" restart="never" nodeType="tmRoot"/>
      </p:par>
    </p:tnLst>
  </p:timing>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Renal complications</a:t>
            </a:r>
            <a:endParaRPr lang="en-US" sz="3200" dirty="0"/>
          </a:p>
        </p:txBody>
      </p:sp>
      <p:sp>
        <p:nvSpPr>
          <p:cNvPr id="3" name="Content Placeholder 2"/>
          <p:cNvSpPr>
            <a:spLocks noGrp="1"/>
          </p:cNvSpPr>
          <p:nvPr>
            <p:ph idx="1"/>
          </p:nvPr>
        </p:nvSpPr>
        <p:spPr/>
        <p:txBody>
          <a:bodyPr/>
          <a:lstStyle/>
          <a:p>
            <a:r>
              <a:rPr lang="en-US" dirty="0" smtClean="0">
                <a:latin typeface="+mj-lt"/>
              </a:rPr>
              <a:t>The diﬀerential diagnosis of postoperative renal dysfunction includes prerenal, intrarenal, and </a:t>
            </a:r>
            <a:r>
              <a:rPr lang="en-US" dirty="0" err="1" smtClean="0">
                <a:latin typeface="+mj-lt"/>
              </a:rPr>
              <a:t>postrenal</a:t>
            </a:r>
            <a:r>
              <a:rPr lang="en-US" dirty="0" smtClean="0">
                <a:latin typeface="+mj-lt"/>
              </a:rPr>
              <a:t> causes</a:t>
            </a:r>
          </a:p>
          <a:p>
            <a:r>
              <a:rPr lang="en-US" dirty="0">
                <a:latin typeface="+mj-lt"/>
              </a:rPr>
              <a:t>T</a:t>
            </a:r>
            <a:r>
              <a:rPr lang="en-US" dirty="0" smtClean="0">
                <a:latin typeface="+mj-lt"/>
              </a:rPr>
              <a:t>he cause is multifactorial, with a preexisting renal insufficiency that is exacerbated by an intraoperative insult</a:t>
            </a:r>
          </a:p>
          <a:p>
            <a:r>
              <a:rPr lang="en-US" dirty="0" smtClean="0">
                <a:latin typeface="+mj-lt"/>
              </a:rPr>
              <a:t>Oliguria, defined as a urine output of &lt;0.5 mL kg-1 hour -1, is a frequent postoperative occurrence</a:t>
            </a:r>
          </a:p>
          <a:p>
            <a:r>
              <a:rPr lang="en-US" dirty="0" smtClean="0">
                <a:latin typeface="+mj-lt"/>
              </a:rPr>
              <a:t>In the PACU, diagnostic eﬀorts should focus on identification and treatment of the readily reversible causes of oliguria (urine output &lt; 0.5 mL/kg/</a:t>
            </a:r>
            <a:r>
              <a:rPr lang="en-US" dirty="0" err="1" smtClean="0">
                <a:latin typeface="+mj-lt"/>
              </a:rPr>
              <a:t>hr</a:t>
            </a:r>
            <a:r>
              <a:rPr lang="en-US" dirty="0" smtClean="0">
                <a:latin typeface="+mj-lt"/>
              </a:rPr>
              <a:t>).</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117</a:t>
            </a:fld>
            <a:endParaRPr lang="en-US"/>
          </a:p>
        </p:txBody>
      </p:sp>
    </p:spTree>
    <p:extLst>
      <p:ext uri="{BB962C8B-B14F-4D97-AF65-F5344CB8AC3E}">
        <p14:creationId xmlns:p14="http://schemas.microsoft.com/office/powerpoint/2010/main" val="91654648"/>
      </p:ext>
    </p:extLst>
  </p:cSld>
  <p:clrMapOvr>
    <a:masterClrMapping/>
  </p:clrMapOvr>
  <p:timing>
    <p:tnLst>
      <p:par>
        <p:cTn id="1" dur="indefinite" restart="never" nodeType="tmRoot"/>
      </p:par>
    </p:tnLst>
  </p:timing>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 most common cause of oliguria in the immediate postoperative period is depletion of intravascular ﬂuid volume. </a:t>
            </a:r>
          </a:p>
          <a:p>
            <a:r>
              <a:rPr lang="en-US" dirty="0" smtClean="0">
                <a:latin typeface="+mj-lt"/>
              </a:rPr>
              <a:t>In this regard, a ﬂuid challenge (500 to 1000 mL of crystalloid) is usually eﬀective in restoring urine output</a:t>
            </a:r>
          </a:p>
          <a:p>
            <a:r>
              <a:rPr lang="en-US" dirty="0" smtClean="0">
                <a:latin typeface="+mj-lt"/>
              </a:rPr>
              <a:t>Volume resuscitation to maximize renal perfusion is particularly important to prevent ongoing ischemic injury and the development of acute tubular necrosis</a:t>
            </a:r>
          </a:p>
          <a:p>
            <a:r>
              <a:rPr lang="en-US" dirty="0" smtClean="0">
                <a:latin typeface="+mj-lt"/>
              </a:rPr>
              <a:t>The stress response of surgery also increases antidiuretic hormone (ADH), which can lead to decreased urine output</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118</a:t>
            </a:fld>
            <a:endParaRPr lang="en-US"/>
          </a:p>
        </p:txBody>
      </p:sp>
    </p:spTree>
    <p:extLst>
      <p:ext uri="{BB962C8B-B14F-4D97-AF65-F5344CB8AC3E}">
        <p14:creationId xmlns:p14="http://schemas.microsoft.com/office/powerpoint/2010/main" val="2660173331"/>
      </p:ext>
    </p:extLst>
  </p:cSld>
  <p:clrMapOvr>
    <a:masterClrMapping/>
  </p:clrMapOvr>
  <p:timing>
    <p:tnLst>
      <p:par>
        <p:cTn id="1" dur="indefinite" restart="never" nodeType="tmRoot"/>
      </p:par>
    </p:tnLst>
  </p:timing>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Persistent oliguria despite hydration, adequate perfusion pressure, and a furosemide challenge increases the likelihood of ATN, ureteral obstruction, renal artery or vein occlusion, or inappropriate ADH secretion</a:t>
            </a:r>
          </a:p>
          <a:p>
            <a:r>
              <a:rPr lang="en-US" dirty="0" smtClean="0">
                <a:latin typeface="+mj-lt"/>
              </a:rPr>
              <a:t>Postoperative bladder distension with associated </a:t>
            </a:r>
            <a:r>
              <a:rPr lang="en-US" dirty="0" smtClean="0">
                <a:solidFill>
                  <a:srgbClr val="FF0000"/>
                </a:solidFill>
                <a:latin typeface="+mj-lt"/>
              </a:rPr>
              <a:t>urinary retention </a:t>
            </a:r>
            <a:r>
              <a:rPr lang="en-US" dirty="0" smtClean="0">
                <a:latin typeface="+mj-lt"/>
              </a:rPr>
              <a:t>is common after anesthesia and surgery, reported incidence of between 5% and 70%</a:t>
            </a:r>
          </a:p>
          <a:p>
            <a:r>
              <a:rPr lang="en-US" dirty="0" smtClean="0">
                <a:latin typeface="+mj-lt"/>
              </a:rPr>
              <a:t>Urinary retention is common after urologic, inguinal, and genital surgery, and retention frequently delays discharge</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119</a:t>
            </a:fld>
            <a:endParaRPr lang="en-US"/>
          </a:p>
        </p:txBody>
      </p:sp>
    </p:spTree>
    <p:extLst>
      <p:ext uri="{BB962C8B-B14F-4D97-AF65-F5344CB8AC3E}">
        <p14:creationId xmlns:p14="http://schemas.microsoft.com/office/powerpoint/2010/main" val="2837731504"/>
      </p:ext>
    </p:extLst>
  </p:cSld>
  <p:clrMapOvr>
    <a:masterClrMapping/>
  </p:clrMapOvr>
  <p:timing>
    <p:tnLst>
      <p:par>
        <p:cTn id="1" dur="indefinite" restart="never" nodeType="tmRoot"/>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Postoperative urinary retention can cause bladder over distention and permanent detrusor damage</a:t>
            </a:r>
          </a:p>
          <a:p>
            <a:r>
              <a:rPr lang="en-US" dirty="0" smtClean="0">
                <a:latin typeface="+mj-lt"/>
              </a:rPr>
              <a:t>The most significant predictive factors were age older than 50 years, intraoperative ﬂuid more than 750 mL, and bladder volume on entry to PACU greater than 270 mL</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120</a:t>
            </a:fld>
            <a:endParaRPr lang="en-US"/>
          </a:p>
        </p:txBody>
      </p:sp>
    </p:spTree>
    <p:extLst>
      <p:ext uri="{BB962C8B-B14F-4D97-AF65-F5344CB8AC3E}">
        <p14:creationId xmlns:p14="http://schemas.microsoft.com/office/powerpoint/2010/main" val="2626951627"/>
      </p:ext>
    </p:extLst>
  </p:cSld>
  <p:clrMapOvr>
    <a:masterClrMapping/>
  </p:clrMapOvr>
  <p:timing>
    <p:tnLst>
      <p:par>
        <p:cTn id="1" dur="indefinite" restart="never" nodeType="tmRoot"/>
      </p:par>
    </p:tnLst>
  </p:timing>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CNS complications</a:t>
            </a:r>
            <a:endParaRPr lang="en-US" sz="3200" dirty="0"/>
          </a:p>
        </p:txBody>
      </p:sp>
      <p:sp>
        <p:nvSpPr>
          <p:cNvPr id="3" name="Content Placeholder 2"/>
          <p:cNvSpPr>
            <a:spLocks noGrp="1"/>
          </p:cNvSpPr>
          <p:nvPr>
            <p:ph idx="1"/>
          </p:nvPr>
        </p:nvSpPr>
        <p:spPr/>
        <p:txBody>
          <a:bodyPr/>
          <a:lstStyle/>
          <a:p>
            <a:r>
              <a:rPr lang="en-US" dirty="0" smtClean="0">
                <a:latin typeface="+mj-lt"/>
              </a:rPr>
              <a:t>Many patients arrive in PACU with a depressed level of consciousness, ranging from mild disorientation to confusion, agitation, and coma</a:t>
            </a:r>
          </a:p>
          <a:p>
            <a:r>
              <a:rPr lang="en-US" dirty="0">
                <a:latin typeface="+mj-lt"/>
              </a:rPr>
              <a:t>P</a:t>
            </a:r>
            <a:r>
              <a:rPr lang="en-US" dirty="0" smtClean="0">
                <a:latin typeface="+mj-lt"/>
              </a:rPr>
              <a:t>atients sometimes exhibit inappropriate mental reactions, ranging from lethargy and confusion to physical combativeness and extreme disorientation</a:t>
            </a:r>
          </a:p>
          <a:p>
            <a:r>
              <a:rPr lang="en-US" dirty="0" smtClean="0">
                <a:latin typeface="+mj-lt"/>
              </a:rPr>
              <a:t>Usually this is attributable to the residual effects of anesthetic, sedative, and analgesic medications but may be the result of </a:t>
            </a:r>
            <a:r>
              <a:rPr lang="en-US" dirty="0" smtClean="0">
                <a:solidFill>
                  <a:srgbClr val="FF0000"/>
                </a:solidFill>
                <a:latin typeface="+mj-lt"/>
              </a:rPr>
              <a:t>pathological conditions or deranged physiology</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121</a:t>
            </a:fld>
            <a:endParaRPr lang="en-US"/>
          </a:p>
        </p:txBody>
      </p:sp>
    </p:spTree>
    <p:extLst>
      <p:ext uri="{BB962C8B-B14F-4D97-AF65-F5344CB8AC3E}">
        <p14:creationId xmlns:p14="http://schemas.microsoft.com/office/powerpoint/2010/main" val="3415591453"/>
      </p:ext>
    </p:extLst>
  </p:cSld>
  <p:clrMapOvr>
    <a:masterClrMapping/>
  </p:clrMapOvr>
  <p:timing>
    <p:tnLst>
      <p:par>
        <p:cTn id="1" dur="indefinite" restart="never" nodeType="tmRoot"/>
      </p:par>
    </p:tnLst>
  </p:timing>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119115" y="450376"/>
            <a:ext cx="10467833" cy="5726587"/>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122</a:t>
            </a:fld>
            <a:endParaRPr lang="en-US"/>
          </a:p>
        </p:txBody>
      </p:sp>
    </p:spTree>
    <p:extLst>
      <p:ext uri="{BB962C8B-B14F-4D97-AF65-F5344CB8AC3E}">
        <p14:creationId xmlns:p14="http://schemas.microsoft.com/office/powerpoint/2010/main" val="3759067818"/>
      </p:ext>
    </p:extLst>
  </p:cSld>
  <p:clrMapOvr>
    <a:masterClrMapping/>
  </p:clrMapOvr>
  <p:timing>
    <p:tnLst>
      <p:par>
        <p:cTn id="1" dur="indefinite" restart="never" nodeType="tmRoot"/>
      </p:par>
    </p:tnLst>
  </p:timing>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928048" y="423080"/>
            <a:ext cx="10058399" cy="6434919"/>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123</a:t>
            </a:fld>
            <a:endParaRPr lang="en-US"/>
          </a:p>
        </p:txBody>
      </p:sp>
    </p:spTree>
    <p:extLst>
      <p:ext uri="{BB962C8B-B14F-4D97-AF65-F5344CB8AC3E}">
        <p14:creationId xmlns:p14="http://schemas.microsoft.com/office/powerpoint/2010/main" val="2142511049"/>
      </p:ext>
    </p:extLst>
  </p:cSld>
  <p:clrMapOvr>
    <a:masterClrMapping/>
  </p:clrMapOvr>
  <p:timing>
    <p:tnLst>
      <p:par>
        <p:cTn id="1" dur="indefinite" restart="never" nodeType="tmRoot"/>
      </p:par>
    </p:tnLst>
  </p:timing>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Postoperative delirium: is a transient, fluctuating disturbance of consciousness, attention, cognition, and perception</a:t>
            </a:r>
          </a:p>
          <a:p>
            <a:r>
              <a:rPr lang="en-US" dirty="0" smtClean="0">
                <a:latin typeface="+mj-lt"/>
              </a:rPr>
              <a:t>It is a common problem in the PACU with a reported incidence in adults of 3-5%</a:t>
            </a:r>
          </a:p>
          <a:p>
            <a:r>
              <a:rPr lang="en-US" dirty="0" smtClean="0">
                <a:latin typeface="+mj-lt"/>
              </a:rPr>
              <a:t>The delirious patient often is hypertensive and </a:t>
            </a:r>
            <a:r>
              <a:rPr lang="en-US" dirty="0" err="1" smtClean="0">
                <a:latin typeface="+mj-lt"/>
              </a:rPr>
              <a:t>tachycardic</a:t>
            </a:r>
            <a:r>
              <a:rPr lang="en-US" dirty="0" smtClean="0">
                <a:latin typeface="+mj-lt"/>
              </a:rPr>
              <a:t>, and the accompanying agitation can have serious consequences, including trauma; disruption of suture lines or surgical repairs; and accidental removal of catheters, tubes, and drains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124</a:t>
            </a:fld>
            <a:endParaRPr lang="en-US"/>
          </a:p>
        </p:txBody>
      </p:sp>
    </p:spTree>
    <p:extLst>
      <p:ext uri="{BB962C8B-B14F-4D97-AF65-F5344CB8AC3E}">
        <p14:creationId xmlns:p14="http://schemas.microsoft.com/office/powerpoint/2010/main" val="756125362"/>
      </p:ext>
    </p:extLst>
  </p:cSld>
  <p:clrMapOvr>
    <a:masterClrMapping/>
  </p:clrMapOvr>
  <p:timing>
    <p:tnLst>
      <p:par>
        <p:cTn id="1" dur="indefinite" restart="never" nodeType="tmRoot"/>
      </p:par>
    </p:tnLst>
  </p:timing>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Postoperative delirium is more common in the elderly and may delay recovery and prolong hospital stay</a:t>
            </a:r>
          </a:p>
          <a:p>
            <a:r>
              <a:rPr lang="en-US" dirty="0" smtClean="0">
                <a:latin typeface="+mj-lt"/>
              </a:rPr>
              <a:t>Other preoperative risk factors include organic brain disease, withdrawal from alcohol and sedatives, anxiety, and depression</a:t>
            </a:r>
          </a:p>
          <a:p>
            <a:r>
              <a:rPr lang="en-US" dirty="0" smtClean="0">
                <a:latin typeface="+mj-lt"/>
              </a:rPr>
              <a:t>Intraoperative risk factors include specific types of surgery (</a:t>
            </a:r>
            <a:r>
              <a:rPr lang="en-US" dirty="0" err="1" smtClean="0">
                <a:latin typeface="+mj-lt"/>
              </a:rPr>
              <a:t>eg</a:t>
            </a:r>
            <a:r>
              <a:rPr lang="en-US" dirty="0" smtClean="0">
                <a:latin typeface="+mj-lt"/>
              </a:rPr>
              <a:t>, cardiac, orthopedic, ophthalmologic) and administration of certain drugs (</a:t>
            </a:r>
            <a:r>
              <a:rPr lang="en-US" dirty="0" err="1" smtClean="0">
                <a:latin typeface="+mj-lt"/>
              </a:rPr>
              <a:t>eg</a:t>
            </a:r>
            <a:r>
              <a:rPr lang="en-US" dirty="0" smtClean="0">
                <a:latin typeface="+mj-lt"/>
              </a:rPr>
              <a:t>, anticholinergics, barbiturates, benzodiazepines). </a:t>
            </a:r>
          </a:p>
          <a:p>
            <a:r>
              <a:rPr lang="en-US" dirty="0" smtClean="0">
                <a:latin typeface="+mj-lt"/>
              </a:rPr>
              <a:t>Perioperative hypoxemia, hypotension, and sepsis are believed to be risk factors</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125</a:t>
            </a:fld>
            <a:endParaRPr lang="en-US"/>
          </a:p>
        </p:txBody>
      </p:sp>
    </p:spTree>
    <p:extLst>
      <p:ext uri="{BB962C8B-B14F-4D97-AF65-F5344CB8AC3E}">
        <p14:creationId xmlns:p14="http://schemas.microsoft.com/office/powerpoint/2010/main" val="434394900"/>
      </p:ext>
    </p:extLst>
  </p:cSld>
  <p:clrMapOvr>
    <a:masterClrMapping/>
  </p:clrMapOvr>
  <p:timing>
    <p:tnLst>
      <p:par>
        <p:cTn id="1" dur="indefinite" restart="never" nodeType="tmRoot"/>
      </p:par>
    </p:tnLst>
  </p:timing>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first priority in management of postoperative delirium is to rule out physiologic causes, including hypoxemia, hypotension, and </a:t>
            </a:r>
            <a:r>
              <a:rPr lang="en-US" dirty="0" err="1" smtClean="0">
                <a:latin typeface="+mj-lt"/>
              </a:rPr>
              <a:t>acidemia</a:t>
            </a:r>
            <a:r>
              <a:rPr lang="en-US" dirty="0" smtClean="0">
                <a:latin typeface="+mj-lt"/>
              </a:rPr>
              <a:t>. </a:t>
            </a:r>
          </a:p>
          <a:p>
            <a:r>
              <a:rPr lang="en-US" dirty="0" smtClean="0">
                <a:latin typeface="+mj-lt"/>
              </a:rPr>
              <a:t>Postoperative pain often plays a significant role and should be treated adequately.</a:t>
            </a:r>
          </a:p>
          <a:p>
            <a:r>
              <a:rPr lang="en-US" dirty="0" smtClean="0">
                <a:latin typeface="+mj-lt"/>
              </a:rPr>
              <a:t>Other treatable causes include hypoglycemia, electrolyte disturbances, sepsis, and sensory overload. </a:t>
            </a:r>
          </a:p>
          <a:p>
            <a:r>
              <a:rPr lang="en-US" dirty="0" smtClean="0">
                <a:latin typeface="+mj-lt"/>
              </a:rPr>
              <a:t>Bladder or gastric distension, or other nonsurgical pain sources (</a:t>
            </a:r>
            <a:r>
              <a:rPr lang="en-US" dirty="0" err="1" smtClean="0">
                <a:latin typeface="+mj-lt"/>
              </a:rPr>
              <a:t>eg</a:t>
            </a:r>
            <a:r>
              <a:rPr lang="en-US" dirty="0" smtClean="0">
                <a:latin typeface="+mj-lt"/>
              </a:rPr>
              <a:t>, corneal abrasion, infiltrated IV, poor positioning) should be excluded</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126</a:t>
            </a:fld>
            <a:endParaRPr lang="en-US"/>
          </a:p>
        </p:txBody>
      </p:sp>
    </p:spTree>
    <p:extLst>
      <p:ext uri="{BB962C8B-B14F-4D97-AF65-F5344CB8AC3E}">
        <p14:creationId xmlns:p14="http://schemas.microsoft.com/office/powerpoint/2010/main" val="3479723848"/>
      </p:ext>
    </p:extLst>
  </p:cSld>
  <p:clrMapOvr>
    <a:masterClrMapping/>
  </p:clrMapOvr>
  <p:timing>
    <p:tnLst>
      <p:par>
        <p:cTn id="1" dur="indefinite" restart="never" nodeType="tmRoot"/>
      </p:par>
    </p:tnLst>
  </p:timing>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Delirium should be treated supportively with verbal reassurance that the surgery is over and that the patient is doing well. </a:t>
            </a:r>
          </a:p>
          <a:p>
            <a:r>
              <a:rPr lang="en-US" dirty="0" smtClean="0">
                <a:latin typeface="+mj-lt"/>
              </a:rPr>
              <a:t>Elimination of environmental noise, allowing the patient to sleep, and reorientation efforts should be employed</a:t>
            </a:r>
          </a:p>
          <a:p>
            <a:r>
              <a:rPr lang="en-US" dirty="0" smtClean="0">
                <a:latin typeface="+mj-lt"/>
              </a:rPr>
              <a:t>Medications may be indicated in some circumstances; </a:t>
            </a:r>
            <a:r>
              <a:rPr lang="en-US" dirty="0" err="1" smtClean="0">
                <a:latin typeface="+mj-lt"/>
              </a:rPr>
              <a:t>physostigmine</a:t>
            </a:r>
            <a:r>
              <a:rPr lang="en-US" dirty="0" smtClean="0">
                <a:latin typeface="+mj-lt"/>
              </a:rPr>
              <a:t> is helpful when delirium is believed to be the result of central anticholinergic drugs such as scopolamine. </a:t>
            </a:r>
          </a:p>
          <a:p>
            <a:r>
              <a:rPr lang="en-US" dirty="0" smtClean="0">
                <a:latin typeface="+mj-lt"/>
              </a:rPr>
              <a:t>Haloperidol is the most widely used agent to treat severe agitation in the patient with delirium</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127</a:t>
            </a:fld>
            <a:endParaRPr lang="en-US"/>
          </a:p>
        </p:txBody>
      </p:sp>
    </p:spTree>
    <p:extLst>
      <p:ext uri="{BB962C8B-B14F-4D97-AF65-F5344CB8AC3E}">
        <p14:creationId xmlns:p14="http://schemas.microsoft.com/office/powerpoint/2010/main" val="401542033"/>
      </p:ext>
    </p:extLst>
  </p:cSld>
  <p:clrMapOvr>
    <a:masterClrMapping/>
  </p:clrMapOvr>
  <p:timing>
    <p:tnLst>
      <p:par>
        <p:cTn id="1" dur="indefinite" restart="never" nodeType="tmRoot"/>
      </p:par>
    </p:tnLst>
  </p:timing>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Postoperative cognitive dysfunction (POCD ) can be usefully defined as a ‘long-term, possibly permanent, disabling deterioration in cognitive function following surgery</a:t>
            </a:r>
          </a:p>
          <a:p>
            <a:r>
              <a:rPr lang="en-US" dirty="0" smtClean="0">
                <a:latin typeface="+mj-lt"/>
              </a:rPr>
              <a:t>Patients exhibit fluctuations in level of consciousness and orientation, or deterioration of memory, mental functions, and acquisition of new information</a:t>
            </a:r>
          </a:p>
          <a:p>
            <a:r>
              <a:rPr lang="en-US" dirty="0" smtClean="0">
                <a:latin typeface="+mj-lt"/>
              </a:rPr>
              <a:t>The proposed causes of POCD include emboli, perioperative physiological disturbance and pre-existing cognitive impairment. </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128</a:t>
            </a:fld>
            <a:endParaRPr lang="en-US"/>
          </a:p>
        </p:txBody>
      </p:sp>
    </p:spTree>
    <p:extLst>
      <p:ext uri="{BB962C8B-B14F-4D97-AF65-F5344CB8AC3E}">
        <p14:creationId xmlns:p14="http://schemas.microsoft.com/office/powerpoint/2010/main" val="1790220923"/>
      </p:ext>
    </p:extLst>
  </p:cSld>
  <p:clrMapOvr>
    <a:masterClrMapping/>
  </p:clrMapOvr>
  <p:timing>
    <p:tnLst>
      <p:par>
        <p:cTn id="1" dur="indefinite" restart="never" nodeType="tmRoot"/>
      </p:par>
    </p:tnLst>
  </p:timing>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fontScale="92500" lnSpcReduction="10000"/>
          </a:bodyPr>
          <a:lstStyle/>
          <a:p>
            <a:r>
              <a:rPr lang="en-US" dirty="0" smtClean="0">
                <a:latin typeface="+mj-lt"/>
              </a:rPr>
              <a:t>A number of risk factors for POCD have been identified</a:t>
            </a:r>
          </a:p>
          <a:p>
            <a:r>
              <a:rPr lang="en-US" dirty="0" smtClean="0">
                <a:latin typeface="+mj-lt"/>
              </a:rPr>
              <a:t>Early POCD</a:t>
            </a:r>
          </a:p>
          <a:p>
            <a:pPr lvl="1">
              <a:buFont typeface="Wingdings" panose="05000000000000000000" pitchFamily="2" charset="2"/>
              <a:buChar char="ü"/>
            </a:pPr>
            <a:r>
              <a:rPr lang="en-US" sz="2600" dirty="0" smtClean="0">
                <a:latin typeface="+mj-lt"/>
              </a:rPr>
              <a:t>Increasing age</a:t>
            </a:r>
          </a:p>
          <a:p>
            <a:pPr lvl="1">
              <a:buFont typeface="Wingdings" panose="05000000000000000000" pitchFamily="2" charset="2"/>
              <a:buChar char="ü"/>
            </a:pPr>
            <a:r>
              <a:rPr lang="en-US" sz="2600" dirty="0" smtClean="0">
                <a:latin typeface="+mj-lt"/>
              </a:rPr>
              <a:t>General anesthesia</a:t>
            </a:r>
          </a:p>
          <a:p>
            <a:pPr lvl="1">
              <a:buFont typeface="Wingdings" panose="05000000000000000000" pitchFamily="2" charset="2"/>
              <a:buChar char="ü"/>
            </a:pPr>
            <a:r>
              <a:rPr lang="en-US" sz="2600" dirty="0" smtClean="0">
                <a:latin typeface="+mj-lt"/>
              </a:rPr>
              <a:t>Increasing duration of anesthesia</a:t>
            </a:r>
          </a:p>
          <a:p>
            <a:pPr lvl="1">
              <a:buFont typeface="Wingdings" panose="05000000000000000000" pitchFamily="2" charset="2"/>
              <a:buChar char="ü"/>
            </a:pPr>
            <a:r>
              <a:rPr lang="en-US" sz="2600" dirty="0" smtClean="0">
                <a:latin typeface="+mj-lt"/>
              </a:rPr>
              <a:t>Respiratory complication</a:t>
            </a:r>
          </a:p>
          <a:p>
            <a:pPr lvl="1">
              <a:buFont typeface="Wingdings" panose="05000000000000000000" pitchFamily="2" charset="2"/>
              <a:buChar char="ü"/>
            </a:pPr>
            <a:r>
              <a:rPr lang="en-US" sz="2600" dirty="0" smtClean="0">
                <a:latin typeface="+mj-lt"/>
              </a:rPr>
              <a:t>Lower level of education</a:t>
            </a:r>
          </a:p>
          <a:p>
            <a:pPr lvl="1">
              <a:buFont typeface="Wingdings" panose="05000000000000000000" pitchFamily="2" charset="2"/>
              <a:buChar char="ü"/>
            </a:pPr>
            <a:r>
              <a:rPr lang="en-US" sz="2600" dirty="0" smtClean="0">
                <a:latin typeface="+mj-lt"/>
              </a:rPr>
              <a:t>Reoperation</a:t>
            </a:r>
          </a:p>
          <a:p>
            <a:pPr lvl="1">
              <a:buFont typeface="Wingdings" panose="05000000000000000000" pitchFamily="2" charset="2"/>
              <a:buChar char="ü"/>
            </a:pPr>
            <a:r>
              <a:rPr lang="en-US" sz="2600" dirty="0" smtClean="0">
                <a:latin typeface="+mj-lt"/>
              </a:rPr>
              <a:t>Postoperative infection</a:t>
            </a:r>
          </a:p>
          <a:p>
            <a:r>
              <a:rPr lang="en-US" dirty="0" smtClean="0">
                <a:latin typeface="+mj-lt"/>
              </a:rPr>
              <a:t>Prolonged POCD (months)</a:t>
            </a:r>
          </a:p>
          <a:p>
            <a:pPr lvl="1">
              <a:buFont typeface="Wingdings" panose="05000000000000000000" pitchFamily="2" charset="2"/>
              <a:buChar char="ü"/>
            </a:pPr>
            <a:r>
              <a:rPr lang="en-US" sz="2600" dirty="0" smtClean="0">
                <a:latin typeface="+mj-lt"/>
              </a:rPr>
              <a:t> Increasing age</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129</a:t>
            </a:fld>
            <a:endParaRPr lang="en-US"/>
          </a:p>
        </p:txBody>
      </p:sp>
    </p:spTree>
    <p:extLst>
      <p:ext uri="{BB962C8B-B14F-4D97-AF65-F5344CB8AC3E}">
        <p14:creationId xmlns:p14="http://schemas.microsoft.com/office/powerpoint/2010/main" val="3058974800"/>
      </p:ext>
    </p:extLst>
  </p:cSld>
  <p:clrMapOvr>
    <a:masterClrMapping/>
  </p:clrMapOvr>
  <p:timing>
    <p:tnLst>
      <p:par>
        <p:cTn id="1" dur="indefinite" restart="never" nodeType="tmRoot"/>
      </p:par>
    </p:tnLst>
  </p:timing>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Delayed awakening: after prolonged surgery and anesthesia, a response to stimulation in 60 to 90 minutes should occur</a:t>
            </a:r>
          </a:p>
          <a:p>
            <a:r>
              <a:rPr lang="en-US" dirty="0" smtClean="0">
                <a:latin typeface="+mj-lt"/>
              </a:rPr>
              <a:t>When delayed awakening occurs, it is important to evaluate the vital signs (systemic arterial blood pressure, arterial oxygenation, ECG, body temperature) and perform a neurologic examination</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130</a:t>
            </a:fld>
            <a:endParaRPr lang="en-US"/>
          </a:p>
        </p:txBody>
      </p:sp>
    </p:spTree>
    <p:extLst>
      <p:ext uri="{BB962C8B-B14F-4D97-AF65-F5344CB8AC3E}">
        <p14:creationId xmlns:p14="http://schemas.microsoft.com/office/powerpoint/2010/main" val="1826614401"/>
      </p:ext>
    </p:extLst>
  </p:cSld>
  <p:clrMapOvr>
    <a:masterClrMapping/>
  </p:clrMapOvr>
  <p:timing>
    <p:tnLst>
      <p:par>
        <p:cTn id="1" dur="indefinite" restart="never" nodeType="tmRoot"/>
      </p:par>
    </p:tnLst>
  </p:timing>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The major causes of delayed awakening after general anesthesia can be divided into three groups: </a:t>
            </a:r>
          </a:p>
          <a:p>
            <a:pPr lvl="1"/>
            <a:r>
              <a:rPr lang="en-US" dirty="0" smtClean="0">
                <a:latin typeface="+mj-lt"/>
              </a:rPr>
              <a:t>(1) pharmacologic effects, </a:t>
            </a:r>
          </a:p>
          <a:p>
            <a:pPr lvl="1"/>
            <a:r>
              <a:rPr lang="en-US" dirty="0" smtClean="0">
                <a:latin typeface="+mj-lt"/>
              </a:rPr>
              <a:t>(2) metabolic abnormalities</a:t>
            </a:r>
          </a:p>
          <a:p>
            <a:pPr lvl="1"/>
            <a:r>
              <a:rPr lang="en-US" dirty="0" smtClean="0">
                <a:latin typeface="+mj-lt"/>
              </a:rPr>
              <a:t>(3) neurologic injury</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131</a:t>
            </a:fld>
            <a:endParaRPr lang="en-US"/>
          </a:p>
        </p:txBody>
      </p:sp>
    </p:spTree>
    <p:extLst>
      <p:ext uri="{BB962C8B-B14F-4D97-AF65-F5344CB8AC3E}">
        <p14:creationId xmlns:p14="http://schemas.microsoft.com/office/powerpoint/2010/main" val="2729578625"/>
      </p:ext>
    </p:extLst>
  </p:cSld>
  <p:clrMapOvr>
    <a:masterClrMapping/>
  </p:clrMapOvr>
  <p:timing>
    <p:tnLst>
      <p:par>
        <p:cTn id="1" dur="indefinite" restart="never" nodeType="tmRoot"/>
      </p:par>
    </p:tnLst>
  </p:timing>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 residual effects of anesthetic drugs are the most common cause of delayed awakening.</a:t>
            </a:r>
          </a:p>
          <a:p>
            <a:r>
              <a:rPr lang="en-US" dirty="0" smtClean="0">
                <a:latin typeface="+mj-lt"/>
              </a:rPr>
              <a:t>It is important to obtain information on the patient’s preoperative level of consciousness, the timing and dosage of administered sedatives and opioids, and use of volatile anesthetics and muscle relaxants</a:t>
            </a:r>
          </a:p>
          <a:p>
            <a:r>
              <a:rPr lang="en-US" dirty="0" smtClean="0">
                <a:latin typeface="+mj-lt"/>
              </a:rPr>
              <a:t>Volatile anesthetics, especially those with high solubility, are more likely to result in delayed awakening after longer procedures or in obese patients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132</a:t>
            </a:fld>
            <a:endParaRPr lang="en-US"/>
          </a:p>
        </p:txBody>
      </p:sp>
    </p:spTree>
    <p:extLst>
      <p:ext uri="{BB962C8B-B14F-4D97-AF65-F5344CB8AC3E}">
        <p14:creationId xmlns:p14="http://schemas.microsoft.com/office/powerpoint/2010/main" val="495963340"/>
      </p:ext>
    </p:extLst>
  </p:cSld>
  <p:clrMapOvr>
    <a:masterClrMapping/>
  </p:clrMapOvr>
  <p:timing>
    <p:tnLst>
      <p:par>
        <p:cTn id="1" dur="indefinite" restart="never" nodeType="tmRoot"/>
      </p:par>
    </p:tnLst>
  </p:timing>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If residual eﬀects of opioids are a possible cause of delayed awakening, it is appropriate to administer carefully titrated intravenous doses of naloxone (20- to 40-µg increments in adults)</a:t>
            </a:r>
          </a:p>
          <a:p>
            <a:r>
              <a:rPr lang="en-US" dirty="0" smtClean="0">
                <a:latin typeface="+mj-lt"/>
              </a:rPr>
              <a:t>Physiostigmine may be eﬀective in reversing the central nervous system sedative eﬀects of anticholinergic drugs (especially scopolamine). </a:t>
            </a:r>
          </a:p>
          <a:p>
            <a:r>
              <a:rPr lang="en-US" dirty="0" smtClean="0">
                <a:latin typeface="+mj-lt"/>
              </a:rPr>
              <a:t>Flumazenil is a specific antagonist for the residual depressant eﬀects of benzodiazepines</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133</a:t>
            </a:fld>
            <a:endParaRPr lang="en-US"/>
          </a:p>
        </p:txBody>
      </p:sp>
    </p:spTree>
    <p:extLst>
      <p:ext uri="{BB962C8B-B14F-4D97-AF65-F5344CB8AC3E}">
        <p14:creationId xmlns:p14="http://schemas.microsoft.com/office/powerpoint/2010/main" val="370127278"/>
      </p:ext>
    </p:extLst>
  </p:cSld>
  <p:clrMapOvr>
    <a:masterClrMapping/>
  </p:clrMapOvr>
  <p:timing>
    <p:tnLst>
      <p:par>
        <p:cTn id="1" dur="indefinite" restart="never" nodeType="tmRoot"/>
      </p:par>
    </p:tnLst>
  </p:timing>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Metabolic causes of delayed awakening include hypoxemia, hypercapnia, hepatic, renal or endocrine dysfunction, and glucose and electrolyte abnormalities</a:t>
            </a:r>
          </a:p>
          <a:p>
            <a:r>
              <a:rPr lang="en-US" dirty="0" smtClean="0">
                <a:latin typeface="+mj-lt"/>
              </a:rPr>
              <a:t>Hypoglycemia should be considered early, and 50% dextrose should be administered immediately if hypoglycemia is suspected.</a:t>
            </a:r>
          </a:p>
          <a:p>
            <a:r>
              <a:rPr lang="en-US" dirty="0" smtClean="0">
                <a:latin typeface="+mj-lt"/>
              </a:rPr>
              <a:t>Hyperglycemia, resulting in hyperosmolar coma or diabetic ketoacidosis, can reduce level of consciousness</a:t>
            </a:r>
          </a:p>
          <a:p>
            <a:r>
              <a:rPr lang="en-US" dirty="0" smtClean="0">
                <a:latin typeface="+mj-lt"/>
              </a:rPr>
              <a:t>Profound hypothermia (&lt;33°C) can cause unconsciousness and increase the sedative effects of anesthetics. Extreme hypothermia can cause fixed dilated pupils and </a:t>
            </a:r>
            <a:r>
              <a:rPr lang="en-US" dirty="0" err="1" smtClean="0">
                <a:latin typeface="+mj-lt"/>
              </a:rPr>
              <a:t>areflexia</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134</a:t>
            </a:fld>
            <a:endParaRPr lang="en-US"/>
          </a:p>
        </p:txBody>
      </p:sp>
    </p:spTree>
    <p:extLst>
      <p:ext uri="{BB962C8B-B14F-4D97-AF65-F5344CB8AC3E}">
        <p14:creationId xmlns:p14="http://schemas.microsoft.com/office/powerpoint/2010/main" val="370298352"/>
      </p:ext>
    </p:extLst>
  </p:cSld>
  <p:clrMapOvr>
    <a:masterClrMapping/>
  </p:clrMapOvr>
  <p:timing>
    <p:tnLst>
      <p:par>
        <p:cTn id="1" dur="indefinite" restart="never" nodeType="tmRoot"/>
      </p:par>
    </p:tnLst>
  </p:timing>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If the diagnosis remains uncertain and </a:t>
            </a:r>
            <a:r>
              <a:rPr lang="en-US" dirty="0" err="1" smtClean="0">
                <a:latin typeface="+mj-lt"/>
              </a:rPr>
              <a:t>delayance</a:t>
            </a:r>
            <a:r>
              <a:rPr lang="en-US" dirty="0" smtClean="0">
                <a:latin typeface="+mj-lt"/>
              </a:rPr>
              <a:t> persists, neurologic consultation should be sought. </a:t>
            </a:r>
          </a:p>
          <a:p>
            <a:r>
              <a:rPr lang="en-US" dirty="0" smtClean="0">
                <a:latin typeface="+mj-lt"/>
              </a:rPr>
              <a:t>Urgent radiologic imaging [CT, MRI] can be performed to rule out an intracranial process, including stroke, hemorrhage, or hypoxic injury</a:t>
            </a:r>
          </a:p>
          <a:p>
            <a:r>
              <a:rPr lang="en-US" dirty="0" smtClean="0">
                <a:latin typeface="+mj-lt"/>
              </a:rPr>
              <a:t>Patients often are slow to awaken after long intracranial procedures; however, consideration should be given to the occurrence of complications such as ICH or increased ICP</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135</a:t>
            </a:fld>
            <a:endParaRPr lang="en-US"/>
          </a:p>
        </p:txBody>
      </p:sp>
    </p:spTree>
    <p:extLst>
      <p:ext uri="{BB962C8B-B14F-4D97-AF65-F5344CB8AC3E}">
        <p14:creationId xmlns:p14="http://schemas.microsoft.com/office/powerpoint/2010/main" val="3013061995"/>
      </p:ext>
    </p:extLst>
  </p:cSld>
  <p:clrMapOvr>
    <a:masterClrMapping/>
  </p:clrMapOvr>
  <p:timing>
    <p:tnLst>
      <p:par>
        <p:cTn id="1" dur="indefinite" restart="never" nodeType="tmRoot"/>
      </p:par>
    </p:tnLst>
  </p:timing>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PONV</a:t>
            </a:r>
            <a:endParaRPr lang="en-US" sz="3200" dirty="0"/>
          </a:p>
        </p:txBody>
      </p:sp>
      <p:sp>
        <p:nvSpPr>
          <p:cNvPr id="3" name="Content Placeholder 2"/>
          <p:cNvSpPr>
            <a:spLocks noGrp="1"/>
          </p:cNvSpPr>
          <p:nvPr>
            <p:ph idx="1"/>
          </p:nvPr>
        </p:nvSpPr>
        <p:spPr/>
        <p:txBody>
          <a:bodyPr/>
          <a:lstStyle/>
          <a:p>
            <a:r>
              <a:rPr lang="en-US" dirty="0" smtClean="0">
                <a:latin typeface="+mj-lt"/>
              </a:rPr>
              <a:t>Postoperative nausea and vomiting (PONV) is common following general anesthesia, occurring in 30% to 40% of all patients</a:t>
            </a:r>
          </a:p>
          <a:p>
            <a:r>
              <a:rPr lang="en-US" dirty="0" smtClean="0">
                <a:latin typeface="+mj-lt"/>
              </a:rPr>
              <a:t>Roughly, one third of patients who undergo inhalational anesthesia will develop PONV</a:t>
            </a:r>
          </a:p>
          <a:p>
            <a:r>
              <a:rPr lang="en-US" dirty="0" smtClean="0">
                <a:latin typeface="+mj-lt"/>
              </a:rPr>
              <a:t>Moreover, PONV occurs at home within 24 </a:t>
            </a:r>
            <a:r>
              <a:rPr lang="en-US" dirty="0" err="1" smtClean="0">
                <a:latin typeface="+mj-lt"/>
              </a:rPr>
              <a:t>hr</a:t>
            </a:r>
            <a:r>
              <a:rPr lang="en-US" dirty="0" smtClean="0">
                <a:latin typeface="+mj-lt"/>
              </a:rPr>
              <a:t> of an uneventful discharge (post discharge nausea and vomiting) in a significant number of ambulatory surgery patients</a:t>
            </a:r>
          </a:p>
          <a:p>
            <a:endParaRPr lang="en-US" dirty="0" smtClean="0">
              <a:latin typeface="+mj-lt"/>
            </a:endParaRP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136</a:t>
            </a:fld>
            <a:endParaRPr lang="en-US"/>
          </a:p>
        </p:txBody>
      </p:sp>
    </p:spTree>
    <p:extLst>
      <p:ext uri="{BB962C8B-B14F-4D97-AF65-F5344CB8AC3E}">
        <p14:creationId xmlns:p14="http://schemas.microsoft.com/office/powerpoint/2010/main" val="1908474884"/>
      </p:ext>
    </p:extLst>
  </p:cSld>
  <p:clrMapOvr>
    <a:masterClrMapping/>
  </p:clrMapOvr>
  <p:timing>
    <p:tnLst>
      <p:par>
        <p:cTn id="1" dur="indefinite" restart="never" nodeType="tmRoot"/>
      </p:par>
    </p:tnLst>
  </p:timing>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The etiology of PONV is usually multifactorial and associated with anesthetic and analgesic agents, the type of surgical procedure, and intrinsic patient factors, such as a history of motion sickness</a:t>
            </a:r>
          </a:p>
          <a:p>
            <a:r>
              <a:rPr lang="en-US" dirty="0" smtClean="0">
                <a:latin typeface="+mj-lt"/>
              </a:rPr>
              <a:t>It is also important to recognize that nausea is a common complaint reported at the onset of hypotension, particularly following spinal or epidural anesthesia</a:t>
            </a:r>
          </a:p>
          <a:p>
            <a:r>
              <a:rPr lang="en-US" dirty="0" smtClean="0">
                <a:latin typeface="+mj-lt"/>
              </a:rPr>
              <a:t>The consequences of PONV include delayed discharge from the PACU, unanticipated hospital admission, increased incidence of pulmonary aspiration, and significant postoperative discomfort. </a:t>
            </a:r>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137</a:t>
            </a:fld>
            <a:endParaRPr lang="en-US"/>
          </a:p>
        </p:txBody>
      </p:sp>
    </p:spTree>
    <p:extLst>
      <p:ext uri="{BB962C8B-B14F-4D97-AF65-F5344CB8AC3E}">
        <p14:creationId xmlns:p14="http://schemas.microsoft.com/office/powerpoint/2010/main" val="2219287082"/>
      </p:ext>
    </p:extLst>
  </p:cSld>
  <p:clrMapOvr>
    <a:masterClrMapping/>
  </p:clrMapOvr>
  <p:timing>
    <p:tnLst>
      <p:par>
        <p:cTn id="1" dur="indefinite" restart="never" nodeType="tmRoot"/>
      </p:par>
    </p:tnLst>
  </p:timing>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2320119" y="545910"/>
            <a:ext cx="7888406" cy="6312090"/>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138</a:t>
            </a:fld>
            <a:endParaRPr lang="en-US"/>
          </a:p>
        </p:txBody>
      </p:sp>
    </p:spTree>
    <p:extLst>
      <p:ext uri="{BB962C8B-B14F-4D97-AF65-F5344CB8AC3E}">
        <p14:creationId xmlns:p14="http://schemas.microsoft.com/office/powerpoint/2010/main" val="2297179376"/>
      </p:ext>
    </p:extLst>
  </p:cSld>
  <p:clrMapOvr>
    <a:masterClrMapping/>
  </p:clrMapOvr>
  <p:timing>
    <p:tnLst>
      <p:par>
        <p:cTn id="1" dur="indefinite" restart="never" nodeType="tmRoot"/>
      </p:par>
    </p:tnLst>
  </p:timing>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a:xfrm>
            <a:off x="838200" y="1825624"/>
            <a:ext cx="10515600" cy="4902721"/>
          </a:xfrm>
        </p:spPr>
        <p:txBody>
          <a:bodyPr>
            <a:normAutofit/>
          </a:bodyPr>
          <a:lstStyle/>
          <a:p>
            <a:r>
              <a:rPr lang="en-US" dirty="0" smtClean="0">
                <a:latin typeface="+mj-lt"/>
              </a:rPr>
              <a:t>The ability to identify high-risk patients for prophylactic intervention can significantly improve the quality of patient care and satisfaction in the PACU</a:t>
            </a:r>
          </a:p>
          <a:p>
            <a:r>
              <a:rPr lang="en-US" dirty="0" smtClean="0">
                <a:latin typeface="+mj-lt"/>
              </a:rPr>
              <a:t>Prophylactic measures to prevent PONV include modification of anesthetic technique and pharmacologic intervention</a:t>
            </a:r>
          </a:p>
          <a:p>
            <a:r>
              <a:rPr lang="en-US" dirty="0" smtClean="0">
                <a:latin typeface="+mj-lt"/>
              </a:rPr>
              <a:t>Nonpharmacological prophylaxis against PONV includes ensuring adequate hydration (20 mL/kg) after fasting, and stimulation of the P6 acupuncture point (wrist)</a:t>
            </a:r>
          </a:p>
          <a:p>
            <a:r>
              <a:rPr lang="en-US" dirty="0" smtClean="0">
                <a:latin typeface="+mj-lt"/>
              </a:rPr>
              <a:t>Although prophylactic measures to prevent PONV are more eﬀective than rescue, a subset of patients will require treatment in the PACU even after appropriate prophylactic treatment</a:t>
            </a:r>
          </a:p>
          <a:p>
            <a:endParaRPr lang="en-US" dirty="0" smtClean="0">
              <a:latin typeface="+mj-lt"/>
            </a:endParaRPr>
          </a:p>
          <a:p>
            <a:endParaRPr lang="en-US" dirty="0" smtClean="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139</a:t>
            </a:fld>
            <a:endParaRPr lang="en-US"/>
          </a:p>
        </p:txBody>
      </p:sp>
    </p:spTree>
    <p:extLst>
      <p:ext uri="{BB962C8B-B14F-4D97-AF65-F5344CB8AC3E}">
        <p14:creationId xmlns:p14="http://schemas.microsoft.com/office/powerpoint/2010/main" val="835305043"/>
      </p:ext>
    </p:extLst>
  </p:cSld>
  <p:clrMapOvr>
    <a:masterClrMapping/>
  </p:clrMapOvr>
  <p:timing>
    <p:tnLst>
      <p:par>
        <p:cTn id="1" dur="indefinite" restart="never" nodeType="tmRoot"/>
      </p:par>
    </p:tnLst>
  </p:timing>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733265" y="532262"/>
            <a:ext cx="9280477" cy="6223379"/>
          </a:xfrm>
          <a:prstGeom prst="rect">
            <a:avLst/>
          </a:prstGeom>
        </p:spPr>
      </p:pic>
      <p:sp>
        <p:nvSpPr>
          <p:cNvPr id="2" name="Slide Number Placeholder 1"/>
          <p:cNvSpPr>
            <a:spLocks noGrp="1"/>
          </p:cNvSpPr>
          <p:nvPr>
            <p:ph type="sldNum" sz="quarter" idx="12"/>
          </p:nvPr>
        </p:nvSpPr>
        <p:spPr/>
        <p:txBody>
          <a:bodyPr/>
          <a:lstStyle/>
          <a:p>
            <a:fld id="{3729D6FD-7D54-4FE7-AD94-F74F5883427C}" type="slidenum">
              <a:rPr lang="en-US" smtClean="0"/>
              <a:t>140</a:t>
            </a:fld>
            <a:endParaRPr lang="en-US"/>
          </a:p>
        </p:txBody>
      </p:sp>
    </p:spTree>
    <p:extLst>
      <p:ext uri="{BB962C8B-B14F-4D97-AF65-F5344CB8AC3E}">
        <p14:creationId xmlns:p14="http://schemas.microsoft.com/office/powerpoint/2010/main" val="3670300869"/>
      </p:ext>
    </p:extLst>
  </p:cSld>
  <p:clrMapOvr>
    <a:masterClrMapping/>
  </p:clrMapOvr>
  <p:timing>
    <p:tnLst>
      <p:par>
        <p:cTn id="1" dur="indefinite" restart="never" nodeType="tmRoot"/>
      </p:par>
    </p:tnLst>
  </p:timing>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3200" dirty="0" smtClean="0"/>
              <a:t>Shivering &amp; Hypothermia</a:t>
            </a:r>
            <a:endParaRPr lang="en-US" sz="3200" dirty="0"/>
          </a:p>
        </p:txBody>
      </p:sp>
      <p:sp>
        <p:nvSpPr>
          <p:cNvPr id="3" name="Content Placeholder 2"/>
          <p:cNvSpPr>
            <a:spLocks noGrp="1"/>
          </p:cNvSpPr>
          <p:nvPr>
            <p:ph idx="1"/>
          </p:nvPr>
        </p:nvSpPr>
        <p:spPr/>
        <p:txBody>
          <a:bodyPr>
            <a:normAutofit/>
          </a:bodyPr>
          <a:lstStyle/>
          <a:p>
            <a:r>
              <a:rPr lang="en-US" dirty="0" smtClean="0">
                <a:latin typeface="+mj-lt"/>
              </a:rPr>
              <a:t>Postoperative shivering often occurs after general and epidural anesthesia</a:t>
            </a:r>
          </a:p>
          <a:p>
            <a:r>
              <a:rPr lang="en-US" dirty="0" smtClean="0">
                <a:latin typeface="+mj-lt"/>
              </a:rPr>
              <a:t>The incidence of postoperative shivering may be as high as 65% (range, 5% to 65%) after general anesthesia and 33% after epidural anesthesia</a:t>
            </a:r>
          </a:p>
          <a:p>
            <a:r>
              <a:rPr lang="en-US" dirty="0" smtClean="0">
                <a:latin typeface="+mj-lt"/>
              </a:rPr>
              <a:t>Postoperative shivering is usually, but not always, associated with hypothermia</a:t>
            </a:r>
          </a:p>
          <a:p>
            <a:r>
              <a:rPr lang="en-US" dirty="0" smtClean="0">
                <a:latin typeface="+mj-lt"/>
              </a:rPr>
              <a:t>The most important cause of hypothermia is a redistribution of heat from the body core to the peripheral compartments</a:t>
            </a:r>
          </a:p>
        </p:txBody>
      </p:sp>
      <p:sp>
        <p:nvSpPr>
          <p:cNvPr id="4" name="Slide Number Placeholder 3"/>
          <p:cNvSpPr>
            <a:spLocks noGrp="1"/>
          </p:cNvSpPr>
          <p:nvPr>
            <p:ph type="sldNum" sz="quarter" idx="12"/>
          </p:nvPr>
        </p:nvSpPr>
        <p:spPr/>
        <p:txBody>
          <a:bodyPr/>
          <a:lstStyle/>
          <a:p>
            <a:fld id="{3729D6FD-7D54-4FE7-AD94-F74F5883427C}" type="slidenum">
              <a:rPr lang="en-US" smtClean="0"/>
              <a:t>141</a:t>
            </a:fld>
            <a:endParaRPr lang="en-US"/>
          </a:p>
        </p:txBody>
      </p:sp>
    </p:spTree>
    <p:extLst>
      <p:ext uri="{BB962C8B-B14F-4D97-AF65-F5344CB8AC3E}">
        <p14:creationId xmlns:p14="http://schemas.microsoft.com/office/powerpoint/2010/main" val="867135553"/>
      </p:ext>
    </p:extLst>
  </p:cSld>
  <p:clrMapOvr>
    <a:masterClrMapping/>
  </p:clrMapOvr>
  <p:timing>
    <p:tnLst>
      <p:par>
        <p:cTn id="1" dur="indefinite" restart="never" nodeType="tmRoot"/>
      </p:par>
    </p:tnLst>
  </p:timing>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r>
              <a:rPr lang="en-US" dirty="0" smtClean="0">
                <a:latin typeface="+mj-lt"/>
              </a:rPr>
              <a:t>Identified risk factors include male gender and the choice of induction agent; </a:t>
            </a:r>
            <a:r>
              <a:rPr lang="en-US" dirty="0" err="1" smtClean="0">
                <a:latin typeface="+mj-lt"/>
              </a:rPr>
              <a:t>propofol</a:t>
            </a:r>
            <a:r>
              <a:rPr lang="en-US" dirty="0" smtClean="0">
                <a:latin typeface="+mj-lt"/>
              </a:rPr>
              <a:t> is more commonly associated with shivering than pentothal is</a:t>
            </a:r>
          </a:p>
          <a:p>
            <a:r>
              <a:rPr lang="en-US" dirty="0" smtClean="0">
                <a:latin typeface="+mj-lt"/>
              </a:rPr>
              <a:t>Intense shivering causes precipitous rises in oxygen consumption, CO2 production, and cardiac output</a:t>
            </a:r>
          </a:p>
          <a:p>
            <a:r>
              <a:rPr lang="en-US" dirty="0" smtClean="0">
                <a:latin typeface="+mj-lt"/>
              </a:rPr>
              <a:t>It is associated with increased heart rate, systemic blood pressure, and intraocular pressure</a:t>
            </a:r>
          </a:p>
          <a:p>
            <a:r>
              <a:rPr lang="en-US" dirty="0" smtClean="0">
                <a:latin typeface="+mj-lt"/>
              </a:rPr>
              <a:t>These physiological eﬀects are often poorly tolerated by patients with preexisting cardiac or pulmonary impairment</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142</a:t>
            </a:fld>
            <a:endParaRPr lang="en-US"/>
          </a:p>
        </p:txBody>
      </p:sp>
    </p:spTree>
    <p:extLst>
      <p:ext uri="{BB962C8B-B14F-4D97-AF65-F5344CB8AC3E}">
        <p14:creationId xmlns:p14="http://schemas.microsoft.com/office/powerpoint/2010/main" val="1171248719"/>
      </p:ext>
    </p:extLst>
  </p:cSld>
  <p:clrMapOvr>
    <a:masterClrMapping/>
  </p:clrMapOvr>
  <p:timing>
    <p:tnLst>
      <p:par>
        <p:cTn id="1" dur="indefinite" restart="never" nodeType="tmRoot"/>
      </p:par>
    </p:tnLst>
  </p:timing>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Intervention includes the identification and treatment of hypothermia if present</a:t>
            </a:r>
          </a:p>
          <a:p>
            <a:r>
              <a:rPr lang="en-US" dirty="0" smtClean="0">
                <a:latin typeface="+mj-lt"/>
              </a:rPr>
              <a:t>Accurate core body temperatures can be most easily obtained at the tympanic membrane</a:t>
            </a:r>
          </a:p>
          <a:p>
            <a:r>
              <a:rPr lang="en-US" dirty="0" smtClean="0">
                <a:latin typeface="+mj-lt"/>
              </a:rPr>
              <a:t>Hypothermia should be treated with a forced-air warming device, or (less satisfactorily) with warming lights or heating blankets, to raise body temperature to normal</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143</a:t>
            </a:fld>
            <a:endParaRPr lang="en-US"/>
          </a:p>
        </p:txBody>
      </p:sp>
    </p:spTree>
    <p:extLst>
      <p:ext uri="{BB962C8B-B14F-4D97-AF65-F5344CB8AC3E}">
        <p14:creationId xmlns:p14="http://schemas.microsoft.com/office/powerpoint/2010/main" val="2850621574"/>
      </p:ext>
    </p:extLst>
  </p:cSld>
  <p:clrMapOvr>
    <a:masterClrMapping/>
  </p:clrMapOvr>
  <p:timing>
    <p:tnLst>
      <p:par>
        <p:cTn id="1" dur="indefinite" restart="never" nodeType="tmRoot"/>
      </p:par>
    </p:tnLst>
  </p:timing>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r>
              <a:rPr lang="en-US" dirty="0" smtClean="0">
                <a:latin typeface="+mj-lt"/>
              </a:rPr>
              <a:t>A number of opioids, ondansetron, and clonidine have been shown to be eﬀective in abolishing shivering once it starts, but in adults meperidine, 0.35 to 0.4 mg/kg (12.5 to 25 mg IV), is most commonly used</a:t>
            </a:r>
          </a:p>
          <a:p>
            <a:endParaRPr lang="en-US" dirty="0">
              <a:latin typeface="+mj-lt"/>
            </a:endParaRPr>
          </a:p>
        </p:txBody>
      </p:sp>
      <p:sp>
        <p:nvSpPr>
          <p:cNvPr id="4" name="Slide Number Placeholder 3"/>
          <p:cNvSpPr>
            <a:spLocks noGrp="1"/>
          </p:cNvSpPr>
          <p:nvPr>
            <p:ph type="sldNum" sz="quarter" idx="12"/>
          </p:nvPr>
        </p:nvSpPr>
        <p:spPr/>
        <p:txBody>
          <a:bodyPr/>
          <a:lstStyle/>
          <a:p>
            <a:fld id="{3729D6FD-7D54-4FE7-AD94-F74F5883427C}" type="slidenum">
              <a:rPr lang="en-US" smtClean="0"/>
              <a:t>144</a:t>
            </a:fld>
            <a:endParaRPr lang="en-US"/>
          </a:p>
        </p:txBody>
      </p:sp>
    </p:spTree>
    <p:extLst>
      <p:ext uri="{BB962C8B-B14F-4D97-AF65-F5344CB8AC3E}">
        <p14:creationId xmlns:p14="http://schemas.microsoft.com/office/powerpoint/2010/main" val="56333143"/>
      </p:ext>
    </p:extLst>
  </p:cSld>
  <p:clrMapOvr>
    <a:masterClrMapping/>
  </p:clrMapOvr>
  <p:timing>
    <p:tnLst>
      <p:par>
        <p:cTn id="1" dur="indefinite" restart="never" nodeType="tmRoot"/>
      </p:par>
    </p:tnLst>
  </p:timing>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lvl="8"/>
            <a:endParaRPr lang="en-US" sz="2800" dirty="0" smtClean="0"/>
          </a:p>
          <a:p>
            <a:pPr lvl="8"/>
            <a:endParaRPr lang="en-US" sz="2800" dirty="0"/>
          </a:p>
          <a:p>
            <a:pPr lvl="8"/>
            <a:endParaRPr lang="en-US" sz="2800" dirty="0" smtClean="0"/>
          </a:p>
          <a:p>
            <a:pPr lvl="8"/>
            <a:endParaRPr lang="en-US" sz="2800" dirty="0"/>
          </a:p>
          <a:p>
            <a:pPr lvl="8"/>
            <a:r>
              <a:rPr lang="en-US" sz="2800" dirty="0" smtClean="0"/>
              <a:t>THE END!!!</a:t>
            </a:r>
            <a:endParaRPr lang="en-US" sz="2800" dirty="0"/>
          </a:p>
        </p:txBody>
      </p:sp>
      <p:sp>
        <p:nvSpPr>
          <p:cNvPr id="4" name="Slide Number Placeholder 3"/>
          <p:cNvSpPr>
            <a:spLocks noGrp="1"/>
          </p:cNvSpPr>
          <p:nvPr>
            <p:ph type="sldNum" sz="quarter" idx="12"/>
          </p:nvPr>
        </p:nvSpPr>
        <p:spPr/>
        <p:txBody>
          <a:bodyPr/>
          <a:lstStyle/>
          <a:p>
            <a:fld id="{3729D6FD-7D54-4FE7-AD94-F74F5883427C}" type="slidenum">
              <a:rPr lang="en-US" smtClean="0"/>
              <a:t>145</a:t>
            </a:fld>
            <a:endParaRPr lang="en-US"/>
          </a:p>
        </p:txBody>
      </p:sp>
    </p:spTree>
    <p:extLst>
      <p:ext uri="{BB962C8B-B14F-4D97-AF65-F5344CB8AC3E}">
        <p14:creationId xmlns:p14="http://schemas.microsoft.com/office/powerpoint/2010/main" val="39338645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62149</TotalTime>
  <Words>7775</Words>
  <Application>Microsoft Office PowerPoint</Application>
  <PresentationFormat>Widescreen</PresentationFormat>
  <Paragraphs>596</Paragraphs>
  <Slides>145</Slides>
  <Notes>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145</vt:i4>
      </vt:variant>
    </vt:vector>
  </HeadingPairs>
  <TitlesOfParts>
    <vt:vector size="150" baseType="lpstr">
      <vt:lpstr>Arial</vt:lpstr>
      <vt:lpstr>Calibri</vt:lpstr>
      <vt:lpstr>Calibri Light</vt:lpstr>
      <vt:lpstr>Wingdings</vt:lpstr>
      <vt:lpstr>Office Theme</vt:lpstr>
      <vt:lpstr>Post anesthetic management of surgical patients</vt:lpstr>
      <vt:lpstr>Discussions </vt:lpstr>
      <vt:lpstr>Introduction </vt:lpstr>
      <vt:lpstr>PowerPoint Presentation</vt:lpstr>
      <vt:lpstr>Phases of Post anesthesia Care</vt:lpstr>
      <vt:lpstr>PowerPoint Presentation</vt:lpstr>
      <vt:lpstr>PowerPoint Presentation</vt:lpstr>
      <vt:lpstr>PowerPoint Presentation</vt:lpstr>
      <vt:lpstr>PowerPoint Presentation</vt:lpstr>
      <vt:lpstr>PowerPoint Presentation</vt:lpstr>
      <vt:lpstr>Post-anesthesia care unit (PACU)</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ASA standards of post anesthesia care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Managing and monitoring postoperative patients</vt:lpstr>
      <vt:lpstr>PowerPoint Presentation</vt:lpstr>
      <vt:lpstr>PowerPoint Presentation</vt:lpstr>
      <vt:lpstr>PowerPoint Presentation</vt:lpstr>
      <vt:lpstr>PowerPoint Presentation</vt:lpstr>
      <vt:lpstr>PowerPoint Presentation</vt:lpstr>
      <vt:lpstr>PowerPoint Presentation</vt:lpstr>
      <vt:lpstr>Fluid management</vt:lpstr>
      <vt:lpstr>PowerPoint Presentation</vt:lpstr>
      <vt:lpstr>Pain management</vt:lpstr>
      <vt:lpstr>PowerPoint Presentation</vt:lpstr>
      <vt:lpstr>PowerPoint Presentation</vt:lpstr>
      <vt:lpstr>PowerPoint Presentation</vt:lpstr>
      <vt:lpstr>PowerPoint Presentation</vt:lpstr>
      <vt:lpstr>PowerPoint Presentation</vt:lpstr>
      <vt:lpstr>PowerPoint Presentation</vt:lpstr>
      <vt:lpstr>Multimodal Approach to Perioperative Recovery</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Assessment of Acute Pain</vt:lpstr>
      <vt:lpstr>PowerPoint Presentation</vt:lpstr>
      <vt:lpstr>WHO ladder of pain management</vt:lpstr>
      <vt:lpstr>PowerPoint Presentation</vt:lpstr>
      <vt:lpstr>PowerPoint Presentation</vt:lpstr>
      <vt:lpstr>PowerPoint Presentation</vt:lpstr>
      <vt:lpstr>Discharge from PACU</vt:lpstr>
      <vt:lpstr>PowerPoint Presentation</vt:lpstr>
      <vt:lpstr>PowerPoint Presentation</vt:lpstr>
      <vt:lpstr>PowerPoint Presentation</vt:lpstr>
      <vt:lpstr>PowerPoint Presentation</vt:lpstr>
      <vt:lpstr>PowerPoint Presentation</vt:lpstr>
      <vt:lpstr>PowerPoint Presentation</vt:lpstr>
      <vt:lpstr>Postoperative evaluation</vt:lpstr>
      <vt:lpstr>PowerPoint Presentation</vt:lpstr>
      <vt:lpstr>Common postoperative complications and management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Respiratory complications</vt:lpstr>
      <vt:lpstr>PowerPoint Presentation</vt:lpstr>
      <vt:lpstr>Inadequate Postoperative Ventilation</vt:lpstr>
      <vt:lpstr>PowerPoint Presentation</vt:lpstr>
      <vt:lpstr>Airway obstruction</vt:lpstr>
      <vt:lpstr>PowerPoint Presentation</vt:lpstr>
      <vt:lpstr>Pharyngeal obstruction</vt:lpstr>
      <vt:lpstr>PowerPoint Presentation</vt:lpstr>
      <vt:lpstr>Laryngeal obstruction</vt:lpstr>
      <vt:lpstr>PowerPoint Presentation</vt:lpstr>
      <vt:lpstr>PowerPoint Presentation</vt:lpstr>
      <vt:lpstr>PowerPoint Presentation</vt:lpstr>
      <vt:lpstr>PowerPoint Presentation</vt:lpstr>
      <vt:lpstr>PowerPoint Presentation</vt:lpstr>
      <vt:lpstr>Foreign body and external compression</vt:lpstr>
      <vt:lpstr>PowerPoint Presentation</vt:lpstr>
      <vt:lpstr>PowerPoint Presentation</vt:lpstr>
      <vt:lpstr>Alveolar Hypoventilation And V/Q Mismatch</vt:lpstr>
      <vt:lpstr>PowerPoint Presentation</vt:lpstr>
      <vt:lpstr>PowerPoint Presentation</vt:lpstr>
      <vt:lpstr>PowerPoint Presentation</vt:lpstr>
      <vt:lpstr>PowerPoint Presentation</vt:lpstr>
      <vt:lpstr>PowerPoint Presentation</vt:lpstr>
      <vt:lpstr>PowerPoint Presentation</vt:lpstr>
      <vt:lpstr>Cardiovascular Complications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Renal complications</vt:lpstr>
      <vt:lpstr>PowerPoint Presentation</vt:lpstr>
      <vt:lpstr>PowerPoint Presentation</vt:lpstr>
      <vt:lpstr>PowerPoint Presentation</vt:lpstr>
      <vt:lpstr>CNS complications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PONV</vt:lpstr>
      <vt:lpstr>PowerPoint Presentation</vt:lpstr>
      <vt:lpstr>PowerPoint Presentation</vt:lpstr>
      <vt:lpstr>PowerPoint Presentation</vt:lpstr>
      <vt:lpstr>PowerPoint Presentation</vt:lpstr>
      <vt:lpstr>Shivering &amp; Hypothermia</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Post anesthetic management of surgical patients</dc:title>
  <dc:creator>Guest</dc:creator>
  <cp:lastModifiedBy>Guest</cp:lastModifiedBy>
  <cp:revision>233</cp:revision>
  <dcterms:created xsi:type="dcterms:W3CDTF">2024-02-20T10:07:47Z</dcterms:created>
  <dcterms:modified xsi:type="dcterms:W3CDTF">2025-02-06T18:41:50Z</dcterms:modified>
</cp:coreProperties>
</file>