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90" r:id="rId2"/>
    <p:sldId id="314" r:id="rId3"/>
    <p:sldId id="315" r:id="rId4"/>
    <p:sldId id="316" r:id="rId5"/>
    <p:sldId id="319" r:id="rId6"/>
    <p:sldId id="317" r:id="rId7"/>
    <p:sldId id="318" r:id="rId8"/>
    <p:sldId id="320" r:id="rId9"/>
    <p:sldId id="431" r:id="rId10"/>
    <p:sldId id="647" r:id="rId11"/>
    <p:sldId id="693" r:id="rId12"/>
    <p:sldId id="322" r:id="rId13"/>
    <p:sldId id="323" r:id="rId14"/>
    <p:sldId id="451" r:id="rId15"/>
    <p:sldId id="694" r:id="rId16"/>
    <p:sldId id="695" r:id="rId17"/>
    <p:sldId id="696" r:id="rId18"/>
    <p:sldId id="697" r:id="rId19"/>
    <p:sldId id="699" r:id="rId20"/>
    <p:sldId id="698" r:id="rId21"/>
    <p:sldId id="589" r:id="rId22"/>
    <p:sldId id="594" r:id="rId23"/>
    <p:sldId id="701" r:id="rId24"/>
    <p:sldId id="600" r:id="rId25"/>
    <p:sldId id="702" r:id="rId26"/>
    <p:sldId id="703" r:id="rId27"/>
    <p:sldId id="616" r:id="rId28"/>
    <p:sldId id="700" r:id="rId29"/>
    <p:sldId id="704" r:id="rId30"/>
    <p:sldId id="705" r:id="rId31"/>
    <p:sldId id="70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FB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88380" autoAdjust="0"/>
  </p:normalViewPr>
  <p:slideViewPr>
    <p:cSldViewPr snapToGrid="0">
      <p:cViewPr varScale="1">
        <p:scale>
          <a:sx n="65" d="100"/>
          <a:sy n="65" d="100"/>
        </p:scale>
        <p:origin x="8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A16A70-3822-4125-93EE-3197FB17C2F2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/>
      <dgm:spPr/>
    </dgm:pt>
    <dgm:pt modelId="{2E0EFBDE-3D94-405C-BF76-0E45967172B8}">
      <dgm:prSet phldrT="[Text]" phldr="1"/>
      <dgm:spPr/>
      <dgm:t>
        <a:bodyPr/>
        <a:lstStyle/>
        <a:p>
          <a:endParaRPr lang="en-US" dirty="0"/>
        </a:p>
      </dgm:t>
    </dgm:pt>
    <dgm:pt modelId="{DF14A3BC-3C6E-4FB6-BB79-E8E4F68FD8E4}" type="sibTrans" cxnId="{B662C51C-9F83-4A7C-9B50-2DE1632C7028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  <dgm:t>
        <a:bodyPr/>
        <a:lstStyle/>
        <a:p>
          <a:endParaRPr lang="en-US"/>
        </a:p>
      </dgm:t>
    </dgm:pt>
    <dgm:pt modelId="{24D351AF-5411-4C35-9C67-2C38EE5D39C9}" type="parTrans" cxnId="{B662C51C-9F83-4A7C-9B50-2DE1632C7028}">
      <dgm:prSet/>
      <dgm:spPr/>
      <dgm:t>
        <a:bodyPr/>
        <a:lstStyle/>
        <a:p>
          <a:endParaRPr lang="en-US"/>
        </a:p>
      </dgm:t>
    </dgm:pt>
    <dgm:pt modelId="{1214C4F8-8DE7-4123-B5A0-2F941B568D53}" type="pres">
      <dgm:prSet presAssocID="{6FA16A70-3822-4125-93EE-3197FB17C2F2}" presName="Name0" presStyleCnt="0">
        <dgm:presLayoutVars>
          <dgm:chMax val="7"/>
          <dgm:chPref val="7"/>
          <dgm:dir/>
        </dgm:presLayoutVars>
      </dgm:prSet>
      <dgm:spPr/>
    </dgm:pt>
    <dgm:pt modelId="{F2EB08AF-7113-447B-BC35-8096400CF461}" type="pres">
      <dgm:prSet presAssocID="{6FA16A70-3822-4125-93EE-3197FB17C2F2}" presName="Name1" presStyleCnt="0"/>
      <dgm:spPr/>
    </dgm:pt>
    <dgm:pt modelId="{0BE36492-070A-47FF-B13A-054ACBF845E7}" type="pres">
      <dgm:prSet presAssocID="{DF14A3BC-3C6E-4FB6-BB79-E8E4F68FD8E4}" presName="picture_1" presStyleCnt="0"/>
      <dgm:spPr/>
    </dgm:pt>
    <dgm:pt modelId="{D12B2026-64C0-44DB-AAAB-593F1BBE9947}" type="pres">
      <dgm:prSet presAssocID="{DF14A3BC-3C6E-4FB6-BB79-E8E4F68FD8E4}" presName="pictureRepeatNode" presStyleLbl="alignImgPlace1" presStyleIdx="0" presStyleCnt="1"/>
      <dgm:spPr/>
      <dgm:t>
        <a:bodyPr/>
        <a:lstStyle/>
        <a:p>
          <a:endParaRPr lang="en-US"/>
        </a:p>
      </dgm:t>
    </dgm:pt>
    <dgm:pt modelId="{80A2D0E7-09DE-4333-BF0E-538387C3E175}" type="pres">
      <dgm:prSet presAssocID="{2E0EFBDE-3D94-405C-BF76-0E45967172B8}" presName="text_1" presStyleLbl="node1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727A2D-4C9D-4468-A277-87B46545BA00}" type="presOf" srcId="{2E0EFBDE-3D94-405C-BF76-0E45967172B8}" destId="{80A2D0E7-09DE-4333-BF0E-538387C3E175}" srcOrd="0" destOrd="0" presId="urn:microsoft.com/office/officeart/2008/layout/CircularPictureCallout"/>
    <dgm:cxn modelId="{B662C51C-9F83-4A7C-9B50-2DE1632C7028}" srcId="{6FA16A70-3822-4125-93EE-3197FB17C2F2}" destId="{2E0EFBDE-3D94-405C-BF76-0E45967172B8}" srcOrd="0" destOrd="0" parTransId="{24D351AF-5411-4C35-9C67-2C38EE5D39C9}" sibTransId="{DF14A3BC-3C6E-4FB6-BB79-E8E4F68FD8E4}"/>
    <dgm:cxn modelId="{4E5DA823-6DCA-4D77-9C03-FED66F78B87E}" type="presOf" srcId="{DF14A3BC-3C6E-4FB6-BB79-E8E4F68FD8E4}" destId="{D12B2026-64C0-44DB-AAAB-593F1BBE9947}" srcOrd="0" destOrd="0" presId="urn:microsoft.com/office/officeart/2008/layout/CircularPictureCallout"/>
    <dgm:cxn modelId="{CC5F4CE1-E0A6-4C7A-B1FD-431C1E0B3171}" type="presOf" srcId="{6FA16A70-3822-4125-93EE-3197FB17C2F2}" destId="{1214C4F8-8DE7-4123-B5A0-2F941B568D53}" srcOrd="0" destOrd="0" presId="urn:microsoft.com/office/officeart/2008/layout/CircularPictureCallout"/>
    <dgm:cxn modelId="{5A1EB7A6-601D-475B-8067-816150A5947A}" type="presParOf" srcId="{1214C4F8-8DE7-4123-B5A0-2F941B568D53}" destId="{F2EB08AF-7113-447B-BC35-8096400CF461}" srcOrd="0" destOrd="0" presId="urn:microsoft.com/office/officeart/2008/layout/CircularPictureCallout"/>
    <dgm:cxn modelId="{0BE9AF07-CF7A-445A-A257-C827ED423823}" type="presParOf" srcId="{F2EB08AF-7113-447B-BC35-8096400CF461}" destId="{0BE36492-070A-47FF-B13A-054ACBF845E7}" srcOrd="0" destOrd="0" presId="urn:microsoft.com/office/officeart/2008/layout/CircularPictureCallout"/>
    <dgm:cxn modelId="{15C053E5-FB97-42AF-822C-A4D94B9B9B01}" type="presParOf" srcId="{0BE36492-070A-47FF-B13A-054ACBF845E7}" destId="{D12B2026-64C0-44DB-AAAB-593F1BBE9947}" srcOrd="0" destOrd="0" presId="urn:microsoft.com/office/officeart/2008/layout/CircularPictureCallout"/>
    <dgm:cxn modelId="{29B48346-744E-49F8-AFC9-919717B5AE64}" type="presParOf" srcId="{F2EB08AF-7113-447B-BC35-8096400CF461}" destId="{80A2D0E7-09DE-4333-BF0E-538387C3E175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B2026-64C0-44DB-AAAB-593F1BBE9947}">
      <dsp:nvSpPr>
        <dsp:cNvPr id="0" name=""/>
        <dsp:cNvSpPr/>
      </dsp:nvSpPr>
      <dsp:spPr>
        <a:xfrm>
          <a:off x="644808" y="568948"/>
          <a:ext cx="1289617" cy="128961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2D0E7-09DE-4333-BF0E-538387C3E175}">
      <dsp:nvSpPr>
        <dsp:cNvPr id="0" name=""/>
        <dsp:cNvSpPr/>
      </dsp:nvSpPr>
      <dsp:spPr>
        <a:xfrm>
          <a:off x="876939" y="1253735"/>
          <a:ext cx="825354" cy="42557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 dirty="0"/>
        </a:p>
      </dsp:txBody>
      <dsp:txXfrm>
        <a:off x="876939" y="1253735"/>
        <a:ext cx="825354" cy="425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F5B16-33AF-4831-BC5C-BD740A3424FD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29414-4655-4F88-B9BC-C4F73231D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39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9102A-460F-45DF-804A-6C72E369344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6D435-D33B-4D9F-9F96-6654F586F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679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3494" y="1334124"/>
            <a:ext cx="7688705" cy="2055917"/>
          </a:xfrm>
          <a:solidFill>
            <a:srgbClr val="2163AB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2690" y="3829409"/>
            <a:ext cx="7599509" cy="1567050"/>
          </a:xfrm>
        </p:spPr>
        <p:txBody>
          <a:bodyPr>
            <a:normAutofit/>
          </a:bodyPr>
          <a:lstStyle>
            <a:lvl1pPr marL="0" indent="0" algn="ctr">
              <a:buNone/>
              <a:defRPr sz="3800" baseline="0">
                <a:solidFill>
                  <a:schemeClr val="tx1"/>
                </a:solidFill>
                <a:latin typeface="Gotha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41F8-D293-4B03-A053-46950B464A30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10541-2976-4C2D-9F7A-6DB360DCC3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4098" y="1334123"/>
            <a:ext cx="2197902" cy="2906383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pic>
        <p:nvPicPr>
          <p:cNvPr id="8" name="Picture 7" descr="C:\Users\Newuser\Desktop\AAU.png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82" y="1334123"/>
            <a:ext cx="1783830" cy="2055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912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>
            <a:lvl1pPr>
              <a:defRPr sz="4800" baseline="0">
                <a:solidFill>
                  <a:srgbClr val="2163A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2163AB"/>
          </a:solidFill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E921-F054-4DE4-8FDF-7010BAB80C9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8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E959D-ACA4-4E80-8552-E25C0007DB92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36EC-EF33-47A2-9A35-A3D20101BD11}" type="datetime1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6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B7A0-3E13-4856-AAF1-B894F11878F6}" type="datetime1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4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5626A-0DAF-4F19-813A-7591EA8EFB21}" type="datetime1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3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C50B-126A-4567-830C-E2AAB28F9F3F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3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D833A-E4F8-4123-96E0-719F42733E5E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1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79AC-5C54-4704-B6F7-AD4850EB905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7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6368B-242D-4A9E-92D1-81FCE095AA15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3172C-C594-4D34-BAB2-FFB5F16191A0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161-E1FF-F046-8250-F40BD726598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9EF2A-B574-49CE-924E-9EF93F4903F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614920" y="5997564"/>
            <a:ext cx="1577080" cy="7870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698C84-1C87-42CB-94CD-C374F67FF580}"/>
              </a:ext>
            </a:extLst>
          </p:cNvPr>
          <p:cNvSpPr/>
          <p:nvPr userDrawn="1"/>
        </p:nvSpPr>
        <p:spPr>
          <a:xfrm>
            <a:off x="78378" y="6069226"/>
            <a:ext cx="12113622" cy="45719"/>
          </a:xfrm>
          <a:prstGeom prst="rect">
            <a:avLst/>
          </a:prstGeom>
          <a:solidFill>
            <a:srgbClr val="2163AB"/>
          </a:solidFill>
          <a:ln w="63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8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2163AB"/>
          </a:solidFill>
          <a:latin typeface="Gotham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 baseline="0">
          <a:solidFill>
            <a:schemeClr val="tx1"/>
          </a:solidFill>
          <a:latin typeface="Gotham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Gotham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Gotham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0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85EA-A5EA-4791-AD37-7311DC35E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3494" y="1165123"/>
            <a:ext cx="7688705" cy="2623106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Berlin Sans FB Demi" panose="020E0802020502020306" pitchFamily="34" charset="0"/>
                <a:ea typeface="Calibri"/>
                <a:cs typeface="Angsana New"/>
              </a:rPr>
              <a:t/>
            </a:r>
            <a:br>
              <a:rPr lang="en-US" sz="4000" dirty="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Berlin Sans FB Demi" panose="020E0802020502020306" pitchFamily="34" charset="0"/>
                <a:ea typeface="Calibri"/>
                <a:cs typeface="Angsana New"/>
              </a:rPr>
            </a:br>
            <a:r>
              <a:rPr lang="en-US" sz="4400" dirty="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Berlin Sans FB Demi" panose="020E0802020502020306" pitchFamily="34" charset="0"/>
                <a:ea typeface="Calibri"/>
                <a:cs typeface="Angsana New"/>
              </a:rPr>
              <a:t/>
            </a:r>
            <a:br>
              <a:rPr lang="en-US" sz="4400" dirty="0">
                <a:gradFill>
                  <a:gsLst>
                    <a:gs pos="0">
                      <a:srgbClr val="00BAC8"/>
                    </a:gs>
                    <a:gs pos="100000">
                      <a:srgbClr val="203040"/>
                    </a:gs>
                  </a:gsLst>
                  <a:lin ang="0" scaled="1"/>
                </a:gradFill>
                <a:latin typeface="Berlin Sans FB Demi" panose="020E0802020502020306" pitchFamily="34" charset="0"/>
                <a:ea typeface="Calibri"/>
                <a:cs typeface="Angsana New"/>
              </a:rPr>
            </a:br>
            <a:r>
              <a:rPr lang="en-US" sz="4400" dirty="0">
                <a:latin typeface="Berlin Sans FB Demi" panose="020E0802020502020306" pitchFamily="34" charset="0"/>
                <a:ea typeface="Calibri"/>
                <a:cs typeface="Angsana New"/>
              </a:rPr>
              <a:t>PELVIC ORGAN PROLAPSE AND URINARY INCONTINENCE</a:t>
            </a:r>
            <a:r>
              <a:rPr lang="en-US" dirty="0"/>
              <a:t> 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sz="2600" dirty="0"/>
          </a:p>
          <a:p>
            <a:r>
              <a:rPr lang="en-US" sz="2400" i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Dr. </a:t>
            </a:r>
            <a:r>
              <a:rPr lang="en-US" sz="2400" i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Edimealem</a:t>
            </a:r>
            <a:r>
              <a:rPr lang="en-US" sz="2400" i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(OB-GYN Year 3 Resident)</a:t>
            </a:r>
            <a:br>
              <a:rPr lang="en-US" sz="2400" i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/>
              <a:t>                                                                   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6B3-13AE-44A4-AD82-4533F54F90CE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4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Times New Roman" panose="02020603050405020304"/>
              </a:rPr>
              <a:t>Outline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Definition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Classification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Diagnosis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Management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5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AEDB-6442-4EDA-9681-245E4C8A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erlin Sans FB Demi" panose="020E0802020502020306" pitchFamily="34" charset="0"/>
              </a:rPr>
              <a:t>Pelvic organ prolapse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AFAE-7B06-41A6-BAB6-D4108F75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Pelvic organ prolapse is a common condition that can lead to genital tract dysfunction and diminished quality of life.</a:t>
            </a: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POP to be considered a disease state in a given individual, </a:t>
            </a:r>
            <a:r>
              <a:rPr lang="en-US" sz="2400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sxs</a:t>
            </a:r>
            <a:r>
              <a:rPr lang="en-US" sz="2400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should be attributable to pelvic organ descent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that surgical or nonsurgical reduction relieves the symptoms, restores function and improves quality of life.</a:t>
            </a: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4D577-9AAF-4B1F-85AF-8B31E044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4974D-FC00-4D0C-AA05-FD9A3141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AD575-7A12-4DA4-A381-32A16E58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5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258E195-3675-4147-B74A-20C6A94DF71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76200">
            <a:solidFill>
              <a:srgbClr val="00B05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Risk factors for the development of POP</a:t>
            </a:r>
            <a:endParaRPr lang="en-US" sz="138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E919-0B95-4D8D-A910-FA55F7B0E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26535"/>
          </a:xfrm>
          <a:ln w="1905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Pregnancy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Vaginal childbirth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Menopause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Hypoestrogenism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Chronically increased IAP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C93D42-AB55-406E-BD29-56CE21C5D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26535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Constipation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Obesity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Pelvic floor trauma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 factors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Race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Connective tissue disorders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2EF34-3306-45C2-B3F0-91053BE6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FD4B0-7D3D-4365-ABE2-3DB31DBB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0261-373F-4F28-A709-D653C69C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27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B35C-FECB-417E-A2B5-996BB6CEC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689100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rgbClr val="0070C0"/>
                </a:solidFill>
                <a:latin typeface="Berlin Sans FB Demi" panose="020E0802020502020306" pitchFamily="34" charset="0"/>
              </a:rPr>
              <a:t>Pelvic support structures</a:t>
            </a:r>
            <a:br>
              <a:rPr lang="en-US" sz="4000" b="1" u="sng" dirty="0">
                <a:solidFill>
                  <a:srgbClr val="0070C0"/>
                </a:solidFill>
                <a:latin typeface="Berlin Sans FB Demi" panose="020E0802020502020306" pitchFamily="34" charset="0"/>
              </a:rPr>
            </a:b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66CF-FAC2-45A5-9E46-72D1EA8E9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Bones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Ilium, ischium and pubis fusion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Ligaments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Uterosacral-Cardinal Complex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Fascial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Endopelvic (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pubocervical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rectovaginal)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Muscles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Obturator </a:t>
            </a:r>
            <a:r>
              <a:rPr lang="en-US" b="1" dirty="0" err="1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internis</a:t>
            </a: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muscle 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Arcus </a:t>
            </a:r>
            <a:r>
              <a:rPr lang="en-US" b="1" dirty="0" err="1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tendineus</a:t>
            </a: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levator</a:t>
            </a: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ani or white line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Levator</a:t>
            </a: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ani muscles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Urethral and anal sphincter muscles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50A9-8877-4DB2-8951-A138AAD5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61C07-DE08-4D9E-93D1-ACB3E933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3E81A-29DC-485D-A612-607266AE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0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A8C88-78DE-4671-B859-6CBEADE5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9CF76-9F68-4ACB-B4A0-DB8AE96B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6BFE8-95E0-41FB-882A-7FE69A8A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61FD4-7703-4F13-8B4E-4C0A7E1D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E30B161-E1FF-F046-8250-F40BD726598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4" descr="Kegel2">
            <a:extLst>
              <a:ext uri="{FF2B5EF4-FFF2-40B4-BE49-F238E27FC236}">
                <a16:creationId xmlns:a16="http://schemas.microsoft.com/office/drawing/2014/main" id="{82B513C6-2CD3-4E2E-954E-4F2F9D351E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0192" y="365125"/>
            <a:ext cx="6143608" cy="5676901"/>
          </a:xfr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BA2BEBC3-D8D4-411D-9F44-3866D0391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65" y="365125"/>
            <a:ext cx="4812627" cy="543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7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37B5-0626-45A2-A248-CB2909D6D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8563"/>
          </a:xfrm>
          <a:ln w="76200">
            <a:solidFill>
              <a:srgbClr val="00B0F0"/>
            </a:solidFill>
          </a:ln>
        </p:spPr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Clinical manifestation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AF7B-B8DC-4F44-A7E4-7A31CE26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31D6-E62D-4220-AC88-FFAC7F37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665E-391F-4577-980E-F0EC0651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7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B2E8FA7-5A01-4BBA-8655-1C4D506CB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413" y="1253331"/>
            <a:ext cx="6265926" cy="4351338"/>
          </a:xfrm>
          <a:prstGeom prst="rect">
            <a:avLst/>
          </a:prstGeom>
        </p:spPr>
      </p:pic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555C489E-D352-4632-9673-1992A6687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878" y="2638425"/>
            <a:ext cx="4833731" cy="277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DA71-A8FF-49EE-BDB3-D31FE99B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PHYSICAL EXAMINATION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6C0D3-6E0C-4FA1-82CF-DF93E4EC9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Perineal examination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Bulbocavernosus reflex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 wink reflex</a:t>
            </a:r>
          </a:p>
          <a:p>
            <a:pPr lvl="1"/>
            <a:endParaRPr 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Vaginal examination</a:t>
            </a: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</a:t>
            </a: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Speculum examination</a:t>
            </a: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Bimanual pelvic examination</a:t>
            </a: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Rectovaginal examination</a:t>
            </a:r>
          </a:p>
          <a:p>
            <a:pPr marL="628650" lvl="1" indent="-1714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Neuromuscular examination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EE442-7F38-461E-96EB-55E02095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D090B-224E-4791-ABE4-1A8C0171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750F3-1D76-4B16-B8EB-CF44B149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0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50007" y="787401"/>
            <a:ext cx="2948259" cy="5033433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737601" y="787400"/>
            <a:ext cx="3055007" cy="5137661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489210" y="4751552"/>
            <a:ext cx="469853" cy="203200"/>
          </a:xfrm>
          <a:prstGeom prst="rect">
            <a:avLst/>
          </a:prstGeom>
          <a:solidFill>
            <a:srgbClr val="00B050">
              <a:alpha val="41176"/>
            </a:srgbClr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816270" y="4994165"/>
            <a:ext cx="683759" cy="263635"/>
          </a:xfrm>
          <a:prstGeom prst="rect">
            <a:avLst/>
          </a:prstGeom>
          <a:solidFill>
            <a:srgbClr val="00B050">
              <a:alpha val="41176"/>
            </a:srgbClr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030176" y="2413000"/>
            <a:ext cx="469853" cy="203200"/>
          </a:xfrm>
          <a:prstGeom prst="rect">
            <a:avLst/>
          </a:prstGeom>
          <a:solidFill>
            <a:srgbClr val="00B050">
              <a:alpha val="41176"/>
            </a:srgbClr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06400" y="2646855"/>
            <a:ext cx="4267200" cy="1422399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Sagittal view of pelvic anatomy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pelvic anatomy.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Anterior vaginal wall prolapse or cystocele.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Distal posterior wall prolapse or rectocele.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Apical posterior wall prolapse or enterocele.</a:t>
            </a:r>
          </a:p>
        </p:txBody>
      </p:sp>
    </p:spTree>
    <p:extLst>
      <p:ext uri="{BB962C8B-B14F-4D97-AF65-F5344CB8AC3E}">
        <p14:creationId xmlns:p14="http://schemas.microsoft.com/office/powerpoint/2010/main" val="428693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787400"/>
            <a:ext cx="4470400" cy="309563"/>
          </a:xfrm>
          <a:ln>
            <a:solidFill>
              <a:srgbClr val="00B050"/>
            </a:solidFill>
          </a:ln>
        </p:spPr>
        <p:txBody>
          <a:bodyPr>
            <a:noAutofit/>
          </a:bodyPr>
          <a:lstStyle/>
          <a:p>
            <a:pPr lvl="0" algn="l">
              <a:spcBef>
                <a:spcPct val="20000"/>
              </a:spcBef>
            </a:pPr>
            <a:r>
              <a:rPr lang="en-US" sz="1600" b="1" dirty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POP-Q staging system of pelvic organ support</a:t>
            </a:r>
            <a:endParaRPr lang="en-US" sz="8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14272"/>
            <a:ext cx="6807200" cy="4291584"/>
          </a:xfrm>
          <a:ln w="19050">
            <a:solidFill>
              <a:srgbClr val="00B05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</a:t>
            </a: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prolapse is demonstrated during maximal straining.</a:t>
            </a:r>
            <a:endParaRPr lang="en-US" sz="1467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I</a:t>
            </a: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most distal portion of the prolapse is &gt;1 cm above hymen (&lt; -1 cm).</a:t>
            </a:r>
            <a:endParaRPr lang="en-US" sz="1467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II</a:t>
            </a:r>
            <a:endParaRPr lang="en-US" sz="14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594" indent="-228594">
              <a:buFont typeface="Wingdings" panose="05000000000000000000" pitchFamily="2" charset="2"/>
              <a:buChar char="Ø"/>
            </a:pP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distal portion of prolapse is ≤1 cm proximal to or extends 1 cm through the plane of hymen (≥ -1 cm, but ≤ +1 cm).</a:t>
            </a:r>
          </a:p>
          <a:p>
            <a:pPr marL="228594" indent="-228594">
              <a:buFont typeface="Wingdings" panose="05000000000000000000" pitchFamily="2" charset="2"/>
              <a:buChar char="Ø"/>
            </a:pPr>
            <a:endParaRPr lang="en-US" sz="1467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III</a:t>
            </a:r>
            <a:endParaRPr lang="en-US" sz="14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594" indent="-228594">
              <a:buFont typeface="Wingdings" panose="05000000000000000000" pitchFamily="2" charset="2"/>
              <a:buChar char="Ø"/>
            </a:pP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distal portion of the prolapse is &gt; 1cm below hymen but no further than 2 cm less than the TVL (there is not complete vaginal eversion) =&gt; ( &gt; +1 cm, but &lt; + [TVL-2] cm).</a:t>
            </a:r>
          </a:p>
          <a:p>
            <a:pPr marL="228594" indent="-228594">
              <a:buFont typeface="Wingdings" panose="05000000000000000000" pitchFamily="2" charset="2"/>
              <a:buChar char="Ø"/>
            </a:pPr>
            <a:endParaRPr lang="en-US" sz="1467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IV</a:t>
            </a:r>
            <a:endParaRPr lang="en-US" sz="14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594" indent="-228594">
              <a:buFont typeface="Wingdings" panose="05000000000000000000" pitchFamily="2" charset="2"/>
              <a:buChar char="Ø"/>
            </a:pP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eversion of the vagina (≥ + [TVL-2] cm). In most, the leading edge of stage IV prolapse is the cervix or vaginal cuff scar.</a:t>
            </a:r>
          </a:p>
        </p:txBody>
      </p:sp>
      <p:pic>
        <p:nvPicPr>
          <p:cNvPr id="7" name="Content Placeholder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1858264"/>
            <a:ext cx="3604076" cy="340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9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363" y="304800"/>
            <a:ext cx="10972800" cy="482601"/>
          </a:xfrm>
          <a:ln>
            <a:solidFill>
              <a:srgbClr val="00B05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Baden-Walker halfway system for staging POP</a:t>
            </a:r>
            <a:endParaRPr lang="en-US" sz="239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363" y="1121663"/>
            <a:ext cx="10969037" cy="5004501"/>
          </a:xfrm>
        </p:spPr>
        <p:txBody>
          <a:bodyPr>
            <a:noAutofit/>
          </a:bodyPr>
          <a:lstStyle/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descriptive tool is also used to classify prolapse during physical examination and is widely used.</a:t>
            </a:r>
          </a:p>
          <a:p>
            <a:pPr marL="228594" indent="-228594">
              <a:buFont typeface="Wingdings" panose="05000000000000000000" pitchFamily="2" charset="2"/>
              <a:buChar char="v"/>
            </a:pP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1981" lvl="1" indent="-228594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dependent position of the pelvic organs during maximum straining or standing &amp; descent of the anterior vaginal wall, posterior vaginal wall, or apical prolapse can be graded with this system.</a:t>
            </a:r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0" y="2454912"/>
            <a:ext cx="5262880" cy="3458208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985219" y="4000711"/>
            <a:ext cx="3145837" cy="1496847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0 =&gt; </a:t>
            </a:r>
            <a:r>
              <a:rPr lang="en-US" sz="1467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prolapse</a:t>
            </a:r>
          </a:p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1 =&gt; </a:t>
            </a:r>
            <a:r>
              <a:rPr lang="en-US" sz="1467" b="1" u="sng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Halfway to hymen</a:t>
            </a:r>
          </a:p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2 =&gt; </a:t>
            </a:r>
            <a:r>
              <a:rPr lang="en-US" sz="1467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hymen</a:t>
            </a:r>
          </a:p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3 =&gt; </a:t>
            </a:r>
            <a:r>
              <a:rPr lang="en-US" sz="1467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Halfway past hymen</a:t>
            </a:r>
          </a:p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 4 =&gt; </a:t>
            </a:r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descent</a:t>
            </a:r>
            <a:endParaRPr lang="en-US" sz="1467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31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7C4B-A8B6-4B14-B19A-843B75E4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225"/>
            <a:ext cx="10515600" cy="84124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Approach to treatment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E50E3-AB27-4F19-8831-359024011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 choice depends on the</a:t>
            </a:r>
          </a:p>
          <a:p>
            <a:pPr marL="571500" lvl="1" indent="-171450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and severity of symptom</a:t>
            </a:r>
          </a:p>
          <a:p>
            <a:pPr marL="571500" lvl="1" indent="-171450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and medical comorbidities</a:t>
            </a:r>
          </a:p>
          <a:p>
            <a:pPr marL="571500" lvl="1" indent="-171450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 for future sexual function and/or fertility and</a:t>
            </a:r>
          </a:p>
          <a:p>
            <a:pPr marL="571500" lvl="1" indent="-171450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factors for recurrence.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 goals strive </a:t>
            </a: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symptom relief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therapy benefits should always outweigh risks.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075A0-73FE-4FC4-B9AC-22D66F4A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49EDC-9FE7-47F9-AD04-D8832E4A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D2E2D-EDDB-42F7-94D5-A2794563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4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3C7E-9E14-4F4A-BC20-D8140520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08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TREATMENT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69183-6433-45B2-BCD0-CBC3F812F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4376927"/>
          </a:xfrm>
        </p:spPr>
        <p:txBody>
          <a:bodyPr>
            <a:normAutofit fontScale="85000" lnSpcReduction="10000"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4 modes of mx.</a:t>
            </a:r>
          </a:p>
          <a:p>
            <a:pPr marL="400050" lvl="1" indent="0">
              <a:buNone/>
            </a:pPr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Expectant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Mildly symptomatic and asymptomatic.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counseling.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Rx of worsening condition.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Estrogen replacement.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Pelvic floor exercise.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evaluation.</a:t>
            </a:r>
          </a:p>
          <a:p>
            <a:pPr marL="628650" lvl="1">
              <a:buFont typeface="+mj-lt"/>
              <a:buAutoNum type="arabicPeriod"/>
            </a:pPr>
            <a:endParaRPr lang="en-US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Nonsurgical</a:t>
            </a:r>
            <a:r>
              <a:rPr lang="en-US" b="1" dirty="0">
                <a:solidFill>
                  <a:srgbClr val="D8FB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Kegel's exercise; pessaries</a:t>
            </a:r>
          </a:p>
          <a:p>
            <a:pPr marL="400050" lvl="1" indent="0">
              <a:buNone/>
            </a:pP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Surgical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abdominal: vaginal.</a:t>
            </a:r>
          </a:p>
          <a:p>
            <a:pPr marL="628650" lvl="1"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Pharmacologic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estrogen; </a:t>
            </a:r>
            <a:r>
              <a:rPr 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promoting factors; modification of urinary complaint.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FAFA5-E25E-472A-9EFB-6E589387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19F2-C281-4A7D-B351-1B1EA5AC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97421-7FA2-4F42-8407-D665B00D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400" y="1295400"/>
            <a:ext cx="4470400" cy="4114800"/>
          </a:xfrm>
          <a:prstGeom prst="rect">
            <a:avLst/>
          </a:prstGeom>
        </p:spPr>
      </p:pic>
      <p:sp>
        <p:nvSpPr>
          <p:cNvPr id="6" name="Content Placeholder 5"/>
          <p:cNvSpPr txBox="1">
            <a:spLocks/>
          </p:cNvSpPr>
          <p:nvPr/>
        </p:nvSpPr>
        <p:spPr>
          <a:xfrm>
            <a:off x="7416800" y="1981201"/>
            <a:ext cx="2743200" cy="2743199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u="sng" dirty="0">
                <a:solidFill>
                  <a:srgbClr val="C00000"/>
                </a:solidFill>
                <a:latin typeface="Berlin Sans FB Demi" panose="020E0802020502020306" pitchFamily="34" charset="0"/>
              </a:rPr>
              <a:t>Types of Milex pessaries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Cube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Gehrung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Hodge with knob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Regula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Gellhorn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Shaatz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Incontinence dish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Ring pessary</a:t>
            </a:r>
          </a:p>
          <a:p>
            <a:pPr marL="304792" indent="-304792">
              <a:buFont typeface="+mj-lt"/>
              <a:buAutoNum type="alphaUcPeriod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Donut pessary</a:t>
            </a:r>
            <a:endParaRPr lang="en-US" sz="1467" b="1" dirty="0"/>
          </a:p>
        </p:txBody>
      </p:sp>
    </p:spTree>
    <p:extLst>
      <p:ext uri="{BB962C8B-B14F-4D97-AF65-F5344CB8AC3E}">
        <p14:creationId xmlns:p14="http://schemas.microsoft.com/office/powerpoint/2010/main" val="308999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9D5EF4-E633-41CE-8C0C-6D1CBFB3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URINARY INCONTINENCE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A8D3B8-769E-4FE5-ADC3-D79D0EEFF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4FA88-6FE2-451E-B130-B17143F7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27DE9-3985-4E65-9F8B-AC65B383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A4A2B-DB38-4DC3-B025-7892E239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2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6630AF-499A-4739-9444-8CFFEF8F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Definition</a:t>
            </a:r>
            <a:r>
              <a:rPr lang="en-GB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9B6567-2537-42DE-AA9A-1AA5B74AD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Urinary incontinence is defined as involuntary leakage of urine.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in contrast to urine that leaks from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extraurethral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sources, such as with fistulas or congenital malformations of the LUT. 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5774-B5DC-4450-9324-F84388A5C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E921-F054-4DE4-8FDF-7010BAB80C9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768E-9B2D-4A6A-B528-69E2E304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D3BD0-6259-4061-B4FD-84260FEF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7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C513-C533-49E4-B8B8-DEF752D5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Berlin Sans FB Demi" panose="020E0802020502020306" pitchFamily="34" charset="0"/>
              </a:rPr>
              <a:t>Cont</a:t>
            </a:r>
            <a:r>
              <a:rPr lang="en-GB" dirty="0">
                <a:latin typeface="Berlin Sans FB Demi" panose="020E0802020502020306" pitchFamily="34" charset="0"/>
              </a:rPr>
              <a:t>’…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EBC39-39CE-4347-8641-4F4BD32E1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Urinary incontinence can significantly impair quality of life and lead to</a:t>
            </a:r>
          </a:p>
          <a:p>
            <a:pPr marL="571500" lvl="1" indent="-1714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Disrupted social relationships</a:t>
            </a:r>
          </a:p>
          <a:p>
            <a:pPr marL="571500" lvl="1" indent="-1714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Embarrassment and frustration</a:t>
            </a:r>
          </a:p>
          <a:p>
            <a:pPr marL="571500" lvl="1" indent="-1714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Hospitalizations due to skin breakdown and UTI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571500" lvl="1" indent="-1714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Nursing home admission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1550" lvl="2" indent="-1714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incontinent elderly woman is 2.5x more likely to be admitted to a nursing home than a continent one.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7FF40-8F56-4D51-83E6-131DD4C4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DB295-A1C4-4A29-AE46-A2923D96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74340-909A-493D-888B-2E02B03F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3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60B8-B308-4E6E-9D2B-CECDF10A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Classification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E28F-3F7A-4BF2-B98B-C97A40F7E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ambulatory women with urinary incontinence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arenR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type is SUI =&gt; 29 – 75% of cases</a:t>
            </a:r>
          </a:p>
          <a:p>
            <a:pPr marL="857250" lvl="1" indent="-457200">
              <a:buFont typeface="+mj-lt"/>
              <a:buAutoNum type="arabicParenR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UUI accounts for 33% of cases</a:t>
            </a:r>
          </a:p>
          <a:p>
            <a:pPr marL="857250" lvl="1" indent="-457200">
              <a:buFont typeface="+mj-lt"/>
              <a:buAutoNum type="arabicParenR"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remainder is attributable to mixed forms.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CFF7-0880-4903-BB1D-34DC2098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299D1-FEE7-4658-AF6B-EF86CD51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97745-ACC4-4E81-9E99-AC6174DE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5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E0A7-3778-4660-8716-5171189D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Risk factors</a:t>
            </a:r>
            <a:br>
              <a:rPr lang="en-US" b="1" dirty="0">
                <a:solidFill>
                  <a:srgbClr val="0070C0"/>
                </a:solidFill>
                <a:latin typeface="Berlin Sans FB Demi" panose="020E0802020502020306" pitchFamily="34" charset="0"/>
              </a:rPr>
            </a:b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C765-8774-44B3-84D8-FDED7DA5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Obesity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Smoking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Pregnancy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Childbirth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Menopause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678E-2AB5-45CD-A544-2BA85A8A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6307-CA88-4C32-8759-12E02FF6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AD3F-B6E1-4620-B2A4-0EAF8EE2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4C637-B796-4EAB-BD40-E9E641EFE472}"/>
              </a:ext>
            </a:extLst>
          </p:cNvPr>
          <p:cNvSpPr txBox="1"/>
          <p:nvPr/>
        </p:nvSpPr>
        <p:spPr>
          <a:xfrm>
            <a:off x="6412992" y="1999488"/>
            <a:ext cx="40629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Urinary symptoms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 impairment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impairment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Chronically IAP: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 cough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Constipation</a:t>
            </a:r>
          </a:p>
          <a:p>
            <a:pPr marL="571500" lvl="1" indent="-1714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Occupational lifting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820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7C95001-F4C1-4C6E-8049-AEA7F715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Causes of two main types of incontinence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05879B-38D5-4906-9DCF-4364316B5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>
                <a:latin typeface="Berlin Sans FB Demi" panose="020E0802020502020306" pitchFamily="34" charset="0"/>
              </a:rPr>
              <a:t>Stress incontinence</a:t>
            </a:r>
          </a:p>
          <a:p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939CD4-1462-41B8-9E05-BD1834DF7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 w="28575"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closure pressure in the urethra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IAP (cough, sneeze)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Impairment</a:t>
            </a:r>
          </a:p>
          <a:p>
            <a:pPr marL="571500" lvl="1" indent="-171450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Urethral sphincter insufficiency</a:t>
            </a:r>
          </a:p>
          <a:p>
            <a:pPr marL="571500" lvl="1" indent="-171450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Endopelvic fascial stretch or tear</a:t>
            </a:r>
          </a:p>
          <a:p>
            <a:pPr marL="571500" lvl="1" indent="-171450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Levator ani muscle weakness</a:t>
            </a:r>
          </a:p>
          <a:p>
            <a:pPr marL="571500" lvl="1" indent="-171450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Pudendal neuropathy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US" sz="1200" b="1" u="sng" dirty="0">
              <a:solidFill>
                <a:srgbClr val="F79646">
                  <a:lumMod val="75000"/>
                </a:srgb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83CCC1-B547-4DA8-9C87-14AC082CC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u="sng" dirty="0">
                <a:latin typeface="Berlin Sans FB Demi" panose="020E0802020502020306" pitchFamily="34" charset="0"/>
              </a:rPr>
              <a:t>Urgency incontinence</a:t>
            </a:r>
          </a:p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A834A1-0CC7-4D38-8685-54481AA637F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Uncontrolled detrusor </a:t>
            </a:r>
            <a:r>
              <a:rPr lang="en-US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contractions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Impairment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F79646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bladder sensation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F79646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Urinary tract infections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F79646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Poorly compliant bladder wall</a:t>
            </a:r>
          </a:p>
          <a:p>
            <a:pPr marL="571500" lvl="1" indent="-1714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F79646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Idiopathic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C4509-9684-4336-8BA9-4DBC413A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FE11-5C91-4A84-9A3E-6A919DEA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85CF8-8581-4E4C-9785-8E24474A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 txBox="1">
            <a:spLocks/>
          </p:cNvSpPr>
          <p:nvPr/>
        </p:nvSpPr>
        <p:spPr>
          <a:xfrm>
            <a:off x="304801" y="2592916"/>
            <a:ext cx="3657599" cy="262526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Bladder anatomy</a:t>
            </a:r>
            <a:endParaRPr lang="en-US" sz="14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594" indent="-228594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Bladder wall contains mucosal, submucosal, muscular &amp; adventitia.</a:t>
            </a:r>
          </a:p>
          <a:p>
            <a:pPr marL="228594" indent="-228594"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228594" indent="-228594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plexiform arrangement of muscle fibers of detrusor ms cause difficulty in defining its 3 distinct layers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1193801"/>
            <a:ext cx="7930709" cy="45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2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914401" y="2540859"/>
            <a:ext cx="4759839" cy="1700941"/>
          </a:xfrm>
          <a:ln w="19050">
            <a:solidFill>
              <a:srgbClr val="00B050"/>
            </a:solidFill>
          </a:ln>
        </p:spPr>
        <p:txBody>
          <a:bodyPr>
            <a:noAutofit/>
          </a:bodyPr>
          <a:lstStyle/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The bladder dome is rich in</a:t>
            </a:r>
          </a:p>
          <a:p>
            <a:pPr marL="761981" lvl="1" indent="-228594">
              <a:buFont typeface="Wingdings" panose="05000000000000000000" pitchFamily="2" charset="2"/>
              <a:buChar char="Ø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Parasympathetic muscarinic receptors (M) &amp; </a:t>
            </a:r>
          </a:p>
          <a:p>
            <a:pPr marL="761981" lvl="1" indent="-228594">
              <a:buFont typeface="Wingdings" panose="05000000000000000000" pitchFamily="2" charset="2"/>
              <a:buChar char="Ø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Sympathetic β-adrenergic receptors (β).</a:t>
            </a:r>
          </a:p>
          <a:p>
            <a:pPr marL="228594" indent="-228594">
              <a:buFont typeface="Wingdings" panose="05000000000000000000" pitchFamily="2" charset="2"/>
              <a:buChar char="v"/>
            </a:pPr>
            <a:endParaRPr lang="en-US" sz="1467" b="1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  <a:p>
            <a:pPr marL="228594" indent="-228594">
              <a:buFont typeface="Wingdings" panose="05000000000000000000" pitchFamily="2" charset="2"/>
              <a:buChar char="v"/>
            </a:pPr>
            <a:r>
              <a:rPr lang="en-US" sz="1467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The bladder neck contains greater density of sympathetic α-adrenergic receptors.</a:t>
            </a:r>
          </a:p>
        </p:txBody>
      </p:sp>
      <p:pic>
        <p:nvPicPr>
          <p:cNvPr id="9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4000" y="1128613"/>
            <a:ext cx="4537405" cy="45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9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A32F33-A130-4FCD-B1B0-89BC94CC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DIAGNOSIS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755B2A-D174-4A60-AAF6-D8BDF1983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clustering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Urinary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sxs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complaints may be collected through direct conversation but can be augmented with patient questionnaires. 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forms are </a:t>
            </a:r>
            <a:r>
              <a:rPr 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Pelvic Floor Distress Inventory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Pelvic Floor Impact Questionnaire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are available in long &amp; short forms and evaluate urinary, bowel &amp; prolapse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sxs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2FAB3-DC03-49E6-B97F-218CE490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E959D-ACA4-4E80-8552-E25C0007DB92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A72B7-FB48-41AE-92DB-53356184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3F725-6546-4FD8-BADE-918B74E3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1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064" y="195072"/>
            <a:ext cx="8485632" cy="610584"/>
          </a:xfrm>
          <a:ln>
            <a:solidFill>
              <a:srgbClr val="00B05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The three Incontinence Questions (3IQ)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11277600" cy="4962144"/>
          </a:xfrm>
          <a:ln w="28575">
            <a:solidFill>
              <a:srgbClr val="00B050"/>
            </a:solidFill>
          </a:ln>
        </p:spPr>
        <p:txBody>
          <a:bodyPr>
            <a:noAutofit/>
          </a:bodyPr>
          <a:lstStyle/>
          <a:p>
            <a:pPr marL="304792" indent="-304792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last 3 months, have you leaked urine (even a small amount)?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Yes (continue questions)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No (questionnaire completed)</a:t>
            </a:r>
          </a:p>
          <a:p>
            <a:pPr marL="304792" indent="-304792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792" indent="-304792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last 3 months, did you leak urine: (mark all that apply)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When you were performing some physical activity, such as coughing, sneezing, lifting, or exercise?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When you had the urge or feeling that you needed to empty your bladder, but you could not get to the toilet fast enough?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Without physical activity and without a sense of urgency?</a:t>
            </a:r>
          </a:p>
          <a:p>
            <a:pPr marL="304792" indent="-304792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4792" indent="-304792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last 3 months, did you leak urine most often: (mark only one)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When you were performing some physical activity, such as coughing, sneezing, lifting, or exercise?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When you had the urge or feeling that you needed to empty your bladder, but you could not get to the toilet fast enough?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Without physical activity and without a sense of urgency?</a:t>
            </a:r>
          </a:p>
          <a:p>
            <a:pPr marL="533387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About equally as often with physical activity as with a sense of urgency?</a:t>
            </a:r>
          </a:p>
          <a:p>
            <a:pPr marL="1295368" lvl="2" indent="-228594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to question 3 with (a) or (b) indicates stress-predominant or urgency-predominant incontinence, respectively, whereas (d) indicates mixed and (c) suggests another cause of incontinence.</a:t>
            </a:r>
          </a:p>
        </p:txBody>
      </p:sp>
    </p:spTree>
    <p:extLst>
      <p:ext uri="{BB962C8B-B14F-4D97-AF65-F5344CB8AC3E}">
        <p14:creationId xmlns:p14="http://schemas.microsoft.com/office/powerpoint/2010/main" val="19097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4FDF-695F-444F-832A-350547847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028"/>
            <a:ext cx="10515600" cy="7515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Berlin Sans FB Demi" panose="020E0802020502020306" pitchFamily="34" charset="0"/>
              </a:rPr>
              <a:t>Voiding diary</a:t>
            </a:r>
            <a:br>
              <a:rPr lang="en-US" dirty="0">
                <a:solidFill>
                  <a:srgbClr val="0070C0"/>
                </a:solidFill>
                <a:latin typeface="Berlin Sans FB Demi" panose="020E0802020502020306" pitchFamily="34" charset="0"/>
              </a:rPr>
            </a:b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96CCE-9BC6-42D8-AC00-E82EDAA52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552"/>
            <a:ext cx="10515600" cy="5189411"/>
          </a:xfrm>
        </p:spPr>
        <p:txBody>
          <a:bodyPr/>
          <a:lstStyle/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for 3 – 7 days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this diary information can serve as a baseline against which treatment effectiveness can be assessed.</a:t>
            </a:r>
          </a:p>
          <a:p>
            <a:pPr marL="0" indent="0" fontAlgn="t">
              <a:buNone/>
            </a:pPr>
            <a:endParaRPr lang="en-US" b="1" u="sng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  <a:p>
            <a:pPr marL="0" indent="0" fontAlgn="t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F28F6-0F2E-4F0C-AAF2-D7523C78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A577C-BC09-4B92-B7B6-798E0497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5540F-7EE1-454E-BAA4-F40F97B2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68D44D-8506-42FC-BAC0-439E2D9D2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5084"/>
              </p:ext>
            </p:extLst>
          </p:nvPr>
        </p:nvGraphicFramePr>
        <p:xfrm>
          <a:off x="1028700" y="2828544"/>
          <a:ext cx="10325100" cy="3041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275">
                  <a:extLst>
                    <a:ext uri="{9D8B030D-6E8A-4147-A177-3AD203B41FA5}">
                      <a16:colId xmlns:a16="http://schemas.microsoft.com/office/drawing/2014/main" val="1138692854"/>
                    </a:ext>
                  </a:extLst>
                </a:gridCol>
                <a:gridCol w="2192696">
                  <a:extLst>
                    <a:ext uri="{9D8B030D-6E8A-4147-A177-3AD203B41FA5}">
                      <a16:colId xmlns:a16="http://schemas.microsoft.com/office/drawing/2014/main" val="1738094292"/>
                    </a:ext>
                  </a:extLst>
                </a:gridCol>
                <a:gridCol w="2442497">
                  <a:extLst>
                    <a:ext uri="{9D8B030D-6E8A-4147-A177-3AD203B41FA5}">
                      <a16:colId xmlns:a16="http://schemas.microsoft.com/office/drawing/2014/main" val="2226371220"/>
                    </a:ext>
                  </a:extLst>
                </a:gridCol>
                <a:gridCol w="3108632">
                  <a:extLst>
                    <a:ext uri="{9D8B030D-6E8A-4147-A177-3AD203B41FA5}">
                      <a16:colId xmlns:a16="http://schemas.microsoft.com/office/drawing/2014/main" val="198377545"/>
                    </a:ext>
                  </a:extLst>
                </a:gridCol>
              </a:tblGrid>
              <a:tr h="608381">
                <a:tc gridSpan="4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Bladder Diary:</a:t>
                      </a:r>
                      <a:r>
                        <a:rPr lang="en-US" sz="1400" b="1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Please record the time and amount of your oral intake, UOP,</a:t>
                      </a:r>
                      <a:r>
                        <a:rPr lang="en-US" sz="1400" b="1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urine leakage, and pad changes for 3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09734"/>
                  </a:ext>
                </a:extLst>
              </a:tr>
              <a:tr h="60838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Oral intake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Voided urine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Urine leakage</a:t>
                      </a:r>
                      <a:r>
                        <a:rPr lang="en-US" sz="1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pad change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098080"/>
                  </a:ext>
                </a:extLst>
              </a:tr>
              <a:tr h="608381">
                <a:tc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272193"/>
                  </a:ext>
                </a:extLst>
              </a:tr>
              <a:tr h="608381"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127601"/>
                  </a:ext>
                </a:extLst>
              </a:tr>
              <a:tr h="608381"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latin typeface="Berlin Sans FB Demi" panose="020E0802020502020306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954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97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EE80BC-7BBE-43D5-A6A9-3C824CF6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8BF5BA-EE1A-4E13-9773-B56F48FEB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33856"/>
            <a:ext cx="5181600" cy="5043107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Urinary symptoms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Urinary frequency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Nocturia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Urinary retention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void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impeded urinary stream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of urine lost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Postvoid dribbling</a:t>
            </a:r>
          </a:p>
          <a:p>
            <a:pPr lvl="1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Hematuria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68D9EC-4958-4552-8D06-1AD798701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60425"/>
            <a:ext cx="5181600" cy="5316538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70C0"/>
                </a:solidFill>
                <a:latin typeface="Berlin Sans FB Demi" panose="020E0802020502020306" pitchFamily="34" charset="0"/>
              </a:rPr>
              <a:t>Past medical history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43BAD-D916-4549-B3C4-66980D0F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595C5-FA61-4D44-9837-2B9CBF53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87E04-09A6-43BA-8CC0-7F377029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26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E085981-0E7C-4AAE-B5E8-B8224F530FBA}"/>
              </a:ext>
            </a:extLst>
          </p:cNvPr>
          <p:cNvSpPr txBox="1">
            <a:spLocks/>
          </p:cNvSpPr>
          <p:nvPr/>
        </p:nvSpPr>
        <p:spPr>
          <a:xfrm>
            <a:off x="6352794" y="1386078"/>
            <a:ext cx="3632454" cy="390525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ementia/delirium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nfection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trophic vaginitis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sychological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3F5360F-3F5C-457A-AA3A-30924DB65AD6}"/>
              </a:ext>
            </a:extLst>
          </p:cNvPr>
          <p:cNvSpPr txBox="1">
            <a:spLocks/>
          </p:cNvSpPr>
          <p:nvPr/>
        </p:nvSpPr>
        <p:spPr>
          <a:xfrm>
            <a:off x="6352794" y="3096768"/>
            <a:ext cx="3352038" cy="271881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harmacologic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ndocrine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estricted mobility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impaction</a:t>
            </a:r>
          </a:p>
        </p:txBody>
      </p:sp>
    </p:spTree>
    <p:extLst>
      <p:ext uri="{BB962C8B-B14F-4D97-AF65-F5344CB8AC3E}">
        <p14:creationId xmlns:p14="http://schemas.microsoft.com/office/powerpoint/2010/main" val="3490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979579"/>
            <a:ext cx="2970924" cy="1020763"/>
          </a:xfrm>
          <a:ln w="19050">
            <a:solidFill>
              <a:srgbClr val="00B05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14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Medications that may contribute to incontinence</a:t>
            </a:r>
            <a:r>
              <a:rPr lang="en-US" sz="1467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67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67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8925" y="146304"/>
            <a:ext cx="8383891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0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4BF785B-7879-4720-B22C-10A01BAA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  <a:latin typeface="Berlin Sans FB Demi" panose="020E0802020502020306" pitchFamily="34" charset="0"/>
              </a:rPr>
              <a:t>Physical examination</a:t>
            </a:r>
            <a:br>
              <a:rPr lang="en-US" b="1" u="sng" dirty="0">
                <a:solidFill>
                  <a:srgbClr val="0070C0"/>
                </a:solidFill>
                <a:latin typeface="Berlin Sans FB Demi" panose="020E0802020502020306" pitchFamily="34" charset="0"/>
              </a:rPr>
            </a:b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42FE839-E21F-4E5D-83B6-129E9E68E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inspection and neurologic evaluation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Pelvic support assessment- </a:t>
            </a:r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Q-tip test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Bimanual and rectovaginal examination</a:t>
            </a:r>
          </a:p>
          <a:p>
            <a:endParaRPr lang="en-US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  <a:p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99BAF-7690-412D-9AB9-6AA9D513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036EC-EF33-47A2-9A35-A3D20101BD11}" type="datetime1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082AD-BCA4-46EF-AAE1-054FD53B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CB4F0-E2E4-431D-93FB-DDB4239C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7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4E2B-1922-47AD-B18B-CAA4121C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Diagnostic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6CC06-9328-4124-A2E0-98F60076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Urinalysis and culture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Postvoid residual volume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Urodynamic studies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cystometrics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Multichannel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cystometrics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Uroflowmetry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Cystometrography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flowmetry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4925C-73A9-408B-A80A-F518304E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7A7A8-DD23-4B40-804A-F936F121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FFE01-5A2A-426C-B247-BC5A25C5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924B-4EB7-45AD-9AD9-0C57CB10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Berlin Sans FB Demi" panose="020E0802020502020306" pitchFamily="34" charset="0"/>
              </a:rPr>
              <a:t>Treatment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D967-06E0-414A-B1DE-84F2F658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Expectant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Pessary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Pharmacologic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Surgical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02717-049E-4ED7-A50B-6A13D028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8C3-9DC6-4A32-ADD7-4B377DAAE0A7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B311-3631-4154-8BA1-8BFB1BDE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Dr.Edimealem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CEC3F-9D88-45D2-AE80-2A92BC29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0B161-E1FF-F046-8250-F40BD726598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8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5903A1-8D6D-449C-9246-1D3FBBC8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1485"/>
          </a:xfrm>
        </p:spPr>
        <p:txBody>
          <a:bodyPr/>
          <a:lstStyle/>
          <a:p>
            <a:pPr algn="ctr"/>
            <a:r>
              <a:rPr lang="am-ET" dirty="0"/>
              <a:t>መልካም አዲስ አመት ፤ እንቁጣጣሽ!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72D6-DFEB-4EE1-B623-04E86D0E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77C05-EEFF-42D7-B9DE-1F3CAD34DC86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7839F-95AB-4856-9120-D4438FD5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Edimealem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B91C22-1A4B-49BB-8114-03E7ACDFE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49" y="808805"/>
            <a:ext cx="10960251" cy="534404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71985-D0FF-4F33-B13B-24FF1290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D7BBB-DC5F-4619-A9CD-0C0A78F2CCEE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200E280-7326-4569-A2FE-EBEAE73D586D}"/>
              </a:ext>
            </a:extLst>
          </p:cNvPr>
          <p:cNvGraphicFramePr/>
          <p:nvPr/>
        </p:nvGraphicFramePr>
        <p:xfrm>
          <a:off x="160035" y="1001486"/>
          <a:ext cx="2579234" cy="2427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5B474AC4-EDA3-4338-9BA8-80808C0699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409" y="1001486"/>
            <a:ext cx="2143125" cy="2143125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0052BE-E41C-4875-9F56-7D658F1C13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650" y="3730436"/>
            <a:ext cx="1943100" cy="182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A86D09-BD06-43E5-A12A-1C000B2812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56" y="4630585"/>
            <a:ext cx="1943100" cy="18288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57823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6579</TotalTime>
  <Words>1345</Words>
  <Application>Microsoft Office PowerPoint</Application>
  <PresentationFormat>Widescreen</PresentationFormat>
  <Paragraphs>305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Angsana New</vt:lpstr>
      <vt:lpstr>Arial</vt:lpstr>
      <vt:lpstr>Berlin Sans FB Demi</vt:lpstr>
      <vt:lpstr>Calibri</vt:lpstr>
      <vt:lpstr>Courier New</vt:lpstr>
      <vt:lpstr>Gotham</vt:lpstr>
      <vt:lpstr>Times New Roman</vt:lpstr>
      <vt:lpstr>Wingdings</vt:lpstr>
      <vt:lpstr>1_Office Theme</vt:lpstr>
      <vt:lpstr>  PELVIC ORGAN PROLAPSE AND URINARY INCONTINENCE </vt:lpstr>
      <vt:lpstr>Outline</vt:lpstr>
      <vt:lpstr>Pelvic organ prolapse</vt:lpstr>
      <vt:lpstr>Risk factors for the development of POP</vt:lpstr>
      <vt:lpstr>Pelvic support structures </vt:lpstr>
      <vt:lpstr>PowerPoint Presentation</vt:lpstr>
      <vt:lpstr>Clinical manifestation </vt:lpstr>
      <vt:lpstr>PHYSICAL EXAMINATION </vt:lpstr>
      <vt:lpstr>PowerPoint Presentation</vt:lpstr>
      <vt:lpstr>POP-Q staging system of pelvic organ support</vt:lpstr>
      <vt:lpstr>Baden-Walker halfway system for staging POP</vt:lpstr>
      <vt:lpstr>Approach to treatment</vt:lpstr>
      <vt:lpstr>TREATMENT APPROACH </vt:lpstr>
      <vt:lpstr>PowerPoint Presentation</vt:lpstr>
      <vt:lpstr>URINARY INCONTINENCE</vt:lpstr>
      <vt:lpstr>Definition </vt:lpstr>
      <vt:lpstr>Cont’…</vt:lpstr>
      <vt:lpstr>Classification </vt:lpstr>
      <vt:lpstr>Risk factors </vt:lpstr>
      <vt:lpstr>Causes of two main types of incontinence</vt:lpstr>
      <vt:lpstr>PowerPoint Presentation</vt:lpstr>
      <vt:lpstr>PowerPoint Presentation</vt:lpstr>
      <vt:lpstr>DIAGNOSIS </vt:lpstr>
      <vt:lpstr>The three Incontinence Questions (3IQ)</vt:lpstr>
      <vt:lpstr>Voiding diary </vt:lpstr>
      <vt:lpstr>PowerPoint Presentation</vt:lpstr>
      <vt:lpstr>Medications that may contribute to incontinence </vt:lpstr>
      <vt:lpstr>Physical examination </vt:lpstr>
      <vt:lpstr>Diagnostic tests</vt:lpstr>
      <vt:lpstr>Treatment </vt:lpstr>
      <vt:lpstr>መልካም አዲስ አመት ፤ እንቁጣጣሽ!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COPD</dc:title>
  <dc:creator>THIS PC</dc:creator>
  <cp:lastModifiedBy>edimealemtizazu@gmail.com</cp:lastModifiedBy>
  <cp:revision>241</cp:revision>
  <dcterms:created xsi:type="dcterms:W3CDTF">2021-06-04T16:13:27Z</dcterms:created>
  <dcterms:modified xsi:type="dcterms:W3CDTF">2025-09-07T18:30:53Z</dcterms:modified>
</cp:coreProperties>
</file>