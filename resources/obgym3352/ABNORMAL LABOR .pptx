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7" r:id="rId2"/>
    <p:sldId id="258" r:id="rId3"/>
    <p:sldId id="259" r:id="rId4"/>
    <p:sldId id="304" r:id="rId5"/>
    <p:sldId id="260" r:id="rId6"/>
    <p:sldId id="261" r:id="rId7"/>
    <p:sldId id="262" r:id="rId8"/>
    <p:sldId id="263" r:id="rId9"/>
    <p:sldId id="269" r:id="rId10"/>
    <p:sldId id="270" r:id="rId11"/>
    <p:sldId id="264" r:id="rId12"/>
    <p:sldId id="271" r:id="rId13"/>
    <p:sldId id="272" r:id="rId14"/>
    <p:sldId id="273" r:id="rId15"/>
    <p:sldId id="306" r:id="rId16"/>
    <p:sldId id="274" r:id="rId17"/>
    <p:sldId id="308" r:id="rId18"/>
    <p:sldId id="265" r:id="rId19"/>
    <p:sldId id="277" r:id="rId20"/>
    <p:sldId id="276" r:id="rId21"/>
    <p:sldId id="266" r:id="rId22"/>
    <p:sldId id="307" r:id="rId23"/>
    <p:sldId id="278" r:id="rId24"/>
    <p:sldId id="279" r:id="rId25"/>
    <p:sldId id="267" r:id="rId26"/>
    <p:sldId id="280" r:id="rId27"/>
    <p:sldId id="281" r:id="rId28"/>
    <p:sldId id="282" r:id="rId29"/>
    <p:sldId id="283" r:id="rId30"/>
    <p:sldId id="291" r:id="rId31"/>
    <p:sldId id="292" r:id="rId32"/>
    <p:sldId id="293" r:id="rId33"/>
    <p:sldId id="294" r:id="rId34"/>
    <p:sldId id="295" r:id="rId35"/>
    <p:sldId id="284" r:id="rId36"/>
    <p:sldId id="296" r:id="rId37"/>
    <p:sldId id="285" r:id="rId38"/>
    <p:sldId id="286" r:id="rId39"/>
    <p:sldId id="287" r:id="rId40"/>
    <p:sldId id="297" r:id="rId41"/>
    <p:sldId id="298" r:id="rId42"/>
    <p:sldId id="302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58" autoAdjust="0"/>
  </p:normalViewPr>
  <p:slideViewPr>
    <p:cSldViewPr>
      <p:cViewPr varScale="1">
        <p:scale>
          <a:sx n="71" d="100"/>
          <a:sy n="71" d="100"/>
        </p:scale>
        <p:origin x="-1136" y="-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E56891-3FFE-4D01-9BB7-E13E7D4820E9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C6B367-A31D-4249-AFCB-AEEFF7600723}">
      <dgm:prSet phldrT="[Text]"/>
      <dgm:spPr>
        <a:solidFill>
          <a:srgbClr val="C00000"/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Labor</a:t>
          </a:r>
          <a:endParaRPr lang="en-US" b="1" dirty="0">
            <a:solidFill>
              <a:schemeClr val="tx1"/>
            </a:solidFill>
          </a:endParaRPr>
        </a:p>
      </dgm:t>
    </dgm:pt>
    <dgm:pt modelId="{FBC15BF8-F3DB-482C-BD66-89C07F1E0432}" type="parTrans" cxnId="{7C38E621-B22E-438B-92FC-3B1B5176898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B8F7017-8B6F-429A-8829-91F9102338BD}" type="sibTrans" cxnId="{7C38E621-B22E-438B-92FC-3B1B5176898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6D10D20-3B1C-4F10-AA34-522D1939E9A4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1</a:t>
          </a:r>
          <a:r>
            <a:rPr lang="en-US" baseline="30000" dirty="0" smtClean="0">
              <a:solidFill>
                <a:schemeClr val="tx1"/>
              </a:solidFill>
            </a:rPr>
            <a:t>st</a:t>
          </a:r>
          <a:r>
            <a:rPr lang="en-US" dirty="0" smtClean="0">
              <a:solidFill>
                <a:schemeClr val="tx1"/>
              </a:solidFill>
            </a:rPr>
            <a:t> Stage</a:t>
          </a:r>
          <a:endParaRPr lang="en-US" dirty="0">
            <a:solidFill>
              <a:schemeClr val="tx1"/>
            </a:solidFill>
          </a:endParaRPr>
        </a:p>
      </dgm:t>
    </dgm:pt>
    <dgm:pt modelId="{626ED167-DB65-4FEB-AC5B-48F4D0AF5EB5}" type="parTrans" cxnId="{D8345D79-8822-45CB-A895-CE37D35568DF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7CD9691-88BA-4E10-8510-6797FB9E007F}" type="sibTrans" cxnId="{D8345D79-8822-45CB-A895-CE37D35568DF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6B011CC-AA50-4CE2-B1AA-C6124F57BD3A}">
      <dgm:prSet phldrT="[Text]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Latent</a:t>
          </a:r>
          <a:endParaRPr lang="en-US" dirty="0">
            <a:solidFill>
              <a:schemeClr val="tx1"/>
            </a:solidFill>
          </a:endParaRPr>
        </a:p>
      </dgm:t>
    </dgm:pt>
    <dgm:pt modelId="{68082D3F-A132-4412-9D86-325B7C49DB5F}" type="parTrans" cxnId="{623EA923-39EF-40BE-B917-190B621E7E4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814E4EA-FC9E-4BC3-87D5-135EC4218D75}" type="sibTrans" cxnId="{623EA923-39EF-40BE-B917-190B621E7E4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9AA709E-D08D-43FA-820A-54D136FD9026}">
      <dgm:prSet phldrT="[Text]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Active</a:t>
          </a:r>
          <a:endParaRPr lang="en-US" dirty="0">
            <a:solidFill>
              <a:schemeClr val="tx1"/>
            </a:solidFill>
          </a:endParaRPr>
        </a:p>
      </dgm:t>
    </dgm:pt>
    <dgm:pt modelId="{9BED224E-C004-4FD1-9433-49C9D8143225}" type="parTrans" cxnId="{DF05AFBA-82E4-47BB-92B5-EDE57D1E495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A7197EB-E318-4810-8D21-74389BFA932B}" type="sibTrans" cxnId="{DF05AFBA-82E4-47BB-92B5-EDE57D1E495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106FDBF-1A29-426D-915C-8FD9326505DF}">
      <dgm:prSet phldrT="[Text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3</a:t>
          </a:r>
          <a:r>
            <a:rPr lang="en-US" baseline="30000" dirty="0" smtClean="0">
              <a:solidFill>
                <a:schemeClr val="tx1"/>
              </a:solidFill>
            </a:rPr>
            <a:t>rd</a:t>
          </a:r>
          <a:r>
            <a:rPr lang="en-US" dirty="0" smtClean="0">
              <a:solidFill>
                <a:schemeClr val="tx1"/>
              </a:solidFill>
            </a:rPr>
            <a:t> Stage</a:t>
          </a:r>
          <a:endParaRPr lang="en-US" dirty="0">
            <a:solidFill>
              <a:schemeClr val="tx1"/>
            </a:solidFill>
          </a:endParaRPr>
        </a:p>
      </dgm:t>
    </dgm:pt>
    <dgm:pt modelId="{74260F17-EBCF-43A6-9250-A3DE266D9D6F}" type="parTrans" cxnId="{5CC1B7B6-6584-4B0D-B619-B6609D285B3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0441DCD-CE29-4FCE-818B-BDB1E1259D4F}" type="sibTrans" cxnId="{5CC1B7B6-6584-4B0D-B619-B6609D285B3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0CEBEE1-76B0-455E-9389-33ABBFEB5FBF}">
      <dgm:prSet/>
      <dgm:spPr>
        <a:solidFill>
          <a:schemeClr val="accent6">
            <a:lumMod val="75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2</a:t>
          </a:r>
          <a:r>
            <a:rPr lang="en-US" baseline="30000" dirty="0" smtClean="0">
              <a:solidFill>
                <a:schemeClr val="tx1"/>
              </a:solidFill>
            </a:rPr>
            <a:t>nd</a:t>
          </a:r>
          <a:r>
            <a:rPr lang="en-US" dirty="0" smtClean="0">
              <a:solidFill>
                <a:schemeClr val="tx1"/>
              </a:solidFill>
            </a:rPr>
            <a:t> Stage</a:t>
          </a:r>
          <a:endParaRPr lang="en-US" dirty="0">
            <a:solidFill>
              <a:schemeClr val="tx1"/>
            </a:solidFill>
          </a:endParaRPr>
        </a:p>
      </dgm:t>
    </dgm:pt>
    <dgm:pt modelId="{FF7C676F-6A1A-4CED-B113-DCAA9550D1FD}" type="parTrans" cxnId="{FE31EA37-1872-4A00-9ADA-B7BE62C8C496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4CD7E6B-5A42-461C-B16E-4220C80CF732}" type="sibTrans" cxnId="{FE31EA37-1872-4A00-9ADA-B7BE62C8C496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1448C9C-507D-4732-9BE4-F6EEB49DB733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?4</a:t>
          </a:r>
          <a:r>
            <a:rPr lang="en-US" baseline="30000" dirty="0" smtClean="0">
              <a:solidFill>
                <a:schemeClr val="tx1"/>
              </a:solidFill>
            </a:rPr>
            <a:t>th</a:t>
          </a:r>
          <a:r>
            <a:rPr lang="en-US" dirty="0" smtClean="0">
              <a:solidFill>
                <a:schemeClr val="tx1"/>
              </a:solidFill>
            </a:rPr>
            <a:t> Stage</a:t>
          </a:r>
          <a:endParaRPr lang="en-US" dirty="0">
            <a:solidFill>
              <a:schemeClr val="tx1"/>
            </a:solidFill>
          </a:endParaRPr>
        </a:p>
      </dgm:t>
    </dgm:pt>
    <dgm:pt modelId="{47ADDAC2-452D-4B92-B195-3BA327D172C0}" type="parTrans" cxnId="{0177B3B4-A33E-403F-A377-A638846CFA9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D5B92E2-52DD-448C-AB97-745568525CB3}" type="sibTrans" cxnId="{0177B3B4-A33E-403F-A377-A638846CFA9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0DFDC29-790D-4BDA-8EBF-8462E9125F0F}" type="pres">
      <dgm:prSet presAssocID="{74E56891-3FFE-4D01-9BB7-E13E7D4820E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8456186-6593-444B-A4A5-3EB11C6846FB}" type="pres">
      <dgm:prSet presAssocID="{19C6B367-A31D-4249-AFCB-AEEFF7600723}" presName="root1" presStyleCnt="0"/>
      <dgm:spPr/>
    </dgm:pt>
    <dgm:pt modelId="{35BE0266-063B-40AE-A0AA-BF20A384C7A3}" type="pres">
      <dgm:prSet presAssocID="{19C6B367-A31D-4249-AFCB-AEEFF7600723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DFA28F6-1D63-4C87-99C1-5C2B02B19C29}" type="pres">
      <dgm:prSet presAssocID="{19C6B367-A31D-4249-AFCB-AEEFF7600723}" presName="level2hierChild" presStyleCnt="0"/>
      <dgm:spPr/>
    </dgm:pt>
    <dgm:pt modelId="{6BE9CD12-CAB2-49FF-8AA7-D59D51F8D358}" type="pres">
      <dgm:prSet presAssocID="{626ED167-DB65-4FEB-AC5B-48F4D0AF5EB5}" presName="conn2-1" presStyleLbl="parChTrans1D2" presStyleIdx="0" presStyleCnt="4"/>
      <dgm:spPr/>
      <dgm:t>
        <a:bodyPr/>
        <a:lstStyle/>
        <a:p>
          <a:endParaRPr lang="en-US"/>
        </a:p>
      </dgm:t>
    </dgm:pt>
    <dgm:pt modelId="{BEA66ADF-D9DB-4B13-888A-3F28CCC657E3}" type="pres">
      <dgm:prSet presAssocID="{626ED167-DB65-4FEB-AC5B-48F4D0AF5EB5}" presName="connTx" presStyleLbl="parChTrans1D2" presStyleIdx="0" presStyleCnt="4"/>
      <dgm:spPr/>
      <dgm:t>
        <a:bodyPr/>
        <a:lstStyle/>
        <a:p>
          <a:endParaRPr lang="en-US"/>
        </a:p>
      </dgm:t>
    </dgm:pt>
    <dgm:pt modelId="{914D825C-28F9-46D8-9857-C7A29A10C776}" type="pres">
      <dgm:prSet presAssocID="{E6D10D20-3B1C-4F10-AA34-522D1939E9A4}" presName="root2" presStyleCnt="0"/>
      <dgm:spPr/>
    </dgm:pt>
    <dgm:pt modelId="{8963B09D-9B47-480F-BAF6-56E60178C280}" type="pres">
      <dgm:prSet presAssocID="{E6D10D20-3B1C-4F10-AA34-522D1939E9A4}" presName="LevelTwoTextNode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10EF497-22E8-40B1-829B-40D4D16E1E95}" type="pres">
      <dgm:prSet presAssocID="{E6D10D20-3B1C-4F10-AA34-522D1939E9A4}" presName="level3hierChild" presStyleCnt="0"/>
      <dgm:spPr/>
    </dgm:pt>
    <dgm:pt modelId="{D2E3522B-0B16-4786-9044-FEE9FCC0883A}" type="pres">
      <dgm:prSet presAssocID="{68082D3F-A132-4412-9D86-325B7C49DB5F}" presName="conn2-1" presStyleLbl="parChTrans1D3" presStyleIdx="0" presStyleCnt="2"/>
      <dgm:spPr/>
      <dgm:t>
        <a:bodyPr/>
        <a:lstStyle/>
        <a:p>
          <a:endParaRPr lang="en-US"/>
        </a:p>
      </dgm:t>
    </dgm:pt>
    <dgm:pt modelId="{07183C47-EC2A-43BE-BB3A-E768B5B6334E}" type="pres">
      <dgm:prSet presAssocID="{68082D3F-A132-4412-9D86-325B7C49DB5F}" presName="connTx" presStyleLbl="parChTrans1D3" presStyleIdx="0" presStyleCnt="2"/>
      <dgm:spPr/>
      <dgm:t>
        <a:bodyPr/>
        <a:lstStyle/>
        <a:p>
          <a:endParaRPr lang="en-US"/>
        </a:p>
      </dgm:t>
    </dgm:pt>
    <dgm:pt modelId="{2CC45A1A-0509-4A71-BCC2-84C001B4D168}" type="pres">
      <dgm:prSet presAssocID="{36B011CC-AA50-4CE2-B1AA-C6124F57BD3A}" presName="root2" presStyleCnt="0"/>
      <dgm:spPr/>
    </dgm:pt>
    <dgm:pt modelId="{6AC86141-7737-44D6-BD08-DB3AD0DE2481}" type="pres">
      <dgm:prSet presAssocID="{36B011CC-AA50-4CE2-B1AA-C6124F57BD3A}" presName="LevelTwoTextNode" presStyleLbl="node3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8AEB5E2-DF94-4B56-A7F9-E853D23215B5}" type="pres">
      <dgm:prSet presAssocID="{36B011CC-AA50-4CE2-B1AA-C6124F57BD3A}" presName="level3hierChild" presStyleCnt="0"/>
      <dgm:spPr/>
    </dgm:pt>
    <dgm:pt modelId="{352B1A24-7806-4068-9A8D-5BE99638CF2E}" type="pres">
      <dgm:prSet presAssocID="{9BED224E-C004-4FD1-9433-49C9D8143225}" presName="conn2-1" presStyleLbl="parChTrans1D3" presStyleIdx="1" presStyleCnt="2"/>
      <dgm:spPr/>
      <dgm:t>
        <a:bodyPr/>
        <a:lstStyle/>
        <a:p>
          <a:endParaRPr lang="en-US"/>
        </a:p>
      </dgm:t>
    </dgm:pt>
    <dgm:pt modelId="{356BA62D-5C30-4948-BB13-03FB2F00BCE0}" type="pres">
      <dgm:prSet presAssocID="{9BED224E-C004-4FD1-9433-49C9D8143225}" presName="connTx" presStyleLbl="parChTrans1D3" presStyleIdx="1" presStyleCnt="2"/>
      <dgm:spPr/>
      <dgm:t>
        <a:bodyPr/>
        <a:lstStyle/>
        <a:p>
          <a:endParaRPr lang="en-US"/>
        </a:p>
      </dgm:t>
    </dgm:pt>
    <dgm:pt modelId="{B1841B55-A7C1-4710-ACB2-3385673E8C7B}" type="pres">
      <dgm:prSet presAssocID="{79AA709E-D08D-43FA-820A-54D136FD9026}" presName="root2" presStyleCnt="0"/>
      <dgm:spPr/>
    </dgm:pt>
    <dgm:pt modelId="{E6BFA71F-DBA2-4815-9CB8-89A5BEA13F28}" type="pres">
      <dgm:prSet presAssocID="{79AA709E-D08D-43FA-820A-54D136FD9026}" presName="LevelTwoTextNode" presStyleLbl="node3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89DCEB3-BC93-4604-B1B7-33B43CFEB7CA}" type="pres">
      <dgm:prSet presAssocID="{79AA709E-D08D-43FA-820A-54D136FD9026}" presName="level3hierChild" presStyleCnt="0"/>
      <dgm:spPr/>
    </dgm:pt>
    <dgm:pt modelId="{C0335930-A01D-410A-84F2-5B190D540128}" type="pres">
      <dgm:prSet presAssocID="{FF7C676F-6A1A-4CED-B113-DCAA9550D1FD}" presName="conn2-1" presStyleLbl="parChTrans1D2" presStyleIdx="1" presStyleCnt="4"/>
      <dgm:spPr/>
      <dgm:t>
        <a:bodyPr/>
        <a:lstStyle/>
        <a:p>
          <a:endParaRPr lang="en-US"/>
        </a:p>
      </dgm:t>
    </dgm:pt>
    <dgm:pt modelId="{A91BD3B1-F6D8-4B12-B699-FCA73FFD5898}" type="pres">
      <dgm:prSet presAssocID="{FF7C676F-6A1A-4CED-B113-DCAA9550D1FD}" presName="connTx" presStyleLbl="parChTrans1D2" presStyleIdx="1" presStyleCnt="4"/>
      <dgm:spPr/>
      <dgm:t>
        <a:bodyPr/>
        <a:lstStyle/>
        <a:p>
          <a:endParaRPr lang="en-US"/>
        </a:p>
      </dgm:t>
    </dgm:pt>
    <dgm:pt modelId="{32956C25-ADA2-4CD5-9923-229F01D51887}" type="pres">
      <dgm:prSet presAssocID="{10CEBEE1-76B0-455E-9389-33ABBFEB5FBF}" presName="root2" presStyleCnt="0"/>
      <dgm:spPr/>
    </dgm:pt>
    <dgm:pt modelId="{AC80F99F-0BB1-41C4-989D-065677DC8DE4}" type="pres">
      <dgm:prSet presAssocID="{10CEBEE1-76B0-455E-9389-33ABBFEB5FBF}" presName="LevelTwoTextNode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EC1E0D1-A080-4947-8413-11241A325CED}" type="pres">
      <dgm:prSet presAssocID="{10CEBEE1-76B0-455E-9389-33ABBFEB5FBF}" presName="level3hierChild" presStyleCnt="0"/>
      <dgm:spPr/>
    </dgm:pt>
    <dgm:pt modelId="{C56AB4E1-E223-46F8-B1DA-0C2CF678E7EF}" type="pres">
      <dgm:prSet presAssocID="{74260F17-EBCF-43A6-9250-A3DE266D9D6F}" presName="conn2-1" presStyleLbl="parChTrans1D2" presStyleIdx="2" presStyleCnt="4"/>
      <dgm:spPr/>
      <dgm:t>
        <a:bodyPr/>
        <a:lstStyle/>
        <a:p>
          <a:endParaRPr lang="en-US"/>
        </a:p>
      </dgm:t>
    </dgm:pt>
    <dgm:pt modelId="{CB3BAFF3-ABF8-4A5B-8969-71623D0789FA}" type="pres">
      <dgm:prSet presAssocID="{74260F17-EBCF-43A6-9250-A3DE266D9D6F}" presName="connTx" presStyleLbl="parChTrans1D2" presStyleIdx="2" presStyleCnt="4"/>
      <dgm:spPr/>
      <dgm:t>
        <a:bodyPr/>
        <a:lstStyle/>
        <a:p>
          <a:endParaRPr lang="en-US"/>
        </a:p>
      </dgm:t>
    </dgm:pt>
    <dgm:pt modelId="{AE1C27C1-2012-457F-B090-5DBA122EB9D6}" type="pres">
      <dgm:prSet presAssocID="{6106FDBF-1A29-426D-915C-8FD9326505DF}" presName="root2" presStyleCnt="0"/>
      <dgm:spPr/>
    </dgm:pt>
    <dgm:pt modelId="{1225E8D1-36E5-43C8-98CE-3DC81537D767}" type="pres">
      <dgm:prSet presAssocID="{6106FDBF-1A29-426D-915C-8FD9326505DF}" presName="LevelTwoTextNode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76149D5-8DFD-4036-9F8B-AB7770C3C53C}" type="pres">
      <dgm:prSet presAssocID="{6106FDBF-1A29-426D-915C-8FD9326505DF}" presName="level3hierChild" presStyleCnt="0"/>
      <dgm:spPr/>
    </dgm:pt>
    <dgm:pt modelId="{10474BEE-9470-4461-825C-8B9499C43E87}" type="pres">
      <dgm:prSet presAssocID="{47ADDAC2-452D-4B92-B195-3BA327D172C0}" presName="conn2-1" presStyleLbl="parChTrans1D2" presStyleIdx="3" presStyleCnt="4"/>
      <dgm:spPr/>
      <dgm:t>
        <a:bodyPr/>
        <a:lstStyle/>
        <a:p>
          <a:endParaRPr lang="en-US"/>
        </a:p>
      </dgm:t>
    </dgm:pt>
    <dgm:pt modelId="{547AE33E-852C-4DB5-ABAA-B5E2CF0EDA90}" type="pres">
      <dgm:prSet presAssocID="{47ADDAC2-452D-4B92-B195-3BA327D172C0}" presName="connTx" presStyleLbl="parChTrans1D2" presStyleIdx="3" presStyleCnt="4"/>
      <dgm:spPr/>
      <dgm:t>
        <a:bodyPr/>
        <a:lstStyle/>
        <a:p>
          <a:endParaRPr lang="en-US"/>
        </a:p>
      </dgm:t>
    </dgm:pt>
    <dgm:pt modelId="{8DD84F05-B50E-43B0-BD24-59B8D88114C8}" type="pres">
      <dgm:prSet presAssocID="{01448C9C-507D-4732-9BE4-F6EEB49DB733}" presName="root2" presStyleCnt="0"/>
      <dgm:spPr/>
    </dgm:pt>
    <dgm:pt modelId="{2A45DF61-6AB1-4AA0-B6DB-377D5F9239F3}" type="pres">
      <dgm:prSet presAssocID="{01448C9C-507D-4732-9BE4-F6EEB49DB733}" presName="LevelTwoTextNode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E84501C-C009-4C94-8C70-9D94D2FF76A2}" type="pres">
      <dgm:prSet presAssocID="{01448C9C-507D-4732-9BE4-F6EEB49DB733}" presName="level3hierChild" presStyleCnt="0"/>
      <dgm:spPr/>
    </dgm:pt>
  </dgm:ptLst>
  <dgm:cxnLst>
    <dgm:cxn modelId="{200F2DD3-52D2-4AE0-ABAD-9309B44607C8}" type="presOf" srcId="{74260F17-EBCF-43A6-9250-A3DE266D9D6F}" destId="{CB3BAFF3-ABF8-4A5B-8969-71623D0789FA}" srcOrd="1" destOrd="0" presId="urn:microsoft.com/office/officeart/2005/8/layout/hierarchy2"/>
    <dgm:cxn modelId="{FE31EA37-1872-4A00-9ADA-B7BE62C8C496}" srcId="{19C6B367-A31D-4249-AFCB-AEEFF7600723}" destId="{10CEBEE1-76B0-455E-9389-33ABBFEB5FBF}" srcOrd="1" destOrd="0" parTransId="{FF7C676F-6A1A-4CED-B113-DCAA9550D1FD}" sibTransId="{64CD7E6B-5A42-461C-B16E-4220C80CF732}"/>
    <dgm:cxn modelId="{0F17A352-3475-44CE-BD30-38A8AE8CC480}" type="presOf" srcId="{626ED167-DB65-4FEB-AC5B-48F4D0AF5EB5}" destId="{BEA66ADF-D9DB-4B13-888A-3F28CCC657E3}" srcOrd="1" destOrd="0" presId="urn:microsoft.com/office/officeart/2005/8/layout/hierarchy2"/>
    <dgm:cxn modelId="{27B439E0-4BEC-4380-A3FF-D4F7DE0A102F}" type="presOf" srcId="{6106FDBF-1A29-426D-915C-8FD9326505DF}" destId="{1225E8D1-36E5-43C8-98CE-3DC81537D767}" srcOrd="0" destOrd="0" presId="urn:microsoft.com/office/officeart/2005/8/layout/hierarchy2"/>
    <dgm:cxn modelId="{CEC6C8AC-C7C1-4158-84E1-18DF4A847F2C}" type="presOf" srcId="{36B011CC-AA50-4CE2-B1AA-C6124F57BD3A}" destId="{6AC86141-7737-44D6-BD08-DB3AD0DE2481}" srcOrd="0" destOrd="0" presId="urn:microsoft.com/office/officeart/2005/8/layout/hierarchy2"/>
    <dgm:cxn modelId="{B1CE5C54-3F42-46ED-9C12-EA31D2F84CA6}" type="presOf" srcId="{47ADDAC2-452D-4B92-B195-3BA327D172C0}" destId="{10474BEE-9470-4461-825C-8B9499C43E87}" srcOrd="0" destOrd="0" presId="urn:microsoft.com/office/officeart/2005/8/layout/hierarchy2"/>
    <dgm:cxn modelId="{91B02787-DA06-49CC-BA34-A49882BE8AFC}" type="presOf" srcId="{FF7C676F-6A1A-4CED-B113-DCAA9550D1FD}" destId="{A91BD3B1-F6D8-4B12-B699-FCA73FFD5898}" srcOrd="1" destOrd="0" presId="urn:microsoft.com/office/officeart/2005/8/layout/hierarchy2"/>
    <dgm:cxn modelId="{7C38E621-B22E-438B-92FC-3B1B51768987}" srcId="{74E56891-3FFE-4D01-9BB7-E13E7D4820E9}" destId="{19C6B367-A31D-4249-AFCB-AEEFF7600723}" srcOrd="0" destOrd="0" parTransId="{FBC15BF8-F3DB-482C-BD66-89C07F1E0432}" sibTransId="{CB8F7017-8B6F-429A-8829-91F9102338BD}"/>
    <dgm:cxn modelId="{623EA923-39EF-40BE-B917-190B621E7E42}" srcId="{E6D10D20-3B1C-4F10-AA34-522D1939E9A4}" destId="{36B011CC-AA50-4CE2-B1AA-C6124F57BD3A}" srcOrd="0" destOrd="0" parTransId="{68082D3F-A132-4412-9D86-325B7C49DB5F}" sibTransId="{6814E4EA-FC9E-4BC3-87D5-135EC4218D75}"/>
    <dgm:cxn modelId="{CFFF7D46-1810-47E6-B599-2DB7637912C2}" type="presOf" srcId="{47ADDAC2-452D-4B92-B195-3BA327D172C0}" destId="{547AE33E-852C-4DB5-ABAA-B5E2CF0EDA90}" srcOrd="1" destOrd="0" presId="urn:microsoft.com/office/officeart/2005/8/layout/hierarchy2"/>
    <dgm:cxn modelId="{1DEAF1DA-A608-4CB5-AED5-9D62F03F3353}" type="presOf" srcId="{68082D3F-A132-4412-9D86-325B7C49DB5F}" destId="{D2E3522B-0B16-4786-9044-FEE9FCC0883A}" srcOrd="0" destOrd="0" presId="urn:microsoft.com/office/officeart/2005/8/layout/hierarchy2"/>
    <dgm:cxn modelId="{B818E7AB-D48C-4C5E-A429-BC9A39A0D625}" type="presOf" srcId="{9BED224E-C004-4FD1-9433-49C9D8143225}" destId="{352B1A24-7806-4068-9A8D-5BE99638CF2E}" srcOrd="0" destOrd="0" presId="urn:microsoft.com/office/officeart/2005/8/layout/hierarchy2"/>
    <dgm:cxn modelId="{89E626D7-B713-4011-85FC-DA5DE8FAD961}" type="presOf" srcId="{79AA709E-D08D-43FA-820A-54D136FD9026}" destId="{E6BFA71F-DBA2-4815-9CB8-89A5BEA13F28}" srcOrd="0" destOrd="0" presId="urn:microsoft.com/office/officeart/2005/8/layout/hierarchy2"/>
    <dgm:cxn modelId="{DA78D37B-5480-4E3D-9012-47B69701D1CA}" type="presOf" srcId="{10CEBEE1-76B0-455E-9389-33ABBFEB5FBF}" destId="{AC80F99F-0BB1-41C4-989D-065677DC8DE4}" srcOrd="0" destOrd="0" presId="urn:microsoft.com/office/officeart/2005/8/layout/hierarchy2"/>
    <dgm:cxn modelId="{D8345D79-8822-45CB-A895-CE37D35568DF}" srcId="{19C6B367-A31D-4249-AFCB-AEEFF7600723}" destId="{E6D10D20-3B1C-4F10-AA34-522D1939E9A4}" srcOrd="0" destOrd="0" parTransId="{626ED167-DB65-4FEB-AC5B-48F4D0AF5EB5}" sibTransId="{E7CD9691-88BA-4E10-8510-6797FB9E007F}"/>
    <dgm:cxn modelId="{5CC1B7B6-6584-4B0D-B619-B6609D285B3E}" srcId="{19C6B367-A31D-4249-AFCB-AEEFF7600723}" destId="{6106FDBF-1A29-426D-915C-8FD9326505DF}" srcOrd="2" destOrd="0" parTransId="{74260F17-EBCF-43A6-9250-A3DE266D9D6F}" sibTransId="{30441DCD-CE29-4FCE-818B-BDB1E1259D4F}"/>
    <dgm:cxn modelId="{E01FD491-BA04-43B2-915C-82821F9F9A7F}" type="presOf" srcId="{74260F17-EBCF-43A6-9250-A3DE266D9D6F}" destId="{C56AB4E1-E223-46F8-B1DA-0C2CF678E7EF}" srcOrd="0" destOrd="0" presId="urn:microsoft.com/office/officeart/2005/8/layout/hierarchy2"/>
    <dgm:cxn modelId="{BFA79CE3-1078-4C8A-B73C-B034794A9409}" type="presOf" srcId="{9BED224E-C004-4FD1-9433-49C9D8143225}" destId="{356BA62D-5C30-4948-BB13-03FB2F00BCE0}" srcOrd="1" destOrd="0" presId="urn:microsoft.com/office/officeart/2005/8/layout/hierarchy2"/>
    <dgm:cxn modelId="{0177B3B4-A33E-403F-A377-A638846CFA99}" srcId="{19C6B367-A31D-4249-AFCB-AEEFF7600723}" destId="{01448C9C-507D-4732-9BE4-F6EEB49DB733}" srcOrd="3" destOrd="0" parTransId="{47ADDAC2-452D-4B92-B195-3BA327D172C0}" sibTransId="{2D5B92E2-52DD-448C-AB97-745568525CB3}"/>
    <dgm:cxn modelId="{F5E8A809-34B7-4F95-9E7E-7F7449C4C879}" type="presOf" srcId="{FF7C676F-6A1A-4CED-B113-DCAA9550D1FD}" destId="{C0335930-A01D-410A-84F2-5B190D540128}" srcOrd="0" destOrd="0" presId="urn:microsoft.com/office/officeart/2005/8/layout/hierarchy2"/>
    <dgm:cxn modelId="{3F200B1A-3509-4ECB-8C13-CCF30FB29E84}" type="presOf" srcId="{19C6B367-A31D-4249-AFCB-AEEFF7600723}" destId="{35BE0266-063B-40AE-A0AA-BF20A384C7A3}" srcOrd="0" destOrd="0" presId="urn:microsoft.com/office/officeart/2005/8/layout/hierarchy2"/>
    <dgm:cxn modelId="{F1CDFD97-DD7C-43AC-8D99-ECF4C030C033}" type="presOf" srcId="{01448C9C-507D-4732-9BE4-F6EEB49DB733}" destId="{2A45DF61-6AB1-4AA0-B6DB-377D5F9239F3}" srcOrd="0" destOrd="0" presId="urn:microsoft.com/office/officeart/2005/8/layout/hierarchy2"/>
    <dgm:cxn modelId="{A5656958-BBC0-4B4F-B961-5BC3040D1B3A}" type="presOf" srcId="{68082D3F-A132-4412-9D86-325B7C49DB5F}" destId="{07183C47-EC2A-43BE-BB3A-E768B5B6334E}" srcOrd="1" destOrd="0" presId="urn:microsoft.com/office/officeart/2005/8/layout/hierarchy2"/>
    <dgm:cxn modelId="{D31D841A-93E4-46F5-8CF7-1650147B6363}" type="presOf" srcId="{74E56891-3FFE-4D01-9BB7-E13E7D4820E9}" destId="{A0DFDC29-790D-4BDA-8EBF-8462E9125F0F}" srcOrd="0" destOrd="0" presId="urn:microsoft.com/office/officeart/2005/8/layout/hierarchy2"/>
    <dgm:cxn modelId="{57B980F9-F5A4-4CEB-B74F-5327374BCB71}" type="presOf" srcId="{626ED167-DB65-4FEB-AC5B-48F4D0AF5EB5}" destId="{6BE9CD12-CAB2-49FF-8AA7-D59D51F8D358}" srcOrd="0" destOrd="0" presId="urn:microsoft.com/office/officeart/2005/8/layout/hierarchy2"/>
    <dgm:cxn modelId="{53AF9B87-C4F4-44E7-99A4-9BB8F0F147CA}" type="presOf" srcId="{E6D10D20-3B1C-4F10-AA34-522D1939E9A4}" destId="{8963B09D-9B47-480F-BAF6-56E60178C280}" srcOrd="0" destOrd="0" presId="urn:microsoft.com/office/officeart/2005/8/layout/hierarchy2"/>
    <dgm:cxn modelId="{DF05AFBA-82E4-47BB-92B5-EDE57D1E4957}" srcId="{E6D10D20-3B1C-4F10-AA34-522D1939E9A4}" destId="{79AA709E-D08D-43FA-820A-54D136FD9026}" srcOrd="1" destOrd="0" parTransId="{9BED224E-C004-4FD1-9433-49C9D8143225}" sibTransId="{EA7197EB-E318-4810-8D21-74389BFA932B}"/>
    <dgm:cxn modelId="{09977B2C-2A63-4FA1-BB4A-0AFE58DEA611}" type="presParOf" srcId="{A0DFDC29-790D-4BDA-8EBF-8462E9125F0F}" destId="{E8456186-6593-444B-A4A5-3EB11C6846FB}" srcOrd="0" destOrd="0" presId="urn:microsoft.com/office/officeart/2005/8/layout/hierarchy2"/>
    <dgm:cxn modelId="{7C346359-D9FE-410B-A522-44AC3E5D0432}" type="presParOf" srcId="{E8456186-6593-444B-A4A5-3EB11C6846FB}" destId="{35BE0266-063B-40AE-A0AA-BF20A384C7A3}" srcOrd="0" destOrd="0" presId="urn:microsoft.com/office/officeart/2005/8/layout/hierarchy2"/>
    <dgm:cxn modelId="{488767C1-6D2E-42E3-BEB3-79D55962D5EE}" type="presParOf" srcId="{E8456186-6593-444B-A4A5-3EB11C6846FB}" destId="{0DFA28F6-1D63-4C87-99C1-5C2B02B19C29}" srcOrd="1" destOrd="0" presId="urn:microsoft.com/office/officeart/2005/8/layout/hierarchy2"/>
    <dgm:cxn modelId="{EE584DED-AE6F-4090-BB3F-ACB8DE6B1BFA}" type="presParOf" srcId="{0DFA28F6-1D63-4C87-99C1-5C2B02B19C29}" destId="{6BE9CD12-CAB2-49FF-8AA7-D59D51F8D358}" srcOrd="0" destOrd="0" presId="urn:microsoft.com/office/officeart/2005/8/layout/hierarchy2"/>
    <dgm:cxn modelId="{DC20B55D-3266-4FEA-A2A4-EA1CC0386271}" type="presParOf" srcId="{6BE9CD12-CAB2-49FF-8AA7-D59D51F8D358}" destId="{BEA66ADF-D9DB-4B13-888A-3F28CCC657E3}" srcOrd="0" destOrd="0" presId="urn:microsoft.com/office/officeart/2005/8/layout/hierarchy2"/>
    <dgm:cxn modelId="{AD9F9362-AAC6-43D4-875D-CB448F03C18C}" type="presParOf" srcId="{0DFA28F6-1D63-4C87-99C1-5C2B02B19C29}" destId="{914D825C-28F9-46D8-9857-C7A29A10C776}" srcOrd="1" destOrd="0" presId="urn:microsoft.com/office/officeart/2005/8/layout/hierarchy2"/>
    <dgm:cxn modelId="{704DC835-6482-4FF2-8E85-3AC0BE0EE8E7}" type="presParOf" srcId="{914D825C-28F9-46D8-9857-C7A29A10C776}" destId="{8963B09D-9B47-480F-BAF6-56E60178C280}" srcOrd="0" destOrd="0" presId="urn:microsoft.com/office/officeart/2005/8/layout/hierarchy2"/>
    <dgm:cxn modelId="{8F74EAA2-8E9B-4F63-B9E0-0F66F875BABE}" type="presParOf" srcId="{914D825C-28F9-46D8-9857-C7A29A10C776}" destId="{E10EF497-22E8-40B1-829B-40D4D16E1E95}" srcOrd="1" destOrd="0" presId="urn:microsoft.com/office/officeart/2005/8/layout/hierarchy2"/>
    <dgm:cxn modelId="{30C07197-6C8B-42E2-8CC1-07152318368B}" type="presParOf" srcId="{E10EF497-22E8-40B1-829B-40D4D16E1E95}" destId="{D2E3522B-0B16-4786-9044-FEE9FCC0883A}" srcOrd="0" destOrd="0" presId="urn:microsoft.com/office/officeart/2005/8/layout/hierarchy2"/>
    <dgm:cxn modelId="{BCEB7800-66FA-44F5-A6CD-2B1607B49A88}" type="presParOf" srcId="{D2E3522B-0B16-4786-9044-FEE9FCC0883A}" destId="{07183C47-EC2A-43BE-BB3A-E768B5B6334E}" srcOrd="0" destOrd="0" presId="urn:microsoft.com/office/officeart/2005/8/layout/hierarchy2"/>
    <dgm:cxn modelId="{1DDADB1D-E02B-48E9-A95E-722B05006671}" type="presParOf" srcId="{E10EF497-22E8-40B1-829B-40D4D16E1E95}" destId="{2CC45A1A-0509-4A71-BCC2-84C001B4D168}" srcOrd="1" destOrd="0" presId="urn:microsoft.com/office/officeart/2005/8/layout/hierarchy2"/>
    <dgm:cxn modelId="{57E332EF-AEB9-4B5E-B714-10A78E805F30}" type="presParOf" srcId="{2CC45A1A-0509-4A71-BCC2-84C001B4D168}" destId="{6AC86141-7737-44D6-BD08-DB3AD0DE2481}" srcOrd="0" destOrd="0" presId="urn:microsoft.com/office/officeart/2005/8/layout/hierarchy2"/>
    <dgm:cxn modelId="{1B9B2660-E1E3-479D-A78E-BB0241EEB297}" type="presParOf" srcId="{2CC45A1A-0509-4A71-BCC2-84C001B4D168}" destId="{98AEB5E2-DF94-4B56-A7F9-E853D23215B5}" srcOrd="1" destOrd="0" presId="urn:microsoft.com/office/officeart/2005/8/layout/hierarchy2"/>
    <dgm:cxn modelId="{B4AAA18D-E415-40E5-AF4C-A75FC7C78D1D}" type="presParOf" srcId="{E10EF497-22E8-40B1-829B-40D4D16E1E95}" destId="{352B1A24-7806-4068-9A8D-5BE99638CF2E}" srcOrd="2" destOrd="0" presId="urn:microsoft.com/office/officeart/2005/8/layout/hierarchy2"/>
    <dgm:cxn modelId="{E798B697-8466-44CB-BD19-09C1C69CA4C4}" type="presParOf" srcId="{352B1A24-7806-4068-9A8D-5BE99638CF2E}" destId="{356BA62D-5C30-4948-BB13-03FB2F00BCE0}" srcOrd="0" destOrd="0" presId="urn:microsoft.com/office/officeart/2005/8/layout/hierarchy2"/>
    <dgm:cxn modelId="{4ACE695D-9A21-4317-A2A5-AA63D945084A}" type="presParOf" srcId="{E10EF497-22E8-40B1-829B-40D4D16E1E95}" destId="{B1841B55-A7C1-4710-ACB2-3385673E8C7B}" srcOrd="3" destOrd="0" presId="urn:microsoft.com/office/officeart/2005/8/layout/hierarchy2"/>
    <dgm:cxn modelId="{A85CEEF5-4581-4175-8B4F-1A67CC2E2F59}" type="presParOf" srcId="{B1841B55-A7C1-4710-ACB2-3385673E8C7B}" destId="{E6BFA71F-DBA2-4815-9CB8-89A5BEA13F28}" srcOrd="0" destOrd="0" presId="urn:microsoft.com/office/officeart/2005/8/layout/hierarchy2"/>
    <dgm:cxn modelId="{83ECBB7D-521B-44C0-B768-5C9320F3DFCD}" type="presParOf" srcId="{B1841B55-A7C1-4710-ACB2-3385673E8C7B}" destId="{C89DCEB3-BC93-4604-B1B7-33B43CFEB7CA}" srcOrd="1" destOrd="0" presId="urn:microsoft.com/office/officeart/2005/8/layout/hierarchy2"/>
    <dgm:cxn modelId="{BBE0869D-4FB9-46FC-B6C3-EDACAD89AAB0}" type="presParOf" srcId="{0DFA28F6-1D63-4C87-99C1-5C2B02B19C29}" destId="{C0335930-A01D-410A-84F2-5B190D540128}" srcOrd="2" destOrd="0" presId="urn:microsoft.com/office/officeart/2005/8/layout/hierarchy2"/>
    <dgm:cxn modelId="{EB465DAD-488C-4B75-9CC2-04A5F0685B8A}" type="presParOf" srcId="{C0335930-A01D-410A-84F2-5B190D540128}" destId="{A91BD3B1-F6D8-4B12-B699-FCA73FFD5898}" srcOrd="0" destOrd="0" presId="urn:microsoft.com/office/officeart/2005/8/layout/hierarchy2"/>
    <dgm:cxn modelId="{0B95A5D1-4511-486F-8F45-8A6FE7FC6064}" type="presParOf" srcId="{0DFA28F6-1D63-4C87-99C1-5C2B02B19C29}" destId="{32956C25-ADA2-4CD5-9923-229F01D51887}" srcOrd="3" destOrd="0" presId="urn:microsoft.com/office/officeart/2005/8/layout/hierarchy2"/>
    <dgm:cxn modelId="{ACFC38E1-0AA9-4B62-A44C-B0046B979BA4}" type="presParOf" srcId="{32956C25-ADA2-4CD5-9923-229F01D51887}" destId="{AC80F99F-0BB1-41C4-989D-065677DC8DE4}" srcOrd="0" destOrd="0" presId="urn:microsoft.com/office/officeart/2005/8/layout/hierarchy2"/>
    <dgm:cxn modelId="{5A748338-4B92-45BE-AD7F-027E62EEA6BE}" type="presParOf" srcId="{32956C25-ADA2-4CD5-9923-229F01D51887}" destId="{EEC1E0D1-A080-4947-8413-11241A325CED}" srcOrd="1" destOrd="0" presId="urn:microsoft.com/office/officeart/2005/8/layout/hierarchy2"/>
    <dgm:cxn modelId="{4104F516-FCC9-40E2-B7C0-FE9BD4E206F0}" type="presParOf" srcId="{0DFA28F6-1D63-4C87-99C1-5C2B02B19C29}" destId="{C56AB4E1-E223-46F8-B1DA-0C2CF678E7EF}" srcOrd="4" destOrd="0" presId="urn:microsoft.com/office/officeart/2005/8/layout/hierarchy2"/>
    <dgm:cxn modelId="{A1872CC2-6893-4705-9E8E-6E4CCC2BC2EE}" type="presParOf" srcId="{C56AB4E1-E223-46F8-B1DA-0C2CF678E7EF}" destId="{CB3BAFF3-ABF8-4A5B-8969-71623D0789FA}" srcOrd="0" destOrd="0" presId="urn:microsoft.com/office/officeart/2005/8/layout/hierarchy2"/>
    <dgm:cxn modelId="{7C8F811B-8A31-4CF6-9E08-BA669EBC415B}" type="presParOf" srcId="{0DFA28F6-1D63-4C87-99C1-5C2B02B19C29}" destId="{AE1C27C1-2012-457F-B090-5DBA122EB9D6}" srcOrd="5" destOrd="0" presId="urn:microsoft.com/office/officeart/2005/8/layout/hierarchy2"/>
    <dgm:cxn modelId="{4A0782A1-3185-4462-BD43-A1D39B988893}" type="presParOf" srcId="{AE1C27C1-2012-457F-B090-5DBA122EB9D6}" destId="{1225E8D1-36E5-43C8-98CE-3DC81537D767}" srcOrd="0" destOrd="0" presId="urn:microsoft.com/office/officeart/2005/8/layout/hierarchy2"/>
    <dgm:cxn modelId="{5F4CF434-0EB1-4127-8DD3-650B83156879}" type="presParOf" srcId="{AE1C27C1-2012-457F-B090-5DBA122EB9D6}" destId="{E76149D5-8DFD-4036-9F8B-AB7770C3C53C}" srcOrd="1" destOrd="0" presId="urn:microsoft.com/office/officeart/2005/8/layout/hierarchy2"/>
    <dgm:cxn modelId="{AC9769AD-ED36-4E58-A914-0ABA48B9B5E2}" type="presParOf" srcId="{0DFA28F6-1D63-4C87-99C1-5C2B02B19C29}" destId="{10474BEE-9470-4461-825C-8B9499C43E87}" srcOrd="6" destOrd="0" presId="urn:microsoft.com/office/officeart/2005/8/layout/hierarchy2"/>
    <dgm:cxn modelId="{1A07EFBB-6EDF-45D4-A773-B04F9D274362}" type="presParOf" srcId="{10474BEE-9470-4461-825C-8B9499C43E87}" destId="{547AE33E-852C-4DB5-ABAA-B5E2CF0EDA90}" srcOrd="0" destOrd="0" presId="urn:microsoft.com/office/officeart/2005/8/layout/hierarchy2"/>
    <dgm:cxn modelId="{2D5177AC-8DD6-46F1-99CB-B33415C9F8E9}" type="presParOf" srcId="{0DFA28F6-1D63-4C87-99C1-5C2B02B19C29}" destId="{8DD84F05-B50E-43B0-BD24-59B8D88114C8}" srcOrd="7" destOrd="0" presId="urn:microsoft.com/office/officeart/2005/8/layout/hierarchy2"/>
    <dgm:cxn modelId="{853BB7A1-5F4D-4E47-AA88-7BDB7FD28607}" type="presParOf" srcId="{8DD84F05-B50E-43B0-BD24-59B8D88114C8}" destId="{2A45DF61-6AB1-4AA0-B6DB-377D5F9239F3}" srcOrd="0" destOrd="0" presId="urn:microsoft.com/office/officeart/2005/8/layout/hierarchy2"/>
    <dgm:cxn modelId="{1E0EEE4E-2128-4824-99C8-D74056CE0396}" type="presParOf" srcId="{8DD84F05-B50E-43B0-BD24-59B8D88114C8}" destId="{DE84501C-C009-4C94-8C70-9D94D2FF76A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BE0266-063B-40AE-A0AA-BF20A384C7A3}">
      <dsp:nvSpPr>
        <dsp:cNvPr id="0" name=""/>
        <dsp:cNvSpPr/>
      </dsp:nvSpPr>
      <dsp:spPr>
        <a:xfrm>
          <a:off x="423713" y="2511223"/>
          <a:ext cx="2183308" cy="1091654"/>
        </a:xfrm>
        <a:prstGeom prst="roundRect">
          <a:avLst>
            <a:gd name="adj" fmla="val 10000"/>
          </a:avLst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b="1" kern="1200" dirty="0" smtClean="0">
              <a:solidFill>
                <a:schemeClr val="tx1"/>
              </a:solidFill>
            </a:rPr>
            <a:t>Labor</a:t>
          </a:r>
          <a:endParaRPr lang="en-US" sz="4000" b="1" kern="1200" dirty="0">
            <a:solidFill>
              <a:schemeClr val="tx1"/>
            </a:solidFill>
          </a:endParaRPr>
        </a:p>
      </dsp:txBody>
      <dsp:txXfrm>
        <a:off x="455686" y="2543196"/>
        <a:ext cx="2119362" cy="1027708"/>
      </dsp:txXfrm>
    </dsp:sp>
    <dsp:sp modelId="{6BE9CD12-CAB2-49FF-8AA7-D59D51F8D358}">
      <dsp:nvSpPr>
        <dsp:cNvPr id="0" name=""/>
        <dsp:cNvSpPr/>
      </dsp:nvSpPr>
      <dsp:spPr>
        <a:xfrm rot="17692822">
          <a:off x="2005804" y="2097591"/>
          <a:ext cx="2075758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2075758" y="1790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>
            <a:solidFill>
              <a:schemeClr val="tx1"/>
            </a:solidFill>
          </a:endParaRPr>
        </a:p>
      </dsp:txBody>
      <dsp:txXfrm>
        <a:off x="2991790" y="2063604"/>
        <a:ext cx="103787" cy="103787"/>
      </dsp:txXfrm>
    </dsp:sp>
    <dsp:sp modelId="{8963B09D-9B47-480F-BAF6-56E60178C280}">
      <dsp:nvSpPr>
        <dsp:cNvPr id="0" name=""/>
        <dsp:cNvSpPr/>
      </dsp:nvSpPr>
      <dsp:spPr>
        <a:xfrm>
          <a:off x="3480345" y="628119"/>
          <a:ext cx="2183308" cy="1091654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>
              <a:solidFill>
                <a:schemeClr val="tx1"/>
              </a:solidFill>
            </a:rPr>
            <a:t>1</a:t>
          </a:r>
          <a:r>
            <a:rPr lang="en-US" sz="4000" kern="1200" baseline="30000" dirty="0" smtClean="0">
              <a:solidFill>
                <a:schemeClr val="tx1"/>
              </a:solidFill>
            </a:rPr>
            <a:t>st</a:t>
          </a:r>
          <a:r>
            <a:rPr lang="en-US" sz="4000" kern="1200" dirty="0" smtClean="0">
              <a:solidFill>
                <a:schemeClr val="tx1"/>
              </a:solidFill>
            </a:rPr>
            <a:t> Stage</a:t>
          </a:r>
          <a:endParaRPr lang="en-US" sz="4000" kern="1200" dirty="0">
            <a:solidFill>
              <a:schemeClr val="tx1"/>
            </a:solidFill>
          </a:endParaRPr>
        </a:p>
      </dsp:txBody>
      <dsp:txXfrm>
        <a:off x="3512318" y="660092"/>
        <a:ext cx="2119362" cy="1027708"/>
      </dsp:txXfrm>
    </dsp:sp>
    <dsp:sp modelId="{D2E3522B-0B16-4786-9044-FEE9FCC0883A}">
      <dsp:nvSpPr>
        <dsp:cNvPr id="0" name=""/>
        <dsp:cNvSpPr/>
      </dsp:nvSpPr>
      <dsp:spPr>
        <a:xfrm rot="19457599">
          <a:off x="5562565" y="842188"/>
          <a:ext cx="1075501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075501" y="1790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6073428" y="833208"/>
        <a:ext cx="53775" cy="53775"/>
      </dsp:txXfrm>
    </dsp:sp>
    <dsp:sp modelId="{6AC86141-7737-44D6-BD08-DB3AD0DE2481}">
      <dsp:nvSpPr>
        <dsp:cNvPr id="0" name=""/>
        <dsp:cNvSpPr/>
      </dsp:nvSpPr>
      <dsp:spPr>
        <a:xfrm>
          <a:off x="6536977" y="418"/>
          <a:ext cx="2183308" cy="1091654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>
              <a:solidFill>
                <a:schemeClr val="tx1"/>
              </a:solidFill>
            </a:rPr>
            <a:t>Latent</a:t>
          </a:r>
          <a:endParaRPr lang="en-US" sz="4000" kern="1200" dirty="0">
            <a:solidFill>
              <a:schemeClr val="tx1"/>
            </a:solidFill>
          </a:endParaRPr>
        </a:p>
      </dsp:txBody>
      <dsp:txXfrm>
        <a:off x="6568950" y="32391"/>
        <a:ext cx="2119362" cy="1027708"/>
      </dsp:txXfrm>
    </dsp:sp>
    <dsp:sp modelId="{352B1A24-7806-4068-9A8D-5BE99638CF2E}">
      <dsp:nvSpPr>
        <dsp:cNvPr id="0" name=""/>
        <dsp:cNvSpPr/>
      </dsp:nvSpPr>
      <dsp:spPr>
        <a:xfrm rot="2142401">
          <a:off x="5562565" y="1469889"/>
          <a:ext cx="1075501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075501" y="1790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6073428" y="1460910"/>
        <a:ext cx="53775" cy="53775"/>
      </dsp:txXfrm>
    </dsp:sp>
    <dsp:sp modelId="{E6BFA71F-DBA2-4815-9CB8-89A5BEA13F28}">
      <dsp:nvSpPr>
        <dsp:cNvPr id="0" name=""/>
        <dsp:cNvSpPr/>
      </dsp:nvSpPr>
      <dsp:spPr>
        <a:xfrm>
          <a:off x="6536977" y="1255821"/>
          <a:ext cx="2183308" cy="1091654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>
              <a:solidFill>
                <a:schemeClr val="tx1"/>
              </a:solidFill>
            </a:rPr>
            <a:t>Active</a:t>
          </a:r>
          <a:endParaRPr lang="en-US" sz="4000" kern="1200" dirty="0">
            <a:solidFill>
              <a:schemeClr val="tx1"/>
            </a:solidFill>
          </a:endParaRPr>
        </a:p>
      </dsp:txBody>
      <dsp:txXfrm>
        <a:off x="6568950" y="1287794"/>
        <a:ext cx="2119362" cy="1027708"/>
      </dsp:txXfrm>
    </dsp:sp>
    <dsp:sp modelId="{C0335930-A01D-410A-84F2-5B190D540128}">
      <dsp:nvSpPr>
        <dsp:cNvPr id="0" name=""/>
        <dsp:cNvSpPr/>
      </dsp:nvSpPr>
      <dsp:spPr>
        <a:xfrm rot="19457599">
          <a:off x="2505933" y="2725292"/>
          <a:ext cx="1075501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075501" y="1790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3016796" y="2716312"/>
        <a:ext cx="53775" cy="53775"/>
      </dsp:txXfrm>
    </dsp:sp>
    <dsp:sp modelId="{AC80F99F-0BB1-41C4-989D-065677DC8DE4}">
      <dsp:nvSpPr>
        <dsp:cNvPr id="0" name=""/>
        <dsp:cNvSpPr/>
      </dsp:nvSpPr>
      <dsp:spPr>
        <a:xfrm>
          <a:off x="3480345" y="1883522"/>
          <a:ext cx="2183308" cy="109165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>
              <a:solidFill>
                <a:schemeClr val="tx1"/>
              </a:solidFill>
            </a:rPr>
            <a:t>2</a:t>
          </a:r>
          <a:r>
            <a:rPr lang="en-US" sz="4000" kern="1200" baseline="30000" dirty="0" smtClean="0">
              <a:solidFill>
                <a:schemeClr val="tx1"/>
              </a:solidFill>
            </a:rPr>
            <a:t>nd</a:t>
          </a:r>
          <a:r>
            <a:rPr lang="en-US" sz="4000" kern="1200" dirty="0" smtClean="0">
              <a:solidFill>
                <a:schemeClr val="tx1"/>
              </a:solidFill>
            </a:rPr>
            <a:t> Stage</a:t>
          </a:r>
          <a:endParaRPr lang="en-US" sz="4000" kern="1200" dirty="0">
            <a:solidFill>
              <a:schemeClr val="tx1"/>
            </a:solidFill>
          </a:endParaRPr>
        </a:p>
      </dsp:txBody>
      <dsp:txXfrm>
        <a:off x="3512318" y="1915495"/>
        <a:ext cx="2119362" cy="1027708"/>
      </dsp:txXfrm>
    </dsp:sp>
    <dsp:sp modelId="{C56AB4E1-E223-46F8-B1DA-0C2CF678E7EF}">
      <dsp:nvSpPr>
        <dsp:cNvPr id="0" name=""/>
        <dsp:cNvSpPr/>
      </dsp:nvSpPr>
      <dsp:spPr>
        <a:xfrm rot="2142401">
          <a:off x="2505933" y="3352993"/>
          <a:ext cx="1075501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075501" y="1790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3016796" y="3344013"/>
        <a:ext cx="53775" cy="53775"/>
      </dsp:txXfrm>
    </dsp:sp>
    <dsp:sp modelId="{1225E8D1-36E5-43C8-98CE-3DC81537D767}">
      <dsp:nvSpPr>
        <dsp:cNvPr id="0" name=""/>
        <dsp:cNvSpPr/>
      </dsp:nvSpPr>
      <dsp:spPr>
        <a:xfrm>
          <a:off x="3480345" y="3138924"/>
          <a:ext cx="2183308" cy="1091654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>
              <a:solidFill>
                <a:schemeClr val="tx1"/>
              </a:solidFill>
            </a:rPr>
            <a:t>3</a:t>
          </a:r>
          <a:r>
            <a:rPr lang="en-US" sz="4000" kern="1200" baseline="30000" dirty="0" smtClean="0">
              <a:solidFill>
                <a:schemeClr val="tx1"/>
              </a:solidFill>
            </a:rPr>
            <a:t>rd</a:t>
          </a:r>
          <a:r>
            <a:rPr lang="en-US" sz="4000" kern="1200" dirty="0" smtClean="0">
              <a:solidFill>
                <a:schemeClr val="tx1"/>
              </a:solidFill>
            </a:rPr>
            <a:t> Stage</a:t>
          </a:r>
          <a:endParaRPr lang="en-US" sz="4000" kern="1200" dirty="0">
            <a:solidFill>
              <a:schemeClr val="tx1"/>
            </a:solidFill>
          </a:endParaRPr>
        </a:p>
      </dsp:txBody>
      <dsp:txXfrm>
        <a:off x="3512318" y="3170897"/>
        <a:ext cx="2119362" cy="1027708"/>
      </dsp:txXfrm>
    </dsp:sp>
    <dsp:sp modelId="{10474BEE-9470-4461-825C-8B9499C43E87}">
      <dsp:nvSpPr>
        <dsp:cNvPr id="0" name=""/>
        <dsp:cNvSpPr/>
      </dsp:nvSpPr>
      <dsp:spPr>
        <a:xfrm rot="3907178">
          <a:off x="2005804" y="3980694"/>
          <a:ext cx="2075758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2075758" y="1790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>
            <a:solidFill>
              <a:schemeClr val="tx1"/>
            </a:solidFill>
          </a:endParaRPr>
        </a:p>
      </dsp:txBody>
      <dsp:txXfrm>
        <a:off x="2991790" y="3946708"/>
        <a:ext cx="103787" cy="103787"/>
      </dsp:txXfrm>
    </dsp:sp>
    <dsp:sp modelId="{2A45DF61-6AB1-4AA0-B6DB-377D5F9239F3}">
      <dsp:nvSpPr>
        <dsp:cNvPr id="0" name=""/>
        <dsp:cNvSpPr/>
      </dsp:nvSpPr>
      <dsp:spPr>
        <a:xfrm>
          <a:off x="3480345" y="4394327"/>
          <a:ext cx="2183308" cy="109165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>
              <a:solidFill>
                <a:schemeClr val="tx1"/>
              </a:solidFill>
            </a:rPr>
            <a:t>?4</a:t>
          </a:r>
          <a:r>
            <a:rPr lang="en-US" sz="4000" kern="1200" baseline="30000" dirty="0" smtClean="0">
              <a:solidFill>
                <a:schemeClr val="tx1"/>
              </a:solidFill>
            </a:rPr>
            <a:t>th</a:t>
          </a:r>
          <a:r>
            <a:rPr lang="en-US" sz="4000" kern="1200" dirty="0" smtClean="0">
              <a:solidFill>
                <a:schemeClr val="tx1"/>
              </a:solidFill>
            </a:rPr>
            <a:t> Stage</a:t>
          </a:r>
          <a:endParaRPr lang="en-US" sz="4000" kern="1200" dirty="0">
            <a:solidFill>
              <a:schemeClr val="tx1"/>
            </a:solidFill>
          </a:endParaRPr>
        </a:p>
      </dsp:txBody>
      <dsp:txXfrm>
        <a:off x="3512318" y="4426300"/>
        <a:ext cx="2119362" cy="10277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C630D0-40BA-4DC2-8473-1656C5395088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8089A-2123-40AD-816F-3101ECA1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82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20D100-B62A-49A9-9AB7-61FD1ED4260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8089A-2123-40AD-816F-3101ECA14178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8089A-2123-40AD-816F-3101ECA1417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8089A-2123-40AD-816F-3101ECA14178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median duration of the second stage is 50 to 60 minutes</a:t>
            </a:r>
            <a:r>
              <a:rPr lang="en-US" baseline="0" dirty="0" smtClean="0"/>
              <a:t> </a:t>
            </a:r>
            <a:r>
              <a:rPr lang="en-US" dirty="0" smtClean="0"/>
              <a:t>for nulliparas and 20 to 30 minutes for multiparas, but the range of second-stage duration is highly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8089A-2123-40AD-816F-3101ECA1417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8089A-2123-40AD-816F-3101ECA14178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8089A-2123-40AD-816F-3101ECA14178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8089A-2123-40AD-816F-3101ECA14178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8089A-2123-40AD-816F-3101ECA14178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8089A-2123-40AD-816F-3101ECA14178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2209800"/>
            <a:ext cx="8839200" cy="1393825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7200" b="1" dirty="0" smtClean="0"/>
              <a:t>Abnormal Labor</a:t>
            </a:r>
            <a:endParaRPr lang="en-US" sz="7200" b="1" u="sng" dirty="0">
              <a:solidFill>
                <a:srgbClr val="92D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b="1" dirty="0" smtClean="0"/>
              <a:t>Outline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6388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Definition of abnormal labor</a:t>
            </a:r>
          </a:p>
          <a:p>
            <a:r>
              <a:rPr lang="en-US" dirty="0" smtClean="0"/>
              <a:t>Discuss about: </a:t>
            </a:r>
          </a:p>
          <a:p>
            <a:pPr lvl="1"/>
            <a:r>
              <a:rPr lang="en-US" sz="3000" dirty="0" smtClean="0"/>
              <a:t>Disorders of the Latent Phase</a:t>
            </a:r>
          </a:p>
          <a:p>
            <a:pPr lvl="1"/>
            <a:r>
              <a:rPr lang="en-US" sz="3000" dirty="0" smtClean="0"/>
              <a:t>Disorders of the Active Phase</a:t>
            </a:r>
          </a:p>
          <a:p>
            <a:pPr lvl="1"/>
            <a:r>
              <a:rPr lang="en-US" sz="3000" dirty="0" smtClean="0"/>
              <a:t>Disorders of the Second Stage</a:t>
            </a:r>
          </a:p>
          <a:p>
            <a:pPr lvl="1"/>
            <a:r>
              <a:rPr lang="en-US" sz="3000" dirty="0" smtClean="0"/>
              <a:t>Disorders of the Third Stage</a:t>
            </a:r>
          </a:p>
          <a:p>
            <a:r>
              <a:rPr lang="en-US" dirty="0" smtClean="0"/>
              <a:t>Outline etiologies of abnormal labor</a:t>
            </a:r>
          </a:p>
          <a:p>
            <a:r>
              <a:rPr lang="en-US" dirty="0" smtClean="0"/>
              <a:t>Discuss about diagnosis of abnormal labor</a:t>
            </a:r>
          </a:p>
          <a:p>
            <a:r>
              <a:rPr lang="en-US" dirty="0" smtClean="0"/>
              <a:t>Summarize options of management of abnormal labor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>
            <a:normAutofit/>
          </a:bodyPr>
          <a:lstStyle/>
          <a:p>
            <a:r>
              <a:rPr lang="en-US" dirty="0" smtClean="0"/>
              <a:t>Labor:- A spontaneous, coordinated, effective sequence of involuntary, painful uterine contractions that result in progressive effacement and dilatation of the cervix; and voluntary bearing down efforts leading to the expulsion of products of conception per vaginum.</a:t>
            </a:r>
          </a:p>
          <a:p>
            <a:pPr>
              <a:buNone/>
            </a:pPr>
            <a:r>
              <a:rPr lang="en-US" dirty="0" smtClean="0"/>
              <a:t>    (often accompanied by a bloody discharge - bloody show 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 smtClean="0"/>
              <a:t>Introduction 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lvl="1">
              <a:lnSpc>
                <a:spcPct val="80000"/>
              </a:lnSpc>
              <a:spcBef>
                <a:spcPts val="1200"/>
              </a:spcBef>
              <a:buNone/>
            </a:pPr>
            <a:r>
              <a:rPr lang="en-US" sz="3600" dirty="0" smtClean="0"/>
              <a:t>Criteria for normal </a:t>
            </a:r>
            <a:r>
              <a:rPr lang="en-US" sz="3600" dirty="0" smtClean="0"/>
              <a:t>labor:-</a:t>
            </a:r>
            <a:endParaRPr lang="en-US" sz="3600" dirty="0" smtClean="0"/>
          </a:p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Char char="q"/>
            </a:pPr>
            <a:r>
              <a:rPr lang="en-US" dirty="0" smtClean="0"/>
              <a:t>At term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Char char="q"/>
            </a:pPr>
            <a:r>
              <a:rPr lang="en-US" dirty="0" smtClean="0"/>
              <a:t>Spontaneous onset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Char char="q"/>
            </a:pPr>
            <a:r>
              <a:rPr lang="en-US" dirty="0" smtClean="0"/>
              <a:t>Vertex presentation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Char char="q"/>
            </a:pPr>
            <a:r>
              <a:rPr lang="en-US" dirty="0" smtClean="0"/>
              <a:t>Vaginal delivery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Char char="q"/>
            </a:pPr>
            <a:r>
              <a:rPr lang="en-US" dirty="0" smtClean="0"/>
              <a:t>With out due prolongation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Char char="q"/>
            </a:pPr>
            <a:r>
              <a:rPr lang="en-US" dirty="0" smtClean="0"/>
              <a:t>Natural termination with minimal aid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Char char="q"/>
            </a:pPr>
            <a:r>
              <a:rPr lang="en-US" dirty="0" smtClean="0"/>
              <a:t>Without any complication to the mother and/or baby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/>
              <a:t>Abnormal Labor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Abnormal labor - any labor in which the pattern of labor progress is significantly different from accepted and recognized patterns of labor progress in terms of </a:t>
            </a:r>
            <a:r>
              <a:rPr lang="en-US" b="1" dirty="0" smtClean="0"/>
              <a:t>cervical changes</a:t>
            </a:r>
            <a:r>
              <a:rPr lang="en-US" dirty="0" smtClean="0"/>
              <a:t>, </a:t>
            </a:r>
            <a:r>
              <a:rPr lang="en-US" b="1" dirty="0" smtClean="0"/>
              <a:t>decent of fetal presenting part </a:t>
            </a:r>
            <a:r>
              <a:rPr lang="en-US" dirty="0" smtClean="0"/>
              <a:t>or profile of </a:t>
            </a:r>
            <a:r>
              <a:rPr lang="en-US" b="1" dirty="0" smtClean="0"/>
              <a:t>uterine contractions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Dystocia - difficult labor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/>
              <a:t>Labor Classification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1219200"/>
          <a:ext cx="91440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Patterns Of Abnormal Labor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Autofit/>
          </a:bodyPr>
          <a:lstStyle/>
          <a:p>
            <a:r>
              <a:rPr lang="en-US" b="1" dirty="0" smtClean="0"/>
              <a:t>Prolongation disorders</a:t>
            </a:r>
          </a:p>
          <a:p>
            <a:pPr lvl="1"/>
            <a:r>
              <a:rPr lang="en-US" dirty="0" smtClean="0"/>
              <a:t>Longer duration than normal</a:t>
            </a:r>
            <a:endParaRPr lang="en-US" b="1" dirty="0" smtClean="0"/>
          </a:p>
          <a:p>
            <a:r>
              <a:rPr lang="en-US" b="1" dirty="0" smtClean="0"/>
              <a:t>Protraction disorders</a:t>
            </a:r>
          </a:p>
          <a:p>
            <a:pPr lvl="1"/>
            <a:r>
              <a:rPr lang="en-US" dirty="0" smtClean="0"/>
              <a:t>Slower progress than normal</a:t>
            </a:r>
          </a:p>
          <a:p>
            <a:pPr lvl="1"/>
            <a:r>
              <a:rPr lang="en-US" dirty="0" smtClean="0"/>
              <a:t>Cervical dilatation or decent of fetal presenting part</a:t>
            </a:r>
          </a:p>
          <a:p>
            <a:r>
              <a:rPr lang="en-US" b="1" dirty="0" smtClean="0"/>
              <a:t>Arrest disorders</a:t>
            </a:r>
          </a:p>
          <a:p>
            <a:pPr lvl="1"/>
            <a:r>
              <a:rPr lang="en-US" dirty="0" smtClean="0"/>
              <a:t>Complete cessation of progress</a:t>
            </a:r>
          </a:p>
          <a:p>
            <a:pPr lvl="1"/>
            <a:r>
              <a:rPr lang="en-US" dirty="0" smtClean="0"/>
              <a:t>Cervical dilatation or decent of fetal presenting part</a:t>
            </a:r>
          </a:p>
          <a:p>
            <a:r>
              <a:rPr lang="en-US" b="1" dirty="0" smtClean="0"/>
              <a:t>Precipitous labor</a:t>
            </a:r>
          </a:p>
          <a:p>
            <a:pPr lvl="1"/>
            <a:r>
              <a:rPr lang="en-US" dirty="0" smtClean="0"/>
              <a:t>Shorter duration than normal</a:t>
            </a:r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/>
              <a:t>Disorders Of The Latent Phase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791200"/>
          </a:xfrm>
        </p:spPr>
        <p:txBody>
          <a:bodyPr>
            <a:normAutofit/>
          </a:bodyPr>
          <a:lstStyle/>
          <a:p>
            <a:r>
              <a:rPr lang="en-US" dirty="0" smtClean="0"/>
              <a:t>Only a prolongation disorder is recognized in LFSOL </a:t>
            </a:r>
          </a:p>
          <a:p>
            <a:r>
              <a:rPr lang="en-US" b="1" dirty="0" smtClean="0"/>
              <a:t>Prolonged LFSOL</a:t>
            </a:r>
          </a:p>
          <a:p>
            <a:pPr lvl="1">
              <a:buFontTx/>
              <a:buChar char="-"/>
            </a:pPr>
            <a:r>
              <a:rPr lang="en-US" sz="3000" dirty="0" smtClean="0"/>
              <a:t>A latent phase lasting &gt; 20 hours in Nulliparas &amp; &gt; 14 hours in Multiparas.</a:t>
            </a:r>
          </a:p>
          <a:p>
            <a:pPr lvl="1">
              <a:buFontTx/>
              <a:buChar char="-"/>
            </a:pPr>
            <a:r>
              <a:rPr lang="en-US" sz="3000" dirty="0" smtClean="0"/>
              <a:t>The onset of latent labor is considered to be the point at which regular &amp; painful uterine contractions are perceived.</a:t>
            </a:r>
          </a:p>
          <a:p>
            <a:pPr lvl="1">
              <a:buNone/>
            </a:pPr>
            <a:endParaRPr lang="en-US" sz="3000" dirty="0" smtClean="0"/>
          </a:p>
          <a:p>
            <a:pPr lvl="1">
              <a:buFontTx/>
              <a:buChar char="-"/>
            </a:pPr>
            <a:r>
              <a:rPr lang="en-US" sz="3000" dirty="0" smtClean="0"/>
              <a:t>&gt; 8 hours for both when true labor is confirmed.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62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143000" y="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</a:t>
            </a: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/>
              <a:t>Management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8915400" cy="5715000"/>
          </a:xfrm>
        </p:spPr>
        <p:txBody>
          <a:bodyPr/>
          <a:lstStyle/>
          <a:p>
            <a:r>
              <a:rPr lang="en-US" dirty="0" smtClean="0"/>
              <a:t>Therapeutic rest</a:t>
            </a:r>
          </a:p>
          <a:p>
            <a:pPr lvl="1"/>
            <a:r>
              <a:rPr lang="en-US" sz="3000" dirty="0" smtClean="0"/>
              <a:t>Bed rest </a:t>
            </a:r>
          </a:p>
          <a:p>
            <a:pPr lvl="1"/>
            <a:r>
              <a:rPr lang="en-US" sz="3000" dirty="0" smtClean="0"/>
              <a:t>Analgesics </a:t>
            </a:r>
          </a:p>
          <a:p>
            <a:pPr lvl="1"/>
            <a:r>
              <a:rPr lang="en-US" sz="3000" dirty="0" smtClean="0"/>
              <a:t>Rehydration (Preferably PO)</a:t>
            </a:r>
          </a:p>
          <a:p>
            <a:r>
              <a:rPr lang="en-US" dirty="0" smtClean="0"/>
              <a:t>Oxytocin (Augmentation of labor)</a:t>
            </a:r>
          </a:p>
          <a:p>
            <a:r>
              <a:rPr lang="en-US" dirty="0" smtClean="0"/>
              <a:t>CS delivery for any identified urgent indication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/>
              <a:t>Disorders Of The Active Phase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/>
          </a:bodyPr>
          <a:lstStyle/>
          <a:p>
            <a:r>
              <a:rPr lang="en-US" b="1" dirty="0" smtClean="0"/>
              <a:t>Protraction disorders</a:t>
            </a:r>
          </a:p>
          <a:p>
            <a:pPr lvl="1"/>
            <a:r>
              <a:rPr lang="en-US" sz="3000" b="1" dirty="0" smtClean="0"/>
              <a:t>Protracted Active Phase Dilatation</a:t>
            </a:r>
          </a:p>
          <a:p>
            <a:pPr lvl="2"/>
            <a:r>
              <a:rPr lang="en-US" sz="2800" dirty="0" smtClean="0"/>
              <a:t>Cervical  dilation rate  of  &lt; 1.2 cm/hr  for  Nulliparas &amp; &lt; 1.5 cm/hr for Multiparas (Traditional Def.)</a:t>
            </a:r>
          </a:p>
          <a:p>
            <a:pPr lvl="2">
              <a:buNone/>
            </a:pPr>
            <a:r>
              <a:rPr lang="en-US" sz="2800" dirty="0" smtClean="0"/>
              <a:t>                             (MOH-E 2021)</a:t>
            </a:r>
          </a:p>
          <a:p>
            <a:pPr lvl="2"/>
            <a:r>
              <a:rPr lang="en-US" sz="2800" dirty="0" smtClean="0"/>
              <a:t>&lt; 1 cm /hr cervical dilation for a minimum of 4 hours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105400"/>
          </a:xfrm>
        </p:spPr>
        <p:txBody>
          <a:bodyPr/>
          <a:lstStyle/>
          <a:p>
            <a:pPr>
              <a:buNone/>
            </a:pPr>
            <a:r>
              <a:rPr lang="en-US" sz="3400" b="1" dirty="0" smtClean="0"/>
              <a:t>-- Protracted Descent</a:t>
            </a:r>
          </a:p>
          <a:p>
            <a:pPr lvl="1"/>
            <a:r>
              <a:rPr lang="en-US" sz="3200" dirty="0" smtClean="0"/>
              <a:t>A decent rate  of  &lt; 1 cm/hr  for  Nulliparas &amp;           &lt; 2 cm/hr for Multiparas; for a minimum of 4 hrs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/>
              <a:t>Management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r>
              <a:rPr lang="en-US" dirty="0" smtClean="0"/>
              <a:t>Expectant / Support / Observation</a:t>
            </a:r>
          </a:p>
          <a:p>
            <a:r>
              <a:rPr lang="en-US" dirty="0" smtClean="0"/>
              <a:t>Artificial Rupture of Membrane (ARM)</a:t>
            </a:r>
          </a:p>
          <a:p>
            <a:r>
              <a:rPr lang="en-US" dirty="0" smtClean="0"/>
              <a:t>Augmentation</a:t>
            </a:r>
          </a:p>
          <a:p>
            <a:r>
              <a:rPr lang="en-US" dirty="0" smtClean="0"/>
              <a:t>CS for CPD or contraindication for oxytocin use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Disorders of the Active Phase</a:t>
            </a:r>
            <a:br>
              <a:rPr lang="en-US" dirty="0" smtClean="0"/>
            </a:br>
            <a:r>
              <a:rPr lang="en-US" dirty="0" smtClean="0"/>
              <a:t>Cont…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638800"/>
          </a:xfrm>
        </p:spPr>
        <p:txBody>
          <a:bodyPr>
            <a:normAutofit/>
          </a:bodyPr>
          <a:lstStyle/>
          <a:p>
            <a:r>
              <a:rPr lang="en-US" b="1" dirty="0" smtClean="0"/>
              <a:t>Arrest disorders</a:t>
            </a:r>
          </a:p>
          <a:p>
            <a:pPr lvl="1"/>
            <a:r>
              <a:rPr lang="en-US" sz="3000" b="1" dirty="0" smtClean="0"/>
              <a:t>Secondary arrest of dilatation</a:t>
            </a:r>
          </a:p>
          <a:p>
            <a:pPr lvl="2"/>
            <a:r>
              <a:rPr lang="en-US" sz="2800" dirty="0" smtClean="0"/>
              <a:t>No cervical dilatation for &gt; 2 hrs (for both)</a:t>
            </a:r>
          </a:p>
          <a:p>
            <a:pPr lvl="1"/>
            <a:r>
              <a:rPr lang="en-US" sz="3000" b="1" dirty="0" smtClean="0"/>
              <a:t>Arrest of descent</a:t>
            </a:r>
          </a:p>
          <a:p>
            <a:pPr lvl="2"/>
            <a:r>
              <a:rPr lang="en-US" sz="2800" dirty="0" smtClean="0"/>
              <a:t>No decent of fetal presenting part for 1 hr</a:t>
            </a:r>
          </a:p>
          <a:p>
            <a:pPr lvl="1"/>
            <a:r>
              <a:rPr lang="en-US" sz="3000" b="1" dirty="0" smtClean="0"/>
              <a:t>Failure of Descent </a:t>
            </a:r>
          </a:p>
          <a:p>
            <a:pPr lvl="2"/>
            <a:r>
              <a:rPr lang="en-US" sz="2800" dirty="0" smtClean="0"/>
              <a:t>No descent in deceleration phase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1f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/>
              <a:t>Management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r>
              <a:rPr lang="fr-FR" dirty="0" smtClean="0"/>
              <a:t>Augmentation if no contraindication</a:t>
            </a:r>
          </a:p>
          <a:p>
            <a:r>
              <a:rPr lang="fr-FR" dirty="0" smtClean="0"/>
              <a:t>CPD - CS</a:t>
            </a:r>
          </a:p>
          <a:p>
            <a:r>
              <a:rPr lang="fr-FR" dirty="0" smtClean="0"/>
              <a:t>Contraindication for augmentation – 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6096000"/>
          </a:xfrm>
        </p:spPr>
        <p:txBody>
          <a:bodyPr/>
          <a:lstStyle/>
          <a:p>
            <a:r>
              <a:rPr lang="en-US" dirty="0" smtClean="0"/>
              <a:t>NB:- As </a:t>
            </a:r>
            <a:r>
              <a:rPr lang="en-US" dirty="0"/>
              <a:t>long as </a:t>
            </a:r>
            <a:r>
              <a:rPr lang="en-US" dirty="0" smtClean="0"/>
              <a:t>the fetal </a:t>
            </a:r>
            <a:r>
              <a:rPr lang="en-US" dirty="0"/>
              <a:t>and maternal status </a:t>
            </a:r>
            <a:r>
              <a:rPr lang="en-US" dirty="0" smtClean="0"/>
              <a:t>are reassuring, the </a:t>
            </a:r>
            <a:r>
              <a:rPr lang="en-US" dirty="0"/>
              <a:t>diagnosis </a:t>
            </a:r>
            <a:r>
              <a:rPr lang="en-US" dirty="0" smtClean="0"/>
              <a:t>of arrest of active-phase cervical dilation </a:t>
            </a:r>
            <a:r>
              <a:rPr lang="en-US" dirty="0"/>
              <a:t>in the </a:t>
            </a:r>
            <a:r>
              <a:rPr lang="en-US" dirty="0" smtClean="0"/>
              <a:t>first stage </a:t>
            </a:r>
            <a:r>
              <a:rPr lang="en-US" dirty="0"/>
              <a:t>of labor should be reserved for women </a:t>
            </a:r>
            <a:r>
              <a:rPr lang="en-US" dirty="0" smtClean="0"/>
              <a:t>at:</a:t>
            </a:r>
          </a:p>
          <a:p>
            <a:pPr lvl="1"/>
            <a:r>
              <a:rPr lang="en-US" dirty="0"/>
              <a:t>Cervical dilation ≥5 </a:t>
            </a:r>
            <a:r>
              <a:rPr lang="en-US" dirty="0" smtClean="0"/>
              <a:t>cm with ruptured membranes</a:t>
            </a:r>
          </a:p>
          <a:p>
            <a:pPr lvl="1"/>
            <a:endParaRPr lang="en-US" dirty="0"/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And one of the following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Fail to progress despite 4 hours of adequate uterine activity (≥ 200 Montevideo units in a 10-minute period)</a:t>
            </a:r>
          </a:p>
          <a:p>
            <a:pPr lvl="1"/>
            <a:r>
              <a:rPr lang="en-US" dirty="0"/>
              <a:t>At least 6 hours of oxytocin administration but inadequate </a:t>
            </a:r>
            <a:r>
              <a:rPr lang="en-US" dirty="0" smtClean="0"/>
              <a:t>contractions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978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/>
              <a:t>Disorders Of The Second Stage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486400"/>
          </a:xfrm>
        </p:spPr>
        <p:txBody>
          <a:bodyPr/>
          <a:lstStyle/>
          <a:p>
            <a:r>
              <a:rPr lang="en-US" b="1" dirty="0" smtClean="0"/>
              <a:t>Prolonged second stage</a:t>
            </a:r>
          </a:p>
          <a:p>
            <a:pPr lvl="2"/>
            <a:r>
              <a:rPr lang="en-US" sz="2800" dirty="0" smtClean="0"/>
              <a:t>Without epidural &gt; 3 hrs-Nulliparas; &gt; 2 hrs-Multiparas</a:t>
            </a:r>
          </a:p>
          <a:p>
            <a:pPr lvl="2"/>
            <a:r>
              <a:rPr lang="en-US" sz="2800" dirty="0" smtClean="0"/>
              <a:t>With  epidural &gt; </a:t>
            </a:r>
            <a:r>
              <a:rPr lang="en-US" sz="2800" dirty="0"/>
              <a:t>4</a:t>
            </a:r>
            <a:r>
              <a:rPr lang="en-US" sz="2800" dirty="0" smtClean="0"/>
              <a:t> hrs-Nulliparas ;&gt; </a:t>
            </a:r>
            <a:r>
              <a:rPr lang="en-US" sz="2800" dirty="0"/>
              <a:t>3</a:t>
            </a:r>
            <a:r>
              <a:rPr lang="en-US" sz="2800" dirty="0" smtClean="0"/>
              <a:t> hrs-Multiparas</a:t>
            </a:r>
          </a:p>
          <a:p>
            <a:pPr lvl="1"/>
            <a:r>
              <a:rPr lang="en-US" b="1" dirty="0" smtClean="0"/>
              <a:t>Protraction of descent </a:t>
            </a:r>
            <a:r>
              <a:rPr lang="en-US" dirty="0" smtClean="0"/>
              <a:t>- &lt; 1 cm/</a:t>
            </a:r>
            <a:r>
              <a:rPr lang="en-US" dirty="0" err="1" smtClean="0"/>
              <a:t>hr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Failure of descent (“Arrest”)</a:t>
            </a:r>
          </a:p>
          <a:p>
            <a:pPr lvl="1"/>
            <a:r>
              <a:rPr lang="en-US" dirty="0" smtClean="0"/>
              <a:t>No descent in second stage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Diagnoses of disorders of the second stage requires  careful evaluation of five factors:</a:t>
            </a:r>
          </a:p>
          <a:p>
            <a:pPr lvl="1"/>
            <a:r>
              <a:rPr lang="en-US" sz="3000" dirty="0" smtClean="0"/>
              <a:t>Uterine activity</a:t>
            </a:r>
          </a:p>
          <a:p>
            <a:pPr lvl="1"/>
            <a:r>
              <a:rPr lang="en-US" sz="3000" dirty="0" smtClean="0"/>
              <a:t>Maternal expulsive efforts</a:t>
            </a:r>
          </a:p>
          <a:p>
            <a:pPr lvl="1"/>
            <a:r>
              <a:rPr lang="en-US" sz="3000" dirty="0" smtClean="0"/>
              <a:t>Fetal heart rate status</a:t>
            </a:r>
          </a:p>
          <a:p>
            <a:pPr lvl="1"/>
            <a:r>
              <a:rPr lang="en-US" sz="3000" dirty="0" smtClean="0"/>
              <a:t>Fetal position</a:t>
            </a:r>
          </a:p>
          <a:p>
            <a:pPr lvl="1"/>
            <a:r>
              <a:rPr lang="en-US" sz="3000" dirty="0" smtClean="0"/>
              <a:t>Clinical pelvimetry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8362"/>
          </a:xfrm>
        </p:spPr>
        <p:txBody>
          <a:bodyPr/>
          <a:lstStyle/>
          <a:p>
            <a:r>
              <a:rPr lang="en-US" b="1" dirty="0" smtClean="0"/>
              <a:t>Management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Depends on identified cause and presence of complications.</a:t>
            </a:r>
          </a:p>
          <a:p>
            <a:r>
              <a:rPr lang="en-US" dirty="0" smtClean="0"/>
              <a:t>Options are:-</a:t>
            </a:r>
          </a:p>
          <a:p>
            <a:pPr lvl="1"/>
            <a:r>
              <a:rPr lang="en-US" sz="3000" dirty="0" smtClean="0"/>
              <a:t>Emotional support and encouragement</a:t>
            </a:r>
          </a:p>
          <a:p>
            <a:pPr lvl="1"/>
            <a:r>
              <a:rPr lang="en-US" sz="3000" dirty="0" smtClean="0"/>
              <a:t>Analgesia ( Parenteral, Pudendal or Neuraxial )</a:t>
            </a:r>
          </a:p>
          <a:p>
            <a:pPr lvl="1"/>
            <a:r>
              <a:rPr lang="en-US" sz="3000" dirty="0" smtClean="0"/>
              <a:t>Augmentation of labor</a:t>
            </a:r>
          </a:p>
          <a:p>
            <a:pPr lvl="1"/>
            <a:r>
              <a:rPr lang="en-US" sz="3000" dirty="0" smtClean="0"/>
              <a:t>Instrumental vaginal delivery (in the absence of contraindications) or</a:t>
            </a:r>
          </a:p>
          <a:p>
            <a:pPr lvl="1"/>
            <a:r>
              <a:rPr lang="en-US" sz="3000" dirty="0" smtClean="0"/>
              <a:t>Caesarean delivery </a:t>
            </a:r>
          </a:p>
          <a:p>
            <a:pPr lvl="1"/>
            <a:r>
              <a:rPr lang="en-US" sz="3000" dirty="0" smtClean="0"/>
              <a:t>Destructive vaginal delivery (if prerequisites are fulfilled). </a:t>
            </a:r>
            <a:endParaRPr lang="en-US"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/>
              <a:t>Disorders Of The Third Stage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The period from delivery of the last fetus to the expulsion of the placenta</a:t>
            </a:r>
          </a:p>
          <a:p>
            <a:r>
              <a:rPr lang="en-US" dirty="0" smtClean="0"/>
              <a:t>Signs of placental separation include</a:t>
            </a:r>
          </a:p>
          <a:p>
            <a:pPr lvl="1"/>
            <a:r>
              <a:rPr lang="en-US" sz="3000" dirty="0" smtClean="0"/>
              <a:t>A gush of blood</a:t>
            </a:r>
          </a:p>
          <a:p>
            <a:pPr lvl="1"/>
            <a:r>
              <a:rPr lang="en-US" sz="3000" dirty="0" smtClean="0"/>
              <a:t>Lengthening of the umbilical cord</a:t>
            </a:r>
          </a:p>
          <a:p>
            <a:pPr lvl="1"/>
            <a:r>
              <a:rPr lang="en-US" sz="3000" dirty="0" smtClean="0"/>
              <a:t>change in shape of the uterine fundus from discoid  to  globular</a:t>
            </a:r>
          </a:p>
          <a:p>
            <a:pPr lvl="1"/>
            <a:r>
              <a:rPr lang="en-US" sz="3000" dirty="0" smtClean="0"/>
              <a:t>Elevation of the fundal  height</a:t>
            </a:r>
            <a:endParaRPr lang="en-US"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Cont….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>
            <a:normAutofit/>
          </a:bodyPr>
          <a:lstStyle/>
          <a:p>
            <a:r>
              <a:rPr lang="en-US" b="1" dirty="0" smtClean="0"/>
              <a:t>Prolonged third stage of labor</a:t>
            </a:r>
          </a:p>
          <a:p>
            <a:pPr lvl="1"/>
            <a:r>
              <a:rPr lang="en-US" dirty="0" smtClean="0"/>
              <a:t>&gt;30 minutes - retained placenta (Prolonged third stage of labor)</a:t>
            </a:r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PPH - this risk increases proportionally with increased duration.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smtClean="0"/>
              <a:t>Management Of 3</a:t>
            </a:r>
            <a:r>
              <a:rPr lang="en-US" b="1" baseline="30000" dirty="0" smtClean="0"/>
              <a:t>rd</a:t>
            </a:r>
            <a:r>
              <a:rPr lang="en-US" b="1" dirty="0" smtClean="0"/>
              <a:t> Stage of Labor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791200"/>
          </a:xfrm>
        </p:spPr>
        <p:txBody>
          <a:bodyPr>
            <a:normAutofit/>
          </a:bodyPr>
          <a:lstStyle/>
          <a:p>
            <a:r>
              <a:rPr lang="en-US" b="1" dirty="0" smtClean="0"/>
              <a:t>Active (AMTSL):-</a:t>
            </a:r>
            <a:endParaRPr lang="en-US" dirty="0" smtClean="0"/>
          </a:p>
          <a:p>
            <a:pPr lvl="1"/>
            <a:r>
              <a:rPr lang="en-US" dirty="0" smtClean="0"/>
              <a:t>Early cord clamping</a:t>
            </a:r>
          </a:p>
          <a:p>
            <a:pPr lvl="1"/>
            <a:r>
              <a:rPr lang="en-US" dirty="0" smtClean="0"/>
              <a:t>Controlled cord traction</a:t>
            </a:r>
          </a:p>
          <a:p>
            <a:pPr lvl="1"/>
            <a:r>
              <a:rPr lang="en-US" dirty="0" smtClean="0"/>
              <a:t>Administration of a uterotonic agent</a:t>
            </a:r>
          </a:p>
          <a:p>
            <a:r>
              <a:rPr lang="en-US" dirty="0" smtClean="0"/>
              <a:t>Manual removal or sharp curettage</a:t>
            </a:r>
          </a:p>
          <a:p>
            <a:r>
              <a:rPr lang="en-US" dirty="0" smtClean="0"/>
              <a:t>Major operative interventions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/>
              <a:t>Precipitous Labor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r>
              <a:rPr lang="en-US" dirty="0" smtClean="0"/>
              <a:t>Extremely rapid labor and delivery.</a:t>
            </a:r>
          </a:p>
          <a:p>
            <a:pPr lvl="1"/>
            <a:r>
              <a:rPr lang="en-US" dirty="0" smtClean="0"/>
              <a:t>Onset of labor to expulsion of the fetus - &lt; 3 hours</a:t>
            </a:r>
          </a:p>
          <a:p>
            <a:r>
              <a:rPr lang="en-US" dirty="0" smtClean="0"/>
              <a:t>Precipitated dilatation</a:t>
            </a:r>
          </a:p>
          <a:p>
            <a:r>
              <a:rPr lang="en-US" dirty="0" smtClean="0"/>
              <a:t>Precipitated descent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 smtClean="0"/>
              <a:t>Precipitous Labor 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Possible reasons:- </a:t>
            </a:r>
          </a:p>
          <a:p>
            <a:pPr lvl="1"/>
            <a:r>
              <a:rPr lang="en-US" dirty="0" smtClean="0"/>
              <a:t>Abnormally low resistance soft tissues</a:t>
            </a:r>
          </a:p>
          <a:p>
            <a:pPr lvl="1"/>
            <a:r>
              <a:rPr lang="en-US" dirty="0" smtClean="0"/>
              <a:t>Abnormally strong uterine and abdominal contractions</a:t>
            </a:r>
          </a:p>
          <a:p>
            <a:pPr lvl="1"/>
            <a:r>
              <a:rPr lang="en-US" dirty="0" smtClean="0"/>
              <a:t>Lack of pain with contractions to cue advanced labor (rare)</a:t>
            </a:r>
          </a:p>
          <a:p>
            <a:r>
              <a:rPr lang="it-IT" dirty="0" smtClean="0"/>
              <a:t>Complications :-</a:t>
            </a:r>
          </a:p>
          <a:p>
            <a:pPr lvl="1"/>
            <a:r>
              <a:rPr lang="en-US" dirty="0" smtClean="0"/>
              <a:t>Unattended birth</a:t>
            </a:r>
          </a:p>
          <a:p>
            <a:pPr lvl="1"/>
            <a:r>
              <a:rPr lang="en-US" dirty="0" smtClean="0"/>
              <a:t>Extensive lacerations of the cervix, vagina, vulva, or perineum -&gt; Amniotic fluid embolism, PPH</a:t>
            </a:r>
          </a:p>
          <a:p>
            <a:pPr lvl="1"/>
            <a:r>
              <a:rPr lang="en-US" dirty="0" smtClean="0"/>
              <a:t>Uterine rupture </a:t>
            </a:r>
          </a:p>
          <a:p>
            <a:pPr lvl="1"/>
            <a:r>
              <a:rPr lang="fi-FI" dirty="0" smtClean="0"/>
              <a:t>Uterine atony – PPH</a:t>
            </a:r>
          </a:p>
          <a:p>
            <a:pPr lvl="1"/>
            <a:r>
              <a:rPr lang="en-US" dirty="0" smtClean="0"/>
              <a:t>Low APGAR scores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/>
              <a:t>What causes abnormal labor??</a:t>
            </a:r>
            <a:endParaRPr lang="en-US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Etiologies Of Abnormal Labor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9916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Causes are grouped into </a:t>
            </a:r>
            <a:r>
              <a:rPr lang="en-US" b="1" dirty="0" smtClean="0"/>
              <a:t>three</a:t>
            </a:r>
            <a:r>
              <a:rPr lang="en-US" dirty="0" smtClean="0"/>
              <a:t> distinct categories (The 3 P’s)</a:t>
            </a:r>
          </a:p>
          <a:p>
            <a:r>
              <a:rPr lang="en-US" dirty="0" smtClean="0"/>
              <a:t>Abnormalities of </a:t>
            </a:r>
          </a:p>
          <a:p>
            <a:pPr lvl="1"/>
            <a:r>
              <a:rPr lang="en-US" dirty="0" smtClean="0"/>
              <a:t>POWERS (Uterine Contractions &amp; Maternal Effort)</a:t>
            </a:r>
          </a:p>
          <a:p>
            <a:pPr lvl="1"/>
            <a:r>
              <a:rPr lang="en-US" dirty="0" smtClean="0"/>
              <a:t>PASSAGE (Maternal Pelvis &amp; Reproductive Tract)</a:t>
            </a:r>
          </a:p>
          <a:p>
            <a:pPr lvl="1"/>
            <a:r>
              <a:rPr lang="en-US" dirty="0" smtClean="0"/>
              <a:t>PASSENGER (The Fetus)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Act individually or in combination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Abnormalities Of The Powers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r>
              <a:rPr lang="en-US" dirty="0" smtClean="0"/>
              <a:t>Primary power – </a:t>
            </a:r>
            <a:r>
              <a:rPr lang="en-US" b="1" dirty="0" smtClean="0"/>
              <a:t>Uterine contraction</a:t>
            </a:r>
          </a:p>
          <a:p>
            <a:pPr lvl="1"/>
            <a:r>
              <a:rPr lang="en-US" dirty="0" smtClean="0"/>
              <a:t>Insufficiently strong or inappropriately coordinated to efface and dilate the cervix</a:t>
            </a:r>
          </a:p>
          <a:p>
            <a:pPr lvl="2"/>
            <a:r>
              <a:rPr lang="en-US" b="1" dirty="0" smtClean="0"/>
              <a:t>Uterine dysfunction</a:t>
            </a:r>
          </a:p>
          <a:p>
            <a:r>
              <a:rPr lang="en-US" dirty="0" smtClean="0"/>
              <a:t>Secondary power – </a:t>
            </a:r>
            <a:r>
              <a:rPr lang="en-US" b="1" dirty="0" smtClean="0"/>
              <a:t>Maternal expulsive efforts</a:t>
            </a:r>
          </a:p>
          <a:p>
            <a:pPr lvl="1"/>
            <a:r>
              <a:rPr lang="en-US" dirty="0" smtClean="0"/>
              <a:t>During second stage :      voluntary pushing efforts</a:t>
            </a:r>
          </a:p>
        </p:txBody>
      </p:sp>
      <p:sp>
        <p:nvSpPr>
          <p:cNvPr id="4" name="Down Arrow 3"/>
          <p:cNvSpPr/>
          <p:nvPr/>
        </p:nvSpPr>
        <p:spPr>
          <a:xfrm>
            <a:off x="4114800" y="3886200"/>
            <a:ext cx="3048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>
            <a:normAutofit/>
          </a:bodyPr>
          <a:lstStyle/>
          <a:p>
            <a:pPr lvl="2" algn="ctr" rtl="0">
              <a:spcBef>
                <a:spcPct val="0"/>
              </a:spcBef>
            </a:pPr>
            <a:r>
              <a:rPr lang="en-US" sz="4000" b="1" dirty="0" smtClean="0"/>
              <a:t>Uterine Dysfunction (UD)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5410200"/>
          </a:xfrm>
        </p:spPr>
        <p:txBody>
          <a:bodyPr/>
          <a:lstStyle/>
          <a:p>
            <a:r>
              <a:rPr lang="en-US" dirty="0" smtClean="0"/>
              <a:t>The most common cause of a protraction disorder</a:t>
            </a:r>
          </a:p>
          <a:p>
            <a:endParaRPr lang="en-US" dirty="0" smtClean="0"/>
          </a:p>
          <a:p>
            <a:r>
              <a:rPr lang="en-US" dirty="0" smtClean="0"/>
              <a:t>The lower limit of contraction pressure required to dilate a cervix has been observed to be 15 mmHg over baseline.</a:t>
            </a:r>
          </a:p>
          <a:p>
            <a:endParaRPr lang="en-US" dirty="0" smtClean="0"/>
          </a:p>
          <a:p>
            <a:r>
              <a:rPr lang="en-US" dirty="0" smtClean="0"/>
              <a:t>Normal spontaneous contractions often exert pressures up to 60 mm Hg.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Electromechanical Classification Of UD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>
            <a:normAutofit/>
          </a:bodyPr>
          <a:lstStyle/>
          <a:p>
            <a:r>
              <a:rPr lang="en-US" b="1" dirty="0" smtClean="0"/>
              <a:t>Hypotonic dysfunction</a:t>
            </a:r>
          </a:p>
          <a:p>
            <a:pPr lvl="1"/>
            <a:r>
              <a:rPr lang="en-US" dirty="0" smtClean="0"/>
              <a:t>Inefficient generation and propagation of action  potentials through the myometrium or a lack of contractile response of myometrial cells to the initial stimulus.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Infrequent contractions of low amplitude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Low or normal baseline intrauterine pressures but synchronous contraction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Maternal discomfort is minimal.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en-US" b="1" dirty="0" smtClean="0"/>
              <a:t>Hypertonic dysfunction</a:t>
            </a:r>
          </a:p>
          <a:p>
            <a:pPr lvl="1"/>
            <a:r>
              <a:rPr lang="en-US" dirty="0" smtClean="0"/>
              <a:t>Frequent contractions of low amplitude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Often associated with an elevated basal intrauterine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dirty="0" smtClean="0"/>
              <a:t>o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Primarily a condition of primiparas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Usually occurs in early labor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Maternal discomfort is usually significant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r>
              <a:rPr lang="en-US" b="1" dirty="0" smtClean="0"/>
              <a:t>Risk Factors For Uterine Dysfunction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991600" cy="5562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Neuraxial analgesia (Epidural…)</a:t>
            </a:r>
          </a:p>
          <a:p>
            <a:r>
              <a:rPr lang="pl-PL" dirty="0" smtClean="0"/>
              <a:t>Chorioamnionitis</a:t>
            </a:r>
            <a:endParaRPr lang="en-US" dirty="0" smtClean="0"/>
          </a:p>
          <a:p>
            <a:r>
              <a:rPr lang="en-US" dirty="0" smtClean="0"/>
              <a:t>A higher station at the onset of labor</a:t>
            </a:r>
          </a:p>
          <a:p>
            <a:r>
              <a:rPr lang="en-US" dirty="0" smtClean="0"/>
              <a:t>Maternal age</a:t>
            </a:r>
          </a:p>
          <a:p>
            <a:r>
              <a:rPr lang="en-US" dirty="0" smtClean="0"/>
              <a:t>Maternal obesity</a:t>
            </a:r>
          </a:p>
          <a:p>
            <a:r>
              <a:rPr lang="en-US" dirty="0" smtClean="0"/>
              <a:t>Parity</a:t>
            </a:r>
          </a:p>
          <a:p>
            <a:r>
              <a:rPr lang="en-US" dirty="0" smtClean="0"/>
              <a:t>Fetal malpresentations / malpositions </a:t>
            </a:r>
          </a:p>
          <a:p>
            <a:r>
              <a:rPr lang="en-US" dirty="0" smtClean="0"/>
              <a:t> Uterine pathologies (myoma, congenital anomalies)</a:t>
            </a:r>
          </a:p>
          <a:p>
            <a:r>
              <a:rPr lang="en-US" dirty="0" smtClean="0"/>
              <a:t>Dehydration and electrolyte imbalances </a:t>
            </a:r>
          </a:p>
          <a:p>
            <a:r>
              <a:rPr lang="en-US" dirty="0" smtClean="0"/>
              <a:t>Fetopelvic disproportion </a:t>
            </a:r>
          </a:p>
          <a:p>
            <a:r>
              <a:rPr lang="en-US" dirty="0" smtClean="0"/>
              <a:t>Abruptio placentae with couvaliare uterus etc…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609600"/>
            <a:ext cx="86106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Abnormalities Of The Passage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dirty="0" smtClean="0"/>
              <a:t>The bony pelvis – inlet, midpelvis, outlet</a:t>
            </a:r>
          </a:p>
          <a:p>
            <a:pPr lvl="1"/>
            <a:r>
              <a:rPr lang="en-US" dirty="0" smtClean="0"/>
              <a:t>Contracted Pelvis 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Soft tissue dystocia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Risk Factors For Passage Abnormality</a:t>
            </a:r>
            <a:endParaRPr lang="en-US" b="1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066800"/>
            <a:ext cx="91440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Abnormalities Of The Passenger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r>
              <a:rPr lang="en-US" dirty="0" smtClean="0"/>
              <a:t>Malpresentations / Malpositions</a:t>
            </a:r>
          </a:p>
          <a:p>
            <a:r>
              <a:rPr lang="en-US" dirty="0" smtClean="0"/>
              <a:t>Fetal weight</a:t>
            </a:r>
          </a:p>
          <a:p>
            <a:r>
              <a:rPr lang="en-US" dirty="0" smtClean="0"/>
              <a:t>Fetal number</a:t>
            </a:r>
          </a:p>
          <a:p>
            <a:r>
              <a:rPr lang="en-US" dirty="0" smtClean="0"/>
              <a:t>Fetal Congenital anomalies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Autofit/>
          </a:bodyPr>
          <a:lstStyle/>
          <a:p>
            <a:r>
              <a:rPr lang="en-US" sz="4000" b="1" dirty="0" smtClean="0"/>
              <a:t>Risk Factors For Passenger Abnormality</a:t>
            </a:r>
            <a:endParaRPr lang="en-US" sz="4000" b="1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91440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Diagnosis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Follow &amp; document the following parameters with time </a:t>
            </a:r>
          </a:p>
          <a:p>
            <a:pPr lvl="1"/>
            <a:r>
              <a:rPr lang="en-US" dirty="0" smtClean="0"/>
              <a:t>Uterine contraction profile </a:t>
            </a:r>
          </a:p>
          <a:p>
            <a:pPr lvl="1"/>
            <a:r>
              <a:rPr lang="en-US" dirty="0" smtClean="0"/>
              <a:t>Cervical dilatation/effacement </a:t>
            </a:r>
          </a:p>
          <a:p>
            <a:pPr lvl="1"/>
            <a:r>
              <a:rPr lang="en-US" dirty="0" smtClean="0"/>
              <a:t>Descent of fetal presentation </a:t>
            </a:r>
          </a:p>
          <a:p>
            <a:r>
              <a:rPr lang="en-US" dirty="0" smtClean="0"/>
              <a:t>Look into standard normal patterns for respective parity</a:t>
            </a:r>
          </a:p>
          <a:p>
            <a:pPr lvl="1"/>
            <a:r>
              <a:rPr lang="en-US" dirty="0" smtClean="0"/>
              <a:t>Identify any deviations and then classify into respective abnormal patterns  </a:t>
            </a:r>
          </a:p>
          <a:p>
            <a:r>
              <a:rPr lang="en-US" dirty="0" smtClean="0"/>
              <a:t> Evaluate for any specific etiology by carefully assessing the three determinants of labor progress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r>
              <a:rPr lang="en-US" b="1" dirty="0" smtClean="0"/>
              <a:t>Evaluation For Any Specific Cause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7912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Assessment of the powers</a:t>
            </a:r>
          </a:p>
          <a:p>
            <a:pPr lvl="1"/>
            <a:r>
              <a:rPr lang="en-US" dirty="0" smtClean="0"/>
              <a:t>Palpation of uterine contractions </a:t>
            </a:r>
          </a:p>
          <a:p>
            <a:pPr lvl="1"/>
            <a:r>
              <a:rPr lang="en-US" dirty="0" smtClean="0"/>
              <a:t>External tocodynamometer </a:t>
            </a:r>
          </a:p>
          <a:p>
            <a:pPr lvl="1"/>
            <a:r>
              <a:rPr lang="en-US" dirty="0" smtClean="0"/>
              <a:t>Intrauterine pressure catheter (IUPC) monitoring</a:t>
            </a:r>
          </a:p>
          <a:p>
            <a:pPr lvl="1"/>
            <a:r>
              <a:rPr lang="en-US" dirty="0" smtClean="0"/>
              <a:t>Maternal exhaustion, vital signs, blood glucose and evidence of dehydration, emotional status and pain control</a:t>
            </a:r>
          </a:p>
          <a:p>
            <a:r>
              <a:rPr lang="en-US" dirty="0" smtClean="0"/>
              <a:t>Assessment of the passenger </a:t>
            </a:r>
          </a:p>
          <a:p>
            <a:pPr lvl="1"/>
            <a:r>
              <a:rPr lang="en-US" dirty="0" smtClean="0"/>
              <a:t>Size, number, presentation, position and anomalies of the fetus by Leopold's palpations and ultrasonography </a:t>
            </a:r>
          </a:p>
          <a:p>
            <a:r>
              <a:rPr lang="en-US" dirty="0" smtClean="0"/>
              <a:t>Assessment of the passages</a:t>
            </a:r>
          </a:p>
          <a:p>
            <a:pPr lvl="1"/>
            <a:r>
              <a:rPr lang="en-US" dirty="0" smtClean="0"/>
              <a:t>Bony pelvis – clinical pelvimetry </a:t>
            </a:r>
          </a:p>
          <a:p>
            <a:pPr lvl="1"/>
            <a:r>
              <a:rPr lang="en-US" dirty="0" smtClean="0"/>
              <a:t>Soft tissue dystocia – vaginal exam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Autofit/>
          </a:bodyPr>
          <a:lstStyle/>
          <a:p>
            <a:r>
              <a:rPr lang="en-US" b="1" dirty="0" smtClean="0"/>
              <a:t>Management 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791200"/>
          </a:xfrm>
        </p:spPr>
        <p:txBody>
          <a:bodyPr>
            <a:normAutofit/>
          </a:bodyPr>
          <a:lstStyle/>
          <a:p>
            <a:r>
              <a:rPr lang="en-US" dirty="0" smtClean="0"/>
              <a:t>Power abnormalities </a:t>
            </a:r>
          </a:p>
          <a:p>
            <a:pPr lvl="1"/>
            <a:r>
              <a:rPr lang="en-US" dirty="0" smtClean="0"/>
              <a:t>Uterine dysfunction – Augmentation, CD  </a:t>
            </a:r>
          </a:p>
          <a:p>
            <a:pPr lvl="1"/>
            <a:r>
              <a:rPr lang="en-US" dirty="0" smtClean="0"/>
              <a:t>Lack of maternal effort – Instrumental assistance</a:t>
            </a:r>
          </a:p>
          <a:p>
            <a:r>
              <a:rPr lang="en-US" dirty="0" smtClean="0"/>
              <a:t>Passenger abnormalities </a:t>
            </a:r>
          </a:p>
          <a:p>
            <a:pPr lvl="1"/>
            <a:r>
              <a:rPr lang="en-US" dirty="0" smtClean="0"/>
              <a:t>Often caesarean deliveries required</a:t>
            </a:r>
          </a:p>
          <a:p>
            <a:pPr lvl="1"/>
            <a:r>
              <a:rPr lang="en-US" dirty="0" smtClean="0"/>
              <a:t>Destructive deliveries in cases of fetal deaths  </a:t>
            </a:r>
          </a:p>
          <a:p>
            <a:r>
              <a:rPr lang="en-US" dirty="0" smtClean="0"/>
              <a:t>Abnormalities of the passages </a:t>
            </a:r>
          </a:p>
          <a:p>
            <a:pPr lvl="1"/>
            <a:r>
              <a:rPr lang="en-US" dirty="0" smtClean="0"/>
              <a:t>Often caesarean delivery </a:t>
            </a:r>
          </a:p>
          <a:p>
            <a:pPr lvl="1"/>
            <a:r>
              <a:rPr lang="en-US" dirty="0" smtClean="0"/>
              <a:t>Episiotomy for perineal level obstruction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447800"/>
            <a:ext cx="9144000" cy="2895600"/>
          </a:xfrm>
        </p:spPr>
        <p:txBody>
          <a:bodyPr/>
          <a:lstStyle/>
          <a:p>
            <a:r>
              <a:rPr lang="en-US" sz="9600" b="1" dirty="0" smtClean="0">
                <a:solidFill>
                  <a:schemeClr val="tx1"/>
                </a:solidFill>
              </a:rPr>
              <a:t>	THANK YOU!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1825</TotalTime>
  <Words>1387</Words>
  <Application>Microsoft Office PowerPoint</Application>
  <PresentationFormat>On-screen Show (4:3)</PresentationFormat>
  <Paragraphs>259</Paragraphs>
  <Slides>42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Abnormal Labor</vt:lpstr>
      <vt:lpstr>Outline</vt:lpstr>
      <vt:lpstr>Introduction</vt:lpstr>
      <vt:lpstr>Introduction Cont…</vt:lpstr>
      <vt:lpstr>Abnormal Labor</vt:lpstr>
      <vt:lpstr>Labor Classification</vt:lpstr>
      <vt:lpstr>Patterns Of Abnormal Labor</vt:lpstr>
      <vt:lpstr>Disorders Of The Latent Phase</vt:lpstr>
      <vt:lpstr>PowerPoint Presentation</vt:lpstr>
      <vt:lpstr>Management</vt:lpstr>
      <vt:lpstr>Disorders Of The Active Phase </vt:lpstr>
      <vt:lpstr>Cont…</vt:lpstr>
      <vt:lpstr>Management</vt:lpstr>
      <vt:lpstr>Disorders of the Active Phase Cont… </vt:lpstr>
      <vt:lpstr>PowerPoint Presentation</vt:lpstr>
      <vt:lpstr>Management</vt:lpstr>
      <vt:lpstr>Cont…</vt:lpstr>
      <vt:lpstr>Disorders Of The Second Stage</vt:lpstr>
      <vt:lpstr>Cont…</vt:lpstr>
      <vt:lpstr>Management</vt:lpstr>
      <vt:lpstr>Disorders Of The Third Stage</vt:lpstr>
      <vt:lpstr>PowerPoint Presentation</vt:lpstr>
      <vt:lpstr>Cont….</vt:lpstr>
      <vt:lpstr>Management Of 3rd Stage of Labor</vt:lpstr>
      <vt:lpstr>Precipitous Labor</vt:lpstr>
      <vt:lpstr>Precipitous Labor Cont…</vt:lpstr>
      <vt:lpstr>What causes abnormal labor??</vt:lpstr>
      <vt:lpstr>Etiologies Of Abnormal Labor</vt:lpstr>
      <vt:lpstr>Abnormalities Of The Powers</vt:lpstr>
      <vt:lpstr>Uterine Dysfunction (UD)</vt:lpstr>
      <vt:lpstr>Electromechanical Classification Of UD</vt:lpstr>
      <vt:lpstr>PowerPoint Presentation</vt:lpstr>
      <vt:lpstr>Risk Factors For Uterine Dysfunction</vt:lpstr>
      <vt:lpstr>PowerPoint Presentation</vt:lpstr>
      <vt:lpstr>Abnormalities Of The Passage</vt:lpstr>
      <vt:lpstr>Risk Factors For Passage Abnormality</vt:lpstr>
      <vt:lpstr>Abnormalities Of The Passenger</vt:lpstr>
      <vt:lpstr>Risk Factors For Passenger Abnormality</vt:lpstr>
      <vt:lpstr>Diagnosis</vt:lpstr>
      <vt:lpstr>Evaluation For Any Specific Cause</vt:lpstr>
      <vt:lpstr>Management Summary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Abnormal Labor (Dystocia)</dc:title>
  <dc:creator>Samsung</dc:creator>
  <cp:lastModifiedBy>hp</cp:lastModifiedBy>
  <cp:revision>212</cp:revision>
  <dcterms:created xsi:type="dcterms:W3CDTF">2006-08-16T00:00:00Z</dcterms:created>
  <dcterms:modified xsi:type="dcterms:W3CDTF">2025-09-02T02:50:09Z</dcterms:modified>
</cp:coreProperties>
</file>