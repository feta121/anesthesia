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70" r:id="rId2"/>
    <p:sldId id="257" r:id="rId3"/>
    <p:sldId id="258" r:id="rId4"/>
    <p:sldId id="259" r:id="rId5"/>
    <p:sldId id="302" r:id="rId6"/>
    <p:sldId id="304" r:id="rId7"/>
    <p:sldId id="305" r:id="rId8"/>
    <p:sldId id="306" r:id="rId9"/>
    <p:sldId id="271" r:id="rId10"/>
    <p:sldId id="273" r:id="rId11"/>
    <p:sldId id="264" r:id="rId12"/>
    <p:sldId id="266" r:id="rId13"/>
    <p:sldId id="267" r:id="rId14"/>
    <p:sldId id="268" r:id="rId15"/>
    <p:sldId id="292" r:id="rId16"/>
    <p:sldId id="293" r:id="rId17"/>
    <p:sldId id="297" r:id="rId18"/>
    <p:sldId id="319" r:id="rId19"/>
    <p:sldId id="320" r:id="rId20"/>
    <p:sldId id="321" r:id="rId21"/>
    <p:sldId id="322" r:id="rId22"/>
    <p:sldId id="323" r:id="rId23"/>
    <p:sldId id="326" r:id="rId24"/>
    <p:sldId id="327" r:id="rId25"/>
    <p:sldId id="332" r:id="rId26"/>
    <p:sldId id="333" r:id="rId27"/>
    <p:sldId id="334" r:id="rId28"/>
    <p:sldId id="336" r:id="rId29"/>
    <p:sldId id="339" r:id="rId30"/>
    <p:sldId id="341" r:id="rId31"/>
    <p:sldId id="347" r:id="rId32"/>
    <p:sldId id="342" r:id="rId33"/>
    <p:sldId id="343" r:id="rId34"/>
    <p:sldId id="348"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CAB921-DEEB-478C-AFA1-AEBDCD211552}" type="datetimeFigureOut">
              <a:rPr lang="en-US" smtClean="0"/>
              <a:t>9/8/2025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C6B01DE-208F-4284-BC32-16F6CC97241D}" type="slidenum">
              <a:rPr lang="en-US" smtClean="0"/>
              <a:t>‹#›</a:t>
            </a:fld>
            <a:endParaRPr lang="en-US"/>
          </a:p>
        </p:txBody>
      </p:sp>
    </p:spTree>
    <p:extLst>
      <p:ext uri="{BB962C8B-B14F-4D97-AF65-F5344CB8AC3E}">
        <p14:creationId xmlns:p14="http://schemas.microsoft.com/office/powerpoint/2010/main" val="32314102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F3AD6-2C23-4C7E-8DE0-B5735F2CC42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0719B0C-5FC8-4313-9D8B-9027B9D0430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28F2B7F-89CD-47D0-85F0-A3D6C7BF6855}"/>
              </a:ext>
            </a:extLst>
          </p:cNvPr>
          <p:cNvSpPr>
            <a:spLocks noGrp="1"/>
          </p:cNvSpPr>
          <p:nvPr>
            <p:ph type="dt" sz="half" idx="10"/>
          </p:nvPr>
        </p:nvSpPr>
        <p:spPr/>
        <p:txBody>
          <a:bodyPr/>
          <a:lstStyle/>
          <a:p>
            <a:fld id="{ED2EABC2-A7E1-4CFA-B052-20840AE8EB07}" type="datetimeFigureOut">
              <a:rPr lang="en-US" smtClean="0"/>
              <a:t>9/8/2025</a:t>
            </a:fld>
            <a:endParaRPr lang="en-US"/>
          </a:p>
        </p:txBody>
      </p:sp>
      <p:sp>
        <p:nvSpPr>
          <p:cNvPr id="5" name="Footer Placeholder 4">
            <a:extLst>
              <a:ext uri="{FF2B5EF4-FFF2-40B4-BE49-F238E27FC236}">
                <a16:creationId xmlns:a16="http://schemas.microsoft.com/office/drawing/2014/main" id="{3504BAD7-1F2F-4EEE-8D9F-E522E98B54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57E169-D198-45DF-BE76-24DD2696AEFF}"/>
              </a:ext>
            </a:extLst>
          </p:cNvPr>
          <p:cNvSpPr>
            <a:spLocks noGrp="1"/>
          </p:cNvSpPr>
          <p:nvPr>
            <p:ph type="sldNum" sz="quarter" idx="12"/>
          </p:nvPr>
        </p:nvSpPr>
        <p:spPr/>
        <p:txBody>
          <a:bodyPr/>
          <a:lstStyle/>
          <a:p>
            <a:fld id="{93E3CD6B-76C2-4FE4-B351-5B30B1D58389}" type="slidenum">
              <a:rPr lang="en-US" smtClean="0"/>
              <a:t>‹#›</a:t>
            </a:fld>
            <a:endParaRPr lang="en-US"/>
          </a:p>
        </p:txBody>
      </p:sp>
    </p:spTree>
    <p:extLst>
      <p:ext uri="{BB962C8B-B14F-4D97-AF65-F5344CB8AC3E}">
        <p14:creationId xmlns:p14="http://schemas.microsoft.com/office/powerpoint/2010/main" val="8398791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EF673-2693-44D5-9692-0854FABCFDD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EEA7621-84FC-4A1D-A03A-C014074EAC93}"/>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8E20FA-C9D2-4E42-988F-6B48266B8260}"/>
              </a:ext>
            </a:extLst>
          </p:cNvPr>
          <p:cNvSpPr>
            <a:spLocks noGrp="1"/>
          </p:cNvSpPr>
          <p:nvPr>
            <p:ph type="dt" sz="half" idx="10"/>
          </p:nvPr>
        </p:nvSpPr>
        <p:spPr/>
        <p:txBody>
          <a:bodyPr/>
          <a:lstStyle/>
          <a:p>
            <a:fld id="{ED2EABC2-A7E1-4CFA-B052-20840AE8EB07}" type="datetimeFigureOut">
              <a:rPr lang="en-US" smtClean="0"/>
              <a:t>9/8/2025</a:t>
            </a:fld>
            <a:endParaRPr lang="en-US"/>
          </a:p>
        </p:txBody>
      </p:sp>
      <p:sp>
        <p:nvSpPr>
          <p:cNvPr id="5" name="Footer Placeholder 4">
            <a:extLst>
              <a:ext uri="{FF2B5EF4-FFF2-40B4-BE49-F238E27FC236}">
                <a16:creationId xmlns:a16="http://schemas.microsoft.com/office/drawing/2014/main" id="{FDE906DD-C2F9-47D2-8886-4A5A4448F3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574DCC-600A-4BD5-A315-22BCE6DEC9FB}"/>
              </a:ext>
            </a:extLst>
          </p:cNvPr>
          <p:cNvSpPr>
            <a:spLocks noGrp="1"/>
          </p:cNvSpPr>
          <p:nvPr>
            <p:ph type="sldNum" sz="quarter" idx="12"/>
          </p:nvPr>
        </p:nvSpPr>
        <p:spPr/>
        <p:txBody>
          <a:bodyPr/>
          <a:lstStyle/>
          <a:p>
            <a:fld id="{93E3CD6B-76C2-4FE4-B351-5B30B1D58389}" type="slidenum">
              <a:rPr lang="en-US" smtClean="0"/>
              <a:t>‹#›</a:t>
            </a:fld>
            <a:endParaRPr lang="en-US"/>
          </a:p>
        </p:txBody>
      </p:sp>
    </p:spTree>
    <p:extLst>
      <p:ext uri="{BB962C8B-B14F-4D97-AF65-F5344CB8AC3E}">
        <p14:creationId xmlns:p14="http://schemas.microsoft.com/office/powerpoint/2010/main" val="8743556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2DCA4-5D76-49E3-A4C0-26C0592F0FD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CC073E4-2ED2-419D-B355-7D05CF5A61E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0484CD14-3D2B-4B25-962A-F2ABB795A3E3}"/>
              </a:ext>
            </a:extLst>
          </p:cNvPr>
          <p:cNvSpPr>
            <a:spLocks noGrp="1"/>
          </p:cNvSpPr>
          <p:nvPr>
            <p:ph type="dt" sz="half" idx="10"/>
          </p:nvPr>
        </p:nvSpPr>
        <p:spPr/>
        <p:txBody>
          <a:bodyPr/>
          <a:lstStyle/>
          <a:p>
            <a:fld id="{ED2EABC2-A7E1-4CFA-B052-20840AE8EB07}" type="datetimeFigureOut">
              <a:rPr lang="en-US" smtClean="0"/>
              <a:t>9/8/2025</a:t>
            </a:fld>
            <a:endParaRPr lang="en-US"/>
          </a:p>
        </p:txBody>
      </p:sp>
      <p:sp>
        <p:nvSpPr>
          <p:cNvPr id="5" name="Footer Placeholder 4">
            <a:extLst>
              <a:ext uri="{FF2B5EF4-FFF2-40B4-BE49-F238E27FC236}">
                <a16:creationId xmlns:a16="http://schemas.microsoft.com/office/drawing/2014/main" id="{D397CCB0-6CB0-4850-88BA-64BFB849BD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561398-488B-4A02-91C7-4BB576CEF732}"/>
              </a:ext>
            </a:extLst>
          </p:cNvPr>
          <p:cNvSpPr>
            <a:spLocks noGrp="1"/>
          </p:cNvSpPr>
          <p:nvPr>
            <p:ph type="sldNum" sz="quarter" idx="12"/>
          </p:nvPr>
        </p:nvSpPr>
        <p:spPr/>
        <p:txBody>
          <a:bodyPr/>
          <a:lstStyle/>
          <a:p>
            <a:fld id="{93E3CD6B-76C2-4FE4-B351-5B30B1D58389}" type="slidenum">
              <a:rPr lang="en-US" smtClean="0"/>
              <a:t>‹#›</a:t>
            </a:fld>
            <a:endParaRPr lang="en-US"/>
          </a:p>
        </p:txBody>
      </p:sp>
    </p:spTree>
    <p:extLst>
      <p:ext uri="{BB962C8B-B14F-4D97-AF65-F5344CB8AC3E}">
        <p14:creationId xmlns:p14="http://schemas.microsoft.com/office/powerpoint/2010/main" val="13036107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50AB3-3A04-4442-A389-065FBA25911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C3DDF2C-CA38-48C0-BA02-BC44DAF3B406}"/>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DC92F86-87AA-4BA9-81A0-87BDC8563D26}"/>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4CE19A1-6A5F-49AB-AE58-1B99D7C0E7B4}"/>
              </a:ext>
            </a:extLst>
          </p:cNvPr>
          <p:cNvSpPr>
            <a:spLocks noGrp="1"/>
          </p:cNvSpPr>
          <p:nvPr>
            <p:ph type="dt" sz="half" idx="10"/>
          </p:nvPr>
        </p:nvSpPr>
        <p:spPr/>
        <p:txBody>
          <a:bodyPr/>
          <a:lstStyle/>
          <a:p>
            <a:fld id="{ED2EABC2-A7E1-4CFA-B052-20840AE8EB07}" type="datetimeFigureOut">
              <a:rPr lang="en-US" smtClean="0"/>
              <a:t>9/8/2025</a:t>
            </a:fld>
            <a:endParaRPr lang="en-US"/>
          </a:p>
        </p:txBody>
      </p:sp>
      <p:sp>
        <p:nvSpPr>
          <p:cNvPr id="6" name="Footer Placeholder 5">
            <a:extLst>
              <a:ext uri="{FF2B5EF4-FFF2-40B4-BE49-F238E27FC236}">
                <a16:creationId xmlns:a16="http://schemas.microsoft.com/office/drawing/2014/main" id="{4B273CD2-11A2-4E27-AD93-488CF563E9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9A4965-3510-4987-BA72-956ED476059A}"/>
              </a:ext>
            </a:extLst>
          </p:cNvPr>
          <p:cNvSpPr>
            <a:spLocks noGrp="1"/>
          </p:cNvSpPr>
          <p:nvPr>
            <p:ph type="sldNum" sz="quarter" idx="12"/>
          </p:nvPr>
        </p:nvSpPr>
        <p:spPr/>
        <p:txBody>
          <a:bodyPr/>
          <a:lstStyle/>
          <a:p>
            <a:fld id="{93E3CD6B-76C2-4FE4-B351-5B30B1D58389}" type="slidenum">
              <a:rPr lang="en-US" smtClean="0"/>
              <a:t>‹#›</a:t>
            </a:fld>
            <a:endParaRPr lang="en-US"/>
          </a:p>
        </p:txBody>
      </p:sp>
    </p:spTree>
    <p:extLst>
      <p:ext uri="{BB962C8B-B14F-4D97-AF65-F5344CB8AC3E}">
        <p14:creationId xmlns:p14="http://schemas.microsoft.com/office/powerpoint/2010/main" val="35760001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37952-1A0C-4420-B660-099B1638CA5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070DEFF-9852-4C43-B5B8-99DCC3D7BF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75336F9C-8640-48D5-AA56-7B03EF2504FD}"/>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7240BE1-0266-41A1-A1B0-84B9441821B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DA1C3DB-0B76-47D4-98A5-CA62F8CF87E2}"/>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E47266A-F35D-49C5-8818-88AD5B612100}"/>
              </a:ext>
            </a:extLst>
          </p:cNvPr>
          <p:cNvSpPr>
            <a:spLocks noGrp="1"/>
          </p:cNvSpPr>
          <p:nvPr>
            <p:ph type="dt" sz="half" idx="10"/>
          </p:nvPr>
        </p:nvSpPr>
        <p:spPr/>
        <p:txBody>
          <a:bodyPr/>
          <a:lstStyle/>
          <a:p>
            <a:fld id="{ED2EABC2-A7E1-4CFA-B052-20840AE8EB07}" type="datetimeFigureOut">
              <a:rPr lang="en-US" smtClean="0"/>
              <a:t>9/8/2025</a:t>
            </a:fld>
            <a:endParaRPr lang="en-US"/>
          </a:p>
        </p:txBody>
      </p:sp>
      <p:sp>
        <p:nvSpPr>
          <p:cNvPr id="8" name="Footer Placeholder 7">
            <a:extLst>
              <a:ext uri="{FF2B5EF4-FFF2-40B4-BE49-F238E27FC236}">
                <a16:creationId xmlns:a16="http://schemas.microsoft.com/office/drawing/2014/main" id="{95FFBBD3-8829-48F5-8365-42929C129E0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7AA19BB-124E-47EC-A912-49D5D122583A}"/>
              </a:ext>
            </a:extLst>
          </p:cNvPr>
          <p:cNvSpPr>
            <a:spLocks noGrp="1"/>
          </p:cNvSpPr>
          <p:nvPr>
            <p:ph type="sldNum" sz="quarter" idx="12"/>
          </p:nvPr>
        </p:nvSpPr>
        <p:spPr/>
        <p:txBody>
          <a:bodyPr/>
          <a:lstStyle/>
          <a:p>
            <a:fld id="{93E3CD6B-76C2-4FE4-B351-5B30B1D58389}" type="slidenum">
              <a:rPr lang="en-US" smtClean="0"/>
              <a:t>‹#›</a:t>
            </a:fld>
            <a:endParaRPr lang="en-US"/>
          </a:p>
        </p:txBody>
      </p:sp>
    </p:spTree>
    <p:extLst>
      <p:ext uri="{BB962C8B-B14F-4D97-AF65-F5344CB8AC3E}">
        <p14:creationId xmlns:p14="http://schemas.microsoft.com/office/powerpoint/2010/main" val="14782635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4F415-3CD2-4753-A99B-A51F9C6EEE5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4F42AB4-83AE-4F75-8F48-1D59E501EE43}"/>
              </a:ext>
            </a:extLst>
          </p:cNvPr>
          <p:cNvSpPr>
            <a:spLocks noGrp="1"/>
          </p:cNvSpPr>
          <p:nvPr>
            <p:ph type="dt" sz="half" idx="10"/>
          </p:nvPr>
        </p:nvSpPr>
        <p:spPr/>
        <p:txBody>
          <a:bodyPr/>
          <a:lstStyle/>
          <a:p>
            <a:fld id="{ED2EABC2-A7E1-4CFA-B052-20840AE8EB07}" type="datetimeFigureOut">
              <a:rPr lang="en-US" smtClean="0"/>
              <a:t>9/8/2025</a:t>
            </a:fld>
            <a:endParaRPr lang="en-US"/>
          </a:p>
        </p:txBody>
      </p:sp>
      <p:sp>
        <p:nvSpPr>
          <p:cNvPr id="4" name="Footer Placeholder 3">
            <a:extLst>
              <a:ext uri="{FF2B5EF4-FFF2-40B4-BE49-F238E27FC236}">
                <a16:creationId xmlns:a16="http://schemas.microsoft.com/office/drawing/2014/main" id="{E4F4FFA0-7F3B-4ADC-AD47-11937E41656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9EB6B82-5A53-4E58-82E7-26EDA897009E}"/>
              </a:ext>
            </a:extLst>
          </p:cNvPr>
          <p:cNvSpPr>
            <a:spLocks noGrp="1"/>
          </p:cNvSpPr>
          <p:nvPr>
            <p:ph type="sldNum" sz="quarter" idx="12"/>
          </p:nvPr>
        </p:nvSpPr>
        <p:spPr/>
        <p:txBody>
          <a:bodyPr/>
          <a:lstStyle/>
          <a:p>
            <a:fld id="{93E3CD6B-76C2-4FE4-B351-5B30B1D58389}" type="slidenum">
              <a:rPr lang="en-US" smtClean="0"/>
              <a:t>‹#›</a:t>
            </a:fld>
            <a:endParaRPr lang="en-US"/>
          </a:p>
        </p:txBody>
      </p:sp>
    </p:spTree>
    <p:extLst>
      <p:ext uri="{BB962C8B-B14F-4D97-AF65-F5344CB8AC3E}">
        <p14:creationId xmlns:p14="http://schemas.microsoft.com/office/powerpoint/2010/main" val="26147633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CDDE93E-AFF9-4D42-994F-69E8A4CE5820}"/>
              </a:ext>
            </a:extLst>
          </p:cNvPr>
          <p:cNvSpPr>
            <a:spLocks noGrp="1"/>
          </p:cNvSpPr>
          <p:nvPr>
            <p:ph type="dt" sz="half" idx="10"/>
          </p:nvPr>
        </p:nvSpPr>
        <p:spPr/>
        <p:txBody>
          <a:bodyPr/>
          <a:lstStyle/>
          <a:p>
            <a:fld id="{ED2EABC2-A7E1-4CFA-B052-20840AE8EB07}" type="datetimeFigureOut">
              <a:rPr lang="en-US" smtClean="0"/>
              <a:t>9/8/2025</a:t>
            </a:fld>
            <a:endParaRPr lang="en-US"/>
          </a:p>
        </p:txBody>
      </p:sp>
      <p:sp>
        <p:nvSpPr>
          <p:cNvPr id="3" name="Footer Placeholder 2">
            <a:extLst>
              <a:ext uri="{FF2B5EF4-FFF2-40B4-BE49-F238E27FC236}">
                <a16:creationId xmlns:a16="http://schemas.microsoft.com/office/drawing/2014/main" id="{D6F029A7-60BC-40F1-89BA-859125D1FC6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0429B3C-4F05-46AC-B9F2-63551F515832}"/>
              </a:ext>
            </a:extLst>
          </p:cNvPr>
          <p:cNvSpPr>
            <a:spLocks noGrp="1"/>
          </p:cNvSpPr>
          <p:nvPr>
            <p:ph type="sldNum" sz="quarter" idx="12"/>
          </p:nvPr>
        </p:nvSpPr>
        <p:spPr/>
        <p:txBody>
          <a:bodyPr/>
          <a:lstStyle/>
          <a:p>
            <a:fld id="{93E3CD6B-76C2-4FE4-B351-5B30B1D58389}" type="slidenum">
              <a:rPr lang="en-US" smtClean="0"/>
              <a:t>‹#›</a:t>
            </a:fld>
            <a:endParaRPr lang="en-US"/>
          </a:p>
        </p:txBody>
      </p:sp>
    </p:spTree>
    <p:extLst>
      <p:ext uri="{BB962C8B-B14F-4D97-AF65-F5344CB8AC3E}">
        <p14:creationId xmlns:p14="http://schemas.microsoft.com/office/powerpoint/2010/main" val="34409501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85A50-D3A7-4E74-A326-8E12CA3A85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D7474FF-049E-4ADB-A624-F705D44C09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B1B0D45-62A4-4B9B-99CD-12D487834B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E3F6FEE-FB6A-4A3C-9EB2-E23BA32C48B6}"/>
              </a:ext>
            </a:extLst>
          </p:cNvPr>
          <p:cNvSpPr>
            <a:spLocks noGrp="1"/>
          </p:cNvSpPr>
          <p:nvPr>
            <p:ph type="dt" sz="half" idx="10"/>
          </p:nvPr>
        </p:nvSpPr>
        <p:spPr/>
        <p:txBody>
          <a:bodyPr/>
          <a:lstStyle/>
          <a:p>
            <a:fld id="{ED2EABC2-A7E1-4CFA-B052-20840AE8EB07}" type="datetimeFigureOut">
              <a:rPr lang="en-US" smtClean="0"/>
              <a:t>9/8/2025</a:t>
            </a:fld>
            <a:endParaRPr lang="en-US"/>
          </a:p>
        </p:txBody>
      </p:sp>
      <p:sp>
        <p:nvSpPr>
          <p:cNvPr id="6" name="Footer Placeholder 5">
            <a:extLst>
              <a:ext uri="{FF2B5EF4-FFF2-40B4-BE49-F238E27FC236}">
                <a16:creationId xmlns:a16="http://schemas.microsoft.com/office/drawing/2014/main" id="{19B3F5C1-5A35-4A0A-BBB4-A0E7AB7397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CDDF61-C042-4BD0-9C9F-425E2C95B014}"/>
              </a:ext>
            </a:extLst>
          </p:cNvPr>
          <p:cNvSpPr>
            <a:spLocks noGrp="1"/>
          </p:cNvSpPr>
          <p:nvPr>
            <p:ph type="sldNum" sz="quarter" idx="12"/>
          </p:nvPr>
        </p:nvSpPr>
        <p:spPr/>
        <p:txBody>
          <a:bodyPr/>
          <a:lstStyle/>
          <a:p>
            <a:fld id="{93E3CD6B-76C2-4FE4-B351-5B30B1D58389}" type="slidenum">
              <a:rPr lang="en-US" smtClean="0"/>
              <a:t>‹#›</a:t>
            </a:fld>
            <a:endParaRPr lang="en-US"/>
          </a:p>
        </p:txBody>
      </p:sp>
    </p:spTree>
    <p:extLst>
      <p:ext uri="{BB962C8B-B14F-4D97-AF65-F5344CB8AC3E}">
        <p14:creationId xmlns:p14="http://schemas.microsoft.com/office/powerpoint/2010/main" val="1103662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4F9B5-4463-4B69-BCBF-B3A845A535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0109379-7F99-445A-8080-E31F713B909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AB17927-84EC-4E15-BE36-4365D9BADB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CC4BBC4-9D32-4B9A-97AE-2FAB294591DA}"/>
              </a:ext>
            </a:extLst>
          </p:cNvPr>
          <p:cNvSpPr>
            <a:spLocks noGrp="1"/>
          </p:cNvSpPr>
          <p:nvPr>
            <p:ph type="dt" sz="half" idx="10"/>
          </p:nvPr>
        </p:nvSpPr>
        <p:spPr/>
        <p:txBody>
          <a:bodyPr/>
          <a:lstStyle/>
          <a:p>
            <a:fld id="{ED2EABC2-A7E1-4CFA-B052-20840AE8EB07}" type="datetimeFigureOut">
              <a:rPr lang="en-US" smtClean="0"/>
              <a:t>9/8/2025</a:t>
            </a:fld>
            <a:endParaRPr lang="en-US"/>
          </a:p>
        </p:txBody>
      </p:sp>
      <p:sp>
        <p:nvSpPr>
          <p:cNvPr id="6" name="Footer Placeholder 5">
            <a:extLst>
              <a:ext uri="{FF2B5EF4-FFF2-40B4-BE49-F238E27FC236}">
                <a16:creationId xmlns:a16="http://schemas.microsoft.com/office/drawing/2014/main" id="{A1066CD6-3E58-40AE-A50B-A28D01D05B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71AE352-FB67-4F28-AE80-CEDF7ABEBA1D}"/>
              </a:ext>
            </a:extLst>
          </p:cNvPr>
          <p:cNvSpPr>
            <a:spLocks noGrp="1"/>
          </p:cNvSpPr>
          <p:nvPr>
            <p:ph type="sldNum" sz="quarter" idx="12"/>
          </p:nvPr>
        </p:nvSpPr>
        <p:spPr/>
        <p:txBody>
          <a:bodyPr/>
          <a:lstStyle/>
          <a:p>
            <a:fld id="{93E3CD6B-76C2-4FE4-B351-5B30B1D58389}" type="slidenum">
              <a:rPr lang="en-US" smtClean="0"/>
              <a:t>‹#›</a:t>
            </a:fld>
            <a:endParaRPr lang="en-US"/>
          </a:p>
        </p:txBody>
      </p:sp>
    </p:spTree>
    <p:extLst>
      <p:ext uri="{BB962C8B-B14F-4D97-AF65-F5344CB8AC3E}">
        <p14:creationId xmlns:p14="http://schemas.microsoft.com/office/powerpoint/2010/main" val="2001434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77035-EAEF-46DD-B639-DDE420B73D5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A3767AA-211E-4C7D-9D0B-C2B7103A851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EE7BE5-CE42-4B20-8F61-C7A47BE270FE}"/>
              </a:ext>
            </a:extLst>
          </p:cNvPr>
          <p:cNvSpPr>
            <a:spLocks noGrp="1"/>
          </p:cNvSpPr>
          <p:nvPr>
            <p:ph type="dt" sz="half" idx="10"/>
          </p:nvPr>
        </p:nvSpPr>
        <p:spPr/>
        <p:txBody>
          <a:bodyPr/>
          <a:lstStyle/>
          <a:p>
            <a:fld id="{ED2EABC2-A7E1-4CFA-B052-20840AE8EB07}" type="datetimeFigureOut">
              <a:rPr lang="en-US" smtClean="0"/>
              <a:t>9/8/2025</a:t>
            </a:fld>
            <a:endParaRPr lang="en-US"/>
          </a:p>
        </p:txBody>
      </p:sp>
      <p:sp>
        <p:nvSpPr>
          <p:cNvPr id="5" name="Footer Placeholder 4">
            <a:extLst>
              <a:ext uri="{FF2B5EF4-FFF2-40B4-BE49-F238E27FC236}">
                <a16:creationId xmlns:a16="http://schemas.microsoft.com/office/drawing/2014/main" id="{31C86CD0-2C8A-43EA-96D6-BC7C796A2F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D0A8DF-91A6-4505-B790-5888F9452618}"/>
              </a:ext>
            </a:extLst>
          </p:cNvPr>
          <p:cNvSpPr>
            <a:spLocks noGrp="1"/>
          </p:cNvSpPr>
          <p:nvPr>
            <p:ph type="sldNum" sz="quarter" idx="12"/>
          </p:nvPr>
        </p:nvSpPr>
        <p:spPr/>
        <p:txBody>
          <a:bodyPr/>
          <a:lstStyle/>
          <a:p>
            <a:fld id="{93E3CD6B-76C2-4FE4-B351-5B30B1D58389}" type="slidenum">
              <a:rPr lang="en-US" smtClean="0"/>
              <a:t>‹#›</a:t>
            </a:fld>
            <a:endParaRPr lang="en-US"/>
          </a:p>
        </p:txBody>
      </p:sp>
    </p:spTree>
    <p:extLst>
      <p:ext uri="{BB962C8B-B14F-4D97-AF65-F5344CB8AC3E}">
        <p14:creationId xmlns:p14="http://schemas.microsoft.com/office/powerpoint/2010/main" val="2522509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3EABEA-8A7D-4F52-97BD-32040D3CD22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9A225DF-94CC-40BB-9CD5-6D98972E6022}"/>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DF81A9-0B67-4889-BBE7-8F46F818CC01}"/>
              </a:ext>
            </a:extLst>
          </p:cNvPr>
          <p:cNvSpPr>
            <a:spLocks noGrp="1"/>
          </p:cNvSpPr>
          <p:nvPr>
            <p:ph type="dt" sz="half" idx="10"/>
          </p:nvPr>
        </p:nvSpPr>
        <p:spPr/>
        <p:txBody>
          <a:bodyPr/>
          <a:lstStyle/>
          <a:p>
            <a:fld id="{ED2EABC2-A7E1-4CFA-B052-20840AE8EB07}" type="datetimeFigureOut">
              <a:rPr lang="en-US" smtClean="0"/>
              <a:t>9/8/2025</a:t>
            </a:fld>
            <a:endParaRPr lang="en-US"/>
          </a:p>
        </p:txBody>
      </p:sp>
      <p:sp>
        <p:nvSpPr>
          <p:cNvPr id="5" name="Footer Placeholder 4">
            <a:extLst>
              <a:ext uri="{FF2B5EF4-FFF2-40B4-BE49-F238E27FC236}">
                <a16:creationId xmlns:a16="http://schemas.microsoft.com/office/drawing/2014/main" id="{7336254E-9C06-4C6B-ABAE-8A3F7FEA91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AC0CF7-F1E9-4A87-AB14-318AA65DE44B}"/>
              </a:ext>
            </a:extLst>
          </p:cNvPr>
          <p:cNvSpPr>
            <a:spLocks noGrp="1"/>
          </p:cNvSpPr>
          <p:nvPr>
            <p:ph type="sldNum" sz="quarter" idx="12"/>
          </p:nvPr>
        </p:nvSpPr>
        <p:spPr/>
        <p:txBody>
          <a:bodyPr/>
          <a:lstStyle/>
          <a:p>
            <a:fld id="{93E3CD6B-76C2-4FE4-B351-5B30B1D58389}" type="slidenum">
              <a:rPr lang="en-US" smtClean="0"/>
              <a:t>‹#›</a:t>
            </a:fld>
            <a:endParaRPr lang="en-US"/>
          </a:p>
        </p:txBody>
      </p:sp>
    </p:spTree>
    <p:extLst>
      <p:ext uri="{BB962C8B-B14F-4D97-AF65-F5344CB8AC3E}">
        <p14:creationId xmlns:p14="http://schemas.microsoft.com/office/powerpoint/2010/main" val="6865437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475F0B7-2298-44F8-B66B-2476670B784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9D282E6-4726-4433-818B-9BB3CD49FB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D743CC-71C4-4648-AEDD-16395A00FB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D2EABC2-A7E1-4CFA-B052-20840AE8EB07}" type="datetimeFigureOut">
              <a:rPr lang="en-US" smtClean="0"/>
              <a:t>9/8/2025</a:t>
            </a:fld>
            <a:endParaRPr lang="en-US"/>
          </a:p>
        </p:txBody>
      </p:sp>
      <p:sp>
        <p:nvSpPr>
          <p:cNvPr id="5" name="Footer Placeholder 4">
            <a:extLst>
              <a:ext uri="{FF2B5EF4-FFF2-40B4-BE49-F238E27FC236}">
                <a16:creationId xmlns:a16="http://schemas.microsoft.com/office/drawing/2014/main" id="{5D046AA3-E06F-4AB1-BAD7-A134314DA93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A5B4A71-635F-47B3-B87D-5A21F42E223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E3CD6B-76C2-4FE4-B351-5B30B1D58389}" type="slidenum">
              <a:rPr lang="en-US" smtClean="0"/>
              <a:t>‹#›</a:t>
            </a:fld>
            <a:endParaRPr lang="en-US"/>
          </a:p>
        </p:txBody>
      </p:sp>
    </p:spTree>
    <p:extLst>
      <p:ext uri="{BB962C8B-B14F-4D97-AF65-F5344CB8AC3E}">
        <p14:creationId xmlns:p14="http://schemas.microsoft.com/office/powerpoint/2010/main" val="7251107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BB45F-A5CA-45FC-B3E2-7EFCFE6004CC}"/>
              </a:ext>
            </a:extLst>
          </p:cNvPr>
          <p:cNvSpPr>
            <a:spLocks noGrp="1"/>
          </p:cNvSpPr>
          <p:nvPr>
            <p:ph type="title"/>
          </p:nvPr>
        </p:nvSpPr>
        <p:spPr/>
        <p:txBody>
          <a:bodyPr>
            <a:normAutofit/>
          </a:bodyPr>
          <a:lstStyle/>
          <a:p>
            <a:r>
              <a:rPr lang="en-US" sz="3600" b="1" dirty="0"/>
              <a:t>Hypertensive Disorders of Px</a:t>
            </a:r>
          </a:p>
        </p:txBody>
      </p:sp>
      <p:sp>
        <p:nvSpPr>
          <p:cNvPr id="3" name="Content Placeholder 2">
            <a:extLst>
              <a:ext uri="{FF2B5EF4-FFF2-40B4-BE49-F238E27FC236}">
                <a16:creationId xmlns:a16="http://schemas.microsoft.com/office/drawing/2014/main" id="{E48CC35D-6604-471A-BC66-00FE99C56E97}"/>
              </a:ext>
            </a:extLst>
          </p:cNvPr>
          <p:cNvSpPr>
            <a:spLocks noGrp="1"/>
          </p:cNvSpPr>
          <p:nvPr>
            <p:ph idx="1"/>
          </p:nvPr>
        </p:nvSpPr>
        <p:spPr/>
        <p:txBody>
          <a:bodyPr>
            <a:normAutofit/>
          </a:bodyPr>
          <a:lstStyle/>
          <a:p>
            <a:pPr>
              <a:lnSpc>
                <a:spcPct val="150000"/>
              </a:lnSpc>
            </a:pPr>
            <a:r>
              <a:rPr lang="en-US" sz="2200" dirty="0"/>
              <a:t>Complicate up to 10 percent of pregnancy</a:t>
            </a:r>
          </a:p>
          <a:p>
            <a:pPr>
              <a:lnSpc>
                <a:spcPct val="150000"/>
              </a:lnSpc>
            </a:pPr>
            <a:r>
              <a:rPr lang="en-US" sz="2200" dirty="0"/>
              <a:t>As a group, they are one member of the deadly triad—along with hemorrhage and infection</a:t>
            </a:r>
          </a:p>
          <a:p>
            <a:pPr>
              <a:lnSpc>
                <a:spcPct val="150000"/>
              </a:lnSpc>
            </a:pPr>
            <a:r>
              <a:rPr lang="en-US" sz="2200" dirty="0"/>
              <a:t> Most hypertension-related deaths are deemed preventable</a:t>
            </a:r>
          </a:p>
        </p:txBody>
      </p:sp>
    </p:spTree>
    <p:extLst>
      <p:ext uri="{BB962C8B-B14F-4D97-AF65-F5344CB8AC3E}">
        <p14:creationId xmlns:p14="http://schemas.microsoft.com/office/powerpoint/2010/main" val="14601114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B61A0-613D-4639-BD89-40A8D76B545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9585B76-9A46-4EAA-8042-FB14F9A3ABDA}"/>
              </a:ext>
            </a:extLst>
          </p:cNvPr>
          <p:cNvSpPr>
            <a:spLocks noGrp="1"/>
          </p:cNvSpPr>
          <p:nvPr>
            <p:ph idx="1"/>
          </p:nvPr>
        </p:nvSpPr>
        <p:spPr/>
        <p:txBody>
          <a:bodyPr>
            <a:normAutofit/>
          </a:bodyPr>
          <a:lstStyle/>
          <a:p>
            <a:pPr marL="0" indent="0">
              <a:lnSpc>
                <a:spcPct val="150000"/>
              </a:lnSpc>
              <a:buNone/>
            </a:pPr>
            <a:r>
              <a:rPr lang="en-US" sz="2200" dirty="0"/>
              <a:t>To codify the classification of hypertensive disorders of pregnancy, the American College of Obstetricians and Gynecologists (2013, 2020) describes four types of hypertensive disease: </a:t>
            </a:r>
          </a:p>
          <a:p>
            <a:pPr marL="457200" lvl="1" indent="0">
              <a:lnSpc>
                <a:spcPct val="150000"/>
              </a:lnSpc>
              <a:buNone/>
            </a:pPr>
            <a:r>
              <a:rPr lang="en-US" sz="2000" dirty="0"/>
              <a:t>1. Preeclampsia and eclampsia syndrome </a:t>
            </a:r>
          </a:p>
          <a:p>
            <a:pPr marL="457200" lvl="1" indent="0">
              <a:lnSpc>
                <a:spcPct val="150000"/>
              </a:lnSpc>
              <a:buNone/>
            </a:pPr>
            <a:r>
              <a:rPr lang="en-US" sz="2000" dirty="0"/>
              <a:t>2. Chronic hypertension of any etiology </a:t>
            </a:r>
          </a:p>
          <a:p>
            <a:pPr marL="457200" lvl="1" indent="0">
              <a:lnSpc>
                <a:spcPct val="150000"/>
              </a:lnSpc>
              <a:buNone/>
            </a:pPr>
            <a:r>
              <a:rPr lang="en-US" sz="2000" dirty="0"/>
              <a:t>3. Preeclampsia superimposed on chronic hypertension </a:t>
            </a:r>
          </a:p>
          <a:p>
            <a:pPr marL="457200" lvl="1" indent="0">
              <a:lnSpc>
                <a:spcPct val="150000"/>
              </a:lnSpc>
              <a:buNone/>
            </a:pPr>
            <a:r>
              <a:rPr lang="en-US" sz="2000" dirty="0"/>
              <a:t>4. Gestational hypertension, in which definitive evidence for the preeclampsia syndrome does not develop and hypertension resolves by 12 weeks postpartum. </a:t>
            </a:r>
          </a:p>
        </p:txBody>
      </p:sp>
    </p:spTree>
    <p:extLst>
      <p:ext uri="{BB962C8B-B14F-4D97-AF65-F5344CB8AC3E}">
        <p14:creationId xmlns:p14="http://schemas.microsoft.com/office/powerpoint/2010/main" val="13126289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97ED2-F027-4946-BB8B-BD1F93B825CB}"/>
              </a:ext>
            </a:extLst>
          </p:cNvPr>
          <p:cNvSpPr>
            <a:spLocks noGrp="1"/>
          </p:cNvSpPr>
          <p:nvPr>
            <p:ph type="title"/>
          </p:nvPr>
        </p:nvSpPr>
        <p:spPr/>
        <p:txBody>
          <a:bodyPr>
            <a:normAutofit/>
          </a:bodyPr>
          <a:lstStyle/>
          <a:p>
            <a:r>
              <a:rPr lang="en-US" sz="3600" b="1" dirty="0"/>
              <a:t>Gestational Hypertension</a:t>
            </a:r>
          </a:p>
        </p:txBody>
      </p:sp>
      <p:sp>
        <p:nvSpPr>
          <p:cNvPr id="3" name="Content Placeholder 2">
            <a:extLst>
              <a:ext uri="{FF2B5EF4-FFF2-40B4-BE49-F238E27FC236}">
                <a16:creationId xmlns:a16="http://schemas.microsoft.com/office/drawing/2014/main" id="{A724F436-7B92-4F60-AADA-D67BC076766A}"/>
              </a:ext>
            </a:extLst>
          </p:cNvPr>
          <p:cNvSpPr>
            <a:spLocks noGrp="1"/>
          </p:cNvSpPr>
          <p:nvPr>
            <p:ph idx="1"/>
          </p:nvPr>
        </p:nvSpPr>
        <p:spPr/>
        <p:txBody>
          <a:bodyPr>
            <a:normAutofit/>
          </a:bodyPr>
          <a:lstStyle/>
          <a:p>
            <a:pPr>
              <a:lnSpc>
                <a:spcPct val="150000"/>
              </a:lnSpc>
            </a:pPr>
            <a:r>
              <a:rPr lang="en-US" sz="2200" dirty="0"/>
              <a:t>Women with gestational hypertension have blood pressures that reach 140/90 mm Hg or greater for the first time after </a:t>
            </a:r>
            <a:r>
              <a:rPr lang="en-US" sz="2200" dirty="0" err="1"/>
              <a:t>midpregnancy</a:t>
            </a:r>
            <a:r>
              <a:rPr lang="en-US" sz="2200" dirty="0"/>
              <a:t> but lack proteinuria.</a:t>
            </a:r>
          </a:p>
          <a:p>
            <a:pPr>
              <a:lnSpc>
                <a:spcPct val="150000"/>
              </a:lnSpc>
            </a:pPr>
            <a:r>
              <a:rPr lang="en-US" sz="2200" dirty="0"/>
              <a:t>Almost half of affected women subsequently develop preeclampsia</a:t>
            </a:r>
          </a:p>
          <a:p>
            <a:pPr>
              <a:lnSpc>
                <a:spcPct val="150000"/>
              </a:lnSpc>
            </a:pPr>
            <a:r>
              <a:rPr lang="en-US" sz="2200" dirty="0"/>
              <a:t>Even so, when blood pressure rises appreciably, it is dangerous to both mother and fetus to ignore this elevation only because proteinuria has not yet developed </a:t>
            </a:r>
          </a:p>
          <a:p>
            <a:pPr>
              <a:lnSpc>
                <a:spcPct val="150000"/>
              </a:lnSpc>
            </a:pPr>
            <a:r>
              <a:rPr lang="en-US" sz="2200" dirty="0"/>
              <a:t>10 percent of eclamptic seizures develop before overt proteinuria can be detected</a:t>
            </a:r>
          </a:p>
        </p:txBody>
      </p:sp>
    </p:spTree>
    <p:extLst>
      <p:ext uri="{BB962C8B-B14F-4D97-AF65-F5344CB8AC3E}">
        <p14:creationId xmlns:p14="http://schemas.microsoft.com/office/powerpoint/2010/main" val="19355686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BE255-B54C-460E-BF5C-8A9A43EA1625}"/>
              </a:ext>
            </a:extLst>
          </p:cNvPr>
          <p:cNvSpPr>
            <a:spLocks noGrp="1"/>
          </p:cNvSpPr>
          <p:nvPr>
            <p:ph type="title"/>
          </p:nvPr>
        </p:nvSpPr>
        <p:spPr/>
        <p:txBody>
          <a:bodyPr>
            <a:normAutofit/>
          </a:bodyPr>
          <a:lstStyle/>
          <a:p>
            <a:r>
              <a:rPr lang="en-US" sz="3600" b="1" dirty="0"/>
              <a:t>Preeclampsia Syndrome</a:t>
            </a:r>
          </a:p>
        </p:txBody>
      </p:sp>
      <p:sp>
        <p:nvSpPr>
          <p:cNvPr id="3" name="Content Placeholder 2">
            <a:extLst>
              <a:ext uri="{FF2B5EF4-FFF2-40B4-BE49-F238E27FC236}">
                <a16:creationId xmlns:a16="http://schemas.microsoft.com/office/drawing/2014/main" id="{CD9CF63E-8282-46DE-881D-F8966CEFCB12}"/>
              </a:ext>
            </a:extLst>
          </p:cNvPr>
          <p:cNvSpPr>
            <a:spLocks noGrp="1"/>
          </p:cNvSpPr>
          <p:nvPr>
            <p:ph idx="1"/>
          </p:nvPr>
        </p:nvSpPr>
        <p:spPr/>
        <p:txBody>
          <a:bodyPr>
            <a:normAutofit/>
          </a:bodyPr>
          <a:lstStyle/>
          <a:p>
            <a:pPr>
              <a:lnSpc>
                <a:spcPct val="150000"/>
              </a:lnSpc>
            </a:pPr>
            <a:r>
              <a:rPr lang="en-US" sz="2200" dirty="0"/>
              <a:t>Preeclampsia is best described as a pregnancy-specific syndrome that can affect virtually every organ system</a:t>
            </a:r>
          </a:p>
          <a:p>
            <a:pPr>
              <a:lnSpc>
                <a:spcPct val="150000"/>
              </a:lnSpc>
            </a:pPr>
            <a:r>
              <a:rPr lang="en-US" sz="2200" dirty="0"/>
              <a:t>Proteinuria is an objective marker and reflects the system-wide endothelial leak that characterizes the preeclampsia syndrome. </a:t>
            </a:r>
          </a:p>
          <a:p>
            <a:pPr>
              <a:lnSpc>
                <a:spcPct val="150000"/>
              </a:lnSpc>
            </a:pPr>
            <a:r>
              <a:rPr lang="en-US" sz="2200" dirty="0"/>
              <a:t>Last, preeclampsia can be divided into early onset, &lt;34 weeks; late onset, ≥34 week</a:t>
            </a:r>
          </a:p>
        </p:txBody>
      </p:sp>
    </p:spTree>
    <p:extLst>
      <p:ext uri="{BB962C8B-B14F-4D97-AF65-F5344CB8AC3E}">
        <p14:creationId xmlns:p14="http://schemas.microsoft.com/office/powerpoint/2010/main" val="39491043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CC1CB-6F6C-4181-AFE9-FBBE04B7B0E1}"/>
              </a:ext>
            </a:extLst>
          </p:cNvPr>
          <p:cNvSpPr>
            <a:spLocks noGrp="1"/>
          </p:cNvSpPr>
          <p:nvPr>
            <p:ph type="title"/>
          </p:nvPr>
        </p:nvSpPr>
        <p:spPr/>
        <p:txBody>
          <a:bodyPr>
            <a:normAutofit/>
          </a:bodyPr>
          <a:lstStyle/>
          <a:p>
            <a:r>
              <a:rPr lang="en-US" sz="3600" b="1" dirty="0"/>
              <a:t>Gestational Proteinuria</a:t>
            </a:r>
          </a:p>
        </p:txBody>
      </p:sp>
      <p:sp>
        <p:nvSpPr>
          <p:cNvPr id="3" name="Content Placeholder 2">
            <a:extLst>
              <a:ext uri="{FF2B5EF4-FFF2-40B4-BE49-F238E27FC236}">
                <a16:creationId xmlns:a16="http://schemas.microsoft.com/office/drawing/2014/main" id="{FF8DE5CC-494E-4BB4-89BA-919B7BDF8304}"/>
              </a:ext>
            </a:extLst>
          </p:cNvPr>
          <p:cNvSpPr>
            <a:spLocks noGrp="1"/>
          </p:cNvSpPr>
          <p:nvPr>
            <p:ph idx="1"/>
          </p:nvPr>
        </p:nvSpPr>
        <p:spPr/>
        <p:txBody>
          <a:bodyPr>
            <a:normAutofit/>
          </a:bodyPr>
          <a:lstStyle/>
          <a:p>
            <a:r>
              <a:rPr lang="en-US" sz="2200" dirty="0"/>
              <a:t>It is generally agreed that urine dipstick protein measurements should be performed at each prenatal visit after 20 weeks’ gestation.</a:t>
            </a:r>
          </a:p>
          <a:p>
            <a:pPr lvl="1"/>
            <a:r>
              <a:rPr lang="en-US" sz="2000" dirty="0"/>
              <a:t> Gestational proteinuria is defined as </a:t>
            </a:r>
          </a:p>
          <a:p>
            <a:pPr lvl="1"/>
            <a:r>
              <a:rPr lang="en-US" sz="2000" dirty="0"/>
              <a:t>urinary protein excretion of at least 300 mg per 24-hour timed collection,</a:t>
            </a:r>
          </a:p>
          <a:p>
            <a:pPr lvl="1"/>
            <a:r>
              <a:rPr lang="en-US" sz="2000" dirty="0"/>
              <a:t> P/C ratio greater than 0.3, or persistent proteinuria (≥1+ on dipstick on at least two occasions at least 4 </a:t>
            </a:r>
            <a:r>
              <a:rPr lang="en-US" sz="2000" dirty="0" err="1"/>
              <a:t>hr</a:t>
            </a:r>
            <a:r>
              <a:rPr lang="en-US" sz="2000" dirty="0"/>
              <a:t> apart)</a:t>
            </a:r>
          </a:p>
        </p:txBody>
      </p:sp>
    </p:spTree>
    <p:extLst>
      <p:ext uri="{BB962C8B-B14F-4D97-AF65-F5344CB8AC3E}">
        <p14:creationId xmlns:p14="http://schemas.microsoft.com/office/powerpoint/2010/main" val="9584482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0A553-ED1B-43CB-88C6-C1412066A556}"/>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090E0F33-6754-4AC8-BB86-8494D7446AB3}"/>
              </a:ext>
            </a:extLst>
          </p:cNvPr>
          <p:cNvPicPr>
            <a:picLocks noGrp="1" noChangeAspect="1"/>
          </p:cNvPicPr>
          <p:nvPr>
            <p:ph idx="1"/>
          </p:nvPr>
        </p:nvPicPr>
        <p:blipFill>
          <a:blip r:embed="rId2"/>
          <a:stretch>
            <a:fillRect/>
          </a:stretch>
        </p:blipFill>
        <p:spPr>
          <a:xfrm>
            <a:off x="1656522" y="630514"/>
            <a:ext cx="6615112" cy="6075086"/>
          </a:xfrm>
          <a:prstGeom prst="rect">
            <a:avLst/>
          </a:prstGeom>
        </p:spPr>
      </p:pic>
    </p:spTree>
    <p:extLst>
      <p:ext uri="{BB962C8B-B14F-4D97-AF65-F5344CB8AC3E}">
        <p14:creationId xmlns:p14="http://schemas.microsoft.com/office/powerpoint/2010/main" val="14718742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EAB94-94B1-4DA5-909A-27FFFB69DAF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EEF82F6-0572-42D5-9EA7-D229A4609996}"/>
              </a:ext>
            </a:extLst>
          </p:cNvPr>
          <p:cNvSpPr>
            <a:spLocks noGrp="1"/>
          </p:cNvSpPr>
          <p:nvPr>
            <p:ph idx="1"/>
          </p:nvPr>
        </p:nvSpPr>
        <p:spPr/>
        <p:txBody>
          <a:bodyPr/>
          <a:lstStyle/>
          <a:p>
            <a:r>
              <a:rPr lang="en-US" dirty="0"/>
              <a:t>Generally, PE is considered a disease of primigravid women.</a:t>
            </a:r>
          </a:p>
          <a:p>
            <a:endParaRPr lang="en-US" dirty="0"/>
          </a:p>
        </p:txBody>
      </p:sp>
      <p:pic>
        <p:nvPicPr>
          <p:cNvPr id="4" name="Picture 3">
            <a:extLst>
              <a:ext uri="{FF2B5EF4-FFF2-40B4-BE49-F238E27FC236}">
                <a16:creationId xmlns:a16="http://schemas.microsoft.com/office/drawing/2014/main" id="{CF558799-8FF8-4699-A823-9064A8076C6E}"/>
              </a:ext>
            </a:extLst>
          </p:cNvPr>
          <p:cNvPicPr>
            <a:picLocks noChangeAspect="1"/>
          </p:cNvPicPr>
          <p:nvPr/>
        </p:nvPicPr>
        <p:blipFill>
          <a:blip r:embed="rId2"/>
          <a:stretch>
            <a:fillRect/>
          </a:stretch>
        </p:blipFill>
        <p:spPr>
          <a:xfrm>
            <a:off x="1676815" y="2365375"/>
            <a:ext cx="8116542" cy="4492625"/>
          </a:xfrm>
          <a:prstGeom prst="rect">
            <a:avLst/>
          </a:prstGeom>
        </p:spPr>
      </p:pic>
    </p:spTree>
    <p:extLst>
      <p:ext uri="{BB962C8B-B14F-4D97-AF65-F5344CB8AC3E}">
        <p14:creationId xmlns:p14="http://schemas.microsoft.com/office/powerpoint/2010/main" val="35669138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D1BEA-8575-4086-A1D3-CFDDA9D65CB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975ABC9-F012-42A4-B273-84CDC27390F3}"/>
              </a:ext>
            </a:extLst>
          </p:cNvPr>
          <p:cNvSpPr>
            <a:spLocks noGrp="1"/>
          </p:cNvSpPr>
          <p:nvPr>
            <p:ph idx="1"/>
          </p:nvPr>
        </p:nvSpPr>
        <p:spPr/>
        <p:txBody>
          <a:bodyPr>
            <a:normAutofit/>
          </a:bodyPr>
          <a:lstStyle/>
          <a:p>
            <a:pPr>
              <a:lnSpc>
                <a:spcPct val="150000"/>
              </a:lnSpc>
            </a:pPr>
            <a:r>
              <a:rPr lang="en-US" sz="2200" dirty="0"/>
              <a:t>It is recommended that all BP values be recorded with the woman in a sitting position for ambulatory patients or in a semi reclining position for hospitalized patients</a:t>
            </a:r>
          </a:p>
          <a:p>
            <a:pPr>
              <a:lnSpc>
                <a:spcPct val="150000"/>
              </a:lnSpc>
            </a:pPr>
            <a:r>
              <a:rPr lang="en-US" sz="2200" dirty="0"/>
              <a:t>The right arm should be used consistently, and the arm should be in a roughly horizontal position at heart level.</a:t>
            </a:r>
          </a:p>
        </p:txBody>
      </p:sp>
      <p:pic>
        <p:nvPicPr>
          <p:cNvPr id="4" name="Picture 3">
            <a:extLst>
              <a:ext uri="{FF2B5EF4-FFF2-40B4-BE49-F238E27FC236}">
                <a16:creationId xmlns:a16="http://schemas.microsoft.com/office/drawing/2014/main" id="{7A89D620-8574-43B2-88F8-2E2901DA3B34}"/>
              </a:ext>
            </a:extLst>
          </p:cNvPr>
          <p:cNvPicPr>
            <a:picLocks noChangeAspect="1"/>
          </p:cNvPicPr>
          <p:nvPr/>
        </p:nvPicPr>
        <p:blipFill>
          <a:blip r:embed="rId2"/>
          <a:stretch>
            <a:fillRect/>
          </a:stretch>
        </p:blipFill>
        <p:spPr>
          <a:xfrm>
            <a:off x="5991432" y="3549650"/>
            <a:ext cx="4105275" cy="2762250"/>
          </a:xfrm>
          <a:prstGeom prst="rect">
            <a:avLst/>
          </a:prstGeom>
        </p:spPr>
      </p:pic>
    </p:spTree>
    <p:extLst>
      <p:ext uri="{BB962C8B-B14F-4D97-AF65-F5344CB8AC3E}">
        <p14:creationId xmlns:p14="http://schemas.microsoft.com/office/powerpoint/2010/main" val="901544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F2997ED-83EF-4979-B067-5EA1F5DF4D74}"/>
              </a:ext>
            </a:extLst>
          </p:cNvPr>
          <p:cNvPicPr>
            <a:picLocks noChangeAspect="1"/>
          </p:cNvPicPr>
          <p:nvPr/>
        </p:nvPicPr>
        <p:blipFill>
          <a:blip r:embed="rId2"/>
          <a:stretch>
            <a:fillRect/>
          </a:stretch>
        </p:blipFill>
        <p:spPr>
          <a:xfrm>
            <a:off x="954157" y="331303"/>
            <a:ext cx="9120601" cy="5287619"/>
          </a:xfrm>
          <a:prstGeom prst="rect">
            <a:avLst/>
          </a:prstGeom>
        </p:spPr>
      </p:pic>
    </p:spTree>
    <p:extLst>
      <p:ext uri="{BB962C8B-B14F-4D97-AF65-F5344CB8AC3E}">
        <p14:creationId xmlns:p14="http://schemas.microsoft.com/office/powerpoint/2010/main" val="3223033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06BA1-9FE1-44AE-84C5-108E6E8B7182}"/>
              </a:ext>
            </a:extLst>
          </p:cNvPr>
          <p:cNvSpPr>
            <a:spLocks noGrp="1"/>
          </p:cNvSpPr>
          <p:nvPr>
            <p:ph type="title"/>
          </p:nvPr>
        </p:nvSpPr>
        <p:spPr>
          <a:xfrm>
            <a:off x="612913" y="0"/>
            <a:ext cx="10515600" cy="1325563"/>
          </a:xfrm>
        </p:spPr>
        <p:txBody>
          <a:bodyPr>
            <a:normAutofit/>
          </a:bodyPr>
          <a:lstStyle/>
          <a:p>
            <a:r>
              <a:rPr lang="en-US" sz="3600" b="1" dirty="0"/>
              <a:t>Indicators of severity </a:t>
            </a:r>
          </a:p>
        </p:txBody>
      </p:sp>
      <p:pic>
        <p:nvPicPr>
          <p:cNvPr id="3" name="Picture 2">
            <a:extLst>
              <a:ext uri="{FF2B5EF4-FFF2-40B4-BE49-F238E27FC236}">
                <a16:creationId xmlns:a16="http://schemas.microsoft.com/office/drawing/2014/main" id="{D50C19F2-D71D-4203-8F47-7DDB84220F69}"/>
              </a:ext>
            </a:extLst>
          </p:cNvPr>
          <p:cNvPicPr>
            <a:picLocks noChangeAspect="1"/>
          </p:cNvPicPr>
          <p:nvPr/>
        </p:nvPicPr>
        <p:blipFill>
          <a:blip r:embed="rId2"/>
          <a:stretch>
            <a:fillRect/>
          </a:stretch>
        </p:blipFill>
        <p:spPr>
          <a:xfrm>
            <a:off x="1335156" y="1262476"/>
            <a:ext cx="6553200" cy="5419725"/>
          </a:xfrm>
          <a:prstGeom prst="rect">
            <a:avLst/>
          </a:prstGeom>
        </p:spPr>
      </p:pic>
    </p:spTree>
    <p:extLst>
      <p:ext uri="{BB962C8B-B14F-4D97-AF65-F5344CB8AC3E}">
        <p14:creationId xmlns:p14="http://schemas.microsoft.com/office/powerpoint/2010/main" val="4009975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A9706-15BA-4860-B2F8-B4B73B1D626D}"/>
              </a:ext>
            </a:extLst>
          </p:cNvPr>
          <p:cNvSpPr>
            <a:spLocks noGrp="1"/>
          </p:cNvSpPr>
          <p:nvPr>
            <p:ph type="title"/>
          </p:nvPr>
        </p:nvSpPr>
        <p:spPr/>
        <p:txBody>
          <a:bodyPr>
            <a:normAutofit/>
          </a:bodyPr>
          <a:lstStyle/>
          <a:p>
            <a:r>
              <a:rPr lang="en-US" sz="3600" b="1" dirty="0"/>
              <a:t>Preeclampsia Superimposed on Chronic Hypertension</a:t>
            </a:r>
          </a:p>
        </p:txBody>
      </p:sp>
      <p:sp>
        <p:nvSpPr>
          <p:cNvPr id="3" name="Content Placeholder 2">
            <a:extLst>
              <a:ext uri="{FF2B5EF4-FFF2-40B4-BE49-F238E27FC236}">
                <a16:creationId xmlns:a16="http://schemas.microsoft.com/office/drawing/2014/main" id="{7FD11048-0D07-4C4E-9E08-5591B4E1287C}"/>
              </a:ext>
            </a:extLst>
          </p:cNvPr>
          <p:cNvSpPr>
            <a:spLocks noGrp="1"/>
          </p:cNvSpPr>
          <p:nvPr>
            <p:ph idx="1"/>
          </p:nvPr>
        </p:nvSpPr>
        <p:spPr/>
        <p:txBody>
          <a:bodyPr>
            <a:normAutofit/>
          </a:bodyPr>
          <a:lstStyle/>
          <a:p>
            <a:r>
              <a:rPr lang="en-US" sz="2200" dirty="0"/>
              <a:t>In 20 to 50 percent of women with chronic hypertension, blood pressure rises to obviously abnormal levels, typically after 24 weeks’ gestation.</a:t>
            </a:r>
          </a:p>
          <a:p>
            <a:endParaRPr lang="en-US" sz="2200" dirty="0"/>
          </a:p>
        </p:txBody>
      </p:sp>
    </p:spTree>
    <p:extLst>
      <p:ext uri="{BB962C8B-B14F-4D97-AF65-F5344CB8AC3E}">
        <p14:creationId xmlns:p14="http://schemas.microsoft.com/office/powerpoint/2010/main" val="22634634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05DD9-DD93-49B3-B43A-9A40DC83A86F}"/>
              </a:ext>
            </a:extLst>
          </p:cNvPr>
          <p:cNvSpPr>
            <a:spLocks noGrp="1"/>
          </p:cNvSpPr>
          <p:nvPr>
            <p:ph type="title"/>
          </p:nvPr>
        </p:nvSpPr>
        <p:spPr>
          <a:xfrm>
            <a:off x="281609" y="119269"/>
            <a:ext cx="10515600" cy="1325563"/>
          </a:xfrm>
        </p:spPr>
        <p:txBody>
          <a:bodyPr>
            <a:normAutofit/>
          </a:bodyPr>
          <a:lstStyle/>
          <a:p>
            <a:r>
              <a:rPr lang="en-US" sz="3600" b="1" dirty="0"/>
              <a:t>Selected risk factors for </a:t>
            </a:r>
            <a:r>
              <a:rPr lang="en-US" sz="3600" b="1" dirty="0" err="1"/>
              <a:t>preeclalmsia</a:t>
            </a:r>
            <a:endParaRPr lang="en-US" sz="3600" b="1" dirty="0"/>
          </a:p>
        </p:txBody>
      </p:sp>
      <p:pic>
        <p:nvPicPr>
          <p:cNvPr id="4" name="Content Placeholder 3">
            <a:extLst>
              <a:ext uri="{FF2B5EF4-FFF2-40B4-BE49-F238E27FC236}">
                <a16:creationId xmlns:a16="http://schemas.microsoft.com/office/drawing/2014/main" id="{921CD24B-5984-4AAC-8A0C-AD97E242CEDD}"/>
              </a:ext>
            </a:extLst>
          </p:cNvPr>
          <p:cNvPicPr>
            <a:picLocks noGrp="1" noChangeAspect="1"/>
          </p:cNvPicPr>
          <p:nvPr>
            <p:ph idx="1"/>
          </p:nvPr>
        </p:nvPicPr>
        <p:blipFill>
          <a:blip r:embed="rId2"/>
          <a:stretch>
            <a:fillRect/>
          </a:stretch>
        </p:blipFill>
        <p:spPr>
          <a:xfrm>
            <a:off x="1808645" y="1444831"/>
            <a:ext cx="5599320" cy="5293899"/>
          </a:xfrm>
          <a:prstGeom prst="rect">
            <a:avLst/>
          </a:prstGeom>
        </p:spPr>
      </p:pic>
    </p:spTree>
    <p:extLst>
      <p:ext uri="{BB962C8B-B14F-4D97-AF65-F5344CB8AC3E}">
        <p14:creationId xmlns:p14="http://schemas.microsoft.com/office/powerpoint/2010/main" val="5800329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2D255-CEEF-4F40-96EB-ECA4976D4D8D}"/>
              </a:ext>
            </a:extLst>
          </p:cNvPr>
          <p:cNvSpPr>
            <a:spLocks noGrp="1"/>
          </p:cNvSpPr>
          <p:nvPr>
            <p:ph type="title"/>
          </p:nvPr>
        </p:nvSpPr>
        <p:spPr>
          <a:xfrm>
            <a:off x="241852" y="192846"/>
            <a:ext cx="10515600" cy="1325563"/>
          </a:xfrm>
        </p:spPr>
        <p:txBody>
          <a:bodyPr>
            <a:normAutofit/>
          </a:bodyPr>
          <a:lstStyle/>
          <a:p>
            <a:r>
              <a:rPr lang="en-US" sz="3600" b="1" dirty="0"/>
              <a:t>National guideline</a:t>
            </a:r>
          </a:p>
        </p:txBody>
      </p:sp>
      <p:sp>
        <p:nvSpPr>
          <p:cNvPr id="3" name="Content Placeholder 2">
            <a:extLst>
              <a:ext uri="{FF2B5EF4-FFF2-40B4-BE49-F238E27FC236}">
                <a16:creationId xmlns:a16="http://schemas.microsoft.com/office/drawing/2014/main" id="{F7A4310B-54B0-4213-AEF6-BA6631826120}"/>
              </a:ext>
            </a:extLst>
          </p:cNvPr>
          <p:cNvSpPr>
            <a:spLocks noGrp="1"/>
          </p:cNvSpPr>
          <p:nvPr>
            <p:ph idx="1"/>
          </p:nvPr>
        </p:nvSpPr>
        <p:spPr>
          <a:xfrm>
            <a:off x="838200" y="1518409"/>
            <a:ext cx="10515600" cy="4351338"/>
          </a:xfrm>
        </p:spPr>
        <p:txBody>
          <a:bodyPr>
            <a:normAutofit/>
          </a:bodyPr>
          <a:lstStyle/>
          <a:p>
            <a:pPr>
              <a:lnSpc>
                <a:spcPct val="150000"/>
              </a:lnSpc>
            </a:pPr>
            <a:r>
              <a:rPr lang="en-US" sz="2200" dirty="0"/>
              <a:t>Hypertensive disorders of pregnancy (HDP) is the second most common cause of maternal deaths.</a:t>
            </a:r>
          </a:p>
          <a:p>
            <a:pPr>
              <a:lnSpc>
                <a:spcPct val="150000"/>
              </a:lnSpc>
            </a:pPr>
            <a:r>
              <a:rPr lang="en-US" sz="2200" dirty="0"/>
              <a:t> HDP is also one of the most common causes of premature delivery and perinatal mortality. </a:t>
            </a:r>
          </a:p>
        </p:txBody>
      </p:sp>
    </p:spTree>
    <p:extLst>
      <p:ext uri="{BB962C8B-B14F-4D97-AF65-F5344CB8AC3E}">
        <p14:creationId xmlns:p14="http://schemas.microsoft.com/office/powerpoint/2010/main" val="19438405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F7186-A7A1-4E0A-9412-611B3F7FCF6E}"/>
              </a:ext>
            </a:extLst>
          </p:cNvPr>
          <p:cNvSpPr>
            <a:spLocks noGrp="1"/>
          </p:cNvSpPr>
          <p:nvPr>
            <p:ph type="title"/>
          </p:nvPr>
        </p:nvSpPr>
        <p:spPr>
          <a:xfrm>
            <a:off x="480391" y="18255"/>
            <a:ext cx="10515600" cy="1325563"/>
          </a:xfrm>
        </p:spPr>
        <p:txBody>
          <a:bodyPr>
            <a:normAutofit/>
          </a:bodyPr>
          <a:lstStyle/>
          <a:p>
            <a:r>
              <a:rPr lang="en-US" sz="3600" b="1" dirty="0"/>
              <a:t>National guideline</a:t>
            </a:r>
          </a:p>
        </p:txBody>
      </p:sp>
      <p:sp>
        <p:nvSpPr>
          <p:cNvPr id="3" name="Content Placeholder 2">
            <a:extLst>
              <a:ext uri="{FF2B5EF4-FFF2-40B4-BE49-F238E27FC236}">
                <a16:creationId xmlns:a16="http://schemas.microsoft.com/office/drawing/2014/main" id="{73291B08-07F7-4FD2-BDB1-7D47B0495D06}"/>
              </a:ext>
            </a:extLst>
          </p:cNvPr>
          <p:cNvSpPr>
            <a:spLocks noGrp="1"/>
          </p:cNvSpPr>
          <p:nvPr>
            <p:ph idx="1"/>
          </p:nvPr>
        </p:nvSpPr>
        <p:spPr>
          <a:xfrm>
            <a:off x="480391" y="1253331"/>
            <a:ext cx="10515600" cy="4351338"/>
          </a:xfrm>
        </p:spPr>
        <p:txBody>
          <a:bodyPr>
            <a:noAutofit/>
          </a:bodyPr>
          <a:lstStyle/>
          <a:p>
            <a:pPr>
              <a:lnSpc>
                <a:spcPct val="150000"/>
              </a:lnSpc>
            </a:pPr>
            <a:r>
              <a:rPr lang="en-US" sz="2200" dirty="0"/>
              <a:t>Dietary counseling of pregnant women should promote adequate calcium intake </a:t>
            </a:r>
          </a:p>
          <a:p>
            <a:pPr>
              <a:lnSpc>
                <a:spcPct val="150000"/>
              </a:lnSpc>
            </a:pPr>
            <a:r>
              <a:rPr lang="en-US" sz="2200" dirty="0"/>
              <a:t>The recommended daily calcium supplementation is 1.5–2.0 g oral elemental calcium starting from 14 weeks of gestation. </a:t>
            </a:r>
          </a:p>
          <a:p>
            <a:pPr>
              <a:lnSpc>
                <a:spcPct val="150000"/>
              </a:lnSpc>
            </a:pPr>
            <a:r>
              <a:rPr lang="en-US" sz="2200" dirty="0"/>
              <a:t>Low dose aspirin is recommended for prevention of pre-eclampsia in women at high risk of developing pre-eclampsia. </a:t>
            </a:r>
          </a:p>
        </p:txBody>
      </p:sp>
    </p:spTree>
    <p:extLst>
      <p:ext uri="{BB962C8B-B14F-4D97-AF65-F5344CB8AC3E}">
        <p14:creationId xmlns:p14="http://schemas.microsoft.com/office/powerpoint/2010/main" val="3263523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3B1B5-9118-4195-8A77-E20A57E3B249}"/>
              </a:ext>
            </a:extLst>
          </p:cNvPr>
          <p:cNvSpPr>
            <a:spLocks noGrp="1"/>
          </p:cNvSpPr>
          <p:nvPr>
            <p:ph type="title"/>
          </p:nvPr>
        </p:nvSpPr>
        <p:spPr/>
        <p:txBody>
          <a:bodyPr/>
          <a:lstStyle/>
          <a:p>
            <a:r>
              <a:rPr lang="en-US" dirty="0"/>
              <a:t>PATHOPHYSIOLOGY</a:t>
            </a:r>
          </a:p>
        </p:txBody>
      </p:sp>
      <p:pic>
        <p:nvPicPr>
          <p:cNvPr id="4" name="Content Placeholder 3">
            <a:extLst>
              <a:ext uri="{FF2B5EF4-FFF2-40B4-BE49-F238E27FC236}">
                <a16:creationId xmlns:a16="http://schemas.microsoft.com/office/drawing/2014/main" id="{5B1A5A03-89FF-46ED-A60E-8C31C5622C82}"/>
              </a:ext>
            </a:extLst>
          </p:cNvPr>
          <p:cNvPicPr>
            <a:picLocks noGrp="1" noChangeAspect="1"/>
          </p:cNvPicPr>
          <p:nvPr>
            <p:ph idx="1"/>
          </p:nvPr>
        </p:nvPicPr>
        <p:blipFill>
          <a:blip r:embed="rId2"/>
          <a:stretch>
            <a:fillRect/>
          </a:stretch>
        </p:blipFill>
        <p:spPr>
          <a:xfrm>
            <a:off x="679174" y="1470990"/>
            <a:ext cx="10515600" cy="4492487"/>
          </a:xfrm>
          <a:prstGeom prst="rect">
            <a:avLst/>
          </a:prstGeom>
        </p:spPr>
      </p:pic>
    </p:spTree>
    <p:extLst>
      <p:ext uri="{BB962C8B-B14F-4D97-AF65-F5344CB8AC3E}">
        <p14:creationId xmlns:p14="http://schemas.microsoft.com/office/powerpoint/2010/main" val="24815452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72B4B-8750-495A-AA67-10EED04F5C82}"/>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F2203896-0D0A-4E7F-9D7B-2E12D0C68EA9}"/>
              </a:ext>
            </a:extLst>
          </p:cNvPr>
          <p:cNvPicPr>
            <a:picLocks noGrp="1" noChangeAspect="1"/>
          </p:cNvPicPr>
          <p:nvPr>
            <p:ph idx="1"/>
          </p:nvPr>
        </p:nvPicPr>
        <p:blipFill>
          <a:blip r:embed="rId2"/>
          <a:stretch>
            <a:fillRect/>
          </a:stretch>
        </p:blipFill>
        <p:spPr>
          <a:xfrm>
            <a:off x="1457739" y="1881808"/>
            <a:ext cx="6352347" cy="3820319"/>
          </a:xfrm>
          <a:prstGeom prst="rect">
            <a:avLst/>
          </a:prstGeom>
        </p:spPr>
      </p:pic>
    </p:spTree>
    <p:extLst>
      <p:ext uri="{BB962C8B-B14F-4D97-AF65-F5344CB8AC3E}">
        <p14:creationId xmlns:p14="http://schemas.microsoft.com/office/powerpoint/2010/main" val="40602502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21D58CD-3C7F-4D0C-B8D7-0C4486464B37}"/>
              </a:ext>
            </a:extLst>
          </p:cNvPr>
          <p:cNvPicPr>
            <a:picLocks noChangeAspect="1"/>
          </p:cNvPicPr>
          <p:nvPr/>
        </p:nvPicPr>
        <p:blipFill>
          <a:blip r:embed="rId2"/>
          <a:stretch>
            <a:fillRect/>
          </a:stretch>
        </p:blipFill>
        <p:spPr>
          <a:xfrm>
            <a:off x="2080592" y="944218"/>
            <a:ext cx="7698891" cy="4969564"/>
          </a:xfrm>
          <a:prstGeom prst="rect">
            <a:avLst/>
          </a:prstGeom>
        </p:spPr>
      </p:pic>
    </p:spTree>
    <p:extLst>
      <p:ext uri="{BB962C8B-B14F-4D97-AF65-F5344CB8AC3E}">
        <p14:creationId xmlns:p14="http://schemas.microsoft.com/office/powerpoint/2010/main" val="39391972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B8D18-E1F6-4627-A740-A002E2662023}"/>
              </a:ext>
            </a:extLst>
          </p:cNvPr>
          <p:cNvSpPr>
            <a:spLocks noGrp="1"/>
          </p:cNvSpPr>
          <p:nvPr>
            <p:ph type="title"/>
          </p:nvPr>
        </p:nvSpPr>
        <p:spPr/>
        <p:txBody>
          <a:bodyPr>
            <a:normAutofit/>
          </a:bodyPr>
          <a:lstStyle/>
          <a:p>
            <a:r>
              <a:rPr lang="en-US" sz="3600" b="1" dirty="0"/>
              <a:t>HYPERTENSION OR PREECLAMPSIA WITHOUT  SEVERE FEATURES</a:t>
            </a:r>
          </a:p>
        </p:txBody>
      </p:sp>
      <p:sp>
        <p:nvSpPr>
          <p:cNvPr id="3" name="Content Placeholder 2">
            <a:extLst>
              <a:ext uri="{FF2B5EF4-FFF2-40B4-BE49-F238E27FC236}">
                <a16:creationId xmlns:a16="http://schemas.microsoft.com/office/drawing/2014/main" id="{CF9D0AEE-462A-4859-9B2E-4DCE62455C8A}"/>
              </a:ext>
            </a:extLst>
          </p:cNvPr>
          <p:cNvSpPr>
            <a:spLocks noGrp="1"/>
          </p:cNvSpPr>
          <p:nvPr>
            <p:ph idx="1"/>
          </p:nvPr>
        </p:nvSpPr>
        <p:spPr/>
        <p:txBody>
          <a:bodyPr>
            <a:normAutofit/>
          </a:bodyPr>
          <a:lstStyle/>
          <a:p>
            <a:r>
              <a:rPr lang="en-US" sz="2200" dirty="0"/>
              <a:t>women with disease that develops at 37 weeks’ gestation or later should undergo induction of labor. </a:t>
            </a:r>
          </a:p>
          <a:p>
            <a:r>
              <a:rPr lang="en-US" sz="2200" dirty="0"/>
              <a:t>Those who are managed as outpatients are also advised on danger symptoms </a:t>
            </a:r>
          </a:p>
        </p:txBody>
      </p:sp>
    </p:spTree>
    <p:extLst>
      <p:ext uri="{BB962C8B-B14F-4D97-AF65-F5344CB8AC3E}">
        <p14:creationId xmlns:p14="http://schemas.microsoft.com/office/powerpoint/2010/main" val="13033507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72838-6D95-439A-B994-0B36A699CC98}"/>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942E26DE-E6C0-4EC3-A05B-3E0EF1500346}"/>
              </a:ext>
            </a:extLst>
          </p:cNvPr>
          <p:cNvPicPr>
            <a:picLocks noGrp="1" noChangeAspect="1"/>
          </p:cNvPicPr>
          <p:nvPr>
            <p:ph idx="1"/>
          </p:nvPr>
        </p:nvPicPr>
        <p:blipFill>
          <a:blip r:embed="rId2"/>
          <a:stretch>
            <a:fillRect/>
          </a:stretch>
        </p:blipFill>
        <p:spPr>
          <a:xfrm>
            <a:off x="463826" y="490331"/>
            <a:ext cx="10889974" cy="5844208"/>
          </a:xfrm>
          <a:prstGeom prst="rect">
            <a:avLst/>
          </a:prstGeom>
        </p:spPr>
      </p:pic>
    </p:spTree>
    <p:extLst>
      <p:ext uri="{BB962C8B-B14F-4D97-AF65-F5344CB8AC3E}">
        <p14:creationId xmlns:p14="http://schemas.microsoft.com/office/powerpoint/2010/main" val="14887140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001BC-335B-464C-9014-CEC88005874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B47A8F5-63DA-4B03-9F04-A0C70DC88E09}"/>
              </a:ext>
            </a:extLst>
          </p:cNvPr>
          <p:cNvSpPr>
            <a:spLocks noGrp="1"/>
          </p:cNvSpPr>
          <p:nvPr>
            <p:ph idx="1"/>
          </p:nvPr>
        </p:nvSpPr>
        <p:spPr/>
        <p:txBody>
          <a:bodyPr>
            <a:normAutofit/>
          </a:bodyPr>
          <a:lstStyle/>
          <a:p>
            <a:pPr>
              <a:lnSpc>
                <a:spcPct val="150000"/>
              </a:lnSpc>
            </a:pPr>
            <a:r>
              <a:rPr lang="en-US" sz="2200" dirty="0"/>
              <a:t> The onset of maternal symptoms and/or a sudden increase in BP to severe values requires prompt hospitalization for close evaluation. </a:t>
            </a:r>
          </a:p>
          <a:p>
            <a:pPr>
              <a:lnSpc>
                <a:spcPct val="150000"/>
              </a:lnSpc>
            </a:pPr>
            <a:r>
              <a:rPr lang="en-US" sz="2200" dirty="0"/>
              <a:t>In women with PE at less than 37 weeks’ gestation but at more than 32 weeks, outpatient management can be considered for reliable patients with a systolic BP of 155 mm Hg or less or diastolic BP of 105 mm Hg or less and no symptoms. </a:t>
            </a:r>
          </a:p>
        </p:txBody>
      </p:sp>
    </p:spTree>
    <p:extLst>
      <p:ext uri="{BB962C8B-B14F-4D97-AF65-F5344CB8AC3E}">
        <p14:creationId xmlns:p14="http://schemas.microsoft.com/office/powerpoint/2010/main" val="40373697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F6C85-4157-4A1C-ACDA-6B4C17BAB8B0}"/>
              </a:ext>
            </a:extLst>
          </p:cNvPr>
          <p:cNvSpPr>
            <a:spLocks noGrp="1"/>
          </p:cNvSpPr>
          <p:nvPr>
            <p:ph type="title"/>
          </p:nvPr>
        </p:nvSpPr>
        <p:spPr/>
        <p:txBody>
          <a:bodyPr/>
          <a:lstStyle/>
          <a:p>
            <a:r>
              <a:rPr lang="en-US" dirty="0"/>
              <a:t>PREECLAMPSIA WITH SEVERE FEATURE</a:t>
            </a:r>
          </a:p>
        </p:txBody>
      </p:sp>
      <p:sp>
        <p:nvSpPr>
          <p:cNvPr id="3" name="Content Placeholder 2">
            <a:extLst>
              <a:ext uri="{FF2B5EF4-FFF2-40B4-BE49-F238E27FC236}">
                <a16:creationId xmlns:a16="http://schemas.microsoft.com/office/drawing/2014/main" id="{1AF54373-1139-4D99-B2EF-E7C81E2AC664}"/>
              </a:ext>
            </a:extLst>
          </p:cNvPr>
          <p:cNvSpPr>
            <a:spLocks noGrp="1"/>
          </p:cNvSpPr>
          <p:nvPr>
            <p:ph idx="1"/>
          </p:nvPr>
        </p:nvSpPr>
        <p:spPr/>
        <p:txBody>
          <a:bodyPr>
            <a:normAutofit/>
          </a:bodyPr>
          <a:lstStyle/>
          <a:p>
            <a:pPr>
              <a:lnSpc>
                <a:spcPct val="150000"/>
              </a:lnSpc>
            </a:pPr>
            <a:r>
              <a:rPr lang="en-US" sz="2200" dirty="0"/>
              <a:t>The incidence of preeclampsia with severe features ranges from 0.6% to 1%.</a:t>
            </a:r>
          </a:p>
          <a:p>
            <a:pPr>
              <a:lnSpc>
                <a:spcPct val="150000"/>
              </a:lnSpc>
            </a:pPr>
            <a:r>
              <a:rPr lang="en-US" sz="2200" dirty="0"/>
              <a:t>Pregnancies complicated by pe with severe features are associated with serious maternal and perinatal complications, particularly preterm delivery, </a:t>
            </a:r>
            <a:r>
              <a:rPr lang="en-US" sz="2200" dirty="0" err="1"/>
              <a:t>fgr</a:t>
            </a:r>
            <a:r>
              <a:rPr lang="en-US" sz="2200" dirty="0"/>
              <a:t>, placental abruption, and perinatal death </a:t>
            </a:r>
          </a:p>
          <a:p>
            <a:pPr>
              <a:lnSpc>
                <a:spcPct val="150000"/>
              </a:lnSpc>
            </a:pPr>
            <a:r>
              <a:rPr lang="en-US" sz="2200" dirty="0"/>
              <a:t>These pregnancies have been associated with increased rates of maternal morbidity and mortality and with significant risks for the fetus (growth restriction, hypoxemia, and death), it is generally agreed that all such patients should be delivered if the disease develops after 34 weeks’ gestation</a:t>
            </a:r>
          </a:p>
        </p:txBody>
      </p:sp>
    </p:spTree>
    <p:extLst>
      <p:ext uri="{BB962C8B-B14F-4D97-AF65-F5344CB8AC3E}">
        <p14:creationId xmlns:p14="http://schemas.microsoft.com/office/powerpoint/2010/main" val="40824818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FC29D-34C7-4A6A-8F07-6DAA2A32802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0D3FC44-82FB-4C43-AD7A-1AA4ACC27259}"/>
              </a:ext>
            </a:extLst>
          </p:cNvPr>
          <p:cNvSpPr>
            <a:spLocks noGrp="1"/>
          </p:cNvSpPr>
          <p:nvPr>
            <p:ph idx="1"/>
          </p:nvPr>
        </p:nvSpPr>
        <p:spPr>
          <a:xfrm>
            <a:off x="838200" y="1825624"/>
            <a:ext cx="10515600" cy="5032375"/>
          </a:xfrm>
        </p:spPr>
        <p:txBody>
          <a:bodyPr>
            <a:normAutofit/>
          </a:bodyPr>
          <a:lstStyle/>
          <a:p>
            <a:pPr>
              <a:lnSpc>
                <a:spcPct val="100000"/>
              </a:lnSpc>
            </a:pPr>
            <a:r>
              <a:rPr lang="en-US" sz="2200" dirty="0"/>
              <a:t>Prompt delivery is indicated when</a:t>
            </a:r>
          </a:p>
          <a:p>
            <a:pPr>
              <a:lnSpc>
                <a:spcPct val="100000"/>
              </a:lnSpc>
            </a:pPr>
            <a:r>
              <a:rPr lang="en-US" sz="2200" dirty="0"/>
              <a:t>Eclampsia is imminent</a:t>
            </a:r>
          </a:p>
          <a:p>
            <a:pPr>
              <a:lnSpc>
                <a:spcPct val="100000"/>
              </a:lnSpc>
            </a:pPr>
            <a:r>
              <a:rPr lang="en-US" sz="2200" dirty="0"/>
              <a:t>Persistent, severe symptoms do not respond to treatment</a:t>
            </a:r>
          </a:p>
          <a:p>
            <a:pPr>
              <a:lnSpc>
                <a:spcPct val="100000"/>
              </a:lnSpc>
            </a:pPr>
            <a:r>
              <a:rPr lang="en-US" sz="2200" dirty="0"/>
              <a:t>Presence of multiorgan dysfunction </a:t>
            </a:r>
          </a:p>
          <a:p>
            <a:pPr>
              <a:lnSpc>
                <a:spcPct val="100000"/>
              </a:lnSpc>
            </a:pPr>
            <a:r>
              <a:rPr lang="en-US" sz="2200" dirty="0"/>
              <a:t>Severe IUGR (&lt;5th percentile) with abnormal umbilical artery doppler studies, such as reversed end-diastolic flow (REDF) or </a:t>
            </a:r>
          </a:p>
          <a:p>
            <a:pPr>
              <a:lnSpc>
                <a:spcPct val="100000"/>
              </a:lnSpc>
            </a:pPr>
            <a:r>
              <a:rPr lang="en-US" sz="2200" dirty="0"/>
              <a:t>Severe oligohydramnios (largest vertical pocket &lt;2 cm), </a:t>
            </a:r>
          </a:p>
          <a:p>
            <a:pPr>
              <a:lnSpc>
                <a:spcPct val="100000"/>
              </a:lnSpc>
            </a:pPr>
            <a:r>
              <a:rPr lang="en-US" sz="2200" dirty="0"/>
              <a:t>Non reassuring fetal testing</a:t>
            </a:r>
          </a:p>
        </p:txBody>
      </p:sp>
    </p:spTree>
    <p:extLst>
      <p:ext uri="{BB962C8B-B14F-4D97-AF65-F5344CB8AC3E}">
        <p14:creationId xmlns:p14="http://schemas.microsoft.com/office/powerpoint/2010/main" val="10377166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CD327-5CA6-4DA6-9BC3-B7F44AC0877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1BFE966-30FC-49E9-877A-131110526312}"/>
              </a:ext>
            </a:extLst>
          </p:cNvPr>
          <p:cNvSpPr>
            <a:spLocks noGrp="1"/>
          </p:cNvSpPr>
          <p:nvPr>
            <p:ph idx="1"/>
          </p:nvPr>
        </p:nvSpPr>
        <p:spPr/>
        <p:txBody>
          <a:bodyPr>
            <a:normAutofit/>
          </a:bodyPr>
          <a:lstStyle/>
          <a:p>
            <a:pPr>
              <a:lnSpc>
                <a:spcPct val="100000"/>
              </a:lnSpc>
            </a:pPr>
            <a:r>
              <a:rPr lang="en-US" sz="2200" dirty="0"/>
              <a:t>During expectant management, women should be aware that the decision to continue such management will be made on a daily basis and that the median time of pregnancy prolongation is 7 days with a range of 2 to 35 days.</a:t>
            </a:r>
          </a:p>
          <a:p>
            <a:pPr>
              <a:lnSpc>
                <a:spcPct val="100000"/>
              </a:lnSpc>
            </a:pPr>
            <a:endParaRPr lang="en-US" sz="2200" dirty="0"/>
          </a:p>
        </p:txBody>
      </p:sp>
    </p:spTree>
    <p:extLst>
      <p:ext uri="{BB962C8B-B14F-4D97-AF65-F5344CB8AC3E}">
        <p14:creationId xmlns:p14="http://schemas.microsoft.com/office/powerpoint/2010/main" val="15105801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26686-BF4D-42F8-BFAD-C75FF4A0D77C}"/>
              </a:ext>
            </a:extLst>
          </p:cNvPr>
          <p:cNvSpPr>
            <a:spLocks noGrp="1"/>
          </p:cNvSpPr>
          <p:nvPr>
            <p:ph type="title"/>
          </p:nvPr>
        </p:nvSpPr>
        <p:spPr/>
        <p:txBody>
          <a:bodyPr>
            <a:normAutofit/>
          </a:bodyPr>
          <a:lstStyle/>
          <a:p>
            <a:r>
              <a:rPr lang="en-US" sz="3600" b="1" dirty="0"/>
              <a:t>Recommended Management of Preeclampsia With Severe Features</a:t>
            </a:r>
          </a:p>
        </p:txBody>
      </p:sp>
      <p:sp>
        <p:nvSpPr>
          <p:cNvPr id="3" name="Content Placeholder 2">
            <a:extLst>
              <a:ext uri="{FF2B5EF4-FFF2-40B4-BE49-F238E27FC236}">
                <a16:creationId xmlns:a16="http://schemas.microsoft.com/office/drawing/2014/main" id="{6F080C4A-4D9B-434E-8AC9-61D13685802F}"/>
              </a:ext>
            </a:extLst>
          </p:cNvPr>
          <p:cNvSpPr>
            <a:spLocks noGrp="1"/>
          </p:cNvSpPr>
          <p:nvPr>
            <p:ph idx="1"/>
          </p:nvPr>
        </p:nvSpPr>
        <p:spPr/>
        <p:txBody>
          <a:bodyPr>
            <a:normAutofit/>
          </a:bodyPr>
          <a:lstStyle/>
          <a:p>
            <a:pPr>
              <a:lnSpc>
                <a:spcPct val="150000"/>
              </a:lnSpc>
            </a:pPr>
            <a:r>
              <a:rPr lang="en-US" sz="2200" dirty="0"/>
              <a:t>The presence of severe disease mandates immediate hospitalization in labor and delivery. </a:t>
            </a:r>
          </a:p>
          <a:p>
            <a:pPr>
              <a:lnSpc>
                <a:spcPct val="150000"/>
              </a:lnSpc>
            </a:pPr>
            <a:r>
              <a:rPr lang="en-US" sz="2200" dirty="0"/>
              <a:t>Iv magnesium sulfate is begun to prevent convulsions, </a:t>
            </a:r>
          </a:p>
          <a:p>
            <a:pPr>
              <a:lnSpc>
                <a:spcPct val="150000"/>
              </a:lnSpc>
            </a:pPr>
            <a:r>
              <a:rPr lang="en-US" sz="2200" dirty="0"/>
              <a:t>Antihypertensive medications are administered to lower severe levels of hypertension (systolic pressure ≥160 mm hg and/or diastolic pressure ≥110 mm hg). </a:t>
            </a:r>
          </a:p>
          <a:p>
            <a:pPr>
              <a:lnSpc>
                <a:spcPct val="150000"/>
              </a:lnSpc>
            </a:pPr>
            <a:r>
              <a:rPr lang="en-US" sz="2200" dirty="0"/>
              <a:t>The aim of antihypertensive therapy is to keep the systolic pressure between 140 and 155 mm hg and the diastolic pressure between 90 and 105 mm hg</a:t>
            </a:r>
          </a:p>
        </p:txBody>
      </p:sp>
    </p:spTree>
    <p:extLst>
      <p:ext uri="{BB962C8B-B14F-4D97-AF65-F5344CB8AC3E}">
        <p14:creationId xmlns:p14="http://schemas.microsoft.com/office/powerpoint/2010/main" val="22403330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160DF-9140-4568-9433-6723E7AF7DCC}"/>
              </a:ext>
            </a:extLst>
          </p:cNvPr>
          <p:cNvSpPr>
            <a:spLocks noGrp="1"/>
          </p:cNvSpPr>
          <p:nvPr>
            <p:ph type="title"/>
          </p:nvPr>
        </p:nvSpPr>
        <p:spPr/>
        <p:txBody>
          <a:bodyPr>
            <a:normAutofit/>
          </a:bodyPr>
          <a:lstStyle/>
          <a:p>
            <a:r>
              <a:rPr lang="en-US" sz="3600" b="1" dirty="0"/>
              <a:t>Oral antihypertensives</a:t>
            </a:r>
          </a:p>
        </p:txBody>
      </p:sp>
      <p:sp>
        <p:nvSpPr>
          <p:cNvPr id="3" name="Content Placeholder 2">
            <a:extLst>
              <a:ext uri="{FF2B5EF4-FFF2-40B4-BE49-F238E27FC236}">
                <a16:creationId xmlns:a16="http://schemas.microsoft.com/office/drawing/2014/main" id="{7C5252EB-AF4E-45E9-A7A7-5AB1144FC1D9}"/>
              </a:ext>
            </a:extLst>
          </p:cNvPr>
          <p:cNvSpPr>
            <a:spLocks noGrp="1"/>
          </p:cNvSpPr>
          <p:nvPr>
            <p:ph idx="1"/>
          </p:nvPr>
        </p:nvSpPr>
        <p:spPr/>
        <p:txBody>
          <a:bodyPr/>
          <a:lstStyle/>
          <a:p>
            <a:r>
              <a:rPr lang="en-US" dirty="0"/>
              <a:t>labetalol of 200 mg every 8 hours to be increased up to 800 mg every 8 hours (600 to 2400 mg/day) </a:t>
            </a:r>
          </a:p>
          <a:p>
            <a:r>
              <a:rPr lang="en-US" dirty="0"/>
              <a:t>oral nifedipine is added with an initial dose of 10 mg every 6 hours and is subsequently increased up to 20 mg every 4 hours </a:t>
            </a:r>
          </a:p>
          <a:p>
            <a:endParaRPr lang="en-US" dirty="0"/>
          </a:p>
        </p:txBody>
      </p:sp>
    </p:spTree>
    <p:extLst>
      <p:ext uri="{BB962C8B-B14F-4D97-AF65-F5344CB8AC3E}">
        <p14:creationId xmlns:p14="http://schemas.microsoft.com/office/powerpoint/2010/main" val="38689990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0D67C-8015-44F0-BD69-F2D4A4F9D195}"/>
              </a:ext>
            </a:extLst>
          </p:cNvPr>
          <p:cNvSpPr>
            <a:spLocks noGrp="1"/>
          </p:cNvSpPr>
          <p:nvPr>
            <p:ph type="title"/>
          </p:nvPr>
        </p:nvSpPr>
        <p:spPr/>
        <p:txBody>
          <a:bodyPr>
            <a:normAutofit/>
          </a:bodyPr>
          <a:lstStyle/>
          <a:p>
            <a:r>
              <a:rPr lang="en-US" sz="3600" b="1" dirty="0"/>
              <a:t>Severe hypertension</a:t>
            </a:r>
          </a:p>
        </p:txBody>
      </p:sp>
      <p:sp>
        <p:nvSpPr>
          <p:cNvPr id="3" name="Content Placeholder 2">
            <a:extLst>
              <a:ext uri="{FF2B5EF4-FFF2-40B4-BE49-F238E27FC236}">
                <a16:creationId xmlns:a16="http://schemas.microsoft.com/office/drawing/2014/main" id="{BA36B431-C579-4288-A8C5-FE2E9D380C86}"/>
              </a:ext>
            </a:extLst>
          </p:cNvPr>
          <p:cNvSpPr>
            <a:spLocks noGrp="1"/>
          </p:cNvSpPr>
          <p:nvPr>
            <p:ph idx="1"/>
          </p:nvPr>
        </p:nvSpPr>
        <p:spPr/>
        <p:txBody>
          <a:bodyPr>
            <a:normAutofit/>
          </a:bodyPr>
          <a:lstStyle/>
          <a:p>
            <a:pPr algn="just"/>
            <a:r>
              <a:rPr lang="en-US" sz="2200" dirty="0"/>
              <a:t>IV hydralazine (25 mg) </a:t>
            </a:r>
          </a:p>
          <a:p>
            <a:pPr algn="just"/>
            <a:r>
              <a:rPr lang="en-US" sz="2200" dirty="0"/>
              <a:t>Labetalol (300 mg) </a:t>
            </a:r>
          </a:p>
          <a:p>
            <a:pPr algn="just"/>
            <a:r>
              <a:rPr lang="en-US" sz="2200" dirty="0"/>
              <a:t>IV magnesium sulfate</a:t>
            </a:r>
          </a:p>
        </p:txBody>
      </p:sp>
    </p:spTree>
    <p:extLst>
      <p:ext uri="{BB962C8B-B14F-4D97-AF65-F5344CB8AC3E}">
        <p14:creationId xmlns:p14="http://schemas.microsoft.com/office/powerpoint/2010/main" val="19568816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4FDA6-5C6A-4673-8D52-52994E03B48C}"/>
              </a:ext>
            </a:extLst>
          </p:cNvPr>
          <p:cNvSpPr>
            <a:spLocks noGrp="1"/>
          </p:cNvSpPr>
          <p:nvPr>
            <p:ph type="title"/>
          </p:nvPr>
        </p:nvSpPr>
        <p:spPr/>
        <p:txBody>
          <a:bodyPr>
            <a:normAutofit/>
          </a:bodyPr>
          <a:lstStyle/>
          <a:p>
            <a:r>
              <a:rPr lang="en-US" sz="3600" b="1" dirty="0"/>
              <a:t>Laboratory Studies</a:t>
            </a:r>
          </a:p>
        </p:txBody>
      </p:sp>
      <p:sp>
        <p:nvSpPr>
          <p:cNvPr id="3" name="Content Placeholder 2">
            <a:extLst>
              <a:ext uri="{FF2B5EF4-FFF2-40B4-BE49-F238E27FC236}">
                <a16:creationId xmlns:a16="http://schemas.microsoft.com/office/drawing/2014/main" id="{34DF015F-F414-4BC3-A025-80458F357FEF}"/>
              </a:ext>
            </a:extLst>
          </p:cNvPr>
          <p:cNvSpPr>
            <a:spLocks noGrp="1"/>
          </p:cNvSpPr>
          <p:nvPr>
            <p:ph idx="1"/>
          </p:nvPr>
        </p:nvSpPr>
        <p:spPr/>
        <p:txBody>
          <a:bodyPr>
            <a:normAutofit/>
          </a:bodyPr>
          <a:lstStyle/>
          <a:p>
            <a:r>
              <a:rPr lang="en-US" sz="2200" dirty="0"/>
              <a:t>CBC  with platelet count, </a:t>
            </a:r>
          </a:p>
          <a:p>
            <a:r>
              <a:rPr lang="en-US" sz="2200" dirty="0"/>
              <a:t>Transaminases, </a:t>
            </a:r>
          </a:p>
          <a:p>
            <a:r>
              <a:rPr lang="en-US" sz="2200" dirty="0"/>
              <a:t>LDH, </a:t>
            </a:r>
          </a:p>
          <a:p>
            <a:r>
              <a:rPr lang="en-US" sz="2200" dirty="0"/>
              <a:t>Serum creatinine levels. </a:t>
            </a:r>
          </a:p>
          <a:p>
            <a:r>
              <a:rPr lang="en-US" sz="2200" dirty="0"/>
              <a:t>Coagulation studies are obtained only if thrombocytopenia or suspicion of abruption is present</a:t>
            </a:r>
          </a:p>
        </p:txBody>
      </p:sp>
    </p:spTree>
    <p:extLst>
      <p:ext uri="{BB962C8B-B14F-4D97-AF65-F5344CB8AC3E}">
        <p14:creationId xmlns:p14="http://schemas.microsoft.com/office/powerpoint/2010/main" val="28356439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FF048-94CD-4DDE-926E-1B7B5F5D35B2}"/>
              </a:ext>
            </a:extLst>
          </p:cNvPr>
          <p:cNvSpPr>
            <a:spLocks noGrp="1"/>
          </p:cNvSpPr>
          <p:nvPr>
            <p:ph type="title"/>
          </p:nvPr>
        </p:nvSpPr>
        <p:spPr/>
        <p:txBody>
          <a:bodyPr/>
          <a:lstStyle/>
          <a:p>
            <a:r>
              <a:rPr lang="en-US" dirty="0"/>
              <a:t>Control of Severe Hypertension</a:t>
            </a:r>
          </a:p>
        </p:txBody>
      </p:sp>
      <p:sp>
        <p:nvSpPr>
          <p:cNvPr id="3" name="Content Placeholder 2">
            <a:extLst>
              <a:ext uri="{FF2B5EF4-FFF2-40B4-BE49-F238E27FC236}">
                <a16:creationId xmlns:a16="http://schemas.microsoft.com/office/drawing/2014/main" id="{A2B88FD7-AD0C-465F-A68C-3B165501CC1C}"/>
              </a:ext>
            </a:extLst>
          </p:cNvPr>
          <p:cNvSpPr>
            <a:spLocks noGrp="1"/>
          </p:cNvSpPr>
          <p:nvPr>
            <p:ph idx="1"/>
          </p:nvPr>
        </p:nvSpPr>
        <p:spPr/>
        <p:txBody>
          <a:bodyPr/>
          <a:lstStyle/>
          <a:p>
            <a:r>
              <a:rPr lang="en-US" dirty="0"/>
              <a:t>The objective of treating acute and sustained severe hypertension that lasts more than 60 minutes is to prevent cerebrovascular and cardiovascular complications such as encephalopathy, hemorrhage, and congestive heart failure (CHF) and to prevent retinal injury </a:t>
            </a:r>
          </a:p>
          <a:p>
            <a:r>
              <a:rPr lang="en-US" dirty="0"/>
              <a:t> Antihypertensive therapy is recommended by some for sustained systolic BP values of 160 mm Hg or more and for sustained diastolic values of 110 mm Hg or more. Some experts recommend treating diastolic levels of 105 mm Hg, and still others use a mean arterial BP of 130 mm Hg or more.1,2 The definition of sustained hypertension is not clear and ranges from 30 minutes to 2 hours</a:t>
            </a:r>
          </a:p>
        </p:txBody>
      </p:sp>
    </p:spTree>
    <p:extLst>
      <p:ext uri="{BB962C8B-B14F-4D97-AF65-F5344CB8AC3E}">
        <p14:creationId xmlns:p14="http://schemas.microsoft.com/office/powerpoint/2010/main" val="18213052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6DE9D-C647-43CD-8818-FEB503D172E5}"/>
              </a:ext>
            </a:extLst>
          </p:cNvPr>
          <p:cNvSpPr>
            <a:spLocks noGrp="1"/>
          </p:cNvSpPr>
          <p:nvPr>
            <p:ph type="title"/>
          </p:nvPr>
        </p:nvSpPr>
        <p:spPr/>
        <p:txBody>
          <a:bodyPr>
            <a:normAutofit/>
          </a:bodyPr>
          <a:lstStyle/>
          <a:p>
            <a:r>
              <a:rPr lang="en-US" sz="3600" b="1" dirty="0"/>
              <a:t>Mode of Delivery</a:t>
            </a:r>
          </a:p>
        </p:txBody>
      </p:sp>
      <p:sp>
        <p:nvSpPr>
          <p:cNvPr id="3" name="Content Placeholder 2">
            <a:extLst>
              <a:ext uri="{FF2B5EF4-FFF2-40B4-BE49-F238E27FC236}">
                <a16:creationId xmlns:a16="http://schemas.microsoft.com/office/drawing/2014/main" id="{AD7A88A0-0D9A-4C1C-8C85-90610A98E689}"/>
              </a:ext>
            </a:extLst>
          </p:cNvPr>
          <p:cNvSpPr>
            <a:spLocks noGrp="1"/>
          </p:cNvSpPr>
          <p:nvPr>
            <p:ph idx="1"/>
          </p:nvPr>
        </p:nvSpPr>
        <p:spPr/>
        <p:txBody>
          <a:bodyPr>
            <a:normAutofit/>
          </a:bodyPr>
          <a:lstStyle/>
          <a:p>
            <a:r>
              <a:rPr lang="en-US" sz="2200" dirty="0"/>
              <a:t> A plan for vaginal delivery should be attempted in all women with disease without other indications for cesarean delivery and in most women with severe disease</a:t>
            </a:r>
          </a:p>
          <a:p>
            <a:r>
              <a:rPr lang="en-US" sz="2200" dirty="0"/>
              <a:t>No randomized trials have compared the optimal methods of delivery in patients with severe hypertension or severe PE</a:t>
            </a:r>
          </a:p>
          <a:p>
            <a:r>
              <a:rPr lang="en-US" sz="2200" dirty="0"/>
              <a:t>cesarean delivery is recommended  for those with</a:t>
            </a:r>
          </a:p>
          <a:p>
            <a:pPr lvl="1"/>
            <a:r>
              <a:rPr lang="en-US" sz="2000" dirty="0"/>
              <a:t>severe FGR, </a:t>
            </a:r>
          </a:p>
          <a:p>
            <a:pPr lvl="1"/>
            <a:r>
              <a:rPr lang="en-US" sz="2000" dirty="0"/>
              <a:t>severe oligohydramnios, </a:t>
            </a:r>
          </a:p>
          <a:p>
            <a:pPr lvl="1"/>
            <a:r>
              <a:rPr lang="en-US" sz="2000" dirty="0"/>
              <a:t>BPP of 4 or less, or</a:t>
            </a:r>
          </a:p>
          <a:p>
            <a:pPr lvl="1"/>
            <a:r>
              <a:rPr lang="en-US" sz="2000" dirty="0"/>
              <a:t>Reverse umbilical artery Doppler flow at less than 32 weeks of gestation.</a:t>
            </a:r>
          </a:p>
          <a:p>
            <a:endParaRPr lang="en-US" dirty="0"/>
          </a:p>
        </p:txBody>
      </p:sp>
    </p:spTree>
    <p:extLst>
      <p:ext uri="{BB962C8B-B14F-4D97-AF65-F5344CB8AC3E}">
        <p14:creationId xmlns:p14="http://schemas.microsoft.com/office/powerpoint/2010/main" val="33123746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4E68C-C1A9-40DB-85C5-61B99846808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587C6E1-4998-4300-94EF-63C8E9D1EB76}"/>
              </a:ext>
            </a:extLst>
          </p:cNvPr>
          <p:cNvSpPr>
            <a:spLocks noGrp="1"/>
          </p:cNvSpPr>
          <p:nvPr>
            <p:ph idx="1"/>
          </p:nvPr>
        </p:nvSpPr>
        <p:spPr/>
        <p:txBody>
          <a:bodyPr>
            <a:normAutofit/>
          </a:bodyPr>
          <a:lstStyle/>
          <a:p>
            <a:pPr>
              <a:lnSpc>
                <a:spcPct val="150000"/>
              </a:lnSpc>
            </a:pPr>
            <a:r>
              <a:rPr lang="en-US" sz="2200" dirty="0"/>
              <a:t>PE with severe features is also associated with an increased risk for maternal mortality (0.2%) and increased rates of maternal morbidity (5%), such as convulsions, pulmonary edema, retinal ischemia and injury , acute renal or liver failure, liver hemorrhage, DIC, and stroke. </a:t>
            </a:r>
          </a:p>
          <a:p>
            <a:pPr>
              <a:lnSpc>
                <a:spcPct val="150000"/>
              </a:lnSpc>
            </a:pPr>
            <a:r>
              <a:rPr lang="en-US" sz="2200" dirty="0"/>
              <a:t>These complications are usually seen in women who develop PE before 32 weeks’ gestation and in those with preexisting medical conditions</a:t>
            </a:r>
          </a:p>
        </p:txBody>
      </p:sp>
    </p:spTree>
    <p:extLst>
      <p:ext uri="{BB962C8B-B14F-4D97-AF65-F5344CB8AC3E}">
        <p14:creationId xmlns:p14="http://schemas.microsoft.com/office/powerpoint/2010/main" val="26099333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2E7CC67-C9E1-4CF8-B3C7-5B153D234CE8}"/>
              </a:ext>
            </a:extLst>
          </p:cNvPr>
          <p:cNvPicPr>
            <a:picLocks noChangeAspect="1"/>
          </p:cNvPicPr>
          <p:nvPr/>
        </p:nvPicPr>
        <p:blipFill>
          <a:blip r:embed="rId2"/>
          <a:stretch>
            <a:fillRect/>
          </a:stretch>
        </p:blipFill>
        <p:spPr>
          <a:xfrm>
            <a:off x="2650435" y="704807"/>
            <a:ext cx="6838122" cy="5552660"/>
          </a:xfrm>
          <a:prstGeom prst="rect">
            <a:avLst/>
          </a:prstGeom>
        </p:spPr>
      </p:pic>
    </p:spTree>
    <p:extLst>
      <p:ext uri="{BB962C8B-B14F-4D97-AF65-F5344CB8AC3E}">
        <p14:creationId xmlns:p14="http://schemas.microsoft.com/office/powerpoint/2010/main" val="39407851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00232-E6FB-49EF-A96E-3C089D83828D}"/>
              </a:ext>
            </a:extLst>
          </p:cNvPr>
          <p:cNvSpPr>
            <a:spLocks noGrp="1"/>
          </p:cNvSpPr>
          <p:nvPr>
            <p:ph type="title"/>
          </p:nvPr>
        </p:nvSpPr>
        <p:spPr/>
        <p:txBody>
          <a:bodyPr>
            <a:normAutofit/>
          </a:bodyPr>
          <a:lstStyle/>
          <a:p>
            <a:r>
              <a:rPr lang="en-US" sz="3600" b="1" dirty="0"/>
              <a:t>Chronic hypertension</a:t>
            </a:r>
          </a:p>
        </p:txBody>
      </p:sp>
      <p:sp>
        <p:nvSpPr>
          <p:cNvPr id="6" name="Content Placeholder 5">
            <a:extLst>
              <a:ext uri="{FF2B5EF4-FFF2-40B4-BE49-F238E27FC236}">
                <a16:creationId xmlns:a16="http://schemas.microsoft.com/office/drawing/2014/main" id="{60DEA224-E3E4-4F5B-9EA4-650490B5130D}"/>
              </a:ext>
            </a:extLst>
          </p:cNvPr>
          <p:cNvSpPr>
            <a:spLocks noGrp="1"/>
          </p:cNvSpPr>
          <p:nvPr>
            <p:ph idx="1"/>
          </p:nvPr>
        </p:nvSpPr>
        <p:spPr/>
        <p:txBody>
          <a:bodyPr>
            <a:normAutofit/>
          </a:bodyPr>
          <a:lstStyle/>
          <a:p>
            <a:pPr>
              <a:lnSpc>
                <a:spcPct val="150000"/>
              </a:lnSpc>
            </a:pPr>
            <a:r>
              <a:rPr lang="en-US" sz="2200" dirty="0"/>
              <a:t>The frequency of chronic hypertension in pregnancy is estimated at 1% to 5%.</a:t>
            </a:r>
          </a:p>
          <a:p>
            <a:pPr>
              <a:lnSpc>
                <a:spcPct val="150000"/>
              </a:lnSpc>
            </a:pPr>
            <a:r>
              <a:rPr lang="en-US" sz="2200" dirty="0"/>
              <a:t>Chronic hypertension is defined as elevated bp that is present and documented before conception. </a:t>
            </a:r>
          </a:p>
          <a:p>
            <a:pPr>
              <a:lnSpc>
                <a:spcPct val="150000"/>
              </a:lnSpc>
            </a:pPr>
            <a:r>
              <a:rPr lang="en-US" sz="2200" dirty="0"/>
              <a:t>Presence of sustained hypertension before 20 weeks of gestation, </a:t>
            </a:r>
          </a:p>
        </p:txBody>
      </p:sp>
    </p:spTree>
    <p:extLst>
      <p:ext uri="{BB962C8B-B14F-4D97-AF65-F5344CB8AC3E}">
        <p14:creationId xmlns:p14="http://schemas.microsoft.com/office/powerpoint/2010/main" val="17500860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07B52-702F-4936-8E25-04F246E16E6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F074789-F28F-4298-8FC0-6097AB9EFF6E}"/>
              </a:ext>
            </a:extLst>
          </p:cNvPr>
          <p:cNvSpPr>
            <a:spLocks noGrp="1"/>
          </p:cNvSpPr>
          <p:nvPr>
            <p:ph idx="1"/>
          </p:nvPr>
        </p:nvSpPr>
        <p:spPr/>
        <p:txBody>
          <a:bodyPr>
            <a:normAutofit/>
          </a:bodyPr>
          <a:lstStyle/>
          <a:p>
            <a:pPr>
              <a:lnSpc>
                <a:spcPct val="150000"/>
              </a:lnSpc>
            </a:pPr>
            <a:r>
              <a:rPr lang="en-US" sz="2200" dirty="0"/>
              <a:t>Pregnancies complicated by chronic hypertension are at increased risk for the development of superimposed PE, placental abruption, and fetal growth restriction</a:t>
            </a:r>
          </a:p>
          <a:p>
            <a:pPr>
              <a:lnSpc>
                <a:spcPct val="150000"/>
              </a:lnSpc>
            </a:pPr>
            <a:r>
              <a:rPr lang="en-US" sz="2200" dirty="0"/>
              <a:t>Rate of PE in women with severe chronic hypertension ranges from 50% to 79%</a:t>
            </a:r>
          </a:p>
          <a:p>
            <a:pPr>
              <a:lnSpc>
                <a:spcPct val="150000"/>
              </a:lnSpc>
            </a:pPr>
            <a:r>
              <a:rPr lang="en-US" sz="2200" dirty="0"/>
              <a:t>The overall rate of superimposed PE was 25%</a:t>
            </a:r>
          </a:p>
        </p:txBody>
      </p:sp>
    </p:spTree>
    <p:extLst>
      <p:ext uri="{BB962C8B-B14F-4D97-AF65-F5344CB8AC3E}">
        <p14:creationId xmlns:p14="http://schemas.microsoft.com/office/powerpoint/2010/main" val="33706529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1181B-442C-416C-9F21-40A1B4E11D0F}"/>
              </a:ext>
            </a:extLst>
          </p:cNvPr>
          <p:cNvSpPr>
            <a:spLocks noGrp="1"/>
          </p:cNvSpPr>
          <p:nvPr>
            <p:ph type="title"/>
          </p:nvPr>
        </p:nvSpPr>
        <p:spPr>
          <a:xfrm>
            <a:off x="2203174" y="2766218"/>
            <a:ext cx="10515600" cy="1325563"/>
          </a:xfrm>
        </p:spPr>
        <p:txBody>
          <a:bodyPr/>
          <a:lstStyle/>
          <a:p>
            <a:r>
              <a:rPr lang="en-US" b="1" dirty="0"/>
              <a:t>Thank you</a:t>
            </a:r>
          </a:p>
        </p:txBody>
      </p:sp>
    </p:spTree>
    <p:extLst>
      <p:ext uri="{BB962C8B-B14F-4D97-AF65-F5344CB8AC3E}">
        <p14:creationId xmlns:p14="http://schemas.microsoft.com/office/powerpoint/2010/main" val="37563584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145</TotalTime>
  <Words>1341</Words>
  <Application>Microsoft Office PowerPoint</Application>
  <PresentationFormat>Widescreen</PresentationFormat>
  <Paragraphs>94</Paragraphs>
  <Slides>34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Arial</vt:lpstr>
      <vt:lpstr>Calibri</vt:lpstr>
      <vt:lpstr>Calibri Light</vt:lpstr>
      <vt:lpstr>Office Theme</vt:lpstr>
      <vt:lpstr>Hypertensive Disorders of Px</vt:lpstr>
      <vt:lpstr>PowerPoint Presentation</vt:lpstr>
      <vt:lpstr>Gestational Hypertension</vt:lpstr>
      <vt:lpstr>Preeclampsia Syndrome</vt:lpstr>
      <vt:lpstr>Gestational Proteinuria</vt:lpstr>
      <vt:lpstr>PowerPoint Presentation</vt:lpstr>
      <vt:lpstr>PowerPoint Presentation</vt:lpstr>
      <vt:lpstr>PowerPoint Presentation</vt:lpstr>
      <vt:lpstr>PowerPoint Presentation</vt:lpstr>
      <vt:lpstr>Indicators of severity </vt:lpstr>
      <vt:lpstr>Preeclampsia Superimposed on Chronic Hypertension</vt:lpstr>
      <vt:lpstr>Selected risk factors for preeclalmsia</vt:lpstr>
      <vt:lpstr>National guideline</vt:lpstr>
      <vt:lpstr>National guideline</vt:lpstr>
      <vt:lpstr>PATHOPHYSIOLOGY</vt:lpstr>
      <vt:lpstr>PowerPoint Presentation</vt:lpstr>
      <vt:lpstr>PowerPoint Presentation</vt:lpstr>
      <vt:lpstr>HYPERTENSION OR PREECLAMPSIA WITHOUT  SEVERE FEATURES</vt:lpstr>
      <vt:lpstr>PowerPoint Presentation</vt:lpstr>
      <vt:lpstr>PowerPoint Presentation</vt:lpstr>
      <vt:lpstr>PREECLAMPSIA WITH SEVERE FEATURE</vt:lpstr>
      <vt:lpstr>PowerPoint Presentation</vt:lpstr>
      <vt:lpstr>PowerPoint Presentation</vt:lpstr>
      <vt:lpstr>Recommended Management of Preeclampsia With Severe Features</vt:lpstr>
      <vt:lpstr>Oral antihypertensives</vt:lpstr>
      <vt:lpstr>Severe hypertension</vt:lpstr>
      <vt:lpstr>Laboratory Studies</vt:lpstr>
      <vt:lpstr>Control of Severe Hypertension</vt:lpstr>
      <vt:lpstr>Mode of Delivery</vt:lpstr>
      <vt:lpstr>PowerPoint Presentation</vt:lpstr>
      <vt:lpstr>PowerPoint Presentation</vt:lpstr>
      <vt:lpstr>Chronic hypertension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Rich</dc:creator>
  <cp:lastModifiedBy>Rich</cp:lastModifiedBy>
  <cp:revision>15</cp:revision>
  <dcterms:created xsi:type="dcterms:W3CDTF">2025-09-08T17:51:01Z</dcterms:created>
  <dcterms:modified xsi:type="dcterms:W3CDTF">2025-09-08T20:16:43Z</dcterms:modified>
</cp:coreProperties>
</file>