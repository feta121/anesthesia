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43" autoAdjust="0"/>
    <p:restoredTop sz="80443" autoAdjust="0"/>
  </p:normalViewPr>
  <p:slideViewPr>
    <p:cSldViewPr snapToGrid="0">
      <p:cViewPr varScale="1">
        <p:scale>
          <a:sx n="76" d="100"/>
          <a:sy n="76" d="100"/>
        </p:scale>
        <p:origin x="9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289DE9-C951-455A-B00F-AB716E7F665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86CD34-88D0-4ABF-8C5D-796CB2E8D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26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⚠️ Warning Signs to Watch For in the Mother</a:t>
            </a:r>
          </a:p>
          <a:p>
            <a:r>
              <a:rPr lang="en-US" dirty="0" smtClean="0"/>
              <a:t>Heavy bleeding (soaking &gt;1 pad/hour)</a:t>
            </a:r>
          </a:p>
          <a:p>
            <a:r>
              <a:rPr lang="en-US" dirty="0" smtClean="0"/>
              <a:t>Foul-smelling lochia</a:t>
            </a:r>
          </a:p>
          <a:p>
            <a:r>
              <a:rPr lang="en-US" dirty="0" smtClean="0"/>
              <a:t>Fever, chills</a:t>
            </a:r>
          </a:p>
          <a:p>
            <a:r>
              <a:rPr lang="en-US" dirty="0" smtClean="0"/>
              <a:t>Severe abdominal pain</a:t>
            </a:r>
          </a:p>
          <a:p>
            <a:r>
              <a:rPr lang="en-US" dirty="0" smtClean="0"/>
              <a:t>Pain or swelling in legs</a:t>
            </a:r>
          </a:p>
          <a:p>
            <a:r>
              <a:rPr lang="en-US" dirty="0" smtClean="0"/>
              <a:t>Difficulty urinating or defecating</a:t>
            </a:r>
          </a:p>
          <a:p>
            <a:r>
              <a:rPr lang="en-US" dirty="0" smtClean="0"/>
              <a:t>Sadness or disinterest in baby lasting &gt;2 weeks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6CD34-88D0-4ABF-8C5D-796CB2E8D8F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723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6CD34-88D0-4ABF-8C5D-796CB2E8D8F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672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Parents should be educated to seek medical care if the baby has:</a:t>
            </a:r>
          </a:p>
          <a:p>
            <a:r>
              <a:rPr lang="en-US" dirty="0" smtClean="0"/>
              <a:t>Difficulty breathing</a:t>
            </a:r>
          </a:p>
          <a:p>
            <a:r>
              <a:rPr lang="en-US" dirty="0" smtClean="0"/>
              <a:t>Poor or no feeding</a:t>
            </a:r>
          </a:p>
          <a:p>
            <a:r>
              <a:rPr lang="en-US" dirty="0" smtClean="0"/>
              <a:t>Fever (&gt;37.5°C) or hypothermia (&lt;35.5°C)</a:t>
            </a:r>
          </a:p>
          <a:p>
            <a:r>
              <a:rPr lang="en-US" dirty="0" smtClean="0"/>
              <a:t>Lethargy or unresponsiveness</a:t>
            </a:r>
          </a:p>
          <a:p>
            <a:r>
              <a:rPr lang="en-US" dirty="0" smtClean="0"/>
              <a:t>Convulsions</a:t>
            </a:r>
          </a:p>
          <a:p>
            <a:r>
              <a:rPr lang="en-US" dirty="0" smtClean="0"/>
              <a:t>Jaundice (yellowing of eyes or skin, especially &lt;24 hours after birth or worsening)</a:t>
            </a:r>
          </a:p>
          <a:p>
            <a:r>
              <a:rPr lang="en-US" dirty="0" smtClean="0"/>
              <a:t>Pus or bleeding from umbilical stump</a:t>
            </a:r>
          </a:p>
          <a:p>
            <a:r>
              <a:rPr lang="en-US" dirty="0" smtClean="0"/>
              <a:t>Vomiting everything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6CD34-88D0-4ABF-8C5D-796CB2E8D8F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265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61685-754B-403F-A72A-F8AA363F9EE3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25C94-0F3C-49D7-B83E-044878EC3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295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9CCA1-C8FA-4AB7-8C8E-0248AC754278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25C94-0F3C-49D7-B83E-044878EC3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536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CA158-E3D5-4777-8946-D8F5E5054CA4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25C94-0F3C-49D7-B83E-044878EC3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891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8FFB9-9843-4745-8E25-B13DF75CD053}" type="datetime1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25C94-0F3C-49D7-B83E-044878EC3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164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DC51-F7E2-4BE7-B1CA-E085B6EC5029}" type="datetime1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25C94-0F3C-49D7-B83E-044878EC3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640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83153-D53B-4E30-8C1D-94EDB4846FA4}" type="datetime1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25C94-0F3C-49D7-B83E-044878EC3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245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03C6-2998-4411-8F12-076EDADE2A4B}" type="datetime1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25C94-0F3C-49D7-B83E-044878EC3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485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D4DA9-38E0-4203-88B7-27960AA01071}" type="datetime1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25C94-0F3C-49D7-B83E-044878EC3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438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15AC0-E767-464F-AE77-214CDA53C2A1}" type="datetime1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25C94-0F3C-49D7-B83E-044878EC3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95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E1B64-D7C6-4991-ACCC-8A0780101302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25C94-0F3C-49D7-B83E-044878EC3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642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FDF71-619E-4C2F-A342-A90A1AE33AEA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25C94-0F3C-49D7-B83E-044878EC3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243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47C81F-E87C-4455-9851-6EDCF8307407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025C94-0F3C-49D7-B83E-044878EC3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402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0874" y="4996886"/>
            <a:ext cx="9144000" cy="1655762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By: Dr. </a:t>
            </a:r>
            <a:r>
              <a:rPr lang="en-US" dirty="0" err="1" smtClean="0"/>
              <a:t>Rewina</a:t>
            </a:r>
            <a:r>
              <a:rPr lang="en-US" dirty="0" smtClean="0"/>
              <a:t> </a:t>
            </a:r>
            <a:r>
              <a:rPr lang="en-US" dirty="0" err="1" smtClean="0"/>
              <a:t>Legesse</a:t>
            </a:r>
            <a:r>
              <a:rPr lang="en-US" dirty="0" smtClean="0"/>
              <a:t> ( September, 2025)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288" y="735175"/>
            <a:ext cx="7702658" cy="3905250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25C94-0F3C-49D7-B83E-044878EC38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855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sz="2000" b="1" dirty="0" smtClean="0"/>
              <a:t>Postnatal care</a:t>
            </a:r>
            <a:r>
              <a:rPr lang="en-US" sz="2000" dirty="0" smtClean="0"/>
              <a:t> refers to care given to the </a:t>
            </a:r>
            <a:r>
              <a:rPr lang="en-US" sz="2000" b="1" dirty="0" smtClean="0"/>
              <a:t>mother and her newborn </a:t>
            </a:r>
          </a:p>
          <a:p>
            <a:pPr marL="0" indent="0">
              <a:buNone/>
            </a:pPr>
            <a:r>
              <a:rPr lang="en-US" sz="2000" b="1" dirty="0" smtClean="0"/>
              <a:t>immediately after birth and throughout the first six weeks (42 days)</a:t>
            </a:r>
            <a:r>
              <a:rPr lang="en-US" sz="2000" dirty="0" smtClean="0"/>
              <a:t> </a:t>
            </a:r>
          </a:p>
          <a:p>
            <a:pPr marL="0" indent="0">
              <a:buNone/>
            </a:pPr>
            <a:r>
              <a:rPr lang="en-US" sz="2000" dirty="0" smtClean="0"/>
              <a:t>of life. (WHO)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Postnatal experience 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“</a:t>
            </a:r>
            <a:r>
              <a:rPr lang="en-US" sz="2000" dirty="0" smtClean="0"/>
              <a:t>One in which women, newborns, partners, parents, caregivers and families receive </a:t>
            </a:r>
            <a:r>
              <a:rPr lang="en-US" sz="2000" b="1" dirty="0" smtClean="0"/>
              <a:t>information</a:t>
            </a:r>
            <a:r>
              <a:rPr lang="en-US" sz="2000" dirty="0" smtClean="0"/>
              <a:t>, </a:t>
            </a:r>
          </a:p>
          <a:p>
            <a:pPr marL="0" indent="0">
              <a:buNone/>
            </a:pPr>
            <a:r>
              <a:rPr lang="en-US" sz="2000" b="1" dirty="0" smtClean="0"/>
              <a:t>reassurance</a:t>
            </a:r>
            <a:r>
              <a:rPr lang="en-US" sz="2000" dirty="0" smtClean="0"/>
              <a:t>, and </a:t>
            </a:r>
            <a:r>
              <a:rPr lang="en-US" sz="2000" b="1" dirty="0" smtClean="0"/>
              <a:t>support</a:t>
            </a:r>
            <a:r>
              <a:rPr lang="en-US" sz="2000" dirty="0" smtClean="0"/>
              <a:t> in a consistent manner from motivated health workers; where a </a:t>
            </a:r>
          </a:p>
          <a:p>
            <a:pPr marL="0" indent="0">
              <a:buNone/>
            </a:pPr>
            <a:r>
              <a:rPr lang="en-US" sz="2000" dirty="0" smtClean="0"/>
              <a:t>resourced and flexible health system recognizes the needs of women and babies, and respects their </a:t>
            </a:r>
          </a:p>
          <a:p>
            <a:pPr marL="0" indent="0">
              <a:buNone/>
            </a:pPr>
            <a:r>
              <a:rPr lang="en-US" sz="2000" dirty="0" smtClean="0"/>
              <a:t>cultural context.”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25C94-0F3C-49D7-B83E-044878EC38F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669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158" y="522918"/>
            <a:ext cx="11424781" cy="5915460"/>
          </a:xfrm>
        </p:spPr>
        <p:txBody>
          <a:bodyPr/>
          <a:lstStyle/>
          <a:p>
            <a:r>
              <a:rPr lang="en-US" dirty="0" smtClean="0"/>
              <a:t>WHO recommends at least 4 postnatal visits: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arenR"/>
            </a:pPr>
            <a:r>
              <a:rPr lang="en-US" dirty="0" smtClean="0"/>
              <a:t>Within 24 hours of delivery</a:t>
            </a:r>
          </a:p>
          <a:p>
            <a:pPr marL="514350" indent="-514350">
              <a:buAutoNum type="arabicParenR"/>
            </a:pPr>
            <a:r>
              <a:rPr lang="en-US" dirty="0" smtClean="0"/>
              <a:t>48-72 hours after birth</a:t>
            </a:r>
          </a:p>
          <a:p>
            <a:pPr marL="514350" indent="-514350">
              <a:buAutoNum type="arabicParenR"/>
            </a:pPr>
            <a:r>
              <a:rPr lang="en-US" dirty="0" smtClean="0"/>
              <a:t>7-14 days postpartum</a:t>
            </a:r>
          </a:p>
          <a:p>
            <a:pPr marL="514350" indent="-514350">
              <a:buAutoNum type="arabicParenR"/>
            </a:pPr>
            <a:r>
              <a:rPr lang="en-US" dirty="0" smtClean="0"/>
              <a:t>Around 6 weeks postpartum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Why It Matters:</a:t>
            </a:r>
            <a:endParaRPr lang="en-US" dirty="0" smtClean="0"/>
          </a:p>
          <a:p>
            <a:r>
              <a:rPr lang="en-US" dirty="0" smtClean="0"/>
              <a:t>Addresses risk during the critical early postpartum period</a:t>
            </a:r>
          </a:p>
          <a:p>
            <a:r>
              <a:rPr lang="en-US" dirty="0" smtClean="0"/>
              <a:t>Enables early identification of complications</a:t>
            </a:r>
          </a:p>
          <a:p>
            <a:r>
              <a:rPr lang="en-US" dirty="0" smtClean="0"/>
              <a:t>Supports transitions to immunizations, family planning, breastfeeding</a:t>
            </a:r>
          </a:p>
          <a:p>
            <a:pPr marL="0" indent="0">
              <a:buNone/>
            </a:pPr>
            <a:endParaRPr lang="en-US" dirty="0" smtClean="0"/>
          </a:p>
          <a:p>
            <a:pPr marL="514350" indent="-514350">
              <a:buAutoNum type="arabicParenR"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25C94-0F3C-49D7-B83E-044878EC38F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919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Core Components of Quality Postnatal Care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The guidelines gather </a:t>
            </a:r>
            <a:r>
              <a:rPr lang="en-US" b="1" dirty="0" smtClean="0"/>
              <a:t>63 recommendations</a:t>
            </a:r>
            <a:r>
              <a:rPr lang="en-US" dirty="0" smtClean="0"/>
              <a:t> (31 new; 32 from existing </a:t>
            </a:r>
          </a:p>
          <a:p>
            <a:pPr marL="0" indent="0">
              <a:buNone/>
            </a:pPr>
            <a:r>
              <a:rPr lang="en-US" dirty="0" smtClean="0"/>
              <a:t>WHO sources), grouped across three domains: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UcParenR"/>
            </a:pPr>
            <a:r>
              <a:rPr lang="en-US" dirty="0" smtClean="0"/>
              <a:t>Maternal care</a:t>
            </a:r>
          </a:p>
          <a:p>
            <a:pPr marL="514350" indent="-514350">
              <a:buAutoNum type="alphaUcParenR"/>
            </a:pPr>
            <a:r>
              <a:rPr lang="en-US" dirty="0" smtClean="0"/>
              <a:t>Newborn care</a:t>
            </a:r>
          </a:p>
          <a:p>
            <a:pPr marL="514350" indent="-514350">
              <a:buAutoNum type="alphaUcParenR"/>
            </a:pPr>
            <a:r>
              <a:rPr lang="en-US" dirty="0" smtClean="0"/>
              <a:t>Health Systems &amp; Health Promotion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25C94-0F3C-49D7-B83E-044878EC38F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145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A) Maternal Care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smtClean="0"/>
              <a:t>1. Monitoring of Vital Signs &amp; Physical Recovery</a:t>
            </a:r>
          </a:p>
          <a:p>
            <a:r>
              <a:rPr lang="en-US" b="1" dirty="0" smtClean="0"/>
              <a:t>Check vital signs:</a:t>
            </a:r>
            <a:r>
              <a:rPr lang="en-US" dirty="0" smtClean="0"/>
              <a:t> Blood pressure, pulse, temperature, and respiratory rate</a:t>
            </a:r>
          </a:p>
          <a:p>
            <a:r>
              <a:rPr lang="en-US" b="1" dirty="0" smtClean="0"/>
              <a:t>Uterine involution:</a:t>
            </a:r>
            <a:r>
              <a:rPr lang="en-US" dirty="0" smtClean="0"/>
              <a:t> Ensure the uterus is contracting and returning to its normal size</a:t>
            </a:r>
          </a:p>
          <a:p>
            <a:r>
              <a:rPr lang="en-US" b="1" dirty="0" smtClean="0"/>
              <a:t>Lochia assessment:</a:t>
            </a:r>
            <a:r>
              <a:rPr lang="en-US" dirty="0" smtClean="0"/>
              <a:t> Monitor vaginal bleeding (normal progression: red → pink → white)</a:t>
            </a:r>
          </a:p>
          <a:p>
            <a:r>
              <a:rPr lang="en-US" b="1" dirty="0" smtClean="0"/>
              <a:t>Perineal healing:</a:t>
            </a:r>
            <a:r>
              <a:rPr lang="en-US" dirty="0" smtClean="0"/>
              <a:t> Especially after episiotomy or tears</a:t>
            </a:r>
          </a:p>
          <a:p>
            <a:r>
              <a:rPr lang="en-US" b="1" dirty="0" smtClean="0"/>
              <a:t>C-section wound care</a:t>
            </a:r>
            <a:r>
              <a:rPr lang="en-US" dirty="0" smtClean="0"/>
              <a:t> (if She delivered via c/s)</a:t>
            </a:r>
          </a:p>
          <a:p>
            <a:r>
              <a:rPr lang="en-US" b="1" dirty="0" smtClean="0"/>
              <a:t>Bladder and bowel function:</a:t>
            </a:r>
            <a:r>
              <a:rPr lang="en-US" dirty="0" smtClean="0"/>
              <a:t> Monitor urination and bowel movement return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25C94-0F3C-49D7-B83E-044878EC38F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528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2. Breast Care &amp; Support for Breastfeeding</a:t>
            </a:r>
          </a:p>
          <a:p>
            <a:r>
              <a:rPr lang="en-US" dirty="0" smtClean="0"/>
              <a:t>Assess for </a:t>
            </a:r>
            <a:r>
              <a:rPr lang="en-US" b="1" dirty="0" smtClean="0"/>
              <a:t>engorgement, nipple pain, cracked nipples</a:t>
            </a:r>
            <a:endParaRPr lang="en-US" dirty="0" smtClean="0"/>
          </a:p>
          <a:p>
            <a:r>
              <a:rPr lang="en-US" dirty="0" smtClean="0"/>
              <a:t>Observe </a:t>
            </a:r>
            <a:r>
              <a:rPr lang="en-US" b="1" dirty="0" smtClean="0"/>
              <a:t>positioning and latch</a:t>
            </a:r>
            <a:endParaRPr lang="en-US" dirty="0" smtClean="0"/>
          </a:p>
          <a:p>
            <a:r>
              <a:rPr lang="en-US" dirty="0" smtClean="0"/>
              <a:t>Support </a:t>
            </a:r>
            <a:r>
              <a:rPr lang="en-US" b="1" dirty="0" smtClean="0"/>
              <a:t>exclusive breastfeeding</a:t>
            </a:r>
            <a:r>
              <a:rPr lang="en-US" dirty="0" smtClean="0"/>
              <a:t> and early initiation (within 1 hour of birth)</a:t>
            </a:r>
          </a:p>
          <a:p>
            <a:r>
              <a:rPr lang="en-US" dirty="0" smtClean="0"/>
              <a:t>Provide counseling for common breastfeeding issues (mastitis, low milk supply)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25C94-0F3C-49D7-B83E-044878EC38F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802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6718" y="275573"/>
            <a:ext cx="9118948" cy="5536504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25C94-0F3C-49D7-B83E-044878EC38F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660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521" y="563671"/>
            <a:ext cx="10790129" cy="5613292"/>
          </a:xfrm>
        </p:spPr>
        <p:txBody>
          <a:bodyPr/>
          <a:lstStyle/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3. Pain Management</a:t>
            </a:r>
          </a:p>
          <a:p>
            <a:r>
              <a:rPr lang="en-US" dirty="0" smtClean="0"/>
              <a:t>Use of safe medications for perineal pain, </a:t>
            </a:r>
            <a:r>
              <a:rPr lang="en-US" dirty="0" err="1" smtClean="0"/>
              <a:t>afterpains</a:t>
            </a:r>
            <a:r>
              <a:rPr lang="en-US" dirty="0" smtClean="0"/>
              <a:t>, or cesarean pain</a:t>
            </a:r>
          </a:p>
          <a:p>
            <a:r>
              <a:rPr lang="en-US" dirty="0" smtClean="0"/>
              <a:t>Cold packs, </a:t>
            </a:r>
            <a:r>
              <a:rPr lang="en-US" dirty="0" err="1" smtClean="0"/>
              <a:t>sitz</a:t>
            </a:r>
            <a:r>
              <a:rPr lang="en-US" dirty="0" smtClean="0"/>
              <a:t> baths, and topical treatments (if needed)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4. Nutrition and Hydration</a:t>
            </a:r>
          </a:p>
          <a:p>
            <a:r>
              <a:rPr lang="en-US" dirty="0" smtClean="0"/>
              <a:t>Encourage </a:t>
            </a:r>
            <a:r>
              <a:rPr lang="en-US" b="1" dirty="0" smtClean="0"/>
              <a:t>nutritious, balanced meals</a:t>
            </a:r>
            <a:r>
              <a:rPr lang="en-US" dirty="0" smtClean="0"/>
              <a:t> to support healing and lactation</a:t>
            </a:r>
          </a:p>
          <a:p>
            <a:r>
              <a:rPr lang="en-US" dirty="0" smtClean="0"/>
              <a:t>Assess </a:t>
            </a:r>
            <a:r>
              <a:rPr lang="en-US" b="1" dirty="0" smtClean="0"/>
              <a:t>iron, calcium</a:t>
            </a:r>
            <a:r>
              <a:rPr lang="en-US" dirty="0" smtClean="0"/>
              <a:t>, and </a:t>
            </a:r>
            <a:r>
              <a:rPr lang="en-US" b="1" dirty="0" smtClean="0"/>
              <a:t>vitamin needs</a:t>
            </a:r>
            <a:r>
              <a:rPr lang="en-US" dirty="0" smtClean="0"/>
              <a:t> (especially if anemic or breastfeeding)</a:t>
            </a:r>
          </a:p>
          <a:p>
            <a:r>
              <a:rPr lang="en-US" dirty="0" smtClean="0"/>
              <a:t>Ensure adequate </a:t>
            </a:r>
            <a:r>
              <a:rPr lang="en-US" b="1" dirty="0" smtClean="0"/>
              <a:t>fluid intake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25C94-0F3C-49D7-B83E-044878EC38F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265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7824" y="1690688"/>
            <a:ext cx="9525392" cy="4219575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25C94-0F3C-49D7-B83E-044878EC38F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161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373" y="1725416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5 Family Planning and Birth Spacing</a:t>
            </a:r>
          </a:p>
          <a:p>
            <a:r>
              <a:rPr lang="en-US" dirty="0" smtClean="0"/>
              <a:t>Discuss </a:t>
            </a:r>
            <a:r>
              <a:rPr lang="en-US" b="1" dirty="0" smtClean="0"/>
              <a:t>return of fertility</a:t>
            </a:r>
            <a:endParaRPr lang="en-US" dirty="0" smtClean="0"/>
          </a:p>
          <a:p>
            <a:r>
              <a:rPr lang="en-US" dirty="0" smtClean="0"/>
              <a:t>Educate about </a:t>
            </a:r>
            <a:r>
              <a:rPr lang="en-US" b="1" dirty="0" smtClean="0"/>
              <a:t>safe contraceptive options</a:t>
            </a:r>
            <a:r>
              <a:rPr lang="en-US" dirty="0" smtClean="0"/>
              <a:t> postpartum:</a:t>
            </a:r>
          </a:p>
          <a:p>
            <a:pPr lvl="1"/>
            <a:r>
              <a:rPr lang="en-US" dirty="0" err="1" smtClean="0"/>
              <a:t>Lactational</a:t>
            </a:r>
            <a:r>
              <a:rPr lang="en-US" dirty="0" smtClean="0"/>
              <a:t> amenorrhea method (LAM)</a:t>
            </a:r>
          </a:p>
          <a:p>
            <a:pPr lvl="1"/>
            <a:r>
              <a:rPr lang="en-US" dirty="0" smtClean="0"/>
              <a:t>Progestin-only pills/injections/implants</a:t>
            </a:r>
          </a:p>
          <a:p>
            <a:pPr lvl="1"/>
            <a:r>
              <a:rPr lang="en-US" dirty="0" smtClean="0"/>
              <a:t>Intrauterine devices (IUDs)</a:t>
            </a:r>
          </a:p>
          <a:p>
            <a:r>
              <a:rPr lang="en-US" dirty="0" smtClean="0"/>
              <a:t>Encourage </a:t>
            </a:r>
            <a:r>
              <a:rPr lang="en-US" b="1" dirty="0" smtClean="0"/>
              <a:t>birth spacing</a:t>
            </a:r>
            <a:r>
              <a:rPr lang="en-US" dirty="0" smtClean="0"/>
              <a:t> (minimum 2 years between pregnancies)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25C94-0F3C-49D7-B83E-044878EC38F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662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937" y="663879"/>
            <a:ext cx="11285951" cy="551308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2400" b="1" dirty="0" smtClean="0"/>
          </a:p>
          <a:p>
            <a:pPr marL="0" indent="0">
              <a:buNone/>
            </a:pPr>
            <a:r>
              <a:rPr lang="en-US" sz="2400" b="1" dirty="0" smtClean="0"/>
              <a:t>6. Mental Health Assessment</a:t>
            </a:r>
          </a:p>
          <a:p>
            <a:r>
              <a:rPr lang="en-US" sz="2400" dirty="0" smtClean="0"/>
              <a:t>Screen for </a:t>
            </a:r>
            <a:r>
              <a:rPr lang="en-US" sz="2400" b="1" dirty="0" smtClean="0"/>
              <a:t>postpartum depression</a:t>
            </a:r>
            <a:r>
              <a:rPr lang="en-US" sz="2400" dirty="0" smtClean="0"/>
              <a:t>, anxiety, or emotional distress</a:t>
            </a:r>
          </a:p>
          <a:p>
            <a:r>
              <a:rPr lang="en-US" sz="2400" dirty="0" smtClean="0"/>
              <a:t>Ask about </a:t>
            </a:r>
            <a:r>
              <a:rPr lang="en-US" sz="2400" b="1" dirty="0" smtClean="0"/>
              <a:t>sleep</a:t>
            </a:r>
            <a:r>
              <a:rPr lang="en-US" sz="2400" dirty="0" smtClean="0"/>
              <a:t>, feelings of sadness, hopelessness, or difficulty bonding</a:t>
            </a:r>
          </a:p>
          <a:p>
            <a:r>
              <a:rPr lang="en-US" sz="2400" dirty="0" smtClean="0"/>
              <a:t>Refer to </a:t>
            </a:r>
            <a:r>
              <a:rPr lang="en-US" sz="2400" b="1" dirty="0" smtClean="0"/>
              <a:t>psychological or psychiatric services</a:t>
            </a:r>
            <a:r>
              <a:rPr lang="en-US" sz="2400" dirty="0" smtClean="0"/>
              <a:t> if needed</a:t>
            </a:r>
          </a:p>
          <a:p>
            <a:r>
              <a:rPr lang="en-US" sz="2400" dirty="0" smtClean="0"/>
              <a:t>Provide </a:t>
            </a:r>
            <a:r>
              <a:rPr lang="en-US" sz="2400" b="1" dirty="0" smtClean="0"/>
              <a:t>emotional support and reassurance.</a:t>
            </a:r>
          </a:p>
          <a:p>
            <a:pPr marL="0" indent="0">
              <a:buNone/>
            </a:pPr>
            <a:endParaRPr lang="en-US" sz="2400" b="1" dirty="0" smtClean="0"/>
          </a:p>
          <a:p>
            <a:pPr marL="0" indent="0">
              <a:buNone/>
            </a:pPr>
            <a:r>
              <a:rPr lang="en-US" sz="2400" b="1" dirty="0" smtClean="0"/>
              <a:t>7. Education and Counseling</a:t>
            </a:r>
          </a:p>
          <a:p>
            <a:r>
              <a:rPr lang="en-US" sz="2400" dirty="0" smtClean="0"/>
              <a:t>Newborn care (bathing, feeding, immunization)</a:t>
            </a:r>
          </a:p>
          <a:p>
            <a:r>
              <a:rPr lang="en-US" sz="2400" dirty="0" smtClean="0"/>
              <a:t>Hygiene and self-care practices</a:t>
            </a:r>
          </a:p>
          <a:p>
            <a:r>
              <a:rPr lang="en-US" sz="2400" dirty="0" smtClean="0"/>
              <a:t>Signs of complications (infection, excessive bleeding, fever)</a:t>
            </a:r>
          </a:p>
          <a:p>
            <a:r>
              <a:rPr lang="en-US" sz="2400" dirty="0" smtClean="0"/>
              <a:t>When to seek medical attention</a:t>
            </a:r>
          </a:p>
          <a:p>
            <a:r>
              <a:rPr lang="en-US" sz="2400" dirty="0" smtClean="0"/>
              <a:t>Reassurance and expectation setting (baby blues vs. depression)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25C94-0F3C-49D7-B83E-044878EC38F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718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Recognize Postpartum Warning Signs Poster | Reproductive Health National  Training Center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2264" y="1825625"/>
            <a:ext cx="787887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25C94-0F3C-49D7-B83E-044878EC38F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88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B) Newborn Care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307" y="1825625"/>
            <a:ext cx="10965493" cy="49259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Assessment of Vital Signs and General Condition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Check:</a:t>
            </a:r>
          </a:p>
          <a:p>
            <a:pPr lvl="1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Breathing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(look for difficulty, grunting, fast or slow breathing)</a:t>
            </a:r>
          </a:p>
          <a:p>
            <a:pPr lvl="1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Heart rate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(pink, not pale or bluish)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Ensure newborn is active and feeding well.</a:t>
            </a:r>
          </a:p>
          <a:p>
            <a:pPr marL="0" indent="0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Thermal Protection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Keep baby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warm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through:</a:t>
            </a:r>
          </a:p>
          <a:p>
            <a:pPr lvl="1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Immediate drying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after birth</a:t>
            </a:r>
          </a:p>
          <a:p>
            <a:pPr lvl="1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Skin-to-skin contact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with mother (Kangaroo Mother Care)</a:t>
            </a:r>
          </a:p>
          <a:p>
            <a:pPr lvl="1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Appropriate clothing and room temperature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Avoid cold stress and overheating</a:t>
            </a:r>
          </a:p>
          <a:p>
            <a:pPr marL="0" indent="0"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25C94-0F3C-49D7-B83E-044878EC38F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684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781" y="739036"/>
            <a:ext cx="10722279" cy="544882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3) Initiation and Support of Breastfeeding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Start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within 1 hour of birth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exclusive breastfeeding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first 6 months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 good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positioning and latch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Monitor feeding frequency and effectiveness (8–12 times/day).</a:t>
            </a:r>
          </a:p>
          <a:p>
            <a:pPr marL="0" indent="0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4) </a:t>
            </a:r>
            <a:r>
              <a:rPr lang="en-US" sz="2000" b="1" dirty="0" smtClean="0"/>
              <a:t>Cord Care</a:t>
            </a:r>
          </a:p>
          <a:p>
            <a:r>
              <a:rPr lang="en-US" sz="2000" dirty="0" smtClean="0"/>
              <a:t>Keep the umbilical stump </a:t>
            </a:r>
            <a:r>
              <a:rPr lang="en-US" sz="2000" b="1" dirty="0" smtClean="0"/>
              <a:t>clean and dry</a:t>
            </a:r>
            <a:endParaRPr lang="en-US" sz="2000" dirty="0" smtClean="0"/>
          </a:p>
          <a:p>
            <a:r>
              <a:rPr lang="en-US" sz="2000" dirty="0" smtClean="0"/>
              <a:t>Use </a:t>
            </a:r>
            <a:r>
              <a:rPr lang="en-US" sz="2000" b="1" dirty="0" smtClean="0"/>
              <a:t>dry cord care</a:t>
            </a:r>
            <a:r>
              <a:rPr lang="en-US" sz="2000" dirty="0" smtClean="0"/>
              <a:t> unless </a:t>
            </a:r>
            <a:r>
              <a:rPr lang="en-US" sz="2000" dirty="0" err="1" smtClean="0"/>
              <a:t>chlorhexidine</a:t>
            </a:r>
            <a:r>
              <a:rPr lang="en-US" sz="2000" dirty="0" smtClean="0"/>
              <a:t> is indicated (in high infection-risk settings)</a:t>
            </a:r>
          </a:p>
          <a:p>
            <a:r>
              <a:rPr lang="en-US" sz="2000" dirty="0" smtClean="0"/>
              <a:t>Avoid applying harmful substances (e.g., ashes, oils, powders).</a:t>
            </a:r>
          </a:p>
          <a:p>
            <a:pPr marL="0" indent="0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5) Monitoring of Elimination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Monitor:</a:t>
            </a:r>
          </a:p>
          <a:p>
            <a:pPr lvl="1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Urine output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(first pee usually within 24 hours)</a:t>
            </a:r>
          </a:p>
          <a:p>
            <a:pPr lvl="1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Stool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First meconium within 24–48 hours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Regular urination and stool indicate proper feeding and hydration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25C94-0F3C-49D7-B83E-044878EC38F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815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734" y="463463"/>
            <a:ext cx="11241066" cy="5713500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6) Immunizations at Birth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Administer according to national schedule:</a:t>
            </a:r>
          </a:p>
          <a:p>
            <a:pPr lvl="1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BCG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(for tuberculosis)</a:t>
            </a:r>
          </a:p>
          <a:p>
            <a:pPr lvl="1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Hepatitis B vaccine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Oral Polio Vaccine (OPV 0)</a:t>
            </a:r>
            <a:b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7) Screening and Preventive Care</a:t>
            </a: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Eye care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(e.g., prophylaxis against gonorrheal infection)</a:t>
            </a: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Vitamin K injection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prevent bleeding disorders</a:t>
            </a: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Newborn screening tests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(e.g., metabolic, hearing, congenital hypothyroidism) where available.</a:t>
            </a:r>
          </a:p>
          <a:p>
            <a:pPr marL="457200" lvl="1" indent="0"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25C94-0F3C-49D7-B83E-044878EC38F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9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3260065"/>
              </p:ext>
            </p:extLst>
          </p:nvPr>
        </p:nvGraphicFramePr>
        <p:xfrm>
          <a:off x="501041" y="450937"/>
          <a:ext cx="10396603" cy="5726027"/>
        </p:xfrm>
        <a:graphic>
          <a:graphicData uri="http://schemas.openxmlformats.org/drawingml/2006/table">
            <a:tbl>
              <a:tblPr/>
              <a:tblGrid>
                <a:gridCol w="1485229"/>
                <a:gridCol w="1485229"/>
                <a:gridCol w="1485229"/>
                <a:gridCol w="1485229"/>
                <a:gridCol w="1485229"/>
                <a:gridCol w="1485229"/>
                <a:gridCol w="1485229"/>
              </a:tblGrid>
              <a:tr h="622395">
                <a:tc>
                  <a:txBody>
                    <a:bodyPr/>
                    <a:lstStyle/>
                    <a:p>
                      <a:r>
                        <a:rPr lang="en-US" sz="900" b="1"/>
                        <a:t>Vaccine Name</a:t>
                      </a:r>
                      <a:endParaRPr lang="en-US" sz="900"/>
                    </a:p>
                  </a:txBody>
                  <a:tcPr marL="47297" marR="47297" marT="23649" marB="23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Disease Prevented</a:t>
                      </a:r>
                      <a:endParaRPr lang="en-US" sz="900"/>
                    </a:p>
                  </a:txBody>
                  <a:tcPr marL="47297" marR="47297" marT="23649" marB="23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Dose</a:t>
                      </a:r>
                      <a:endParaRPr lang="en-US" sz="900"/>
                    </a:p>
                  </a:txBody>
                  <a:tcPr marL="47297" marR="47297" marT="23649" marB="23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Route of Administration</a:t>
                      </a:r>
                      <a:endParaRPr lang="en-US" sz="900"/>
                    </a:p>
                  </a:txBody>
                  <a:tcPr marL="47297" marR="47297" marT="23649" marB="23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Site</a:t>
                      </a:r>
                      <a:endParaRPr lang="en-US" sz="900"/>
                    </a:p>
                  </a:txBody>
                  <a:tcPr marL="47297" marR="47297" marT="23649" marB="23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Timing</a:t>
                      </a:r>
                      <a:endParaRPr lang="en-US" sz="900"/>
                    </a:p>
                  </a:txBody>
                  <a:tcPr marL="47297" marR="47297" marT="23649" marB="23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Notes</a:t>
                      </a:r>
                      <a:endParaRPr lang="en-US" sz="900"/>
                    </a:p>
                  </a:txBody>
                  <a:tcPr marL="47297" marR="47297" marT="23649" marB="23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55985">
                <a:tc>
                  <a:txBody>
                    <a:bodyPr/>
                    <a:lstStyle/>
                    <a:p>
                      <a:r>
                        <a:rPr lang="en-US" sz="900" b="1"/>
                        <a:t>BCG</a:t>
                      </a:r>
                      <a:endParaRPr lang="en-US" sz="900"/>
                    </a:p>
                  </a:txBody>
                  <a:tcPr marL="47297" marR="47297" marT="23649" marB="23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Tuberculosis (especially severe forms like TB meningitis)</a:t>
                      </a:r>
                    </a:p>
                  </a:txBody>
                  <a:tcPr marL="47297" marR="47297" marT="23649" marB="23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1 dose</a:t>
                      </a:r>
                    </a:p>
                  </a:txBody>
                  <a:tcPr marL="47297" marR="47297" marT="23649" marB="23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Intradermal</a:t>
                      </a:r>
                    </a:p>
                  </a:txBody>
                  <a:tcPr marL="47297" marR="47297" marT="23649" marB="23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Left upper arm</a:t>
                      </a:r>
                    </a:p>
                  </a:txBody>
                  <a:tcPr marL="47297" marR="47297" marT="23649" marB="23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At birth (or as soon as possible within 2 weeks)</a:t>
                      </a:r>
                    </a:p>
                  </a:txBody>
                  <a:tcPr marL="47297" marR="47297" marT="23649" marB="23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Scar formation is common. Not given if baby has symptomatic HIV or is severely ill.</a:t>
                      </a:r>
                    </a:p>
                  </a:txBody>
                  <a:tcPr marL="47297" marR="47297" marT="23649" marB="23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82549">
                <a:tc>
                  <a:txBody>
                    <a:bodyPr/>
                    <a:lstStyle/>
                    <a:p>
                      <a:r>
                        <a:rPr lang="en-US" sz="900" b="1"/>
                        <a:t>Hepatitis B (HepB)</a:t>
                      </a:r>
                      <a:endParaRPr lang="en-US" sz="900"/>
                    </a:p>
                  </a:txBody>
                  <a:tcPr marL="47297" marR="47297" marT="23649" marB="23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Hepatitis B virus</a:t>
                      </a:r>
                    </a:p>
                  </a:txBody>
                  <a:tcPr marL="47297" marR="47297" marT="23649" marB="23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1st dose (birth dose)</a:t>
                      </a:r>
                    </a:p>
                  </a:txBody>
                  <a:tcPr marL="47297" marR="47297" marT="23649" marB="23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Intramuscular</a:t>
                      </a:r>
                    </a:p>
                  </a:txBody>
                  <a:tcPr marL="47297" marR="47297" marT="23649" marB="23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Right thigh (anterolateral)</a:t>
                      </a:r>
                    </a:p>
                  </a:txBody>
                  <a:tcPr marL="47297" marR="47297" marT="23649" marB="23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Within 24 hours of birth</a:t>
                      </a:r>
                    </a:p>
                  </a:txBody>
                  <a:tcPr marL="47297" marR="47297" marT="23649" marB="23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Critical to prevent mother-to-child transmission of Hep B.</a:t>
                      </a:r>
                    </a:p>
                  </a:txBody>
                  <a:tcPr marL="47297" marR="47297" marT="23649" marB="23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82549">
                <a:tc>
                  <a:txBody>
                    <a:bodyPr/>
                    <a:lstStyle/>
                    <a:p>
                      <a:r>
                        <a:rPr lang="it-IT" sz="900" b="1"/>
                        <a:t>Oral Polio Vaccine (OPV 0)</a:t>
                      </a:r>
                      <a:endParaRPr lang="it-IT" sz="900"/>
                    </a:p>
                  </a:txBody>
                  <a:tcPr marL="47297" marR="47297" marT="23649" marB="23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Poliomyelitis</a:t>
                      </a:r>
                    </a:p>
                  </a:txBody>
                  <a:tcPr marL="47297" marR="47297" marT="23649" marB="23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0 dose (not counted in series)</a:t>
                      </a:r>
                    </a:p>
                  </a:txBody>
                  <a:tcPr marL="47297" marR="47297" marT="23649" marB="23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Oral (drops)</a:t>
                      </a:r>
                    </a:p>
                  </a:txBody>
                  <a:tcPr marL="47297" marR="47297" marT="23649" marB="23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Mouth</a:t>
                      </a:r>
                    </a:p>
                  </a:txBody>
                  <a:tcPr marL="47297" marR="47297" marT="23649" marB="23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At birth (or within 2 weeks)</a:t>
                      </a:r>
                    </a:p>
                  </a:txBody>
                  <a:tcPr marL="47297" marR="47297" marT="23649" marB="23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Boosts mucosal immunity; part of polio eradication efforts.</a:t>
                      </a:r>
                    </a:p>
                  </a:txBody>
                  <a:tcPr marL="47297" marR="47297" marT="23649" marB="23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82549">
                <a:tc>
                  <a:txBody>
                    <a:bodyPr/>
                    <a:lstStyle/>
                    <a:p>
                      <a:r>
                        <a:rPr lang="en-US" sz="900" i="1"/>
                        <a:t>(Optional in some countries)</a:t>
                      </a:r>
                      <a:r>
                        <a:rPr lang="en-US" sz="900"/>
                        <a:t> </a:t>
                      </a:r>
                      <a:r>
                        <a:rPr lang="en-US" sz="900" b="1"/>
                        <a:t>Vitamin K injection</a:t>
                      </a:r>
                      <a:endParaRPr lang="en-US" sz="900"/>
                    </a:p>
                  </a:txBody>
                  <a:tcPr marL="47297" marR="47297" marT="23649" marB="23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Prevents bleeding disorders</a:t>
                      </a:r>
                    </a:p>
                  </a:txBody>
                  <a:tcPr marL="47297" marR="47297" marT="23649" marB="23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1 dose</a:t>
                      </a:r>
                    </a:p>
                  </a:txBody>
                  <a:tcPr marL="47297" marR="47297" marT="23649" marB="23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Intramuscular</a:t>
                      </a:r>
                    </a:p>
                  </a:txBody>
                  <a:tcPr marL="47297" marR="47297" marT="23649" marB="23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Left thigh</a:t>
                      </a:r>
                    </a:p>
                  </a:txBody>
                  <a:tcPr marL="47297" marR="47297" marT="23649" marB="23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Within 1 hour of birth</a:t>
                      </a:r>
                    </a:p>
                  </a:txBody>
                  <a:tcPr marL="47297" marR="47297" marT="23649" marB="23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Not a vaccine, but essential to prevent hemorrhagic disease of the newborn.</a:t>
                      </a:r>
                    </a:p>
                  </a:txBody>
                  <a:tcPr marL="47297" marR="47297" marT="23649" marB="23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25C94-0F3C-49D7-B83E-044878EC38F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772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3694407"/>
              </p:ext>
            </p:extLst>
          </p:nvPr>
        </p:nvGraphicFramePr>
        <p:xfrm>
          <a:off x="563670" y="764088"/>
          <a:ext cx="11298480" cy="5383492"/>
        </p:xfrm>
        <a:graphic>
          <a:graphicData uri="http://schemas.openxmlformats.org/drawingml/2006/table">
            <a:tbl>
              <a:tblPr/>
              <a:tblGrid>
                <a:gridCol w="2824620"/>
                <a:gridCol w="2824620"/>
                <a:gridCol w="2824620"/>
                <a:gridCol w="2824620"/>
              </a:tblGrid>
              <a:tr h="370940">
                <a:tc>
                  <a:txBody>
                    <a:bodyPr/>
                    <a:lstStyle/>
                    <a:p>
                      <a:r>
                        <a:rPr lang="en-US" sz="1500" b="1" dirty="0"/>
                        <a:t>Vaccine</a:t>
                      </a:r>
                      <a:endParaRPr lang="en-US" sz="1500" dirty="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/>
                        <a:t>Recommended Time</a:t>
                      </a:r>
                      <a:endParaRPr lang="en-US" sz="15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/>
                        <a:t>Latest Acceptable Time</a:t>
                      </a:r>
                      <a:endParaRPr lang="en-US" sz="15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/>
                        <a:t>Notes</a:t>
                      </a:r>
                      <a:endParaRPr lang="en-US" sz="15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12313">
                <a:tc>
                  <a:txBody>
                    <a:bodyPr/>
                    <a:lstStyle/>
                    <a:p>
                      <a:r>
                        <a:rPr lang="en-US" sz="1500" b="1" dirty="0"/>
                        <a:t>BCG</a:t>
                      </a:r>
                      <a:endParaRPr lang="en-US" sz="1500" dirty="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At birth (within 24 hours)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Ideally </a:t>
                      </a:r>
                      <a:r>
                        <a:rPr lang="en-US" sz="1500" b="1"/>
                        <a:t>within 2 weeks</a:t>
                      </a:r>
                      <a:r>
                        <a:rPr lang="en-US" sz="1500"/>
                        <a:t>, acceptable up to </a:t>
                      </a:r>
                      <a:r>
                        <a:rPr lang="en-US" sz="1500" b="1"/>
                        <a:t>12 months</a:t>
                      </a:r>
                      <a:r>
                        <a:rPr lang="en-US" sz="1500"/>
                        <a:t> if not previously given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Delayed in sick/preterm babies. Not given if signs of immunodeficiency (e.g., symptomatic HIV).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47711">
                <a:tc>
                  <a:txBody>
                    <a:bodyPr/>
                    <a:lstStyle/>
                    <a:p>
                      <a:r>
                        <a:rPr lang="en-US" sz="1500" b="1" dirty="0"/>
                        <a:t>Hepatitis B (birth dose)</a:t>
                      </a:r>
                      <a:endParaRPr lang="en-US" sz="1500" dirty="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Within </a:t>
                      </a:r>
                      <a:r>
                        <a:rPr lang="en-US" sz="1500" b="1"/>
                        <a:t>24 hours of birth</a:t>
                      </a:r>
                      <a:endParaRPr lang="en-US" sz="15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/>
                        <a:t>Within 7 days</a:t>
                      </a:r>
                      <a:r>
                        <a:rPr lang="en-US" sz="1500"/>
                        <a:t> (preferably ≤24 hrs)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Giving it beyond 24 hrs </a:t>
                      </a:r>
                      <a:r>
                        <a:rPr lang="en-US" sz="1500" b="1"/>
                        <a:t>reduces protection</a:t>
                      </a:r>
                      <a:r>
                        <a:rPr lang="en-US" sz="1500"/>
                        <a:t> against mother-to-child transmission but still beneficial up to 7 days.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76264">
                <a:tc>
                  <a:txBody>
                    <a:bodyPr/>
                    <a:lstStyle/>
                    <a:p>
                      <a:r>
                        <a:rPr lang="it-IT" sz="1500" b="1"/>
                        <a:t>OPV 0 (Oral Polio Vaccine)</a:t>
                      </a:r>
                      <a:endParaRPr lang="it-IT" sz="15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At birth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Up to </a:t>
                      </a:r>
                      <a:r>
                        <a:rPr lang="en-US" sz="1500" b="1"/>
                        <a:t>14 days of age</a:t>
                      </a:r>
                      <a:endParaRPr lang="en-US" sz="15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After 14 days, skip OPV 0 and follow routine OPV schedule (at 6, 10, 14 weeks).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76264">
                <a:tc>
                  <a:txBody>
                    <a:bodyPr/>
                    <a:lstStyle/>
                    <a:p>
                      <a:r>
                        <a:rPr lang="en-US" sz="1500" b="1"/>
                        <a:t>Vitamin K (injection)</a:t>
                      </a:r>
                      <a:endParaRPr lang="en-US" sz="15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Within </a:t>
                      </a:r>
                      <a:r>
                        <a:rPr lang="en-US" sz="1500" b="1"/>
                        <a:t>1 hour</a:t>
                      </a:r>
                      <a:r>
                        <a:rPr lang="en-US" sz="1500"/>
                        <a:t> after birth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/>
                        <a:t>Up to 7 days</a:t>
                      </a:r>
                      <a:r>
                        <a:rPr lang="en-US" sz="1500"/>
                        <a:t>, IM preferred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If missed, </a:t>
                      </a:r>
                      <a:r>
                        <a:rPr lang="en-US" sz="1500" b="1" dirty="0"/>
                        <a:t>oral vitamin K</a:t>
                      </a:r>
                      <a:r>
                        <a:rPr lang="en-US" sz="1500" dirty="0"/>
                        <a:t> can be given (varies by setting), though less effective.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25C94-0F3C-49D7-B83E-044878EC38F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932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77655" y="776614"/>
            <a:ext cx="8116866" cy="5699341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25C94-0F3C-49D7-B83E-044878EC38F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973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c) Health systems &amp; Health promotion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Ensure at least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24-hour stay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after an uncomplicated vaginal delivery.</a:t>
            </a: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Conduct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discharge assessments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before sending mother and baby home.</a:t>
            </a: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Provide clear, culturally appropriate instructions on:</a:t>
            </a:r>
          </a:p>
          <a:p>
            <a:pPr lvl="1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Danger signs</a:t>
            </a:r>
          </a:p>
          <a:p>
            <a:pPr lvl="1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Breastfeeding</a:t>
            </a:r>
          </a:p>
          <a:p>
            <a:pPr lvl="1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Newborn care</a:t>
            </a:r>
          </a:p>
          <a:p>
            <a:pPr lvl="1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and where to return for follow-up</a:t>
            </a: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Ensure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continuity of care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after discharge (via referrals or home visits).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25C94-0F3C-49D7-B83E-044878EC38F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293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1091" y="1942306"/>
            <a:ext cx="12539608" cy="782184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25C94-0F3C-49D7-B83E-044878EC38F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859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</TotalTime>
  <Words>1226</Words>
  <Application>Microsoft Office PowerPoint</Application>
  <PresentationFormat>Widescreen</PresentationFormat>
  <Paragraphs>221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Introduction</vt:lpstr>
      <vt:lpstr>PowerPoint Presentation</vt:lpstr>
      <vt:lpstr>Core Components of Quality Postnatal Care</vt:lpstr>
      <vt:lpstr>A) Maternal Care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B) Newborn Care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c) Health systems &amp; Health promotion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18</cp:revision>
  <dcterms:created xsi:type="dcterms:W3CDTF">2025-09-08T16:12:07Z</dcterms:created>
  <dcterms:modified xsi:type="dcterms:W3CDTF">2025-09-08T17:32:47Z</dcterms:modified>
</cp:coreProperties>
</file>