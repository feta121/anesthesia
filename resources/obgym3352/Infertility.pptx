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87" r:id="rId3"/>
    <p:sldId id="257" r:id="rId4"/>
    <p:sldId id="314" r:id="rId5"/>
    <p:sldId id="269" r:id="rId6"/>
    <p:sldId id="260" r:id="rId7"/>
    <p:sldId id="297" r:id="rId8"/>
    <p:sldId id="274" r:id="rId9"/>
    <p:sldId id="298" r:id="rId10"/>
    <p:sldId id="299" r:id="rId11"/>
    <p:sldId id="313" r:id="rId12"/>
    <p:sldId id="306" r:id="rId13"/>
    <p:sldId id="364" r:id="rId14"/>
    <p:sldId id="365" r:id="rId15"/>
    <p:sldId id="300" r:id="rId16"/>
    <p:sldId id="286" r:id="rId17"/>
    <p:sldId id="405" r:id="rId18"/>
    <p:sldId id="389" r:id="rId19"/>
    <p:sldId id="395" r:id="rId20"/>
    <p:sldId id="284" r:id="rId21"/>
    <p:sldId id="258" r:id="rId22"/>
    <p:sldId id="261" r:id="rId23"/>
    <p:sldId id="363" r:id="rId24"/>
    <p:sldId id="262" r:id="rId25"/>
    <p:sldId id="263" r:id="rId26"/>
    <p:sldId id="264" r:id="rId27"/>
    <p:sldId id="265" r:id="rId28"/>
    <p:sldId id="266" r:id="rId29"/>
    <p:sldId id="372" r:id="rId30"/>
    <p:sldId id="270" r:id="rId31"/>
    <p:sldId id="271" r:id="rId32"/>
    <p:sldId id="272" r:id="rId33"/>
    <p:sldId id="308" r:id="rId34"/>
    <p:sldId id="309" r:id="rId35"/>
    <p:sldId id="310" r:id="rId36"/>
    <p:sldId id="267" r:id="rId37"/>
    <p:sldId id="373" r:id="rId38"/>
    <p:sldId id="374" r:id="rId39"/>
    <p:sldId id="384" r:id="rId40"/>
    <p:sldId id="385" r:id="rId41"/>
    <p:sldId id="396" r:id="rId42"/>
    <p:sldId id="315" r:id="rId43"/>
    <p:sldId id="316" r:id="rId44"/>
    <p:sldId id="317" r:id="rId45"/>
    <p:sldId id="40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3490" autoAdjust="0"/>
  </p:normalViewPr>
  <p:slideViewPr>
    <p:cSldViewPr>
      <p:cViewPr varScale="1">
        <p:scale>
          <a:sx n="69" d="100"/>
          <a:sy n="69" d="100"/>
        </p:scale>
        <p:origin x="69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726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D468A-0E18-4995-AB54-2EA07EFFF6F2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044BB-B0D1-46E1-9444-0B9E74CF40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7333A-9260-4856-9A99-71217A27B6D2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081C-AE99-40C7-A8DB-34FEE4828EC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E6842-162E-4B73-BF42-1BED4547B0B8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7D7B3-AE83-4B2D-A377-1BBDFA4DED11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B851-F87B-4638-8F51-F50CECCEBAF3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2D69-BD63-4528-AFC4-86BC1C36A372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0B3A-AC81-4EB9-9DAF-BC5D6F6F00EA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1BC-9263-4E4A-8116-3596B12693D6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03C04-B03C-4A42-84F4-9E6E70D19027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6545-0712-4DBA-9451-5492A2CD694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5D35-6C6B-4E0E-997B-95846AE6348B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7D7D5-C9A2-4FE9-B5E8-F989C3F95DA2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 Geremew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C2563-6B44-4F2B-936D-8B12E5BC33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3728" y="3068960"/>
            <a:ext cx="4571392" cy="1064712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am-ET" sz="6000" dirty="0">
                <a:latin typeface="ተ"/>
                <a:cs typeface="Times New Roman" panose="02020603050405020304" pitchFamily="18" charset="0"/>
              </a:rPr>
              <a:t>NFERTILITY </a:t>
            </a:r>
            <a:endParaRPr lang="en-US" sz="6000" dirty="0">
              <a:latin typeface="ተ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5517232"/>
            <a:ext cx="4960640" cy="819522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Dr </a:t>
            </a:r>
            <a:r>
              <a:rPr lang="en-US" dirty="0" err="1">
                <a:solidFill>
                  <a:schemeClr val="tx1"/>
                </a:solidFill>
              </a:rPr>
              <a:t>Geremew</a:t>
            </a:r>
            <a:r>
              <a:rPr lang="en-US" dirty="0">
                <a:solidFill>
                  <a:schemeClr val="tx1"/>
                </a:solidFill>
              </a:rPr>
              <a:t> - </a:t>
            </a:r>
            <a:r>
              <a:rPr lang="en-US" dirty="0" err="1">
                <a:solidFill>
                  <a:schemeClr val="tx1"/>
                </a:solidFill>
              </a:rPr>
              <a:t>OB-Gyn</a:t>
            </a:r>
            <a:r>
              <a:rPr lang="en-US" dirty="0">
                <a:solidFill>
                  <a:schemeClr val="tx1"/>
                </a:solidFill>
              </a:rPr>
              <a:t> R3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                   SEP 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am-ET" dirty="0">
                <a:cs typeface="Times New Roman" panose="02020603050405020304" pitchFamily="18" charset="0"/>
              </a:rPr>
              <a:t>utline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am-ET" dirty="0">
                <a:cs typeface="Times New Roman" panose="02020603050405020304" pitchFamily="18" charset="0"/>
              </a:rPr>
              <a:t>efinition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Examination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Workup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approaches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am-ET" dirty="0"/>
              <a:t>DEFINITIONS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000768"/>
          </a:xfrm>
        </p:spPr>
        <p:txBody>
          <a:bodyPr>
            <a:normAutofit fontScale="85000" lnSpcReduction="10000"/>
          </a:bodyPr>
          <a:lstStyle/>
          <a:p>
            <a:pPr>
              <a:buNone/>
              <a:defRPr/>
            </a:pPr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INFERTILITY</a:t>
            </a:r>
            <a:r>
              <a:rPr lang="am-ET" b="1" i="1" dirty="0">
                <a:cs typeface="Times New Roman" panose="02020603050405020304" pitchFamily="18" charset="0"/>
              </a:rPr>
              <a:t>-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inability to conceive after 1 year of unprotected intercourse of reasonable frequency.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affects 10 to 15% of reproductive-aged couples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infertility</a:t>
            </a:r>
            <a:r>
              <a:rPr lang="am-ET" dirty="0"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prior pregnancies, and</a:t>
            </a: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infertility</a:t>
            </a:r>
            <a:r>
              <a:rPr lang="am-ET" b="1" dirty="0"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infertility following at least one prior conception.</a:t>
            </a:r>
            <a:endParaRPr lang="am-ET" dirty="0"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couples will ultimately conceive if given enough time.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SUBFERTILE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infertile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concept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subfertility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reassuring to couples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those attempting conception, approximately 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50 % of women will be pregnant at 3 months, 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 will be pregnant at 6 months, and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85% will be pregnant by 1 year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Guttmacher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1956; Mosher, 1991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m-ET" b="1" i="1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lvl="1"/>
            <a:endParaRPr lang="am-ET" dirty="0">
              <a:cs typeface="Times New Roman" panose="02020603050405020304" pitchFamily="18" charset="0"/>
            </a:endParaRPr>
          </a:p>
          <a:p>
            <a:pPr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 </a:t>
            </a:r>
            <a:r>
              <a:rPr lang="en-US" dirty="0" err="1"/>
              <a:t>Geremew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 dirty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FECUNDABILITY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ability to conceive, </a:t>
            </a:r>
            <a:endParaRPr lang="am-ET" sz="2800" dirty="0"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large population studies have shown a monthly probability of conceiving of 20 to 25 </a:t>
            </a:r>
            <a:r>
              <a:rPr lang="am-ET" dirty="0"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m-ET" b="1" dirty="0">
              <a:cs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Fecundity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m-ET" sz="2800" dirty="0"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probability that a single  menstrual cycle will result in a live birth</a:t>
            </a:r>
            <a:endParaRPr lang="am-ET" sz="2800" dirty="0">
              <a:cs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STERILITY: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</a:t>
            </a:r>
            <a:r>
              <a:rPr lang="am-ET" sz="2800" dirty="0">
                <a:cs typeface="Times New Roman" panose="02020603050405020304" pitchFamily="18" charset="0"/>
              </a:rPr>
              <a:t> becom</a:t>
            </a:r>
            <a:r>
              <a:rPr lang="en-US" sz="2800" dirty="0">
                <a:cs typeface="Times New Roman" panose="02020603050405020304" pitchFamily="18" charset="0"/>
              </a:rPr>
              <a:t>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be induced to become pregnant or to induce</a:t>
            </a:r>
            <a:r>
              <a:rPr lang="am-ET" sz="2800" dirty="0"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pregnancy</a:t>
            </a:r>
            <a:endParaRPr lang="am-ET" sz="2800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haroni" pitchFamily="2" charset="-79"/>
                <a:cs typeface="Aharoni" pitchFamily="2" charset="-79"/>
              </a:rPr>
              <a:t>Etiology 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28596" y="1285860"/>
            <a:ext cx="4038600" cy="534036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3200" b="1" dirty="0">
                <a:solidFill>
                  <a:srgbClr val="C00000"/>
                </a:solidFill>
              </a:rPr>
              <a:t>Female infertility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 err="1"/>
              <a:t>Ovulatory</a:t>
            </a:r>
            <a:r>
              <a:rPr lang="en-US" dirty="0"/>
              <a:t> Dysfunction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Tubal /Peritoneal Factor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Uterine Factor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Cervical Factors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Vaginal Factors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Chronic systemic diseases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Social personal habit(illicit drugs)</a:t>
            </a:r>
          </a:p>
          <a:p>
            <a:pPr eaLnBrk="1" hangingPunct="1">
              <a:lnSpc>
                <a:spcPct val="90000"/>
              </a:lnSpc>
              <a:buFont typeface="Arial" charset="0"/>
              <a:buBlip>
                <a:blip r:embed="rId2"/>
              </a:buBlip>
            </a:pPr>
            <a:r>
              <a:rPr lang="en-US" dirty="0"/>
              <a:t>Unexplained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57298"/>
            <a:ext cx="4038600" cy="4768865"/>
          </a:xfrm>
        </p:spPr>
        <p:txBody>
          <a:bodyPr rtlCol="0">
            <a:normAutofit/>
          </a:bodyPr>
          <a:lstStyle/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   </a:t>
            </a:r>
            <a:r>
              <a:rPr lang="en-US" sz="3200" b="1" dirty="0">
                <a:solidFill>
                  <a:srgbClr val="C00000"/>
                </a:solidFill>
              </a:rPr>
              <a:t>Male factors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Blip>
                <a:blip r:embed="rId3"/>
              </a:buBlip>
              <a:defRPr/>
            </a:pPr>
            <a:r>
              <a:rPr lang="en-US" sz="3200" dirty="0"/>
              <a:t>Pre-testicular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Blip>
                <a:blip r:embed="rId3"/>
              </a:buBlip>
              <a:defRPr/>
            </a:pPr>
            <a:r>
              <a:rPr lang="en-US" sz="3200" dirty="0"/>
              <a:t>Testicular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Blip>
                <a:blip r:embed="rId3"/>
              </a:buBlip>
              <a:defRPr/>
            </a:pPr>
            <a:r>
              <a:rPr lang="en-US" sz="3200" dirty="0"/>
              <a:t>Post-testicular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Blip>
                <a:blip r:embed="rId3"/>
              </a:buBlip>
              <a:defRPr/>
            </a:pPr>
            <a:r>
              <a:rPr lang="en-US" sz="3200" dirty="0"/>
              <a:t>Idiopathic 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Blip>
                <a:blip r:embed="rId3"/>
              </a:buBlip>
              <a:defRPr/>
            </a:pPr>
            <a:endParaRPr lang="en-US" sz="3200" dirty="0"/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b="1" dirty="0">
              <a:solidFill>
                <a:srgbClr val="C00000"/>
              </a:solidFill>
            </a:endParaRPr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Etiology of Infertility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US" dirty="0"/>
              <a:t>Male factor-------25%</a:t>
            </a:r>
          </a:p>
          <a:p>
            <a:r>
              <a:rPr lang="en-US" dirty="0" err="1"/>
              <a:t>Ovulatory</a:t>
            </a:r>
            <a:r>
              <a:rPr lang="en-US" dirty="0"/>
              <a:t>----------27%</a:t>
            </a:r>
          </a:p>
          <a:p>
            <a:r>
              <a:rPr lang="en-US" dirty="0"/>
              <a:t>Tubal/ uterine----22%</a:t>
            </a:r>
          </a:p>
          <a:p>
            <a:r>
              <a:rPr lang="en-US" dirty="0"/>
              <a:t>Other---------------9%</a:t>
            </a:r>
          </a:p>
          <a:p>
            <a:r>
              <a:rPr lang="en-US" dirty="0"/>
              <a:t>Unexplained------17%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am-ET" b="1" dirty="0"/>
            </a:br>
            <a:r>
              <a:rPr lang="en-US" b="1" dirty="0" err="1"/>
              <a:t>Ovulatory</a:t>
            </a:r>
            <a:r>
              <a:rPr lang="en-US" b="1" dirty="0"/>
              <a:t> Dysfunction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Hypothalamic Disorders</a:t>
            </a:r>
          </a:p>
          <a:p>
            <a:r>
              <a:rPr lang="en-US" dirty="0"/>
              <a:t>Anterior pituitary disorders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O</a:t>
            </a:r>
            <a:r>
              <a:rPr lang="am-ET" dirty="0"/>
              <a:t>varian Abnormalities</a:t>
            </a:r>
          </a:p>
          <a:p>
            <a:pPr lvl="1"/>
            <a:r>
              <a:rPr lang="en-US" dirty="0"/>
              <a:t>Premature Ovarian Failure (POF)</a:t>
            </a:r>
            <a:endParaRPr lang="am-ET" dirty="0"/>
          </a:p>
          <a:p>
            <a:pPr lvl="1"/>
            <a:r>
              <a:rPr lang="en-US" dirty="0"/>
              <a:t>Androgen excess</a:t>
            </a:r>
            <a:endParaRPr lang="en-US" sz="2400" dirty="0"/>
          </a:p>
          <a:p>
            <a:pPr lvl="2"/>
            <a:r>
              <a:rPr lang="en-US" dirty="0"/>
              <a:t>Polycystic ovarian syndrome</a:t>
            </a:r>
            <a:endParaRPr lang="en-US" sz="2000" dirty="0"/>
          </a:p>
          <a:p>
            <a:pPr lvl="2"/>
            <a:r>
              <a:rPr lang="en-US" dirty="0" err="1"/>
              <a:t>Nonclassic</a:t>
            </a:r>
            <a:r>
              <a:rPr lang="en-US" dirty="0"/>
              <a:t> congenital adrenal hyperplasia</a:t>
            </a:r>
            <a:endParaRPr lang="en-US" sz="2000" dirty="0"/>
          </a:p>
          <a:p>
            <a:pPr lvl="2"/>
            <a:r>
              <a:rPr lang="en-US" dirty="0"/>
              <a:t>Androgen-secreting tumors</a:t>
            </a:r>
            <a:r>
              <a:rPr lang="am-ET" dirty="0"/>
              <a:t> NMS</a:t>
            </a:r>
            <a:endParaRPr lang="en-US" sz="2000" dirty="0"/>
          </a:p>
          <a:p>
            <a:pPr lvl="1"/>
            <a:r>
              <a:rPr lang="en-US" i="1" dirty="0"/>
              <a:t>Decreased ovarian reserve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Ovulatory</a:t>
            </a:r>
            <a:r>
              <a:rPr lang="en-US" b="1" dirty="0"/>
              <a:t> Dysfunction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8686800" cy="5857892"/>
          </a:xfrm>
        </p:spPr>
        <p:txBody>
          <a:bodyPr/>
          <a:lstStyle/>
          <a:p>
            <a:pPr>
              <a:buNone/>
            </a:pPr>
            <a:r>
              <a:rPr lang="en-US" u="sng" dirty="0"/>
              <a:t>1. Hypothalamic Disorders</a:t>
            </a:r>
          </a:p>
          <a:p>
            <a:pPr lvl="1">
              <a:buNone/>
            </a:pPr>
            <a:r>
              <a:rPr lang="en-US" dirty="0"/>
              <a:t> result in </a:t>
            </a:r>
            <a:r>
              <a:rPr lang="en-US" dirty="0" err="1"/>
              <a:t>Hypogonadotropic</a:t>
            </a:r>
            <a:r>
              <a:rPr lang="en-US" dirty="0"/>
              <a:t> </a:t>
            </a:r>
            <a:r>
              <a:rPr lang="en-US" dirty="0" err="1"/>
              <a:t>Hypogonadism</a:t>
            </a:r>
            <a:endParaRPr lang="en-US" dirty="0"/>
          </a:p>
          <a:p>
            <a:pPr lvl="1"/>
            <a:r>
              <a:rPr lang="en-US" dirty="0"/>
              <a:t>Acquired-</a:t>
            </a:r>
          </a:p>
          <a:p>
            <a:pPr lvl="2"/>
            <a:r>
              <a:rPr lang="en-US" dirty="0"/>
              <a:t> eating disorders, </a:t>
            </a:r>
            <a:endParaRPr lang="am-ET" dirty="0"/>
          </a:p>
          <a:p>
            <a:pPr lvl="2"/>
            <a:r>
              <a:rPr lang="en-US" dirty="0"/>
              <a:t>stress or </a:t>
            </a:r>
            <a:endParaRPr lang="am-ET" dirty="0"/>
          </a:p>
          <a:p>
            <a:pPr lvl="2"/>
            <a:r>
              <a:rPr lang="en-US" dirty="0"/>
              <a:t>extreme exercise</a:t>
            </a:r>
          </a:p>
          <a:p>
            <a:pPr lvl="1"/>
            <a:r>
              <a:rPr lang="en-US" dirty="0"/>
              <a:t>Inherited-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Kallmans</a:t>
            </a:r>
            <a:r>
              <a:rPr lang="en-US" dirty="0"/>
              <a:t> Syndrome/ idiopathic hypothalamic </a:t>
            </a:r>
            <a:r>
              <a:rPr lang="en-US" dirty="0" err="1"/>
              <a:t>hypogonadism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br>
              <a:rPr lang="am-ET" sz="3600" b="1" dirty="0"/>
            </a:br>
            <a:r>
              <a:rPr lang="en-US" sz="3600" b="1" dirty="0"/>
              <a:t>OVULATORY DYSFUNCTION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u="sng" dirty="0"/>
              <a:t>2.Anterior </a:t>
            </a:r>
            <a:r>
              <a:rPr lang="en-US" u="sng" dirty="0" err="1"/>
              <a:t>Pitutary</a:t>
            </a:r>
            <a:r>
              <a:rPr lang="am-ET" u="sng" dirty="0"/>
              <a:t> Disorders</a:t>
            </a:r>
            <a:endParaRPr lang="en-US" u="sng" dirty="0"/>
          </a:p>
          <a:p>
            <a:pPr lvl="1">
              <a:buNone/>
            </a:pPr>
            <a:r>
              <a:rPr lang="en-US" dirty="0"/>
              <a:t>Result in </a:t>
            </a:r>
            <a:r>
              <a:rPr lang="en-US" dirty="0" err="1"/>
              <a:t>Hypogonadotropic</a:t>
            </a:r>
            <a:r>
              <a:rPr lang="en-US" dirty="0"/>
              <a:t> </a:t>
            </a:r>
            <a:r>
              <a:rPr lang="en-US" dirty="0" err="1"/>
              <a:t>hypogonadism</a:t>
            </a:r>
            <a:endParaRPr lang="en-US" dirty="0"/>
          </a:p>
          <a:p>
            <a:pPr lvl="1"/>
            <a:r>
              <a:rPr lang="en-US" dirty="0"/>
              <a:t>Adenomas –</a:t>
            </a:r>
            <a:endParaRPr lang="am-ET" dirty="0"/>
          </a:p>
          <a:p>
            <a:pPr lvl="2"/>
            <a:r>
              <a:rPr lang="en-US" dirty="0"/>
              <a:t> most commonly </a:t>
            </a:r>
            <a:r>
              <a:rPr lang="en-US" dirty="0" err="1"/>
              <a:t>prolactinomas</a:t>
            </a:r>
            <a:endParaRPr lang="am-ET" dirty="0"/>
          </a:p>
          <a:p>
            <a:pPr lvl="2"/>
            <a:r>
              <a:rPr lang="en-US" dirty="0"/>
              <a:t>O</a:t>
            </a:r>
            <a:r>
              <a:rPr lang="am-ET" dirty="0"/>
              <a:t>thers that may compress gonadotropes or anterior P stalk</a:t>
            </a:r>
            <a:r>
              <a:rPr lang="en-US" dirty="0"/>
              <a:t> </a:t>
            </a:r>
            <a:endParaRPr lang="am-ET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am-ET" dirty="0">
                <a:solidFill>
                  <a:srgbClr val="FF0000"/>
                </a:solidFill>
              </a:rPr>
              <a:t>estruction by infiltrating tumors, sa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am-ET" dirty="0">
                <a:solidFill>
                  <a:srgbClr val="FF0000"/>
                </a:solidFill>
              </a:rPr>
              <a:t>coidosis, TB, inflammation</a:t>
            </a:r>
          </a:p>
          <a:p>
            <a:pPr lvl="0"/>
            <a:r>
              <a:rPr lang="en-US" i="1" dirty="0" err="1">
                <a:solidFill>
                  <a:srgbClr val="7030A0"/>
                </a:solidFill>
              </a:rPr>
              <a:t>Hyperprolactinemia</a:t>
            </a:r>
            <a:endParaRPr lang="en-US" sz="2800" i="1" dirty="0">
              <a:solidFill>
                <a:srgbClr val="7030A0"/>
              </a:solidFill>
            </a:endParaRPr>
          </a:p>
          <a:p>
            <a:pPr lvl="1"/>
            <a:r>
              <a:rPr lang="en-US" i="1" dirty="0">
                <a:solidFill>
                  <a:srgbClr val="7030A0"/>
                </a:solidFill>
              </a:rPr>
              <a:t>Medications (many medication classes, including antipsychotics that are dopamine receptor antagonists; a typical example is haloperidol)</a:t>
            </a:r>
            <a:endParaRPr lang="en-US" sz="2400" i="1" dirty="0">
              <a:solidFill>
                <a:srgbClr val="7030A0"/>
              </a:solidFill>
            </a:endParaRPr>
          </a:p>
          <a:p>
            <a:pPr lvl="1"/>
            <a:r>
              <a:rPr lang="en-US" i="1" dirty="0">
                <a:solidFill>
                  <a:srgbClr val="7030A0"/>
                </a:solidFill>
              </a:rPr>
              <a:t>Pituitary tumors</a:t>
            </a:r>
            <a:endParaRPr lang="en-US" sz="2400" i="1" dirty="0">
              <a:solidFill>
                <a:srgbClr val="7030A0"/>
              </a:solidFill>
            </a:endParaRPr>
          </a:p>
          <a:p>
            <a:pPr lvl="1"/>
            <a:r>
              <a:rPr lang="en-US" i="1" dirty="0">
                <a:solidFill>
                  <a:srgbClr val="7030A0"/>
                </a:solidFill>
              </a:rPr>
              <a:t>Hypothyroidism  (Increased </a:t>
            </a:r>
            <a:r>
              <a:rPr lang="en-US" i="1" dirty="0" err="1">
                <a:solidFill>
                  <a:srgbClr val="7030A0"/>
                </a:solidFill>
              </a:rPr>
              <a:t>thyrotropin</a:t>
            </a:r>
            <a:r>
              <a:rPr lang="en-US" i="1" dirty="0">
                <a:solidFill>
                  <a:srgbClr val="7030A0"/>
                </a:solidFill>
              </a:rPr>
              <a:t>-releasing hormone [TRH] secretion stimulates </a:t>
            </a:r>
            <a:r>
              <a:rPr lang="en-US" i="1" dirty="0" err="1">
                <a:solidFill>
                  <a:srgbClr val="7030A0"/>
                </a:solidFill>
              </a:rPr>
              <a:t>prolactin</a:t>
            </a:r>
            <a:r>
              <a:rPr lang="en-US" i="1" dirty="0">
                <a:solidFill>
                  <a:srgbClr val="7030A0"/>
                </a:solidFill>
              </a:rPr>
              <a:t> secretion.)</a:t>
            </a:r>
            <a:r>
              <a:rPr lang="am-ET" sz="2400" i="1" dirty="0">
                <a:solidFill>
                  <a:srgbClr val="7030A0"/>
                </a:solidFill>
              </a:rPr>
              <a:t> NMS</a:t>
            </a:r>
            <a:endParaRPr lang="en-US" i="1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br>
              <a:rPr lang="am-ET" b="1" dirty="0"/>
            </a:br>
            <a:r>
              <a:rPr lang="en-US" sz="3600" b="1" dirty="0"/>
              <a:t>OVULATORY DYSFUNCTION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/>
              <a:t>3. Ovarian abnormalities-</a:t>
            </a:r>
          </a:p>
          <a:p>
            <a:pPr marL="342900" lvl="1" indent="-342900">
              <a:buNone/>
            </a:pPr>
            <a:r>
              <a:rPr lang="en-US" b="1" dirty="0"/>
              <a:t>Premature Ovarian Failure (POF)- </a:t>
            </a:r>
            <a:r>
              <a:rPr lang="am-ET" dirty="0"/>
              <a:t>loss of ovarian function before 40</a:t>
            </a:r>
            <a:endParaRPr lang="en-US" dirty="0"/>
          </a:p>
          <a:p>
            <a:pPr marL="742950" lvl="2" indent="-342900"/>
            <a:r>
              <a:rPr lang="en-US" dirty="0"/>
              <a:t>A</a:t>
            </a:r>
            <a:r>
              <a:rPr lang="am-ET" dirty="0"/>
              <a:t>t 35 1/ 250   at 40 1/ 100 woman</a:t>
            </a:r>
          </a:p>
          <a:p>
            <a:pPr>
              <a:buNone/>
            </a:pPr>
            <a:r>
              <a:rPr lang="en-US" b="1" dirty="0">
                <a:sym typeface="Wingdings" pitchFamily="2" charset="2"/>
              </a:rPr>
              <a:t>POF </a:t>
            </a:r>
            <a:r>
              <a:rPr lang="en-US" dirty="0">
                <a:sym typeface="Wingdings" pitchFamily="2" charset="2"/>
              </a:rPr>
              <a:t>results in </a:t>
            </a:r>
            <a:r>
              <a:rPr lang="am-ET" dirty="0">
                <a:solidFill>
                  <a:srgbClr val="FF0000"/>
                </a:solidFill>
              </a:rPr>
              <a:t>Hypergonadotropic Hypogonadism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↑ LH, FSH, ↓ E, P</a:t>
            </a:r>
            <a:endParaRPr lang="en-US" dirty="0"/>
          </a:p>
          <a:p>
            <a:pPr lvl="1"/>
            <a:r>
              <a:rPr lang="am-ET" dirty="0"/>
              <a:t> menst irregularity,amenorrhoea, </a:t>
            </a:r>
          </a:p>
          <a:p>
            <a:pPr lvl="1"/>
            <a:r>
              <a:rPr lang="am-ET" dirty="0"/>
              <a:t>Symptoms of Hypoestroginism-hot flashes, genital atrophy</a:t>
            </a:r>
          </a:p>
          <a:p>
            <a:pPr lvl="1"/>
            <a:r>
              <a:rPr lang="en-US" dirty="0"/>
              <a:t>Family</a:t>
            </a:r>
            <a:r>
              <a:rPr lang="am-ET" dirty="0"/>
              <a:t> </a:t>
            </a:r>
            <a:r>
              <a:rPr lang="en-US" dirty="0"/>
              <a:t>history of POF, up to 10% of cases of POF may</a:t>
            </a:r>
            <a:r>
              <a:rPr lang="am-ET" dirty="0"/>
              <a:t> </a:t>
            </a:r>
            <a:r>
              <a:rPr lang="en-US" dirty="0"/>
              <a:t>be familial.</a:t>
            </a:r>
            <a:endParaRPr lang="am-ET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OVULATORY DYSFUNCTION</a:t>
            </a:r>
            <a:endParaRPr lang="en-US" sz="2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POF causes</a:t>
            </a:r>
          </a:p>
          <a:p>
            <a:r>
              <a:rPr lang="en-US" b="1" dirty="0"/>
              <a:t>Chromosomal </a:t>
            </a:r>
          </a:p>
          <a:p>
            <a:pPr lvl="1"/>
            <a:r>
              <a:rPr lang="en-US" dirty="0"/>
              <a:t>45X0 </a:t>
            </a:r>
            <a:r>
              <a:rPr lang="en-US" dirty="0">
                <a:solidFill>
                  <a:srgbClr val="FF3399"/>
                </a:solidFill>
              </a:rPr>
              <a:t>(Turner’s Syndrome)</a:t>
            </a:r>
          </a:p>
          <a:p>
            <a:pPr lvl="1"/>
            <a:r>
              <a:rPr lang="en-US" dirty="0" err="1"/>
              <a:t>Mosaicism</a:t>
            </a:r>
            <a:r>
              <a:rPr lang="en-US" dirty="0"/>
              <a:t> ( 45X/46XX, 45X/ 46XY)     </a:t>
            </a:r>
          </a:p>
          <a:p>
            <a:pPr lvl="1"/>
            <a:r>
              <a:rPr lang="en-US" dirty="0"/>
              <a:t> 46XX with defective X chromosome</a:t>
            </a: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 long arm deletion, Partial X </a:t>
            </a:r>
            <a:r>
              <a:rPr lang="en-US" dirty="0" err="1"/>
              <a:t>chr</a:t>
            </a:r>
            <a:r>
              <a:rPr lang="en-US" dirty="0"/>
              <a:t> Deletion, Fragile X chromosome syndrome, ---</a:t>
            </a:r>
          </a:p>
          <a:p>
            <a:pPr lvl="1"/>
            <a:r>
              <a:rPr lang="en-US" dirty="0" err="1"/>
              <a:t>Gondal</a:t>
            </a:r>
            <a:r>
              <a:rPr lang="en-US" dirty="0"/>
              <a:t> agenesis 46XX</a:t>
            </a:r>
          </a:p>
          <a:p>
            <a:pPr lvl="1"/>
            <a:r>
              <a:rPr lang="en-US" dirty="0" err="1"/>
              <a:t>Gonadal</a:t>
            </a:r>
            <a:r>
              <a:rPr lang="en-US" dirty="0"/>
              <a:t> </a:t>
            </a:r>
            <a:r>
              <a:rPr lang="en-US" dirty="0" err="1"/>
              <a:t>dysgenesis</a:t>
            </a:r>
            <a:r>
              <a:rPr lang="en-US" dirty="0"/>
              <a:t> 46XY</a:t>
            </a:r>
          </a:p>
          <a:p>
            <a:r>
              <a:rPr lang="en-US" b="1" dirty="0"/>
              <a:t>Other POF causes</a:t>
            </a:r>
          </a:p>
          <a:p>
            <a:pPr lvl="1"/>
            <a:r>
              <a:rPr lang="en-US" dirty="0"/>
              <a:t>Autoimmunity, Infection,</a:t>
            </a:r>
          </a:p>
          <a:p>
            <a:pPr lvl="1"/>
            <a:r>
              <a:rPr lang="en-US" dirty="0"/>
              <a:t>Iatrogenic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chemo/radiotherapy, surgical removal of ovaries</a:t>
            </a:r>
          </a:p>
          <a:p>
            <a:pPr lvl="1"/>
            <a:r>
              <a:rPr lang="en-US" dirty="0"/>
              <a:t>Resistant ovary syndrome</a:t>
            </a:r>
          </a:p>
          <a:p>
            <a:pPr lvl="1"/>
            <a:r>
              <a:rPr lang="en-US" dirty="0"/>
              <a:t>Enzyme</a:t>
            </a:r>
            <a:r>
              <a:rPr lang="am-ET" dirty="0"/>
              <a:t> </a:t>
            </a:r>
            <a:r>
              <a:rPr lang="en-US" dirty="0"/>
              <a:t>deficiencies ( 17 alpha OH, </a:t>
            </a:r>
            <a:r>
              <a:rPr lang="en-US" dirty="0" err="1"/>
              <a:t>aromatase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Galactosemia</a:t>
            </a:r>
            <a:r>
              <a:rPr lang="en-US" dirty="0"/>
              <a:t> ( toxic to </a:t>
            </a:r>
            <a:r>
              <a:rPr lang="en-US" dirty="0" err="1"/>
              <a:t>oogonia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Idiopathic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prstClr val="black"/>
                </a:solidFill>
              </a:rPr>
              <a:t>OVULATORY DYSFUNCTION</a:t>
            </a:r>
            <a:br>
              <a:rPr lang="en-US" b="1" dirty="0">
                <a:solidFill>
                  <a:prstClr val="black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928670"/>
            <a:ext cx="8786874" cy="550072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u="sng" dirty="0"/>
              <a:t>4. Habits</a:t>
            </a:r>
          </a:p>
          <a:p>
            <a:pPr lvl="1"/>
            <a:r>
              <a:rPr lang="en-US" dirty="0">
                <a:sym typeface="Wingdings" pitchFamily="2" charset="2"/>
              </a:rPr>
              <a:t>Smoking</a:t>
            </a:r>
            <a:endParaRPr lang="en-US" dirty="0"/>
          </a:p>
          <a:p>
            <a:pPr lvl="2"/>
            <a:r>
              <a:rPr lang="en-US" dirty="0"/>
              <a:t>accelerated follicle depletion + mutation in gametes (and early embryos)</a:t>
            </a:r>
          </a:p>
          <a:p>
            <a:pPr lvl="1"/>
            <a:r>
              <a:rPr lang="en-US" dirty="0"/>
              <a:t>Alcohol </a:t>
            </a:r>
          </a:p>
          <a:p>
            <a:pPr lvl="2"/>
            <a:r>
              <a:rPr lang="en-US" dirty="0"/>
              <a:t>heavy alcohol intake decreases fertility in women</a:t>
            </a:r>
          </a:p>
          <a:p>
            <a:pPr lvl="2"/>
            <a:r>
              <a:rPr lang="en-US" dirty="0"/>
              <a:t>Based on a number of studies, 5 to 8 drinks per week negatively impacts female fertility </a:t>
            </a:r>
          </a:p>
          <a:p>
            <a:pPr lvl="1"/>
            <a:r>
              <a:rPr lang="en-US" dirty="0">
                <a:solidFill>
                  <a:srgbClr val="FF3399"/>
                </a:solidFill>
              </a:rPr>
              <a:t>MALE-heavy alcohol intake has been associated with a decrease in sperm counts and increase in sexual dysfunction in men</a:t>
            </a:r>
          </a:p>
          <a:p>
            <a:pPr lvl="1"/>
            <a:r>
              <a:rPr lang="en-US" b="1" dirty="0" err="1"/>
              <a:t>Caffein</a:t>
            </a:r>
            <a:r>
              <a:rPr lang="en-US" dirty="0"/>
              <a:t>- increased dose response r/</a:t>
            </a:r>
            <a:r>
              <a:rPr lang="en-US" dirty="0" err="1"/>
              <a:t>nship</a:t>
            </a:r>
            <a:r>
              <a:rPr lang="en-US" dirty="0"/>
              <a:t> b/n </a:t>
            </a:r>
            <a:r>
              <a:rPr lang="en-US" dirty="0" err="1"/>
              <a:t>Caffein</a:t>
            </a:r>
            <a:r>
              <a:rPr lang="en-US" dirty="0"/>
              <a:t> and infertility and miscarriage</a:t>
            </a:r>
          </a:p>
          <a:p>
            <a:pPr lvl="1"/>
            <a:r>
              <a:rPr lang="en-US" dirty="0"/>
              <a:t> illicit drugs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Ovulatory</a:t>
            </a:r>
            <a:r>
              <a:rPr lang="en-US" dirty="0"/>
              <a:t> Dysfunction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57216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u="sng" dirty="0"/>
              <a:t>5. Age related Infertility (Depletion of Ovarian reserve)</a:t>
            </a:r>
          </a:p>
          <a:p>
            <a:r>
              <a:rPr lang="en-US" dirty="0"/>
              <a:t>Advancing age</a:t>
            </a:r>
            <a:r>
              <a:rPr lang="en-US" dirty="0">
                <a:sym typeface="Wingdings" pitchFamily="2" charset="2"/>
              </a:rPr>
              <a:t> loss of viable </a:t>
            </a:r>
            <a:r>
              <a:rPr lang="en-US" dirty="0" err="1">
                <a:sym typeface="Wingdings" pitchFamily="2" charset="2"/>
              </a:rPr>
              <a:t>oocytes</a:t>
            </a:r>
            <a:r>
              <a:rPr lang="en-US" dirty="0">
                <a:sym typeface="Wingdings" pitchFamily="2" charset="2"/>
              </a:rPr>
              <a:t> ( depletion of ovarian reserve + genetic abnormality in the remaining like mitochondrial deletions ) decreased  fertility/ increased </a:t>
            </a:r>
            <a:r>
              <a:rPr lang="en-US" dirty="0" err="1">
                <a:sym typeface="Wingdings" pitchFamily="2" charset="2"/>
              </a:rPr>
              <a:t>misscarriage</a:t>
            </a:r>
            <a:r>
              <a:rPr lang="en-US" dirty="0">
                <a:sym typeface="Wingdings" pitchFamily="2" charset="2"/>
              </a:rPr>
              <a:t>/Infertility</a:t>
            </a:r>
          </a:p>
          <a:p>
            <a:pPr lvl="1"/>
            <a:r>
              <a:rPr lang="en-US" dirty="0">
                <a:sym typeface="Wingdings" pitchFamily="2" charset="2"/>
              </a:rPr>
              <a:t>Miscarriage risk at&gt; 40yrs ~ 50-75%</a:t>
            </a:r>
          </a:p>
          <a:p>
            <a:r>
              <a:rPr lang="en-US" dirty="0">
                <a:sym typeface="Wingdings" pitchFamily="2" charset="2"/>
              </a:rPr>
              <a:t>No of follicles </a:t>
            </a:r>
          </a:p>
          <a:p>
            <a:pPr lvl="1"/>
            <a:r>
              <a:rPr lang="en-US" dirty="0">
                <a:sym typeface="Wingdings" pitchFamily="2" charset="2"/>
              </a:rPr>
              <a:t>7million at mid gestation</a:t>
            </a:r>
          </a:p>
          <a:p>
            <a:pPr lvl="1"/>
            <a:r>
              <a:rPr lang="en-US" dirty="0">
                <a:sym typeface="Wingdings" pitchFamily="2" charset="2"/>
              </a:rPr>
              <a:t>3m at birth</a:t>
            </a:r>
          </a:p>
          <a:p>
            <a:pPr lvl="1"/>
            <a:r>
              <a:rPr lang="en-US" dirty="0">
                <a:sym typeface="Wingdings" pitchFamily="2" charset="2"/>
              </a:rPr>
              <a:t>300,000at puberty</a:t>
            </a:r>
          </a:p>
          <a:p>
            <a:pPr lvl="1"/>
            <a:r>
              <a:rPr lang="en-US" dirty="0">
                <a:sym typeface="Wingdings" pitchFamily="2" charset="2"/>
              </a:rPr>
              <a:t>&lt; 1000 at onset of menopause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Aging and Infertility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Female Age (years)   Infertility</a:t>
            </a:r>
          </a:p>
          <a:p>
            <a:r>
              <a:rPr lang="en-US" dirty="0"/>
              <a:t>20–29                             8.0%</a:t>
            </a:r>
          </a:p>
          <a:p>
            <a:r>
              <a:rPr lang="en-US" dirty="0"/>
              <a:t>30–34                            14.6%</a:t>
            </a:r>
          </a:p>
          <a:p>
            <a:r>
              <a:rPr lang="en-US" dirty="0"/>
              <a:t>35–39                             21.9%</a:t>
            </a:r>
          </a:p>
          <a:p>
            <a:r>
              <a:rPr lang="en-US" dirty="0"/>
              <a:t>40–44                            28.7%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/>
              <a:t>TUBAL + PERITONEAL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6436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Pelvic adhesion and/ tubal obstruction</a:t>
            </a:r>
          </a:p>
          <a:p>
            <a:r>
              <a:rPr lang="en-US" dirty="0"/>
              <a:t>Manifest with chronic pelvic pain and </a:t>
            </a:r>
            <a:r>
              <a:rPr lang="en-US" dirty="0" err="1"/>
              <a:t>dysmenorrhoea</a:t>
            </a:r>
            <a:r>
              <a:rPr lang="en-US" dirty="0"/>
              <a:t> </a:t>
            </a:r>
          </a:p>
          <a:p>
            <a:r>
              <a:rPr lang="en-US" dirty="0" err="1"/>
              <a:t>Interfer</a:t>
            </a:r>
            <a:r>
              <a:rPr lang="en-US" dirty="0"/>
              <a:t> with tubal motility, ovum pick up and transport of fertilized ovum</a:t>
            </a:r>
          </a:p>
          <a:p>
            <a:r>
              <a:rPr lang="en-US" dirty="0"/>
              <a:t>RFs</a:t>
            </a:r>
          </a:p>
          <a:p>
            <a:pPr lvl="1"/>
            <a:r>
              <a:rPr lang="en-US" dirty="0" err="1"/>
              <a:t>Hx</a:t>
            </a:r>
            <a:r>
              <a:rPr lang="en-US" dirty="0"/>
              <a:t> of Pelvic infections/PID</a:t>
            </a:r>
          </a:p>
          <a:p>
            <a:pPr lvl="1"/>
            <a:r>
              <a:rPr lang="en-US" dirty="0" err="1"/>
              <a:t>Hx</a:t>
            </a:r>
            <a:r>
              <a:rPr lang="en-US" dirty="0"/>
              <a:t> of ectopic pregnancy- tubal damage even with medical treatment</a:t>
            </a:r>
          </a:p>
          <a:p>
            <a:pPr lvl="1"/>
            <a:r>
              <a:rPr lang="en-US" dirty="0" err="1"/>
              <a:t>Hx</a:t>
            </a:r>
            <a:r>
              <a:rPr lang="en-US" dirty="0"/>
              <a:t> pelvic surgery- residual adhesions are inevitable </a:t>
            </a:r>
          </a:p>
          <a:p>
            <a:pPr lvl="1"/>
            <a:r>
              <a:rPr lang="en-US" dirty="0" err="1"/>
              <a:t>Emdometriosis</a:t>
            </a:r>
            <a:r>
              <a:rPr lang="en-US" dirty="0"/>
              <a:t> -chronic bleeding and inflammation</a:t>
            </a:r>
            <a:r>
              <a:rPr lang="en-US" dirty="0">
                <a:sym typeface="Wingdings" pitchFamily="2" charset="2"/>
              </a:rPr>
              <a:t> tubal obstruction or pelvic adhesion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200" b="1" dirty="0"/>
              <a:t>UTERINE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Congenital Anomalies</a:t>
            </a:r>
          </a:p>
          <a:p>
            <a:r>
              <a:rPr lang="en-US" dirty="0"/>
              <a:t>In general, developmental uterine anomalies are not causative for infertility, but may be associated with miscarriage or later fetal loss, creating a management dilemma </a:t>
            </a:r>
          </a:p>
          <a:p>
            <a:pPr>
              <a:buNone/>
            </a:pPr>
            <a:r>
              <a:rPr lang="en-US" b="1" dirty="0"/>
              <a:t>Acquired Abnormalities</a:t>
            </a:r>
          </a:p>
          <a:p>
            <a:pPr lvl="1"/>
            <a:r>
              <a:rPr lang="en-US" dirty="0"/>
              <a:t>Endometrial Polyps-3-5% of women</a:t>
            </a:r>
          </a:p>
          <a:p>
            <a:pPr lvl="2"/>
            <a:r>
              <a:rPr lang="en-US" dirty="0" err="1"/>
              <a:t>Intermenstrual</a:t>
            </a:r>
            <a:r>
              <a:rPr lang="en-US" dirty="0"/>
              <a:t> and </a:t>
            </a:r>
            <a:r>
              <a:rPr lang="en-US" dirty="0" err="1"/>
              <a:t>postcoital</a:t>
            </a:r>
            <a:r>
              <a:rPr lang="en-US" dirty="0"/>
              <a:t> bleeding</a:t>
            </a:r>
          </a:p>
          <a:p>
            <a:pPr lvl="1"/>
            <a:r>
              <a:rPr lang="en-US" dirty="0" err="1"/>
              <a:t>Leiomyomas</a:t>
            </a:r>
            <a:r>
              <a:rPr lang="en-US" dirty="0"/>
              <a:t>- implantation</a:t>
            </a:r>
          </a:p>
          <a:p>
            <a:pPr lvl="1"/>
            <a:r>
              <a:rPr lang="en-US" dirty="0" err="1"/>
              <a:t>Ashermans</a:t>
            </a:r>
            <a:r>
              <a:rPr lang="en-US" dirty="0"/>
              <a:t> Syndrome/ </a:t>
            </a:r>
            <a:r>
              <a:rPr lang="en-US" dirty="0" err="1"/>
              <a:t>synechae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Cervical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Mucus inadequacy/ hostile mucus</a:t>
            </a:r>
          </a:p>
          <a:p>
            <a:pPr lvl="1"/>
            <a:r>
              <a:rPr lang="en-US" dirty="0"/>
              <a:t>Chronic infection,</a:t>
            </a:r>
          </a:p>
          <a:p>
            <a:pPr lvl="1"/>
            <a:r>
              <a:rPr lang="en-US" dirty="0"/>
              <a:t> cervical surgery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Chryotherapy</a:t>
            </a:r>
            <a:r>
              <a:rPr lang="en-US" dirty="0"/>
              <a:t>, LEEP, </a:t>
            </a:r>
            <a:r>
              <a:rPr lang="en-US" dirty="0" err="1"/>
              <a:t>Conization</a:t>
            </a:r>
            <a:endParaRPr lang="en-US" dirty="0"/>
          </a:p>
          <a:p>
            <a:pPr lvl="1"/>
            <a:r>
              <a:rPr lang="en-US" dirty="0"/>
              <a:t>anti E </a:t>
            </a:r>
            <a:r>
              <a:rPr lang="en-US" dirty="0" err="1"/>
              <a:t>rx</a:t>
            </a:r>
            <a:r>
              <a:rPr lang="en-US" dirty="0"/>
              <a:t> ( C</a:t>
            </a:r>
            <a:r>
              <a:rPr lang="am-ET" dirty="0"/>
              <a:t>hlomiphe </a:t>
            </a:r>
            <a:r>
              <a:rPr lang="en-US" dirty="0"/>
              <a:t>C</a:t>
            </a:r>
            <a:r>
              <a:rPr lang="am-ET" dirty="0"/>
              <a:t>itrate</a:t>
            </a:r>
            <a:r>
              <a:rPr lang="en-US" dirty="0"/>
              <a:t> for OI),</a:t>
            </a:r>
          </a:p>
          <a:p>
            <a:pPr lvl="1"/>
            <a:r>
              <a:rPr lang="en-US" dirty="0"/>
              <a:t> Sperm antibodies</a:t>
            </a:r>
          </a:p>
          <a:p>
            <a:pPr lvl="1"/>
            <a:r>
              <a:rPr lang="en-US" dirty="0"/>
              <a:t>Unexplained ( most)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4298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                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4000" b="1" dirty="0"/>
              <a:t>                      </a:t>
            </a:r>
          </a:p>
          <a:p>
            <a:pPr>
              <a:buNone/>
            </a:pPr>
            <a:r>
              <a:rPr lang="en-US" sz="4000" b="1" dirty="0"/>
              <a:t>              EVALUATION  OF PATIENT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074" name="AutoShape 2" descr="mk:@MSITStore:C:\Users\Sami\Desktop\clean%20up\b\Williams'%20Gynecology.chm::/19_files/loadBinary_003.gif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5738"/>
            <a:ext cx="9144000" cy="667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4525963"/>
          </a:xfrm>
        </p:spPr>
        <p:txBody>
          <a:bodyPr/>
          <a:lstStyle/>
          <a:p>
            <a:r>
              <a:rPr lang="en-US" dirty="0"/>
              <a:t>The infertility evaluation can be conceptually simplified into confirmation of: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  ovulation,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 normal female reproductive tract anatomy, and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 normal semen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786874" cy="52149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Timing </a:t>
            </a:r>
          </a:p>
          <a:p>
            <a:pPr lvl="1"/>
            <a:r>
              <a:rPr lang="en-US" dirty="0"/>
              <a:t>After an attempt to conceive for one year </a:t>
            </a:r>
          </a:p>
          <a:p>
            <a:pPr lvl="1"/>
            <a:r>
              <a:rPr lang="en-US" dirty="0"/>
              <a:t>Earlier initiation ( as soon as possible) of evaluation is recommended for</a:t>
            </a:r>
          </a:p>
          <a:p>
            <a:pPr lvl="2"/>
            <a:r>
              <a:rPr lang="en-US" dirty="0"/>
              <a:t> those with </a:t>
            </a:r>
            <a:r>
              <a:rPr lang="en-US" dirty="0" err="1"/>
              <a:t>Hx</a:t>
            </a:r>
            <a:r>
              <a:rPr lang="en-US" dirty="0"/>
              <a:t> PID or pelvic surgery </a:t>
            </a:r>
          </a:p>
          <a:p>
            <a:pPr lvl="2"/>
            <a:r>
              <a:rPr lang="en-US" dirty="0" err="1"/>
              <a:t>anovulatory</a:t>
            </a:r>
            <a:r>
              <a:rPr lang="en-US" dirty="0"/>
              <a:t> woman (with irregular or absent menses)</a:t>
            </a:r>
          </a:p>
          <a:p>
            <a:pPr lvl="2"/>
            <a:r>
              <a:rPr lang="en-US" dirty="0"/>
              <a:t> old age (&gt;35-40),</a:t>
            </a:r>
          </a:p>
          <a:p>
            <a:pPr lvl="2"/>
            <a:r>
              <a:rPr lang="en-US" dirty="0"/>
              <a:t>heavy smokers or in women with a history of ovarian surgery, chemotherapy, or pelvic irradiation</a:t>
            </a:r>
          </a:p>
          <a:p>
            <a:pPr lvl="2"/>
            <a:r>
              <a:rPr lang="en-US" dirty="0"/>
              <a:t>stigmata of chromosomal abnormalities(</a:t>
            </a:r>
            <a:r>
              <a:rPr lang="en-US" dirty="0" err="1"/>
              <a:t>eg</a:t>
            </a:r>
            <a:r>
              <a:rPr lang="en-US" dirty="0"/>
              <a:t> turners syndrome) or</a:t>
            </a:r>
          </a:p>
          <a:p>
            <a:pPr lvl="2"/>
            <a:r>
              <a:rPr lang="en-US" dirty="0"/>
              <a:t> a significant history in the male partner</a:t>
            </a:r>
          </a:p>
          <a:p>
            <a:pPr lvl="1"/>
            <a:endParaRPr lang="am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Female History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GYNECOLOGIC</a:t>
            </a:r>
          </a:p>
          <a:p>
            <a:r>
              <a:rPr lang="en-US" dirty="0"/>
              <a:t>Duration of infertility, 1</a:t>
            </a:r>
            <a:r>
              <a:rPr lang="en-US" baseline="30000" dirty="0"/>
              <a:t>0</a:t>
            </a:r>
            <a:r>
              <a:rPr lang="en-US" dirty="0"/>
              <a:t> Vs 2</a:t>
            </a:r>
            <a:r>
              <a:rPr lang="en-US" baseline="30000" dirty="0"/>
              <a:t>0 infertility</a:t>
            </a:r>
          </a:p>
          <a:p>
            <a:r>
              <a:rPr lang="en-US" dirty="0"/>
              <a:t>Menstrual history- </a:t>
            </a:r>
          </a:p>
          <a:p>
            <a:pPr lvl="1"/>
            <a:r>
              <a:rPr lang="en-US" dirty="0"/>
              <a:t>Frequency, duration, recent changes in pattern, </a:t>
            </a:r>
            <a:r>
              <a:rPr lang="en-US" dirty="0" err="1"/>
              <a:t>dysmenorrhoea</a:t>
            </a:r>
            <a:r>
              <a:rPr lang="en-US" dirty="0"/>
              <a:t>, hot flashes</a:t>
            </a:r>
          </a:p>
          <a:p>
            <a:r>
              <a:rPr lang="en-US" dirty="0"/>
              <a:t>Coital HX</a:t>
            </a:r>
          </a:p>
          <a:p>
            <a:pPr lvl="1"/>
            <a:r>
              <a:rPr lang="en-US" dirty="0"/>
              <a:t>Frequency , </a:t>
            </a:r>
            <a:r>
              <a:rPr lang="en-US" dirty="0" err="1"/>
              <a:t>dyspareunea</a:t>
            </a:r>
            <a:r>
              <a:rPr lang="en-US" dirty="0"/>
              <a:t> (? Endometriosis)</a:t>
            </a:r>
          </a:p>
          <a:p>
            <a:r>
              <a:rPr lang="en-US" dirty="0"/>
              <a:t>Prior use of contraceptives</a:t>
            </a:r>
          </a:p>
          <a:p>
            <a:r>
              <a:rPr lang="en-US" dirty="0" err="1"/>
              <a:t>Hx</a:t>
            </a:r>
            <a:r>
              <a:rPr lang="en-US" dirty="0"/>
              <a:t> of recurrent ovarian cysts, endometriosis, </a:t>
            </a:r>
            <a:r>
              <a:rPr lang="en-US" dirty="0" err="1"/>
              <a:t>leiomyoma</a:t>
            </a:r>
            <a:r>
              <a:rPr lang="en-US" dirty="0"/>
              <a:t>,  STI/ PID</a:t>
            </a:r>
            <a:endParaRPr lang="am-ET" dirty="0"/>
          </a:p>
          <a:p>
            <a:r>
              <a:rPr lang="en-US" dirty="0"/>
              <a:t>Prior conception ( tubal patency and ovulation HX) </a:t>
            </a:r>
          </a:p>
          <a:p>
            <a:r>
              <a:rPr lang="en-US" dirty="0"/>
              <a:t>Pregnancy complications 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.  miscarriage, EP, preterm delivery, retained placenta, postpartum D &amp; C, chorioamnionitis or fetal anomalies should be noted</a:t>
            </a:r>
          </a:p>
          <a:p>
            <a:r>
              <a:rPr lang="en-US" dirty="0"/>
              <a:t>Abnormal  pap smears + cervical </a:t>
            </a:r>
            <a:r>
              <a:rPr lang="en-US" dirty="0" err="1"/>
              <a:t>conization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abnormal cervical mucus + cervical incompetence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Female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Gynecologic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buNone/>
            </a:pPr>
            <a:r>
              <a:rPr lang="en-US" b="1" dirty="0"/>
              <a:t>Menstrual Pattern- </a:t>
            </a:r>
            <a:r>
              <a:rPr lang="en-US" dirty="0"/>
              <a:t>ovulation is likely</a:t>
            </a:r>
            <a:r>
              <a:rPr lang="am-ET" dirty="0"/>
              <a:t> with </a:t>
            </a:r>
            <a:endParaRPr lang="en-US" dirty="0"/>
          </a:p>
          <a:p>
            <a:pPr lvl="1"/>
            <a:r>
              <a:rPr lang="en-US" b="1" dirty="0"/>
              <a:t>cyclic menses </a:t>
            </a:r>
            <a:r>
              <a:rPr lang="en-US" dirty="0"/>
              <a:t>Q 25-35 days, 3-7 days duration</a:t>
            </a:r>
          </a:p>
          <a:p>
            <a:pPr lvl="1"/>
            <a:r>
              <a:rPr lang="en-US" b="1" i="1" dirty="0"/>
              <a:t>MITTELSCHMERZ,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midcycle</a:t>
            </a:r>
            <a:r>
              <a:rPr lang="en-US" dirty="0"/>
              <a:t> pelvic pain associated with ovulation  </a:t>
            </a:r>
          </a:p>
          <a:p>
            <a:pPr lvl="1"/>
            <a:r>
              <a:rPr lang="en-US" b="1" dirty="0"/>
              <a:t>MOLIMINAL SYMPTOMS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 breast tenderness, acne, food cravings, and mood changes</a:t>
            </a:r>
          </a:p>
          <a:p>
            <a:pPr lvl="1"/>
            <a:r>
              <a:rPr lang="en-US" b="1" dirty="0"/>
              <a:t>DYSMENORRHEA,</a:t>
            </a:r>
          </a:p>
          <a:p>
            <a:pPr lvl="2"/>
            <a:r>
              <a:rPr lang="en-US" dirty="0" err="1"/>
              <a:t>Ovulatory</a:t>
            </a:r>
            <a:r>
              <a:rPr lang="en-US" dirty="0"/>
              <a:t> cycles are more likely to be associated with </a:t>
            </a:r>
            <a:r>
              <a:rPr lang="en-US" dirty="0" err="1"/>
              <a:t>dysmenorrhea</a:t>
            </a:r>
            <a:r>
              <a:rPr lang="en-US" dirty="0"/>
              <a:t>, although severe </a:t>
            </a:r>
            <a:r>
              <a:rPr lang="en-US" dirty="0" err="1"/>
              <a:t>dysmenorrhea</a:t>
            </a:r>
            <a:r>
              <a:rPr lang="en-US" dirty="0"/>
              <a:t> may suggest the presence of endometriosis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Autofit/>
          </a:bodyPr>
          <a:lstStyle/>
          <a:p>
            <a:r>
              <a:rPr lang="en-US" sz="3600" b="1" dirty="0"/>
              <a:t>Female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686800" cy="57150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Medical </a:t>
            </a:r>
          </a:p>
          <a:p>
            <a:pPr lvl="1"/>
            <a:r>
              <a:rPr lang="en-US" dirty="0"/>
              <a:t>Symptoms of  </a:t>
            </a:r>
            <a:r>
              <a:rPr lang="en-US" dirty="0" err="1"/>
              <a:t>hyperprolactinemia</a:t>
            </a:r>
            <a:r>
              <a:rPr lang="en-US" dirty="0"/>
              <a:t>, hypothyroidism, </a:t>
            </a:r>
            <a:r>
              <a:rPr lang="en-US" dirty="0" err="1"/>
              <a:t>Kallmans</a:t>
            </a:r>
            <a:r>
              <a:rPr lang="en-US" dirty="0"/>
              <a:t> s</a:t>
            </a:r>
          </a:p>
          <a:p>
            <a:pPr lvl="1"/>
            <a:r>
              <a:rPr lang="en-US" dirty="0"/>
              <a:t>Symptoms of androgen excess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hirsuitism</a:t>
            </a:r>
            <a:r>
              <a:rPr lang="en-US" dirty="0"/>
              <a:t>, acne</a:t>
            </a:r>
            <a:r>
              <a:rPr lang="en-US" dirty="0">
                <a:sym typeface="Wingdings" pitchFamily="2" charset="2"/>
              </a:rPr>
              <a:t> PCO, CAH</a:t>
            </a:r>
          </a:p>
          <a:p>
            <a:pPr lvl="1"/>
            <a:r>
              <a:rPr lang="en-US" dirty="0">
                <a:sym typeface="Wingdings" pitchFamily="2" charset="2"/>
              </a:rPr>
              <a:t>Prior chemo / and radiotherapy  ovarian failure</a:t>
            </a:r>
          </a:p>
          <a:p>
            <a:pPr lvl="1"/>
            <a:r>
              <a:rPr lang="en-US" dirty="0">
                <a:sym typeface="Wingdings" pitchFamily="2" charset="2"/>
              </a:rPr>
              <a:t>Medications </a:t>
            </a:r>
            <a:r>
              <a:rPr lang="en-US" dirty="0" err="1">
                <a:sym typeface="Wingdings" pitchFamily="2" charset="2"/>
              </a:rPr>
              <a:t>Eg</a:t>
            </a:r>
            <a:r>
              <a:rPr lang="en-US" dirty="0">
                <a:sym typeface="Wingdings" pitchFamily="2" charset="2"/>
              </a:rPr>
              <a:t>. </a:t>
            </a:r>
          </a:p>
          <a:p>
            <a:pPr lvl="2"/>
            <a:r>
              <a:rPr lang="en-US" dirty="0">
                <a:sym typeface="Wingdings" pitchFamily="2" charset="2"/>
              </a:rPr>
              <a:t>NSAIDS ( ovulation inhibition </a:t>
            </a:r>
            <a:r>
              <a:rPr lang="en-US" i="1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i="1" dirty="0">
                <a:solidFill>
                  <a:srgbClr val="C00000"/>
                </a:solidFill>
              </a:rPr>
              <a:t>luteinized </a:t>
            </a:r>
            <a:r>
              <a:rPr lang="en-US" i="1" dirty="0" err="1">
                <a:solidFill>
                  <a:srgbClr val="C00000"/>
                </a:solidFill>
              </a:rPr>
              <a:t>unruptured</a:t>
            </a:r>
            <a:r>
              <a:rPr lang="en-US" i="1" dirty="0">
                <a:solidFill>
                  <a:srgbClr val="C00000"/>
                </a:solidFill>
              </a:rPr>
              <a:t> follicle syndrome </a:t>
            </a:r>
          </a:p>
          <a:p>
            <a:pPr lvl="2"/>
            <a:r>
              <a:rPr lang="en-US" dirty="0"/>
              <a:t> antipsychotics ( </a:t>
            </a:r>
            <a:r>
              <a:rPr lang="en-US" dirty="0" err="1">
                <a:solidFill>
                  <a:srgbClr val="FF0000"/>
                </a:solidFill>
              </a:rPr>
              <a:t>phenothyazines</a:t>
            </a:r>
            <a:r>
              <a:rPr lang="en-US" dirty="0">
                <a:solidFill>
                  <a:srgbClr val="FF0000"/>
                </a:solidFill>
              </a:rPr>
              <a:t>??</a:t>
            </a:r>
            <a:r>
              <a:rPr lang="en-US" dirty="0">
                <a:sym typeface="Wingdings" pitchFamily="2" charset="2"/>
              </a:rPr>
              <a:t>block dopamine  Rs ↑PRL</a:t>
            </a:r>
          </a:p>
          <a:p>
            <a:pPr lvl="2"/>
            <a:r>
              <a:rPr lang="en-US" dirty="0">
                <a:sym typeface="Wingdings" pitchFamily="2" charset="2"/>
              </a:rPr>
              <a:t>MAOs </a:t>
            </a:r>
            <a:r>
              <a:rPr lang="en-US" dirty="0">
                <a:latin typeface="Calibri"/>
                <a:sym typeface="Wingdings" pitchFamily="2" charset="2"/>
              </a:rPr>
              <a:t>↓</a:t>
            </a:r>
            <a:r>
              <a:rPr lang="en-US" dirty="0" err="1">
                <a:sym typeface="Wingdings" pitchFamily="2" charset="2"/>
              </a:rPr>
              <a:t>catecholamines</a:t>
            </a:r>
            <a:r>
              <a:rPr lang="en-US" dirty="0">
                <a:sym typeface="Wingdings" pitchFamily="2" charset="2"/>
              </a:rPr>
              <a:t>↑</a:t>
            </a:r>
            <a:r>
              <a:rPr lang="en-US" dirty="0" err="1">
                <a:sym typeface="Wingdings" pitchFamily="2" charset="2"/>
              </a:rPr>
              <a:t>PRLannovulation</a:t>
            </a:r>
            <a:r>
              <a:rPr lang="en-US" dirty="0">
                <a:sym typeface="Wingdings" pitchFamily="2" charset="2"/>
              </a:rPr>
              <a:t> +  </a:t>
            </a:r>
            <a:r>
              <a:rPr lang="en-US" dirty="0" err="1">
                <a:sym typeface="Wingdings" pitchFamily="2" charset="2"/>
              </a:rPr>
              <a:t>amenorrhoea</a:t>
            </a: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SURGICAL</a:t>
            </a:r>
          </a:p>
          <a:p>
            <a:pPr lvl="1"/>
            <a:r>
              <a:rPr lang="en-US" dirty="0">
                <a:sym typeface="Wingdings" pitchFamily="2" charset="2"/>
              </a:rPr>
              <a:t>History of pelvic and abdominal surgery pelvic adhesion, tubal blockage, </a:t>
            </a:r>
            <a:r>
              <a:rPr lang="en-US" dirty="0" err="1">
                <a:sym typeface="Wingdings" pitchFamily="2" charset="2"/>
              </a:rPr>
              <a:t>Intraux</a:t>
            </a:r>
            <a:r>
              <a:rPr lang="en-US" dirty="0">
                <a:sym typeface="Wingdings" pitchFamily="2" charset="2"/>
              </a:rPr>
              <a:t> adhesion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US" dirty="0"/>
              <a:t>Female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785794"/>
            <a:ext cx="8229600" cy="571501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SOCIAL </a:t>
            </a:r>
          </a:p>
          <a:p>
            <a:r>
              <a:rPr lang="en-US" dirty="0"/>
              <a:t>Eating habits ( AN , BN), exercise and stress</a:t>
            </a:r>
          </a:p>
          <a:p>
            <a:pPr lvl="1"/>
            <a:r>
              <a:rPr lang="en-US" dirty="0">
                <a:sym typeface="Wingdings" pitchFamily="2" charset="2"/>
              </a:rPr>
              <a:t> hypothalamic functional </a:t>
            </a:r>
            <a:r>
              <a:rPr lang="en-US" dirty="0" err="1">
                <a:sym typeface="Wingdings" pitchFamily="2" charset="2"/>
              </a:rPr>
              <a:t>amrnorrhoea</a:t>
            </a:r>
            <a:r>
              <a:rPr lang="en-US" dirty="0">
                <a:sym typeface="Wingdings" pitchFamily="2" charset="2"/>
              </a:rPr>
              <a:t> + </a:t>
            </a:r>
            <a:r>
              <a:rPr lang="en-US" dirty="0" err="1">
                <a:sym typeface="Wingdings" pitchFamily="2" charset="2"/>
              </a:rPr>
              <a:t>anovulation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BMI &lt;17 &amp; &gt;25 associated with 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 err="1"/>
              <a:t>GnRH</a:t>
            </a:r>
            <a:r>
              <a:rPr lang="en-US" b="1" dirty="0"/>
              <a:t> and </a:t>
            </a:r>
            <a:r>
              <a:rPr lang="en-US" b="1" dirty="0" err="1"/>
              <a:t>gonadotropin</a:t>
            </a:r>
            <a:r>
              <a:rPr lang="en-US" b="1" dirty="0"/>
              <a:t> secretion Abnormalities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Smoking</a:t>
            </a:r>
            <a:endParaRPr lang="en-US" dirty="0"/>
          </a:p>
          <a:p>
            <a:pPr lvl="1"/>
            <a:r>
              <a:rPr lang="en-US" dirty="0"/>
              <a:t>accelerated follicle depletion + mutation in gametes (and early embryos)</a:t>
            </a:r>
            <a:endParaRPr lang="am-ET" dirty="0"/>
          </a:p>
          <a:p>
            <a:pPr lvl="1"/>
            <a:r>
              <a:rPr lang="en-US" dirty="0"/>
              <a:t>H</a:t>
            </a:r>
            <a:r>
              <a:rPr lang="am-ET" dirty="0"/>
              <a:t>igh failure rate of ART </a:t>
            </a:r>
          </a:p>
          <a:p>
            <a:pPr lvl="1"/>
            <a:r>
              <a:rPr lang="en-US" dirty="0"/>
              <a:t>I</a:t>
            </a:r>
            <a:r>
              <a:rPr lang="am-ET" dirty="0"/>
              <a:t>ncreased miscarriage + trisomy 21 </a:t>
            </a:r>
            <a:endParaRPr lang="en-US" dirty="0"/>
          </a:p>
          <a:p>
            <a:r>
              <a:rPr lang="en-US" dirty="0"/>
              <a:t>Alcohol </a:t>
            </a:r>
          </a:p>
          <a:p>
            <a:pPr lvl="1"/>
            <a:r>
              <a:rPr lang="en-US" dirty="0"/>
              <a:t>heavy alcohol intake decreases fertility in women</a:t>
            </a:r>
          </a:p>
          <a:p>
            <a:pPr lvl="2"/>
            <a:r>
              <a:rPr lang="en-US" dirty="0"/>
              <a:t>Based on a number of studies, 5 to 8 drinks per week negatively impacts female fertility </a:t>
            </a:r>
          </a:p>
          <a:p>
            <a:pPr lvl="1"/>
            <a:r>
              <a:rPr lang="en-US" dirty="0"/>
              <a:t>heavy alcohol intake has been associated with a decrease in sperm counts and increase in sexual dysfunction in 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br>
              <a:rPr lang="am-ET" dirty="0"/>
            </a:br>
            <a:r>
              <a:rPr lang="en-US" dirty="0"/>
              <a:t>Female History- </a:t>
            </a:r>
            <a:r>
              <a:rPr lang="en-US" sz="2000" b="1" dirty="0"/>
              <a:t>SOCIAL CONTD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4422"/>
            <a:ext cx="8686800" cy="5429288"/>
          </a:xfrm>
        </p:spPr>
        <p:txBody>
          <a:bodyPr>
            <a:normAutofit/>
          </a:bodyPr>
          <a:lstStyle/>
          <a:p>
            <a:r>
              <a:rPr lang="en-US" dirty="0"/>
              <a:t>CAFFEIN</a:t>
            </a:r>
          </a:p>
          <a:p>
            <a:pPr lvl="1"/>
            <a:r>
              <a:rPr lang="en-US" dirty="0"/>
              <a:t>1cup of coffee ~ 115 mg </a:t>
            </a:r>
            <a:r>
              <a:rPr lang="en-US" dirty="0" err="1"/>
              <a:t>caffein</a:t>
            </a:r>
            <a:endParaRPr lang="en-US" dirty="0"/>
          </a:p>
          <a:p>
            <a:pPr lvl="1"/>
            <a:r>
              <a:rPr lang="en-US" dirty="0"/>
              <a:t>Caffeine consumption has also been linked to decreased </a:t>
            </a:r>
            <a:r>
              <a:rPr lang="en-US" dirty="0" err="1"/>
              <a:t>fecundability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Most studies suggest that consumption of &gt; 250 mg </a:t>
            </a:r>
            <a:r>
              <a:rPr lang="en-US" dirty="0" err="1"/>
              <a:t>caffein</a:t>
            </a:r>
            <a:r>
              <a:rPr lang="en-US" dirty="0"/>
              <a:t>  per day by the female partner is associated with a modest, but statistically significant, decrease in fertility and increase in time to conception.</a:t>
            </a:r>
          </a:p>
          <a:p>
            <a:pPr lvl="1"/>
            <a:r>
              <a:rPr lang="en-US" dirty="0"/>
              <a:t> Caffeine intake greater than 500 mg per day has also been demonstrated to increase recurrent miscarriage rates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Female History-</a:t>
            </a:r>
            <a:r>
              <a:rPr lang="en-US" sz="2000" b="1" dirty="0"/>
              <a:t>SOCIAL CONTD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2296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Illicit drugs</a:t>
            </a:r>
            <a:r>
              <a:rPr lang="en-US" dirty="0"/>
              <a:t> may also impact </a:t>
            </a:r>
            <a:r>
              <a:rPr lang="en-US" dirty="0" err="1"/>
              <a:t>fecundability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Marijuana suppresses the H-P- </a:t>
            </a:r>
            <a:r>
              <a:rPr lang="en-US" dirty="0" err="1"/>
              <a:t>gonadal</a:t>
            </a:r>
            <a:r>
              <a:rPr lang="en-US" dirty="0"/>
              <a:t> axis in both men and women, and </a:t>
            </a:r>
          </a:p>
          <a:p>
            <a:pPr lvl="1"/>
            <a:r>
              <a:rPr lang="en-US" dirty="0"/>
              <a:t>cocaine can impair spermatogenesis </a:t>
            </a:r>
          </a:p>
          <a:p>
            <a:pPr>
              <a:buNone/>
            </a:pPr>
            <a:r>
              <a:rPr lang="en-US" b="1" dirty="0" err="1"/>
              <a:t>Env’tal</a:t>
            </a:r>
            <a:r>
              <a:rPr lang="en-US" b="1" dirty="0"/>
              <a:t> Exposures</a:t>
            </a:r>
          </a:p>
          <a:p>
            <a:r>
              <a:rPr lang="en-US" i="1" dirty="0">
                <a:solidFill>
                  <a:srgbClr val="C00000"/>
                </a:solidFill>
              </a:rPr>
              <a:t>Heavy metals </a:t>
            </a:r>
            <a:r>
              <a:rPr lang="en-US" dirty="0"/>
              <a:t>and </a:t>
            </a:r>
            <a:r>
              <a:rPr lang="en-US" i="1" dirty="0">
                <a:solidFill>
                  <a:srgbClr val="C00000"/>
                </a:solidFill>
              </a:rPr>
              <a:t>Pesticides</a:t>
            </a:r>
            <a:r>
              <a:rPr lang="en-US" dirty="0"/>
              <a:t> should also be avoided, may decrease fertility rates as well as increase the risk of recurrent miscarriage </a:t>
            </a:r>
            <a:r>
              <a:rPr lang="en-US" sz="2600" dirty="0"/>
              <a:t>(</a:t>
            </a:r>
            <a:r>
              <a:rPr lang="en-US" sz="2600" dirty="0" err="1"/>
              <a:t>Orejuela</a:t>
            </a:r>
            <a:r>
              <a:rPr lang="en-US" sz="2600" dirty="0"/>
              <a:t>, 1998).</a:t>
            </a:r>
            <a:endParaRPr lang="en-US" dirty="0"/>
          </a:p>
          <a:p>
            <a:r>
              <a:rPr lang="en-US" dirty="0"/>
              <a:t>Although uncommon, </a:t>
            </a:r>
            <a:r>
              <a:rPr lang="en-US" dirty="0" err="1"/>
              <a:t>fecundability</a:t>
            </a:r>
            <a:r>
              <a:rPr lang="en-US" dirty="0"/>
              <a:t> is reduced with occupational exposure to the dry cleaning fluid </a:t>
            </a:r>
            <a:r>
              <a:rPr lang="en-US" i="1" dirty="0" err="1">
                <a:solidFill>
                  <a:srgbClr val="C00000"/>
                </a:solidFill>
              </a:rPr>
              <a:t>Perchloroethylene</a:t>
            </a:r>
            <a:r>
              <a:rPr lang="en-US" dirty="0"/>
              <a:t>, and to</a:t>
            </a:r>
            <a:r>
              <a:rPr lang="en-US" i="1" dirty="0">
                <a:solidFill>
                  <a:srgbClr val="C00000"/>
                </a:solidFill>
              </a:rPr>
              <a:t> Toluene </a:t>
            </a:r>
            <a:r>
              <a:rPr lang="en-US" dirty="0"/>
              <a:t>used in the printing business.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Female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FAMILY HISTORY</a:t>
            </a:r>
          </a:p>
          <a:p>
            <a:r>
              <a:rPr lang="en-US" dirty="0"/>
              <a:t> of infertility, </a:t>
            </a:r>
            <a:r>
              <a:rPr lang="am-ET" dirty="0"/>
              <a:t>POF, </a:t>
            </a:r>
            <a:r>
              <a:rPr lang="en-US" dirty="0"/>
              <a:t>recurrent miscarriage, or fetal anomalies may  point to a genetic etiology. </a:t>
            </a:r>
          </a:p>
          <a:p>
            <a:r>
              <a:rPr lang="en-US" dirty="0"/>
              <a:t>Although the inheritance pattern is complex, data suggest that both PCOS  and endometriosis occur in familial clusters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14356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Obesity and Environmental Factors Vs Fertility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071522"/>
            <a:ext cx="7786742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Female 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Vital signs, height, and weight</a:t>
            </a:r>
            <a:endParaRPr lang="am-ET" dirty="0"/>
          </a:p>
          <a:p>
            <a:pPr lvl="1"/>
            <a:r>
              <a:rPr lang="en-US" dirty="0">
                <a:sym typeface="Wingdings" pitchFamily="2" charset="2"/>
              </a:rPr>
              <a:t>BMI &lt;17 &amp; &gt;25 associated with 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 err="1"/>
              <a:t>GnRH</a:t>
            </a:r>
            <a:r>
              <a:rPr lang="en-US" b="1" dirty="0"/>
              <a:t> and </a:t>
            </a:r>
            <a:r>
              <a:rPr lang="en-US" b="1" dirty="0" err="1"/>
              <a:t>gonadotropin</a:t>
            </a:r>
            <a:r>
              <a:rPr lang="en-US" b="1" dirty="0"/>
              <a:t> secretion Abnormalities</a:t>
            </a:r>
            <a:r>
              <a:rPr lang="en-US" dirty="0"/>
              <a:t>  </a:t>
            </a:r>
          </a:p>
          <a:p>
            <a:pPr lvl="0"/>
            <a:r>
              <a:rPr lang="en-US" dirty="0" err="1"/>
              <a:t>Hirsutism</a:t>
            </a:r>
            <a:r>
              <a:rPr lang="en-US" dirty="0"/>
              <a:t>, alopecia, or acne indicates the need to measure androgen levels. </a:t>
            </a:r>
          </a:p>
          <a:p>
            <a:pPr lvl="0"/>
            <a:r>
              <a:rPr lang="en-US" dirty="0" err="1"/>
              <a:t>Acanthosis</a:t>
            </a:r>
            <a:r>
              <a:rPr lang="en-US" dirty="0"/>
              <a:t> </a:t>
            </a:r>
            <a:r>
              <a:rPr lang="en-US" dirty="0" err="1"/>
              <a:t>nigricans</a:t>
            </a:r>
            <a:r>
              <a:rPr lang="en-US" dirty="0"/>
              <a:t> is consistent with insulin resistance associated PCOS or much less commonly, Cushing syndrome. </a:t>
            </a:r>
          </a:p>
          <a:p>
            <a:pPr lvl="0"/>
            <a:r>
              <a:rPr lang="en-US" dirty="0" err="1"/>
              <a:t>Galactorrhea</a:t>
            </a:r>
            <a:r>
              <a:rPr lang="en-US" dirty="0"/>
              <a:t>- </a:t>
            </a:r>
            <a:r>
              <a:rPr lang="en-US" dirty="0" err="1"/>
              <a:t>Hyperprolactinemia</a:t>
            </a:r>
            <a:endParaRPr lang="am-ET" dirty="0"/>
          </a:p>
          <a:p>
            <a:pPr lvl="0"/>
            <a:r>
              <a:rPr lang="en-US" dirty="0"/>
              <a:t>S</a:t>
            </a:r>
            <a:r>
              <a:rPr lang="am-ET" dirty="0"/>
              <a:t>kin Hyperpgmentation~~ </a:t>
            </a:r>
            <a:r>
              <a:rPr lang="am-ET" dirty="0">
                <a:cs typeface="Arial" pitchFamily="34" charset="0"/>
              </a:rPr>
              <a:t>adrenal insufficiency</a:t>
            </a:r>
          </a:p>
          <a:p>
            <a:pPr lvl="0"/>
            <a:r>
              <a:rPr lang="en-US" dirty="0"/>
              <a:t>S</a:t>
            </a:r>
            <a:r>
              <a:rPr lang="am-ET" dirty="0"/>
              <a:t>tigmata of Turners syndrome- short sture, schield chest</a:t>
            </a:r>
            <a:endParaRPr lang="en-US" dirty="0"/>
          </a:p>
          <a:p>
            <a:pPr lvl="0"/>
            <a:r>
              <a:rPr lang="en-US" dirty="0"/>
              <a:t> thyroid abnormalities</a:t>
            </a:r>
            <a:r>
              <a:rPr lang="am-ET" dirty="0"/>
              <a:t>- Goitre~~A</a:t>
            </a:r>
            <a:r>
              <a:rPr lang="en-US" dirty="0" err="1"/>
              <a:t>i</a:t>
            </a:r>
            <a:r>
              <a:rPr lang="am-ET" dirty="0"/>
              <a:t>mmune Thyroiditis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92500" lnSpcReduction="20000"/>
          </a:bodyPr>
          <a:lstStyle/>
          <a:p>
            <a:pPr lvl="0">
              <a:buNone/>
            </a:pPr>
            <a:r>
              <a:rPr lang="en-US" b="1" dirty="0"/>
              <a:t>A PELVIC EXAM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Inability to place a speculum through the </a:t>
            </a:r>
            <a:r>
              <a:rPr lang="en-US" dirty="0" err="1"/>
              <a:t>introitus</a:t>
            </a:r>
            <a:r>
              <a:rPr lang="en-US" dirty="0"/>
              <a:t> may raise doubts about coital frequency.</a:t>
            </a:r>
          </a:p>
          <a:p>
            <a:pPr lvl="0"/>
            <a:r>
              <a:rPr lang="en-US" dirty="0"/>
              <a:t>Estrogen Adequacy- moist and </a:t>
            </a:r>
            <a:r>
              <a:rPr lang="en-US" dirty="0" err="1"/>
              <a:t>ruggated</a:t>
            </a:r>
            <a:r>
              <a:rPr lang="en-US" dirty="0"/>
              <a:t> vagina, and  a reasonable amount of cervical mucus ,</a:t>
            </a:r>
            <a:endParaRPr lang="am-ET" dirty="0"/>
          </a:p>
          <a:p>
            <a:pPr lvl="1"/>
            <a:r>
              <a:rPr lang="en-US" dirty="0"/>
              <a:t>H</a:t>
            </a:r>
            <a:r>
              <a:rPr lang="am-ET" dirty="0"/>
              <a:t>ypoestrogenism-atrophic vaginitis</a:t>
            </a:r>
            <a:r>
              <a:rPr lang="en-US" dirty="0"/>
              <a:t> </a:t>
            </a:r>
          </a:p>
          <a:p>
            <a:r>
              <a:rPr lang="en-US" dirty="0"/>
              <a:t>uterus-</a:t>
            </a:r>
          </a:p>
          <a:p>
            <a:pPr lvl="1"/>
            <a:r>
              <a:rPr lang="en-US" dirty="0"/>
              <a:t>enlarged or irregularly shaped uterus ~ </a:t>
            </a:r>
            <a:r>
              <a:rPr lang="en-US" dirty="0" err="1"/>
              <a:t>leiomyomas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 fixed uterus ~ presence of pelvic scarring due to endometriosis or prior pelvic infection. </a:t>
            </a:r>
          </a:p>
          <a:p>
            <a:pPr lvl="1"/>
            <a:r>
              <a:rPr lang="en-US" dirty="0" err="1"/>
              <a:t>Uterosacral</a:t>
            </a:r>
            <a:r>
              <a:rPr lang="en-US" dirty="0"/>
              <a:t> </a:t>
            </a:r>
            <a:r>
              <a:rPr lang="en-US" dirty="0" err="1"/>
              <a:t>nodularity</a:t>
            </a:r>
            <a:r>
              <a:rPr lang="en-US" dirty="0"/>
              <a:t> or ovarian masses may additionally implicate endometriosis.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women should have a normal Pap smear result within the year preceding treatment. </a:t>
            </a:r>
          </a:p>
          <a:p>
            <a:r>
              <a:rPr lang="en-US" dirty="0"/>
              <a:t>Cultures for </a:t>
            </a:r>
            <a:r>
              <a:rPr lang="en-US" i="1" dirty="0"/>
              <a:t>Neisseria gonorrhoeae</a:t>
            </a:r>
            <a:r>
              <a:rPr lang="en-US" dirty="0"/>
              <a:t> and </a:t>
            </a:r>
            <a:r>
              <a:rPr lang="en-US" i="1" dirty="0"/>
              <a:t>Chlamydia trachomatis</a:t>
            </a:r>
            <a:r>
              <a:rPr lang="en-US" dirty="0"/>
              <a:t> should be Negative --&gt; to avoid ascending infection on cervical manipulation . </a:t>
            </a:r>
          </a:p>
          <a:p>
            <a:r>
              <a:rPr lang="en-US" dirty="0"/>
              <a:t>Breast-  bilateral discharge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galactorrhoea</a:t>
            </a:r>
            <a:r>
              <a:rPr lang="en-US" dirty="0">
                <a:sym typeface="Wingdings" pitchFamily="2" charset="2"/>
              </a:rPr>
              <a:t> due to </a:t>
            </a:r>
            <a:r>
              <a:rPr lang="en-US" dirty="0" err="1">
                <a:sym typeface="Wingdings" pitchFamily="2" charset="2"/>
              </a:rPr>
              <a:t>hyperprolactinemia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am-ET" dirty="0"/>
              <a:t>aboratory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initial laboratory tests to consider for the female</a:t>
            </a:r>
            <a:r>
              <a:rPr lang="am-ET" dirty="0"/>
              <a:t> </a:t>
            </a:r>
            <a:r>
              <a:rPr lang="en-US" dirty="0"/>
              <a:t>partner include</a:t>
            </a:r>
            <a:endParaRPr lang="am-ET" dirty="0"/>
          </a:p>
          <a:p>
            <a:pPr lvl="1"/>
            <a:r>
              <a:rPr lang="en-US" dirty="0"/>
              <a:t> </a:t>
            </a:r>
            <a:r>
              <a:rPr lang="am-ET" dirty="0"/>
              <a:t>CBC,</a:t>
            </a:r>
            <a:r>
              <a:rPr lang="en-US" dirty="0"/>
              <a:t> blood type</a:t>
            </a:r>
            <a:r>
              <a:rPr lang="am-ET" dirty="0"/>
              <a:t> </a:t>
            </a:r>
            <a:r>
              <a:rPr lang="en-US" dirty="0"/>
              <a:t>and antibody screen,</a:t>
            </a:r>
            <a:endParaRPr lang="am-ET" dirty="0"/>
          </a:p>
          <a:p>
            <a:pPr lvl="1"/>
            <a:r>
              <a:rPr lang="en-US" dirty="0"/>
              <a:t> Cervical cytology,</a:t>
            </a:r>
          </a:p>
          <a:p>
            <a:pPr lvl="1"/>
            <a:r>
              <a:rPr lang="en-US" dirty="0"/>
              <a:t>TSH , serum </a:t>
            </a:r>
            <a:r>
              <a:rPr lang="en-US" dirty="0" err="1"/>
              <a:t>prolactin</a:t>
            </a:r>
            <a:endParaRPr lang="am-ET" dirty="0"/>
          </a:p>
          <a:p>
            <a:pPr lvl="1"/>
            <a:r>
              <a:rPr lang="en-US" dirty="0"/>
              <a:t> Routine prenatal labs including</a:t>
            </a:r>
            <a:r>
              <a:rPr lang="am-ET" dirty="0"/>
              <a:t> </a:t>
            </a:r>
            <a:r>
              <a:rPr lang="en-US" dirty="0"/>
              <a:t>rubella antibodies,</a:t>
            </a:r>
            <a:r>
              <a:rPr lang="am-ET" dirty="0"/>
              <a:t>HBSAG</a:t>
            </a:r>
            <a:r>
              <a:rPr lang="en-US" dirty="0"/>
              <a:t> , HIV and</a:t>
            </a:r>
            <a:r>
              <a:rPr lang="am-ET" dirty="0"/>
              <a:t> </a:t>
            </a:r>
            <a:r>
              <a:rPr lang="en-US" dirty="0"/>
              <a:t>rapid plasma reagent (RPR).</a:t>
            </a:r>
            <a:endParaRPr lang="am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of Workup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Ovulatory</a:t>
            </a:r>
            <a:r>
              <a:rPr lang="en-US" dirty="0"/>
              <a:t> dysfunction</a:t>
            </a:r>
          </a:p>
          <a:p>
            <a:pPr lvl="1"/>
            <a:r>
              <a:rPr lang="en-US" dirty="0"/>
              <a:t>Serum </a:t>
            </a:r>
            <a:r>
              <a:rPr lang="en-US" dirty="0" err="1"/>
              <a:t>midluteal</a:t>
            </a:r>
            <a:r>
              <a:rPr lang="en-US" dirty="0"/>
              <a:t> progesterone </a:t>
            </a:r>
          </a:p>
          <a:p>
            <a:pPr lvl="1"/>
            <a:r>
              <a:rPr lang="en-US" dirty="0"/>
              <a:t>Ovulation predictor kit </a:t>
            </a:r>
          </a:p>
          <a:p>
            <a:pPr lvl="1"/>
            <a:r>
              <a:rPr lang="en-US" dirty="0"/>
              <a:t>Early follicular FSH ± </a:t>
            </a:r>
            <a:r>
              <a:rPr lang="en-US" dirty="0" err="1"/>
              <a:t>estradiol</a:t>
            </a:r>
            <a:r>
              <a:rPr lang="en-US" dirty="0"/>
              <a:t> level (ovarian reserve) </a:t>
            </a:r>
          </a:p>
          <a:p>
            <a:pPr lvl="1"/>
            <a:r>
              <a:rPr lang="en-US" u="sng" dirty="0"/>
              <a:t>+</a:t>
            </a:r>
            <a:r>
              <a:rPr lang="en-US" dirty="0"/>
              <a:t>  Serum AMH level</a:t>
            </a:r>
            <a:endParaRPr lang="am-ET" u="sng" dirty="0"/>
          </a:p>
          <a:p>
            <a:pPr lvl="1"/>
            <a:r>
              <a:rPr lang="en-US" dirty="0"/>
              <a:t>± Serum measurements (TSH, </a:t>
            </a:r>
            <a:r>
              <a:rPr lang="en-US" dirty="0" err="1"/>
              <a:t>prolactin</a:t>
            </a:r>
            <a:r>
              <a:rPr lang="en-US" dirty="0"/>
              <a:t>, androgens) </a:t>
            </a:r>
          </a:p>
          <a:p>
            <a:pPr lvl="1"/>
            <a:r>
              <a:rPr lang="en-US" dirty="0"/>
              <a:t>± Ovarian </a:t>
            </a:r>
            <a:r>
              <a:rPr lang="en-US" dirty="0" err="1"/>
              <a:t>sonography</a:t>
            </a:r>
            <a:r>
              <a:rPr lang="en-US" dirty="0"/>
              <a:t> </a:t>
            </a:r>
            <a:endParaRPr lang="am-ET" dirty="0"/>
          </a:p>
          <a:p>
            <a:pPr lvl="2"/>
            <a:r>
              <a:rPr lang="am-ET" dirty="0"/>
              <a:t>Follicle Dvt &amp; collapse</a:t>
            </a:r>
            <a:r>
              <a:rPr lang="am-ET" dirty="0">
                <a:sym typeface="Wingdings" pitchFamily="2" charset="2"/>
              </a:rPr>
              <a:t>ovulation</a:t>
            </a:r>
            <a:endParaRPr lang="am-ET" dirty="0"/>
          </a:p>
          <a:p>
            <a:pPr lvl="2"/>
            <a:r>
              <a:rPr lang="am-ET" dirty="0"/>
              <a:t>Early F </a:t>
            </a:r>
            <a:r>
              <a:rPr lang="en-US" dirty="0" err="1"/>
              <a:t>antral</a:t>
            </a:r>
            <a:r>
              <a:rPr lang="en-US" dirty="0"/>
              <a:t> follicle count</a:t>
            </a:r>
            <a:r>
              <a:rPr lang="am-ET" dirty="0"/>
              <a:t>- &lt; 10</a:t>
            </a:r>
            <a:r>
              <a:rPr lang="am-ET" dirty="0">
                <a:sym typeface="Wingdings" pitchFamily="2" charset="2"/>
              </a:rPr>
              <a:t> ↓ ovarian reserve↓response for gonadotropin stimulation</a:t>
            </a:r>
          </a:p>
          <a:p>
            <a:pPr lvl="2"/>
            <a:r>
              <a:rPr lang="am-ET" dirty="0">
                <a:sym typeface="Wingdings" pitchFamily="2" charset="2"/>
              </a:rPr>
              <a:t>PCOS</a:t>
            </a:r>
            <a:endParaRPr lang="en-US" dirty="0"/>
          </a:p>
          <a:p>
            <a:pPr lvl="1"/>
            <a:r>
              <a:rPr lang="en-US" dirty="0"/>
              <a:t>± Basal body temperature chart </a:t>
            </a:r>
          </a:p>
          <a:p>
            <a:pPr lvl="1"/>
            <a:r>
              <a:rPr lang="en-US" dirty="0"/>
              <a:t>± Endometrial biopsy (</a:t>
            </a:r>
            <a:r>
              <a:rPr lang="en-US" dirty="0" err="1"/>
              <a:t>luteal</a:t>
            </a:r>
            <a:r>
              <a:rPr lang="en-US" dirty="0"/>
              <a:t> phase defect)</a:t>
            </a:r>
            <a:r>
              <a:rPr lang="am-ET" dirty="0"/>
              <a:t>???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of Workups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4422"/>
            <a:ext cx="4038600" cy="49117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Tubal/pelvic disease</a:t>
            </a:r>
          </a:p>
          <a:p>
            <a:pPr lvl="1"/>
            <a:r>
              <a:rPr lang="en-US" dirty="0"/>
              <a:t>HSG </a:t>
            </a:r>
          </a:p>
          <a:p>
            <a:pPr lvl="1"/>
            <a:r>
              <a:rPr lang="en-US" dirty="0"/>
              <a:t>Laparoscopy with </a:t>
            </a:r>
            <a:r>
              <a:rPr lang="en-US" dirty="0" err="1"/>
              <a:t>chromotubation</a:t>
            </a:r>
            <a:endParaRPr lang="en-US" dirty="0"/>
          </a:p>
          <a:p>
            <a:r>
              <a:rPr lang="en-US" dirty="0"/>
              <a:t>Uterine factors</a:t>
            </a:r>
          </a:p>
          <a:p>
            <a:pPr lvl="1"/>
            <a:r>
              <a:rPr lang="en-US" dirty="0"/>
              <a:t>HSG</a:t>
            </a:r>
          </a:p>
          <a:p>
            <a:pPr lvl="1"/>
            <a:r>
              <a:rPr lang="en-US" dirty="0" err="1"/>
              <a:t>Transvaginal</a:t>
            </a:r>
            <a:r>
              <a:rPr lang="en-US" dirty="0"/>
              <a:t> </a:t>
            </a:r>
            <a:r>
              <a:rPr lang="en-US" dirty="0" err="1"/>
              <a:t>sonography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Saline-infusion </a:t>
            </a:r>
            <a:r>
              <a:rPr lang="en-US" dirty="0" err="1"/>
              <a:t>sonography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MRI</a:t>
            </a:r>
          </a:p>
          <a:p>
            <a:pPr lvl="1"/>
            <a:r>
              <a:rPr lang="en-US" dirty="0"/>
              <a:t>Hysteroscopy </a:t>
            </a:r>
          </a:p>
          <a:p>
            <a:pPr lvl="1"/>
            <a:r>
              <a:rPr lang="en-US" dirty="0"/>
              <a:t>Laparoscopy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3438" y="1214422"/>
            <a:ext cx="4038600" cy="51974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Cervical factor</a:t>
            </a:r>
          </a:p>
          <a:p>
            <a:pPr lvl="1"/>
            <a:r>
              <a:rPr lang="en-US" dirty="0"/>
              <a:t>± </a:t>
            </a:r>
            <a:r>
              <a:rPr lang="en-US" dirty="0" err="1"/>
              <a:t>Postcoital</a:t>
            </a:r>
            <a:r>
              <a:rPr lang="en-US" dirty="0"/>
              <a:t> test</a:t>
            </a:r>
          </a:p>
          <a:p>
            <a:r>
              <a:rPr lang="en-US" dirty="0"/>
              <a:t>Male factor</a:t>
            </a:r>
          </a:p>
          <a:p>
            <a:pPr lvl="1"/>
            <a:r>
              <a:rPr lang="en-US" dirty="0"/>
              <a:t>Semen analysis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the male Partner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000108"/>
            <a:ext cx="8329642" cy="535785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History</a:t>
            </a:r>
          </a:p>
          <a:p>
            <a:r>
              <a:rPr lang="en-US" dirty="0"/>
              <a:t>Pubertal development</a:t>
            </a:r>
          </a:p>
          <a:p>
            <a:r>
              <a:rPr lang="en-US" dirty="0"/>
              <a:t>Sexual dysfunction</a:t>
            </a:r>
          </a:p>
          <a:p>
            <a:pPr lvl="1"/>
            <a:r>
              <a:rPr lang="en-US" dirty="0"/>
              <a:t>Erectile D + decreased beard</a:t>
            </a:r>
            <a:r>
              <a:rPr lang="en-US" dirty="0">
                <a:sym typeface="Wingdings" pitchFamily="2" charset="2"/>
              </a:rPr>
              <a:t> low testosterone level</a:t>
            </a:r>
          </a:p>
          <a:p>
            <a:r>
              <a:rPr lang="en-US" dirty="0" err="1">
                <a:sym typeface="Wingdings" pitchFamily="2" charset="2"/>
              </a:rPr>
              <a:t>Ejacualtory</a:t>
            </a:r>
            <a:r>
              <a:rPr lang="en-US" dirty="0">
                <a:sym typeface="Wingdings" pitchFamily="2" charset="2"/>
              </a:rPr>
              <a:t> dysfunction , </a:t>
            </a:r>
            <a:r>
              <a:rPr lang="en-US" dirty="0" err="1">
                <a:sym typeface="Wingdings" pitchFamily="2" charset="2"/>
              </a:rPr>
              <a:t>dev’tal</a:t>
            </a:r>
            <a:r>
              <a:rPr lang="en-US" dirty="0">
                <a:sym typeface="Wingdings" pitchFamily="2" charset="2"/>
              </a:rPr>
              <a:t> anomalies</a:t>
            </a:r>
          </a:p>
          <a:p>
            <a:pPr lvl="1"/>
            <a:r>
              <a:rPr lang="en-US" dirty="0" err="1">
                <a:sym typeface="Wingdings" pitchFamily="2" charset="2"/>
              </a:rPr>
              <a:t>Eg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Hypospadia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sboptimal</a:t>
            </a:r>
            <a:r>
              <a:rPr lang="en-US" dirty="0">
                <a:sym typeface="Wingdings" pitchFamily="2" charset="2"/>
              </a:rPr>
              <a:t> semen </a:t>
            </a:r>
            <a:r>
              <a:rPr lang="en-US" dirty="0" err="1">
                <a:sym typeface="Wingdings" pitchFamily="2" charset="2"/>
              </a:rPr>
              <a:t>diposition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STI, GU infections ( </a:t>
            </a:r>
            <a:r>
              <a:rPr lang="en-US" dirty="0" err="1">
                <a:sym typeface="Wingdings" pitchFamily="2" charset="2"/>
              </a:rPr>
              <a:t>Epidimytis,Prostatitis</a:t>
            </a:r>
            <a:r>
              <a:rPr lang="en-US" dirty="0">
                <a:sym typeface="Wingdings" pitchFamily="2" charset="2"/>
              </a:rPr>
              <a:t>) VD obstruction</a:t>
            </a:r>
          </a:p>
          <a:p>
            <a:r>
              <a:rPr lang="en-US" dirty="0">
                <a:sym typeface="Wingdings" pitchFamily="2" charset="2"/>
              </a:rPr>
              <a:t>Mumps abnormal sperm stem cells 2</a:t>
            </a:r>
            <a:r>
              <a:rPr lang="en-US" baseline="30000" dirty="0">
                <a:sym typeface="Wingdings" pitchFamily="2" charset="2"/>
              </a:rPr>
              <a:t>0</a:t>
            </a:r>
            <a:r>
              <a:rPr lang="en-US" dirty="0">
                <a:sym typeface="Wingdings" pitchFamily="2" charset="2"/>
              </a:rPr>
              <a:t> to testicular inflammation</a:t>
            </a:r>
          </a:p>
          <a:p>
            <a:r>
              <a:rPr lang="en-US" dirty="0" err="1">
                <a:sym typeface="Wingdings" pitchFamily="2" charset="2"/>
              </a:rPr>
              <a:t>Cryptorchidism</a:t>
            </a:r>
            <a:r>
              <a:rPr lang="en-US" dirty="0">
                <a:sym typeface="Wingdings" pitchFamily="2" charset="2"/>
              </a:rPr>
              <a:t>, testicular torsion . Trauma abnormal spermatogenesis</a:t>
            </a:r>
          </a:p>
          <a:p>
            <a:r>
              <a:rPr lang="en-US" dirty="0" err="1">
                <a:sym typeface="Wingdings" pitchFamily="2" charset="2"/>
              </a:rPr>
              <a:t>Varicocele</a:t>
            </a:r>
            <a:r>
              <a:rPr lang="en-US" dirty="0">
                <a:sym typeface="Wingdings" pitchFamily="2" charset="2"/>
              </a:rPr>
              <a:t>  increased scrotal </a:t>
            </a:r>
            <a:r>
              <a:rPr lang="en-US" dirty="0" err="1">
                <a:sym typeface="Wingdings" pitchFamily="2" charset="2"/>
              </a:rPr>
              <a:t>temprature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lvl="1"/>
            <a:r>
              <a:rPr lang="en-US" dirty="0">
                <a:sym typeface="Wingdings" pitchFamily="2" charset="2"/>
              </a:rPr>
              <a:t>Effect of V on fertility- controversial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the male Partner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301038" cy="5072098"/>
          </a:xfrm>
        </p:spPr>
        <p:txBody>
          <a:bodyPr>
            <a:normAutofit fontScale="92500"/>
          </a:bodyPr>
          <a:lstStyle/>
          <a:p>
            <a:r>
              <a:rPr lang="en-US" dirty="0"/>
              <a:t>Illicit drugs, </a:t>
            </a:r>
          </a:p>
          <a:p>
            <a:pPr lvl="1"/>
            <a:r>
              <a:rPr lang="en-US" dirty="0"/>
              <a:t>alcohol, environmental toxins</a:t>
            </a:r>
          </a:p>
          <a:p>
            <a:pPr lvl="1"/>
            <a:r>
              <a:rPr lang="en-US" dirty="0"/>
              <a:t>Anabolic steroids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supress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intratesticular</a:t>
            </a:r>
            <a:r>
              <a:rPr lang="en-US" dirty="0">
                <a:sym typeface="Wingdings" pitchFamily="2" charset="2"/>
              </a:rPr>
              <a:t> Testosterone </a:t>
            </a:r>
            <a:r>
              <a:rPr lang="en-US" dirty="0" err="1">
                <a:sym typeface="Wingdings" pitchFamily="2" charset="2"/>
              </a:rPr>
              <a:t>productiondecreased</a:t>
            </a:r>
            <a:r>
              <a:rPr lang="en-US" dirty="0">
                <a:sym typeface="Wingdings" pitchFamily="2" charset="2"/>
              </a:rPr>
              <a:t> sperm production  ( may have irreversible effect)</a:t>
            </a:r>
            <a:endParaRPr lang="en-US" dirty="0"/>
          </a:p>
          <a:p>
            <a:pPr>
              <a:buNone/>
            </a:pPr>
            <a:r>
              <a:rPr lang="en-US" dirty="0"/>
              <a:t>Medical </a:t>
            </a:r>
            <a:r>
              <a:rPr lang="en-US" dirty="0" err="1"/>
              <a:t>Hx</a:t>
            </a:r>
            <a:endParaRPr lang="en-US" dirty="0"/>
          </a:p>
          <a:p>
            <a:pPr lvl="1"/>
            <a:r>
              <a:rPr lang="en-US" dirty="0"/>
              <a:t>DM, HTN, Neurologic disorders</a:t>
            </a:r>
            <a:r>
              <a:rPr lang="en-US" dirty="0">
                <a:sym typeface="Wingdings" pitchFamily="2" charset="2"/>
              </a:rPr>
              <a:t> Erectile dysfunction, Retrograde ejaculation</a:t>
            </a:r>
            <a:endParaRPr lang="en-US" dirty="0"/>
          </a:p>
          <a:p>
            <a:pPr lvl="1"/>
            <a:r>
              <a:rPr lang="en-US" dirty="0"/>
              <a:t>Chemo or localized radiotherapy</a:t>
            </a:r>
          </a:p>
          <a:p>
            <a:pPr lvl="1"/>
            <a:r>
              <a:rPr lang="en-US" dirty="0"/>
              <a:t>Medications that worsen semen parameters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cimetidine</a:t>
            </a:r>
            <a:r>
              <a:rPr lang="en-US" dirty="0"/>
              <a:t>, erythromycin, </a:t>
            </a:r>
            <a:r>
              <a:rPr lang="en-US" dirty="0" err="1"/>
              <a:t>TTc</a:t>
            </a:r>
            <a:r>
              <a:rPr lang="en-US" dirty="0"/>
              <a:t>, </a:t>
            </a:r>
            <a:r>
              <a:rPr lang="en-US" dirty="0" err="1"/>
              <a:t>Gentamycin</a:t>
            </a:r>
            <a:r>
              <a:rPr lang="en-US" dirty="0"/>
              <a:t>,  </a:t>
            </a:r>
            <a:r>
              <a:rPr lang="en-US" dirty="0" err="1"/>
              <a:t>spironlactone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11156"/>
          </a:xfrm>
        </p:spPr>
        <p:txBody>
          <a:bodyPr>
            <a:noAutofit/>
          </a:bodyPr>
          <a:lstStyle/>
          <a:p>
            <a:r>
              <a:rPr lang="en-US" sz="3600" dirty="0"/>
              <a:t>Evaluation of the male Partner -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621508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 signs of testosterone production, normal SSCs.</a:t>
            </a:r>
          </a:p>
          <a:p>
            <a:r>
              <a:rPr lang="en-US" dirty="0"/>
              <a:t> Gynecomastia or eunuchoid habitus</a:t>
            </a:r>
          </a:p>
          <a:p>
            <a:r>
              <a:rPr lang="en-US" dirty="0"/>
              <a:t>The penile urethra should be at the tip of the glans</a:t>
            </a:r>
          </a:p>
          <a:p>
            <a:r>
              <a:rPr lang="en-US" dirty="0"/>
              <a:t>Testicular length should be at least 4 cm with a minimal testicular volume of 20 </a:t>
            </a:r>
            <a:r>
              <a:rPr lang="en-US" dirty="0" err="1"/>
              <a:t>mL.</a:t>
            </a:r>
            <a:endParaRPr lang="en-US" dirty="0"/>
          </a:p>
          <a:p>
            <a:r>
              <a:rPr lang="en-US" dirty="0"/>
              <a:t> A testicular mass may indicate testicular cancer</a:t>
            </a:r>
          </a:p>
          <a:p>
            <a:r>
              <a:rPr lang="en-US" dirty="0"/>
              <a:t>The </a:t>
            </a:r>
            <a:r>
              <a:rPr lang="en-US" dirty="0" err="1"/>
              <a:t>epididymis</a:t>
            </a:r>
            <a:r>
              <a:rPr lang="en-US" dirty="0"/>
              <a:t> should be soft and </a:t>
            </a:r>
            <a:r>
              <a:rPr lang="en-US" dirty="0" err="1"/>
              <a:t>nontender</a:t>
            </a:r>
            <a:r>
              <a:rPr lang="en-US" dirty="0"/>
              <a:t> to exclude chronic infection. </a:t>
            </a:r>
            <a:r>
              <a:rPr lang="en-US" dirty="0" err="1"/>
              <a:t>Epididymal</a:t>
            </a:r>
            <a:r>
              <a:rPr lang="en-US" dirty="0"/>
              <a:t> fullness may suggest vas deferens obstruction.</a:t>
            </a:r>
          </a:p>
          <a:p>
            <a:r>
              <a:rPr lang="en-US" dirty="0"/>
              <a:t>pampiniform plexus of veins should be palpated for varicocele (</a:t>
            </a:r>
            <a:r>
              <a:rPr lang="en-US" dirty="0" err="1"/>
              <a:t>Jarow</a:t>
            </a:r>
            <a:r>
              <a:rPr lang="en-US" dirty="0"/>
              <a:t>, 2001). </a:t>
            </a:r>
          </a:p>
          <a:p>
            <a:r>
              <a:rPr lang="en-US" dirty="0"/>
              <a:t>The prostate should be smooth, nontender, and normal size.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Male Workups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Causes of male infertility can roughly be categorized as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 Abnormalities of sperm production,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Abnormalities of sperm function, and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Obstruction of the ductal outflow tract.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Male Workup- Semen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501122" cy="4857784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/>
              <a:t>Reflects events of the past 3months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spermatogenesis requires an overall 90days</a:t>
            </a:r>
          </a:p>
          <a:p>
            <a:r>
              <a:rPr lang="en-US" dirty="0"/>
              <a:t>Refrain from coitus for 2-3 days- </a:t>
            </a:r>
            <a:r>
              <a:rPr lang="en-US" dirty="0" err="1"/>
              <a:t>masterbate</a:t>
            </a:r>
            <a:r>
              <a:rPr lang="en-US" dirty="0"/>
              <a:t>/ Elastic non lubricated condom--Sample to lab within one hr</a:t>
            </a:r>
          </a:p>
          <a:p>
            <a:r>
              <a:rPr lang="en-US" dirty="0"/>
              <a:t>Ideally the test is done 2x- at least a month apart (once if N result)</a:t>
            </a:r>
          </a:p>
          <a:p>
            <a:r>
              <a:rPr lang="en-US" dirty="0"/>
              <a:t>The standard semen analysis consists of the following:</a:t>
            </a:r>
          </a:p>
          <a:p>
            <a:pPr lvl="1"/>
            <a:r>
              <a:rPr lang="en-US" dirty="0"/>
              <a:t>Semen volume and pH</a:t>
            </a:r>
          </a:p>
          <a:p>
            <a:pPr lvl="1"/>
            <a:r>
              <a:rPr lang="en-US" dirty="0"/>
              <a:t>Microscopy for:</a:t>
            </a:r>
          </a:p>
          <a:p>
            <a:pPr lvl="1"/>
            <a:r>
              <a:rPr lang="en-US" dirty="0"/>
              <a:t>Sperm concentration, count, motility, and morphology</a:t>
            </a:r>
          </a:p>
          <a:p>
            <a:pPr lvl="1"/>
            <a:r>
              <a:rPr lang="en-US" dirty="0"/>
              <a:t>Debris and agglutination</a:t>
            </a:r>
          </a:p>
          <a:p>
            <a:pPr lvl="1"/>
            <a:r>
              <a:rPr lang="en-US" dirty="0"/>
              <a:t>Leukocyte count</a:t>
            </a:r>
          </a:p>
          <a:p>
            <a:pPr lvl="1"/>
            <a:r>
              <a:rPr lang="en-US" dirty="0"/>
              <a:t>Immature germ cells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A02511-C19A-4280-A515-FC497E6E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908720"/>
            <a:ext cx="8501122" cy="5447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US" dirty="0"/>
              <a:t>Male Infertility Workup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Other workups for male infertility include</a:t>
            </a:r>
          </a:p>
          <a:p>
            <a:r>
              <a:rPr lang="en-US" dirty="0" err="1"/>
              <a:t>Antisperm</a:t>
            </a:r>
            <a:r>
              <a:rPr lang="en-US" dirty="0"/>
              <a:t> antibodies assay</a:t>
            </a:r>
          </a:p>
          <a:p>
            <a:r>
              <a:rPr lang="en-US" dirty="0"/>
              <a:t>DNA Fragmentation test</a:t>
            </a:r>
          </a:p>
          <a:p>
            <a:r>
              <a:rPr lang="en-US" dirty="0"/>
              <a:t>Sperm Function assays</a:t>
            </a:r>
          </a:p>
          <a:p>
            <a:pPr lvl="1"/>
            <a:r>
              <a:rPr lang="en-US" dirty="0"/>
              <a:t>Mannose </a:t>
            </a:r>
            <a:r>
              <a:rPr lang="en-US" dirty="0" err="1"/>
              <a:t>fluoresence</a:t>
            </a:r>
            <a:r>
              <a:rPr lang="en-US" dirty="0"/>
              <a:t> assay</a:t>
            </a:r>
          </a:p>
          <a:p>
            <a:pPr lvl="1"/>
            <a:r>
              <a:rPr lang="en-US" dirty="0" err="1"/>
              <a:t>Hemizonal</a:t>
            </a:r>
            <a:r>
              <a:rPr lang="en-US" dirty="0"/>
              <a:t> assay</a:t>
            </a:r>
          </a:p>
          <a:p>
            <a:pPr lvl="1"/>
            <a:r>
              <a:rPr lang="en-US" dirty="0"/>
              <a:t>Sperm penetration assay</a:t>
            </a:r>
          </a:p>
          <a:p>
            <a:pPr lvl="1"/>
            <a:r>
              <a:rPr lang="en-US" dirty="0" err="1"/>
              <a:t>Acrosomal</a:t>
            </a:r>
            <a:r>
              <a:rPr lang="en-US" dirty="0"/>
              <a:t> reaction</a:t>
            </a:r>
          </a:p>
          <a:p>
            <a:r>
              <a:rPr lang="en-US" dirty="0"/>
              <a:t>Hormonal Tests</a:t>
            </a:r>
          </a:p>
          <a:p>
            <a:pPr lvl="1"/>
            <a:r>
              <a:rPr lang="en-US" dirty="0"/>
              <a:t>FSH</a:t>
            </a:r>
          </a:p>
          <a:p>
            <a:pPr lvl="1"/>
            <a:r>
              <a:rPr lang="en-US" dirty="0"/>
              <a:t>Testosterone</a:t>
            </a:r>
          </a:p>
          <a:p>
            <a:pPr lvl="1"/>
            <a:r>
              <a:rPr lang="en-US" dirty="0" err="1"/>
              <a:t>Prolactin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Tyroid</a:t>
            </a:r>
            <a:r>
              <a:rPr lang="en-US" dirty="0"/>
              <a:t> Function Tests</a:t>
            </a:r>
          </a:p>
          <a:p>
            <a:r>
              <a:rPr lang="en-US" dirty="0"/>
              <a:t>Testicular Biopsy</a:t>
            </a:r>
          </a:p>
          <a:p>
            <a:r>
              <a:rPr lang="en-US" dirty="0"/>
              <a:t>Male Genetic testing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                               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                    TREATMENT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Infertility Rx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4983179"/>
          </a:xfrm>
        </p:spPr>
        <p:txBody>
          <a:bodyPr/>
          <a:lstStyle/>
          <a:p>
            <a:r>
              <a:rPr lang="en-US" dirty="0"/>
              <a:t>Treatment of infertility depends on</a:t>
            </a:r>
          </a:p>
          <a:p>
            <a:pPr lvl="1"/>
            <a:r>
              <a:rPr lang="en-US" dirty="0"/>
              <a:t>cause</a:t>
            </a:r>
          </a:p>
          <a:p>
            <a:pPr lvl="1"/>
            <a:r>
              <a:rPr lang="en-US" dirty="0"/>
              <a:t>Duration of problem </a:t>
            </a:r>
          </a:p>
          <a:p>
            <a:pPr lvl="1"/>
            <a:r>
              <a:rPr lang="en-US" dirty="0"/>
              <a:t>Age (esp. of females)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Infertility Rx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49911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Life style Therapy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Correction of identified causes</a:t>
            </a:r>
          </a:p>
          <a:p>
            <a:pPr lvl="1"/>
            <a:r>
              <a:rPr lang="en-US" dirty="0"/>
              <a:t>Correction of ovarian dysfunction</a:t>
            </a:r>
          </a:p>
          <a:p>
            <a:pPr lvl="2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Ovulation Induction-</a:t>
            </a:r>
            <a:r>
              <a:rPr lang="en-US" dirty="0"/>
              <a:t> Stimulation of ovulation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3"/>
            <a:r>
              <a:rPr lang="en-US" dirty="0"/>
              <a:t>Common ovulation inductions agents</a:t>
            </a:r>
          </a:p>
          <a:p>
            <a:pPr lvl="4"/>
            <a:r>
              <a:rPr lang="en-US" dirty="0"/>
              <a:t>Clomiphene citrate</a:t>
            </a:r>
          </a:p>
          <a:p>
            <a:pPr lvl="4"/>
            <a:r>
              <a:rPr lang="en-US" dirty="0"/>
              <a:t>CC + glucocorticoids</a:t>
            </a:r>
          </a:p>
          <a:p>
            <a:pPr lvl="4"/>
            <a:r>
              <a:rPr lang="en-US" dirty="0"/>
              <a:t>Insulin sensitizers--</a:t>
            </a:r>
            <a:r>
              <a:rPr lang="en-US" b="1" i="1" dirty="0"/>
              <a:t>Biguanides </a:t>
            </a:r>
            <a:r>
              <a:rPr lang="en-US" dirty="0"/>
              <a:t>and </a:t>
            </a:r>
            <a:r>
              <a:rPr lang="en-US" b="1" i="1" dirty="0"/>
              <a:t>Thiazolidinediones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Gonadotropins</a:t>
            </a:r>
          </a:p>
          <a:p>
            <a:pPr lvl="4"/>
            <a:r>
              <a:rPr lang="en-US" dirty="0"/>
              <a:t>Aromatase inhibitors</a:t>
            </a:r>
          </a:p>
          <a:p>
            <a:pPr lvl="1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Hyperprolactinomeia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rx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Correction of Anatomic Abnormalities</a:t>
            </a:r>
          </a:p>
          <a:p>
            <a:pPr lvl="1"/>
            <a:r>
              <a:rPr lang="en-US" dirty="0"/>
              <a:t>ART- Assisted reproductive technology</a:t>
            </a:r>
          </a:p>
          <a:p>
            <a:pPr lvl="2"/>
            <a:r>
              <a:rPr lang="en-US" b="1" dirty="0"/>
              <a:t>Invitro </a:t>
            </a:r>
            <a:r>
              <a:rPr lang="en-US" b="1" dirty="0" err="1"/>
              <a:t>Fetilization</a:t>
            </a:r>
            <a:r>
              <a:rPr lang="en-US" b="1" dirty="0"/>
              <a:t>( IVF ) </a:t>
            </a:r>
          </a:p>
          <a:p>
            <a:pPr lvl="3"/>
            <a:r>
              <a:rPr lang="en-US" dirty="0"/>
              <a:t>Intracytoplasmic Sperm Injection (ICSI)</a:t>
            </a:r>
          </a:p>
          <a:p>
            <a:pPr lvl="2"/>
            <a:r>
              <a:rPr lang="en-US" b="1" dirty="0"/>
              <a:t>Gestational Carrier Surrogacy</a:t>
            </a:r>
          </a:p>
          <a:p>
            <a:pPr lvl="2"/>
            <a:r>
              <a:rPr lang="en-US" b="1" dirty="0"/>
              <a:t>Egg donation</a:t>
            </a:r>
          </a:p>
          <a:p>
            <a:pPr lvl="2"/>
            <a:r>
              <a:rPr lang="en-US" b="1" dirty="0"/>
              <a:t>Gamete Intrafallopian Transfer (GIFT)</a:t>
            </a:r>
          </a:p>
          <a:p>
            <a:pPr lvl="2"/>
            <a:endParaRPr lang="en-US" dirty="0"/>
          </a:p>
          <a:p>
            <a:pPr lvl="3"/>
            <a:endParaRPr lang="en-US" b="1" dirty="0"/>
          </a:p>
          <a:p>
            <a:pPr lvl="2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9602-F19B-47D9-980B-91655331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8920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AEBB7-E3F3-42A0-98EE-B1411705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Geremew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CD6C2-AD37-4247-8764-29954879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2563-6B44-4F2B-936D-8B12E5BC330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2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6952</TotalTime>
  <Words>2521</Words>
  <Application>Microsoft Office PowerPoint</Application>
  <PresentationFormat>On-screen Show (4:3)</PresentationFormat>
  <Paragraphs>482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Aharoni</vt:lpstr>
      <vt:lpstr>Arial</vt:lpstr>
      <vt:lpstr>Calibri</vt:lpstr>
      <vt:lpstr>Nyala</vt:lpstr>
      <vt:lpstr>Times New Roman</vt:lpstr>
      <vt:lpstr>Wingdings</vt:lpstr>
      <vt:lpstr>ተ</vt:lpstr>
      <vt:lpstr>Office Theme</vt:lpstr>
      <vt:lpstr>INFERTILITY </vt:lpstr>
      <vt:lpstr>Outline </vt:lpstr>
      <vt:lpstr>DEFINITIONS </vt:lpstr>
      <vt:lpstr>DEFINITIONS</vt:lpstr>
      <vt:lpstr>Etiology  </vt:lpstr>
      <vt:lpstr>Etiology of Infertility</vt:lpstr>
      <vt:lpstr> Ovulatory Dysfunction </vt:lpstr>
      <vt:lpstr>Ovulatory Dysfunction </vt:lpstr>
      <vt:lpstr> OVULATORY DYSFUNCTION </vt:lpstr>
      <vt:lpstr> OVULATORY DYSFUNCTION </vt:lpstr>
      <vt:lpstr>OVULATORY DYSFUNCTION</vt:lpstr>
      <vt:lpstr>OVULATORY DYSFUNCTION </vt:lpstr>
      <vt:lpstr>Ovulatory Dysfunction</vt:lpstr>
      <vt:lpstr>Female Aging and Infertility</vt:lpstr>
      <vt:lpstr>TUBAL + PERITONEAL FACTORS</vt:lpstr>
      <vt:lpstr>UTERINE FACTORS</vt:lpstr>
      <vt:lpstr>Cervical Factor</vt:lpstr>
      <vt:lpstr>PowerPoint Presentation</vt:lpstr>
      <vt:lpstr>PowerPoint Presentation</vt:lpstr>
      <vt:lpstr>Evaluation </vt:lpstr>
      <vt:lpstr>Evaluation </vt:lpstr>
      <vt:lpstr>Female History </vt:lpstr>
      <vt:lpstr>Female History</vt:lpstr>
      <vt:lpstr>Female History</vt:lpstr>
      <vt:lpstr>Female History</vt:lpstr>
      <vt:lpstr> Female History- SOCIAL CONTD </vt:lpstr>
      <vt:lpstr>Female History-SOCIAL CONTD </vt:lpstr>
      <vt:lpstr>Female History</vt:lpstr>
      <vt:lpstr>Obesity and Environmental Factors Vs Fertility</vt:lpstr>
      <vt:lpstr>Female PE</vt:lpstr>
      <vt:lpstr>Female PE</vt:lpstr>
      <vt:lpstr>Female PE</vt:lpstr>
      <vt:lpstr>Laboratory </vt:lpstr>
      <vt:lpstr>Summary of Workup</vt:lpstr>
      <vt:lpstr>Summary of Workups</vt:lpstr>
      <vt:lpstr>Evaluation of the male Partner  </vt:lpstr>
      <vt:lpstr>Evaluation of the male Partner </vt:lpstr>
      <vt:lpstr>Evaluation of the male Partner - PE</vt:lpstr>
      <vt:lpstr>Male Workups</vt:lpstr>
      <vt:lpstr> Male Workup- Semen analysis </vt:lpstr>
      <vt:lpstr>Male Infertility Workup</vt:lpstr>
      <vt:lpstr>PowerPoint Presentation</vt:lpstr>
      <vt:lpstr>Infertility Rx</vt:lpstr>
      <vt:lpstr>Infertility Rx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Infertility</dc:title>
  <dc:creator>Sami</dc:creator>
  <cp:lastModifiedBy>User</cp:lastModifiedBy>
  <cp:revision>319</cp:revision>
  <dcterms:created xsi:type="dcterms:W3CDTF">2013-06-23T18:04:09Z</dcterms:created>
  <dcterms:modified xsi:type="dcterms:W3CDTF">2025-09-08T10:46:31Z</dcterms:modified>
</cp:coreProperties>
</file>