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7" r:id="rId2"/>
    <p:sldId id="259" r:id="rId3"/>
    <p:sldId id="262" r:id="rId4"/>
    <p:sldId id="265" r:id="rId5"/>
    <p:sldId id="264" r:id="rId6"/>
    <p:sldId id="271" r:id="rId7"/>
    <p:sldId id="266" r:id="rId8"/>
    <p:sldId id="268" r:id="rId9"/>
    <p:sldId id="269" r:id="rId10"/>
    <p:sldId id="270" r:id="rId11"/>
    <p:sldId id="272" r:id="rId12"/>
    <p:sldId id="322" r:id="rId13"/>
    <p:sldId id="275" r:id="rId14"/>
    <p:sldId id="274" r:id="rId15"/>
    <p:sldId id="276" r:id="rId16"/>
    <p:sldId id="277" r:id="rId17"/>
    <p:sldId id="278" r:id="rId18"/>
    <p:sldId id="279" r:id="rId19"/>
    <p:sldId id="280" r:id="rId20"/>
    <p:sldId id="323" r:id="rId21"/>
    <p:sldId id="289" r:id="rId22"/>
    <p:sldId id="294" r:id="rId23"/>
    <p:sldId id="293" r:id="rId24"/>
    <p:sldId id="324" r:id="rId25"/>
    <p:sldId id="282" r:id="rId26"/>
    <p:sldId id="325" r:id="rId27"/>
    <p:sldId id="290" r:id="rId28"/>
    <p:sldId id="333" r:id="rId29"/>
    <p:sldId id="292" r:id="rId30"/>
    <p:sldId id="297" r:id="rId31"/>
    <p:sldId id="326" r:id="rId32"/>
    <p:sldId id="281" r:id="rId33"/>
    <p:sldId id="334" r:id="rId34"/>
    <p:sldId id="335" r:id="rId35"/>
    <p:sldId id="283" r:id="rId36"/>
    <p:sldId id="284" r:id="rId37"/>
    <p:sldId id="285" r:id="rId38"/>
    <p:sldId id="287" r:id="rId39"/>
    <p:sldId id="304" r:id="rId40"/>
    <p:sldId id="328" r:id="rId41"/>
    <p:sldId id="336" r:id="rId42"/>
    <p:sldId id="300" r:id="rId43"/>
    <p:sldId id="316" r:id="rId44"/>
    <p:sldId id="319" r:id="rId45"/>
    <p:sldId id="337" r:id="rId46"/>
    <p:sldId id="320" r:id="rId47"/>
    <p:sldId id="302" r:id="rId48"/>
    <p:sldId id="307" r:id="rId49"/>
    <p:sldId id="309" r:id="rId50"/>
    <p:sldId id="332" r:id="rId51"/>
    <p:sldId id="321" r:id="rId52"/>
    <p:sldId id="310" r:id="rId53"/>
    <p:sldId id="311" r:id="rId54"/>
    <p:sldId id="312" r:id="rId55"/>
    <p:sldId id="260" r:id="rId56"/>
    <p:sldId id="26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51" autoAdjust="0"/>
  </p:normalViewPr>
  <p:slideViewPr>
    <p:cSldViewPr>
      <p:cViewPr varScale="1">
        <p:scale>
          <a:sx n="60" d="100"/>
          <a:sy n="60" d="100"/>
        </p:scale>
        <p:origin x="-145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773DEF-59DA-4D7C-92A8-A7F8DE9C1219}" type="datetimeFigureOut">
              <a:rPr lang="en-US" smtClean="0"/>
              <a:pPr/>
              <a:t>9/1/2025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0F2122-4B5F-47FF-AE7C-C8D970226125}" type="slidenum">
              <a:rPr lang="en-US" smtClean="0"/>
              <a:pPr/>
              <a:t>‹#›</a:t>
            </a:fld>
            <a:endParaRPr lang="en-US"/>
          </a:p>
        </p:txBody>
      </p:sp>
    </p:spTree>
    <p:extLst>
      <p:ext uri="{BB962C8B-B14F-4D97-AF65-F5344CB8AC3E}">
        <p14:creationId xmlns:p14="http://schemas.microsoft.com/office/powerpoint/2010/main" val="2547330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20D100-B62A-49A9-9AB7-61FD1ED42602}" type="slidenum">
              <a:rPr lang="en-US" smtClean="0"/>
              <a:pPr/>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 typeface="Wingdings" panose="05000000000000000000" pitchFamily="2" charset="2"/>
              <a:buNone/>
            </a:pPr>
            <a:endParaRPr lang="en-US" sz="2800" dirty="0" smtClean="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850F2122-4B5F-47FF-AE7C-C8D970226125}" type="slidenum">
              <a:rPr lang="en-US" smtClean="0"/>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9488A-E168-4C9F-9A58-A7B82059D4A4}" type="slidenum">
              <a:rPr lang="en-US" smtClean="0"/>
              <a:pPr/>
              <a:t>15</a:t>
            </a:fld>
            <a:endParaRPr lang="en-US" dirty="0"/>
          </a:p>
        </p:txBody>
      </p:sp>
    </p:spTree>
    <p:extLst>
      <p:ext uri="{BB962C8B-B14F-4D97-AF65-F5344CB8AC3E}">
        <p14:creationId xmlns:p14="http://schemas.microsoft.com/office/powerpoint/2010/main" val="355359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16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19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25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30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850F2122-4B5F-47FF-AE7C-C8D970226125}" type="slidenum">
              <a:rPr lang="en-US" smtClean="0"/>
              <a:pPr/>
              <a:t>32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33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35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0F2122-4B5F-47FF-AE7C-C8D970226125}" type="slidenum">
              <a:rPr lang="en-US" smtClean="0"/>
              <a:pPr/>
              <a:t>39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850F2122-4B5F-47FF-AE7C-C8D970226125}" type="slidenum">
              <a:rPr lang="en-US" smtClean="0"/>
              <a:pPr/>
              <a:t>41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80E9488A-E168-4C9F-9A58-A7B82059D4A4}" type="slidenum">
              <a:rPr lang="en-US" smtClean="0"/>
              <a:pPr/>
              <a:t>44</a:t>
            </a:fld>
            <a:endParaRPr lang="en-US"/>
          </a:p>
        </p:txBody>
      </p:sp>
    </p:spTree>
    <p:extLst>
      <p:ext uri="{BB962C8B-B14F-4D97-AF65-F5344CB8AC3E}">
        <p14:creationId xmlns:p14="http://schemas.microsoft.com/office/powerpoint/2010/main" val="3169255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9488A-E168-4C9F-9A58-A7B82059D4A4}" type="slidenum">
              <a:rPr lang="en-US" smtClean="0"/>
              <a:pPr/>
              <a:t>48</a:t>
            </a:fld>
            <a:endParaRPr lang="en-US"/>
          </a:p>
        </p:txBody>
      </p:sp>
    </p:spTree>
    <p:extLst>
      <p:ext uri="{BB962C8B-B14F-4D97-AF65-F5344CB8AC3E}">
        <p14:creationId xmlns:p14="http://schemas.microsoft.com/office/powerpoint/2010/main" val="4063721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9488A-E168-4C9F-9A58-A7B82059D4A4}" type="slidenum">
              <a:rPr lang="en-US" smtClean="0"/>
              <a:pPr/>
              <a:t>49</a:t>
            </a:fld>
            <a:endParaRPr lang="en-US"/>
          </a:p>
        </p:txBody>
      </p:sp>
    </p:spTree>
    <p:extLst>
      <p:ext uri="{BB962C8B-B14F-4D97-AF65-F5344CB8AC3E}">
        <p14:creationId xmlns:p14="http://schemas.microsoft.com/office/powerpoint/2010/main" val="1374489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88" y="2590800"/>
            <a:ext cx="9144000" cy="1676400"/>
          </a:xfrm>
          <a:solidFill>
            <a:schemeClr val="bg1"/>
          </a:solidFill>
        </p:spPr>
        <p:txBody>
          <a:bodyPr>
            <a:noAutofit/>
          </a:bodyPr>
          <a:lstStyle/>
          <a:p>
            <a:r>
              <a:rPr lang="en-US" altLang="ko-KR" sz="6000" b="1" dirty="0" smtClean="0"/>
              <a:t>Induction &amp; Augmentation Of Labor</a:t>
            </a:r>
            <a:endParaRPr lang="en-US" sz="6000" b="1" u="sng" dirty="0">
              <a:solidFill>
                <a:srgbClr val="92D05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b="1" dirty="0" smtClean="0"/>
              <a:t>Outline</a:t>
            </a:r>
            <a:endParaRPr lang="en-US" b="1" dirty="0"/>
          </a:p>
        </p:txBody>
      </p:sp>
      <p:sp>
        <p:nvSpPr>
          <p:cNvPr id="3" name="Content Placeholder 2"/>
          <p:cNvSpPr>
            <a:spLocks noGrp="1"/>
          </p:cNvSpPr>
          <p:nvPr>
            <p:ph idx="1"/>
          </p:nvPr>
        </p:nvSpPr>
        <p:spPr>
          <a:xfrm>
            <a:off x="0" y="1219200"/>
            <a:ext cx="9144000" cy="5638800"/>
          </a:xfrm>
        </p:spPr>
        <p:txBody>
          <a:bodyPr>
            <a:noAutofit/>
          </a:bodyPr>
          <a:lstStyle/>
          <a:p>
            <a:r>
              <a:rPr lang="en-US" sz="3600" dirty="0" smtClean="0"/>
              <a:t>Introduction</a:t>
            </a:r>
          </a:p>
          <a:p>
            <a:r>
              <a:rPr lang="en-US" sz="3600" dirty="0" smtClean="0"/>
              <a:t>Define induction &amp; augmentation of labor</a:t>
            </a:r>
          </a:p>
          <a:p>
            <a:r>
              <a:rPr lang="en-US" sz="3600" dirty="0" smtClean="0"/>
              <a:t>Identify </a:t>
            </a:r>
            <a:r>
              <a:rPr lang="en-US" sz="3600" dirty="0" smtClean="0"/>
              <a:t>indications &amp; contraindications of </a:t>
            </a:r>
            <a:r>
              <a:rPr lang="en-US" sz="3600" dirty="0" smtClean="0">
                <a:cs typeface="Times New Roman" panose="02020603050405020304" pitchFamily="18" charset="0"/>
              </a:rPr>
              <a:t>induction of labor</a:t>
            </a:r>
            <a:endParaRPr lang="en-US" sz="3600" dirty="0" smtClean="0"/>
          </a:p>
          <a:p>
            <a:r>
              <a:rPr lang="en-US" sz="3600" dirty="0" smtClean="0">
                <a:cs typeface="Times New Roman" panose="02020603050405020304" pitchFamily="18" charset="0"/>
              </a:rPr>
              <a:t>List preconditions for induction of labor</a:t>
            </a:r>
            <a:r>
              <a:rPr lang="en-US" sz="3600" dirty="0" smtClean="0"/>
              <a:t> </a:t>
            </a:r>
          </a:p>
          <a:p>
            <a:r>
              <a:rPr lang="en-US" sz="3600" dirty="0" smtClean="0">
                <a:cs typeface="Times New Roman" panose="02020603050405020304" pitchFamily="18" charset="0"/>
              </a:rPr>
              <a:t>Discourse about preinduction cervical ripening</a:t>
            </a:r>
            <a:endParaRPr lang="en-US" sz="3600" dirty="0" smtClean="0"/>
          </a:p>
          <a:p>
            <a:r>
              <a:rPr lang="en-US" sz="3600" dirty="0" smtClean="0"/>
              <a:t>Discuss</a:t>
            </a:r>
            <a:r>
              <a:rPr lang="en-US" sz="3600" dirty="0" smtClean="0">
                <a:cs typeface="Times New Roman" panose="02020603050405020304" pitchFamily="18" charset="0"/>
              </a:rPr>
              <a:t> methods of labor induction &amp; augmentation</a:t>
            </a:r>
            <a:endParaRPr lang="en-US" sz="3600" dirty="0" smtClean="0"/>
          </a:p>
          <a:p>
            <a:r>
              <a:rPr lang="en-US" sz="3600" dirty="0" smtClean="0"/>
              <a:t>Describe complications of induction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dirty="0" smtClean="0"/>
              <a:t>Introduction</a:t>
            </a:r>
            <a:endParaRPr lang="en-US" b="1" dirty="0"/>
          </a:p>
        </p:txBody>
      </p:sp>
      <p:sp>
        <p:nvSpPr>
          <p:cNvPr id="3" name="Content Placeholder 2"/>
          <p:cNvSpPr>
            <a:spLocks noGrp="1"/>
          </p:cNvSpPr>
          <p:nvPr>
            <p:ph idx="1"/>
          </p:nvPr>
        </p:nvSpPr>
        <p:spPr>
          <a:xfrm>
            <a:off x="0" y="1066800"/>
            <a:ext cx="9144000" cy="5791200"/>
          </a:xfrm>
        </p:spPr>
        <p:txBody>
          <a:bodyPr>
            <a:normAutofit/>
          </a:bodyPr>
          <a:lstStyle/>
          <a:p>
            <a:pPr>
              <a:buNone/>
            </a:pPr>
            <a:endParaRPr lang="en-US" dirty="0" smtClean="0"/>
          </a:p>
          <a:p>
            <a:r>
              <a:rPr lang="en-US" dirty="0" smtClean="0"/>
              <a:t>Induction and augmentation of labor are among </a:t>
            </a:r>
            <a:r>
              <a:rPr lang="en-US" dirty="0" smtClean="0">
                <a:cs typeface="Times New Roman" panose="02020603050405020304" pitchFamily="18" charset="0"/>
              </a:rPr>
              <a:t>the most commonly performed obstetric procedures.</a:t>
            </a:r>
          </a:p>
          <a:p>
            <a:endParaRPr lang="en-US" dirty="0" smtClean="0">
              <a:cs typeface="Times New Roman" panose="02020603050405020304" pitchFamily="18" charset="0"/>
            </a:endParaRPr>
          </a:p>
          <a:p>
            <a:r>
              <a:rPr lang="en-US" dirty="0" smtClean="0"/>
              <a:t>In modern obstetrics, several pharmacological agents permit labor to be induced or augmented.</a:t>
            </a:r>
          </a:p>
          <a:p>
            <a:endParaRPr lang="en-US" dirty="0" smtClean="0"/>
          </a:p>
          <a:p>
            <a:r>
              <a:rPr lang="en-US" dirty="0" smtClean="0">
                <a:cs typeface="Times New Roman" panose="02020603050405020304" pitchFamily="18" charset="0"/>
              </a:rPr>
              <a:t>Over the past several decades, the incidence of labour induction for shortening the duration of pregnancy has continued to rise.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dirty="0" smtClean="0"/>
              <a:t>Cont…</a:t>
            </a:r>
            <a:endParaRPr lang="en-US" dirty="0"/>
          </a:p>
        </p:txBody>
      </p:sp>
      <p:sp>
        <p:nvSpPr>
          <p:cNvPr id="3" name="Content Placeholder 2"/>
          <p:cNvSpPr>
            <a:spLocks noGrp="1"/>
          </p:cNvSpPr>
          <p:nvPr>
            <p:ph idx="1"/>
          </p:nvPr>
        </p:nvSpPr>
        <p:spPr>
          <a:xfrm>
            <a:off x="0" y="1143000"/>
            <a:ext cx="9144000" cy="5715000"/>
          </a:xfrm>
        </p:spPr>
        <p:txBody>
          <a:bodyPr>
            <a:normAutofit fontScale="92500"/>
          </a:bodyPr>
          <a:lstStyle/>
          <a:p>
            <a:r>
              <a:rPr lang="en-US" sz="3500" dirty="0" smtClean="0">
                <a:cs typeface="Times New Roman" panose="02020603050405020304" pitchFamily="18" charset="0"/>
              </a:rPr>
              <a:t>Incidence: varies between countries</a:t>
            </a:r>
          </a:p>
          <a:p>
            <a:endParaRPr lang="en-US" sz="3500" dirty="0" smtClean="0">
              <a:cs typeface="Times New Roman" panose="02020603050405020304" pitchFamily="18" charset="0"/>
            </a:endParaRPr>
          </a:p>
          <a:p>
            <a:r>
              <a:rPr lang="en-US" sz="3500" dirty="0" smtClean="0">
                <a:cs typeface="Times New Roman" panose="02020603050405020304" pitchFamily="18" charset="0"/>
              </a:rPr>
              <a:t>USA: increased more than 2X from 9.6%(1990) to 23.8%(2010), 27% (2019)</a:t>
            </a:r>
          </a:p>
          <a:p>
            <a:pPr>
              <a:buNone/>
            </a:pPr>
            <a:endParaRPr lang="en-US" sz="3500" dirty="0" smtClean="0">
              <a:cs typeface="Times New Roman" panose="02020603050405020304" pitchFamily="18" charset="0"/>
            </a:endParaRPr>
          </a:p>
          <a:p>
            <a:r>
              <a:rPr lang="en-US" sz="3500" dirty="0" smtClean="0">
                <a:cs typeface="Times New Roman" panose="02020603050405020304" pitchFamily="18" charset="0"/>
              </a:rPr>
              <a:t>UK: 30%</a:t>
            </a:r>
          </a:p>
          <a:p>
            <a:endParaRPr lang="en-US" sz="3500" dirty="0" smtClean="0">
              <a:cs typeface="Times New Roman" panose="02020603050405020304" pitchFamily="18" charset="0"/>
            </a:endParaRPr>
          </a:p>
          <a:p>
            <a:r>
              <a:rPr lang="en-US" sz="3500" dirty="0" smtClean="0">
                <a:cs typeface="Times New Roman" panose="02020603050405020304" pitchFamily="18" charset="0"/>
              </a:rPr>
              <a:t>Low- and Middle- income countries:</a:t>
            </a:r>
          </a:p>
          <a:p>
            <a:pPr lvl="1"/>
            <a:r>
              <a:rPr lang="en-US" sz="3100" dirty="0" smtClean="0">
                <a:cs typeface="Times New Roman" panose="02020603050405020304" pitchFamily="18" charset="0"/>
              </a:rPr>
              <a:t>Generally lower, but in some settings, it can be as high as those observed in high-income countries (~25%).</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b="1" dirty="0" smtClean="0"/>
              <a:t>Definition</a:t>
            </a:r>
            <a:endParaRPr lang="en-US" b="1" dirty="0"/>
          </a:p>
        </p:txBody>
      </p:sp>
      <p:sp>
        <p:nvSpPr>
          <p:cNvPr id="3" name="Content Placeholder 2"/>
          <p:cNvSpPr>
            <a:spLocks noGrp="1"/>
          </p:cNvSpPr>
          <p:nvPr>
            <p:ph idx="1"/>
          </p:nvPr>
        </p:nvSpPr>
        <p:spPr>
          <a:xfrm>
            <a:off x="0" y="990600"/>
            <a:ext cx="9144000" cy="5867400"/>
          </a:xfrm>
        </p:spPr>
        <p:txBody>
          <a:bodyPr>
            <a:normAutofit/>
          </a:bodyPr>
          <a:lstStyle/>
          <a:p>
            <a:r>
              <a:rPr lang="en-US" b="1" dirty="0" smtClean="0"/>
              <a:t>Induction of labor:- </a:t>
            </a:r>
            <a:r>
              <a:rPr lang="en-US" dirty="0" smtClean="0"/>
              <a:t>a</a:t>
            </a:r>
            <a:r>
              <a:rPr lang="en-US" dirty="0" smtClean="0">
                <a:cs typeface="Times New Roman" panose="02020603050405020304" pitchFamily="18" charset="0"/>
              </a:rPr>
              <a:t>rtificial </a:t>
            </a:r>
            <a:r>
              <a:rPr lang="en-US" dirty="0" smtClean="0"/>
              <a:t>stimulation of uterine contractions </a:t>
            </a:r>
            <a:r>
              <a:rPr lang="en-US" i="1" dirty="0" smtClean="0">
                <a:solidFill>
                  <a:srgbClr val="C00000"/>
                </a:solidFill>
              </a:rPr>
              <a:t>before</a:t>
            </a:r>
            <a:r>
              <a:rPr lang="en-US" dirty="0" smtClean="0"/>
              <a:t> the onset of spontaneous labor to accomplish vaginal delivery.</a:t>
            </a:r>
          </a:p>
          <a:p>
            <a:endParaRPr lang="en-US" dirty="0" smtClean="0"/>
          </a:p>
          <a:p>
            <a:r>
              <a:rPr lang="en-US" b="1" dirty="0" smtClean="0"/>
              <a:t>Augmentation of labor:- </a:t>
            </a:r>
            <a:r>
              <a:rPr lang="en-US" dirty="0" smtClean="0"/>
              <a:t>enhancement of the frequency and intensity of </a:t>
            </a:r>
            <a:r>
              <a:rPr lang="en-US" i="1" dirty="0" smtClean="0">
                <a:solidFill>
                  <a:srgbClr val="C00000"/>
                </a:solidFill>
              </a:rPr>
              <a:t>existing</a:t>
            </a:r>
            <a:r>
              <a:rPr lang="en-US" dirty="0" smtClean="0"/>
              <a:t> spontaneous uterine contractions that are considered inadequate to accomplish vaginal delivery.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08EB36-6311-4A23-B92F-D518E7FE524F}"/>
              </a:ext>
            </a:extLst>
          </p:cNvPr>
          <p:cNvSpPr>
            <a:spLocks noGrp="1"/>
          </p:cNvSpPr>
          <p:nvPr>
            <p:ph type="title"/>
          </p:nvPr>
        </p:nvSpPr>
        <p:spPr>
          <a:xfrm>
            <a:off x="0" y="0"/>
            <a:ext cx="9144000" cy="914400"/>
          </a:xfrm>
        </p:spPr>
        <p:txBody>
          <a:bodyPr/>
          <a:lstStyle/>
          <a:p>
            <a:r>
              <a:rPr lang="en-US" b="1" dirty="0">
                <a:cs typeface="Times New Roman" panose="02020603050405020304" pitchFamily="18" charset="0"/>
              </a:rPr>
              <a:t>History of </a:t>
            </a:r>
            <a:r>
              <a:rPr lang="en-US" b="1" dirty="0" smtClean="0">
                <a:cs typeface="Times New Roman" panose="02020603050405020304" pitchFamily="18" charset="0"/>
              </a:rPr>
              <a:t>Induction </a:t>
            </a:r>
            <a:r>
              <a:rPr lang="en-US" b="1" dirty="0">
                <a:cs typeface="Times New Roman" panose="02020603050405020304" pitchFamily="18" charset="0"/>
              </a:rPr>
              <a:t>of Labor</a:t>
            </a:r>
          </a:p>
        </p:txBody>
      </p:sp>
      <p:pic>
        <p:nvPicPr>
          <p:cNvPr id="5" name="Content Placeholder 4">
            <a:extLst>
              <a:ext uri="{FF2B5EF4-FFF2-40B4-BE49-F238E27FC236}">
                <a16:creationId xmlns:a16="http://schemas.microsoft.com/office/drawing/2014/main" xmlns="" id="{F4A52F73-4829-443A-8225-D2556ACEBFD8}"/>
              </a:ext>
            </a:extLst>
          </p:cNvPr>
          <p:cNvPicPr>
            <a:picLocks noGrp="1" noChangeAspect="1"/>
          </p:cNvPicPr>
          <p:nvPr>
            <p:ph idx="1"/>
          </p:nvPr>
        </p:nvPicPr>
        <p:blipFill>
          <a:blip r:embed="rId2"/>
          <a:stretch>
            <a:fillRect/>
          </a:stretch>
        </p:blipFill>
        <p:spPr>
          <a:xfrm>
            <a:off x="0" y="838200"/>
            <a:ext cx="9143999" cy="6019800"/>
          </a:xfrm>
        </p:spPr>
      </p:pic>
    </p:spTree>
    <p:extLst>
      <p:ext uri="{BB962C8B-B14F-4D97-AF65-F5344CB8AC3E}">
        <p14:creationId xmlns:p14="http://schemas.microsoft.com/office/powerpoint/2010/main" val="3489018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t>Induction Of Labor</a:t>
            </a:r>
            <a:endParaRPr lang="en-US" b="1" dirty="0"/>
          </a:p>
        </p:txBody>
      </p:sp>
      <p:sp>
        <p:nvSpPr>
          <p:cNvPr id="3" name="Content Placeholder 2"/>
          <p:cNvSpPr>
            <a:spLocks noGrp="1"/>
          </p:cNvSpPr>
          <p:nvPr>
            <p:ph idx="1"/>
          </p:nvPr>
        </p:nvSpPr>
        <p:spPr>
          <a:xfrm>
            <a:off x="0" y="1143000"/>
            <a:ext cx="9144000" cy="5715000"/>
          </a:xfrm>
        </p:spPr>
        <p:txBody>
          <a:bodyPr>
            <a:noAutofit/>
          </a:bodyPr>
          <a:lstStyle/>
          <a:p>
            <a:r>
              <a:rPr lang="en-US" dirty="0" smtClean="0"/>
              <a:t>Can be classified into:-</a:t>
            </a:r>
          </a:p>
          <a:p>
            <a:endParaRPr lang="en-US" dirty="0" smtClean="0"/>
          </a:p>
          <a:p>
            <a:pPr lvl="1"/>
            <a:r>
              <a:rPr lang="en-US" sz="3000" b="1" dirty="0" smtClean="0"/>
              <a:t>Elective</a:t>
            </a:r>
            <a:r>
              <a:rPr lang="en-US" sz="3000" dirty="0" smtClean="0"/>
              <a:t> :- initiation of labor for convenience in an individual with a term pregnancy who is free of medical or obstetric indications.</a:t>
            </a:r>
          </a:p>
          <a:p>
            <a:pPr lvl="2"/>
            <a:r>
              <a:rPr lang="en-US" sz="2800" dirty="0" smtClean="0">
                <a:cs typeface="Times New Roman" panose="02020603050405020304" pitchFamily="18" charset="0"/>
              </a:rPr>
              <a:t>Performed for the convenience of the patient or the professional staff</a:t>
            </a:r>
          </a:p>
          <a:p>
            <a:pPr lvl="2"/>
            <a:r>
              <a:rPr lang="en-US" sz="2800" dirty="0" smtClean="0"/>
              <a:t>Generally, it is not recommended or encouraged.</a:t>
            </a:r>
          </a:p>
          <a:p>
            <a:pPr lvl="2">
              <a:buNone/>
            </a:pPr>
            <a:endParaRPr lang="en-US" sz="2800" dirty="0" smtClean="0"/>
          </a:p>
          <a:p>
            <a:pPr lvl="1"/>
            <a:r>
              <a:rPr lang="en-US" sz="3000" b="1" dirty="0" smtClean="0"/>
              <a:t>Emergency (Indicated) </a:t>
            </a:r>
            <a:r>
              <a:rPr lang="en-US" sz="3000" dirty="0" smtClean="0"/>
              <a:t>:- performed for maternal or fetal </a:t>
            </a:r>
            <a:r>
              <a:rPr lang="en-US" sz="3000" dirty="0" smtClean="0">
                <a:cs typeface="Times New Roman" panose="02020603050405020304" pitchFamily="18" charset="0"/>
              </a:rPr>
              <a:t>medical or obstetric complications.</a:t>
            </a:r>
            <a:endParaRPr lang="en-US" sz="30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cs typeface="Times New Roman" panose="02020603050405020304" pitchFamily="18" charset="0"/>
              </a:rPr>
              <a:t>Indications For Induction Of Labor</a:t>
            </a:r>
            <a:endParaRPr lang="en-US" dirty="0"/>
          </a:p>
        </p:txBody>
      </p:sp>
      <p:sp>
        <p:nvSpPr>
          <p:cNvPr id="3" name="Content Placeholder 2"/>
          <p:cNvSpPr>
            <a:spLocks noGrp="1"/>
          </p:cNvSpPr>
          <p:nvPr>
            <p:ph idx="1"/>
          </p:nvPr>
        </p:nvSpPr>
        <p:spPr>
          <a:xfrm>
            <a:off x="0" y="1371600"/>
            <a:ext cx="9144000" cy="5486400"/>
          </a:xfrm>
        </p:spPr>
        <p:txBody>
          <a:bodyPr/>
          <a:lstStyle/>
          <a:p>
            <a:r>
              <a:rPr lang="en-US" b="1" dirty="0" smtClean="0"/>
              <a:t>Obstetric </a:t>
            </a:r>
            <a:r>
              <a:rPr lang="en-US" b="1" dirty="0" smtClean="0">
                <a:cs typeface="Times New Roman" panose="02020603050405020304" pitchFamily="18" charset="0"/>
              </a:rPr>
              <a:t>conditions</a:t>
            </a:r>
            <a:endParaRPr lang="en-US" b="1" dirty="0" smtClean="0"/>
          </a:p>
          <a:p>
            <a:pPr lvl="1">
              <a:buFont typeface="Wingdings" panose="05000000000000000000" pitchFamily="2" charset="2"/>
              <a:buChar char="Ø"/>
            </a:pPr>
            <a:r>
              <a:rPr lang="en-US" sz="3000" dirty="0" smtClean="0">
                <a:cs typeface="Times New Roman" panose="02020603050405020304" pitchFamily="18" charset="0"/>
              </a:rPr>
              <a:t>Post-term pregnancy</a:t>
            </a:r>
          </a:p>
          <a:p>
            <a:pPr lvl="1">
              <a:buFont typeface="Wingdings" panose="05000000000000000000" pitchFamily="2" charset="2"/>
              <a:buChar char="Ø"/>
            </a:pPr>
            <a:r>
              <a:rPr lang="en-US" sz="3000" dirty="0" smtClean="0">
                <a:cs typeface="Times New Roman" panose="02020603050405020304" pitchFamily="18" charset="0"/>
              </a:rPr>
              <a:t>Premature rupture of membranes</a:t>
            </a:r>
          </a:p>
          <a:p>
            <a:pPr lvl="1">
              <a:buFont typeface="Wingdings" panose="05000000000000000000" pitchFamily="2" charset="2"/>
              <a:buChar char="Ø"/>
            </a:pPr>
            <a:r>
              <a:rPr lang="en-US" sz="3000" dirty="0" smtClean="0">
                <a:cs typeface="Times New Roman" panose="02020603050405020304" pitchFamily="18" charset="0"/>
              </a:rPr>
              <a:t>Chorioamnionitis </a:t>
            </a:r>
          </a:p>
          <a:p>
            <a:pPr lvl="1">
              <a:buFont typeface="Wingdings" panose="05000000000000000000" pitchFamily="2" charset="2"/>
              <a:buChar char="Ø"/>
            </a:pPr>
            <a:r>
              <a:rPr lang="en-US" sz="3000" dirty="0" smtClean="0">
                <a:cs typeface="Times New Roman" panose="02020603050405020304" pitchFamily="18" charset="0"/>
              </a:rPr>
              <a:t>Abruptio placentae</a:t>
            </a:r>
          </a:p>
          <a:p>
            <a:pPr lvl="1">
              <a:buFont typeface="Wingdings" panose="05000000000000000000" pitchFamily="2" charset="2"/>
              <a:buChar char="Ø"/>
            </a:pPr>
            <a:r>
              <a:rPr lang="en-US" sz="3000" dirty="0" smtClean="0">
                <a:cs typeface="Times New Roman" panose="02020603050405020304" pitchFamily="18" charset="0"/>
              </a:rPr>
              <a:t>Hypertensive disorders of pregnancy</a:t>
            </a:r>
            <a:endParaRPr lang="en-US" sz="2800" dirty="0" smtClean="0">
              <a:cs typeface="Times New Roman" panose="02020603050405020304" pitchFamily="18" charset="0"/>
            </a:endParaRPr>
          </a:p>
          <a:p>
            <a:pPr lvl="2">
              <a:buFont typeface="Wingdings" panose="05000000000000000000" pitchFamily="2" charset="2"/>
              <a:buChar char="ü"/>
            </a:pPr>
            <a:r>
              <a:rPr lang="en-US" sz="2800" dirty="0" smtClean="0">
                <a:cs typeface="Times New Roman" panose="02020603050405020304" pitchFamily="18" charset="0"/>
              </a:rPr>
              <a:t>GHTN - Preeclampsia - Eclampsia Syndrome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dirty="0" smtClean="0">
                <a:cs typeface="Times New Roman" panose="02020603050405020304" pitchFamily="18" charset="0"/>
              </a:rPr>
              <a:t>Cont…</a:t>
            </a:r>
            <a:endParaRPr lang="en-US" dirty="0"/>
          </a:p>
        </p:txBody>
      </p:sp>
      <p:sp>
        <p:nvSpPr>
          <p:cNvPr id="3" name="Content Placeholder 2"/>
          <p:cNvSpPr>
            <a:spLocks noGrp="1"/>
          </p:cNvSpPr>
          <p:nvPr>
            <p:ph idx="1"/>
          </p:nvPr>
        </p:nvSpPr>
        <p:spPr>
          <a:xfrm>
            <a:off x="0" y="1066800"/>
            <a:ext cx="9144000" cy="5791200"/>
          </a:xfrm>
        </p:spPr>
        <p:txBody>
          <a:bodyPr>
            <a:normAutofit fontScale="92500" lnSpcReduction="10000"/>
          </a:bodyPr>
          <a:lstStyle/>
          <a:p>
            <a:pPr marL="285750" indent="-285750"/>
            <a:r>
              <a:rPr lang="en-US" b="1" dirty="0" smtClean="0">
                <a:cs typeface="Times New Roman" panose="02020603050405020304" pitchFamily="18" charset="0"/>
              </a:rPr>
              <a:t>Maternal medical conditions</a:t>
            </a:r>
          </a:p>
          <a:p>
            <a:pPr lvl="1">
              <a:buFont typeface="Wingdings" pitchFamily="2" charset="2"/>
              <a:buChar char="Ø"/>
            </a:pPr>
            <a:r>
              <a:rPr lang="en-US" sz="3000" dirty="0" smtClean="0">
                <a:cs typeface="Times New Roman" panose="02020603050405020304" pitchFamily="18" charset="0"/>
              </a:rPr>
              <a:t>Diabetes mellitus</a:t>
            </a:r>
          </a:p>
          <a:p>
            <a:pPr lvl="1">
              <a:buFont typeface="Wingdings" pitchFamily="2" charset="2"/>
              <a:buChar char="Ø"/>
            </a:pPr>
            <a:r>
              <a:rPr lang="en-US" sz="3000" dirty="0" smtClean="0">
                <a:cs typeface="Times New Roman" panose="02020603050405020304" pitchFamily="18" charset="0"/>
              </a:rPr>
              <a:t>Chronic hypertension </a:t>
            </a:r>
          </a:p>
          <a:p>
            <a:pPr lvl="1">
              <a:buFont typeface="Wingdings" pitchFamily="2" charset="2"/>
              <a:buChar char="Ø"/>
            </a:pPr>
            <a:r>
              <a:rPr lang="en-US" sz="3000" dirty="0" smtClean="0">
                <a:cs typeface="Times New Roman" panose="02020603050405020304" pitchFamily="18" charset="0"/>
              </a:rPr>
              <a:t>Renal disease</a:t>
            </a:r>
          </a:p>
          <a:p>
            <a:pPr lvl="1">
              <a:buFont typeface="Wingdings" pitchFamily="2" charset="2"/>
              <a:buChar char="Ø"/>
            </a:pPr>
            <a:r>
              <a:rPr lang="en-US" sz="3000" dirty="0" smtClean="0">
                <a:cs typeface="Times New Roman" panose="02020603050405020304" pitchFamily="18" charset="0"/>
              </a:rPr>
              <a:t>Chronic pulmonary disease</a:t>
            </a:r>
          </a:p>
          <a:p>
            <a:pPr lvl="1">
              <a:buFont typeface="Wingdings" pitchFamily="2" charset="2"/>
              <a:buChar char="Ø"/>
            </a:pPr>
            <a:r>
              <a:rPr lang="en-US" sz="3000" dirty="0" smtClean="0">
                <a:cs typeface="Times New Roman" panose="02020603050405020304" pitchFamily="18" charset="0"/>
              </a:rPr>
              <a:t>Cardiac disease</a:t>
            </a:r>
          </a:p>
          <a:p>
            <a:pPr marL="285750" indent="-285750"/>
            <a:r>
              <a:rPr lang="en-US" b="1" dirty="0" smtClean="0">
                <a:cs typeface="Times New Roman" panose="02020603050405020304" pitchFamily="18" charset="0"/>
              </a:rPr>
              <a:t>Fetal conditions</a:t>
            </a:r>
          </a:p>
          <a:p>
            <a:pPr lvl="1">
              <a:buFont typeface="Wingdings" pitchFamily="2" charset="2"/>
              <a:buChar char="Ø"/>
            </a:pPr>
            <a:r>
              <a:rPr lang="en-US" sz="3000" dirty="0" smtClean="0">
                <a:cs typeface="Times New Roman" panose="02020603050405020304" pitchFamily="18" charset="0"/>
              </a:rPr>
              <a:t>Fetal growth restriction </a:t>
            </a:r>
          </a:p>
          <a:p>
            <a:pPr lvl="1">
              <a:buFont typeface="Wingdings" pitchFamily="2" charset="2"/>
              <a:buChar char="Ø"/>
            </a:pPr>
            <a:r>
              <a:rPr lang="en-US" sz="3000" dirty="0" smtClean="0">
                <a:cs typeface="Times New Roman" panose="02020603050405020304" pitchFamily="18" charset="0"/>
              </a:rPr>
              <a:t>Isoimmunization </a:t>
            </a:r>
          </a:p>
          <a:p>
            <a:pPr lvl="1">
              <a:buFont typeface="Wingdings" pitchFamily="2" charset="2"/>
              <a:buChar char="Ø"/>
            </a:pPr>
            <a:r>
              <a:rPr lang="en-US" sz="3000" dirty="0" smtClean="0">
                <a:cs typeface="Times New Roman" panose="02020603050405020304" pitchFamily="18" charset="0"/>
              </a:rPr>
              <a:t>Non reassuring antepartum fetal testing </a:t>
            </a:r>
          </a:p>
          <a:p>
            <a:pPr lvl="1">
              <a:buFont typeface="Wingdings" pitchFamily="2" charset="2"/>
              <a:buChar char="Ø"/>
            </a:pPr>
            <a:r>
              <a:rPr lang="en-US" sz="3000" dirty="0" smtClean="0">
                <a:cs typeface="Times New Roman" panose="02020603050405020304" pitchFamily="18" charset="0"/>
              </a:rPr>
              <a:t>Oligohydramnios</a:t>
            </a:r>
          </a:p>
          <a:p>
            <a:pPr lvl="1">
              <a:buFont typeface="Wingdings" pitchFamily="2" charset="2"/>
              <a:buChar char="Ø"/>
            </a:pPr>
            <a:r>
              <a:rPr lang="en-US" dirty="0" smtClean="0">
                <a:cs typeface="Times New Roman" panose="02020603050405020304" pitchFamily="18" charset="0"/>
              </a:rPr>
              <a:t>IUFD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4000" b="1" dirty="0" smtClean="0">
                <a:latin typeface="+mn-lt"/>
                <a:cs typeface="Times New Roman" panose="02020603050405020304" pitchFamily="18" charset="0"/>
              </a:rPr>
              <a:t>Contraindications For Induction Of Labor </a:t>
            </a:r>
            <a:endParaRPr lang="en-US" sz="4000" dirty="0">
              <a:latin typeface="+mn-lt"/>
            </a:endParaRPr>
          </a:p>
        </p:txBody>
      </p:sp>
      <p:sp>
        <p:nvSpPr>
          <p:cNvPr id="3" name="Content Placeholder 2"/>
          <p:cNvSpPr>
            <a:spLocks noGrp="1"/>
          </p:cNvSpPr>
          <p:nvPr>
            <p:ph idx="1"/>
          </p:nvPr>
        </p:nvSpPr>
        <p:spPr>
          <a:xfrm>
            <a:off x="0" y="1143000"/>
            <a:ext cx="9144000" cy="5715000"/>
          </a:xfrm>
        </p:spPr>
        <p:txBody>
          <a:bodyPr>
            <a:normAutofit fontScale="92500" lnSpcReduction="10000"/>
          </a:bodyPr>
          <a:lstStyle/>
          <a:p>
            <a:r>
              <a:rPr lang="en-US" b="1" dirty="0" smtClean="0">
                <a:cs typeface="Times New Roman" panose="02020603050405020304" pitchFamily="18" charset="0"/>
              </a:rPr>
              <a:t>Absolute Contraindications</a:t>
            </a:r>
          </a:p>
          <a:p>
            <a:pPr lvl="1">
              <a:buFont typeface="Wingdings" pitchFamily="2" charset="2"/>
              <a:buChar char="Ø"/>
            </a:pPr>
            <a:r>
              <a:rPr lang="en-US" sz="3000" dirty="0" smtClean="0">
                <a:cs typeface="Times New Roman" panose="02020603050405020304" pitchFamily="18" charset="0"/>
              </a:rPr>
              <a:t>Contracted pelvis</a:t>
            </a:r>
          </a:p>
          <a:p>
            <a:pPr lvl="1">
              <a:buFont typeface="Wingdings" pitchFamily="2" charset="2"/>
              <a:buChar char="Ø"/>
            </a:pPr>
            <a:r>
              <a:rPr lang="en-US" sz="3000" dirty="0" smtClean="0">
                <a:cs typeface="Times New Roman" panose="02020603050405020304" pitchFamily="18" charset="0"/>
              </a:rPr>
              <a:t>Invasive cervical cancer or any Tumor Previa</a:t>
            </a:r>
          </a:p>
          <a:p>
            <a:pPr lvl="1">
              <a:buFont typeface="Wingdings" pitchFamily="2" charset="2"/>
              <a:buChar char="Ø"/>
            </a:pPr>
            <a:r>
              <a:rPr lang="en-US" sz="3000" dirty="0" smtClean="0">
                <a:cs typeface="Times New Roman" panose="02020603050405020304" pitchFamily="18" charset="0"/>
              </a:rPr>
              <a:t>Active genital herpes infection</a:t>
            </a:r>
          </a:p>
          <a:p>
            <a:pPr lvl="1">
              <a:buFont typeface="Wingdings" pitchFamily="2" charset="2"/>
              <a:buChar char="Ø"/>
            </a:pPr>
            <a:r>
              <a:rPr lang="en-US" sz="3000" dirty="0" smtClean="0">
                <a:cs typeface="Times New Roman" panose="02020603050405020304" pitchFamily="18" charset="0"/>
              </a:rPr>
              <a:t>Prior uterine rupture</a:t>
            </a:r>
          </a:p>
          <a:p>
            <a:pPr lvl="1">
              <a:buFont typeface="Wingdings" pitchFamily="2" charset="2"/>
              <a:buChar char="Ø"/>
            </a:pPr>
            <a:r>
              <a:rPr lang="en-US" sz="3000" dirty="0" smtClean="0">
                <a:cs typeface="Times New Roman" panose="02020603050405020304" pitchFamily="18" charset="0"/>
              </a:rPr>
              <a:t>Previous uterine incision that would preclude a trial of labor</a:t>
            </a:r>
          </a:p>
          <a:p>
            <a:pPr lvl="1">
              <a:buFont typeface="Wingdings" pitchFamily="2" charset="2"/>
              <a:buChar char="Ø"/>
            </a:pPr>
            <a:r>
              <a:rPr lang="en-US" sz="3000" dirty="0" smtClean="0">
                <a:cs typeface="Times New Roman" panose="02020603050405020304" pitchFamily="18" charset="0"/>
              </a:rPr>
              <a:t>Placenta previa or vasa previa</a:t>
            </a:r>
          </a:p>
          <a:p>
            <a:pPr lvl="1">
              <a:buFont typeface="Wingdings" pitchFamily="2" charset="2"/>
              <a:buChar char="Ø"/>
            </a:pPr>
            <a:r>
              <a:rPr lang="en-US" sz="3000" dirty="0" smtClean="0">
                <a:cs typeface="Times New Roman" panose="02020603050405020304" pitchFamily="18" charset="0"/>
              </a:rPr>
              <a:t>Umbilical cord prolapse</a:t>
            </a:r>
          </a:p>
          <a:p>
            <a:pPr lvl="1">
              <a:buFont typeface="Wingdings" pitchFamily="2" charset="2"/>
              <a:buChar char="Ø"/>
            </a:pPr>
            <a:r>
              <a:rPr lang="en-US" sz="3000" dirty="0" smtClean="0">
                <a:cs typeface="Times New Roman" panose="02020603050405020304" pitchFamily="18" charset="0"/>
              </a:rPr>
              <a:t>Abnormal lie</a:t>
            </a:r>
          </a:p>
          <a:p>
            <a:pPr lvl="1">
              <a:buFont typeface="Wingdings" pitchFamily="2" charset="2"/>
              <a:buChar char="Ø"/>
            </a:pPr>
            <a:r>
              <a:rPr lang="en-US" sz="3000" dirty="0" smtClean="0">
                <a:cs typeface="Times New Roman" panose="02020603050405020304" pitchFamily="18" charset="0"/>
              </a:rPr>
              <a:t>Malpresentations</a:t>
            </a:r>
          </a:p>
          <a:p>
            <a:pPr lvl="1">
              <a:buFont typeface="Wingdings" pitchFamily="2" charset="2"/>
              <a:buChar char="Ø"/>
            </a:pPr>
            <a:r>
              <a:rPr lang="en-US" sz="3000" dirty="0" smtClean="0">
                <a:cs typeface="Times New Roman" panose="02020603050405020304" pitchFamily="18" charset="0"/>
              </a:rPr>
              <a:t>Category III fetal heart rate tracing</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cs typeface="Times New Roman" panose="02020603050405020304" pitchFamily="18" charset="0"/>
              </a:rPr>
              <a:t>Cont…</a:t>
            </a:r>
            <a:endParaRPr lang="en-US" dirty="0"/>
          </a:p>
        </p:txBody>
      </p:sp>
      <p:sp>
        <p:nvSpPr>
          <p:cNvPr id="3" name="Content Placeholder 2"/>
          <p:cNvSpPr>
            <a:spLocks noGrp="1"/>
          </p:cNvSpPr>
          <p:nvPr>
            <p:ph idx="1"/>
          </p:nvPr>
        </p:nvSpPr>
        <p:spPr>
          <a:xfrm>
            <a:off x="0" y="1295400"/>
            <a:ext cx="9144000" cy="5562600"/>
          </a:xfrm>
        </p:spPr>
        <p:txBody>
          <a:bodyPr/>
          <a:lstStyle/>
          <a:p>
            <a:r>
              <a:rPr lang="en-US" b="1" dirty="0" smtClean="0">
                <a:cs typeface="Times New Roman" panose="02020603050405020304" pitchFamily="18" charset="0"/>
              </a:rPr>
              <a:t>Relative Contraindications</a:t>
            </a:r>
          </a:p>
          <a:p>
            <a:pPr lvl="1">
              <a:buFont typeface="Wingdings" pitchFamily="2" charset="2"/>
              <a:buChar char="Ø"/>
            </a:pPr>
            <a:r>
              <a:rPr lang="en-US" sz="3000" dirty="0" smtClean="0">
                <a:cs typeface="Times New Roman" panose="02020603050405020304" pitchFamily="18" charset="0"/>
              </a:rPr>
              <a:t>Fetal macrosomia</a:t>
            </a:r>
          </a:p>
          <a:p>
            <a:pPr lvl="1">
              <a:buFont typeface="Wingdings" pitchFamily="2" charset="2"/>
              <a:buChar char="Ø"/>
            </a:pPr>
            <a:r>
              <a:rPr lang="en-US" sz="3000" dirty="0" smtClean="0">
                <a:cs typeface="Times New Roman" panose="02020603050405020304" pitchFamily="18" charset="0"/>
              </a:rPr>
              <a:t>Breech presentation (if footling - absolute cont.)</a:t>
            </a:r>
          </a:p>
          <a:p>
            <a:pPr lvl="1">
              <a:buFont typeface="Wingdings" pitchFamily="2" charset="2"/>
              <a:buChar char="Ø"/>
            </a:pPr>
            <a:r>
              <a:rPr lang="en-US" sz="3000" dirty="0" smtClean="0">
                <a:cs typeface="Times New Roman" panose="02020603050405020304" pitchFamily="18" charset="0"/>
              </a:rPr>
              <a:t>Twin pregnancy (if &gt;2 - absolute cont.)</a:t>
            </a:r>
          </a:p>
          <a:p>
            <a:pPr lvl="1">
              <a:buFont typeface="Wingdings" pitchFamily="2" charset="2"/>
              <a:buChar char="Ø"/>
            </a:pPr>
            <a:r>
              <a:rPr lang="en-US" sz="3000" dirty="0" smtClean="0">
                <a:cs typeface="Times New Roman" panose="02020603050405020304" pitchFamily="18" charset="0"/>
              </a:rPr>
              <a:t>Inability to adequately monitor the fetal heart rate throughout labor</a:t>
            </a:r>
          </a:p>
          <a:p>
            <a:pPr lvl="1">
              <a:buFont typeface="Wingdings" pitchFamily="2" charset="2"/>
              <a:buChar char="Ø"/>
            </a:pPr>
            <a:r>
              <a:rPr lang="en-US" sz="3000" dirty="0" smtClean="0">
                <a:cs typeface="Times New Roman" panose="02020603050405020304" pitchFamily="18" charset="0"/>
              </a:rPr>
              <a:t>Prior LUST C/S (if &gt;1 - absolute cont.)</a:t>
            </a:r>
          </a:p>
          <a:p>
            <a:pPr lvl="1">
              <a:buFont typeface="Wingdings" pitchFamily="2" charset="2"/>
              <a:buChar char="Ø"/>
            </a:pPr>
            <a:r>
              <a:rPr lang="en-US" sz="3000" dirty="0" smtClean="0">
                <a:cs typeface="Times New Roman" panose="02020603050405020304" pitchFamily="18" charset="0"/>
              </a:rPr>
              <a:t>Suspected CPD</a:t>
            </a:r>
          </a:p>
          <a:p>
            <a:pPr lvl="1">
              <a:buFont typeface="Wingdings" pitchFamily="2" charset="2"/>
              <a:buChar char="Ø"/>
            </a:pPr>
            <a:r>
              <a:rPr lang="en-US" sz="3000" dirty="0" smtClean="0">
                <a:cs typeface="Times New Roman" panose="02020603050405020304" pitchFamily="18" charset="0"/>
              </a:rPr>
              <a:t>Grand multiparity</a:t>
            </a:r>
            <a:r>
              <a:rPr lang="en-US" altLang="ko-KR" sz="3000" dirty="0" smtClean="0"/>
              <a:t> (≥ 6 births)</a:t>
            </a:r>
            <a:endParaRPr lang="en-US" sz="3000" dirty="0" smtClean="0">
              <a:cs typeface="Times New Roman" panose="02020603050405020304" pitchFamily="18" charset="0"/>
            </a:endParaRPr>
          </a:p>
          <a:p>
            <a:endParaRPr lang="en-US" dirty="0" smtClean="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r>
              <a:rPr lang="en-US" b="1" dirty="0" smtClean="0">
                <a:cs typeface="Times New Roman" panose="02020603050405020304" pitchFamily="18" charset="0"/>
              </a:rPr>
              <a:t>Preconditions For Induction Of Labor</a:t>
            </a:r>
            <a:r>
              <a:rPr lang="en-US" dirty="0" smtClean="0"/>
              <a:t> </a:t>
            </a:r>
            <a:endParaRPr lang="en-US" dirty="0"/>
          </a:p>
        </p:txBody>
      </p:sp>
      <p:sp>
        <p:nvSpPr>
          <p:cNvPr id="3" name="Content Placeholder 2"/>
          <p:cNvSpPr>
            <a:spLocks noGrp="1"/>
          </p:cNvSpPr>
          <p:nvPr>
            <p:ph idx="1"/>
          </p:nvPr>
        </p:nvSpPr>
        <p:spPr>
          <a:xfrm>
            <a:off x="0" y="1524000"/>
            <a:ext cx="9144000" cy="5334000"/>
          </a:xfrm>
        </p:spPr>
        <p:txBody>
          <a:bodyPr/>
          <a:lstStyle/>
          <a:p>
            <a:r>
              <a:rPr lang="en-US" dirty="0" smtClean="0"/>
              <a:t>Induction of labor should be undertaken when the benefits of delivery to either mother or fetus outweigh the risks of pregnancy continuation.</a:t>
            </a:r>
          </a:p>
          <a:p>
            <a:endParaRPr lang="en-US" dirty="0" smtClean="0"/>
          </a:p>
          <a:p>
            <a:r>
              <a:rPr lang="en-US" dirty="0" smtClean="0">
                <a:cs typeface="Times New Roman" panose="02020603050405020304" pitchFamily="18" charset="0"/>
              </a:rPr>
              <a:t>Induction of labor </a:t>
            </a:r>
            <a:r>
              <a:rPr lang="en-US" dirty="0" smtClean="0"/>
              <a:t>interventions incur maternal and fetal risks. So, should be performed after getting informed maternal consent.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dirty="0" smtClean="0">
                <a:cs typeface="Times New Roman" panose="02020603050405020304" pitchFamily="18" charset="0"/>
              </a:rPr>
              <a:t>Cont…</a:t>
            </a:r>
            <a:r>
              <a:rPr lang="en-US" dirty="0" smtClean="0"/>
              <a:t> </a:t>
            </a:r>
            <a:endParaRPr lang="en-US" dirty="0"/>
          </a:p>
        </p:txBody>
      </p:sp>
      <p:sp>
        <p:nvSpPr>
          <p:cNvPr id="3" name="Content Placeholder 2"/>
          <p:cNvSpPr>
            <a:spLocks noGrp="1"/>
          </p:cNvSpPr>
          <p:nvPr>
            <p:ph sz="half" idx="1"/>
          </p:nvPr>
        </p:nvSpPr>
        <p:spPr>
          <a:xfrm>
            <a:off x="0" y="990600"/>
            <a:ext cx="4495800" cy="5867400"/>
          </a:xfrm>
        </p:spPr>
        <p:txBody>
          <a:bodyPr>
            <a:noAutofit/>
          </a:bodyPr>
          <a:lstStyle/>
          <a:p>
            <a:pPr>
              <a:buFont typeface="Wingdings" pitchFamily="2" charset="2"/>
              <a:buChar char="Ø"/>
            </a:pPr>
            <a:r>
              <a:rPr lang="en-US" dirty="0" smtClean="0">
                <a:cs typeface="Times New Roman" panose="02020603050405020304" pitchFamily="18" charset="0"/>
              </a:rPr>
              <a:t>Get informed consent</a:t>
            </a:r>
          </a:p>
          <a:p>
            <a:pPr>
              <a:buFont typeface="Wingdings" pitchFamily="2" charset="2"/>
              <a:buChar char="Ø"/>
            </a:pPr>
            <a:r>
              <a:rPr lang="en-US" dirty="0" smtClean="0">
                <a:cs typeface="Times New Roman" panose="02020603050405020304" pitchFamily="18" charset="0"/>
              </a:rPr>
              <a:t>Document the indication </a:t>
            </a:r>
          </a:p>
          <a:p>
            <a:pPr>
              <a:buFont typeface="Wingdings" pitchFamily="2" charset="2"/>
              <a:buChar char="Ø"/>
            </a:pPr>
            <a:r>
              <a:rPr lang="en-US" dirty="0" smtClean="0">
                <a:cs typeface="Times New Roman" panose="02020603050405020304" pitchFamily="18" charset="0"/>
              </a:rPr>
              <a:t>Make sure that there are no contraindications</a:t>
            </a:r>
          </a:p>
          <a:p>
            <a:pPr>
              <a:buFont typeface="Wingdings" pitchFamily="2" charset="2"/>
              <a:buChar char="Ø"/>
            </a:pPr>
            <a:r>
              <a:rPr lang="en-US" dirty="0" smtClean="0">
                <a:cs typeface="Times New Roman" panose="02020603050405020304" pitchFamily="18" charset="0"/>
              </a:rPr>
              <a:t>Assess the cervix (Determine Bishop score) </a:t>
            </a:r>
          </a:p>
          <a:p>
            <a:pPr>
              <a:buFont typeface="Wingdings" pitchFamily="2" charset="2"/>
              <a:buChar char="Ø"/>
            </a:pPr>
            <a:r>
              <a:rPr lang="en-US" dirty="0" smtClean="0">
                <a:cs typeface="Times New Roman" panose="02020603050405020304" pitchFamily="18" charset="0"/>
              </a:rPr>
              <a:t>Ascertain availability of labor ward staff and also the capacity to do emergency caesarean section</a:t>
            </a:r>
          </a:p>
        </p:txBody>
      </p:sp>
      <p:pic>
        <p:nvPicPr>
          <p:cNvPr id="5" name="Content Placeholder 4">
            <a:extLst>
              <a:ext uri="{FF2B5EF4-FFF2-40B4-BE49-F238E27FC236}">
                <a16:creationId xmlns:a16="http://schemas.microsoft.com/office/drawing/2014/main" xmlns="" id="{5A5A3997-3B67-4AD3-A280-B1CCB2642641}"/>
              </a:ext>
            </a:extLst>
          </p:cNvPr>
          <p:cNvPicPr>
            <a:picLocks noGrp="1" noChangeAspect="1"/>
          </p:cNvPicPr>
          <p:nvPr>
            <p:ph sz="half" idx="2"/>
          </p:nvPr>
        </p:nvPicPr>
        <p:blipFill>
          <a:blip r:embed="rId2"/>
          <a:stretch>
            <a:fillRect/>
          </a:stretch>
        </p:blipFill>
        <p:spPr>
          <a:xfrm>
            <a:off x="4267200" y="1143000"/>
            <a:ext cx="4876800" cy="5715000"/>
          </a:xfrm>
          <a:prstGeom prst="rect">
            <a:avLst/>
          </a:prstGeom>
        </p:spPr>
      </p:pic>
      <p:sp>
        <p:nvSpPr>
          <p:cNvPr id="6" name="Rectangle 5"/>
          <p:cNvSpPr/>
          <p:nvPr/>
        </p:nvSpPr>
        <p:spPr>
          <a:xfrm>
            <a:off x="4876800" y="1143000"/>
            <a:ext cx="381000" cy="6096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t>1</a:t>
            </a:r>
            <a:endParaRPr lang="en-US" sz="36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dirty="0" smtClean="0">
                <a:cs typeface="Times New Roman" panose="02020603050405020304" pitchFamily="18" charset="0"/>
              </a:rPr>
              <a:t>Cont…</a:t>
            </a:r>
            <a:endParaRPr lang="en-US" dirty="0"/>
          </a:p>
        </p:txBody>
      </p:sp>
      <p:sp>
        <p:nvSpPr>
          <p:cNvPr id="3" name="Content Placeholder 2"/>
          <p:cNvSpPr>
            <a:spLocks noGrp="1"/>
          </p:cNvSpPr>
          <p:nvPr>
            <p:ph idx="1"/>
          </p:nvPr>
        </p:nvSpPr>
        <p:spPr>
          <a:xfrm>
            <a:off x="0" y="1371600"/>
            <a:ext cx="9144000" cy="5486400"/>
          </a:xfrm>
        </p:spPr>
        <p:txBody>
          <a:bodyPr>
            <a:normAutofit/>
          </a:bodyPr>
          <a:lstStyle/>
          <a:p>
            <a:r>
              <a:rPr lang="en-US" dirty="0" smtClean="0"/>
              <a:t>Cervical status is one of the most important factors for predicting the likelihood of success in induction of labor.</a:t>
            </a:r>
          </a:p>
          <a:p>
            <a:endParaRPr lang="en-US" dirty="0" smtClean="0"/>
          </a:p>
          <a:p>
            <a:r>
              <a:rPr lang="en-US" dirty="0" smtClean="0"/>
              <a:t>A soft cervix; described as “ripe” or “favorable” is important to successful labor induction.</a:t>
            </a:r>
          </a:p>
          <a:p>
            <a:endParaRPr lang="en-US" dirty="0" smtClean="0"/>
          </a:p>
          <a:p>
            <a:r>
              <a:rPr lang="en-US" dirty="0" smtClean="0"/>
              <a:t>One quantifiable method to predict labor induction outcomes is the score described by Bishop (1964).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66EDC05-5000-4546-8777-0AAF6945BBF7}"/>
              </a:ext>
            </a:extLst>
          </p:cNvPr>
          <p:cNvPicPr>
            <a:picLocks noGrp="1" noChangeAspect="1"/>
          </p:cNvPicPr>
          <p:nvPr>
            <p:ph idx="4294967295"/>
          </p:nvPr>
        </p:nvPicPr>
        <p:blipFill>
          <a:blip r:embed="rId3"/>
          <a:stretch>
            <a:fillRect/>
          </a:stretch>
        </p:blipFill>
        <p:spPr>
          <a:xfrm>
            <a:off x="228600" y="70338"/>
            <a:ext cx="8915400" cy="6787662"/>
          </a:xfrm>
        </p:spPr>
      </p:pic>
      <p:sp>
        <p:nvSpPr>
          <p:cNvPr id="6" name="Rectangle 5">
            <a:extLst>
              <a:ext uri="{FF2B5EF4-FFF2-40B4-BE49-F238E27FC236}">
                <a16:creationId xmlns:a16="http://schemas.microsoft.com/office/drawing/2014/main" xmlns="" id="{687F5C7E-721F-445D-9FEF-6A535D9235EE}"/>
              </a:ext>
            </a:extLst>
          </p:cNvPr>
          <p:cNvSpPr/>
          <p:nvPr/>
        </p:nvSpPr>
        <p:spPr>
          <a:xfrm>
            <a:off x="2514600" y="5943600"/>
            <a:ext cx="6477000" cy="7373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The total </a:t>
            </a:r>
            <a:r>
              <a:rPr lang="en-US" b="1" dirty="0" smtClean="0"/>
              <a:t>cervix </a:t>
            </a:r>
            <a:r>
              <a:rPr lang="en-US" b="1" dirty="0"/>
              <a:t>score is obtained by adding the points scored for each factor</a:t>
            </a:r>
          </a:p>
        </p:txBody>
      </p:sp>
      <p:sp>
        <p:nvSpPr>
          <p:cNvPr id="4" name="Rectangle 3"/>
          <p:cNvSpPr/>
          <p:nvPr/>
        </p:nvSpPr>
        <p:spPr>
          <a:xfrm>
            <a:off x="1143000" y="609600"/>
            <a:ext cx="457200" cy="4572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2</a:t>
            </a:r>
            <a:endParaRPr lang="en-US" sz="3200" b="1" dirty="0"/>
          </a:p>
        </p:txBody>
      </p:sp>
    </p:spTree>
    <p:extLst>
      <p:ext uri="{BB962C8B-B14F-4D97-AF65-F5344CB8AC3E}">
        <p14:creationId xmlns:p14="http://schemas.microsoft.com/office/powerpoint/2010/main" val="3713887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BCD671E8-2AEC-4CB5-B020-84EAF3E738D9}"/>
              </a:ext>
            </a:extLst>
          </p:cNvPr>
          <p:cNvPicPr>
            <a:picLocks noChangeAspect="1"/>
          </p:cNvPicPr>
          <p:nvPr/>
        </p:nvPicPr>
        <p:blipFill>
          <a:blip r:embed="rId3"/>
          <a:stretch>
            <a:fillRect/>
          </a:stretch>
        </p:blipFill>
        <p:spPr>
          <a:xfrm>
            <a:off x="152400" y="675250"/>
            <a:ext cx="8686800" cy="6182750"/>
          </a:xfrm>
          <a:prstGeom prst="rect">
            <a:avLst/>
          </a:prstGeom>
        </p:spPr>
      </p:pic>
      <p:sp>
        <p:nvSpPr>
          <p:cNvPr id="3" name="Rectangle 2">
            <a:extLst>
              <a:ext uri="{FF2B5EF4-FFF2-40B4-BE49-F238E27FC236}">
                <a16:creationId xmlns:a16="http://schemas.microsoft.com/office/drawing/2014/main" xmlns="" id="{BCC3FAAC-8662-477A-93AC-91FFABB7E4DE}"/>
              </a:ext>
            </a:extLst>
          </p:cNvPr>
          <p:cNvSpPr/>
          <p:nvPr/>
        </p:nvSpPr>
        <p:spPr>
          <a:xfrm>
            <a:off x="2362200" y="0"/>
            <a:ext cx="66294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t>The total </a:t>
            </a:r>
            <a:r>
              <a:rPr lang="en-US" sz="2000" b="1" dirty="0" smtClean="0"/>
              <a:t>cervix </a:t>
            </a:r>
            <a:r>
              <a:rPr lang="en-US" sz="2000" b="1" dirty="0"/>
              <a:t>score is obtained by adding the points scored for each factor</a:t>
            </a:r>
          </a:p>
        </p:txBody>
      </p:sp>
      <p:sp>
        <p:nvSpPr>
          <p:cNvPr id="4" name="Rectangle 3"/>
          <p:cNvSpPr/>
          <p:nvPr/>
        </p:nvSpPr>
        <p:spPr>
          <a:xfrm>
            <a:off x="1219200" y="762000"/>
            <a:ext cx="685800" cy="4572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3</a:t>
            </a:r>
            <a:endParaRPr lang="en-US" sz="3200" b="1" dirty="0"/>
          </a:p>
        </p:txBody>
      </p:sp>
    </p:spTree>
    <p:extLst>
      <p:ext uri="{BB962C8B-B14F-4D97-AF65-F5344CB8AC3E}">
        <p14:creationId xmlns:p14="http://schemas.microsoft.com/office/powerpoint/2010/main" val="3660935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Bishop Score Cont…</a:t>
            </a:r>
            <a:endParaRPr lang="en-US" dirty="0"/>
          </a:p>
        </p:txBody>
      </p:sp>
      <p:sp>
        <p:nvSpPr>
          <p:cNvPr id="3" name="Content Placeholder 2"/>
          <p:cNvSpPr>
            <a:spLocks noGrp="1"/>
          </p:cNvSpPr>
          <p:nvPr>
            <p:ph idx="1"/>
          </p:nvPr>
        </p:nvSpPr>
        <p:spPr>
          <a:xfrm>
            <a:off x="0" y="990600"/>
            <a:ext cx="9144000" cy="5867400"/>
          </a:xfrm>
        </p:spPr>
        <p:txBody>
          <a:bodyPr>
            <a:normAutofit/>
          </a:bodyPr>
          <a:lstStyle/>
          <a:p>
            <a:r>
              <a:rPr lang="en-US" dirty="0" smtClean="0"/>
              <a:t>As favorability or Bishop score increases, the rate of induction to effect vaginal delivery also increases.</a:t>
            </a:r>
          </a:p>
          <a:p>
            <a:pPr>
              <a:buNone/>
            </a:pPr>
            <a:r>
              <a:rPr lang="en-US" dirty="0" smtClean="0"/>
              <a:t> </a:t>
            </a:r>
          </a:p>
          <a:p>
            <a:r>
              <a:rPr lang="en-US" dirty="0" smtClean="0">
                <a:cs typeface="Times New Roman" panose="02020603050405020304" pitchFamily="18" charset="0"/>
              </a:rPr>
              <a:t>A Bishop score of 9 conveys a high likelihood for a successful induction.</a:t>
            </a:r>
          </a:p>
          <a:p>
            <a:pPr lvl="1">
              <a:buFont typeface="Wingdings" pitchFamily="2" charset="2"/>
              <a:buChar char="Ø"/>
            </a:pPr>
            <a:r>
              <a:rPr lang="en-US" sz="3000" dirty="0" smtClean="0">
                <a:cs typeface="Times New Roman" panose="02020603050405020304" pitchFamily="18" charset="0"/>
              </a:rPr>
              <a:t>Score &lt; 6 </a:t>
            </a:r>
            <a:r>
              <a:rPr lang="en-US" sz="3000" dirty="0" smtClean="0">
                <a:cs typeface="Times New Roman" panose="02020603050405020304" pitchFamily="18" charset="0"/>
                <a:sym typeface="Wingdings" panose="05000000000000000000" pitchFamily="2" charset="2"/>
              </a:rPr>
              <a:t></a:t>
            </a:r>
            <a:r>
              <a:rPr lang="en-US" sz="3000" dirty="0" smtClean="0">
                <a:cs typeface="Times New Roman" panose="02020603050405020304" pitchFamily="18" charset="0"/>
              </a:rPr>
              <a:t>unfavorable </a:t>
            </a:r>
          </a:p>
          <a:p>
            <a:pPr lvl="1">
              <a:buFont typeface="Wingdings" pitchFamily="2" charset="2"/>
              <a:buChar char="Ø"/>
            </a:pPr>
            <a:r>
              <a:rPr lang="en-US" sz="3000" dirty="0" smtClean="0">
                <a:cs typeface="Times New Roman" panose="02020603050405020304" pitchFamily="18" charset="0"/>
              </a:rPr>
              <a:t>Score - 6-8 </a:t>
            </a:r>
            <a:r>
              <a:rPr lang="en-US" sz="3000" dirty="0" smtClean="0">
                <a:cs typeface="Times New Roman" panose="02020603050405020304" pitchFamily="18" charset="0"/>
                <a:sym typeface="Wingdings" panose="05000000000000000000" pitchFamily="2" charset="2"/>
              </a:rPr>
              <a:t></a:t>
            </a:r>
            <a:r>
              <a:rPr lang="en-US" sz="3000" dirty="0" smtClean="0">
                <a:cs typeface="Times New Roman" panose="02020603050405020304" pitchFamily="18" charset="0"/>
              </a:rPr>
              <a:t>intermediate</a:t>
            </a:r>
          </a:p>
          <a:p>
            <a:pPr lvl="1">
              <a:buFont typeface="Wingdings" pitchFamily="2" charset="2"/>
              <a:buChar char="Ø"/>
            </a:pPr>
            <a:r>
              <a:rPr lang="en-US" sz="3000" dirty="0" smtClean="0">
                <a:cs typeface="Times New Roman" panose="02020603050405020304" pitchFamily="18" charset="0"/>
              </a:rPr>
              <a:t>Score of ≥9 </a:t>
            </a:r>
            <a:r>
              <a:rPr lang="en-US" sz="3000" dirty="0" smtClean="0">
                <a:cs typeface="Times New Roman" panose="02020603050405020304" pitchFamily="18" charset="0"/>
                <a:sym typeface="Wingdings" panose="05000000000000000000" pitchFamily="2" charset="2"/>
              </a:rPr>
              <a:t></a:t>
            </a:r>
            <a:r>
              <a:rPr lang="en-US" sz="3000" dirty="0" smtClean="0">
                <a:cs typeface="Times New Roman" panose="02020603050405020304" pitchFamily="18" charset="0"/>
              </a:rPr>
              <a:t>favorable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b="1" dirty="0" smtClean="0">
                <a:cs typeface="Times New Roman" panose="02020603050405020304" pitchFamily="18" charset="0"/>
              </a:rPr>
              <a:t>Preinduction Cervical Ripening</a:t>
            </a:r>
            <a:endParaRPr lang="en-US" dirty="0"/>
          </a:p>
        </p:txBody>
      </p:sp>
      <p:sp>
        <p:nvSpPr>
          <p:cNvPr id="3" name="Content Placeholder 2"/>
          <p:cNvSpPr>
            <a:spLocks noGrp="1"/>
          </p:cNvSpPr>
          <p:nvPr>
            <p:ph idx="1"/>
          </p:nvPr>
        </p:nvSpPr>
        <p:spPr>
          <a:xfrm>
            <a:off x="0" y="1219200"/>
            <a:ext cx="9144000" cy="5638800"/>
          </a:xfrm>
        </p:spPr>
        <p:txBody>
          <a:bodyPr>
            <a:normAutofit/>
          </a:bodyPr>
          <a:lstStyle/>
          <a:p>
            <a:r>
              <a:rPr lang="en-US" dirty="0" smtClean="0"/>
              <a:t>A complex process that results in physical softening and distensibility of the cervix.</a:t>
            </a:r>
          </a:p>
          <a:p>
            <a:r>
              <a:rPr lang="en-US" dirty="0" smtClean="0"/>
              <a:t>Pharmacological and mechanical methods are used.</a:t>
            </a:r>
          </a:p>
          <a:p>
            <a:pPr>
              <a:buNone/>
            </a:pPr>
            <a:endParaRPr lang="en-US" dirty="0" smtClean="0"/>
          </a:p>
          <a:p>
            <a:r>
              <a:rPr lang="en-US" dirty="0" smtClean="0">
                <a:cs typeface="Times New Roman" panose="02020603050405020304" pitchFamily="18" charset="0"/>
              </a:rPr>
              <a:t>Goal:</a:t>
            </a:r>
          </a:p>
          <a:p>
            <a:pPr lvl="1"/>
            <a:r>
              <a:rPr lang="en-US" sz="3000" dirty="0" smtClean="0">
                <a:cs typeface="Times New Roman" panose="02020603050405020304" pitchFamily="18" charset="0"/>
              </a:rPr>
              <a:t>To facilitate the process of cervical softening, thinning, and dilatation </a:t>
            </a:r>
          </a:p>
          <a:p>
            <a:pPr lvl="1"/>
            <a:r>
              <a:rPr lang="en-US" sz="3000" dirty="0" smtClean="0">
                <a:cs typeface="Times New Roman" panose="02020603050405020304" pitchFamily="18" charset="0"/>
              </a:rPr>
              <a:t>To shorten the induction to delivery time and to decrease the rate of failed induction</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68362"/>
          </a:xfrm>
        </p:spPr>
        <p:txBody>
          <a:bodyPr/>
          <a:lstStyle/>
          <a:p>
            <a:r>
              <a:rPr lang="en-US" b="1" dirty="0" smtClean="0">
                <a:cs typeface="Times New Roman" panose="02020603050405020304" pitchFamily="18" charset="0"/>
              </a:rPr>
              <a:t>Cervical Ripening Methods</a:t>
            </a:r>
            <a:endParaRPr lang="en-US" dirty="0"/>
          </a:p>
        </p:txBody>
      </p:sp>
      <p:sp>
        <p:nvSpPr>
          <p:cNvPr id="3" name="Content Placeholder 2"/>
          <p:cNvSpPr>
            <a:spLocks noGrp="1"/>
          </p:cNvSpPr>
          <p:nvPr>
            <p:ph idx="1"/>
          </p:nvPr>
        </p:nvSpPr>
        <p:spPr>
          <a:xfrm>
            <a:off x="0" y="1066800"/>
            <a:ext cx="9144000" cy="5791200"/>
          </a:xfrm>
        </p:spPr>
        <p:txBody>
          <a:bodyPr>
            <a:normAutofit/>
          </a:bodyPr>
          <a:lstStyle/>
          <a:p>
            <a:r>
              <a:rPr lang="en-US" b="1" dirty="0" smtClean="0">
                <a:cs typeface="Times New Roman" panose="02020603050405020304" pitchFamily="18" charset="0"/>
              </a:rPr>
              <a:t>Mechanical methods </a:t>
            </a:r>
          </a:p>
          <a:p>
            <a:pPr lvl="1">
              <a:buFont typeface="Wingdings" panose="05000000000000000000" pitchFamily="2" charset="2"/>
              <a:buChar char="Ø"/>
            </a:pPr>
            <a:r>
              <a:rPr lang="en-US" sz="3000" dirty="0" smtClean="0">
                <a:cs typeface="Times New Roman" panose="02020603050405020304" pitchFamily="18" charset="0"/>
              </a:rPr>
              <a:t>Osmotic/hygroscopic dilators</a:t>
            </a:r>
          </a:p>
          <a:p>
            <a:pPr lvl="2">
              <a:buFont typeface="Wingdings" panose="05000000000000000000" pitchFamily="2" charset="2"/>
              <a:buChar char="ü"/>
            </a:pPr>
            <a:r>
              <a:rPr lang="en-US" sz="2800" dirty="0" smtClean="0">
                <a:cs typeface="Times New Roman" panose="02020603050405020304" pitchFamily="18" charset="0"/>
              </a:rPr>
              <a:t>Laminaria  tents</a:t>
            </a:r>
          </a:p>
          <a:p>
            <a:pPr lvl="2">
              <a:buFont typeface="Wingdings" panose="05000000000000000000" pitchFamily="2" charset="2"/>
              <a:buChar char="ü"/>
            </a:pPr>
            <a:r>
              <a:rPr lang="en-US" sz="2800" dirty="0" smtClean="0">
                <a:cs typeface="Times New Roman" panose="02020603050405020304" pitchFamily="18" charset="0"/>
              </a:rPr>
              <a:t>Dilapan-S</a:t>
            </a:r>
          </a:p>
          <a:p>
            <a:pPr lvl="1">
              <a:buFont typeface="Wingdings" panose="05000000000000000000" pitchFamily="2" charset="2"/>
              <a:buChar char="Ø"/>
            </a:pPr>
            <a:r>
              <a:rPr lang="en-US" sz="3000" dirty="0" smtClean="0">
                <a:cs typeface="Times New Roman" panose="02020603050405020304" pitchFamily="18" charset="0"/>
              </a:rPr>
              <a:t>Foley catheters (14 - 26 F) with inflation volume of 30–80 ml</a:t>
            </a:r>
          </a:p>
          <a:p>
            <a:pPr lvl="1">
              <a:buFont typeface="Wingdings" panose="05000000000000000000" pitchFamily="2" charset="2"/>
              <a:buChar char="Ø"/>
            </a:pPr>
            <a:r>
              <a:rPr lang="en-US" sz="3000" dirty="0" smtClean="0">
                <a:cs typeface="Times New Roman" panose="02020603050405020304" pitchFamily="18" charset="0"/>
              </a:rPr>
              <a:t>Double balloon devices</a:t>
            </a:r>
          </a:p>
          <a:p>
            <a:pPr lvl="1">
              <a:buFont typeface="Wingdings" panose="05000000000000000000" pitchFamily="2" charset="2"/>
              <a:buChar char="Ø"/>
            </a:pPr>
            <a:r>
              <a:rPr lang="en-US" sz="3000" dirty="0" smtClean="0">
                <a:cs typeface="Times New Roman" panose="02020603050405020304" pitchFamily="18" charset="0"/>
              </a:rPr>
              <a:t>Extra-amniotic saline infusion</a:t>
            </a:r>
          </a:p>
          <a:p>
            <a:pPr lvl="1">
              <a:buFont typeface="Wingdings" panose="05000000000000000000" pitchFamily="2" charset="2"/>
              <a:buChar char="Ø"/>
            </a:pPr>
            <a:r>
              <a:rPr lang="en-US" sz="3000" dirty="0" smtClean="0">
                <a:cs typeface="Times New Roman" panose="02020603050405020304" pitchFamily="18" charset="0"/>
              </a:rPr>
              <a:t>Membrane stripping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Cont…</a:t>
            </a:r>
            <a:endParaRPr lang="en-US" dirty="0"/>
          </a:p>
        </p:txBody>
      </p:sp>
      <p:sp>
        <p:nvSpPr>
          <p:cNvPr id="3" name="Content Placeholder 2"/>
          <p:cNvSpPr>
            <a:spLocks noGrp="1"/>
          </p:cNvSpPr>
          <p:nvPr>
            <p:ph idx="1"/>
          </p:nvPr>
        </p:nvSpPr>
        <p:spPr>
          <a:xfrm>
            <a:off x="0" y="1600200"/>
            <a:ext cx="9144000" cy="5257800"/>
          </a:xfrm>
        </p:spPr>
        <p:txBody>
          <a:bodyPr/>
          <a:lstStyle/>
          <a:p>
            <a:r>
              <a:rPr lang="en-US" b="1" dirty="0" smtClean="0">
                <a:cs typeface="Times New Roman" panose="02020603050405020304" pitchFamily="18" charset="0"/>
              </a:rPr>
              <a:t>Pharmacological methods</a:t>
            </a:r>
          </a:p>
          <a:p>
            <a:pPr lvl="1">
              <a:buFont typeface="Wingdings" panose="05000000000000000000" pitchFamily="2" charset="2"/>
              <a:buChar char="Ø"/>
            </a:pPr>
            <a:r>
              <a:rPr lang="en-US" sz="3000" dirty="0" smtClean="0">
                <a:cs typeface="Times New Roman" panose="02020603050405020304" pitchFamily="18" charset="0"/>
              </a:rPr>
              <a:t>Prostaglandin E1 (PGE1 ): Misoprostol</a:t>
            </a:r>
          </a:p>
          <a:p>
            <a:pPr lvl="1">
              <a:buFont typeface="Wingdings" panose="05000000000000000000" pitchFamily="2" charset="2"/>
              <a:buChar char="Ø"/>
            </a:pPr>
            <a:r>
              <a:rPr lang="en-US" sz="3000" dirty="0" smtClean="0">
                <a:cs typeface="Times New Roman" panose="02020603050405020304" pitchFamily="18" charset="0"/>
              </a:rPr>
              <a:t>Prostaglandin E2 (PGE2 ): Dinoprostone - tablet, gel or pessary /insert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52400" y="228600"/>
            <a:ext cx="8610600" cy="6248400"/>
          </a:xfrm>
          <a:prstGeom prst="rect">
            <a:avLst/>
          </a:prstGeom>
          <a:noFill/>
          <a:ln w="9525">
            <a:noFill/>
            <a:miter lim="800000"/>
            <a:headEnd/>
            <a:tailEnd/>
          </a:ln>
          <a:effectLst/>
        </p:spPr>
      </p:pic>
      <p:sp>
        <p:nvSpPr>
          <p:cNvPr id="5" name="Rectangle 4"/>
          <p:cNvSpPr/>
          <p:nvPr/>
        </p:nvSpPr>
        <p:spPr>
          <a:xfrm>
            <a:off x="1219200" y="304800"/>
            <a:ext cx="838200" cy="533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t>4</a:t>
            </a:r>
            <a:endParaRPr lang="en-US" sz="40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0F2D13D8-0B71-4453-9FBE-CFC130247F8E}"/>
              </a:ext>
            </a:extLst>
          </p:cNvPr>
          <p:cNvPicPr>
            <a:picLocks noGrp="1" noChangeAspect="1"/>
          </p:cNvPicPr>
          <p:nvPr>
            <p:ph idx="1"/>
          </p:nvPr>
        </p:nvPicPr>
        <p:blipFill>
          <a:blip r:embed="rId2"/>
          <a:stretch>
            <a:fillRect/>
          </a:stretch>
        </p:blipFill>
        <p:spPr>
          <a:xfrm>
            <a:off x="0" y="0"/>
            <a:ext cx="9144000" cy="6858000"/>
          </a:xfrm>
          <a:prstGeom prst="rect">
            <a:avLst/>
          </a:prstGeom>
        </p:spPr>
      </p:pic>
      <p:sp>
        <p:nvSpPr>
          <p:cNvPr id="5" name="Rectangle 4"/>
          <p:cNvSpPr/>
          <p:nvPr/>
        </p:nvSpPr>
        <p:spPr>
          <a:xfrm>
            <a:off x="609600" y="0"/>
            <a:ext cx="304800" cy="4572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5</a:t>
            </a:r>
            <a:endParaRPr lang="en-US" sz="24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cs typeface="Times New Roman" panose="02020603050405020304" pitchFamily="18" charset="0"/>
              </a:rPr>
              <a:t>Mechanical Methods</a:t>
            </a:r>
            <a:endParaRPr lang="en-US" dirty="0"/>
          </a:p>
        </p:txBody>
      </p:sp>
      <p:sp>
        <p:nvSpPr>
          <p:cNvPr id="3" name="Content Placeholder 2"/>
          <p:cNvSpPr>
            <a:spLocks noGrp="1"/>
          </p:cNvSpPr>
          <p:nvPr>
            <p:ph idx="1"/>
          </p:nvPr>
        </p:nvSpPr>
        <p:spPr>
          <a:xfrm>
            <a:off x="0" y="1447800"/>
            <a:ext cx="9144000" cy="5410200"/>
          </a:xfrm>
        </p:spPr>
        <p:txBody>
          <a:bodyPr>
            <a:normAutofit/>
          </a:bodyPr>
          <a:lstStyle/>
          <a:p>
            <a:r>
              <a:rPr lang="en-US" dirty="0" smtClean="0"/>
              <a:t>Mechanisms</a:t>
            </a:r>
          </a:p>
          <a:p>
            <a:pPr lvl="1"/>
            <a:r>
              <a:rPr lang="en-US" sz="3000" dirty="0" smtClean="0"/>
              <a:t>Release of prostaglandin F2-alpha from the decidua and adjacent membranes or PGE2 from the cervix.</a:t>
            </a:r>
          </a:p>
          <a:p>
            <a:pPr lvl="1">
              <a:buNone/>
            </a:pPr>
            <a:endParaRPr lang="en-US" sz="3000" dirty="0" smtClean="0"/>
          </a:p>
          <a:p>
            <a:pPr lvl="1"/>
            <a:r>
              <a:rPr lang="en-US" sz="3000" dirty="0" smtClean="0"/>
              <a:t>Physically cause gradual cervical dilation with minimal discomfort to the patient.</a:t>
            </a:r>
          </a:p>
          <a:p>
            <a:pPr lvl="2"/>
            <a:r>
              <a:rPr lang="en-US" sz="2800" dirty="0" smtClean="0"/>
              <a:t>Laminaria</a:t>
            </a:r>
          </a:p>
          <a:p>
            <a:pPr lvl="2"/>
            <a:r>
              <a:rPr lang="en-US" sz="2800" dirty="0" smtClean="0"/>
              <a:t>Balloon catheter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Cont…</a:t>
            </a:r>
            <a:endParaRPr lang="en-US" dirty="0"/>
          </a:p>
        </p:txBody>
      </p:sp>
      <p:sp>
        <p:nvSpPr>
          <p:cNvPr id="3" name="Content Placeholder 2"/>
          <p:cNvSpPr>
            <a:spLocks noGrp="1"/>
          </p:cNvSpPr>
          <p:nvPr>
            <p:ph idx="1"/>
          </p:nvPr>
        </p:nvSpPr>
        <p:spPr>
          <a:xfrm>
            <a:off x="0" y="1295400"/>
            <a:ext cx="9144000" cy="5562600"/>
          </a:xfrm>
        </p:spPr>
        <p:txBody>
          <a:bodyPr>
            <a:normAutofit/>
          </a:bodyPr>
          <a:lstStyle/>
          <a:p>
            <a:r>
              <a:rPr lang="en-US" dirty="0" smtClean="0"/>
              <a:t>Advantages</a:t>
            </a:r>
          </a:p>
          <a:p>
            <a:pPr lvl="1"/>
            <a:r>
              <a:rPr lang="en-US" sz="3000" dirty="0" smtClean="0"/>
              <a:t>Low cost</a:t>
            </a:r>
          </a:p>
          <a:p>
            <a:pPr lvl="1"/>
            <a:r>
              <a:rPr lang="en-US" sz="3000" dirty="0" smtClean="0"/>
              <a:t>Low risk of tachysystole</a:t>
            </a:r>
          </a:p>
          <a:p>
            <a:pPr lvl="1"/>
            <a:r>
              <a:rPr lang="en-US" sz="3000" dirty="0" smtClean="0"/>
              <a:t>Few systemic side effects</a:t>
            </a:r>
            <a:endParaRPr lang="en-US" dirty="0" smtClean="0"/>
          </a:p>
          <a:p>
            <a:r>
              <a:rPr lang="en-US" dirty="0" smtClean="0"/>
              <a:t>Disadvantages</a:t>
            </a:r>
          </a:p>
          <a:p>
            <a:pPr lvl="1"/>
            <a:r>
              <a:rPr lang="en-US" sz="3000" dirty="0" smtClean="0"/>
              <a:t>?Risk of infection (rarely)</a:t>
            </a:r>
          </a:p>
          <a:p>
            <a:pPr lvl="1"/>
            <a:r>
              <a:rPr lang="en-US" sz="3000" dirty="0" smtClean="0"/>
              <a:t>Disruption of a low-lying placenta (rarely)</a:t>
            </a:r>
          </a:p>
          <a:p>
            <a:pPr lvl="1"/>
            <a:r>
              <a:rPr lang="en-US" sz="3000" dirty="0" smtClean="0"/>
              <a:t>Maternal discomfort (Manipulation)</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normAutofit/>
          </a:bodyPr>
          <a:lstStyle/>
          <a:p>
            <a:r>
              <a:rPr lang="en-US" b="1" dirty="0" smtClean="0"/>
              <a:t>Membrane Stripping/sweeping</a:t>
            </a:r>
          </a:p>
        </p:txBody>
      </p:sp>
      <p:sp>
        <p:nvSpPr>
          <p:cNvPr id="3" name="Content Placeholder 2"/>
          <p:cNvSpPr>
            <a:spLocks noGrp="1"/>
          </p:cNvSpPr>
          <p:nvPr>
            <p:ph idx="1"/>
          </p:nvPr>
        </p:nvSpPr>
        <p:spPr>
          <a:xfrm>
            <a:off x="0" y="990600"/>
            <a:ext cx="9144000" cy="5867400"/>
          </a:xfrm>
        </p:spPr>
        <p:txBody>
          <a:bodyPr>
            <a:noAutofit/>
          </a:bodyPr>
          <a:lstStyle/>
          <a:p>
            <a:r>
              <a:rPr lang="en-US" sz="3100" dirty="0" smtClean="0"/>
              <a:t>Digital separation of the chorioamniotic membrane from the wall of the cervix and lower uterine segment</a:t>
            </a:r>
          </a:p>
          <a:p>
            <a:pPr>
              <a:buNone/>
            </a:pPr>
            <a:endParaRPr lang="en-US" sz="3100" dirty="0" smtClean="0"/>
          </a:p>
          <a:p>
            <a:r>
              <a:rPr lang="en-US" sz="3100" dirty="0" smtClean="0"/>
              <a:t>Significantly increases in phospholipase A2 activity and prostaglandin F2α (PGF 2α) levels</a:t>
            </a:r>
          </a:p>
          <a:p>
            <a:pPr>
              <a:buNone/>
            </a:pPr>
            <a:endParaRPr lang="en-US" sz="3100" dirty="0" smtClean="0"/>
          </a:p>
          <a:p>
            <a:r>
              <a:rPr lang="en-US" sz="3100" dirty="0" smtClean="0"/>
              <a:t>Increases the likelihood of spontaneous labor within 48 hours</a:t>
            </a:r>
          </a:p>
          <a:p>
            <a:r>
              <a:rPr lang="en-US" sz="3100" dirty="0" smtClean="0"/>
              <a:t>Reduces the incidence of induction with other methods, and also shortens the induction to delivery interval</a:t>
            </a:r>
          </a:p>
          <a:p>
            <a:endParaRPr lang="en-US" sz="3100" dirty="0" smtClean="0"/>
          </a:p>
          <a:p>
            <a:endParaRPr lang="en-US" sz="3100" dirty="0" smtClean="0"/>
          </a:p>
          <a:p>
            <a:pPr>
              <a:buNone/>
            </a:pPr>
            <a:endParaRPr lang="en-US" sz="31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embranestripping.jpg"/>
          <p:cNvPicPr>
            <a:picLocks noGrp="1" noChangeAspect="1"/>
          </p:cNvPicPr>
          <p:nvPr>
            <p:ph idx="1"/>
          </p:nvPr>
        </p:nvPicPr>
        <p:blipFill>
          <a:blip r:embed="rId2"/>
          <a:stretch>
            <a:fillRect/>
          </a:stretch>
        </p:blipFill>
        <p:spPr>
          <a:xfrm>
            <a:off x="304800" y="0"/>
            <a:ext cx="8610600" cy="685800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b="1" dirty="0" smtClean="0"/>
              <a:t>Transcervical balloon catheter – Foley Catheter Placement</a:t>
            </a:r>
            <a:endParaRPr lang="en-US" b="1" dirty="0"/>
          </a:p>
        </p:txBody>
      </p:sp>
      <p:sp>
        <p:nvSpPr>
          <p:cNvPr id="3" name="Content Placeholder 2"/>
          <p:cNvSpPr>
            <a:spLocks noGrp="1"/>
          </p:cNvSpPr>
          <p:nvPr>
            <p:ph idx="1"/>
          </p:nvPr>
        </p:nvSpPr>
        <p:spPr>
          <a:xfrm>
            <a:off x="0" y="1295400"/>
            <a:ext cx="9144000" cy="5562600"/>
          </a:xfrm>
        </p:spPr>
        <p:txBody>
          <a:bodyPr>
            <a:normAutofit/>
          </a:bodyPr>
          <a:lstStyle/>
          <a:p>
            <a:r>
              <a:rPr lang="en-US" dirty="0" smtClean="0"/>
              <a:t>With or without extra amnionic saline infusion</a:t>
            </a:r>
          </a:p>
          <a:p>
            <a:pPr>
              <a:buNone/>
            </a:pPr>
            <a:endParaRPr lang="en-US" dirty="0" smtClean="0"/>
          </a:p>
          <a:p>
            <a:r>
              <a:rPr lang="en-US" dirty="0" smtClean="0"/>
              <a:t>Appears to be as effective for preinduction cervical ripening as PGE2 gel and intravaginal Misoprostol</a:t>
            </a:r>
          </a:p>
          <a:p>
            <a:pPr>
              <a:buNone/>
            </a:pPr>
            <a:endParaRPr lang="en-US" dirty="0" smtClean="0"/>
          </a:p>
          <a:p>
            <a:pPr>
              <a:buFont typeface="Wingdings" panose="05000000000000000000" pitchFamily="2" charset="2"/>
              <a:buChar char="ü"/>
            </a:pPr>
            <a:r>
              <a:rPr lang="en-US" altLang="en-US" dirty="0" smtClean="0">
                <a:ea typeface="HY얕은샘물M"/>
                <a:cs typeface="Times New Roman" panose="02020603050405020304" pitchFamily="18" charset="0"/>
              </a:rPr>
              <a:t>Insert No 16 or 18 into the cervix above internal </a:t>
            </a:r>
            <a:r>
              <a:rPr lang="en-US" altLang="en-US" dirty="0" err="1" smtClean="0">
                <a:ea typeface="HY얕은샘물M"/>
                <a:cs typeface="Times New Roman" panose="02020603050405020304" pitchFamily="18" charset="0"/>
              </a:rPr>
              <a:t>os</a:t>
            </a:r>
            <a:r>
              <a:rPr lang="en-US" altLang="en-US" dirty="0" smtClean="0">
                <a:ea typeface="HY얕은샘물M"/>
                <a:cs typeface="Times New Roman" panose="02020603050405020304" pitchFamily="18" charset="0"/>
              </a:rPr>
              <a:t> digitally or using speculum, aseptic technique should be followed</a:t>
            </a:r>
          </a:p>
          <a:p>
            <a:pPr>
              <a:buNone/>
            </a:pPr>
            <a:endParaRPr lang="en-US" altLang="en-US" dirty="0" smtClean="0">
              <a:ea typeface="HY얕은샘물M"/>
              <a:cs typeface="Times New Roman" panose="02020603050405020304" pitchFamily="18" charset="0"/>
            </a:endParaRPr>
          </a:p>
          <a:p>
            <a:pPr>
              <a:buFont typeface="Wingdings" panose="05000000000000000000" pitchFamily="2" charset="2"/>
              <a:buChar char="ü"/>
            </a:pPr>
            <a:r>
              <a:rPr lang="en-US" altLang="en-US" dirty="0" smtClean="0">
                <a:ea typeface="HY얕은샘물M"/>
                <a:cs typeface="Times New Roman" panose="02020603050405020304" pitchFamily="18" charset="0"/>
              </a:rPr>
              <a:t>Instill 30- 80 ml 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0" y="914400"/>
            <a:ext cx="9144000" cy="5943600"/>
          </a:xfrm>
        </p:spPr>
        <p:txBody>
          <a:bodyPr/>
          <a:lstStyle/>
          <a:p>
            <a:pPr>
              <a:buFont typeface="Wingdings" panose="05000000000000000000" pitchFamily="2" charset="2"/>
              <a:buChar char="ü"/>
            </a:pPr>
            <a:r>
              <a:rPr lang="en-US" altLang="en-US" dirty="0" smtClean="0">
                <a:ea typeface="HY얕은샘물M"/>
                <a:cs typeface="Times New Roman" panose="02020603050405020304" pitchFamily="18" charset="0"/>
              </a:rPr>
              <a:t>Pull gently to the level of internal cervical </a:t>
            </a:r>
            <a:r>
              <a:rPr lang="en-US" altLang="en-US" dirty="0" err="1" smtClean="0">
                <a:ea typeface="HY얕은샘물M"/>
                <a:cs typeface="Times New Roman" panose="02020603050405020304" pitchFamily="18" charset="0"/>
              </a:rPr>
              <a:t>os</a:t>
            </a:r>
            <a:r>
              <a:rPr lang="en-US" altLang="en-US" dirty="0" smtClean="0">
                <a:ea typeface="HY얕은샘물M"/>
                <a:cs typeface="Times New Roman" panose="02020603050405020304" pitchFamily="18" charset="0"/>
              </a:rPr>
              <a:t>.</a:t>
            </a:r>
          </a:p>
          <a:p>
            <a:pPr>
              <a:buFont typeface="Wingdings" panose="05000000000000000000" pitchFamily="2" charset="2"/>
              <a:buChar char="ü"/>
            </a:pPr>
            <a:r>
              <a:rPr lang="en-US" altLang="en-US" dirty="0" smtClean="0">
                <a:ea typeface="HY얕은샘물M"/>
                <a:cs typeface="Times New Roman" panose="02020603050405020304" pitchFamily="18" charset="0"/>
              </a:rPr>
              <a:t>Apply light traction to the catheter.</a:t>
            </a:r>
          </a:p>
          <a:p>
            <a:pPr>
              <a:buFont typeface="Wingdings" panose="05000000000000000000" pitchFamily="2" charset="2"/>
              <a:buChar char="ü"/>
            </a:pPr>
            <a:r>
              <a:rPr lang="en-US" altLang="en-US" dirty="0" smtClean="0">
                <a:ea typeface="HY얕은샘물M"/>
                <a:cs typeface="Times New Roman" panose="02020603050405020304" pitchFamily="18" charset="0"/>
              </a:rPr>
              <a:t>Leave for 12hrs or till spontaneously expels.</a:t>
            </a:r>
          </a:p>
          <a:p>
            <a:pPr>
              <a:buNone/>
            </a:pPr>
            <a:endParaRPr lang="en-US" dirty="0"/>
          </a:p>
        </p:txBody>
      </p:sp>
      <p:pic>
        <p:nvPicPr>
          <p:cNvPr id="4" name="Content Placeholder 4" descr="balloncatheter.jpg"/>
          <p:cNvPicPr>
            <a:picLocks noChangeAspect="1"/>
          </p:cNvPicPr>
          <p:nvPr/>
        </p:nvPicPr>
        <p:blipFill>
          <a:blip r:embed="rId2"/>
          <a:stretch>
            <a:fillRect/>
          </a:stretch>
        </p:blipFill>
        <p:spPr>
          <a:xfrm>
            <a:off x="0" y="2667000"/>
            <a:ext cx="9144000" cy="4191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r>
              <a:rPr lang="it-IT" b="1" dirty="0" smtClean="0"/>
              <a:t>Extra amnionic saline infusion (EASI)</a:t>
            </a:r>
            <a:endParaRPr lang="en-US" b="1" dirty="0"/>
          </a:p>
        </p:txBody>
      </p:sp>
      <p:sp>
        <p:nvSpPr>
          <p:cNvPr id="3" name="Content Placeholder 2"/>
          <p:cNvSpPr>
            <a:spLocks noGrp="1"/>
          </p:cNvSpPr>
          <p:nvPr>
            <p:ph idx="1"/>
          </p:nvPr>
        </p:nvSpPr>
        <p:spPr>
          <a:xfrm>
            <a:off x="0" y="1600200"/>
            <a:ext cx="9144000" cy="5257800"/>
          </a:xfrm>
        </p:spPr>
        <p:txBody>
          <a:bodyPr/>
          <a:lstStyle/>
          <a:p>
            <a:r>
              <a:rPr lang="sv-SE" dirty="0" smtClean="0"/>
              <a:t>A constant saline infusion through the catheter with</a:t>
            </a:r>
            <a:r>
              <a:rPr lang="en-US" dirty="0" smtClean="0">
                <a:cs typeface="Times New Roman" panose="02020603050405020304" pitchFamily="18" charset="0"/>
              </a:rPr>
              <a:t> infusion rate of 30–40 ml/h</a:t>
            </a:r>
            <a:r>
              <a:rPr lang="sv-SE" dirty="0" smtClean="0"/>
              <a:t> in to the space between the internal os and placental membranes</a:t>
            </a:r>
          </a:p>
          <a:p>
            <a:r>
              <a:rPr lang="sv-SE" dirty="0" smtClean="0"/>
              <a:t>One modification of </a:t>
            </a:r>
            <a:r>
              <a:rPr lang="en-US" dirty="0" smtClean="0"/>
              <a:t>foley catheter placement</a:t>
            </a:r>
          </a:p>
        </p:txBody>
      </p:sp>
      <p:pic>
        <p:nvPicPr>
          <p:cNvPr id="4" name="Picture 3" descr="EASI.gif"/>
          <p:cNvPicPr>
            <a:picLocks noChangeAspect="1"/>
          </p:cNvPicPr>
          <p:nvPr/>
        </p:nvPicPr>
        <p:blipFill>
          <a:blip r:embed="rId2"/>
          <a:stretch>
            <a:fillRect/>
          </a:stretch>
        </p:blipFill>
        <p:spPr>
          <a:xfrm>
            <a:off x="4724400" y="3657600"/>
            <a:ext cx="4419600" cy="3200400"/>
          </a:xfrm>
          <a:prstGeom prst="rect">
            <a:avLst/>
          </a:prstGeom>
        </p:spPr>
      </p:pic>
      <p:pic>
        <p:nvPicPr>
          <p:cNvPr id="1026" name="Picture 2"/>
          <p:cNvPicPr>
            <a:picLocks noChangeAspect="1" noChangeArrowheads="1"/>
          </p:cNvPicPr>
          <p:nvPr/>
        </p:nvPicPr>
        <p:blipFill>
          <a:blip r:embed="rId3"/>
          <a:srcRect/>
          <a:stretch>
            <a:fillRect/>
          </a:stretch>
        </p:blipFill>
        <p:spPr bwMode="auto">
          <a:xfrm>
            <a:off x="0" y="3733800"/>
            <a:ext cx="4572000" cy="31242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t>Hygroscopic Cervical Dilators</a:t>
            </a:r>
            <a:endParaRPr lang="en-US" b="1" dirty="0"/>
          </a:p>
        </p:txBody>
      </p:sp>
      <p:sp>
        <p:nvSpPr>
          <p:cNvPr id="3" name="Content Placeholder 2"/>
          <p:cNvSpPr>
            <a:spLocks noGrp="1"/>
          </p:cNvSpPr>
          <p:nvPr>
            <p:ph idx="1"/>
          </p:nvPr>
        </p:nvSpPr>
        <p:spPr>
          <a:xfrm>
            <a:off x="0" y="914400"/>
            <a:ext cx="9144000" cy="5943600"/>
          </a:xfrm>
        </p:spPr>
        <p:txBody>
          <a:bodyPr>
            <a:normAutofit/>
          </a:bodyPr>
          <a:lstStyle/>
          <a:p>
            <a:r>
              <a:rPr lang="en-US" dirty="0" smtClean="0"/>
              <a:t>Osmotic cervical dilators</a:t>
            </a:r>
          </a:p>
          <a:p>
            <a:pPr lvl="1"/>
            <a:r>
              <a:rPr lang="en-US" dirty="0" smtClean="0"/>
              <a:t>hydrophilic agents that absorb water and thus gradually expand within the cervical canal, which in turn causes the cervix to dilate</a:t>
            </a:r>
          </a:p>
          <a:p>
            <a:r>
              <a:rPr lang="es-ES" dirty="0" smtClean="0"/>
              <a:t>Include </a:t>
            </a:r>
            <a:r>
              <a:rPr lang="es-ES" b="1" i="1" dirty="0" smtClean="0"/>
              <a:t>Laminaria japonicum </a:t>
            </a:r>
            <a:r>
              <a:rPr lang="es-ES" dirty="0" err="1" smtClean="0"/>
              <a:t>or</a:t>
            </a:r>
            <a:r>
              <a:rPr lang="es-ES" dirty="0" smtClean="0"/>
              <a:t> hygroscopic devices (Dilapan-S)</a:t>
            </a:r>
          </a:p>
          <a:p>
            <a:pPr>
              <a:buNone/>
            </a:pPr>
            <a:endParaRPr lang="en-US" dirty="0"/>
          </a:p>
        </p:txBody>
      </p:sp>
      <p:pic>
        <p:nvPicPr>
          <p:cNvPr id="4" name="Picture 3" descr="Laminaria1.jpg"/>
          <p:cNvPicPr>
            <a:picLocks noChangeAspect="1"/>
          </p:cNvPicPr>
          <p:nvPr/>
        </p:nvPicPr>
        <p:blipFill>
          <a:blip r:embed="rId3"/>
          <a:stretch>
            <a:fillRect/>
          </a:stretch>
        </p:blipFill>
        <p:spPr>
          <a:xfrm>
            <a:off x="990600" y="3886200"/>
            <a:ext cx="6934200" cy="2971800"/>
          </a:xfrm>
          <a:prstGeom prst="rect">
            <a:avLst/>
          </a:prstGeom>
        </p:spPr>
      </p:pic>
      <p:sp>
        <p:nvSpPr>
          <p:cNvPr id="5" name="Rectangle 4"/>
          <p:cNvSpPr/>
          <p:nvPr/>
        </p:nvSpPr>
        <p:spPr>
          <a:xfrm>
            <a:off x="3810000" y="5105400"/>
            <a:ext cx="1524000" cy="4572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Laminaria</a:t>
            </a:r>
            <a:endParaRPr lang="en-US"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dirty="0" smtClean="0"/>
              <a:t>Cont…</a:t>
            </a:r>
            <a:endParaRPr lang="en-US" dirty="0"/>
          </a:p>
        </p:txBody>
      </p:sp>
      <p:sp>
        <p:nvSpPr>
          <p:cNvPr id="3" name="Content Placeholder 2"/>
          <p:cNvSpPr>
            <a:spLocks noGrp="1"/>
          </p:cNvSpPr>
          <p:nvPr>
            <p:ph idx="1"/>
          </p:nvPr>
        </p:nvSpPr>
        <p:spPr>
          <a:xfrm>
            <a:off x="0" y="1066800"/>
            <a:ext cx="9144000" cy="5791200"/>
          </a:xfrm>
        </p:spPr>
        <p:txBody>
          <a:bodyPr/>
          <a:lstStyle/>
          <a:p>
            <a:r>
              <a:rPr lang="en-US" sz="2800" dirty="0" smtClean="0"/>
              <a:t>Laminaria: overnight preparation offers optimal cervical dilation</a:t>
            </a:r>
          </a:p>
          <a:p>
            <a:r>
              <a:rPr lang="es-ES" sz="2800" dirty="0" smtClean="0"/>
              <a:t>Dilapan-S: preferable for same-day procedures, maximal effect in 4 - 6 hrs</a:t>
            </a:r>
            <a:endParaRPr lang="en-US" sz="2800" dirty="0" smtClean="0"/>
          </a:p>
          <a:p>
            <a:endParaRPr lang="en-US" dirty="0"/>
          </a:p>
        </p:txBody>
      </p:sp>
      <p:pic>
        <p:nvPicPr>
          <p:cNvPr id="6" name="Picture 5" descr="DilapanS1.jpg"/>
          <p:cNvPicPr>
            <a:picLocks noChangeAspect="1"/>
          </p:cNvPicPr>
          <p:nvPr/>
        </p:nvPicPr>
        <p:blipFill>
          <a:blip r:embed="rId2"/>
          <a:stretch>
            <a:fillRect/>
          </a:stretch>
        </p:blipFill>
        <p:spPr>
          <a:xfrm>
            <a:off x="0" y="3810000"/>
            <a:ext cx="4343400" cy="3048000"/>
          </a:xfrm>
          <a:prstGeom prst="rect">
            <a:avLst/>
          </a:prstGeom>
        </p:spPr>
      </p:pic>
      <p:pic>
        <p:nvPicPr>
          <p:cNvPr id="7" name="Picture 6" descr="DilapanS2.png"/>
          <p:cNvPicPr>
            <a:picLocks noChangeAspect="1"/>
          </p:cNvPicPr>
          <p:nvPr/>
        </p:nvPicPr>
        <p:blipFill>
          <a:blip r:embed="rId3"/>
          <a:stretch>
            <a:fillRect/>
          </a:stretch>
        </p:blipFill>
        <p:spPr>
          <a:xfrm>
            <a:off x="4419600" y="3505200"/>
            <a:ext cx="4724400" cy="33528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a:bodyPr>
          <a:lstStyle/>
          <a:p>
            <a:r>
              <a:rPr lang="en-US" b="1" dirty="0" smtClean="0">
                <a:cs typeface="Times New Roman" panose="02020603050405020304" pitchFamily="18" charset="0"/>
              </a:rPr>
              <a:t>Pharmacologic Methods</a:t>
            </a:r>
            <a:endParaRPr lang="en-US" dirty="0"/>
          </a:p>
        </p:txBody>
      </p:sp>
      <p:sp>
        <p:nvSpPr>
          <p:cNvPr id="3" name="Content Placeholder 2"/>
          <p:cNvSpPr>
            <a:spLocks noGrp="1"/>
          </p:cNvSpPr>
          <p:nvPr>
            <p:ph idx="1"/>
          </p:nvPr>
        </p:nvSpPr>
        <p:spPr>
          <a:xfrm>
            <a:off x="0" y="990600"/>
            <a:ext cx="9144000" cy="5867400"/>
          </a:xfrm>
        </p:spPr>
        <p:txBody>
          <a:bodyPr>
            <a:normAutofit fontScale="92500" lnSpcReduction="10000"/>
          </a:bodyPr>
          <a:lstStyle/>
          <a:p>
            <a:r>
              <a:rPr lang="en-US" dirty="0" smtClean="0"/>
              <a:t>PG formulations have been used since they were first synthesized in the laboratory in 1968.</a:t>
            </a:r>
          </a:p>
          <a:p>
            <a:endParaRPr lang="en-US" dirty="0" smtClean="0"/>
          </a:p>
          <a:p>
            <a:r>
              <a:rPr lang="en-US" dirty="0" smtClean="0"/>
              <a:t>Administration of PG results in dissolution of collagen bundles and an increase in submucosal water content of the cervix.</a:t>
            </a:r>
          </a:p>
          <a:p>
            <a:pPr>
              <a:buNone/>
            </a:pPr>
            <a:endParaRPr lang="en-US" dirty="0" smtClean="0"/>
          </a:p>
          <a:p>
            <a:r>
              <a:rPr lang="en-US" dirty="0" smtClean="0"/>
              <a:t>PGs can also stimulate contractions and thereby aid subsequent labor induction or augmentation.</a:t>
            </a:r>
          </a:p>
          <a:p>
            <a:pPr>
              <a:buNone/>
            </a:pPr>
            <a:endParaRPr lang="en-US" dirty="0" smtClean="0"/>
          </a:p>
          <a:p>
            <a:r>
              <a:rPr lang="en-US" dirty="0" smtClean="0"/>
              <a:t>PG formulations of any kind should be avoided in women with a prior uterine  scar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t>Prostaglandin E1 (Misoprostol)</a:t>
            </a:r>
            <a:endParaRPr lang="en-US" b="1" dirty="0"/>
          </a:p>
        </p:txBody>
      </p:sp>
      <p:sp>
        <p:nvSpPr>
          <p:cNvPr id="3" name="Content Placeholder 2"/>
          <p:cNvSpPr>
            <a:spLocks noGrp="1"/>
          </p:cNvSpPr>
          <p:nvPr>
            <p:ph idx="1"/>
          </p:nvPr>
        </p:nvSpPr>
        <p:spPr>
          <a:xfrm>
            <a:off x="0" y="990600"/>
            <a:ext cx="9144000" cy="5867400"/>
          </a:xfrm>
        </p:spPr>
        <p:txBody>
          <a:bodyPr>
            <a:normAutofit/>
          </a:bodyPr>
          <a:lstStyle/>
          <a:p>
            <a:r>
              <a:rPr lang="en-US" dirty="0" smtClean="0"/>
              <a:t>Misoprostol - </a:t>
            </a:r>
            <a:r>
              <a:rPr lang="en-US" i="1" dirty="0" smtClean="0"/>
              <a:t>Cytotec</a:t>
            </a:r>
            <a:r>
              <a:rPr lang="en-US" dirty="0" smtClean="0"/>
              <a:t> - is a synthetic PGE1 analogue available as 25-µg, 100-µg and 200-µg tablets.</a:t>
            </a:r>
          </a:p>
          <a:p>
            <a:endParaRPr lang="en-US" dirty="0" smtClean="0"/>
          </a:p>
          <a:p>
            <a:r>
              <a:rPr lang="en-US" dirty="0" smtClean="0"/>
              <a:t>Inexpensive and is also stable at room temperature</a:t>
            </a:r>
          </a:p>
          <a:p>
            <a:pPr>
              <a:buNone/>
            </a:pPr>
            <a:endParaRPr lang="en-US" dirty="0" smtClean="0"/>
          </a:p>
          <a:p>
            <a:r>
              <a:rPr lang="en-US" dirty="0" smtClean="0"/>
              <a:t>Administered orally or placed vaginally</a:t>
            </a:r>
          </a:p>
          <a:p>
            <a:pPr lvl="1"/>
            <a:r>
              <a:rPr lang="en-US" dirty="0" smtClean="0"/>
              <a:t>buccal and sublingual routes are possible options</a:t>
            </a:r>
          </a:p>
          <a:p>
            <a:r>
              <a:rPr lang="en-US" b="1" dirty="0" smtClean="0"/>
              <a:t>Vaginal</a:t>
            </a:r>
            <a:r>
              <a:rPr lang="en-US" dirty="0" smtClean="0"/>
              <a:t> (place into the posterior fornix): 25 mcg  (</a:t>
            </a:r>
            <a:r>
              <a:rPr lang="en-US" sz="2400" dirty="0" smtClean="0"/>
              <a:t>only if misoprostol is available in the form of a 25-mcg tablet</a:t>
            </a:r>
            <a:r>
              <a:rPr lang="en-US" dirty="0" smtClean="0"/>
              <a:t>), if required repeat after 6 hours.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Cont…</a:t>
            </a:r>
            <a:endParaRPr lang="en-US" dirty="0"/>
          </a:p>
        </p:txBody>
      </p:sp>
      <p:sp>
        <p:nvSpPr>
          <p:cNvPr id="3" name="Content Placeholder 2"/>
          <p:cNvSpPr>
            <a:spLocks noGrp="1"/>
          </p:cNvSpPr>
          <p:nvPr>
            <p:ph idx="1"/>
          </p:nvPr>
        </p:nvSpPr>
        <p:spPr>
          <a:xfrm>
            <a:off x="0" y="1143000"/>
            <a:ext cx="9144000" cy="5715000"/>
          </a:xfrm>
        </p:spPr>
        <p:txBody>
          <a:bodyPr/>
          <a:lstStyle/>
          <a:p>
            <a:r>
              <a:rPr lang="en-US" b="1" dirty="0" smtClean="0"/>
              <a:t>Oral</a:t>
            </a:r>
            <a:r>
              <a:rPr lang="en-US" dirty="0" smtClean="0"/>
              <a:t>: 25 mcg; if required repeat after 3 hours.</a:t>
            </a:r>
          </a:p>
          <a:p>
            <a:pPr lvl="1"/>
            <a:r>
              <a:rPr lang="en-US" dirty="0" smtClean="0"/>
              <a:t>If 25 mcg is not available, dissolve one 200 mcg tablet in 200 mL of water and administer 25 mL of that solution as a single dose.</a:t>
            </a:r>
          </a:p>
          <a:p>
            <a:pPr lvl="1">
              <a:buNone/>
            </a:pPr>
            <a:endParaRPr lang="en-US" dirty="0" smtClean="0"/>
          </a:p>
          <a:p>
            <a:r>
              <a:rPr lang="en-US" dirty="0" smtClean="0"/>
              <a:t> If 12 hours have passed since the first dose of misoprostol, discontinue misoprostol and begin oxytocin infusion. </a:t>
            </a:r>
          </a:p>
          <a:p>
            <a:pPr lvl="1"/>
            <a:r>
              <a:rPr lang="en-US" dirty="0" smtClean="0"/>
              <a:t>Or 4 hours after  the final misoprostol dose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t>Prostaglandin E2 (Dinoprostone)</a:t>
            </a:r>
            <a:endParaRPr lang="en-US" b="1" dirty="0"/>
          </a:p>
        </p:txBody>
      </p:sp>
      <p:sp>
        <p:nvSpPr>
          <p:cNvPr id="3" name="Content Placeholder 2"/>
          <p:cNvSpPr>
            <a:spLocks noGrp="1"/>
          </p:cNvSpPr>
          <p:nvPr>
            <p:ph idx="1"/>
          </p:nvPr>
        </p:nvSpPr>
        <p:spPr>
          <a:xfrm>
            <a:off x="0" y="838200"/>
            <a:ext cx="9144000" cy="6019800"/>
          </a:xfrm>
        </p:spPr>
        <p:txBody>
          <a:bodyPr>
            <a:normAutofit lnSpcReduction="10000"/>
          </a:bodyPr>
          <a:lstStyle/>
          <a:p>
            <a:r>
              <a:rPr lang="en-US" altLang="ko-KR" dirty="0" smtClean="0"/>
              <a:t>Local application of PGE2 (Dinoprostone)</a:t>
            </a:r>
          </a:p>
          <a:p>
            <a:r>
              <a:rPr lang="en-US" altLang="ko-KR" dirty="0" smtClean="0">
                <a:sym typeface="Wingdings" pitchFamily="2" charset="2"/>
              </a:rPr>
              <a:t>Preparations </a:t>
            </a:r>
          </a:p>
          <a:p>
            <a:pPr lvl="1"/>
            <a:r>
              <a:rPr lang="en-US" altLang="ko-KR" dirty="0" err="1" smtClean="0">
                <a:sym typeface="Wingdings" pitchFamily="2" charset="2"/>
              </a:rPr>
              <a:t>Prepidil</a:t>
            </a:r>
            <a:r>
              <a:rPr lang="en-US" altLang="ko-KR" dirty="0" smtClean="0">
                <a:sym typeface="Wingdings" pitchFamily="2" charset="2"/>
              </a:rPr>
              <a:t> (intracervical gel)</a:t>
            </a:r>
          </a:p>
          <a:p>
            <a:pPr lvl="2"/>
            <a:r>
              <a:rPr lang="en-US" altLang="ko-KR" dirty="0" smtClean="0">
                <a:sym typeface="Wingdings" pitchFamily="2" charset="2"/>
              </a:rPr>
              <a:t>0.5  mg  of </a:t>
            </a:r>
            <a:r>
              <a:rPr lang="en-US" altLang="ko-KR" dirty="0" smtClean="0"/>
              <a:t>Dinoprostone gel</a:t>
            </a:r>
            <a:r>
              <a:rPr lang="en-US" altLang="ko-KR" dirty="0" smtClean="0">
                <a:sym typeface="Wingdings" pitchFamily="2" charset="2"/>
              </a:rPr>
              <a:t> in 2.5 ml syringe</a:t>
            </a:r>
          </a:p>
          <a:p>
            <a:pPr lvl="2"/>
            <a:r>
              <a:rPr lang="en-US" altLang="ko-KR" dirty="0" smtClean="0">
                <a:sym typeface="Wingdings" pitchFamily="2" charset="2"/>
              </a:rPr>
              <a:t>repeated every 6 hrs, with a max of 3 doses in 24 hrs</a:t>
            </a:r>
          </a:p>
          <a:p>
            <a:pPr lvl="1"/>
            <a:r>
              <a:rPr lang="en-US" altLang="ko-KR" dirty="0" err="1" smtClean="0">
                <a:sym typeface="Wingdings" pitchFamily="2" charset="2"/>
              </a:rPr>
              <a:t>Crevidil</a:t>
            </a:r>
            <a:r>
              <a:rPr lang="en-US" altLang="ko-KR" dirty="0" smtClean="0">
                <a:sym typeface="Wingdings" pitchFamily="2" charset="2"/>
              </a:rPr>
              <a:t> (intravaginal insert)</a:t>
            </a:r>
          </a:p>
          <a:p>
            <a:pPr lvl="2"/>
            <a:r>
              <a:rPr lang="en-US" altLang="ko-KR" dirty="0" smtClean="0">
                <a:sym typeface="Wingdings" pitchFamily="2" charset="2"/>
              </a:rPr>
              <a:t>a 10 mg of dinoprostone vaginal insert in a timed-release formulation</a:t>
            </a:r>
          </a:p>
          <a:p>
            <a:pPr lvl="2"/>
            <a:r>
              <a:rPr lang="en-US" altLang="ko-KR" dirty="0">
                <a:sym typeface="Wingdings" pitchFamily="2" charset="2"/>
              </a:rPr>
              <a:t>t</a:t>
            </a:r>
            <a:r>
              <a:rPr lang="en-US" altLang="ko-KR" dirty="0" smtClean="0">
                <a:sym typeface="Wingdings" pitchFamily="2" charset="2"/>
              </a:rPr>
              <a:t>he insert provides slower release of medication-0.3 mg /hr</a:t>
            </a:r>
          </a:p>
          <a:p>
            <a:pPr lvl="2"/>
            <a:r>
              <a:rPr lang="es-ES" altLang="ko-KR" dirty="0" err="1" smtClean="0">
                <a:sym typeface="Wingdings" pitchFamily="2" charset="2"/>
              </a:rPr>
              <a:t>used</a:t>
            </a:r>
            <a:r>
              <a:rPr lang="es-ES" altLang="ko-KR" dirty="0" smtClean="0">
                <a:sym typeface="Wingdings" pitchFamily="2" charset="2"/>
              </a:rPr>
              <a:t> as a single </a:t>
            </a:r>
            <a:r>
              <a:rPr lang="es-ES" altLang="ko-KR" dirty="0" err="1" smtClean="0">
                <a:sym typeface="Wingdings" pitchFamily="2" charset="2"/>
              </a:rPr>
              <a:t>dose</a:t>
            </a:r>
            <a:r>
              <a:rPr lang="es-ES" altLang="ko-KR" dirty="0" smtClean="0">
                <a:sym typeface="Wingdings" pitchFamily="2" charset="2"/>
              </a:rPr>
              <a:t> &amp; </a:t>
            </a:r>
            <a:r>
              <a:rPr lang="da-DK" altLang="ko-KR" dirty="0" smtClean="0">
                <a:sym typeface="Wingdings" pitchFamily="2" charset="2"/>
              </a:rPr>
              <a:t>removed after 12 hrs or with labor onset</a:t>
            </a:r>
            <a:endParaRPr lang="en-US" altLang="ko-KR" dirty="0" smtClean="0">
              <a:sym typeface="Wingdings" pitchFamily="2" charset="2"/>
            </a:endParaRPr>
          </a:p>
          <a:p>
            <a:pPr lvl="1"/>
            <a:r>
              <a:rPr lang="en-US" altLang="ko-KR" dirty="0" smtClean="0">
                <a:sym typeface="Wingdings" pitchFamily="2" charset="2"/>
              </a:rPr>
              <a:t>3 mg pessary - placed high in the posterior fornix of the vagina and may be repeated after six hours if required. </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t>Cont…</a:t>
            </a:r>
            <a:endParaRPr lang="en-US" dirty="0"/>
          </a:p>
        </p:txBody>
      </p:sp>
      <p:sp>
        <p:nvSpPr>
          <p:cNvPr id="3" name="Content Placeholder 2"/>
          <p:cNvSpPr>
            <a:spLocks noGrp="1"/>
          </p:cNvSpPr>
          <p:nvPr>
            <p:ph idx="1"/>
          </p:nvPr>
        </p:nvSpPr>
        <p:spPr>
          <a:xfrm>
            <a:off x="0" y="1143000"/>
            <a:ext cx="9144000" cy="5715000"/>
          </a:xfrm>
        </p:spPr>
        <p:txBody>
          <a:bodyPr>
            <a:normAutofit/>
          </a:bodyPr>
          <a:lstStyle/>
          <a:p>
            <a:r>
              <a:rPr lang="en-US" altLang="ko-KR" dirty="0" smtClean="0"/>
              <a:t>After administration:</a:t>
            </a:r>
          </a:p>
          <a:p>
            <a:pPr>
              <a:buNone/>
            </a:pPr>
            <a:r>
              <a:rPr lang="en-US" altLang="ko-KR" dirty="0" smtClean="0"/>
              <a:t>     -</a:t>
            </a:r>
            <a:r>
              <a:rPr lang="en-US" altLang="ko-KR" sz="3000" dirty="0" smtClean="0"/>
              <a:t>Continuous uterine activity &amp; FHR monitoring.</a:t>
            </a:r>
          </a:p>
          <a:p>
            <a:pPr>
              <a:buNone/>
            </a:pPr>
            <a:r>
              <a:rPr lang="en-US" altLang="ko-KR" sz="3000" dirty="0" smtClean="0"/>
              <a:t>     -Remain recumbent for at least 30 min.</a:t>
            </a:r>
          </a:p>
          <a:p>
            <a:pPr>
              <a:buNone/>
            </a:pPr>
            <a:r>
              <a:rPr lang="en-US" altLang="ko-KR" sz="3000" dirty="0" smtClean="0"/>
              <a:t>     -Observation for 30 min - 2hrs.</a:t>
            </a:r>
          </a:p>
          <a:p>
            <a:pPr>
              <a:buNone/>
            </a:pPr>
            <a:r>
              <a:rPr lang="en-US" altLang="ko-KR" sz="3000" dirty="0" smtClean="0"/>
              <a:t>     -Contraction occurs:</a:t>
            </a:r>
          </a:p>
          <a:p>
            <a:pPr>
              <a:buNone/>
            </a:pPr>
            <a:r>
              <a:rPr lang="en-US" altLang="ko-KR" dirty="0" smtClean="0"/>
              <a:t>         </a:t>
            </a:r>
            <a:r>
              <a:rPr lang="en-US" altLang="ko-KR" dirty="0" smtClean="0">
                <a:sym typeface="Wingdings" pitchFamily="2" charset="2"/>
              </a:rPr>
              <a:t></a:t>
            </a:r>
            <a:r>
              <a:rPr lang="en-US" altLang="ko-KR" sz="2800" dirty="0" smtClean="0">
                <a:sym typeface="Wingdings" pitchFamily="2" charset="2"/>
              </a:rPr>
              <a:t>in the first hour and show peak in the first 4hrs</a:t>
            </a:r>
          </a:p>
          <a:p>
            <a:pPr>
              <a:buNone/>
            </a:pPr>
            <a:r>
              <a:rPr lang="en-US" altLang="ko-KR" sz="2800" dirty="0" smtClean="0">
                <a:sym typeface="Wingdings" pitchFamily="2" charset="2"/>
              </a:rPr>
              <a:t>          FHR and V/S recording</a:t>
            </a:r>
            <a:endParaRPr lang="en-US" altLang="ko-KR" sz="2800" dirty="0">
              <a:sym typeface="Wingdings" pitchFamily="2" charset="2"/>
            </a:endParaRPr>
          </a:p>
          <a:p>
            <a:r>
              <a:rPr lang="en-US" altLang="ko-KR" dirty="0" smtClean="0">
                <a:sym typeface="Wingdings" pitchFamily="2" charset="2"/>
              </a:rPr>
              <a:t>Oxytocin induction should be delayed for 6 - 12 hrs or for at least 30 </a:t>
            </a:r>
            <a:r>
              <a:rPr lang="en-US" altLang="ko-KR" dirty="0" err="1" smtClean="0">
                <a:sym typeface="Wingdings" pitchFamily="2" charset="2"/>
              </a:rPr>
              <a:t>mins</a:t>
            </a:r>
            <a:r>
              <a:rPr lang="en-US" altLang="ko-KR" dirty="0" smtClean="0">
                <a:sym typeface="Wingdings" pitchFamily="2" charset="2"/>
              </a:rPr>
              <a:t> after removal of the vaginal insert.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t>Cont…</a:t>
            </a:r>
            <a:endParaRPr lang="en-US" dirty="0"/>
          </a:p>
        </p:txBody>
      </p:sp>
      <p:sp>
        <p:nvSpPr>
          <p:cNvPr id="3" name="Content Placeholder 2"/>
          <p:cNvSpPr>
            <a:spLocks noGrp="1"/>
          </p:cNvSpPr>
          <p:nvPr>
            <p:ph idx="1"/>
          </p:nvPr>
        </p:nvSpPr>
        <p:spPr>
          <a:xfrm>
            <a:off x="0" y="914400"/>
            <a:ext cx="9144000" cy="5943600"/>
          </a:xfrm>
        </p:spPr>
        <p:txBody>
          <a:bodyPr>
            <a:normAutofit/>
          </a:bodyPr>
          <a:lstStyle/>
          <a:p>
            <a:r>
              <a:rPr lang="en-US" altLang="ko-KR" sz="3600" dirty="0" smtClean="0"/>
              <a:t>Side effects</a:t>
            </a:r>
          </a:p>
          <a:p>
            <a:pPr lvl="1"/>
            <a:r>
              <a:rPr lang="en-US" altLang="ko-KR" sz="3200" dirty="0" smtClean="0"/>
              <a:t>Uterine tachysystole</a:t>
            </a:r>
          </a:p>
          <a:p>
            <a:pPr lvl="2"/>
            <a:r>
              <a:rPr lang="en-US" altLang="ko-KR" sz="3200" dirty="0" smtClean="0"/>
              <a:t>&gt;5 contraction in 10 min for a total of 20 min)</a:t>
            </a:r>
          </a:p>
          <a:p>
            <a:pPr lvl="2"/>
            <a:r>
              <a:rPr lang="en-US" altLang="ko-KR" sz="3200" dirty="0" smtClean="0">
                <a:sym typeface="Wingdings" pitchFamily="2" charset="2"/>
              </a:rPr>
              <a:t>Usually begins within 1 hr</a:t>
            </a:r>
          </a:p>
          <a:p>
            <a:pPr lvl="2"/>
            <a:r>
              <a:rPr lang="en-US" altLang="ko-KR" sz="3200" dirty="0" smtClean="0">
                <a:sym typeface="Wingdings" pitchFamily="2" charset="2"/>
              </a:rPr>
              <a:t>Management - Remove vaginal insert  but irrigation of cervix, vagina: not helpful</a:t>
            </a:r>
          </a:p>
          <a:p>
            <a:r>
              <a:rPr lang="en-US" altLang="ko-KR" sz="3600" dirty="0" smtClean="0">
                <a:sym typeface="Wingdings" pitchFamily="2" charset="2"/>
              </a:rPr>
              <a:t>Systemic effects:</a:t>
            </a:r>
          </a:p>
          <a:p>
            <a:pPr lvl="1"/>
            <a:r>
              <a:rPr lang="en-US" altLang="ko-KR" sz="3200" dirty="0">
                <a:sym typeface="Wingdings" pitchFamily="2" charset="2"/>
              </a:rPr>
              <a:t>N</a:t>
            </a:r>
            <a:r>
              <a:rPr lang="en-US" altLang="ko-KR" sz="3200" dirty="0" smtClean="0">
                <a:sym typeface="Wingdings" pitchFamily="2" charset="2"/>
              </a:rPr>
              <a:t>ausea, vomiting, diarrhea, glaucoma, hepatic and renal disease, asthma.</a:t>
            </a:r>
            <a:endParaRPr lang="en-US"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b="1" dirty="0" smtClean="0">
                <a:cs typeface="Times New Roman" panose="02020603050405020304" pitchFamily="18" charset="0"/>
              </a:rPr>
              <a:t>Methods Of Labor Induction </a:t>
            </a:r>
            <a:endParaRPr lang="en-US" dirty="0"/>
          </a:p>
        </p:txBody>
      </p:sp>
      <p:sp>
        <p:nvSpPr>
          <p:cNvPr id="3" name="Content Placeholder 2"/>
          <p:cNvSpPr>
            <a:spLocks noGrp="1"/>
          </p:cNvSpPr>
          <p:nvPr>
            <p:ph idx="1"/>
          </p:nvPr>
        </p:nvSpPr>
        <p:spPr>
          <a:xfrm>
            <a:off x="0" y="990600"/>
            <a:ext cx="9144000" cy="5867400"/>
          </a:xfrm>
        </p:spPr>
        <p:txBody>
          <a:bodyPr>
            <a:normAutofit lnSpcReduction="10000"/>
          </a:bodyPr>
          <a:lstStyle/>
          <a:p>
            <a:r>
              <a:rPr lang="en-US" dirty="0" smtClean="0"/>
              <a:t>Medical Induction Methods</a:t>
            </a:r>
          </a:p>
          <a:p>
            <a:pPr lvl="1"/>
            <a:r>
              <a:rPr lang="en-US" dirty="0" smtClean="0"/>
              <a:t>Oxytocin</a:t>
            </a:r>
          </a:p>
          <a:p>
            <a:pPr lvl="1"/>
            <a:r>
              <a:rPr lang="en-US" dirty="0"/>
              <a:t>P</a:t>
            </a:r>
            <a:r>
              <a:rPr lang="en-US" dirty="0" smtClean="0"/>
              <a:t>rostaglandin E1 analogues (Misoprostol)</a:t>
            </a:r>
          </a:p>
          <a:p>
            <a:pPr lvl="1"/>
            <a:r>
              <a:rPr lang="en-US" dirty="0" smtClean="0"/>
              <a:t>Prostaglandin E2 analogues (Dinoprostone)</a:t>
            </a:r>
          </a:p>
          <a:p>
            <a:endParaRPr lang="en-US" dirty="0" smtClean="0"/>
          </a:p>
          <a:p>
            <a:r>
              <a:rPr lang="en-US" dirty="0" smtClean="0"/>
              <a:t>“Surgical Induction” Methods</a:t>
            </a:r>
          </a:p>
          <a:p>
            <a:pPr lvl="1"/>
            <a:r>
              <a:rPr lang="en-US" dirty="0" smtClean="0"/>
              <a:t>Membrane stripping</a:t>
            </a:r>
          </a:p>
          <a:p>
            <a:pPr lvl="1"/>
            <a:r>
              <a:rPr lang="en-US" dirty="0" smtClean="0"/>
              <a:t>Amniotomy</a:t>
            </a:r>
          </a:p>
          <a:p>
            <a:r>
              <a:rPr lang="en-US" dirty="0" smtClean="0"/>
              <a:t>Other Methods</a:t>
            </a:r>
          </a:p>
          <a:p>
            <a:pPr lvl="1"/>
            <a:r>
              <a:rPr lang="en-US" dirty="0" smtClean="0"/>
              <a:t>?Nipple stimulation</a:t>
            </a:r>
          </a:p>
          <a:p>
            <a:pPr lvl="1"/>
            <a:r>
              <a:rPr lang="en-US" dirty="0" smtClean="0"/>
              <a:t>Foley catheter method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92162"/>
          </a:xfrm>
        </p:spPr>
        <p:txBody>
          <a:bodyPr/>
          <a:lstStyle/>
          <a:p>
            <a:r>
              <a:rPr lang="en-US" b="1" dirty="0" smtClean="0">
                <a:cs typeface="Times New Roman" panose="02020603050405020304" pitchFamily="18" charset="0"/>
              </a:rPr>
              <a:t>Oxytocin</a:t>
            </a:r>
            <a:endParaRPr lang="en-US" dirty="0"/>
          </a:p>
        </p:txBody>
      </p:sp>
      <p:sp>
        <p:nvSpPr>
          <p:cNvPr id="3" name="Content Placeholder 2"/>
          <p:cNvSpPr>
            <a:spLocks noGrp="1"/>
          </p:cNvSpPr>
          <p:nvPr>
            <p:ph idx="1"/>
          </p:nvPr>
        </p:nvSpPr>
        <p:spPr>
          <a:xfrm>
            <a:off x="0" y="990600"/>
            <a:ext cx="9144000" cy="5867400"/>
          </a:xfrm>
        </p:spPr>
        <p:txBody>
          <a:bodyPr>
            <a:normAutofit/>
          </a:bodyPr>
          <a:lstStyle/>
          <a:p>
            <a:r>
              <a:rPr lang="en-US" dirty="0" smtClean="0"/>
              <a:t>A polypeptide hormone produced in the hypothalamus and secreted from the posterior lobe of the pituitary gland in a pulsatile fashion</a:t>
            </a:r>
          </a:p>
          <a:p>
            <a:endParaRPr lang="en-US" dirty="0" smtClean="0"/>
          </a:p>
          <a:p>
            <a:r>
              <a:rPr lang="en-US" dirty="0" smtClean="0"/>
              <a:t>It is identical to its synthetic analogue</a:t>
            </a:r>
          </a:p>
          <a:p>
            <a:pPr>
              <a:buNone/>
            </a:pPr>
            <a:endParaRPr lang="en-US" dirty="0" smtClean="0"/>
          </a:p>
          <a:p>
            <a:r>
              <a:rPr lang="en-US" dirty="0" smtClean="0"/>
              <a:t>The plasma half-life estimated at 3 - 6 </a:t>
            </a:r>
            <a:r>
              <a:rPr lang="en-US" dirty="0" err="1" smtClean="0"/>
              <a:t>mins</a:t>
            </a:r>
            <a:r>
              <a:rPr lang="en-US" dirty="0" smtClean="0"/>
              <a:t>, and steady-state concentrations are reached within 30 - 40 </a:t>
            </a:r>
            <a:r>
              <a:rPr lang="en-US" dirty="0" err="1" smtClean="0"/>
              <a:t>mins</a:t>
            </a:r>
            <a:r>
              <a:rPr lang="en-US" dirty="0" smtClean="0"/>
              <a:t> of initiation or dose change</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Cont…</a:t>
            </a:r>
            <a:endParaRPr lang="en-US" dirty="0"/>
          </a:p>
        </p:txBody>
      </p:sp>
      <p:sp>
        <p:nvSpPr>
          <p:cNvPr id="3" name="Content Placeholder 2"/>
          <p:cNvSpPr>
            <a:spLocks noGrp="1"/>
          </p:cNvSpPr>
          <p:nvPr>
            <p:ph idx="1"/>
          </p:nvPr>
        </p:nvSpPr>
        <p:spPr>
          <a:xfrm>
            <a:off x="0" y="1143000"/>
            <a:ext cx="9144000" cy="5715000"/>
          </a:xfrm>
        </p:spPr>
        <p:txBody>
          <a:bodyPr/>
          <a:lstStyle/>
          <a:p>
            <a:r>
              <a:rPr lang="en-US" dirty="0" smtClean="0"/>
              <a:t>Cannot be given orally because the polypeptide is degraded to small, inactive forms by GI enzymes.</a:t>
            </a:r>
          </a:p>
          <a:p>
            <a:pPr>
              <a:buNone/>
            </a:pPr>
            <a:endParaRPr lang="en-US" dirty="0" smtClean="0"/>
          </a:p>
          <a:p>
            <a:r>
              <a:rPr lang="en-US" dirty="0" smtClean="0"/>
              <a:t>Response and the maximal effective dose of oxytocin to achieve adequate uterine contraction in all women is different</a:t>
            </a:r>
          </a:p>
          <a:p>
            <a:pPr lvl="1"/>
            <a:r>
              <a:rPr lang="en-US" dirty="0" smtClean="0"/>
              <a:t>Preexisting uterine activity</a:t>
            </a:r>
          </a:p>
          <a:p>
            <a:pPr lvl="1"/>
            <a:r>
              <a:rPr lang="en-US" dirty="0" smtClean="0"/>
              <a:t>Cervical status</a:t>
            </a:r>
          </a:p>
          <a:p>
            <a:pPr lvl="1"/>
            <a:r>
              <a:rPr lang="en-US" dirty="0" smtClean="0"/>
              <a:t>Pregnancy duration</a:t>
            </a:r>
          </a:p>
          <a:p>
            <a:pPr lvl="1"/>
            <a:r>
              <a:rPr lang="en-US" dirty="0" smtClean="0"/>
              <a:t>Individual Biological Differences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dirty="0" smtClean="0"/>
              <a:t>Various protocols of high-dose (4 to 6 </a:t>
            </a:r>
            <a:r>
              <a:rPr lang="en-US" dirty="0" err="1" smtClean="0"/>
              <a:t>mU</a:t>
            </a:r>
            <a:r>
              <a:rPr lang="en-US" dirty="0" smtClean="0"/>
              <a:t>/min) and low-dose (0.5 to 1.5 </a:t>
            </a:r>
            <a:r>
              <a:rPr lang="en-US" dirty="0" err="1" smtClean="0"/>
              <a:t>mU</a:t>
            </a:r>
            <a:r>
              <a:rPr lang="en-US" dirty="0" smtClean="0"/>
              <a:t>/min) oxytocin regimens</a:t>
            </a:r>
          </a:p>
          <a:p>
            <a:r>
              <a:rPr lang="en-US" dirty="0" smtClean="0"/>
              <a:t>1 ml vial contains 10 U of oxytocin (Standard)</a:t>
            </a:r>
          </a:p>
          <a:p>
            <a:pPr>
              <a:buNone/>
            </a:pPr>
            <a:endParaRPr lang="en-US" dirty="0" smtClean="0"/>
          </a:p>
          <a:p>
            <a:endParaRPr lang="en-US" dirty="0"/>
          </a:p>
        </p:txBody>
      </p:sp>
      <p:pic>
        <p:nvPicPr>
          <p:cNvPr id="4" name="Picture 2"/>
          <p:cNvPicPr>
            <a:picLocks noChangeAspect="1" noChangeArrowheads="1"/>
          </p:cNvPicPr>
          <p:nvPr/>
        </p:nvPicPr>
        <p:blipFill>
          <a:blip r:embed="rId3"/>
          <a:srcRect/>
          <a:stretch>
            <a:fillRect/>
          </a:stretch>
        </p:blipFill>
        <p:spPr bwMode="auto">
          <a:xfrm>
            <a:off x="0" y="1524000"/>
            <a:ext cx="4267200" cy="5334000"/>
          </a:xfrm>
          <a:prstGeom prst="rect">
            <a:avLst/>
          </a:prstGeom>
          <a:noFill/>
          <a:ln w="9525">
            <a:noFill/>
            <a:miter lim="800000"/>
            <a:headEnd/>
            <a:tailEnd/>
          </a:ln>
          <a:effectLst/>
        </p:spPr>
      </p:pic>
      <p:pic>
        <p:nvPicPr>
          <p:cNvPr id="5" name="Picture 4">
            <a:extLst>
              <a:ext uri="{FF2B5EF4-FFF2-40B4-BE49-F238E27FC236}">
                <a16:creationId xmlns:a16="http://schemas.microsoft.com/office/drawing/2014/main" xmlns="" id="{6DB658FC-06A7-4637-B85A-FEF768673D1E}"/>
              </a:ext>
            </a:extLst>
          </p:cNvPr>
          <p:cNvPicPr>
            <a:picLocks noChangeAspect="1"/>
          </p:cNvPicPr>
          <p:nvPr/>
        </p:nvPicPr>
        <p:blipFill>
          <a:blip r:embed="rId4"/>
          <a:stretch>
            <a:fillRect/>
          </a:stretch>
        </p:blipFill>
        <p:spPr>
          <a:xfrm>
            <a:off x="4267200" y="1524000"/>
            <a:ext cx="4876800" cy="5334000"/>
          </a:xfrm>
          <a:prstGeom prst="rect">
            <a:avLst/>
          </a:prstGeom>
        </p:spPr>
      </p:pic>
      <p:sp>
        <p:nvSpPr>
          <p:cNvPr id="6" name="Rectangle 5"/>
          <p:cNvSpPr/>
          <p:nvPr/>
        </p:nvSpPr>
        <p:spPr>
          <a:xfrm>
            <a:off x="0" y="1524000"/>
            <a:ext cx="914400" cy="3810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TABLE 6</a:t>
            </a:r>
            <a:endParaRPr lang="en-US" sz="1200" b="1" dirty="0"/>
          </a:p>
        </p:txBody>
      </p:sp>
      <p:sp>
        <p:nvSpPr>
          <p:cNvPr id="7" name="Rectangle 6"/>
          <p:cNvSpPr/>
          <p:nvPr/>
        </p:nvSpPr>
        <p:spPr>
          <a:xfrm>
            <a:off x="4876800" y="1676400"/>
            <a:ext cx="457200" cy="6858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7</a:t>
            </a:r>
            <a:endParaRPr lang="en-US" sz="28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b="1" dirty="0" smtClean="0"/>
              <a:t>Oxytocin Infusion (FMOH 2020) </a:t>
            </a:r>
            <a:endParaRPr lang="en-US" b="1" dirty="0"/>
          </a:p>
        </p:txBody>
      </p:sp>
      <p:sp>
        <p:nvSpPr>
          <p:cNvPr id="3" name="Content Placeholder 2"/>
          <p:cNvSpPr>
            <a:spLocks noGrp="1"/>
          </p:cNvSpPr>
          <p:nvPr>
            <p:ph idx="1"/>
          </p:nvPr>
        </p:nvSpPr>
        <p:spPr>
          <a:xfrm>
            <a:off x="0" y="914400"/>
            <a:ext cx="9144000" cy="5943600"/>
          </a:xfrm>
        </p:spPr>
        <p:txBody>
          <a:bodyPr>
            <a:normAutofit/>
          </a:bodyPr>
          <a:lstStyle/>
          <a:p>
            <a:r>
              <a:rPr lang="en-US" dirty="0" smtClean="0"/>
              <a:t>Use 0.9% N/S or R/L for infusion.</a:t>
            </a:r>
          </a:p>
          <a:p>
            <a:pPr>
              <a:buNone/>
            </a:pPr>
            <a:endParaRPr lang="en-US" dirty="0" smtClean="0"/>
          </a:p>
          <a:p>
            <a:r>
              <a:rPr lang="en-US" dirty="0" smtClean="0"/>
              <a:t>The initial infusion rate should be set at 1-2mu/min</a:t>
            </a:r>
          </a:p>
          <a:p>
            <a:pPr>
              <a:buNone/>
            </a:pPr>
            <a:endParaRPr lang="en-US" dirty="0" smtClean="0"/>
          </a:p>
          <a:p>
            <a:r>
              <a:rPr lang="en-US" dirty="0" smtClean="0"/>
              <a:t>The infusion rate is increased every 30 </a:t>
            </a:r>
            <a:r>
              <a:rPr lang="en-US" dirty="0" err="1" smtClean="0"/>
              <a:t>mins</a:t>
            </a:r>
            <a:r>
              <a:rPr lang="en-US" dirty="0" smtClean="0"/>
              <a:t> up to a maximum of 40 mu/ min (250 ml/hour)</a:t>
            </a:r>
          </a:p>
          <a:p>
            <a:pPr>
              <a:buNone/>
            </a:pPr>
            <a:endParaRPr lang="en-US" dirty="0" smtClean="0"/>
          </a:p>
          <a:p>
            <a:r>
              <a:rPr lang="en-US" dirty="0" smtClean="0"/>
              <a:t>Alternative, oxytocin with starting dose of 3-6mu/m can be used. (for induction of a primigravid only)</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Autofit/>
          </a:bodyPr>
          <a:lstStyle/>
          <a:p>
            <a:r>
              <a:rPr lang="en-US" sz="2800" dirty="0" smtClean="0"/>
              <a:t>Oxytocin infusion rates for induction of labor. FMOH 2020</a:t>
            </a:r>
            <a:endParaRPr lang="en-US" sz="2800" dirty="0"/>
          </a:p>
        </p:txBody>
      </p:sp>
      <p:pic>
        <p:nvPicPr>
          <p:cNvPr id="1026" name="Picture 2"/>
          <p:cNvPicPr>
            <a:picLocks noGrp="1" noChangeAspect="1" noChangeArrowheads="1"/>
          </p:cNvPicPr>
          <p:nvPr>
            <p:ph idx="1"/>
          </p:nvPr>
        </p:nvPicPr>
        <p:blipFill>
          <a:blip r:embed="rId2"/>
          <a:srcRect/>
          <a:stretch>
            <a:fillRect/>
          </a:stretch>
        </p:blipFill>
        <p:spPr bwMode="auto">
          <a:xfrm>
            <a:off x="0" y="685800"/>
            <a:ext cx="9144000" cy="6019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9DEF87-3FE0-4602-9236-B152BD0C051A}"/>
              </a:ext>
            </a:extLst>
          </p:cNvPr>
          <p:cNvSpPr>
            <a:spLocks noGrp="1"/>
          </p:cNvSpPr>
          <p:nvPr>
            <p:ph type="title"/>
          </p:nvPr>
        </p:nvSpPr>
        <p:spPr>
          <a:xfrm>
            <a:off x="457200" y="0"/>
            <a:ext cx="8229600" cy="838200"/>
          </a:xfrm>
        </p:spPr>
        <p:txBody>
          <a:bodyPr/>
          <a:lstStyle/>
          <a:p>
            <a:r>
              <a:rPr lang="en-US" b="1" dirty="0" smtClean="0">
                <a:effectLst/>
                <a:cs typeface="Times New Roman" panose="02020603050405020304" pitchFamily="18" charset="0"/>
              </a:rPr>
              <a:t>Amniotomy - ARM</a:t>
            </a:r>
            <a:endParaRPr lang="en-US" b="1" dirty="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9CFBBDFA-F492-4AF2-B296-76F2C6FA4746}"/>
              </a:ext>
            </a:extLst>
          </p:cNvPr>
          <p:cNvSpPr>
            <a:spLocks noGrp="1"/>
          </p:cNvSpPr>
          <p:nvPr>
            <p:ph idx="1"/>
          </p:nvPr>
        </p:nvSpPr>
        <p:spPr>
          <a:xfrm>
            <a:off x="0" y="914400"/>
            <a:ext cx="9144000" cy="5943600"/>
          </a:xfrm>
        </p:spPr>
        <p:txBody>
          <a:bodyPr>
            <a:noAutofit/>
          </a:bodyPr>
          <a:lstStyle/>
          <a:p>
            <a:r>
              <a:rPr lang="en-US" dirty="0">
                <a:cs typeface="Times New Roman" panose="02020603050405020304" pitchFamily="18" charset="0"/>
              </a:rPr>
              <a:t>A procedure involving puncturing the </a:t>
            </a:r>
            <a:r>
              <a:rPr lang="en-US" dirty="0" smtClean="0">
                <a:cs typeface="Times New Roman" panose="02020603050405020304" pitchFamily="18" charset="0"/>
              </a:rPr>
              <a:t>fetal membranes </a:t>
            </a:r>
            <a:r>
              <a:rPr lang="en-US" dirty="0">
                <a:cs typeface="Times New Roman" panose="02020603050405020304" pitchFamily="18" charset="0"/>
              </a:rPr>
              <a:t>and releasing the amniotic </a:t>
            </a:r>
            <a:r>
              <a:rPr lang="en-US" dirty="0" smtClean="0">
                <a:cs typeface="Times New Roman" panose="02020603050405020304" pitchFamily="18" charset="0"/>
              </a:rPr>
              <a:t>fluid</a:t>
            </a:r>
          </a:p>
          <a:p>
            <a:endParaRPr lang="en-US" dirty="0">
              <a:cs typeface="Times New Roman" panose="02020603050405020304" pitchFamily="18" charset="0"/>
            </a:endParaRPr>
          </a:p>
          <a:p>
            <a:r>
              <a:rPr lang="en-US" dirty="0" smtClean="0">
                <a:effectLst/>
                <a:cs typeface="Times New Roman" panose="02020603050405020304" pitchFamily="18" charset="0"/>
              </a:rPr>
              <a:t>Was </a:t>
            </a:r>
            <a:r>
              <a:rPr lang="en-US" dirty="0">
                <a:effectLst/>
                <a:cs typeface="Times New Roman" panose="02020603050405020304" pitchFamily="18" charset="0"/>
              </a:rPr>
              <a:t>the cornerstone of labor induction before effective pharmacological agent became </a:t>
            </a:r>
            <a:r>
              <a:rPr lang="en-US" dirty="0" smtClean="0">
                <a:effectLst/>
                <a:cs typeface="Times New Roman" panose="02020603050405020304" pitchFamily="18" charset="0"/>
              </a:rPr>
              <a:t>available</a:t>
            </a:r>
            <a:endParaRPr lang="en-US" dirty="0" smtClean="0">
              <a:cs typeface="Times New Roman" panose="02020603050405020304" pitchFamily="18" charset="0"/>
            </a:endParaRPr>
          </a:p>
          <a:p>
            <a:pPr>
              <a:buNone/>
            </a:pPr>
            <a:endParaRPr lang="en-US" dirty="0">
              <a:effectLst/>
              <a:cs typeface="Times New Roman" panose="02020603050405020304" pitchFamily="18" charset="0"/>
            </a:endParaRPr>
          </a:p>
          <a:p>
            <a:r>
              <a:rPr lang="en-US" dirty="0" smtClean="0">
                <a:cs typeface="Times New Roman" panose="02020603050405020304" pitchFamily="18" charset="0"/>
              </a:rPr>
              <a:t>E</a:t>
            </a:r>
            <a:r>
              <a:rPr lang="en-US" dirty="0" smtClean="0">
                <a:effectLst/>
                <a:cs typeface="Times New Roman" panose="02020603050405020304" pitchFamily="18" charset="0"/>
              </a:rPr>
              <a:t>specially </a:t>
            </a:r>
            <a:r>
              <a:rPr lang="en-US" dirty="0">
                <a:effectLst/>
                <a:cs typeface="Times New Roman" panose="02020603050405020304" pitchFamily="18" charset="0"/>
              </a:rPr>
              <a:t>if the condition of the cervix is </a:t>
            </a:r>
            <a:r>
              <a:rPr lang="en-US" dirty="0" smtClean="0">
                <a:effectLst/>
                <a:cs typeface="Times New Roman" panose="02020603050405020304" pitchFamily="18" charset="0"/>
              </a:rPr>
              <a:t>favorable</a:t>
            </a:r>
          </a:p>
          <a:p>
            <a:pPr>
              <a:buNone/>
            </a:pPr>
            <a:endParaRPr lang="en-US" dirty="0">
              <a:effectLst/>
              <a:cs typeface="Times New Roman" panose="02020603050405020304" pitchFamily="18" charset="0"/>
            </a:endParaRPr>
          </a:p>
          <a:p>
            <a:r>
              <a:rPr lang="en-US" dirty="0" smtClean="0">
                <a:cs typeface="Times New Roman" panose="02020603050405020304" pitchFamily="18" charset="0"/>
              </a:rPr>
              <a:t>Risks: u</a:t>
            </a:r>
            <a:r>
              <a:rPr lang="en-US" dirty="0" smtClean="0">
                <a:effectLst/>
                <a:cs typeface="Times New Roman" panose="02020603050405020304" pitchFamily="18" charset="0"/>
              </a:rPr>
              <a:t>npredictable </a:t>
            </a:r>
            <a:r>
              <a:rPr lang="en-US" dirty="0">
                <a:effectLst/>
                <a:cs typeface="Times New Roman" panose="02020603050405020304" pitchFamily="18" charset="0"/>
              </a:rPr>
              <a:t>and sometimes long intervals before the onset of </a:t>
            </a:r>
            <a:r>
              <a:rPr lang="en-US" dirty="0" smtClean="0">
                <a:effectLst/>
                <a:cs typeface="Times New Roman" panose="02020603050405020304" pitchFamily="18" charset="0"/>
              </a:rPr>
              <a:t>contractions; </a:t>
            </a:r>
            <a:r>
              <a:rPr lang="en-US" dirty="0" smtClean="0">
                <a:cs typeface="Times New Roman" panose="02020603050405020304" pitchFamily="18" charset="0"/>
              </a:rPr>
              <a:t>cord prolapse, IAI and rarely Placental abruption</a:t>
            </a:r>
            <a:endParaRPr lang="en-US" dirty="0">
              <a:effectLst/>
              <a:cs typeface="Times New Roman" panose="02020603050405020304" pitchFamily="18" charset="0"/>
            </a:endParaRPr>
          </a:p>
          <a:p>
            <a:endParaRPr lang="en-US" dirty="0">
              <a:effectLst/>
              <a:cs typeface="Times New Roman" panose="02020603050405020304" pitchFamily="18" charset="0"/>
            </a:endParaRPr>
          </a:p>
        </p:txBody>
      </p:sp>
    </p:spTree>
    <p:extLst>
      <p:ext uri="{BB962C8B-B14F-4D97-AF65-F5344CB8AC3E}">
        <p14:creationId xmlns:p14="http://schemas.microsoft.com/office/powerpoint/2010/main" val="35565005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6629400"/>
          </a:xfrm>
        </p:spPr>
        <p:txBody>
          <a:bodyPr/>
          <a:lstStyle/>
          <a:p>
            <a:r>
              <a:rPr lang="en-US" dirty="0" smtClean="0">
                <a:cs typeface="Times New Roman" panose="02020603050405020304" pitchFamily="18" charset="0"/>
              </a:rPr>
              <a:t>Insufficient evidence on the efficacy and safety</a:t>
            </a:r>
          </a:p>
          <a:p>
            <a:endParaRPr lang="en-US" dirty="0"/>
          </a:p>
        </p:txBody>
      </p:sp>
      <p:pic>
        <p:nvPicPr>
          <p:cNvPr id="4" name="Content Placeholder 3" descr="amniotomy1.png"/>
          <p:cNvPicPr>
            <a:picLocks noChangeAspect="1"/>
          </p:cNvPicPr>
          <p:nvPr/>
        </p:nvPicPr>
        <p:blipFill>
          <a:blip r:embed="rId2"/>
          <a:stretch>
            <a:fillRect/>
          </a:stretch>
        </p:blipFill>
        <p:spPr>
          <a:xfrm>
            <a:off x="0" y="1447800"/>
            <a:ext cx="5410200" cy="5410200"/>
          </a:xfrm>
          <a:prstGeom prst="rect">
            <a:avLst/>
          </a:prstGeom>
        </p:spPr>
      </p:pic>
      <p:pic>
        <p:nvPicPr>
          <p:cNvPr id="5" name="Picture 4" descr="Amniotomy2.jpg"/>
          <p:cNvPicPr>
            <a:picLocks noChangeAspect="1"/>
          </p:cNvPicPr>
          <p:nvPr/>
        </p:nvPicPr>
        <p:blipFill>
          <a:blip r:embed="rId3"/>
          <a:stretch>
            <a:fillRect/>
          </a:stretch>
        </p:blipFill>
        <p:spPr>
          <a:xfrm>
            <a:off x="5410200" y="1447800"/>
            <a:ext cx="3733800" cy="54102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b="1" dirty="0" smtClean="0"/>
              <a:t>Complications of Labor Induction</a:t>
            </a:r>
            <a:endParaRPr lang="en-US" b="1" dirty="0"/>
          </a:p>
        </p:txBody>
      </p:sp>
      <p:sp>
        <p:nvSpPr>
          <p:cNvPr id="3" name="Text Placeholder 2"/>
          <p:cNvSpPr>
            <a:spLocks noGrp="1"/>
          </p:cNvSpPr>
          <p:nvPr>
            <p:ph type="body" idx="1"/>
          </p:nvPr>
        </p:nvSpPr>
        <p:spPr>
          <a:xfrm>
            <a:off x="0" y="4572000"/>
            <a:ext cx="9144000" cy="2057400"/>
          </a:xfrm>
        </p:spPr>
        <p:txBody>
          <a:bodyPr>
            <a:normAutofit fontScale="92500" lnSpcReduction="20000"/>
          </a:bodyPr>
          <a:lstStyle/>
          <a:p>
            <a:pPr marL="0" lvl="1">
              <a:buFont typeface="Arial" pitchFamily="34" charset="0"/>
              <a:buChar char="•"/>
            </a:pPr>
            <a:r>
              <a:rPr lang="en-US" sz="3200" dirty="0" smtClean="0"/>
              <a:t>For Both</a:t>
            </a:r>
          </a:p>
          <a:p>
            <a:pPr marL="0" lvl="1">
              <a:buFont typeface="Wingdings" pitchFamily="2" charset="2"/>
              <a:buChar char="Ø"/>
            </a:pPr>
            <a:r>
              <a:rPr lang="en-US" sz="2600" b="0" dirty="0" smtClean="0"/>
              <a:t>Uterine rupture </a:t>
            </a:r>
          </a:p>
          <a:p>
            <a:pPr marL="0" lvl="1">
              <a:buFont typeface="Wingdings" pitchFamily="2" charset="2"/>
              <a:buChar char="Ø"/>
            </a:pPr>
            <a:r>
              <a:rPr lang="en-US" sz="2600" b="0" dirty="0" smtClean="0"/>
              <a:t>Placental abruption </a:t>
            </a:r>
          </a:p>
          <a:p>
            <a:pPr marL="0" lvl="1">
              <a:buFont typeface="Wingdings" pitchFamily="2" charset="2"/>
              <a:buChar char="Ø"/>
            </a:pPr>
            <a:r>
              <a:rPr lang="en-US" sz="2600" b="0" dirty="0" smtClean="0"/>
              <a:t>Chorioamnionitis</a:t>
            </a:r>
          </a:p>
          <a:p>
            <a:pPr marL="0" lvl="1">
              <a:buFont typeface="Wingdings" pitchFamily="2" charset="2"/>
              <a:buChar char="Ø"/>
            </a:pPr>
            <a:r>
              <a:rPr lang="en-US" sz="2600" b="0" dirty="0" smtClean="0"/>
              <a:t>Precipitated labor</a:t>
            </a:r>
          </a:p>
        </p:txBody>
      </p:sp>
      <p:sp>
        <p:nvSpPr>
          <p:cNvPr id="4" name="Content Placeholder 3"/>
          <p:cNvSpPr>
            <a:spLocks noGrp="1"/>
          </p:cNvSpPr>
          <p:nvPr>
            <p:ph sz="half" idx="2"/>
          </p:nvPr>
        </p:nvSpPr>
        <p:spPr>
          <a:xfrm>
            <a:off x="0" y="838200"/>
            <a:ext cx="5105400" cy="3886199"/>
          </a:xfrm>
        </p:spPr>
        <p:txBody>
          <a:bodyPr>
            <a:normAutofit lnSpcReduction="10000"/>
          </a:bodyPr>
          <a:lstStyle/>
          <a:p>
            <a:r>
              <a:rPr lang="en-US" sz="3200" b="1" dirty="0" smtClean="0"/>
              <a:t>Maternal</a:t>
            </a:r>
          </a:p>
          <a:p>
            <a:pPr lvl="1">
              <a:buFont typeface="Wingdings" pitchFamily="2" charset="2"/>
              <a:buChar char="Ø"/>
            </a:pPr>
            <a:r>
              <a:rPr lang="en-US" sz="2400" dirty="0" smtClean="0"/>
              <a:t>Failed induction</a:t>
            </a:r>
          </a:p>
          <a:p>
            <a:pPr lvl="1">
              <a:buFont typeface="Wingdings" pitchFamily="2" charset="2"/>
              <a:buChar char="Ø"/>
            </a:pPr>
            <a:r>
              <a:rPr lang="en-US" sz="2400" dirty="0" smtClean="0"/>
              <a:t>Increased risk of cesarean delivery</a:t>
            </a:r>
          </a:p>
          <a:p>
            <a:pPr lvl="1">
              <a:buFont typeface="Wingdings" pitchFamily="2" charset="2"/>
              <a:buChar char="Ø"/>
            </a:pPr>
            <a:r>
              <a:rPr lang="en-US" sz="2400" dirty="0" smtClean="0"/>
              <a:t>Uterine tachysystole / Tetanic C.</a:t>
            </a:r>
          </a:p>
          <a:p>
            <a:pPr lvl="1">
              <a:buFont typeface="Wingdings" pitchFamily="2" charset="2"/>
              <a:buChar char="Ø"/>
            </a:pPr>
            <a:r>
              <a:rPr lang="en-US" sz="2400" dirty="0" smtClean="0"/>
              <a:t>Atonic PPH</a:t>
            </a:r>
          </a:p>
          <a:p>
            <a:pPr lvl="1">
              <a:buFont typeface="Wingdings" pitchFamily="2" charset="2"/>
              <a:buChar char="Ø"/>
            </a:pPr>
            <a:r>
              <a:rPr lang="en-US" sz="2400" dirty="0" smtClean="0"/>
              <a:t>Amniotic fluid embolism</a:t>
            </a:r>
          </a:p>
          <a:p>
            <a:pPr lvl="1">
              <a:buFont typeface="Wingdings" pitchFamily="2" charset="2"/>
              <a:buChar char="Ø"/>
            </a:pPr>
            <a:r>
              <a:rPr lang="en-US" sz="2400" dirty="0" smtClean="0"/>
              <a:t>Water intoxication &amp; hyponatremia </a:t>
            </a:r>
          </a:p>
        </p:txBody>
      </p:sp>
      <p:sp>
        <p:nvSpPr>
          <p:cNvPr id="6" name="Content Placeholder 5"/>
          <p:cNvSpPr>
            <a:spLocks noGrp="1"/>
          </p:cNvSpPr>
          <p:nvPr>
            <p:ph sz="quarter" idx="4"/>
          </p:nvPr>
        </p:nvSpPr>
        <p:spPr>
          <a:xfrm>
            <a:off x="5102225" y="838200"/>
            <a:ext cx="4041775" cy="3505200"/>
          </a:xfrm>
        </p:spPr>
        <p:txBody>
          <a:bodyPr/>
          <a:lstStyle/>
          <a:p>
            <a:r>
              <a:rPr lang="en-US" sz="3200" b="1" dirty="0" smtClean="0"/>
              <a:t>Fetal</a:t>
            </a:r>
          </a:p>
          <a:p>
            <a:pPr lvl="1">
              <a:buFont typeface="Wingdings" pitchFamily="2" charset="2"/>
              <a:buChar char="Ø"/>
            </a:pPr>
            <a:r>
              <a:rPr lang="en-US" sz="2400" dirty="0" smtClean="0"/>
              <a:t>Fetal distress</a:t>
            </a:r>
          </a:p>
          <a:p>
            <a:pPr lvl="1">
              <a:buFont typeface="Wingdings" pitchFamily="2" charset="2"/>
              <a:buChar char="Ø"/>
            </a:pPr>
            <a:r>
              <a:rPr lang="en-US" sz="2400" dirty="0" smtClean="0"/>
              <a:t>Iatrogenic prematurity</a:t>
            </a:r>
          </a:p>
          <a:p>
            <a:pPr lvl="1">
              <a:buFont typeface="Wingdings" pitchFamily="2" charset="2"/>
              <a:buChar char="Ø"/>
            </a:pPr>
            <a:r>
              <a:rPr lang="en-US" sz="2400" dirty="0" smtClean="0"/>
              <a:t>Neonatal sepsis</a:t>
            </a:r>
          </a:p>
          <a:p>
            <a:pPr lvl="1">
              <a:buFont typeface="Wingdings" pitchFamily="2" charset="2"/>
              <a:buChar char="Ø"/>
            </a:pPr>
            <a:r>
              <a:rPr lang="en-US" sz="2400" dirty="0" smtClean="0"/>
              <a:t>Cord prolapse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b="1" dirty="0" smtClean="0"/>
              <a:t>Uterine Tachysystole</a:t>
            </a:r>
            <a:endParaRPr lang="en-US" b="1" dirty="0"/>
          </a:p>
        </p:txBody>
      </p:sp>
      <p:sp>
        <p:nvSpPr>
          <p:cNvPr id="3" name="Content Placeholder 2"/>
          <p:cNvSpPr>
            <a:spLocks noGrp="1"/>
          </p:cNvSpPr>
          <p:nvPr>
            <p:ph idx="1"/>
          </p:nvPr>
        </p:nvSpPr>
        <p:spPr>
          <a:xfrm>
            <a:off x="0" y="1066800"/>
            <a:ext cx="9144000" cy="5791200"/>
          </a:xfrm>
        </p:spPr>
        <p:txBody>
          <a:bodyPr>
            <a:normAutofit/>
          </a:bodyPr>
          <a:lstStyle/>
          <a:p>
            <a:r>
              <a:rPr lang="en-US" dirty="0" smtClean="0"/>
              <a:t>&gt; 5C/10 min &amp;/or Contraction lasting &gt;=60 Sec</a:t>
            </a:r>
          </a:p>
          <a:p>
            <a:endParaRPr lang="en-US" dirty="0" smtClean="0"/>
          </a:p>
          <a:p>
            <a:r>
              <a:rPr lang="en-US" dirty="0" smtClean="0"/>
              <a:t>Management</a:t>
            </a:r>
          </a:p>
          <a:p>
            <a:pPr lvl="1"/>
            <a:r>
              <a:rPr lang="en-US" sz="3200" dirty="0" smtClean="0"/>
              <a:t>Stop the infusion, put the woman on left lateral position and assess the FHR</a:t>
            </a:r>
          </a:p>
          <a:p>
            <a:pPr lvl="1"/>
            <a:r>
              <a:rPr lang="en-US" sz="3200" dirty="0" smtClean="0"/>
              <a:t>After observation and monitoring, if both the mother and fetus are in good condition, restart at half dose of the last dose causing uterine hyper stimulation.</a:t>
            </a:r>
          </a:p>
          <a:p>
            <a:pPr lvl="1"/>
            <a:r>
              <a:rPr lang="en-US" sz="3200" dirty="0" smtClean="0"/>
              <a:t>If not, manage accordingly</a:t>
            </a:r>
            <a:endParaRPr lang="en-US"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A61EB7-BA4F-4CAF-990A-7DF4CAEAA71A}"/>
              </a:ext>
            </a:extLst>
          </p:cNvPr>
          <p:cNvSpPr>
            <a:spLocks noGrp="1"/>
          </p:cNvSpPr>
          <p:nvPr>
            <p:ph type="title"/>
          </p:nvPr>
        </p:nvSpPr>
        <p:spPr>
          <a:xfrm>
            <a:off x="457200" y="0"/>
            <a:ext cx="8229600" cy="792162"/>
          </a:xfrm>
        </p:spPr>
        <p:txBody>
          <a:bodyPr/>
          <a:lstStyle/>
          <a:p>
            <a:r>
              <a:rPr lang="en-US" b="1" dirty="0">
                <a:cs typeface="Times New Roman" panose="02020603050405020304" pitchFamily="18" charset="0"/>
              </a:rPr>
              <a:t>Failed Induction</a:t>
            </a:r>
          </a:p>
        </p:txBody>
      </p:sp>
      <p:sp>
        <p:nvSpPr>
          <p:cNvPr id="3" name="Content Placeholder 2">
            <a:extLst>
              <a:ext uri="{FF2B5EF4-FFF2-40B4-BE49-F238E27FC236}">
                <a16:creationId xmlns="" xmlns:a16="http://schemas.microsoft.com/office/drawing/2014/main" id="{A2A368E2-FC87-4BD0-8525-D9282E121A3F}"/>
              </a:ext>
            </a:extLst>
          </p:cNvPr>
          <p:cNvSpPr>
            <a:spLocks noGrp="1"/>
          </p:cNvSpPr>
          <p:nvPr>
            <p:ph idx="1"/>
          </p:nvPr>
        </p:nvSpPr>
        <p:spPr>
          <a:xfrm>
            <a:off x="0" y="838200"/>
            <a:ext cx="9144000" cy="6019800"/>
          </a:xfrm>
        </p:spPr>
        <p:txBody>
          <a:bodyPr>
            <a:noAutofit/>
          </a:bodyPr>
          <a:lstStyle/>
          <a:p>
            <a:r>
              <a:rPr lang="en-US" sz="3000" dirty="0" smtClean="0">
                <a:cs typeface="Times New Roman" panose="02020603050405020304" pitchFamily="18" charset="0"/>
              </a:rPr>
              <a:t>Failure </a:t>
            </a:r>
            <a:r>
              <a:rPr lang="en-US" sz="3000" dirty="0">
                <a:cs typeface="Times New Roman" panose="02020603050405020304" pitchFamily="18" charset="0"/>
              </a:rPr>
              <a:t>to achieve regular uterine contractions and cervical change after at least 6 - 8 hours of the maintenance dose of oxytocin administration, with artificial rupture of membranes if </a:t>
            </a:r>
            <a:r>
              <a:rPr lang="en-US" sz="3000" dirty="0" smtClean="0">
                <a:cs typeface="Times New Roman" panose="02020603050405020304" pitchFamily="18" charset="0"/>
              </a:rPr>
              <a:t>feasible - </a:t>
            </a:r>
            <a:r>
              <a:rPr lang="en-US" sz="3000" b="1" i="1" u="sng" dirty="0" smtClean="0">
                <a:cs typeface="Times New Roman" panose="02020603050405020304" pitchFamily="18" charset="0"/>
              </a:rPr>
              <a:t>FMOH </a:t>
            </a:r>
            <a:r>
              <a:rPr lang="en-US" sz="3000" b="1" i="1" u="sng" dirty="0">
                <a:cs typeface="Times New Roman" panose="02020603050405020304" pitchFamily="18" charset="0"/>
              </a:rPr>
              <a:t>2020 </a:t>
            </a:r>
            <a:endParaRPr lang="en-US" sz="3000" b="1" i="1" u="sng" dirty="0" smtClean="0">
              <a:cs typeface="Times New Roman" panose="02020603050405020304" pitchFamily="18" charset="0"/>
            </a:endParaRPr>
          </a:p>
          <a:p>
            <a:pPr>
              <a:buNone/>
            </a:pPr>
            <a:endParaRPr lang="en-US" sz="3000" dirty="0">
              <a:cs typeface="Times New Roman" panose="02020603050405020304" pitchFamily="18" charset="0"/>
            </a:endParaRPr>
          </a:p>
          <a:p>
            <a:r>
              <a:rPr lang="en-US" sz="3000" dirty="0">
                <a:cs typeface="Times New Roman" panose="02020603050405020304" pitchFamily="18" charset="0"/>
              </a:rPr>
              <a:t>If the maternal and fetal status allow, cesarean deliveries for failed induction of labor in the latent phase can be avoided by allowing longer durations of the latent phase (up to 24 hours or longer) and </a:t>
            </a:r>
            <a:r>
              <a:rPr lang="en-US" sz="3000" b="1" dirty="0">
                <a:cs typeface="Times New Roman" panose="02020603050405020304" pitchFamily="18" charset="0"/>
              </a:rPr>
              <a:t>requiring that oxytocin be administered for at least 12–18 hours after membrane rupture before deeming the induction a </a:t>
            </a:r>
            <a:r>
              <a:rPr lang="en-US" sz="3000" b="1" dirty="0" smtClean="0">
                <a:cs typeface="Times New Roman" panose="02020603050405020304" pitchFamily="18" charset="0"/>
              </a:rPr>
              <a:t>failure - </a:t>
            </a:r>
            <a:r>
              <a:rPr lang="en-US" sz="3000" b="1" i="1" u="sng" dirty="0" smtClean="0">
                <a:cs typeface="Times New Roman" panose="02020603050405020304" pitchFamily="18" charset="0"/>
              </a:rPr>
              <a:t>ACOG</a:t>
            </a:r>
            <a:endParaRPr lang="en-US" sz="3000" b="1" i="1" u="sng" dirty="0">
              <a:cs typeface="Times New Roman" panose="02020603050405020304" pitchFamily="18" charset="0"/>
            </a:endParaRPr>
          </a:p>
        </p:txBody>
      </p:sp>
    </p:spTree>
    <p:extLst>
      <p:ext uri="{BB962C8B-B14F-4D97-AF65-F5344CB8AC3E}">
        <p14:creationId xmlns:p14="http://schemas.microsoft.com/office/powerpoint/2010/main" val="879104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441928E1-22CC-4073-8B6B-876B7F14C0C3}"/>
              </a:ext>
            </a:extLst>
          </p:cNvPr>
          <p:cNvSpPr>
            <a:spLocks noGrp="1"/>
          </p:cNvSpPr>
          <p:nvPr>
            <p:ph type="title"/>
          </p:nvPr>
        </p:nvSpPr>
        <p:spPr>
          <a:xfrm>
            <a:off x="457200" y="0"/>
            <a:ext cx="8229600" cy="990600"/>
          </a:xfrm>
        </p:spPr>
        <p:txBody>
          <a:bodyPr/>
          <a:lstStyle/>
          <a:p>
            <a:r>
              <a:rPr lang="en-US" b="1" dirty="0">
                <a:cs typeface="Times New Roman" panose="02020603050405020304" pitchFamily="18" charset="0"/>
              </a:rPr>
              <a:t>Augmentation of Labor</a:t>
            </a:r>
          </a:p>
        </p:txBody>
      </p:sp>
      <p:sp>
        <p:nvSpPr>
          <p:cNvPr id="8" name="Content Placeholder 7">
            <a:extLst>
              <a:ext uri="{FF2B5EF4-FFF2-40B4-BE49-F238E27FC236}">
                <a16:creationId xmlns="" xmlns:a16="http://schemas.microsoft.com/office/drawing/2014/main" id="{DCFFEDC3-C8D5-4FA1-AF2D-9E4E8D504755}"/>
              </a:ext>
            </a:extLst>
          </p:cNvPr>
          <p:cNvSpPr>
            <a:spLocks noGrp="1"/>
          </p:cNvSpPr>
          <p:nvPr>
            <p:ph idx="1"/>
          </p:nvPr>
        </p:nvSpPr>
        <p:spPr>
          <a:xfrm>
            <a:off x="0" y="1371600"/>
            <a:ext cx="9144000" cy="5486400"/>
          </a:xfrm>
        </p:spPr>
        <p:txBody>
          <a:bodyPr>
            <a:normAutofit/>
          </a:bodyPr>
          <a:lstStyle/>
          <a:p>
            <a:r>
              <a:rPr lang="en-US" b="1" dirty="0" smtClean="0"/>
              <a:t>Augmentation of labor:</a:t>
            </a:r>
          </a:p>
          <a:p>
            <a:pPr>
              <a:buNone/>
            </a:pPr>
            <a:endParaRPr lang="en-US" b="1" dirty="0" smtClean="0"/>
          </a:p>
          <a:p>
            <a:pPr lvl="1"/>
            <a:r>
              <a:rPr lang="en-US" sz="3200" dirty="0" smtClean="0"/>
              <a:t>Enhancement of the frequency and intensity of existing spontaneous uterine contractions that are considered inadequate because of failed cervical dilation and poor fetal descent to accomplish vaginal delivery. </a:t>
            </a:r>
          </a:p>
        </p:txBody>
      </p:sp>
    </p:spTree>
    <p:extLst>
      <p:ext uri="{BB962C8B-B14F-4D97-AF65-F5344CB8AC3E}">
        <p14:creationId xmlns:p14="http://schemas.microsoft.com/office/powerpoint/2010/main" val="1429340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lstStyle/>
          <a:p>
            <a:r>
              <a:rPr lang="en-US" dirty="0" smtClean="0"/>
              <a:t>Cont…</a:t>
            </a:r>
            <a:endParaRPr lang="en-US" dirty="0"/>
          </a:p>
        </p:txBody>
      </p:sp>
      <p:sp>
        <p:nvSpPr>
          <p:cNvPr id="3" name="Content Placeholder 2"/>
          <p:cNvSpPr>
            <a:spLocks noGrp="1"/>
          </p:cNvSpPr>
          <p:nvPr>
            <p:ph idx="1"/>
          </p:nvPr>
        </p:nvSpPr>
        <p:spPr>
          <a:xfrm>
            <a:off x="0" y="1524000"/>
            <a:ext cx="9144000" cy="5334000"/>
          </a:xfrm>
        </p:spPr>
        <p:txBody>
          <a:bodyPr/>
          <a:lstStyle/>
          <a:p>
            <a:r>
              <a:rPr lang="en-US" b="1" dirty="0" smtClean="0">
                <a:cs typeface="Times New Roman" panose="02020603050405020304" pitchFamily="18" charset="0"/>
              </a:rPr>
              <a:t>Indication</a:t>
            </a:r>
            <a:r>
              <a:rPr lang="en-US" dirty="0" smtClean="0">
                <a:cs typeface="Times New Roman" panose="02020603050405020304" pitchFamily="18" charset="0"/>
              </a:rPr>
              <a:t>:  a weak and ineffective uterine contractions leading to abnormal progress of labor.</a:t>
            </a:r>
          </a:p>
          <a:p>
            <a:endParaRPr lang="en-US" dirty="0" smtClean="0">
              <a:cs typeface="Times New Roman" panose="02020603050405020304" pitchFamily="18" charset="0"/>
            </a:endParaRPr>
          </a:p>
          <a:p>
            <a:r>
              <a:rPr lang="en-US" b="1" dirty="0" smtClean="0">
                <a:cs typeface="Times New Roman" panose="02020603050405020304" pitchFamily="18" charset="0"/>
              </a:rPr>
              <a:t>Contraindications</a:t>
            </a:r>
            <a:r>
              <a:rPr lang="en-US" dirty="0" smtClean="0">
                <a:cs typeface="Times New Roman" panose="02020603050405020304" pitchFamily="18" charset="0"/>
              </a:rPr>
              <a:t>:</a:t>
            </a:r>
          </a:p>
          <a:p>
            <a:pPr lvl="1"/>
            <a:r>
              <a:rPr lang="en-US" dirty="0" smtClean="0">
                <a:cs typeface="Times New Roman" panose="02020603050405020304" pitchFamily="18" charset="0"/>
              </a:rPr>
              <a:t>Breech presentation</a:t>
            </a:r>
          </a:p>
          <a:p>
            <a:pPr lvl="1"/>
            <a:r>
              <a:rPr lang="en-US" dirty="0" smtClean="0">
                <a:cs typeface="Times New Roman" panose="02020603050405020304" pitchFamily="18" charset="0"/>
              </a:rPr>
              <a:t>Scarred uterus</a:t>
            </a:r>
          </a:p>
          <a:p>
            <a:pPr lvl="1"/>
            <a:r>
              <a:rPr lang="en-US" dirty="0" smtClean="0">
                <a:cs typeface="Times New Roman" panose="02020603050405020304" pitchFamily="18" charset="0"/>
              </a:rPr>
              <a:t>Multiple pregnancy</a:t>
            </a:r>
          </a:p>
          <a:p>
            <a:pPr lvl="1"/>
            <a:r>
              <a:rPr lang="en-US" dirty="0" smtClean="0">
                <a:cs typeface="Times New Roman" panose="02020603050405020304" pitchFamily="18" charset="0"/>
              </a:rPr>
              <a:t>Feature of CPD</a:t>
            </a:r>
          </a:p>
          <a:p>
            <a:pPr lvl="1"/>
            <a:r>
              <a:rPr lang="en-US" dirty="0" smtClean="0">
                <a:cs typeface="Times New Roman" panose="02020603050405020304" pitchFamily="18" charset="0"/>
              </a:rPr>
              <a:t>Secondary hypotonic contractions due to obstructed labor etc...</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t>Methods Of Augmentation</a:t>
            </a:r>
            <a:endParaRPr lang="en-US" dirty="0"/>
          </a:p>
        </p:txBody>
      </p:sp>
      <p:sp>
        <p:nvSpPr>
          <p:cNvPr id="3" name="Content Placeholder 2"/>
          <p:cNvSpPr>
            <a:spLocks noGrp="1"/>
          </p:cNvSpPr>
          <p:nvPr>
            <p:ph idx="1"/>
          </p:nvPr>
        </p:nvSpPr>
        <p:spPr>
          <a:xfrm>
            <a:off x="0" y="1371600"/>
            <a:ext cx="9144000" cy="5486400"/>
          </a:xfrm>
        </p:spPr>
        <p:txBody>
          <a:bodyPr>
            <a:normAutofit/>
          </a:bodyPr>
          <a:lstStyle/>
          <a:p>
            <a:pPr>
              <a:buFont typeface="Wingdings" pitchFamily="2" charset="2"/>
              <a:buChar char="v"/>
            </a:pPr>
            <a:r>
              <a:rPr lang="en-US" dirty="0" smtClean="0"/>
              <a:t>ARM</a:t>
            </a:r>
          </a:p>
          <a:p>
            <a:pPr>
              <a:buFont typeface="Wingdings" pitchFamily="2" charset="2"/>
              <a:buChar char="v"/>
            </a:pPr>
            <a:r>
              <a:rPr lang="en-US" dirty="0" smtClean="0"/>
              <a:t>Oxytocin</a:t>
            </a:r>
          </a:p>
          <a:p>
            <a:endParaRPr lang="en-US" dirty="0" smtClean="0"/>
          </a:p>
          <a:p>
            <a:pPr>
              <a:buNone/>
            </a:pPr>
            <a:endParaRPr lang="en-US" dirty="0" smtClean="0"/>
          </a:p>
          <a:p>
            <a:r>
              <a:rPr lang="en-US" dirty="0" smtClean="0"/>
              <a:t>The procedure is generally similar to that of induction</a:t>
            </a:r>
          </a:p>
          <a:p>
            <a:r>
              <a:rPr lang="en-US" dirty="0" smtClean="0"/>
              <a:t>If there is no urgency to expedite delivery, oxytocin infusion is initiated one  hour after ARM and if the ARM failed to correct the weak contractions</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5AA19C-7C51-4258-92E3-791F1084ABC2}"/>
              </a:ext>
            </a:extLst>
          </p:cNvPr>
          <p:cNvSpPr>
            <a:spLocks noGrp="1"/>
          </p:cNvSpPr>
          <p:nvPr>
            <p:ph type="title"/>
          </p:nvPr>
        </p:nvSpPr>
        <p:spPr>
          <a:xfrm>
            <a:off x="0" y="0"/>
            <a:ext cx="9144000" cy="792162"/>
          </a:xfrm>
        </p:spPr>
        <p:txBody>
          <a:bodyPr>
            <a:normAutofit fontScale="90000"/>
          </a:bodyPr>
          <a:lstStyle/>
          <a:p>
            <a:r>
              <a:rPr lang="en-US" b="1" dirty="0">
                <a:cs typeface="Times New Roman" panose="02020603050405020304" pitchFamily="18" charset="0"/>
              </a:rPr>
              <a:t>Artificial Rupture of Membranes (ARM)</a:t>
            </a:r>
          </a:p>
        </p:txBody>
      </p:sp>
      <p:sp>
        <p:nvSpPr>
          <p:cNvPr id="3" name="Content Placeholder 2">
            <a:extLst>
              <a:ext uri="{FF2B5EF4-FFF2-40B4-BE49-F238E27FC236}">
                <a16:creationId xmlns="" xmlns:a16="http://schemas.microsoft.com/office/drawing/2014/main" id="{BB498AB9-4578-4AB4-8E12-8E6ACB9A2897}"/>
              </a:ext>
            </a:extLst>
          </p:cNvPr>
          <p:cNvSpPr>
            <a:spLocks noGrp="1"/>
          </p:cNvSpPr>
          <p:nvPr>
            <p:ph idx="1"/>
          </p:nvPr>
        </p:nvSpPr>
        <p:spPr>
          <a:xfrm>
            <a:off x="0" y="1143000"/>
            <a:ext cx="9144000" cy="5715000"/>
          </a:xfrm>
        </p:spPr>
        <p:txBody>
          <a:bodyPr/>
          <a:lstStyle/>
          <a:p>
            <a:r>
              <a:rPr lang="en-US" dirty="0">
                <a:cs typeface="Times New Roman" panose="02020603050405020304" pitchFamily="18" charset="0"/>
              </a:rPr>
              <a:t>ARM is a recommended practice in both induction and augmentation</a:t>
            </a:r>
            <a:r>
              <a:rPr lang="en-US" dirty="0" smtClean="0">
                <a:cs typeface="Times New Roman" panose="02020603050405020304" pitchFamily="18" charset="0"/>
              </a:rPr>
              <a:t>.</a:t>
            </a:r>
          </a:p>
          <a:p>
            <a:endParaRPr lang="en-US" sz="2800" dirty="0">
              <a:cs typeface="Times New Roman" panose="02020603050405020304" pitchFamily="18" charset="0"/>
            </a:endParaRPr>
          </a:p>
          <a:p>
            <a:r>
              <a:rPr lang="en-US" b="1" i="1" dirty="0">
                <a:cs typeface="Times New Roman" panose="02020603050405020304" pitchFamily="18" charset="0"/>
              </a:rPr>
              <a:t>Prerequisites</a:t>
            </a:r>
          </a:p>
          <a:p>
            <a:pPr lvl="1">
              <a:buNone/>
            </a:pPr>
            <a:r>
              <a:rPr lang="en-US" sz="2400" dirty="0">
                <a:cs typeface="Times New Roman" panose="02020603050405020304" pitchFamily="18" charset="0"/>
              </a:rPr>
              <a:t>− </a:t>
            </a:r>
            <a:r>
              <a:rPr lang="en-US" sz="3000" dirty="0">
                <a:cs typeface="Times New Roman" panose="02020603050405020304" pitchFamily="18" charset="0"/>
              </a:rPr>
              <a:t>Appropriate indication</a:t>
            </a:r>
          </a:p>
          <a:p>
            <a:pPr lvl="1">
              <a:buNone/>
            </a:pPr>
            <a:r>
              <a:rPr lang="en-US" sz="3000" dirty="0">
                <a:cs typeface="Times New Roman" panose="02020603050405020304" pitchFamily="18" charset="0"/>
              </a:rPr>
              <a:t>− Engaged fetal head (relative)</a:t>
            </a:r>
          </a:p>
          <a:p>
            <a:pPr lvl="1">
              <a:buNone/>
            </a:pPr>
            <a:r>
              <a:rPr lang="en-US" sz="3000" dirty="0">
                <a:cs typeface="Times New Roman" panose="02020603050405020304" pitchFamily="18" charset="0"/>
              </a:rPr>
              <a:t>− No contraindications such as cord presentation, vasa previa, infection</a:t>
            </a:r>
          </a:p>
          <a:p>
            <a:pPr lvl="1">
              <a:buNone/>
            </a:pPr>
            <a:r>
              <a:rPr lang="en-US" sz="3000" dirty="0">
                <a:cs typeface="Times New Roman" panose="02020603050405020304" pitchFamily="18" charset="0"/>
              </a:rPr>
              <a:t>− No fetal distress (unless immediate vaginal delivery is possible)</a:t>
            </a:r>
          </a:p>
          <a:p>
            <a:endParaRPr lang="en-US" dirty="0"/>
          </a:p>
        </p:txBody>
      </p:sp>
    </p:spTree>
    <p:extLst>
      <p:ext uri="{BB962C8B-B14F-4D97-AF65-F5344CB8AC3E}">
        <p14:creationId xmlns:p14="http://schemas.microsoft.com/office/powerpoint/2010/main" val="15349716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843910-9620-4BFB-823D-91C8E1974669}"/>
              </a:ext>
            </a:extLst>
          </p:cNvPr>
          <p:cNvSpPr>
            <a:spLocks noGrp="1"/>
          </p:cNvSpPr>
          <p:nvPr>
            <p:ph type="title"/>
          </p:nvPr>
        </p:nvSpPr>
        <p:spPr>
          <a:xfrm>
            <a:off x="0" y="0"/>
            <a:ext cx="9144000" cy="914400"/>
          </a:xfrm>
        </p:spPr>
        <p:txBody>
          <a:bodyPr>
            <a:normAutofit/>
          </a:bodyPr>
          <a:lstStyle/>
          <a:p>
            <a:r>
              <a:rPr lang="en-US" b="1" dirty="0">
                <a:cs typeface="Times New Roman" panose="02020603050405020304" pitchFamily="18" charset="0"/>
              </a:rPr>
              <a:t>Oxytocin for Augmentation of Labor</a:t>
            </a:r>
          </a:p>
        </p:txBody>
      </p:sp>
      <p:sp>
        <p:nvSpPr>
          <p:cNvPr id="3" name="Content Placeholder 2">
            <a:extLst>
              <a:ext uri="{FF2B5EF4-FFF2-40B4-BE49-F238E27FC236}">
                <a16:creationId xmlns="" xmlns:a16="http://schemas.microsoft.com/office/drawing/2014/main" id="{7F652949-B256-4727-8DA5-6E5150B8FEA0}"/>
              </a:ext>
            </a:extLst>
          </p:cNvPr>
          <p:cNvSpPr>
            <a:spLocks noGrp="1"/>
          </p:cNvSpPr>
          <p:nvPr>
            <p:ph idx="1"/>
          </p:nvPr>
        </p:nvSpPr>
        <p:spPr>
          <a:xfrm>
            <a:off x="0" y="990600"/>
            <a:ext cx="9144000" cy="5867400"/>
          </a:xfrm>
        </p:spPr>
        <p:txBody>
          <a:bodyPr>
            <a:normAutofit/>
          </a:bodyPr>
          <a:lstStyle/>
          <a:p>
            <a:r>
              <a:rPr lang="en-US" sz="3000" dirty="0">
                <a:cs typeface="Times New Roman" panose="02020603050405020304" pitchFamily="18" charset="0"/>
              </a:rPr>
              <a:t>Oxytocin is the only medication approved by the US FDA for labor stimulation in the active </a:t>
            </a:r>
            <a:r>
              <a:rPr lang="en-US" sz="3000" dirty="0" smtClean="0">
                <a:cs typeface="Times New Roman" panose="02020603050405020304" pitchFamily="18" charset="0"/>
              </a:rPr>
              <a:t>phase.</a:t>
            </a:r>
          </a:p>
          <a:p>
            <a:endParaRPr lang="en-US" sz="3000" dirty="0" smtClean="0">
              <a:cs typeface="Times New Roman" panose="02020603050405020304" pitchFamily="18" charset="0"/>
            </a:endParaRPr>
          </a:p>
          <a:p>
            <a:r>
              <a:rPr lang="en-US" sz="3000" dirty="0" smtClean="0">
                <a:cs typeface="Times New Roman" panose="02020603050405020304" pitchFamily="18" charset="0"/>
              </a:rPr>
              <a:t>Either a high or low dose oxytocin regimen is acceptable.</a:t>
            </a:r>
          </a:p>
          <a:p>
            <a:endParaRPr lang="en-US" sz="3000" dirty="0" smtClean="0">
              <a:cs typeface="Times New Roman" panose="02020603050405020304" pitchFamily="18" charset="0"/>
            </a:endParaRPr>
          </a:p>
          <a:p>
            <a:r>
              <a:rPr lang="en-US" sz="3000" dirty="0" smtClean="0">
                <a:cs typeface="Times New Roman" panose="02020603050405020304" pitchFamily="18" charset="0"/>
              </a:rPr>
              <a:t>Higher </a:t>
            </a:r>
            <a:r>
              <a:rPr lang="en-US" sz="3000" dirty="0">
                <a:cs typeface="Times New Roman" panose="02020603050405020304" pitchFamily="18" charset="0"/>
              </a:rPr>
              <a:t>dose regimens are associated with shorter labor and fewer cesareans, but more tachysystole</a:t>
            </a:r>
            <a:r>
              <a:rPr lang="en-US" sz="3000" dirty="0" smtClean="0">
                <a:cs typeface="Times New Roman" panose="02020603050405020304" pitchFamily="18" charset="0"/>
              </a:rPr>
              <a:t>.</a:t>
            </a:r>
          </a:p>
          <a:p>
            <a:pPr>
              <a:buNone/>
            </a:pPr>
            <a:endParaRPr lang="en-US" sz="3000" dirty="0">
              <a:cs typeface="Times New Roman" panose="02020603050405020304" pitchFamily="18" charset="0"/>
            </a:endParaRPr>
          </a:p>
          <a:p>
            <a:endParaRPr lang="en-US" sz="3000" dirty="0"/>
          </a:p>
        </p:txBody>
      </p:sp>
    </p:spTree>
    <p:extLst>
      <p:ext uri="{BB962C8B-B14F-4D97-AF65-F5344CB8AC3E}">
        <p14:creationId xmlns:p14="http://schemas.microsoft.com/office/powerpoint/2010/main" val="4082960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D13E8A-2BD8-4792-8730-6A2207D9CAB7}"/>
              </a:ext>
            </a:extLst>
          </p:cNvPr>
          <p:cNvSpPr>
            <a:spLocks noGrp="1"/>
          </p:cNvSpPr>
          <p:nvPr>
            <p:ph type="title"/>
          </p:nvPr>
        </p:nvSpPr>
        <p:spPr>
          <a:xfrm>
            <a:off x="0" y="0"/>
            <a:ext cx="9144000" cy="838200"/>
          </a:xfrm>
        </p:spPr>
        <p:txBody>
          <a:bodyPr/>
          <a:lstStyle/>
          <a:p>
            <a:r>
              <a:rPr lang="en-US" b="1" dirty="0">
                <a:cs typeface="Times New Roman" panose="02020603050405020304" pitchFamily="18" charset="0"/>
              </a:rPr>
              <a:t>Summary</a:t>
            </a:r>
            <a:r>
              <a:rPr lang="en-US" dirty="0"/>
              <a:t> </a:t>
            </a:r>
          </a:p>
        </p:txBody>
      </p:sp>
      <p:sp>
        <p:nvSpPr>
          <p:cNvPr id="3" name="Content Placeholder 2">
            <a:extLst>
              <a:ext uri="{FF2B5EF4-FFF2-40B4-BE49-F238E27FC236}">
                <a16:creationId xmlns="" xmlns:a16="http://schemas.microsoft.com/office/drawing/2014/main" id="{B7097BF0-E278-4E48-B4AB-68CED215FA8D}"/>
              </a:ext>
            </a:extLst>
          </p:cNvPr>
          <p:cNvSpPr>
            <a:spLocks noGrp="1"/>
          </p:cNvSpPr>
          <p:nvPr>
            <p:ph idx="1"/>
          </p:nvPr>
        </p:nvSpPr>
        <p:spPr>
          <a:xfrm>
            <a:off x="0" y="1066800"/>
            <a:ext cx="9144000" cy="5791200"/>
          </a:xfrm>
        </p:spPr>
        <p:txBody>
          <a:bodyPr>
            <a:normAutofit/>
          </a:bodyPr>
          <a:lstStyle/>
          <a:p>
            <a:r>
              <a:rPr lang="en-US" dirty="0" smtClean="0">
                <a:cs typeface="Times New Roman" panose="02020603050405020304" pitchFamily="18" charset="0"/>
              </a:rPr>
              <a:t>Induction of labor is one of the most commonly performed procedures in obstetrics</a:t>
            </a:r>
          </a:p>
          <a:p>
            <a:r>
              <a:rPr lang="en-US" dirty="0" smtClean="0">
                <a:cs typeface="Times New Roman" panose="02020603050405020304" pitchFamily="18" charset="0"/>
              </a:rPr>
              <a:t>A variety of pharmacologic and mechanical methods for cervical ripening  are  available</a:t>
            </a:r>
          </a:p>
          <a:p>
            <a:r>
              <a:rPr lang="en-US" dirty="0" smtClean="0">
                <a:cs typeface="Times New Roman" panose="02020603050405020304" pitchFamily="18" charset="0"/>
              </a:rPr>
              <a:t>Avoid </a:t>
            </a:r>
            <a:r>
              <a:rPr lang="en-US" dirty="0">
                <a:cs typeface="Times New Roman" panose="02020603050405020304" pitchFamily="18" charset="0"/>
              </a:rPr>
              <a:t>elective inductions in nulliparous with unfavorable cervix</a:t>
            </a:r>
          </a:p>
          <a:p>
            <a:r>
              <a:rPr lang="en-US" dirty="0">
                <a:cs typeface="Times New Roman" panose="02020603050405020304" pitchFamily="18" charset="0"/>
              </a:rPr>
              <a:t>The most frequently encountered complication of oxytocin or prostaglandin administration is uterine overactivity.</a:t>
            </a:r>
          </a:p>
          <a:p>
            <a:r>
              <a:rPr lang="en-US" dirty="0">
                <a:cs typeface="Times New Roman" panose="02020603050405020304" pitchFamily="18" charset="0"/>
              </a:rPr>
              <a:t>Prostaglandins should not be used in scarred uterus</a:t>
            </a:r>
          </a:p>
          <a:p>
            <a:pPr marL="0" indent="0">
              <a:buNone/>
            </a:pPr>
            <a:endParaRPr lang="en-US" dirty="0" smtClean="0">
              <a:cs typeface="Times New Roman" panose="02020603050405020304" pitchFamily="18" charset="0"/>
            </a:endParaRPr>
          </a:p>
        </p:txBody>
      </p:sp>
    </p:spTree>
    <p:extLst>
      <p:ext uri="{BB962C8B-B14F-4D97-AF65-F5344CB8AC3E}">
        <p14:creationId xmlns:p14="http://schemas.microsoft.com/office/powerpoint/2010/main" val="19462984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295400"/>
            <a:ext cx="7772400" cy="3113087"/>
          </a:xfrm>
        </p:spPr>
        <p:txBody>
          <a:bodyPr>
            <a:noAutofit/>
          </a:bodyPr>
          <a:lstStyle/>
          <a:p>
            <a:r>
              <a:rPr lang="en-US" sz="7200" b="1" dirty="0" smtClean="0">
                <a:solidFill>
                  <a:srgbClr val="C00000"/>
                </a:solidFill>
              </a:rPr>
              <a:t>            Q &amp; A.</a:t>
            </a:r>
          </a:p>
          <a:p>
            <a:r>
              <a:rPr lang="en-US" sz="7200" b="1" dirty="0" smtClean="0">
                <a:solidFill>
                  <a:srgbClr val="C00000"/>
                </a:solidFill>
              </a:rPr>
              <a:t>       Discussions</a:t>
            </a:r>
            <a:endParaRPr lang="en-US" sz="7200" b="1" dirty="0">
              <a:solidFill>
                <a:srgbClr val="C0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257800"/>
            <a:ext cx="7772400" cy="1362075"/>
          </a:xfrm>
        </p:spPr>
        <p:txBody>
          <a:bodyPr/>
          <a:lstStyle/>
          <a:p>
            <a:r>
              <a:rPr lang="en-US" dirty="0" smtClean="0">
                <a:solidFill>
                  <a:srgbClr val="00B050"/>
                </a:solidFill>
              </a:rPr>
              <a:t>                                     </a:t>
            </a:r>
            <a:br>
              <a:rPr lang="en-US" dirty="0" smtClean="0">
                <a:solidFill>
                  <a:srgbClr val="00B050"/>
                </a:solidFill>
              </a:rPr>
            </a:br>
            <a:r>
              <a:rPr lang="en-US" dirty="0" smtClean="0">
                <a:solidFill>
                  <a:srgbClr val="00B050"/>
                </a:solidFill>
              </a:rPr>
              <a:t>                                          </a:t>
            </a:r>
            <a:endParaRPr lang="en-US" dirty="0">
              <a:solidFill>
                <a:srgbClr val="00B050"/>
              </a:solidFill>
            </a:endParaRPr>
          </a:p>
        </p:txBody>
      </p:sp>
      <p:sp>
        <p:nvSpPr>
          <p:cNvPr id="3" name="Text Placeholder 2"/>
          <p:cNvSpPr>
            <a:spLocks noGrp="1"/>
          </p:cNvSpPr>
          <p:nvPr>
            <p:ph type="body" idx="1"/>
          </p:nvPr>
        </p:nvSpPr>
        <p:spPr>
          <a:xfrm>
            <a:off x="0" y="1447800"/>
            <a:ext cx="9144000" cy="2895600"/>
          </a:xfrm>
        </p:spPr>
        <p:txBody>
          <a:bodyPr/>
          <a:lstStyle/>
          <a:p>
            <a:r>
              <a:rPr lang="en-US" sz="9600" b="1" dirty="0" smtClean="0">
                <a:solidFill>
                  <a:srgbClr val="00B050"/>
                </a:solidFill>
                <a:latin typeface="Algerian" pitchFamily="82" charset="0"/>
              </a:rPr>
              <a:t>	THANK YOU!</a:t>
            </a:r>
          </a:p>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1798</TotalTime>
  <Words>2300</Words>
  <Application>Microsoft Office PowerPoint</Application>
  <PresentationFormat>On-screen Show (4:3)</PresentationFormat>
  <Paragraphs>365</Paragraphs>
  <Slides>56</Slides>
  <Notes>17</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Induction &amp; Augmentation Of Labor</vt:lpstr>
      <vt:lpstr>Outline</vt:lpstr>
      <vt:lpstr>Introduction</vt:lpstr>
      <vt:lpstr>Cont…</vt:lpstr>
      <vt:lpstr>Definition</vt:lpstr>
      <vt:lpstr>History of Induction of Labor</vt:lpstr>
      <vt:lpstr>Induction Of Labor</vt:lpstr>
      <vt:lpstr>Indications For Induction Of Labor</vt:lpstr>
      <vt:lpstr>Cont…</vt:lpstr>
      <vt:lpstr>Contraindications For Induction Of Labor </vt:lpstr>
      <vt:lpstr>Cont…</vt:lpstr>
      <vt:lpstr>Preconditions For Induction Of Labor </vt:lpstr>
      <vt:lpstr>Cont… </vt:lpstr>
      <vt:lpstr>Cont…</vt:lpstr>
      <vt:lpstr>PowerPoint Presentation</vt:lpstr>
      <vt:lpstr>PowerPoint Presentation</vt:lpstr>
      <vt:lpstr>Bishop Score Cont…</vt:lpstr>
      <vt:lpstr>Preinduction Cervical Ripening</vt:lpstr>
      <vt:lpstr>Cervical Ripening Methods</vt:lpstr>
      <vt:lpstr>Cont…</vt:lpstr>
      <vt:lpstr>PowerPoint Presentation</vt:lpstr>
      <vt:lpstr>PowerPoint Presentation</vt:lpstr>
      <vt:lpstr>Mechanical Methods</vt:lpstr>
      <vt:lpstr>Cont…</vt:lpstr>
      <vt:lpstr>Membrane Stripping/sweeping</vt:lpstr>
      <vt:lpstr>PowerPoint Presentation</vt:lpstr>
      <vt:lpstr>Transcervical balloon catheter – Foley Catheter Placement</vt:lpstr>
      <vt:lpstr>Cont…</vt:lpstr>
      <vt:lpstr>Extra amnionic saline infusion (EASI)</vt:lpstr>
      <vt:lpstr>Hygroscopic Cervical Dilators</vt:lpstr>
      <vt:lpstr>Cont…</vt:lpstr>
      <vt:lpstr>Pharmacologic Methods</vt:lpstr>
      <vt:lpstr>Prostaglandin E1 (Misoprostol)</vt:lpstr>
      <vt:lpstr>Cont…</vt:lpstr>
      <vt:lpstr>Prostaglandin E2 (Dinoprostone)</vt:lpstr>
      <vt:lpstr>Cont…</vt:lpstr>
      <vt:lpstr>Cont…</vt:lpstr>
      <vt:lpstr>Methods Of Labor Induction </vt:lpstr>
      <vt:lpstr>Oxytocin</vt:lpstr>
      <vt:lpstr>Cont…</vt:lpstr>
      <vt:lpstr>PowerPoint Presentation</vt:lpstr>
      <vt:lpstr>Oxytocin Infusion (FMOH 2020) </vt:lpstr>
      <vt:lpstr>Oxytocin infusion rates for induction of labor. FMOH 2020</vt:lpstr>
      <vt:lpstr>Amniotomy - ARM</vt:lpstr>
      <vt:lpstr>PowerPoint Presentation</vt:lpstr>
      <vt:lpstr>Complications of Labor Induction</vt:lpstr>
      <vt:lpstr>Uterine Tachysystole</vt:lpstr>
      <vt:lpstr>Failed Induction</vt:lpstr>
      <vt:lpstr>Augmentation of Labor</vt:lpstr>
      <vt:lpstr>Cont…</vt:lpstr>
      <vt:lpstr>Methods Of Augmentation</vt:lpstr>
      <vt:lpstr>Artificial Rupture of Membranes (ARM)</vt:lpstr>
      <vt:lpstr>Oxytocin for Augmentation of Labor</vt:lpstr>
      <vt:lpstr>Summary </vt:lpstr>
      <vt:lpstr>PowerPoint Presentation</vt:lpstr>
      <vt:lpstr>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Samsung</dc:creator>
  <cp:lastModifiedBy>hp</cp:lastModifiedBy>
  <cp:revision>302</cp:revision>
  <dcterms:created xsi:type="dcterms:W3CDTF">2006-08-16T00:00:00Z</dcterms:created>
  <dcterms:modified xsi:type="dcterms:W3CDTF">2025-09-02T02:35:10Z</dcterms:modified>
</cp:coreProperties>
</file>