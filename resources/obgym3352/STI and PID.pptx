
<file path=[Content_Types].xml><?xml version="1.0" encoding="utf-8"?>
<Types xmlns="http://schemas.openxmlformats.org/package/2006/content-types">
  <Override PartName="/ppt/slides/slide29.xml" ContentType="application/vnd.openxmlformats-officedocument.presentationml.slide+xml"/>
  <Override PartName="/ppt/slides/slide47.xml" ContentType="application/vnd.openxmlformats-officedocument.presentationml.slide+xml"/>
  <Override PartName="/ppt/slides/slide58.xml" ContentType="application/vnd.openxmlformats-officedocument.presentationml.slide+xml"/>
  <Override PartName="/ppt/notesSlides/notesSlide2.xml" ContentType="application/vnd.openxmlformats-officedocument.presentationml.notesSlide+xml"/>
  <Override PartName="/ppt/slides/slide4.xml" ContentType="application/vnd.openxmlformats-officedocument.presentationml.slide+xml"/>
  <Override PartName="/ppt/slides/slide18.xml" ContentType="application/vnd.openxmlformats-officedocument.presentationml.slide+xml"/>
  <Override PartName="/ppt/slides/slide36.xml" ContentType="application/vnd.openxmlformats-officedocument.presentationml.slide+xml"/>
  <Override PartName="/ppt/slides/slide54.xml" ContentType="application/vnd.openxmlformats-officedocument.presentationml.slide+xml"/>
  <Override PartName="/ppt/slides/slide65.xml" ContentType="application/vnd.openxmlformats-officedocument.presentationml.slide+xml"/>
  <Override PartName="/ppt/slideLayouts/slideLayout6.xml" ContentType="application/vnd.openxmlformats-officedocument.presentationml.slideLayout+xml"/>
  <Override PartName="/ppt/slides/slide2.xml" ContentType="application/vnd.openxmlformats-officedocument.presentationml.slide+xml"/>
  <Override PartName="/ppt/slides/slide16.xml" ContentType="application/vnd.openxmlformats-officedocument.presentationml.slide+xml"/>
  <Override PartName="/ppt/slides/slide25.xml" ContentType="application/vnd.openxmlformats-officedocument.presentationml.slide+xml"/>
  <Override PartName="/ppt/slides/slide34.xml" ContentType="application/vnd.openxmlformats-officedocument.presentationml.slide+xml"/>
  <Override PartName="/ppt/slides/slide43.xml" ContentType="application/vnd.openxmlformats-officedocument.presentationml.slide+xml"/>
  <Override PartName="/ppt/slides/slide52.xml" ContentType="application/vnd.openxmlformats-officedocument.presentationml.slide+xml"/>
  <Override PartName="/ppt/slides/slide63.xml" ContentType="application/vnd.openxmlformats-officedocument.presentationml.slide+xml"/>
  <Override PartName="/ppt/slides/slide72.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Default Extension="rels" ContentType="application/vnd.openxmlformats-package.relationships+xml"/>
  <Default Extension="xml" ContentType="application/xml"/>
  <Override PartName="/ppt/slides/slide14.xml" ContentType="application/vnd.openxmlformats-officedocument.presentationml.slide+xml"/>
  <Override PartName="/ppt/slides/slide23.xml" ContentType="application/vnd.openxmlformats-officedocument.presentationml.slide+xml"/>
  <Override PartName="/ppt/slides/slide32.xml" ContentType="application/vnd.openxmlformats-officedocument.presentationml.slide+xml"/>
  <Override PartName="/ppt/slides/slide41.xml" ContentType="application/vnd.openxmlformats-officedocument.presentationml.slide+xml"/>
  <Override PartName="/ppt/slides/slide50.xml" ContentType="application/vnd.openxmlformats-officedocument.presentationml.slide+xml"/>
  <Override PartName="/ppt/slides/slide61.xml" ContentType="application/vnd.openxmlformats-officedocument.presentationml.slide+xml"/>
  <Override PartName="/ppt/slides/slide70.xml" ContentType="application/vnd.openxmlformats-officedocument.presentationml.slide+xml"/>
  <Override PartName="/ppt/notesMasters/notesMaster1.xml" ContentType="application/vnd.openxmlformats-officedocument.presentationml.notesMaster+xml"/>
  <Override PartName="/ppt/slides/slide10.xml" ContentType="application/vnd.openxmlformats-officedocument.presentationml.slide+xml"/>
  <Override PartName="/ppt/slides/slide12.xml" ContentType="application/vnd.openxmlformats-officedocument.presentationml.slide+xml"/>
  <Override PartName="/ppt/slides/slide21.xml" ContentType="application/vnd.openxmlformats-officedocument.presentationml.slide+xml"/>
  <Override PartName="/ppt/slides/slide30.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s/slide7.xml" ContentType="application/vnd.openxmlformats-officedocument.presentationml.slide+xml"/>
  <Override PartName="/ppt/slides/slide9.xml" ContentType="application/vnd.openxmlformats-officedocument.presentationml.slide+xml"/>
  <Override PartName="/ppt/slides/slide59.xml" ContentType="application/vnd.openxmlformats-officedocument.presentationml.slide+xml"/>
  <Override PartName="/ppt/slides/slide68.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ppt/slides/slide5.xml" ContentType="application/vnd.openxmlformats-officedocument.presentationml.slide+xml"/>
  <Override PartName="/ppt/slides/slide19.xml" ContentType="application/vnd.openxmlformats-officedocument.presentationml.slide+xml"/>
  <Override PartName="/ppt/slides/slide28.xml" ContentType="application/vnd.openxmlformats-officedocument.presentationml.slide+xml"/>
  <Override PartName="/ppt/slides/slide39.xml" ContentType="application/vnd.openxmlformats-officedocument.presentationml.slide+xml"/>
  <Override PartName="/ppt/slides/slide48.xml" ContentType="application/vnd.openxmlformats-officedocument.presentationml.slide+xml"/>
  <Override PartName="/ppt/slides/slide57.xml" ContentType="application/vnd.openxmlformats-officedocument.presentationml.slide+xml"/>
  <Override PartName="/ppt/slides/slide66.xml" ContentType="application/vnd.openxmlformats-officedocument.presentationml.slide+xml"/>
  <Override PartName="/ppt/slideLayouts/slideLayout7.xml" ContentType="application/vnd.openxmlformats-officedocument.presentationml.slideLayout+xml"/>
  <Override PartName="/ppt/notesSlides/notesSlide1.xml" ContentType="application/vnd.openxmlformats-officedocument.presentationml.notesSlide+xml"/>
  <Default Extension="png" ContentType="image/png"/>
  <Override PartName="/ppt/notesSlides/notesSlide3.xml" ContentType="application/vnd.openxmlformats-officedocument.presentationml.notesSlide+xml"/>
  <Override PartName="/ppt/slides/slide3.xml" ContentType="application/vnd.openxmlformats-officedocument.presentationml.slide+xml"/>
  <Override PartName="/ppt/slides/slide17.xml" ContentType="application/vnd.openxmlformats-officedocument.presentationml.slide+xml"/>
  <Override PartName="/ppt/slides/slide26.xml" ContentType="application/vnd.openxmlformats-officedocument.presentationml.slide+xml"/>
  <Override PartName="/ppt/slides/slide37.xml" ContentType="application/vnd.openxmlformats-officedocument.presentationml.slide+xml"/>
  <Override PartName="/ppt/slides/slide46.xml" ContentType="application/vnd.openxmlformats-officedocument.presentationml.slide+xml"/>
  <Override PartName="/ppt/slides/slide55.xml" ContentType="application/vnd.openxmlformats-officedocument.presentationml.slide+xml"/>
  <Override PartName="/ppt/slides/slide64.xml" ContentType="application/vnd.openxmlformats-officedocument.presentationml.slide+xml"/>
  <Override PartName="/ppt/slides/slide73.xml" ContentType="application/vnd.openxmlformats-officedocument.presentationml.slide+xml"/>
  <Override PartName="/ppt/presProps.xml" ContentType="application/vnd.openxmlformats-officedocument.presentationml.presProps+xml"/>
  <Override PartName="/ppt/slideLayouts/slideLayout5.xml" ContentType="application/vnd.openxmlformats-officedocument.presentationml.slideLayout+xml"/>
  <Override PartName="/ppt/theme/theme2.xml" ContentType="application/vnd.openxmlformats-officedocument.theme+xml"/>
  <Override PartName="/ppt/slides/slide1.xml" ContentType="application/vnd.openxmlformats-officedocument.presentationml.slide+xml"/>
  <Override PartName="/ppt/slides/slide15.xml" ContentType="application/vnd.openxmlformats-officedocument.presentationml.slide+xml"/>
  <Override PartName="/ppt/slides/slide24.xml" ContentType="application/vnd.openxmlformats-officedocument.presentationml.slide+xml"/>
  <Override PartName="/ppt/slides/slide33.xml" ContentType="application/vnd.openxmlformats-officedocument.presentationml.slide+xml"/>
  <Override PartName="/ppt/slides/slide35.xml" ContentType="application/vnd.openxmlformats-officedocument.presentationml.slide+xml"/>
  <Override PartName="/ppt/slides/slide44.xml" ContentType="application/vnd.openxmlformats-officedocument.presentationml.slide+xml"/>
  <Override PartName="/ppt/slides/slide53.xml" ContentType="application/vnd.openxmlformats-officedocument.presentationml.slide+xml"/>
  <Override PartName="/ppt/slides/slide62.xml" ContentType="application/vnd.openxmlformats-officedocument.presentationml.slide+xml"/>
  <Override PartName="/ppt/slides/slide71.xml" ContentType="application/vnd.openxmlformats-officedocument.presentationml.slide+xml"/>
  <Default Extension="jpeg" ContentType="image/jpeg"/>
  <Override PartName="/ppt/slideLayouts/slideLayout3.xml" ContentType="application/vnd.openxmlformats-officedocument.presentationml.slideLayout+xml"/>
  <Override PartName="/ppt/presentation.xml" ContentType="application/vnd.openxmlformats-officedocument.presentationml.presentation.main+xml"/>
  <Override PartName="/ppt/slides/slide13.xml" ContentType="application/vnd.openxmlformats-officedocument.presentationml.slide+xml"/>
  <Override PartName="/ppt/slides/slide22.xml" ContentType="application/vnd.openxmlformats-officedocument.presentationml.slide+xml"/>
  <Override PartName="/ppt/slides/slide31.xml" ContentType="application/vnd.openxmlformats-officedocument.presentationml.slide+xml"/>
  <Override PartName="/ppt/slides/slide42.xml" ContentType="application/vnd.openxmlformats-officedocument.presentationml.slide+xml"/>
  <Override PartName="/ppt/slides/slide51.xml" ContentType="application/vnd.openxmlformats-officedocument.presentationml.slide+xml"/>
  <Override PartName="/ppt/slides/slide60.xml" ContentType="application/vnd.openxmlformats-officedocument.presentationml.slide+xml"/>
  <Override PartName="/ppt/slideLayouts/slideLayout1.xml" ContentType="application/vnd.openxmlformats-officedocument.presentationml.slideLayout+xml"/>
  <Override PartName="/docProps/app.xml" ContentType="application/vnd.openxmlformats-officedocument.extended-properties+xml"/>
  <Override PartName="/ppt/slides/slide11.xml" ContentType="application/vnd.openxmlformats-officedocument.presentationml.slide+xml"/>
  <Override PartName="/ppt/slides/slide20.xml" ContentType="application/vnd.openxmlformats-officedocument.presentationml.slide+xml"/>
  <Override PartName="/ppt/slides/slide40.xml" ContentType="application/vnd.openxmlformats-officedocument.presentationml.slide+xml"/>
  <Override PartName="/ppt/slideLayouts/slideLayout10.xml" ContentType="application/vnd.openxmlformats-officedocument.presentationml.slideLayout+xml"/>
  <Default Extension="vml" ContentType="application/vnd.openxmlformats-officedocument.vmlDrawing"/>
  <Override PartName="/ppt/slides/slide8.xml" ContentType="application/vnd.openxmlformats-officedocument.presentationml.slide+xml"/>
  <Override PartName="/ppt/slides/slide49.xml" ContentType="application/vnd.openxmlformats-officedocument.presentationml.slide+xml"/>
  <Override PartName="/ppt/slides/slide69.xml" ContentType="application/vnd.openxmlformats-officedocument.presentationml.slide+xml"/>
  <Override PartName="/ppt/notesSlides/notesSlide4.xml" ContentType="application/vnd.openxmlformats-officedocument.presentationml.notesSlide+xml"/>
  <Override PartName="/docProps/core.xml" ContentType="application/vnd.openxmlformats-package.core-properties+xml"/>
  <Override PartName="/ppt/slides/slide6.xml" ContentType="application/vnd.openxmlformats-officedocument.presentationml.slide+xml"/>
  <Override PartName="/ppt/slides/slide38.xml" ContentType="application/vnd.openxmlformats-officedocument.presentationml.slide+xml"/>
  <Override PartName="/ppt/slides/slide56.xml" ContentType="application/vnd.openxmlformats-officedocument.presentationml.slide+xml"/>
  <Override PartName="/ppt/slides/slide67.xml" ContentType="application/vnd.openxmlformats-officedocument.presentationml.slide+xml"/>
  <Override PartName="/ppt/slideLayouts/slideLayout8.xml" ContentType="application/vnd.openxmlformats-officedocument.presentationml.slideLayout+xml"/>
  <Override PartName="/ppt/slideMasters/slideMaster1.xml" ContentType="application/vnd.openxmlformats-officedocument.presentationml.slideMaster+xml"/>
  <Override PartName="/ppt/slides/slide27.xml" ContentType="application/vnd.openxmlformats-officedocument.presentationml.slide+xml"/>
  <Override PartName="/ppt/slides/slide45.xml" ContentType="application/vnd.openxmlformats-officedocument.presentationml.slide+xml"/>
  <Override PartName="/ppt/slideLayouts/slideLayout4.xml" ContentType="application/vnd.openxmlformats-officedocument.presentationml.slideLayout+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1"/>
  </p:sldMasterIdLst>
  <p:notesMasterIdLst>
    <p:notesMasterId r:id="rId75"/>
  </p:notesMasterIdLst>
  <p:sldIdLst>
    <p:sldId id="256" r:id="rId2"/>
    <p:sldId id="257" r:id="rId3"/>
    <p:sldId id="258" r:id="rId4"/>
    <p:sldId id="259" r:id="rId5"/>
    <p:sldId id="317" r:id="rId6"/>
    <p:sldId id="260" r:id="rId7"/>
    <p:sldId id="320" r:id="rId8"/>
    <p:sldId id="321" r:id="rId9"/>
    <p:sldId id="322" r:id="rId10"/>
    <p:sldId id="323" r:id="rId11"/>
    <p:sldId id="261" r:id="rId12"/>
    <p:sldId id="263" r:id="rId13"/>
    <p:sldId id="264" r:id="rId14"/>
    <p:sldId id="314" r:id="rId15"/>
    <p:sldId id="313" r:id="rId16"/>
    <p:sldId id="262" r:id="rId17"/>
    <p:sldId id="265" r:id="rId18"/>
    <p:sldId id="330" r:id="rId19"/>
    <p:sldId id="373" r:id="rId20"/>
    <p:sldId id="331" r:id="rId21"/>
    <p:sldId id="271" r:id="rId22"/>
    <p:sldId id="272" r:id="rId23"/>
    <p:sldId id="273" r:id="rId24"/>
    <p:sldId id="274" r:id="rId25"/>
    <p:sldId id="275" r:id="rId26"/>
    <p:sldId id="374" r:id="rId27"/>
    <p:sldId id="276" r:id="rId28"/>
    <p:sldId id="328" r:id="rId29"/>
    <p:sldId id="327" r:id="rId30"/>
    <p:sldId id="316" r:id="rId31"/>
    <p:sldId id="277" r:id="rId32"/>
    <p:sldId id="278" r:id="rId33"/>
    <p:sldId id="279" r:id="rId34"/>
    <p:sldId id="280" r:id="rId35"/>
    <p:sldId id="315" r:id="rId36"/>
    <p:sldId id="333" r:id="rId37"/>
    <p:sldId id="334" r:id="rId38"/>
    <p:sldId id="335" r:id="rId39"/>
    <p:sldId id="336" r:id="rId40"/>
    <p:sldId id="337" r:id="rId41"/>
    <p:sldId id="338" r:id="rId42"/>
    <p:sldId id="339" r:id="rId43"/>
    <p:sldId id="340" r:id="rId44"/>
    <p:sldId id="341" r:id="rId45"/>
    <p:sldId id="342" r:id="rId46"/>
    <p:sldId id="343" r:id="rId47"/>
    <p:sldId id="344" r:id="rId48"/>
    <p:sldId id="345" r:id="rId49"/>
    <p:sldId id="346" r:id="rId50"/>
    <p:sldId id="347" r:id="rId51"/>
    <p:sldId id="348" r:id="rId52"/>
    <p:sldId id="349" r:id="rId53"/>
    <p:sldId id="350" r:id="rId54"/>
    <p:sldId id="351" r:id="rId55"/>
    <p:sldId id="352" r:id="rId56"/>
    <p:sldId id="353" r:id="rId57"/>
    <p:sldId id="354" r:id="rId58"/>
    <p:sldId id="355" r:id="rId59"/>
    <p:sldId id="356" r:id="rId60"/>
    <p:sldId id="357" r:id="rId61"/>
    <p:sldId id="358" r:id="rId62"/>
    <p:sldId id="359" r:id="rId63"/>
    <p:sldId id="376" r:id="rId64"/>
    <p:sldId id="377" r:id="rId65"/>
    <p:sldId id="378" r:id="rId66"/>
    <p:sldId id="380" r:id="rId67"/>
    <p:sldId id="370" r:id="rId68"/>
    <p:sldId id="375" r:id="rId69"/>
    <p:sldId id="381" r:id="rId70"/>
    <p:sldId id="382" r:id="rId71"/>
    <p:sldId id="369" r:id="rId72"/>
    <p:sldId id="311" r:id="rId73"/>
    <p:sldId id="319" r:id="rId74"/>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xmlns="">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xmlns="">
          <a:srgbClr val="FF0000"/>
        </p14:laserClr>
      </p:ext>
      <p:ext uri="{2FDB2607-1784-4EEB-B798-7EB5836EED8A}">
        <p14:showMediaCtrls xmlns:p14="http://schemas.microsoft.com/office/powerpoint/2010/main" xmlns="" val="1"/>
      </p:ext>
    </p:extLst>
  </p:showPr>
  <p:extLst>
    <p:ext uri="{E76CE94A-603C-4142-B9EB-6D1370010A27}">
      <p14:discardImageEditData xmlns:p14="http://schemas.microsoft.com/office/powerpoint/2010/main" xmlns="" val="0"/>
    </p:ext>
    <p:ext uri="{D31A062A-798A-4329-ABDD-BBA856620510}">
      <p14:defaultImageDpi xmlns:p14="http://schemas.microsoft.com/office/powerpoint/2010/main" xmlns="" val="220"/>
    </p:ext>
    <p:ext uri="{FD5EFAAD-0ECE-453E-9831-46B23BE46B34}">
      <p15:chartTrackingRefBased xmlns:p15="http://schemas.microsoft.com/office/powerpoint/2012/main" xmlns=""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howOutlineIcons="0">
    <p:restoredLeft sz="15620"/>
    <p:restoredTop sz="94803" autoAdjust="0"/>
  </p:normalViewPr>
  <p:slideViewPr>
    <p:cSldViewPr>
      <p:cViewPr>
        <p:scale>
          <a:sx n="70" d="100"/>
          <a:sy n="70" d="100"/>
        </p:scale>
        <p:origin x="-1386" y="-78"/>
      </p:cViewPr>
      <p:guideLst>
        <p:guide orient="horz" pos="2160"/>
        <p:guide pos="2880"/>
      </p:guideLst>
    </p:cSldViewPr>
  </p:slideViewPr>
  <p:notesTextViewPr>
    <p:cViewPr>
      <p:scale>
        <a:sx n="100" d="100"/>
        <a:sy n="100" d="100"/>
      </p:scale>
      <p:origin x="0" y="0"/>
    </p:cViewPr>
  </p:notesTextViewPr>
  <p:gridSpacing cx="78028800" cy="780288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slide" Target="slides/slide62.xml"/><Relationship Id="rId68" Type="http://schemas.openxmlformats.org/officeDocument/2006/relationships/slide" Target="slides/slide67.xml"/><Relationship Id="rId76" Type="http://schemas.openxmlformats.org/officeDocument/2006/relationships/presProps" Target="presProps.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slide" Target="slides/slide73.xml"/><Relationship Id="rId79" Type="http://schemas.openxmlformats.org/officeDocument/2006/relationships/tableStyles" Target="tableStyles.xml"/><Relationship Id="rId5" Type="http://schemas.openxmlformats.org/officeDocument/2006/relationships/slide" Target="slides/slide4.xml"/><Relationship Id="rId61" Type="http://schemas.openxmlformats.org/officeDocument/2006/relationships/slide" Target="slides/slide60.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viewProps" Target="viewProps.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FF1A3D4-284E-409B-9840-FC054D61B20E}" type="datetimeFigureOut">
              <a:rPr lang="en-US" smtClean="0"/>
              <a:pPr/>
              <a:t>9/3/2025</a:t>
            </a:fld>
            <a:endParaRPr lang="en-US"/>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7C1F9EF-EA59-4057-A4E3-AB118EF55C42}" type="slidenum">
              <a:rPr lang="en-US" smtClean="0"/>
              <a:pPr/>
              <a:t>‹#›</a:t>
            </a:fld>
            <a:endParaRPr lang="en-US"/>
          </a:p>
        </p:txBody>
      </p:sp>
    </p:spTree>
    <p:extLst>
      <p:ext uri="{BB962C8B-B14F-4D97-AF65-F5344CB8AC3E}">
        <p14:creationId xmlns:p14="http://schemas.microsoft.com/office/powerpoint/2010/main" xmlns="" val="185720047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B7C1F9EF-EA59-4057-A4E3-AB118EF55C42}" type="slidenum">
              <a:rPr lang="en-US" smtClean="0"/>
              <a:pPr/>
              <a:t>1</a:t>
            </a:fld>
            <a:endParaRPr lang="en-US"/>
          </a:p>
        </p:txBody>
      </p:sp>
    </p:spTree>
    <p:extLst>
      <p:ext uri="{BB962C8B-B14F-4D97-AF65-F5344CB8AC3E}">
        <p14:creationId xmlns:p14="http://schemas.microsoft.com/office/powerpoint/2010/main" xmlns="" val="198132515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B7C1F9EF-EA59-4057-A4E3-AB118EF55C42}" type="slidenum">
              <a:rPr lang="en-US" smtClean="0"/>
              <a:pPr/>
              <a:t>9</a:t>
            </a:fld>
            <a:endParaRPr lang="en-US"/>
          </a:p>
        </p:txBody>
      </p:sp>
    </p:spTree>
    <p:extLst>
      <p:ext uri="{BB962C8B-B14F-4D97-AF65-F5344CB8AC3E}">
        <p14:creationId xmlns:p14="http://schemas.microsoft.com/office/powerpoint/2010/main" xmlns="" val="275175994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Text Placeholder 2"/>
          <p:cNvSpPr>
            <a:spLocks noGrp="1"/>
          </p:cNvSpPr>
          <p:nvPr>
            <p:ph type="body" idx="3"/>
          </p:nvPr>
        </p:nvSpPr>
        <p:spPr/>
        <p:txBody>
          <a:bodyPr/>
          <a:lstStyle/>
          <a:p>
            <a:endParaRPr lang="en-US" dirty="0">
              <a:ea typeface="Calibri" panose="020F0502020204030204"/>
              <a:cs typeface="Calibri" panose="020F0502020204030204"/>
            </a:endParaRPr>
          </a:p>
        </p:txBody>
      </p:sp>
    </p:spTree>
    <p:extLst>
      <p:ext uri="{BB962C8B-B14F-4D97-AF65-F5344CB8AC3E}">
        <p14:creationId xmlns:p14="http://schemas.microsoft.com/office/powerpoint/2010/main" xmlns="" val="300186608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Text Placeholder 2"/>
          <p:cNvSpPr>
            <a:spLocks noGrp="1"/>
          </p:cNvSpPr>
          <p:nvPr>
            <p:ph type="body" idx="3"/>
          </p:nvPr>
        </p:nvSpPr>
        <p:spPr/>
        <p:txBody>
          <a:bodyPr/>
          <a:lstStyle/>
          <a:p>
            <a:endParaRPr lang="en-US" dirty="0"/>
          </a:p>
        </p:txBody>
      </p:sp>
    </p:spTree>
    <p:extLst>
      <p:ext uri="{BB962C8B-B14F-4D97-AF65-F5344CB8AC3E}">
        <p14:creationId xmlns:p14="http://schemas.microsoft.com/office/powerpoint/2010/main" xmlns="" val="370724163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Ref idx="1003">
        <a:schemeClr val="bg1"/>
      </p:bgRef>
    </p:bg>
    <p:spTree>
      <p:nvGrpSpPr>
        <p:cNvPr id="1" name=""/>
        <p:cNvGrpSpPr/>
        <p:nvPr/>
      </p:nvGrpSpPr>
      <p:grpSpPr>
        <a:xfrm>
          <a:off x="0" y="0"/>
          <a:ext cx="0" cy="0"/>
          <a:chOff x="0" y="0"/>
          <a:chExt cx="0" cy="0"/>
        </a:xfrm>
      </p:grpSpPr>
      <p:sp>
        <p:nvSpPr>
          <p:cNvPr id="12" name="Rectangle 11"/>
          <p:cNvSpPr/>
          <p:nvPr/>
        </p:nvSpPr>
        <p:spPr>
          <a:xfrm>
            <a:off x="0" y="0"/>
            <a:ext cx="9144000" cy="6858000"/>
          </a:xfrm>
          <a:prstGeom prst="rect">
            <a:avLst/>
          </a:prstGeom>
          <a:solidFill>
            <a:srgbClr val="FFFFFF"/>
          </a:solidFill>
          <a:ln w="12700" cap="flat"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useBgFill="1">
        <p:nvSpPr>
          <p:cNvPr id="13" name="Rounded Rectangle 12"/>
          <p:cNvSpPr/>
          <p:nvPr/>
        </p:nvSpPr>
        <p:spPr>
          <a:xfrm>
            <a:off x="65313" y="69755"/>
            <a:ext cx="9013372" cy="6692201"/>
          </a:xfrm>
          <a:prstGeom prst="roundRect">
            <a:avLst>
              <a:gd name="adj" fmla="val 4929"/>
            </a:avLst>
          </a:prstGeom>
          <a:ln w="6350" cap="sq" cmpd="sng" algn="ctr">
            <a:solidFill>
              <a:schemeClr val="tx1">
                <a:alpha val="100000"/>
              </a:schemeClr>
            </a:solidFill>
            <a:prstDash val="solid"/>
          </a:ln>
          <a:effectLst/>
        </p:spPr>
        <p:style>
          <a:lnRef idx="3">
            <a:schemeClr val="lt1"/>
          </a:lnRef>
          <a:fillRef idx="1001">
            <a:schemeClr val="lt1"/>
          </a:fillRef>
          <a:effectRef idx="1">
            <a:schemeClr val="accent1"/>
          </a:effectRef>
          <a:fontRef idx="minor">
            <a:schemeClr val="lt1"/>
          </a:fontRef>
        </p:style>
        <p:txBody>
          <a:bodyPr anchor="ctr"/>
          <a:lstStyle/>
          <a:p>
            <a:pPr algn="ctr" eaLnBrk="1" latinLnBrk="0" hangingPunct="1"/>
            <a:endParaRPr kumimoji="0" lang="en-US"/>
          </a:p>
        </p:txBody>
      </p:sp>
      <p:sp>
        <p:nvSpPr>
          <p:cNvPr id="9" name="Subtitle 8"/>
          <p:cNvSpPr>
            <a:spLocks noGrp="1"/>
          </p:cNvSpPr>
          <p:nvPr>
            <p:ph type="subTitle" idx="1"/>
          </p:nvPr>
        </p:nvSpPr>
        <p:spPr>
          <a:xfrm>
            <a:off x="1295400" y="3200400"/>
            <a:ext cx="6400800" cy="1600200"/>
          </a:xfrm>
        </p:spPr>
        <p:txBody>
          <a:bodyPr/>
          <a:lstStyle>
            <a:lvl1pPr marL="0" indent="0" algn="ctr">
              <a:buNone/>
              <a:defRPr sz="2600">
                <a:solidFill>
                  <a:schemeClr val="tx2"/>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en-US" smtClean="0"/>
              <a:t>Click to edit Master subtitle style</a:t>
            </a:r>
            <a:endParaRPr kumimoji="0" lang="en-US"/>
          </a:p>
        </p:txBody>
      </p:sp>
      <p:sp>
        <p:nvSpPr>
          <p:cNvPr id="28" name="Date Placeholder 27"/>
          <p:cNvSpPr>
            <a:spLocks noGrp="1"/>
          </p:cNvSpPr>
          <p:nvPr>
            <p:ph type="dt" sz="half" idx="10"/>
          </p:nvPr>
        </p:nvSpPr>
        <p:spPr/>
        <p:txBody>
          <a:bodyPr/>
          <a:lstStyle/>
          <a:p>
            <a:fld id="{A08BF4A9-61AC-4D26-9508-61E01C655E1E}" type="datetime1">
              <a:rPr lang="en-US" smtClean="0"/>
              <a:pPr/>
              <a:t>9/3/2025</a:t>
            </a:fld>
            <a:endParaRPr lang="en-US"/>
          </a:p>
        </p:txBody>
      </p:sp>
      <p:sp>
        <p:nvSpPr>
          <p:cNvPr id="17" name="Footer Placeholder 16"/>
          <p:cNvSpPr>
            <a:spLocks noGrp="1"/>
          </p:cNvSpPr>
          <p:nvPr>
            <p:ph type="ftr" sz="quarter" idx="11"/>
          </p:nvPr>
        </p:nvSpPr>
        <p:spPr/>
        <p:txBody>
          <a:bodyPr/>
          <a:lstStyle/>
          <a:p>
            <a:endParaRPr lang="en-US"/>
          </a:p>
        </p:txBody>
      </p:sp>
      <p:sp>
        <p:nvSpPr>
          <p:cNvPr id="29" name="Slide Number Placeholder 28"/>
          <p:cNvSpPr>
            <a:spLocks noGrp="1"/>
          </p:cNvSpPr>
          <p:nvPr>
            <p:ph type="sldNum" sz="quarter" idx="12"/>
          </p:nvPr>
        </p:nvSpPr>
        <p:spPr/>
        <p:txBody>
          <a:bodyPr lIns="0" tIns="0" rIns="0" bIns="0">
            <a:noAutofit/>
          </a:bodyPr>
          <a:lstStyle>
            <a:lvl1pPr>
              <a:defRPr sz="1400">
                <a:solidFill>
                  <a:srgbClr val="FFFFFF"/>
                </a:solidFill>
              </a:defRPr>
            </a:lvl1pPr>
          </a:lstStyle>
          <a:p>
            <a:fld id="{D86A8FF9-5D3E-40A1-B361-C7F20E9F1290}" type="slidenum">
              <a:rPr lang="en-US" smtClean="0"/>
              <a:pPr/>
              <a:t>‹#›</a:t>
            </a:fld>
            <a:endParaRPr lang="en-US"/>
          </a:p>
        </p:txBody>
      </p:sp>
      <p:sp>
        <p:nvSpPr>
          <p:cNvPr id="7" name="Rectangle 6"/>
          <p:cNvSpPr/>
          <p:nvPr/>
        </p:nvSpPr>
        <p:spPr>
          <a:xfrm>
            <a:off x="62931" y="1449303"/>
            <a:ext cx="9021537" cy="1527349"/>
          </a:xfrm>
          <a:prstGeom prst="rect">
            <a:avLst/>
          </a:prstGeom>
          <a:solidFill>
            <a:schemeClr val="accent1">
              <a:alpha val="10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0" name="Rectangle 9"/>
          <p:cNvSpPr/>
          <p:nvPr/>
        </p:nvSpPr>
        <p:spPr>
          <a:xfrm>
            <a:off x="62931" y="1396720"/>
            <a:ext cx="9021537" cy="120580"/>
          </a:xfrm>
          <a:prstGeom prst="rect">
            <a:avLst/>
          </a:prstGeom>
          <a:solidFill>
            <a:schemeClr val="accent1">
              <a:tint val="6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1" name="Rectangle 10"/>
          <p:cNvSpPr/>
          <p:nvPr/>
        </p:nvSpPr>
        <p:spPr>
          <a:xfrm>
            <a:off x="62931" y="2976649"/>
            <a:ext cx="9021537" cy="110532"/>
          </a:xfrm>
          <a:prstGeom prst="rect">
            <a:avLst/>
          </a:prstGeom>
          <a:solidFill>
            <a:schemeClr val="accent5"/>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8" name="Title 7"/>
          <p:cNvSpPr>
            <a:spLocks noGrp="1"/>
          </p:cNvSpPr>
          <p:nvPr>
            <p:ph type="ctrTitle"/>
          </p:nvPr>
        </p:nvSpPr>
        <p:spPr>
          <a:xfrm>
            <a:off x="457200" y="1505930"/>
            <a:ext cx="8229600" cy="1470025"/>
          </a:xfrm>
        </p:spPr>
        <p:txBody>
          <a:bodyPr anchor="ctr"/>
          <a:lstStyle>
            <a:lvl1pPr algn="ctr">
              <a:defRPr lang="en-US" dirty="0">
                <a:solidFill>
                  <a:srgbClr val="FFFFFF"/>
                </a:solidFill>
              </a:defRPr>
            </a:lvl1pPr>
          </a:lstStyle>
          <a:p>
            <a:r>
              <a:rPr kumimoji="0" lang="en-US" smtClean="0"/>
              <a:t>Click to edit Master title style</a:t>
            </a:r>
            <a:endParaRPr kumimoji="0" lang="en-US"/>
          </a:p>
        </p:txBody>
      </p:sp>
    </p:spTree>
  </p:cSld>
  <p:clrMapOvr>
    <a:overrideClrMapping bg1="lt1" tx1="dk1" bg2="lt2" tx2="dk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4" name="Date Placeholder 3"/>
          <p:cNvSpPr>
            <a:spLocks noGrp="1"/>
          </p:cNvSpPr>
          <p:nvPr>
            <p:ph type="dt" sz="half" idx="10"/>
          </p:nvPr>
        </p:nvSpPr>
        <p:spPr/>
        <p:txBody>
          <a:bodyPr/>
          <a:lstStyle/>
          <a:p>
            <a:fld id="{18AE9A03-11CC-4EE4-AEB5-C48697BFE119}" type="datetime1">
              <a:rPr lang="en-US" smtClean="0"/>
              <a:pPr/>
              <a:t>9/3/2025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86A8FF9-5D3E-40A1-B361-C7F20E9F1290}" type="slidenum">
              <a:rPr lang="en-US" smtClean="0"/>
              <a:pPr/>
              <a:t>‹#›</a:t>
            </a:fld>
            <a:endParaRPr lang="en-US"/>
          </a:p>
        </p:txBody>
      </p:sp>
      <p:sp>
        <p:nvSpPr>
          <p:cNvPr id="8" name="Content Placeholder 7"/>
          <p:cNvSpPr>
            <a:spLocks noGrp="1"/>
          </p:cNvSpPr>
          <p:nvPr>
            <p:ph sz="quarter" idx="1"/>
          </p:nvPr>
        </p:nvSpPr>
        <p:spPr>
          <a:xfrm>
            <a:off x="914400" y="1447800"/>
            <a:ext cx="7772400" cy="4572000"/>
          </a:xfrm>
        </p:spPr>
        <p:txBody>
          <a:bodyPr vert="horz"/>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Ref idx="1003">
        <a:schemeClr val="bg1"/>
      </p:bgRef>
    </p:bg>
    <p:spTree>
      <p:nvGrpSpPr>
        <p:cNvPr id="1" name=""/>
        <p:cNvGrpSpPr/>
        <p:nvPr/>
      </p:nvGrpSpPr>
      <p:grpSpPr>
        <a:xfrm>
          <a:off x="0" y="0"/>
          <a:ext cx="0" cy="0"/>
          <a:chOff x="0" y="0"/>
          <a:chExt cx="0" cy="0"/>
        </a:xfrm>
      </p:grpSpPr>
      <p:sp>
        <p:nvSpPr>
          <p:cNvPr id="11" name="Rectangle 10"/>
          <p:cNvSpPr/>
          <p:nvPr/>
        </p:nvSpPr>
        <p:spPr>
          <a:xfrm>
            <a:off x="0" y="0"/>
            <a:ext cx="9144000" cy="6858000"/>
          </a:xfrm>
          <a:prstGeom prst="rect">
            <a:avLst/>
          </a:prstGeom>
          <a:solidFill>
            <a:srgbClr val="FFFFFF"/>
          </a:solidFill>
          <a:ln w="12700" cap="flat"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useBgFill="1">
        <p:nvSpPr>
          <p:cNvPr id="10" name="Rounded Rectangle 9"/>
          <p:cNvSpPr/>
          <p:nvPr/>
        </p:nvSpPr>
        <p:spPr>
          <a:xfrm>
            <a:off x="65313" y="69755"/>
            <a:ext cx="9013372" cy="6692201"/>
          </a:xfrm>
          <a:prstGeom prst="roundRect">
            <a:avLst>
              <a:gd name="adj" fmla="val 4929"/>
            </a:avLst>
          </a:prstGeom>
          <a:ln w="6350" cap="sq" cmpd="sng" algn="ctr">
            <a:solidFill>
              <a:schemeClr val="tx1">
                <a:alpha val="100000"/>
              </a:schemeClr>
            </a:solidFill>
            <a:prstDash val="solid"/>
          </a:ln>
          <a:effectLst/>
        </p:spPr>
        <p:style>
          <a:lnRef idx="3">
            <a:schemeClr val="lt1"/>
          </a:lnRef>
          <a:fillRef idx="1003">
            <a:schemeClr val="lt1"/>
          </a:fillRef>
          <a:effectRef idx="1">
            <a:schemeClr val="accent1"/>
          </a:effectRef>
          <a:fontRef idx="minor">
            <a:schemeClr val="lt1"/>
          </a:fontRef>
        </p:style>
        <p:txBody>
          <a:bodyPr anchor="ctr"/>
          <a:lstStyle/>
          <a:p>
            <a:pPr algn="ctr" eaLnBrk="1" latinLnBrk="0" hangingPunct="1"/>
            <a:endParaRPr kumimoji="0" lang="en-US"/>
          </a:p>
        </p:txBody>
      </p:sp>
      <p:sp>
        <p:nvSpPr>
          <p:cNvPr id="2" name="Title 1"/>
          <p:cNvSpPr>
            <a:spLocks noGrp="1"/>
          </p:cNvSpPr>
          <p:nvPr>
            <p:ph type="title"/>
          </p:nvPr>
        </p:nvSpPr>
        <p:spPr>
          <a:xfrm>
            <a:off x="722313" y="952500"/>
            <a:ext cx="7772400" cy="1362075"/>
          </a:xfrm>
        </p:spPr>
        <p:txBody>
          <a:bodyPr anchor="b" anchorCtr="0"/>
          <a:lstStyle>
            <a:lvl1pPr algn="l">
              <a:buNone/>
              <a:defRPr sz="4000" b="0" cap="none"/>
            </a:lvl1pPr>
          </a:lstStyle>
          <a:p>
            <a:r>
              <a:rPr kumimoji="0" lang="en-US" smtClean="0"/>
              <a:t>Click to edit Master title style</a:t>
            </a:r>
            <a:endParaRPr kumimoji="0" lang="en-US"/>
          </a:p>
        </p:txBody>
      </p:sp>
      <p:sp>
        <p:nvSpPr>
          <p:cNvPr id="3" name="Text Placeholder 2"/>
          <p:cNvSpPr>
            <a:spLocks noGrp="1"/>
          </p:cNvSpPr>
          <p:nvPr>
            <p:ph type="body" idx="1"/>
          </p:nvPr>
        </p:nvSpPr>
        <p:spPr>
          <a:xfrm>
            <a:off x="722313" y="2547938"/>
            <a:ext cx="7772400" cy="1338262"/>
          </a:xfrm>
        </p:spPr>
        <p:txBody>
          <a:bodyPr anchor="t" anchorCtr="0"/>
          <a:lstStyle>
            <a:lvl1pPr marL="0" indent="0">
              <a:buNone/>
              <a:defRPr sz="2400">
                <a:solidFill>
                  <a:schemeClr val="tx1">
                    <a:tint val="75000"/>
                  </a:schemeClr>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en-US" smtClean="0"/>
              <a:t>Click to edit Master text styles</a:t>
            </a:r>
          </a:p>
        </p:txBody>
      </p:sp>
      <p:sp>
        <p:nvSpPr>
          <p:cNvPr id="4" name="Date Placeholder 3"/>
          <p:cNvSpPr>
            <a:spLocks noGrp="1"/>
          </p:cNvSpPr>
          <p:nvPr>
            <p:ph type="dt" sz="half" idx="10"/>
          </p:nvPr>
        </p:nvSpPr>
        <p:spPr/>
        <p:txBody>
          <a:bodyPr/>
          <a:lstStyle/>
          <a:p>
            <a:fld id="{161A2097-B241-4313-940E-3EB0AE2D0460}" type="datetime1">
              <a:rPr lang="en-US" smtClean="0"/>
              <a:pPr/>
              <a:t>9/3/2025</a:t>
            </a:fld>
            <a:endParaRPr lang="en-US"/>
          </a:p>
        </p:txBody>
      </p:sp>
      <p:sp>
        <p:nvSpPr>
          <p:cNvPr id="5" name="Footer Placeholder 4"/>
          <p:cNvSpPr>
            <a:spLocks noGrp="1"/>
          </p:cNvSpPr>
          <p:nvPr>
            <p:ph type="ftr" sz="quarter" idx="11"/>
          </p:nvPr>
        </p:nvSpPr>
        <p:spPr>
          <a:xfrm>
            <a:off x="800100" y="6172200"/>
            <a:ext cx="4000500" cy="457200"/>
          </a:xfrm>
        </p:spPr>
        <p:txBody>
          <a:bodyPr/>
          <a:lstStyle/>
          <a:p>
            <a:endParaRPr lang="en-US"/>
          </a:p>
        </p:txBody>
      </p:sp>
      <p:sp>
        <p:nvSpPr>
          <p:cNvPr id="7" name="Rectangle 6"/>
          <p:cNvSpPr/>
          <p:nvPr/>
        </p:nvSpPr>
        <p:spPr>
          <a:xfrm flipV="1">
            <a:off x="69412" y="2376830"/>
            <a:ext cx="9013515" cy="91440"/>
          </a:xfrm>
          <a:prstGeom prst="rect">
            <a:avLst/>
          </a:prstGeom>
          <a:solidFill>
            <a:schemeClr val="accent1">
              <a:alpha val="10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8" name="Rectangle 7"/>
          <p:cNvSpPr/>
          <p:nvPr/>
        </p:nvSpPr>
        <p:spPr>
          <a:xfrm>
            <a:off x="69146" y="2341475"/>
            <a:ext cx="9013781" cy="45719"/>
          </a:xfrm>
          <a:prstGeom prst="rect">
            <a:avLst/>
          </a:prstGeom>
          <a:solidFill>
            <a:schemeClr val="accent1">
              <a:tint val="6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9" name="Rectangle 8"/>
          <p:cNvSpPr/>
          <p:nvPr/>
        </p:nvSpPr>
        <p:spPr>
          <a:xfrm>
            <a:off x="68306" y="2468880"/>
            <a:ext cx="9014621" cy="45720"/>
          </a:xfrm>
          <a:prstGeom prst="rect">
            <a:avLst/>
          </a:prstGeom>
          <a:solidFill>
            <a:schemeClr val="accent5"/>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6" name="Slide Number Placeholder 5"/>
          <p:cNvSpPr>
            <a:spLocks noGrp="1"/>
          </p:cNvSpPr>
          <p:nvPr>
            <p:ph type="sldNum" sz="quarter" idx="12"/>
          </p:nvPr>
        </p:nvSpPr>
        <p:spPr>
          <a:xfrm>
            <a:off x="146304" y="6208776"/>
            <a:ext cx="457200" cy="457200"/>
          </a:xfrm>
        </p:spPr>
        <p:txBody>
          <a:bodyPr/>
          <a:lstStyle/>
          <a:p>
            <a:fld id="{D86A8FF9-5D3E-40A1-B361-C7F20E9F1290}" type="slidenum">
              <a:rPr lang="en-US" smtClean="0"/>
              <a:pPr/>
              <a:t>‹#›</a:t>
            </a:fld>
            <a:endParaRPr lang="en-US"/>
          </a:p>
        </p:txBody>
      </p:sp>
    </p:spTree>
  </p:cSld>
  <p:clrMapOvr>
    <a:overrideClrMapping bg1="lt1" tx1="dk1" bg2="lt2" tx2="dk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5" name="Date Placeholder 4"/>
          <p:cNvSpPr>
            <a:spLocks noGrp="1"/>
          </p:cNvSpPr>
          <p:nvPr>
            <p:ph type="dt" sz="half" idx="10"/>
          </p:nvPr>
        </p:nvSpPr>
        <p:spPr/>
        <p:txBody>
          <a:bodyPr/>
          <a:lstStyle/>
          <a:p>
            <a:fld id="{0FF99649-B3DE-44C9-9988-27D7309FE46B}" type="datetime1">
              <a:rPr lang="en-US" smtClean="0"/>
              <a:pPr/>
              <a:t>9/3/2025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86A8FF9-5D3E-40A1-B361-C7F20E9F1290}" type="slidenum">
              <a:rPr lang="en-US" smtClean="0"/>
              <a:pPr/>
              <a:t>‹#›</a:t>
            </a:fld>
            <a:endParaRPr lang="en-US"/>
          </a:p>
        </p:txBody>
      </p:sp>
      <p:sp>
        <p:nvSpPr>
          <p:cNvPr id="9" name="Content Placeholder 8"/>
          <p:cNvSpPr>
            <a:spLocks noGrp="1"/>
          </p:cNvSpPr>
          <p:nvPr>
            <p:ph sz="quarter" idx="1"/>
          </p:nvPr>
        </p:nvSpPr>
        <p:spPr>
          <a:xfrm>
            <a:off x="914400" y="1447800"/>
            <a:ext cx="3749040" cy="4572000"/>
          </a:xfrm>
        </p:spPr>
        <p:txBody>
          <a:bodyPr vert="horz"/>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11" name="Content Placeholder 10"/>
          <p:cNvSpPr>
            <a:spLocks noGrp="1"/>
          </p:cNvSpPr>
          <p:nvPr>
            <p:ph sz="quarter" idx="2"/>
          </p:nvPr>
        </p:nvSpPr>
        <p:spPr>
          <a:xfrm>
            <a:off x="4933950" y="1447800"/>
            <a:ext cx="3749040" cy="4572000"/>
          </a:xfrm>
        </p:spPr>
        <p:txBody>
          <a:bodyPr vert="horz"/>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914400" y="273050"/>
            <a:ext cx="7772400" cy="1143000"/>
          </a:xfrm>
        </p:spPr>
        <p:txBody>
          <a:bodyPr anchor="b" anchorCtr="0"/>
          <a:lstStyle>
            <a:lvl1pPr>
              <a:defRPr/>
            </a:lvl1pPr>
          </a:lstStyle>
          <a:p>
            <a:r>
              <a:rPr kumimoji="0" lang="en-US" smtClean="0"/>
              <a:t>Click to edit Master title style</a:t>
            </a:r>
            <a:endParaRPr kumimoji="0" lang="en-US"/>
          </a:p>
        </p:txBody>
      </p:sp>
      <p:sp>
        <p:nvSpPr>
          <p:cNvPr id="3" name="Text Placeholder 2"/>
          <p:cNvSpPr>
            <a:spLocks noGrp="1"/>
          </p:cNvSpPr>
          <p:nvPr>
            <p:ph type="body" idx="1"/>
          </p:nvPr>
        </p:nvSpPr>
        <p:spPr>
          <a:xfrm>
            <a:off x="914400" y="1447800"/>
            <a:ext cx="3733800" cy="762000"/>
          </a:xfrm>
          <a:noFill/>
          <a:ln w="12700" cap="sq" cmpd="sng" algn="ctr">
            <a:noFill/>
            <a:prstDash val="solid"/>
          </a:ln>
        </p:spPr>
        <p:txBody>
          <a:bodyPr lIns="91440" anchor="b" anchorCtr="0">
            <a:noAutofit/>
          </a:bodyPr>
          <a:lstStyle>
            <a:lvl1pPr marL="0" indent="0">
              <a:buNone/>
              <a:defRPr sz="2400" b="1">
                <a:solidFill>
                  <a:schemeClr val="accent1"/>
                </a:solidFill>
                <a:latin typeface="+mj-lt"/>
                <a:ea typeface="+mj-ea"/>
                <a:cs typeface="+mj-cs"/>
              </a:defRPr>
            </a:lvl1pPr>
            <a:lvl2pPr>
              <a:buNone/>
              <a:defRPr sz="2000" b="1"/>
            </a:lvl2pPr>
            <a:lvl3pPr>
              <a:buNone/>
              <a:defRPr sz="1800" b="1"/>
            </a:lvl3pPr>
            <a:lvl4pPr>
              <a:buNone/>
              <a:defRPr sz="1600" b="1"/>
            </a:lvl4pPr>
            <a:lvl5pPr>
              <a:buNone/>
              <a:defRPr sz="1600" b="1"/>
            </a:lvl5pPr>
          </a:lstStyle>
          <a:p>
            <a:pPr lvl="0" eaLnBrk="1" latinLnBrk="0" hangingPunct="1"/>
            <a:r>
              <a:rPr kumimoji="0" lang="en-US" smtClean="0"/>
              <a:t>Click to edit Master text styles</a:t>
            </a:r>
          </a:p>
        </p:txBody>
      </p:sp>
      <p:sp>
        <p:nvSpPr>
          <p:cNvPr id="4" name="Text Placeholder 3"/>
          <p:cNvSpPr>
            <a:spLocks noGrp="1"/>
          </p:cNvSpPr>
          <p:nvPr>
            <p:ph type="body" sz="half" idx="3"/>
          </p:nvPr>
        </p:nvSpPr>
        <p:spPr>
          <a:xfrm>
            <a:off x="4953000" y="1447800"/>
            <a:ext cx="3733800" cy="762000"/>
          </a:xfrm>
          <a:noFill/>
          <a:ln w="12700" cap="sq" cmpd="sng" algn="ctr">
            <a:noFill/>
            <a:prstDash val="solid"/>
          </a:ln>
        </p:spPr>
        <p:txBody>
          <a:bodyPr lIns="91440" anchor="b" anchorCtr="0">
            <a:noAutofit/>
          </a:bodyPr>
          <a:lstStyle>
            <a:lvl1pPr marL="0" indent="0">
              <a:buNone/>
              <a:defRPr sz="2400" b="1">
                <a:solidFill>
                  <a:schemeClr val="accent1"/>
                </a:solidFill>
                <a:latin typeface="+mj-lt"/>
                <a:ea typeface="+mj-ea"/>
                <a:cs typeface="+mj-cs"/>
              </a:defRPr>
            </a:lvl1pPr>
            <a:lvl2pPr>
              <a:buNone/>
              <a:defRPr sz="2000" b="1"/>
            </a:lvl2pPr>
            <a:lvl3pPr>
              <a:buNone/>
              <a:defRPr sz="1800" b="1"/>
            </a:lvl3pPr>
            <a:lvl4pPr>
              <a:buNone/>
              <a:defRPr sz="1600" b="1"/>
            </a:lvl4pPr>
            <a:lvl5pPr>
              <a:buNone/>
              <a:defRPr sz="1600" b="1"/>
            </a:lvl5pPr>
          </a:lstStyle>
          <a:p>
            <a:pPr lvl="0" eaLnBrk="1" latinLnBrk="0" hangingPunct="1"/>
            <a:r>
              <a:rPr kumimoji="0" lang="en-US" smtClean="0"/>
              <a:t>Click to edit Master text styles</a:t>
            </a:r>
          </a:p>
        </p:txBody>
      </p:sp>
      <p:sp>
        <p:nvSpPr>
          <p:cNvPr id="7" name="Date Placeholder 6"/>
          <p:cNvSpPr>
            <a:spLocks noGrp="1"/>
          </p:cNvSpPr>
          <p:nvPr>
            <p:ph type="dt" sz="half" idx="10"/>
          </p:nvPr>
        </p:nvSpPr>
        <p:spPr/>
        <p:txBody>
          <a:bodyPr/>
          <a:lstStyle/>
          <a:p>
            <a:fld id="{B099B25E-1F72-413C-AF15-91CAE3150866}" type="datetime1">
              <a:rPr lang="en-US" smtClean="0"/>
              <a:pPr/>
              <a:t>9/3/2025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D86A8FF9-5D3E-40A1-B361-C7F20E9F1290}" type="slidenum">
              <a:rPr lang="en-US" smtClean="0"/>
              <a:pPr/>
              <a:t>‹#›</a:t>
            </a:fld>
            <a:endParaRPr lang="en-US"/>
          </a:p>
        </p:txBody>
      </p:sp>
      <p:sp>
        <p:nvSpPr>
          <p:cNvPr id="11" name="Content Placeholder 10"/>
          <p:cNvSpPr>
            <a:spLocks noGrp="1"/>
          </p:cNvSpPr>
          <p:nvPr>
            <p:ph sz="half" idx="2"/>
          </p:nvPr>
        </p:nvSpPr>
        <p:spPr>
          <a:xfrm>
            <a:off x="914400" y="2247900"/>
            <a:ext cx="3733800" cy="3886200"/>
          </a:xfrm>
        </p:spPr>
        <p:txBody>
          <a:bodyPr vert="horz"/>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13" name="Content Placeholder 12"/>
          <p:cNvSpPr>
            <a:spLocks noGrp="1"/>
          </p:cNvSpPr>
          <p:nvPr>
            <p:ph sz="half" idx="4"/>
          </p:nvPr>
        </p:nvSpPr>
        <p:spPr>
          <a:xfrm>
            <a:off x="4953000" y="2247900"/>
            <a:ext cx="3733800" cy="3886200"/>
          </a:xfrm>
        </p:spPr>
        <p:txBody>
          <a:bodyPr vert="horz"/>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3" name="Date Placeholder 2"/>
          <p:cNvSpPr>
            <a:spLocks noGrp="1"/>
          </p:cNvSpPr>
          <p:nvPr>
            <p:ph type="dt" sz="half" idx="10"/>
          </p:nvPr>
        </p:nvSpPr>
        <p:spPr/>
        <p:txBody>
          <a:bodyPr/>
          <a:lstStyle/>
          <a:p>
            <a:fld id="{9539B290-A590-4D3A-84F0-BDAF4D7B6D7E}" type="datetime1">
              <a:rPr lang="en-US" smtClean="0"/>
              <a:pPr/>
              <a:t>9/3/2025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D86A8FF9-5D3E-40A1-B361-C7F20E9F1290}"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7F896BA1-560F-4702-A823-8A4B6933223B}" type="datetime1">
              <a:rPr lang="en-US" smtClean="0"/>
              <a:pPr/>
              <a:t>9/3/2025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D86A8FF9-5D3E-40A1-B361-C7F20E9F1290}"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8" name="Rectangle 7"/>
          <p:cNvSpPr/>
          <p:nvPr/>
        </p:nvSpPr>
        <p:spPr>
          <a:xfrm>
            <a:off x="0" y="0"/>
            <a:ext cx="9144000" cy="6858000"/>
          </a:xfrm>
          <a:prstGeom prst="rect">
            <a:avLst/>
          </a:prstGeom>
          <a:solidFill>
            <a:srgbClr val="FFFFFF"/>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useBgFill="1">
        <p:nvSpPr>
          <p:cNvPr id="9" name="Rounded Rectangle 8"/>
          <p:cNvSpPr/>
          <p:nvPr/>
        </p:nvSpPr>
        <p:spPr>
          <a:xfrm>
            <a:off x="64008" y="69755"/>
            <a:ext cx="9013372" cy="6693408"/>
          </a:xfrm>
          <a:prstGeom prst="roundRect">
            <a:avLst>
              <a:gd name="adj" fmla="val 4929"/>
            </a:avLst>
          </a:prstGeom>
          <a:ln w="6350" cap="sq" cmpd="sng" algn="ctr">
            <a:solidFill>
              <a:schemeClr val="tx1">
                <a:alpha val="100000"/>
              </a:schemeClr>
            </a:solidFill>
            <a:prstDash val="solid"/>
          </a:ln>
          <a:effectLst/>
        </p:spPr>
        <p:style>
          <a:lnRef idx="3">
            <a:schemeClr val="lt1"/>
          </a:lnRef>
          <a:fillRef idx="1001">
            <a:schemeClr val="lt1"/>
          </a:fillRef>
          <a:effectRef idx="1">
            <a:schemeClr val="accent1"/>
          </a:effectRef>
          <a:fontRef idx="minor">
            <a:schemeClr val="lt1"/>
          </a:fontRef>
        </p:style>
        <p:txBody>
          <a:bodyPr anchor="ctr"/>
          <a:lstStyle/>
          <a:p>
            <a:pPr algn="ctr" eaLnBrk="1" latinLnBrk="0" hangingPunct="1"/>
            <a:endParaRPr kumimoji="0" lang="en-US"/>
          </a:p>
        </p:txBody>
      </p:sp>
      <p:sp>
        <p:nvSpPr>
          <p:cNvPr id="2" name="Title 1"/>
          <p:cNvSpPr>
            <a:spLocks noGrp="1"/>
          </p:cNvSpPr>
          <p:nvPr>
            <p:ph type="title"/>
          </p:nvPr>
        </p:nvSpPr>
        <p:spPr>
          <a:xfrm>
            <a:off x="914400" y="273050"/>
            <a:ext cx="7772400" cy="1143000"/>
          </a:xfrm>
        </p:spPr>
        <p:txBody>
          <a:bodyPr anchor="b" anchorCtr="0"/>
          <a:lstStyle>
            <a:lvl1pPr algn="l">
              <a:buNone/>
              <a:defRPr sz="4000" b="0"/>
            </a:lvl1pPr>
          </a:lstStyle>
          <a:p>
            <a:r>
              <a:rPr kumimoji="0" lang="en-US" smtClean="0"/>
              <a:t>Click to edit Master title style</a:t>
            </a:r>
            <a:endParaRPr kumimoji="0" lang="en-US"/>
          </a:p>
        </p:txBody>
      </p:sp>
      <p:sp>
        <p:nvSpPr>
          <p:cNvPr id="3" name="Text Placeholder 2"/>
          <p:cNvSpPr>
            <a:spLocks noGrp="1"/>
          </p:cNvSpPr>
          <p:nvPr>
            <p:ph type="body" idx="2"/>
          </p:nvPr>
        </p:nvSpPr>
        <p:spPr>
          <a:xfrm>
            <a:off x="914400" y="1600200"/>
            <a:ext cx="1905000" cy="4495800"/>
          </a:xfrm>
        </p:spPr>
        <p:txBody>
          <a:bodyPr/>
          <a:lstStyle>
            <a:lvl1pPr marL="0" indent="0">
              <a:buNone/>
              <a:defRPr sz="1800"/>
            </a:lvl1pPr>
            <a:lvl2pPr>
              <a:buNone/>
              <a:defRPr sz="1200"/>
            </a:lvl2pPr>
            <a:lvl3pPr>
              <a:buNone/>
              <a:defRPr sz="1000"/>
            </a:lvl3pPr>
            <a:lvl4pPr>
              <a:buNone/>
              <a:defRPr sz="900"/>
            </a:lvl4pPr>
            <a:lvl5pPr>
              <a:buNone/>
              <a:defRPr sz="900"/>
            </a:lvl5pPr>
          </a:lstStyle>
          <a:p>
            <a:pPr lvl="0" eaLnBrk="1" latinLnBrk="0" hangingPunct="1"/>
            <a:r>
              <a:rPr kumimoji="0" lang="en-US" smtClean="0"/>
              <a:t>Click to edit Master text styles</a:t>
            </a:r>
          </a:p>
        </p:txBody>
      </p:sp>
      <p:sp>
        <p:nvSpPr>
          <p:cNvPr id="5" name="Date Placeholder 4"/>
          <p:cNvSpPr>
            <a:spLocks noGrp="1"/>
          </p:cNvSpPr>
          <p:nvPr>
            <p:ph type="dt" sz="half" idx="10"/>
          </p:nvPr>
        </p:nvSpPr>
        <p:spPr/>
        <p:txBody>
          <a:bodyPr/>
          <a:lstStyle/>
          <a:p>
            <a:fld id="{9CD9CC90-171E-4569-BE41-5DC6F8F3EAA1}" type="datetime1">
              <a:rPr lang="en-US" smtClean="0"/>
              <a:pPr/>
              <a:t>9/3/2025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86A8FF9-5D3E-40A1-B361-C7F20E9F1290}" type="slidenum">
              <a:rPr lang="en-US" smtClean="0"/>
              <a:pPr/>
              <a:t>‹#›</a:t>
            </a:fld>
            <a:endParaRPr lang="en-US"/>
          </a:p>
        </p:txBody>
      </p:sp>
      <p:sp>
        <p:nvSpPr>
          <p:cNvPr id="11" name="Content Placeholder 10"/>
          <p:cNvSpPr>
            <a:spLocks noGrp="1"/>
          </p:cNvSpPr>
          <p:nvPr>
            <p:ph sz="quarter" idx="1"/>
          </p:nvPr>
        </p:nvSpPr>
        <p:spPr>
          <a:xfrm>
            <a:off x="2971800" y="1600200"/>
            <a:ext cx="5715000" cy="4495800"/>
          </a:xfrm>
        </p:spPr>
        <p:txBody>
          <a:bodyPr vert="horz"/>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14400" y="4900550"/>
            <a:ext cx="7315200" cy="522288"/>
          </a:xfrm>
        </p:spPr>
        <p:txBody>
          <a:bodyPr anchor="ctr">
            <a:noAutofit/>
          </a:bodyPr>
          <a:lstStyle>
            <a:lvl1pPr algn="l">
              <a:buNone/>
              <a:defRPr sz="2800" b="0"/>
            </a:lvl1pPr>
          </a:lstStyle>
          <a:p>
            <a:r>
              <a:rPr kumimoji="0" lang="en-US" smtClean="0"/>
              <a:t>Click to edit Master title style</a:t>
            </a:r>
            <a:endParaRPr kumimoji="0" lang="en-US"/>
          </a:p>
        </p:txBody>
      </p:sp>
      <p:sp>
        <p:nvSpPr>
          <p:cNvPr id="4" name="Text Placeholder 3"/>
          <p:cNvSpPr>
            <a:spLocks noGrp="1"/>
          </p:cNvSpPr>
          <p:nvPr>
            <p:ph type="body" sz="half" idx="2"/>
          </p:nvPr>
        </p:nvSpPr>
        <p:spPr>
          <a:xfrm>
            <a:off x="914400" y="5445825"/>
            <a:ext cx="7315200" cy="685800"/>
          </a:xfrm>
        </p:spPr>
        <p:txBody>
          <a:bodyPr/>
          <a:lstStyle>
            <a:lvl1pPr marL="0" indent="0">
              <a:buFontTx/>
              <a:buNone/>
              <a:defRPr sz="1600"/>
            </a:lvl1pPr>
            <a:lvl2pPr>
              <a:defRPr sz="1200"/>
            </a:lvl2pPr>
            <a:lvl3pPr>
              <a:defRPr sz="1000"/>
            </a:lvl3pPr>
            <a:lvl4pPr>
              <a:defRPr sz="900"/>
            </a:lvl4pPr>
            <a:lvl5pPr>
              <a:defRPr sz="900"/>
            </a:lvl5pPr>
          </a:lstStyle>
          <a:p>
            <a:pPr lvl="0" eaLnBrk="1" latinLnBrk="0" hangingPunct="1"/>
            <a:r>
              <a:rPr kumimoji="0" lang="en-US" smtClean="0"/>
              <a:t>Click to edit Master text styles</a:t>
            </a:r>
          </a:p>
        </p:txBody>
      </p:sp>
      <p:sp>
        <p:nvSpPr>
          <p:cNvPr id="5" name="Date Placeholder 4"/>
          <p:cNvSpPr>
            <a:spLocks noGrp="1"/>
          </p:cNvSpPr>
          <p:nvPr>
            <p:ph type="dt" sz="half" idx="10"/>
          </p:nvPr>
        </p:nvSpPr>
        <p:spPr/>
        <p:txBody>
          <a:bodyPr/>
          <a:lstStyle/>
          <a:p>
            <a:fld id="{7A1498D8-9A5E-421A-8369-AB3620FA07D7}" type="datetime1">
              <a:rPr lang="en-US" smtClean="0"/>
              <a:pPr/>
              <a:t>9/3/2025</a:t>
            </a:fld>
            <a:endParaRPr lang="en-US"/>
          </a:p>
        </p:txBody>
      </p:sp>
      <p:sp>
        <p:nvSpPr>
          <p:cNvPr id="6" name="Footer Placeholder 5"/>
          <p:cNvSpPr>
            <a:spLocks noGrp="1"/>
          </p:cNvSpPr>
          <p:nvPr>
            <p:ph type="ftr" sz="quarter" idx="11"/>
          </p:nvPr>
        </p:nvSpPr>
        <p:spPr>
          <a:xfrm>
            <a:off x="914400" y="6172200"/>
            <a:ext cx="3886200" cy="457200"/>
          </a:xfrm>
        </p:spPr>
        <p:txBody>
          <a:bodyPr/>
          <a:lstStyle/>
          <a:p>
            <a:endParaRPr lang="en-US"/>
          </a:p>
        </p:txBody>
      </p:sp>
      <p:sp>
        <p:nvSpPr>
          <p:cNvPr id="7" name="Slide Number Placeholder 6"/>
          <p:cNvSpPr>
            <a:spLocks noGrp="1"/>
          </p:cNvSpPr>
          <p:nvPr>
            <p:ph type="sldNum" sz="quarter" idx="12"/>
          </p:nvPr>
        </p:nvSpPr>
        <p:spPr>
          <a:xfrm>
            <a:off x="146304" y="6208776"/>
            <a:ext cx="457200" cy="457200"/>
          </a:xfrm>
        </p:spPr>
        <p:txBody>
          <a:bodyPr/>
          <a:lstStyle/>
          <a:p>
            <a:fld id="{D86A8FF9-5D3E-40A1-B361-C7F20E9F1290}" type="slidenum">
              <a:rPr lang="en-US" smtClean="0"/>
              <a:pPr/>
              <a:t>‹#›</a:t>
            </a:fld>
            <a:endParaRPr lang="en-US"/>
          </a:p>
        </p:txBody>
      </p:sp>
      <p:sp>
        <p:nvSpPr>
          <p:cNvPr id="11" name="Rectangle 10"/>
          <p:cNvSpPr/>
          <p:nvPr/>
        </p:nvSpPr>
        <p:spPr>
          <a:xfrm flipV="1">
            <a:off x="68307" y="4683555"/>
            <a:ext cx="9006840" cy="91440"/>
          </a:xfrm>
          <a:prstGeom prst="rect">
            <a:avLst/>
          </a:prstGeom>
          <a:solidFill>
            <a:schemeClr val="accent1">
              <a:alpha val="10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2" name="Rectangle 11"/>
          <p:cNvSpPr/>
          <p:nvPr/>
        </p:nvSpPr>
        <p:spPr>
          <a:xfrm>
            <a:off x="68508" y="4650474"/>
            <a:ext cx="9006639" cy="45719"/>
          </a:xfrm>
          <a:prstGeom prst="rect">
            <a:avLst/>
          </a:prstGeom>
          <a:solidFill>
            <a:schemeClr val="accent1">
              <a:tint val="6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3" name="Rectangle 12"/>
          <p:cNvSpPr/>
          <p:nvPr/>
        </p:nvSpPr>
        <p:spPr>
          <a:xfrm>
            <a:off x="68510" y="4773224"/>
            <a:ext cx="9006637" cy="48807"/>
          </a:xfrm>
          <a:prstGeom prst="rect">
            <a:avLst/>
          </a:prstGeom>
          <a:solidFill>
            <a:schemeClr val="accent5"/>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3" name="Picture Placeholder 2"/>
          <p:cNvSpPr>
            <a:spLocks noGrp="1"/>
          </p:cNvSpPr>
          <p:nvPr>
            <p:ph type="pic" idx="1"/>
          </p:nvPr>
        </p:nvSpPr>
        <p:spPr>
          <a:xfrm>
            <a:off x="68308" y="66675"/>
            <a:ext cx="9001873" cy="4581525"/>
          </a:xfrm>
          <a:prstGeom prst="round2SameRect">
            <a:avLst>
              <a:gd name="adj1" fmla="val 7101"/>
              <a:gd name="adj2" fmla="val 0"/>
            </a:avLst>
          </a:prstGeom>
          <a:solidFill>
            <a:schemeClr val="bg2"/>
          </a:solidFill>
          <a:ln w="6350">
            <a:solidFill>
              <a:schemeClr val="tx1"/>
            </a:solidFill>
          </a:ln>
        </p:spPr>
        <p:txBody>
          <a:bodyPr/>
          <a:lstStyle>
            <a:lvl1pPr marL="0" indent="0">
              <a:buNone/>
              <a:defRPr sz="3200"/>
            </a:lvl1pPr>
          </a:lstStyle>
          <a:p>
            <a:r>
              <a:rPr kumimoji="0" lang="en-US" smtClean="0"/>
              <a:t>Click icon to add picture</a:t>
            </a:r>
            <a:endParaRPr kumimoji="0"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p:txBody>
          <a:bodyPr vert="eaVer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D2A00F71-3D73-46AB-AAE0-5087B6FE539D}" type="datetime1">
              <a:rPr lang="en-US" smtClean="0"/>
              <a:pPr/>
              <a:t>9/3/2025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86A8FF9-5D3E-40A1-B361-C7F20E9F1290}"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41"/>
            <a:ext cx="2011680" cy="5851525"/>
          </a:xfrm>
        </p:spPr>
        <p:txBody>
          <a:bodyPr vert="eaVert"/>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a:xfrm>
            <a:off x="914400" y="274640"/>
            <a:ext cx="5562600" cy="5851525"/>
          </a:xfrm>
        </p:spPr>
        <p:txBody>
          <a:bodyPr vert="eaVer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CD2C47A1-B910-4B48-B84D-E21D4CC8FB3C}" type="datetime1">
              <a:rPr lang="en-US" smtClean="0"/>
              <a:pPr/>
              <a:t>9/3/2025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86A8FF9-5D3E-40A1-B361-C7F20E9F1290}"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9" name="Rectangle 8"/>
          <p:cNvSpPr/>
          <p:nvPr/>
        </p:nvSpPr>
        <p:spPr>
          <a:xfrm>
            <a:off x="0" y="0"/>
            <a:ext cx="9144000" cy="6858000"/>
          </a:xfrm>
          <a:prstGeom prst="rect">
            <a:avLst/>
          </a:prstGeom>
          <a:solidFill>
            <a:srgbClr val="FFFFFF"/>
          </a:solidFill>
          <a:ln w="12700" cap="flat"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useBgFill="1">
        <p:nvSpPr>
          <p:cNvPr id="8" name="Rounded Rectangle 7"/>
          <p:cNvSpPr/>
          <p:nvPr/>
        </p:nvSpPr>
        <p:spPr>
          <a:xfrm>
            <a:off x="64008" y="69755"/>
            <a:ext cx="9013372" cy="6693408"/>
          </a:xfrm>
          <a:prstGeom prst="roundRect">
            <a:avLst>
              <a:gd name="adj" fmla="val 4929"/>
            </a:avLst>
          </a:prstGeom>
          <a:ln w="6350" cap="sq" cmpd="sng" algn="ctr">
            <a:solidFill>
              <a:schemeClr val="tx1">
                <a:alpha val="100000"/>
              </a:schemeClr>
            </a:solidFill>
            <a:prstDash val="solid"/>
          </a:ln>
          <a:effectLst/>
        </p:spPr>
        <p:style>
          <a:lnRef idx="3">
            <a:schemeClr val="lt1"/>
          </a:lnRef>
          <a:fillRef idx="1001">
            <a:schemeClr val="lt1"/>
          </a:fillRef>
          <a:effectRef idx="1">
            <a:schemeClr val="accent1"/>
          </a:effectRef>
          <a:fontRef idx="minor">
            <a:schemeClr val="lt1"/>
          </a:fontRef>
        </p:style>
        <p:txBody>
          <a:bodyPr anchor="ctr"/>
          <a:lstStyle/>
          <a:p>
            <a:pPr algn="ctr" eaLnBrk="1" latinLnBrk="0" hangingPunct="1"/>
            <a:endParaRPr kumimoji="0" lang="en-US"/>
          </a:p>
        </p:txBody>
      </p:sp>
      <p:sp>
        <p:nvSpPr>
          <p:cNvPr id="22" name="Title Placeholder 21"/>
          <p:cNvSpPr>
            <a:spLocks noGrp="1"/>
          </p:cNvSpPr>
          <p:nvPr>
            <p:ph type="title"/>
          </p:nvPr>
        </p:nvSpPr>
        <p:spPr>
          <a:xfrm>
            <a:off x="914400" y="274638"/>
            <a:ext cx="7772400" cy="1143000"/>
          </a:xfrm>
          <a:prstGeom prst="rect">
            <a:avLst/>
          </a:prstGeom>
        </p:spPr>
        <p:txBody>
          <a:bodyPr bIns="91440" anchor="b" anchorCtr="0">
            <a:normAutofit/>
          </a:bodyPr>
          <a:lstStyle/>
          <a:p>
            <a:r>
              <a:rPr kumimoji="0" lang="en-US" smtClean="0"/>
              <a:t>Click to edit Master title style</a:t>
            </a:r>
            <a:endParaRPr kumimoji="0" lang="en-US"/>
          </a:p>
        </p:txBody>
      </p:sp>
      <p:sp>
        <p:nvSpPr>
          <p:cNvPr id="13" name="Text Placeholder 12"/>
          <p:cNvSpPr>
            <a:spLocks noGrp="1"/>
          </p:cNvSpPr>
          <p:nvPr>
            <p:ph type="body" idx="1"/>
          </p:nvPr>
        </p:nvSpPr>
        <p:spPr>
          <a:xfrm>
            <a:off x="914400" y="1447800"/>
            <a:ext cx="7772400" cy="4572000"/>
          </a:xfrm>
          <a:prstGeom prst="rect">
            <a:avLst/>
          </a:prstGeom>
        </p:spPr>
        <p:txBody>
          <a:bodyPr>
            <a:normAutofit/>
          </a:bodyPr>
          <a:lstStyle/>
          <a:p>
            <a:pPr lvl="0" eaLnBrk="1" latinLnBrk="0" hangingPunct="1"/>
            <a:r>
              <a:rPr kumimoji="0" lang="en-US" smtClean="0"/>
              <a:t>Click to edit Master text styles</a:t>
            </a:r>
          </a:p>
          <a:p>
            <a:pPr lvl="1" eaLnBrk="1" latinLnBrk="0" hangingPunct="1"/>
            <a:r>
              <a:rPr kumimoji="0" lang="en-US" smtClean="0"/>
              <a:t>Second level</a:t>
            </a:r>
          </a:p>
          <a:p>
            <a:pPr lvl="2" eaLnBrk="1" latinLnBrk="0" hangingPunct="1"/>
            <a:r>
              <a:rPr kumimoji="0" lang="en-US" smtClean="0"/>
              <a:t>Third level</a:t>
            </a:r>
          </a:p>
          <a:p>
            <a:pPr lvl="3" eaLnBrk="1" latinLnBrk="0" hangingPunct="1"/>
            <a:r>
              <a:rPr kumimoji="0" lang="en-US" smtClean="0"/>
              <a:t>Fourth level</a:t>
            </a:r>
          </a:p>
          <a:p>
            <a:pPr lvl="4" eaLnBrk="1" latinLnBrk="0" hangingPunct="1"/>
            <a:r>
              <a:rPr kumimoji="0" lang="en-US" smtClean="0"/>
              <a:t>Fifth level</a:t>
            </a:r>
            <a:endParaRPr kumimoji="0" lang="en-US"/>
          </a:p>
        </p:txBody>
      </p:sp>
      <p:sp>
        <p:nvSpPr>
          <p:cNvPr id="14" name="Date Placeholder 13"/>
          <p:cNvSpPr>
            <a:spLocks noGrp="1"/>
          </p:cNvSpPr>
          <p:nvPr>
            <p:ph type="dt" sz="half" idx="2"/>
          </p:nvPr>
        </p:nvSpPr>
        <p:spPr>
          <a:xfrm>
            <a:off x="6172200" y="6191250"/>
            <a:ext cx="2476500" cy="476250"/>
          </a:xfrm>
          <a:prstGeom prst="rect">
            <a:avLst/>
          </a:prstGeom>
        </p:spPr>
        <p:txBody>
          <a:bodyPr anchor="ctr" anchorCtr="0"/>
          <a:lstStyle>
            <a:lvl1pPr algn="r" eaLnBrk="1" latinLnBrk="0" hangingPunct="1">
              <a:defRPr kumimoji="0" sz="1400">
                <a:solidFill>
                  <a:schemeClr val="tx2"/>
                </a:solidFill>
              </a:defRPr>
            </a:lvl1pPr>
          </a:lstStyle>
          <a:p>
            <a:fld id="{35117658-EBC3-4752-B30E-EF918563D90F}" type="datetime1">
              <a:rPr lang="en-US" smtClean="0"/>
              <a:pPr/>
              <a:t>9/3/2025</a:t>
            </a:fld>
            <a:endParaRPr lang="en-US"/>
          </a:p>
        </p:txBody>
      </p:sp>
      <p:sp>
        <p:nvSpPr>
          <p:cNvPr id="3" name="Footer Placeholder 2"/>
          <p:cNvSpPr>
            <a:spLocks noGrp="1"/>
          </p:cNvSpPr>
          <p:nvPr>
            <p:ph type="ftr" sz="quarter" idx="3"/>
          </p:nvPr>
        </p:nvSpPr>
        <p:spPr>
          <a:xfrm>
            <a:off x="914400" y="6172200"/>
            <a:ext cx="3962400" cy="457200"/>
          </a:xfrm>
          <a:prstGeom prst="rect">
            <a:avLst/>
          </a:prstGeom>
        </p:spPr>
        <p:txBody>
          <a:bodyPr anchor="ctr" anchorCtr="0"/>
          <a:lstStyle>
            <a:lvl1pPr eaLnBrk="1" latinLnBrk="0" hangingPunct="1">
              <a:defRPr kumimoji="0" sz="1400">
                <a:solidFill>
                  <a:schemeClr val="tx2"/>
                </a:solidFill>
              </a:defRPr>
            </a:lvl1pPr>
          </a:lstStyle>
          <a:p>
            <a:endParaRPr lang="en-US"/>
          </a:p>
        </p:txBody>
      </p:sp>
      <p:sp>
        <p:nvSpPr>
          <p:cNvPr id="23" name="Slide Number Placeholder 22"/>
          <p:cNvSpPr>
            <a:spLocks noGrp="1"/>
          </p:cNvSpPr>
          <p:nvPr>
            <p:ph type="sldNum" sz="quarter" idx="4"/>
          </p:nvPr>
        </p:nvSpPr>
        <p:spPr>
          <a:xfrm>
            <a:off x="146304" y="6210300"/>
            <a:ext cx="457200" cy="457200"/>
          </a:xfrm>
          <a:prstGeom prst="ellipse">
            <a:avLst/>
          </a:prstGeom>
          <a:solidFill>
            <a:schemeClr val="accent1"/>
          </a:solidFill>
        </p:spPr>
        <p:txBody>
          <a:bodyPr wrap="none" lIns="0" tIns="0" rIns="0" bIns="0" anchor="ctr" anchorCtr="1">
            <a:noAutofit/>
          </a:bodyPr>
          <a:lstStyle>
            <a:lvl1pPr algn="ctr" eaLnBrk="1" latinLnBrk="0" hangingPunct="1">
              <a:defRPr kumimoji="0" sz="1400">
                <a:solidFill>
                  <a:srgbClr val="FFFFFF"/>
                </a:solidFill>
                <a:latin typeface="+mj-lt"/>
                <a:ea typeface="+mj-ea"/>
                <a:cs typeface="+mj-cs"/>
              </a:defRPr>
            </a:lvl1pPr>
          </a:lstStyle>
          <a:p>
            <a:fld id="{D86A8FF9-5D3E-40A1-B361-C7F20E9F1290}"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hf hdr="0" ftr="0" dt="0"/>
  <p:txStyles>
    <p:titleStyle>
      <a:lvl1pPr algn="l" rtl="0" eaLnBrk="1" latinLnBrk="0" hangingPunct="1">
        <a:spcBef>
          <a:spcPct val="0"/>
        </a:spcBef>
        <a:buNone/>
        <a:defRPr kumimoji="0" sz="4000" kern="1200">
          <a:solidFill>
            <a:schemeClr val="tx2"/>
          </a:solidFill>
          <a:latin typeface="+mj-lt"/>
          <a:ea typeface="+mj-ea"/>
          <a:cs typeface="+mj-cs"/>
        </a:defRPr>
      </a:lvl1pPr>
    </p:titleStyle>
    <p:bodyStyle>
      <a:lvl1pPr marL="274320" indent="-274320" algn="l" rtl="0" eaLnBrk="1" latinLnBrk="0" hangingPunct="1">
        <a:spcBef>
          <a:spcPts val="580"/>
        </a:spcBef>
        <a:buClr>
          <a:schemeClr val="accent1"/>
        </a:buClr>
        <a:buSzPct val="85000"/>
        <a:buFont typeface="Wingdings 2"/>
        <a:buChar char=""/>
        <a:defRPr kumimoji="0" sz="2600" kern="1200">
          <a:solidFill>
            <a:schemeClr val="tx1"/>
          </a:solidFill>
          <a:latin typeface="+mn-lt"/>
          <a:ea typeface="+mn-ea"/>
          <a:cs typeface="+mn-cs"/>
        </a:defRPr>
      </a:lvl1pPr>
      <a:lvl2pPr marL="548640" indent="-228600" algn="l" rtl="0" eaLnBrk="1" latinLnBrk="0" hangingPunct="1">
        <a:spcBef>
          <a:spcPts val="370"/>
        </a:spcBef>
        <a:buClr>
          <a:schemeClr val="accent2"/>
        </a:buClr>
        <a:buSzPct val="85000"/>
        <a:buFont typeface="Wingdings 2"/>
        <a:buChar char=""/>
        <a:defRPr kumimoji="0" sz="2400" kern="1200">
          <a:solidFill>
            <a:schemeClr val="tx1"/>
          </a:solidFill>
          <a:latin typeface="+mn-lt"/>
          <a:ea typeface="+mn-ea"/>
          <a:cs typeface="+mn-cs"/>
        </a:defRPr>
      </a:lvl2pPr>
      <a:lvl3pPr marL="822960" indent="-228600" algn="l" rtl="0" eaLnBrk="1" latinLnBrk="0" hangingPunct="1">
        <a:spcBef>
          <a:spcPts val="370"/>
        </a:spcBef>
        <a:buClr>
          <a:schemeClr val="accent1">
            <a:tint val="60000"/>
          </a:schemeClr>
        </a:buClr>
        <a:buSzPct val="85000"/>
        <a:buFont typeface="Wingdings 2"/>
        <a:buChar char=""/>
        <a:defRPr kumimoji="0" sz="2000" kern="1200">
          <a:solidFill>
            <a:schemeClr val="tx1"/>
          </a:solidFill>
          <a:latin typeface="+mn-lt"/>
          <a:ea typeface="+mn-ea"/>
          <a:cs typeface="+mn-cs"/>
        </a:defRPr>
      </a:lvl3pPr>
      <a:lvl4pPr marL="1097280" indent="-228600" algn="l" rtl="0" eaLnBrk="1" latinLnBrk="0" hangingPunct="1">
        <a:spcBef>
          <a:spcPts val="370"/>
        </a:spcBef>
        <a:buClr>
          <a:schemeClr val="accent3"/>
        </a:buClr>
        <a:buSzPct val="80000"/>
        <a:buFont typeface="Wingdings 2"/>
        <a:buChar char=""/>
        <a:defRPr kumimoji="0" sz="2000" kern="1200">
          <a:solidFill>
            <a:schemeClr val="tx1"/>
          </a:solidFill>
          <a:latin typeface="+mn-lt"/>
          <a:ea typeface="+mn-ea"/>
          <a:cs typeface="+mn-cs"/>
        </a:defRPr>
      </a:lvl4pPr>
      <a:lvl5pPr marL="1371600" indent="-228600" algn="l" rtl="0" eaLnBrk="1" latinLnBrk="0" hangingPunct="1">
        <a:spcBef>
          <a:spcPts val="370"/>
        </a:spcBef>
        <a:buClr>
          <a:schemeClr val="accent3"/>
        </a:buClr>
        <a:buFontTx/>
        <a:buChar char="o"/>
        <a:defRPr kumimoji="0" sz="2000" kern="1200">
          <a:solidFill>
            <a:schemeClr val="tx1"/>
          </a:solidFill>
          <a:latin typeface="+mn-lt"/>
          <a:ea typeface="+mn-ea"/>
          <a:cs typeface="+mn-cs"/>
        </a:defRPr>
      </a:lvl5pPr>
      <a:lvl6pPr marL="1645920" indent="-228600" algn="l" rtl="0" eaLnBrk="1" latinLnBrk="0" hangingPunct="1">
        <a:spcBef>
          <a:spcPts val="370"/>
        </a:spcBef>
        <a:buClr>
          <a:schemeClr val="accent3"/>
        </a:buClr>
        <a:buChar char="•"/>
        <a:defRPr kumimoji="0" sz="1800" kern="1200" baseline="0">
          <a:solidFill>
            <a:schemeClr val="tx1"/>
          </a:solidFill>
          <a:latin typeface="+mn-lt"/>
          <a:ea typeface="+mn-ea"/>
          <a:cs typeface="+mn-cs"/>
        </a:defRPr>
      </a:lvl6pPr>
      <a:lvl7pPr marL="1920240" indent="-228600" algn="l" rtl="0" eaLnBrk="1" latinLnBrk="0" hangingPunct="1">
        <a:spcBef>
          <a:spcPts val="370"/>
        </a:spcBef>
        <a:buClr>
          <a:schemeClr val="accent2"/>
        </a:buClr>
        <a:buChar char="•"/>
        <a:defRPr kumimoji="0" sz="1800" kern="1200">
          <a:solidFill>
            <a:schemeClr val="tx1"/>
          </a:solidFill>
          <a:latin typeface="+mn-lt"/>
          <a:ea typeface="+mn-ea"/>
          <a:cs typeface="+mn-cs"/>
        </a:defRPr>
      </a:lvl7pPr>
      <a:lvl8pPr marL="2194560" indent="-228600" algn="l" rtl="0" eaLnBrk="1" latinLnBrk="0" hangingPunct="1">
        <a:spcBef>
          <a:spcPts val="370"/>
        </a:spcBef>
        <a:buClr>
          <a:schemeClr val="accent1">
            <a:tint val="60000"/>
          </a:schemeClr>
        </a:buClr>
        <a:buChar char="•"/>
        <a:defRPr kumimoji="0" sz="1800" kern="1200">
          <a:solidFill>
            <a:schemeClr val="tx1"/>
          </a:solidFill>
          <a:latin typeface="+mn-lt"/>
          <a:ea typeface="+mn-ea"/>
          <a:cs typeface="+mn-cs"/>
        </a:defRPr>
      </a:lvl8pPr>
      <a:lvl9pPr marL="2468880" indent="-228600" algn="l" rtl="0" eaLnBrk="1" latinLnBrk="0" hangingPunct="1">
        <a:spcBef>
          <a:spcPts val="370"/>
        </a:spcBef>
        <a:buClr>
          <a:schemeClr val="accent2">
            <a:tint val="60000"/>
          </a:schemeClr>
        </a:buClr>
        <a:buChar char="•"/>
        <a:defRPr kumimoji="0" sz="1800" kern="120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xml"/><Relationship Id="rId1" Type="http://schemas.openxmlformats.org/officeDocument/2006/relationships/vmlDrawing" Target="../drawings/vmlDrawing1.vml"/><Relationship Id="rId5" Type="http://schemas.openxmlformats.org/officeDocument/2006/relationships/image" Target="../media/image3.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5.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2.xml"/><Relationship Id="rId5" Type="http://schemas.openxmlformats.org/officeDocument/2006/relationships/image" Target="../media/image12.png"/><Relationship Id="rId4" Type="http://schemas.openxmlformats.org/officeDocument/2006/relationships/image" Target="../media/image11.png"/></Relationships>
</file>

<file path=ppt/slides/_rels/slide23.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4.xml"/><Relationship Id="rId1" Type="http://schemas.openxmlformats.org/officeDocument/2006/relationships/slideLayout" Target="../slideLayouts/slideLayout5.xml"/><Relationship Id="rId4" Type="http://schemas.openxmlformats.org/officeDocument/2006/relationships/image" Target="../media/image15.png"/></Relationships>
</file>

<file path=ppt/slides/_rels/slide27.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0.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jpeg"/><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838200" y="3657600"/>
            <a:ext cx="8077200" cy="2362200"/>
          </a:xfrm>
        </p:spPr>
        <p:txBody>
          <a:bodyPr>
            <a:noAutofit/>
          </a:bodyPr>
          <a:lstStyle/>
          <a:p>
            <a:endParaRPr lang="en-US" dirty="0"/>
          </a:p>
          <a:p>
            <a:r>
              <a:rPr lang="en-US" dirty="0" err="1" smtClean="0"/>
              <a:t>Dr.Girum</a:t>
            </a:r>
            <a:r>
              <a:rPr lang="en-US" dirty="0" smtClean="0"/>
              <a:t> </a:t>
            </a:r>
            <a:r>
              <a:rPr lang="en-US" dirty="0" err="1" smtClean="0"/>
              <a:t>Gizachew</a:t>
            </a:r>
            <a:endParaRPr lang="en-US" dirty="0" smtClean="0"/>
          </a:p>
          <a:p>
            <a:r>
              <a:rPr lang="en-US" dirty="0" err="1" smtClean="0"/>
              <a:t>Dept.of</a:t>
            </a:r>
            <a:r>
              <a:rPr lang="en-US" dirty="0" smtClean="0"/>
              <a:t> Obstetrics and Gynecology</a:t>
            </a:r>
            <a:endParaRPr lang="en-US" dirty="0"/>
          </a:p>
        </p:txBody>
      </p:sp>
      <p:sp>
        <p:nvSpPr>
          <p:cNvPr id="4" name="Slide Number Placeholder 3"/>
          <p:cNvSpPr>
            <a:spLocks noGrp="1"/>
          </p:cNvSpPr>
          <p:nvPr>
            <p:ph type="sldNum" sz="quarter" idx="12"/>
          </p:nvPr>
        </p:nvSpPr>
        <p:spPr/>
        <p:txBody>
          <a:bodyPr/>
          <a:lstStyle/>
          <a:p>
            <a:fld id="{D86A8FF9-5D3E-40A1-B361-C7F20E9F1290}" type="slidenum">
              <a:rPr lang="en-US" smtClean="0"/>
              <a:pPr/>
              <a:t>1</a:t>
            </a:fld>
            <a:endParaRPr lang="en-US"/>
          </a:p>
        </p:txBody>
      </p:sp>
      <p:sp>
        <p:nvSpPr>
          <p:cNvPr id="2" name="Title 1"/>
          <p:cNvSpPr>
            <a:spLocks noGrp="1"/>
          </p:cNvSpPr>
          <p:nvPr>
            <p:ph type="ctrTitle"/>
          </p:nvPr>
        </p:nvSpPr>
        <p:spPr>
          <a:xfrm>
            <a:off x="685800" y="2130425"/>
            <a:ext cx="8077200" cy="1470025"/>
          </a:xfrm>
        </p:spPr>
        <p:txBody>
          <a:bodyPr>
            <a:normAutofit fontScale="90000"/>
          </a:bodyPr>
          <a:lstStyle/>
          <a:p>
            <a:r>
              <a:rPr lang="en-US" b="1" dirty="0"/>
              <a:t>Sexually Transmitted </a:t>
            </a:r>
            <a:r>
              <a:rPr lang="en-US" b="1" dirty="0" smtClean="0"/>
              <a:t>Infections </a:t>
            </a:r>
            <a:r>
              <a:rPr lang="en-US" b="1" dirty="0" smtClean="0"/>
              <a:t>and </a:t>
            </a:r>
            <a:r>
              <a:rPr lang="en-US" b="1" dirty="0" smtClean="0"/>
              <a:t>PID</a:t>
            </a:r>
            <a:r>
              <a:rPr lang="en-US" b="1" dirty="0"/>
              <a:t/>
            </a:r>
            <a:br>
              <a:rPr lang="en-US" b="1" dirty="0"/>
            </a:br>
            <a:endParaRPr lang="en-US" b="1" dirty="0"/>
          </a:p>
        </p:txBody>
      </p:sp>
      <p:pic>
        <p:nvPicPr>
          <p:cNvPr id="3074" name="Picture 2"/>
          <p:cNvPicPr>
            <a:picLocks noChangeAspect="1" noChangeArrowheads="1"/>
          </p:cNvPicPr>
          <p:nvPr/>
        </p:nvPicPr>
        <p:blipFill>
          <a:blip r:embed="rId4"/>
          <a:srcRect/>
          <a:stretch>
            <a:fillRect/>
          </a:stretch>
        </p:blipFill>
        <p:spPr bwMode="auto">
          <a:xfrm>
            <a:off x="7239000" y="0"/>
            <a:ext cx="1676400" cy="1447800"/>
          </a:xfrm>
          <a:prstGeom prst="rect">
            <a:avLst/>
          </a:prstGeom>
          <a:noFill/>
          <a:ln w="9525">
            <a:noFill/>
            <a:miter lim="800000"/>
            <a:headEnd/>
            <a:tailEnd/>
          </a:ln>
          <a:effectLst/>
        </p:spPr>
      </p:pic>
      <p:pic>
        <p:nvPicPr>
          <p:cNvPr id="3075" name="Picture 3"/>
          <p:cNvPicPr>
            <a:picLocks noChangeAspect="1" noChangeArrowheads="1"/>
          </p:cNvPicPr>
          <p:nvPr/>
        </p:nvPicPr>
        <p:blipFill>
          <a:blip r:embed="rId5"/>
          <a:srcRect/>
          <a:stretch>
            <a:fillRect/>
          </a:stretch>
        </p:blipFill>
        <p:spPr bwMode="auto">
          <a:xfrm>
            <a:off x="228601" y="0"/>
            <a:ext cx="1676399" cy="1447799"/>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Outline</a:t>
            </a:r>
          </a:p>
        </p:txBody>
      </p:sp>
      <p:sp>
        <p:nvSpPr>
          <p:cNvPr id="4" name="Slide Number Placeholder 3"/>
          <p:cNvSpPr>
            <a:spLocks noGrp="1"/>
          </p:cNvSpPr>
          <p:nvPr>
            <p:ph type="sldNum" sz="quarter" idx="12"/>
          </p:nvPr>
        </p:nvSpPr>
        <p:spPr/>
        <p:txBody>
          <a:bodyPr>
            <a:normAutofit/>
          </a:bodyPr>
          <a:lstStyle/>
          <a:p>
            <a:fld id="{D86A8FF9-5D3E-40A1-B361-C7F20E9F1290}" type="slidenum">
              <a:rPr lang="en-US" smtClean="0"/>
              <a:pPr/>
              <a:t>2</a:t>
            </a:fld>
            <a:endParaRPr lang="en-US"/>
          </a:p>
        </p:txBody>
      </p:sp>
      <p:sp>
        <p:nvSpPr>
          <p:cNvPr id="3" name="Content Placeholder 2"/>
          <p:cNvSpPr>
            <a:spLocks noGrp="1"/>
          </p:cNvSpPr>
          <p:nvPr>
            <p:ph sz="quarter" idx="1"/>
          </p:nvPr>
        </p:nvSpPr>
        <p:spPr/>
        <p:txBody>
          <a:bodyPr>
            <a:normAutofit fontScale="92500" lnSpcReduction="20000"/>
          </a:bodyPr>
          <a:lstStyle/>
          <a:p>
            <a:r>
              <a:rPr lang="en-US" sz="3500" dirty="0"/>
              <a:t>Introduction</a:t>
            </a:r>
          </a:p>
          <a:p>
            <a:r>
              <a:rPr lang="en-US" sz="3500" dirty="0"/>
              <a:t>Epidemiology </a:t>
            </a:r>
          </a:p>
          <a:p>
            <a:r>
              <a:rPr lang="en-US" sz="3500" dirty="0"/>
              <a:t>Public Health Impact of STDs</a:t>
            </a:r>
          </a:p>
          <a:p>
            <a:r>
              <a:rPr lang="en-US" sz="3600" dirty="0"/>
              <a:t>Relationship between STIs and HIV</a:t>
            </a:r>
            <a:endParaRPr lang="en-US" sz="3500" dirty="0"/>
          </a:p>
          <a:p>
            <a:r>
              <a:rPr lang="en-US" sz="3500" dirty="0"/>
              <a:t>Approach to STD Diagnosis and Treatment</a:t>
            </a:r>
          </a:p>
          <a:p>
            <a:r>
              <a:rPr lang="en-US" sz="3500" dirty="0"/>
              <a:t>The Syndromes of STD</a:t>
            </a:r>
          </a:p>
          <a:p>
            <a:r>
              <a:rPr lang="en-US" sz="3500" dirty="0"/>
              <a:t>PID </a:t>
            </a:r>
          </a:p>
          <a:p>
            <a:r>
              <a:rPr lang="en-US" sz="3500" dirty="0"/>
              <a:t>Summary</a:t>
            </a:r>
          </a:p>
          <a:p>
            <a:r>
              <a:rPr lang="en-US" sz="3500" dirty="0"/>
              <a:t>References</a:t>
            </a:r>
          </a:p>
          <a:p>
            <a:pPr marL="0" indent="0">
              <a:buNone/>
            </a:pPr>
            <a:endParaRPr lang="en-US" dirty="0"/>
          </a:p>
          <a:p>
            <a:endParaRPr lang="en-US" dirty="0"/>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Introduction</a:t>
            </a:r>
          </a:p>
        </p:txBody>
      </p:sp>
      <p:sp>
        <p:nvSpPr>
          <p:cNvPr id="4" name="Slide Number Placeholder 3"/>
          <p:cNvSpPr>
            <a:spLocks noGrp="1"/>
          </p:cNvSpPr>
          <p:nvPr>
            <p:ph type="sldNum" sz="quarter" idx="12"/>
          </p:nvPr>
        </p:nvSpPr>
        <p:spPr/>
        <p:txBody>
          <a:bodyPr>
            <a:normAutofit/>
          </a:bodyPr>
          <a:lstStyle/>
          <a:p>
            <a:fld id="{D86A8FF9-5D3E-40A1-B361-C7F20E9F1290}" type="slidenum">
              <a:rPr lang="en-US" smtClean="0"/>
              <a:pPr/>
              <a:t>3</a:t>
            </a:fld>
            <a:endParaRPr lang="en-US"/>
          </a:p>
        </p:txBody>
      </p:sp>
      <p:sp>
        <p:nvSpPr>
          <p:cNvPr id="3" name="Content Placeholder 2"/>
          <p:cNvSpPr>
            <a:spLocks noGrp="1"/>
          </p:cNvSpPr>
          <p:nvPr>
            <p:ph sz="quarter" idx="1"/>
          </p:nvPr>
        </p:nvSpPr>
        <p:spPr/>
        <p:txBody>
          <a:bodyPr>
            <a:normAutofit/>
          </a:bodyPr>
          <a:lstStyle/>
          <a:p>
            <a:r>
              <a:rPr lang="en-US" dirty="0"/>
              <a:t>STI(sexually transmitted infections) refers to a pathogen that causes infection through sexual contact, whereas the term STD refers to a recognizable disease state that has developed from an infection. </a:t>
            </a:r>
            <a:br>
              <a:rPr lang="en-US" dirty="0"/>
            </a:br>
            <a:endParaRPr lang="en-US" dirty="0"/>
          </a:p>
          <a:p>
            <a:r>
              <a:rPr lang="en-US" dirty="0"/>
              <a:t>They are one </a:t>
            </a:r>
            <a:r>
              <a:rPr lang="en-US" dirty="0" smtClean="0"/>
              <a:t>of the </a:t>
            </a:r>
            <a:r>
              <a:rPr lang="en-US" dirty="0"/>
              <a:t>most common causes of illness in the world and have far reached health, social and economic consequences .</a:t>
            </a:r>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Epidemiology </a:t>
            </a:r>
            <a:endParaRPr lang="en-US" dirty="0"/>
          </a:p>
        </p:txBody>
      </p:sp>
      <p:sp>
        <p:nvSpPr>
          <p:cNvPr id="4" name="Slide Number Placeholder 3"/>
          <p:cNvSpPr>
            <a:spLocks noGrp="1"/>
          </p:cNvSpPr>
          <p:nvPr>
            <p:ph type="sldNum" sz="quarter" idx="12"/>
          </p:nvPr>
        </p:nvSpPr>
        <p:spPr/>
        <p:txBody>
          <a:bodyPr>
            <a:normAutofit/>
          </a:bodyPr>
          <a:lstStyle/>
          <a:p>
            <a:fld id="{D86A8FF9-5D3E-40A1-B361-C7F20E9F1290}" type="slidenum">
              <a:rPr lang="en-US" smtClean="0"/>
              <a:pPr/>
              <a:t>4</a:t>
            </a:fld>
            <a:endParaRPr lang="en-US"/>
          </a:p>
        </p:txBody>
      </p:sp>
      <p:sp>
        <p:nvSpPr>
          <p:cNvPr id="3" name="Content Placeholder 2"/>
          <p:cNvSpPr>
            <a:spLocks noGrp="1"/>
          </p:cNvSpPr>
          <p:nvPr>
            <p:ph sz="quarter" idx="1"/>
          </p:nvPr>
        </p:nvSpPr>
        <p:spPr/>
        <p:txBody>
          <a:bodyPr/>
          <a:lstStyle/>
          <a:p>
            <a:r>
              <a:rPr lang="en-US"/>
              <a:t>STIs are common in adolescents .</a:t>
            </a:r>
          </a:p>
          <a:p>
            <a:r>
              <a:rPr lang="en-US"/>
              <a:t>The prevalence is higher in urban than rural </a:t>
            </a:r>
          </a:p>
          <a:p>
            <a:r>
              <a:rPr lang="en-US"/>
              <a:t>Higher in unmarried and young adults </a:t>
            </a:r>
          </a:p>
          <a:p>
            <a:r>
              <a:rPr lang="en-US"/>
              <a:t>Developing countries are affected more – limited access</a:t>
            </a:r>
          </a:p>
          <a:p>
            <a:r>
              <a:rPr lang="en-US"/>
              <a:t>Largest population of patients reside south and south east Asia followed by Sub Saharan Africa, Latin America and the Caribbean</a:t>
            </a:r>
          </a:p>
          <a:p>
            <a:endParaRPr lang="en-US" dirty="0"/>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latin typeface="Times New Roman" pitchFamily="18" charset="0"/>
                <a:cs typeface="Times New Roman" pitchFamily="18" charset="0"/>
              </a:rPr>
              <a:t>Transmission</a:t>
            </a:r>
            <a:br>
              <a:rPr lang="en-US" dirty="0">
                <a:latin typeface="Times New Roman" pitchFamily="18" charset="0"/>
                <a:cs typeface="Times New Roman" pitchFamily="18" charset="0"/>
              </a:rPr>
            </a:br>
            <a:endParaRPr lang="en-US" dirty="0"/>
          </a:p>
        </p:txBody>
      </p:sp>
      <p:sp>
        <p:nvSpPr>
          <p:cNvPr id="4" name="Slide Number Placeholder 3"/>
          <p:cNvSpPr>
            <a:spLocks noGrp="1"/>
          </p:cNvSpPr>
          <p:nvPr>
            <p:ph type="sldNum" sz="quarter" idx="12"/>
          </p:nvPr>
        </p:nvSpPr>
        <p:spPr/>
        <p:txBody>
          <a:bodyPr>
            <a:normAutofit/>
          </a:bodyPr>
          <a:lstStyle/>
          <a:p>
            <a:fld id="{D86A8FF9-5D3E-40A1-B361-C7F20E9F1290}" type="slidenum">
              <a:rPr lang="en-US" smtClean="0"/>
              <a:pPr/>
              <a:t>5</a:t>
            </a:fld>
            <a:endParaRPr lang="en-US"/>
          </a:p>
        </p:txBody>
      </p:sp>
      <p:sp>
        <p:nvSpPr>
          <p:cNvPr id="3" name="Content Placeholder 2"/>
          <p:cNvSpPr>
            <a:spLocks noGrp="1"/>
          </p:cNvSpPr>
          <p:nvPr>
            <p:ph sz="quarter" idx="1"/>
          </p:nvPr>
        </p:nvSpPr>
        <p:spPr/>
        <p:txBody>
          <a:bodyPr>
            <a:normAutofit/>
          </a:bodyPr>
          <a:lstStyle/>
          <a:p>
            <a:pPr lvl="1"/>
            <a:r>
              <a:rPr lang="en-US" dirty="0">
                <a:latin typeface="Times New Roman" pitchFamily="18" charset="0"/>
                <a:cs typeface="Times New Roman" pitchFamily="18" charset="0"/>
              </a:rPr>
              <a:t>Unprotected sexual intercourse </a:t>
            </a:r>
          </a:p>
          <a:p>
            <a:pPr lvl="1"/>
            <a:r>
              <a:rPr lang="en-US" dirty="0">
                <a:latin typeface="Times New Roman" pitchFamily="18" charset="0"/>
                <a:cs typeface="Times New Roman" pitchFamily="18" charset="0"/>
              </a:rPr>
              <a:t>Mother-to-child transmission during pregnancy, childbirth and breastfeeding. </a:t>
            </a:r>
          </a:p>
          <a:p>
            <a:pPr lvl="1"/>
            <a:r>
              <a:rPr lang="en-ZA" altLang="en-US" dirty="0">
                <a:latin typeface="Times New Roman" pitchFamily="18" charset="0"/>
                <a:cs typeface="Times New Roman" pitchFamily="18" charset="0"/>
              </a:rPr>
              <a:t>Other uncommon mode of transmissions can be </a:t>
            </a:r>
          </a:p>
          <a:p>
            <a:pPr lvl="2"/>
            <a:r>
              <a:rPr lang="en-ZA" altLang="en-US" sz="2800" dirty="0">
                <a:latin typeface="Times New Roman" pitchFamily="18" charset="0"/>
                <a:cs typeface="Times New Roman" pitchFamily="18" charset="0"/>
              </a:rPr>
              <a:t>unsafe use of needles or injection, transfusion with blood  and blood products  and Hand to genital transmission</a:t>
            </a:r>
            <a:endParaRPr lang="en-US" sz="2800" dirty="0"/>
          </a:p>
        </p:txBody>
      </p:sp>
    </p:spTree>
    <p:extLst>
      <p:ext uri="{BB962C8B-B14F-4D97-AF65-F5344CB8AC3E}">
        <p14:creationId xmlns:p14="http://schemas.microsoft.com/office/powerpoint/2010/main" xmlns="" val="2049636751"/>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Public health impact of STD </a:t>
            </a:r>
          </a:p>
        </p:txBody>
      </p:sp>
      <p:sp>
        <p:nvSpPr>
          <p:cNvPr id="4" name="Slide Number Placeholder 3"/>
          <p:cNvSpPr>
            <a:spLocks noGrp="1"/>
          </p:cNvSpPr>
          <p:nvPr>
            <p:ph type="sldNum" sz="quarter" idx="12"/>
          </p:nvPr>
        </p:nvSpPr>
        <p:spPr/>
        <p:txBody>
          <a:bodyPr>
            <a:normAutofit/>
          </a:bodyPr>
          <a:lstStyle/>
          <a:p>
            <a:fld id="{D86A8FF9-5D3E-40A1-B361-C7F20E9F1290}" type="slidenum">
              <a:rPr lang="en-US" smtClean="0"/>
              <a:pPr/>
              <a:t>6</a:t>
            </a:fld>
            <a:endParaRPr lang="en-US"/>
          </a:p>
        </p:txBody>
      </p:sp>
      <p:sp>
        <p:nvSpPr>
          <p:cNvPr id="3" name="Content Placeholder 2"/>
          <p:cNvSpPr>
            <a:spLocks noGrp="1"/>
          </p:cNvSpPr>
          <p:nvPr>
            <p:ph sz="quarter" idx="1"/>
          </p:nvPr>
        </p:nvSpPr>
        <p:spPr/>
        <p:txBody>
          <a:bodyPr>
            <a:normAutofit/>
          </a:bodyPr>
          <a:lstStyle/>
          <a:p>
            <a:r>
              <a:rPr lang="en-US" dirty="0"/>
              <a:t>Health consequences – increased morbidity and mortality , infertility and reproductive issues , adverse pregnancy outcomes </a:t>
            </a:r>
          </a:p>
          <a:p>
            <a:r>
              <a:rPr lang="en-US" dirty="0"/>
              <a:t>Economic burden – health care costs , loss of productivity </a:t>
            </a:r>
          </a:p>
          <a:p>
            <a:r>
              <a:rPr lang="en-US" dirty="0"/>
              <a:t>Social and psychological impact –stigma and discrimination , impact on relationships </a:t>
            </a:r>
          </a:p>
          <a:p>
            <a:r>
              <a:rPr lang="en-US" dirty="0"/>
              <a:t>STIs have public health importance because of their magnitude, potential complications and their interaction with HIV/AIDS. </a:t>
            </a:r>
          </a:p>
          <a:p>
            <a:endParaRPr lang="en-US" dirty="0"/>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sz="4000" dirty="0"/>
              <a:t>Relationship between STIs and HIV</a:t>
            </a:r>
          </a:p>
        </p:txBody>
      </p:sp>
      <p:sp>
        <p:nvSpPr>
          <p:cNvPr id="4" name="Slide Number Placeholder 3"/>
          <p:cNvSpPr>
            <a:spLocks noGrp="1"/>
          </p:cNvSpPr>
          <p:nvPr>
            <p:ph type="sldNum" sz="quarter" idx="12"/>
          </p:nvPr>
        </p:nvSpPr>
        <p:spPr/>
        <p:txBody>
          <a:bodyPr>
            <a:normAutofit/>
          </a:bodyPr>
          <a:lstStyle/>
          <a:p>
            <a:fld id="{D86A8FF9-5D3E-40A1-B361-C7F20E9F1290}" type="slidenum">
              <a:rPr lang="en-US" smtClean="0"/>
              <a:pPr/>
              <a:t>7</a:t>
            </a:fld>
            <a:endParaRPr lang="en-US"/>
          </a:p>
        </p:txBody>
      </p:sp>
      <p:sp>
        <p:nvSpPr>
          <p:cNvPr id="3" name="Content Placeholder 2"/>
          <p:cNvSpPr>
            <a:spLocks noGrp="1"/>
          </p:cNvSpPr>
          <p:nvPr>
            <p:ph sz="quarter" idx="1"/>
          </p:nvPr>
        </p:nvSpPr>
        <p:spPr>
          <a:xfrm>
            <a:off x="457200" y="1828800"/>
            <a:ext cx="8229600" cy="4297363"/>
          </a:xfrm>
        </p:spPr>
        <p:txBody>
          <a:bodyPr>
            <a:normAutofit/>
          </a:bodyPr>
          <a:lstStyle/>
          <a:p>
            <a:r>
              <a:rPr lang="en-US" sz="2800" dirty="0"/>
              <a:t>The relationship between STIs and HIV/transmission has been described as an epidemiological synergy. In addition, HIV and STIs share the same risk factors. Thus, it is very critical to strengthen STI prevention and also to prevent the spread of HIV infection.</a:t>
            </a:r>
          </a:p>
          <a:p>
            <a:endParaRPr lang="en-US" sz="2800" dirty="0"/>
          </a:p>
          <a:p>
            <a:pPr marL="0" indent="0">
              <a:buNone/>
            </a:pPr>
            <a:endParaRPr lang="en-US" sz="2800" dirty="0"/>
          </a:p>
        </p:txBody>
      </p:sp>
    </p:spTree>
    <p:extLst>
      <p:ext uri="{BB962C8B-B14F-4D97-AF65-F5344CB8AC3E}">
        <p14:creationId xmlns:p14="http://schemas.microsoft.com/office/powerpoint/2010/main" xmlns="" val="3982949266"/>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sz="3200" dirty="0"/>
              <a:t>STIs enhance the sexual transmission of HIV through:</a:t>
            </a:r>
          </a:p>
        </p:txBody>
      </p:sp>
      <p:sp>
        <p:nvSpPr>
          <p:cNvPr id="4" name="Slide Number Placeholder 3"/>
          <p:cNvSpPr>
            <a:spLocks noGrp="1"/>
          </p:cNvSpPr>
          <p:nvPr>
            <p:ph type="sldNum" sz="quarter" idx="12"/>
          </p:nvPr>
        </p:nvSpPr>
        <p:spPr/>
        <p:txBody>
          <a:bodyPr>
            <a:normAutofit/>
          </a:bodyPr>
          <a:lstStyle/>
          <a:p>
            <a:fld id="{D86A8FF9-5D3E-40A1-B361-C7F20E9F1290}" type="slidenum">
              <a:rPr lang="en-US" smtClean="0"/>
              <a:pPr/>
              <a:t>8</a:t>
            </a:fld>
            <a:endParaRPr lang="en-US"/>
          </a:p>
        </p:txBody>
      </p:sp>
      <p:sp>
        <p:nvSpPr>
          <p:cNvPr id="3" name="Content Placeholder 2"/>
          <p:cNvSpPr>
            <a:spLocks noGrp="1"/>
          </p:cNvSpPr>
          <p:nvPr>
            <p:ph sz="quarter" idx="1"/>
          </p:nvPr>
        </p:nvSpPr>
        <p:spPr>
          <a:xfrm>
            <a:off x="457200" y="1417638"/>
            <a:ext cx="8229600" cy="4708525"/>
          </a:xfrm>
        </p:spPr>
        <p:txBody>
          <a:bodyPr>
            <a:noAutofit/>
          </a:bodyPr>
          <a:lstStyle/>
          <a:p>
            <a:r>
              <a:rPr lang="en-US" sz="2400" dirty="0"/>
              <a:t>A. STIs that primarily cause ulcers disrupt the integrity of the skin barrier enabling HIV easy access through such defects in the skin. The presence of genital ulcers is increases the risk of HIV transmission by 5 folds.</a:t>
            </a:r>
          </a:p>
          <a:p>
            <a:r>
              <a:rPr lang="en-US" sz="2400" dirty="0"/>
              <a:t> B. STIs that primarily cause inflammation such as gonorrhea, </a:t>
            </a:r>
            <a:r>
              <a:rPr lang="en-US" sz="2400" dirty="0" err="1"/>
              <a:t>trichomoniasis</a:t>
            </a:r>
            <a:r>
              <a:rPr lang="en-US" sz="2400" dirty="0"/>
              <a:t>, and chlamydial infections present a weak barrier to HIV. </a:t>
            </a:r>
          </a:p>
          <a:p>
            <a:r>
              <a:rPr lang="en-US" sz="2400" dirty="0"/>
              <a:t>C. STIs Increase viral shedding (reported in genital fluids of patients with STIs) and increase susceptibility to HIV (STI treatment has been demonstrated to significantly reduce viral shedding)</a:t>
            </a:r>
          </a:p>
        </p:txBody>
      </p:sp>
    </p:spTree>
    <p:extLst>
      <p:ext uri="{BB962C8B-B14F-4D97-AF65-F5344CB8AC3E}">
        <p14:creationId xmlns:p14="http://schemas.microsoft.com/office/powerpoint/2010/main" xmlns="" val="3406028682"/>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200" dirty="0"/>
              <a:t> HIV infection affects STIs through: </a:t>
            </a:r>
          </a:p>
        </p:txBody>
      </p:sp>
      <p:sp>
        <p:nvSpPr>
          <p:cNvPr id="4" name="Slide Number Placeholder 3"/>
          <p:cNvSpPr>
            <a:spLocks noGrp="1"/>
          </p:cNvSpPr>
          <p:nvPr>
            <p:ph type="sldNum" sz="quarter" idx="12"/>
          </p:nvPr>
        </p:nvSpPr>
        <p:spPr/>
        <p:txBody>
          <a:bodyPr>
            <a:normAutofit/>
          </a:bodyPr>
          <a:lstStyle/>
          <a:p>
            <a:fld id="{D86A8FF9-5D3E-40A1-B361-C7F20E9F1290}" type="slidenum">
              <a:rPr lang="en-US" smtClean="0"/>
              <a:pPr/>
              <a:t>9</a:t>
            </a:fld>
            <a:endParaRPr lang="en-US"/>
          </a:p>
        </p:txBody>
      </p:sp>
      <p:sp>
        <p:nvSpPr>
          <p:cNvPr id="3" name="Content Placeholder 2"/>
          <p:cNvSpPr>
            <a:spLocks noGrp="1"/>
          </p:cNvSpPr>
          <p:nvPr>
            <p:ph sz="quarter" idx="1"/>
          </p:nvPr>
        </p:nvSpPr>
        <p:spPr>
          <a:xfrm>
            <a:off x="457200" y="1219200"/>
            <a:ext cx="8229600" cy="4906963"/>
          </a:xfrm>
        </p:spPr>
        <p:txBody>
          <a:bodyPr>
            <a:noAutofit/>
          </a:bodyPr>
          <a:lstStyle/>
          <a:p>
            <a:pPr marL="0" indent="0">
              <a:buNone/>
            </a:pPr>
            <a:r>
              <a:rPr lang="en-US" sz="2000" dirty="0"/>
              <a:t>A. </a:t>
            </a:r>
            <a:r>
              <a:rPr lang="en-US" sz="2400" dirty="0"/>
              <a:t>HIV alters susceptibility of STI pathogens to antibiotics </a:t>
            </a:r>
          </a:p>
          <a:p>
            <a:pPr marL="0" indent="0">
              <a:buNone/>
            </a:pPr>
            <a:r>
              <a:rPr lang="en-US" sz="2400" dirty="0"/>
              <a:t>B. Increased susceptibility to STIs among immune suppressed individuals </a:t>
            </a:r>
          </a:p>
          <a:p>
            <a:pPr marL="0" indent="0">
              <a:buNone/>
            </a:pPr>
            <a:r>
              <a:rPr lang="en-US" sz="2400" dirty="0"/>
              <a:t>C. The clinical features of various types of STIs are influenced when there is co-infection with HIV. </a:t>
            </a:r>
          </a:p>
          <a:p>
            <a:pPr marL="0" indent="0">
              <a:buNone/>
            </a:pPr>
            <a:r>
              <a:rPr lang="en-US" sz="2400" dirty="0"/>
              <a:t>• Syphilis has atypical presentation with a tendency to rapidly progress to </a:t>
            </a:r>
            <a:r>
              <a:rPr lang="en-US" sz="2400" dirty="0" err="1"/>
              <a:t>neurosyphilis</a:t>
            </a:r>
            <a:r>
              <a:rPr lang="en-US" sz="2400" dirty="0"/>
              <a:t>. Both the specific and the non-specific </a:t>
            </a:r>
            <a:r>
              <a:rPr lang="en-US" sz="2400" dirty="0" err="1"/>
              <a:t>treponemal</a:t>
            </a:r>
            <a:r>
              <a:rPr lang="en-US" sz="2400" dirty="0"/>
              <a:t> serologic tests for syphilis may be non-reactive in the presence of infection with T. Pallidum when there is co-infection HIV. </a:t>
            </a:r>
          </a:p>
          <a:p>
            <a:pPr marL="0" indent="0">
              <a:buNone/>
            </a:pPr>
            <a:r>
              <a:rPr lang="en-US" sz="2400" dirty="0"/>
              <a:t>• Atypical lesions of </a:t>
            </a:r>
            <a:r>
              <a:rPr lang="en-US" sz="2400" dirty="0" err="1"/>
              <a:t>chancroid</a:t>
            </a:r>
            <a:r>
              <a:rPr lang="en-US" sz="2400" dirty="0"/>
              <a:t> are common and tend to be less purulent often with indurations mimicking primary syphilis. The lesions could </a:t>
            </a:r>
            <a:r>
              <a:rPr lang="en-US" sz="2400" dirty="0" smtClean="0"/>
              <a:t>as </a:t>
            </a:r>
            <a:r>
              <a:rPr lang="en-US" sz="2400" dirty="0"/>
              <a:t>well be extensive and multiple which could be associated with fever and chills</a:t>
            </a:r>
          </a:p>
          <a:p>
            <a:pPr marL="0" indent="0">
              <a:buNone/>
            </a:pPr>
            <a:r>
              <a:rPr lang="en-US" sz="2000" dirty="0"/>
              <a:t> </a:t>
            </a:r>
          </a:p>
        </p:txBody>
      </p:sp>
    </p:spTree>
    <p:extLst>
      <p:ext uri="{BB962C8B-B14F-4D97-AF65-F5344CB8AC3E}">
        <p14:creationId xmlns:p14="http://schemas.microsoft.com/office/powerpoint/2010/main" xmlns="" val="3530962089"/>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normAutofit/>
          </a:bodyPr>
          <a:lstStyle/>
          <a:p>
            <a:fld id="{D86A8FF9-5D3E-40A1-B361-C7F20E9F1290}" type="slidenum">
              <a:rPr lang="en-US" smtClean="0"/>
              <a:pPr/>
              <a:t>10</a:t>
            </a:fld>
            <a:endParaRPr lang="en-US"/>
          </a:p>
        </p:txBody>
      </p:sp>
      <p:sp>
        <p:nvSpPr>
          <p:cNvPr id="3" name="Content Placeholder 2"/>
          <p:cNvSpPr>
            <a:spLocks noGrp="1"/>
          </p:cNvSpPr>
          <p:nvPr>
            <p:ph sz="quarter" idx="1"/>
          </p:nvPr>
        </p:nvSpPr>
        <p:spPr>
          <a:xfrm>
            <a:off x="457200" y="914400"/>
            <a:ext cx="8229600" cy="5211763"/>
          </a:xfrm>
        </p:spPr>
        <p:txBody>
          <a:bodyPr>
            <a:normAutofit fontScale="25000" lnSpcReduction="20000"/>
          </a:bodyPr>
          <a:lstStyle/>
          <a:p>
            <a:pPr marL="0" indent="0">
              <a:buNone/>
            </a:pPr>
            <a:endParaRPr lang="en-US" sz="6000" dirty="0"/>
          </a:p>
          <a:p>
            <a:r>
              <a:rPr lang="en-US" sz="9600" dirty="0"/>
              <a:t>Recurrent or persistent genital ulcers caused by Herpes simplex virus are common in patients with HIV and they are often multiple and extensive. </a:t>
            </a:r>
          </a:p>
          <a:p>
            <a:endParaRPr lang="en-US" sz="9600" dirty="0"/>
          </a:p>
          <a:p>
            <a:r>
              <a:rPr lang="en-US" sz="9600" dirty="0"/>
              <a:t>D. The treatment of conventional STIs is also affected when infection with HIV coexist. Risk of treatment failure following single injection of </a:t>
            </a:r>
            <a:r>
              <a:rPr lang="en-US" sz="9600" dirty="0" err="1"/>
              <a:t>benzathine</a:t>
            </a:r>
            <a:r>
              <a:rPr lang="en-US" sz="9600" dirty="0"/>
              <a:t> penicillin is increased among patient with primary syphilis. </a:t>
            </a:r>
          </a:p>
          <a:p>
            <a:endParaRPr lang="en-US" sz="9600" dirty="0"/>
          </a:p>
          <a:p>
            <a:r>
              <a:rPr lang="en-US" sz="9600" dirty="0"/>
              <a:t>Severe genital herpes may require treatment of primary episode or suppression of recurrence with acyclovir. However, resistance to acyclovir </a:t>
            </a:r>
            <a:r>
              <a:rPr lang="en-US" sz="9600" dirty="0" smtClean="0"/>
              <a:t>may be </a:t>
            </a:r>
            <a:r>
              <a:rPr lang="en-US" sz="9600" dirty="0"/>
              <a:t>subsequently </a:t>
            </a:r>
            <a:r>
              <a:rPr lang="en-US" sz="9600" dirty="0" smtClean="0"/>
              <a:t>develop.</a:t>
            </a:r>
            <a:endParaRPr lang="en-US" sz="9600" dirty="0"/>
          </a:p>
          <a:p>
            <a:endParaRPr lang="en-US" sz="9600" dirty="0"/>
          </a:p>
        </p:txBody>
      </p:sp>
    </p:spTree>
    <p:extLst>
      <p:ext uri="{BB962C8B-B14F-4D97-AF65-F5344CB8AC3E}">
        <p14:creationId xmlns:p14="http://schemas.microsoft.com/office/powerpoint/2010/main" xmlns="" val="2769036305"/>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Approach to diagnosis and treatment </a:t>
            </a:r>
          </a:p>
        </p:txBody>
      </p:sp>
      <p:sp>
        <p:nvSpPr>
          <p:cNvPr id="4" name="Slide Number Placeholder 3"/>
          <p:cNvSpPr>
            <a:spLocks noGrp="1"/>
          </p:cNvSpPr>
          <p:nvPr>
            <p:ph type="sldNum" sz="quarter" idx="12"/>
          </p:nvPr>
        </p:nvSpPr>
        <p:spPr/>
        <p:txBody>
          <a:bodyPr>
            <a:normAutofit/>
          </a:bodyPr>
          <a:lstStyle/>
          <a:p>
            <a:fld id="{D86A8FF9-5D3E-40A1-B361-C7F20E9F1290}" type="slidenum">
              <a:rPr lang="en-US" smtClean="0"/>
              <a:pPr/>
              <a:t>11</a:t>
            </a:fld>
            <a:endParaRPr lang="en-US"/>
          </a:p>
        </p:txBody>
      </p:sp>
      <p:sp>
        <p:nvSpPr>
          <p:cNvPr id="3" name="Content Placeholder 2"/>
          <p:cNvSpPr>
            <a:spLocks noGrp="1"/>
          </p:cNvSpPr>
          <p:nvPr>
            <p:ph sz="quarter" idx="1"/>
          </p:nvPr>
        </p:nvSpPr>
        <p:spPr/>
        <p:txBody>
          <a:bodyPr/>
          <a:lstStyle/>
          <a:p>
            <a:pPr marL="514350" indent="-514350">
              <a:buAutoNum type="arabicPeriod"/>
            </a:pPr>
            <a:r>
              <a:rPr lang="en-US" dirty="0"/>
              <a:t>Classical approaches </a:t>
            </a:r>
          </a:p>
          <a:p>
            <a:r>
              <a:rPr lang="en-US" dirty="0"/>
              <a:t>Etiologic  diagnosis </a:t>
            </a:r>
          </a:p>
          <a:p>
            <a:r>
              <a:rPr lang="en-US" dirty="0"/>
              <a:t>Clinical  diagnosis </a:t>
            </a:r>
          </a:p>
          <a:p>
            <a:pPr marL="514350" indent="-514350">
              <a:buFont typeface="Wingdings" pitchFamily="2" charset="2"/>
              <a:buChar char="q"/>
            </a:pPr>
            <a:endParaRPr lang="en-US" dirty="0"/>
          </a:p>
          <a:p>
            <a:pPr marL="514350" indent="-514350">
              <a:buNone/>
            </a:pPr>
            <a:r>
              <a:rPr lang="en-US" dirty="0"/>
              <a:t>2. Syndromic approaches </a:t>
            </a:r>
          </a:p>
          <a:p>
            <a:pPr marL="514350" indent="-514350">
              <a:buNone/>
            </a:pPr>
            <a:endParaRPr lang="en-US" dirty="0"/>
          </a:p>
        </p:txBody>
      </p:sp>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normAutofit/>
          </a:bodyPr>
          <a:lstStyle/>
          <a:p>
            <a:fld id="{D86A8FF9-5D3E-40A1-B361-C7F20E9F1290}" type="slidenum">
              <a:rPr lang="en-US" smtClean="0"/>
              <a:pPr/>
              <a:t>12</a:t>
            </a:fld>
            <a:endParaRPr lang="en-US"/>
          </a:p>
        </p:txBody>
      </p:sp>
      <p:sp>
        <p:nvSpPr>
          <p:cNvPr id="3" name="Content Placeholder 2"/>
          <p:cNvSpPr>
            <a:spLocks noGrp="1"/>
          </p:cNvSpPr>
          <p:nvPr>
            <p:ph sz="quarter" idx="1"/>
          </p:nvPr>
        </p:nvSpPr>
        <p:spPr>
          <a:xfrm>
            <a:off x="457200" y="457200"/>
            <a:ext cx="8229600" cy="5668963"/>
          </a:xfrm>
        </p:spPr>
        <p:txBody>
          <a:bodyPr>
            <a:normAutofit fontScale="62500" lnSpcReduction="20000"/>
          </a:bodyPr>
          <a:lstStyle/>
          <a:p>
            <a:endParaRPr lang="en-US" sz="3500" b="1" dirty="0"/>
          </a:p>
          <a:p>
            <a:pPr marL="0" indent="0">
              <a:buNone/>
            </a:pPr>
            <a:r>
              <a:rPr lang="en-US" sz="5700" b="1" dirty="0"/>
              <a:t>1. </a:t>
            </a:r>
            <a:r>
              <a:rPr lang="en-US" sz="7300" dirty="0"/>
              <a:t>Classical approaches </a:t>
            </a:r>
          </a:p>
          <a:p>
            <a:pPr marL="0" indent="0">
              <a:buNone/>
            </a:pPr>
            <a:endParaRPr lang="en-US" sz="3500" b="1" dirty="0"/>
          </a:p>
          <a:p>
            <a:r>
              <a:rPr lang="en-US" sz="4500" b="1" dirty="0"/>
              <a:t>Etiologic</a:t>
            </a:r>
            <a:r>
              <a:rPr lang="en-US" sz="4500" dirty="0"/>
              <a:t> -Avoids over treatment.</a:t>
            </a:r>
          </a:p>
          <a:p>
            <a:pPr>
              <a:buNone/>
            </a:pPr>
            <a:r>
              <a:rPr lang="en-US" sz="4500" dirty="0"/>
              <a:t>                    -Conforms to traditional training.</a:t>
            </a:r>
          </a:p>
          <a:p>
            <a:pPr>
              <a:buNone/>
            </a:pPr>
            <a:r>
              <a:rPr lang="en-US" sz="4500" dirty="0"/>
              <a:t>                    -Satisfies patients who feel not properly Attended </a:t>
            </a:r>
          </a:p>
          <a:p>
            <a:pPr>
              <a:buNone/>
            </a:pPr>
            <a:r>
              <a:rPr lang="en-US" sz="4500" dirty="0"/>
              <a:t>                     -can be used to screen asymptomatic </a:t>
            </a:r>
          </a:p>
          <a:p>
            <a:pPr>
              <a:buNone/>
            </a:pPr>
            <a:r>
              <a:rPr lang="en-US" sz="4500" dirty="0"/>
              <a:t>But</a:t>
            </a:r>
          </a:p>
          <a:p>
            <a:r>
              <a:rPr lang="en-US" sz="4500" dirty="0"/>
              <a:t> Requires skilled personnel and sophisticated lab equipment.</a:t>
            </a:r>
          </a:p>
          <a:p>
            <a:r>
              <a:rPr lang="en-US" sz="4500" dirty="0"/>
              <a:t>Not appropriate for primary health care level</a:t>
            </a:r>
          </a:p>
          <a:p>
            <a:r>
              <a:rPr lang="en-US" sz="4500" dirty="0"/>
              <a:t>Expensive, time consuming </a:t>
            </a:r>
          </a:p>
          <a:p>
            <a:r>
              <a:rPr lang="en-US" sz="4500" dirty="0"/>
              <a:t>results may not be reliable. </a:t>
            </a:r>
          </a:p>
          <a:p>
            <a:r>
              <a:rPr lang="en-US" sz="4500" dirty="0"/>
              <a:t>Delay in treatment</a:t>
            </a:r>
          </a:p>
          <a:p>
            <a:pPr>
              <a:buNone/>
            </a:pPr>
            <a:endParaRPr lang="en-US" sz="4500" dirty="0"/>
          </a:p>
          <a:p>
            <a:pPr>
              <a:buNone/>
            </a:pPr>
            <a:endParaRPr lang="en-US" dirty="0"/>
          </a:p>
        </p:txBody>
      </p:sp>
      <p:sp>
        <p:nvSpPr>
          <p:cNvPr id="7" name="Rectangle 2"/>
          <p:cNvSpPr>
            <a:spLocks noChangeArrowheads="1"/>
          </p:cNvSpPr>
          <p:nvPr/>
        </p:nvSpPr>
        <p:spPr bwMode="auto">
          <a:xfrm>
            <a:off x="3619500" y="3611563"/>
            <a:ext cx="9144000" cy="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a:ln>
                  <a:noFill/>
                </a:ln>
                <a:solidFill>
                  <a:schemeClr val="tx1"/>
                </a:solidFill>
                <a:effectLst/>
                <a:latin typeface="Arial" panose="020B0604020202020204" pitchFamily="34" charset="0"/>
              </a:rPr>
              <a:t/>
            </a:r>
            <a:br>
              <a:rPr kumimoji="0" lang="en-US" altLang="en-US" sz="1800" b="0" i="0" u="none" strike="noStrike" cap="none" normalizeH="0" baseline="0">
                <a:ln>
                  <a:noFill/>
                </a:ln>
                <a:solidFill>
                  <a:schemeClr val="tx1"/>
                </a:solidFill>
                <a:effectLst/>
                <a:latin typeface="Arial" panose="020B0604020202020204" pitchFamily="34" charset="0"/>
              </a:rPr>
            </a:br>
            <a:endParaRPr kumimoji="0" lang="en-US" altLang="en-US" sz="1800" b="0" i="0" u="none" strike="noStrike" cap="none" normalizeH="0" baseline="0">
              <a:ln>
                <a:noFill/>
              </a:ln>
              <a:solidFill>
                <a:schemeClr val="tx1"/>
              </a:solidFill>
              <a:effectLst/>
              <a:latin typeface="Arial" panose="020B0604020202020204" pitchFamily="34" charset="0"/>
            </a:endParaRPr>
          </a:p>
        </p:txBody>
      </p:sp>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normAutofit/>
          </a:bodyPr>
          <a:lstStyle/>
          <a:p>
            <a:fld id="{D86A8FF9-5D3E-40A1-B361-C7F20E9F1290}" type="slidenum">
              <a:rPr lang="en-US" smtClean="0"/>
              <a:pPr/>
              <a:t>13</a:t>
            </a:fld>
            <a:endParaRPr lang="en-US"/>
          </a:p>
        </p:txBody>
      </p:sp>
      <p:sp>
        <p:nvSpPr>
          <p:cNvPr id="3" name="Content Placeholder 2"/>
          <p:cNvSpPr>
            <a:spLocks noGrp="1"/>
          </p:cNvSpPr>
          <p:nvPr>
            <p:ph sz="quarter" idx="1"/>
          </p:nvPr>
        </p:nvSpPr>
        <p:spPr/>
        <p:txBody>
          <a:bodyPr>
            <a:normAutofit/>
          </a:bodyPr>
          <a:lstStyle/>
          <a:p>
            <a:r>
              <a:rPr lang="en-US" b="1" dirty="0"/>
              <a:t>Clinical </a:t>
            </a:r>
          </a:p>
          <a:p>
            <a:pPr>
              <a:buNone/>
            </a:pPr>
            <a:r>
              <a:rPr lang="en-US" dirty="0"/>
              <a:t>     -Saves time for patients</a:t>
            </a:r>
          </a:p>
          <a:p>
            <a:pPr>
              <a:buNone/>
            </a:pPr>
            <a:r>
              <a:rPr lang="en-US" dirty="0"/>
              <a:t>     -Reduces lab expenses</a:t>
            </a:r>
          </a:p>
          <a:p>
            <a:pPr>
              <a:buNone/>
            </a:pPr>
            <a:r>
              <a:rPr lang="en-US" dirty="0"/>
              <a:t>But </a:t>
            </a:r>
          </a:p>
          <a:p>
            <a:pPr>
              <a:buFont typeface="Calibri" panose="020F0502020204030204" pitchFamily="34" charset="0"/>
              <a:buChar char="⁻"/>
            </a:pPr>
            <a:r>
              <a:rPr lang="en-US" dirty="0"/>
              <a:t>Requires high clinical skill</a:t>
            </a:r>
          </a:p>
          <a:p>
            <a:pPr>
              <a:buFont typeface="Calibri" panose="020F0502020204030204" pitchFamily="34" charset="0"/>
              <a:buChar char="⁻"/>
            </a:pPr>
            <a:r>
              <a:rPr lang="en-US" dirty="0"/>
              <a:t>Mixed infection often overlooked</a:t>
            </a:r>
          </a:p>
          <a:p>
            <a:pPr>
              <a:buFont typeface="Calibri" panose="020F0502020204030204" pitchFamily="34" charset="0"/>
              <a:buChar char="⁻"/>
            </a:pPr>
            <a:r>
              <a:rPr lang="en-US" dirty="0"/>
              <a:t>Doesn’t identify asymptomatic STIs</a:t>
            </a:r>
          </a:p>
          <a:p>
            <a:pPr>
              <a:buNone/>
            </a:pPr>
            <a:endParaRPr lang="en-US" dirty="0"/>
          </a:p>
          <a:p>
            <a:pPr>
              <a:buNone/>
            </a:pPr>
            <a:endParaRPr lang="en-US" dirty="0"/>
          </a:p>
        </p:txBody>
      </p:sp>
      <p:sp>
        <p:nvSpPr>
          <p:cNvPr id="5" name="Rectangle 1"/>
          <p:cNvSpPr>
            <a:spLocks noChangeArrowheads="1"/>
          </p:cNvSpPr>
          <p:nvPr/>
        </p:nvSpPr>
        <p:spPr bwMode="auto">
          <a:xfrm>
            <a:off x="3619500" y="3611563"/>
            <a:ext cx="9144000" cy="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a:ln>
                  <a:noFill/>
                </a:ln>
                <a:solidFill>
                  <a:schemeClr val="tx1"/>
                </a:solidFill>
                <a:effectLst/>
                <a:latin typeface="Arial" panose="020B0604020202020204" pitchFamily="34" charset="0"/>
              </a:rPr>
              <a:t/>
            </a:r>
            <a:br>
              <a:rPr kumimoji="0" lang="en-US" altLang="en-US" sz="1800" b="0" i="0" u="none" strike="noStrike" cap="none" normalizeH="0" baseline="0">
                <a:ln>
                  <a:noFill/>
                </a:ln>
                <a:solidFill>
                  <a:schemeClr val="tx1"/>
                </a:solidFill>
                <a:effectLst/>
                <a:latin typeface="Arial" panose="020B0604020202020204" pitchFamily="34" charset="0"/>
              </a:rPr>
            </a:br>
            <a:endParaRPr kumimoji="0" lang="en-US" altLang="en-US" sz="1800" b="0" i="0" u="none" strike="noStrike" cap="none" normalizeH="0" baseline="0">
              <a:ln>
                <a:noFill/>
              </a:ln>
              <a:solidFill>
                <a:schemeClr val="tx1"/>
              </a:solidFill>
              <a:effectLst/>
              <a:latin typeface="Arial" panose="020B0604020202020204" pitchFamily="34" charset="0"/>
            </a:endParaRPr>
          </a:p>
        </p:txBody>
      </p:sp>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000" dirty="0"/>
              <a:t>2.Syndromic approaches </a:t>
            </a:r>
          </a:p>
        </p:txBody>
      </p:sp>
      <p:sp>
        <p:nvSpPr>
          <p:cNvPr id="4" name="Slide Number Placeholder 3"/>
          <p:cNvSpPr>
            <a:spLocks noGrp="1"/>
          </p:cNvSpPr>
          <p:nvPr>
            <p:ph type="sldNum" sz="quarter" idx="12"/>
          </p:nvPr>
        </p:nvSpPr>
        <p:spPr/>
        <p:txBody>
          <a:bodyPr>
            <a:normAutofit/>
          </a:bodyPr>
          <a:lstStyle/>
          <a:p>
            <a:fld id="{D86A8FF9-5D3E-40A1-B361-C7F20E9F1290}" type="slidenum">
              <a:rPr lang="en-US" smtClean="0"/>
              <a:pPr/>
              <a:t>14</a:t>
            </a:fld>
            <a:endParaRPr lang="en-US"/>
          </a:p>
        </p:txBody>
      </p:sp>
      <p:sp>
        <p:nvSpPr>
          <p:cNvPr id="3" name="Content Placeholder 2"/>
          <p:cNvSpPr>
            <a:spLocks noGrp="1"/>
          </p:cNvSpPr>
          <p:nvPr>
            <p:ph sz="quarter" idx="1"/>
          </p:nvPr>
        </p:nvSpPr>
        <p:spPr/>
        <p:txBody>
          <a:bodyPr>
            <a:normAutofit/>
          </a:bodyPr>
          <a:lstStyle/>
          <a:p>
            <a:r>
              <a:rPr lang="en-US" dirty="0"/>
              <a:t>Problem oriented (responds to patient’s symptoms)</a:t>
            </a:r>
          </a:p>
          <a:p>
            <a:r>
              <a:rPr lang="en-US" dirty="0"/>
              <a:t>Highly sensitive and doesn’t miss mixed infections</a:t>
            </a:r>
          </a:p>
          <a:p>
            <a:r>
              <a:rPr lang="en-US" dirty="0"/>
              <a:t>Treats the patient at first visit</a:t>
            </a:r>
          </a:p>
          <a:p>
            <a:r>
              <a:rPr lang="en-US" dirty="0"/>
              <a:t>Can be implemented at primary health care level</a:t>
            </a:r>
          </a:p>
          <a:p>
            <a:r>
              <a:rPr lang="en-US" dirty="0"/>
              <a:t>Use of flow charts with logical steps</a:t>
            </a:r>
          </a:p>
          <a:p>
            <a:r>
              <a:rPr lang="en-US" dirty="0"/>
              <a:t>Provides opportunity and time for education and counseling</a:t>
            </a:r>
          </a:p>
          <a:p>
            <a:endParaRPr lang="en-US" dirty="0"/>
          </a:p>
          <a:p>
            <a:endParaRPr lang="en-US" dirty="0"/>
          </a:p>
        </p:txBody>
      </p:sp>
    </p:spTree>
    <p:extLst>
      <p:ext uri="{BB962C8B-B14F-4D97-AF65-F5344CB8AC3E}">
        <p14:creationId xmlns:p14="http://schemas.microsoft.com/office/powerpoint/2010/main" xmlns="" val="150805973"/>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normAutofit/>
          </a:bodyPr>
          <a:lstStyle/>
          <a:p>
            <a:fld id="{D86A8FF9-5D3E-40A1-B361-C7F20E9F1290}" type="slidenum">
              <a:rPr lang="en-US" smtClean="0"/>
              <a:pPr/>
              <a:t>15</a:t>
            </a:fld>
            <a:endParaRPr lang="en-US"/>
          </a:p>
        </p:txBody>
      </p:sp>
      <p:sp>
        <p:nvSpPr>
          <p:cNvPr id="3" name="Content Placeholder 2"/>
          <p:cNvSpPr>
            <a:spLocks noGrp="1"/>
          </p:cNvSpPr>
          <p:nvPr>
            <p:ph sz="quarter" idx="1"/>
          </p:nvPr>
        </p:nvSpPr>
        <p:spPr/>
        <p:txBody>
          <a:bodyPr/>
          <a:lstStyle/>
          <a:p>
            <a:r>
              <a:rPr lang="en-US" dirty="0"/>
              <a:t>But</a:t>
            </a:r>
            <a:br>
              <a:rPr lang="en-US" dirty="0"/>
            </a:br>
            <a:r>
              <a:rPr lang="en-US" dirty="0"/>
              <a:t>It misses sub-clinical infection</a:t>
            </a:r>
            <a:br>
              <a:rPr lang="en-US" dirty="0"/>
            </a:br>
            <a:r>
              <a:rPr lang="en-US" dirty="0"/>
              <a:t>Rx with multiple drug might be </a:t>
            </a:r>
            <a:r>
              <a:rPr lang="en-US" b="1" dirty="0"/>
              <a:t>expensive</a:t>
            </a:r>
            <a:r>
              <a:rPr lang="en-US" dirty="0"/>
              <a:t/>
            </a:r>
            <a:br>
              <a:rPr lang="en-US" dirty="0"/>
            </a:br>
            <a:r>
              <a:rPr lang="en-US" dirty="0"/>
              <a:t>needs training</a:t>
            </a:r>
          </a:p>
        </p:txBody>
      </p:sp>
    </p:spTree>
    <p:extLst>
      <p:ext uri="{BB962C8B-B14F-4D97-AF65-F5344CB8AC3E}">
        <p14:creationId xmlns:p14="http://schemas.microsoft.com/office/powerpoint/2010/main" xmlns="" val="802755264"/>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62000"/>
            <a:ext cx="8229600" cy="1295400"/>
          </a:xfrm>
        </p:spPr>
        <p:txBody>
          <a:bodyPr>
            <a:normAutofit fontScale="90000"/>
          </a:bodyPr>
          <a:lstStyle/>
          <a:p>
            <a:r>
              <a:rPr lang="en-US" dirty="0"/>
              <a:t/>
            </a:r>
            <a:br>
              <a:rPr lang="en-US" dirty="0"/>
            </a:br>
            <a:r>
              <a:rPr lang="en-US" dirty="0"/>
              <a:t>Syndromic Management </a:t>
            </a:r>
            <a:br>
              <a:rPr lang="en-US" dirty="0"/>
            </a:br>
            <a:endParaRPr lang="en-US" dirty="0"/>
          </a:p>
        </p:txBody>
      </p:sp>
      <p:sp>
        <p:nvSpPr>
          <p:cNvPr id="4" name="Slide Number Placeholder 3"/>
          <p:cNvSpPr>
            <a:spLocks noGrp="1"/>
          </p:cNvSpPr>
          <p:nvPr>
            <p:ph type="sldNum" sz="quarter" idx="12"/>
          </p:nvPr>
        </p:nvSpPr>
        <p:spPr/>
        <p:txBody>
          <a:bodyPr>
            <a:normAutofit/>
          </a:bodyPr>
          <a:lstStyle/>
          <a:p>
            <a:fld id="{D86A8FF9-5D3E-40A1-B361-C7F20E9F1290}" type="slidenum">
              <a:rPr lang="en-US" smtClean="0"/>
              <a:pPr/>
              <a:t>16</a:t>
            </a:fld>
            <a:endParaRPr lang="en-US"/>
          </a:p>
        </p:txBody>
      </p:sp>
      <p:sp>
        <p:nvSpPr>
          <p:cNvPr id="3" name="Content Placeholder 2"/>
          <p:cNvSpPr>
            <a:spLocks noGrp="1"/>
          </p:cNvSpPr>
          <p:nvPr>
            <p:ph sz="quarter" idx="1"/>
          </p:nvPr>
        </p:nvSpPr>
        <p:spPr>
          <a:xfrm>
            <a:off x="457200" y="1828800"/>
            <a:ext cx="8229600" cy="4297363"/>
          </a:xfrm>
        </p:spPr>
        <p:txBody>
          <a:bodyPr>
            <a:normAutofit/>
          </a:bodyPr>
          <a:lstStyle/>
          <a:p>
            <a:pPr>
              <a:buNone/>
            </a:pPr>
            <a:endParaRPr lang="en-US" dirty="0"/>
          </a:p>
          <a:p>
            <a:pPr>
              <a:buNone/>
            </a:pPr>
            <a:r>
              <a:rPr lang="en-US" dirty="0"/>
              <a:t>1) Genital ulcer</a:t>
            </a:r>
          </a:p>
          <a:p>
            <a:pPr>
              <a:buNone/>
            </a:pPr>
            <a:r>
              <a:rPr lang="en-US" dirty="0"/>
              <a:t>2) Inguinal Bubo</a:t>
            </a:r>
          </a:p>
          <a:p>
            <a:pPr>
              <a:buNone/>
            </a:pPr>
            <a:r>
              <a:rPr lang="en-US" dirty="0"/>
              <a:t>3) Abnormal vaginal discharge</a:t>
            </a:r>
          </a:p>
          <a:p>
            <a:pPr>
              <a:buNone/>
            </a:pPr>
            <a:r>
              <a:rPr lang="en-US" dirty="0"/>
              <a:t>4) Lower abdominal pain</a:t>
            </a:r>
          </a:p>
          <a:p>
            <a:pPr>
              <a:buNone/>
            </a:pPr>
            <a:r>
              <a:rPr lang="en-US" dirty="0"/>
              <a:t>5) Urethral discharge</a:t>
            </a:r>
          </a:p>
          <a:p>
            <a:pPr>
              <a:buNone/>
            </a:pPr>
            <a:r>
              <a:rPr lang="en-US" dirty="0"/>
              <a:t>6) Scrotal swelling</a:t>
            </a:r>
          </a:p>
          <a:p>
            <a:pPr>
              <a:buNone/>
            </a:pPr>
            <a:r>
              <a:rPr lang="en-US" dirty="0"/>
              <a:t>7) Neonatal conjunctivitis</a:t>
            </a:r>
          </a:p>
        </p:txBody>
      </p:sp>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Genital ulcer </a:t>
            </a:r>
          </a:p>
        </p:txBody>
      </p:sp>
      <p:sp>
        <p:nvSpPr>
          <p:cNvPr id="3" name="Slide Number Placeholder 2"/>
          <p:cNvSpPr>
            <a:spLocks noGrp="1"/>
          </p:cNvSpPr>
          <p:nvPr>
            <p:ph type="sldNum" sz="quarter" idx="12"/>
          </p:nvPr>
        </p:nvSpPr>
        <p:spPr/>
        <p:txBody>
          <a:bodyPr>
            <a:normAutofit/>
          </a:bodyPr>
          <a:lstStyle/>
          <a:p>
            <a:fld id="{D86A8FF9-5D3E-40A1-B361-C7F20E9F1290}" type="slidenum">
              <a:rPr lang="en-US" smtClean="0"/>
              <a:pPr/>
              <a:t>17</a:t>
            </a:fld>
            <a:endParaRPr lang="en-US"/>
          </a:p>
        </p:txBody>
      </p:sp>
      <p:pic>
        <p:nvPicPr>
          <p:cNvPr id="3074" name="Picture 2"/>
          <p:cNvPicPr>
            <a:picLocks noGrp="1" noChangeAspect="1" noChangeArrowheads="1"/>
          </p:cNvPicPr>
          <p:nvPr>
            <p:ph sz="quarter" idx="1"/>
          </p:nvPr>
        </p:nvPicPr>
        <p:blipFill>
          <a:blip r:embed="rId2"/>
          <a:srcRect/>
          <a:stretch>
            <a:fillRect/>
          </a:stretch>
        </p:blipFill>
        <p:spPr bwMode="auto">
          <a:xfrm>
            <a:off x="1524000" y="1524000"/>
            <a:ext cx="6019800" cy="5029200"/>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Genital Herpes (HSV)</a:t>
            </a:r>
            <a:br>
              <a:rPr lang="en-US" dirty="0"/>
            </a:br>
            <a:endParaRPr lang="en-US" dirty="0"/>
          </a:p>
        </p:txBody>
      </p:sp>
      <p:sp>
        <p:nvSpPr>
          <p:cNvPr id="4" name="Slide Number Placeholder 3"/>
          <p:cNvSpPr>
            <a:spLocks noGrp="1"/>
          </p:cNvSpPr>
          <p:nvPr>
            <p:ph type="sldNum" sz="quarter" idx="12"/>
          </p:nvPr>
        </p:nvSpPr>
        <p:spPr/>
        <p:txBody>
          <a:bodyPr>
            <a:normAutofit/>
          </a:bodyPr>
          <a:lstStyle/>
          <a:p>
            <a:fld id="{D86A8FF9-5D3E-40A1-B361-C7F20E9F1290}" type="slidenum">
              <a:rPr lang="en-US" smtClean="0"/>
              <a:pPr/>
              <a:t>18</a:t>
            </a:fld>
            <a:endParaRPr lang="en-US"/>
          </a:p>
        </p:txBody>
      </p:sp>
      <p:sp>
        <p:nvSpPr>
          <p:cNvPr id="3" name="Content Placeholder 2"/>
          <p:cNvSpPr>
            <a:spLocks noGrp="1"/>
          </p:cNvSpPr>
          <p:nvPr>
            <p:ph sz="quarter" idx="1"/>
          </p:nvPr>
        </p:nvSpPr>
        <p:spPr/>
        <p:txBody>
          <a:bodyPr>
            <a:normAutofit/>
          </a:bodyPr>
          <a:lstStyle/>
          <a:p>
            <a:pPr lvl="1"/>
            <a:r>
              <a:rPr lang="en-US" sz="2600" dirty="0"/>
              <a:t>Etiology: HSV 2 occasionally HSV 1, chronic life long infection</a:t>
            </a:r>
          </a:p>
          <a:p>
            <a:pPr lvl="1"/>
            <a:r>
              <a:rPr lang="en-US" sz="2600" dirty="0"/>
              <a:t>Lesion: primary infection – burning and itching </a:t>
            </a:r>
            <a:r>
              <a:rPr lang="en-US" sz="2600" dirty="0" err="1"/>
              <a:t>prodrome</a:t>
            </a:r>
            <a:r>
              <a:rPr lang="en-US" sz="2600" dirty="0"/>
              <a:t> followed by erythematous papules forming </a:t>
            </a:r>
            <a:r>
              <a:rPr lang="en-US" sz="2600" dirty="0">
                <a:ln/>
                <a:solidFill>
                  <a:schemeClr val="tx1">
                    <a:lumMod val="95000"/>
                    <a:lumOff val="5000"/>
                  </a:schemeClr>
                </a:solidFill>
                <a:effectLst>
                  <a:outerShdw blurRad="38100" dist="25400" dir="5400000" algn="ctr" rotWithShape="0">
                    <a:srgbClr val="6E747A">
                      <a:alpha val="43000"/>
                    </a:srgbClr>
                  </a:outerShdw>
                </a:effectLst>
              </a:rPr>
              <a:t>vesicles which rupture and form painful multiple ulcers and heal by crusting and without scaring</a:t>
            </a:r>
            <a:endParaRPr lang="en-US" sz="2600" dirty="0">
              <a:solidFill>
                <a:schemeClr val="tx1">
                  <a:lumMod val="95000"/>
                  <a:lumOff val="5000"/>
                </a:schemeClr>
              </a:solidFill>
            </a:endParaRPr>
          </a:p>
          <a:p>
            <a:endParaRPr lang="en-US" dirty="0"/>
          </a:p>
          <a:p>
            <a:endParaRPr lang="en-US" dirty="0"/>
          </a:p>
        </p:txBody>
      </p:sp>
      <p:pic>
        <p:nvPicPr>
          <p:cNvPr id="5" name="Picture 3"/>
          <p:cNvPicPr>
            <a:picLocks noChangeAspect="1" noChangeArrowheads="1"/>
          </p:cNvPicPr>
          <p:nvPr/>
        </p:nvPicPr>
        <p:blipFill>
          <a:blip r:embed="rId2" cstate="print">
            <a:extLst>
              <a:ext uri="{28A0092B-C50C-407E-A947-70E740481C1C}">
                <a14:useLocalDpi xmlns:a14="http://schemas.microsoft.com/office/drawing/2010/main" xmlns="" val="0"/>
              </a:ext>
            </a:extLst>
          </a:blip>
          <a:srcRect/>
          <a:stretch>
            <a:fillRect/>
          </a:stretch>
        </p:blipFill>
        <p:spPr bwMode="auto">
          <a:xfrm>
            <a:off x="5217708" y="4318628"/>
            <a:ext cx="3727708" cy="203772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pic>
        <p:nvPicPr>
          <p:cNvPr id="7" name="Picture 6"/>
          <p:cNvPicPr>
            <a:picLocks noChangeAspect="1"/>
          </p:cNvPicPr>
          <p:nvPr/>
        </p:nvPicPr>
        <p:blipFill>
          <a:blip r:embed="rId3"/>
          <a:stretch>
            <a:fillRect/>
          </a:stretch>
        </p:blipFill>
        <p:spPr>
          <a:xfrm>
            <a:off x="936458" y="4218119"/>
            <a:ext cx="4223084" cy="2320793"/>
          </a:xfrm>
          <a:prstGeom prst="rect">
            <a:avLst/>
          </a:prstGeom>
        </p:spPr>
      </p:pic>
    </p:spTree>
    <p:extLst>
      <p:ext uri="{BB962C8B-B14F-4D97-AF65-F5344CB8AC3E}">
        <p14:creationId xmlns:p14="http://schemas.microsoft.com/office/powerpoint/2010/main" xmlns="" val="1922029480"/>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000" dirty="0">
                <a:latin typeface="Times New Roman" pitchFamily="18" charset="0"/>
                <a:ea typeface="Calibri Light" panose="020F0302020204030204"/>
                <a:cs typeface="Times New Roman" pitchFamily="18" charset="0"/>
              </a:rPr>
              <a:t>Clinical Manifestations</a:t>
            </a:r>
            <a:endParaRPr lang="en-US" sz="4000" dirty="0">
              <a:latin typeface="Times New Roman" pitchFamily="18" charset="0"/>
              <a:cs typeface="Times New Roman" pitchFamily="18" charset="0"/>
            </a:endParaRPr>
          </a:p>
        </p:txBody>
      </p:sp>
      <p:sp>
        <p:nvSpPr>
          <p:cNvPr id="4" name="Text Placeholder 3"/>
          <p:cNvSpPr>
            <a:spLocks noGrp="1"/>
          </p:cNvSpPr>
          <p:nvPr>
            <p:ph type="body" idx="1"/>
          </p:nvPr>
        </p:nvSpPr>
        <p:spPr>
          <a:xfrm>
            <a:off x="621866" y="1524001"/>
            <a:ext cx="7878864" cy="1676400"/>
          </a:xfrm>
        </p:spPr>
        <p:txBody>
          <a:bodyPr>
            <a:noAutofit/>
          </a:bodyPr>
          <a:lstStyle/>
          <a:p>
            <a:r>
              <a:rPr lang="en-US" b="0" dirty="0">
                <a:latin typeface="Times New Roman" pitchFamily="18" charset="0"/>
                <a:ea typeface="Calibri" panose="020F0502020204030204"/>
                <a:cs typeface="Times New Roman" pitchFamily="18" charset="0"/>
              </a:rPr>
              <a:t>The clinical designations of genital HSV infection are</a:t>
            </a:r>
          </a:p>
          <a:p>
            <a:pPr marL="685800" lvl="1" indent="-342900">
              <a:buFont typeface="+mj-lt"/>
              <a:buAutoNum type="arabicPeriod"/>
            </a:pPr>
            <a:r>
              <a:rPr lang="en-US" sz="2400" b="0" dirty="0">
                <a:latin typeface="Times New Roman" pitchFamily="18" charset="0"/>
                <a:ea typeface="Calibri" panose="020F0502020204030204"/>
                <a:cs typeface="Times New Roman" pitchFamily="18" charset="0"/>
              </a:rPr>
              <a:t>Primary infection</a:t>
            </a:r>
          </a:p>
          <a:p>
            <a:pPr marL="685800" lvl="1" indent="-342900">
              <a:buFont typeface="+mj-lt"/>
              <a:buAutoNum type="arabicPeriod"/>
            </a:pPr>
            <a:r>
              <a:rPr lang="en-US" sz="2400" b="0" dirty="0">
                <a:latin typeface="Times New Roman" pitchFamily="18" charset="0"/>
                <a:ea typeface="Calibri" panose="020F0502020204030204"/>
                <a:cs typeface="Times New Roman" pitchFamily="18" charset="0"/>
              </a:rPr>
              <a:t>Non-primary First episode</a:t>
            </a:r>
          </a:p>
          <a:p>
            <a:pPr marL="685800" lvl="1" indent="-342900">
              <a:buFont typeface="+mj-lt"/>
              <a:buAutoNum type="arabicPeriod"/>
            </a:pPr>
            <a:r>
              <a:rPr lang="en-US" sz="2400" b="0" dirty="0">
                <a:latin typeface="Times New Roman" pitchFamily="18" charset="0"/>
                <a:ea typeface="Calibri" panose="020F0502020204030204"/>
                <a:cs typeface="Times New Roman" pitchFamily="18" charset="0"/>
              </a:rPr>
              <a:t>Recurrent</a:t>
            </a:r>
          </a:p>
        </p:txBody>
      </p:sp>
      <p:sp>
        <p:nvSpPr>
          <p:cNvPr id="5" name="Slide Number Placeholder 4">
            <a:extLst>
              <a:ext uri="{FF2B5EF4-FFF2-40B4-BE49-F238E27FC236}">
                <a16:creationId xmlns:a16="http://schemas.microsoft.com/office/drawing/2014/main" xmlns="" id="{769CDB2F-BF78-4B15-B235-F2536577FF76}"/>
              </a:ext>
            </a:extLst>
          </p:cNvPr>
          <p:cNvSpPr>
            <a:spLocks noGrp="1"/>
          </p:cNvSpPr>
          <p:nvPr>
            <p:ph type="sldNum" sz="quarter" idx="12"/>
          </p:nvPr>
        </p:nvSpPr>
        <p:spPr/>
        <p:txBody>
          <a:bodyPr>
            <a:normAutofit/>
          </a:bodyPr>
          <a:lstStyle/>
          <a:p>
            <a:fld id="{330EA680-D336-4FF7-8B7A-9848BB0A1C32}" type="slidenum">
              <a:rPr lang="en-US" smtClean="0"/>
              <a:pPr/>
              <a:t>19</a:t>
            </a:fld>
            <a:endParaRPr lang="en-US"/>
          </a:p>
        </p:txBody>
      </p:sp>
      <p:sp>
        <p:nvSpPr>
          <p:cNvPr id="3" name="Content Placeholder 2"/>
          <p:cNvSpPr>
            <a:spLocks noGrp="1"/>
          </p:cNvSpPr>
          <p:nvPr>
            <p:ph sz="half" idx="2"/>
          </p:nvPr>
        </p:nvSpPr>
        <p:spPr>
          <a:xfrm>
            <a:off x="438455" y="3456911"/>
            <a:ext cx="3868340" cy="2377512"/>
          </a:xfrm>
        </p:spPr>
        <p:txBody>
          <a:bodyPr vert="horz" lIns="68580" tIns="34290" rIns="68580" bIns="34290" rtlCol="0" anchor="t">
            <a:noAutofit/>
          </a:bodyPr>
          <a:lstStyle/>
          <a:p>
            <a:pPr marL="0" indent="0">
              <a:buNone/>
            </a:pPr>
            <a:r>
              <a:rPr lang="en-US" sz="2200" u="sng" dirty="0">
                <a:latin typeface="Times New Roman" pitchFamily="18" charset="0"/>
                <a:ea typeface="Calibri" panose="020F0502020204030204"/>
                <a:cs typeface="Times New Roman" pitchFamily="18" charset="0"/>
              </a:rPr>
              <a:t>Primary infection </a:t>
            </a:r>
          </a:p>
          <a:p>
            <a:r>
              <a:rPr lang="en-US" sz="2200" dirty="0">
                <a:latin typeface="Times New Roman" pitchFamily="18" charset="0"/>
                <a:ea typeface="Calibri" panose="020F0502020204030204"/>
                <a:cs typeface="Times New Roman" pitchFamily="18" charset="0"/>
              </a:rPr>
              <a:t>Incubation period is 4days</a:t>
            </a:r>
          </a:p>
          <a:p>
            <a:r>
              <a:rPr lang="en-US" sz="2200" dirty="0">
                <a:latin typeface="Times New Roman" pitchFamily="18" charset="0"/>
                <a:ea typeface="Calibri" panose="020F0502020204030204"/>
                <a:cs typeface="Times New Roman" pitchFamily="18" charset="0"/>
              </a:rPr>
              <a:t>Begin as grouped vesicles with associated underlying erythema that progress to vesicopustules, erosions and shallow painful ulcer</a:t>
            </a:r>
          </a:p>
          <a:p>
            <a:r>
              <a:rPr lang="en-US" sz="2200" b="1" dirty="0">
                <a:solidFill>
                  <a:schemeClr val="tx1">
                    <a:lumMod val="95000"/>
                    <a:lumOff val="5000"/>
                  </a:schemeClr>
                </a:solidFill>
                <a:latin typeface="Times New Roman" pitchFamily="18" charset="0"/>
                <a:ea typeface="Calibri" panose="020F0502020204030204"/>
                <a:cs typeface="Times New Roman" pitchFamily="18" charset="0"/>
              </a:rPr>
              <a:t>Dysuria</a:t>
            </a:r>
            <a:r>
              <a:rPr lang="en-US" sz="2200" dirty="0">
                <a:latin typeface="Times New Roman" pitchFamily="18" charset="0"/>
                <a:ea typeface="Calibri" panose="020F0502020204030204"/>
                <a:cs typeface="Times New Roman" pitchFamily="18" charset="0"/>
              </a:rPr>
              <a:t>, fever tender local LAP</a:t>
            </a:r>
          </a:p>
        </p:txBody>
      </p:sp>
      <p:sp>
        <p:nvSpPr>
          <p:cNvPr id="6" name="Content Placeholder 5"/>
          <p:cNvSpPr>
            <a:spLocks noGrp="1"/>
          </p:cNvSpPr>
          <p:nvPr>
            <p:ph sz="half" idx="4"/>
          </p:nvPr>
        </p:nvSpPr>
        <p:spPr>
          <a:xfrm>
            <a:off x="4645099" y="2743200"/>
            <a:ext cx="3887391" cy="3123121"/>
          </a:xfrm>
        </p:spPr>
        <p:txBody>
          <a:bodyPr>
            <a:noAutofit/>
          </a:bodyPr>
          <a:lstStyle/>
          <a:p>
            <a:pPr marL="0" indent="0">
              <a:buNone/>
            </a:pPr>
            <a:r>
              <a:rPr lang="en-US" sz="2200" u="sng" dirty="0">
                <a:latin typeface="Times New Roman" pitchFamily="18" charset="0"/>
                <a:cs typeface="Times New Roman" pitchFamily="18" charset="0"/>
              </a:rPr>
              <a:t>Recurrent Infection</a:t>
            </a:r>
          </a:p>
          <a:p>
            <a:r>
              <a:rPr lang="en-US" sz="2200" dirty="0">
                <a:latin typeface="Times New Roman" pitchFamily="18" charset="0"/>
                <a:cs typeface="Times New Roman" pitchFamily="18" charset="0"/>
              </a:rPr>
              <a:t>Less severe and shorter duration of lesions and viral </a:t>
            </a:r>
            <a:r>
              <a:rPr lang="en-US" sz="2200" dirty="0" smtClean="0">
                <a:latin typeface="Times New Roman" pitchFamily="18" charset="0"/>
                <a:cs typeface="Times New Roman" pitchFamily="18" charset="0"/>
              </a:rPr>
              <a:t>shedding</a:t>
            </a:r>
            <a:endParaRPr lang="en-US" sz="2200" dirty="0">
              <a:latin typeface="Times New Roman" pitchFamily="18" charset="0"/>
              <a:cs typeface="Times New Roman" pitchFamily="18" charset="0"/>
            </a:endParaRPr>
          </a:p>
          <a:p>
            <a:r>
              <a:rPr lang="en-US" sz="2200" dirty="0">
                <a:latin typeface="Times New Roman" pitchFamily="18" charset="0"/>
                <a:cs typeface="Times New Roman" pitchFamily="18" charset="0"/>
              </a:rPr>
              <a:t>Prodromal symptoms before eruption</a:t>
            </a:r>
          </a:p>
          <a:p>
            <a:r>
              <a:rPr lang="en-US" sz="2200" dirty="0">
                <a:latin typeface="Times New Roman" pitchFamily="18" charset="0"/>
                <a:cs typeface="Times New Roman" pitchFamily="18" charset="0"/>
              </a:rPr>
              <a:t>Frequency of recurrence infection depends on the severity and duration of the initial infection, the infecting serotype and the host.</a:t>
            </a:r>
          </a:p>
        </p:txBody>
      </p:sp>
    </p:spTree>
    <p:extLst>
      <p:ext uri="{BB962C8B-B14F-4D97-AF65-F5344CB8AC3E}">
        <p14:creationId xmlns:p14="http://schemas.microsoft.com/office/powerpoint/2010/main" xmlns="" val="1941337343"/>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normAutofit/>
          </a:bodyPr>
          <a:lstStyle/>
          <a:p>
            <a:fld id="{D86A8FF9-5D3E-40A1-B361-C7F20E9F1290}" type="slidenum">
              <a:rPr lang="en-US" smtClean="0"/>
              <a:pPr/>
              <a:t>20</a:t>
            </a:fld>
            <a:endParaRPr lang="en-US"/>
          </a:p>
        </p:txBody>
      </p:sp>
      <p:sp>
        <p:nvSpPr>
          <p:cNvPr id="3" name="Content Placeholder 2"/>
          <p:cNvSpPr>
            <a:spLocks noGrp="1"/>
          </p:cNvSpPr>
          <p:nvPr>
            <p:ph sz="quarter" idx="1"/>
          </p:nvPr>
        </p:nvSpPr>
        <p:spPr>
          <a:xfrm>
            <a:off x="457200" y="304800"/>
            <a:ext cx="8229600" cy="5821363"/>
          </a:xfrm>
        </p:spPr>
        <p:txBody>
          <a:bodyPr>
            <a:normAutofit fontScale="85000" lnSpcReduction="20000"/>
          </a:bodyPr>
          <a:lstStyle/>
          <a:p>
            <a:pPr lvl="1"/>
            <a:endParaRPr lang="en-US" sz="2600" dirty="0"/>
          </a:p>
          <a:p>
            <a:pPr lvl="1"/>
            <a:endParaRPr lang="en-US" sz="2600" dirty="0"/>
          </a:p>
          <a:p>
            <a:pPr lvl="1"/>
            <a:r>
              <a:rPr lang="en-US" sz="3100" dirty="0"/>
              <a:t>Diagnosis: typical clinical presentation, </a:t>
            </a:r>
            <a:r>
              <a:rPr lang="en-US" sz="3100" b="1" dirty="0"/>
              <a:t>Gold standard </a:t>
            </a:r>
            <a:r>
              <a:rPr lang="en-US" sz="3100" dirty="0"/>
              <a:t>is tissue culture</a:t>
            </a:r>
          </a:p>
          <a:p>
            <a:pPr lvl="2"/>
            <a:r>
              <a:rPr lang="en-US" sz="3100" dirty="0"/>
              <a:t>PCR may have more sensitivity, HSV type specific antibodies may add clarity</a:t>
            </a:r>
          </a:p>
          <a:p>
            <a:pPr lvl="1"/>
            <a:r>
              <a:rPr lang="en-US" sz="3100" dirty="0"/>
              <a:t>Treatment: analgesics – acetaminophen, </a:t>
            </a:r>
            <a:r>
              <a:rPr lang="en-US" sz="3100" dirty="0" err="1"/>
              <a:t>codein</a:t>
            </a:r>
            <a:r>
              <a:rPr lang="en-US" sz="3100" dirty="0"/>
              <a:t>; antivirals not be necessary – does not eradicate the virus</a:t>
            </a:r>
          </a:p>
          <a:p>
            <a:pPr marL="914400" lvl="2" indent="0">
              <a:buNone/>
            </a:pPr>
            <a:r>
              <a:rPr lang="en-US" sz="3100" dirty="0"/>
              <a:t>Episodic therapy – 1</a:t>
            </a:r>
            <a:r>
              <a:rPr lang="en-US" sz="3100" baseline="30000" dirty="0"/>
              <a:t>st</a:t>
            </a:r>
            <a:r>
              <a:rPr lang="en-US" sz="3100" dirty="0"/>
              <a:t> episode, severe disease, recurrent disease – early initiation</a:t>
            </a:r>
          </a:p>
          <a:p>
            <a:pPr lvl="2"/>
            <a:r>
              <a:rPr lang="en-US" sz="3100" dirty="0"/>
              <a:t>Acyclovir 400mg/200mg </a:t>
            </a:r>
            <a:r>
              <a:rPr lang="en-US" sz="3100" dirty="0" err="1"/>
              <a:t>po</a:t>
            </a:r>
            <a:r>
              <a:rPr lang="en-US" sz="3100" dirty="0"/>
              <a:t> 3x/d  or 5x/d for 7-10 days – 1</a:t>
            </a:r>
            <a:r>
              <a:rPr lang="en-US" sz="3100" baseline="30000" dirty="0"/>
              <a:t>st</a:t>
            </a:r>
            <a:r>
              <a:rPr lang="en-US" sz="3100" dirty="0"/>
              <a:t> episode</a:t>
            </a:r>
          </a:p>
          <a:p>
            <a:pPr lvl="2"/>
            <a:r>
              <a:rPr lang="en-US" sz="3100" dirty="0"/>
              <a:t>Acyclovir 400mg/800mg 3x/d for 5 days or 2x/d or 3x/d for 5 days/2 days – recurrent episodes</a:t>
            </a:r>
          </a:p>
          <a:p>
            <a:pPr marL="914400" lvl="2" indent="0">
              <a:buNone/>
            </a:pPr>
            <a:r>
              <a:rPr lang="en-US" sz="3100" dirty="0"/>
              <a:t>Suppressive therapy – too frequent recurrences:  Acyclovir 400mg </a:t>
            </a:r>
            <a:r>
              <a:rPr lang="en-US" sz="3100" dirty="0" err="1"/>
              <a:t>po</a:t>
            </a:r>
            <a:r>
              <a:rPr lang="en-US" sz="3100" dirty="0"/>
              <a:t> 2x/d</a:t>
            </a:r>
          </a:p>
          <a:p>
            <a:endParaRPr lang="en-US" dirty="0"/>
          </a:p>
        </p:txBody>
      </p:sp>
    </p:spTree>
    <p:extLst>
      <p:ext uri="{BB962C8B-B14F-4D97-AF65-F5344CB8AC3E}">
        <p14:creationId xmlns:p14="http://schemas.microsoft.com/office/powerpoint/2010/main" xmlns="" val="3659407757"/>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73162"/>
          </a:xfrm>
        </p:spPr>
        <p:txBody>
          <a:bodyPr/>
          <a:lstStyle/>
          <a:p>
            <a:r>
              <a:rPr lang="en-US" sz="4000" dirty="0"/>
              <a:t>Syphilis</a:t>
            </a:r>
            <a:r>
              <a:rPr lang="en-US" dirty="0"/>
              <a:t> </a:t>
            </a:r>
          </a:p>
        </p:txBody>
      </p:sp>
      <p:sp>
        <p:nvSpPr>
          <p:cNvPr id="3" name="Slide Number Placeholder 2"/>
          <p:cNvSpPr>
            <a:spLocks noGrp="1"/>
          </p:cNvSpPr>
          <p:nvPr>
            <p:ph type="sldNum" sz="quarter" idx="12"/>
          </p:nvPr>
        </p:nvSpPr>
        <p:spPr/>
        <p:txBody>
          <a:bodyPr>
            <a:normAutofit/>
          </a:bodyPr>
          <a:lstStyle/>
          <a:p>
            <a:fld id="{D86A8FF9-5D3E-40A1-B361-C7F20E9F1290}" type="slidenum">
              <a:rPr lang="en-US" smtClean="0"/>
              <a:pPr/>
              <a:t>21</a:t>
            </a:fld>
            <a:endParaRPr lang="en-US"/>
          </a:p>
        </p:txBody>
      </p:sp>
      <p:pic>
        <p:nvPicPr>
          <p:cNvPr id="5122" name="Picture 2"/>
          <p:cNvPicPr>
            <a:picLocks noGrp="1" noChangeAspect="1" noChangeArrowheads="1"/>
          </p:cNvPicPr>
          <p:nvPr>
            <p:ph sz="quarter" idx="1"/>
          </p:nvPr>
        </p:nvPicPr>
        <p:blipFill>
          <a:blip r:embed="rId2"/>
          <a:srcRect/>
          <a:stretch>
            <a:fillRect/>
          </a:stretch>
        </p:blipFill>
        <p:spPr bwMode="auto">
          <a:xfrm>
            <a:off x="228601" y="1431758"/>
            <a:ext cx="4419600" cy="4800600"/>
          </a:xfrm>
          <a:prstGeom prst="rect">
            <a:avLst/>
          </a:prstGeom>
          <a:noFill/>
          <a:ln w="9525">
            <a:noFill/>
            <a:miter lim="800000"/>
            <a:headEnd/>
            <a:tailEnd/>
          </a:ln>
          <a:effectLst/>
        </p:spPr>
      </p:pic>
      <p:pic>
        <p:nvPicPr>
          <p:cNvPr id="4" name="Picture 3"/>
          <p:cNvPicPr>
            <a:picLocks noChangeAspect="1"/>
          </p:cNvPicPr>
          <p:nvPr/>
        </p:nvPicPr>
        <p:blipFill>
          <a:blip r:embed="rId3">
            <a:extLst>
              <a:ext uri="{28A0092B-C50C-407E-A947-70E740481C1C}">
                <a14:useLocalDpi xmlns:a14="http://schemas.microsoft.com/office/drawing/2010/main" xmlns="" val="0"/>
              </a:ext>
            </a:extLst>
          </a:blip>
          <a:stretch>
            <a:fillRect/>
          </a:stretch>
        </p:blipFill>
        <p:spPr>
          <a:xfrm>
            <a:off x="4676275" y="1600200"/>
            <a:ext cx="4467725" cy="4419600"/>
          </a:xfrm>
          <a:prstGeom prst="rect">
            <a:avLst/>
          </a:prstGeom>
        </p:spPr>
      </p:pic>
    </p:spTree>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normAutofit/>
          </a:bodyPr>
          <a:lstStyle/>
          <a:p>
            <a:fld id="{D86A8FF9-5D3E-40A1-B361-C7F20E9F1290}" type="slidenum">
              <a:rPr lang="en-US" smtClean="0"/>
              <a:pPr/>
              <a:t>22</a:t>
            </a:fld>
            <a:endParaRPr lang="en-US"/>
          </a:p>
        </p:txBody>
      </p:sp>
      <p:pic>
        <p:nvPicPr>
          <p:cNvPr id="6146" name="Picture 2"/>
          <p:cNvPicPr>
            <a:picLocks noGrp="1" noChangeAspect="1" noChangeArrowheads="1"/>
          </p:cNvPicPr>
          <p:nvPr>
            <p:ph sz="quarter" idx="1"/>
          </p:nvPr>
        </p:nvPicPr>
        <p:blipFill>
          <a:blip r:embed="rId2"/>
          <a:srcRect/>
          <a:stretch>
            <a:fillRect/>
          </a:stretch>
        </p:blipFill>
        <p:spPr bwMode="auto">
          <a:xfrm>
            <a:off x="457199" y="457200"/>
            <a:ext cx="4513923" cy="2971800"/>
          </a:xfrm>
          <a:prstGeom prst="rect">
            <a:avLst/>
          </a:prstGeom>
          <a:noFill/>
          <a:ln w="9525">
            <a:noFill/>
            <a:miter lim="800000"/>
            <a:headEnd/>
            <a:tailEnd/>
          </a:ln>
          <a:effectLst/>
        </p:spPr>
      </p:pic>
      <p:pic>
        <p:nvPicPr>
          <p:cNvPr id="6147" name="Picture 3"/>
          <p:cNvPicPr>
            <a:picLocks noChangeAspect="1" noChangeArrowheads="1"/>
          </p:cNvPicPr>
          <p:nvPr/>
        </p:nvPicPr>
        <p:blipFill>
          <a:blip r:embed="rId3"/>
          <a:srcRect/>
          <a:stretch>
            <a:fillRect/>
          </a:stretch>
        </p:blipFill>
        <p:spPr bwMode="auto">
          <a:xfrm>
            <a:off x="304800" y="3671386"/>
            <a:ext cx="5217258" cy="3050089"/>
          </a:xfrm>
          <a:prstGeom prst="rect">
            <a:avLst/>
          </a:prstGeom>
          <a:noFill/>
          <a:ln w="9525">
            <a:noFill/>
            <a:miter lim="800000"/>
            <a:headEnd/>
            <a:tailEnd/>
          </a:ln>
          <a:effectLst/>
        </p:spPr>
      </p:pic>
      <p:pic>
        <p:nvPicPr>
          <p:cNvPr id="4" name="Picture 3"/>
          <p:cNvPicPr>
            <a:picLocks noChangeAspect="1"/>
          </p:cNvPicPr>
          <p:nvPr/>
        </p:nvPicPr>
        <p:blipFill>
          <a:blip r:embed="rId4">
            <a:extLst>
              <a:ext uri="{28A0092B-C50C-407E-A947-70E740481C1C}">
                <a14:useLocalDpi xmlns:a14="http://schemas.microsoft.com/office/drawing/2010/main" xmlns="" val="0"/>
              </a:ext>
            </a:extLst>
          </a:blip>
          <a:stretch>
            <a:fillRect/>
          </a:stretch>
        </p:blipFill>
        <p:spPr>
          <a:xfrm>
            <a:off x="5017689" y="331956"/>
            <a:ext cx="4130322" cy="3368534"/>
          </a:xfrm>
          <a:prstGeom prst="rect">
            <a:avLst/>
          </a:prstGeom>
        </p:spPr>
      </p:pic>
      <p:pic>
        <p:nvPicPr>
          <p:cNvPr id="5" name="Picture 4"/>
          <p:cNvPicPr>
            <a:picLocks noChangeAspect="1"/>
          </p:cNvPicPr>
          <p:nvPr/>
        </p:nvPicPr>
        <p:blipFill>
          <a:blip r:embed="rId5">
            <a:extLst>
              <a:ext uri="{28A0092B-C50C-407E-A947-70E740481C1C}">
                <a14:useLocalDpi xmlns:a14="http://schemas.microsoft.com/office/drawing/2010/main" xmlns="" val="0"/>
              </a:ext>
            </a:extLst>
          </a:blip>
          <a:stretch>
            <a:fillRect/>
          </a:stretch>
        </p:blipFill>
        <p:spPr>
          <a:xfrm>
            <a:off x="5703994" y="3751812"/>
            <a:ext cx="3490584" cy="2553215"/>
          </a:xfrm>
          <a:prstGeom prst="rect">
            <a:avLst/>
          </a:prstGeom>
        </p:spPr>
      </p:pic>
    </p:spTree>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normAutofit/>
          </a:bodyPr>
          <a:lstStyle/>
          <a:p>
            <a:fld id="{D86A8FF9-5D3E-40A1-B361-C7F20E9F1290}" type="slidenum">
              <a:rPr lang="en-US" smtClean="0"/>
              <a:pPr/>
              <a:t>23</a:t>
            </a:fld>
            <a:endParaRPr lang="en-US"/>
          </a:p>
        </p:txBody>
      </p:sp>
      <p:pic>
        <p:nvPicPr>
          <p:cNvPr id="7170" name="Picture 2"/>
          <p:cNvPicPr>
            <a:picLocks noGrp="1" noChangeAspect="1" noChangeArrowheads="1"/>
          </p:cNvPicPr>
          <p:nvPr>
            <p:ph sz="quarter" idx="1"/>
          </p:nvPr>
        </p:nvPicPr>
        <p:blipFill>
          <a:blip r:embed="rId2"/>
          <a:srcRect/>
          <a:stretch>
            <a:fillRect/>
          </a:stretch>
        </p:blipFill>
        <p:spPr bwMode="auto">
          <a:xfrm>
            <a:off x="104274" y="304800"/>
            <a:ext cx="6477000" cy="5956301"/>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3. Tertiary syphilis / Late syphilis</a:t>
            </a:r>
            <a:endParaRPr lang="en-US" dirty="0"/>
          </a:p>
        </p:txBody>
      </p:sp>
      <p:sp>
        <p:nvSpPr>
          <p:cNvPr id="4" name="Slide Number Placeholder 3"/>
          <p:cNvSpPr>
            <a:spLocks noGrp="1"/>
          </p:cNvSpPr>
          <p:nvPr>
            <p:ph type="sldNum" sz="quarter" idx="12"/>
          </p:nvPr>
        </p:nvSpPr>
        <p:spPr/>
        <p:txBody>
          <a:bodyPr>
            <a:normAutofit/>
          </a:bodyPr>
          <a:lstStyle/>
          <a:p>
            <a:fld id="{D86A8FF9-5D3E-40A1-B361-C7F20E9F1290}" type="slidenum">
              <a:rPr lang="en-US" smtClean="0"/>
              <a:pPr/>
              <a:t>24</a:t>
            </a:fld>
            <a:endParaRPr lang="en-US"/>
          </a:p>
        </p:txBody>
      </p:sp>
      <p:sp>
        <p:nvSpPr>
          <p:cNvPr id="3" name="Content Placeholder 2"/>
          <p:cNvSpPr>
            <a:spLocks noGrp="1"/>
          </p:cNvSpPr>
          <p:nvPr>
            <p:ph sz="quarter" idx="1"/>
          </p:nvPr>
        </p:nvSpPr>
        <p:spPr/>
        <p:txBody>
          <a:bodyPr>
            <a:noAutofit/>
          </a:bodyPr>
          <a:lstStyle/>
          <a:p>
            <a:r>
              <a:rPr lang="en-US" sz="2800" dirty="0"/>
              <a:t>Follows untreated earlier stages anytime within 1-30yrs after primary lesion.</a:t>
            </a:r>
            <a:endParaRPr lang="en-US" sz="2800" b="1" dirty="0"/>
          </a:p>
          <a:p>
            <a:r>
              <a:rPr lang="en-US" sz="2800" b="1" dirty="0" err="1"/>
              <a:t>Gumma</a:t>
            </a:r>
            <a:r>
              <a:rPr lang="en-US" sz="2800" dirty="0"/>
              <a:t> is </a:t>
            </a:r>
            <a:r>
              <a:rPr lang="en-US" sz="2800" dirty="0" err="1"/>
              <a:t>granulomatous</a:t>
            </a:r>
            <a:r>
              <a:rPr lang="en-US" sz="2800" dirty="0"/>
              <a:t> nodular lesions in skin &amp; bones</a:t>
            </a:r>
          </a:p>
          <a:p>
            <a:r>
              <a:rPr lang="en-US" sz="2800" b="1" dirty="0" err="1"/>
              <a:t>Neurosyphilis</a:t>
            </a:r>
            <a:endParaRPr lang="en-US" sz="2800" b="1" dirty="0"/>
          </a:p>
          <a:p>
            <a:pPr>
              <a:buNone/>
            </a:pPr>
            <a:r>
              <a:rPr lang="en-US" sz="2800" dirty="0"/>
              <a:t>   Asymptomatic</a:t>
            </a:r>
          </a:p>
          <a:p>
            <a:pPr>
              <a:buNone/>
            </a:pPr>
            <a:r>
              <a:rPr lang="en-US" sz="2800" dirty="0"/>
              <a:t>   Symptomatic- (</a:t>
            </a:r>
            <a:r>
              <a:rPr lang="en-US" sz="2800" dirty="0" err="1"/>
              <a:t>meningeovascular</a:t>
            </a:r>
            <a:r>
              <a:rPr lang="en-US" sz="2800" dirty="0"/>
              <a:t> syphilis, paresis, </a:t>
            </a:r>
            <a:r>
              <a:rPr lang="en-US" sz="2800" dirty="0" err="1"/>
              <a:t>tabes</a:t>
            </a:r>
            <a:r>
              <a:rPr lang="en-US" sz="2800" dirty="0"/>
              <a:t> </a:t>
            </a:r>
            <a:r>
              <a:rPr lang="en-US" sz="2800" dirty="0" err="1"/>
              <a:t>dorsalis</a:t>
            </a:r>
            <a:r>
              <a:rPr lang="en-US" sz="2800" dirty="0"/>
              <a:t>)</a:t>
            </a:r>
          </a:p>
          <a:p>
            <a:r>
              <a:rPr lang="en-US" sz="2800" b="1" dirty="0"/>
              <a:t>cardiovascular lesions –</a:t>
            </a:r>
            <a:r>
              <a:rPr lang="en-US" sz="2800" dirty="0" err="1"/>
              <a:t>aortitis</a:t>
            </a:r>
            <a:r>
              <a:rPr lang="en-US" sz="2800" dirty="0"/>
              <a:t>, aortic aneurysm,</a:t>
            </a:r>
          </a:p>
          <a:p>
            <a:pPr>
              <a:buNone/>
            </a:pPr>
            <a:r>
              <a:rPr lang="en-US" sz="2800" dirty="0"/>
              <a:t>aortic valve insufficiency</a:t>
            </a:r>
          </a:p>
        </p:txBody>
      </p:sp>
    </p:spTree>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D86A8FF9-5D3E-40A1-B361-C7F20E9F1290}" type="slidenum">
              <a:rPr lang="en-US" smtClean="0"/>
              <a:pPr/>
              <a:t>25</a:t>
            </a:fld>
            <a:endParaRPr lang="en-US"/>
          </a:p>
        </p:txBody>
      </p:sp>
      <p:sp>
        <p:nvSpPr>
          <p:cNvPr id="3" name="Content Placeholder 2"/>
          <p:cNvSpPr>
            <a:spLocks noGrp="1"/>
          </p:cNvSpPr>
          <p:nvPr>
            <p:ph sz="quarter" idx="1"/>
          </p:nvPr>
        </p:nvSpPr>
        <p:spPr>
          <a:xfrm>
            <a:off x="457200" y="533400"/>
            <a:ext cx="8229600" cy="5592763"/>
          </a:xfrm>
        </p:spPr>
        <p:txBody>
          <a:bodyPr>
            <a:normAutofit fontScale="77500" lnSpcReduction="20000"/>
          </a:bodyPr>
          <a:lstStyle/>
          <a:p>
            <a:pPr lvl="1"/>
            <a:r>
              <a:rPr lang="en-US" sz="3100" dirty="0"/>
              <a:t>Diagnosis: depends </a:t>
            </a:r>
            <a:r>
              <a:rPr lang="en-US" sz="3100" dirty="0" smtClean="0"/>
              <a:t>on </a:t>
            </a:r>
            <a:r>
              <a:rPr lang="en-US" sz="3100" dirty="0"/>
              <a:t>the stage of the disease</a:t>
            </a:r>
          </a:p>
          <a:p>
            <a:pPr lvl="2"/>
            <a:r>
              <a:rPr lang="en-US" sz="3100" dirty="0"/>
              <a:t>Early syphilis (primary and secondary) – dark field examination of lesion </a:t>
            </a:r>
            <a:r>
              <a:rPr lang="en-US" sz="3100" dirty="0" err="1"/>
              <a:t>exudate</a:t>
            </a:r>
            <a:endParaRPr lang="en-US" sz="3100" dirty="0"/>
          </a:p>
          <a:p>
            <a:pPr lvl="2"/>
            <a:r>
              <a:rPr lang="en-US" sz="3100" dirty="0"/>
              <a:t>Latent syphilis – </a:t>
            </a:r>
          </a:p>
          <a:p>
            <a:pPr lvl="3"/>
            <a:r>
              <a:rPr lang="en-US" sz="3100" dirty="0"/>
              <a:t>Early latent syphilis: documented </a:t>
            </a:r>
            <a:r>
              <a:rPr lang="en-US" sz="3100" dirty="0" err="1"/>
              <a:t>sero</a:t>
            </a:r>
            <a:r>
              <a:rPr lang="en-US" sz="3100" dirty="0"/>
              <a:t>-conversion or sustained titer, symptoms of 1</a:t>
            </a:r>
            <a:r>
              <a:rPr lang="en-US" sz="3100" baseline="30000" dirty="0"/>
              <a:t>o</a:t>
            </a:r>
            <a:r>
              <a:rPr lang="en-US" sz="3100" dirty="0"/>
              <a:t>or 2</a:t>
            </a:r>
            <a:r>
              <a:rPr lang="en-US" sz="3100" baseline="30000" dirty="0"/>
              <a:t>o</a:t>
            </a:r>
            <a:r>
              <a:rPr lang="en-US" sz="3100" dirty="0"/>
              <a:t> syphilis, partner with documented syphilis</a:t>
            </a:r>
          </a:p>
          <a:p>
            <a:pPr lvl="3"/>
            <a:r>
              <a:rPr lang="en-US" sz="3100" dirty="0"/>
              <a:t>Late latent syphilis: all others</a:t>
            </a:r>
          </a:p>
          <a:p>
            <a:pPr lvl="2"/>
            <a:r>
              <a:rPr lang="en-US" sz="3100" dirty="0"/>
              <a:t>Late syphilis (beyond secondary) – Serologic tests:</a:t>
            </a:r>
          </a:p>
          <a:p>
            <a:pPr lvl="3"/>
            <a:r>
              <a:rPr lang="en-US" sz="3100" dirty="0"/>
              <a:t>Non-</a:t>
            </a:r>
            <a:r>
              <a:rPr lang="en-US" sz="3100" dirty="0" err="1"/>
              <a:t>treponemal</a:t>
            </a:r>
            <a:r>
              <a:rPr lang="en-US" sz="3100" dirty="0"/>
              <a:t> tests – VDRL, RPR – screening, quantitative measurement (follow up)</a:t>
            </a:r>
          </a:p>
          <a:p>
            <a:pPr lvl="3"/>
            <a:r>
              <a:rPr lang="en-US" sz="3100" dirty="0" err="1"/>
              <a:t>Treponemal</a:t>
            </a:r>
            <a:r>
              <a:rPr lang="en-US" sz="3100" dirty="0"/>
              <a:t> tests – FTA-ABS, TP-PA – confirmation and diagnosis</a:t>
            </a:r>
          </a:p>
          <a:p>
            <a:pPr lvl="2"/>
            <a:r>
              <a:rPr lang="en-US" sz="3100" dirty="0" err="1"/>
              <a:t>Neurosyphilis</a:t>
            </a:r>
            <a:r>
              <a:rPr lang="en-US" sz="3100" dirty="0"/>
              <a:t> – </a:t>
            </a:r>
          </a:p>
          <a:p>
            <a:pPr lvl="3"/>
            <a:r>
              <a:rPr lang="en-US" sz="3100" dirty="0"/>
              <a:t>Serology, CSF tests (cell count, protein and VDRL), clinical/neurologic symptoms</a:t>
            </a:r>
          </a:p>
          <a:p>
            <a:endParaRPr lang="en-US" dirty="0"/>
          </a:p>
        </p:txBody>
      </p:sp>
    </p:spTree>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000" dirty="0">
                <a:latin typeface="Times New Roman" pitchFamily="18" charset="0"/>
                <a:cs typeface="Times New Roman" pitchFamily="18" charset="0"/>
                <a:sym typeface="+mn-ea"/>
              </a:rPr>
              <a:t>Serologic Testing Algorithms</a:t>
            </a:r>
            <a:endParaRPr lang="en-US" sz="4000" dirty="0">
              <a:latin typeface="Times New Roman" pitchFamily="18" charset="0"/>
              <a:cs typeface="Times New Roman" pitchFamily="18" charset="0"/>
            </a:endParaRPr>
          </a:p>
        </p:txBody>
      </p:sp>
      <p:sp>
        <p:nvSpPr>
          <p:cNvPr id="4" name="Text Placeholder 3"/>
          <p:cNvSpPr>
            <a:spLocks noGrp="1"/>
          </p:cNvSpPr>
          <p:nvPr>
            <p:ph type="body" idx="1"/>
          </p:nvPr>
        </p:nvSpPr>
        <p:spPr/>
        <p:txBody>
          <a:bodyPr>
            <a:normAutofit lnSpcReduction="10000"/>
          </a:bodyPr>
          <a:lstStyle/>
          <a:p>
            <a:r>
              <a:rPr lang="en-ZA" altLang="en-US" b="0" dirty="0">
                <a:latin typeface="Times New Roman" pitchFamily="18" charset="0"/>
                <a:cs typeface="Times New Roman" pitchFamily="18" charset="0"/>
              </a:rPr>
              <a:t>Reverse Sequence Screening Algorithm</a:t>
            </a:r>
          </a:p>
        </p:txBody>
      </p:sp>
      <p:sp>
        <p:nvSpPr>
          <p:cNvPr id="6" name="Text Placeholder 5"/>
          <p:cNvSpPr>
            <a:spLocks noGrp="1"/>
          </p:cNvSpPr>
          <p:nvPr>
            <p:ph type="body" sz="half" idx="3"/>
          </p:nvPr>
        </p:nvSpPr>
        <p:spPr/>
        <p:txBody>
          <a:bodyPr>
            <a:normAutofit lnSpcReduction="10000"/>
          </a:bodyPr>
          <a:lstStyle/>
          <a:p>
            <a:r>
              <a:rPr lang="en-US" b="0" dirty="0">
                <a:latin typeface="Times New Roman" pitchFamily="18" charset="0"/>
                <a:cs typeface="Times New Roman" pitchFamily="18" charset="0"/>
              </a:rPr>
              <a:t>Traditional Screening Algorithm</a:t>
            </a:r>
          </a:p>
        </p:txBody>
      </p:sp>
      <p:sp>
        <p:nvSpPr>
          <p:cNvPr id="3" name="Slide Number Placeholder 2">
            <a:extLst>
              <a:ext uri="{FF2B5EF4-FFF2-40B4-BE49-F238E27FC236}">
                <a16:creationId xmlns:a16="http://schemas.microsoft.com/office/drawing/2014/main" xmlns="" id="{04677553-C154-4B92-B759-513D1BD1EA8F}"/>
              </a:ext>
            </a:extLst>
          </p:cNvPr>
          <p:cNvSpPr>
            <a:spLocks noGrp="1"/>
          </p:cNvSpPr>
          <p:nvPr>
            <p:ph type="sldNum" sz="quarter" idx="12"/>
          </p:nvPr>
        </p:nvSpPr>
        <p:spPr/>
        <p:txBody>
          <a:bodyPr/>
          <a:lstStyle/>
          <a:p>
            <a:fld id="{330EA680-D336-4FF7-8B7A-9848BB0A1C32}" type="slidenum">
              <a:rPr lang="en-US" smtClean="0"/>
              <a:pPr/>
              <a:t>26</a:t>
            </a:fld>
            <a:endParaRPr lang="en-US"/>
          </a:p>
        </p:txBody>
      </p:sp>
      <p:pic>
        <p:nvPicPr>
          <p:cNvPr id="8" name="Content Placeholder 7" descr="syphilis-serologic-screeningreverse-sequence-algorithm"/>
          <p:cNvPicPr>
            <a:picLocks noGrp="1" noChangeAspect="1"/>
          </p:cNvPicPr>
          <p:nvPr>
            <p:ph sz="half" idx="2"/>
          </p:nvPr>
        </p:nvPicPr>
        <p:blipFill>
          <a:blip r:embed="rId3"/>
          <a:stretch>
            <a:fillRect/>
          </a:stretch>
        </p:blipFill>
        <p:spPr>
          <a:xfrm>
            <a:off x="-33485" y="2514600"/>
            <a:ext cx="4531667" cy="3200399"/>
          </a:xfrm>
          <a:prstGeom prst="rect">
            <a:avLst/>
          </a:prstGeom>
        </p:spPr>
      </p:pic>
      <p:pic>
        <p:nvPicPr>
          <p:cNvPr id="9" name="Content Placeholder 8" descr="syphilis-serologic-screeningtraditional-sequence-algorithm"/>
          <p:cNvPicPr>
            <a:picLocks noGrp="1" noChangeAspect="1"/>
          </p:cNvPicPr>
          <p:nvPr>
            <p:ph sz="half" idx="4"/>
          </p:nvPr>
        </p:nvPicPr>
        <p:blipFill>
          <a:blip r:embed="rId4"/>
          <a:stretch>
            <a:fillRect/>
          </a:stretch>
        </p:blipFill>
        <p:spPr>
          <a:xfrm>
            <a:off x="4629150" y="2514600"/>
            <a:ext cx="3887629" cy="3084513"/>
          </a:xfrm>
          <a:prstGeom prst="rect">
            <a:avLst/>
          </a:prstGeom>
        </p:spPr>
      </p:pic>
    </p:spTree>
    <p:extLst>
      <p:ext uri="{BB962C8B-B14F-4D97-AF65-F5344CB8AC3E}">
        <p14:creationId xmlns:p14="http://schemas.microsoft.com/office/powerpoint/2010/main" xmlns="" val="966799168"/>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Treatment </a:t>
            </a:r>
          </a:p>
        </p:txBody>
      </p:sp>
      <p:sp>
        <p:nvSpPr>
          <p:cNvPr id="3" name="Slide Number Placeholder 2"/>
          <p:cNvSpPr>
            <a:spLocks noGrp="1"/>
          </p:cNvSpPr>
          <p:nvPr>
            <p:ph type="sldNum" sz="quarter" idx="12"/>
          </p:nvPr>
        </p:nvSpPr>
        <p:spPr/>
        <p:txBody>
          <a:bodyPr/>
          <a:lstStyle/>
          <a:p>
            <a:fld id="{D86A8FF9-5D3E-40A1-B361-C7F20E9F1290}" type="slidenum">
              <a:rPr lang="en-US" smtClean="0"/>
              <a:pPr/>
              <a:t>27</a:t>
            </a:fld>
            <a:endParaRPr lang="en-US"/>
          </a:p>
        </p:txBody>
      </p:sp>
      <p:pic>
        <p:nvPicPr>
          <p:cNvPr id="8194" name="Picture 2"/>
          <p:cNvPicPr>
            <a:picLocks noGrp="1" noChangeAspect="1" noChangeArrowheads="1"/>
          </p:cNvPicPr>
          <p:nvPr>
            <p:ph sz="quarter" idx="1"/>
          </p:nvPr>
        </p:nvPicPr>
        <p:blipFill>
          <a:blip r:embed="rId2"/>
          <a:stretch>
            <a:fillRect/>
          </a:stretch>
        </p:blipFill>
        <p:spPr bwMode="auto">
          <a:xfrm>
            <a:off x="1819873" y="1447800"/>
            <a:ext cx="5961453" cy="4572000"/>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000" dirty="0">
                <a:latin typeface="Times New Roman" panose="02020603050405020304" pitchFamily="18" charset="0"/>
                <a:cs typeface="Times New Roman" panose="02020603050405020304" pitchFamily="18" charset="0"/>
                <a:sym typeface="+mn-ea"/>
              </a:rPr>
              <a:t>Post-Treatment Follow Up</a:t>
            </a:r>
            <a:endParaRPr lang="en-US" sz="4000" dirty="0"/>
          </a:p>
        </p:txBody>
      </p:sp>
      <p:sp>
        <p:nvSpPr>
          <p:cNvPr id="4" name="Slide Number Placeholder 3"/>
          <p:cNvSpPr>
            <a:spLocks noGrp="1"/>
          </p:cNvSpPr>
          <p:nvPr>
            <p:ph type="sldNum" sz="quarter" idx="12"/>
          </p:nvPr>
        </p:nvSpPr>
        <p:spPr/>
        <p:txBody>
          <a:bodyPr/>
          <a:lstStyle/>
          <a:p>
            <a:fld id="{D86A8FF9-5D3E-40A1-B361-C7F20E9F1290}" type="slidenum">
              <a:rPr lang="en-US" smtClean="0"/>
              <a:pPr/>
              <a:t>28</a:t>
            </a:fld>
            <a:endParaRPr lang="en-US"/>
          </a:p>
        </p:txBody>
      </p:sp>
      <p:sp>
        <p:nvSpPr>
          <p:cNvPr id="3" name="Content Placeholder 2"/>
          <p:cNvSpPr>
            <a:spLocks noGrp="1"/>
          </p:cNvSpPr>
          <p:nvPr>
            <p:ph sz="quarter" idx="1"/>
          </p:nvPr>
        </p:nvSpPr>
        <p:spPr/>
        <p:txBody>
          <a:bodyPr>
            <a:normAutofit fontScale="92500" lnSpcReduction="10000"/>
          </a:bodyPr>
          <a:lstStyle/>
          <a:p>
            <a:r>
              <a:rPr lang="en-US" sz="3300" dirty="0">
                <a:latin typeface="Times New Roman" pitchFamily="18" charset="0"/>
                <a:cs typeface="Times New Roman" pitchFamily="18" charset="0"/>
              </a:rPr>
              <a:t>Primary and Secondary Syphilis: </a:t>
            </a:r>
          </a:p>
          <a:p>
            <a:pPr lvl="1"/>
            <a:r>
              <a:rPr lang="en-US" dirty="0">
                <a:latin typeface="Times New Roman" pitchFamily="18" charset="0"/>
                <a:cs typeface="Times New Roman" pitchFamily="18" charset="0"/>
              </a:rPr>
              <a:t>Persons without HIV who are treated for primary or secondary syphilis should be reexamined clinically and serologically 6 months and 12 months following treatment. </a:t>
            </a:r>
          </a:p>
          <a:p>
            <a:pPr lvl="1"/>
            <a:r>
              <a:rPr lang="en-US" dirty="0">
                <a:latin typeface="Times New Roman" pitchFamily="18" charset="0"/>
                <a:cs typeface="Times New Roman" pitchFamily="18" charset="0"/>
              </a:rPr>
              <a:t>Individuals with HIV should have post-treatment follow-up at 3, 6, 9, 12, and 24 months; </a:t>
            </a:r>
          </a:p>
          <a:p>
            <a:r>
              <a:rPr lang="en-US" sz="3300" dirty="0">
                <a:latin typeface="Times New Roman" pitchFamily="18" charset="0"/>
                <a:cs typeface="Times New Roman" pitchFamily="18" charset="0"/>
              </a:rPr>
              <a:t>Latent Syphilis:</a:t>
            </a:r>
          </a:p>
          <a:p>
            <a:pPr lvl="1"/>
            <a:r>
              <a:rPr lang="en-US" dirty="0">
                <a:latin typeface="Times New Roman" pitchFamily="18" charset="0"/>
                <a:cs typeface="Times New Roman" pitchFamily="18" charset="0"/>
              </a:rPr>
              <a:t>Persons without HIV who are treated for latent syphilis should have clinical and </a:t>
            </a:r>
            <a:r>
              <a:rPr lang="en-US" dirty="0" err="1">
                <a:latin typeface="Times New Roman" pitchFamily="18" charset="0"/>
                <a:cs typeface="Times New Roman" pitchFamily="18" charset="0"/>
              </a:rPr>
              <a:t>nontreponemal</a:t>
            </a:r>
            <a:r>
              <a:rPr lang="en-US" dirty="0">
                <a:latin typeface="Times New Roman" pitchFamily="18" charset="0"/>
                <a:cs typeface="Times New Roman" pitchFamily="18" charset="0"/>
              </a:rPr>
              <a:t> serologic follow-up at 6, 12, and 24 months.</a:t>
            </a:r>
          </a:p>
          <a:p>
            <a:pPr lvl="1"/>
            <a:r>
              <a:rPr lang="en-US" dirty="0">
                <a:latin typeface="Times New Roman" pitchFamily="18" charset="0"/>
                <a:cs typeface="Times New Roman" pitchFamily="18" charset="0"/>
              </a:rPr>
              <a:t>For persons with HIV, this follow-up should occur at 6, 12, 18, and 24 months. </a:t>
            </a:r>
          </a:p>
          <a:p>
            <a:endParaRPr lang="en-US" dirty="0"/>
          </a:p>
        </p:txBody>
      </p:sp>
    </p:spTree>
    <p:extLst>
      <p:ext uri="{BB962C8B-B14F-4D97-AF65-F5344CB8AC3E}">
        <p14:creationId xmlns:p14="http://schemas.microsoft.com/office/powerpoint/2010/main" xmlns="" val="302875597"/>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p:cNvSpPr>
            <a:spLocks noGrp="1"/>
          </p:cNvSpPr>
          <p:nvPr>
            <p:ph type="sldNum" sz="quarter" idx="12"/>
          </p:nvPr>
        </p:nvSpPr>
        <p:spPr/>
        <p:txBody>
          <a:bodyPr/>
          <a:lstStyle/>
          <a:p>
            <a:fld id="{D86A8FF9-5D3E-40A1-B361-C7F20E9F1290}" type="slidenum">
              <a:rPr lang="en-US" smtClean="0"/>
              <a:pPr/>
              <a:t>29</a:t>
            </a:fld>
            <a:endParaRPr lang="en-US"/>
          </a:p>
        </p:txBody>
      </p:sp>
      <p:sp>
        <p:nvSpPr>
          <p:cNvPr id="3" name="Content Placeholder 2"/>
          <p:cNvSpPr>
            <a:spLocks noGrp="1"/>
          </p:cNvSpPr>
          <p:nvPr>
            <p:ph sz="quarter" idx="1"/>
          </p:nvPr>
        </p:nvSpPr>
        <p:spPr>
          <a:xfrm>
            <a:off x="20782" y="685800"/>
            <a:ext cx="4038600" cy="4525963"/>
          </a:xfrm>
        </p:spPr>
        <p:txBody>
          <a:bodyPr>
            <a:normAutofit fontScale="77500" lnSpcReduction="20000"/>
          </a:bodyPr>
          <a:lstStyle/>
          <a:p>
            <a:r>
              <a:rPr lang="en-US" u="sng" dirty="0">
                <a:latin typeface="Times New Roman" pitchFamily="18" charset="0"/>
                <a:cs typeface="Times New Roman" pitchFamily="18" charset="0"/>
                <a:sym typeface="+mn-ea"/>
              </a:rPr>
              <a:t>Screening for Syphilis</a:t>
            </a:r>
          </a:p>
          <a:p>
            <a:pPr lvl="1"/>
            <a:r>
              <a:rPr lang="en-US" sz="2800" dirty="0">
                <a:latin typeface="Times New Roman" pitchFamily="18" charset="0"/>
                <a:cs typeface="Times New Roman" pitchFamily="18" charset="0"/>
                <a:sym typeface="+mn-ea"/>
              </a:rPr>
              <a:t>General population routine screening is not recommended.</a:t>
            </a:r>
            <a:endParaRPr lang="en-US" sz="2800" dirty="0">
              <a:latin typeface="Times New Roman" pitchFamily="18" charset="0"/>
              <a:cs typeface="Times New Roman" pitchFamily="18" charset="0"/>
            </a:endParaRPr>
          </a:p>
          <a:p>
            <a:pPr lvl="2"/>
            <a:r>
              <a:rPr lang="en-US" sz="2800" dirty="0">
                <a:latin typeface="Times New Roman" pitchFamily="18" charset="0"/>
                <a:cs typeface="Times New Roman" pitchFamily="18" charset="0"/>
                <a:sym typeface="+mn-ea"/>
              </a:rPr>
              <a:t>screening indicated if the individual has increased risk for acquiring syphilis </a:t>
            </a:r>
          </a:p>
          <a:p>
            <a:pPr lvl="1"/>
            <a:r>
              <a:rPr lang="en-US" sz="2800" dirty="0">
                <a:latin typeface="Times New Roman" pitchFamily="18" charset="0"/>
                <a:cs typeface="Times New Roman" pitchFamily="18" charset="0"/>
              </a:rPr>
              <a:t>Men Who Have Sex with Men</a:t>
            </a:r>
          </a:p>
          <a:p>
            <a:pPr lvl="1"/>
            <a:r>
              <a:rPr lang="en-US" sz="2800" dirty="0">
                <a:latin typeface="Times New Roman" pitchFamily="18" charset="0"/>
                <a:cs typeface="Times New Roman" pitchFamily="18" charset="0"/>
              </a:rPr>
              <a:t>Pregnant Women</a:t>
            </a:r>
          </a:p>
          <a:p>
            <a:pPr lvl="1"/>
            <a:r>
              <a:rPr lang="en-US" sz="2800" dirty="0">
                <a:latin typeface="Times New Roman" pitchFamily="18" charset="0"/>
                <a:cs typeface="Times New Roman" pitchFamily="18" charset="0"/>
              </a:rPr>
              <a:t>Persons with HIV </a:t>
            </a:r>
          </a:p>
          <a:p>
            <a:pPr lvl="1"/>
            <a:r>
              <a:rPr lang="en-US" sz="2800" dirty="0">
                <a:latin typeface="Times New Roman" pitchFamily="18" charset="0"/>
                <a:cs typeface="Times New Roman" pitchFamily="18" charset="0"/>
              </a:rPr>
              <a:t>Correctional Facilities</a:t>
            </a:r>
          </a:p>
          <a:p>
            <a:endParaRPr lang="en-US" dirty="0"/>
          </a:p>
        </p:txBody>
      </p:sp>
      <p:sp>
        <p:nvSpPr>
          <p:cNvPr id="4" name="Content Placeholder 3"/>
          <p:cNvSpPr>
            <a:spLocks noGrp="1"/>
          </p:cNvSpPr>
          <p:nvPr>
            <p:ph sz="quarter" idx="2"/>
          </p:nvPr>
        </p:nvSpPr>
        <p:spPr>
          <a:xfrm>
            <a:off x="4800600" y="685799"/>
            <a:ext cx="4038600" cy="5791201"/>
          </a:xfrm>
        </p:spPr>
        <p:txBody>
          <a:bodyPr>
            <a:normAutofit fontScale="77500" lnSpcReduction="20000"/>
          </a:bodyPr>
          <a:lstStyle/>
          <a:p>
            <a:r>
              <a:rPr lang="en-US" u="sng" dirty="0">
                <a:latin typeface="Times New Roman" pitchFamily="18" charset="0"/>
                <a:cs typeface="Times New Roman" pitchFamily="18" charset="0"/>
              </a:rPr>
              <a:t>Management of Sex Partners</a:t>
            </a:r>
          </a:p>
          <a:p>
            <a:pPr lvl="1"/>
            <a:r>
              <a:rPr lang="en-US" sz="2800" dirty="0">
                <a:latin typeface="Times New Roman" pitchFamily="18" charset="0"/>
                <a:cs typeface="Times New Roman" pitchFamily="18" charset="0"/>
              </a:rPr>
              <a:t>For persons diagnosed with primary, secondary, or early latent syphilis, </a:t>
            </a:r>
          </a:p>
          <a:p>
            <a:pPr lvl="2"/>
            <a:r>
              <a:rPr lang="en-US" sz="2800" dirty="0">
                <a:latin typeface="Times New Roman" pitchFamily="18" charset="0"/>
                <a:cs typeface="Times New Roman" pitchFamily="18" charset="0"/>
              </a:rPr>
              <a:t>all of their sex partners in the 90 days preceding the syphilis diagnosis.</a:t>
            </a:r>
          </a:p>
          <a:p>
            <a:pPr lvl="2"/>
            <a:r>
              <a:rPr lang="en-US" sz="2800" dirty="0">
                <a:latin typeface="Times New Roman" pitchFamily="18" charset="0"/>
                <a:cs typeface="Times New Roman" pitchFamily="18" charset="0"/>
              </a:rPr>
              <a:t>The most recent sexual contact occur more than 90 days preceding the syphilis diagnosis, this most recent sex partner. </a:t>
            </a:r>
          </a:p>
          <a:p>
            <a:pPr lvl="1"/>
            <a:r>
              <a:rPr lang="en-US" sz="2800" dirty="0">
                <a:latin typeface="Times New Roman" pitchFamily="18" charset="0"/>
                <a:cs typeface="Times New Roman" pitchFamily="18" charset="0"/>
              </a:rPr>
              <a:t>Persons with late latent syphilis </a:t>
            </a:r>
          </a:p>
          <a:p>
            <a:pPr lvl="2"/>
            <a:r>
              <a:rPr lang="en-US" sz="2800" dirty="0">
                <a:latin typeface="Times New Roman" pitchFamily="18" charset="0"/>
                <a:cs typeface="Times New Roman" pitchFamily="18" charset="0"/>
              </a:rPr>
              <a:t>Who have high </a:t>
            </a:r>
            <a:r>
              <a:rPr lang="en-US" sz="2800" dirty="0" err="1">
                <a:latin typeface="Times New Roman" pitchFamily="18" charset="0"/>
                <a:cs typeface="Times New Roman" pitchFamily="18" charset="0"/>
              </a:rPr>
              <a:t>nontreponemal</a:t>
            </a:r>
            <a:r>
              <a:rPr lang="en-US" sz="2800" dirty="0">
                <a:latin typeface="Times New Roman" pitchFamily="18" charset="0"/>
                <a:cs typeface="Times New Roman" pitchFamily="18" charset="0"/>
              </a:rPr>
              <a:t> serologic test titers</a:t>
            </a:r>
          </a:p>
          <a:p>
            <a:pPr lvl="2"/>
            <a:r>
              <a:rPr lang="en-US" sz="2800" dirty="0">
                <a:latin typeface="Times New Roman" pitchFamily="18" charset="0"/>
                <a:cs typeface="Times New Roman" pitchFamily="18" charset="0"/>
              </a:rPr>
              <a:t>Long-term sex partners of persons</a:t>
            </a:r>
          </a:p>
          <a:p>
            <a:endParaRPr lang="en-US" dirty="0"/>
          </a:p>
        </p:txBody>
      </p:sp>
    </p:spTree>
    <p:extLst>
      <p:ext uri="{BB962C8B-B14F-4D97-AF65-F5344CB8AC3E}">
        <p14:creationId xmlns:p14="http://schemas.microsoft.com/office/powerpoint/2010/main" xmlns="" val="2421587031"/>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sz="3600" dirty="0">
                <a:latin typeface="Times New Roman" pitchFamily="18" charset="0"/>
                <a:cs typeface="Times New Roman" pitchFamily="18" charset="0"/>
              </a:rPr>
              <a:t>Syndrome approach for the management of genital ulcer disease </a:t>
            </a:r>
            <a:endParaRPr lang="en-US" sz="3600" dirty="0"/>
          </a:p>
        </p:txBody>
      </p:sp>
      <p:sp>
        <p:nvSpPr>
          <p:cNvPr id="4" name="Slide Number Placeholder 3"/>
          <p:cNvSpPr>
            <a:spLocks noGrp="1"/>
          </p:cNvSpPr>
          <p:nvPr>
            <p:ph type="sldNum" sz="quarter" idx="12"/>
          </p:nvPr>
        </p:nvSpPr>
        <p:spPr/>
        <p:txBody>
          <a:bodyPr/>
          <a:lstStyle/>
          <a:p>
            <a:fld id="{D86A8FF9-5D3E-40A1-B361-C7F20E9F1290}" type="slidenum">
              <a:rPr lang="en-US" smtClean="0"/>
              <a:pPr/>
              <a:t>30</a:t>
            </a:fld>
            <a:endParaRPr lang="en-US"/>
          </a:p>
        </p:txBody>
      </p:sp>
      <p:pic>
        <p:nvPicPr>
          <p:cNvPr id="5" name="Picture 2"/>
          <p:cNvPicPr>
            <a:picLocks noGrp="1" noChangeAspect="1" noChangeArrowheads="1"/>
          </p:cNvPicPr>
          <p:nvPr>
            <p:ph sz="quarter" idx="1"/>
          </p:nvPr>
        </p:nvPicPr>
        <p:blipFill>
          <a:blip r:embed="rId2">
            <a:extLst>
              <a:ext uri="{28A0092B-C50C-407E-A947-70E740481C1C}">
                <a14:useLocalDpi xmlns:a14="http://schemas.microsoft.com/office/drawing/2010/main" xmlns="" val="0"/>
              </a:ext>
            </a:extLst>
          </a:blip>
          <a:srcRect/>
          <a:stretch>
            <a:fillRect/>
          </a:stretch>
        </p:blipFill>
        <p:spPr bwMode="auto">
          <a:xfrm>
            <a:off x="-152400" y="1600200"/>
            <a:ext cx="9296400" cy="4525963"/>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spTree>
    <p:extLst>
      <p:ext uri="{BB962C8B-B14F-4D97-AF65-F5344CB8AC3E}">
        <p14:creationId xmlns:p14="http://schemas.microsoft.com/office/powerpoint/2010/main" xmlns="" val="3504202344"/>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i="1" dirty="0" err="1"/>
              <a:t>Granuloma</a:t>
            </a:r>
            <a:r>
              <a:rPr lang="en-US" i="1" dirty="0"/>
              <a:t> </a:t>
            </a:r>
            <a:r>
              <a:rPr lang="en-US" i="1" dirty="0" err="1"/>
              <a:t>Inguinale</a:t>
            </a:r>
            <a:endParaRPr lang="en-US" dirty="0"/>
          </a:p>
        </p:txBody>
      </p:sp>
      <p:sp>
        <p:nvSpPr>
          <p:cNvPr id="4" name="Slide Number Placeholder 3"/>
          <p:cNvSpPr>
            <a:spLocks noGrp="1"/>
          </p:cNvSpPr>
          <p:nvPr>
            <p:ph type="sldNum" sz="quarter" idx="12"/>
          </p:nvPr>
        </p:nvSpPr>
        <p:spPr/>
        <p:txBody>
          <a:bodyPr/>
          <a:lstStyle/>
          <a:p>
            <a:fld id="{D86A8FF9-5D3E-40A1-B361-C7F20E9F1290}" type="slidenum">
              <a:rPr lang="en-US" smtClean="0"/>
              <a:pPr/>
              <a:t>31</a:t>
            </a:fld>
            <a:endParaRPr lang="en-US"/>
          </a:p>
        </p:txBody>
      </p:sp>
      <p:sp>
        <p:nvSpPr>
          <p:cNvPr id="3" name="Content Placeholder 2"/>
          <p:cNvSpPr>
            <a:spLocks noGrp="1"/>
          </p:cNvSpPr>
          <p:nvPr>
            <p:ph sz="quarter" idx="1"/>
          </p:nvPr>
        </p:nvSpPr>
        <p:spPr/>
        <p:txBody>
          <a:bodyPr/>
          <a:lstStyle/>
          <a:p>
            <a:r>
              <a:rPr lang="en-US" dirty="0"/>
              <a:t>Caused by a Gram-negative intracellular bacterium Called </a:t>
            </a:r>
            <a:r>
              <a:rPr lang="en-US" dirty="0" err="1"/>
              <a:t>klebsiella</a:t>
            </a:r>
            <a:r>
              <a:rPr lang="en-US" dirty="0"/>
              <a:t> </a:t>
            </a:r>
            <a:r>
              <a:rPr lang="en-US" dirty="0" err="1"/>
              <a:t>granulomatis</a:t>
            </a:r>
            <a:r>
              <a:rPr lang="en-US" dirty="0"/>
              <a:t>.</a:t>
            </a:r>
          </a:p>
          <a:p>
            <a:r>
              <a:rPr lang="en-US" dirty="0"/>
              <a:t>Transmission is almost exclusively by coitus</a:t>
            </a:r>
          </a:p>
          <a:p>
            <a:r>
              <a:rPr lang="en-US" dirty="0"/>
              <a:t>Incubation period 1-12 wks</a:t>
            </a:r>
          </a:p>
        </p:txBody>
      </p:sp>
    </p:spTree>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Clinical presentation </a:t>
            </a:r>
          </a:p>
        </p:txBody>
      </p:sp>
      <p:sp>
        <p:nvSpPr>
          <p:cNvPr id="4" name="Slide Number Placeholder 3"/>
          <p:cNvSpPr>
            <a:spLocks noGrp="1"/>
          </p:cNvSpPr>
          <p:nvPr>
            <p:ph type="sldNum" sz="quarter" idx="12"/>
          </p:nvPr>
        </p:nvSpPr>
        <p:spPr/>
        <p:txBody>
          <a:bodyPr/>
          <a:lstStyle/>
          <a:p>
            <a:fld id="{D86A8FF9-5D3E-40A1-B361-C7F20E9F1290}" type="slidenum">
              <a:rPr lang="en-US" smtClean="0"/>
              <a:pPr/>
              <a:t>32</a:t>
            </a:fld>
            <a:endParaRPr lang="en-US"/>
          </a:p>
        </p:txBody>
      </p:sp>
      <p:sp>
        <p:nvSpPr>
          <p:cNvPr id="3" name="Content Placeholder 2"/>
          <p:cNvSpPr>
            <a:spLocks noGrp="1"/>
          </p:cNvSpPr>
          <p:nvPr>
            <p:ph sz="quarter" idx="1"/>
          </p:nvPr>
        </p:nvSpPr>
        <p:spPr/>
        <p:txBody>
          <a:bodyPr>
            <a:noAutofit/>
          </a:bodyPr>
          <a:lstStyle/>
          <a:p>
            <a:r>
              <a:rPr lang="en-US" sz="2800" dirty="0"/>
              <a:t>Usually involve vulva, perineum and inguinal regions</a:t>
            </a:r>
          </a:p>
          <a:p>
            <a:pPr>
              <a:buNone/>
            </a:pPr>
            <a:endParaRPr lang="en-US" sz="2800" dirty="0"/>
          </a:p>
          <a:p>
            <a:r>
              <a:rPr lang="en-US" sz="2800" dirty="0"/>
              <a:t>Inguinal swelling is common with late formation of buboes</a:t>
            </a:r>
          </a:p>
          <a:p>
            <a:pPr>
              <a:buNone/>
            </a:pPr>
            <a:endParaRPr lang="en-US" sz="2800" dirty="0"/>
          </a:p>
          <a:p>
            <a:r>
              <a:rPr lang="en-US" sz="2800" dirty="0"/>
              <a:t>Rarely, it is manifested by chronic cervical lesion as red, ulcerative or granulation tissue &amp; produce a chronic inflammatory exudates </a:t>
            </a:r>
            <a:r>
              <a:rPr lang="en-US" sz="2800" dirty="0" smtClean="0"/>
              <a:t>characterized by: </a:t>
            </a:r>
            <a:r>
              <a:rPr lang="en-US" sz="2800" dirty="0"/>
              <a:t>lymphocytes, giant cells, and </a:t>
            </a:r>
            <a:r>
              <a:rPr lang="en-US" sz="2800" dirty="0" err="1"/>
              <a:t>histiocytes</a:t>
            </a:r>
            <a:r>
              <a:rPr lang="en-US" sz="2800" dirty="0"/>
              <a:t>. </a:t>
            </a:r>
          </a:p>
        </p:txBody>
      </p:sp>
    </p:spTree>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D86A8FF9-5D3E-40A1-B361-C7F20E9F1290}" type="slidenum">
              <a:rPr lang="en-US" smtClean="0"/>
              <a:pPr/>
              <a:t>33</a:t>
            </a:fld>
            <a:endParaRPr lang="en-US"/>
          </a:p>
        </p:txBody>
      </p:sp>
      <p:sp>
        <p:nvSpPr>
          <p:cNvPr id="3" name="Content Placeholder 2"/>
          <p:cNvSpPr>
            <a:spLocks noGrp="1"/>
          </p:cNvSpPr>
          <p:nvPr>
            <p:ph sz="quarter" idx="1"/>
          </p:nvPr>
        </p:nvSpPr>
        <p:spPr>
          <a:xfrm>
            <a:off x="457200" y="609600"/>
            <a:ext cx="8229600" cy="5516563"/>
          </a:xfrm>
        </p:spPr>
        <p:txBody>
          <a:bodyPr>
            <a:normAutofit/>
          </a:bodyPr>
          <a:lstStyle/>
          <a:p>
            <a:pPr lvl="1"/>
            <a:r>
              <a:rPr lang="en-US" dirty="0"/>
              <a:t>Diagnosis: </a:t>
            </a:r>
          </a:p>
          <a:p>
            <a:pPr lvl="2"/>
            <a:r>
              <a:rPr lang="en-US" sz="2800" dirty="0"/>
              <a:t>Typical clinical presentation, no PCR test</a:t>
            </a:r>
          </a:p>
          <a:p>
            <a:pPr lvl="2"/>
            <a:r>
              <a:rPr lang="en-US" sz="2800" dirty="0"/>
              <a:t>Definitive diagnosis: Tissue biopsy – Donovan bodies</a:t>
            </a:r>
          </a:p>
          <a:p>
            <a:pPr lvl="1"/>
            <a:r>
              <a:rPr lang="en-US" dirty="0"/>
              <a:t>Treatment: </a:t>
            </a:r>
          </a:p>
          <a:p>
            <a:pPr lvl="2"/>
            <a:r>
              <a:rPr lang="en-US" sz="2800" dirty="0" err="1"/>
              <a:t>Azithromycine</a:t>
            </a:r>
            <a:r>
              <a:rPr lang="en-US" sz="2800" dirty="0"/>
              <a:t> 1g weekly for 3 weeks completely healed wounds</a:t>
            </a:r>
          </a:p>
          <a:p>
            <a:pPr lvl="2"/>
            <a:r>
              <a:rPr lang="en-US" sz="2800" dirty="0"/>
              <a:t>Alternatives: </a:t>
            </a:r>
            <a:r>
              <a:rPr lang="en-US" sz="2800" dirty="0" err="1"/>
              <a:t>Doxycycline</a:t>
            </a:r>
            <a:r>
              <a:rPr lang="en-US" sz="2800" dirty="0"/>
              <a:t> 100mg BID, </a:t>
            </a:r>
            <a:r>
              <a:rPr lang="en-US" sz="2800" dirty="0" err="1"/>
              <a:t>Ciprofloxacine</a:t>
            </a:r>
            <a:r>
              <a:rPr lang="en-US" sz="2800" dirty="0"/>
              <a:t> 750mg </a:t>
            </a:r>
            <a:r>
              <a:rPr lang="en-US" sz="2800" dirty="0" err="1"/>
              <a:t>po</a:t>
            </a:r>
            <a:r>
              <a:rPr lang="en-US" sz="2800" dirty="0"/>
              <a:t> BID, </a:t>
            </a:r>
            <a:r>
              <a:rPr lang="en-US" sz="2800" dirty="0" err="1"/>
              <a:t>Erythromycine</a:t>
            </a:r>
            <a:r>
              <a:rPr lang="en-US" sz="2800" dirty="0"/>
              <a:t> base 500 mg </a:t>
            </a:r>
            <a:r>
              <a:rPr lang="en-US" sz="2800" dirty="0" err="1"/>
              <a:t>po</a:t>
            </a:r>
            <a:r>
              <a:rPr lang="en-US" sz="2800" dirty="0"/>
              <a:t> QID 3 weeks</a:t>
            </a:r>
          </a:p>
          <a:p>
            <a:endParaRPr lang="en-US" sz="2800" dirty="0"/>
          </a:p>
        </p:txBody>
      </p:sp>
    </p:spTree>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28600"/>
            <a:ext cx="8229600" cy="1676400"/>
          </a:xfrm>
        </p:spPr>
        <p:txBody>
          <a:bodyPr>
            <a:normAutofit/>
          </a:bodyPr>
          <a:lstStyle/>
          <a:p>
            <a:r>
              <a:rPr lang="en-US" dirty="0" err="1"/>
              <a:t>Lymphogranuloma</a:t>
            </a:r>
            <a:r>
              <a:rPr lang="en-US" dirty="0"/>
              <a:t> </a:t>
            </a:r>
            <a:r>
              <a:rPr lang="en-US" dirty="0" err="1"/>
              <a:t>Venereum</a:t>
            </a:r>
            <a:r>
              <a:rPr lang="en-US" dirty="0"/>
              <a:t> (LGV)</a:t>
            </a:r>
            <a:br>
              <a:rPr lang="en-US" dirty="0"/>
            </a:br>
            <a:endParaRPr lang="en-US" dirty="0"/>
          </a:p>
        </p:txBody>
      </p:sp>
      <p:sp>
        <p:nvSpPr>
          <p:cNvPr id="4" name="Slide Number Placeholder 3"/>
          <p:cNvSpPr>
            <a:spLocks noGrp="1"/>
          </p:cNvSpPr>
          <p:nvPr>
            <p:ph type="sldNum" sz="quarter" idx="12"/>
          </p:nvPr>
        </p:nvSpPr>
        <p:spPr/>
        <p:txBody>
          <a:bodyPr/>
          <a:lstStyle/>
          <a:p>
            <a:fld id="{D86A8FF9-5D3E-40A1-B361-C7F20E9F1290}" type="slidenum">
              <a:rPr lang="en-US" smtClean="0"/>
              <a:pPr/>
              <a:t>34</a:t>
            </a:fld>
            <a:endParaRPr lang="en-US"/>
          </a:p>
        </p:txBody>
      </p:sp>
      <p:sp>
        <p:nvSpPr>
          <p:cNvPr id="3" name="Content Placeholder 2"/>
          <p:cNvSpPr>
            <a:spLocks noGrp="1"/>
          </p:cNvSpPr>
          <p:nvPr>
            <p:ph sz="quarter" idx="1"/>
          </p:nvPr>
        </p:nvSpPr>
        <p:spPr>
          <a:xfrm>
            <a:off x="457200" y="1143000"/>
            <a:ext cx="8229600" cy="4983163"/>
          </a:xfrm>
        </p:spPr>
        <p:txBody>
          <a:bodyPr>
            <a:normAutofit/>
          </a:bodyPr>
          <a:lstStyle/>
          <a:p>
            <a:pPr>
              <a:buNone/>
            </a:pPr>
            <a:endParaRPr lang="en-US" dirty="0"/>
          </a:p>
          <a:p>
            <a:pPr lvl="1">
              <a:buFont typeface="Arial" panose="020B0604020202020204" pitchFamily="34" charset="0"/>
              <a:buChar char="•"/>
            </a:pPr>
            <a:r>
              <a:rPr lang="en-US" dirty="0"/>
              <a:t>Etiology: </a:t>
            </a:r>
            <a:r>
              <a:rPr lang="fr-FR" dirty="0"/>
              <a:t>C. </a:t>
            </a:r>
            <a:r>
              <a:rPr lang="fr-FR" dirty="0" err="1"/>
              <a:t>trachomatis</a:t>
            </a:r>
            <a:r>
              <a:rPr lang="fr-FR" dirty="0"/>
              <a:t> </a:t>
            </a:r>
            <a:r>
              <a:rPr lang="fr-FR" dirty="0" err="1"/>
              <a:t>serovars</a:t>
            </a:r>
            <a:r>
              <a:rPr lang="fr-FR" dirty="0"/>
              <a:t> L1, L2, or L3</a:t>
            </a:r>
            <a:endParaRPr lang="en-US" dirty="0"/>
          </a:p>
          <a:p>
            <a:pPr lvl="1">
              <a:buFont typeface="Arial" panose="020B0604020202020204" pitchFamily="34" charset="0"/>
              <a:buChar char="•"/>
            </a:pPr>
            <a:r>
              <a:rPr lang="en-US" dirty="0"/>
              <a:t>Lesion: tender inguinal and/or femoral </a:t>
            </a:r>
            <a:r>
              <a:rPr lang="en-US" dirty="0" err="1"/>
              <a:t>lymphadenopathy</a:t>
            </a:r>
            <a:r>
              <a:rPr lang="en-US" dirty="0"/>
              <a:t> with self limited genital ulcer; </a:t>
            </a:r>
          </a:p>
          <a:p>
            <a:pPr lvl="2"/>
            <a:r>
              <a:rPr lang="en-US" sz="2800" dirty="0"/>
              <a:t>Nodes may rupture </a:t>
            </a:r>
            <a:r>
              <a:rPr lang="en-US" sz="2800" dirty="0" smtClean="0"/>
              <a:t>which leads to chronic </a:t>
            </a:r>
            <a:r>
              <a:rPr lang="en-US" sz="2800" dirty="0"/>
              <a:t>sinuses</a:t>
            </a:r>
          </a:p>
          <a:p>
            <a:pPr lvl="2"/>
            <a:r>
              <a:rPr lang="en-US" sz="2800" dirty="0"/>
              <a:t>recto-</a:t>
            </a:r>
            <a:r>
              <a:rPr lang="en-US" sz="2800" dirty="0" err="1"/>
              <a:t>proctocolitis</a:t>
            </a:r>
            <a:r>
              <a:rPr lang="en-US" sz="2800" dirty="0"/>
              <a:t> – lymphangitis may manifest</a:t>
            </a:r>
          </a:p>
          <a:p>
            <a:pPr lvl="2"/>
            <a:endParaRPr lang="en-US" sz="2800" dirty="0"/>
          </a:p>
        </p:txBody>
      </p:sp>
      <p:pic>
        <p:nvPicPr>
          <p:cNvPr id="5" name="Picture 4"/>
          <p:cNvPicPr>
            <a:picLocks noChangeAspect="1"/>
          </p:cNvPicPr>
          <p:nvPr/>
        </p:nvPicPr>
        <p:blipFill>
          <a:blip r:embed="rId2">
            <a:extLst>
              <a:ext uri="{28A0092B-C50C-407E-A947-70E740481C1C}">
                <a14:useLocalDpi xmlns:a14="http://schemas.microsoft.com/office/drawing/2010/main" xmlns="" val="0"/>
              </a:ext>
            </a:extLst>
          </a:blip>
          <a:stretch>
            <a:fillRect/>
          </a:stretch>
        </p:blipFill>
        <p:spPr>
          <a:xfrm>
            <a:off x="762000" y="4114799"/>
            <a:ext cx="7086600" cy="2594645"/>
          </a:xfrm>
          <a:prstGeom prst="rect">
            <a:avLst/>
          </a:prstGeom>
        </p:spPr>
      </p:pic>
    </p:spTree>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D86A8FF9-5D3E-40A1-B361-C7F20E9F1290}" type="slidenum">
              <a:rPr lang="en-US" smtClean="0"/>
              <a:pPr/>
              <a:t>35</a:t>
            </a:fld>
            <a:endParaRPr lang="en-US"/>
          </a:p>
        </p:txBody>
      </p:sp>
      <p:sp>
        <p:nvSpPr>
          <p:cNvPr id="3" name="Content Placeholder 2"/>
          <p:cNvSpPr>
            <a:spLocks noGrp="1"/>
          </p:cNvSpPr>
          <p:nvPr>
            <p:ph sz="quarter" idx="1"/>
          </p:nvPr>
        </p:nvSpPr>
        <p:spPr>
          <a:xfrm>
            <a:off x="152400" y="1295400"/>
            <a:ext cx="8229600" cy="4602163"/>
          </a:xfrm>
        </p:spPr>
        <p:txBody>
          <a:bodyPr>
            <a:normAutofit fontScale="92500" lnSpcReduction="20000"/>
          </a:bodyPr>
          <a:lstStyle/>
          <a:p>
            <a:pPr lvl="1">
              <a:buFont typeface="Arial" panose="020B0604020202020204" pitchFamily="34" charset="0"/>
              <a:buChar char="•"/>
            </a:pPr>
            <a:endParaRPr lang="en-US" dirty="0"/>
          </a:p>
          <a:p>
            <a:pPr lvl="1">
              <a:buFont typeface="Arial" panose="020B0604020202020204" pitchFamily="34" charset="0"/>
              <a:buChar char="•"/>
            </a:pPr>
            <a:r>
              <a:rPr lang="en-US" sz="3300" dirty="0"/>
              <a:t>Diagnosis: </a:t>
            </a:r>
          </a:p>
          <a:p>
            <a:pPr lvl="2"/>
            <a:r>
              <a:rPr lang="en-US" sz="3300" dirty="0"/>
              <a:t>Clinical suspicion, epidemiologic information, and the exclusion of other etiologies</a:t>
            </a:r>
          </a:p>
          <a:p>
            <a:pPr lvl="2"/>
            <a:r>
              <a:rPr lang="en-US" sz="3300" dirty="0"/>
              <a:t>Culture, direct </a:t>
            </a:r>
            <a:r>
              <a:rPr lang="en-US" sz="3300" dirty="0" err="1"/>
              <a:t>ImmunoFlorescens</a:t>
            </a:r>
            <a:r>
              <a:rPr lang="en-US" sz="3300" dirty="0"/>
              <a:t>, and NAAT can be done</a:t>
            </a:r>
          </a:p>
          <a:p>
            <a:pPr lvl="2"/>
            <a:r>
              <a:rPr lang="en-US" sz="3300" dirty="0"/>
              <a:t>Chlamydia serology </a:t>
            </a:r>
            <a:endParaRPr lang="en-US" dirty="0"/>
          </a:p>
          <a:p>
            <a:pPr lvl="1">
              <a:buFont typeface="Arial" panose="020B0604020202020204" pitchFamily="34" charset="0"/>
              <a:buChar char="•"/>
            </a:pPr>
            <a:r>
              <a:rPr lang="en-US" sz="3300" dirty="0"/>
              <a:t>Treatment: </a:t>
            </a:r>
          </a:p>
          <a:p>
            <a:pPr lvl="2"/>
            <a:r>
              <a:rPr lang="en-US" sz="3300" dirty="0"/>
              <a:t>Doxycycline 100mg </a:t>
            </a:r>
            <a:r>
              <a:rPr lang="en-US" sz="3300" dirty="0" err="1"/>
              <a:t>po</a:t>
            </a:r>
            <a:r>
              <a:rPr lang="en-US" sz="3300" dirty="0"/>
              <a:t> BID for 21 days</a:t>
            </a:r>
          </a:p>
          <a:p>
            <a:pPr lvl="2"/>
            <a:r>
              <a:rPr lang="en-US" sz="3300" dirty="0"/>
              <a:t>Alternatives: </a:t>
            </a:r>
            <a:r>
              <a:rPr lang="en-US" sz="3300" dirty="0" smtClean="0"/>
              <a:t>Erythromycin base </a:t>
            </a:r>
            <a:r>
              <a:rPr lang="en-US" sz="3300" dirty="0"/>
              <a:t>500 mg </a:t>
            </a:r>
            <a:r>
              <a:rPr lang="en-US" sz="3300" dirty="0" err="1"/>
              <a:t>po</a:t>
            </a:r>
            <a:r>
              <a:rPr lang="en-US" sz="3300" dirty="0"/>
              <a:t> QID 21 days</a:t>
            </a:r>
          </a:p>
        </p:txBody>
      </p:sp>
    </p:spTree>
    <p:extLst>
      <p:ext uri="{BB962C8B-B14F-4D97-AF65-F5344CB8AC3E}">
        <p14:creationId xmlns:p14="http://schemas.microsoft.com/office/powerpoint/2010/main" xmlns="" val="229289996"/>
      </p:ext>
    </p:extLst>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Vaginal discharge </a:t>
            </a:r>
          </a:p>
        </p:txBody>
      </p:sp>
      <p:pic>
        <p:nvPicPr>
          <p:cNvPr id="9218" name="Picture 2"/>
          <p:cNvPicPr>
            <a:picLocks noGrp="1" noChangeAspect="1" noChangeArrowheads="1"/>
          </p:cNvPicPr>
          <p:nvPr>
            <p:ph sz="quarter" idx="1"/>
          </p:nvPr>
        </p:nvPicPr>
        <p:blipFill>
          <a:blip r:embed="rId2"/>
          <a:srcRect/>
          <a:stretch>
            <a:fillRect/>
          </a:stretch>
        </p:blipFill>
        <p:spPr bwMode="auto">
          <a:xfrm>
            <a:off x="609600" y="1447800"/>
            <a:ext cx="7696200" cy="4114800"/>
          </a:xfrm>
          <a:prstGeom prst="rect">
            <a:avLst/>
          </a:prstGeom>
          <a:noFill/>
          <a:ln w="9525">
            <a:noFill/>
            <a:miter lim="800000"/>
            <a:headEnd/>
            <a:tailEnd/>
          </a:ln>
          <a:effectLst/>
        </p:spPr>
      </p:pic>
    </p:spTree>
    <p:extLst>
      <p:ext uri="{BB962C8B-B14F-4D97-AF65-F5344CB8AC3E}">
        <p14:creationId xmlns:p14="http://schemas.microsoft.com/office/powerpoint/2010/main" xmlns="" val="1171566145"/>
      </p:ext>
    </p:extLst>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BC5012B1-186E-529E-5569-78B8BAA18C76}"/>
              </a:ext>
            </a:extLst>
          </p:cNvPr>
          <p:cNvSpPr>
            <a:spLocks noGrp="1"/>
          </p:cNvSpPr>
          <p:nvPr>
            <p:ph type="title"/>
          </p:nvPr>
        </p:nvSpPr>
        <p:spPr>
          <a:xfrm>
            <a:off x="457200" y="457200"/>
            <a:ext cx="8229600" cy="838200"/>
          </a:xfrm>
        </p:spPr>
        <p:txBody>
          <a:bodyPr>
            <a:normAutofit fontScale="90000"/>
          </a:bodyPr>
          <a:lstStyle/>
          <a:p>
            <a:r>
              <a:rPr lang="en-US" dirty="0"/>
              <a:t>: </a:t>
            </a:r>
            <a:r>
              <a:rPr lang="en-US" sz="3100" dirty="0"/>
              <a:t>THE ALGORITHM OF SYNDROMIC CASE MANAGEMENT OF VAGINAL DISCHARGE SYNDROME</a:t>
            </a:r>
          </a:p>
        </p:txBody>
      </p:sp>
      <p:pic>
        <p:nvPicPr>
          <p:cNvPr id="4" name="Content Placeholder 3">
            <a:extLst>
              <a:ext uri="{FF2B5EF4-FFF2-40B4-BE49-F238E27FC236}">
                <a16:creationId xmlns:a16="http://schemas.microsoft.com/office/drawing/2014/main" xmlns="" id="{1141EEFE-CAE8-D13E-AE91-B883DEB9B779}"/>
              </a:ext>
            </a:extLst>
          </p:cNvPr>
          <p:cNvPicPr>
            <a:picLocks noGrp="1" noChangeAspect="1" noChangeArrowheads="1"/>
          </p:cNvPicPr>
          <p:nvPr>
            <p:ph sz="quarter" idx="1"/>
          </p:nvPr>
        </p:nvPicPr>
        <p:blipFill>
          <a:blip r:embed="rId2">
            <a:extLst>
              <a:ext uri="{28A0092B-C50C-407E-A947-70E740481C1C}">
                <a14:useLocalDpi xmlns:a14="http://schemas.microsoft.com/office/drawing/2010/main" xmlns="" val="0"/>
              </a:ext>
            </a:extLst>
          </a:blip>
          <a:stretch>
            <a:fillRect/>
          </a:stretch>
        </p:blipFill>
        <p:spPr bwMode="auto">
          <a:xfrm>
            <a:off x="2191030" y="1447800"/>
            <a:ext cx="5219140" cy="45720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spTree>
    <p:extLst>
      <p:ext uri="{BB962C8B-B14F-4D97-AF65-F5344CB8AC3E}">
        <p14:creationId xmlns:p14="http://schemas.microsoft.com/office/powerpoint/2010/main" xmlns="" val="2308728475"/>
      </p:ext>
    </p:extLst>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Bacterial </a:t>
            </a:r>
            <a:r>
              <a:rPr lang="en-US" dirty="0" err="1"/>
              <a:t>vaginosis</a:t>
            </a:r>
            <a:r>
              <a:rPr lang="en-US" dirty="0"/>
              <a:t> </a:t>
            </a:r>
          </a:p>
        </p:txBody>
      </p:sp>
      <p:sp>
        <p:nvSpPr>
          <p:cNvPr id="3" name="Content Placeholder 2"/>
          <p:cNvSpPr>
            <a:spLocks noGrp="1"/>
          </p:cNvSpPr>
          <p:nvPr>
            <p:ph sz="quarter" idx="1"/>
          </p:nvPr>
        </p:nvSpPr>
        <p:spPr/>
        <p:txBody>
          <a:bodyPr>
            <a:normAutofit/>
          </a:bodyPr>
          <a:lstStyle/>
          <a:p>
            <a:r>
              <a:rPr lang="en-US" dirty="0"/>
              <a:t>The most common cause of vaginal discharge in women of childbearing age, accounting for 40 to 50 percent of cases</a:t>
            </a:r>
          </a:p>
          <a:p>
            <a:r>
              <a:rPr lang="en-US" dirty="0"/>
              <a:t>A complex change in the vaginal flora, not considered a sexually transmitted disease although it can be acquired by sexual intercourse.</a:t>
            </a:r>
          </a:p>
          <a:p>
            <a:r>
              <a:rPr lang="en-US" dirty="0"/>
              <a:t>The major bacteria detected are </a:t>
            </a:r>
            <a:r>
              <a:rPr lang="en-US" dirty="0" err="1"/>
              <a:t>Gardnerella</a:t>
            </a:r>
            <a:r>
              <a:rPr lang="en-US" dirty="0"/>
              <a:t> </a:t>
            </a:r>
            <a:r>
              <a:rPr lang="en-US" dirty="0" err="1"/>
              <a:t>vaginalis</a:t>
            </a:r>
            <a:r>
              <a:rPr lang="en-US" dirty="0"/>
              <a:t>, </a:t>
            </a:r>
            <a:r>
              <a:rPr lang="en-US" dirty="0" err="1"/>
              <a:t>Prevotella</a:t>
            </a:r>
            <a:r>
              <a:rPr lang="en-US" dirty="0"/>
              <a:t> species, </a:t>
            </a:r>
            <a:r>
              <a:rPr lang="en-US" dirty="0" err="1"/>
              <a:t>Porphyromonas</a:t>
            </a:r>
            <a:r>
              <a:rPr lang="en-US" dirty="0"/>
              <a:t> species, </a:t>
            </a:r>
            <a:r>
              <a:rPr lang="en-US" dirty="0" err="1"/>
              <a:t>Bacteroides</a:t>
            </a:r>
            <a:r>
              <a:rPr lang="en-US" dirty="0"/>
              <a:t> species, </a:t>
            </a:r>
            <a:r>
              <a:rPr lang="en-US" dirty="0" err="1"/>
              <a:t>Peptostreptococcus</a:t>
            </a:r>
            <a:r>
              <a:rPr lang="en-US" dirty="0"/>
              <a:t> species,</a:t>
            </a:r>
          </a:p>
        </p:txBody>
      </p:sp>
    </p:spTree>
    <p:extLst>
      <p:ext uri="{BB962C8B-B14F-4D97-AF65-F5344CB8AC3E}">
        <p14:creationId xmlns:p14="http://schemas.microsoft.com/office/powerpoint/2010/main" xmlns="" val="1502759139"/>
      </p:ext>
    </p:extLst>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Clinical features</a:t>
            </a:r>
            <a:endParaRPr lang="en-US" dirty="0"/>
          </a:p>
        </p:txBody>
      </p:sp>
      <p:sp>
        <p:nvSpPr>
          <p:cNvPr id="3" name="Content Placeholder 2"/>
          <p:cNvSpPr>
            <a:spLocks noGrp="1"/>
          </p:cNvSpPr>
          <p:nvPr>
            <p:ph sz="quarter" idx="1"/>
          </p:nvPr>
        </p:nvSpPr>
        <p:spPr/>
        <p:txBody>
          <a:bodyPr>
            <a:normAutofit/>
          </a:bodyPr>
          <a:lstStyle/>
          <a:p>
            <a:r>
              <a:rPr lang="en-US" dirty="0"/>
              <a:t>Most cases (50-75%) asymptomatic or mild</a:t>
            </a:r>
          </a:p>
          <a:p>
            <a:r>
              <a:rPr lang="en-US" dirty="0"/>
              <a:t>Musty or fishy odor of vaginal discharge</a:t>
            </a:r>
          </a:p>
          <a:p>
            <a:r>
              <a:rPr lang="en-US" dirty="0"/>
              <a:t>Thin, gray-white, non-clumping, homogenous ,"fishy smelling“ vaginal discharge</a:t>
            </a:r>
          </a:p>
          <a:p>
            <a:r>
              <a:rPr lang="en-US" dirty="0"/>
              <a:t>If speculum examination is feasible, the homogeneous discharge may be observed to be adherent to the vaginal wall, and the cervix is usually normal in appearance.</a:t>
            </a:r>
          </a:p>
        </p:txBody>
      </p:sp>
    </p:spTree>
    <p:extLst>
      <p:ext uri="{BB962C8B-B14F-4D97-AF65-F5344CB8AC3E}">
        <p14:creationId xmlns:p14="http://schemas.microsoft.com/office/powerpoint/2010/main" xmlns="" val="4053242001"/>
      </p:ext>
    </p:extLst>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quarter" idx="1"/>
          </p:nvPr>
        </p:nvSpPr>
        <p:spPr>
          <a:xfrm>
            <a:off x="457200" y="1371600"/>
            <a:ext cx="8229600" cy="4754563"/>
          </a:xfrm>
        </p:spPr>
        <p:txBody>
          <a:bodyPr/>
          <a:lstStyle/>
          <a:p>
            <a:pPr lvl="1"/>
            <a:r>
              <a:rPr lang="en-US" sz="3200" dirty="0"/>
              <a:t>Diagnosis: </a:t>
            </a:r>
            <a:r>
              <a:rPr lang="en-US" sz="3200" dirty="0" err="1">
                <a:ln w="22225">
                  <a:solidFill>
                    <a:schemeClr val="accent2"/>
                  </a:solidFill>
                  <a:prstDash val="solid"/>
                </a:ln>
                <a:solidFill>
                  <a:schemeClr val="accent2">
                    <a:lumMod val="40000"/>
                    <a:lumOff val="60000"/>
                  </a:schemeClr>
                </a:solidFill>
              </a:rPr>
              <a:t>Amsel’s</a:t>
            </a:r>
            <a:r>
              <a:rPr lang="en-US" sz="3200" dirty="0">
                <a:ln w="22225">
                  <a:solidFill>
                    <a:schemeClr val="accent2"/>
                  </a:solidFill>
                  <a:prstDash val="solid"/>
                </a:ln>
                <a:solidFill>
                  <a:schemeClr val="accent2">
                    <a:lumMod val="40000"/>
                    <a:lumOff val="60000"/>
                  </a:schemeClr>
                </a:solidFill>
              </a:rPr>
              <a:t> Criteria – </a:t>
            </a:r>
            <a:r>
              <a:rPr lang="en-US" sz="3200" dirty="0" smtClean="0">
                <a:ln w="22225">
                  <a:solidFill>
                    <a:schemeClr val="accent2"/>
                  </a:solidFill>
                  <a:prstDash val="solid"/>
                </a:ln>
                <a:solidFill>
                  <a:schemeClr val="accent2">
                    <a:lumMod val="40000"/>
                    <a:lumOff val="60000"/>
                  </a:schemeClr>
                </a:solidFill>
              </a:rPr>
              <a:t>3/4</a:t>
            </a:r>
            <a:endParaRPr lang="en-US" sz="3200" dirty="0">
              <a:ln w="22225">
                <a:solidFill>
                  <a:schemeClr val="accent2"/>
                </a:solidFill>
                <a:prstDash val="solid"/>
              </a:ln>
              <a:solidFill>
                <a:schemeClr val="accent2">
                  <a:lumMod val="40000"/>
                  <a:lumOff val="60000"/>
                </a:schemeClr>
              </a:solidFill>
            </a:endParaRPr>
          </a:p>
          <a:p>
            <a:pPr lvl="2"/>
            <a:r>
              <a:rPr lang="en-US" sz="3200" dirty="0">
                <a:ln/>
                <a:solidFill>
                  <a:schemeClr val="accent1"/>
                </a:solidFill>
                <a:effectLst>
                  <a:outerShdw blurRad="38100" dist="25400" dir="5400000" algn="ctr" rotWithShape="0">
                    <a:srgbClr val="6E747A">
                      <a:alpha val="43000"/>
                    </a:srgbClr>
                  </a:outerShdw>
                </a:effectLst>
              </a:rPr>
              <a:t>Homogeneous, </a:t>
            </a:r>
            <a:r>
              <a:rPr lang="en-US" sz="3200" dirty="0" err="1" smtClean="0">
                <a:ln/>
                <a:solidFill>
                  <a:schemeClr val="accent1"/>
                </a:solidFill>
                <a:effectLst>
                  <a:outerShdw blurRad="38100" dist="25400" dir="5400000" algn="ctr" rotWithShape="0">
                    <a:srgbClr val="6E747A">
                      <a:alpha val="43000"/>
                    </a:srgbClr>
                  </a:outerShdw>
                </a:effectLst>
              </a:rPr>
              <a:t>thin,greyish</a:t>
            </a:r>
            <a:r>
              <a:rPr lang="en-US" sz="3200" dirty="0" smtClean="0">
                <a:ln/>
                <a:solidFill>
                  <a:schemeClr val="accent1"/>
                </a:solidFill>
                <a:effectLst>
                  <a:outerShdw blurRad="38100" dist="25400" dir="5400000" algn="ctr" rotWithShape="0">
                    <a:srgbClr val="6E747A">
                      <a:alpha val="43000"/>
                    </a:srgbClr>
                  </a:outerShdw>
                </a:effectLst>
              </a:rPr>
              <a:t>, </a:t>
            </a:r>
            <a:r>
              <a:rPr lang="en-US" sz="3200" dirty="0">
                <a:ln/>
                <a:solidFill>
                  <a:schemeClr val="accent1"/>
                </a:solidFill>
                <a:effectLst>
                  <a:outerShdw blurRad="38100" dist="25400" dir="5400000" algn="ctr" rotWithShape="0">
                    <a:srgbClr val="6E747A">
                      <a:alpha val="43000"/>
                    </a:srgbClr>
                  </a:outerShdw>
                </a:effectLst>
              </a:rPr>
              <a:t>white discharge </a:t>
            </a:r>
            <a:r>
              <a:rPr lang="en-US" sz="3200" dirty="0" err="1">
                <a:ln/>
                <a:solidFill>
                  <a:schemeClr val="accent1"/>
                </a:solidFill>
                <a:effectLst>
                  <a:outerShdw blurRad="38100" dist="25400" dir="5400000" algn="ctr" rotWithShape="0">
                    <a:srgbClr val="6E747A">
                      <a:alpha val="43000"/>
                    </a:srgbClr>
                  </a:outerShdw>
                </a:effectLst>
              </a:rPr>
              <a:t>coates</a:t>
            </a:r>
            <a:r>
              <a:rPr lang="en-US" sz="3200" dirty="0">
                <a:ln/>
                <a:solidFill>
                  <a:schemeClr val="accent1"/>
                </a:solidFill>
                <a:effectLst>
                  <a:outerShdw blurRad="38100" dist="25400" dir="5400000" algn="ctr" rotWithShape="0">
                    <a:srgbClr val="6E747A">
                      <a:alpha val="43000"/>
                    </a:srgbClr>
                  </a:outerShdw>
                </a:effectLst>
              </a:rPr>
              <a:t> the vagina</a:t>
            </a:r>
          </a:p>
          <a:p>
            <a:pPr lvl="2"/>
            <a:r>
              <a:rPr lang="en-US" sz="3200" dirty="0">
                <a:ln/>
                <a:solidFill>
                  <a:schemeClr val="accent1"/>
                </a:solidFill>
                <a:effectLst>
                  <a:outerShdw blurRad="38100" dist="25400" dir="5400000" algn="ctr" rotWithShape="0">
                    <a:srgbClr val="6E747A">
                      <a:alpha val="43000"/>
                    </a:srgbClr>
                  </a:outerShdw>
                </a:effectLst>
              </a:rPr>
              <a:t>Clue cells on wet mount</a:t>
            </a:r>
          </a:p>
          <a:p>
            <a:pPr lvl="2"/>
            <a:r>
              <a:rPr lang="en-US" sz="3200" dirty="0">
                <a:ln/>
                <a:solidFill>
                  <a:schemeClr val="accent1"/>
                </a:solidFill>
                <a:effectLst>
                  <a:outerShdw blurRad="38100" dist="25400" dir="5400000" algn="ctr" rotWithShape="0">
                    <a:srgbClr val="6E747A">
                      <a:alpha val="43000"/>
                    </a:srgbClr>
                  </a:outerShdw>
                </a:effectLst>
              </a:rPr>
              <a:t>PH &gt; 4.5</a:t>
            </a:r>
          </a:p>
          <a:p>
            <a:pPr lvl="2"/>
            <a:r>
              <a:rPr lang="en-US" sz="3200" dirty="0">
                <a:ln/>
                <a:solidFill>
                  <a:schemeClr val="accent1"/>
                </a:solidFill>
                <a:effectLst>
                  <a:outerShdw blurRad="38100" dist="25400" dir="5400000" algn="ctr" rotWithShape="0">
                    <a:srgbClr val="6E747A">
                      <a:alpha val="43000"/>
                    </a:srgbClr>
                  </a:outerShdw>
                </a:effectLst>
              </a:rPr>
              <a:t>Whiff test positive </a:t>
            </a:r>
            <a:r>
              <a:rPr lang="en-US" sz="3200" dirty="0"/>
              <a:t>–</a:t>
            </a:r>
            <a:r>
              <a:rPr lang="en-US" sz="3200" dirty="0">
                <a:ln/>
                <a:solidFill>
                  <a:schemeClr val="accent1"/>
                </a:solidFill>
                <a:effectLst>
                  <a:outerShdw blurRad="38100" dist="25400" dir="5400000" algn="ctr" rotWithShape="0">
                    <a:srgbClr val="6E747A">
                      <a:alpha val="43000"/>
                    </a:srgbClr>
                  </a:outerShdw>
                </a:effectLst>
              </a:rPr>
              <a:t> fishy odor on KOH</a:t>
            </a:r>
            <a:r>
              <a:rPr lang="en-US" sz="3200" dirty="0"/>
              <a:t> 10%</a:t>
            </a:r>
          </a:p>
          <a:p>
            <a:pPr>
              <a:buNone/>
            </a:pPr>
            <a:endParaRPr lang="en-US" dirty="0"/>
          </a:p>
        </p:txBody>
      </p:sp>
    </p:spTree>
    <p:extLst>
      <p:ext uri="{BB962C8B-B14F-4D97-AF65-F5344CB8AC3E}">
        <p14:creationId xmlns:p14="http://schemas.microsoft.com/office/powerpoint/2010/main" xmlns="" val="2388751301"/>
      </p:ext>
    </p:extLst>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6200"/>
            <a:ext cx="8229600" cy="1371600"/>
          </a:xfrm>
        </p:spPr>
        <p:txBody>
          <a:bodyPr/>
          <a:lstStyle/>
          <a:p>
            <a:r>
              <a:rPr lang="en-US" dirty="0"/>
              <a:t>Treatment </a:t>
            </a:r>
          </a:p>
        </p:txBody>
      </p:sp>
      <p:sp>
        <p:nvSpPr>
          <p:cNvPr id="3" name="Content Placeholder 2"/>
          <p:cNvSpPr>
            <a:spLocks noGrp="1"/>
          </p:cNvSpPr>
          <p:nvPr>
            <p:ph sz="quarter" idx="1"/>
          </p:nvPr>
        </p:nvSpPr>
        <p:spPr>
          <a:xfrm>
            <a:off x="457200" y="1676400"/>
            <a:ext cx="8229600" cy="4449763"/>
          </a:xfrm>
        </p:spPr>
        <p:txBody>
          <a:bodyPr>
            <a:noAutofit/>
          </a:bodyPr>
          <a:lstStyle/>
          <a:p>
            <a:r>
              <a:rPr lang="en-US" dirty="0"/>
              <a:t>Resolves spontaneously in up to one-third of non pregnant and one-half of pregnant women </a:t>
            </a:r>
          </a:p>
          <a:p>
            <a:r>
              <a:rPr lang="en-US" dirty="0"/>
              <a:t>Metronidazole is the most successful therapy(&gt;90%cure rate)</a:t>
            </a:r>
          </a:p>
          <a:p>
            <a:r>
              <a:rPr lang="en-US" dirty="0"/>
              <a:t>500 mg twice daily for seven days </a:t>
            </a:r>
            <a:r>
              <a:rPr lang="en-US" b="1" dirty="0"/>
              <a:t>OR 0.75 % </a:t>
            </a:r>
            <a:r>
              <a:rPr lang="en-US" dirty="0"/>
              <a:t>Metronidazole vaginal gel 5 g once daily for 5 days</a:t>
            </a:r>
          </a:p>
        </p:txBody>
      </p:sp>
    </p:spTree>
    <p:extLst>
      <p:ext uri="{BB962C8B-B14F-4D97-AF65-F5344CB8AC3E}">
        <p14:creationId xmlns:p14="http://schemas.microsoft.com/office/powerpoint/2010/main" xmlns="" val="4041306724"/>
      </p:ext>
    </p:extLst>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TRICHOMONAS VAGINALIS</a:t>
            </a:r>
            <a:endParaRPr lang="en-US" dirty="0"/>
          </a:p>
        </p:txBody>
      </p:sp>
      <p:sp>
        <p:nvSpPr>
          <p:cNvPr id="3" name="Content Placeholder 2"/>
          <p:cNvSpPr>
            <a:spLocks noGrp="1"/>
          </p:cNvSpPr>
          <p:nvPr>
            <p:ph sz="quarter" idx="1"/>
          </p:nvPr>
        </p:nvSpPr>
        <p:spPr/>
        <p:txBody>
          <a:bodyPr/>
          <a:lstStyle/>
          <a:p>
            <a:r>
              <a:rPr lang="en-US" dirty="0"/>
              <a:t>Most common non-viral and non </a:t>
            </a:r>
            <a:r>
              <a:rPr lang="en-US" dirty="0" err="1"/>
              <a:t>chlamydial</a:t>
            </a:r>
            <a:endParaRPr lang="en-US" dirty="0"/>
          </a:p>
          <a:p>
            <a:pPr>
              <a:buNone/>
            </a:pPr>
            <a:r>
              <a:rPr lang="en-US" dirty="0"/>
              <a:t>   sexually transmitted disease.</a:t>
            </a:r>
          </a:p>
          <a:p>
            <a:pPr>
              <a:buNone/>
            </a:pPr>
            <a:endParaRPr lang="en-US" dirty="0"/>
          </a:p>
          <a:p>
            <a:r>
              <a:rPr lang="en-US" dirty="0"/>
              <a:t>The classically described green, frothy , foul-smelling discharge is found in fewer than 10 percent of symptomatic women.</a:t>
            </a:r>
          </a:p>
          <a:p>
            <a:pPr>
              <a:buNone/>
            </a:pPr>
            <a:endParaRPr lang="en-US" dirty="0"/>
          </a:p>
        </p:txBody>
      </p:sp>
    </p:spTree>
    <p:extLst>
      <p:ext uri="{BB962C8B-B14F-4D97-AF65-F5344CB8AC3E}">
        <p14:creationId xmlns:p14="http://schemas.microsoft.com/office/powerpoint/2010/main" xmlns="" val="1134883317"/>
      </p:ext>
    </p:extLst>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01094623-62CF-CA54-76B5-032C68782620}"/>
              </a:ext>
            </a:extLst>
          </p:cNvPr>
          <p:cNvSpPr>
            <a:spLocks noGrp="1"/>
          </p:cNvSpPr>
          <p:nvPr>
            <p:ph type="title"/>
          </p:nvPr>
        </p:nvSpPr>
        <p:spPr/>
        <p:txBody>
          <a:bodyPr/>
          <a:lstStyle/>
          <a:p>
            <a:r>
              <a:rPr lang="en-US" dirty="0"/>
              <a:t>Clinical presentation</a:t>
            </a:r>
          </a:p>
        </p:txBody>
      </p:sp>
      <p:sp>
        <p:nvSpPr>
          <p:cNvPr id="3" name="Content Placeholder 2">
            <a:extLst>
              <a:ext uri="{FF2B5EF4-FFF2-40B4-BE49-F238E27FC236}">
                <a16:creationId xmlns:a16="http://schemas.microsoft.com/office/drawing/2014/main" xmlns="" id="{C3BA4A6A-C2BB-189B-26D8-BDE81603F800}"/>
              </a:ext>
            </a:extLst>
          </p:cNvPr>
          <p:cNvSpPr>
            <a:spLocks noGrp="1"/>
          </p:cNvSpPr>
          <p:nvPr>
            <p:ph sz="quarter" idx="1"/>
          </p:nvPr>
        </p:nvSpPr>
        <p:spPr/>
        <p:txBody>
          <a:bodyPr>
            <a:normAutofit fontScale="92500"/>
          </a:bodyPr>
          <a:lstStyle/>
          <a:p>
            <a:r>
              <a:rPr lang="en-US" dirty="0"/>
              <a:t>– </a:t>
            </a:r>
            <a:r>
              <a:rPr lang="en-US" sz="3500" dirty="0"/>
              <a:t>symptoms Among symptomatic women, presents with an abnormal vaginal discharge as perceived by the woman. About 50% of symptomatic women report vulval itching. The discharge may be described as yellow and may appear purulent.</a:t>
            </a:r>
          </a:p>
          <a:p>
            <a:r>
              <a:rPr lang="en-US" sz="3500" dirty="0"/>
              <a:t>On speculum examination, a discharge of variable color can be seen in the vagina – classically described as yellow or greenish and may be frothy</a:t>
            </a:r>
          </a:p>
          <a:p>
            <a:endParaRPr lang="en-US" dirty="0"/>
          </a:p>
        </p:txBody>
      </p:sp>
    </p:spTree>
    <p:extLst>
      <p:ext uri="{BB962C8B-B14F-4D97-AF65-F5344CB8AC3E}">
        <p14:creationId xmlns:p14="http://schemas.microsoft.com/office/powerpoint/2010/main" xmlns="" val="4288678340"/>
      </p:ext>
    </p:extLst>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quarter" idx="1"/>
          </p:nvPr>
        </p:nvSpPr>
        <p:spPr>
          <a:xfrm>
            <a:off x="457200" y="685800"/>
            <a:ext cx="8229600" cy="6172200"/>
          </a:xfrm>
        </p:spPr>
        <p:txBody>
          <a:bodyPr>
            <a:normAutofit fontScale="92500"/>
          </a:bodyPr>
          <a:lstStyle/>
          <a:p>
            <a:pPr lvl="1"/>
            <a:r>
              <a:rPr lang="en-US" sz="3500" dirty="0"/>
              <a:t>Diagnosis:</a:t>
            </a:r>
          </a:p>
          <a:p>
            <a:pPr lvl="2"/>
            <a:r>
              <a:rPr lang="en-US" sz="3500" dirty="0"/>
              <a:t>NAAT</a:t>
            </a:r>
          </a:p>
          <a:p>
            <a:pPr lvl="2"/>
            <a:r>
              <a:rPr lang="en-US" sz="3500" dirty="0"/>
              <a:t>Wet mount microscopy</a:t>
            </a:r>
          </a:p>
          <a:p>
            <a:pPr lvl="2"/>
            <a:r>
              <a:rPr lang="en-US" sz="3500" dirty="0"/>
              <a:t>Culture</a:t>
            </a:r>
          </a:p>
          <a:p>
            <a:pPr lvl="1"/>
            <a:r>
              <a:rPr lang="en-US" sz="3500" dirty="0"/>
              <a:t>Treatment: </a:t>
            </a:r>
          </a:p>
          <a:p>
            <a:pPr lvl="2"/>
            <a:r>
              <a:rPr lang="en-US" sz="3500" dirty="0"/>
              <a:t>Reduces symptoms and transmission</a:t>
            </a:r>
          </a:p>
          <a:p>
            <a:pPr lvl="2"/>
            <a:r>
              <a:rPr lang="en-US" sz="3500" dirty="0"/>
              <a:t>Metronidazole</a:t>
            </a:r>
            <a:r>
              <a:rPr lang="en-US" sz="2800" dirty="0"/>
              <a:t> </a:t>
            </a:r>
            <a:r>
              <a:rPr lang="en-US" sz="3500" dirty="0"/>
              <a:t>2 g po stat OR Tinidazole 2 g po stat</a:t>
            </a:r>
          </a:p>
          <a:p>
            <a:pPr lvl="2"/>
            <a:r>
              <a:rPr lang="en-US" sz="3500" dirty="0"/>
              <a:t>Alternative: Metronidazole 500 mg po BID for 7 days</a:t>
            </a:r>
          </a:p>
          <a:p>
            <a:pPr lvl="2"/>
            <a:r>
              <a:rPr lang="en-US" sz="3500" dirty="0"/>
              <a:t>Partner  treatment is critical for cure and relief</a:t>
            </a:r>
          </a:p>
          <a:p>
            <a:endParaRPr lang="en-US" dirty="0"/>
          </a:p>
        </p:txBody>
      </p:sp>
    </p:spTree>
    <p:extLst>
      <p:ext uri="{BB962C8B-B14F-4D97-AF65-F5344CB8AC3E}">
        <p14:creationId xmlns:p14="http://schemas.microsoft.com/office/powerpoint/2010/main" xmlns="" val="2950695330"/>
      </p:ext>
    </p:extLst>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73162"/>
          </a:xfrm>
        </p:spPr>
        <p:txBody>
          <a:bodyPr>
            <a:normAutofit/>
          </a:bodyPr>
          <a:lstStyle/>
          <a:p>
            <a:r>
              <a:rPr lang="en-US" dirty="0" err="1"/>
              <a:t>Vulvovaginal</a:t>
            </a:r>
            <a:r>
              <a:rPr lang="en-US" dirty="0"/>
              <a:t> </a:t>
            </a:r>
            <a:r>
              <a:rPr lang="en-US" dirty="0" err="1"/>
              <a:t>Candidiasis</a:t>
            </a:r>
            <a:r>
              <a:rPr lang="en-US" dirty="0"/>
              <a:t> (</a:t>
            </a:r>
            <a:r>
              <a:rPr lang="en-US" b="1" dirty="0"/>
              <a:t>VVC</a:t>
            </a:r>
            <a:r>
              <a:rPr lang="en-US" dirty="0"/>
              <a:t>)</a:t>
            </a:r>
          </a:p>
        </p:txBody>
      </p:sp>
      <p:sp>
        <p:nvSpPr>
          <p:cNvPr id="3" name="Content Placeholder 2"/>
          <p:cNvSpPr>
            <a:spLocks noGrp="1"/>
          </p:cNvSpPr>
          <p:nvPr>
            <p:ph sz="quarter" idx="1"/>
          </p:nvPr>
        </p:nvSpPr>
        <p:spPr>
          <a:xfrm>
            <a:off x="457200" y="1600200"/>
            <a:ext cx="8229600" cy="4800600"/>
          </a:xfrm>
        </p:spPr>
        <p:txBody>
          <a:bodyPr>
            <a:normAutofit fontScale="25000" lnSpcReduction="20000"/>
          </a:bodyPr>
          <a:lstStyle/>
          <a:p>
            <a:pPr>
              <a:buNone/>
            </a:pPr>
            <a:endParaRPr lang="en-US" sz="2800" dirty="0"/>
          </a:p>
          <a:p>
            <a:pPr lvl="1"/>
            <a:r>
              <a:rPr lang="en-US" sz="12800" dirty="0"/>
              <a:t>Caused by </a:t>
            </a:r>
            <a:r>
              <a:rPr lang="en-US" sz="12800" dirty="0">
                <a:ln w="22225">
                  <a:solidFill>
                    <a:schemeClr val="accent2"/>
                  </a:solidFill>
                  <a:prstDash val="solid"/>
                </a:ln>
                <a:solidFill>
                  <a:schemeClr val="accent2">
                    <a:lumMod val="40000"/>
                    <a:lumOff val="60000"/>
                  </a:schemeClr>
                </a:solidFill>
              </a:rPr>
              <a:t>C Albicans</a:t>
            </a:r>
            <a:r>
              <a:rPr lang="en-US" sz="12800" dirty="0"/>
              <a:t> and other species</a:t>
            </a:r>
          </a:p>
          <a:p>
            <a:pPr marL="457200" lvl="1" indent="0">
              <a:buNone/>
            </a:pPr>
            <a:endParaRPr lang="en-US" sz="12800" dirty="0"/>
          </a:p>
          <a:p>
            <a:pPr lvl="1"/>
            <a:r>
              <a:rPr lang="en-US" sz="12800" dirty="0"/>
              <a:t>Symptoms: </a:t>
            </a:r>
            <a:r>
              <a:rPr lang="en-US" sz="12800" dirty="0" err="1"/>
              <a:t>pruritis</a:t>
            </a:r>
            <a:r>
              <a:rPr lang="en-US" sz="12800" dirty="0"/>
              <a:t>, </a:t>
            </a:r>
            <a:r>
              <a:rPr lang="en-US" sz="12800" dirty="0" err="1"/>
              <a:t>soarness</a:t>
            </a:r>
            <a:r>
              <a:rPr lang="en-US" sz="12800" dirty="0"/>
              <a:t>, dyspareunia, external dysuria, discharge (thick curdy)</a:t>
            </a:r>
          </a:p>
          <a:p>
            <a:pPr lvl="1"/>
            <a:r>
              <a:rPr lang="en-US" sz="12800" dirty="0"/>
              <a:t>The discharge is not always curd-like (sometimes described as cottage-cheese-like in character) but can vary from watery to homogeneously thick</a:t>
            </a:r>
            <a:r>
              <a:rPr lang="en-US" sz="7200" dirty="0"/>
              <a:t>. </a:t>
            </a:r>
          </a:p>
          <a:p>
            <a:pPr lvl="1"/>
            <a:r>
              <a:rPr lang="en-US" sz="12800" dirty="0"/>
              <a:t>On examination, the vulva may be erythematous and excoriated. The vulva and the labia may be swollen</a:t>
            </a:r>
            <a:r>
              <a:rPr lang="en-US" sz="7200" dirty="0"/>
              <a:t>.</a:t>
            </a:r>
            <a:endParaRPr lang="en-US" sz="12800" dirty="0"/>
          </a:p>
          <a:p>
            <a:pPr marL="457200" lvl="1" indent="0">
              <a:buNone/>
            </a:pPr>
            <a:endParaRPr lang="en-US" sz="12800" dirty="0"/>
          </a:p>
          <a:p>
            <a:pPr marL="457200" lvl="1" indent="0">
              <a:buNone/>
            </a:pPr>
            <a:endParaRPr lang="en-US" sz="12800" dirty="0"/>
          </a:p>
          <a:p>
            <a:pPr marL="457200" lvl="1" indent="0">
              <a:buNone/>
            </a:pPr>
            <a:endParaRPr lang="en-US" sz="12800" dirty="0"/>
          </a:p>
        </p:txBody>
      </p:sp>
    </p:spTree>
    <p:extLst>
      <p:ext uri="{BB962C8B-B14F-4D97-AF65-F5344CB8AC3E}">
        <p14:creationId xmlns:p14="http://schemas.microsoft.com/office/powerpoint/2010/main" xmlns="" val="2080131007"/>
      </p:ext>
    </p:extLst>
  </p:cSld>
  <p:clrMapOvr>
    <a:masterClrMapping/>
  </p:clrMapOvr>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08399E57-A4C9-C334-A112-7BEB9C63AC55}"/>
              </a:ext>
            </a:extLst>
          </p:cNvPr>
          <p:cNvSpPr>
            <a:spLocks noGrp="1"/>
          </p:cNvSpPr>
          <p:nvPr>
            <p:ph type="title"/>
          </p:nvPr>
        </p:nvSpPr>
        <p:spPr/>
        <p:txBody>
          <a:bodyPr/>
          <a:lstStyle/>
          <a:p>
            <a:r>
              <a:rPr lang="en-US" dirty="0"/>
              <a:t>Continued ……………….</a:t>
            </a:r>
          </a:p>
        </p:txBody>
      </p:sp>
      <p:sp>
        <p:nvSpPr>
          <p:cNvPr id="3" name="Content Placeholder 2">
            <a:extLst>
              <a:ext uri="{FF2B5EF4-FFF2-40B4-BE49-F238E27FC236}">
                <a16:creationId xmlns:a16="http://schemas.microsoft.com/office/drawing/2014/main" xmlns="" id="{CC8FA86D-F89C-035C-594E-B67847EF5B41}"/>
              </a:ext>
            </a:extLst>
          </p:cNvPr>
          <p:cNvSpPr>
            <a:spLocks noGrp="1"/>
          </p:cNvSpPr>
          <p:nvPr>
            <p:ph sz="quarter" idx="1"/>
          </p:nvPr>
        </p:nvSpPr>
        <p:spPr/>
        <p:txBody>
          <a:bodyPr/>
          <a:lstStyle/>
          <a:p>
            <a:r>
              <a:rPr lang="en-US" dirty="0"/>
              <a:t>Diagnosis – </a:t>
            </a:r>
          </a:p>
          <a:p>
            <a:pPr marL="0" indent="0">
              <a:buNone/>
            </a:pPr>
            <a:r>
              <a:rPr lang="en-US" dirty="0"/>
              <a:t>            - Microscopy ( wet mount or KOH )</a:t>
            </a:r>
          </a:p>
          <a:p>
            <a:pPr marL="0" indent="0">
              <a:buNone/>
            </a:pPr>
            <a:r>
              <a:rPr lang="en-US" dirty="0"/>
              <a:t>                  Findings – budding yeast cell , hyphae              </a:t>
            </a:r>
          </a:p>
          <a:p>
            <a:pPr marL="0" indent="0">
              <a:buNone/>
            </a:pPr>
            <a:r>
              <a:rPr lang="en-US" dirty="0"/>
              <a:t>                                   or </a:t>
            </a:r>
            <a:r>
              <a:rPr lang="en-US" dirty="0" err="1"/>
              <a:t>pseudohyphae</a:t>
            </a:r>
            <a:endParaRPr lang="en-US" dirty="0"/>
          </a:p>
          <a:p>
            <a:pPr marL="0" indent="0">
              <a:buNone/>
            </a:pPr>
            <a:r>
              <a:rPr lang="en-US" dirty="0"/>
              <a:t>             - Vaginal pH – normal </a:t>
            </a:r>
          </a:p>
          <a:p>
            <a:pPr marL="0" indent="0">
              <a:buNone/>
            </a:pPr>
            <a:r>
              <a:rPr lang="en-US" dirty="0"/>
              <a:t>             - Culture – gold standard </a:t>
            </a:r>
          </a:p>
        </p:txBody>
      </p:sp>
    </p:spTree>
    <p:extLst>
      <p:ext uri="{BB962C8B-B14F-4D97-AF65-F5344CB8AC3E}">
        <p14:creationId xmlns:p14="http://schemas.microsoft.com/office/powerpoint/2010/main" xmlns="" val="3137730401"/>
      </p:ext>
    </p:extLst>
  </p:cSld>
  <p:clrMapOvr>
    <a:masterClrMapping/>
  </p:clrMapOvr>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xmlns="" id="{54673660-EBDC-0575-A73B-FC5F7D4F7906}"/>
              </a:ext>
            </a:extLst>
          </p:cNvPr>
          <p:cNvSpPr>
            <a:spLocks noGrp="1"/>
          </p:cNvSpPr>
          <p:nvPr>
            <p:ph sz="quarter" idx="1"/>
          </p:nvPr>
        </p:nvSpPr>
        <p:spPr>
          <a:xfrm>
            <a:off x="457200" y="609600"/>
            <a:ext cx="8229600" cy="5791200"/>
          </a:xfrm>
        </p:spPr>
        <p:txBody>
          <a:bodyPr/>
          <a:lstStyle/>
          <a:p>
            <a:pPr marL="0" indent="0">
              <a:buNone/>
            </a:pPr>
            <a:r>
              <a:rPr lang="en-US" dirty="0"/>
              <a:t>      TREATMENT </a:t>
            </a:r>
          </a:p>
          <a:p>
            <a:r>
              <a:rPr lang="en-US" dirty="0"/>
              <a:t>Miconazole vaginal pessaries, 200 mg inserted at night for 3 nights</a:t>
            </a:r>
          </a:p>
          <a:p>
            <a:pPr marL="0" indent="0">
              <a:buNone/>
            </a:pPr>
            <a:r>
              <a:rPr lang="en-US" dirty="0"/>
              <a:t>                             OR </a:t>
            </a:r>
          </a:p>
          <a:p>
            <a:pPr marL="0" indent="0">
              <a:buNone/>
            </a:pPr>
            <a:r>
              <a:rPr lang="en-US" dirty="0"/>
              <a:t>Clotrimazole vaginal tablet, 100 mg, inserted     at night for 7 nights</a:t>
            </a:r>
          </a:p>
          <a:p>
            <a:r>
              <a:rPr lang="en-US" dirty="0"/>
              <a:t>Alternative -Fluconazole 150 mg (or 200mg), orally, single dose OR Nystatin, 200,000-unit vaginal tablet, inserted at night for 7 nights</a:t>
            </a:r>
          </a:p>
        </p:txBody>
      </p:sp>
    </p:spTree>
    <p:extLst>
      <p:ext uri="{BB962C8B-B14F-4D97-AF65-F5344CB8AC3E}">
        <p14:creationId xmlns:p14="http://schemas.microsoft.com/office/powerpoint/2010/main" xmlns="" val="520621654"/>
      </p:ext>
    </p:extLst>
  </p:cSld>
  <p:clrMapOvr>
    <a:masterClrMapping/>
  </p:clrMapOvr>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42" name="Picture 2"/>
          <p:cNvPicPr>
            <a:picLocks noGrp="1" noChangeAspect="1" noChangeArrowheads="1"/>
          </p:cNvPicPr>
          <p:nvPr>
            <p:ph sz="quarter" idx="1"/>
          </p:nvPr>
        </p:nvPicPr>
        <p:blipFill>
          <a:blip r:embed="rId2"/>
          <a:srcRect/>
          <a:stretch>
            <a:fillRect/>
          </a:stretch>
        </p:blipFill>
        <p:spPr bwMode="auto">
          <a:xfrm>
            <a:off x="152400" y="1447800"/>
            <a:ext cx="8839200" cy="4343400"/>
          </a:xfrm>
          <a:prstGeom prst="rect">
            <a:avLst/>
          </a:prstGeom>
          <a:noFill/>
          <a:ln w="9525">
            <a:noFill/>
            <a:miter lim="800000"/>
            <a:headEnd/>
            <a:tailEnd/>
          </a:ln>
          <a:effectLst/>
        </p:spPr>
      </p:pic>
    </p:spTree>
    <p:extLst>
      <p:ext uri="{BB962C8B-B14F-4D97-AF65-F5344CB8AC3E}">
        <p14:creationId xmlns:p14="http://schemas.microsoft.com/office/powerpoint/2010/main" xmlns="" val="2508445379"/>
      </p:ext>
    </p:extLst>
  </p:cSld>
  <p:clrMapOvr>
    <a:masterClrMapping/>
  </p:clrMapOvr>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sz="4400" dirty="0">
                <a:latin typeface="+mn-lt"/>
              </a:rPr>
              <a:t>Chlamydia trachomatis</a:t>
            </a:r>
            <a:endParaRPr lang="en-US" dirty="0"/>
          </a:p>
        </p:txBody>
      </p:sp>
      <p:sp>
        <p:nvSpPr>
          <p:cNvPr id="3" name="Content Placeholder 2"/>
          <p:cNvSpPr>
            <a:spLocks noGrp="1"/>
          </p:cNvSpPr>
          <p:nvPr>
            <p:ph sz="quarter" idx="1"/>
          </p:nvPr>
        </p:nvSpPr>
        <p:spPr/>
        <p:txBody>
          <a:bodyPr>
            <a:normAutofit/>
          </a:bodyPr>
          <a:lstStyle/>
          <a:p>
            <a:pPr>
              <a:defRPr/>
            </a:pPr>
            <a:r>
              <a:rPr lang="en-US" dirty="0"/>
              <a:t>Chlamydia trachomatis is the most common bacterial agent of sexually transmitted genital infections.</a:t>
            </a:r>
          </a:p>
          <a:p>
            <a:pPr>
              <a:defRPr/>
            </a:pPr>
            <a:r>
              <a:rPr lang="en-US" dirty="0"/>
              <a:t> </a:t>
            </a:r>
            <a:r>
              <a:rPr lang="en-US" dirty="0" err="1"/>
              <a:t>Chlamydiae</a:t>
            </a:r>
            <a:r>
              <a:rPr lang="en-US" dirty="0"/>
              <a:t> are </a:t>
            </a:r>
            <a:r>
              <a:rPr lang="en-US" i="1" dirty="0"/>
              <a:t>obligate intracellular microorganisms</a:t>
            </a:r>
            <a:r>
              <a:rPr lang="en-US" dirty="0"/>
              <a:t> that have a cell wall similar to that of gram-negative bacteria. </a:t>
            </a:r>
          </a:p>
        </p:txBody>
      </p:sp>
    </p:spTree>
    <p:extLst>
      <p:ext uri="{BB962C8B-B14F-4D97-AF65-F5344CB8AC3E}">
        <p14:creationId xmlns:p14="http://schemas.microsoft.com/office/powerpoint/2010/main" xmlns="" val="2699672453"/>
      </p:ext>
    </p:extLst>
  </p:cSld>
  <p:clrMapOvr>
    <a:masterClrMapping/>
  </p:clrMapOvr>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3C3BD461-1AF8-E34C-1D0A-394CB063664D}"/>
              </a:ext>
            </a:extLst>
          </p:cNvPr>
          <p:cNvSpPr>
            <a:spLocks noGrp="1"/>
          </p:cNvSpPr>
          <p:nvPr>
            <p:ph type="title"/>
          </p:nvPr>
        </p:nvSpPr>
        <p:spPr/>
        <p:txBody>
          <a:bodyPr>
            <a:normAutofit fontScale="90000"/>
          </a:bodyPr>
          <a:lstStyle/>
          <a:p>
            <a:r>
              <a:rPr lang="en-US" dirty="0">
                <a:latin typeface="Times New Roman" panose="02020603050405020304" pitchFamily="18" charset="0"/>
                <a:cs typeface="Times New Roman" panose="02020603050405020304" pitchFamily="18" charset="0"/>
              </a:rPr>
              <a:t>Clinical syndromes caused by C. trachomatis</a:t>
            </a:r>
            <a:endParaRPr lang="en-US" dirty="0"/>
          </a:p>
        </p:txBody>
      </p:sp>
      <p:pic>
        <p:nvPicPr>
          <p:cNvPr id="4" name="Content Placeholder 2">
            <a:extLst>
              <a:ext uri="{FF2B5EF4-FFF2-40B4-BE49-F238E27FC236}">
                <a16:creationId xmlns:a16="http://schemas.microsoft.com/office/drawing/2014/main" xmlns="" id="{0634C8EF-C315-11BA-516A-29F991B7FC36}"/>
              </a:ext>
            </a:extLst>
          </p:cNvPr>
          <p:cNvPicPr>
            <a:picLocks noGrp="1" noChangeAspect="1"/>
          </p:cNvPicPr>
          <p:nvPr>
            <p:ph sz="quarter" idx="1"/>
          </p:nvPr>
        </p:nvPicPr>
        <p:blipFill>
          <a:blip r:embed="rId2"/>
          <a:stretch>
            <a:fillRect/>
          </a:stretch>
        </p:blipFill>
        <p:spPr>
          <a:xfrm>
            <a:off x="914400" y="1573440"/>
            <a:ext cx="7772400" cy="4320720"/>
          </a:xfrm>
        </p:spPr>
      </p:pic>
    </p:spTree>
    <p:extLst>
      <p:ext uri="{BB962C8B-B14F-4D97-AF65-F5344CB8AC3E}">
        <p14:creationId xmlns:p14="http://schemas.microsoft.com/office/powerpoint/2010/main" xmlns="" val="4025785931"/>
      </p:ext>
    </p:extLst>
  </p:cSld>
  <p:clrMapOvr>
    <a:masterClrMapping/>
  </p:clrMapOvr>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quarter" idx="1"/>
          </p:nvPr>
        </p:nvSpPr>
        <p:spPr>
          <a:xfrm>
            <a:off x="457200" y="990600"/>
            <a:ext cx="8229600" cy="5135563"/>
          </a:xfrm>
        </p:spPr>
        <p:txBody>
          <a:bodyPr>
            <a:normAutofit/>
          </a:bodyPr>
          <a:lstStyle/>
          <a:p>
            <a:pPr>
              <a:buNone/>
            </a:pPr>
            <a:r>
              <a:rPr lang="en-US" dirty="0"/>
              <a:t>  Risk factors for infection</a:t>
            </a:r>
          </a:p>
          <a:p>
            <a:r>
              <a:rPr lang="en-US" dirty="0"/>
              <a:t>Adolescents and young adults</a:t>
            </a:r>
          </a:p>
          <a:p>
            <a:r>
              <a:rPr lang="en-US" dirty="0"/>
              <a:t>Multiple sex partners  a recent new sex partner</a:t>
            </a:r>
          </a:p>
          <a:p>
            <a:r>
              <a:rPr lang="en-US" dirty="0"/>
              <a:t>Inconsistent use of barrier contraceptive</a:t>
            </a:r>
          </a:p>
          <a:p>
            <a:r>
              <a:rPr lang="en-US" dirty="0"/>
              <a:t>Unmarried status</a:t>
            </a:r>
          </a:p>
          <a:p>
            <a:r>
              <a:rPr lang="en-US" dirty="0"/>
              <a:t>History of prior sexually transmitted disease</a:t>
            </a:r>
          </a:p>
          <a:p>
            <a:r>
              <a:rPr lang="en-US" dirty="0"/>
              <a:t>Lower socioeconomic class</a:t>
            </a:r>
          </a:p>
        </p:txBody>
      </p:sp>
    </p:spTree>
    <p:extLst>
      <p:ext uri="{BB962C8B-B14F-4D97-AF65-F5344CB8AC3E}">
        <p14:creationId xmlns:p14="http://schemas.microsoft.com/office/powerpoint/2010/main" xmlns="" val="136646565"/>
      </p:ext>
    </p:extLst>
  </p:cSld>
  <p:clrMapOvr>
    <a:masterClrMapping/>
  </p:clrMapOvr>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DF729C5F-0305-F846-320A-4C71DB1043AE}"/>
              </a:ext>
            </a:extLst>
          </p:cNvPr>
          <p:cNvSpPr>
            <a:spLocks noGrp="1"/>
          </p:cNvSpPr>
          <p:nvPr>
            <p:ph type="title"/>
          </p:nvPr>
        </p:nvSpPr>
        <p:spPr/>
        <p:txBody>
          <a:bodyPr/>
          <a:lstStyle/>
          <a:p>
            <a:r>
              <a:rPr lang="en-US" dirty="0"/>
              <a:t>Sign and symptom in women </a:t>
            </a:r>
          </a:p>
        </p:txBody>
      </p:sp>
      <p:sp>
        <p:nvSpPr>
          <p:cNvPr id="3" name="Content Placeholder 2">
            <a:extLst>
              <a:ext uri="{FF2B5EF4-FFF2-40B4-BE49-F238E27FC236}">
                <a16:creationId xmlns:a16="http://schemas.microsoft.com/office/drawing/2014/main" xmlns="" id="{D75598E7-8893-2FF3-15C1-0F8DCB1B4FD7}"/>
              </a:ext>
            </a:extLst>
          </p:cNvPr>
          <p:cNvSpPr>
            <a:spLocks noGrp="1"/>
          </p:cNvSpPr>
          <p:nvPr>
            <p:ph sz="quarter" idx="1"/>
          </p:nvPr>
        </p:nvSpPr>
        <p:spPr/>
        <p:txBody>
          <a:bodyPr/>
          <a:lstStyle/>
          <a:p>
            <a:pPr marL="971550" lvl="1" indent="-571500">
              <a:defRPr/>
            </a:pPr>
            <a:r>
              <a:rPr lang="en-US" sz="3200" dirty="0"/>
              <a:t>No symptoms(50%)</a:t>
            </a:r>
          </a:p>
          <a:p>
            <a:pPr marL="971550" lvl="1" indent="-571500">
              <a:defRPr/>
            </a:pPr>
            <a:r>
              <a:rPr lang="en-US" sz="3200" dirty="0"/>
              <a:t>Vaginal discharge </a:t>
            </a:r>
          </a:p>
          <a:p>
            <a:pPr marL="971550" lvl="1" indent="-571500">
              <a:defRPr/>
            </a:pPr>
            <a:r>
              <a:rPr lang="en-US" sz="3200" dirty="0"/>
              <a:t>Abnormal vaginal bleeding (postcoital)</a:t>
            </a:r>
          </a:p>
          <a:p>
            <a:pPr marL="971550" lvl="1" indent="-571500">
              <a:defRPr/>
            </a:pPr>
            <a:r>
              <a:rPr lang="en-US" sz="3200" dirty="0"/>
              <a:t>Dyspareunia</a:t>
            </a:r>
          </a:p>
          <a:p>
            <a:pPr marL="971550" lvl="1" indent="-571500">
              <a:defRPr/>
            </a:pPr>
            <a:r>
              <a:rPr lang="en-US" sz="3200" dirty="0"/>
              <a:t>Slow onset &amp; progression of L. </a:t>
            </a:r>
            <a:r>
              <a:rPr lang="en-US" sz="3200" dirty="0" err="1"/>
              <a:t>abd</a:t>
            </a:r>
            <a:r>
              <a:rPr lang="en-US" sz="3200" dirty="0"/>
              <a:t>. Pain</a:t>
            </a:r>
          </a:p>
          <a:p>
            <a:pPr marL="971550" lvl="1" indent="-571500">
              <a:defRPr/>
            </a:pPr>
            <a:r>
              <a:rPr lang="de-DE" sz="3200" dirty="0"/>
              <a:t>Ascending infections (PID)</a:t>
            </a:r>
          </a:p>
          <a:p>
            <a:pPr marL="971550" lvl="1" indent="-571500">
              <a:defRPr/>
            </a:pPr>
            <a:r>
              <a:rPr lang="en-US" sz="3200" dirty="0"/>
              <a:t>Fever (PID)</a:t>
            </a:r>
          </a:p>
          <a:p>
            <a:endParaRPr lang="en-US" dirty="0"/>
          </a:p>
        </p:txBody>
      </p:sp>
    </p:spTree>
    <p:extLst>
      <p:ext uri="{BB962C8B-B14F-4D97-AF65-F5344CB8AC3E}">
        <p14:creationId xmlns:p14="http://schemas.microsoft.com/office/powerpoint/2010/main" xmlns="" val="3249409920"/>
      </p:ext>
    </p:extLst>
  </p:cSld>
  <p:clrMapOvr>
    <a:masterClrMapping/>
  </p:clrMapOvr>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B9F9DAF3-B78B-08FC-555A-914A769AA681}"/>
              </a:ext>
            </a:extLst>
          </p:cNvPr>
          <p:cNvSpPr>
            <a:spLocks noGrp="1"/>
          </p:cNvSpPr>
          <p:nvPr>
            <p:ph type="title"/>
          </p:nvPr>
        </p:nvSpPr>
        <p:spPr/>
        <p:txBody>
          <a:bodyPr/>
          <a:lstStyle/>
          <a:p>
            <a:r>
              <a:rPr lang="en-US" dirty="0"/>
              <a:t>Diagnosis </a:t>
            </a:r>
          </a:p>
        </p:txBody>
      </p:sp>
      <p:sp>
        <p:nvSpPr>
          <p:cNvPr id="3" name="Content Placeholder 2">
            <a:extLst>
              <a:ext uri="{FF2B5EF4-FFF2-40B4-BE49-F238E27FC236}">
                <a16:creationId xmlns:a16="http://schemas.microsoft.com/office/drawing/2014/main" xmlns="" id="{9A3F5F17-3894-DEF2-448C-B252B6CCA5FB}"/>
              </a:ext>
            </a:extLst>
          </p:cNvPr>
          <p:cNvSpPr>
            <a:spLocks noGrp="1"/>
          </p:cNvSpPr>
          <p:nvPr>
            <p:ph sz="quarter" idx="1"/>
          </p:nvPr>
        </p:nvSpPr>
        <p:spPr/>
        <p:txBody>
          <a:bodyPr>
            <a:normAutofit/>
          </a:bodyPr>
          <a:lstStyle/>
          <a:p>
            <a:pPr>
              <a:buNone/>
            </a:pPr>
            <a:r>
              <a:rPr lang="en-US" b="1" dirty="0"/>
              <a:t>Nucleic Acid Amplification Tests (NAATs)</a:t>
            </a:r>
          </a:p>
          <a:p>
            <a:pPr>
              <a:buFont typeface="Arial" panose="020B0604020202020204" pitchFamily="34" charset="0"/>
              <a:buChar char="•"/>
            </a:pPr>
            <a:r>
              <a:rPr lang="en-US" b="1" dirty="0"/>
              <a:t>Gold standard</a:t>
            </a:r>
            <a:r>
              <a:rPr lang="en-US" dirty="0"/>
              <a:t>: NAATs are the most sensitive and specific tests for diagnosing </a:t>
            </a:r>
            <a:r>
              <a:rPr lang="en-US" b="1" dirty="0"/>
              <a:t>Chlamydia trachomatis</a:t>
            </a:r>
            <a:r>
              <a:rPr lang="en-US" dirty="0"/>
              <a:t>. </a:t>
            </a:r>
          </a:p>
          <a:p>
            <a:pPr>
              <a:buFont typeface="Arial" panose="020B0604020202020204" pitchFamily="34" charset="0"/>
              <a:buChar char="•"/>
            </a:pPr>
            <a:r>
              <a:rPr lang="en-US" dirty="0"/>
              <a:t>Cell culture –it has greatest specificity but </a:t>
            </a:r>
            <a:r>
              <a:rPr lang="en-US" altLang="en-US" dirty="0"/>
              <a:t>cost can be prohibitive, and a 3- to 7-day delay in diagnosis is required</a:t>
            </a:r>
            <a:endParaRPr lang="en-US" dirty="0"/>
          </a:p>
          <a:p>
            <a:endParaRPr lang="en-US" dirty="0"/>
          </a:p>
        </p:txBody>
      </p:sp>
    </p:spTree>
    <p:extLst>
      <p:ext uri="{BB962C8B-B14F-4D97-AF65-F5344CB8AC3E}">
        <p14:creationId xmlns:p14="http://schemas.microsoft.com/office/powerpoint/2010/main" xmlns="" val="1520027522"/>
      </p:ext>
    </p:extLst>
  </p:cSld>
  <p:clrMapOvr>
    <a:masterClrMapping/>
  </p:clrMapOvr>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Continued ………</a:t>
            </a:r>
          </a:p>
        </p:txBody>
      </p:sp>
      <p:sp>
        <p:nvSpPr>
          <p:cNvPr id="3" name="Content Placeholder 2"/>
          <p:cNvSpPr>
            <a:spLocks noGrp="1"/>
          </p:cNvSpPr>
          <p:nvPr>
            <p:ph sz="quarter" idx="1"/>
          </p:nvPr>
        </p:nvSpPr>
        <p:spPr/>
        <p:txBody>
          <a:bodyPr>
            <a:normAutofit/>
          </a:bodyPr>
          <a:lstStyle/>
          <a:p>
            <a:pPr lvl="1"/>
            <a:r>
              <a:rPr lang="en-US" sz="3200" dirty="0"/>
              <a:t>Treatment:</a:t>
            </a:r>
          </a:p>
          <a:p>
            <a:pPr lvl="2"/>
            <a:r>
              <a:rPr lang="en-US" sz="3200" dirty="0"/>
              <a:t>Doxycycline 100 mg po BID for 7 days OR </a:t>
            </a:r>
          </a:p>
          <a:p>
            <a:pPr lvl="2"/>
            <a:r>
              <a:rPr lang="en-US" sz="3200" dirty="0"/>
              <a:t>Azithromycin 1 g orally stat </a:t>
            </a:r>
          </a:p>
          <a:p>
            <a:pPr lvl="2"/>
            <a:r>
              <a:rPr lang="en-US" sz="3200" dirty="0"/>
              <a:t>Alternatives: Erythromycin base 500 mg po QID for 7 days  OR Ofloxacin 200–400 mg, orally, twice daily for 7 days</a:t>
            </a:r>
          </a:p>
          <a:p>
            <a:pPr lvl="2"/>
            <a:r>
              <a:rPr lang="en-US" sz="3200" dirty="0"/>
              <a:t>Partners in the past 60 days should be treated</a:t>
            </a:r>
          </a:p>
        </p:txBody>
      </p:sp>
    </p:spTree>
    <p:extLst>
      <p:ext uri="{BB962C8B-B14F-4D97-AF65-F5344CB8AC3E}">
        <p14:creationId xmlns:p14="http://schemas.microsoft.com/office/powerpoint/2010/main" xmlns="" val="1106009924"/>
      </p:ext>
    </p:extLst>
  </p:cSld>
  <p:clrMapOvr>
    <a:masterClrMapping/>
  </p:clrMapOvr>
  <p:timing>
    <p:tnLst>
      <p:par>
        <p:cT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NESSERIA GONORRHEA</a:t>
            </a:r>
            <a:endParaRPr lang="en-US" dirty="0"/>
          </a:p>
        </p:txBody>
      </p:sp>
      <p:sp>
        <p:nvSpPr>
          <p:cNvPr id="3" name="Content Placeholder 2"/>
          <p:cNvSpPr>
            <a:spLocks noGrp="1"/>
          </p:cNvSpPr>
          <p:nvPr>
            <p:ph sz="quarter" idx="1"/>
          </p:nvPr>
        </p:nvSpPr>
        <p:spPr/>
        <p:txBody>
          <a:bodyPr>
            <a:normAutofit/>
          </a:bodyPr>
          <a:lstStyle/>
          <a:p>
            <a:r>
              <a:rPr lang="en-US" i="1" dirty="0"/>
              <a:t>Is a Gram-negative, kidney-bean-shaped </a:t>
            </a:r>
            <a:r>
              <a:rPr lang="en-US" i="1" dirty="0" err="1"/>
              <a:t>diplococcus</a:t>
            </a:r>
            <a:r>
              <a:rPr lang="en-US" dirty="0"/>
              <a:t>.</a:t>
            </a:r>
          </a:p>
          <a:p>
            <a:pPr lvl="1"/>
            <a:r>
              <a:rPr lang="en-US" dirty="0"/>
              <a:t>Second most common cause of cervicitis</a:t>
            </a:r>
          </a:p>
          <a:p>
            <a:pPr lvl="1"/>
            <a:r>
              <a:rPr lang="en-US" dirty="0"/>
              <a:t>Asymptomatic infection is common but symptoms appear sooner than </a:t>
            </a:r>
            <a:r>
              <a:rPr lang="en-US" dirty="0" err="1"/>
              <a:t>chlamydia</a:t>
            </a:r>
            <a:endParaRPr lang="en-US" dirty="0"/>
          </a:p>
          <a:p>
            <a:pPr>
              <a:buNone/>
            </a:pPr>
            <a:endParaRPr lang="en-US" dirty="0"/>
          </a:p>
        </p:txBody>
      </p:sp>
    </p:spTree>
    <p:extLst>
      <p:ext uri="{BB962C8B-B14F-4D97-AF65-F5344CB8AC3E}">
        <p14:creationId xmlns:p14="http://schemas.microsoft.com/office/powerpoint/2010/main" xmlns="" val="1773223104"/>
      </p:ext>
    </p:extLst>
  </p:cSld>
  <p:clrMapOvr>
    <a:masterClrMapping/>
  </p:clrMapOvr>
  <p:timing>
    <p:tnLst>
      <p:par>
        <p:cTn id="1" dur="indefinite" restart="never" nodeType="tmRoot"/>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7B74F524-F0E2-0446-173F-85508D8FF2FC}"/>
              </a:ext>
            </a:extLst>
          </p:cNvPr>
          <p:cNvSpPr>
            <a:spLocks noGrp="1"/>
          </p:cNvSpPr>
          <p:nvPr>
            <p:ph type="title"/>
          </p:nvPr>
        </p:nvSpPr>
        <p:spPr/>
        <p:txBody>
          <a:bodyPr/>
          <a:lstStyle/>
          <a:p>
            <a:r>
              <a:rPr lang="en-US" sz="4400" cap="all" dirty="0"/>
              <a:t>CLINICAL MANIFESTATION</a:t>
            </a:r>
            <a:endParaRPr lang="en-US" dirty="0"/>
          </a:p>
        </p:txBody>
      </p:sp>
      <p:sp>
        <p:nvSpPr>
          <p:cNvPr id="3" name="Content Placeholder 2">
            <a:extLst>
              <a:ext uri="{FF2B5EF4-FFF2-40B4-BE49-F238E27FC236}">
                <a16:creationId xmlns:a16="http://schemas.microsoft.com/office/drawing/2014/main" xmlns="" id="{39A4732C-8D9D-F57C-0035-242112A1A337}"/>
              </a:ext>
            </a:extLst>
          </p:cNvPr>
          <p:cNvSpPr>
            <a:spLocks noGrp="1"/>
          </p:cNvSpPr>
          <p:nvPr>
            <p:ph sz="quarter" idx="1"/>
          </p:nvPr>
        </p:nvSpPr>
        <p:spPr>
          <a:xfrm>
            <a:off x="-1" y="1219200"/>
            <a:ext cx="8962663" cy="5791200"/>
          </a:xfrm>
        </p:spPr>
        <p:txBody>
          <a:bodyPr/>
          <a:lstStyle/>
          <a:p>
            <a:pPr>
              <a:buNone/>
            </a:pPr>
            <a:r>
              <a:rPr lang="en-US" altLang="en-US" dirty="0"/>
              <a:t>In Male </a:t>
            </a:r>
          </a:p>
          <a:p>
            <a:r>
              <a:rPr lang="en-US" altLang="en-US" i="1" dirty="0"/>
              <a:t>Urethritis</a:t>
            </a:r>
            <a:r>
              <a:rPr lang="en-US" altLang="en-US" dirty="0"/>
              <a:t> – </a:t>
            </a:r>
          </a:p>
          <a:p>
            <a:pPr lvl="1"/>
            <a:r>
              <a:rPr lang="en-US" altLang="en-US" sz="2800" dirty="0"/>
              <a:t>urethral discharge, dysuria</a:t>
            </a:r>
          </a:p>
          <a:p>
            <a:r>
              <a:rPr lang="en-US" altLang="en-US" dirty="0"/>
              <a:t>Complications : </a:t>
            </a:r>
            <a:r>
              <a:rPr lang="en-US" altLang="en-US" i="1" dirty="0"/>
              <a:t>epididymitis, prostatitis, periurethral abscess  </a:t>
            </a:r>
          </a:p>
          <a:p>
            <a:endParaRPr lang="en-US" dirty="0"/>
          </a:p>
        </p:txBody>
      </p:sp>
      <p:pic>
        <p:nvPicPr>
          <p:cNvPr id="4" name="Picture 3">
            <a:extLst>
              <a:ext uri="{FF2B5EF4-FFF2-40B4-BE49-F238E27FC236}">
                <a16:creationId xmlns:a16="http://schemas.microsoft.com/office/drawing/2014/main" xmlns="" id="{1FB45980-527A-502C-ED90-C1ECC63794EC}"/>
              </a:ext>
            </a:extLst>
          </p:cNvPr>
          <p:cNvPicPr>
            <a:picLocks noChangeAspect="1" noChangeArrowheads="1"/>
          </p:cNvPicPr>
          <p:nvPr/>
        </p:nvPicPr>
        <p:blipFill>
          <a:blip r:embed="rId2">
            <a:extLst>
              <a:ext uri="{28A0092B-C50C-407E-A947-70E740481C1C}">
                <a14:useLocalDpi xmlns:a14="http://schemas.microsoft.com/office/drawing/2010/main" xmlns="" val="0"/>
              </a:ext>
            </a:extLst>
          </a:blip>
          <a:srcRect/>
          <a:stretch>
            <a:fillRect/>
          </a:stretch>
        </p:blipFill>
        <p:spPr>
          <a:xfrm>
            <a:off x="181337" y="4338758"/>
            <a:ext cx="4419600" cy="2452688"/>
          </a:xfrm>
          <a:prstGeom prst="rect">
            <a:avLst/>
          </a:prstGeom>
        </p:spPr>
      </p:pic>
      <p:pic>
        <p:nvPicPr>
          <p:cNvPr id="5" name="Picture 4">
            <a:extLst>
              <a:ext uri="{FF2B5EF4-FFF2-40B4-BE49-F238E27FC236}">
                <a16:creationId xmlns:a16="http://schemas.microsoft.com/office/drawing/2014/main" xmlns="" id="{95BF3681-F6CC-7F17-A96B-7B9D33E0CAEF}"/>
              </a:ext>
            </a:extLst>
          </p:cNvPr>
          <p:cNvPicPr>
            <a:picLocks noChangeAspect="1" noChangeArrowheads="1"/>
          </p:cNvPicPr>
          <p:nvPr/>
        </p:nvPicPr>
        <p:blipFill>
          <a:blip r:embed="rId3">
            <a:extLst>
              <a:ext uri="{28A0092B-C50C-407E-A947-70E740481C1C}">
                <a14:useLocalDpi xmlns:a14="http://schemas.microsoft.com/office/drawing/2010/main" xmlns="" val="0"/>
              </a:ext>
            </a:extLst>
          </a:blip>
          <a:srcRect/>
          <a:stretch>
            <a:fillRect/>
          </a:stretch>
        </p:blipFill>
        <p:spPr bwMode="auto">
          <a:xfrm>
            <a:off x="4749480" y="3581400"/>
            <a:ext cx="4191000" cy="28194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Tree>
    <p:extLst>
      <p:ext uri="{BB962C8B-B14F-4D97-AF65-F5344CB8AC3E}">
        <p14:creationId xmlns:p14="http://schemas.microsoft.com/office/powerpoint/2010/main" xmlns="" val="1913214778"/>
      </p:ext>
    </p:extLst>
  </p:cSld>
  <p:clrMapOvr>
    <a:masterClrMapping/>
  </p:clrMapOvr>
  <p:timing>
    <p:tnLst>
      <p:par>
        <p:cTn id="1" dur="indefinite" restart="never" nodeType="tmRoot"/>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665910B7-2451-8C28-9EC6-ECF89BE699C2}"/>
              </a:ext>
            </a:extLst>
          </p:cNvPr>
          <p:cNvSpPr>
            <a:spLocks noGrp="1"/>
          </p:cNvSpPr>
          <p:nvPr>
            <p:ph type="title"/>
          </p:nvPr>
        </p:nvSpPr>
        <p:spPr/>
        <p:txBody>
          <a:bodyPr/>
          <a:lstStyle/>
          <a:p>
            <a:r>
              <a:rPr lang="en-US" dirty="0"/>
              <a:t>Continued ……………</a:t>
            </a:r>
          </a:p>
        </p:txBody>
      </p:sp>
      <p:sp>
        <p:nvSpPr>
          <p:cNvPr id="3" name="Content Placeholder 2">
            <a:extLst>
              <a:ext uri="{FF2B5EF4-FFF2-40B4-BE49-F238E27FC236}">
                <a16:creationId xmlns:a16="http://schemas.microsoft.com/office/drawing/2014/main" xmlns="" id="{9B835688-1A5F-B138-97C1-69C3CE521393}"/>
              </a:ext>
            </a:extLst>
          </p:cNvPr>
          <p:cNvSpPr>
            <a:spLocks noGrp="1"/>
          </p:cNvSpPr>
          <p:nvPr>
            <p:ph sz="quarter" idx="1"/>
          </p:nvPr>
        </p:nvSpPr>
        <p:spPr/>
        <p:txBody>
          <a:bodyPr/>
          <a:lstStyle/>
          <a:p>
            <a:pPr>
              <a:buNone/>
            </a:pPr>
            <a:r>
              <a:rPr lang="en-US" altLang="en-US" dirty="0"/>
              <a:t>In female </a:t>
            </a:r>
          </a:p>
          <a:p>
            <a:r>
              <a:rPr lang="en-US" altLang="en-US" dirty="0"/>
              <a:t>Cervicitis, urethritis, </a:t>
            </a:r>
          </a:p>
          <a:p>
            <a:pPr lvl="1"/>
            <a:r>
              <a:rPr lang="en-US" altLang="en-US" sz="3200" dirty="0"/>
              <a:t>Vaginal discharge, dysuria</a:t>
            </a:r>
          </a:p>
          <a:p>
            <a:pPr lvl="1"/>
            <a:r>
              <a:rPr lang="en-US" altLang="en-US" sz="3200" dirty="0"/>
              <a:t>Complications(10-20% of cases) :Salpingitis, pelvic peritonitis, </a:t>
            </a:r>
            <a:r>
              <a:rPr lang="en-US" altLang="en-US" sz="3200" dirty="0" err="1"/>
              <a:t>tuboovarian</a:t>
            </a:r>
            <a:r>
              <a:rPr lang="en-US" altLang="en-US" sz="3200" dirty="0"/>
              <a:t> abscess </a:t>
            </a:r>
          </a:p>
          <a:p>
            <a:r>
              <a:rPr lang="en-US" altLang="en-US" dirty="0"/>
              <a:t>Disseminated </a:t>
            </a:r>
            <a:r>
              <a:rPr lang="en-US" altLang="en-US" dirty="0" err="1"/>
              <a:t>gonoccocal</a:t>
            </a:r>
            <a:r>
              <a:rPr lang="en-US" altLang="en-US" dirty="0"/>
              <a:t> infection(DGI)</a:t>
            </a:r>
          </a:p>
          <a:p>
            <a:pPr marL="0" indent="0">
              <a:buNone/>
            </a:pPr>
            <a:endParaRPr lang="en-US" altLang="en-US" dirty="0"/>
          </a:p>
          <a:p>
            <a:endParaRPr lang="en-US" dirty="0"/>
          </a:p>
        </p:txBody>
      </p:sp>
    </p:spTree>
    <p:extLst>
      <p:ext uri="{BB962C8B-B14F-4D97-AF65-F5344CB8AC3E}">
        <p14:creationId xmlns:p14="http://schemas.microsoft.com/office/powerpoint/2010/main" xmlns="" val="3814151522"/>
      </p:ext>
    </p:extLst>
  </p:cSld>
  <p:clrMapOvr>
    <a:masterClrMapping/>
  </p:clrMapOvr>
  <p:timing>
    <p:tnLst>
      <p:par>
        <p:cTn id="1" dur="indefinite" restart="never" nodeType="tmRoot"/>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LABORATORY DIAGNOSIS</a:t>
            </a:r>
            <a:endParaRPr lang="en-US" dirty="0"/>
          </a:p>
        </p:txBody>
      </p:sp>
      <p:sp>
        <p:nvSpPr>
          <p:cNvPr id="3" name="Content Placeholder 2"/>
          <p:cNvSpPr>
            <a:spLocks noGrp="1"/>
          </p:cNvSpPr>
          <p:nvPr>
            <p:ph sz="quarter" idx="1"/>
          </p:nvPr>
        </p:nvSpPr>
        <p:spPr>
          <a:xfrm>
            <a:off x="457200" y="1600200"/>
            <a:ext cx="8229600" cy="4876800"/>
          </a:xfrm>
        </p:spPr>
        <p:txBody>
          <a:bodyPr>
            <a:normAutofit fontScale="32500" lnSpcReduction="20000"/>
          </a:bodyPr>
          <a:lstStyle/>
          <a:p>
            <a:r>
              <a:rPr lang="en-US" sz="11200" b="1" dirty="0"/>
              <a:t>Specimen: Urethral </a:t>
            </a:r>
            <a:r>
              <a:rPr lang="en-US" sz="11200" b="1" dirty="0" smtClean="0"/>
              <a:t>swab, </a:t>
            </a:r>
            <a:r>
              <a:rPr lang="en-US" sz="11200" dirty="0"/>
              <a:t>cervical swab, throat swab</a:t>
            </a:r>
          </a:p>
          <a:p>
            <a:r>
              <a:rPr lang="en-US" sz="11200" dirty="0">
                <a:latin typeface="Times New Roman" panose="02020603050405020304" pitchFamily="18" charset="0"/>
                <a:cs typeface="Times New Roman" panose="02020603050405020304" pitchFamily="18" charset="0"/>
              </a:rPr>
              <a:t>Nucleic Acid Detection Tests</a:t>
            </a:r>
          </a:p>
          <a:p>
            <a:pPr lvl="1"/>
            <a:r>
              <a:rPr lang="en-US" sz="11200" dirty="0">
                <a:latin typeface="Times New Roman" panose="02020603050405020304" pitchFamily="18" charset="0"/>
                <a:cs typeface="Times New Roman" panose="02020603050405020304" pitchFamily="18" charset="0"/>
              </a:rPr>
              <a:t>are the most sensitive test infections.</a:t>
            </a:r>
          </a:p>
          <a:p>
            <a:pPr marL="457200" lvl="1" indent="0">
              <a:buNone/>
            </a:pPr>
            <a:endParaRPr lang="en-US" sz="11200" b="1" dirty="0">
              <a:latin typeface="Times New Roman" panose="02020603050405020304" pitchFamily="18" charset="0"/>
              <a:cs typeface="Times New Roman" panose="02020603050405020304" pitchFamily="18" charset="0"/>
            </a:endParaRPr>
          </a:p>
          <a:p>
            <a:pPr marL="457200" lvl="1" indent="0">
              <a:buNone/>
            </a:pPr>
            <a:r>
              <a:rPr lang="en-US" sz="11200" b="1" dirty="0"/>
              <a:t>Culture: on enriched media </a:t>
            </a:r>
            <a:r>
              <a:rPr lang="en-US" sz="11200" dirty="0"/>
              <a:t>like chocolate agar or</a:t>
            </a:r>
          </a:p>
          <a:p>
            <a:pPr>
              <a:buNone/>
            </a:pPr>
            <a:r>
              <a:rPr lang="en-US" sz="11200" dirty="0"/>
              <a:t>     Thayer-martin agar</a:t>
            </a:r>
          </a:p>
          <a:p>
            <a:pPr>
              <a:buNone/>
            </a:pPr>
            <a:r>
              <a:rPr lang="en-US" sz="11200" dirty="0">
                <a:latin typeface="Times New Roman" panose="02020603050405020304" pitchFamily="18" charset="0"/>
                <a:cs typeface="Times New Roman" panose="02020603050405020304" pitchFamily="18" charset="0"/>
              </a:rPr>
              <a:t>At present, culture is primarily used for antimicrobial resistance surveillance</a:t>
            </a:r>
          </a:p>
          <a:p>
            <a:pPr marL="0" indent="0">
              <a:buNone/>
            </a:pPr>
            <a:endParaRPr lang="en-US" sz="11200" dirty="0">
              <a:latin typeface="Times New Roman" panose="02020603050405020304" pitchFamily="18" charset="0"/>
              <a:cs typeface="Times New Roman" panose="02020603050405020304" pitchFamily="18" charset="0"/>
            </a:endParaRPr>
          </a:p>
          <a:p>
            <a:pPr>
              <a:buNone/>
            </a:pPr>
            <a:endParaRPr lang="en-US" dirty="0"/>
          </a:p>
        </p:txBody>
      </p:sp>
    </p:spTree>
    <p:extLst>
      <p:ext uri="{BB962C8B-B14F-4D97-AF65-F5344CB8AC3E}">
        <p14:creationId xmlns:p14="http://schemas.microsoft.com/office/powerpoint/2010/main" xmlns="" val="1530193083"/>
      </p:ext>
    </p:extLst>
  </p:cSld>
  <p:clrMapOvr>
    <a:masterClrMapping/>
  </p:clrMapOvr>
  <p:timing>
    <p:tnLst>
      <p:par>
        <p:cTn id="1" dur="indefinite" restart="never" nodeType="tmRoot"/>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xmlns="" id="{4C332ED8-1DD9-D36B-7269-ACF929A70070}"/>
              </a:ext>
            </a:extLst>
          </p:cNvPr>
          <p:cNvSpPr>
            <a:spLocks noGrp="1"/>
          </p:cNvSpPr>
          <p:nvPr>
            <p:ph sz="quarter" idx="1"/>
          </p:nvPr>
        </p:nvSpPr>
        <p:spPr/>
        <p:txBody>
          <a:bodyPr/>
          <a:lstStyle/>
          <a:p>
            <a:r>
              <a:rPr lang="en-US" dirty="0"/>
              <a:t>Gram stain -A quick, preliminary test that provides immediate results. This method is highly effective for detecting </a:t>
            </a:r>
            <a:r>
              <a:rPr lang="en-US" b="1" dirty="0"/>
              <a:t>gonococcal urethritis</a:t>
            </a:r>
            <a:r>
              <a:rPr lang="en-US" dirty="0"/>
              <a:t> in symptomatic men but has lower sensitivity in women and for extragenital infections</a:t>
            </a:r>
          </a:p>
        </p:txBody>
      </p:sp>
    </p:spTree>
    <p:extLst>
      <p:ext uri="{BB962C8B-B14F-4D97-AF65-F5344CB8AC3E}">
        <p14:creationId xmlns:p14="http://schemas.microsoft.com/office/powerpoint/2010/main" xmlns="" val="492873772"/>
      </p:ext>
    </p:extLst>
  </p:cSld>
  <p:clrMapOvr>
    <a:masterClrMapping/>
  </p:clrMapOvr>
  <p:timing>
    <p:tnLst>
      <p:par>
        <p:cTn id="1" dur="indefinite" restart="never" nodeType="tmRoot"/>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Treatment </a:t>
            </a:r>
          </a:p>
        </p:txBody>
      </p:sp>
      <p:sp>
        <p:nvSpPr>
          <p:cNvPr id="3" name="Content Placeholder 2"/>
          <p:cNvSpPr>
            <a:spLocks noGrp="1"/>
          </p:cNvSpPr>
          <p:nvPr>
            <p:ph sz="quarter" idx="1"/>
          </p:nvPr>
        </p:nvSpPr>
        <p:spPr/>
        <p:txBody>
          <a:bodyPr/>
          <a:lstStyle/>
          <a:p>
            <a:pPr lvl="1"/>
            <a:r>
              <a:rPr lang="en-US" sz="3200" dirty="0"/>
              <a:t>Ceftriaxone 250 mg IM stat PLUS Azithromycin 1g po stat</a:t>
            </a:r>
          </a:p>
          <a:p>
            <a:pPr lvl="2"/>
            <a:r>
              <a:rPr lang="en-US" sz="3200" dirty="0"/>
              <a:t>Partners in the past 60 days should be treated</a:t>
            </a:r>
          </a:p>
          <a:p>
            <a:pPr>
              <a:buNone/>
            </a:pPr>
            <a:endParaRPr lang="en-US" dirty="0"/>
          </a:p>
        </p:txBody>
      </p:sp>
    </p:spTree>
    <p:extLst>
      <p:ext uri="{BB962C8B-B14F-4D97-AF65-F5344CB8AC3E}">
        <p14:creationId xmlns:p14="http://schemas.microsoft.com/office/powerpoint/2010/main" xmlns="" val="1421675047"/>
      </p:ext>
    </p:extLst>
  </p:cSld>
  <p:clrMapOvr>
    <a:masterClrMapping/>
  </p:clrMapOvr>
  <p:timing>
    <p:tnLst>
      <p:par>
        <p:cTn id="1" dur="indefinite" restart="never" nodeType="tmRoot"/>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p:txBody>
          <a:bodyPr/>
          <a:lstStyle/>
          <a:p>
            <a:r>
              <a:rPr lang="en-US" dirty="0"/>
              <a:t>( PID )</a:t>
            </a:r>
          </a:p>
        </p:txBody>
      </p:sp>
      <p:sp>
        <p:nvSpPr>
          <p:cNvPr id="2" name="Title 1"/>
          <p:cNvSpPr>
            <a:spLocks noGrp="1"/>
          </p:cNvSpPr>
          <p:nvPr>
            <p:ph type="ctrTitle"/>
          </p:nvPr>
        </p:nvSpPr>
        <p:spPr/>
        <p:txBody>
          <a:bodyPr/>
          <a:lstStyle/>
          <a:p>
            <a:r>
              <a:rPr lang="en-US" dirty="0"/>
              <a:t>Pelvic inflammatory disease </a:t>
            </a:r>
          </a:p>
        </p:txBody>
      </p:sp>
    </p:spTree>
    <p:extLst>
      <p:ext uri="{BB962C8B-B14F-4D97-AF65-F5344CB8AC3E}">
        <p14:creationId xmlns:p14="http://schemas.microsoft.com/office/powerpoint/2010/main" xmlns="" val="4100333364"/>
      </p:ext>
    </p:extLst>
  </p:cSld>
  <p:clrMapOvr>
    <a:masterClrMapping/>
  </p:clrMapOvr>
  <p:timing>
    <p:tnLst>
      <p:par>
        <p:cTn id="1" dur="indefinite" restart="never" nodeType="tmRoot"/>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PELVIC INFLAMMATORY DISEASE </a:t>
            </a:r>
          </a:p>
        </p:txBody>
      </p:sp>
      <p:sp>
        <p:nvSpPr>
          <p:cNvPr id="3" name="Content Placeholder 2"/>
          <p:cNvSpPr>
            <a:spLocks noGrp="1"/>
          </p:cNvSpPr>
          <p:nvPr>
            <p:ph sz="quarter" idx="1"/>
          </p:nvPr>
        </p:nvSpPr>
        <p:spPr/>
        <p:txBody>
          <a:bodyPr>
            <a:normAutofit fontScale="92500" lnSpcReduction="10000"/>
          </a:bodyPr>
          <a:lstStyle/>
          <a:p>
            <a:r>
              <a:rPr lang="en-US" dirty="0" smtClean="0"/>
              <a:t>Pelvic inflammatory disease (PID) refers to acute and subclinical infection of the upper genital tract in females, involving any or all of the uterus, fallopian tubes, and ovaries.</a:t>
            </a:r>
          </a:p>
          <a:p>
            <a:r>
              <a:rPr lang="en-US" dirty="0" smtClean="0"/>
              <a:t> This is often accompanied by involvement of the neighboring pelvic organs.</a:t>
            </a:r>
          </a:p>
          <a:p>
            <a:r>
              <a:rPr lang="en-US" dirty="0" smtClean="0"/>
              <a:t>Results in:</a:t>
            </a:r>
          </a:p>
          <a:p>
            <a:pPr>
              <a:buNone/>
            </a:pPr>
            <a:r>
              <a:rPr lang="en-US" dirty="0" smtClean="0"/>
              <a:t>                         -</a:t>
            </a:r>
            <a:r>
              <a:rPr lang="en-US" dirty="0" err="1" smtClean="0"/>
              <a:t>endometritis</a:t>
            </a:r>
            <a:endParaRPr lang="en-US" dirty="0" smtClean="0"/>
          </a:p>
          <a:p>
            <a:pPr>
              <a:buNone/>
            </a:pPr>
            <a:r>
              <a:rPr lang="en-US" dirty="0" smtClean="0"/>
              <a:t>                         -</a:t>
            </a:r>
            <a:r>
              <a:rPr lang="en-US" dirty="0" err="1" smtClean="0"/>
              <a:t>salpingitis</a:t>
            </a:r>
            <a:endParaRPr lang="en-US" dirty="0" smtClean="0"/>
          </a:p>
          <a:p>
            <a:pPr>
              <a:buNone/>
            </a:pPr>
            <a:r>
              <a:rPr lang="en-US" dirty="0" smtClean="0"/>
              <a:t>                         -</a:t>
            </a:r>
            <a:r>
              <a:rPr lang="en-US" dirty="0" err="1" smtClean="0"/>
              <a:t>oophoritis</a:t>
            </a:r>
            <a:endParaRPr lang="en-US" dirty="0" smtClean="0"/>
          </a:p>
          <a:p>
            <a:pPr>
              <a:buNone/>
            </a:pPr>
            <a:r>
              <a:rPr lang="en-US" dirty="0" smtClean="0"/>
              <a:t>                         -peritonitis</a:t>
            </a:r>
          </a:p>
          <a:p>
            <a:pPr>
              <a:buNone/>
            </a:pPr>
            <a:r>
              <a:rPr lang="en-US" dirty="0" smtClean="0"/>
              <a:t>                         -</a:t>
            </a:r>
            <a:r>
              <a:rPr lang="en-US" dirty="0" err="1" smtClean="0"/>
              <a:t>perihepatitis</a:t>
            </a:r>
            <a:r>
              <a:rPr lang="en-US" dirty="0" smtClean="0"/>
              <a:t> and/or </a:t>
            </a:r>
            <a:r>
              <a:rPr lang="en-US" dirty="0" err="1" smtClean="0"/>
              <a:t>tubo</a:t>
            </a:r>
            <a:r>
              <a:rPr lang="en-US" dirty="0" smtClean="0"/>
              <a:t>-ovarian abscess.</a:t>
            </a:r>
          </a:p>
          <a:p>
            <a:endParaRPr lang="en-US" dirty="0"/>
          </a:p>
        </p:txBody>
      </p:sp>
    </p:spTree>
    <p:extLst>
      <p:ext uri="{BB962C8B-B14F-4D97-AF65-F5344CB8AC3E}">
        <p14:creationId xmlns:p14="http://schemas.microsoft.com/office/powerpoint/2010/main" xmlns="" val="449920624"/>
      </p:ext>
    </p:extLst>
  </p:cSld>
  <p:clrMapOvr>
    <a:masterClrMapping/>
  </p:clrMapOvr>
  <p:timing>
    <p:tnLst>
      <p:par>
        <p:cTn id="1" dur="indefinite" restart="never" nodeType="tmRoot"/>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Etiology</a:t>
            </a:r>
            <a:endParaRPr lang="en-US" dirty="0"/>
          </a:p>
        </p:txBody>
      </p:sp>
      <p:sp>
        <p:nvSpPr>
          <p:cNvPr id="4" name="Slide Number Placeholder 3"/>
          <p:cNvSpPr>
            <a:spLocks noGrp="1"/>
          </p:cNvSpPr>
          <p:nvPr>
            <p:ph type="sldNum" sz="quarter" idx="12"/>
          </p:nvPr>
        </p:nvSpPr>
        <p:spPr/>
        <p:txBody>
          <a:bodyPr/>
          <a:lstStyle/>
          <a:p>
            <a:fld id="{D86A8FF9-5D3E-40A1-B361-C7F20E9F1290}" type="slidenum">
              <a:rPr lang="en-US" smtClean="0"/>
              <a:pPr/>
              <a:t>63</a:t>
            </a:fld>
            <a:endParaRPr lang="en-US"/>
          </a:p>
        </p:txBody>
      </p:sp>
      <p:sp>
        <p:nvSpPr>
          <p:cNvPr id="3" name="Content Placeholder 2"/>
          <p:cNvSpPr>
            <a:spLocks noGrp="1"/>
          </p:cNvSpPr>
          <p:nvPr>
            <p:ph sz="quarter" idx="1"/>
          </p:nvPr>
        </p:nvSpPr>
        <p:spPr/>
        <p:txBody>
          <a:bodyPr>
            <a:noAutofit/>
          </a:bodyPr>
          <a:lstStyle/>
          <a:p>
            <a:r>
              <a:rPr lang="en-US" sz="2000" dirty="0" smtClean="0"/>
              <a:t>over 85 % are caused by sexually transmitted pathogens or bacterial </a:t>
            </a:r>
            <a:r>
              <a:rPr lang="en-US" sz="2000" dirty="0" err="1" smtClean="0"/>
              <a:t>vaginosis</a:t>
            </a:r>
            <a:r>
              <a:rPr lang="en-US" sz="2000" dirty="0" smtClean="0"/>
              <a:t>-associated pathogens.</a:t>
            </a:r>
          </a:p>
          <a:p>
            <a:r>
              <a:rPr lang="en-US" sz="2000" dirty="0" smtClean="0"/>
              <a:t> Fewer than 15 % of acute PID cases are associated with</a:t>
            </a:r>
          </a:p>
          <a:p>
            <a:pPr>
              <a:buNone/>
            </a:pPr>
            <a:r>
              <a:rPr lang="en-US" sz="2000" dirty="0" smtClean="0"/>
              <a:t>       - enteric pathogens (</a:t>
            </a:r>
            <a:r>
              <a:rPr lang="en-US" sz="2000" dirty="0" err="1" smtClean="0"/>
              <a:t>eg</a:t>
            </a:r>
            <a:r>
              <a:rPr lang="en-US" sz="2000" dirty="0" smtClean="0"/>
              <a:t>, </a:t>
            </a:r>
            <a:r>
              <a:rPr lang="en-US" sz="2000" i="1" dirty="0" smtClean="0"/>
              <a:t>Escherichia coli, </a:t>
            </a:r>
            <a:r>
              <a:rPr lang="en-US" sz="2000" i="1" dirty="0" err="1" smtClean="0"/>
              <a:t>Bacteroides</a:t>
            </a:r>
            <a:r>
              <a:rPr lang="en-US" sz="2000" i="1" dirty="0" smtClean="0"/>
              <a:t> </a:t>
            </a:r>
            <a:r>
              <a:rPr lang="en-US" sz="2000" i="1" dirty="0" err="1" smtClean="0"/>
              <a:t>fragilis</a:t>
            </a:r>
            <a:r>
              <a:rPr lang="en-US" sz="2000" dirty="0" smtClean="0"/>
              <a:t>, Group B streptococci, and </a:t>
            </a:r>
            <a:r>
              <a:rPr lang="en-US" sz="2000" i="1" dirty="0" smtClean="0"/>
              <a:t>Campylobacter</a:t>
            </a:r>
            <a:r>
              <a:rPr lang="en-US" sz="2000" dirty="0" smtClean="0"/>
              <a:t> </a:t>
            </a:r>
            <a:r>
              <a:rPr lang="en-US" sz="2000" dirty="0" err="1" smtClean="0"/>
              <a:t>spp</a:t>
            </a:r>
            <a:r>
              <a:rPr lang="en-US" sz="2000" dirty="0" smtClean="0"/>
              <a:t>) or</a:t>
            </a:r>
          </a:p>
          <a:p>
            <a:pPr>
              <a:buNone/>
            </a:pPr>
            <a:r>
              <a:rPr lang="en-US" sz="2000" dirty="0" smtClean="0"/>
              <a:t>      -respiratory pathogens (</a:t>
            </a:r>
            <a:r>
              <a:rPr lang="en-US" sz="2000" dirty="0" err="1" smtClean="0"/>
              <a:t>eg</a:t>
            </a:r>
            <a:r>
              <a:rPr lang="en-US" sz="2000" dirty="0" smtClean="0"/>
              <a:t>, </a:t>
            </a:r>
            <a:r>
              <a:rPr lang="en-US" sz="2000" i="1" dirty="0" err="1" smtClean="0"/>
              <a:t>Haemophilus</a:t>
            </a:r>
            <a:r>
              <a:rPr lang="en-US" sz="2000" i="1" dirty="0" smtClean="0"/>
              <a:t> </a:t>
            </a:r>
            <a:r>
              <a:rPr lang="en-US" sz="2000" i="1" dirty="0" err="1" smtClean="0"/>
              <a:t>influenzae</a:t>
            </a:r>
            <a:r>
              <a:rPr lang="en-US" sz="2000" dirty="0" smtClean="0"/>
              <a:t>, </a:t>
            </a:r>
            <a:r>
              <a:rPr lang="en-US" sz="2000" i="1" dirty="0" smtClean="0"/>
              <a:t>Streptococcus </a:t>
            </a:r>
            <a:r>
              <a:rPr lang="en-US" sz="2000" i="1" dirty="0" err="1" smtClean="0"/>
              <a:t>pneumoniae</a:t>
            </a:r>
            <a:r>
              <a:rPr lang="en-US" sz="2000" dirty="0" smtClean="0"/>
              <a:t>, Group A streptococci, and </a:t>
            </a:r>
            <a:r>
              <a:rPr lang="en-US" sz="2000" i="1" dirty="0" smtClean="0"/>
              <a:t>Staphylococcus </a:t>
            </a:r>
            <a:r>
              <a:rPr lang="en-US" sz="2000" i="1" dirty="0" err="1" smtClean="0"/>
              <a:t>aureus</a:t>
            </a:r>
            <a:r>
              <a:rPr lang="en-US" sz="2000" dirty="0" smtClean="0"/>
              <a:t>) that have colonized the lower genital tract.</a:t>
            </a:r>
          </a:p>
          <a:p>
            <a:r>
              <a:rPr lang="en-US" sz="2000" dirty="0" smtClean="0"/>
              <a:t>Others</a:t>
            </a:r>
          </a:p>
          <a:p>
            <a:pPr>
              <a:buNone/>
            </a:pPr>
            <a:r>
              <a:rPr lang="en-US" sz="2000" dirty="0" smtClean="0"/>
              <a:t>      -Post-operative pelvic peritonitis and abscess</a:t>
            </a:r>
          </a:p>
          <a:p>
            <a:pPr>
              <a:buNone/>
            </a:pPr>
            <a:r>
              <a:rPr lang="en-US" sz="2000" dirty="0" smtClean="0"/>
              <a:t>      -pregnancy-related pelvic infection</a:t>
            </a:r>
          </a:p>
          <a:p>
            <a:pPr>
              <a:buNone/>
            </a:pPr>
            <a:r>
              <a:rPr lang="en-US" sz="2000" dirty="0" smtClean="0"/>
              <a:t>      -injury or trauma-related pelvic infection</a:t>
            </a:r>
          </a:p>
          <a:p>
            <a:pPr>
              <a:buNone/>
            </a:pPr>
            <a:r>
              <a:rPr lang="en-US" sz="2000" dirty="0" smtClean="0"/>
              <a:t>      -pelvic infection secondary to spread of another infection (</a:t>
            </a:r>
            <a:r>
              <a:rPr lang="en-US" sz="2000" dirty="0" err="1" smtClean="0"/>
              <a:t>eg</a:t>
            </a:r>
            <a:r>
              <a:rPr lang="en-US" sz="2000" dirty="0" smtClean="0"/>
              <a:t>, appendicitis, diverticulitis, tumor) can also produce a very similar clinical picture. </a:t>
            </a:r>
            <a:endParaRPr lang="en-US" sz="2000" dirty="0"/>
          </a:p>
        </p:txBody>
      </p:sp>
    </p:spTree>
  </p:cSld>
  <p:clrMapOvr>
    <a:masterClrMapping/>
  </p:clrMapOvr>
  <p:timing>
    <p:tnLst>
      <p:par>
        <p:cTn id="1" dur="indefinite" restart="never" nodeType="tmRoot"/>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presentation</a:t>
            </a:r>
            <a:endParaRPr lang="en-US" dirty="0"/>
          </a:p>
        </p:txBody>
      </p:sp>
      <p:sp>
        <p:nvSpPr>
          <p:cNvPr id="4" name="Slide Number Placeholder 3"/>
          <p:cNvSpPr>
            <a:spLocks noGrp="1"/>
          </p:cNvSpPr>
          <p:nvPr>
            <p:ph type="sldNum" sz="quarter" idx="12"/>
          </p:nvPr>
        </p:nvSpPr>
        <p:spPr/>
        <p:txBody>
          <a:bodyPr/>
          <a:lstStyle/>
          <a:p>
            <a:fld id="{D86A8FF9-5D3E-40A1-B361-C7F20E9F1290}" type="slidenum">
              <a:rPr lang="en-US" smtClean="0"/>
              <a:pPr/>
              <a:t>64</a:t>
            </a:fld>
            <a:endParaRPr lang="en-US"/>
          </a:p>
        </p:txBody>
      </p:sp>
      <p:sp>
        <p:nvSpPr>
          <p:cNvPr id="3" name="Content Placeholder 2"/>
          <p:cNvSpPr>
            <a:spLocks noGrp="1"/>
          </p:cNvSpPr>
          <p:nvPr>
            <p:ph sz="quarter" idx="1"/>
          </p:nvPr>
        </p:nvSpPr>
        <p:spPr/>
        <p:txBody>
          <a:bodyPr>
            <a:normAutofit fontScale="92500" lnSpcReduction="20000"/>
          </a:bodyPr>
          <a:lstStyle/>
          <a:p>
            <a:r>
              <a:rPr lang="en-US" b="1" dirty="0" smtClean="0"/>
              <a:t>Acute symptomatic PID</a:t>
            </a:r>
            <a:r>
              <a:rPr lang="en-US" dirty="0" smtClean="0"/>
              <a:t>:  characterized by the acute onset of lower abdominal or pelvic pain, pelvic organ tenderness, and evidence of inflammation of the genital tract. The findings can be subtle and nonspecific.</a:t>
            </a:r>
          </a:p>
          <a:p>
            <a:r>
              <a:rPr lang="en-US" b="1" dirty="0" err="1" smtClean="0"/>
              <a:t>Subacute</a:t>
            </a:r>
            <a:r>
              <a:rPr lang="en-US" b="1" dirty="0" smtClean="0"/>
              <a:t> PID: </a:t>
            </a:r>
          </a:p>
          <a:p>
            <a:pPr>
              <a:buNone/>
            </a:pPr>
            <a:r>
              <a:rPr lang="en-US" dirty="0" smtClean="0"/>
              <a:t>        -does not prompt a woman to present to medical care but is severe enough to produce significant </a:t>
            </a:r>
            <a:r>
              <a:rPr lang="en-US" dirty="0" err="1" smtClean="0"/>
              <a:t>sequelae</a:t>
            </a:r>
            <a:r>
              <a:rPr lang="en-US" dirty="0" smtClean="0"/>
              <a:t> appears to be relatively common.</a:t>
            </a:r>
          </a:p>
          <a:p>
            <a:pPr>
              <a:buNone/>
            </a:pPr>
            <a:r>
              <a:rPr lang="en-US" dirty="0" smtClean="0"/>
              <a:t>       -present with  tubal factor infertility that appears likely to have been a result of past episodes of PID often give no history of PID.</a:t>
            </a:r>
          </a:p>
          <a:p>
            <a:r>
              <a:rPr lang="en-US" b="1" dirty="0" smtClean="0"/>
              <a:t>Chronic PID</a:t>
            </a:r>
            <a:r>
              <a:rPr lang="en-US" dirty="0" smtClean="0"/>
              <a:t>: indolent presentation with low-grade fever, weight loss, and abdominal pain has been reported following pelvic infection due to </a:t>
            </a:r>
            <a:r>
              <a:rPr lang="en-US" dirty="0" err="1" smtClean="0"/>
              <a:t>actinomycosis</a:t>
            </a:r>
            <a:r>
              <a:rPr lang="en-US" dirty="0" smtClean="0"/>
              <a:t> and tuberculosis. </a:t>
            </a:r>
            <a:endParaRPr lang="en-US" dirty="0"/>
          </a:p>
        </p:txBody>
      </p:sp>
    </p:spTree>
  </p:cSld>
  <p:clrMapOvr>
    <a:masterClrMapping/>
  </p:clrMapOvr>
  <p:timing>
    <p:tnLst>
      <p:par>
        <p:cTn id="1" dur="indefinite" restart="never" nodeType="tmRoot"/>
      </p:par>
    </p:tn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dirty="0"/>
          </a:p>
        </p:txBody>
      </p:sp>
      <p:sp>
        <p:nvSpPr>
          <p:cNvPr id="4" name="Slide Number Placeholder 3"/>
          <p:cNvSpPr>
            <a:spLocks noGrp="1"/>
          </p:cNvSpPr>
          <p:nvPr>
            <p:ph type="sldNum" sz="quarter" idx="12"/>
          </p:nvPr>
        </p:nvSpPr>
        <p:spPr/>
        <p:txBody>
          <a:bodyPr/>
          <a:lstStyle/>
          <a:p>
            <a:fld id="{D86A8FF9-5D3E-40A1-B361-C7F20E9F1290}" type="slidenum">
              <a:rPr lang="en-US" smtClean="0"/>
              <a:pPr/>
              <a:t>65</a:t>
            </a:fld>
            <a:endParaRPr lang="en-US"/>
          </a:p>
        </p:txBody>
      </p:sp>
      <p:sp>
        <p:nvSpPr>
          <p:cNvPr id="3" name="Content Placeholder 2"/>
          <p:cNvSpPr>
            <a:spLocks noGrp="1"/>
          </p:cNvSpPr>
          <p:nvPr>
            <p:ph sz="quarter" idx="1"/>
          </p:nvPr>
        </p:nvSpPr>
        <p:spPr/>
        <p:txBody>
          <a:bodyPr>
            <a:normAutofit/>
          </a:bodyPr>
          <a:lstStyle/>
          <a:p>
            <a:pPr>
              <a:buNone/>
            </a:pPr>
            <a:r>
              <a:rPr lang="en-US" b="1" dirty="0" smtClean="0"/>
              <a:t>laboratory tests</a:t>
            </a:r>
            <a:r>
              <a:rPr lang="en-US" dirty="0" smtClean="0"/>
              <a:t> — The following tests should be performed for all females suspected of having PID:</a:t>
            </a:r>
          </a:p>
          <a:p>
            <a:pPr>
              <a:buNone/>
            </a:pPr>
            <a:r>
              <a:rPr lang="en-US" dirty="0" smtClean="0"/>
              <a:t>     ●Pregnancy test</a:t>
            </a:r>
          </a:p>
          <a:p>
            <a:pPr>
              <a:buNone/>
            </a:pPr>
            <a:r>
              <a:rPr lang="en-US" dirty="0" smtClean="0"/>
              <a:t>     ●Microscopy of vaginal discharge (where available)</a:t>
            </a:r>
          </a:p>
          <a:p>
            <a:pPr>
              <a:buNone/>
            </a:pPr>
            <a:r>
              <a:rPr lang="en-US" dirty="0" smtClean="0"/>
              <a:t>     ●Nucleic acid amplification tests (NAATs) for </a:t>
            </a:r>
            <a:r>
              <a:rPr lang="en-US" i="1" dirty="0" smtClean="0"/>
              <a:t>C. </a:t>
            </a:r>
            <a:r>
              <a:rPr lang="en-US" i="1" dirty="0" err="1" smtClean="0"/>
              <a:t>trachomatis</a:t>
            </a:r>
            <a:r>
              <a:rPr lang="en-US" dirty="0" smtClean="0"/>
              <a:t> and </a:t>
            </a:r>
            <a:r>
              <a:rPr lang="en-US" i="1" dirty="0" err="1" smtClean="0"/>
              <a:t>Neisseria</a:t>
            </a:r>
            <a:r>
              <a:rPr lang="en-US" i="1" dirty="0" smtClean="0"/>
              <a:t> </a:t>
            </a:r>
            <a:r>
              <a:rPr lang="en-US" i="1" dirty="0" err="1" smtClean="0"/>
              <a:t>gonorrhoeae</a:t>
            </a:r>
            <a:endParaRPr lang="en-US" dirty="0" smtClean="0"/>
          </a:p>
          <a:p>
            <a:pPr>
              <a:buNone/>
            </a:pPr>
            <a:r>
              <a:rPr lang="en-US" dirty="0" smtClean="0"/>
              <a:t>     ●NAAT for </a:t>
            </a:r>
            <a:r>
              <a:rPr lang="en-US" i="1" dirty="0" err="1" smtClean="0"/>
              <a:t>Mycoplasma</a:t>
            </a:r>
            <a:r>
              <a:rPr lang="en-US" i="1" dirty="0" smtClean="0"/>
              <a:t> </a:t>
            </a:r>
            <a:r>
              <a:rPr lang="en-US" i="1" dirty="0" err="1" smtClean="0"/>
              <a:t>genitalium</a:t>
            </a:r>
            <a:r>
              <a:rPr lang="en-US" dirty="0" smtClean="0"/>
              <a:t> (where available)</a:t>
            </a:r>
          </a:p>
          <a:p>
            <a:pPr>
              <a:buNone/>
            </a:pPr>
            <a:r>
              <a:rPr lang="en-US" dirty="0" smtClean="0"/>
              <a:t>     ●HIV screening</a:t>
            </a:r>
          </a:p>
          <a:p>
            <a:pPr>
              <a:buNone/>
            </a:pPr>
            <a:r>
              <a:rPr lang="en-US" dirty="0" smtClean="0"/>
              <a:t>     ●Serologic testing for syphilis</a:t>
            </a:r>
          </a:p>
          <a:p>
            <a:endParaRPr lang="en-US" dirty="0"/>
          </a:p>
        </p:txBody>
      </p:sp>
    </p:spTree>
  </p:cSld>
  <p:clrMapOvr>
    <a:masterClrMapping/>
  </p:clrMapOvr>
  <p:timing>
    <p:tnLst>
      <p:par>
        <p:cTn id="1" dur="indefinite" restart="never" nodeType="tmRoot"/>
      </p:par>
    </p:tn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563562"/>
          </a:xfrm>
        </p:spPr>
        <p:txBody>
          <a:bodyPr>
            <a:normAutofit fontScale="90000"/>
          </a:bodyPr>
          <a:lstStyle/>
          <a:p>
            <a:r>
              <a:rPr lang="en-US" dirty="0" smtClean="0"/>
              <a:t>Diagnosis</a:t>
            </a:r>
            <a:endParaRPr lang="en-US" dirty="0"/>
          </a:p>
        </p:txBody>
      </p:sp>
      <p:sp>
        <p:nvSpPr>
          <p:cNvPr id="3" name="Content Placeholder 2"/>
          <p:cNvSpPr>
            <a:spLocks noGrp="1"/>
          </p:cNvSpPr>
          <p:nvPr>
            <p:ph sz="quarter" idx="1"/>
          </p:nvPr>
        </p:nvSpPr>
        <p:spPr>
          <a:xfrm>
            <a:off x="457200" y="1066800"/>
            <a:ext cx="8229600" cy="5562600"/>
          </a:xfrm>
        </p:spPr>
        <p:txBody>
          <a:bodyPr>
            <a:normAutofit/>
          </a:bodyPr>
          <a:lstStyle/>
          <a:p>
            <a:pPr lvl="1"/>
            <a:r>
              <a:rPr lang="en-US" sz="2800" dirty="0">
                <a:ln w="22225">
                  <a:solidFill>
                    <a:schemeClr val="accent2"/>
                  </a:solidFill>
                  <a:prstDash val="solid"/>
                </a:ln>
                <a:solidFill>
                  <a:schemeClr val="accent2">
                    <a:lumMod val="40000"/>
                    <a:lumOff val="60000"/>
                  </a:schemeClr>
                </a:solidFill>
              </a:rPr>
              <a:t>Acute PID: a clinical diagnosis – one major and one minor</a:t>
            </a:r>
          </a:p>
          <a:p>
            <a:pPr lvl="2"/>
            <a:r>
              <a:rPr lang="en-US" sz="2400" b="1" dirty="0"/>
              <a:t>Major</a:t>
            </a:r>
            <a:r>
              <a:rPr lang="en-US" sz="2400" dirty="0"/>
              <a:t> criteria: a</a:t>
            </a:r>
            <a:r>
              <a:rPr lang="en-US" sz="2400" b="1" i="1" dirty="0"/>
              <a:t>bdominal tenderness, </a:t>
            </a:r>
            <a:r>
              <a:rPr lang="en-US" sz="2400" b="1" i="1" dirty="0" err="1"/>
              <a:t>adnexal</a:t>
            </a:r>
            <a:r>
              <a:rPr lang="en-US" sz="2400" b="1" i="1" dirty="0"/>
              <a:t> tenderness or CMT</a:t>
            </a:r>
          </a:p>
          <a:p>
            <a:pPr lvl="2"/>
            <a:r>
              <a:rPr lang="en-US" sz="2400" b="1" dirty="0"/>
              <a:t>Minor criteria</a:t>
            </a:r>
            <a:r>
              <a:rPr lang="en-US" sz="2400" dirty="0"/>
              <a:t>: </a:t>
            </a:r>
            <a:r>
              <a:rPr lang="en-US" sz="2400" dirty="0">
                <a:ln/>
                <a:solidFill>
                  <a:schemeClr val="accent1"/>
                </a:solidFill>
                <a:effectLst>
                  <a:outerShdw blurRad="38100" dist="25400" dir="5400000" algn="ctr" rotWithShape="0">
                    <a:srgbClr val="6E747A">
                      <a:alpha val="43000"/>
                    </a:srgbClr>
                  </a:outerShdw>
                </a:effectLst>
              </a:rPr>
              <a:t>fever &gt;38.3</a:t>
            </a:r>
            <a:r>
              <a:rPr lang="en-US" sz="2400" baseline="30000" dirty="0">
                <a:ln/>
                <a:solidFill>
                  <a:schemeClr val="accent1"/>
                </a:solidFill>
                <a:effectLst>
                  <a:outerShdw blurRad="38100" dist="25400" dir="5400000" algn="ctr" rotWithShape="0">
                    <a:srgbClr val="6E747A">
                      <a:alpha val="43000"/>
                    </a:srgbClr>
                  </a:outerShdw>
                </a:effectLst>
              </a:rPr>
              <a:t>o</a:t>
            </a:r>
            <a:r>
              <a:rPr lang="en-US" sz="2400" dirty="0">
                <a:ln/>
                <a:solidFill>
                  <a:schemeClr val="accent1"/>
                </a:solidFill>
                <a:effectLst>
                  <a:outerShdw blurRad="38100" dist="25400" dir="5400000" algn="ctr" rotWithShape="0">
                    <a:srgbClr val="6E747A">
                      <a:alpha val="43000"/>
                    </a:srgbClr>
                  </a:outerShdw>
                </a:effectLst>
              </a:rPr>
              <a:t>C (oral), </a:t>
            </a:r>
            <a:r>
              <a:rPr lang="en-US" sz="2400" dirty="0" err="1">
                <a:ln/>
                <a:solidFill>
                  <a:schemeClr val="accent1"/>
                </a:solidFill>
                <a:effectLst>
                  <a:outerShdw blurRad="38100" dist="25400" dir="5400000" algn="ctr" rotWithShape="0">
                    <a:srgbClr val="6E747A">
                      <a:alpha val="43000"/>
                    </a:srgbClr>
                  </a:outerShdw>
                </a:effectLst>
              </a:rPr>
              <a:t>mucopurulent</a:t>
            </a:r>
            <a:r>
              <a:rPr lang="en-US" sz="2400" dirty="0">
                <a:ln/>
                <a:solidFill>
                  <a:schemeClr val="accent1"/>
                </a:solidFill>
                <a:effectLst>
                  <a:outerShdw blurRad="38100" dist="25400" dir="5400000" algn="ctr" rotWithShape="0">
                    <a:srgbClr val="6E747A">
                      <a:alpha val="43000"/>
                    </a:srgbClr>
                  </a:outerShdw>
                </a:effectLst>
              </a:rPr>
              <a:t> discharge, </a:t>
            </a:r>
            <a:r>
              <a:rPr lang="en-US" sz="2400" dirty="0" err="1">
                <a:ln/>
                <a:solidFill>
                  <a:schemeClr val="accent1"/>
                </a:solidFill>
                <a:effectLst>
                  <a:outerShdw blurRad="38100" dist="25400" dir="5400000" algn="ctr" rotWithShape="0">
                    <a:srgbClr val="6E747A">
                      <a:alpha val="43000"/>
                    </a:srgbClr>
                  </a:outerShdw>
                </a:effectLst>
              </a:rPr>
              <a:t>leukorrhea</a:t>
            </a:r>
            <a:r>
              <a:rPr lang="en-US" sz="2400" dirty="0"/>
              <a:t>, elevated ESR/C-RP, cervical C </a:t>
            </a:r>
            <a:r>
              <a:rPr lang="en-US" sz="2400" dirty="0" err="1"/>
              <a:t>trachomitis</a:t>
            </a:r>
            <a:r>
              <a:rPr lang="en-US" sz="2400" dirty="0"/>
              <a:t> or N Gonorrhea infection</a:t>
            </a:r>
          </a:p>
          <a:p>
            <a:pPr lvl="2"/>
            <a:r>
              <a:rPr lang="en-US" sz="2400" dirty="0"/>
              <a:t>Testing: done to exclude </a:t>
            </a:r>
            <a:r>
              <a:rPr lang="en-US" sz="2400" dirty="0" err="1"/>
              <a:t>othe</a:t>
            </a:r>
            <a:r>
              <a:rPr lang="en-US" sz="2400" dirty="0"/>
              <a:t> sources of pain</a:t>
            </a:r>
          </a:p>
          <a:p>
            <a:pPr lvl="3"/>
            <a:r>
              <a:rPr lang="en-US" sz="2400" dirty="0" err="1"/>
              <a:t>hCG</a:t>
            </a:r>
            <a:r>
              <a:rPr lang="en-US" sz="2400" dirty="0"/>
              <a:t>, CBC, UA, cervical swab, </a:t>
            </a:r>
            <a:r>
              <a:rPr lang="en-US" sz="2400" dirty="0" err="1"/>
              <a:t>sonography</a:t>
            </a:r>
            <a:endParaRPr lang="en-US" sz="2400" dirty="0"/>
          </a:p>
          <a:p>
            <a:pPr lvl="2"/>
            <a:r>
              <a:rPr lang="en-US" sz="2400" dirty="0"/>
              <a:t>Gold standard diagnostic: laparoscopy</a:t>
            </a:r>
          </a:p>
          <a:p>
            <a:pPr lvl="2"/>
            <a:r>
              <a:rPr lang="en-US" sz="2400" dirty="0"/>
              <a:t>Other specific diagnostics: Endometrial biopsy, imaging (TVS and MRI)</a:t>
            </a:r>
          </a:p>
          <a:p>
            <a:pPr lvl="1"/>
            <a:r>
              <a:rPr lang="en-US" sz="2800" dirty="0"/>
              <a:t>Chronic PID: history of acute PID followed by chronic pain</a:t>
            </a:r>
          </a:p>
        </p:txBody>
      </p:sp>
    </p:spTree>
    <p:extLst>
      <p:ext uri="{BB962C8B-B14F-4D97-AF65-F5344CB8AC3E}">
        <p14:creationId xmlns:p14="http://schemas.microsoft.com/office/powerpoint/2010/main" xmlns="" val="3201939174"/>
      </p:ext>
    </p:extLst>
  </p:cSld>
  <p:clrMapOvr>
    <a:masterClrMapping/>
  </p:clrMapOvr>
  <p:timing>
    <p:tnLst>
      <p:par>
        <p:cTn id="1" dur="indefinite" restart="never" nodeType="tmRoot"/>
      </p:par>
    </p:tn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D86A8FF9-5D3E-40A1-B361-C7F20E9F1290}" type="slidenum">
              <a:rPr lang="en-US" smtClean="0"/>
              <a:pPr/>
              <a:t>67</a:t>
            </a:fld>
            <a:endParaRPr lang="en-US"/>
          </a:p>
        </p:txBody>
      </p:sp>
      <p:pic>
        <p:nvPicPr>
          <p:cNvPr id="12" name="Content Placeholder 11"/>
          <p:cNvPicPr>
            <a:picLocks noGrp="1" noChangeAspect="1"/>
          </p:cNvPicPr>
          <p:nvPr>
            <p:ph sz="quarter" idx="1"/>
          </p:nvPr>
        </p:nvPicPr>
        <p:blipFill>
          <a:blip r:embed="rId2"/>
          <a:stretch>
            <a:fillRect/>
          </a:stretch>
        </p:blipFill>
        <p:spPr>
          <a:xfrm>
            <a:off x="515090" y="381001"/>
            <a:ext cx="8171710" cy="5378926"/>
          </a:xfrm>
          <a:prstGeom prst="rect">
            <a:avLst/>
          </a:prstGeom>
        </p:spPr>
      </p:pic>
    </p:spTree>
    <p:extLst>
      <p:ext uri="{BB962C8B-B14F-4D97-AF65-F5344CB8AC3E}">
        <p14:creationId xmlns:p14="http://schemas.microsoft.com/office/powerpoint/2010/main" xmlns="" val="2067221465"/>
      </p:ext>
    </p:extLst>
  </p:cSld>
  <p:clrMapOvr>
    <a:masterClrMapping/>
  </p:clrMapOvr>
  <p:timing>
    <p:tnLst>
      <p:par>
        <p:cTn id="1" dur="indefinite" restart="never" nodeType="tmRoot"/>
      </p:par>
    </p:tn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xmlns="" id="{43BFA4C4-8E2F-0760-F597-DBBB079D429F}"/>
              </a:ext>
            </a:extLst>
          </p:cNvPr>
          <p:cNvSpPr>
            <a:spLocks noGrp="1"/>
          </p:cNvSpPr>
          <p:nvPr>
            <p:ph type="sldNum" sz="quarter" idx="12"/>
          </p:nvPr>
        </p:nvSpPr>
        <p:spPr/>
        <p:txBody>
          <a:bodyPr/>
          <a:lstStyle/>
          <a:p>
            <a:fld id="{D86A8FF9-5D3E-40A1-B361-C7F20E9F1290}" type="slidenum">
              <a:rPr lang="en-US" smtClean="0"/>
              <a:pPr/>
              <a:t>68</a:t>
            </a:fld>
            <a:endParaRPr lang="en-US"/>
          </a:p>
        </p:txBody>
      </p:sp>
      <p:sp>
        <p:nvSpPr>
          <p:cNvPr id="3" name="Content Placeholder 2">
            <a:extLst>
              <a:ext uri="{FF2B5EF4-FFF2-40B4-BE49-F238E27FC236}">
                <a16:creationId xmlns:a16="http://schemas.microsoft.com/office/drawing/2014/main" xmlns="" id="{83A115C7-118C-2117-32AB-F5FAE8A32A16}"/>
              </a:ext>
            </a:extLst>
          </p:cNvPr>
          <p:cNvSpPr>
            <a:spLocks noGrp="1"/>
          </p:cNvSpPr>
          <p:nvPr>
            <p:ph sz="quarter" idx="1"/>
          </p:nvPr>
        </p:nvSpPr>
        <p:spPr>
          <a:xfrm>
            <a:off x="457200" y="609600"/>
            <a:ext cx="8229600" cy="6111875"/>
          </a:xfrm>
        </p:spPr>
        <p:txBody>
          <a:bodyPr>
            <a:normAutofit lnSpcReduction="10000"/>
          </a:bodyPr>
          <a:lstStyle/>
          <a:p>
            <a:pPr marL="0" indent="0">
              <a:buNone/>
            </a:pPr>
            <a:r>
              <a:rPr lang="en-US" sz="3200" b="1" dirty="0"/>
              <a:t>Indication for inpatient treatment </a:t>
            </a:r>
          </a:p>
          <a:p>
            <a:pPr marL="0" indent="0">
              <a:buNone/>
            </a:pPr>
            <a:r>
              <a:rPr lang="en-US" sz="3200" dirty="0" smtClean="0"/>
              <a:t>      • </a:t>
            </a:r>
            <a:r>
              <a:rPr lang="en-US" sz="3200" dirty="0"/>
              <a:t>The diagnosis is </a:t>
            </a:r>
            <a:r>
              <a:rPr lang="en-US" sz="3200" dirty="0" smtClean="0"/>
              <a:t>uncertain</a:t>
            </a:r>
            <a:endParaRPr lang="en-US" sz="3200" dirty="0"/>
          </a:p>
          <a:p>
            <a:pPr marL="0" indent="0">
              <a:buNone/>
            </a:pPr>
            <a:r>
              <a:rPr lang="en-US" sz="3200" dirty="0" smtClean="0"/>
              <a:t>      • </a:t>
            </a:r>
            <a:r>
              <a:rPr lang="en-US" sz="3200" dirty="0"/>
              <a:t>Surgical emergencies, such as appendicitis and ectopic pregnancy cannot be ruled out;</a:t>
            </a:r>
          </a:p>
          <a:p>
            <a:pPr marL="0" indent="0">
              <a:buNone/>
            </a:pPr>
            <a:r>
              <a:rPr lang="en-US" sz="3200" dirty="0" smtClean="0"/>
              <a:t>      • </a:t>
            </a:r>
            <a:r>
              <a:rPr lang="en-US" sz="3200" dirty="0"/>
              <a:t>A pelvic abscess is suspected; </a:t>
            </a:r>
          </a:p>
          <a:p>
            <a:pPr marL="0" indent="0">
              <a:buNone/>
            </a:pPr>
            <a:r>
              <a:rPr lang="en-US" sz="3200" dirty="0" smtClean="0"/>
              <a:t>      • </a:t>
            </a:r>
            <a:r>
              <a:rPr lang="en-US" sz="3200" dirty="0"/>
              <a:t>Severe illness precludes management on an outpatient basis; </a:t>
            </a:r>
          </a:p>
          <a:p>
            <a:pPr marL="0" indent="0">
              <a:buNone/>
            </a:pPr>
            <a:r>
              <a:rPr lang="en-US" sz="3200" dirty="0" smtClean="0"/>
              <a:t>      • </a:t>
            </a:r>
            <a:r>
              <a:rPr lang="en-US" sz="3200" dirty="0"/>
              <a:t>The person is pregnant; </a:t>
            </a:r>
          </a:p>
          <a:p>
            <a:pPr marL="0" indent="0">
              <a:buNone/>
            </a:pPr>
            <a:r>
              <a:rPr lang="en-US" sz="3200" dirty="0" smtClean="0"/>
              <a:t>      • </a:t>
            </a:r>
            <a:r>
              <a:rPr lang="en-US" sz="3200" dirty="0"/>
              <a:t>The person is unable to follow or tolerate an outpatient regimen; or </a:t>
            </a:r>
          </a:p>
          <a:p>
            <a:pPr marL="0" indent="0">
              <a:buNone/>
            </a:pPr>
            <a:r>
              <a:rPr lang="en-US" sz="3200" dirty="0" smtClean="0"/>
              <a:t>      • </a:t>
            </a:r>
            <a:r>
              <a:rPr lang="en-US" sz="3200" dirty="0"/>
              <a:t>The person has failed to respond to outpatient therapy</a:t>
            </a:r>
            <a:endParaRPr lang="en-US" dirty="0"/>
          </a:p>
        </p:txBody>
      </p:sp>
    </p:spTree>
    <p:extLst>
      <p:ext uri="{BB962C8B-B14F-4D97-AF65-F5344CB8AC3E}">
        <p14:creationId xmlns:p14="http://schemas.microsoft.com/office/powerpoint/2010/main" xmlns="" val="2732627487"/>
      </p:ext>
    </p:extLst>
  </p:cSld>
  <p:clrMapOvr>
    <a:masterClrMapping/>
  </p:clrMapOvr>
  <p:timing>
    <p:tnLst>
      <p:par>
        <p:cTn id="1" dur="indefinite" restart="never" nodeType="tmRoot"/>
      </p:par>
    </p:tn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Slide Number Placeholder 2"/>
          <p:cNvSpPr>
            <a:spLocks noGrp="1"/>
          </p:cNvSpPr>
          <p:nvPr>
            <p:ph type="sldNum" sz="quarter" idx="12"/>
          </p:nvPr>
        </p:nvSpPr>
        <p:spPr/>
        <p:txBody>
          <a:bodyPr/>
          <a:lstStyle/>
          <a:p>
            <a:fld id="{D86A8FF9-5D3E-40A1-B361-C7F20E9F1290}" type="slidenum">
              <a:rPr lang="en-US" smtClean="0"/>
              <a:pPr/>
              <a:t>69</a:t>
            </a:fld>
            <a:endParaRPr lang="en-US"/>
          </a:p>
        </p:txBody>
      </p:sp>
      <p:pic>
        <p:nvPicPr>
          <p:cNvPr id="1026" name="Picture 2"/>
          <p:cNvPicPr>
            <a:picLocks noGrp="1" noChangeAspect="1" noChangeArrowheads="1"/>
          </p:cNvPicPr>
          <p:nvPr>
            <p:ph sz="quarter" idx="1"/>
          </p:nvPr>
        </p:nvPicPr>
        <p:blipFill>
          <a:blip r:embed="rId2"/>
          <a:srcRect/>
          <a:stretch>
            <a:fillRect/>
          </a:stretch>
        </p:blipFill>
        <p:spPr bwMode="auto">
          <a:xfrm>
            <a:off x="533400" y="609600"/>
            <a:ext cx="8305800" cy="5562600"/>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Slide Number Placeholder 2"/>
          <p:cNvSpPr>
            <a:spLocks noGrp="1"/>
          </p:cNvSpPr>
          <p:nvPr>
            <p:ph type="sldNum" sz="quarter" idx="12"/>
          </p:nvPr>
        </p:nvSpPr>
        <p:spPr/>
        <p:txBody>
          <a:bodyPr/>
          <a:lstStyle/>
          <a:p>
            <a:fld id="{D86A8FF9-5D3E-40A1-B361-C7F20E9F1290}" type="slidenum">
              <a:rPr lang="en-US" smtClean="0"/>
              <a:pPr/>
              <a:t>70</a:t>
            </a:fld>
            <a:endParaRPr lang="en-US"/>
          </a:p>
        </p:txBody>
      </p:sp>
      <p:pic>
        <p:nvPicPr>
          <p:cNvPr id="2050" name="Picture 2"/>
          <p:cNvPicPr>
            <a:picLocks noGrp="1" noChangeAspect="1" noChangeArrowheads="1"/>
          </p:cNvPicPr>
          <p:nvPr>
            <p:ph sz="quarter" idx="1"/>
          </p:nvPr>
        </p:nvPicPr>
        <p:blipFill>
          <a:blip r:embed="rId2"/>
          <a:srcRect/>
          <a:stretch>
            <a:fillRect/>
          </a:stretch>
        </p:blipFill>
        <p:spPr bwMode="auto">
          <a:xfrm>
            <a:off x="838200" y="457200"/>
            <a:ext cx="7772400" cy="6019800"/>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1066800"/>
          </a:xfrm>
        </p:spPr>
        <p:txBody>
          <a:bodyPr/>
          <a:lstStyle/>
          <a:p>
            <a:r>
              <a:rPr lang="en-US" dirty="0"/>
              <a:t>Summary </a:t>
            </a:r>
          </a:p>
        </p:txBody>
      </p:sp>
      <p:sp>
        <p:nvSpPr>
          <p:cNvPr id="3" name="Content Placeholder 2"/>
          <p:cNvSpPr>
            <a:spLocks noGrp="1"/>
          </p:cNvSpPr>
          <p:nvPr>
            <p:ph sz="quarter" idx="1"/>
          </p:nvPr>
        </p:nvSpPr>
        <p:spPr>
          <a:xfrm>
            <a:off x="457200" y="1066800"/>
            <a:ext cx="8229600" cy="5059363"/>
          </a:xfrm>
        </p:spPr>
        <p:txBody>
          <a:bodyPr>
            <a:normAutofit/>
          </a:bodyPr>
          <a:lstStyle/>
          <a:p>
            <a:r>
              <a:rPr lang="en-US" dirty="0"/>
              <a:t>STIs – infections transmitted through sexual contact </a:t>
            </a:r>
          </a:p>
          <a:p>
            <a:r>
              <a:rPr lang="en-US" dirty="0"/>
              <a:t>Symptoms – genital ulcer, urethral /vaginal discharge , pain during urination </a:t>
            </a:r>
          </a:p>
          <a:p>
            <a:r>
              <a:rPr lang="en-US" dirty="0"/>
              <a:t>Complications – infertility , chronic pelvic pain ,neonatal transmission , increased HIV risk </a:t>
            </a:r>
          </a:p>
          <a:p>
            <a:r>
              <a:rPr lang="en-US" dirty="0"/>
              <a:t>Prevention and control of STDs are based on:</a:t>
            </a:r>
          </a:p>
          <a:p>
            <a:pPr lvl="1"/>
            <a:r>
              <a:rPr lang="en-US" dirty="0"/>
              <a:t>accurate risk assessment and education</a:t>
            </a:r>
          </a:p>
          <a:p>
            <a:pPr lvl="1"/>
            <a:r>
              <a:rPr lang="en-US" dirty="0"/>
              <a:t>pre-exposure vaccination;</a:t>
            </a:r>
          </a:p>
          <a:p>
            <a:pPr lvl="1"/>
            <a:r>
              <a:rPr lang="en-US" dirty="0"/>
              <a:t>Screening asymptomatic persons;</a:t>
            </a:r>
          </a:p>
          <a:p>
            <a:pPr lvl="1"/>
            <a:r>
              <a:rPr lang="en-US" dirty="0"/>
              <a:t>effective diagnosis, treatment of infected persons;</a:t>
            </a:r>
          </a:p>
          <a:p>
            <a:endParaRPr lang="en-US" dirty="0"/>
          </a:p>
        </p:txBody>
      </p:sp>
    </p:spTree>
    <p:extLst>
      <p:ext uri="{BB962C8B-B14F-4D97-AF65-F5344CB8AC3E}">
        <p14:creationId xmlns:p14="http://schemas.microsoft.com/office/powerpoint/2010/main" xmlns="" val="3843771909"/>
      </p:ext>
    </p:extLst>
  </p:cSld>
  <p:clrMapOvr>
    <a:masterClrMapping/>
  </p:clrMapOvr>
  <p:timing>
    <p:tnLst>
      <p:par>
        <p:cTn id="1" dur="indefinite" restart="never" nodeType="tmRoot"/>
      </p:par>
    </p:tn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References </a:t>
            </a:r>
            <a:endParaRPr lang="en-US" dirty="0"/>
          </a:p>
        </p:txBody>
      </p:sp>
      <p:sp>
        <p:nvSpPr>
          <p:cNvPr id="4" name="Slide Number Placeholder 3"/>
          <p:cNvSpPr>
            <a:spLocks noGrp="1"/>
          </p:cNvSpPr>
          <p:nvPr>
            <p:ph type="sldNum" sz="quarter" idx="12"/>
          </p:nvPr>
        </p:nvSpPr>
        <p:spPr/>
        <p:txBody>
          <a:bodyPr/>
          <a:lstStyle/>
          <a:p>
            <a:fld id="{D86A8FF9-5D3E-40A1-B361-C7F20E9F1290}" type="slidenum">
              <a:rPr lang="en-US" smtClean="0"/>
              <a:pPr/>
              <a:t>72</a:t>
            </a:fld>
            <a:endParaRPr lang="en-US"/>
          </a:p>
        </p:txBody>
      </p:sp>
      <p:sp>
        <p:nvSpPr>
          <p:cNvPr id="3" name="Content Placeholder 2"/>
          <p:cNvSpPr>
            <a:spLocks noGrp="1"/>
          </p:cNvSpPr>
          <p:nvPr>
            <p:ph sz="quarter" idx="1"/>
          </p:nvPr>
        </p:nvSpPr>
        <p:spPr/>
        <p:txBody>
          <a:bodyPr>
            <a:normAutofit/>
          </a:bodyPr>
          <a:lstStyle/>
          <a:p>
            <a:r>
              <a:rPr lang="en-US" dirty="0"/>
              <a:t>Williams gynecology, 4</a:t>
            </a:r>
            <a:r>
              <a:rPr lang="en-US" baseline="30000" dirty="0"/>
              <a:t>th</a:t>
            </a:r>
            <a:r>
              <a:rPr lang="en-US" dirty="0"/>
              <a:t> edition</a:t>
            </a:r>
          </a:p>
          <a:p>
            <a:r>
              <a:rPr lang="en-ZA" altLang="en-US" dirty="0">
                <a:cs typeface="Times New Roman" panose="02020603050405020304" pitchFamily="18" charset="0"/>
              </a:rPr>
              <a:t>National guidelines for the management of sexually transmitted infections using syndromic approach, 2015</a:t>
            </a:r>
            <a:endParaRPr lang="en-US" dirty="0"/>
          </a:p>
          <a:p>
            <a:r>
              <a:rPr lang="en-US" dirty="0"/>
              <a:t>Center for disease control and prevention, STI guidelines 2021</a:t>
            </a:r>
          </a:p>
          <a:p>
            <a:r>
              <a:rPr lang="en-ZA" altLang="en-US" dirty="0">
                <a:cs typeface="Times New Roman" panose="02020603050405020304" pitchFamily="18" charset="0"/>
              </a:rPr>
              <a:t>WHO; guidelines for management of STI; </a:t>
            </a:r>
            <a:r>
              <a:rPr lang="en-ZA" altLang="en-US" dirty="0" smtClean="0">
                <a:cs typeface="Times New Roman" panose="02020603050405020304" pitchFamily="18" charset="0"/>
              </a:rPr>
              <a:t>2021</a:t>
            </a:r>
            <a:endParaRPr lang="en-US" dirty="0"/>
          </a:p>
        </p:txBody>
      </p:sp>
    </p:spTree>
  </p:cSld>
  <p:clrMapOvr>
    <a:masterClrMapping/>
  </p:clrMapOvr>
  <p:timing>
    <p:tnLst>
      <p:par>
        <p:cTn id="1" dur="indefinite" restart="never" nodeType="tmRoot"/>
      </p:par>
    </p:tn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D86A8FF9-5D3E-40A1-B361-C7F20E9F1290}" type="slidenum">
              <a:rPr lang="en-US" smtClean="0"/>
              <a:pPr/>
              <a:t>73</a:t>
            </a:fld>
            <a:endParaRPr lang="en-US"/>
          </a:p>
        </p:txBody>
      </p:sp>
      <p:sp>
        <p:nvSpPr>
          <p:cNvPr id="3" name="Content Placeholder 2"/>
          <p:cNvSpPr>
            <a:spLocks noGrp="1"/>
          </p:cNvSpPr>
          <p:nvPr>
            <p:ph sz="quarter" idx="1"/>
          </p:nvPr>
        </p:nvSpPr>
        <p:spPr>
          <a:xfrm>
            <a:off x="457200" y="2743200"/>
            <a:ext cx="8229600" cy="3382963"/>
          </a:xfrm>
        </p:spPr>
        <p:txBody>
          <a:bodyPr>
            <a:normAutofit/>
          </a:bodyPr>
          <a:lstStyle/>
          <a:p>
            <a:pPr marL="0" indent="0" algn="ctr">
              <a:buNone/>
            </a:pPr>
            <a:r>
              <a:rPr lang="en-US" sz="6000" b="1" i="1" dirty="0"/>
              <a:t>Thank you</a:t>
            </a:r>
          </a:p>
        </p:txBody>
      </p:sp>
    </p:spTree>
    <p:extLst>
      <p:ext uri="{BB962C8B-B14F-4D97-AF65-F5344CB8AC3E}">
        <p14:creationId xmlns:p14="http://schemas.microsoft.com/office/powerpoint/2010/main" xmlns="" val="1896008110"/>
      </p:ext>
    </p:extLst>
  </p:cSld>
  <p:clrMapOvr>
    <a:masterClrMapping/>
  </p:clrMapOvr>
  <p:timing>
    <p:tnLst>
      <p:par>
        <p:cTn id="1" dur="indefinite" restart="never" nodeType="tmRoot"/>
      </p:par>
    </p:tnLst>
  </p:timing>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Equity">
  <a:themeElements>
    <a:clrScheme name="Equity">
      <a:dk1>
        <a:sysClr val="windowText" lastClr="000000"/>
      </a:dk1>
      <a:lt1>
        <a:sysClr val="window" lastClr="FFFFFF"/>
      </a:lt1>
      <a:dk2>
        <a:srgbClr val="696464"/>
      </a:dk2>
      <a:lt2>
        <a:srgbClr val="E9E5DC"/>
      </a:lt2>
      <a:accent1>
        <a:srgbClr val="D34817"/>
      </a:accent1>
      <a:accent2>
        <a:srgbClr val="9B2D1F"/>
      </a:accent2>
      <a:accent3>
        <a:srgbClr val="A28E6A"/>
      </a:accent3>
      <a:accent4>
        <a:srgbClr val="956251"/>
      </a:accent4>
      <a:accent5>
        <a:srgbClr val="918485"/>
      </a:accent5>
      <a:accent6>
        <a:srgbClr val="855D5D"/>
      </a:accent6>
      <a:hlink>
        <a:srgbClr val="CC9900"/>
      </a:hlink>
      <a:folHlink>
        <a:srgbClr val="96A9A9"/>
      </a:folHlink>
    </a:clrScheme>
    <a:fontScheme name="Equity">
      <a:majorFont>
        <a:latin typeface="Franklin Gothic Book"/>
        <a:ea typeface=""/>
        <a:cs typeface=""/>
        <a:font script="Grek" typeface="Calibri"/>
        <a:font script="Cyrl" typeface="Calibri"/>
        <a:font script="Jpan" typeface="HGｺﾞｼｯｸM"/>
        <a:font script="Hang" typeface="바탕"/>
        <a:font script="Hans" typeface="幼圆"/>
        <a:font script="Hant" typeface="微軟正黑體"/>
        <a:font script="Arab" typeface="Tahoma"/>
        <a:font script="Hebr" typeface="Aharoni"/>
        <a:font script="Thai" typeface="Lily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majorFont>
      <a:minorFont>
        <a:latin typeface="Perpetua"/>
        <a:ea typeface=""/>
        <a:cs typeface=""/>
        <a:font script="Grek" typeface="Cambria"/>
        <a:font script="Cyrl" typeface="Cambria"/>
        <a:font script="Jpan" typeface="HG創英ﾌﾟﾚｾﾞﾝｽEB"/>
        <a:font script="Hang" typeface="맑은 고딕"/>
        <a:font script="Hans" typeface="宋体"/>
        <a:font script="Hant" typeface="新細明體"/>
        <a:font script="Arab" typeface="Times New Roman"/>
        <a:font script="Hebr" typeface="Aharoni"/>
        <a:font script="Thai" typeface="Eucrosia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Equity">
      <a:fillStyleLst>
        <a:solidFill>
          <a:schemeClr val="phClr"/>
        </a:solidFill>
        <a:blipFill>
          <a:blip xmlns:r="http://schemas.openxmlformats.org/officeDocument/2006/relationships" r:embed="rId1">
            <a:duotone>
              <a:schemeClr val="phClr">
                <a:tint val="30000"/>
                <a:satMod val="300000"/>
              </a:schemeClr>
              <a:schemeClr val="phClr">
                <a:tint val="40000"/>
                <a:satMod val="200000"/>
              </a:schemeClr>
            </a:duotone>
          </a:blip>
          <a:tile tx="0" ty="0" sx="70000" sy="70000" flip="none" algn="ctr"/>
        </a:blipFill>
        <a:blipFill>
          <a:blip xmlns:r="http://schemas.openxmlformats.org/officeDocument/2006/relationships" r:embed="rId1">
            <a:duotone>
              <a:schemeClr val="phClr">
                <a:shade val="22000"/>
                <a:satMod val="160000"/>
              </a:schemeClr>
              <a:schemeClr val="phClr">
                <a:shade val="45000"/>
                <a:satMod val="100000"/>
              </a:schemeClr>
            </a:duotone>
          </a:blip>
          <a:tile tx="0" ty="0" sx="65000" sy="65000" flip="none" algn="ctr"/>
        </a:blipFill>
      </a:fillStyleLst>
      <a:lnStyleLst>
        <a:ln w="9525" cap="flat" cmpd="sng" algn="ctr">
          <a:solidFill>
            <a:schemeClr val="phClr">
              <a:shade val="60000"/>
              <a:satMod val="110000"/>
            </a:schemeClr>
          </a:solidFill>
          <a:prstDash val="solid"/>
        </a:ln>
        <a:ln w="12700" cap="flat" cmpd="sng" algn="ctr">
          <a:solidFill>
            <a:schemeClr val="phClr"/>
          </a:solidFill>
          <a:prstDash val="solid"/>
        </a:ln>
        <a:ln w="38100" cap="flat" cmpd="sng" algn="ctr">
          <a:solidFill>
            <a:schemeClr val="phClr"/>
          </a:solidFill>
          <a:prstDash val="solid"/>
        </a:ln>
      </a:lnStyleLst>
      <a:effectStyleLst>
        <a:effectStyle>
          <a:effectLst>
            <a:outerShdw blurRad="38100" dist="25400" dir="5400000" algn="t" rotWithShape="0">
              <a:srgbClr val="000000">
                <a:alpha val="50000"/>
              </a:srgbClr>
            </a:outerShdw>
          </a:effectLst>
        </a:effectStyle>
        <a:effectStyle>
          <a:effectLst>
            <a:outerShdw blurRad="38100" dist="25400" dir="5400000" algn="t" rotWithShape="0">
              <a:srgbClr val="000000">
                <a:alpha val="50000"/>
              </a:srgbClr>
            </a:outerShdw>
          </a:effectLst>
        </a:effectStyle>
        <a:effectStyle>
          <a:effectLst>
            <a:outerShdw blurRad="50800" dist="50800" dir="5400000" algn="t" rotWithShape="0">
              <a:srgbClr val="000000">
                <a:alpha val="60000"/>
              </a:srgbClr>
            </a:outerShdw>
          </a:effectLst>
          <a:scene3d>
            <a:camera prst="isometricBottomUp" fov="0">
              <a:rot lat="0" lon="0" rev="0"/>
            </a:camera>
            <a:lightRig rig="soft" dir="b">
              <a:rot lat="0" lon="0" rev="9000000"/>
            </a:lightRig>
          </a:scene3d>
          <a:sp3d contourW="35000" prstMaterial="matte">
            <a:bevelT w="45000" h="38100" prst="convex"/>
            <a:contourClr>
              <a:schemeClr val="phClr">
                <a:tint val="10000"/>
                <a:satMod val="130000"/>
              </a:schemeClr>
            </a:contourClr>
          </a:sp3d>
        </a:effectStyle>
      </a:effectStyleLst>
      <a:bgFillStyleLst>
        <a:solidFill>
          <a:schemeClr val="phClr"/>
        </a:solidFill>
        <a:gradFill rotWithShape="1">
          <a:gsLst>
            <a:gs pos="0">
              <a:schemeClr val="phClr">
                <a:shade val="40000"/>
                <a:satMod val="165000"/>
              </a:schemeClr>
            </a:gs>
            <a:gs pos="50000">
              <a:schemeClr val="phClr">
                <a:shade val="80000"/>
                <a:satMod val="155000"/>
              </a:schemeClr>
            </a:gs>
            <a:gs pos="100000">
              <a:schemeClr val="phClr">
                <a:tint val="95000"/>
                <a:satMod val="200000"/>
              </a:schemeClr>
            </a:gs>
          </a:gsLst>
          <a:lin ang="16200000" scaled="1"/>
        </a:gradFill>
        <a:blipFill>
          <a:blip xmlns:r="http://schemas.openxmlformats.org/officeDocument/2006/relationships" r:embed="rId1">
            <a:duotone>
              <a:schemeClr val="phClr">
                <a:tint val="95000"/>
                <a:satMod val="200000"/>
              </a:schemeClr>
              <a:schemeClr val="phClr">
                <a:shade val="80000"/>
                <a:satMod val="100000"/>
              </a:schemeClr>
            </a:duotone>
          </a:blip>
          <a:tile tx="0" ty="0" sx="55000" sy="55000" flip="none" algn="tl"/>
        </a:blip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xmlns=""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Equity</Template>
  <TotalTime>5338</TotalTime>
  <Words>3047</Words>
  <Application>Microsoft Office PowerPoint</Application>
  <PresentationFormat>On-screen Show (4:3)</PresentationFormat>
  <Paragraphs>423</Paragraphs>
  <Slides>73</Slides>
  <Notes>4</Notes>
  <HiddenSlides>0</HiddenSlides>
  <MMClips>0</MMClips>
  <ScaleCrop>false</ScaleCrop>
  <HeadingPairs>
    <vt:vector size="4" baseType="variant">
      <vt:variant>
        <vt:lpstr>Theme</vt:lpstr>
      </vt:variant>
      <vt:variant>
        <vt:i4>1</vt:i4>
      </vt:variant>
      <vt:variant>
        <vt:lpstr>Slide Titles</vt:lpstr>
      </vt:variant>
      <vt:variant>
        <vt:i4>73</vt:i4>
      </vt:variant>
    </vt:vector>
  </HeadingPairs>
  <TitlesOfParts>
    <vt:vector size="74" baseType="lpstr">
      <vt:lpstr>Equity</vt:lpstr>
      <vt:lpstr>Sexually Transmitted Infections and PID </vt:lpstr>
      <vt:lpstr>Outline</vt:lpstr>
      <vt:lpstr>Introduction</vt:lpstr>
      <vt:lpstr>Epidemiology </vt:lpstr>
      <vt:lpstr>Transmission </vt:lpstr>
      <vt:lpstr>Public health impact of STD </vt:lpstr>
      <vt:lpstr>Relationship between STIs and HIV</vt:lpstr>
      <vt:lpstr>STIs enhance the sexual transmission of HIV through:</vt:lpstr>
      <vt:lpstr> HIV infection affects STIs through: </vt:lpstr>
      <vt:lpstr>Slide 10</vt:lpstr>
      <vt:lpstr>Approach to diagnosis and treatment </vt:lpstr>
      <vt:lpstr>Slide 12</vt:lpstr>
      <vt:lpstr>Slide 13</vt:lpstr>
      <vt:lpstr>2.Syndromic approaches </vt:lpstr>
      <vt:lpstr>Slide 15</vt:lpstr>
      <vt:lpstr> Syndromic Management  </vt:lpstr>
      <vt:lpstr>Genital ulcer </vt:lpstr>
      <vt:lpstr>Genital Herpes (HSV) </vt:lpstr>
      <vt:lpstr>Clinical Manifestations</vt:lpstr>
      <vt:lpstr>Slide 20</vt:lpstr>
      <vt:lpstr>Syphilis </vt:lpstr>
      <vt:lpstr>Slide 22</vt:lpstr>
      <vt:lpstr>Slide 23</vt:lpstr>
      <vt:lpstr>3. Tertiary syphilis / Late syphilis</vt:lpstr>
      <vt:lpstr>Slide 25</vt:lpstr>
      <vt:lpstr>Serologic Testing Algorithms</vt:lpstr>
      <vt:lpstr>Treatment </vt:lpstr>
      <vt:lpstr>Post-Treatment Follow Up</vt:lpstr>
      <vt:lpstr>Slide 29</vt:lpstr>
      <vt:lpstr>Syndrome approach for the management of genital ulcer disease </vt:lpstr>
      <vt:lpstr>Granuloma Inguinale</vt:lpstr>
      <vt:lpstr>Clinical presentation </vt:lpstr>
      <vt:lpstr>Slide 33</vt:lpstr>
      <vt:lpstr>Lymphogranuloma Venereum (LGV) </vt:lpstr>
      <vt:lpstr>Slide 35</vt:lpstr>
      <vt:lpstr>Vaginal discharge </vt:lpstr>
      <vt:lpstr>: THE ALGORITHM OF SYNDROMIC CASE MANAGEMENT OF VAGINAL DISCHARGE SYNDROME</vt:lpstr>
      <vt:lpstr>Bacterial vaginosis </vt:lpstr>
      <vt:lpstr>Clinical features</vt:lpstr>
      <vt:lpstr>Slide 40</vt:lpstr>
      <vt:lpstr>Treatment </vt:lpstr>
      <vt:lpstr>TRICHOMONAS VAGINALIS</vt:lpstr>
      <vt:lpstr>Clinical presentation</vt:lpstr>
      <vt:lpstr>Slide 44</vt:lpstr>
      <vt:lpstr>Vulvovaginal Candidiasis (VVC)</vt:lpstr>
      <vt:lpstr>Continued ……………….</vt:lpstr>
      <vt:lpstr>Slide 47</vt:lpstr>
      <vt:lpstr>Slide 48</vt:lpstr>
      <vt:lpstr>Chlamydia trachomatis</vt:lpstr>
      <vt:lpstr>Clinical syndromes caused by C. trachomatis</vt:lpstr>
      <vt:lpstr>Slide 51</vt:lpstr>
      <vt:lpstr>Sign and symptom in women </vt:lpstr>
      <vt:lpstr>Diagnosis </vt:lpstr>
      <vt:lpstr>Continued ………</vt:lpstr>
      <vt:lpstr>NESSERIA GONORRHEA</vt:lpstr>
      <vt:lpstr>CLINICAL MANIFESTATION</vt:lpstr>
      <vt:lpstr>Continued ……………</vt:lpstr>
      <vt:lpstr>LABORATORY DIAGNOSIS</vt:lpstr>
      <vt:lpstr>Slide 59</vt:lpstr>
      <vt:lpstr>Treatment </vt:lpstr>
      <vt:lpstr>Pelvic inflammatory disease </vt:lpstr>
      <vt:lpstr>PELVIC INFLAMMATORY DISEASE </vt:lpstr>
      <vt:lpstr>Etiology</vt:lpstr>
      <vt:lpstr>presentation</vt:lpstr>
      <vt:lpstr>Slide 65</vt:lpstr>
      <vt:lpstr>Diagnosis</vt:lpstr>
      <vt:lpstr>Slide 67</vt:lpstr>
      <vt:lpstr>Slide 68</vt:lpstr>
      <vt:lpstr>Slide 69</vt:lpstr>
      <vt:lpstr>Slide 70</vt:lpstr>
      <vt:lpstr>Summary </vt:lpstr>
      <vt:lpstr>References </vt:lpstr>
      <vt:lpstr>Slide 73</vt:lpstr>
    </vt:vector>
  </TitlesOfParts>
  <Company>Oprekin</Company>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STI</dc:title>
  <dc:creator>hp</dc:creator>
  <cp:lastModifiedBy>Windows User</cp:lastModifiedBy>
  <cp:revision>96</cp:revision>
  <dcterms:created xsi:type="dcterms:W3CDTF">2025-03-22T18:22:51Z</dcterms:created>
  <dcterms:modified xsi:type="dcterms:W3CDTF">2025-09-03T10:06:42Z</dcterms:modified>
</cp:coreProperties>
</file>