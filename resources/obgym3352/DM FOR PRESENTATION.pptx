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95" r:id="rId2"/>
    <p:sldId id="256" r:id="rId3"/>
    <p:sldId id="396" r:id="rId4"/>
    <p:sldId id="387" r:id="rId5"/>
    <p:sldId id="397" r:id="rId6"/>
    <p:sldId id="297" r:id="rId7"/>
    <p:sldId id="299" r:id="rId8"/>
    <p:sldId id="298" r:id="rId9"/>
    <p:sldId id="302" r:id="rId10"/>
    <p:sldId id="266" r:id="rId11"/>
    <p:sldId id="275" r:id="rId12"/>
    <p:sldId id="362" r:id="rId13"/>
    <p:sldId id="365" r:id="rId14"/>
    <p:sldId id="366" r:id="rId15"/>
    <p:sldId id="367" r:id="rId16"/>
    <p:sldId id="276" r:id="rId17"/>
    <p:sldId id="311" r:id="rId18"/>
    <p:sldId id="380" r:id="rId19"/>
    <p:sldId id="313" r:id="rId20"/>
    <p:sldId id="392" r:id="rId21"/>
    <p:sldId id="318" r:id="rId22"/>
    <p:sldId id="353" r:id="rId23"/>
    <p:sldId id="333" r:id="rId24"/>
    <p:sldId id="335" r:id="rId25"/>
    <p:sldId id="336" r:id="rId26"/>
    <p:sldId id="337" r:id="rId27"/>
    <p:sldId id="386" r:id="rId28"/>
    <p:sldId id="382" r:id="rId29"/>
    <p:sldId id="339" r:id="rId30"/>
    <p:sldId id="39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AB921-DEEB-478C-AFA1-AEBDCD21155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6B01DE-208F-4284-BC32-16F6CC97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10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F3AD6-2C23-4C7E-8DE0-B5735F2CC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19B0C-5FC8-4313-9D8B-9027B9D04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F2B7F-89CD-47D0-85F0-A3D6C7BF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BC2-A7E1-4CFA-B052-20840AE8EB07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4BAD7-1F2F-4EEE-8D9F-E522E98B5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7E169-D198-45DF-BE76-24DD2696A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CD6B-76C2-4FE4-B351-5B30B1D58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7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F673-2693-44D5-9692-0854FABC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A7621-84FC-4A1D-A03A-C014074EA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E20FA-C9D2-4E42-988F-6B48266B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BC2-A7E1-4CFA-B052-20840AE8EB07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906DD-C2F9-47D2-8886-4A5A4448F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74DCC-600A-4BD5-A315-22BCE6DEC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CD6B-76C2-4FE4-B351-5B30B1D58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55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DCA4-5D76-49E3-A4C0-26C0592F0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073E4-2ED2-419D-B355-7D05CF5A6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4CD14-3D2B-4B25-962A-F2ABB795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BC2-A7E1-4CFA-B052-20840AE8EB07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7CCB0-6CB0-4850-88BA-64BFB849B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61398-488B-4A02-91C7-4BB576CE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CD6B-76C2-4FE4-B351-5B30B1D58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1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0AB3-3A04-4442-A389-065FBA25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DF2C-CA38-48C0-BA02-BC44DAF3B4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92F86-87AA-4BA9-81A0-87BDC8563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E19A1-6A5F-49AB-AE58-1B99D7C0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BC2-A7E1-4CFA-B052-20840AE8EB07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73CD2-11A2-4E27-AD93-488CF563E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A4965-3510-4987-BA72-956ED4760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CD6B-76C2-4FE4-B351-5B30B1D58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00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7952-1A0C-4420-B660-099B1638C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0DEFF-9852-4C43-B5B8-99DCC3D7B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36F9C-8640-48D5-AA56-7B03EF250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240BE1-0266-41A1-A1B0-84B944182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1C3DB-0B76-47D4-98A5-CA62F8CF8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7266A-F35D-49C5-8818-88AD5B612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BC2-A7E1-4CFA-B052-20840AE8EB07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FFBBD3-8829-48F5-8365-42929C129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AA19BB-124E-47EC-A912-49D5D122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CD6B-76C2-4FE4-B351-5B30B1D58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63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4F415-3CD2-4753-A99B-A51F9C6EE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F42AB4-83AE-4F75-8F48-1D59E501E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BC2-A7E1-4CFA-B052-20840AE8EB07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4FFA0-7F3B-4ADC-AD47-11937E41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B6B82-5A53-4E58-82E7-26EDA897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CD6B-76C2-4FE4-B351-5B30B1D58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6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DDE93E-AFF9-4D42-994F-69E8A4CE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BC2-A7E1-4CFA-B052-20840AE8EB07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029A7-60BC-40F1-89BA-859125D1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29B3C-4F05-46AC-B9F2-63551F51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CD6B-76C2-4FE4-B351-5B30B1D58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50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85A50-D3A7-4E74-A326-8E12CA3A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474FF-049E-4ADB-A624-F705D44C0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B0D45-62A4-4B9B-99CD-12D487834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F6FEE-FB6A-4A3C-9EB2-E23BA32C4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BC2-A7E1-4CFA-B052-20840AE8EB07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3F5C1-5A35-4A0A-BBB4-A0E7AB73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DDF61-C042-4BD0-9C9F-425E2C95B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CD6B-76C2-4FE4-B351-5B30B1D58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6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4F9B5-4463-4B69-BCBF-B3A845A5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09379-7F99-445A-8080-E31F713B9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17927-84EC-4E15-BE36-4365D9BAD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4BBC4-9D32-4B9A-97AE-2FAB2945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BC2-A7E1-4CFA-B052-20840AE8EB07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66CD6-3E58-40AE-A50B-A28D01D05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AE352-FB67-4F28-AE80-CEDF7ABE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CD6B-76C2-4FE4-B351-5B30B1D58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7035-EAEF-46DD-B639-DDE420B7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3767AA-211E-4C7D-9D0B-C2B7103A8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E7BE5-CE42-4B20-8F61-C7A47BE2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BC2-A7E1-4CFA-B052-20840AE8EB07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86CD0-2C8A-43EA-96D6-BC7C796A2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A8DF-91A6-4505-B790-5888F945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CD6B-76C2-4FE4-B351-5B30B1D58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0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EABEA-8A7D-4F52-97BD-32040D3CD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225DF-94CC-40BB-9CD5-6D98972E6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F81A9-0B67-4889-BBE7-8F46F818C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BC2-A7E1-4CFA-B052-20840AE8EB07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6254E-9C06-4C6B-ABAE-8A3F7FEA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C0CF7-F1E9-4A87-AB14-318AA65D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CD6B-76C2-4FE4-B351-5B30B1D58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4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75F0B7-2298-44F8-B66B-2476670B7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282E6-4726-4433-818B-9BB3CD49F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743CC-71C4-4648-AEDD-16395A00F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EABC2-A7E1-4CFA-B052-20840AE8EB07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46AA3-E06F-4AB1-BAD7-A134314DA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B4A71-635F-47B3-B87D-5A21F42E2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3CD6B-76C2-4FE4-B351-5B30B1D58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10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270831-C1F8-4EAA-B88A-AA468E33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739" y="3033712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4320" b="1" dirty="0"/>
              <a:t>Diabetes Mellitus In Pregnancy</a:t>
            </a:r>
            <a:endParaRPr lang="en-US" sz="432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1EC2196-0F17-404A-899F-E730C74D3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808" y="416340"/>
            <a:ext cx="9094470" cy="178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505E1C-643E-4394-AC5B-0CDD30EC4488}"/>
              </a:ext>
            </a:extLst>
          </p:cNvPr>
          <p:cNvSpPr txBox="1"/>
          <p:nvPr/>
        </p:nvSpPr>
        <p:spPr>
          <a:xfrm>
            <a:off x="5658678" y="4943061"/>
            <a:ext cx="637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Presenter :  Dr </a:t>
            </a:r>
            <a:r>
              <a:rPr lang="en-US" b="1" dirty="0" err="1"/>
              <a:t>Rahel</a:t>
            </a:r>
            <a:r>
              <a:rPr lang="en-US" b="1" dirty="0"/>
              <a:t> E (OBGYN Resident) </a:t>
            </a:r>
          </a:p>
        </p:txBody>
      </p:sp>
    </p:spTree>
    <p:extLst>
      <p:ext uri="{BB962C8B-B14F-4D97-AF65-F5344CB8AC3E}">
        <p14:creationId xmlns:p14="http://schemas.microsoft.com/office/powerpoint/2010/main" val="154270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8E3329-D52D-4FF5-BACB-D2630D2DE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C382AA-6902-472D-BF3D-7D9A10670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Preconception care For Women's with DM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Ante Natal Care For DM mother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Screening and Management of GDM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Screening and Management of GDM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81067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ED4A8-19A7-4427-A617-37DE04F51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F0EE3-2D0B-45B8-B40B-2511D0B4A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Before insulin became available, </a:t>
            </a:r>
            <a:r>
              <a:rPr lang="en-US" sz="2200" b="1" dirty="0"/>
              <a:t>pregnancy was not advised </a:t>
            </a:r>
            <a:r>
              <a:rPr lang="en-US" sz="2200" dirty="0"/>
              <a:t>because it was likely to be accompanied by fetal mortality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Currently there is dramatic improvement in </a:t>
            </a:r>
            <a:r>
              <a:rPr lang="en-US" sz="2200" b="1" dirty="0"/>
              <a:t>perinatal outcome </a:t>
            </a:r>
            <a:r>
              <a:rPr lang="en-US" sz="2200" dirty="0"/>
              <a:t>can be largely attributed to clinical efforts during  preconception and during gestation</a:t>
            </a:r>
          </a:p>
        </p:txBody>
      </p:sp>
    </p:spTree>
    <p:extLst>
      <p:ext uri="{BB962C8B-B14F-4D97-AF65-F5344CB8AC3E}">
        <p14:creationId xmlns:p14="http://schemas.microsoft.com/office/powerpoint/2010/main" val="2836467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10698480" cy="91440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 eaLnBrk="1" hangingPunct="1"/>
            <a:r>
              <a:rPr lang="en-US" sz="4320" b="1" dirty="0"/>
              <a:t>Modified Whites Classification Of Diabetes</a:t>
            </a:r>
          </a:p>
        </p:txBody>
      </p:sp>
      <p:pic>
        <p:nvPicPr>
          <p:cNvPr id="5123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143000"/>
            <a:ext cx="10972800" cy="55626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7342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248AF8-BD26-439A-AB05-E7C35F026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DM During Pregnancy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A19D96-E991-4F5B-BA7E-E2A5121EFE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Pre – Existing Diabetes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DM diagnosed before Pregnancy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Hyperglycemia diagnosed for the first time in pregnancy meets the WHO criteria for DM in non pregnant state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FB274-DFAB-4621-B76D-A5746F1EE2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Gestational diabetes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Hyperglycemia during pregnancy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Hyperglycemia diagnosed for the first time in pregnancy</a:t>
            </a:r>
          </a:p>
        </p:txBody>
      </p:sp>
    </p:spTree>
    <p:extLst>
      <p:ext uri="{BB962C8B-B14F-4D97-AF65-F5344CB8AC3E}">
        <p14:creationId xmlns:p14="http://schemas.microsoft.com/office/powerpoint/2010/main" val="213770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Components Preconception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Counseling about the impact of glycemic status on maternal-fetal outcome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Adjusting medications as needed for fetal safety.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Beginning supplementation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Initiating treatment of comorbidities and complications 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Discussing and providing effective contraception until management of hyperglycemia is achieved.</a:t>
            </a:r>
          </a:p>
        </p:txBody>
      </p:sp>
    </p:spTree>
    <p:extLst>
      <p:ext uri="{BB962C8B-B14F-4D97-AF65-F5344CB8AC3E}">
        <p14:creationId xmlns:p14="http://schemas.microsoft.com/office/powerpoint/2010/main" val="294466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Targets of Blood glucose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Target glucose levels - FBS: 80 to 110 mg/dL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2 Hour postprandial glucose &lt;155 mg/dL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Target A1C level - goal for all patients with diabetes is &lt;6.5 percent (ADA,ACOG,ESE).</a:t>
            </a:r>
          </a:p>
        </p:txBody>
      </p:sp>
    </p:spTree>
    <p:extLst>
      <p:ext uri="{BB962C8B-B14F-4D97-AF65-F5344CB8AC3E}">
        <p14:creationId xmlns:p14="http://schemas.microsoft.com/office/powerpoint/2010/main" val="3892509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Management of Hyperglycemia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In patients with type 1 or type 2 diabetes, insulin remains the standard drug 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In the preconception period, a preference for using </a:t>
            </a:r>
            <a:r>
              <a:rPr lang="en-US" sz="2200" dirty="0" err="1"/>
              <a:t>insulins</a:t>
            </a:r>
            <a:r>
              <a:rPr lang="en-US" sz="2200" dirty="0"/>
              <a:t> with a good fetal safety profile like </a:t>
            </a:r>
            <a:r>
              <a:rPr lang="en-US" sz="2200" dirty="0" err="1"/>
              <a:t>lispro</a:t>
            </a:r>
            <a:r>
              <a:rPr lang="en-US" sz="2200" dirty="0"/>
              <a:t>, and </a:t>
            </a:r>
            <a:r>
              <a:rPr lang="en-US" sz="2200" dirty="0" err="1"/>
              <a:t>Aspart</a:t>
            </a:r>
            <a:r>
              <a:rPr lang="en-US" sz="2200" dirty="0"/>
              <a:t> </a:t>
            </a:r>
            <a:r>
              <a:rPr lang="en-US" sz="2200" dirty="0" err="1"/>
              <a:t>insulins</a:t>
            </a:r>
            <a:r>
              <a:rPr lang="en-US" sz="2200" dirty="0"/>
              <a:t>. 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These </a:t>
            </a:r>
            <a:r>
              <a:rPr lang="en-US" sz="2200" dirty="0" err="1"/>
              <a:t>insulins</a:t>
            </a:r>
            <a:r>
              <a:rPr lang="en-US" sz="2200" dirty="0"/>
              <a:t> have a rapid onset, which improves management of the postprandial increase in glucose, and have a rapid offset.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2391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Folic acid supplementation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Folic acid 400 </a:t>
            </a:r>
            <a:r>
              <a:rPr lang="en-US" sz="2200" dirty="0" err="1"/>
              <a:t>ug</a:t>
            </a:r>
            <a:r>
              <a:rPr lang="en-US" sz="2200" dirty="0"/>
              <a:t> /day is recommended for most reproductive-age females to decrease the occurrence of NTDs at least 12wks before conception 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35441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Contraindication for Pregnancy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No absolute Contraindication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If HgbA1c &gt; 10%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ESRD on Dialysis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Proliferative Retinopathy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Recent ACS and CVA</a:t>
            </a:r>
          </a:p>
        </p:txBody>
      </p:sp>
    </p:spTree>
    <p:extLst>
      <p:ext uri="{BB962C8B-B14F-4D97-AF65-F5344CB8AC3E}">
        <p14:creationId xmlns:p14="http://schemas.microsoft.com/office/powerpoint/2010/main" val="2322858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ANC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The Goal of ANC for Diabetic Mother to </a:t>
            </a:r>
            <a:r>
              <a:rPr lang="en-US" sz="2200" b="1" dirty="0"/>
              <a:t>optimize </a:t>
            </a:r>
            <a:r>
              <a:rPr lang="en-US" sz="2200" dirty="0"/>
              <a:t>good glycemic control to achieve good Maternal and perinatal outcome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It needs Multi- </a:t>
            </a:r>
            <a:r>
              <a:rPr lang="en-US" sz="2200" dirty="0" err="1"/>
              <a:t>displinary</a:t>
            </a:r>
            <a:r>
              <a:rPr lang="en-US" sz="2200" dirty="0"/>
              <a:t> team to achieve better outcome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Low – dose Aspirin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2187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US" sz="3600" b="1" dirty="0"/>
            </a:br>
            <a:r>
              <a:rPr lang="en-US" sz="3600" b="1" dirty="0"/>
              <a:t>GDM Screening During ANC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Controversies on GDM screening among various guidelines  related to the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 Indication for screening (universal or selective-risk-factor based)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 timing of screening (early or 24–28 weeks 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how to screen and diagnosis(one or two-step)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05914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US" sz="3600" b="1" dirty="0"/>
            </a:br>
            <a:r>
              <a:rPr lang="en-US" sz="3600" b="1" dirty="0"/>
              <a:t>First-Trimester Screening 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First-trimester screening with a 75-g OGTT for GDM screening and to make the diagnosis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+mj-lt"/>
              </a:rPr>
              <a:t>GDM is diagnosed at any time in pregnancy  75-g criteria met (MOH 2020)</a:t>
            </a:r>
            <a:br>
              <a:rPr lang="en-US" sz="2200" dirty="0">
                <a:latin typeface="+mj-lt"/>
              </a:rPr>
            </a:br>
            <a:br>
              <a:rPr lang="en-US" sz="2200" dirty="0">
                <a:latin typeface="+mj-lt"/>
              </a:rPr>
            </a:br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9249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US" sz="3600" b="1" dirty="0"/>
            </a:br>
            <a:r>
              <a:rPr lang="en-US" sz="3600" b="1" dirty="0"/>
              <a:t>24–28 Weeks Screening 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The diabetogenic effect of pregnancy appears more pronounced at 24–28 weeks of pregnancy.</a:t>
            </a:r>
            <a:br>
              <a:rPr lang="en-US" sz="2200" dirty="0"/>
            </a:br>
            <a:endParaRPr lang="en-US" sz="2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Most of the guidelines recommend universal screening at 24–28 weeks of gestation with or without the first-trimester screening </a:t>
            </a:r>
            <a:br>
              <a:rPr lang="en-US" sz="22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6997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How to screen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200" dirty="0">
                <a:latin typeface="+mj-lt"/>
              </a:rPr>
              <a:t>one step 75 gm OGTT is recommended (MOH ,2020 and WHO,2013 ).</a:t>
            </a:r>
            <a:endParaRPr lang="en-US" sz="2200" dirty="0">
              <a:latin typeface="+mj-lt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+mj-lt"/>
              </a:rPr>
              <a:t>while ACOG continues to recommend the continued use of the two-step diagnostic protocol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+mj-lt"/>
              </a:rPr>
              <a:t>The two-step diagnostic system inherently imposes delay in diagnosis of GDM and has a relatively high false-negative rate (10% to 20%).</a:t>
            </a:r>
            <a:br>
              <a:rPr lang="en-US" sz="2200" dirty="0">
                <a:latin typeface="+mj-lt"/>
              </a:rPr>
            </a:br>
            <a:endParaRPr lang="en-US" sz="2200" dirty="0">
              <a:latin typeface="+mj-lt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br>
              <a:rPr lang="en-US" sz="2200" dirty="0">
                <a:latin typeface="+mj-lt"/>
              </a:rPr>
            </a:br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21018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Glycemic Control During ANC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b="1" dirty="0"/>
              <a:t>Target blood glucose values</a:t>
            </a:r>
            <a:r>
              <a:rPr lang="en-US" sz="2200" dirty="0"/>
              <a:t> (ACOG,ADA)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Fasting: 70 to 95 mg/</a:t>
            </a:r>
            <a:r>
              <a:rPr lang="en-US" sz="2000" dirty="0" err="1"/>
              <a:t>dL</a:t>
            </a:r>
            <a:r>
              <a:rPr lang="en-US" sz="2000" dirty="0"/>
              <a:t>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1-hr postprandial 110 -140 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2-hrpostprandial 100 -120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 HgbA1C levels of &lt;6.0%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017" y="2148840"/>
            <a:ext cx="334858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153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658" y="446917"/>
            <a:ext cx="9875520" cy="868361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/>
              <a:t>Macronutrient composition</a:t>
            </a:r>
            <a:r>
              <a:rPr lang="en-US" sz="3600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b="1" dirty="0"/>
              <a:t>Complex, high-fiber carbohydrates</a:t>
            </a:r>
            <a:r>
              <a:rPr lang="en-US" sz="2200" dirty="0"/>
              <a:t> – 40 to 50 percent of total calories.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b="1" dirty="0"/>
              <a:t>Protein</a:t>
            </a:r>
            <a:r>
              <a:rPr lang="en-US" sz="2200" dirty="0"/>
              <a:t> – 15 to 30 percent of total calories.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b="1" dirty="0"/>
              <a:t>Fats, primarily unsaturated</a:t>
            </a:r>
            <a:r>
              <a:rPr lang="en-US" sz="2200" dirty="0"/>
              <a:t> – 20 to 35 percent of total calories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D4EF7-5250-4682-96CB-0C8B3ED33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13" y="2753483"/>
            <a:ext cx="3124200" cy="365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2C5F26-9CD2-4078-A04A-E295F3666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912" y="2753483"/>
            <a:ext cx="322897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1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7161"/>
            <a:ext cx="9875520" cy="776921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2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Aerobic exercise (30–60 min) 3–7 times/week) during pregnancy had a significantly lower incidence of preterm birth and good glycemic control</a:t>
            </a:r>
          </a:p>
        </p:txBody>
      </p:sp>
    </p:spTree>
    <p:extLst>
      <p:ext uri="{BB962C8B-B14F-4D97-AF65-F5344CB8AC3E}">
        <p14:creationId xmlns:p14="http://schemas.microsoft.com/office/powerpoint/2010/main" val="212863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US" sz="3600" b="1" dirty="0"/>
            </a:br>
            <a:r>
              <a:rPr lang="en-US" sz="3600" b="1" dirty="0"/>
              <a:t>Insulin requirements in pregnancy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From gestational weeks 9 to 16 , a significant decline in insulin requirements can occur.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From weeks 16 to 36, insulin requirements rise by approximately 5 percent/week 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At the end of the third trimester, insulin requirements plateau or even decrease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b="1" dirty="0"/>
              <a:t>0.7 units/kg </a:t>
            </a:r>
            <a:r>
              <a:rPr lang="en-US" sz="2200" dirty="0"/>
              <a:t>in the first trimester,  </a:t>
            </a:r>
            <a:r>
              <a:rPr lang="en-US" sz="2200" b="1" dirty="0"/>
              <a:t>0.8 units/kg </a:t>
            </a:r>
            <a:r>
              <a:rPr lang="en-US" sz="2200" dirty="0"/>
              <a:t>for weeks 13 to 28, </a:t>
            </a:r>
            <a:r>
              <a:rPr lang="en-US" sz="2200" b="1" dirty="0"/>
              <a:t>0.9 units/kg </a:t>
            </a:r>
            <a:r>
              <a:rPr lang="en-US" sz="2200" dirty="0"/>
              <a:t>for weeks 29 to 34, and </a:t>
            </a:r>
            <a:r>
              <a:rPr lang="en-US" sz="2200" b="1" dirty="0"/>
              <a:t>1 unit/kg </a:t>
            </a:r>
            <a:r>
              <a:rPr lang="en-US" sz="2200" dirty="0"/>
              <a:t>for weeks 35 to term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62297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Antepartum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NST, biophysical profile Starting from 32 weeks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 Pregnancies complicated by maternal diabetes without vascular disease are often associated with increased growth.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Estimation of Feta weight at 28 to 32 weeks of gestation to assess fetal growth.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6861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Timing of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For patients meeting glycemic targets delivery at 39+0 to 39+6 weeks of gestation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Patients with a high burden of hyperglycemia, vascular disease, or prior stillbirth delivery at 36+0 to 37+6 (ACOG,SMFM,MOH)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Sonographic assessment of fetal weight is imprecise among fetuses &gt;4000 grams is an indication for CS</a:t>
            </a:r>
          </a:p>
        </p:txBody>
      </p:sp>
    </p:spTree>
    <p:extLst>
      <p:ext uri="{BB962C8B-B14F-4D97-AF65-F5344CB8AC3E}">
        <p14:creationId xmlns:p14="http://schemas.microsoft.com/office/powerpoint/2010/main" val="1597728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Mode of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There are no contraindications to natural childbirth or to </a:t>
            </a:r>
            <a:r>
              <a:rPr lang="en-US" sz="2200" dirty="0" err="1"/>
              <a:t>neuraxial</a:t>
            </a:r>
            <a:r>
              <a:rPr lang="en-US" sz="2200" dirty="0"/>
              <a:t> or general anesthesia.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 The choice of anesthetic technique should be based on patient and surgical factors, and intraoperative fluid boluses should consist of glucose-free solutions to prevent neonatal hypoglycemia</a:t>
            </a:r>
          </a:p>
        </p:txBody>
      </p:sp>
    </p:spTree>
    <p:extLst>
      <p:ext uri="{BB962C8B-B14F-4D97-AF65-F5344CB8AC3E}">
        <p14:creationId xmlns:p14="http://schemas.microsoft.com/office/powerpoint/2010/main" val="3912871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Scheduled cesarean birth in patients receiving insulin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b="1" dirty="0"/>
              <a:t>Type 1 diabetes</a:t>
            </a:r>
            <a:r>
              <a:rPr lang="en-US" sz="2200" dirty="0"/>
              <a:t> -intravenous dextrose on the morning of the cesarean and administer 50 to 70 % of morning basal insulin dose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b="1" dirty="0"/>
              <a:t>Type 2 or gestational diabetes</a:t>
            </a:r>
            <a:r>
              <a:rPr lang="en-US" sz="2200" dirty="0"/>
              <a:t> – On the morning of the cesarean, the dose of insulin can generally be held.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If the cesarean will be delayed past the early morning, 50 to 70 % of the usual basal insulin dose can be given for Type 2DM.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85157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Scheduled cesarean birth in patients using metformin  should hold this medication on the morning of the cesarean.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Scheduled cesarean birth in patients with gestational diabetes managed with nutritional therapy alone - These patients are managed similarly to pregnant individuals without diabetes undergoing scheduled cesarean birth</a:t>
            </a:r>
          </a:p>
        </p:txBody>
      </p:sp>
    </p:spTree>
    <p:extLst>
      <p:ext uri="{BB962C8B-B14F-4D97-AF65-F5344CB8AC3E}">
        <p14:creationId xmlns:p14="http://schemas.microsoft.com/office/powerpoint/2010/main" val="1970485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US" sz="3600" b="1" dirty="0"/>
            </a:br>
            <a:r>
              <a:rPr lang="en-US" sz="3600" b="1" dirty="0"/>
              <a:t>Postpartum Management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Insulin requirements drop immediately after birth because pregnancy-associated insulin resistance rapidly dissipates after expulsion of the placenta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 The insulin requirement reaches a nadir at approximately 48 hours postpartum and is lower than the pre pregnancy requirement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If the patient doesn't start feeding , capillary blood glucose can be monitored every four to six hours. </a:t>
            </a:r>
          </a:p>
        </p:txBody>
      </p:sp>
    </p:spTree>
    <p:extLst>
      <p:ext uri="{BB962C8B-B14F-4D97-AF65-F5344CB8AC3E}">
        <p14:creationId xmlns:p14="http://schemas.microsoft.com/office/powerpoint/2010/main" val="50900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b="1" dirty="0" err="1"/>
              <a:t>Cont</a:t>
            </a:r>
            <a:r>
              <a:rPr lang="en-US" b="1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postpartum targets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 </a:t>
            </a:r>
            <a:r>
              <a:rPr lang="en-US" sz="2200" dirty="0" err="1"/>
              <a:t>Preprandial</a:t>
            </a:r>
            <a:r>
              <a:rPr lang="en-US" sz="2200" dirty="0"/>
              <a:t> glucose &lt;140 mg/dL  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 RBS &lt;180 mg/dL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If initially provide 60 to 70 % of the </a:t>
            </a:r>
            <a:r>
              <a:rPr lang="en-US" sz="2200" dirty="0" err="1"/>
              <a:t>prepregnancy</a:t>
            </a:r>
            <a:r>
              <a:rPr lang="en-US" sz="2200" dirty="0"/>
              <a:t> total daily insulin dose and half given as basal insulin.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In mothers with type 2 diabetes, start or continue metformin after birth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11149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274639"/>
            <a:ext cx="9875520" cy="959801"/>
          </a:xfrm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US" sz="3600" b="1" dirty="0">
                <a:latin typeface="+mn-lt"/>
              </a:rPr>
            </a:br>
            <a:r>
              <a:rPr lang="en-US" sz="3600" b="1" dirty="0">
                <a:latin typeface="+mn-lt"/>
              </a:rPr>
              <a:t>Recurrent Gestational Diabetes</a:t>
            </a:r>
            <a:br>
              <a:rPr lang="en-US" sz="3600" b="1" dirty="0">
                <a:latin typeface="+mn-lt"/>
              </a:rPr>
            </a:b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</a:rPr>
              <a:t>GDM recurrence rate was 48% and rates in </a:t>
            </a:r>
            <a:r>
              <a:rPr lang="en-US" sz="2200" dirty="0" err="1">
                <a:solidFill>
                  <a:prstClr val="black"/>
                </a:solidFill>
              </a:rPr>
              <a:t>primiparas</a:t>
            </a:r>
            <a:r>
              <a:rPr lang="en-US" sz="2200" dirty="0">
                <a:solidFill>
                  <a:prstClr val="black"/>
                </a:solidFill>
              </a:rPr>
              <a:t> were lower (40%) than in multiparas (73%).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</a:rPr>
              <a:t>Lifestyle behavioral changes that include weight control and exercise b/n </a:t>
            </a:r>
            <a:r>
              <a:rPr lang="en-US" sz="2200" dirty="0" err="1">
                <a:solidFill>
                  <a:prstClr val="black"/>
                </a:solidFill>
              </a:rPr>
              <a:t>pxs</a:t>
            </a:r>
            <a:r>
              <a:rPr lang="en-US" sz="2200" dirty="0">
                <a:solidFill>
                  <a:prstClr val="black"/>
                </a:solidFill>
              </a:rPr>
              <a:t> would seem likely to prevent GDM recurrence.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</a:rPr>
              <a:t>Women with a history of GDM are also at risk for cardiovascular complications associated with dyslipidemia, hypertension and metabolic syndrome.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49122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Preconception care for </a:t>
            </a:r>
            <a:r>
              <a:rPr lang="en-US" sz="2200" dirty="0" err="1"/>
              <a:t>Womens</a:t>
            </a:r>
            <a:r>
              <a:rPr lang="en-US" sz="2200" dirty="0"/>
              <a:t> of childbearing age with diabetes improves both perinatal and maternal out come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err="1"/>
              <a:t>Multidiscplinary</a:t>
            </a:r>
            <a:r>
              <a:rPr lang="en-US" sz="2200" dirty="0"/>
              <a:t> team approach is important for Obstetrical intervention and Glycemic control during ANC which  significantly improve the out come of pregnancy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/>
              <a:t>Standard </a:t>
            </a:r>
            <a:r>
              <a:rPr lang="en-US" sz="2200" dirty="0" err="1"/>
              <a:t>intrapartum</a:t>
            </a:r>
            <a:r>
              <a:rPr lang="en-US" sz="2200" dirty="0"/>
              <a:t> and post </a:t>
            </a:r>
            <a:r>
              <a:rPr lang="en-US" sz="2200" dirty="0" err="1"/>
              <a:t>patum</a:t>
            </a:r>
            <a:r>
              <a:rPr lang="en-US" sz="2200" dirty="0"/>
              <a:t> care is essential for Diabetic mother .</a:t>
            </a:r>
          </a:p>
        </p:txBody>
      </p:sp>
    </p:spTree>
    <p:extLst>
      <p:ext uri="{BB962C8B-B14F-4D97-AF65-F5344CB8AC3E}">
        <p14:creationId xmlns:p14="http://schemas.microsoft.com/office/powerpoint/2010/main" val="1830248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680" i="1" dirty="0"/>
              <a:t>GABBE 8</a:t>
            </a:r>
            <a:r>
              <a:rPr lang="en-US" sz="1680" i="1" baseline="30000" dirty="0"/>
              <a:t>th</a:t>
            </a:r>
            <a:r>
              <a:rPr lang="en-US" sz="1680" i="1" dirty="0"/>
              <a:t> Edition Chapter45Medical disorder in </a:t>
            </a:r>
            <a:r>
              <a:rPr lang="en-US" sz="1680" i="1" dirty="0" err="1"/>
              <a:t>preganancy</a:t>
            </a:r>
            <a:r>
              <a:rPr lang="en-US" sz="1680" i="1" dirty="0"/>
              <a:t> chapter 45  p 882-993</a:t>
            </a:r>
          </a:p>
          <a:p>
            <a:pPr>
              <a:buFont typeface="Wingdings" pitchFamily="2" charset="2"/>
              <a:buChar char="Ø"/>
            </a:pPr>
            <a:r>
              <a:rPr lang="en-US" sz="1680" i="1" dirty="0"/>
              <a:t>Williams obstetrics 26 </a:t>
            </a:r>
            <a:r>
              <a:rPr lang="en-US" sz="1680" i="1" dirty="0" err="1"/>
              <a:t>th</a:t>
            </a:r>
            <a:r>
              <a:rPr lang="en-US" sz="1680" i="1" dirty="0"/>
              <a:t> Edition </a:t>
            </a:r>
            <a:r>
              <a:rPr lang="en-US" sz="1680" i="1" dirty="0" err="1"/>
              <a:t>chpter</a:t>
            </a:r>
            <a:r>
              <a:rPr lang="en-US" sz="1680" i="1" dirty="0"/>
              <a:t> 60 medical disorders in pregnancy chapter 60  p1068-1082</a:t>
            </a:r>
          </a:p>
          <a:p>
            <a:pPr>
              <a:buFont typeface="Wingdings" pitchFamily="2" charset="2"/>
              <a:buChar char="Ø"/>
            </a:pPr>
            <a:r>
              <a:rPr lang="en-US" sz="1680" i="1" dirty="0"/>
              <a:t>Creasy and </a:t>
            </a:r>
            <a:r>
              <a:rPr lang="en-US" sz="1680" i="1" dirty="0" err="1"/>
              <a:t>Resnkis</a:t>
            </a:r>
            <a:r>
              <a:rPr lang="en-US" sz="1680" i="1" dirty="0"/>
              <a:t>  9</a:t>
            </a:r>
            <a:r>
              <a:rPr lang="en-US" sz="1680" i="1" baseline="30000" dirty="0"/>
              <a:t>th</a:t>
            </a:r>
            <a:r>
              <a:rPr lang="en-US" sz="1680" i="1" dirty="0"/>
              <a:t> edition maternal fetal medicine chapter medical </a:t>
            </a:r>
            <a:r>
              <a:rPr lang="en-US" sz="1680" i="1" dirty="0" err="1"/>
              <a:t>disordre</a:t>
            </a:r>
            <a:r>
              <a:rPr lang="en-US" sz="1680" i="1" dirty="0"/>
              <a:t> in pregnancy page</a:t>
            </a:r>
          </a:p>
          <a:p>
            <a:pPr>
              <a:buFont typeface="Wingdings" pitchFamily="2" charset="2"/>
              <a:buChar char="Ø"/>
            </a:pPr>
            <a:r>
              <a:rPr lang="en-US" sz="1680" i="1" dirty="0"/>
              <a:t>Comprehensive </a:t>
            </a:r>
            <a:r>
              <a:rPr lang="en-US" sz="1680" i="1" dirty="0" err="1"/>
              <a:t>ClinicalApproach</a:t>
            </a:r>
            <a:r>
              <a:rPr lang="en-US" sz="1680" i="1" dirty="0"/>
              <a:t> to Diabetes During pregnancy </a:t>
            </a:r>
            <a:r>
              <a:rPr lang="en-US" sz="1680" i="1" dirty="0" err="1"/>
              <a:t>dimitrous</a:t>
            </a:r>
            <a:r>
              <a:rPr lang="en-US" sz="1680" i="1" dirty="0"/>
              <a:t> </a:t>
            </a:r>
            <a:r>
              <a:rPr lang="en-US" sz="1680" i="1" dirty="0" err="1"/>
              <a:t>G.Gelious</a:t>
            </a:r>
            <a:r>
              <a:rPr lang="en-US" sz="1680" i="1" dirty="0"/>
              <a:t> 1</a:t>
            </a:r>
            <a:r>
              <a:rPr lang="en-US" sz="1680" i="1" baseline="30000" dirty="0"/>
              <a:t>st</a:t>
            </a:r>
            <a:r>
              <a:rPr lang="en-US" sz="1680" i="1" dirty="0"/>
              <a:t> edition page 135-244</a:t>
            </a:r>
          </a:p>
          <a:p>
            <a:pPr>
              <a:buFont typeface="Wingdings" pitchFamily="2" charset="2"/>
              <a:buChar char="Ø"/>
            </a:pPr>
            <a:r>
              <a:rPr lang="en-US" sz="1680" i="1" dirty="0"/>
              <a:t>MOH 2020 obstetrics and </a:t>
            </a:r>
            <a:r>
              <a:rPr lang="en-US" sz="1680" i="1" dirty="0" err="1"/>
              <a:t>gyenecology</a:t>
            </a:r>
            <a:r>
              <a:rPr lang="en-US" sz="1680" i="1" dirty="0"/>
              <a:t> protocol </a:t>
            </a:r>
            <a:r>
              <a:rPr lang="en-US" sz="1680" i="1" dirty="0" err="1"/>
              <a:t>protocol</a:t>
            </a:r>
            <a:r>
              <a:rPr lang="en-US" sz="1680" i="1" dirty="0"/>
              <a:t> DM in pregnancy p186-192</a:t>
            </a:r>
          </a:p>
          <a:p>
            <a:pPr>
              <a:buFont typeface="Wingdings" pitchFamily="2" charset="2"/>
              <a:buChar char="Ø"/>
            </a:pPr>
            <a:r>
              <a:rPr lang="en-US" sz="1680" i="1" dirty="0"/>
              <a:t>WHO 2013 PROTOCOL ON management of DM protocol page 12-18</a:t>
            </a:r>
          </a:p>
          <a:p>
            <a:pPr>
              <a:buFont typeface="Wingdings" pitchFamily="2" charset="2"/>
              <a:buChar char="Ø"/>
            </a:pPr>
            <a:r>
              <a:rPr lang="en-US" sz="1680" i="1" dirty="0"/>
              <a:t>American Diabetes A (2020) 14. Management of diabetes in pregnancy: standards of medical care in diabetes- 2020. Diabetes Care 43(</a:t>
            </a:r>
            <a:r>
              <a:rPr lang="en-US" sz="1680" i="1" dirty="0" err="1"/>
              <a:t>Suppl</a:t>
            </a:r>
            <a:r>
              <a:rPr lang="en-US" sz="1680" i="1" dirty="0"/>
              <a:t> 1):S183–SS9</a:t>
            </a:r>
          </a:p>
          <a:p>
            <a:pPr>
              <a:buFont typeface="Wingdings" pitchFamily="2" charset="2"/>
              <a:buChar char="Ø"/>
            </a:pPr>
            <a:r>
              <a:rPr lang="en-US" sz="1680" i="1" dirty="0"/>
              <a:t>ACOG 2018  ACOG PRACTICE BULLETIN Gestational Diabetes Mellitus ,DM management during </a:t>
            </a:r>
            <a:r>
              <a:rPr lang="en-US" sz="1680" i="1" dirty="0" err="1"/>
              <a:t>pragnancy</a:t>
            </a:r>
            <a:r>
              <a:rPr lang="en-US" sz="1680" i="1" dirty="0"/>
              <a:t> page 1-</a:t>
            </a:r>
          </a:p>
          <a:p>
            <a:pPr lvl="0">
              <a:buFont typeface="Wingdings" pitchFamily="2" charset="2"/>
              <a:buChar char="Ø"/>
            </a:pPr>
            <a:r>
              <a:rPr lang="en-US" sz="1680" i="1" dirty="0"/>
              <a:t>Bennett SN, </a:t>
            </a:r>
            <a:r>
              <a:rPr lang="en-US" sz="1680" i="1" dirty="0" err="1"/>
              <a:t>Tita</a:t>
            </a:r>
            <a:r>
              <a:rPr lang="en-US" sz="1680" i="1" dirty="0"/>
              <a:t> A, Owen J, et al. Assessing White's classification of </a:t>
            </a:r>
            <a:r>
              <a:rPr lang="en-US" sz="1680" i="1" dirty="0" err="1"/>
              <a:t>pregestational</a:t>
            </a:r>
            <a:r>
              <a:rPr lang="en-US" sz="1680" i="1" dirty="0"/>
              <a:t> diabetes in a contemporary diabetic population. </a:t>
            </a:r>
            <a:r>
              <a:rPr lang="en-US" sz="1680" i="1" dirty="0" err="1"/>
              <a:t>Obstet</a:t>
            </a:r>
            <a:r>
              <a:rPr lang="en-US" sz="1680" i="1" dirty="0"/>
              <a:t> </a:t>
            </a:r>
            <a:r>
              <a:rPr lang="en-US" sz="1680" i="1" dirty="0" err="1"/>
              <a:t>Gynecol</a:t>
            </a:r>
            <a:r>
              <a:rPr lang="en-US" sz="1680" i="1" dirty="0"/>
              <a:t> 2015; 125:1217.</a:t>
            </a:r>
          </a:p>
          <a:p>
            <a:pPr lvl="0">
              <a:buFont typeface="Wingdings" pitchFamily="2" charset="2"/>
              <a:buChar char="Ø"/>
            </a:pPr>
            <a:r>
              <a:rPr lang="en-US" sz="1680" i="1" dirty="0"/>
              <a:t>Cormier CM, Martinez CA, </a:t>
            </a:r>
            <a:r>
              <a:rPr lang="en-US" sz="1680" i="1" dirty="0" err="1"/>
              <a:t>Refuerzo</a:t>
            </a:r>
            <a:r>
              <a:rPr lang="en-US" sz="1680" i="1" dirty="0"/>
              <a:t> JS, et al. White's classification of diabetes in pregnancy in the 21st century: is it still valid? Am J </a:t>
            </a:r>
            <a:r>
              <a:rPr lang="en-US" sz="1680" i="1" dirty="0" err="1"/>
              <a:t>Perinatol</a:t>
            </a:r>
            <a:r>
              <a:rPr lang="en-US" sz="1680" i="1" dirty="0"/>
              <a:t> 2010; 27:349.</a:t>
            </a:r>
          </a:p>
        </p:txBody>
      </p:sp>
    </p:spTree>
    <p:extLst>
      <p:ext uri="{BB962C8B-B14F-4D97-AF65-F5344CB8AC3E}">
        <p14:creationId xmlns:p14="http://schemas.microsoft.com/office/powerpoint/2010/main" val="339951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199C-877A-48C7-A9F7-3AEDF0D9A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729B9C-C0F7-48C9-8E86-6A8EC8CB2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243" y="2451652"/>
            <a:ext cx="8136007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23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1443</Words>
  <Application>Microsoft Office PowerPoint</Application>
  <PresentationFormat>Widescreen</PresentationFormat>
  <Paragraphs>129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Wingdings</vt:lpstr>
      <vt:lpstr>Office Theme</vt:lpstr>
      <vt:lpstr>Diabetes Mellitus In Pregnancy</vt:lpstr>
      <vt:lpstr>Outline</vt:lpstr>
      <vt:lpstr>PowerPoint Presentation</vt:lpstr>
      <vt:lpstr>Modified Whites Classification Of Diabetes</vt:lpstr>
      <vt:lpstr>DM During Pregnancy</vt:lpstr>
      <vt:lpstr>Components Preconception care</vt:lpstr>
      <vt:lpstr>Targets of Blood glucose</vt:lpstr>
      <vt:lpstr>Management of Hyperglycemia</vt:lpstr>
      <vt:lpstr>Folic acid supplementation</vt:lpstr>
      <vt:lpstr>Contraindication for Pregnancy</vt:lpstr>
      <vt:lpstr>ANC</vt:lpstr>
      <vt:lpstr> GDM Screening During ANC </vt:lpstr>
      <vt:lpstr> First-Trimester Screening  </vt:lpstr>
      <vt:lpstr> 24–28 Weeks Screening  </vt:lpstr>
      <vt:lpstr>How to screen</vt:lpstr>
      <vt:lpstr>Glycemic Control During ANC</vt:lpstr>
      <vt:lpstr>Macronutrient composition </vt:lpstr>
      <vt:lpstr>Exercise</vt:lpstr>
      <vt:lpstr> Insulin requirements in pregnancy </vt:lpstr>
      <vt:lpstr>Antepartum Surveillance</vt:lpstr>
      <vt:lpstr>Timing of Delivery</vt:lpstr>
      <vt:lpstr>Mode of delivery</vt:lpstr>
      <vt:lpstr>Scheduled cesarean birth in patients receiving insulin</vt:lpstr>
      <vt:lpstr>PowerPoint Presentation</vt:lpstr>
      <vt:lpstr> Postpartum Management </vt:lpstr>
      <vt:lpstr>Cont…</vt:lpstr>
      <vt:lpstr> Recurrent Gestational Diabetes </vt:lpstr>
      <vt:lpstr>Summary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</dc:creator>
  <cp:lastModifiedBy>Rich</cp:lastModifiedBy>
  <cp:revision>6</cp:revision>
  <dcterms:created xsi:type="dcterms:W3CDTF">2025-09-08T17:51:01Z</dcterms:created>
  <dcterms:modified xsi:type="dcterms:W3CDTF">2025-09-08T18:56:45Z</dcterms:modified>
</cp:coreProperties>
</file>