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7" r:id="rId2"/>
    <p:sldId id="314" r:id="rId3"/>
    <p:sldId id="317" r:id="rId4"/>
    <p:sldId id="313" r:id="rId5"/>
    <p:sldId id="282" r:id="rId6"/>
    <p:sldId id="289" r:id="rId7"/>
    <p:sldId id="283" r:id="rId8"/>
    <p:sldId id="290" r:id="rId9"/>
    <p:sldId id="315" r:id="rId10"/>
    <p:sldId id="285" r:id="rId11"/>
    <p:sldId id="291" r:id="rId12"/>
    <p:sldId id="312" r:id="rId13"/>
    <p:sldId id="286" r:id="rId14"/>
    <p:sldId id="284" r:id="rId15"/>
    <p:sldId id="288" r:id="rId16"/>
    <p:sldId id="259" r:id="rId17"/>
    <p:sldId id="300" r:id="rId18"/>
    <p:sldId id="260" r:id="rId19"/>
    <p:sldId id="326" r:id="rId20"/>
    <p:sldId id="294" r:id="rId21"/>
    <p:sldId id="261" r:id="rId22"/>
    <p:sldId id="311" r:id="rId23"/>
    <p:sldId id="262" r:id="rId24"/>
    <p:sldId id="263" r:id="rId25"/>
    <p:sldId id="271" r:id="rId26"/>
    <p:sldId id="264" r:id="rId27"/>
    <p:sldId id="265" r:id="rId28"/>
    <p:sldId id="272" r:id="rId29"/>
    <p:sldId id="267" r:id="rId30"/>
    <p:sldId id="266" r:id="rId31"/>
    <p:sldId id="327" r:id="rId32"/>
    <p:sldId id="268" r:id="rId33"/>
    <p:sldId id="269" r:id="rId34"/>
    <p:sldId id="274" r:id="rId35"/>
    <p:sldId id="275" r:id="rId36"/>
    <p:sldId id="276" r:id="rId37"/>
    <p:sldId id="318" r:id="rId38"/>
    <p:sldId id="277" r:id="rId39"/>
    <p:sldId id="279" r:id="rId40"/>
    <p:sldId id="278" r:id="rId41"/>
    <p:sldId id="281" r:id="rId42"/>
    <p:sldId id="270" r:id="rId43"/>
    <p:sldId id="307" r:id="rId44"/>
    <p:sldId id="309" r:id="rId45"/>
    <p:sldId id="320" r:id="rId46"/>
    <p:sldId id="321" r:id="rId47"/>
    <p:sldId id="322" r:id="rId48"/>
    <p:sldId id="323" r:id="rId49"/>
    <p:sldId id="325" r:id="rId50"/>
    <p:sldId id="319" r:id="rId51"/>
    <p:sldId id="310" r:id="rId52"/>
    <p:sldId id="296" r:id="rId53"/>
    <p:sldId id="273" r:id="rId54"/>
    <p:sldId id="303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292" r:id="rId64"/>
    <p:sldId id="304" r:id="rId65"/>
    <p:sldId id="295" r:id="rId66"/>
    <p:sldId id="297" r:id="rId67"/>
    <p:sldId id="301" r:id="rId68"/>
    <p:sldId id="302" r:id="rId69"/>
    <p:sldId id="298" r:id="rId70"/>
    <p:sldId id="316" r:id="rId71"/>
    <p:sldId id="305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582" autoAdjust="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648"/>
    </p:cViewPr>
  </p:sorterViewPr>
  <p:notesViewPr>
    <p:cSldViewPr>
      <p:cViewPr varScale="1">
        <p:scale>
          <a:sx n="53" d="100"/>
          <a:sy n="53" d="100"/>
        </p:scale>
        <p:origin x="-290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27862-68C1-49B6-A083-B05652822E86}" type="datetimeFigureOut">
              <a:rPr lang="en-US" smtClean="0"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4746-10A3-48C7-990A-821593323B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3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96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925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57250" indent="-857250" algn="l">
              <a:buFont typeface="Arial" panose="020B0604020202020204" pitchFamily="34" charset="0"/>
              <a:buChar char="•"/>
            </a:pPr>
            <a:r>
              <a:rPr lang="en-US" sz="6000" u="none" dirty="0">
                <a:latin typeface="Arial" panose="020B0604020202020204" pitchFamily="34" charset="0"/>
                <a:cs typeface="Arial" panose="020B0604020202020204" pitchFamily="34" charset="0"/>
              </a:rPr>
              <a:t>CAM-ICU –confusion assessment method for the ICU</a:t>
            </a:r>
          </a:p>
          <a:p>
            <a:pPr algn="l"/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058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Ideally, sedation should result in a patient who is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either awake but co-operative or who is lightly sedated but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responding to commands (i.e. a score 0 to -2).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30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59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59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666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08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sweet spot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ideal set of conditions, a specific location, or a perfect balance of factors that produces the best possible outcome.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79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z="24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NICE-SUGAR trial (Normoglycemia in Intensive Care Evaluation and Survival Using Glucose Algorithm Regulation) </a:t>
            </a:r>
            <a:r>
              <a:rPr lang="en-US" sz="2400" b="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remains one of the most influential multi-center studies in critical care history. Published in the New England Journal of Medicine in 2009, it fundamentally reversed a decade of clinical practice regarding blood sugar targets in the ICU.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929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Diabetic nuance </a:t>
            </a:r>
            <a:r>
              <a:rPr lang="en-US" dirty="0"/>
              <a:t>refers to the subtle, individualized, and complex factors that influence blood sugar control. It highlights that diabetes management is never a simple, one-size-fits-all formula, but rather requires paying attention to the unique daily details of a person's life</a:t>
            </a:r>
            <a:endParaRPr lang="en-US" b="0" u="none" strike="noStrike" dirty="0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4746-10A3-48C7-990A-821593323BF4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9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mj.com/" TargetMode="External"/><Relationship Id="rId2" Type="http://schemas.openxmlformats.org/officeDocument/2006/relationships/hyperlink" Target="https://litfl.com/fast-hugs-in-bed-please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287963"/>
          </a:xfrm>
        </p:spPr>
        <p:txBody>
          <a:bodyPr>
            <a:normAutofit/>
          </a:bodyPr>
          <a:lstStyle/>
          <a:p>
            <a:pPr algn="just"/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algn="just"/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itchFamily="34" charset="0"/>
            </a:endParaRPr>
          </a:p>
          <a:p>
            <a:pPr marL="457200" lvl="1" indent="0" algn="just">
              <a:buNone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itchFamily="34" charset="0"/>
              </a:rPr>
              <a:t> </a:t>
            </a:r>
            <a:endParaRPr lang="en-US" sz="3600" dirty="0">
              <a:solidFill>
                <a:srgbClr val="92D050"/>
              </a:solidFill>
              <a:latin typeface="Agency FB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828800"/>
            <a:ext cx="87630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General Principles of supportive cares in the ICU</a:t>
            </a:r>
          </a:p>
        </p:txBody>
      </p:sp>
    </p:spTree>
    <p:extLst>
      <p:ext uri="{BB962C8B-B14F-4D97-AF65-F5344CB8AC3E}">
        <p14:creationId xmlns:p14="http://schemas.microsoft.com/office/powerpoint/2010/main" val="109002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At the end of this session, you will be able to: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Recognize principles of general supportive care in the ICU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 general supportive care for critically ill patients in the ICU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3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Regardless of the underlying cause of the illness,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provision of meticulous supportive care is essential to the management of any critical ill patient.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Back in 2005,  Jean Louis Vincent popularized the ‘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HUGS’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mnemonic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Give your patients a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fast hug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(at least) once a day</a:t>
            </a:r>
          </a:p>
          <a:p>
            <a:pPr marL="457200" lvl="1" indent="0"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(Vincent JL. Crit Care Med.2005)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was updated to ‘</a:t>
            </a: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HUGS BID’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by Vincent and Hatton </a:t>
            </a:r>
            <a:r>
              <a:rPr lang="en-US" sz="2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(Vincent WR 3</a:t>
            </a:r>
            <a:r>
              <a:rPr lang="en-US" sz="2400" baseline="30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4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Hatton KW. Crit Care Med.2009)</a:t>
            </a:r>
          </a:p>
        </p:txBody>
      </p:sp>
    </p:spTree>
    <p:extLst>
      <p:ext uri="{BB962C8B-B14F-4D97-AF65-F5344CB8AC3E}">
        <p14:creationId xmlns:p14="http://schemas.microsoft.com/office/powerpoint/2010/main" val="383345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839200" cy="5715000"/>
          </a:xfrm>
        </p:spPr>
        <p:txBody>
          <a:bodyPr>
            <a:normAutofit fontScale="55000" lnSpcReduction="20000"/>
          </a:bodyPr>
          <a:lstStyle/>
          <a:p>
            <a:r>
              <a:rPr lang="en-US" sz="5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FAST-</a:t>
            </a:r>
            <a:r>
              <a:rPr lang="en-US" sz="5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HUGS </a:t>
            </a:r>
            <a:r>
              <a:rPr lang="en-US" sz="5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BED</a:t>
            </a:r>
            <a:r>
              <a:rPr lang="en-US" sz="58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</a:t>
            </a:r>
          </a:p>
          <a:p>
            <a:pPr lvl="1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eeding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luid balance (therapy)</a:t>
            </a:r>
          </a:p>
          <a:p>
            <a:pPr lvl="1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nalgesia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ntiemetics</a:t>
            </a:r>
            <a:endParaRPr 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edation and </a:t>
            </a:r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pontaneous breathing trial</a:t>
            </a:r>
            <a:endParaRPr lang="en-US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hromboprophylaxis</a:t>
            </a:r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lvl="1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ead up</a:t>
            </a:r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</a:p>
          <a:p>
            <a:pPr lvl="1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lcer prophylaxis </a:t>
            </a:r>
            <a:endParaRPr lang="en-US" sz="36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lucose monitoring</a:t>
            </a:r>
          </a:p>
          <a:p>
            <a:pPr lvl="1"/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kin/eye care and </a:t>
            </a:r>
            <a:r>
              <a:rPr lang="en-US" sz="3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uctioning</a:t>
            </a:r>
            <a:endParaRPr lang="en-US" sz="3600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ndwelling catheter</a:t>
            </a: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asogastric tube</a:t>
            </a: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owel cares</a:t>
            </a: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nvironment (e.g. temperature control, appropriate surroundings in delirium)</a:t>
            </a: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e-escalation of (e.g. antibiotics, end of life issue, Rx no longer needed)</a:t>
            </a:r>
          </a:p>
          <a:p>
            <a:pPr lvl="1"/>
            <a:r>
              <a:rPr lang="en-US" sz="3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sychological support (for patient, family and staff )</a:t>
            </a:r>
          </a:p>
          <a:p>
            <a:pPr marL="457200" lvl="1" indent="0">
              <a:buNone/>
            </a:pP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(Chris Nickson, Nov.3, 2020)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6172200"/>
            <a:ext cx="8153400" cy="533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Available at : https://litfl.com/fast-hugs-in-bed-please/</a:t>
            </a:r>
          </a:p>
        </p:txBody>
      </p:sp>
    </p:spTree>
    <p:extLst>
      <p:ext uri="{BB962C8B-B14F-4D97-AF65-F5344CB8AC3E}">
        <p14:creationId xmlns:p14="http://schemas.microsoft.com/office/powerpoint/2010/main" val="50446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8382000" cy="4983162"/>
          </a:xfrm>
        </p:spPr>
        <p:txBody>
          <a:bodyPr>
            <a:no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Most pts. in ICU are too sick to sustain an adequate oral diet.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Therefore, they require enteral nutrition (EN) or parenteral nutrition (PN), or a combination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Critical illness can lead to hypermetabolic states, and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if nutritional support is inadequate or delayed, patients are at immediate risk of malnutrition.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Poor nutritional status is associated with increased mortality and morbidity.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Therefore, appropriate nutrition is an important aspect of critical care and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Adequate nutritional support should be considered a standard of care.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738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American College of Chest Physicians recommends that: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daily caloric intake be based on the patient's ideal body weight 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25 kcal/kg/day ((105 kJ/kg/day)) or 27.5 kcal/kg/day in the presence of SIRS in some sepsis and </a:t>
            </a:r>
          </a:p>
          <a:p>
            <a:pPr lvl="2" algn="just">
              <a:buFont typeface="Wingdings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trauma patients of 30 or 35 kcal/kg/day (125–146 kJ/kg/day) of which </a:t>
            </a:r>
          </a:p>
          <a:p>
            <a:pPr lvl="2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15 to 20% should be represented by proteins (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 to 2 g/kg/day).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710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610600" cy="483076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 metabolic requirements should be established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early after ICU admission and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enteral feeding tolerance evaluated without delay (within 24 hours of admission).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Early EN initiated within 4.4 Hrs. after ICU admission resulted in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less organ dysfunction than delayed feeding (36.5 hours after ICU admission) </a:t>
            </a:r>
            <a:endParaRPr lang="en-US" sz="22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78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Feeding intolerance due to high gastric residual volume can be improved by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administration of gastric prokinetic agents, and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positioning the tube postpyloric.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of the trials evaluating PN do not demonstrate any favorable impact on outcome.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Evidence suggests that EN is associated with lower infection risk  and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PN is associated with increased rates of complications and death.</a:t>
            </a:r>
          </a:p>
        </p:txBody>
      </p:sp>
    </p:spTree>
    <p:extLst>
      <p:ext uri="{BB962C8B-B14F-4D97-AF65-F5344CB8AC3E}">
        <p14:creationId xmlns:p14="http://schemas.microsoft.com/office/powerpoint/2010/main" val="3130467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case of EN, feeding should be started early within the first 24 - 48 hours following admission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facilitate diet tolerance,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to reduce risk of intestinal barrier dysfunction and infections,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reduce the length of hospital stay and mechanical ventilation.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Starting feeds at 25-50% caloric goal and increasing to 100% over 3-7 days is reasonable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179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18160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Complications associated with enteral feeding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Aspiration of gastric feeding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Remedy: raise the head of the patient's bed 30 to 45 degrees during feeding  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Fluid and electrolyte imbalance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Diarrhea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Constipation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Abdominal distention, vomiting, and regurgitation</a:t>
            </a:r>
          </a:p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algn="just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98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Diarrhea is a common 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potential causes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medications (antibiotics or sorbitol-containing products),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altered bacterial flora (Clostridium difficile),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formula composition (including osmolality), infusion rate,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hypoalbuminemia, bacterial contamination of the enteral fluid, and the patient's related conditions.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prevent or reduce diarrhea, all potential etiologies should be considered and corrected.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118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027518"/>
              </p:ext>
            </p:extLst>
          </p:nvPr>
        </p:nvGraphicFramePr>
        <p:xfrm>
          <a:off x="228600" y="1066800"/>
          <a:ext cx="8610600" cy="5334001"/>
        </p:xfrm>
        <a:graphic>
          <a:graphicData uri="http://schemas.openxmlformats.org/drawingml/2006/table">
            <a:tbl>
              <a:tblPr/>
              <a:tblGrid>
                <a:gridCol w="7514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57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Summary of recommendations for enteral nutrition in critically ill patients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Level of evidence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58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 1. Enteral nutrition is associated with an improvement of nutritional variables, a lower incidence of infections and a reduced length of hospital stay.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A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587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 2. Critically ill patients who cannot be fed orally for a period of more than three days must receive specialized nutritional support.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70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 3. Enteral nutrition is preferable to parenteral nutrition.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70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 4. Enteral nutrition should be started within the first 24 - 48 hours of admission.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70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 5. Enteral nutrition should provide 25 to 30 kcal/kg/day.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701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 6. The feedings should be advanced toward goal over the next 48 - 72 hours.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8144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 7. The enteral nutrition must be deferred until the patient is hemodynamically stable.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2029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 8. In intensive care unit patients, neither the presence nor absence of bowel sounds and evidence of passage of flatus and stool is required for initiation of enteral nutrition.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52023" marR="52023" marT="26011" marB="2601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048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Summary of Recommendations for Enteral Nutrition in Critically Ill Patients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339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9069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Contraindications to EN 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Absolute contraindications 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gastrointestinal obstruction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prolonged paralytic ileus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enterocutaneous fistulae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Active gastrointestinal hemorrhage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Hemodynamic instability: </a:t>
            </a:r>
          </a:p>
          <a:p>
            <a:pPr lvl="2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enteral nutrition in an ischemic small bowel can worsen the ischemia and lead to necrosis and bacterial overgrowth</a:t>
            </a:r>
          </a:p>
          <a:p>
            <a:pPr>
              <a:buFont typeface="Wingdings" pitchFamily="2" charset="2"/>
              <a:buChar char="Ø"/>
            </a:pP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</a:rPr>
              <a:t>Relative contraindications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Malabsorption and short bowel syndrome,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Inflammatory bowel disease,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Pancreatitis, and cholecystitis.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45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10" y="914400"/>
            <a:ext cx="8432390" cy="558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8011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Analgesia and sedation of critically ill patients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800600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Most patients in the ICU will experience some form of pain, agitation, or anxiety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 indications for sedation and analgesia in the ICU are many. </a:t>
            </a:r>
          </a:p>
          <a:p>
            <a:pPr algn="just"/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An essential goal: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optimal level of analgesia and sedation  </a:t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 is evidence that more than one half of patients cared for in the ICU recall unpleasant memories of their ICU stay, including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unrelieved pain,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sleep deprivation,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anxiety,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nightmares,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hallucinations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8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467836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Critically ill patients are often deeply sedated, in part because of: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concerns for patient comfort,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but also because of potential benefits afforded by a reduction in the sympathoadrenal response to injury.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Additionally, complications associated with undersedation include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ventilator dyssynchrony,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patient injury,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agitation, anxiety, stress disorders and,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possibly, unplanned extubation.</a:t>
            </a:r>
          </a:p>
        </p:txBody>
      </p:sp>
    </p:spTree>
    <p:extLst>
      <p:ext uri="{BB962C8B-B14F-4D97-AF65-F5344CB8AC3E}">
        <p14:creationId xmlns:p14="http://schemas.microsoft.com/office/powerpoint/2010/main" val="417790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305800" cy="4525963"/>
          </a:xfrm>
        </p:spPr>
        <p:txBody>
          <a:bodyPr/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However, excessive sedation is also undesirable, because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may contribute to prolonged mechanical ventilation,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increased ICU length of stay, and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increased diagnostic testing for altered mental status</a:t>
            </a:r>
          </a:p>
          <a:p>
            <a:pPr lvl="1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Compassionate care and effective communication help patients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drugs are often necessary to keep them comfortable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4262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763000" cy="4602163"/>
          </a:xfrm>
        </p:spPr>
        <p:txBody>
          <a:bodyPr>
            <a:normAutofit/>
          </a:bodyPr>
          <a:lstStyle/>
          <a:p>
            <a:pPr algn="just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The goal of sedation and analgesia in the ICU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effectively treat patient symptoms, 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avoid adverse effects such as </a:t>
            </a:r>
          </a:p>
          <a:p>
            <a:pPr lvl="2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delirium, </a:t>
            </a:r>
          </a:p>
          <a:p>
            <a:pPr lvl="2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long-term cognitive deficits, and </a:t>
            </a:r>
          </a:p>
          <a:p>
            <a:pPr lvl="2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respiratory depression that are associated with over treatment.</a:t>
            </a:r>
          </a:p>
          <a:p>
            <a:pPr marL="914400" lvl="2" indent="0" algn="just">
              <a:buNone/>
            </a:pP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aim is for the patient to be comfortable at all times!!!</a:t>
            </a:r>
          </a:p>
          <a:p>
            <a:pPr marL="914400" lvl="2" indent="0" algn="just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104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F8D11-1AC4-4A2D-B6DD-773D5C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B7DB8-B764-440F-ABCB-541FCE92E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Ventilated patients generally require sedation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tolerate both ventilation and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the presence of an endotracheal tube. </a:t>
            </a:r>
          </a:p>
          <a:p>
            <a:pPr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patient with an ideal level of sedation and analgesia is at reduced risk for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dislodging catheters,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removing monitoring devices, or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falling out of bed.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182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Indications for analgesia and sedation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Allow effective ventilation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Reduce oxygen demand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 analgesia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Reduce anxiety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Relieve distress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Facilitate sleep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Provide amnesia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Reduce depression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65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7545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Confusion and agitation are common in ICU patients and could have unfavorable consequences on patient outcome.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Patients experiencing agitation have been reported to have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higher incidence of major complications,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higher admission to rehabilitation centers,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 duration of hospital stay.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Agitation is also a predictive factor for mortality.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Agitation needs to be distinguished from delirium,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which is relatively common in ICU patients and equally associated with increased length of stay, morbidity, and mortality.</a:t>
            </a: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428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64820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Agitation: it is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psychomotor disturbance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characterized  by: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marked increase in both motor and psychological activities;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loss of control of action and disorganization of thoughts</a:t>
            </a:r>
          </a:p>
          <a:p>
            <a:pPr lvl="1"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Delirium: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state of acute confusion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742950" lvl="2" indent="-342900" algn="just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acute change in mental status or fluctuation of mood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-400050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Delirium is associated with </a:t>
            </a:r>
          </a:p>
          <a:p>
            <a:pPr marL="742950" lvl="2" indent="-342900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impaired attention, </a:t>
            </a:r>
          </a:p>
          <a:p>
            <a:pPr marL="742950" lvl="2" indent="-342900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disorganized thinking, </a:t>
            </a:r>
          </a:p>
          <a:p>
            <a:pPr marL="742950" lvl="2" indent="-342900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confusion and altered level of consciousness.</a:t>
            </a:r>
          </a:p>
        </p:txBody>
      </p:sp>
    </p:spTree>
    <p:extLst>
      <p:ext uri="{BB962C8B-B14F-4D97-AF65-F5344CB8AC3E}">
        <p14:creationId xmlns:p14="http://schemas.microsoft.com/office/powerpoint/2010/main" val="1872517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Delirium can be difficult to diagnose in ICU patients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features of delirium, such as altered status of consciousness, are shared with several disorders typical of ICU patients.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distinguishing characteristics of delirium include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acute onset and fluctuating course,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inattention,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disorganized thinking, and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altered level of consciousness. </a:t>
            </a: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 ICU delirium diagnostic scale (CAM-ICU scale) has been proposed and is a valid instrument to diagnose delirium in the ICU.</a:t>
            </a:r>
          </a:p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514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 pharmacologic and pharmacologic means can be used to provide comfort and safety to ICU patients. </a:t>
            </a:r>
          </a:p>
          <a:p>
            <a:pPr algn="just">
              <a:buFont typeface="Wingdings" pitchFamily="2" charset="2"/>
              <a:buChar char="q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Non pharmacologic means include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communication, frequent reorientation,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maintenance of a day-night cycle, </a:t>
            </a:r>
          </a:p>
          <a:p>
            <a:pPr lvl="1"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noise reduction, and ensuring ventilation synchrony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first-line interventions should be non-pharmacologic</a:t>
            </a: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Pharmacologic agents include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hypnotics-anxiolytics, opioids, and antipsychotics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Hypnotics most commonly used are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propofol, midazolam, and lorazepam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Each of these drugs has its own particular advantages and disadvantages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0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Sedation  doses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Propofol  for sedation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25–75 µg/kg/min IV drip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Midazolam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0.01-0.1 mg/kg IV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Lorazepam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0.03-0.04 mg/kg IV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016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49530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prospective, randomized, non-blinded trial compared a continuous infusion of lorazepam, midazolam, and propofol in trauma patients.</a:t>
            </a:r>
            <a:endParaRPr lang="en-US" sz="24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Midazolam appeared to be the most titratable drug, with the lowest incidence of over- and undersedation.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Lorazepam was the most cost-effective choice for sedation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despite the observation that oversedation occurred twice as often with lorazepam than with propofol or midazolam. </a:t>
            </a:r>
          </a:p>
        </p:txBody>
      </p:sp>
    </p:spTree>
    <p:extLst>
      <p:ext uri="{BB962C8B-B14F-4D97-AF65-F5344CB8AC3E}">
        <p14:creationId xmlns:p14="http://schemas.microsoft.com/office/powerpoint/2010/main" val="289218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054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meta-analysis including 27 randomized trials comparing propofol versus midazolam suggested that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tracheal extubation occurred earlier with the use of propofol for patients who were ventilated for a duration of shorter than 36 hours.</a:t>
            </a:r>
            <a:endParaRPr lang="en-US" sz="20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However, no differences were found with regard to the ICU length of stay or mortality.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Greater levels of hypotension and elevated triglyceride levels were observed with the use of propofol.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Since then, an open label randomized trial found that continuous infusion of propofol was associated with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shorter length of mechanical ventilation and ICU stay compared with intermittent lorazepam administration.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280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2578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Propofol infusion syndrome is a rare, but lethal syndrome associated with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infusion of propofol at 5 mg/kg/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greater for 48 hours or longer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was first described in children but has also subsequently been observed in critically ill adults.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Clinical features include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cardiomyopathy with acute cardiac failure,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metabolic acidosis, skeletal myopathy, hyperkalemia, hepatomegaly, and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lipemia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Present evidence suggests that this syndrome occurs as a result of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of free fatty acid metabolism because of inhibition of free fatty acid entry into mitochondria and failure of the mitochondrial respiratory chain </a:t>
            </a:r>
            <a:b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602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475456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Dexmedetomidine, a unique sedative agent that is an α</a:t>
            </a:r>
            <a:r>
              <a:rPr lang="en-US" sz="2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-adrenergic receptor agonist, 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provides sedation without inducing coma,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has some analgesic effect, and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has little effect on respiratory drive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Dexmedetomidine has been effectively used as a single agent or in combination with other drugs in ICU patients.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dexmedetomidine is costly,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currently approved by the Food and Drug Administration for use for only up to 24 hours, and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there is insufficient evidence to recommend its routine use at the current time</a:t>
            </a:r>
          </a:p>
        </p:txBody>
      </p:sp>
    </p:spTree>
    <p:extLst>
      <p:ext uri="{BB962C8B-B14F-4D97-AF65-F5344CB8AC3E}">
        <p14:creationId xmlns:p14="http://schemas.microsoft.com/office/powerpoint/2010/main" val="2339561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Opiates are a common component of many ICU analgesia and sedation regimens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They are used as single agents in certain types of patients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pts. with acute postoperative pain, with uncomplicated respiratory failure requiring modest degrees of mechanical ventilation, or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who require sedation but do not tolerate hypnotic-anxiolytic drugs. </a:t>
            </a:r>
          </a:p>
        </p:txBody>
      </p:sp>
    </p:spTree>
    <p:extLst>
      <p:ext uri="{BB962C8B-B14F-4D97-AF65-F5344CB8AC3E}">
        <p14:creationId xmlns:p14="http://schemas.microsoft.com/office/powerpoint/2010/main" val="304376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CE60-5F90-4B88-9975-DFCB1403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E1726-50B3-435A-9CCA-3321302A0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Like dexmedetomidine, opiates do not reliably produce amnesia, and are not appropriate as single agents in patients who require paralysis.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Morphine and fentanyl are the most commonly used opioids to provide analgesia in the ICU. </a:t>
            </a:r>
          </a:p>
          <a:p>
            <a:pPr algn="just"/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Morphine should be avoided in patients with renal failure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due to active metabolites that accumulate in the presence of impaired renal function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5884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4983163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Delirium in the ICU is commonly treated with antipsychotic agents such as haloperidol, olanzapine, quetiapine, and risperidone. 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However, none of these agents has been proven effective for the treatment of ICU-associated delirium in a randomized, placebo-controlled trial, and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not clear that the newer agents, although more expensive, are more effective than haloperidol.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179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Neuromuscular blockade may be occasionally indicated in ICU patients with severe TBI or respiratory failure,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But routine use is discouraged because of concerns of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critical illness polyneuropathy and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increased risk of nosocomial pneumonia in patients receiving these agents.</a:t>
            </a:r>
          </a:p>
          <a:p>
            <a:pPr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6207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334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Agitation Sedation Scoring Scales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Titrating sedatives and analgesics to a specific behavioral target allows optimization of dosing.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Several validated and reliable scoring scales have been developed to improve the delivery of sedation.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most frequently used scoring systems include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Ramsay Sedation Scale (RSS),</a:t>
            </a:r>
          </a:p>
          <a:p>
            <a:pPr lvl="1"/>
            <a:r>
              <a:rPr lang="fr-F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Richmond Agitation Sedation </a:t>
            </a:r>
            <a:r>
              <a:rPr lang="en-US" sz="2000" noProof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fr-FR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(RASS)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Riker Sedation-Agitation Scale (SAS), and       </a:t>
            </a:r>
            <a:r>
              <a:rPr lang="en-US" sz="14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 VALIDATED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Motor-Activity Assessment Scale (MAAS).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Common features to all scales are the grading of sedation over different depths and allowance for indicators of agitation. </a:t>
            </a: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6096000" y="4038600"/>
            <a:ext cx="638556" cy="685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45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49831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4200" dirty="0">
                <a:latin typeface="Times New Roman" pitchFamily="18" charset="0"/>
                <a:cs typeface="Times New Roman" pitchFamily="18" charset="0"/>
              </a:rPr>
              <a:t>The Ramsay Sedation scale 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is developed in 1974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is a 6-point system ranging from 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1- for anxious to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6- for unarousable.</a:t>
            </a:r>
          </a:p>
          <a:p>
            <a:pPr algn="just"/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It unfortunately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lacks behavioral descriptors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Nevertheless, this is one of the most widely used and validated scales. </a:t>
            </a:r>
            <a:br>
              <a:rPr lang="en-US" sz="2600" dirty="0">
                <a:latin typeface="Times New Roman" pitchFamily="18" charset="0"/>
                <a:cs typeface="Times New Roman" pitchFamily="18" charset="0"/>
              </a:rPr>
            </a:b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92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Ramsay Sedation Scale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          Anxious and agitated or restless, or both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         Cooperative, oriented, and tranquil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3         Responding to commands only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        Brisk response to light glabellar tap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5        Sluggish response to light glabellar tap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6        No response to light glabellar tap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205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Richmond Agitation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Sedation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(RASS)</a:t>
            </a:r>
          </a:p>
          <a:p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33702"/>
              </p:ext>
            </p:extLst>
          </p:nvPr>
        </p:nvGraphicFramePr>
        <p:xfrm>
          <a:off x="304800" y="1348525"/>
          <a:ext cx="8458200" cy="467127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694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73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9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Combative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Overtly combative, violent,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immediate danger to staff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191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+3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agitated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Pulls or removes tube(s) or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catheter(s); aggressive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191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+2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Agitated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Frequent non-purposeful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movement, fights ventilator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191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+1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Restless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Anxious but movements not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aggressive vigorous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Alert and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calm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542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Drowsy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fully alert, but has sustained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awakening (eye-opening/eye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contact) to 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(≥10 seconds)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Light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Briefly awakens with eye contact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(&lt;10 seconds)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542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Movement or eye opening to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(but no eye contact)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Verbal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9542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-4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Deep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sedation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response to voice, buy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movement or eye opening to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29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-5 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Unarousable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response to </a:t>
                      </a:r>
                      <a:r>
                        <a:rPr lang="en-US" sz="1400" b="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or physical</a:t>
                      </a:r>
                      <a:r>
                        <a:rPr lang="en-US" sz="1400" b="0" i="1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Physical</a:t>
                      </a:r>
                      <a:r>
                        <a:rPr lang="en-US" sz="1400" b="0" i="0" baseline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Stimulation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Flowchart: Process 3"/>
          <p:cNvSpPr/>
          <p:nvPr/>
        </p:nvSpPr>
        <p:spPr>
          <a:xfrm>
            <a:off x="457200" y="6217920"/>
            <a:ext cx="8458200" cy="42062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From : Handbook of Mechanical Ventilation.</a:t>
            </a:r>
            <a:r>
              <a:rPr lang="en-US" sz="1600" b="1" dirty="0"/>
              <a:t> Care of the ventilated patient . 2015; 117</a:t>
            </a:r>
            <a:br>
              <a:rPr lang="en-US" sz="1600" dirty="0"/>
            </a:br>
            <a:r>
              <a:rPr lang="en-US" sz="1600" dirty="0"/>
              <a:t> </a:t>
            </a:r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693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8229600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Riker SAS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was developed in 1994 and then revised in 1999.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provides a symmetric approach to grading </a:t>
            </a:r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behavior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three severity levels each for sedation and agitation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one level for the calm patient.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Behavioral descriptors provide clinicians assistance with assigning scores. </a:t>
            </a:r>
          </a:p>
        </p:txBody>
      </p:sp>
    </p:spTree>
    <p:extLst>
      <p:ext uri="{BB962C8B-B14F-4D97-AF65-F5344CB8AC3E}">
        <p14:creationId xmlns:p14="http://schemas.microsoft.com/office/powerpoint/2010/main" val="14689453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709108"/>
              </p:ext>
            </p:extLst>
          </p:nvPr>
        </p:nvGraphicFramePr>
        <p:xfrm>
          <a:off x="457200" y="1219200"/>
          <a:ext cx="8458200" cy="4953001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479">
                <a:tc gridSpan="2">
                  <a:txBody>
                    <a:bodyPr/>
                    <a:lstStyle/>
                    <a:p>
                      <a:pPr algn="just"/>
                      <a:r>
                        <a:rPr lang="en-US" sz="22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Sedation-Agitation Scale</a:t>
                      </a:r>
                      <a:endParaRPr lang="en-US" sz="2200" b="1" i="0" kern="12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Score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Dangerous agitation. Patient pulls at endotracheal tube, thrashes, climbs over bed</a:t>
                      </a:r>
                      <a:r>
                        <a:rPr lang="en-US" sz="20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rails.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Very agitated. Patient does not calm, requires restraints, bites endotracheal tube.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Agitated. Patient attempts to sit up but calms to verbal instructions.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Calm and cooperative. Patient follows commands.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Sedated. Patient is difficult to arouse but follows simple commands.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Very sedated. Patient arouses to stimuli but does not follow commands.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6587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kern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Unarousable. Patient has minimal or no response to noxious stimuli.</a:t>
                      </a:r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8020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Motor Activity Assessment Scale (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MAAS)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 was reported in 1999 and is similar to the SAS. </a:t>
            </a:r>
          </a:p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also has three categories for sedation and agitation and a middle level for calm and cooperative.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behavioral descriptors are similar to the SAS, but the scoring starts from 0 instead of 1.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418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7651428"/>
              </p:ext>
            </p:extLst>
          </p:nvPr>
        </p:nvGraphicFramePr>
        <p:xfrm>
          <a:off x="457200" y="533400"/>
          <a:ext cx="8458200" cy="5755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799">
                <a:tc gridSpan="2">
                  <a:txBody>
                    <a:bodyPr/>
                    <a:lstStyle/>
                    <a:p>
                      <a:pPr algn="just"/>
                      <a:r>
                        <a:rPr lang="en-US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Motor Activity Assessment Scale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Dangerously agitated, uncooperative. No external stimulus is required to elicit</a:t>
                      </a:r>
                      <a:r>
                        <a:rPr lang="en-US" sz="16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movement, and pt. pulls at tubes or catheters, thrashes side to side or strikes</a:t>
                      </a:r>
                      <a:r>
                        <a:rPr lang="en-US" sz="16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at staff, tried to climb out of bed, and does not calm down when asked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Agitated. No external stimulus is required to elicit movement, and an pt.</a:t>
                      </a:r>
                      <a:r>
                        <a:rPr lang="en-US" sz="16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attempts to sit up or moves limbs out of bed and does not consistently follow</a:t>
                      </a:r>
                      <a:r>
                        <a:rPr lang="en-US" sz="16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commands (e.g., lies down when asked but soon reverts to attempts to sit up and</a:t>
                      </a:r>
                      <a:r>
                        <a:rPr lang="en-US" sz="16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move limbs out of bed).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Restless and cooperative. No external stimulus is required to elicit movement, and  patient picks at sheets or tubes or uncovers self and follows commands.</a:t>
                      </a:r>
                      <a:endParaRPr lang="en-US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Calm and cooperative. No external stimulus is required to elicit movement, and</a:t>
                      </a:r>
                      <a:r>
                        <a:rPr lang="en-US" sz="1600" baseline="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patient adjusts sheets or clothes purposefully and follows commands.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Responsive to touch or name. Patient opens eyes, raises eyebrows, or turns head</a:t>
                      </a:r>
                    </a:p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toward stimulus or moves limbs when touched or name is loudly spoken.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Responsive only to noxious stimuli. Patient opens eyes, raises eyebrows, or turns</a:t>
                      </a:r>
                    </a:p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head toward stimulus or moves limbs in response to noxious stimulus (e.g.,</a:t>
                      </a:r>
                    </a:p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suctioning; 5 seconds of vigorous orbital, sternal, or nailbed pressure).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Unresponsive. Patient does not move with noxious stimulus (e.g., suctioning, 5 seconds of vigorous orbital, sternal, or nailbed pressure).</a:t>
                      </a:r>
                    </a:p>
                    <a:p>
                      <a:pPr algn="just"/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3974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summary, sedation and analgesia should be provided in the ICU population to ensure patient comfort and safety. 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establishing treatment algorithms, analgesia should be prioritized over sedation.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Titration and assessment of analgesia and sedation should be an integral part of ICU monitoring so that over- and undersedation can be avoided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782218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Thromboprophylaxis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229600" cy="5105400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VTE prophylaxis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is generally agreed that high-risk patients without contraindications should receive prophylaxis with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LMWH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patients with low-to-moderate risk should receive low-dose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UFH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Patients with contraindications to LMWH or UFH should probably receive prophylaxis with mechanical devices (serial compression devices)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although there is no compelling evidence to suggest that they are effective in the ICU population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Prophylaxis anticoagulant </a:t>
            </a:r>
          </a:p>
          <a:p>
            <a:pPr lvl="3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molecular weight heparin, 5000 IU</a:t>
            </a:r>
          </a:p>
          <a:p>
            <a:pPr lvl="3"/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Enoxaparin 40 mg SC</a:t>
            </a:r>
          </a:p>
          <a:p>
            <a:pPr lvl="1" algn="just"/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4127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mainstay of treatment for VTE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heparin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which should be started prior to confirmatory studies if clinical suspicion is high.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LMWH may be superior to UFH in efficacy with comparable rates of bleeding for the treatment of VTE 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the choice of drug should be based on clinical circumstances and availability.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advantage of UFH in the ICU population is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its titratability and rapid reversibility, which may be desirable in patients at high risk for bleeding</a:t>
            </a:r>
          </a:p>
        </p:txBody>
      </p:sp>
    </p:spTree>
    <p:extLst>
      <p:ext uri="{BB962C8B-B14F-4D97-AF65-F5344CB8AC3E}">
        <p14:creationId xmlns:p14="http://schemas.microsoft.com/office/powerpoint/2010/main" val="33569276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458200" cy="5247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210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82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4042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Coagulation cascade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524000"/>
            <a:ext cx="4495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3886199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125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42" y="1143000"/>
            <a:ext cx="8484358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42" y="4114800"/>
            <a:ext cx="8484358" cy="2411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35762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Cont…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914400"/>
            <a:ext cx="426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914400"/>
            <a:ext cx="4194175" cy="5486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7145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Ulcer prophylaxis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Ventilated patients are at risk of gastric and duodenal stress ulceration although rates of bleeding are very low nowadays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(&lt;0.5%). </a:t>
            </a:r>
          </a:p>
          <a:p>
            <a:pPr>
              <a:buFont typeface="Wingdings" pitchFamily="2" charset="2"/>
              <a:buChar char="q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Prevention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ensuring adequate tissue perfusion (i.e. blood flow/fluid resuscitation) and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Enteral nutrition – which encourages mucosal perfusion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996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Ulcer prophylaxis…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Agents used to prevent stress ulceration and GI bleeding include: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methods to suppress acid production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blockers 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proton pump inhibitors  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cytoprotective agents (sucralfate)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990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181600"/>
          </a:xfrm>
        </p:spPr>
        <p:txBody>
          <a:bodyPr>
            <a:noAutofit/>
          </a:bodyPr>
          <a:lstStyle/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Regular turning to avoid pressure sores helps mobilise and clear secretions.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Patients who are too unstable to be turned regularly may benefit from being nursed on special beds that allow some degree of rotation.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Semi-recumbent positioning of the patient (head height at 30-45 degrees or greater from horizontal). </a:t>
            </a:r>
          </a:p>
          <a:p>
            <a:pPr lvl="2" algn="just"/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position results in decreased gastroesophageal reflux </a:t>
            </a:r>
          </a:p>
          <a:p>
            <a:pPr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Pts with resistant hypoxemia may benefit from being turned prone.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improved oxygenation probably results from normalisation of pleural pressure gradients within the lung. 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9252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Glucose Management in Critical Illness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Hyperglycemia is commonly encountered in critically ill patients, and occurs in both diabetics and nondiabetics.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Possible causes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increased glucose production,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depressed glycogenesis and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insulin resistance </a:t>
            </a:r>
          </a:p>
          <a:p>
            <a:pPr lvl="2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caused by inflammatory and hormonal mediators that are released in response to injury. </a:t>
            </a:r>
          </a:p>
          <a:p>
            <a:pPr algn="just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It may also be aggravated by various therapeutic and supportive interventions, </a:t>
            </a:r>
          </a:p>
          <a:p>
            <a:pPr lvl="1"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including the use of corticosteroids and total parenteral nutrition. </a:t>
            </a:r>
          </a:p>
        </p:txBody>
      </p:sp>
    </p:spTree>
    <p:extLst>
      <p:ext uri="{BB962C8B-B14F-4D97-AF65-F5344CB8AC3E}">
        <p14:creationId xmlns:p14="http://schemas.microsoft.com/office/powerpoint/2010/main" val="473816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associated with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increased risk of postoperative infection and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 outcome in patients with stroke or TBI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In addition, the blood glucose level is a risk factor for mortality in diabetic patients admitted with acute myocardial infarction.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8040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C1062-7A20-19A4-CE11-F80AFCA6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118C9-3B61-C2AC-51B0-DD6C0FFBC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Managing glucose levels in critically ill patients is a delicate balancing act.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years, the medical community swung between aggressive tight control and more relaxed targets.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Today, the focus is on avoiding the "deadly triad": 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hyperglycemia, hypoglycemia, and high glycemic variability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3332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8A122-144D-6452-2B5D-286D6801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12838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  <a:t>The current clinical consensus, major trial data, and management strategies for glucose control in the ICU</a:t>
            </a:r>
            <a:br>
              <a:rPr lang="en-US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07785-A365-8906-C345-42C1E2BA5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Arial" panose="020B0604020202020204" pitchFamily="34" charset="0"/>
                <a:cs typeface="Arial" panose="020B0604020202020204" pitchFamily="34" charset="0"/>
              </a:rPr>
              <a:t>1. The Target: What is the "Sweet Spot"?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Current international guidelines (ADA &amp; SCCM) recommendation for most critically ill adults: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Trigger for Insulin Therapy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Initiate treatment when blood glucose levels are persistently ≥ 180 mg/dL (10.0 mmol/L).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Target Range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Once insulin is started, maintain blood glucose between 140–180 mg/dL (7.8–10.0 mmol/L).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Strict (conventional) vs. Liberal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lower target (e.g., 110–140 mg/dL) may be acceptable for select patients (like post-cardiac surgery) only if it can be achieved without causing significant hypoglycemia.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Targets below 110 mg/dL are universally discouraged.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766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44E54-1D36-616A-2094-E5C332ED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F330D-2375-F564-97ED-500BC4E6D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Why the Shift?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Landmark Trials: The evolution of glucose management in the ICU is defined by two major eras of clinical trial data: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Leuven Trials (Early 2000s)</a:t>
            </a: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Idea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Intensive insulin therapy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targeting tight euglycemia (80–110 mg/dL).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Finding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Initial single-center studies showed a dramatic reduction in mortality and morbidity (e.g., sepsis, renal failure).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Catch (Problem)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These results proved difficult to replicate globally and carried a massive risk of severe hypoglycemia.</a:t>
            </a:r>
          </a:p>
        </p:txBody>
      </p:sp>
    </p:spTree>
    <p:extLst>
      <p:ext uri="{BB962C8B-B14F-4D97-AF65-F5344CB8AC3E}">
        <p14:creationId xmlns:p14="http://schemas.microsoft.com/office/powerpoint/2010/main" val="29352731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7AB9E-FFA7-3403-BFD4-6352A495D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88949-7321-CEE7-E523-D3FF964AC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NICE-SUGAR Trial (2009)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Idea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 massive, multi-center international RCT comparing intensive control (81–108 mg/dL) to conventional control (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 Glycemic Control )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(&lt; 180 mg/dL).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Finding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Intensive glucose control increased 90-day mortality and significantly increased the risk of severe hypoglycemia (≤ 40 mg/dL).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Legacy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This trial fundamentally shifted global guidelines to the more moderate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140–180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mg/dL target used today.</a:t>
            </a:r>
          </a:p>
        </p:txBody>
      </p:sp>
    </p:spTree>
    <p:extLst>
      <p:ext uri="{BB962C8B-B14F-4D97-AF65-F5344CB8AC3E}">
        <p14:creationId xmlns:p14="http://schemas.microsoft.com/office/powerpoint/2010/main" val="3685254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B9E7-258F-5DF3-5593-CA9ACD68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49A1-4887-8C9D-1373-9753513E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3. The Three Pillars of Glycemic Harm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When managing a patient, clinicians must guard against three distinct phenomena: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846E61-0797-8F3D-CE9E-77A4EBCF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0" y="2560639"/>
            <a:ext cx="7162800" cy="356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850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0ADF-203B-7B9D-33EE-48CDBC06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8E095-4C99-A97B-5390-3959564B7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458200" cy="47085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 Stress Hyperglycemia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Even patients without pre-existing diabetes can develop high blood sugar in the ICU due to the surge of counter-regulatory hormones (cortisol, epinephrine) and pro-inflammatory cytokines.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causes insulin resistance and increased hepatic glucose production.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Left unchecked, it impairs immune function and increases infection rates.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Hypoglycemia (The Immediate Danger)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Severe hypoglycemia (&lt; 40 mg/dL) is an independent predictor of ICU mortality.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causes neuroglycopenia, cardiac arrhythmias, and can permanently damage neurological tissue. 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risk increases with continuous insulin infusions, making rigorous monitoring mandatory.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Glycemic Variability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Rapid fluctuations between high and low glucose levels cause more oxidative stress and endothelial damage than a stable, slightly elevated blood glucose level. Stability is key.</a:t>
            </a:r>
          </a:p>
        </p:txBody>
      </p:sp>
    </p:spTree>
    <p:extLst>
      <p:ext uri="{BB962C8B-B14F-4D97-AF65-F5344CB8AC3E}">
        <p14:creationId xmlns:p14="http://schemas.microsoft.com/office/powerpoint/2010/main" val="21635757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0252-6117-FD5B-9A00-445431016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0E078-0228-422F-91BA-F66523B1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17638"/>
            <a:ext cx="8229600" cy="49069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Best Practices for Clinical Implementation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manage these targets safely, ICU protocols typically rely on a structured approach: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Continuous Intravenous Insulin: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IV insulin is preferred over SC insulin for critically ill patients due to unpredictable perfusion and erratic absorption in shocked or edematous states. 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IV infusions allow for rapid titration.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Frequent Monitoring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Blood glucose should be checked every 1 to 2 hours until the insulin infusion rate and blood glucose levels are stable, and then every 4 hours thereafter.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8678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7B50-CAE1-4532-90A3-A136147E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 Best Practices for Clinical Implementation…..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9E02-4B15-1123-508F-6F7319A38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Accurate Sampling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Arterial or venous blood gas samples analyzed via laboratory or point-of-care (POC) analyzers are more accurate than fingerstick capillary blood gas testing, </a:t>
            </a:r>
          </a:p>
          <a:p>
            <a:pPr lvl="2" algn="just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especially in patients who are hypotensive, on vasopressors, or severely edematous.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 Diabetes Nuance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Patients with long-standing, poorly controlled diabetes (high HbA1c) may tolerate slightly higher glucose ranges better than patients without diabetes, </a:t>
            </a:r>
          </a:p>
          <a:p>
            <a:pPr lvl="2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their bodies are adapted to chronic hyperglycemia. </a:t>
            </a:r>
          </a:p>
          <a:p>
            <a:pPr lvl="1" algn="just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Chronic hyperglycemia patients may suffer cellular distress if dropped too quickly into a "normal" range.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0649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458200" cy="46783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 Glycemic Control (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conventional therapy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has been advocated as leading to multiple outcome benefits in critically ill patients.</a:t>
            </a:r>
          </a:p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Traditionally, hyperglycemia from sepsis was viewed as a beneficial response because?? </a:t>
            </a:r>
          </a:p>
          <a:p>
            <a:pPr lvl="1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it promoted cellular glucose uptake when cells were energy deprived. </a:t>
            </a: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 glucose concentration of </a:t>
            </a:r>
          </a:p>
          <a:p>
            <a:pPr lvl="1"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160 to 200 mg/dl was commonly recommended and </a:t>
            </a:r>
          </a:p>
          <a:p>
            <a:pPr lvl="1"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was thought to maximize cellular glucose uptake without causing hyperosmolarity.</a:t>
            </a:r>
            <a:endParaRPr lang="en-US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However,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neutrophil function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is impaired in patients with hyperglycemia because of decreased bacterial phagocytosis.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13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Hyperglycemia in diabetics is associated with an increased rate of postoperative infections.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Hyperglycemia is also associated with a poorer prognosis after stroke or head injury.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Better glycemic control (blood glucose &lt;215 mg/dL) in diabetics with myocardial infarction has been shown to improve long-term outcome in several studies.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3223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Physiotherapy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Patients who are intubated cannot clear secretions effectively because of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reduced consciousness level, poor cough effort, and discomfort.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Regular chest physiotherapy and tracheal suction are essential.  </a:t>
            </a:r>
          </a:p>
          <a:p>
            <a:pPr>
              <a:buFont typeface="Wingdings" pitchFamily="2" charset="2"/>
              <a:buChar char="Ø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Aim of chest physiotherapy is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to remove excess bronchial secretions,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re-expand atelectatic areas,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improve ventilation,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decrease ventilation-perfusion mismatch, and </a:t>
            </a:r>
          </a:p>
          <a:p>
            <a:pPr lvl="1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mobilise the thoracic cage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2309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gency FB" pitchFamily="34" charset="0"/>
              </a:rPr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458200" cy="47545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primary aims of chest physiotherapy are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improve gas exchange and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prevent atelectasis and consolidation, which occur as a result of mucus plugging or infection. 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are assessed daily and will receive the following treatments as appropriate.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Positioning—for postural drainage or to improve V/Q matching.</a:t>
            </a:r>
          </a:p>
        </p:txBody>
      </p:sp>
    </p:spTree>
    <p:extLst>
      <p:ext uri="{BB962C8B-B14F-4D97-AF65-F5344CB8AC3E}">
        <p14:creationId xmlns:p14="http://schemas.microsoft.com/office/powerpoint/2010/main" val="9482608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458200" cy="5181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Manual hyperinflation: A 2-liter manual inflation bag is used to deliver up to 1.5X the patients TV. </a:t>
            </a:r>
          </a:p>
          <a:p>
            <a:pPr>
              <a:buFont typeface="Wingdings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 inspired breath is delivered at a slow rate and held for a short period before releasing rapidly. Normal saline can be instilled before the breath. 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technique reinflates atelectatic areas of lung and loosens secretions by improving collateral ventilation. </a:t>
            </a:r>
          </a:p>
          <a:p>
            <a:pPr lvl="1"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improves arterial oxygenation and lung compliance.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9760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Manual techniques—Shaking and vibrations applied to the chest wall may loosen secretions in the airways.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Suction—Secretions are removed by applying 25-30 kPa of negative pressure through a catheter passed down the endotracheal tube to the level of the carina.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6850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Mobilisation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Eye and mouth care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9400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https://litfl.com/fast-hugs-in-bed-please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Maire P Shelly, Peter Nightingale . ABC of intensive care: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Respiratory support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BMJ.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19 JUNE 1999 ,VOLUME 318; 1674-77.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www.bmj.com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4120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THANK YOU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17836" y="2967335"/>
            <a:ext cx="6308330" cy="1569660"/>
          </a:xfrm>
          <a:prstGeom prst="rect">
            <a:avLst/>
          </a:prstGeom>
          <a:scene3d>
            <a:camera prst="perspectiveContrastingRightFacing"/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12338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4976</Words>
  <Application>Microsoft Office PowerPoint</Application>
  <PresentationFormat>On-screen Show (4:3)</PresentationFormat>
  <Paragraphs>565</Paragraphs>
  <Slides>71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Agency FB</vt:lpstr>
      <vt:lpstr>Arial</vt:lpstr>
      <vt:lpstr>Calibri</vt:lpstr>
      <vt:lpstr>Times New Roman</vt:lpstr>
      <vt:lpstr>Wingdings</vt:lpstr>
      <vt:lpstr>Office Theme</vt:lpstr>
      <vt:lpstr>PowerPoint Presentation</vt:lpstr>
      <vt:lpstr>Objectives</vt:lpstr>
      <vt:lpstr>Introduction</vt:lpstr>
      <vt:lpstr>PowerPoint Presentation</vt:lpstr>
      <vt:lpstr>Feeding</vt:lpstr>
      <vt:lpstr>Cont…</vt:lpstr>
      <vt:lpstr>Cont…</vt:lpstr>
      <vt:lpstr>Cont…</vt:lpstr>
      <vt:lpstr>Cont…</vt:lpstr>
      <vt:lpstr>Cont…</vt:lpstr>
      <vt:lpstr>Cont…</vt:lpstr>
      <vt:lpstr>Summary of Recommendations for Enteral Nutrition in Critically Ill Patients </vt:lpstr>
      <vt:lpstr>Cont…</vt:lpstr>
      <vt:lpstr>PowerPoint Presentation</vt:lpstr>
      <vt:lpstr>Analgesia and sedation of critically ill patients</vt:lpstr>
      <vt:lpstr>Cont…</vt:lpstr>
      <vt:lpstr>Cont…</vt:lpstr>
      <vt:lpstr>Cont…</vt:lpstr>
      <vt:lpstr>Cont.…</vt:lpstr>
      <vt:lpstr>Cont…</vt:lpstr>
      <vt:lpstr>Cont…</vt:lpstr>
      <vt:lpstr>Cont…</vt:lpstr>
      <vt:lpstr>Cont…</vt:lpstr>
      <vt:lpstr>Cont…</vt:lpstr>
      <vt:lpstr>Cont…</vt:lpstr>
      <vt:lpstr>Cont…</vt:lpstr>
      <vt:lpstr>Cont…</vt:lpstr>
      <vt:lpstr>Cont…</vt:lpstr>
      <vt:lpstr>Cont…</vt:lpstr>
      <vt:lpstr>Cont…</vt:lpstr>
      <vt:lpstr>Cont.…</vt:lpstr>
      <vt:lpstr>Cont…</vt:lpstr>
      <vt:lpstr>Cont…</vt:lpstr>
      <vt:lpstr>Cont…</vt:lpstr>
      <vt:lpstr>Cont…</vt:lpstr>
      <vt:lpstr>PowerPoint Presentation</vt:lpstr>
      <vt:lpstr>Cont…</vt:lpstr>
      <vt:lpstr>Cont…</vt:lpstr>
      <vt:lpstr>Cont…</vt:lpstr>
      <vt:lpstr>Cont…</vt:lpstr>
      <vt:lpstr>PowerPoint Presentation</vt:lpstr>
      <vt:lpstr>Cont…</vt:lpstr>
      <vt:lpstr>Thromboprophylaxis</vt:lpstr>
      <vt:lpstr>Cont…</vt:lpstr>
      <vt:lpstr>Cont…</vt:lpstr>
      <vt:lpstr>Cont…</vt:lpstr>
      <vt:lpstr>Coagulation cascade</vt:lpstr>
      <vt:lpstr>Cont…</vt:lpstr>
      <vt:lpstr>Cont…</vt:lpstr>
      <vt:lpstr>Ulcer prophylaxis</vt:lpstr>
      <vt:lpstr>Ulcer prophylaxis…</vt:lpstr>
      <vt:lpstr>Position</vt:lpstr>
      <vt:lpstr> Glucose Management in Critical Illness </vt:lpstr>
      <vt:lpstr>Cont…</vt:lpstr>
      <vt:lpstr>Cont.…</vt:lpstr>
      <vt:lpstr>The current clinical consensus, major trial data, and management strategies for glucose control in the ICU </vt:lpstr>
      <vt:lpstr>Cont.…</vt:lpstr>
      <vt:lpstr>Cont.…</vt:lpstr>
      <vt:lpstr>Cont.…</vt:lpstr>
      <vt:lpstr>Cont.…</vt:lpstr>
      <vt:lpstr>Cont.…</vt:lpstr>
      <vt:lpstr>4. Best Practices for Clinical Implementation….. </vt:lpstr>
      <vt:lpstr>Cont…</vt:lpstr>
      <vt:lpstr>Cont…</vt:lpstr>
      <vt:lpstr>Other</vt:lpstr>
      <vt:lpstr>Cont…</vt:lpstr>
      <vt:lpstr>Cont…</vt:lpstr>
      <vt:lpstr>Cont…</vt:lpstr>
      <vt:lpstr>Cont…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Mulualem Sitot</cp:lastModifiedBy>
  <cp:revision>294</cp:revision>
  <dcterms:created xsi:type="dcterms:W3CDTF">2006-08-16T00:00:00Z</dcterms:created>
  <dcterms:modified xsi:type="dcterms:W3CDTF">2026-05-21T15:15:01Z</dcterms:modified>
</cp:coreProperties>
</file>