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60" r:id="rId1"/>
  </p:sldMasterIdLst>
  <p:notesMasterIdLst>
    <p:notesMasterId r:id="rId29"/>
  </p:notesMasterIdLst>
  <p:sldIdLst>
    <p:sldId id="256" r:id="rId2"/>
    <p:sldId id="306" r:id="rId3"/>
    <p:sldId id="258" r:id="rId4"/>
    <p:sldId id="360" r:id="rId5"/>
    <p:sldId id="257" r:id="rId6"/>
    <p:sldId id="259" r:id="rId7"/>
    <p:sldId id="401" r:id="rId8"/>
    <p:sldId id="403" r:id="rId9"/>
    <p:sldId id="351" r:id="rId10"/>
    <p:sldId id="352" r:id="rId11"/>
    <p:sldId id="380" r:id="rId12"/>
    <p:sldId id="353" r:id="rId13"/>
    <p:sldId id="350" r:id="rId14"/>
    <p:sldId id="260" r:id="rId15"/>
    <p:sldId id="389" r:id="rId16"/>
    <p:sldId id="263" r:id="rId17"/>
    <p:sldId id="391" r:id="rId18"/>
    <p:sldId id="393" r:id="rId19"/>
    <p:sldId id="355" r:id="rId20"/>
    <p:sldId id="359" r:id="rId21"/>
    <p:sldId id="358" r:id="rId22"/>
    <p:sldId id="357" r:id="rId23"/>
    <p:sldId id="356" r:id="rId24"/>
    <p:sldId id="266" r:id="rId25"/>
    <p:sldId id="319" r:id="rId26"/>
    <p:sldId id="272" r:id="rId27"/>
    <p:sldId id="400" r:id="rId2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Mule" initials="M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0504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8582" autoAdjust="0"/>
  </p:normalViewPr>
  <p:slideViewPr>
    <p:cSldViewPr>
      <p:cViewPr varScale="1">
        <p:scale>
          <a:sx n="64" d="100"/>
          <a:sy n="64" d="100"/>
        </p:scale>
        <p:origin x="1566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commentAuthors" Target="commentAuthor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6B9CD26-E9FF-4BE3-AECF-2F0DF8DE6F7C}" type="datetimeFigureOut">
              <a:rPr lang="en-US" smtClean="0"/>
              <a:pPr/>
              <a:t>6/19/2026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DFE3395-DD59-4EA6-9915-2E67CE88C3D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46201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FE3395-DD59-4EA6-9915-2E67CE88C3DB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181113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FE3395-DD59-4EA6-9915-2E67CE88C3DB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306977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DFE3395-DD59-4EA6-9915-2E67CE88C3DB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348615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dirty="0">
                <a:latin typeface="Times New Roman" pitchFamily="18" charset="0"/>
                <a:cs typeface="Times New Roman" pitchFamily="18" charset="0"/>
              </a:rPr>
              <a:t>OHCA (Out-of-hospital cardiac arrest)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>
                <a:latin typeface="Times New Roman" pitchFamily="18" charset="0"/>
                <a:cs typeface="Times New Roman" pitchFamily="18" charset="0"/>
              </a:rPr>
              <a:t>IHCA (In-hospital cardiac arrest)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DFE3395-DD59-4EA6-9915-2E67CE88C3DB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159386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DFE3395-DD59-4EA6-9915-2E67CE88C3DB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363341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sz="1800" b="0" i="0" u="none" strike="noStrike" baseline="0" dirty="0">
                <a:solidFill>
                  <a:srgbClr val="000000"/>
                </a:solidFill>
                <a:latin typeface="f1d2bxp1-upq-dzq-2af162z6sr88y"/>
              </a:rPr>
              <a:t>Rates for survival to discharge from in-hospital arrest are about 18% in adults and 27% in children.</a:t>
            </a:r>
            <a:endParaRPr lang="en-US" sz="1800" b="0" i="0" u="none" strike="noStrike" baseline="0" dirty="0">
              <a:solidFill>
                <a:srgbClr val="0000FF"/>
              </a:solidFill>
              <a:latin typeface="f1d2bxp1-upq-dzq-2af162z6sr88y"/>
            </a:endParaRPr>
          </a:p>
          <a:p>
            <a:pPr algn="l"/>
            <a:r>
              <a:rPr lang="en-US" sz="1800" b="0" i="0" u="none" strike="noStrike" baseline="0" dirty="0">
                <a:solidFill>
                  <a:srgbClr val="000000"/>
                </a:solidFill>
                <a:latin typeface="f1d2bxp1-upq-dzq-2af162z6sr88y"/>
              </a:rPr>
              <a:t>Within the hospital, the operating room is the location where CPR has the highest rate of success. </a:t>
            </a:r>
          </a:p>
          <a:p>
            <a:pPr algn="l"/>
            <a:r>
              <a:rPr lang="en-US" sz="1800" b="0" i="0" u="none" strike="noStrike" baseline="0" dirty="0">
                <a:solidFill>
                  <a:srgbClr val="000000"/>
                </a:solidFill>
                <a:latin typeface="f1d2bxp1-upq-dzq-2af162z6sr88y"/>
              </a:rPr>
              <a:t>Cardiac arrest occurs approximately seven times for every 10,000 anesthetics.</a:t>
            </a:r>
            <a:r>
              <a:rPr lang="en-US" sz="1800" b="0" i="0" u="none" strike="noStrike" baseline="0" dirty="0">
                <a:solidFill>
                  <a:srgbClr val="0000FF"/>
                </a:solidFill>
                <a:latin typeface="f1d2bxp1-upq-dzq-2af162z6sr88y"/>
              </a:rPr>
              <a:t> </a:t>
            </a:r>
          </a:p>
          <a:p>
            <a:pPr algn="l"/>
            <a:r>
              <a:rPr lang="en-US" sz="1800" b="0" i="0" u="none" strike="noStrike" baseline="0" dirty="0">
                <a:solidFill>
                  <a:srgbClr val="000000"/>
                </a:solidFill>
                <a:latin typeface="f1d2bxp1-upq-dzq-2af162z6sr88y"/>
              </a:rPr>
              <a:t>The cause for the arrest is anesthesia related approximately 4.5 times for every 10,000 anesthetics, but mortality from these arrests is only</a:t>
            </a:r>
          </a:p>
          <a:p>
            <a:pPr algn="l"/>
            <a:r>
              <a:rPr lang="en-US" sz="1800" b="0" i="0" u="none" strike="noStrike" baseline="0" dirty="0">
                <a:solidFill>
                  <a:srgbClr val="000000"/>
                </a:solidFill>
                <a:latin typeface="f1d2bxp1-upq-dzq-2af162z6sr88y"/>
              </a:rPr>
              <a:t>0.4 per 10,000 anesthetics. Thus, resuscitation is successful approximately 90% of the time in anesthesia-related cardiac arrests.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FE3395-DD59-4EA6-9915-2E67CE88C3DB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901053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FE3395-DD59-4EA6-9915-2E67CE88C3DB}" type="slidenum">
              <a:rPr lang="en-US" smtClean="0"/>
              <a:pPr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464679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FE3395-DD59-4EA6-9915-2E67CE88C3DB}" type="slidenum">
              <a:rPr lang="en-US" smtClean="0"/>
              <a:pPr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732237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DFE3395-DD59-4EA6-9915-2E67CE88C3DB}" type="slidenum">
              <a:rPr lang="en-US" smtClean="0"/>
              <a:pPr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411298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DB8A97-97EF-4688-879B-15866978CF42}" type="datetime4">
              <a:rPr lang="en-US" smtClean="0"/>
              <a:pPr/>
              <a:t>June 19, 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39755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2ED5B6-1467-4D90-AFA3-964332CA33F9}" type="datetime4">
              <a:rPr lang="en-US" smtClean="0"/>
              <a:pPr/>
              <a:t>June 19, 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73936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815A37-74A0-4F07-9924-EF624B48A20A}" type="datetime4">
              <a:rPr lang="en-US" smtClean="0"/>
              <a:pPr/>
              <a:t>June 19, 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96828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B58F5C-CF0C-488A-8549-2F73B5D86E81}" type="datetime4">
              <a:rPr lang="en-US" smtClean="0"/>
              <a:pPr/>
              <a:t>June 19, 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93288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5C2E28-BF7D-4F60-8D73-1A543B56FBEC}" type="datetime4">
              <a:rPr lang="en-US" smtClean="0"/>
              <a:pPr/>
              <a:t>June 19, 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43367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545857-F3CC-49C6-854A-5954C62E97DC}" type="datetime4">
              <a:rPr lang="en-US" smtClean="0"/>
              <a:pPr/>
              <a:t>June 19, 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4913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37D803-35EE-4448-BA20-FA4F94EF80A0}" type="datetime4">
              <a:rPr lang="en-US" smtClean="0"/>
              <a:pPr/>
              <a:t>June 19, 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32582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A54BFA-D664-4D96-9FD4-15B2BF57D9BE}" type="datetime4">
              <a:rPr lang="en-US" smtClean="0"/>
              <a:pPr/>
              <a:t>June 19, 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27162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3063CC-1F00-4F3F-ADC2-98FCDEE25A02}" type="datetime4">
              <a:rPr lang="en-US" smtClean="0"/>
              <a:pPr/>
              <a:t>June 19, 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24827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EE8C87-5AC4-4A6A-9203-689DCBA39292}" type="datetime4">
              <a:rPr lang="en-US" smtClean="0"/>
              <a:pPr/>
              <a:t>June 19, 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34953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EBEEF7-EB22-41D4-873B-74337139DBFE}" type="datetime4">
              <a:rPr lang="en-US" smtClean="0"/>
              <a:pPr/>
              <a:t>June 19, 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43539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28B41C2-8F66-4AAE-B1BA-7AEA0C675B2F}" type="datetime4">
              <a:rPr lang="en-US" smtClean="0"/>
              <a:pPr/>
              <a:t>June 19, 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24876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61" r:id="rId1"/>
    <p:sldLayoutId id="2147483962" r:id="rId2"/>
    <p:sldLayoutId id="2147483963" r:id="rId3"/>
    <p:sldLayoutId id="2147483964" r:id="rId4"/>
    <p:sldLayoutId id="2147483965" r:id="rId5"/>
    <p:sldLayoutId id="2147483966" r:id="rId6"/>
    <p:sldLayoutId id="2147483967" r:id="rId7"/>
    <p:sldLayoutId id="2147483968" r:id="rId8"/>
    <p:sldLayoutId id="2147483969" r:id="rId9"/>
    <p:sldLayoutId id="2147483970" r:id="rId10"/>
    <p:sldLayoutId id="2147483971" r:id="rId11"/>
  </p:sldLayoutIdLst>
  <p:hf hdr="0" ftr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43001"/>
            <a:ext cx="7772400" cy="2457450"/>
          </a:xfrm>
        </p:spPr>
        <p:txBody>
          <a:bodyPr>
            <a:normAutofit/>
          </a:bodyPr>
          <a:lstStyle/>
          <a:p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Cardiopulmonary resuscitation (CPR)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8600" y="3276601"/>
            <a:ext cx="8686800" cy="1828800"/>
          </a:xfrm>
        </p:spPr>
        <p:txBody>
          <a:bodyPr>
            <a:noAutofit/>
          </a:bodyPr>
          <a:lstStyle/>
          <a:p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                           </a:t>
            </a:r>
          </a:p>
          <a:p>
            <a:pPr algn="l"/>
            <a:r>
              <a:rPr lang="en-US" sz="2500" dirty="0">
                <a:latin typeface="Arial" panose="020B0604020202020204" pitchFamily="34" charset="0"/>
                <a:cs typeface="Arial" panose="020B0604020202020204" pitchFamily="34" charset="0"/>
              </a:rPr>
              <a:t>Mulualem Sitot (BSc, MSc in Anesthesia)</a:t>
            </a:r>
          </a:p>
          <a:p>
            <a:r>
              <a:rPr lang="en-US" sz="2500" dirty="0">
                <a:latin typeface="Arial" panose="020B0604020202020204" pitchFamily="34" charset="0"/>
                <a:cs typeface="Arial" panose="020B0604020202020204" pitchFamily="34" charset="0"/>
              </a:rPr>
              <a:t>Assistant professor, Department of Anesthesia</a:t>
            </a:r>
          </a:p>
          <a:p>
            <a:r>
              <a:rPr lang="en-US" sz="2500" dirty="0">
                <a:latin typeface="Arial" panose="020B0604020202020204" pitchFamily="34" charset="0"/>
                <a:cs typeface="Arial" panose="020B0604020202020204" pitchFamily="34" charset="0"/>
              </a:rPr>
              <a:t>                         Addis Ababa University</a:t>
            </a:r>
          </a:p>
          <a:p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096000"/>
            <a:ext cx="3124200" cy="625475"/>
          </a:xfrm>
        </p:spPr>
        <p:txBody>
          <a:bodyPr/>
          <a:lstStyle/>
          <a:p>
            <a:fld id="{93A8EA51-C5E0-4E9A-8EA3-6EC7CFDF12F0}" type="datetime4">
              <a:rPr lang="en-US" sz="1600" smtClean="0">
                <a:latin typeface="Arial" panose="020B0604020202020204" pitchFamily="34" charset="0"/>
                <a:cs typeface="Arial" panose="020B0604020202020204" pitchFamily="34" charset="0"/>
              </a:rPr>
              <a:pPr/>
              <a:t>June 19, 2026</a:t>
            </a:fld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</a:t>
            </a:fld>
            <a:endParaRPr lang="en-US" dirty="0"/>
          </a:p>
        </p:txBody>
      </p:sp>
      <p:pic>
        <p:nvPicPr>
          <p:cNvPr id="6" name="Image1"/>
          <p:cNvPicPr/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40890" y="136525"/>
            <a:ext cx="1915160" cy="164782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Outline of the presentation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600" dirty="0">
                <a:latin typeface="Arial" panose="020B0604020202020204" pitchFamily="34" charset="0"/>
                <a:cs typeface="Arial" panose="020B0604020202020204" pitchFamily="34" charset="0"/>
              </a:rPr>
              <a:t>Definition</a:t>
            </a:r>
          </a:p>
          <a:p>
            <a:r>
              <a:rPr lang="en-US" sz="2600" dirty="0">
                <a:latin typeface="Arial" panose="020B0604020202020204" pitchFamily="34" charset="0"/>
                <a:cs typeface="Arial" panose="020B0604020202020204" pitchFamily="34" charset="0"/>
              </a:rPr>
              <a:t>Introduction</a:t>
            </a:r>
          </a:p>
          <a:p>
            <a:r>
              <a:rPr lang="en-US" sz="2600" dirty="0">
                <a:latin typeface="Arial" panose="020B0604020202020204" pitchFamily="34" charset="0"/>
                <a:cs typeface="Arial" panose="020B0604020202020204" pitchFamily="34" charset="0"/>
              </a:rPr>
              <a:t>Incidence of CA </a:t>
            </a:r>
          </a:p>
          <a:p>
            <a:r>
              <a:rPr lang="en-US" sz="2600" dirty="0">
                <a:latin typeface="Arial" panose="020B0604020202020204" pitchFamily="34" charset="0"/>
                <a:cs typeface="Arial" panose="020B0604020202020204" pitchFamily="34" charset="0"/>
              </a:rPr>
              <a:t>Reversible causes of CA</a:t>
            </a:r>
          </a:p>
          <a:p>
            <a:r>
              <a:rPr lang="en-US" sz="2600" dirty="0">
                <a:latin typeface="Arial" panose="020B0604020202020204" pitchFamily="34" charset="0"/>
                <a:cs typeface="Arial" panose="020B0604020202020204" pitchFamily="34" charset="0"/>
              </a:rPr>
              <a:t>Causes of ICU-CA</a:t>
            </a:r>
          </a:p>
          <a:p>
            <a:r>
              <a:rPr lang="en-US" sz="2600" dirty="0">
                <a:latin typeface="Arial" panose="020B0604020202020204" pitchFamily="34" charset="0"/>
                <a:cs typeface="Arial" panose="020B0604020202020204" pitchFamily="34" charset="0"/>
              </a:rPr>
              <a:t>Signs of cardiac arrest</a:t>
            </a:r>
          </a:p>
          <a:p>
            <a:r>
              <a:rPr lang="en-US" sz="2600" dirty="0">
                <a:latin typeface="Arial" panose="020B0604020202020204" pitchFamily="34" charset="0"/>
                <a:cs typeface="Arial" panose="020B0604020202020204" pitchFamily="34" charset="0"/>
              </a:rPr>
              <a:t>Components of resuscitation from CA</a:t>
            </a:r>
          </a:p>
          <a:p>
            <a:r>
              <a:rPr lang="en-US" sz="2600" dirty="0">
                <a:latin typeface="Arial" panose="020B0604020202020204" pitchFamily="34" charset="0"/>
                <a:cs typeface="Arial" panose="020B0604020202020204" pitchFamily="34" charset="0"/>
              </a:rPr>
              <a:t>Summary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81DE26-14CC-432E-AD37-E5A3E8B6C382}" type="datetime4"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pPr/>
              <a:t>June 19, 2026</a:t>
            </a:fld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pPr/>
              <a:t>2</a:t>
            </a:fld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Definition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447800"/>
            <a:ext cx="8610600" cy="5029200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en-GB" sz="2400" b="1" dirty="0">
                <a:latin typeface="Arial" panose="020B0604020202020204" pitchFamily="34" charset="0"/>
                <a:cs typeface="Arial" panose="020B0604020202020204" pitchFamily="34" charset="0"/>
              </a:rPr>
              <a:t>Cardiopulmonary resuscitation (CPR)  </a:t>
            </a:r>
          </a:p>
          <a:p>
            <a:pPr lvl="1" algn="just"/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It is a series of life saving actions that improve the chance of survival following cardiac arrest.</a:t>
            </a:r>
          </a:p>
          <a:p>
            <a:pPr lvl="1" algn="just"/>
            <a:endParaRPr lang="en-GB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 algn="just"/>
            <a:r>
              <a:rPr lang="en-US" sz="2300" dirty="0">
                <a:latin typeface="Arial" panose="020B0604020202020204" pitchFamily="34" charset="0"/>
                <a:cs typeface="Arial" panose="020B0604020202020204" pitchFamily="34" charset="0"/>
              </a:rPr>
              <a:t>It is an emergency operation which is sought in an effort to return life to a person in cardio-respiratory arrest </a:t>
            </a:r>
            <a:r>
              <a:rPr lang="en-US" sz="23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(Travers et al., 2010</a:t>
            </a:r>
            <a:r>
              <a:rPr lang="en-US" sz="2300" u="sng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pPr lvl="1" algn="just"/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 algn="just"/>
            <a:r>
              <a:rPr lang="en-US" sz="2400" dirty="0">
                <a:latin typeface="Arial" panose="020B0604020202020204" pitchFamily="34" charset="0"/>
                <a:ea typeface="Times New Roman"/>
                <a:cs typeface="Arial" panose="020B0604020202020204" pitchFamily="34" charset="0"/>
              </a:rPr>
              <a:t>It should be started as soon as possible and interrupted as little as possible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lnSpc>
                <a:spcPct val="150000"/>
              </a:lnSpc>
            </a:pPr>
            <a:endParaRPr 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September 24, 2020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pPr/>
              <a:t>3</a:t>
            </a:fld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 err="1">
                <a:latin typeface="Arial" panose="020B0604020202020204" pitchFamily="34" charset="0"/>
                <a:cs typeface="Arial" panose="020B0604020202020204" pitchFamily="34" charset="0"/>
              </a:rPr>
              <a:t>Cont</a:t>
            </a:r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…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1" y="1371600"/>
            <a:ext cx="8458200" cy="4754563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Cardiac Arrest (circulatory Arrest)</a:t>
            </a:r>
          </a:p>
          <a:p>
            <a:pPr lvl="1"/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 is  a sudden cessation of cardiac mechanical activity, rendering the victim unresponsive without signs of circulation and breathing. </a:t>
            </a:r>
            <a:b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 algn="just"/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cessation of functional circulation of the blood due to failure of the heart to contract effectively.</a:t>
            </a:r>
          </a:p>
          <a:p>
            <a:pPr algn="just">
              <a:lnSpc>
                <a:spcPct val="150000"/>
              </a:lnSpc>
              <a:buNone/>
            </a:pP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2ED5B6-1467-4D90-AFA3-964332CA33F9}" type="datetime4"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pPr/>
              <a:t>June 19, 2026</a:t>
            </a:fld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pPr/>
              <a:t>4</a:t>
            </a:fld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129133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68362"/>
          </a:xfrm>
        </p:spPr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71600"/>
            <a:ext cx="7772400" cy="4602163"/>
          </a:xfrm>
        </p:spPr>
        <p:txBody>
          <a:bodyPr>
            <a:normAutofit/>
          </a:bodyPr>
          <a:lstStyle/>
          <a:p>
            <a:pPr algn="just"/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Despite advances in technology, sudden cardiac arrest (SCA) continues to be a leading cause of death in many parts of the world.</a:t>
            </a:r>
          </a:p>
          <a:p>
            <a:pPr algn="just"/>
            <a:endParaRPr lang="en-US" sz="2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This heterogeneity suggests that a single approach to resuscitation is not practical.</a:t>
            </a:r>
          </a:p>
          <a:p>
            <a:pPr algn="just"/>
            <a:endParaRPr lang="en-US" sz="2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 But, a core set of actions provides a universal strategy for achieving successful resuscitation.</a:t>
            </a:r>
          </a:p>
          <a:p>
            <a:pPr lvl="2" algn="just">
              <a:buNone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      • Termed as “chain of survival”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84C674-007D-4A6D-8FBB-20DE802C2990}" type="datetime4"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pPr/>
              <a:t>June 19, 2026</a:t>
            </a:fld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pPr/>
              <a:t>5</a:t>
            </a:fld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8229600" cy="533400"/>
          </a:xfrm>
        </p:spPr>
        <p:txBody>
          <a:bodyPr>
            <a:noAutofit/>
          </a:bodyPr>
          <a:lstStyle/>
          <a:p>
            <a:r>
              <a:rPr lang="en-US" sz="4000" b="1" dirty="0">
                <a:latin typeface="Arial" panose="020B0604020202020204" pitchFamily="34" charset="0"/>
                <a:cs typeface="Arial" panose="020B0604020202020204" pitchFamily="34" charset="0"/>
              </a:rPr>
              <a:t>Chain of survival 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71600"/>
            <a:ext cx="8382000" cy="5181600"/>
          </a:xfrm>
        </p:spPr>
        <p:txBody>
          <a:bodyPr>
            <a:normAutofit fontScale="92500" lnSpcReduction="20000"/>
          </a:bodyPr>
          <a:lstStyle/>
          <a:p>
            <a:pPr>
              <a:buNone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None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None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None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None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None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None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None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None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buFont typeface="Wingdings" pitchFamily="2" charset="2"/>
              <a:buChar char="ü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Therefore, early recognition and treatment of deteriorating  patients is the key to preventing deaths and also in identifying patients in whom CPR is not appropriate.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E9957-5F28-4525-8347-975633DED2F7}" type="datetime4">
              <a:rPr lang="en-US" smtClean="0"/>
              <a:pPr/>
              <a:t>June 19, 2026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6</a:t>
            </a:fld>
            <a:endParaRPr lang="en-US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4825" y="1219200"/>
            <a:ext cx="8134350" cy="38385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DFF5FF-95DA-90AB-7B30-8544C730DE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Chain of survival 2025 AHA updated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1C60D1-E7C3-5BBC-E99C-31135800D4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8458200" cy="4525963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sz="2600" b="1" dirty="0">
                <a:latin typeface="Arial" panose="020B0604020202020204" pitchFamily="34" charset="0"/>
                <a:cs typeface="Arial" panose="020B0604020202020204" pitchFamily="34" charset="0"/>
              </a:rPr>
              <a:t>Summary of Key Issues and Major Changes</a:t>
            </a:r>
          </a:p>
          <a:p>
            <a:pPr algn="just"/>
            <a:r>
              <a:rPr lang="en-US" sz="2600" b="1" dirty="0">
                <a:latin typeface="Arial" panose="020B0604020202020204" pitchFamily="34" charset="0"/>
                <a:cs typeface="Arial" panose="020B0604020202020204" pitchFamily="34" charset="0"/>
              </a:rPr>
              <a:t>Universal chain of survival</a:t>
            </a:r>
          </a:p>
          <a:p>
            <a:pPr lvl="1" algn="just"/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A single Chain of Survival is used  across adult and pediatric in hospital cardiac arrest (IHCA) and out-of-hospital cardiac arrest (OHCA).</a:t>
            </a:r>
          </a:p>
          <a:p>
            <a:pPr lvl="1" algn="just"/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 algn="just"/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In creating this singular chain, it is acknowledged that</a:t>
            </a:r>
          </a:p>
          <a:p>
            <a:pPr lvl="2" algn="just"/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 before cardiac arrest, prevention and preparedness can both avoid the need for and optimize resuscitation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4F6304-33D9-901C-58C8-050B168984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2ED5B6-1467-4D90-AFA3-964332CA33F9}" type="datetime4"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pPr/>
              <a:t>June 19, 2026</a:t>
            </a:fld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F28C71B-CC50-2EE0-CE76-A97925CB4F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pPr/>
              <a:t>7</a:t>
            </a:fld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560109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437DB0-06C2-DD5D-0877-FEED99F667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Single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b="1" i="1" dirty="0">
                <a:latin typeface="Arial" panose="020B0604020202020204" pitchFamily="34" charset="0"/>
                <a:cs typeface="Arial" panose="020B0604020202020204" pitchFamily="34" charset="0"/>
              </a:rPr>
              <a:t>Chain of survival (IHCA and OHCA)</a:t>
            </a:r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076DE32A-E495-17DA-C2D3-8B9CC381784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7200" y="1600201"/>
            <a:ext cx="8229600" cy="3200400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8C7A51-EB57-DC10-2301-A52B1F89A3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2ED5B6-1467-4D90-AFA3-964332CA33F9}" type="datetime4">
              <a:rPr lang="en-US" smtClean="0"/>
              <a:pPr/>
              <a:t>June 19, 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A42361E-566B-EC73-82DF-B9B77A8EE9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7783EE8-7D30-3F42-50AE-830B4DDB1227}"/>
              </a:ext>
            </a:extLst>
          </p:cNvPr>
          <p:cNvSpPr/>
          <p:nvPr/>
        </p:nvSpPr>
        <p:spPr>
          <a:xfrm>
            <a:off x="2057400" y="6280666"/>
            <a:ext cx="5899692" cy="369332"/>
          </a:xfrm>
          <a:prstGeom prst="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r>
              <a:rPr lang="en-US" dirty="0"/>
              <a:t>Updated 2025 American Heart Association recommendation</a:t>
            </a:r>
          </a:p>
        </p:txBody>
      </p:sp>
    </p:spTree>
    <p:extLst>
      <p:ext uri="{BB962C8B-B14F-4D97-AF65-F5344CB8AC3E}">
        <p14:creationId xmlns:p14="http://schemas.microsoft.com/office/powerpoint/2010/main" val="23936865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i="1" dirty="0">
                <a:latin typeface="Times New Roman" pitchFamily="18" charset="0"/>
                <a:cs typeface="Times New Roman" pitchFamily="18" charset="0"/>
              </a:rPr>
              <a:t>Old Chain of survival 2020 AHA</a:t>
            </a:r>
            <a:r>
              <a:rPr lang="en-US" sz="3600" dirty="0">
                <a:latin typeface="Times New Roman" pitchFamily="18" charset="0"/>
                <a:cs typeface="Times New Roman" pitchFamily="18" charset="0"/>
              </a:rPr>
              <a:t>…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2ED5B6-1467-4D90-AFA3-964332CA33F9}" type="datetime4">
              <a:rPr lang="en-US" smtClean="0"/>
              <a:pPr/>
              <a:t>June 19, 2026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9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057400" y="6280666"/>
            <a:ext cx="5120441" cy="369332"/>
          </a:xfrm>
          <a:prstGeom prst="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r>
              <a:rPr lang="en-US" dirty="0"/>
              <a:t>2020 American Heart Association recommendation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IHCA for adults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2600324"/>
            <a:ext cx="8534400" cy="26574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7176702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i="1" dirty="0">
                <a:latin typeface="Times New Roman" pitchFamily="18" charset="0"/>
                <a:cs typeface="Times New Roman" pitchFamily="18" charset="0"/>
              </a:rPr>
              <a:t>Chain of survival </a:t>
            </a:r>
            <a:r>
              <a:rPr lang="en-US" sz="3600" dirty="0">
                <a:latin typeface="Times New Roman" pitchFamily="18" charset="0"/>
                <a:cs typeface="Times New Roman" pitchFamily="18" charset="0"/>
              </a:rPr>
              <a:t>…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Aatrix OCRB" pitchFamily="33" charset="0"/>
              </a:rPr>
              <a:t>OHCA for adults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2ED5B6-1467-4D90-AFA3-964332CA33F9}" type="datetime4">
              <a:rPr lang="en-US" smtClean="0"/>
              <a:pPr/>
              <a:t>June 19, 2026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3216572" y="6280666"/>
            <a:ext cx="2646045" cy="369332"/>
          </a:xfrm>
          <a:prstGeom prst="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r>
              <a:rPr lang="en-US" dirty="0"/>
              <a:t>American Heart </a:t>
            </a:r>
            <a:r>
              <a:rPr lang="en-US" dirty="0" err="1"/>
              <a:t>ssociation</a:t>
            </a:r>
            <a:endParaRPr lang="en-US" dirty="0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2209800"/>
            <a:ext cx="8153400" cy="2819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0" name="Rectangle 9"/>
          <p:cNvSpPr/>
          <p:nvPr/>
        </p:nvSpPr>
        <p:spPr>
          <a:xfrm>
            <a:off x="2057400" y="6280666"/>
            <a:ext cx="4972964" cy="369332"/>
          </a:xfrm>
          <a:prstGeom prst="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r>
              <a:rPr lang="en-US" dirty="0"/>
              <a:t>2020 American Heart Association recommendation</a:t>
            </a:r>
          </a:p>
        </p:txBody>
      </p:sp>
    </p:spTree>
    <p:extLst>
      <p:ext uri="{BB962C8B-B14F-4D97-AF65-F5344CB8AC3E}">
        <p14:creationId xmlns:p14="http://schemas.microsoft.com/office/powerpoint/2010/main" val="165170642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i="1" dirty="0">
                <a:latin typeface="Arial" panose="020B0604020202020204" pitchFamily="34" charset="0"/>
                <a:cs typeface="Arial" panose="020B0604020202020204" pitchFamily="34" charset="0"/>
              </a:rPr>
              <a:t>Chain of survival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…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0500" y="1600200"/>
            <a:ext cx="8115300" cy="4525963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q"/>
            </a:pPr>
            <a:r>
              <a:rPr lang="en-US" sz="28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Recovery and survivorship:</a:t>
            </a:r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After discharge from the hospital, cardiac arrest survivors can have </a:t>
            </a:r>
          </a:p>
          <a:p>
            <a:pPr lvl="1"/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physical, cognitive, and emotional challenges and may need ongoing therapies and interventions </a:t>
            </a:r>
            <a:b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2ED5B6-1467-4D90-AFA3-964332CA33F9}" type="datetime4"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pPr/>
              <a:t>June 19, 2026</a:t>
            </a:fld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pPr/>
              <a:t>11</a:t>
            </a:fld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5970801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Cont…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219200"/>
            <a:ext cx="8610600" cy="4906963"/>
          </a:xfrm>
        </p:spPr>
        <p:txBody>
          <a:bodyPr>
            <a:normAutofit lnSpcReduction="10000"/>
          </a:bodyPr>
          <a:lstStyle/>
          <a:p>
            <a:pPr>
              <a:buFont typeface="Wingdings" pitchFamily="2" charset="2"/>
              <a:buChar char="q"/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Difference b/n OHCA VS.IHCA</a:t>
            </a:r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OHCA is usually considered separately from IHCA as there are </a:t>
            </a:r>
          </a:p>
          <a:p>
            <a:pPr lvl="1"/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clinically important differences in population,</a:t>
            </a:r>
            <a:b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medical response and outcome.</a:t>
            </a:r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Further, as a consequence of </a:t>
            </a:r>
          </a:p>
          <a:p>
            <a:pPr lvl="1"/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continuous monitoring, </a:t>
            </a:r>
          </a:p>
          <a:p>
            <a:pPr lvl="1"/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higher nurse and doctor staffing and supportive therapies, </a:t>
            </a:r>
          </a:p>
          <a:p>
            <a:pPr lvl="1"/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the medical response is also necessarily different to that on the ward.</a:t>
            </a:r>
            <a:b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2ED5B6-1467-4D90-AFA3-964332CA33F9}" type="datetime4"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pPr/>
              <a:t>June 19, 2026</a:t>
            </a:fld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pPr/>
              <a:t>12</a:t>
            </a:fld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7080153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Incidence of CA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458200" cy="4724400"/>
          </a:xfrm>
        </p:spPr>
        <p:txBody>
          <a:bodyPr>
            <a:normAutofit/>
          </a:bodyPr>
          <a:lstStyle/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The incidence of  ICU-CA has not been widely reported. </a:t>
            </a:r>
          </a:p>
          <a:p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The true incidence and outcome of CA within ICU is unknown. </a:t>
            </a:r>
          </a:p>
          <a:p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The reported incidence of cardiac arrest in the ICU </a:t>
            </a:r>
          </a:p>
          <a:p>
            <a:pPr lvl="1"/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In a systematic review,  5.6 to 78.1 cardiac arrests per 1000 ICU admissions (</a:t>
            </a:r>
            <a:r>
              <a:rPr lang="en-US" sz="2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Efendijev  et al. 2014)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5 to 78 per 1000 admissions  (</a:t>
            </a:r>
            <a:r>
              <a:rPr lang="en-US" sz="2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Richard A Armstrong et.al; 2019: systemic meta-analysis). </a:t>
            </a:r>
          </a:p>
          <a:p>
            <a:pPr marL="0" indent="0">
              <a:buNone/>
            </a:pPr>
            <a:endParaRPr lang="en-US" sz="24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2ED5B6-1467-4D90-AFA3-964332CA33F9}" type="datetime4"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pPr/>
              <a:t>June 19, 2026</a:t>
            </a:fld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pPr/>
              <a:t>13</a:t>
            </a:fld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8455603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cs typeface="Times New Roman" pitchFamily="18" charset="0"/>
              </a:rPr>
              <a:t>Cont…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371600"/>
            <a:ext cx="8534400" cy="5029200"/>
          </a:xfrm>
        </p:spPr>
        <p:txBody>
          <a:bodyPr>
            <a:noAutofit/>
          </a:bodyPr>
          <a:lstStyle/>
          <a:p>
            <a:pPr algn="just"/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Anesthetists face cardiac arrest patients in day-to-day activities in the OR and outside the OR </a:t>
            </a:r>
          </a:p>
          <a:p>
            <a:pPr algn="just"/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Regular assessment of simple vital signs are essential </a:t>
            </a:r>
          </a:p>
          <a:p>
            <a:pPr lvl="1" algn="just"/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in recognizing critical illness and helping to predict cardio respiratory arrest</a:t>
            </a:r>
          </a:p>
          <a:p>
            <a:pPr algn="just">
              <a:buFont typeface="Wingdings" pitchFamily="2" charset="2"/>
              <a:buChar char="§"/>
            </a:pPr>
            <a:r>
              <a:rPr lang="en-US" sz="2200" dirty="0">
                <a:latin typeface="Arial" panose="020B0604020202020204" pitchFamily="34" charset="0"/>
                <a:ea typeface="Times New Roman"/>
                <a:cs typeface="Arial" panose="020B0604020202020204" pitchFamily="34" charset="0"/>
              </a:rPr>
              <a:t>Patients in the ICU and OR are monitored extensively and, as a consequence, there should be no delay in diagnosing a CA</a:t>
            </a:r>
          </a:p>
          <a:p>
            <a:pPr lvl="0" algn="just">
              <a:buSzPct val="95000"/>
              <a:buFont typeface="Wingdings" pitchFamily="2" charset="2"/>
              <a:buChar char="§"/>
            </a:pPr>
            <a:endParaRPr lang="en-US" sz="2400" dirty="0">
              <a:solidFill>
                <a:prstClr val="black"/>
              </a:solidFill>
              <a:latin typeface="Arial" panose="020B0604020202020204" pitchFamily="34" charset="0"/>
              <a:ea typeface="Times New Roman"/>
              <a:cs typeface="Arial" panose="020B0604020202020204" pitchFamily="34" charset="0"/>
            </a:endParaRPr>
          </a:p>
          <a:p>
            <a:pPr lvl="0" algn="just">
              <a:buSzPct val="95000"/>
              <a:buFont typeface="Wingdings" pitchFamily="2" charset="2"/>
              <a:buChar char="§"/>
            </a:pPr>
            <a:r>
              <a:rPr lang="en-US" sz="2200" dirty="0">
                <a:solidFill>
                  <a:prstClr val="black"/>
                </a:solidFill>
                <a:latin typeface="Arial" panose="020B0604020202020204" pitchFamily="34" charset="0"/>
                <a:ea typeface="Times New Roman"/>
                <a:cs typeface="Arial" panose="020B0604020202020204" pitchFamily="34" charset="0"/>
              </a:rPr>
              <a:t>Effective monitoring and correction of physiological variables is the key in the prevention and treatment</a:t>
            </a:r>
            <a:endParaRPr lang="en-US" sz="220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spcAft>
                <a:spcPts val="0"/>
              </a:spcAft>
              <a:buFont typeface="Wingdings" pitchFamily="2" charset="2"/>
              <a:buChar char="§"/>
            </a:pPr>
            <a:endParaRPr lang="en-US" sz="2400" dirty="0">
              <a:latin typeface="Arial" panose="020B0604020202020204" pitchFamily="34" charset="0"/>
              <a:ea typeface="Times New Roman"/>
              <a:cs typeface="Arial" panose="020B0604020202020204" pitchFamily="34" charset="0"/>
            </a:endParaRPr>
          </a:p>
          <a:p>
            <a:pPr algn="just"/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8C5982-4D6E-49B6-BAA9-6F248FA60851}" type="datetime4">
              <a:rPr lang="en-US" smtClean="0">
                <a:latin typeface="+mj-lt"/>
              </a:rPr>
              <a:pPr/>
              <a:t>June 19, 2026</a:t>
            </a:fld>
            <a:endParaRPr lang="en-US">
              <a:latin typeface="+mj-lt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latin typeface="+mj-lt"/>
              </a:rPr>
              <a:pPr/>
              <a:t>14</a:t>
            </a:fld>
            <a:endParaRPr lang="en-US">
              <a:latin typeface="+mj-lt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72292D-9075-463F-9EA7-C4A47164E4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200" b="1" i="0" u="none" strike="noStrike" baseline="0" dirty="0">
                <a:solidFill>
                  <a:srgbClr val="4F82B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Reversible causes of cardiac arrest</a:t>
            </a:r>
            <a:br>
              <a:rPr lang="en-US" sz="3200" b="1" i="0" u="none" strike="noStrike" baseline="0" dirty="0">
                <a:solidFill>
                  <a:srgbClr val="4F82BE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US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480312-907B-4EA8-B8EA-9FB3A157BB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143000"/>
            <a:ext cx="8229600" cy="5033963"/>
          </a:xfrm>
        </p:spPr>
        <p:txBody>
          <a:bodyPr/>
          <a:lstStyle/>
          <a:p>
            <a:pPr algn="l"/>
            <a:r>
              <a:rPr lang="en-US" sz="2200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Potential causes for which specific treatment exists must be considered during </a:t>
            </a:r>
            <a:r>
              <a:rPr lang="en-US" sz="22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</a:t>
            </a:r>
            <a:r>
              <a:rPr lang="en-US" sz="2200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algn="l"/>
            <a:r>
              <a:rPr lang="en-US" sz="2200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For ease of memory, these are divided into two: </a:t>
            </a:r>
            <a:r>
              <a:rPr lang="en-US" sz="2200" b="1" dirty="0">
                <a:latin typeface="Arial" panose="020B0604020202020204" pitchFamily="34" charset="0"/>
                <a:cs typeface="Arial" panose="020B0604020202020204" pitchFamily="34" charset="0"/>
              </a:rPr>
              <a:t>H’s and T’s</a:t>
            </a:r>
          </a:p>
          <a:p>
            <a:pPr algn="l"/>
            <a:endParaRPr lang="en-US" sz="1800" b="0" i="0" u="none" strike="noStrike" baseline="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endParaRPr lang="en-US" sz="1800" b="0" i="0" u="none" strike="noStrike" baseline="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060EDF-CF78-4904-A631-C405F015D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9BD7B7-8938-48D3-8B58-8CF5531A1205}" type="datetime4"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t>June 19, 2026</a:t>
            </a:fld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68C0F2A-00EE-4536-B470-22D276B373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pPr/>
              <a:t>15</a:t>
            </a:fld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16" name="Table 16">
            <a:extLst>
              <a:ext uri="{FF2B5EF4-FFF2-40B4-BE49-F238E27FC236}">
                <a16:creationId xmlns:a16="http://schemas.microsoft.com/office/drawing/2014/main" id="{17645E9B-2411-457D-9696-F72EC73D0F4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9622771"/>
              </p:ext>
            </p:extLst>
          </p:nvPr>
        </p:nvGraphicFramePr>
        <p:xfrm>
          <a:off x="990601" y="2372670"/>
          <a:ext cx="7391399" cy="3983680"/>
        </p:xfrm>
        <a:graphic>
          <a:graphicData uri="http://schemas.openxmlformats.org/drawingml/2006/table">
            <a:tbl>
              <a:tblPr firstRow="1" bandRow="1">
                <a:tableStyleId>{8799B23B-EC83-4686-B30A-512413B5E67A}</a:tableStyleId>
              </a:tblPr>
              <a:tblGrid>
                <a:gridCol w="3389987">
                  <a:extLst>
                    <a:ext uri="{9D8B030D-6E8A-4147-A177-3AD203B41FA5}">
                      <a16:colId xmlns:a16="http://schemas.microsoft.com/office/drawing/2014/main" val="2787542793"/>
                    </a:ext>
                  </a:extLst>
                </a:gridCol>
                <a:gridCol w="4001412">
                  <a:extLst>
                    <a:ext uri="{9D8B030D-6E8A-4147-A177-3AD203B41FA5}">
                      <a16:colId xmlns:a16="http://schemas.microsoft.com/office/drawing/2014/main" val="2021344195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r>
                        <a:rPr lang="en-US" sz="2400" b="1" i="0" u="none" strike="noStrike" kern="1200" baseline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‘H’s </a:t>
                      </a:r>
                      <a:endParaRPr lang="en-US" sz="2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b="1" i="0" u="none" strike="noStrike" kern="1200" baseline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‘T’s</a:t>
                      </a:r>
                      <a:endParaRPr lang="en-US" sz="2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79651248"/>
                  </a:ext>
                </a:extLst>
              </a:tr>
              <a:tr h="741490">
                <a:tc>
                  <a:txBody>
                    <a:bodyPr/>
                    <a:lstStyle/>
                    <a:p>
                      <a:r>
                        <a:rPr lang="en-US" sz="1800" b="0" i="0" u="none" strike="noStrike" kern="1200" baseline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Hypoxia</a:t>
                      </a:r>
                      <a:endParaRPr lang="en-US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u="none" strike="noStrike" kern="1200" baseline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Thrombosis- pulmonary embolism or cardiac thrombosis</a:t>
                      </a:r>
                      <a:endParaRPr lang="en-US" b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98985464"/>
                  </a:ext>
                </a:extLst>
              </a:tr>
              <a:tr h="489020">
                <a:tc>
                  <a:txBody>
                    <a:bodyPr/>
                    <a:lstStyle/>
                    <a:p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Hydrogen ion (Acidosis)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b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59875777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en-US" sz="1800" b="1" i="0" u="none" strike="noStrike" kern="1200" baseline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  <a:p>
                      <a:r>
                        <a:rPr lang="en-US" sz="1800" b="0" i="0" u="none" strike="noStrike" kern="1200" baseline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Hypovolemia</a:t>
                      </a:r>
                    </a:p>
                    <a:p>
                      <a:endParaRPr lang="en-US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u="none" strike="noStrike" kern="1200" baseline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Tension pneumothorax</a:t>
                      </a:r>
                      <a:endParaRPr lang="en-US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78180619"/>
                  </a:ext>
                </a:extLst>
              </a:tr>
              <a:tr h="565220">
                <a:tc>
                  <a:txBody>
                    <a:bodyPr/>
                    <a:lstStyle/>
                    <a:p>
                      <a:r>
                        <a:rPr lang="en-US" sz="1800" b="0" i="0" u="none" strike="noStrike" kern="1200" baseline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Hypokalemia / hyperkalemia </a:t>
                      </a:r>
                      <a:endParaRPr lang="en-US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i="0" u="none" strike="noStrike" kern="1200" baseline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Toxins/drugs</a:t>
                      </a:r>
                    </a:p>
                    <a:p>
                      <a:endParaRPr lang="en-US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77362122"/>
                  </a:ext>
                </a:extLst>
              </a:tr>
              <a:tr h="741490">
                <a:tc>
                  <a:txBody>
                    <a:bodyPr/>
                    <a:lstStyle/>
                    <a:p>
                      <a:r>
                        <a:rPr lang="en-US" sz="1800" b="0" i="0" u="none" strike="noStrike" kern="1200" baseline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Hypothermia</a:t>
                      </a:r>
                      <a:endParaRPr lang="en-US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u="none" strike="noStrike" kern="1200" baseline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Tamponade-cardiac</a:t>
                      </a:r>
                      <a:endParaRPr lang="en-US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4336004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33383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i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Group discussion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458200" cy="4525963"/>
          </a:xfrm>
        </p:spPr>
        <p:txBody>
          <a:bodyPr>
            <a:normAutofit/>
          </a:bodyPr>
          <a:lstStyle/>
          <a:p>
            <a:pPr>
              <a:buFont typeface="Symbol" pitchFamily="18" charset="2"/>
              <a:buChar char="§"/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 in a group of  2 </a:t>
            </a:r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Wingdings" pitchFamily="2" charset="2"/>
              <a:buChar char="Ø"/>
            </a:pPr>
            <a:r>
              <a:rPr lang="en-US" sz="28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Time allowed – </a:t>
            </a:r>
          </a:p>
          <a:p>
            <a:pPr>
              <a:buClr>
                <a:srgbClr val="FF0000"/>
              </a:buClr>
              <a:buFont typeface="Symbol" pitchFamily="18" charset="2"/>
              <a:buChar char="§"/>
            </a:pPr>
            <a:r>
              <a:rPr lang="en-US" sz="28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5 minutes for discussion &amp; 3 minutes for reflection</a:t>
            </a:r>
          </a:p>
          <a:p>
            <a:pPr>
              <a:buClr>
                <a:srgbClr val="FF0000"/>
              </a:buClr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Discuss on given part (</a:t>
            </a:r>
            <a:r>
              <a:rPr lang="en-US" sz="2800" b="1" i="0" u="none" strike="noStrike" kern="1200" baseline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‘H’s  or  ‘T’s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b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– What are the predisposing factors to each reversible causes?</a:t>
            </a:r>
          </a:p>
          <a:p>
            <a:pPr marL="0" indent="0">
              <a:buClr>
                <a:srgbClr val="FF0000"/>
              </a:buClr>
              <a:buNone/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- How can you assess it?</a:t>
            </a:r>
            <a:b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– What interventions (management) can be taken? </a:t>
            </a:r>
            <a:b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9DEE8B-A8D6-4B0D-B0EA-6BAF29D926F6}" type="datetime4"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t>June 19, 2026</a:t>
            </a:fld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pPr/>
              <a:t>16</a:t>
            </a:fld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7911904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C74631-EA43-4BE3-AE6F-3A43FB7B7C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381000"/>
            <a:ext cx="8077200" cy="726393"/>
          </a:xfrm>
        </p:spPr>
        <p:txBody>
          <a:bodyPr>
            <a:noAutofit/>
          </a:bodyPr>
          <a:lstStyle/>
          <a:p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b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Predisposing factors  and management to the </a:t>
            </a:r>
            <a:r>
              <a:rPr lang="en-US" sz="2400" b="1" i="0" u="none" strike="noStrike" kern="1200" baseline="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‘H’s </a:t>
            </a:r>
            <a:b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US" sz="3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7" name="Table 7">
            <a:extLst>
              <a:ext uri="{FF2B5EF4-FFF2-40B4-BE49-F238E27FC236}">
                <a16:creationId xmlns:a16="http://schemas.microsoft.com/office/drawing/2014/main" id="{8C9C2D8C-6049-4A9B-ACC9-5F6513E8A5A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58089006"/>
              </p:ext>
            </p:extLst>
          </p:nvPr>
        </p:nvGraphicFramePr>
        <p:xfrm>
          <a:off x="381000" y="990600"/>
          <a:ext cx="8381999" cy="5490027"/>
        </p:xfrm>
        <a:graphic>
          <a:graphicData uri="http://schemas.openxmlformats.org/drawingml/2006/table">
            <a:tbl>
              <a:tblPr firstRow="1" bandRow="1">
                <a:tableStyleId>{8799B23B-EC83-4686-B30A-512413B5E67A}</a:tableStyleId>
              </a:tblPr>
              <a:tblGrid>
                <a:gridCol w="1371600">
                  <a:extLst>
                    <a:ext uri="{9D8B030D-6E8A-4147-A177-3AD203B41FA5}">
                      <a16:colId xmlns:a16="http://schemas.microsoft.com/office/drawing/2014/main" val="1904519209"/>
                    </a:ext>
                  </a:extLst>
                </a:gridCol>
                <a:gridCol w="3353334">
                  <a:extLst>
                    <a:ext uri="{9D8B030D-6E8A-4147-A177-3AD203B41FA5}">
                      <a16:colId xmlns:a16="http://schemas.microsoft.com/office/drawing/2014/main" val="2794074813"/>
                    </a:ext>
                  </a:extLst>
                </a:gridCol>
                <a:gridCol w="3657065">
                  <a:extLst>
                    <a:ext uri="{9D8B030D-6E8A-4147-A177-3AD203B41FA5}">
                      <a16:colId xmlns:a16="http://schemas.microsoft.com/office/drawing/2014/main" val="1509228415"/>
                    </a:ext>
                  </a:extLst>
                </a:gridCol>
              </a:tblGrid>
              <a:tr h="342417">
                <a:tc>
                  <a:txBody>
                    <a:bodyPr/>
                    <a:lstStyle/>
                    <a:p>
                      <a:r>
                        <a:rPr lang="en-US" sz="1600" dirty="0"/>
                        <a:t> </a:t>
                      </a:r>
                      <a:r>
                        <a:rPr lang="en-US" sz="1600" b="1" u="none" strike="noStrike" kern="1200" baseline="0" dirty="0">
                          <a:solidFill>
                            <a:schemeClr val="tx1"/>
                          </a:solidFill>
                        </a:rPr>
                        <a:t> ‘H’s 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Potential factor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intervention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12337276"/>
                  </a:ext>
                </a:extLst>
              </a:tr>
              <a:tr h="1248434">
                <a:tc>
                  <a:txBody>
                    <a:bodyPr/>
                    <a:lstStyle/>
                    <a:p>
                      <a:r>
                        <a:rPr lang="en-US" sz="1600" dirty="0"/>
                        <a:t>Hypoxia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dirty="0"/>
                        <a:t>Airway obstruction, lung pathology (ARDS, pneumonia, pulmonary edema, pneumothorax or hemothorax )…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en-US" sz="1600" b="0" u="none" strike="noStrike" baseline="0" dirty="0"/>
                        <a:t> R/O and treat the cause</a:t>
                      </a:r>
                    </a:p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en-US" sz="1600" b="0" u="none" strike="noStrike" baseline="0" dirty="0"/>
                        <a:t>Oxygen during CPR. </a:t>
                      </a:r>
                    </a:p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en-US" sz="1600" b="0" u="none" strike="noStrike" kern="1200" baseline="0" dirty="0">
                          <a:solidFill>
                            <a:schemeClr val="dk1"/>
                          </a:solidFill>
                        </a:rPr>
                        <a:t>Check carefully  the tracheal tube if intubated</a:t>
                      </a:r>
                      <a:endParaRPr lang="en-US" sz="1600" b="0" u="none" strike="noStrike" baseline="0" dirty="0"/>
                    </a:p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en-US" sz="1600" b="0" u="none" strike="noStrike" baseline="0" dirty="0"/>
                        <a:t>Make sure there is adequate chest rise and bilateral breath sounds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88947334"/>
                  </a:ext>
                </a:extLst>
              </a:tr>
              <a:tr h="821770">
                <a:tc>
                  <a:txBody>
                    <a:bodyPr/>
                    <a:lstStyle/>
                    <a:p>
                      <a:r>
                        <a:rPr lang="en-US" sz="1600" dirty="0"/>
                        <a:t>Hydrogen ion (acidosis)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400050" lvl="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dirty="0"/>
                        <a:t>Respiratory failure, shock, DKA, Renal failure, drug overdose, severe hypoxia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dirty="0"/>
                        <a:t>Treat the underlying cause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dirty="0"/>
                        <a:t>Optimize oxygenation and ensure adequate ventilation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47501242"/>
                  </a:ext>
                </a:extLst>
              </a:tr>
              <a:tr h="821770">
                <a:tc>
                  <a:txBody>
                    <a:bodyPr/>
                    <a:lstStyle/>
                    <a:p>
                      <a:r>
                        <a:rPr lang="en-US" sz="1600" dirty="0"/>
                        <a:t>Hypovolemia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Wingdings" panose="05000000000000000000" pitchFamily="2" charset="2"/>
                        <a:buChar char="§"/>
                      </a:pPr>
                      <a:r>
                        <a:rPr lang="en-US" sz="1600" b="0" u="none" strike="noStrike" kern="1200" baseline="0" dirty="0">
                          <a:solidFill>
                            <a:schemeClr val="dk1"/>
                          </a:solidFill>
                        </a:rPr>
                        <a:t>Severe hemorrhage: trauma, GI bleeding or rupture of an aortic aneurysm.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dirty="0"/>
                        <a:t>Rapid fluid resuscitation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b="0" u="none" strike="noStrike" kern="1200" baseline="0" dirty="0">
                          <a:solidFill>
                            <a:schemeClr val="dk1"/>
                          </a:solidFill>
                        </a:rPr>
                        <a:t>Surgery to control bleeding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23940900"/>
                  </a:ext>
                </a:extLst>
              </a:tr>
              <a:tr h="878909">
                <a:tc>
                  <a:txBody>
                    <a:bodyPr/>
                    <a:lstStyle/>
                    <a:p>
                      <a:r>
                        <a:rPr lang="en-US" sz="1600" b="1" dirty="0"/>
                        <a:t>Hyperkalemia or hypokalemia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dirty="0"/>
                        <a:t>ARF, systemic disease…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dirty="0"/>
                        <a:t>RRT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b="0" u="none" strike="noStrike" kern="1200" baseline="0" dirty="0">
                          <a:solidFill>
                            <a:schemeClr val="dk1"/>
                          </a:solidFill>
                        </a:rPr>
                        <a:t>10 mL 10% calcium chloride IV or 30 mL 10% calcium gluconate IV.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b="0" u="none" strike="noStrike" kern="1200" baseline="0" dirty="0">
                          <a:solidFill>
                            <a:schemeClr val="dk1"/>
                          </a:solidFill>
                        </a:rPr>
                        <a:t>Potassium replacement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08523275"/>
                  </a:ext>
                </a:extLst>
              </a:tr>
              <a:tr h="106830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 dirty="0"/>
                        <a:t>Hypothermia</a:t>
                      </a:r>
                      <a:r>
                        <a:rPr lang="en-US" sz="1600" dirty="0"/>
                        <a:t>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600" dirty="0"/>
                        <a:t>Deranged temperature regulation secondary to sepsis 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600" dirty="0"/>
                        <a:t>Drowning</a:t>
                      </a:r>
                    </a:p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b="0" u="none" strike="noStrike" kern="1200" baseline="0" dirty="0">
                          <a:solidFill>
                            <a:schemeClr val="dk1"/>
                          </a:solidFill>
                        </a:rPr>
                        <a:t>Rewarming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b="0" u="none" strike="noStrike" kern="1200" baseline="0" dirty="0">
                          <a:solidFill>
                            <a:schemeClr val="dk1"/>
                          </a:solidFill>
                        </a:rPr>
                        <a:t>or attempts to raise core temperature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4908501"/>
                  </a:ext>
                </a:extLst>
              </a:tr>
            </a:tbl>
          </a:graphicData>
        </a:graphic>
      </p:graphicFrame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31884D-E0B2-4185-A4E7-8E90598099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1B9EFB-E129-4418-9F06-E0458C2C2B09}" type="datetime4"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t>June 19, 2026</a:t>
            </a:fld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316EE17-5B5B-4DC1-935E-B3A0F53BDF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pPr/>
              <a:t>17</a:t>
            </a:fld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399520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C74631-EA43-4BE3-AE6F-3A43FB7B7C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l"/>
            <a:r>
              <a:rPr lang="en-US" sz="4400" dirty="0">
                <a:cs typeface="Times New Roman" pitchFamily="18" charset="0"/>
              </a:rPr>
              <a:t> </a:t>
            </a:r>
            <a:r>
              <a:rPr lang="en-US" sz="3100" dirty="0">
                <a:cs typeface="Times New Roman" pitchFamily="18" charset="0"/>
              </a:rPr>
              <a:t>Predisposing factors  and management to the  </a:t>
            </a:r>
            <a:r>
              <a:rPr lang="en-US" sz="3100" b="1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‘T’s </a:t>
            </a:r>
            <a:br>
              <a:rPr lang="en-US" dirty="0"/>
            </a:br>
            <a:endParaRPr lang="en-US" dirty="0"/>
          </a:p>
        </p:txBody>
      </p:sp>
      <p:graphicFrame>
        <p:nvGraphicFramePr>
          <p:cNvPr id="7" name="Table 7">
            <a:extLst>
              <a:ext uri="{FF2B5EF4-FFF2-40B4-BE49-F238E27FC236}">
                <a16:creationId xmlns:a16="http://schemas.microsoft.com/office/drawing/2014/main" id="{8C9C2D8C-6049-4A9B-ACC9-5F6513E8A5A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48926120"/>
              </p:ext>
            </p:extLst>
          </p:nvPr>
        </p:nvGraphicFramePr>
        <p:xfrm>
          <a:off x="266700" y="1376731"/>
          <a:ext cx="8610600" cy="5060076"/>
        </p:xfrm>
        <a:graphic>
          <a:graphicData uri="http://schemas.openxmlformats.org/drawingml/2006/table">
            <a:tbl>
              <a:tblPr firstRow="1" bandRow="1">
                <a:tableStyleId>{8799B23B-EC83-4686-B30A-512413B5E67A}</a:tableStyleId>
              </a:tblPr>
              <a:tblGrid>
                <a:gridCol w="1562100">
                  <a:extLst>
                    <a:ext uri="{9D8B030D-6E8A-4147-A177-3AD203B41FA5}">
                      <a16:colId xmlns:a16="http://schemas.microsoft.com/office/drawing/2014/main" val="1904519209"/>
                    </a:ext>
                  </a:extLst>
                </a:gridCol>
                <a:gridCol w="2471022">
                  <a:extLst>
                    <a:ext uri="{9D8B030D-6E8A-4147-A177-3AD203B41FA5}">
                      <a16:colId xmlns:a16="http://schemas.microsoft.com/office/drawing/2014/main" val="2794074813"/>
                    </a:ext>
                  </a:extLst>
                </a:gridCol>
                <a:gridCol w="4577478">
                  <a:extLst>
                    <a:ext uri="{9D8B030D-6E8A-4147-A177-3AD203B41FA5}">
                      <a16:colId xmlns:a16="http://schemas.microsoft.com/office/drawing/2014/main" val="1509228415"/>
                    </a:ext>
                  </a:extLst>
                </a:gridCol>
              </a:tblGrid>
              <a:tr h="360102">
                <a:tc>
                  <a:txBody>
                    <a:bodyPr/>
                    <a:lstStyle/>
                    <a:p>
                      <a:r>
                        <a:rPr lang="en-US" sz="1800" dirty="0"/>
                        <a:t> </a:t>
                      </a:r>
                      <a:r>
                        <a:rPr lang="en-US" sz="1800" b="1" u="none" strike="noStrike" kern="1200" baseline="0" dirty="0">
                          <a:solidFill>
                            <a:schemeClr val="tx1"/>
                          </a:solidFill>
                        </a:rPr>
                        <a:t>‘T’s </a:t>
                      </a:r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Potential factor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Intervention/Treatment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12337276"/>
                  </a:ext>
                </a:extLst>
              </a:tr>
              <a:tr h="1229309">
                <a:tc>
                  <a:txBody>
                    <a:bodyPr/>
                    <a:lstStyle/>
                    <a:p>
                      <a:r>
                        <a:rPr lang="en-US" sz="1800" b="0" u="none" strike="noStrike" kern="1200" baseline="0" dirty="0">
                          <a:solidFill>
                            <a:schemeClr val="tx1"/>
                          </a:solidFill>
                        </a:rPr>
                        <a:t>Thrombosis-pulmonary/coronary</a:t>
                      </a:r>
                      <a:endParaRPr lang="en-US" sz="18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800" dirty="0"/>
                        <a:t>Long bone fracture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800" dirty="0"/>
                        <a:t>CHF, VHD, 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800" dirty="0"/>
                        <a:t>Spinal cord injury, 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800" dirty="0"/>
                        <a:t>Stroke, Obesity, Immobility…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800" b="0" u="none" strike="noStrike" kern="1200" baseline="0" dirty="0">
                          <a:solidFill>
                            <a:schemeClr val="dk1"/>
                          </a:solidFill>
                        </a:rPr>
                        <a:t>PE - continuation of chest compressions and where available administration of a thrombolytic drug.</a:t>
                      </a:r>
                      <a:endParaRPr lang="en-US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88947334"/>
                  </a:ext>
                </a:extLst>
              </a:tr>
              <a:tr h="886407">
                <a:tc>
                  <a:txBody>
                    <a:bodyPr/>
                    <a:lstStyle/>
                    <a:p>
                      <a:r>
                        <a:rPr lang="en-US" sz="1800" b="0" u="none" strike="noStrike" kern="1200" baseline="0" dirty="0">
                          <a:solidFill>
                            <a:schemeClr val="tx1"/>
                          </a:solidFill>
                        </a:rPr>
                        <a:t>Tension pneumothorax</a:t>
                      </a:r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800" dirty="0"/>
                        <a:t>Chest trauma…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800" b="0" u="none" strike="noStrike" kern="1200" baseline="0" dirty="0">
                          <a:solidFill>
                            <a:schemeClr val="dk1"/>
                          </a:solidFill>
                        </a:rPr>
                        <a:t>Needle thoracocentesis- in the mid-clavicular line in the 2ICS  </a:t>
                      </a:r>
                      <a:endParaRPr lang="en-US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23940900"/>
                  </a:ext>
                </a:extLst>
              </a:tr>
              <a:tr h="100672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u="none" strike="noStrike" kern="1200" baseline="0" dirty="0">
                          <a:solidFill>
                            <a:schemeClr val="tx1"/>
                          </a:solidFill>
                        </a:rPr>
                        <a:t>Toxins/drugs</a:t>
                      </a:r>
                      <a:endParaRPr lang="en-US" sz="1800" b="0" i="0" u="none" strike="noStrike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800" b="0" u="none" strike="noStrike" kern="1200" baseline="0" dirty="0">
                          <a:solidFill>
                            <a:schemeClr val="dk1"/>
                          </a:solidFill>
                        </a:rPr>
                        <a:t>Accidental or deliberate ingestion of therapeutic or toxic substances</a:t>
                      </a:r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800" b="0" u="none" strike="noStrike" kern="1200" baseline="0" dirty="0">
                          <a:solidFill>
                            <a:schemeClr val="dk1"/>
                          </a:solidFill>
                        </a:rPr>
                        <a:t>Supportive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800" b="0" u="none" strike="noStrike" kern="1200" baseline="0" dirty="0">
                          <a:solidFill>
                            <a:schemeClr val="dk1"/>
                          </a:solidFill>
                        </a:rPr>
                        <a:t>Specific antidotes if available</a:t>
                      </a:r>
                      <a:endParaRPr lang="en-US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08523275"/>
                  </a:ext>
                </a:extLst>
              </a:tr>
              <a:tr h="1156149">
                <a:tc>
                  <a:txBody>
                    <a:bodyPr/>
                    <a:lstStyle/>
                    <a:p>
                      <a:r>
                        <a:rPr lang="en-US" sz="1800" b="0" u="none" strike="noStrike" kern="1200" baseline="0" dirty="0">
                          <a:solidFill>
                            <a:schemeClr val="tx1"/>
                          </a:solidFill>
                        </a:rPr>
                        <a:t>Tamponade-cardiac</a:t>
                      </a:r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800" b="0" u="none" strike="noStrike" kern="1200" baseline="0" dirty="0">
                          <a:solidFill>
                            <a:schemeClr val="dk1"/>
                          </a:solidFill>
                        </a:rPr>
                        <a:t>penetrating chest trauma</a:t>
                      </a:r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800" b="0" u="none" strike="noStrike" kern="1200" baseline="0" dirty="0">
                          <a:solidFill>
                            <a:schemeClr val="dk1"/>
                          </a:solidFill>
                        </a:rPr>
                        <a:t>Needle pericardiocentesis or resuscitative thoracotomy. Use 16G or 18G, 15cm or longer needle attached to a large syringe.</a:t>
                      </a:r>
                      <a:endParaRPr lang="en-US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4908501"/>
                  </a:ext>
                </a:extLst>
              </a:tr>
            </a:tbl>
          </a:graphicData>
        </a:graphic>
      </p:graphicFrame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31884D-E0B2-4185-A4E7-8E90598099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E3ECFA-D365-4D02-9CEE-A3CD2A05F4A0}" type="datetime4">
              <a:rPr lang="en-US" smtClean="0"/>
              <a:t>June 19, 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316EE17-5B5B-4DC1-935E-B3A0F53BDF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718118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Causes of ICU-CA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</p:spPr>
        <p:txBody>
          <a:bodyPr>
            <a:noAutofit/>
          </a:bodyPr>
          <a:lstStyle/>
          <a:p>
            <a:pPr lvl="0">
              <a:buFont typeface="Wingdings" pitchFamily="2" charset="2"/>
              <a:buChar char="q"/>
            </a:pPr>
            <a:r>
              <a:rPr lang="en-US" sz="22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H’s</a:t>
            </a:r>
          </a:p>
          <a:p>
            <a:pPr lvl="0">
              <a:buFont typeface="Wingdings" pitchFamily="2" charset="2"/>
              <a:buChar char="§"/>
            </a:pPr>
            <a:r>
              <a:rPr lang="en-US" sz="2200" b="1" dirty="0">
                <a:latin typeface="Arial" panose="020B0604020202020204" pitchFamily="34" charset="0"/>
                <a:cs typeface="Arial" panose="020B0604020202020204" pitchFamily="34" charset="0"/>
              </a:rPr>
              <a:t>Hypoxia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 – secondary to ARDS, pneumonia, pulmonary edema, pneumothorax or hemothorax  </a:t>
            </a:r>
          </a:p>
          <a:p>
            <a:pPr lvl="0">
              <a:buFont typeface="Wingdings" pitchFamily="2" charset="2"/>
              <a:buChar char="§"/>
            </a:pPr>
            <a:r>
              <a:rPr lang="en-US" sz="2200" b="1" dirty="0">
                <a:latin typeface="Arial" panose="020B0604020202020204" pitchFamily="34" charset="0"/>
                <a:cs typeface="Arial" panose="020B0604020202020204" pitchFamily="34" charset="0"/>
              </a:rPr>
              <a:t>Hypovolemi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a – could be from bleeding in the extracorporeal circuit or in the patient as a result of excessive anticoagulation or deranged coagulation due to sepsis</a:t>
            </a:r>
          </a:p>
          <a:p>
            <a:pPr>
              <a:buFont typeface="Wingdings" pitchFamily="2" charset="2"/>
              <a:buChar char="§"/>
            </a:pPr>
            <a:r>
              <a:rPr lang="en-US" sz="2200" b="1" dirty="0">
                <a:latin typeface="Arial" panose="020B0604020202020204" pitchFamily="34" charset="0"/>
                <a:cs typeface="Arial" panose="020B0604020202020204" pitchFamily="34" charset="0"/>
              </a:rPr>
              <a:t>Hyper/hypokalemia/metabolic disturbance 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–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Initially hyperkalemia could be due to ARF whereas later electrolyte depletion due to RRT (hypokalemia, hypophosphatemia,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hypomagnesemia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) may manifest as cardiac arrest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>
              <a:buFont typeface="Wingdings" pitchFamily="2" charset="2"/>
              <a:buChar char="§"/>
            </a:pPr>
            <a:r>
              <a:rPr lang="en-US" sz="2200" b="1" dirty="0">
                <a:latin typeface="Arial" panose="020B0604020202020204" pitchFamily="34" charset="0"/>
                <a:cs typeface="Arial" panose="020B0604020202020204" pitchFamily="34" charset="0"/>
              </a:rPr>
              <a:t>Hypothermia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 – could be from deranged temperature regulation secondary to sepsis </a:t>
            </a:r>
          </a:p>
          <a:p>
            <a:endParaRPr lang="en-US" sz="2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/>
            <a:endParaRPr lang="en-US" sz="2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2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2ED5B6-1467-4D90-AFA3-964332CA33F9}" type="datetime4"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pPr/>
              <a:t>June 19, 2026</a:t>
            </a:fld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pPr/>
              <a:t>19</a:t>
            </a:fld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684102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Cont…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534400" cy="4525963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q"/>
            </a:pPr>
            <a:r>
              <a:rPr lang="en-US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T’s </a:t>
            </a:r>
          </a:p>
          <a:p>
            <a:pPr lvl="0"/>
            <a:r>
              <a:rPr lang="en-US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Tension pneumothorax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– secondary to potential pleural punctures during CVC in a patient receiving PPV</a:t>
            </a:r>
          </a:p>
          <a:p>
            <a:pPr lvl="0"/>
            <a:r>
              <a:rPr lang="en-US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Thrombosis/pulmonary emboli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</a:p>
          <a:p>
            <a:pPr lvl="0"/>
            <a:r>
              <a:rPr lang="en-US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Tamponade cardiac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</a:p>
          <a:p>
            <a:pPr lvl="0"/>
            <a:r>
              <a:rPr lang="en-US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Toxins</a:t>
            </a:r>
            <a:b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2ED5B6-1467-4D90-AFA3-964332CA33F9}" type="datetime4"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pPr/>
              <a:t>June 19, 2026</a:t>
            </a:fld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pPr/>
              <a:t>20</a:t>
            </a:fld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1164202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Cont…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itchFamily="2" charset="2"/>
              <a:buChar char="q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Cardiac </a:t>
            </a:r>
          </a:p>
          <a:p>
            <a:pPr lvl="1"/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Ischemic heart disease (myocardial infarction)</a:t>
            </a:r>
          </a:p>
          <a:p>
            <a:pPr lvl="1"/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Heart failure </a:t>
            </a:r>
          </a:p>
          <a:p>
            <a:pPr lvl="1"/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Arrhythmia of different origin </a:t>
            </a:r>
          </a:p>
          <a:p>
            <a:pPr lvl="1"/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Myocardial ischemia </a:t>
            </a:r>
          </a:p>
          <a:p>
            <a:pPr lvl="1"/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Tamponade cardiac</a:t>
            </a:r>
          </a:p>
          <a:p>
            <a:pPr lvl="1"/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Aortic stenosis </a:t>
            </a:r>
          </a:p>
          <a:p>
            <a:pPr lvl="1"/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Ventricle wall rupture</a:t>
            </a:r>
          </a:p>
          <a:p>
            <a:pPr lvl="1"/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Valvular disease</a:t>
            </a:r>
          </a:p>
          <a:p>
            <a:pPr lvl="1"/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2ED5B6-1467-4D90-AFA3-964332CA33F9}" type="datetime4"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pPr/>
              <a:t>June 19, 2026</a:t>
            </a:fld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pPr/>
              <a:t>21</a:t>
            </a:fld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2539863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Cont…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1">
              <a:buFont typeface="Wingdings" pitchFamily="2" charset="2"/>
              <a:buChar char="q"/>
            </a:pP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Other</a:t>
            </a:r>
          </a:p>
          <a:p>
            <a:pPr lvl="1"/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Sepsis </a:t>
            </a:r>
          </a:p>
          <a:p>
            <a:pPr lvl="1"/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Cerebral bleeding/infarction</a:t>
            </a:r>
          </a:p>
          <a:p>
            <a:pPr lvl="1"/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Aortic dissection  </a:t>
            </a:r>
          </a:p>
          <a:p>
            <a:pPr lvl="1"/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Aortic aneurysm with rupture </a:t>
            </a:r>
          </a:p>
          <a:p>
            <a:pPr lvl="1"/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Cerebral seizure </a:t>
            </a:r>
          </a:p>
          <a:p>
            <a:pPr lvl="1"/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Oesophageal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varicose bleeding </a:t>
            </a:r>
          </a:p>
          <a:p>
            <a:pPr lvl="1"/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Other non-dominant causes </a:t>
            </a:r>
            <a:b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2ED5B6-1467-4D90-AFA3-964332CA33F9}" type="datetime4"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pPr/>
              <a:t>June 19, 2026</a:t>
            </a:fld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pPr/>
              <a:t>22</a:t>
            </a:fld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8974133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Cont…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</p:spPr>
        <p:txBody>
          <a:bodyPr>
            <a:normAutofit/>
          </a:bodyPr>
          <a:lstStyle/>
          <a:p>
            <a:pPr lvl="0">
              <a:buFont typeface="Wingdings" pitchFamily="2" charset="2"/>
              <a:buChar char="q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Anaphylaxis – 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could be to preservatives, blood products or any other allergen the patient might have been exposed to.</a:t>
            </a:r>
          </a:p>
          <a:p>
            <a:pPr lvl="0">
              <a:buFont typeface="Wingdings" pitchFamily="2" charset="2"/>
              <a:buChar char="q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Human and technical errors – </a:t>
            </a:r>
          </a:p>
          <a:p>
            <a:pPr lvl="1"/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involving drug prescription, preparation, dosage, compatibility, administration; inappropriate ventilator settings </a:t>
            </a:r>
          </a:p>
          <a:p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2ED5B6-1467-4D90-AFA3-964332CA33F9}" type="datetime4"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pPr/>
              <a:t>June 19, 2026</a:t>
            </a:fld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pPr/>
              <a:t>23</a:t>
            </a:fld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8980624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Signs of cardiac arrest </a:t>
            </a:r>
            <a:b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458200" cy="4525963"/>
          </a:xfrm>
        </p:spPr>
        <p:txBody>
          <a:bodyPr>
            <a:noAutofit/>
          </a:bodyPr>
          <a:lstStyle/>
          <a:p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Absence of pulse on carotid, femoral or brachialis arteries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endParaRPr lang="en-US" sz="2400" dirty="0">
              <a:latin typeface="Arial" panose="020B0604020202020204" pitchFamily="34" charset="0"/>
              <a:ea typeface="Times New Roman"/>
              <a:cs typeface="Arial" panose="020B0604020202020204" pitchFamily="34" charset="0"/>
            </a:endParaRPr>
          </a:p>
          <a:p>
            <a:r>
              <a:rPr lang="en-US" sz="2400" dirty="0">
                <a:latin typeface="Arial" panose="020B0604020202020204" pitchFamily="34" charset="0"/>
                <a:ea typeface="Times New Roman"/>
                <a:cs typeface="Arial" panose="020B0604020202020204" pitchFamily="34" charset="0"/>
              </a:rPr>
              <a:t>Absence of blood pressure</a:t>
            </a:r>
          </a:p>
          <a:p>
            <a:r>
              <a:rPr lang="en-US" sz="2400" b="1" dirty="0">
                <a:latin typeface="Arial" panose="020B0604020202020204" pitchFamily="34" charset="0"/>
                <a:ea typeface="Times New Roman"/>
                <a:cs typeface="Arial" panose="020B0604020202020204" pitchFamily="34" charset="0"/>
              </a:rPr>
              <a:t>Respiratory arrest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– may be in 30 seconds after cardiac arrest </a:t>
            </a:r>
            <a:endParaRPr lang="en-US" sz="2400" dirty="0">
              <a:latin typeface="Arial" panose="020B0604020202020204" pitchFamily="34" charset="0"/>
              <a:ea typeface="Times New Roman"/>
              <a:cs typeface="Arial" panose="020B0604020202020204" pitchFamily="34" charset="0"/>
            </a:endParaRPr>
          </a:p>
          <a:p>
            <a:r>
              <a:rPr lang="en-US" sz="2400" b="1" dirty="0">
                <a:latin typeface="Arial" panose="020B0604020202020204" pitchFamily="34" charset="0"/>
                <a:ea typeface="Times New Roman"/>
                <a:cs typeface="Arial" panose="020B0604020202020204" pitchFamily="34" charset="0"/>
              </a:rPr>
              <a:t>Pallor or cyanosis  </a:t>
            </a:r>
            <a:r>
              <a:rPr lang="en-US" sz="2400" dirty="0">
                <a:latin typeface="Arial" panose="020B0604020202020204" pitchFamily="34" charset="0"/>
                <a:ea typeface="Times New Roman"/>
                <a:cs typeface="Arial" panose="020B0604020202020204" pitchFamily="34" charset="0"/>
              </a:rPr>
              <a:t>quickly follows cardiac arrest</a:t>
            </a:r>
          </a:p>
          <a:p>
            <a:r>
              <a:rPr lang="en-US" sz="2400" b="1" dirty="0">
                <a:latin typeface="Arial" panose="020B0604020202020204" pitchFamily="34" charset="0"/>
                <a:ea typeface="Times New Roman"/>
                <a:cs typeface="Arial" panose="020B0604020202020204" pitchFamily="34" charset="0"/>
              </a:rPr>
              <a:t>Cardiac sounds cannot be heard over the pericardium</a:t>
            </a:r>
          </a:p>
          <a:p>
            <a:r>
              <a:rPr lang="en-US" sz="2400" dirty="0">
                <a:latin typeface="Arial" panose="020B0604020202020204" pitchFamily="34" charset="0"/>
                <a:ea typeface="Times New Roman"/>
                <a:cs typeface="Arial" panose="020B0604020202020204" pitchFamily="34" charset="0"/>
              </a:rPr>
              <a:t>Absence of bleeding in the wound </a:t>
            </a:r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Enlargement of pupils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– may be in 90 seconds after cardiac arrest</a:t>
            </a:r>
          </a:p>
          <a:p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78B013-A26B-4E54-9ECF-F11F748C5A51}" type="datetime4"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pPr/>
              <a:t>June 19, 2026</a:t>
            </a:fld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pPr/>
              <a:t>24</a:t>
            </a:fld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l"/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Components of resuscitation from CA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sz="2600" dirty="0">
                <a:latin typeface="Arial" panose="020B0604020202020204" pitchFamily="34" charset="0"/>
                <a:cs typeface="Arial" panose="020B0604020202020204" pitchFamily="34" charset="0"/>
              </a:rPr>
              <a:t>The major components of resuscitation from cardiac arrest are: </a:t>
            </a:r>
            <a:r>
              <a:rPr lang="en-US" sz="26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ABCDE</a:t>
            </a:r>
          </a:p>
          <a:p>
            <a:pPr lvl="1" algn="just">
              <a:buFont typeface="Wingdings" pitchFamily="2" charset="2"/>
              <a:buChar char="Ø"/>
            </a:pPr>
            <a:r>
              <a:rPr lang="en-US" sz="26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lang="en-US" sz="2600" dirty="0">
                <a:latin typeface="Arial" panose="020B0604020202020204" pitchFamily="34" charset="0"/>
                <a:cs typeface="Arial" panose="020B0604020202020204" pitchFamily="34" charset="0"/>
              </a:rPr>
              <a:t>irway</a:t>
            </a:r>
          </a:p>
          <a:p>
            <a:pPr lvl="1" algn="just">
              <a:buFont typeface="Wingdings" pitchFamily="2" charset="2"/>
              <a:buChar char="Ø"/>
            </a:pPr>
            <a:r>
              <a:rPr lang="en-US" sz="2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6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  <a:r>
              <a:rPr lang="en-US" sz="2600" dirty="0">
                <a:latin typeface="Arial" panose="020B0604020202020204" pitchFamily="34" charset="0"/>
                <a:cs typeface="Arial" panose="020B0604020202020204" pitchFamily="34" charset="0"/>
              </a:rPr>
              <a:t>reathing</a:t>
            </a:r>
          </a:p>
          <a:p>
            <a:pPr lvl="1" algn="just">
              <a:buFont typeface="Wingdings" pitchFamily="2" charset="2"/>
              <a:buChar char="Ø"/>
            </a:pPr>
            <a:r>
              <a:rPr lang="en-US" sz="26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r>
              <a:rPr lang="en-US" sz="2600" dirty="0">
                <a:latin typeface="Arial" panose="020B0604020202020204" pitchFamily="34" charset="0"/>
                <a:cs typeface="Arial" panose="020B0604020202020204" pitchFamily="34" charset="0"/>
              </a:rPr>
              <a:t>irculation</a:t>
            </a:r>
          </a:p>
          <a:p>
            <a:pPr lvl="1" algn="just">
              <a:buFont typeface="Wingdings" pitchFamily="2" charset="2"/>
              <a:buChar char="Ø"/>
            </a:pPr>
            <a:r>
              <a:rPr lang="en-US" sz="26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</a:t>
            </a:r>
            <a:r>
              <a:rPr lang="en-US" sz="2600" dirty="0">
                <a:latin typeface="Arial" panose="020B0604020202020204" pitchFamily="34" charset="0"/>
                <a:cs typeface="Arial" panose="020B0604020202020204" pitchFamily="34" charset="0"/>
              </a:rPr>
              <a:t>rugs</a:t>
            </a:r>
          </a:p>
          <a:p>
            <a:pPr lvl="1" algn="just">
              <a:buFont typeface="Wingdings" pitchFamily="2" charset="2"/>
              <a:buChar char="Ø"/>
            </a:pPr>
            <a:r>
              <a:rPr lang="en-US" sz="26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r>
              <a:rPr lang="en-US" sz="2600" dirty="0">
                <a:latin typeface="Arial" panose="020B0604020202020204" pitchFamily="34" charset="0"/>
                <a:cs typeface="Arial" panose="020B0604020202020204" pitchFamily="34" charset="0"/>
              </a:rPr>
              <a:t>lectrical therapy </a:t>
            </a:r>
          </a:p>
          <a:p>
            <a:endParaRPr lang="en-US" sz="2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2ED5B6-1467-4D90-AFA3-964332CA33F9}" type="datetime4"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pPr/>
              <a:t>June 19, 2026</a:t>
            </a:fld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pPr/>
              <a:t>25</a:t>
            </a:fld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4993270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Cont…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CPR can be divided into</a:t>
            </a:r>
          </a:p>
          <a:p>
            <a:pPr lvl="1" algn="just">
              <a:buFont typeface="Wingdings" pitchFamily="2" charset="2"/>
              <a:buChar char="Ø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 Basic life  support  (BLS) </a:t>
            </a:r>
          </a:p>
          <a:p>
            <a:pPr lvl="2">
              <a:buFont typeface="Courier New" pitchFamily="49" charset="0"/>
              <a:buChar char="o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performed without additional equipment  </a:t>
            </a:r>
          </a:p>
          <a:p>
            <a:pPr lvl="2">
              <a:buFont typeface="Courier New" pitchFamily="49" charset="0"/>
              <a:buChar char="o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It includes basic airway management, rescue breathing, manual chest compressions, and early defibrillation </a:t>
            </a:r>
          </a:p>
          <a:p>
            <a:pPr lvl="1" algn="just">
              <a:buFont typeface="Wingdings" pitchFamily="2" charset="2"/>
              <a:buChar char="Ø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Advanced cardiac life support (ACLS) </a:t>
            </a:r>
          </a:p>
          <a:p>
            <a:pPr lvl="1" algn="just"/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Encompassing all the cognitive and technical skills necessary for resuscitation.</a:t>
            </a:r>
          </a:p>
          <a:p>
            <a:pPr lvl="1" algn="just"/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8CE124-6FB4-47D5-AF22-750BA054347E}" type="datetime4">
              <a:rPr lang="en-US" smtClean="0"/>
              <a:pPr/>
              <a:t>June 19, 2026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+mn-lt"/>
                <a:cs typeface="Times New Roman" pitchFamily="18" charset="0"/>
              </a:rPr>
              <a:t>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219200"/>
            <a:ext cx="8839200" cy="5257800"/>
          </a:xfrm>
        </p:spPr>
        <p:txBody>
          <a:bodyPr>
            <a:normAutofit fontScale="85000" lnSpcReduction="2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sz="2000" dirty="0">
                <a:cs typeface="Times New Roman" pitchFamily="18" charset="0"/>
              </a:rPr>
              <a:t> Paul G. Barash: Handbook of Clinical Anesthesia (6</a:t>
            </a:r>
            <a:r>
              <a:rPr lang="en-US" sz="2000" baseline="30000" dirty="0">
                <a:cs typeface="Times New Roman" pitchFamily="18" charset="0"/>
              </a:rPr>
              <a:t>th</a:t>
            </a:r>
            <a:r>
              <a:rPr lang="en-US" sz="2000" dirty="0">
                <a:cs typeface="Times New Roman" pitchFamily="18" charset="0"/>
              </a:rPr>
              <a:t> edition). Lippincott Williams &amp; Wilkins publications, Inc., 2009: pp. 1532- 46.</a:t>
            </a:r>
          </a:p>
          <a:p>
            <a:pPr marL="457200" indent="-457200">
              <a:buFont typeface="+mj-lt"/>
              <a:buAutoNum type="arabicPeriod"/>
            </a:pPr>
            <a:r>
              <a:rPr lang="en-GB" sz="2000" dirty="0">
                <a:cs typeface="Times New Roman" pitchFamily="18" charset="0"/>
              </a:rPr>
              <a:t>Travers, A. H., Rea T. D., Bobrow, B. J. et.al.. CPR overview:  American Heart Association guidelines for cardiopulmonary resuscitation and emergency cardiovascular care. 2010: 122 (4)</a:t>
            </a:r>
            <a:endParaRPr lang="en-US" sz="2000" dirty="0">
              <a:cs typeface="Times New Roman" pitchFamily="18" charset="0"/>
            </a:endParaRPr>
          </a:p>
          <a:p>
            <a:pPr marL="457200" indent="-457200" algn="just">
              <a:buFont typeface="+mj-lt"/>
              <a:buAutoNum type="arabicPeriod"/>
            </a:pPr>
            <a:r>
              <a:rPr lang="en-US" sz="2000" dirty="0">
                <a:cs typeface="Times New Roman" pitchFamily="18" charset="0"/>
              </a:rPr>
              <a:t>Atkins DL, Berger S, Duff JP, et.al. Part 11: pediatric basic life support and cardiopulmonary resuscitation quality: 2015 American Heart Association Guidelines Update for Cardiopulmonary Resuscitation and Emergency Cardiovascular Care. </a:t>
            </a:r>
            <a:r>
              <a:rPr lang="en-US" sz="2000" i="1" dirty="0">
                <a:cs typeface="Times New Roman" pitchFamily="18" charset="0"/>
              </a:rPr>
              <a:t>Circulation</a:t>
            </a:r>
            <a:r>
              <a:rPr lang="en-US" sz="2000" dirty="0">
                <a:cs typeface="Times New Roman" pitchFamily="18" charset="0"/>
              </a:rPr>
              <a:t>. 2015;132(</a:t>
            </a:r>
            <a:r>
              <a:rPr lang="en-US" sz="2000" dirty="0" err="1">
                <a:cs typeface="Times New Roman" pitchFamily="18" charset="0"/>
              </a:rPr>
              <a:t>suppl</a:t>
            </a:r>
            <a:r>
              <a:rPr lang="en-US" sz="2000" dirty="0">
                <a:cs typeface="Times New Roman" pitchFamily="18" charset="0"/>
              </a:rPr>
              <a:t> 2):S519–S525. 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dirty="0" err="1">
                <a:cs typeface="Times New Roman" pitchFamily="18" charset="0"/>
              </a:rPr>
              <a:t>Ashish</a:t>
            </a:r>
            <a:r>
              <a:rPr lang="en-US" sz="2000" dirty="0">
                <a:cs typeface="Times New Roman" pitchFamily="18" charset="0"/>
              </a:rPr>
              <a:t> R. </a:t>
            </a:r>
            <a:r>
              <a:rPr lang="en-US" sz="2000" dirty="0" err="1">
                <a:cs typeface="Times New Roman" pitchFamily="18" charset="0"/>
              </a:rPr>
              <a:t>Panchal</a:t>
            </a:r>
            <a:r>
              <a:rPr lang="en-US" sz="2000" dirty="0">
                <a:cs typeface="Times New Roman" pitchFamily="18" charset="0"/>
              </a:rPr>
              <a:t>,  Katherine M. Berg,   et.al. 2018 American Heart Association Focused Update on Advanced Cardiovascular Life Support Use of Antiarrhythmic Drugs During and Immediately After Cardiac Arrest.</a:t>
            </a:r>
            <a:r>
              <a:rPr lang="en-US" sz="2000" i="1" dirty="0">
                <a:cs typeface="Times New Roman" pitchFamily="18" charset="0"/>
              </a:rPr>
              <a:t> Circulation. </a:t>
            </a:r>
            <a:r>
              <a:rPr lang="en-US" sz="2000" dirty="0">
                <a:cs typeface="Times New Roman" pitchFamily="18" charset="0"/>
              </a:rPr>
              <a:t>2018;138:e740–e749 .</a:t>
            </a:r>
            <a:r>
              <a:rPr lang="en-US" sz="2000" dirty="0" err="1">
                <a:cs typeface="Times New Roman" pitchFamily="18" charset="0"/>
              </a:rPr>
              <a:t>Availble</a:t>
            </a:r>
            <a:r>
              <a:rPr lang="en-US" sz="2000" dirty="0">
                <a:cs typeface="Times New Roman" pitchFamily="18" charset="0"/>
              </a:rPr>
              <a:t> at: @2018 American Heart Association, Inc. https://www.ahajournals.org/journal/circ 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dirty="0">
                <a:solidFill>
                  <a:srgbClr val="FF0000"/>
                </a:solidFill>
                <a:cs typeface="Times New Roman" pitchFamily="18" charset="0"/>
              </a:rPr>
              <a:t>Efendijev I, </a:t>
            </a:r>
            <a:r>
              <a:rPr lang="en-US" sz="2000" dirty="0" err="1">
                <a:solidFill>
                  <a:srgbClr val="FF0000"/>
                </a:solidFill>
                <a:cs typeface="Times New Roman" pitchFamily="18" charset="0"/>
              </a:rPr>
              <a:t>Nurmi</a:t>
            </a:r>
            <a:r>
              <a:rPr lang="en-US" sz="2000" dirty="0">
                <a:solidFill>
                  <a:srgbClr val="FF0000"/>
                </a:solidFill>
                <a:cs typeface="Times New Roman" pitchFamily="18" charset="0"/>
              </a:rPr>
              <a:t> J, </a:t>
            </a:r>
            <a:r>
              <a:rPr lang="en-US" sz="2000" dirty="0" err="1">
                <a:solidFill>
                  <a:srgbClr val="FF0000"/>
                </a:solidFill>
                <a:cs typeface="Times New Roman" pitchFamily="18" charset="0"/>
              </a:rPr>
              <a:t>Castre</a:t>
            </a:r>
            <a:r>
              <a:rPr lang="en-US" sz="2000" dirty="0">
                <a:solidFill>
                  <a:srgbClr val="FF0000"/>
                </a:solidFill>
                <a:cs typeface="Times New Roman" pitchFamily="18" charset="0"/>
              </a:rPr>
              <a:t>´ n M, et al. Incidence and outcome from adult cardiac arrest occurring in the intensive care unit: a systematic review of the literature. Resuscitation 2014; 85: 472–479</a:t>
            </a:r>
            <a:endParaRPr lang="en-US" sz="2000" dirty="0">
              <a:cs typeface="Times New Roman" pitchFamily="18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sz="2000" dirty="0">
                <a:cs typeface="Times New Roman" pitchFamily="18" charset="0"/>
              </a:rPr>
              <a:t>Richard A Armstrong1 , Caroline Kane1, Fiona Oglesby2, Katie Barnard3 , </a:t>
            </a:r>
            <a:r>
              <a:rPr lang="en-US" sz="2000" dirty="0" err="1">
                <a:cs typeface="Times New Roman" pitchFamily="18" charset="0"/>
              </a:rPr>
              <a:t>Jasmeet</a:t>
            </a:r>
            <a:r>
              <a:rPr lang="en-US" sz="2000" dirty="0">
                <a:cs typeface="Times New Roman" pitchFamily="18" charset="0"/>
              </a:rPr>
              <a:t> Soar1 and Matt Thomas. The incidence of cardiac arrest in the intensive care unit: A systematic review and meta-analysis. Journal of the Intensive Care Society. 2019, Vol. 20(2):144–154</a:t>
            </a:r>
            <a:r>
              <a:rPr lang="en-US" sz="1800" dirty="0">
                <a:cs typeface="Times New Roman" pitchFamily="18" charset="0"/>
              </a:rPr>
              <a:t> 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100" spc="-1" dirty="0">
                <a:solidFill>
                  <a:srgbClr val="000000"/>
                </a:solidFill>
                <a:cs typeface="Times New Roman" pitchFamily="18" charset="0"/>
              </a:rPr>
              <a:t>Joyner et al. Pediatric Basic Life Support: 2025 AHA/AAP Guidelines for CPR and ECC.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100" spc="-1" dirty="0">
                <a:solidFill>
                  <a:srgbClr val="000000"/>
                </a:solidFill>
                <a:cs typeface="Times New Roman" pitchFamily="18" charset="0"/>
              </a:rPr>
              <a:t>Kleinman et al. Adult Basic Life Support: 2025 AHA Guidelines for CPR and ECC</a:t>
            </a:r>
          </a:p>
          <a:p>
            <a:pPr marL="0" indent="0">
              <a:buNone/>
            </a:pPr>
            <a:br>
              <a:rPr lang="en-US" sz="1800" dirty="0">
                <a:cs typeface="Times New Roman" pitchFamily="18" charset="0"/>
              </a:rPr>
            </a:br>
            <a:endParaRPr lang="en-US" sz="1800" dirty="0">
              <a:cs typeface="Times New Roman" pitchFamily="18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2ED5B6-1467-4D90-AFA3-964332CA33F9}" type="datetime4">
              <a:rPr lang="en-US" smtClean="0"/>
              <a:pPr/>
              <a:t>June 19, 2026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66973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2490</TotalTime>
  <Words>1856</Words>
  <Application>Microsoft Office PowerPoint</Application>
  <PresentationFormat>On-screen Show (4:3)</PresentationFormat>
  <Paragraphs>298</Paragraphs>
  <Slides>27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6" baseType="lpstr">
      <vt:lpstr>Aatrix OCRB</vt:lpstr>
      <vt:lpstr>Arial</vt:lpstr>
      <vt:lpstr>Calibri</vt:lpstr>
      <vt:lpstr>Courier New</vt:lpstr>
      <vt:lpstr>f1d2bxp1-upq-dzq-2af162z6sr88y</vt:lpstr>
      <vt:lpstr>Symbol</vt:lpstr>
      <vt:lpstr>Times New Roman</vt:lpstr>
      <vt:lpstr>Wingdings</vt:lpstr>
      <vt:lpstr>Office Theme</vt:lpstr>
      <vt:lpstr>Cardiopulmonary resuscitation (CPR)</vt:lpstr>
      <vt:lpstr>Outline of the presentation</vt:lpstr>
      <vt:lpstr>Definition</vt:lpstr>
      <vt:lpstr>Cont…</vt:lpstr>
      <vt:lpstr>Introduction</vt:lpstr>
      <vt:lpstr>Chain of survival  </vt:lpstr>
      <vt:lpstr>Chain of survival 2025 AHA updated</vt:lpstr>
      <vt:lpstr>Single Chain of survival (IHCA and OHCA)</vt:lpstr>
      <vt:lpstr>Old Chain of survival 2020 AHA…</vt:lpstr>
      <vt:lpstr>Chain of survival …</vt:lpstr>
      <vt:lpstr>Chain of survival …</vt:lpstr>
      <vt:lpstr>Cont…</vt:lpstr>
      <vt:lpstr>Incidence of CA</vt:lpstr>
      <vt:lpstr>Cont…</vt:lpstr>
      <vt:lpstr>Reversible causes of cardiac arrest </vt:lpstr>
      <vt:lpstr>Group discussion</vt:lpstr>
      <vt:lpstr>  Predisposing factors  and management to the ‘H’s  </vt:lpstr>
      <vt:lpstr> Predisposing factors  and management to the   ‘T’s  </vt:lpstr>
      <vt:lpstr>Causes of ICU-CA</vt:lpstr>
      <vt:lpstr>Cont…</vt:lpstr>
      <vt:lpstr>Cont… </vt:lpstr>
      <vt:lpstr>Cont…</vt:lpstr>
      <vt:lpstr>Cont… </vt:lpstr>
      <vt:lpstr> Signs of cardiac arrest  </vt:lpstr>
      <vt:lpstr>Components of resuscitation from CA</vt:lpstr>
      <vt:lpstr>Cont…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USER</dc:creator>
  <cp:lastModifiedBy>Mulualem Sitot</cp:lastModifiedBy>
  <cp:revision>614</cp:revision>
  <dcterms:created xsi:type="dcterms:W3CDTF">2006-08-16T00:00:00Z</dcterms:created>
  <dcterms:modified xsi:type="dcterms:W3CDTF">2026-06-19T03:03:48Z</dcterms:modified>
</cp:coreProperties>
</file>