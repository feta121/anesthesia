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256" r:id="rId2"/>
    <p:sldId id="257" r:id="rId3"/>
    <p:sldId id="258" r:id="rId4"/>
    <p:sldId id="259" r:id="rId5"/>
    <p:sldId id="284" r:id="rId6"/>
    <p:sldId id="260" r:id="rId7"/>
    <p:sldId id="285" r:id="rId8"/>
    <p:sldId id="286" r:id="rId9"/>
    <p:sldId id="288" r:id="rId10"/>
    <p:sldId id="311" r:id="rId11"/>
    <p:sldId id="317" r:id="rId12"/>
    <p:sldId id="291" r:id="rId13"/>
    <p:sldId id="318" r:id="rId14"/>
    <p:sldId id="316" r:id="rId15"/>
    <p:sldId id="315" r:id="rId16"/>
    <p:sldId id="313" r:id="rId17"/>
    <p:sldId id="290" r:id="rId18"/>
    <p:sldId id="261" r:id="rId19"/>
    <p:sldId id="292" r:id="rId20"/>
    <p:sldId id="294" r:id="rId21"/>
    <p:sldId id="295" r:id="rId22"/>
    <p:sldId id="299" r:id="rId23"/>
    <p:sldId id="297" r:id="rId24"/>
    <p:sldId id="263" r:id="rId25"/>
    <p:sldId id="301" r:id="rId26"/>
    <p:sldId id="300" r:id="rId27"/>
    <p:sldId id="302" r:id="rId28"/>
    <p:sldId id="264" r:id="rId29"/>
    <p:sldId id="314" r:id="rId30"/>
    <p:sldId id="265" r:id="rId31"/>
    <p:sldId id="275" r:id="rId32"/>
    <p:sldId id="283" r:id="rId33"/>
    <p:sldId id="266" r:id="rId34"/>
    <p:sldId id="281" r:id="rId35"/>
    <p:sldId id="268" r:id="rId36"/>
    <p:sldId id="303" r:id="rId37"/>
    <p:sldId id="269" r:id="rId38"/>
    <p:sldId id="270" r:id="rId39"/>
    <p:sldId id="272" r:id="rId40"/>
    <p:sldId id="304" r:id="rId41"/>
    <p:sldId id="271" r:id="rId42"/>
    <p:sldId id="309" r:id="rId43"/>
    <p:sldId id="273" r:id="rId44"/>
    <p:sldId id="274" r:id="rId45"/>
    <p:sldId id="276" r:id="rId46"/>
    <p:sldId id="277" r:id="rId47"/>
    <p:sldId id="306" r:id="rId48"/>
    <p:sldId id="279" r:id="rId49"/>
    <p:sldId id="280" r:id="rId50"/>
    <p:sldId id="308" r:id="rId51"/>
    <p:sldId id="310"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516" autoAdjust="0"/>
  </p:normalViewPr>
  <p:slideViewPr>
    <p:cSldViewPr>
      <p:cViewPr varScale="1">
        <p:scale>
          <a:sx n="58" d="100"/>
          <a:sy n="58" d="100"/>
        </p:scale>
        <p:origin x="17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10696D-9D89-412E-9D5B-14CCEADC1C8D}"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22243E57-EC1C-4240-8B86-4BE8216B232B}">
      <dgm:prSet custT="1"/>
      <dgm:spPr/>
      <dgm:t>
        <a:bodyPr/>
        <a:lstStyle/>
        <a:p>
          <a:r>
            <a:rPr lang="en-US" sz="2800" dirty="0">
              <a:latin typeface="Arial" panose="020B0604020202020204" pitchFamily="34" charset="0"/>
              <a:cs typeface="Arial" panose="020B0604020202020204" pitchFamily="34" charset="0"/>
            </a:rPr>
            <a:t>Upon completion of this session, you will be able to:</a:t>
          </a:r>
        </a:p>
      </dgm:t>
    </dgm:pt>
    <dgm:pt modelId="{BA9063FC-736C-4840-9A3D-EAA76FBDCE7D}" type="parTrans" cxnId="{406B3D9F-4E17-480C-A740-F8EC8107021D}">
      <dgm:prSet/>
      <dgm:spPr/>
      <dgm:t>
        <a:bodyPr/>
        <a:lstStyle/>
        <a:p>
          <a:endParaRPr lang="en-US"/>
        </a:p>
      </dgm:t>
    </dgm:pt>
    <dgm:pt modelId="{3D438031-3864-4EDA-996B-7459A8210DF6}" type="sibTrans" cxnId="{406B3D9F-4E17-480C-A740-F8EC8107021D}">
      <dgm:prSet/>
      <dgm:spPr/>
      <dgm:t>
        <a:bodyPr/>
        <a:lstStyle/>
        <a:p>
          <a:endParaRPr lang="en-US"/>
        </a:p>
      </dgm:t>
    </dgm:pt>
    <dgm:pt modelId="{AD9EE6F4-91A9-4172-AA41-F4BC2C3DAF8B}">
      <dgm:prSet custT="1"/>
      <dgm:spPr/>
      <dgm:t>
        <a:bodyPr/>
        <a:lstStyle/>
        <a:p>
          <a:r>
            <a:rPr lang="en-US" sz="2400" dirty="0">
              <a:latin typeface="Arial" panose="020B0604020202020204" pitchFamily="34" charset="0"/>
              <a:cs typeface="Arial" panose="020B0604020202020204" pitchFamily="34" charset="0"/>
            </a:rPr>
            <a:t>– Recognize critically ill patients using early warning score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Assess critically ill patient systematically using ABCDE approach.</a:t>
          </a:r>
        </a:p>
      </dgm:t>
    </dgm:pt>
    <dgm:pt modelId="{8020D55A-5CD5-4E93-9B60-C4133650D4A0}" type="parTrans" cxnId="{C0E39FFA-CACA-4463-8BB9-80F00928F11D}">
      <dgm:prSet/>
      <dgm:spPr/>
      <dgm:t>
        <a:bodyPr/>
        <a:lstStyle/>
        <a:p>
          <a:endParaRPr lang="en-US"/>
        </a:p>
      </dgm:t>
    </dgm:pt>
    <dgm:pt modelId="{49857CFB-6448-4135-87B0-6D595A7B3CD0}" type="sibTrans" cxnId="{C0E39FFA-CACA-4463-8BB9-80F00928F11D}">
      <dgm:prSet/>
      <dgm:spPr/>
      <dgm:t>
        <a:bodyPr/>
        <a:lstStyle/>
        <a:p>
          <a:endParaRPr lang="en-US"/>
        </a:p>
      </dgm:t>
    </dgm:pt>
    <dgm:pt modelId="{6B762C02-8E81-4F00-BB01-3A3323801C6B}">
      <dgm:prSet custT="1"/>
      <dgm:spPr/>
      <dgm:t>
        <a:bodyPr/>
        <a:lstStyle/>
        <a:p>
          <a:r>
            <a:rPr lang="en-US" sz="24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Initiate resuscitation for critically ill patients timely and effectively </a:t>
          </a:r>
          <a:endParaRPr lang="en-US" sz="2400" dirty="0">
            <a:latin typeface="Arial" panose="020B0604020202020204" pitchFamily="34" charset="0"/>
            <a:cs typeface="Arial" panose="020B0604020202020204" pitchFamily="34" charset="0"/>
          </a:endParaRPr>
        </a:p>
      </dgm:t>
    </dgm:pt>
    <dgm:pt modelId="{018349FB-45D2-49C0-9AEE-DBC954FC550F}" type="parTrans" cxnId="{BA1E5C32-595A-46CA-8085-31C3150D37B2}">
      <dgm:prSet/>
      <dgm:spPr/>
      <dgm:t>
        <a:bodyPr/>
        <a:lstStyle/>
        <a:p>
          <a:endParaRPr lang="en-US"/>
        </a:p>
      </dgm:t>
    </dgm:pt>
    <dgm:pt modelId="{10BD2822-1358-40C8-AB20-17E3A4851B43}" type="sibTrans" cxnId="{BA1E5C32-595A-46CA-8085-31C3150D37B2}">
      <dgm:prSet/>
      <dgm:spPr/>
      <dgm:t>
        <a:bodyPr/>
        <a:lstStyle/>
        <a:p>
          <a:endParaRPr lang="en-US"/>
        </a:p>
      </dgm:t>
    </dgm:pt>
    <dgm:pt modelId="{B5E96EF4-6B29-47C1-A7EC-0802712F4B47}" type="pres">
      <dgm:prSet presAssocID="{2510696D-9D89-412E-9D5B-14CCEADC1C8D}" presName="linear" presStyleCnt="0">
        <dgm:presLayoutVars>
          <dgm:animLvl val="lvl"/>
          <dgm:resizeHandles val="exact"/>
        </dgm:presLayoutVars>
      </dgm:prSet>
      <dgm:spPr/>
    </dgm:pt>
    <dgm:pt modelId="{382EFE10-2E62-4D6D-A377-41C74F3CC4F8}" type="pres">
      <dgm:prSet presAssocID="{22243E57-EC1C-4240-8B86-4BE8216B232B}" presName="parentText" presStyleLbl="node1" presStyleIdx="0" presStyleCnt="3" custScaleY="66108">
        <dgm:presLayoutVars>
          <dgm:chMax val="0"/>
          <dgm:bulletEnabled val="1"/>
        </dgm:presLayoutVars>
      </dgm:prSet>
      <dgm:spPr/>
    </dgm:pt>
    <dgm:pt modelId="{916F075B-46F1-4EC8-8F16-E04FFB667E43}" type="pres">
      <dgm:prSet presAssocID="{3D438031-3864-4EDA-996B-7459A8210DF6}" presName="spacer" presStyleCnt="0"/>
      <dgm:spPr/>
    </dgm:pt>
    <dgm:pt modelId="{003951DA-5B92-4DCC-A655-81E4712EC9EA}" type="pres">
      <dgm:prSet presAssocID="{AD9EE6F4-91A9-4172-AA41-F4BC2C3DAF8B}" presName="parentText" presStyleLbl="node1" presStyleIdx="1" presStyleCnt="3" custScaleY="72523">
        <dgm:presLayoutVars>
          <dgm:chMax val="0"/>
          <dgm:bulletEnabled val="1"/>
        </dgm:presLayoutVars>
      </dgm:prSet>
      <dgm:spPr/>
    </dgm:pt>
    <dgm:pt modelId="{E2D6500E-324D-42F6-8FC4-1DE03D5ABCDC}" type="pres">
      <dgm:prSet presAssocID="{49857CFB-6448-4135-87B0-6D595A7B3CD0}" presName="spacer" presStyleCnt="0"/>
      <dgm:spPr/>
    </dgm:pt>
    <dgm:pt modelId="{32327CBA-2877-46E4-9404-55ED3646F339}" type="pres">
      <dgm:prSet presAssocID="{6B762C02-8E81-4F00-BB01-3A3323801C6B}" presName="parentText" presStyleLbl="node1" presStyleIdx="2" presStyleCnt="3">
        <dgm:presLayoutVars>
          <dgm:chMax val="0"/>
          <dgm:bulletEnabled val="1"/>
        </dgm:presLayoutVars>
      </dgm:prSet>
      <dgm:spPr/>
    </dgm:pt>
  </dgm:ptLst>
  <dgm:cxnLst>
    <dgm:cxn modelId="{5488400C-2113-43D7-AEDF-08A2560D32F7}" type="presOf" srcId="{2510696D-9D89-412E-9D5B-14CCEADC1C8D}" destId="{B5E96EF4-6B29-47C1-A7EC-0802712F4B47}" srcOrd="0" destOrd="0" presId="urn:microsoft.com/office/officeart/2005/8/layout/vList2"/>
    <dgm:cxn modelId="{842E9122-2096-46EE-AAB2-231AF1431840}" type="presOf" srcId="{AD9EE6F4-91A9-4172-AA41-F4BC2C3DAF8B}" destId="{003951DA-5B92-4DCC-A655-81E4712EC9EA}" srcOrd="0" destOrd="0" presId="urn:microsoft.com/office/officeart/2005/8/layout/vList2"/>
    <dgm:cxn modelId="{BA1E5C32-595A-46CA-8085-31C3150D37B2}" srcId="{2510696D-9D89-412E-9D5B-14CCEADC1C8D}" destId="{6B762C02-8E81-4F00-BB01-3A3323801C6B}" srcOrd="2" destOrd="0" parTransId="{018349FB-45D2-49C0-9AEE-DBC954FC550F}" sibTransId="{10BD2822-1358-40C8-AB20-17E3A4851B43}"/>
    <dgm:cxn modelId="{D1E8149D-FC41-400F-B5A2-C9941A9DE00D}" type="presOf" srcId="{22243E57-EC1C-4240-8B86-4BE8216B232B}" destId="{382EFE10-2E62-4D6D-A377-41C74F3CC4F8}" srcOrd="0" destOrd="0" presId="urn:microsoft.com/office/officeart/2005/8/layout/vList2"/>
    <dgm:cxn modelId="{406B3D9F-4E17-480C-A740-F8EC8107021D}" srcId="{2510696D-9D89-412E-9D5B-14CCEADC1C8D}" destId="{22243E57-EC1C-4240-8B86-4BE8216B232B}" srcOrd="0" destOrd="0" parTransId="{BA9063FC-736C-4840-9A3D-EAA76FBDCE7D}" sibTransId="{3D438031-3864-4EDA-996B-7459A8210DF6}"/>
    <dgm:cxn modelId="{E4FDBFD7-2614-4908-A682-0BB5CFED768D}" type="presOf" srcId="{6B762C02-8E81-4F00-BB01-3A3323801C6B}" destId="{32327CBA-2877-46E4-9404-55ED3646F339}" srcOrd="0" destOrd="0" presId="urn:microsoft.com/office/officeart/2005/8/layout/vList2"/>
    <dgm:cxn modelId="{C0E39FFA-CACA-4463-8BB9-80F00928F11D}" srcId="{2510696D-9D89-412E-9D5B-14CCEADC1C8D}" destId="{AD9EE6F4-91A9-4172-AA41-F4BC2C3DAF8B}" srcOrd="1" destOrd="0" parTransId="{8020D55A-5CD5-4E93-9B60-C4133650D4A0}" sibTransId="{49857CFB-6448-4135-87B0-6D595A7B3CD0}"/>
    <dgm:cxn modelId="{DAD10456-36FD-46AC-BFDE-2F4C0E799BA0}" type="presParOf" srcId="{B5E96EF4-6B29-47C1-A7EC-0802712F4B47}" destId="{382EFE10-2E62-4D6D-A377-41C74F3CC4F8}" srcOrd="0" destOrd="0" presId="urn:microsoft.com/office/officeart/2005/8/layout/vList2"/>
    <dgm:cxn modelId="{854DA54F-708E-4AA5-B730-DD0969B23F61}" type="presParOf" srcId="{B5E96EF4-6B29-47C1-A7EC-0802712F4B47}" destId="{916F075B-46F1-4EC8-8F16-E04FFB667E43}" srcOrd="1" destOrd="0" presId="urn:microsoft.com/office/officeart/2005/8/layout/vList2"/>
    <dgm:cxn modelId="{0AE316D3-36E4-4633-B72D-364A4734CFCD}" type="presParOf" srcId="{B5E96EF4-6B29-47C1-A7EC-0802712F4B47}" destId="{003951DA-5B92-4DCC-A655-81E4712EC9EA}" srcOrd="2" destOrd="0" presId="urn:microsoft.com/office/officeart/2005/8/layout/vList2"/>
    <dgm:cxn modelId="{29393917-4CAD-4DEC-BF21-04DFCA748C80}" type="presParOf" srcId="{B5E96EF4-6B29-47C1-A7EC-0802712F4B47}" destId="{E2D6500E-324D-42F6-8FC4-1DE03D5ABCDC}" srcOrd="3" destOrd="0" presId="urn:microsoft.com/office/officeart/2005/8/layout/vList2"/>
    <dgm:cxn modelId="{295D5612-E0E0-422C-977C-D3D7F7BB01D3}" type="presParOf" srcId="{B5E96EF4-6B29-47C1-A7EC-0802712F4B47}" destId="{32327CBA-2877-46E4-9404-55ED3646F33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FDB7DD-424C-4874-A115-76019A130F8C}" type="doc">
      <dgm:prSet loTypeId="urn:microsoft.com/office/officeart/2005/8/layout/vList2" loCatId="list" qsTypeId="urn:microsoft.com/office/officeart/2005/8/quickstyle/simple1" qsCatId="simple" csTypeId="urn:microsoft.com/office/officeart/2005/8/colors/accent0_1" csCatId="mainScheme"/>
      <dgm:spPr/>
      <dgm:t>
        <a:bodyPr/>
        <a:lstStyle/>
        <a:p>
          <a:endParaRPr lang="en-US"/>
        </a:p>
      </dgm:t>
    </dgm:pt>
    <dgm:pt modelId="{D00495B6-20E8-4BFF-A8BB-0D2757FD7021}">
      <dgm:prSet/>
      <dgm:spPr/>
      <dgm:t>
        <a:bodyPr/>
        <a:lstStyle/>
        <a:p>
          <a:r>
            <a:rPr lang="en-US"/>
            <a:t>The approach to critically ill patients should ALWAYS follow the ABCDE approach</a:t>
          </a:r>
        </a:p>
      </dgm:t>
    </dgm:pt>
    <dgm:pt modelId="{553E0E7A-1510-4EEF-AEC7-42544156B81D}" type="parTrans" cxnId="{F3A07AEE-9E22-4F98-906E-8183D48440F1}">
      <dgm:prSet/>
      <dgm:spPr/>
      <dgm:t>
        <a:bodyPr/>
        <a:lstStyle/>
        <a:p>
          <a:endParaRPr lang="en-US"/>
        </a:p>
      </dgm:t>
    </dgm:pt>
    <dgm:pt modelId="{39CB58F5-CD30-4F25-AF2E-38083B5E916B}" type="sibTrans" cxnId="{F3A07AEE-9E22-4F98-906E-8183D48440F1}">
      <dgm:prSet/>
      <dgm:spPr/>
      <dgm:t>
        <a:bodyPr/>
        <a:lstStyle/>
        <a:p>
          <a:endParaRPr lang="en-US"/>
        </a:p>
      </dgm:t>
    </dgm:pt>
    <dgm:pt modelId="{1BCCF1E3-35B3-41A2-80ED-FA4F86CAA42D}">
      <dgm:prSet/>
      <dgm:spPr/>
      <dgm:t>
        <a:bodyPr/>
        <a:lstStyle/>
        <a:p>
          <a:r>
            <a:rPr lang="en-US"/>
            <a:t>–(A) Airway</a:t>
          </a:r>
          <a:br>
            <a:rPr lang="en-US"/>
          </a:br>
          <a:r>
            <a:rPr lang="en-US"/>
            <a:t>– (B) Breathing</a:t>
          </a:r>
          <a:br>
            <a:rPr lang="en-US"/>
          </a:br>
          <a:r>
            <a:rPr lang="en-US"/>
            <a:t>– (C) Circulation</a:t>
          </a:r>
          <a:br>
            <a:rPr lang="en-US"/>
          </a:br>
          <a:r>
            <a:rPr lang="en-US"/>
            <a:t>– (D) Disability</a:t>
          </a:r>
          <a:br>
            <a:rPr lang="en-US"/>
          </a:br>
          <a:r>
            <a:rPr lang="en-US"/>
            <a:t>– (E) Exposure</a:t>
          </a:r>
        </a:p>
      </dgm:t>
    </dgm:pt>
    <dgm:pt modelId="{D1191BDD-AC0B-4F39-946F-2174A0FF662B}" type="parTrans" cxnId="{3DB98AB5-6F81-4A07-9743-544A1D94E8B1}">
      <dgm:prSet/>
      <dgm:spPr/>
      <dgm:t>
        <a:bodyPr/>
        <a:lstStyle/>
        <a:p>
          <a:endParaRPr lang="en-US"/>
        </a:p>
      </dgm:t>
    </dgm:pt>
    <dgm:pt modelId="{32DC0F5F-3572-4ED5-88D3-F4C18A0DB2EC}" type="sibTrans" cxnId="{3DB98AB5-6F81-4A07-9743-544A1D94E8B1}">
      <dgm:prSet/>
      <dgm:spPr/>
      <dgm:t>
        <a:bodyPr/>
        <a:lstStyle/>
        <a:p>
          <a:endParaRPr lang="en-US"/>
        </a:p>
      </dgm:t>
    </dgm:pt>
    <dgm:pt modelId="{966D7CEC-88F2-4D00-96A4-82687938D0E6}">
      <dgm:prSet/>
      <dgm:spPr/>
      <dgm:t>
        <a:bodyPr/>
        <a:lstStyle/>
        <a:p>
          <a:r>
            <a:rPr lang="en-US"/>
            <a:t>• Treat life-threatening problems before moving to the next step</a:t>
          </a:r>
          <a:br>
            <a:rPr lang="en-US"/>
          </a:br>
          <a:r>
            <a:rPr lang="en-US"/>
            <a:t>• Re-assess regularly</a:t>
          </a:r>
          <a:br>
            <a:rPr lang="en-US"/>
          </a:br>
          <a:r>
            <a:rPr lang="en-US"/>
            <a:t>• Recognize the need for additional help early &amp; use a team effectively</a:t>
          </a:r>
          <a:br>
            <a:rPr lang="en-US"/>
          </a:br>
          <a:r>
            <a:rPr lang="en-US"/>
            <a:t>• Multiple tasks need to occur simultaneously requiring multiple people </a:t>
          </a:r>
          <a:br>
            <a:rPr lang="en-US"/>
          </a:br>
          <a:endParaRPr lang="en-US"/>
        </a:p>
      </dgm:t>
    </dgm:pt>
    <dgm:pt modelId="{D89E3767-4B0E-4A67-BBB2-886ABBD5F12D}" type="parTrans" cxnId="{F4CBB8B8-E4D5-4FAF-9CBB-709871412025}">
      <dgm:prSet/>
      <dgm:spPr/>
      <dgm:t>
        <a:bodyPr/>
        <a:lstStyle/>
        <a:p>
          <a:endParaRPr lang="en-US"/>
        </a:p>
      </dgm:t>
    </dgm:pt>
    <dgm:pt modelId="{04B022AB-DC3C-46CA-8D9F-8C1E7F08230B}" type="sibTrans" cxnId="{F4CBB8B8-E4D5-4FAF-9CBB-709871412025}">
      <dgm:prSet/>
      <dgm:spPr/>
      <dgm:t>
        <a:bodyPr/>
        <a:lstStyle/>
        <a:p>
          <a:endParaRPr lang="en-US"/>
        </a:p>
      </dgm:t>
    </dgm:pt>
    <dgm:pt modelId="{7D5FF787-816F-4838-9A22-0C62C06DB944}" type="pres">
      <dgm:prSet presAssocID="{CDFDB7DD-424C-4874-A115-76019A130F8C}" presName="linear" presStyleCnt="0">
        <dgm:presLayoutVars>
          <dgm:animLvl val="lvl"/>
          <dgm:resizeHandles val="exact"/>
        </dgm:presLayoutVars>
      </dgm:prSet>
      <dgm:spPr/>
    </dgm:pt>
    <dgm:pt modelId="{C6229162-B229-43B3-84E2-293A268932A2}" type="pres">
      <dgm:prSet presAssocID="{D00495B6-20E8-4BFF-A8BB-0D2757FD7021}" presName="parentText" presStyleLbl="node1" presStyleIdx="0" presStyleCnt="3">
        <dgm:presLayoutVars>
          <dgm:chMax val="0"/>
          <dgm:bulletEnabled val="1"/>
        </dgm:presLayoutVars>
      </dgm:prSet>
      <dgm:spPr/>
    </dgm:pt>
    <dgm:pt modelId="{81DB1E1F-4AD0-4975-9C3A-FBCA6D8F52DD}" type="pres">
      <dgm:prSet presAssocID="{39CB58F5-CD30-4F25-AF2E-38083B5E916B}" presName="spacer" presStyleCnt="0"/>
      <dgm:spPr/>
    </dgm:pt>
    <dgm:pt modelId="{C0B9BB84-A524-4270-AD89-C0BBE8B1BB8B}" type="pres">
      <dgm:prSet presAssocID="{1BCCF1E3-35B3-41A2-80ED-FA4F86CAA42D}" presName="parentText" presStyleLbl="node1" presStyleIdx="1" presStyleCnt="3">
        <dgm:presLayoutVars>
          <dgm:chMax val="0"/>
          <dgm:bulletEnabled val="1"/>
        </dgm:presLayoutVars>
      </dgm:prSet>
      <dgm:spPr/>
    </dgm:pt>
    <dgm:pt modelId="{62E3D430-562C-485B-B89B-F3EC075A6699}" type="pres">
      <dgm:prSet presAssocID="{32DC0F5F-3572-4ED5-88D3-F4C18A0DB2EC}" presName="spacer" presStyleCnt="0"/>
      <dgm:spPr/>
    </dgm:pt>
    <dgm:pt modelId="{1671A36F-F53F-4FD6-B923-1518024DD498}" type="pres">
      <dgm:prSet presAssocID="{966D7CEC-88F2-4D00-96A4-82687938D0E6}" presName="parentText" presStyleLbl="node1" presStyleIdx="2" presStyleCnt="3">
        <dgm:presLayoutVars>
          <dgm:chMax val="0"/>
          <dgm:bulletEnabled val="1"/>
        </dgm:presLayoutVars>
      </dgm:prSet>
      <dgm:spPr/>
    </dgm:pt>
  </dgm:ptLst>
  <dgm:cxnLst>
    <dgm:cxn modelId="{9D8FA233-5EC5-47D6-BDDF-63C69FB1BAE2}" type="presOf" srcId="{D00495B6-20E8-4BFF-A8BB-0D2757FD7021}" destId="{C6229162-B229-43B3-84E2-293A268932A2}" srcOrd="0" destOrd="0" presId="urn:microsoft.com/office/officeart/2005/8/layout/vList2"/>
    <dgm:cxn modelId="{70D83D66-B479-4A56-A3B9-FE3D071F2C8F}" type="presOf" srcId="{966D7CEC-88F2-4D00-96A4-82687938D0E6}" destId="{1671A36F-F53F-4FD6-B923-1518024DD498}" srcOrd="0" destOrd="0" presId="urn:microsoft.com/office/officeart/2005/8/layout/vList2"/>
    <dgm:cxn modelId="{2362FD55-7DB6-4DB5-BE68-757ACFE0301F}" type="presOf" srcId="{CDFDB7DD-424C-4874-A115-76019A130F8C}" destId="{7D5FF787-816F-4838-9A22-0C62C06DB944}" srcOrd="0" destOrd="0" presId="urn:microsoft.com/office/officeart/2005/8/layout/vList2"/>
    <dgm:cxn modelId="{3DB98AB5-6F81-4A07-9743-544A1D94E8B1}" srcId="{CDFDB7DD-424C-4874-A115-76019A130F8C}" destId="{1BCCF1E3-35B3-41A2-80ED-FA4F86CAA42D}" srcOrd="1" destOrd="0" parTransId="{D1191BDD-AC0B-4F39-946F-2174A0FF662B}" sibTransId="{32DC0F5F-3572-4ED5-88D3-F4C18A0DB2EC}"/>
    <dgm:cxn modelId="{F4CBB8B8-E4D5-4FAF-9CBB-709871412025}" srcId="{CDFDB7DD-424C-4874-A115-76019A130F8C}" destId="{966D7CEC-88F2-4D00-96A4-82687938D0E6}" srcOrd="2" destOrd="0" parTransId="{D89E3767-4B0E-4A67-BBB2-886ABBD5F12D}" sibTransId="{04B022AB-DC3C-46CA-8D9F-8C1E7F08230B}"/>
    <dgm:cxn modelId="{899DCAB9-2B39-446A-8EDE-CD3674718F89}" type="presOf" srcId="{1BCCF1E3-35B3-41A2-80ED-FA4F86CAA42D}" destId="{C0B9BB84-A524-4270-AD89-C0BBE8B1BB8B}" srcOrd="0" destOrd="0" presId="urn:microsoft.com/office/officeart/2005/8/layout/vList2"/>
    <dgm:cxn modelId="{F3A07AEE-9E22-4F98-906E-8183D48440F1}" srcId="{CDFDB7DD-424C-4874-A115-76019A130F8C}" destId="{D00495B6-20E8-4BFF-A8BB-0D2757FD7021}" srcOrd="0" destOrd="0" parTransId="{553E0E7A-1510-4EEF-AEC7-42544156B81D}" sibTransId="{39CB58F5-CD30-4F25-AF2E-38083B5E916B}"/>
    <dgm:cxn modelId="{EC849D55-20EF-4C09-AD11-678F7E85C9A0}" type="presParOf" srcId="{7D5FF787-816F-4838-9A22-0C62C06DB944}" destId="{C6229162-B229-43B3-84E2-293A268932A2}" srcOrd="0" destOrd="0" presId="urn:microsoft.com/office/officeart/2005/8/layout/vList2"/>
    <dgm:cxn modelId="{75236BE0-F4D4-4442-A83F-9055A9B84835}" type="presParOf" srcId="{7D5FF787-816F-4838-9A22-0C62C06DB944}" destId="{81DB1E1F-4AD0-4975-9C3A-FBCA6D8F52DD}" srcOrd="1" destOrd="0" presId="urn:microsoft.com/office/officeart/2005/8/layout/vList2"/>
    <dgm:cxn modelId="{B0F1839E-A659-4FE5-9CDC-6CEC34CD3870}" type="presParOf" srcId="{7D5FF787-816F-4838-9A22-0C62C06DB944}" destId="{C0B9BB84-A524-4270-AD89-C0BBE8B1BB8B}" srcOrd="2" destOrd="0" presId="urn:microsoft.com/office/officeart/2005/8/layout/vList2"/>
    <dgm:cxn modelId="{3A13D93F-2B0C-4CBE-A16C-8CFD9E243AD7}" type="presParOf" srcId="{7D5FF787-816F-4838-9A22-0C62C06DB944}" destId="{62E3D430-562C-485B-B89B-F3EC075A6699}" srcOrd="3" destOrd="0" presId="urn:microsoft.com/office/officeart/2005/8/layout/vList2"/>
    <dgm:cxn modelId="{520683DD-2409-4B42-B178-E2B2D176719F}" type="presParOf" srcId="{7D5FF787-816F-4838-9A22-0C62C06DB944}" destId="{1671A36F-F53F-4FD6-B923-1518024DD498}"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0C21F8-299D-42AF-859D-2937C3D60B5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D08D18F3-1101-4DC2-B84C-A31AB6ECA9E7}">
      <dgm:prSet custT="1"/>
      <dgm:spPr/>
      <dgm:t>
        <a:bodyPr/>
        <a:lstStyle/>
        <a:p>
          <a:pPr algn="l"/>
          <a:r>
            <a:rPr lang="en-US" sz="2200" dirty="0">
              <a:latin typeface="Arial" panose="020B0604020202020204" pitchFamily="34" charset="0"/>
              <a:cs typeface="Arial" panose="020B0604020202020204" pitchFamily="34" charset="0"/>
            </a:rPr>
            <a:t>The </a:t>
          </a:r>
          <a:r>
            <a:rPr lang="en-US" sz="2200" b="1" dirty="0">
              <a:latin typeface="Arial" panose="020B0604020202020204" pitchFamily="34" charset="0"/>
              <a:cs typeface="Arial" panose="020B0604020202020204" pitchFamily="34" charset="0"/>
            </a:rPr>
            <a:t>ABCDE approach</a:t>
          </a:r>
          <a:r>
            <a:rPr lang="en-US" sz="2200" dirty="0">
              <a:latin typeface="Arial" panose="020B0604020202020204" pitchFamily="34" charset="0"/>
              <a:cs typeface="Arial" panose="020B0604020202020204" pitchFamily="34" charset="0"/>
            </a:rPr>
            <a:t> is intended as a rapid bedside assessment of a deteriorating/ critically ill patient, and </a:t>
          </a:r>
        </a:p>
      </dgm:t>
    </dgm:pt>
    <dgm:pt modelId="{ACC748F9-884B-4559-B2C6-27218B1AA1DC}" type="parTrans" cxnId="{8BEE6BC1-1539-4B3C-87A2-DC9CF990599E}">
      <dgm:prSet/>
      <dgm:spPr/>
      <dgm:t>
        <a:bodyPr/>
        <a:lstStyle/>
        <a:p>
          <a:endParaRPr lang="en-US"/>
        </a:p>
      </dgm:t>
    </dgm:pt>
    <dgm:pt modelId="{C2658D35-6925-4DB1-B55D-58A05E2EAFF0}" type="sibTrans" cxnId="{8BEE6BC1-1539-4B3C-87A2-DC9CF990599E}">
      <dgm:prSet/>
      <dgm:spPr/>
      <dgm:t>
        <a:bodyPr/>
        <a:lstStyle/>
        <a:p>
          <a:endParaRPr lang="en-US"/>
        </a:p>
      </dgm:t>
    </dgm:pt>
    <dgm:pt modelId="{64E58C48-59CA-4B9C-940B-C254413E9EC3}">
      <dgm:prSet custT="1"/>
      <dgm:spPr/>
      <dgm:t>
        <a:bodyPr/>
        <a:lstStyle/>
        <a:p>
          <a:r>
            <a:rPr lang="en-US" sz="2400" dirty="0">
              <a:latin typeface="Arial" panose="020B0604020202020204" pitchFamily="34" charset="0"/>
              <a:cs typeface="Arial" panose="020B0604020202020204" pitchFamily="34" charset="0"/>
            </a:rPr>
            <a:t>It is designed to provide the initial management of life-threatening conditions in order of priority, </a:t>
          </a:r>
        </a:p>
      </dgm:t>
    </dgm:pt>
    <dgm:pt modelId="{29BE5C89-61D1-4DA2-AF73-34092C9FA9E5}" type="parTrans" cxnId="{4103D0DE-7404-4B8A-87C6-E38D4AC899D2}">
      <dgm:prSet/>
      <dgm:spPr/>
      <dgm:t>
        <a:bodyPr/>
        <a:lstStyle/>
        <a:p>
          <a:endParaRPr lang="en-US"/>
        </a:p>
      </dgm:t>
    </dgm:pt>
    <dgm:pt modelId="{553974F0-56A2-4732-959F-9AAB729FB632}" type="sibTrans" cxnId="{4103D0DE-7404-4B8A-87C6-E38D4AC899D2}">
      <dgm:prSet/>
      <dgm:spPr/>
      <dgm:t>
        <a:bodyPr/>
        <a:lstStyle/>
        <a:p>
          <a:endParaRPr lang="en-US"/>
        </a:p>
      </dgm:t>
    </dgm:pt>
    <dgm:pt modelId="{92503636-808A-43D8-A5D4-5C6D151F6228}">
      <dgm:prSet custT="1"/>
      <dgm:spPr/>
      <dgm:t>
        <a:bodyPr/>
        <a:lstStyle/>
        <a:p>
          <a:r>
            <a:rPr lang="en-US" sz="2400" dirty="0">
              <a:latin typeface="Arial" panose="020B0604020202020204" pitchFamily="34" charset="0"/>
              <a:cs typeface="Arial" panose="020B0604020202020204" pitchFamily="34" charset="0"/>
            </a:rPr>
            <a:t>Often one has to</a:t>
          </a:r>
        </a:p>
      </dgm:t>
    </dgm:pt>
    <dgm:pt modelId="{D7CFE996-7151-4009-80D4-8F28503BCCDC}" type="parTrans" cxnId="{16B58097-C5D6-42F9-BA96-0F9FBBF0D5B4}">
      <dgm:prSet/>
      <dgm:spPr/>
      <dgm:t>
        <a:bodyPr/>
        <a:lstStyle/>
        <a:p>
          <a:endParaRPr lang="en-US"/>
        </a:p>
      </dgm:t>
    </dgm:pt>
    <dgm:pt modelId="{F4923A43-2B0E-45BF-8CD2-F81194A8781B}" type="sibTrans" cxnId="{16B58097-C5D6-42F9-BA96-0F9FBBF0D5B4}">
      <dgm:prSet/>
      <dgm:spPr/>
      <dgm:t>
        <a:bodyPr/>
        <a:lstStyle/>
        <a:p>
          <a:endParaRPr lang="en-US"/>
        </a:p>
      </dgm:t>
    </dgm:pt>
    <dgm:pt modelId="{EA3E5C47-BFD4-4128-A08E-A02B13E5D6C6}">
      <dgm:prSet custT="1"/>
      <dgm:spPr/>
      <dgm:t>
        <a:bodyPr/>
        <a:lstStyle/>
        <a:p>
          <a:r>
            <a:rPr lang="en-US" sz="2000" dirty="0">
              <a:latin typeface="Arial" panose="020B0604020202020204" pitchFamily="34" charset="0"/>
              <a:cs typeface="Arial" panose="020B0604020202020204" pitchFamily="34" charset="0"/>
            </a:rPr>
            <a:t>quickly assess the patient, </a:t>
          </a:r>
        </a:p>
      </dgm:t>
    </dgm:pt>
    <dgm:pt modelId="{FFEBB1C1-C613-49A9-A914-C469C1F8C19A}" type="parTrans" cxnId="{F7AFE2C9-1B56-40E0-868B-068D3137BF35}">
      <dgm:prSet/>
      <dgm:spPr/>
      <dgm:t>
        <a:bodyPr/>
        <a:lstStyle/>
        <a:p>
          <a:endParaRPr lang="en-US"/>
        </a:p>
      </dgm:t>
    </dgm:pt>
    <dgm:pt modelId="{DA4B0C94-720E-42F3-A7D9-7C58059CB5E3}" type="sibTrans" cxnId="{F7AFE2C9-1B56-40E0-868B-068D3137BF35}">
      <dgm:prSet/>
      <dgm:spPr/>
      <dgm:t>
        <a:bodyPr/>
        <a:lstStyle/>
        <a:p>
          <a:endParaRPr lang="en-US"/>
        </a:p>
      </dgm:t>
    </dgm:pt>
    <dgm:pt modelId="{405A9A65-9A47-431C-9192-F4F9C68540FC}">
      <dgm:prSet custT="1"/>
      <dgm:spPr/>
      <dgm:t>
        <a:bodyPr/>
        <a:lstStyle/>
        <a:p>
          <a:r>
            <a:rPr lang="en-US" sz="2000" dirty="0">
              <a:latin typeface="Arial" panose="020B0604020202020204" pitchFamily="34" charset="0"/>
              <a:cs typeface="Arial" panose="020B0604020202020204" pitchFamily="34" charset="0"/>
            </a:rPr>
            <a:t>institute life saving measures, </a:t>
          </a:r>
        </a:p>
      </dgm:t>
    </dgm:pt>
    <dgm:pt modelId="{D50352BE-59F9-40FF-955D-50D0E0470E3F}" type="parTrans" cxnId="{5BBE567C-904C-49E0-9ED2-C16A04187A23}">
      <dgm:prSet/>
      <dgm:spPr/>
      <dgm:t>
        <a:bodyPr/>
        <a:lstStyle/>
        <a:p>
          <a:endParaRPr lang="en-US"/>
        </a:p>
      </dgm:t>
    </dgm:pt>
    <dgm:pt modelId="{FA3C2D08-9F5F-44AD-B27F-F89BC0A1C6BC}" type="sibTrans" cxnId="{5BBE567C-904C-49E0-9ED2-C16A04187A23}">
      <dgm:prSet/>
      <dgm:spPr/>
      <dgm:t>
        <a:bodyPr/>
        <a:lstStyle/>
        <a:p>
          <a:endParaRPr lang="en-US"/>
        </a:p>
      </dgm:t>
    </dgm:pt>
    <dgm:pt modelId="{BFDE00C2-DA99-4982-89CE-EAB81897C141}">
      <dgm:prSet custT="1"/>
      <dgm:spPr/>
      <dgm:t>
        <a:bodyPr/>
        <a:lstStyle/>
        <a:p>
          <a:r>
            <a:rPr lang="en-US" sz="2000" dirty="0">
              <a:latin typeface="Arial" panose="020B0604020202020204" pitchFamily="34" charset="0"/>
              <a:cs typeface="Arial" panose="020B0604020202020204" pitchFamily="34" charset="0"/>
            </a:rPr>
            <a:t>correct parameters and </a:t>
          </a:r>
        </a:p>
      </dgm:t>
    </dgm:pt>
    <dgm:pt modelId="{0083F058-9CFD-4214-B698-12AFA1209C2B}" type="parTrans" cxnId="{587DF9C3-4DFF-4E50-BC95-29A8916D0097}">
      <dgm:prSet/>
      <dgm:spPr/>
      <dgm:t>
        <a:bodyPr/>
        <a:lstStyle/>
        <a:p>
          <a:endParaRPr lang="en-US"/>
        </a:p>
      </dgm:t>
    </dgm:pt>
    <dgm:pt modelId="{B72A5B7A-60E3-486C-894F-9A298E124047}" type="sibTrans" cxnId="{587DF9C3-4DFF-4E50-BC95-29A8916D0097}">
      <dgm:prSet/>
      <dgm:spPr/>
      <dgm:t>
        <a:bodyPr/>
        <a:lstStyle/>
        <a:p>
          <a:endParaRPr lang="en-US"/>
        </a:p>
      </dgm:t>
    </dgm:pt>
    <dgm:pt modelId="{17D631BC-0261-48D2-8E50-EB65F431F920}">
      <dgm:prSet custT="1"/>
      <dgm:spPr/>
      <dgm:t>
        <a:bodyPr/>
        <a:lstStyle/>
        <a:p>
          <a:r>
            <a:rPr lang="en-US" sz="2000" dirty="0">
              <a:latin typeface="Arial" panose="020B0604020202020204" pitchFamily="34" charset="0"/>
              <a:cs typeface="Arial" panose="020B0604020202020204" pitchFamily="34" charset="0"/>
            </a:rPr>
            <a:t>start empiric treatment quickly, even before arriving at a definite diagnosis.</a:t>
          </a:r>
        </a:p>
      </dgm:t>
    </dgm:pt>
    <dgm:pt modelId="{41172C83-5018-4FAA-B93E-5B144FF48FFC}" type="parTrans" cxnId="{CF02A2D2-2220-47D1-828B-D5CFD1AE8475}">
      <dgm:prSet/>
      <dgm:spPr/>
      <dgm:t>
        <a:bodyPr/>
        <a:lstStyle/>
        <a:p>
          <a:endParaRPr lang="en-US"/>
        </a:p>
      </dgm:t>
    </dgm:pt>
    <dgm:pt modelId="{9EE00F71-3A43-44CA-8C57-2F46333094C4}" type="sibTrans" cxnId="{CF02A2D2-2220-47D1-828B-D5CFD1AE8475}">
      <dgm:prSet/>
      <dgm:spPr/>
      <dgm:t>
        <a:bodyPr/>
        <a:lstStyle/>
        <a:p>
          <a:endParaRPr lang="en-US"/>
        </a:p>
      </dgm:t>
    </dgm:pt>
    <dgm:pt modelId="{BBCA997D-870C-4601-AE56-141807C49DB1}" type="pres">
      <dgm:prSet presAssocID="{F30C21F8-299D-42AF-859D-2937C3D60B59}" presName="linear" presStyleCnt="0">
        <dgm:presLayoutVars>
          <dgm:animLvl val="lvl"/>
          <dgm:resizeHandles val="exact"/>
        </dgm:presLayoutVars>
      </dgm:prSet>
      <dgm:spPr/>
    </dgm:pt>
    <dgm:pt modelId="{932E3324-280D-4656-AC01-15F5CDC37962}" type="pres">
      <dgm:prSet presAssocID="{D08D18F3-1101-4DC2-B84C-A31AB6ECA9E7}" presName="parentText" presStyleLbl="node1" presStyleIdx="0" presStyleCnt="3" custScaleY="110442">
        <dgm:presLayoutVars>
          <dgm:chMax val="0"/>
          <dgm:bulletEnabled val="1"/>
        </dgm:presLayoutVars>
      </dgm:prSet>
      <dgm:spPr/>
    </dgm:pt>
    <dgm:pt modelId="{A04E1F0C-34B7-4063-AEA4-50B512600BE6}" type="pres">
      <dgm:prSet presAssocID="{C2658D35-6925-4DB1-B55D-58A05E2EAFF0}" presName="spacer" presStyleCnt="0"/>
      <dgm:spPr/>
    </dgm:pt>
    <dgm:pt modelId="{1689A20C-3734-4A3B-8107-1AD17FFA7D4E}" type="pres">
      <dgm:prSet presAssocID="{64E58C48-59CA-4B9C-940B-C254413E9EC3}" presName="parentText" presStyleLbl="node1" presStyleIdx="1" presStyleCnt="3" custScaleY="65992">
        <dgm:presLayoutVars>
          <dgm:chMax val="0"/>
          <dgm:bulletEnabled val="1"/>
        </dgm:presLayoutVars>
      </dgm:prSet>
      <dgm:spPr/>
    </dgm:pt>
    <dgm:pt modelId="{35FC349E-B04A-4FE9-BB3C-00CFC91E954E}" type="pres">
      <dgm:prSet presAssocID="{553974F0-56A2-4732-959F-9AAB729FB632}" presName="spacer" presStyleCnt="0"/>
      <dgm:spPr/>
    </dgm:pt>
    <dgm:pt modelId="{C77B430F-7F17-4D59-BC3C-1675D4FF38D5}" type="pres">
      <dgm:prSet presAssocID="{92503636-808A-43D8-A5D4-5C6D151F6228}" presName="parentText" presStyleLbl="node1" presStyleIdx="2" presStyleCnt="3" custScaleY="47003">
        <dgm:presLayoutVars>
          <dgm:chMax val="0"/>
          <dgm:bulletEnabled val="1"/>
        </dgm:presLayoutVars>
      </dgm:prSet>
      <dgm:spPr/>
    </dgm:pt>
    <dgm:pt modelId="{6F8CC440-5F34-4C6F-9F23-1E712DF6A086}" type="pres">
      <dgm:prSet presAssocID="{92503636-808A-43D8-A5D4-5C6D151F6228}" presName="childText" presStyleLbl="revTx" presStyleIdx="0" presStyleCnt="1">
        <dgm:presLayoutVars>
          <dgm:bulletEnabled val="1"/>
        </dgm:presLayoutVars>
      </dgm:prSet>
      <dgm:spPr/>
    </dgm:pt>
  </dgm:ptLst>
  <dgm:cxnLst>
    <dgm:cxn modelId="{5D6CBC09-93FA-43C9-AD07-31706D958961}" type="presOf" srcId="{F30C21F8-299D-42AF-859D-2937C3D60B59}" destId="{BBCA997D-870C-4601-AE56-141807C49DB1}" srcOrd="0" destOrd="0" presId="urn:microsoft.com/office/officeart/2005/8/layout/vList2"/>
    <dgm:cxn modelId="{D3CB501B-5E0B-4E2B-912B-12C832849759}" type="presOf" srcId="{92503636-808A-43D8-A5D4-5C6D151F6228}" destId="{C77B430F-7F17-4D59-BC3C-1675D4FF38D5}" srcOrd="0" destOrd="0" presId="urn:microsoft.com/office/officeart/2005/8/layout/vList2"/>
    <dgm:cxn modelId="{68806125-D3BF-4EF3-BFDB-848B208A9572}" type="presOf" srcId="{D08D18F3-1101-4DC2-B84C-A31AB6ECA9E7}" destId="{932E3324-280D-4656-AC01-15F5CDC37962}" srcOrd="0" destOrd="0" presId="urn:microsoft.com/office/officeart/2005/8/layout/vList2"/>
    <dgm:cxn modelId="{06F1645D-2782-4C82-BE15-90EB875CEA6E}" type="presOf" srcId="{405A9A65-9A47-431C-9192-F4F9C68540FC}" destId="{6F8CC440-5F34-4C6F-9F23-1E712DF6A086}" srcOrd="0" destOrd="1" presId="urn:microsoft.com/office/officeart/2005/8/layout/vList2"/>
    <dgm:cxn modelId="{8DBAA05F-FE19-4EAA-A5B0-E94AF1A9FE0D}" type="presOf" srcId="{17D631BC-0261-48D2-8E50-EB65F431F920}" destId="{6F8CC440-5F34-4C6F-9F23-1E712DF6A086}" srcOrd="0" destOrd="3" presId="urn:microsoft.com/office/officeart/2005/8/layout/vList2"/>
    <dgm:cxn modelId="{5BBE567C-904C-49E0-9ED2-C16A04187A23}" srcId="{92503636-808A-43D8-A5D4-5C6D151F6228}" destId="{405A9A65-9A47-431C-9192-F4F9C68540FC}" srcOrd="1" destOrd="0" parTransId="{D50352BE-59F9-40FF-955D-50D0E0470E3F}" sibTransId="{FA3C2D08-9F5F-44AD-B27F-F89BC0A1C6BC}"/>
    <dgm:cxn modelId="{25231F8F-F326-496B-BF3A-422977344143}" type="presOf" srcId="{BFDE00C2-DA99-4982-89CE-EAB81897C141}" destId="{6F8CC440-5F34-4C6F-9F23-1E712DF6A086}" srcOrd="0" destOrd="2" presId="urn:microsoft.com/office/officeart/2005/8/layout/vList2"/>
    <dgm:cxn modelId="{16B58097-C5D6-42F9-BA96-0F9FBBF0D5B4}" srcId="{F30C21F8-299D-42AF-859D-2937C3D60B59}" destId="{92503636-808A-43D8-A5D4-5C6D151F6228}" srcOrd="2" destOrd="0" parTransId="{D7CFE996-7151-4009-80D4-8F28503BCCDC}" sibTransId="{F4923A43-2B0E-45BF-8CD2-F81194A8781B}"/>
    <dgm:cxn modelId="{7E934AB5-6B43-4199-97FA-6120F5A39CE1}" type="presOf" srcId="{EA3E5C47-BFD4-4128-A08E-A02B13E5D6C6}" destId="{6F8CC440-5F34-4C6F-9F23-1E712DF6A086}" srcOrd="0" destOrd="0" presId="urn:microsoft.com/office/officeart/2005/8/layout/vList2"/>
    <dgm:cxn modelId="{8BEE6BC1-1539-4B3C-87A2-DC9CF990599E}" srcId="{F30C21F8-299D-42AF-859D-2937C3D60B59}" destId="{D08D18F3-1101-4DC2-B84C-A31AB6ECA9E7}" srcOrd="0" destOrd="0" parTransId="{ACC748F9-884B-4559-B2C6-27218B1AA1DC}" sibTransId="{C2658D35-6925-4DB1-B55D-58A05E2EAFF0}"/>
    <dgm:cxn modelId="{587DF9C3-4DFF-4E50-BC95-29A8916D0097}" srcId="{92503636-808A-43D8-A5D4-5C6D151F6228}" destId="{BFDE00C2-DA99-4982-89CE-EAB81897C141}" srcOrd="2" destOrd="0" parTransId="{0083F058-9CFD-4214-B698-12AFA1209C2B}" sibTransId="{B72A5B7A-60E3-486C-894F-9A298E124047}"/>
    <dgm:cxn modelId="{F7AFE2C9-1B56-40E0-868B-068D3137BF35}" srcId="{92503636-808A-43D8-A5D4-5C6D151F6228}" destId="{EA3E5C47-BFD4-4128-A08E-A02B13E5D6C6}" srcOrd="0" destOrd="0" parTransId="{FFEBB1C1-C613-49A9-A914-C469C1F8C19A}" sibTransId="{DA4B0C94-720E-42F3-A7D9-7C58059CB5E3}"/>
    <dgm:cxn modelId="{CF02A2D2-2220-47D1-828B-D5CFD1AE8475}" srcId="{92503636-808A-43D8-A5D4-5C6D151F6228}" destId="{17D631BC-0261-48D2-8E50-EB65F431F920}" srcOrd="3" destOrd="0" parTransId="{41172C83-5018-4FAA-B93E-5B144FF48FFC}" sibTransId="{9EE00F71-3A43-44CA-8C57-2F46333094C4}"/>
    <dgm:cxn modelId="{4103D0DE-7404-4B8A-87C6-E38D4AC899D2}" srcId="{F30C21F8-299D-42AF-859D-2937C3D60B59}" destId="{64E58C48-59CA-4B9C-940B-C254413E9EC3}" srcOrd="1" destOrd="0" parTransId="{29BE5C89-61D1-4DA2-AF73-34092C9FA9E5}" sibTransId="{553974F0-56A2-4732-959F-9AAB729FB632}"/>
    <dgm:cxn modelId="{F7EC2DFA-2416-4504-BB56-653B148748F6}" type="presOf" srcId="{64E58C48-59CA-4B9C-940B-C254413E9EC3}" destId="{1689A20C-3734-4A3B-8107-1AD17FFA7D4E}" srcOrd="0" destOrd="0" presId="urn:microsoft.com/office/officeart/2005/8/layout/vList2"/>
    <dgm:cxn modelId="{58304060-D675-4DCE-838A-31E7E4B9A4E3}" type="presParOf" srcId="{BBCA997D-870C-4601-AE56-141807C49DB1}" destId="{932E3324-280D-4656-AC01-15F5CDC37962}" srcOrd="0" destOrd="0" presId="urn:microsoft.com/office/officeart/2005/8/layout/vList2"/>
    <dgm:cxn modelId="{B872F658-E041-479D-BA2A-AAF0C7E2E87D}" type="presParOf" srcId="{BBCA997D-870C-4601-AE56-141807C49DB1}" destId="{A04E1F0C-34B7-4063-AEA4-50B512600BE6}" srcOrd="1" destOrd="0" presId="urn:microsoft.com/office/officeart/2005/8/layout/vList2"/>
    <dgm:cxn modelId="{DD47F2C2-789A-45AB-B761-EE67C4AEAABE}" type="presParOf" srcId="{BBCA997D-870C-4601-AE56-141807C49DB1}" destId="{1689A20C-3734-4A3B-8107-1AD17FFA7D4E}" srcOrd="2" destOrd="0" presId="urn:microsoft.com/office/officeart/2005/8/layout/vList2"/>
    <dgm:cxn modelId="{8C48862D-6583-40AC-8A18-AD398ACA64CC}" type="presParOf" srcId="{BBCA997D-870C-4601-AE56-141807C49DB1}" destId="{35FC349E-B04A-4FE9-BB3C-00CFC91E954E}" srcOrd="3" destOrd="0" presId="urn:microsoft.com/office/officeart/2005/8/layout/vList2"/>
    <dgm:cxn modelId="{1DE0CFB6-8CEC-4A27-9741-F26CBB7E7227}" type="presParOf" srcId="{BBCA997D-870C-4601-AE56-141807C49DB1}" destId="{C77B430F-7F17-4D59-BC3C-1675D4FF38D5}" srcOrd="4" destOrd="0" presId="urn:microsoft.com/office/officeart/2005/8/layout/vList2"/>
    <dgm:cxn modelId="{224D88F1-F5B3-4F37-9F27-58A346140F9B}" type="presParOf" srcId="{BBCA997D-870C-4601-AE56-141807C49DB1}" destId="{6F8CC440-5F34-4C6F-9F23-1E712DF6A08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2EFE10-2E62-4D6D-A377-41C74F3CC4F8}">
      <dsp:nvSpPr>
        <dsp:cNvPr id="0" name=""/>
        <dsp:cNvSpPr/>
      </dsp:nvSpPr>
      <dsp:spPr>
        <a:xfrm>
          <a:off x="0" y="411580"/>
          <a:ext cx="8582406" cy="792026"/>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Upon completion of this session, you will be able to:</a:t>
          </a:r>
        </a:p>
      </dsp:txBody>
      <dsp:txXfrm>
        <a:off x="38664" y="450244"/>
        <a:ext cx="8505078" cy="714698"/>
      </dsp:txXfrm>
    </dsp:sp>
    <dsp:sp modelId="{003951DA-5B92-4DCC-A655-81E4712EC9EA}">
      <dsp:nvSpPr>
        <dsp:cNvPr id="0" name=""/>
        <dsp:cNvSpPr/>
      </dsp:nvSpPr>
      <dsp:spPr>
        <a:xfrm>
          <a:off x="0" y="1387927"/>
          <a:ext cx="8582406" cy="868883"/>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 Recognize critically ill patients using early warning score </a:t>
          </a:r>
          <a:br>
            <a:rPr lang="en-US" sz="2400" kern="1200" dirty="0">
              <a:latin typeface="Arial" panose="020B0604020202020204" pitchFamily="34" charset="0"/>
              <a:cs typeface="Arial" panose="020B0604020202020204" pitchFamily="34" charset="0"/>
            </a:rPr>
          </a:br>
          <a:r>
            <a:rPr lang="en-US" sz="2400" kern="1200" dirty="0">
              <a:latin typeface="Arial" panose="020B0604020202020204" pitchFamily="34" charset="0"/>
              <a:cs typeface="Arial" panose="020B0604020202020204" pitchFamily="34" charset="0"/>
            </a:rPr>
            <a:t>– Assess critically ill patient systematically using ABCDE approach.</a:t>
          </a:r>
        </a:p>
      </dsp:txBody>
      <dsp:txXfrm>
        <a:off x="42415" y="1430342"/>
        <a:ext cx="8497576" cy="784053"/>
      </dsp:txXfrm>
    </dsp:sp>
    <dsp:sp modelId="{32327CBA-2877-46E4-9404-55ED3646F339}">
      <dsp:nvSpPr>
        <dsp:cNvPr id="0" name=""/>
        <dsp:cNvSpPr/>
      </dsp:nvSpPr>
      <dsp:spPr>
        <a:xfrm>
          <a:off x="0" y="2441131"/>
          <a:ext cx="8582406" cy="119808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 </a:t>
          </a:r>
          <a:r>
            <a:rPr lang="en-GB" sz="2400" kern="1200" dirty="0">
              <a:latin typeface="Arial" panose="020B0604020202020204" pitchFamily="34" charset="0"/>
              <a:cs typeface="Arial" panose="020B0604020202020204" pitchFamily="34" charset="0"/>
            </a:rPr>
            <a:t>Initiate resuscitation for critically ill patients timely and effectively </a:t>
          </a:r>
          <a:endParaRPr lang="en-US" sz="2400" kern="1200" dirty="0">
            <a:latin typeface="Arial" panose="020B0604020202020204" pitchFamily="34" charset="0"/>
            <a:cs typeface="Arial" panose="020B0604020202020204" pitchFamily="34" charset="0"/>
          </a:endParaRPr>
        </a:p>
      </dsp:txBody>
      <dsp:txXfrm>
        <a:off x="58485" y="2499616"/>
        <a:ext cx="8465436" cy="1081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229162-B229-43B3-84E2-293A268932A2}">
      <dsp:nvSpPr>
        <dsp:cNvPr id="0" name=""/>
        <dsp:cNvSpPr/>
      </dsp:nvSpPr>
      <dsp:spPr>
        <a:xfrm>
          <a:off x="0" y="106156"/>
          <a:ext cx="8153400" cy="15202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approach to critically ill patients should ALWAYS follow the ABCDE approach</a:t>
          </a:r>
        </a:p>
      </dsp:txBody>
      <dsp:txXfrm>
        <a:off x="74213" y="180369"/>
        <a:ext cx="8004974" cy="1371842"/>
      </dsp:txXfrm>
    </dsp:sp>
    <dsp:sp modelId="{C0B9BB84-A524-4270-AD89-C0BBE8B1BB8B}">
      <dsp:nvSpPr>
        <dsp:cNvPr id="0" name=""/>
        <dsp:cNvSpPr/>
      </dsp:nvSpPr>
      <dsp:spPr>
        <a:xfrm>
          <a:off x="0" y="1678265"/>
          <a:ext cx="8153400" cy="15202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 Airway</a:t>
          </a:r>
          <a:br>
            <a:rPr lang="en-US" sz="1800" kern="1200"/>
          </a:br>
          <a:r>
            <a:rPr lang="en-US" sz="1800" kern="1200"/>
            <a:t>– (B) Breathing</a:t>
          </a:r>
          <a:br>
            <a:rPr lang="en-US" sz="1800" kern="1200"/>
          </a:br>
          <a:r>
            <a:rPr lang="en-US" sz="1800" kern="1200"/>
            <a:t>– (C) Circulation</a:t>
          </a:r>
          <a:br>
            <a:rPr lang="en-US" sz="1800" kern="1200"/>
          </a:br>
          <a:r>
            <a:rPr lang="en-US" sz="1800" kern="1200"/>
            <a:t>– (D) Disability</a:t>
          </a:r>
          <a:br>
            <a:rPr lang="en-US" sz="1800" kern="1200"/>
          </a:br>
          <a:r>
            <a:rPr lang="en-US" sz="1800" kern="1200"/>
            <a:t>– (E) Exposure</a:t>
          </a:r>
        </a:p>
      </dsp:txBody>
      <dsp:txXfrm>
        <a:off x="74213" y="1752478"/>
        <a:ext cx="8004974" cy="1371842"/>
      </dsp:txXfrm>
    </dsp:sp>
    <dsp:sp modelId="{1671A36F-F53F-4FD6-B923-1518024DD498}">
      <dsp:nvSpPr>
        <dsp:cNvPr id="0" name=""/>
        <dsp:cNvSpPr/>
      </dsp:nvSpPr>
      <dsp:spPr>
        <a:xfrm>
          <a:off x="0" y="3250374"/>
          <a:ext cx="8153400" cy="15202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Treat life-threatening problems before moving to the next step</a:t>
          </a:r>
          <a:br>
            <a:rPr lang="en-US" sz="1800" kern="1200"/>
          </a:br>
          <a:r>
            <a:rPr lang="en-US" sz="1800" kern="1200"/>
            <a:t>• Re-assess regularly</a:t>
          </a:r>
          <a:br>
            <a:rPr lang="en-US" sz="1800" kern="1200"/>
          </a:br>
          <a:r>
            <a:rPr lang="en-US" sz="1800" kern="1200"/>
            <a:t>• Recognize the need for additional help early &amp; use a team effectively</a:t>
          </a:r>
          <a:br>
            <a:rPr lang="en-US" sz="1800" kern="1200"/>
          </a:br>
          <a:r>
            <a:rPr lang="en-US" sz="1800" kern="1200"/>
            <a:t>• Multiple tasks need to occur simultaneously requiring multiple people </a:t>
          </a:r>
          <a:br>
            <a:rPr lang="en-US" sz="1800" kern="1200"/>
          </a:br>
          <a:endParaRPr lang="en-US" sz="1800" kern="1200"/>
        </a:p>
      </dsp:txBody>
      <dsp:txXfrm>
        <a:off x="74213" y="3324587"/>
        <a:ext cx="8004974" cy="13718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E3324-280D-4656-AC01-15F5CDC37962}">
      <dsp:nvSpPr>
        <dsp:cNvPr id="0" name=""/>
        <dsp:cNvSpPr/>
      </dsp:nvSpPr>
      <dsp:spPr>
        <a:xfrm>
          <a:off x="0" y="289682"/>
          <a:ext cx="8229600" cy="1323183"/>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Arial" panose="020B0604020202020204" pitchFamily="34" charset="0"/>
              <a:cs typeface="Arial" panose="020B0604020202020204" pitchFamily="34" charset="0"/>
            </a:rPr>
            <a:t>The </a:t>
          </a:r>
          <a:r>
            <a:rPr lang="en-US" sz="2200" b="1" kern="1200" dirty="0">
              <a:latin typeface="Arial" panose="020B0604020202020204" pitchFamily="34" charset="0"/>
              <a:cs typeface="Arial" panose="020B0604020202020204" pitchFamily="34" charset="0"/>
            </a:rPr>
            <a:t>ABCDE approach</a:t>
          </a:r>
          <a:r>
            <a:rPr lang="en-US" sz="2200" kern="1200" dirty="0">
              <a:latin typeface="Arial" panose="020B0604020202020204" pitchFamily="34" charset="0"/>
              <a:cs typeface="Arial" panose="020B0604020202020204" pitchFamily="34" charset="0"/>
            </a:rPr>
            <a:t> is intended as a rapid bedside assessment of a deteriorating/ critically ill patient, and </a:t>
          </a:r>
        </a:p>
      </dsp:txBody>
      <dsp:txXfrm>
        <a:off x="64592" y="354274"/>
        <a:ext cx="8100416" cy="1193999"/>
      </dsp:txXfrm>
    </dsp:sp>
    <dsp:sp modelId="{1689A20C-3734-4A3B-8107-1AD17FFA7D4E}">
      <dsp:nvSpPr>
        <dsp:cNvPr id="0" name=""/>
        <dsp:cNvSpPr/>
      </dsp:nvSpPr>
      <dsp:spPr>
        <a:xfrm>
          <a:off x="0" y="1797186"/>
          <a:ext cx="8229600" cy="790636"/>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It is designed to provide the initial management of life-threatening conditions in order of priority, </a:t>
          </a:r>
        </a:p>
      </dsp:txBody>
      <dsp:txXfrm>
        <a:off x="38596" y="1835782"/>
        <a:ext cx="8152408" cy="713444"/>
      </dsp:txXfrm>
    </dsp:sp>
    <dsp:sp modelId="{C77B430F-7F17-4D59-BC3C-1675D4FF38D5}">
      <dsp:nvSpPr>
        <dsp:cNvPr id="0" name=""/>
        <dsp:cNvSpPr/>
      </dsp:nvSpPr>
      <dsp:spPr>
        <a:xfrm>
          <a:off x="0" y="2772143"/>
          <a:ext cx="8229600" cy="563133"/>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Often one has to</a:t>
          </a:r>
        </a:p>
      </dsp:txBody>
      <dsp:txXfrm>
        <a:off x="27490" y="2799633"/>
        <a:ext cx="8174620" cy="508153"/>
      </dsp:txXfrm>
    </dsp:sp>
    <dsp:sp modelId="{6F8CC440-5F34-4C6F-9F23-1E712DF6A086}">
      <dsp:nvSpPr>
        <dsp:cNvPr id="0" name=""/>
        <dsp:cNvSpPr/>
      </dsp:nvSpPr>
      <dsp:spPr>
        <a:xfrm>
          <a:off x="0" y="3335277"/>
          <a:ext cx="8229600" cy="1556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latin typeface="Arial" panose="020B0604020202020204" pitchFamily="34" charset="0"/>
              <a:cs typeface="Arial" panose="020B0604020202020204" pitchFamily="34" charset="0"/>
            </a:rPr>
            <a:t>quickly assess the patient, </a:t>
          </a:r>
        </a:p>
        <a:p>
          <a:pPr marL="228600" lvl="1" indent="-228600" algn="l" defTabSz="889000">
            <a:lnSpc>
              <a:spcPct val="90000"/>
            </a:lnSpc>
            <a:spcBef>
              <a:spcPct val="0"/>
            </a:spcBef>
            <a:spcAft>
              <a:spcPct val="20000"/>
            </a:spcAft>
            <a:buChar char="•"/>
          </a:pPr>
          <a:r>
            <a:rPr lang="en-US" sz="2000" kern="1200" dirty="0">
              <a:latin typeface="Arial" panose="020B0604020202020204" pitchFamily="34" charset="0"/>
              <a:cs typeface="Arial" panose="020B0604020202020204" pitchFamily="34" charset="0"/>
            </a:rPr>
            <a:t>institute life saving measures, </a:t>
          </a:r>
        </a:p>
        <a:p>
          <a:pPr marL="228600" lvl="1" indent="-228600" algn="l" defTabSz="889000">
            <a:lnSpc>
              <a:spcPct val="90000"/>
            </a:lnSpc>
            <a:spcBef>
              <a:spcPct val="0"/>
            </a:spcBef>
            <a:spcAft>
              <a:spcPct val="20000"/>
            </a:spcAft>
            <a:buChar char="•"/>
          </a:pPr>
          <a:r>
            <a:rPr lang="en-US" sz="2000" kern="1200" dirty="0">
              <a:latin typeface="Arial" panose="020B0604020202020204" pitchFamily="34" charset="0"/>
              <a:cs typeface="Arial" panose="020B0604020202020204" pitchFamily="34" charset="0"/>
            </a:rPr>
            <a:t>correct parameters and </a:t>
          </a:r>
        </a:p>
        <a:p>
          <a:pPr marL="228600" lvl="1" indent="-228600" algn="l" defTabSz="889000">
            <a:lnSpc>
              <a:spcPct val="90000"/>
            </a:lnSpc>
            <a:spcBef>
              <a:spcPct val="0"/>
            </a:spcBef>
            <a:spcAft>
              <a:spcPct val="20000"/>
            </a:spcAft>
            <a:buChar char="•"/>
          </a:pPr>
          <a:r>
            <a:rPr lang="en-US" sz="2000" kern="1200" dirty="0">
              <a:latin typeface="Arial" panose="020B0604020202020204" pitchFamily="34" charset="0"/>
              <a:cs typeface="Arial" panose="020B0604020202020204" pitchFamily="34" charset="0"/>
            </a:rPr>
            <a:t>start empiric treatment quickly, even before arriving at a definite diagnosis.</a:t>
          </a:r>
        </a:p>
      </dsp:txBody>
      <dsp:txXfrm>
        <a:off x="0" y="3335277"/>
        <a:ext cx="8229600" cy="15566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3EEDA5-79FD-4156-945E-C6DE7E0EB54A}" type="datetimeFigureOut">
              <a:rPr lang="en-US" smtClean="0"/>
              <a:t>4/16/2026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DD8C4A-1471-4897-AAD5-65F2AFE2B8D2}" type="slidenum">
              <a:rPr lang="en-US" smtClean="0"/>
              <a:t>‹#›</a:t>
            </a:fld>
            <a:endParaRPr lang="en-US"/>
          </a:p>
        </p:txBody>
      </p:sp>
    </p:spTree>
    <p:extLst>
      <p:ext uri="{BB962C8B-B14F-4D97-AF65-F5344CB8AC3E}">
        <p14:creationId xmlns:p14="http://schemas.microsoft.com/office/powerpoint/2010/main" val="1026637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Respiratory_sounds"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s://en.wikipedia.org/wiki/Turbulent"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DD8C4A-1471-4897-AAD5-65F2AFE2B8D2}" type="slidenum">
              <a:rPr lang="en-US" smtClean="0"/>
              <a:t>9</a:t>
            </a:fld>
            <a:endParaRPr lang="en-US"/>
          </a:p>
        </p:txBody>
      </p:sp>
    </p:spTree>
    <p:extLst>
      <p:ext uri="{BB962C8B-B14F-4D97-AF65-F5344CB8AC3E}">
        <p14:creationId xmlns:p14="http://schemas.microsoft.com/office/powerpoint/2010/main" val="448705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NEWS was developed by the Royal College of Physicians in 2012 to standardize the process of recording, scoring and responding to changes in routinely measured physiological parameters in acutely ill patients. </a:t>
            </a:r>
          </a:p>
        </p:txBody>
      </p:sp>
      <p:sp>
        <p:nvSpPr>
          <p:cNvPr id="4" name="Slide Number Placeholder 3"/>
          <p:cNvSpPr>
            <a:spLocks noGrp="1"/>
          </p:cNvSpPr>
          <p:nvPr>
            <p:ph type="sldNum" sz="quarter" idx="5"/>
          </p:nvPr>
        </p:nvSpPr>
        <p:spPr/>
        <p:txBody>
          <a:bodyPr/>
          <a:lstStyle/>
          <a:p>
            <a:fld id="{6CDD8C4A-1471-4897-AAD5-65F2AFE2B8D2}" type="slidenum">
              <a:rPr lang="en-US" smtClean="0"/>
              <a:t>10</a:t>
            </a:fld>
            <a:endParaRPr lang="en-US"/>
          </a:p>
        </p:txBody>
      </p:sp>
    </p:spTree>
    <p:extLst>
      <p:ext uri="{BB962C8B-B14F-4D97-AF65-F5344CB8AC3E}">
        <p14:creationId xmlns:p14="http://schemas.microsoft.com/office/powerpoint/2010/main" val="1238563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70FD02E-93C7-44C5-9520-093D0FDCD4C6}" type="slidenum">
              <a:rPr lang="en-GB" smtClean="0"/>
              <a:t>12</a:t>
            </a:fld>
            <a:endParaRPr lang="en-GB"/>
          </a:p>
        </p:txBody>
      </p:sp>
    </p:spTree>
    <p:extLst>
      <p:ext uri="{BB962C8B-B14F-4D97-AF65-F5344CB8AC3E}">
        <p14:creationId xmlns:p14="http://schemas.microsoft.com/office/powerpoint/2010/main" val="2144772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*Response by a clinician or team with competence in the assessment and treatment of acutely ill patients and recognizing when the escalation of care to a critical team is appropriate.</a:t>
            </a:r>
          </a:p>
          <a:p>
            <a:pPr marL="171450" indent="-171450">
              <a:buFont typeface="Arial" panose="020B0604020202020204" pitchFamily="34" charset="0"/>
              <a:buChar char="•"/>
            </a:pPr>
            <a:r>
              <a:rPr lang="en-US" dirty="0"/>
              <a:t>**The response team must also include staff with critical care skills, including airway </a:t>
            </a:r>
            <a:r>
              <a:rPr lang="en-US" dirty="0" err="1"/>
              <a:t>managmemnt</a:t>
            </a:r>
            <a:r>
              <a:rPr lang="en-US" dirty="0"/>
              <a:t>. </a:t>
            </a:r>
          </a:p>
        </p:txBody>
      </p:sp>
      <p:sp>
        <p:nvSpPr>
          <p:cNvPr id="4" name="Slide Number Placeholder 3"/>
          <p:cNvSpPr>
            <a:spLocks noGrp="1"/>
          </p:cNvSpPr>
          <p:nvPr>
            <p:ph type="sldNum" sz="quarter" idx="5"/>
          </p:nvPr>
        </p:nvSpPr>
        <p:spPr/>
        <p:txBody>
          <a:bodyPr/>
          <a:lstStyle/>
          <a:p>
            <a:fld id="{6CDD8C4A-1471-4897-AAD5-65F2AFE2B8D2}" type="slidenum">
              <a:rPr lang="en-US" smtClean="0"/>
              <a:t>15</a:t>
            </a:fld>
            <a:endParaRPr lang="en-US"/>
          </a:p>
        </p:txBody>
      </p:sp>
    </p:spTree>
    <p:extLst>
      <p:ext uri="{BB962C8B-B14F-4D97-AF65-F5344CB8AC3E}">
        <p14:creationId xmlns:p14="http://schemas.microsoft.com/office/powerpoint/2010/main" val="18618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These triggers should determine the urgency of the clinical response and the clinical competency of the responder/s.</a:t>
            </a:r>
          </a:p>
          <a:p>
            <a:pPr lvl="0"/>
            <a:r>
              <a:rPr lang="en-US" sz="1200" kern="1200" dirty="0">
                <a:solidFill>
                  <a:schemeClr val="tx1"/>
                </a:solidFill>
                <a:latin typeface="+mn-lt"/>
                <a:ea typeface="+mn-ea"/>
                <a:cs typeface="+mn-cs"/>
              </a:rPr>
              <a:t>A </a:t>
            </a:r>
            <a:r>
              <a:rPr lang="en-US" sz="1200" b="1" kern="1200" dirty="0">
                <a:solidFill>
                  <a:schemeClr val="tx1"/>
                </a:solidFill>
                <a:latin typeface="+mn-lt"/>
                <a:ea typeface="+mn-ea"/>
                <a:cs typeface="+mn-cs"/>
              </a:rPr>
              <a:t>low score </a:t>
            </a:r>
            <a:r>
              <a:rPr lang="en-US" sz="1200" kern="1200" dirty="0">
                <a:solidFill>
                  <a:schemeClr val="tx1"/>
                </a:solidFill>
                <a:latin typeface="+mn-lt"/>
                <a:ea typeface="+mn-ea"/>
                <a:cs typeface="+mn-cs"/>
              </a:rPr>
              <a:t>(NEW score 1–4) should prompt assessment by a competent registered nurse who should decide if a change to frequency of clinical monitoring or an escalation of clinical care is required.</a:t>
            </a:r>
          </a:p>
          <a:p>
            <a:pPr lvl="0"/>
            <a:r>
              <a:rPr lang="en-US" sz="1200" kern="1200" dirty="0">
                <a:solidFill>
                  <a:schemeClr val="tx1"/>
                </a:solidFill>
                <a:latin typeface="+mn-lt"/>
                <a:ea typeface="+mn-ea"/>
                <a:cs typeface="+mn-cs"/>
              </a:rPr>
              <a:t>A </a:t>
            </a:r>
            <a:r>
              <a:rPr lang="en-US" sz="1200" b="1" kern="1200" dirty="0">
                <a:solidFill>
                  <a:schemeClr val="tx1"/>
                </a:solidFill>
                <a:latin typeface="+mn-lt"/>
                <a:ea typeface="+mn-ea"/>
                <a:cs typeface="+mn-cs"/>
              </a:rPr>
              <a:t>medium score </a:t>
            </a:r>
            <a:r>
              <a:rPr lang="en-US" sz="1200" kern="1200" dirty="0">
                <a:solidFill>
                  <a:schemeClr val="tx1"/>
                </a:solidFill>
                <a:latin typeface="+mn-lt"/>
                <a:ea typeface="+mn-ea"/>
                <a:cs typeface="+mn-cs"/>
              </a:rPr>
              <a:t>(i.e. NEW score of 5–6 or a RED score) should prompt an urgent review by a clinician skilled with competencies in the assessment of acute illness – usually a ward-based doctor or acute team nurse, who should consider whether escalation of care to a team with critical-care skills is required (i.e. critical care outreach team).</a:t>
            </a:r>
          </a:p>
          <a:p>
            <a:pPr lvl="0"/>
            <a:r>
              <a:rPr lang="en-US" sz="1200" kern="1200" dirty="0">
                <a:solidFill>
                  <a:schemeClr val="tx1"/>
                </a:solidFill>
                <a:latin typeface="+mn-lt"/>
                <a:ea typeface="+mn-ea"/>
                <a:cs typeface="+mn-cs"/>
              </a:rPr>
              <a:t>A </a:t>
            </a:r>
            <a:r>
              <a:rPr lang="en-US" sz="1200" b="1" kern="1200" dirty="0">
                <a:solidFill>
                  <a:schemeClr val="tx1"/>
                </a:solidFill>
                <a:latin typeface="+mn-lt"/>
                <a:ea typeface="+mn-ea"/>
                <a:cs typeface="+mn-cs"/>
              </a:rPr>
              <a:t>high score </a:t>
            </a:r>
            <a:r>
              <a:rPr lang="en-US" sz="1200" kern="1200" dirty="0">
                <a:solidFill>
                  <a:schemeClr val="tx1"/>
                </a:solidFill>
                <a:latin typeface="+mn-lt"/>
                <a:ea typeface="+mn-ea"/>
                <a:cs typeface="+mn-cs"/>
              </a:rPr>
              <a:t>(NEW score of 7 or more) should prompt emergency assessment by a clinical team/critical care outreach team with critical-care competencies and usually transfer of the patient to a higher dependency care area.</a:t>
            </a:r>
          </a:p>
          <a:p>
            <a:endParaRPr lang="en-US" dirty="0"/>
          </a:p>
        </p:txBody>
      </p:sp>
      <p:sp>
        <p:nvSpPr>
          <p:cNvPr id="4" name="Slide Number Placeholder 3"/>
          <p:cNvSpPr>
            <a:spLocks noGrp="1"/>
          </p:cNvSpPr>
          <p:nvPr>
            <p:ph type="sldNum" sz="quarter" idx="10"/>
          </p:nvPr>
        </p:nvSpPr>
        <p:spPr/>
        <p:txBody>
          <a:bodyPr/>
          <a:lstStyle/>
          <a:p>
            <a:fld id="{25102169-1E04-4BFA-9FA5-C51310C3303F}" type="slidenum">
              <a:rPr lang="en-US" smtClean="0"/>
              <a:pPr/>
              <a:t>16</a:t>
            </a:fld>
            <a:endParaRPr lang="en-US"/>
          </a:p>
        </p:txBody>
      </p:sp>
    </p:spTree>
    <p:extLst>
      <p:ext uri="{BB962C8B-B14F-4D97-AF65-F5344CB8AC3E}">
        <p14:creationId xmlns:p14="http://schemas.microsoft.com/office/powerpoint/2010/main" val="3286902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DD8C4A-1471-4897-AAD5-65F2AFE2B8D2}" type="slidenum">
              <a:rPr lang="en-US" smtClean="0"/>
              <a:t>18</a:t>
            </a:fld>
            <a:endParaRPr lang="en-US"/>
          </a:p>
        </p:txBody>
      </p:sp>
    </p:spTree>
    <p:extLst>
      <p:ext uri="{BB962C8B-B14F-4D97-AF65-F5344CB8AC3E}">
        <p14:creationId xmlns:p14="http://schemas.microsoft.com/office/powerpoint/2010/main" val="951381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70FD02E-93C7-44C5-9520-093D0FDCD4C6}" type="slidenum">
              <a:rPr lang="en-GB" smtClean="0"/>
              <a:t>20</a:t>
            </a:fld>
            <a:endParaRPr lang="en-GB"/>
          </a:p>
        </p:txBody>
      </p:sp>
    </p:spTree>
    <p:extLst>
      <p:ext uri="{BB962C8B-B14F-4D97-AF65-F5344CB8AC3E}">
        <p14:creationId xmlns:p14="http://schemas.microsoft.com/office/powerpoint/2010/main" val="565131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DD8C4A-1471-4897-AAD5-65F2AFE2B8D2}" type="slidenum">
              <a:rPr lang="en-US" smtClean="0"/>
              <a:t>22</a:t>
            </a:fld>
            <a:endParaRPr lang="en-US"/>
          </a:p>
        </p:txBody>
      </p:sp>
    </p:spTree>
    <p:extLst>
      <p:ext uri="{BB962C8B-B14F-4D97-AF65-F5344CB8AC3E}">
        <p14:creationId xmlns:p14="http://schemas.microsoft.com/office/powerpoint/2010/main" val="2281804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Airway obstruction (partial or complete) can lead to cardiorespiratory arrest.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Partial  airway obstruction often precedes to complete airway obstruction, which rapidly leads to cardiac arrest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CDD8C4A-1471-4897-AAD5-65F2AFE2B8D2}" type="slidenum">
              <a:rPr lang="en-US" smtClean="0"/>
              <a:t>29</a:t>
            </a:fld>
            <a:endParaRPr lang="en-US"/>
          </a:p>
        </p:txBody>
      </p:sp>
    </p:spTree>
    <p:extLst>
      <p:ext uri="{BB962C8B-B14F-4D97-AF65-F5344CB8AC3E}">
        <p14:creationId xmlns:p14="http://schemas.microsoft.com/office/powerpoint/2010/main" val="462807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Stridor- a high-pitched </a:t>
            </a:r>
            <a:r>
              <a:rPr lang="en-US" dirty="0">
                <a:hlinkClick r:id="rId3" tooltip="Respiratory sounds"/>
              </a:rPr>
              <a:t>breath sound</a:t>
            </a:r>
            <a:r>
              <a:rPr lang="en-US" dirty="0"/>
              <a:t> resulting from </a:t>
            </a:r>
            <a:r>
              <a:rPr lang="en-US" dirty="0">
                <a:hlinkClick r:id="rId4" tooltip="Turbulent"/>
              </a:rPr>
              <a:t>turbulent</a:t>
            </a:r>
            <a:r>
              <a:rPr lang="en-US" dirty="0"/>
              <a:t> air flow in the larynx or lower in the bronchial tree</a:t>
            </a:r>
          </a:p>
          <a:p>
            <a:r>
              <a:rPr lang="en-US" sz="1200" dirty="0">
                <a:latin typeface="Times New Roman" pitchFamily="18" charset="0"/>
                <a:cs typeface="Times New Roman" pitchFamily="18" charset="0"/>
              </a:rPr>
              <a:t>Bronchospasm:</a:t>
            </a:r>
            <a:r>
              <a:rPr lang="en-US" sz="1200" baseline="0" dirty="0">
                <a:latin typeface="Times New Roman" pitchFamily="18" charset="0"/>
                <a:cs typeface="Times New Roman" pitchFamily="18" charset="0"/>
              </a:rPr>
              <a:t> </a:t>
            </a:r>
            <a:r>
              <a:rPr lang="en-US" sz="1200" dirty="0">
                <a:latin typeface="Times New Roman" pitchFamily="18" charset="0"/>
                <a:cs typeface="Times New Roman" pitchFamily="18" charset="0"/>
              </a:rPr>
              <a:t>s</a:t>
            </a:r>
            <a:r>
              <a:rPr lang="en-US" dirty="0"/>
              <a:t>pasm of bronchial smooth muscle, producing narrowing of the bronchi</a:t>
            </a:r>
          </a:p>
        </p:txBody>
      </p:sp>
      <p:sp>
        <p:nvSpPr>
          <p:cNvPr id="4" name="Slide Number Placeholder 3"/>
          <p:cNvSpPr>
            <a:spLocks noGrp="1"/>
          </p:cNvSpPr>
          <p:nvPr>
            <p:ph type="sldNum" sz="quarter" idx="10"/>
          </p:nvPr>
        </p:nvSpPr>
        <p:spPr/>
        <p:txBody>
          <a:bodyPr/>
          <a:lstStyle/>
          <a:p>
            <a:fld id="{6CDD8C4A-1471-4897-AAD5-65F2AFE2B8D2}" type="slidenum">
              <a:rPr lang="en-US" smtClean="0"/>
              <a:t>32</a:t>
            </a:fld>
            <a:endParaRPr lang="en-US"/>
          </a:p>
        </p:txBody>
      </p:sp>
    </p:spTree>
    <p:extLst>
      <p:ext uri="{BB962C8B-B14F-4D97-AF65-F5344CB8AC3E}">
        <p14:creationId xmlns:p14="http://schemas.microsoft.com/office/powerpoint/2010/main" val="1233602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DD8C4A-1471-4897-AAD5-65F2AFE2B8D2}" type="slidenum">
              <a:rPr lang="en-US" smtClean="0"/>
              <a:t>35</a:t>
            </a:fld>
            <a:endParaRPr lang="en-US"/>
          </a:p>
        </p:txBody>
      </p:sp>
    </p:spTree>
    <p:extLst>
      <p:ext uri="{BB962C8B-B14F-4D97-AF65-F5344CB8AC3E}">
        <p14:creationId xmlns:p14="http://schemas.microsoft.com/office/powerpoint/2010/main" val="868233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DD8C4A-1471-4897-AAD5-65F2AFE2B8D2}" type="slidenum">
              <a:rPr lang="en-US" smtClean="0"/>
              <a:t>39</a:t>
            </a:fld>
            <a:endParaRPr lang="en-US"/>
          </a:p>
        </p:txBody>
      </p:sp>
    </p:spTree>
    <p:extLst>
      <p:ext uri="{BB962C8B-B14F-4D97-AF65-F5344CB8AC3E}">
        <p14:creationId xmlns:p14="http://schemas.microsoft.com/office/powerpoint/2010/main" val="1272409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GCS score provides a standard means of evaluating the patient's neurologic status. When compared to the Glasgow Coma Scale (GCS), the AVPU classification of alertness has been suggested to correspond in the following manner: </a:t>
            </a:r>
          </a:p>
          <a:p>
            <a:r>
              <a:rPr lang="en-US" dirty="0"/>
              <a:t>Alert = 15 GCS</a:t>
            </a:r>
          </a:p>
          <a:p>
            <a:r>
              <a:rPr lang="en-US" dirty="0"/>
              <a:t>Voice Responsive = 12 GCS</a:t>
            </a:r>
          </a:p>
          <a:p>
            <a:r>
              <a:rPr lang="en-US" dirty="0"/>
              <a:t>Pain Responsive = 8 GCS</a:t>
            </a:r>
          </a:p>
          <a:p>
            <a:r>
              <a:rPr lang="en-US" dirty="0"/>
              <a:t>Unconscious = 3 GCS</a:t>
            </a:r>
          </a:p>
          <a:p>
            <a:r>
              <a:rPr lang="en-US" dirty="0"/>
              <a:t>MOTOR- -3 =Decorticate posturing (upper extremity flexion)</a:t>
            </a:r>
          </a:p>
          <a:p>
            <a:r>
              <a:rPr lang="en-US" dirty="0"/>
              <a:t>Motor</a:t>
            </a:r>
            <a:r>
              <a:rPr lang="en-US" baseline="0" dirty="0"/>
              <a:t> 2- </a:t>
            </a:r>
            <a:r>
              <a:rPr lang="en-US" dirty="0"/>
              <a:t>Decerebrate posturing (upper extremity extension)</a:t>
            </a:r>
          </a:p>
        </p:txBody>
      </p:sp>
      <p:sp>
        <p:nvSpPr>
          <p:cNvPr id="4" name="Slide Number Placeholder 3"/>
          <p:cNvSpPr>
            <a:spLocks noGrp="1"/>
          </p:cNvSpPr>
          <p:nvPr>
            <p:ph type="sldNum" sz="quarter" idx="10"/>
          </p:nvPr>
        </p:nvSpPr>
        <p:spPr/>
        <p:txBody>
          <a:bodyPr/>
          <a:lstStyle/>
          <a:p>
            <a:fld id="{6CDD8C4A-1471-4897-AAD5-65F2AFE2B8D2}" type="slidenum">
              <a:rPr lang="en-US" smtClean="0"/>
              <a:t>43</a:t>
            </a:fld>
            <a:endParaRPr lang="en-US"/>
          </a:p>
        </p:txBody>
      </p:sp>
    </p:spTree>
    <p:extLst>
      <p:ext uri="{BB962C8B-B14F-4D97-AF65-F5344CB8AC3E}">
        <p14:creationId xmlns:p14="http://schemas.microsoft.com/office/powerpoint/2010/main" val="3258558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DD8C4A-1471-4897-AAD5-65F2AFE2B8D2}" type="slidenum">
              <a:rPr lang="en-US" smtClean="0"/>
              <a:t>44</a:t>
            </a:fld>
            <a:endParaRPr lang="en-US"/>
          </a:p>
        </p:txBody>
      </p:sp>
    </p:spTree>
    <p:extLst>
      <p:ext uri="{BB962C8B-B14F-4D97-AF65-F5344CB8AC3E}">
        <p14:creationId xmlns:p14="http://schemas.microsoft.com/office/powerpoint/2010/main" val="116367080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10A749-4560-4EE3-8047-840A10BE2AEF}" type="datetime4">
              <a:rPr lang="en-US" smtClean="0"/>
              <a:t>April 16, 2026</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81629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ACED64-657D-41BC-AE4E-A188F2048F68}" type="datetime4">
              <a:rPr lang="en-US" smtClean="0"/>
              <a:t>April 16,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1717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F51CB480-3126-40D2-BC0D-FB10BF8AE141}" type="datetime4">
              <a:rPr lang="en-US" smtClean="0"/>
              <a:t>April 16, 2026</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77776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F9E522-B6C2-4C31-A778-98D60FE953D1}" type="datetime4">
              <a:rPr lang="en-US" smtClean="0"/>
              <a:t>April 16,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473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D1FE46-1DF7-4EA7-884B-9D24B7AD8A61}" type="datetime4">
              <a:rPr lang="en-US" smtClean="0"/>
              <a:t>April 16,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1210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06475310-24CC-43C1-BEC9-81D22A3A7A8F}" type="datetime4">
              <a:rPr lang="en-US" smtClean="0"/>
              <a:t>April 16, 2026</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8307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B4EFC1-D63A-4B66-8783-84525F526C06}" type="datetime4">
              <a:rPr lang="en-US" smtClean="0"/>
              <a:t>April 16,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8754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C0B2FF33-5D6E-43D4-8A05-29EECE75BA5B}" type="datetime4">
              <a:rPr lang="en-US" smtClean="0"/>
              <a:t>April 16, 2026</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759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620F7235-DA78-4F5B-A1CF-C1B27E733235}" type="datetime4">
              <a:rPr lang="en-US" smtClean="0"/>
              <a:t>April 16, 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043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AD9AD9-F067-465B-9483-F74D447235FC}" type="datetime4">
              <a:rPr lang="en-US" smtClean="0"/>
              <a:t>April 16,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4754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CCB3FA-92F5-4B34-A8F8-8AD13DF9E7F2}" type="datetime4">
              <a:rPr lang="en-US" smtClean="0"/>
              <a:t>April 16,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4418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1546F728-945C-4738-9DC6-8AAF613BD85C}" type="datetime4">
              <a:rPr lang="en-US" smtClean="0"/>
              <a:t>April 16, 2026</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886616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8670" y="1876424"/>
            <a:ext cx="7593330" cy="2466975"/>
          </a:xfrm>
        </p:spPr>
        <p:style>
          <a:lnRef idx="2">
            <a:schemeClr val="accent1"/>
          </a:lnRef>
          <a:fillRef idx="1">
            <a:schemeClr val="lt1"/>
          </a:fillRef>
          <a:effectRef idx="0">
            <a:schemeClr val="accent1"/>
          </a:effectRef>
          <a:fontRef idx="minor">
            <a:schemeClr val="dk1"/>
          </a:fontRef>
        </p:style>
        <p:txBody>
          <a:bodyPr>
            <a:normAutofit/>
          </a:bodyPr>
          <a:lstStyle/>
          <a:p>
            <a:pPr algn="l"/>
            <a:r>
              <a:rPr lang="en-US" sz="4000"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Recognizing Critically Ill Patients</a:t>
            </a:r>
          </a:p>
        </p:txBody>
      </p:sp>
      <p:sp>
        <p:nvSpPr>
          <p:cNvPr id="3" name="Subtitle 2"/>
          <p:cNvSpPr>
            <a:spLocks noGrp="1"/>
          </p:cNvSpPr>
          <p:nvPr>
            <p:ph type="subTitle" idx="1"/>
          </p:nvPr>
        </p:nvSpPr>
        <p:spPr>
          <a:xfrm>
            <a:off x="381000" y="4495800"/>
            <a:ext cx="8534400" cy="1143000"/>
          </a:xfrm>
        </p:spPr>
        <p:style>
          <a:lnRef idx="2">
            <a:schemeClr val="dk1"/>
          </a:lnRef>
          <a:fillRef idx="1">
            <a:schemeClr val="lt1"/>
          </a:fillRef>
          <a:effectRef idx="0">
            <a:schemeClr val="dk1"/>
          </a:effectRef>
          <a:fontRef idx="minor">
            <a:schemeClr val="dk1"/>
          </a:fontRef>
        </p:style>
        <p:txBody>
          <a:bodyPr>
            <a:normAutofit/>
          </a:bodyPr>
          <a:lstStyle/>
          <a:p>
            <a:pPr lvl="0" algn="l"/>
            <a:r>
              <a:rPr lang="en-US" dirty="0">
                <a:solidFill>
                  <a:prstClr val="black">
                    <a:tint val="75000"/>
                  </a:prstClr>
                </a:solidFill>
                <a:latin typeface="Arial" panose="020B0604020202020204" pitchFamily="34" charset="0"/>
                <a:cs typeface="Arial" panose="020B0604020202020204" pitchFamily="34" charset="0"/>
              </a:rPr>
              <a:t>Prepared by: Mulualem Sitot (Bsc, Msc in Anesthesia)</a:t>
            </a:r>
          </a:p>
          <a:p>
            <a:pPr lvl="0"/>
            <a:r>
              <a:rPr lang="en-US" dirty="0">
                <a:solidFill>
                  <a:prstClr val="black">
                    <a:tint val="75000"/>
                  </a:prstClr>
                </a:solidFill>
                <a:latin typeface="Arial" panose="020B0604020202020204" pitchFamily="34" charset="0"/>
                <a:cs typeface="Arial" panose="020B0604020202020204" pitchFamily="34" charset="0"/>
              </a:rPr>
              <a:t>Assistant professor, Department of Anesthesia</a:t>
            </a:r>
          </a:p>
          <a:p>
            <a:pPr lvl="0"/>
            <a:r>
              <a:rPr lang="en-US" dirty="0">
                <a:solidFill>
                  <a:prstClr val="black">
                    <a:tint val="75000"/>
                  </a:prstClr>
                </a:solidFill>
                <a:latin typeface="Arial" panose="020B0604020202020204" pitchFamily="34" charset="0"/>
                <a:cs typeface="Arial" panose="020B0604020202020204" pitchFamily="34" charset="0"/>
              </a:rPr>
              <a:t>             Addis Ababa University</a:t>
            </a:r>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81000" y="228600"/>
            <a:ext cx="1915160" cy="1647825"/>
          </a:xfrm>
          <a:prstGeom prst="rect">
            <a:avLst/>
          </a:prstGeom>
        </p:spPr>
      </p:pic>
    </p:spTree>
    <p:extLst>
      <p:ext uri="{BB962C8B-B14F-4D97-AF65-F5344CB8AC3E}">
        <p14:creationId xmlns:p14="http://schemas.microsoft.com/office/powerpoint/2010/main" val="1634978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Outline</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lnSpc>
                <a:spcPct val="150000"/>
              </a:lnSpc>
              <a:buNone/>
            </a:pPr>
            <a:r>
              <a:rPr lang="en-US" sz="2400" dirty="0">
                <a:latin typeface="Arial" panose="020B0604020202020204" pitchFamily="34" charset="0"/>
                <a:cs typeface="Arial" panose="020B0604020202020204" pitchFamily="34" charset="0"/>
              </a:rPr>
              <a:t>• Goal</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Objectives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Introduction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Systematic identification of critically ill patient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System by system management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Summary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043DBC51-3919-4B5D-84C7-4BF07BD61C76}"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2051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Goal</a:t>
            </a:r>
          </a:p>
        </p:txBody>
      </p:sp>
      <p:sp>
        <p:nvSpPr>
          <p:cNvPr id="3" name="Content Placeholder 2"/>
          <p:cNvSpPr>
            <a:spLocks noGrp="1"/>
          </p:cNvSpPr>
          <p:nvPr>
            <p:ph idx="1"/>
          </p:nvPr>
        </p:nvSpPr>
        <p:spPr/>
        <p:txBody>
          <a:bodyPr>
            <a:normAutofit/>
          </a:bodyPr>
          <a:lstStyle/>
          <a:p>
            <a:pPr marL="0" indent="0">
              <a:buNone/>
            </a:pPr>
            <a:r>
              <a:rPr lang="en-US" sz="2800" dirty="0">
                <a:latin typeface="Arial" panose="020B0604020202020204" pitchFamily="34" charset="0"/>
                <a:cs typeface="Arial" panose="020B0604020202020204" pitchFamily="34" charset="0"/>
              </a:rPr>
              <a:t>• To provide you good working knowledge on recognition and management of critically ill patients </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65385C75-E39A-441E-B2CA-6C5459088D87}"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003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none" dirty="0">
                <a:latin typeface="Arial" panose="020B0604020202020204" pitchFamily="34" charset="0"/>
                <a:cs typeface="Arial" panose="020B0604020202020204" pitchFamily="34" charset="0"/>
              </a:rPr>
              <a:t>Enabling Objectives</a:t>
            </a:r>
          </a:p>
        </p:txBody>
      </p:sp>
      <p:graphicFrame>
        <p:nvGraphicFramePr>
          <p:cNvPr id="7" name="Content Placeholder 6">
            <a:extLst>
              <a:ext uri="{FF2B5EF4-FFF2-40B4-BE49-F238E27FC236}">
                <a16:creationId xmlns:a16="http://schemas.microsoft.com/office/drawing/2014/main" id="{40C6D829-7C07-4060-1CB2-23BEE2CD62C7}"/>
              </a:ext>
            </a:extLst>
          </p:cNvPr>
          <p:cNvGraphicFramePr>
            <a:graphicFrameLocks noGrp="1"/>
          </p:cNvGraphicFramePr>
          <p:nvPr>
            <p:ph idx="1"/>
            <p:extLst>
              <p:ext uri="{D42A27DB-BD31-4B8C-83A1-F6EECF244321}">
                <p14:modId xmlns:p14="http://schemas.microsoft.com/office/powerpoint/2010/main" val="3289690941"/>
              </p:ext>
            </p:extLst>
          </p:nvPr>
        </p:nvGraphicFramePr>
        <p:xfrm>
          <a:off x="381000" y="2121408"/>
          <a:ext cx="8582406"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6676FE7A-6D6D-4EBB-B95A-AFCF18F29D11}"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924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734568"/>
          </a:xfrm>
        </p:spPr>
        <p:txBody>
          <a:bodyPr>
            <a:normAutofit/>
          </a:bodyPr>
          <a:lstStyle/>
          <a:p>
            <a:r>
              <a:rPr lang="en-US" sz="3600" cap="none" dirty="0">
                <a:latin typeface="Arial" panose="020B0604020202020204" pitchFamily="34" charset="0"/>
                <a:cs typeface="Arial" panose="020B0604020202020204" pitchFamily="34" charset="0"/>
              </a:rPr>
              <a:t>Introduction</a:t>
            </a:r>
          </a:p>
        </p:txBody>
      </p:sp>
      <p:sp>
        <p:nvSpPr>
          <p:cNvPr id="4" name="Date Placeholder 3"/>
          <p:cNvSpPr>
            <a:spLocks noGrp="1"/>
          </p:cNvSpPr>
          <p:nvPr>
            <p:ph type="dt" sz="half" idx="10"/>
          </p:nvPr>
        </p:nvSpPr>
        <p:spPr/>
        <p:txBody>
          <a:bodyPr/>
          <a:lstStyle/>
          <a:p>
            <a:fld id="{86ACED64-657D-41BC-AE4E-A188F2048F6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47800"/>
            <a:ext cx="8305800" cy="4678363"/>
          </a:xfrm>
        </p:spPr>
        <p:txBody>
          <a:bodyPr>
            <a:normAutofit/>
          </a:bodyPr>
          <a:lstStyle/>
          <a:p>
            <a:pPr algn="just">
              <a:buClr>
                <a:schemeClr val="tx1"/>
              </a:buClr>
              <a:buFont typeface="Arial" panose="020B0604020202020204" pitchFamily="34" charset="0"/>
              <a:buChar char="•"/>
            </a:pPr>
            <a:r>
              <a:rPr lang="en-US" sz="2400" b="1" dirty="0">
                <a:latin typeface="Arial" panose="020B0604020202020204" pitchFamily="34" charset="0"/>
                <a:cs typeface="Arial" panose="020B0604020202020204" pitchFamily="34" charset="0"/>
              </a:rPr>
              <a:t>What is critical illness?</a:t>
            </a:r>
          </a:p>
          <a:p>
            <a:pPr lvl="1" algn="just">
              <a:buClr>
                <a:schemeClr val="tx1"/>
              </a:buClr>
              <a:buFont typeface="Arial" panose="020B0604020202020204" pitchFamily="34" charset="0"/>
              <a:buChar char="•"/>
            </a:pPr>
            <a:r>
              <a:rPr lang="en-US" sz="2000" dirty="0">
                <a:latin typeface="Arial" panose="020B0604020202020204" pitchFamily="34" charset="0"/>
                <a:cs typeface="Arial" panose="020B0604020202020204" pitchFamily="34" charset="0"/>
              </a:rPr>
              <a:t>Critical illness is any disease process which causes physiological instability leading to disability or death within minutes or </a:t>
            </a:r>
            <a:r>
              <a:rPr lang="en-GB" sz="2000" dirty="0">
                <a:latin typeface="Arial" panose="020B0604020202020204" pitchFamily="34" charset="0"/>
                <a:cs typeface="Arial" panose="020B0604020202020204" pitchFamily="34" charset="0"/>
              </a:rPr>
              <a:t>hours.</a:t>
            </a:r>
          </a:p>
          <a:p>
            <a:pPr lvl="1" algn="just">
              <a:buClr>
                <a:schemeClr val="tx1"/>
              </a:buClr>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algn="just">
              <a:buClr>
                <a:schemeClr val="tx1"/>
              </a:buClr>
              <a:buFont typeface="Arial" panose="020B0604020202020204" pitchFamily="34" charset="0"/>
              <a:buChar char="•"/>
            </a:pPr>
            <a:r>
              <a:rPr lang="en-GB" sz="2200" dirty="0">
                <a:latin typeface="Arial" panose="020B0604020202020204" pitchFamily="34" charset="0"/>
                <a:cs typeface="Arial" panose="020B0604020202020204" pitchFamily="34" charset="0"/>
              </a:rPr>
              <a:t>Perturbation of the neurological and cardiorespiratory systems generally </a:t>
            </a:r>
            <a:r>
              <a:rPr lang="en-US" sz="2200" dirty="0">
                <a:latin typeface="Arial" panose="020B0604020202020204" pitchFamily="34" charset="0"/>
                <a:cs typeface="Arial" panose="020B0604020202020204" pitchFamily="34" charset="0"/>
              </a:rPr>
              <a:t>has the most immediate life-threatening effects.</a:t>
            </a:r>
          </a:p>
          <a:p>
            <a:pPr algn="just">
              <a:buClr>
                <a:schemeClr val="tx1"/>
              </a:buClr>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lvl="1" algn="just">
              <a:buClr>
                <a:schemeClr val="tx1"/>
              </a:buClr>
              <a:buFont typeface="Arial" panose="020B0604020202020204" pitchFamily="34" charset="0"/>
              <a:buChar char="•"/>
            </a:pPr>
            <a:r>
              <a:rPr lang="en-US" sz="2000" dirty="0">
                <a:latin typeface="Arial" panose="020B0604020202020204" pitchFamily="34" charset="0"/>
                <a:cs typeface="Arial" panose="020B0604020202020204" pitchFamily="34" charset="0"/>
              </a:rPr>
              <a:t>Fortunately, such instability can be reliably detected by deviations from the </a:t>
            </a:r>
            <a:r>
              <a:rPr lang="en-GB" sz="2000" dirty="0">
                <a:latin typeface="Arial" panose="020B0604020202020204" pitchFamily="34" charset="0"/>
                <a:cs typeface="Arial" panose="020B0604020202020204" pitchFamily="34" charset="0"/>
              </a:rPr>
              <a:t>normal range in simple clinical observations </a:t>
            </a:r>
          </a:p>
          <a:p>
            <a:pPr lvl="2" algn="just">
              <a:buClr>
                <a:schemeClr val="tx1"/>
              </a:buClr>
              <a:buFont typeface="Arial" panose="020B0604020202020204" pitchFamily="34" charset="0"/>
              <a:buChar char="•"/>
            </a:pPr>
            <a:r>
              <a:rPr lang="en-US" sz="2000" dirty="0">
                <a:latin typeface="Arial" panose="020B0604020202020204" pitchFamily="34" charset="0"/>
                <a:cs typeface="Arial" panose="020B0604020202020204" pitchFamily="34" charset="0"/>
              </a:rPr>
              <a:t>such as level of consciousness, RR, HR, BP and </a:t>
            </a:r>
            <a:r>
              <a:rPr lang="en-GB" sz="2000" dirty="0">
                <a:latin typeface="Arial" panose="020B0604020202020204" pitchFamily="34" charset="0"/>
                <a:cs typeface="Arial" panose="020B0604020202020204" pitchFamily="34" charset="0"/>
              </a:rPr>
              <a:t>urinary output.</a:t>
            </a:r>
          </a:p>
          <a:p>
            <a:pPr lvl="2" algn="just">
              <a:buClr>
                <a:schemeClr val="tx1"/>
              </a:buClr>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algn="just">
              <a:buClr>
                <a:schemeClr val="tx1"/>
              </a:buClr>
              <a:buFont typeface="Arial" panose="020B0604020202020204" pitchFamily="34" charset="0"/>
              <a:buChar char="•"/>
            </a:pPr>
            <a:r>
              <a:rPr lang="en-GB" sz="2200" dirty="0">
                <a:latin typeface="Arial" panose="020B0604020202020204" pitchFamily="34" charset="0"/>
                <a:cs typeface="Arial" panose="020B0604020202020204" pitchFamily="34" charset="0"/>
              </a:rPr>
              <a:t>Early recognition and appropriate measures are very crucial! </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267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600" cap="none"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457200" y="1265237"/>
            <a:ext cx="8382000" cy="4974198"/>
          </a:xfrm>
        </p:spPr>
        <p:txBody>
          <a:bodyPr>
            <a:noAutofit/>
          </a:bodyPr>
          <a:lstStyle/>
          <a:p>
            <a:pPr>
              <a:buFont typeface="Arial" panose="020B0604020202020204" pitchFamily="34" charset="0"/>
              <a:buChar char="•"/>
            </a:pPr>
            <a:r>
              <a:rPr lang="en-US" sz="2200" dirty="0">
                <a:latin typeface="Arial" panose="020B0604020202020204" pitchFamily="34" charset="0"/>
                <a:cs typeface="Arial" panose="020B0604020202020204" pitchFamily="34" charset="0"/>
              </a:rPr>
              <a:t>Early recognition and treatment of deteriorating patients is the key to preventing deaths.</a:t>
            </a:r>
          </a:p>
          <a:p>
            <a:pPr>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algn="just">
              <a:buFont typeface="Arial" panose="020B0604020202020204" pitchFamily="34" charset="0"/>
              <a:buChar char="•"/>
            </a:pPr>
            <a:r>
              <a:rPr lang="en-US" sz="2200" dirty="0">
                <a:latin typeface="Arial" panose="020B0604020202020204" pitchFamily="34" charset="0"/>
                <a:cs typeface="Arial" panose="020B0604020202020204" pitchFamily="34" charset="0"/>
              </a:rPr>
              <a:t>Regular assessment of simple vital signs are essential in recognizing critical illness and helping to predict cardiorespiratory arrest.</a:t>
            </a:r>
          </a:p>
          <a:p>
            <a:pPr>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200" dirty="0">
                <a:latin typeface="Arial" panose="020B0604020202020204" pitchFamily="34" charset="0"/>
                <a:cs typeface="Arial" panose="020B0604020202020204" pitchFamily="34" charset="0"/>
              </a:rPr>
              <a:t> Many hospitals use early warning systems which help to identify deteriorating patients and trigger a response.</a:t>
            </a:r>
          </a:p>
          <a:p>
            <a:pPr>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200" dirty="0">
                <a:latin typeface="Arial" panose="020B0604020202020204" pitchFamily="34" charset="0"/>
                <a:cs typeface="Arial" panose="020B0604020202020204" pitchFamily="34" charset="0"/>
              </a:rPr>
              <a:t> Critically ill patients should be placed in an area with the highest supervision.</a:t>
            </a:r>
          </a:p>
        </p:txBody>
      </p:sp>
      <p:sp>
        <p:nvSpPr>
          <p:cNvPr id="4" name="Date Placeholder 3"/>
          <p:cNvSpPr>
            <a:spLocks noGrp="1"/>
          </p:cNvSpPr>
          <p:nvPr>
            <p:ph type="dt" sz="half" idx="10"/>
          </p:nvPr>
        </p:nvSpPr>
        <p:spPr/>
        <p:txBody>
          <a:bodyPr/>
          <a:lstStyle/>
          <a:p>
            <a:fld id="{665DDFB3-B849-4631-AC27-975BC185693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7865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86968"/>
          </a:xfrm>
        </p:spPr>
        <p:txBody>
          <a:bodyPr/>
          <a:lstStyle/>
          <a:p>
            <a:r>
              <a:rPr lang="en-US" cap="none"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533400" y="1752600"/>
            <a:ext cx="8305800" cy="4419600"/>
          </a:xfrm>
        </p:spPr>
        <p:txBody>
          <a:bodyPr>
            <a:normAutofit/>
          </a:bodyPr>
          <a:lstStyle/>
          <a:p>
            <a:pPr algn="just">
              <a:buFont typeface="Arial" panose="020B0604020202020204" pitchFamily="34" charset="0"/>
              <a:buChar char="•"/>
            </a:pPr>
            <a:r>
              <a:rPr lang="en-US" sz="2400" dirty="0">
                <a:latin typeface="Arial" panose="020B0604020202020204" pitchFamily="34" charset="0"/>
                <a:cs typeface="Arial" panose="020B0604020202020204" pitchFamily="34" charset="0"/>
              </a:rPr>
              <a:t>Data in 1987 indicated that up to 40% of patients in the ICUs were inappropriately admitted </a:t>
            </a:r>
          </a:p>
          <a:p>
            <a:pPr lvl="1" algn="just">
              <a:buFont typeface="Arial" panose="020B0604020202020204" pitchFamily="34" charset="0"/>
              <a:buChar char="•"/>
            </a:pPr>
            <a:r>
              <a:rPr lang="en-US" sz="2200" dirty="0">
                <a:latin typeface="Arial" panose="020B0604020202020204" pitchFamily="34" charset="0"/>
                <a:cs typeface="Arial" panose="020B0604020202020204" pitchFamily="34" charset="0"/>
              </a:rPr>
              <a:t>either because they probably would have died regardless of the care provided </a:t>
            </a:r>
          </a:p>
          <a:p>
            <a:pPr lvl="1" algn="just">
              <a:buFont typeface="Arial" panose="020B0604020202020204" pitchFamily="34" charset="0"/>
              <a:buChar char="•"/>
            </a:pPr>
            <a:r>
              <a:rPr lang="en-US" sz="2200" dirty="0">
                <a:latin typeface="Arial" panose="020B0604020202020204" pitchFamily="34" charset="0"/>
                <a:cs typeface="Arial" panose="020B0604020202020204" pitchFamily="34" charset="0"/>
              </a:rPr>
              <a:t>or because their illnesses were not life threatening enough to require ICU care.</a:t>
            </a:r>
          </a:p>
          <a:p>
            <a:pPr algn="just"/>
            <a:endParaRPr lang="en-US" dirty="0">
              <a:latin typeface="Arial" panose="020B0604020202020204" pitchFamily="34" charset="0"/>
              <a:cs typeface="Arial" panose="020B0604020202020204" pitchFamily="34" charset="0"/>
            </a:endParaRPr>
          </a:p>
          <a:p>
            <a:pPr lvl="1" algn="just">
              <a:buFont typeface="Wingdings" pitchFamily="2" charset="2"/>
              <a:buChar char="ü"/>
            </a:pP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TOO  Ill TO  ICU </a:t>
            </a:r>
            <a:r>
              <a:rPr lang="en-US" sz="2400" dirty="0">
                <a:latin typeface="Arial" panose="020B0604020202020204" pitchFamily="34" charset="0"/>
                <a:cs typeface="Arial" panose="020B0604020202020204" pitchFamily="34" charset="0"/>
              </a:rPr>
              <a:t>and </a:t>
            </a:r>
            <a:r>
              <a:rPr lang="en-US" sz="2400" dirty="0">
                <a:solidFill>
                  <a:srgbClr val="FF0000"/>
                </a:solidFill>
                <a:latin typeface="Arial" panose="020B0604020202020204" pitchFamily="34" charset="0"/>
                <a:cs typeface="Arial" panose="020B0604020202020204" pitchFamily="34" charset="0"/>
              </a:rPr>
              <a:t>TOO WELL TO ICU ”</a:t>
            </a:r>
            <a:endParaRPr lang="en-GB" sz="2400" dirty="0">
              <a:solidFill>
                <a:srgbClr val="FF0000"/>
              </a:solidFill>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91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115568"/>
          </a:xfrm>
        </p:spPr>
        <p:txBody>
          <a:bodyPr>
            <a:normAutofit/>
          </a:bodyPr>
          <a:lstStyle/>
          <a:p>
            <a:r>
              <a:rPr lang="en-GB" sz="2800" cap="none" dirty="0">
                <a:latin typeface="Arial" panose="020B0604020202020204" pitchFamily="34" charset="0"/>
                <a:cs typeface="Arial" panose="020B0604020202020204" pitchFamily="34" charset="0"/>
              </a:rPr>
              <a:t>Scores to identify critically ill patients </a:t>
            </a:r>
            <a:endParaRPr lang="en-US" sz="2800" cap="none"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5800" y="2121408"/>
            <a:ext cx="8077200" cy="4050792"/>
          </a:xfrm>
        </p:spPr>
        <p:txBody>
          <a:bodyPr>
            <a:normAutofit/>
          </a:bodyPr>
          <a:lstStyle/>
          <a:p>
            <a:pPr>
              <a:buFont typeface="Wingdings" pitchFamily="2" charset="2"/>
              <a:buChar char="Ø"/>
            </a:pPr>
            <a:r>
              <a:rPr lang="en-GB" sz="2800" dirty="0">
                <a:latin typeface="Arial" panose="020B0604020202020204" pitchFamily="34" charset="0"/>
                <a:cs typeface="Arial" panose="020B0604020202020204" pitchFamily="34" charset="0"/>
              </a:rPr>
              <a:t>Single Physiologic parameter score (SPAS) </a:t>
            </a:r>
          </a:p>
          <a:p>
            <a:pPr>
              <a:buFont typeface="Wingdings" pitchFamily="2" charset="2"/>
              <a:buChar char="Ø"/>
            </a:pPr>
            <a:r>
              <a:rPr lang="en-US" sz="2800" dirty="0">
                <a:solidFill>
                  <a:schemeClr val="tx1"/>
                </a:solidFill>
                <a:latin typeface="Arial" panose="020B0604020202020204" pitchFamily="34" charset="0"/>
                <a:cs typeface="Arial" panose="020B0604020202020204" pitchFamily="34" charset="0"/>
              </a:rPr>
              <a:t> Compound scores of physiological abnormality – National </a:t>
            </a:r>
            <a:r>
              <a:rPr lang="en-GB" sz="2800" dirty="0">
                <a:latin typeface="Arial" panose="020B0604020202020204" pitchFamily="34" charset="0"/>
                <a:cs typeface="Arial" panose="020B0604020202020204" pitchFamily="34" charset="0"/>
              </a:rPr>
              <a:t>Early Warning score (NEWS)</a:t>
            </a:r>
          </a:p>
          <a:p>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z="2400" smtClean="0">
                <a:latin typeface="Arial" panose="020B0604020202020204" pitchFamily="34" charset="0"/>
                <a:cs typeface="Arial" panose="020B0604020202020204" pitchFamily="34" charset="0"/>
              </a:rPr>
              <a:t>April 16, 2026</a:t>
            </a:fld>
            <a:endParaRPr lang="en-US" sz="28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z="2800" smtClean="0">
                <a:latin typeface="Arial" panose="020B0604020202020204" pitchFamily="34" charset="0"/>
                <a:cs typeface="Arial" panose="020B0604020202020204" pitchFamily="34" charset="0"/>
              </a:rPr>
              <a:pPr/>
              <a:t>8</a:t>
            </a:fld>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2524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581744"/>
          </a:xfrm>
        </p:spPr>
        <p:txBody>
          <a:bodyPr>
            <a:noAutofit/>
          </a:bodyPr>
          <a:lstStyle/>
          <a:p>
            <a:br>
              <a:rPr lang="en-GB" sz="2800" dirty="0">
                <a:solidFill>
                  <a:schemeClr val="tx1"/>
                </a:solidFill>
                <a:latin typeface="Arial" panose="020B0604020202020204" pitchFamily="34" charset="0"/>
                <a:cs typeface="Arial" panose="020B0604020202020204" pitchFamily="34" charset="0"/>
              </a:rPr>
            </a:br>
            <a:br>
              <a:rPr lang="en-GB" sz="2800" dirty="0">
                <a:solidFill>
                  <a:schemeClr val="tx1"/>
                </a:solidFill>
                <a:latin typeface="Arial" panose="020B0604020202020204" pitchFamily="34" charset="0"/>
                <a:cs typeface="Arial" panose="020B0604020202020204" pitchFamily="34" charset="0"/>
              </a:rPr>
            </a:br>
            <a:br>
              <a:rPr lang="en-GB" sz="2800" dirty="0">
                <a:solidFill>
                  <a:schemeClr val="tx1"/>
                </a:solidFill>
                <a:latin typeface="Arial" panose="020B0604020202020204" pitchFamily="34" charset="0"/>
                <a:cs typeface="Arial" panose="020B0604020202020204" pitchFamily="34" charset="0"/>
              </a:rPr>
            </a:br>
            <a:r>
              <a:rPr lang="en-GB" sz="2800" dirty="0">
                <a:solidFill>
                  <a:schemeClr val="tx1"/>
                </a:solidFill>
                <a:latin typeface="Arial" panose="020B0604020202020204" pitchFamily="34" charset="0"/>
                <a:cs typeface="Arial" panose="020B0604020202020204" pitchFamily="34" charset="0"/>
              </a:rPr>
              <a:t>1.</a:t>
            </a:r>
            <a:r>
              <a:rPr lang="en-GB" sz="2800" cap="none" dirty="0">
                <a:solidFill>
                  <a:schemeClr val="tx1"/>
                </a:solidFill>
                <a:latin typeface="Arial" panose="020B0604020202020204" pitchFamily="34" charset="0"/>
                <a:cs typeface="Arial" panose="020B0604020202020204" pitchFamily="34" charset="0"/>
              </a:rPr>
              <a:t>Single Physiologic Parameter Score(SPAS)</a:t>
            </a:r>
            <a:br>
              <a:rPr lang="en-GB" sz="2800" dirty="0">
                <a:solidFill>
                  <a:schemeClr val="tx1"/>
                </a:solidFill>
                <a:latin typeface="Arial" panose="020B0604020202020204" pitchFamily="34" charset="0"/>
                <a:cs typeface="Arial" panose="020B0604020202020204" pitchFamily="34" charset="0"/>
              </a:rPr>
            </a:br>
            <a:r>
              <a:rPr lang="en-GB" sz="2800" dirty="0">
                <a:solidFill>
                  <a:schemeClr val="tx1"/>
                </a:solidFill>
                <a:latin typeface="Arial" panose="020B0604020202020204" pitchFamily="34" charset="0"/>
                <a:cs typeface="Arial" panose="020B0604020202020204" pitchFamily="34" charset="0"/>
              </a:rPr>
              <a:t>                                                                              Update in Anaesthesia | www.anaesthesiologists.org</a:t>
            </a:r>
            <a:br>
              <a:rPr lang="en-GB" sz="2800" dirty="0">
                <a:solidFill>
                  <a:schemeClr val="tx1"/>
                </a:solidFill>
                <a:latin typeface="Arial" panose="020B0604020202020204" pitchFamily="34" charset="0"/>
                <a:cs typeface="Arial" panose="020B0604020202020204" pitchFamily="34" charset="0"/>
              </a:rPr>
            </a:br>
            <a:endParaRPr lang="en-GB" sz="2800" dirty="0">
              <a:solidFill>
                <a:schemeClr val="tx1"/>
              </a:solidFill>
              <a:latin typeface="Arial" panose="020B0604020202020204" pitchFamily="34" charset="0"/>
              <a:cs typeface="Arial" panose="020B06040202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88655762"/>
              </p:ext>
            </p:extLst>
          </p:nvPr>
        </p:nvGraphicFramePr>
        <p:xfrm>
          <a:off x="179512" y="1828800"/>
          <a:ext cx="8784975" cy="4297680"/>
        </p:xfrm>
        <a:graphic>
          <a:graphicData uri="http://schemas.openxmlformats.org/drawingml/2006/table">
            <a:tbl>
              <a:tblPr firstRow="1" bandRow="1">
                <a:tableStyleId>{5C22544A-7EE6-4342-B048-85BDC9FD1C3A}</a:tableStyleId>
              </a:tblPr>
              <a:tblGrid>
                <a:gridCol w="2639888">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3782887">
                  <a:extLst>
                    <a:ext uri="{9D8B030D-6E8A-4147-A177-3AD203B41FA5}">
                      <a16:colId xmlns:a16="http://schemas.microsoft.com/office/drawing/2014/main" val="20002"/>
                    </a:ext>
                  </a:extLst>
                </a:gridCol>
              </a:tblGrid>
              <a:tr h="529407">
                <a:tc>
                  <a:txBody>
                    <a:bodyPr/>
                    <a:lstStyle/>
                    <a:p>
                      <a:r>
                        <a:rPr lang="en-GB" sz="2000" dirty="0">
                          <a:latin typeface="Arial" panose="020B0604020202020204" pitchFamily="34" charset="0"/>
                          <a:cs typeface="Arial" panose="020B0604020202020204" pitchFamily="34" charset="0"/>
                        </a:rPr>
                        <a:t>Physiologic parameter </a:t>
                      </a:r>
                    </a:p>
                  </a:txBody>
                  <a:tcPr/>
                </a:tc>
                <a:tc>
                  <a:txBody>
                    <a:bodyPr/>
                    <a:lstStyle/>
                    <a:p>
                      <a:r>
                        <a:rPr lang="en-GB" sz="2000" dirty="0">
                          <a:latin typeface="Arial" panose="020B0604020202020204" pitchFamily="34" charset="0"/>
                          <a:cs typeface="Arial" panose="020B0604020202020204" pitchFamily="34" charset="0"/>
                        </a:rPr>
                        <a:t>Adult normal</a:t>
                      </a:r>
                      <a:r>
                        <a:rPr lang="en-GB" sz="2000" baseline="0" dirty="0">
                          <a:latin typeface="Arial" panose="020B0604020202020204" pitchFamily="34" charset="0"/>
                          <a:cs typeface="Arial" panose="020B0604020202020204" pitchFamily="34" charset="0"/>
                        </a:rPr>
                        <a:t> range </a:t>
                      </a:r>
                      <a:endParaRPr lang="en-GB" sz="2000" dirty="0">
                        <a:latin typeface="Arial" panose="020B0604020202020204" pitchFamily="34" charset="0"/>
                        <a:cs typeface="Arial" panose="020B0604020202020204" pitchFamily="34" charset="0"/>
                      </a:endParaRPr>
                    </a:p>
                  </a:txBody>
                  <a:tcPr/>
                </a:tc>
                <a:tc>
                  <a:txBody>
                    <a:bodyPr/>
                    <a:lstStyle/>
                    <a:p>
                      <a:r>
                        <a:rPr lang="en-GB" sz="2000" dirty="0">
                          <a:latin typeface="Arial" panose="020B0604020202020204" pitchFamily="34" charset="0"/>
                          <a:cs typeface="Arial" panose="020B0604020202020204" pitchFamily="34" charset="0"/>
                        </a:rPr>
                        <a:t>Triggers of critical illness</a:t>
                      </a:r>
                    </a:p>
                  </a:txBody>
                  <a:tcPr/>
                </a:tc>
                <a:extLst>
                  <a:ext uri="{0D108BD9-81ED-4DB2-BD59-A6C34878D82A}">
                    <a16:rowId xmlns:a16="http://schemas.microsoft.com/office/drawing/2014/main" val="10000"/>
                  </a:ext>
                </a:extLst>
              </a:tr>
              <a:tr h="535470">
                <a:tc>
                  <a:txBody>
                    <a:bodyPr/>
                    <a:lstStyle/>
                    <a:p>
                      <a:r>
                        <a:rPr lang="en-GB" sz="2000" dirty="0">
                          <a:latin typeface="Arial" panose="020B0604020202020204" pitchFamily="34" charset="0"/>
                          <a:cs typeface="Arial" panose="020B0604020202020204" pitchFamily="34" charset="0"/>
                        </a:rPr>
                        <a:t>Heart rate </a:t>
                      </a:r>
                    </a:p>
                  </a:txBody>
                  <a:tcPr/>
                </a:tc>
                <a:tc>
                  <a:txBody>
                    <a:bodyPr/>
                    <a:lstStyle/>
                    <a:p>
                      <a:r>
                        <a:rPr lang="en-GB" sz="2000" dirty="0">
                          <a:latin typeface="Arial" panose="020B0604020202020204" pitchFamily="34" charset="0"/>
                          <a:cs typeface="Arial" panose="020B0604020202020204" pitchFamily="34" charset="0"/>
                        </a:rPr>
                        <a:t>50-90</a:t>
                      </a:r>
                    </a:p>
                  </a:txBody>
                  <a:tcPr/>
                </a:tc>
                <a:tc>
                  <a:txBody>
                    <a:bodyPr/>
                    <a:lstStyle/>
                    <a:p>
                      <a:r>
                        <a:rPr lang="en-GB" sz="2000" dirty="0">
                          <a:latin typeface="Arial" panose="020B0604020202020204" pitchFamily="34" charset="0"/>
                          <a:cs typeface="Arial" panose="020B0604020202020204" pitchFamily="34" charset="0"/>
                        </a:rPr>
                        <a:t>&lt;40</a:t>
                      </a:r>
                    </a:p>
                    <a:p>
                      <a:r>
                        <a:rPr lang="en-GB" sz="2000" dirty="0">
                          <a:latin typeface="Arial" panose="020B0604020202020204" pitchFamily="34" charset="0"/>
                          <a:cs typeface="Arial" panose="020B0604020202020204" pitchFamily="34" charset="0"/>
                        </a:rPr>
                        <a:t>&gt;130</a:t>
                      </a:r>
                    </a:p>
                  </a:txBody>
                  <a:tcPr/>
                </a:tc>
                <a:extLst>
                  <a:ext uri="{0D108BD9-81ED-4DB2-BD59-A6C34878D82A}">
                    <a16:rowId xmlns:a16="http://schemas.microsoft.com/office/drawing/2014/main" val="10001"/>
                  </a:ext>
                </a:extLst>
              </a:tr>
              <a:tr h="535470">
                <a:tc>
                  <a:txBody>
                    <a:bodyPr/>
                    <a:lstStyle/>
                    <a:p>
                      <a:r>
                        <a:rPr lang="en-GB" sz="2000" dirty="0">
                          <a:latin typeface="Arial" panose="020B0604020202020204" pitchFamily="34" charset="0"/>
                          <a:cs typeface="Arial" panose="020B0604020202020204" pitchFamily="34" charset="0"/>
                        </a:rPr>
                        <a:t>RR</a:t>
                      </a:r>
                    </a:p>
                  </a:txBody>
                  <a:tcPr/>
                </a:tc>
                <a:tc>
                  <a:txBody>
                    <a:bodyPr/>
                    <a:lstStyle/>
                    <a:p>
                      <a:r>
                        <a:rPr lang="en-GB" sz="2000" dirty="0">
                          <a:latin typeface="Arial" panose="020B0604020202020204" pitchFamily="34" charset="0"/>
                          <a:cs typeface="Arial" panose="020B0604020202020204" pitchFamily="34" charset="0"/>
                        </a:rPr>
                        <a:t>10-20</a:t>
                      </a:r>
                    </a:p>
                  </a:txBody>
                  <a:tcPr/>
                </a:tc>
                <a:tc>
                  <a:txBody>
                    <a:bodyPr/>
                    <a:lstStyle/>
                    <a:p>
                      <a:r>
                        <a:rPr lang="en-GB" sz="2000" dirty="0">
                          <a:latin typeface="Arial" panose="020B0604020202020204" pitchFamily="34" charset="0"/>
                          <a:cs typeface="Arial" panose="020B0604020202020204" pitchFamily="34" charset="0"/>
                        </a:rPr>
                        <a:t>&lt;8</a:t>
                      </a:r>
                    </a:p>
                    <a:p>
                      <a:r>
                        <a:rPr lang="en-GB" sz="2000" dirty="0">
                          <a:latin typeface="Arial" panose="020B0604020202020204" pitchFamily="34" charset="0"/>
                          <a:cs typeface="Arial" panose="020B0604020202020204" pitchFamily="34" charset="0"/>
                        </a:rPr>
                        <a:t>&gt;30</a:t>
                      </a:r>
                    </a:p>
                  </a:txBody>
                  <a:tcPr/>
                </a:tc>
                <a:extLst>
                  <a:ext uri="{0D108BD9-81ED-4DB2-BD59-A6C34878D82A}">
                    <a16:rowId xmlns:a16="http://schemas.microsoft.com/office/drawing/2014/main" val="10002"/>
                  </a:ext>
                </a:extLst>
              </a:tr>
              <a:tr h="302657">
                <a:tc>
                  <a:txBody>
                    <a:bodyPr/>
                    <a:lstStyle/>
                    <a:p>
                      <a:r>
                        <a:rPr lang="en-GB" sz="2000" dirty="0">
                          <a:latin typeface="Arial" panose="020B0604020202020204" pitchFamily="34" charset="0"/>
                          <a:cs typeface="Arial" panose="020B0604020202020204" pitchFamily="34" charset="0"/>
                        </a:rPr>
                        <a:t>Systolic</a:t>
                      </a:r>
                      <a:r>
                        <a:rPr lang="en-GB" sz="2000" baseline="0" dirty="0">
                          <a:latin typeface="Arial" panose="020B0604020202020204" pitchFamily="34" charset="0"/>
                          <a:cs typeface="Arial" panose="020B0604020202020204" pitchFamily="34" charset="0"/>
                        </a:rPr>
                        <a:t> BP</a:t>
                      </a:r>
                      <a:endParaRPr lang="en-GB" sz="2000" dirty="0">
                        <a:latin typeface="Arial" panose="020B0604020202020204" pitchFamily="34" charset="0"/>
                        <a:cs typeface="Arial" panose="020B0604020202020204" pitchFamily="34" charset="0"/>
                      </a:endParaRPr>
                    </a:p>
                  </a:txBody>
                  <a:tcPr/>
                </a:tc>
                <a:tc>
                  <a:txBody>
                    <a:bodyPr/>
                    <a:lstStyle/>
                    <a:p>
                      <a:r>
                        <a:rPr lang="en-GB" sz="2000" dirty="0">
                          <a:latin typeface="Arial" panose="020B0604020202020204" pitchFamily="34" charset="0"/>
                          <a:cs typeface="Arial" panose="020B0604020202020204" pitchFamily="34" charset="0"/>
                        </a:rPr>
                        <a:t>100-140</a:t>
                      </a:r>
                    </a:p>
                  </a:txBody>
                  <a:tcPr/>
                </a:tc>
                <a:tc>
                  <a:txBody>
                    <a:bodyPr/>
                    <a:lstStyle/>
                    <a:p>
                      <a:r>
                        <a:rPr lang="en-GB" sz="2000" dirty="0">
                          <a:latin typeface="Arial" panose="020B0604020202020204" pitchFamily="34" charset="0"/>
                          <a:cs typeface="Arial" panose="020B0604020202020204" pitchFamily="34" charset="0"/>
                        </a:rPr>
                        <a:t>&lt;90</a:t>
                      </a:r>
                    </a:p>
                  </a:txBody>
                  <a:tcPr/>
                </a:tc>
                <a:extLst>
                  <a:ext uri="{0D108BD9-81ED-4DB2-BD59-A6C34878D82A}">
                    <a16:rowId xmlns:a16="http://schemas.microsoft.com/office/drawing/2014/main" val="10003"/>
                  </a:ext>
                </a:extLst>
              </a:tr>
              <a:tr h="768282">
                <a:tc>
                  <a:txBody>
                    <a:bodyPr/>
                    <a:lstStyle/>
                    <a:p>
                      <a:r>
                        <a:rPr lang="en-GB" sz="2000" dirty="0">
                          <a:latin typeface="Arial" panose="020B0604020202020204" pitchFamily="34" charset="0"/>
                          <a:cs typeface="Arial" panose="020B0604020202020204" pitchFamily="34" charset="0"/>
                        </a:rPr>
                        <a:t>Consciousness</a:t>
                      </a:r>
                      <a:r>
                        <a:rPr lang="en-GB" sz="2000" baseline="0" dirty="0">
                          <a:latin typeface="Arial" panose="020B0604020202020204" pitchFamily="34" charset="0"/>
                          <a:cs typeface="Arial" panose="020B0604020202020204" pitchFamily="34" charset="0"/>
                        </a:rPr>
                        <a:t> level</a:t>
                      </a:r>
                      <a:endParaRPr lang="en-GB" sz="2000" dirty="0">
                        <a:latin typeface="Arial" panose="020B0604020202020204" pitchFamily="34" charset="0"/>
                        <a:cs typeface="Arial" panose="020B0604020202020204" pitchFamily="34" charset="0"/>
                      </a:endParaRPr>
                    </a:p>
                  </a:txBody>
                  <a:tcPr/>
                </a:tc>
                <a:tc>
                  <a:txBody>
                    <a:bodyPr/>
                    <a:lstStyle/>
                    <a:p>
                      <a:r>
                        <a:rPr lang="en-GB" sz="2000" dirty="0">
                          <a:latin typeface="Arial" panose="020B0604020202020204" pitchFamily="34" charset="0"/>
                          <a:cs typeface="Arial" panose="020B0604020202020204" pitchFamily="34" charset="0"/>
                        </a:rPr>
                        <a:t>Awake, Alert </a:t>
                      </a:r>
                    </a:p>
                  </a:txBody>
                  <a:tcPr/>
                </a:tc>
                <a:tc>
                  <a:txBody>
                    <a:bodyPr/>
                    <a:lstStyle/>
                    <a:p>
                      <a:pPr marL="342900" indent="-342900">
                        <a:buFont typeface="Arial" pitchFamily="34" charset="0"/>
                        <a:buChar char="•"/>
                      </a:pPr>
                      <a:r>
                        <a:rPr lang="en-GB" sz="2000" dirty="0">
                          <a:latin typeface="Arial" panose="020B0604020202020204" pitchFamily="34" charset="0"/>
                          <a:cs typeface="Arial" panose="020B0604020202020204" pitchFamily="34" charset="0"/>
                        </a:rPr>
                        <a:t>Any sudden deterioration</a:t>
                      </a:r>
                    </a:p>
                    <a:p>
                      <a:pPr marL="342900" indent="-342900">
                        <a:buFont typeface="Arial" pitchFamily="34" charset="0"/>
                        <a:buChar char="•"/>
                      </a:pPr>
                      <a:r>
                        <a:rPr lang="en-GB" sz="2000" dirty="0">
                          <a:latin typeface="Arial" panose="020B0604020202020204" pitchFamily="34" charset="0"/>
                          <a:cs typeface="Arial" panose="020B0604020202020204" pitchFamily="34" charset="0"/>
                        </a:rPr>
                        <a:t>Responds only to pain </a:t>
                      </a:r>
                    </a:p>
                    <a:p>
                      <a:pPr marL="342900" indent="-342900">
                        <a:buFont typeface="Arial" pitchFamily="34" charset="0"/>
                        <a:buChar char="•"/>
                      </a:pPr>
                      <a:r>
                        <a:rPr lang="en-GB" sz="2000" dirty="0">
                          <a:latin typeface="Arial" panose="020B0604020202020204" pitchFamily="34" charset="0"/>
                          <a:cs typeface="Arial" panose="020B0604020202020204" pitchFamily="34" charset="0"/>
                        </a:rPr>
                        <a:t>Unresponsive </a:t>
                      </a:r>
                    </a:p>
                  </a:txBody>
                  <a:tcPr/>
                </a:tc>
                <a:extLst>
                  <a:ext uri="{0D108BD9-81ED-4DB2-BD59-A6C34878D82A}">
                    <a16:rowId xmlns:a16="http://schemas.microsoft.com/office/drawing/2014/main" val="10004"/>
                  </a:ext>
                </a:extLst>
              </a:tr>
              <a:tr h="302657">
                <a:tc>
                  <a:txBody>
                    <a:bodyPr/>
                    <a:lstStyle/>
                    <a:p>
                      <a:r>
                        <a:rPr lang="en-GB" sz="2000" dirty="0">
                          <a:latin typeface="Arial" panose="020B0604020202020204" pitchFamily="34" charset="0"/>
                          <a:cs typeface="Arial" panose="020B0604020202020204" pitchFamily="34" charset="0"/>
                        </a:rPr>
                        <a:t>Temperature </a:t>
                      </a:r>
                    </a:p>
                  </a:txBody>
                  <a:tcPr/>
                </a:tc>
                <a:tc>
                  <a:txBody>
                    <a:bodyPr/>
                    <a:lstStyle/>
                    <a:p>
                      <a:r>
                        <a:rPr lang="en-GB" sz="2000" dirty="0">
                          <a:latin typeface="Arial" panose="020B0604020202020204" pitchFamily="34" charset="0"/>
                          <a:cs typeface="Arial" panose="020B0604020202020204" pitchFamily="34" charset="0"/>
                        </a:rPr>
                        <a:t>36 oc-37.5oc</a:t>
                      </a:r>
                    </a:p>
                  </a:txBody>
                  <a:tcPr/>
                </a:tc>
                <a:tc>
                  <a:txBody>
                    <a:bodyPr/>
                    <a:lstStyle/>
                    <a:p>
                      <a:r>
                        <a:rPr lang="en-GB" sz="2000" dirty="0">
                          <a:latin typeface="Arial" panose="020B0604020202020204" pitchFamily="34" charset="0"/>
                          <a:cs typeface="Arial" panose="020B0604020202020204" pitchFamily="34" charset="0"/>
                        </a:rPr>
                        <a:t>&gt;39oc </a:t>
                      </a:r>
                    </a:p>
                  </a:txBody>
                  <a:tcPr/>
                </a:tc>
                <a:extLst>
                  <a:ext uri="{0D108BD9-81ED-4DB2-BD59-A6C34878D82A}">
                    <a16:rowId xmlns:a16="http://schemas.microsoft.com/office/drawing/2014/main" val="10005"/>
                  </a:ext>
                </a:extLst>
              </a:tr>
              <a:tr h="302657">
                <a:tc>
                  <a:txBody>
                    <a:bodyPr/>
                    <a:lstStyle/>
                    <a:p>
                      <a:r>
                        <a:rPr lang="en-GB" sz="2000" dirty="0">
                          <a:latin typeface="Arial" panose="020B0604020202020204" pitchFamily="34" charset="0"/>
                          <a:cs typeface="Arial" panose="020B0604020202020204" pitchFamily="34" charset="0"/>
                        </a:rPr>
                        <a:t>Oxygen saturation </a:t>
                      </a:r>
                    </a:p>
                  </a:txBody>
                  <a:tcPr/>
                </a:tc>
                <a:tc>
                  <a:txBody>
                    <a:bodyPr/>
                    <a:lstStyle/>
                    <a:p>
                      <a:r>
                        <a:rPr lang="en-GB" sz="2000" dirty="0">
                          <a:latin typeface="Arial" panose="020B0604020202020204" pitchFamily="34" charset="0"/>
                          <a:cs typeface="Arial" panose="020B0604020202020204" pitchFamily="34" charset="0"/>
                        </a:rPr>
                        <a:t>&gt;95%</a:t>
                      </a:r>
                    </a:p>
                  </a:txBody>
                  <a:tcPr/>
                </a:tc>
                <a:tc>
                  <a:txBody>
                    <a:bodyPr/>
                    <a:lstStyle/>
                    <a:p>
                      <a:r>
                        <a:rPr lang="en-GB" sz="2000" dirty="0">
                          <a:latin typeface="Arial" panose="020B0604020202020204" pitchFamily="34" charset="0"/>
                          <a:cs typeface="Arial" panose="020B0604020202020204" pitchFamily="34" charset="0"/>
                        </a:rPr>
                        <a:t>&lt;90%</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40226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1FD1-A83A-FB74-3BAC-D0E8681055BF}"/>
              </a:ext>
            </a:extLst>
          </p:cNvPr>
          <p:cNvSpPr>
            <a:spLocks noGrp="1"/>
          </p:cNvSpPr>
          <p:nvPr>
            <p:ph type="title"/>
          </p:nvPr>
        </p:nvSpPr>
        <p:spPr/>
        <p:txBody>
          <a:bodyPr>
            <a:normAutofit/>
          </a:bodyPr>
          <a:lstStyle/>
          <a:p>
            <a:r>
              <a:rPr lang="en-US" sz="3200" cap="none" dirty="0">
                <a:latin typeface="Arial" panose="020B0604020202020204" pitchFamily="34" charset="0"/>
                <a:cs typeface="Arial" panose="020B0604020202020204" pitchFamily="34" charset="0"/>
              </a:rPr>
              <a:t>2. The National Early Warning Score (NEWS)</a:t>
            </a:r>
          </a:p>
        </p:txBody>
      </p:sp>
      <p:sp>
        <p:nvSpPr>
          <p:cNvPr id="3" name="Content Placeholder 2">
            <a:extLst>
              <a:ext uri="{FF2B5EF4-FFF2-40B4-BE49-F238E27FC236}">
                <a16:creationId xmlns:a16="http://schemas.microsoft.com/office/drawing/2014/main" id="{2453CE5B-7ACF-73F0-0B82-8867425A223B}"/>
              </a:ext>
            </a:extLst>
          </p:cNvPr>
          <p:cNvSpPr>
            <a:spLocks noGrp="1"/>
          </p:cNvSpPr>
          <p:nvPr>
            <p:ph idx="1"/>
          </p:nvPr>
        </p:nvSpPr>
        <p:spPr>
          <a:xfrm>
            <a:off x="685800" y="2057400"/>
            <a:ext cx="7772400" cy="4050792"/>
          </a:xfrm>
        </p:spPr>
        <p:txBody>
          <a:bodyPr>
            <a:normAutofit fontScale="92500" lnSpcReduction="20000"/>
          </a:bodyPr>
          <a:lstStyle/>
          <a:p>
            <a:r>
              <a:rPr lang="en-US" sz="2400" dirty="0">
                <a:latin typeface="Arial" panose="020B0604020202020204" pitchFamily="34" charset="0"/>
                <a:cs typeface="Arial" panose="020B0604020202020204" pitchFamily="34" charset="0"/>
              </a:rPr>
              <a:t>The NEWS is a standard clinical tool used to identify and respond to deteriorating patients</a:t>
            </a:r>
          </a:p>
          <a:p>
            <a:r>
              <a:rPr lang="en-US" sz="2400" dirty="0">
                <a:latin typeface="Arial" panose="020B0604020202020204" pitchFamily="34" charset="0"/>
                <a:cs typeface="Arial" panose="020B0604020202020204" pitchFamily="34" charset="0"/>
              </a:rPr>
              <a:t>It is based on a simple scoring system using the six physiological parameters:</a:t>
            </a:r>
          </a:p>
          <a:p>
            <a:pPr lvl="1"/>
            <a:r>
              <a:rPr lang="en-US" sz="2400" b="1" dirty="0">
                <a:latin typeface="Arial" panose="020B0604020202020204" pitchFamily="34" charset="0"/>
                <a:cs typeface="Arial" panose="020B0604020202020204" pitchFamily="34" charset="0"/>
              </a:rPr>
              <a:t>Respiratory rate</a:t>
            </a:r>
          </a:p>
          <a:p>
            <a:pPr lvl="1"/>
            <a:r>
              <a:rPr lang="en-US" sz="2400" b="1" dirty="0">
                <a:latin typeface="Arial" panose="020B0604020202020204" pitchFamily="34" charset="0"/>
                <a:cs typeface="Arial" panose="020B0604020202020204" pitchFamily="34" charset="0"/>
              </a:rPr>
              <a:t>Oxygen saturation (SpO2) (</a:t>
            </a:r>
            <a:r>
              <a:rPr lang="en-US" sz="2400" dirty="0">
                <a:latin typeface="Arial" panose="020B0604020202020204" pitchFamily="34" charset="0"/>
                <a:cs typeface="Arial" panose="020B0604020202020204" pitchFamily="34" charset="0"/>
              </a:rPr>
              <a:t>and whether the patient needs supplemental oxygen)</a:t>
            </a:r>
          </a:p>
          <a:p>
            <a:pPr lvl="1"/>
            <a:r>
              <a:rPr lang="en-US" sz="2400" b="1" dirty="0">
                <a:latin typeface="Arial" panose="020B0604020202020204" pitchFamily="34" charset="0"/>
                <a:cs typeface="Arial" panose="020B0604020202020204" pitchFamily="34" charset="0"/>
              </a:rPr>
              <a:t>Temperature</a:t>
            </a:r>
          </a:p>
          <a:p>
            <a:pPr lvl="1"/>
            <a:r>
              <a:rPr lang="en-US" sz="2400" b="1" dirty="0">
                <a:latin typeface="Arial" panose="020B0604020202020204" pitchFamily="34" charset="0"/>
                <a:cs typeface="Arial" panose="020B0604020202020204" pitchFamily="34" charset="0"/>
              </a:rPr>
              <a:t>Systolic blood pressure</a:t>
            </a:r>
          </a:p>
          <a:p>
            <a:pPr lvl="1"/>
            <a:r>
              <a:rPr lang="en-US" sz="2400" b="1" dirty="0">
                <a:latin typeface="Arial" panose="020B0604020202020204" pitchFamily="34" charset="0"/>
                <a:cs typeface="Arial" panose="020B0604020202020204" pitchFamily="34" charset="0"/>
              </a:rPr>
              <a:t>Pulse rate and</a:t>
            </a:r>
          </a:p>
          <a:p>
            <a:pPr lvl="1"/>
            <a:r>
              <a:rPr lang="en-US" sz="2400" b="1" dirty="0">
                <a:latin typeface="Arial" panose="020B0604020202020204" pitchFamily="34" charset="0"/>
                <a:cs typeface="Arial" panose="020B0604020202020204" pitchFamily="34" charset="0"/>
              </a:rPr>
              <a:t>Level of consciousness</a:t>
            </a:r>
            <a:r>
              <a:rPr lang="en-US" sz="2400" dirty="0">
                <a:latin typeface="Arial" panose="020B0604020202020204" pitchFamily="34" charset="0"/>
                <a:cs typeface="Arial" panose="020B0604020202020204" pitchFamily="34" charset="0"/>
              </a:rPr>
              <a:t> </a:t>
            </a:r>
          </a:p>
          <a:p>
            <a:pPr lvl="2"/>
            <a:r>
              <a:rPr lang="en-US" sz="2200" dirty="0">
                <a:latin typeface="Arial" panose="020B0604020202020204" pitchFamily="34" charset="0"/>
                <a:cs typeface="Arial" panose="020B0604020202020204" pitchFamily="34" charset="0"/>
              </a:rPr>
              <a:t>(using the ACVPU scale: Alert, Confusion, Voice, Pain, Unresponsive) </a:t>
            </a:r>
          </a:p>
          <a:p>
            <a:endParaRPr lang="en-US"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831DEDF5-0AC2-DE25-696C-CC59EB29E1F5}"/>
              </a:ext>
            </a:extLst>
          </p:cNvPr>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a:extLst>
              <a:ext uri="{FF2B5EF4-FFF2-40B4-BE49-F238E27FC236}">
                <a16:creationId xmlns:a16="http://schemas.microsoft.com/office/drawing/2014/main" id="{572181E9-67AC-C443-133A-DD8E2F155CF1}"/>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11694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1304D-38D3-30AA-0145-FF01E6F5504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Why NEWS?</a:t>
            </a:r>
          </a:p>
        </p:txBody>
      </p:sp>
      <p:sp>
        <p:nvSpPr>
          <p:cNvPr id="3" name="Content Placeholder 2">
            <a:extLst>
              <a:ext uri="{FF2B5EF4-FFF2-40B4-BE49-F238E27FC236}">
                <a16:creationId xmlns:a16="http://schemas.microsoft.com/office/drawing/2014/main" id="{38235686-1B5B-F257-C044-BD8BE4A25557}"/>
              </a:ext>
            </a:extLst>
          </p:cNvPr>
          <p:cNvSpPr>
            <a:spLocks noGrp="1"/>
          </p:cNvSpPr>
          <p:nvPr>
            <p:ph idx="1"/>
          </p:nvPr>
        </p:nvSpPr>
        <p:spPr/>
        <p:txBody>
          <a:bodyPr/>
          <a:lstStyle/>
          <a:p>
            <a:r>
              <a:rPr lang="en-US" b="1" dirty="0">
                <a:latin typeface="Arial" panose="020B0604020202020204" pitchFamily="34" charset="0"/>
                <a:cs typeface="Arial" panose="020B0604020202020204" pitchFamily="34" charset="0"/>
              </a:rPr>
              <a:t>Early detection</a:t>
            </a:r>
            <a:r>
              <a:rPr lang="en-US" dirty="0">
                <a:latin typeface="Arial" panose="020B0604020202020204" pitchFamily="34" charset="0"/>
                <a:cs typeface="Arial" panose="020B0604020202020204" pitchFamily="34" charset="0"/>
              </a:rPr>
              <a:t>: identifies patients whose health is falling before they become critical</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Standardization</a:t>
            </a:r>
            <a:r>
              <a:rPr lang="en-US" dirty="0">
                <a:latin typeface="Arial" panose="020B0604020202020204" pitchFamily="34" charset="0"/>
                <a:cs typeface="Arial" panose="020B0604020202020204" pitchFamily="34" charset="0"/>
              </a:rPr>
              <a:t>: provides a common “language” for health care workers to communicate the severity of a patient's condition.</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Trends</a:t>
            </a:r>
            <a:r>
              <a:rPr lang="en-US" dirty="0">
                <a:latin typeface="Arial" panose="020B0604020202020204" pitchFamily="34" charset="0"/>
                <a:cs typeface="Arial" panose="020B0604020202020204" pitchFamily="34" charset="0"/>
              </a:rPr>
              <a:t>: repeated measures show whether a patient is getting better or worse over time</a:t>
            </a:r>
          </a:p>
        </p:txBody>
      </p:sp>
      <p:sp>
        <p:nvSpPr>
          <p:cNvPr id="4" name="Date Placeholder 3">
            <a:extLst>
              <a:ext uri="{FF2B5EF4-FFF2-40B4-BE49-F238E27FC236}">
                <a16:creationId xmlns:a16="http://schemas.microsoft.com/office/drawing/2014/main" id="{52159CD1-83A2-67F5-4C8C-31897E9D9003}"/>
              </a:ext>
            </a:extLst>
          </p:cNvPr>
          <p:cNvSpPr>
            <a:spLocks noGrp="1"/>
          </p:cNvSpPr>
          <p:nvPr>
            <p:ph type="dt" sz="half" idx="10"/>
          </p:nvPr>
        </p:nvSpPr>
        <p:spPr/>
        <p:txBody>
          <a:bodyPr/>
          <a:lstStyle/>
          <a:p>
            <a:fld id="{86ACED64-657D-41BC-AE4E-A188F2048F6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915AD41-51D8-972A-801B-28496BFBBFE3}"/>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4905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950168"/>
          </a:xfrm>
        </p:spPr>
        <p:txBody>
          <a:bodyPr>
            <a:normAutofit fontScale="90000"/>
          </a:bodyPr>
          <a:lstStyle/>
          <a:p>
            <a:br>
              <a:rPr lang="en-US" sz="1800" dirty="0">
                <a:solidFill>
                  <a:srgbClr val="FF0000"/>
                </a:solidFill>
                <a:latin typeface="Times New Roman" pitchFamily="18" charset="0"/>
                <a:cs typeface="Times New Roman" pitchFamily="18" charset="0"/>
              </a:rPr>
            </a:br>
            <a:r>
              <a:rPr lang="en-US" sz="1800" dirty="0">
                <a:solidFill>
                  <a:schemeClr val="tx1"/>
                </a:solidFill>
                <a:latin typeface="Times New Roman" pitchFamily="18" charset="0"/>
                <a:cs typeface="Times New Roman" pitchFamily="18" charset="0"/>
              </a:rPr>
              <a:t>National</a:t>
            </a:r>
            <a:r>
              <a:rPr lang="en-US" sz="1800" dirty="0">
                <a:solidFill>
                  <a:srgbClr val="FF0000"/>
                </a:solidFill>
                <a:latin typeface="Times New Roman" pitchFamily="18" charset="0"/>
                <a:cs typeface="Times New Roman" pitchFamily="18" charset="0"/>
              </a:rPr>
              <a:t> </a:t>
            </a:r>
            <a:r>
              <a:rPr lang="en-US" sz="1800" dirty="0">
                <a:solidFill>
                  <a:schemeClr val="tx1"/>
                </a:solidFill>
                <a:latin typeface="Arial" panose="020B0604020202020204" pitchFamily="34" charset="0"/>
                <a:cs typeface="Arial" panose="020B0604020202020204" pitchFamily="34" charset="0"/>
              </a:rPr>
              <a:t>Early Warning Score (NEWS) System…</a:t>
            </a:r>
            <a:br>
              <a:rPr lang="en-US" sz="1800" dirty="0">
                <a:latin typeface="Times New Roman" pitchFamily="18" charset="0"/>
                <a:cs typeface="Times New Roman" pitchFamily="18" charset="0"/>
              </a:rPr>
            </a:b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33596430"/>
              </p:ext>
            </p:extLst>
          </p:nvPr>
        </p:nvGraphicFramePr>
        <p:xfrm>
          <a:off x="381000" y="685800"/>
          <a:ext cx="8610601" cy="5122977"/>
        </p:xfrm>
        <a:graphic>
          <a:graphicData uri="http://schemas.openxmlformats.org/drawingml/2006/table">
            <a:tbl>
              <a:tblPr firstRow="1" bandRow="1">
                <a:tableStyleId>{ED083AE6-46FA-4A59-8FB0-9F97EB10719F}</a:tableStyleId>
              </a:tblPr>
              <a:tblGrid>
                <a:gridCol w="1826955">
                  <a:extLst>
                    <a:ext uri="{9D8B030D-6E8A-4147-A177-3AD203B41FA5}">
                      <a16:colId xmlns:a16="http://schemas.microsoft.com/office/drawing/2014/main" val="20000"/>
                    </a:ext>
                  </a:extLst>
                </a:gridCol>
                <a:gridCol w="611445">
                  <a:extLst>
                    <a:ext uri="{9D8B030D-6E8A-4147-A177-3AD203B41FA5}">
                      <a16:colId xmlns:a16="http://schemas.microsoft.com/office/drawing/2014/main" val="1134248582"/>
                    </a:ext>
                  </a:extLst>
                </a:gridCol>
                <a:gridCol w="914400">
                  <a:extLst>
                    <a:ext uri="{9D8B030D-6E8A-4147-A177-3AD203B41FA5}">
                      <a16:colId xmlns:a16="http://schemas.microsoft.com/office/drawing/2014/main" val="1730460626"/>
                    </a:ext>
                  </a:extLst>
                </a:gridCol>
                <a:gridCol w="914400">
                  <a:extLst>
                    <a:ext uri="{9D8B030D-6E8A-4147-A177-3AD203B41FA5}">
                      <a16:colId xmlns:a16="http://schemas.microsoft.com/office/drawing/2014/main" val="3988880229"/>
                    </a:ext>
                  </a:extLst>
                </a:gridCol>
                <a:gridCol w="152400">
                  <a:extLst>
                    <a:ext uri="{9D8B030D-6E8A-4147-A177-3AD203B41FA5}">
                      <a16:colId xmlns:a16="http://schemas.microsoft.com/office/drawing/2014/main" val="571230110"/>
                    </a:ext>
                  </a:extLst>
                </a:gridCol>
                <a:gridCol w="838200">
                  <a:extLst>
                    <a:ext uri="{9D8B030D-6E8A-4147-A177-3AD203B41FA5}">
                      <a16:colId xmlns:a16="http://schemas.microsoft.com/office/drawing/2014/main" val="3299090371"/>
                    </a:ext>
                  </a:extLst>
                </a:gridCol>
                <a:gridCol w="152400">
                  <a:extLst>
                    <a:ext uri="{9D8B030D-6E8A-4147-A177-3AD203B41FA5}">
                      <a16:colId xmlns:a16="http://schemas.microsoft.com/office/drawing/2014/main" val="1781816486"/>
                    </a:ext>
                  </a:extLst>
                </a:gridCol>
                <a:gridCol w="762000">
                  <a:extLst>
                    <a:ext uri="{9D8B030D-6E8A-4147-A177-3AD203B41FA5}">
                      <a16:colId xmlns:a16="http://schemas.microsoft.com/office/drawing/2014/main" val="508729095"/>
                    </a:ext>
                  </a:extLst>
                </a:gridCol>
                <a:gridCol w="885905">
                  <a:extLst>
                    <a:ext uri="{9D8B030D-6E8A-4147-A177-3AD203B41FA5}">
                      <a16:colId xmlns:a16="http://schemas.microsoft.com/office/drawing/2014/main" val="3658837421"/>
                    </a:ext>
                  </a:extLst>
                </a:gridCol>
                <a:gridCol w="1552496">
                  <a:extLst>
                    <a:ext uri="{9D8B030D-6E8A-4147-A177-3AD203B41FA5}">
                      <a16:colId xmlns:a16="http://schemas.microsoft.com/office/drawing/2014/main" val="3811173320"/>
                    </a:ext>
                  </a:extLst>
                </a:gridCol>
              </a:tblGrid>
              <a:tr h="335690">
                <a:tc>
                  <a:txBody>
                    <a:bodyPr/>
                    <a:lstStyle/>
                    <a:p>
                      <a:r>
                        <a:rPr lang="en-GB" sz="1400" dirty="0"/>
                        <a:t>Score</a:t>
                      </a:r>
                      <a:endParaRPr lang="en-GB" sz="1400" dirty="0">
                        <a:latin typeface="Arial" panose="020B0604020202020204" pitchFamily="34" charset="0"/>
                        <a:cs typeface="Arial" panose="020B0604020202020204" pitchFamily="34" charset="0"/>
                      </a:endParaRPr>
                    </a:p>
                  </a:txBody>
                  <a:tcPr/>
                </a:tc>
                <a:tc>
                  <a:txBody>
                    <a:bodyPr/>
                    <a:lstStyle/>
                    <a:p>
                      <a:r>
                        <a:rPr lang="en-GB" sz="1400" dirty="0"/>
                        <a:t>3</a:t>
                      </a:r>
                      <a:endParaRPr lang="en-GB" sz="1400" dirty="0">
                        <a:latin typeface="Arial" panose="020B0604020202020204" pitchFamily="34" charset="0"/>
                        <a:cs typeface="Arial" panose="020B0604020202020204" pitchFamily="34" charset="0"/>
                      </a:endParaRPr>
                    </a:p>
                  </a:txBody>
                  <a:tcPr/>
                </a:tc>
                <a:tc>
                  <a:txBody>
                    <a:bodyPr/>
                    <a:lstStyle/>
                    <a:p>
                      <a:r>
                        <a:rPr lang="en-GB" sz="1400" dirty="0"/>
                        <a:t>2</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1</a:t>
                      </a:r>
                      <a:endParaRPr lang="en-GB" sz="1400" dirty="0">
                        <a:latin typeface="Arial" panose="020B0604020202020204" pitchFamily="34" charset="0"/>
                        <a:cs typeface="Arial" panose="020B0604020202020204" pitchFamily="34" charset="0"/>
                      </a:endParaRPr>
                    </a:p>
                  </a:txBody>
                  <a:tcPr/>
                </a:tc>
                <a:tc hMerge="1">
                  <a:txBody>
                    <a:bodyPr/>
                    <a:lstStyle/>
                    <a:p>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0</a:t>
                      </a:r>
                      <a:endParaRPr lang="en-GB" sz="1400" dirty="0">
                        <a:latin typeface="Arial" panose="020B0604020202020204" pitchFamily="34" charset="0"/>
                        <a:cs typeface="Arial" panose="020B0604020202020204" pitchFamily="34" charset="0"/>
                      </a:endParaRPr>
                    </a:p>
                  </a:txBody>
                  <a:tcPr/>
                </a:tc>
                <a:tc hMerge="1">
                  <a:txBody>
                    <a:bodyPr/>
                    <a:lstStyle/>
                    <a:p>
                      <a:endParaRPr lang="en-GB" sz="1400" dirty="0">
                        <a:latin typeface="Arial" panose="020B0604020202020204" pitchFamily="34" charset="0"/>
                        <a:cs typeface="Arial" panose="020B0604020202020204" pitchFamily="34" charset="0"/>
                      </a:endParaRPr>
                    </a:p>
                  </a:txBody>
                  <a:tcPr/>
                </a:tc>
                <a:tc>
                  <a:txBody>
                    <a:bodyPr/>
                    <a:lstStyle/>
                    <a:p>
                      <a:r>
                        <a:rPr lang="en-GB" sz="1400" dirty="0"/>
                        <a:t>1</a:t>
                      </a:r>
                      <a:endParaRPr lang="en-GB" sz="1400" dirty="0">
                        <a:latin typeface="Arial" panose="020B0604020202020204" pitchFamily="34" charset="0"/>
                        <a:cs typeface="Arial" panose="020B0604020202020204" pitchFamily="34" charset="0"/>
                      </a:endParaRPr>
                    </a:p>
                  </a:txBody>
                  <a:tcPr/>
                </a:tc>
                <a:tc>
                  <a:txBody>
                    <a:bodyPr/>
                    <a:lstStyle/>
                    <a:p>
                      <a:r>
                        <a:rPr lang="en-GB" sz="1400" dirty="0"/>
                        <a:t>2</a:t>
                      </a:r>
                      <a:endParaRPr lang="en-GB" sz="1400" dirty="0">
                        <a:latin typeface="Arial" panose="020B0604020202020204" pitchFamily="34" charset="0"/>
                        <a:cs typeface="Arial" panose="020B0604020202020204" pitchFamily="34" charset="0"/>
                      </a:endParaRPr>
                    </a:p>
                  </a:txBody>
                  <a:tcPr/>
                </a:tc>
                <a:tc>
                  <a:txBody>
                    <a:bodyPr/>
                    <a:lstStyle/>
                    <a:p>
                      <a:r>
                        <a:rPr lang="en-GB" sz="1400" dirty="0"/>
                        <a:t>3</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300500">
                <a:tc gridSpan="10">
                  <a:txBody>
                    <a:bodyPr/>
                    <a:lstStyle/>
                    <a:p>
                      <a:pPr algn="just"/>
                      <a:r>
                        <a:rPr lang="en-GB" sz="1400" dirty="0"/>
                        <a:t>Physiological parameters </a:t>
                      </a:r>
                      <a:endParaRPr lang="en-GB" sz="1400"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00500">
                <a:tc>
                  <a:txBody>
                    <a:bodyPr/>
                    <a:lstStyle/>
                    <a:p>
                      <a:r>
                        <a:rPr lang="en-GB" sz="1400" dirty="0"/>
                        <a:t>RR</a:t>
                      </a:r>
                      <a:endParaRPr lang="en-GB" sz="1400" dirty="0">
                        <a:latin typeface="Arial" panose="020B0604020202020204" pitchFamily="34" charset="0"/>
                        <a:cs typeface="Arial" panose="020B0604020202020204" pitchFamily="34" charset="0"/>
                      </a:endParaRPr>
                    </a:p>
                  </a:txBody>
                  <a:tcPr/>
                </a:tc>
                <a:tc>
                  <a:txBody>
                    <a:bodyPr/>
                    <a:lstStyle/>
                    <a:p>
                      <a:r>
                        <a:rPr lang="en-GB" sz="1400" dirty="0"/>
                        <a:t>≤8 </a:t>
                      </a:r>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a:txBody>
                    <a:bodyPr/>
                    <a:lstStyle/>
                    <a:p>
                      <a:r>
                        <a:rPr lang="en-GB" sz="1400" dirty="0"/>
                        <a:t>9-11</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12-20</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12-20</a:t>
                      </a:r>
                      <a:endParaRPr lang="en-US" sz="1400" dirty="0">
                        <a:latin typeface="Arial" panose="020B0604020202020204" pitchFamily="34" charset="0"/>
                        <a:cs typeface="Arial" panose="020B0604020202020204" pitchFamily="34" charset="0"/>
                      </a:endParaRPr>
                    </a:p>
                  </a:txBody>
                  <a:tcPr/>
                </a:tc>
                <a:tc gridSpan="2">
                  <a:txBody>
                    <a:bodyPr/>
                    <a:lstStyle/>
                    <a:p>
                      <a:endParaRPr lang="en-GB" sz="1400" dirty="0">
                        <a:latin typeface="Arial" panose="020B0604020202020204" pitchFamily="34" charset="0"/>
                        <a:cs typeface="Arial" panose="020B0604020202020204" pitchFamily="34" charset="0"/>
                      </a:endParaRPr>
                    </a:p>
                  </a:txBody>
                  <a:tcPr/>
                </a:tc>
                <a:tc hMerge="1">
                  <a:txBody>
                    <a:bodyPr/>
                    <a:lstStyle/>
                    <a:p>
                      <a:endParaRPr lang="en-US" sz="1400" dirty="0">
                        <a:latin typeface="Arial" panose="020B0604020202020204" pitchFamily="34" charset="0"/>
                        <a:cs typeface="Arial" panose="020B0604020202020204" pitchFamily="34" charset="0"/>
                      </a:endParaRPr>
                    </a:p>
                  </a:txBody>
                  <a:tcPr/>
                </a:tc>
                <a:tc>
                  <a:txBody>
                    <a:bodyPr/>
                    <a:lstStyle/>
                    <a:p>
                      <a:r>
                        <a:rPr lang="en-GB" sz="1400"/>
                        <a:t>21-24</a:t>
                      </a:r>
                      <a:endParaRPr lang="en-US" sz="1400" dirty="0">
                        <a:latin typeface="Arial" panose="020B0604020202020204" pitchFamily="34" charset="0"/>
                        <a:cs typeface="Arial" panose="020B0604020202020204" pitchFamily="34" charset="0"/>
                      </a:endParaRPr>
                    </a:p>
                  </a:txBody>
                  <a:tcPr/>
                </a:tc>
                <a:tc>
                  <a:txBody>
                    <a:bodyPr/>
                    <a:lstStyle/>
                    <a:p>
                      <a:r>
                        <a:rPr lang="en-GB" sz="1400"/>
                        <a:t>≥25</a:t>
                      </a:r>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510849">
                <a:tc>
                  <a:txBody>
                    <a:bodyPr/>
                    <a:lstStyle/>
                    <a:p>
                      <a:r>
                        <a:rPr lang="en-GB" sz="1400" dirty="0"/>
                        <a:t>Pulse</a:t>
                      </a:r>
                      <a:endParaRPr lang="en-GB" sz="1400" dirty="0">
                        <a:latin typeface="Arial" panose="020B0604020202020204" pitchFamily="34" charset="0"/>
                        <a:cs typeface="Arial" panose="020B0604020202020204" pitchFamily="34" charset="0"/>
                      </a:endParaRPr>
                    </a:p>
                  </a:txBody>
                  <a:tcPr/>
                </a:tc>
                <a:tc>
                  <a:txBody>
                    <a:bodyPr/>
                    <a:lstStyle/>
                    <a:p>
                      <a:r>
                        <a:rPr lang="en-GB" sz="1400" dirty="0"/>
                        <a:t>≤40 </a:t>
                      </a:r>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a:txBody>
                    <a:bodyPr/>
                    <a:lstStyle/>
                    <a:p>
                      <a:r>
                        <a:rPr lang="en-GB" sz="1400"/>
                        <a:t>41-50</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51-90</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51-90</a:t>
                      </a:r>
                      <a:endParaRPr lang="en-US" sz="1400">
                        <a:latin typeface="Arial" panose="020B0604020202020204" pitchFamily="34" charset="0"/>
                        <a:cs typeface="Arial" panose="020B0604020202020204" pitchFamily="34" charset="0"/>
                      </a:endParaRPr>
                    </a:p>
                  </a:txBody>
                  <a:tcPr/>
                </a:tc>
                <a:tc gridSpan="2">
                  <a:txBody>
                    <a:bodyPr/>
                    <a:lstStyle/>
                    <a:p>
                      <a:r>
                        <a:rPr lang="en-GB" sz="1400"/>
                        <a:t>91-110</a:t>
                      </a:r>
                      <a:endParaRPr lang="en-GB" sz="1400" dirty="0">
                        <a:latin typeface="Arial" panose="020B0604020202020204" pitchFamily="34" charset="0"/>
                        <a:cs typeface="Arial" panose="020B0604020202020204" pitchFamily="34" charset="0"/>
                      </a:endParaRPr>
                    </a:p>
                  </a:txBody>
                  <a:tcPr/>
                </a:tc>
                <a:tc hMerge="1">
                  <a:txBody>
                    <a:bodyPr/>
                    <a:lstStyle/>
                    <a:p>
                      <a:r>
                        <a:rPr lang="en-GB" sz="1400" dirty="0"/>
                        <a:t>91-110</a:t>
                      </a:r>
                      <a:endParaRPr lang="en-US" sz="1400" dirty="0">
                        <a:latin typeface="Arial" panose="020B0604020202020204" pitchFamily="34" charset="0"/>
                        <a:cs typeface="Arial" panose="020B0604020202020204" pitchFamily="34" charset="0"/>
                      </a:endParaRPr>
                    </a:p>
                  </a:txBody>
                  <a:tcPr/>
                </a:tc>
                <a:tc>
                  <a:txBody>
                    <a:bodyPr/>
                    <a:lstStyle/>
                    <a:p>
                      <a:r>
                        <a:rPr lang="en-GB" sz="1400"/>
                        <a:t>111-130</a:t>
                      </a:r>
                      <a:endParaRPr lang="en-US" sz="1400" dirty="0">
                        <a:latin typeface="Arial" panose="020B0604020202020204" pitchFamily="34" charset="0"/>
                        <a:cs typeface="Arial" panose="020B0604020202020204" pitchFamily="34" charset="0"/>
                      </a:endParaRPr>
                    </a:p>
                  </a:txBody>
                  <a:tcPr/>
                </a:tc>
                <a:tc>
                  <a:txBody>
                    <a:bodyPr/>
                    <a:lstStyle/>
                    <a:p>
                      <a:r>
                        <a:rPr lang="en-GB" sz="1400"/>
                        <a:t>≥131</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481180">
                <a:tc>
                  <a:txBody>
                    <a:bodyPr/>
                    <a:lstStyle/>
                    <a:p>
                      <a:r>
                        <a:rPr lang="en-GB" sz="1400" dirty="0"/>
                        <a:t>Systolic BP</a:t>
                      </a:r>
                      <a:endParaRPr lang="en-GB" sz="1400" dirty="0">
                        <a:latin typeface="Arial" panose="020B0604020202020204" pitchFamily="34" charset="0"/>
                        <a:cs typeface="Arial" panose="020B0604020202020204" pitchFamily="34" charset="0"/>
                      </a:endParaRPr>
                    </a:p>
                  </a:txBody>
                  <a:tcPr/>
                </a:tc>
                <a:tc>
                  <a:txBody>
                    <a:bodyPr/>
                    <a:lstStyle/>
                    <a:p>
                      <a:r>
                        <a:rPr lang="en-GB" sz="1400" dirty="0"/>
                        <a:t>≤90</a:t>
                      </a:r>
                      <a:endParaRPr lang="en-GB" sz="1400" dirty="0">
                        <a:latin typeface="Arial" panose="020B0604020202020204" pitchFamily="34" charset="0"/>
                        <a:cs typeface="Arial" panose="020B0604020202020204" pitchFamily="34" charset="0"/>
                      </a:endParaRPr>
                    </a:p>
                  </a:txBody>
                  <a:tcPr/>
                </a:tc>
                <a:tc>
                  <a:txBody>
                    <a:bodyPr/>
                    <a:lstStyle/>
                    <a:p>
                      <a:r>
                        <a:rPr lang="en-GB" sz="1400"/>
                        <a:t>91-100</a:t>
                      </a:r>
                      <a:endParaRPr lang="en-GB" sz="1400" dirty="0">
                        <a:latin typeface="Arial" panose="020B0604020202020204" pitchFamily="34" charset="0"/>
                        <a:cs typeface="Arial" panose="020B0604020202020204" pitchFamily="34" charset="0"/>
                      </a:endParaRPr>
                    </a:p>
                  </a:txBody>
                  <a:tcPr/>
                </a:tc>
                <a:tc>
                  <a:txBody>
                    <a:bodyPr/>
                    <a:lstStyle/>
                    <a:p>
                      <a:r>
                        <a:rPr lang="en-GB" sz="1400" dirty="0"/>
                        <a:t>101-110</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111-219</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111-219</a:t>
                      </a:r>
                      <a:endParaRPr lang="en-US" sz="1400">
                        <a:latin typeface="Arial" panose="020B0604020202020204" pitchFamily="34" charset="0"/>
                        <a:cs typeface="Arial" panose="020B0604020202020204" pitchFamily="34" charset="0"/>
                      </a:endParaRPr>
                    </a:p>
                  </a:txBody>
                  <a:tcPr/>
                </a:tc>
                <a:tc gridSpan="2">
                  <a:txBody>
                    <a:bodyPr/>
                    <a:lstStyle/>
                    <a:p>
                      <a:endParaRPr lang="en-GB" sz="1400" dirty="0">
                        <a:latin typeface="Arial" panose="020B0604020202020204" pitchFamily="34" charset="0"/>
                        <a:cs typeface="Arial" panose="020B0604020202020204" pitchFamily="34" charset="0"/>
                      </a:endParaRPr>
                    </a:p>
                  </a:txBody>
                  <a:tcPr/>
                </a:tc>
                <a:tc hMerge="1">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r>
                        <a:rPr lang="en-US" sz="1400"/>
                        <a:t>≥220</a:t>
                      </a:r>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349760">
                <a:tc>
                  <a:txBody>
                    <a:bodyPr/>
                    <a:lstStyle/>
                    <a:p>
                      <a:r>
                        <a:rPr lang="en-GB" sz="1400" dirty="0"/>
                        <a:t>Temperature</a:t>
                      </a:r>
                      <a:endParaRPr lang="en-GB" sz="1400" dirty="0">
                        <a:latin typeface="Arial" panose="020B0604020202020204" pitchFamily="34" charset="0"/>
                        <a:cs typeface="Arial" panose="020B0604020202020204" pitchFamily="34" charset="0"/>
                      </a:endParaRPr>
                    </a:p>
                  </a:txBody>
                  <a:tcPr/>
                </a:tc>
                <a:tc>
                  <a:txBody>
                    <a:bodyPr/>
                    <a:lstStyle/>
                    <a:p>
                      <a:r>
                        <a:rPr lang="en-GB" sz="1400" dirty="0"/>
                        <a:t>≤35</a:t>
                      </a:r>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a:txBody>
                    <a:bodyPr/>
                    <a:lstStyle/>
                    <a:p>
                      <a:r>
                        <a:rPr lang="en-GB" sz="1400"/>
                        <a:t>35.1-36</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36.1-38</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36.1-38</a:t>
                      </a:r>
                      <a:endParaRPr lang="en-US" sz="1400">
                        <a:latin typeface="Arial" panose="020B0604020202020204" pitchFamily="34" charset="0"/>
                        <a:cs typeface="Arial" panose="020B0604020202020204" pitchFamily="34" charset="0"/>
                      </a:endParaRPr>
                    </a:p>
                  </a:txBody>
                  <a:tcPr/>
                </a:tc>
                <a:tc gridSpan="2">
                  <a:txBody>
                    <a:bodyPr/>
                    <a:lstStyle/>
                    <a:p>
                      <a:r>
                        <a:rPr lang="en-GB" sz="1400"/>
                        <a:t>38.1-39</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38.1-39</a:t>
                      </a:r>
                      <a:endParaRPr lang="en-US" sz="1400">
                        <a:latin typeface="Arial" panose="020B0604020202020204" pitchFamily="34" charset="0"/>
                        <a:cs typeface="Arial" panose="020B0604020202020204" pitchFamily="34" charset="0"/>
                      </a:endParaRPr>
                    </a:p>
                  </a:txBody>
                  <a:tcPr/>
                </a:tc>
                <a:tc>
                  <a:txBody>
                    <a:bodyPr/>
                    <a:lstStyle/>
                    <a:p>
                      <a:r>
                        <a:rPr lang="en-GB" sz="1400"/>
                        <a:t>≥39.1</a:t>
                      </a:r>
                      <a:endParaRPr lang="en-US" sz="1400">
                        <a:latin typeface="Arial" panose="020B0604020202020204" pitchFamily="34" charset="0"/>
                        <a:cs typeface="Arial" panose="020B0604020202020204" pitchFamily="34" charset="0"/>
                      </a:endParaRPr>
                    </a:p>
                  </a:txBody>
                  <a:tcPr/>
                </a:tc>
                <a:tc>
                  <a:txBody>
                    <a:bodyPr/>
                    <a:lstStyle/>
                    <a:p>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469967">
                <a:tc>
                  <a:txBody>
                    <a:bodyPr/>
                    <a:lstStyle/>
                    <a:p>
                      <a:r>
                        <a:rPr lang="en-GB" sz="1400" dirty="0"/>
                        <a:t>SpO2, scale 1 (%)</a:t>
                      </a:r>
                      <a:endParaRPr lang="en-GB" sz="1400" dirty="0">
                        <a:latin typeface="Arial" panose="020B0604020202020204" pitchFamily="34" charset="0"/>
                        <a:cs typeface="Arial" panose="020B0604020202020204" pitchFamily="34" charset="0"/>
                      </a:endParaRPr>
                    </a:p>
                  </a:txBody>
                  <a:tcPr/>
                </a:tc>
                <a:tc>
                  <a:txBody>
                    <a:bodyPr/>
                    <a:lstStyle/>
                    <a:p>
                      <a:r>
                        <a:rPr lang="en-GB" sz="1400" dirty="0"/>
                        <a:t>≤91</a:t>
                      </a:r>
                      <a:endParaRPr lang="en-GB" sz="1400" dirty="0">
                        <a:latin typeface="Arial" panose="020B0604020202020204" pitchFamily="34" charset="0"/>
                        <a:cs typeface="Arial" panose="020B0604020202020204" pitchFamily="34" charset="0"/>
                      </a:endParaRPr>
                    </a:p>
                  </a:txBody>
                  <a:tcPr/>
                </a:tc>
                <a:tc>
                  <a:txBody>
                    <a:bodyPr/>
                    <a:lstStyle/>
                    <a:p>
                      <a:r>
                        <a:rPr lang="en-GB" sz="1400"/>
                        <a:t>92-93</a:t>
                      </a:r>
                      <a:endParaRPr lang="en-GB" sz="1400" dirty="0">
                        <a:latin typeface="Arial" panose="020B0604020202020204" pitchFamily="34" charset="0"/>
                        <a:cs typeface="Arial" panose="020B0604020202020204" pitchFamily="34" charset="0"/>
                      </a:endParaRPr>
                    </a:p>
                  </a:txBody>
                  <a:tcPr/>
                </a:tc>
                <a:tc>
                  <a:txBody>
                    <a:bodyPr/>
                    <a:lstStyle/>
                    <a:p>
                      <a:r>
                        <a:rPr lang="en-GB" sz="1400" dirty="0"/>
                        <a:t>94-95</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≥96</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≥96</a:t>
                      </a:r>
                      <a:endParaRPr lang="en-US" sz="1400" dirty="0">
                        <a:latin typeface="Arial" panose="020B0604020202020204" pitchFamily="34" charset="0"/>
                        <a:cs typeface="Arial" panose="020B0604020202020204" pitchFamily="34" charset="0"/>
                      </a:endParaRPr>
                    </a:p>
                  </a:txBody>
                  <a:tcPr/>
                </a:tc>
                <a:tc gridSpan="2">
                  <a:txBody>
                    <a:bodyPr/>
                    <a:lstStyle/>
                    <a:p>
                      <a:endParaRPr lang="en-GB" sz="1400" dirty="0">
                        <a:latin typeface="Arial" panose="020B0604020202020204" pitchFamily="34" charset="0"/>
                        <a:cs typeface="Arial" panose="020B0604020202020204" pitchFamily="34" charset="0"/>
                      </a:endParaRPr>
                    </a:p>
                  </a:txBody>
                  <a:tcPr/>
                </a:tc>
                <a:tc hMerge="1">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8434945"/>
                  </a:ext>
                </a:extLst>
              </a:tr>
              <a:tr h="4761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SpO2, scale 2 (%)</a:t>
                      </a:r>
                    </a:p>
                  </a:txBody>
                  <a:tcPr/>
                </a:tc>
                <a:tc>
                  <a:txBody>
                    <a:bodyPr/>
                    <a:lstStyle/>
                    <a:p>
                      <a:r>
                        <a:rPr lang="en-US" sz="1400" dirty="0"/>
                        <a:t>≤83</a:t>
                      </a:r>
                      <a:endParaRPr lang="en-GB" sz="1400" dirty="0">
                        <a:latin typeface="Arial" panose="020B0604020202020204" pitchFamily="34" charset="0"/>
                        <a:cs typeface="Arial" panose="020B0604020202020204" pitchFamily="34" charset="0"/>
                      </a:endParaRPr>
                    </a:p>
                  </a:txBody>
                  <a:tcPr/>
                </a:tc>
                <a:tc>
                  <a:txBody>
                    <a:bodyPr/>
                    <a:lstStyle/>
                    <a:p>
                      <a:r>
                        <a:rPr lang="en-GB" sz="1400"/>
                        <a:t>84-85</a:t>
                      </a:r>
                      <a:endParaRPr lang="en-GB" sz="1400" dirty="0">
                        <a:latin typeface="Arial" panose="020B0604020202020204" pitchFamily="34" charset="0"/>
                        <a:cs typeface="Arial" panose="020B0604020202020204" pitchFamily="34" charset="0"/>
                      </a:endParaRPr>
                    </a:p>
                  </a:txBody>
                  <a:tcPr/>
                </a:tc>
                <a:tc>
                  <a:txBody>
                    <a:bodyPr/>
                    <a:lstStyle/>
                    <a:p>
                      <a:r>
                        <a:rPr lang="en-US" sz="1400" dirty="0"/>
                        <a:t>86-87</a:t>
                      </a:r>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 88-92</a:t>
                      </a:r>
                    </a:p>
                    <a:p>
                      <a:r>
                        <a:rPr lang="en-GB" sz="1400" dirty="0"/>
                        <a:t>≥93 on air</a:t>
                      </a:r>
                      <a:endParaRPr lang="en-GB" sz="1400" dirty="0">
                        <a:latin typeface="Arial" panose="020B0604020202020204" pitchFamily="34" charset="0"/>
                        <a:cs typeface="Arial" panose="020B0604020202020204" pitchFamily="34" charset="0"/>
                      </a:endParaRPr>
                    </a:p>
                  </a:txBody>
                  <a:tcPr/>
                </a:tc>
                <a:tc hMerge="1">
                  <a:txBody>
                    <a:bodyPr/>
                    <a:lstStyle/>
                    <a:p>
                      <a:r>
                        <a:rPr lang="en-GB" sz="1400"/>
                        <a:t> 88-92</a:t>
                      </a:r>
                    </a:p>
                    <a:p>
                      <a:r>
                        <a:rPr lang="en-GB" sz="1400"/>
                        <a:t>≥93 on air</a:t>
                      </a:r>
                      <a:endParaRPr lang="en-US" sz="1400" dirty="0">
                        <a:latin typeface="Arial" panose="020B0604020202020204" pitchFamily="34" charset="0"/>
                        <a:cs typeface="Arial" panose="020B0604020202020204" pitchFamily="34" charset="0"/>
                      </a:endParaRPr>
                    </a:p>
                  </a:txBody>
                  <a:tcPr/>
                </a:tc>
                <a:tc gridSpan="2">
                  <a:txBody>
                    <a:bodyPr/>
                    <a:lstStyle/>
                    <a:p>
                      <a:r>
                        <a:rPr lang="en-US" sz="1400"/>
                        <a:t>93-94 on Oxygen</a:t>
                      </a:r>
                      <a:endParaRPr lang="en-GB" sz="1400" dirty="0">
                        <a:latin typeface="Arial" panose="020B0604020202020204" pitchFamily="34" charset="0"/>
                        <a:cs typeface="Arial" panose="020B0604020202020204" pitchFamily="34" charset="0"/>
                      </a:endParaRPr>
                    </a:p>
                  </a:txBody>
                  <a:tcPr/>
                </a:tc>
                <a:tc hMerge="1">
                  <a:txBody>
                    <a:bodyPr/>
                    <a:lstStyle/>
                    <a:p>
                      <a:r>
                        <a:rPr lang="en-US" sz="1400" dirty="0"/>
                        <a:t>93-94 on Oxygen</a:t>
                      </a:r>
                      <a:endParaRPr lang="en-US" sz="1400" dirty="0">
                        <a:latin typeface="Arial" panose="020B0604020202020204" pitchFamily="34" charset="0"/>
                        <a:cs typeface="Arial" panose="020B0604020202020204" pitchFamily="34" charset="0"/>
                      </a:endParaRPr>
                    </a:p>
                  </a:txBody>
                  <a:tcPr/>
                </a:tc>
                <a:tc>
                  <a:txBody>
                    <a:bodyPr/>
                    <a:lstStyle/>
                    <a:p>
                      <a:r>
                        <a:rPr lang="en-US" sz="1400" dirty="0"/>
                        <a:t>95-96 on Oxygen</a:t>
                      </a:r>
                      <a:endParaRPr lang="en-US" sz="1400" dirty="0">
                        <a:latin typeface="Arial" panose="020B0604020202020204" pitchFamily="34" charset="0"/>
                        <a:cs typeface="Arial" panose="020B0604020202020204" pitchFamily="34" charset="0"/>
                      </a:endParaRPr>
                    </a:p>
                  </a:txBody>
                  <a:tcPr/>
                </a:tc>
                <a:tc>
                  <a:txBody>
                    <a:bodyPr/>
                    <a:lstStyle/>
                    <a:p>
                      <a:r>
                        <a:rPr lang="en-US" sz="1400" dirty="0"/>
                        <a:t>≥97 on Oxygen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37818992"/>
                  </a:ext>
                </a:extLst>
              </a:tr>
              <a:tr h="476171">
                <a:tc>
                  <a:txBody>
                    <a:bodyPr/>
                    <a:lstStyle/>
                    <a:p>
                      <a:r>
                        <a:rPr lang="en-GB" sz="1400" dirty="0"/>
                        <a:t>Air or Oxygen?</a:t>
                      </a:r>
                      <a:endParaRPr lang="en-GB" sz="1400" dirty="0">
                        <a:latin typeface="Arial" panose="020B0604020202020204" pitchFamily="34" charset="0"/>
                        <a:cs typeface="Arial" panose="020B0604020202020204" pitchFamily="34" charset="0"/>
                      </a:endParaRPr>
                    </a:p>
                  </a:txBody>
                  <a:tcPr/>
                </a:tc>
                <a:tc>
                  <a:txBody>
                    <a:bodyPr/>
                    <a:lstStyle/>
                    <a:p>
                      <a:endParaRPr lang="en-US" dirty="0"/>
                    </a:p>
                  </a:txBody>
                  <a:tcPr/>
                </a:tc>
                <a:tc>
                  <a:txBody>
                    <a:bodyPr/>
                    <a:lstStyle/>
                    <a:p>
                      <a:r>
                        <a:rPr lang="en-US" sz="1400"/>
                        <a:t>oxygen</a:t>
                      </a:r>
                      <a:endParaRPr lang="en-US" dirty="0"/>
                    </a:p>
                  </a:txBody>
                  <a:tcPr/>
                </a:tc>
                <a:tc>
                  <a:txBody>
                    <a:bodyPr/>
                    <a:lstStyle/>
                    <a:p>
                      <a:endParaRPr lang="en-US"/>
                    </a:p>
                  </a:txBody>
                  <a:tcPr/>
                </a:tc>
                <a:tc gridSpan="2">
                  <a:txBody>
                    <a:bodyPr/>
                    <a:lstStyle/>
                    <a:p>
                      <a:r>
                        <a:rPr lang="en-US" sz="1400" dirty="0"/>
                        <a:t>Air</a:t>
                      </a:r>
                      <a:endParaRPr lang="en-US" dirty="0"/>
                    </a:p>
                  </a:txBody>
                  <a:tcPr/>
                </a:tc>
                <a:tc hMerge="1">
                  <a:txBody>
                    <a:bodyPr/>
                    <a:lstStyle/>
                    <a:p>
                      <a:r>
                        <a:rPr lang="en-US" sz="1400">
                          <a:latin typeface="Arial" panose="020B0604020202020204" pitchFamily="34" charset="0"/>
                          <a:cs typeface="Arial" panose="020B0604020202020204" pitchFamily="34" charset="0"/>
                        </a:rPr>
                        <a:t>Air</a:t>
                      </a:r>
                      <a:endParaRPr lang="en-US"/>
                    </a:p>
                  </a:txBody>
                  <a:tcPr/>
                </a:tc>
                <a:tc gridSpan="2">
                  <a:txBody>
                    <a:bodyPr/>
                    <a:lstStyle/>
                    <a:p>
                      <a:endParaRPr lang="en-US" dirty="0"/>
                    </a:p>
                  </a:txBody>
                  <a:tcPr/>
                </a:tc>
                <a:tc hMerge="1">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24629010"/>
                  </a:ext>
                </a:extLst>
              </a:tr>
              <a:tr h="1141899">
                <a:tc>
                  <a:txBody>
                    <a:bodyPr/>
                    <a:lstStyle/>
                    <a:p>
                      <a:r>
                        <a:rPr lang="en-GB" sz="1400" dirty="0"/>
                        <a:t>Conscious level (AVPU) </a:t>
                      </a:r>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a:txBody>
                    <a:bodyPr/>
                    <a:lstStyle/>
                    <a:p>
                      <a:endParaRPr lang="en-GB" sz="1400" dirty="0">
                        <a:latin typeface="Arial" panose="020B0604020202020204" pitchFamily="34" charset="0"/>
                        <a:cs typeface="Arial" panose="020B0604020202020204" pitchFamily="34" charset="0"/>
                      </a:endParaRPr>
                    </a:p>
                  </a:txBody>
                  <a:tcPr/>
                </a:tc>
                <a:tc gridSpan="2">
                  <a:txBody>
                    <a:bodyPr/>
                    <a:lstStyle/>
                    <a:p>
                      <a:r>
                        <a:rPr lang="en-GB" sz="1400" dirty="0"/>
                        <a:t>Alert (A)</a:t>
                      </a:r>
                      <a:endParaRPr lang="en-GB" sz="1400" dirty="0">
                        <a:latin typeface="Arial" panose="020B0604020202020204" pitchFamily="34" charset="0"/>
                        <a:cs typeface="Arial" panose="020B0604020202020204" pitchFamily="34" charset="0"/>
                      </a:endParaRPr>
                    </a:p>
                  </a:txBody>
                  <a:tcPr/>
                </a:tc>
                <a:tc hMerge="1">
                  <a:txBody>
                    <a:bodyPr/>
                    <a:lstStyle/>
                    <a:p>
                      <a:r>
                        <a:rPr lang="en-GB" sz="1400" dirty="0"/>
                        <a:t>Alert (A)</a:t>
                      </a:r>
                      <a:endParaRPr lang="en-US" sz="1400" dirty="0">
                        <a:latin typeface="Arial" panose="020B0604020202020204" pitchFamily="34" charset="0"/>
                        <a:cs typeface="Arial" panose="020B0604020202020204" pitchFamily="34" charset="0"/>
                      </a:endParaRPr>
                    </a:p>
                  </a:txBody>
                  <a:tcPr/>
                </a:tc>
                <a:tc gridSpan="2">
                  <a:txBody>
                    <a:bodyPr/>
                    <a:lstStyle/>
                    <a:p>
                      <a:endParaRPr lang="en-GB" sz="1400" dirty="0">
                        <a:latin typeface="Arial" panose="020B0604020202020204" pitchFamily="34" charset="0"/>
                        <a:cs typeface="Arial" panose="020B0604020202020204" pitchFamily="34" charset="0"/>
                      </a:endParaRPr>
                    </a:p>
                  </a:txBody>
                  <a:tcPr/>
                </a:tc>
                <a:tc hMerge="1">
                  <a:txBody>
                    <a:bodyPr/>
                    <a:lstStyle/>
                    <a:p>
                      <a:endParaRPr lang="en-US" sz="1400" dirty="0">
                        <a:latin typeface="Arial" panose="020B0604020202020204" pitchFamily="34" charset="0"/>
                        <a:cs typeface="Arial" panose="020B0604020202020204" pitchFamily="34" charset="0"/>
                      </a:endParaRPr>
                    </a:p>
                  </a:txBody>
                  <a:tcPr/>
                </a:tc>
                <a:tc>
                  <a:txBody>
                    <a:bodyPr/>
                    <a:lstStyle/>
                    <a:p>
                      <a:endParaRPr lang="en-US" sz="1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Confusion, Reacts to voice,  to pain or Unresponsive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  or CVPU</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63270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E1BFB-BE9A-DE0A-0CBE-BE0EE58D7BD9}"/>
              </a:ext>
            </a:extLst>
          </p:cNvPr>
          <p:cNvSpPr>
            <a:spLocks noGrp="1"/>
          </p:cNvSpPr>
          <p:nvPr>
            <p:ph type="title"/>
          </p:nvPr>
        </p:nvSpPr>
        <p:spPr>
          <a:xfrm>
            <a:off x="685800" y="484632"/>
            <a:ext cx="7772400" cy="1115568"/>
          </a:xfrm>
        </p:spPr>
        <p:txBody>
          <a:bodyPr/>
          <a:lstStyle/>
          <a:p>
            <a:r>
              <a:rPr lang="en-US" cap="none" dirty="0"/>
              <a:t>Cont.</a:t>
            </a:r>
            <a:r>
              <a:rPr lang="en-US" dirty="0"/>
              <a:t>…</a:t>
            </a:r>
          </a:p>
        </p:txBody>
      </p:sp>
      <p:pic>
        <p:nvPicPr>
          <p:cNvPr id="7" name="Content Placeholder 6">
            <a:extLst>
              <a:ext uri="{FF2B5EF4-FFF2-40B4-BE49-F238E27FC236}">
                <a16:creationId xmlns:a16="http://schemas.microsoft.com/office/drawing/2014/main" id="{62E09F0B-8331-B5A4-9B7E-3BE411FEC0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599" y="1600200"/>
            <a:ext cx="8734807" cy="4672585"/>
          </a:xfrm>
        </p:spPr>
      </p:pic>
      <p:sp>
        <p:nvSpPr>
          <p:cNvPr id="4" name="Date Placeholder 3">
            <a:extLst>
              <a:ext uri="{FF2B5EF4-FFF2-40B4-BE49-F238E27FC236}">
                <a16:creationId xmlns:a16="http://schemas.microsoft.com/office/drawing/2014/main" id="{D1659E8E-E48E-0562-22B6-4765E55E61BE}"/>
              </a:ext>
            </a:extLst>
          </p:cNvPr>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a:extLst>
              <a:ext uri="{FF2B5EF4-FFF2-40B4-BE49-F238E27FC236}">
                <a16:creationId xmlns:a16="http://schemas.microsoft.com/office/drawing/2014/main" id="{7414406A-70B0-A82D-10BF-D39AC5FBA1E4}"/>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935264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1EBE7-F8C9-E6BA-8A0C-9E8842F39C20}"/>
              </a:ext>
            </a:extLst>
          </p:cNvPr>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NEWS Essential Vital Signs</a:t>
            </a:r>
          </a:p>
        </p:txBody>
      </p:sp>
      <p:sp>
        <p:nvSpPr>
          <p:cNvPr id="3" name="Content Placeholder 2">
            <a:extLst>
              <a:ext uri="{FF2B5EF4-FFF2-40B4-BE49-F238E27FC236}">
                <a16:creationId xmlns:a16="http://schemas.microsoft.com/office/drawing/2014/main" id="{57036AC9-E2F6-72B7-F3AA-DED3AFD734A4}"/>
              </a:ext>
            </a:extLst>
          </p:cNvPr>
          <p:cNvSpPr>
            <a:spLocks noGrp="1"/>
          </p:cNvSpPr>
          <p:nvPr>
            <p:ph idx="1"/>
          </p:nvPr>
        </p:nvSpPr>
        <p:spPr/>
        <p:txBody>
          <a:bodyPr>
            <a:normAutofit/>
          </a:bodyPr>
          <a:lstStyle/>
          <a:p>
            <a:pPr>
              <a:buFont typeface="Arial" panose="020B0604020202020204" pitchFamily="34" charset="0"/>
              <a:buChar char="•"/>
            </a:pPr>
            <a:r>
              <a:rPr lang="en-US" sz="2400" dirty="0">
                <a:latin typeface="Arial" panose="020B0604020202020204" pitchFamily="34" charset="0"/>
                <a:cs typeface="Arial" panose="020B0604020202020204" pitchFamily="34" charset="0"/>
              </a:rPr>
              <a:t>Risk zone in each category ranges from</a:t>
            </a:r>
          </a:p>
          <a:p>
            <a:pPr lvl="1">
              <a:buFont typeface="Arial" panose="020B0604020202020204" pitchFamily="34" charset="0"/>
              <a:buChar char="•"/>
            </a:pPr>
            <a:r>
              <a:rPr lang="en-US" sz="2200" dirty="0">
                <a:latin typeface="Arial" panose="020B0604020202020204" pitchFamily="34" charset="0"/>
                <a:cs typeface="Arial" panose="020B0604020202020204" pitchFamily="34" charset="0"/>
              </a:rPr>
              <a:t>Normal (0- White) to</a:t>
            </a:r>
          </a:p>
          <a:p>
            <a:pPr lvl="1">
              <a:buFont typeface="Arial" panose="020B0604020202020204" pitchFamily="34" charset="0"/>
              <a:buChar char="•"/>
            </a:pPr>
            <a:r>
              <a:rPr lang="en-US" sz="2200" dirty="0">
                <a:latin typeface="Arial" panose="020B0604020202020204" pitchFamily="34" charset="0"/>
                <a:cs typeface="Arial" panose="020B0604020202020204" pitchFamily="34" charset="0"/>
              </a:rPr>
              <a:t>High (3-red)</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Add scores together to get the NEWS score </a:t>
            </a:r>
          </a:p>
          <a:p>
            <a:pPr>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8814A698-10FA-4B16-447C-0DA994896FD6}"/>
              </a:ext>
            </a:extLst>
          </p:cNvPr>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a:extLst>
              <a:ext uri="{FF2B5EF4-FFF2-40B4-BE49-F238E27FC236}">
                <a16:creationId xmlns:a16="http://schemas.microsoft.com/office/drawing/2014/main" id="{85BD0718-8E3C-3914-5AF3-ECBA8EA22303}"/>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697580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B901-805C-43D1-6B2E-1F9F1045B9A1}"/>
              </a:ext>
            </a:extLst>
          </p:cNvPr>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Interpreting the NEWS Score…</a:t>
            </a:r>
          </a:p>
        </p:txBody>
      </p:sp>
      <p:graphicFrame>
        <p:nvGraphicFramePr>
          <p:cNvPr id="6" name="Content Placeholder 5">
            <a:extLst>
              <a:ext uri="{FF2B5EF4-FFF2-40B4-BE49-F238E27FC236}">
                <a16:creationId xmlns:a16="http://schemas.microsoft.com/office/drawing/2014/main" id="{580874A7-C9B1-3E5C-8647-7A403869FBBD}"/>
              </a:ext>
            </a:extLst>
          </p:cNvPr>
          <p:cNvGraphicFramePr>
            <a:graphicFrameLocks noGrp="1"/>
          </p:cNvGraphicFramePr>
          <p:nvPr>
            <p:ph idx="1"/>
            <p:extLst>
              <p:ext uri="{D42A27DB-BD31-4B8C-83A1-F6EECF244321}">
                <p14:modId xmlns:p14="http://schemas.microsoft.com/office/powerpoint/2010/main" val="3455338717"/>
              </p:ext>
            </p:extLst>
          </p:nvPr>
        </p:nvGraphicFramePr>
        <p:xfrm>
          <a:off x="669590" y="1905000"/>
          <a:ext cx="7772400" cy="4711712"/>
        </p:xfrm>
        <a:graphic>
          <a:graphicData uri="http://schemas.openxmlformats.org/drawingml/2006/table">
            <a:tbl>
              <a:tblPr firstRow="1" bandRow="1">
                <a:tableStyleId>{BC89EF96-8CEA-46FF-86C4-4CE0E7609802}</a:tableStyleId>
              </a:tblPr>
              <a:tblGrid>
                <a:gridCol w="2590800">
                  <a:extLst>
                    <a:ext uri="{9D8B030D-6E8A-4147-A177-3AD203B41FA5}">
                      <a16:colId xmlns:a16="http://schemas.microsoft.com/office/drawing/2014/main" val="2007841223"/>
                    </a:ext>
                  </a:extLst>
                </a:gridCol>
                <a:gridCol w="2590800">
                  <a:extLst>
                    <a:ext uri="{9D8B030D-6E8A-4147-A177-3AD203B41FA5}">
                      <a16:colId xmlns:a16="http://schemas.microsoft.com/office/drawing/2014/main" val="391312589"/>
                    </a:ext>
                  </a:extLst>
                </a:gridCol>
                <a:gridCol w="2590800">
                  <a:extLst>
                    <a:ext uri="{9D8B030D-6E8A-4147-A177-3AD203B41FA5}">
                      <a16:colId xmlns:a16="http://schemas.microsoft.com/office/drawing/2014/main" val="1496219949"/>
                    </a:ext>
                  </a:extLst>
                </a:gridCol>
              </a:tblGrid>
              <a:tr h="439786">
                <a:tc>
                  <a:txBody>
                    <a:bodyPr/>
                    <a:lstStyle/>
                    <a:p>
                      <a:r>
                        <a:rPr lang="en-US" dirty="0"/>
                        <a:t>NEW Score</a:t>
                      </a:r>
                    </a:p>
                  </a:txBody>
                  <a:tcPr/>
                </a:tc>
                <a:tc>
                  <a:txBody>
                    <a:bodyPr/>
                    <a:lstStyle/>
                    <a:p>
                      <a:r>
                        <a:rPr lang="en-US" dirty="0"/>
                        <a:t>Clinical risk</a:t>
                      </a:r>
                    </a:p>
                  </a:txBody>
                  <a:tcPr/>
                </a:tc>
                <a:tc>
                  <a:txBody>
                    <a:bodyPr/>
                    <a:lstStyle/>
                    <a:p>
                      <a:r>
                        <a:rPr lang="en-US" dirty="0"/>
                        <a:t>Response </a:t>
                      </a:r>
                    </a:p>
                  </a:txBody>
                  <a:tcPr/>
                </a:tc>
                <a:extLst>
                  <a:ext uri="{0D108BD9-81ED-4DB2-BD59-A6C34878D82A}">
                    <a16:rowId xmlns:a16="http://schemas.microsoft.com/office/drawing/2014/main" val="2771665180"/>
                  </a:ext>
                </a:extLst>
              </a:tr>
              <a:tr h="439786">
                <a:tc>
                  <a:txBody>
                    <a:bodyPr/>
                    <a:lstStyle/>
                    <a:p>
                      <a:r>
                        <a:rPr lang="en-US" dirty="0"/>
                        <a:t>Score 0-4</a:t>
                      </a:r>
                    </a:p>
                  </a:txBody>
                  <a:tcPr/>
                </a:tc>
                <a:tc>
                  <a:txBody>
                    <a:bodyPr/>
                    <a:lstStyle/>
                    <a:p>
                      <a:r>
                        <a:rPr lang="en-US" dirty="0"/>
                        <a:t>Low</a:t>
                      </a:r>
                    </a:p>
                  </a:txBody>
                  <a:tcPr/>
                </a:tc>
                <a:tc>
                  <a:txBody>
                    <a:bodyPr/>
                    <a:lstStyle/>
                    <a:p>
                      <a:r>
                        <a:rPr lang="en-US" dirty="0"/>
                        <a:t>Ward-base responses (assessment and monitoring)</a:t>
                      </a:r>
                    </a:p>
                  </a:txBody>
                  <a:tcPr/>
                </a:tc>
                <a:extLst>
                  <a:ext uri="{0D108BD9-81ED-4DB2-BD59-A6C34878D82A}">
                    <a16:rowId xmlns:a16="http://schemas.microsoft.com/office/drawing/2014/main" val="3118878350"/>
                  </a:ext>
                </a:extLst>
              </a:tr>
              <a:tr h="1409724">
                <a:tc>
                  <a:txBody>
                    <a:bodyPr/>
                    <a:lstStyle/>
                    <a:p>
                      <a:pPr algn="ctr"/>
                      <a:r>
                        <a:rPr lang="en-US" dirty="0"/>
                        <a:t>Red score</a:t>
                      </a:r>
                    </a:p>
                    <a:p>
                      <a:pPr algn="l"/>
                      <a:r>
                        <a:rPr lang="en-US" dirty="0"/>
                        <a:t>Score of 3 in any individual parameter</a:t>
                      </a:r>
                    </a:p>
                    <a:p>
                      <a:endParaRPr lang="en-US" dirty="0"/>
                    </a:p>
                  </a:txBody>
                  <a:tcPr/>
                </a:tc>
                <a:tc>
                  <a:txBody>
                    <a:bodyPr/>
                    <a:lstStyle/>
                    <a:p>
                      <a:r>
                        <a:rPr lang="en-US" dirty="0"/>
                        <a:t>Low-Medium</a:t>
                      </a:r>
                    </a:p>
                  </a:txBody>
                  <a:tcPr/>
                </a:tc>
                <a:tc>
                  <a:txBody>
                    <a:bodyPr/>
                    <a:lstStyle/>
                    <a:p>
                      <a:r>
                        <a:rPr lang="en-US" dirty="0"/>
                        <a:t>Urgent ward-based response*</a:t>
                      </a:r>
                    </a:p>
                  </a:txBody>
                  <a:tcPr/>
                </a:tc>
                <a:extLst>
                  <a:ext uri="{0D108BD9-81ED-4DB2-BD59-A6C34878D82A}">
                    <a16:rowId xmlns:a16="http://schemas.microsoft.com/office/drawing/2014/main" val="1080362361"/>
                  </a:ext>
                </a:extLst>
              </a:tr>
              <a:tr h="759082">
                <a:tc>
                  <a:txBody>
                    <a:bodyPr/>
                    <a:lstStyle/>
                    <a:p>
                      <a:r>
                        <a:rPr lang="en-US" dirty="0"/>
                        <a:t>Score 5-6</a:t>
                      </a:r>
                    </a:p>
                  </a:txBody>
                  <a:tcPr/>
                </a:tc>
                <a:tc>
                  <a:txBody>
                    <a:bodyPr/>
                    <a:lstStyle/>
                    <a:p>
                      <a:r>
                        <a:rPr lang="en-US" dirty="0"/>
                        <a:t>Medium </a:t>
                      </a:r>
                    </a:p>
                  </a:txBody>
                  <a:tcPr/>
                </a:tc>
                <a:tc>
                  <a:txBody>
                    <a:bodyPr/>
                    <a:lstStyle/>
                    <a:p>
                      <a:r>
                        <a:rPr lang="en-US" dirty="0"/>
                        <a:t>Key threshold for urgent response*</a:t>
                      </a:r>
                    </a:p>
                  </a:txBody>
                  <a:tcPr/>
                </a:tc>
                <a:extLst>
                  <a:ext uri="{0D108BD9-81ED-4DB2-BD59-A6C34878D82A}">
                    <a16:rowId xmlns:a16="http://schemas.microsoft.com/office/drawing/2014/main" val="1479075937"/>
                  </a:ext>
                </a:extLst>
              </a:tr>
              <a:tr h="759082">
                <a:tc>
                  <a:txBody>
                    <a:bodyPr/>
                    <a:lstStyle/>
                    <a:p>
                      <a:r>
                        <a:rPr lang="en-US" dirty="0"/>
                        <a:t>≥7</a:t>
                      </a:r>
                    </a:p>
                  </a:txBody>
                  <a:tcPr/>
                </a:tc>
                <a:tc>
                  <a:txBody>
                    <a:bodyPr/>
                    <a:lstStyle/>
                    <a:p>
                      <a:r>
                        <a:rPr lang="en-US" dirty="0"/>
                        <a:t>High </a:t>
                      </a:r>
                    </a:p>
                  </a:txBody>
                  <a:tcPr/>
                </a:tc>
                <a:tc>
                  <a:txBody>
                    <a:bodyPr/>
                    <a:lstStyle/>
                    <a:p>
                      <a:r>
                        <a:rPr lang="en-US" dirty="0"/>
                        <a:t>Urgent or emergent response by a team with critical care skills**</a:t>
                      </a:r>
                    </a:p>
                  </a:txBody>
                  <a:tcPr/>
                </a:tc>
                <a:extLst>
                  <a:ext uri="{0D108BD9-81ED-4DB2-BD59-A6C34878D82A}">
                    <a16:rowId xmlns:a16="http://schemas.microsoft.com/office/drawing/2014/main" val="2370351964"/>
                  </a:ext>
                </a:extLst>
              </a:tr>
            </a:tbl>
          </a:graphicData>
        </a:graphic>
      </p:graphicFrame>
      <p:sp>
        <p:nvSpPr>
          <p:cNvPr id="4" name="Date Placeholder 3">
            <a:extLst>
              <a:ext uri="{FF2B5EF4-FFF2-40B4-BE49-F238E27FC236}">
                <a16:creationId xmlns:a16="http://schemas.microsoft.com/office/drawing/2014/main" id="{B7F8C1AA-877F-7BFD-01F2-6E67F03476C5}"/>
              </a:ext>
            </a:extLst>
          </p:cNvPr>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a:extLst>
              <a:ext uri="{FF2B5EF4-FFF2-40B4-BE49-F238E27FC236}">
                <a16:creationId xmlns:a16="http://schemas.microsoft.com/office/drawing/2014/main" id="{1993BF45-2B15-3DB0-5C79-5B51D64AFF0D}"/>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603765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Interpreting the NEWS Score…</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5800" y="1752600"/>
            <a:ext cx="7772400" cy="4419600"/>
          </a:xfrm>
        </p:spPr>
        <p:txBody>
          <a:bodyPr>
            <a:normAutofit/>
          </a:bodyPr>
          <a:lstStyle/>
          <a:p>
            <a:r>
              <a:rPr lang="en-US" dirty="0">
                <a:latin typeface="Arial" panose="020B0604020202020204" pitchFamily="34" charset="0"/>
                <a:cs typeface="Arial" panose="020B0604020202020204" pitchFamily="34" charset="0"/>
              </a:rPr>
              <a:t>These triggers should determine the urgency of the clinical response, if;</a:t>
            </a:r>
          </a:p>
          <a:p>
            <a:pPr lvl="1"/>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low score </a:t>
            </a:r>
            <a:r>
              <a:rPr lang="en-US" dirty="0">
                <a:latin typeface="Arial" panose="020B0604020202020204" pitchFamily="34" charset="0"/>
                <a:cs typeface="Arial" panose="020B0604020202020204" pitchFamily="34" charset="0"/>
              </a:rPr>
              <a:t>(NEWS score 0–4) should prompt just frequent and regular assessment </a:t>
            </a:r>
          </a:p>
          <a:p>
            <a:pPr lvl="1"/>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medium score </a:t>
            </a:r>
            <a:r>
              <a:rPr lang="en-US" dirty="0">
                <a:latin typeface="Arial" panose="020B0604020202020204" pitchFamily="34" charset="0"/>
                <a:cs typeface="Arial" panose="020B0604020202020204" pitchFamily="34" charset="0"/>
              </a:rPr>
              <a:t>(NEWS score of 5–6) should prompt an urgent review and assessment</a:t>
            </a:r>
          </a:p>
          <a:p>
            <a:pPr lvl="1"/>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high score </a:t>
            </a:r>
            <a:r>
              <a:rPr lang="en-US" dirty="0">
                <a:latin typeface="Arial" panose="020B0604020202020204" pitchFamily="34" charset="0"/>
                <a:cs typeface="Arial" panose="020B0604020202020204" pitchFamily="34" charset="0"/>
              </a:rPr>
              <a:t>(NEWS </a:t>
            </a:r>
            <a:r>
              <a:rPr lang="en-US" u="sng" dirty="0">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7 ) should prompt emergency assessment and usually transfer of the patient to a higher dependency care area.</a:t>
            </a:r>
          </a:p>
          <a:p>
            <a:pPr algn="just">
              <a:buFont typeface="Wingdings" pitchFamily="2" charset="2"/>
              <a:buChar char="Ø"/>
            </a:pPr>
            <a:r>
              <a:rPr lang="en-US" sz="2400" dirty="0">
                <a:latin typeface="Arial" panose="020B0604020202020204" pitchFamily="34" charset="0"/>
                <a:cs typeface="Arial" panose="020B0604020202020204" pitchFamily="34" charset="0"/>
              </a:rPr>
              <a:t>The threshold for critical illness is </a:t>
            </a:r>
          </a:p>
          <a:p>
            <a:pPr algn="just">
              <a:buFont typeface="Wingdings" pitchFamily="2" charset="2"/>
              <a:buChar char="ü"/>
            </a:pPr>
            <a:r>
              <a:rPr lang="en-US" sz="2400" dirty="0">
                <a:solidFill>
                  <a:srgbClr val="FF0000"/>
                </a:solidFill>
                <a:latin typeface="Arial" panose="020B0604020202020204" pitchFamily="34" charset="0"/>
                <a:cs typeface="Arial" panose="020B0604020202020204" pitchFamily="34" charset="0"/>
              </a:rPr>
              <a:t>      ≥5 for EWS </a:t>
            </a:r>
            <a:endParaRPr lang="en-US" sz="2400"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9752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533400"/>
          </a:xfrm>
        </p:spPr>
        <p:txBody>
          <a:bodyPr>
            <a:noAutofit/>
          </a:bodyPr>
          <a:lstStyle/>
          <a:p>
            <a:r>
              <a:rPr lang="en-US" sz="2800" cap="none" dirty="0">
                <a:solidFill>
                  <a:schemeClr val="tx1"/>
                </a:solidFill>
                <a:latin typeface="Arial" panose="020B0604020202020204" pitchFamily="34" charset="0"/>
                <a:cs typeface="Arial" panose="020B0604020202020204" pitchFamily="34" charset="0"/>
              </a:rPr>
              <a:t> Early Warning Scores (EWS)…</a:t>
            </a:r>
            <a:br>
              <a:rPr lang="en-US" sz="2800" cap="none" dirty="0">
                <a:solidFill>
                  <a:schemeClr val="tx1"/>
                </a:solidFill>
                <a:latin typeface="Arial" panose="020B0604020202020204" pitchFamily="34" charset="0"/>
                <a:cs typeface="Arial" panose="020B0604020202020204" pitchFamily="34" charset="0"/>
              </a:rPr>
            </a:br>
            <a:endParaRPr lang="en-GB" sz="2800" cap="none"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95400"/>
            <a:ext cx="8458200" cy="4830763"/>
          </a:xfrm>
        </p:spPr>
        <p:txBody>
          <a:bodyPr>
            <a:normAutofit/>
          </a:bodyPr>
          <a:lstStyle/>
          <a:p>
            <a:pPr marL="0" indent="0" algn="just">
              <a:buNone/>
            </a:pPr>
            <a:r>
              <a:rPr lang="en-US" sz="2400" dirty="0">
                <a:solidFill>
                  <a:srgbClr val="FF0000"/>
                </a:solidFill>
                <a:latin typeface="Arial" panose="020B0604020202020204" pitchFamily="34" charset="0"/>
                <a:cs typeface="Arial" panose="020B0604020202020204" pitchFamily="34" charset="0"/>
              </a:rPr>
              <a:t>Example</a:t>
            </a:r>
            <a:r>
              <a:rPr lang="en-US" sz="2400" dirty="0">
                <a:latin typeface="Arial" panose="020B0604020202020204" pitchFamily="34" charset="0"/>
                <a:cs typeface="Arial" panose="020B0604020202020204" pitchFamily="34" charset="0"/>
              </a:rPr>
              <a:t>: </a:t>
            </a:r>
          </a:p>
          <a:p>
            <a:pPr algn="just">
              <a:buFont typeface="Arial" panose="020B0604020202020204" pitchFamily="34" charset="0"/>
              <a:buChar char="•"/>
            </a:pPr>
            <a:r>
              <a:rPr lang="en-US" sz="2800" dirty="0">
                <a:latin typeface="Arial" panose="020B0604020202020204" pitchFamily="34" charset="0"/>
                <a:cs typeface="Arial" panose="020B0604020202020204" pitchFamily="34" charset="0"/>
              </a:rPr>
              <a:t> What is the NEWS score of a patient with a RR of 32, HR of 120, SBP 110, temperature 370c and reacts to voice?</a:t>
            </a:r>
          </a:p>
          <a:p>
            <a:pPr algn="just">
              <a:buFont typeface="Arial" panose="020B0604020202020204" pitchFamily="34" charset="0"/>
              <a:buChar char="•"/>
            </a:pPr>
            <a:r>
              <a:rPr lang="en-US" sz="2400" dirty="0">
                <a:latin typeface="Arial" panose="020B0604020202020204" pitchFamily="34" charset="0"/>
                <a:cs typeface="Arial" panose="020B0604020202020204" pitchFamily="34" charset="0"/>
              </a:rPr>
              <a:t>Answer: RR of 32 =3 points, HR 120 =2 points, SBP 110 =1 point, temperature 37 0c = 0 point and conscious level =3 point.</a:t>
            </a:r>
          </a:p>
          <a:p>
            <a:pPr lvl="1" algn="just">
              <a:buFont typeface="Arial" panose="020B0604020202020204" pitchFamily="34" charset="0"/>
              <a:buChar char="•"/>
            </a:pPr>
            <a:r>
              <a:rPr lang="en-US" sz="2200" dirty="0">
                <a:latin typeface="Arial" panose="020B0604020202020204" pitchFamily="34" charset="0"/>
                <a:cs typeface="Arial" panose="020B0604020202020204" pitchFamily="34" charset="0"/>
              </a:rPr>
              <a:t>Thus, the NEWS = 9 and the pt.is therefore critically ill.</a:t>
            </a:r>
            <a:endParaRPr lang="en-GB" sz="2200" dirty="0">
              <a:latin typeface="Arial" panose="020B0604020202020204" pitchFamily="34" charset="0"/>
              <a:cs typeface="Arial" panose="020B0604020202020204" pitchFamily="34" charset="0"/>
            </a:endParaRPr>
          </a:p>
          <a:p>
            <a:pPr marL="0" indent="0" algn="just">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772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039368"/>
          </a:xfrm>
        </p:spPr>
        <p:txBody>
          <a:bodyPr>
            <a:noAutofit/>
          </a:bodyPr>
          <a:lstStyle/>
          <a:p>
            <a:r>
              <a:rPr lang="en-US" sz="3600" cap="none" dirty="0">
                <a:latin typeface="Arial" panose="020B0604020202020204" pitchFamily="34" charset="0"/>
                <a:cs typeface="Arial" panose="020B0604020202020204" pitchFamily="34" charset="0"/>
              </a:rPr>
              <a:t>Clinical approach to critically ill patients - ABCDE </a:t>
            </a:r>
            <a:br>
              <a:rPr lang="en-US" sz="3600" cap="none" dirty="0">
                <a:latin typeface="Arial" panose="020B0604020202020204" pitchFamily="34" charset="0"/>
                <a:cs typeface="Arial" panose="020B0604020202020204" pitchFamily="34" charset="0"/>
              </a:rPr>
            </a:br>
            <a:endParaRPr lang="en-US" sz="3600" cap="none" dirty="0">
              <a:latin typeface="Arial" panose="020B0604020202020204" pitchFamily="34" charset="0"/>
              <a:cs typeface="Arial" panose="020B0604020202020204" pitchFamily="34" charset="0"/>
            </a:endParaRPr>
          </a:p>
        </p:txBody>
      </p:sp>
      <p:graphicFrame>
        <p:nvGraphicFramePr>
          <p:cNvPr id="6" name="Content Placeholder 5">
            <a:extLst>
              <a:ext uri="{FF2B5EF4-FFF2-40B4-BE49-F238E27FC236}">
                <a16:creationId xmlns:a16="http://schemas.microsoft.com/office/drawing/2014/main" id="{099C0992-8DCB-9C88-2C6B-682A093DEFB2}"/>
              </a:ext>
            </a:extLst>
          </p:cNvPr>
          <p:cNvGraphicFramePr>
            <a:graphicFrameLocks noGrp="1"/>
          </p:cNvGraphicFramePr>
          <p:nvPr>
            <p:ph idx="1"/>
            <p:extLst>
              <p:ext uri="{D42A27DB-BD31-4B8C-83A1-F6EECF244321}">
                <p14:modId xmlns:p14="http://schemas.microsoft.com/office/powerpoint/2010/main" val="1467108275"/>
              </p:ext>
            </p:extLst>
          </p:nvPr>
        </p:nvGraphicFramePr>
        <p:xfrm>
          <a:off x="685800" y="1295400"/>
          <a:ext cx="81534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p:txBody>
          <a:bodyPr/>
          <a:lstStyle/>
          <a:p>
            <a:fld id="{FDECB9A0-E1CF-46A6-8103-763532368EA2}"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851682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971678"/>
          </a:xfrm>
        </p:spPr>
        <p:txBody>
          <a:bodyPr>
            <a:normAutofit/>
          </a:bodyPr>
          <a:lstStyle/>
          <a:p>
            <a:r>
              <a:rPr lang="en-US" sz="4000" dirty="0">
                <a:latin typeface="Arial" panose="020B0604020202020204" pitchFamily="34" charset="0"/>
                <a:cs typeface="Arial" panose="020B0604020202020204" pitchFamily="34" charset="0"/>
              </a:rPr>
              <a:t>ABCDE…</a:t>
            </a:r>
          </a:p>
        </p:txBody>
      </p:sp>
      <p:graphicFrame>
        <p:nvGraphicFramePr>
          <p:cNvPr id="7" name="Content Placeholder 6">
            <a:extLst>
              <a:ext uri="{FF2B5EF4-FFF2-40B4-BE49-F238E27FC236}">
                <a16:creationId xmlns:a16="http://schemas.microsoft.com/office/drawing/2014/main" id="{2EE92F0C-50C3-3B71-A645-28E39C83358F}"/>
              </a:ext>
            </a:extLst>
          </p:cNvPr>
          <p:cNvGraphicFramePr>
            <a:graphicFrameLocks noGrp="1"/>
          </p:cNvGraphicFramePr>
          <p:nvPr>
            <p:ph idx="1"/>
            <p:extLst>
              <p:ext uri="{D42A27DB-BD31-4B8C-83A1-F6EECF244321}">
                <p14:modId xmlns:p14="http://schemas.microsoft.com/office/powerpoint/2010/main" val="3748017124"/>
              </p:ext>
            </p:extLst>
          </p:nvPr>
        </p:nvGraphicFramePr>
        <p:xfrm>
          <a:off x="457200" y="1592581"/>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86ACED64-657D-41BC-AE4E-A188F2048F6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810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normAutofit/>
          </a:bodyPr>
          <a:lstStyle/>
          <a:p>
            <a:r>
              <a:rPr lang="en-US" sz="2000" cap="none" dirty="0">
                <a:latin typeface="Arial" panose="020B0604020202020204" pitchFamily="34" charset="0"/>
                <a:cs typeface="Arial" panose="020B0604020202020204" pitchFamily="34" charset="0"/>
              </a:rPr>
              <a:t>British Journal Of Hospital Medicine, October 2007, Vol 68, No 10</a:t>
            </a:r>
            <a:endParaRPr lang="en-GB" sz="2000" cap="none" dirty="0">
              <a:latin typeface="Arial" panose="020B0604020202020204" pitchFamily="34" charset="0"/>
              <a:cs typeface="Arial" panose="020B0604020202020204"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612035829"/>
              </p:ext>
            </p:extLst>
          </p:nvPr>
        </p:nvGraphicFramePr>
        <p:xfrm>
          <a:off x="228599" y="1600200"/>
          <a:ext cx="8686801" cy="4463115"/>
        </p:xfrm>
        <a:graphic>
          <a:graphicData uri="http://schemas.openxmlformats.org/drawingml/2006/table">
            <a:tbl>
              <a:tblPr firstRow="1" bandRow="1">
                <a:tableStyleId>{93296810-A885-4BE3-A3E7-6D5BEEA58F35}</a:tableStyleId>
              </a:tblPr>
              <a:tblGrid>
                <a:gridCol w="1737360">
                  <a:extLst>
                    <a:ext uri="{9D8B030D-6E8A-4147-A177-3AD203B41FA5}">
                      <a16:colId xmlns:a16="http://schemas.microsoft.com/office/drawing/2014/main" val="20000"/>
                    </a:ext>
                  </a:extLst>
                </a:gridCol>
                <a:gridCol w="1312613">
                  <a:extLst>
                    <a:ext uri="{9D8B030D-6E8A-4147-A177-3AD203B41FA5}">
                      <a16:colId xmlns:a16="http://schemas.microsoft.com/office/drawing/2014/main" val="20001"/>
                    </a:ext>
                  </a:extLst>
                </a:gridCol>
                <a:gridCol w="1979226">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1600202">
                  <a:extLst>
                    <a:ext uri="{9D8B030D-6E8A-4147-A177-3AD203B41FA5}">
                      <a16:colId xmlns:a16="http://schemas.microsoft.com/office/drawing/2014/main" val="20004"/>
                    </a:ext>
                  </a:extLst>
                </a:gridCol>
              </a:tblGrid>
              <a:tr h="280785">
                <a:tc gridSpan="5">
                  <a:txBody>
                    <a:bodyPr/>
                    <a:lstStyle/>
                    <a:p>
                      <a:r>
                        <a:rPr lang="en-GB" sz="1400" dirty="0"/>
                        <a:t>patient category</a:t>
                      </a:r>
                      <a:r>
                        <a:rPr lang="en-GB" sz="1400" baseline="0" dirty="0"/>
                        <a:t> </a:t>
                      </a:r>
                      <a:r>
                        <a:rPr lang="en-GB" sz="1400" dirty="0"/>
                        <a:t>                                                          Clinical observation </a:t>
                      </a:r>
                      <a:endParaRPr lang="en-GB" sz="1400" dirty="0">
                        <a:latin typeface="Arial" panose="020B0604020202020204" pitchFamily="34" charset="0"/>
                        <a:cs typeface="Arial" panose="020B0604020202020204" pitchFamily="34" charset="0"/>
                      </a:endParaRP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dirty="0"/>
                    </a:p>
                  </a:txBody>
                  <a:tcPr/>
                </a:tc>
                <a:extLst>
                  <a:ext uri="{0D108BD9-81ED-4DB2-BD59-A6C34878D82A}">
                    <a16:rowId xmlns:a16="http://schemas.microsoft.com/office/drawing/2014/main" val="10000"/>
                  </a:ext>
                </a:extLst>
              </a:tr>
              <a:tr h="320309">
                <a:tc>
                  <a:txBody>
                    <a:bodyPr/>
                    <a:lstStyle/>
                    <a:p>
                      <a:endParaRPr lang="en-GB" sz="1400" dirty="0">
                        <a:latin typeface="Arial" panose="020B0604020202020204" pitchFamily="34" charset="0"/>
                        <a:cs typeface="Arial" panose="020B0604020202020204" pitchFamily="34" charset="0"/>
                      </a:endParaRPr>
                    </a:p>
                  </a:txBody>
                  <a:tcPr/>
                </a:tc>
                <a:tc>
                  <a:txBody>
                    <a:bodyPr/>
                    <a:lstStyle/>
                    <a:p>
                      <a:r>
                        <a:rPr lang="en-GB" sz="1400" dirty="0"/>
                        <a:t>Appearance</a:t>
                      </a:r>
                      <a:r>
                        <a:rPr lang="en-GB" sz="1400" baseline="0" dirty="0"/>
                        <a:t> </a:t>
                      </a:r>
                      <a:endParaRPr lang="en-GB" sz="1400" dirty="0">
                        <a:latin typeface="Arial" panose="020B0604020202020204" pitchFamily="34" charset="0"/>
                        <a:cs typeface="Arial" panose="020B0604020202020204" pitchFamily="34" charset="0"/>
                      </a:endParaRPr>
                    </a:p>
                  </a:txBody>
                  <a:tcPr/>
                </a:tc>
                <a:tc>
                  <a:txBody>
                    <a:bodyPr/>
                    <a:lstStyle/>
                    <a:p>
                      <a:r>
                        <a:rPr lang="en-GB" sz="1400" dirty="0"/>
                        <a:t>Neurological</a:t>
                      </a:r>
                      <a:endParaRPr lang="en-GB" sz="1400" dirty="0">
                        <a:latin typeface="Arial" panose="020B0604020202020204" pitchFamily="34" charset="0"/>
                        <a:cs typeface="Arial" panose="020B0604020202020204" pitchFamily="34" charset="0"/>
                      </a:endParaRPr>
                    </a:p>
                  </a:txBody>
                  <a:tcPr/>
                </a:tc>
                <a:tc>
                  <a:txBody>
                    <a:bodyPr/>
                    <a:lstStyle/>
                    <a:p>
                      <a:r>
                        <a:rPr lang="en-GB" sz="1400" dirty="0"/>
                        <a:t>Respiratory</a:t>
                      </a:r>
                      <a:endParaRPr lang="en-GB" sz="1400" dirty="0">
                        <a:latin typeface="Arial" panose="020B0604020202020204" pitchFamily="34" charset="0"/>
                        <a:cs typeface="Arial" panose="020B0604020202020204" pitchFamily="34" charset="0"/>
                      </a:endParaRPr>
                    </a:p>
                  </a:txBody>
                  <a:tcPr/>
                </a:tc>
                <a:tc>
                  <a:txBody>
                    <a:bodyPr/>
                    <a:lstStyle/>
                    <a:p>
                      <a:r>
                        <a:rPr lang="en-GB" sz="1400" dirty="0"/>
                        <a:t>Cardiovascular </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725598">
                <a:tc>
                  <a:txBody>
                    <a:bodyPr/>
                    <a:lstStyle/>
                    <a:p>
                      <a:r>
                        <a:rPr lang="en-GB" sz="1400" b="0" u="none" strike="noStrike" kern="1200" baseline="0" dirty="0">
                          <a:solidFill>
                            <a:srgbClr val="FF0000"/>
                          </a:solidFill>
                        </a:rPr>
                        <a:t>Not critically ill</a:t>
                      </a:r>
                      <a:endParaRPr lang="en-GB" sz="1400" dirty="0">
                        <a:solidFill>
                          <a:srgbClr val="FF0000"/>
                        </a:solidFill>
                        <a:latin typeface="Arial" panose="020B0604020202020204" pitchFamily="34" charset="0"/>
                        <a:cs typeface="Arial" panose="020B0604020202020204" pitchFamily="34" charset="0"/>
                      </a:endParaRPr>
                    </a:p>
                  </a:txBody>
                  <a:tcPr/>
                </a:tc>
                <a:tc>
                  <a:txBody>
                    <a:bodyPr/>
                    <a:lstStyle/>
                    <a:p>
                      <a:r>
                        <a:rPr lang="en-GB" sz="1400" dirty="0"/>
                        <a:t>Normal</a:t>
                      </a:r>
                      <a:endParaRPr lang="en-GB" sz="14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dirty="0"/>
                        <a:t>Alert</a:t>
                      </a:r>
                      <a:r>
                        <a:rPr lang="en-GB" sz="1400" baseline="0" dirty="0"/>
                        <a:t> cooperative </a:t>
                      </a:r>
                      <a:endParaRPr lang="en-GB" sz="1400" dirty="0"/>
                    </a:p>
                    <a:p>
                      <a:endParaRPr lang="en-GB" sz="1400" dirty="0">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Normal pattern</a:t>
                      </a:r>
                    </a:p>
                    <a:p>
                      <a:r>
                        <a:rPr lang="en-GB" sz="1400" b="0" u="none" strike="noStrike" kern="1200" baseline="0" dirty="0">
                          <a:solidFill>
                            <a:schemeClr val="dk1"/>
                          </a:solidFill>
                        </a:rPr>
                        <a:t>RR &gt;8 and &lt;20 b/min</a:t>
                      </a:r>
                      <a:endParaRPr lang="en-GB" sz="1400" dirty="0">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HR 60–100 b/min</a:t>
                      </a:r>
                    </a:p>
                    <a:p>
                      <a:r>
                        <a:rPr lang="en-GB" sz="1400" b="0" u="none" strike="noStrike" kern="1200" baseline="0" dirty="0">
                          <a:solidFill>
                            <a:schemeClr val="dk1"/>
                          </a:solidFill>
                        </a:rPr>
                        <a:t>SBP &gt; 90 mmHg</a:t>
                      </a:r>
                    </a:p>
                    <a:p>
                      <a:r>
                        <a:rPr lang="en-GB" sz="1400" b="0" u="none" strike="noStrike" kern="1200" baseline="0" dirty="0">
                          <a:solidFill>
                            <a:schemeClr val="dk1"/>
                          </a:solidFill>
                        </a:rPr>
                        <a:t>UO &gt; 0.5 ml/kg/hr</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263683">
                <a:tc>
                  <a:txBody>
                    <a:bodyPr/>
                    <a:lstStyle/>
                    <a:p>
                      <a:r>
                        <a:rPr lang="en-GB" sz="1400" b="0" u="none" strike="noStrike" kern="1200" baseline="0" dirty="0">
                          <a:solidFill>
                            <a:srgbClr val="FF0000"/>
                          </a:solidFill>
                        </a:rPr>
                        <a:t>Potential critical</a:t>
                      </a:r>
                    </a:p>
                    <a:p>
                      <a:r>
                        <a:rPr lang="en-GB" sz="1400" b="0" u="none" strike="noStrike" kern="1200" baseline="0" dirty="0">
                          <a:solidFill>
                            <a:srgbClr val="FF0000"/>
                          </a:solidFill>
                        </a:rPr>
                        <a:t>illness</a:t>
                      </a:r>
                      <a:endParaRPr lang="en-GB" sz="1400" dirty="0">
                        <a:solidFill>
                          <a:srgbClr val="FF0000"/>
                        </a:solidFill>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Sweaty</a:t>
                      </a:r>
                    </a:p>
                    <a:p>
                      <a:r>
                        <a:rPr lang="en-GB" sz="1400" b="0" u="none" strike="noStrike" kern="1200" baseline="0" dirty="0">
                          <a:solidFill>
                            <a:schemeClr val="dk1"/>
                          </a:solidFill>
                        </a:rPr>
                        <a:t>Pale </a:t>
                      </a:r>
                    </a:p>
                    <a:p>
                      <a:r>
                        <a:rPr lang="en-GB" sz="1400" b="0" u="none" strike="noStrike" kern="1200" baseline="0" dirty="0">
                          <a:solidFill>
                            <a:schemeClr val="dk1"/>
                          </a:solidFill>
                        </a:rPr>
                        <a:t>Anxious </a:t>
                      </a:r>
                      <a:endParaRPr lang="en-GB" sz="1400" dirty="0">
                        <a:latin typeface="Arial" panose="020B0604020202020204" pitchFamily="34" charset="0"/>
                        <a:cs typeface="Arial" panose="020B0604020202020204" pitchFamily="34" charset="0"/>
                      </a:endParaRPr>
                    </a:p>
                  </a:txBody>
                  <a:tcPr/>
                </a:tc>
                <a:tc>
                  <a:txBody>
                    <a:bodyPr/>
                    <a:lstStyle/>
                    <a:p>
                      <a:r>
                        <a:rPr lang="en-GB" sz="1400" dirty="0"/>
                        <a:t>Agitation </a:t>
                      </a:r>
                    </a:p>
                    <a:p>
                      <a:r>
                        <a:rPr lang="en-GB" sz="1400" dirty="0"/>
                        <a:t>Confusion </a:t>
                      </a:r>
                    </a:p>
                    <a:p>
                      <a:r>
                        <a:rPr lang="en-GB" sz="1400" dirty="0"/>
                        <a:t>Eyes open</a:t>
                      </a:r>
                      <a:r>
                        <a:rPr lang="en-GB" sz="1400" baseline="0" dirty="0"/>
                        <a:t> to voice only </a:t>
                      </a:r>
                      <a:endParaRPr lang="en-GB" sz="1400" dirty="0">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Accessory muscle use</a:t>
                      </a:r>
                    </a:p>
                    <a:p>
                      <a:r>
                        <a:rPr lang="en-GB" sz="1400" b="0" u="none" strike="noStrike" kern="1200" baseline="0" dirty="0">
                          <a:solidFill>
                            <a:schemeClr val="dk1"/>
                          </a:solidFill>
                        </a:rPr>
                        <a:t>RR &lt; 8 bpm </a:t>
                      </a:r>
                    </a:p>
                    <a:p>
                      <a:r>
                        <a:rPr lang="en-GB" sz="1400" b="0" u="none" strike="noStrike" kern="1200" baseline="0" dirty="0">
                          <a:solidFill>
                            <a:schemeClr val="dk1"/>
                          </a:solidFill>
                        </a:rPr>
                        <a:t>RR  20-30 bpm </a:t>
                      </a:r>
                    </a:p>
                    <a:p>
                      <a:endParaRPr lang="en-GB" sz="1400" dirty="0">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HR &gt; 100 b/min</a:t>
                      </a:r>
                    </a:p>
                    <a:p>
                      <a:r>
                        <a:rPr lang="en-GB" sz="1400" b="0" u="none" strike="noStrike" kern="1200" baseline="0" dirty="0">
                          <a:solidFill>
                            <a:schemeClr val="dk1"/>
                          </a:solidFill>
                        </a:rPr>
                        <a:t>SBP &lt;90mmhg </a:t>
                      </a:r>
                    </a:p>
                    <a:p>
                      <a:r>
                        <a:rPr lang="en-GB" sz="1400" b="0" u="none" strike="noStrike" kern="1200" baseline="0" dirty="0">
                          <a:solidFill>
                            <a:schemeClr val="dk1"/>
                          </a:solidFill>
                        </a:rPr>
                        <a:t>UO &lt; 0.5 ml/kg/</a:t>
                      </a:r>
                      <a:r>
                        <a:rPr lang="en-GB" sz="1400" b="0" u="none" strike="noStrike" kern="1200" baseline="0" dirty="0" err="1">
                          <a:solidFill>
                            <a:schemeClr val="dk1"/>
                          </a:solidFill>
                        </a:rPr>
                        <a:t>hr</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1263683">
                <a:tc>
                  <a:txBody>
                    <a:bodyPr/>
                    <a:lstStyle/>
                    <a:p>
                      <a:r>
                        <a:rPr lang="en-GB" sz="1400" b="0" u="none" strike="noStrike" kern="1200" baseline="0" dirty="0">
                          <a:solidFill>
                            <a:srgbClr val="FF0000"/>
                          </a:solidFill>
                        </a:rPr>
                        <a:t>Critically ill</a:t>
                      </a:r>
                      <a:endParaRPr lang="en-GB" sz="1400" dirty="0">
                        <a:solidFill>
                          <a:srgbClr val="FF0000"/>
                        </a:solidFill>
                        <a:latin typeface="Arial" panose="020B0604020202020204" pitchFamily="34" charset="0"/>
                        <a:cs typeface="Arial" panose="020B0604020202020204" pitchFamily="34" charset="0"/>
                      </a:endParaRPr>
                    </a:p>
                  </a:txBody>
                  <a:tcPr/>
                </a:tc>
                <a:tc>
                  <a:txBody>
                    <a:bodyPr/>
                    <a:lstStyle/>
                    <a:p>
                      <a:r>
                        <a:rPr lang="en-GB" sz="1400" dirty="0"/>
                        <a:t>Grey </a:t>
                      </a:r>
                    </a:p>
                    <a:p>
                      <a:r>
                        <a:rPr lang="en-GB" sz="1400" dirty="0"/>
                        <a:t>Blue </a:t>
                      </a:r>
                    </a:p>
                    <a:p>
                      <a:r>
                        <a:rPr lang="en-GB" sz="1400" dirty="0"/>
                        <a:t>Mottled skin </a:t>
                      </a:r>
                      <a:endParaRPr lang="en-GB" sz="1400" dirty="0">
                        <a:latin typeface="Arial" panose="020B0604020202020204" pitchFamily="34" charset="0"/>
                        <a:cs typeface="Arial" panose="020B0604020202020204" pitchFamily="34" charset="0"/>
                      </a:endParaRPr>
                    </a:p>
                  </a:txBody>
                  <a:tcPr/>
                </a:tc>
                <a:tc>
                  <a:txBody>
                    <a:bodyPr/>
                    <a:lstStyle/>
                    <a:p>
                      <a:r>
                        <a:rPr lang="en-GB" sz="1400" dirty="0"/>
                        <a:t>Unresponsive or</a:t>
                      </a:r>
                      <a:r>
                        <a:rPr lang="en-GB" sz="1400" baseline="0" dirty="0"/>
                        <a:t> eye opens  for pain  only</a:t>
                      </a:r>
                    </a:p>
                    <a:p>
                      <a:r>
                        <a:rPr lang="en-GB" sz="1400" baseline="0" dirty="0"/>
                        <a:t>Fitting </a:t>
                      </a:r>
                      <a:endParaRPr lang="en-GB" sz="1400" dirty="0">
                        <a:latin typeface="Arial" panose="020B0604020202020204" pitchFamily="34" charset="0"/>
                        <a:cs typeface="Arial" panose="020B0604020202020204" pitchFamily="34" charset="0"/>
                      </a:endParaRPr>
                    </a:p>
                  </a:txBody>
                  <a:tcPr/>
                </a:tc>
                <a:tc>
                  <a:txBody>
                    <a:bodyPr/>
                    <a:lstStyle/>
                    <a:p>
                      <a:r>
                        <a:rPr lang="en-GB" sz="1400" dirty="0"/>
                        <a:t>Silent chest </a:t>
                      </a:r>
                    </a:p>
                    <a:p>
                      <a:r>
                        <a:rPr lang="en-GB" sz="1400" dirty="0"/>
                        <a:t>RR &lt; 8 </a:t>
                      </a:r>
                      <a:r>
                        <a:rPr lang="en-GB" sz="1400" baseline="0" dirty="0"/>
                        <a:t>or &gt;30 bpm</a:t>
                      </a:r>
                    </a:p>
                    <a:p>
                      <a:r>
                        <a:rPr lang="en-GB" sz="1400" baseline="0" dirty="0"/>
                        <a:t>Agonal respiration </a:t>
                      </a:r>
                      <a:endParaRPr lang="en-GB" sz="1400" baseline="0" dirty="0">
                        <a:latin typeface="Arial" panose="020B0604020202020204" pitchFamily="34" charset="0"/>
                        <a:cs typeface="Arial" panose="020B0604020202020204" pitchFamily="34" charset="0"/>
                      </a:endParaRPr>
                    </a:p>
                  </a:txBody>
                  <a:tcPr/>
                </a:tc>
                <a:tc>
                  <a:txBody>
                    <a:bodyPr/>
                    <a:lstStyle/>
                    <a:p>
                      <a:r>
                        <a:rPr lang="en-GB" sz="1400" b="0" u="none" strike="noStrike" kern="1200" baseline="0" dirty="0">
                          <a:solidFill>
                            <a:schemeClr val="dk1"/>
                          </a:solidFill>
                        </a:rPr>
                        <a:t>HR &lt; 50 b/min</a:t>
                      </a:r>
                    </a:p>
                    <a:p>
                      <a:r>
                        <a:rPr lang="en-GB" sz="1400" b="0" u="none" strike="noStrike" kern="1200" baseline="0" dirty="0">
                          <a:solidFill>
                            <a:schemeClr val="dk1"/>
                          </a:solidFill>
                        </a:rPr>
                        <a:t>HR &gt;150 bpm</a:t>
                      </a:r>
                    </a:p>
                    <a:p>
                      <a:r>
                        <a:rPr lang="en-GB" sz="1400" b="0" u="none" strike="noStrike" kern="1200" baseline="0" dirty="0">
                          <a:solidFill>
                            <a:schemeClr val="dk1"/>
                          </a:solidFill>
                        </a:rPr>
                        <a:t>SBP &lt;90mmhg </a:t>
                      </a:r>
                    </a:p>
                    <a:p>
                      <a:r>
                        <a:rPr lang="en-GB" sz="1400" b="0" u="none" strike="noStrike" kern="1200" baseline="0" dirty="0" err="1">
                          <a:solidFill>
                            <a:schemeClr val="dk1"/>
                          </a:solidFill>
                        </a:rPr>
                        <a:t>Anuric</a:t>
                      </a:r>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336942">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tc>
                  <a:txBody>
                    <a:bodyPr/>
                    <a:lstStyle/>
                    <a:p>
                      <a:endParaRPr lang="en-GB">
                        <a:latin typeface="Arial" panose="020B0604020202020204" pitchFamily="34" charset="0"/>
                        <a:cs typeface="Arial" panose="020B0604020202020204" pitchFamily="34" charset="0"/>
                      </a:endParaRPr>
                    </a:p>
                  </a:txBody>
                  <a:tcPr/>
                </a:tc>
                <a:tc>
                  <a:txBody>
                    <a:bodyPr/>
                    <a:lstStyle/>
                    <a:p>
                      <a:endParaRPr lang="en-GB"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76666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none" dirty="0" err="1">
                <a:latin typeface="Arial" panose="020B0604020202020204" pitchFamily="34" charset="0"/>
                <a:cs typeface="Arial" panose="020B0604020202020204" pitchFamily="34" charset="0"/>
              </a:rPr>
              <a:t>Cont</a:t>
            </a:r>
            <a:r>
              <a:rPr lang="en-US" sz="4000" cap="none"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q"/>
            </a:pPr>
            <a:r>
              <a:rPr lang="en-GB" sz="2800" dirty="0">
                <a:latin typeface="Arial" panose="020B0604020202020204" pitchFamily="34" charset="0"/>
                <a:cs typeface="Arial" panose="020B0604020202020204" pitchFamily="34" charset="0"/>
              </a:rPr>
              <a:t>Principles </a:t>
            </a:r>
          </a:p>
          <a:p>
            <a:r>
              <a:rPr lang="en-GB" sz="2800" dirty="0">
                <a:solidFill>
                  <a:srgbClr val="FF0000"/>
                </a:solidFill>
                <a:latin typeface="Arial" panose="020B0604020202020204" pitchFamily="34" charset="0"/>
                <a:cs typeface="Arial" panose="020B0604020202020204" pitchFamily="34" charset="0"/>
              </a:rPr>
              <a:t>Assess</a:t>
            </a:r>
            <a:r>
              <a:rPr lang="en-GB" sz="2800" dirty="0">
                <a:latin typeface="Arial" panose="020B0604020202020204" pitchFamily="34" charset="0"/>
                <a:cs typeface="Arial" panose="020B0604020202020204" pitchFamily="34" charset="0"/>
              </a:rPr>
              <a:t>- Treat- </a:t>
            </a:r>
            <a:r>
              <a:rPr lang="en-GB" sz="2800" dirty="0">
                <a:solidFill>
                  <a:srgbClr val="FF0000"/>
                </a:solidFill>
                <a:latin typeface="Arial" panose="020B0604020202020204" pitchFamily="34" charset="0"/>
                <a:cs typeface="Arial" panose="020B0604020202020204" pitchFamily="34" charset="0"/>
              </a:rPr>
              <a:t>Reassess</a:t>
            </a:r>
          </a:p>
          <a:p>
            <a:pPr marL="0" indent="0">
              <a:buNone/>
            </a:pPr>
            <a:r>
              <a:rPr lang="en-GB" sz="2800" dirty="0">
                <a:latin typeface="Arial" panose="020B0604020202020204" pitchFamily="34" charset="0"/>
                <a:cs typeface="Arial" panose="020B0604020202020204" pitchFamily="34" charset="0"/>
              </a:rPr>
              <a:t> </a:t>
            </a:r>
          </a:p>
          <a:p>
            <a:pPr>
              <a:buFont typeface="Wingdings" pitchFamily="2" charset="2"/>
              <a:buChar char="q"/>
            </a:pPr>
            <a:r>
              <a:rPr lang="en-GB" sz="2800" dirty="0">
                <a:solidFill>
                  <a:srgbClr val="FF0000"/>
                </a:solidFill>
                <a:latin typeface="Arial" panose="020B0604020202020204" pitchFamily="34" charset="0"/>
                <a:cs typeface="Arial" panose="020B0604020202020204" pitchFamily="34" charset="0"/>
              </a:rPr>
              <a:t>Structured Approach to critically ill patients </a:t>
            </a:r>
          </a:p>
          <a:p>
            <a:r>
              <a:rPr lang="en-GB" sz="2800" dirty="0">
                <a:latin typeface="Arial" panose="020B0604020202020204" pitchFamily="34" charset="0"/>
                <a:cs typeface="Arial" panose="020B0604020202020204" pitchFamily="34" charset="0"/>
              </a:rPr>
              <a:t>What are the steps to be followed ?</a:t>
            </a:r>
          </a:p>
          <a:p>
            <a:pPr marL="571500" indent="-571500">
              <a:buFont typeface="+mj-lt"/>
              <a:buAutoNum type="romanLcPeriod"/>
            </a:pPr>
            <a:r>
              <a:rPr lang="en-GB" sz="2800" dirty="0">
                <a:latin typeface="Arial" panose="020B0604020202020204" pitchFamily="34" charset="0"/>
                <a:cs typeface="Arial" panose="020B0604020202020204" pitchFamily="34" charset="0"/>
              </a:rPr>
              <a:t>  Initial Assessment </a:t>
            </a:r>
          </a:p>
          <a:p>
            <a:pPr marL="571500" indent="-571500">
              <a:buFont typeface="+mj-lt"/>
              <a:buAutoNum type="romanLcPeriod"/>
            </a:pPr>
            <a:r>
              <a:rPr lang="en-GB" sz="2800" dirty="0">
                <a:latin typeface="Arial" panose="020B0604020202020204" pitchFamily="34" charset="0"/>
                <a:cs typeface="Arial" panose="020B0604020202020204" pitchFamily="34" charset="0"/>
              </a:rPr>
              <a:t> Immediate management </a:t>
            </a:r>
          </a:p>
          <a:p>
            <a:pPr marL="571500" indent="-571500">
              <a:buFont typeface="+mj-lt"/>
              <a:buAutoNum type="romanLcPeriod"/>
            </a:pPr>
            <a:r>
              <a:rPr lang="en-GB" sz="2800" dirty="0">
                <a:latin typeface="Arial" panose="020B0604020202020204" pitchFamily="34" charset="0"/>
                <a:cs typeface="Arial" panose="020B0604020202020204" pitchFamily="34" charset="0"/>
              </a:rPr>
              <a:t> Monitoring  </a:t>
            </a:r>
          </a:p>
          <a:p>
            <a:pPr marL="571500" indent="-571500">
              <a:buFont typeface="+mj-lt"/>
              <a:buAutoNum type="romanLcPeriod"/>
            </a:pPr>
            <a:r>
              <a:rPr lang="en-GB" sz="2800" dirty="0">
                <a:latin typeface="Arial" panose="020B0604020202020204" pitchFamily="34" charset="0"/>
                <a:cs typeface="Arial" panose="020B0604020202020204" pitchFamily="34" charset="0"/>
              </a:rPr>
              <a:t>Initial Investigation </a:t>
            </a:r>
          </a:p>
          <a:p>
            <a:pPr marL="0" indent="0">
              <a:buNone/>
            </a:pPr>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5314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2093976"/>
          </a:xfrm>
        </p:spPr>
        <p:txBody>
          <a:bodyPr>
            <a:noAutofit/>
          </a:bodyPr>
          <a:lstStyle/>
          <a:p>
            <a:r>
              <a:rPr lang="en-US" sz="2800" cap="none" dirty="0">
                <a:latin typeface="Times New Roman" pitchFamily="18" charset="0"/>
                <a:cs typeface="Times New Roman" pitchFamily="18" charset="0"/>
              </a:rPr>
              <a:t>Clinical Examination Of The Critically Ill Patient</a:t>
            </a:r>
          </a:p>
        </p:txBody>
      </p:sp>
      <p:pic>
        <p:nvPicPr>
          <p:cNvPr id="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4800" y="1400656"/>
            <a:ext cx="8534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6003036" y="6227262"/>
            <a:ext cx="2455164" cy="365125"/>
          </a:xfrm>
        </p:spPr>
        <p:txBody>
          <a:bodyPr/>
          <a:lstStyle/>
          <a:p>
            <a:fld id="{C78FADBF-F382-48E1-90D0-DD10C39DE018}" type="datetime4">
              <a:rPr lang="en-US" smtClean="0"/>
              <a:t>April 16, 2026</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dirty="0"/>
          </a:p>
        </p:txBody>
      </p:sp>
    </p:spTree>
    <p:extLst>
      <p:ext uri="{BB962C8B-B14F-4D97-AF65-F5344CB8AC3E}">
        <p14:creationId xmlns:p14="http://schemas.microsoft.com/office/powerpoint/2010/main" val="2054356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963168"/>
          </a:xfrm>
        </p:spPr>
        <p:txBody>
          <a:bodyPr>
            <a:normAutofit/>
          </a:bodyPr>
          <a:lstStyle/>
          <a:p>
            <a:r>
              <a:rPr lang="en-US" sz="2400" b="1" cap="none" dirty="0">
                <a:solidFill>
                  <a:srgbClr val="FF0000"/>
                </a:solidFill>
                <a:latin typeface="Arial" panose="020B0604020202020204" pitchFamily="34" charset="0"/>
                <a:cs typeface="Arial" panose="020B0604020202020204" pitchFamily="34" charset="0"/>
              </a:rPr>
              <a:t>Initial Assessment – </a:t>
            </a:r>
            <a:r>
              <a:rPr lang="en-US" sz="2400" b="1" cap="none" dirty="0">
                <a:solidFill>
                  <a:srgbClr val="0070C0"/>
                </a:solidFill>
                <a:latin typeface="Arial" panose="020B0604020202020204" pitchFamily="34" charset="0"/>
                <a:cs typeface="Arial" panose="020B0604020202020204" pitchFamily="34" charset="0"/>
              </a:rPr>
              <a:t>Identify Physiological Abnormalities</a:t>
            </a:r>
            <a:endParaRPr lang="en-GB" sz="2400" cap="none"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47800"/>
            <a:ext cx="8229600" cy="4678363"/>
          </a:xfrm>
        </p:spPr>
        <p:txBody>
          <a:bodyPr>
            <a:normAutofit/>
          </a:bodyPr>
          <a:lstStyle/>
          <a:p>
            <a:pPr algn="just"/>
            <a:r>
              <a:rPr lang="en-US" sz="2400" b="1" dirty="0">
                <a:solidFill>
                  <a:srgbClr val="FF0000"/>
                </a:solidFill>
                <a:latin typeface="Arial" panose="020B0604020202020204" pitchFamily="34" charset="0"/>
                <a:cs typeface="Arial" panose="020B0604020202020204" pitchFamily="34" charset="0"/>
              </a:rPr>
              <a:t>Make sure the patient is safe</a:t>
            </a:r>
            <a:endParaRPr lang="en-GB" sz="2400" dirty="0">
              <a:latin typeface="Arial" panose="020B0604020202020204" pitchFamily="34" charset="0"/>
              <a:cs typeface="Arial" panose="020B0604020202020204" pitchFamily="34" charset="0"/>
            </a:endParaRPr>
          </a:p>
          <a:p>
            <a:pPr lvl="1" algn="just"/>
            <a:r>
              <a:rPr lang="en-US" sz="2400" dirty="0">
                <a:latin typeface="Arial" panose="020B0604020202020204" pitchFamily="34" charset="0"/>
                <a:cs typeface="Arial" panose="020B0604020202020204" pitchFamily="34" charset="0"/>
              </a:rPr>
              <a:t>Quickly assess the patient. </a:t>
            </a:r>
          </a:p>
          <a:p>
            <a:pPr lvl="1" algn="just"/>
            <a:r>
              <a:rPr lang="en-US" sz="2400" dirty="0">
                <a:latin typeface="Arial" panose="020B0604020202020204" pitchFamily="34" charset="0"/>
                <a:cs typeface="Arial" panose="020B0604020202020204" pitchFamily="34" charset="0"/>
              </a:rPr>
              <a:t>Do not waste time taking a detailed history; that </a:t>
            </a:r>
            <a:r>
              <a:rPr lang="en-GB" sz="2400" dirty="0">
                <a:latin typeface="Arial" panose="020B0604020202020204" pitchFamily="34" charset="0"/>
                <a:cs typeface="Arial" panose="020B0604020202020204" pitchFamily="34" charset="0"/>
              </a:rPr>
              <a:t>can be done later.</a:t>
            </a:r>
          </a:p>
          <a:p>
            <a:pPr lvl="1" algn="just"/>
            <a:r>
              <a:rPr lang="en-US" sz="2400" dirty="0">
                <a:latin typeface="Arial" panose="020B0604020202020204" pitchFamily="34" charset="0"/>
                <a:cs typeface="Arial" panose="020B0604020202020204" pitchFamily="34" charset="0"/>
              </a:rPr>
              <a:t>Assess the clinical setting quickly:</a:t>
            </a:r>
          </a:p>
          <a:p>
            <a:pPr lvl="2" algn="just">
              <a:buFont typeface="Arial" pitchFamily="34" charset="0"/>
              <a:buChar char="•"/>
            </a:pPr>
            <a:r>
              <a:rPr lang="en-US" sz="2400" dirty="0">
                <a:latin typeface="Arial" panose="020B0604020202020204" pitchFamily="34" charset="0"/>
                <a:cs typeface="Arial" panose="020B0604020202020204" pitchFamily="34" charset="0"/>
              </a:rPr>
              <a:t>the position the patient, </a:t>
            </a:r>
          </a:p>
          <a:p>
            <a:pPr lvl="2" algn="just">
              <a:buFont typeface="Arial" pitchFamily="34" charset="0"/>
              <a:buChar char="•"/>
            </a:pPr>
            <a:r>
              <a:rPr lang="en-US" sz="2400" dirty="0">
                <a:latin typeface="Arial" panose="020B0604020202020204" pitchFamily="34" charset="0"/>
                <a:cs typeface="Arial" panose="020B0604020202020204" pitchFamily="34" charset="0"/>
              </a:rPr>
              <a:t>the availability of monitoring, oxygen, other resuscitation equipment, support </a:t>
            </a:r>
            <a:r>
              <a:rPr lang="en-GB" sz="2400" dirty="0">
                <a:latin typeface="Arial" panose="020B0604020202020204" pitchFamily="34" charset="0"/>
                <a:cs typeface="Arial" panose="020B0604020202020204" pitchFamily="34" charset="0"/>
              </a:rPr>
              <a:t>staff, documentation etc</a:t>
            </a:r>
            <a:r>
              <a:rPr lang="en-GB" sz="2200" dirty="0">
                <a:latin typeface="Arial" panose="020B0604020202020204" pitchFamily="34" charset="0"/>
                <a:cs typeface="Arial" panose="020B0604020202020204" pitchFamily="34" charset="0"/>
              </a:rPr>
              <a:t>.</a:t>
            </a:r>
            <a:endParaRPr lang="en-GB" sz="2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821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Group work</a:t>
            </a:r>
          </a:p>
        </p:txBody>
      </p:sp>
      <p:sp>
        <p:nvSpPr>
          <p:cNvPr id="3" name="Content Placeholder 2"/>
          <p:cNvSpPr>
            <a:spLocks noGrp="1"/>
          </p:cNvSpPr>
          <p:nvPr>
            <p:ph idx="1"/>
          </p:nvPr>
        </p:nvSpPr>
        <p:spPr>
          <a:xfrm>
            <a:off x="457200" y="1600200"/>
            <a:ext cx="8458200" cy="4525963"/>
          </a:xfrm>
        </p:spPr>
        <p:txBody>
          <a:bodyPr>
            <a:normAutofit/>
          </a:bodyPr>
          <a:lstStyle/>
          <a:p>
            <a:pPr>
              <a:buFont typeface="Symbol" pitchFamily="18" charset="2"/>
              <a:buChar char="§"/>
            </a:pPr>
            <a:r>
              <a:rPr lang="en-US" sz="2800" dirty="0">
                <a:latin typeface="Arial" panose="020B0604020202020204" pitchFamily="34" charset="0"/>
                <a:cs typeface="Arial" panose="020B0604020202020204" pitchFamily="34" charset="0"/>
              </a:rPr>
              <a:t> </a:t>
            </a:r>
            <a:r>
              <a:rPr lang="en-US" sz="2800" dirty="0">
                <a:solidFill>
                  <a:srgbClr val="FF0000"/>
                </a:solidFill>
                <a:latin typeface="Arial" panose="020B0604020202020204" pitchFamily="34" charset="0"/>
                <a:cs typeface="Arial" panose="020B0604020202020204" pitchFamily="34" charset="0"/>
              </a:rPr>
              <a:t>Be in a group of 4 (A – D)</a:t>
            </a:r>
            <a:endParaRPr lang="en-US" sz="2800" dirty="0">
              <a:latin typeface="Arial" panose="020B0604020202020204" pitchFamily="34" charset="0"/>
              <a:cs typeface="Arial" panose="020B0604020202020204" pitchFamily="34" charset="0"/>
            </a:endParaRPr>
          </a:p>
          <a:p>
            <a:pPr>
              <a:buFont typeface="Wingdings" pitchFamily="2" charset="2"/>
              <a:buChar char="Ø"/>
            </a:pPr>
            <a:r>
              <a:rPr lang="en-US" sz="2400" dirty="0">
                <a:solidFill>
                  <a:srgbClr val="FF0000"/>
                </a:solidFill>
                <a:latin typeface="Arial" panose="020B0604020202020204" pitchFamily="34" charset="0"/>
                <a:cs typeface="Arial" panose="020B0604020202020204" pitchFamily="34" charset="0"/>
              </a:rPr>
              <a:t>• Time allowed – </a:t>
            </a:r>
          </a:p>
          <a:p>
            <a:pPr>
              <a:buClr>
                <a:srgbClr val="FF0000"/>
              </a:buClr>
              <a:buFont typeface="Symbol" pitchFamily="18" charset="2"/>
              <a:buChar char="§"/>
            </a:pPr>
            <a:r>
              <a:rPr lang="en-US" sz="2800" dirty="0">
                <a:solidFill>
                  <a:srgbClr val="FF0000"/>
                </a:solidFill>
                <a:latin typeface="Arial" panose="020B0604020202020204" pitchFamily="34" charset="0"/>
                <a:cs typeface="Arial" panose="020B0604020202020204" pitchFamily="34" charset="0"/>
              </a:rPr>
              <a:t>10 minutes for discussion &amp; 5 minutes for presentation</a:t>
            </a:r>
          </a:p>
          <a:p>
            <a:pPr>
              <a:buClr>
                <a:srgbClr val="FF0000"/>
              </a:buClr>
              <a:buFont typeface="Symbol" pitchFamily="18" charset="2"/>
              <a:buChar char="§"/>
            </a:pPr>
            <a:r>
              <a:rPr lang="en-US" sz="2800" dirty="0">
                <a:latin typeface="Arial" panose="020B0604020202020204" pitchFamily="34" charset="0"/>
                <a:cs typeface="Arial" panose="020B0604020202020204" pitchFamily="34" charset="0"/>
              </a:rPr>
              <a:t> Discuss on given part (ABCD)</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How do you assess it?</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What things cause abnormality to it?</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What interventions (management) can be taken? </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344B6038-F5D8-4285-A6FF-787307337102}"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119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b="1" dirty="0">
              <a:solidFill>
                <a:srgbClr val="FF0000"/>
              </a:solidFill>
              <a:latin typeface="Arial" panose="020B0604020202020204" pitchFamily="34" charset="0"/>
              <a:cs typeface="Arial" panose="020B0604020202020204" pitchFamily="34" charset="0"/>
            </a:endParaRPr>
          </a:p>
          <a:p>
            <a:endParaRPr lang="en-GB" b="1" dirty="0">
              <a:solidFill>
                <a:srgbClr val="FF0000"/>
              </a:solidFill>
              <a:latin typeface="Arial" panose="020B0604020202020204" pitchFamily="34" charset="0"/>
              <a:cs typeface="Arial" panose="020B0604020202020204" pitchFamily="34" charset="0"/>
            </a:endParaRPr>
          </a:p>
          <a:p>
            <a:r>
              <a:rPr lang="en-GB" sz="5400" b="1" dirty="0">
                <a:solidFill>
                  <a:srgbClr val="FF0000"/>
                </a:solidFill>
                <a:latin typeface="Arial" panose="020B0604020202020204" pitchFamily="34" charset="0"/>
                <a:cs typeface="Arial" panose="020B0604020202020204" pitchFamily="34" charset="0"/>
              </a:rPr>
              <a:t>Assessing the patient ‐</a:t>
            </a:r>
            <a:r>
              <a:rPr lang="en-GB" sz="5400" b="1" dirty="0">
                <a:latin typeface="Arial" panose="020B0604020202020204" pitchFamily="34" charset="0"/>
                <a:cs typeface="Arial" panose="020B0604020202020204" pitchFamily="34" charset="0"/>
              </a:rPr>
              <a:t> </a:t>
            </a:r>
            <a:r>
              <a:rPr lang="en-GB" sz="5400" b="1" dirty="0">
                <a:solidFill>
                  <a:srgbClr val="0070C0"/>
                </a:solidFill>
                <a:latin typeface="Arial" panose="020B0604020202020204" pitchFamily="34" charset="0"/>
                <a:cs typeface="Arial" panose="020B0604020202020204" pitchFamily="34" charset="0"/>
              </a:rPr>
              <a:t>ABCDE</a:t>
            </a:r>
            <a:endParaRPr lang="en-US" sz="5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443046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799" y="2121408"/>
            <a:ext cx="8077201" cy="4050792"/>
          </a:xfrm>
        </p:spPr>
        <p:txBody>
          <a:bodyPr>
            <a:normAutofit/>
          </a:bodyPr>
          <a:lstStyle/>
          <a:p>
            <a:pPr algn="just">
              <a:buFont typeface="Wingdings" pitchFamily="2" charset="2"/>
              <a:buChar char="§"/>
            </a:pPr>
            <a:r>
              <a:rPr lang="en-US" sz="2800" dirty="0">
                <a:solidFill>
                  <a:srgbClr val="FF0000"/>
                </a:solidFill>
                <a:latin typeface="Arial" panose="020B0604020202020204" pitchFamily="34" charset="0"/>
                <a:cs typeface="Arial" panose="020B0604020202020204" pitchFamily="34" charset="0"/>
              </a:rPr>
              <a:t>The aim of the airway assessment is</a:t>
            </a:r>
          </a:p>
          <a:p>
            <a:pPr lvl="1" algn="just"/>
            <a:r>
              <a:rPr lang="en-US" sz="28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to establish the patency of the airways and </a:t>
            </a:r>
          </a:p>
          <a:p>
            <a:pPr lvl="1" algn="just"/>
            <a:r>
              <a:rPr lang="en-US" sz="2400" dirty="0">
                <a:latin typeface="Arial" panose="020B0604020202020204" pitchFamily="34" charset="0"/>
                <a:cs typeface="Arial" panose="020B0604020202020204" pitchFamily="34" charset="0"/>
              </a:rPr>
              <a:t> to assess the risk of deterioration in the patient’s ability to protect their airways.</a:t>
            </a:r>
          </a:p>
          <a:p>
            <a:pPr lvl="1"/>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340526"/>
            <a:ext cx="83058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833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2121408"/>
            <a:ext cx="8305799" cy="4050792"/>
          </a:xfrm>
        </p:spPr>
        <p:txBody>
          <a:bodyPr>
            <a:normAutofit/>
          </a:bodyPr>
          <a:lstStyle/>
          <a:p>
            <a:pPr algn="just"/>
            <a:r>
              <a:rPr lang="en-US" sz="2800" dirty="0">
                <a:latin typeface="Arial" panose="020B0604020202020204" pitchFamily="34" charset="0"/>
                <a:cs typeface="Arial" panose="020B0604020202020204" pitchFamily="34" charset="0"/>
              </a:rPr>
              <a:t>The patient’s airway can be;</a:t>
            </a:r>
          </a:p>
          <a:p>
            <a:pPr lvl="1" algn="just"/>
            <a:r>
              <a:rPr lang="en-US" sz="2800" dirty="0">
                <a:latin typeface="Arial" panose="020B0604020202020204" pitchFamily="34" charset="0"/>
                <a:cs typeface="Arial" panose="020B0604020202020204" pitchFamily="34" charset="0"/>
              </a:rPr>
              <a:t> </a:t>
            </a:r>
            <a:r>
              <a:rPr lang="en-US" sz="2800" dirty="0">
                <a:solidFill>
                  <a:srgbClr val="FF0000"/>
                </a:solidFill>
                <a:latin typeface="Arial" panose="020B0604020202020204" pitchFamily="34" charset="0"/>
                <a:cs typeface="Arial" panose="020B0604020202020204" pitchFamily="34" charset="0"/>
              </a:rPr>
              <a:t>clear</a:t>
            </a:r>
            <a:r>
              <a:rPr lang="en-US" sz="2800" dirty="0">
                <a:latin typeface="Arial" panose="020B0604020202020204" pitchFamily="34" charset="0"/>
                <a:cs typeface="Arial" panose="020B0604020202020204" pitchFamily="34" charset="0"/>
              </a:rPr>
              <a:t> (if the patient is talking),</a:t>
            </a:r>
          </a:p>
          <a:p>
            <a:pPr lvl="1" algn="just"/>
            <a:r>
              <a:rPr lang="en-US" sz="2800" dirty="0">
                <a:latin typeface="Arial" panose="020B0604020202020204" pitchFamily="34" charset="0"/>
                <a:cs typeface="Arial" panose="020B0604020202020204" pitchFamily="34" charset="0"/>
              </a:rPr>
              <a:t>  </a:t>
            </a:r>
            <a:r>
              <a:rPr lang="en-US" sz="2800" dirty="0">
                <a:solidFill>
                  <a:srgbClr val="FF0000"/>
                </a:solidFill>
                <a:latin typeface="Arial" panose="020B0604020202020204" pitchFamily="34" charset="0"/>
                <a:cs typeface="Arial" panose="020B0604020202020204" pitchFamily="34" charset="0"/>
              </a:rPr>
              <a:t>partially obstructed </a:t>
            </a:r>
            <a:r>
              <a:rPr lang="en-US" sz="2800" dirty="0">
                <a:latin typeface="Arial" panose="020B0604020202020204" pitchFamily="34" charset="0"/>
                <a:cs typeface="Arial" panose="020B0604020202020204" pitchFamily="34" charset="0"/>
              </a:rPr>
              <a:t>(if air entry is diminished and often noisy) or </a:t>
            </a:r>
          </a:p>
          <a:p>
            <a:pPr lvl="1" algn="just"/>
            <a:r>
              <a:rPr lang="en-US" sz="2800" dirty="0">
                <a:latin typeface="Arial" panose="020B0604020202020204" pitchFamily="34" charset="0"/>
                <a:cs typeface="Arial" panose="020B0604020202020204" pitchFamily="34" charset="0"/>
              </a:rPr>
              <a:t> </a:t>
            </a:r>
            <a:r>
              <a:rPr lang="en-US" sz="2800" dirty="0">
                <a:solidFill>
                  <a:srgbClr val="FF0000"/>
                </a:solidFill>
                <a:latin typeface="Arial" panose="020B0604020202020204" pitchFamily="34" charset="0"/>
                <a:cs typeface="Arial" panose="020B0604020202020204" pitchFamily="34" charset="0"/>
              </a:rPr>
              <a:t>completely obstructed </a:t>
            </a:r>
            <a:r>
              <a:rPr lang="en-US" sz="2800" dirty="0">
                <a:latin typeface="Arial" panose="020B0604020202020204" pitchFamily="34" charset="0"/>
                <a:cs typeface="Arial" panose="020B0604020202020204" pitchFamily="34" charset="0"/>
              </a:rPr>
              <a:t>(if there are no breath sounds at the mouth or nose) </a:t>
            </a:r>
          </a:p>
          <a:p>
            <a:pPr marL="457200" lvl="1" indent="0" algn="just">
              <a:buNone/>
            </a:pPr>
            <a:r>
              <a:rPr lang="en-US" sz="2800" dirty="0">
                <a:solidFill>
                  <a:srgbClr val="92D050"/>
                </a:solidFill>
                <a:latin typeface="Arial" panose="020B0604020202020204" pitchFamily="34" charset="0"/>
                <a:cs typeface="Arial" panose="020B0604020202020204" pitchFamily="34" charset="0"/>
              </a:rPr>
              <a:t> (Resuscitation Council 2011).</a:t>
            </a:r>
          </a:p>
          <a:p>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340526"/>
            <a:ext cx="83058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873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152400" y="1570037"/>
            <a:ext cx="8853488" cy="4525963"/>
          </a:xfrm>
        </p:spPr>
        <p:txBody>
          <a:bodyPr>
            <a:normAutofit/>
          </a:bodyPr>
          <a:lstStyle/>
          <a:p>
            <a:endParaRPr lang="en-US" dirty="0"/>
          </a:p>
          <a:p>
            <a:endParaRPr lang="en-US" dirty="0"/>
          </a:p>
          <a:p>
            <a:endParaRPr lang="en-US" dirty="0"/>
          </a:p>
          <a:p>
            <a:endParaRPr lang="en-US" dirty="0"/>
          </a:p>
          <a:p>
            <a:endParaRPr lang="en-US" dirty="0"/>
          </a:p>
          <a:p>
            <a:pPr>
              <a:buClr>
                <a:srgbClr val="FF0000"/>
              </a:buClr>
              <a:buFont typeface="Symbol" pitchFamily="18" charset="2"/>
              <a:buChar char="ª"/>
            </a:pPr>
            <a:endParaRPr lang="en-US" dirty="0"/>
          </a:p>
          <a:p>
            <a:pPr>
              <a:buClr>
                <a:srgbClr val="FF0000"/>
              </a:buClr>
              <a:buFont typeface="Symbol" pitchFamily="18" charset="2"/>
              <a:buChar char="ª"/>
            </a:pPr>
            <a:endParaRPr lang="en-US" dirty="0"/>
          </a:p>
          <a:p>
            <a:pPr marL="0" indent="0">
              <a:buClr>
                <a:srgbClr val="FF0000"/>
              </a:buClr>
              <a:buNone/>
            </a:pPr>
            <a:endParaRPr lang="en-US" dirty="0"/>
          </a:p>
        </p:txBody>
      </p:sp>
      <p:sp>
        <p:nvSpPr>
          <p:cNvPr id="5" name="Date Placeholder 4"/>
          <p:cNvSpPr>
            <a:spLocks noGrp="1"/>
          </p:cNvSpPr>
          <p:nvPr>
            <p:ph type="dt" sz="half" idx="10"/>
          </p:nvPr>
        </p:nvSpPr>
        <p:spPr/>
        <p:txBody>
          <a:bodyPr/>
          <a:lstStyle/>
          <a:p>
            <a:fld id="{15D767B0-37FE-4D53-A64A-95AC2BBB4E53}" type="datetime4">
              <a:rPr lang="en-US" smtClean="0"/>
              <a:t>April 16,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70037"/>
            <a:ext cx="8548688" cy="5067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1" y="307275"/>
            <a:ext cx="83058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9734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402E-1CB4-AAE2-05D6-CA83BE2275B7}"/>
              </a:ext>
            </a:extLst>
          </p:cNvPr>
          <p:cNvSpPr>
            <a:spLocks noGrp="1"/>
          </p:cNvSpPr>
          <p:nvPr>
            <p:ph type="title"/>
          </p:nvPr>
        </p:nvSpPr>
        <p:spPr>
          <a:xfrm>
            <a:off x="710946" y="295656"/>
            <a:ext cx="7772400" cy="1609344"/>
          </a:xfrm>
        </p:spPr>
        <p:txBody>
          <a:bodyPr/>
          <a:lstStyle/>
          <a:p>
            <a:r>
              <a:rPr lang="en-US" cap="none" dirty="0">
                <a:latin typeface="Arial" panose="020B0604020202020204" pitchFamily="34" charset="0"/>
                <a:cs typeface="Arial" panose="020B0604020202020204" pitchFamily="34" charset="0"/>
              </a:rPr>
              <a:t>Airway Assessment…</a:t>
            </a:r>
          </a:p>
        </p:txBody>
      </p:sp>
      <p:sp>
        <p:nvSpPr>
          <p:cNvPr id="3" name="Content Placeholder 2">
            <a:extLst>
              <a:ext uri="{FF2B5EF4-FFF2-40B4-BE49-F238E27FC236}">
                <a16:creationId xmlns:a16="http://schemas.microsoft.com/office/drawing/2014/main" id="{7D0EF1F4-147B-6DD0-0BC5-DF6B46747FF5}"/>
              </a:ext>
            </a:extLst>
          </p:cNvPr>
          <p:cNvSpPr>
            <a:spLocks noGrp="1"/>
          </p:cNvSpPr>
          <p:nvPr>
            <p:ph idx="1"/>
          </p:nvPr>
        </p:nvSpPr>
        <p:spPr>
          <a:xfrm>
            <a:off x="660654" y="1598497"/>
            <a:ext cx="8277606" cy="4824985"/>
          </a:xfrm>
        </p:spPr>
        <p:txBody>
          <a:bodyPr>
            <a:noAutofit/>
          </a:bodyPr>
          <a:lstStyle/>
          <a:p>
            <a:pPr>
              <a:buFont typeface="Arial" panose="020B0604020202020204" pitchFamily="34" charset="0"/>
              <a:buChar char="•"/>
            </a:pPr>
            <a:r>
              <a:rPr lang="en-US" sz="2400" dirty="0">
                <a:latin typeface="Arial" panose="020B0604020202020204" pitchFamily="34" charset="0"/>
                <a:cs typeface="Arial" panose="020B0604020202020204" pitchFamily="34" charset="0"/>
              </a:rPr>
              <a:t> Talk to the patient – is the patient responding?</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•If so, the airway is intact.</a:t>
            </a:r>
          </a:p>
          <a:p>
            <a:r>
              <a:rPr lang="en-US" sz="2400" dirty="0">
                <a:latin typeface="Arial" panose="020B0604020202020204" pitchFamily="34" charset="0"/>
                <a:cs typeface="Arial" panose="020B0604020202020204" pitchFamily="34" charset="0"/>
              </a:rPr>
              <a:t>Is there evidence of airway obstruction (AWO)?</a:t>
            </a:r>
          </a:p>
          <a:p>
            <a:pPr lvl="1"/>
            <a:r>
              <a:rPr lang="en-US" sz="2400" dirty="0">
                <a:latin typeface="Arial" panose="020B0604020202020204" pitchFamily="34" charset="0"/>
                <a:cs typeface="Arial" panose="020B0604020202020204" pitchFamily="34" charset="0"/>
              </a:rPr>
              <a:t>If so,  partial or complete? </a:t>
            </a:r>
          </a:p>
          <a:p>
            <a:pPr>
              <a:buClr>
                <a:srgbClr val="FF0000"/>
              </a:buClr>
              <a:buFont typeface="Symbol" pitchFamily="18" charset="2"/>
              <a:buChar char="ª"/>
            </a:pPr>
            <a:r>
              <a:rPr lang="en-US" sz="2400" dirty="0">
                <a:solidFill>
                  <a:srgbClr val="FF0000"/>
                </a:solidFill>
                <a:latin typeface="Arial" panose="020B0604020202020204" pitchFamily="34" charset="0"/>
                <a:cs typeface="Arial" panose="020B0604020202020204" pitchFamily="34" charset="0"/>
              </a:rPr>
              <a:t>If partial AWO</a:t>
            </a:r>
            <a:br>
              <a:rPr lang="en-US" sz="2400" dirty="0">
                <a:solidFill>
                  <a:srgbClr val="FF0000"/>
                </a:solidFill>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Patient may complain of difficulty in breathing (if conscious)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Patient is distressed (if conscious)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Choking (if conscious)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Stridor or snoring may be present if upper airway obstruction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Wheeze may be present if lower airway obstruction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CD262F5C-ABF7-E72E-2679-6CD65E11D19F}"/>
              </a:ext>
            </a:extLst>
          </p:cNvPr>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a:extLst>
              <a:ext uri="{FF2B5EF4-FFF2-40B4-BE49-F238E27FC236}">
                <a16:creationId xmlns:a16="http://schemas.microsoft.com/office/drawing/2014/main" id="{1531A758-9DC2-B90A-CA95-FB0298AC2AA7}"/>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231627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Arial" panose="020B0604020202020204" pitchFamily="34" charset="0"/>
              <a:buChar char="•"/>
            </a:pPr>
            <a:r>
              <a:rPr lang="en-US" cap="none" dirty="0">
                <a:latin typeface="Arial" panose="020B0604020202020204" pitchFamily="34" charset="0"/>
                <a:cs typeface="Arial" panose="020B0604020202020204" pitchFamily="34" charset="0"/>
              </a:rPr>
              <a:t>Airway Assessment…</a:t>
            </a:r>
            <a:endParaRPr lang="en-US" dirty="0"/>
          </a:p>
        </p:txBody>
      </p:sp>
      <p:sp>
        <p:nvSpPr>
          <p:cNvPr id="3" name="Content Placeholder 2"/>
          <p:cNvSpPr>
            <a:spLocks noGrp="1"/>
          </p:cNvSpPr>
          <p:nvPr>
            <p:ph idx="1"/>
          </p:nvPr>
        </p:nvSpPr>
        <p:spPr>
          <a:xfrm>
            <a:off x="685800" y="2121408"/>
            <a:ext cx="8077200" cy="4050792"/>
          </a:xfrm>
        </p:spPr>
        <p:txBody>
          <a:bodyPr>
            <a:noAutofit/>
          </a:bodyPr>
          <a:lstStyle/>
          <a:p>
            <a:pPr lvl="1">
              <a:lnSpc>
                <a:spcPct val="150000"/>
              </a:lnSpc>
              <a:buClr>
                <a:schemeClr val="tx1"/>
              </a:buClr>
              <a:buFont typeface="Arial" panose="020B0604020202020204" pitchFamily="34" charset="0"/>
              <a:buChar char="•"/>
            </a:pPr>
            <a:r>
              <a:rPr lang="en-US" sz="2400" dirty="0">
                <a:latin typeface="Arial" panose="020B0604020202020204" pitchFamily="34" charset="0"/>
                <a:cs typeface="Arial" panose="020B0604020202020204" pitchFamily="34" charset="0"/>
              </a:rPr>
              <a:t>If complete (patient likely to be unconscious)</a:t>
            </a:r>
          </a:p>
          <a:p>
            <a:pPr lvl="3">
              <a:lnSpc>
                <a:spcPct val="150000"/>
              </a:lnSpc>
              <a:buClr>
                <a:schemeClr val="tx1"/>
              </a:buClr>
              <a:buFont typeface="Arial" panose="020B0604020202020204" pitchFamily="34" charset="0"/>
              <a:buChar char="•"/>
            </a:pPr>
            <a:r>
              <a:rPr lang="en-US" sz="2200" dirty="0">
                <a:latin typeface="Arial" panose="020B0604020202020204" pitchFamily="34" charset="0"/>
                <a:cs typeface="Arial" panose="020B0604020202020204" pitchFamily="34" charset="0"/>
              </a:rPr>
              <a:t>Respiration silent</a:t>
            </a:r>
          </a:p>
          <a:p>
            <a:pPr lvl="3">
              <a:lnSpc>
                <a:spcPct val="150000"/>
              </a:lnSpc>
              <a:buClr>
                <a:schemeClr val="tx1"/>
              </a:buClr>
              <a:buFont typeface="Arial" panose="020B0604020202020204" pitchFamily="34" charset="0"/>
              <a:buChar char="•"/>
            </a:pPr>
            <a:r>
              <a:rPr lang="en-US" sz="2200" dirty="0">
                <a:latin typeface="Arial" panose="020B0604020202020204" pitchFamily="34" charset="0"/>
                <a:cs typeface="Arial" panose="020B0604020202020204" pitchFamily="34" charset="0"/>
              </a:rPr>
              <a:t>No air movement at patient’s mouth</a:t>
            </a:r>
          </a:p>
          <a:p>
            <a:pPr lvl="3">
              <a:lnSpc>
                <a:spcPct val="150000"/>
              </a:lnSpc>
              <a:buClr>
                <a:schemeClr val="tx1"/>
              </a:buClr>
              <a:buFont typeface="Arial" panose="020B0604020202020204" pitchFamily="34" charset="0"/>
              <a:buChar char="•"/>
            </a:pPr>
            <a:r>
              <a:rPr lang="en-US" sz="2200" dirty="0">
                <a:latin typeface="Arial" panose="020B0604020202020204" pitchFamily="34" charset="0"/>
                <a:cs typeface="Arial" panose="020B0604020202020204" pitchFamily="34" charset="0"/>
              </a:rPr>
              <a:t> Respiratory movement are strenuous</a:t>
            </a:r>
          </a:p>
          <a:p>
            <a:pPr lvl="3">
              <a:lnSpc>
                <a:spcPct val="150000"/>
              </a:lnSpc>
              <a:buClr>
                <a:schemeClr val="tx1"/>
              </a:buClr>
              <a:buFont typeface="Arial" panose="020B0604020202020204" pitchFamily="34" charset="0"/>
              <a:buChar char="•"/>
            </a:pPr>
            <a:r>
              <a:rPr lang="en-US" sz="2200" dirty="0">
                <a:latin typeface="Arial" panose="020B0604020202020204" pitchFamily="34" charset="0"/>
                <a:cs typeface="Arial" panose="020B0604020202020204" pitchFamily="34" charset="0"/>
              </a:rPr>
              <a:t>“</a:t>
            </a:r>
            <a:r>
              <a:rPr lang="en-US" sz="2200" dirty="0">
                <a:solidFill>
                  <a:srgbClr val="FF0000"/>
                </a:solidFill>
                <a:latin typeface="Arial" panose="020B0604020202020204" pitchFamily="34" charset="0"/>
                <a:cs typeface="Arial" panose="020B0604020202020204" pitchFamily="34" charset="0"/>
              </a:rPr>
              <a:t>see saw” </a:t>
            </a:r>
            <a:r>
              <a:rPr lang="en-US" sz="2200" dirty="0">
                <a:latin typeface="Arial" panose="020B0604020202020204" pitchFamily="34" charset="0"/>
                <a:cs typeface="Arial" panose="020B0604020202020204" pitchFamily="34" charset="0"/>
              </a:rPr>
              <a:t>pattern of chest &amp; abdominal movement</a:t>
            </a:r>
          </a:p>
          <a:p>
            <a:pPr lvl="3">
              <a:lnSpc>
                <a:spcPct val="150000"/>
              </a:lnSpc>
              <a:buClr>
                <a:schemeClr val="tx1"/>
              </a:buClr>
              <a:buFont typeface="Arial" panose="020B0604020202020204" pitchFamily="34" charset="0"/>
              <a:buChar char="•"/>
            </a:pPr>
            <a:r>
              <a:rPr lang="en-US" sz="2200" b="0" dirty="0">
                <a:latin typeface="Arial" panose="020B0604020202020204" pitchFamily="34" charset="0"/>
                <a:cs typeface="Arial" panose="020B0604020202020204" pitchFamily="34" charset="0"/>
              </a:rPr>
              <a:t>indrawing at sternal notch</a:t>
            </a:r>
          </a:p>
          <a:p>
            <a:pPr lvl="1">
              <a:lnSpc>
                <a:spcPct val="150000"/>
              </a:lnSpc>
              <a:buClr>
                <a:schemeClr val="tx1"/>
              </a:buClr>
              <a:buFont typeface="Arial" panose="020B0604020202020204" pitchFamily="34" charset="0"/>
              <a:buChar char="•"/>
            </a:pP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pPr marL="171450" indent="-171450">
              <a:buFont typeface="Arial" panose="020B0604020202020204" pitchFamily="34" charset="0"/>
              <a:buChar char="•"/>
            </a:pPr>
            <a:fld id="{BA4F0A29-D461-4F18-BB7B-6DAA4524B80B}" type="datetime4">
              <a:rPr lang="en-US" smtClean="0"/>
              <a:pPr marL="171450" indent="-171450">
                <a:buFont typeface="Arial" panose="020B0604020202020204" pitchFamily="34" charset="0"/>
                <a:buChar char="•"/>
              </a:pPr>
              <a:t>April 16, 2026</a:t>
            </a:fld>
            <a:endParaRPr lang="en-US"/>
          </a:p>
        </p:txBody>
      </p:sp>
      <p:sp>
        <p:nvSpPr>
          <p:cNvPr id="5" name="Slide Number Placeholder 4"/>
          <p:cNvSpPr>
            <a:spLocks noGrp="1"/>
          </p:cNvSpPr>
          <p:nvPr>
            <p:ph type="sldNum" sz="quarter" idx="12"/>
          </p:nvPr>
        </p:nvSpPr>
        <p:spPr/>
        <p:txBody>
          <a:bodyPr/>
          <a:lstStyle/>
          <a:p>
            <a:pPr marL="171450" indent="-171450">
              <a:buFont typeface="Arial" panose="020B0604020202020204" pitchFamily="34" charset="0"/>
              <a:buChar char="•"/>
            </a:pPr>
            <a:fld id="{B6F15528-21DE-4FAA-801E-634DDDAF4B2B}" type="slidenum">
              <a:rPr lang="en-US" smtClean="0"/>
              <a:pPr marL="171450" indent="-171450">
                <a:buFont typeface="Arial" panose="020B0604020202020204" pitchFamily="34" charset="0"/>
                <a:buChar char="•"/>
              </a:pPr>
              <a:t>30</a:t>
            </a:fld>
            <a:endParaRPr lang="en-US"/>
          </a:p>
        </p:txBody>
      </p:sp>
    </p:spTree>
    <p:extLst>
      <p:ext uri="{BB962C8B-B14F-4D97-AF65-F5344CB8AC3E}">
        <p14:creationId xmlns:p14="http://schemas.microsoft.com/office/powerpoint/2010/main" val="2161648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Airway Assessment…</a:t>
            </a:r>
            <a:endParaRPr lang="en-US" dirty="0"/>
          </a:p>
        </p:txBody>
      </p:sp>
      <p:sp>
        <p:nvSpPr>
          <p:cNvPr id="3" name="Content Placeholder 2"/>
          <p:cNvSpPr>
            <a:spLocks noGrp="1"/>
          </p:cNvSpPr>
          <p:nvPr>
            <p:ph idx="1"/>
          </p:nvPr>
        </p:nvSpPr>
        <p:spPr/>
        <p:txBody>
          <a:bodyPr>
            <a:noAutofit/>
          </a:bodyPr>
          <a:lstStyle/>
          <a:p>
            <a:pPr>
              <a:lnSpc>
                <a:spcPct val="80000"/>
              </a:lnSpc>
              <a:buFont typeface="Wingdings" pitchFamily="2" charset="2"/>
              <a:buChar char="q"/>
              <a:defRPr/>
            </a:pPr>
            <a:r>
              <a:rPr lang="en-US" sz="2400" dirty="0">
                <a:solidFill>
                  <a:srgbClr val="FF0000"/>
                </a:solidFill>
                <a:latin typeface="Arial" panose="020B0604020202020204" pitchFamily="34" charset="0"/>
                <a:cs typeface="Arial" panose="020B0604020202020204" pitchFamily="34" charset="0"/>
              </a:rPr>
              <a:t>Threatened or obstructed airway</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Stridor, intercostal recession</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Respiratory arrest</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Respiratory rate &lt; 8 or &gt; 35/min</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Respiratory ‘distress’: use of accessory muscles</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 unable to speak in complete sentences</a:t>
            </a:r>
          </a:p>
          <a:p>
            <a:pPr lvl="1">
              <a:lnSpc>
                <a:spcPct val="80000"/>
              </a:lnSpc>
              <a:buFont typeface="Symbol" pitchFamily="18" charset="2"/>
              <a:buChar char="§"/>
              <a:defRPr/>
            </a:pPr>
            <a:r>
              <a:rPr lang="en-US" sz="2400" i="1" dirty="0">
                <a:latin typeface="Arial" panose="020B0604020202020204" pitchFamily="34" charset="0"/>
                <a:cs typeface="Arial" panose="020B0604020202020204" pitchFamily="34" charset="0"/>
              </a:rPr>
              <a:t>Sp</a:t>
            </a:r>
            <a:r>
              <a:rPr lang="en-US" sz="2400" dirty="0">
                <a:latin typeface="Arial" panose="020B0604020202020204" pitchFamily="34" charset="0"/>
                <a:cs typeface="Arial" panose="020B0604020202020204" pitchFamily="34" charset="0"/>
              </a:rPr>
              <a:t>O2 &lt; 90% on high-flow O2</a:t>
            </a:r>
          </a:p>
          <a:p>
            <a:pPr lvl="1">
              <a:lnSpc>
                <a:spcPct val="80000"/>
              </a:lnSpc>
              <a:buFont typeface="Symbol" pitchFamily="18" charset="2"/>
              <a:buChar char="§"/>
              <a:defRPr/>
            </a:pPr>
            <a:r>
              <a:rPr lang="en-US" sz="2400" dirty="0">
                <a:latin typeface="Arial" panose="020B0604020202020204" pitchFamily="34" charset="0"/>
                <a:cs typeface="Arial" panose="020B0604020202020204" pitchFamily="34" charset="0"/>
              </a:rPr>
              <a:t>Rising </a:t>
            </a:r>
            <a:r>
              <a:rPr lang="en-US" sz="2400" i="1" dirty="0">
                <a:latin typeface="Arial" panose="020B0604020202020204" pitchFamily="34" charset="0"/>
                <a:cs typeface="Arial" panose="020B0604020202020204" pitchFamily="34" charset="0"/>
              </a:rPr>
              <a:t>Pa</a:t>
            </a:r>
            <a:r>
              <a:rPr lang="en-US" sz="2400" dirty="0">
                <a:latin typeface="Arial" panose="020B0604020202020204" pitchFamily="34" charset="0"/>
                <a:cs typeface="Arial" panose="020B0604020202020204" pitchFamily="34" charset="0"/>
              </a:rPr>
              <a:t>CO2 &gt; 8 kPa (&gt; 60 mmHg) or &gt; 2 kPa (&gt; 15 mmHg) above normal’ with acidosis</a:t>
            </a:r>
          </a:p>
          <a:p>
            <a:pPr>
              <a:buFont typeface="Symbol" pitchFamily="18" charset="2"/>
              <a:buChar char="§"/>
            </a:pP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7DEDB616-634D-42A4-9E91-A4525018197E}"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153542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Causes of </a:t>
            </a:r>
            <a:r>
              <a:rPr lang="en-US" dirty="0">
                <a:latin typeface="Arial" panose="020B0604020202020204" pitchFamily="34" charset="0"/>
                <a:cs typeface="Arial" panose="020B0604020202020204" pitchFamily="34" charset="0"/>
              </a:rPr>
              <a:t>AWO</a:t>
            </a:r>
          </a:p>
        </p:txBody>
      </p:sp>
      <p:sp>
        <p:nvSpPr>
          <p:cNvPr id="3" name="Content Placeholder 2"/>
          <p:cNvSpPr>
            <a:spLocks noGrp="1"/>
          </p:cNvSpPr>
          <p:nvPr>
            <p:ph idx="1"/>
          </p:nvPr>
        </p:nvSpPr>
        <p:spPr/>
        <p:txBody>
          <a:bodyPr>
            <a:normAutofit/>
          </a:bodyPr>
          <a:lstStyle/>
          <a:p>
            <a:pPr marL="0" indent="0">
              <a:buNone/>
            </a:pP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CNS depression leading to loss of airway control</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Face or throat trauma</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Foreign body e.g., tooth / food / vomitus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Pharyngeal swelling</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Epiglottitis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Laryngospasm</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Bronchospasm</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Bronchial secretions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04C69D81-F898-44DB-B74A-C698620A142A}"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41879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sz="4400" cap="none" dirty="0">
                <a:latin typeface="Arial" panose="020B0604020202020204" pitchFamily="34" charset="0"/>
                <a:cs typeface="Arial" panose="020B0604020202020204" pitchFamily="34" charset="0"/>
              </a:rPr>
              <a:t>Airway Management</a:t>
            </a:r>
          </a:p>
        </p:txBody>
      </p:sp>
      <p:sp>
        <p:nvSpPr>
          <p:cNvPr id="3" name="Content Placeholder 2"/>
          <p:cNvSpPr>
            <a:spLocks noGrp="1"/>
          </p:cNvSpPr>
          <p:nvPr>
            <p:ph idx="1"/>
          </p:nvPr>
        </p:nvSpPr>
        <p:spPr>
          <a:xfrm>
            <a:off x="457200" y="2093976"/>
            <a:ext cx="8382000" cy="4230624"/>
          </a:xfrm>
        </p:spPr>
        <p:txBody>
          <a:bodyPr>
            <a:noAutofit/>
          </a:bodyPr>
          <a:lstStyle/>
          <a:p>
            <a:pPr lvl="1">
              <a:lnSpc>
                <a:spcPct val="150000"/>
              </a:lnSpc>
              <a:buClr>
                <a:srgbClr val="FF0000"/>
              </a:buClr>
              <a:buFont typeface="Symbol" pitchFamily="18" charset="2"/>
              <a:buChar char="ª"/>
            </a:pPr>
            <a:r>
              <a:rPr lang="en-US" sz="2200" dirty="0">
                <a:latin typeface="Arial" panose="020B0604020202020204" pitchFamily="34" charset="0"/>
                <a:cs typeface="Arial" panose="020B0604020202020204" pitchFamily="34" charset="0"/>
              </a:rPr>
              <a:t>If evidence of airway obstruction – act immediately &amp; get help</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Remove anything from mouth i.e. suction secretions / vomit</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Airway manoeuvres (head tilt, chin lift or jaw thrust)</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Use oropharyngeal airway or nasopharyngeal airway</a:t>
            </a:r>
          </a:p>
          <a:p>
            <a:pPr marL="274320" lvl="2" indent="0">
              <a:lnSpc>
                <a:spcPct val="150000"/>
              </a:lnSpc>
              <a:buClr>
                <a:srgbClr val="FF0000"/>
              </a:buClr>
              <a:buNone/>
            </a:pPr>
            <a:r>
              <a:rPr lang="en-US" sz="2200" dirty="0">
                <a:latin typeface="Arial" panose="020B0604020202020204" pitchFamily="34" charset="0"/>
                <a:cs typeface="Arial" panose="020B0604020202020204" pitchFamily="34" charset="0"/>
              </a:rPr>
              <a:t>     –  </a:t>
            </a:r>
            <a:r>
              <a:rPr lang="en-GB" sz="2200" dirty="0">
                <a:latin typeface="Arial" panose="020B0604020202020204" pitchFamily="34" charset="0"/>
                <a:cs typeface="Arial" panose="020B0604020202020204" pitchFamily="34" charset="0"/>
              </a:rPr>
              <a:t>Supplement oxygen</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 </a:t>
            </a:r>
            <a:r>
              <a:rPr lang="en-GB" sz="2200" dirty="0">
                <a:latin typeface="Arial" panose="020B0604020202020204" pitchFamily="34" charset="0"/>
                <a:cs typeface="Arial" panose="020B0604020202020204" pitchFamily="34" charset="0"/>
              </a:rPr>
              <a:t>Maintain patent air way </a:t>
            </a:r>
          </a:p>
          <a:p>
            <a:pPr lvl="2">
              <a:lnSpc>
                <a:spcPct val="150000"/>
              </a:lnSpc>
              <a:buClr>
                <a:srgbClr val="FF0000"/>
              </a:buClr>
              <a:buFont typeface="Arial" pitchFamily="34" charset="0"/>
              <a:buChar char="•"/>
            </a:pPr>
            <a:r>
              <a:rPr lang="en-US" sz="2200" dirty="0">
                <a:latin typeface="Arial" panose="020B0604020202020204" pitchFamily="34" charset="0"/>
                <a:cs typeface="Arial" panose="020B0604020202020204" pitchFamily="34" charset="0"/>
              </a:rPr>
              <a:t>Consider need for ETTI or tracheostomy (very rarely required)</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4CC6D8E8-3F93-43E6-9253-3AE709D5782F}"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6009177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cap="none" dirty="0">
                <a:latin typeface="Arial" panose="020B0604020202020204" pitchFamily="34" charset="0"/>
                <a:cs typeface="Arial" panose="020B0604020202020204" pitchFamily="34" charset="0"/>
              </a:rPr>
              <a:t>Airway Management</a:t>
            </a:r>
            <a:r>
              <a:rPr lang="en-US" dirty="0"/>
              <a:t>…</a:t>
            </a:r>
          </a:p>
        </p:txBody>
      </p:sp>
      <p:sp>
        <p:nvSpPr>
          <p:cNvPr id="3" name="Content Placeholder 2"/>
          <p:cNvSpPr>
            <a:spLocks noGrp="1"/>
          </p:cNvSpPr>
          <p:nvPr>
            <p:ph idx="1"/>
          </p:nvPr>
        </p:nvSpPr>
        <p:spPr>
          <a:xfrm>
            <a:off x="685800" y="2121408"/>
            <a:ext cx="8277606" cy="4050792"/>
          </a:xfrm>
        </p:spPr>
        <p:txBody>
          <a:bodyPr>
            <a:normAutofit/>
          </a:bodyPr>
          <a:lstStyle/>
          <a:p>
            <a:pPr>
              <a:lnSpc>
                <a:spcPct val="150000"/>
              </a:lnSpc>
            </a:pPr>
            <a:r>
              <a:rPr lang="en-US" sz="2200" dirty="0">
                <a:solidFill>
                  <a:prstClr val="black"/>
                </a:solidFill>
                <a:latin typeface="Arial" panose="020B0604020202020204" pitchFamily="34" charset="0"/>
                <a:cs typeface="Arial" panose="020B0604020202020204" pitchFamily="34" charset="0"/>
              </a:rPr>
              <a:t>Treat any patient with depressed LOC (GCS &lt; 8) as at risk of AWO</a:t>
            </a:r>
          </a:p>
          <a:p>
            <a:pPr marL="274320" lvl="1" indent="0">
              <a:lnSpc>
                <a:spcPct val="150000"/>
              </a:lnSpc>
              <a:buNone/>
            </a:pPr>
            <a:r>
              <a:rPr lang="en-US" sz="2000" dirty="0">
                <a:solidFill>
                  <a:prstClr val="black"/>
                </a:solidFill>
                <a:latin typeface="Arial" panose="020B0604020202020204" pitchFamily="34" charset="0"/>
                <a:cs typeface="Arial" panose="020B0604020202020204" pitchFamily="34" charset="0"/>
              </a:rPr>
              <a:t>• </a:t>
            </a:r>
            <a:r>
              <a:rPr lang="en-US" sz="2400" dirty="0">
                <a:solidFill>
                  <a:prstClr val="black"/>
                </a:solidFill>
                <a:latin typeface="Arial" panose="020B0604020202020204" pitchFamily="34" charset="0"/>
                <a:cs typeface="Arial" panose="020B0604020202020204" pitchFamily="34" charset="0"/>
              </a:rPr>
              <a:t>If at risk of airway obstruction but currently airway is patent:</a:t>
            </a:r>
            <a:br>
              <a:rPr lang="en-US" sz="2400" dirty="0">
                <a:solidFill>
                  <a:prstClr val="black"/>
                </a:solidFill>
                <a:latin typeface="Arial" panose="020B0604020202020204" pitchFamily="34" charset="0"/>
                <a:cs typeface="Arial" panose="020B0604020202020204" pitchFamily="34" charset="0"/>
              </a:rPr>
            </a:br>
            <a:r>
              <a:rPr lang="en-US" sz="2000" dirty="0">
                <a:solidFill>
                  <a:prstClr val="black"/>
                </a:solidFill>
                <a:latin typeface="Arial" panose="020B0604020202020204" pitchFamily="34" charset="0"/>
                <a:cs typeface="Arial" panose="020B0604020202020204" pitchFamily="34" charset="0"/>
              </a:rPr>
              <a:t>– Remove anything from mouth i.e.. suction secretions / vomit</a:t>
            </a:r>
            <a:br>
              <a:rPr lang="en-US" sz="2000" dirty="0">
                <a:solidFill>
                  <a:prstClr val="black"/>
                </a:solidFill>
                <a:latin typeface="Arial" panose="020B0604020202020204" pitchFamily="34" charset="0"/>
                <a:cs typeface="Arial" panose="020B0604020202020204" pitchFamily="34" charset="0"/>
              </a:rPr>
            </a:br>
            <a:r>
              <a:rPr lang="en-US" sz="2000" dirty="0">
                <a:solidFill>
                  <a:prstClr val="black"/>
                </a:solidFill>
                <a:latin typeface="Arial" panose="020B0604020202020204" pitchFamily="34" charset="0"/>
                <a:cs typeface="Arial" panose="020B0604020202020204" pitchFamily="34" charset="0"/>
              </a:rPr>
              <a:t>– Turn the patient into lateral position (recovery position)</a:t>
            </a:r>
            <a:br>
              <a:rPr lang="en-US" sz="2000" dirty="0">
                <a:solidFill>
                  <a:prstClr val="black"/>
                </a:solidFill>
                <a:latin typeface="Arial" panose="020B0604020202020204" pitchFamily="34" charset="0"/>
                <a:cs typeface="Arial" panose="020B0604020202020204" pitchFamily="34" charset="0"/>
              </a:rPr>
            </a:br>
            <a:r>
              <a:rPr lang="en-US" sz="2000" dirty="0">
                <a:solidFill>
                  <a:prstClr val="black"/>
                </a:solidFill>
                <a:latin typeface="Arial" panose="020B0604020202020204" pitchFamily="34" charset="0"/>
                <a:cs typeface="Arial" panose="020B0604020202020204" pitchFamily="34" charset="0"/>
              </a:rPr>
              <a:t>– Give oxygen (if necessary move the patient)</a:t>
            </a:r>
            <a:endParaRPr lang="en-US" sz="20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F26F71D0-ED62-42E9-A277-139324668F4F}"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966159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00600"/>
          </a:xfrm>
        </p:spPr>
        <p:txBody>
          <a:bodyPr>
            <a:normAutofit fontScale="92500" lnSpcReduction="10000"/>
          </a:bodyPr>
          <a:lstStyle/>
          <a:p>
            <a:pPr>
              <a:lnSpc>
                <a:spcPct val="150000"/>
              </a:lnSpc>
            </a:pPr>
            <a:r>
              <a:rPr lang="en-US" sz="2400" dirty="0">
                <a:latin typeface="Arial" panose="020B0604020202020204" pitchFamily="34" charset="0"/>
                <a:cs typeface="Arial" panose="020B0604020202020204" pitchFamily="34" charset="0"/>
              </a:rPr>
              <a:t>Breathing function should only be assessed and managed after the airway has been judged as adequate.</a:t>
            </a:r>
          </a:p>
          <a:p>
            <a:pPr>
              <a:lnSpc>
                <a:spcPct val="150000"/>
              </a:lnSpc>
            </a:pPr>
            <a:r>
              <a:rPr lang="en-US" sz="2400" dirty="0">
                <a:latin typeface="Arial" panose="020B0604020202020204" pitchFamily="34" charset="0"/>
                <a:cs typeface="Arial" panose="020B0604020202020204" pitchFamily="34" charset="0"/>
              </a:rPr>
              <a:t>Assessment of breathing is designed to detect signs of respiratory distress or inadequate ventilation (</a:t>
            </a:r>
            <a:r>
              <a:rPr lang="en-US" sz="2400" dirty="0">
                <a:solidFill>
                  <a:srgbClr val="FF0000"/>
                </a:solidFill>
                <a:latin typeface="Arial" panose="020B0604020202020204" pitchFamily="34" charset="0"/>
                <a:cs typeface="Arial" panose="020B0604020202020204" pitchFamily="34" charset="0"/>
              </a:rPr>
              <a:t>Smith 2003</a:t>
            </a:r>
            <a:r>
              <a:rPr lang="en-US" sz="2400" dirty="0">
                <a:latin typeface="Arial" panose="020B0604020202020204" pitchFamily="34" charset="0"/>
                <a:cs typeface="Arial" panose="020B0604020202020204" pitchFamily="34" charset="0"/>
              </a:rPr>
              <a:t>).</a:t>
            </a:r>
          </a:p>
          <a:p>
            <a:pPr>
              <a:lnSpc>
                <a:spcPct val="150000"/>
              </a:lnSpc>
            </a:pPr>
            <a:r>
              <a:rPr lang="en-US" sz="2400" dirty="0">
                <a:latin typeface="Arial" panose="020B0604020202020204" pitchFamily="34" charset="0"/>
                <a:cs typeface="Arial" panose="020B0604020202020204" pitchFamily="34" charset="0"/>
              </a:rPr>
              <a:t>Look for the</a:t>
            </a:r>
            <a:r>
              <a:rPr lang="en-US" sz="2400" b="1" dirty="0">
                <a:latin typeface="Arial" panose="020B0604020202020204" pitchFamily="34" charset="0"/>
                <a:cs typeface="Arial" panose="020B0604020202020204" pitchFamily="34" charset="0"/>
              </a:rPr>
              <a:t> general signs of respiratory distress</a:t>
            </a:r>
            <a:r>
              <a:rPr lang="en-US" sz="2400" dirty="0">
                <a:latin typeface="Arial" panose="020B0604020202020204" pitchFamily="34" charset="0"/>
                <a:cs typeface="Arial" panose="020B0604020202020204" pitchFamily="34" charset="0"/>
              </a:rPr>
              <a:t> such as </a:t>
            </a:r>
          </a:p>
          <a:p>
            <a:pPr lvl="2">
              <a:lnSpc>
                <a:spcPct val="150000"/>
              </a:lnSpc>
            </a:pPr>
            <a:r>
              <a:rPr lang="en-US" sz="2200" dirty="0">
                <a:latin typeface="Arial" panose="020B0604020202020204" pitchFamily="34" charset="0"/>
                <a:cs typeface="Arial" panose="020B0604020202020204" pitchFamily="34" charset="0"/>
              </a:rPr>
              <a:t>sweating, </a:t>
            </a:r>
          </a:p>
          <a:p>
            <a:pPr lvl="2">
              <a:lnSpc>
                <a:spcPct val="150000"/>
              </a:lnSpc>
            </a:pPr>
            <a:r>
              <a:rPr lang="en-US" sz="2200" dirty="0">
                <a:latin typeface="Arial" panose="020B0604020202020204" pitchFamily="34" charset="0"/>
                <a:cs typeface="Arial" panose="020B0604020202020204" pitchFamily="34" charset="0"/>
              </a:rPr>
              <a:t>the effort needed to breathe, </a:t>
            </a:r>
          </a:p>
          <a:p>
            <a:pPr lvl="2">
              <a:lnSpc>
                <a:spcPct val="150000"/>
              </a:lnSpc>
            </a:pPr>
            <a:r>
              <a:rPr lang="en-US" sz="2200" dirty="0">
                <a:latin typeface="Arial" panose="020B0604020202020204" pitchFamily="34" charset="0"/>
                <a:cs typeface="Arial" panose="020B0604020202020204" pitchFamily="34" charset="0"/>
              </a:rPr>
              <a:t>abdominal breathing and </a:t>
            </a:r>
          </a:p>
          <a:p>
            <a:pPr lvl="2">
              <a:lnSpc>
                <a:spcPct val="150000"/>
              </a:lnSpc>
            </a:pPr>
            <a:r>
              <a:rPr lang="en-US" sz="2200" dirty="0">
                <a:latin typeface="Arial" panose="020B0604020202020204" pitchFamily="34" charset="0"/>
                <a:cs typeface="Arial" panose="020B0604020202020204" pitchFamily="34" charset="0"/>
              </a:rPr>
              <a:t>central cyanosis.</a:t>
            </a:r>
            <a:endParaRPr lang="en-US" sz="2200" b="1" dirty="0">
              <a:solidFill>
                <a:srgbClr val="FF0000"/>
              </a:solidFill>
              <a:latin typeface="Arial" panose="020B0604020202020204" pitchFamily="34" charset="0"/>
              <a:cs typeface="Arial" panose="020B0604020202020204" pitchFamily="34" charset="0"/>
            </a:endParaRPr>
          </a:p>
          <a:p>
            <a:pPr>
              <a:lnSpc>
                <a:spcPct val="150000"/>
              </a:lnSpc>
              <a:buFont typeface="Wingdings" pitchFamily="2" charset="2"/>
              <a:buChar char="ü"/>
            </a:pP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0AB90913-31FE-420F-80C4-5DAB93BCF39B}"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
            <a:ext cx="85344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049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726058"/>
          </a:xfrm>
        </p:spPr>
        <p:txBody>
          <a:bodyPr/>
          <a:lstStyle/>
          <a:p>
            <a:r>
              <a:rPr lang="en-US" cap="none" dirty="0">
                <a:latin typeface="Times New Roman" pitchFamily="18" charset="0"/>
                <a:cs typeface="Times New Roman" pitchFamily="18" charset="0"/>
              </a:rPr>
              <a:t>Breathing</a:t>
            </a:r>
            <a:r>
              <a:rPr lang="en-US" dirty="0">
                <a:latin typeface="Times New Roman" pitchFamily="18" charset="0"/>
                <a:cs typeface="Times New Roman" pitchFamily="18" charset="0"/>
              </a:rPr>
              <a:t>…</a:t>
            </a:r>
          </a:p>
        </p:txBody>
      </p:sp>
      <p:sp>
        <p:nvSpPr>
          <p:cNvPr id="3" name="Content Placeholder 2"/>
          <p:cNvSpPr>
            <a:spLocks noGrp="1"/>
          </p:cNvSpPr>
          <p:nvPr>
            <p:ph idx="1"/>
          </p:nvPr>
        </p:nvSpPr>
        <p:spPr>
          <a:xfrm>
            <a:off x="457200" y="1295400"/>
            <a:ext cx="8229600" cy="5257800"/>
          </a:xfrm>
        </p:spPr>
        <p:txBody>
          <a:bodyPr>
            <a:normAutofit/>
          </a:bodyPr>
          <a:lstStyle/>
          <a:p>
            <a:r>
              <a:rPr lang="en-US" dirty="0">
                <a:latin typeface="Arial" panose="020B0604020202020204" pitchFamily="34" charset="0"/>
                <a:cs typeface="Arial" panose="020B0604020202020204" pitchFamily="34" charset="0"/>
              </a:rPr>
              <a:t>Inspection - evidence respiratory distress?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Central cyanosis?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Noisy breathing?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Respiratory rate? A RR of over 25/min is highly suggestive of critical illness, and close monitoring is essential.</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JVP?</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Adequacy and equality of chest expansion?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Palpation - trachea, chest wall</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Percussion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Auscultation</a:t>
            </a:r>
          </a:p>
          <a:p>
            <a:pPr lvl="1"/>
            <a:r>
              <a:rPr lang="en-US" dirty="0">
                <a:latin typeface="Arial" panose="020B0604020202020204" pitchFamily="34" charset="0"/>
                <a:cs typeface="Arial" panose="020B0604020202020204" pitchFamily="34" charset="0"/>
              </a:rPr>
              <a:t>Auscultate the chest, check if breath sounds are equal, and listen for wheezes and crackles.</a:t>
            </a:r>
            <a:endParaRPr lang="en-GB" dirty="0">
              <a:latin typeface="Arial" panose="020B0604020202020204" pitchFamily="34" charset="0"/>
              <a:cs typeface="Arial" panose="020B0604020202020204" pitchFamily="34" charset="0"/>
            </a:endParaRPr>
          </a:p>
          <a:p>
            <a:pPr marL="0" indent="0">
              <a:buNone/>
            </a:pP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Pulse oximetry and inspired oxygen concentration (FiO2)</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Only measures oxygenation not ventilation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If available arterial blood gas analysis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5271539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86968"/>
          </a:xfrm>
        </p:spPr>
        <p:txBody>
          <a:bodyPr>
            <a:normAutofit fontScale="90000"/>
          </a:bodyPr>
          <a:lstStyle/>
          <a:p>
            <a:r>
              <a:rPr lang="en-US" cap="none" dirty="0">
                <a:latin typeface="Arial" panose="020B0604020202020204" pitchFamily="34" charset="0"/>
                <a:cs typeface="Arial" panose="020B0604020202020204" pitchFamily="34" charset="0"/>
              </a:rPr>
              <a:t>Breathing causes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371600"/>
            <a:ext cx="8382000" cy="4754563"/>
          </a:xfrm>
        </p:spPr>
        <p:txBody>
          <a:bodyPr>
            <a:noAutofit/>
          </a:bodyPr>
          <a:lstStyle/>
          <a:p>
            <a:r>
              <a:rPr lang="en-US" sz="2300" dirty="0">
                <a:latin typeface="Arial" panose="020B0604020202020204" pitchFamily="34" charset="0"/>
                <a:cs typeface="Arial" panose="020B0604020202020204" pitchFamily="34" charset="0"/>
              </a:rPr>
              <a:t>CNS depression - drugs, head injury, hypercapnia, metabolic</a:t>
            </a:r>
          </a:p>
          <a:p>
            <a:r>
              <a:rPr lang="en-US" sz="2300" dirty="0">
                <a:latin typeface="Arial" panose="020B0604020202020204" pitchFamily="34" charset="0"/>
                <a:cs typeface="Arial" panose="020B0604020202020204" pitchFamily="34" charset="0"/>
              </a:rPr>
              <a:t> Poor respiratory effort</a:t>
            </a:r>
          </a:p>
          <a:p>
            <a:r>
              <a:rPr lang="en-US" sz="2300" dirty="0">
                <a:latin typeface="Arial" panose="020B0604020202020204" pitchFamily="34" charset="0"/>
                <a:cs typeface="Arial" panose="020B0604020202020204" pitchFamily="34" charset="0"/>
              </a:rPr>
              <a:t>Resp. muscle weakness - spinal cord injury, high spinal block</a:t>
            </a:r>
          </a:p>
          <a:p>
            <a:r>
              <a:rPr lang="en-US" sz="2300" dirty="0">
                <a:latin typeface="Arial" panose="020B0604020202020204" pitchFamily="34" charset="0"/>
                <a:cs typeface="Arial" panose="020B0604020202020204" pitchFamily="34" charset="0"/>
              </a:rPr>
              <a:t> General muscle weakness - chronic malnourishment, critical illness, </a:t>
            </a:r>
          </a:p>
          <a:p>
            <a:r>
              <a:rPr lang="en-US" sz="2300" dirty="0">
                <a:latin typeface="Arial" panose="020B0604020202020204" pitchFamily="34" charset="0"/>
                <a:cs typeface="Arial" panose="020B0604020202020204" pitchFamily="34" charset="0"/>
              </a:rPr>
              <a:t>myasthenia gravis, GB syndrome</a:t>
            </a:r>
          </a:p>
          <a:p>
            <a:r>
              <a:rPr lang="en-US" sz="2300" dirty="0">
                <a:latin typeface="Arial" panose="020B0604020202020204" pitchFamily="34" charset="0"/>
                <a:cs typeface="Arial" panose="020B0604020202020204" pitchFamily="34" charset="0"/>
              </a:rPr>
              <a:t> Lung pathology, Infection,  PE</a:t>
            </a:r>
          </a:p>
          <a:p>
            <a:r>
              <a:rPr lang="en-US" sz="2300" dirty="0">
                <a:latin typeface="Arial" panose="020B0604020202020204" pitchFamily="34" charset="0"/>
                <a:cs typeface="Arial" panose="020B0604020202020204" pitchFamily="34" charset="0"/>
              </a:rPr>
              <a:t>COPD,  Lung contusion</a:t>
            </a:r>
          </a:p>
          <a:p>
            <a:r>
              <a:rPr lang="en-US" sz="2300" dirty="0">
                <a:latin typeface="Arial" panose="020B0604020202020204" pitchFamily="34" charset="0"/>
                <a:cs typeface="Arial" panose="020B0604020202020204" pitchFamily="34" charset="0"/>
              </a:rPr>
              <a:t>Asthma.  ARDS</a:t>
            </a:r>
          </a:p>
          <a:p>
            <a:r>
              <a:rPr lang="en-US" sz="2300" dirty="0">
                <a:latin typeface="Arial" panose="020B0604020202020204" pitchFamily="34" charset="0"/>
                <a:cs typeface="Arial" panose="020B0604020202020204" pitchFamily="34" charset="0"/>
              </a:rPr>
              <a:t>Pulmonary oedema (pneumothorax)</a:t>
            </a:r>
          </a:p>
        </p:txBody>
      </p:sp>
      <p:sp>
        <p:nvSpPr>
          <p:cNvPr id="4" name="Date Placeholder 3"/>
          <p:cNvSpPr>
            <a:spLocks noGrp="1"/>
          </p:cNvSpPr>
          <p:nvPr>
            <p:ph type="dt" sz="half" idx="10"/>
          </p:nvPr>
        </p:nvSpPr>
        <p:spPr/>
        <p:txBody>
          <a:bodyPr/>
          <a:lstStyle/>
          <a:p>
            <a:fld id="{0608B279-30A5-44CF-85BD-436B808F726C}"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5414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2400" cy="685800"/>
          </a:xfrm>
        </p:spPr>
        <p:txBody>
          <a:bodyPr>
            <a:normAutofit fontScale="90000"/>
          </a:bodyPr>
          <a:lstStyle/>
          <a:p>
            <a:r>
              <a:rPr lang="en-US" cap="none" dirty="0">
                <a:latin typeface="Arial" panose="020B0604020202020204" pitchFamily="34" charset="0"/>
                <a:cs typeface="Arial" panose="020B0604020202020204" pitchFamily="34" charset="0"/>
              </a:rPr>
              <a:t>Breathing management </a:t>
            </a:r>
            <a:br>
              <a:rPr lang="en-US" cap="none" dirty="0">
                <a:latin typeface="Arial" panose="020B0604020202020204" pitchFamily="34" charset="0"/>
                <a:cs typeface="Arial" panose="020B0604020202020204" pitchFamily="34" charset="0"/>
              </a:rPr>
            </a:br>
            <a:endParaRPr lang="en-US" cap="none"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5800" y="1676400"/>
            <a:ext cx="7772400" cy="4495800"/>
          </a:xfrm>
        </p:spPr>
        <p:txBody>
          <a:bodyPr>
            <a:normAutofit lnSpcReduction="10000"/>
          </a:bodyPr>
          <a:lstStyle/>
          <a:p>
            <a:pPr lvl="1">
              <a:lnSpc>
                <a:spcPct val="150000"/>
              </a:lnSpc>
            </a:pPr>
            <a:r>
              <a:rPr lang="en-US" sz="2200" dirty="0">
                <a:latin typeface="Arial" panose="020B0604020202020204" pitchFamily="34" charset="0"/>
                <a:cs typeface="Arial" panose="020B0604020202020204" pitchFamily="34" charset="0"/>
              </a:rPr>
              <a:t>Give oxygen (if necessary move the patient)</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Treat reversible causes promptly e.g.</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Antibiotics for pneumonia</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Bronchodilators for asthma</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Naloxone if opiate overdose</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Ventilate CO</a:t>
            </a:r>
            <a:r>
              <a:rPr lang="en-US" sz="2200" spc="3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down if hypercapnic (can do with mask)</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Needle decompression for pneumothorax</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 Reassess patients after intervention </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F2E3D127-9969-4619-9896-2B5549BB1D4F}"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773030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sp>
        <p:nvSpPr>
          <p:cNvPr id="3" name="Content Placeholder 2"/>
          <p:cNvSpPr>
            <a:spLocks noGrp="1"/>
          </p:cNvSpPr>
          <p:nvPr>
            <p:ph idx="1"/>
          </p:nvPr>
        </p:nvSpPr>
        <p:spPr>
          <a:xfrm>
            <a:off x="457200" y="1600200"/>
            <a:ext cx="8506206" cy="4525963"/>
          </a:xfrm>
        </p:spPr>
        <p:txBody>
          <a:bodyPr>
            <a:noAutofit/>
          </a:bodyPr>
          <a:lstStyle/>
          <a:p>
            <a:pPr marL="514350" indent="-457200"/>
            <a:r>
              <a:rPr lang="en-US" dirty="0">
                <a:latin typeface="Arial" panose="020B0604020202020204" pitchFamily="34" charset="0"/>
                <a:cs typeface="Arial" panose="020B0604020202020204" pitchFamily="34" charset="0"/>
              </a:rPr>
              <a:t>The aim of assessing the circulatory system is to </a:t>
            </a:r>
            <a:r>
              <a:rPr lang="en-US" b="1" dirty="0">
                <a:latin typeface="Arial" panose="020B0604020202020204" pitchFamily="34" charset="0"/>
                <a:cs typeface="Arial" panose="020B0604020202020204" pitchFamily="34" charset="0"/>
              </a:rPr>
              <a:t>determine the effectiveness of the cardiac output</a:t>
            </a:r>
            <a:r>
              <a:rPr lang="en-US" dirty="0">
                <a:latin typeface="Arial" panose="020B0604020202020204" pitchFamily="34" charset="0"/>
                <a:cs typeface="Arial" panose="020B0604020202020204" pitchFamily="34" charset="0"/>
              </a:rPr>
              <a:t>. </a:t>
            </a:r>
          </a:p>
          <a:p>
            <a:pPr marL="914400" lvl="1" indent="-457200"/>
            <a:r>
              <a:rPr lang="en-US" sz="2000" dirty="0">
                <a:latin typeface="Arial" panose="020B0604020202020204" pitchFamily="34" charset="0"/>
                <a:cs typeface="Arial" panose="020B0604020202020204" pitchFamily="34" charset="0"/>
              </a:rPr>
              <a:t>Assess patients color / temperature /-peripherally and centrally</a:t>
            </a:r>
          </a:p>
          <a:p>
            <a:pPr marL="914400" lvl="1" indent="-457200"/>
            <a:r>
              <a:rPr lang="en-US" sz="2000" dirty="0">
                <a:latin typeface="Arial" panose="020B0604020202020204" pitchFamily="34" charset="0"/>
                <a:cs typeface="Arial" panose="020B0604020202020204" pitchFamily="34" charset="0"/>
              </a:rPr>
              <a:t>Pulse rate and character (Pulse rate &lt;40 or &gt;140 </a:t>
            </a:r>
            <a:r>
              <a:rPr lang="en-US" sz="2000" dirty="0" err="1">
                <a:latin typeface="Arial" panose="020B0604020202020204" pitchFamily="34" charset="0"/>
                <a:cs typeface="Arial" panose="020B0604020202020204" pitchFamily="34" charset="0"/>
              </a:rPr>
              <a:t>bpm</a:t>
            </a:r>
            <a:r>
              <a:rPr lang="en-US" sz="2000" dirty="0">
                <a:latin typeface="Arial" panose="020B0604020202020204" pitchFamily="34" charset="0"/>
                <a:cs typeface="Arial" panose="020B0604020202020204" pitchFamily="34" charset="0"/>
              </a:rPr>
              <a:t>)</a:t>
            </a:r>
          </a:p>
          <a:p>
            <a:pPr marL="800100" lvl="1"/>
            <a:r>
              <a:rPr lang="en-US" sz="2000" dirty="0">
                <a:latin typeface="Arial" panose="020B0604020202020204" pitchFamily="34" charset="0"/>
                <a:cs typeface="Arial" panose="020B0604020202020204" pitchFamily="34" charset="0"/>
              </a:rPr>
              <a:t>General observations e.g., responsiveness</a:t>
            </a:r>
          </a:p>
          <a:p>
            <a:pPr marL="800100" lvl="1"/>
            <a:r>
              <a:rPr lang="en-US" sz="2000" dirty="0">
                <a:latin typeface="Arial" panose="020B0604020202020204" pitchFamily="34" charset="0"/>
                <a:cs typeface="Arial" panose="020B0604020202020204" pitchFamily="34" charset="0"/>
              </a:rPr>
              <a:t>Blood pressure-SBP &lt;90 mmHg</a:t>
            </a:r>
          </a:p>
          <a:p>
            <a:pPr marL="800100" lvl="1"/>
            <a:r>
              <a:rPr lang="en-US" sz="2000" dirty="0">
                <a:latin typeface="Arial" panose="020B0604020202020204" pitchFamily="34" charset="0"/>
                <a:cs typeface="Arial" panose="020B0604020202020204" pitchFamily="34" charset="0"/>
              </a:rPr>
              <a:t>Look for sources of haemorrhage including intra abdominal/intrathoracic</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Assess the JVP</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Auscultate the heart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Assess the urine output </a:t>
            </a:r>
          </a:p>
          <a:p>
            <a:pPr lvl="1">
              <a:buFont typeface="Wingdings" pitchFamily="2" charset="2"/>
              <a:buChar char="ü"/>
            </a:pPr>
            <a:r>
              <a:rPr lang="en-US" sz="2000" dirty="0">
                <a:latin typeface="Arial" panose="020B0604020202020204" pitchFamily="34" charset="0"/>
                <a:cs typeface="Arial" panose="020B0604020202020204" pitchFamily="34" charset="0"/>
              </a:rPr>
              <a:t>Poor response to volume resuscitation</a:t>
            </a:r>
          </a:p>
          <a:p>
            <a:pPr marL="457200" lvl="1" indent="0">
              <a:buNone/>
            </a:pPr>
            <a:r>
              <a:rPr lang="en-US" sz="2000" dirty="0">
                <a:latin typeface="Arial" panose="020B0604020202020204" pitchFamily="34" charset="0"/>
                <a:cs typeface="Arial" panose="020B0604020202020204" pitchFamily="34" charset="0"/>
              </a:rPr>
              <a:t>    • Oliguria: &lt;0.5 ml/kg/</a:t>
            </a:r>
            <a:r>
              <a:rPr lang="en-US" sz="2000" dirty="0" err="1">
                <a:latin typeface="Arial" panose="020B0604020202020204" pitchFamily="34" charset="0"/>
                <a:cs typeface="Arial" panose="020B0604020202020204" pitchFamily="34" charset="0"/>
              </a:rPr>
              <a:t>hr</a:t>
            </a:r>
            <a:r>
              <a:rPr lang="en-US" sz="2000" dirty="0">
                <a:latin typeface="Arial" panose="020B0604020202020204" pitchFamily="34" charset="0"/>
                <a:cs typeface="Arial" panose="020B0604020202020204" pitchFamily="34" charset="0"/>
              </a:rPr>
              <a:t> (check urea, creatinine, K+)</a:t>
            </a:r>
          </a:p>
          <a:p>
            <a:pPr marL="457200" lvl="1" indent="0">
              <a:buNone/>
            </a:pPr>
            <a:endParaRPr lang="en-US" sz="20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A190AEF-7D88-43C9-B07F-CD2F553608E6}"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28600"/>
            <a:ext cx="8686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2905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latin typeface="Arial" panose="020B0604020202020204" pitchFamily="34" charset="0"/>
                <a:cs typeface="Arial" panose="020B0604020202020204" pitchFamily="34" charset="0"/>
              </a:rPr>
              <a:t>Circulation…</a:t>
            </a:r>
          </a:p>
        </p:txBody>
      </p:sp>
      <p:sp>
        <p:nvSpPr>
          <p:cNvPr id="3" name="Content Placeholder 2"/>
          <p:cNvSpPr>
            <a:spLocks noGrp="1"/>
          </p:cNvSpPr>
          <p:nvPr>
            <p:ph idx="1"/>
          </p:nvPr>
        </p:nvSpPr>
        <p:spPr>
          <a:xfrm>
            <a:off x="381000" y="2121408"/>
            <a:ext cx="8382000" cy="4050792"/>
          </a:xfrm>
        </p:spPr>
        <p:txBody>
          <a:bodyPr>
            <a:normAutofit/>
          </a:bodyPr>
          <a:lstStyle/>
          <a:p>
            <a:pPr>
              <a:buFont typeface="Wingdings" pitchFamily="2" charset="2"/>
              <a:buChar char="q"/>
            </a:pPr>
            <a:r>
              <a:rPr lang="en-US" sz="2400" b="1" dirty="0">
                <a:solidFill>
                  <a:srgbClr val="FF0000"/>
                </a:solidFill>
                <a:latin typeface="Arial" panose="020B0604020202020204" pitchFamily="34" charset="0"/>
                <a:cs typeface="Arial" panose="020B0604020202020204" pitchFamily="34" charset="0"/>
              </a:rPr>
              <a:t>Causes of Poor Circulation</a:t>
            </a:r>
            <a:endParaRPr lang="en-US" sz="2400" dirty="0">
              <a:solidFill>
                <a:srgbClr val="FF0000"/>
              </a:solidFill>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Possible causes include:</a:t>
            </a:r>
          </a:p>
          <a:p>
            <a:pPr lvl="1"/>
            <a:r>
              <a:rPr lang="en-US" sz="2400" dirty="0">
                <a:latin typeface="Arial" panose="020B0604020202020204" pitchFamily="34" charset="0"/>
                <a:cs typeface="Arial" panose="020B0604020202020204" pitchFamily="34" charset="0"/>
              </a:rPr>
              <a:t>Shock (including hypovolaemia, septic, or anaphylactic shock)</a:t>
            </a:r>
          </a:p>
          <a:p>
            <a:pPr lvl="1"/>
            <a:r>
              <a:rPr lang="en-US" sz="2400" dirty="0">
                <a:latin typeface="Arial" panose="020B0604020202020204" pitchFamily="34" charset="0"/>
                <a:cs typeface="Arial" panose="020B0604020202020204" pitchFamily="34" charset="0"/>
              </a:rPr>
              <a:t>Cardiac arrhythmias</a:t>
            </a:r>
          </a:p>
          <a:p>
            <a:pPr lvl="1"/>
            <a:r>
              <a:rPr lang="en-US" sz="2400" dirty="0">
                <a:latin typeface="Arial" panose="020B0604020202020204" pitchFamily="34" charset="0"/>
                <a:cs typeface="Arial" panose="020B0604020202020204" pitchFamily="34" charset="0"/>
              </a:rPr>
              <a:t>Heart failure</a:t>
            </a:r>
          </a:p>
          <a:p>
            <a:pPr lvl="1"/>
            <a:r>
              <a:rPr lang="en-US" sz="2400" dirty="0">
                <a:solidFill>
                  <a:schemeClr val="tx1">
                    <a:lumMod val="95000"/>
                    <a:lumOff val="5000"/>
                  </a:schemeClr>
                </a:solidFill>
                <a:latin typeface="Arial" panose="020B0604020202020204" pitchFamily="34" charset="0"/>
                <a:cs typeface="Arial" panose="020B0604020202020204" pitchFamily="34" charset="0"/>
              </a:rPr>
              <a:t>Pulmonary embolism</a:t>
            </a:r>
          </a:p>
          <a:p>
            <a:pPr marL="400050" lvl="1" indent="0">
              <a:buNone/>
            </a:pPr>
            <a:r>
              <a:rPr lang="en-US" sz="2400" dirty="0">
                <a:solidFill>
                  <a:srgbClr val="FF0000"/>
                </a:solidFill>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521624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734568"/>
          </a:xfrm>
        </p:spPr>
        <p:txBody>
          <a:bodyPr>
            <a:normAutofit/>
          </a:bodyPr>
          <a:lstStyle/>
          <a:p>
            <a:r>
              <a:rPr lang="en-US" sz="4000" cap="none" dirty="0">
                <a:latin typeface="Arial" panose="020B0604020202020204" pitchFamily="34" charset="0"/>
                <a:cs typeface="Arial" panose="020B0604020202020204" pitchFamily="34" charset="0"/>
              </a:rPr>
              <a:t>Circulation management</a:t>
            </a:r>
          </a:p>
        </p:txBody>
      </p:sp>
      <p:sp>
        <p:nvSpPr>
          <p:cNvPr id="3" name="Content Placeholder 2"/>
          <p:cNvSpPr>
            <a:spLocks noGrp="1"/>
          </p:cNvSpPr>
          <p:nvPr>
            <p:ph idx="1"/>
          </p:nvPr>
        </p:nvSpPr>
        <p:spPr>
          <a:xfrm>
            <a:off x="457200" y="1524000"/>
            <a:ext cx="8458200" cy="4602163"/>
          </a:xfrm>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 According to the Resuscitation Council 2011, the specific treatment for circulation problems depends on the cause, however,</a:t>
            </a:r>
          </a:p>
          <a:p>
            <a:pPr lvl="1">
              <a:lnSpc>
                <a:spcPct val="150000"/>
              </a:lnSpc>
            </a:pP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fluid replacement, </a:t>
            </a:r>
          </a:p>
          <a:p>
            <a:pPr lvl="1">
              <a:lnSpc>
                <a:spcPct val="150000"/>
              </a:lnSpc>
            </a:pPr>
            <a:r>
              <a:rPr lang="en-US" sz="2400" dirty="0">
                <a:solidFill>
                  <a:srgbClr val="FF0000"/>
                </a:solidFill>
                <a:latin typeface="Arial" panose="020B0604020202020204" pitchFamily="34" charset="0"/>
                <a:cs typeface="Arial" panose="020B0604020202020204" pitchFamily="34" charset="0"/>
              </a:rPr>
              <a:t>restoration of tissue perfusion and </a:t>
            </a:r>
          </a:p>
          <a:p>
            <a:pPr lvl="1">
              <a:lnSpc>
                <a:spcPct val="150000"/>
              </a:lnSpc>
            </a:pPr>
            <a:r>
              <a:rPr lang="en-US" sz="2400" dirty="0">
                <a:solidFill>
                  <a:srgbClr val="FF0000"/>
                </a:solidFill>
                <a:latin typeface="Arial" panose="020B0604020202020204" pitchFamily="34" charset="0"/>
                <a:cs typeface="Arial" panose="020B0604020202020204" pitchFamily="34" charset="0"/>
              </a:rPr>
              <a:t>hemorrhage control </a:t>
            </a:r>
            <a:r>
              <a:rPr lang="en-US" sz="2400" dirty="0">
                <a:latin typeface="Arial" panose="020B0604020202020204" pitchFamily="34" charset="0"/>
                <a:cs typeface="Arial" panose="020B0604020202020204" pitchFamily="34" charset="0"/>
              </a:rPr>
              <a:t>will usually be necessary.</a:t>
            </a:r>
          </a:p>
          <a:p>
            <a:pPr marL="0" indent="0">
              <a:lnSpc>
                <a:spcPct val="150000"/>
              </a:lnSpc>
              <a:buNone/>
            </a:pP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4379F828-A661-4A2C-809A-A2C7FC1CA287}"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1867765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810768"/>
          </a:xfrm>
        </p:spPr>
        <p:txBody>
          <a:bodyPr/>
          <a:lstStyle/>
          <a:p>
            <a:r>
              <a:rPr lang="en-US" sz="4400" cap="none" dirty="0">
                <a:latin typeface="Arial" panose="020B0604020202020204" pitchFamily="34" charset="0"/>
                <a:cs typeface="Arial" panose="020B0604020202020204" pitchFamily="34" charset="0"/>
              </a:rPr>
              <a:t>Circulation management</a:t>
            </a:r>
            <a:r>
              <a:rPr lang="en-US"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a:xfrm>
            <a:off x="457200" y="1447800"/>
            <a:ext cx="8382000" cy="4800600"/>
          </a:xfrm>
        </p:spPr>
        <p:txBody>
          <a:bodyPr>
            <a:noAutofit/>
          </a:bodyPr>
          <a:lstStyle/>
          <a:p>
            <a:pPr>
              <a:lnSpc>
                <a:spcPct val="120000"/>
              </a:lnSpc>
            </a:pPr>
            <a:r>
              <a:rPr lang="en-US" sz="2400" dirty="0">
                <a:latin typeface="Arial" panose="020B0604020202020204" pitchFamily="34" charset="0"/>
                <a:cs typeface="Arial" panose="020B0604020202020204" pitchFamily="34" charset="0"/>
              </a:rPr>
              <a:t>Give oxygen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Insert 1 or more large bore IV cannula (14G/ 16G/18 G)</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Treat the cause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If hypovolaemia; rapid fluid challenge 500 mL - 1L over 5 to 10 min.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If cardiac failure and hypotensive; more cautious fluid challenge with careful monitoring</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Reassess (every 5 mins)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If no improvement – repeat fluid challenge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If signs of pulmonary oedema – slow or stop fluids and consider inotrope</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1515360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62DA89EA-0D8E-45E0-9EEF-808FC4346D86}"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599" y="533400"/>
            <a:ext cx="8522677"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75551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676400"/>
            <a:ext cx="8077200" cy="4495800"/>
          </a:xfrm>
        </p:spPr>
        <p:txBody>
          <a:bodyPr>
            <a:normAutofit/>
          </a:bodyPr>
          <a:lstStyle/>
          <a:p>
            <a:r>
              <a:rPr lang="en-US" sz="2400" dirty="0">
                <a:latin typeface="Arial" panose="020B0604020202020204" pitchFamily="34" charset="0"/>
                <a:cs typeface="Arial" panose="020B0604020202020204" pitchFamily="34" charset="0"/>
              </a:rPr>
              <a:t>Examine for signs of head injury </a:t>
            </a:r>
          </a:p>
          <a:p>
            <a:r>
              <a:rPr lang="en-US" sz="2400" dirty="0">
                <a:latin typeface="Arial" panose="020B0604020202020204" pitchFamily="34" charset="0"/>
                <a:cs typeface="Arial" panose="020B0604020202020204" pitchFamily="34" charset="0"/>
              </a:rPr>
              <a:t>Examine pupils – size, equality, light reaction</a:t>
            </a:r>
          </a:p>
          <a:p>
            <a:r>
              <a:rPr lang="en-US" sz="2400" dirty="0">
                <a:latin typeface="Arial" panose="020B0604020202020204" pitchFamily="34" charset="0"/>
                <a:cs typeface="Arial" panose="020B0604020202020204" pitchFamily="34" charset="0"/>
              </a:rPr>
              <a:t>Check drug chart / collateral history - ? drug induced depressed LOC</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Check blood glucose </a:t>
            </a:r>
          </a:p>
          <a:p>
            <a:pPr>
              <a:buFont typeface="Wingdings" pitchFamily="2" charset="2"/>
              <a:buChar char="ü"/>
            </a:pPr>
            <a:r>
              <a:rPr lang="en-US" sz="2400" dirty="0">
                <a:latin typeface="Arial" panose="020B0604020202020204" pitchFamily="34" charset="0"/>
                <a:cs typeface="Arial" panose="020B0604020202020204" pitchFamily="34" charset="0"/>
              </a:rPr>
              <a:t>GCS ≤8 = deep coma, severe head trauma, poor outcome.</a:t>
            </a:r>
          </a:p>
          <a:p>
            <a:pPr>
              <a:buFont typeface="Wingdings" pitchFamily="2" charset="2"/>
              <a:buChar char="ü"/>
            </a:pPr>
            <a:r>
              <a:rPr lang="en-US" sz="2400" dirty="0">
                <a:latin typeface="Arial" panose="020B0604020202020204" pitchFamily="34" charset="0"/>
                <a:cs typeface="Arial" panose="020B0604020202020204" pitchFamily="34" charset="0"/>
              </a:rPr>
              <a:t>GCS 9–12 = conscious patient with moderate injury. </a:t>
            </a:r>
          </a:p>
          <a:p>
            <a:pPr>
              <a:buFont typeface="Wingdings" pitchFamily="2" charset="2"/>
              <a:buChar char="ü"/>
            </a:pPr>
            <a:r>
              <a:rPr lang="en-US" sz="2400" dirty="0">
                <a:latin typeface="Arial" panose="020B0604020202020204" pitchFamily="34" charset="0"/>
                <a:cs typeface="Arial" panose="020B0604020202020204" pitchFamily="34" charset="0"/>
              </a:rPr>
              <a:t>GCS &gt;12 = mild injury.</a:t>
            </a:r>
          </a:p>
          <a:p>
            <a:pPr>
              <a:buFont typeface="Wingdings" pitchFamily="2" charset="2"/>
              <a:buChar char="ü"/>
            </a:pP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155D4049-34E2-4E76-A354-B4C0E9A923DE}"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1000"/>
            <a:ext cx="79248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1965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Disability causes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Autofit/>
          </a:bodyPr>
          <a:lstStyle/>
          <a:p>
            <a:r>
              <a:rPr lang="en-US" sz="2800" dirty="0">
                <a:latin typeface="Arial" panose="020B0604020202020204" pitchFamily="34" charset="0"/>
                <a:cs typeface="Arial" panose="020B0604020202020204" pitchFamily="34" charset="0"/>
              </a:rPr>
              <a:t>Causes of reduced consciousness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 Hypoxia </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Hypercapnia</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Hypotension</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Hypoglycaemia</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Raised ICP – </a:t>
            </a:r>
            <a:r>
              <a:rPr lang="en-US" sz="2800" dirty="0" err="1">
                <a:latin typeface="Arial" panose="020B0604020202020204" pitchFamily="34" charset="0"/>
                <a:cs typeface="Arial" panose="020B0604020202020204" pitchFamily="34" charset="0"/>
              </a:rPr>
              <a:t>haematoma</a:t>
            </a:r>
            <a:r>
              <a:rPr lang="en-US" sz="2800" dirty="0">
                <a:latin typeface="Arial" panose="020B0604020202020204" pitchFamily="34" charset="0"/>
                <a:cs typeface="Arial" panose="020B0604020202020204" pitchFamily="34" charset="0"/>
              </a:rPr>
              <a:t> / ICSOL</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Drug induced</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Severe electrolyte disturbances (e.g. Na+)</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Epilepsy </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3B367762-C340-4823-B386-BAA2686E4F89}"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2447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Disability Management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5800" y="1600200"/>
            <a:ext cx="8077200" cy="4572000"/>
          </a:xfrm>
        </p:spPr>
        <p:txBody>
          <a:bodyPr>
            <a:noAutofit/>
          </a:bodyPr>
          <a:lstStyle/>
          <a:p>
            <a:r>
              <a:rPr lang="en-US" sz="2400" dirty="0">
                <a:latin typeface="Arial" panose="020B0604020202020204" pitchFamily="34" charset="0"/>
                <a:cs typeface="Arial" panose="020B0604020202020204" pitchFamily="34" charset="0"/>
              </a:rPr>
              <a:t>Treat the cause (where possible)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Hypoxia</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Hypercapnia</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Hypotension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Hypoglycaemia</a:t>
            </a:r>
            <a:r>
              <a:rPr lang="en-US" sz="2400" dirty="0">
                <a:latin typeface="Arial" panose="020B0604020202020204" pitchFamily="34" charset="0"/>
                <a:cs typeface="Arial" panose="020B0604020202020204" pitchFamily="34" charset="0"/>
              </a:rPr>
              <a:t> – glucose 50mls  of  10% dextrose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Head injury – inform surgeons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Drug induced – give antagonist where appropriate e.g. naloxone</a:t>
            </a:r>
          </a:p>
          <a:p>
            <a:r>
              <a:rPr lang="en-US" sz="2400" dirty="0">
                <a:latin typeface="Arial" panose="020B0604020202020204" pitchFamily="34" charset="0"/>
                <a:cs typeface="Arial" panose="020B0604020202020204" pitchFamily="34" charset="0"/>
              </a:rPr>
              <a:t>Supportive treatment may be the only option, the aim being to maintain the ABC.</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Giving the patient time to recover from the insult and to prevent secondary brain injury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669EF5D6-F73B-4082-967E-3435C9983D6B}"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745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000152"/>
          </a:xfrm>
        </p:spPr>
        <p:txBody>
          <a:bodyPr>
            <a:noAutofit/>
          </a:bodyPr>
          <a:lstStyle/>
          <a:p>
            <a:br>
              <a:rPr lang="en-US" sz="3200" b="1" cap="none" dirty="0">
                <a:latin typeface="Arial" panose="020B0604020202020204" pitchFamily="34" charset="0"/>
                <a:cs typeface="Arial" panose="020B0604020202020204" pitchFamily="34" charset="0"/>
              </a:rPr>
            </a:br>
            <a:br>
              <a:rPr lang="en-US" sz="3200" b="1" cap="none" dirty="0">
                <a:latin typeface="Arial" panose="020B0604020202020204" pitchFamily="34" charset="0"/>
                <a:cs typeface="Arial" panose="020B0604020202020204" pitchFamily="34" charset="0"/>
              </a:rPr>
            </a:br>
            <a:r>
              <a:rPr lang="en-US" sz="3200" b="1" cap="none" dirty="0">
                <a:solidFill>
                  <a:srgbClr val="FF0000"/>
                </a:solidFill>
                <a:latin typeface="Arial" panose="020B0604020202020204" pitchFamily="34" charset="0"/>
                <a:cs typeface="Arial" panose="020B0604020202020204" pitchFamily="34" charset="0"/>
              </a:rPr>
              <a:t>Treatment of altered conscious level</a:t>
            </a:r>
            <a:br>
              <a:rPr lang="en-US" sz="3200" cap="none" dirty="0">
                <a:latin typeface="Arial" panose="020B0604020202020204" pitchFamily="34" charset="0"/>
                <a:cs typeface="Arial" panose="020B0604020202020204" pitchFamily="34" charset="0"/>
              </a:rPr>
            </a:br>
            <a:endParaRPr lang="en-GB" sz="3200" cap="none"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76400"/>
            <a:ext cx="8382000" cy="4449763"/>
          </a:xfrm>
        </p:spPr>
        <p:txBody>
          <a:bodyPr>
            <a:normAutofit/>
          </a:bodyPr>
          <a:lstStyle/>
          <a:p>
            <a:pPr lvl="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priority is to assess airway, breathing and circulation to exclude hypoxia and hypotension.</a:t>
            </a:r>
          </a:p>
          <a:p>
            <a:pPr lvl="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lvl="0" algn="just">
              <a:buFont typeface="Arial" panose="020B0604020202020204" pitchFamily="34" charset="0"/>
              <a:buChar char="•"/>
            </a:pPr>
            <a:r>
              <a:rPr lang="en-US" sz="2400" dirty="0">
                <a:latin typeface="Arial" panose="020B0604020202020204" pitchFamily="34" charset="0"/>
                <a:cs typeface="Arial" panose="020B0604020202020204" pitchFamily="34" charset="0"/>
              </a:rPr>
              <a:t>Check the patient’s medicine chart for reversible medicine-induced causes of an altered level of consciousness, and remember to call for expert help (Thim T et al. 2012).</a:t>
            </a:r>
          </a:p>
          <a:p>
            <a:pPr lvl="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lvl="0" algn="just">
              <a:buFont typeface="Arial" panose="020B0604020202020204" pitchFamily="34" charset="0"/>
              <a:buChar char="•"/>
            </a:pPr>
            <a:r>
              <a:rPr lang="en-US" sz="2400" dirty="0">
                <a:latin typeface="Arial" panose="020B0604020202020204" pitchFamily="34" charset="0"/>
                <a:cs typeface="Arial" panose="020B0604020202020204" pitchFamily="34" charset="0"/>
              </a:rPr>
              <a:t>Unconscious patients whose airways are not protected should be nursed in the lateral position (Resuscitation Council 2011).</a:t>
            </a:r>
          </a:p>
          <a:p>
            <a:pPr>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1765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82662"/>
          </a:xfrm>
        </p:spPr>
        <p:txBody>
          <a:bodyPr/>
          <a:lstStyle/>
          <a:p>
            <a:endParaRPr lang="en-US" dirty="0"/>
          </a:p>
        </p:txBody>
      </p:sp>
      <p:sp>
        <p:nvSpPr>
          <p:cNvPr id="3" name="Content Placeholder 2"/>
          <p:cNvSpPr>
            <a:spLocks noGrp="1"/>
          </p:cNvSpPr>
          <p:nvPr>
            <p:ph idx="1"/>
          </p:nvPr>
        </p:nvSpPr>
        <p:spPr>
          <a:xfrm>
            <a:off x="457199" y="1257300"/>
            <a:ext cx="8458201" cy="4991100"/>
          </a:xfrm>
        </p:spPr>
        <p:txBody>
          <a:bodyPr>
            <a:normAutofit fontScale="92500" lnSpcReduction="10000"/>
          </a:bodyPr>
          <a:lstStyle/>
          <a:p>
            <a:endParaRPr lang="en-US" sz="28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By the time the assessment reaches this stage (exposure), there should be a good understanding of the patient’s problems (Mallet 2013).</a:t>
            </a:r>
          </a:p>
          <a:p>
            <a:pPr lvl="1" algn="just"/>
            <a:r>
              <a:rPr lang="en-US" sz="2400" b="1" dirty="0">
                <a:latin typeface="Arial" panose="020B0604020202020204" pitchFamily="34" charset="0"/>
                <a:cs typeface="Arial" panose="020B0604020202020204" pitchFamily="34" charset="0"/>
              </a:rPr>
              <a:t>Conduct a thorough examination of the patient’s body</a:t>
            </a:r>
            <a:r>
              <a:rPr lang="en-US" sz="2400" dirty="0">
                <a:latin typeface="Arial" panose="020B0604020202020204" pitchFamily="34" charset="0"/>
                <a:cs typeface="Arial" panose="020B0604020202020204" pitchFamily="34" charset="0"/>
              </a:rPr>
              <a:t> for abnormalities, </a:t>
            </a:r>
          </a:p>
          <a:p>
            <a:pPr lvl="1" algn="just"/>
            <a:r>
              <a:rPr lang="en-US" sz="2400" dirty="0">
                <a:latin typeface="Arial" panose="020B0604020202020204" pitchFamily="34" charset="0"/>
                <a:cs typeface="Arial" panose="020B0604020202020204" pitchFamily="34" charset="0"/>
              </a:rPr>
              <a:t>checking the patient’s skin for the presence of rashes, swelling, bleeding or any excessive losses from drains.</a:t>
            </a:r>
          </a:p>
          <a:p>
            <a:r>
              <a:rPr lang="en-US" sz="2800" dirty="0">
                <a:latin typeface="Arial" panose="020B0604020202020204" pitchFamily="34" charset="0"/>
                <a:cs typeface="Arial" panose="020B0604020202020204" pitchFamily="34" charset="0"/>
              </a:rPr>
              <a:t>Examine and expose the patient fully whilst trying to minimise heat loss. </a:t>
            </a:r>
          </a:p>
          <a:p>
            <a:pPr lvl="1"/>
            <a:r>
              <a:rPr lang="en-US" sz="2600" dirty="0">
                <a:solidFill>
                  <a:srgbClr val="FF0000"/>
                </a:solidFill>
                <a:latin typeface="Arial" panose="020B0604020202020204" pitchFamily="34" charset="0"/>
                <a:cs typeface="Arial" panose="020B0604020202020204" pitchFamily="34" charset="0"/>
              </a:rPr>
              <a:t>But respect the patient’s dignity at all times!</a:t>
            </a:r>
          </a:p>
          <a:p>
            <a:r>
              <a:rPr lang="en-US" sz="2800" dirty="0">
                <a:latin typeface="Arial" panose="020B0604020202020204" pitchFamily="34" charset="0"/>
                <a:cs typeface="Arial" panose="020B0604020202020204" pitchFamily="34" charset="0"/>
              </a:rPr>
              <a:t>Treat any relevant finding appropriately </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FE3642A8-664E-4D88-984F-AF2F653C0A62}"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28600"/>
            <a:ext cx="86868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97676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963168"/>
          </a:xfrm>
        </p:spPr>
        <p:txBody>
          <a:bodyPr/>
          <a:lstStyle/>
          <a:p>
            <a:r>
              <a:rPr lang="en-US" sz="6000" cap="none" dirty="0">
                <a:latin typeface="Arial" panose="020B0604020202020204" pitchFamily="34" charset="0"/>
                <a:cs typeface="Arial" panose="020B0604020202020204" pitchFamily="34" charset="0"/>
              </a:rPr>
              <a:t>Summary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28600" y="1828800"/>
            <a:ext cx="8534400" cy="4297363"/>
          </a:xfrm>
        </p:spPr>
        <p:txBody>
          <a:bodyPr>
            <a:normAutofit/>
          </a:bodyPr>
          <a:lstStyle/>
          <a:p>
            <a:pPr algn="just"/>
            <a:r>
              <a:rPr lang="en-US" sz="2400" dirty="0">
                <a:latin typeface="Arial" panose="020B0604020202020204" pitchFamily="34" charset="0"/>
                <a:cs typeface="Arial" panose="020B0604020202020204" pitchFamily="34" charset="0"/>
              </a:rPr>
              <a:t> Early recognition and effective treatment of critically ill patients is key to prevent cardiac  arrests and death</a:t>
            </a:r>
          </a:p>
          <a:p>
            <a:pPr marL="0" indent="0" algn="just">
              <a:buNone/>
            </a:pPr>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The ABCDE approach is a robust clinical tool that enables healthcare professionals to determine the seriousness of the patient’s condition and prioritize clinical interventions.</a:t>
            </a:r>
          </a:p>
          <a:p>
            <a:pPr algn="just"/>
            <a:r>
              <a:rPr lang="en-US" sz="2400" dirty="0">
                <a:latin typeface="Arial" panose="020B0604020202020204" pitchFamily="34" charset="0"/>
                <a:cs typeface="Arial" panose="020B0604020202020204" pitchFamily="34" charset="0"/>
              </a:rPr>
              <a:t>NEWS chart is very helpful to determine the urgency of the clinical response</a:t>
            </a:r>
          </a:p>
          <a:p>
            <a:pPr algn="just"/>
            <a:endParaRPr lang="en-US"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7EBBDE0B-1D68-4487-87BB-8114CFDF0C32}" type="datetime4">
              <a:rPr lang="en-US" smtClean="0">
                <a:latin typeface="Arial" panose="020B0604020202020204" pitchFamily="34" charset="0"/>
                <a:cs typeface="Arial" panose="020B0604020202020204" pitchFamily="34" charset="0"/>
              </a:rPr>
              <a:t>April 16, 2026</a:t>
            </a:fld>
            <a:endParaRPr lang="en-US">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604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solidFill>
                  <a:srgbClr val="FF0000"/>
                </a:solidFill>
                <a:latin typeface="Arial" panose="020B0604020202020204" pitchFamily="34" charset="0"/>
                <a:cs typeface="Arial" panose="020B0604020202020204" pitchFamily="34" charset="0"/>
              </a:rPr>
              <a:t>References</a:t>
            </a:r>
            <a:br>
              <a:rPr lang="en-GB" dirty="0">
                <a:solidFill>
                  <a:srgbClr val="FF0000"/>
                </a:solidFill>
                <a:latin typeface="Arial" panose="020B0604020202020204" pitchFamily="34" charset="0"/>
                <a:cs typeface="Arial" panose="020B0604020202020204" pitchFamily="34" charset="0"/>
              </a:rPr>
            </a:br>
            <a:endParaRPr lang="en-GB"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534400" cy="4525963"/>
          </a:xfrm>
        </p:spPr>
        <p:txBody>
          <a:bodyPr>
            <a:normAutofit/>
          </a:bodyPr>
          <a:lstStyle/>
          <a:p>
            <a:r>
              <a:rPr lang="en-US" sz="2400" dirty="0">
                <a:latin typeface="Arial" panose="020B0604020202020204" pitchFamily="34" charset="0"/>
                <a:cs typeface="Arial" panose="020B0604020202020204" pitchFamily="34" charset="0"/>
              </a:rPr>
              <a:t>Resuscitation Council 2011</a:t>
            </a:r>
          </a:p>
          <a:p>
            <a:r>
              <a:rPr lang="en-US" sz="2400" dirty="0">
                <a:latin typeface="Arial" panose="020B0604020202020204" pitchFamily="34" charset="0"/>
                <a:cs typeface="Arial" panose="020B0604020202020204" pitchFamily="34" charset="0"/>
              </a:rPr>
              <a:t>British Journal of Hospital Medicine, October 2007, </a:t>
            </a:r>
            <a:r>
              <a:rPr lang="en-US" sz="2400" dirty="0" err="1">
                <a:latin typeface="Arial" panose="020B0604020202020204" pitchFamily="34" charset="0"/>
                <a:cs typeface="Arial" panose="020B0604020202020204" pitchFamily="34" charset="0"/>
              </a:rPr>
              <a:t>Vol</a:t>
            </a:r>
            <a:r>
              <a:rPr lang="en-US" sz="2400" dirty="0">
                <a:latin typeface="Arial" panose="020B0604020202020204" pitchFamily="34" charset="0"/>
                <a:cs typeface="Arial" panose="020B0604020202020204" pitchFamily="34" charset="0"/>
              </a:rPr>
              <a:t> 68, No.10</a:t>
            </a:r>
          </a:p>
          <a:p>
            <a:r>
              <a:rPr lang="en-US" sz="2400" dirty="0">
                <a:latin typeface="Arial" panose="020B0604020202020204" pitchFamily="34" charset="0"/>
                <a:cs typeface="Arial" panose="020B0604020202020204" pitchFamily="34" charset="0"/>
              </a:rPr>
              <a:t>Update in Anesthesia </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96030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ACED64-657D-41BC-AE4E-A188F2048F68}" type="datetime4">
              <a:rPr lang="en-US" smtClean="0"/>
              <a:t>April 16,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sp>
        <p:nvSpPr>
          <p:cNvPr id="6" name="Rectangle 5"/>
          <p:cNvSpPr/>
          <p:nvPr/>
        </p:nvSpPr>
        <p:spPr>
          <a:xfrm>
            <a:off x="1066800" y="2967335"/>
            <a:ext cx="6248400" cy="2215991"/>
          </a:xfrm>
          <a:prstGeom prst="rect">
            <a:avLst/>
          </a:prstGeom>
          <a:noFill/>
          <a:ln>
            <a:solidFill>
              <a:schemeClr val="accent1"/>
            </a:solidFill>
          </a:ln>
        </p:spPr>
        <p:txBody>
          <a:bodyPr wrap="square" lIns="91440" tIns="45720" rIns="91440" bIns="45720">
            <a:spAutoFit/>
          </a:bodyPr>
          <a:lstStyle/>
          <a:p>
            <a:pPr algn="ctr"/>
            <a:r>
              <a:rPr lang="en-US" sz="13800" dirty="0">
                <a:ln w="0"/>
                <a:solidFill>
                  <a:schemeClr val="accent1"/>
                </a:solidFill>
                <a:effectLst>
                  <a:outerShdw blurRad="38100" dist="25400" dir="5400000" algn="ctr" rotWithShape="0">
                    <a:srgbClr val="6E747A">
                      <a:alpha val="43000"/>
                    </a:srgbClr>
                  </a:outerShdw>
                </a:effectLst>
              </a:rPr>
              <a:t>?</a:t>
            </a:r>
            <a:endParaRPr lang="en-US" sz="138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34174351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750</TotalTime>
  <Words>3358</Words>
  <Application>Microsoft Office PowerPoint</Application>
  <PresentationFormat>On-screen Show (4:3)</PresentationFormat>
  <Paragraphs>495</Paragraphs>
  <Slides>51</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Rockwell</vt:lpstr>
      <vt:lpstr>Rockwell Condensed</vt:lpstr>
      <vt:lpstr>Symbol</vt:lpstr>
      <vt:lpstr>Times New Roman</vt:lpstr>
      <vt:lpstr>Wingdings</vt:lpstr>
      <vt:lpstr>Wood Type</vt:lpstr>
      <vt:lpstr>Recognizing Critically Ill Patients</vt:lpstr>
      <vt:lpstr>Outline</vt:lpstr>
      <vt:lpstr>Goal</vt:lpstr>
      <vt:lpstr>Enabling Objectives</vt:lpstr>
      <vt:lpstr>Introduction</vt:lpstr>
      <vt:lpstr>Introduction…</vt:lpstr>
      <vt:lpstr>Introduction…</vt:lpstr>
      <vt:lpstr>Scores to identify critically ill patients </vt:lpstr>
      <vt:lpstr>   1.Single Physiologic Parameter Score(SPAS)                                                                               Update in Anaesthesia | www.anaesthesiologists.org </vt:lpstr>
      <vt:lpstr>2. The National Early Warning Score (NEWS)</vt:lpstr>
      <vt:lpstr>Why NEWS?</vt:lpstr>
      <vt:lpstr> National Early Warning Score (NEWS) System… </vt:lpstr>
      <vt:lpstr>Cont.…</vt:lpstr>
      <vt:lpstr>NEWS Essential Vital Signs</vt:lpstr>
      <vt:lpstr>Interpreting the NEWS Score…</vt:lpstr>
      <vt:lpstr>Interpreting the NEWS Score…</vt:lpstr>
      <vt:lpstr> Early Warning Scores (EWS)… </vt:lpstr>
      <vt:lpstr>Clinical approach to critically ill patients - ABCDE  </vt:lpstr>
      <vt:lpstr>ABCDE…</vt:lpstr>
      <vt:lpstr>British Journal Of Hospital Medicine, October 2007, Vol 68, No 10</vt:lpstr>
      <vt:lpstr>Cont…</vt:lpstr>
      <vt:lpstr>Clinical Examination Of The Critically Ill Patient</vt:lpstr>
      <vt:lpstr>Initial Assessment – Identify Physiological Abnormalities</vt:lpstr>
      <vt:lpstr>Group work</vt:lpstr>
      <vt:lpstr>PowerPoint Presentation</vt:lpstr>
      <vt:lpstr>PowerPoint Presentation</vt:lpstr>
      <vt:lpstr>PowerPoint Presentation</vt:lpstr>
      <vt:lpstr> </vt:lpstr>
      <vt:lpstr>Airway Assessment…</vt:lpstr>
      <vt:lpstr>Airway Assessment…</vt:lpstr>
      <vt:lpstr>Airway Assessment…</vt:lpstr>
      <vt:lpstr>Causes of AWO</vt:lpstr>
      <vt:lpstr>Airway Management</vt:lpstr>
      <vt:lpstr>Airway Management…</vt:lpstr>
      <vt:lpstr>PowerPoint Presentation</vt:lpstr>
      <vt:lpstr>Breathing…</vt:lpstr>
      <vt:lpstr>Breathing causes  </vt:lpstr>
      <vt:lpstr>Breathing management  </vt:lpstr>
      <vt:lpstr> </vt:lpstr>
      <vt:lpstr>Circulation…</vt:lpstr>
      <vt:lpstr>Circulation management</vt:lpstr>
      <vt:lpstr>Circulation management…</vt:lpstr>
      <vt:lpstr>PowerPoint Presentation</vt:lpstr>
      <vt:lpstr>PowerPoint Presentation</vt:lpstr>
      <vt:lpstr>Disability causes  </vt:lpstr>
      <vt:lpstr>Disability Management  </vt:lpstr>
      <vt:lpstr>  Treatment of altered conscious level </vt:lpstr>
      <vt:lpstr>PowerPoint Presentation</vt:lpstr>
      <vt:lpstr>Summary</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Mulualem Sitot</cp:lastModifiedBy>
  <cp:revision>226</cp:revision>
  <dcterms:created xsi:type="dcterms:W3CDTF">2006-08-16T00:00:00Z</dcterms:created>
  <dcterms:modified xsi:type="dcterms:W3CDTF">2026-04-16T19:40:31Z</dcterms:modified>
</cp:coreProperties>
</file>