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8"/>
  </p:notesMasterIdLst>
  <p:handoutMasterIdLst>
    <p:handoutMasterId r:id="rId29"/>
  </p:handoutMasterIdLst>
  <p:sldIdLst>
    <p:sldId id="256" r:id="rId2"/>
    <p:sldId id="301" r:id="rId3"/>
    <p:sldId id="257" r:id="rId4"/>
    <p:sldId id="258" r:id="rId5"/>
    <p:sldId id="304" r:id="rId6"/>
    <p:sldId id="259" r:id="rId7"/>
    <p:sldId id="260" r:id="rId8"/>
    <p:sldId id="302" r:id="rId9"/>
    <p:sldId id="284" r:id="rId10"/>
    <p:sldId id="305" r:id="rId11"/>
    <p:sldId id="295" r:id="rId12"/>
    <p:sldId id="297" r:id="rId13"/>
    <p:sldId id="306" r:id="rId14"/>
    <p:sldId id="285" r:id="rId15"/>
    <p:sldId id="303" r:id="rId16"/>
    <p:sldId id="299" r:id="rId17"/>
    <p:sldId id="286" r:id="rId18"/>
    <p:sldId id="287" r:id="rId19"/>
    <p:sldId id="298" r:id="rId20"/>
    <p:sldId id="288" r:id="rId21"/>
    <p:sldId id="289" r:id="rId22"/>
    <p:sldId id="290" r:id="rId23"/>
    <p:sldId id="292" r:id="rId24"/>
    <p:sldId id="291" r:id="rId25"/>
    <p:sldId id="280" r:id="rId26"/>
    <p:sldId id="281"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188" autoAdjust="0"/>
  </p:normalViewPr>
  <p:slideViewPr>
    <p:cSldViewPr>
      <p:cViewPr varScale="1">
        <p:scale>
          <a:sx n="59" d="100"/>
          <a:sy n="59" d="100"/>
        </p:scale>
        <p:origin x="1716" y="6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53" d="100"/>
          <a:sy n="53" d="100"/>
        </p:scale>
        <p:origin x="-210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D1D37D-6FB4-410A-8A84-C1696F3B728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BA894AFC-9B58-45F4-9FD0-44B4E96B89BB}">
      <dgm:prSet/>
      <dgm:spPr/>
      <dgm:t>
        <a:bodyPr/>
        <a:lstStyle/>
        <a:p>
          <a:pPr algn="l"/>
          <a:r>
            <a:rPr lang="en-US" b="1"/>
            <a:t>Secondary (Level 2) ICU</a:t>
          </a:r>
          <a:r>
            <a:rPr lang="en-US"/>
            <a:t>—HDU.</a:t>
          </a:r>
        </a:p>
      </dgm:t>
    </dgm:pt>
    <dgm:pt modelId="{C2EB34D8-F31A-43F7-8F8B-F54B26126377}" type="parTrans" cxnId="{98CF386C-5E4D-404F-A23B-044DCD6F8BFA}">
      <dgm:prSet/>
      <dgm:spPr/>
      <dgm:t>
        <a:bodyPr/>
        <a:lstStyle/>
        <a:p>
          <a:endParaRPr lang="en-US"/>
        </a:p>
      </dgm:t>
    </dgm:pt>
    <dgm:pt modelId="{5C989FCE-93A0-4C7D-8A8F-4DC643360B3A}" type="sibTrans" cxnId="{98CF386C-5E4D-404F-A23B-044DCD6F8BFA}">
      <dgm:prSet/>
      <dgm:spPr/>
      <dgm:t>
        <a:bodyPr/>
        <a:lstStyle/>
        <a:p>
          <a:endParaRPr lang="en-US"/>
        </a:p>
      </dgm:t>
    </dgm:pt>
    <dgm:pt modelId="{D18BCFC1-3086-4951-B842-A1082C75E06E}">
      <dgm:prSet/>
      <dgm:spPr/>
      <dgm:t>
        <a:bodyPr/>
        <a:lstStyle/>
        <a:p>
          <a:pPr algn="l"/>
          <a:r>
            <a:rPr lang="en-US" dirty="0"/>
            <a:t>It is designed for patients who are seriously ill but stable. </a:t>
          </a:r>
        </a:p>
      </dgm:t>
    </dgm:pt>
    <dgm:pt modelId="{82607FE9-135C-4BF7-8A09-5A8F78490D92}" type="parTrans" cxnId="{5D314D04-D867-4337-967B-0C32A0934688}">
      <dgm:prSet/>
      <dgm:spPr/>
      <dgm:t>
        <a:bodyPr/>
        <a:lstStyle/>
        <a:p>
          <a:endParaRPr lang="en-US"/>
        </a:p>
      </dgm:t>
    </dgm:pt>
    <dgm:pt modelId="{F15678E9-9E05-4F86-AD04-FDAB6EB4839E}" type="sibTrans" cxnId="{5D314D04-D867-4337-967B-0C32A0934688}">
      <dgm:prSet/>
      <dgm:spPr/>
      <dgm:t>
        <a:bodyPr/>
        <a:lstStyle/>
        <a:p>
          <a:endParaRPr lang="en-US"/>
        </a:p>
      </dgm:t>
    </dgm:pt>
    <dgm:pt modelId="{96F42A96-EAB7-43F2-82DB-935940E30181}">
      <dgm:prSet/>
      <dgm:spPr/>
      <dgm:t>
        <a:bodyPr/>
        <a:lstStyle/>
        <a:p>
          <a:pPr algn="just"/>
          <a:r>
            <a:rPr lang="en-US" dirty="0"/>
            <a:t>Provide "general critical care: invasive monitoring and basic life support; support for a single failing organ.</a:t>
          </a:r>
        </a:p>
      </dgm:t>
    </dgm:pt>
    <dgm:pt modelId="{69D7F5C4-3299-4E1D-90A6-917AD23FB22E}" type="parTrans" cxnId="{6C27E610-7D59-4E17-9EF8-23BB70CC277C}">
      <dgm:prSet/>
      <dgm:spPr/>
      <dgm:t>
        <a:bodyPr/>
        <a:lstStyle/>
        <a:p>
          <a:endParaRPr lang="en-US"/>
        </a:p>
      </dgm:t>
    </dgm:pt>
    <dgm:pt modelId="{76810505-280A-426E-BDF9-0C7C5CE72A3F}" type="sibTrans" cxnId="{6C27E610-7D59-4E17-9EF8-23BB70CC277C}">
      <dgm:prSet/>
      <dgm:spPr/>
      <dgm:t>
        <a:bodyPr/>
        <a:lstStyle/>
        <a:p>
          <a:endParaRPr lang="en-US"/>
        </a:p>
      </dgm:t>
    </dgm:pt>
    <dgm:pt modelId="{48FE50CD-3513-4638-93C9-72B67AD9B7A0}">
      <dgm:prSet/>
      <dgm:spPr/>
      <dgm:t>
        <a:bodyPr/>
        <a:lstStyle/>
        <a:p>
          <a:pPr algn="just"/>
          <a:r>
            <a:rPr lang="en-US" dirty="0"/>
            <a:t>Patient do not typically require life support (such as mechanical ventilation) but they need higher level of monitoring and nursing care.</a:t>
          </a:r>
        </a:p>
      </dgm:t>
    </dgm:pt>
    <dgm:pt modelId="{3D439098-97F8-4B90-A1DF-F1F7F997EF40}" type="parTrans" cxnId="{281D3701-3F94-4575-B058-5C2A409694C9}">
      <dgm:prSet/>
      <dgm:spPr/>
      <dgm:t>
        <a:bodyPr/>
        <a:lstStyle/>
        <a:p>
          <a:endParaRPr lang="en-US"/>
        </a:p>
      </dgm:t>
    </dgm:pt>
    <dgm:pt modelId="{3CAC2F76-9B3F-47DB-ADAA-911A5C0CBA4E}" type="sibTrans" cxnId="{281D3701-3F94-4575-B058-5C2A409694C9}">
      <dgm:prSet/>
      <dgm:spPr/>
      <dgm:t>
        <a:bodyPr/>
        <a:lstStyle/>
        <a:p>
          <a:endParaRPr lang="en-US"/>
        </a:p>
      </dgm:t>
    </dgm:pt>
    <dgm:pt modelId="{565D4A7B-C1EA-43D2-A9A7-645B6633A860}">
      <dgm:prSet/>
      <dgm:spPr/>
      <dgm:t>
        <a:bodyPr/>
        <a:lstStyle/>
        <a:p>
          <a:pPr algn="l"/>
          <a:r>
            <a:rPr lang="en-US" b="1" dirty="0"/>
            <a:t>Found  in larger general hospitals</a:t>
          </a:r>
          <a:endParaRPr lang="en-US" dirty="0"/>
        </a:p>
      </dgm:t>
    </dgm:pt>
    <dgm:pt modelId="{9C3F0E1D-20F9-4248-826A-C63E83EBAD3B}" type="parTrans" cxnId="{FBDB546A-3985-4EDF-8E61-8CD3F4B521CB}">
      <dgm:prSet/>
      <dgm:spPr/>
      <dgm:t>
        <a:bodyPr/>
        <a:lstStyle/>
        <a:p>
          <a:endParaRPr lang="en-US"/>
        </a:p>
      </dgm:t>
    </dgm:pt>
    <dgm:pt modelId="{FAE9EF02-AA53-418D-854C-070B86FBB034}" type="sibTrans" cxnId="{FBDB546A-3985-4EDF-8E61-8CD3F4B521CB}">
      <dgm:prSet/>
      <dgm:spPr/>
      <dgm:t>
        <a:bodyPr/>
        <a:lstStyle/>
        <a:p>
          <a:endParaRPr lang="en-US"/>
        </a:p>
      </dgm:t>
    </dgm:pt>
    <dgm:pt modelId="{13484E15-B154-4444-9987-F7CE0CEB6336}">
      <dgm:prSet/>
      <dgm:spPr/>
      <dgm:t>
        <a:bodyPr/>
        <a:lstStyle/>
        <a:p>
          <a:pPr algn="l"/>
          <a:r>
            <a:rPr lang="en-US"/>
            <a:t>A HDU should have a minimum of 4 bed</a:t>
          </a:r>
        </a:p>
      </dgm:t>
    </dgm:pt>
    <dgm:pt modelId="{07014993-253C-4A71-B961-D69CC5ACF000}" type="parTrans" cxnId="{6B10E53A-B274-485E-BBF1-CEDA2CE295A4}">
      <dgm:prSet/>
      <dgm:spPr/>
      <dgm:t>
        <a:bodyPr/>
        <a:lstStyle/>
        <a:p>
          <a:endParaRPr lang="en-US"/>
        </a:p>
      </dgm:t>
    </dgm:pt>
    <dgm:pt modelId="{D9BF3810-85C6-4DF9-9479-85633F59E85A}" type="sibTrans" cxnId="{6B10E53A-B274-485E-BBF1-CEDA2CE295A4}">
      <dgm:prSet/>
      <dgm:spPr/>
      <dgm:t>
        <a:bodyPr/>
        <a:lstStyle/>
        <a:p>
          <a:endParaRPr lang="en-US"/>
        </a:p>
      </dgm:t>
    </dgm:pt>
    <dgm:pt modelId="{82B36FD7-5D03-42D2-AEB3-E19AD2317E26}">
      <dgm:prSet/>
      <dgm:spPr/>
      <dgm:t>
        <a:bodyPr/>
        <a:lstStyle/>
        <a:p>
          <a:pPr algn="l"/>
          <a:r>
            <a:rPr lang="en-US" b="1" dirty="0"/>
            <a:t>Tertiary (Level 3) ICU</a:t>
          </a:r>
          <a:r>
            <a:rPr lang="en-US" dirty="0"/>
            <a:t>—Advanced /Tertiary ICU </a:t>
          </a:r>
        </a:p>
      </dgm:t>
    </dgm:pt>
    <dgm:pt modelId="{D49FE9F5-42DD-46E9-B99C-398EBB31AFEB}" type="parTrans" cxnId="{BAEA51AD-503C-4181-A317-5D2BB3D0B2D4}">
      <dgm:prSet/>
      <dgm:spPr/>
      <dgm:t>
        <a:bodyPr/>
        <a:lstStyle/>
        <a:p>
          <a:endParaRPr lang="en-US"/>
        </a:p>
      </dgm:t>
    </dgm:pt>
    <dgm:pt modelId="{9025C935-8A60-43AE-90E8-30336D9FAC08}" type="sibTrans" cxnId="{BAEA51AD-503C-4181-A317-5D2BB3D0B2D4}">
      <dgm:prSet/>
      <dgm:spPr/>
      <dgm:t>
        <a:bodyPr/>
        <a:lstStyle/>
        <a:p>
          <a:endParaRPr lang="en-US"/>
        </a:p>
      </dgm:t>
    </dgm:pt>
    <dgm:pt modelId="{6E9F1042-64FE-4CBC-9465-F903C0D4B795}">
      <dgm:prSet/>
      <dgm:spPr/>
      <dgm:t>
        <a:bodyPr/>
        <a:lstStyle/>
        <a:p>
          <a:r>
            <a:rPr lang="en-US" b="1"/>
            <a:t>Provided at tertiary level hospitals.</a:t>
          </a:r>
          <a:endParaRPr lang="en-US"/>
        </a:p>
      </dgm:t>
    </dgm:pt>
    <dgm:pt modelId="{AC495019-A530-4FD6-BF79-A2D60EDF5E09}" type="parTrans" cxnId="{2F3B5DE2-8A95-42A0-8BB2-35134B486F61}">
      <dgm:prSet/>
      <dgm:spPr/>
      <dgm:t>
        <a:bodyPr/>
        <a:lstStyle/>
        <a:p>
          <a:endParaRPr lang="en-US"/>
        </a:p>
      </dgm:t>
    </dgm:pt>
    <dgm:pt modelId="{17C328D9-EB58-47C5-9D3C-64E42C052468}" type="sibTrans" cxnId="{2F3B5DE2-8A95-42A0-8BB2-35134B486F61}">
      <dgm:prSet/>
      <dgm:spPr/>
      <dgm:t>
        <a:bodyPr/>
        <a:lstStyle/>
        <a:p>
          <a:endParaRPr lang="en-US"/>
        </a:p>
      </dgm:t>
    </dgm:pt>
    <dgm:pt modelId="{D27BE458-B660-4A4C-ADD9-0E369EAC9CA7}">
      <dgm:prSet/>
      <dgm:spPr/>
      <dgm:t>
        <a:bodyPr/>
        <a:lstStyle/>
        <a:p>
          <a:r>
            <a:rPr lang="en-US" dirty="0"/>
            <a:t>Comprehensive critical care" is provided here, for an indefinite period.</a:t>
          </a:r>
        </a:p>
      </dgm:t>
    </dgm:pt>
    <dgm:pt modelId="{85E9C263-E0AB-466A-9C9F-17821BEBAD30}" type="parTrans" cxnId="{F051C288-95B1-4C5F-AA4F-E69AE8152D07}">
      <dgm:prSet/>
      <dgm:spPr/>
      <dgm:t>
        <a:bodyPr/>
        <a:lstStyle/>
        <a:p>
          <a:endParaRPr lang="en-US"/>
        </a:p>
      </dgm:t>
    </dgm:pt>
    <dgm:pt modelId="{6B3A4DE1-7EF4-46E4-A970-82A1C7ACB7E1}" type="sibTrans" cxnId="{F051C288-95B1-4C5F-AA4F-E69AE8152D07}">
      <dgm:prSet/>
      <dgm:spPr/>
      <dgm:t>
        <a:bodyPr/>
        <a:lstStyle/>
        <a:p>
          <a:endParaRPr lang="en-US"/>
        </a:p>
      </dgm:t>
    </dgm:pt>
    <dgm:pt modelId="{926BC2F1-1954-478E-A180-FA2F65996386}">
      <dgm:prSet/>
      <dgm:spPr/>
      <dgm:t>
        <a:bodyPr/>
        <a:lstStyle/>
        <a:p>
          <a:r>
            <a:rPr lang="en-US"/>
            <a:t>Full life support; mechanical ventilation; multiorgan failure management; dialysis</a:t>
          </a:r>
        </a:p>
      </dgm:t>
    </dgm:pt>
    <dgm:pt modelId="{1C0AAA60-2EA2-4DA0-B763-88A66E23024B}" type="parTrans" cxnId="{BD6C7869-CAB4-418F-A2FE-E1C1FA1C56E9}">
      <dgm:prSet/>
      <dgm:spPr/>
      <dgm:t>
        <a:bodyPr/>
        <a:lstStyle/>
        <a:p>
          <a:endParaRPr lang="en-US"/>
        </a:p>
      </dgm:t>
    </dgm:pt>
    <dgm:pt modelId="{1583A7CD-6430-49F2-BEB3-BDA6C1AD47C0}" type="sibTrans" cxnId="{BD6C7869-CAB4-418F-A2FE-E1C1FA1C56E9}">
      <dgm:prSet/>
      <dgm:spPr/>
      <dgm:t>
        <a:bodyPr/>
        <a:lstStyle/>
        <a:p>
          <a:endParaRPr lang="en-US"/>
        </a:p>
      </dgm:t>
    </dgm:pt>
    <dgm:pt modelId="{FB2D653E-6D94-479F-A4EE-8273B75DB0ED}" type="pres">
      <dgm:prSet presAssocID="{02D1D37D-6FB4-410A-8A84-C1696F3B7280}" presName="linear" presStyleCnt="0">
        <dgm:presLayoutVars>
          <dgm:dir/>
          <dgm:animLvl val="lvl"/>
          <dgm:resizeHandles val="exact"/>
        </dgm:presLayoutVars>
      </dgm:prSet>
      <dgm:spPr/>
    </dgm:pt>
    <dgm:pt modelId="{4D0C44A4-4519-4144-BC25-2E0883719FF3}" type="pres">
      <dgm:prSet presAssocID="{BA894AFC-9B58-45F4-9FD0-44B4E96B89BB}" presName="parentLin" presStyleCnt="0"/>
      <dgm:spPr/>
    </dgm:pt>
    <dgm:pt modelId="{EBCB9AE4-C487-4157-883E-ACF6A4A036E2}" type="pres">
      <dgm:prSet presAssocID="{BA894AFC-9B58-45F4-9FD0-44B4E96B89BB}" presName="parentLeftMargin" presStyleLbl="node1" presStyleIdx="0" presStyleCnt="2"/>
      <dgm:spPr/>
    </dgm:pt>
    <dgm:pt modelId="{E8A875A4-35FE-4FAA-B269-19BDF3BA0470}" type="pres">
      <dgm:prSet presAssocID="{BA894AFC-9B58-45F4-9FD0-44B4E96B89BB}" presName="parentText" presStyleLbl="node1" presStyleIdx="0" presStyleCnt="2">
        <dgm:presLayoutVars>
          <dgm:chMax val="0"/>
          <dgm:bulletEnabled val="1"/>
        </dgm:presLayoutVars>
      </dgm:prSet>
      <dgm:spPr/>
    </dgm:pt>
    <dgm:pt modelId="{B3F152B4-C1B8-4976-8B79-0CEEB5262D89}" type="pres">
      <dgm:prSet presAssocID="{BA894AFC-9B58-45F4-9FD0-44B4E96B89BB}" presName="negativeSpace" presStyleCnt="0"/>
      <dgm:spPr/>
    </dgm:pt>
    <dgm:pt modelId="{3F63E6F1-FBBB-4C10-A1B5-980AF3DB8231}" type="pres">
      <dgm:prSet presAssocID="{BA894AFC-9B58-45F4-9FD0-44B4E96B89BB}" presName="childText" presStyleLbl="conFgAcc1" presStyleIdx="0" presStyleCnt="2">
        <dgm:presLayoutVars>
          <dgm:bulletEnabled val="1"/>
        </dgm:presLayoutVars>
      </dgm:prSet>
      <dgm:spPr/>
    </dgm:pt>
    <dgm:pt modelId="{A9DD1EBF-FE3D-4C06-8906-5F92AEEC6937}" type="pres">
      <dgm:prSet presAssocID="{5C989FCE-93A0-4C7D-8A8F-4DC643360B3A}" presName="spaceBetweenRectangles" presStyleCnt="0"/>
      <dgm:spPr/>
    </dgm:pt>
    <dgm:pt modelId="{421078DD-5806-4ED5-B467-EB285C2FB8CF}" type="pres">
      <dgm:prSet presAssocID="{82B36FD7-5D03-42D2-AEB3-E19AD2317E26}" presName="parentLin" presStyleCnt="0"/>
      <dgm:spPr/>
    </dgm:pt>
    <dgm:pt modelId="{B9DAB414-E3A8-4EC3-B35E-9280089BC98D}" type="pres">
      <dgm:prSet presAssocID="{82B36FD7-5D03-42D2-AEB3-E19AD2317E26}" presName="parentLeftMargin" presStyleLbl="node1" presStyleIdx="0" presStyleCnt="2"/>
      <dgm:spPr/>
    </dgm:pt>
    <dgm:pt modelId="{60E3A1E6-6B88-4E4F-A8D6-91FE2A89FA3F}" type="pres">
      <dgm:prSet presAssocID="{82B36FD7-5D03-42D2-AEB3-E19AD2317E26}" presName="parentText" presStyleLbl="node1" presStyleIdx="1" presStyleCnt="2">
        <dgm:presLayoutVars>
          <dgm:chMax val="0"/>
          <dgm:bulletEnabled val="1"/>
        </dgm:presLayoutVars>
      </dgm:prSet>
      <dgm:spPr/>
    </dgm:pt>
    <dgm:pt modelId="{1D4F2751-5576-4112-976A-0A9AAA772BA6}" type="pres">
      <dgm:prSet presAssocID="{82B36FD7-5D03-42D2-AEB3-E19AD2317E26}" presName="negativeSpace" presStyleCnt="0"/>
      <dgm:spPr/>
    </dgm:pt>
    <dgm:pt modelId="{AD55C819-C782-4362-BB81-638CFDC2C113}" type="pres">
      <dgm:prSet presAssocID="{82B36FD7-5D03-42D2-AEB3-E19AD2317E26}" presName="childText" presStyleLbl="conFgAcc1" presStyleIdx="1" presStyleCnt="2">
        <dgm:presLayoutVars>
          <dgm:bulletEnabled val="1"/>
        </dgm:presLayoutVars>
      </dgm:prSet>
      <dgm:spPr/>
    </dgm:pt>
  </dgm:ptLst>
  <dgm:cxnLst>
    <dgm:cxn modelId="{281D3701-3F94-4575-B058-5C2A409694C9}" srcId="{BA894AFC-9B58-45F4-9FD0-44B4E96B89BB}" destId="{48FE50CD-3513-4638-93C9-72B67AD9B7A0}" srcOrd="2" destOrd="0" parTransId="{3D439098-97F8-4B90-A1DF-F1F7F997EF40}" sibTransId="{3CAC2F76-9B3F-47DB-ADAA-911A5C0CBA4E}"/>
    <dgm:cxn modelId="{5D314D04-D867-4337-967B-0C32A0934688}" srcId="{BA894AFC-9B58-45F4-9FD0-44B4E96B89BB}" destId="{D18BCFC1-3086-4951-B842-A1082C75E06E}" srcOrd="0" destOrd="0" parTransId="{82607FE9-135C-4BF7-8A09-5A8F78490D92}" sibTransId="{F15678E9-9E05-4F86-AD04-FDAB6EB4839E}"/>
    <dgm:cxn modelId="{A5ABCE08-F105-487B-A15E-E6C7B38FEC4D}" type="presOf" srcId="{BA894AFC-9B58-45F4-9FD0-44B4E96B89BB}" destId="{E8A875A4-35FE-4FAA-B269-19BDF3BA0470}" srcOrd="1" destOrd="0" presId="urn:microsoft.com/office/officeart/2005/8/layout/list1"/>
    <dgm:cxn modelId="{6C27E610-7D59-4E17-9EF8-23BB70CC277C}" srcId="{BA894AFC-9B58-45F4-9FD0-44B4E96B89BB}" destId="{96F42A96-EAB7-43F2-82DB-935940E30181}" srcOrd="1" destOrd="0" parTransId="{69D7F5C4-3299-4E1D-90A6-917AD23FB22E}" sibTransId="{76810505-280A-426E-BDF9-0C7C5CE72A3F}"/>
    <dgm:cxn modelId="{C14BA21B-D7B3-4EF8-8123-B607998E08EE}" type="presOf" srcId="{D18BCFC1-3086-4951-B842-A1082C75E06E}" destId="{3F63E6F1-FBBB-4C10-A1B5-980AF3DB8231}" srcOrd="0" destOrd="0" presId="urn:microsoft.com/office/officeart/2005/8/layout/list1"/>
    <dgm:cxn modelId="{38ED151F-6C63-4AE6-B0C4-3007CC318D8A}" type="presOf" srcId="{926BC2F1-1954-478E-A180-FA2F65996386}" destId="{AD55C819-C782-4362-BB81-638CFDC2C113}" srcOrd="0" destOrd="2" presId="urn:microsoft.com/office/officeart/2005/8/layout/list1"/>
    <dgm:cxn modelId="{6B10E53A-B274-485E-BBF1-CEDA2CE295A4}" srcId="{BA894AFC-9B58-45F4-9FD0-44B4E96B89BB}" destId="{13484E15-B154-4444-9987-F7CE0CEB6336}" srcOrd="4" destOrd="0" parTransId="{07014993-253C-4A71-B961-D69CC5ACF000}" sibTransId="{D9BF3810-85C6-4DF9-9479-85633F59E85A}"/>
    <dgm:cxn modelId="{FC710A3C-1368-47C7-AACE-126D00899A98}" type="presOf" srcId="{565D4A7B-C1EA-43D2-A9A7-645B6633A860}" destId="{3F63E6F1-FBBB-4C10-A1B5-980AF3DB8231}" srcOrd="0" destOrd="3" presId="urn:microsoft.com/office/officeart/2005/8/layout/list1"/>
    <dgm:cxn modelId="{BD6C7869-CAB4-418F-A2FE-E1C1FA1C56E9}" srcId="{D27BE458-B660-4A4C-ADD9-0E369EAC9CA7}" destId="{926BC2F1-1954-478E-A180-FA2F65996386}" srcOrd="0" destOrd="0" parTransId="{1C0AAA60-2EA2-4DA0-B763-88A66E23024B}" sibTransId="{1583A7CD-6430-49F2-BEB3-BDA6C1AD47C0}"/>
    <dgm:cxn modelId="{FBDB546A-3985-4EDF-8E61-8CD3F4B521CB}" srcId="{BA894AFC-9B58-45F4-9FD0-44B4E96B89BB}" destId="{565D4A7B-C1EA-43D2-A9A7-645B6633A860}" srcOrd="3" destOrd="0" parTransId="{9C3F0E1D-20F9-4248-826A-C63E83EBAD3B}" sibTransId="{FAE9EF02-AA53-418D-854C-070B86FBB034}"/>
    <dgm:cxn modelId="{98CF386C-5E4D-404F-A23B-044DCD6F8BFA}" srcId="{02D1D37D-6FB4-410A-8A84-C1696F3B7280}" destId="{BA894AFC-9B58-45F4-9FD0-44B4E96B89BB}" srcOrd="0" destOrd="0" parTransId="{C2EB34D8-F31A-43F7-8F8B-F54B26126377}" sibTransId="{5C989FCE-93A0-4C7D-8A8F-4DC643360B3A}"/>
    <dgm:cxn modelId="{5F8E2A6E-362C-4925-8E91-86EC8EBD7516}" type="presOf" srcId="{02D1D37D-6FB4-410A-8A84-C1696F3B7280}" destId="{FB2D653E-6D94-479F-A4EE-8273B75DB0ED}" srcOrd="0" destOrd="0" presId="urn:microsoft.com/office/officeart/2005/8/layout/list1"/>
    <dgm:cxn modelId="{6B14627E-EBEF-49E5-A055-1F7ECE39783E}" type="presOf" srcId="{6E9F1042-64FE-4CBC-9465-F903C0D4B795}" destId="{AD55C819-C782-4362-BB81-638CFDC2C113}" srcOrd="0" destOrd="0" presId="urn:microsoft.com/office/officeart/2005/8/layout/list1"/>
    <dgm:cxn modelId="{F051C288-95B1-4C5F-AA4F-E69AE8152D07}" srcId="{82B36FD7-5D03-42D2-AEB3-E19AD2317E26}" destId="{D27BE458-B660-4A4C-ADD9-0E369EAC9CA7}" srcOrd="1" destOrd="0" parTransId="{85E9C263-E0AB-466A-9C9F-17821BEBAD30}" sibTransId="{6B3A4DE1-7EF4-46E4-A970-82A1C7ACB7E1}"/>
    <dgm:cxn modelId="{BEDA29AA-FB93-4DD6-AF83-1F30E746A935}" type="presOf" srcId="{82B36FD7-5D03-42D2-AEB3-E19AD2317E26}" destId="{B9DAB414-E3A8-4EC3-B35E-9280089BC98D}" srcOrd="0" destOrd="0" presId="urn:microsoft.com/office/officeart/2005/8/layout/list1"/>
    <dgm:cxn modelId="{BAEA51AD-503C-4181-A317-5D2BB3D0B2D4}" srcId="{02D1D37D-6FB4-410A-8A84-C1696F3B7280}" destId="{82B36FD7-5D03-42D2-AEB3-E19AD2317E26}" srcOrd="1" destOrd="0" parTransId="{D49FE9F5-42DD-46E9-B99C-398EBB31AFEB}" sibTransId="{9025C935-8A60-43AE-90E8-30336D9FAC08}"/>
    <dgm:cxn modelId="{C4418AB3-FC84-4B72-88CE-F41D6D71D5DB}" type="presOf" srcId="{48FE50CD-3513-4638-93C9-72B67AD9B7A0}" destId="{3F63E6F1-FBBB-4C10-A1B5-980AF3DB8231}" srcOrd="0" destOrd="2" presId="urn:microsoft.com/office/officeart/2005/8/layout/list1"/>
    <dgm:cxn modelId="{56E4D0E1-3E97-4C41-80E2-506DA4F3F1BC}" type="presOf" srcId="{BA894AFC-9B58-45F4-9FD0-44B4E96B89BB}" destId="{EBCB9AE4-C487-4157-883E-ACF6A4A036E2}" srcOrd="0" destOrd="0" presId="urn:microsoft.com/office/officeart/2005/8/layout/list1"/>
    <dgm:cxn modelId="{2F3B5DE2-8A95-42A0-8BB2-35134B486F61}" srcId="{82B36FD7-5D03-42D2-AEB3-E19AD2317E26}" destId="{6E9F1042-64FE-4CBC-9465-F903C0D4B795}" srcOrd="0" destOrd="0" parTransId="{AC495019-A530-4FD6-BF79-A2D60EDF5E09}" sibTransId="{17C328D9-EB58-47C5-9D3C-64E42C052468}"/>
    <dgm:cxn modelId="{410346E6-C1C5-4A59-8F3F-F252E0F03F04}" type="presOf" srcId="{96F42A96-EAB7-43F2-82DB-935940E30181}" destId="{3F63E6F1-FBBB-4C10-A1B5-980AF3DB8231}" srcOrd="0" destOrd="1" presId="urn:microsoft.com/office/officeart/2005/8/layout/list1"/>
    <dgm:cxn modelId="{AEABAAEE-B0B8-4961-B8E5-F699D8E90832}" type="presOf" srcId="{82B36FD7-5D03-42D2-AEB3-E19AD2317E26}" destId="{60E3A1E6-6B88-4E4F-A8D6-91FE2A89FA3F}" srcOrd="1" destOrd="0" presId="urn:microsoft.com/office/officeart/2005/8/layout/list1"/>
    <dgm:cxn modelId="{743A35EF-E2D6-4D67-B676-8F7B2A956AC0}" type="presOf" srcId="{D27BE458-B660-4A4C-ADD9-0E369EAC9CA7}" destId="{AD55C819-C782-4362-BB81-638CFDC2C113}" srcOrd="0" destOrd="1" presId="urn:microsoft.com/office/officeart/2005/8/layout/list1"/>
    <dgm:cxn modelId="{E33621FF-9DDA-4002-A26E-910A249A777C}" type="presOf" srcId="{13484E15-B154-4444-9987-F7CE0CEB6336}" destId="{3F63E6F1-FBBB-4C10-A1B5-980AF3DB8231}" srcOrd="0" destOrd="4" presId="urn:microsoft.com/office/officeart/2005/8/layout/list1"/>
    <dgm:cxn modelId="{A50936A9-8F4F-4578-A707-CB6CB74E3579}" type="presParOf" srcId="{FB2D653E-6D94-479F-A4EE-8273B75DB0ED}" destId="{4D0C44A4-4519-4144-BC25-2E0883719FF3}" srcOrd="0" destOrd="0" presId="urn:microsoft.com/office/officeart/2005/8/layout/list1"/>
    <dgm:cxn modelId="{88921FC2-F27B-45A9-8AEB-37AEBBCD4FAC}" type="presParOf" srcId="{4D0C44A4-4519-4144-BC25-2E0883719FF3}" destId="{EBCB9AE4-C487-4157-883E-ACF6A4A036E2}" srcOrd="0" destOrd="0" presId="urn:microsoft.com/office/officeart/2005/8/layout/list1"/>
    <dgm:cxn modelId="{739CDC94-F4AF-46C7-929D-479A4793836F}" type="presParOf" srcId="{4D0C44A4-4519-4144-BC25-2E0883719FF3}" destId="{E8A875A4-35FE-4FAA-B269-19BDF3BA0470}" srcOrd="1" destOrd="0" presId="urn:microsoft.com/office/officeart/2005/8/layout/list1"/>
    <dgm:cxn modelId="{20610FA2-A1D3-4030-873E-31ED4D76D053}" type="presParOf" srcId="{FB2D653E-6D94-479F-A4EE-8273B75DB0ED}" destId="{B3F152B4-C1B8-4976-8B79-0CEEB5262D89}" srcOrd="1" destOrd="0" presId="urn:microsoft.com/office/officeart/2005/8/layout/list1"/>
    <dgm:cxn modelId="{ECB20BCB-E7B2-4AB7-A805-76FACB5A83C9}" type="presParOf" srcId="{FB2D653E-6D94-479F-A4EE-8273B75DB0ED}" destId="{3F63E6F1-FBBB-4C10-A1B5-980AF3DB8231}" srcOrd="2" destOrd="0" presId="urn:microsoft.com/office/officeart/2005/8/layout/list1"/>
    <dgm:cxn modelId="{0F63984F-CF00-4D55-B2CF-6D50C8DBEA4E}" type="presParOf" srcId="{FB2D653E-6D94-479F-A4EE-8273B75DB0ED}" destId="{A9DD1EBF-FE3D-4C06-8906-5F92AEEC6937}" srcOrd="3" destOrd="0" presId="urn:microsoft.com/office/officeart/2005/8/layout/list1"/>
    <dgm:cxn modelId="{7FBE566A-7DB6-4310-9773-C4E9E87682B0}" type="presParOf" srcId="{FB2D653E-6D94-479F-A4EE-8273B75DB0ED}" destId="{421078DD-5806-4ED5-B467-EB285C2FB8CF}" srcOrd="4" destOrd="0" presId="urn:microsoft.com/office/officeart/2005/8/layout/list1"/>
    <dgm:cxn modelId="{AE7898E6-779E-4A86-B891-703332600671}" type="presParOf" srcId="{421078DD-5806-4ED5-B467-EB285C2FB8CF}" destId="{B9DAB414-E3A8-4EC3-B35E-9280089BC98D}" srcOrd="0" destOrd="0" presId="urn:microsoft.com/office/officeart/2005/8/layout/list1"/>
    <dgm:cxn modelId="{0C2DBF6B-647C-4814-95CE-1B2D2D49D1D1}" type="presParOf" srcId="{421078DD-5806-4ED5-B467-EB285C2FB8CF}" destId="{60E3A1E6-6B88-4E4F-A8D6-91FE2A89FA3F}" srcOrd="1" destOrd="0" presId="urn:microsoft.com/office/officeart/2005/8/layout/list1"/>
    <dgm:cxn modelId="{A6EE26BB-C374-470E-934D-5A920B83F259}" type="presParOf" srcId="{FB2D653E-6D94-479F-A4EE-8273B75DB0ED}" destId="{1D4F2751-5576-4112-976A-0A9AAA772BA6}" srcOrd="5" destOrd="0" presId="urn:microsoft.com/office/officeart/2005/8/layout/list1"/>
    <dgm:cxn modelId="{4A3B7628-9D47-45CF-B02B-93BF635AF0D1}" type="presParOf" srcId="{FB2D653E-6D94-479F-A4EE-8273B75DB0ED}" destId="{AD55C819-C782-4362-BB81-638CFDC2C113}"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5481B5-EB1C-40C7-9DB6-0ADF8F81C150}" type="doc">
      <dgm:prSet loTypeId="urn:microsoft.com/office/officeart/2005/8/layout/hierarchy2" loCatId="hierarchy" qsTypeId="urn:microsoft.com/office/officeart/2005/8/quickstyle/simple1" qsCatId="simple" csTypeId="urn:microsoft.com/office/officeart/2005/8/colors/accent0_1" csCatId="mainScheme" phldr="1"/>
      <dgm:spPr/>
      <dgm:t>
        <a:bodyPr/>
        <a:lstStyle/>
        <a:p>
          <a:endParaRPr lang="en-US"/>
        </a:p>
      </dgm:t>
    </dgm:pt>
    <dgm:pt modelId="{A6960A63-97F5-4553-9FDD-52315D6D495D}">
      <dgm:prSet custT="1"/>
      <dgm:spPr/>
      <dgm:t>
        <a:bodyPr/>
        <a:lstStyle/>
        <a:p>
          <a:pPr algn="l"/>
          <a:r>
            <a:rPr lang="en-US" sz="2000" dirty="0">
              <a:latin typeface="Arial" panose="020B0604020202020204" pitchFamily="34" charset="0"/>
              <a:cs typeface="Arial" panose="020B0604020202020204" pitchFamily="34" charset="0"/>
            </a:rPr>
            <a:t>Depending upon the</a:t>
          </a:r>
        </a:p>
      </dgm:t>
    </dgm:pt>
    <dgm:pt modelId="{B35AD49F-6F94-442D-9C73-6C3044CE2CE4}" type="parTrans" cxnId="{ABBE042F-7EB4-46CF-84B6-9123CE56A362}">
      <dgm:prSet/>
      <dgm:spPr/>
      <dgm:t>
        <a:bodyPr/>
        <a:lstStyle/>
        <a:p>
          <a:endParaRPr lang="en-US"/>
        </a:p>
      </dgm:t>
    </dgm:pt>
    <dgm:pt modelId="{88605BF6-4857-471B-89A1-B8AD060E87CD}" type="sibTrans" cxnId="{ABBE042F-7EB4-46CF-84B6-9123CE56A362}">
      <dgm:prSet/>
      <dgm:spPr/>
      <dgm:t>
        <a:bodyPr/>
        <a:lstStyle/>
        <a:p>
          <a:endParaRPr lang="en-US"/>
        </a:p>
      </dgm:t>
    </dgm:pt>
    <dgm:pt modelId="{8C071940-8069-4DEB-8D6D-860699C99189}">
      <dgm:prSet custT="1"/>
      <dgm:spPr/>
      <dgm:t>
        <a:bodyPr/>
        <a:lstStyle/>
        <a:p>
          <a:pPr algn="just"/>
          <a:r>
            <a:rPr lang="en-US" sz="2000" dirty="0">
              <a:latin typeface="Arial" panose="020B0604020202020204" pitchFamily="34" charset="0"/>
              <a:cs typeface="Arial" panose="020B0604020202020204" pitchFamily="34" charset="0"/>
            </a:rPr>
            <a:t>designated level</a:t>
          </a:r>
        </a:p>
      </dgm:t>
    </dgm:pt>
    <dgm:pt modelId="{4F05C0C8-675D-4F6D-8391-41FD0A71EB83}" type="parTrans" cxnId="{6A9B1B2A-64EE-4093-8C46-080772271059}">
      <dgm:prSet custT="1"/>
      <dgm:spPr/>
      <dgm:t>
        <a:bodyPr/>
        <a:lstStyle/>
        <a:p>
          <a:endParaRPr lang="en-US" sz="800">
            <a:latin typeface="Arial" panose="020B0604020202020204" pitchFamily="34" charset="0"/>
            <a:cs typeface="Arial" panose="020B0604020202020204" pitchFamily="34" charset="0"/>
          </a:endParaRPr>
        </a:p>
      </dgm:t>
    </dgm:pt>
    <dgm:pt modelId="{400C55EF-8E6B-48AF-82D7-927E4FE8833E}" type="sibTrans" cxnId="{6A9B1B2A-64EE-4093-8C46-080772271059}">
      <dgm:prSet/>
      <dgm:spPr/>
      <dgm:t>
        <a:bodyPr/>
        <a:lstStyle/>
        <a:p>
          <a:endParaRPr lang="en-US"/>
        </a:p>
      </dgm:t>
    </dgm:pt>
    <dgm:pt modelId="{77B83A48-721A-4635-B75A-2B554AACEEEA}">
      <dgm:prSet custT="1"/>
      <dgm:spPr/>
      <dgm:t>
        <a:bodyPr/>
        <a:lstStyle/>
        <a:p>
          <a:pPr algn="just"/>
          <a:r>
            <a:rPr lang="en-US" sz="2000" dirty="0">
              <a:latin typeface="Arial" panose="020B0604020202020204" pitchFamily="34" charset="0"/>
              <a:cs typeface="Arial" panose="020B0604020202020204" pitchFamily="34" charset="0"/>
            </a:rPr>
            <a:t>function</a:t>
          </a:r>
        </a:p>
      </dgm:t>
    </dgm:pt>
    <dgm:pt modelId="{D9E25D30-07A4-4CDD-864D-8F293EB81B12}" type="parTrans" cxnId="{31C667CD-910D-4D64-8DE3-4EF8948B920F}">
      <dgm:prSet custT="1"/>
      <dgm:spPr/>
      <dgm:t>
        <a:bodyPr/>
        <a:lstStyle/>
        <a:p>
          <a:endParaRPr lang="en-US" sz="800">
            <a:latin typeface="Arial" panose="020B0604020202020204" pitchFamily="34" charset="0"/>
            <a:cs typeface="Arial" panose="020B0604020202020204" pitchFamily="34" charset="0"/>
          </a:endParaRPr>
        </a:p>
      </dgm:t>
    </dgm:pt>
    <dgm:pt modelId="{BFEDFFA2-B60D-45D8-869E-7414F394B252}" type="sibTrans" cxnId="{31C667CD-910D-4D64-8DE3-4EF8948B920F}">
      <dgm:prSet/>
      <dgm:spPr/>
      <dgm:t>
        <a:bodyPr/>
        <a:lstStyle/>
        <a:p>
          <a:endParaRPr lang="en-US"/>
        </a:p>
      </dgm:t>
    </dgm:pt>
    <dgm:pt modelId="{C0D81E80-FAF6-465E-B009-EF55AECB99CA}">
      <dgm:prSet custT="1"/>
      <dgm:spPr/>
      <dgm:t>
        <a:bodyPr/>
        <a:lstStyle/>
        <a:p>
          <a:pPr algn="l"/>
          <a:r>
            <a:rPr lang="en-US" sz="2000" dirty="0">
              <a:latin typeface="Arial" panose="020B0604020202020204" pitchFamily="34" charset="0"/>
              <a:cs typeface="Arial" panose="020B0604020202020204" pitchFamily="34" charset="0"/>
            </a:rPr>
            <a:t>size and</a:t>
          </a:r>
        </a:p>
      </dgm:t>
    </dgm:pt>
    <dgm:pt modelId="{05101DFD-C488-4B20-AA6D-E4ED8BB004F2}" type="parTrans" cxnId="{21A5792B-7271-47FD-A01E-562A886C0506}">
      <dgm:prSet custT="1"/>
      <dgm:spPr/>
      <dgm:t>
        <a:bodyPr/>
        <a:lstStyle/>
        <a:p>
          <a:endParaRPr lang="en-US" sz="900">
            <a:latin typeface="Arial" panose="020B0604020202020204" pitchFamily="34" charset="0"/>
            <a:cs typeface="Arial" panose="020B0604020202020204" pitchFamily="34" charset="0"/>
          </a:endParaRPr>
        </a:p>
      </dgm:t>
    </dgm:pt>
    <dgm:pt modelId="{EAD82CE9-6AC9-4508-8735-0C45008BF151}" type="sibTrans" cxnId="{21A5792B-7271-47FD-A01E-562A886C0506}">
      <dgm:prSet/>
      <dgm:spPr/>
      <dgm:t>
        <a:bodyPr/>
        <a:lstStyle/>
        <a:p>
          <a:endParaRPr lang="en-US"/>
        </a:p>
      </dgm:t>
    </dgm:pt>
    <dgm:pt modelId="{5038CD50-5D82-40D6-91C7-C2140CBC692C}">
      <dgm:prSet custT="1"/>
      <dgm:spPr/>
      <dgm:t>
        <a:bodyPr/>
        <a:lstStyle/>
        <a:p>
          <a:pPr algn="l"/>
          <a:r>
            <a:rPr lang="en-US" sz="2000" dirty="0">
              <a:latin typeface="Arial" panose="020B0604020202020204" pitchFamily="34" charset="0"/>
              <a:cs typeface="Arial" panose="020B0604020202020204" pitchFamily="34" charset="0"/>
            </a:rPr>
            <a:t>case mix of the hospital and/or region that it serves</a:t>
          </a:r>
        </a:p>
      </dgm:t>
    </dgm:pt>
    <dgm:pt modelId="{5A74EB98-DBA3-4873-BCF3-9D78F86E4372}" type="parTrans" cxnId="{4C2BC814-A56B-404B-BFCD-A9EABBBC1DE7}">
      <dgm:prSet custT="1"/>
      <dgm:spPr/>
      <dgm:t>
        <a:bodyPr/>
        <a:lstStyle/>
        <a:p>
          <a:endParaRPr lang="en-US" sz="1050">
            <a:latin typeface="Arial" panose="020B0604020202020204" pitchFamily="34" charset="0"/>
            <a:cs typeface="Arial" panose="020B0604020202020204" pitchFamily="34" charset="0"/>
          </a:endParaRPr>
        </a:p>
      </dgm:t>
    </dgm:pt>
    <dgm:pt modelId="{CB42F78A-FE4B-4A72-BF6F-839A7F0BAEB6}" type="sibTrans" cxnId="{4C2BC814-A56B-404B-BFCD-A9EABBBC1DE7}">
      <dgm:prSet/>
      <dgm:spPr/>
      <dgm:t>
        <a:bodyPr/>
        <a:lstStyle/>
        <a:p>
          <a:endParaRPr lang="en-US"/>
        </a:p>
      </dgm:t>
    </dgm:pt>
    <dgm:pt modelId="{1882079F-0204-4552-A27B-F0432386E250}">
      <dgm:prSet custT="1"/>
      <dgm:spPr/>
      <dgm:t>
        <a:bodyPr/>
        <a:lstStyle/>
        <a:p>
          <a:pPr algn="l"/>
          <a:r>
            <a:rPr lang="en-US" sz="2000" dirty="0">
              <a:latin typeface="Arial" panose="020B0604020202020204" pitchFamily="34" charset="0"/>
              <a:cs typeface="Arial" panose="020B0604020202020204" pitchFamily="34" charset="0"/>
            </a:rPr>
            <a:t>An ICU may range from four to over 50 beds.</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dgm:t>
    </dgm:pt>
    <dgm:pt modelId="{9F61E690-5EAE-4EB1-96EC-4D1C28265CA2}" type="parTrans" cxnId="{BB0A1CD1-A4FD-4191-A5C8-F1138EB6CD6B}">
      <dgm:prSet/>
      <dgm:spPr/>
      <dgm:t>
        <a:bodyPr/>
        <a:lstStyle/>
        <a:p>
          <a:endParaRPr lang="en-US"/>
        </a:p>
      </dgm:t>
    </dgm:pt>
    <dgm:pt modelId="{C5928D4E-CB49-44E3-8196-E57ADFDAF75C}" type="sibTrans" cxnId="{BB0A1CD1-A4FD-4191-A5C8-F1138EB6CD6B}">
      <dgm:prSet/>
      <dgm:spPr/>
      <dgm:t>
        <a:bodyPr/>
        <a:lstStyle/>
        <a:p>
          <a:endParaRPr lang="en-US"/>
        </a:p>
      </dgm:t>
    </dgm:pt>
    <dgm:pt modelId="{D35BD9FE-82A1-4B2D-8A94-9135AD745028}" type="pres">
      <dgm:prSet presAssocID="{415481B5-EB1C-40C7-9DB6-0ADF8F81C150}" presName="diagram" presStyleCnt="0">
        <dgm:presLayoutVars>
          <dgm:chPref val="1"/>
          <dgm:dir/>
          <dgm:animOne val="branch"/>
          <dgm:animLvl val="lvl"/>
          <dgm:resizeHandles val="exact"/>
        </dgm:presLayoutVars>
      </dgm:prSet>
      <dgm:spPr/>
    </dgm:pt>
    <dgm:pt modelId="{1892C227-106B-477D-BEDA-8E0F0D014914}" type="pres">
      <dgm:prSet presAssocID="{A6960A63-97F5-4553-9FDD-52315D6D495D}" presName="root1" presStyleCnt="0"/>
      <dgm:spPr/>
    </dgm:pt>
    <dgm:pt modelId="{B5B525FA-312F-4C15-B6C6-507F148C5565}" type="pres">
      <dgm:prSet presAssocID="{A6960A63-97F5-4553-9FDD-52315D6D495D}" presName="LevelOneTextNode" presStyleLbl="node0" presStyleIdx="0" presStyleCnt="2" custScaleX="91129" custLinFactNeighborX="-33663" custLinFactNeighborY="-90804">
        <dgm:presLayoutVars>
          <dgm:chPref val="3"/>
        </dgm:presLayoutVars>
      </dgm:prSet>
      <dgm:spPr/>
    </dgm:pt>
    <dgm:pt modelId="{BE26F3DD-BFF5-4458-87D4-7A8AF013FFC7}" type="pres">
      <dgm:prSet presAssocID="{A6960A63-97F5-4553-9FDD-52315D6D495D}" presName="level2hierChild" presStyleCnt="0"/>
      <dgm:spPr/>
    </dgm:pt>
    <dgm:pt modelId="{53EE6CD7-7B33-4DB4-8580-AFA71057A37F}" type="pres">
      <dgm:prSet presAssocID="{4F05C0C8-675D-4F6D-8391-41FD0A71EB83}" presName="conn2-1" presStyleLbl="parChTrans1D2" presStyleIdx="0" presStyleCnt="4"/>
      <dgm:spPr/>
    </dgm:pt>
    <dgm:pt modelId="{2242F030-0462-405A-B998-C3A73A93B3F7}" type="pres">
      <dgm:prSet presAssocID="{4F05C0C8-675D-4F6D-8391-41FD0A71EB83}" presName="connTx" presStyleLbl="parChTrans1D2" presStyleIdx="0" presStyleCnt="4"/>
      <dgm:spPr/>
    </dgm:pt>
    <dgm:pt modelId="{5E6EBD67-210E-4F5F-B69A-7037CF1820BE}" type="pres">
      <dgm:prSet presAssocID="{8C071940-8069-4DEB-8D6D-860699C99189}" presName="root2" presStyleCnt="0"/>
      <dgm:spPr/>
    </dgm:pt>
    <dgm:pt modelId="{4F1A5AB5-AEC6-4A30-8B59-30A6302707D1}" type="pres">
      <dgm:prSet presAssocID="{8C071940-8069-4DEB-8D6D-860699C99189}" presName="LevelTwoTextNode" presStyleLbl="node2" presStyleIdx="0" presStyleCnt="4" custScaleX="81635" custScaleY="45760">
        <dgm:presLayoutVars>
          <dgm:chPref val="3"/>
        </dgm:presLayoutVars>
      </dgm:prSet>
      <dgm:spPr/>
    </dgm:pt>
    <dgm:pt modelId="{02238DA9-676A-451D-BA88-7234249D9CAB}" type="pres">
      <dgm:prSet presAssocID="{8C071940-8069-4DEB-8D6D-860699C99189}" presName="level3hierChild" presStyleCnt="0"/>
      <dgm:spPr/>
    </dgm:pt>
    <dgm:pt modelId="{F43D6863-7FF1-414C-ABC6-CAC7A117FBB3}" type="pres">
      <dgm:prSet presAssocID="{D9E25D30-07A4-4CDD-864D-8F293EB81B12}" presName="conn2-1" presStyleLbl="parChTrans1D2" presStyleIdx="1" presStyleCnt="4"/>
      <dgm:spPr/>
    </dgm:pt>
    <dgm:pt modelId="{8AB7CE96-30CD-45AD-85BB-DB7C430580CE}" type="pres">
      <dgm:prSet presAssocID="{D9E25D30-07A4-4CDD-864D-8F293EB81B12}" presName="connTx" presStyleLbl="parChTrans1D2" presStyleIdx="1" presStyleCnt="4"/>
      <dgm:spPr/>
    </dgm:pt>
    <dgm:pt modelId="{F3856DE9-8557-490A-9C02-7D9E56DF53DF}" type="pres">
      <dgm:prSet presAssocID="{77B83A48-721A-4635-B75A-2B554AACEEEA}" presName="root2" presStyleCnt="0"/>
      <dgm:spPr/>
    </dgm:pt>
    <dgm:pt modelId="{79629584-1F37-4D1D-87D6-26D18692ABDD}" type="pres">
      <dgm:prSet presAssocID="{77B83A48-721A-4635-B75A-2B554AACEEEA}" presName="LevelTwoTextNode" presStyleLbl="node2" presStyleIdx="1" presStyleCnt="4" custScaleX="71199" custScaleY="46024">
        <dgm:presLayoutVars>
          <dgm:chPref val="3"/>
        </dgm:presLayoutVars>
      </dgm:prSet>
      <dgm:spPr/>
    </dgm:pt>
    <dgm:pt modelId="{5476FB61-871C-4BD6-9384-54C366BB9959}" type="pres">
      <dgm:prSet presAssocID="{77B83A48-721A-4635-B75A-2B554AACEEEA}" presName="level3hierChild" presStyleCnt="0"/>
      <dgm:spPr/>
    </dgm:pt>
    <dgm:pt modelId="{E55E110A-DEAF-4724-B3A4-3F77B12240C4}" type="pres">
      <dgm:prSet presAssocID="{05101DFD-C488-4B20-AA6D-E4ED8BB004F2}" presName="conn2-1" presStyleLbl="parChTrans1D2" presStyleIdx="2" presStyleCnt="4"/>
      <dgm:spPr/>
    </dgm:pt>
    <dgm:pt modelId="{08A745D7-6807-4B1D-AE35-9A27D0CB8457}" type="pres">
      <dgm:prSet presAssocID="{05101DFD-C488-4B20-AA6D-E4ED8BB004F2}" presName="connTx" presStyleLbl="parChTrans1D2" presStyleIdx="2" presStyleCnt="4"/>
      <dgm:spPr/>
    </dgm:pt>
    <dgm:pt modelId="{2092F6CD-0BF1-4E30-8414-24785FE65AFE}" type="pres">
      <dgm:prSet presAssocID="{C0D81E80-FAF6-465E-B009-EF55AECB99CA}" presName="root2" presStyleCnt="0"/>
      <dgm:spPr/>
    </dgm:pt>
    <dgm:pt modelId="{6E976D62-BEEC-408D-A1FC-78BF87D7D707}" type="pres">
      <dgm:prSet presAssocID="{C0D81E80-FAF6-465E-B009-EF55AECB99CA}" presName="LevelTwoTextNode" presStyleLbl="node2" presStyleIdx="2" presStyleCnt="4" custScaleX="66608" custScaleY="48290">
        <dgm:presLayoutVars>
          <dgm:chPref val="3"/>
        </dgm:presLayoutVars>
      </dgm:prSet>
      <dgm:spPr/>
    </dgm:pt>
    <dgm:pt modelId="{47D76ACF-85B7-43C1-95E2-8B6F1984428A}" type="pres">
      <dgm:prSet presAssocID="{C0D81E80-FAF6-465E-B009-EF55AECB99CA}" presName="level3hierChild" presStyleCnt="0"/>
      <dgm:spPr/>
    </dgm:pt>
    <dgm:pt modelId="{DD7266B4-5149-4080-9D1C-FD46B63D63F9}" type="pres">
      <dgm:prSet presAssocID="{5A74EB98-DBA3-4873-BCF3-9D78F86E4372}" presName="conn2-1" presStyleLbl="parChTrans1D2" presStyleIdx="3" presStyleCnt="4"/>
      <dgm:spPr/>
    </dgm:pt>
    <dgm:pt modelId="{C47BBE8A-886B-4FC6-ADAF-200648C4141B}" type="pres">
      <dgm:prSet presAssocID="{5A74EB98-DBA3-4873-BCF3-9D78F86E4372}" presName="connTx" presStyleLbl="parChTrans1D2" presStyleIdx="3" presStyleCnt="4"/>
      <dgm:spPr/>
    </dgm:pt>
    <dgm:pt modelId="{15DC2E9F-BEE9-4462-9726-39BB8ACA80B3}" type="pres">
      <dgm:prSet presAssocID="{5038CD50-5D82-40D6-91C7-C2140CBC692C}" presName="root2" presStyleCnt="0"/>
      <dgm:spPr/>
    </dgm:pt>
    <dgm:pt modelId="{00F7B725-8FF0-4795-9EF5-335535F64062}" type="pres">
      <dgm:prSet presAssocID="{5038CD50-5D82-40D6-91C7-C2140CBC692C}" presName="LevelTwoTextNode" presStyleLbl="node2" presStyleIdx="3" presStyleCnt="4" custScaleY="47152">
        <dgm:presLayoutVars>
          <dgm:chPref val="3"/>
        </dgm:presLayoutVars>
      </dgm:prSet>
      <dgm:spPr/>
    </dgm:pt>
    <dgm:pt modelId="{8E00DA43-BF3F-4B35-B631-6DE6520D1CEF}" type="pres">
      <dgm:prSet presAssocID="{5038CD50-5D82-40D6-91C7-C2140CBC692C}" presName="level3hierChild" presStyleCnt="0"/>
      <dgm:spPr/>
    </dgm:pt>
    <dgm:pt modelId="{D6E46A2D-45A7-41D6-8D61-B34C47331443}" type="pres">
      <dgm:prSet presAssocID="{1882079F-0204-4552-A27B-F0432386E250}" presName="root1" presStyleCnt="0"/>
      <dgm:spPr/>
    </dgm:pt>
    <dgm:pt modelId="{5FDA8CDB-BC95-4439-9E18-26D500F0E172}" type="pres">
      <dgm:prSet presAssocID="{1882079F-0204-4552-A27B-F0432386E250}" presName="LevelOneTextNode" presStyleLbl="node0" presStyleIdx="1" presStyleCnt="2" custScaleX="203914" custScaleY="46742">
        <dgm:presLayoutVars>
          <dgm:chPref val="3"/>
        </dgm:presLayoutVars>
      </dgm:prSet>
      <dgm:spPr/>
    </dgm:pt>
    <dgm:pt modelId="{2B057AAB-4CC8-4BD9-9256-1F29A12D2E21}" type="pres">
      <dgm:prSet presAssocID="{1882079F-0204-4552-A27B-F0432386E250}" presName="level2hierChild" presStyleCnt="0"/>
      <dgm:spPr/>
    </dgm:pt>
  </dgm:ptLst>
  <dgm:cxnLst>
    <dgm:cxn modelId="{AE2E3809-A7A7-4C2D-9CE6-EC7C6EB173B5}" type="presOf" srcId="{5A74EB98-DBA3-4873-BCF3-9D78F86E4372}" destId="{C47BBE8A-886B-4FC6-ADAF-200648C4141B}" srcOrd="1" destOrd="0" presId="urn:microsoft.com/office/officeart/2005/8/layout/hierarchy2"/>
    <dgm:cxn modelId="{4C2BC814-A56B-404B-BFCD-A9EABBBC1DE7}" srcId="{A6960A63-97F5-4553-9FDD-52315D6D495D}" destId="{5038CD50-5D82-40D6-91C7-C2140CBC692C}" srcOrd="3" destOrd="0" parTransId="{5A74EB98-DBA3-4873-BCF3-9D78F86E4372}" sibTransId="{CB42F78A-FE4B-4A72-BF6F-839A7F0BAEB6}"/>
    <dgm:cxn modelId="{8BB73320-46FC-4CF5-A815-FD3B3D0B2A9C}" type="presOf" srcId="{4F05C0C8-675D-4F6D-8391-41FD0A71EB83}" destId="{2242F030-0462-405A-B998-C3A73A93B3F7}" srcOrd="1" destOrd="0" presId="urn:microsoft.com/office/officeart/2005/8/layout/hierarchy2"/>
    <dgm:cxn modelId="{6A9B1B2A-64EE-4093-8C46-080772271059}" srcId="{A6960A63-97F5-4553-9FDD-52315D6D495D}" destId="{8C071940-8069-4DEB-8D6D-860699C99189}" srcOrd="0" destOrd="0" parTransId="{4F05C0C8-675D-4F6D-8391-41FD0A71EB83}" sibTransId="{400C55EF-8E6B-48AF-82D7-927E4FE8833E}"/>
    <dgm:cxn modelId="{21A5792B-7271-47FD-A01E-562A886C0506}" srcId="{A6960A63-97F5-4553-9FDD-52315D6D495D}" destId="{C0D81E80-FAF6-465E-B009-EF55AECB99CA}" srcOrd="2" destOrd="0" parTransId="{05101DFD-C488-4B20-AA6D-E4ED8BB004F2}" sibTransId="{EAD82CE9-6AC9-4508-8735-0C45008BF151}"/>
    <dgm:cxn modelId="{ABBE042F-7EB4-46CF-84B6-9123CE56A362}" srcId="{415481B5-EB1C-40C7-9DB6-0ADF8F81C150}" destId="{A6960A63-97F5-4553-9FDD-52315D6D495D}" srcOrd="0" destOrd="0" parTransId="{B35AD49F-6F94-442D-9C73-6C3044CE2CE4}" sibTransId="{88605BF6-4857-471B-89A1-B8AD060E87CD}"/>
    <dgm:cxn modelId="{A00E8132-0CE7-463C-BC64-6F1B593F67F6}" type="presOf" srcId="{5038CD50-5D82-40D6-91C7-C2140CBC692C}" destId="{00F7B725-8FF0-4795-9EF5-335535F64062}" srcOrd="0" destOrd="0" presId="urn:microsoft.com/office/officeart/2005/8/layout/hierarchy2"/>
    <dgm:cxn modelId="{7836E235-8CE0-4054-94FD-E1C8E17925E0}" type="presOf" srcId="{05101DFD-C488-4B20-AA6D-E4ED8BB004F2}" destId="{E55E110A-DEAF-4724-B3A4-3F77B12240C4}" srcOrd="0" destOrd="0" presId="urn:microsoft.com/office/officeart/2005/8/layout/hierarchy2"/>
    <dgm:cxn modelId="{A4C3FF3B-DBB5-491D-972A-C8AC6F40A9FF}" type="presOf" srcId="{1882079F-0204-4552-A27B-F0432386E250}" destId="{5FDA8CDB-BC95-4439-9E18-26D500F0E172}" srcOrd="0" destOrd="0" presId="urn:microsoft.com/office/officeart/2005/8/layout/hierarchy2"/>
    <dgm:cxn modelId="{EBBE0A4B-5319-4362-BFE8-2DC3FED7C01E}" type="presOf" srcId="{4F05C0C8-675D-4F6D-8391-41FD0A71EB83}" destId="{53EE6CD7-7B33-4DB4-8580-AFA71057A37F}" srcOrd="0" destOrd="0" presId="urn:microsoft.com/office/officeart/2005/8/layout/hierarchy2"/>
    <dgm:cxn modelId="{981E6F79-0044-4C85-995B-8FA5EC61005F}" type="presOf" srcId="{5A74EB98-DBA3-4873-BCF3-9D78F86E4372}" destId="{DD7266B4-5149-4080-9D1C-FD46B63D63F9}" srcOrd="0" destOrd="0" presId="urn:microsoft.com/office/officeart/2005/8/layout/hierarchy2"/>
    <dgm:cxn modelId="{DAA3C493-329E-45CF-BD5F-B675C01BA75C}" type="presOf" srcId="{A6960A63-97F5-4553-9FDD-52315D6D495D}" destId="{B5B525FA-312F-4C15-B6C6-507F148C5565}" srcOrd="0" destOrd="0" presId="urn:microsoft.com/office/officeart/2005/8/layout/hierarchy2"/>
    <dgm:cxn modelId="{6CDF2195-A037-4317-A921-65D2CA22BCC4}" type="presOf" srcId="{D9E25D30-07A4-4CDD-864D-8F293EB81B12}" destId="{F43D6863-7FF1-414C-ABC6-CAC7A117FBB3}" srcOrd="0" destOrd="0" presId="urn:microsoft.com/office/officeart/2005/8/layout/hierarchy2"/>
    <dgm:cxn modelId="{D91C119C-8D88-4D3F-B0DD-9FE39C9D5FBC}" type="presOf" srcId="{415481B5-EB1C-40C7-9DB6-0ADF8F81C150}" destId="{D35BD9FE-82A1-4B2D-8A94-9135AD745028}" srcOrd="0" destOrd="0" presId="urn:microsoft.com/office/officeart/2005/8/layout/hierarchy2"/>
    <dgm:cxn modelId="{41D3C6A2-8801-418D-AEDE-2481FF67E573}" type="presOf" srcId="{77B83A48-721A-4635-B75A-2B554AACEEEA}" destId="{79629584-1F37-4D1D-87D6-26D18692ABDD}" srcOrd="0" destOrd="0" presId="urn:microsoft.com/office/officeart/2005/8/layout/hierarchy2"/>
    <dgm:cxn modelId="{7D0C0AC0-7227-420E-8277-46C29AE026C6}" type="presOf" srcId="{C0D81E80-FAF6-465E-B009-EF55AECB99CA}" destId="{6E976D62-BEEC-408D-A1FC-78BF87D7D707}" srcOrd="0" destOrd="0" presId="urn:microsoft.com/office/officeart/2005/8/layout/hierarchy2"/>
    <dgm:cxn modelId="{04421DC8-5517-4651-BA15-6BA05A0BCCEE}" type="presOf" srcId="{8C071940-8069-4DEB-8D6D-860699C99189}" destId="{4F1A5AB5-AEC6-4A30-8B59-30A6302707D1}" srcOrd="0" destOrd="0" presId="urn:microsoft.com/office/officeart/2005/8/layout/hierarchy2"/>
    <dgm:cxn modelId="{C4E83ECB-2B4B-45CC-8C5E-A91C2199CCB7}" type="presOf" srcId="{05101DFD-C488-4B20-AA6D-E4ED8BB004F2}" destId="{08A745D7-6807-4B1D-AE35-9A27D0CB8457}" srcOrd="1" destOrd="0" presId="urn:microsoft.com/office/officeart/2005/8/layout/hierarchy2"/>
    <dgm:cxn modelId="{31C667CD-910D-4D64-8DE3-4EF8948B920F}" srcId="{A6960A63-97F5-4553-9FDD-52315D6D495D}" destId="{77B83A48-721A-4635-B75A-2B554AACEEEA}" srcOrd="1" destOrd="0" parTransId="{D9E25D30-07A4-4CDD-864D-8F293EB81B12}" sibTransId="{BFEDFFA2-B60D-45D8-869E-7414F394B252}"/>
    <dgm:cxn modelId="{BB0A1CD1-A4FD-4191-A5C8-F1138EB6CD6B}" srcId="{415481B5-EB1C-40C7-9DB6-0ADF8F81C150}" destId="{1882079F-0204-4552-A27B-F0432386E250}" srcOrd="1" destOrd="0" parTransId="{9F61E690-5EAE-4EB1-96EC-4D1C28265CA2}" sibTransId="{C5928D4E-CB49-44E3-8196-E57ADFDAF75C}"/>
    <dgm:cxn modelId="{757BACDA-4D88-46A1-A3DB-A48A816D7014}" type="presOf" srcId="{D9E25D30-07A4-4CDD-864D-8F293EB81B12}" destId="{8AB7CE96-30CD-45AD-85BB-DB7C430580CE}" srcOrd="1" destOrd="0" presId="urn:microsoft.com/office/officeart/2005/8/layout/hierarchy2"/>
    <dgm:cxn modelId="{95239983-E45F-4C8A-A881-FE5197086AB5}" type="presParOf" srcId="{D35BD9FE-82A1-4B2D-8A94-9135AD745028}" destId="{1892C227-106B-477D-BEDA-8E0F0D014914}" srcOrd="0" destOrd="0" presId="urn:microsoft.com/office/officeart/2005/8/layout/hierarchy2"/>
    <dgm:cxn modelId="{22107BAB-9465-46D1-BC47-1C1D1A3C86EF}" type="presParOf" srcId="{1892C227-106B-477D-BEDA-8E0F0D014914}" destId="{B5B525FA-312F-4C15-B6C6-507F148C5565}" srcOrd="0" destOrd="0" presId="urn:microsoft.com/office/officeart/2005/8/layout/hierarchy2"/>
    <dgm:cxn modelId="{7135DA3B-DF5E-42C7-A840-B5CC61EDAA0D}" type="presParOf" srcId="{1892C227-106B-477D-BEDA-8E0F0D014914}" destId="{BE26F3DD-BFF5-4458-87D4-7A8AF013FFC7}" srcOrd="1" destOrd="0" presId="urn:microsoft.com/office/officeart/2005/8/layout/hierarchy2"/>
    <dgm:cxn modelId="{9FBA6D3D-B384-4828-B4E6-4EA2AD842145}" type="presParOf" srcId="{BE26F3DD-BFF5-4458-87D4-7A8AF013FFC7}" destId="{53EE6CD7-7B33-4DB4-8580-AFA71057A37F}" srcOrd="0" destOrd="0" presId="urn:microsoft.com/office/officeart/2005/8/layout/hierarchy2"/>
    <dgm:cxn modelId="{41F387EE-4CF0-4F4C-AA7E-987EAD4BA4E2}" type="presParOf" srcId="{53EE6CD7-7B33-4DB4-8580-AFA71057A37F}" destId="{2242F030-0462-405A-B998-C3A73A93B3F7}" srcOrd="0" destOrd="0" presId="urn:microsoft.com/office/officeart/2005/8/layout/hierarchy2"/>
    <dgm:cxn modelId="{7811E4C1-2B22-4A6A-81BB-88E921E6969B}" type="presParOf" srcId="{BE26F3DD-BFF5-4458-87D4-7A8AF013FFC7}" destId="{5E6EBD67-210E-4F5F-B69A-7037CF1820BE}" srcOrd="1" destOrd="0" presId="urn:microsoft.com/office/officeart/2005/8/layout/hierarchy2"/>
    <dgm:cxn modelId="{72E5B71C-7FFC-41AD-AEA4-203C551E8CDC}" type="presParOf" srcId="{5E6EBD67-210E-4F5F-B69A-7037CF1820BE}" destId="{4F1A5AB5-AEC6-4A30-8B59-30A6302707D1}" srcOrd="0" destOrd="0" presId="urn:microsoft.com/office/officeart/2005/8/layout/hierarchy2"/>
    <dgm:cxn modelId="{95749C8F-E574-48EF-9655-BB425C84685B}" type="presParOf" srcId="{5E6EBD67-210E-4F5F-B69A-7037CF1820BE}" destId="{02238DA9-676A-451D-BA88-7234249D9CAB}" srcOrd="1" destOrd="0" presId="urn:microsoft.com/office/officeart/2005/8/layout/hierarchy2"/>
    <dgm:cxn modelId="{8B235B8B-0404-44C6-902E-A529E31AAF08}" type="presParOf" srcId="{BE26F3DD-BFF5-4458-87D4-7A8AF013FFC7}" destId="{F43D6863-7FF1-414C-ABC6-CAC7A117FBB3}" srcOrd="2" destOrd="0" presId="urn:microsoft.com/office/officeart/2005/8/layout/hierarchy2"/>
    <dgm:cxn modelId="{FE8314EC-D2A7-435E-BFD6-DB868926A142}" type="presParOf" srcId="{F43D6863-7FF1-414C-ABC6-CAC7A117FBB3}" destId="{8AB7CE96-30CD-45AD-85BB-DB7C430580CE}" srcOrd="0" destOrd="0" presId="urn:microsoft.com/office/officeart/2005/8/layout/hierarchy2"/>
    <dgm:cxn modelId="{1475B8F9-BCEE-4487-BB83-2D7C42201214}" type="presParOf" srcId="{BE26F3DD-BFF5-4458-87D4-7A8AF013FFC7}" destId="{F3856DE9-8557-490A-9C02-7D9E56DF53DF}" srcOrd="3" destOrd="0" presId="urn:microsoft.com/office/officeart/2005/8/layout/hierarchy2"/>
    <dgm:cxn modelId="{456B77F1-A1AA-4BAC-AD7F-919D5E6B02CF}" type="presParOf" srcId="{F3856DE9-8557-490A-9C02-7D9E56DF53DF}" destId="{79629584-1F37-4D1D-87D6-26D18692ABDD}" srcOrd="0" destOrd="0" presId="urn:microsoft.com/office/officeart/2005/8/layout/hierarchy2"/>
    <dgm:cxn modelId="{9B271DAE-94D9-4547-AF60-9D786F1C9FE0}" type="presParOf" srcId="{F3856DE9-8557-490A-9C02-7D9E56DF53DF}" destId="{5476FB61-871C-4BD6-9384-54C366BB9959}" srcOrd="1" destOrd="0" presId="urn:microsoft.com/office/officeart/2005/8/layout/hierarchy2"/>
    <dgm:cxn modelId="{311B788D-EB9E-4739-842A-93B11ED490A0}" type="presParOf" srcId="{BE26F3DD-BFF5-4458-87D4-7A8AF013FFC7}" destId="{E55E110A-DEAF-4724-B3A4-3F77B12240C4}" srcOrd="4" destOrd="0" presId="urn:microsoft.com/office/officeart/2005/8/layout/hierarchy2"/>
    <dgm:cxn modelId="{BA36BD89-2370-4B1C-B84B-2253D84E0DD6}" type="presParOf" srcId="{E55E110A-DEAF-4724-B3A4-3F77B12240C4}" destId="{08A745D7-6807-4B1D-AE35-9A27D0CB8457}" srcOrd="0" destOrd="0" presId="urn:microsoft.com/office/officeart/2005/8/layout/hierarchy2"/>
    <dgm:cxn modelId="{64B89BCA-2FCE-4BDD-A972-81291899FE29}" type="presParOf" srcId="{BE26F3DD-BFF5-4458-87D4-7A8AF013FFC7}" destId="{2092F6CD-0BF1-4E30-8414-24785FE65AFE}" srcOrd="5" destOrd="0" presId="urn:microsoft.com/office/officeart/2005/8/layout/hierarchy2"/>
    <dgm:cxn modelId="{7F6B4D2E-46FA-4317-B762-40AE0D139A97}" type="presParOf" srcId="{2092F6CD-0BF1-4E30-8414-24785FE65AFE}" destId="{6E976D62-BEEC-408D-A1FC-78BF87D7D707}" srcOrd="0" destOrd="0" presId="urn:microsoft.com/office/officeart/2005/8/layout/hierarchy2"/>
    <dgm:cxn modelId="{DCD50576-6889-4C89-A2EB-9790704626D1}" type="presParOf" srcId="{2092F6CD-0BF1-4E30-8414-24785FE65AFE}" destId="{47D76ACF-85B7-43C1-95E2-8B6F1984428A}" srcOrd="1" destOrd="0" presId="urn:microsoft.com/office/officeart/2005/8/layout/hierarchy2"/>
    <dgm:cxn modelId="{EF8DD1C3-7284-410E-A534-91F64EB2384D}" type="presParOf" srcId="{BE26F3DD-BFF5-4458-87D4-7A8AF013FFC7}" destId="{DD7266B4-5149-4080-9D1C-FD46B63D63F9}" srcOrd="6" destOrd="0" presId="urn:microsoft.com/office/officeart/2005/8/layout/hierarchy2"/>
    <dgm:cxn modelId="{39C70E56-7250-4CFB-AC77-4C428F5EBDA9}" type="presParOf" srcId="{DD7266B4-5149-4080-9D1C-FD46B63D63F9}" destId="{C47BBE8A-886B-4FC6-ADAF-200648C4141B}" srcOrd="0" destOrd="0" presId="urn:microsoft.com/office/officeart/2005/8/layout/hierarchy2"/>
    <dgm:cxn modelId="{57994346-983C-4DF9-9732-C80C934BC915}" type="presParOf" srcId="{BE26F3DD-BFF5-4458-87D4-7A8AF013FFC7}" destId="{15DC2E9F-BEE9-4462-9726-39BB8ACA80B3}" srcOrd="7" destOrd="0" presId="urn:microsoft.com/office/officeart/2005/8/layout/hierarchy2"/>
    <dgm:cxn modelId="{D917FFD2-321D-416A-A7A6-A69310ABD1F1}" type="presParOf" srcId="{15DC2E9F-BEE9-4462-9726-39BB8ACA80B3}" destId="{00F7B725-8FF0-4795-9EF5-335535F64062}" srcOrd="0" destOrd="0" presId="urn:microsoft.com/office/officeart/2005/8/layout/hierarchy2"/>
    <dgm:cxn modelId="{EF9533DB-CCD1-45CB-B384-2AA441D8B58B}" type="presParOf" srcId="{15DC2E9F-BEE9-4462-9726-39BB8ACA80B3}" destId="{8E00DA43-BF3F-4B35-B631-6DE6520D1CEF}" srcOrd="1" destOrd="0" presId="urn:microsoft.com/office/officeart/2005/8/layout/hierarchy2"/>
    <dgm:cxn modelId="{36893B9A-8C69-4C30-8FF3-1547759AB58E}" type="presParOf" srcId="{D35BD9FE-82A1-4B2D-8A94-9135AD745028}" destId="{D6E46A2D-45A7-41D6-8D61-B34C47331443}" srcOrd="1" destOrd="0" presId="urn:microsoft.com/office/officeart/2005/8/layout/hierarchy2"/>
    <dgm:cxn modelId="{9FB8B939-2B9F-4D48-8145-D5180F1AAD3B}" type="presParOf" srcId="{D6E46A2D-45A7-41D6-8D61-B34C47331443}" destId="{5FDA8CDB-BC95-4439-9E18-26D500F0E172}" srcOrd="0" destOrd="0" presId="urn:microsoft.com/office/officeart/2005/8/layout/hierarchy2"/>
    <dgm:cxn modelId="{BA6AA7DF-0033-4A45-8386-AF457771671B}" type="presParOf" srcId="{D6E46A2D-45A7-41D6-8D61-B34C47331443}" destId="{2B057AAB-4CC8-4BD9-9256-1F29A12D2E21}"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63E6F1-FBBB-4C10-A1B5-980AF3DB8231}">
      <dsp:nvSpPr>
        <dsp:cNvPr id="0" name=""/>
        <dsp:cNvSpPr/>
      </dsp:nvSpPr>
      <dsp:spPr>
        <a:xfrm>
          <a:off x="0" y="324674"/>
          <a:ext cx="8458200" cy="24381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6450" tIns="374904" rIns="656450"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It is designed for patients who are seriously ill but stable. </a:t>
          </a:r>
        </a:p>
        <a:p>
          <a:pPr marL="171450" lvl="1" indent="-171450" algn="just" defTabSz="800100">
            <a:lnSpc>
              <a:spcPct val="90000"/>
            </a:lnSpc>
            <a:spcBef>
              <a:spcPct val="0"/>
            </a:spcBef>
            <a:spcAft>
              <a:spcPct val="15000"/>
            </a:spcAft>
            <a:buChar char="•"/>
          </a:pPr>
          <a:r>
            <a:rPr lang="en-US" sz="1800" kern="1200" dirty="0"/>
            <a:t>Provide "general critical care: invasive monitoring and basic life support; support for a single failing organ.</a:t>
          </a:r>
        </a:p>
        <a:p>
          <a:pPr marL="171450" lvl="1" indent="-171450" algn="just" defTabSz="800100">
            <a:lnSpc>
              <a:spcPct val="90000"/>
            </a:lnSpc>
            <a:spcBef>
              <a:spcPct val="0"/>
            </a:spcBef>
            <a:spcAft>
              <a:spcPct val="15000"/>
            </a:spcAft>
            <a:buChar char="•"/>
          </a:pPr>
          <a:r>
            <a:rPr lang="en-US" sz="1800" kern="1200" dirty="0"/>
            <a:t>Patient do not typically require life support (such as mechanical ventilation) but they need higher level of monitoring and nursing care.</a:t>
          </a:r>
        </a:p>
        <a:p>
          <a:pPr marL="171450" lvl="1" indent="-171450" algn="l" defTabSz="800100">
            <a:lnSpc>
              <a:spcPct val="90000"/>
            </a:lnSpc>
            <a:spcBef>
              <a:spcPct val="0"/>
            </a:spcBef>
            <a:spcAft>
              <a:spcPct val="15000"/>
            </a:spcAft>
            <a:buChar char="•"/>
          </a:pPr>
          <a:r>
            <a:rPr lang="en-US" sz="1800" b="1" kern="1200" dirty="0"/>
            <a:t>Found  in larger general hospitals</a:t>
          </a:r>
          <a:endParaRPr lang="en-US" sz="1800" kern="1200" dirty="0"/>
        </a:p>
        <a:p>
          <a:pPr marL="171450" lvl="1" indent="-171450" algn="l" defTabSz="800100">
            <a:lnSpc>
              <a:spcPct val="90000"/>
            </a:lnSpc>
            <a:spcBef>
              <a:spcPct val="0"/>
            </a:spcBef>
            <a:spcAft>
              <a:spcPct val="15000"/>
            </a:spcAft>
            <a:buChar char="•"/>
          </a:pPr>
          <a:r>
            <a:rPr lang="en-US" sz="1800" kern="1200"/>
            <a:t>A HDU should have a minimum of 4 bed</a:t>
          </a:r>
        </a:p>
      </dsp:txBody>
      <dsp:txXfrm>
        <a:off x="0" y="324674"/>
        <a:ext cx="8458200" cy="2438100"/>
      </dsp:txXfrm>
    </dsp:sp>
    <dsp:sp modelId="{E8A875A4-35FE-4FAA-B269-19BDF3BA0470}">
      <dsp:nvSpPr>
        <dsp:cNvPr id="0" name=""/>
        <dsp:cNvSpPr/>
      </dsp:nvSpPr>
      <dsp:spPr>
        <a:xfrm>
          <a:off x="422910" y="58994"/>
          <a:ext cx="5920740"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3790" tIns="0" rIns="223790" bIns="0" numCol="1" spcCol="1270" anchor="ctr" anchorCtr="0">
          <a:noAutofit/>
        </a:bodyPr>
        <a:lstStyle/>
        <a:p>
          <a:pPr marL="0" lvl="0" indent="0" algn="l" defTabSz="800100">
            <a:lnSpc>
              <a:spcPct val="90000"/>
            </a:lnSpc>
            <a:spcBef>
              <a:spcPct val="0"/>
            </a:spcBef>
            <a:spcAft>
              <a:spcPct val="35000"/>
            </a:spcAft>
            <a:buNone/>
          </a:pPr>
          <a:r>
            <a:rPr lang="en-US" sz="1800" b="1" kern="1200"/>
            <a:t>Secondary (Level 2) ICU</a:t>
          </a:r>
          <a:r>
            <a:rPr lang="en-US" sz="1800" kern="1200"/>
            <a:t>—HDU.</a:t>
          </a:r>
        </a:p>
      </dsp:txBody>
      <dsp:txXfrm>
        <a:off x="448849" y="84933"/>
        <a:ext cx="5868862" cy="479482"/>
      </dsp:txXfrm>
    </dsp:sp>
    <dsp:sp modelId="{AD55C819-C782-4362-BB81-638CFDC2C113}">
      <dsp:nvSpPr>
        <dsp:cNvPr id="0" name=""/>
        <dsp:cNvSpPr/>
      </dsp:nvSpPr>
      <dsp:spPr>
        <a:xfrm>
          <a:off x="0" y="3125655"/>
          <a:ext cx="8458200" cy="16159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6450" tIns="374904" rIns="656450" bIns="128016" numCol="1" spcCol="1270" anchor="t" anchorCtr="0">
          <a:noAutofit/>
        </a:bodyPr>
        <a:lstStyle/>
        <a:p>
          <a:pPr marL="171450" lvl="1" indent="-171450" algn="l" defTabSz="800100">
            <a:lnSpc>
              <a:spcPct val="90000"/>
            </a:lnSpc>
            <a:spcBef>
              <a:spcPct val="0"/>
            </a:spcBef>
            <a:spcAft>
              <a:spcPct val="15000"/>
            </a:spcAft>
            <a:buChar char="•"/>
          </a:pPr>
          <a:r>
            <a:rPr lang="en-US" sz="1800" b="1" kern="1200"/>
            <a:t>Provided at tertiary level hospitals.</a:t>
          </a:r>
          <a:endParaRPr lang="en-US" sz="1800" kern="1200"/>
        </a:p>
        <a:p>
          <a:pPr marL="171450" lvl="1" indent="-171450" algn="l" defTabSz="800100">
            <a:lnSpc>
              <a:spcPct val="90000"/>
            </a:lnSpc>
            <a:spcBef>
              <a:spcPct val="0"/>
            </a:spcBef>
            <a:spcAft>
              <a:spcPct val="15000"/>
            </a:spcAft>
            <a:buChar char="•"/>
          </a:pPr>
          <a:r>
            <a:rPr lang="en-US" sz="1800" kern="1200" dirty="0"/>
            <a:t>Comprehensive critical care" is provided here, for an indefinite period.</a:t>
          </a:r>
        </a:p>
        <a:p>
          <a:pPr marL="342900" lvl="2" indent="-171450" algn="l" defTabSz="800100">
            <a:lnSpc>
              <a:spcPct val="90000"/>
            </a:lnSpc>
            <a:spcBef>
              <a:spcPct val="0"/>
            </a:spcBef>
            <a:spcAft>
              <a:spcPct val="15000"/>
            </a:spcAft>
            <a:buChar char="•"/>
          </a:pPr>
          <a:r>
            <a:rPr lang="en-US" sz="1800" kern="1200"/>
            <a:t>Full life support; mechanical ventilation; multiorgan failure management; dialysis</a:t>
          </a:r>
        </a:p>
      </dsp:txBody>
      <dsp:txXfrm>
        <a:off x="0" y="3125655"/>
        <a:ext cx="8458200" cy="1615950"/>
      </dsp:txXfrm>
    </dsp:sp>
    <dsp:sp modelId="{60E3A1E6-6B88-4E4F-A8D6-91FE2A89FA3F}">
      <dsp:nvSpPr>
        <dsp:cNvPr id="0" name=""/>
        <dsp:cNvSpPr/>
      </dsp:nvSpPr>
      <dsp:spPr>
        <a:xfrm>
          <a:off x="422910" y="2859974"/>
          <a:ext cx="5920740"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3790" tIns="0" rIns="223790" bIns="0" numCol="1" spcCol="1270" anchor="ctr" anchorCtr="0">
          <a:noAutofit/>
        </a:bodyPr>
        <a:lstStyle/>
        <a:p>
          <a:pPr marL="0" lvl="0" indent="0" algn="l" defTabSz="800100">
            <a:lnSpc>
              <a:spcPct val="90000"/>
            </a:lnSpc>
            <a:spcBef>
              <a:spcPct val="0"/>
            </a:spcBef>
            <a:spcAft>
              <a:spcPct val="35000"/>
            </a:spcAft>
            <a:buNone/>
          </a:pPr>
          <a:r>
            <a:rPr lang="en-US" sz="1800" b="1" kern="1200" dirty="0"/>
            <a:t>Tertiary (Level 3) ICU</a:t>
          </a:r>
          <a:r>
            <a:rPr lang="en-US" sz="1800" kern="1200" dirty="0"/>
            <a:t>—Advanced /Tertiary ICU </a:t>
          </a:r>
        </a:p>
      </dsp:txBody>
      <dsp:txXfrm>
        <a:off x="448849" y="2885913"/>
        <a:ext cx="5868862" cy="4794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B525FA-312F-4C15-B6C6-507F148C5565}">
      <dsp:nvSpPr>
        <dsp:cNvPr id="0" name=""/>
        <dsp:cNvSpPr/>
      </dsp:nvSpPr>
      <dsp:spPr>
        <a:xfrm>
          <a:off x="0" y="0"/>
          <a:ext cx="3051851" cy="1674467"/>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Depending upon the</a:t>
          </a:r>
        </a:p>
      </dsp:txBody>
      <dsp:txXfrm>
        <a:off x="49043" y="49043"/>
        <a:ext cx="2953765" cy="1576381"/>
      </dsp:txXfrm>
    </dsp:sp>
    <dsp:sp modelId="{53EE6CD7-7B33-4DB4-8580-AFA71057A37F}">
      <dsp:nvSpPr>
        <dsp:cNvPr id="0" name=""/>
        <dsp:cNvSpPr/>
      </dsp:nvSpPr>
      <dsp:spPr>
        <a:xfrm rot="20645075">
          <a:off x="3020277" y="580782"/>
          <a:ext cx="1647340" cy="61171"/>
        </a:xfrm>
        <a:custGeom>
          <a:avLst/>
          <a:gdLst/>
          <a:ahLst/>
          <a:cxnLst/>
          <a:rect l="0" t="0" r="0" b="0"/>
          <a:pathLst>
            <a:path>
              <a:moveTo>
                <a:pt x="0" y="30585"/>
              </a:moveTo>
              <a:lnTo>
                <a:pt x="1647340" y="30585"/>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latin typeface="Arial" panose="020B0604020202020204" pitchFamily="34" charset="0"/>
            <a:cs typeface="Arial" panose="020B0604020202020204" pitchFamily="34" charset="0"/>
          </a:endParaRPr>
        </a:p>
      </dsp:txBody>
      <dsp:txXfrm>
        <a:off x="3802764" y="570185"/>
        <a:ext cx="82367" cy="82367"/>
      </dsp:txXfrm>
    </dsp:sp>
    <dsp:sp modelId="{4F1A5AB5-AEC6-4A30-8B59-30A6302707D1}">
      <dsp:nvSpPr>
        <dsp:cNvPr id="0" name=""/>
        <dsp:cNvSpPr/>
      </dsp:nvSpPr>
      <dsp:spPr>
        <a:xfrm>
          <a:off x="4636045" y="2385"/>
          <a:ext cx="2733903" cy="766236"/>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just"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designated level</a:t>
          </a:r>
        </a:p>
      </dsp:txBody>
      <dsp:txXfrm>
        <a:off x="4658487" y="24827"/>
        <a:ext cx="2689019" cy="721352"/>
      </dsp:txXfrm>
    </dsp:sp>
    <dsp:sp modelId="{F43D6863-7FF1-414C-ABC6-CAC7A117FBB3}">
      <dsp:nvSpPr>
        <dsp:cNvPr id="0" name=""/>
        <dsp:cNvSpPr/>
      </dsp:nvSpPr>
      <dsp:spPr>
        <a:xfrm rot="1183275">
          <a:off x="3002496" y="1090590"/>
          <a:ext cx="1682903" cy="61171"/>
        </a:xfrm>
        <a:custGeom>
          <a:avLst/>
          <a:gdLst/>
          <a:ahLst/>
          <a:cxnLst/>
          <a:rect l="0" t="0" r="0" b="0"/>
          <a:pathLst>
            <a:path>
              <a:moveTo>
                <a:pt x="0" y="30585"/>
              </a:moveTo>
              <a:lnTo>
                <a:pt x="1682903" y="30585"/>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latin typeface="Arial" panose="020B0604020202020204" pitchFamily="34" charset="0"/>
            <a:cs typeface="Arial" panose="020B0604020202020204" pitchFamily="34" charset="0"/>
          </a:endParaRPr>
        </a:p>
      </dsp:txBody>
      <dsp:txXfrm>
        <a:off x="3801875" y="1079104"/>
        <a:ext cx="84145" cy="84145"/>
      </dsp:txXfrm>
    </dsp:sp>
    <dsp:sp modelId="{79629584-1F37-4D1D-87D6-26D18692ABDD}">
      <dsp:nvSpPr>
        <dsp:cNvPr id="0" name=""/>
        <dsp:cNvSpPr/>
      </dsp:nvSpPr>
      <dsp:spPr>
        <a:xfrm>
          <a:off x="4636045" y="1019791"/>
          <a:ext cx="2384408" cy="770656"/>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just"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function</a:t>
          </a:r>
        </a:p>
      </dsp:txBody>
      <dsp:txXfrm>
        <a:off x="4658617" y="1042363"/>
        <a:ext cx="2339264" cy="725512"/>
      </dsp:txXfrm>
    </dsp:sp>
    <dsp:sp modelId="{E55E110A-DEAF-4724-B3A4-3F77B12240C4}">
      <dsp:nvSpPr>
        <dsp:cNvPr id="0" name=""/>
        <dsp:cNvSpPr/>
      </dsp:nvSpPr>
      <dsp:spPr>
        <a:xfrm rot="2726369">
          <a:off x="2715061" y="1610990"/>
          <a:ext cx="2257772" cy="61171"/>
        </a:xfrm>
        <a:custGeom>
          <a:avLst/>
          <a:gdLst/>
          <a:ahLst/>
          <a:cxnLst/>
          <a:rect l="0" t="0" r="0" b="0"/>
          <a:pathLst>
            <a:path>
              <a:moveTo>
                <a:pt x="0" y="30585"/>
              </a:moveTo>
              <a:lnTo>
                <a:pt x="2257772" y="30585"/>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US" sz="900" kern="1200">
            <a:latin typeface="Arial" panose="020B0604020202020204" pitchFamily="34" charset="0"/>
            <a:cs typeface="Arial" panose="020B0604020202020204" pitchFamily="34" charset="0"/>
          </a:endParaRPr>
        </a:p>
      </dsp:txBody>
      <dsp:txXfrm>
        <a:off x="3787503" y="1585132"/>
        <a:ext cx="112888" cy="112888"/>
      </dsp:txXfrm>
    </dsp:sp>
    <dsp:sp modelId="{6E976D62-BEEC-408D-A1FC-78BF87D7D707}">
      <dsp:nvSpPr>
        <dsp:cNvPr id="0" name=""/>
        <dsp:cNvSpPr/>
      </dsp:nvSpPr>
      <dsp:spPr>
        <a:xfrm>
          <a:off x="4636045" y="2041618"/>
          <a:ext cx="2230658" cy="808600"/>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size and</a:t>
          </a:r>
        </a:p>
      </dsp:txBody>
      <dsp:txXfrm>
        <a:off x="4659728" y="2065301"/>
        <a:ext cx="2183292" cy="761234"/>
      </dsp:txXfrm>
    </dsp:sp>
    <dsp:sp modelId="{DD7266B4-5149-4080-9D1C-FD46B63D63F9}">
      <dsp:nvSpPr>
        <dsp:cNvPr id="0" name=""/>
        <dsp:cNvSpPr/>
      </dsp:nvSpPr>
      <dsp:spPr>
        <a:xfrm rot="3552806">
          <a:off x="2296404" y="2136111"/>
          <a:ext cx="3095087" cy="61171"/>
        </a:xfrm>
        <a:custGeom>
          <a:avLst/>
          <a:gdLst/>
          <a:ahLst/>
          <a:cxnLst/>
          <a:rect l="0" t="0" r="0" b="0"/>
          <a:pathLst>
            <a:path>
              <a:moveTo>
                <a:pt x="0" y="30585"/>
              </a:moveTo>
              <a:lnTo>
                <a:pt x="3095087" y="30585"/>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66725">
            <a:lnSpc>
              <a:spcPct val="90000"/>
            </a:lnSpc>
            <a:spcBef>
              <a:spcPct val="0"/>
            </a:spcBef>
            <a:spcAft>
              <a:spcPct val="35000"/>
            </a:spcAft>
            <a:buNone/>
          </a:pPr>
          <a:endParaRPr lang="en-US" sz="1050" kern="1200">
            <a:latin typeface="Arial" panose="020B0604020202020204" pitchFamily="34" charset="0"/>
            <a:cs typeface="Arial" panose="020B0604020202020204" pitchFamily="34" charset="0"/>
          </a:endParaRPr>
        </a:p>
      </dsp:txBody>
      <dsp:txXfrm>
        <a:off x="3766570" y="2089320"/>
        <a:ext cx="154754" cy="154754"/>
      </dsp:txXfrm>
    </dsp:sp>
    <dsp:sp modelId="{00F7B725-8FF0-4795-9EF5-335535F64062}">
      <dsp:nvSpPr>
        <dsp:cNvPr id="0" name=""/>
        <dsp:cNvSpPr/>
      </dsp:nvSpPr>
      <dsp:spPr>
        <a:xfrm>
          <a:off x="4636045" y="3101389"/>
          <a:ext cx="3348935" cy="78954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case mix of the hospital and/or region that it serves</a:t>
          </a:r>
        </a:p>
      </dsp:txBody>
      <dsp:txXfrm>
        <a:off x="4659170" y="3124514"/>
        <a:ext cx="3302685" cy="743294"/>
      </dsp:txXfrm>
    </dsp:sp>
    <dsp:sp modelId="{5FDA8CDB-BC95-4439-9E18-26D500F0E172}">
      <dsp:nvSpPr>
        <dsp:cNvPr id="0" name=""/>
        <dsp:cNvSpPr/>
      </dsp:nvSpPr>
      <dsp:spPr>
        <a:xfrm>
          <a:off x="244619" y="4142104"/>
          <a:ext cx="6828947" cy="782679"/>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An ICU may range from four to over 50 beds.</a:t>
          </a:r>
          <a:br>
            <a:rPr lang="en-US" sz="2000" kern="1200" dirty="0">
              <a:latin typeface="Arial" panose="020B0604020202020204" pitchFamily="34" charset="0"/>
              <a:cs typeface="Arial" panose="020B0604020202020204" pitchFamily="34" charset="0"/>
            </a:rPr>
          </a:br>
          <a:endParaRPr lang="en-US" sz="2000" kern="1200" dirty="0">
            <a:latin typeface="Arial" panose="020B0604020202020204" pitchFamily="34" charset="0"/>
            <a:cs typeface="Arial" panose="020B0604020202020204" pitchFamily="34" charset="0"/>
          </a:endParaRPr>
        </a:p>
      </dsp:txBody>
      <dsp:txXfrm>
        <a:off x="267543" y="4165028"/>
        <a:ext cx="6783099" cy="736831"/>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F4FEFD-0A98-405C-B69B-5A7F7BA245D8}" type="datetime4">
              <a:rPr lang="en-US" smtClean="0"/>
              <a:t>April 17, 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77D19D-9F19-4E87-B8B4-71EBAD4BD11B}" type="slidenum">
              <a:rPr lang="en-US" smtClean="0"/>
              <a:t>‹#›</a:t>
            </a:fld>
            <a:endParaRPr lang="en-US"/>
          </a:p>
        </p:txBody>
      </p:sp>
    </p:spTree>
    <p:extLst>
      <p:ext uri="{BB962C8B-B14F-4D97-AF65-F5344CB8AC3E}">
        <p14:creationId xmlns:p14="http://schemas.microsoft.com/office/powerpoint/2010/main" val="3274617538"/>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E28B17-A0DA-43B2-9292-9FFF2E61BE2F}" type="datetime4">
              <a:rPr lang="en-US" smtClean="0"/>
              <a:t>April 17, 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45BF65-4F36-46FF-95AC-AF968C37E230}" type="slidenum">
              <a:rPr lang="en-US" smtClean="0"/>
              <a:t>‹#›</a:t>
            </a:fld>
            <a:endParaRPr lang="en-US"/>
          </a:p>
        </p:txBody>
      </p:sp>
    </p:spTree>
    <p:extLst>
      <p:ext uri="{BB962C8B-B14F-4D97-AF65-F5344CB8AC3E}">
        <p14:creationId xmlns:p14="http://schemas.microsoft.com/office/powerpoint/2010/main" val="3653315453"/>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B45BF65-4F36-46FF-95AC-AF968C37E230}" type="slidenum">
              <a:rPr lang="en-US" smtClean="0"/>
              <a:t>1</a:t>
            </a:fld>
            <a:endParaRPr lang="en-US" dirty="0"/>
          </a:p>
        </p:txBody>
      </p:sp>
      <p:sp>
        <p:nvSpPr>
          <p:cNvPr id="5" name="Date Placeholder 4"/>
          <p:cNvSpPr>
            <a:spLocks noGrp="1"/>
          </p:cNvSpPr>
          <p:nvPr>
            <p:ph type="dt" idx="11"/>
          </p:nvPr>
        </p:nvSpPr>
        <p:spPr/>
        <p:txBody>
          <a:bodyPr/>
          <a:lstStyle/>
          <a:p>
            <a:fld id="{9FFDE791-A2A0-430A-B6DB-C61F0CC11035}" type="datetime4">
              <a:rPr lang="en-US" smtClean="0"/>
              <a:t>April 17, 2026</a:t>
            </a:fld>
            <a:endParaRPr lang="en-US" dirty="0"/>
          </a:p>
        </p:txBody>
      </p:sp>
      <p:sp>
        <p:nvSpPr>
          <p:cNvPr id="7" name="Footer Placeholder 6"/>
          <p:cNvSpPr>
            <a:spLocks noGrp="1"/>
          </p:cNvSpPr>
          <p:nvPr>
            <p:ph type="ftr" sz="quarter" idx="13"/>
          </p:nvPr>
        </p:nvSpPr>
        <p:spPr/>
        <p:txBody>
          <a:bodyPr/>
          <a:lstStyle/>
          <a:p>
            <a:endParaRPr lang="en-US" dirty="0"/>
          </a:p>
        </p:txBody>
      </p:sp>
    </p:spTree>
    <p:extLst>
      <p:ext uri="{BB962C8B-B14F-4D97-AF65-F5344CB8AC3E}">
        <p14:creationId xmlns:p14="http://schemas.microsoft.com/office/powerpoint/2010/main" val="3046855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0"/>
          </p:nvPr>
        </p:nvSpPr>
        <p:spPr/>
        <p:txBody>
          <a:bodyPr/>
          <a:lstStyle/>
          <a:p>
            <a:fld id="{133A4D35-9A28-44EA-A1AE-B12CC48D94B1}" type="datetime4">
              <a:rPr lang="en-US" smtClean="0"/>
              <a:t>April 17,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5BF65-4F36-46FF-95AC-AF968C37E230}" type="slidenum">
              <a:rPr lang="en-US" smtClean="0"/>
              <a:t>2</a:t>
            </a:fld>
            <a:endParaRPr lang="en-US"/>
          </a:p>
        </p:txBody>
      </p:sp>
    </p:spTree>
    <p:extLst>
      <p:ext uri="{BB962C8B-B14F-4D97-AF65-F5344CB8AC3E}">
        <p14:creationId xmlns:p14="http://schemas.microsoft.com/office/powerpoint/2010/main" val="3411023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aka: also known as</a:t>
            </a:r>
          </a:p>
        </p:txBody>
      </p:sp>
      <p:sp>
        <p:nvSpPr>
          <p:cNvPr id="4" name="Date Placeholder 3"/>
          <p:cNvSpPr>
            <a:spLocks noGrp="1"/>
          </p:cNvSpPr>
          <p:nvPr>
            <p:ph type="dt" idx="1"/>
          </p:nvPr>
        </p:nvSpPr>
        <p:spPr/>
        <p:txBody>
          <a:bodyPr/>
          <a:lstStyle/>
          <a:p>
            <a:fld id="{A0018102-FFE2-48DF-8095-5751CA41ED76}" type="datetime4">
              <a:rPr lang="en-US" smtClean="0"/>
              <a:t>April 17, 2026</a:t>
            </a:fld>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9B45BF65-4F36-46FF-95AC-AF968C37E230}" type="slidenum">
              <a:rPr lang="en-US" smtClean="0"/>
              <a:t>7</a:t>
            </a:fld>
            <a:endParaRPr lang="en-US"/>
          </a:p>
        </p:txBody>
      </p:sp>
    </p:spTree>
    <p:extLst>
      <p:ext uri="{BB962C8B-B14F-4D97-AF65-F5344CB8AC3E}">
        <p14:creationId xmlns:p14="http://schemas.microsoft.com/office/powerpoint/2010/main" val="3740552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MICU generally accepts a wide variety of critically ill patients, excluding only those patients who can be managed in another available ICU setting, such as SICU or PICU. In smaller hospitals, where no other specialty units are available, pediatric patients and surgical patients are sometimes placed in the MICU.</a:t>
            </a:r>
            <a:endParaRPr lang="en-US" dirty="0"/>
          </a:p>
        </p:txBody>
      </p:sp>
      <p:sp>
        <p:nvSpPr>
          <p:cNvPr id="4" name="Date Placeholder 3"/>
          <p:cNvSpPr>
            <a:spLocks noGrp="1"/>
          </p:cNvSpPr>
          <p:nvPr>
            <p:ph type="dt" idx="1"/>
          </p:nvPr>
        </p:nvSpPr>
        <p:spPr/>
        <p:txBody>
          <a:bodyPr/>
          <a:lstStyle/>
          <a:p>
            <a:fld id="{CFAF1782-E355-400B-B8BF-4F2AECE5FF82}" type="datetime4">
              <a:rPr lang="en-US" smtClean="0"/>
              <a:t>April 17, 2026</a:t>
            </a:fld>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9B45BF65-4F36-46FF-95AC-AF968C37E230}" type="slidenum">
              <a:rPr lang="en-US" smtClean="0"/>
              <a:t>10</a:t>
            </a:fld>
            <a:endParaRPr lang="en-US"/>
          </a:p>
        </p:txBody>
      </p:sp>
    </p:spTree>
    <p:extLst>
      <p:ext uri="{BB962C8B-B14F-4D97-AF65-F5344CB8AC3E}">
        <p14:creationId xmlns:p14="http://schemas.microsoft.com/office/powerpoint/2010/main" val="3110697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PACU provides postoperative observation, monitoring of vital signs, medication administration, intravenous (IV) fluid administration, airway care, oxygen therapy, and extubation in patients ready for removal of the endotracheal tube, if not removed in the operating room. Recovery room nurses also provide the initial management of postoperative pain, treatment for postoperative nausea and vomiting, treatment of postanesthetic shivering, and monitoring of surgical sites for bleeding, swelling, discharge, or other complications. Occasionally, patients in the PACU require mechanical ventilatory support, generally for brief periods of time. Once stable, the PACU patient is transferred back to the general hospital ward or other care unit. In outpatient surgical settings, the patient may be discharged to home.</a:t>
            </a:r>
            <a:endParaRPr lang="en-US" dirty="0"/>
          </a:p>
        </p:txBody>
      </p:sp>
      <p:sp>
        <p:nvSpPr>
          <p:cNvPr id="4" name="Date Placeholder 3"/>
          <p:cNvSpPr>
            <a:spLocks noGrp="1"/>
          </p:cNvSpPr>
          <p:nvPr>
            <p:ph type="dt" idx="1"/>
          </p:nvPr>
        </p:nvSpPr>
        <p:spPr/>
        <p:txBody>
          <a:bodyPr/>
          <a:lstStyle/>
          <a:p>
            <a:fld id="{4DBF401F-E413-431A-B6D3-560CCE453A70}" type="datetime4">
              <a:rPr lang="en-US" smtClean="0"/>
              <a:t>April 17, 2026</a:t>
            </a:fld>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9B45BF65-4F36-46FF-95AC-AF968C37E230}" type="slidenum">
              <a:rPr lang="en-US" smtClean="0"/>
              <a:t>11</a:t>
            </a:fld>
            <a:endParaRPr lang="en-US"/>
          </a:p>
        </p:txBody>
      </p:sp>
    </p:spTree>
    <p:extLst>
      <p:ext uri="{BB962C8B-B14F-4D97-AF65-F5344CB8AC3E}">
        <p14:creationId xmlns:p14="http://schemas.microsoft.com/office/powerpoint/2010/main" val="558082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LinuxLibertine"/>
              </a:rPr>
              <a:t>A High Dependency Unit is "</a:t>
            </a:r>
            <a:r>
              <a:rPr lang="en-US" b="0" i="1" dirty="0">
                <a:solidFill>
                  <a:srgbClr val="000000"/>
                </a:solidFill>
                <a:effectLst/>
                <a:latin typeface="LinuxLibertineItalics"/>
              </a:rPr>
              <a:t>a specially staffed and equipped section of an intensive care complex that provides a level of care intermediate between intensive care and general ward care."</a:t>
            </a:r>
            <a:endParaRPr lang="en-US" dirty="0"/>
          </a:p>
        </p:txBody>
      </p:sp>
      <p:sp>
        <p:nvSpPr>
          <p:cNvPr id="4" name="Date Placeholder 3"/>
          <p:cNvSpPr>
            <a:spLocks noGrp="1"/>
          </p:cNvSpPr>
          <p:nvPr>
            <p:ph type="dt" idx="1"/>
          </p:nvPr>
        </p:nvSpPr>
        <p:spPr/>
        <p:txBody>
          <a:bodyPr/>
          <a:lstStyle/>
          <a:p>
            <a:fld id="{618D0257-326C-4483-A0FE-F8FEA905162B}" type="datetime4">
              <a:rPr lang="en-US" smtClean="0"/>
              <a:t>April 17, 2026</a:t>
            </a:fld>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9B45BF65-4F36-46FF-95AC-AF968C37E230}" type="slidenum">
              <a:rPr lang="en-US" smtClean="0"/>
              <a:t>12</a:t>
            </a:fld>
            <a:endParaRPr lang="en-US"/>
          </a:p>
        </p:txBody>
      </p:sp>
    </p:spTree>
    <p:extLst>
      <p:ext uri="{BB962C8B-B14F-4D97-AF65-F5344CB8AC3E}">
        <p14:creationId xmlns:p14="http://schemas.microsoft.com/office/powerpoint/2010/main" val="870201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 of an ICU bed varies around the world, and even within a single health care system, and is heavily shaped by public health priorities and regulatory requirements, as well as by economic factors, including resource availability and approaches to hospital and physician reimbursement.</a:t>
            </a:r>
          </a:p>
        </p:txBody>
      </p:sp>
      <p:sp>
        <p:nvSpPr>
          <p:cNvPr id="4" name="Date Placeholder 3"/>
          <p:cNvSpPr>
            <a:spLocks noGrp="1"/>
          </p:cNvSpPr>
          <p:nvPr>
            <p:ph type="dt" idx="1"/>
          </p:nvPr>
        </p:nvSpPr>
        <p:spPr/>
        <p:txBody>
          <a:bodyPr/>
          <a:lstStyle/>
          <a:p>
            <a:fld id="{C86E9C89-5213-4759-8FFC-D819435FA459}" type="datetime4">
              <a:rPr lang="en-US" smtClean="0"/>
              <a:t>April 17, 2026</a:t>
            </a:fld>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9B45BF65-4F36-46FF-95AC-AF968C37E230}" type="slidenum">
              <a:rPr lang="en-US" smtClean="0"/>
              <a:t>14</a:t>
            </a:fld>
            <a:endParaRPr lang="en-US"/>
          </a:p>
        </p:txBody>
      </p:sp>
    </p:spTree>
    <p:extLst>
      <p:ext uri="{BB962C8B-B14F-4D97-AF65-F5344CB8AC3E}">
        <p14:creationId xmlns:p14="http://schemas.microsoft.com/office/powerpoint/2010/main" val="3233866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Nurses specifically trained in critical care should supervise all care carried out in the ICU. Nurse-to-patient ratios should be sufficient to safely deliver the care</a:t>
            </a:r>
          </a:p>
          <a:p>
            <a:r>
              <a:rPr lang="en-US" sz="1200" b="0" i="0" u="none" strike="noStrike" kern="1200" baseline="0" dirty="0">
                <a:solidFill>
                  <a:schemeClr val="tx1"/>
                </a:solidFill>
                <a:latin typeface="+mn-lt"/>
                <a:ea typeface="+mn-ea"/>
                <a:cs typeface="+mn-cs"/>
              </a:rPr>
              <a:t>required, based on patient acuity and complexity. Higher nurse-to-patient ratios (i.e., 1:1 or 1:2) have been associated with improved safety and better patient outcomes. Others have suggested evidence-based thresholds of not more than five patients for every two nurses.</a:t>
            </a:r>
            <a:endParaRPr lang="en-US" dirty="0"/>
          </a:p>
        </p:txBody>
      </p:sp>
      <p:sp>
        <p:nvSpPr>
          <p:cNvPr id="4" name="Date Placeholder 3"/>
          <p:cNvSpPr>
            <a:spLocks noGrp="1"/>
          </p:cNvSpPr>
          <p:nvPr>
            <p:ph type="dt" idx="1"/>
          </p:nvPr>
        </p:nvSpPr>
        <p:spPr/>
        <p:txBody>
          <a:bodyPr/>
          <a:lstStyle/>
          <a:p>
            <a:fld id="{0D4538B7-4F12-46B1-9D3B-912167F247D4}" type="datetime4">
              <a:rPr lang="en-US" smtClean="0"/>
              <a:t>April 17, 2026</a:t>
            </a:fld>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9B45BF65-4F36-46FF-95AC-AF968C37E230}" type="slidenum">
              <a:rPr lang="en-US" smtClean="0"/>
              <a:t>15</a:t>
            </a:fld>
            <a:endParaRPr lang="en-US"/>
          </a:p>
        </p:txBody>
      </p:sp>
    </p:spTree>
    <p:extLst>
      <p:ext uri="{BB962C8B-B14F-4D97-AF65-F5344CB8AC3E}">
        <p14:creationId xmlns:p14="http://schemas.microsoft.com/office/powerpoint/2010/main" val="23698011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physical space of an ICU should be large enough to comfortably accommodate the desired number of ICU beds. Each bed needs access from all sides to allow patient assessment and treatment and effective and reliable implementation of infection control measures. Ideally, each patient should be cared for in a single-bed room. </a:t>
            </a:r>
          </a:p>
          <a:p>
            <a:r>
              <a:rPr lang="en-US" dirty="0"/>
              <a:t>Each room should have a sink and incorporate design features to accommodate and provide easy access to supportive devices such as a ventilator and dialysis machine, as well as monitors. Oxygen and a suction system, preferably from a built-in system, should be available, and a source of natural light is desirable. Individual beds and rooms should be arranged in such a way that they are visible from a central nursing station and, where possible, should have sufficient space to allow family members to visit and even participate in the care of the patient.</a:t>
            </a:r>
          </a:p>
        </p:txBody>
      </p:sp>
      <p:sp>
        <p:nvSpPr>
          <p:cNvPr id="4" name="Date Placeholder 3"/>
          <p:cNvSpPr>
            <a:spLocks noGrp="1"/>
          </p:cNvSpPr>
          <p:nvPr>
            <p:ph type="dt" idx="1"/>
          </p:nvPr>
        </p:nvSpPr>
        <p:spPr/>
        <p:txBody>
          <a:bodyPr/>
          <a:lstStyle/>
          <a:p>
            <a:fld id="{50714C53-2B52-41FF-9B2B-41F55F612B80}" type="datetime4">
              <a:rPr lang="en-US" smtClean="0"/>
              <a:t>April 17, 2026</a:t>
            </a:fld>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9B45BF65-4F36-46FF-95AC-AF968C37E230}" type="slidenum">
              <a:rPr lang="en-US" smtClean="0"/>
              <a:t>19</a:t>
            </a:fld>
            <a:endParaRPr lang="en-US"/>
          </a:p>
        </p:txBody>
      </p:sp>
    </p:spTree>
    <p:extLst>
      <p:ext uri="{BB962C8B-B14F-4D97-AF65-F5344CB8AC3E}">
        <p14:creationId xmlns:p14="http://schemas.microsoft.com/office/powerpoint/2010/main" val="4093414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4/15/2026</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4/15/2026</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4/15/2026</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4/15/2026</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4/15/2026</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4/15/2026</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4/15/2026</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4/15/2026</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4/15/2026</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4/15/2026</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4/15/2026</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4/15/2026</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ics.ac.uk/ics-homepag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en.wikipedia.org/wiki/Intensive_care_unit" TargetMode="External"/><Relationship Id="rId2" Type="http://schemas.openxmlformats.org/officeDocument/2006/relationships/hyperlink" Target="http://www.bmj.com/" TargetMode="External"/><Relationship Id="rId1" Type="http://schemas.openxmlformats.org/officeDocument/2006/relationships/slideLayout" Target="../slideLayouts/slideLayout2.xml"/><Relationship Id="rId4" Type="http://schemas.openxmlformats.org/officeDocument/2006/relationships/hyperlink" Target="https://derangedphysiology.com/main/required-reading/administration-and-data-management/Chapter%20111/design-and-staffing-intensive-care-unit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130425"/>
            <a:ext cx="8077200" cy="1470025"/>
          </a:xfrm>
        </p:spPr>
        <p:txBody>
          <a:bodyPr>
            <a:normAutofit/>
          </a:bodyPr>
          <a:lstStyle/>
          <a:p>
            <a:r>
              <a:rPr lang="en-US" sz="32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Introduction to Emergency and Critical care</a:t>
            </a:r>
          </a:p>
        </p:txBody>
      </p:sp>
      <p:sp>
        <p:nvSpPr>
          <p:cNvPr id="3" name="Subtitle 2"/>
          <p:cNvSpPr>
            <a:spLocks noGrp="1"/>
          </p:cNvSpPr>
          <p:nvPr>
            <p:ph type="subTitle" idx="1"/>
          </p:nvPr>
        </p:nvSpPr>
        <p:spPr>
          <a:xfrm>
            <a:off x="1371600" y="3886200"/>
            <a:ext cx="7543800" cy="1752600"/>
          </a:xfrm>
        </p:spPr>
        <p:txBody>
          <a:bodyPr>
            <a:normAutofit/>
          </a:bodyPr>
          <a:lstStyle/>
          <a:p>
            <a:pPr lvl="0"/>
            <a:r>
              <a:rPr lang="en-US" sz="2800" b="1" dirty="0">
                <a:solidFill>
                  <a:prstClr val="black">
                    <a:tint val="75000"/>
                  </a:prstClr>
                </a:solidFill>
                <a:cs typeface="Times New Roman" pitchFamily="18" charset="0"/>
              </a:rPr>
              <a:t>Mulualem Sitot (BSc, MSc in Anesthesia)</a:t>
            </a:r>
          </a:p>
          <a:p>
            <a:pPr lvl="0"/>
            <a:r>
              <a:rPr lang="en-US" sz="2800" b="1" dirty="0">
                <a:solidFill>
                  <a:prstClr val="black">
                    <a:tint val="75000"/>
                  </a:prstClr>
                </a:solidFill>
                <a:cs typeface="Times New Roman" pitchFamily="18" charset="0"/>
              </a:rPr>
              <a:t>Assistant Professor, Department of Anesthesia</a:t>
            </a:r>
          </a:p>
          <a:p>
            <a:pPr lvl="0"/>
            <a:r>
              <a:rPr lang="en-US" sz="2800" b="1" dirty="0">
                <a:solidFill>
                  <a:prstClr val="black">
                    <a:tint val="75000"/>
                  </a:prstClr>
                </a:solidFill>
                <a:cs typeface="Times New Roman" pitchFamily="18" charset="0"/>
              </a:rPr>
              <a:t>                         Addis Ababa University</a:t>
            </a:r>
          </a:p>
          <a:p>
            <a:endParaRPr lang="en-US" b="1" dirty="0"/>
          </a:p>
        </p:txBody>
      </p:sp>
      <p:pic>
        <p:nvPicPr>
          <p:cNvPr id="4" name="Image1"/>
          <p:cNvPicPr/>
          <p:nvPr/>
        </p:nvPicPr>
        <p:blipFill rotWithShape="1">
          <a:blip r:embed="rId3" cstate="print">
            <a:extLst>
              <a:ext uri="{28A0092B-C50C-407E-A947-70E740481C1C}">
                <a14:useLocalDpi xmlns:a14="http://schemas.microsoft.com/office/drawing/2010/main" val="0"/>
              </a:ext>
            </a:extLst>
          </a:blip>
          <a:srcRect/>
          <a:stretch>
            <a:fillRect/>
          </a:stretch>
        </p:blipFill>
        <p:spPr>
          <a:xfrm>
            <a:off x="381000" y="228600"/>
            <a:ext cx="1915160" cy="1647825"/>
          </a:xfrm>
          <a:prstGeom prst="rect">
            <a:avLst/>
          </a:prstGeom>
        </p:spPr>
      </p:pic>
    </p:spTree>
    <p:extLst>
      <p:ext uri="{BB962C8B-B14F-4D97-AF65-F5344CB8AC3E}">
        <p14:creationId xmlns:p14="http://schemas.microsoft.com/office/powerpoint/2010/main" val="25395289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52400"/>
            <a:ext cx="8534400"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a:extLst>
              <a:ext uri="{FF2B5EF4-FFF2-40B4-BE49-F238E27FC236}">
                <a16:creationId xmlns:a16="http://schemas.microsoft.com/office/drawing/2014/main" id="{FD3BD287-30CC-83B7-D44B-D19DCB3978B8}"/>
              </a:ext>
            </a:extLst>
          </p:cNvPr>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219344205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Outline</a:t>
            </a:r>
          </a:p>
        </p:txBody>
      </p:sp>
      <p:pic>
        <p:nvPicPr>
          <p:cNvPr id="4" name="Image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381000" y="228601"/>
            <a:ext cx="1524000" cy="1447800"/>
          </a:xfrm>
          <a:prstGeom prst="rect">
            <a:avLst/>
          </a:prstGeom>
        </p:spPr>
      </p:pic>
      <p:sp>
        <p:nvSpPr>
          <p:cNvPr id="6" name="Slide Number Placeholder 5">
            <a:extLst>
              <a:ext uri="{FF2B5EF4-FFF2-40B4-BE49-F238E27FC236}">
                <a16:creationId xmlns:a16="http://schemas.microsoft.com/office/drawing/2014/main" id="{F32F2127-7A65-1253-EC72-330E44B28F53}"/>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7" name="Content Placeholder 6">
            <a:extLst>
              <a:ext uri="{FF2B5EF4-FFF2-40B4-BE49-F238E27FC236}">
                <a16:creationId xmlns:a16="http://schemas.microsoft.com/office/drawing/2014/main" id="{7E0C61E8-D511-7A02-44E2-C589AB08FF7C}"/>
              </a:ext>
            </a:extLst>
          </p:cNvPr>
          <p:cNvSpPr>
            <a:spLocks noGrp="1"/>
          </p:cNvSpPr>
          <p:nvPr>
            <p:ph idx="1"/>
          </p:nvPr>
        </p:nvSpPr>
        <p:spPr/>
        <p:txBody>
          <a:bodyPr/>
          <a:lstStyle/>
          <a:p>
            <a:pPr lvl="0"/>
            <a:r>
              <a:rPr lang="en-US"/>
              <a:t>Objective</a:t>
            </a:r>
          </a:p>
          <a:p>
            <a:pPr lvl="0"/>
            <a:r>
              <a:rPr lang="en-US"/>
              <a:t>Introduction</a:t>
            </a:r>
          </a:p>
          <a:p>
            <a:pPr lvl="0"/>
            <a:r>
              <a:rPr lang="en-US"/>
              <a:t>Definition</a:t>
            </a:r>
          </a:p>
          <a:p>
            <a:pPr lvl="0"/>
            <a:r>
              <a:rPr lang="en-US"/>
              <a:t>Requirements For Intensive Care Unit</a:t>
            </a:r>
          </a:p>
          <a:p>
            <a:pPr lvl="0"/>
            <a:r>
              <a:rPr lang="en-US"/>
              <a:t>References</a:t>
            </a:r>
          </a:p>
        </p:txBody>
      </p:sp>
    </p:spTree>
    <p:extLst>
      <p:ext uri="{BB962C8B-B14F-4D97-AF65-F5344CB8AC3E}">
        <p14:creationId xmlns:p14="http://schemas.microsoft.com/office/powerpoint/2010/main" val="388552790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Objective</a:t>
            </a:r>
          </a:p>
        </p:txBody>
      </p:sp>
      <p:pic>
        <p:nvPicPr>
          <p:cNvPr id="4" name="Image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390832" y="274638"/>
            <a:ext cx="1915160" cy="1647825"/>
          </a:xfrm>
          <a:prstGeom prst="rect">
            <a:avLst/>
          </a:prstGeom>
        </p:spPr>
      </p:pic>
      <p:sp>
        <p:nvSpPr>
          <p:cNvPr id="8" name="Slide Number Placeholder 7">
            <a:extLst>
              <a:ext uri="{FF2B5EF4-FFF2-40B4-BE49-F238E27FC236}">
                <a16:creationId xmlns:a16="http://schemas.microsoft.com/office/drawing/2014/main" id="{9B22EF8C-C460-A543-03F7-72E72BC02AAB}"/>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6" name="Content Placeholder 5">
            <a:extLst>
              <a:ext uri="{FF2B5EF4-FFF2-40B4-BE49-F238E27FC236}">
                <a16:creationId xmlns:a16="http://schemas.microsoft.com/office/drawing/2014/main" id="{B6DA1A97-4B15-4CE6-E091-4FF9D03C88FB}"/>
              </a:ext>
            </a:extLst>
          </p:cNvPr>
          <p:cNvSpPr>
            <a:spLocks noGrp="1"/>
          </p:cNvSpPr>
          <p:nvPr>
            <p:ph idx="1"/>
          </p:nvPr>
        </p:nvSpPr>
        <p:spPr>
          <a:xfrm>
            <a:off x="457200" y="1922463"/>
            <a:ext cx="8229600" cy="4203700"/>
          </a:xfrm>
        </p:spPr>
        <p:txBody>
          <a:bodyPr/>
          <a:lstStyle/>
          <a:p>
            <a:pPr marL="0" lvl="0" indent="0">
              <a:buNone/>
            </a:pPr>
            <a:r>
              <a:rPr lang="en-US" sz="2800" dirty="0"/>
              <a:t>After completion of this session, you will be able to:</a:t>
            </a:r>
          </a:p>
          <a:p>
            <a:pPr lvl="0"/>
            <a:r>
              <a:rPr lang="en-US" sz="2800" dirty="0"/>
              <a:t>Define Intensive care  unit (ICU) </a:t>
            </a:r>
          </a:p>
          <a:p>
            <a:pPr lvl="0"/>
            <a:r>
              <a:rPr lang="en-US" sz="2800" dirty="0"/>
              <a:t>Discuss requirements For ICU  </a:t>
            </a:r>
          </a:p>
        </p:txBody>
      </p:sp>
    </p:spTree>
    <p:extLst>
      <p:ext uri="{BB962C8B-B14F-4D97-AF65-F5344CB8AC3E}">
        <p14:creationId xmlns:p14="http://schemas.microsoft.com/office/powerpoint/2010/main" val="208391433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79668-B2D4-69FE-E773-BD18A091420E}"/>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Interactive question</a:t>
            </a:r>
          </a:p>
        </p:txBody>
      </p:sp>
      <p:sp>
        <p:nvSpPr>
          <p:cNvPr id="3" name="Content Placeholder 2">
            <a:extLst>
              <a:ext uri="{FF2B5EF4-FFF2-40B4-BE49-F238E27FC236}">
                <a16:creationId xmlns:a16="http://schemas.microsoft.com/office/drawing/2014/main" id="{00042336-3065-045B-023E-33F8815BA1DE}"/>
              </a:ext>
            </a:extLst>
          </p:cNvPr>
          <p:cNvSpPr>
            <a:spLocks noGrp="1"/>
          </p:cNvSpPr>
          <p:nvPr>
            <p:ph idx="1"/>
          </p:nvPr>
        </p:nvSpPr>
        <p:spPr/>
        <p:txBody>
          <a:bodyPr/>
          <a:lstStyle/>
          <a:p>
            <a:pPr>
              <a:buFont typeface="Wingdings" panose="05000000000000000000" pitchFamily="2" charset="2"/>
              <a:buChar char="q"/>
            </a:pPr>
            <a:r>
              <a:rPr lang="en-US" dirty="0">
                <a:latin typeface="Arial" panose="020B0604020202020204" pitchFamily="34" charset="0"/>
                <a:cs typeface="Arial" panose="020B0604020202020204" pitchFamily="34" charset="0"/>
              </a:rPr>
              <a:t>What is critical care?</a:t>
            </a:r>
          </a:p>
          <a:p>
            <a:r>
              <a:rPr lang="en-US" sz="2800" dirty="0">
                <a:latin typeface="Arial" panose="020B0604020202020204" pitchFamily="34" charset="0"/>
                <a:cs typeface="Arial" panose="020B0604020202020204" pitchFamily="34" charset="0"/>
              </a:rPr>
              <a:t>It is the care and management of critically ill patients who require </a:t>
            </a:r>
          </a:p>
          <a:p>
            <a:pPr lvl="1"/>
            <a:r>
              <a:rPr lang="en-US" sz="2200" dirty="0">
                <a:latin typeface="Arial" panose="020B0604020202020204" pitchFamily="34" charset="0"/>
                <a:cs typeface="Arial" panose="020B0604020202020204" pitchFamily="34" charset="0"/>
              </a:rPr>
              <a:t>sophisticated support, </a:t>
            </a:r>
          </a:p>
          <a:p>
            <a:pPr lvl="1"/>
            <a:r>
              <a:rPr lang="en-US" sz="2200" dirty="0">
                <a:latin typeface="Arial" panose="020B0604020202020204" pitchFamily="34" charset="0"/>
                <a:cs typeface="Arial" panose="020B0604020202020204" pitchFamily="34" charset="0"/>
              </a:rPr>
              <a:t>careful and constant monitoring, and </a:t>
            </a:r>
          </a:p>
          <a:p>
            <a:pPr lvl="1"/>
            <a:r>
              <a:rPr lang="en-US" sz="2200" dirty="0">
                <a:latin typeface="Arial" panose="020B0604020202020204" pitchFamily="34" charset="0"/>
                <a:cs typeface="Arial" panose="020B0604020202020204" pitchFamily="34" charset="0"/>
              </a:rPr>
              <a:t>complex decision making to ensure that therapy is adjusted as patients’ needs change.</a:t>
            </a:r>
          </a:p>
        </p:txBody>
      </p:sp>
      <p:sp>
        <p:nvSpPr>
          <p:cNvPr id="5" name="Slide Number Placeholder 4">
            <a:extLst>
              <a:ext uri="{FF2B5EF4-FFF2-40B4-BE49-F238E27FC236}">
                <a16:creationId xmlns:a16="http://schemas.microsoft.com/office/drawing/2014/main" id="{1D945104-5421-FDD7-4B44-0FD4226899F8}"/>
              </a:ext>
            </a:extLst>
          </p:cNvPr>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8427489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Introduction</a:t>
            </a:r>
          </a:p>
        </p:txBody>
      </p:sp>
      <p:sp>
        <p:nvSpPr>
          <p:cNvPr id="3" name="Content Placeholder 2"/>
          <p:cNvSpPr>
            <a:spLocks noGrp="1"/>
          </p:cNvSpPr>
          <p:nvPr>
            <p:ph idx="1"/>
          </p:nvPr>
        </p:nvSpPr>
        <p:spPr>
          <a:xfrm>
            <a:off x="152400" y="1600200"/>
            <a:ext cx="8763000" cy="4525963"/>
          </a:xfrm>
        </p:spPr>
        <p:txBody>
          <a:bodyPr>
            <a:normAutofit/>
          </a:bodyPr>
          <a:lstStyle/>
          <a:p>
            <a:pPr>
              <a:lnSpc>
                <a:spcPct val="150000"/>
              </a:lnSpc>
              <a:buFont typeface="Symbol" pitchFamily="18" charset="2"/>
              <a:buChar char=""/>
            </a:pPr>
            <a:r>
              <a:rPr lang="en-US" sz="2200" dirty="0">
                <a:latin typeface="Arial" panose="020B0604020202020204" pitchFamily="34" charset="0"/>
                <a:cs typeface="Arial" panose="020B0604020202020204" pitchFamily="34" charset="0"/>
              </a:rPr>
              <a:t>Critical care medicine deals with potentially life-threatening illnesses.</a:t>
            </a:r>
          </a:p>
          <a:p>
            <a:pPr>
              <a:lnSpc>
                <a:spcPct val="150000"/>
              </a:lnSpc>
              <a:buFont typeface="Symbol" pitchFamily="18" charset="2"/>
              <a:buChar char=""/>
            </a:pPr>
            <a:r>
              <a:rPr lang="en-US" sz="2200" dirty="0">
                <a:latin typeface="Arial" panose="020B0604020202020204" pitchFamily="34" charset="0"/>
                <a:cs typeface="Arial" panose="020B0604020202020204" pitchFamily="34" charset="0"/>
              </a:rPr>
              <a:t>Intensive care dates from the polio epidemic in Copenhagen in 1952.</a:t>
            </a:r>
          </a:p>
          <a:p>
            <a:pPr>
              <a:lnSpc>
                <a:spcPct val="150000"/>
              </a:lnSpc>
              <a:buFont typeface="Symbol" pitchFamily="18" charset="2"/>
              <a:buChar char=""/>
            </a:pPr>
            <a:r>
              <a:rPr lang="en-US" sz="2200" dirty="0">
                <a:latin typeface="Arial" panose="020B0604020202020204" pitchFamily="34" charset="0"/>
                <a:cs typeface="Arial" panose="020B0604020202020204" pitchFamily="34" charset="0"/>
              </a:rPr>
              <a:t>The Intensive Care Unit (ICU) is an expensive resource area and </a:t>
            </a:r>
          </a:p>
          <a:p>
            <a:pPr lvl="1">
              <a:buFont typeface="Symbol" pitchFamily="18" charset="2"/>
              <a:buChar char=""/>
            </a:pPr>
            <a:r>
              <a:rPr lang="en-US" sz="2000" dirty="0">
                <a:latin typeface="Arial" panose="020B0604020202020204" pitchFamily="34" charset="0"/>
                <a:cs typeface="Arial" panose="020B0604020202020204" pitchFamily="34" charset="0"/>
              </a:rPr>
              <a:t>It should be reserved for patients with reversible medical conditions with a reasonable prospect of substantial recovery</a:t>
            </a:r>
          </a:p>
          <a:p>
            <a:pPr>
              <a:lnSpc>
                <a:spcPct val="150000"/>
              </a:lnSpc>
              <a:buFont typeface="Symbol" pitchFamily="18" charset="2"/>
              <a:buChar char=""/>
            </a:pPr>
            <a:endParaRPr lang="en-US" sz="22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A6CC946-7F3C-B8D3-4A39-2FFED4EFD8B0}"/>
              </a:ext>
            </a:extLst>
          </p:cNvPr>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246044102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latin typeface="Arial" panose="020B0604020202020204" pitchFamily="34" charset="0"/>
                <a:cs typeface="Arial" panose="020B0604020202020204" pitchFamily="34" charset="0"/>
              </a:rPr>
              <a:t>Definition of ICU</a:t>
            </a:r>
          </a:p>
        </p:txBody>
      </p:sp>
      <p:sp>
        <p:nvSpPr>
          <p:cNvPr id="3" name="Content Placeholder 2"/>
          <p:cNvSpPr>
            <a:spLocks noGrp="1"/>
          </p:cNvSpPr>
          <p:nvPr>
            <p:ph idx="1"/>
          </p:nvPr>
        </p:nvSpPr>
        <p:spPr>
          <a:xfrm>
            <a:off x="176981" y="1524000"/>
            <a:ext cx="8814619" cy="5105400"/>
          </a:xfrm>
        </p:spPr>
        <p:txBody>
          <a:bodyPr>
            <a:noAutofit/>
          </a:bodyPr>
          <a:lstStyle/>
          <a:p>
            <a:pPr algn="just">
              <a:buFont typeface="Symbol" pitchFamily="18" charset="2"/>
              <a:buChar char=""/>
            </a:pPr>
            <a:r>
              <a:rPr lang="en-US" sz="2400" b="1" dirty="0">
                <a:latin typeface="Arial" panose="020B0604020202020204" pitchFamily="34" charset="0"/>
                <a:cs typeface="Arial" panose="020B0604020202020204" pitchFamily="34" charset="0"/>
              </a:rPr>
              <a:t>ICU</a:t>
            </a:r>
            <a:r>
              <a:rPr lang="en-US" sz="2400" dirty="0">
                <a:latin typeface="Arial" panose="020B0604020202020204" pitchFamily="34" charset="0"/>
                <a:cs typeface="Arial" panose="020B0604020202020204" pitchFamily="34" charset="0"/>
              </a:rPr>
              <a:t> aka: an intensive therapy unit or intensive treatment unit (ITU) or critical care unit (CCU)</a:t>
            </a:r>
          </a:p>
          <a:p>
            <a:pPr lvl="1" algn="just">
              <a:buFont typeface="Arial" panose="020B0604020202020204" pitchFamily="34" charset="0"/>
              <a:buChar char="•"/>
            </a:pPr>
            <a:r>
              <a:rPr lang="en-US" sz="2400" dirty="0">
                <a:latin typeface="Arial" panose="020B0604020202020204" pitchFamily="34" charset="0"/>
                <a:cs typeface="Arial" panose="020B0604020202020204" pitchFamily="34" charset="0"/>
              </a:rPr>
              <a:t>It is “a unit which provides service for </a:t>
            </a:r>
            <a:r>
              <a:rPr lang="en-US" sz="2400" dirty="0">
                <a:solidFill>
                  <a:srgbClr val="FF0000"/>
                </a:solidFill>
                <a:latin typeface="Arial" panose="020B0604020202020204" pitchFamily="34" charset="0"/>
                <a:cs typeface="Arial" panose="020B0604020202020204" pitchFamily="34" charset="0"/>
              </a:rPr>
              <a:t>patients with potentially recoverable conditions </a:t>
            </a:r>
            <a:r>
              <a:rPr lang="en-US" sz="2400" dirty="0">
                <a:latin typeface="Arial" panose="020B0604020202020204" pitchFamily="34" charset="0"/>
                <a:cs typeface="Arial" panose="020B0604020202020204" pitchFamily="34" charset="0"/>
              </a:rPr>
              <a:t>who can benefit from:</a:t>
            </a:r>
          </a:p>
          <a:p>
            <a:pPr lvl="2" algn="just">
              <a:buBlip>
                <a:blip r:embed="rId3"/>
              </a:buBlip>
            </a:pPr>
            <a:r>
              <a:rPr lang="en-US" sz="2200" dirty="0">
                <a:latin typeface="Arial" panose="020B0604020202020204" pitchFamily="34" charset="0"/>
                <a:cs typeface="Arial" panose="020B0604020202020204" pitchFamily="34" charset="0"/>
              </a:rPr>
              <a:t> </a:t>
            </a:r>
            <a:r>
              <a:rPr lang="en-US" sz="2200" dirty="0">
                <a:solidFill>
                  <a:srgbClr val="FF0000"/>
                </a:solidFill>
                <a:latin typeface="Arial" panose="020B0604020202020204" pitchFamily="34" charset="0"/>
                <a:cs typeface="Arial" panose="020B0604020202020204" pitchFamily="34" charset="0"/>
              </a:rPr>
              <a:t>more detailed observation and</a:t>
            </a:r>
          </a:p>
          <a:p>
            <a:pPr lvl="2" algn="just">
              <a:buBlip>
                <a:blip r:embed="rId3"/>
              </a:buBlip>
            </a:pPr>
            <a:r>
              <a:rPr lang="en-US" sz="2200" dirty="0">
                <a:solidFill>
                  <a:srgbClr val="FF0000"/>
                </a:solidFill>
                <a:latin typeface="Arial" panose="020B0604020202020204" pitchFamily="34" charset="0"/>
                <a:cs typeface="Arial" panose="020B0604020202020204" pitchFamily="34" charset="0"/>
              </a:rPr>
              <a:t> invasive treatment </a:t>
            </a:r>
            <a:r>
              <a:rPr lang="en-US" sz="2200" dirty="0">
                <a:latin typeface="Arial" panose="020B0604020202020204" pitchFamily="34" charset="0"/>
                <a:cs typeface="Arial" panose="020B0604020202020204" pitchFamily="34" charset="0"/>
              </a:rPr>
              <a:t>than can’t safely be provided in general wards or high dependency areas.”</a:t>
            </a:r>
          </a:p>
          <a:p>
            <a:pPr marL="0" indent="0" algn="just">
              <a:buNone/>
            </a:pPr>
            <a:endParaRPr lang="en-US" sz="24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CFE2B584-4DD8-590E-C0EC-88060C90637E}"/>
              </a:ext>
            </a:extLst>
          </p:cNvPr>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363619768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457200" y="1600200"/>
            <a:ext cx="8458200" cy="4525963"/>
          </a:xfrm>
        </p:spPr>
        <p:txBody>
          <a:bodyPr/>
          <a:lstStyle/>
          <a:p>
            <a:pPr>
              <a:buFont typeface="Symbol" pitchFamily="18" charset="2"/>
              <a:buChar char=""/>
            </a:pPr>
            <a:r>
              <a:rPr lang="en-US" sz="2400" dirty="0">
                <a:latin typeface="Arial" panose="020B0604020202020204" pitchFamily="34" charset="0"/>
                <a:cs typeface="Arial" panose="020B0604020202020204" pitchFamily="34" charset="0"/>
              </a:rPr>
              <a:t>ICU is a specially staffed and equipped, separate and self-contained area of a hospital dedicated to:</a:t>
            </a:r>
          </a:p>
          <a:p>
            <a:pPr lvl="1"/>
            <a:r>
              <a:rPr lang="en-US"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the management of patients with life-threatening illnesses, injuries and complications, </a:t>
            </a:r>
          </a:p>
          <a:p>
            <a:pPr lvl="1"/>
            <a:r>
              <a:rPr lang="en-US" sz="2200" dirty="0">
                <a:latin typeface="Arial" panose="020B0604020202020204" pitchFamily="34" charset="0"/>
                <a:cs typeface="Arial" panose="020B0604020202020204" pitchFamily="34" charset="0"/>
              </a:rPr>
              <a:t>and monitoring of potentially life-threatening conditions</a:t>
            </a:r>
          </a:p>
          <a:p>
            <a:pPr marL="457200" lvl="1" indent="0">
              <a:buNone/>
            </a:pPr>
            <a:r>
              <a:rPr lang="en-US" sz="2200" dirty="0">
                <a:latin typeface="Arial" panose="020B0604020202020204" pitchFamily="34" charset="0"/>
                <a:cs typeface="Arial" panose="020B0604020202020204" pitchFamily="34" charset="0"/>
              </a:rPr>
              <a:t>(The Intensive Care Society (UK) (</a:t>
            </a:r>
            <a:r>
              <a:rPr lang="en-US" sz="2200" dirty="0">
                <a:latin typeface="Arial" panose="020B0604020202020204" pitchFamily="34" charset="0"/>
                <a:cs typeface="Arial" panose="020B0604020202020204" pitchFamily="34" charset="0"/>
                <a:hlinkClick r:id="rId2"/>
              </a:rPr>
              <a:t>http://www.ics.ac.uk/ics-homepage/</a:t>
            </a:r>
            <a:r>
              <a:rPr lang="en-US" sz="2200" dirty="0">
                <a:latin typeface="Arial" panose="020B0604020202020204" pitchFamily="34" charset="0"/>
                <a:cs typeface="Arial" panose="020B0604020202020204" pitchFamily="34" charset="0"/>
              </a:rPr>
              <a:t> guidelines-and-standards/ </a:t>
            </a:r>
          </a:p>
          <a:p>
            <a:endParaRPr lang="en-US" sz="28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61CA438D-2F29-32F1-F22F-01BB10A8E0EF}"/>
              </a:ext>
            </a:extLst>
          </p:cNvPr>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103098353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8" name="Content Placeholder 7">
            <a:extLst>
              <a:ext uri="{FF2B5EF4-FFF2-40B4-BE49-F238E27FC236}">
                <a16:creationId xmlns:a16="http://schemas.microsoft.com/office/drawing/2014/main" id="{F474CCAB-ED2B-319C-E853-4F3E9905698B}"/>
              </a:ext>
            </a:extLst>
          </p:cNvPr>
          <p:cNvSpPr>
            <a:spLocks noGrp="1"/>
          </p:cNvSpPr>
          <p:nvPr>
            <p:ph idx="1"/>
          </p:nvPr>
        </p:nvSpPr>
        <p:spPr>
          <a:xfrm>
            <a:off x="457200" y="1219200"/>
            <a:ext cx="8382000" cy="4906963"/>
          </a:xfrm>
        </p:spPr>
        <p:txBody>
          <a:bodyPr>
            <a:normAutofit/>
          </a:bodyPr>
          <a:lstStyle/>
          <a:p>
            <a:pPr lvl="0"/>
            <a:r>
              <a:rPr lang="en-US" sz="2400" dirty="0">
                <a:latin typeface="Arial" panose="020B0604020202020204" pitchFamily="34" charset="0"/>
                <a:cs typeface="Arial" panose="020B0604020202020204" pitchFamily="34" charset="0"/>
              </a:rPr>
              <a:t>It is  reserved for patients with potential or established organ failure. </a:t>
            </a:r>
          </a:p>
          <a:p>
            <a:pPr lvl="0"/>
            <a:r>
              <a:rPr lang="en-US" sz="2400" dirty="0">
                <a:latin typeface="Arial" panose="020B0604020202020204" pitchFamily="34" charset="0"/>
                <a:cs typeface="Arial" panose="020B0604020202020204" pitchFamily="34" charset="0"/>
              </a:rPr>
              <a:t>It provides special expertise and facilities for support of vital functions </a:t>
            </a:r>
          </a:p>
          <a:p>
            <a:pPr lvl="0"/>
            <a:r>
              <a:rPr lang="en-US" sz="2400" dirty="0">
                <a:latin typeface="Arial" panose="020B0604020202020204" pitchFamily="34" charset="0"/>
                <a:cs typeface="Arial" panose="020B0604020202020204" pitchFamily="34" charset="0"/>
              </a:rPr>
              <a:t>It uses the skills of medical, nursing and other personnel experienced in the management of these problem</a:t>
            </a:r>
          </a:p>
          <a:p>
            <a:pPr lvl="0"/>
            <a:r>
              <a:rPr lang="en-US" sz="2400" dirty="0">
                <a:latin typeface="Arial" panose="020B0604020202020204" pitchFamily="34" charset="0"/>
                <a:cs typeface="Arial" panose="020B0604020202020204" pitchFamily="34" charset="0"/>
              </a:rPr>
              <a:t>The most commonly supported organ is the lung, </a:t>
            </a:r>
          </a:p>
          <a:p>
            <a:pPr lvl="1"/>
            <a:r>
              <a:rPr lang="en-US" sz="2400" dirty="0">
                <a:latin typeface="Arial" panose="020B0604020202020204" pitchFamily="34" charset="0"/>
                <a:cs typeface="Arial" panose="020B0604020202020204" pitchFamily="34" charset="0"/>
              </a:rPr>
              <a:t>but facilities should also exist for the diagnosis, prevention and treatment of another organ dysfunction. </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20" name="Slide Number Placeholder 19">
            <a:extLst>
              <a:ext uri="{FF2B5EF4-FFF2-40B4-BE49-F238E27FC236}">
                <a16:creationId xmlns:a16="http://schemas.microsoft.com/office/drawing/2014/main" id="{E2081FA4-6A9C-3A61-D1AB-41C9CC3539E6}"/>
              </a:ext>
            </a:extLst>
          </p:cNvPr>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301060284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47173-7E07-E7B0-0860-1A53B727F0F9}"/>
              </a:ext>
            </a:extLst>
          </p:cNvPr>
          <p:cNvSpPr>
            <a:spLocks noGrp="1"/>
          </p:cNvSpPr>
          <p:nvPr>
            <p:ph type="title"/>
          </p:nvPr>
        </p:nvSpPr>
        <p:spPr/>
        <p:txBody>
          <a:bodyPr>
            <a:normAutofit fontScale="90000"/>
          </a:bodyPr>
          <a:lstStyle/>
          <a:p>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Types of Intensive Care Units</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170B760-E392-6653-E7B2-151FDBF3E809}"/>
              </a:ext>
            </a:extLst>
          </p:cNvPr>
          <p:cNvSpPr>
            <a:spLocks noGrp="1"/>
          </p:cNvSpPr>
          <p:nvPr>
            <p:ph idx="1"/>
          </p:nvPr>
        </p:nvSpPr>
        <p:spPr/>
        <p:txBody>
          <a:bodyPr>
            <a:normAutofit/>
          </a:bodyPr>
          <a:lstStyle/>
          <a:p>
            <a:r>
              <a:rPr lang="en-US" sz="2400" dirty="0">
                <a:latin typeface="Arial" panose="020B0604020202020204" pitchFamily="34" charset="0"/>
                <a:cs typeface="Arial" panose="020B0604020202020204" pitchFamily="34" charset="0"/>
              </a:rPr>
              <a:t>While types of ICUs vary from hospital to hospital, some of the more common types of ICUs are:</a:t>
            </a:r>
          </a:p>
          <a:p>
            <a:pPr lvl="1"/>
            <a:r>
              <a:rPr lang="en-US" sz="2000"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medical intensive care units (MICU)</a:t>
            </a:r>
            <a:r>
              <a:rPr lang="en-US" sz="2200" dirty="0">
                <a:latin typeface="Arial" panose="020B0604020202020204" pitchFamily="34" charset="0"/>
                <a:cs typeface="Arial" panose="020B0604020202020204" pitchFamily="34" charset="0"/>
              </a:rPr>
              <a:t>,</a:t>
            </a:r>
          </a:p>
          <a:p>
            <a:pPr lvl="1"/>
            <a:r>
              <a:rPr lang="en-US" sz="2200" b="1" dirty="0">
                <a:latin typeface="Arial" panose="020B0604020202020204" pitchFamily="34" charset="0"/>
                <a:cs typeface="Arial" panose="020B0604020202020204" pitchFamily="34" charset="0"/>
              </a:rPr>
              <a:t>surgical intensive care units (SICU)</a:t>
            </a:r>
            <a:r>
              <a:rPr lang="en-US" sz="2200" dirty="0">
                <a:latin typeface="Arial" panose="020B0604020202020204" pitchFamily="34" charset="0"/>
                <a:cs typeface="Arial" panose="020B0604020202020204" pitchFamily="34" charset="0"/>
              </a:rPr>
              <a:t>,</a:t>
            </a:r>
          </a:p>
          <a:p>
            <a:pPr lvl="1"/>
            <a:r>
              <a:rPr lang="en-US" sz="2200"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coronary care units (CCU)</a:t>
            </a:r>
            <a:r>
              <a:rPr lang="en-US" sz="2200" dirty="0">
                <a:latin typeface="Arial" panose="020B0604020202020204" pitchFamily="34" charset="0"/>
                <a:cs typeface="Arial" panose="020B0604020202020204" pitchFamily="34" charset="0"/>
              </a:rPr>
              <a:t>, </a:t>
            </a:r>
          </a:p>
          <a:p>
            <a:pPr lvl="1"/>
            <a:r>
              <a:rPr lang="en-US" sz="2200" b="1" dirty="0">
                <a:latin typeface="Arial" panose="020B0604020202020204" pitchFamily="34" charset="0"/>
                <a:cs typeface="Arial" panose="020B0604020202020204" pitchFamily="34" charset="0"/>
              </a:rPr>
              <a:t>Pediatric intensive care units (PICU)</a:t>
            </a:r>
            <a:r>
              <a:rPr lang="en-US" sz="2200" dirty="0">
                <a:latin typeface="Arial" panose="020B0604020202020204" pitchFamily="34" charset="0"/>
                <a:cs typeface="Arial" panose="020B0604020202020204" pitchFamily="34" charset="0"/>
              </a:rPr>
              <a:t>, and</a:t>
            </a:r>
          </a:p>
          <a:p>
            <a:pPr lvl="1"/>
            <a:r>
              <a:rPr lang="en-US" sz="2200" dirty="0">
                <a:latin typeface="Arial" panose="020B0604020202020204" pitchFamily="34" charset="0"/>
                <a:cs typeface="Arial" panose="020B0604020202020204" pitchFamily="34" charset="0"/>
              </a:rPr>
              <a:t> </a:t>
            </a:r>
            <a:r>
              <a:rPr lang="en-US" sz="2200" b="1" dirty="0">
                <a:latin typeface="Arial" panose="020B0604020202020204" pitchFamily="34" charset="0"/>
                <a:cs typeface="Arial" panose="020B0604020202020204" pitchFamily="34" charset="0"/>
              </a:rPr>
              <a:t>neonatal intensive care units (NICU)</a:t>
            </a:r>
            <a:r>
              <a:rPr lang="en-US" sz="22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Small hospitals may have only one or two types of ICUs accepting a variety of patients (e.g., MICU and SICU).</a:t>
            </a:r>
          </a:p>
        </p:txBody>
      </p:sp>
      <p:sp>
        <p:nvSpPr>
          <p:cNvPr id="5" name="Slide Number Placeholder 4">
            <a:extLst>
              <a:ext uri="{FF2B5EF4-FFF2-40B4-BE49-F238E27FC236}">
                <a16:creationId xmlns:a16="http://schemas.microsoft.com/office/drawing/2014/main" id="{918357FB-6DD0-3D81-02E0-F8EE3625CCD9}"/>
              </a:ext>
            </a:extLst>
          </p:cNvPr>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212300005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latin typeface="Times New Roman" pitchFamily="18" charset="0"/>
                <a:cs typeface="Times New Roman" pitchFamily="18" charset="0"/>
              </a:rPr>
              <a:t>Types of ICUs…</a:t>
            </a:r>
          </a:p>
        </p:txBody>
      </p:sp>
      <p:graphicFrame>
        <p:nvGraphicFramePr>
          <p:cNvPr id="13" name="Table 12"/>
          <p:cNvGraphicFramePr>
            <a:graphicFrameLocks noGrp="1"/>
          </p:cNvGraphicFramePr>
          <p:nvPr>
            <p:extLst>
              <p:ext uri="{D42A27DB-BD31-4B8C-83A1-F6EECF244321}">
                <p14:modId xmlns:p14="http://schemas.microsoft.com/office/powerpoint/2010/main" val="3321162401"/>
              </p:ext>
            </p:extLst>
          </p:nvPr>
        </p:nvGraphicFramePr>
        <p:xfrm>
          <a:off x="381000" y="914400"/>
          <a:ext cx="8610600" cy="5533379"/>
        </p:xfrm>
        <a:graphic>
          <a:graphicData uri="http://schemas.openxmlformats.org/drawingml/2006/table">
            <a:tbl>
              <a:tblPr firstRow="1" bandRow="1">
                <a:tableStyleId>{BC89EF96-8CEA-46FF-86C4-4CE0E7609802}</a:tableStyleId>
              </a:tblPr>
              <a:tblGrid>
                <a:gridCol w="1676400">
                  <a:extLst>
                    <a:ext uri="{9D8B030D-6E8A-4147-A177-3AD203B41FA5}">
                      <a16:colId xmlns:a16="http://schemas.microsoft.com/office/drawing/2014/main" val="20000"/>
                    </a:ext>
                  </a:extLst>
                </a:gridCol>
                <a:gridCol w="6934200">
                  <a:extLst>
                    <a:ext uri="{9D8B030D-6E8A-4147-A177-3AD203B41FA5}">
                      <a16:colId xmlns:a16="http://schemas.microsoft.com/office/drawing/2014/main" val="20001"/>
                    </a:ext>
                  </a:extLst>
                </a:gridCol>
              </a:tblGrid>
              <a:tr h="381000">
                <a:tc>
                  <a:txBody>
                    <a:bodyPr/>
                    <a:lstStyle/>
                    <a:p>
                      <a:pPr>
                        <a:lnSpc>
                          <a:spcPct val="100000"/>
                        </a:lnSpc>
                      </a:pPr>
                      <a:r>
                        <a:rPr lang="en-US" sz="1800" dirty="0"/>
                        <a:t>Name </a:t>
                      </a:r>
                      <a:endParaRPr lang="en-US" sz="1800" dirty="0">
                        <a:latin typeface="Arial" panose="020B0604020202020204" pitchFamily="34" charset="0"/>
                        <a:cs typeface="Arial" panose="020B0604020202020204" pitchFamily="34" charset="0"/>
                      </a:endParaRPr>
                    </a:p>
                  </a:txBody>
                  <a:tcPr/>
                </a:tc>
                <a:tc>
                  <a:txBody>
                    <a:bodyPr/>
                    <a:lstStyle/>
                    <a:p>
                      <a:pPr>
                        <a:lnSpc>
                          <a:spcPct val="100000"/>
                        </a:lnSpc>
                      </a:pPr>
                      <a:r>
                        <a:rPr lang="en-US" sz="2000" dirty="0"/>
                        <a:t>Description</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135744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High dependency unit (HDU ) or intermediate care area, step-down unit, or progressive care unit</a:t>
                      </a:r>
                      <a:endParaRPr lang="en-US" sz="1400" dirty="0">
                        <a:latin typeface="Arial" panose="020B0604020202020204" pitchFamily="34" charset="0"/>
                        <a:cs typeface="Arial" panose="020B0604020202020204" pitchFamily="34" charset="0"/>
                      </a:endParaRPr>
                    </a:p>
                  </a:txBody>
                  <a:tcPr/>
                </a:tc>
                <a:tc>
                  <a:txBody>
                    <a:bodyPr/>
                    <a:lstStyle/>
                    <a:p>
                      <a:pPr algn="just">
                        <a:lnSpc>
                          <a:spcPct val="100000"/>
                        </a:lnSpc>
                      </a:pPr>
                      <a:r>
                        <a:rPr lang="en-US" sz="1400" dirty="0"/>
                        <a:t>An intermediate ward for patients who require close observation, treatment and nursing care that cannot be provided in a general ward, but whose care is not at a critical stage to warrant an ICU bed. It is utilized until a patient's condition stabilizes to qualify for discharge to a general ward or recovery unit.  </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418623">
                <a:tc>
                  <a:txBody>
                    <a:bodyPr/>
                    <a:lstStyle/>
                    <a:p>
                      <a:pPr>
                        <a:lnSpc>
                          <a:spcPct val="100000"/>
                        </a:lnSpc>
                      </a:pPr>
                      <a:r>
                        <a:rPr lang="en-US" sz="1600" baseline="0" dirty="0"/>
                        <a:t>NICU</a:t>
                      </a:r>
                      <a:endParaRPr lang="en-US" sz="1400" dirty="0">
                        <a:latin typeface="Arial" panose="020B0604020202020204" pitchFamily="34" charset="0"/>
                        <a:cs typeface="Arial" panose="020B0604020202020204" pitchFamily="34" charset="0"/>
                      </a:endParaRPr>
                    </a:p>
                  </a:txBody>
                  <a:tcPr/>
                </a:tc>
                <a:tc>
                  <a:txBody>
                    <a:bodyPr/>
                    <a:lstStyle/>
                    <a:p>
                      <a:pPr>
                        <a:lnSpc>
                          <a:spcPct val="100000"/>
                        </a:lnSpc>
                      </a:pPr>
                      <a:r>
                        <a:rPr lang="en-US" sz="1400" dirty="0"/>
                        <a:t>Cares for neonatal patients who have not left the hospital after birth.  </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765482">
                <a:tc>
                  <a:txBody>
                    <a:bodyPr/>
                    <a:lstStyle/>
                    <a:p>
                      <a:pPr>
                        <a:lnSpc>
                          <a:spcPct val="100000"/>
                        </a:lnSpc>
                      </a:pPr>
                      <a:r>
                        <a:rPr lang="en-US" sz="1400" dirty="0"/>
                        <a:t>Neurological ICU</a:t>
                      </a:r>
                      <a:endParaRPr lang="en-US" sz="1400" dirty="0">
                        <a:latin typeface="Arial" panose="020B0604020202020204" pitchFamily="34" charset="0"/>
                        <a:cs typeface="Arial" panose="020B0604020202020204" pitchFamily="34" charset="0"/>
                      </a:endParaRPr>
                    </a:p>
                  </a:txBody>
                  <a:tcPr/>
                </a:tc>
                <a:tc>
                  <a:txBody>
                    <a:bodyPr/>
                    <a:lstStyle/>
                    <a:p>
                      <a:pPr>
                        <a:lnSpc>
                          <a:spcPct val="100000"/>
                        </a:lnSpc>
                      </a:pPr>
                      <a:r>
                        <a:rPr lang="en-US" sz="1400" dirty="0"/>
                        <a:t>Patients are treated for brain aneurysms, brain tumors, stroke, rattlesnake bites and post-surgical patients who have undergone various neurological surgeries performed by experienced neurosurgeons</a:t>
                      </a:r>
                      <a:r>
                        <a:rPr lang="en-US" sz="1400" baseline="0" dirty="0"/>
                        <a:t> </a:t>
                      </a:r>
                      <a:r>
                        <a:rPr lang="en-US" sz="1400" dirty="0"/>
                        <a:t>require constant neurological exams.  </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r h="542216">
                <a:tc>
                  <a:txBody>
                    <a:bodyPr/>
                    <a:lstStyle/>
                    <a:p>
                      <a:pPr>
                        <a:lnSpc>
                          <a:spcPct val="100000"/>
                        </a:lnSpc>
                      </a:pPr>
                      <a:r>
                        <a:rPr lang="en-US" sz="1600" dirty="0"/>
                        <a:t>PICU</a:t>
                      </a:r>
                      <a:endParaRPr lang="en-US" sz="1400" dirty="0">
                        <a:latin typeface="Arial" panose="020B0604020202020204" pitchFamily="34" charset="0"/>
                        <a:cs typeface="Arial" panose="020B0604020202020204" pitchFamily="34" charset="0"/>
                      </a:endParaRPr>
                    </a:p>
                  </a:txBody>
                  <a:tcPr/>
                </a:tc>
                <a:tc>
                  <a:txBody>
                    <a:bodyPr/>
                    <a:lstStyle/>
                    <a:p>
                      <a:pPr>
                        <a:lnSpc>
                          <a:spcPct val="100000"/>
                        </a:lnSpc>
                      </a:pPr>
                      <a:r>
                        <a:rPr lang="en-US" sz="1400" dirty="0"/>
                        <a:t>Pediatric patients are treated in this unit for life-threatening conditions such as asthma, influenza, diabetic ketoacidosis, or traumatic neurological injury</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4"/>
                  </a:ext>
                </a:extLst>
              </a:tr>
              <a:tr h="542216">
                <a:tc>
                  <a:txBody>
                    <a:bodyPr/>
                    <a:lstStyle/>
                    <a:p>
                      <a:pPr>
                        <a:lnSpc>
                          <a:spcPct val="100000"/>
                        </a:lnSpc>
                      </a:pPr>
                      <a:r>
                        <a:rPr lang="en-US" sz="1400" dirty="0"/>
                        <a:t>Post-anesthesia care unit (PACU) or recovery room</a:t>
                      </a:r>
                      <a:endParaRPr lang="en-US" sz="1400" dirty="0">
                        <a:latin typeface="Arial" panose="020B0604020202020204" pitchFamily="34" charset="0"/>
                        <a:cs typeface="Arial" panose="020B0604020202020204" pitchFamily="34" charset="0"/>
                      </a:endParaRPr>
                    </a:p>
                  </a:txBody>
                  <a:tcPr/>
                </a:tc>
                <a:tc>
                  <a:txBody>
                    <a:bodyPr/>
                    <a:lstStyle/>
                    <a:p>
                      <a:pPr>
                        <a:lnSpc>
                          <a:spcPct val="100000"/>
                        </a:lnSpc>
                      </a:pPr>
                      <a:r>
                        <a:rPr lang="en-US" sz="1400" dirty="0"/>
                        <a:t>Provides immediate post-op observation and stabilisation of patients following surgical operations and anesthesia. </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542216">
                <a:tc>
                  <a:txBody>
                    <a:bodyPr/>
                    <a:lstStyle/>
                    <a:p>
                      <a:pPr>
                        <a:lnSpc>
                          <a:spcPct val="100000"/>
                        </a:lnSpc>
                      </a:pPr>
                      <a:r>
                        <a:rPr lang="en-US" sz="1400" dirty="0"/>
                        <a:t>Trauma ICU</a:t>
                      </a:r>
                      <a:endParaRPr lang="en-US" sz="1400" dirty="0">
                        <a:latin typeface="Arial" panose="020B0604020202020204" pitchFamily="34" charset="0"/>
                        <a:cs typeface="Arial" panose="020B0604020202020204" pitchFamily="34" charset="0"/>
                      </a:endParaRPr>
                    </a:p>
                  </a:txBody>
                  <a:tcPr/>
                </a:tc>
                <a:tc>
                  <a:txBody>
                    <a:bodyPr/>
                    <a:lstStyle/>
                    <a:p>
                      <a:pPr>
                        <a:lnSpc>
                          <a:spcPct val="100000"/>
                        </a:lnSpc>
                      </a:pPr>
                      <a:r>
                        <a:rPr lang="en-US" sz="1400" dirty="0"/>
                        <a:t>These are found in hospitals certified in treating major trauma</a:t>
                      </a:r>
                      <a:r>
                        <a:rPr lang="en-US" sz="1400" baseline="0" dirty="0"/>
                        <a:t> </a:t>
                      </a:r>
                      <a:r>
                        <a:rPr lang="en-US" sz="1400" dirty="0"/>
                        <a:t>with a dedicated trauma team equipped with the expertise to deal with serious complications. </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6"/>
                  </a:ext>
                </a:extLst>
              </a:tr>
              <a:tr h="765482">
                <a:tc>
                  <a:txBody>
                    <a:bodyPr/>
                    <a:lstStyle/>
                    <a:p>
                      <a:pPr>
                        <a:lnSpc>
                          <a:spcPct val="100000"/>
                        </a:lnSpc>
                      </a:pPr>
                      <a:r>
                        <a:rPr lang="en-US" sz="1400" dirty="0"/>
                        <a:t>SICU</a:t>
                      </a:r>
                      <a:endParaRPr lang="en-US" sz="1400" dirty="0">
                        <a:latin typeface="Arial" panose="020B0604020202020204" pitchFamily="34" charset="0"/>
                        <a:cs typeface="Arial" panose="020B0604020202020204" pitchFamily="34" charset="0"/>
                      </a:endParaRPr>
                    </a:p>
                  </a:txBody>
                  <a:tcPr/>
                </a:tc>
                <a:tc>
                  <a:txBody>
                    <a:bodyPr/>
                    <a:lstStyle/>
                    <a:p>
                      <a:pPr>
                        <a:lnSpc>
                          <a:spcPct val="100000"/>
                        </a:lnSpc>
                      </a:pPr>
                      <a:r>
                        <a:rPr lang="en-US" sz="1400" dirty="0"/>
                        <a:t>A specialized service in larger hospitals that provides and primarily serves critically ill postoperative patients. As opposed to other ICUs, the care is managed by surgeons or anesthesiologists trained in critical-care. </a:t>
                      </a:r>
                      <a:endParaRPr lang="en-US"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7"/>
                  </a:ext>
                </a:extLst>
              </a:tr>
            </a:tbl>
          </a:graphicData>
        </a:graphic>
      </p:graphicFrame>
      <p:sp>
        <p:nvSpPr>
          <p:cNvPr id="4" name="Slide Number Placeholder 3">
            <a:extLst>
              <a:ext uri="{FF2B5EF4-FFF2-40B4-BE49-F238E27FC236}">
                <a16:creationId xmlns:a16="http://schemas.microsoft.com/office/drawing/2014/main" id="{F7EFE489-9E7C-F112-80A3-C331E08BEF87}"/>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16560098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Arial" panose="020B0604020202020204" pitchFamily="34" charset="0"/>
                <a:ea typeface="Tahoma" pitchFamily="34" charset="0"/>
                <a:cs typeface="Arial" panose="020B0604020202020204" pitchFamily="34" charset="0"/>
              </a:rPr>
              <a:t> Levels of ICUs</a:t>
            </a:r>
            <a:br>
              <a:rPr lang="en-US" sz="3200" dirty="0">
                <a:latin typeface="Arial" panose="020B0604020202020204" pitchFamily="34" charset="0"/>
                <a:ea typeface="Tahoma" pitchFamily="34" charset="0"/>
                <a:cs typeface="Arial" panose="020B0604020202020204" pitchFamily="34" charset="0"/>
              </a:rPr>
            </a:br>
            <a:endParaRPr lang="en-US" sz="3200" dirty="0">
              <a:latin typeface="Arial" panose="020B0604020202020204" pitchFamily="34" charset="0"/>
              <a:ea typeface="Tahoma"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826BF5BB-D225-66AD-8E4D-3D3ECA7C3204}"/>
              </a:ext>
            </a:extLst>
          </p:cNvPr>
          <p:cNvSpPr>
            <a:spLocks noGrp="1"/>
          </p:cNvSpPr>
          <p:nvPr>
            <p:ph idx="1"/>
          </p:nvPr>
        </p:nvSpPr>
        <p:spPr>
          <a:xfrm>
            <a:off x="457200" y="1417638"/>
            <a:ext cx="8382000" cy="5059362"/>
          </a:xfrm>
        </p:spPr>
        <p:txBody>
          <a:bodyPr>
            <a:noAutofit/>
          </a:bodyPr>
          <a:lstStyle/>
          <a:p>
            <a:pPr lvl="0">
              <a:buFont typeface="Wingdings" panose="05000000000000000000" pitchFamily="2" charset="2"/>
              <a:buChar char="q"/>
            </a:pPr>
            <a:r>
              <a:rPr lang="en-US" sz="2400" b="1" dirty="0">
                <a:latin typeface="Arial" panose="020B0604020202020204" pitchFamily="34" charset="0"/>
                <a:cs typeface="Arial" panose="020B0604020202020204" pitchFamily="34" charset="0"/>
              </a:rPr>
              <a:t>Level 1 (Primary or Basic) ICU</a:t>
            </a:r>
          </a:p>
          <a:p>
            <a:pPr lvl="0"/>
            <a:r>
              <a:rPr lang="en-US" sz="2000" dirty="0">
                <a:latin typeface="Arial" panose="020B0604020202020204" pitchFamily="34" charset="0"/>
                <a:cs typeface="Arial" panose="020B0604020202020204" pitchFamily="34" charset="0"/>
              </a:rPr>
              <a:t>It is the entry-level tier of intensive care found in smaller district or community hospitals</a:t>
            </a:r>
          </a:p>
          <a:p>
            <a:pPr lvl="0"/>
            <a:r>
              <a:rPr lang="en-US" sz="2000" dirty="0">
                <a:latin typeface="Arial" panose="020B0604020202020204" pitchFamily="34" charset="0"/>
                <a:cs typeface="Arial" panose="020B0604020202020204" pitchFamily="34" charset="0"/>
              </a:rPr>
              <a:t>It is a unit capable of providing basic life support and monitoring.</a:t>
            </a:r>
          </a:p>
          <a:p>
            <a:pPr lvl="0"/>
            <a:r>
              <a:rPr lang="en-US" sz="1800" dirty="0">
                <a:latin typeface="Arial" panose="020B0604020202020204" pitchFamily="34" charset="0"/>
                <a:cs typeface="Arial" panose="020B0604020202020204" pitchFamily="34" charset="0"/>
              </a:rPr>
              <a:t>Ward-based care where the patient does not require organ support </a:t>
            </a:r>
          </a:p>
          <a:p>
            <a:pPr lvl="1"/>
            <a:r>
              <a:rPr lang="en-US" sz="1600" dirty="0">
                <a:latin typeface="Arial" panose="020B0604020202020204" pitchFamily="34" charset="0"/>
                <a:cs typeface="Arial" panose="020B0604020202020204" pitchFamily="34" charset="0"/>
              </a:rPr>
              <a:t>(for example, IV fluid, or oxygen therapy by face mask, vasopressors, non-invasive hemodynamic monitoring)</a:t>
            </a:r>
          </a:p>
          <a:p>
            <a:pPr lvl="0"/>
            <a:r>
              <a:rPr lang="en-US" sz="2000" dirty="0">
                <a:latin typeface="Arial" panose="020B0604020202020204" pitchFamily="34" charset="0"/>
                <a:cs typeface="Arial" panose="020B0604020202020204" pitchFamily="34" charset="0"/>
              </a:rPr>
              <a:t>Should be capable of providing immediate resuscitation and short-term cardio-respiratory support for critically ill patients. </a:t>
            </a:r>
          </a:p>
          <a:p>
            <a:pPr lvl="0"/>
            <a:r>
              <a:rPr lang="en-US" sz="2000" b="1" i="0" baseline="0" dirty="0">
                <a:latin typeface="Arial" panose="020B0604020202020204" pitchFamily="34" charset="0"/>
                <a:cs typeface="Arial" panose="020B0604020202020204" pitchFamily="34" charset="0"/>
              </a:rPr>
              <a:t>Staffing: </a:t>
            </a:r>
            <a:r>
              <a:rPr lang="en-US" sz="2000" b="0" i="0" baseline="0" dirty="0">
                <a:latin typeface="Arial" panose="020B0604020202020204" pitchFamily="34" charset="0"/>
                <a:cs typeface="Arial" panose="020B0604020202020204" pitchFamily="34" charset="0"/>
              </a:rPr>
              <a:t>usually staffed by medical officers and nurses with critical care training</a:t>
            </a:r>
          </a:p>
          <a:p>
            <a:pPr lvl="0"/>
            <a:r>
              <a:rPr lang="en-US" sz="2000" b="1" dirty="0">
                <a:latin typeface="Arial" panose="020B0604020202020204" pitchFamily="34" charset="0"/>
                <a:cs typeface="Arial" panose="020B0604020202020204" pitchFamily="34" charset="0"/>
              </a:rPr>
              <a:t>Nurse-to-patient ratio</a:t>
            </a:r>
            <a:r>
              <a:rPr lang="en-US" sz="2000" dirty="0">
                <a:latin typeface="Arial" panose="020B0604020202020204" pitchFamily="34" charset="0"/>
                <a:cs typeface="Arial" panose="020B0604020202020204" pitchFamily="34" charset="0"/>
              </a:rPr>
              <a:t>: 1:3 or 1:4</a:t>
            </a:r>
          </a:p>
          <a:p>
            <a:pPr lvl="0"/>
            <a:r>
              <a:rPr lang="en-US" sz="2000" dirty="0">
                <a:latin typeface="Arial" panose="020B0604020202020204" pitchFamily="34" charset="0"/>
                <a:cs typeface="Arial" panose="020B0604020202020204" pitchFamily="34" charset="0"/>
              </a:rPr>
              <a:t>e.g., small district hospital, small private nursing homes, and rural centers</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sp>
        <p:nvSpPr>
          <p:cNvPr id="11" name="Slide Number Placeholder 10">
            <a:extLst>
              <a:ext uri="{FF2B5EF4-FFF2-40B4-BE49-F238E27FC236}">
                <a16:creationId xmlns:a16="http://schemas.microsoft.com/office/drawing/2014/main" id="{4B41C2C5-1656-EDC1-B64D-92417D4B7262}"/>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39250972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228C9-56E7-5E8E-DEF5-F10462E8116E}"/>
              </a:ext>
            </a:extLst>
          </p:cNvPr>
          <p:cNvSpPr>
            <a:spLocks noGrp="1"/>
          </p:cNvSpPr>
          <p:nvPr>
            <p:ph type="title"/>
          </p:nvPr>
        </p:nvSpPr>
        <p:spPr/>
        <p:txBody>
          <a:bodyPr>
            <a:normAutofit fontScale="90000"/>
          </a:bodyPr>
          <a:lstStyle/>
          <a:p>
            <a:r>
              <a:rPr lang="en-US" dirty="0">
                <a:latin typeface="Arial" panose="020B0604020202020204" pitchFamily="34" charset="0"/>
                <a:ea typeface="Tahoma" pitchFamily="34" charset="0"/>
                <a:cs typeface="Arial" panose="020B0604020202020204" pitchFamily="34" charset="0"/>
              </a:rPr>
              <a:t> Levels of ICUs….</a:t>
            </a:r>
            <a:br>
              <a:rPr lang="en-US" dirty="0">
                <a:latin typeface="Arial" panose="020B0604020202020204" pitchFamily="34" charset="0"/>
                <a:ea typeface="Tahoma" pitchFamily="34" charset="0"/>
                <a:cs typeface="Arial" panose="020B0604020202020204" pitchFamily="34" charset="0"/>
              </a:rPr>
            </a:br>
            <a:endParaRPr lang="en-US" dirty="0"/>
          </a:p>
        </p:txBody>
      </p:sp>
      <p:graphicFrame>
        <p:nvGraphicFramePr>
          <p:cNvPr id="5" name="Content Placeholder 4">
            <a:extLst>
              <a:ext uri="{FF2B5EF4-FFF2-40B4-BE49-F238E27FC236}">
                <a16:creationId xmlns:a16="http://schemas.microsoft.com/office/drawing/2014/main" id="{6D48F827-0695-FCEF-8A04-CD7691933A7A}"/>
              </a:ext>
            </a:extLst>
          </p:cNvPr>
          <p:cNvGraphicFramePr>
            <a:graphicFrameLocks noGrp="1"/>
          </p:cNvGraphicFramePr>
          <p:nvPr>
            <p:ph idx="1"/>
            <p:extLst>
              <p:ext uri="{D42A27DB-BD31-4B8C-83A1-F6EECF244321}">
                <p14:modId xmlns:p14="http://schemas.microsoft.com/office/powerpoint/2010/main" val="867482671"/>
              </p:ext>
            </p:extLst>
          </p:nvPr>
        </p:nvGraphicFramePr>
        <p:xfrm>
          <a:off x="342900" y="1219200"/>
          <a:ext cx="84582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Slide Number Placeholder 6">
            <a:extLst>
              <a:ext uri="{FF2B5EF4-FFF2-40B4-BE49-F238E27FC236}">
                <a16:creationId xmlns:a16="http://schemas.microsoft.com/office/drawing/2014/main" id="{E20CE984-5414-2502-3522-B22313A1A48A}"/>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1381793752"/>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Autofit/>
          </a:bodyPr>
          <a:lstStyle/>
          <a:p>
            <a:pPr algn="l"/>
            <a:r>
              <a:rPr lang="en-US" sz="3200" dirty="0">
                <a:latin typeface="Arial" panose="020B0604020202020204" pitchFamily="34" charset="0"/>
                <a:cs typeface="Arial" panose="020B0604020202020204" pitchFamily="34" charset="0"/>
              </a:rPr>
              <a:t>  Requirements For Intensive Care Units</a:t>
            </a:r>
            <a:br>
              <a:rPr lang="en-US" sz="3200" dirty="0">
                <a:latin typeface="Arial" panose="020B0604020202020204" pitchFamily="34" charset="0"/>
                <a:cs typeface="Arial" panose="020B0604020202020204" pitchFamily="34" charset="0"/>
              </a:rPr>
            </a:br>
            <a:endParaRPr lang="en-US" sz="3200" dirty="0">
              <a:latin typeface="Arial" panose="020B0604020202020204" pitchFamily="34" charset="0"/>
              <a:cs typeface="Arial" panose="020B0604020202020204" pitchFamily="34" charset="0"/>
            </a:endParaRPr>
          </a:p>
        </p:txBody>
      </p:sp>
      <p:graphicFrame>
        <p:nvGraphicFramePr>
          <p:cNvPr id="9" name="Content Placeholder 8">
            <a:extLst>
              <a:ext uri="{FF2B5EF4-FFF2-40B4-BE49-F238E27FC236}">
                <a16:creationId xmlns:a16="http://schemas.microsoft.com/office/drawing/2014/main" id="{4BEF137A-542C-8A9E-DCE3-D4BA201C29FA}"/>
              </a:ext>
            </a:extLst>
          </p:cNvPr>
          <p:cNvGraphicFramePr>
            <a:graphicFrameLocks noGrp="1"/>
          </p:cNvGraphicFramePr>
          <p:nvPr>
            <p:ph idx="1"/>
            <p:extLst>
              <p:ext uri="{D42A27DB-BD31-4B8C-83A1-F6EECF244321}">
                <p14:modId xmlns:p14="http://schemas.microsoft.com/office/powerpoint/2010/main" val="1493641732"/>
              </p:ext>
            </p:extLst>
          </p:nvPr>
        </p:nvGraphicFramePr>
        <p:xfrm>
          <a:off x="457200" y="1447800"/>
          <a:ext cx="8229600" cy="49271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Slide Number Placeholder 10">
            <a:extLst>
              <a:ext uri="{FF2B5EF4-FFF2-40B4-BE49-F238E27FC236}">
                <a16:creationId xmlns:a16="http://schemas.microsoft.com/office/drawing/2014/main" id="{7F9768C0-DACA-4687-17AA-48BFB3D40DF9}"/>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258074550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D9A1F-801C-A064-B8FE-2B23BBD05DD7}"/>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a:extLst>
              <a:ext uri="{FF2B5EF4-FFF2-40B4-BE49-F238E27FC236}">
                <a16:creationId xmlns:a16="http://schemas.microsoft.com/office/drawing/2014/main" id="{FED0E122-8167-AC56-52A1-DAE0F8185A41}"/>
              </a:ext>
            </a:extLst>
          </p:cNvPr>
          <p:cNvSpPr>
            <a:spLocks noGrp="1"/>
          </p:cNvSpPr>
          <p:nvPr>
            <p:ph idx="1"/>
          </p:nvPr>
        </p:nvSpPr>
        <p:spPr>
          <a:xfrm>
            <a:off x="457200" y="1600200"/>
            <a:ext cx="8229600" cy="4525963"/>
          </a:xfrm>
        </p:spPr>
        <p:txBody>
          <a:bodyPr>
            <a:normAutofit/>
          </a:bodyPr>
          <a:lstStyle/>
          <a:p>
            <a:pPr marL="457200" indent="-457200">
              <a:buAutoNum type="arabicPeriod"/>
            </a:pPr>
            <a:r>
              <a:rPr lang="en-US" sz="2400" b="1" dirty="0">
                <a:latin typeface="Arial" panose="020B0604020202020204" pitchFamily="34" charset="0"/>
                <a:cs typeface="Arial" panose="020B0604020202020204" pitchFamily="34" charset="0"/>
              </a:rPr>
              <a:t>Staffing/Personnel</a:t>
            </a:r>
          </a:p>
          <a:p>
            <a:r>
              <a:rPr lang="en-US" sz="2200" dirty="0">
                <a:latin typeface="Arial" panose="020B0604020202020204" pitchFamily="34" charset="0"/>
                <a:cs typeface="Arial" panose="020B0604020202020204" pitchFamily="34" charset="0"/>
              </a:rPr>
              <a:t>Specially trained physicians, nurses, and respiratory therapists are needed in order to staff the ICU.</a:t>
            </a:r>
          </a:p>
          <a:p>
            <a:pPr>
              <a:buClr>
                <a:srgbClr val="FF0000"/>
              </a:buClr>
              <a:buFont typeface="Symbol" pitchFamily="18" charset="2"/>
              <a:buChar char="ª"/>
            </a:pPr>
            <a:r>
              <a:rPr lang="en-US" sz="2400" dirty="0">
                <a:latin typeface="Arial" panose="020B0604020202020204" pitchFamily="34" charset="0"/>
                <a:cs typeface="Arial" panose="020B0604020202020204" pitchFamily="34" charset="0"/>
              </a:rPr>
              <a:t>Medical Staff (Intensivist-led teams)</a:t>
            </a:r>
          </a:p>
          <a:p>
            <a:pPr>
              <a:buClr>
                <a:srgbClr val="FF0000"/>
              </a:buClr>
              <a:buFont typeface="Symbol" pitchFamily="18" charset="2"/>
              <a:buChar char="ª"/>
            </a:pPr>
            <a:r>
              <a:rPr lang="en-US" sz="2400" dirty="0">
                <a:latin typeface="Arial" panose="020B0604020202020204" pitchFamily="34" charset="0"/>
                <a:cs typeface="Arial" panose="020B0604020202020204" pitchFamily="34" charset="0"/>
              </a:rPr>
              <a:t>Nursing Staff</a:t>
            </a:r>
          </a:p>
          <a:p>
            <a:pPr lvl="1" algn="just">
              <a:buClr>
                <a:srgbClr val="FF0000"/>
              </a:buClr>
            </a:pPr>
            <a:r>
              <a:rPr lang="en-US" sz="2000" dirty="0">
                <a:latin typeface="Arial" panose="020B0604020202020204" pitchFamily="34" charset="0"/>
                <a:cs typeface="Arial" panose="020B0604020202020204" pitchFamily="34" charset="0"/>
              </a:rPr>
              <a:t>The appropriate nurse to patient ratio and the total number of nursing staff required by each unit depends on many variables such as </a:t>
            </a:r>
          </a:p>
          <a:p>
            <a:pPr lvl="2" algn="just">
              <a:buClr>
                <a:srgbClr val="FF0000"/>
              </a:buClr>
            </a:pPr>
            <a:r>
              <a:rPr lang="en-US" sz="1800" dirty="0">
                <a:latin typeface="Arial" panose="020B0604020202020204" pitchFamily="34" charset="0"/>
                <a:cs typeface="Arial" panose="020B0604020202020204" pitchFamily="34" charset="0"/>
              </a:rPr>
              <a:t>the total number of patients, </a:t>
            </a:r>
          </a:p>
          <a:p>
            <a:pPr lvl="2" algn="just">
              <a:buClr>
                <a:srgbClr val="FF0000"/>
              </a:buClr>
            </a:pPr>
            <a:r>
              <a:rPr lang="en-US" sz="1800" dirty="0">
                <a:latin typeface="Arial" panose="020B0604020202020204" pitchFamily="34" charset="0"/>
                <a:cs typeface="Arial" panose="020B0604020202020204" pitchFamily="34" charset="0"/>
              </a:rPr>
              <a:t>severity of illness of patients, </a:t>
            </a:r>
          </a:p>
          <a:p>
            <a:pPr lvl="2" algn="just">
              <a:buClr>
                <a:srgbClr val="FF0000"/>
              </a:buClr>
            </a:pPr>
            <a:r>
              <a:rPr lang="en-US" sz="1800" dirty="0">
                <a:latin typeface="Arial" panose="020B0604020202020204" pitchFamily="34" charset="0"/>
                <a:cs typeface="Arial" panose="020B0604020202020204" pitchFamily="34" charset="0"/>
              </a:rPr>
              <a:t>methods of rostering, </a:t>
            </a:r>
          </a:p>
          <a:p>
            <a:pPr lvl="2" algn="just">
              <a:buClr>
                <a:srgbClr val="FF0000"/>
              </a:buClr>
            </a:pPr>
            <a:r>
              <a:rPr lang="en-US" sz="1800" dirty="0">
                <a:latin typeface="Arial" panose="020B0604020202020204" pitchFamily="34" charset="0"/>
                <a:cs typeface="Arial" panose="020B0604020202020204" pitchFamily="34" charset="0"/>
              </a:rPr>
              <a:t>as well as individual policies for support and monitoring in each unit.</a:t>
            </a:r>
          </a:p>
          <a:p>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96805B1E-A3CC-36B3-AEEF-230564891DC0}"/>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357023483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latin typeface="Arial" panose="020B0604020202020204" pitchFamily="34" charset="0"/>
                <a:cs typeface="Arial" panose="020B0604020202020204" pitchFamily="34" charset="0"/>
              </a:rPr>
              <a:t>Cont…</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a:buClr>
                <a:srgbClr val="FF0000"/>
              </a:buClr>
              <a:buFont typeface="Symbol" pitchFamily="18" charset="2"/>
              <a:buChar char="ª"/>
            </a:pPr>
            <a:r>
              <a:rPr lang="en-US" sz="2400" dirty="0">
                <a:latin typeface="Arial" panose="020B0604020202020204" pitchFamily="34" charset="0"/>
                <a:cs typeface="Arial" panose="020B0604020202020204" pitchFamily="34" charset="0"/>
              </a:rPr>
              <a:t>Other Staffs</a:t>
            </a:r>
          </a:p>
          <a:p>
            <a:pPr marL="1257300" lvl="2" indent="-457200">
              <a:buFont typeface="Wingdings" pitchFamily="2" charset="2"/>
              <a:buChar char="ü"/>
            </a:pPr>
            <a:r>
              <a:rPr lang="en-US" dirty="0">
                <a:latin typeface="Arial" panose="020B0604020202020204" pitchFamily="34" charset="0"/>
                <a:cs typeface="Arial" panose="020B0604020202020204" pitchFamily="34" charset="0"/>
              </a:rPr>
              <a:t>physiotherapists, radiographers, dieticians, technicians (including biomedical engineering and scientific officers), </a:t>
            </a:r>
          </a:p>
          <a:p>
            <a:pPr marL="1257300" lvl="2" indent="-457200">
              <a:buFont typeface="Wingdings" pitchFamily="2" charset="2"/>
              <a:buChar char="ü"/>
            </a:pPr>
            <a:r>
              <a:rPr lang="en-US" dirty="0">
                <a:latin typeface="Arial" panose="020B0604020202020204" pitchFamily="34" charset="0"/>
                <a:cs typeface="Arial" panose="020B0604020202020204" pitchFamily="34" charset="0"/>
              </a:rPr>
              <a:t>social workers/Aboriginal liaison/Maori liaison, </a:t>
            </a:r>
          </a:p>
          <a:p>
            <a:pPr marL="1257300" lvl="2" indent="-457200">
              <a:buFont typeface="Wingdings" pitchFamily="2" charset="2"/>
              <a:buChar char="ü"/>
            </a:pPr>
            <a:r>
              <a:rPr lang="en-US" dirty="0">
                <a:latin typeface="Arial" panose="020B0604020202020204" pitchFamily="34" charset="0"/>
                <a:cs typeface="Arial" panose="020B0604020202020204" pitchFamily="34" charset="0"/>
              </a:rPr>
              <a:t>occupational therapists,</a:t>
            </a:r>
          </a:p>
          <a:p>
            <a:pPr marL="1257300" lvl="2" indent="-457200">
              <a:buFont typeface="Wingdings" pitchFamily="2" charset="2"/>
              <a:buChar char="ü"/>
            </a:pPr>
            <a:r>
              <a:rPr lang="en-US" dirty="0">
                <a:latin typeface="Arial" panose="020B0604020202020204" pitchFamily="34" charset="0"/>
                <a:cs typeface="Arial" panose="020B0604020202020204" pitchFamily="34" charset="0"/>
              </a:rPr>
              <a:t> interpreters, </a:t>
            </a:r>
          </a:p>
          <a:p>
            <a:pPr marL="1257300" lvl="2" indent="-457200">
              <a:buFont typeface="Wingdings" pitchFamily="2" charset="2"/>
              <a:buChar char="ü"/>
            </a:pPr>
            <a:r>
              <a:rPr lang="en-US" dirty="0">
                <a:latin typeface="Arial" panose="020B0604020202020204" pitchFamily="34" charset="0"/>
                <a:cs typeface="Arial" panose="020B0604020202020204" pitchFamily="34" charset="0"/>
              </a:rPr>
              <a:t>pastoral,</a:t>
            </a:r>
          </a:p>
          <a:p>
            <a:pPr marL="1257300" lvl="2" indent="-457200">
              <a:buFont typeface="Wingdings" pitchFamily="2" charset="2"/>
              <a:buChar char="ü"/>
            </a:pPr>
            <a:r>
              <a:rPr lang="en-US" dirty="0">
                <a:latin typeface="Arial" panose="020B0604020202020204" pitchFamily="34" charset="0"/>
                <a:cs typeface="Arial" panose="020B0604020202020204" pitchFamily="34" charset="0"/>
              </a:rPr>
              <a:t> clerical and cleaning staff  </a:t>
            </a:r>
          </a:p>
          <a:p>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7F77868-7180-B1EB-F79E-44AF3A08BF29}"/>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163438725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457200" y="1600200"/>
            <a:ext cx="8534400" cy="4525963"/>
          </a:xfrm>
        </p:spPr>
        <p:txBody>
          <a:bodyPr>
            <a:normAutofit/>
          </a:bodyPr>
          <a:lstStyle/>
          <a:p>
            <a:pPr marL="0" indent="0">
              <a:buNone/>
            </a:pPr>
            <a:r>
              <a:rPr lang="en-US" sz="2800" b="1" dirty="0">
                <a:latin typeface="Arial" panose="020B0604020202020204" pitchFamily="34" charset="0"/>
                <a:cs typeface="Arial" panose="020B0604020202020204" pitchFamily="34" charset="0"/>
              </a:rPr>
              <a:t>2. Operational</a:t>
            </a:r>
          </a:p>
          <a:p>
            <a:pPr algn="just">
              <a:buClr>
                <a:srgbClr val="FF0000"/>
              </a:buClr>
            </a:pPr>
            <a:r>
              <a:rPr lang="en-US" sz="2400" dirty="0">
                <a:latin typeface="Arial" panose="020B0604020202020204" pitchFamily="34" charset="0"/>
                <a:cs typeface="Arial" panose="020B0604020202020204" pitchFamily="34" charset="0"/>
              </a:rPr>
              <a:t>All units should be under the direction of a specialist in intensive care medicine.</a:t>
            </a:r>
          </a:p>
          <a:p>
            <a:pPr>
              <a:buClr>
                <a:srgbClr val="FF0000"/>
              </a:buClr>
            </a:pPr>
            <a:r>
              <a:rPr lang="en-US" sz="2400" dirty="0">
                <a:latin typeface="Arial" panose="020B0604020202020204" pitchFamily="34" charset="0"/>
                <a:cs typeface="Arial" panose="020B0604020202020204" pitchFamily="34" charset="0"/>
              </a:rPr>
              <a:t> This person should institute </a:t>
            </a:r>
          </a:p>
          <a:p>
            <a:pPr lvl="1">
              <a:buClr>
                <a:srgbClr val="FF0000"/>
              </a:buClr>
            </a:pPr>
            <a:r>
              <a:rPr lang="en-US" sz="2400" dirty="0">
                <a:latin typeface="Arial" panose="020B0604020202020204" pitchFamily="34" charset="0"/>
                <a:cs typeface="Arial" panose="020B0604020202020204" pitchFamily="34" charset="0"/>
              </a:rPr>
              <a:t>agreed policies, </a:t>
            </a:r>
          </a:p>
          <a:p>
            <a:pPr lvl="1">
              <a:buClr>
                <a:srgbClr val="FF0000"/>
              </a:buClr>
            </a:pPr>
            <a:r>
              <a:rPr lang="en-US" sz="2400" dirty="0">
                <a:latin typeface="Arial" panose="020B0604020202020204" pitchFamily="34" charset="0"/>
                <a:cs typeface="Arial" panose="020B0604020202020204" pitchFamily="34" charset="0"/>
              </a:rPr>
              <a:t>develop a team approach for management and be responsible to the hospital administration through appropriate channels </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4DD9A3ED-09B2-A042-921E-A7EA245711A5}"/>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17</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454192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normAutofit fontScale="90000"/>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304800" y="1066800"/>
            <a:ext cx="8610600" cy="5059363"/>
          </a:xfrm>
        </p:spPr>
        <p:txBody>
          <a:bodyPr>
            <a:normAutofit/>
          </a:bodyPr>
          <a:lstStyle/>
          <a:p>
            <a:pPr marL="0" indent="0">
              <a:buNone/>
            </a:pPr>
            <a:r>
              <a:rPr lang="en-US" sz="2800" b="1" dirty="0">
                <a:latin typeface="Arial" panose="020B0604020202020204" pitchFamily="34" charset="0"/>
                <a:cs typeface="Arial" panose="020B0604020202020204" pitchFamily="34" charset="0"/>
              </a:rPr>
              <a:t>3. Structure Of An ICU</a:t>
            </a:r>
          </a:p>
          <a:p>
            <a:pPr>
              <a:buClr>
                <a:srgbClr val="FF0000"/>
              </a:buClr>
              <a:buFont typeface="Symbol" pitchFamily="18" charset="2"/>
              <a:buChar char="ª"/>
            </a:pP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Siting</a:t>
            </a:r>
          </a:p>
          <a:p>
            <a:pPr algn="just">
              <a:buFont typeface="Symbol" pitchFamily="18" charset="2"/>
              <a:buChar char="§"/>
            </a:pPr>
            <a:r>
              <a:rPr lang="en-US" sz="2000" dirty="0">
                <a:latin typeface="Arial" panose="020B0604020202020204" pitchFamily="34" charset="0"/>
                <a:cs typeface="Arial" panose="020B0604020202020204" pitchFamily="34" charset="0"/>
              </a:rPr>
              <a:t>The ICU should be a separate unit within the hospital with access:</a:t>
            </a:r>
          </a:p>
          <a:p>
            <a:pPr lvl="1" algn="just">
              <a:buFont typeface="Symbol" pitchFamily="18" charset="2"/>
              <a:buChar char="§"/>
            </a:pPr>
            <a:r>
              <a:rPr lang="en-US" sz="2000" dirty="0">
                <a:latin typeface="Arial" panose="020B0604020202020204" pitchFamily="34" charset="0"/>
                <a:cs typeface="Arial" panose="020B0604020202020204" pitchFamily="34" charset="0"/>
              </a:rPr>
              <a:t> to the emergency department, operating theatres, radiology, and interventional cardiology and trauma unit </a:t>
            </a:r>
            <a:r>
              <a:rPr lang="en-US" sz="2400" dirty="0">
                <a:latin typeface="Arial" panose="020B0604020202020204" pitchFamily="34" charset="0"/>
                <a:cs typeface="Arial" panose="020B0604020202020204" pitchFamily="34" charset="0"/>
              </a:rPr>
              <a:t>where relevant</a:t>
            </a:r>
          </a:p>
          <a:p>
            <a:pPr marL="457200" lvl="1" indent="0" algn="just">
              <a:buNone/>
            </a:pPr>
            <a:endParaRPr lang="en-US" sz="2000" dirty="0">
              <a:latin typeface="Arial" panose="020B0604020202020204" pitchFamily="34" charset="0"/>
              <a:cs typeface="Arial" panose="020B0604020202020204" pitchFamily="34"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124201"/>
            <a:ext cx="6934200" cy="3505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a:extLst>
              <a:ext uri="{FF2B5EF4-FFF2-40B4-BE49-F238E27FC236}">
                <a16:creationId xmlns:a16="http://schemas.microsoft.com/office/drawing/2014/main" id="{51C8164E-0486-4962-1C58-20C79C0E2CBF}"/>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18</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985452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3" name="Content Placeholder 2"/>
          <p:cNvSpPr>
            <a:spLocks noGrp="1"/>
          </p:cNvSpPr>
          <p:nvPr>
            <p:ph idx="1"/>
          </p:nvPr>
        </p:nvSpPr>
        <p:spPr>
          <a:xfrm>
            <a:off x="457200" y="1219200"/>
            <a:ext cx="8229600" cy="4906963"/>
          </a:xfrm>
        </p:spPr>
        <p:txBody>
          <a:bodyPr/>
          <a:lstStyle/>
          <a:p>
            <a:pPr>
              <a:buClr>
                <a:srgbClr val="FF0000"/>
              </a:buClr>
              <a:buFont typeface="Symbol" pitchFamily="18" charset="2"/>
              <a:buChar char="ª"/>
            </a:pPr>
            <a:r>
              <a:rPr lang="en-US" sz="2800" b="1" dirty="0">
                <a:latin typeface="Arial" panose="020B0604020202020204" pitchFamily="34" charset="0"/>
                <a:cs typeface="Arial" panose="020B0604020202020204" pitchFamily="34" charset="0"/>
              </a:rPr>
              <a:t>Design</a:t>
            </a:r>
          </a:p>
          <a:p>
            <a:r>
              <a:rPr lang="en-US" sz="2400" dirty="0">
                <a:solidFill>
                  <a:srgbClr val="000000"/>
                </a:solidFill>
                <a:latin typeface="Arial" panose="020B0604020202020204" pitchFamily="34" charset="0"/>
                <a:cs typeface="Arial" panose="020B0604020202020204" pitchFamily="34" charset="0"/>
              </a:rPr>
              <a:t>A high standard of intensive care medicine is influenced by good design and adequate space</a:t>
            </a:r>
            <a:r>
              <a:rPr lang="en-US" sz="2400" dirty="0">
                <a:latin typeface="Arial" panose="020B0604020202020204" pitchFamily="34" charset="0"/>
                <a:cs typeface="Arial" panose="020B0604020202020204" pitchFamily="34" charset="0"/>
              </a:rPr>
              <a:t> </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667000"/>
            <a:ext cx="76962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a:extLst>
              <a:ext uri="{FF2B5EF4-FFF2-40B4-BE49-F238E27FC236}">
                <a16:creationId xmlns:a16="http://schemas.microsoft.com/office/drawing/2014/main" id="{51B12259-1F01-6352-EE20-44C6908C5F67}"/>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19</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07754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a:t>
            </a:r>
          </a:p>
        </p:txBody>
      </p:sp>
      <p:sp>
        <p:nvSpPr>
          <p:cNvPr id="5" name="Slide Number Placeholder 4">
            <a:extLst>
              <a:ext uri="{FF2B5EF4-FFF2-40B4-BE49-F238E27FC236}">
                <a16:creationId xmlns:a16="http://schemas.microsoft.com/office/drawing/2014/main" id="{11BBD2DC-722C-4EB1-3515-CCC8FB0FBACA}"/>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20</a:t>
            </a:fld>
            <a:endParaRPr lang="en-US">
              <a:latin typeface="Arial" panose="020B0604020202020204" pitchFamily="34" charset="0"/>
              <a:cs typeface="Arial" panose="020B0604020202020204" pitchFamily="34" charset="0"/>
            </a:endParaRPr>
          </a:p>
        </p:txBody>
      </p:sp>
      <p:sp>
        <p:nvSpPr>
          <p:cNvPr id="7" name="Content Placeholder 6">
            <a:extLst>
              <a:ext uri="{FF2B5EF4-FFF2-40B4-BE49-F238E27FC236}">
                <a16:creationId xmlns:a16="http://schemas.microsoft.com/office/drawing/2014/main" id="{CC9E352F-114A-93B6-1A23-DD5BFD066B66}"/>
              </a:ext>
            </a:extLst>
          </p:cNvPr>
          <p:cNvSpPr>
            <a:spLocks noGrp="1"/>
          </p:cNvSpPr>
          <p:nvPr>
            <p:ph idx="1"/>
          </p:nvPr>
        </p:nvSpPr>
        <p:spPr>
          <a:xfrm>
            <a:off x="457200" y="1600200"/>
            <a:ext cx="8229600" cy="4572000"/>
          </a:xfrm>
        </p:spPr>
        <p:txBody>
          <a:bodyPr/>
          <a:lstStyle/>
          <a:p>
            <a:pPr marL="0" lvl="0" indent="0">
              <a:buNone/>
            </a:pPr>
            <a:r>
              <a:rPr lang="en-US" b="1" dirty="0">
                <a:latin typeface="Arial" panose="020B0604020202020204" pitchFamily="34" charset="0"/>
                <a:cs typeface="Arial" panose="020B0604020202020204" pitchFamily="34" charset="0"/>
              </a:rPr>
              <a:t>4. Equipment </a:t>
            </a:r>
            <a:endParaRPr lang="en-US"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The type and quantity of equipment will vary with the</a:t>
            </a:r>
          </a:p>
          <a:p>
            <a:pPr lvl="1"/>
            <a:r>
              <a:rPr lang="en-US" sz="2200" dirty="0">
                <a:latin typeface="Arial" panose="020B0604020202020204" pitchFamily="34" charset="0"/>
                <a:cs typeface="Arial" panose="020B0604020202020204" pitchFamily="34" charset="0"/>
              </a:rPr>
              <a:t>type, size and function of the unit and must be appropriate to the workload of the unit.</a:t>
            </a:r>
            <a:br>
              <a:rPr lang="en-US" sz="2200" dirty="0">
                <a:latin typeface="Arial" panose="020B0604020202020204" pitchFamily="34" charset="0"/>
                <a:cs typeface="Arial" panose="020B0604020202020204" pitchFamily="34" charset="0"/>
              </a:rPr>
            </a:br>
            <a:endParaRPr lang="en-US"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305386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sz="3600" dirty="0">
                <a:latin typeface="Arial" panose="020B0604020202020204" pitchFamily="34" charset="0"/>
                <a:cs typeface="Arial" panose="020B0604020202020204" pitchFamily="34" charset="0"/>
              </a:rPr>
              <a:t>Basic equipment should include:</a:t>
            </a:r>
            <a:br>
              <a:rPr lang="en-US" sz="3600" dirty="0">
                <a:latin typeface="Arial" panose="020B0604020202020204" pitchFamily="34" charset="0"/>
                <a:cs typeface="Arial" panose="020B0604020202020204" pitchFamily="34" charset="0"/>
              </a:rPr>
            </a:br>
            <a:endParaRPr lang="en-US" sz="3600" dirty="0">
              <a:latin typeface="Arial" panose="020B0604020202020204" pitchFamily="34" charset="0"/>
              <a:cs typeface="Arial" panose="020B0604020202020204" pitchFamily="34" charset="0"/>
            </a:endParaRPr>
          </a:p>
        </p:txBody>
      </p:sp>
      <p:sp>
        <p:nvSpPr>
          <p:cNvPr id="5" name="Content Placeholder 4"/>
          <p:cNvSpPr>
            <a:spLocks noGrp="1"/>
          </p:cNvSpPr>
          <p:nvPr>
            <p:ph sz="half" idx="1"/>
          </p:nvPr>
        </p:nvSpPr>
        <p:spPr>
          <a:xfrm>
            <a:off x="228600" y="1676400"/>
            <a:ext cx="4495800" cy="4525963"/>
          </a:xfrm>
        </p:spPr>
        <p:txBody>
          <a:bodyPr>
            <a:normAutofit fontScale="77500" lnSpcReduction="20000"/>
          </a:bodyPr>
          <a:lstStyle/>
          <a:p>
            <a:pPr>
              <a:buFont typeface="Symbol" pitchFamily="18" charset="2"/>
              <a:buChar char="§"/>
            </a:pPr>
            <a:r>
              <a:rPr lang="en-US" dirty="0">
                <a:latin typeface="Arial" panose="020B0604020202020204" pitchFamily="34" charset="0"/>
                <a:cs typeface="Arial" panose="020B0604020202020204" pitchFamily="34" charset="0"/>
              </a:rPr>
              <a:t> ventilators for invasive and/or non-invasive ventilation</a:t>
            </a:r>
          </a:p>
          <a:p>
            <a:pPr>
              <a:buFont typeface="Symbol" pitchFamily="18" charset="2"/>
              <a:buChar char="§"/>
            </a:pPr>
            <a:r>
              <a:rPr lang="en-US" dirty="0">
                <a:latin typeface="Arial" panose="020B0604020202020204" pitchFamily="34" charset="0"/>
                <a:cs typeface="Arial" panose="020B0604020202020204" pitchFamily="34" charset="0"/>
              </a:rPr>
              <a:t>hand ventilating assemblies</a:t>
            </a:r>
          </a:p>
          <a:p>
            <a:pPr>
              <a:buFont typeface="Symbol" pitchFamily="18" charset="2"/>
              <a:buChar char="§"/>
            </a:pPr>
            <a:r>
              <a:rPr lang="en-US" dirty="0">
                <a:latin typeface="Arial" panose="020B0604020202020204" pitchFamily="34" charset="0"/>
                <a:cs typeface="Arial" panose="020B0604020202020204" pitchFamily="34" charset="0"/>
              </a:rPr>
              <a:t> suction apparatus</a:t>
            </a:r>
          </a:p>
          <a:p>
            <a:pPr>
              <a:buFont typeface="Symbol" pitchFamily="18" charset="2"/>
              <a:buChar char="§"/>
            </a:pPr>
            <a:r>
              <a:rPr lang="en-US" dirty="0">
                <a:latin typeface="Arial" panose="020B0604020202020204" pitchFamily="34" charset="0"/>
                <a:cs typeface="Arial" panose="020B0604020202020204" pitchFamily="34" charset="0"/>
              </a:rPr>
              <a:t> airway access equipment, including a bronchoscope and equipment to assist with the management of the difficult airway</a:t>
            </a:r>
          </a:p>
          <a:p>
            <a:pPr>
              <a:buFont typeface="Symbol" pitchFamily="18" charset="2"/>
              <a:buChar char="§"/>
            </a:pPr>
            <a:r>
              <a:rPr lang="en-US" dirty="0">
                <a:latin typeface="Arial" panose="020B0604020202020204" pitchFamily="34" charset="0"/>
                <a:cs typeface="Arial" panose="020B0604020202020204" pitchFamily="34" charset="0"/>
              </a:rPr>
              <a:t>vascular access equipment</a:t>
            </a:r>
          </a:p>
          <a:p>
            <a:pPr>
              <a:buFont typeface="Symbol" pitchFamily="18" charset="2"/>
              <a:buChar char="§"/>
            </a:pPr>
            <a:r>
              <a:rPr lang="en-US" dirty="0">
                <a:latin typeface="Arial" panose="020B0604020202020204" pitchFamily="34" charset="0"/>
                <a:cs typeface="Arial" panose="020B0604020202020204" pitchFamily="34" charset="0"/>
              </a:rPr>
              <a:t>monitoring equipment, both non-invasive and invasive</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6" name="Content Placeholder 5"/>
          <p:cNvSpPr>
            <a:spLocks noGrp="1"/>
          </p:cNvSpPr>
          <p:nvPr>
            <p:ph sz="half" idx="2"/>
          </p:nvPr>
        </p:nvSpPr>
        <p:spPr>
          <a:xfrm>
            <a:off x="4648200" y="1600200"/>
            <a:ext cx="4267200" cy="4525963"/>
          </a:xfrm>
        </p:spPr>
        <p:txBody>
          <a:bodyPr>
            <a:normAutofit fontScale="77500" lnSpcReduction="20000"/>
          </a:bodyPr>
          <a:lstStyle/>
          <a:p>
            <a:pPr>
              <a:buFont typeface="Symbol" pitchFamily="18" charset="2"/>
              <a:buChar char="§"/>
            </a:pPr>
            <a:r>
              <a:rPr lang="en-US" dirty="0">
                <a:latin typeface="Arial" panose="020B0604020202020204" pitchFamily="34" charset="0"/>
                <a:cs typeface="Arial" panose="020B0604020202020204" pitchFamily="34" charset="0"/>
              </a:rPr>
              <a:t>defibrillation and pacing facilities</a:t>
            </a:r>
          </a:p>
          <a:p>
            <a:pPr>
              <a:buFont typeface="Symbol" pitchFamily="18" charset="2"/>
              <a:buChar char="§"/>
            </a:pPr>
            <a:r>
              <a:rPr lang="en-US" dirty="0">
                <a:latin typeface="Arial" panose="020B0604020202020204" pitchFamily="34" charset="0"/>
                <a:cs typeface="Arial" panose="020B0604020202020204" pitchFamily="34" charset="0"/>
              </a:rPr>
              <a:t> equipment to control patient temperature</a:t>
            </a:r>
          </a:p>
          <a:p>
            <a:pPr>
              <a:buFont typeface="Symbol" pitchFamily="18" charset="2"/>
              <a:buChar char="§"/>
            </a:pPr>
            <a:r>
              <a:rPr lang="en-US" dirty="0">
                <a:latin typeface="Arial" panose="020B0604020202020204" pitchFamily="34" charset="0"/>
                <a:cs typeface="Arial" panose="020B0604020202020204" pitchFamily="34" charset="0"/>
              </a:rPr>
              <a:t>chest drainage equipment</a:t>
            </a:r>
          </a:p>
          <a:p>
            <a:pPr>
              <a:buFont typeface="Symbol" pitchFamily="18" charset="2"/>
              <a:buChar char="§"/>
            </a:pPr>
            <a:r>
              <a:rPr lang="en-US" dirty="0">
                <a:latin typeface="Arial" panose="020B0604020202020204" pitchFamily="34" charset="0"/>
                <a:cs typeface="Arial" panose="020B0604020202020204" pitchFamily="34" charset="0"/>
              </a:rPr>
              <a:t> infusion and specialized pumps</a:t>
            </a:r>
          </a:p>
          <a:p>
            <a:pPr>
              <a:buFont typeface="Symbol" pitchFamily="18" charset="2"/>
              <a:buChar char="§"/>
            </a:pPr>
            <a:r>
              <a:rPr lang="en-US" dirty="0">
                <a:latin typeface="Arial" panose="020B0604020202020204" pitchFamily="34" charset="0"/>
                <a:cs typeface="Arial" panose="020B0604020202020204" pitchFamily="34" charset="0"/>
              </a:rPr>
              <a:t> portable transport equipment</a:t>
            </a:r>
          </a:p>
          <a:p>
            <a:pPr>
              <a:buFont typeface="Symbol" pitchFamily="18" charset="2"/>
              <a:buChar char="§"/>
            </a:pPr>
            <a:r>
              <a:rPr lang="en-US" dirty="0">
                <a:latin typeface="Arial" panose="020B0604020202020204" pitchFamily="34" charset="0"/>
                <a:cs typeface="Arial" panose="020B0604020202020204" pitchFamily="34" charset="0"/>
              </a:rPr>
              <a:t> specialized beds</a:t>
            </a:r>
          </a:p>
          <a:p>
            <a:pPr>
              <a:buFont typeface="Symbol" pitchFamily="18" charset="2"/>
              <a:buChar char="§"/>
            </a:pPr>
            <a:r>
              <a:rPr lang="en-US" dirty="0">
                <a:latin typeface="Arial" panose="020B0604020202020204" pitchFamily="34" charset="0"/>
                <a:cs typeface="Arial" panose="020B0604020202020204" pitchFamily="34" charset="0"/>
              </a:rPr>
              <a:t> lifting/weighing equipment</a:t>
            </a:r>
          </a:p>
          <a:p>
            <a:pPr>
              <a:buFont typeface="Symbol" pitchFamily="18" charset="2"/>
              <a:buChar char="§"/>
            </a:pPr>
            <a:r>
              <a:rPr lang="en-US" dirty="0">
                <a:latin typeface="Arial" panose="020B0604020202020204" pitchFamily="34" charset="0"/>
                <a:cs typeface="Arial" panose="020B0604020202020204" pitchFamily="34" charset="0"/>
              </a:rPr>
              <a:t> access to ultrasound for placement of intravascular catheter </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pPr>
              <a:buFont typeface="Symbol" pitchFamily="18" charset="2"/>
              <a:buChar char="§"/>
            </a:pPr>
            <a:endParaRPr lang="en-US"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5A5950AB-468C-98D5-A7A3-BD1CE2D202A1}"/>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21</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985512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solidFill>
                  <a:prstClr val="black"/>
                </a:solidFill>
                <a:latin typeface="Arial" panose="020B0604020202020204" pitchFamily="34" charset="0"/>
                <a:cs typeface="Arial" panose="020B0604020202020204" pitchFamily="34" charset="0"/>
              </a:rPr>
              <a:t>Cont…</a:t>
            </a:r>
            <a:endParaRPr lang="en-US" dirty="0">
              <a:latin typeface="Arial" panose="020B0604020202020204" pitchFamily="34" charset="0"/>
              <a:cs typeface="Arial" panose="020B0604020202020204" pitchFamily="34" charset="0"/>
            </a:endParaRPr>
          </a:p>
        </p:txBody>
      </p:sp>
      <p:sp>
        <p:nvSpPr>
          <p:cNvPr id="6" name="Content Placeholder 5"/>
          <p:cNvSpPr>
            <a:spLocks noGrp="1"/>
          </p:cNvSpPr>
          <p:nvPr>
            <p:ph idx="1"/>
          </p:nvPr>
        </p:nvSpPr>
        <p:spPr>
          <a:xfrm>
            <a:off x="457200" y="1295400"/>
            <a:ext cx="8534400" cy="4830763"/>
          </a:xfrm>
        </p:spPr>
        <p:txBody>
          <a:bodyPr>
            <a:normAutofit/>
          </a:bodyPr>
          <a:lstStyle/>
          <a:p>
            <a:pPr marL="0" indent="0">
              <a:buNone/>
            </a:pPr>
            <a:r>
              <a:rPr lang="en-US" sz="2800" b="1" dirty="0">
                <a:latin typeface="Arial" panose="020B0604020202020204" pitchFamily="34" charset="0"/>
                <a:cs typeface="Arial" panose="020B0604020202020204" pitchFamily="34" charset="0"/>
              </a:rPr>
              <a:t>5. Monitoring</a:t>
            </a:r>
            <a:r>
              <a:rPr lang="en-US" sz="2800" dirty="0">
                <a:latin typeface="Arial" panose="020B0604020202020204" pitchFamily="34" charset="0"/>
                <a:cs typeface="Arial" panose="020B0604020202020204" pitchFamily="34" charset="0"/>
              </a:rPr>
              <a:t> </a:t>
            </a:r>
          </a:p>
          <a:p>
            <a:pPr>
              <a:buClr>
                <a:srgbClr val="FF0000"/>
              </a:buClr>
            </a:pPr>
            <a:r>
              <a:rPr lang="en-US" sz="2300" dirty="0">
                <a:latin typeface="Arial" panose="020B0604020202020204" pitchFamily="34" charset="0"/>
                <a:cs typeface="Arial" panose="020B0604020202020204" pitchFamily="34" charset="0"/>
              </a:rPr>
              <a:t>Adequate monitoring is a core capability of all ICUs </a:t>
            </a:r>
          </a:p>
          <a:p>
            <a:pPr>
              <a:buClr>
                <a:srgbClr val="FF0000"/>
              </a:buClr>
              <a:buFont typeface="Symbol" pitchFamily="18" charset="2"/>
              <a:buChar char="ª"/>
            </a:pPr>
            <a:r>
              <a:rPr lang="en-US" sz="2400" b="1" dirty="0">
                <a:latin typeface="Arial" panose="020B0604020202020204" pitchFamily="34" charset="0"/>
                <a:cs typeface="Arial" panose="020B0604020202020204" pitchFamily="34" charset="0"/>
              </a:rPr>
              <a:t>Personnel</a:t>
            </a:r>
          </a:p>
          <a:p>
            <a:pPr>
              <a:buFont typeface="Wingdings" pitchFamily="2" charset="2"/>
              <a:buChar char="ü"/>
            </a:pPr>
            <a:r>
              <a:rPr lang="en-US" sz="2000" dirty="0">
                <a:latin typeface="Arial" panose="020B0604020202020204" pitchFamily="34" charset="0"/>
                <a:cs typeface="Arial" panose="020B0604020202020204" pitchFamily="34" charset="0"/>
              </a:rPr>
              <a:t>Clinical monitoring by a vigilant nurse is the basis of intensive patient care.</a:t>
            </a:r>
          </a:p>
          <a:p>
            <a:pPr>
              <a:buFont typeface="Wingdings" pitchFamily="2" charset="2"/>
              <a:buChar char="ü"/>
            </a:pPr>
            <a:r>
              <a:rPr lang="en-US" sz="2000" dirty="0">
                <a:latin typeface="Arial" panose="020B0604020202020204" pitchFamily="34" charset="0"/>
                <a:cs typeface="Arial" panose="020B0604020202020204" pitchFamily="34" charset="0"/>
              </a:rPr>
              <a:t>This should  be supplemented by appropriate devices to assist the nurse.</a:t>
            </a:r>
          </a:p>
        </p:txBody>
      </p:sp>
      <p:sp>
        <p:nvSpPr>
          <p:cNvPr id="3" name="Slide Number Placeholder 2">
            <a:extLst>
              <a:ext uri="{FF2B5EF4-FFF2-40B4-BE49-F238E27FC236}">
                <a16:creationId xmlns:a16="http://schemas.microsoft.com/office/drawing/2014/main" id="{373B30BD-B244-4029-A619-B2E191D9F1F3}"/>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22</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296518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latin typeface="Arial" panose="020B0604020202020204" pitchFamily="34" charset="0"/>
                <a:cs typeface="Arial" panose="020B0604020202020204" pitchFamily="34" charset="0"/>
              </a:rPr>
              <a:t>Cont…</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algn="just">
              <a:buClr>
                <a:srgbClr val="FF0000"/>
              </a:buClr>
              <a:buFont typeface="Symbol" pitchFamily="18" charset="2"/>
              <a:buChar char="ª"/>
            </a:pPr>
            <a:r>
              <a:rPr lang="en-US" sz="2400" b="1" dirty="0">
                <a:latin typeface="Arial" panose="020B0604020202020204" pitchFamily="34" charset="0"/>
                <a:cs typeface="Arial" panose="020B0604020202020204" pitchFamily="34" charset="0"/>
              </a:rPr>
              <a:t> Patient Monitoring</a:t>
            </a:r>
          </a:p>
          <a:p>
            <a:pPr algn="just"/>
            <a:r>
              <a:rPr lang="en-US" sz="2400"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Circulation </a:t>
            </a:r>
          </a:p>
          <a:p>
            <a:pPr lvl="1" algn="just"/>
            <a:r>
              <a:rPr lang="en-US" sz="2000" dirty="0">
                <a:latin typeface="Arial" panose="020B0604020202020204" pitchFamily="34" charset="0"/>
                <a:cs typeface="Arial" panose="020B0604020202020204" pitchFamily="34" charset="0"/>
              </a:rPr>
              <a:t>the circulation must be monitored at frequent and clinically appropriate intervals by</a:t>
            </a:r>
          </a:p>
          <a:p>
            <a:pPr lvl="2" algn="just"/>
            <a:r>
              <a:rPr lang="en-US" sz="1800" dirty="0">
                <a:latin typeface="Arial" panose="020B0604020202020204" pitchFamily="34" charset="0"/>
                <a:cs typeface="Arial" panose="020B0604020202020204" pitchFamily="34" charset="0"/>
              </a:rPr>
              <a:t> detection of the arterial pulse, ECG display and measurement of the arterial blood pressure.</a:t>
            </a:r>
          </a:p>
          <a:p>
            <a:pPr algn="just"/>
            <a:r>
              <a:rPr lang="en-US" sz="2200" dirty="0">
                <a:latin typeface="Arial" panose="020B0604020202020204" pitchFamily="34" charset="0"/>
                <a:cs typeface="Arial" panose="020B0604020202020204" pitchFamily="34" charset="0"/>
              </a:rPr>
              <a:t> Respiration </a:t>
            </a:r>
          </a:p>
          <a:p>
            <a:pPr lvl="1" algn="just"/>
            <a:r>
              <a:rPr lang="en-US" sz="2000" dirty="0">
                <a:latin typeface="Arial" panose="020B0604020202020204" pitchFamily="34" charset="0"/>
                <a:cs typeface="Arial" panose="020B0604020202020204" pitchFamily="34" charset="0"/>
              </a:rPr>
              <a:t>respiratory function should be assessed at frequent and clinically appropriate intervals by</a:t>
            </a:r>
          </a:p>
          <a:p>
            <a:pPr lvl="2" algn="just"/>
            <a:r>
              <a:rPr lang="en-US" sz="1800" dirty="0">
                <a:latin typeface="Arial" panose="020B0604020202020204" pitchFamily="34" charset="0"/>
                <a:cs typeface="Arial" panose="020B0604020202020204" pitchFamily="34" charset="0"/>
              </a:rPr>
              <a:t> observation, supported by capnography and blood gas analysis.</a:t>
            </a:r>
          </a:p>
        </p:txBody>
      </p:sp>
      <p:sp>
        <p:nvSpPr>
          <p:cNvPr id="5" name="Slide Number Placeholder 4">
            <a:extLst>
              <a:ext uri="{FF2B5EF4-FFF2-40B4-BE49-F238E27FC236}">
                <a16:creationId xmlns:a16="http://schemas.microsoft.com/office/drawing/2014/main" id="{AF751FD6-E91D-28D3-0D3A-3F7EB875EBB1}"/>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23</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877114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latin typeface="Arial" panose="020B0604020202020204" pitchFamily="34" charset="0"/>
                <a:cs typeface="Arial" panose="020B0604020202020204" pitchFamily="34" charset="0"/>
              </a:rPr>
              <a:t>Cont…</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r>
              <a:rPr lang="en-US" sz="2400" dirty="0">
                <a:latin typeface="Arial" panose="020B0604020202020204" pitchFamily="34" charset="0"/>
                <a:cs typeface="Arial" panose="020B0604020202020204" pitchFamily="34" charset="0"/>
              </a:rPr>
              <a:t>Oxygenation </a:t>
            </a:r>
          </a:p>
          <a:p>
            <a:pPr lvl="1"/>
            <a:r>
              <a:rPr lang="en-US" sz="2000" dirty="0">
                <a:latin typeface="Arial" panose="020B0604020202020204" pitchFamily="34" charset="0"/>
                <a:cs typeface="Arial" panose="020B0604020202020204" pitchFamily="34" charset="0"/>
              </a:rPr>
              <a:t> the patient’s oxygenation should be assessed at frequent and clinically appropriate intervals by</a:t>
            </a:r>
          </a:p>
          <a:p>
            <a:pPr lvl="2"/>
            <a:r>
              <a:rPr lang="en-US" sz="2000" dirty="0">
                <a:latin typeface="Arial" panose="020B0604020202020204" pitchFamily="34" charset="0"/>
                <a:cs typeface="Arial" panose="020B0604020202020204" pitchFamily="34" charset="0"/>
              </a:rPr>
              <a:t> observation, pulse oximetry and blood gas analysis</a:t>
            </a:r>
          </a:p>
          <a:p>
            <a:r>
              <a:rPr lang="en-US" sz="2400" dirty="0">
                <a:latin typeface="Arial" panose="020B0604020202020204" pitchFamily="34" charset="0"/>
                <a:cs typeface="Arial" panose="020B0604020202020204" pitchFamily="34" charset="0"/>
              </a:rPr>
              <a:t>Temperature </a:t>
            </a:r>
          </a:p>
          <a:p>
            <a:pPr lvl="1"/>
            <a:r>
              <a:rPr lang="en-US" sz="2000" dirty="0">
                <a:latin typeface="Arial" panose="020B0604020202020204" pitchFamily="34" charset="0"/>
                <a:cs typeface="Arial" panose="020B0604020202020204" pitchFamily="34" charset="0"/>
              </a:rPr>
              <a:t>capacity to monitor central and cutaneous temperature </a:t>
            </a:r>
          </a:p>
          <a:p>
            <a:r>
              <a:rPr lang="en-US" sz="2400" dirty="0">
                <a:latin typeface="Arial" panose="020B0604020202020204" pitchFamily="34" charset="0"/>
                <a:cs typeface="Arial" panose="020B0604020202020204" pitchFamily="34" charset="0"/>
              </a:rPr>
              <a:t>End tidal CO2 monitor</a:t>
            </a:r>
          </a:p>
          <a:p>
            <a:pPr lvl="1"/>
            <a:r>
              <a:rPr lang="en-US" sz="2000" dirty="0">
                <a:latin typeface="Arial" panose="020B0604020202020204" pitchFamily="34" charset="0"/>
                <a:cs typeface="Arial" panose="020B0604020202020204" pitchFamily="34" charset="0"/>
              </a:rPr>
              <a:t> capnography must be available at each bed in the ICU and must be used to confirm:</a:t>
            </a:r>
          </a:p>
          <a:p>
            <a:pPr lvl="2"/>
            <a:r>
              <a:rPr lang="en-US" sz="2000" dirty="0">
                <a:latin typeface="Arial" panose="020B0604020202020204" pitchFamily="34" charset="0"/>
                <a:cs typeface="Arial" panose="020B0604020202020204" pitchFamily="34" charset="0"/>
              </a:rPr>
              <a:t> tracheal placement of the ETT or tracheostomy tube</a:t>
            </a:r>
          </a:p>
          <a:p>
            <a:pPr lvl="2"/>
            <a:r>
              <a:rPr lang="en-US" sz="2000" dirty="0">
                <a:latin typeface="Arial" panose="020B0604020202020204" pitchFamily="34" charset="0"/>
                <a:cs typeface="Arial" panose="020B0604020202020204" pitchFamily="34" charset="0"/>
              </a:rPr>
              <a:t>immediately after insertion, and continuously in patients who are ventilator dependent</a:t>
            </a:r>
          </a:p>
          <a:p>
            <a:endParaRPr lang="en-US" sz="24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CF3BD14E-CC69-FDF2-AFEA-C894284A0DBF}"/>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24</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301606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latin typeface="Arial" panose="020B0604020202020204" pitchFamily="34" charset="0"/>
                <a:cs typeface="Arial" panose="020B0604020202020204" pitchFamily="34" charset="0"/>
              </a:rPr>
              <a:t>References</a:t>
            </a:r>
            <a:endParaRPr lang="en-US"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sz="2400" dirty="0">
                <a:latin typeface="Arial" panose="020B0604020202020204" pitchFamily="34" charset="0"/>
                <a:cs typeface="Arial" panose="020B0604020202020204" pitchFamily="34" charset="0"/>
              </a:rPr>
              <a:t>ABC  of intensive care. British Medical journal. 29 MAY 1999, VOLUME 318. Available at </a:t>
            </a:r>
            <a:r>
              <a:rPr lang="en-US" sz="2400" dirty="0">
                <a:latin typeface="Arial" panose="020B0604020202020204" pitchFamily="34" charset="0"/>
                <a:cs typeface="Arial" panose="020B0604020202020204" pitchFamily="34" charset="0"/>
                <a:hlinkClick r:id="rId2"/>
              </a:rPr>
              <a:t>www.bmj.com</a:t>
            </a:r>
            <a:r>
              <a:rPr lang="en-US" sz="2400" dirty="0">
                <a:latin typeface="Arial" panose="020B0604020202020204" pitchFamily="34" charset="0"/>
                <a:cs typeface="Arial" panose="020B0604020202020204" pitchFamily="34" charset="0"/>
              </a:rPr>
              <a:t>. </a:t>
            </a:r>
          </a:p>
          <a:p>
            <a:pPr marL="514350" indent="-514350">
              <a:buFont typeface="+mj-lt"/>
              <a:buAutoNum type="arabicPeriod"/>
            </a:pPr>
            <a:r>
              <a:rPr lang="en-US" sz="2400" dirty="0">
                <a:latin typeface="Arial" panose="020B0604020202020204" pitchFamily="34" charset="0"/>
                <a:cs typeface="Arial" panose="020B0604020202020204" pitchFamily="34" charset="0"/>
                <a:hlinkClick r:id="rId3"/>
              </a:rPr>
              <a:t>https://en.wikipedia.org/wiki/Intensive_care_unit</a:t>
            </a:r>
            <a:endParaRPr lang="en-US" sz="2400" dirty="0">
              <a:latin typeface="Arial" panose="020B0604020202020204" pitchFamily="34" charset="0"/>
              <a:cs typeface="Arial" panose="020B0604020202020204" pitchFamily="34" charset="0"/>
            </a:endParaRPr>
          </a:p>
          <a:p>
            <a:pPr marL="514350" indent="-514350">
              <a:buFont typeface="+mj-lt"/>
              <a:buAutoNum type="arabicPeriod"/>
            </a:pPr>
            <a:r>
              <a:rPr lang="en-US" sz="2400" dirty="0">
                <a:latin typeface="Arial" panose="020B0604020202020204" pitchFamily="34" charset="0"/>
                <a:cs typeface="Arial" panose="020B0604020202020204" pitchFamily="34" charset="0"/>
                <a:hlinkClick r:id="rId4"/>
              </a:rPr>
              <a:t>https://derangedphysiology.com/main/required-reading/administration-and-data management/Chapter%20111/design-and-staffing-intensive-care-units</a:t>
            </a:r>
            <a:r>
              <a:rPr lang="en-US" sz="2400" dirty="0">
                <a:latin typeface="Arial" panose="020B0604020202020204" pitchFamily="34" charset="0"/>
                <a:cs typeface="Arial" panose="020B0604020202020204" pitchFamily="34" charset="0"/>
              </a:rPr>
              <a:t>.</a:t>
            </a:r>
          </a:p>
          <a:p>
            <a:pPr marL="514350" indent="-514350">
              <a:buFont typeface="+mj-lt"/>
              <a:buAutoNum type="arabicPeriod"/>
            </a:pPr>
            <a:endParaRPr lang="en-US" sz="28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71FDC416-35A5-70DD-D0C5-62DB993B646C}"/>
              </a:ext>
            </a:extLst>
          </p:cNvPr>
          <p:cNvSpPr>
            <a:spLocks noGrp="1"/>
          </p:cNvSpPr>
          <p:nvPr>
            <p:ph type="sldNum" sz="quarter" idx="12"/>
          </p:nvPr>
        </p:nvSpPr>
        <p:spPr/>
        <p:txBody>
          <a:bodyPr/>
          <a:lstStyle/>
          <a:p>
            <a:fld id="{B6F15528-21DE-4FAA-801E-634DDDAF4B2B}" type="slidenum">
              <a:rPr lang="en-US" smtClean="0">
                <a:latin typeface="Arial" panose="020B0604020202020204" pitchFamily="34" charset="0"/>
                <a:cs typeface="Arial" panose="020B0604020202020204" pitchFamily="34" charset="0"/>
              </a:rPr>
              <a:pPr/>
              <a:t>25</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088042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727778" y="2967335"/>
            <a:ext cx="3688446" cy="923330"/>
          </a:xfrm>
          <a:prstGeom prst="rect">
            <a:avLst/>
          </a:prstGeom>
          <a:solidFill>
            <a:schemeClr val="tx2"/>
          </a:solidFill>
          <a:scene3d>
            <a:camera prst="isometricOffAxis1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54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THANK YOU</a:t>
            </a:r>
          </a:p>
        </p:txBody>
      </p:sp>
      <p:sp>
        <p:nvSpPr>
          <p:cNvPr id="3" name="Slide Number Placeholder 2">
            <a:extLst>
              <a:ext uri="{FF2B5EF4-FFF2-40B4-BE49-F238E27FC236}">
                <a16:creationId xmlns:a16="http://schemas.microsoft.com/office/drawing/2014/main" id="{729B4406-5E56-05F3-B71F-CC7E0C9F2839}"/>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368168689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3909</TotalTime>
  <Words>2119</Words>
  <Application>Microsoft Office PowerPoint</Application>
  <PresentationFormat>On-screen Show (4:3)</PresentationFormat>
  <Paragraphs>226</Paragraphs>
  <Slides>26</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LinuxLibertine</vt:lpstr>
      <vt:lpstr>LinuxLibertineItalics</vt:lpstr>
      <vt:lpstr>Symbol</vt:lpstr>
      <vt:lpstr>Times New Roman</vt:lpstr>
      <vt:lpstr>Wingdings</vt:lpstr>
      <vt:lpstr>Office Theme</vt:lpstr>
      <vt:lpstr>Introduction to Emergency and Critical care</vt:lpstr>
      <vt:lpstr>PowerPoint Presentation</vt:lpstr>
      <vt:lpstr>Outline</vt:lpstr>
      <vt:lpstr>Objective</vt:lpstr>
      <vt:lpstr>Interactive question</vt:lpstr>
      <vt:lpstr>Introduction</vt:lpstr>
      <vt:lpstr>Definition of ICU</vt:lpstr>
      <vt:lpstr>Cont…</vt:lpstr>
      <vt:lpstr>Cont…</vt:lpstr>
      <vt:lpstr> Types of Intensive Care Units </vt:lpstr>
      <vt:lpstr>Types of ICUs…</vt:lpstr>
      <vt:lpstr> Levels of ICUs </vt:lpstr>
      <vt:lpstr> Levels of ICUs…. </vt:lpstr>
      <vt:lpstr>  Requirements For Intensive Care Units </vt:lpstr>
      <vt:lpstr>Cont.….</vt:lpstr>
      <vt:lpstr>Cont…</vt:lpstr>
      <vt:lpstr>Cont…</vt:lpstr>
      <vt:lpstr>Cont…</vt:lpstr>
      <vt:lpstr>Cont…</vt:lpstr>
      <vt:lpstr>Cont…</vt:lpstr>
      <vt:lpstr>Basic equipment should include: </vt:lpstr>
      <vt:lpstr>Cont…</vt:lpstr>
      <vt:lpstr>Cont…</vt:lpstr>
      <vt:lpstr>Cont…</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ICU and pain management</dc:title>
  <dc:creator>DELL</dc:creator>
  <cp:lastModifiedBy>Mulualem Sitot</cp:lastModifiedBy>
  <cp:revision>265</cp:revision>
  <dcterms:created xsi:type="dcterms:W3CDTF">2006-08-16T00:00:00Z</dcterms:created>
  <dcterms:modified xsi:type="dcterms:W3CDTF">2026-04-17T10:40:35Z</dcterms:modified>
</cp:coreProperties>
</file>