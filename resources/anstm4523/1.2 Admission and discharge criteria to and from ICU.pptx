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6"/>
  </p:notesMasterIdLst>
  <p:handoutMasterIdLst>
    <p:handoutMasterId r:id="rId47"/>
  </p:handoutMasterIdLst>
  <p:sldIdLst>
    <p:sldId id="256" r:id="rId2"/>
    <p:sldId id="257" r:id="rId3"/>
    <p:sldId id="258" r:id="rId4"/>
    <p:sldId id="294" r:id="rId5"/>
    <p:sldId id="295" r:id="rId6"/>
    <p:sldId id="308" r:id="rId7"/>
    <p:sldId id="299" r:id="rId8"/>
    <p:sldId id="282" r:id="rId9"/>
    <p:sldId id="268" r:id="rId10"/>
    <p:sldId id="264" r:id="rId11"/>
    <p:sldId id="262" r:id="rId12"/>
    <p:sldId id="265" r:id="rId13"/>
    <p:sldId id="266" r:id="rId14"/>
    <p:sldId id="267" r:id="rId15"/>
    <p:sldId id="283" r:id="rId16"/>
    <p:sldId id="297" r:id="rId17"/>
    <p:sldId id="296" r:id="rId18"/>
    <p:sldId id="298" r:id="rId19"/>
    <p:sldId id="301" r:id="rId20"/>
    <p:sldId id="300" r:id="rId21"/>
    <p:sldId id="269" r:id="rId22"/>
    <p:sldId id="270" r:id="rId23"/>
    <p:sldId id="271" r:id="rId24"/>
    <p:sldId id="272" r:id="rId25"/>
    <p:sldId id="273" r:id="rId26"/>
    <p:sldId id="302" r:id="rId27"/>
    <p:sldId id="303" r:id="rId28"/>
    <p:sldId id="304" r:id="rId29"/>
    <p:sldId id="305" r:id="rId30"/>
    <p:sldId id="306" r:id="rId31"/>
    <p:sldId id="274" r:id="rId32"/>
    <p:sldId id="275" r:id="rId33"/>
    <p:sldId id="276" r:id="rId34"/>
    <p:sldId id="277" r:id="rId35"/>
    <p:sldId id="278" r:id="rId36"/>
    <p:sldId id="279" r:id="rId37"/>
    <p:sldId id="309" r:id="rId38"/>
    <p:sldId id="312" r:id="rId39"/>
    <p:sldId id="313" r:id="rId40"/>
    <p:sldId id="314" r:id="rId41"/>
    <p:sldId id="315" r:id="rId42"/>
    <p:sldId id="307" r:id="rId43"/>
    <p:sldId id="280" r:id="rId44"/>
    <p:sldId id="281"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75" autoAdjust="0"/>
  </p:normalViewPr>
  <p:slideViewPr>
    <p:cSldViewPr>
      <p:cViewPr varScale="1">
        <p:scale>
          <a:sx n="62" d="100"/>
          <a:sy n="62" d="100"/>
        </p:scale>
        <p:origin x="1626"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10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772F73-3074-40AA-9B85-7264ABE200DA}" type="datetime4">
              <a:rPr lang="en-US" smtClean="0"/>
              <a:pPr/>
              <a:t>April 7, 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77D19D-9F19-4E87-B8B4-71EBAD4BD11B}" type="slidenum">
              <a:rPr lang="en-US" smtClean="0"/>
              <a:pPr/>
              <a:t>‹#›</a:t>
            </a:fld>
            <a:endParaRPr lang="en-US"/>
          </a:p>
        </p:txBody>
      </p:sp>
    </p:spTree>
    <p:extLst>
      <p:ext uri="{BB962C8B-B14F-4D97-AF65-F5344CB8AC3E}">
        <p14:creationId xmlns:p14="http://schemas.microsoft.com/office/powerpoint/2010/main" val="3274617538"/>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BC7F05-F18C-4FB7-8603-2898464BBA65}" type="datetime4">
              <a:rPr lang="en-US" smtClean="0"/>
              <a:pPr/>
              <a:t>April 7, 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45BF65-4F36-46FF-95AC-AF968C37E230}" type="slidenum">
              <a:rPr lang="en-US" smtClean="0"/>
              <a:pPr/>
              <a:t>‹#›</a:t>
            </a:fld>
            <a:endParaRPr lang="en-US"/>
          </a:p>
        </p:txBody>
      </p:sp>
    </p:spTree>
    <p:extLst>
      <p:ext uri="{BB962C8B-B14F-4D97-AF65-F5344CB8AC3E}">
        <p14:creationId xmlns:p14="http://schemas.microsoft.com/office/powerpoint/2010/main" val="365331545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45BF65-4F36-46FF-95AC-AF968C37E230}" type="slidenum">
              <a:rPr lang="en-US" smtClean="0"/>
              <a:pPr/>
              <a:t>1</a:t>
            </a:fld>
            <a:endParaRPr lang="en-US" dirty="0"/>
          </a:p>
        </p:txBody>
      </p:sp>
      <p:sp>
        <p:nvSpPr>
          <p:cNvPr id="5" name="Date Placeholder 4"/>
          <p:cNvSpPr>
            <a:spLocks noGrp="1"/>
          </p:cNvSpPr>
          <p:nvPr>
            <p:ph type="dt" idx="11"/>
          </p:nvPr>
        </p:nvSpPr>
        <p:spPr/>
        <p:txBody>
          <a:bodyPr/>
          <a:lstStyle/>
          <a:p>
            <a:fld id="{4E75716E-9E5C-4F00-944B-9C29791B5B59}" type="datetime4">
              <a:rPr lang="en-US" smtClean="0"/>
              <a:pPr/>
              <a:t>April 7, 2026</a:t>
            </a:fld>
            <a:endParaRPr lang="en-US" dirty="0"/>
          </a:p>
        </p:txBody>
      </p:sp>
      <p:sp>
        <p:nvSpPr>
          <p:cNvPr id="7" name="Footer Placeholder 6"/>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3046855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decision to admit or discharge a patient is the responsibility of the intensive care specialist. </a:t>
            </a:r>
          </a:p>
          <a:p>
            <a:endParaRPr lang="en-US" dirty="0"/>
          </a:p>
        </p:txBody>
      </p:sp>
      <p:sp>
        <p:nvSpPr>
          <p:cNvPr id="4" name="Date Placeholder 3"/>
          <p:cNvSpPr>
            <a:spLocks noGrp="1"/>
          </p:cNvSpPr>
          <p:nvPr>
            <p:ph type="dt" idx="10"/>
          </p:nvPr>
        </p:nvSpPr>
        <p:spPr/>
        <p:txBody>
          <a:bodyPr/>
          <a:lstStyle/>
          <a:p>
            <a:fld id="{52BC7F05-F18C-4FB7-8603-2898464BBA65}" type="datetime4">
              <a:rPr lang="en-US" smtClean="0"/>
              <a:pPr/>
              <a:t>April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5BF65-4F36-46FF-95AC-AF968C37E230}" type="slidenum">
              <a:rPr lang="en-US" smtClean="0"/>
              <a:pPr/>
              <a:t>5</a:t>
            </a:fld>
            <a:endParaRPr lang="en-US"/>
          </a:p>
        </p:txBody>
      </p:sp>
    </p:spTree>
    <p:extLst>
      <p:ext uri="{BB962C8B-B14F-4D97-AF65-F5344CB8AC3E}">
        <p14:creationId xmlns:p14="http://schemas.microsoft.com/office/powerpoint/2010/main" val="3613381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In Ethiopia, Patients are admitted to the ICU in numerous ways, but the primary avenues for admission are via emergency </a:t>
            </a:r>
            <a:r>
              <a:rPr lang="en-US" sz="1200" b="0" i="0" kern="1200" dirty="0" err="1">
                <a:solidFill>
                  <a:schemeClr val="tx1"/>
                </a:solidFill>
                <a:latin typeface="+mn-lt"/>
                <a:ea typeface="+mn-ea"/>
                <a:cs typeface="+mn-cs"/>
              </a:rPr>
              <a:t>centres</a:t>
            </a:r>
            <a:r>
              <a:rPr lang="en-US" sz="1200" b="0" i="0" kern="1200" dirty="0">
                <a:solidFill>
                  <a:schemeClr val="tx1"/>
                </a:solidFill>
                <a:latin typeface="+mn-lt"/>
                <a:ea typeface="+mn-ea"/>
                <a:cs typeface="+mn-cs"/>
              </a:rPr>
              <a:t> (EC) and operation rooms. </a:t>
            </a:r>
            <a:endParaRPr lang="en-US" dirty="0"/>
          </a:p>
        </p:txBody>
      </p:sp>
      <p:sp>
        <p:nvSpPr>
          <p:cNvPr id="4" name="Date Placeholder 3"/>
          <p:cNvSpPr>
            <a:spLocks noGrp="1"/>
          </p:cNvSpPr>
          <p:nvPr>
            <p:ph type="dt" idx="10"/>
          </p:nvPr>
        </p:nvSpPr>
        <p:spPr/>
        <p:txBody>
          <a:bodyPr/>
          <a:lstStyle/>
          <a:p>
            <a:fld id="{52BC7F05-F18C-4FB7-8603-2898464BBA65}" type="datetime4">
              <a:rPr lang="en-US" smtClean="0"/>
              <a:pPr/>
              <a:t>April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5BF65-4F36-46FF-95AC-AF968C37E230}" type="slidenum">
              <a:rPr lang="en-US" smtClean="0"/>
              <a:pPr/>
              <a:t>16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altered mental status (AMS)</a:t>
            </a:r>
          </a:p>
        </p:txBody>
      </p:sp>
      <p:sp>
        <p:nvSpPr>
          <p:cNvPr id="4" name="Date Placeholder 3"/>
          <p:cNvSpPr>
            <a:spLocks noGrp="1"/>
          </p:cNvSpPr>
          <p:nvPr>
            <p:ph type="dt" idx="10"/>
          </p:nvPr>
        </p:nvSpPr>
        <p:spPr/>
        <p:txBody>
          <a:bodyPr/>
          <a:lstStyle/>
          <a:p>
            <a:fld id="{52BC7F05-F18C-4FB7-8603-2898464BBA65}" type="datetime4">
              <a:rPr lang="en-US" smtClean="0"/>
              <a:pPr/>
              <a:t>April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5BF65-4F36-46FF-95AC-AF968C37E230}" type="slidenum">
              <a:rPr lang="en-US" smtClean="0"/>
              <a:pPr/>
              <a:t>33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3600"/>
            <a:ext cx="8077200" cy="1470025"/>
          </a:xfrm>
        </p:spPr>
        <p:txBody>
          <a:bodyPr>
            <a:noAutofit/>
          </a:bodyPr>
          <a:lstStyle/>
          <a:p>
            <a:pPr lvl="0" algn="l"/>
            <a:r>
              <a:rPr lang="en-US" sz="4000" b="1" dirty="0">
                <a:effectLst>
                  <a:outerShdw blurRad="38100" dist="38100" dir="2700000" algn="tl">
                    <a:srgbClr val="000000">
                      <a:alpha val="43137"/>
                    </a:srgbClr>
                  </a:outerShdw>
                </a:effectLst>
                <a:latin typeface="Goudy Old Style" pitchFamily="18" charset="0"/>
                <a:cs typeface="Times New Roman" pitchFamily="18" charset="0"/>
              </a:rPr>
              <a:t> Admission and discharge criteria to  and from ICU</a:t>
            </a:r>
          </a:p>
        </p:txBody>
      </p:sp>
      <p:sp>
        <p:nvSpPr>
          <p:cNvPr id="3" name="Subtitle 2"/>
          <p:cNvSpPr>
            <a:spLocks noGrp="1"/>
          </p:cNvSpPr>
          <p:nvPr>
            <p:ph type="subTitle" idx="1"/>
          </p:nvPr>
        </p:nvSpPr>
        <p:spPr>
          <a:xfrm>
            <a:off x="1371600" y="3886200"/>
            <a:ext cx="7391400" cy="1752600"/>
          </a:xfrm>
        </p:spPr>
        <p:txBody>
          <a:bodyPr>
            <a:normAutofit fontScale="92500" lnSpcReduction="20000"/>
          </a:bodyPr>
          <a:lstStyle/>
          <a:p>
            <a:pPr lvl="0"/>
            <a:r>
              <a:rPr lang="en-US" sz="2800" b="1" dirty="0">
                <a:solidFill>
                  <a:prstClr val="black">
                    <a:tint val="75000"/>
                  </a:prstClr>
                </a:solidFill>
                <a:latin typeface="Lucida Calligraphy" pitchFamily="66" charset="0"/>
                <a:cs typeface="Times New Roman" pitchFamily="18" charset="0"/>
              </a:rPr>
              <a:t>Mulualem Sitot (Bsc, Msc in ACA)</a:t>
            </a:r>
          </a:p>
          <a:p>
            <a:pPr lvl="0"/>
            <a:r>
              <a:rPr lang="en-US" sz="2800" b="1" dirty="0">
                <a:solidFill>
                  <a:prstClr val="black">
                    <a:tint val="75000"/>
                  </a:prstClr>
                </a:solidFill>
                <a:latin typeface="Lucida Calligraphy" pitchFamily="66" charset="0"/>
                <a:cs typeface="Times New Roman" pitchFamily="18" charset="0"/>
              </a:rPr>
              <a:t>Lecturer, Department of Anesthesia</a:t>
            </a:r>
          </a:p>
          <a:p>
            <a:pPr lvl="0"/>
            <a:r>
              <a:rPr lang="en-US" sz="2800" b="1" dirty="0">
                <a:solidFill>
                  <a:prstClr val="black">
                    <a:tint val="75000"/>
                  </a:prstClr>
                </a:solidFill>
                <a:latin typeface="Lucida Calligraphy" pitchFamily="66" charset="0"/>
                <a:cs typeface="Times New Roman" pitchFamily="18" charset="0"/>
              </a:rPr>
              <a:t>                         Addis Ababa University</a:t>
            </a:r>
          </a:p>
          <a:p>
            <a:pPr lvl="0"/>
            <a:r>
              <a:rPr lang="en-US" sz="2800" b="1" dirty="0">
                <a:solidFill>
                  <a:prstClr val="black">
                    <a:tint val="75000"/>
                  </a:prstClr>
                </a:solidFill>
                <a:latin typeface="Lucida Calligraphy" pitchFamily="66" charset="0"/>
                <a:cs typeface="Times New Roman" pitchFamily="18" charset="0"/>
              </a:rPr>
              <a:t>2013 E.C</a:t>
            </a:r>
          </a:p>
          <a:p>
            <a:endParaRPr lang="en-US" b="1" dirty="0">
              <a:latin typeface="Lucida Calligraphy" pitchFamily="66" charset="0"/>
            </a:endParaRPr>
          </a:p>
        </p:txBody>
      </p:sp>
      <p:pic>
        <p:nvPicPr>
          <p:cNvPr id="4" name="Image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381000" y="228600"/>
            <a:ext cx="1915160" cy="1647825"/>
          </a:xfrm>
          <a:prstGeom prst="rect">
            <a:avLst/>
          </a:prstGeom>
        </p:spPr>
      </p:pic>
    </p:spTree>
    <p:extLst>
      <p:ext uri="{BB962C8B-B14F-4D97-AF65-F5344CB8AC3E}">
        <p14:creationId xmlns:p14="http://schemas.microsoft.com/office/powerpoint/2010/main" val="25395289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latin typeface="Agency FB" pitchFamily="34" charset="0"/>
                <a:cs typeface="Times New Roman" pitchFamily="18" charset="0"/>
              </a:rPr>
              <a:t>Outline</a:t>
            </a:r>
            <a:endParaRPr lang="en-US" sz="5400" dirty="0">
              <a:latin typeface="Agency FB" pitchFamily="34" charset="0"/>
            </a:endParaRPr>
          </a:p>
        </p:txBody>
      </p:sp>
      <p:sp>
        <p:nvSpPr>
          <p:cNvPr id="3" name="Content Placeholder 2"/>
          <p:cNvSpPr>
            <a:spLocks noGrp="1"/>
          </p:cNvSpPr>
          <p:nvPr>
            <p:ph idx="1"/>
          </p:nvPr>
        </p:nvSpPr>
        <p:spPr/>
        <p:txBody>
          <a:bodyPr>
            <a:normAutofit/>
          </a:bodyPr>
          <a:lstStyle/>
          <a:p>
            <a:pPr>
              <a:lnSpc>
                <a:spcPct val="150000"/>
              </a:lnSpc>
              <a:buFont typeface="Symbol" pitchFamily="18" charset="2"/>
              <a:buChar char="§"/>
            </a:pPr>
            <a:r>
              <a:rPr lang="en-US" sz="2800" dirty="0">
                <a:latin typeface="Times New Roman" pitchFamily="18" charset="0"/>
                <a:cs typeface="Times New Roman" pitchFamily="18" charset="0"/>
              </a:rPr>
              <a:t> Objective</a:t>
            </a:r>
          </a:p>
          <a:p>
            <a:pPr>
              <a:lnSpc>
                <a:spcPct val="150000"/>
              </a:lnSpc>
              <a:buFont typeface="Symbol" pitchFamily="18" charset="2"/>
              <a:buChar char="§"/>
            </a:pPr>
            <a:r>
              <a:rPr lang="en-US" sz="2800" dirty="0">
                <a:latin typeface="Times New Roman" pitchFamily="18" charset="0"/>
                <a:cs typeface="Times New Roman" pitchFamily="18" charset="0"/>
              </a:rPr>
              <a:t> Introduction</a:t>
            </a:r>
          </a:p>
          <a:p>
            <a:pPr>
              <a:lnSpc>
                <a:spcPct val="150000"/>
              </a:lnSpc>
              <a:buFont typeface="Symbol" pitchFamily="18" charset="2"/>
              <a:buChar char="§"/>
            </a:pPr>
            <a:r>
              <a:rPr lang="en-US" sz="2800" dirty="0">
                <a:latin typeface="Times New Roman" pitchFamily="18" charset="0"/>
                <a:cs typeface="Times New Roman" pitchFamily="18" charset="0"/>
              </a:rPr>
              <a:t> ICU Admission criteria</a:t>
            </a:r>
          </a:p>
          <a:p>
            <a:pPr>
              <a:lnSpc>
                <a:spcPct val="150000"/>
              </a:lnSpc>
              <a:buFont typeface="Symbol" pitchFamily="18" charset="2"/>
              <a:buChar char="§"/>
            </a:pPr>
            <a:r>
              <a:rPr lang="en-US" sz="2800" dirty="0">
                <a:latin typeface="Times New Roman" pitchFamily="18" charset="0"/>
                <a:cs typeface="Times New Roman" pitchFamily="18" charset="0"/>
              </a:rPr>
              <a:t>ICU Discharge Criteria</a:t>
            </a:r>
          </a:p>
          <a:p>
            <a:pPr>
              <a:lnSpc>
                <a:spcPct val="150000"/>
              </a:lnSpc>
              <a:buFont typeface="Symbol" pitchFamily="18" charset="2"/>
              <a:buChar char="§"/>
            </a:pPr>
            <a:r>
              <a:rPr lang="en-US" sz="2800" dirty="0">
                <a:latin typeface="Times New Roman" pitchFamily="18" charset="0"/>
                <a:cs typeface="Times New Roman" pitchFamily="18" charset="0"/>
              </a:rPr>
              <a:t>References</a:t>
            </a:r>
          </a:p>
        </p:txBody>
      </p:sp>
      <p:pic>
        <p:nvPicPr>
          <p:cNvPr id="4" name="Image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381000" y="228601"/>
            <a:ext cx="1915160" cy="1447800"/>
          </a:xfrm>
          <a:prstGeom prst="rect">
            <a:avLst/>
          </a:prstGeom>
        </p:spPr>
      </p:pic>
    </p:spTree>
    <p:extLst>
      <p:ext uri="{BB962C8B-B14F-4D97-AF65-F5344CB8AC3E}">
        <p14:creationId xmlns:p14="http://schemas.microsoft.com/office/powerpoint/2010/main" val="388552790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latin typeface="Agency FB" pitchFamily="34" charset="0"/>
                <a:cs typeface="Times New Roman" pitchFamily="18" charset="0"/>
              </a:rPr>
              <a:t>Objectives</a:t>
            </a:r>
            <a:endParaRPr lang="en-US" sz="5400" dirty="0">
              <a:latin typeface="Agency FB" pitchFamily="34" charset="0"/>
            </a:endParaRPr>
          </a:p>
        </p:txBody>
      </p:sp>
      <p:sp>
        <p:nvSpPr>
          <p:cNvPr id="3" name="Content Placeholder 2"/>
          <p:cNvSpPr>
            <a:spLocks noGrp="1"/>
          </p:cNvSpPr>
          <p:nvPr>
            <p:ph idx="1"/>
          </p:nvPr>
        </p:nvSpPr>
        <p:spPr/>
        <p:txBody>
          <a:bodyPr>
            <a:normAutofit/>
          </a:bodyPr>
          <a:lstStyle/>
          <a:p>
            <a:pPr>
              <a:lnSpc>
                <a:spcPct val="150000"/>
              </a:lnSpc>
              <a:buNone/>
            </a:pPr>
            <a:r>
              <a:rPr lang="en-US" sz="2400" dirty="0">
                <a:latin typeface="Times New Roman" pitchFamily="18" charset="0"/>
                <a:cs typeface="Times New Roman" pitchFamily="18" charset="0"/>
              </a:rPr>
              <a:t>Upon completion of this session, you will be able to:</a:t>
            </a:r>
          </a:p>
          <a:p>
            <a:pPr lvl="0">
              <a:buFont typeface="Symbol" pitchFamily="18" charset="2"/>
              <a:buChar char="§"/>
            </a:pPr>
            <a:r>
              <a:rPr lang="en-US" sz="2400" dirty="0">
                <a:latin typeface="Times New Roman" pitchFamily="18" charset="0"/>
                <a:cs typeface="Times New Roman" pitchFamily="18" charset="0"/>
              </a:rPr>
              <a:t>Discuss criteria for patient admission to ICU </a:t>
            </a:r>
          </a:p>
          <a:p>
            <a:pPr lvl="0">
              <a:buFont typeface="Symbol" pitchFamily="18" charset="2"/>
              <a:buChar char="§"/>
            </a:pPr>
            <a:r>
              <a:rPr lang="en-US" sz="2400" dirty="0">
                <a:latin typeface="Times New Roman" pitchFamily="18" charset="0"/>
                <a:cs typeface="Times New Roman" pitchFamily="18" charset="0"/>
              </a:rPr>
              <a:t>Discuss criteria for patient discharge from ICU</a:t>
            </a:r>
          </a:p>
          <a:p>
            <a:pPr>
              <a:buFont typeface="Symbol" pitchFamily="18" charset="2"/>
              <a:buChar char="§"/>
            </a:pPr>
            <a:endParaRPr lang="en-US" sz="2400" dirty="0"/>
          </a:p>
        </p:txBody>
      </p:sp>
      <p:pic>
        <p:nvPicPr>
          <p:cNvPr id="4" name="Image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390832" y="0"/>
            <a:ext cx="1915160" cy="1647825"/>
          </a:xfrm>
          <a:prstGeom prst="rect">
            <a:avLst/>
          </a:prstGeom>
        </p:spPr>
      </p:pic>
    </p:spTree>
    <p:extLst>
      <p:ext uri="{BB962C8B-B14F-4D97-AF65-F5344CB8AC3E}">
        <p14:creationId xmlns:p14="http://schemas.microsoft.com/office/powerpoint/2010/main" val="208391433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gency FB" pitchFamily="34" charset="0"/>
              </a:rPr>
              <a:t>Introduction</a:t>
            </a:r>
            <a:endParaRPr lang="en-US" sz="3600" dirty="0"/>
          </a:p>
        </p:txBody>
      </p:sp>
      <p:sp>
        <p:nvSpPr>
          <p:cNvPr id="3" name="Content Placeholder 2"/>
          <p:cNvSpPr>
            <a:spLocks noGrp="1"/>
          </p:cNvSpPr>
          <p:nvPr>
            <p:ph idx="1"/>
          </p:nvPr>
        </p:nvSpPr>
        <p:spPr>
          <a:xfrm>
            <a:off x="457200" y="1600200"/>
            <a:ext cx="8458200" cy="4525963"/>
          </a:xfrm>
        </p:spPr>
        <p:txBody>
          <a:bodyPr>
            <a:normAutofit/>
          </a:bodyPr>
          <a:lstStyle/>
          <a:p>
            <a:r>
              <a:rPr lang="en-US" sz="2400" dirty="0">
                <a:latin typeface="Times New Roman" pitchFamily="18" charset="0"/>
                <a:cs typeface="Times New Roman" pitchFamily="18" charset="0"/>
              </a:rPr>
              <a:t>Intensive care is a package of interventions, which consists of </a:t>
            </a:r>
          </a:p>
          <a:p>
            <a:pPr lvl="1"/>
            <a:r>
              <a:rPr lang="en-US" sz="2400" dirty="0">
                <a:latin typeface="Times New Roman" pitchFamily="18" charset="0"/>
                <a:cs typeface="Times New Roman" pitchFamily="18" charset="0"/>
              </a:rPr>
              <a:t>specific therapies for the disease,</a:t>
            </a:r>
          </a:p>
          <a:p>
            <a:pPr lvl="1"/>
            <a:r>
              <a:rPr lang="en-US" sz="2400" dirty="0">
                <a:latin typeface="Times New Roman" pitchFamily="18" charset="0"/>
                <a:cs typeface="Times New Roman" pitchFamily="18" charset="0"/>
              </a:rPr>
              <a:t> technologies for physiological monitoring and organ system support, and </a:t>
            </a:r>
          </a:p>
          <a:p>
            <a:pPr lvl="1"/>
            <a:r>
              <a:rPr lang="en-US" sz="2400" dirty="0">
                <a:latin typeface="Times New Roman" pitchFamily="18" charset="0"/>
                <a:cs typeface="Times New Roman" pitchFamily="18" charset="0"/>
              </a:rPr>
              <a:t>integrated multidisciplinary decision-making</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Introduction</a:t>
            </a:r>
            <a:r>
              <a:rPr lang="en-US" dirty="0"/>
              <a:t>…</a:t>
            </a:r>
          </a:p>
        </p:txBody>
      </p:sp>
      <p:sp>
        <p:nvSpPr>
          <p:cNvPr id="3" name="Content Placeholder 2"/>
          <p:cNvSpPr>
            <a:spLocks noGrp="1"/>
          </p:cNvSpPr>
          <p:nvPr>
            <p:ph idx="1"/>
          </p:nvPr>
        </p:nvSpPr>
        <p:spPr>
          <a:xfrm>
            <a:off x="457200" y="1600200"/>
            <a:ext cx="8382000" cy="4525963"/>
          </a:xfrm>
        </p:spPr>
        <p:txBody>
          <a:bodyPr>
            <a:normAutofit/>
          </a:bodyPr>
          <a:lstStyle/>
          <a:p>
            <a:r>
              <a:rPr lang="en-US" sz="2400" dirty="0">
                <a:latin typeface="Times New Roman" pitchFamily="18" charset="0"/>
                <a:cs typeface="Times New Roman" pitchFamily="18" charset="0"/>
              </a:rPr>
              <a:t>Admission and discharge processes and outcomes vary widely between hospitals and between countries</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decisions to admit  will be based on:</a:t>
            </a:r>
          </a:p>
          <a:p>
            <a:pPr lvl="1"/>
            <a:r>
              <a:rPr lang="en-US" sz="2000" dirty="0">
                <a:latin typeface="Times New Roman" pitchFamily="18" charset="0"/>
                <a:cs typeface="Times New Roman" pitchFamily="18" charset="0"/>
              </a:rPr>
              <a:t> </a:t>
            </a:r>
            <a:r>
              <a:rPr lang="en-US" sz="2400" dirty="0">
                <a:latin typeface="Times New Roman" pitchFamily="18" charset="0"/>
                <a:cs typeface="Times New Roman" pitchFamily="18" charset="0"/>
              </a:rPr>
              <a:t>the severity of the illness, </a:t>
            </a:r>
          </a:p>
          <a:p>
            <a:pPr lvl="1"/>
            <a:r>
              <a:rPr lang="en-US" sz="2400" dirty="0">
                <a:latin typeface="Times New Roman" pitchFamily="18" charset="0"/>
                <a:cs typeface="Times New Roman" pitchFamily="18" charset="0"/>
              </a:rPr>
              <a:t>chronic health and physiological reserve, </a:t>
            </a:r>
          </a:p>
          <a:p>
            <a:pPr lvl="1"/>
            <a:r>
              <a:rPr lang="en-US" sz="2400" dirty="0">
                <a:latin typeface="Times New Roman" pitchFamily="18" charset="0"/>
                <a:cs typeface="Times New Roman" pitchFamily="18" charset="0"/>
              </a:rPr>
              <a:t> therapeutic susceptibility, </a:t>
            </a:r>
          </a:p>
          <a:p>
            <a:pPr lvl="1"/>
            <a:r>
              <a:rPr lang="en-US" sz="2400" dirty="0">
                <a:latin typeface="Times New Roman" pitchFamily="18" charset="0"/>
                <a:cs typeface="Times New Roman" pitchFamily="18" charset="0"/>
              </a:rPr>
              <a:t>and will be informed by the patient’s wishes. </a:t>
            </a:r>
          </a:p>
          <a:p>
            <a:r>
              <a:rPr lang="en-US" sz="2400" dirty="0">
                <a:latin typeface="Times New Roman" pitchFamily="18" charset="0"/>
                <a:cs typeface="Times New Roman" pitchFamily="18" charset="0"/>
              </a:rPr>
              <a:t>Admission and discharge decisions involve balancing the needs of individual patients against those of society. </a:t>
            </a:r>
          </a:p>
          <a:p>
            <a:endParaRPr lang="en-US" sz="24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Introduction</a:t>
            </a:r>
            <a:r>
              <a:rPr lang="en-US" dirty="0"/>
              <a:t>…</a:t>
            </a:r>
          </a:p>
        </p:txBody>
      </p:sp>
      <p:sp>
        <p:nvSpPr>
          <p:cNvPr id="3" name="Content Placeholder 2"/>
          <p:cNvSpPr>
            <a:spLocks noGrp="1"/>
          </p:cNvSpPr>
          <p:nvPr>
            <p:ph idx="1"/>
          </p:nvPr>
        </p:nvSpPr>
        <p:spPr>
          <a:xfrm>
            <a:off x="381000" y="1524000"/>
            <a:ext cx="8458200" cy="4525963"/>
          </a:xfrm>
        </p:spPr>
        <p:txBody>
          <a:bodyPr>
            <a:noAutofit/>
          </a:bodyPr>
          <a:lstStyle/>
          <a:p>
            <a:r>
              <a:rPr lang="en-US" sz="2400" dirty="0">
                <a:latin typeface="Times New Roman" pitchFamily="18" charset="0"/>
                <a:cs typeface="Times New Roman" pitchFamily="18" charset="0"/>
              </a:rPr>
              <a:t>Wide variations in admission and discharge practices between </a:t>
            </a:r>
            <a:r>
              <a:rPr lang="en-US" sz="2400" dirty="0" err="1">
                <a:latin typeface="Times New Roman" pitchFamily="18" charset="0"/>
                <a:cs typeface="Times New Roman" pitchFamily="18" charset="0"/>
              </a:rPr>
              <a:t>centres</a:t>
            </a:r>
            <a:r>
              <a:rPr lang="en-US" sz="2400" dirty="0">
                <a:latin typeface="Times New Roman" pitchFamily="18" charset="0"/>
                <a:cs typeface="Times New Roman" pitchFamily="18" charset="0"/>
              </a:rPr>
              <a:t> and countries </a:t>
            </a:r>
          </a:p>
          <a:p>
            <a:pPr lvl="1"/>
            <a:r>
              <a:rPr lang="en-US" sz="2000" dirty="0">
                <a:latin typeface="Times New Roman" pitchFamily="18" charset="0"/>
                <a:cs typeface="Times New Roman" pitchFamily="18" charset="0"/>
              </a:rPr>
              <a:t>probably reflect differences in resources, cultures, and clinician beliefs.</a:t>
            </a:r>
          </a:p>
          <a:p>
            <a:pPr lvl="1"/>
            <a:endParaRPr lang="en-US" sz="2000" dirty="0">
              <a:latin typeface="Times New Roman" pitchFamily="18" charset="0"/>
              <a:cs typeface="Times New Roman" pitchFamily="18" charset="0"/>
            </a:endParaRPr>
          </a:p>
          <a:p>
            <a:r>
              <a:rPr lang="en-US" sz="2400" dirty="0">
                <a:latin typeface="Times New Roman" pitchFamily="18" charset="0"/>
                <a:cs typeface="Times New Roman" pitchFamily="18" charset="0"/>
              </a:rPr>
              <a:t>Outcomes of intensive care are affected by:</a:t>
            </a:r>
          </a:p>
          <a:p>
            <a:pPr lvl="1"/>
            <a:r>
              <a:rPr lang="en-US" sz="2000" dirty="0">
                <a:latin typeface="Times New Roman" pitchFamily="18" charset="0"/>
                <a:cs typeface="Times New Roman" pitchFamily="18" charset="0"/>
              </a:rPr>
              <a:t> </a:t>
            </a:r>
            <a:r>
              <a:rPr lang="en-US" sz="2400" dirty="0">
                <a:latin typeface="Times New Roman" pitchFamily="18" charset="0"/>
                <a:cs typeface="Times New Roman" pitchFamily="18" charset="0"/>
              </a:rPr>
              <a:t>the timing of admission and discharge, and</a:t>
            </a:r>
          </a:p>
          <a:p>
            <a:pPr lvl="1"/>
            <a:r>
              <a:rPr lang="en-US" sz="2400" dirty="0">
                <a:latin typeface="Times New Roman" pitchFamily="18" charset="0"/>
                <a:cs typeface="Times New Roman" pitchFamily="18" charset="0"/>
              </a:rPr>
              <a:t> the quality of care outside the ICU</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7705030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Introduction</a:t>
            </a:r>
            <a:r>
              <a:rPr lang="en-US" dirty="0"/>
              <a:t>…</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Effective admission and discharge processes will minimize</a:t>
            </a:r>
          </a:p>
          <a:p>
            <a:pPr lvl="1"/>
            <a:r>
              <a:rPr lang="en-US" sz="2000" dirty="0">
                <a:latin typeface="Times New Roman" pitchFamily="18" charset="0"/>
                <a:cs typeface="Times New Roman" pitchFamily="18" charset="0"/>
              </a:rPr>
              <a:t> avoidable morbidity, mortality, and ICU readmissions, and </a:t>
            </a:r>
          </a:p>
          <a:p>
            <a:pPr lvl="1"/>
            <a:r>
              <a:rPr lang="en-US" sz="2000" dirty="0">
                <a:latin typeface="Times New Roman" pitchFamily="18" charset="0"/>
                <a:cs typeface="Times New Roman" pitchFamily="18" charset="0"/>
              </a:rPr>
              <a:t>maximize family and patient satisfaction and cost-efficacy</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ICU admission criteria should select patients who are likely to benefit from ICU care ( </a:t>
            </a:r>
            <a:r>
              <a:rPr lang="en-US" sz="2400" dirty="0">
                <a:solidFill>
                  <a:srgbClr val="FF0000"/>
                </a:solidFill>
                <a:latin typeface="Times New Roman" pitchFamily="18" charset="0"/>
                <a:cs typeface="Times New Roman" pitchFamily="18" charset="0"/>
              </a:rPr>
              <a:t>Bone RC. et.al; 1993 )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868362"/>
          </a:xfrm>
        </p:spPr>
        <p:txBody>
          <a:bodyPr>
            <a:normAutofit/>
          </a:bodyPr>
          <a:lstStyle/>
          <a:p>
            <a:r>
              <a:rPr lang="en-US" sz="4800" dirty="0">
                <a:latin typeface="Agency FB" pitchFamily="34" charset="0"/>
              </a:rPr>
              <a:t>ICU Admission criteria</a:t>
            </a:r>
          </a:p>
        </p:txBody>
      </p:sp>
      <p:sp>
        <p:nvSpPr>
          <p:cNvPr id="5" name="Content Placeholder 4"/>
          <p:cNvSpPr>
            <a:spLocks noGrp="1"/>
          </p:cNvSpPr>
          <p:nvPr>
            <p:ph sz="half" idx="1"/>
          </p:nvPr>
        </p:nvSpPr>
        <p:spPr>
          <a:xfrm>
            <a:off x="457200" y="2133600"/>
            <a:ext cx="4038600" cy="3992563"/>
          </a:xfrm>
        </p:spPr>
        <p:txBody>
          <a:bodyPr/>
          <a:lstStyle/>
          <a:p>
            <a:pPr lvl="1"/>
            <a:r>
              <a:rPr lang="en-US" sz="2200" dirty="0">
                <a:latin typeface="Times New Roman" pitchFamily="18" charset="0"/>
                <a:cs typeface="Times New Roman" pitchFamily="18" charset="0"/>
              </a:rPr>
              <a:t>Diagnosis</a:t>
            </a:r>
          </a:p>
          <a:p>
            <a:pPr lvl="1"/>
            <a:r>
              <a:rPr lang="en-US" sz="2200" dirty="0">
                <a:latin typeface="Times New Roman" pitchFamily="18" charset="0"/>
                <a:cs typeface="Times New Roman" pitchFamily="18" charset="0"/>
              </a:rPr>
              <a:t>Severity of illness</a:t>
            </a:r>
          </a:p>
          <a:p>
            <a:pPr lvl="1"/>
            <a:r>
              <a:rPr lang="en-US" sz="2200" dirty="0">
                <a:latin typeface="Times New Roman" pitchFamily="18" charset="0"/>
                <a:cs typeface="Times New Roman" pitchFamily="18" charset="0"/>
              </a:rPr>
              <a:t>Age and functional status</a:t>
            </a:r>
          </a:p>
          <a:p>
            <a:pPr lvl="1"/>
            <a:r>
              <a:rPr lang="en-US" sz="2200" dirty="0">
                <a:latin typeface="Times New Roman" pitchFamily="18" charset="0"/>
                <a:cs typeface="Times New Roman" pitchFamily="18" charset="0"/>
              </a:rPr>
              <a:t>Co-existing disease</a:t>
            </a:r>
          </a:p>
          <a:p>
            <a:pPr lvl="1"/>
            <a:r>
              <a:rPr lang="en-US" sz="2200" dirty="0">
                <a:latin typeface="Times New Roman" pitchFamily="18" charset="0"/>
                <a:cs typeface="Times New Roman" pitchFamily="18" charset="0"/>
              </a:rPr>
              <a:t>Physiological reserve</a:t>
            </a:r>
          </a:p>
          <a:p>
            <a:pPr lvl="1"/>
            <a:r>
              <a:rPr lang="en-US" sz="2200" dirty="0">
                <a:latin typeface="Times New Roman" pitchFamily="18" charset="0"/>
                <a:cs typeface="Times New Roman" pitchFamily="18" charset="0"/>
              </a:rPr>
              <a:t>Prognosis</a:t>
            </a:r>
          </a:p>
          <a:p>
            <a:endParaRPr lang="en-US" dirty="0"/>
          </a:p>
        </p:txBody>
      </p:sp>
      <p:sp>
        <p:nvSpPr>
          <p:cNvPr id="6" name="Content Placeholder 5"/>
          <p:cNvSpPr>
            <a:spLocks noGrp="1"/>
          </p:cNvSpPr>
          <p:nvPr>
            <p:ph sz="half" idx="2"/>
          </p:nvPr>
        </p:nvSpPr>
        <p:spPr>
          <a:xfrm>
            <a:off x="4648200" y="2133599"/>
            <a:ext cx="4267200" cy="3992563"/>
          </a:xfrm>
        </p:spPr>
        <p:txBody>
          <a:bodyPr/>
          <a:lstStyle/>
          <a:p>
            <a:pPr lvl="1"/>
            <a:r>
              <a:rPr lang="en-US" sz="2200" dirty="0">
                <a:latin typeface="Times New Roman" pitchFamily="18" charset="0"/>
                <a:cs typeface="Times New Roman" pitchFamily="18" charset="0"/>
              </a:rPr>
              <a:t>Availability of suitable treatment</a:t>
            </a:r>
          </a:p>
          <a:p>
            <a:pPr lvl="1"/>
            <a:r>
              <a:rPr lang="en-US" sz="2200" dirty="0">
                <a:latin typeface="Times New Roman" pitchFamily="18" charset="0"/>
                <a:cs typeface="Times New Roman" pitchFamily="18" charset="0"/>
              </a:rPr>
              <a:t>Response to treatment to date</a:t>
            </a:r>
          </a:p>
          <a:p>
            <a:pPr lvl="1"/>
            <a:r>
              <a:rPr lang="en-US" sz="2200" dirty="0">
                <a:latin typeface="Times New Roman" pitchFamily="18" charset="0"/>
                <a:cs typeface="Times New Roman" pitchFamily="18" charset="0"/>
              </a:rPr>
              <a:t>Recent cardiopulmonary arrest</a:t>
            </a:r>
          </a:p>
          <a:p>
            <a:pPr lvl="1"/>
            <a:r>
              <a:rPr lang="en-US" sz="2200" dirty="0">
                <a:latin typeface="Times New Roman" pitchFamily="18" charset="0"/>
                <a:cs typeface="Times New Roman" pitchFamily="18" charset="0"/>
              </a:rPr>
              <a:t>Anticipated quality of life</a:t>
            </a:r>
          </a:p>
          <a:p>
            <a:pPr lvl="1"/>
            <a:r>
              <a:rPr lang="en-US" sz="2200" dirty="0">
                <a:latin typeface="Times New Roman" pitchFamily="18" charset="0"/>
                <a:cs typeface="Times New Roman" pitchFamily="18" charset="0"/>
              </a:rPr>
              <a:t>The patient’s wishes</a:t>
            </a:r>
          </a:p>
          <a:p>
            <a:endParaRPr lang="en-US" sz="2200" dirty="0"/>
          </a:p>
          <a:p>
            <a:endParaRPr lang="en-US" dirty="0"/>
          </a:p>
        </p:txBody>
      </p:sp>
      <p:pic>
        <p:nvPicPr>
          <p:cNvPr id="20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1" y="1219200"/>
            <a:ext cx="8381999"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204376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gency FB" pitchFamily="34" charset="0"/>
              </a:rPr>
              <a:t>ICU Admission cont….</a:t>
            </a:r>
            <a:endParaRPr lang="en-US" sz="3600" dirty="0">
              <a:latin typeface="Lucida Calligraphy" pitchFamily="66" charset="0"/>
            </a:endParaRPr>
          </a:p>
        </p:txBody>
      </p:sp>
      <p:sp>
        <p:nvSpPr>
          <p:cNvPr id="3" name="Content Placeholder 2"/>
          <p:cNvSpPr>
            <a:spLocks noGrp="1"/>
          </p:cNvSpPr>
          <p:nvPr>
            <p:ph idx="1"/>
          </p:nvPr>
        </p:nvSpPr>
        <p:spPr>
          <a:xfrm>
            <a:off x="457200" y="1219200"/>
            <a:ext cx="8458200" cy="4953000"/>
          </a:xfrm>
        </p:spPr>
        <p:txBody>
          <a:bodyPr>
            <a:noAutofit/>
          </a:bodyPr>
          <a:lstStyle/>
          <a:p>
            <a:pPr>
              <a:buBlip>
                <a:blip r:embed="rId2"/>
              </a:buBlip>
            </a:pPr>
            <a:r>
              <a:rPr lang="en-US" sz="2400" dirty="0">
                <a:latin typeface="Times New Roman" pitchFamily="18" charset="0"/>
                <a:cs typeface="Times New Roman" pitchFamily="18" charset="0"/>
              </a:rPr>
              <a:t>The decision to admit a patient to an ICU should be based on the concept of potential benefit.</a:t>
            </a:r>
          </a:p>
          <a:p>
            <a:pPr>
              <a:buBlip>
                <a:blip r:embed="rId2"/>
              </a:buBlip>
            </a:pPr>
            <a:r>
              <a:rPr lang="en-US" sz="2400" dirty="0">
                <a:solidFill>
                  <a:srgbClr val="FF0000"/>
                </a:solidFill>
                <a:latin typeface="Times New Roman" pitchFamily="18" charset="0"/>
                <a:cs typeface="Times New Roman" pitchFamily="18" charset="0"/>
              </a:rPr>
              <a:t>Patients who are too well or those with no hope of recovering </a:t>
            </a:r>
            <a:r>
              <a:rPr lang="en-US" sz="2400" dirty="0">
                <a:latin typeface="Times New Roman" pitchFamily="18" charset="0"/>
                <a:cs typeface="Times New Roman" pitchFamily="18" charset="0"/>
              </a:rPr>
              <a:t>to an acceptable quality of life should not be admitted. </a:t>
            </a:r>
          </a:p>
          <a:p>
            <a:pPr>
              <a:buBlip>
                <a:blip r:embed="rId2"/>
              </a:buBlip>
            </a:pPr>
            <a:r>
              <a:rPr lang="en-US" sz="2400" dirty="0">
                <a:latin typeface="Times New Roman" pitchFamily="18" charset="0"/>
                <a:cs typeface="Times New Roman" pitchFamily="18" charset="0"/>
              </a:rPr>
              <a:t>Age by itself should not be a barrier to admission to intensive care, </a:t>
            </a:r>
          </a:p>
          <a:p>
            <a:pPr lvl="1">
              <a:buBlip>
                <a:blip r:embed="rId2"/>
              </a:buBlip>
            </a:pPr>
            <a:r>
              <a:rPr lang="en-US" sz="2400" dirty="0">
                <a:latin typeface="Times New Roman" pitchFamily="18" charset="0"/>
                <a:cs typeface="Times New Roman" pitchFamily="18" charset="0"/>
              </a:rPr>
              <a:t>but it should be recognized that increasing age is associated with diminishing physiological reserve and an increasing chance of serious coexisting disease </a:t>
            </a:r>
            <a:br>
              <a:rPr lang="en-US" sz="24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1203698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ICU Admission cont….</a:t>
            </a:r>
            <a:endParaRPr lang="en-US" dirty="0">
              <a:latin typeface="Lucida Calligraphy" pitchFamily="66" charset="0"/>
            </a:endParaRPr>
          </a:p>
        </p:txBody>
      </p:sp>
      <p:sp>
        <p:nvSpPr>
          <p:cNvPr id="3" name="Content Placeholder 2"/>
          <p:cNvSpPr>
            <a:spLocks noGrp="1"/>
          </p:cNvSpPr>
          <p:nvPr>
            <p:ph idx="1"/>
          </p:nvPr>
        </p:nvSpPr>
        <p:spPr/>
        <p:txBody>
          <a:bodyPr>
            <a:normAutofit/>
          </a:bodyPr>
          <a:lstStyle/>
          <a:p>
            <a:pPr>
              <a:buFont typeface="Wingdings" pitchFamily="2" charset="2"/>
              <a:buChar char="q"/>
            </a:pPr>
            <a:r>
              <a:rPr lang="en-US" sz="2400" dirty="0">
                <a:latin typeface="Times New Roman" pitchFamily="18" charset="0"/>
                <a:cs typeface="Times New Roman" pitchFamily="18" charset="0"/>
              </a:rPr>
              <a:t>ICU is appropriate for patients requiring or likely to require :</a:t>
            </a:r>
          </a:p>
          <a:p>
            <a:pPr>
              <a:buFont typeface="Symbol" pitchFamily="18" charset="2"/>
              <a:buChar char="ª"/>
            </a:pPr>
            <a:r>
              <a:rPr lang="en-US" sz="28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Advanced respiratory support</a:t>
            </a:r>
          </a:p>
          <a:p>
            <a:pPr>
              <a:buFont typeface="Wingdings" pitchFamily="2" charset="2"/>
              <a:buChar char="ü"/>
            </a:pPr>
            <a:r>
              <a:rPr lang="en-US" sz="2400" dirty="0">
                <a:latin typeface="Times New Roman" pitchFamily="18" charset="0"/>
                <a:cs typeface="Times New Roman" pitchFamily="18" charset="0"/>
              </a:rPr>
              <a:t>Mechanical ventilatory support (excluding mask continuous positive airway pressure (CPAP) or non-invasive (e.g., mask) ventilation)</a:t>
            </a:r>
          </a:p>
          <a:p>
            <a:pPr>
              <a:buFont typeface="Wingdings" pitchFamily="2" charset="2"/>
              <a:buChar char="ü"/>
            </a:pPr>
            <a:r>
              <a:rPr lang="en-US" sz="2400" dirty="0">
                <a:latin typeface="Times New Roman" pitchFamily="18" charset="0"/>
                <a:cs typeface="Times New Roman" pitchFamily="18" charset="0"/>
              </a:rPr>
              <a:t> Possibility of a sudden, precipitous deterioration in respiratory function requiring immediate endotracheal intubation and mechanical ventilation</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5038897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ICU Admission cont….</a:t>
            </a:r>
          </a:p>
        </p:txBody>
      </p:sp>
      <p:sp>
        <p:nvSpPr>
          <p:cNvPr id="3" name="Content Placeholder 2"/>
          <p:cNvSpPr>
            <a:spLocks noGrp="1"/>
          </p:cNvSpPr>
          <p:nvPr>
            <p:ph idx="1"/>
          </p:nvPr>
        </p:nvSpPr>
        <p:spPr/>
        <p:txBody>
          <a:bodyPr>
            <a:noAutofit/>
          </a:bodyPr>
          <a:lstStyle/>
          <a:p>
            <a:pPr>
              <a:buFont typeface="Symbol" pitchFamily="18" charset="2"/>
              <a:buChar char=""/>
            </a:pPr>
            <a:r>
              <a:rPr lang="en-US" sz="2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Basic respiratory monitoring and support</a:t>
            </a:r>
          </a:p>
          <a:p>
            <a:pPr>
              <a:buFont typeface="Wingdings" pitchFamily="2" charset="2"/>
              <a:buChar char="ü"/>
            </a:pPr>
            <a:r>
              <a:rPr lang="en-US" sz="2400" dirty="0">
                <a:latin typeface="Times New Roman" pitchFamily="18" charset="0"/>
                <a:cs typeface="Times New Roman" pitchFamily="18" charset="0"/>
              </a:rPr>
              <a:t>Need for more than 50% oxygen</a:t>
            </a:r>
          </a:p>
          <a:p>
            <a:pPr>
              <a:buFont typeface="Wingdings" pitchFamily="2" charset="2"/>
              <a:buChar char="ü"/>
            </a:pPr>
            <a:r>
              <a:rPr lang="en-US" sz="2400" dirty="0">
                <a:latin typeface="Times New Roman" pitchFamily="18" charset="0"/>
                <a:cs typeface="Times New Roman" pitchFamily="18" charset="0"/>
              </a:rPr>
              <a:t> Possibility of progressive deterioration to needing advanced respiratory support</a:t>
            </a:r>
          </a:p>
          <a:p>
            <a:pPr>
              <a:buFont typeface="Wingdings" pitchFamily="2" charset="2"/>
              <a:buChar char="ü"/>
            </a:pPr>
            <a:r>
              <a:rPr lang="en-US" sz="2400" dirty="0">
                <a:latin typeface="Times New Roman" pitchFamily="18" charset="0"/>
                <a:cs typeface="Times New Roman" pitchFamily="18" charset="0"/>
              </a:rPr>
              <a:t> Need for physiotherapy to clear secretions at least two hourly</a:t>
            </a:r>
          </a:p>
          <a:p>
            <a:pPr>
              <a:buFont typeface="Wingdings" pitchFamily="2" charset="2"/>
              <a:buChar char="ü"/>
            </a:pPr>
            <a:r>
              <a:rPr lang="en-US" sz="2400" dirty="0">
                <a:latin typeface="Times New Roman" pitchFamily="18" charset="0"/>
                <a:cs typeface="Times New Roman" pitchFamily="18" charset="0"/>
              </a:rPr>
              <a:t>Patients recently extubated after prolonged intubation and mechanical ventilation</a:t>
            </a:r>
          </a:p>
          <a:p>
            <a:pPr>
              <a:buFont typeface="Wingdings" pitchFamily="2" charset="2"/>
              <a:buChar char="ü"/>
            </a:pPr>
            <a:r>
              <a:rPr lang="en-US" sz="2400" dirty="0">
                <a:latin typeface="Times New Roman" pitchFamily="18" charset="0"/>
                <a:cs typeface="Times New Roman" pitchFamily="18" charset="0"/>
              </a:rPr>
              <a:t> Need for mask CPAP or non-invasive ventilation</a:t>
            </a:r>
          </a:p>
          <a:p>
            <a:pPr>
              <a:buFont typeface="Wingdings" pitchFamily="2" charset="2"/>
              <a:buChar char="ü"/>
            </a:pPr>
            <a:r>
              <a:rPr lang="en-US" sz="2400" dirty="0">
                <a:latin typeface="Times New Roman" pitchFamily="18" charset="0"/>
                <a:cs typeface="Times New Roman" pitchFamily="18" charset="0"/>
              </a:rPr>
              <a:t> Patients who are intubated to protect the airway but require no ventilatory support and who are otherwise stable </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01803728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ICU Admission cont….</a:t>
            </a:r>
            <a:endParaRPr lang="en-US" dirty="0"/>
          </a:p>
        </p:txBody>
      </p:sp>
      <p:sp>
        <p:nvSpPr>
          <p:cNvPr id="3" name="Content Placeholder 2"/>
          <p:cNvSpPr>
            <a:spLocks noGrp="1"/>
          </p:cNvSpPr>
          <p:nvPr>
            <p:ph idx="1"/>
          </p:nvPr>
        </p:nvSpPr>
        <p:spPr>
          <a:xfrm>
            <a:off x="228600" y="1371600"/>
            <a:ext cx="8686800" cy="4754563"/>
          </a:xfrm>
        </p:spPr>
        <p:txBody>
          <a:bodyPr>
            <a:normAutofit/>
          </a:bodyPr>
          <a:lstStyle/>
          <a:p>
            <a:pPr>
              <a:buFont typeface="Symbol" pitchFamily="18" charset="2"/>
              <a:buChar char=""/>
            </a:pPr>
            <a:r>
              <a:rPr lang="en-US" sz="2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Circulatory support</a:t>
            </a:r>
            <a:r>
              <a:rPr lang="en-US" sz="2800" b="1" dirty="0">
                <a:latin typeface="Times New Roman" pitchFamily="18" charset="0"/>
                <a:cs typeface="Times New Roman" pitchFamily="18" charset="0"/>
              </a:rPr>
              <a:t> </a:t>
            </a:r>
          </a:p>
          <a:p>
            <a:pPr>
              <a:buFont typeface="Symbol" pitchFamily="18" charset="2"/>
              <a:buChar char=""/>
            </a:pPr>
            <a:r>
              <a:rPr lang="en-US" dirty="0"/>
              <a:t> </a:t>
            </a:r>
            <a:r>
              <a:rPr lang="en-US" sz="2400" dirty="0">
                <a:latin typeface="Times New Roman" pitchFamily="18" charset="0"/>
                <a:cs typeface="Times New Roman" pitchFamily="18" charset="0"/>
              </a:rPr>
              <a:t>Need for vasoactive drugs to support ABP or cardiac output</a:t>
            </a:r>
          </a:p>
          <a:p>
            <a:pPr>
              <a:buFont typeface="Symbol" pitchFamily="18" charset="2"/>
              <a:buChar char=""/>
            </a:pPr>
            <a:r>
              <a:rPr lang="en-US" sz="2400" dirty="0">
                <a:latin typeface="Times New Roman" pitchFamily="18" charset="0"/>
                <a:cs typeface="Times New Roman" pitchFamily="18" charset="0"/>
              </a:rPr>
              <a:t> Support for circulatory instability due to hypovolaemia from any cause which is unresponsive to modest volume replacement </a:t>
            </a:r>
          </a:p>
          <a:p>
            <a:pPr lvl="1">
              <a:buFont typeface="Symbol" pitchFamily="18" charset="2"/>
              <a:buChar char=""/>
            </a:pPr>
            <a:r>
              <a:rPr lang="en-US" sz="2000" dirty="0">
                <a:latin typeface="Times New Roman" pitchFamily="18" charset="0"/>
                <a:cs typeface="Times New Roman" pitchFamily="18" charset="0"/>
              </a:rPr>
              <a:t>(including post-surgical or gastrointestinal haemorrhage or haemorrhage related to a coagulopathy)</a:t>
            </a:r>
          </a:p>
          <a:p>
            <a:pPr>
              <a:buFont typeface="Symbol" pitchFamily="18" charset="2"/>
              <a:buChar char=""/>
            </a:pPr>
            <a:r>
              <a:rPr lang="en-US" sz="2400" dirty="0">
                <a:latin typeface="Times New Roman" pitchFamily="18" charset="0"/>
                <a:cs typeface="Times New Roman" pitchFamily="18" charset="0"/>
              </a:rPr>
              <a:t> Patients resuscitated after cardiac arrest where intensive or high dependency care is considered clinically appropriate  </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14652287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ICU Admission cont….</a:t>
            </a:r>
            <a:endParaRPr lang="en-US" dirty="0"/>
          </a:p>
        </p:txBody>
      </p:sp>
      <p:sp>
        <p:nvSpPr>
          <p:cNvPr id="3" name="Content Placeholder 2"/>
          <p:cNvSpPr>
            <a:spLocks noGrp="1"/>
          </p:cNvSpPr>
          <p:nvPr>
            <p:ph idx="1"/>
          </p:nvPr>
        </p:nvSpPr>
        <p:spPr/>
        <p:txBody>
          <a:bodyPr>
            <a:normAutofit/>
          </a:bodyPr>
          <a:lstStyle/>
          <a:p>
            <a:pPr>
              <a:buFont typeface="Symbol" pitchFamily="18" charset="2"/>
              <a:buChar char="ª"/>
            </a:pP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Neurological monitoring and support</a:t>
            </a:r>
            <a:endParaRPr lang="en-US" sz="2400" dirty="0">
              <a:latin typeface="Times New Roman" pitchFamily="18" charset="0"/>
              <a:cs typeface="Times New Roman" pitchFamily="18" charset="0"/>
            </a:endParaRPr>
          </a:p>
          <a:p>
            <a:pPr>
              <a:buFont typeface="Symbol" pitchFamily="18" charset="2"/>
              <a:buChar char=""/>
            </a:pPr>
            <a:r>
              <a:rPr lang="en-US" sz="2400" dirty="0">
                <a:latin typeface="Times New Roman" pitchFamily="18" charset="0"/>
                <a:cs typeface="Times New Roman" pitchFamily="18" charset="0"/>
              </a:rPr>
              <a:t>Central nervous system depression, from whatever cause, sufficient to prejudice the airway and protective reflexes</a:t>
            </a:r>
          </a:p>
          <a:p>
            <a:pPr>
              <a:buFont typeface="Symbol" pitchFamily="18" charset="2"/>
              <a:buChar char=""/>
            </a:pPr>
            <a:r>
              <a:rPr lang="en-US" sz="2400" dirty="0">
                <a:latin typeface="Times New Roman" pitchFamily="18" charset="0"/>
                <a:cs typeface="Times New Roman" pitchFamily="18" charset="0"/>
              </a:rPr>
              <a:t>Invasive neurological monitoring</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pPr>
              <a:buFont typeface="Symbol" pitchFamily="18" charset="2"/>
              <a:buChar char="ª"/>
            </a:pP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Renal support</a:t>
            </a:r>
            <a:r>
              <a:rPr lang="en-US" sz="2400" dirty="0">
                <a:latin typeface="Times New Roman" pitchFamily="18" charset="0"/>
                <a:cs typeface="Times New Roman" pitchFamily="18" charset="0"/>
              </a:rPr>
              <a:t> </a:t>
            </a:r>
          </a:p>
          <a:p>
            <a:pPr>
              <a:buFont typeface="Symbol" pitchFamily="18" charset="2"/>
              <a:buChar char=""/>
            </a:pPr>
            <a:r>
              <a:rPr lang="en-US" sz="2400" dirty="0">
                <a:latin typeface="Times New Roman" pitchFamily="18" charset="0"/>
                <a:cs typeface="Times New Roman" pitchFamily="18" charset="0"/>
              </a:rPr>
              <a:t>Need for acute renal replacement therapy</a:t>
            </a:r>
          </a:p>
          <a:p>
            <a:pPr lvl="1">
              <a:buFont typeface="Wingdings" pitchFamily="2" charset="2"/>
              <a:buChar char="§"/>
            </a:pPr>
            <a:r>
              <a:rPr lang="en-US" sz="2400" dirty="0">
                <a:latin typeface="Times New Roman" pitchFamily="18" charset="0"/>
                <a:cs typeface="Times New Roman" pitchFamily="18" charset="0"/>
              </a:rPr>
              <a:t> hemodialysis, hemofiltration, or </a:t>
            </a:r>
            <a:r>
              <a:rPr lang="en-US" sz="2400" dirty="0" err="1">
                <a:latin typeface="Times New Roman" pitchFamily="18" charset="0"/>
                <a:cs typeface="Times New Roman" pitchFamily="18" charset="0"/>
              </a:rPr>
              <a:t>haemodiafiltration</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74289352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normAutofit fontScale="90000"/>
          </a:bodyPr>
          <a:lstStyle/>
          <a:p>
            <a:r>
              <a:rPr lang="en-US" b="1" dirty="0">
                <a:latin typeface="Lucida Calligraphy" pitchFamily="66" charset="0"/>
                <a:cs typeface="Times New Roman" pitchFamily="18" charset="0"/>
              </a:rPr>
              <a:t>When to admit</a:t>
            </a:r>
            <a:br>
              <a:rPr lang="en-US" b="1" dirty="0">
                <a:latin typeface="Lucida Calligraphy" pitchFamily="66" charset="0"/>
                <a:cs typeface="Times New Roman" pitchFamily="18" charset="0"/>
              </a:rPr>
            </a:br>
            <a:endParaRPr lang="en-US" dirty="0">
              <a:latin typeface="Lucida Calligraphy" pitchFamily="66" charset="0"/>
              <a:cs typeface="Times New Roman" pitchFamily="18" charset="0"/>
            </a:endParaRPr>
          </a:p>
        </p:txBody>
      </p:sp>
      <p:sp>
        <p:nvSpPr>
          <p:cNvPr id="3" name="Content Placeholder 2"/>
          <p:cNvSpPr>
            <a:spLocks noGrp="1"/>
          </p:cNvSpPr>
          <p:nvPr>
            <p:ph idx="1"/>
          </p:nvPr>
        </p:nvSpPr>
        <p:spPr>
          <a:xfrm>
            <a:off x="457200" y="1295400"/>
            <a:ext cx="8382000" cy="5105400"/>
          </a:xfrm>
        </p:spPr>
        <p:txBody>
          <a:bodyPr>
            <a:normAutofit/>
          </a:bodyPr>
          <a:lstStyle/>
          <a:p>
            <a:pPr>
              <a:buFont typeface="Symbol" pitchFamily="18" charset="2"/>
              <a:buChar char="§"/>
            </a:pPr>
            <a:r>
              <a:rPr lang="en-US" sz="2200" dirty="0">
                <a:latin typeface="Times New Roman" pitchFamily="18" charset="0"/>
                <a:cs typeface="Times New Roman" pitchFamily="18" charset="0"/>
              </a:rPr>
              <a:t>Pts. should be admitted to ICU before their condition reaches a point from which recovery is impossible.</a:t>
            </a:r>
          </a:p>
          <a:p>
            <a:pPr>
              <a:buFont typeface="Symbol" pitchFamily="18" charset="2"/>
              <a:buChar char="§"/>
            </a:pPr>
            <a:r>
              <a:rPr lang="en-US" sz="2200" dirty="0">
                <a:latin typeface="Times New Roman" pitchFamily="18" charset="0"/>
                <a:cs typeface="Times New Roman" pitchFamily="18" charset="0"/>
              </a:rPr>
              <a:t>Clear criteria may help to identify those at risk and to trigger a call for help from ICU staff.</a:t>
            </a:r>
          </a:p>
          <a:p>
            <a:pPr>
              <a:buFont typeface="Symbol" pitchFamily="18" charset="2"/>
              <a:buChar char="§"/>
            </a:pPr>
            <a:r>
              <a:rPr lang="en-US" sz="2200" dirty="0">
                <a:latin typeface="Times New Roman" pitchFamily="18" charset="0"/>
                <a:cs typeface="Times New Roman" pitchFamily="18" charset="0"/>
              </a:rPr>
              <a:t> Early referral improves:</a:t>
            </a:r>
          </a:p>
          <a:p>
            <a:pPr lvl="1"/>
            <a:r>
              <a:rPr lang="en-US" sz="2200" dirty="0">
                <a:latin typeface="Times New Roman" pitchFamily="18" charset="0"/>
                <a:cs typeface="Times New Roman" pitchFamily="18" charset="0"/>
              </a:rPr>
              <a:t> the chances of recovery, </a:t>
            </a:r>
          </a:p>
          <a:p>
            <a:pPr lvl="1"/>
            <a:r>
              <a:rPr lang="en-US" sz="2200" dirty="0">
                <a:latin typeface="Times New Roman" pitchFamily="18" charset="0"/>
                <a:cs typeface="Times New Roman" pitchFamily="18" charset="0"/>
              </a:rPr>
              <a:t>reduces the potential for organ dysfunction</a:t>
            </a:r>
          </a:p>
          <a:p>
            <a:pPr lvl="1"/>
            <a:r>
              <a:rPr lang="en-US" sz="2200" dirty="0">
                <a:latin typeface="Times New Roman" pitchFamily="18" charset="0"/>
                <a:cs typeface="Times New Roman" pitchFamily="18" charset="0"/>
              </a:rPr>
              <a:t>may reduce length of stay in ICU and hospital, and</a:t>
            </a:r>
          </a:p>
          <a:p>
            <a:pPr lvl="1"/>
            <a:r>
              <a:rPr lang="en-US" sz="2200" dirty="0">
                <a:latin typeface="Times New Roman" pitchFamily="18" charset="0"/>
                <a:cs typeface="Times New Roman" pitchFamily="18" charset="0"/>
              </a:rPr>
              <a:t> may reduce the costs of intensive care.</a:t>
            </a:r>
          </a:p>
        </p:txBody>
      </p:sp>
    </p:spTree>
    <p:extLst>
      <p:ext uri="{BB962C8B-B14F-4D97-AF65-F5344CB8AC3E}">
        <p14:creationId xmlns:p14="http://schemas.microsoft.com/office/powerpoint/2010/main" val="176975076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additive="base">
                                        <p:cTn id="3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latin typeface="Agency FB" pitchFamily="34" charset="0"/>
              </a:rPr>
              <a:t>Cont…</a:t>
            </a:r>
          </a:p>
        </p:txBody>
      </p:sp>
      <p:sp>
        <p:nvSpPr>
          <p:cNvPr id="3" name="Content Placeholder 2"/>
          <p:cNvSpPr>
            <a:spLocks noGrp="1"/>
          </p:cNvSpPr>
          <p:nvPr>
            <p:ph idx="1"/>
          </p:nvPr>
        </p:nvSpPr>
        <p:spPr>
          <a:xfrm>
            <a:off x="457200" y="1447800"/>
            <a:ext cx="8382000" cy="4678363"/>
          </a:xfrm>
        </p:spPr>
        <p:txBody>
          <a:bodyPr>
            <a:normAutofit/>
          </a:bodyPr>
          <a:lstStyle/>
          <a:p>
            <a:pPr>
              <a:buFont typeface="Symbol" pitchFamily="18" charset="2"/>
              <a:buChar char="§"/>
            </a:pPr>
            <a:r>
              <a:rPr lang="en-US" sz="2400" dirty="0">
                <a:latin typeface="Times New Roman" pitchFamily="18" charset="0"/>
                <a:cs typeface="Times New Roman" pitchFamily="18" charset="0"/>
              </a:rPr>
              <a:t>Patients should be referred by the most senior member of staff</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responsible for the patient—that is, a consultant. </a:t>
            </a:r>
          </a:p>
          <a:p>
            <a:pPr>
              <a:buFont typeface="Symbol" pitchFamily="18" charset="2"/>
              <a:buChar char="§"/>
            </a:pPr>
            <a:r>
              <a:rPr lang="en-US" sz="2400" dirty="0">
                <a:latin typeface="Times New Roman" pitchFamily="18" charset="0"/>
                <a:cs typeface="Times New Roman" pitchFamily="18" charset="0"/>
              </a:rPr>
              <a:t>The decision should be delegated to trainee doctors only if clear guidelines exist on admission. </a:t>
            </a:r>
          </a:p>
          <a:p>
            <a:pPr lvl="1">
              <a:buFont typeface="Symbol" pitchFamily="18" charset="2"/>
              <a:buChar char="§"/>
            </a:pPr>
            <a:r>
              <a:rPr lang="en-US" sz="2400" dirty="0">
                <a:latin typeface="Times New Roman" pitchFamily="18" charset="0"/>
                <a:cs typeface="Times New Roman" pitchFamily="18" charset="0"/>
              </a:rPr>
              <a:t>Once patients are stabilized they should be transferred to the ICU by experienced ICU staff with appropriate transfer equipment </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endParaRPr lang="en-US" sz="2400" dirty="0"/>
          </a:p>
        </p:txBody>
      </p:sp>
    </p:spTree>
    <p:extLst>
      <p:ext uri="{BB962C8B-B14F-4D97-AF65-F5344CB8AC3E}">
        <p14:creationId xmlns:p14="http://schemas.microsoft.com/office/powerpoint/2010/main" val="248963763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4400" dirty="0">
                <a:latin typeface="Agency FB" pitchFamily="34" charset="0"/>
              </a:rPr>
              <a:t>Guidelines for ICU admission and discharge</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42900" indent="-342900">
              <a:buFont typeface="Wingdings" pitchFamily="2" charset="2"/>
              <a:buChar char="q"/>
            </a:pPr>
            <a:r>
              <a:rPr lang="en-US" sz="2400" dirty="0">
                <a:latin typeface="Times New Roman" pitchFamily="18" charset="0"/>
                <a:cs typeface="Times New Roman" pitchFamily="18" charset="0"/>
              </a:rPr>
              <a:t>UK Guidelines on admission to and discharge from ICU and high dependency units</a:t>
            </a:r>
            <a:br>
              <a:rPr lang="en-US" sz="3200"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86960330"/>
              </p:ext>
            </p:extLst>
          </p:nvPr>
        </p:nvGraphicFramePr>
        <p:xfrm>
          <a:off x="381000" y="1066800"/>
          <a:ext cx="8382000" cy="5410200"/>
        </p:xfrm>
        <a:graphic>
          <a:graphicData uri="http://schemas.openxmlformats.org/drawingml/2006/table">
            <a:tbl>
              <a:tblPr firstRow="1" bandRow="1">
                <a:tableStyleId>{BC89EF96-8CEA-46FF-86C4-4CE0E7609802}</a:tableStyleId>
              </a:tblPr>
              <a:tblGrid>
                <a:gridCol w="3953774">
                  <a:extLst>
                    <a:ext uri="{9D8B030D-6E8A-4147-A177-3AD203B41FA5}">
                      <a16:colId xmlns:a16="http://schemas.microsoft.com/office/drawing/2014/main" val="20000"/>
                    </a:ext>
                  </a:extLst>
                </a:gridCol>
                <a:gridCol w="4428226">
                  <a:extLst>
                    <a:ext uri="{9D8B030D-6E8A-4147-A177-3AD203B41FA5}">
                      <a16:colId xmlns:a16="http://schemas.microsoft.com/office/drawing/2014/main" val="20001"/>
                    </a:ext>
                  </a:extLst>
                </a:gridCol>
              </a:tblGrid>
              <a:tr h="4876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Intensive care is appropriate for: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High dependency care is appropriate for</a:t>
                      </a:r>
                    </a:p>
                    <a:p>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883920">
                <a:tc>
                  <a:txBody>
                    <a:bodyPr/>
                    <a:lstStyle/>
                    <a:p>
                      <a:r>
                        <a:rPr lang="en-US" dirty="0">
                          <a:latin typeface="Times New Roman" pitchFamily="18" charset="0"/>
                          <a:cs typeface="Times New Roman" pitchFamily="18" charset="0"/>
                        </a:rPr>
                        <a:t>patients requiring or likely to require advanced respiratory support alone</a:t>
                      </a:r>
                    </a:p>
                    <a:p>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Patients requiring support for a single failing organ system, but excluding those needing advanced respiratory support</a:t>
                      </a:r>
                    </a:p>
                  </a:txBody>
                  <a:tcPr/>
                </a:tc>
                <a:extLst>
                  <a:ext uri="{0D108BD9-81ED-4DB2-BD59-A6C34878D82A}">
                    <a16:rowId xmlns:a16="http://schemas.microsoft.com/office/drawing/2014/main" val="10001"/>
                  </a:ext>
                </a:extLst>
              </a:tr>
              <a:tr h="929640">
                <a:tc>
                  <a:txBody>
                    <a:bodyPr/>
                    <a:lstStyle/>
                    <a:p>
                      <a:r>
                        <a:rPr lang="en-US" dirty="0">
                          <a:latin typeface="Times New Roman" pitchFamily="18" charset="0"/>
                          <a:cs typeface="Times New Roman" pitchFamily="18" charset="0"/>
                        </a:rPr>
                        <a:t>Patients requiring support of two or more organ systems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Patients who can benefit from more detailed observation or monitoring than can safely be provided on a general ward</a:t>
                      </a:r>
                    </a:p>
                  </a:txBody>
                  <a:tcPr/>
                </a:tc>
                <a:extLst>
                  <a:ext uri="{0D108BD9-81ED-4DB2-BD59-A6C34878D82A}">
                    <a16:rowId xmlns:a16="http://schemas.microsoft.com/office/drawing/2014/main" val="10002"/>
                  </a:ext>
                </a:extLst>
              </a:tr>
              <a:tr h="1828800">
                <a:tc>
                  <a:txBody>
                    <a:bodyPr/>
                    <a:lstStyle/>
                    <a:p>
                      <a:r>
                        <a:rPr lang="en-US" dirty="0">
                          <a:latin typeface="Times New Roman" pitchFamily="18" charset="0"/>
                          <a:cs typeface="Times New Roman" pitchFamily="18" charset="0"/>
                        </a:rPr>
                        <a:t>Pts. with chronic impairment of one or more organ systems sufficient to restrict daily activities (co- morbidity) and who require support for an acute reversible failure of another organ system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Patients no longer needing intensive care, but who are not yet well enough to be returned to a general ward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Post-operative patients who need close monitoring for longer than a few hours</a:t>
                      </a:r>
                    </a:p>
                    <a:p>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891214">
                <a:tc gridSpan="2">
                  <a:txBody>
                    <a:bodyPr/>
                    <a:lstStyle/>
                    <a:p>
                      <a:r>
                        <a:rPr lang="en-US" dirty="0">
                          <a:latin typeface="Times New Roman" pitchFamily="18" charset="0"/>
                          <a:cs typeface="Times New Roman" pitchFamily="18" charset="0"/>
                        </a:rPr>
                        <a:t>© Department of Health (1996). Guidelines on Admission to and Discharge from Intensive Care and High Dependency Units. London: NHS Executive.</a:t>
                      </a:r>
                    </a:p>
                    <a:p>
                      <a:endParaRPr lang="en-US" dirty="0">
                        <a:latin typeface="Times New Roman" pitchFamily="18" charset="0"/>
                        <a:cs typeface="Times New Roman" pitchFamily="18" charset="0"/>
                      </a:endParaRPr>
                    </a:p>
                  </a:txBody>
                  <a:tcPr/>
                </a:tc>
                <a:tc hMerge="1">
                  <a:txBody>
                    <a:bodyPr/>
                    <a:lstStyle/>
                    <a:p>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Agency FB" pitchFamily="34" charset="0"/>
              </a:rPr>
              <a:t>Cont…</a:t>
            </a:r>
          </a:p>
        </p:txBody>
      </p:sp>
      <p:sp>
        <p:nvSpPr>
          <p:cNvPr id="3" name="Content Placeholder 2"/>
          <p:cNvSpPr>
            <a:spLocks noGrp="1"/>
          </p:cNvSpPr>
          <p:nvPr>
            <p:ph idx="1"/>
          </p:nvPr>
        </p:nvSpPr>
        <p:spPr/>
        <p:txBody>
          <a:bodyPr>
            <a:normAutofit/>
          </a:bodyPr>
          <a:lstStyle/>
          <a:p>
            <a:pPr>
              <a:buFont typeface="Wingdings" pitchFamily="2" charset="2"/>
              <a:buChar char="q"/>
            </a:pPr>
            <a:r>
              <a:rPr lang="en-US" b="1" dirty="0">
                <a:latin typeface="Agency FB" pitchFamily="34" charset="0"/>
                <a:cs typeface="Times New Roman" pitchFamily="18" charset="0"/>
              </a:rPr>
              <a:t> Society of Critical Care Medicine(SCCM) guideline</a:t>
            </a:r>
          </a:p>
          <a:p>
            <a:r>
              <a:rPr lang="en-US" sz="2400" dirty="0">
                <a:latin typeface="Times New Roman" pitchFamily="18" charset="0"/>
                <a:cs typeface="Times New Roman" pitchFamily="18" charset="0"/>
              </a:rPr>
              <a:t>SCCM is based on  the following models </a:t>
            </a:r>
          </a:p>
          <a:p>
            <a:pPr lvl="1"/>
            <a:r>
              <a:rPr lang="en-US" sz="2400" dirty="0">
                <a:solidFill>
                  <a:srgbClr val="FF0000"/>
                </a:solidFill>
                <a:latin typeface="Times New Roman" pitchFamily="18" charset="0"/>
                <a:cs typeface="Times New Roman" pitchFamily="18" charset="0"/>
              </a:rPr>
              <a:t>A prioritization model </a:t>
            </a:r>
            <a:r>
              <a:rPr lang="en-US" sz="2400" dirty="0">
                <a:latin typeface="Times New Roman" pitchFamily="18" charset="0"/>
                <a:cs typeface="Times New Roman" pitchFamily="18" charset="0"/>
              </a:rPr>
              <a:t>with four categories based on different sets of patient characteristics. </a:t>
            </a:r>
          </a:p>
          <a:p>
            <a:pPr lvl="1"/>
            <a:r>
              <a:rPr lang="en-US" sz="2400" dirty="0">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A diagnosis model</a:t>
            </a:r>
            <a:r>
              <a:rPr lang="en-US" sz="2400" dirty="0">
                <a:latin typeface="Times New Roman" pitchFamily="18" charset="0"/>
                <a:cs typeface="Times New Roman" pitchFamily="18" charset="0"/>
              </a:rPr>
              <a:t>. </a:t>
            </a:r>
          </a:p>
          <a:p>
            <a:pPr lvl="1"/>
            <a:r>
              <a:rPr lang="en-US" sz="2400" dirty="0">
                <a:solidFill>
                  <a:srgbClr val="FF0000"/>
                </a:solidFill>
                <a:latin typeface="Times New Roman" pitchFamily="18" charset="0"/>
                <a:cs typeface="Times New Roman" pitchFamily="18" charset="0"/>
              </a:rPr>
              <a:t>An objective parameters model </a:t>
            </a:r>
            <a:r>
              <a:rPr lang="en-US" sz="2400" dirty="0">
                <a:latin typeface="Times New Roman" pitchFamily="18" charset="0"/>
                <a:cs typeface="Times New Roman" pitchFamily="18" charset="0"/>
              </a:rPr>
              <a:t>based on physiology or investigations. </a:t>
            </a:r>
          </a:p>
          <a:p>
            <a:pPr lvl="1"/>
            <a:endParaRPr lang="en-US" sz="2400" dirty="0">
              <a:latin typeface="Times New Roman" pitchFamily="18" charset="0"/>
              <a:cs typeface="Times New Roman" pitchFamily="18" charset="0"/>
            </a:endParaRPr>
          </a:p>
        </p:txBody>
      </p:sp>
      <p:sp>
        <p:nvSpPr>
          <p:cNvPr id="4" name="Rectangle 3"/>
          <p:cNvSpPr/>
          <p:nvPr/>
        </p:nvSpPr>
        <p:spPr>
          <a:xfrm>
            <a:off x="609600" y="5867400"/>
            <a:ext cx="8534400" cy="646331"/>
          </a:xfrm>
          <a:prstGeom prst="rect">
            <a:avLst/>
          </a:prstGeom>
        </p:spPr>
        <p:txBody>
          <a:bodyPr wrap="square">
            <a:spAutoFit/>
          </a:bodyPr>
          <a:lstStyle/>
          <a:p>
            <a:r>
              <a:rPr lang="en-US" dirty="0">
                <a:effectLst>
                  <a:outerShdw blurRad="38100" dist="38100" dir="2700000" algn="tl">
                    <a:srgbClr val="000000">
                      <a:alpha val="43137"/>
                    </a:srgbClr>
                  </a:outerShdw>
                </a:effectLst>
                <a:latin typeface="Agency FB" pitchFamily="34" charset="0"/>
              </a:rPr>
              <a:t>Adapted from Task Force of the American College of Critical Care Medicine, Society of Critical Care Medicine. (1999). Guidelines for intensive care unit admission, discharge, and triage. Critical Care Medicine, 27(3), 633–8.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p:cNvSpPr>
            <a:spLocks noGrp="1"/>
          </p:cNvSpPr>
          <p:nvPr>
            <p:ph idx="1"/>
          </p:nvPr>
        </p:nvSpPr>
        <p:spPr>
          <a:xfrm>
            <a:off x="457200" y="1600200"/>
            <a:ext cx="8382000" cy="4525963"/>
          </a:xfrm>
        </p:spPr>
        <p:txBody>
          <a:bodyPr/>
          <a:lstStyle/>
          <a:p>
            <a:pPr>
              <a:buFont typeface="Wingdings" pitchFamily="2" charset="2"/>
              <a:buChar char="Ø"/>
            </a:pPr>
            <a:r>
              <a:rPr lang="en-US" b="1" dirty="0">
                <a:latin typeface="Times New Roman" pitchFamily="18" charset="0"/>
                <a:cs typeface="Times New Roman" pitchFamily="18" charset="0"/>
              </a:rPr>
              <a:t>Prioritization Model </a:t>
            </a:r>
          </a:p>
          <a:p>
            <a:r>
              <a:rPr lang="en-US" sz="2400" dirty="0">
                <a:latin typeface="Times New Roman" pitchFamily="18" charset="0"/>
                <a:cs typeface="Times New Roman" pitchFamily="18" charset="0"/>
              </a:rPr>
              <a:t>This system defines </a:t>
            </a:r>
          </a:p>
          <a:p>
            <a:pPr lvl="1"/>
            <a:r>
              <a:rPr lang="en-US" sz="2000" dirty="0">
                <a:latin typeface="Times New Roman" pitchFamily="18" charset="0"/>
                <a:cs typeface="Times New Roman" pitchFamily="18" charset="0"/>
              </a:rPr>
              <a:t>those that will benefit most from the ICU (Priority 1) to</a:t>
            </a:r>
          </a:p>
          <a:p>
            <a:pPr lvl="1"/>
            <a:r>
              <a:rPr lang="en-US" sz="2000" dirty="0">
                <a:latin typeface="Times New Roman" pitchFamily="18" charset="0"/>
                <a:cs typeface="Times New Roman" pitchFamily="18" charset="0"/>
              </a:rPr>
              <a:t> those that will not benefit at all (Priority 4) from ICU admission.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655638"/>
          </a:xfrm>
        </p:spPr>
        <p:txBody>
          <a:bodyPr>
            <a:noAutofit/>
          </a:bodyPr>
          <a:lstStyle/>
          <a:p>
            <a:r>
              <a:rPr lang="en-US" sz="2800" b="1" dirty="0">
                <a:latin typeface="Agency FB" pitchFamily="34" charset="0"/>
                <a:cs typeface="Times New Roman" pitchFamily="18" charset="0"/>
              </a:rPr>
              <a:t>ICU admission priority model adapted from the SCCM guideline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18786312"/>
              </p:ext>
            </p:extLst>
          </p:nvPr>
        </p:nvGraphicFramePr>
        <p:xfrm>
          <a:off x="609600" y="1295400"/>
          <a:ext cx="8305800" cy="4200516"/>
        </p:xfrm>
        <a:graphic>
          <a:graphicData uri="http://schemas.openxmlformats.org/drawingml/2006/table">
            <a:tbl>
              <a:tblPr firstRow="1" bandRow="1">
                <a:tableStyleId>{BC89EF96-8CEA-46FF-86C4-4CE0E7609802}</a:tableStyleId>
              </a:tblPr>
              <a:tblGrid>
                <a:gridCol w="1278708">
                  <a:extLst>
                    <a:ext uri="{9D8B030D-6E8A-4147-A177-3AD203B41FA5}">
                      <a16:colId xmlns:a16="http://schemas.microsoft.com/office/drawing/2014/main" val="20000"/>
                    </a:ext>
                  </a:extLst>
                </a:gridCol>
                <a:gridCol w="7027092">
                  <a:extLst>
                    <a:ext uri="{9D8B030D-6E8A-4147-A177-3AD203B41FA5}">
                      <a16:colId xmlns:a16="http://schemas.microsoft.com/office/drawing/2014/main" val="20001"/>
                    </a:ext>
                  </a:extLst>
                </a:gridCol>
              </a:tblGrid>
              <a:tr h="655474">
                <a:tc>
                  <a:txBody>
                    <a:bodyPr/>
                    <a:lstStyle/>
                    <a:p>
                      <a:pPr algn="l"/>
                      <a:r>
                        <a:rPr lang="en-US" dirty="0">
                          <a:latin typeface="Times New Roman" pitchFamily="18" charset="0"/>
                          <a:cs typeface="Times New Roman" pitchFamily="18" charset="0"/>
                        </a:rPr>
                        <a:t>Priority model</a:t>
                      </a:r>
                      <a:endParaRPr lang="en-US" b="1" dirty="0">
                        <a:latin typeface="Times New Roman" pitchFamily="18" charset="0"/>
                        <a:cs typeface="Times New Roman" pitchFamily="18" charset="0"/>
                      </a:endParaRPr>
                    </a:p>
                  </a:txBody>
                  <a:tcPr marL="47625" marR="47625" marT="47625" marB="47625"/>
                </a:tc>
                <a:tc>
                  <a:txBody>
                    <a:bodyPr/>
                    <a:lstStyle/>
                    <a:p>
                      <a:pPr algn="l"/>
                      <a:r>
                        <a:rPr lang="en-US" dirty="0">
                          <a:latin typeface="Times New Roman" pitchFamily="18" charset="0"/>
                          <a:cs typeface="Times New Roman" pitchFamily="18" charset="0"/>
                        </a:rPr>
                        <a:t>Description</a:t>
                      </a:r>
                      <a:endParaRPr lang="en-US" b="1" dirty="0">
                        <a:latin typeface="Times New Roman" pitchFamily="18" charset="0"/>
                        <a:cs typeface="Times New Roman" pitchFamily="18" charset="0"/>
                      </a:endParaRPr>
                    </a:p>
                  </a:txBody>
                  <a:tcPr marL="47625" marR="47625" marT="47625" marB="47625"/>
                </a:tc>
                <a:extLst>
                  <a:ext uri="{0D108BD9-81ED-4DB2-BD59-A6C34878D82A}">
                    <a16:rowId xmlns:a16="http://schemas.microsoft.com/office/drawing/2014/main" val="10000"/>
                  </a:ext>
                </a:extLst>
              </a:tr>
              <a:tr h="377512">
                <a:tc>
                  <a:txBody>
                    <a:bodyPr/>
                    <a:lstStyle/>
                    <a:p>
                      <a:pPr algn="l"/>
                      <a:r>
                        <a:rPr lang="en-US" dirty="0">
                          <a:latin typeface="Times New Roman" pitchFamily="18" charset="0"/>
                          <a:cs typeface="Times New Roman" pitchFamily="18" charset="0"/>
                        </a:rPr>
                        <a:t>Priority 1</a:t>
                      </a:r>
                    </a:p>
                  </a:txBody>
                  <a:tcPr marL="47625" marR="47625" marT="47625" marB="47625"/>
                </a:tc>
                <a:tc>
                  <a:txBody>
                    <a:bodyPr/>
                    <a:lstStyle/>
                    <a:p>
                      <a:pPr algn="l"/>
                      <a:r>
                        <a:rPr lang="en-US" dirty="0">
                          <a:latin typeface="Times New Roman" pitchFamily="18" charset="0"/>
                          <a:cs typeface="Times New Roman" pitchFamily="18" charset="0"/>
                        </a:rPr>
                        <a:t>Unstable patients in need of intensive treatment and monitoring that</a:t>
                      </a:r>
                      <a:r>
                        <a:rPr lang="en-US" baseline="0" dirty="0">
                          <a:latin typeface="Times New Roman" pitchFamily="18" charset="0"/>
                          <a:cs typeface="Times New Roman" pitchFamily="18" charset="0"/>
                        </a:rPr>
                        <a:t> </a:t>
                      </a:r>
                      <a:r>
                        <a:rPr lang="en-US" dirty="0">
                          <a:latin typeface="Times New Roman" pitchFamily="18" charset="0"/>
                          <a:cs typeface="Times New Roman" pitchFamily="18" charset="0"/>
                        </a:rPr>
                        <a:t>cannot be provided outside of the ICUs.</a:t>
                      </a:r>
                    </a:p>
                  </a:txBody>
                  <a:tcPr marL="47625" marR="47625" marT="47625" marB="47625"/>
                </a:tc>
                <a:extLst>
                  <a:ext uri="{0D108BD9-81ED-4DB2-BD59-A6C34878D82A}">
                    <a16:rowId xmlns:a16="http://schemas.microsoft.com/office/drawing/2014/main" val="10001"/>
                  </a:ext>
                </a:extLst>
              </a:tr>
              <a:tr h="655474">
                <a:tc>
                  <a:txBody>
                    <a:bodyPr/>
                    <a:lstStyle/>
                    <a:p>
                      <a:pPr algn="l"/>
                      <a:r>
                        <a:rPr lang="en-US" dirty="0">
                          <a:latin typeface="Times New Roman" pitchFamily="18" charset="0"/>
                          <a:cs typeface="Times New Roman" pitchFamily="18" charset="0"/>
                        </a:rPr>
                        <a:t>Priority 2</a:t>
                      </a:r>
                    </a:p>
                  </a:txBody>
                  <a:tcPr marL="47625" marR="47625" marT="47625" marB="47625"/>
                </a:tc>
                <a:tc>
                  <a:txBody>
                    <a:bodyPr/>
                    <a:lstStyle/>
                    <a:p>
                      <a:pPr algn="l"/>
                      <a:r>
                        <a:rPr lang="en-US" dirty="0">
                          <a:latin typeface="Times New Roman" pitchFamily="18" charset="0"/>
                          <a:cs typeface="Times New Roman" pitchFamily="18" charset="0"/>
                        </a:rPr>
                        <a:t>Patients requiring intensive monitoring and may potentially need immediate intervention.</a:t>
                      </a:r>
                    </a:p>
                  </a:txBody>
                  <a:tcPr marL="47625" marR="47625" marT="47625" marB="47625"/>
                </a:tc>
                <a:extLst>
                  <a:ext uri="{0D108BD9-81ED-4DB2-BD59-A6C34878D82A}">
                    <a16:rowId xmlns:a16="http://schemas.microsoft.com/office/drawing/2014/main" val="10002"/>
                  </a:ext>
                </a:extLst>
              </a:tr>
              <a:tr h="655474">
                <a:tc>
                  <a:txBody>
                    <a:bodyPr/>
                    <a:lstStyle/>
                    <a:p>
                      <a:pPr algn="l"/>
                      <a:r>
                        <a:rPr lang="en-US" dirty="0">
                          <a:latin typeface="Times New Roman" pitchFamily="18" charset="0"/>
                          <a:cs typeface="Times New Roman" pitchFamily="18" charset="0"/>
                        </a:rPr>
                        <a:t>Priority 3</a:t>
                      </a:r>
                    </a:p>
                  </a:txBody>
                  <a:tcPr marL="47625" marR="47625" marT="47625" marB="47625"/>
                </a:tc>
                <a:tc>
                  <a:txBody>
                    <a:bodyPr/>
                    <a:lstStyle/>
                    <a:p>
                      <a:pPr algn="l"/>
                      <a:r>
                        <a:rPr lang="en-US" dirty="0">
                          <a:latin typeface="Times New Roman" pitchFamily="18" charset="0"/>
                          <a:cs typeface="Times New Roman" pitchFamily="18" charset="0"/>
                        </a:rPr>
                        <a:t>Unstable critically ill patients but have a </a:t>
                      </a:r>
                      <a:r>
                        <a:rPr lang="en-US" dirty="0">
                          <a:solidFill>
                            <a:srgbClr val="FF0000"/>
                          </a:solidFill>
                          <a:latin typeface="Times New Roman" pitchFamily="18" charset="0"/>
                          <a:cs typeface="Times New Roman" pitchFamily="18" charset="0"/>
                        </a:rPr>
                        <a:t>reduced likelihood of recovery </a:t>
                      </a:r>
                      <a:r>
                        <a:rPr lang="en-US" dirty="0">
                          <a:latin typeface="Times New Roman" pitchFamily="18" charset="0"/>
                          <a:cs typeface="Times New Roman" pitchFamily="18" charset="0"/>
                        </a:rPr>
                        <a:t>because of underlying disease or nature of their acute illness.</a:t>
                      </a:r>
                    </a:p>
                  </a:txBody>
                  <a:tcPr marL="47625" marR="47625" marT="47625" marB="47625"/>
                </a:tc>
                <a:extLst>
                  <a:ext uri="{0D108BD9-81ED-4DB2-BD59-A6C34878D82A}">
                    <a16:rowId xmlns:a16="http://schemas.microsoft.com/office/drawing/2014/main" val="10003"/>
                  </a:ext>
                </a:extLst>
              </a:tr>
              <a:tr h="934730">
                <a:tc rowSpan="2">
                  <a:txBody>
                    <a:bodyPr/>
                    <a:lstStyle/>
                    <a:p>
                      <a:pPr algn="l"/>
                      <a:r>
                        <a:rPr lang="en-US" dirty="0">
                          <a:latin typeface="Times New Roman" pitchFamily="18" charset="0"/>
                          <a:cs typeface="Times New Roman" pitchFamily="18" charset="0"/>
                        </a:rPr>
                        <a:t>Priority 4</a:t>
                      </a:r>
                    </a:p>
                  </a:txBody>
                  <a:tcPr marL="47625" marR="47625" marT="47625" marB="47625"/>
                </a:tc>
                <a:tc>
                  <a:txBody>
                    <a:bodyPr/>
                    <a:lstStyle/>
                    <a:p>
                      <a:pPr algn="l"/>
                      <a:r>
                        <a:rPr lang="en-US" b="1" i="0" dirty="0">
                          <a:effectLst>
                            <a:outerShdw blurRad="38100" dist="38100" dir="2700000" algn="tl">
                              <a:srgbClr val="000000">
                                <a:alpha val="43137"/>
                              </a:srgbClr>
                            </a:outerShdw>
                          </a:effectLst>
                          <a:latin typeface="Times New Roman" pitchFamily="18" charset="0"/>
                          <a:cs typeface="Times New Roman" pitchFamily="18" charset="0"/>
                        </a:rPr>
                        <a:t>A.</a:t>
                      </a:r>
                      <a:r>
                        <a:rPr lang="en-US" baseline="0" dirty="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dirty="0">
                          <a:solidFill>
                            <a:srgbClr val="FF0000"/>
                          </a:solidFill>
                          <a:latin typeface="Times New Roman" pitchFamily="18" charset="0"/>
                          <a:cs typeface="Times New Roman" pitchFamily="18" charset="0"/>
                        </a:rPr>
                        <a:t>Little or no anticipated benefit from ICU </a:t>
                      </a:r>
                      <a:r>
                        <a:rPr lang="en-US" dirty="0">
                          <a:latin typeface="Times New Roman" pitchFamily="18" charset="0"/>
                          <a:cs typeface="Times New Roman" pitchFamily="18" charset="0"/>
                        </a:rPr>
                        <a:t>care based on low risk of active intervention that could not safely be administered in a non-ICU setting (too well to benefit from ICU care).</a:t>
                      </a:r>
                    </a:p>
                  </a:txBody>
                  <a:tcPr marL="47625" marR="47625" marT="47625" marB="47625"/>
                </a:tc>
                <a:extLst>
                  <a:ext uri="{0D108BD9-81ED-4DB2-BD59-A6C34878D82A}">
                    <a16:rowId xmlns:a16="http://schemas.microsoft.com/office/drawing/2014/main" val="10004"/>
                  </a:ext>
                </a:extLst>
              </a:tr>
              <a:tr h="655474">
                <a:tc vMerge="1">
                  <a:txBody>
                    <a:bodyPr/>
                    <a:lstStyle/>
                    <a:p>
                      <a:endParaRPr lang="en-US"/>
                    </a:p>
                  </a:txBody>
                  <a:tcPr/>
                </a:tc>
                <a:tc>
                  <a:txBody>
                    <a:bodyPr/>
                    <a:lstStyle/>
                    <a:p>
                      <a:pPr algn="l"/>
                      <a:r>
                        <a:rPr lang="en-US" b="1" dirty="0">
                          <a:latin typeface="Times New Roman" pitchFamily="18" charset="0"/>
                          <a:cs typeface="Times New Roman" pitchFamily="18" charset="0"/>
                        </a:rPr>
                        <a:t>B.</a:t>
                      </a:r>
                      <a:r>
                        <a:rPr lang="en-US" baseline="0" dirty="0">
                          <a:latin typeface="Times New Roman" pitchFamily="18" charset="0"/>
                          <a:cs typeface="Times New Roman" pitchFamily="18" charset="0"/>
                        </a:rPr>
                        <a:t> </a:t>
                      </a:r>
                      <a:r>
                        <a:rPr lang="en-US" dirty="0">
                          <a:solidFill>
                            <a:srgbClr val="FF0000"/>
                          </a:solidFill>
                          <a:latin typeface="Times New Roman" pitchFamily="18" charset="0"/>
                          <a:cs typeface="Times New Roman" pitchFamily="18" charset="0"/>
                        </a:rPr>
                        <a:t>Patients with terminal and irreversible illness </a:t>
                      </a:r>
                      <a:r>
                        <a:rPr lang="en-US" dirty="0">
                          <a:latin typeface="Times New Roman" pitchFamily="18" charset="0"/>
                          <a:cs typeface="Times New Roman" pitchFamily="18" charset="0"/>
                        </a:rPr>
                        <a:t>facing imminent death (too sick to benefit from ICU care).</a:t>
                      </a:r>
                    </a:p>
                  </a:txBody>
                  <a:tcPr marL="47625" marR="47625" marT="47625" marB="47625"/>
                </a:tc>
                <a:extLst>
                  <a:ext uri="{0D108BD9-81ED-4DB2-BD59-A6C34878D82A}">
                    <a16:rowId xmlns:a16="http://schemas.microsoft.com/office/drawing/2014/main" val="10005"/>
                  </a:ext>
                </a:extLst>
              </a:tr>
            </a:tbl>
          </a:graphicData>
        </a:graphic>
      </p:graphicFrame>
      <p:sp>
        <p:nvSpPr>
          <p:cNvPr id="6" name="Rectangle 5"/>
          <p:cNvSpPr/>
          <p:nvPr/>
        </p:nvSpPr>
        <p:spPr>
          <a:xfrm>
            <a:off x="609600" y="5791200"/>
            <a:ext cx="8534400" cy="646331"/>
          </a:xfrm>
          <a:prstGeom prst="rect">
            <a:avLst/>
          </a:prstGeom>
        </p:spPr>
        <p:txBody>
          <a:bodyPr wrap="square">
            <a:spAutoFit/>
          </a:bodyPr>
          <a:lstStyle/>
          <a:p>
            <a:r>
              <a:rPr lang="en-US" dirty="0">
                <a:latin typeface="Agency FB" pitchFamily="34" charset="0"/>
              </a:rPr>
              <a:t>Adapted from Task Force of the American College of Critical Care Medicine, Society of Critical Care Medicine. (1999). Guidelines for intensive care unit admission, discharge, and triage. Critical Care Medicine, 27(3), 633–8.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Algerian" pitchFamily="82" charset="0"/>
              <a:buChar char="@"/>
            </a:pPr>
            <a:r>
              <a:rPr lang="en-US" sz="3200" dirty="0">
                <a:latin typeface="Agency FB" pitchFamily="34" charset="0"/>
              </a:rPr>
              <a:t>Prioritization Model</a:t>
            </a:r>
            <a:r>
              <a:rPr lang="en-US" sz="3200" b="1" dirty="0">
                <a:latin typeface="Lucida Calligraphy" pitchFamily="66" charset="0"/>
              </a:rPr>
              <a:t>…</a:t>
            </a:r>
            <a:endParaRPr lang="en-US" sz="3200" dirty="0">
              <a:latin typeface="Lucida Calligraphy" pitchFamily="66" charset="0"/>
            </a:endParaRPr>
          </a:p>
        </p:txBody>
      </p:sp>
      <p:sp>
        <p:nvSpPr>
          <p:cNvPr id="3" name="Content Placeholder 2"/>
          <p:cNvSpPr>
            <a:spLocks noGrp="1"/>
          </p:cNvSpPr>
          <p:nvPr>
            <p:ph idx="1"/>
          </p:nvPr>
        </p:nvSpPr>
        <p:spPr>
          <a:xfrm>
            <a:off x="457200" y="1219200"/>
            <a:ext cx="8458200" cy="4906963"/>
          </a:xfrm>
        </p:spPr>
        <p:txBody>
          <a:bodyPr>
            <a:normAutofit/>
          </a:bodyPr>
          <a:lstStyle/>
          <a:p>
            <a:pPr>
              <a:buClr>
                <a:srgbClr val="C00000"/>
              </a:buClr>
              <a:buFont typeface="Symbol" pitchFamily="18" charset="2"/>
              <a:buChar char=""/>
            </a:pPr>
            <a:r>
              <a:rPr lang="en-US" dirty="0">
                <a:effectLst>
                  <a:outerShdw blurRad="38100" dist="38100" dir="2700000" algn="tl">
                    <a:srgbClr val="000000">
                      <a:alpha val="43137"/>
                    </a:srgbClr>
                  </a:outerShdw>
                </a:effectLst>
                <a:latin typeface="Times New Roman" pitchFamily="18" charset="0"/>
                <a:cs typeface="Times New Roman" pitchFamily="18" charset="0"/>
              </a:rPr>
              <a:t>Priority 1</a:t>
            </a:r>
          </a:p>
          <a:p>
            <a:pPr>
              <a:buFont typeface="Symbol" pitchFamily="18" charset="2"/>
              <a:buChar char="§"/>
            </a:pPr>
            <a:r>
              <a:rPr lang="en-US" sz="2200" dirty="0">
                <a:latin typeface="Times New Roman" pitchFamily="18" charset="0"/>
                <a:cs typeface="Times New Roman" pitchFamily="18" charset="0"/>
              </a:rPr>
              <a:t>critically ill, unstable patients</a:t>
            </a:r>
          </a:p>
          <a:p>
            <a:pPr>
              <a:buFont typeface="Symbol" pitchFamily="18" charset="2"/>
              <a:buChar char="§"/>
            </a:pPr>
            <a:r>
              <a:rPr lang="en-US" sz="2200" dirty="0">
                <a:latin typeface="Times New Roman" pitchFamily="18" charset="0"/>
                <a:cs typeface="Times New Roman" pitchFamily="18" charset="0"/>
              </a:rPr>
              <a:t>require intensive treatment and monitoring that cannot be provided elsewhere; which includes</a:t>
            </a:r>
          </a:p>
          <a:p>
            <a:pPr lvl="1" algn="just"/>
            <a:r>
              <a:rPr lang="en-US" sz="1800" dirty="0">
                <a:latin typeface="Times New Roman" pitchFamily="18" charset="0"/>
                <a:cs typeface="Times New Roman" pitchFamily="18" charset="0"/>
              </a:rPr>
              <a:t>ventilator support</a:t>
            </a:r>
          </a:p>
          <a:p>
            <a:pPr lvl="1" algn="just"/>
            <a:r>
              <a:rPr lang="en-US" sz="1800" dirty="0">
                <a:latin typeface="Times New Roman" pitchFamily="18" charset="0"/>
                <a:cs typeface="Times New Roman" pitchFamily="18" charset="0"/>
              </a:rPr>
              <a:t>continuous </a:t>
            </a:r>
            <a:r>
              <a:rPr lang="en-US" sz="1800" dirty="0" err="1">
                <a:latin typeface="Times New Roman" pitchFamily="18" charset="0"/>
                <a:cs typeface="Times New Roman" pitchFamily="18" charset="0"/>
              </a:rPr>
              <a:t>vasoactive</a:t>
            </a:r>
            <a:r>
              <a:rPr lang="en-US" sz="1800" dirty="0">
                <a:latin typeface="Times New Roman" pitchFamily="18" charset="0"/>
                <a:cs typeface="Times New Roman" pitchFamily="18" charset="0"/>
              </a:rPr>
              <a:t> drug infusions</a:t>
            </a:r>
          </a:p>
          <a:p>
            <a:pPr lvl="1" algn="just"/>
            <a:r>
              <a:rPr lang="en-US" sz="1800" dirty="0">
                <a:latin typeface="Times New Roman" pitchFamily="18" charset="0"/>
                <a:cs typeface="Times New Roman" pitchFamily="18" charset="0"/>
              </a:rPr>
              <a:t>mechanical circulatory support</a:t>
            </a:r>
          </a:p>
          <a:p>
            <a:pPr lvl="1" algn="just"/>
            <a:r>
              <a:rPr lang="en-US" sz="1800" dirty="0">
                <a:latin typeface="Times New Roman" pitchFamily="18" charset="0"/>
                <a:cs typeface="Times New Roman" pitchFamily="18" charset="0"/>
              </a:rPr>
              <a:t>no limits placed on therapy</a:t>
            </a:r>
          </a:p>
          <a:p>
            <a:pPr lvl="1" algn="just"/>
            <a:r>
              <a:rPr lang="en-US" sz="1800" dirty="0">
                <a:solidFill>
                  <a:srgbClr val="FF0000"/>
                </a:solidFill>
                <a:latin typeface="Times New Roman" pitchFamily="18" charset="0"/>
                <a:cs typeface="Times New Roman" pitchFamily="18" charset="0"/>
              </a:rPr>
              <a:t>high likelihood of benefit</a:t>
            </a:r>
          </a:p>
          <a:p>
            <a:pPr marL="0" indent="0">
              <a:buFont typeface="Wingdings" pitchFamily="2" charset="2"/>
              <a:buChar char="q"/>
            </a:pPr>
            <a:r>
              <a:rPr lang="en-US" sz="2000" dirty="0">
                <a:latin typeface="Times New Roman" pitchFamily="18" charset="0"/>
                <a:cs typeface="Times New Roman" pitchFamily="18" charset="0"/>
              </a:rPr>
              <a:t>Examples of these patients may include post-operative or acute respiratory failure patients requiring mechanical ventilatory support and shock or hemodynamically unstable patients receiving invasive monitoring and/or vasoactive drugs</a:t>
            </a:r>
          </a:p>
        </p:txBody>
      </p:sp>
    </p:spTree>
    <p:extLst>
      <p:ext uri="{BB962C8B-B14F-4D97-AF65-F5344CB8AC3E}">
        <p14:creationId xmlns:p14="http://schemas.microsoft.com/office/powerpoint/2010/main" val="167828386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Agency FB" pitchFamily="34" charset="0"/>
              </a:rPr>
              <a:t>Prioritization Model…</a:t>
            </a:r>
          </a:p>
        </p:txBody>
      </p:sp>
      <p:sp>
        <p:nvSpPr>
          <p:cNvPr id="3" name="Content Placeholder 2"/>
          <p:cNvSpPr>
            <a:spLocks noGrp="1"/>
          </p:cNvSpPr>
          <p:nvPr>
            <p:ph idx="1"/>
          </p:nvPr>
        </p:nvSpPr>
        <p:spPr>
          <a:xfrm>
            <a:off x="457200" y="1600200"/>
            <a:ext cx="8458200" cy="4525963"/>
          </a:xfrm>
        </p:spPr>
        <p:txBody>
          <a:bodyPr/>
          <a:lstStyle/>
          <a:p>
            <a:pPr>
              <a:buClr>
                <a:srgbClr val="C00000"/>
              </a:buClr>
              <a:buFont typeface="Symbol" pitchFamily="18" charset="2"/>
              <a:buChar char=""/>
            </a:pPr>
            <a:r>
              <a:rPr lang="en-US" dirty="0">
                <a:effectLst>
                  <a:outerShdw blurRad="38100" dist="38100" dir="2700000" algn="tl">
                    <a:srgbClr val="000000">
                      <a:alpha val="43137"/>
                    </a:srgbClr>
                  </a:outerShdw>
                </a:effectLst>
                <a:latin typeface="Times New Roman" pitchFamily="18" charset="0"/>
                <a:cs typeface="Times New Roman" pitchFamily="18" charset="0"/>
              </a:rPr>
              <a:t>Priority 2</a:t>
            </a:r>
          </a:p>
          <a:p>
            <a:pPr lvl="1">
              <a:buFont typeface="Symbol" pitchFamily="18" charset="2"/>
              <a:buChar char="§"/>
            </a:pPr>
            <a:r>
              <a:rPr lang="en-US" sz="2400" dirty="0">
                <a:latin typeface="Times New Roman" pitchFamily="18" charset="0"/>
                <a:cs typeface="Times New Roman" pitchFamily="18" charset="0"/>
              </a:rPr>
              <a:t>Require intensive monitoring</a:t>
            </a:r>
          </a:p>
          <a:p>
            <a:pPr lvl="1">
              <a:buFont typeface="Symbol" pitchFamily="18" charset="2"/>
              <a:buChar char="§"/>
            </a:pPr>
            <a:r>
              <a:rPr lang="en-US" sz="2400" dirty="0">
                <a:latin typeface="Times New Roman" pitchFamily="18" charset="0"/>
                <a:cs typeface="Times New Roman" pitchFamily="18" charset="0"/>
              </a:rPr>
              <a:t>May potentially need immediate intervention</a:t>
            </a:r>
          </a:p>
          <a:p>
            <a:pPr lvl="1">
              <a:buFont typeface="Symbol" pitchFamily="18" charset="2"/>
              <a:buChar char="§"/>
            </a:pPr>
            <a:r>
              <a:rPr lang="en-US" sz="2400" dirty="0">
                <a:latin typeface="Times New Roman" pitchFamily="18" charset="0"/>
                <a:cs typeface="Times New Roman" pitchFamily="18" charset="0"/>
              </a:rPr>
              <a:t>No therapeutic limits</a:t>
            </a:r>
          </a:p>
          <a:p>
            <a:pPr lvl="1">
              <a:buFont typeface="Wingdings" pitchFamily="2" charset="2"/>
              <a:buChar char="ü"/>
            </a:pPr>
            <a:r>
              <a:rPr lang="en-US" sz="2400" dirty="0">
                <a:latin typeface="Times New Roman" pitchFamily="18" charset="0"/>
                <a:cs typeface="Times New Roman" pitchFamily="18" charset="0"/>
              </a:rPr>
              <a:t>Examples include patients with chronic comorbid conditions who develop acute severe medical or surgical illness. </a:t>
            </a:r>
          </a:p>
          <a:p>
            <a:pPr lvl="1">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702293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Agency FB" pitchFamily="34" charset="0"/>
              </a:rPr>
              <a:t>Prioritization Model…</a:t>
            </a:r>
            <a:endParaRPr lang="en-US" sz="4000" dirty="0">
              <a:latin typeface="Lucida Calligraphy" pitchFamily="66" charset="0"/>
            </a:endParaRPr>
          </a:p>
        </p:txBody>
      </p:sp>
      <p:sp>
        <p:nvSpPr>
          <p:cNvPr id="3" name="Content Placeholder 2"/>
          <p:cNvSpPr>
            <a:spLocks noGrp="1"/>
          </p:cNvSpPr>
          <p:nvPr>
            <p:ph idx="1"/>
          </p:nvPr>
        </p:nvSpPr>
        <p:spPr/>
        <p:txBody>
          <a:bodyPr>
            <a:normAutofit/>
          </a:bodyPr>
          <a:lstStyle/>
          <a:p>
            <a:pPr>
              <a:buClr>
                <a:srgbClr val="FF0000"/>
              </a:buClr>
              <a:buFont typeface="Symbol" pitchFamily="18" charset="2"/>
              <a:buChar char="ª"/>
            </a:pPr>
            <a:r>
              <a:rPr lang="en-US" dirty="0">
                <a:effectLst>
                  <a:outerShdw blurRad="38100" dist="38100" dir="2700000" algn="tl">
                    <a:srgbClr val="000000">
                      <a:alpha val="43137"/>
                    </a:srgbClr>
                  </a:outerShdw>
                </a:effectLst>
                <a:latin typeface="Times New Roman" pitchFamily="18" charset="0"/>
                <a:cs typeface="Times New Roman" pitchFamily="18" charset="0"/>
              </a:rPr>
              <a:t>Priority 3</a:t>
            </a:r>
          </a:p>
          <a:p>
            <a:pPr lvl="1">
              <a:buClr>
                <a:schemeClr val="tx1"/>
              </a:buClr>
              <a:buFont typeface="Symbol" pitchFamily="18" charset="2"/>
              <a:buChar char="§"/>
            </a:pPr>
            <a:r>
              <a:rPr lang="en-US" sz="2200" dirty="0">
                <a:solidFill>
                  <a:srgbClr val="FF0000"/>
                </a:solidFill>
                <a:latin typeface="Times New Roman" pitchFamily="18" charset="0"/>
                <a:cs typeface="Times New Roman" pitchFamily="18" charset="0"/>
              </a:rPr>
              <a:t>These unstable patients are critically ill but have a reduced likelihood of recovery </a:t>
            </a:r>
            <a:r>
              <a:rPr lang="en-US" sz="2200" dirty="0">
                <a:latin typeface="Times New Roman" pitchFamily="18" charset="0"/>
                <a:cs typeface="Times New Roman" pitchFamily="18" charset="0"/>
              </a:rPr>
              <a:t>because of underlying disease  or nature of their acute illness</a:t>
            </a:r>
          </a:p>
          <a:p>
            <a:pPr lvl="1">
              <a:buClr>
                <a:schemeClr val="tx1"/>
              </a:buClr>
              <a:buFont typeface="Symbol" pitchFamily="18" charset="2"/>
              <a:buChar char="§"/>
            </a:pPr>
            <a:r>
              <a:rPr lang="en-US" sz="2200" dirty="0">
                <a:latin typeface="Times New Roman" pitchFamily="18" charset="0"/>
                <a:cs typeface="Times New Roman" pitchFamily="18" charset="0"/>
              </a:rPr>
              <a:t>Reduced likelihood of recovery</a:t>
            </a:r>
          </a:p>
          <a:p>
            <a:pPr lvl="1">
              <a:buClr>
                <a:srgbClr val="FFFF00"/>
              </a:buClr>
              <a:buNone/>
            </a:pPr>
            <a:endParaRPr lang="en-US" sz="2200" dirty="0">
              <a:latin typeface="Times New Roman" pitchFamily="18" charset="0"/>
              <a:cs typeface="Times New Roman" pitchFamily="18" charset="0"/>
            </a:endParaRPr>
          </a:p>
          <a:p>
            <a:r>
              <a:rPr lang="en-US" sz="2400" dirty="0">
                <a:latin typeface="Times New Roman" pitchFamily="18" charset="0"/>
                <a:cs typeface="Times New Roman" pitchFamily="18" charset="0"/>
              </a:rPr>
              <a:t>Limits on therapeutic efforts may be set such as </a:t>
            </a:r>
            <a:r>
              <a:rPr lang="en-US" sz="2400" dirty="0">
                <a:solidFill>
                  <a:srgbClr val="FF0000"/>
                </a:solidFill>
                <a:latin typeface="Times New Roman" pitchFamily="18" charset="0"/>
                <a:cs typeface="Times New Roman" pitchFamily="18" charset="0"/>
              </a:rPr>
              <a:t>no intubation or cardiopulmonary resuscitation.  </a:t>
            </a:r>
          </a:p>
          <a:p>
            <a:pPr lvl="1"/>
            <a:r>
              <a:rPr lang="en-US" sz="2400" dirty="0">
                <a:latin typeface="Times New Roman" pitchFamily="18" charset="0"/>
                <a:cs typeface="Times New Roman" pitchFamily="18" charset="0"/>
              </a:rPr>
              <a:t>Examples include patients with </a:t>
            </a:r>
            <a:r>
              <a:rPr lang="en-US" sz="2400" dirty="0">
                <a:solidFill>
                  <a:srgbClr val="FF0000"/>
                </a:solidFill>
                <a:latin typeface="Times New Roman" pitchFamily="18" charset="0"/>
                <a:cs typeface="Times New Roman" pitchFamily="18" charset="0"/>
              </a:rPr>
              <a:t>metastatic malignancy complicated by infection, cardiac </a:t>
            </a:r>
            <a:r>
              <a:rPr lang="en-US" sz="2400" dirty="0" err="1">
                <a:solidFill>
                  <a:srgbClr val="FF0000"/>
                </a:solidFill>
                <a:latin typeface="Times New Roman" pitchFamily="18" charset="0"/>
                <a:cs typeface="Times New Roman" pitchFamily="18" charset="0"/>
              </a:rPr>
              <a:t>tamponade</a:t>
            </a:r>
            <a:r>
              <a:rPr lang="en-US" sz="2400" dirty="0">
                <a:solidFill>
                  <a:srgbClr val="FF0000"/>
                </a:solidFill>
                <a:latin typeface="Times New Roman" pitchFamily="18" charset="0"/>
                <a:cs typeface="Times New Roman" pitchFamily="18" charset="0"/>
              </a:rPr>
              <a:t>, or airway obstruction. </a:t>
            </a:r>
          </a:p>
        </p:txBody>
      </p:sp>
    </p:spTree>
    <p:extLst>
      <p:ext uri="{BB962C8B-B14F-4D97-AF65-F5344CB8AC3E}">
        <p14:creationId xmlns:p14="http://schemas.microsoft.com/office/powerpoint/2010/main" val="327850590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Agency FB" pitchFamily="34" charset="0"/>
              </a:rPr>
              <a:t>Prioritization Model…</a:t>
            </a:r>
            <a:endParaRPr lang="en-US" sz="4000" dirty="0">
              <a:latin typeface="Lucida Calligraphy" pitchFamily="66" charset="0"/>
            </a:endParaRPr>
          </a:p>
        </p:txBody>
      </p:sp>
      <p:sp>
        <p:nvSpPr>
          <p:cNvPr id="3" name="Content Placeholder 2"/>
          <p:cNvSpPr>
            <a:spLocks noGrp="1"/>
          </p:cNvSpPr>
          <p:nvPr>
            <p:ph idx="1"/>
          </p:nvPr>
        </p:nvSpPr>
        <p:spPr/>
        <p:txBody>
          <a:bodyPr>
            <a:normAutofit/>
          </a:bodyPr>
          <a:lstStyle/>
          <a:p>
            <a:pPr>
              <a:buClr>
                <a:srgbClr val="FF0000"/>
              </a:buClr>
              <a:buFont typeface="Symbol" pitchFamily="18" charset="2"/>
              <a:buChar char="ª"/>
            </a:pPr>
            <a:r>
              <a:rPr lang="en-US" sz="2800" dirty="0">
                <a:effectLst>
                  <a:outerShdw blurRad="38100" dist="38100" dir="2700000" algn="tl">
                    <a:srgbClr val="000000">
                      <a:alpha val="43137"/>
                    </a:srgbClr>
                  </a:outerShdw>
                </a:effectLst>
                <a:latin typeface="Times New Roman" pitchFamily="18" charset="0"/>
                <a:cs typeface="Times New Roman" pitchFamily="18" charset="0"/>
              </a:rPr>
              <a:t>Priority 4</a:t>
            </a:r>
          </a:p>
          <a:p>
            <a:pPr lvl="1">
              <a:buClr>
                <a:srgbClr val="FFFF00"/>
              </a:buClr>
              <a:buFont typeface="Symbol" pitchFamily="18" charset="2"/>
              <a:buChar char="§"/>
            </a:pPr>
            <a:r>
              <a:rPr lang="en-US" sz="2200" dirty="0">
                <a:latin typeface="Times New Roman" pitchFamily="18" charset="0"/>
                <a:cs typeface="Times New Roman" pitchFamily="18" charset="0"/>
              </a:rPr>
              <a:t>Generally not appropriate for ICU</a:t>
            </a:r>
          </a:p>
          <a:p>
            <a:pPr lvl="1">
              <a:buClr>
                <a:srgbClr val="FFFF00"/>
              </a:buClr>
              <a:buFont typeface="Symbol" pitchFamily="18" charset="2"/>
              <a:buChar char="§"/>
            </a:pPr>
            <a:r>
              <a:rPr lang="en-US" sz="2200" dirty="0">
                <a:latin typeface="Times New Roman" pitchFamily="18" charset="0"/>
                <a:cs typeface="Times New Roman" pitchFamily="18" charset="0"/>
              </a:rPr>
              <a:t>May admit on individual basis if unusual circumstances</a:t>
            </a:r>
          </a:p>
          <a:p>
            <a:pPr lvl="1">
              <a:buClr>
                <a:srgbClr val="FFFF00"/>
              </a:buClr>
              <a:buFont typeface="Symbol" pitchFamily="18" charset="2"/>
              <a:buChar char="§"/>
            </a:pPr>
            <a:r>
              <a:rPr lang="en-US" sz="2200" dirty="0">
                <a:solidFill>
                  <a:srgbClr val="FF0000"/>
                </a:solidFill>
                <a:latin typeface="Times New Roman" pitchFamily="18" charset="0"/>
                <a:cs typeface="Times New Roman" pitchFamily="18" charset="0"/>
              </a:rPr>
              <a:t>Too well for ICU</a:t>
            </a:r>
          </a:p>
          <a:p>
            <a:pPr lvl="2">
              <a:buClr>
                <a:srgbClr val="FFFF00"/>
              </a:buClr>
              <a:buFont typeface="Symbol" pitchFamily="18" charset="2"/>
              <a:buChar char="§"/>
            </a:pPr>
            <a:r>
              <a:rPr lang="en-US" sz="2200" dirty="0">
                <a:latin typeface="Times New Roman" pitchFamily="18" charset="0"/>
                <a:cs typeface="Times New Roman" pitchFamily="18" charset="0"/>
              </a:rPr>
              <a:t>mild CHF, stable DKA, conscious drug overdose, peripheral vascular surgery</a:t>
            </a:r>
          </a:p>
          <a:p>
            <a:pPr lvl="1">
              <a:buClr>
                <a:srgbClr val="FFFF00"/>
              </a:buClr>
              <a:buFont typeface="Symbol" pitchFamily="18" charset="2"/>
              <a:buChar char="§"/>
            </a:pPr>
            <a:r>
              <a:rPr lang="en-US" sz="2200" dirty="0">
                <a:solidFill>
                  <a:srgbClr val="FF0000"/>
                </a:solidFill>
                <a:latin typeface="Times New Roman" pitchFamily="18" charset="0"/>
                <a:cs typeface="Times New Roman" pitchFamily="18" charset="0"/>
              </a:rPr>
              <a:t>Too sick for ICU (terminal, irreversible</a:t>
            </a:r>
            <a:r>
              <a:rPr lang="en-US" sz="2200" dirty="0">
                <a:latin typeface="Times New Roman" pitchFamily="18" charset="0"/>
                <a:cs typeface="Times New Roman" pitchFamily="18" charset="0"/>
              </a:rPr>
              <a:t>)</a:t>
            </a:r>
          </a:p>
          <a:p>
            <a:pPr lvl="2">
              <a:buClr>
                <a:srgbClr val="FFFF00"/>
              </a:buClr>
              <a:buFont typeface="Symbol" pitchFamily="18" charset="2"/>
              <a:buChar char="§"/>
            </a:pPr>
            <a:r>
              <a:rPr lang="en-US" sz="2200" dirty="0">
                <a:latin typeface="Times New Roman" pitchFamily="18" charset="0"/>
                <a:cs typeface="Times New Roman" pitchFamily="18" charset="0"/>
              </a:rPr>
              <a:t>irreversible brain damage, irreversible multisystem failure, metastatic cancer unresponsive to chemotherapy</a:t>
            </a:r>
          </a:p>
          <a:p>
            <a:pPr>
              <a:buFont typeface="Symbol" pitchFamily="18" charset="2"/>
              <a:buChar char="§"/>
            </a:pPr>
            <a:endParaRPr lang="en-US" dirty="0"/>
          </a:p>
        </p:txBody>
      </p:sp>
    </p:spTree>
    <p:extLst>
      <p:ext uri="{BB962C8B-B14F-4D97-AF65-F5344CB8AC3E}">
        <p14:creationId xmlns:p14="http://schemas.microsoft.com/office/powerpoint/2010/main" val="204542741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510"/>
            <a:ext cx="8229600" cy="1143000"/>
          </a:xfrm>
        </p:spPr>
        <p:txBody>
          <a:bodyPr>
            <a:normAutofit/>
          </a:bodyPr>
          <a:lstStyle/>
          <a:p>
            <a:pPr marL="571500" indent="-571500"/>
            <a:r>
              <a:rPr lang="en-US" sz="3600" dirty="0">
                <a:latin typeface="Lucida Calligraphy" pitchFamily="66" charset="0"/>
              </a:rPr>
              <a:t>Cont…</a:t>
            </a:r>
          </a:p>
        </p:txBody>
      </p:sp>
      <p:sp>
        <p:nvSpPr>
          <p:cNvPr id="3" name="Content Placeholder 2"/>
          <p:cNvSpPr>
            <a:spLocks noGrp="1"/>
          </p:cNvSpPr>
          <p:nvPr>
            <p:ph idx="1"/>
          </p:nvPr>
        </p:nvSpPr>
        <p:spPr>
          <a:xfrm>
            <a:off x="457200" y="990600"/>
            <a:ext cx="8458200" cy="5486400"/>
          </a:xfrm>
        </p:spPr>
        <p:txBody>
          <a:bodyPr>
            <a:normAutofit fontScale="70000" lnSpcReduction="20000"/>
          </a:bodyPr>
          <a:lstStyle/>
          <a:p>
            <a:pPr>
              <a:buFont typeface="Wingdings" pitchFamily="2" charset="2"/>
              <a:buChar char="Ø"/>
            </a:pPr>
            <a:r>
              <a:rPr lang="en-US" sz="4500" b="1" dirty="0">
                <a:latin typeface="Times New Roman" pitchFamily="18" charset="0"/>
                <a:cs typeface="Times New Roman" pitchFamily="18" charset="0"/>
              </a:rPr>
              <a:t>Diagnosis Model</a:t>
            </a:r>
          </a:p>
          <a:p>
            <a:r>
              <a:rPr lang="en-US" dirty="0">
                <a:solidFill>
                  <a:srgbClr val="FF0000"/>
                </a:solidFill>
                <a:latin typeface="Times New Roman" pitchFamily="18" charset="0"/>
                <a:cs typeface="Times New Roman" pitchFamily="18" charset="0"/>
              </a:rPr>
              <a:t>Uses specific conditions or diseases to determine appropriateness of ICU  </a:t>
            </a:r>
          </a:p>
          <a:p>
            <a:pPr lvl="1">
              <a:buClr>
                <a:srgbClr val="FFFF00"/>
              </a:buClr>
              <a:buFont typeface="Symbol" pitchFamily="18" charset="2"/>
              <a:buChar char="§"/>
            </a:pPr>
            <a:endParaRPr lang="en-US" sz="2400" dirty="0">
              <a:latin typeface="Times New Roman" pitchFamily="18" charset="0"/>
              <a:cs typeface="Times New Roman" pitchFamily="18" charset="0"/>
            </a:endParaRPr>
          </a:p>
          <a:p>
            <a:pPr marL="457200" indent="-457200">
              <a:buAutoNum type="alphaUcPeriod"/>
            </a:pPr>
            <a:r>
              <a:rPr lang="en-US" sz="4500" b="1" dirty="0">
                <a:latin typeface="Times New Roman" pitchFamily="18" charset="0"/>
                <a:cs typeface="Times New Roman" pitchFamily="18" charset="0"/>
              </a:rPr>
              <a:t>Cardiac System   </a:t>
            </a:r>
          </a:p>
          <a:p>
            <a:pPr marL="457200" indent="-457200">
              <a:buNone/>
            </a:pPr>
            <a:r>
              <a:rPr lang="en-US" sz="2400" dirty="0">
                <a:latin typeface="Times New Roman" pitchFamily="18" charset="0"/>
                <a:cs typeface="Times New Roman" pitchFamily="18" charset="0"/>
              </a:rPr>
              <a:t>  1. </a:t>
            </a:r>
            <a:r>
              <a:rPr lang="en-US" sz="2900" dirty="0">
                <a:latin typeface="Times New Roman" pitchFamily="18" charset="0"/>
                <a:cs typeface="Times New Roman" pitchFamily="18" charset="0"/>
              </a:rPr>
              <a:t>Acute myocardial infarction with complications   \</a:t>
            </a:r>
          </a:p>
          <a:p>
            <a:pPr marL="457200" indent="-457200">
              <a:buNone/>
            </a:pPr>
            <a:r>
              <a:rPr lang="en-US" sz="2900" dirty="0">
                <a:latin typeface="Times New Roman" pitchFamily="18" charset="0"/>
                <a:cs typeface="Times New Roman" pitchFamily="18" charset="0"/>
              </a:rPr>
              <a:t> 2. </a:t>
            </a:r>
            <a:r>
              <a:rPr lang="en-US" sz="2900" dirty="0" err="1">
                <a:latin typeface="Times New Roman" pitchFamily="18" charset="0"/>
                <a:cs typeface="Times New Roman" pitchFamily="18" charset="0"/>
              </a:rPr>
              <a:t>Cardiogenic</a:t>
            </a:r>
            <a:r>
              <a:rPr lang="en-US" sz="2900" dirty="0">
                <a:latin typeface="Times New Roman" pitchFamily="18" charset="0"/>
                <a:cs typeface="Times New Roman" pitchFamily="18" charset="0"/>
              </a:rPr>
              <a:t> shock    </a:t>
            </a:r>
          </a:p>
          <a:p>
            <a:pPr marL="457200" indent="-457200">
              <a:buNone/>
            </a:pPr>
            <a:r>
              <a:rPr lang="en-US" sz="2900" dirty="0">
                <a:latin typeface="Times New Roman" pitchFamily="18" charset="0"/>
                <a:cs typeface="Times New Roman" pitchFamily="18" charset="0"/>
              </a:rPr>
              <a:t>3. Complex arrhythmias requiring close monitoring and intervention  </a:t>
            </a:r>
          </a:p>
          <a:p>
            <a:pPr marL="457200" indent="-457200">
              <a:buNone/>
            </a:pPr>
            <a:r>
              <a:rPr lang="en-US" sz="2900" dirty="0">
                <a:latin typeface="Times New Roman" pitchFamily="18" charset="0"/>
                <a:cs typeface="Times New Roman" pitchFamily="18" charset="0"/>
              </a:rPr>
              <a:t>4. Acute CHF with respiratory failure and/or requiring hemodynamic support  </a:t>
            </a:r>
          </a:p>
          <a:p>
            <a:pPr marL="457200" indent="-457200">
              <a:buNone/>
            </a:pPr>
            <a:r>
              <a:rPr lang="en-US" sz="2900" dirty="0">
                <a:latin typeface="Times New Roman" pitchFamily="18" charset="0"/>
                <a:cs typeface="Times New Roman" pitchFamily="18" charset="0"/>
              </a:rPr>
              <a:t>5. Hypertensive emergencies </a:t>
            </a:r>
          </a:p>
          <a:p>
            <a:pPr marL="457200" indent="-457200">
              <a:buNone/>
            </a:pPr>
            <a:r>
              <a:rPr lang="en-US" sz="2900" dirty="0">
                <a:latin typeface="Times New Roman" pitchFamily="18" charset="0"/>
                <a:cs typeface="Times New Roman" pitchFamily="18" charset="0"/>
              </a:rPr>
              <a:t> 6. Unstable angina, particularly with </a:t>
            </a:r>
            <a:r>
              <a:rPr lang="en-US" sz="2900" dirty="0" err="1">
                <a:latin typeface="Times New Roman" pitchFamily="18" charset="0"/>
                <a:cs typeface="Times New Roman" pitchFamily="18" charset="0"/>
              </a:rPr>
              <a:t>dysrhythmias</a:t>
            </a:r>
            <a:r>
              <a:rPr lang="en-US" sz="2900" dirty="0">
                <a:latin typeface="Times New Roman" pitchFamily="18" charset="0"/>
                <a:cs typeface="Times New Roman" pitchFamily="18" charset="0"/>
              </a:rPr>
              <a:t>, hemodynamic instability, or persistent chest pain  </a:t>
            </a:r>
          </a:p>
          <a:p>
            <a:pPr marL="457200" indent="-457200">
              <a:buNone/>
            </a:pPr>
            <a:r>
              <a:rPr lang="en-US" sz="2900" dirty="0">
                <a:latin typeface="Times New Roman" pitchFamily="18" charset="0"/>
                <a:cs typeface="Times New Roman" pitchFamily="18" charset="0"/>
              </a:rPr>
              <a:t>7. S/P cardiac arrest  </a:t>
            </a:r>
          </a:p>
          <a:p>
            <a:pPr marL="457200" indent="-457200">
              <a:buNone/>
            </a:pPr>
            <a:r>
              <a:rPr lang="en-US" sz="2900" dirty="0">
                <a:latin typeface="Times New Roman" pitchFamily="18" charset="0"/>
                <a:cs typeface="Times New Roman" pitchFamily="18" charset="0"/>
              </a:rPr>
              <a:t>8. Cardiac </a:t>
            </a:r>
            <a:r>
              <a:rPr lang="en-US" sz="2900" dirty="0" err="1">
                <a:latin typeface="Times New Roman" pitchFamily="18" charset="0"/>
                <a:cs typeface="Times New Roman" pitchFamily="18" charset="0"/>
              </a:rPr>
              <a:t>tamponade</a:t>
            </a:r>
            <a:r>
              <a:rPr lang="en-US" sz="2900" dirty="0">
                <a:latin typeface="Times New Roman" pitchFamily="18" charset="0"/>
                <a:cs typeface="Times New Roman" pitchFamily="18" charset="0"/>
              </a:rPr>
              <a:t> or constriction with hemodynamic instability </a:t>
            </a:r>
          </a:p>
          <a:p>
            <a:pPr marL="457200" indent="-457200">
              <a:buNone/>
            </a:pPr>
            <a:r>
              <a:rPr lang="en-US" sz="2900" dirty="0">
                <a:latin typeface="Times New Roman" pitchFamily="18" charset="0"/>
                <a:cs typeface="Times New Roman" pitchFamily="18" charset="0"/>
              </a:rPr>
              <a:t> 9. Dissecting aortic aneurysms </a:t>
            </a:r>
          </a:p>
          <a:p>
            <a:pPr marL="457200" indent="-457200">
              <a:buNone/>
            </a:pPr>
            <a:r>
              <a:rPr lang="en-US" sz="2900" dirty="0">
                <a:latin typeface="Times New Roman" pitchFamily="18" charset="0"/>
                <a:cs typeface="Times New Roman" pitchFamily="18" charset="0"/>
              </a:rPr>
              <a:t>10. Complete heart block </a:t>
            </a:r>
          </a:p>
          <a:p>
            <a:pPr>
              <a:buNone/>
            </a:pPr>
            <a:r>
              <a:rPr lang="en-US" sz="2900" dirty="0">
                <a:latin typeface="Times New Roman" pitchFamily="18" charset="0"/>
                <a:cs typeface="Times New Roman" pitchFamily="18" charset="0"/>
              </a:rPr>
              <a:t> </a:t>
            </a:r>
          </a:p>
        </p:txBody>
      </p:sp>
    </p:spTree>
    <p:extLst>
      <p:ext uri="{BB962C8B-B14F-4D97-AF65-F5344CB8AC3E}">
        <p14:creationId xmlns:p14="http://schemas.microsoft.com/office/powerpoint/2010/main" val="7870019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Lucida Calligraphy" pitchFamily="66" charset="0"/>
              </a:rPr>
              <a:t>Diagnosis Model…</a:t>
            </a:r>
            <a:br>
              <a:rPr lang="en-US" b="1" dirty="0">
                <a:latin typeface="Lucida Calligraphy" pitchFamily="66" charset="0"/>
              </a:rPr>
            </a:br>
            <a:endParaRPr lang="en-US" b="1" dirty="0"/>
          </a:p>
        </p:txBody>
      </p:sp>
      <p:sp>
        <p:nvSpPr>
          <p:cNvPr id="3" name="Content Placeholder 2"/>
          <p:cNvSpPr>
            <a:spLocks noGrp="1"/>
          </p:cNvSpPr>
          <p:nvPr>
            <p:ph idx="1"/>
          </p:nvPr>
        </p:nvSpPr>
        <p:spPr/>
        <p:txBody>
          <a:bodyPr>
            <a:normAutofit/>
          </a:bodyPr>
          <a:lstStyle/>
          <a:p>
            <a:pPr marL="0" indent="0">
              <a:buNone/>
            </a:pPr>
            <a:r>
              <a:rPr lang="en-US" sz="2400" b="1" dirty="0">
                <a:latin typeface="Times New Roman" pitchFamily="18" charset="0"/>
                <a:cs typeface="Times New Roman" pitchFamily="18" charset="0"/>
              </a:rPr>
              <a:t>B. Pulmonary System     </a:t>
            </a:r>
          </a:p>
          <a:p>
            <a:r>
              <a:rPr lang="en-US" sz="2400" dirty="0">
                <a:latin typeface="Times New Roman" pitchFamily="18" charset="0"/>
                <a:cs typeface="Times New Roman" pitchFamily="18" charset="0"/>
              </a:rPr>
              <a:t>1. Acute respiratory failure requiring ventilatory support  </a:t>
            </a:r>
          </a:p>
          <a:p>
            <a:r>
              <a:rPr lang="en-US" sz="2400" dirty="0">
                <a:latin typeface="Times New Roman" pitchFamily="18" charset="0"/>
                <a:cs typeface="Times New Roman" pitchFamily="18" charset="0"/>
              </a:rPr>
              <a:t>2. Pulmonary emboli with hemodynamic instability  </a:t>
            </a:r>
          </a:p>
          <a:p>
            <a:r>
              <a:rPr lang="en-US" sz="2400" dirty="0">
                <a:latin typeface="Times New Roman" pitchFamily="18" charset="0"/>
                <a:cs typeface="Times New Roman" pitchFamily="18" charset="0"/>
              </a:rPr>
              <a:t>3. Patients in an intermediate care unit who are demonstrating respiratory deterioration  </a:t>
            </a:r>
          </a:p>
          <a:p>
            <a:r>
              <a:rPr lang="en-US" sz="2400" dirty="0">
                <a:latin typeface="Times New Roman" pitchFamily="18" charset="0"/>
                <a:cs typeface="Times New Roman" pitchFamily="18" charset="0"/>
              </a:rPr>
              <a:t>4. Need for nursing/respiratory care not available in lesser care areas such as floor or intermediate care unit  </a:t>
            </a:r>
          </a:p>
          <a:p>
            <a:r>
              <a:rPr lang="en-US" sz="2400" dirty="0">
                <a:latin typeface="Times New Roman" pitchFamily="18" charset="0"/>
                <a:cs typeface="Times New Roman" pitchFamily="18" charset="0"/>
              </a:rPr>
              <a:t>5. Massive hemoptysis </a:t>
            </a:r>
          </a:p>
          <a:p>
            <a:r>
              <a:rPr lang="en-US" sz="2400" dirty="0">
                <a:latin typeface="Times New Roman" pitchFamily="18" charset="0"/>
                <a:cs typeface="Times New Roman" pitchFamily="18" charset="0"/>
              </a:rPr>
              <a:t> 6. Respiratory failure with imminent intubation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Lucida Calligraphy" pitchFamily="66" charset="0"/>
              </a:rPr>
              <a:t>Diagnosis Model…</a:t>
            </a:r>
            <a:br>
              <a:rPr lang="en-US" b="1" dirty="0">
                <a:latin typeface="Lucida Calligraphy" pitchFamily="66" charset="0"/>
              </a:rPr>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sz="3600" b="1" dirty="0">
                <a:latin typeface="Times New Roman" pitchFamily="18" charset="0"/>
                <a:cs typeface="Times New Roman" pitchFamily="18" charset="0"/>
              </a:rPr>
              <a:t>C. Neurologic Disorders  </a:t>
            </a:r>
          </a:p>
          <a:p>
            <a:pPr marL="0" indent="0">
              <a:buNone/>
            </a:pPr>
            <a:r>
              <a:rPr lang="en-US" dirty="0">
                <a:latin typeface="Times New Roman" pitchFamily="18" charset="0"/>
                <a:cs typeface="Times New Roman" pitchFamily="18" charset="0"/>
              </a:rPr>
              <a:t>1.Acute stroke with altered mental status </a:t>
            </a:r>
          </a:p>
          <a:p>
            <a:pPr marL="0" indent="0">
              <a:buNone/>
            </a:pPr>
            <a:r>
              <a:rPr lang="en-US" dirty="0">
                <a:latin typeface="Times New Roman" pitchFamily="18" charset="0"/>
                <a:cs typeface="Times New Roman" pitchFamily="18" charset="0"/>
              </a:rPr>
              <a:t> 2. Coma: metabolic, toxic, or anoxic  </a:t>
            </a:r>
          </a:p>
          <a:p>
            <a:pPr marL="0" indent="0">
              <a:buNone/>
            </a:pPr>
            <a:r>
              <a:rPr lang="en-US" dirty="0">
                <a:latin typeface="Times New Roman" pitchFamily="18" charset="0"/>
                <a:cs typeface="Times New Roman" pitchFamily="18" charset="0"/>
              </a:rPr>
              <a:t>3. Intracranial hemorrhage with potential for herniation </a:t>
            </a:r>
          </a:p>
          <a:p>
            <a:pPr marL="0" indent="0">
              <a:buNone/>
            </a:pPr>
            <a:r>
              <a:rPr lang="en-US" dirty="0">
                <a:latin typeface="Times New Roman" pitchFamily="18" charset="0"/>
                <a:cs typeface="Times New Roman" pitchFamily="18" charset="0"/>
              </a:rPr>
              <a:t>4. Acute subarachnoid hemorrhage  </a:t>
            </a:r>
          </a:p>
          <a:p>
            <a:pPr marL="0" indent="0">
              <a:buNone/>
            </a:pPr>
            <a:r>
              <a:rPr lang="en-US" dirty="0">
                <a:latin typeface="Times New Roman" pitchFamily="18" charset="0"/>
                <a:cs typeface="Times New Roman" pitchFamily="18" charset="0"/>
              </a:rPr>
              <a:t> 5. Meningitis with altered mental status or respiratory compromise  </a:t>
            </a:r>
          </a:p>
          <a:p>
            <a:pPr marL="0" indent="0">
              <a:buNone/>
            </a:pPr>
            <a:r>
              <a:rPr lang="en-US" dirty="0">
                <a:latin typeface="Times New Roman" pitchFamily="18" charset="0"/>
                <a:cs typeface="Times New Roman" pitchFamily="18" charset="0"/>
              </a:rPr>
              <a:t>6. Central nervous system or neuromuscular disorders with deteriorating neurologic or pulmonary function  </a:t>
            </a:r>
          </a:p>
          <a:p>
            <a:pPr marL="0" indent="0">
              <a:buNone/>
            </a:pPr>
            <a:r>
              <a:rPr lang="en-US" dirty="0">
                <a:latin typeface="Times New Roman" pitchFamily="18" charset="0"/>
                <a:cs typeface="Times New Roman" pitchFamily="18" charset="0"/>
              </a:rPr>
              <a:t>7. Status epilepticus  </a:t>
            </a:r>
          </a:p>
          <a:p>
            <a:pPr marL="0" indent="0">
              <a:buNone/>
            </a:pPr>
            <a:r>
              <a:rPr lang="en-US" dirty="0">
                <a:latin typeface="Times New Roman" pitchFamily="18" charset="0"/>
                <a:cs typeface="Times New Roman" pitchFamily="18" charset="0"/>
              </a:rPr>
              <a:t>8. Brain dead or potentially brain dead patients who are being aggressively managed while determining organ donation status </a:t>
            </a:r>
          </a:p>
          <a:p>
            <a:pPr marL="0" indent="0">
              <a:buNone/>
            </a:pPr>
            <a:r>
              <a:rPr lang="en-US" dirty="0">
                <a:latin typeface="Times New Roman" pitchFamily="18" charset="0"/>
                <a:cs typeface="Times New Roman" pitchFamily="18" charset="0"/>
              </a:rPr>
              <a:t> 9. Vasospasm</a:t>
            </a:r>
          </a:p>
          <a:p>
            <a:pPr marL="0" indent="0">
              <a:buNone/>
            </a:pPr>
            <a:r>
              <a:rPr lang="en-US" dirty="0">
                <a:latin typeface="Times New Roman" pitchFamily="18" charset="0"/>
                <a:cs typeface="Times New Roman" pitchFamily="18" charset="0"/>
              </a:rPr>
              <a:t> 10. Severe head injured patients </a:t>
            </a:r>
          </a:p>
          <a:p>
            <a:pPr marL="0" indent="0">
              <a:buNone/>
            </a:pPr>
            <a:endParaRPr lang="en-US"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Lucida Calligraphy" pitchFamily="66" charset="0"/>
              </a:rPr>
              <a:t>Diagnosis Model…</a:t>
            </a:r>
            <a:br>
              <a:rPr lang="en-US" b="1" dirty="0">
                <a:latin typeface="Lucida Calligraphy" pitchFamily="66" charset="0"/>
              </a:rPr>
            </a:br>
            <a:endParaRPr lang="en-US" dirty="0"/>
          </a:p>
        </p:txBody>
      </p:sp>
      <p:sp>
        <p:nvSpPr>
          <p:cNvPr id="3" name="Content Placeholder 2"/>
          <p:cNvSpPr>
            <a:spLocks noGrp="1"/>
          </p:cNvSpPr>
          <p:nvPr>
            <p:ph idx="1"/>
          </p:nvPr>
        </p:nvSpPr>
        <p:spPr>
          <a:xfrm>
            <a:off x="457200" y="1600200"/>
            <a:ext cx="8305800" cy="4525963"/>
          </a:xfrm>
        </p:spPr>
        <p:txBody>
          <a:bodyPr>
            <a:normAutofit fontScale="85000" lnSpcReduction="20000"/>
          </a:bodyPr>
          <a:lstStyle/>
          <a:p>
            <a:pPr marL="0" indent="0">
              <a:buNone/>
            </a:pPr>
            <a:r>
              <a:rPr lang="en-US" dirty="0">
                <a:latin typeface="Times New Roman" pitchFamily="18" charset="0"/>
                <a:cs typeface="Times New Roman" pitchFamily="18" charset="0"/>
              </a:rPr>
              <a:t>D. Drug Ingestion and Drug Overdose  </a:t>
            </a:r>
          </a:p>
          <a:p>
            <a:pPr marL="0" indent="0">
              <a:buNone/>
            </a:pPr>
            <a:r>
              <a:rPr lang="en-US" sz="2800" dirty="0">
                <a:latin typeface="Times New Roman" pitchFamily="18" charset="0"/>
                <a:cs typeface="Times New Roman" pitchFamily="18" charset="0"/>
              </a:rPr>
              <a:t>1.Hemodynamically unstable drug ingestion </a:t>
            </a:r>
          </a:p>
          <a:p>
            <a:pPr marL="0" indent="0">
              <a:buNone/>
            </a:pPr>
            <a:r>
              <a:rPr lang="en-US" sz="2800" dirty="0">
                <a:latin typeface="Times New Roman" pitchFamily="18" charset="0"/>
                <a:cs typeface="Times New Roman" pitchFamily="18" charset="0"/>
              </a:rPr>
              <a:t> 2. Drug ingestion with significantly altered mental status with inadequate airway protection  </a:t>
            </a:r>
          </a:p>
          <a:p>
            <a:pPr marL="0" indent="0">
              <a:buNone/>
            </a:pPr>
            <a:r>
              <a:rPr lang="en-US" sz="2800" dirty="0">
                <a:latin typeface="Times New Roman" pitchFamily="18" charset="0"/>
                <a:cs typeface="Times New Roman" pitchFamily="18" charset="0"/>
              </a:rPr>
              <a:t>3. Seizures following drug ingestion</a:t>
            </a:r>
          </a:p>
          <a:p>
            <a:pPr marL="0" indent="0">
              <a:buNone/>
            </a:pPr>
            <a:r>
              <a:rPr lang="en-US" sz="2800" dirty="0">
                <a:latin typeface="Times New Roman" pitchFamily="18" charset="0"/>
                <a:cs typeface="Times New Roman" pitchFamily="18" charset="0"/>
              </a:rPr>
              <a:t> </a:t>
            </a:r>
          </a:p>
          <a:p>
            <a:pPr marL="0" indent="0">
              <a:buNone/>
            </a:pPr>
            <a:r>
              <a:rPr lang="en-US" sz="3400" dirty="0">
                <a:latin typeface="Times New Roman" pitchFamily="18" charset="0"/>
                <a:cs typeface="Times New Roman" pitchFamily="18" charset="0"/>
              </a:rPr>
              <a:t>E. Gastrointestinal Disorders  </a:t>
            </a:r>
          </a:p>
          <a:p>
            <a:pPr marL="0" indent="0">
              <a:buNone/>
            </a:pPr>
            <a:r>
              <a:rPr lang="en-US" dirty="0">
                <a:latin typeface="Times New Roman" pitchFamily="18" charset="0"/>
                <a:cs typeface="Times New Roman" pitchFamily="18" charset="0"/>
              </a:rPr>
              <a:t>1. </a:t>
            </a:r>
            <a:r>
              <a:rPr lang="en-US" sz="2900" dirty="0">
                <a:latin typeface="Times New Roman" pitchFamily="18" charset="0"/>
                <a:cs typeface="Times New Roman" pitchFamily="18" charset="0"/>
              </a:rPr>
              <a:t>Life threatening GI bleeding including hypotension, angina, continued bleeding, or with comorbid conditions </a:t>
            </a:r>
          </a:p>
          <a:p>
            <a:pPr marL="0" indent="0">
              <a:buNone/>
            </a:pPr>
            <a:r>
              <a:rPr lang="en-US" sz="2900" dirty="0">
                <a:latin typeface="Times New Roman" pitchFamily="18" charset="0"/>
                <a:cs typeface="Times New Roman" pitchFamily="18" charset="0"/>
              </a:rPr>
              <a:t>2. Fulminant hepatic failure  </a:t>
            </a:r>
          </a:p>
          <a:p>
            <a:pPr marL="0" indent="0">
              <a:buNone/>
            </a:pPr>
            <a:r>
              <a:rPr lang="en-US" sz="2900" dirty="0">
                <a:latin typeface="Times New Roman" pitchFamily="18" charset="0"/>
                <a:cs typeface="Times New Roman" pitchFamily="18" charset="0"/>
              </a:rPr>
              <a:t>3. Severe pancreatitis  </a:t>
            </a:r>
          </a:p>
          <a:p>
            <a:pPr marL="0" indent="0">
              <a:buNone/>
            </a:pPr>
            <a:r>
              <a:rPr lang="en-US" sz="2900" dirty="0">
                <a:latin typeface="Times New Roman" pitchFamily="18" charset="0"/>
                <a:cs typeface="Times New Roman" pitchFamily="18" charset="0"/>
              </a:rPr>
              <a:t>4.  Esophageal perforation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Lucida Calligraphy" pitchFamily="66" charset="0"/>
              </a:rPr>
              <a:t>Diagnosis Model…</a:t>
            </a:r>
            <a:br>
              <a:rPr lang="en-US" b="1" dirty="0">
                <a:latin typeface="Lucida Calligraphy" pitchFamily="66" charset="0"/>
              </a:rPr>
            </a:b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sz="4500" dirty="0">
                <a:latin typeface="Times New Roman" pitchFamily="18" charset="0"/>
                <a:cs typeface="Times New Roman" pitchFamily="18" charset="0"/>
              </a:rPr>
              <a:t>F. Endocrine  </a:t>
            </a:r>
          </a:p>
          <a:p>
            <a:r>
              <a:rPr lang="en-US" dirty="0">
                <a:latin typeface="Times New Roman" pitchFamily="18" charset="0"/>
                <a:cs typeface="Times New Roman" pitchFamily="18" charset="0"/>
              </a:rPr>
              <a:t>1. Diabetic ketoacidosis complicated by hemodynamic instability, altered mental status, respiratory insufficiency, or severe acidosis  </a:t>
            </a:r>
          </a:p>
          <a:p>
            <a:r>
              <a:rPr lang="en-US" dirty="0">
                <a:latin typeface="Times New Roman" pitchFamily="18" charset="0"/>
                <a:cs typeface="Times New Roman" pitchFamily="18" charset="0"/>
              </a:rPr>
              <a:t>2. Thyroid storm or myxedema coma with hemodynamic instability </a:t>
            </a:r>
          </a:p>
          <a:p>
            <a:r>
              <a:rPr lang="en-US" dirty="0">
                <a:latin typeface="Times New Roman" pitchFamily="18" charset="0"/>
                <a:cs typeface="Times New Roman" pitchFamily="18" charset="0"/>
              </a:rPr>
              <a:t> 3. Hyperosmolar state with coma and/or hemodynamic instability </a:t>
            </a:r>
          </a:p>
          <a:p>
            <a:r>
              <a:rPr lang="en-US" dirty="0">
                <a:latin typeface="Times New Roman" pitchFamily="18" charset="0"/>
                <a:cs typeface="Times New Roman" pitchFamily="18" charset="0"/>
              </a:rPr>
              <a:t> 4. Other endocrine problems such as adrenal crises with hemodynamic instability  </a:t>
            </a:r>
          </a:p>
          <a:p>
            <a:r>
              <a:rPr lang="en-US" dirty="0">
                <a:latin typeface="Times New Roman" pitchFamily="18" charset="0"/>
                <a:cs typeface="Times New Roman" pitchFamily="18" charset="0"/>
              </a:rPr>
              <a:t>5. Severe hypercalcemia with altered mental status, requiring hemodynamic monitoring  </a:t>
            </a:r>
          </a:p>
          <a:p>
            <a:r>
              <a:rPr lang="en-US" dirty="0">
                <a:latin typeface="Times New Roman" pitchFamily="18" charset="0"/>
                <a:cs typeface="Times New Roman" pitchFamily="18" charset="0"/>
              </a:rPr>
              <a:t>6. Hypo or hypernatremia with seizures, altered mental status  </a:t>
            </a:r>
          </a:p>
          <a:p>
            <a:r>
              <a:rPr lang="en-US" dirty="0">
                <a:latin typeface="Times New Roman" pitchFamily="18" charset="0"/>
                <a:cs typeface="Times New Roman" pitchFamily="18" charset="0"/>
              </a:rPr>
              <a:t>7. Hypo or hypermagnesemia with hemodynamic compromise or dysrhythmias </a:t>
            </a:r>
          </a:p>
          <a:p>
            <a:r>
              <a:rPr lang="en-US" dirty="0">
                <a:latin typeface="Times New Roman" pitchFamily="18" charset="0"/>
                <a:cs typeface="Times New Roman" pitchFamily="18" charset="0"/>
              </a:rPr>
              <a:t> 8. Hypo or hyperkalemia with dysrhythmias or muscular weakness  </a:t>
            </a:r>
          </a:p>
          <a:p>
            <a:r>
              <a:rPr lang="en-US" dirty="0">
                <a:latin typeface="Times New Roman" pitchFamily="18" charset="0"/>
                <a:cs typeface="Times New Roman" pitchFamily="18" charset="0"/>
              </a:rPr>
              <a:t>9. Hypophosphatemia with muscular weakness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Lucida Calligraphy" pitchFamily="66" charset="0"/>
              </a:rPr>
              <a:t>Diagnosis Model…</a:t>
            </a:r>
            <a:br>
              <a:rPr lang="en-US" b="1" dirty="0">
                <a:latin typeface="Lucida Calligraphy" pitchFamily="66" charset="0"/>
              </a:rPr>
            </a:br>
            <a:endParaRPr lang="en-US" dirty="0"/>
          </a:p>
        </p:txBody>
      </p:sp>
      <p:sp>
        <p:nvSpPr>
          <p:cNvPr id="3" name="Content Placeholder 2"/>
          <p:cNvSpPr>
            <a:spLocks noGrp="1"/>
          </p:cNvSpPr>
          <p:nvPr>
            <p:ph idx="1"/>
          </p:nvPr>
        </p:nvSpPr>
        <p:spPr>
          <a:xfrm>
            <a:off x="228600" y="1371600"/>
            <a:ext cx="8686800" cy="4754563"/>
          </a:xfrm>
        </p:spPr>
        <p:txBody>
          <a:bodyPr>
            <a:normAutofit fontScale="92500"/>
          </a:bodyPr>
          <a:lstStyle/>
          <a:p>
            <a:pPr marL="0" indent="0">
              <a:buNone/>
            </a:pPr>
            <a:r>
              <a:rPr lang="en-US" dirty="0">
                <a:latin typeface="Times New Roman" pitchFamily="18" charset="0"/>
                <a:cs typeface="Times New Roman" pitchFamily="18" charset="0"/>
              </a:rPr>
              <a:t>G. Surgical</a:t>
            </a:r>
          </a:p>
          <a:p>
            <a:pPr>
              <a:buFont typeface="Wingdings" pitchFamily="2" charset="2"/>
              <a:buChar char="§"/>
            </a:pPr>
            <a:r>
              <a:rPr lang="en-US" sz="2600" dirty="0">
                <a:latin typeface="Times New Roman" pitchFamily="18" charset="0"/>
                <a:cs typeface="Times New Roman" pitchFamily="18" charset="0"/>
              </a:rPr>
              <a:t>  Post-operative pts. requiring hemodynamic monitoring/ventilatory support or extensive nursing care </a:t>
            </a:r>
          </a:p>
          <a:p>
            <a:pPr marL="0" indent="0">
              <a:buNone/>
            </a:pP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H. Miscellaneous  </a:t>
            </a:r>
          </a:p>
          <a:p>
            <a:r>
              <a:rPr lang="en-US" dirty="0">
                <a:latin typeface="Times New Roman" pitchFamily="18" charset="0"/>
                <a:cs typeface="Times New Roman" pitchFamily="18" charset="0"/>
              </a:rPr>
              <a:t>1. </a:t>
            </a:r>
            <a:r>
              <a:rPr lang="en-US" sz="2400" dirty="0">
                <a:latin typeface="Times New Roman" pitchFamily="18" charset="0"/>
                <a:cs typeface="Times New Roman" pitchFamily="18" charset="0"/>
              </a:rPr>
              <a:t>Septic shock with hemodynamic instability </a:t>
            </a:r>
          </a:p>
          <a:p>
            <a:r>
              <a:rPr lang="en-US" sz="2400" dirty="0">
                <a:latin typeface="Times New Roman" pitchFamily="18" charset="0"/>
                <a:cs typeface="Times New Roman" pitchFamily="18" charset="0"/>
              </a:rPr>
              <a:t> 2. Hemodynamic monitoring  </a:t>
            </a:r>
          </a:p>
          <a:p>
            <a:r>
              <a:rPr lang="en-US" sz="2400" dirty="0">
                <a:latin typeface="Times New Roman" pitchFamily="18" charset="0"/>
                <a:cs typeface="Times New Roman" pitchFamily="18" charset="0"/>
              </a:rPr>
              <a:t>3. Clinical conditions requiring ICU level nursing care  </a:t>
            </a:r>
          </a:p>
          <a:p>
            <a:r>
              <a:rPr lang="en-US" sz="2400" dirty="0">
                <a:latin typeface="Times New Roman" pitchFamily="18" charset="0"/>
                <a:cs typeface="Times New Roman" pitchFamily="18" charset="0"/>
              </a:rPr>
              <a:t>4. Environmental injuries (lightning, near drowning, hypo/hyperthermia)  </a:t>
            </a:r>
          </a:p>
          <a:p>
            <a:r>
              <a:rPr lang="en-US" sz="2400" dirty="0">
                <a:latin typeface="Times New Roman" pitchFamily="18" charset="0"/>
                <a:cs typeface="Times New Roman" pitchFamily="18" charset="0"/>
              </a:rPr>
              <a:t>5. New/experimental therapies with potential for complications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Clr>
                <a:srgbClr val="FF0000"/>
              </a:buClr>
              <a:buFont typeface="Wingdings" pitchFamily="2" charset="2"/>
              <a:buChar char="Ø"/>
            </a:pPr>
            <a:r>
              <a:rPr lang="en-US" b="1" dirty="0">
                <a:latin typeface="Lucida Calligraphy" pitchFamily="66" charset="0"/>
              </a:rPr>
              <a:t>Objectives Parameters Model</a:t>
            </a:r>
            <a:endParaRPr lang="en-US" b="1" u="sng" dirty="0">
              <a:effectLst>
                <a:outerShdw blurRad="38100" dist="38100" dir="2700000" algn="tl">
                  <a:srgbClr val="000000">
                    <a:alpha val="43137"/>
                  </a:srgbClr>
                </a:outerShdw>
              </a:effectLst>
              <a:latin typeface="Times New Roman" pitchFamily="18" charset="0"/>
              <a:cs typeface="Times New Roman" pitchFamily="18" charset="0"/>
            </a:endParaRPr>
          </a:p>
          <a:p>
            <a:pPr>
              <a:buClr>
                <a:srgbClr val="FF0000"/>
              </a:buClr>
              <a:buFont typeface="Symbol" pitchFamily="18" charset="2"/>
              <a:buChar char=""/>
            </a:pPr>
            <a:r>
              <a:rPr lang="en-US" b="1" u="sng" dirty="0">
                <a:effectLst>
                  <a:outerShdw blurRad="38100" dist="38100" dir="2700000" algn="tl">
                    <a:srgbClr val="000000">
                      <a:alpha val="43137"/>
                    </a:srgbClr>
                  </a:outerShdw>
                </a:effectLst>
                <a:latin typeface="Times New Roman" pitchFamily="18" charset="0"/>
                <a:cs typeface="Times New Roman" pitchFamily="18" charset="0"/>
              </a:rPr>
              <a:t>Vital signs</a:t>
            </a:r>
            <a:endParaRPr lang="en-US" b="1" dirty="0">
              <a:effectLst>
                <a:outerShdw blurRad="38100" dist="38100" dir="2700000" algn="tl">
                  <a:srgbClr val="000000">
                    <a:alpha val="43137"/>
                  </a:srgbClr>
                </a:outerShdw>
              </a:effectLst>
              <a:latin typeface="Times New Roman" pitchFamily="18" charset="0"/>
              <a:cs typeface="Times New Roman" pitchFamily="18" charset="0"/>
            </a:endParaRPr>
          </a:p>
          <a:p>
            <a:pPr lvl="1">
              <a:buFont typeface="Symbol" pitchFamily="18" charset="2"/>
              <a:buChar char="Û"/>
            </a:pPr>
            <a:r>
              <a:rPr lang="en-US" dirty="0">
                <a:latin typeface="Times New Roman" pitchFamily="18" charset="0"/>
                <a:cs typeface="Times New Roman" pitchFamily="18" charset="0"/>
              </a:rPr>
              <a:t>HR &lt; 40 or &gt; 150</a:t>
            </a:r>
          </a:p>
          <a:p>
            <a:pPr lvl="1">
              <a:buFont typeface="Symbol" pitchFamily="18" charset="2"/>
              <a:buChar char="Û"/>
            </a:pPr>
            <a:r>
              <a:rPr lang="en-US" dirty="0">
                <a:latin typeface="Times New Roman" pitchFamily="18" charset="0"/>
                <a:cs typeface="Times New Roman" pitchFamily="18" charset="0"/>
              </a:rPr>
              <a:t>SBP &lt;80</a:t>
            </a:r>
          </a:p>
          <a:p>
            <a:pPr lvl="1">
              <a:buFont typeface="Symbol" pitchFamily="18" charset="2"/>
              <a:buChar char="Û"/>
            </a:pPr>
            <a:r>
              <a:rPr lang="en-US" dirty="0">
                <a:latin typeface="Times New Roman" pitchFamily="18" charset="0"/>
                <a:cs typeface="Times New Roman" pitchFamily="18" charset="0"/>
              </a:rPr>
              <a:t>MAP &lt;60</a:t>
            </a:r>
          </a:p>
          <a:p>
            <a:pPr lvl="1">
              <a:buFont typeface="Symbol" pitchFamily="18" charset="2"/>
              <a:buChar char="Û"/>
            </a:pPr>
            <a:r>
              <a:rPr lang="en-US" dirty="0">
                <a:latin typeface="Times New Roman" pitchFamily="18" charset="0"/>
                <a:cs typeface="Times New Roman" pitchFamily="18" charset="0"/>
              </a:rPr>
              <a:t>DBP &gt;120</a:t>
            </a:r>
          </a:p>
          <a:p>
            <a:pPr lvl="1">
              <a:buFont typeface="Symbol" pitchFamily="18" charset="2"/>
              <a:buChar char="Û"/>
            </a:pPr>
            <a:r>
              <a:rPr lang="en-US" dirty="0">
                <a:latin typeface="Times New Roman" pitchFamily="18" charset="0"/>
                <a:cs typeface="Times New Roman" pitchFamily="18" charset="0"/>
              </a:rPr>
              <a:t>RR &gt; 35</a:t>
            </a:r>
          </a:p>
          <a:p>
            <a:pPr>
              <a:buFont typeface="Symbol" pitchFamily="18" charset="2"/>
              <a:buChar char="Û"/>
            </a:pPr>
            <a:endParaRPr lang="en-US" dirty="0"/>
          </a:p>
        </p:txBody>
      </p:sp>
      <p:sp>
        <p:nvSpPr>
          <p:cNvPr id="4" name="Rectangle 2"/>
          <p:cNvSpPr>
            <a:spLocks noGrp="1" noChangeArrowheads="1"/>
          </p:cNvSpPr>
          <p:nvPr>
            <p:ph type="title"/>
          </p:nvPr>
        </p:nvSpPr>
        <p:spPr/>
        <p:txBody>
          <a:bodyPr>
            <a:normAutofit/>
          </a:bodyPr>
          <a:lstStyle/>
          <a:p>
            <a:pPr algn="ctr"/>
            <a:r>
              <a:rPr lang="en-US" sz="3200" b="1" dirty="0">
                <a:latin typeface="Lucida Calligraphy" pitchFamily="66" charset="0"/>
              </a:rPr>
              <a:t>CONT…</a:t>
            </a:r>
          </a:p>
        </p:txBody>
      </p:sp>
    </p:spTree>
    <p:extLst>
      <p:ext uri="{BB962C8B-B14F-4D97-AF65-F5344CB8AC3E}">
        <p14:creationId xmlns:p14="http://schemas.microsoft.com/office/powerpoint/2010/main" val="316905919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Lucida Calligraphy" pitchFamily="66" charset="0"/>
              </a:rPr>
              <a:t>Objectives Model…</a:t>
            </a:r>
            <a:endParaRPr lang="en-US" sz="3600" dirty="0">
              <a:latin typeface="Lucida Calligraphy" pitchFamily="66" charset="0"/>
            </a:endParaRPr>
          </a:p>
        </p:txBody>
      </p:sp>
      <p:sp>
        <p:nvSpPr>
          <p:cNvPr id="3" name="Content Placeholder 2"/>
          <p:cNvSpPr>
            <a:spLocks noGrp="1"/>
          </p:cNvSpPr>
          <p:nvPr>
            <p:ph idx="1"/>
          </p:nvPr>
        </p:nvSpPr>
        <p:spPr>
          <a:xfrm>
            <a:off x="457200" y="1646237"/>
            <a:ext cx="8229600" cy="4525963"/>
          </a:xfrm>
        </p:spPr>
        <p:txBody>
          <a:bodyPr>
            <a:noAutofit/>
          </a:bodyPr>
          <a:lstStyle/>
          <a:p>
            <a:pPr>
              <a:buClr>
                <a:srgbClr val="FF0000"/>
              </a:buClr>
              <a:buFont typeface="Symbol" pitchFamily="18" charset="2"/>
              <a:buChar char="ª"/>
            </a:pPr>
            <a:r>
              <a:rPr lang="en-US" sz="2800" b="1" u="sng" dirty="0">
                <a:effectLst>
                  <a:outerShdw blurRad="38100" dist="38100" dir="2700000" algn="tl">
                    <a:srgbClr val="000000">
                      <a:alpha val="43137"/>
                    </a:srgbClr>
                  </a:outerShdw>
                </a:effectLst>
                <a:latin typeface="Times New Roman" pitchFamily="18" charset="0"/>
                <a:cs typeface="Times New Roman" pitchFamily="18" charset="0"/>
              </a:rPr>
              <a:t>Laboratory values</a:t>
            </a:r>
            <a:endParaRPr lang="en-US" sz="2800" b="1" dirty="0">
              <a:effectLst>
                <a:outerShdw blurRad="38100" dist="38100" dir="2700000" algn="tl">
                  <a:srgbClr val="000000">
                    <a:alpha val="43137"/>
                  </a:srgbClr>
                </a:outerShdw>
              </a:effectLst>
              <a:latin typeface="Times New Roman" pitchFamily="18" charset="0"/>
              <a:cs typeface="Times New Roman" pitchFamily="18" charset="0"/>
            </a:endParaRPr>
          </a:p>
          <a:p>
            <a:pPr lvl="1">
              <a:buFont typeface="Symbol" pitchFamily="18" charset="2"/>
              <a:buChar char="Û"/>
            </a:pPr>
            <a:r>
              <a:rPr lang="en-US" sz="2400" dirty="0">
                <a:latin typeface="Times New Roman" pitchFamily="18" charset="0"/>
                <a:cs typeface="Times New Roman" pitchFamily="18" charset="0"/>
              </a:rPr>
              <a:t>Sodium &lt; 110 or &gt; 170</a:t>
            </a:r>
          </a:p>
          <a:p>
            <a:pPr lvl="1">
              <a:buFont typeface="Symbol" pitchFamily="18" charset="2"/>
              <a:buChar char="Û"/>
            </a:pPr>
            <a:r>
              <a:rPr lang="en-US" sz="2400" dirty="0">
                <a:latin typeface="Times New Roman" pitchFamily="18" charset="0"/>
                <a:cs typeface="Times New Roman" pitchFamily="18" charset="0"/>
              </a:rPr>
              <a:t>Potassium &lt;2.0 or &gt; 7.0</a:t>
            </a:r>
          </a:p>
          <a:p>
            <a:pPr lvl="1">
              <a:buFont typeface="Symbol" pitchFamily="18" charset="2"/>
              <a:buChar char="Û"/>
            </a:pPr>
            <a:r>
              <a:rPr lang="en-US" sz="2400" dirty="0">
                <a:latin typeface="Times New Roman" pitchFamily="18" charset="0"/>
                <a:cs typeface="Times New Roman" pitchFamily="18" charset="0"/>
              </a:rPr>
              <a:t>PaO2 &lt; 50</a:t>
            </a:r>
          </a:p>
          <a:p>
            <a:pPr lvl="1">
              <a:buFont typeface="Symbol" pitchFamily="18" charset="2"/>
              <a:buChar char="Û"/>
            </a:pPr>
            <a:r>
              <a:rPr lang="en-US" sz="2400" dirty="0">
                <a:latin typeface="Times New Roman" pitchFamily="18" charset="0"/>
                <a:cs typeface="Times New Roman" pitchFamily="18" charset="0"/>
              </a:rPr>
              <a:t>pH &lt; 7.1 or &gt; 7.7</a:t>
            </a:r>
          </a:p>
          <a:p>
            <a:pPr lvl="1">
              <a:buFont typeface="Symbol" pitchFamily="18" charset="2"/>
              <a:buChar char="Û"/>
            </a:pPr>
            <a:r>
              <a:rPr lang="en-US" sz="2400" dirty="0">
                <a:latin typeface="Times New Roman" pitchFamily="18" charset="0"/>
                <a:cs typeface="Times New Roman" pitchFamily="18" charset="0"/>
              </a:rPr>
              <a:t>Glucose &gt; 800 mg</a:t>
            </a:r>
            <a:r>
              <a:rPr lang="en-US" sz="2400" u="sng" dirty="0">
                <a:latin typeface="Times New Roman" pitchFamily="18" charset="0"/>
                <a:cs typeface="Times New Roman" pitchFamily="18" charset="0"/>
              </a:rPr>
              <a:t>/</a:t>
            </a:r>
            <a:r>
              <a:rPr lang="en-US" sz="2400" u="sng" dirty="0" err="1">
                <a:latin typeface="Times New Roman" pitchFamily="18" charset="0"/>
                <a:cs typeface="Times New Roman" pitchFamily="18" charset="0"/>
              </a:rPr>
              <a:t>dL</a:t>
            </a:r>
            <a:endParaRPr lang="en-US" sz="2400" u="sng" dirty="0">
              <a:latin typeface="Times New Roman" pitchFamily="18" charset="0"/>
              <a:cs typeface="Times New Roman" pitchFamily="18" charset="0"/>
            </a:endParaRPr>
          </a:p>
          <a:p>
            <a:pPr lvl="1">
              <a:buFont typeface="Symbol" pitchFamily="18" charset="2"/>
              <a:buChar char="Û"/>
            </a:pPr>
            <a:r>
              <a:rPr lang="en-US" sz="2400" dirty="0">
                <a:latin typeface="Times New Roman" pitchFamily="18" charset="0"/>
                <a:cs typeface="Times New Roman" pitchFamily="18" charset="0"/>
              </a:rPr>
              <a:t>Calcium &gt; 15 mg/</a:t>
            </a:r>
            <a:r>
              <a:rPr lang="en-US" sz="2400" dirty="0" err="1">
                <a:latin typeface="Times New Roman" pitchFamily="18" charset="0"/>
                <a:cs typeface="Times New Roman" pitchFamily="18" charset="0"/>
              </a:rPr>
              <a:t>dL</a:t>
            </a:r>
            <a:endParaRPr lang="en-US" sz="2400" dirty="0">
              <a:latin typeface="Times New Roman" pitchFamily="18" charset="0"/>
              <a:cs typeface="Times New Roman" pitchFamily="18" charset="0"/>
            </a:endParaRPr>
          </a:p>
          <a:p>
            <a:pPr lvl="1">
              <a:buFont typeface="Symbol" pitchFamily="18" charset="2"/>
              <a:buChar char="Û"/>
            </a:pPr>
            <a:r>
              <a:rPr lang="en-US" sz="2400" dirty="0">
                <a:latin typeface="Times New Roman" pitchFamily="18" charset="0"/>
                <a:cs typeface="Times New Roman" pitchFamily="18" charset="0"/>
              </a:rPr>
              <a:t>toxic drug level with compromise</a:t>
            </a:r>
            <a:endParaRPr lang="en-US" sz="2400" u="sng" dirty="0">
              <a:latin typeface="Times New Roman" pitchFamily="18" charset="0"/>
              <a:cs typeface="Times New Roman" pitchFamily="18" charset="0"/>
            </a:endParaRPr>
          </a:p>
          <a:p>
            <a:pPr>
              <a:buFont typeface="Symbol" pitchFamily="18" charset="2"/>
              <a:buChar char="Û"/>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34721661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Lucida Calligraphy" pitchFamily="66" charset="0"/>
              </a:rPr>
              <a:t>Objectives Model…</a:t>
            </a:r>
            <a:endParaRPr lang="en-US" sz="3600" dirty="0">
              <a:latin typeface="Lucida Calligraphy" pitchFamily="66" charset="0"/>
            </a:endParaRPr>
          </a:p>
        </p:txBody>
      </p:sp>
      <p:sp>
        <p:nvSpPr>
          <p:cNvPr id="3" name="Content Placeholder 2"/>
          <p:cNvSpPr>
            <a:spLocks noGrp="1"/>
          </p:cNvSpPr>
          <p:nvPr>
            <p:ph idx="1"/>
          </p:nvPr>
        </p:nvSpPr>
        <p:spPr/>
        <p:txBody>
          <a:bodyPr>
            <a:normAutofit/>
          </a:bodyPr>
          <a:lstStyle/>
          <a:p>
            <a:pPr>
              <a:buClr>
                <a:srgbClr val="C00000"/>
              </a:buClr>
              <a:buFont typeface="Symbol" pitchFamily="18" charset="2"/>
              <a:buChar char=""/>
            </a:pPr>
            <a:r>
              <a:rPr lang="en-US" sz="2800" u="sng" dirty="0">
                <a:effectLst>
                  <a:outerShdw blurRad="38100" dist="38100" dir="2700000" algn="tl">
                    <a:srgbClr val="000000">
                      <a:alpha val="43137"/>
                    </a:srgbClr>
                  </a:outerShdw>
                </a:effectLst>
                <a:latin typeface="Times New Roman" pitchFamily="18" charset="0"/>
                <a:cs typeface="Times New Roman" pitchFamily="18" charset="0"/>
              </a:rPr>
              <a:t>Radiologic</a:t>
            </a:r>
            <a:endParaRPr lang="en-US" sz="2200" u="sng" dirty="0">
              <a:effectLst>
                <a:outerShdw blurRad="38100" dist="38100" dir="2700000" algn="tl">
                  <a:srgbClr val="000000">
                    <a:alpha val="43137"/>
                  </a:srgbClr>
                </a:outerShdw>
              </a:effectLst>
              <a:latin typeface="Times New Roman" pitchFamily="18" charset="0"/>
              <a:cs typeface="Times New Roman" pitchFamily="18" charset="0"/>
            </a:endParaRPr>
          </a:p>
          <a:p>
            <a:pPr lvl="1">
              <a:buFont typeface="Symbol" pitchFamily="18" charset="2"/>
              <a:buChar char="Û"/>
            </a:pPr>
            <a:r>
              <a:rPr lang="en-US" sz="2200" dirty="0">
                <a:latin typeface="Times New Roman" pitchFamily="18" charset="0"/>
                <a:cs typeface="Times New Roman" pitchFamily="18" charset="0"/>
              </a:rPr>
              <a:t>ICH, SAH, contusion with altered mental status (AMS)</a:t>
            </a:r>
          </a:p>
          <a:p>
            <a:pPr lvl="1">
              <a:buFont typeface="Symbol" pitchFamily="18" charset="2"/>
              <a:buChar char="Û"/>
            </a:pPr>
            <a:r>
              <a:rPr lang="en-US" sz="2200" dirty="0">
                <a:latin typeface="Times New Roman" pitchFamily="18" charset="0"/>
                <a:cs typeface="Times New Roman" pitchFamily="18" charset="0"/>
              </a:rPr>
              <a:t>Ruptured viscera, bladder, liver, uterus or esophageal </a:t>
            </a:r>
            <a:r>
              <a:rPr lang="en-US" sz="2200" dirty="0" err="1">
                <a:latin typeface="Times New Roman" pitchFamily="18" charset="0"/>
                <a:cs typeface="Times New Roman" pitchFamily="18" charset="0"/>
              </a:rPr>
              <a:t>varices</a:t>
            </a:r>
            <a:r>
              <a:rPr lang="en-US" sz="2200" dirty="0">
                <a:latin typeface="Times New Roman" pitchFamily="18" charset="0"/>
                <a:cs typeface="Times New Roman" pitchFamily="18" charset="0"/>
              </a:rPr>
              <a:t>  with hemodynamic instability</a:t>
            </a:r>
          </a:p>
          <a:p>
            <a:pPr lvl="1">
              <a:buFont typeface="Symbol" pitchFamily="18" charset="2"/>
              <a:buChar char="Û"/>
            </a:pPr>
            <a:r>
              <a:rPr lang="en-US" sz="2200" dirty="0">
                <a:latin typeface="Times New Roman" pitchFamily="18" charset="0"/>
                <a:cs typeface="Times New Roman" pitchFamily="18" charset="0"/>
              </a:rPr>
              <a:t>Dissecting aorta</a:t>
            </a:r>
            <a:endParaRPr lang="en-US" sz="2200" u="sng" dirty="0">
              <a:latin typeface="Times New Roman" pitchFamily="18" charset="0"/>
              <a:cs typeface="Times New Roman" pitchFamily="18" charset="0"/>
            </a:endParaRPr>
          </a:p>
          <a:p>
            <a:pPr>
              <a:buFont typeface="Symbol" pitchFamily="18" charset="2"/>
              <a:buChar char="Û"/>
            </a:pP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170600352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Lucida Calligraphy" pitchFamily="66" charset="0"/>
              </a:rPr>
              <a:t>Objectives Model…</a:t>
            </a:r>
            <a:endParaRPr lang="en-US" sz="3600" dirty="0">
              <a:latin typeface="Lucida Calligraphy" pitchFamily="66" charset="0"/>
            </a:endParaRPr>
          </a:p>
        </p:txBody>
      </p:sp>
      <p:sp>
        <p:nvSpPr>
          <p:cNvPr id="3" name="Content Placeholder 2"/>
          <p:cNvSpPr>
            <a:spLocks noGrp="1"/>
          </p:cNvSpPr>
          <p:nvPr>
            <p:ph idx="1"/>
          </p:nvPr>
        </p:nvSpPr>
        <p:spPr/>
        <p:txBody>
          <a:bodyPr/>
          <a:lstStyle/>
          <a:p>
            <a:pPr>
              <a:buClr>
                <a:srgbClr val="FF0000"/>
              </a:buClr>
              <a:buFont typeface="Symbol" pitchFamily="18" charset="2"/>
              <a:buChar char="ª"/>
            </a:pPr>
            <a:r>
              <a:rPr lang="en-US" sz="2800" b="1" u="sng" dirty="0">
                <a:effectLst>
                  <a:outerShdw blurRad="38100" dist="38100" dir="2700000" algn="tl">
                    <a:srgbClr val="000000">
                      <a:alpha val="43137"/>
                    </a:srgbClr>
                  </a:outerShdw>
                </a:effectLst>
                <a:latin typeface="Times New Roman" pitchFamily="18" charset="0"/>
                <a:cs typeface="Times New Roman" pitchFamily="18" charset="0"/>
              </a:rPr>
              <a:t>EKG</a:t>
            </a:r>
            <a:endParaRPr lang="en-US" sz="4000" b="1" u="sng" dirty="0">
              <a:effectLst>
                <a:outerShdw blurRad="38100" dist="38100" dir="2700000" algn="tl">
                  <a:srgbClr val="000000">
                    <a:alpha val="43137"/>
                  </a:srgbClr>
                </a:outerShdw>
              </a:effectLst>
              <a:latin typeface="Times New Roman" pitchFamily="18" charset="0"/>
              <a:cs typeface="Times New Roman" pitchFamily="18" charset="0"/>
            </a:endParaRPr>
          </a:p>
          <a:p>
            <a:pPr lvl="1">
              <a:buFont typeface="Symbol" pitchFamily="18" charset="2"/>
              <a:buChar char="Û"/>
            </a:pPr>
            <a:r>
              <a:rPr lang="en-US" sz="2400" dirty="0">
                <a:latin typeface="Times New Roman" pitchFamily="18" charset="0"/>
                <a:cs typeface="Times New Roman" pitchFamily="18" charset="0"/>
              </a:rPr>
              <a:t>acute MI with complex arrhythmias, hemodynamic instability, or CHF</a:t>
            </a:r>
          </a:p>
          <a:p>
            <a:pPr lvl="1">
              <a:buFont typeface="Symbol" pitchFamily="18" charset="2"/>
              <a:buChar char="Û"/>
            </a:pPr>
            <a:r>
              <a:rPr lang="en-US" sz="2400" dirty="0">
                <a:latin typeface="Times New Roman" pitchFamily="18" charset="0"/>
                <a:cs typeface="Times New Roman" pitchFamily="18" charset="0"/>
              </a:rPr>
              <a:t>sustained VT or VF</a:t>
            </a:r>
          </a:p>
          <a:p>
            <a:pPr lvl="1">
              <a:buFont typeface="Symbol" pitchFamily="18" charset="2"/>
              <a:buChar char="Û"/>
            </a:pPr>
            <a:r>
              <a:rPr lang="en-US" sz="2400" dirty="0">
                <a:latin typeface="Times New Roman" pitchFamily="18" charset="0"/>
                <a:cs typeface="Times New Roman" pitchFamily="18" charset="0"/>
              </a:rPr>
              <a:t>complete heart block with instability</a:t>
            </a:r>
            <a:endParaRPr lang="en-US" sz="2400" u="sng" dirty="0">
              <a:latin typeface="Times New Roman" pitchFamily="18" charset="0"/>
              <a:cs typeface="Times New Roman" pitchFamily="18" charset="0"/>
            </a:endParaRPr>
          </a:p>
          <a:p>
            <a:pPr>
              <a:buFont typeface="Symbol" pitchFamily="18" charset="2"/>
              <a:buChar char="Û"/>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09306354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Lucida Calligraphy" pitchFamily="66" charset="0"/>
                <a:cs typeface="Times New Roman" pitchFamily="18" charset="0"/>
              </a:rPr>
              <a:t>Objectives Model…</a:t>
            </a:r>
            <a:endParaRPr lang="en-US" sz="3200" dirty="0">
              <a:latin typeface="Lucida Calligraphy" pitchFamily="66" charset="0"/>
              <a:cs typeface="Times New Roman" pitchFamily="18" charset="0"/>
            </a:endParaRPr>
          </a:p>
        </p:txBody>
      </p:sp>
      <p:sp>
        <p:nvSpPr>
          <p:cNvPr id="3" name="Content Placeholder 2"/>
          <p:cNvSpPr>
            <a:spLocks noGrp="1"/>
          </p:cNvSpPr>
          <p:nvPr>
            <p:ph idx="1"/>
          </p:nvPr>
        </p:nvSpPr>
        <p:spPr/>
        <p:txBody>
          <a:bodyPr>
            <a:normAutofit/>
          </a:bodyPr>
          <a:lstStyle/>
          <a:p>
            <a:pPr>
              <a:buClr>
                <a:srgbClr val="C00000"/>
              </a:buClr>
              <a:buFont typeface="Symbol" pitchFamily="18" charset="2"/>
              <a:buChar char="ª"/>
            </a:pPr>
            <a:r>
              <a:rPr lang="en-US" sz="2800" b="1" u="sng" dirty="0">
                <a:effectLst>
                  <a:outerShdw blurRad="38100" dist="38100" dir="2700000" algn="tl">
                    <a:srgbClr val="000000">
                      <a:alpha val="43137"/>
                    </a:srgbClr>
                  </a:outerShdw>
                </a:effectLst>
                <a:latin typeface="Times New Roman" pitchFamily="18" charset="0"/>
                <a:cs typeface="Times New Roman" pitchFamily="18" charset="0"/>
              </a:rPr>
              <a:t>Physical findings (acute onset)</a:t>
            </a:r>
          </a:p>
          <a:p>
            <a:pPr lvl="1">
              <a:buFont typeface="Symbol" pitchFamily="18" charset="2"/>
              <a:buChar char="Û"/>
            </a:pPr>
            <a:r>
              <a:rPr lang="en-US" sz="2400" dirty="0">
                <a:latin typeface="Times New Roman" pitchFamily="18" charset="0"/>
                <a:cs typeface="Times New Roman" pitchFamily="18" charset="0"/>
              </a:rPr>
              <a:t>unequal pupils with LOC</a:t>
            </a:r>
          </a:p>
          <a:p>
            <a:pPr lvl="1">
              <a:buFont typeface="Symbol" pitchFamily="18" charset="2"/>
              <a:buChar char="Û"/>
            </a:pPr>
            <a:r>
              <a:rPr lang="en-US" sz="2400" dirty="0">
                <a:latin typeface="Times New Roman" pitchFamily="18" charset="0"/>
                <a:cs typeface="Times New Roman" pitchFamily="18" charset="0"/>
              </a:rPr>
              <a:t>burns &gt; 10% BSA</a:t>
            </a:r>
          </a:p>
          <a:p>
            <a:pPr lvl="1">
              <a:buFont typeface="Symbol" pitchFamily="18" charset="2"/>
              <a:buChar char="Û"/>
            </a:pPr>
            <a:r>
              <a:rPr lang="en-US" sz="2400" dirty="0">
                <a:latin typeface="Times New Roman" pitchFamily="18" charset="0"/>
                <a:cs typeface="Times New Roman" pitchFamily="18" charset="0"/>
              </a:rPr>
              <a:t>anuria</a:t>
            </a:r>
          </a:p>
          <a:p>
            <a:pPr lvl="1">
              <a:buFont typeface="Symbol" pitchFamily="18" charset="2"/>
              <a:buChar char="Û"/>
            </a:pPr>
            <a:r>
              <a:rPr lang="en-US" sz="2400" dirty="0">
                <a:latin typeface="Times New Roman" pitchFamily="18" charset="0"/>
                <a:cs typeface="Times New Roman" pitchFamily="18" charset="0"/>
              </a:rPr>
              <a:t>airway obstruction</a:t>
            </a:r>
          </a:p>
          <a:p>
            <a:pPr lvl="1">
              <a:buFont typeface="Symbol" pitchFamily="18" charset="2"/>
              <a:buChar char="Û"/>
            </a:pPr>
            <a:r>
              <a:rPr lang="en-US" sz="2400" dirty="0">
                <a:latin typeface="Times New Roman" pitchFamily="18" charset="0"/>
                <a:cs typeface="Times New Roman" pitchFamily="18" charset="0"/>
              </a:rPr>
              <a:t>coma</a:t>
            </a:r>
          </a:p>
          <a:p>
            <a:pPr lvl="1">
              <a:buFont typeface="Symbol" pitchFamily="18" charset="2"/>
              <a:buChar char="Û"/>
            </a:pPr>
            <a:r>
              <a:rPr lang="en-US" sz="2400" dirty="0">
                <a:latin typeface="Times New Roman" pitchFamily="18" charset="0"/>
                <a:cs typeface="Times New Roman" pitchFamily="18" charset="0"/>
              </a:rPr>
              <a:t>continuous seizures</a:t>
            </a:r>
          </a:p>
          <a:p>
            <a:pPr lvl="1">
              <a:buFont typeface="Symbol" pitchFamily="18" charset="2"/>
              <a:buChar char="Û"/>
            </a:pPr>
            <a:r>
              <a:rPr lang="en-US" sz="2400" dirty="0">
                <a:latin typeface="Times New Roman" pitchFamily="18" charset="0"/>
                <a:cs typeface="Times New Roman" pitchFamily="18" charset="0"/>
              </a:rPr>
              <a:t>cyanosis</a:t>
            </a:r>
          </a:p>
          <a:p>
            <a:pPr lvl="1">
              <a:buFont typeface="Symbol" pitchFamily="18" charset="2"/>
              <a:buChar char="Û"/>
            </a:pPr>
            <a:r>
              <a:rPr lang="en-US" sz="2400" dirty="0">
                <a:latin typeface="Times New Roman" pitchFamily="18" charset="0"/>
                <a:cs typeface="Times New Roman" pitchFamily="18" charset="0"/>
              </a:rPr>
              <a:t>cardiac </a:t>
            </a:r>
            <a:r>
              <a:rPr lang="en-US" sz="2400" dirty="0" err="1">
                <a:latin typeface="Times New Roman" pitchFamily="18" charset="0"/>
                <a:cs typeface="Times New Roman" pitchFamily="18" charset="0"/>
              </a:rPr>
              <a:t>tamponade</a:t>
            </a:r>
            <a:endParaRPr lang="en-US" sz="2400" u="sng"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37938419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effectLst>
                  <a:outerShdw blurRad="38100" dist="38100" dir="2700000" algn="tl">
                    <a:srgbClr val="000000">
                      <a:alpha val="43137"/>
                    </a:srgbClr>
                  </a:outerShdw>
                </a:effectLst>
                <a:latin typeface="Lucida Calligraphy" pitchFamily="66" charset="0"/>
              </a:rPr>
              <a:t>Discharge Criteria</a:t>
            </a:r>
          </a:p>
        </p:txBody>
      </p:sp>
      <p:sp>
        <p:nvSpPr>
          <p:cNvPr id="3" name="Content Placeholder 2"/>
          <p:cNvSpPr>
            <a:spLocks noGrp="1"/>
          </p:cNvSpPr>
          <p:nvPr>
            <p:ph idx="1"/>
          </p:nvPr>
        </p:nvSpPr>
        <p:spPr/>
        <p:txBody>
          <a:bodyPr>
            <a:normAutofit/>
          </a:bodyPr>
          <a:lstStyle/>
          <a:p>
            <a:pPr>
              <a:buClr>
                <a:srgbClr val="C00000"/>
              </a:buClr>
              <a:buFont typeface="Symbol" pitchFamily="18" charset="2"/>
              <a:buChar char="ª"/>
            </a:pPr>
            <a:r>
              <a:rPr lang="en-US" sz="2400" dirty="0">
                <a:latin typeface="Times New Roman" pitchFamily="18" charset="0"/>
                <a:cs typeface="Times New Roman" pitchFamily="18" charset="0"/>
              </a:rPr>
              <a:t>Discharge will be based on the following criteria:</a:t>
            </a:r>
          </a:p>
          <a:p>
            <a:r>
              <a:rPr lang="en-US" sz="2400" dirty="0">
                <a:latin typeface="Times New Roman" pitchFamily="18" charset="0"/>
                <a:cs typeface="Times New Roman" pitchFamily="18" charset="0"/>
              </a:rPr>
              <a:t>Physiologic status has stabilized</a:t>
            </a:r>
          </a:p>
          <a:p>
            <a:pPr lvl="1"/>
            <a:r>
              <a:rPr lang="en-US" sz="2000" dirty="0">
                <a:latin typeface="Times New Roman" pitchFamily="18" charset="0"/>
                <a:cs typeface="Times New Roman" pitchFamily="18" charset="0"/>
              </a:rPr>
              <a:t>need for ICU monitoring and care no longer necessary</a:t>
            </a:r>
          </a:p>
          <a:p>
            <a:pPr lvl="1"/>
            <a:endParaRPr lang="en-US" sz="2000" dirty="0">
              <a:latin typeface="Times New Roman" pitchFamily="18" charset="0"/>
              <a:cs typeface="Times New Roman" pitchFamily="18" charset="0"/>
            </a:endParaRPr>
          </a:p>
          <a:p>
            <a:r>
              <a:rPr lang="en-US" sz="2400" dirty="0">
                <a:solidFill>
                  <a:srgbClr val="000000"/>
                </a:solidFill>
                <a:latin typeface="Times New Roman" pitchFamily="18" charset="0"/>
                <a:cs typeface="Times New Roman" pitchFamily="18" charset="0"/>
              </a:rPr>
              <a:t>Stable hemodynamic parameters</a:t>
            </a:r>
          </a:p>
          <a:p>
            <a:endParaRPr lang="en-US" sz="2400" dirty="0">
              <a:solidFill>
                <a:srgbClr val="000000"/>
              </a:solidFill>
              <a:latin typeface="Times New Roman" pitchFamily="18" charset="0"/>
              <a:cs typeface="Times New Roman" pitchFamily="18" charset="0"/>
            </a:endParaRPr>
          </a:p>
          <a:p>
            <a:r>
              <a:rPr lang="en-US" sz="2400" dirty="0">
                <a:solidFill>
                  <a:srgbClr val="000000"/>
                </a:solidFill>
                <a:latin typeface="Times New Roman" pitchFamily="18" charset="0"/>
                <a:cs typeface="Times New Roman" pitchFamily="18" charset="0"/>
              </a:rPr>
              <a:t>Stable respiratory status </a:t>
            </a:r>
          </a:p>
          <a:p>
            <a:pPr lvl="1"/>
            <a:r>
              <a:rPr lang="en-US" sz="2000" dirty="0">
                <a:solidFill>
                  <a:srgbClr val="000000"/>
                </a:solidFill>
                <a:latin typeface="Times New Roman" pitchFamily="18" charset="0"/>
                <a:cs typeface="Times New Roman" pitchFamily="18" charset="0"/>
              </a:rPr>
              <a:t>patient extubated with stable arterial blood gases and airway patency</a:t>
            </a:r>
          </a:p>
          <a:p>
            <a:endParaRPr lang="en-US" sz="2400" dirty="0">
              <a:solidFill>
                <a:srgbClr val="000000"/>
              </a:solidFill>
              <a:latin typeface="Times New Roman" pitchFamily="18" charset="0"/>
              <a:cs typeface="Times New Roman" pitchFamily="18" charset="0"/>
            </a:endParaRPr>
          </a:p>
          <a:p>
            <a:r>
              <a:rPr lang="en-US" sz="2400" dirty="0">
                <a:solidFill>
                  <a:srgbClr val="000000"/>
                </a:solidFill>
                <a:latin typeface="Times New Roman" pitchFamily="18" charset="0"/>
                <a:cs typeface="Times New Roman" pitchFamily="18" charset="0"/>
              </a:rPr>
              <a:t> Oxygen requirements not more than 60%</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47063885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p:txBody>
          <a:bodyPr>
            <a:normAutofit/>
          </a:bodyPr>
          <a:lstStyle/>
          <a:p>
            <a:r>
              <a:rPr lang="en-US" sz="2400" dirty="0">
                <a:solidFill>
                  <a:srgbClr val="000000"/>
                </a:solidFill>
                <a:latin typeface="Times New Roman" pitchFamily="18" charset="0"/>
                <a:cs typeface="Times New Roman" pitchFamily="18" charset="0"/>
              </a:rPr>
              <a:t>Intravenous inotropic/ vasopressor support and vasodilators are no longer necessary. </a:t>
            </a:r>
          </a:p>
          <a:p>
            <a:endParaRPr lang="en-US" sz="2400" dirty="0">
              <a:solidFill>
                <a:srgbClr val="000000"/>
              </a:solidFill>
              <a:latin typeface="Times New Roman" pitchFamily="18" charset="0"/>
              <a:cs typeface="Times New Roman" pitchFamily="18" charset="0"/>
            </a:endParaRPr>
          </a:p>
          <a:p>
            <a:r>
              <a:rPr lang="en-US" sz="2400" dirty="0">
                <a:solidFill>
                  <a:srgbClr val="000000"/>
                </a:solidFill>
                <a:latin typeface="Times New Roman" pitchFamily="18" charset="0"/>
                <a:cs typeface="Times New Roman" pitchFamily="18" charset="0"/>
              </a:rPr>
              <a:t>Patients on low dose inotropic support may be discharged earlier if ICU bed is required.</a:t>
            </a:r>
          </a:p>
          <a:p>
            <a:pPr lvl="1">
              <a:buClr>
                <a:srgbClr val="FFFF00"/>
              </a:buClr>
              <a:buFont typeface="Arial" pitchFamily="34" charset="0"/>
              <a:buChar char="•"/>
            </a:pP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Physiologic status has deteriorated</a:t>
            </a:r>
          </a:p>
          <a:p>
            <a:pPr lvl="1"/>
            <a:r>
              <a:rPr lang="en-US" sz="2400" dirty="0">
                <a:latin typeface="Times New Roman" pitchFamily="18" charset="0"/>
                <a:cs typeface="Times New Roman" pitchFamily="18" charset="0"/>
              </a:rPr>
              <a:t>active interventions no longer planned</a:t>
            </a:r>
          </a:p>
          <a:p>
            <a:endParaRPr lang="en-US" sz="2000" dirty="0"/>
          </a:p>
        </p:txBody>
      </p:sp>
      <p:sp>
        <p:nvSpPr>
          <p:cNvPr id="4" name="Rectangle 3"/>
          <p:cNvSpPr/>
          <p:nvPr/>
        </p:nvSpPr>
        <p:spPr>
          <a:xfrm>
            <a:off x="381000" y="5791200"/>
            <a:ext cx="8763000" cy="646331"/>
          </a:xfrm>
          <a:prstGeom prst="rect">
            <a:avLst/>
          </a:prstGeom>
        </p:spPr>
        <p:txBody>
          <a:bodyPr wrap="square">
            <a:spAutoFit/>
          </a:bodyPr>
          <a:lstStyle/>
          <a:p>
            <a:r>
              <a:rPr lang="en-US" dirty="0">
                <a:latin typeface="Agency FB" pitchFamily="34" charset="0"/>
              </a:rPr>
              <a:t>Adapted from Task Force of the American College of Critical Care Medicine, Society of Critical Care Medicine. (1999). Guidelines for intensive care unit admission, discharge, and triage. Critical Care Medicine, 27(3), 633–8. </a:t>
            </a:r>
          </a:p>
        </p:txBody>
      </p:sp>
    </p:spTree>
    <p:extLst>
      <p:ext uri="{BB962C8B-B14F-4D97-AF65-F5344CB8AC3E}">
        <p14:creationId xmlns:p14="http://schemas.microsoft.com/office/powerpoint/2010/main" val="24433418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AF4EF-7992-DE7F-23A6-E192A23863CA}"/>
              </a:ext>
            </a:extLst>
          </p:cNvPr>
          <p:cNvSpPr>
            <a:spLocks noGrp="1"/>
          </p:cNvSpPr>
          <p:nvPr>
            <p:ph type="title"/>
          </p:nvPr>
        </p:nvSpPr>
        <p:spPr/>
        <p:txBody>
          <a:bodyPr>
            <a:noAutofit/>
          </a:bodyPr>
          <a:lstStyle/>
          <a:p>
            <a:pPr algn="l"/>
            <a:r>
              <a:rPr lang="en-US" sz="3200" dirty="0">
                <a:latin typeface="Arial" panose="020B0604020202020204" pitchFamily="34" charset="0"/>
                <a:cs typeface="Arial" panose="020B0604020202020204" pitchFamily="34" charset="0"/>
              </a:rPr>
              <a:t>Patient Conditions Requiring ICU Admission and Mechanical Ventilation</a:t>
            </a:r>
          </a:p>
        </p:txBody>
      </p:sp>
      <p:sp>
        <p:nvSpPr>
          <p:cNvPr id="3" name="Content Placeholder 2">
            <a:extLst>
              <a:ext uri="{FF2B5EF4-FFF2-40B4-BE49-F238E27FC236}">
                <a16:creationId xmlns:a16="http://schemas.microsoft.com/office/drawing/2014/main" id="{7894A722-B3A3-C2C9-19EC-3080FC47BC6E}"/>
              </a:ext>
            </a:extLst>
          </p:cNvPr>
          <p:cNvSpPr>
            <a:spLocks noGrp="1"/>
          </p:cNvSpPr>
          <p:nvPr>
            <p:ph idx="1"/>
          </p:nvPr>
        </p:nvSpPr>
        <p:spPr>
          <a:xfrm>
            <a:off x="228600" y="1600200"/>
            <a:ext cx="8610600" cy="4648200"/>
          </a:xfrm>
        </p:spPr>
        <p:txBody>
          <a:bodyPr>
            <a:normAutofit/>
          </a:bodyPr>
          <a:lstStyle/>
          <a:p>
            <a:pPr marL="0" indent="0">
              <a:buNone/>
            </a:pPr>
            <a:r>
              <a:rPr lang="en-US" sz="2400" dirty="0">
                <a:latin typeface="Arial" panose="020B0604020202020204" pitchFamily="34" charset="0"/>
                <a:cs typeface="Arial" panose="020B0604020202020204" pitchFamily="34" charset="0"/>
              </a:rPr>
              <a:t>The following disease states or conditions are often seen in the ICU and sometimes require mechanical ventilatory support:</a:t>
            </a:r>
          </a:p>
          <a:p>
            <a:pPr>
              <a:buFont typeface="Wingdings" panose="05000000000000000000" pitchFamily="2" charset="2"/>
              <a:buChar char="q"/>
            </a:pPr>
            <a:r>
              <a:rPr lang="en-US" sz="2600" b="1" dirty="0">
                <a:latin typeface="Arial" panose="020B0604020202020204" pitchFamily="34" charset="0"/>
                <a:cs typeface="Arial" panose="020B0604020202020204" pitchFamily="34" charset="0"/>
              </a:rPr>
              <a:t>Respiratory disease</a:t>
            </a:r>
          </a:p>
          <a:p>
            <a:pPr>
              <a:buFont typeface="Wingdings" panose="05000000000000000000" pitchFamily="2" charset="2"/>
              <a:buChar char="ü"/>
            </a:pPr>
            <a:r>
              <a:rPr lang="en-US" sz="2400" dirty="0">
                <a:latin typeface="Arial" panose="020B0604020202020204" pitchFamily="34" charset="0"/>
                <a:cs typeface="Arial" panose="020B0604020202020204" pitchFamily="34" charset="0"/>
              </a:rPr>
              <a:t>Acute respiratory failure</a:t>
            </a:r>
          </a:p>
          <a:p>
            <a:pPr lvl="1"/>
            <a:r>
              <a:rPr lang="en-US" sz="2000" dirty="0">
                <a:latin typeface="Arial" panose="020B0604020202020204" pitchFamily="34" charset="0"/>
                <a:cs typeface="Arial" panose="020B0604020202020204" pitchFamily="34" charset="0"/>
              </a:rPr>
              <a:t>ARDS, Pneumonia, Trauma, Sepsis, Postoperative failure, Aspiration, Sedative or narcotic drug overdose</a:t>
            </a:r>
          </a:p>
          <a:p>
            <a:pPr>
              <a:buFont typeface="Wingdings" panose="05000000000000000000" pitchFamily="2" charset="2"/>
              <a:buChar char="ü"/>
            </a:pPr>
            <a:r>
              <a:rPr lang="en-US" sz="2400" dirty="0">
                <a:latin typeface="Arial" panose="020B0604020202020204" pitchFamily="34" charset="0"/>
                <a:cs typeface="Arial" panose="020B0604020202020204" pitchFamily="34" charset="0"/>
              </a:rPr>
              <a:t>Chronic respiratory disease</a:t>
            </a:r>
          </a:p>
          <a:p>
            <a:pPr lvl="1"/>
            <a:r>
              <a:rPr lang="en-US" sz="2000" dirty="0">
                <a:latin typeface="Arial" panose="020B0604020202020204" pitchFamily="34" charset="0"/>
                <a:cs typeface="Arial" panose="020B0604020202020204" pitchFamily="34" charset="0"/>
              </a:rPr>
              <a:t>Acute exacerbation of COPD</a:t>
            </a:r>
          </a:p>
          <a:p>
            <a:pPr lvl="1"/>
            <a:r>
              <a:rPr lang="en-US" sz="2000" dirty="0">
                <a:latin typeface="Arial" panose="020B0604020202020204" pitchFamily="34" charset="0"/>
                <a:cs typeface="Arial" panose="020B0604020202020204" pitchFamily="34" charset="0"/>
              </a:rPr>
              <a:t>Acute, severe asthma exacerbation</a:t>
            </a:r>
          </a:p>
          <a:p>
            <a:pPr lvl="1"/>
            <a:r>
              <a:rPr lang="en-US" sz="2000" dirty="0">
                <a:latin typeface="Arial" panose="020B0604020202020204" pitchFamily="34" charset="0"/>
                <a:cs typeface="Arial" panose="020B0604020202020204" pitchFamily="34" charset="0"/>
              </a:rPr>
              <a:t>Restrictive lung disease (e.g., pulmonary fibrosis)</a:t>
            </a:r>
          </a:p>
        </p:txBody>
      </p:sp>
    </p:spTree>
    <p:extLst>
      <p:ext uri="{BB962C8B-B14F-4D97-AF65-F5344CB8AC3E}">
        <p14:creationId xmlns:p14="http://schemas.microsoft.com/office/powerpoint/2010/main" val="137854558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3E532-59F9-2E9E-B54C-287ECD1B8D2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endParaRPr lang="en-US" dirty="0"/>
          </a:p>
        </p:txBody>
      </p:sp>
      <p:sp>
        <p:nvSpPr>
          <p:cNvPr id="3" name="Content Placeholder 2">
            <a:extLst>
              <a:ext uri="{FF2B5EF4-FFF2-40B4-BE49-F238E27FC236}">
                <a16:creationId xmlns:a16="http://schemas.microsoft.com/office/drawing/2014/main" id="{FA0FF498-B0AC-67EE-E76C-4EC21674D8CE}"/>
              </a:ext>
            </a:extLst>
          </p:cNvPr>
          <p:cNvSpPr>
            <a:spLocks noGrp="1"/>
          </p:cNvSpPr>
          <p:nvPr>
            <p:ph idx="1"/>
          </p:nvPr>
        </p:nvSpPr>
        <p:spPr>
          <a:xfrm>
            <a:off x="457200" y="1600200"/>
            <a:ext cx="8382000" cy="4525963"/>
          </a:xfrm>
        </p:spPr>
        <p:txBody>
          <a:bodyPr>
            <a:normAutofit fontScale="85000" lnSpcReduction="20000"/>
          </a:bodyPr>
          <a:lstStyle/>
          <a:p>
            <a:pPr>
              <a:buFont typeface="Wingdings" panose="05000000000000000000" pitchFamily="2" charset="2"/>
              <a:buChar char="ü"/>
            </a:pPr>
            <a:r>
              <a:rPr lang="en-US" sz="2800" dirty="0"/>
              <a:t>Upper or central airway obstruction</a:t>
            </a:r>
          </a:p>
          <a:p>
            <a:pPr lvl="1"/>
            <a:r>
              <a:rPr lang="en-US" dirty="0"/>
              <a:t>Tumor, Laryngeal edema, Foreign body obstruction</a:t>
            </a:r>
          </a:p>
          <a:p>
            <a:pPr>
              <a:buFont typeface="Wingdings" panose="05000000000000000000" pitchFamily="2" charset="2"/>
              <a:buChar char="ü"/>
            </a:pPr>
            <a:r>
              <a:rPr lang="en-US" sz="2800" dirty="0"/>
              <a:t>Pulmonary embolus</a:t>
            </a:r>
          </a:p>
          <a:p>
            <a:pPr>
              <a:buFont typeface="Wingdings" panose="05000000000000000000" pitchFamily="2" charset="2"/>
              <a:buChar char="q"/>
            </a:pPr>
            <a:r>
              <a:rPr lang="en-US" sz="2900" dirty="0"/>
              <a:t>Cardiac/cardiovascular/circulatory disease</a:t>
            </a:r>
          </a:p>
          <a:p>
            <a:pPr lvl="1"/>
            <a:r>
              <a:rPr lang="en-US" dirty="0"/>
              <a:t>Heart failure</a:t>
            </a:r>
          </a:p>
          <a:p>
            <a:pPr lvl="1"/>
            <a:r>
              <a:rPr lang="en-US" dirty="0"/>
              <a:t>Cardiac arrhythmia</a:t>
            </a:r>
          </a:p>
          <a:p>
            <a:pPr lvl="1"/>
            <a:r>
              <a:rPr lang="en-US" dirty="0"/>
              <a:t>Coronary artery disease (CAD)</a:t>
            </a:r>
          </a:p>
          <a:p>
            <a:pPr lvl="1"/>
            <a:r>
              <a:rPr lang="en-US" dirty="0"/>
              <a:t>Shock (anaphylactic, cardiac, hypovolemic, neurogenic, septic)</a:t>
            </a:r>
          </a:p>
          <a:p>
            <a:pPr lvl="1"/>
            <a:r>
              <a:rPr lang="en-US" dirty="0"/>
              <a:t>Pulmonary edema (cardiac)</a:t>
            </a:r>
          </a:p>
          <a:p>
            <a:pPr lvl="1"/>
            <a:r>
              <a:rPr lang="en-US" dirty="0"/>
              <a:t>Hypertensive emergencies</a:t>
            </a:r>
          </a:p>
          <a:p>
            <a:pPr lvl="1"/>
            <a:r>
              <a:rPr lang="en-US" dirty="0"/>
              <a:t>Hematologic and coagulation disorders</a:t>
            </a:r>
          </a:p>
        </p:txBody>
      </p:sp>
    </p:spTree>
    <p:extLst>
      <p:ext uri="{BB962C8B-B14F-4D97-AF65-F5344CB8AC3E}">
        <p14:creationId xmlns:p14="http://schemas.microsoft.com/office/powerpoint/2010/main" val="33919715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D60BF-5B9E-27B4-30B8-DEB27037692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endParaRPr lang="en-US" dirty="0"/>
          </a:p>
        </p:txBody>
      </p:sp>
      <p:sp>
        <p:nvSpPr>
          <p:cNvPr id="3" name="Content Placeholder 2">
            <a:extLst>
              <a:ext uri="{FF2B5EF4-FFF2-40B4-BE49-F238E27FC236}">
                <a16:creationId xmlns:a16="http://schemas.microsoft.com/office/drawing/2014/main" id="{2B7A111B-39BC-0FC7-AF3B-F1566434FDC7}"/>
              </a:ext>
            </a:extLst>
          </p:cNvPr>
          <p:cNvSpPr>
            <a:spLocks noGrp="1"/>
          </p:cNvSpPr>
          <p:nvPr>
            <p:ph idx="1"/>
          </p:nvPr>
        </p:nvSpPr>
        <p:spPr/>
        <p:txBody>
          <a:bodyPr>
            <a:normAutofit fontScale="70000" lnSpcReduction="20000"/>
          </a:bodyPr>
          <a:lstStyle/>
          <a:p>
            <a:pPr>
              <a:buFont typeface="Wingdings" panose="05000000000000000000" pitchFamily="2" charset="2"/>
              <a:buChar char="q"/>
            </a:pPr>
            <a:r>
              <a:rPr lang="en-US" sz="3400" b="1" dirty="0"/>
              <a:t>Neuromuscular or neurologic disease</a:t>
            </a:r>
          </a:p>
          <a:p>
            <a:pPr>
              <a:buFont typeface="Wingdings" panose="05000000000000000000" pitchFamily="2" charset="2"/>
              <a:buChar char="ü"/>
            </a:pPr>
            <a:r>
              <a:rPr lang="en-US" dirty="0"/>
              <a:t>Coma</a:t>
            </a:r>
          </a:p>
          <a:p>
            <a:pPr lvl="1"/>
            <a:r>
              <a:rPr lang="en-US" dirty="0"/>
              <a:t>Intracranial hemorrhage</a:t>
            </a:r>
          </a:p>
          <a:p>
            <a:pPr lvl="1"/>
            <a:r>
              <a:rPr lang="en-US" dirty="0"/>
              <a:t>Cerebral infarction</a:t>
            </a:r>
          </a:p>
          <a:p>
            <a:pPr lvl="1"/>
            <a:r>
              <a:rPr lang="en-US" dirty="0"/>
              <a:t>Head trauma</a:t>
            </a:r>
          </a:p>
          <a:p>
            <a:pPr lvl="1"/>
            <a:r>
              <a:rPr lang="en-US" dirty="0"/>
              <a:t>Sedative or narcotic drug overdose</a:t>
            </a:r>
          </a:p>
          <a:p>
            <a:pPr>
              <a:buFont typeface="Wingdings" panose="05000000000000000000" pitchFamily="2" charset="2"/>
              <a:buChar char="ü"/>
            </a:pPr>
            <a:r>
              <a:rPr lang="en-US" dirty="0"/>
              <a:t>Neuromuscular disease</a:t>
            </a:r>
          </a:p>
          <a:p>
            <a:pPr lvl="1"/>
            <a:r>
              <a:rPr lang="en-US" dirty="0"/>
              <a:t>Guillain-Barré</a:t>
            </a:r>
          </a:p>
          <a:p>
            <a:pPr lvl="1"/>
            <a:r>
              <a:rPr lang="en-US" dirty="0"/>
              <a:t>Myasthenia gravis</a:t>
            </a:r>
          </a:p>
          <a:p>
            <a:pPr lvl="1"/>
            <a:r>
              <a:rPr lang="en-US" dirty="0"/>
              <a:t>Amyotrophic lateral sclerosis (ALS)</a:t>
            </a:r>
          </a:p>
          <a:p>
            <a:pPr lvl="1"/>
            <a:r>
              <a:rPr lang="en-US" dirty="0"/>
              <a:t>Tetanus</a:t>
            </a:r>
          </a:p>
          <a:p>
            <a:pPr lvl="1"/>
            <a:r>
              <a:rPr lang="en-US" dirty="0"/>
              <a:t>Botulism</a:t>
            </a:r>
          </a:p>
          <a:p>
            <a:pPr lvl="1"/>
            <a:r>
              <a:rPr lang="en-US" dirty="0"/>
              <a:t>Cervical spinal cord injury</a:t>
            </a:r>
          </a:p>
        </p:txBody>
      </p:sp>
    </p:spTree>
    <p:extLst>
      <p:ext uri="{BB962C8B-B14F-4D97-AF65-F5344CB8AC3E}">
        <p14:creationId xmlns:p14="http://schemas.microsoft.com/office/powerpoint/2010/main" val="21262544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4893-6B2B-E8F6-3977-951C5962F0F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endParaRPr lang="en-US" dirty="0"/>
          </a:p>
        </p:txBody>
      </p:sp>
      <p:sp>
        <p:nvSpPr>
          <p:cNvPr id="3" name="Content Placeholder 2">
            <a:extLst>
              <a:ext uri="{FF2B5EF4-FFF2-40B4-BE49-F238E27FC236}">
                <a16:creationId xmlns:a16="http://schemas.microsoft.com/office/drawing/2014/main" id="{F5B96186-CB0E-EFA5-F747-254726E171C6}"/>
              </a:ext>
            </a:extLst>
          </p:cNvPr>
          <p:cNvSpPr>
            <a:spLocks noGrp="1"/>
          </p:cNvSpPr>
          <p:nvPr>
            <p:ph idx="1"/>
          </p:nvPr>
        </p:nvSpPr>
        <p:spPr/>
        <p:txBody>
          <a:bodyPr>
            <a:normAutofit/>
          </a:bodyPr>
          <a:lstStyle/>
          <a:p>
            <a:pPr>
              <a:lnSpc>
                <a:spcPct val="150000"/>
              </a:lnSpc>
              <a:buFont typeface="Wingdings" panose="05000000000000000000" pitchFamily="2" charset="2"/>
              <a:buChar char="q"/>
            </a:pPr>
            <a:r>
              <a:rPr lang="en-US" sz="2400" dirty="0">
                <a:latin typeface="Arial" panose="020B0604020202020204" pitchFamily="34" charset="0"/>
                <a:cs typeface="Arial" panose="020B0604020202020204" pitchFamily="34" charset="0"/>
              </a:rPr>
              <a:t>Trauma (e.g., chest trauma, multiple trauma, motor vehicle accident, near drowning, electrical shock</a:t>
            </a:r>
          </a:p>
          <a:p>
            <a:pPr>
              <a:lnSpc>
                <a:spcPct val="150000"/>
              </a:lnSpc>
              <a:buFont typeface="Wingdings" panose="05000000000000000000" pitchFamily="2" charset="2"/>
              <a:buChar char="q"/>
            </a:pPr>
            <a:r>
              <a:rPr lang="en-US" sz="2400" dirty="0">
                <a:latin typeface="Arial" panose="020B0604020202020204" pitchFamily="34" charset="0"/>
                <a:cs typeface="Arial" panose="020B0604020202020204" pitchFamily="34" charset="0"/>
              </a:rPr>
              <a:t>Multi-organ system failure</a:t>
            </a:r>
          </a:p>
          <a:p>
            <a:pPr>
              <a:lnSpc>
                <a:spcPct val="150000"/>
              </a:lnSpc>
              <a:buFont typeface="Wingdings" panose="05000000000000000000" pitchFamily="2" charset="2"/>
              <a:buChar char="q"/>
            </a:pPr>
            <a:r>
              <a:rPr lang="en-US" sz="2400" dirty="0">
                <a:latin typeface="Arial" panose="020B0604020202020204" pitchFamily="34" charset="0"/>
                <a:cs typeface="Arial" panose="020B0604020202020204" pitchFamily="34" charset="0"/>
              </a:rPr>
              <a:t>Renal disorders and kidney failure</a:t>
            </a:r>
          </a:p>
          <a:p>
            <a:pPr>
              <a:lnSpc>
                <a:spcPct val="150000"/>
              </a:lnSpc>
              <a:buFont typeface="Wingdings" panose="05000000000000000000" pitchFamily="2" charset="2"/>
              <a:buChar char="q"/>
            </a:pPr>
            <a:r>
              <a:rPr lang="en-US" sz="2400" dirty="0">
                <a:latin typeface="Arial" panose="020B0604020202020204" pitchFamily="34" charset="0"/>
                <a:cs typeface="Arial" panose="020B0604020202020204" pitchFamily="34" charset="0"/>
              </a:rPr>
              <a:t>Anaphylaxis and acute allergic reactions</a:t>
            </a:r>
          </a:p>
        </p:txBody>
      </p:sp>
    </p:spTree>
    <p:extLst>
      <p:ext uri="{BB962C8B-B14F-4D97-AF65-F5344CB8AC3E}">
        <p14:creationId xmlns:p14="http://schemas.microsoft.com/office/powerpoint/2010/main" val="146413022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latin typeface="Agency FB" pitchFamily="34" charset="0"/>
              </a:rPr>
              <a:t>Summary</a:t>
            </a:r>
          </a:p>
        </p:txBody>
      </p:sp>
      <p:sp>
        <p:nvSpPr>
          <p:cNvPr id="3" name="Content Placeholder 2"/>
          <p:cNvSpPr>
            <a:spLocks noGrp="1"/>
          </p:cNvSpPr>
          <p:nvPr>
            <p:ph idx="1"/>
          </p:nvPr>
        </p:nvSpPr>
        <p:spPr>
          <a:xfrm>
            <a:off x="457200" y="1600200"/>
            <a:ext cx="8382000" cy="4525963"/>
          </a:xfrm>
        </p:spPr>
        <p:txBody>
          <a:bodyPr>
            <a:normAutofit/>
          </a:bodyPr>
          <a:lstStyle/>
          <a:p>
            <a:r>
              <a:rPr lang="en-US" sz="2000" dirty="0">
                <a:latin typeface="Times New Roman" pitchFamily="18" charset="0"/>
                <a:cs typeface="Times New Roman" pitchFamily="18" charset="0"/>
              </a:rPr>
              <a:t> Patients would be admitted or discharged strictly on their potential to benefit from ICU care.   </a:t>
            </a:r>
          </a:p>
          <a:p>
            <a:pPr marL="0" indent="0">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A method of prioritizing or triaging patients is necessary</a:t>
            </a:r>
          </a:p>
          <a:p>
            <a:pPr marL="0" indent="0">
              <a:buNone/>
            </a:pP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The ICU can provide efficient and effective care to the critically ill </a:t>
            </a:r>
            <a:r>
              <a:rPr lang="en-US" sz="2000" dirty="0" err="1">
                <a:latin typeface="Times New Roman" pitchFamily="18" charset="0"/>
                <a:cs typeface="Times New Roman" pitchFamily="18" charset="0"/>
              </a:rPr>
              <a:t>pts</a:t>
            </a:r>
            <a:r>
              <a:rPr lang="en-US" sz="2000" dirty="0">
                <a:latin typeface="Times New Roman" pitchFamily="18" charset="0"/>
                <a:cs typeface="Times New Roman" pitchFamily="18" charset="0"/>
              </a:rPr>
              <a:t> by</a:t>
            </a:r>
          </a:p>
          <a:p>
            <a:pPr lvl="1"/>
            <a:r>
              <a:rPr lang="en-US" sz="1600" dirty="0">
                <a:latin typeface="Times New Roman" pitchFamily="18" charset="0"/>
                <a:cs typeface="Times New Roman" pitchFamily="18" charset="0"/>
              </a:rPr>
              <a:t> implementing well thought out admission, discharge, and triage policies and procedures</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Lucida Calligraphy" pitchFamily="66" charset="0"/>
              </a:rPr>
              <a:t>References</a:t>
            </a:r>
            <a:endParaRPr lang="en-US" dirty="0">
              <a:latin typeface="Lucida Calligraphy" pitchFamily="66" charset="0"/>
            </a:endParaRPr>
          </a:p>
        </p:txBody>
      </p:sp>
      <p:sp>
        <p:nvSpPr>
          <p:cNvPr id="3" name="Content Placeholder 2"/>
          <p:cNvSpPr>
            <a:spLocks noGrp="1"/>
          </p:cNvSpPr>
          <p:nvPr>
            <p:ph idx="1"/>
          </p:nvPr>
        </p:nvSpPr>
        <p:spPr>
          <a:xfrm>
            <a:off x="457200" y="1600200"/>
            <a:ext cx="8458200" cy="4525963"/>
          </a:xfrm>
        </p:spPr>
        <p:txBody>
          <a:bodyPr>
            <a:normAutofit fontScale="92500"/>
          </a:bodyPr>
          <a:lstStyle/>
          <a:p>
            <a:pPr marL="514350" indent="-514350">
              <a:buFont typeface="+mj-lt"/>
              <a:buAutoNum type="arabicPeriod"/>
            </a:pPr>
            <a:r>
              <a:rPr lang="en-US" sz="2400" dirty="0">
                <a:latin typeface="Times New Roman" pitchFamily="18" charset="0"/>
                <a:cs typeface="Times New Roman" pitchFamily="18" charset="0"/>
              </a:rPr>
              <a:t>ABC  of intensive care. British Medical journal. 29 May 1999; 318. </a:t>
            </a:r>
            <a:r>
              <a:rPr lang="en-US" sz="2400" dirty="0">
                <a:solidFill>
                  <a:schemeClr val="tx2"/>
                </a:solidFill>
                <a:latin typeface="Times New Roman" pitchFamily="18" charset="0"/>
                <a:cs typeface="Times New Roman" pitchFamily="18" charset="0"/>
              </a:rPr>
              <a:t>Available at www.bmj.com</a:t>
            </a:r>
            <a:r>
              <a:rPr lang="en-US" sz="2400" dirty="0">
                <a:latin typeface="Times New Roman" pitchFamily="18" charset="0"/>
                <a:cs typeface="Times New Roman" pitchFamily="18" charset="0"/>
              </a:rPr>
              <a:t> </a:t>
            </a:r>
          </a:p>
          <a:p>
            <a:pPr marL="514350" indent="-514350">
              <a:buFont typeface="+mj-lt"/>
              <a:buAutoNum type="arabicPeriod"/>
            </a:pPr>
            <a:r>
              <a:rPr lang="en-US" sz="2400" dirty="0">
                <a:latin typeface="Times New Roman" pitchFamily="18" charset="0"/>
                <a:cs typeface="Times New Roman" pitchFamily="18" charset="0"/>
              </a:rPr>
              <a:t>Pat Melanson. ICU Admission and Triage Criteria. McGill University Health Center</a:t>
            </a:r>
          </a:p>
          <a:p>
            <a:pPr marL="514350" indent="-514350">
              <a:buFont typeface="+mj-lt"/>
              <a:buAutoNum type="arabicPeriod"/>
            </a:pPr>
            <a:r>
              <a:rPr lang="en-US" sz="2400" dirty="0">
                <a:latin typeface="Times New Roman" pitchFamily="18" charset="0"/>
                <a:cs typeface="Times New Roman" pitchFamily="18" charset="0"/>
              </a:rPr>
              <a:t>Task Force of the American College of Critical Care Medicine, Society of Critical Care Medicine. Guidelines for intensive care unit admission, discharge, and triage. Critical Care Medicine, 999; 27(3), 633–8.  </a:t>
            </a:r>
          </a:p>
          <a:p>
            <a:pPr marL="514350" indent="-514350">
              <a:buFont typeface="+mj-lt"/>
              <a:buAutoNum type="arabicPeriod"/>
            </a:pPr>
            <a:r>
              <a:rPr lang="en-US" sz="2400" dirty="0">
                <a:latin typeface="Times New Roman" pitchFamily="18" charset="0"/>
                <a:cs typeface="Times New Roman" pitchFamily="18" charset="0"/>
              </a:rPr>
              <a:t>Bone RC, </a:t>
            </a:r>
            <a:r>
              <a:rPr lang="en-US" sz="2400" dirty="0" err="1">
                <a:latin typeface="Times New Roman" pitchFamily="18" charset="0"/>
                <a:cs typeface="Times New Roman" pitchFamily="18" charset="0"/>
              </a:rPr>
              <a:t>McElwee</a:t>
            </a:r>
            <a:r>
              <a:rPr lang="en-US" sz="2400" dirty="0">
                <a:latin typeface="Times New Roman" pitchFamily="18" charset="0"/>
                <a:cs typeface="Times New Roman" pitchFamily="18" charset="0"/>
              </a:rPr>
              <a:t> NE, Eubanks DH, et al.  Analysis of Indications for Intensive Care Unit Admission - Clinical Efficacy Project - American College of Physicians.  Chest 1993;104:1806-11.</a:t>
            </a:r>
          </a:p>
          <a:p>
            <a:pPr marL="514350" indent="-514350">
              <a:buFont typeface="+mj-lt"/>
              <a:buAutoNum type="arabicPeriod"/>
            </a:pPr>
            <a:r>
              <a:rPr lang="en-US" sz="2400" dirty="0">
                <a:latin typeface="Times New Roman" pitchFamily="18" charset="0"/>
                <a:cs typeface="Times New Roman" pitchFamily="18" charset="0"/>
              </a:rPr>
              <a:t>David </a:t>
            </a:r>
            <a:r>
              <a:rPr lang="en-US" sz="2400" dirty="0" err="1">
                <a:latin typeface="Times New Roman" pitchFamily="18" charset="0"/>
                <a:cs typeface="Times New Roman" pitchFamily="18" charset="0"/>
              </a:rPr>
              <a:t>C.Shelledy</a:t>
            </a:r>
            <a:r>
              <a:rPr lang="en-US" sz="2400" dirty="0">
                <a:latin typeface="Times New Roman" pitchFamily="18" charset="0"/>
                <a:cs typeface="Times New Roman" pitchFamily="18" charset="0"/>
              </a:rPr>
              <a:t>, Jay I. Peters. Mechanical ventilation, 1</a:t>
            </a:r>
            <a:r>
              <a:rPr lang="en-US" sz="2400" baseline="30000" dirty="0">
                <a:latin typeface="Times New Roman" pitchFamily="18" charset="0"/>
                <a:cs typeface="Times New Roman" pitchFamily="18" charset="0"/>
              </a:rPr>
              <a:t>st</a:t>
            </a:r>
            <a:r>
              <a:rPr lang="en-US" sz="2400" dirty="0">
                <a:latin typeface="Times New Roman" pitchFamily="18" charset="0"/>
                <a:cs typeface="Times New Roman" pitchFamily="18" charset="0"/>
              </a:rPr>
              <a:t> edition.</a:t>
            </a:r>
          </a:p>
          <a:p>
            <a:pPr marL="514350" indent="-514350">
              <a:buFont typeface="+mj-lt"/>
              <a:buAutoNum type="arabicPeriod"/>
            </a:pPr>
            <a:endParaRPr lang="en-US" sz="2400" dirty="0">
              <a:latin typeface="Times New Roman" pitchFamily="18" charset="0"/>
              <a:cs typeface="Times New Roman" pitchFamily="18" charset="0"/>
            </a:endParaRPr>
          </a:p>
          <a:p>
            <a:pPr marL="514350" indent="-514350">
              <a:buFont typeface="+mj-lt"/>
              <a:buAutoNum type="arabicPeriod"/>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36088042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27778" y="2967335"/>
            <a:ext cx="3688446" cy="923330"/>
          </a:xfrm>
          <a:prstGeom prst="rect">
            <a:avLst/>
          </a:prstGeom>
          <a:solidFill>
            <a:schemeClr val="tx2"/>
          </a:solidFill>
          <a:scene3d>
            <a:camera prst="isometricOffAxis1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THANK YOU</a:t>
            </a:r>
          </a:p>
        </p:txBody>
      </p:sp>
    </p:spTree>
    <p:extLst>
      <p:ext uri="{BB962C8B-B14F-4D97-AF65-F5344CB8AC3E}">
        <p14:creationId xmlns:p14="http://schemas.microsoft.com/office/powerpoint/2010/main" val="36816868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859</TotalTime>
  <Words>2717</Words>
  <Application>Microsoft Office PowerPoint</Application>
  <PresentationFormat>On-screen Show (4:3)</PresentationFormat>
  <Paragraphs>355</Paragraphs>
  <Slides>44</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Agency FB</vt:lpstr>
      <vt:lpstr>Algerian</vt:lpstr>
      <vt:lpstr>Arial</vt:lpstr>
      <vt:lpstr>Calibri</vt:lpstr>
      <vt:lpstr>Goudy Old Style</vt:lpstr>
      <vt:lpstr>Lucida Calligraphy</vt:lpstr>
      <vt:lpstr>Symbol</vt:lpstr>
      <vt:lpstr>Times New Roman</vt:lpstr>
      <vt:lpstr>Wingdings</vt:lpstr>
      <vt:lpstr>Office Theme</vt:lpstr>
      <vt:lpstr> Admission and discharge criteria to  and from ICU</vt:lpstr>
      <vt:lpstr>Outline</vt:lpstr>
      <vt:lpstr>Objectives</vt:lpstr>
      <vt:lpstr>Introduction</vt:lpstr>
      <vt:lpstr>Introduction…</vt:lpstr>
      <vt:lpstr>Introduction…</vt:lpstr>
      <vt:lpstr>Introduction…</vt:lpstr>
      <vt:lpstr>ICU Admission criteria</vt:lpstr>
      <vt:lpstr>ICU Admission cont….</vt:lpstr>
      <vt:lpstr>ICU Admission cont….</vt:lpstr>
      <vt:lpstr>ICU Admission cont….</vt:lpstr>
      <vt:lpstr>ICU Admission cont….</vt:lpstr>
      <vt:lpstr>ICU Admission cont….</vt:lpstr>
      <vt:lpstr>When to admit </vt:lpstr>
      <vt:lpstr>Cont…</vt:lpstr>
      <vt:lpstr>PowerPoint Presentation</vt:lpstr>
      <vt:lpstr>UK Guidelines on admission to and discharge from ICU and high dependency units </vt:lpstr>
      <vt:lpstr>Cont…</vt:lpstr>
      <vt:lpstr>Cont…</vt:lpstr>
      <vt:lpstr>ICU admission priority model adapted from the SCCM guideline</vt:lpstr>
      <vt:lpstr>Prioritization Model…</vt:lpstr>
      <vt:lpstr>Prioritization Model…</vt:lpstr>
      <vt:lpstr>Prioritization Model…</vt:lpstr>
      <vt:lpstr>Prioritization Model…</vt:lpstr>
      <vt:lpstr>Cont…</vt:lpstr>
      <vt:lpstr>Diagnosis Model… </vt:lpstr>
      <vt:lpstr>Diagnosis Model… </vt:lpstr>
      <vt:lpstr>Diagnosis Model… </vt:lpstr>
      <vt:lpstr>Diagnosis Model… </vt:lpstr>
      <vt:lpstr>Diagnosis Model… </vt:lpstr>
      <vt:lpstr>CONT…</vt:lpstr>
      <vt:lpstr>Objectives Model…</vt:lpstr>
      <vt:lpstr>Objectives Model…</vt:lpstr>
      <vt:lpstr>Objectives Model…</vt:lpstr>
      <vt:lpstr>Objectives Model…</vt:lpstr>
      <vt:lpstr>Discharge Criteria</vt:lpstr>
      <vt:lpstr>Cont…</vt:lpstr>
      <vt:lpstr>Patient Conditions Requiring ICU Admission and Mechanical Ventilation</vt:lpstr>
      <vt:lpstr>Cont.…</vt:lpstr>
      <vt:lpstr>Cont.…</vt:lpstr>
      <vt:lpstr>Cont.…</vt:lpstr>
      <vt:lpstr>Summary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ICU and pain management</dc:title>
  <dc:creator>DELL</dc:creator>
  <cp:lastModifiedBy>Mulualem Sitot</cp:lastModifiedBy>
  <cp:revision>241</cp:revision>
  <dcterms:created xsi:type="dcterms:W3CDTF">2006-08-16T00:00:00Z</dcterms:created>
  <dcterms:modified xsi:type="dcterms:W3CDTF">2026-04-07T11:48:33Z</dcterms:modified>
</cp:coreProperties>
</file>