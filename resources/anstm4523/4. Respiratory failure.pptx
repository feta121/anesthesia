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9"/>
  </p:notesMasterIdLst>
  <p:sldIdLst>
    <p:sldId id="258" r:id="rId2"/>
    <p:sldId id="299" r:id="rId3"/>
    <p:sldId id="347" r:id="rId4"/>
    <p:sldId id="348" r:id="rId5"/>
    <p:sldId id="351" r:id="rId6"/>
    <p:sldId id="346" r:id="rId7"/>
    <p:sldId id="259" r:id="rId8"/>
    <p:sldId id="349" r:id="rId9"/>
    <p:sldId id="339" r:id="rId10"/>
    <p:sldId id="317" r:id="rId11"/>
    <p:sldId id="319" r:id="rId12"/>
    <p:sldId id="340" r:id="rId13"/>
    <p:sldId id="316" r:id="rId14"/>
    <p:sldId id="322" r:id="rId15"/>
    <p:sldId id="342" r:id="rId16"/>
    <p:sldId id="341" r:id="rId17"/>
    <p:sldId id="323" r:id="rId18"/>
    <p:sldId id="324" r:id="rId19"/>
    <p:sldId id="343" r:id="rId20"/>
    <p:sldId id="312" r:id="rId21"/>
    <p:sldId id="260" r:id="rId22"/>
    <p:sldId id="325" r:id="rId23"/>
    <p:sldId id="326" r:id="rId24"/>
    <p:sldId id="332" r:id="rId25"/>
    <p:sldId id="328" r:id="rId26"/>
    <p:sldId id="329" r:id="rId27"/>
    <p:sldId id="345" r:id="rId28"/>
    <p:sldId id="330" r:id="rId29"/>
    <p:sldId id="335" r:id="rId30"/>
    <p:sldId id="333" r:id="rId31"/>
    <p:sldId id="336" r:id="rId32"/>
    <p:sldId id="261" r:id="rId33"/>
    <p:sldId id="337" r:id="rId34"/>
    <p:sldId id="311" r:id="rId35"/>
    <p:sldId id="338" r:id="rId36"/>
    <p:sldId id="303" r:id="rId37"/>
    <p:sldId id="262" r:id="rId38"/>
    <p:sldId id="310" r:id="rId39"/>
    <p:sldId id="301" r:id="rId40"/>
    <p:sldId id="266" r:id="rId41"/>
    <p:sldId id="302" r:id="rId42"/>
    <p:sldId id="273" r:id="rId43"/>
    <p:sldId id="267" r:id="rId44"/>
    <p:sldId id="274" r:id="rId45"/>
    <p:sldId id="268" r:id="rId46"/>
    <p:sldId id="264" r:id="rId47"/>
    <p:sldId id="309" r:id="rId48"/>
    <p:sldId id="360" r:id="rId49"/>
    <p:sldId id="263" r:id="rId50"/>
    <p:sldId id="269" r:id="rId51"/>
    <p:sldId id="354" r:id="rId52"/>
    <p:sldId id="270" r:id="rId53"/>
    <p:sldId id="355" r:id="rId54"/>
    <p:sldId id="307" r:id="rId55"/>
    <p:sldId id="306" r:id="rId56"/>
    <p:sldId id="356" r:id="rId57"/>
    <p:sldId id="357" r:id="rId58"/>
    <p:sldId id="359" r:id="rId59"/>
    <p:sldId id="308" r:id="rId60"/>
    <p:sldId id="361" r:id="rId61"/>
    <p:sldId id="276" r:id="rId62"/>
    <p:sldId id="278" r:id="rId63"/>
    <p:sldId id="279" r:id="rId64"/>
    <p:sldId id="280" r:id="rId65"/>
    <p:sldId id="282" r:id="rId66"/>
    <p:sldId id="283" r:id="rId67"/>
    <p:sldId id="284" r:id="rId68"/>
    <p:sldId id="287" r:id="rId69"/>
    <p:sldId id="288" r:id="rId70"/>
    <p:sldId id="290" r:id="rId71"/>
    <p:sldId id="291" r:id="rId72"/>
    <p:sldId id="362" r:id="rId73"/>
    <p:sldId id="363" r:id="rId74"/>
    <p:sldId id="292" r:id="rId75"/>
    <p:sldId id="293" r:id="rId76"/>
    <p:sldId id="294" r:id="rId77"/>
    <p:sldId id="295" r:id="rId78"/>
    <p:sldId id="364" r:id="rId79"/>
    <p:sldId id="365" r:id="rId80"/>
    <p:sldId id="366" r:id="rId81"/>
    <p:sldId id="296" r:id="rId82"/>
    <p:sldId id="297" r:id="rId83"/>
    <p:sldId id="298" r:id="rId84"/>
    <p:sldId id="281" r:id="rId85"/>
    <p:sldId id="304" r:id="rId86"/>
    <p:sldId id="344" r:id="rId87"/>
    <p:sldId id="305" r:id="rId8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ule" initials="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619" autoAdjust="0"/>
    <p:restoredTop sz="84530" autoAdjust="0"/>
  </p:normalViewPr>
  <p:slideViewPr>
    <p:cSldViewPr>
      <p:cViewPr varScale="1">
        <p:scale>
          <a:sx n="61" d="100"/>
          <a:sy n="61" d="100"/>
        </p:scale>
        <p:origin x="990" y="72"/>
      </p:cViewPr>
      <p:guideLst>
        <p:guide orient="horz" pos="2160"/>
        <p:guide pos="2880"/>
      </p:guideLst>
    </p:cSldViewPr>
  </p:slideViewPr>
  <p:outlineViewPr>
    <p:cViewPr>
      <p:scale>
        <a:sx n="33" d="100"/>
        <a:sy n="33" d="100"/>
      </p:scale>
      <p:origin x="0" y="26208"/>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141059-BCEC-4799-9355-F982B8943BB1}" type="doc">
      <dgm:prSet loTypeId="urn:microsoft.com/office/officeart/2005/8/layout/funnel1" loCatId="process" qsTypeId="urn:microsoft.com/office/officeart/2005/8/quickstyle/3d2" qsCatId="3D" csTypeId="urn:microsoft.com/office/officeart/2005/8/colors/colorful1" csCatId="colorful" phldr="1"/>
      <dgm:spPr/>
      <dgm:t>
        <a:bodyPr/>
        <a:lstStyle/>
        <a:p>
          <a:endParaRPr lang="en-US"/>
        </a:p>
      </dgm:t>
    </dgm:pt>
    <dgm:pt modelId="{76E24DA9-8292-4CB6-9910-646DF5C35203}">
      <dgm:prSet custT="1"/>
      <dgm:spPr>
        <a:ln>
          <a:solidFill>
            <a:schemeClr val="tx2">
              <a:lumMod val="20000"/>
              <a:lumOff val="80000"/>
            </a:schemeClr>
          </a:solidFill>
        </a:ln>
      </dgm:spPr>
      <dgm:t>
        <a:bodyPr/>
        <a:lstStyle/>
        <a:p>
          <a:pPr algn="r"/>
          <a:r>
            <a:rPr lang="en-US" sz="3600" b="1" dirty="0">
              <a:latin typeface="Arial" panose="020B0604020202020204" pitchFamily="34" charset="0"/>
              <a:cs typeface="Arial" panose="020B0604020202020204" pitchFamily="34" charset="0"/>
            </a:rPr>
            <a:t>Respiratory failure</a:t>
          </a:r>
        </a:p>
      </dgm:t>
    </dgm:pt>
    <dgm:pt modelId="{B599BE26-A0B9-4538-9510-4C9D4DC41BD2}" type="parTrans" cxnId="{D33E2FFA-4800-43EF-B68D-8CC7724E6AB1}">
      <dgm:prSet/>
      <dgm:spPr/>
      <dgm:t>
        <a:bodyPr/>
        <a:lstStyle/>
        <a:p>
          <a:endParaRPr lang="en-US"/>
        </a:p>
      </dgm:t>
    </dgm:pt>
    <dgm:pt modelId="{10858C3D-8F7E-428C-A210-0C59FB2B9A9F}" type="sibTrans" cxnId="{D33E2FFA-4800-43EF-B68D-8CC7724E6AB1}">
      <dgm:prSet/>
      <dgm:spPr/>
      <dgm:t>
        <a:bodyPr/>
        <a:lstStyle/>
        <a:p>
          <a:endParaRPr lang="en-US"/>
        </a:p>
      </dgm:t>
    </dgm:pt>
    <dgm:pt modelId="{833EECFB-B4FE-4C7E-A6ED-D9815BAA77BA}">
      <dgm:prSet/>
      <dgm:spPr/>
      <dgm:t>
        <a:bodyPr/>
        <a:lstStyle/>
        <a:p>
          <a:endParaRPr lang="en-US"/>
        </a:p>
      </dgm:t>
    </dgm:pt>
    <dgm:pt modelId="{E47C3503-9E91-42A4-B690-16059E429B57}" type="parTrans" cxnId="{CE2028B3-A0D0-4D4B-BB90-DDCC76E4436B}">
      <dgm:prSet/>
      <dgm:spPr/>
      <dgm:t>
        <a:bodyPr/>
        <a:lstStyle/>
        <a:p>
          <a:endParaRPr lang="en-US"/>
        </a:p>
      </dgm:t>
    </dgm:pt>
    <dgm:pt modelId="{A8520204-9DE6-41C7-A920-4266713D69BE}" type="sibTrans" cxnId="{CE2028B3-A0D0-4D4B-BB90-DDCC76E4436B}">
      <dgm:prSet/>
      <dgm:spPr/>
      <dgm:t>
        <a:bodyPr/>
        <a:lstStyle/>
        <a:p>
          <a:endParaRPr lang="en-US"/>
        </a:p>
      </dgm:t>
    </dgm:pt>
    <dgm:pt modelId="{F20136C5-5B8B-4EE1-8419-E11C0FEB61B7}" type="pres">
      <dgm:prSet presAssocID="{0A141059-BCEC-4799-9355-F982B8943BB1}" presName="Name0" presStyleCnt="0">
        <dgm:presLayoutVars>
          <dgm:chMax val="4"/>
          <dgm:resizeHandles val="exact"/>
        </dgm:presLayoutVars>
      </dgm:prSet>
      <dgm:spPr/>
    </dgm:pt>
    <dgm:pt modelId="{7ABA0C45-5F66-4E90-86CF-6BCF35AD0C38}" type="pres">
      <dgm:prSet presAssocID="{0A141059-BCEC-4799-9355-F982B8943BB1}" presName="ellipse" presStyleLbl="trBgShp" presStyleIdx="0" presStyleCnt="1"/>
      <dgm:spPr/>
    </dgm:pt>
    <dgm:pt modelId="{A812E531-D954-4E8C-B9CD-B80FC6CE48D1}" type="pres">
      <dgm:prSet presAssocID="{0A141059-BCEC-4799-9355-F982B8943BB1}" presName="arrow1" presStyleLbl="fgShp" presStyleIdx="0" presStyleCnt="1"/>
      <dgm:spPr/>
    </dgm:pt>
    <dgm:pt modelId="{DD9DD0DF-D02F-4D06-8C2B-F590E2FA1E1A}" type="pres">
      <dgm:prSet presAssocID="{0A141059-BCEC-4799-9355-F982B8943BB1}" presName="rectangle" presStyleLbl="revTx" presStyleIdx="0" presStyleCnt="1" custScaleX="184076">
        <dgm:presLayoutVars>
          <dgm:bulletEnabled val="1"/>
        </dgm:presLayoutVars>
      </dgm:prSet>
      <dgm:spPr/>
    </dgm:pt>
    <dgm:pt modelId="{C1550908-AC48-4CCD-A80E-8172E37C5A37}" type="pres">
      <dgm:prSet presAssocID="{76E24DA9-8292-4CB6-9910-646DF5C35203}" presName="item1" presStyleLbl="node1" presStyleIdx="0" presStyleCnt="1" custLinFactNeighborX="6562" custLinFactNeighborY="-9009">
        <dgm:presLayoutVars>
          <dgm:bulletEnabled val="1"/>
        </dgm:presLayoutVars>
      </dgm:prSet>
      <dgm:spPr/>
    </dgm:pt>
    <dgm:pt modelId="{68793116-282D-4844-994B-99DC57A34FE6}" type="pres">
      <dgm:prSet presAssocID="{0A141059-BCEC-4799-9355-F982B8943BB1}" presName="funnel" presStyleLbl="trAlignAcc1" presStyleIdx="0" presStyleCnt="1" custLinFactNeighborX="-378" custLinFactNeighborY="-8108"/>
      <dgm:spPr/>
    </dgm:pt>
  </dgm:ptLst>
  <dgm:cxnLst>
    <dgm:cxn modelId="{83236E68-4459-4DDF-82E7-A5E6522A45D8}" type="presOf" srcId="{833EECFB-B4FE-4C7E-A6ED-D9815BAA77BA}" destId="{C1550908-AC48-4CCD-A80E-8172E37C5A37}" srcOrd="0" destOrd="0" presId="urn:microsoft.com/office/officeart/2005/8/layout/funnel1"/>
    <dgm:cxn modelId="{D372CB83-3149-4749-91A5-1C7BD8F35CE4}" type="presOf" srcId="{76E24DA9-8292-4CB6-9910-646DF5C35203}" destId="{DD9DD0DF-D02F-4D06-8C2B-F590E2FA1E1A}" srcOrd="0" destOrd="0" presId="urn:microsoft.com/office/officeart/2005/8/layout/funnel1"/>
    <dgm:cxn modelId="{BFE17AAC-CD69-4367-B0AE-2802C64A8020}" type="presOf" srcId="{0A141059-BCEC-4799-9355-F982B8943BB1}" destId="{F20136C5-5B8B-4EE1-8419-E11C0FEB61B7}" srcOrd="0" destOrd="0" presId="urn:microsoft.com/office/officeart/2005/8/layout/funnel1"/>
    <dgm:cxn modelId="{CE2028B3-A0D0-4D4B-BB90-DDCC76E4436B}" srcId="{0A141059-BCEC-4799-9355-F982B8943BB1}" destId="{833EECFB-B4FE-4C7E-A6ED-D9815BAA77BA}" srcOrd="0" destOrd="0" parTransId="{E47C3503-9E91-42A4-B690-16059E429B57}" sibTransId="{A8520204-9DE6-41C7-A920-4266713D69BE}"/>
    <dgm:cxn modelId="{D33E2FFA-4800-43EF-B68D-8CC7724E6AB1}" srcId="{0A141059-BCEC-4799-9355-F982B8943BB1}" destId="{76E24DA9-8292-4CB6-9910-646DF5C35203}" srcOrd="1" destOrd="0" parTransId="{B599BE26-A0B9-4538-9510-4C9D4DC41BD2}" sibTransId="{10858C3D-8F7E-428C-A210-0C59FB2B9A9F}"/>
    <dgm:cxn modelId="{2E626AC8-B473-45D2-B9DB-4D5289CA5B1F}" type="presParOf" srcId="{F20136C5-5B8B-4EE1-8419-E11C0FEB61B7}" destId="{7ABA0C45-5F66-4E90-86CF-6BCF35AD0C38}" srcOrd="0" destOrd="0" presId="urn:microsoft.com/office/officeart/2005/8/layout/funnel1"/>
    <dgm:cxn modelId="{AB6D930D-C3F2-4113-B035-E1C64F87B9F4}" type="presParOf" srcId="{F20136C5-5B8B-4EE1-8419-E11C0FEB61B7}" destId="{A812E531-D954-4E8C-B9CD-B80FC6CE48D1}" srcOrd="1" destOrd="0" presId="urn:microsoft.com/office/officeart/2005/8/layout/funnel1"/>
    <dgm:cxn modelId="{A00A9B4C-CA51-46CA-962B-D5CDA4059BFA}" type="presParOf" srcId="{F20136C5-5B8B-4EE1-8419-E11C0FEB61B7}" destId="{DD9DD0DF-D02F-4D06-8C2B-F590E2FA1E1A}" srcOrd="2" destOrd="0" presId="urn:microsoft.com/office/officeart/2005/8/layout/funnel1"/>
    <dgm:cxn modelId="{9D7559C7-2111-4F45-8E88-EB702B6FDEF8}" type="presParOf" srcId="{F20136C5-5B8B-4EE1-8419-E11C0FEB61B7}" destId="{C1550908-AC48-4CCD-A80E-8172E37C5A37}" srcOrd="3" destOrd="0" presId="urn:microsoft.com/office/officeart/2005/8/layout/funnel1"/>
    <dgm:cxn modelId="{F722E938-E2C0-44AB-864F-8AE2641FC013}" type="presParOf" srcId="{F20136C5-5B8B-4EE1-8419-E11C0FEB61B7}" destId="{68793116-282D-4844-994B-99DC57A34FE6}" srcOrd="4" destOrd="0" presId="urn:microsoft.com/office/officeart/2005/8/layout/funne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73A6A7-52F4-401D-BC26-BECB7D89B6E2}" type="doc">
      <dgm:prSet loTypeId="urn:microsoft.com/office/officeart/2005/8/layout/hierarchy2" loCatId="hierarchy" qsTypeId="urn:microsoft.com/office/officeart/2005/8/quickstyle/simple2" qsCatId="simple" csTypeId="urn:microsoft.com/office/officeart/2005/8/colors/accent1_1" csCatId="accent1" phldr="1"/>
      <dgm:spPr/>
      <dgm:t>
        <a:bodyPr/>
        <a:lstStyle/>
        <a:p>
          <a:endParaRPr lang="en-US"/>
        </a:p>
      </dgm:t>
    </dgm:pt>
    <dgm:pt modelId="{EAE8B294-94DC-4345-854B-3575F53B189E}">
      <dgm:prSet/>
      <dgm:spPr/>
      <dgm:t>
        <a:bodyPr/>
        <a:lstStyle/>
        <a:p>
          <a:r>
            <a:rPr lang="en-US" dirty="0"/>
            <a:t>It is primarily caused by V/Q Mismatch</a:t>
          </a:r>
        </a:p>
      </dgm:t>
    </dgm:pt>
    <dgm:pt modelId="{84B88B58-0486-4077-8EBC-6F12946E2E9C}" type="parTrans" cxnId="{77A97939-7576-492B-9F9D-66113A443377}">
      <dgm:prSet/>
      <dgm:spPr/>
      <dgm:t>
        <a:bodyPr/>
        <a:lstStyle/>
        <a:p>
          <a:endParaRPr lang="en-US"/>
        </a:p>
      </dgm:t>
    </dgm:pt>
    <dgm:pt modelId="{0ED92D24-C25A-4846-8CA7-FDEFACF6B8D8}" type="sibTrans" cxnId="{77A97939-7576-492B-9F9D-66113A443377}">
      <dgm:prSet/>
      <dgm:spPr/>
      <dgm:t>
        <a:bodyPr/>
        <a:lstStyle/>
        <a:p>
          <a:endParaRPr lang="en-US"/>
        </a:p>
      </dgm:t>
    </dgm:pt>
    <dgm:pt modelId="{3376BD99-2A80-4280-BACD-13D4F446215A}">
      <dgm:prSet/>
      <dgm:spPr/>
      <dgm:t>
        <a:bodyPr/>
        <a:lstStyle/>
        <a:p>
          <a:r>
            <a:rPr lang="en-US"/>
            <a:t>Common causes of hypoxemic respiratory failure include</a:t>
          </a:r>
        </a:p>
      </dgm:t>
    </dgm:pt>
    <dgm:pt modelId="{E573F9DB-D04D-44F1-91C6-51798698122E}" type="parTrans" cxnId="{C5EC3E42-ADFE-4D4E-BAE6-F8C498E21B85}">
      <dgm:prSet/>
      <dgm:spPr/>
      <dgm:t>
        <a:bodyPr/>
        <a:lstStyle/>
        <a:p>
          <a:endParaRPr lang="en-US"/>
        </a:p>
      </dgm:t>
    </dgm:pt>
    <dgm:pt modelId="{D389F8C8-7D1F-493B-891C-B0C5318C3EA2}" type="sibTrans" cxnId="{C5EC3E42-ADFE-4D4E-BAE6-F8C498E21B85}">
      <dgm:prSet/>
      <dgm:spPr/>
      <dgm:t>
        <a:bodyPr/>
        <a:lstStyle/>
        <a:p>
          <a:endParaRPr lang="en-US"/>
        </a:p>
      </dgm:t>
    </dgm:pt>
    <dgm:pt modelId="{220F95CC-3B9B-408B-9143-B63B3BE02581}">
      <dgm:prSet/>
      <dgm:spPr/>
      <dgm:t>
        <a:bodyPr/>
        <a:lstStyle/>
        <a:p>
          <a:r>
            <a:rPr lang="en-US" b="1" dirty="0"/>
            <a:t>atelectasis</a:t>
          </a:r>
          <a:r>
            <a:rPr lang="en-US" dirty="0"/>
            <a:t>, </a:t>
          </a:r>
          <a:r>
            <a:rPr lang="en-US" b="1" dirty="0"/>
            <a:t>pneumonia</a:t>
          </a:r>
          <a:r>
            <a:rPr lang="en-US" dirty="0"/>
            <a:t>, and </a:t>
          </a:r>
          <a:r>
            <a:rPr lang="en-US" b="1" dirty="0"/>
            <a:t>pulmonary edema</a:t>
          </a:r>
          <a:endParaRPr lang="en-US" dirty="0"/>
        </a:p>
      </dgm:t>
    </dgm:pt>
    <dgm:pt modelId="{2A68944F-5267-430F-867F-C013BE5E74B6}" type="parTrans" cxnId="{19DF9E59-2BCD-46A8-86A3-11A6CDE03C63}">
      <dgm:prSet/>
      <dgm:spPr/>
      <dgm:t>
        <a:bodyPr/>
        <a:lstStyle/>
        <a:p>
          <a:endParaRPr lang="en-US"/>
        </a:p>
      </dgm:t>
    </dgm:pt>
    <dgm:pt modelId="{21645CD1-8029-4B1A-B510-6E31F6665895}" type="sibTrans" cxnId="{19DF9E59-2BCD-46A8-86A3-11A6CDE03C63}">
      <dgm:prSet/>
      <dgm:spPr/>
      <dgm:t>
        <a:bodyPr/>
        <a:lstStyle/>
        <a:p>
          <a:endParaRPr lang="en-US"/>
        </a:p>
      </dgm:t>
    </dgm:pt>
    <dgm:pt modelId="{7ADA641B-2434-4629-AE68-FD990F6D2DAD}">
      <dgm:prSet/>
      <dgm:spPr/>
      <dgm:t>
        <a:bodyPr/>
        <a:lstStyle/>
        <a:p>
          <a:r>
            <a:rPr lang="en-US"/>
            <a:t>N.B. </a:t>
          </a:r>
        </a:p>
      </dgm:t>
    </dgm:pt>
    <dgm:pt modelId="{0ECD9EEF-FA07-4BA0-BC66-FA5851E1E305}" type="parTrans" cxnId="{71610BD0-E647-4C76-9C1E-4DD2578B89F8}">
      <dgm:prSet/>
      <dgm:spPr/>
      <dgm:t>
        <a:bodyPr/>
        <a:lstStyle/>
        <a:p>
          <a:endParaRPr lang="en-US"/>
        </a:p>
      </dgm:t>
    </dgm:pt>
    <dgm:pt modelId="{A204DBD4-6623-41BC-A207-598D7E1DD6A9}" type="sibTrans" cxnId="{71610BD0-E647-4C76-9C1E-4DD2578B89F8}">
      <dgm:prSet/>
      <dgm:spPr/>
      <dgm:t>
        <a:bodyPr/>
        <a:lstStyle/>
        <a:p>
          <a:endParaRPr lang="en-US"/>
        </a:p>
      </dgm:t>
    </dgm:pt>
    <dgm:pt modelId="{9A0CC6CE-7FC4-4440-831F-375CD9FB1D9C}">
      <dgm:prSet/>
      <dgm:spPr/>
      <dgm:t>
        <a:bodyPr/>
        <a:lstStyle/>
        <a:p>
          <a:r>
            <a:rPr lang="en-US" dirty="0"/>
            <a:t>ARDS is a type of hypoxemic respiratory failure due to noncardiogenic pulmonary edema.</a:t>
          </a:r>
        </a:p>
      </dgm:t>
    </dgm:pt>
    <dgm:pt modelId="{4B3C35CD-0E73-442E-A70D-F7511D1742D1}" type="parTrans" cxnId="{892EA333-6512-4FE4-84EA-744CA18CB436}">
      <dgm:prSet/>
      <dgm:spPr/>
      <dgm:t>
        <a:bodyPr/>
        <a:lstStyle/>
        <a:p>
          <a:endParaRPr lang="en-US"/>
        </a:p>
      </dgm:t>
    </dgm:pt>
    <dgm:pt modelId="{F69B6F78-C70A-4B3E-AF8F-136C37475E69}" type="sibTrans" cxnId="{892EA333-6512-4FE4-84EA-744CA18CB436}">
      <dgm:prSet/>
      <dgm:spPr/>
      <dgm:t>
        <a:bodyPr/>
        <a:lstStyle/>
        <a:p>
          <a:endParaRPr lang="en-US"/>
        </a:p>
      </dgm:t>
    </dgm:pt>
    <dgm:pt modelId="{CA336E7E-997A-4392-B630-EA9697937724}" type="pres">
      <dgm:prSet presAssocID="{D273A6A7-52F4-401D-BC26-BECB7D89B6E2}" presName="diagram" presStyleCnt="0">
        <dgm:presLayoutVars>
          <dgm:chPref val="1"/>
          <dgm:dir/>
          <dgm:animOne val="branch"/>
          <dgm:animLvl val="lvl"/>
          <dgm:resizeHandles val="exact"/>
        </dgm:presLayoutVars>
      </dgm:prSet>
      <dgm:spPr/>
    </dgm:pt>
    <dgm:pt modelId="{E6CC73FF-89D4-484A-89CF-E7FB1587995C}" type="pres">
      <dgm:prSet presAssocID="{EAE8B294-94DC-4345-854B-3575F53B189E}" presName="root1" presStyleCnt="0"/>
      <dgm:spPr/>
    </dgm:pt>
    <dgm:pt modelId="{55EE3CE6-05B4-4DA5-988C-5788CFAB96A7}" type="pres">
      <dgm:prSet presAssocID="{EAE8B294-94DC-4345-854B-3575F53B189E}" presName="LevelOneTextNode" presStyleLbl="node0" presStyleIdx="0" presStyleCnt="3" custScaleX="160524">
        <dgm:presLayoutVars>
          <dgm:chPref val="3"/>
        </dgm:presLayoutVars>
      </dgm:prSet>
      <dgm:spPr/>
    </dgm:pt>
    <dgm:pt modelId="{434FC708-81DE-412B-B65B-87B5AADC01C3}" type="pres">
      <dgm:prSet presAssocID="{EAE8B294-94DC-4345-854B-3575F53B189E}" presName="level2hierChild" presStyleCnt="0"/>
      <dgm:spPr/>
    </dgm:pt>
    <dgm:pt modelId="{27ACB83D-9C7F-4AB2-A5F5-F6D3877C9879}" type="pres">
      <dgm:prSet presAssocID="{3376BD99-2A80-4280-BACD-13D4F446215A}" presName="root1" presStyleCnt="0"/>
      <dgm:spPr/>
    </dgm:pt>
    <dgm:pt modelId="{BCE022D5-2C5F-4AA8-82FF-84EC86F09887}" type="pres">
      <dgm:prSet presAssocID="{3376BD99-2A80-4280-BACD-13D4F446215A}" presName="LevelOneTextNode" presStyleLbl="node0" presStyleIdx="1" presStyleCnt="3">
        <dgm:presLayoutVars>
          <dgm:chPref val="3"/>
        </dgm:presLayoutVars>
      </dgm:prSet>
      <dgm:spPr/>
    </dgm:pt>
    <dgm:pt modelId="{DC8232D5-D337-4004-AA69-A049804CE4C1}" type="pres">
      <dgm:prSet presAssocID="{3376BD99-2A80-4280-BACD-13D4F446215A}" presName="level2hierChild" presStyleCnt="0"/>
      <dgm:spPr/>
    </dgm:pt>
    <dgm:pt modelId="{CD6B9B0E-E056-44B0-BF16-48A23B44D34E}" type="pres">
      <dgm:prSet presAssocID="{2A68944F-5267-430F-867F-C013BE5E74B6}" presName="conn2-1" presStyleLbl="parChTrans1D2" presStyleIdx="0" presStyleCnt="2"/>
      <dgm:spPr/>
    </dgm:pt>
    <dgm:pt modelId="{19EE92E1-EB7A-4176-9B06-6D7C7E2783DA}" type="pres">
      <dgm:prSet presAssocID="{2A68944F-5267-430F-867F-C013BE5E74B6}" presName="connTx" presStyleLbl="parChTrans1D2" presStyleIdx="0" presStyleCnt="2"/>
      <dgm:spPr/>
    </dgm:pt>
    <dgm:pt modelId="{86D17061-1E3C-413B-8ED7-EA863FD835FF}" type="pres">
      <dgm:prSet presAssocID="{220F95CC-3B9B-408B-9143-B63B3BE02581}" presName="root2" presStyleCnt="0"/>
      <dgm:spPr/>
    </dgm:pt>
    <dgm:pt modelId="{93EB2753-679A-4C27-B77C-CCFB69DDDA64}" type="pres">
      <dgm:prSet presAssocID="{220F95CC-3B9B-408B-9143-B63B3BE02581}" presName="LevelTwoTextNode" presStyleLbl="node2" presStyleIdx="0" presStyleCnt="2">
        <dgm:presLayoutVars>
          <dgm:chPref val="3"/>
        </dgm:presLayoutVars>
      </dgm:prSet>
      <dgm:spPr/>
    </dgm:pt>
    <dgm:pt modelId="{FFDD1CF5-4FC9-48BA-8ABE-FC5BC3474374}" type="pres">
      <dgm:prSet presAssocID="{220F95CC-3B9B-408B-9143-B63B3BE02581}" presName="level3hierChild" presStyleCnt="0"/>
      <dgm:spPr/>
    </dgm:pt>
    <dgm:pt modelId="{09F85CFE-CC48-4BAE-B981-B66D467B5102}" type="pres">
      <dgm:prSet presAssocID="{7ADA641B-2434-4629-AE68-FD990F6D2DAD}" presName="root1" presStyleCnt="0"/>
      <dgm:spPr/>
    </dgm:pt>
    <dgm:pt modelId="{44949F74-7284-4C89-922D-336717F70537}" type="pres">
      <dgm:prSet presAssocID="{7ADA641B-2434-4629-AE68-FD990F6D2DAD}" presName="LevelOneTextNode" presStyleLbl="node0" presStyleIdx="2" presStyleCnt="3" custScaleX="39896">
        <dgm:presLayoutVars>
          <dgm:chPref val="3"/>
        </dgm:presLayoutVars>
      </dgm:prSet>
      <dgm:spPr/>
    </dgm:pt>
    <dgm:pt modelId="{A7CEB0E0-18D2-4D42-A26A-B598054CC683}" type="pres">
      <dgm:prSet presAssocID="{7ADA641B-2434-4629-AE68-FD990F6D2DAD}" presName="level2hierChild" presStyleCnt="0"/>
      <dgm:spPr/>
    </dgm:pt>
    <dgm:pt modelId="{192F4174-2D5E-4461-92A3-FC6687453904}" type="pres">
      <dgm:prSet presAssocID="{4B3C35CD-0E73-442E-A70D-F7511D1742D1}" presName="conn2-1" presStyleLbl="parChTrans1D2" presStyleIdx="1" presStyleCnt="2"/>
      <dgm:spPr/>
    </dgm:pt>
    <dgm:pt modelId="{A589BDC8-68AB-4C35-96E2-1823E35B9F86}" type="pres">
      <dgm:prSet presAssocID="{4B3C35CD-0E73-442E-A70D-F7511D1742D1}" presName="connTx" presStyleLbl="parChTrans1D2" presStyleIdx="1" presStyleCnt="2"/>
      <dgm:spPr/>
    </dgm:pt>
    <dgm:pt modelId="{DD5CEFB1-5A61-4435-A4B7-E8F8F8D2D750}" type="pres">
      <dgm:prSet presAssocID="{9A0CC6CE-7FC4-4440-831F-375CD9FB1D9C}" presName="root2" presStyleCnt="0"/>
      <dgm:spPr/>
    </dgm:pt>
    <dgm:pt modelId="{A22CF405-9291-41BC-90FB-1CEB0DCBD345}" type="pres">
      <dgm:prSet presAssocID="{9A0CC6CE-7FC4-4440-831F-375CD9FB1D9C}" presName="LevelTwoTextNode" presStyleLbl="node2" presStyleIdx="1" presStyleCnt="2" custScaleX="187050">
        <dgm:presLayoutVars>
          <dgm:chPref val="3"/>
        </dgm:presLayoutVars>
      </dgm:prSet>
      <dgm:spPr/>
    </dgm:pt>
    <dgm:pt modelId="{32BD49D1-045D-4326-ADEC-70A533B834A8}" type="pres">
      <dgm:prSet presAssocID="{9A0CC6CE-7FC4-4440-831F-375CD9FB1D9C}" presName="level3hierChild" presStyleCnt="0"/>
      <dgm:spPr/>
    </dgm:pt>
  </dgm:ptLst>
  <dgm:cxnLst>
    <dgm:cxn modelId="{E0966900-5A59-4FB3-AD30-5351097DB5A5}" type="presOf" srcId="{9A0CC6CE-7FC4-4440-831F-375CD9FB1D9C}" destId="{A22CF405-9291-41BC-90FB-1CEB0DCBD345}" srcOrd="0" destOrd="0" presId="urn:microsoft.com/office/officeart/2005/8/layout/hierarchy2"/>
    <dgm:cxn modelId="{22BC1632-6DEF-4221-A11A-2936F25C24BD}" type="presOf" srcId="{2A68944F-5267-430F-867F-C013BE5E74B6}" destId="{CD6B9B0E-E056-44B0-BF16-48A23B44D34E}" srcOrd="0" destOrd="0" presId="urn:microsoft.com/office/officeart/2005/8/layout/hierarchy2"/>
    <dgm:cxn modelId="{892EA333-6512-4FE4-84EA-744CA18CB436}" srcId="{7ADA641B-2434-4629-AE68-FD990F6D2DAD}" destId="{9A0CC6CE-7FC4-4440-831F-375CD9FB1D9C}" srcOrd="0" destOrd="0" parTransId="{4B3C35CD-0E73-442E-A70D-F7511D1742D1}" sibTransId="{F69B6F78-C70A-4B3E-AF8F-136C37475E69}"/>
    <dgm:cxn modelId="{77A97939-7576-492B-9F9D-66113A443377}" srcId="{D273A6A7-52F4-401D-BC26-BECB7D89B6E2}" destId="{EAE8B294-94DC-4345-854B-3575F53B189E}" srcOrd="0" destOrd="0" parTransId="{84B88B58-0486-4077-8EBC-6F12946E2E9C}" sibTransId="{0ED92D24-C25A-4846-8CA7-FDEFACF6B8D8}"/>
    <dgm:cxn modelId="{C5EC3E42-ADFE-4D4E-BAE6-F8C498E21B85}" srcId="{D273A6A7-52F4-401D-BC26-BECB7D89B6E2}" destId="{3376BD99-2A80-4280-BACD-13D4F446215A}" srcOrd="1" destOrd="0" parTransId="{E573F9DB-D04D-44F1-91C6-51798698122E}" sibTransId="{D389F8C8-7D1F-493B-891C-B0C5318C3EA2}"/>
    <dgm:cxn modelId="{3CA00B4A-6FBA-4F1F-BF45-0F82EF720331}" type="presOf" srcId="{4B3C35CD-0E73-442E-A70D-F7511D1742D1}" destId="{A589BDC8-68AB-4C35-96E2-1823E35B9F86}" srcOrd="1" destOrd="0" presId="urn:microsoft.com/office/officeart/2005/8/layout/hierarchy2"/>
    <dgm:cxn modelId="{79DF5D71-65C1-485E-ACA5-03AEF50FC27C}" type="presOf" srcId="{220F95CC-3B9B-408B-9143-B63B3BE02581}" destId="{93EB2753-679A-4C27-B77C-CCFB69DDDA64}" srcOrd="0" destOrd="0" presId="urn:microsoft.com/office/officeart/2005/8/layout/hierarchy2"/>
    <dgm:cxn modelId="{4781B056-12B8-4AFB-A838-73BACECDF151}" type="presOf" srcId="{3376BD99-2A80-4280-BACD-13D4F446215A}" destId="{BCE022D5-2C5F-4AA8-82FF-84EC86F09887}" srcOrd="0" destOrd="0" presId="urn:microsoft.com/office/officeart/2005/8/layout/hierarchy2"/>
    <dgm:cxn modelId="{19DF9E59-2BCD-46A8-86A3-11A6CDE03C63}" srcId="{3376BD99-2A80-4280-BACD-13D4F446215A}" destId="{220F95CC-3B9B-408B-9143-B63B3BE02581}" srcOrd="0" destOrd="0" parTransId="{2A68944F-5267-430F-867F-C013BE5E74B6}" sibTransId="{21645CD1-8029-4B1A-B510-6E31F6665895}"/>
    <dgm:cxn modelId="{43F2D997-7D24-4BD3-88C6-8754A2BF76B8}" type="presOf" srcId="{4B3C35CD-0E73-442E-A70D-F7511D1742D1}" destId="{192F4174-2D5E-4461-92A3-FC6687453904}" srcOrd="0" destOrd="0" presId="urn:microsoft.com/office/officeart/2005/8/layout/hierarchy2"/>
    <dgm:cxn modelId="{1D2A92A1-8EBE-4D0E-9F55-63B077E81273}" type="presOf" srcId="{2A68944F-5267-430F-867F-C013BE5E74B6}" destId="{19EE92E1-EB7A-4176-9B06-6D7C7E2783DA}" srcOrd="1" destOrd="0" presId="urn:microsoft.com/office/officeart/2005/8/layout/hierarchy2"/>
    <dgm:cxn modelId="{859636BC-6EF0-417B-A0CD-34A1DFD063B3}" type="presOf" srcId="{EAE8B294-94DC-4345-854B-3575F53B189E}" destId="{55EE3CE6-05B4-4DA5-988C-5788CFAB96A7}" srcOrd="0" destOrd="0" presId="urn:microsoft.com/office/officeart/2005/8/layout/hierarchy2"/>
    <dgm:cxn modelId="{314BA1C9-0C03-4A3B-A85B-E8B8EC67181B}" type="presOf" srcId="{D273A6A7-52F4-401D-BC26-BECB7D89B6E2}" destId="{CA336E7E-997A-4392-B630-EA9697937724}" srcOrd="0" destOrd="0" presId="urn:microsoft.com/office/officeart/2005/8/layout/hierarchy2"/>
    <dgm:cxn modelId="{71610BD0-E647-4C76-9C1E-4DD2578B89F8}" srcId="{D273A6A7-52F4-401D-BC26-BECB7D89B6E2}" destId="{7ADA641B-2434-4629-AE68-FD990F6D2DAD}" srcOrd="2" destOrd="0" parTransId="{0ECD9EEF-FA07-4BA0-BC66-FA5851E1E305}" sibTransId="{A204DBD4-6623-41BC-A207-598D7E1DD6A9}"/>
    <dgm:cxn modelId="{FC631BD4-1F93-414D-90DE-601885867E24}" type="presOf" srcId="{7ADA641B-2434-4629-AE68-FD990F6D2DAD}" destId="{44949F74-7284-4C89-922D-336717F70537}" srcOrd="0" destOrd="0" presId="urn:microsoft.com/office/officeart/2005/8/layout/hierarchy2"/>
    <dgm:cxn modelId="{D7468833-99EC-4F98-88C9-82B3C09EC7CA}" type="presParOf" srcId="{CA336E7E-997A-4392-B630-EA9697937724}" destId="{E6CC73FF-89D4-484A-89CF-E7FB1587995C}" srcOrd="0" destOrd="0" presId="urn:microsoft.com/office/officeart/2005/8/layout/hierarchy2"/>
    <dgm:cxn modelId="{2FB73526-6D31-494D-B9B4-993857EA129E}" type="presParOf" srcId="{E6CC73FF-89D4-484A-89CF-E7FB1587995C}" destId="{55EE3CE6-05B4-4DA5-988C-5788CFAB96A7}" srcOrd="0" destOrd="0" presId="urn:microsoft.com/office/officeart/2005/8/layout/hierarchy2"/>
    <dgm:cxn modelId="{7E214A51-2F2A-4D8A-A9E6-D6C01E4D36D2}" type="presParOf" srcId="{E6CC73FF-89D4-484A-89CF-E7FB1587995C}" destId="{434FC708-81DE-412B-B65B-87B5AADC01C3}" srcOrd="1" destOrd="0" presId="urn:microsoft.com/office/officeart/2005/8/layout/hierarchy2"/>
    <dgm:cxn modelId="{5DBA1D0F-9C8A-4D16-B79B-18463B32925A}" type="presParOf" srcId="{CA336E7E-997A-4392-B630-EA9697937724}" destId="{27ACB83D-9C7F-4AB2-A5F5-F6D3877C9879}" srcOrd="1" destOrd="0" presId="urn:microsoft.com/office/officeart/2005/8/layout/hierarchy2"/>
    <dgm:cxn modelId="{E5B18757-F3A7-4F45-9898-D82E9BDBA90E}" type="presParOf" srcId="{27ACB83D-9C7F-4AB2-A5F5-F6D3877C9879}" destId="{BCE022D5-2C5F-4AA8-82FF-84EC86F09887}" srcOrd="0" destOrd="0" presId="urn:microsoft.com/office/officeart/2005/8/layout/hierarchy2"/>
    <dgm:cxn modelId="{61737C06-29F9-4970-8C08-C104219A442D}" type="presParOf" srcId="{27ACB83D-9C7F-4AB2-A5F5-F6D3877C9879}" destId="{DC8232D5-D337-4004-AA69-A049804CE4C1}" srcOrd="1" destOrd="0" presId="urn:microsoft.com/office/officeart/2005/8/layout/hierarchy2"/>
    <dgm:cxn modelId="{2DEA3A91-CD70-4331-ABDD-DBA8C13E1AFA}" type="presParOf" srcId="{DC8232D5-D337-4004-AA69-A049804CE4C1}" destId="{CD6B9B0E-E056-44B0-BF16-48A23B44D34E}" srcOrd="0" destOrd="0" presId="urn:microsoft.com/office/officeart/2005/8/layout/hierarchy2"/>
    <dgm:cxn modelId="{E0886AE8-C738-4450-83EC-CCA642B41F3C}" type="presParOf" srcId="{CD6B9B0E-E056-44B0-BF16-48A23B44D34E}" destId="{19EE92E1-EB7A-4176-9B06-6D7C7E2783DA}" srcOrd="0" destOrd="0" presId="urn:microsoft.com/office/officeart/2005/8/layout/hierarchy2"/>
    <dgm:cxn modelId="{36A82640-0557-43B9-AAA8-AFF09C5FDAD3}" type="presParOf" srcId="{DC8232D5-D337-4004-AA69-A049804CE4C1}" destId="{86D17061-1E3C-413B-8ED7-EA863FD835FF}" srcOrd="1" destOrd="0" presId="urn:microsoft.com/office/officeart/2005/8/layout/hierarchy2"/>
    <dgm:cxn modelId="{7E85D61E-9E49-4839-8488-17C5AB55FC0E}" type="presParOf" srcId="{86D17061-1E3C-413B-8ED7-EA863FD835FF}" destId="{93EB2753-679A-4C27-B77C-CCFB69DDDA64}" srcOrd="0" destOrd="0" presId="urn:microsoft.com/office/officeart/2005/8/layout/hierarchy2"/>
    <dgm:cxn modelId="{1F417437-3F70-4781-81B2-D4900CF98CF3}" type="presParOf" srcId="{86D17061-1E3C-413B-8ED7-EA863FD835FF}" destId="{FFDD1CF5-4FC9-48BA-8ABE-FC5BC3474374}" srcOrd="1" destOrd="0" presId="urn:microsoft.com/office/officeart/2005/8/layout/hierarchy2"/>
    <dgm:cxn modelId="{4998097F-D61B-4D21-9D7B-71B492291DCB}" type="presParOf" srcId="{CA336E7E-997A-4392-B630-EA9697937724}" destId="{09F85CFE-CC48-4BAE-B981-B66D467B5102}" srcOrd="2" destOrd="0" presId="urn:microsoft.com/office/officeart/2005/8/layout/hierarchy2"/>
    <dgm:cxn modelId="{2B4B0622-F18F-4803-A2F0-AD848B69468E}" type="presParOf" srcId="{09F85CFE-CC48-4BAE-B981-B66D467B5102}" destId="{44949F74-7284-4C89-922D-336717F70537}" srcOrd="0" destOrd="0" presId="urn:microsoft.com/office/officeart/2005/8/layout/hierarchy2"/>
    <dgm:cxn modelId="{B67E2FE4-E539-4328-9287-073EAF8296B8}" type="presParOf" srcId="{09F85CFE-CC48-4BAE-B981-B66D467B5102}" destId="{A7CEB0E0-18D2-4D42-A26A-B598054CC683}" srcOrd="1" destOrd="0" presId="urn:microsoft.com/office/officeart/2005/8/layout/hierarchy2"/>
    <dgm:cxn modelId="{E3D7B3CD-CD17-425E-AEE4-CA9DD15FF220}" type="presParOf" srcId="{A7CEB0E0-18D2-4D42-A26A-B598054CC683}" destId="{192F4174-2D5E-4461-92A3-FC6687453904}" srcOrd="0" destOrd="0" presId="urn:microsoft.com/office/officeart/2005/8/layout/hierarchy2"/>
    <dgm:cxn modelId="{29B8E116-69BD-46DA-81BF-2130EBBA999D}" type="presParOf" srcId="{192F4174-2D5E-4461-92A3-FC6687453904}" destId="{A589BDC8-68AB-4C35-96E2-1823E35B9F86}" srcOrd="0" destOrd="0" presId="urn:microsoft.com/office/officeart/2005/8/layout/hierarchy2"/>
    <dgm:cxn modelId="{C7B54EA3-1C2A-43C1-A8E2-26FF46FC99B5}" type="presParOf" srcId="{A7CEB0E0-18D2-4D42-A26A-B598054CC683}" destId="{DD5CEFB1-5A61-4435-A4B7-E8F8F8D2D750}" srcOrd="1" destOrd="0" presId="urn:microsoft.com/office/officeart/2005/8/layout/hierarchy2"/>
    <dgm:cxn modelId="{617D0F2A-658F-437A-8C77-BEA51A89241D}" type="presParOf" srcId="{DD5CEFB1-5A61-4435-A4B7-E8F8F8D2D750}" destId="{A22CF405-9291-41BC-90FB-1CEB0DCBD345}" srcOrd="0" destOrd="0" presId="urn:microsoft.com/office/officeart/2005/8/layout/hierarchy2"/>
    <dgm:cxn modelId="{675A3AAB-BB18-432D-B930-95E38FE6359C}" type="presParOf" srcId="{DD5CEFB1-5A61-4435-A4B7-E8F8F8D2D750}" destId="{32BD49D1-045D-4326-ADEC-70A533B834A8}"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BA0C45-5F66-4E90-86CF-6BCF35AD0C38}">
      <dsp:nvSpPr>
        <dsp:cNvPr id="0" name=""/>
        <dsp:cNvSpPr/>
      </dsp:nvSpPr>
      <dsp:spPr>
        <a:xfrm>
          <a:off x="2284613" y="183867"/>
          <a:ext cx="3649057" cy="1267269"/>
        </a:xfrm>
        <a:prstGeom prst="ellipse">
          <a:avLst/>
        </a:prstGeom>
        <a:solidFill>
          <a:schemeClr val="accent1">
            <a:tint val="50000"/>
            <a:alpha val="40000"/>
            <a:hueOff val="0"/>
            <a:satOff val="0"/>
            <a:lumOff val="0"/>
            <a:alphaOff val="0"/>
          </a:schemeClr>
        </a:solidFill>
        <a:ln>
          <a:noFill/>
        </a:ln>
        <a:effectLst/>
        <a:sp3d z="-152400" prstMaterial="matte"/>
      </dsp:spPr>
      <dsp:style>
        <a:lnRef idx="0">
          <a:scrgbClr r="0" g="0" b="0"/>
        </a:lnRef>
        <a:fillRef idx="1">
          <a:scrgbClr r="0" g="0" b="0"/>
        </a:fillRef>
        <a:effectRef idx="0">
          <a:scrgbClr r="0" g="0" b="0"/>
        </a:effectRef>
        <a:fontRef idx="minor"/>
      </dsp:style>
    </dsp:sp>
    <dsp:sp modelId="{A812E531-D954-4E8C-B9CD-B80FC6CE48D1}">
      <dsp:nvSpPr>
        <dsp:cNvPr id="0" name=""/>
        <dsp:cNvSpPr/>
      </dsp:nvSpPr>
      <dsp:spPr>
        <a:xfrm>
          <a:off x="3761209" y="3286980"/>
          <a:ext cx="707181" cy="452596"/>
        </a:xfrm>
        <a:prstGeom prst="downArrow">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DD9DD0DF-D02F-4D06-8C2B-F590E2FA1E1A}">
      <dsp:nvSpPr>
        <dsp:cNvPr id="0" name=""/>
        <dsp:cNvSpPr/>
      </dsp:nvSpPr>
      <dsp:spPr>
        <a:xfrm>
          <a:off x="990595" y="3649057"/>
          <a:ext cx="6248408" cy="848618"/>
        </a:xfrm>
        <a:prstGeom prst="rect">
          <a:avLst/>
        </a:prstGeom>
        <a:noFill/>
        <a:ln>
          <a:solidFill>
            <a:schemeClr val="tx2">
              <a:lumMod val="20000"/>
              <a:lumOff val="80000"/>
            </a:schemeClr>
          </a:solidFill>
        </a:ln>
        <a:effectLst/>
      </dsp:spPr>
      <dsp:style>
        <a:lnRef idx="0">
          <a:scrgbClr r="0" g="0" b="0"/>
        </a:lnRef>
        <a:fillRef idx="0">
          <a:scrgbClr r="0" g="0" b="0"/>
        </a:fillRef>
        <a:effectRef idx="0">
          <a:scrgbClr r="0" g="0" b="0"/>
        </a:effectRef>
        <a:fontRef idx="minor"/>
      </dsp:style>
      <dsp:txBody>
        <a:bodyPr spcFirstLastPara="0" vert="horz" wrap="square" lIns="256032" tIns="256032" rIns="256032" bIns="256032" numCol="1" spcCol="1270" anchor="ctr" anchorCtr="0">
          <a:noAutofit/>
        </a:bodyPr>
        <a:lstStyle/>
        <a:p>
          <a:pPr marL="0" lvl="0" indent="0" algn="r" defTabSz="1600200">
            <a:lnSpc>
              <a:spcPct val="90000"/>
            </a:lnSpc>
            <a:spcBef>
              <a:spcPct val="0"/>
            </a:spcBef>
            <a:spcAft>
              <a:spcPct val="35000"/>
            </a:spcAft>
            <a:buNone/>
          </a:pPr>
          <a:r>
            <a:rPr lang="en-US" sz="3600" b="1" kern="1200" dirty="0">
              <a:latin typeface="Arial" panose="020B0604020202020204" pitchFamily="34" charset="0"/>
              <a:cs typeface="Arial" panose="020B0604020202020204" pitchFamily="34" charset="0"/>
            </a:rPr>
            <a:t>Respiratory failure</a:t>
          </a:r>
        </a:p>
      </dsp:txBody>
      <dsp:txXfrm>
        <a:off x="990595" y="3649057"/>
        <a:ext cx="6248408" cy="848618"/>
      </dsp:txXfrm>
    </dsp:sp>
    <dsp:sp modelId="{C1550908-AC48-4CCD-A80E-8172E37C5A37}">
      <dsp:nvSpPr>
        <dsp:cNvPr id="0" name=""/>
        <dsp:cNvSpPr/>
      </dsp:nvSpPr>
      <dsp:spPr>
        <a:xfrm>
          <a:off x="2971807" y="76197"/>
          <a:ext cx="1980108" cy="1980108"/>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3261787" y="366177"/>
        <a:ext cx="1400148" cy="1400148"/>
      </dsp:txXfrm>
    </dsp:sp>
    <dsp:sp modelId="{68793116-282D-4844-994B-99DC57A34FE6}">
      <dsp:nvSpPr>
        <dsp:cNvPr id="0" name=""/>
        <dsp:cNvSpPr/>
      </dsp:nvSpPr>
      <dsp:spPr>
        <a:xfrm>
          <a:off x="2119721" y="0"/>
          <a:ext cx="3960217" cy="3168174"/>
        </a:xfrm>
        <a:prstGeom prst="funnel">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35400"/>
        </a:sp3d>
      </dsp:spPr>
      <dsp:style>
        <a:lnRef idx="1">
          <a:scrgbClr r="0" g="0" b="0"/>
        </a:lnRef>
        <a:fillRef idx="1">
          <a:scrgbClr r="0" g="0" b="0"/>
        </a:fillRef>
        <a:effectRef idx="2">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EE3CE6-05B4-4DA5-988C-5788CFAB96A7}">
      <dsp:nvSpPr>
        <dsp:cNvPr id="0" name=""/>
        <dsp:cNvSpPr/>
      </dsp:nvSpPr>
      <dsp:spPr>
        <a:xfrm>
          <a:off x="457200" y="2209"/>
          <a:ext cx="4398885" cy="1370164"/>
        </a:xfrm>
        <a:prstGeom prst="roundRect">
          <a:avLst>
            <a:gd name="adj" fmla="val 10000"/>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It is primarily caused by V/Q Mismatch</a:t>
          </a:r>
        </a:p>
      </dsp:txBody>
      <dsp:txXfrm>
        <a:off x="497331" y="42340"/>
        <a:ext cx="4318623" cy="1289902"/>
      </dsp:txXfrm>
    </dsp:sp>
    <dsp:sp modelId="{BCE022D5-2C5F-4AA8-82FF-84EC86F09887}">
      <dsp:nvSpPr>
        <dsp:cNvPr id="0" name=""/>
        <dsp:cNvSpPr/>
      </dsp:nvSpPr>
      <dsp:spPr>
        <a:xfrm>
          <a:off x="457200" y="1577899"/>
          <a:ext cx="2740329" cy="1370164"/>
        </a:xfrm>
        <a:prstGeom prst="roundRect">
          <a:avLst>
            <a:gd name="adj" fmla="val 10000"/>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Common causes of hypoxemic respiratory failure include</a:t>
          </a:r>
        </a:p>
      </dsp:txBody>
      <dsp:txXfrm>
        <a:off x="497331" y="1618030"/>
        <a:ext cx="2660067" cy="1289902"/>
      </dsp:txXfrm>
    </dsp:sp>
    <dsp:sp modelId="{CD6B9B0E-E056-44B0-BF16-48A23B44D34E}">
      <dsp:nvSpPr>
        <dsp:cNvPr id="0" name=""/>
        <dsp:cNvSpPr/>
      </dsp:nvSpPr>
      <dsp:spPr>
        <a:xfrm>
          <a:off x="3197529" y="2235735"/>
          <a:ext cx="1096131" cy="54492"/>
        </a:xfrm>
        <a:custGeom>
          <a:avLst/>
          <a:gdLst/>
          <a:ahLst/>
          <a:cxnLst/>
          <a:rect l="0" t="0" r="0" b="0"/>
          <a:pathLst>
            <a:path>
              <a:moveTo>
                <a:pt x="0" y="27246"/>
              </a:moveTo>
              <a:lnTo>
                <a:pt x="1096131" y="272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18192" y="2235578"/>
        <a:ext cx="54806" cy="54806"/>
      </dsp:txXfrm>
    </dsp:sp>
    <dsp:sp modelId="{93EB2753-679A-4C27-B77C-CCFB69DDDA64}">
      <dsp:nvSpPr>
        <dsp:cNvPr id="0" name=""/>
        <dsp:cNvSpPr/>
      </dsp:nvSpPr>
      <dsp:spPr>
        <a:xfrm>
          <a:off x="4293661" y="1577899"/>
          <a:ext cx="2740329" cy="1370164"/>
        </a:xfrm>
        <a:prstGeom prst="roundRect">
          <a:avLst>
            <a:gd name="adj" fmla="val 10000"/>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b="1" kern="1200" dirty="0"/>
            <a:t>atelectasis</a:t>
          </a:r>
          <a:r>
            <a:rPr lang="en-US" sz="2100" kern="1200" dirty="0"/>
            <a:t>, </a:t>
          </a:r>
          <a:r>
            <a:rPr lang="en-US" sz="2100" b="1" kern="1200" dirty="0"/>
            <a:t>pneumonia</a:t>
          </a:r>
          <a:r>
            <a:rPr lang="en-US" sz="2100" kern="1200" dirty="0"/>
            <a:t>, and </a:t>
          </a:r>
          <a:r>
            <a:rPr lang="en-US" sz="2100" b="1" kern="1200" dirty="0"/>
            <a:t>pulmonary edema</a:t>
          </a:r>
          <a:endParaRPr lang="en-US" sz="2100" kern="1200" dirty="0"/>
        </a:p>
      </dsp:txBody>
      <dsp:txXfrm>
        <a:off x="4333792" y="1618030"/>
        <a:ext cx="2660067" cy="1289902"/>
      </dsp:txXfrm>
    </dsp:sp>
    <dsp:sp modelId="{44949F74-7284-4C89-922D-336717F70537}">
      <dsp:nvSpPr>
        <dsp:cNvPr id="0" name=""/>
        <dsp:cNvSpPr/>
      </dsp:nvSpPr>
      <dsp:spPr>
        <a:xfrm>
          <a:off x="457200" y="3153588"/>
          <a:ext cx="1093281" cy="1370164"/>
        </a:xfrm>
        <a:prstGeom prst="roundRect">
          <a:avLst>
            <a:gd name="adj" fmla="val 10000"/>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N.B. </a:t>
          </a:r>
        </a:p>
      </dsp:txBody>
      <dsp:txXfrm>
        <a:off x="489221" y="3185609"/>
        <a:ext cx="1029239" cy="1306122"/>
      </dsp:txXfrm>
    </dsp:sp>
    <dsp:sp modelId="{192F4174-2D5E-4461-92A3-FC6687453904}">
      <dsp:nvSpPr>
        <dsp:cNvPr id="0" name=""/>
        <dsp:cNvSpPr/>
      </dsp:nvSpPr>
      <dsp:spPr>
        <a:xfrm>
          <a:off x="1550482" y="3811424"/>
          <a:ext cx="1096131" cy="54492"/>
        </a:xfrm>
        <a:custGeom>
          <a:avLst/>
          <a:gdLst/>
          <a:ahLst/>
          <a:cxnLst/>
          <a:rect l="0" t="0" r="0" b="0"/>
          <a:pathLst>
            <a:path>
              <a:moveTo>
                <a:pt x="0" y="27246"/>
              </a:moveTo>
              <a:lnTo>
                <a:pt x="1096131" y="272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71144" y="3811267"/>
        <a:ext cx="54806" cy="54806"/>
      </dsp:txXfrm>
    </dsp:sp>
    <dsp:sp modelId="{A22CF405-9291-41BC-90FB-1CEB0DCBD345}">
      <dsp:nvSpPr>
        <dsp:cNvPr id="0" name=""/>
        <dsp:cNvSpPr/>
      </dsp:nvSpPr>
      <dsp:spPr>
        <a:xfrm>
          <a:off x="2646613" y="3153588"/>
          <a:ext cx="5125785" cy="1370164"/>
        </a:xfrm>
        <a:prstGeom prst="roundRect">
          <a:avLst>
            <a:gd name="adj" fmla="val 10000"/>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ARDS is a type of hypoxemic respiratory failure due to noncardiogenic pulmonary edema.</a:t>
          </a:r>
        </a:p>
      </dsp:txBody>
      <dsp:txXfrm>
        <a:off x="2686744" y="3193719"/>
        <a:ext cx="5045523" cy="1289902"/>
      </dsp:txXfrm>
    </dsp:sp>
  </dsp:spTree>
</dsp:drawing>
</file>

<file path=ppt/diagrams/layout1.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85D7E9-5611-4BF4-B5EE-62E65C07FC90}" type="datetimeFigureOut">
              <a:rPr lang="en-US" smtClean="0"/>
              <a:t>5/7/2026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16BD78C-19BB-41CA-95E2-3693E2C4E2C4}" type="slidenum">
              <a:rPr lang="en-US" smtClean="0"/>
              <a:t>‹#›</a:t>
            </a:fld>
            <a:endParaRPr lang="en-US"/>
          </a:p>
        </p:txBody>
      </p:sp>
    </p:spTree>
    <p:extLst>
      <p:ext uri="{BB962C8B-B14F-4D97-AF65-F5344CB8AC3E}">
        <p14:creationId xmlns:p14="http://schemas.microsoft.com/office/powerpoint/2010/main" val="4210638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fld id="{A16BD78C-19BB-41CA-95E2-3693E2C4E2C4}" type="slidenum">
              <a:rPr lang="en-US" smtClean="0"/>
              <a:t>2</a:t>
            </a:fld>
            <a:endParaRPr lang="en-US"/>
          </a:p>
        </p:txBody>
      </p:sp>
    </p:spTree>
    <p:extLst>
      <p:ext uri="{BB962C8B-B14F-4D97-AF65-F5344CB8AC3E}">
        <p14:creationId xmlns:p14="http://schemas.microsoft.com/office/powerpoint/2010/main" val="1068536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993C2-0D15-ABE3-250D-13EED08489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E268F-6872-DE8C-AAE6-C4A7559868B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2AAFB3D-F4A8-891C-C9B2-E97F8914D671}"/>
              </a:ext>
            </a:extLst>
          </p:cNvPr>
          <p:cNvSpPr>
            <a:spLocks noGrp="1"/>
          </p:cNvSpPr>
          <p:nvPr>
            <p:ph type="body" idx="1"/>
          </p:nvPr>
        </p:nvSpPr>
        <p:spPr/>
        <p:txBody>
          <a:bodyPr/>
          <a:lstStyle/>
          <a:p>
            <a:r>
              <a:rPr lang="en-US" sz="1200" b="0" i="1" u="none" strike="noStrike" kern="1200" baseline="0" dirty="0">
                <a:solidFill>
                  <a:schemeClr val="tx1"/>
                </a:solidFill>
                <a:latin typeface="+mn-lt"/>
                <a:ea typeface="+mn-ea"/>
                <a:cs typeface="+mn-cs"/>
              </a:rPr>
              <a:t>Respiratory failure </a:t>
            </a:r>
            <a:r>
              <a:rPr lang="en-US" sz="1200" b="0" i="0" u="none" strike="noStrike" kern="1200" baseline="0" dirty="0">
                <a:solidFill>
                  <a:schemeClr val="tx1"/>
                </a:solidFill>
                <a:latin typeface="+mn-lt"/>
                <a:ea typeface="+mn-ea"/>
                <a:cs typeface="+mn-cs"/>
              </a:rPr>
              <a:t>is broadly defined as an inability of the heart and lungs to provide adequate tissue oxygenation and/or carbon dioxide removal.</a:t>
            </a:r>
            <a:endParaRPr lang="en-US" dirty="0"/>
          </a:p>
        </p:txBody>
      </p:sp>
      <p:sp>
        <p:nvSpPr>
          <p:cNvPr id="4" name="Slide Number Placeholder 3">
            <a:extLst>
              <a:ext uri="{FF2B5EF4-FFF2-40B4-BE49-F238E27FC236}">
                <a16:creationId xmlns:a16="http://schemas.microsoft.com/office/drawing/2014/main" id="{6D2E77F6-BEC3-0052-377F-6F5FB2843EB1}"/>
              </a:ext>
            </a:extLst>
          </p:cNvPr>
          <p:cNvSpPr>
            <a:spLocks noGrp="1"/>
          </p:cNvSpPr>
          <p:nvPr>
            <p:ph type="sldNum" sz="quarter" idx="5"/>
          </p:nvPr>
        </p:nvSpPr>
        <p:spPr/>
        <p:txBody>
          <a:bodyPr/>
          <a:lstStyle/>
          <a:p>
            <a:fld id="{A16BD78C-19BB-41CA-95E2-3693E2C4E2C4}" type="slidenum">
              <a:rPr lang="en-US" smtClean="0"/>
              <a:t>5</a:t>
            </a:fld>
            <a:endParaRPr lang="en-US"/>
          </a:p>
        </p:txBody>
      </p:sp>
    </p:spTree>
    <p:extLst>
      <p:ext uri="{BB962C8B-B14F-4D97-AF65-F5344CB8AC3E}">
        <p14:creationId xmlns:p14="http://schemas.microsoft.com/office/powerpoint/2010/main" val="3936238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l"/>
            <a:r>
              <a:rPr lang="en-US" sz="1200" b="0" i="0" u="none" strike="noStrike" baseline="0" dirty="0">
                <a:latin typeface="LiberationSans"/>
              </a:rPr>
              <a:t>Respiration refers to the exchange of oxygen and carbon dioxide across the lung (i.e., external respiration) and at the tissue level (i.e., internal respiration).</a:t>
            </a:r>
            <a:endParaRPr lang="en-US" dirty="0"/>
          </a:p>
          <a:p>
            <a:endParaRPr lang="en-US" dirty="0"/>
          </a:p>
        </p:txBody>
      </p:sp>
      <p:sp>
        <p:nvSpPr>
          <p:cNvPr id="4" name="Slide Number Placeholder 3"/>
          <p:cNvSpPr>
            <a:spLocks noGrp="1"/>
          </p:cNvSpPr>
          <p:nvPr>
            <p:ph type="sldNum" sz="quarter" idx="5"/>
          </p:nvPr>
        </p:nvSpPr>
        <p:spPr/>
        <p:txBody>
          <a:bodyPr/>
          <a:lstStyle/>
          <a:p>
            <a:fld id="{A16BD78C-19BB-41CA-95E2-3693E2C4E2C4}" type="slidenum">
              <a:rPr lang="en-US" smtClean="0"/>
              <a:t>6</a:t>
            </a:fld>
            <a:endParaRPr lang="en-US"/>
          </a:p>
        </p:txBody>
      </p:sp>
    </p:spTree>
    <p:extLst>
      <p:ext uri="{BB962C8B-B14F-4D97-AF65-F5344CB8AC3E}">
        <p14:creationId xmlns:p14="http://schemas.microsoft.com/office/powerpoint/2010/main" val="3944107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ct val="20000"/>
              </a:spcBef>
              <a:spcAft>
                <a:spcPts val="0"/>
              </a:spcAft>
              <a:buClr>
                <a:schemeClr val="folHlink"/>
              </a:buClr>
              <a:buSzPct val="60000"/>
              <a:buFont typeface="Wingdings" pitchFamily="2" charset="2"/>
              <a:buNone/>
              <a:tabLst>
                <a:tab pos="2746375" algn="l"/>
              </a:tabLst>
              <a:defRPr/>
            </a:pPr>
            <a:r>
              <a:rPr lang="en-US" dirty="0"/>
              <a:t> </a:t>
            </a:r>
          </a:p>
          <a:p>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7</a:t>
            </a:fld>
            <a:endParaRPr lang="en-US"/>
          </a:p>
        </p:txBody>
      </p:sp>
    </p:spTree>
    <p:extLst>
      <p:ext uri="{BB962C8B-B14F-4D97-AF65-F5344CB8AC3E}">
        <p14:creationId xmlns:p14="http://schemas.microsoft.com/office/powerpoint/2010/main" val="10336241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l"/>
            <a:r>
              <a:rPr lang="en-US" sz="1800" b="0" i="0" u="none" strike="noStrike" baseline="0" dirty="0">
                <a:latin typeface="LiberationSans"/>
              </a:rPr>
              <a:t>Respiration refers to the exchange of oxygen and carbon dioxide across the lung (i.e., external</a:t>
            </a:r>
          </a:p>
          <a:p>
            <a:pPr algn="l"/>
            <a:r>
              <a:rPr lang="en-US" sz="1800" b="0" i="0" u="none" strike="noStrike" baseline="0" dirty="0">
                <a:latin typeface="LiberationSans"/>
              </a:rPr>
              <a:t>respiration) and at the tissue level (i.e., internal respiration).</a:t>
            </a:r>
            <a:endParaRPr lang="en-US" dirty="0"/>
          </a:p>
        </p:txBody>
      </p:sp>
      <p:sp>
        <p:nvSpPr>
          <p:cNvPr id="4" name="Slide Number Placeholder 3"/>
          <p:cNvSpPr>
            <a:spLocks noGrp="1"/>
          </p:cNvSpPr>
          <p:nvPr>
            <p:ph type="sldNum" sz="quarter" idx="5"/>
          </p:nvPr>
        </p:nvSpPr>
        <p:spPr/>
        <p:txBody>
          <a:bodyPr/>
          <a:lstStyle/>
          <a:p>
            <a:fld id="{A16BD78C-19BB-41CA-95E2-3693E2C4E2C4}" type="slidenum">
              <a:rPr lang="en-US" smtClean="0"/>
              <a:t>9</a:t>
            </a:fld>
            <a:endParaRPr lang="en-US"/>
          </a:p>
        </p:txBody>
      </p:sp>
    </p:spTree>
    <p:extLst>
      <p:ext uri="{BB962C8B-B14F-4D97-AF65-F5344CB8AC3E}">
        <p14:creationId xmlns:p14="http://schemas.microsoft.com/office/powerpoint/2010/main" val="3768841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 terms breathing, ventilation, and respiration are often used</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interchangeably; however, these terms have distinct meanings.</a:t>
            </a:r>
            <a:r>
              <a:rPr lang="en-US" dirty="0"/>
              <a:t> </a:t>
            </a:r>
          </a:p>
          <a:p>
            <a:pPr marL="171450" indent="-171450">
              <a:buFont typeface="Arial" panose="020B0604020202020204" pitchFamily="34" charset="0"/>
              <a:buChar char="•"/>
            </a:pPr>
            <a:r>
              <a:rPr lang="en-US" sz="1200" b="0" i="1" kern="1200" dirty="0">
                <a:solidFill>
                  <a:schemeClr val="tx1"/>
                </a:solidFill>
                <a:effectLst/>
                <a:latin typeface="+mn-lt"/>
                <a:ea typeface="+mn-ea"/>
                <a:cs typeface="+mn-cs"/>
              </a:rPr>
              <a:t>Breathing:</a:t>
            </a:r>
            <a:r>
              <a:rPr lang="en-US" sz="1200" b="0" i="1"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refers to the act of inspiring and exhaling that requires energy utilization for</a:t>
            </a:r>
            <a:r>
              <a:rPr lang="en-US" dirty="0"/>
              <a:t> </a:t>
            </a:r>
            <a:r>
              <a:rPr lang="en-US" sz="1200" b="0" i="0" kern="1200" dirty="0">
                <a:solidFill>
                  <a:schemeClr val="tx1"/>
                </a:solidFill>
                <a:effectLst/>
                <a:latin typeface="+mn-lt"/>
                <a:ea typeface="+mn-ea"/>
                <a:cs typeface="+mn-cs"/>
              </a:rPr>
              <a:t>muscle work;</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therefore, it is limited by energy reserves</a:t>
            </a:r>
            <a:r>
              <a:rPr lang="en-US" dirty="0"/>
              <a:t> </a:t>
            </a:r>
            <a:br>
              <a:rPr lang="en-US" dirty="0"/>
            </a:br>
            <a:r>
              <a:rPr lang="en-US" sz="1200" b="0" i="1" kern="1200" dirty="0">
                <a:solidFill>
                  <a:schemeClr val="tx1"/>
                </a:solidFill>
                <a:effectLst/>
                <a:latin typeface="+mn-lt"/>
                <a:ea typeface="+mn-ea"/>
                <a:cs typeface="+mn-cs"/>
              </a:rPr>
              <a:t>Ventilation, </a:t>
            </a:r>
            <a:r>
              <a:rPr lang="en-US" sz="1200" b="0" i="0" kern="1200" dirty="0">
                <a:solidFill>
                  <a:schemeClr val="tx1"/>
                </a:solidFill>
                <a:effectLst/>
                <a:latin typeface="+mn-lt"/>
                <a:ea typeface="+mn-ea"/>
                <a:cs typeface="+mn-cs"/>
              </a:rPr>
              <a:t>on the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other hand, is the movement of gas in and out of the lungs.</a:t>
            </a:r>
            <a:r>
              <a:rPr lang="en-US" dirty="0"/>
              <a:t> </a:t>
            </a:r>
          </a:p>
          <a:p>
            <a:pPr marL="171450" indent="-171450">
              <a:buFont typeface="Arial" panose="020B0604020202020204" pitchFamily="34" charset="0"/>
              <a:buChar char="•"/>
            </a:pPr>
            <a:r>
              <a:rPr lang="en-US" sz="1200" b="0" i="1" kern="1200" dirty="0">
                <a:solidFill>
                  <a:schemeClr val="tx1"/>
                </a:solidFill>
                <a:effectLst/>
                <a:latin typeface="+mn-lt"/>
                <a:ea typeface="+mn-ea"/>
                <a:cs typeface="+mn-cs"/>
              </a:rPr>
              <a:t>Respiration </a:t>
            </a:r>
            <a:r>
              <a:rPr lang="en-US" sz="1200" b="0" i="0" kern="1200" dirty="0">
                <a:solidFill>
                  <a:schemeClr val="tx1"/>
                </a:solidFill>
                <a:effectLst/>
                <a:latin typeface="+mn-lt"/>
                <a:ea typeface="+mn-ea"/>
                <a:cs typeface="+mn-cs"/>
              </a:rPr>
              <a:t>occurs when energy is released from organic molecules.</a:t>
            </a:r>
            <a:r>
              <a:rPr lang="en-US" dirty="0"/>
              <a:t> </a:t>
            </a:r>
            <a:br>
              <a:rPr lang="en-US" dirty="0"/>
            </a:br>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10</a:t>
            </a:fld>
            <a:endParaRPr lang="en-US"/>
          </a:p>
        </p:txBody>
      </p:sp>
    </p:spTree>
    <p:extLst>
      <p:ext uri="{BB962C8B-B14F-4D97-AF65-F5344CB8AC3E}">
        <p14:creationId xmlns:p14="http://schemas.microsoft.com/office/powerpoint/2010/main" val="2836408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11</a:t>
            </a:fld>
            <a:endParaRPr lang="en-US"/>
          </a:p>
        </p:txBody>
      </p:sp>
    </p:spTree>
    <p:extLst>
      <p:ext uri="{BB962C8B-B14F-4D97-AF65-F5344CB8AC3E}">
        <p14:creationId xmlns:p14="http://schemas.microsoft.com/office/powerpoint/2010/main" val="32649751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13</a:t>
            </a:fld>
            <a:endParaRPr lang="en-US"/>
          </a:p>
        </p:txBody>
      </p:sp>
    </p:spTree>
    <p:extLst>
      <p:ext uri="{BB962C8B-B14F-4D97-AF65-F5344CB8AC3E}">
        <p14:creationId xmlns:p14="http://schemas.microsoft.com/office/powerpoint/2010/main" val="42097537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Rostral=</a:t>
            </a:r>
            <a:r>
              <a:rPr lang="en-US" sz="1200" b="0" i="0" kern="1200" baseline="0" dirty="0">
                <a:solidFill>
                  <a:schemeClr val="tx1"/>
                </a:solidFill>
                <a:effectLst/>
                <a:latin typeface="+mn-lt"/>
                <a:ea typeface="+mn-ea"/>
                <a:cs typeface="+mn-cs"/>
              </a:rPr>
              <a:t> at or near the front end of the body</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itchFamily="18" charset="0"/>
                <a:cs typeface="Times New Roman" pitchFamily="18" charset="0"/>
              </a:rPr>
              <a:t>dorsal respiratory group (DRG)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itchFamily="18" charset="0"/>
                <a:cs typeface="Times New Roman" pitchFamily="18" charset="0"/>
              </a:rPr>
              <a:t>ventral respiratory group (VRG</a:t>
            </a:r>
            <a:endParaRPr lang="en-US" dirty="0"/>
          </a:p>
          <a:p>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14</a:t>
            </a:fld>
            <a:endParaRPr lang="en-US"/>
          </a:p>
        </p:txBody>
      </p:sp>
    </p:spTree>
    <p:extLst>
      <p:ext uri="{BB962C8B-B14F-4D97-AF65-F5344CB8AC3E}">
        <p14:creationId xmlns:p14="http://schemas.microsoft.com/office/powerpoint/2010/main" val="1451782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18</a:t>
            </a:fld>
            <a:endParaRPr lang="en-US"/>
          </a:p>
        </p:txBody>
      </p:sp>
    </p:spTree>
    <p:extLst>
      <p:ext uri="{BB962C8B-B14F-4D97-AF65-F5344CB8AC3E}">
        <p14:creationId xmlns:p14="http://schemas.microsoft.com/office/powerpoint/2010/main" val="2104574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respiratory center is located in the brainstem (both the pons and medulla).</a:t>
            </a:r>
            <a:r>
              <a:rPr lang="en-US" baseline="0" dirty="0"/>
              <a:t> </a:t>
            </a:r>
            <a:r>
              <a:rPr lang="en-US" dirty="0"/>
              <a:t>Breathing depends on a small area of the medulla near the origin of the vagus nerves. </a:t>
            </a:r>
            <a:br>
              <a:rPr lang="en-US" dirty="0"/>
            </a:br>
            <a:r>
              <a:rPr lang="en-US" dirty="0"/>
              <a:t>T</a:t>
            </a:r>
            <a:r>
              <a:rPr lang="en-US" sz="1200" b="0" i="0" kern="1200" dirty="0">
                <a:solidFill>
                  <a:schemeClr val="tx1"/>
                </a:solidFill>
                <a:effectLst/>
                <a:latin typeface="+mn-lt"/>
                <a:ea typeface="+mn-ea"/>
                <a:cs typeface="+mn-cs"/>
              </a:rPr>
              <a:t>he dorsal medullary reticular formation contains the dorsal respiratory group</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(DRG), which contains the inspiratory centers. Ventilatory rhythmicity is generated</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by the DRG.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ventral respiratory group is located in the ventral medullary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reticular formation and coordinates expiratory efforts.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a:t>
            </a:r>
            <a:r>
              <a:rPr lang="en-US" sz="1200" b="0" i="0" kern="1200" dirty="0" err="1">
                <a:solidFill>
                  <a:schemeClr val="tx1"/>
                </a:solidFill>
                <a:effectLst/>
                <a:latin typeface="+mn-lt"/>
                <a:ea typeface="+mn-ea"/>
                <a:cs typeface="+mn-cs"/>
              </a:rPr>
              <a:t>apneustic</a:t>
            </a:r>
            <a:r>
              <a:rPr lang="en-US" sz="1200" b="0" i="0" kern="1200" dirty="0">
                <a:solidFill>
                  <a:schemeClr val="tx1"/>
                </a:solidFill>
                <a:effectLst/>
                <a:latin typeface="+mn-lt"/>
                <a:ea typeface="+mn-ea"/>
                <a:cs typeface="+mn-cs"/>
              </a:rPr>
              <a:t> center is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located in the middle or lower pons and sends impulses to the DRG to sustain</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inspiration.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a:t>
            </a:r>
            <a:r>
              <a:rPr lang="en-US" sz="1200" b="0" i="0" kern="1200" dirty="0" err="1">
                <a:solidFill>
                  <a:schemeClr val="tx1"/>
                </a:solidFill>
                <a:effectLst/>
                <a:latin typeface="+mn-lt"/>
                <a:ea typeface="+mn-ea"/>
                <a:cs typeface="+mn-cs"/>
              </a:rPr>
              <a:t>pneumotaxic</a:t>
            </a:r>
            <a:r>
              <a:rPr lang="en-US" sz="1200" b="0" i="0" kern="1200" dirty="0">
                <a:solidFill>
                  <a:schemeClr val="tx1"/>
                </a:solidFill>
                <a:effectLst/>
                <a:latin typeface="+mn-lt"/>
                <a:ea typeface="+mn-ea"/>
                <a:cs typeface="+mn-cs"/>
              </a:rPr>
              <a:t> respiratory center is located in the rostral pons, and its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function is to limit the depth of inspiration.</a:t>
            </a:r>
            <a:r>
              <a:rPr lang="en-US" dirty="0"/>
              <a:t> </a:t>
            </a:r>
            <a:br>
              <a:rPr lang="en-US" dirty="0"/>
            </a:br>
            <a:endParaRPr lang="en-US" dirty="0"/>
          </a:p>
          <a:p>
            <a:r>
              <a:rPr lang="en-US" sz="1200" b="0" i="0" kern="1200" dirty="0">
                <a:solidFill>
                  <a:schemeClr val="tx1"/>
                </a:solidFill>
                <a:effectLst/>
                <a:latin typeface="+mn-lt"/>
                <a:ea typeface="+mn-ea"/>
                <a:cs typeface="+mn-cs"/>
              </a:rPr>
              <a:t>Both carotid and aortic bodies comprise the peripheral chemoreceptors. Carotid</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bodies are located at the bifurcation of the common carotid artery, whereas aortic</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bodies are located throughout the aortic arch and its branches. , the peripheral</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chemoreceptors respond primarily to lack of oxygen, and the central nervous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system (CNS) receptors respond primarily to changes in PCO2, pH, and acid–base disturbances.</a:t>
            </a:r>
            <a:r>
              <a:rPr lang="en-US" dirty="0"/>
              <a:t> </a:t>
            </a:r>
            <a:br>
              <a:rPr lang="en-US" dirty="0"/>
            </a:br>
            <a:r>
              <a:rPr lang="en-US" sz="1200" b="0" i="0" kern="1200" dirty="0">
                <a:solidFill>
                  <a:schemeClr val="tx1"/>
                </a:solidFill>
                <a:effectLst/>
                <a:latin typeface="+mn-lt"/>
                <a:ea typeface="+mn-ea"/>
                <a:cs typeface="+mn-cs"/>
              </a:rPr>
              <a:t>The neural output from the carotid body reaches the central</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respiratory centers via the afferent glossopharyngeal nerves. Output from the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aortic bodies travels to the medullary centers via the vagus nerve</a:t>
            </a:r>
            <a:r>
              <a:rPr lang="en-US" dirty="0"/>
              <a:t> </a:t>
            </a:r>
            <a:br>
              <a:rPr lang="en-US" dirty="0"/>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Both carotid and</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aortic bodies are stimulated by decreases in PaO2. PaO2 values less than 100 mm Hg</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lead to increased neural activity from these receptors, but augmentation of minute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ventilation (via increased ventilatory rate and TV) does not occur until PaO2 falls to</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60-65 mm Hg.</a:t>
            </a:r>
            <a:r>
              <a:rPr lang="en-US" dirty="0"/>
              <a:t> </a:t>
            </a:r>
          </a:p>
          <a:p>
            <a:r>
              <a:rPr lang="en-US" sz="1200" b="0" i="0" kern="1200" dirty="0">
                <a:solidFill>
                  <a:schemeClr val="tx1"/>
                </a:solidFill>
                <a:effectLst/>
                <a:latin typeface="+mn-lt"/>
                <a:ea typeface="+mn-ea"/>
                <a:cs typeface="+mn-cs"/>
              </a:rPr>
              <a:t>Although the central response is a contributing factor in regulation of breathing by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carbon dioxide, central chemoreceptors are actually primarily sensitive to changes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in hydrogen ion concentration. Carbon dioxide’s effect is indirect—it reacts with water to form carbonic acid and thus hydrogen and bicarbonate ions when</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dissociated.</a:t>
            </a:r>
            <a:r>
              <a:rPr lang="en-US" dirty="0"/>
              <a:t> </a:t>
            </a:r>
            <a:br>
              <a:rPr lang="en-US" dirty="0"/>
            </a:br>
            <a:r>
              <a:rPr lang="en-US" sz="1200" b="1" i="0" kern="1200" dirty="0">
                <a:solidFill>
                  <a:schemeClr val="tx1"/>
                </a:solidFill>
                <a:effectLst/>
                <a:latin typeface="+mn-lt"/>
                <a:ea typeface="+mn-ea"/>
                <a:cs typeface="+mn-cs"/>
              </a:rPr>
              <a:t>Reference:</a:t>
            </a:r>
            <a:br>
              <a:rPr lang="en-US" sz="1200" b="1"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1. </a:t>
            </a:r>
            <a:r>
              <a:rPr lang="en-US" sz="1200" b="0" i="0" kern="1200" dirty="0" err="1">
                <a:solidFill>
                  <a:schemeClr val="tx1"/>
                </a:solidFill>
                <a:effectLst/>
                <a:latin typeface="+mn-lt"/>
                <a:ea typeface="+mn-ea"/>
                <a:cs typeface="+mn-cs"/>
              </a:rPr>
              <a:t>Tamul</a:t>
            </a:r>
            <a:r>
              <a:rPr lang="en-US" sz="1200" b="0" i="0" kern="1200" dirty="0">
                <a:solidFill>
                  <a:schemeClr val="tx1"/>
                </a:solidFill>
                <a:effectLst/>
                <a:latin typeface="+mn-lt"/>
                <a:ea typeface="+mn-ea"/>
                <a:cs typeface="+mn-cs"/>
              </a:rPr>
              <a:t> PC, Ault ML. Respiratory function in anesthesia. In: Barash PG, Cullen BF, Stoelting RK, et al, eds.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Clinical Anesthesia. 7th ed. Philadelphia: </a:t>
            </a:r>
            <a:r>
              <a:rPr lang="en-US" sz="1200" b="0" i="0" kern="1200" dirty="0" err="1">
                <a:solidFill>
                  <a:schemeClr val="tx1"/>
                </a:solidFill>
                <a:effectLst/>
                <a:latin typeface="+mn-lt"/>
                <a:ea typeface="+mn-ea"/>
                <a:cs typeface="+mn-cs"/>
              </a:rPr>
              <a:t>Wolters</a:t>
            </a:r>
            <a:r>
              <a:rPr lang="en-US" sz="1200" b="0" i="0" kern="1200" dirty="0">
                <a:solidFill>
                  <a:schemeClr val="tx1"/>
                </a:solidFill>
                <a:effectLst/>
                <a:latin typeface="+mn-lt"/>
                <a:ea typeface="+mn-ea"/>
                <a:cs typeface="+mn-cs"/>
              </a:rPr>
              <a:t> Kluwer; 2013:263-286</a:t>
            </a:r>
            <a:r>
              <a:rPr lang="en-US" dirty="0"/>
              <a:t> </a:t>
            </a:r>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20</a:t>
            </a:fld>
            <a:endParaRPr lang="en-US"/>
          </a:p>
        </p:txBody>
      </p:sp>
    </p:spTree>
    <p:extLst>
      <p:ext uri="{BB962C8B-B14F-4D97-AF65-F5344CB8AC3E}">
        <p14:creationId xmlns:p14="http://schemas.microsoft.com/office/powerpoint/2010/main" val="36855368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Ventilation is the bulk movement of gas into and out of the tracheobronchial tree</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21</a:t>
            </a:fld>
            <a:endParaRPr lang="en-US" dirty="0"/>
          </a:p>
        </p:txBody>
      </p:sp>
    </p:spTree>
    <p:extLst>
      <p:ext uri="{BB962C8B-B14F-4D97-AF65-F5344CB8AC3E}">
        <p14:creationId xmlns:p14="http://schemas.microsoft.com/office/powerpoint/2010/main" val="128605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Because the alveolar–</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capillary beds are not composed of rigid vessels, the pressure of the</a:t>
            </a:r>
            <a:r>
              <a:rPr lang="en-US" dirty="0"/>
              <a:t> s</a:t>
            </a:r>
            <a:r>
              <a:rPr lang="en-US" sz="1200" b="0" i="0" kern="1200" dirty="0">
                <a:solidFill>
                  <a:schemeClr val="tx1"/>
                </a:solidFill>
                <a:effectLst/>
                <a:latin typeface="+mn-lt"/>
                <a:ea typeface="+mn-ea"/>
                <a:cs typeface="+mn-cs"/>
              </a:rPr>
              <a:t>urrounding tissues can influence the resistance to flow through the individual</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capillaries. Thus, blood flow depends on the relationship between pulmonary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artery pressure (</a:t>
            </a:r>
            <a:r>
              <a:rPr lang="en-US" sz="1200" b="0" i="0" kern="1200" dirty="0" err="1">
                <a:solidFill>
                  <a:schemeClr val="tx1"/>
                </a:solidFill>
                <a:effectLst/>
                <a:latin typeface="+mn-lt"/>
                <a:ea typeface="+mn-ea"/>
                <a:cs typeface="+mn-cs"/>
              </a:rPr>
              <a:t>Ppa</a:t>
            </a:r>
            <a:r>
              <a:rPr lang="en-US" sz="1200" b="0" i="0" kern="1200" dirty="0">
                <a:solidFill>
                  <a:schemeClr val="tx1"/>
                </a:solidFill>
                <a:effectLst/>
                <a:latin typeface="+mn-lt"/>
                <a:ea typeface="+mn-ea"/>
                <a:cs typeface="+mn-cs"/>
              </a:rPr>
              <a:t>), alveolar pressure (PA), and pulmonary venous pressure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Ppv</a:t>
            </a:r>
            <a:r>
              <a:rPr lang="en-US" sz="1200" b="0" i="0" kern="1200" dirty="0">
                <a:solidFill>
                  <a:schemeClr val="tx1"/>
                </a:solidFill>
                <a:effectLst/>
                <a:latin typeface="+mn-lt"/>
                <a:ea typeface="+mn-ea"/>
                <a:cs typeface="+mn-cs"/>
              </a:rPr>
              <a:t>) </a:t>
            </a:r>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23</a:t>
            </a:fld>
            <a:endParaRPr lang="en-US"/>
          </a:p>
        </p:txBody>
      </p:sp>
    </p:spTree>
    <p:extLst>
      <p:ext uri="{BB962C8B-B14F-4D97-AF65-F5344CB8AC3E}">
        <p14:creationId xmlns:p14="http://schemas.microsoft.com/office/powerpoint/2010/main" val="6709693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Zone 1 conditions occur in the most gravity-independent</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part of the lung (lung apex). In this region, alveolar pressure is approximately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equal to atmospheric pressure. </a:t>
            </a:r>
          </a:p>
          <a:p>
            <a:r>
              <a:rPr lang="en-US" sz="1200" b="0" i="0" kern="1200" dirty="0">
                <a:solidFill>
                  <a:schemeClr val="tx1"/>
                </a:solidFill>
                <a:effectLst/>
                <a:latin typeface="+mn-lt"/>
                <a:ea typeface="+mn-ea"/>
                <a:cs typeface="+mn-cs"/>
              </a:rPr>
              <a:t>Pulmonary artery pressure always exceeds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pulmonary venous pressure, which is </a:t>
            </a:r>
            <a:r>
              <a:rPr lang="en-US" sz="1200" b="0" i="0" kern="1200" dirty="0" err="1">
                <a:solidFill>
                  <a:schemeClr val="tx1"/>
                </a:solidFill>
                <a:effectLst/>
                <a:latin typeface="+mn-lt"/>
                <a:ea typeface="+mn-ea"/>
                <a:cs typeface="+mn-cs"/>
              </a:rPr>
              <a:t>subatmospheric</a:t>
            </a:r>
            <a:r>
              <a:rPr lang="en-US" sz="1200" b="0" i="0" kern="1200" dirty="0">
                <a:solidFill>
                  <a:schemeClr val="tx1"/>
                </a:solidFill>
                <a:effectLst/>
                <a:latin typeface="+mn-lt"/>
                <a:ea typeface="+mn-ea"/>
                <a:cs typeface="+mn-cs"/>
              </a:rPr>
              <a:t> in Zone 1. Therefore,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Zone 1 can be described by the following relationship: PA &gt; </a:t>
            </a:r>
            <a:r>
              <a:rPr lang="en-US" sz="1200" b="0" i="0" kern="1200" dirty="0" err="1">
                <a:solidFill>
                  <a:schemeClr val="tx1"/>
                </a:solidFill>
                <a:effectLst/>
                <a:latin typeface="+mn-lt"/>
                <a:ea typeface="+mn-ea"/>
                <a:cs typeface="+mn-cs"/>
              </a:rPr>
              <a:t>Ppa</a:t>
            </a:r>
            <a:r>
              <a:rPr lang="en-US" sz="1200" b="0" i="0" kern="1200" dirty="0">
                <a:solidFill>
                  <a:schemeClr val="tx1"/>
                </a:solidFill>
                <a:effectLst/>
                <a:latin typeface="+mn-lt"/>
                <a:ea typeface="+mn-ea"/>
                <a:cs typeface="+mn-cs"/>
              </a:rPr>
              <a:t> &gt; </a:t>
            </a:r>
            <a:r>
              <a:rPr lang="en-US" sz="1200" b="0" i="0" kern="1200" dirty="0" err="1">
                <a:solidFill>
                  <a:schemeClr val="tx1"/>
                </a:solidFill>
                <a:effectLst/>
                <a:latin typeface="+mn-lt"/>
                <a:ea typeface="+mn-ea"/>
                <a:cs typeface="+mn-cs"/>
              </a:rPr>
              <a:t>Ppv</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25</a:t>
            </a:fld>
            <a:endParaRPr lang="en-US"/>
          </a:p>
        </p:txBody>
      </p:sp>
    </p:spTree>
    <p:extLst>
      <p:ext uri="{BB962C8B-B14F-4D97-AF65-F5344CB8AC3E}">
        <p14:creationId xmlns:p14="http://schemas.microsoft.com/office/powerpoint/2010/main" val="2978307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rgbClr val="C00000"/>
                </a:solidFill>
                <a:effectLst/>
                <a:latin typeface="Times New Roman" pitchFamily="18" charset="0"/>
                <a:ea typeface="+mn-ea"/>
                <a:cs typeface="Times New Roman" pitchFamily="18" charset="0"/>
              </a:rPr>
              <a:t>Anatomical Dead-space</a:t>
            </a:r>
            <a:endParaRPr lang="en-US" sz="1200" b="0" i="0" kern="1200" dirty="0">
              <a:solidFill>
                <a:srgbClr val="FF0000"/>
              </a:solidFill>
              <a:effectLst/>
              <a:latin typeface="Times New Roman" pitchFamily="18" charset="0"/>
              <a:ea typeface="+mn-ea"/>
              <a:cs typeface="Times New Roman" pitchFamily="18" charset="0"/>
            </a:endParaRPr>
          </a:p>
          <a:p>
            <a:pPr marL="171450" indent="-171450">
              <a:buFont typeface="Wingdings" pitchFamily="2" charset="2"/>
              <a:buChar char="ü"/>
            </a:pPr>
            <a:r>
              <a:rPr lang="en-US" sz="1200" b="0" i="0" kern="1200" dirty="0">
                <a:solidFill>
                  <a:schemeClr val="tx1"/>
                </a:solidFill>
                <a:effectLst/>
                <a:latin typeface="Times New Roman" pitchFamily="18" charset="0"/>
                <a:ea typeface="+mn-ea"/>
                <a:cs typeface="Times New Roman" pitchFamily="18" charset="0"/>
              </a:rPr>
              <a:t>The space within the conducting airways (from the mouth and</a:t>
            </a:r>
            <a:r>
              <a:rPr lang="en-US" sz="1200" b="0" i="0" kern="1200" baseline="0" dirty="0">
                <a:solidFill>
                  <a:schemeClr val="tx1"/>
                </a:solidFill>
                <a:effectLst/>
                <a:latin typeface="Times New Roman" pitchFamily="18" charset="0"/>
                <a:ea typeface="+mn-ea"/>
                <a:cs typeface="Times New Roman" pitchFamily="18" charset="0"/>
              </a:rPr>
              <a:t> </a:t>
            </a:r>
            <a:r>
              <a:rPr lang="en-US" sz="1200" b="0" i="0" kern="1200" dirty="0">
                <a:solidFill>
                  <a:schemeClr val="tx1"/>
                </a:solidFill>
                <a:effectLst/>
                <a:latin typeface="Times New Roman" pitchFamily="18" charset="0"/>
                <a:ea typeface="+mn-ea"/>
                <a:cs typeface="Times New Roman" pitchFamily="18" charset="0"/>
              </a:rPr>
              <a:t>the nose down to the terminal bronchi) constitutes the anatomical dead-space. Conducting airways merely conduct air down to</a:t>
            </a:r>
            <a:r>
              <a:rPr lang="en-US" sz="1200" b="0" i="0" kern="1200" baseline="0" dirty="0">
                <a:solidFill>
                  <a:schemeClr val="tx1"/>
                </a:solidFill>
                <a:effectLst/>
                <a:latin typeface="Times New Roman" pitchFamily="18" charset="0"/>
                <a:ea typeface="+mn-ea"/>
                <a:cs typeface="Times New Roman" pitchFamily="18" charset="0"/>
              </a:rPr>
              <a:t> </a:t>
            </a:r>
            <a:r>
              <a:rPr lang="en-US" sz="1200" b="0" i="0" kern="1200" dirty="0">
                <a:solidFill>
                  <a:schemeClr val="tx1"/>
                </a:solidFill>
                <a:effectLst/>
                <a:latin typeface="Times New Roman" pitchFamily="18" charset="0"/>
                <a:ea typeface="+mn-ea"/>
                <a:cs typeface="Times New Roman" pitchFamily="18" charset="0"/>
              </a:rPr>
              <a:t>the respiratory zone of the lung, and by themselves, play no role</a:t>
            </a:r>
            <a:r>
              <a:rPr lang="en-US" sz="1200" b="0" i="0" kern="1200" baseline="0" dirty="0">
                <a:solidFill>
                  <a:schemeClr val="tx1"/>
                </a:solidFill>
                <a:effectLst/>
                <a:latin typeface="Times New Roman" pitchFamily="18" charset="0"/>
                <a:ea typeface="+mn-ea"/>
                <a:cs typeface="Times New Roman" pitchFamily="18" charset="0"/>
              </a:rPr>
              <a:t> </a:t>
            </a:r>
            <a:r>
              <a:rPr lang="en-US" sz="1200" b="0" i="0" kern="1200" dirty="0">
                <a:solidFill>
                  <a:schemeClr val="tx1"/>
                </a:solidFill>
                <a:effectLst/>
                <a:latin typeface="Times New Roman" pitchFamily="18" charset="0"/>
                <a:ea typeface="+mn-ea"/>
                <a:cs typeface="Times New Roman" pitchFamily="18" charset="0"/>
              </a:rPr>
              <a:t>in gas exchange. The volume of the conducting airways is</a:t>
            </a:r>
            <a:r>
              <a:rPr lang="en-US" sz="1200" b="0" i="0" kern="1200" baseline="0" dirty="0">
                <a:solidFill>
                  <a:schemeClr val="tx1"/>
                </a:solidFill>
                <a:effectLst/>
                <a:latin typeface="Times New Roman" pitchFamily="18" charset="0"/>
                <a:ea typeface="+mn-ea"/>
                <a:cs typeface="Times New Roman" pitchFamily="18" charset="0"/>
              </a:rPr>
              <a:t> </a:t>
            </a:r>
            <a:r>
              <a:rPr lang="en-US" sz="1200" b="0" i="0" kern="1200" dirty="0">
                <a:solidFill>
                  <a:schemeClr val="tx1"/>
                </a:solidFill>
                <a:effectLst/>
                <a:latin typeface="Times New Roman" pitchFamily="18" charset="0"/>
                <a:ea typeface="+mn-ea"/>
                <a:cs typeface="Times New Roman" pitchFamily="18" charset="0"/>
              </a:rPr>
              <a:t>approximately 150 mL in an adult. Thus, of a tidal breath of</a:t>
            </a:r>
            <a:r>
              <a:rPr lang="en-US" sz="1200" b="0" i="0" kern="1200" baseline="0" dirty="0">
                <a:solidFill>
                  <a:schemeClr val="tx1"/>
                </a:solidFill>
                <a:effectLst/>
                <a:latin typeface="Times New Roman" pitchFamily="18" charset="0"/>
                <a:ea typeface="+mn-ea"/>
                <a:cs typeface="Times New Roman" pitchFamily="18" charset="0"/>
              </a:rPr>
              <a:t> </a:t>
            </a:r>
            <a:r>
              <a:rPr lang="en-US" sz="1200" b="0" i="0" kern="1200" dirty="0">
                <a:solidFill>
                  <a:schemeClr val="tx1"/>
                </a:solidFill>
                <a:effectLst/>
                <a:latin typeface="Times New Roman" pitchFamily="18" charset="0"/>
                <a:ea typeface="+mn-ea"/>
                <a:cs typeface="Times New Roman" pitchFamily="18" charset="0"/>
              </a:rPr>
              <a:t>450 mL, only 300 mL will participate in gas exchange, 150 Ml</a:t>
            </a:r>
            <a:r>
              <a:rPr lang="en-US" sz="1200" b="0" i="0" kern="1200" baseline="0" dirty="0">
                <a:solidFill>
                  <a:schemeClr val="tx1"/>
                </a:solidFill>
                <a:effectLst/>
                <a:latin typeface="Times New Roman" pitchFamily="18" charset="0"/>
                <a:ea typeface="+mn-ea"/>
                <a:cs typeface="Times New Roman" pitchFamily="18" charset="0"/>
              </a:rPr>
              <a:t> </a:t>
            </a:r>
            <a:r>
              <a:rPr lang="en-US" sz="1200" b="0" i="0" kern="1200" dirty="0">
                <a:solidFill>
                  <a:schemeClr val="tx1"/>
                </a:solidFill>
                <a:effectLst/>
                <a:latin typeface="Times New Roman" pitchFamily="18" charset="0"/>
                <a:ea typeface="+mn-ea"/>
                <a:cs typeface="Times New Roman" pitchFamily="18" charset="0"/>
              </a:rPr>
              <a:t>being contained within the dead-space. This 150 mL of anatomical dead-space can be cut down to about 40-60% by tracheotomy.</a:t>
            </a:r>
          </a:p>
          <a:p>
            <a:pPr marL="171450" indent="-171450">
              <a:buFont typeface="Wingdings" pitchFamily="2" charset="2"/>
              <a:buChar char="ü"/>
            </a:pPr>
            <a:r>
              <a:rPr lang="en-US" sz="1200" b="0" i="0" kern="1200" dirty="0">
                <a:solidFill>
                  <a:schemeClr val="tx1"/>
                </a:solidFill>
                <a:effectLst/>
                <a:latin typeface="+mn-lt"/>
                <a:ea typeface="+mn-ea"/>
                <a:cs typeface="+mn-cs"/>
              </a:rPr>
              <a:t>Clinical conditions that modify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anatomic dead space include tracheal intubation, tracheostomy, and large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lengths of ventilator tubing between the tracheal tube and the ventilator Y piece.</a:t>
            </a:r>
          </a:p>
          <a:p>
            <a:pPr marL="171450" indent="-171450">
              <a:buFont typeface="Wingdings" pitchFamily="2" charset="2"/>
              <a:buChar char="ü"/>
            </a:pPr>
            <a:r>
              <a:rPr lang="en-US" sz="1200" b="0" i="0" kern="1200" dirty="0">
                <a:solidFill>
                  <a:schemeClr val="tx1"/>
                </a:solidFill>
                <a:effectLst/>
                <a:latin typeface="+mn-lt"/>
                <a:ea typeface="+mn-ea"/>
                <a:cs typeface="+mn-cs"/>
              </a:rPr>
              <a:t> In contrast, the inspiratory or expiratory limb of the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anesthesia circle system has unidirectional flow, and therefore, is not a</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component of anatomic dead space ventilation.</a:t>
            </a:r>
            <a:r>
              <a:rPr lang="en-US" dirty="0"/>
              <a:t> </a:t>
            </a:r>
            <a:br>
              <a:rPr lang="en-US" dirty="0"/>
            </a:br>
            <a:endParaRPr lang="en-US" i="0" dirty="0">
              <a:latin typeface="Times New Roman" pitchFamily="18" charset="0"/>
              <a:cs typeface="Times New Roman" pitchFamily="18" charset="0"/>
            </a:endParaRPr>
          </a:p>
        </p:txBody>
      </p:sp>
      <p:sp>
        <p:nvSpPr>
          <p:cNvPr id="4" name="Slide Number Placeholder 3"/>
          <p:cNvSpPr>
            <a:spLocks noGrp="1"/>
          </p:cNvSpPr>
          <p:nvPr>
            <p:ph type="sldNum" sz="quarter" idx="10"/>
          </p:nvPr>
        </p:nvSpPr>
        <p:spPr/>
        <p:txBody>
          <a:bodyPr/>
          <a:lstStyle/>
          <a:p>
            <a:fld id="{A16BD78C-19BB-41CA-95E2-3693E2C4E2C4}" type="slidenum">
              <a:rPr lang="en-US" smtClean="0"/>
              <a:t>32</a:t>
            </a:fld>
            <a:endParaRPr lang="en-US" dirty="0"/>
          </a:p>
        </p:txBody>
      </p:sp>
    </p:spTree>
    <p:extLst>
      <p:ext uri="{BB962C8B-B14F-4D97-AF65-F5344CB8AC3E}">
        <p14:creationId xmlns:p14="http://schemas.microsoft.com/office/powerpoint/2010/main" val="2668621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33</a:t>
            </a:fld>
            <a:endParaRPr lang="en-US"/>
          </a:p>
        </p:txBody>
      </p:sp>
    </p:spTree>
    <p:extLst>
      <p:ext uri="{BB962C8B-B14F-4D97-AF65-F5344CB8AC3E}">
        <p14:creationId xmlns:p14="http://schemas.microsoft.com/office/powerpoint/2010/main" val="27141349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latin typeface="Times New Roman" pitchFamily="18" charset="0"/>
                <a:cs typeface="Times New Roman" pitchFamily="18" charset="0"/>
              </a:rPr>
              <a:t>Alveolar dead space</a:t>
            </a:r>
            <a:r>
              <a:rPr lang="en-US" sz="1200" dirty="0">
                <a:latin typeface="Times New Roman" pitchFamily="18" charset="0"/>
                <a:cs typeface="Times New Roman" pitchFamily="18" charset="0"/>
              </a:rPr>
              <a:t>;-This occurs when areas of the lung are being ventilated but not being perfused and this leads to what is known as V/Q mismatch</a:t>
            </a:r>
          </a:p>
          <a:p>
            <a:r>
              <a:rPr lang="en-US" sz="1200" b="0" i="0" kern="1200" dirty="0">
                <a:solidFill>
                  <a:schemeClr val="tx1"/>
                </a:solidFill>
                <a:effectLst/>
                <a:latin typeface="+mn-lt"/>
                <a:ea typeface="+mn-ea"/>
                <a:cs typeface="+mn-cs"/>
              </a:rPr>
              <a:t>Alveolar dead space ventilation arises from ventilation of alveoli with</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inadequate or no perfusion</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34</a:t>
            </a:fld>
            <a:endParaRPr lang="en-US"/>
          </a:p>
        </p:txBody>
      </p:sp>
    </p:spTree>
    <p:extLst>
      <p:ext uri="{BB962C8B-B14F-4D97-AF65-F5344CB8AC3E}">
        <p14:creationId xmlns:p14="http://schemas.microsoft.com/office/powerpoint/2010/main" val="36950299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Minute ventilation is the product of the tidal volume times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 respiratory rate: it is inversely proportional to the PaCO2.</a:t>
            </a:r>
            <a:r>
              <a:rPr lang="en-US" dirty="0"/>
              <a:t> </a:t>
            </a:r>
            <a:br>
              <a:rPr lang="en-US" dirty="0"/>
            </a:br>
            <a:r>
              <a:rPr lang="en-US" sz="1200" b="0" i="0" kern="1200" dirty="0">
                <a:solidFill>
                  <a:schemeClr val="tx1"/>
                </a:solidFill>
                <a:effectLst/>
                <a:latin typeface="+mn-lt"/>
                <a:ea typeface="+mn-ea"/>
                <a:cs typeface="+mn-cs"/>
              </a:rPr>
              <a:t>The minute ventilation also affects the PaO2 in a nonlinear</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fashion; however, manipulating the minute volume for the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purposes of achieving a change in PaO2 is undesirable, as only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small changes in PaO2 can be brought about by large alterations in minute ventilation. Such large changes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in minute ventilation can have a profound and unwanted effect on PaCO2.</a:t>
            </a:r>
            <a:r>
              <a:rPr lang="en-US" dirty="0"/>
              <a:t> </a:t>
            </a:r>
          </a:p>
          <a:p>
            <a:r>
              <a:rPr lang="en-US" sz="1200" b="0" i="0" kern="1200" dirty="0">
                <a:solidFill>
                  <a:schemeClr val="tx1"/>
                </a:solidFill>
                <a:effectLst/>
                <a:latin typeface="+mn-lt"/>
                <a:ea typeface="+mn-ea"/>
                <a:cs typeface="+mn-cs"/>
              </a:rPr>
              <a:t>Manipulation of tidal volumes has a different effect on the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PaCO2 than does altering respiratory rate.</a:t>
            </a:r>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35</a:t>
            </a:fld>
            <a:endParaRPr lang="en-US"/>
          </a:p>
        </p:txBody>
      </p:sp>
    </p:spTree>
    <p:extLst>
      <p:ext uri="{BB962C8B-B14F-4D97-AF65-F5344CB8AC3E}">
        <p14:creationId xmlns:p14="http://schemas.microsoft.com/office/powerpoint/2010/main" val="5215619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Increases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in dead space ventilation primarily affect carbon dioxide elimination and have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little influence on arterial oxygenation until dead space ventilation exceeds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80% to 90% of minute ventilation ( E). </a:t>
            </a:r>
          </a:p>
          <a:p>
            <a:r>
              <a:rPr lang="en-US" sz="1200" b="0" i="0" kern="1200" dirty="0">
                <a:solidFill>
                  <a:schemeClr val="tx1"/>
                </a:solidFill>
                <a:effectLst/>
                <a:latin typeface="+mn-lt"/>
                <a:ea typeface="+mn-ea"/>
                <a:cs typeface="+mn-cs"/>
              </a:rPr>
              <a:t>Similarly, physiologic shunt primarily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affects arterial oxygenation with little effect on carbon dioxide elimination</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until the physiologic shunt fraction exceeds 75% to 80% of the cardiac</a:t>
            </a:r>
            <a:r>
              <a:rPr lang="en-US" dirty="0"/>
              <a:t> output.</a:t>
            </a:r>
            <a:br>
              <a:rPr lang="en-US" dirty="0"/>
            </a:br>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36</a:t>
            </a:fld>
            <a:endParaRPr lang="en-US"/>
          </a:p>
        </p:txBody>
      </p:sp>
    </p:spTree>
    <p:extLst>
      <p:ext uri="{BB962C8B-B14F-4D97-AF65-F5344CB8AC3E}">
        <p14:creationId xmlns:p14="http://schemas.microsoft.com/office/powerpoint/2010/main" val="2748564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When ventilation exceeds perfusion to a significant amount, it is called dead space</a:t>
            </a:r>
            <a:r>
              <a:rPr lang="en-US" dirty="0"/>
              <a:t> .</a:t>
            </a:r>
          </a:p>
          <a:p>
            <a:r>
              <a:rPr lang="en-US" sz="1200" b="0" i="0" kern="1200" dirty="0">
                <a:solidFill>
                  <a:schemeClr val="tx1"/>
                </a:solidFill>
                <a:effectLst/>
                <a:latin typeface="+mn-lt"/>
                <a:ea typeface="+mn-ea"/>
                <a:cs typeface="+mn-cs"/>
              </a:rPr>
              <a:t> When there is no ventilation or perfusion, it is defined as a silent unit. This could</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theoretically be the result of a combination of a pulmonary vaso-hypoxic response in</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addition to a pulmonary bronchiolar constrictive response.</a:t>
            </a:r>
            <a:r>
              <a:rPr lang="en-US" dirty="0"/>
              <a:t> </a:t>
            </a:r>
            <a:r>
              <a:rPr lang="en-US" sz="1200" b="0" i="0" kern="1200" dirty="0">
                <a:solidFill>
                  <a:schemeClr val="tx1"/>
                </a:solidFill>
                <a:effectLst/>
                <a:latin typeface="+mn-lt"/>
                <a:ea typeface="+mn-ea"/>
                <a:cs typeface="+mn-cs"/>
              </a:rPr>
              <a:t>When a unit has no ventilation but there is blood flow, it is called a shunt</a:t>
            </a:r>
            <a:r>
              <a:rPr lang="en-US" dirty="0"/>
              <a:t> </a:t>
            </a:r>
            <a:br>
              <a:rPr lang="en-US" dirty="0"/>
            </a:br>
            <a:br>
              <a:rPr lang="en-US" dirty="0"/>
            </a:br>
            <a:r>
              <a:rPr lang="en-US" sz="1200" b="1" i="0" kern="1200" dirty="0">
                <a:solidFill>
                  <a:schemeClr val="tx1"/>
                </a:solidFill>
                <a:effectLst/>
                <a:latin typeface="+mn-lt"/>
                <a:ea typeface="+mn-ea"/>
                <a:cs typeface="+mn-cs"/>
              </a:rPr>
              <a:t>Reference:</a:t>
            </a:r>
            <a:br>
              <a:rPr lang="en-US" sz="1200" b="1"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1. </a:t>
            </a:r>
            <a:r>
              <a:rPr lang="en-US" sz="1200" b="0" i="0" kern="1200" dirty="0" err="1">
                <a:solidFill>
                  <a:schemeClr val="tx1"/>
                </a:solidFill>
                <a:effectLst/>
                <a:latin typeface="+mn-lt"/>
                <a:ea typeface="+mn-ea"/>
                <a:cs typeface="+mn-cs"/>
              </a:rPr>
              <a:t>Tamul</a:t>
            </a:r>
            <a:r>
              <a:rPr lang="en-US" sz="1200" b="0" i="0" kern="1200" dirty="0">
                <a:solidFill>
                  <a:schemeClr val="tx1"/>
                </a:solidFill>
                <a:effectLst/>
                <a:latin typeface="+mn-lt"/>
                <a:ea typeface="+mn-ea"/>
                <a:cs typeface="+mn-cs"/>
              </a:rPr>
              <a:t> PC, Ault ML. Respiratory function in anesthesia. In: Barash PG, Cullen BF, Stoelting RK, et al, eds.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Clinical Anesthesia. 7th ed. Philadelphia: </a:t>
            </a:r>
            <a:r>
              <a:rPr lang="en-US" sz="1200" b="0" i="0" kern="1200" dirty="0" err="1">
                <a:solidFill>
                  <a:schemeClr val="tx1"/>
                </a:solidFill>
                <a:effectLst/>
                <a:latin typeface="+mn-lt"/>
                <a:ea typeface="+mn-ea"/>
                <a:cs typeface="+mn-cs"/>
              </a:rPr>
              <a:t>Wolters</a:t>
            </a:r>
            <a:r>
              <a:rPr lang="en-US" sz="1200" b="0" i="0" kern="1200" dirty="0">
                <a:solidFill>
                  <a:schemeClr val="tx1"/>
                </a:solidFill>
                <a:effectLst/>
                <a:latin typeface="+mn-lt"/>
                <a:ea typeface="+mn-ea"/>
                <a:cs typeface="+mn-cs"/>
              </a:rPr>
              <a:t> Kluwer; 2013:263-286.</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37</a:t>
            </a:fld>
            <a:endParaRPr lang="en-US"/>
          </a:p>
        </p:txBody>
      </p:sp>
    </p:spTree>
    <p:extLst>
      <p:ext uri="{BB962C8B-B14F-4D97-AF65-F5344CB8AC3E}">
        <p14:creationId xmlns:p14="http://schemas.microsoft.com/office/powerpoint/2010/main" val="13762616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physiologic shunt (Q˙ SP) is that portion of</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 total cardiac output (Q˙T) that returns to the left heart and systemic</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circulation without receiving oxygen in the lung.</a:t>
            </a:r>
            <a:br>
              <a:rPr lang="en-US" dirty="0"/>
            </a:br>
            <a:r>
              <a:rPr lang="en-US" sz="1200" b="0" i="0" kern="1200" dirty="0">
                <a:solidFill>
                  <a:schemeClr val="tx1"/>
                </a:solidFill>
                <a:effectLst/>
                <a:latin typeface="+mn-lt"/>
                <a:ea typeface="+mn-ea"/>
                <a:cs typeface="+mn-cs"/>
              </a:rPr>
              <a:t>Because blood passing through areas of absolute shunt receives no oxygen,</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arterial hypoxemia resulting from absolute shunt is minimally reversed with</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supplemental oxygen. </a:t>
            </a:r>
          </a:p>
          <a:p>
            <a:r>
              <a:rPr lang="en-US" sz="1200" b="0" i="0" kern="1200" dirty="0">
                <a:solidFill>
                  <a:schemeClr val="tx1"/>
                </a:solidFill>
                <a:effectLst/>
                <a:latin typeface="+mn-lt"/>
                <a:ea typeface="+mn-ea"/>
                <a:cs typeface="+mn-cs"/>
              </a:rPr>
              <a:t>Alternatively, supplemental oxygen supplied to patients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with arterial hypoxemia due to venous admixture will increase the PaO2.</a:t>
            </a:r>
            <a:r>
              <a:rPr lang="en-US" dirty="0"/>
              <a:t> </a:t>
            </a:r>
          </a:p>
          <a:p>
            <a:r>
              <a:rPr lang="en-US" dirty="0"/>
              <a:t> </a:t>
            </a:r>
          </a:p>
        </p:txBody>
      </p:sp>
      <p:sp>
        <p:nvSpPr>
          <p:cNvPr id="4" name="Slide Number Placeholder 3"/>
          <p:cNvSpPr>
            <a:spLocks noGrp="1"/>
          </p:cNvSpPr>
          <p:nvPr>
            <p:ph type="sldNum" sz="quarter" idx="10"/>
          </p:nvPr>
        </p:nvSpPr>
        <p:spPr/>
        <p:txBody>
          <a:bodyPr/>
          <a:lstStyle/>
          <a:p>
            <a:fld id="{A16BD78C-19BB-41CA-95E2-3693E2C4E2C4}" type="slidenum">
              <a:rPr lang="en-US" smtClean="0"/>
              <a:t>38</a:t>
            </a:fld>
            <a:endParaRPr lang="en-US"/>
          </a:p>
        </p:txBody>
      </p:sp>
    </p:spTree>
    <p:extLst>
      <p:ext uri="{BB962C8B-B14F-4D97-AF65-F5344CB8AC3E}">
        <p14:creationId xmlns:p14="http://schemas.microsoft.com/office/powerpoint/2010/main" val="40092730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l"/>
            <a:r>
              <a:rPr lang="en-US" sz="1200" b="0" i="0" kern="1200" dirty="0">
                <a:solidFill>
                  <a:schemeClr val="tx1"/>
                </a:solidFill>
                <a:effectLst/>
                <a:latin typeface="+mn-lt"/>
                <a:ea typeface="+mn-ea"/>
                <a:cs typeface="+mn-cs"/>
              </a:rPr>
              <a:t>A small percentage of venous blood normally bypasses the right ventricle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and empties directly into the left atrium. This anatomic, absolute, or true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shunt arises from the venous return of the pleural, bronchiolar, and </a:t>
            </a:r>
            <a:r>
              <a:rPr lang="en-US" sz="1200" b="0" i="0" kern="1200" dirty="0" err="1">
                <a:solidFill>
                  <a:schemeClr val="tx1"/>
                </a:solidFill>
                <a:effectLst/>
                <a:latin typeface="+mn-lt"/>
                <a:ea typeface="+mn-ea"/>
                <a:cs typeface="+mn-cs"/>
              </a:rPr>
              <a:t>thebesian</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veins. This venous admixture accounts for 2% to 5% of total cardiac output</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and represents the small shunt that normally occurs.</a:t>
            </a:r>
            <a:r>
              <a:rPr lang="en-US" dirty="0"/>
              <a:t> </a:t>
            </a:r>
            <a:br>
              <a:rPr lang="en-US" dirty="0"/>
            </a:br>
            <a:r>
              <a:rPr lang="en-US" sz="1800" b="0" i="0" u="none" strike="noStrike" baseline="0" dirty="0">
                <a:latin typeface="LiberationSans"/>
              </a:rPr>
              <a:t>An anatomic shunt occurs when blood travels from the right side of the heart to the left side of the heart via anatomic structures that bypass the alveoli. Normally, a small amount of venous blood is carried from the bronchial veins, Thebesian veins, and pleural veins to the left side of the heart where it mixes with oxygenated blood from the pulmonary circulation. This normal venous admixture (i.e., anatomic shunt) represents 2%–5% of the cardiac output and explains why arterial oxygen tension (PaO2) is slightly less than pulmonary capillary oxygen tension (Pc´O2).</a:t>
            </a:r>
          </a:p>
          <a:p>
            <a:pPr algn="l"/>
            <a:r>
              <a:rPr lang="en-US" sz="1800" b="0" i="0" u="none" strike="noStrike" baseline="0" dirty="0">
                <a:latin typeface="LiberationSans"/>
              </a:rPr>
              <a:t>An abnormal anatomic shunt can occur with certain congenital cardiac defects (e.g., cardiac septal defects, tetralogy of Fallot) or cases of persistent fetal circulation (e.g., patent ductus </a:t>
            </a:r>
            <a:r>
              <a:rPr lang="en-US" sz="1800" b="0" i="0" u="none" strike="noStrike" baseline="0" dirty="0" err="1">
                <a:latin typeface="LiberationSans"/>
              </a:rPr>
              <a:t>arterious</a:t>
            </a:r>
            <a:r>
              <a:rPr lang="en-US" sz="1800" b="0" i="0" u="none" strike="noStrike" baseline="0" dirty="0">
                <a:latin typeface="LiberationSans"/>
              </a:rPr>
              <a:t> [PDA] or patent foramen </a:t>
            </a:r>
            <a:r>
              <a:rPr lang="en-US" sz="1800" b="0" i="0" u="none" strike="noStrike" baseline="0" dirty="0" err="1">
                <a:latin typeface="LiberationSans"/>
              </a:rPr>
              <a:t>ovale</a:t>
            </a:r>
            <a:r>
              <a:rPr lang="en-US" sz="1800" b="0" i="0" u="none" strike="noStrike" baseline="0" dirty="0">
                <a:latin typeface="LiberationSans"/>
              </a:rPr>
              <a:t>).</a:t>
            </a:r>
          </a:p>
          <a:p>
            <a:pPr algn="l"/>
            <a:r>
              <a:rPr lang="en-US" sz="1800" b="0" i="0" u="none" strike="noStrike" baseline="0" dirty="0">
                <a:latin typeface="LiberationSans"/>
              </a:rPr>
              <a:t> Large anatomic shunts may cause severe hypoxemia that is refractory to oxygen administration.</a:t>
            </a:r>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39</a:t>
            </a:fld>
            <a:endParaRPr lang="en-US"/>
          </a:p>
        </p:txBody>
      </p:sp>
    </p:spTree>
    <p:extLst>
      <p:ext uri="{BB962C8B-B14F-4D97-AF65-F5344CB8AC3E}">
        <p14:creationId xmlns:p14="http://schemas.microsoft.com/office/powerpoint/2010/main" val="14824000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40</a:t>
            </a:fld>
            <a:endParaRPr lang="en-US"/>
          </a:p>
        </p:txBody>
      </p:sp>
    </p:spTree>
    <p:extLst>
      <p:ext uri="{BB962C8B-B14F-4D97-AF65-F5344CB8AC3E}">
        <p14:creationId xmlns:p14="http://schemas.microsoft.com/office/powerpoint/2010/main" val="33168440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46</a:t>
            </a:fld>
            <a:endParaRPr lang="en-US"/>
          </a:p>
        </p:txBody>
      </p:sp>
    </p:spTree>
    <p:extLst>
      <p:ext uri="{BB962C8B-B14F-4D97-AF65-F5344CB8AC3E}">
        <p14:creationId xmlns:p14="http://schemas.microsoft.com/office/powerpoint/2010/main" val="17506088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RQ is generally indicative of the primary type of fuel being utilized; i.e.</a:t>
            </a:r>
            <a:r>
              <a:rPr lang="en-US" baseline="0" dirty="0"/>
              <a:t> carbohydrates, lipids, and proteins.</a:t>
            </a:r>
            <a:br>
              <a:rPr lang="en-US" dirty="0"/>
            </a:br>
            <a:r>
              <a:rPr lang="en-US" sz="1200" b="0" i="0" kern="1200" dirty="0">
                <a:solidFill>
                  <a:schemeClr val="tx1"/>
                </a:solidFill>
                <a:effectLst/>
                <a:latin typeface="+mn-lt"/>
                <a:ea typeface="+mn-ea"/>
                <a:cs typeface="+mn-cs"/>
              </a:rPr>
              <a:t>The CO2 tension in the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atmospheric air is negligible. In contrast, the level of CO2 in</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alveolar air is substantial, exerting a partial pressure of</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approximately 40 mmHg. </a:t>
            </a:r>
          </a:p>
          <a:p>
            <a:r>
              <a:rPr lang="en-US" sz="1200" b="0" i="0" kern="1200" dirty="0">
                <a:solidFill>
                  <a:schemeClr val="tx1"/>
                </a:solidFill>
                <a:effectLst/>
                <a:latin typeface="+mn-lt"/>
                <a:ea typeface="+mn-ea"/>
                <a:cs typeface="+mn-cs"/>
              </a:rPr>
              <a:t>The alveolo-capillary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membrane is highly permeable to CO2, and as a result of this,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 partial pressure of the CO2 in alveolar air is almost identical to the partial pressure of CO2 in alveolar capillary blood.</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49</a:t>
            </a:fld>
            <a:endParaRPr lang="en-US"/>
          </a:p>
        </p:txBody>
      </p:sp>
    </p:spTree>
    <p:extLst>
      <p:ext uri="{BB962C8B-B14F-4D97-AF65-F5344CB8AC3E}">
        <p14:creationId xmlns:p14="http://schemas.microsoft.com/office/powerpoint/2010/main" val="286136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Patients with acute respiratory failure may have hypoxemia alone or hypoxemia with hypercapnia. Neuromuscular disease, spinal cord injury, chest wall abnormalities, and obesity–hypoventilation syndrome may also cause chronic respiratory failure.</a:t>
            </a:r>
          </a:p>
        </p:txBody>
      </p:sp>
      <p:sp>
        <p:nvSpPr>
          <p:cNvPr id="4" name="Slide Number Placeholder 3"/>
          <p:cNvSpPr>
            <a:spLocks noGrp="1"/>
          </p:cNvSpPr>
          <p:nvPr>
            <p:ph type="sldNum" sz="quarter" idx="5"/>
          </p:nvPr>
        </p:nvSpPr>
        <p:spPr/>
        <p:txBody>
          <a:bodyPr/>
          <a:lstStyle/>
          <a:p>
            <a:fld id="{A16BD78C-19BB-41CA-95E2-3693E2C4E2C4}" type="slidenum">
              <a:rPr lang="en-US" smtClean="0"/>
              <a:t>51</a:t>
            </a:fld>
            <a:endParaRPr lang="en-US"/>
          </a:p>
        </p:txBody>
      </p:sp>
    </p:spTree>
    <p:extLst>
      <p:ext uri="{BB962C8B-B14F-4D97-AF65-F5344CB8AC3E}">
        <p14:creationId xmlns:p14="http://schemas.microsoft.com/office/powerpoint/2010/main" val="30849946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latin typeface="Times New Roman" pitchFamily="18" charset="0"/>
                <a:cs typeface="Times New Roman" pitchFamily="18" charset="0"/>
              </a:rPr>
              <a:t>Respiratory failure can thus be conceptualized as having components of ventilatory pump failure (failure to adequately</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move</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gases in and out of the pulmonary system) and/or lung failure </a:t>
            </a:r>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52</a:t>
            </a:fld>
            <a:endParaRPr lang="en-US"/>
          </a:p>
        </p:txBody>
      </p:sp>
    </p:spTree>
    <p:extLst>
      <p:ext uri="{BB962C8B-B14F-4D97-AF65-F5344CB8AC3E}">
        <p14:creationId xmlns:p14="http://schemas.microsoft.com/office/powerpoint/2010/main" val="39623287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Oxygenation problems in the lung may be caused by poor matching of gas and blood (e.g., pulmonary shunt or low ventilation to perfusion ratios [low V̇/Q̇]), diffusion problems (e.g., early pulmonary fibrosis), and hypoventilation, in which an increased alveolar</a:t>
            </a:r>
          </a:p>
          <a:p>
            <a:r>
              <a:rPr lang="en-US" sz="1200" b="0" i="0" u="none" strike="noStrike" kern="1200" baseline="0" dirty="0">
                <a:solidFill>
                  <a:schemeClr val="tx1"/>
                </a:solidFill>
                <a:latin typeface="+mn-lt"/>
                <a:ea typeface="+mn-ea"/>
                <a:cs typeface="+mn-cs"/>
              </a:rPr>
              <a:t>carbon dioxide tension (PACO2) reduces alveolar and arterial oxygen tensions (i.e., decreased PAO2 and PaO2).</a:t>
            </a:r>
            <a:endParaRPr lang="en-US" dirty="0"/>
          </a:p>
        </p:txBody>
      </p:sp>
      <p:sp>
        <p:nvSpPr>
          <p:cNvPr id="4" name="Slide Number Placeholder 3"/>
          <p:cNvSpPr>
            <a:spLocks noGrp="1"/>
          </p:cNvSpPr>
          <p:nvPr>
            <p:ph type="sldNum" sz="quarter" idx="5"/>
          </p:nvPr>
        </p:nvSpPr>
        <p:spPr/>
        <p:txBody>
          <a:bodyPr/>
          <a:lstStyle/>
          <a:p>
            <a:fld id="{A16BD78C-19BB-41CA-95E2-3693E2C4E2C4}" type="slidenum">
              <a:rPr lang="en-US" smtClean="0"/>
              <a:t>53</a:t>
            </a:fld>
            <a:endParaRPr lang="en-US"/>
          </a:p>
        </p:txBody>
      </p:sp>
    </p:spTree>
    <p:extLst>
      <p:ext uri="{BB962C8B-B14F-4D97-AF65-F5344CB8AC3E}">
        <p14:creationId xmlns:p14="http://schemas.microsoft.com/office/powerpoint/2010/main" val="31455145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In the absence of underlying pulmonary disease, </a:t>
            </a:r>
            <a:r>
              <a:rPr lang="en-US" sz="1800" dirty="0" err="1">
                <a:latin typeface="Times New Roman" pitchFamily="18" charset="0"/>
                <a:cs typeface="Times New Roman" pitchFamily="18" charset="0"/>
              </a:rPr>
              <a:t>hypoxaemia</a:t>
            </a:r>
            <a:r>
              <a:rPr lang="en-US" sz="1800" baseline="0" dirty="0">
                <a:latin typeface="Times New Roman" pitchFamily="18" charset="0"/>
                <a:cs typeface="Times New Roman" pitchFamily="18" charset="0"/>
              </a:rPr>
              <a:t> </a:t>
            </a:r>
            <a:r>
              <a:rPr lang="en-US" sz="1800" dirty="0">
                <a:latin typeface="Times New Roman" pitchFamily="18" charset="0"/>
                <a:cs typeface="Times New Roman" pitchFamily="18" charset="0"/>
              </a:rPr>
              <a:t>accompanying hypoventilation is characterized by normal</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gradient between alveolar and arterial oxygen tension (P(A-a)</a:t>
            </a:r>
            <a:r>
              <a:rPr lang="en-US" sz="1800" baseline="0" dirty="0">
                <a:latin typeface="Times New Roman" pitchFamily="18" charset="0"/>
                <a:cs typeface="Times New Roman" pitchFamily="18" charset="0"/>
              </a:rPr>
              <a:t> </a:t>
            </a:r>
            <a:r>
              <a:rPr lang="en-US" sz="1800" dirty="0">
                <a:latin typeface="Times New Roman" pitchFamily="18" charset="0"/>
                <a:cs typeface="Times New Roman" pitchFamily="18" charset="0"/>
              </a:rPr>
              <a:t>O2 </a:t>
            </a:r>
            <a:r>
              <a:rPr lang="en-US" sz="2000" dirty="0">
                <a:latin typeface="Times New Roman" pitchFamily="18" charset="0"/>
                <a:cs typeface="Times New Roman" pitchFamily="18" charset="0"/>
              </a:rPr>
              <a:t>gradient.</a:t>
            </a:r>
          </a:p>
          <a:p>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55</a:t>
            </a:fld>
            <a:endParaRPr lang="en-US"/>
          </a:p>
        </p:txBody>
      </p:sp>
    </p:spTree>
    <p:extLst>
      <p:ext uri="{BB962C8B-B14F-4D97-AF65-F5344CB8AC3E}">
        <p14:creationId xmlns:p14="http://schemas.microsoft.com/office/powerpoint/2010/main" val="40665952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As ventilation increases, arterial carbon dioxide levels decrease and vice versa. Thus, </a:t>
            </a:r>
            <a:r>
              <a:rPr lang="en-US" sz="1200" b="1" i="1" u="none" strike="noStrike" kern="1200" baseline="0" dirty="0">
                <a:solidFill>
                  <a:schemeClr val="tx1"/>
                </a:solidFill>
                <a:latin typeface="+mn-lt"/>
                <a:ea typeface="+mn-ea"/>
                <a:cs typeface="+mn-cs"/>
              </a:rPr>
              <a:t>arterial carbon dioxide tension (PaCO2) is the single best index of alveolar ventilation</a:t>
            </a:r>
            <a:r>
              <a:rPr lang="en-US" sz="1200" b="0" i="0" u="none" strike="noStrike"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A16BD78C-19BB-41CA-95E2-3693E2C4E2C4}" type="slidenum">
              <a:rPr lang="en-US" smtClean="0"/>
              <a:t>56</a:t>
            </a:fld>
            <a:endParaRPr lang="en-US"/>
          </a:p>
        </p:txBody>
      </p:sp>
    </p:spTree>
    <p:extLst>
      <p:ext uri="{BB962C8B-B14F-4D97-AF65-F5344CB8AC3E}">
        <p14:creationId xmlns:p14="http://schemas.microsoft.com/office/powerpoint/2010/main" val="3481830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With the exception of acute exacerbation of chronic lung disease, patients with chronic ventilatory failure generally do not require mechanical ventilatory support unless there is an acute insult.</a:t>
            </a:r>
          </a:p>
          <a:p>
            <a:r>
              <a:rPr lang="en-US" sz="1200" b="0" i="0" u="none" strike="noStrike" kern="1200" baseline="0" dirty="0">
                <a:solidFill>
                  <a:schemeClr val="tx1"/>
                </a:solidFill>
                <a:latin typeface="+mn-lt"/>
                <a:ea typeface="+mn-ea"/>
                <a:cs typeface="+mn-cs"/>
              </a:rPr>
              <a:t>Causes of an increased work of breathing and respiratory muscle fatigue include severe pneumonia, ARDS, heart failure (aka </a:t>
            </a:r>
            <a:r>
              <a:rPr lang="en-US" sz="1200" b="1" i="0" u="none" strike="noStrike" kern="1200" baseline="0" dirty="0">
                <a:solidFill>
                  <a:schemeClr val="tx1"/>
                </a:solidFill>
                <a:latin typeface="+mn-lt"/>
                <a:ea typeface="+mn-ea"/>
                <a:cs typeface="+mn-cs"/>
              </a:rPr>
              <a:t>congestive</a:t>
            </a:r>
          </a:p>
          <a:p>
            <a:r>
              <a:rPr lang="en-US" sz="1200" b="1" i="0" u="none" strike="noStrike" kern="1200" baseline="0" dirty="0">
                <a:solidFill>
                  <a:schemeClr val="tx1"/>
                </a:solidFill>
                <a:latin typeface="+mn-lt"/>
                <a:ea typeface="+mn-ea"/>
                <a:cs typeface="+mn-cs"/>
              </a:rPr>
              <a:t>heart failure </a:t>
            </a:r>
            <a:r>
              <a:rPr lang="en-US" sz="1200" b="0" i="0" u="none" strike="noStrike" kern="1200" baseline="0" dirty="0">
                <a:solidFill>
                  <a:schemeClr val="tx1"/>
                </a:solidFill>
                <a:latin typeface="+mn-lt"/>
                <a:ea typeface="+mn-ea"/>
                <a:cs typeface="+mn-cs"/>
              </a:rPr>
              <a:t>or </a:t>
            </a:r>
            <a:r>
              <a:rPr lang="en-US" sz="1200" b="1" i="0" u="none" strike="noStrike" kern="1200" baseline="0" dirty="0">
                <a:solidFill>
                  <a:schemeClr val="tx1"/>
                </a:solidFill>
                <a:latin typeface="+mn-lt"/>
                <a:ea typeface="+mn-ea"/>
                <a:cs typeface="+mn-cs"/>
              </a:rPr>
              <a:t>CHF</a:t>
            </a:r>
            <a:r>
              <a:rPr lang="en-US" sz="1200" b="0" i="0" u="none" strike="noStrike" kern="1200" baseline="0" dirty="0">
                <a:solidFill>
                  <a:schemeClr val="tx1"/>
                </a:solidFill>
                <a:latin typeface="+mn-lt"/>
                <a:ea typeface="+mn-ea"/>
                <a:cs typeface="+mn-cs"/>
              </a:rPr>
              <a:t>), and pulmonary edema. Other causes may include </a:t>
            </a:r>
            <a:r>
              <a:rPr lang="en-US" sz="1200" b="1" i="0" u="none" strike="noStrike" kern="1200" baseline="0" dirty="0">
                <a:solidFill>
                  <a:schemeClr val="tx1"/>
                </a:solidFill>
                <a:latin typeface="+mn-lt"/>
                <a:ea typeface="+mn-ea"/>
                <a:cs typeface="+mn-cs"/>
              </a:rPr>
              <a:t>shock</a:t>
            </a:r>
            <a:r>
              <a:rPr lang="en-US" sz="1200" b="0" i="0" u="none" strike="noStrike" kern="1200" baseline="0" dirty="0">
                <a:solidFill>
                  <a:schemeClr val="tx1"/>
                </a:solidFill>
                <a:latin typeface="+mn-lt"/>
                <a:ea typeface="+mn-ea"/>
                <a:cs typeface="+mn-cs"/>
              </a:rPr>
              <a:t>, trauma, smoke or chemical inhalation, aspiration, and near-drowning. Causes of decreased respiratory drive include general anesthesia, sedative or narcotic drug overdose, head trauma, or stroke.</a:t>
            </a:r>
            <a:endParaRPr lang="en-US" dirty="0"/>
          </a:p>
        </p:txBody>
      </p:sp>
      <p:sp>
        <p:nvSpPr>
          <p:cNvPr id="4" name="Slide Number Placeholder 3"/>
          <p:cNvSpPr>
            <a:spLocks noGrp="1"/>
          </p:cNvSpPr>
          <p:nvPr>
            <p:ph type="sldNum" sz="quarter" idx="5"/>
          </p:nvPr>
        </p:nvSpPr>
        <p:spPr/>
        <p:txBody>
          <a:bodyPr/>
          <a:lstStyle/>
          <a:p>
            <a:fld id="{A16BD78C-19BB-41CA-95E2-3693E2C4E2C4}" type="slidenum">
              <a:rPr lang="en-US" smtClean="0"/>
              <a:t>57</a:t>
            </a:fld>
            <a:endParaRPr lang="en-US"/>
          </a:p>
        </p:txBody>
      </p:sp>
    </p:spTree>
    <p:extLst>
      <p:ext uri="{BB962C8B-B14F-4D97-AF65-F5344CB8AC3E}">
        <p14:creationId xmlns:p14="http://schemas.microsoft.com/office/powerpoint/2010/main" val="14731796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Chronic obstructive pulmonary disease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(COPD) is currently defined as </a:t>
            </a:r>
            <a:r>
              <a:rPr lang="en-US" sz="1200" b="0" i="0" kern="1200">
                <a:solidFill>
                  <a:schemeClr val="tx1"/>
                </a:solidFill>
                <a:effectLst/>
                <a:latin typeface="+mn-lt"/>
                <a:ea typeface="+mn-ea"/>
                <a:cs typeface="+mn-cs"/>
              </a:rPr>
              <a:t>a disease</a:t>
            </a:r>
            <a:r>
              <a:rPr lang="en-US" sz="1200" b="0" i="0" kern="1200" baseline="0">
                <a:solidFill>
                  <a:schemeClr val="tx1"/>
                </a:solidFill>
                <a:effectLst/>
                <a:latin typeface="+mn-lt"/>
                <a:ea typeface="+mn-ea"/>
                <a:cs typeface="+mn-cs"/>
              </a:rPr>
              <a:t> </a:t>
            </a:r>
            <a:r>
              <a:rPr lang="en-US" sz="1200" b="0" i="0" kern="1200">
                <a:solidFill>
                  <a:schemeClr val="tx1"/>
                </a:solidFill>
                <a:effectLst/>
                <a:latin typeface="+mn-lt"/>
                <a:ea typeface="+mn-ea"/>
                <a:cs typeface="+mn-cs"/>
              </a:rPr>
              <a:t>state </a:t>
            </a:r>
            <a:r>
              <a:rPr lang="en-US" sz="1200" b="0" i="0" kern="1200" dirty="0">
                <a:solidFill>
                  <a:schemeClr val="tx1"/>
                </a:solidFill>
                <a:effectLst/>
                <a:latin typeface="+mn-lt"/>
                <a:ea typeface="+mn-ea"/>
                <a:cs typeface="+mn-cs"/>
              </a:rPr>
              <a:t>characterized by airflow limitation that</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is not fully reversible</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59</a:t>
            </a:fld>
            <a:endParaRPr lang="en-US"/>
          </a:p>
        </p:txBody>
      </p:sp>
    </p:spTree>
    <p:extLst>
      <p:ext uri="{BB962C8B-B14F-4D97-AF65-F5344CB8AC3E}">
        <p14:creationId xmlns:p14="http://schemas.microsoft.com/office/powerpoint/2010/main" val="35600954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Severe respiratory distress with air hunger, sweating, accessory muscle use, and significantly increased</a:t>
            </a:r>
          </a:p>
          <a:p>
            <a:r>
              <a:rPr lang="en-US" sz="1200" b="0" i="0" u="none" strike="noStrike" kern="1200" baseline="0" dirty="0">
                <a:solidFill>
                  <a:schemeClr val="tx1"/>
                </a:solidFill>
                <a:latin typeface="+mn-lt"/>
                <a:ea typeface="+mn-ea"/>
                <a:cs typeface="+mn-cs"/>
              </a:rPr>
              <a:t>respiratory rate (&gt;35 breaths/min in adults) may signal an impending respiratory arrest.</a:t>
            </a:r>
            <a:endParaRPr lang="en-US" dirty="0"/>
          </a:p>
        </p:txBody>
      </p:sp>
      <p:sp>
        <p:nvSpPr>
          <p:cNvPr id="4" name="Slide Number Placeholder 3"/>
          <p:cNvSpPr>
            <a:spLocks noGrp="1"/>
          </p:cNvSpPr>
          <p:nvPr>
            <p:ph type="sldNum" sz="quarter" idx="5"/>
          </p:nvPr>
        </p:nvSpPr>
        <p:spPr/>
        <p:txBody>
          <a:bodyPr/>
          <a:lstStyle/>
          <a:p>
            <a:fld id="{A16BD78C-19BB-41CA-95E2-3693E2C4E2C4}" type="slidenum">
              <a:rPr lang="en-US" smtClean="0"/>
              <a:t>60</a:t>
            </a:fld>
            <a:endParaRPr lang="en-US"/>
          </a:p>
        </p:txBody>
      </p:sp>
    </p:spTree>
    <p:extLst>
      <p:ext uri="{BB962C8B-B14F-4D97-AF65-F5344CB8AC3E}">
        <p14:creationId xmlns:p14="http://schemas.microsoft.com/office/powerpoint/2010/main" val="3359386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Shunt- is blood reaching the systemic circulation without being oxygenated via passage through the lungs </a:t>
            </a:r>
          </a:p>
          <a:p>
            <a:r>
              <a:rPr lang="en-US" dirty="0"/>
              <a:t>Thebesian veins-smallest cardiac veins-are minute valveless veins in the walls of all 4 heart chambers</a:t>
            </a:r>
            <a:r>
              <a:rPr lang="en-US" baseline="0" dirty="0"/>
              <a:t> and abundant in the rt. atrium. They drain directly into the left cardiac chambers.</a:t>
            </a:r>
          </a:p>
          <a:p>
            <a:r>
              <a:rPr lang="en-GB" sz="1200" dirty="0">
                <a:latin typeface="Times New Roman" pitchFamily="18" charset="0"/>
                <a:cs typeface="Times New Roman" pitchFamily="18" charset="0"/>
              </a:rPr>
              <a:t>Bronchial  veins-supply conducting airways of the lungs-</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b="1" dirty="0">
                <a:solidFill>
                  <a:srgbClr val="C00000"/>
                </a:solidFill>
                <a:latin typeface="Times New Roman" pitchFamily="18" charset="0"/>
                <a:cs typeface="Times New Roman" pitchFamily="18" charset="0"/>
                <a:sym typeface="Wingdings" pitchFamily="2" charset="2"/>
              </a:rPr>
              <a:t>Physiological shunt-shunting of blood from the right side of the circulation containing deoxygenated blood to the left side of the heart (circulation) containing oxygenated blood.</a:t>
            </a:r>
          </a:p>
          <a:p>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65</a:t>
            </a:fld>
            <a:endParaRPr lang="en-US"/>
          </a:p>
        </p:txBody>
      </p:sp>
    </p:spTree>
    <p:extLst>
      <p:ext uri="{BB962C8B-B14F-4D97-AF65-F5344CB8AC3E}">
        <p14:creationId xmlns:p14="http://schemas.microsoft.com/office/powerpoint/2010/main" val="40814151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Shunting denotes the process whereby desaturated, mixed venous blood from the right heart returns to the left heart without being </a:t>
            </a:r>
            <a:r>
              <a:rPr lang="en-US" dirty="0" err="1"/>
              <a:t>resaturated</a:t>
            </a:r>
            <a:r>
              <a:rPr lang="en-US" dirty="0"/>
              <a:t> with O2 in the lungs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Diffusion” refers to the passive movement of</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molecules across a membrane that is governed primarily by concentration</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gradient.</a:t>
            </a:r>
            <a:r>
              <a:rPr lang="en-US" dirty="0"/>
              <a:t> </a:t>
            </a:r>
            <a:br>
              <a:rPr lang="en-US" dirty="0"/>
            </a:br>
            <a:r>
              <a:rPr lang="en-US" dirty="0"/>
              <a:t>C</a:t>
            </a:r>
            <a:r>
              <a:rPr lang="en-US" sz="1200" b="0" i="0" kern="1200" dirty="0">
                <a:solidFill>
                  <a:schemeClr val="tx1"/>
                </a:solidFill>
                <a:effectLst/>
                <a:latin typeface="+mn-lt"/>
                <a:ea typeface="+mn-ea"/>
                <a:cs typeface="+mn-cs"/>
              </a:rPr>
              <a:t>arbon dioxide is 20 times more diffusible across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human membranes than is oxygen; therefore, carbon dioxide crosses alveoli</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easily. </a:t>
            </a:r>
            <a:br>
              <a:rPr lang="en-US" dirty="0"/>
            </a:br>
            <a:r>
              <a:rPr lang="en-US" sz="1800" b="0" i="0" u="none" strike="noStrike" baseline="0" dirty="0">
                <a:solidFill>
                  <a:srgbClr val="000000"/>
                </a:solidFill>
                <a:latin typeface="LiberationSans"/>
              </a:rPr>
              <a:t>Diffusion of oxygen across the alveolar–capillary membrane can be impaired (known as </a:t>
            </a:r>
            <a:r>
              <a:rPr lang="en-US" sz="1800" b="1" i="0" u="none" strike="noStrike" baseline="0" dirty="0">
                <a:solidFill>
                  <a:srgbClr val="443797"/>
                </a:solidFill>
                <a:latin typeface="LiberationSans-Bold"/>
              </a:rPr>
              <a:t>diffusion limitation</a:t>
            </a:r>
            <a:r>
              <a:rPr lang="en-US" sz="1800" b="0" i="0" u="none" strike="noStrike" baseline="0" dirty="0">
                <a:solidFill>
                  <a:srgbClr val="000000"/>
                </a:solidFill>
                <a:latin typeface="LiberationSans"/>
              </a:rPr>
              <a:t>) due to mismatch of ventilation and perfusion, a reduction in the available surface area for diffusion, or an increase in diffusion distance.</a:t>
            </a:r>
          </a:p>
          <a:p>
            <a:pPr marL="171450" indent="-171450">
              <a:buFont typeface="Arial" panose="020B0604020202020204" pitchFamily="34" charset="0"/>
              <a:buChar char="•"/>
            </a:pPr>
            <a:r>
              <a:rPr lang="en-US" sz="1800" b="0" i="0" u="none" strike="noStrike" baseline="0" dirty="0">
                <a:solidFill>
                  <a:srgbClr val="000000"/>
                </a:solidFill>
                <a:latin typeface="LiberationSans"/>
              </a:rPr>
              <a:t>Interstitial lung disease (ILD) may cause inflammation, edema, and interstitial fibrosis and thus increase the distance oxygen must travel from the alveolus to the adjacent pulmonary capillary. Other causes of diffusion problems include pulmonary vascular disease, emphysema, and alveolar or interstitial edema. With impaired diffusion, hypoxemia may only occur during exercise; hypoxemia due to a diffusion defect is typically reversible by the administration of low to moderate concentrations of oxygen.</a:t>
            </a:r>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66</a:t>
            </a:fld>
            <a:endParaRPr lang="en-US"/>
          </a:p>
        </p:txBody>
      </p:sp>
    </p:spTree>
    <p:extLst>
      <p:ext uri="{BB962C8B-B14F-4D97-AF65-F5344CB8AC3E}">
        <p14:creationId xmlns:p14="http://schemas.microsoft.com/office/powerpoint/2010/main" val="8061976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a:xfrm>
            <a:off x="1143000" y="685800"/>
            <a:ext cx="4572000" cy="3429000"/>
          </a:xfrm>
          <a:solidFill>
            <a:srgbClr val="FFFFFF"/>
          </a:solidFill>
          <a:ln/>
        </p:spPr>
        <p:txBody>
          <a:bodyPr/>
          <a:lstStyle/>
          <a:p>
            <a:endParaRPr lang="en-US"/>
          </a:p>
        </p:txBody>
      </p:sp>
      <p:sp>
        <p:nvSpPr>
          <p:cNvPr id="141315" name="Rectangle 3"/>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HPV is a compensatory mechanism that diverts blood flow</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away from hypoxic lung regions toward better oxygenated regions.</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82</a:t>
            </a:fld>
            <a:endParaRPr lang="en-US"/>
          </a:p>
        </p:txBody>
      </p:sp>
    </p:spTree>
    <p:extLst>
      <p:ext uri="{BB962C8B-B14F-4D97-AF65-F5344CB8AC3E}">
        <p14:creationId xmlns:p14="http://schemas.microsoft.com/office/powerpoint/2010/main" val="1497922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Breathing O</a:t>
            </a:r>
            <a:r>
              <a:rPr lang="en-US" sz="900" b="0" i="0" kern="12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can sometimes induce hypercapnia, as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occurs in patients with severe chronic lung disease who are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breathing supplemental O2. Although traditionally thought</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to occur because increased PaO2 reduces ventilatory drive,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this is now thought not to be the case,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resulting instead</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from the Haldane effect, as well as from impairment of</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hypoxic pulmonary vasoconstriction (HPV). </a:t>
            </a:r>
          </a:p>
          <a:p>
            <a:r>
              <a:rPr lang="en-US" sz="1200" b="0" i="0" kern="1200" dirty="0">
                <a:solidFill>
                  <a:schemeClr val="tx1"/>
                </a:solidFill>
                <a:effectLst/>
                <a:latin typeface="+mn-lt"/>
                <a:ea typeface="+mn-ea"/>
                <a:cs typeface="+mn-cs"/>
              </a:rPr>
              <a:t>The Haldane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effect is the difference in the amount of CO2 carried in oxygenated versus deoxygenated blood, and two mechanisms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explain this. First, increased PaO2 decreases the ability to</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form carbamino compounds—reducing the amount of CO2</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bound to Hb—thereby raising the amount of dissolved CO2</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(i.e., elevated PCO2). Second, the amino acid </a:t>
            </a:r>
            <a:r>
              <a:rPr lang="en-US" sz="1200" b="0" i="0" kern="1200" dirty="0" err="1">
                <a:solidFill>
                  <a:schemeClr val="tx1"/>
                </a:solidFill>
                <a:effectLst/>
                <a:latin typeface="+mn-lt"/>
                <a:ea typeface="+mn-ea"/>
                <a:cs typeface="+mn-cs"/>
              </a:rPr>
              <a:t>histidine</a:t>
            </a:r>
            <a:r>
              <a:rPr lang="en-US" sz="1200" b="0" i="0" kern="1200" dirty="0">
                <a:solidFill>
                  <a:schemeClr val="tx1"/>
                </a:solidFill>
                <a:effectLst/>
                <a:latin typeface="+mn-lt"/>
                <a:ea typeface="+mn-ea"/>
                <a:cs typeface="+mn-cs"/>
              </a:rPr>
              <a:t>, which</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has an imidazole group that is an effective H+ buffer at physiologic pH, is an important linking molecule between </a:t>
            </a:r>
            <a:r>
              <a:rPr lang="en-US" sz="1200" b="0" i="0" kern="1200" dirty="0" err="1">
                <a:solidFill>
                  <a:schemeClr val="tx1"/>
                </a:solidFill>
                <a:effectLst/>
                <a:latin typeface="+mn-lt"/>
                <a:ea typeface="+mn-ea"/>
                <a:cs typeface="+mn-cs"/>
              </a:rPr>
              <a:t>heme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groups and the Hb chains. Increasing the partial pressure of</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oxygen (PO2) increases the amount of O2 bound to Hb; this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changes the conformation of the Hb molecule, which in turn</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alters the </a:t>
            </a:r>
            <a:r>
              <a:rPr lang="en-US" sz="1200" b="0" i="0" kern="1200" dirty="0" err="1">
                <a:solidFill>
                  <a:schemeClr val="tx1"/>
                </a:solidFill>
                <a:effectLst/>
                <a:latin typeface="+mn-lt"/>
                <a:ea typeface="+mn-ea"/>
                <a:cs typeface="+mn-cs"/>
              </a:rPr>
              <a:t>heme</a:t>
            </a:r>
            <a:r>
              <a:rPr lang="en-US" sz="1200" b="0" i="0" kern="1200" dirty="0">
                <a:solidFill>
                  <a:schemeClr val="tx1"/>
                </a:solidFill>
                <a:effectLst/>
                <a:latin typeface="+mn-lt"/>
                <a:ea typeface="+mn-ea"/>
                <a:cs typeface="+mn-cs"/>
              </a:rPr>
              <a:t>-linked </a:t>
            </a:r>
            <a:r>
              <a:rPr lang="en-US" sz="1200" b="0" i="0" kern="1200" dirty="0" err="1">
                <a:solidFill>
                  <a:schemeClr val="tx1"/>
                </a:solidFill>
                <a:effectLst/>
                <a:latin typeface="+mn-lt"/>
                <a:ea typeface="+mn-ea"/>
                <a:cs typeface="+mn-cs"/>
              </a:rPr>
              <a:t>histidine</a:t>
            </a:r>
            <a:r>
              <a:rPr lang="en-US" sz="1200" b="0" i="0" kern="1200" dirty="0">
                <a:solidFill>
                  <a:schemeClr val="tx1"/>
                </a:solidFill>
                <a:effectLst/>
                <a:latin typeface="+mn-lt"/>
                <a:ea typeface="+mn-ea"/>
                <a:cs typeface="+mn-cs"/>
              </a:rPr>
              <a:t> and reduces its H+ buffering capacity. Therefore, more H+ is free (not buffered) and</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binds to HCO3–, releasing stored CO2. </a:t>
            </a:r>
          </a:p>
          <a:p>
            <a:r>
              <a:rPr lang="en-US" sz="1200" b="0" i="0" kern="1200" dirty="0">
                <a:solidFill>
                  <a:schemeClr val="tx1"/>
                </a:solidFill>
                <a:effectLst/>
                <a:latin typeface="+mn-lt"/>
                <a:ea typeface="+mn-ea"/>
                <a:cs typeface="+mn-cs"/>
              </a:rPr>
              <a:t>Impairment of HPV by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elevated O2 allows increased perfusion to poorly ventilated</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regions; this has the effect of decreasing perfusion (and delivery of CO2) to better ventilated regions, diminishing the efficiency of CO2</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exhalation. </a:t>
            </a:r>
          </a:p>
          <a:p>
            <a:r>
              <a:rPr lang="en-US" sz="1200" b="0" i="0" kern="1200" dirty="0">
                <a:solidFill>
                  <a:schemeClr val="tx1"/>
                </a:solidFill>
                <a:effectLst/>
                <a:latin typeface="+mn-lt"/>
                <a:ea typeface="+mn-ea"/>
                <a:cs typeface="+mn-cs"/>
              </a:rPr>
              <a:t>Patients with impaired ability to</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increase alveolar ventilation (V˙ A) cannot compensate for the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increased CO2 availability, and therefore, in these patients,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adding supplemental O2 can result in elevated Paco2. </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fld id="{A16BD78C-19BB-41CA-95E2-3693E2C4E2C4}" type="slidenum">
              <a:rPr lang="en-US" smtClean="0"/>
              <a:t>83</a:t>
            </a:fld>
            <a:endParaRPr lang="en-US"/>
          </a:p>
        </p:txBody>
      </p:sp>
    </p:spTree>
    <p:extLst>
      <p:ext uri="{BB962C8B-B14F-4D97-AF65-F5344CB8AC3E}">
        <p14:creationId xmlns:p14="http://schemas.microsoft.com/office/powerpoint/2010/main" val="550463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E906DC3-FF35-40A4-BF13-416A89CF74AC}" type="datetime4">
              <a:rPr lang="en-US" smtClean="0"/>
              <a:t>May 7,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7A69C90-43EA-460E-A15E-ADE9C12684AB}" type="datetime4">
              <a:rPr lang="en-US" smtClean="0"/>
              <a:t>May 7,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DC5652-20BB-4852-A753-3D1C00DC2425}" type="datetime4">
              <a:rPr lang="en-US" smtClean="0"/>
              <a:t>May 7,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92A7735-966F-45B5-8DD8-8F985AF6E4CC}" type="datetime4">
              <a:rPr lang="en-US" smtClean="0"/>
              <a:t>May 7,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D70A66-8FEC-405B-A570-FCC05BA88178}" type="datetime4">
              <a:rPr lang="en-US" smtClean="0"/>
              <a:t>May 7, 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62FD597-C386-4E4B-891C-402CE7276DCF}" type="datetime4">
              <a:rPr lang="en-US" smtClean="0"/>
              <a:t>May 7, 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9268A3-FC46-4F7B-81AB-3EAA361A835B}" type="datetime4">
              <a:rPr lang="en-US" smtClean="0"/>
              <a:t>May 7, 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F5C6EE-56D8-47AC-ACE2-5FC9EFB05C75}" type="datetime4">
              <a:rPr lang="en-US" smtClean="0"/>
              <a:t>May 7,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DBEC7A-3612-439B-BC45-30BFD51ECF48}" type="datetime4">
              <a:rPr lang="en-US" smtClean="0"/>
              <a:t>May 7,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CAA18F-9460-4402-B462-5458DCFE388D}" type="datetime4">
              <a:rPr lang="en-US" smtClean="0"/>
              <a:t>May 7,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267E1B-234F-42D9-BFC5-3A56B5AE76A6}" type="datetime4">
              <a:rPr lang="en-US" smtClean="0"/>
              <a:t>May 7,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E362AE-60B8-42C2-835C-59019FF06532}" type="datetime4">
              <a:rPr lang="en-US" smtClean="0"/>
              <a:t>May 7, 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76400"/>
            <a:ext cx="8534400" cy="4679950"/>
          </a:xfr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normAutofit fontScale="77500" lnSpcReduction="20000"/>
          </a:bodyPr>
          <a:lstStyle/>
          <a:p>
            <a:pPr marL="0" indent="0" algn="just">
              <a:buNone/>
            </a:pPr>
            <a:endParaRPr lang="en-US" sz="5800" dirty="0">
              <a:latin typeface="Arial" panose="020B0604020202020204" pitchFamily="34" charset="0"/>
              <a:cs typeface="Arial" panose="020B0604020202020204" pitchFamily="34" charset="0"/>
            </a:endParaRPr>
          </a:p>
          <a:p>
            <a:pPr marL="0" indent="0" algn="just">
              <a:buNone/>
            </a:pPr>
            <a:endParaRPr lang="en-US" sz="5800" dirty="0">
              <a:latin typeface="Arial" panose="020B0604020202020204" pitchFamily="34" charset="0"/>
              <a:cs typeface="Arial" panose="020B0604020202020204" pitchFamily="34" charset="0"/>
            </a:endParaRPr>
          </a:p>
          <a:p>
            <a:pPr marL="0" indent="0" algn="just">
              <a:buNone/>
            </a:pPr>
            <a:r>
              <a:rPr lang="en-US" sz="6500" dirty="0">
                <a:latin typeface="Arial" panose="020B0604020202020204" pitchFamily="34" charset="0"/>
                <a:cs typeface="Arial" panose="020B0604020202020204" pitchFamily="34" charset="0"/>
              </a:rPr>
              <a:t>Respiratory Failure  </a:t>
            </a:r>
          </a:p>
          <a:p>
            <a:endParaRPr lang="en-US" b="1"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lvl="0" indent="0">
              <a:buNone/>
            </a:pPr>
            <a:endParaRPr lang="en-US" dirty="0">
              <a:solidFill>
                <a:prstClr val="black">
                  <a:tint val="75000"/>
                </a:prstClr>
              </a:solidFill>
              <a:latin typeface="Arial" panose="020B0604020202020204" pitchFamily="34" charset="0"/>
              <a:cs typeface="Arial" panose="020B0604020202020204" pitchFamily="34" charset="0"/>
            </a:endParaRPr>
          </a:p>
          <a:p>
            <a:pPr marL="0" lvl="0" indent="0">
              <a:buNone/>
            </a:pPr>
            <a:r>
              <a:rPr lang="en-US" dirty="0">
                <a:solidFill>
                  <a:prstClr val="black">
                    <a:tint val="75000"/>
                  </a:prstClr>
                </a:solidFill>
                <a:latin typeface="Arial" panose="020B0604020202020204" pitchFamily="34" charset="0"/>
                <a:cs typeface="Arial" panose="020B0604020202020204" pitchFamily="34" charset="0"/>
              </a:rPr>
              <a:t> </a:t>
            </a:r>
            <a:r>
              <a:rPr lang="en-US" b="1" dirty="0">
                <a:solidFill>
                  <a:prstClr val="black">
                    <a:tint val="75000"/>
                  </a:prstClr>
                </a:solidFill>
                <a:latin typeface="Arial" panose="020B0604020202020204" pitchFamily="34" charset="0"/>
                <a:cs typeface="Arial" panose="020B0604020202020204" pitchFamily="34" charset="0"/>
              </a:rPr>
              <a:t>Mulualem Sitot (BSc, MSc in Anesthesia)</a:t>
            </a:r>
          </a:p>
          <a:p>
            <a:pPr marL="0" lvl="0" indent="0">
              <a:buNone/>
            </a:pPr>
            <a:r>
              <a:rPr lang="en-US" b="1" dirty="0">
                <a:solidFill>
                  <a:prstClr val="black">
                    <a:tint val="75000"/>
                  </a:prstClr>
                </a:solidFill>
                <a:latin typeface="Arial" panose="020B0604020202020204" pitchFamily="34" charset="0"/>
                <a:cs typeface="Arial" panose="020B0604020202020204" pitchFamily="34" charset="0"/>
              </a:rPr>
              <a:t>Assistant Professor, Department of Anesthesia</a:t>
            </a:r>
          </a:p>
          <a:p>
            <a:pPr marL="0" lvl="0" indent="0">
              <a:buNone/>
            </a:pPr>
            <a:r>
              <a:rPr lang="en-US" b="1" dirty="0">
                <a:solidFill>
                  <a:prstClr val="black">
                    <a:tint val="75000"/>
                  </a:prstClr>
                </a:solidFill>
                <a:latin typeface="Arial" panose="020B0604020202020204" pitchFamily="34" charset="0"/>
                <a:cs typeface="Arial" panose="020B0604020202020204" pitchFamily="34" charset="0"/>
              </a:rPr>
              <a:t>Addis Ababa University</a:t>
            </a:r>
          </a:p>
          <a:p>
            <a:endParaRPr lang="en-US" b="1" dirty="0">
              <a:latin typeface="Arial" panose="020B0604020202020204" pitchFamily="34" charset="0"/>
              <a:cs typeface="Arial" panose="020B0604020202020204" pitchFamily="34" charset="0"/>
            </a:endParaRPr>
          </a:p>
          <a:p>
            <a:pPr marL="0" lvl="0" indent="0">
              <a:buNone/>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pic>
        <p:nvPicPr>
          <p:cNvPr id="2" name="Image1">
            <a:extLst>
              <a:ext uri="{FF2B5EF4-FFF2-40B4-BE49-F238E27FC236}">
                <a16:creationId xmlns:a16="http://schemas.microsoft.com/office/drawing/2014/main" id="{C16707DB-41F5-62A0-0069-A99CB52E4335}"/>
              </a:ext>
            </a:extLst>
          </p:cNvPr>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381000" y="228600"/>
            <a:ext cx="1600200" cy="1447799"/>
          </a:xfrm>
          <a:prstGeom prst="rect">
            <a:avLst/>
          </a:prstGeom>
        </p:spPr>
      </p:pic>
    </p:spTree>
    <p:extLst>
      <p:ext uri="{BB962C8B-B14F-4D97-AF65-F5344CB8AC3E}">
        <p14:creationId xmlns:p14="http://schemas.microsoft.com/office/powerpoint/2010/main" val="1679971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Outlines</a:t>
            </a:r>
          </a:p>
        </p:txBody>
      </p:sp>
      <p:sp>
        <p:nvSpPr>
          <p:cNvPr id="3" name="Content Placeholder 2"/>
          <p:cNvSpPr>
            <a:spLocks noGrp="1"/>
          </p:cNvSpPr>
          <p:nvPr>
            <p:ph idx="1"/>
          </p:nvPr>
        </p:nvSpPr>
        <p:spPr/>
        <p:txBody>
          <a:bodyPr>
            <a:normAutofit/>
          </a:bodyPr>
          <a:lstStyle/>
          <a:p>
            <a:r>
              <a:rPr lang="en-US" sz="2400" dirty="0">
                <a:latin typeface="Arial" panose="020B0604020202020204" pitchFamily="34" charset="0"/>
                <a:cs typeface="Arial" panose="020B0604020202020204" pitchFamily="34" charset="0"/>
              </a:rPr>
              <a:t>Objectives</a:t>
            </a:r>
          </a:p>
          <a:p>
            <a:r>
              <a:rPr lang="en-US" sz="2400" dirty="0">
                <a:latin typeface="Arial" panose="020B0604020202020204" pitchFamily="34" charset="0"/>
                <a:cs typeface="Arial" panose="020B0604020202020204" pitchFamily="34" charset="0"/>
              </a:rPr>
              <a:t>Introduction </a:t>
            </a:r>
          </a:p>
          <a:p>
            <a:r>
              <a:rPr lang="en-US" sz="2400" dirty="0">
                <a:latin typeface="Arial" panose="020B0604020202020204" pitchFamily="34" charset="0"/>
                <a:cs typeface="Arial" panose="020B0604020202020204" pitchFamily="34" charset="0"/>
              </a:rPr>
              <a:t>Regulation of Breathing</a:t>
            </a:r>
          </a:p>
          <a:p>
            <a:r>
              <a:rPr lang="en-US" sz="2400" dirty="0">
                <a:latin typeface="Arial" panose="020B0604020202020204" pitchFamily="34" charset="0"/>
                <a:cs typeface="Arial" panose="020B0604020202020204" pitchFamily="34" charset="0"/>
              </a:rPr>
              <a:t>Pulmonary Gas Exchange</a:t>
            </a:r>
          </a:p>
          <a:p>
            <a:r>
              <a:rPr lang="en-US" sz="2400" dirty="0">
                <a:latin typeface="Arial" panose="020B0604020202020204" pitchFamily="34" charset="0"/>
                <a:cs typeface="Arial" panose="020B0604020202020204" pitchFamily="34" charset="0"/>
              </a:rPr>
              <a:t>Definition of Respiratory Failure  </a:t>
            </a:r>
          </a:p>
          <a:p>
            <a:r>
              <a:rPr lang="en-US" sz="2400" dirty="0">
                <a:latin typeface="Arial" panose="020B0604020202020204" pitchFamily="34" charset="0"/>
                <a:cs typeface="Arial" panose="020B0604020202020204" pitchFamily="34" charset="0"/>
              </a:rPr>
              <a:t>Causes</a:t>
            </a:r>
          </a:p>
          <a:p>
            <a:r>
              <a:rPr lang="en-US" sz="2400" dirty="0">
                <a:latin typeface="Arial" panose="020B0604020202020204" pitchFamily="34" charset="0"/>
                <a:cs typeface="Arial" panose="020B0604020202020204" pitchFamily="34" charset="0"/>
              </a:rPr>
              <a:t>Assessment </a:t>
            </a:r>
          </a:p>
          <a:p>
            <a:r>
              <a:rPr lang="en-US" sz="2400" dirty="0">
                <a:latin typeface="Arial" panose="020B0604020202020204" pitchFamily="34" charset="0"/>
                <a:cs typeface="Arial" panose="020B0604020202020204" pitchFamily="34" charset="0"/>
              </a:rPr>
              <a:t>Management</a:t>
            </a: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7593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42A6-A9C1-CAB9-9EF1-59F16CF03C99}"/>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Objectives </a:t>
            </a:r>
          </a:p>
        </p:txBody>
      </p:sp>
      <p:sp>
        <p:nvSpPr>
          <p:cNvPr id="3" name="Content Placeholder 2">
            <a:extLst>
              <a:ext uri="{FF2B5EF4-FFF2-40B4-BE49-F238E27FC236}">
                <a16:creationId xmlns:a16="http://schemas.microsoft.com/office/drawing/2014/main" id="{03BC1103-D1CB-3573-0A04-7DCFC797E0A8}"/>
              </a:ext>
            </a:extLst>
          </p:cNvPr>
          <p:cNvSpPr>
            <a:spLocks noGrp="1"/>
          </p:cNvSpPr>
          <p:nvPr>
            <p:ph idx="1"/>
          </p:nvPr>
        </p:nvSpPr>
        <p:spPr/>
        <p:txBody>
          <a:bodyPr>
            <a:normAutofit/>
          </a:bodyPr>
          <a:lstStyle/>
          <a:p>
            <a:pPr marL="0" indent="0">
              <a:buNone/>
            </a:pPr>
            <a:r>
              <a:rPr lang="en-US" sz="2800" dirty="0">
                <a:latin typeface="Arial" panose="020B0604020202020204" pitchFamily="34" charset="0"/>
                <a:cs typeface="Arial" panose="020B0604020202020204" pitchFamily="34" charset="0"/>
              </a:rPr>
              <a:t>At the end of this session, you will be able to:</a:t>
            </a:r>
          </a:p>
          <a:p>
            <a:pPr>
              <a:lnSpc>
                <a:spcPct val="150000"/>
              </a:lnSpc>
            </a:pPr>
            <a:r>
              <a:rPr lang="en-US" sz="2400" dirty="0">
                <a:latin typeface="Arial" panose="020B0604020202020204" pitchFamily="34" charset="0"/>
                <a:cs typeface="Arial" panose="020B0604020202020204" pitchFamily="34" charset="0"/>
              </a:rPr>
              <a:t>discuss how breathing is regulated</a:t>
            </a:r>
          </a:p>
          <a:p>
            <a:pPr>
              <a:lnSpc>
                <a:spcPct val="150000"/>
              </a:lnSpc>
            </a:pPr>
            <a:r>
              <a:rPr lang="en-US" sz="2400" dirty="0">
                <a:latin typeface="Arial" panose="020B0604020202020204" pitchFamily="34" charset="0"/>
                <a:cs typeface="Arial" panose="020B0604020202020204" pitchFamily="34" charset="0"/>
              </a:rPr>
              <a:t>describe pulmonary gas exchange</a:t>
            </a:r>
          </a:p>
          <a:p>
            <a:pPr>
              <a:lnSpc>
                <a:spcPct val="150000"/>
              </a:lnSpc>
            </a:pPr>
            <a:r>
              <a:rPr lang="en-US" sz="2400" dirty="0">
                <a:latin typeface="Arial" panose="020B0604020202020204" pitchFamily="34" charset="0"/>
                <a:cs typeface="Arial" panose="020B0604020202020204" pitchFamily="34" charset="0"/>
              </a:rPr>
              <a:t>define respiratory failure/ventilatory failure </a:t>
            </a:r>
          </a:p>
          <a:p>
            <a:pPr>
              <a:lnSpc>
                <a:spcPct val="150000"/>
              </a:lnSpc>
            </a:pPr>
            <a:r>
              <a:rPr lang="en-US" sz="2400" dirty="0">
                <a:latin typeface="Arial" panose="020B0604020202020204" pitchFamily="34" charset="0"/>
                <a:cs typeface="Arial" panose="020B0604020202020204" pitchFamily="34" charset="0"/>
              </a:rPr>
              <a:t>explain the differences between specific types of respiratory failure/ventilatory failure  </a:t>
            </a:r>
          </a:p>
        </p:txBody>
      </p:sp>
      <p:sp>
        <p:nvSpPr>
          <p:cNvPr id="4" name="Slide Number Placeholder 3">
            <a:extLst>
              <a:ext uri="{FF2B5EF4-FFF2-40B4-BE49-F238E27FC236}">
                <a16:creationId xmlns:a16="http://schemas.microsoft.com/office/drawing/2014/main" id="{9D7071DC-5DDA-9E90-496A-7A691CF76CB3}"/>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1316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12F1D-31FF-B5C6-A01F-C6357736859A}"/>
              </a:ext>
            </a:extLst>
          </p:cNvPr>
          <p:cNvSpPr>
            <a:spLocks noGrp="1"/>
          </p:cNvSpPr>
          <p:nvPr>
            <p:ph type="title"/>
          </p:nvPr>
        </p:nvSpPr>
        <p:spPr>
          <a:solidFill>
            <a:schemeClr val="bg1">
              <a:lumMod val="95000"/>
            </a:schemeClr>
          </a:solidFill>
          <a:ln>
            <a:solidFill>
              <a:schemeClr val="bg1">
                <a:lumMod val="85000"/>
              </a:schemeClr>
            </a:solidFill>
          </a:ln>
        </p:spPr>
        <p:txBody>
          <a:bodyPr anchor="b">
            <a:normAutofit/>
          </a:bodyPr>
          <a:lstStyle/>
          <a:p>
            <a:r>
              <a:rPr lang="en-US" sz="4000" dirty="0">
                <a:latin typeface="Arial" panose="020B0604020202020204" pitchFamily="34" charset="0"/>
                <a:cs typeface="Arial" panose="020B0604020202020204" pitchFamily="34" charset="0"/>
              </a:rPr>
              <a:t>Introduction </a:t>
            </a:r>
          </a:p>
        </p:txBody>
      </p:sp>
      <p:sp>
        <p:nvSpPr>
          <p:cNvPr id="3" name="Content Placeholder 2">
            <a:extLst>
              <a:ext uri="{FF2B5EF4-FFF2-40B4-BE49-F238E27FC236}">
                <a16:creationId xmlns:a16="http://schemas.microsoft.com/office/drawing/2014/main" id="{A65B2154-7E8E-F6CD-8192-589E2960A774}"/>
              </a:ext>
            </a:extLst>
          </p:cNvPr>
          <p:cNvSpPr>
            <a:spLocks noGrp="1"/>
          </p:cNvSpPr>
          <p:nvPr>
            <p:ph idx="1"/>
          </p:nvPr>
        </p:nvSpPr>
        <p:spPr>
          <a:xfrm>
            <a:off x="457200" y="1600200"/>
            <a:ext cx="8229600" cy="4525963"/>
          </a:xfrm>
        </p:spPr>
        <p:txBody>
          <a:bodyPr>
            <a:normAutofit/>
          </a:bodyPr>
          <a:lstStyle/>
          <a:p>
            <a:pPr algn="just"/>
            <a:r>
              <a:rPr lang="en-US" sz="2200" dirty="0">
                <a:latin typeface="Arial" panose="020B0604020202020204" pitchFamily="34" charset="0"/>
                <a:cs typeface="Arial" panose="020B0604020202020204" pitchFamily="34" charset="0"/>
              </a:rPr>
              <a:t>Respiratory care is specifically focused on</a:t>
            </a:r>
          </a:p>
          <a:p>
            <a:pPr lvl="1" algn="just"/>
            <a:r>
              <a:rPr lang="en-US" sz="2200" dirty="0">
                <a:latin typeface="Arial" panose="020B0604020202020204" pitchFamily="34" charset="0"/>
                <a:cs typeface="Arial" panose="020B0604020202020204" pitchFamily="34" charset="0"/>
              </a:rPr>
              <a:t> the assessment, </a:t>
            </a:r>
          </a:p>
          <a:p>
            <a:pPr lvl="1" algn="just"/>
            <a:r>
              <a:rPr lang="en-US" sz="2200" dirty="0">
                <a:latin typeface="Arial" panose="020B0604020202020204" pitchFamily="34" charset="0"/>
                <a:cs typeface="Arial" panose="020B0604020202020204" pitchFamily="34" charset="0"/>
              </a:rPr>
              <a:t>diagnostic evaluation,</a:t>
            </a:r>
          </a:p>
          <a:p>
            <a:pPr lvl="1" algn="just"/>
            <a:r>
              <a:rPr lang="en-US" sz="2200" dirty="0">
                <a:latin typeface="Arial" panose="020B0604020202020204" pitchFamily="34" charset="0"/>
                <a:cs typeface="Arial" panose="020B0604020202020204" pitchFamily="34" charset="0"/>
              </a:rPr>
              <a:t> treatment, and care of patients with heart and lung problems.</a:t>
            </a:r>
          </a:p>
          <a:p>
            <a:pPr marL="457200" lvl="1" indent="0" algn="just">
              <a:buNone/>
            </a:pPr>
            <a:endParaRPr lang="en-US" sz="2200" dirty="0">
              <a:latin typeface="Arial" panose="020B0604020202020204" pitchFamily="34" charset="0"/>
              <a:cs typeface="Arial" panose="020B0604020202020204" pitchFamily="34" charset="0"/>
            </a:endParaRPr>
          </a:p>
          <a:p>
            <a:pPr algn="just"/>
            <a:r>
              <a:rPr lang="en-US" sz="2200" dirty="0">
                <a:latin typeface="Arial" panose="020B0604020202020204" pitchFamily="34" charset="0"/>
                <a:cs typeface="Arial" panose="020B0604020202020204" pitchFamily="34" charset="0"/>
              </a:rPr>
              <a:t> A major focus of critical respiratory care is the treatment and support of patients in respiratory failure.</a:t>
            </a:r>
          </a:p>
          <a:p>
            <a:pPr algn="just"/>
            <a:endParaRPr lang="en-US" sz="2200" dirty="0">
              <a:latin typeface="Arial" panose="020B0604020202020204" pitchFamily="34" charset="0"/>
              <a:cs typeface="Arial" panose="020B0604020202020204" pitchFamily="34" charset="0"/>
            </a:endParaRPr>
          </a:p>
          <a:p>
            <a:pPr algn="l"/>
            <a:r>
              <a:rPr lang="en-US" sz="2200" dirty="0">
                <a:latin typeface="Arial" panose="020B0604020202020204" pitchFamily="34" charset="0"/>
                <a:cs typeface="Arial" panose="020B0604020202020204" pitchFamily="34" charset="0"/>
              </a:rPr>
              <a:t>Respiratory failure can be life threatening, and it must be promptly recognized and appropriate action must be taken</a:t>
            </a:r>
            <a:r>
              <a:rPr lang="en-US" sz="2200" b="0" i="0" u="none" strike="noStrike" baseline="0" dirty="0">
                <a:latin typeface="Arial" panose="020B0604020202020204" pitchFamily="34" charset="0"/>
                <a:cs typeface="Arial" panose="020B0604020202020204" pitchFamily="34" charset="0"/>
              </a:rPr>
              <a:t>.</a:t>
            </a:r>
            <a:endParaRPr lang="en-US" sz="2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3112026-F226-16B3-843E-F5DAC8C0E663}"/>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4</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91158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039E8-EBDF-A9EC-70BF-EED0A5766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40630-BE5F-6B8B-2686-C5FF6450906E}"/>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Interactive question 1</a:t>
            </a:r>
          </a:p>
        </p:txBody>
      </p:sp>
      <p:sp>
        <p:nvSpPr>
          <p:cNvPr id="3" name="Content Placeholder 2">
            <a:extLst>
              <a:ext uri="{FF2B5EF4-FFF2-40B4-BE49-F238E27FC236}">
                <a16:creationId xmlns:a16="http://schemas.microsoft.com/office/drawing/2014/main" id="{DA283575-3477-BCA1-9E2C-58E937C067FB}"/>
              </a:ext>
            </a:extLst>
          </p:cNvPr>
          <p:cNvSpPr>
            <a:spLocks noGrp="1"/>
          </p:cNvSpPr>
          <p:nvPr>
            <p:ph idx="1"/>
          </p:nvPr>
        </p:nvSpPr>
        <p:spPr/>
        <p:txBody>
          <a:bodyPr>
            <a:normAutofit/>
          </a:bodyPr>
          <a:lstStyle/>
          <a:p>
            <a:r>
              <a:rPr lang="en-US" sz="2800" b="1" dirty="0">
                <a:latin typeface="Arial" panose="020B0604020202020204" pitchFamily="34" charset="0"/>
                <a:cs typeface="Arial" panose="020B0604020202020204" pitchFamily="34" charset="0"/>
              </a:rPr>
              <a:t>What is Respiratory failure?</a:t>
            </a:r>
          </a:p>
          <a:p>
            <a:pPr lvl="1"/>
            <a:r>
              <a:rPr lang="en-US" sz="2400" dirty="0">
                <a:latin typeface="Arial" panose="020B0604020202020204" pitchFamily="34" charset="0"/>
                <a:cs typeface="Arial" panose="020B0604020202020204" pitchFamily="34" charset="0"/>
              </a:rPr>
              <a:t>It is broadly defined as an inability of the heart and lungs to provide adequate tissue oxygenation and/or carbon dioxide removal.</a:t>
            </a:r>
          </a:p>
          <a:p>
            <a:endParaRPr lang="en-US" b="1"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D4904A7-674F-80C3-E69C-301D39AADF24}"/>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5</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6494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17E4B-5B9F-971B-CE63-31318B7FC6F9}"/>
              </a:ext>
            </a:extLst>
          </p:cNvPr>
          <p:cNvSpPr>
            <a:spLocks noGrp="1"/>
          </p:cNvSpPr>
          <p:nvPr>
            <p:ph type="title"/>
          </p:nvPr>
        </p:nvSpPr>
        <p:spPr/>
        <p:txBody>
          <a:bodyPr/>
          <a:lstStyle/>
          <a:p>
            <a:r>
              <a:rPr lang="en-US" dirty="0"/>
              <a:t>Interactive question 2</a:t>
            </a:r>
          </a:p>
        </p:txBody>
      </p:sp>
      <p:sp>
        <p:nvSpPr>
          <p:cNvPr id="3" name="Content Placeholder 2">
            <a:extLst>
              <a:ext uri="{FF2B5EF4-FFF2-40B4-BE49-F238E27FC236}">
                <a16:creationId xmlns:a16="http://schemas.microsoft.com/office/drawing/2014/main" id="{05343913-D227-E3FC-DAAD-D9D3BE10BA83}"/>
              </a:ext>
            </a:extLst>
          </p:cNvPr>
          <p:cNvSpPr>
            <a:spLocks noGrp="1"/>
          </p:cNvSpPr>
          <p:nvPr>
            <p:ph idx="1"/>
          </p:nvPr>
        </p:nvSpPr>
        <p:spPr/>
        <p:txBody>
          <a:bodyPr>
            <a:normAutofit/>
          </a:bodyPr>
          <a:lstStyle/>
          <a:p>
            <a:pPr marL="0" indent="0">
              <a:buNone/>
            </a:pPr>
            <a:r>
              <a:rPr lang="en-US" b="1" dirty="0">
                <a:latin typeface="Arial" panose="020B0604020202020204" pitchFamily="34" charset="0"/>
                <a:cs typeface="Arial" panose="020B0604020202020204" pitchFamily="34" charset="0"/>
              </a:rPr>
              <a:t>What is respiration?</a:t>
            </a:r>
          </a:p>
          <a:p>
            <a:r>
              <a:rPr lang="en-US" sz="2200" dirty="0">
                <a:latin typeface="Arial" panose="020B0604020202020204" pitchFamily="34" charset="0"/>
                <a:cs typeface="Arial" panose="020B0604020202020204" pitchFamily="34" charset="0"/>
              </a:rPr>
              <a:t>Respiration: the exchange of O2 and CO2 across the lung (i.e., external respiration) and at the tissue level (i.e., internal respiration).</a:t>
            </a:r>
          </a:p>
          <a:p>
            <a:pPr marL="0" indent="0">
              <a:buNone/>
            </a:pPr>
            <a:endParaRPr lang="en-US" b="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What components are required for normal respiration to occur?</a:t>
            </a:r>
          </a:p>
          <a:p>
            <a:endParaRPr lang="en-US"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F15788-74CD-FA54-F5B5-AF305965429D}"/>
              </a:ext>
            </a:extLst>
          </p:cNvPr>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2295904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Arial" panose="020B0604020202020204" pitchFamily="34" charset="0"/>
                <a:cs typeface="Arial" panose="020B0604020202020204" pitchFamily="34" charset="0"/>
              </a:rPr>
              <a:t>Introduction…</a:t>
            </a:r>
          </a:p>
        </p:txBody>
      </p:sp>
      <p:sp>
        <p:nvSpPr>
          <p:cNvPr id="3" name="Content Placeholder 2"/>
          <p:cNvSpPr>
            <a:spLocks noGrp="1"/>
          </p:cNvSpPr>
          <p:nvPr>
            <p:ph idx="1"/>
          </p:nvPr>
        </p:nvSpPr>
        <p:spPr>
          <a:xfrm>
            <a:off x="457200" y="1600200"/>
            <a:ext cx="8382000" cy="4756150"/>
          </a:xfrm>
        </p:spPr>
        <p:txBody>
          <a:bodyPr>
            <a:normAutofit/>
          </a:bodyPr>
          <a:lstStyle/>
          <a:p>
            <a:pPr>
              <a:defRPr/>
            </a:pPr>
            <a:r>
              <a:rPr lang="en-US" sz="2400" b="1" dirty="0">
                <a:latin typeface="Arial" panose="020B0604020202020204" pitchFamily="34" charset="0"/>
                <a:cs typeface="Arial" panose="020B0604020202020204" pitchFamily="34" charset="0"/>
              </a:rPr>
              <a:t>Normal respiration </a:t>
            </a:r>
            <a:r>
              <a:rPr lang="en-US" sz="2400" dirty="0">
                <a:latin typeface="Arial" panose="020B0604020202020204" pitchFamily="34" charset="0"/>
                <a:cs typeface="Arial" panose="020B0604020202020204" pitchFamily="34" charset="0"/>
              </a:rPr>
              <a:t>requires five separate components.</a:t>
            </a:r>
          </a:p>
          <a:p>
            <a:pPr lvl="1">
              <a:buClr>
                <a:srgbClr val="FF0000"/>
              </a:buClr>
              <a:defRPr/>
            </a:pPr>
            <a:r>
              <a:rPr lang="en-US" sz="2400" b="1" dirty="0">
                <a:latin typeface="Arial" panose="020B0604020202020204" pitchFamily="34" charset="0"/>
                <a:cs typeface="Arial" panose="020B0604020202020204" pitchFamily="34" charset="0"/>
              </a:rPr>
              <a:t>Nervous system- </a:t>
            </a:r>
            <a:r>
              <a:rPr lang="en-US" sz="2200" dirty="0">
                <a:latin typeface="Arial" panose="020B0604020202020204" pitchFamily="34" charset="0"/>
                <a:cs typeface="Arial" panose="020B0604020202020204" pitchFamily="34" charset="0"/>
              </a:rPr>
              <a:t>dorsal and ventral nuclei of respiratory control group, their afferent and efferent nuclei</a:t>
            </a:r>
          </a:p>
          <a:p>
            <a:pPr lvl="1">
              <a:buClr>
                <a:srgbClr val="FF0000"/>
              </a:buClr>
              <a:defRPr/>
            </a:pPr>
            <a:r>
              <a:rPr lang="en-US" sz="2400" b="1" dirty="0">
                <a:latin typeface="Arial" panose="020B0604020202020204" pitchFamily="34" charset="0"/>
                <a:cs typeface="Arial" panose="020B0604020202020204" pitchFamily="34" charset="0"/>
              </a:rPr>
              <a:t>Musculature- </a:t>
            </a:r>
            <a:r>
              <a:rPr lang="en-US" sz="2400" dirty="0">
                <a:latin typeface="Arial" panose="020B0604020202020204" pitchFamily="34" charset="0"/>
                <a:cs typeface="Arial" panose="020B0604020202020204" pitchFamily="34" charset="0"/>
              </a:rPr>
              <a:t>diaphragm, accessory muscles and chest wall</a:t>
            </a:r>
          </a:p>
          <a:p>
            <a:pPr lvl="1">
              <a:buClr>
                <a:srgbClr val="FF0000"/>
              </a:buClr>
              <a:defRPr/>
            </a:pPr>
            <a:r>
              <a:rPr lang="en-US" sz="2400" b="1" dirty="0">
                <a:latin typeface="Arial" panose="020B0604020202020204" pitchFamily="34" charset="0"/>
                <a:cs typeface="Arial" panose="020B0604020202020204" pitchFamily="34" charset="0"/>
              </a:rPr>
              <a:t>Airways-</a:t>
            </a:r>
            <a:r>
              <a:rPr lang="en-US" sz="2400" dirty="0">
                <a:latin typeface="Arial" panose="020B0604020202020204" pitchFamily="34" charset="0"/>
                <a:cs typeface="Arial" panose="020B0604020202020204" pitchFamily="34" charset="0"/>
              </a:rPr>
              <a:t> up to the terminal bronchiole</a:t>
            </a:r>
          </a:p>
          <a:p>
            <a:pPr lvl="1">
              <a:buClr>
                <a:srgbClr val="FF0000"/>
              </a:buClr>
              <a:defRPr/>
            </a:pPr>
            <a:r>
              <a:rPr lang="en-US" sz="2400" b="1" dirty="0">
                <a:latin typeface="Arial" panose="020B0604020202020204" pitchFamily="34" charset="0"/>
                <a:cs typeface="Arial" panose="020B0604020202020204" pitchFamily="34" charset="0"/>
              </a:rPr>
              <a:t>Alveolar units</a:t>
            </a:r>
          </a:p>
          <a:p>
            <a:pPr lvl="1">
              <a:buClr>
                <a:srgbClr val="FF0000"/>
              </a:buClr>
              <a:defRPr/>
            </a:pPr>
            <a:r>
              <a:rPr lang="en-US" sz="2400" b="1" dirty="0">
                <a:latin typeface="Arial" panose="020B0604020202020204" pitchFamily="34" charset="0"/>
                <a:cs typeface="Arial" panose="020B0604020202020204" pitchFamily="34" charset="0"/>
              </a:rPr>
              <a:t>Vasculature </a:t>
            </a:r>
            <a:endParaRPr lang="en-IN" sz="2400" b="1" dirty="0">
              <a:latin typeface="Arial" panose="020B0604020202020204" pitchFamily="34" charset="0"/>
              <a:cs typeface="Arial" panose="020B0604020202020204" pitchFamily="34" charset="0"/>
            </a:endParaRPr>
          </a:p>
          <a:p>
            <a:pPr>
              <a:buClr>
                <a:srgbClr val="FF0000"/>
              </a:buClr>
            </a:pPr>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7</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4019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35D69-7961-D708-B3D8-EF1A45768F87}"/>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a:extLst>
              <a:ext uri="{FF2B5EF4-FFF2-40B4-BE49-F238E27FC236}">
                <a16:creationId xmlns:a16="http://schemas.microsoft.com/office/drawing/2014/main" id="{34CDFE2E-0462-67CB-57FE-C9E77A805023}"/>
              </a:ext>
            </a:extLst>
          </p:cNvPr>
          <p:cNvSpPr>
            <a:spLocks noGrp="1"/>
          </p:cNvSpPr>
          <p:nvPr>
            <p:ph idx="1"/>
          </p:nvPr>
        </p:nvSpPr>
        <p:spPr>
          <a:xfrm>
            <a:off x="457200" y="1600200"/>
            <a:ext cx="8382000" cy="4525963"/>
          </a:xfrm>
        </p:spPr>
        <p:txBody>
          <a:bodyPr/>
          <a:lstStyle/>
          <a:p>
            <a:r>
              <a:rPr lang="en-US" sz="2600" dirty="0">
                <a:latin typeface="Arial" panose="020B0604020202020204" pitchFamily="34" charset="0"/>
                <a:cs typeface="Arial" panose="020B0604020202020204" pitchFamily="34" charset="0"/>
              </a:rPr>
              <a:t>Normal aerobic metabolism produces carbon dioxide and consumes oxygen.</a:t>
            </a:r>
          </a:p>
          <a:p>
            <a:pPr lvl="1"/>
            <a:r>
              <a:rPr lang="en-US"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Thus, O</a:t>
            </a:r>
            <a:r>
              <a:rPr lang="en-US" sz="16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must be transported to the body’s tissues for consumption and </a:t>
            </a:r>
          </a:p>
          <a:p>
            <a:pPr lvl="1"/>
            <a:r>
              <a:rPr lang="en-US" sz="2200" dirty="0">
                <a:latin typeface="Arial" panose="020B0604020202020204" pitchFamily="34" charset="0"/>
                <a:cs typeface="Arial" panose="020B0604020202020204" pitchFamily="34" charset="0"/>
              </a:rPr>
              <a:t>CO</a:t>
            </a:r>
            <a:r>
              <a:rPr lang="en-US" sz="1800" dirty="0">
                <a:latin typeface="Arial" panose="020B0604020202020204" pitchFamily="34" charset="0"/>
                <a:cs typeface="Arial" panose="020B0604020202020204" pitchFamily="34" charset="0"/>
              </a:rPr>
              <a:t>2  </a:t>
            </a:r>
            <a:r>
              <a:rPr lang="en-US" sz="2200" dirty="0">
                <a:latin typeface="Arial" panose="020B0604020202020204" pitchFamily="34" charset="0"/>
                <a:cs typeface="Arial" panose="020B0604020202020204" pitchFamily="34" charset="0"/>
              </a:rPr>
              <a:t>must</a:t>
            </a:r>
            <a:r>
              <a:rPr lang="en-US" sz="1800"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be transported from the tissues to the lungs to be removed.</a:t>
            </a:r>
          </a:p>
        </p:txBody>
      </p:sp>
      <p:sp>
        <p:nvSpPr>
          <p:cNvPr id="4" name="Slide Number Placeholder 3">
            <a:extLst>
              <a:ext uri="{FF2B5EF4-FFF2-40B4-BE49-F238E27FC236}">
                <a16:creationId xmlns:a16="http://schemas.microsoft.com/office/drawing/2014/main" id="{E33CC7C4-8E58-8168-737D-8E439D864A38}"/>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8</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767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pPr algn="l">
              <a:buClr>
                <a:schemeClr val="folHlink"/>
              </a:buClr>
              <a:buSzPct val="60000"/>
              <a:tabLst>
                <a:tab pos="2746375" algn="l"/>
              </a:tabLst>
            </a:pPr>
            <a:r>
              <a:rPr lang="en-US" sz="2800" dirty="0">
                <a:latin typeface="Arial" panose="020B0604020202020204" pitchFamily="34" charset="0"/>
                <a:cs typeface="Arial" panose="020B0604020202020204" pitchFamily="34" charset="0"/>
              </a:rPr>
              <a:t>Four Respiration Processes…</a:t>
            </a:r>
          </a:p>
        </p:txBody>
      </p:sp>
      <p:sp>
        <p:nvSpPr>
          <p:cNvPr id="3" name="Content Placeholder 2"/>
          <p:cNvSpPr>
            <a:spLocks noGrp="1"/>
          </p:cNvSpPr>
          <p:nvPr>
            <p:ph idx="1"/>
          </p:nvPr>
        </p:nvSpPr>
        <p:spPr>
          <a:xfrm>
            <a:off x="457200" y="1143000"/>
            <a:ext cx="8534400" cy="5440362"/>
          </a:xfrm>
        </p:spPr>
        <p:txBody>
          <a:bodyPr>
            <a:noAutofit/>
          </a:bodyPr>
          <a:lstStyle/>
          <a:p>
            <a:pPr>
              <a:buClr>
                <a:schemeClr val="folHlink"/>
              </a:buClr>
              <a:buSzPct val="60000"/>
              <a:tabLst>
                <a:tab pos="2746375" algn="l"/>
              </a:tabLst>
            </a:pPr>
            <a:r>
              <a:rPr lang="en-US" sz="2400" b="1" dirty="0">
                <a:latin typeface="Arial" panose="020B0604020202020204" pitchFamily="34" charset="0"/>
                <a:cs typeface="Arial" panose="020B0604020202020204" pitchFamily="34" charset="0"/>
              </a:rPr>
              <a:t>Breathing</a:t>
            </a:r>
            <a:r>
              <a:rPr lang="en-US" sz="2400" i="1" dirty="0">
                <a:latin typeface="Arial" panose="020B0604020202020204" pitchFamily="34" charset="0"/>
                <a:cs typeface="Arial" panose="020B0604020202020204" pitchFamily="34" charset="0"/>
              </a:rPr>
              <a:t>: </a:t>
            </a:r>
            <a:endParaRPr lang="en-US" sz="2200" dirty="0">
              <a:latin typeface="Arial" panose="020B0604020202020204" pitchFamily="34" charset="0"/>
              <a:cs typeface="Arial" panose="020B0604020202020204" pitchFamily="34" charset="0"/>
            </a:endParaRPr>
          </a:p>
          <a:p>
            <a:pPr lvl="1">
              <a:buClr>
                <a:schemeClr val="folHlink"/>
              </a:buClr>
              <a:buSzPct val="60000"/>
              <a:tabLst>
                <a:tab pos="2746375" algn="l"/>
              </a:tabLst>
            </a:pPr>
            <a:r>
              <a:rPr lang="en-US" sz="2000" dirty="0">
                <a:latin typeface="Arial" panose="020B0604020202020204" pitchFamily="34" charset="0"/>
                <a:cs typeface="Arial" panose="020B0604020202020204" pitchFamily="34" charset="0"/>
              </a:rPr>
              <a:t> act of inspiring and exhaling that requires energy utilization for muscle work; therefore, it is limited by energy reserves</a:t>
            </a:r>
          </a:p>
          <a:p>
            <a:pPr marL="457200" lvl="1" indent="0">
              <a:buClr>
                <a:schemeClr val="folHlink"/>
              </a:buClr>
              <a:buSzPct val="60000"/>
              <a:buNone/>
              <a:tabLst>
                <a:tab pos="2746375" algn="l"/>
              </a:tabLst>
            </a:pPr>
            <a:r>
              <a:rPr lang="en-US" sz="2200" dirty="0">
                <a:latin typeface="Arial" panose="020B0604020202020204" pitchFamily="34" charset="0"/>
                <a:cs typeface="Arial" panose="020B0604020202020204" pitchFamily="34" charset="0"/>
              </a:rPr>
              <a:t> </a:t>
            </a:r>
          </a:p>
          <a:p>
            <a:pPr>
              <a:buClr>
                <a:schemeClr val="folHlink"/>
              </a:buClr>
              <a:buSzPct val="60000"/>
              <a:tabLst>
                <a:tab pos="2746375" algn="l"/>
              </a:tabLst>
            </a:pPr>
            <a:r>
              <a:rPr lang="en-US" sz="2400" b="1" dirty="0">
                <a:latin typeface="Arial" panose="020B0604020202020204" pitchFamily="34" charset="0"/>
                <a:cs typeface="Arial" panose="020B0604020202020204" pitchFamily="34" charset="0"/>
              </a:rPr>
              <a:t>Ventilation</a:t>
            </a:r>
            <a:r>
              <a:rPr lang="en-US" sz="24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bulk movement of air into and out of lungs</a:t>
            </a:r>
            <a:endParaRPr lang="en-US" sz="2200" dirty="0">
              <a:latin typeface="Arial" panose="020B0604020202020204" pitchFamily="34" charset="0"/>
              <a:cs typeface="Arial" panose="020B0604020202020204" pitchFamily="34" charset="0"/>
            </a:endParaRPr>
          </a:p>
          <a:p>
            <a:pPr>
              <a:buClr>
                <a:schemeClr val="folHlink"/>
              </a:buClr>
              <a:buSzPct val="60000"/>
              <a:tabLst>
                <a:tab pos="2746375" algn="l"/>
              </a:tabLst>
            </a:pPr>
            <a:endParaRPr lang="en-US" sz="2400" dirty="0">
              <a:latin typeface="Arial" panose="020B0604020202020204" pitchFamily="34" charset="0"/>
              <a:cs typeface="Arial" panose="020B0604020202020204" pitchFamily="34" charset="0"/>
            </a:endParaRPr>
          </a:p>
          <a:p>
            <a:pPr>
              <a:buClr>
                <a:schemeClr val="folHlink"/>
              </a:buClr>
              <a:buSzPct val="60000"/>
              <a:tabLst>
                <a:tab pos="2746375" algn="l"/>
              </a:tabLst>
            </a:pPr>
            <a:r>
              <a:rPr lang="en-US" sz="2400" b="1" dirty="0">
                <a:latin typeface="Arial" panose="020B0604020202020204" pitchFamily="34" charset="0"/>
                <a:cs typeface="Arial" panose="020B0604020202020204" pitchFamily="34" charset="0"/>
              </a:rPr>
              <a:t>External respiration</a:t>
            </a:r>
            <a:r>
              <a:rPr lang="en-US" sz="24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gas exchange between air and blood</a:t>
            </a:r>
            <a:r>
              <a:rPr lang="en-US" sz="2200" dirty="0">
                <a:latin typeface="Arial" panose="020B0604020202020204" pitchFamily="34" charset="0"/>
                <a:cs typeface="Arial" panose="020B0604020202020204" pitchFamily="34" charset="0"/>
              </a:rPr>
              <a:t>;</a:t>
            </a:r>
          </a:p>
          <a:p>
            <a:pPr lvl="1">
              <a:buClr>
                <a:schemeClr val="folHlink"/>
              </a:buClr>
              <a:buSzPct val="60000"/>
              <a:tabLst>
                <a:tab pos="2746375" algn="l"/>
              </a:tabLst>
            </a:pPr>
            <a:r>
              <a:rPr lang="en-US" sz="2000" dirty="0">
                <a:latin typeface="Arial" panose="020B0604020202020204" pitchFamily="34" charset="0"/>
                <a:cs typeface="Arial" panose="020B0604020202020204" pitchFamily="34" charset="0"/>
              </a:rPr>
              <a:t>O</a:t>
            </a:r>
            <a:r>
              <a:rPr lang="en-US" sz="16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moves from the ambient environment into the pulmonary capillaries, and CO</a:t>
            </a:r>
            <a:r>
              <a:rPr lang="en-US" sz="16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leaves the pulmonary capillaries to enter the atmosphere </a:t>
            </a:r>
          </a:p>
          <a:p>
            <a:pPr>
              <a:buClr>
                <a:schemeClr val="folHlink"/>
              </a:buClr>
              <a:buSzPct val="60000"/>
              <a:tabLst>
                <a:tab pos="2746375" algn="l"/>
              </a:tabLst>
            </a:pPr>
            <a:r>
              <a:rPr lang="en-US" sz="2400" b="1" dirty="0">
                <a:latin typeface="Arial" panose="020B0604020202020204" pitchFamily="34" charset="0"/>
                <a:cs typeface="Arial" panose="020B0604020202020204" pitchFamily="34" charset="0"/>
              </a:rPr>
              <a:t>Internal respiration</a:t>
            </a:r>
            <a:r>
              <a:rPr lang="en-US" sz="24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gas exchange between blood and tissues</a:t>
            </a:r>
          </a:p>
          <a:p>
            <a:pPr>
              <a:buClr>
                <a:schemeClr val="folHlink"/>
              </a:buClr>
              <a:buSzPct val="60000"/>
              <a:tabLst>
                <a:tab pos="2746375" algn="l"/>
              </a:tabLst>
            </a:pPr>
            <a:endParaRPr lang="en-US" sz="2000" dirty="0">
              <a:latin typeface="Arial" panose="020B0604020202020204" pitchFamily="34" charset="0"/>
              <a:cs typeface="Arial" panose="020B0604020202020204" pitchFamily="34" charset="0"/>
            </a:endParaRPr>
          </a:p>
          <a:p>
            <a:pPr>
              <a:buClr>
                <a:schemeClr val="folHlink"/>
              </a:buClr>
              <a:buSzPct val="60000"/>
              <a:tabLst>
                <a:tab pos="2746375" algn="l"/>
              </a:tabLst>
            </a:pPr>
            <a:r>
              <a:rPr lang="en-US" sz="2400" b="1" dirty="0">
                <a:latin typeface="Arial" panose="020B0604020202020204" pitchFamily="34" charset="0"/>
                <a:cs typeface="Arial" panose="020B0604020202020204" pitchFamily="34" charset="0"/>
              </a:rPr>
              <a:t>Cellular respiration</a:t>
            </a:r>
            <a:r>
              <a:rPr lang="en-US" sz="24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O2 use to produce ATP, CO2 as waste</a:t>
            </a: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9</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2127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Line 3"/>
          <p:cNvSpPr>
            <a:spLocks noChangeShapeType="1"/>
          </p:cNvSpPr>
          <p:nvPr/>
        </p:nvSpPr>
        <p:spPr bwMode="auto">
          <a:xfrm>
            <a:off x="228600" y="228600"/>
            <a:ext cx="8686800" cy="0"/>
          </a:xfrm>
          <a:prstGeom prst="line">
            <a:avLst/>
          </a:prstGeom>
          <a:noFill/>
          <a:ln w="25400">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196" name="Text Box 4"/>
          <p:cNvSpPr txBox="1">
            <a:spLocks noChangeArrowheads="1"/>
          </p:cNvSpPr>
          <p:nvPr/>
        </p:nvSpPr>
        <p:spPr bwMode="auto">
          <a:xfrm>
            <a:off x="7924800" y="6248400"/>
            <a:ext cx="887413"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lnSpc>
                <a:spcPct val="90000"/>
              </a:lnSpc>
              <a:spcBef>
                <a:spcPct val="50000"/>
              </a:spcBef>
            </a:pPr>
            <a:r>
              <a:rPr lang="en-US" sz="1200">
                <a:solidFill>
                  <a:srgbClr val="330033"/>
                </a:solidFill>
                <a:latin typeface="Times New Roman" pitchFamily="18" charset="0"/>
              </a:rPr>
              <a:t>Figure 10.1</a:t>
            </a:r>
            <a:endParaRPr lang="en-US" sz="2800">
              <a:latin typeface="Times New Roman" pitchFamily="18" charset="0"/>
            </a:endParaRPr>
          </a:p>
        </p:txBody>
      </p:sp>
      <p:pic>
        <p:nvPicPr>
          <p:cNvPr id="8197" name="Picture 5" descr="1001_HumanResprtrySystem_1.jpg                                 0003AF46Macintosh HD                   ABA78158:"/>
          <p:cNvPicPr>
            <a:picLocks noChangeAspect="1" noChangeArrowheads="1"/>
          </p:cNvPicPr>
          <p:nvPr/>
        </p:nvPicPr>
        <p:blipFill>
          <a:blip r:embed="rId3">
            <a:extLst>
              <a:ext uri="{28A0092B-C50C-407E-A947-70E740481C1C}">
                <a14:useLocalDpi xmlns:a14="http://schemas.microsoft.com/office/drawing/2010/main" val="0"/>
              </a:ext>
            </a:extLst>
          </a:blip>
          <a:srcRect b="3999"/>
          <a:stretch>
            <a:fillRect/>
          </a:stretch>
        </p:blipFill>
        <p:spPr bwMode="auto">
          <a:xfrm>
            <a:off x="381000" y="1027114"/>
            <a:ext cx="8077200" cy="547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fld id="{B6F15528-21DE-4FAA-801E-634DDDAF4B2B}" type="slidenum">
              <a:rPr lang="en-US" smtClean="0"/>
              <a:pPr/>
              <a:t>10</a:t>
            </a:fld>
            <a:endParaRPr lang="en-US"/>
          </a:p>
        </p:txBody>
      </p:sp>
      <p:sp>
        <p:nvSpPr>
          <p:cNvPr id="2" name="Rectangle 1"/>
          <p:cNvSpPr/>
          <p:nvPr/>
        </p:nvSpPr>
        <p:spPr>
          <a:xfrm>
            <a:off x="1066800" y="602987"/>
            <a:ext cx="5715000" cy="480131"/>
          </a:xfrm>
          <a:prstGeom prst="rect">
            <a:avLst/>
          </a:prstGeom>
        </p:spPr>
        <p:txBody>
          <a:bodyPr wrap="square">
            <a:spAutoFit/>
          </a:bodyPr>
          <a:lstStyle/>
          <a:p>
            <a:pPr>
              <a:lnSpc>
                <a:spcPct val="90000"/>
              </a:lnSpc>
              <a:tabLst>
                <a:tab pos="622300" algn="l"/>
                <a:tab pos="2168525" algn="l"/>
                <a:tab pos="3546475" algn="l"/>
              </a:tabLst>
            </a:pPr>
            <a:r>
              <a:rPr lang="en-US" sz="2800" dirty="0">
                <a:solidFill>
                  <a:schemeClr val="tx2"/>
                </a:solidFill>
                <a:latin typeface="Agency FB" pitchFamily="34" charset="0"/>
                <a:cs typeface="Times New Roman" pitchFamily="18" charset="0"/>
              </a:rPr>
              <a:t>Human Respiratory System</a:t>
            </a:r>
          </a:p>
        </p:txBody>
      </p:sp>
    </p:spTree>
    <p:extLst>
      <p:ext uri="{BB962C8B-B14F-4D97-AF65-F5344CB8AC3E}">
        <p14:creationId xmlns:p14="http://schemas.microsoft.com/office/powerpoint/2010/main" val="164677848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457200" y="1600200"/>
            <a:ext cx="8458200" cy="4525963"/>
          </a:xfrm>
        </p:spPr>
        <p:txBody>
          <a:bodyPr>
            <a:normAutofit/>
          </a:bodyPr>
          <a:lstStyle/>
          <a:p>
            <a:r>
              <a:rPr lang="en-US" sz="2400" dirty="0">
                <a:latin typeface="Arial" panose="020B0604020202020204" pitchFamily="34" charset="0"/>
                <a:cs typeface="Arial" panose="020B0604020202020204" pitchFamily="34" charset="0"/>
              </a:rPr>
              <a:t>The lung parenchyma can be subdivided into functional airway divisions. </a:t>
            </a:r>
          </a:p>
          <a:p>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11</a:t>
            </a:fld>
            <a:endParaRPr lang="en-US">
              <a:latin typeface="Arial" panose="020B0604020202020204" pitchFamily="34" charset="0"/>
              <a:cs typeface="Arial" panose="020B0604020202020204" pitchFamily="34" charset="0"/>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514600"/>
            <a:ext cx="8266113" cy="3668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36132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457200" y="1600200"/>
            <a:ext cx="8229600" cy="4525963"/>
          </a:xfrm>
        </p:spPr>
        <p:txBody>
          <a:bodyPr/>
          <a:lstStyle/>
          <a:p>
            <a:pPr lvl="0"/>
            <a:r>
              <a:rPr lang="en-US" sz="2400" dirty="0">
                <a:solidFill>
                  <a:prstClr val="black"/>
                </a:solidFill>
                <a:latin typeface="Arial" panose="020B0604020202020204" pitchFamily="34" charset="0"/>
                <a:cs typeface="Arial" panose="020B0604020202020204" pitchFamily="34" charset="0"/>
              </a:rPr>
              <a:t>Only respiratory bronchioles, alveolar ducts, alveoli, and alveolar sacs participate in gas exchange. </a:t>
            </a:r>
          </a:p>
          <a:p>
            <a:pPr lvl="0"/>
            <a:endParaRPr lang="en-US" sz="2400" dirty="0">
              <a:solidFill>
                <a:prstClr val="black"/>
              </a:solidFill>
              <a:latin typeface="Arial" panose="020B0604020202020204" pitchFamily="34" charset="0"/>
              <a:cs typeface="Arial" panose="020B0604020202020204" pitchFamily="34" charset="0"/>
            </a:endParaRPr>
          </a:p>
          <a:p>
            <a:pPr lvl="0"/>
            <a:r>
              <a:rPr lang="en-US" sz="2400" dirty="0">
                <a:solidFill>
                  <a:prstClr val="black"/>
                </a:solidFill>
                <a:latin typeface="Arial" panose="020B0604020202020204" pitchFamily="34" charset="0"/>
                <a:cs typeface="Arial" panose="020B0604020202020204" pitchFamily="34" charset="0"/>
              </a:rPr>
              <a:t>The trachea, mainstem bronchi, lobar bronchi, and terminal bronchioles (16</a:t>
            </a:r>
            <a:r>
              <a:rPr lang="en-US" sz="2400" baseline="30000" dirty="0">
                <a:solidFill>
                  <a:prstClr val="black"/>
                </a:solidFill>
                <a:latin typeface="Arial" panose="020B0604020202020204" pitchFamily="34" charset="0"/>
                <a:cs typeface="Arial" panose="020B0604020202020204" pitchFamily="34" charset="0"/>
              </a:rPr>
              <a:t>th</a:t>
            </a:r>
            <a:r>
              <a:rPr lang="en-US" sz="2400" dirty="0">
                <a:solidFill>
                  <a:prstClr val="black"/>
                </a:solidFill>
                <a:latin typeface="Arial" panose="020B0604020202020204" pitchFamily="34" charset="0"/>
                <a:cs typeface="Arial" panose="020B0604020202020204" pitchFamily="34" charset="0"/>
              </a:rPr>
              <a:t> airway generation) are responsible for basic gas transport without exchange. </a:t>
            </a:r>
          </a:p>
          <a:p>
            <a:pPr lvl="0"/>
            <a:endParaRPr lang="en-US" sz="2400" dirty="0">
              <a:solidFill>
                <a:prstClr val="black"/>
              </a:solidFill>
              <a:latin typeface="Arial" panose="020B0604020202020204" pitchFamily="34" charset="0"/>
              <a:cs typeface="Arial" panose="020B0604020202020204" pitchFamily="34" charset="0"/>
            </a:endParaRPr>
          </a:p>
          <a:p>
            <a:pPr lvl="0"/>
            <a:r>
              <a:rPr lang="en-US" sz="2400" dirty="0">
                <a:solidFill>
                  <a:prstClr val="black"/>
                </a:solidFill>
                <a:latin typeface="Arial" panose="020B0604020202020204" pitchFamily="34" charset="0"/>
                <a:cs typeface="Arial" panose="020B0604020202020204" pitchFamily="34" charset="0"/>
              </a:rPr>
              <a:t>Respiratory bronchioles and alveolar ducts participate in gas movement and exchange.</a:t>
            </a:r>
          </a:p>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12</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5397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1013_BreathingRegulation_1.jpg                                 0003AF46Macintosh HD                   ABA78158:"/>
          <p:cNvPicPr>
            <a:picLocks noChangeAspect="1" noChangeArrowheads="1"/>
          </p:cNvPicPr>
          <p:nvPr/>
        </p:nvPicPr>
        <p:blipFill>
          <a:blip r:embed="rId3">
            <a:extLst>
              <a:ext uri="{28A0092B-C50C-407E-A947-70E740481C1C}">
                <a14:useLocalDpi xmlns:a14="http://schemas.microsoft.com/office/drawing/2010/main" val="0"/>
              </a:ext>
            </a:extLst>
          </a:blip>
          <a:srcRect b="3999"/>
          <a:stretch>
            <a:fillRect/>
          </a:stretch>
        </p:blipFill>
        <p:spPr bwMode="auto">
          <a:xfrm>
            <a:off x="457200" y="1085904"/>
            <a:ext cx="8393212" cy="5270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1" name="Rectangle 3"/>
          <p:cNvSpPr>
            <a:spLocks noChangeArrowheads="1"/>
          </p:cNvSpPr>
          <p:nvPr/>
        </p:nvSpPr>
        <p:spPr bwMode="auto">
          <a:xfrm>
            <a:off x="457200" y="185737"/>
            <a:ext cx="7162800"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gn="ctr">
              <a:lnSpc>
                <a:spcPct val="90000"/>
              </a:lnSpc>
              <a:tabLst>
                <a:tab pos="622300" algn="l"/>
                <a:tab pos="2168525" algn="l"/>
                <a:tab pos="3546475" algn="l"/>
              </a:tabLst>
            </a:pPr>
            <a:r>
              <a:rPr lang="en-US" sz="3600" dirty="0">
                <a:solidFill>
                  <a:schemeClr val="tx2"/>
                </a:solidFill>
                <a:latin typeface="Arial" panose="020B0604020202020204" pitchFamily="34" charset="0"/>
                <a:cs typeface="Arial" panose="020B0604020202020204" pitchFamily="34" charset="0"/>
              </a:rPr>
              <a:t>Regulation of Breathing</a:t>
            </a:r>
          </a:p>
        </p:txBody>
      </p:sp>
      <p:sp>
        <p:nvSpPr>
          <p:cNvPr id="20484" name="Line 4"/>
          <p:cNvSpPr>
            <a:spLocks noChangeShapeType="1"/>
          </p:cNvSpPr>
          <p:nvPr/>
        </p:nvSpPr>
        <p:spPr bwMode="auto">
          <a:xfrm>
            <a:off x="457200" y="1219200"/>
            <a:ext cx="8077200" cy="76200"/>
          </a:xfrm>
          <a:prstGeom prst="line">
            <a:avLst/>
          </a:prstGeom>
          <a:noFill/>
          <a:ln w="25400">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1650881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44562"/>
          </a:xfrm>
        </p:spPr>
        <p:txBody>
          <a:bodyPr>
            <a:noAutofit/>
          </a:bodyPr>
          <a:lstStyle/>
          <a:p>
            <a:r>
              <a:rPr lang="en-US" sz="2800" dirty="0">
                <a:solidFill>
                  <a:schemeClr val="tx2"/>
                </a:solidFill>
                <a:latin typeface="Arial" panose="020B0604020202020204" pitchFamily="34" charset="0"/>
                <a:cs typeface="Arial" panose="020B0604020202020204" pitchFamily="34" charset="0"/>
              </a:rPr>
              <a:t>Regulation of Breathing…</a:t>
            </a:r>
            <a:br>
              <a:rPr lang="en-US" sz="2800" dirty="0">
                <a:solidFill>
                  <a:schemeClr val="tx2"/>
                </a:solidFill>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219200"/>
            <a:ext cx="8458200" cy="5334000"/>
          </a:xfrm>
        </p:spPr>
        <p:txBody>
          <a:bodyPr>
            <a:noAutofit/>
          </a:bodyPr>
          <a:lstStyle/>
          <a:p>
            <a:r>
              <a:rPr lang="en-US" sz="2400" dirty="0">
                <a:latin typeface="Arial" panose="020B0604020202020204" pitchFamily="34" charset="0"/>
                <a:cs typeface="Arial" panose="020B0604020202020204" pitchFamily="34" charset="0"/>
              </a:rPr>
              <a:t>Mechanisms that control breathing are extremely complex, </a:t>
            </a:r>
          </a:p>
          <a:p>
            <a:pPr lvl="1"/>
            <a:r>
              <a:rPr lang="en-US" sz="2200" dirty="0">
                <a:latin typeface="Arial" panose="020B0604020202020204" pitchFamily="34" charset="0"/>
                <a:cs typeface="Arial" panose="020B0604020202020204" pitchFamily="34" charset="0"/>
              </a:rPr>
              <a:t>requiring integration with many parts of the central and peripheral nervous systems </a:t>
            </a:r>
          </a:p>
          <a:p>
            <a:pPr lvl="1"/>
            <a:endParaRPr lang="en-US" sz="22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The respiratory center is located in the brainstem (both the pons and medulla). </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Breathing depends on a small area of the medulla near the origin of the vagus nerves. </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3844625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solidFill>
                  <a:schemeClr val="tx2"/>
                </a:solidFill>
                <a:latin typeface="Arial" panose="020B0604020202020204" pitchFamily="34" charset="0"/>
                <a:cs typeface="Arial" panose="020B0604020202020204" pitchFamily="34" charset="0"/>
              </a:rPr>
              <a:t>Regulation of Breathing…</a:t>
            </a:r>
            <a:br>
              <a:rPr lang="en-US" sz="2800" dirty="0">
                <a:solidFill>
                  <a:schemeClr val="tx2"/>
                </a:solidFill>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417638"/>
            <a:ext cx="8229600" cy="4938712"/>
          </a:xfrm>
        </p:spPr>
        <p:txBody>
          <a:bodyPr>
            <a:normAutofit fontScale="85000" lnSpcReduction="20000"/>
          </a:bodyPr>
          <a:lstStyle/>
          <a:p>
            <a:pPr>
              <a:buFont typeface="Wingdings" pitchFamily="2" charset="2"/>
              <a:buChar char="q"/>
            </a:pPr>
            <a:r>
              <a:rPr lang="en-US" sz="2800" b="1" dirty="0">
                <a:latin typeface="Arial" panose="020B0604020202020204" pitchFamily="34" charset="0"/>
                <a:cs typeface="Arial" panose="020B0604020202020204" pitchFamily="34" charset="0"/>
              </a:rPr>
              <a:t>Medullary Centers</a:t>
            </a:r>
          </a:p>
          <a:p>
            <a:pPr marL="0" indent="0">
              <a:buNone/>
            </a:pPr>
            <a:endParaRPr lang="en-US" sz="2400" b="1" dirty="0">
              <a:latin typeface="Arial" panose="020B0604020202020204" pitchFamily="34" charset="0"/>
              <a:cs typeface="Arial" panose="020B0604020202020204" pitchFamily="34" charset="0"/>
            </a:endParaRPr>
          </a:p>
          <a:p>
            <a:r>
              <a:rPr lang="en-US" sz="2600" dirty="0">
                <a:latin typeface="Arial" panose="020B0604020202020204" pitchFamily="34" charset="0"/>
                <a:cs typeface="Arial" panose="020B0604020202020204" pitchFamily="34" charset="0"/>
              </a:rPr>
              <a:t>The medulla oblongata contains the most basic ventilatory control centers in the brain. </a:t>
            </a:r>
          </a:p>
          <a:p>
            <a:pPr lvl="1"/>
            <a:r>
              <a:rPr lang="en-US" sz="2400" dirty="0">
                <a:latin typeface="Arial" panose="020B0604020202020204" pitchFamily="34" charset="0"/>
                <a:cs typeface="Arial" panose="020B0604020202020204" pitchFamily="34" charset="0"/>
              </a:rPr>
              <a:t>Specific medullary areas are primarily active during inspiration or expiration.</a:t>
            </a:r>
          </a:p>
          <a:p>
            <a:pPr lvl="1"/>
            <a:endParaRPr lang="en-US" sz="22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 The inspiratory centers that reside in the DRG are located in the dorsal medullary reticular formation. </a:t>
            </a:r>
          </a:p>
          <a:p>
            <a:pPr lvl="1"/>
            <a:r>
              <a:rPr lang="en-US" sz="2000" dirty="0">
                <a:latin typeface="Arial" panose="020B0604020202020204" pitchFamily="34" charset="0"/>
                <a:cs typeface="Arial" panose="020B0604020202020204" pitchFamily="34" charset="0"/>
              </a:rPr>
              <a:t>The DRG is the source of elementary ventilatory rhythmicity and serves as the “pacemaker” for the respiratory system.</a:t>
            </a:r>
          </a:p>
          <a:p>
            <a:pPr lvl="1"/>
            <a:endParaRPr lang="en-US" sz="20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The VRG is located in the ventral medullary reticular formation </a:t>
            </a:r>
          </a:p>
          <a:p>
            <a:pPr lvl="1"/>
            <a:r>
              <a:rPr lang="en-US" sz="2000" dirty="0">
                <a:latin typeface="Arial" panose="020B0604020202020204" pitchFamily="34" charset="0"/>
                <a:cs typeface="Arial" panose="020B0604020202020204" pitchFamily="34" charset="0"/>
              </a:rPr>
              <a:t>and serves as the expiratory coordinating center. </a:t>
            </a:r>
          </a:p>
          <a:p>
            <a:pPr marL="0" indent="0">
              <a:buNone/>
            </a:pPr>
            <a:br>
              <a:rPr lang="en-US" sz="1600"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15</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7120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br>
              <a:rPr lang="en-US" dirty="0">
                <a:solidFill>
                  <a:schemeClr val="tx2"/>
                </a:solidFill>
                <a:latin typeface="Agency FB" pitchFamily="34" charset="0"/>
              </a:rPr>
            </a:br>
            <a:br>
              <a:rPr lang="en-US" dirty="0">
                <a:solidFill>
                  <a:schemeClr val="tx2"/>
                </a:solidFill>
                <a:latin typeface="Agency FB" pitchFamily="34" charset="0"/>
              </a:rPr>
            </a:br>
            <a:r>
              <a:rPr lang="en-US" dirty="0">
                <a:solidFill>
                  <a:schemeClr val="tx2"/>
                </a:solidFill>
                <a:latin typeface="Agency FB" pitchFamily="34" charset="0"/>
              </a:rPr>
              <a:t>Regulation of Breathing…</a:t>
            </a:r>
            <a:br>
              <a:rPr lang="en-US" dirty="0">
                <a:solidFill>
                  <a:schemeClr val="tx2"/>
                </a:solidFill>
                <a:latin typeface="Agency FB" pitchFamily="34" charset="0"/>
              </a:rPr>
            </a:br>
            <a:endParaRPr lang="en-US" dirty="0"/>
          </a:p>
        </p:txBody>
      </p:sp>
      <p:sp>
        <p:nvSpPr>
          <p:cNvPr id="3" name="Content Placeholder 2"/>
          <p:cNvSpPr>
            <a:spLocks noGrp="1"/>
          </p:cNvSpPr>
          <p:nvPr>
            <p:ph idx="1"/>
          </p:nvPr>
        </p:nvSpPr>
        <p:spPr>
          <a:xfrm>
            <a:off x="457200" y="1600200"/>
            <a:ext cx="8458200" cy="4525963"/>
          </a:xfrm>
        </p:spPr>
        <p:txBody>
          <a:bodyPr>
            <a:noAutofit/>
          </a:bodyPr>
          <a:lstStyle/>
          <a:p>
            <a:r>
              <a:rPr lang="en-US" sz="2400" dirty="0">
                <a:latin typeface="Arial" panose="020B0604020202020204" pitchFamily="34" charset="0"/>
                <a:cs typeface="Arial" panose="020B0604020202020204" pitchFamily="34" charset="0"/>
              </a:rPr>
              <a:t>The inspiratory and expiratory neurons function </a:t>
            </a:r>
          </a:p>
          <a:p>
            <a:pPr lvl="1"/>
            <a:r>
              <a:rPr lang="en-US" sz="2000" dirty="0">
                <a:solidFill>
                  <a:srgbClr val="FF0000"/>
                </a:solidFill>
                <a:latin typeface="Arial" panose="020B0604020202020204" pitchFamily="34" charset="0"/>
                <a:cs typeface="Arial" panose="020B0604020202020204" pitchFamily="34" charset="0"/>
              </a:rPr>
              <a:t>by a system of reciprocal innervation, or negative feedback.</a:t>
            </a:r>
          </a:p>
          <a:p>
            <a:pPr lvl="1"/>
            <a:endParaRPr lang="en-US" sz="2000" dirty="0">
              <a:solidFill>
                <a:srgbClr val="FF0000"/>
              </a:solidFill>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When the DRG creates an impulse to inspire,</a:t>
            </a:r>
          </a:p>
          <a:p>
            <a:pPr lvl="1"/>
            <a:r>
              <a:rPr lang="en-US" sz="2200" dirty="0">
                <a:latin typeface="Arial" panose="020B0604020202020204" pitchFamily="34" charset="0"/>
                <a:cs typeface="Arial" panose="020B0604020202020204" pitchFamily="34" charset="0"/>
              </a:rPr>
              <a:t> inspiration occurs and the DRG impulse is quenched by a reciprocating VRG impulse. </a:t>
            </a:r>
          </a:p>
          <a:p>
            <a:r>
              <a:rPr lang="en-US" sz="2400" dirty="0">
                <a:latin typeface="Arial" panose="020B0604020202020204" pitchFamily="34" charset="0"/>
                <a:cs typeface="Arial" panose="020B0604020202020204" pitchFamily="34" charset="0"/>
              </a:rPr>
              <a:t>This VRG transmission prohibits further use of the inspiratory muscles, thus allowing passive expiration to occur. </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858568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solidFill>
                  <a:schemeClr val="tx2"/>
                </a:solidFill>
                <a:latin typeface="Arial" panose="020B0604020202020204" pitchFamily="34" charset="0"/>
                <a:cs typeface="Arial" panose="020B0604020202020204" pitchFamily="34" charset="0"/>
              </a:rPr>
              <a:t>Regulation of Breathing…</a:t>
            </a:r>
            <a:br>
              <a:rPr lang="en-US" sz="2800" dirty="0">
                <a:solidFill>
                  <a:schemeClr val="tx2"/>
                </a:solidFill>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219200"/>
            <a:ext cx="8458200" cy="5105400"/>
          </a:xfrm>
        </p:spPr>
        <p:txBody>
          <a:bodyPr>
            <a:noAutofit/>
          </a:bodyPr>
          <a:lstStyle/>
          <a:p>
            <a:pPr>
              <a:buFont typeface="Wingdings" pitchFamily="2" charset="2"/>
              <a:buChar char="q"/>
            </a:pPr>
            <a:r>
              <a:rPr lang="en-US" sz="2800" b="1" dirty="0">
                <a:latin typeface="Arial" panose="020B0604020202020204" pitchFamily="34" charset="0"/>
                <a:cs typeface="Arial" panose="020B0604020202020204" pitchFamily="34" charset="0"/>
              </a:rPr>
              <a:t>Pontine Centers</a:t>
            </a:r>
          </a:p>
          <a:p>
            <a:pPr lvl="1"/>
            <a:r>
              <a:rPr lang="en-US" sz="2200" dirty="0">
                <a:latin typeface="Arial" panose="020B0604020202020204" pitchFamily="34" charset="0"/>
                <a:cs typeface="Arial" panose="020B0604020202020204" pitchFamily="34" charset="0"/>
              </a:rPr>
              <a:t>Process information that originates in the medulla. </a:t>
            </a:r>
          </a:p>
          <a:p>
            <a:pPr lvl="1"/>
            <a:endParaRPr lang="en-US" sz="2200" dirty="0">
              <a:latin typeface="Arial" panose="020B0604020202020204" pitchFamily="34" charset="0"/>
              <a:cs typeface="Arial" panose="020B0604020202020204" pitchFamily="34" charset="0"/>
            </a:endParaRPr>
          </a:p>
          <a:p>
            <a:r>
              <a:rPr lang="en-US" sz="2300" b="1" dirty="0">
                <a:latin typeface="Arial" panose="020B0604020202020204" pitchFamily="34" charset="0"/>
                <a:cs typeface="Arial" panose="020B0604020202020204" pitchFamily="34" charset="0"/>
              </a:rPr>
              <a:t>The apneustic center: </a:t>
            </a:r>
            <a:r>
              <a:rPr lang="en-US" sz="2300" dirty="0">
                <a:latin typeface="Arial" panose="020B0604020202020204" pitchFamily="34" charset="0"/>
                <a:cs typeface="Arial" panose="020B0604020202020204" pitchFamily="34" charset="0"/>
              </a:rPr>
              <a:t>located in the middle or lower pons. </a:t>
            </a:r>
          </a:p>
          <a:p>
            <a:pPr lvl="1"/>
            <a:r>
              <a:rPr lang="en-US" sz="2000" dirty="0">
                <a:latin typeface="Arial" panose="020B0604020202020204" pitchFamily="34" charset="0"/>
                <a:cs typeface="Arial" panose="020B0604020202020204" pitchFamily="34" charset="0"/>
              </a:rPr>
              <a:t>With activation, this center sends impulses to inspiratory DRG neurons to sustain inspiration. </a:t>
            </a:r>
          </a:p>
          <a:p>
            <a:pPr lvl="1"/>
            <a:endParaRPr lang="en-US" sz="2400" dirty="0">
              <a:latin typeface="Arial" panose="020B0604020202020204" pitchFamily="34" charset="0"/>
              <a:cs typeface="Arial" panose="020B0604020202020204" pitchFamily="34" charset="0"/>
            </a:endParaRPr>
          </a:p>
          <a:p>
            <a:r>
              <a:rPr lang="en-US" sz="2400" b="1" dirty="0">
                <a:latin typeface="Arial" panose="020B0604020202020204" pitchFamily="34" charset="0"/>
                <a:cs typeface="Arial" panose="020B0604020202020204" pitchFamily="34" charset="0"/>
              </a:rPr>
              <a:t>The </a:t>
            </a:r>
            <a:r>
              <a:rPr lang="en-US" sz="2400" b="1" dirty="0" err="1">
                <a:latin typeface="Arial" panose="020B0604020202020204" pitchFamily="34" charset="0"/>
                <a:cs typeface="Arial" panose="020B0604020202020204" pitchFamily="34" charset="0"/>
              </a:rPr>
              <a:t>pneumotaxic</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respiratory center is in the rostral pons. </a:t>
            </a:r>
          </a:p>
          <a:p>
            <a:pPr lvl="1"/>
            <a:r>
              <a:rPr lang="en-US" sz="2000" dirty="0">
                <a:latin typeface="Arial" panose="020B0604020202020204" pitchFamily="34" charset="0"/>
                <a:cs typeface="Arial" panose="020B0604020202020204" pitchFamily="34" charset="0"/>
              </a:rPr>
              <a:t>Its primary function is to limit the depth of inspiration. </a:t>
            </a:r>
          </a:p>
          <a:p>
            <a:pPr lvl="1"/>
            <a:r>
              <a:rPr lang="en-US" sz="2000" dirty="0">
                <a:latin typeface="Arial" panose="020B0604020202020204" pitchFamily="34" charset="0"/>
                <a:cs typeface="Arial" panose="020B0604020202020204" pitchFamily="34" charset="0"/>
              </a:rPr>
              <a:t>When maximally activated, it secondarily increases RR</a:t>
            </a:r>
          </a:p>
          <a:p>
            <a:pPr lvl="1"/>
            <a:r>
              <a:rPr lang="en-US" sz="2000" dirty="0">
                <a:latin typeface="Arial" panose="020B0604020202020204" pitchFamily="34" charset="0"/>
                <a:cs typeface="Arial" panose="020B0604020202020204" pitchFamily="34" charset="0"/>
              </a:rPr>
              <a:t>However, it performs no pace making function and has no intrinsic rhythmicity.</a:t>
            </a:r>
            <a:br>
              <a:rPr lang="en-US" sz="2000" dirty="0">
                <a:latin typeface="Arial" panose="020B0604020202020204" pitchFamily="34" charset="0"/>
                <a:cs typeface="Arial" panose="020B0604020202020204" pitchFamily="34" charset="0"/>
              </a:rPr>
            </a:br>
            <a:br>
              <a:rPr lang="en-US" sz="2200" dirty="0">
                <a:latin typeface="Arial" panose="020B0604020202020204" pitchFamily="34" charset="0"/>
                <a:cs typeface="Arial" panose="020B0604020202020204" pitchFamily="34" charset="0"/>
              </a:rPr>
            </a:br>
            <a:br>
              <a:rPr lang="en-US" sz="2200" dirty="0">
                <a:latin typeface="Arial" panose="020B0604020202020204" pitchFamily="34" charset="0"/>
                <a:cs typeface="Arial" panose="020B0604020202020204" pitchFamily="34" charset="0"/>
              </a:rPr>
            </a:br>
            <a:endParaRPr lang="en-US" sz="2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17</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7442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solidFill>
                  <a:schemeClr val="tx2"/>
                </a:solidFill>
                <a:latin typeface="Arial" panose="020B0604020202020204" pitchFamily="34" charset="0"/>
                <a:cs typeface="Arial" panose="020B0604020202020204" pitchFamily="34" charset="0"/>
              </a:rPr>
              <a:t>Regulation of Breathing…</a:t>
            </a:r>
            <a:br>
              <a:rPr lang="en-US" sz="2800" dirty="0">
                <a:solidFill>
                  <a:schemeClr val="tx2"/>
                </a:solidFill>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600200"/>
            <a:ext cx="8305800" cy="4525963"/>
          </a:xfrm>
        </p:spPr>
        <p:txBody>
          <a:bodyPr/>
          <a:lstStyle/>
          <a:p>
            <a:pPr>
              <a:buFont typeface="Wingdings" pitchFamily="2" charset="2"/>
              <a:buChar char="q"/>
            </a:pPr>
            <a:r>
              <a:rPr lang="en-US" sz="2800" b="1" dirty="0">
                <a:latin typeface="Arial" panose="020B0604020202020204" pitchFamily="34" charset="0"/>
                <a:cs typeface="Arial" panose="020B0604020202020204" pitchFamily="34" charset="0"/>
              </a:rPr>
              <a:t>Higher Respiratory Centers</a:t>
            </a:r>
          </a:p>
          <a:p>
            <a:r>
              <a:rPr lang="en-US" sz="2200" dirty="0">
                <a:latin typeface="Arial" panose="020B0604020202020204" pitchFamily="34" charset="0"/>
                <a:cs typeface="Arial" panose="020B0604020202020204" pitchFamily="34" charset="0"/>
              </a:rPr>
              <a:t>Many higher brain structures can affect ventilatory control processes. </a:t>
            </a:r>
          </a:p>
          <a:p>
            <a:r>
              <a:rPr lang="en-US" sz="2200" dirty="0">
                <a:latin typeface="Arial" panose="020B0604020202020204" pitchFamily="34" charset="0"/>
                <a:cs typeface="Arial" panose="020B0604020202020204" pitchFamily="34" charset="0"/>
              </a:rPr>
              <a:t>In the midbrain, stimulation of the reticular activating system increases the rate and amplitude of ventilation. </a:t>
            </a:r>
            <a:br>
              <a:rPr lang="en-US" sz="2200" dirty="0">
                <a:latin typeface="Arial" panose="020B0604020202020204" pitchFamily="34" charset="0"/>
                <a:cs typeface="Arial" panose="020B0604020202020204" pitchFamily="34" charset="0"/>
              </a:rPr>
            </a:br>
            <a:endParaRPr lang="en-US" sz="2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2002468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solidFill>
                  <a:schemeClr val="tx2"/>
                </a:solidFill>
                <a:latin typeface="Arial" panose="020B0604020202020204" pitchFamily="34" charset="0"/>
                <a:cs typeface="Arial" panose="020B0604020202020204" pitchFamily="34" charset="0"/>
              </a:rPr>
              <a:t>Regulation of Breathing…</a:t>
            </a:r>
            <a:br>
              <a:rPr lang="en-US" sz="2800" dirty="0">
                <a:solidFill>
                  <a:schemeClr val="tx2"/>
                </a:solidFill>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143000"/>
            <a:ext cx="8458200" cy="5334000"/>
          </a:xfrm>
        </p:spPr>
        <p:txBody>
          <a:bodyPr>
            <a:normAutofit fontScale="62500" lnSpcReduction="20000"/>
          </a:bodyPr>
          <a:lstStyle/>
          <a:p>
            <a:pPr>
              <a:buFont typeface="Wingdings" pitchFamily="2" charset="2"/>
              <a:buChar char="q"/>
            </a:pPr>
            <a:r>
              <a:rPr lang="en-US" sz="4500" b="1" dirty="0">
                <a:latin typeface="Arial" panose="020B0604020202020204" pitchFamily="34" charset="0"/>
                <a:cs typeface="Arial" panose="020B0604020202020204" pitchFamily="34" charset="0"/>
              </a:rPr>
              <a:t>Central chemoreceptors </a:t>
            </a:r>
          </a:p>
          <a:p>
            <a:pPr lvl="1"/>
            <a:r>
              <a:rPr lang="en-US" dirty="0">
                <a:latin typeface="Arial" panose="020B0604020202020204" pitchFamily="34" charset="0"/>
                <a:cs typeface="Arial" panose="020B0604020202020204" pitchFamily="34" charset="0"/>
              </a:rPr>
              <a:t>are actually primarily sensitive to changes in [H+]. </a:t>
            </a:r>
          </a:p>
          <a:p>
            <a:pPr lvl="1"/>
            <a:r>
              <a:rPr lang="en-US" dirty="0">
                <a:latin typeface="Arial" panose="020B0604020202020204" pitchFamily="34" charset="0"/>
                <a:cs typeface="Arial" panose="020B0604020202020204" pitchFamily="34" charset="0"/>
              </a:rPr>
              <a:t>CO2’s effect is indirect—it reacts with water to form carbonic acid and thus hydrogen and bicarbonate ions when dissociated. </a:t>
            </a:r>
          </a:p>
          <a:p>
            <a:pPr lvl="1"/>
            <a:endParaRPr lang="en-US" dirty="0">
              <a:latin typeface="Arial" panose="020B0604020202020204" pitchFamily="34" charset="0"/>
              <a:cs typeface="Arial" panose="020B0604020202020204" pitchFamily="34" charset="0"/>
            </a:endParaRPr>
          </a:p>
          <a:p>
            <a:pPr>
              <a:buFont typeface="Wingdings" pitchFamily="2" charset="2"/>
              <a:buChar char="q"/>
            </a:pPr>
            <a:r>
              <a:rPr lang="en-US" sz="4500" b="1" dirty="0">
                <a:latin typeface="Arial" panose="020B0604020202020204" pitchFamily="34" charset="0"/>
                <a:cs typeface="Arial" panose="020B0604020202020204" pitchFamily="34" charset="0"/>
              </a:rPr>
              <a:t>Peripheral chemoreceptors</a:t>
            </a:r>
          </a:p>
          <a:p>
            <a:r>
              <a:rPr lang="en-US" dirty="0">
                <a:latin typeface="Arial" panose="020B0604020202020204" pitchFamily="34" charset="0"/>
                <a:cs typeface="Arial" panose="020B0604020202020204" pitchFamily="34" charset="0"/>
              </a:rPr>
              <a:t> Comprised by both carotid and aortic bodies</a:t>
            </a:r>
          </a:p>
          <a:p>
            <a:r>
              <a:rPr lang="en-US" dirty="0">
                <a:latin typeface="Arial" panose="020B0604020202020204" pitchFamily="34" charset="0"/>
                <a:cs typeface="Arial" panose="020B0604020202020204" pitchFamily="34" charset="0"/>
              </a:rPr>
              <a:t>They respond primarily to lack of oxygen (PaO</a:t>
            </a:r>
            <a:r>
              <a:rPr lang="en-US" sz="26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a:t>
            </a:r>
          </a:p>
          <a:p>
            <a:pPr lvl="1"/>
            <a:r>
              <a:rPr lang="en-US" dirty="0">
                <a:latin typeface="Arial" panose="020B0604020202020204" pitchFamily="34" charset="0"/>
                <a:cs typeface="Arial" panose="020B0604020202020204" pitchFamily="34" charset="0"/>
              </a:rPr>
              <a:t>Carotid bodies are located at the bifurcation of the common carotid artery, </a:t>
            </a:r>
          </a:p>
          <a:p>
            <a:pPr lvl="1"/>
            <a:r>
              <a:rPr lang="en-US" dirty="0">
                <a:latin typeface="Arial" panose="020B0604020202020204" pitchFamily="34" charset="0"/>
                <a:cs typeface="Arial" panose="020B0604020202020204" pitchFamily="34" charset="0"/>
              </a:rPr>
              <a:t>aortic bodies are located throughout the aortic arch and its branches</a:t>
            </a:r>
          </a:p>
          <a:p>
            <a:pPr lvl="1"/>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neural output from the carotid body reaches the central respiratory centers via the afferent glossopharyngeal nerves. </a:t>
            </a:r>
          </a:p>
          <a:p>
            <a:r>
              <a:rPr lang="en-US" dirty="0">
                <a:latin typeface="Arial" panose="020B0604020202020204" pitchFamily="34" charset="0"/>
                <a:cs typeface="Arial" panose="020B0604020202020204" pitchFamily="34" charset="0"/>
              </a:rPr>
              <a:t>Output from the aortic bodies' travels to the medullary centers via the vagus nerve.</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3420710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chor="t">
            <a:normAutofit fontScale="90000"/>
          </a:bodyPr>
          <a:lstStyle/>
          <a:p>
            <a:r>
              <a:rPr lang="en-US" dirty="0">
                <a:solidFill>
                  <a:schemeClr val="tx2"/>
                </a:solidFill>
                <a:latin typeface="Agency FB" pitchFamily="34" charset="0"/>
              </a:rPr>
              <a:t>Regulation of Breathing…</a:t>
            </a:r>
            <a:br>
              <a:rPr lang="en-US" dirty="0">
                <a:solidFill>
                  <a:schemeClr val="tx2"/>
                </a:solidFill>
                <a:latin typeface="Agency FB" pitchFamily="34" charset="0"/>
              </a:rPr>
            </a:br>
            <a:endParaRPr lang="en-US"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990600"/>
            <a:ext cx="8381999"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457200" y="5934139"/>
            <a:ext cx="8229600" cy="923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2639216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Arial" panose="020B0604020202020204" pitchFamily="34" charset="0"/>
                <a:cs typeface="Arial" panose="020B0604020202020204" pitchFamily="34" charset="0"/>
              </a:rPr>
              <a:t>Pulmonary Gas Exchange</a:t>
            </a:r>
            <a:endParaRPr lang="en-US" sz="32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28600" y="1447800"/>
            <a:ext cx="8686800" cy="4906963"/>
          </a:xfrm>
        </p:spPr>
        <p:txBody>
          <a:bodyPr>
            <a:noAutofit/>
          </a:bodyPr>
          <a:lstStyle/>
          <a:p>
            <a:r>
              <a:rPr lang="en-US" sz="2400" dirty="0">
                <a:latin typeface="Arial" panose="020B0604020202020204" pitchFamily="34" charset="0"/>
                <a:cs typeface="Arial" panose="020B0604020202020204" pitchFamily="34" charset="0"/>
              </a:rPr>
              <a:t>The efficiency with which O</a:t>
            </a:r>
            <a:r>
              <a:rPr lang="en-US" sz="18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 and CO</a:t>
            </a:r>
            <a:r>
              <a:rPr lang="en-US" sz="18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 exchange at the alveolar–capillary level  highly depends on </a:t>
            </a:r>
          </a:p>
          <a:p>
            <a:pPr lvl="1"/>
            <a:r>
              <a:rPr lang="en-US" sz="2000" dirty="0">
                <a:latin typeface="Arial" panose="020B0604020202020204" pitchFamily="34" charset="0"/>
                <a:cs typeface="Arial" panose="020B0604020202020204" pitchFamily="34" charset="0"/>
              </a:rPr>
              <a:t>the matching of capillary perfusion and alveolar ventilation.</a:t>
            </a:r>
          </a:p>
          <a:p>
            <a:pPr lvl="1"/>
            <a:endParaRPr lang="en-US" sz="2400" dirty="0">
              <a:latin typeface="Arial" panose="020B0604020202020204" pitchFamily="34" charset="0"/>
              <a:cs typeface="Arial" panose="020B0604020202020204" pitchFamily="34" charset="0"/>
            </a:endParaRPr>
          </a:p>
          <a:p>
            <a:r>
              <a:rPr lang="en-US" sz="2300" dirty="0">
                <a:latin typeface="Arial" panose="020B0604020202020204" pitchFamily="34" charset="0"/>
                <a:cs typeface="Arial" panose="020B0604020202020204" pitchFamily="34" charset="0"/>
              </a:rPr>
              <a:t>The adequacy of gas exchange in the lungs is determined by:</a:t>
            </a:r>
          </a:p>
          <a:p>
            <a:pPr lvl="1"/>
            <a:r>
              <a:rPr lang="en-US" sz="2000" dirty="0">
                <a:latin typeface="Arial" panose="020B0604020202020204" pitchFamily="34" charset="0"/>
                <a:cs typeface="Arial" panose="020B0604020202020204" pitchFamily="34" charset="0"/>
              </a:rPr>
              <a:t>the balance between pulmonary ventilation and capillary blood flow </a:t>
            </a:r>
          </a:p>
          <a:p>
            <a:pPr lvl="3"/>
            <a:r>
              <a:rPr lang="en-US" dirty="0">
                <a:solidFill>
                  <a:srgbClr val="FF0000"/>
                </a:solidFill>
                <a:latin typeface="Arial" panose="020B0604020202020204" pitchFamily="34" charset="0"/>
                <a:cs typeface="Arial" panose="020B0604020202020204" pitchFamily="34" charset="0"/>
              </a:rPr>
              <a:t>ventilation-perfusion (V/Q) ratio</a:t>
            </a:r>
            <a:endParaRPr lang="en-US"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21</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8886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2800" b="1" dirty="0">
                <a:latin typeface="Arial" panose="020B0604020202020204" pitchFamily="34" charset="0"/>
                <a:cs typeface="Arial" panose="020B0604020202020204" pitchFamily="34" charset="0"/>
              </a:rPr>
              <a:t>Distribution of Ventilation and Perfusion</a:t>
            </a:r>
            <a:endParaRPr lang="en-US" sz="2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371600"/>
            <a:ext cx="8458200" cy="4754563"/>
          </a:xfrm>
        </p:spPr>
        <p:txBody>
          <a:bodyPr>
            <a:normAutofit fontScale="92500"/>
          </a:bodyPr>
          <a:lstStyle/>
          <a:p>
            <a:pPr>
              <a:buFont typeface="Wingdings" pitchFamily="2" charset="2"/>
              <a:buChar char="Ø"/>
            </a:pPr>
            <a:r>
              <a:rPr lang="en-US" sz="2400" b="1" dirty="0">
                <a:solidFill>
                  <a:srgbClr val="000000"/>
                </a:solidFill>
                <a:latin typeface="Arial" panose="020B0604020202020204" pitchFamily="34" charset="0"/>
                <a:cs typeface="Arial" panose="020B0604020202020204" pitchFamily="34" charset="0"/>
              </a:rPr>
              <a:t>Distribution of Ventilation</a:t>
            </a:r>
            <a:r>
              <a:rPr lang="en-US" sz="2400" dirty="0">
                <a:latin typeface="Arial" panose="020B0604020202020204" pitchFamily="34" charset="0"/>
                <a:cs typeface="Arial" panose="020B0604020202020204" pitchFamily="34" charset="0"/>
              </a:rPr>
              <a:t> </a:t>
            </a:r>
          </a:p>
          <a:p>
            <a:r>
              <a:rPr lang="en-US" sz="2400" dirty="0">
                <a:latin typeface="Arial" panose="020B0604020202020204" pitchFamily="34" charset="0"/>
                <a:cs typeface="Arial" panose="020B0604020202020204" pitchFamily="34" charset="0"/>
              </a:rPr>
              <a:t>Alveolar pressure is the same throughout the lung; therefore,</a:t>
            </a:r>
          </a:p>
          <a:p>
            <a:pPr lvl="1"/>
            <a:r>
              <a:rPr lang="en-US" sz="2000" dirty="0">
                <a:latin typeface="Arial" panose="020B0604020202020204" pitchFamily="34" charset="0"/>
                <a:cs typeface="Arial" panose="020B0604020202020204" pitchFamily="34" charset="0"/>
              </a:rPr>
              <a:t>the more negative </a:t>
            </a:r>
            <a:r>
              <a:rPr lang="en-US" sz="2000" dirty="0" err="1">
                <a:latin typeface="Arial" panose="020B0604020202020204" pitchFamily="34" charset="0"/>
                <a:cs typeface="Arial" panose="020B0604020202020204" pitchFamily="34" charset="0"/>
              </a:rPr>
              <a:t>intrapleural</a:t>
            </a:r>
            <a:r>
              <a:rPr lang="en-US" sz="2000" dirty="0">
                <a:latin typeface="Arial" panose="020B0604020202020204" pitchFamily="34" charset="0"/>
                <a:cs typeface="Arial" panose="020B0604020202020204" pitchFamily="34" charset="0"/>
              </a:rPr>
              <a:t> pressure at the apex (or the least gravity-dependent area) results in larger, more distended apical alveoli than in other areas of the lung </a:t>
            </a:r>
          </a:p>
          <a:p>
            <a:r>
              <a:rPr lang="en-US" sz="2400" dirty="0">
                <a:latin typeface="Arial" panose="020B0604020202020204" pitchFamily="34" charset="0"/>
                <a:cs typeface="Arial" panose="020B0604020202020204" pitchFamily="34" charset="0"/>
              </a:rPr>
              <a:t>The </a:t>
            </a:r>
            <a:r>
              <a:rPr lang="en-US" sz="2400" dirty="0" err="1">
                <a:latin typeface="Arial" panose="020B0604020202020204" pitchFamily="34" charset="0"/>
                <a:cs typeface="Arial" panose="020B0604020202020204" pitchFamily="34" charset="0"/>
              </a:rPr>
              <a:t>transpulmonary</a:t>
            </a:r>
            <a:r>
              <a:rPr lang="en-US" sz="2400" dirty="0">
                <a:latin typeface="Arial" panose="020B0604020202020204" pitchFamily="34" charset="0"/>
                <a:cs typeface="Arial" panose="020B0604020202020204" pitchFamily="34" charset="0"/>
              </a:rPr>
              <a:t> pressure (Paw - </a:t>
            </a:r>
            <a:r>
              <a:rPr lang="en-US" sz="2400" dirty="0" err="1">
                <a:latin typeface="Arial" panose="020B0604020202020204" pitchFamily="34" charset="0"/>
                <a:cs typeface="Arial" panose="020B0604020202020204" pitchFamily="34" charset="0"/>
              </a:rPr>
              <a:t>Ppl</a:t>
            </a:r>
            <a:r>
              <a:rPr lang="en-US" sz="2400" dirty="0">
                <a:latin typeface="Arial" panose="020B0604020202020204" pitchFamily="34" charset="0"/>
                <a:cs typeface="Arial" panose="020B0604020202020204" pitchFamily="34" charset="0"/>
              </a:rPr>
              <a:t>), or distending pressure of the lung,</a:t>
            </a:r>
          </a:p>
          <a:p>
            <a:pPr lvl="1"/>
            <a:r>
              <a:rPr lang="en-US" sz="2000" dirty="0">
                <a:latin typeface="Arial" panose="020B0604020202020204" pitchFamily="34" charset="0"/>
                <a:cs typeface="Arial" panose="020B0604020202020204" pitchFamily="34" charset="0"/>
              </a:rPr>
              <a:t> is greater at the top and lower at the bottom; where </a:t>
            </a:r>
            <a:r>
              <a:rPr lang="en-US" sz="2000" dirty="0" err="1">
                <a:latin typeface="Arial" panose="020B0604020202020204" pitchFamily="34" charset="0"/>
                <a:cs typeface="Arial" panose="020B0604020202020204" pitchFamily="34" charset="0"/>
              </a:rPr>
              <a:t>intrapleural</a:t>
            </a:r>
            <a:r>
              <a:rPr lang="en-US" sz="2000" dirty="0">
                <a:latin typeface="Arial" panose="020B0604020202020204" pitchFamily="34" charset="0"/>
                <a:cs typeface="Arial" panose="020B0604020202020204" pitchFamily="34" charset="0"/>
              </a:rPr>
              <a:t> pressure is less negative. </a:t>
            </a:r>
          </a:p>
          <a:p>
            <a:r>
              <a:rPr lang="en-US" sz="2400" dirty="0">
                <a:latin typeface="Arial" panose="020B0604020202020204" pitchFamily="34" charset="0"/>
                <a:cs typeface="Arial" panose="020B0604020202020204" pitchFamily="34" charset="0"/>
              </a:rPr>
              <a:t>Despite the smaller alveolar size, more ventilation is delivered to dependent pulmonary areas.</a:t>
            </a: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22</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6250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457200" y="1600200"/>
            <a:ext cx="8458200" cy="4525963"/>
          </a:xfrm>
        </p:spPr>
        <p:txBody>
          <a:bodyPr>
            <a:normAutofit fontScale="77500" lnSpcReduction="20000"/>
          </a:bodyPr>
          <a:lstStyle/>
          <a:p>
            <a:pPr>
              <a:buFont typeface="Wingdings" pitchFamily="2" charset="2"/>
              <a:buChar char="Ø"/>
            </a:pPr>
            <a:r>
              <a:rPr lang="en-US" sz="2600" b="1" dirty="0">
                <a:latin typeface="Arial" panose="020B0604020202020204" pitchFamily="34" charset="0"/>
                <a:cs typeface="Arial" panose="020B0604020202020204" pitchFamily="34" charset="0"/>
              </a:rPr>
              <a:t>Distribution of Blood Flow</a:t>
            </a:r>
            <a:r>
              <a:rPr lang="en-US" sz="2600" dirty="0">
                <a:latin typeface="Arial" panose="020B0604020202020204" pitchFamily="34" charset="0"/>
                <a:cs typeface="Arial" panose="020B0604020202020204" pitchFamily="34" charset="0"/>
              </a:rPr>
              <a:t> </a:t>
            </a:r>
          </a:p>
          <a:p>
            <a:pPr>
              <a:buFont typeface="Wingdings" pitchFamily="2" charset="2"/>
              <a:buChar char="Ø"/>
            </a:pPr>
            <a:endParaRPr lang="en-US" sz="2600" dirty="0">
              <a:latin typeface="Arial" panose="020B0604020202020204" pitchFamily="34" charset="0"/>
              <a:cs typeface="Arial" panose="020B0604020202020204" pitchFamily="34" charset="0"/>
            </a:endParaRPr>
          </a:p>
          <a:p>
            <a:r>
              <a:rPr lang="en-US" sz="2600" dirty="0">
                <a:latin typeface="Arial" panose="020B0604020202020204" pitchFamily="34" charset="0"/>
                <a:cs typeface="Arial" panose="020B0604020202020204" pitchFamily="34" charset="0"/>
              </a:rPr>
              <a:t>Blood flow within the lung is mainly gravity dependent </a:t>
            </a:r>
          </a:p>
          <a:p>
            <a:endParaRPr lang="en-US" sz="2400" dirty="0">
              <a:latin typeface="Arial" panose="020B0604020202020204" pitchFamily="34" charset="0"/>
              <a:cs typeface="Arial" panose="020B0604020202020204" pitchFamily="34" charset="0"/>
            </a:endParaRPr>
          </a:p>
          <a:p>
            <a:r>
              <a:rPr lang="en-US" sz="2600" dirty="0">
                <a:latin typeface="Arial" panose="020B0604020202020204" pitchFamily="34" charset="0"/>
                <a:cs typeface="Arial" panose="020B0604020202020204" pitchFamily="34" charset="0"/>
              </a:rPr>
              <a:t>Because the alveolar– capillary beds are not composed of rigid vessels, </a:t>
            </a:r>
          </a:p>
          <a:p>
            <a:pPr lvl="1"/>
            <a:r>
              <a:rPr lang="en-US" sz="2600" dirty="0">
                <a:latin typeface="Arial" panose="020B0604020202020204" pitchFamily="34" charset="0"/>
                <a:cs typeface="Arial" panose="020B0604020202020204" pitchFamily="34" charset="0"/>
              </a:rPr>
              <a:t>the pressure of the surrounding tissues can influence the resistance to flow through the individual capillaries</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Thus, blood flow depends on the relationship between</a:t>
            </a:r>
          </a:p>
          <a:p>
            <a:pPr lvl="1"/>
            <a:r>
              <a:rPr lang="en-US" sz="2400" dirty="0">
                <a:latin typeface="Arial" panose="020B0604020202020204" pitchFamily="34" charset="0"/>
                <a:cs typeface="Arial" panose="020B0604020202020204" pitchFamily="34" charset="0"/>
              </a:rPr>
              <a:t> pulmonary artery pressure (</a:t>
            </a:r>
            <a:r>
              <a:rPr lang="en-US" sz="2400" dirty="0" err="1">
                <a:latin typeface="Arial" panose="020B0604020202020204" pitchFamily="34" charset="0"/>
                <a:cs typeface="Arial" panose="020B0604020202020204" pitchFamily="34" charset="0"/>
              </a:rPr>
              <a:t>Ppa</a:t>
            </a:r>
            <a:r>
              <a:rPr lang="en-US" sz="2400" dirty="0">
                <a:latin typeface="Arial" panose="020B0604020202020204" pitchFamily="34" charset="0"/>
                <a:cs typeface="Arial" panose="020B0604020202020204" pitchFamily="34" charset="0"/>
              </a:rPr>
              <a:t>), </a:t>
            </a:r>
          </a:p>
          <a:p>
            <a:pPr lvl="1"/>
            <a:r>
              <a:rPr lang="en-US" sz="2400" dirty="0">
                <a:latin typeface="Arial" panose="020B0604020202020204" pitchFamily="34" charset="0"/>
                <a:cs typeface="Arial" panose="020B0604020202020204" pitchFamily="34" charset="0"/>
              </a:rPr>
              <a:t>alveolar pressure (PA), and</a:t>
            </a:r>
          </a:p>
          <a:p>
            <a:pPr lvl="1"/>
            <a:r>
              <a:rPr lang="en-US" sz="2400" dirty="0">
                <a:latin typeface="Arial" panose="020B0604020202020204" pitchFamily="34" charset="0"/>
                <a:cs typeface="Arial" panose="020B0604020202020204" pitchFamily="34" charset="0"/>
              </a:rPr>
              <a:t> pulmonary venous pressure (</a:t>
            </a:r>
            <a:r>
              <a:rPr lang="en-US" sz="2400" dirty="0" err="1">
                <a:latin typeface="Arial" panose="020B0604020202020204" pitchFamily="34" charset="0"/>
                <a:cs typeface="Arial" panose="020B0604020202020204" pitchFamily="34" charset="0"/>
              </a:rPr>
              <a:t>Ppv</a:t>
            </a:r>
            <a:r>
              <a:rPr lang="en-US" sz="2400" dirty="0">
                <a:latin typeface="Arial" panose="020B0604020202020204" pitchFamily="34" charset="0"/>
                <a:cs typeface="Arial" panose="020B0604020202020204" pitchFamily="34" charset="0"/>
              </a:rPr>
              <a:t>) </a:t>
            </a:r>
            <a:br>
              <a:rPr lang="en-US" sz="2400" dirty="0">
                <a:latin typeface="Arial" panose="020B0604020202020204" pitchFamily="34" charset="0"/>
                <a:cs typeface="Arial" panose="020B0604020202020204" pitchFamily="34" charset="0"/>
              </a:rPr>
            </a:br>
            <a:br>
              <a:rPr lang="en-US" sz="3200" dirty="0">
                <a:latin typeface="Arial" panose="020B0604020202020204" pitchFamily="34" charset="0"/>
                <a:cs typeface="Arial" panose="020B0604020202020204" pitchFamily="34" charset="0"/>
              </a:rPr>
            </a:br>
            <a:endParaRPr lang="en-US" sz="3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23</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99035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br>
              <a:rPr lang="en-US" sz="3200" dirty="0">
                <a:latin typeface="Arial" panose="020B0604020202020204" pitchFamily="34" charset="0"/>
                <a:cs typeface="Arial" panose="020B0604020202020204" pitchFamily="34" charset="0"/>
              </a:rPr>
            </a:br>
            <a:r>
              <a:rPr lang="en-US" sz="3200" dirty="0">
                <a:latin typeface="Arial" panose="020B0604020202020204" pitchFamily="34" charset="0"/>
                <a:cs typeface="Arial" panose="020B0604020202020204" pitchFamily="34" charset="0"/>
              </a:rPr>
              <a:t>The West lung zone model </a:t>
            </a:r>
            <a:br>
              <a:rPr lang="en-US" sz="3200" dirty="0">
                <a:latin typeface="Arial" panose="020B0604020202020204" pitchFamily="34" charset="0"/>
                <a:cs typeface="Arial" panose="020B0604020202020204" pitchFamily="34" charset="0"/>
              </a:rPr>
            </a:br>
            <a:endParaRPr lang="en-US" sz="3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pic>
        <p:nvPicPr>
          <p:cNvPr id="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295400"/>
            <a:ext cx="7467600" cy="4085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381000" y="5380672"/>
            <a:ext cx="8534400" cy="984885"/>
          </a:xfrm>
          <a:prstGeom prst="rect">
            <a:avLst/>
          </a:prstGeom>
        </p:spPr>
        <p:txBody>
          <a:bodyPr wrap="square">
            <a:spAutoFit/>
          </a:bodyPr>
          <a:lstStyle/>
          <a:p>
            <a:pPr algn="just"/>
            <a:endParaRPr lang="en-US" sz="16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From </a:t>
            </a:r>
            <a:r>
              <a:rPr lang="en-US" sz="1400" dirty="0" err="1">
                <a:latin typeface="Arial" panose="020B0604020202020204" pitchFamily="34" charset="0"/>
                <a:cs typeface="Arial" panose="020B0604020202020204" pitchFamily="34" charset="0"/>
              </a:rPr>
              <a:t>Tamul</a:t>
            </a:r>
            <a:r>
              <a:rPr lang="en-US" sz="1400" dirty="0">
                <a:latin typeface="Arial" panose="020B0604020202020204" pitchFamily="34" charset="0"/>
                <a:cs typeface="Arial" panose="020B0604020202020204" pitchFamily="34" charset="0"/>
              </a:rPr>
              <a:t> PC, Ault ML. Respiratory function in anesthesia. In: Barash PG, Cullen BF, Stoelting RK, et al, eds. Clinical Anesthesia. 8</a:t>
            </a:r>
            <a:r>
              <a:rPr lang="en-US" sz="1400" baseline="30000" dirty="0">
                <a:latin typeface="Arial" panose="020B0604020202020204" pitchFamily="34" charset="0"/>
                <a:cs typeface="Arial" panose="020B0604020202020204" pitchFamily="34" charset="0"/>
              </a:rPr>
              <a:t>th</a:t>
            </a:r>
            <a:r>
              <a:rPr lang="en-US" sz="1400" dirty="0">
                <a:latin typeface="Arial" panose="020B0604020202020204" pitchFamily="34" charset="0"/>
                <a:cs typeface="Arial" panose="020B0604020202020204" pitchFamily="34" charset="0"/>
              </a:rPr>
              <a:t> ed. Philadelphia: </a:t>
            </a:r>
            <a:r>
              <a:rPr lang="en-US" sz="1400" dirty="0" err="1">
                <a:latin typeface="Arial" panose="020B0604020202020204" pitchFamily="34" charset="0"/>
                <a:cs typeface="Arial" panose="020B0604020202020204" pitchFamily="34" charset="0"/>
              </a:rPr>
              <a:t>Wolters</a:t>
            </a:r>
            <a:r>
              <a:rPr lang="en-US" sz="1400" dirty="0">
                <a:latin typeface="Arial" panose="020B0604020202020204" pitchFamily="34" charset="0"/>
                <a:cs typeface="Arial" panose="020B0604020202020204" pitchFamily="34" charset="0"/>
              </a:rPr>
              <a:t> Kluwer; 2017:965-967</a:t>
            </a:r>
            <a:br>
              <a:rPr lang="en-US" sz="1400" dirty="0">
                <a:latin typeface="Arial" panose="020B0604020202020204" pitchFamily="34" charset="0"/>
                <a:cs typeface="Arial" panose="020B0604020202020204" pitchFamily="34" charset="0"/>
              </a:rPr>
            </a:b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06848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457200" y="1295400"/>
            <a:ext cx="8382000" cy="4830763"/>
          </a:xfrm>
        </p:spPr>
        <p:txBody>
          <a:bodyPr>
            <a:normAutofit fontScale="85000" lnSpcReduction="20000"/>
          </a:bodyPr>
          <a:lstStyle/>
          <a:p>
            <a:pPr>
              <a:buFont typeface="Wingdings" pitchFamily="2" charset="2"/>
              <a:buChar char="q"/>
            </a:pPr>
            <a:r>
              <a:rPr lang="en-US" sz="2800" b="1" dirty="0">
                <a:latin typeface="Arial" panose="020B0604020202020204" pitchFamily="34" charset="0"/>
                <a:cs typeface="Arial" panose="020B0604020202020204" pitchFamily="34" charset="0"/>
              </a:rPr>
              <a:t>Zone 1</a:t>
            </a:r>
          </a:p>
          <a:p>
            <a:r>
              <a:rPr lang="en-US" sz="2400" dirty="0">
                <a:latin typeface="Arial" panose="020B0604020202020204" pitchFamily="34" charset="0"/>
                <a:cs typeface="Arial" panose="020B0604020202020204" pitchFamily="34" charset="0"/>
              </a:rPr>
              <a:t> Conditions occur in the most </a:t>
            </a:r>
            <a:r>
              <a:rPr lang="en-US" sz="2400" dirty="0">
                <a:solidFill>
                  <a:srgbClr val="FF0000"/>
                </a:solidFill>
                <a:latin typeface="Arial" panose="020B0604020202020204" pitchFamily="34" charset="0"/>
                <a:cs typeface="Arial" panose="020B0604020202020204" pitchFamily="34" charset="0"/>
              </a:rPr>
              <a:t>gravity-independent</a:t>
            </a:r>
            <a:r>
              <a:rPr lang="en-US" sz="2400" dirty="0">
                <a:latin typeface="Arial" panose="020B0604020202020204" pitchFamily="34" charset="0"/>
                <a:cs typeface="Arial" panose="020B0604020202020204" pitchFamily="34" charset="0"/>
              </a:rPr>
              <a:t> part of the lung (lung apex). </a:t>
            </a:r>
          </a:p>
          <a:p>
            <a:pPr lvl="1"/>
            <a:r>
              <a:rPr lang="en-US" sz="2000" dirty="0">
                <a:latin typeface="Arial" panose="020B0604020202020204" pitchFamily="34" charset="0"/>
                <a:cs typeface="Arial" panose="020B0604020202020204" pitchFamily="34" charset="0"/>
              </a:rPr>
              <a:t>PA ≈ </a:t>
            </a:r>
            <a:r>
              <a:rPr lang="en-US" sz="2000" dirty="0" err="1">
                <a:latin typeface="Arial" panose="020B0604020202020204" pitchFamily="34" charset="0"/>
                <a:cs typeface="Arial" panose="020B0604020202020204" pitchFamily="34" charset="0"/>
              </a:rPr>
              <a:t>Patm</a:t>
            </a:r>
            <a:r>
              <a:rPr lang="en-US" sz="2000" dirty="0">
                <a:latin typeface="Arial" panose="020B0604020202020204" pitchFamily="34" charset="0"/>
                <a:cs typeface="Arial" panose="020B0604020202020204" pitchFamily="34" charset="0"/>
              </a:rPr>
              <a:t>.   </a:t>
            </a:r>
          </a:p>
          <a:p>
            <a:pPr lvl="1"/>
            <a:r>
              <a:rPr lang="en-US" sz="2000" dirty="0">
                <a:latin typeface="Arial" panose="020B0604020202020204" pitchFamily="34" charset="0"/>
                <a:cs typeface="Arial" panose="020B0604020202020204" pitchFamily="34" charset="0"/>
              </a:rPr>
              <a:t> PA &gt; </a:t>
            </a:r>
            <a:r>
              <a:rPr lang="en-US" sz="2000" dirty="0" err="1">
                <a:latin typeface="Arial" panose="020B0604020202020204" pitchFamily="34" charset="0"/>
                <a:cs typeface="Arial" panose="020B0604020202020204" pitchFamily="34" charset="0"/>
              </a:rPr>
              <a:t>Ppa</a:t>
            </a:r>
            <a:r>
              <a:rPr lang="en-US" sz="2000" dirty="0">
                <a:latin typeface="Arial" panose="020B0604020202020204" pitchFamily="34" charset="0"/>
                <a:cs typeface="Arial" panose="020B0604020202020204" pitchFamily="34" charset="0"/>
              </a:rPr>
              <a:t> &gt; </a:t>
            </a:r>
            <a:r>
              <a:rPr lang="en-US" sz="2000" dirty="0" err="1">
                <a:latin typeface="Arial" panose="020B0604020202020204" pitchFamily="34" charset="0"/>
                <a:cs typeface="Arial" panose="020B0604020202020204" pitchFamily="34" charset="0"/>
              </a:rPr>
              <a:t>Ppv</a:t>
            </a:r>
            <a:r>
              <a:rPr lang="en-US" sz="2000" dirty="0">
                <a:latin typeface="Arial" panose="020B0604020202020204" pitchFamily="34" charset="0"/>
                <a:cs typeface="Arial" panose="020B0604020202020204" pitchFamily="34" charset="0"/>
              </a:rPr>
              <a:t>. </a:t>
            </a:r>
          </a:p>
          <a:p>
            <a:r>
              <a:rPr lang="en-US" sz="2400" dirty="0">
                <a:latin typeface="Arial" panose="020B0604020202020204" pitchFamily="34" charset="0"/>
                <a:cs typeface="Arial" panose="020B0604020202020204" pitchFamily="34" charset="0"/>
              </a:rPr>
              <a:t>PA transmitted to the pulmonary capillaries promotes their collapse, with a consequent theoretical blood flow of zero to this lung region. </a:t>
            </a:r>
          </a:p>
          <a:p>
            <a:pPr lvl="1"/>
            <a:r>
              <a:rPr lang="en-US" sz="2000" dirty="0">
                <a:latin typeface="Arial" panose="020B0604020202020204" pitchFamily="34" charset="0"/>
                <a:cs typeface="Arial" panose="020B0604020202020204" pitchFamily="34" charset="0"/>
              </a:rPr>
              <a:t>Thus, Zone 1 receives ventilation in the absence of perfusion. </a:t>
            </a:r>
          </a:p>
          <a:p>
            <a:pPr lvl="1"/>
            <a:endParaRPr lang="en-US" sz="20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This relationship is referred to as alveolar dead space ventilation.</a:t>
            </a:r>
          </a:p>
          <a:p>
            <a:pPr lvl="1"/>
            <a:r>
              <a:rPr lang="en-US" sz="2400" dirty="0">
                <a:latin typeface="Arial" panose="020B0604020202020204" pitchFamily="34" charset="0"/>
                <a:cs typeface="Arial" panose="020B0604020202020204" pitchFamily="34" charset="0"/>
              </a:rPr>
              <a:t>Normally, Zone 1 areas exist only to a limited extent. </a:t>
            </a:r>
          </a:p>
          <a:p>
            <a:pPr lvl="1"/>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However, in conditions of decreased </a:t>
            </a:r>
            <a:r>
              <a:rPr lang="en-US" sz="2400" dirty="0" err="1">
                <a:latin typeface="Arial" panose="020B0604020202020204" pitchFamily="34" charset="0"/>
                <a:cs typeface="Arial" panose="020B0604020202020204" pitchFamily="34" charset="0"/>
              </a:rPr>
              <a:t>Ppa</a:t>
            </a:r>
            <a:r>
              <a:rPr lang="en-US" sz="2400" dirty="0">
                <a:latin typeface="Arial" panose="020B0604020202020204" pitchFamily="34" charset="0"/>
                <a:cs typeface="Arial" panose="020B0604020202020204" pitchFamily="34" charset="0"/>
              </a:rPr>
              <a:t>, such as hypovolemic shock, </a:t>
            </a:r>
          </a:p>
          <a:p>
            <a:pPr lvl="1"/>
            <a:r>
              <a:rPr lang="en-US" sz="2000" dirty="0">
                <a:latin typeface="Arial" panose="020B0604020202020204" pitchFamily="34" charset="0"/>
                <a:cs typeface="Arial" panose="020B0604020202020204" pitchFamily="34" charset="0"/>
              </a:rPr>
              <a:t>Zone 1 enlarges, thus increasing alveolar dead space ventilation. </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25</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84439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457200" y="1371600"/>
            <a:ext cx="8458200" cy="5105400"/>
          </a:xfrm>
        </p:spPr>
        <p:txBody>
          <a:bodyPr>
            <a:normAutofit/>
          </a:bodyPr>
          <a:lstStyle/>
          <a:p>
            <a:pPr>
              <a:buFont typeface="Wingdings" pitchFamily="2" charset="2"/>
              <a:buChar char="q"/>
            </a:pPr>
            <a:r>
              <a:rPr lang="en-US" sz="2800" b="1" dirty="0">
                <a:latin typeface="Arial" panose="020B0604020202020204" pitchFamily="34" charset="0"/>
                <a:cs typeface="Arial" panose="020B0604020202020204" pitchFamily="34" charset="0"/>
              </a:rPr>
              <a:t>Zone 2</a:t>
            </a:r>
          </a:p>
          <a:p>
            <a:r>
              <a:rPr lang="en-US" sz="2400" dirty="0">
                <a:latin typeface="Arial" panose="020B0604020202020204" pitchFamily="34" charset="0"/>
                <a:cs typeface="Arial" panose="020B0604020202020204" pitchFamily="34" charset="0"/>
              </a:rPr>
              <a:t>Occurs from the lower limit of Zone 1 to the upper limit of Zone 3, </a:t>
            </a:r>
          </a:p>
          <a:p>
            <a:pPr lvl="1"/>
            <a:r>
              <a:rPr lang="en-US" sz="2400" dirty="0">
                <a:latin typeface="Arial" panose="020B0604020202020204" pitchFamily="34" charset="0"/>
                <a:cs typeface="Arial" panose="020B0604020202020204" pitchFamily="34" charset="0"/>
              </a:rPr>
              <a:t>where </a:t>
            </a:r>
            <a:r>
              <a:rPr lang="en-US" sz="2400" dirty="0" err="1">
                <a:latin typeface="Arial" panose="020B0604020202020204" pitchFamily="34" charset="0"/>
                <a:cs typeface="Arial" panose="020B0604020202020204" pitchFamily="34" charset="0"/>
              </a:rPr>
              <a:t>Ppa</a:t>
            </a:r>
            <a:r>
              <a:rPr lang="en-US" sz="2400" dirty="0">
                <a:latin typeface="Arial" panose="020B0604020202020204" pitchFamily="34" charset="0"/>
                <a:cs typeface="Arial" panose="020B0604020202020204" pitchFamily="34" charset="0"/>
              </a:rPr>
              <a:t> &gt; PA &gt; </a:t>
            </a:r>
            <a:r>
              <a:rPr lang="en-US" sz="2400" dirty="0" err="1">
                <a:latin typeface="Arial" panose="020B0604020202020204" pitchFamily="34" charset="0"/>
                <a:cs typeface="Arial" panose="020B0604020202020204" pitchFamily="34" charset="0"/>
              </a:rPr>
              <a:t>Ppv</a:t>
            </a:r>
            <a:r>
              <a:rPr lang="en-US" sz="2400" dirty="0">
                <a:latin typeface="Arial" panose="020B0604020202020204" pitchFamily="34" charset="0"/>
                <a:cs typeface="Arial" panose="020B0604020202020204" pitchFamily="34" charset="0"/>
              </a:rPr>
              <a:t>. </a:t>
            </a:r>
          </a:p>
          <a:p>
            <a:pPr lvl="1"/>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Ppa</a:t>
            </a:r>
            <a:r>
              <a:rPr lang="en-US" sz="2400" dirty="0">
                <a:latin typeface="Arial" panose="020B0604020202020204" pitchFamily="34" charset="0"/>
                <a:cs typeface="Arial" panose="020B0604020202020204" pitchFamily="34" charset="0"/>
              </a:rPr>
              <a:t>-PA difference determines blood flow in Zone 2</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Well-matched ventilation and perfusion occur in Zone 2, which contains the majority of alveoli.</a:t>
            </a:r>
          </a:p>
          <a:p>
            <a:pPr marL="0" indent="0">
              <a:buNone/>
            </a:pPr>
            <a:endParaRPr lang="en-US" sz="3200" dirty="0">
              <a:solidFill>
                <a:srgbClr val="FF0000"/>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26</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21867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17884-28C4-7356-A1E5-BFA2D393BC0C}"/>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a:extLst>
              <a:ext uri="{FF2B5EF4-FFF2-40B4-BE49-F238E27FC236}">
                <a16:creationId xmlns:a16="http://schemas.microsoft.com/office/drawing/2014/main" id="{DA2BB603-15EF-670F-94DC-A353969C10B9}"/>
              </a:ext>
            </a:extLst>
          </p:cNvPr>
          <p:cNvSpPr>
            <a:spLocks noGrp="1"/>
          </p:cNvSpPr>
          <p:nvPr>
            <p:ph idx="1"/>
          </p:nvPr>
        </p:nvSpPr>
        <p:spPr/>
        <p:txBody>
          <a:bodyPr>
            <a:normAutofit/>
          </a:bodyPr>
          <a:lstStyle/>
          <a:p>
            <a:pPr>
              <a:buFont typeface="Wingdings" pitchFamily="2" charset="2"/>
              <a:buChar char="q"/>
            </a:pPr>
            <a:r>
              <a:rPr lang="en-US" sz="3000" b="1" dirty="0">
                <a:latin typeface="Arial" panose="020B0604020202020204" pitchFamily="34" charset="0"/>
                <a:cs typeface="Arial" panose="020B0604020202020204" pitchFamily="34" charset="0"/>
              </a:rPr>
              <a:t>Zone 3 </a:t>
            </a:r>
          </a:p>
          <a:p>
            <a:r>
              <a:rPr lang="en-US" sz="2400" dirty="0">
                <a:latin typeface="Arial" panose="020B0604020202020204" pitchFamily="34" charset="0"/>
                <a:cs typeface="Arial" panose="020B0604020202020204" pitchFamily="34" charset="0"/>
              </a:rPr>
              <a:t>occurs in the most </a:t>
            </a:r>
            <a:r>
              <a:rPr lang="en-US" sz="2400" dirty="0">
                <a:solidFill>
                  <a:srgbClr val="FF0000"/>
                </a:solidFill>
                <a:latin typeface="Arial" panose="020B0604020202020204" pitchFamily="34" charset="0"/>
                <a:cs typeface="Arial" panose="020B0604020202020204" pitchFamily="34" charset="0"/>
              </a:rPr>
              <a:t>gravity-dependen</a:t>
            </a:r>
            <a:r>
              <a:rPr lang="en-US" sz="2400" dirty="0">
                <a:latin typeface="Arial" panose="020B0604020202020204" pitchFamily="34" charset="0"/>
                <a:cs typeface="Arial" panose="020B0604020202020204" pitchFamily="34" charset="0"/>
              </a:rPr>
              <a:t>t areas of the lung </a:t>
            </a:r>
          </a:p>
          <a:p>
            <a:pPr lvl="1"/>
            <a:r>
              <a:rPr lang="en-US" sz="2300" dirty="0">
                <a:latin typeface="Arial" panose="020B0604020202020204" pitchFamily="34" charset="0"/>
                <a:cs typeface="Arial" panose="020B0604020202020204" pitchFamily="34" charset="0"/>
              </a:rPr>
              <a:t>where </a:t>
            </a:r>
            <a:r>
              <a:rPr lang="en-US" sz="2300" dirty="0" err="1">
                <a:latin typeface="Arial" panose="020B0604020202020204" pitchFamily="34" charset="0"/>
                <a:cs typeface="Arial" panose="020B0604020202020204" pitchFamily="34" charset="0"/>
              </a:rPr>
              <a:t>Ppa</a:t>
            </a:r>
            <a:r>
              <a:rPr lang="en-US" sz="2300" dirty="0">
                <a:latin typeface="Arial" panose="020B0604020202020204" pitchFamily="34" charset="0"/>
                <a:cs typeface="Arial" panose="020B0604020202020204" pitchFamily="34" charset="0"/>
              </a:rPr>
              <a:t> &gt; </a:t>
            </a:r>
            <a:r>
              <a:rPr lang="en-US" sz="2300" dirty="0" err="1">
                <a:latin typeface="Arial" panose="020B0604020202020204" pitchFamily="34" charset="0"/>
                <a:cs typeface="Arial" panose="020B0604020202020204" pitchFamily="34" charset="0"/>
              </a:rPr>
              <a:t>Ppv</a:t>
            </a:r>
            <a:r>
              <a:rPr lang="en-US" sz="2300" dirty="0">
                <a:latin typeface="Arial" panose="020B0604020202020204" pitchFamily="34" charset="0"/>
                <a:cs typeface="Arial" panose="020B0604020202020204" pitchFamily="34" charset="0"/>
              </a:rPr>
              <a:t> &gt; PA and</a:t>
            </a:r>
          </a:p>
          <a:p>
            <a:pPr lvl="1"/>
            <a:r>
              <a:rPr lang="en-US" sz="2300" dirty="0">
                <a:latin typeface="Arial" panose="020B0604020202020204" pitchFamily="34" charset="0"/>
                <a:cs typeface="Arial" panose="020B0604020202020204" pitchFamily="34" charset="0"/>
              </a:rPr>
              <a:t> blood flow is primarily governed by the </a:t>
            </a:r>
            <a:r>
              <a:rPr lang="en-US" sz="2300" dirty="0" err="1">
                <a:latin typeface="Arial" panose="020B0604020202020204" pitchFamily="34" charset="0"/>
                <a:cs typeface="Arial" panose="020B0604020202020204" pitchFamily="34" charset="0"/>
              </a:rPr>
              <a:t>Ppa</a:t>
            </a:r>
            <a:r>
              <a:rPr lang="en-US" sz="2300" dirty="0">
                <a:latin typeface="Arial" panose="020B0604020202020204" pitchFamily="34" charset="0"/>
                <a:cs typeface="Arial" panose="020B0604020202020204" pitchFamily="34" charset="0"/>
              </a:rPr>
              <a:t> to </a:t>
            </a:r>
            <a:r>
              <a:rPr lang="en-US" sz="2300" dirty="0" err="1">
                <a:latin typeface="Arial" panose="020B0604020202020204" pitchFamily="34" charset="0"/>
                <a:cs typeface="Arial" panose="020B0604020202020204" pitchFamily="34" charset="0"/>
              </a:rPr>
              <a:t>PpV</a:t>
            </a:r>
            <a:r>
              <a:rPr lang="en-US" sz="2300" dirty="0">
                <a:latin typeface="Arial" panose="020B0604020202020204" pitchFamily="34" charset="0"/>
                <a:cs typeface="Arial" panose="020B0604020202020204" pitchFamily="34" charset="0"/>
              </a:rPr>
              <a:t> difference </a:t>
            </a:r>
          </a:p>
          <a:p>
            <a:r>
              <a:rPr lang="en-US" sz="2600" dirty="0">
                <a:latin typeface="Arial" panose="020B0604020202020204" pitchFamily="34" charset="0"/>
                <a:cs typeface="Arial" panose="020B0604020202020204" pitchFamily="34" charset="0"/>
              </a:rPr>
              <a:t>Because gravity also increases </a:t>
            </a:r>
            <a:r>
              <a:rPr lang="en-US" sz="2600" dirty="0" err="1">
                <a:latin typeface="Arial" panose="020B0604020202020204" pitchFamily="34" charset="0"/>
                <a:cs typeface="Arial" panose="020B0604020202020204" pitchFamily="34" charset="0"/>
              </a:rPr>
              <a:t>Ppv</a:t>
            </a:r>
            <a:r>
              <a:rPr lang="en-US" sz="2600" dirty="0">
                <a:latin typeface="Arial" panose="020B0604020202020204" pitchFamily="34" charset="0"/>
                <a:cs typeface="Arial" panose="020B0604020202020204" pitchFamily="34" charset="0"/>
              </a:rPr>
              <a:t>, the pulmonary capillaries become distended. </a:t>
            </a:r>
          </a:p>
          <a:p>
            <a:pPr lvl="1"/>
            <a:r>
              <a:rPr lang="en-US" sz="2600" dirty="0">
                <a:latin typeface="Arial" panose="020B0604020202020204" pitchFamily="34" charset="0"/>
                <a:cs typeface="Arial" panose="020B0604020202020204" pitchFamily="34" charset="0"/>
              </a:rPr>
              <a:t>Thus, perfusion in Zone 3 is lush, resulting in capillary perfusion in excess of ventilation, or </a:t>
            </a:r>
            <a:r>
              <a:rPr lang="en-US" sz="2600" dirty="0">
                <a:solidFill>
                  <a:srgbClr val="FF0000"/>
                </a:solidFill>
                <a:latin typeface="Arial" panose="020B0604020202020204" pitchFamily="34" charset="0"/>
                <a:cs typeface="Arial" panose="020B0604020202020204" pitchFamily="34" charset="0"/>
              </a:rPr>
              <a:t>physiologic shunt.</a:t>
            </a:r>
            <a:endParaRPr lang="en-US" sz="26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8707385-7AD3-2E04-3EA4-A321404AC8A5}"/>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27</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4004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8229600" cy="1143000"/>
          </a:xfrm>
        </p:spPr>
        <p:txBody>
          <a:bodyPr>
            <a:normAutofit fontScale="90000"/>
          </a:bodyPr>
          <a:lstStyle/>
          <a:p>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Cont…</a:t>
            </a:r>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143000"/>
            <a:ext cx="8534400" cy="5105400"/>
          </a:xfrm>
        </p:spPr>
        <p:txBody>
          <a:bodyPr>
            <a:normAutofit/>
          </a:bodyPr>
          <a:lstStyle/>
          <a:p>
            <a:pPr>
              <a:buFont typeface="Wingdings" pitchFamily="2" charset="2"/>
              <a:buChar char="q"/>
            </a:pPr>
            <a:r>
              <a:rPr lang="en-US" sz="3000" b="1" dirty="0">
                <a:latin typeface="Arial" panose="020B0604020202020204" pitchFamily="34" charset="0"/>
                <a:cs typeface="Arial" panose="020B0604020202020204" pitchFamily="34" charset="0"/>
              </a:rPr>
              <a:t>Ventilation–Perfusion Relationships</a:t>
            </a:r>
            <a:r>
              <a:rPr lang="en-US" sz="3000" dirty="0">
                <a:latin typeface="Arial" panose="020B0604020202020204" pitchFamily="34" charset="0"/>
                <a:cs typeface="Arial" panose="020B0604020202020204" pitchFamily="34" charset="0"/>
              </a:rPr>
              <a:t> </a:t>
            </a:r>
          </a:p>
          <a:p>
            <a:r>
              <a:rPr lang="en-US" sz="2200" dirty="0">
                <a:solidFill>
                  <a:srgbClr val="FF0000"/>
                </a:solidFill>
                <a:latin typeface="Arial" panose="020B0604020202020204" pitchFamily="34" charset="0"/>
                <a:cs typeface="Arial" panose="020B0604020202020204" pitchFamily="34" charset="0"/>
              </a:rPr>
              <a:t>The majority of blood flow is distributed to the gravity-dependent part of the lung. </a:t>
            </a:r>
          </a:p>
          <a:p>
            <a:r>
              <a:rPr lang="en-US" sz="2200" dirty="0">
                <a:latin typeface="Arial" panose="020B0604020202020204" pitchFamily="34" charset="0"/>
                <a:cs typeface="Arial" panose="020B0604020202020204" pitchFamily="34" charset="0"/>
              </a:rPr>
              <a:t>During a spontaneous breath, the largest portion of the TV also reaches the gravity-dependent part of the lung. </a:t>
            </a:r>
          </a:p>
          <a:p>
            <a:pPr lvl="1"/>
            <a:r>
              <a:rPr lang="en-US" sz="2200" dirty="0">
                <a:latin typeface="Arial" panose="020B0604020202020204" pitchFamily="34" charset="0"/>
                <a:cs typeface="Arial" panose="020B0604020202020204" pitchFamily="34" charset="0"/>
              </a:rPr>
              <a:t>Thus, the nondependent area of the lung receives a lower proportion of both ventilation (VA) and perfusion (Q), and</a:t>
            </a:r>
          </a:p>
          <a:p>
            <a:pPr lvl="1"/>
            <a:r>
              <a:rPr lang="en-US" sz="2200" dirty="0">
                <a:latin typeface="Arial" panose="020B0604020202020204" pitchFamily="34" charset="0"/>
                <a:cs typeface="Arial" panose="020B0604020202020204" pitchFamily="34" charset="0"/>
              </a:rPr>
              <a:t> dependent lung receives greater proportions of ventilation and perfusion. </a:t>
            </a:r>
          </a:p>
          <a:p>
            <a:r>
              <a:rPr lang="en-US" sz="2000" dirty="0">
                <a:latin typeface="Arial" panose="020B0604020202020204" pitchFamily="34" charset="0"/>
                <a:cs typeface="Arial" panose="020B0604020202020204" pitchFamily="34" charset="0"/>
              </a:rPr>
              <a:t>Nevertheless, ventilation and perfusion are not matched perfectly, and various V˙/Q˙ ratios result throughout the lung </a:t>
            </a:r>
            <a:br>
              <a:rPr lang="en-US"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28</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79887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457200" y="1371600"/>
            <a:ext cx="8382000" cy="4754563"/>
          </a:xfrm>
        </p:spPr>
        <p:txBody>
          <a:bodyPr>
            <a:normAutofit/>
          </a:bodyPr>
          <a:lstStyle/>
          <a:p>
            <a:r>
              <a:rPr lang="en-US" sz="2400" dirty="0">
                <a:latin typeface="Arial" panose="020B0604020202020204" pitchFamily="34" charset="0"/>
                <a:cs typeface="Arial" panose="020B0604020202020204" pitchFamily="34" charset="0"/>
              </a:rPr>
              <a:t>The ideal V˙/Q˙ ratio of 1 is believed to occur at approximately the level of the third rib. </a:t>
            </a:r>
          </a:p>
          <a:p>
            <a:pPr lvl="1"/>
            <a:r>
              <a:rPr lang="en-US" sz="2000" dirty="0">
                <a:latin typeface="Arial" panose="020B0604020202020204" pitchFamily="34" charset="0"/>
                <a:cs typeface="Arial" panose="020B0604020202020204" pitchFamily="34" charset="0"/>
              </a:rPr>
              <a:t>Above this level, ventilation occurs slightly in excess of perfusion, </a:t>
            </a:r>
          </a:p>
          <a:p>
            <a:pPr lvl="1"/>
            <a:r>
              <a:rPr lang="en-US" sz="2000" dirty="0">
                <a:latin typeface="Arial" panose="020B0604020202020204" pitchFamily="34" charset="0"/>
                <a:cs typeface="Arial" panose="020B0604020202020204" pitchFamily="34" charset="0"/>
              </a:rPr>
              <a:t>whereas below the third rib the V˙/Q˙ ratio becomes less than 1 </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29</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3901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Cont…</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619250"/>
            <a:ext cx="8534400" cy="361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04800" y="5253535"/>
            <a:ext cx="8534400" cy="923330"/>
          </a:xfrm>
          <a:prstGeom prst="rect">
            <a:avLst/>
          </a:prstGeom>
        </p:spPr>
        <p:txBody>
          <a:bodyPr wrap="square">
            <a:spAutoFit/>
          </a:bodyPr>
          <a:lstStyle/>
          <a:p>
            <a:r>
              <a:rPr lang="en-US" b="1" dirty="0"/>
              <a:t>Figure 15-6 </a:t>
            </a:r>
            <a:r>
              <a:rPr lang="en-US" dirty="0"/>
              <a:t>Distribution of ventilation, blood flow, and ventilation–perfusion ratio in the</a:t>
            </a:r>
            <a:br>
              <a:rPr lang="en-US" dirty="0"/>
            </a:br>
            <a:r>
              <a:rPr lang="en-US" dirty="0"/>
              <a:t>normal, upright lung. </a:t>
            </a:r>
            <a:br>
              <a:rPr lang="en-US" dirty="0"/>
            </a:br>
            <a:endParaRPr lang="en-US" dirty="0"/>
          </a:p>
        </p:txBody>
      </p:sp>
    </p:spTree>
    <p:extLst>
      <p:ext uri="{BB962C8B-B14F-4D97-AF65-F5344CB8AC3E}">
        <p14:creationId xmlns:p14="http://schemas.microsoft.com/office/powerpoint/2010/main" val="31405689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457200" y="1295400"/>
            <a:ext cx="8382000" cy="4830763"/>
          </a:xfrm>
        </p:spPr>
        <p:txBody>
          <a:bodyPr>
            <a:noAutofit/>
          </a:bodyPr>
          <a:lstStyle/>
          <a:p>
            <a:r>
              <a:rPr lang="en-US" sz="2000" dirty="0">
                <a:latin typeface="Arial" panose="020B0604020202020204" pitchFamily="34" charset="0"/>
                <a:cs typeface="Arial" panose="020B0604020202020204" pitchFamily="34" charset="0"/>
              </a:rPr>
              <a:t>In a simplified model, gas exchange units can be divided into</a:t>
            </a:r>
          </a:p>
          <a:p>
            <a:pPr lvl="1"/>
            <a:r>
              <a:rPr lang="en-US" sz="2000" dirty="0">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normal (V˙/Q˙ 1:1), </a:t>
            </a:r>
          </a:p>
          <a:p>
            <a:pPr lvl="1"/>
            <a:r>
              <a:rPr lang="en-US" sz="2000" dirty="0">
                <a:solidFill>
                  <a:srgbClr val="FF0000"/>
                </a:solidFill>
                <a:latin typeface="Arial" panose="020B0604020202020204" pitchFamily="34" charset="0"/>
                <a:cs typeface="Arial" panose="020B0604020202020204" pitchFamily="34" charset="0"/>
              </a:rPr>
              <a:t>dead space (V˙/Q˙ = 1:0), </a:t>
            </a:r>
          </a:p>
          <a:p>
            <a:pPr lvl="1"/>
            <a:r>
              <a:rPr lang="en-US" sz="2000" dirty="0">
                <a:solidFill>
                  <a:srgbClr val="FF0000"/>
                </a:solidFill>
                <a:latin typeface="Arial" panose="020B0604020202020204" pitchFamily="34" charset="0"/>
                <a:cs typeface="Arial" panose="020B0604020202020204" pitchFamily="34" charset="0"/>
              </a:rPr>
              <a:t>shunt (V˙/Q˙ = 0:1), or </a:t>
            </a:r>
          </a:p>
          <a:p>
            <a:pPr lvl="1"/>
            <a:r>
              <a:rPr lang="en-US" sz="2000" dirty="0">
                <a:solidFill>
                  <a:srgbClr val="FF0000"/>
                </a:solidFill>
                <a:latin typeface="Arial" panose="020B0604020202020204" pitchFamily="34" charset="0"/>
                <a:cs typeface="Arial" panose="020B0604020202020204" pitchFamily="34" charset="0"/>
              </a:rPr>
              <a:t>a silent unit (V˙/Q˙ =0:0) </a:t>
            </a:r>
          </a:p>
          <a:p>
            <a:r>
              <a:rPr lang="en-US" sz="2000" dirty="0">
                <a:latin typeface="Arial" panose="020B0604020202020204" pitchFamily="34" charset="0"/>
                <a:cs typeface="Arial" panose="020B0604020202020204" pitchFamily="34" charset="0"/>
              </a:rPr>
              <a:t> In the lungs of a healthy, upright, spontaneously breathing individual,</a:t>
            </a:r>
          </a:p>
          <a:p>
            <a:pPr lvl="1"/>
            <a:r>
              <a:rPr lang="en-US" sz="2000" dirty="0">
                <a:latin typeface="Arial" panose="020B0604020202020204" pitchFamily="34" charset="0"/>
                <a:cs typeface="Arial" panose="020B0604020202020204" pitchFamily="34" charset="0"/>
              </a:rPr>
              <a:t> the majority of alveolar–capillary units are normal gas exchange units. </a:t>
            </a:r>
          </a:p>
          <a:p>
            <a:r>
              <a:rPr lang="en-US" sz="2000" dirty="0">
                <a:latin typeface="Arial" panose="020B0604020202020204" pitchFamily="34" charset="0"/>
                <a:cs typeface="Arial" panose="020B0604020202020204" pitchFamily="34" charset="0"/>
              </a:rPr>
              <a:t>The V˙/Q˙ ratio varies between absolute shunt (in which V˙/Q˙ = 0) to absolute dead space (in which V˙/Q˙ = ∞ ). </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Rather than absolute shunt, most units with low V˙/Q˙ mismatch receive a small amount of ventilation relative to blood flow.</a:t>
            </a:r>
          </a:p>
          <a:p>
            <a:r>
              <a:rPr lang="en-US" sz="2000" dirty="0">
                <a:latin typeface="Arial" panose="020B0604020202020204" pitchFamily="34" charset="0"/>
                <a:cs typeface="Arial" panose="020B0604020202020204" pitchFamily="34" charset="0"/>
              </a:rPr>
              <a:t> Similarly, most dead space units are not absolute, but rather are characterized by low blood flow relative to ventilation. </a:t>
            </a:r>
            <a:br>
              <a:rPr lang="en-US"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31</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38123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457200" y="1143000"/>
            <a:ext cx="8458200" cy="5410200"/>
          </a:xfrm>
        </p:spPr>
        <p:txBody>
          <a:bodyPr>
            <a:noAutofit/>
          </a:bodyPr>
          <a:lstStyle/>
          <a:p>
            <a:r>
              <a:rPr lang="en-US" sz="2400" dirty="0">
                <a:latin typeface="Arial" panose="020B0604020202020204" pitchFamily="34" charset="0"/>
                <a:cs typeface="Arial" panose="020B0604020202020204" pitchFamily="34" charset="0"/>
              </a:rPr>
              <a:t>A V/Q ratio above 1 describes the condition where ventilation is excessive relative to capillary blood flow. </a:t>
            </a:r>
          </a:p>
          <a:p>
            <a:pPr lvl="1"/>
            <a:r>
              <a:rPr lang="en-US" sz="2000" dirty="0">
                <a:latin typeface="Arial" panose="020B0604020202020204" pitchFamily="34" charset="0"/>
                <a:cs typeface="Arial" panose="020B0604020202020204" pitchFamily="34" charset="0"/>
              </a:rPr>
              <a:t>The excess ventilation, known as </a:t>
            </a:r>
            <a:r>
              <a:rPr lang="en-US" sz="2000" dirty="0">
                <a:solidFill>
                  <a:srgbClr val="FF0000"/>
                </a:solidFill>
                <a:latin typeface="Arial" panose="020B0604020202020204" pitchFamily="34" charset="0"/>
                <a:cs typeface="Arial" panose="020B0604020202020204" pitchFamily="34" charset="0"/>
              </a:rPr>
              <a:t>dead space ventilation</a:t>
            </a:r>
            <a:r>
              <a:rPr lang="en-US" sz="2000" dirty="0">
                <a:latin typeface="Arial" panose="020B0604020202020204" pitchFamily="34" charset="0"/>
                <a:cs typeface="Arial" panose="020B0604020202020204" pitchFamily="34" charset="0"/>
              </a:rPr>
              <a:t>, does not participate in gas exchange with the blood. </a:t>
            </a:r>
          </a:p>
          <a:p>
            <a:r>
              <a:rPr lang="en-US" sz="2400" dirty="0">
                <a:latin typeface="Arial" panose="020B0604020202020204" pitchFamily="34" charset="0"/>
                <a:cs typeface="Arial" panose="020B0604020202020204" pitchFamily="34" charset="0"/>
              </a:rPr>
              <a:t>There are two types of dead space ventilation (VD).</a:t>
            </a:r>
          </a:p>
          <a:p>
            <a:pPr>
              <a:buClr>
                <a:srgbClr val="FF0000"/>
              </a:buClr>
            </a:pPr>
            <a:r>
              <a:rPr lang="en-US" sz="2400" dirty="0">
                <a:latin typeface="Arial" panose="020B0604020202020204" pitchFamily="34" charset="0"/>
                <a:cs typeface="Arial" panose="020B0604020202020204" pitchFamily="34" charset="0"/>
              </a:rPr>
              <a:t> </a:t>
            </a:r>
            <a:r>
              <a:rPr lang="en-US" sz="2400" dirty="0">
                <a:solidFill>
                  <a:srgbClr val="FF0000"/>
                </a:solidFill>
                <a:latin typeface="Arial" panose="020B0604020202020204" pitchFamily="34" charset="0"/>
                <a:cs typeface="Arial" panose="020B0604020202020204" pitchFamily="34" charset="0"/>
              </a:rPr>
              <a:t>Anatomic dead space</a:t>
            </a:r>
          </a:p>
          <a:p>
            <a:pPr lvl="1">
              <a:buClr>
                <a:srgbClr val="FF0000"/>
              </a:buClr>
            </a:pPr>
            <a:r>
              <a:rPr lang="en-US" sz="2000" dirty="0">
                <a:latin typeface="Arial" panose="020B0604020202020204" pitchFamily="34" charset="0"/>
                <a:cs typeface="Arial" panose="020B0604020202020204" pitchFamily="34" charset="0"/>
              </a:rPr>
              <a:t>It</a:t>
            </a:r>
            <a:r>
              <a:rPr lang="en-US" sz="2000" dirty="0">
                <a:solidFill>
                  <a:srgbClr val="FF0000"/>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is the gas in the large conducting airways that does not come in contact with capillaries (2ml/kg of ideal body weight) </a:t>
            </a:r>
          </a:p>
          <a:p>
            <a:pPr lvl="1">
              <a:buClr>
                <a:srgbClr val="FF0000"/>
              </a:buClr>
            </a:pPr>
            <a:r>
              <a:rPr lang="en-US" sz="2000" dirty="0">
                <a:latin typeface="Arial" panose="020B0604020202020204" pitchFamily="34" charset="0"/>
                <a:cs typeface="Arial" panose="020B0604020202020204" pitchFamily="34" charset="0"/>
              </a:rPr>
              <a:t>It is the fraction of the VT that remains in the “conducting” airways, </a:t>
            </a:r>
          </a:p>
          <a:p>
            <a:pPr lvl="1">
              <a:buClr>
                <a:srgbClr val="FF0000"/>
              </a:buClr>
            </a:pPr>
            <a:r>
              <a:rPr lang="en-US" sz="2000" dirty="0">
                <a:latin typeface="Arial" panose="020B0604020202020204" pitchFamily="34" charset="0"/>
                <a:cs typeface="Arial" panose="020B0604020202020204" pitchFamily="34" charset="0"/>
              </a:rPr>
              <a:t>50%  is  in the pharynx. </a:t>
            </a:r>
          </a:p>
          <a:p>
            <a:pPr lvl="1"/>
            <a:r>
              <a:rPr lang="en-US" sz="2000" dirty="0">
                <a:latin typeface="Arial" panose="020B0604020202020204" pitchFamily="34" charset="0"/>
                <a:cs typeface="Arial" panose="020B0604020202020204" pitchFamily="34" charset="0"/>
              </a:rPr>
              <a:t>It accounts for the majority of physiologic dead space </a:t>
            </a:r>
            <a:br>
              <a:rPr lang="en-US" sz="2000" dirty="0">
                <a:latin typeface="Arial" panose="020B0604020202020204" pitchFamily="34" charset="0"/>
                <a:cs typeface="Arial" panose="020B0604020202020204" pitchFamily="34" charset="0"/>
              </a:rPr>
            </a:br>
            <a:endParaRPr lang="en-US" sz="2000" dirty="0">
              <a:solidFill>
                <a:srgbClr val="00B0F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32</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152958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228600" y="1600200"/>
            <a:ext cx="8686800" cy="4525963"/>
          </a:xfrm>
        </p:spPr>
        <p:txBody>
          <a:bodyPr/>
          <a:lstStyle/>
          <a:p>
            <a:pPr>
              <a:buClr>
                <a:schemeClr val="tx1"/>
              </a:buClr>
              <a:buFont typeface="Wingdings" panose="05000000000000000000" pitchFamily="2" charset="2"/>
              <a:buChar char="q"/>
            </a:pPr>
            <a:r>
              <a:rPr lang="en-US" sz="2400" b="1" dirty="0">
                <a:latin typeface="Arial" panose="020B0604020202020204" pitchFamily="34" charset="0"/>
                <a:cs typeface="Arial" panose="020B0604020202020204" pitchFamily="34" charset="0"/>
              </a:rPr>
              <a:t>Physiologic dead space</a:t>
            </a:r>
          </a:p>
          <a:p>
            <a:pPr lvl="1">
              <a:buClr>
                <a:schemeClr val="tx1"/>
              </a:buClr>
              <a:buFont typeface="Arial" panose="020B0604020202020204" pitchFamily="34" charset="0"/>
              <a:buChar char="•"/>
            </a:pPr>
            <a:r>
              <a:rPr lang="en-US" sz="2400" dirty="0">
                <a:latin typeface="Arial" panose="020B0604020202020204" pitchFamily="34" charset="0"/>
                <a:cs typeface="Arial" panose="020B0604020202020204" pitchFamily="34" charset="0"/>
              </a:rPr>
              <a:t>It  is the alveolar gas that does not equilibrate fully with capillary blood or </a:t>
            </a:r>
          </a:p>
          <a:p>
            <a:pPr lvl="1">
              <a:buClr>
                <a:schemeClr val="tx1"/>
              </a:buClr>
              <a:buFont typeface="Arial" panose="020B0604020202020204" pitchFamily="34" charset="0"/>
              <a:buChar char="•"/>
            </a:pPr>
            <a:r>
              <a:rPr lang="en-US" sz="2400" dirty="0">
                <a:latin typeface="Arial" panose="020B0604020202020204" pitchFamily="34" charset="0"/>
                <a:cs typeface="Arial" panose="020B0604020202020204" pitchFamily="34" charset="0"/>
              </a:rPr>
              <a:t>it is any part of a VT that does not participate in gas exchange</a:t>
            </a:r>
          </a:p>
          <a:p>
            <a:pPr>
              <a:buClr>
                <a:schemeClr val="tx1"/>
              </a:buClr>
            </a:pPr>
            <a:endParaRPr lang="en-US" sz="2400" dirty="0">
              <a:latin typeface="Arial" panose="020B0604020202020204" pitchFamily="34" charset="0"/>
              <a:cs typeface="Arial" panose="020B0604020202020204" pitchFamily="34" charset="0"/>
            </a:endParaRPr>
          </a:p>
          <a:p>
            <a:pPr lvl="1">
              <a:buClr>
                <a:schemeClr val="tx1"/>
              </a:buClr>
              <a:buFont typeface="Arial" panose="020B0604020202020204" pitchFamily="34" charset="0"/>
              <a:buChar char="•"/>
            </a:pPr>
            <a:r>
              <a:rPr lang="en-US" sz="2400" dirty="0">
                <a:latin typeface="Arial" panose="020B0604020202020204" pitchFamily="34" charset="0"/>
                <a:cs typeface="Arial" panose="020B0604020202020204" pitchFamily="34" charset="0"/>
              </a:rPr>
              <a:t>In normal subjects, VD accounts </a:t>
            </a:r>
            <a:r>
              <a:rPr lang="en-US" sz="2400" b="1" dirty="0">
                <a:latin typeface="Arial" panose="020B0604020202020204" pitchFamily="34" charset="0"/>
                <a:cs typeface="Arial" panose="020B0604020202020204" pitchFamily="34" charset="0"/>
              </a:rPr>
              <a:t>for 20 -30% of the </a:t>
            </a:r>
            <a:r>
              <a:rPr lang="en-US" sz="2400" dirty="0">
                <a:latin typeface="Arial" panose="020B0604020202020204" pitchFamily="34" charset="0"/>
                <a:cs typeface="Arial" panose="020B0604020202020204" pitchFamily="34" charset="0"/>
              </a:rPr>
              <a:t>total ventilation (VT), so VD/VT = 0.2 to 0.3 </a:t>
            </a:r>
          </a:p>
          <a:p>
            <a:pPr>
              <a:buClr>
                <a:schemeClr val="tx1"/>
              </a:buClr>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33</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06381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85800" y="685800"/>
            <a:ext cx="8153400" cy="544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8384914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latin typeface="Times New Roman" pitchFamily="18" charset="0"/>
                <a:cs typeface="Times New Roman" pitchFamily="18" charset="0"/>
              </a:rPr>
              <a:t>Cont…</a:t>
            </a:r>
            <a:endParaRPr lang="en-US" dirty="0"/>
          </a:p>
        </p:txBody>
      </p:sp>
      <p:sp>
        <p:nvSpPr>
          <p:cNvPr id="3" name="Content Placeholder 2"/>
          <p:cNvSpPr>
            <a:spLocks noGrp="1"/>
          </p:cNvSpPr>
          <p:nvPr>
            <p:ph idx="1"/>
          </p:nvPr>
        </p:nvSpPr>
        <p:spPr>
          <a:xfrm>
            <a:off x="457200" y="1646237"/>
            <a:ext cx="8229600" cy="4525963"/>
          </a:xfrm>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582" y="838200"/>
            <a:ext cx="83058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06343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228600" y="1600200"/>
            <a:ext cx="8458200" cy="4525963"/>
          </a:xfrm>
        </p:spPr>
        <p:txBody>
          <a:bodyPr/>
          <a:lstStyle/>
          <a:p>
            <a:pPr lvl="0">
              <a:lnSpc>
                <a:spcPct val="150000"/>
              </a:lnSpc>
              <a:buClr>
                <a:srgbClr val="FF0000"/>
              </a:buClr>
              <a:buFont typeface="Symbol" pitchFamily="18" charset="2"/>
              <a:buChar char="ª"/>
            </a:pPr>
            <a:r>
              <a:rPr lang="en-US" sz="2400" dirty="0">
                <a:solidFill>
                  <a:srgbClr val="333333"/>
                </a:solidFill>
                <a:latin typeface="Arial" panose="020B0604020202020204" pitchFamily="34" charset="0"/>
                <a:cs typeface="Arial" panose="020B0604020202020204" pitchFamily="34" charset="0"/>
              </a:rPr>
              <a:t>Dead space ventilation increases when:</a:t>
            </a:r>
          </a:p>
          <a:p>
            <a:pPr lvl="1">
              <a:lnSpc>
                <a:spcPct val="150000"/>
              </a:lnSpc>
              <a:buClr>
                <a:schemeClr val="accent1"/>
              </a:buClr>
              <a:buFont typeface="Symbol" pitchFamily="18" charset="2"/>
              <a:buChar char="§"/>
            </a:pPr>
            <a:r>
              <a:rPr lang="en-US" sz="2000" dirty="0">
                <a:solidFill>
                  <a:srgbClr val="333333"/>
                </a:solidFill>
                <a:latin typeface="Arial" panose="020B0604020202020204" pitchFamily="34" charset="0"/>
                <a:cs typeface="Arial" panose="020B0604020202020204" pitchFamily="34" charset="0"/>
              </a:rPr>
              <a:t> the alveolar–capillary interface is destroyed (e.g., emphysema), </a:t>
            </a:r>
          </a:p>
          <a:p>
            <a:pPr lvl="1">
              <a:lnSpc>
                <a:spcPct val="150000"/>
              </a:lnSpc>
              <a:buClr>
                <a:schemeClr val="accent1"/>
              </a:buClr>
              <a:buFont typeface="Symbol" pitchFamily="18" charset="2"/>
              <a:buChar char="§"/>
            </a:pPr>
            <a:r>
              <a:rPr lang="en-US" sz="2000" dirty="0">
                <a:solidFill>
                  <a:srgbClr val="333333"/>
                </a:solidFill>
                <a:latin typeface="Arial" panose="020B0604020202020204" pitchFamily="34" charset="0"/>
                <a:cs typeface="Arial" panose="020B0604020202020204" pitchFamily="34" charset="0"/>
              </a:rPr>
              <a:t> blood flow is reduced (e.g., low cardiac output), or </a:t>
            </a:r>
          </a:p>
          <a:p>
            <a:pPr lvl="1">
              <a:lnSpc>
                <a:spcPct val="150000"/>
              </a:lnSpc>
              <a:buClr>
                <a:schemeClr val="accent1"/>
              </a:buClr>
              <a:buFont typeface="Symbol" pitchFamily="18" charset="2"/>
              <a:buChar char="§"/>
            </a:pPr>
            <a:r>
              <a:rPr lang="en-US" sz="2000" dirty="0">
                <a:solidFill>
                  <a:srgbClr val="333333"/>
                </a:solidFill>
                <a:latin typeface="Arial" panose="020B0604020202020204" pitchFamily="34" charset="0"/>
                <a:cs typeface="Arial" panose="020B0604020202020204" pitchFamily="34" charset="0"/>
              </a:rPr>
              <a:t> alveoli are over distended (e.g., positive-pressure ventilation).</a:t>
            </a:r>
            <a:r>
              <a:rPr lang="en-US" sz="2000" dirty="0">
                <a:solidFill>
                  <a:prstClr val="black"/>
                </a:solidFill>
                <a:latin typeface="Arial" panose="020B0604020202020204" pitchFamily="34" charset="0"/>
                <a:cs typeface="Arial" panose="020B0604020202020204" pitchFamily="34" charset="0"/>
              </a:rPr>
              <a:t> </a:t>
            </a:r>
            <a:br>
              <a:rPr lang="en-US" sz="2000" dirty="0">
                <a:solidFill>
                  <a:prstClr val="black"/>
                </a:solidFill>
                <a:latin typeface="Arial" panose="020B0604020202020204" pitchFamily="34" charset="0"/>
                <a:cs typeface="Arial" panose="020B0604020202020204" pitchFamily="34" charset="0"/>
              </a:rPr>
            </a:br>
            <a:br>
              <a:rPr lang="en-US" sz="2000" dirty="0">
                <a:solidFill>
                  <a:prstClr val="black"/>
                </a:solidFill>
                <a:latin typeface="Arial" panose="020B0604020202020204" pitchFamily="34" charset="0"/>
                <a:cs typeface="Arial" panose="020B0604020202020204" pitchFamily="34" charset="0"/>
              </a:rPr>
            </a:br>
            <a:endParaRPr lang="en-US" sz="2000" dirty="0">
              <a:solidFill>
                <a:prstClr val="black"/>
              </a:solidFill>
              <a:latin typeface="Arial" panose="020B0604020202020204" pitchFamily="34" charset="0"/>
              <a:cs typeface="Arial" panose="020B0604020202020204" pitchFamily="34" charset="0"/>
            </a:endParaRPr>
          </a:p>
          <a:p>
            <a:pPr>
              <a:lnSpc>
                <a:spcPct val="150000"/>
              </a:lnSpc>
              <a:buClr>
                <a:schemeClr val="accent1"/>
              </a:buClr>
              <a:buFont typeface="Symbol" pitchFamily="18" charset="2"/>
              <a:buChar char="§"/>
            </a:pPr>
            <a:endParaRPr lang="en-US"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36</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13302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152400" y="1295400"/>
            <a:ext cx="8763000" cy="5410200"/>
          </a:xfrm>
        </p:spPr>
        <p:txBody>
          <a:bodyPr>
            <a:noAutofit/>
          </a:bodyPr>
          <a:lstStyle/>
          <a:p>
            <a:pPr algn="just"/>
            <a:r>
              <a:rPr lang="en-US" sz="2400" dirty="0">
                <a:latin typeface="Arial" panose="020B0604020202020204" pitchFamily="34" charset="0"/>
                <a:cs typeface="Arial" panose="020B0604020202020204" pitchFamily="34" charset="0"/>
              </a:rPr>
              <a:t>A V/Q ratio below 1 describes the condition where capillary blood flow is excessive relative to ventilation. </a:t>
            </a:r>
          </a:p>
          <a:p>
            <a:pPr lvl="1" algn="just"/>
            <a:r>
              <a:rPr lang="en-US" sz="2000" dirty="0">
                <a:latin typeface="Arial" panose="020B0604020202020204" pitchFamily="34" charset="0"/>
                <a:cs typeface="Arial" panose="020B0604020202020204" pitchFamily="34" charset="0"/>
              </a:rPr>
              <a:t>The excess blood flow, known as </a:t>
            </a:r>
            <a:r>
              <a:rPr lang="en-US" sz="2000" dirty="0">
                <a:solidFill>
                  <a:srgbClr val="FF0000"/>
                </a:solidFill>
                <a:latin typeface="Arial" panose="020B0604020202020204" pitchFamily="34" charset="0"/>
                <a:cs typeface="Arial" panose="020B0604020202020204" pitchFamily="34" charset="0"/>
              </a:rPr>
              <a:t>intrapulmonary shunt, </a:t>
            </a:r>
            <a:r>
              <a:rPr lang="en-US" sz="2000" dirty="0">
                <a:latin typeface="Arial" panose="020B0604020202020204" pitchFamily="34" charset="0"/>
                <a:cs typeface="Arial" panose="020B0604020202020204" pitchFamily="34" charset="0"/>
              </a:rPr>
              <a:t>does not participate in pulmonary gas exchange. </a:t>
            </a: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37</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70369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93114"/>
          </a:xfrm>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457200" y="1600200"/>
            <a:ext cx="8229600" cy="4724400"/>
          </a:xfrm>
        </p:spPr>
        <p:txBody>
          <a:bodyPr>
            <a:normAutofit/>
          </a:bodyPr>
          <a:lstStyle/>
          <a:p>
            <a:pPr algn="just"/>
            <a:r>
              <a:rPr lang="en-US" sz="2600" b="1" dirty="0">
                <a:latin typeface="Arial" panose="020B0604020202020204" pitchFamily="34" charset="0"/>
                <a:cs typeface="Arial" panose="020B0604020202020204" pitchFamily="34" charset="0"/>
              </a:rPr>
              <a:t>Shunt</a:t>
            </a:r>
            <a:endParaRPr lang="en-US" b="1" dirty="0">
              <a:latin typeface="Arial" panose="020B0604020202020204" pitchFamily="34" charset="0"/>
              <a:cs typeface="Arial" panose="020B0604020202020204" pitchFamily="34" charset="0"/>
            </a:endParaRPr>
          </a:p>
          <a:p>
            <a:pPr lvl="1" algn="just"/>
            <a:r>
              <a:rPr lang="en-US" sz="1800" dirty="0">
                <a:latin typeface="Arial" panose="020B0604020202020204" pitchFamily="34" charset="0"/>
                <a:cs typeface="Arial" panose="020B0604020202020204" pitchFamily="34" charset="0"/>
              </a:rPr>
              <a:t>blood reaching the systemic circulation without being oxygenated via passage through the lungs.</a:t>
            </a:r>
          </a:p>
          <a:p>
            <a:pPr marL="514350" indent="-514350" algn="just">
              <a:buFont typeface="+mj-lt"/>
              <a:buAutoNum type="romanUcPeriod"/>
            </a:pPr>
            <a:r>
              <a:rPr lang="en-US" sz="2400" b="1" dirty="0">
                <a:solidFill>
                  <a:srgbClr val="FF0000"/>
                </a:solidFill>
                <a:latin typeface="Arial" panose="020B0604020202020204" pitchFamily="34" charset="0"/>
                <a:cs typeface="Arial" panose="020B0604020202020204" pitchFamily="34" charset="0"/>
              </a:rPr>
              <a:t>True shunt (anatomical shunt) </a:t>
            </a:r>
          </a:p>
          <a:p>
            <a:pPr marL="285750" lvl="1" algn="just">
              <a:buClr>
                <a:srgbClr val="FF0000"/>
              </a:buClr>
            </a:pPr>
            <a:r>
              <a:rPr lang="en-US" sz="2000" dirty="0">
                <a:latin typeface="Arial" panose="020B0604020202020204" pitchFamily="34" charset="0"/>
                <a:cs typeface="Arial" panose="020B0604020202020204" pitchFamily="34" charset="0"/>
              </a:rPr>
              <a:t>the total absence of exchange between capillary blood and alveolar gas (V/Q = 0); passes through an anatomic channel of the heart and does not pass through  the lungs. E.g. VSD</a:t>
            </a:r>
            <a:endParaRPr lang="en-US" sz="2600" dirty="0">
              <a:latin typeface="Arial" panose="020B0604020202020204" pitchFamily="34" charset="0"/>
              <a:cs typeface="Arial" panose="020B0604020202020204" pitchFamily="34" charset="0"/>
            </a:endParaRPr>
          </a:p>
          <a:p>
            <a:pPr marL="514350" indent="-514350" algn="just">
              <a:buClr>
                <a:srgbClr val="FF0000"/>
              </a:buClr>
              <a:buFont typeface="+mj-lt"/>
              <a:buAutoNum type="romanUcPeriod"/>
            </a:pPr>
            <a:r>
              <a:rPr lang="en-US" sz="2400" b="1" dirty="0">
                <a:solidFill>
                  <a:srgbClr val="FF0000"/>
                </a:solidFill>
                <a:latin typeface="Arial" panose="020B0604020202020204" pitchFamily="34" charset="0"/>
                <a:cs typeface="Arial" panose="020B0604020202020204" pitchFamily="34" charset="0"/>
              </a:rPr>
              <a:t>Intrapulmonary</a:t>
            </a:r>
            <a:r>
              <a:rPr lang="en-US" sz="2800" b="1" dirty="0">
                <a:solidFill>
                  <a:srgbClr val="FF0000"/>
                </a:solidFill>
                <a:latin typeface="Arial" panose="020B0604020202020204" pitchFamily="34" charset="0"/>
                <a:cs typeface="Arial" panose="020B0604020202020204" pitchFamily="34" charset="0"/>
              </a:rPr>
              <a:t> shunt</a:t>
            </a:r>
          </a:p>
          <a:p>
            <a:pPr marL="400050" lvl="1" indent="-400050" algn="just">
              <a:buClr>
                <a:srgbClr val="FF0000"/>
              </a:buClr>
            </a:pPr>
            <a:r>
              <a:rPr lang="en-US" sz="2000" dirty="0">
                <a:latin typeface="Arial" panose="020B0604020202020204" pitchFamily="34" charset="0"/>
                <a:cs typeface="Arial" panose="020B0604020202020204" pitchFamily="34" charset="0"/>
              </a:rPr>
              <a:t>blood flows through pulmonary capillaries without participating in gas exchange. E.g. alveoli filled with fluid</a:t>
            </a:r>
          </a:p>
          <a:p>
            <a:endParaRPr lang="en-US"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a:xfrm>
            <a:off x="6553200" y="6356350"/>
            <a:ext cx="2133600" cy="381134"/>
          </a:xfrm>
        </p:spPr>
        <p:txBody>
          <a:bodyPr/>
          <a:lstStyle/>
          <a:p>
            <a:fld id="{B6F15528-21DE-4FAA-801E-634DDDAF4B2B}" type="slidenum">
              <a:rPr lang="en-US" smtClean="0">
                <a:latin typeface="Arial" panose="020B0604020202020204" pitchFamily="34" charset="0"/>
                <a:cs typeface="Arial" panose="020B0604020202020204" pitchFamily="34" charset="0"/>
              </a:rPr>
              <a:pPr/>
              <a:t>38</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85840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304800" y="1417638"/>
            <a:ext cx="8610600" cy="4708525"/>
          </a:xfrm>
        </p:spPr>
        <p:txBody>
          <a:bodyPr>
            <a:normAutofit/>
          </a:bodyPr>
          <a:lstStyle/>
          <a:p>
            <a:pPr algn="just"/>
            <a:r>
              <a:rPr lang="en-US" sz="2400" dirty="0">
                <a:latin typeface="Arial" panose="020B0604020202020204" pitchFamily="34" charset="0"/>
                <a:cs typeface="Arial" panose="020B0604020202020204" pitchFamily="34" charset="0"/>
              </a:rPr>
              <a:t>The fraction of the cardiac output that represents intrapulmonary shunt is known as the </a:t>
            </a:r>
            <a:r>
              <a:rPr lang="en-US" sz="2400"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shunt fraction</a:t>
            </a:r>
            <a:r>
              <a:rPr lang="en-US" sz="2400" dirty="0">
                <a:latin typeface="Arial" panose="020B0604020202020204" pitchFamily="34" charset="0"/>
                <a:cs typeface="Arial" panose="020B0604020202020204" pitchFamily="34" charset="0"/>
              </a:rPr>
              <a:t>. </a:t>
            </a:r>
          </a:p>
          <a:p>
            <a:pPr lvl="1" algn="just"/>
            <a:r>
              <a:rPr lang="en-US" sz="2200" dirty="0">
                <a:latin typeface="Arial" panose="020B0604020202020204" pitchFamily="34" charset="0"/>
                <a:cs typeface="Arial" panose="020B0604020202020204" pitchFamily="34" charset="0"/>
              </a:rPr>
              <a:t>In normal subjects, intrapulmonary shunt flow (Qs) represents less than 10% of the total cardiac output (</a:t>
            </a:r>
            <a:r>
              <a:rPr lang="en-US" sz="2200" dirty="0" err="1">
                <a:latin typeface="Arial" panose="020B0604020202020204" pitchFamily="34" charset="0"/>
                <a:cs typeface="Arial" panose="020B0604020202020204" pitchFamily="34" charset="0"/>
              </a:rPr>
              <a:t>Qt</a:t>
            </a:r>
            <a:r>
              <a:rPr lang="en-US" sz="2200" dirty="0">
                <a:latin typeface="Arial" panose="020B0604020202020204" pitchFamily="34" charset="0"/>
                <a:cs typeface="Arial" panose="020B0604020202020204" pitchFamily="34" charset="0"/>
              </a:rPr>
              <a:t>), </a:t>
            </a:r>
          </a:p>
          <a:p>
            <a:pPr lvl="2" algn="just"/>
            <a:r>
              <a:rPr lang="en-US" sz="2000" dirty="0">
                <a:solidFill>
                  <a:srgbClr val="FF0000"/>
                </a:solidFill>
                <a:latin typeface="Arial" panose="020B0604020202020204" pitchFamily="34" charset="0"/>
                <a:cs typeface="Arial" panose="020B0604020202020204" pitchFamily="34" charset="0"/>
              </a:rPr>
              <a:t>So, the shunt fraction (Qs/Qt) is less than 10% </a:t>
            </a:r>
            <a:br>
              <a:rPr lang="en-US" sz="2000" dirty="0">
                <a:solidFill>
                  <a:srgbClr val="FF0000"/>
                </a:solidFill>
                <a:latin typeface="Arial" panose="020B0604020202020204" pitchFamily="34" charset="0"/>
                <a:cs typeface="Arial" panose="020B0604020202020204" pitchFamily="34" charset="0"/>
              </a:rPr>
            </a:br>
            <a:r>
              <a:rPr lang="en-US" sz="2000" dirty="0">
                <a:solidFill>
                  <a:srgbClr val="FF0000"/>
                </a:solidFill>
                <a:latin typeface="Arial" panose="020B0604020202020204" pitchFamily="34" charset="0"/>
                <a:cs typeface="Arial" panose="020B0604020202020204" pitchFamily="34" charset="0"/>
              </a:rPr>
              <a:t> </a:t>
            </a:r>
            <a:br>
              <a:rPr lang="en-US" sz="2000" dirty="0">
                <a:solidFill>
                  <a:srgbClr val="FF0000"/>
                </a:solidFill>
                <a:latin typeface="Arial" panose="020B0604020202020204" pitchFamily="34" charset="0"/>
                <a:cs typeface="Arial" panose="020B0604020202020204" pitchFamily="34" charset="0"/>
              </a:rPr>
            </a:br>
            <a:endParaRPr lang="en-US" sz="2000" dirty="0">
              <a:solidFill>
                <a:srgbClr val="FF0000"/>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39</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69531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457200" y="1493837"/>
            <a:ext cx="8534400" cy="4678363"/>
          </a:xfrm>
        </p:spPr>
        <p:txBody>
          <a:bodyPr>
            <a:normAutofit/>
          </a:bodyPr>
          <a:lstStyle/>
          <a:p>
            <a:r>
              <a:rPr lang="en-US" sz="2400" dirty="0">
                <a:latin typeface="Arial" panose="020B0604020202020204" pitchFamily="34" charset="0"/>
                <a:cs typeface="Arial" panose="020B0604020202020204" pitchFamily="34" charset="0"/>
              </a:rPr>
              <a:t>Conditions which increases intrapulmonary shunt fraction:  </a:t>
            </a:r>
          </a:p>
          <a:p>
            <a:pPr lvl="1" algn="just"/>
            <a:r>
              <a:rPr lang="en-US" sz="2200" dirty="0">
                <a:latin typeface="Arial" panose="020B0604020202020204" pitchFamily="34" charset="0"/>
                <a:cs typeface="Arial" panose="020B0604020202020204" pitchFamily="34" charset="0"/>
              </a:rPr>
              <a:t>occlusion of small airways  (e.g., asthma),</a:t>
            </a:r>
          </a:p>
          <a:p>
            <a:pPr lvl="1" algn="just"/>
            <a:r>
              <a:rPr lang="en-US" sz="2200" dirty="0">
                <a:latin typeface="Arial" panose="020B0604020202020204" pitchFamily="34" charset="0"/>
                <a:cs typeface="Arial" panose="020B0604020202020204" pitchFamily="34" charset="0"/>
              </a:rPr>
              <a:t>when alveoli are filled with fluid (e.g., pulmonary edema, pneumonia)</a:t>
            </a:r>
          </a:p>
          <a:p>
            <a:pPr lvl="1" algn="just"/>
            <a:r>
              <a:rPr lang="en-US" sz="2200" dirty="0">
                <a:latin typeface="Arial" panose="020B0604020202020204" pitchFamily="34" charset="0"/>
                <a:cs typeface="Arial" panose="020B0604020202020204" pitchFamily="34" charset="0"/>
              </a:rPr>
              <a:t>when alveoli  collapse (e.g., atelectasis), or </a:t>
            </a:r>
          </a:p>
          <a:p>
            <a:pPr lvl="1" algn="just"/>
            <a:r>
              <a:rPr lang="en-US" sz="2200" dirty="0">
                <a:latin typeface="Arial" panose="020B0604020202020204" pitchFamily="34" charset="0"/>
                <a:cs typeface="Arial" panose="020B0604020202020204" pitchFamily="34" charset="0"/>
              </a:rPr>
              <a:t>when capillary flow is excessive (e.g., non </a:t>
            </a:r>
            <a:r>
              <a:rPr lang="en-US" sz="2200" dirty="0" err="1">
                <a:latin typeface="Arial" panose="020B0604020202020204" pitchFamily="34" charset="0"/>
                <a:cs typeface="Arial" panose="020B0604020202020204" pitchFamily="34" charset="0"/>
              </a:rPr>
              <a:t>embolized</a:t>
            </a:r>
            <a:r>
              <a:rPr lang="en-US" sz="2200" dirty="0">
                <a:latin typeface="Arial" panose="020B0604020202020204" pitchFamily="34" charset="0"/>
                <a:cs typeface="Arial" panose="020B0604020202020204" pitchFamily="34" charset="0"/>
              </a:rPr>
              <a:t> regions of lung in pulmonary embolism</a:t>
            </a:r>
            <a:r>
              <a:rPr lang="en-US" sz="2400" dirty="0">
                <a:latin typeface="Arial" panose="020B0604020202020204" pitchFamily="34" charset="0"/>
                <a:cs typeface="Arial" panose="020B0604020202020204" pitchFamily="34" charset="0"/>
              </a:rPr>
              <a:t>) </a:t>
            </a: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40</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93072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457200" y="1066800"/>
            <a:ext cx="8458200" cy="5059363"/>
          </a:xfrm>
        </p:spPr>
        <p:txBody>
          <a:bodyPr>
            <a:normAutofit/>
          </a:bodyPr>
          <a:lstStyle/>
          <a:p>
            <a:pPr>
              <a:lnSpc>
                <a:spcPct val="150000"/>
              </a:lnSpc>
            </a:pPr>
            <a:r>
              <a:rPr lang="en-US" sz="2400" dirty="0">
                <a:latin typeface="Arial" panose="020B0604020202020204" pitchFamily="34" charset="0"/>
                <a:cs typeface="Arial" panose="020B0604020202020204" pitchFamily="34" charset="0"/>
              </a:rPr>
              <a:t>The PaO</a:t>
            </a:r>
            <a:r>
              <a:rPr lang="en-US" sz="18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 falls progressively as shunt fraction</a:t>
            </a:r>
            <a:r>
              <a:rPr lang="en-US" sz="2400" dirty="0">
                <a:latin typeface="Arial" panose="020B0604020202020204" pitchFamily="34" charset="0"/>
                <a:cs typeface="Arial" panose="020B0604020202020204" pitchFamily="34" charset="0"/>
                <a:sym typeface="Symbol"/>
              </a:rPr>
              <a:t></a:t>
            </a:r>
            <a:r>
              <a:rPr lang="en-US" sz="2400" dirty="0">
                <a:latin typeface="Arial" panose="020B0604020202020204" pitchFamily="34" charset="0"/>
                <a:cs typeface="Arial" panose="020B0604020202020204" pitchFamily="34" charset="0"/>
              </a:rPr>
              <a:t>, </a:t>
            </a:r>
          </a:p>
          <a:p>
            <a:pPr lvl="1">
              <a:lnSpc>
                <a:spcPct val="150000"/>
              </a:lnSpc>
            </a:pPr>
            <a:r>
              <a:rPr lang="en-US" sz="1800" dirty="0">
                <a:latin typeface="Arial" panose="020B0604020202020204" pitchFamily="34" charset="0"/>
                <a:cs typeface="Arial" panose="020B0604020202020204" pitchFamily="34" charset="0"/>
              </a:rPr>
              <a:t>but the PaCO2 remains constant until the shunt fraction exceeds 50%.</a:t>
            </a:r>
          </a:p>
          <a:p>
            <a:pPr lvl="1">
              <a:lnSpc>
                <a:spcPct val="150000"/>
              </a:lnSpc>
            </a:pPr>
            <a:endParaRPr lang="en-US" sz="20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The PaCO</a:t>
            </a:r>
            <a:r>
              <a:rPr lang="en-US" sz="16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 is often below normal in patients with increased intrapulmonary shunt as a result of:</a:t>
            </a:r>
          </a:p>
          <a:p>
            <a:pPr lvl="1"/>
            <a:r>
              <a:rPr lang="en-US" sz="2000" dirty="0">
                <a:solidFill>
                  <a:srgbClr val="FF0000"/>
                </a:solidFill>
                <a:latin typeface="Arial" panose="020B0604020202020204" pitchFamily="34" charset="0"/>
                <a:cs typeface="Arial" panose="020B0604020202020204" pitchFamily="34" charset="0"/>
              </a:rPr>
              <a:t> hyperventilation triggered by the disease process (e.g., sepsis) or by the accompanying hypoxemia. </a:t>
            </a:r>
            <a:br>
              <a:rPr lang="en-US" sz="2000" dirty="0">
                <a:solidFill>
                  <a:srgbClr val="FF0000"/>
                </a:solidFill>
                <a:latin typeface="Arial" panose="020B0604020202020204" pitchFamily="34" charset="0"/>
                <a:cs typeface="Arial" panose="020B0604020202020204" pitchFamily="34" charset="0"/>
              </a:rPr>
            </a:br>
            <a:endParaRPr lang="en-US" sz="2000" dirty="0">
              <a:solidFill>
                <a:srgbClr val="FF0000"/>
              </a:solidFill>
              <a:latin typeface="Arial" panose="020B0604020202020204" pitchFamily="34" charset="0"/>
              <a:cs typeface="Arial" panose="020B0604020202020204" pitchFamily="34" charset="0"/>
            </a:endParaRPr>
          </a:p>
          <a:p>
            <a:pPr>
              <a:lnSpc>
                <a:spcPct val="150000"/>
              </a:lnSpc>
            </a:pPr>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41</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51914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Cont…</a:t>
            </a:r>
            <a:endParaRPr lang="en-US" dirty="0"/>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066800"/>
            <a:ext cx="82296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7252274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381000" y="1143000"/>
            <a:ext cx="8534400" cy="5257800"/>
          </a:xfrm>
        </p:spPr>
        <p:txBody>
          <a:bodyPr>
            <a:normAutofit/>
          </a:bodyPr>
          <a:lstStyle/>
          <a:p>
            <a:pPr>
              <a:buFont typeface="Wingdings" pitchFamily="2" charset="2"/>
              <a:buChar char="q"/>
            </a:pPr>
            <a:r>
              <a:rPr lang="en-US" sz="2200" b="1" dirty="0">
                <a:latin typeface="Arial" panose="020B0604020202020204" pitchFamily="34" charset="0"/>
                <a:cs typeface="Arial" panose="020B0604020202020204" pitchFamily="34" charset="0"/>
              </a:rPr>
              <a:t>Inhaled Oxygen</a:t>
            </a:r>
          </a:p>
          <a:p>
            <a:pPr lvl="1">
              <a:buFont typeface="Wingdings" pitchFamily="2" charset="2"/>
              <a:buChar char="ü"/>
            </a:pPr>
            <a:r>
              <a:rPr lang="en-US" sz="1800" dirty="0">
                <a:latin typeface="Arial" panose="020B0604020202020204" pitchFamily="34" charset="0"/>
                <a:cs typeface="Arial" panose="020B0604020202020204" pitchFamily="34" charset="0"/>
              </a:rPr>
              <a:t>The </a:t>
            </a:r>
            <a:r>
              <a:rPr lang="en-US" sz="1800" dirty="0">
                <a:solidFill>
                  <a:srgbClr val="FF0000"/>
                </a:solidFill>
                <a:latin typeface="Arial" panose="020B0604020202020204" pitchFamily="34" charset="0"/>
                <a:cs typeface="Arial" panose="020B0604020202020204" pitchFamily="34" charset="0"/>
              </a:rPr>
              <a:t>Qs/</a:t>
            </a:r>
            <a:r>
              <a:rPr lang="en-US" sz="1800" dirty="0" err="1">
                <a:solidFill>
                  <a:srgbClr val="FF0000"/>
                </a:solidFill>
                <a:latin typeface="Arial" panose="020B0604020202020204" pitchFamily="34" charset="0"/>
                <a:cs typeface="Arial" panose="020B0604020202020204" pitchFamily="34" charset="0"/>
              </a:rPr>
              <a:t>Qt</a:t>
            </a:r>
            <a:r>
              <a:rPr lang="en-US" sz="1800" dirty="0">
                <a:solidFill>
                  <a:srgbClr val="FF0000"/>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also determines the influence of inhaled oxygen on PaO2.  </a:t>
            </a:r>
          </a:p>
          <a:p>
            <a:pPr lvl="1">
              <a:buFont typeface="Wingdings" pitchFamily="2" charset="2"/>
              <a:buChar char="ü"/>
            </a:pPr>
            <a:r>
              <a:rPr lang="en-US" sz="1800" dirty="0">
                <a:latin typeface="Arial" panose="020B0604020202020204" pitchFamily="34" charset="0"/>
                <a:cs typeface="Arial" panose="020B0604020202020204" pitchFamily="34" charset="0"/>
              </a:rPr>
              <a:t>As intrapulmonary shunt increases from 10 to 50%, an increase in FiO2 produces less of an increment in the  PaO2. </a:t>
            </a:r>
          </a:p>
          <a:p>
            <a:pPr>
              <a:buClr>
                <a:srgbClr val="FF0000"/>
              </a:buClr>
              <a:buFont typeface="Symbol" pitchFamily="18" charset="2"/>
              <a:buChar char="§"/>
            </a:pPr>
            <a:r>
              <a:rPr lang="en-US" sz="2000" dirty="0">
                <a:latin typeface="Arial" panose="020B0604020202020204" pitchFamily="34" charset="0"/>
                <a:cs typeface="Arial" panose="020B0604020202020204" pitchFamily="34" charset="0"/>
              </a:rPr>
              <a:t>When the </a:t>
            </a:r>
            <a:r>
              <a:rPr lang="en-US" sz="2000" dirty="0">
                <a:solidFill>
                  <a:srgbClr val="FF0000"/>
                </a:solidFill>
                <a:latin typeface="Arial" panose="020B0604020202020204" pitchFamily="34" charset="0"/>
                <a:cs typeface="Arial" panose="020B0604020202020204" pitchFamily="34" charset="0"/>
              </a:rPr>
              <a:t>Qs/</a:t>
            </a:r>
            <a:r>
              <a:rPr lang="en-US" sz="2000" dirty="0" err="1">
                <a:solidFill>
                  <a:srgbClr val="FF0000"/>
                </a:solidFill>
                <a:latin typeface="Arial" panose="020B0604020202020204" pitchFamily="34" charset="0"/>
                <a:cs typeface="Arial" panose="020B0604020202020204" pitchFamily="34" charset="0"/>
              </a:rPr>
              <a:t>Qt</a:t>
            </a:r>
            <a:r>
              <a:rPr lang="en-US" sz="2000" dirty="0">
                <a:solidFill>
                  <a:srgbClr val="FF0000"/>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exceeds 50%, the PaO2 is independent of changes in FiO2, and the condition behaves like a true (anatomic) shunt.</a:t>
            </a:r>
          </a:p>
          <a:p>
            <a:pPr lvl="1">
              <a:buClr>
                <a:srgbClr val="FF0000"/>
              </a:buClr>
              <a:buFont typeface="Symbol" pitchFamily="18" charset="2"/>
              <a:buChar char="§"/>
            </a:pPr>
            <a:r>
              <a:rPr lang="en-US" sz="2000" dirty="0">
                <a:solidFill>
                  <a:srgbClr val="FF0000"/>
                </a:solidFill>
                <a:latin typeface="Arial" panose="020B0604020202020204" pitchFamily="34" charset="0"/>
                <a:cs typeface="Arial" panose="020B0604020202020204" pitchFamily="34" charset="0"/>
              </a:rPr>
              <a:t>This means that, in conditions associated with a high Qs/</a:t>
            </a:r>
            <a:r>
              <a:rPr lang="en-US" sz="2000" dirty="0" err="1">
                <a:solidFill>
                  <a:srgbClr val="FF0000"/>
                </a:solidFill>
                <a:latin typeface="Arial" panose="020B0604020202020204" pitchFamily="34" charset="0"/>
                <a:cs typeface="Arial" panose="020B0604020202020204" pitchFamily="34" charset="0"/>
              </a:rPr>
              <a:t>Qt</a:t>
            </a:r>
            <a:r>
              <a:rPr lang="en-US" sz="2000" dirty="0">
                <a:solidFill>
                  <a:srgbClr val="FF0000"/>
                </a:solidFill>
                <a:latin typeface="Arial" panose="020B0604020202020204" pitchFamily="34" charset="0"/>
                <a:cs typeface="Arial" panose="020B0604020202020204" pitchFamily="34" charset="0"/>
              </a:rPr>
              <a:t>  (e.g., acute respiratory distress syndrome), the FiO2 can often be lowered to non-toxic levels (FiO2 below 50%) without further compromising arterial oxygenation.</a:t>
            </a:r>
          </a:p>
          <a:p>
            <a:pPr lvl="1">
              <a:buClr>
                <a:srgbClr val="FF0000"/>
              </a:buClr>
              <a:buFont typeface="Symbol" pitchFamily="18" charset="2"/>
              <a:buChar char="§"/>
            </a:pPr>
            <a:r>
              <a:rPr lang="en-US" sz="2000" dirty="0">
                <a:latin typeface="Arial" panose="020B0604020202020204" pitchFamily="34" charset="0"/>
                <a:cs typeface="Arial" panose="020B0604020202020204" pitchFamily="34" charset="0"/>
              </a:rPr>
              <a:t> This can be a valuable maneuver for preventing pulmonary oxygen toxicity. </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43</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66819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Cont…</a:t>
            </a:r>
            <a:endParaRPr lang="en-US" dirty="0"/>
          </a:p>
        </p:txBody>
      </p:sp>
      <p:sp>
        <p:nvSpPr>
          <p:cNvPr id="3" name="Content Placeholder 2"/>
          <p:cNvSpPr>
            <a:spLocks noGrp="1"/>
          </p:cNvSpPr>
          <p:nvPr>
            <p:ph idx="1"/>
          </p:nvPr>
        </p:nvSpPr>
        <p:spPr>
          <a:xfrm>
            <a:off x="457200" y="914400"/>
            <a:ext cx="8382000" cy="5211763"/>
          </a:xfrm>
        </p:spPr>
        <p:txBody>
          <a:bodyPr/>
          <a:lstStyle/>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143000"/>
            <a:ext cx="7848600" cy="5181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7467807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FB4BD25E-607E-DCB7-FB8B-41AE5EFA4328}"/>
              </a:ext>
            </a:extLst>
          </p:cNvPr>
          <p:cNvGraphicFramePr>
            <a:graphicFrameLocks noGrp="1"/>
          </p:cNvGraphicFramePr>
          <p:nvPr>
            <p:ph idx="1"/>
            <p:extLst>
              <p:ext uri="{D42A27DB-BD31-4B8C-83A1-F6EECF244321}">
                <p14:modId xmlns:p14="http://schemas.microsoft.com/office/powerpoint/2010/main" val="2300175470"/>
              </p:ext>
            </p:extLst>
          </p:nvPr>
        </p:nvGraphicFramePr>
        <p:xfrm>
          <a:off x="457200" y="9906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41023794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Arial" panose="020B0604020202020204" pitchFamily="34" charset="0"/>
                <a:cs typeface="Arial" panose="020B0604020202020204" pitchFamily="34" charset="0"/>
              </a:rPr>
              <a:t>Definition </a:t>
            </a:r>
          </a:p>
        </p:txBody>
      </p:sp>
      <p:sp>
        <p:nvSpPr>
          <p:cNvPr id="3" name="Content Placeholder 2"/>
          <p:cNvSpPr>
            <a:spLocks noGrp="1"/>
          </p:cNvSpPr>
          <p:nvPr>
            <p:ph idx="1"/>
          </p:nvPr>
        </p:nvSpPr>
        <p:spPr>
          <a:xfrm>
            <a:off x="457200" y="1295400"/>
            <a:ext cx="8382000" cy="4953000"/>
          </a:xfrm>
        </p:spPr>
        <p:txBody>
          <a:bodyPr>
            <a:normAutofit/>
          </a:bodyPr>
          <a:lstStyle/>
          <a:p>
            <a:r>
              <a:rPr lang="en-US" sz="2200" dirty="0">
                <a:latin typeface="Arial" panose="020B0604020202020204" pitchFamily="34" charset="0"/>
                <a:cs typeface="Arial" panose="020B0604020202020204" pitchFamily="34" charset="0"/>
              </a:rPr>
              <a:t>Respiratory failure is defined as an inability of the heart and lungs to provide adequate tissue oxygenation and/or CO</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removal</a:t>
            </a:r>
          </a:p>
          <a:p>
            <a:pPr lvl="1"/>
            <a:r>
              <a:rPr lang="en-US" sz="2200" dirty="0">
                <a:latin typeface="Arial" panose="020B0604020202020204" pitchFamily="34" charset="0"/>
                <a:cs typeface="Arial" panose="020B0604020202020204" pitchFamily="34" charset="0"/>
              </a:rPr>
              <a:t>It refers to the inadequate exchange of gas by the cardiopulmonary system  </a:t>
            </a:r>
          </a:p>
          <a:p>
            <a:pPr lvl="1"/>
            <a:r>
              <a:rPr lang="en-US" sz="2200" dirty="0">
                <a:latin typeface="Arial" panose="020B0604020202020204" pitchFamily="34" charset="0"/>
                <a:cs typeface="Arial" panose="020B0604020202020204" pitchFamily="34" charset="0"/>
              </a:rPr>
              <a:t>It  may be defined as impairment of normal gas exchange severe enough to require acute therapeutic intervention  </a:t>
            </a:r>
          </a:p>
          <a:p>
            <a:pPr lvl="1"/>
            <a:r>
              <a:rPr lang="en-US" sz="2200" dirty="0">
                <a:latin typeface="Arial" panose="020B0604020202020204" pitchFamily="34" charset="0"/>
                <a:cs typeface="Arial" panose="020B0604020202020204" pitchFamily="34" charset="0"/>
              </a:rPr>
              <a:t>It is “inability to maintain either normal delivery of O</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to the tissues or the normal removal of CO</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from the tissues”</a:t>
            </a:r>
          </a:p>
          <a:p>
            <a:pPr lvl="1"/>
            <a:r>
              <a:rPr lang="en-US" sz="2200" dirty="0">
                <a:latin typeface="Arial" panose="020B0604020202020204" pitchFamily="34" charset="0"/>
                <a:cs typeface="Arial" panose="020B0604020202020204" pitchFamily="34" charset="0"/>
              </a:rPr>
              <a:t>Failure of gas exchange due to inadequate function of one or more essential components of respiratory system</a:t>
            </a: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46</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0933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304800" y="1371600"/>
            <a:ext cx="7848600" cy="4754563"/>
          </a:xfrm>
        </p:spPr>
        <p:txBody>
          <a:bodyPr>
            <a:normAutofit/>
          </a:bodyPr>
          <a:lstStyle/>
          <a:p>
            <a:pPr algn="just"/>
            <a:r>
              <a:rPr lang="en-US" sz="2400" dirty="0">
                <a:latin typeface="Arial" panose="020B0604020202020204" pitchFamily="34" charset="0"/>
                <a:cs typeface="Arial" panose="020B0604020202020204" pitchFamily="34" charset="0"/>
              </a:rPr>
              <a:t>It is conventionally defined by </a:t>
            </a:r>
          </a:p>
          <a:p>
            <a:pPr lvl="1" algn="just"/>
            <a:r>
              <a:rPr lang="en-US" sz="2400" dirty="0">
                <a:latin typeface="Arial" panose="020B0604020202020204" pitchFamily="34" charset="0"/>
                <a:cs typeface="Arial" panose="020B0604020202020204" pitchFamily="34" charset="0"/>
              </a:rPr>
              <a:t>an arterial O</a:t>
            </a:r>
            <a:r>
              <a:rPr lang="en-US" sz="18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 tension </a:t>
            </a:r>
            <a:r>
              <a:rPr lang="en-US" sz="2400" dirty="0">
                <a:solidFill>
                  <a:srgbClr val="FF0000"/>
                </a:solidFill>
                <a:latin typeface="Arial" panose="020B0604020202020204" pitchFamily="34" charset="0"/>
                <a:cs typeface="Arial" panose="020B0604020202020204" pitchFamily="34" charset="0"/>
              </a:rPr>
              <a:t>(PaO</a:t>
            </a:r>
            <a:r>
              <a:rPr lang="en-US" sz="1800" dirty="0">
                <a:solidFill>
                  <a:srgbClr val="FF0000"/>
                </a:solidFill>
                <a:latin typeface="Arial" panose="020B0604020202020204" pitchFamily="34" charset="0"/>
                <a:cs typeface="Arial" panose="020B0604020202020204" pitchFamily="34" charset="0"/>
              </a:rPr>
              <a:t>2</a:t>
            </a:r>
            <a:r>
              <a:rPr lang="en-US" sz="2400" dirty="0">
                <a:solidFill>
                  <a:srgbClr val="FF0000"/>
                </a:solidFill>
                <a:latin typeface="Arial" panose="020B0604020202020204" pitchFamily="34" charset="0"/>
                <a:cs typeface="Arial" panose="020B0604020202020204" pitchFamily="34" charset="0"/>
              </a:rPr>
              <a:t>) of &lt;8.0 kPa (60 mmHg), </a:t>
            </a:r>
          </a:p>
          <a:p>
            <a:pPr lvl="1"/>
            <a:r>
              <a:rPr lang="en-US" sz="2400" dirty="0">
                <a:latin typeface="Arial" panose="020B0604020202020204" pitchFamily="34" charset="0"/>
                <a:cs typeface="Arial" panose="020B0604020202020204" pitchFamily="34" charset="0"/>
              </a:rPr>
              <a:t>an arterial CO</a:t>
            </a:r>
            <a:r>
              <a:rPr lang="en-US" sz="18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 tension</a:t>
            </a:r>
            <a:r>
              <a:rPr lang="en-US" sz="2400" dirty="0">
                <a:solidFill>
                  <a:srgbClr val="FF0000"/>
                </a:solidFill>
                <a:latin typeface="Arial" panose="020B0604020202020204" pitchFamily="34" charset="0"/>
                <a:cs typeface="Arial" panose="020B0604020202020204" pitchFamily="34" charset="0"/>
              </a:rPr>
              <a:t> (PaCO</a:t>
            </a:r>
            <a:r>
              <a:rPr lang="en-US" sz="1800" dirty="0">
                <a:solidFill>
                  <a:srgbClr val="FF0000"/>
                </a:solidFill>
                <a:latin typeface="Arial" panose="020B0604020202020204" pitchFamily="34" charset="0"/>
                <a:cs typeface="Arial" panose="020B0604020202020204" pitchFamily="34" charset="0"/>
              </a:rPr>
              <a:t>2</a:t>
            </a:r>
            <a:r>
              <a:rPr lang="en-US" sz="2400" dirty="0">
                <a:solidFill>
                  <a:srgbClr val="FF0000"/>
                </a:solidFill>
                <a:latin typeface="Arial" panose="020B0604020202020204" pitchFamily="34" charset="0"/>
                <a:cs typeface="Arial" panose="020B0604020202020204" pitchFamily="34" charset="0"/>
              </a:rPr>
              <a:t>) of &gt;6.0 kPa (45 mmHg) or</a:t>
            </a:r>
          </a:p>
          <a:p>
            <a:pPr lvl="1"/>
            <a:r>
              <a:rPr lang="en-US" sz="2400" dirty="0">
                <a:solidFill>
                  <a:srgbClr val="FF0000"/>
                </a:solidFill>
                <a:latin typeface="Arial" panose="020B0604020202020204" pitchFamily="34" charset="0"/>
                <a:cs typeface="Arial" panose="020B0604020202020204" pitchFamily="34" charset="0"/>
              </a:rPr>
              <a:t>both </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47</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77809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6BB61-8586-8453-808D-182B2F2F123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Interactive question 3 </a:t>
            </a:r>
          </a:p>
        </p:txBody>
      </p:sp>
      <p:sp>
        <p:nvSpPr>
          <p:cNvPr id="3" name="Content Placeholder 2">
            <a:extLst>
              <a:ext uri="{FF2B5EF4-FFF2-40B4-BE49-F238E27FC236}">
                <a16:creationId xmlns:a16="http://schemas.microsoft.com/office/drawing/2014/main" id="{2725C7F9-86EB-8C55-1036-CF220E86E454}"/>
              </a:ext>
            </a:extLst>
          </p:cNvPr>
          <p:cNvSpPr>
            <a:spLocks noGrp="1"/>
          </p:cNvSpPr>
          <p:nvPr>
            <p:ph idx="1"/>
          </p:nvPr>
        </p:nvSpPr>
        <p:spPr/>
        <p:txBody>
          <a:bodyPr>
            <a:normAutofit/>
          </a:bodyPr>
          <a:lstStyle/>
          <a:p>
            <a:r>
              <a:rPr lang="en-US" sz="2400" dirty="0">
                <a:latin typeface="Arial" panose="020B0604020202020204" pitchFamily="34" charset="0"/>
                <a:cs typeface="Arial" panose="020B0604020202020204" pitchFamily="34" charset="0"/>
              </a:rPr>
              <a:t>What is the difference between respiratory failure vs ventilatory failure?</a:t>
            </a:r>
          </a:p>
          <a:p>
            <a:pPr lvl="1"/>
            <a:r>
              <a:rPr lang="en-US" sz="2200" dirty="0">
                <a:latin typeface="Arial" panose="020B0604020202020204" pitchFamily="34" charset="0"/>
                <a:cs typeface="Arial" panose="020B0604020202020204" pitchFamily="34" charset="0"/>
              </a:rPr>
              <a:t>Ventilatory failure: it is defined as an elevated PaCO</a:t>
            </a:r>
            <a:r>
              <a:rPr lang="en-US" sz="16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&gt; 45–50 mmHg. </a:t>
            </a:r>
          </a:p>
          <a:p>
            <a:pPr lvl="2"/>
            <a:r>
              <a:rPr lang="en-US" sz="2000" dirty="0">
                <a:latin typeface="Arial" panose="020B0604020202020204" pitchFamily="34" charset="0"/>
                <a:cs typeface="Arial" panose="020B0604020202020204" pitchFamily="34" charset="0"/>
              </a:rPr>
              <a:t>Other terms sometimes used to describe an elevated PaCO</a:t>
            </a:r>
            <a:r>
              <a:rPr lang="en-US" sz="16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(i.e., ventilatory failure) include</a:t>
            </a:r>
          </a:p>
          <a:p>
            <a:pPr lvl="3"/>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hypoventilation, </a:t>
            </a:r>
            <a:r>
              <a:rPr lang="en-US" sz="1600" dirty="0" err="1">
                <a:latin typeface="Arial" panose="020B0604020202020204" pitchFamily="34" charset="0"/>
                <a:cs typeface="Arial" panose="020B0604020202020204" pitchFamily="34" charset="0"/>
              </a:rPr>
              <a:t>hypercapnea</a:t>
            </a:r>
            <a:r>
              <a:rPr lang="en-US" sz="1600" dirty="0">
                <a:latin typeface="Arial" panose="020B0604020202020204" pitchFamily="34" charset="0"/>
                <a:cs typeface="Arial" panose="020B0604020202020204" pitchFamily="34" charset="0"/>
              </a:rPr>
              <a:t>, and </a:t>
            </a:r>
            <a:r>
              <a:rPr lang="en-US" sz="1600" b="1" dirty="0">
                <a:latin typeface="Arial" panose="020B0604020202020204" pitchFamily="34" charset="0"/>
                <a:cs typeface="Arial" panose="020B0604020202020204" pitchFamily="34" charset="0"/>
              </a:rPr>
              <a:t>respiratory acidosis.</a:t>
            </a:r>
            <a:endParaRPr lang="en-US" sz="16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16D3E0B-1066-1C6C-DF0E-F5EF07C3CB90}"/>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48</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04594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Arial" panose="020B0604020202020204" pitchFamily="34" charset="0"/>
                <a:cs typeface="Arial" panose="020B0604020202020204" pitchFamily="34" charset="0"/>
              </a:rPr>
              <a:t>Types of respiratory failure</a:t>
            </a:r>
          </a:p>
        </p:txBody>
      </p:sp>
      <p:sp>
        <p:nvSpPr>
          <p:cNvPr id="3" name="Content Placeholder 2"/>
          <p:cNvSpPr>
            <a:spLocks noGrp="1"/>
          </p:cNvSpPr>
          <p:nvPr>
            <p:ph idx="1"/>
          </p:nvPr>
        </p:nvSpPr>
        <p:spPr/>
        <p:txBody>
          <a:bodyPr>
            <a:normAutofit/>
          </a:bodyPr>
          <a:lstStyle/>
          <a:p>
            <a:r>
              <a:rPr lang="en-US" sz="2200" dirty="0">
                <a:latin typeface="Arial" panose="020B0604020202020204" pitchFamily="34" charset="0"/>
                <a:cs typeface="Arial" panose="020B0604020202020204" pitchFamily="34" charset="0"/>
              </a:rPr>
              <a:t>In order to distinguish between the types of respiratory failure, it is useful to determine the difference between:</a:t>
            </a:r>
          </a:p>
          <a:p>
            <a:pPr lvl="1"/>
            <a:r>
              <a:rPr lang="en-US" sz="2200" dirty="0">
                <a:latin typeface="Arial" panose="020B0604020202020204" pitchFamily="34" charset="0"/>
                <a:cs typeface="Arial" panose="020B0604020202020204" pitchFamily="34" charset="0"/>
              </a:rPr>
              <a:t>PAO</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and PaO</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or P(A-a)O</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a:t>
            </a:r>
          </a:p>
          <a:p>
            <a:pPr lvl="2"/>
            <a:r>
              <a:rPr lang="en-US" sz="2000" dirty="0">
                <a:latin typeface="Arial" panose="020B0604020202020204" pitchFamily="34" charset="0"/>
                <a:cs typeface="Arial" panose="020B0604020202020204" pitchFamily="34" charset="0"/>
              </a:rPr>
              <a:t>The PaCO</a:t>
            </a:r>
            <a:r>
              <a:rPr lang="en-US" sz="18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is obtained from an arterial blood gas, whereas the PAO</a:t>
            </a:r>
            <a:r>
              <a:rPr lang="en-US" sz="18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is calculated from the alveolar gas equation:</a:t>
            </a:r>
          </a:p>
          <a:p>
            <a:r>
              <a:rPr lang="en-US" sz="2200" dirty="0">
                <a:latin typeface="Arial" panose="020B0604020202020204" pitchFamily="34" charset="0"/>
                <a:cs typeface="Arial" panose="020B0604020202020204" pitchFamily="34" charset="0"/>
              </a:rPr>
              <a:t>PAO</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 PIO</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(PaCO</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/RQ )</a:t>
            </a:r>
          </a:p>
          <a:p>
            <a:pPr lvl="1"/>
            <a:r>
              <a:rPr lang="en-US" sz="2200" dirty="0">
                <a:latin typeface="Arial" panose="020B0604020202020204" pitchFamily="34" charset="0"/>
                <a:cs typeface="Arial" panose="020B0604020202020204" pitchFamily="34" charset="0"/>
              </a:rPr>
              <a:t>where PIO</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(PB - PH</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O)FIO</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=150 mmHg</a:t>
            </a:r>
          </a:p>
          <a:p>
            <a:pPr lvl="1"/>
            <a:r>
              <a:rPr lang="en-US" sz="2200" dirty="0">
                <a:latin typeface="Arial" panose="020B0604020202020204" pitchFamily="34" charset="0"/>
                <a:cs typeface="Arial" panose="020B0604020202020204" pitchFamily="34" charset="0"/>
              </a:rPr>
              <a:t>RQ = VCO</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/VO</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=0.8 </a:t>
            </a:r>
            <a:r>
              <a:rPr lang="en-US" sz="2200" dirty="0">
                <a:solidFill>
                  <a:srgbClr val="FF0000"/>
                </a:solidFill>
                <a:latin typeface="Arial" panose="020B0604020202020204" pitchFamily="34" charset="0"/>
                <a:cs typeface="Arial" panose="020B0604020202020204" pitchFamily="34" charset="0"/>
              </a:rPr>
              <a:t>where; VCO</a:t>
            </a:r>
            <a:r>
              <a:rPr lang="en-US" sz="1800" dirty="0">
                <a:solidFill>
                  <a:srgbClr val="FF0000"/>
                </a:solidFill>
                <a:latin typeface="Arial" panose="020B0604020202020204" pitchFamily="34" charset="0"/>
                <a:cs typeface="Arial" panose="020B0604020202020204" pitchFamily="34" charset="0"/>
              </a:rPr>
              <a:t>2</a:t>
            </a:r>
            <a:r>
              <a:rPr lang="en-US" sz="2200" dirty="0">
                <a:solidFill>
                  <a:srgbClr val="FF0000"/>
                </a:solidFill>
                <a:latin typeface="Arial" panose="020B0604020202020204" pitchFamily="34" charset="0"/>
                <a:cs typeface="Arial" panose="020B0604020202020204" pitchFamily="34" charset="0"/>
              </a:rPr>
              <a:t> is normally about 200 mL/min, VO</a:t>
            </a:r>
            <a:r>
              <a:rPr lang="en-US" sz="1800" dirty="0">
                <a:solidFill>
                  <a:srgbClr val="FF0000"/>
                </a:solidFill>
                <a:latin typeface="Arial" panose="020B0604020202020204" pitchFamily="34" charset="0"/>
                <a:cs typeface="Arial" panose="020B0604020202020204" pitchFamily="34" charset="0"/>
              </a:rPr>
              <a:t>2</a:t>
            </a:r>
            <a:r>
              <a:rPr lang="en-US" sz="2200" dirty="0">
                <a:solidFill>
                  <a:srgbClr val="FF0000"/>
                </a:solidFill>
                <a:latin typeface="Arial" panose="020B0604020202020204" pitchFamily="34" charset="0"/>
                <a:cs typeface="Arial" panose="020B0604020202020204" pitchFamily="34" charset="0"/>
              </a:rPr>
              <a:t> is approximately 250 mL/min.</a:t>
            </a:r>
          </a:p>
          <a:p>
            <a:r>
              <a:rPr lang="en-US" sz="2200" dirty="0">
                <a:latin typeface="Arial" panose="020B0604020202020204" pitchFamily="34" charset="0"/>
                <a:cs typeface="Arial" panose="020B0604020202020204" pitchFamily="34" charset="0"/>
              </a:rPr>
              <a:t>PAO</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 (PB - PH</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O)FIO</a:t>
            </a:r>
            <a:r>
              <a:rPr lang="en-US" sz="20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 PaCO</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/RQ </a:t>
            </a: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49</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35766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457200" y="1295400"/>
            <a:ext cx="8382000" cy="4830763"/>
          </a:xfrm>
        </p:spPr>
        <p:txBody>
          <a:bodyPr>
            <a:noAutofit/>
          </a:bodyPr>
          <a:lstStyle/>
          <a:p>
            <a:r>
              <a:rPr lang="en-US" sz="2400" dirty="0">
                <a:latin typeface="Arial" panose="020B0604020202020204" pitchFamily="34" charset="0"/>
                <a:cs typeface="Arial" panose="020B0604020202020204" pitchFamily="34" charset="0"/>
              </a:rPr>
              <a:t>P(A-a)O</a:t>
            </a:r>
            <a:r>
              <a:rPr lang="en-US" sz="18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 PAO</a:t>
            </a:r>
            <a:r>
              <a:rPr lang="en-US" sz="2000" dirty="0">
                <a:latin typeface="Arial" panose="020B0604020202020204" pitchFamily="34" charset="0"/>
                <a:cs typeface="Arial" panose="020B0604020202020204" pitchFamily="34" charset="0"/>
              </a:rPr>
              <a:t>2 – </a:t>
            </a:r>
            <a:r>
              <a:rPr lang="en-US" sz="2400" dirty="0">
                <a:latin typeface="Arial" panose="020B0604020202020204" pitchFamily="34" charset="0"/>
                <a:cs typeface="Arial" panose="020B0604020202020204" pitchFamily="34" charset="0"/>
              </a:rPr>
              <a:t>PaO</a:t>
            </a:r>
            <a:r>
              <a:rPr lang="en-US" sz="1800" dirty="0">
                <a:latin typeface="Arial" panose="020B0604020202020204" pitchFamily="34" charset="0"/>
                <a:cs typeface="Arial" panose="020B0604020202020204" pitchFamily="34" charset="0"/>
              </a:rPr>
              <a:t>2</a:t>
            </a:r>
          </a:p>
          <a:p>
            <a:pPr lvl="1"/>
            <a:r>
              <a:rPr lang="en-US" sz="16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 [(PB - PH</a:t>
            </a:r>
            <a:r>
              <a:rPr lang="en-US" sz="14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O)FIO</a:t>
            </a:r>
            <a:r>
              <a:rPr lang="en-US" sz="14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 (PaCO</a:t>
            </a:r>
            <a:r>
              <a:rPr lang="en-US" sz="14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/RQ)] - PaO</a:t>
            </a:r>
            <a:r>
              <a:rPr lang="en-US" sz="1800" dirty="0">
                <a:latin typeface="Arial" panose="020B0604020202020204" pitchFamily="34" charset="0"/>
                <a:cs typeface="Arial" panose="020B0604020202020204" pitchFamily="34" charset="0"/>
              </a:rPr>
              <a:t>2</a:t>
            </a:r>
          </a:p>
          <a:p>
            <a:pPr marL="457200" lvl="1" indent="0">
              <a:buNone/>
            </a:pPr>
            <a:r>
              <a:rPr lang="en-US" sz="2000" dirty="0">
                <a:latin typeface="Arial" panose="020B0604020202020204" pitchFamily="34" charset="0"/>
                <a:cs typeface="Arial" panose="020B0604020202020204" pitchFamily="34" charset="0"/>
              </a:rPr>
              <a:t> </a:t>
            </a:r>
          </a:p>
          <a:p>
            <a:r>
              <a:rPr lang="en-US" sz="2400" dirty="0">
                <a:latin typeface="Arial" panose="020B0604020202020204" pitchFamily="34" charset="0"/>
                <a:cs typeface="Arial" panose="020B0604020202020204" pitchFamily="34" charset="0"/>
              </a:rPr>
              <a:t>In a healthy subject breathing room air at sea level,</a:t>
            </a:r>
          </a:p>
          <a:p>
            <a:pPr lvl="1"/>
            <a:r>
              <a:rPr lang="en-US" sz="2000" dirty="0">
                <a:latin typeface="Arial" panose="020B0604020202020204" pitchFamily="34" charset="0"/>
                <a:cs typeface="Arial" panose="020B0604020202020204" pitchFamily="34" charset="0"/>
              </a:rPr>
              <a:t> FiO</a:t>
            </a:r>
            <a:r>
              <a:rPr lang="en-US" sz="16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 0.21, PB = 760 mm Hg, PH</a:t>
            </a:r>
            <a:r>
              <a:rPr lang="en-US" sz="16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O = 47 mm Hg, PaO</a:t>
            </a:r>
            <a:r>
              <a:rPr lang="en-US" sz="16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 90 mm Hg, PaCO</a:t>
            </a:r>
            <a:r>
              <a:rPr lang="en-US" sz="16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 40 mm Hg, and RQ = 0.8: </a:t>
            </a:r>
          </a:p>
          <a:p>
            <a:pPr marL="1257300" lvl="4" indent="-342900">
              <a:buFont typeface="Arial" panose="020B0604020202020204" pitchFamily="34" charset="0"/>
              <a:buChar char="•"/>
            </a:pPr>
            <a:r>
              <a:rPr lang="en-US" dirty="0">
                <a:solidFill>
                  <a:srgbClr val="FF0000"/>
                </a:solidFill>
                <a:latin typeface="Arial" panose="020B0604020202020204" pitchFamily="34" charset="0"/>
                <a:cs typeface="Arial" panose="020B0604020202020204" pitchFamily="34" charset="0"/>
              </a:rPr>
              <a:t>P(A-a)O</a:t>
            </a:r>
            <a:r>
              <a:rPr lang="en-US" sz="1600" dirty="0">
                <a:solidFill>
                  <a:srgbClr val="FF0000"/>
                </a:solidFill>
                <a:latin typeface="Arial" panose="020B0604020202020204" pitchFamily="34" charset="0"/>
                <a:cs typeface="Arial" panose="020B0604020202020204" pitchFamily="34" charset="0"/>
              </a:rPr>
              <a:t>2</a:t>
            </a:r>
            <a:r>
              <a:rPr lang="en-US" dirty="0">
                <a:solidFill>
                  <a:srgbClr val="FF0000"/>
                </a:solidFill>
                <a:latin typeface="Arial" panose="020B0604020202020204" pitchFamily="34" charset="0"/>
                <a:cs typeface="Arial" panose="020B0604020202020204" pitchFamily="34" charset="0"/>
              </a:rPr>
              <a:t>= 10 mmHg</a:t>
            </a:r>
            <a:endParaRPr lang="en-US" sz="1200" dirty="0">
              <a:solidFill>
                <a:srgbClr val="FF0000"/>
              </a:solidFill>
              <a:latin typeface="Arial" panose="020B0604020202020204" pitchFamily="34" charset="0"/>
              <a:cs typeface="Arial" panose="020B0604020202020204" pitchFamily="34" charset="0"/>
            </a:endParaRPr>
          </a:p>
          <a:p>
            <a:pPr marL="1257300" lvl="4" indent="-342900"/>
            <a:r>
              <a:rPr lang="en-US" sz="1600" dirty="0">
                <a:latin typeface="Arial" panose="020B0604020202020204" pitchFamily="34" charset="0"/>
                <a:cs typeface="Arial" panose="020B0604020202020204" pitchFamily="34" charset="0"/>
              </a:rPr>
              <a:t>Therefore, </a:t>
            </a:r>
            <a:r>
              <a:rPr lang="en-US" sz="1600" b="1" dirty="0">
                <a:latin typeface="Arial" panose="020B0604020202020204" pitchFamily="34" charset="0"/>
                <a:cs typeface="Arial" panose="020B0604020202020204" pitchFamily="34" charset="0"/>
              </a:rPr>
              <a:t>normal P(A-a)O</a:t>
            </a:r>
            <a:r>
              <a:rPr lang="en-US" sz="1400" b="1" dirty="0">
                <a:latin typeface="Arial" panose="020B0604020202020204" pitchFamily="34" charset="0"/>
                <a:cs typeface="Arial" panose="020B0604020202020204" pitchFamily="34" charset="0"/>
              </a:rPr>
              <a:t>2</a:t>
            </a:r>
            <a:r>
              <a:rPr lang="en-US" sz="1600" b="1" dirty="0">
                <a:latin typeface="Arial" panose="020B0604020202020204" pitchFamily="34" charset="0"/>
                <a:cs typeface="Arial" panose="020B0604020202020204" pitchFamily="34" charset="0"/>
              </a:rPr>
              <a:t> when a person is breathing room air is less than 15 mm Hg </a:t>
            </a:r>
            <a:r>
              <a:rPr lang="en-US" sz="1600" dirty="0">
                <a:latin typeface="Arial" panose="020B0604020202020204" pitchFamily="34" charset="0"/>
                <a:cs typeface="Arial" panose="020B0604020202020204" pitchFamily="34" charset="0"/>
              </a:rPr>
              <a:t>and increases linearly with age and FIO</a:t>
            </a:r>
            <a:r>
              <a:rPr lang="en-US" sz="1200" dirty="0">
                <a:latin typeface="Arial" panose="020B0604020202020204" pitchFamily="34" charset="0"/>
                <a:cs typeface="Arial" panose="020B0604020202020204" pitchFamily="34" charset="0"/>
              </a:rPr>
              <a:t>2</a:t>
            </a:r>
            <a:r>
              <a:rPr lang="en-US" sz="1600" dirty="0">
                <a:latin typeface="Arial" panose="020B0604020202020204" pitchFamily="34" charset="0"/>
                <a:cs typeface="Arial" panose="020B0604020202020204" pitchFamily="34" charset="0"/>
              </a:rPr>
              <a:t>. </a:t>
            </a:r>
          </a:p>
          <a:p>
            <a:pPr marL="342900" lvl="1" indent="-342900">
              <a:buFont typeface="Arial" pitchFamily="34" charset="0"/>
              <a:buChar char="•"/>
            </a:pPr>
            <a:r>
              <a:rPr lang="en-US" sz="2000" dirty="0">
                <a:latin typeface="Arial" panose="020B0604020202020204" pitchFamily="34" charset="0"/>
                <a:cs typeface="Arial" panose="020B0604020202020204" pitchFamily="34" charset="0"/>
              </a:rPr>
              <a:t>In a person 80 years of age breathing room air, a normal P(A-a)O</a:t>
            </a:r>
            <a:r>
              <a:rPr lang="en-US" sz="14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is 25 mm Hg; when breathing an FIO</a:t>
            </a:r>
            <a:r>
              <a:rPr lang="en-US" sz="16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of 1.0, a P(A-a)O</a:t>
            </a:r>
            <a:r>
              <a:rPr lang="en-US" sz="16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of 60 is normal. </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pPr marL="171450" indent="-171450">
              <a:buFont typeface="Arial" panose="020B0604020202020204" pitchFamily="34" charset="0"/>
              <a:buChar char="•"/>
            </a:pPr>
            <a:fld id="{B6F15528-21DE-4FAA-801E-634DDDAF4B2B}" type="slidenum">
              <a:rPr lang="en-US" smtClean="0">
                <a:latin typeface="Arial" panose="020B0604020202020204" pitchFamily="34" charset="0"/>
                <a:cs typeface="Arial" panose="020B0604020202020204" pitchFamily="34" charset="0"/>
              </a:rPr>
              <a:pPr marL="171450" indent="-171450">
                <a:buFont typeface="Arial" panose="020B0604020202020204" pitchFamily="34" charset="0"/>
                <a:buChar char="•"/>
              </a:pPr>
              <a:t>50</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29011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4204D-C421-DF27-B930-3C961CF28227}"/>
              </a:ext>
            </a:extLst>
          </p:cNvPr>
          <p:cNvSpPr>
            <a:spLocks noGrp="1"/>
          </p:cNvSpPr>
          <p:nvPr>
            <p:ph type="title"/>
          </p:nvPr>
        </p:nvSpPr>
        <p:spPr/>
        <p:txBody>
          <a:bodyPr>
            <a:normAutofit/>
          </a:bodyPr>
          <a:lstStyle/>
          <a:p>
            <a:pPr algn="l"/>
            <a:r>
              <a:rPr lang="en-US" sz="2800" dirty="0">
                <a:latin typeface="Arial" panose="020B0604020202020204" pitchFamily="34" charset="0"/>
                <a:cs typeface="Arial" panose="020B0604020202020204" pitchFamily="34" charset="0"/>
              </a:rPr>
              <a:t>Types of respiratory failure…</a:t>
            </a:r>
          </a:p>
        </p:txBody>
      </p:sp>
      <p:sp>
        <p:nvSpPr>
          <p:cNvPr id="3" name="Text Placeholder 2">
            <a:extLst>
              <a:ext uri="{FF2B5EF4-FFF2-40B4-BE49-F238E27FC236}">
                <a16:creationId xmlns:a16="http://schemas.microsoft.com/office/drawing/2014/main" id="{C4E746C7-B651-BBDD-20E7-A0C2ACA4CA5B}"/>
              </a:ext>
            </a:extLst>
          </p:cNvPr>
          <p:cNvSpPr>
            <a:spLocks noGrp="1"/>
          </p:cNvSpPr>
          <p:nvPr>
            <p:ph type="body" idx="1"/>
          </p:nvPr>
        </p:nvSpPr>
        <p:spPr>
          <a:xfrm>
            <a:off x="457200" y="1295400"/>
            <a:ext cx="4040188" cy="757237"/>
          </a:xfrm>
        </p:spPr>
        <p:style>
          <a:lnRef idx="2">
            <a:schemeClr val="accent1"/>
          </a:lnRef>
          <a:fillRef idx="1">
            <a:schemeClr val="lt1"/>
          </a:fillRef>
          <a:effectRef idx="0">
            <a:schemeClr val="accent1"/>
          </a:effectRef>
          <a:fontRef idx="minor">
            <a:schemeClr val="dk1"/>
          </a:fontRef>
        </p:style>
        <p:txBody>
          <a:bodyPr>
            <a:normAutofit fontScale="55000" lnSpcReduction="20000"/>
          </a:bodyPr>
          <a:lstStyle/>
          <a:p>
            <a:r>
              <a:rPr lang="en-US" sz="3300" dirty="0">
                <a:latin typeface="Arial" panose="020B0604020202020204" pitchFamily="34" charset="0"/>
                <a:cs typeface="Arial" panose="020B0604020202020204" pitchFamily="34" charset="0"/>
              </a:rPr>
              <a:t>Acute respiratory failure (ARF)</a:t>
            </a:r>
            <a:br>
              <a:rPr lang="en-US" sz="2000" dirty="0">
                <a:latin typeface="Arial" panose="020B0604020202020204" pitchFamily="34" charset="0"/>
                <a:cs typeface="Arial" panose="020B0604020202020204" pitchFamily="34" charset="0"/>
              </a:rPr>
            </a:br>
            <a:endParaRPr lang="en-US" sz="23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38BC062D-3099-9CE5-BDD9-791C967D2569}"/>
              </a:ext>
            </a:extLst>
          </p:cNvPr>
          <p:cNvSpPr>
            <a:spLocks noGrp="1"/>
          </p:cNvSpPr>
          <p:nvPr>
            <p:ph sz="half" idx="2"/>
          </p:nvPr>
        </p:nvSpPr>
        <p:spPr>
          <a:xfrm>
            <a:off x="304801" y="2174875"/>
            <a:ext cx="4192588" cy="395128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r>
              <a:rPr lang="en-US" sz="1900" dirty="0">
                <a:latin typeface="Arial" panose="020B0604020202020204" pitchFamily="34" charset="0"/>
                <a:cs typeface="Arial" panose="020B0604020202020204" pitchFamily="34" charset="0"/>
              </a:rPr>
              <a:t>It is a sudden decrease in arterial oxygenation with or without CO2 retention (i.e., with or without hypercapnia [PaCO2 &gt; 45 mmHg]).</a:t>
            </a:r>
          </a:p>
          <a:p>
            <a:pPr lvl="1"/>
            <a:r>
              <a:rPr lang="en-US" sz="1800" dirty="0">
                <a:solidFill>
                  <a:srgbClr val="FF0000"/>
                </a:solidFill>
                <a:latin typeface="Arial" panose="020B0604020202020204" pitchFamily="34" charset="0"/>
                <a:cs typeface="Arial" panose="020B0604020202020204" pitchFamily="34" charset="0"/>
              </a:rPr>
              <a:t>PaO</a:t>
            </a:r>
            <a:r>
              <a:rPr lang="en-US" sz="1400" dirty="0">
                <a:solidFill>
                  <a:srgbClr val="FF0000"/>
                </a:solidFill>
                <a:latin typeface="Arial" panose="020B0604020202020204" pitchFamily="34" charset="0"/>
                <a:cs typeface="Arial" panose="020B0604020202020204" pitchFamily="34" charset="0"/>
              </a:rPr>
              <a:t>2</a:t>
            </a:r>
            <a:r>
              <a:rPr lang="en-US" sz="1800" dirty="0">
                <a:solidFill>
                  <a:srgbClr val="FF0000"/>
                </a:solidFill>
                <a:latin typeface="Arial" panose="020B0604020202020204" pitchFamily="34" charset="0"/>
                <a:cs typeface="Arial" panose="020B0604020202020204" pitchFamily="34" charset="0"/>
              </a:rPr>
              <a:t> &lt; 50–60 mmHg; </a:t>
            </a:r>
          </a:p>
          <a:p>
            <a:pPr lvl="1"/>
            <a:r>
              <a:rPr lang="en-US" sz="1800" dirty="0">
                <a:solidFill>
                  <a:srgbClr val="FF0000"/>
                </a:solidFill>
                <a:latin typeface="Arial" panose="020B0604020202020204" pitchFamily="34" charset="0"/>
                <a:cs typeface="Arial" panose="020B0604020202020204" pitchFamily="34" charset="0"/>
              </a:rPr>
              <a:t>SaO2 &lt; 88–90%</a:t>
            </a:r>
          </a:p>
          <a:p>
            <a:r>
              <a:rPr lang="en-US" sz="2000" dirty="0">
                <a:latin typeface="Arial" panose="020B0604020202020204" pitchFamily="34" charset="0"/>
                <a:cs typeface="Arial" panose="020B0604020202020204" pitchFamily="34" charset="0"/>
              </a:rPr>
              <a:t>Patients may have </a:t>
            </a:r>
            <a:r>
              <a:rPr lang="en-US" sz="2000" dirty="0">
                <a:solidFill>
                  <a:srgbClr val="FF0000"/>
                </a:solidFill>
                <a:latin typeface="Arial" panose="020B0604020202020204" pitchFamily="34" charset="0"/>
                <a:cs typeface="Arial" panose="020B0604020202020204" pitchFamily="34" charset="0"/>
              </a:rPr>
              <a:t>hypoxemia alone or hypoxemia with hypercapnia</a:t>
            </a:r>
          </a:p>
          <a:p>
            <a:r>
              <a:rPr lang="en-US" sz="2200" dirty="0">
                <a:latin typeface="Arial" panose="020B0604020202020204" pitchFamily="34" charset="0"/>
                <a:cs typeface="Arial" panose="020B0604020202020204" pitchFamily="34" charset="0"/>
              </a:rPr>
              <a:t>Common causes requiring mechanical ventilation:</a:t>
            </a:r>
          </a:p>
          <a:p>
            <a:pPr lvl="1"/>
            <a:r>
              <a:rPr lang="en-US" sz="1900" dirty="0">
                <a:latin typeface="Arial" panose="020B0604020202020204" pitchFamily="34" charset="0"/>
                <a:cs typeface="Arial" panose="020B0604020202020204" pitchFamily="34" charset="0"/>
              </a:rPr>
              <a:t>ARDS, aspiration, heart failure, pneumonia, postoperative failure, </a:t>
            </a:r>
            <a:r>
              <a:rPr lang="en-US" sz="1900" b="1" dirty="0">
                <a:latin typeface="Arial" panose="020B0604020202020204" pitchFamily="34" charset="0"/>
                <a:cs typeface="Arial" panose="020B0604020202020204" pitchFamily="34" charset="0"/>
              </a:rPr>
              <a:t>sepsis</a:t>
            </a:r>
            <a:r>
              <a:rPr lang="en-US" sz="1900" dirty="0">
                <a:latin typeface="Arial" panose="020B0604020202020204" pitchFamily="34" charset="0"/>
                <a:cs typeface="Arial" panose="020B0604020202020204" pitchFamily="34" charset="0"/>
              </a:rPr>
              <a:t>, and trauma.</a:t>
            </a:r>
            <a:endParaRPr lang="en-US" sz="1900" dirty="0">
              <a:solidFill>
                <a:srgbClr val="FF0000"/>
              </a:solidFill>
              <a:latin typeface="Arial" panose="020B0604020202020204" pitchFamily="34" charset="0"/>
              <a:cs typeface="Arial" panose="020B0604020202020204" pitchFamily="34" charset="0"/>
            </a:endParaRPr>
          </a:p>
        </p:txBody>
      </p:sp>
      <p:sp>
        <p:nvSpPr>
          <p:cNvPr id="5" name="Text Placeholder 4">
            <a:extLst>
              <a:ext uri="{FF2B5EF4-FFF2-40B4-BE49-F238E27FC236}">
                <a16:creationId xmlns:a16="http://schemas.microsoft.com/office/drawing/2014/main" id="{807EDD9B-E8D7-5283-8FC5-6CF00830A168}"/>
              </a:ext>
            </a:extLst>
          </p:cNvPr>
          <p:cNvSpPr>
            <a:spLocks noGrp="1"/>
          </p:cNvSpPr>
          <p:nvPr>
            <p:ph type="body" sz="quarter" idx="3"/>
          </p:nvPr>
        </p:nvSpPr>
        <p:spPr>
          <a:xfrm>
            <a:off x="4645025" y="1417638"/>
            <a:ext cx="4041775" cy="757237"/>
          </a:xfrm>
        </p:spPr>
        <p:style>
          <a:lnRef idx="2">
            <a:schemeClr val="accent2"/>
          </a:lnRef>
          <a:fillRef idx="1">
            <a:schemeClr val="lt1"/>
          </a:fillRef>
          <a:effectRef idx="0">
            <a:schemeClr val="accent2"/>
          </a:effectRef>
          <a:fontRef idx="minor">
            <a:schemeClr val="dk1"/>
          </a:fontRef>
        </p:style>
        <p:txBody>
          <a:bodyPr>
            <a:normAutofit fontScale="55000" lnSpcReduction="20000"/>
          </a:bodyPr>
          <a:lstStyle/>
          <a:p>
            <a:endParaRPr lang="en-US" dirty="0">
              <a:latin typeface="Arial" panose="020B0604020202020204" pitchFamily="34" charset="0"/>
              <a:cs typeface="Arial" panose="020B0604020202020204" pitchFamily="34" charset="0"/>
            </a:endParaRPr>
          </a:p>
          <a:p>
            <a:r>
              <a:rPr lang="en-US" sz="3300" dirty="0">
                <a:latin typeface="Arial" panose="020B0604020202020204" pitchFamily="34" charset="0"/>
                <a:cs typeface="Arial" panose="020B0604020202020204" pitchFamily="34" charset="0"/>
              </a:rPr>
              <a:t>Chronic respiratory failure</a:t>
            </a:r>
          </a:p>
          <a:p>
            <a:endParaRPr lang="en-US"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80ED1045-25B9-562B-284E-973E465F9817}"/>
              </a:ext>
            </a:extLst>
          </p:cNvPr>
          <p:cNvSpPr>
            <a:spLocks noGrp="1"/>
          </p:cNvSpPr>
          <p:nvPr>
            <p:ph sz="quarter" idx="4"/>
          </p:nvPr>
        </p:nvSpPr>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r>
              <a:rPr lang="en-US" sz="1800" dirty="0">
                <a:latin typeface="Arial" panose="020B0604020202020204" pitchFamily="34" charset="0"/>
                <a:cs typeface="Arial" panose="020B0604020202020204" pitchFamily="34" charset="0"/>
              </a:rPr>
              <a:t>It is a long-term condition, usually occurring over a period of months or years.</a:t>
            </a:r>
          </a:p>
          <a:p>
            <a:r>
              <a:rPr lang="en-US" sz="1800" dirty="0">
                <a:latin typeface="Arial" panose="020B0604020202020204" pitchFamily="34" charset="0"/>
                <a:cs typeface="Arial" panose="020B0604020202020204" pitchFamily="34" charset="0"/>
              </a:rPr>
              <a:t>It generally is due chronic lung disease, such as COPD, cystic fibrosis, or pulmonary fibrosis</a:t>
            </a:r>
            <a:r>
              <a:rPr lang="en-US" sz="2000" dirty="0">
                <a:latin typeface="Arial" panose="020B0604020202020204" pitchFamily="34" charset="0"/>
                <a:cs typeface="Arial" panose="020B0604020202020204" pitchFamily="34" charset="0"/>
              </a:rPr>
              <a:t>.</a:t>
            </a:r>
          </a:p>
          <a:p>
            <a:r>
              <a:rPr lang="en-US" sz="1800" dirty="0">
                <a:latin typeface="Arial" panose="020B0604020202020204" pitchFamily="34" charset="0"/>
                <a:cs typeface="Arial" panose="020B0604020202020204" pitchFamily="34" charset="0"/>
              </a:rPr>
              <a:t>Other causes: Neuromuscular disease, spinal cord injury, chest wall abnormalities, and obesity–hypoventilation syndrome  </a:t>
            </a:r>
            <a:endParaRPr lang="en-US" sz="2000" dirty="0">
              <a:latin typeface="Arial" panose="020B0604020202020204" pitchFamily="34" charset="0"/>
              <a:cs typeface="Arial" panose="020B0604020202020204" pitchFamily="34" charset="0"/>
            </a:endParaRPr>
          </a:p>
        </p:txBody>
      </p:sp>
      <p:sp>
        <p:nvSpPr>
          <p:cNvPr id="7" name="Slide Number Placeholder 6">
            <a:extLst>
              <a:ext uri="{FF2B5EF4-FFF2-40B4-BE49-F238E27FC236}">
                <a16:creationId xmlns:a16="http://schemas.microsoft.com/office/drawing/2014/main" id="{A741B49A-FDE6-35F4-258C-2FFA1AC1238A}"/>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51</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9624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bg/>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
                                            <p:bg/>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P spid="5" grpId="0" build="p" animBg="1"/>
      <p:bldP spid="6" grpId="0" build="p"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Arial" panose="020B0604020202020204" pitchFamily="34" charset="0"/>
                <a:cs typeface="Arial" panose="020B0604020202020204" pitchFamily="34" charset="0"/>
              </a:rPr>
              <a:t>Types of respiratory failure…</a:t>
            </a:r>
          </a:p>
        </p:txBody>
      </p:sp>
      <p:sp>
        <p:nvSpPr>
          <p:cNvPr id="3" name="Content Placeholder 2"/>
          <p:cNvSpPr>
            <a:spLocks noGrp="1"/>
          </p:cNvSpPr>
          <p:nvPr>
            <p:ph idx="1"/>
          </p:nvPr>
        </p:nvSpPr>
        <p:spPr>
          <a:xfrm>
            <a:off x="304800" y="1417638"/>
            <a:ext cx="8610600" cy="5364162"/>
          </a:xfrm>
        </p:spPr>
        <p:txBody>
          <a:bodyPr>
            <a:noAutofit/>
          </a:bodyPr>
          <a:lstStyle/>
          <a:p>
            <a:pPr algn="just">
              <a:buFont typeface="Wingdings" panose="05000000000000000000" pitchFamily="2" charset="2"/>
              <a:buChar char="ü"/>
            </a:pPr>
            <a:r>
              <a:rPr lang="en-US" sz="2400" b="1" dirty="0">
                <a:latin typeface="Arial" panose="020B0604020202020204" pitchFamily="34" charset="0"/>
                <a:cs typeface="Arial" panose="020B0604020202020204" pitchFamily="34" charset="0"/>
              </a:rPr>
              <a:t>Hypoxemic respiratory failure </a:t>
            </a:r>
            <a:r>
              <a:rPr lang="en-US" sz="2400" dirty="0">
                <a:latin typeface="Arial" panose="020B0604020202020204" pitchFamily="34" charset="0"/>
                <a:cs typeface="Arial" panose="020B0604020202020204" pitchFamily="34" charset="0"/>
              </a:rPr>
              <a:t>aka</a:t>
            </a:r>
            <a:r>
              <a:rPr lang="en-US" sz="2400" b="1" dirty="0">
                <a:latin typeface="Arial" panose="020B0604020202020204" pitchFamily="34" charset="0"/>
                <a:cs typeface="Arial" panose="020B0604020202020204" pitchFamily="34" charset="0"/>
              </a:rPr>
              <a:t> lung failure or type I respiratory failure </a:t>
            </a:r>
          </a:p>
          <a:p>
            <a:pPr algn="just"/>
            <a:r>
              <a:rPr lang="en-US" sz="2200" dirty="0">
                <a:latin typeface="Arial" panose="020B0604020202020204" pitchFamily="34" charset="0"/>
                <a:cs typeface="Arial" panose="020B0604020202020204" pitchFamily="34" charset="0"/>
              </a:rPr>
              <a:t>It is a primary problem with arterial oxygenation</a:t>
            </a:r>
          </a:p>
          <a:p>
            <a:pPr algn="just"/>
            <a:r>
              <a:rPr lang="en-US" sz="2200" dirty="0">
                <a:latin typeface="Arial" panose="020B0604020202020204" pitchFamily="34" charset="0"/>
                <a:cs typeface="Arial" panose="020B0604020202020204" pitchFamily="34" charset="0"/>
              </a:rPr>
              <a:t>It is typically caused by problems with gas exchange in the lung</a:t>
            </a:r>
          </a:p>
          <a:p>
            <a:pPr lvl="1" algn="just"/>
            <a:r>
              <a:rPr lang="en-US" sz="2000" dirty="0">
                <a:latin typeface="Arial" panose="020B0604020202020204" pitchFamily="34" charset="0"/>
                <a:cs typeface="Arial" panose="020B0604020202020204" pitchFamily="34" charset="0"/>
              </a:rPr>
              <a:t>a significant impairment in the molecular exchange of oxygen across the pulmonary alveolar-capillary membrane,</a:t>
            </a:r>
          </a:p>
          <a:p>
            <a:pPr lvl="2" algn="just"/>
            <a:r>
              <a:rPr lang="en-US" sz="140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causing </a:t>
            </a:r>
            <a:r>
              <a:rPr lang="en-US" sz="1800" dirty="0">
                <a:solidFill>
                  <a:srgbClr val="FF0000"/>
                </a:solidFill>
                <a:latin typeface="Arial" panose="020B0604020202020204" pitchFamily="34" charset="0"/>
                <a:cs typeface="Arial" panose="020B0604020202020204" pitchFamily="34" charset="0"/>
              </a:rPr>
              <a:t>a decrease in PaO</a:t>
            </a:r>
            <a:r>
              <a:rPr lang="en-US" sz="1400" dirty="0">
                <a:solidFill>
                  <a:srgbClr val="FF0000"/>
                </a:solidFill>
                <a:latin typeface="Arial" panose="020B0604020202020204" pitchFamily="34" charset="0"/>
                <a:cs typeface="Arial" panose="020B0604020202020204" pitchFamily="34" charset="0"/>
              </a:rPr>
              <a:t>2</a:t>
            </a:r>
            <a:r>
              <a:rPr lang="en-US" sz="1800" dirty="0">
                <a:solidFill>
                  <a:srgbClr val="FF0000"/>
                </a:solidFill>
                <a:latin typeface="Arial" panose="020B0604020202020204" pitchFamily="34" charset="0"/>
                <a:cs typeface="Arial" panose="020B0604020202020204" pitchFamily="34" charset="0"/>
              </a:rPr>
              <a:t> &lt; 60 mmHg, </a:t>
            </a:r>
          </a:p>
          <a:p>
            <a:pPr lvl="2" algn="just"/>
            <a:r>
              <a:rPr lang="en-US" sz="1800" dirty="0">
                <a:solidFill>
                  <a:srgbClr val="FF0000"/>
                </a:solidFill>
                <a:latin typeface="Arial" panose="020B0604020202020204" pitchFamily="34" charset="0"/>
                <a:cs typeface="Arial" panose="020B0604020202020204" pitchFamily="34" charset="0"/>
              </a:rPr>
              <a:t>with a normal or low PaCO</a:t>
            </a:r>
            <a:r>
              <a:rPr lang="en-US" sz="1400" dirty="0">
                <a:solidFill>
                  <a:srgbClr val="FF0000"/>
                </a:solidFill>
                <a:latin typeface="Arial" panose="020B0604020202020204" pitchFamily="34" charset="0"/>
                <a:cs typeface="Arial" panose="020B0604020202020204" pitchFamily="34" charset="0"/>
              </a:rPr>
              <a:t>2</a:t>
            </a:r>
            <a:r>
              <a:rPr lang="en-US" sz="1800" dirty="0">
                <a:solidFill>
                  <a:srgbClr val="FF0000"/>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and </a:t>
            </a:r>
            <a:r>
              <a:rPr lang="en-US" sz="1800" dirty="0">
                <a:solidFill>
                  <a:srgbClr val="FF0000"/>
                </a:solidFill>
                <a:latin typeface="Arial" panose="020B0604020202020204" pitchFamily="34" charset="0"/>
                <a:cs typeface="Arial" panose="020B0604020202020204" pitchFamily="34" charset="0"/>
              </a:rPr>
              <a:t>an increase in P(A-a)O</a:t>
            </a:r>
            <a:r>
              <a:rPr lang="en-US" sz="1400" dirty="0">
                <a:solidFill>
                  <a:srgbClr val="FF0000"/>
                </a:solidFill>
                <a:latin typeface="Arial" panose="020B0604020202020204" pitchFamily="34" charset="0"/>
                <a:cs typeface="Arial" panose="020B0604020202020204" pitchFamily="34" charset="0"/>
              </a:rPr>
              <a:t>2</a:t>
            </a:r>
            <a:r>
              <a:rPr lang="en-US" sz="1800" dirty="0">
                <a:solidFill>
                  <a:srgbClr val="FF0000"/>
                </a:solidFill>
                <a:latin typeface="Arial" panose="020B0604020202020204" pitchFamily="34" charset="0"/>
                <a:cs typeface="Arial" panose="020B0604020202020204" pitchFamily="34" charset="0"/>
              </a:rPr>
              <a:t> </a:t>
            </a:r>
          </a:p>
          <a:p>
            <a:pPr lvl="2" algn="just"/>
            <a:endParaRPr lang="en-US" sz="1400" dirty="0">
              <a:latin typeface="Arial" panose="020B0604020202020204" pitchFamily="34" charset="0"/>
              <a:cs typeface="Arial" panose="020B0604020202020204" pitchFamily="34" charset="0"/>
            </a:endParaRPr>
          </a:p>
          <a:p>
            <a:pPr algn="just"/>
            <a:r>
              <a:rPr lang="en-US" sz="2200" dirty="0">
                <a:latin typeface="Arial" panose="020B0604020202020204" pitchFamily="34" charset="0"/>
                <a:cs typeface="Arial" panose="020B0604020202020204" pitchFamily="34" charset="0"/>
              </a:rPr>
              <a:t>This is the most common form of respiratory failure</a:t>
            </a:r>
          </a:p>
          <a:p>
            <a:pPr algn="just"/>
            <a:r>
              <a:rPr lang="en-US" sz="2200" dirty="0">
                <a:latin typeface="Arial" panose="020B0604020202020204" pitchFamily="34" charset="0"/>
                <a:cs typeface="Arial" panose="020B0604020202020204" pitchFamily="34" charset="0"/>
              </a:rPr>
              <a:t>It can be associated with virtually all acute diseases of the lung, which generally involve fluid filling or collapse of alveolar units</a:t>
            </a: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52</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39976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079ED-93F1-0095-8A2B-156B3E37D10A}"/>
              </a:ext>
            </a:extLst>
          </p:cNvPr>
          <p:cNvSpPr>
            <a:spLocks noGrp="1"/>
          </p:cNvSpPr>
          <p:nvPr>
            <p:ph type="title"/>
          </p:nvPr>
        </p:nvSpPr>
        <p:spPr/>
        <p:txBody>
          <a:bodyPr>
            <a:normAutofit/>
          </a:bodyPr>
          <a:lstStyle/>
          <a:p>
            <a:pPr algn="l"/>
            <a:r>
              <a:rPr lang="en-US" sz="3200" dirty="0">
                <a:latin typeface="Arial" panose="020B0604020202020204" pitchFamily="34" charset="0"/>
                <a:cs typeface="Arial" panose="020B0604020202020204" pitchFamily="34" charset="0"/>
              </a:rPr>
              <a:t>Type I respiratory failure…</a:t>
            </a:r>
          </a:p>
        </p:txBody>
      </p:sp>
      <p:graphicFrame>
        <p:nvGraphicFramePr>
          <p:cNvPr id="5" name="Content Placeholder 4">
            <a:extLst>
              <a:ext uri="{FF2B5EF4-FFF2-40B4-BE49-F238E27FC236}">
                <a16:creationId xmlns:a16="http://schemas.microsoft.com/office/drawing/2014/main" id="{B648E68B-A5C9-D5DB-4825-BB65146E5C92}"/>
              </a:ext>
            </a:extLst>
          </p:cNvPr>
          <p:cNvGraphicFramePr>
            <a:graphicFrameLocks noGrp="1"/>
          </p:cNvGraphicFramePr>
          <p:nvPr>
            <p:ph idx="1"/>
            <p:extLst>
              <p:ext uri="{D42A27DB-BD31-4B8C-83A1-F6EECF244321}">
                <p14:modId xmlns:p14="http://schemas.microsoft.com/office/powerpoint/2010/main" val="416807758"/>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D7331E25-FD4F-43DB-D577-A3E3EAC9BE6D}"/>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53</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94705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Arial" panose="020B0604020202020204" pitchFamily="34" charset="0"/>
                <a:cs typeface="Arial" panose="020B0604020202020204" pitchFamily="34" charset="0"/>
              </a:rPr>
              <a:t>Types of respiratory failure…</a:t>
            </a:r>
          </a:p>
        </p:txBody>
      </p:sp>
      <p:sp>
        <p:nvSpPr>
          <p:cNvPr id="3" name="Content Placeholder 2"/>
          <p:cNvSpPr>
            <a:spLocks noGrp="1"/>
          </p:cNvSpPr>
          <p:nvPr>
            <p:ph idx="1"/>
          </p:nvPr>
        </p:nvSpPr>
        <p:spPr>
          <a:xfrm>
            <a:off x="457200" y="1600200"/>
            <a:ext cx="8458200" cy="4525963"/>
          </a:xfrm>
        </p:spPr>
        <p:txBody>
          <a:bodyPr>
            <a:normAutofit/>
          </a:bodyPr>
          <a:lstStyle/>
          <a:p>
            <a:pPr algn="just">
              <a:lnSpc>
                <a:spcPct val="120000"/>
              </a:lnSpc>
            </a:pPr>
            <a:r>
              <a:rPr lang="en-US" sz="2400" dirty="0">
                <a:latin typeface="Arial" panose="020B0604020202020204" pitchFamily="34" charset="0"/>
                <a:cs typeface="Arial" panose="020B0604020202020204" pitchFamily="34" charset="0"/>
              </a:rPr>
              <a:t>Type I respiratory failure occurs because of damage to lung tissue. </a:t>
            </a:r>
          </a:p>
          <a:p>
            <a:pPr lvl="1" algn="just">
              <a:lnSpc>
                <a:spcPct val="120000"/>
              </a:lnSpc>
            </a:pPr>
            <a:r>
              <a:rPr lang="en-US" sz="2200" dirty="0">
                <a:latin typeface="Arial" panose="020B0604020202020204" pitchFamily="34" charset="0"/>
                <a:cs typeface="Arial" panose="020B0604020202020204" pitchFamily="34" charset="0"/>
              </a:rPr>
              <a:t>This lung damage prevents adequate oxygenation of the blood (hypoxaemia); </a:t>
            </a:r>
          </a:p>
          <a:p>
            <a:pPr lvl="1" algn="just">
              <a:lnSpc>
                <a:spcPct val="120000"/>
              </a:lnSpc>
            </a:pPr>
            <a:r>
              <a:rPr lang="en-US" sz="2200" dirty="0">
                <a:latin typeface="Arial" panose="020B0604020202020204" pitchFamily="34" charset="0"/>
                <a:cs typeface="Arial" panose="020B0604020202020204" pitchFamily="34" charset="0"/>
              </a:rPr>
              <a:t>however, the remaining normal lung is still sufficient to excrete the carbon dioxide being produced by tissue metabolism. </a:t>
            </a:r>
          </a:p>
          <a:p>
            <a:pPr algn="just">
              <a:lnSpc>
                <a:spcPct val="120000"/>
              </a:lnSpc>
              <a:buFont typeface="Wingdings" pitchFamily="2" charset="2"/>
              <a:buChar char="§"/>
            </a:pPr>
            <a:r>
              <a:rPr lang="en-US" sz="2200" dirty="0">
                <a:latin typeface="Arial" panose="020B0604020202020204" pitchFamily="34" charset="0"/>
                <a:cs typeface="Arial" panose="020B0604020202020204" pitchFamily="34" charset="0"/>
              </a:rPr>
              <a:t>This is possible because less functioning lung tissue is required for CO</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excretion than is needed for oxygenation of the blood.</a:t>
            </a:r>
          </a:p>
          <a:p>
            <a:pPr algn="just"/>
            <a:endParaRPr lang="en-US" sz="36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54</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9045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z="3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Types of respiratory failure…</a:t>
            </a:r>
            <a:r>
              <a:rPr lang="en-US" dirty="0">
                <a:latin typeface="Arial" panose="020B0604020202020204" pitchFamily="34" charset="0"/>
                <a:cs typeface="Arial" panose="020B0604020202020204" pitchFamily="34" charset="0"/>
              </a:rPr>
              <a:t>…</a:t>
            </a:r>
          </a:p>
        </p:txBody>
      </p:sp>
      <p:sp>
        <p:nvSpPr>
          <p:cNvPr id="3" name="Content Placeholder 2"/>
          <p:cNvSpPr>
            <a:spLocks noGrp="1"/>
          </p:cNvSpPr>
          <p:nvPr>
            <p:ph idx="1"/>
          </p:nvPr>
        </p:nvSpPr>
        <p:spPr>
          <a:xfrm>
            <a:off x="457200" y="1371600"/>
            <a:ext cx="8229600" cy="4754563"/>
          </a:xfrm>
        </p:spPr>
        <p:txBody>
          <a:bodyPr>
            <a:noAutofit/>
          </a:bodyPr>
          <a:lstStyle/>
          <a:p>
            <a:pPr>
              <a:buFont typeface="Wingdings" panose="05000000000000000000" pitchFamily="2" charset="2"/>
              <a:buChar char="ü"/>
            </a:pPr>
            <a:r>
              <a:rPr lang="en-US" sz="2400" b="1" dirty="0">
                <a:latin typeface="Arial" panose="020B0604020202020204" pitchFamily="34" charset="0"/>
                <a:cs typeface="Arial" panose="020B0604020202020204" pitchFamily="34" charset="0"/>
              </a:rPr>
              <a:t>Hypercapnic </a:t>
            </a:r>
            <a:r>
              <a:rPr lang="en-US" sz="2400" dirty="0">
                <a:latin typeface="Arial" panose="020B0604020202020204" pitchFamily="34" charset="0"/>
                <a:cs typeface="Arial" panose="020B0604020202020204" pitchFamily="34" charset="0"/>
              </a:rPr>
              <a:t>respiratory</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failure</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t>
            </a:r>
            <a:r>
              <a:rPr lang="en-US" sz="2400" b="1" dirty="0">
                <a:latin typeface="Arial" panose="020B0604020202020204" pitchFamily="34" charset="0"/>
                <a:cs typeface="Arial" panose="020B0604020202020204" pitchFamily="34" charset="0"/>
              </a:rPr>
              <a:t>pump</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failure</a:t>
            </a:r>
            <a:r>
              <a:rPr lang="en-US" sz="2400" dirty="0">
                <a:latin typeface="Arial" panose="020B0604020202020204" pitchFamily="34" charset="0"/>
                <a:cs typeface="Arial" panose="020B0604020202020204" pitchFamily="34" charset="0"/>
              </a:rPr>
              <a:t>) aka </a:t>
            </a:r>
            <a:r>
              <a:rPr lang="en-US" sz="2400" b="1" dirty="0">
                <a:latin typeface="Arial" panose="020B0604020202020204" pitchFamily="34" charset="0"/>
                <a:cs typeface="Arial" panose="020B0604020202020204" pitchFamily="34" charset="0"/>
              </a:rPr>
              <a:t>ventilatory</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type II</a:t>
            </a:r>
            <a:r>
              <a:rPr lang="en-US" sz="2400" dirty="0">
                <a:latin typeface="Arial" panose="020B0604020202020204" pitchFamily="34" charset="0"/>
                <a:cs typeface="Arial" panose="020B0604020202020204" pitchFamily="34" charset="0"/>
              </a:rPr>
              <a:t>) respiratory failure   </a:t>
            </a:r>
          </a:p>
          <a:p>
            <a:pPr lvl="1"/>
            <a:r>
              <a:rPr lang="en-US" sz="2200" dirty="0">
                <a:latin typeface="Arial" panose="020B0604020202020204" pitchFamily="34" charset="0"/>
                <a:cs typeface="Arial" panose="020B0604020202020204" pitchFamily="34" charset="0"/>
              </a:rPr>
              <a:t>It  refers to a primary problem with ventilation</a:t>
            </a:r>
          </a:p>
          <a:p>
            <a:pPr lvl="1"/>
            <a:r>
              <a:rPr lang="en-US" sz="2200" dirty="0">
                <a:latin typeface="Arial" panose="020B0604020202020204" pitchFamily="34" charset="0"/>
                <a:cs typeface="Arial" panose="020B0604020202020204" pitchFamily="34" charset="0"/>
              </a:rPr>
              <a:t>It is simply defined as an </a:t>
            </a:r>
            <a:r>
              <a:rPr lang="en-US" sz="2200" dirty="0">
                <a:solidFill>
                  <a:srgbClr val="FF0000"/>
                </a:solidFill>
                <a:latin typeface="Arial" panose="020B0604020202020204" pitchFamily="34" charset="0"/>
                <a:cs typeface="Arial" panose="020B0604020202020204" pitchFamily="34" charset="0"/>
              </a:rPr>
              <a:t>abnormally elevated PaCO</a:t>
            </a:r>
            <a:r>
              <a:rPr lang="en-US" sz="1800" dirty="0">
                <a:solidFill>
                  <a:srgbClr val="FF0000"/>
                </a:solidFill>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a:t>
            </a:r>
          </a:p>
          <a:p>
            <a:pPr lvl="1"/>
            <a:r>
              <a:rPr lang="en-US" sz="2000" dirty="0">
                <a:latin typeface="Arial" panose="020B0604020202020204" pitchFamily="34" charset="0"/>
                <a:cs typeface="Arial" panose="020B0604020202020204" pitchFamily="34" charset="0"/>
              </a:rPr>
              <a:t>  a decrease in the bulk flow of gas in and out of the lungs resulting in alveolar hypoventilation and retention of CO2. </a:t>
            </a:r>
          </a:p>
          <a:p>
            <a:pPr lvl="2" algn="just">
              <a:lnSpc>
                <a:spcPct val="120000"/>
              </a:lnSpc>
            </a:pPr>
            <a:r>
              <a:rPr lang="en-US" sz="2000" dirty="0">
                <a:latin typeface="Arial" panose="020B0604020202020204" pitchFamily="34" charset="0"/>
                <a:cs typeface="Arial" panose="020B0604020202020204" pitchFamily="34" charset="0"/>
              </a:rPr>
              <a:t>This rise in </a:t>
            </a:r>
            <a:r>
              <a:rPr lang="en-US" sz="2000" dirty="0">
                <a:solidFill>
                  <a:srgbClr val="FF0000"/>
                </a:solidFill>
                <a:latin typeface="Arial" panose="020B0604020202020204" pitchFamily="34" charset="0"/>
                <a:cs typeface="Arial" panose="020B0604020202020204" pitchFamily="34" charset="0"/>
              </a:rPr>
              <a:t>CO2</a:t>
            </a:r>
            <a:r>
              <a:rPr lang="en-US" sz="2000" dirty="0">
                <a:latin typeface="Arial" panose="020B0604020202020204" pitchFamily="34" charset="0"/>
                <a:cs typeface="Arial" panose="020B0604020202020204" pitchFamily="34" charset="0"/>
              </a:rPr>
              <a:t> is frequently accompanied by a </a:t>
            </a:r>
            <a:r>
              <a:rPr lang="en-US" sz="2000" dirty="0">
                <a:solidFill>
                  <a:srgbClr val="FF0000"/>
                </a:solidFill>
                <a:latin typeface="Arial" panose="020B0604020202020204" pitchFamily="34" charset="0"/>
                <a:cs typeface="Arial" panose="020B0604020202020204" pitchFamily="34" charset="0"/>
              </a:rPr>
              <a:t>drop in the PaO</a:t>
            </a:r>
            <a:r>
              <a:rPr lang="en-US" sz="1600" dirty="0">
                <a:solidFill>
                  <a:srgbClr val="FF0000"/>
                </a:solidFill>
                <a:latin typeface="Arial" panose="020B0604020202020204" pitchFamily="34" charset="0"/>
                <a:cs typeface="Arial" panose="020B0604020202020204" pitchFamily="34" charset="0"/>
              </a:rPr>
              <a:t>2</a:t>
            </a:r>
            <a:r>
              <a:rPr lang="en-US" sz="2000" dirty="0">
                <a:solidFill>
                  <a:srgbClr val="FF0000"/>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but with a </a:t>
            </a:r>
            <a:r>
              <a:rPr lang="en-US" sz="2000" dirty="0">
                <a:solidFill>
                  <a:srgbClr val="FF0000"/>
                </a:solidFill>
                <a:latin typeface="Arial" panose="020B0604020202020204" pitchFamily="34" charset="0"/>
                <a:cs typeface="Arial" panose="020B0604020202020204" pitchFamily="34" charset="0"/>
              </a:rPr>
              <a:t>normal P(A-a)O</a:t>
            </a:r>
            <a:r>
              <a:rPr lang="en-US" sz="1600" dirty="0">
                <a:solidFill>
                  <a:srgbClr val="FF0000"/>
                </a:solidFill>
                <a:latin typeface="Arial" panose="020B0604020202020204" pitchFamily="34" charset="0"/>
                <a:cs typeface="Arial" panose="020B0604020202020204" pitchFamily="34" charset="0"/>
              </a:rPr>
              <a:t>2</a:t>
            </a:r>
            <a:r>
              <a:rPr lang="en-US" sz="2000" dirty="0">
                <a:solidFill>
                  <a:srgbClr val="FF0000"/>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t>
            </a:r>
          </a:p>
          <a:p>
            <a:pPr lvl="2" algn="just">
              <a:lnSpc>
                <a:spcPct val="120000"/>
              </a:lnSpc>
            </a:pPr>
            <a:endParaRPr lang="en-US" sz="2000" dirty="0">
              <a:latin typeface="Arial" panose="020B0604020202020204" pitchFamily="34" charset="0"/>
              <a:cs typeface="Arial" panose="020B0604020202020204" pitchFamily="34" charset="0"/>
            </a:endParaRPr>
          </a:p>
          <a:p>
            <a:pPr lvl="1" algn="just">
              <a:lnSpc>
                <a:spcPct val="120000"/>
              </a:lnSpc>
            </a:pPr>
            <a:r>
              <a:rPr lang="en-US" sz="2200" dirty="0">
                <a:latin typeface="Arial" panose="020B0604020202020204" pitchFamily="34" charset="0"/>
                <a:cs typeface="Arial" panose="020B0604020202020204" pitchFamily="34" charset="0"/>
              </a:rPr>
              <a:t>It occurs when alveolar ventilation is insufficient to excrete the carbon dioxide being produced. </a:t>
            </a:r>
          </a:p>
          <a:p>
            <a:pPr lvl="2" algn="just">
              <a:lnSpc>
                <a:spcPct val="120000"/>
              </a:lnSpc>
            </a:pPr>
            <a:endParaRPr lang="en-US" sz="20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55</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244649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A636C-3BA1-32F4-0880-D725AD8AECFC}"/>
              </a:ext>
            </a:extLst>
          </p:cNvPr>
          <p:cNvSpPr>
            <a:spLocks noGrp="1"/>
          </p:cNvSpPr>
          <p:nvPr>
            <p:ph type="title"/>
          </p:nvPr>
        </p:nvSpPr>
        <p:spPr/>
        <p:txBody>
          <a:bodyPr>
            <a:normAutofit/>
          </a:bodyPr>
          <a:lstStyle/>
          <a:p>
            <a:r>
              <a:rPr lang="en-US" dirty="0">
                <a:solidFill>
                  <a:prstClr val="black"/>
                </a:solidFill>
                <a:latin typeface="Arial" panose="020B0604020202020204" pitchFamily="34" charset="0"/>
                <a:cs typeface="Arial" panose="020B0604020202020204" pitchFamily="34" charset="0"/>
              </a:rPr>
              <a:t>Type II respiratory failure…</a:t>
            </a:r>
            <a:r>
              <a:rPr lang="en-US" dirty="0">
                <a:latin typeface="Arial" panose="020B0604020202020204" pitchFamily="34" charset="0"/>
                <a:cs typeface="Arial" panose="020B0604020202020204" pitchFamily="34" charset="0"/>
              </a:rPr>
              <a:t>…</a:t>
            </a:r>
            <a:endParaRPr lang="en-US" dirty="0"/>
          </a:p>
        </p:txBody>
      </p:sp>
      <p:sp>
        <p:nvSpPr>
          <p:cNvPr id="3" name="Content Placeholder 2">
            <a:extLst>
              <a:ext uri="{FF2B5EF4-FFF2-40B4-BE49-F238E27FC236}">
                <a16:creationId xmlns:a16="http://schemas.microsoft.com/office/drawing/2014/main" id="{962FA287-9519-A994-139D-217DE2EBBB24}"/>
              </a:ext>
            </a:extLst>
          </p:cNvPr>
          <p:cNvSpPr>
            <a:spLocks noGrp="1"/>
          </p:cNvSpPr>
          <p:nvPr>
            <p:ph idx="1"/>
          </p:nvPr>
        </p:nvSpPr>
        <p:spPr>
          <a:xfrm>
            <a:off x="457200" y="1600200"/>
            <a:ext cx="8229600" cy="4525963"/>
          </a:xfrm>
        </p:spPr>
        <p:txBody>
          <a:bodyPr/>
          <a:lstStyle/>
          <a:p>
            <a:pPr algn="just"/>
            <a:r>
              <a:rPr lang="en-US" sz="2600" dirty="0">
                <a:latin typeface="Arial" panose="020B0604020202020204" pitchFamily="34" charset="0"/>
                <a:cs typeface="Arial" panose="020B0604020202020204" pitchFamily="34" charset="0"/>
              </a:rPr>
              <a:t>Inadequate ventilation is due to reduced ventilatory effort, or inability to overcome increased resistance to ventilation –</a:t>
            </a:r>
          </a:p>
          <a:p>
            <a:pPr lvl="1" algn="just"/>
            <a:r>
              <a:rPr lang="en-US" sz="2000" dirty="0">
                <a:latin typeface="Arial" panose="020B0604020202020204" pitchFamily="34" charset="0"/>
                <a:cs typeface="Arial" panose="020B0604020202020204" pitchFamily="34" charset="0"/>
              </a:rPr>
              <a:t> it affects the lung as a whole, and thus carbon dioxide accumulates.</a:t>
            </a:r>
          </a:p>
          <a:p>
            <a:pPr algn="just"/>
            <a:endParaRPr lang="en-US" sz="26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The most common cause is </a:t>
            </a:r>
            <a:r>
              <a:rPr lang="en-US" sz="2400" dirty="0">
                <a:solidFill>
                  <a:srgbClr val="FF0000"/>
                </a:solidFill>
                <a:latin typeface="Arial" panose="020B0604020202020204" pitchFamily="34" charset="0"/>
                <a:cs typeface="Arial" panose="020B0604020202020204" pitchFamily="34" charset="0"/>
              </a:rPr>
              <a:t>chronic obstructive pulmonary disease (COPD).</a:t>
            </a:r>
          </a:p>
          <a:p>
            <a:endParaRPr lang="en-US" dirty="0"/>
          </a:p>
        </p:txBody>
      </p:sp>
      <p:sp>
        <p:nvSpPr>
          <p:cNvPr id="4" name="Slide Number Placeholder 3">
            <a:extLst>
              <a:ext uri="{FF2B5EF4-FFF2-40B4-BE49-F238E27FC236}">
                <a16:creationId xmlns:a16="http://schemas.microsoft.com/office/drawing/2014/main" id="{EF393C5B-273C-6994-7B3B-5801D595D56D}"/>
              </a:ext>
            </a:extLst>
          </p:cNvPr>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29551549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07B02-3C56-C796-51FF-E06EBF0FEA5A}"/>
              </a:ext>
            </a:extLst>
          </p:cNvPr>
          <p:cNvSpPr>
            <a:spLocks noGrp="1"/>
          </p:cNvSpPr>
          <p:nvPr>
            <p:ph type="title"/>
          </p:nvPr>
        </p:nvSpPr>
        <p:spPr/>
        <p:txBody>
          <a:bodyPr>
            <a:noAutofit/>
          </a:bodyPr>
          <a:lstStyle/>
          <a:p>
            <a:pPr algn="l"/>
            <a:r>
              <a:rPr lang="en-US" sz="3200" dirty="0">
                <a:solidFill>
                  <a:prstClr val="black"/>
                </a:solidFill>
                <a:latin typeface="Arial" panose="020B0604020202020204" pitchFamily="34" charset="0"/>
                <a:cs typeface="Arial" panose="020B0604020202020204" pitchFamily="34" charset="0"/>
              </a:rPr>
              <a:t>Type II respiratory failure classification</a:t>
            </a:r>
            <a:endParaRPr lang="en-US" sz="3200" dirty="0"/>
          </a:p>
        </p:txBody>
      </p:sp>
      <p:sp>
        <p:nvSpPr>
          <p:cNvPr id="3" name="Text Placeholder 2">
            <a:extLst>
              <a:ext uri="{FF2B5EF4-FFF2-40B4-BE49-F238E27FC236}">
                <a16:creationId xmlns:a16="http://schemas.microsoft.com/office/drawing/2014/main" id="{5B338A9E-A83D-9407-8A90-70C609C35AB5}"/>
              </a:ext>
            </a:extLst>
          </p:cNvPr>
          <p:cNvSpPr>
            <a:spLocks noGrp="1"/>
          </p:cNvSpPr>
          <p:nvPr>
            <p:ph type="body" idx="1"/>
          </p:nvPr>
        </p:nvSpPr>
        <p:spPr>
          <a:xfrm>
            <a:off x="457200" y="1417638"/>
            <a:ext cx="4040188" cy="757237"/>
          </a:xfrm>
        </p:spPr>
        <p:txBody>
          <a:bodyPr/>
          <a:lstStyle/>
          <a:p>
            <a:r>
              <a:rPr lang="en-US" dirty="0"/>
              <a:t>Acute ventilatory failure (AVF)</a:t>
            </a:r>
          </a:p>
        </p:txBody>
      </p:sp>
      <p:sp>
        <p:nvSpPr>
          <p:cNvPr id="4" name="Content Placeholder 3">
            <a:extLst>
              <a:ext uri="{FF2B5EF4-FFF2-40B4-BE49-F238E27FC236}">
                <a16:creationId xmlns:a16="http://schemas.microsoft.com/office/drawing/2014/main" id="{42E963DD-38E1-B078-BE0D-2DFA68D86D59}"/>
              </a:ext>
            </a:extLst>
          </p:cNvPr>
          <p:cNvSpPr>
            <a:spLocks noGrp="1"/>
          </p:cNvSpPr>
          <p:nvPr>
            <p:ph sz="half" idx="2"/>
          </p:nvPr>
        </p:nvSpPr>
        <p:spPr/>
        <p:txBody>
          <a:bodyPr>
            <a:normAutofit fontScale="92500" lnSpcReduction="10000"/>
          </a:bodyPr>
          <a:lstStyle/>
          <a:p>
            <a:r>
              <a:rPr lang="en-US" dirty="0"/>
              <a:t>a sudden increase in arterial PaCO2 with a corresponding decrease in pH.. </a:t>
            </a:r>
          </a:p>
          <a:p>
            <a:r>
              <a:rPr lang="en-US" dirty="0"/>
              <a:t>Causes : </a:t>
            </a:r>
          </a:p>
          <a:p>
            <a:pPr lvl="1"/>
            <a:r>
              <a:rPr lang="en-US" dirty="0"/>
              <a:t>decreased respiratory drive, airway obstruction, an increased work of breathing, or respiratory muscle fatigue</a:t>
            </a:r>
          </a:p>
        </p:txBody>
      </p:sp>
      <p:sp>
        <p:nvSpPr>
          <p:cNvPr id="5" name="Text Placeholder 4">
            <a:extLst>
              <a:ext uri="{FF2B5EF4-FFF2-40B4-BE49-F238E27FC236}">
                <a16:creationId xmlns:a16="http://schemas.microsoft.com/office/drawing/2014/main" id="{4701B3DE-3F67-3E4C-AF58-94EE495B232D}"/>
              </a:ext>
            </a:extLst>
          </p:cNvPr>
          <p:cNvSpPr>
            <a:spLocks noGrp="1"/>
          </p:cNvSpPr>
          <p:nvPr>
            <p:ph type="body" sz="quarter" idx="3"/>
          </p:nvPr>
        </p:nvSpPr>
        <p:spPr/>
        <p:txBody>
          <a:bodyPr/>
          <a:lstStyle/>
          <a:p>
            <a:r>
              <a:rPr lang="en-US" dirty="0"/>
              <a:t>Chronic ventilatory failure</a:t>
            </a:r>
          </a:p>
        </p:txBody>
      </p:sp>
      <p:sp>
        <p:nvSpPr>
          <p:cNvPr id="6" name="Content Placeholder 5">
            <a:extLst>
              <a:ext uri="{FF2B5EF4-FFF2-40B4-BE49-F238E27FC236}">
                <a16:creationId xmlns:a16="http://schemas.microsoft.com/office/drawing/2014/main" id="{06563FFB-2887-6DE2-D865-A014F60F9768}"/>
              </a:ext>
            </a:extLst>
          </p:cNvPr>
          <p:cNvSpPr>
            <a:spLocks noGrp="1"/>
          </p:cNvSpPr>
          <p:nvPr>
            <p:ph sz="quarter" idx="4"/>
          </p:nvPr>
        </p:nvSpPr>
        <p:spPr/>
        <p:txBody>
          <a:bodyPr>
            <a:normAutofit fontScale="92500" lnSpcReduction="10000"/>
          </a:bodyPr>
          <a:lstStyle/>
          <a:p>
            <a:r>
              <a:rPr lang="en-US" dirty="0"/>
              <a:t>It is defined as a chronically elevated PaCO</a:t>
            </a:r>
            <a:r>
              <a:rPr lang="en-US" sz="1800" dirty="0"/>
              <a:t>2</a:t>
            </a:r>
            <a:r>
              <a:rPr lang="en-US" dirty="0"/>
              <a:t>, with a normal or near-normal pH owing to metabolic compensation. </a:t>
            </a:r>
          </a:p>
          <a:p>
            <a:r>
              <a:rPr lang="en-US" dirty="0"/>
              <a:t>Common cause:</a:t>
            </a:r>
          </a:p>
          <a:p>
            <a:pPr lvl="1"/>
            <a:r>
              <a:rPr lang="en-US" dirty="0"/>
              <a:t>COPD, although not all patients with COPD develop it.</a:t>
            </a:r>
          </a:p>
          <a:p>
            <a:r>
              <a:rPr lang="en-US" dirty="0"/>
              <a:t>It is also seen in patients with late-stage cystic fibrosis, severe interstitial lung disease, and obesity–hypoventilation syndrome</a:t>
            </a:r>
          </a:p>
        </p:txBody>
      </p:sp>
      <p:sp>
        <p:nvSpPr>
          <p:cNvPr id="7" name="Slide Number Placeholder 6">
            <a:extLst>
              <a:ext uri="{FF2B5EF4-FFF2-40B4-BE49-F238E27FC236}">
                <a16:creationId xmlns:a16="http://schemas.microsoft.com/office/drawing/2014/main" id="{10293A0E-E230-7A73-C285-9F899D4DD77A}"/>
              </a:ext>
            </a:extLst>
          </p:cNvPr>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18132010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DBE71-FE21-B1AA-1AED-D19BFB606D4F}"/>
              </a:ext>
            </a:extLst>
          </p:cNvPr>
          <p:cNvSpPr>
            <a:spLocks noGrp="1"/>
          </p:cNvSpPr>
          <p:nvPr>
            <p:ph type="title"/>
          </p:nvPr>
        </p:nvSpPr>
        <p:spPr>
          <a:xfrm>
            <a:off x="457200" y="273050"/>
            <a:ext cx="6248400" cy="792163"/>
          </a:xfrm>
        </p:spPr>
        <p:txBody>
          <a:bodyPr>
            <a:normAutofit/>
          </a:bodyPr>
          <a:lstStyle/>
          <a:p>
            <a:r>
              <a:rPr lang="en-US" dirty="0">
                <a:solidFill>
                  <a:prstClr val="black"/>
                </a:solidFill>
                <a:latin typeface="Arial" panose="020B0604020202020204" pitchFamily="34" charset="0"/>
                <a:cs typeface="Arial" panose="020B0604020202020204" pitchFamily="34" charset="0"/>
              </a:rPr>
              <a:t>Type II respiratory failure classification…</a:t>
            </a:r>
            <a:endParaRPr lang="en-US" dirty="0"/>
          </a:p>
        </p:txBody>
      </p:sp>
      <p:sp>
        <p:nvSpPr>
          <p:cNvPr id="3" name="Content Placeholder 2">
            <a:extLst>
              <a:ext uri="{FF2B5EF4-FFF2-40B4-BE49-F238E27FC236}">
                <a16:creationId xmlns:a16="http://schemas.microsoft.com/office/drawing/2014/main" id="{58C59C21-E18B-0C04-4B21-618EDF0DC4B7}"/>
              </a:ext>
            </a:extLst>
          </p:cNvPr>
          <p:cNvSpPr>
            <a:spLocks noGrp="1"/>
          </p:cNvSpPr>
          <p:nvPr>
            <p:ph idx="1"/>
          </p:nvPr>
        </p:nvSpPr>
        <p:spPr>
          <a:xfrm>
            <a:off x="3200400" y="1435100"/>
            <a:ext cx="5486400" cy="4691063"/>
          </a:xfrm>
        </p:spPr>
        <p:style>
          <a:lnRef idx="2">
            <a:schemeClr val="accent1"/>
          </a:lnRef>
          <a:fillRef idx="1">
            <a:schemeClr val="lt1"/>
          </a:fillRef>
          <a:effectRef idx="0">
            <a:schemeClr val="accent1"/>
          </a:effectRef>
          <a:fontRef idx="minor">
            <a:schemeClr val="dk1"/>
          </a:fontRef>
        </p:style>
        <p:txBody>
          <a:bodyPr>
            <a:normAutofit/>
          </a:bodyPr>
          <a:lstStyle/>
          <a:p>
            <a:r>
              <a:rPr lang="en-US" sz="2200" b="1" dirty="0">
                <a:solidFill>
                  <a:schemeClr val="tx1"/>
                </a:solidFill>
                <a:latin typeface="Arial" panose="020B0604020202020204" pitchFamily="34" charset="0"/>
                <a:cs typeface="Arial" panose="020B0604020202020204" pitchFamily="34" charset="0"/>
              </a:rPr>
              <a:t>A chronically elevated PaCO</a:t>
            </a:r>
            <a:r>
              <a:rPr lang="en-US" sz="1800" b="1" dirty="0">
                <a:solidFill>
                  <a:schemeClr val="tx1"/>
                </a:solidFill>
                <a:latin typeface="Arial" panose="020B0604020202020204" pitchFamily="34" charset="0"/>
                <a:cs typeface="Arial" panose="020B0604020202020204" pitchFamily="34" charset="0"/>
              </a:rPr>
              <a:t>2</a:t>
            </a:r>
            <a:r>
              <a:rPr lang="en-US" sz="2200" b="1" dirty="0">
                <a:solidFill>
                  <a:schemeClr val="tx1"/>
                </a:solidFill>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followed by </a:t>
            </a:r>
            <a:r>
              <a:rPr lang="en-US" sz="2200" b="1" dirty="0">
                <a:solidFill>
                  <a:schemeClr val="tx1"/>
                </a:solidFill>
                <a:latin typeface="Arial" panose="020B0604020202020204" pitchFamily="34" charset="0"/>
                <a:cs typeface="Arial" panose="020B0604020202020204" pitchFamily="34" charset="0"/>
              </a:rPr>
              <a:t>an acute increase in </a:t>
            </a:r>
            <a:r>
              <a:rPr lang="en-US" sz="2200" b="1" dirty="0">
                <a:latin typeface="Arial" panose="020B0604020202020204" pitchFamily="34" charset="0"/>
                <a:cs typeface="Arial" panose="020B0604020202020204" pitchFamily="34" charset="0"/>
              </a:rPr>
              <a:t>PaCO</a:t>
            </a:r>
            <a:r>
              <a:rPr lang="en-US" sz="1800" b="1"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and a corresponding </a:t>
            </a:r>
            <a:r>
              <a:rPr lang="en-US" sz="2200" b="1" dirty="0">
                <a:latin typeface="Arial" panose="020B0604020202020204" pitchFamily="34" charset="0"/>
                <a:cs typeface="Arial" panose="020B0604020202020204" pitchFamily="34" charset="0"/>
              </a:rPr>
              <a:t>decrease in pH</a:t>
            </a:r>
            <a:r>
              <a:rPr lang="en-US" sz="2200" dirty="0">
                <a:latin typeface="Arial" panose="020B0604020202020204" pitchFamily="34" charset="0"/>
                <a:cs typeface="Arial" panose="020B0604020202020204" pitchFamily="34" charset="0"/>
              </a:rPr>
              <a:t>.</a:t>
            </a:r>
          </a:p>
          <a:p>
            <a:pPr lvl="1"/>
            <a:r>
              <a:rPr lang="en-US" sz="1800" dirty="0">
                <a:latin typeface="Arial" panose="020B0604020202020204" pitchFamily="34" charset="0"/>
                <a:cs typeface="Arial" panose="020B0604020202020204" pitchFamily="34" charset="0"/>
              </a:rPr>
              <a:t>For example, a COPD patient with chronic ventilatory failure may acutely develop pneumonia, resulting in a further increase in PaCO2. </a:t>
            </a:r>
          </a:p>
          <a:p>
            <a:r>
              <a:rPr lang="en-US" sz="2200" dirty="0">
                <a:latin typeface="Arial" panose="020B0604020202020204" pitchFamily="34" charset="0"/>
                <a:cs typeface="Arial" panose="020B0604020202020204" pitchFamily="34" charset="0"/>
              </a:rPr>
              <a:t>Patients may require mechanical ventilatory support</a:t>
            </a:r>
          </a:p>
        </p:txBody>
      </p:sp>
      <p:sp>
        <p:nvSpPr>
          <p:cNvPr id="4" name="Text Placeholder 3">
            <a:extLst>
              <a:ext uri="{FF2B5EF4-FFF2-40B4-BE49-F238E27FC236}">
                <a16:creationId xmlns:a16="http://schemas.microsoft.com/office/drawing/2014/main" id="{925F2C5B-1665-DA59-088B-3A5F3C01F9F7}"/>
              </a:ext>
            </a:extLst>
          </p:cNvPr>
          <p:cNvSpPr>
            <a:spLocks noGrp="1"/>
          </p:cNvSpPr>
          <p:nvPr>
            <p:ph type="body" sz="half" idx="2"/>
          </p:nvPr>
        </p:nvSpPr>
        <p:spPr>
          <a:xfrm>
            <a:off x="228601" y="1435100"/>
            <a:ext cx="2743200" cy="4691063"/>
          </a:xfrm>
        </p:spPr>
        <p:style>
          <a:lnRef idx="2">
            <a:schemeClr val="accent2"/>
          </a:lnRef>
          <a:fillRef idx="1">
            <a:schemeClr val="lt1"/>
          </a:fillRef>
          <a:effectRef idx="0">
            <a:schemeClr val="accent2"/>
          </a:effectRef>
          <a:fontRef idx="minor">
            <a:schemeClr val="dk1"/>
          </a:fontRef>
        </p:style>
        <p:txBody>
          <a:bodyPr>
            <a:normAutofit/>
          </a:bodyPr>
          <a:lstStyle/>
          <a:p>
            <a:r>
              <a:rPr lang="en-US" sz="2000" b="1" dirty="0"/>
              <a:t>Acute ventilatory failure superimposed on chronic ventilatory failure</a:t>
            </a:r>
            <a:endParaRPr lang="en-US" sz="2000" dirty="0"/>
          </a:p>
        </p:txBody>
      </p:sp>
      <p:sp>
        <p:nvSpPr>
          <p:cNvPr id="5" name="Slide Number Placeholder 4">
            <a:extLst>
              <a:ext uri="{FF2B5EF4-FFF2-40B4-BE49-F238E27FC236}">
                <a16:creationId xmlns:a16="http://schemas.microsoft.com/office/drawing/2014/main" id="{A510CF72-A4C7-CB4B-DB39-FA41A628216D}"/>
              </a:ext>
            </a:extLst>
          </p:cNvPr>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27974348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prstClr val="black"/>
                </a:solidFill>
                <a:latin typeface="Arial" panose="020B0604020202020204" pitchFamily="34" charset="0"/>
                <a:cs typeface="Arial" panose="020B0604020202020204" pitchFamily="34" charset="0"/>
              </a:rPr>
              <a:t>Types of respiratory failure…</a:t>
            </a:r>
            <a:r>
              <a:rPr lang="en-US" sz="3200" dirty="0">
                <a:latin typeface="Arial" panose="020B0604020202020204" pitchFamily="34" charset="0"/>
                <a:cs typeface="Arial" panose="020B0604020202020204" pitchFamily="34" charset="0"/>
              </a:rPr>
              <a:t>…</a:t>
            </a:r>
          </a:p>
        </p:txBody>
      </p:sp>
      <p:sp>
        <p:nvSpPr>
          <p:cNvPr id="3" name="Content Placeholder 2"/>
          <p:cNvSpPr>
            <a:spLocks noGrp="1"/>
          </p:cNvSpPr>
          <p:nvPr>
            <p:ph idx="1"/>
          </p:nvPr>
        </p:nvSpPr>
        <p:spPr/>
        <p:txBody>
          <a:bodyPr>
            <a:normAutofit/>
          </a:bodyPr>
          <a:lstStyle/>
          <a:p>
            <a:pPr>
              <a:lnSpc>
                <a:spcPct val="120000"/>
              </a:lnSpc>
            </a:pPr>
            <a:r>
              <a:rPr lang="en-US" sz="2400" b="1" dirty="0">
                <a:latin typeface="Arial" panose="020B0604020202020204" pitchFamily="34" charset="0"/>
                <a:cs typeface="Arial" panose="020B0604020202020204" pitchFamily="34" charset="0"/>
              </a:rPr>
              <a:t>Combined ventilatory and hypoxic respiratory failure</a:t>
            </a:r>
          </a:p>
          <a:p>
            <a:pPr lvl="1">
              <a:lnSpc>
                <a:spcPct val="120000"/>
              </a:lnSpc>
            </a:pPr>
            <a:r>
              <a:rPr lang="en-US" sz="2000" dirty="0">
                <a:latin typeface="Arial" panose="020B0604020202020204" pitchFamily="34" charset="0"/>
                <a:cs typeface="Arial" panose="020B0604020202020204" pitchFamily="34" charset="0"/>
              </a:rPr>
              <a:t>Manifests with </a:t>
            </a:r>
          </a:p>
          <a:p>
            <a:pPr lvl="2">
              <a:lnSpc>
                <a:spcPct val="120000"/>
              </a:lnSpc>
            </a:pPr>
            <a:r>
              <a:rPr lang="en-US" sz="2000" dirty="0">
                <a:latin typeface="Arial" panose="020B0604020202020204" pitchFamily="34" charset="0"/>
                <a:cs typeface="Arial" panose="020B0604020202020204" pitchFamily="34" charset="0"/>
              </a:rPr>
              <a:t>a low PaO</a:t>
            </a:r>
            <a:r>
              <a:rPr lang="en-US" sz="16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a:t>
            </a:r>
          </a:p>
          <a:p>
            <a:pPr lvl="2">
              <a:lnSpc>
                <a:spcPct val="120000"/>
              </a:lnSpc>
            </a:pPr>
            <a:r>
              <a:rPr lang="en-US" sz="2000" dirty="0">
                <a:latin typeface="Arial" panose="020B0604020202020204" pitchFamily="34" charset="0"/>
                <a:cs typeface="Arial" panose="020B0604020202020204" pitchFamily="34" charset="0"/>
              </a:rPr>
              <a:t>an elevated PaCO</a:t>
            </a:r>
            <a:r>
              <a:rPr lang="en-US" sz="16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a:t>
            </a:r>
          </a:p>
          <a:p>
            <a:pPr lvl="2">
              <a:lnSpc>
                <a:spcPct val="120000"/>
              </a:lnSpc>
            </a:pPr>
            <a:r>
              <a:rPr lang="en-US" sz="2000" dirty="0">
                <a:latin typeface="Arial" panose="020B0604020202020204" pitchFamily="34" charset="0"/>
                <a:cs typeface="Arial" panose="020B0604020202020204" pitchFamily="34" charset="0"/>
              </a:rPr>
              <a:t>as well as an increased P(A-a)O</a:t>
            </a:r>
            <a:r>
              <a:rPr lang="en-US" sz="16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a:t>
            </a:r>
          </a:p>
          <a:p>
            <a:pPr marL="0" indent="0">
              <a:buNone/>
            </a:pPr>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59</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99552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3B678-5692-9EEA-820D-53BF1A8FD2A8}"/>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51F63E34-A28E-4259-8A2E-FAE3261AC8E4}"/>
              </a:ext>
            </a:extLst>
          </p:cNvPr>
          <p:cNvSpPr>
            <a:spLocks noGrp="1"/>
          </p:cNvSpPr>
          <p:nvPr>
            <p:ph idx="1"/>
          </p:nvPr>
        </p:nvSpPr>
        <p:spPr/>
        <p:txBody>
          <a:bodyPr>
            <a:normAutofit fontScale="92500" lnSpcReduction="10000"/>
          </a:bodyPr>
          <a:lstStyle/>
          <a:p>
            <a:r>
              <a:rPr lang="en-US" sz="2600" b="1" dirty="0">
                <a:latin typeface="Arial" panose="020B0604020202020204" pitchFamily="34" charset="0"/>
                <a:cs typeface="Arial" panose="020B0604020202020204" pitchFamily="34" charset="0"/>
              </a:rPr>
              <a:t>Impending ventilatory failure</a:t>
            </a:r>
          </a:p>
          <a:p>
            <a:r>
              <a:rPr lang="en-US" sz="2500" dirty="0">
                <a:latin typeface="Arial" panose="020B0604020202020204" pitchFamily="34" charset="0"/>
                <a:cs typeface="Arial" panose="020B0604020202020204" pitchFamily="34" charset="0"/>
              </a:rPr>
              <a:t>It is a category in which hypoventilation and hypercapnia are not yet present but</a:t>
            </a:r>
          </a:p>
          <a:p>
            <a:pPr lvl="1"/>
            <a:r>
              <a:rPr lang="en-US" sz="26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are likely to occur in the immediate future if no action is taken. </a:t>
            </a:r>
          </a:p>
          <a:p>
            <a:pPr lvl="2"/>
            <a:r>
              <a:rPr lang="en-US" dirty="0">
                <a:latin typeface="Arial" panose="020B0604020202020204" pitchFamily="34" charset="0"/>
                <a:cs typeface="Arial" panose="020B0604020202020204" pitchFamily="34" charset="0"/>
              </a:rPr>
              <a:t>For example, adult patients with </a:t>
            </a:r>
          </a:p>
          <a:p>
            <a:pPr lvl="3"/>
            <a:r>
              <a:rPr lang="en-US" dirty="0">
                <a:latin typeface="Arial" panose="020B0604020202020204" pitchFamily="34" charset="0"/>
                <a:cs typeface="Arial" panose="020B0604020202020204" pitchFamily="34" charset="0"/>
              </a:rPr>
              <a:t>markedly increased respiratory rates (&gt; 35 breaths/min), </a:t>
            </a:r>
          </a:p>
          <a:p>
            <a:pPr lvl="3"/>
            <a:r>
              <a:rPr lang="en-US" dirty="0">
                <a:latin typeface="Arial" panose="020B0604020202020204" pitchFamily="34" charset="0"/>
                <a:cs typeface="Arial" panose="020B0604020202020204" pitchFamily="34" charset="0"/>
              </a:rPr>
              <a:t>hyperventilation (i.e., decreased PaCO2),</a:t>
            </a:r>
          </a:p>
          <a:p>
            <a:pPr lvl="3"/>
            <a:r>
              <a:rPr lang="en-US" dirty="0">
                <a:latin typeface="Arial" panose="020B0604020202020204" pitchFamily="34" charset="0"/>
                <a:cs typeface="Arial" panose="020B0604020202020204" pitchFamily="34" charset="0"/>
              </a:rPr>
              <a:t> severe distress, accessory muscle use, diaphoresis, and air hunger may rapidly progress to a state of severe hypoventilation and possible respiratory arrest.</a:t>
            </a:r>
            <a:br>
              <a:rPr lang="en-US" sz="4000" dirty="0">
                <a:latin typeface="Arial" panose="020B0604020202020204" pitchFamily="34" charset="0"/>
                <a:cs typeface="Arial" panose="020B0604020202020204" pitchFamily="34" charset="0"/>
              </a:rPr>
            </a:br>
            <a:endParaRPr lang="en-US" sz="4000"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4F4802D-490A-1439-9EDE-1DB4E0E1DC87}"/>
              </a:ext>
            </a:extLst>
          </p:cNvPr>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p14="http://schemas.microsoft.com/office/powerpoint/2010/main" val="7096649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048"/>
          <p:cNvGraphicFramePr>
            <a:graphicFrameLocks noChangeAspect="1"/>
          </p:cNvGraphicFramePr>
          <p:nvPr>
            <p:extLst>
              <p:ext uri="{D42A27DB-BD31-4B8C-83A1-F6EECF244321}">
                <p14:modId xmlns:p14="http://schemas.microsoft.com/office/powerpoint/2010/main" val="139236234"/>
              </p:ext>
            </p:extLst>
          </p:nvPr>
        </p:nvGraphicFramePr>
        <p:xfrm>
          <a:off x="457200" y="152400"/>
          <a:ext cx="8763000" cy="6629400"/>
        </p:xfrm>
        <a:graphic>
          <a:graphicData uri="http://schemas.openxmlformats.org/presentationml/2006/ole">
            <mc:AlternateContent xmlns:mc="http://schemas.openxmlformats.org/markup-compatibility/2006">
              <mc:Choice xmlns:v="urn:schemas-microsoft-com:vml" Requires="v">
                <p:oleObj name="Slide" r:id="rId2" imgW="4064677" imgH="3048164" progId="PowerPoint.Slide.8">
                  <p:embed/>
                </p:oleObj>
              </mc:Choice>
              <mc:Fallback>
                <p:oleObj name="Slide" r:id="rId2" imgW="4064677" imgH="3048164" progId="PowerPoint.Slide.8">
                  <p:embed/>
                  <p:pic>
                    <p:nvPicPr>
                      <p:cNvPr id="0" name=""/>
                      <p:cNvPicPr>
                        <a:picLocks noChangeAspect="1" noChangeArrowheads="1"/>
                      </p:cNvPicPr>
                      <p:nvPr/>
                    </p:nvPicPr>
                    <p:blipFill>
                      <a:blip r:embed="rId3"/>
                      <a:srcRect/>
                      <a:stretch>
                        <a:fillRect/>
                      </a:stretch>
                    </p:blipFill>
                    <p:spPr bwMode="auto">
                      <a:xfrm>
                        <a:off x="457200" y="152400"/>
                        <a:ext cx="8763000"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8291" name="Text Box 2051"/>
          <p:cNvSpPr txBox="1">
            <a:spLocks noChangeArrowheads="1"/>
          </p:cNvSpPr>
          <p:nvPr/>
        </p:nvSpPr>
        <p:spPr bwMode="auto">
          <a:xfrm>
            <a:off x="609600" y="3352800"/>
            <a:ext cx="1295400" cy="1370013"/>
          </a:xfrm>
          <a:prstGeom prst="rect">
            <a:avLst/>
          </a:prstGeom>
          <a:noFill/>
          <a:ln w="12700">
            <a:noFill/>
            <a:miter lim="800000"/>
            <a:headEnd/>
            <a:tailEnd/>
          </a:ln>
          <a:effectLst/>
        </p:spPr>
        <p:txBody>
          <a:bodyPr>
            <a:spAutoFit/>
          </a:bodyPr>
          <a:lstStyle/>
          <a:p>
            <a:pPr>
              <a:spcBef>
                <a:spcPct val="50000"/>
              </a:spcBef>
              <a:defRPr/>
            </a:pPr>
            <a:r>
              <a:rPr lang="en-US">
                <a:effectLst>
                  <a:outerShdw blurRad="38100" dist="38100" dir="2700000" algn="tl">
                    <a:srgbClr val="C0C0C0"/>
                  </a:outerShdw>
                </a:effectLst>
              </a:rPr>
              <a:t>Inhaling</a:t>
            </a:r>
          </a:p>
          <a:p>
            <a:pPr>
              <a:spcBef>
                <a:spcPct val="50000"/>
              </a:spcBef>
              <a:defRPr/>
            </a:pPr>
            <a:r>
              <a:rPr lang="en-US">
                <a:effectLst>
                  <a:outerShdw blurRad="38100" dist="38100" dir="2700000" algn="tl">
                    <a:srgbClr val="C0C0C0"/>
                  </a:outerShdw>
                </a:effectLst>
              </a:rPr>
              <a:t>Affects PaO2</a:t>
            </a:r>
          </a:p>
        </p:txBody>
      </p:sp>
      <p:sp>
        <p:nvSpPr>
          <p:cNvPr id="268292" name="Text Box 2052"/>
          <p:cNvSpPr txBox="1">
            <a:spLocks noChangeArrowheads="1"/>
          </p:cNvSpPr>
          <p:nvPr/>
        </p:nvSpPr>
        <p:spPr bwMode="auto">
          <a:xfrm>
            <a:off x="7543800" y="3581400"/>
            <a:ext cx="1371600" cy="1370013"/>
          </a:xfrm>
          <a:prstGeom prst="rect">
            <a:avLst/>
          </a:prstGeom>
          <a:noFill/>
          <a:ln w="12700">
            <a:noFill/>
            <a:miter lim="800000"/>
            <a:headEnd/>
            <a:tailEnd/>
          </a:ln>
          <a:effectLst/>
        </p:spPr>
        <p:txBody>
          <a:bodyPr>
            <a:spAutoFit/>
          </a:bodyPr>
          <a:lstStyle/>
          <a:p>
            <a:pPr>
              <a:spcBef>
                <a:spcPct val="50000"/>
              </a:spcBef>
              <a:defRPr/>
            </a:pPr>
            <a:r>
              <a:rPr lang="en-US" dirty="0">
                <a:effectLst>
                  <a:outerShdw blurRad="38100" dist="38100" dir="2700000" algn="tl">
                    <a:srgbClr val="C0C0C0"/>
                  </a:outerShdw>
                </a:effectLst>
              </a:rPr>
              <a:t>Exhaling</a:t>
            </a:r>
          </a:p>
          <a:p>
            <a:pPr>
              <a:spcBef>
                <a:spcPct val="50000"/>
              </a:spcBef>
              <a:defRPr/>
            </a:pPr>
            <a:r>
              <a:rPr lang="en-US" dirty="0">
                <a:effectLst>
                  <a:outerShdw blurRad="38100" dist="38100" dir="2700000" algn="tl">
                    <a:srgbClr val="C0C0C0"/>
                  </a:outerShdw>
                </a:effectLst>
              </a:rPr>
              <a:t>Affects PCO2</a:t>
            </a:r>
          </a:p>
        </p:txBody>
      </p:sp>
      <p:sp>
        <p:nvSpPr>
          <p:cNvPr id="3" name="Slide Number Placeholder 2"/>
          <p:cNvSpPr>
            <a:spLocks noGrp="1"/>
          </p:cNvSpPr>
          <p:nvPr>
            <p:ph type="sldNum" sz="quarter" idx="12"/>
          </p:nvPr>
        </p:nvSpPr>
        <p:spPr/>
        <p:txBody>
          <a:bodyPr/>
          <a:lstStyle/>
          <a:p>
            <a:fld id="{B6F15528-21DE-4FAA-801E-634DDDAF4B2B}" type="slidenum">
              <a:rPr lang="en-US" smtClean="0"/>
              <a:pPr/>
              <a:t>61</a:t>
            </a:fld>
            <a:endParaRPr lang="en-US"/>
          </a:p>
        </p:txBody>
      </p:sp>
    </p:spTree>
    <p:extLst>
      <p:ext uri="{BB962C8B-B14F-4D97-AF65-F5344CB8AC3E}">
        <p14:creationId xmlns:p14="http://schemas.microsoft.com/office/powerpoint/2010/main" val="11279650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latin typeface="Arial" panose="020B0604020202020204" pitchFamily="34" charset="0"/>
                <a:cs typeface="Arial" panose="020B0604020202020204" pitchFamily="34" charset="0"/>
              </a:rPr>
              <a:t>Causes of Respiratory failure</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600200"/>
            <a:ext cx="8382000" cy="4525963"/>
          </a:xfrm>
        </p:spPr>
        <p:txBody>
          <a:bodyPr>
            <a:normAutofit/>
          </a:bodyPr>
          <a:lstStyle/>
          <a:p>
            <a:pPr>
              <a:lnSpc>
                <a:spcPct val="150000"/>
              </a:lnSpc>
              <a:defRPr/>
            </a:pPr>
            <a:r>
              <a:rPr lang="en-US" sz="2600" b="1" dirty="0">
                <a:latin typeface="Arial" panose="020B0604020202020204" pitchFamily="34" charset="0"/>
                <a:cs typeface="Arial" panose="020B0604020202020204" pitchFamily="34" charset="0"/>
              </a:rPr>
              <a:t>Hypoxemic Respiratory Failure</a:t>
            </a:r>
          </a:p>
          <a:p>
            <a:pPr lvl="1">
              <a:lnSpc>
                <a:spcPct val="150000"/>
              </a:lnSpc>
              <a:defRPr/>
            </a:pPr>
            <a:r>
              <a:rPr lang="en-US" sz="2200" dirty="0">
                <a:latin typeface="Arial" panose="020B0604020202020204" pitchFamily="34" charset="0"/>
                <a:cs typeface="Arial" panose="020B0604020202020204" pitchFamily="34" charset="0"/>
              </a:rPr>
              <a:t>Diseases that damage lung tissues: pulmonary edema, pneumonia, ARDS, and chronic pulmonary fibrosing alveolitis.</a:t>
            </a:r>
          </a:p>
          <a:p>
            <a:pPr>
              <a:lnSpc>
                <a:spcPct val="150000"/>
              </a:lnSpc>
              <a:defRPr/>
            </a:pPr>
            <a:r>
              <a:rPr lang="en-US" sz="2200" dirty="0">
                <a:latin typeface="Arial" panose="020B0604020202020204" pitchFamily="34" charset="0"/>
                <a:cs typeface="Arial" panose="020B0604020202020204" pitchFamily="34" charset="0"/>
              </a:rPr>
              <a:t>Oxygenation problems</a:t>
            </a:r>
          </a:p>
          <a:p>
            <a:pPr marL="571500" indent="-571500">
              <a:buFont typeface="+mj-lt"/>
              <a:buAutoNum type="romanLcPeriod"/>
              <a:defRPr/>
            </a:pPr>
            <a:r>
              <a:rPr lang="en-US" sz="2200" dirty="0">
                <a:latin typeface="Arial" panose="020B0604020202020204" pitchFamily="34" charset="0"/>
                <a:cs typeface="Arial" panose="020B0604020202020204" pitchFamily="34" charset="0"/>
              </a:rPr>
              <a:t>V/Q Mismatch</a:t>
            </a:r>
          </a:p>
          <a:p>
            <a:pPr marL="571500" indent="-571500">
              <a:buFont typeface="+mj-lt"/>
              <a:buAutoNum type="romanLcPeriod"/>
              <a:defRPr/>
            </a:pPr>
            <a:r>
              <a:rPr lang="en-US" sz="2200" dirty="0">
                <a:latin typeface="Arial" panose="020B0604020202020204" pitchFamily="34" charset="0"/>
                <a:cs typeface="Arial" panose="020B0604020202020204" pitchFamily="34" charset="0"/>
              </a:rPr>
              <a:t>Shunt</a:t>
            </a:r>
          </a:p>
          <a:p>
            <a:pPr marL="571500" indent="-571500">
              <a:buFont typeface="+mj-lt"/>
              <a:buAutoNum type="romanLcPeriod"/>
              <a:defRPr/>
            </a:pPr>
            <a:r>
              <a:rPr lang="en-US" sz="2200" dirty="0">
                <a:latin typeface="Arial" panose="020B0604020202020204" pitchFamily="34" charset="0"/>
                <a:cs typeface="Arial" panose="020B0604020202020204" pitchFamily="34" charset="0"/>
              </a:rPr>
              <a:t>Diffusion Limitation</a:t>
            </a:r>
          </a:p>
          <a:p>
            <a:pPr marL="571500" indent="-571500">
              <a:buFont typeface="+mj-lt"/>
              <a:buAutoNum type="romanLcPeriod"/>
              <a:defRPr/>
            </a:pPr>
            <a:r>
              <a:rPr lang="en-US" sz="2200" dirty="0">
                <a:latin typeface="Arial" panose="020B0604020202020204" pitchFamily="34" charset="0"/>
                <a:cs typeface="Arial" panose="020B0604020202020204" pitchFamily="34" charset="0"/>
              </a:rPr>
              <a:t>Alveolar Hypoventilation- increased CO2 and decreased PO2</a:t>
            </a: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62</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74334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rtl="0">
              <a:spcBef>
                <a:spcPct val="0"/>
              </a:spcBef>
            </a:pPr>
            <a:r>
              <a:rPr lang="en-US" sz="2800" dirty="0">
                <a:solidFill>
                  <a:schemeClr val="tx1"/>
                </a:solidFill>
                <a:latin typeface="Arial" panose="020B0604020202020204" pitchFamily="34" charset="0"/>
                <a:cs typeface="Arial" panose="020B0604020202020204" pitchFamily="34" charset="0"/>
              </a:rPr>
              <a:t>Causes of Respiratory failure…</a:t>
            </a:r>
          </a:p>
        </p:txBody>
      </p:sp>
      <p:sp>
        <p:nvSpPr>
          <p:cNvPr id="3" name="Content Placeholder 2"/>
          <p:cNvSpPr>
            <a:spLocks noGrp="1"/>
          </p:cNvSpPr>
          <p:nvPr>
            <p:ph idx="1"/>
          </p:nvPr>
        </p:nvSpPr>
        <p:spPr>
          <a:xfrm>
            <a:off x="533400" y="1371600"/>
            <a:ext cx="8305800" cy="4984750"/>
          </a:xfrm>
        </p:spPr>
        <p:txBody>
          <a:bodyPr>
            <a:noAutofit/>
          </a:bodyPr>
          <a:lstStyle/>
          <a:p>
            <a:pPr>
              <a:lnSpc>
                <a:spcPct val="80000"/>
              </a:lnSpc>
              <a:buFont typeface="Wingdings" pitchFamily="2" charset="2"/>
              <a:buChar char="q"/>
              <a:defRPr/>
            </a:pPr>
            <a:r>
              <a:rPr lang="en-US" sz="2400" dirty="0">
                <a:latin typeface="Arial" panose="020B0604020202020204" pitchFamily="34" charset="0"/>
                <a:cs typeface="Arial" panose="020B0604020202020204" pitchFamily="34" charset="0"/>
              </a:rPr>
              <a:t>V/Q mismatch</a:t>
            </a:r>
          </a:p>
          <a:p>
            <a:pPr>
              <a:lnSpc>
                <a:spcPct val="80000"/>
              </a:lnSpc>
              <a:buFont typeface="Wingdings" pitchFamily="2" charset="2"/>
              <a:buChar char="ü"/>
              <a:defRPr/>
            </a:pPr>
            <a:r>
              <a:rPr lang="en-US" sz="2400" dirty="0">
                <a:latin typeface="Arial" panose="020B0604020202020204" pitchFamily="34" charset="0"/>
                <a:cs typeface="Arial" panose="020B0604020202020204" pitchFamily="34" charset="0"/>
              </a:rPr>
              <a:t>Normal ventilation of alveoli is comparable to amount of perfusion</a:t>
            </a:r>
          </a:p>
          <a:p>
            <a:pPr lvl="1">
              <a:lnSpc>
                <a:spcPct val="80000"/>
              </a:lnSpc>
              <a:defRPr/>
            </a:pPr>
            <a:r>
              <a:rPr lang="en-US" sz="2000" dirty="0">
                <a:solidFill>
                  <a:srgbClr val="FF0000"/>
                </a:solidFill>
                <a:latin typeface="Arial" panose="020B0604020202020204" pitchFamily="34" charset="0"/>
                <a:cs typeface="Arial" panose="020B0604020202020204" pitchFamily="34" charset="0"/>
              </a:rPr>
              <a:t>Normal V/Q ratio = 0.8-1  </a:t>
            </a:r>
          </a:p>
          <a:p>
            <a:pPr>
              <a:lnSpc>
                <a:spcPct val="80000"/>
              </a:lnSpc>
              <a:defRPr/>
            </a:pPr>
            <a:r>
              <a:rPr lang="en-US" sz="2400" dirty="0">
                <a:latin typeface="Arial" panose="020B0604020202020204" pitchFamily="34" charset="0"/>
                <a:cs typeface="Arial" panose="020B0604020202020204" pitchFamily="34" charset="0"/>
              </a:rPr>
              <a:t>V/Q Mismatch can be due to:</a:t>
            </a:r>
          </a:p>
          <a:p>
            <a:pPr lvl="1">
              <a:lnSpc>
                <a:spcPct val="80000"/>
              </a:lnSpc>
              <a:defRPr/>
            </a:pPr>
            <a:r>
              <a:rPr lang="en-US" sz="2200" dirty="0">
                <a:latin typeface="Arial" panose="020B0604020202020204" pitchFamily="34" charset="0"/>
                <a:cs typeface="Arial" panose="020B0604020202020204" pitchFamily="34" charset="0"/>
              </a:rPr>
              <a:t>Inadequate ventilation, poor perfusion</a:t>
            </a:r>
            <a:endParaRPr lang="en-CA" sz="2200" dirty="0">
              <a:latin typeface="Arial" panose="020B0604020202020204" pitchFamily="34" charset="0"/>
              <a:cs typeface="Arial" panose="020B0604020202020204" pitchFamily="34" charset="0"/>
            </a:endParaRPr>
          </a:p>
          <a:p>
            <a:pPr lvl="1">
              <a:lnSpc>
                <a:spcPct val="80000"/>
              </a:lnSpc>
              <a:defRPr/>
            </a:pPr>
            <a:r>
              <a:rPr lang="en-GB" sz="2200" dirty="0">
                <a:latin typeface="Arial" panose="020B0604020202020204" pitchFamily="34" charset="0"/>
                <a:cs typeface="Arial" panose="020B0604020202020204" pitchFamily="34" charset="0"/>
              </a:rPr>
              <a:t>Obstruction</a:t>
            </a:r>
          </a:p>
          <a:p>
            <a:pPr lvl="1">
              <a:lnSpc>
                <a:spcPct val="80000"/>
              </a:lnSpc>
              <a:defRPr/>
            </a:pPr>
            <a:r>
              <a:rPr lang="en-GB" sz="2200" dirty="0">
                <a:latin typeface="Arial" panose="020B0604020202020204" pitchFamily="34" charset="0"/>
                <a:cs typeface="Arial" panose="020B0604020202020204" pitchFamily="34" charset="0"/>
              </a:rPr>
              <a:t>Fluid filled alveoli</a:t>
            </a:r>
          </a:p>
          <a:p>
            <a:pPr lvl="1">
              <a:lnSpc>
                <a:spcPct val="80000"/>
              </a:lnSpc>
              <a:defRPr/>
            </a:pPr>
            <a:r>
              <a:rPr lang="en-GB" sz="2200" dirty="0">
                <a:latin typeface="Arial" panose="020B0604020202020204" pitchFamily="34" charset="0"/>
                <a:cs typeface="Arial" panose="020B0604020202020204" pitchFamily="34" charset="0"/>
              </a:rPr>
              <a:t>Atelectasis </a:t>
            </a:r>
          </a:p>
          <a:p>
            <a:pPr lvl="1">
              <a:lnSpc>
                <a:spcPct val="80000"/>
              </a:lnSpc>
              <a:defRPr/>
            </a:pPr>
            <a:r>
              <a:rPr lang="en-US" sz="2200" dirty="0">
                <a:latin typeface="Arial" panose="020B0604020202020204" pitchFamily="34" charset="0"/>
                <a:cs typeface="Arial" panose="020B0604020202020204" pitchFamily="34" charset="0"/>
              </a:rPr>
              <a:t>COPD</a:t>
            </a:r>
          </a:p>
          <a:p>
            <a:pPr lvl="1">
              <a:lnSpc>
                <a:spcPct val="80000"/>
              </a:lnSpc>
              <a:defRPr/>
            </a:pPr>
            <a:r>
              <a:rPr lang="en-US" sz="2200" dirty="0">
                <a:latin typeface="Arial" panose="020B0604020202020204" pitchFamily="34" charset="0"/>
                <a:cs typeface="Arial" panose="020B0604020202020204" pitchFamily="34" charset="0"/>
              </a:rPr>
              <a:t>Pneumonia</a:t>
            </a:r>
          </a:p>
          <a:p>
            <a:pPr lvl="1">
              <a:lnSpc>
                <a:spcPct val="80000"/>
              </a:lnSpc>
              <a:defRPr/>
            </a:pPr>
            <a:r>
              <a:rPr lang="en-US" sz="2200" dirty="0">
                <a:latin typeface="Arial" panose="020B0604020202020204" pitchFamily="34" charset="0"/>
                <a:cs typeface="Arial" panose="020B0604020202020204" pitchFamily="34" charset="0"/>
              </a:rPr>
              <a:t>Asthma</a:t>
            </a:r>
          </a:p>
          <a:p>
            <a:pPr lvl="1">
              <a:lnSpc>
                <a:spcPct val="80000"/>
              </a:lnSpc>
              <a:defRPr/>
            </a:pPr>
            <a:r>
              <a:rPr lang="en-US" sz="2200" dirty="0">
                <a:latin typeface="Arial" panose="020B0604020202020204" pitchFamily="34" charset="0"/>
                <a:cs typeface="Arial" panose="020B0604020202020204" pitchFamily="34" charset="0"/>
              </a:rPr>
              <a:t>Pulmonary embolus</a:t>
            </a:r>
          </a:p>
          <a:p>
            <a:pPr lvl="1">
              <a:lnSpc>
                <a:spcPct val="80000"/>
              </a:lnSpc>
              <a:defRPr/>
            </a:pPr>
            <a:r>
              <a:rPr lang="en-GB" sz="2200" dirty="0">
                <a:latin typeface="Arial" panose="020B0604020202020204" pitchFamily="34" charset="0"/>
                <a:cs typeface="Arial" panose="020B0604020202020204" pitchFamily="34" charset="0"/>
                <a:sym typeface="Wingdings" pitchFamily="2" charset="2"/>
              </a:rPr>
              <a:t>ARDS</a:t>
            </a:r>
            <a:endParaRPr lang="en-US" sz="2200" dirty="0">
              <a:latin typeface="Arial" panose="020B0604020202020204" pitchFamily="34" charset="0"/>
              <a:cs typeface="Arial" panose="020B0604020202020204" pitchFamily="34" charset="0"/>
            </a:endParaRPr>
          </a:p>
          <a:p>
            <a:pPr lvl="1">
              <a:lnSpc>
                <a:spcPct val="80000"/>
              </a:lnSpc>
              <a:buFont typeface="Wingdings" pitchFamily="2" charset="2"/>
              <a:buChar char="§"/>
              <a:defRPr/>
            </a:pPr>
            <a:endParaRPr lang="en-US" sz="2400" dirty="0">
              <a:latin typeface="Arial" panose="020B0604020202020204" pitchFamily="34" charset="0"/>
              <a:cs typeface="Arial" panose="020B0604020202020204" pitchFamily="34" charset="0"/>
            </a:endParaRPr>
          </a:p>
          <a:p>
            <a:pPr lvl="1">
              <a:lnSpc>
                <a:spcPct val="80000"/>
              </a:lnSpc>
              <a:buFont typeface="Wingdings" pitchFamily="2" charset="2"/>
              <a:buChar char="§"/>
              <a:defRPr/>
            </a:pPr>
            <a:endParaRPr lang="en-GB" sz="2400" dirty="0">
              <a:latin typeface="Arial" panose="020B0604020202020204" pitchFamily="34" charset="0"/>
              <a:cs typeface="Arial" panose="020B0604020202020204" pitchFamily="34" charset="0"/>
            </a:endParaRPr>
          </a:p>
          <a:p>
            <a:pPr marL="914400" lvl="2" indent="0">
              <a:lnSpc>
                <a:spcPct val="90000"/>
              </a:lnSpc>
              <a:buNone/>
              <a:defRPr/>
            </a:pPr>
            <a:endParaRPr lang="en-US" dirty="0">
              <a:latin typeface="Arial" panose="020B0604020202020204" pitchFamily="34" charset="0"/>
              <a:cs typeface="Arial" panose="020B0604020202020204" pitchFamily="34" charset="0"/>
            </a:endParaRPr>
          </a:p>
          <a:p>
            <a:pPr>
              <a:defRPr/>
            </a:pP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63</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99286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latin typeface="Arial" panose="020B0604020202020204" pitchFamily="34" charset="0"/>
                <a:cs typeface="Arial" panose="020B0604020202020204" pitchFamily="34" charset="0"/>
              </a:rPr>
              <a:t>Causes of Respiratory failure…</a:t>
            </a:r>
            <a:endParaRPr lang="en-US" sz="36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447800"/>
            <a:ext cx="8458200" cy="4800600"/>
          </a:xfrm>
        </p:spPr>
        <p:txBody>
          <a:bodyPr>
            <a:normAutofit/>
          </a:bodyPr>
          <a:lstStyle/>
          <a:p>
            <a:pPr algn="just">
              <a:defRPr/>
            </a:pPr>
            <a:r>
              <a:rPr lang="en-GB" sz="2400" dirty="0">
                <a:latin typeface="Arial" panose="020B0604020202020204" pitchFamily="34" charset="0"/>
                <a:cs typeface="Arial" panose="020B0604020202020204" pitchFamily="34" charset="0"/>
              </a:rPr>
              <a:t>Even in normal lungs </a:t>
            </a:r>
            <a:r>
              <a:rPr lang="en-GB" sz="2400" dirty="0">
                <a:latin typeface="Arial" panose="020B0604020202020204" pitchFamily="34" charset="0"/>
                <a:cs typeface="Arial" panose="020B0604020202020204" pitchFamily="34" charset="0"/>
                <a:sym typeface="Wingdings" pitchFamily="2" charset="2"/>
              </a:rPr>
              <a:t> areas present where V/Q mismatching is present</a:t>
            </a:r>
          </a:p>
          <a:p>
            <a:pPr>
              <a:buNone/>
              <a:defRPr/>
            </a:pPr>
            <a:r>
              <a:rPr lang="en-GB" sz="2400" dirty="0">
                <a:latin typeface="Arial" panose="020B0604020202020204" pitchFamily="34" charset="0"/>
                <a:cs typeface="Arial" panose="020B0604020202020204" pitchFamily="34" charset="0"/>
                <a:sym typeface="Wingdings" pitchFamily="2" charset="2"/>
              </a:rPr>
              <a:t>	 </a:t>
            </a:r>
            <a:r>
              <a:rPr lang="en-GB" sz="2200" dirty="0">
                <a:latin typeface="Arial" panose="020B0604020202020204" pitchFamily="34" charset="0"/>
                <a:cs typeface="Arial" panose="020B0604020202020204" pitchFamily="34" charset="0"/>
                <a:sym typeface="Wingdings" pitchFamily="2" charset="2"/>
              </a:rPr>
              <a:t> i.e., V/Q   - </a:t>
            </a:r>
            <a:r>
              <a:rPr lang="en-GB" sz="2200" dirty="0">
                <a:latin typeface="Arial" panose="020B0604020202020204" pitchFamily="34" charset="0"/>
                <a:cs typeface="Arial" panose="020B0604020202020204" pitchFamily="34" charset="0"/>
                <a:sym typeface="Symbol" pitchFamily="18" charset="2"/>
              </a:rPr>
              <a:t> at apex</a:t>
            </a:r>
          </a:p>
          <a:p>
            <a:pPr>
              <a:buNone/>
              <a:defRPr/>
            </a:pPr>
            <a:r>
              <a:rPr lang="en-GB" sz="2200" dirty="0">
                <a:latin typeface="Arial" panose="020B0604020202020204" pitchFamily="34" charset="0"/>
                <a:cs typeface="Arial" panose="020B0604020202020204" pitchFamily="34" charset="0"/>
                <a:sym typeface="Symbol" pitchFamily="18" charset="2"/>
              </a:rPr>
              <a:t>			    -  at bases</a:t>
            </a:r>
          </a:p>
          <a:p>
            <a:pPr lvl="1">
              <a:defRPr/>
            </a:pPr>
            <a:r>
              <a:rPr lang="en-GB" sz="2200" dirty="0">
                <a:latin typeface="Arial" panose="020B0604020202020204" pitchFamily="34" charset="0"/>
                <a:cs typeface="Arial" panose="020B0604020202020204" pitchFamily="34" charset="0"/>
              </a:rPr>
              <a:t>But overall, a balance is maintained to achieve a steady ratio of ‘0.8’ for the whole lung (in healthy lungs).</a:t>
            </a:r>
          </a:p>
          <a:p>
            <a:pPr>
              <a:defRPr/>
            </a:pPr>
            <a:r>
              <a:rPr lang="en-GB" sz="2400" dirty="0">
                <a:latin typeface="Arial" panose="020B0604020202020204" pitchFamily="34" charset="0"/>
                <a:cs typeface="Arial" panose="020B0604020202020204" pitchFamily="34" charset="0"/>
              </a:rPr>
              <a:t>In certain pathological states, the imbalance occurs leading to hypoxemia and V/Q mismatching.</a:t>
            </a: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64</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38379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ctr" rtl="0">
              <a:spcBef>
                <a:spcPct val="0"/>
              </a:spcBef>
            </a:pPr>
            <a:r>
              <a:rPr lang="en-US" sz="2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Cont.…</a:t>
            </a:r>
            <a:br>
              <a:rPr lang="en-US" sz="2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br>
            <a:endParaRPr lang="en-US" sz="2800"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219200"/>
            <a:ext cx="8534400" cy="5181600"/>
          </a:xfrm>
        </p:spPr>
        <p:txBody>
          <a:bodyPr>
            <a:noAutofit/>
          </a:bodyPr>
          <a:lstStyle/>
          <a:p>
            <a:pPr>
              <a:buFont typeface="Wingdings" pitchFamily="2" charset="2"/>
              <a:buChar char="q"/>
              <a:defRPr/>
            </a:pPr>
            <a:r>
              <a:rPr lang="en-US" sz="2600" b="1" dirty="0">
                <a:latin typeface="Arial" panose="020B0604020202020204" pitchFamily="34" charset="0"/>
                <a:cs typeface="Arial" panose="020B0604020202020204" pitchFamily="34" charset="0"/>
              </a:rPr>
              <a:t>Shunt</a:t>
            </a:r>
          </a:p>
          <a:p>
            <a:pPr lvl="1">
              <a:defRPr/>
            </a:pPr>
            <a:r>
              <a:rPr lang="en-US" sz="2000" dirty="0">
                <a:latin typeface="Arial" panose="020B0604020202020204" pitchFamily="34" charset="0"/>
                <a:cs typeface="Arial" panose="020B0604020202020204" pitchFamily="34" charset="0"/>
              </a:rPr>
              <a:t>blood reaching the systemic circulation without being oxygenated via passage through the lungs </a:t>
            </a:r>
          </a:p>
          <a:p>
            <a:pPr>
              <a:defRPr/>
            </a:pPr>
            <a:r>
              <a:rPr lang="en-US" sz="2400" b="1" dirty="0">
                <a:latin typeface="Arial" panose="020B0604020202020204" pitchFamily="34" charset="0"/>
                <a:cs typeface="Arial" panose="020B0604020202020204" pitchFamily="34" charset="0"/>
              </a:rPr>
              <a:t>Anatomic shunt</a:t>
            </a:r>
          </a:p>
          <a:p>
            <a:pPr lvl="1">
              <a:defRPr/>
            </a:pPr>
            <a:r>
              <a:rPr lang="en-GB" sz="2000" dirty="0">
                <a:latin typeface="Arial" panose="020B0604020202020204" pitchFamily="34" charset="0"/>
                <a:cs typeface="Arial" panose="020B0604020202020204" pitchFamily="34" charset="0"/>
              </a:rPr>
              <a:t>Normal anatomical shunt: 2-3% in bronchial and thebesian veins</a:t>
            </a:r>
          </a:p>
          <a:p>
            <a:pPr>
              <a:defRPr/>
            </a:pPr>
            <a:r>
              <a:rPr lang="en-US" sz="2400" b="1" dirty="0">
                <a:latin typeface="Arial" panose="020B0604020202020204" pitchFamily="34" charset="0"/>
                <a:cs typeface="Arial" panose="020B0604020202020204" pitchFamily="34" charset="0"/>
              </a:rPr>
              <a:t>Intrapulmonary shunt: </a:t>
            </a:r>
            <a:r>
              <a:rPr lang="en-US" sz="2000" dirty="0">
                <a:latin typeface="Arial" panose="020B0604020202020204" pitchFamily="34" charset="0"/>
                <a:cs typeface="Arial" panose="020B0604020202020204" pitchFamily="34" charset="0"/>
              </a:rPr>
              <a:t>No ventilation with respect to pulmonary perfusion</a:t>
            </a:r>
          </a:p>
          <a:p>
            <a:pPr lvl="1">
              <a:defRPr/>
            </a:pPr>
            <a:r>
              <a:rPr lang="en-US" sz="1600" dirty="0">
                <a:latin typeface="Arial" panose="020B0604020202020204" pitchFamily="34" charset="0"/>
                <a:cs typeface="Arial" panose="020B0604020202020204" pitchFamily="34" charset="0"/>
              </a:rPr>
              <a:t>Examples: ARDS, atelectasis, pneumonia, rarely pulmonary edema.</a:t>
            </a:r>
          </a:p>
          <a:p>
            <a:pPr>
              <a:spcBef>
                <a:spcPct val="0"/>
              </a:spcBef>
              <a:buFont typeface="Wingdings" pitchFamily="2" charset="2"/>
              <a:buChar char="Ø"/>
              <a:defRPr/>
            </a:pPr>
            <a:r>
              <a:rPr lang="en-GB" sz="2200" b="1" dirty="0">
                <a:solidFill>
                  <a:srgbClr val="C00000"/>
                </a:solidFill>
                <a:latin typeface="Arial" panose="020B0604020202020204" pitchFamily="34" charset="0"/>
                <a:cs typeface="Arial" panose="020B0604020202020204" pitchFamily="34" charset="0"/>
              </a:rPr>
              <a:t>Pathological  Shunt</a:t>
            </a:r>
          </a:p>
          <a:p>
            <a:pPr>
              <a:spcBef>
                <a:spcPct val="0"/>
              </a:spcBef>
              <a:buFont typeface="Wingdings" pitchFamily="2" charset="2"/>
              <a:buChar char="ü"/>
              <a:defRPr/>
            </a:pPr>
            <a:r>
              <a:rPr lang="en-GB" sz="2200" b="1" dirty="0">
                <a:solidFill>
                  <a:srgbClr val="C00000"/>
                </a:solidFill>
                <a:latin typeface="Arial" panose="020B0604020202020204" pitchFamily="34" charset="0"/>
                <a:cs typeface="Arial" panose="020B0604020202020204" pitchFamily="34" charset="0"/>
                <a:sym typeface="Wingdings" pitchFamily="2" charset="2"/>
              </a:rPr>
              <a:t>Pathological </a:t>
            </a:r>
            <a:r>
              <a:rPr lang="en-GB" sz="2200" b="1" dirty="0">
                <a:solidFill>
                  <a:srgbClr val="C00000"/>
                </a:solidFill>
                <a:latin typeface="Arial" panose="020B0604020202020204" pitchFamily="34" charset="0"/>
                <a:cs typeface="Arial" panose="020B0604020202020204" pitchFamily="34" charset="0"/>
              </a:rPr>
              <a:t>anatomical shunt</a:t>
            </a:r>
          </a:p>
          <a:p>
            <a:pPr lvl="1">
              <a:spcBef>
                <a:spcPct val="0"/>
              </a:spcBef>
              <a:defRPr/>
            </a:pPr>
            <a:r>
              <a:rPr lang="en-GB" sz="1800" dirty="0">
                <a:latin typeface="Arial" panose="020B0604020202020204" pitchFamily="34" charset="0"/>
                <a:cs typeface="Arial" panose="020B0604020202020204" pitchFamily="34" charset="0"/>
              </a:rPr>
              <a:t>R </a:t>
            </a:r>
            <a:r>
              <a:rPr lang="en-GB" sz="1800" dirty="0">
                <a:latin typeface="Arial" panose="020B0604020202020204" pitchFamily="34" charset="0"/>
                <a:cs typeface="Arial" panose="020B0604020202020204" pitchFamily="34" charset="0"/>
                <a:sym typeface="Wingdings" pitchFamily="2" charset="2"/>
              </a:rPr>
              <a:t> L blood flow through cardiac openings (e.g. ASD/VSD) or in pulmonary A-V malformations</a:t>
            </a:r>
          </a:p>
          <a:p>
            <a:pPr algn="just">
              <a:spcBef>
                <a:spcPct val="0"/>
              </a:spcBef>
              <a:buFont typeface="Wingdings" pitchFamily="2" charset="2"/>
              <a:buChar char="ü"/>
              <a:defRPr/>
            </a:pPr>
            <a:r>
              <a:rPr lang="en-GB" sz="2200" b="1" dirty="0">
                <a:solidFill>
                  <a:srgbClr val="C00000"/>
                </a:solidFill>
                <a:latin typeface="Arial" panose="020B0604020202020204" pitchFamily="34" charset="0"/>
                <a:cs typeface="Arial" panose="020B0604020202020204" pitchFamily="34" charset="0"/>
              </a:rPr>
              <a:t>Physiological</a:t>
            </a:r>
            <a:r>
              <a:rPr lang="en-GB" sz="2200" b="1" dirty="0">
                <a:solidFill>
                  <a:srgbClr val="C00000"/>
                </a:solidFill>
                <a:latin typeface="Arial" panose="020B0604020202020204" pitchFamily="34" charset="0"/>
                <a:cs typeface="Arial" panose="020B0604020202020204" pitchFamily="34" charset="0"/>
                <a:sym typeface="Wingdings" pitchFamily="2" charset="2"/>
              </a:rPr>
              <a:t> anatomical shunt- </a:t>
            </a:r>
            <a:r>
              <a:rPr lang="en-GB" sz="2200" dirty="0">
                <a:latin typeface="Arial" panose="020B0604020202020204" pitchFamily="34" charset="0"/>
                <a:cs typeface="Arial" panose="020B0604020202020204" pitchFamily="34" charset="0"/>
              </a:rPr>
              <a:t>Atelectasis, pulmonary edema, or pneumonia </a:t>
            </a:r>
            <a:r>
              <a:rPr lang="en-GB" sz="2200" dirty="0">
                <a:latin typeface="Arial" panose="020B0604020202020204" pitchFamily="34" charset="0"/>
                <a:cs typeface="Arial" panose="020B0604020202020204" pitchFamily="34" charset="0"/>
                <a:sym typeface="Wingdings" pitchFamily="2" charset="2"/>
              </a:rPr>
              <a:t> does not generally respond to O</a:t>
            </a:r>
            <a:r>
              <a:rPr lang="en-GB" sz="2200" baseline="-25000" dirty="0">
                <a:latin typeface="Arial" panose="020B0604020202020204" pitchFamily="34" charset="0"/>
                <a:cs typeface="Arial" panose="020B0604020202020204" pitchFamily="34" charset="0"/>
                <a:sym typeface="Wingdings" pitchFamily="2" charset="2"/>
              </a:rPr>
              <a:t>2</a:t>
            </a:r>
            <a:r>
              <a:rPr lang="en-GB" sz="2200" dirty="0">
                <a:latin typeface="Arial" panose="020B0604020202020204" pitchFamily="34" charset="0"/>
                <a:cs typeface="Arial" panose="020B0604020202020204" pitchFamily="34" charset="0"/>
                <a:sym typeface="Wingdings" pitchFamily="2" charset="2"/>
              </a:rPr>
              <a:t> supplementation as the gas exchange units are completely closed / collapsed (the alveolus)</a:t>
            </a:r>
            <a:endParaRPr lang="en-US" sz="22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65</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00869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Arial" panose="020B0604020202020204" pitchFamily="34" charset="0"/>
                <a:cs typeface="Arial" panose="020B0604020202020204" pitchFamily="34" charset="0"/>
              </a:rPr>
              <a:t>Cont</a:t>
            </a:r>
            <a:r>
              <a:rPr lang="en-US" dirty="0">
                <a:latin typeface="Arial" panose="020B0604020202020204" pitchFamily="34" charset="0"/>
                <a:cs typeface="Arial" panose="020B0604020202020204" pitchFamily="34" charset="0"/>
              </a:rPr>
              <a:t>…</a:t>
            </a:r>
          </a:p>
        </p:txBody>
      </p:sp>
      <p:sp>
        <p:nvSpPr>
          <p:cNvPr id="3" name="Content Placeholder 2"/>
          <p:cNvSpPr>
            <a:spLocks noGrp="1"/>
          </p:cNvSpPr>
          <p:nvPr>
            <p:ph idx="1"/>
          </p:nvPr>
        </p:nvSpPr>
        <p:spPr>
          <a:xfrm>
            <a:off x="457200" y="1295400"/>
            <a:ext cx="8534400" cy="4830763"/>
          </a:xfrm>
        </p:spPr>
        <p:txBody>
          <a:bodyPr>
            <a:normAutofit/>
          </a:bodyPr>
          <a:lstStyle/>
          <a:p>
            <a:pPr algn="just">
              <a:buFont typeface="Wingdings" pitchFamily="2" charset="2"/>
              <a:buChar char="q"/>
              <a:defRPr/>
            </a:pPr>
            <a:r>
              <a:rPr lang="en-US" sz="2400" dirty="0">
                <a:latin typeface="Arial" panose="020B0604020202020204" pitchFamily="34" charset="0"/>
                <a:cs typeface="Arial" panose="020B0604020202020204" pitchFamily="34" charset="0"/>
              </a:rPr>
              <a:t>Diffusion Limitation/problems</a:t>
            </a:r>
          </a:p>
          <a:p>
            <a:pPr algn="just">
              <a:defRPr/>
            </a:pPr>
            <a:r>
              <a:rPr lang="en-GB" sz="2000" b="1" dirty="0">
                <a:latin typeface="Arial" panose="020B0604020202020204" pitchFamily="34" charset="0"/>
                <a:cs typeface="Arial" panose="020B0604020202020204" pitchFamily="34" charset="0"/>
                <a:sym typeface="Symbol" pitchFamily="18" charset="2"/>
              </a:rPr>
              <a:t>Diffusion</a:t>
            </a:r>
            <a:r>
              <a:rPr lang="en-GB" sz="2000" dirty="0">
                <a:latin typeface="Arial" panose="020B0604020202020204" pitchFamily="34" charset="0"/>
                <a:cs typeface="Arial" panose="020B0604020202020204" pitchFamily="34" charset="0"/>
                <a:sym typeface="Symbol" pitchFamily="18" charset="2"/>
              </a:rPr>
              <a:t>: It is a passive movement of molecules (gases) across the alveolar-capillary membrane as a result of difference in pressure gradient</a:t>
            </a:r>
            <a:r>
              <a:rPr lang="en-GB" sz="2200" dirty="0">
                <a:latin typeface="Arial" panose="020B0604020202020204" pitchFamily="34" charset="0"/>
                <a:cs typeface="Arial" panose="020B0604020202020204" pitchFamily="34" charset="0"/>
                <a:sym typeface="Symbol" pitchFamily="18" charset="2"/>
              </a:rPr>
              <a:t>.</a:t>
            </a:r>
          </a:p>
          <a:p>
            <a:pPr algn="just">
              <a:defRPr/>
            </a:pPr>
            <a:r>
              <a:rPr lang="en-GB" sz="2000" dirty="0">
                <a:latin typeface="Arial" panose="020B0604020202020204" pitchFamily="34" charset="0"/>
                <a:cs typeface="Arial" panose="020B0604020202020204" pitchFamily="34" charset="0"/>
                <a:sym typeface="Symbol" pitchFamily="18" charset="2"/>
              </a:rPr>
              <a:t> Any impairment in diffusion leads to inability of O2 to pass to the arterial blood, thereby lowering the PaO2. </a:t>
            </a:r>
          </a:p>
          <a:p>
            <a:pPr lvl="1" algn="just">
              <a:defRPr/>
            </a:pPr>
            <a:r>
              <a:rPr lang="en-GB" sz="2200" dirty="0">
                <a:latin typeface="Arial" panose="020B0604020202020204" pitchFamily="34" charset="0"/>
                <a:cs typeface="Arial" panose="020B0604020202020204" pitchFamily="34" charset="0"/>
                <a:sym typeface="Symbol" pitchFamily="18" charset="2"/>
              </a:rPr>
              <a:t>E.g. Emphysema, pulmonary vascular abnormality, anaemia, pulmonary HTN</a:t>
            </a:r>
          </a:p>
          <a:p>
            <a:pPr>
              <a:defRPr/>
            </a:pPr>
            <a:endParaRPr lang="en-US" sz="22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66</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01230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381000" y="1600200"/>
            <a:ext cx="8534400" cy="4724400"/>
          </a:xfrm>
        </p:spPr>
        <p:txBody>
          <a:bodyPr>
            <a:normAutofit/>
          </a:bodyPr>
          <a:lstStyle/>
          <a:p>
            <a:pPr algn="just">
              <a:defRPr/>
            </a:pPr>
            <a:r>
              <a:rPr lang="en-US" sz="2400" b="1" dirty="0">
                <a:solidFill>
                  <a:srgbClr val="000000"/>
                </a:solidFill>
                <a:latin typeface="Arial" panose="020B0604020202020204" pitchFamily="34" charset="0"/>
                <a:cs typeface="Arial" panose="020B0604020202020204" pitchFamily="34" charset="0"/>
              </a:rPr>
              <a:t>Diffusion limitation can be due to: </a:t>
            </a:r>
          </a:p>
          <a:p>
            <a:pPr lvl="1" algn="just">
              <a:defRPr/>
            </a:pPr>
            <a:r>
              <a:rPr lang="en-US" sz="2000" dirty="0">
                <a:solidFill>
                  <a:srgbClr val="000000"/>
                </a:solidFill>
                <a:latin typeface="Arial" panose="020B0604020202020204" pitchFamily="34" charset="0"/>
                <a:cs typeface="Arial" panose="020B0604020202020204" pitchFamily="34" charset="0"/>
              </a:rPr>
              <a:t>V/Q mismatch, a reduction in the available surface area for diffusion, or an increase in diffusion distance.</a:t>
            </a:r>
          </a:p>
          <a:p>
            <a:pPr lvl="1" algn="just">
              <a:defRPr/>
            </a:pPr>
            <a:endParaRPr lang="en-US" sz="2400" dirty="0">
              <a:solidFill>
                <a:srgbClr val="000000"/>
              </a:solidFill>
              <a:latin typeface="Arial" panose="020B0604020202020204" pitchFamily="34" charset="0"/>
              <a:cs typeface="Arial" panose="020B0604020202020204" pitchFamily="34" charset="0"/>
            </a:endParaRPr>
          </a:p>
          <a:p>
            <a:pPr algn="just">
              <a:defRPr/>
            </a:pPr>
            <a:r>
              <a:rPr lang="en-US" sz="2200" dirty="0">
                <a:latin typeface="Arial" panose="020B0604020202020204" pitchFamily="34" charset="0"/>
                <a:cs typeface="Arial" panose="020B0604020202020204" pitchFamily="34" charset="0"/>
              </a:rPr>
              <a:t>Gas exchange is compromised by a process that thickens or destroys the membrane</a:t>
            </a:r>
          </a:p>
          <a:p>
            <a:pPr lvl="1">
              <a:defRPr/>
            </a:pPr>
            <a:r>
              <a:rPr lang="en-US" sz="2000" dirty="0">
                <a:latin typeface="Arial" panose="020B0604020202020204" pitchFamily="34" charset="0"/>
                <a:cs typeface="Arial" panose="020B0604020202020204" pitchFamily="34" charset="0"/>
              </a:rPr>
              <a:t>Pulmonary fibrosis	</a:t>
            </a:r>
          </a:p>
          <a:p>
            <a:pPr lvl="1">
              <a:defRPr/>
            </a:pPr>
            <a:r>
              <a:rPr lang="en-US" sz="2000" dirty="0">
                <a:latin typeface="Arial" panose="020B0604020202020204" pitchFamily="34" charset="0"/>
                <a:cs typeface="Arial" panose="020B0604020202020204" pitchFamily="34" charset="0"/>
              </a:rPr>
              <a:t>ARDS</a:t>
            </a:r>
          </a:p>
          <a:p>
            <a:pPr lvl="1">
              <a:buFontTx/>
              <a:buNone/>
              <a:defRPr/>
            </a:pPr>
            <a:r>
              <a:rPr lang="en-US" sz="2000" dirty="0">
                <a:latin typeface="Arial" panose="020B0604020202020204" pitchFamily="34" charset="0"/>
                <a:cs typeface="Arial" panose="020B0604020202020204" pitchFamily="34" charset="0"/>
              </a:rPr>
              <a:t>* A classic sign of diffusion limitation is hypoxemia during exercise but not at rest</a:t>
            </a:r>
          </a:p>
          <a:p>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67</a:t>
            </a:fld>
            <a:endParaRPr lang="en-US"/>
          </a:p>
        </p:txBody>
      </p:sp>
    </p:spTree>
    <p:extLst>
      <p:ext uri="{BB962C8B-B14F-4D97-AF65-F5344CB8AC3E}">
        <p14:creationId xmlns:p14="http://schemas.microsoft.com/office/powerpoint/2010/main" val="15990475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1026"/>
          <p:cNvSpPr>
            <a:spLocks noGrp="1" noChangeArrowheads="1"/>
          </p:cNvSpPr>
          <p:nvPr>
            <p:ph type="title"/>
          </p:nvPr>
        </p:nvSpPr>
        <p:spPr/>
        <p:txBody>
          <a:bodyPr>
            <a:normAutofit/>
          </a:bodyPr>
          <a:lstStyle/>
          <a:p>
            <a:pPr algn="l">
              <a:defRPr/>
            </a:pPr>
            <a:r>
              <a:rPr lang="en-US" sz="2800" dirty="0">
                <a:latin typeface="Arial" panose="020B0604020202020204" pitchFamily="34" charset="0"/>
                <a:cs typeface="Arial" panose="020B0604020202020204" pitchFamily="34" charset="0"/>
              </a:rPr>
              <a:t>Diffusion Limitation…</a:t>
            </a:r>
          </a:p>
        </p:txBody>
      </p:sp>
      <p:pic>
        <p:nvPicPr>
          <p:cNvPr id="33795" name="Picture 1027" descr="Fig"/>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1371600" y="1966913"/>
            <a:ext cx="7173913" cy="3944937"/>
          </a:xfrm>
          <a:noFill/>
          <a:ln w="57150">
            <a:solidFill>
              <a:schemeClr val="accent1"/>
            </a:solidFill>
          </a:ln>
          <a:extLst>
            <a:ext uri="{909E8E84-426E-40DD-AFC4-6F175D3DCCD1}">
              <a14:hiddenFill xmlns:a14="http://schemas.microsoft.com/office/drawing/2010/main">
                <a:solidFill>
                  <a:srgbClr val="FFFFFF"/>
                </a:solidFill>
              </a14:hiddenFill>
            </a:ext>
          </a:extLst>
        </p:spPr>
      </p:pic>
      <p:sp>
        <p:nvSpPr>
          <p:cNvPr id="33796" name="Text Box 1028"/>
          <p:cNvSpPr txBox="1">
            <a:spLocks noChangeArrowheads="1"/>
          </p:cNvSpPr>
          <p:nvPr/>
        </p:nvSpPr>
        <p:spPr bwMode="auto">
          <a:xfrm>
            <a:off x="7315200" y="6096000"/>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i="1">
                <a:solidFill>
                  <a:schemeClr val="tx1"/>
                </a:solidFill>
                <a:latin typeface="Arial" pitchFamily="34" charset="0"/>
              </a:defRPr>
            </a:lvl1pPr>
            <a:lvl2pPr marL="742950" indent="-285750">
              <a:defRPr sz="2400" i="1">
                <a:solidFill>
                  <a:schemeClr val="tx1"/>
                </a:solidFill>
                <a:latin typeface="Arial" pitchFamily="34" charset="0"/>
              </a:defRPr>
            </a:lvl2pPr>
            <a:lvl3pPr marL="1143000" indent="-228600">
              <a:defRPr sz="2400" i="1">
                <a:solidFill>
                  <a:schemeClr val="tx1"/>
                </a:solidFill>
                <a:latin typeface="Arial" pitchFamily="34" charset="0"/>
              </a:defRPr>
            </a:lvl3pPr>
            <a:lvl4pPr marL="1600200" indent="-228600">
              <a:defRPr sz="2400" i="1">
                <a:solidFill>
                  <a:schemeClr val="tx1"/>
                </a:solidFill>
                <a:latin typeface="Arial" pitchFamily="34" charset="0"/>
              </a:defRPr>
            </a:lvl4pPr>
            <a:lvl5pPr marL="2057400" indent="-228600">
              <a:defRPr sz="2400" i="1">
                <a:solidFill>
                  <a:schemeClr val="tx1"/>
                </a:solidFill>
                <a:latin typeface="Arial" pitchFamily="34" charset="0"/>
              </a:defRPr>
            </a:lvl5pPr>
            <a:lvl6pPr marL="2514600" indent="-228600" eaLnBrk="0" fontAlgn="base" hangingPunct="0">
              <a:spcBef>
                <a:spcPct val="0"/>
              </a:spcBef>
              <a:spcAft>
                <a:spcPct val="0"/>
              </a:spcAft>
              <a:defRPr sz="2400" i="1">
                <a:solidFill>
                  <a:schemeClr val="tx1"/>
                </a:solidFill>
                <a:latin typeface="Arial" pitchFamily="34" charset="0"/>
              </a:defRPr>
            </a:lvl6pPr>
            <a:lvl7pPr marL="2971800" indent="-228600" eaLnBrk="0" fontAlgn="base" hangingPunct="0">
              <a:spcBef>
                <a:spcPct val="0"/>
              </a:spcBef>
              <a:spcAft>
                <a:spcPct val="0"/>
              </a:spcAft>
              <a:defRPr sz="2400" i="1">
                <a:solidFill>
                  <a:schemeClr val="tx1"/>
                </a:solidFill>
                <a:latin typeface="Arial" pitchFamily="34" charset="0"/>
              </a:defRPr>
            </a:lvl7pPr>
            <a:lvl8pPr marL="3429000" indent="-228600" eaLnBrk="0" fontAlgn="base" hangingPunct="0">
              <a:spcBef>
                <a:spcPct val="0"/>
              </a:spcBef>
              <a:spcAft>
                <a:spcPct val="0"/>
              </a:spcAft>
              <a:defRPr sz="2400" i="1">
                <a:solidFill>
                  <a:schemeClr val="tx1"/>
                </a:solidFill>
                <a:latin typeface="Arial" pitchFamily="34" charset="0"/>
              </a:defRPr>
            </a:lvl8pPr>
            <a:lvl9pPr marL="3886200" indent="-228600" eaLnBrk="0" fontAlgn="base" hangingPunct="0">
              <a:spcBef>
                <a:spcPct val="0"/>
              </a:spcBef>
              <a:spcAft>
                <a:spcPct val="0"/>
              </a:spcAft>
              <a:defRPr sz="2400" i="1">
                <a:solidFill>
                  <a:schemeClr val="tx1"/>
                </a:solidFill>
                <a:latin typeface="Arial" pitchFamily="34" charset="0"/>
              </a:defRPr>
            </a:lvl9pPr>
          </a:lstStyle>
          <a:p>
            <a:pPr algn="r" eaLnBrk="1" hangingPunct="1">
              <a:spcBef>
                <a:spcPct val="50000"/>
              </a:spcBef>
            </a:pPr>
            <a:r>
              <a:rPr lang="en-US" sz="1800" b="1" i="0" dirty="0">
                <a:solidFill>
                  <a:srgbClr val="000000"/>
                </a:solidFill>
                <a:latin typeface="Times New Roman" pitchFamily="18" charset="0"/>
              </a:rPr>
              <a:t>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68</a:t>
            </a:fld>
            <a:endParaRPr lang="en-US"/>
          </a:p>
        </p:txBody>
      </p:sp>
    </p:spTree>
    <p:extLst>
      <p:ext uri="{BB962C8B-B14F-4D97-AF65-F5344CB8AC3E}">
        <p14:creationId xmlns:p14="http://schemas.microsoft.com/office/powerpoint/2010/main" val="1410705514"/>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p:txBody>
          <a:bodyPr>
            <a:normAutofit/>
          </a:bodyPr>
          <a:lstStyle/>
          <a:p>
            <a:pPr>
              <a:buFont typeface="Wingdings" pitchFamily="2" charset="2"/>
              <a:buChar char="q"/>
              <a:defRPr/>
            </a:pPr>
            <a:r>
              <a:rPr lang="en-US" sz="2400" dirty="0">
                <a:latin typeface="Arial" panose="020B0604020202020204" pitchFamily="34" charset="0"/>
                <a:cs typeface="Arial" panose="020B0604020202020204" pitchFamily="34" charset="0"/>
              </a:rPr>
              <a:t>Alveolar Hypoventilation: </a:t>
            </a:r>
            <a:r>
              <a:rPr lang="en-US" sz="2000" dirty="0">
                <a:latin typeface="Arial" panose="020B0604020202020204" pitchFamily="34" charset="0"/>
                <a:cs typeface="Arial" panose="020B0604020202020204" pitchFamily="34" charset="0"/>
              </a:rPr>
              <a:t>increased PCO</a:t>
            </a:r>
            <a:r>
              <a:rPr lang="en-US" sz="1600" dirty="0">
                <a:latin typeface="Arial" panose="020B0604020202020204" pitchFamily="34" charset="0"/>
                <a:cs typeface="Arial" panose="020B0604020202020204" pitchFamily="34" charset="0"/>
              </a:rPr>
              <a:t>2</a:t>
            </a:r>
            <a:r>
              <a:rPr lang="en-US" sz="2000" dirty="0">
                <a:latin typeface="Arial" panose="020B0604020202020204" pitchFamily="34" charset="0"/>
                <a:cs typeface="Arial" panose="020B0604020202020204" pitchFamily="34" charset="0"/>
              </a:rPr>
              <a:t> with decreased PO</a:t>
            </a:r>
            <a:r>
              <a:rPr lang="en-US" sz="1600" dirty="0">
                <a:latin typeface="Arial" panose="020B0604020202020204" pitchFamily="34" charset="0"/>
                <a:cs typeface="Arial" panose="020B0604020202020204" pitchFamily="34" charset="0"/>
              </a:rPr>
              <a:t>2</a:t>
            </a:r>
            <a:endParaRPr lang="en-US" sz="2400" dirty="0">
              <a:latin typeface="Arial" panose="020B0604020202020204" pitchFamily="34" charset="0"/>
              <a:cs typeface="Arial" panose="020B0604020202020204" pitchFamily="34" charset="0"/>
            </a:endParaRPr>
          </a:p>
          <a:p>
            <a:pPr>
              <a:defRPr/>
            </a:pPr>
            <a:r>
              <a:rPr lang="en-US" sz="2200" dirty="0">
                <a:latin typeface="Arial" panose="020B0604020202020204" pitchFamily="34" charset="0"/>
                <a:cs typeface="Arial" panose="020B0604020202020204" pitchFamily="34" charset="0"/>
              </a:rPr>
              <a:t>Mainly due to hypercapnic respiratory failure but can cause hypoxemia.</a:t>
            </a:r>
          </a:p>
          <a:p>
            <a:pPr lvl="1">
              <a:defRPr/>
            </a:pPr>
            <a:r>
              <a:rPr lang="en-US" sz="2000" dirty="0">
                <a:latin typeface="Arial" panose="020B0604020202020204" pitchFamily="34" charset="0"/>
                <a:cs typeface="Arial" panose="020B0604020202020204" pitchFamily="34" charset="0"/>
              </a:rPr>
              <a:t>Restrictive lung diseases</a:t>
            </a:r>
          </a:p>
          <a:p>
            <a:pPr lvl="1">
              <a:defRPr/>
            </a:pPr>
            <a:r>
              <a:rPr lang="en-US" sz="2000" dirty="0">
                <a:latin typeface="Arial" panose="020B0604020202020204" pitchFamily="34" charset="0"/>
                <a:cs typeface="Arial" panose="020B0604020202020204" pitchFamily="34" charset="0"/>
              </a:rPr>
              <a:t>CNS diseases</a:t>
            </a:r>
          </a:p>
          <a:p>
            <a:pPr lvl="1">
              <a:defRPr/>
            </a:pPr>
            <a:r>
              <a:rPr lang="en-US" sz="2000" dirty="0">
                <a:latin typeface="Arial" panose="020B0604020202020204" pitchFamily="34" charset="0"/>
                <a:cs typeface="Arial" panose="020B0604020202020204" pitchFamily="34" charset="0"/>
              </a:rPr>
              <a:t>Neuromuscular diseases</a:t>
            </a:r>
          </a:p>
          <a:p>
            <a:pPr lvl="1">
              <a:buFont typeface="Symbol" pitchFamily="18" charset="2"/>
              <a:buChar char="§"/>
            </a:pPr>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69</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949479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latin typeface="Arial" panose="020B0604020202020204" pitchFamily="34" charset="0"/>
                <a:cs typeface="Arial" panose="020B0604020202020204" pitchFamily="34" charset="0"/>
              </a:rPr>
              <a:t>Causes of Respiratory failure…</a:t>
            </a:r>
          </a:p>
        </p:txBody>
      </p:sp>
      <p:sp>
        <p:nvSpPr>
          <p:cNvPr id="3" name="Content Placeholder 2"/>
          <p:cNvSpPr>
            <a:spLocks noGrp="1"/>
          </p:cNvSpPr>
          <p:nvPr>
            <p:ph idx="1"/>
          </p:nvPr>
        </p:nvSpPr>
        <p:spPr>
          <a:xfrm>
            <a:off x="457200" y="1600200"/>
            <a:ext cx="8382000" cy="4525963"/>
          </a:xfrm>
        </p:spPr>
        <p:txBody>
          <a:bodyPr>
            <a:normAutofit/>
          </a:bodyPr>
          <a:lstStyle/>
          <a:p>
            <a:pPr>
              <a:defRPr/>
            </a:pPr>
            <a:r>
              <a:rPr lang="en-US" sz="2300" b="1" dirty="0">
                <a:latin typeface="Arial" panose="020B0604020202020204" pitchFamily="34" charset="0"/>
                <a:cs typeface="Arial" panose="020B0604020202020204" pitchFamily="34" charset="0"/>
              </a:rPr>
              <a:t>Hypercapnic Respiratory Failure (Ventilation problems)</a:t>
            </a:r>
          </a:p>
          <a:p>
            <a:pPr lvl="1">
              <a:defRPr/>
            </a:pPr>
            <a:r>
              <a:rPr lang="en-US" sz="2200" dirty="0">
                <a:latin typeface="Arial" panose="020B0604020202020204" pitchFamily="34" charset="0"/>
                <a:cs typeface="Arial" panose="020B0604020202020204" pitchFamily="34" charset="0"/>
              </a:rPr>
              <a:t>Imbalance between ventilatory supply and demand</a:t>
            </a:r>
          </a:p>
          <a:p>
            <a:pPr>
              <a:buFont typeface="Wingdings" pitchFamily="2" charset="2"/>
              <a:buChar char="Ø"/>
              <a:defRPr/>
            </a:pPr>
            <a:r>
              <a:rPr lang="en-GB" sz="2400" b="1" dirty="0">
                <a:solidFill>
                  <a:srgbClr val="00B0F0"/>
                </a:solidFill>
                <a:latin typeface="Arial" panose="020B0604020202020204" pitchFamily="34" charset="0"/>
                <a:cs typeface="Arial" panose="020B0604020202020204" pitchFamily="34" charset="0"/>
              </a:rPr>
              <a:t>Features</a:t>
            </a:r>
          </a:p>
          <a:p>
            <a:pPr algn="just">
              <a:defRPr/>
            </a:pPr>
            <a:r>
              <a:rPr lang="en-GB" sz="2200" dirty="0">
                <a:latin typeface="Arial" panose="020B0604020202020204" pitchFamily="34" charset="0"/>
                <a:cs typeface="Arial" panose="020B0604020202020204" pitchFamily="34" charset="0"/>
              </a:rPr>
              <a:t>Elevated PaCO</a:t>
            </a:r>
            <a:r>
              <a:rPr lang="en-GB" sz="2200" baseline="-25000" dirty="0">
                <a:latin typeface="Arial" panose="020B0604020202020204" pitchFamily="34" charset="0"/>
                <a:cs typeface="Arial" panose="020B0604020202020204" pitchFamily="34" charset="0"/>
              </a:rPr>
              <a:t>2: </a:t>
            </a:r>
            <a:r>
              <a:rPr lang="en-GB" sz="2200" dirty="0">
                <a:latin typeface="Arial" panose="020B0604020202020204" pitchFamily="34" charset="0"/>
                <a:cs typeface="Arial" panose="020B0604020202020204" pitchFamily="34" charset="0"/>
              </a:rPr>
              <a:t>creating an uncompensated respiratory acidosis</a:t>
            </a:r>
          </a:p>
          <a:p>
            <a:pPr>
              <a:defRPr/>
            </a:pPr>
            <a:r>
              <a:rPr lang="en-GB" sz="2200" dirty="0">
                <a:latin typeface="Arial" panose="020B0604020202020204" pitchFamily="34" charset="0"/>
                <a:cs typeface="Arial" panose="020B0604020202020204" pitchFamily="34" charset="0"/>
              </a:rPr>
              <a:t>PaCO</a:t>
            </a:r>
            <a:r>
              <a:rPr lang="en-GB" sz="2200" baseline="-25000" dirty="0">
                <a:latin typeface="Arial" panose="020B0604020202020204" pitchFamily="34" charset="0"/>
                <a:cs typeface="Arial" panose="020B0604020202020204" pitchFamily="34" charset="0"/>
              </a:rPr>
              <a:t>2</a:t>
            </a:r>
            <a:r>
              <a:rPr lang="en-GB" sz="2200" dirty="0">
                <a:latin typeface="Arial" panose="020B0604020202020204" pitchFamily="34" charset="0"/>
                <a:cs typeface="Arial" panose="020B0604020202020204" pitchFamily="34" charset="0"/>
              </a:rPr>
              <a:t> 	1/</a:t>
            </a:r>
            <a:r>
              <a:rPr lang="en-GB" sz="2200" dirty="0">
                <a:latin typeface="Arial" panose="020B0604020202020204" pitchFamily="34" charset="0"/>
                <a:cs typeface="Arial" panose="020B0604020202020204" pitchFamily="34" charset="0"/>
                <a:sym typeface="Symbol" pitchFamily="18" charset="2"/>
              </a:rPr>
              <a:t> alveolar ventilation</a:t>
            </a:r>
          </a:p>
          <a:p>
            <a:pPr>
              <a:buNone/>
              <a:defRPr/>
            </a:pPr>
            <a:r>
              <a:rPr lang="en-GB" sz="2200" dirty="0">
                <a:latin typeface="Arial" panose="020B0604020202020204" pitchFamily="34" charset="0"/>
                <a:cs typeface="Arial" panose="020B0604020202020204" pitchFamily="34" charset="0"/>
                <a:sym typeface="Symbol" pitchFamily="18" charset="2"/>
              </a:rPr>
              <a:t>			 VD / VT</a:t>
            </a:r>
          </a:p>
          <a:p>
            <a:pPr>
              <a:buNone/>
              <a:defRPr/>
            </a:pPr>
            <a:r>
              <a:rPr lang="en-GB" sz="2200" dirty="0">
                <a:latin typeface="Arial" panose="020B0604020202020204" pitchFamily="34" charset="0"/>
                <a:cs typeface="Arial" panose="020B0604020202020204" pitchFamily="34" charset="0"/>
                <a:sym typeface="Symbol" pitchFamily="18" charset="2"/>
              </a:rPr>
              <a:t>			 CO</a:t>
            </a:r>
            <a:r>
              <a:rPr lang="en-GB" sz="2200" baseline="-25000" dirty="0">
                <a:latin typeface="Arial" panose="020B0604020202020204" pitchFamily="34" charset="0"/>
                <a:cs typeface="Arial" panose="020B0604020202020204" pitchFamily="34" charset="0"/>
                <a:sym typeface="Symbol" pitchFamily="18" charset="2"/>
              </a:rPr>
              <a:t>2</a:t>
            </a:r>
            <a:r>
              <a:rPr lang="en-GB" sz="2200" dirty="0">
                <a:latin typeface="Arial" panose="020B0604020202020204" pitchFamily="34" charset="0"/>
                <a:cs typeface="Arial" panose="020B0604020202020204" pitchFamily="34" charset="0"/>
                <a:sym typeface="Symbol" pitchFamily="18" charset="2"/>
              </a:rPr>
              <a:t> production</a:t>
            </a:r>
          </a:p>
          <a:p>
            <a:pPr>
              <a:defRPr/>
            </a:pPr>
            <a:r>
              <a:rPr lang="en-GB" sz="2200" dirty="0">
                <a:latin typeface="Arial" panose="020B0604020202020204" pitchFamily="34" charset="0"/>
                <a:cs typeface="Arial" panose="020B0604020202020204" pitchFamily="34" charset="0"/>
                <a:sym typeface="Symbol" pitchFamily="18" charset="2"/>
              </a:rPr>
              <a:t>Hypoxemia occurs due to displacement of alveolar PO</a:t>
            </a:r>
            <a:r>
              <a:rPr lang="en-GB" sz="2200" baseline="-25000" dirty="0">
                <a:latin typeface="Arial" panose="020B0604020202020204" pitchFamily="34" charset="0"/>
                <a:cs typeface="Arial" panose="020B0604020202020204" pitchFamily="34" charset="0"/>
                <a:sym typeface="Symbol" pitchFamily="18" charset="2"/>
              </a:rPr>
              <a:t>2</a:t>
            </a:r>
            <a:r>
              <a:rPr lang="en-GB" sz="2200" dirty="0">
                <a:latin typeface="Arial" panose="020B0604020202020204" pitchFamily="34" charset="0"/>
                <a:cs typeface="Arial" panose="020B0604020202020204" pitchFamily="34" charset="0"/>
                <a:sym typeface="Symbol" pitchFamily="18" charset="2"/>
              </a:rPr>
              <a:t> by  CO</a:t>
            </a:r>
            <a:r>
              <a:rPr lang="en-GB" sz="2200" baseline="-25000" dirty="0">
                <a:latin typeface="Arial" panose="020B0604020202020204" pitchFamily="34" charset="0"/>
                <a:cs typeface="Arial" panose="020B0604020202020204" pitchFamily="34" charset="0"/>
                <a:sym typeface="Symbol" pitchFamily="18" charset="2"/>
              </a:rPr>
              <a:t>2</a:t>
            </a:r>
            <a:r>
              <a:rPr lang="en-GB" sz="2200" dirty="0">
                <a:latin typeface="Arial" panose="020B0604020202020204" pitchFamily="34" charset="0"/>
                <a:cs typeface="Arial" panose="020B0604020202020204" pitchFamily="34" charset="0"/>
                <a:sym typeface="Symbol" pitchFamily="18" charset="2"/>
              </a:rPr>
              <a:t> </a:t>
            </a:r>
          </a:p>
          <a:p>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70</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389685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457200" y="1417638"/>
            <a:ext cx="8534400" cy="4983162"/>
          </a:xfrm>
        </p:spPr>
        <p:txBody>
          <a:bodyPr>
            <a:noAutofit/>
          </a:bodyPr>
          <a:lstStyle/>
          <a:p>
            <a:pPr marL="514350" indent="-514350">
              <a:buFont typeface="+mj-lt"/>
              <a:buAutoNum type="romanUcPeriod"/>
              <a:defRPr/>
            </a:pPr>
            <a:r>
              <a:rPr lang="en-US" sz="2400" b="1" dirty="0">
                <a:latin typeface="Arial" panose="020B0604020202020204" pitchFamily="34" charset="0"/>
                <a:cs typeface="Arial" panose="020B0604020202020204" pitchFamily="34" charset="0"/>
              </a:rPr>
              <a:t>Abnormalities of the airways and alveoli</a:t>
            </a:r>
            <a:r>
              <a:rPr lang="en-US" sz="2400" dirty="0">
                <a:latin typeface="Arial" panose="020B0604020202020204" pitchFamily="34" charset="0"/>
                <a:cs typeface="Arial" panose="020B0604020202020204" pitchFamily="34" charset="0"/>
              </a:rPr>
              <a:t>: air flow obstruction and air trapping</a:t>
            </a:r>
          </a:p>
          <a:p>
            <a:pPr lvl="1">
              <a:defRPr/>
            </a:pPr>
            <a:r>
              <a:rPr lang="en-US" sz="2000" dirty="0">
                <a:latin typeface="Arial" panose="020B0604020202020204" pitchFamily="34" charset="0"/>
                <a:cs typeface="Arial" panose="020B0604020202020204" pitchFamily="34" charset="0"/>
              </a:rPr>
              <a:t>Asthma, COPD, and cystic fibrosis</a:t>
            </a:r>
          </a:p>
          <a:p>
            <a:pPr marL="571500" indent="-514350">
              <a:buFont typeface="+mj-lt"/>
              <a:buAutoNum type="romanUcPeriod"/>
              <a:defRPr/>
            </a:pPr>
            <a:r>
              <a:rPr lang="en-US" sz="2400" b="1" dirty="0">
                <a:latin typeface="Arial" panose="020B0604020202020204" pitchFamily="34" charset="0"/>
                <a:cs typeface="Arial" panose="020B0604020202020204" pitchFamily="34" charset="0"/>
              </a:rPr>
              <a:t>Abnormalities of the CNS</a:t>
            </a:r>
            <a:r>
              <a:rPr lang="en-US" sz="2400" dirty="0">
                <a:latin typeface="Arial" panose="020B0604020202020204" pitchFamily="34" charset="0"/>
                <a:cs typeface="Arial" panose="020B0604020202020204" pitchFamily="34" charset="0"/>
              </a:rPr>
              <a:t>: suppresses drive to breath</a:t>
            </a:r>
          </a:p>
          <a:p>
            <a:pPr lvl="1">
              <a:defRPr/>
            </a:pPr>
            <a:r>
              <a:rPr lang="en-US" sz="2000" dirty="0">
                <a:latin typeface="Arial" panose="020B0604020202020204" pitchFamily="34" charset="0"/>
                <a:cs typeface="Arial" panose="020B0604020202020204" pitchFamily="34" charset="0"/>
              </a:rPr>
              <a:t>Drug over dose, narcotics, head injury, spinal cord injury</a:t>
            </a:r>
          </a:p>
          <a:p>
            <a:pPr marL="514350" indent="-514350">
              <a:buFont typeface="+mj-lt"/>
              <a:buAutoNum type="romanUcPeriod"/>
              <a:defRPr/>
            </a:pPr>
            <a:r>
              <a:rPr lang="en-US" sz="2400" b="1" dirty="0">
                <a:latin typeface="Arial" panose="020B0604020202020204" pitchFamily="34" charset="0"/>
                <a:cs typeface="Arial" panose="020B0604020202020204" pitchFamily="34" charset="0"/>
              </a:rPr>
              <a:t>Abnormalities of the chest wall</a:t>
            </a:r>
          </a:p>
          <a:p>
            <a:pPr lvl="1">
              <a:defRPr/>
            </a:pPr>
            <a:r>
              <a:rPr lang="en-US" sz="2200" dirty="0">
                <a:latin typeface="Arial" panose="020B0604020202020204" pitchFamily="34" charset="0"/>
                <a:cs typeface="Arial" panose="020B0604020202020204" pitchFamily="34" charset="0"/>
              </a:rPr>
              <a:t>Flail chest, morbid obesity, kyphoscoliosis</a:t>
            </a:r>
          </a:p>
          <a:p>
            <a:pPr marL="571500" indent="-514350">
              <a:buFont typeface="+mj-lt"/>
              <a:buAutoNum type="romanUcPeriod"/>
              <a:defRPr/>
            </a:pPr>
            <a:r>
              <a:rPr lang="en-US" sz="2400" b="1" dirty="0">
                <a:latin typeface="Arial" panose="020B0604020202020204" pitchFamily="34" charset="0"/>
                <a:cs typeface="Arial" panose="020B0604020202020204" pitchFamily="34" charset="0"/>
              </a:rPr>
              <a:t>Neuromuscular</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Conditions-</a:t>
            </a:r>
            <a:r>
              <a:rPr lang="en-US" sz="2400" dirty="0">
                <a:latin typeface="Arial" panose="020B0604020202020204" pitchFamily="34" charset="0"/>
                <a:cs typeface="Arial" panose="020B0604020202020204" pitchFamily="34" charset="0"/>
              </a:rPr>
              <a:t> respiratory muscles are weakened</a:t>
            </a:r>
          </a:p>
          <a:p>
            <a:pPr lvl="1">
              <a:defRPr/>
            </a:pPr>
            <a:r>
              <a:rPr lang="en-US" sz="2000" dirty="0">
                <a:latin typeface="Arial" panose="020B0604020202020204" pitchFamily="34" charset="0"/>
                <a:cs typeface="Arial" panose="020B0604020202020204" pitchFamily="34" charset="0"/>
              </a:rPr>
              <a:t>Guillain-Barre, muscular dystrophy, myasthenia gravis and multiple sclerosis</a:t>
            </a:r>
          </a:p>
          <a:p>
            <a:pPr lvl="1">
              <a:defRPr/>
            </a:pPr>
            <a:endParaRPr lang="en-US" sz="2400" dirty="0">
              <a:latin typeface="Arial" panose="020B0604020202020204" pitchFamily="34" charset="0"/>
              <a:cs typeface="Arial" panose="020B0604020202020204" pitchFamily="34" charset="0"/>
            </a:endParaRPr>
          </a:p>
          <a:p>
            <a:pPr>
              <a:buFont typeface="Wingdings" pitchFamily="2" charset="2"/>
              <a:buChar char="§"/>
              <a:defRPr/>
            </a:pPr>
            <a:endParaRPr lang="en-US"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71</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5534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E5003-D679-CF43-A0E5-DDDF5C05190A}"/>
              </a:ext>
            </a:extLst>
          </p:cNvPr>
          <p:cNvSpPr>
            <a:spLocks noGrp="1"/>
          </p:cNvSpPr>
          <p:nvPr>
            <p:ph type="title"/>
          </p:nvPr>
        </p:nvSpPr>
        <p:spPr/>
        <p:txBody>
          <a:bodyPr>
            <a:noAutofit/>
          </a:bodyPr>
          <a:lstStyle/>
          <a:p>
            <a:pPr algn="l"/>
            <a:r>
              <a:rPr lang="en-US" sz="2800" b="1" dirty="0">
                <a:latin typeface="Arial" panose="020B0604020202020204" pitchFamily="34" charset="0"/>
                <a:cs typeface="Arial" panose="020B0604020202020204" pitchFamily="34" charset="0"/>
              </a:rPr>
              <a:t>Clinical Manifestations of Respiratory Failure</a:t>
            </a:r>
            <a:endParaRPr lang="en-US"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E99FE93-70AA-46FD-81E9-E6CF16D596EC}"/>
              </a:ext>
            </a:extLst>
          </p:cNvPr>
          <p:cNvSpPr>
            <a:spLocks noGrp="1"/>
          </p:cNvSpPr>
          <p:nvPr>
            <p:ph idx="1"/>
          </p:nvPr>
        </p:nvSpPr>
        <p:spPr>
          <a:xfrm>
            <a:off x="457200" y="1417638"/>
            <a:ext cx="8458200" cy="4708525"/>
          </a:xfrm>
        </p:spPr>
        <p:txBody>
          <a:bodyPr>
            <a:normAutofit/>
          </a:bodyPr>
          <a:lstStyle/>
          <a:p>
            <a:pPr lvl="1"/>
            <a:r>
              <a:rPr lang="en-US" sz="2400" dirty="0">
                <a:latin typeface="Arial" panose="020B0604020202020204" pitchFamily="34" charset="0"/>
                <a:cs typeface="Arial" panose="020B0604020202020204" pitchFamily="34" charset="0"/>
              </a:rPr>
              <a:t>Tachycardia, tachypnea, </a:t>
            </a:r>
          </a:p>
          <a:p>
            <a:pPr lvl="1"/>
            <a:r>
              <a:rPr lang="en-US" sz="2400" dirty="0">
                <a:latin typeface="Arial" panose="020B0604020202020204" pitchFamily="34" charset="0"/>
                <a:cs typeface="Arial" panose="020B0604020202020204" pitchFamily="34" charset="0"/>
              </a:rPr>
              <a:t>accessory muscle use, intercostal retractions,</a:t>
            </a:r>
          </a:p>
          <a:p>
            <a:pPr lvl="1"/>
            <a:r>
              <a:rPr lang="en-US" sz="2400" dirty="0">
                <a:latin typeface="Arial" panose="020B0604020202020204" pitchFamily="34" charset="0"/>
                <a:cs typeface="Arial" panose="020B0604020202020204" pitchFamily="34" charset="0"/>
              </a:rPr>
              <a:t> nasal flaring (especially in infants and children),</a:t>
            </a:r>
          </a:p>
          <a:p>
            <a:pPr lvl="1"/>
            <a:r>
              <a:rPr lang="en-US" sz="2400" dirty="0">
                <a:latin typeface="Arial" panose="020B0604020202020204" pitchFamily="34" charset="0"/>
                <a:cs typeface="Arial" panose="020B0604020202020204" pitchFamily="34" charset="0"/>
              </a:rPr>
              <a:t> diaphoresis, and O</a:t>
            </a:r>
            <a:r>
              <a:rPr lang="en-US" sz="18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 desaturation.</a:t>
            </a:r>
          </a:p>
          <a:p>
            <a:pPr lvl="1"/>
            <a:endParaRPr lang="en-US" sz="2400" dirty="0">
              <a:latin typeface="Arial" panose="020B0604020202020204" pitchFamily="34" charset="0"/>
              <a:cs typeface="Arial" panose="020B0604020202020204" pitchFamily="34" charset="0"/>
            </a:endParaRPr>
          </a:p>
          <a:p>
            <a:pPr lvl="1"/>
            <a:r>
              <a:rPr lang="en-US" sz="2400" dirty="0">
                <a:latin typeface="Arial" panose="020B0604020202020204" pitchFamily="34" charset="0"/>
                <a:cs typeface="Arial" panose="020B0604020202020204" pitchFamily="34" charset="0"/>
              </a:rPr>
              <a:t>Excitement, overconfidence, restlessness, </a:t>
            </a:r>
          </a:p>
          <a:p>
            <a:pPr lvl="1"/>
            <a:r>
              <a:rPr lang="en-US" sz="2400" dirty="0">
                <a:latin typeface="Arial" panose="020B0604020202020204" pitchFamily="34" charset="0"/>
                <a:cs typeface="Arial" panose="020B0604020202020204" pitchFamily="34" charset="0"/>
              </a:rPr>
              <a:t>anxiety, nausea, headache, and</a:t>
            </a:r>
          </a:p>
          <a:p>
            <a:pPr lvl="1"/>
            <a:r>
              <a:rPr lang="en-US" sz="2400" dirty="0">
                <a:latin typeface="Arial" panose="020B0604020202020204" pitchFamily="34" charset="0"/>
                <a:cs typeface="Arial" panose="020B0604020202020204" pitchFamily="34" charset="0"/>
              </a:rPr>
              <a:t> altered mental status may be present, followed by confusion, somnolence, and coma as the patient’s condition deteriorates</a:t>
            </a:r>
            <a:r>
              <a:rPr lang="en-US"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01134DBD-F09E-F7E8-308C-DF2FB21DEA2E}"/>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72</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54620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3379F-B527-679F-DD65-C4E93537F832}"/>
              </a:ext>
            </a:extLst>
          </p:cNvPr>
          <p:cNvSpPr>
            <a:spLocks noGrp="1"/>
          </p:cNvSpPr>
          <p:nvPr>
            <p:ph type="title"/>
          </p:nvPr>
        </p:nvSpPr>
        <p:spPr/>
        <p:txBody>
          <a:bodyPr>
            <a:noAutofit/>
          </a:bodyPr>
          <a:lstStyle/>
          <a:p>
            <a:pPr algn="l"/>
            <a:r>
              <a:rPr lang="en-US" sz="2000" b="1" dirty="0">
                <a:latin typeface="Arial" panose="020B0604020202020204" pitchFamily="34" charset="0"/>
                <a:cs typeface="Arial" panose="020B0604020202020204" pitchFamily="34" charset="0"/>
              </a:rPr>
              <a:t>Clinical Manifestations of Respiratory Failure….</a:t>
            </a:r>
            <a:endParaRPr lang="en-US" sz="2000" dirty="0"/>
          </a:p>
        </p:txBody>
      </p:sp>
      <p:sp>
        <p:nvSpPr>
          <p:cNvPr id="3" name="Content Placeholder 2">
            <a:extLst>
              <a:ext uri="{FF2B5EF4-FFF2-40B4-BE49-F238E27FC236}">
                <a16:creationId xmlns:a16="http://schemas.microsoft.com/office/drawing/2014/main" id="{EF963471-FD49-ADFC-31D2-F8F821563A40}"/>
              </a:ext>
            </a:extLst>
          </p:cNvPr>
          <p:cNvSpPr>
            <a:spLocks noGrp="1"/>
          </p:cNvSpPr>
          <p:nvPr>
            <p:ph idx="1"/>
          </p:nvPr>
        </p:nvSpPr>
        <p:spPr>
          <a:xfrm>
            <a:off x="457200" y="1600200"/>
            <a:ext cx="8382000" cy="4525963"/>
          </a:xfrm>
        </p:spPr>
        <p:txBody>
          <a:bodyPr>
            <a:normAutofit/>
          </a:bodyPr>
          <a:lstStyle/>
          <a:p>
            <a:r>
              <a:rPr lang="en-US" sz="2400" dirty="0">
                <a:latin typeface="Arial" panose="020B0604020202020204" pitchFamily="34" charset="0"/>
                <a:cs typeface="Arial" panose="020B0604020202020204" pitchFamily="34" charset="0"/>
              </a:rPr>
              <a:t>Rapid, shallow breathing is a common finding.</a:t>
            </a:r>
          </a:p>
          <a:p>
            <a:r>
              <a:rPr lang="en-US" sz="2400" dirty="0">
                <a:latin typeface="Arial" panose="020B0604020202020204" pitchFamily="34" charset="0"/>
                <a:cs typeface="Arial" panose="020B0604020202020204" pitchFamily="34" charset="0"/>
              </a:rPr>
              <a:t>Severe respiratory failure may be signaled by </a:t>
            </a:r>
          </a:p>
          <a:p>
            <a:pPr lvl="1"/>
            <a:r>
              <a:rPr lang="en-US" sz="2000" dirty="0">
                <a:latin typeface="Arial" panose="020B0604020202020204" pitchFamily="34" charset="0"/>
                <a:cs typeface="Arial" panose="020B0604020202020204" pitchFamily="34" charset="0"/>
              </a:rPr>
              <a:t>slowed or irregular breathing, </a:t>
            </a:r>
          </a:p>
          <a:p>
            <a:pPr lvl="1"/>
            <a:r>
              <a:rPr lang="en-US" sz="2000" dirty="0">
                <a:latin typeface="Arial" panose="020B0604020202020204" pitchFamily="34" charset="0"/>
                <a:cs typeface="Arial" panose="020B0604020202020204" pitchFamily="34" charset="0"/>
              </a:rPr>
              <a:t>reduced chest expansion, </a:t>
            </a:r>
          </a:p>
          <a:p>
            <a:pPr lvl="1"/>
            <a:r>
              <a:rPr lang="en-US" sz="2000" dirty="0">
                <a:latin typeface="Arial" panose="020B0604020202020204" pitchFamily="34" charset="0"/>
                <a:cs typeface="Arial" panose="020B0604020202020204" pitchFamily="34" charset="0"/>
              </a:rPr>
              <a:t>cardiac arrhythmias, and </a:t>
            </a:r>
            <a:r>
              <a:rPr lang="en-US" sz="2000" b="1" dirty="0">
                <a:latin typeface="Arial" panose="020B0604020202020204" pitchFamily="34" charset="0"/>
                <a:cs typeface="Arial" panose="020B0604020202020204" pitchFamily="34" charset="0"/>
              </a:rPr>
              <a:t>hypotension</a:t>
            </a:r>
            <a:r>
              <a:rPr lang="en-US" sz="1900" b="1" dirty="0">
                <a:latin typeface="Arial" panose="020B0604020202020204" pitchFamily="34" charset="0"/>
                <a:cs typeface="Arial" panose="020B0604020202020204" pitchFamily="34" charset="0"/>
              </a:rPr>
              <a:t>.</a:t>
            </a:r>
            <a:endParaRPr lang="en-US" sz="1900" dirty="0">
              <a:latin typeface="Arial" panose="020B0604020202020204" pitchFamily="34" charset="0"/>
              <a:cs typeface="Arial" panose="020B0604020202020204" pitchFamily="34" charset="0"/>
            </a:endParaRPr>
          </a:p>
          <a:p>
            <a:r>
              <a:rPr lang="en-US" sz="2300" dirty="0">
                <a:latin typeface="Arial" panose="020B0604020202020204" pitchFamily="34" charset="0"/>
                <a:cs typeface="Arial" panose="020B0604020202020204" pitchFamily="34" charset="0"/>
              </a:rPr>
              <a:t>Cyanosis is a variable finding and may not be present in patients with anemia.</a:t>
            </a:r>
          </a:p>
        </p:txBody>
      </p:sp>
      <p:sp>
        <p:nvSpPr>
          <p:cNvPr id="4" name="Slide Number Placeholder 3">
            <a:extLst>
              <a:ext uri="{FF2B5EF4-FFF2-40B4-BE49-F238E27FC236}">
                <a16:creationId xmlns:a16="http://schemas.microsoft.com/office/drawing/2014/main" id="{98CDE300-02DC-AB81-6EF3-BADAA6DF3936}"/>
              </a:ext>
            </a:extLst>
          </p:cNvPr>
          <p:cNvSpPr>
            <a:spLocks noGrp="1"/>
          </p:cNvSpPr>
          <p:nvPr>
            <p:ph type="sldNum" sz="quarter" idx="12"/>
          </p:nvPr>
        </p:nvSpPr>
        <p:spPr/>
        <p:txBody>
          <a:bodyPr/>
          <a:lstStyle/>
          <a:p>
            <a:fld id="{B6F15528-21DE-4FAA-801E-634DDDAF4B2B}" type="slidenum">
              <a:rPr lang="en-US" smtClean="0"/>
              <a:pPr/>
              <a:t>73</a:t>
            </a:fld>
            <a:endParaRPr lang="en-US"/>
          </a:p>
        </p:txBody>
      </p:sp>
    </p:spTree>
    <p:extLst>
      <p:ext uri="{BB962C8B-B14F-4D97-AF65-F5344CB8AC3E}">
        <p14:creationId xmlns:p14="http://schemas.microsoft.com/office/powerpoint/2010/main" val="255955069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p:txBody>
          <a:bodyPr>
            <a:normAutofit/>
          </a:bodyPr>
          <a:lstStyle/>
          <a:p>
            <a:pPr marL="342900" lvl="1" indent="-342900">
              <a:buFont typeface="Wingdings" panose="05000000000000000000" pitchFamily="2" charset="2"/>
              <a:buChar char="q"/>
              <a:defRPr/>
            </a:pPr>
            <a:r>
              <a:rPr lang="en-US" sz="2400" dirty="0">
                <a:latin typeface="Arial" panose="020B0604020202020204" pitchFamily="34" charset="0"/>
                <a:cs typeface="Arial" panose="020B0604020202020204" pitchFamily="34" charset="0"/>
              </a:rPr>
              <a:t>Signs and Symptoms of Respiratory Failure</a:t>
            </a:r>
          </a:p>
          <a:p>
            <a:pPr marL="342900" lvl="1" indent="-342900">
              <a:buFont typeface="Arial" pitchFamily="34" charset="0"/>
              <a:buChar char="•"/>
              <a:defRPr/>
            </a:pPr>
            <a:r>
              <a:rPr lang="en-US" sz="2400" b="1" dirty="0">
                <a:latin typeface="Arial" panose="020B0604020202020204" pitchFamily="34" charset="0"/>
                <a:cs typeface="Arial" panose="020B0604020202020204" pitchFamily="34" charset="0"/>
              </a:rPr>
              <a:t>Early signs</a:t>
            </a:r>
          </a:p>
          <a:p>
            <a:pPr lvl="1">
              <a:defRPr/>
            </a:pPr>
            <a:r>
              <a:rPr lang="en-US" sz="2400" dirty="0">
                <a:latin typeface="Arial" panose="020B0604020202020204" pitchFamily="34" charset="0"/>
                <a:cs typeface="Arial" panose="020B0604020202020204" pitchFamily="34" charset="0"/>
              </a:rPr>
              <a:t>Tachycardia and mild hypertension</a:t>
            </a:r>
          </a:p>
          <a:p>
            <a:pPr lvl="1">
              <a:defRPr/>
            </a:pPr>
            <a:r>
              <a:rPr lang="en-US" sz="2400" dirty="0">
                <a:latin typeface="Arial" panose="020B0604020202020204" pitchFamily="34" charset="0"/>
                <a:cs typeface="Arial" panose="020B0604020202020204" pitchFamily="34" charset="0"/>
              </a:rPr>
              <a:t>Severe morning headache</a:t>
            </a:r>
          </a:p>
          <a:p>
            <a:pPr marL="342900" lvl="1" indent="-342900">
              <a:buFont typeface="Arial" pitchFamily="34" charset="0"/>
              <a:buChar char="•"/>
              <a:defRPr/>
            </a:pPr>
            <a:r>
              <a:rPr lang="en-US" sz="2400" b="1" dirty="0">
                <a:latin typeface="Arial" panose="020B0604020202020204" pitchFamily="34" charset="0"/>
                <a:cs typeface="Arial" panose="020B0604020202020204" pitchFamily="34" charset="0"/>
              </a:rPr>
              <a:t>Late sign</a:t>
            </a:r>
          </a:p>
          <a:p>
            <a:pPr lvl="1">
              <a:defRPr/>
            </a:pPr>
            <a:r>
              <a:rPr lang="en-US" sz="2400" dirty="0">
                <a:latin typeface="Arial" panose="020B0604020202020204" pitchFamily="34" charset="0"/>
                <a:cs typeface="Arial" panose="020B0604020202020204" pitchFamily="34" charset="0"/>
              </a:rPr>
              <a:t>Cyanosis</a:t>
            </a:r>
          </a:p>
          <a:p>
            <a:pPr>
              <a:buFont typeface="Wingdings" panose="05000000000000000000" pitchFamily="2" charset="2"/>
              <a:buChar char="q"/>
              <a:defRPr/>
            </a:pPr>
            <a:r>
              <a:rPr lang="en-US" sz="2400" dirty="0">
                <a:latin typeface="Arial" panose="020B0604020202020204" pitchFamily="34" charset="0"/>
                <a:cs typeface="Arial" panose="020B0604020202020204" pitchFamily="34" charset="0"/>
              </a:rPr>
              <a:t>Consequences of hypoxemia and hypoxia</a:t>
            </a:r>
          </a:p>
          <a:p>
            <a:pPr lvl="1">
              <a:defRPr/>
            </a:pPr>
            <a:r>
              <a:rPr lang="en-US" sz="2400" dirty="0">
                <a:latin typeface="Arial" panose="020B0604020202020204" pitchFamily="34" charset="0"/>
                <a:cs typeface="Arial" panose="020B0604020202020204" pitchFamily="34" charset="0"/>
              </a:rPr>
              <a:t>Metabolic acidosis and cell death</a:t>
            </a:r>
          </a:p>
          <a:p>
            <a:pPr lvl="1">
              <a:defRPr/>
            </a:pPr>
            <a:r>
              <a:rPr lang="en-US" sz="2400" dirty="0">
                <a:latin typeface="Arial" panose="020B0604020202020204" pitchFamily="34" charset="0"/>
                <a:cs typeface="Arial" panose="020B0604020202020204" pitchFamily="34" charset="0"/>
              </a:rPr>
              <a:t>Decreased cardiac output</a:t>
            </a:r>
          </a:p>
          <a:p>
            <a:pPr lvl="1">
              <a:defRPr/>
            </a:pPr>
            <a:r>
              <a:rPr lang="en-US" sz="2400" dirty="0">
                <a:latin typeface="Arial" panose="020B0604020202020204" pitchFamily="34" charset="0"/>
                <a:cs typeface="Arial" panose="020B0604020202020204" pitchFamily="34" charset="0"/>
              </a:rPr>
              <a:t>Impaired renal function</a:t>
            </a:r>
          </a:p>
          <a:p>
            <a:endParaRPr lang="en-US" sz="36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74</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10369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200" dirty="0">
                <a:latin typeface="Times New Roman" pitchFamily="18" charset="0"/>
                <a:cs typeface="Times New Roman" pitchFamily="18" charset="0"/>
              </a:rPr>
              <a:t>Assessment of Respiratory Failure</a:t>
            </a:r>
            <a:br>
              <a:rPr lang="en-US" sz="3200" dirty="0">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defRPr/>
            </a:pPr>
            <a:r>
              <a:rPr lang="en-US" sz="2400" dirty="0">
                <a:latin typeface="Times New Roman" pitchFamily="18" charset="0"/>
                <a:cs typeface="Times New Roman" pitchFamily="18" charset="0"/>
              </a:rPr>
              <a:t>History and physical assessment</a:t>
            </a:r>
          </a:p>
          <a:p>
            <a:pPr>
              <a:defRPr/>
            </a:pPr>
            <a:r>
              <a:rPr lang="en-US" sz="2400" dirty="0">
                <a:latin typeface="Times New Roman" pitchFamily="18" charset="0"/>
                <a:cs typeface="Times New Roman" pitchFamily="18" charset="0"/>
              </a:rPr>
              <a:t>ABG analysis</a:t>
            </a:r>
          </a:p>
          <a:p>
            <a:pPr>
              <a:defRPr/>
            </a:pPr>
            <a:r>
              <a:rPr lang="en-US" sz="2400" dirty="0">
                <a:latin typeface="Times New Roman" pitchFamily="18" charset="0"/>
                <a:cs typeface="Times New Roman" pitchFamily="18" charset="0"/>
              </a:rPr>
              <a:t>Chest x-ray </a:t>
            </a:r>
          </a:p>
          <a:p>
            <a:pPr>
              <a:defRPr/>
            </a:pPr>
            <a:r>
              <a:rPr lang="en-US" sz="2400" dirty="0">
                <a:latin typeface="Times New Roman" pitchFamily="18" charset="0"/>
                <a:cs typeface="Times New Roman" pitchFamily="18" charset="0"/>
              </a:rPr>
              <a:t>CBC, sputum/blood cultures, electrolytes</a:t>
            </a:r>
          </a:p>
          <a:p>
            <a:pPr>
              <a:defRPr/>
            </a:pPr>
            <a:r>
              <a:rPr lang="en-US" sz="2400" dirty="0">
                <a:latin typeface="Times New Roman" pitchFamily="18" charset="0"/>
                <a:cs typeface="Times New Roman" pitchFamily="18" charset="0"/>
              </a:rPr>
              <a:t>ECG</a:t>
            </a:r>
          </a:p>
          <a:p>
            <a:pPr>
              <a:defRPr/>
            </a:pPr>
            <a:r>
              <a:rPr lang="en-US" sz="2400" dirty="0">
                <a:latin typeface="Times New Roman" pitchFamily="18" charset="0"/>
                <a:cs typeface="Times New Roman" pitchFamily="18" charset="0"/>
              </a:rPr>
              <a:t>Urinalysis</a:t>
            </a:r>
          </a:p>
          <a:p>
            <a:pPr>
              <a:defRPr/>
            </a:pPr>
            <a:r>
              <a:rPr lang="en-US" sz="2400" dirty="0">
                <a:latin typeface="Times New Roman" pitchFamily="18" charset="0"/>
                <a:cs typeface="Times New Roman" pitchFamily="18" charset="0"/>
              </a:rPr>
              <a:t>V/Q lung scan</a:t>
            </a:r>
          </a:p>
          <a:p>
            <a:pPr>
              <a:defRPr/>
            </a:pPr>
            <a:r>
              <a:rPr lang="en-US" sz="2400" dirty="0">
                <a:latin typeface="Times New Roman" pitchFamily="18" charset="0"/>
                <a:cs typeface="Times New Roman" pitchFamily="18" charset="0"/>
              </a:rPr>
              <a:t>Pulmonary artery catheter (severe cases)</a:t>
            </a:r>
          </a:p>
          <a:p>
            <a:endParaRPr lang="en-US" sz="24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75</a:t>
            </a:fld>
            <a:endParaRPr lang="en-US"/>
          </a:p>
        </p:txBody>
      </p:sp>
    </p:spTree>
    <p:extLst>
      <p:ext uri="{BB962C8B-B14F-4D97-AF65-F5344CB8AC3E}">
        <p14:creationId xmlns:p14="http://schemas.microsoft.com/office/powerpoint/2010/main" val="27971298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Arial" panose="020B0604020202020204" pitchFamily="34" charset="0"/>
                <a:cs typeface="Arial" panose="020B0604020202020204" pitchFamily="34" charset="0"/>
              </a:rPr>
              <a:t>Cont</a:t>
            </a:r>
            <a:r>
              <a:rPr lang="en-US" dirty="0">
                <a:latin typeface="Arial" panose="020B0604020202020204" pitchFamily="34" charset="0"/>
                <a:cs typeface="Arial" panose="020B0604020202020204" pitchFamily="34" charset="0"/>
              </a:rPr>
              <a:t>…</a:t>
            </a:r>
          </a:p>
        </p:txBody>
      </p:sp>
      <p:sp>
        <p:nvSpPr>
          <p:cNvPr id="3" name="Content Placeholder 2"/>
          <p:cNvSpPr>
            <a:spLocks noGrp="1"/>
          </p:cNvSpPr>
          <p:nvPr>
            <p:ph idx="1"/>
          </p:nvPr>
        </p:nvSpPr>
        <p:spPr/>
        <p:txBody>
          <a:bodyPr>
            <a:normAutofit/>
          </a:bodyPr>
          <a:lstStyle/>
          <a:p>
            <a:pPr>
              <a:buFont typeface="Wingdings" pitchFamily="2" charset="2"/>
              <a:buChar char="Ø"/>
              <a:defRPr/>
            </a:pPr>
            <a:r>
              <a:rPr lang="en-US" sz="2400" b="1" dirty="0">
                <a:latin typeface="Arial" panose="020B0604020202020204" pitchFamily="34" charset="0"/>
                <a:cs typeface="Arial" panose="020B0604020202020204" pitchFamily="34" charset="0"/>
              </a:rPr>
              <a:t>History</a:t>
            </a:r>
            <a:r>
              <a:rPr lang="en-US" sz="2400" dirty="0">
                <a:latin typeface="Arial" panose="020B0604020202020204" pitchFamily="34" charset="0"/>
                <a:cs typeface="Arial" panose="020B0604020202020204" pitchFamily="34" charset="0"/>
              </a:rPr>
              <a:t> </a:t>
            </a:r>
          </a:p>
          <a:p>
            <a:pPr>
              <a:defRPr/>
            </a:pPr>
            <a:r>
              <a:rPr lang="en-US" sz="2400" dirty="0">
                <a:latin typeface="Arial" panose="020B0604020202020204" pitchFamily="34" charset="0"/>
                <a:cs typeface="Arial" panose="020B0604020202020204" pitchFamily="34" charset="0"/>
              </a:rPr>
              <a:t> e.g., previous cardiac disease, VHD, recent symptom of orthopnea, chest pain</a:t>
            </a:r>
          </a:p>
          <a:p>
            <a:pPr>
              <a:defRPr/>
            </a:pPr>
            <a:r>
              <a:rPr lang="en-US" sz="2400" dirty="0">
                <a:latin typeface="Arial" panose="020B0604020202020204" pitchFamily="34" charset="0"/>
                <a:cs typeface="Arial" panose="020B0604020202020204" pitchFamily="34" charset="0"/>
              </a:rPr>
              <a:t>Trauma</a:t>
            </a:r>
          </a:p>
          <a:p>
            <a:pPr>
              <a:defRPr/>
            </a:pPr>
            <a:r>
              <a:rPr lang="en-US" sz="2400" dirty="0">
                <a:latin typeface="Arial" panose="020B0604020202020204" pitchFamily="34" charset="0"/>
                <a:cs typeface="Arial" panose="020B0604020202020204" pitchFamily="34" charset="0"/>
              </a:rPr>
              <a:t>Aspiration</a:t>
            </a:r>
          </a:p>
          <a:p>
            <a:pPr>
              <a:defRPr/>
            </a:pPr>
            <a:r>
              <a:rPr lang="en-US" sz="2400" dirty="0">
                <a:latin typeface="Arial" panose="020B0604020202020204" pitchFamily="34" charset="0"/>
                <a:cs typeface="Arial" panose="020B0604020202020204" pitchFamily="34" charset="0"/>
              </a:rPr>
              <a:t>Sepsis</a:t>
            </a:r>
          </a:p>
          <a:p>
            <a:pPr>
              <a:defRPr/>
            </a:pPr>
            <a:r>
              <a:rPr lang="en-US" sz="2400" dirty="0">
                <a:latin typeface="Arial" panose="020B0604020202020204" pitchFamily="34" charset="0"/>
                <a:cs typeface="Arial" panose="020B0604020202020204" pitchFamily="34" charset="0"/>
              </a:rPr>
              <a:t>Infection, etc. </a:t>
            </a:r>
          </a:p>
          <a:p>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76</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728910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Arial" panose="020B0604020202020204" pitchFamily="34" charset="0"/>
                <a:cs typeface="Arial" panose="020B0604020202020204" pitchFamily="34" charset="0"/>
              </a:rPr>
              <a:t>Cont</a:t>
            </a:r>
            <a:r>
              <a:rPr lang="en-US" sz="4000" dirty="0">
                <a:latin typeface="Arial" panose="020B0604020202020204" pitchFamily="34" charset="0"/>
                <a:cs typeface="Arial" panose="020B0604020202020204" pitchFamily="34" charset="0"/>
              </a:rPr>
              <a:t>…</a:t>
            </a:r>
          </a:p>
        </p:txBody>
      </p:sp>
      <p:sp>
        <p:nvSpPr>
          <p:cNvPr id="3" name="Content Placeholder 2"/>
          <p:cNvSpPr>
            <a:spLocks noGrp="1"/>
          </p:cNvSpPr>
          <p:nvPr>
            <p:ph idx="1"/>
          </p:nvPr>
        </p:nvSpPr>
        <p:spPr>
          <a:xfrm>
            <a:off x="381000" y="1676400"/>
            <a:ext cx="8458200" cy="4525963"/>
          </a:xfrm>
        </p:spPr>
        <p:txBody>
          <a:bodyPr>
            <a:normAutofit/>
          </a:bodyPr>
          <a:lstStyle/>
          <a:p>
            <a:pPr>
              <a:buFont typeface="Courier New" pitchFamily="49" charset="0"/>
              <a:buChar char="o"/>
              <a:defRPr/>
            </a:pPr>
            <a:r>
              <a:rPr lang="en-US" sz="2400" dirty="0">
                <a:latin typeface="Arial" panose="020B0604020202020204" pitchFamily="34" charset="0"/>
                <a:cs typeface="Arial" panose="020B0604020202020204" pitchFamily="34" charset="0"/>
              </a:rPr>
              <a:t>Signs of  underlying disease process – pneumonia, pulmonary edema, asthma, COPD, cor pulmonale etc.</a:t>
            </a:r>
          </a:p>
          <a:p>
            <a:pPr lvl="1">
              <a:defRPr/>
            </a:pPr>
            <a:r>
              <a:rPr lang="en-US" sz="2000" dirty="0">
                <a:latin typeface="Arial" panose="020B0604020202020204" pitchFamily="34" charset="0"/>
                <a:cs typeface="Arial" panose="020B0604020202020204" pitchFamily="34" charset="0"/>
              </a:rPr>
              <a:t>Hypoxemia- restlessness, anxiety, confusion, somnolence, tachycardia, dyspnea, cyanosis, use of accessory muscles, arrhythmias, seizures etc.</a:t>
            </a:r>
          </a:p>
          <a:p>
            <a:pPr lvl="1">
              <a:defRPr/>
            </a:pPr>
            <a:r>
              <a:rPr lang="en-US" sz="2000" dirty="0">
                <a:latin typeface="Arial" panose="020B0604020202020204" pitchFamily="34" charset="0"/>
                <a:cs typeface="Arial" panose="020B0604020202020204" pitchFamily="34" charset="0"/>
              </a:rPr>
              <a:t>Hypercapnia,  tachycardia, hypertension etc. </a:t>
            </a:r>
          </a:p>
          <a:p>
            <a:pPr>
              <a:buFont typeface="Courier New" pitchFamily="49" charset="0"/>
              <a:buChar char="o"/>
              <a:defRPr/>
            </a:pPr>
            <a:endParaRPr lang="en-US" sz="2400" dirty="0">
              <a:latin typeface="Arial" panose="020B0604020202020204" pitchFamily="34" charset="0"/>
              <a:cs typeface="Arial" panose="020B0604020202020204" pitchFamily="34" charset="0"/>
            </a:endParaRPr>
          </a:p>
          <a:p>
            <a:pPr>
              <a:buFont typeface="Courier New" pitchFamily="49" charset="0"/>
              <a:buChar char="o"/>
            </a:pPr>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77</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15096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E7E9-F4C7-5F3A-4E05-34C17C8CEE32}"/>
              </a:ext>
            </a:extLst>
          </p:cNvPr>
          <p:cNvSpPr>
            <a:spLocks noGrp="1"/>
          </p:cNvSpPr>
          <p:nvPr>
            <p:ph type="title"/>
          </p:nvPr>
        </p:nvSpPr>
        <p:spPr/>
        <p:txBody>
          <a:bodyPr>
            <a:normAutofit/>
          </a:bodyPr>
          <a:lstStyle/>
          <a:p>
            <a:r>
              <a:rPr lang="en-US" sz="3600" dirty="0">
                <a:latin typeface="Arial" panose="020B0604020202020204" pitchFamily="34" charset="0"/>
                <a:cs typeface="Arial" panose="020B0604020202020204" pitchFamily="34" charset="0"/>
              </a:rPr>
              <a:t>Cont.</a:t>
            </a:r>
            <a:r>
              <a:rPr lang="en-US" dirty="0">
                <a:latin typeface="Arial" panose="020B0604020202020204" pitchFamily="34" charset="0"/>
                <a:cs typeface="Arial" panose="020B0604020202020204" pitchFamily="34" charset="0"/>
              </a:rPr>
              <a:t>…</a:t>
            </a:r>
            <a:endParaRPr lang="en-US" sz="3600" dirty="0"/>
          </a:p>
        </p:txBody>
      </p:sp>
      <p:sp>
        <p:nvSpPr>
          <p:cNvPr id="3" name="Content Placeholder 2">
            <a:extLst>
              <a:ext uri="{FF2B5EF4-FFF2-40B4-BE49-F238E27FC236}">
                <a16:creationId xmlns:a16="http://schemas.microsoft.com/office/drawing/2014/main" id="{F208AED8-F070-BD45-48DE-45046350ED09}"/>
              </a:ext>
            </a:extLst>
          </p:cNvPr>
          <p:cNvSpPr>
            <a:spLocks noGrp="1"/>
          </p:cNvSpPr>
          <p:nvPr>
            <p:ph idx="1"/>
          </p:nvPr>
        </p:nvSpPr>
        <p:spPr>
          <a:xfrm>
            <a:off x="457200" y="1600200"/>
            <a:ext cx="8458200" cy="4756150"/>
          </a:xfrm>
        </p:spPr>
        <p:txBody>
          <a:bodyPr>
            <a:normAutofit/>
          </a:bodyPr>
          <a:lstStyle/>
          <a:p>
            <a:pPr>
              <a:buFont typeface="Wingdings" panose="05000000000000000000" pitchFamily="2" charset="2"/>
              <a:buChar char="q"/>
            </a:pPr>
            <a:r>
              <a:rPr lang="en-US" sz="2400" b="1" dirty="0">
                <a:latin typeface="Arial" panose="020B0604020202020204" pitchFamily="34" charset="0"/>
                <a:cs typeface="Arial" panose="020B0604020202020204" pitchFamily="34" charset="0"/>
              </a:rPr>
              <a:t>Assessment for Respiratory Failure</a:t>
            </a:r>
          </a:p>
          <a:p>
            <a:r>
              <a:rPr lang="en-US" sz="2400" dirty="0">
                <a:latin typeface="Arial" panose="020B0604020202020204" pitchFamily="34" charset="0"/>
                <a:cs typeface="Arial" panose="020B0604020202020204" pitchFamily="34" charset="0"/>
              </a:rPr>
              <a:t>Evaluation of patients in respiratory failure must include:</a:t>
            </a:r>
          </a:p>
          <a:p>
            <a:pPr lvl="1"/>
            <a:r>
              <a:rPr lang="en-US" sz="2200" dirty="0">
                <a:latin typeface="Arial" panose="020B0604020202020204" pitchFamily="34" charset="0"/>
                <a:cs typeface="Arial" panose="020B0604020202020204" pitchFamily="34" charset="0"/>
              </a:rPr>
              <a:t> a thorough assessment of oxygenation and carbon dioxide removal (i.e., ventilation).</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When the clinical manifestations are present, </a:t>
            </a:r>
          </a:p>
          <a:p>
            <a:pPr lvl="1"/>
            <a:r>
              <a:rPr lang="en-US" sz="2200" dirty="0">
                <a:latin typeface="Arial" panose="020B0604020202020204" pitchFamily="34" charset="0"/>
                <a:cs typeface="Arial" panose="020B0604020202020204" pitchFamily="34" charset="0"/>
              </a:rPr>
              <a:t> the patient’s PaO</a:t>
            </a:r>
            <a:r>
              <a:rPr lang="en-US" sz="18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and PaCO</a:t>
            </a:r>
            <a:r>
              <a:rPr lang="en-US" sz="2000" dirty="0">
                <a:latin typeface="Arial" panose="020B0604020202020204" pitchFamily="34" charset="0"/>
                <a:cs typeface="Arial" panose="020B0604020202020204" pitchFamily="34" charset="0"/>
              </a:rPr>
              <a:t>2</a:t>
            </a:r>
            <a:r>
              <a:rPr lang="en-US" sz="2200" dirty="0">
                <a:latin typeface="Arial" panose="020B0604020202020204" pitchFamily="34" charset="0"/>
                <a:cs typeface="Arial" panose="020B0604020202020204" pitchFamily="34" charset="0"/>
              </a:rPr>
              <a:t> levels should be assessed.</a:t>
            </a:r>
          </a:p>
          <a:p>
            <a:pPr lvl="2"/>
            <a:r>
              <a:rPr lang="en-US"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Pulse oximetry provides an inexpensive, fast, safe, and convenient method to assess SpO2. </a:t>
            </a:r>
          </a:p>
          <a:p>
            <a:pPr lvl="2"/>
            <a:r>
              <a:rPr lang="en-US" sz="2000" dirty="0">
                <a:latin typeface="Arial" panose="020B0604020202020204" pitchFamily="34" charset="0"/>
                <a:cs typeface="Arial" panose="020B0604020202020204" pitchFamily="34" charset="0"/>
              </a:rPr>
              <a:t>However, it may not detect certain types of hypoxia, including </a:t>
            </a:r>
            <a:r>
              <a:rPr lang="en-US" sz="2000" b="1" dirty="0">
                <a:latin typeface="Arial" panose="020B0604020202020204" pitchFamily="34" charset="0"/>
                <a:cs typeface="Arial" panose="020B0604020202020204" pitchFamily="34" charset="0"/>
              </a:rPr>
              <a:t>anemic hypoxia</a:t>
            </a:r>
            <a:r>
              <a:rPr lang="en-US" sz="2000" dirty="0">
                <a:latin typeface="Arial" panose="020B0604020202020204" pitchFamily="34" charset="0"/>
                <a:cs typeface="Arial" panose="020B0604020202020204" pitchFamily="34" charset="0"/>
              </a:rPr>
              <a:t>, circulatory hypoxia, </a:t>
            </a:r>
            <a:r>
              <a:rPr lang="en-US" sz="2000" b="1" dirty="0">
                <a:latin typeface="Arial" panose="020B0604020202020204" pitchFamily="34" charset="0"/>
                <a:cs typeface="Arial" panose="020B0604020202020204" pitchFamily="34" charset="0"/>
              </a:rPr>
              <a:t>ischemic hypoxia</a:t>
            </a:r>
            <a:r>
              <a:rPr lang="en-US" sz="2000" dirty="0">
                <a:latin typeface="Arial" panose="020B0604020202020204" pitchFamily="34" charset="0"/>
                <a:cs typeface="Arial" panose="020B0604020202020204" pitchFamily="34" charset="0"/>
              </a:rPr>
              <a:t>, and </a:t>
            </a:r>
            <a:r>
              <a:rPr lang="en-US" sz="2000" b="1" dirty="0">
                <a:latin typeface="Arial" panose="020B0604020202020204" pitchFamily="34" charset="0"/>
                <a:cs typeface="Arial" panose="020B0604020202020204" pitchFamily="34" charset="0"/>
              </a:rPr>
              <a:t>histotoxic hypoxia.</a:t>
            </a:r>
            <a:endParaRPr lang="en-US" sz="20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A33E2B5-919E-41FF-208C-E764B9C90DA5}"/>
              </a:ext>
            </a:extLst>
          </p:cNvPr>
          <p:cNvSpPr>
            <a:spLocks noGrp="1"/>
          </p:cNvSpPr>
          <p:nvPr>
            <p:ph type="sldNum" sz="quarter" idx="12"/>
          </p:nvPr>
        </p:nvSpPr>
        <p:spPr/>
        <p:txBody>
          <a:bodyPr/>
          <a:lstStyle/>
          <a:p>
            <a:fld id="{B6F15528-21DE-4FAA-801E-634DDDAF4B2B}" type="slidenum">
              <a:rPr lang="en-US" smtClean="0"/>
              <a:pPr/>
              <a:t>78</a:t>
            </a:fld>
            <a:endParaRPr lang="en-US"/>
          </a:p>
        </p:txBody>
      </p:sp>
    </p:spTree>
    <p:extLst>
      <p:ext uri="{BB962C8B-B14F-4D97-AF65-F5344CB8AC3E}">
        <p14:creationId xmlns:p14="http://schemas.microsoft.com/office/powerpoint/2010/main" val="6228665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92140-B097-8D2B-D60A-EFAFF4DC3826}"/>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763C8213-DD2E-A56B-144C-A16A10FD4CB4}"/>
              </a:ext>
            </a:extLst>
          </p:cNvPr>
          <p:cNvSpPr>
            <a:spLocks noGrp="1"/>
          </p:cNvSpPr>
          <p:nvPr>
            <p:ph idx="1"/>
          </p:nvPr>
        </p:nvSpPr>
        <p:spPr/>
        <p:txBody>
          <a:bodyPr>
            <a:normAutofit/>
          </a:bodyPr>
          <a:lstStyle/>
          <a:p>
            <a:pPr>
              <a:buFont typeface="Wingdings" panose="05000000000000000000" pitchFamily="2" charset="2"/>
              <a:buChar char="q"/>
            </a:pPr>
            <a:r>
              <a:rPr lang="en-US" sz="2800" dirty="0">
                <a:latin typeface="Arial" panose="020B0604020202020204" pitchFamily="34" charset="0"/>
                <a:cs typeface="Arial" panose="020B0604020202020204" pitchFamily="34" charset="0"/>
              </a:rPr>
              <a:t>Oxygenation</a:t>
            </a:r>
            <a:endParaRPr lang="en-US" sz="20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The oxygenation process begins with</a:t>
            </a:r>
          </a:p>
          <a:p>
            <a:pPr lvl="1"/>
            <a:r>
              <a:rPr lang="en-US" sz="1600"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the inspired gas and moves to the conducting airways, </a:t>
            </a:r>
          </a:p>
          <a:p>
            <a:pPr lvl="1"/>
            <a:r>
              <a:rPr lang="en-US" sz="2200" dirty="0">
                <a:latin typeface="Arial" panose="020B0604020202020204" pitchFamily="34" charset="0"/>
                <a:cs typeface="Arial" panose="020B0604020202020204" pitchFamily="34" charset="0"/>
              </a:rPr>
              <a:t>matching of gas and blood in the lung, </a:t>
            </a:r>
          </a:p>
          <a:p>
            <a:pPr lvl="1"/>
            <a:r>
              <a:rPr lang="en-US" sz="2200" dirty="0">
                <a:latin typeface="Arial" panose="020B0604020202020204" pitchFamily="34" charset="0"/>
                <a:cs typeface="Arial" panose="020B0604020202020204" pitchFamily="34" charset="0"/>
              </a:rPr>
              <a:t>diffusion of oxygen across the alveolar-capillary membrane, and</a:t>
            </a:r>
          </a:p>
          <a:p>
            <a:pPr lvl="1"/>
            <a:r>
              <a:rPr lang="en-US" sz="2200" dirty="0">
                <a:latin typeface="Arial" panose="020B0604020202020204" pitchFamily="34" charset="0"/>
                <a:cs typeface="Arial" panose="020B0604020202020204" pitchFamily="34" charset="0"/>
              </a:rPr>
              <a:t> loading of the arterial hemoglobin with oxygen.</a:t>
            </a:r>
          </a:p>
        </p:txBody>
      </p:sp>
      <p:sp>
        <p:nvSpPr>
          <p:cNvPr id="4" name="Slide Number Placeholder 3">
            <a:extLst>
              <a:ext uri="{FF2B5EF4-FFF2-40B4-BE49-F238E27FC236}">
                <a16:creationId xmlns:a16="http://schemas.microsoft.com/office/drawing/2014/main" id="{B9DA8EAA-2134-F1B5-035E-842F099BAD91}"/>
              </a:ext>
            </a:extLst>
          </p:cNvPr>
          <p:cNvSpPr>
            <a:spLocks noGrp="1"/>
          </p:cNvSpPr>
          <p:nvPr>
            <p:ph type="sldNum" sz="quarter" idx="12"/>
          </p:nvPr>
        </p:nvSpPr>
        <p:spPr/>
        <p:txBody>
          <a:bodyPr/>
          <a:lstStyle/>
          <a:p>
            <a:fld id="{B6F15528-21DE-4FAA-801E-634DDDAF4B2B}" type="slidenum">
              <a:rPr lang="en-US" smtClean="0"/>
              <a:pPr/>
              <a:t>79</a:t>
            </a:fld>
            <a:endParaRPr lang="en-US"/>
          </a:p>
        </p:txBody>
      </p:sp>
    </p:spTree>
    <p:extLst>
      <p:ext uri="{BB962C8B-B14F-4D97-AF65-F5344CB8AC3E}">
        <p14:creationId xmlns:p14="http://schemas.microsoft.com/office/powerpoint/2010/main" val="12098908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726C-B244-1668-9B28-FC9B2A476E76}"/>
              </a:ext>
            </a:extLst>
          </p:cNvPr>
          <p:cNvSpPr>
            <a:spLocks noGrp="1"/>
          </p:cNvSpPr>
          <p:nvPr>
            <p:ph type="title"/>
          </p:nvPr>
        </p:nvSpPr>
        <p:spPr/>
        <p:txBody>
          <a:bodyPr anchor="b">
            <a:noAutofit/>
          </a:bodyPr>
          <a:lstStyle/>
          <a:p>
            <a:r>
              <a:rPr lang="en-US" sz="3200" b="1" dirty="0">
                <a:latin typeface="Arial" panose="020B0604020202020204" pitchFamily="34" charset="0"/>
                <a:cs typeface="Arial" panose="020B0604020202020204" pitchFamily="34" charset="0"/>
              </a:rPr>
              <a:t>Steps in the Oxygenation Process</a:t>
            </a:r>
            <a:br>
              <a:rPr lang="en-US" sz="3200" dirty="0">
                <a:latin typeface="Arial" panose="020B0604020202020204" pitchFamily="34" charset="0"/>
                <a:cs typeface="Arial" panose="020B0604020202020204" pitchFamily="34" charset="0"/>
              </a:rPr>
            </a:br>
            <a:endParaRPr lang="en-US" sz="3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886E31C-7535-159D-EAE4-3AF8CA822BAC}"/>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80</a:t>
            </a:fld>
            <a:endParaRPr lang="en-US">
              <a:latin typeface="Arial" panose="020B0604020202020204" pitchFamily="34" charset="0"/>
              <a:cs typeface="Arial" panose="020B0604020202020204" pitchFamily="34" charset="0"/>
            </a:endParaRPr>
          </a:p>
        </p:txBody>
      </p:sp>
      <p:sp>
        <p:nvSpPr>
          <p:cNvPr id="25" name="Content Placeholder 24">
            <a:extLst>
              <a:ext uri="{FF2B5EF4-FFF2-40B4-BE49-F238E27FC236}">
                <a16:creationId xmlns:a16="http://schemas.microsoft.com/office/drawing/2014/main" id="{26AC11C5-079F-887C-5512-7308F1AE84C2}"/>
              </a:ext>
            </a:extLst>
          </p:cNvPr>
          <p:cNvSpPr>
            <a:spLocks noGrp="1"/>
          </p:cNvSpPr>
          <p:nvPr>
            <p:ph idx="1"/>
          </p:nvPr>
        </p:nvSpPr>
        <p:spPr>
          <a:xfrm>
            <a:off x="457200" y="1600200"/>
            <a:ext cx="8382000" cy="4525963"/>
          </a:xfrm>
        </p:spPr>
        <p:txBody>
          <a:bodyPr>
            <a:normAutofit fontScale="70000" lnSpcReduction="20000"/>
          </a:bodyPr>
          <a:lstStyle/>
          <a:p>
            <a:pPr lvl="0"/>
            <a:r>
              <a:rPr lang="en-US" dirty="0">
                <a:latin typeface="Arial" panose="020B0604020202020204" pitchFamily="34" charset="0"/>
                <a:cs typeface="Arial" panose="020B0604020202020204" pitchFamily="34" charset="0"/>
              </a:rPr>
              <a:t>In order for tissue oxygenation to be adequate, the following must occur:</a:t>
            </a:r>
          </a:p>
          <a:p>
            <a:pPr lvl="1"/>
            <a:r>
              <a:rPr lang="en-US" dirty="0">
                <a:latin typeface="Arial" panose="020B0604020202020204" pitchFamily="34" charset="0"/>
                <a:cs typeface="Arial" panose="020B0604020202020204" pitchFamily="34" charset="0"/>
              </a:rPr>
              <a:t>PIO2 must be sufficient. PIO2 is determined by barometric pressure (e.g., altitude) and FIO2.</a:t>
            </a:r>
          </a:p>
          <a:p>
            <a:pPr lvl="1"/>
            <a:r>
              <a:rPr lang="en-US" dirty="0">
                <a:latin typeface="Arial" panose="020B0604020202020204" pitchFamily="34" charset="0"/>
                <a:cs typeface="Arial" panose="020B0604020202020204" pitchFamily="34" charset="0"/>
              </a:rPr>
              <a:t>Oxygen must be conducted to the alveolar level, which requires clear and patent conducting airways.</a:t>
            </a:r>
          </a:p>
          <a:p>
            <a:pPr lvl="1"/>
            <a:r>
              <a:rPr lang="en-US" dirty="0">
                <a:latin typeface="Arial" panose="020B0604020202020204" pitchFamily="34" charset="0"/>
                <a:cs typeface="Arial" panose="020B0604020202020204" pitchFamily="34" charset="0"/>
              </a:rPr>
              <a:t>There must be adequate alveolar ventilation (V̇ A).</a:t>
            </a:r>
          </a:p>
          <a:p>
            <a:pPr lvl="1"/>
            <a:r>
              <a:rPr lang="en-US" dirty="0">
                <a:latin typeface="Arial" panose="020B0604020202020204" pitchFamily="34" charset="0"/>
                <a:cs typeface="Arial" panose="020B0604020202020204" pitchFamily="34" charset="0"/>
              </a:rPr>
              <a:t>Matching of gas and blood in the alveoli and adjacent pulmonary capillaries must occur.</a:t>
            </a:r>
          </a:p>
          <a:p>
            <a:pPr lvl="1"/>
            <a:r>
              <a:rPr lang="en-US" dirty="0">
                <a:latin typeface="Arial" panose="020B0604020202020204" pitchFamily="34" charset="0"/>
                <a:cs typeface="Arial" panose="020B0604020202020204" pitchFamily="34" charset="0"/>
              </a:rPr>
              <a:t>Oxygen must diffuse across the alveolar capillary membrane into the blood.</a:t>
            </a:r>
          </a:p>
          <a:p>
            <a:pPr lvl="1"/>
            <a:r>
              <a:rPr lang="en-US" dirty="0">
                <a:latin typeface="Arial" panose="020B0604020202020204" pitchFamily="34" charset="0"/>
                <a:cs typeface="Arial" panose="020B0604020202020204" pitchFamily="34" charset="0"/>
              </a:rPr>
              <a:t>The arterial blood oxygen content (CaO2) must be adequate, </a:t>
            </a:r>
          </a:p>
          <a:p>
            <a:pPr lvl="2"/>
            <a:r>
              <a:rPr lang="en-US" dirty="0">
                <a:latin typeface="Arial" panose="020B0604020202020204" pitchFamily="34" charset="0"/>
                <a:cs typeface="Arial" panose="020B0604020202020204" pitchFamily="34" charset="0"/>
              </a:rPr>
              <a:t>which requires adequate PaO2, SaO2 (dependent on PaO2, chemical environment of the blood</a:t>
            </a:r>
          </a:p>
        </p:txBody>
      </p:sp>
    </p:spTree>
    <p:extLst>
      <p:ext uri="{BB962C8B-B14F-4D97-AF65-F5344CB8AC3E}">
        <p14:creationId xmlns:p14="http://schemas.microsoft.com/office/powerpoint/2010/main" val="25556635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p:txBody>
          <a:bodyPr>
            <a:noAutofit/>
          </a:bodyPr>
          <a:lstStyle/>
          <a:p>
            <a:pPr>
              <a:buFont typeface="Wingdings" pitchFamily="2" charset="2"/>
              <a:buChar char="Ø"/>
            </a:pPr>
            <a:r>
              <a:rPr lang="en-US" sz="2400" b="1" dirty="0">
                <a:latin typeface="Arial" panose="020B0604020202020204" pitchFamily="34" charset="0"/>
                <a:cs typeface="Arial" panose="020B0604020202020204" pitchFamily="34" charset="0"/>
              </a:rPr>
              <a:t>Physical examination and diagnostic evaluation</a:t>
            </a:r>
          </a:p>
          <a:p>
            <a:pPr>
              <a:defRPr/>
            </a:pPr>
            <a:r>
              <a:rPr lang="en-US" sz="2400" dirty="0">
                <a:latin typeface="Arial" panose="020B0604020202020204" pitchFamily="34" charset="0"/>
                <a:cs typeface="Arial" panose="020B0604020202020204" pitchFamily="34" charset="0"/>
              </a:rPr>
              <a:t>Disease specific- Hgb, LFT, RFT, Serum electrolytes, Thyroid profile</a:t>
            </a:r>
          </a:p>
          <a:p>
            <a:pPr>
              <a:defRPr/>
            </a:pPr>
            <a:r>
              <a:rPr lang="en-US" sz="2400" dirty="0">
                <a:solidFill>
                  <a:srgbClr val="C00000"/>
                </a:solidFill>
                <a:latin typeface="Arial" panose="020B0604020202020204" pitchFamily="34" charset="0"/>
                <a:cs typeface="Arial" panose="020B0604020202020204" pitchFamily="34" charset="0"/>
              </a:rPr>
              <a:t>ABG  remains the confirmatory diagnostic tool                        </a:t>
            </a:r>
            <a:r>
              <a:rPr lang="en-US" sz="2400" dirty="0">
                <a:latin typeface="Arial" panose="020B0604020202020204" pitchFamily="34" charset="0"/>
                <a:cs typeface="Arial" panose="020B0604020202020204" pitchFamily="34" charset="0"/>
              </a:rPr>
              <a:t>     </a:t>
            </a:r>
          </a:p>
          <a:p>
            <a:pPr lvl="1">
              <a:defRPr/>
            </a:pPr>
            <a:r>
              <a:rPr lang="en-US" sz="2400" dirty="0">
                <a:latin typeface="Arial" panose="020B0604020202020204" pitchFamily="34" charset="0"/>
                <a:cs typeface="Arial" panose="020B0604020202020204" pitchFamily="34" charset="0"/>
              </a:rPr>
              <a:t>PaO</a:t>
            </a:r>
            <a:r>
              <a:rPr lang="en-US" sz="18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   PaCO</a:t>
            </a:r>
            <a:r>
              <a:rPr lang="en-US" sz="18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 A-aDO</a:t>
            </a:r>
            <a:r>
              <a:rPr lang="en-US" sz="20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  pH, HCO3</a:t>
            </a:r>
          </a:p>
          <a:p>
            <a:pPr lvl="1">
              <a:defRPr/>
            </a:pPr>
            <a:r>
              <a:rPr lang="en-US" sz="2400" dirty="0">
                <a:latin typeface="Arial" panose="020B0604020202020204" pitchFamily="34" charset="0"/>
                <a:cs typeface="Arial" panose="020B0604020202020204" pitchFamily="34" charset="0"/>
              </a:rPr>
              <a:t> O2 saturation</a:t>
            </a:r>
          </a:p>
          <a:p>
            <a:pPr>
              <a:defRPr/>
            </a:pPr>
            <a:r>
              <a:rPr lang="en-US" sz="2400" dirty="0">
                <a:latin typeface="Arial" panose="020B0604020202020204" pitchFamily="34" charset="0"/>
                <a:cs typeface="Arial" panose="020B0604020202020204" pitchFamily="34" charset="0"/>
              </a:rPr>
              <a:t>Radiological tools- CXR, CT- chest, V/Q scan, ECHO</a:t>
            </a:r>
          </a:p>
          <a:p>
            <a:pPr>
              <a:defRPr/>
            </a:pPr>
            <a:r>
              <a:rPr lang="en-US" sz="2400" dirty="0">
                <a:latin typeface="Arial" panose="020B0604020202020204" pitchFamily="34" charset="0"/>
                <a:cs typeface="Arial" panose="020B0604020202020204" pitchFamily="34" charset="0"/>
              </a:rPr>
              <a:t>Pulmonary function test- more useful in chronic respiratory failure </a:t>
            </a:r>
          </a:p>
          <a:p>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81</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22578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latin typeface="Arial" panose="020B0604020202020204" pitchFamily="34" charset="0"/>
                <a:cs typeface="Arial" panose="020B0604020202020204" pitchFamily="34" charset="0"/>
              </a:rPr>
              <a:t>Diagnostic evaluation of respiratory failure</a:t>
            </a:r>
          </a:p>
        </p:txBody>
      </p:sp>
      <p:sp>
        <p:nvSpPr>
          <p:cNvPr id="3" name="Content Placeholder 2"/>
          <p:cNvSpPr>
            <a:spLocks noGrp="1"/>
          </p:cNvSpPr>
          <p:nvPr>
            <p:ph idx="1"/>
          </p:nvPr>
        </p:nvSpPr>
        <p:spPr>
          <a:xfrm>
            <a:off x="457200" y="1600200"/>
            <a:ext cx="8458200" cy="4800600"/>
          </a:xfrm>
        </p:spPr>
        <p:txBody>
          <a:bodyPr>
            <a:normAutofit/>
          </a:bodyPr>
          <a:lstStyle/>
          <a:p>
            <a:pPr marL="0" indent="0">
              <a:lnSpc>
                <a:spcPct val="80000"/>
              </a:lnSpc>
              <a:buNone/>
              <a:defRPr/>
            </a:pPr>
            <a:r>
              <a:rPr lang="en-US" sz="2400" b="1" dirty="0">
                <a:latin typeface="Arial" panose="020B0604020202020204" pitchFamily="34" charset="0"/>
                <a:cs typeface="Arial" panose="020B0604020202020204" pitchFamily="34" charset="0"/>
              </a:rPr>
              <a:t>Hypoxemic Respiratory Failure </a:t>
            </a:r>
          </a:p>
          <a:p>
            <a:pPr>
              <a:lnSpc>
                <a:spcPct val="80000"/>
              </a:lnSpc>
              <a:defRPr/>
            </a:pPr>
            <a:r>
              <a:rPr lang="en-US" sz="2400" dirty="0">
                <a:latin typeface="Arial" panose="020B0604020202020204" pitchFamily="34" charset="0"/>
                <a:cs typeface="Arial" panose="020B0604020202020204" pitchFamily="34" charset="0"/>
              </a:rPr>
              <a:t>Hypoxemia</a:t>
            </a:r>
          </a:p>
          <a:p>
            <a:pPr>
              <a:lnSpc>
                <a:spcPct val="80000"/>
              </a:lnSpc>
              <a:defRPr/>
            </a:pPr>
            <a:r>
              <a:rPr lang="en-US" sz="2400" dirty="0">
                <a:latin typeface="Arial" panose="020B0604020202020204" pitchFamily="34" charset="0"/>
                <a:cs typeface="Arial" panose="020B0604020202020204" pitchFamily="34" charset="0"/>
              </a:rPr>
              <a:t>Compensatory Mechanisms- </a:t>
            </a:r>
            <a:r>
              <a:rPr lang="en-US" sz="2400" b="1" dirty="0">
                <a:latin typeface="Arial" panose="020B0604020202020204" pitchFamily="34" charset="0"/>
                <a:cs typeface="Arial" panose="020B0604020202020204" pitchFamily="34" charset="0"/>
              </a:rPr>
              <a:t>early</a:t>
            </a:r>
          </a:p>
          <a:p>
            <a:pPr lvl="1">
              <a:lnSpc>
                <a:spcPct val="80000"/>
              </a:lnSpc>
              <a:defRPr/>
            </a:pPr>
            <a:r>
              <a:rPr lang="en-US" sz="2400" dirty="0">
                <a:latin typeface="Arial" panose="020B0604020202020204" pitchFamily="34" charset="0"/>
                <a:cs typeface="Arial" panose="020B0604020202020204" pitchFamily="34" charset="0"/>
              </a:rPr>
              <a:t>Tachycardia- more O</a:t>
            </a:r>
            <a:r>
              <a:rPr lang="en-US" sz="18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 to tissues</a:t>
            </a:r>
          </a:p>
          <a:p>
            <a:pPr lvl="1">
              <a:lnSpc>
                <a:spcPct val="80000"/>
              </a:lnSpc>
              <a:defRPr/>
            </a:pPr>
            <a:r>
              <a:rPr lang="en-US" sz="2400" dirty="0">
                <a:latin typeface="Arial" panose="020B0604020202020204" pitchFamily="34" charset="0"/>
                <a:cs typeface="Arial" panose="020B0604020202020204" pitchFamily="34" charset="0"/>
              </a:rPr>
              <a:t>Hypertension- fight or flight </a:t>
            </a:r>
          </a:p>
          <a:p>
            <a:pPr lvl="1">
              <a:lnSpc>
                <a:spcPct val="80000"/>
              </a:lnSpc>
              <a:defRPr/>
            </a:pPr>
            <a:r>
              <a:rPr lang="en-US" sz="2400" dirty="0">
                <a:latin typeface="Arial" panose="020B0604020202020204" pitchFamily="34" charset="0"/>
                <a:cs typeface="Arial" panose="020B0604020202020204" pitchFamily="34" charset="0"/>
              </a:rPr>
              <a:t>Tachypnea –take in more O</a:t>
            </a:r>
            <a:r>
              <a:rPr lang="en-US" sz="1800" dirty="0">
                <a:latin typeface="Arial" panose="020B0604020202020204" pitchFamily="34" charset="0"/>
                <a:cs typeface="Arial" panose="020B0604020202020204" pitchFamily="34" charset="0"/>
              </a:rPr>
              <a:t>2</a:t>
            </a:r>
          </a:p>
          <a:p>
            <a:pPr>
              <a:lnSpc>
                <a:spcPct val="80000"/>
              </a:lnSpc>
              <a:defRPr/>
            </a:pPr>
            <a:r>
              <a:rPr lang="en-US" sz="2400" dirty="0">
                <a:latin typeface="Arial" panose="020B0604020202020204" pitchFamily="34" charset="0"/>
                <a:cs typeface="Arial" panose="020B0604020202020204" pitchFamily="34" charset="0"/>
              </a:rPr>
              <a:t>Restlessness and apprehension</a:t>
            </a:r>
          </a:p>
          <a:p>
            <a:pPr>
              <a:lnSpc>
                <a:spcPct val="80000"/>
              </a:lnSpc>
              <a:defRPr/>
            </a:pPr>
            <a:r>
              <a:rPr lang="en-US" sz="2400" dirty="0">
                <a:latin typeface="Arial" panose="020B0604020202020204" pitchFamily="34" charset="0"/>
                <a:cs typeface="Arial" panose="020B0604020202020204" pitchFamily="34" charset="0"/>
              </a:rPr>
              <a:t>Dyspnea</a:t>
            </a:r>
          </a:p>
          <a:p>
            <a:pPr>
              <a:lnSpc>
                <a:spcPct val="80000"/>
              </a:lnSpc>
              <a:defRPr/>
            </a:pPr>
            <a:r>
              <a:rPr lang="en-US" sz="2400" dirty="0">
                <a:latin typeface="Arial" panose="020B0604020202020204" pitchFamily="34" charset="0"/>
                <a:cs typeface="Arial" panose="020B0604020202020204" pitchFamily="34" charset="0"/>
              </a:rPr>
              <a:t>Cyanosis</a:t>
            </a:r>
          </a:p>
          <a:p>
            <a:pPr>
              <a:lnSpc>
                <a:spcPct val="80000"/>
              </a:lnSpc>
              <a:defRPr/>
            </a:pPr>
            <a:r>
              <a:rPr lang="en-US" sz="2400" dirty="0">
                <a:latin typeface="Arial" panose="020B0604020202020204" pitchFamily="34" charset="0"/>
                <a:cs typeface="Arial" panose="020B0604020202020204" pitchFamily="34" charset="0"/>
              </a:rPr>
              <a:t>Confusion and impaired judgment</a:t>
            </a:r>
          </a:p>
          <a:p>
            <a:pPr>
              <a:lnSpc>
                <a:spcPct val="80000"/>
              </a:lnSpc>
              <a:defRPr/>
            </a:pPr>
            <a:r>
              <a:rPr lang="en-US" sz="2400" b="1" dirty="0">
                <a:latin typeface="Arial" panose="020B0604020202020204" pitchFamily="34" charset="0"/>
                <a:cs typeface="Arial" panose="020B0604020202020204" pitchFamily="34" charset="0"/>
              </a:rPr>
              <a:t>Later</a:t>
            </a:r>
            <a:r>
              <a:rPr lang="en-US" sz="2400" dirty="0">
                <a:latin typeface="Arial" panose="020B0604020202020204" pitchFamily="34" charset="0"/>
                <a:cs typeface="Arial" panose="020B0604020202020204" pitchFamily="34" charset="0"/>
              </a:rPr>
              <a:t>:  dysrhythmias and metabolic acidosis, decreased. BP and Decreased CO.</a:t>
            </a:r>
          </a:p>
          <a:p>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82</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092604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Arial" panose="020B0604020202020204" pitchFamily="34" charset="0"/>
                <a:cs typeface="Arial" panose="020B0604020202020204" pitchFamily="34" charset="0"/>
              </a:rPr>
              <a:t>Cont</a:t>
            </a:r>
            <a:r>
              <a:rPr lang="en-US" sz="4000" dirty="0">
                <a:latin typeface="Arial" panose="020B0604020202020204" pitchFamily="34" charset="0"/>
                <a:cs typeface="Arial" panose="020B0604020202020204" pitchFamily="34" charset="0"/>
              </a:rPr>
              <a:t>…</a:t>
            </a:r>
          </a:p>
        </p:txBody>
      </p:sp>
      <p:sp>
        <p:nvSpPr>
          <p:cNvPr id="3" name="Content Placeholder 2"/>
          <p:cNvSpPr>
            <a:spLocks noGrp="1"/>
          </p:cNvSpPr>
          <p:nvPr>
            <p:ph idx="1"/>
          </p:nvPr>
        </p:nvSpPr>
        <p:spPr/>
        <p:txBody>
          <a:bodyPr>
            <a:normAutofit/>
          </a:bodyPr>
          <a:lstStyle/>
          <a:p>
            <a:pPr>
              <a:lnSpc>
                <a:spcPct val="90000"/>
              </a:lnSpc>
              <a:buFont typeface="Wingdings" pitchFamily="2" charset="2"/>
              <a:buChar char="q"/>
              <a:defRPr/>
            </a:pPr>
            <a:r>
              <a:rPr lang="en-US" sz="2400" dirty="0">
                <a:latin typeface="Arial" panose="020B0604020202020204" pitchFamily="34" charset="0"/>
                <a:cs typeface="Arial" panose="020B0604020202020204" pitchFamily="34" charset="0"/>
              </a:rPr>
              <a:t>Hypercapnia </a:t>
            </a:r>
          </a:p>
          <a:p>
            <a:pPr>
              <a:lnSpc>
                <a:spcPct val="90000"/>
              </a:lnSpc>
              <a:defRPr/>
            </a:pPr>
            <a:r>
              <a:rPr lang="en-US" sz="2400" dirty="0">
                <a:latin typeface="Arial" panose="020B0604020202020204" pitchFamily="34" charset="0"/>
                <a:cs typeface="Arial" panose="020B0604020202020204" pitchFamily="34" charset="0"/>
              </a:rPr>
              <a:t>Dyspnea to respiratory depression- if too high CO</a:t>
            </a:r>
            <a:r>
              <a:rPr lang="en-US" sz="2000" dirty="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 narcosis	</a:t>
            </a:r>
          </a:p>
          <a:p>
            <a:pPr>
              <a:lnSpc>
                <a:spcPct val="90000"/>
              </a:lnSpc>
              <a:defRPr/>
            </a:pPr>
            <a:r>
              <a:rPr lang="en-US" sz="2400" dirty="0">
                <a:latin typeface="Arial" panose="020B0604020202020204" pitchFamily="34" charset="0"/>
                <a:cs typeface="Arial" panose="020B0604020202020204" pitchFamily="34" charset="0"/>
              </a:rPr>
              <a:t>Headache-vasodilation- Increases ICP </a:t>
            </a:r>
          </a:p>
          <a:p>
            <a:pPr>
              <a:lnSpc>
                <a:spcPct val="90000"/>
              </a:lnSpc>
              <a:defRPr/>
            </a:pPr>
            <a:r>
              <a:rPr lang="en-US" sz="2400" dirty="0">
                <a:latin typeface="Arial" panose="020B0604020202020204" pitchFamily="34" charset="0"/>
                <a:cs typeface="Arial" panose="020B0604020202020204" pitchFamily="34" charset="0"/>
              </a:rPr>
              <a:t>Papilledema</a:t>
            </a:r>
          </a:p>
          <a:p>
            <a:pPr>
              <a:lnSpc>
                <a:spcPct val="90000"/>
              </a:lnSpc>
              <a:defRPr/>
            </a:pPr>
            <a:r>
              <a:rPr lang="en-US" sz="2400" dirty="0">
                <a:latin typeface="Arial" panose="020B0604020202020204" pitchFamily="34" charset="0"/>
                <a:cs typeface="Arial" panose="020B0604020202020204" pitchFamily="34" charset="0"/>
              </a:rPr>
              <a:t>Tachycardia and increased B/P</a:t>
            </a:r>
          </a:p>
          <a:p>
            <a:pPr>
              <a:lnSpc>
                <a:spcPct val="90000"/>
              </a:lnSpc>
              <a:defRPr/>
            </a:pPr>
            <a:r>
              <a:rPr lang="en-US" sz="2400" dirty="0">
                <a:latin typeface="Arial" panose="020B0604020202020204" pitchFamily="34" charset="0"/>
                <a:cs typeface="Arial" panose="020B0604020202020204" pitchFamily="34" charset="0"/>
              </a:rPr>
              <a:t>Drowsiness and coma</a:t>
            </a:r>
          </a:p>
          <a:p>
            <a:pPr>
              <a:lnSpc>
                <a:spcPct val="90000"/>
              </a:lnSpc>
              <a:defRPr/>
            </a:pPr>
            <a:r>
              <a:rPr lang="en-US" sz="2400" dirty="0">
                <a:latin typeface="Arial" panose="020B0604020202020204" pitchFamily="34" charset="0"/>
                <a:cs typeface="Arial" panose="020B0604020202020204" pitchFamily="34" charset="0"/>
              </a:rPr>
              <a:t>Respiratory acidosis</a:t>
            </a:r>
          </a:p>
          <a:p>
            <a:pPr lvl="1">
              <a:lnSpc>
                <a:spcPct val="90000"/>
              </a:lnSpc>
              <a:defRPr/>
            </a:pPr>
            <a:r>
              <a:rPr lang="en-US" sz="2400" dirty="0">
                <a:latin typeface="Arial" panose="020B0604020202020204" pitchFamily="34" charset="0"/>
                <a:cs typeface="Arial" panose="020B0604020202020204" pitchFamily="34" charset="0"/>
              </a:rPr>
              <a:t>**Administering O2 may eliminate drive to breathe especially in COPD patients- WHY??</a:t>
            </a:r>
          </a:p>
          <a:p>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83</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609483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Arial" panose="020B0604020202020204" pitchFamily="34" charset="0"/>
                <a:cs typeface="Arial" panose="020B0604020202020204" pitchFamily="34" charset="0"/>
              </a:rPr>
              <a:t>Management</a:t>
            </a:r>
            <a:endParaRPr lang="en-US" sz="40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295400"/>
            <a:ext cx="8229600" cy="4830763"/>
          </a:xfrm>
        </p:spPr>
        <p:txBody>
          <a:bodyPr>
            <a:noAutofit/>
          </a:bodyPr>
          <a:lstStyle/>
          <a:p>
            <a:pPr algn="just">
              <a:buClr>
                <a:schemeClr val="tx1"/>
              </a:buClr>
            </a:pPr>
            <a:r>
              <a:rPr lang="en-US" sz="2200" dirty="0">
                <a:latin typeface="Arial" panose="020B0604020202020204" pitchFamily="34" charset="0"/>
                <a:cs typeface="Arial" panose="020B0604020202020204" pitchFamily="34" charset="0"/>
              </a:rPr>
              <a:t>Regardless of the disorder, the treatment of respiratory failure is primarily supportive </a:t>
            </a:r>
          </a:p>
          <a:p>
            <a:pPr lvl="1" algn="just">
              <a:buClr>
                <a:schemeClr val="tx1"/>
              </a:buClr>
            </a:pPr>
            <a:r>
              <a:rPr lang="en-US" sz="2000" dirty="0">
                <a:latin typeface="Arial" panose="020B0604020202020204" pitchFamily="34" charset="0"/>
                <a:cs typeface="Arial" panose="020B0604020202020204" pitchFamily="34" charset="0"/>
              </a:rPr>
              <a:t>support of oxygenation, ventilation, circulation, and acid-base balance.</a:t>
            </a:r>
          </a:p>
          <a:p>
            <a:pPr algn="just">
              <a:buClr>
                <a:schemeClr val="tx1"/>
              </a:buClr>
            </a:pPr>
            <a:r>
              <a:rPr lang="en-US" sz="2200" dirty="0">
                <a:latin typeface="Arial" panose="020B0604020202020204" pitchFamily="34" charset="0"/>
                <a:cs typeface="Arial" panose="020B0604020202020204" pitchFamily="34" charset="0"/>
              </a:rPr>
              <a:t>Hypoxemia is treated with oxygen therapy and positive airway pressure (if FRC is decreased),</a:t>
            </a:r>
          </a:p>
          <a:p>
            <a:pPr>
              <a:buClr>
                <a:schemeClr val="tx1"/>
              </a:buClr>
              <a:defRPr/>
            </a:pPr>
            <a:r>
              <a:rPr lang="en-US" sz="2200" dirty="0">
                <a:latin typeface="Arial" panose="020B0604020202020204" pitchFamily="34" charset="0"/>
                <a:cs typeface="Arial" panose="020B0604020202020204" pitchFamily="34" charset="0"/>
              </a:rPr>
              <a:t>Positive pressure ventilation (PPV)</a:t>
            </a:r>
          </a:p>
          <a:p>
            <a:pPr>
              <a:buClr>
                <a:schemeClr val="tx1"/>
              </a:buClr>
              <a:defRPr/>
            </a:pPr>
            <a:r>
              <a:rPr lang="en-US" sz="2200" dirty="0">
                <a:latin typeface="Arial" panose="020B0604020202020204" pitchFamily="34" charset="0"/>
                <a:cs typeface="Arial" panose="020B0604020202020204" pitchFamily="34" charset="0"/>
              </a:rPr>
              <a:t>Correction of hypoxemia- goal is to achieve a SaO2 of &gt;90%, and a PaO</a:t>
            </a:r>
            <a:r>
              <a:rPr lang="en-US" sz="1800" dirty="0">
                <a:latin typeface="Arial" panose="020B0604020202020204" pitchFamily="34" charset="0"/>
                <a:cs typeface="Arial" panose="020B0604020202020204" pitchFamily="34" charset="0"/>
              </a:rPr>
              <a:t>2 </a:t>
            </a:r>
            <a:r>
              <a:rPr lang="en-US" sz="2200" dirty="0">
                <a:latin typeface="Arial" panose="020B0604020202020204" pitchFamily="34" charset="0"/>
                <a:cs typeface="Arial" panose="020B0604020202020204" pitchFamily="34" charset="0"/>
              </a:rPr>
              <a:t>of &gt;60 mmHg</a:t>
            </a:r>
          </a:p>
          <a:p>
            <a:pPr lvl="1" indent="-342900">
              <a:buClr>
                <a:schemeClr val="tx1"/>
              </a:buClr>
              <a:defRPr/>
            </a:pPr>
            <a:r>
              <a:rPr lang="en-US" sz="2000" dirty="0">
                <a:latin typeface="Arial" panose="020B0604020202020204" pitchFamily="34" charset="0"/>
                <a:cs typeface="Arial" panose="020B0604020202020204" pitchFamily="34" charset="0"/>
              </a:rPr>
              <a:t>Supplemental oxygen</a:t>
            </a:r>
          </a:p>
          <a:p>
            <a:pPr lvl="1" indent="-342900">
              <a:buClr>
                <a:schemeClr val="tx1"/>
              </a:buClr>
              <a:defRPr/>
            </a:pPr>
            <a:r>
              <a:rPr lang="en-US" sz="2000" dirty="0">
                <a:latin typeface="Arial" panose="020B0604020202020204" pitchFamily="34" charset="0"/>
                <a:cs typeface="Arial" panose="020B0604020202020204" pitchFamily="34" charset="0"/>
              </a:rPr>
              <a:t>  NIPPV </a:t>
            </a:r>
          </a:p>
          <a:p>
            <a:pPr lvl="1" indent="-342900">
              <a:buClr>
                <a:schemeClr val="tx1"/>
              </a:buClr>
              <a:defRPr/>
            </a:pPr>
            <a:r>
              <a:rPr lang="en-US" sz="2000" dirty="0">
                <a:latin typeface="Arial" panose="020B0604020202020204" pitchFamily="34" charset="0"/>
                <a:cs typeface="Arial" panose="020B0604020202020204" pitchFamily="34" charset="0"/>
              </a:rPr>
              <a:t>  intubation and mechanical ventilation</a:t>
            </a:r>
          </a:p>
          <a:p>
            <a:pPr>
              <a:buClr>
                <a:schemeClr val="tx1"/>
              </a:buClr>
            </a:pPr>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84</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449979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p:txBody>
          <a:bodyPr>
            <a:normAutofit/>
          </a:bodyPr>
          <a:lstStyle/>
          <a:p>
            <a:pPr algn="just">
              <a:buClr>
                <a:schemeClr val="tx1"/>
              </a:buClr>
              <a:buFont typeface="Wingdings" panose="05000000000000000000" pitchFamily="2" charset="2"/>
              <a:buChar char="q"/>
            </a:pPr>
            <a:r>
              <a:rPr lang="en-US" sz="2400" dirty="0">
                <a:latin typeface="Arial" panose="020B0604020202020204" pitchFamily="34" charset="0"/>
                <a:cs typeface="Arial" panose="020B0604020202020204" pitchFamily="34" charset="0"/>
              </a:rPr>
              <a:t>Hypercarbia (ventilatory failure)</a:t>
            </a:r>
          </a:p>
          <a:p>
            <a:pPr lvl="1" algn="just">
              <a:buClr>
                <a:schemeClr val="tx1"/>
              </a:buClr>
            </a:pPr>
            <a:r>
              <a:rPr lang="en-US" sz="2000" dirty="0">
                <a:latin typeface="Arial" panose="020B0604020202020204" pitchFamily="34" charset="0"/>
                <a:cs typeface="Arial" panose="020B0604020202020204" pitchFamily="34" charset="0"/>
              </a:rPr>
              <a:t> treated with mechanical ventilation with or without intubation.</a:t>
            </a:r>
          </a:p>
          <a:p>
            <a:pPr algn="just">
              <a:buClr>
                <a:schemeClr val="tx1"/>
              </a:buClr>
            </a:pPr>
            <a:r>
              <a:rPr lang="en-US" sz="2300" dirty="0">
                <a:latin typeface="Arial" panose="020B0604020202020204" pitchFamily="34" charset="0"/>
                <a:cs typeface="Arial" panose="020B0604020202020204" pitchFamily="34" charset="0"/>
              </a:rPr>
              <a:t>Other general measures may include:</a:t>
            </a:r>
          </a:p>
          <a:p>
            <a:pPr lvl="1" algn="just">
              <a:buClr>
                <a:schemeClr val="tx1"/>
              </a:buClr>
            </a:pPr>
            <a:r>
              <a:rPr lang="en-US" sz="24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using aerosolized bronchodilators, </a:t>
            </a:r>
          </a:p>
          <a:p>
            <a:pPr lvl="1" algn="just">
              <a:buClr>
                <a:schemeClr val="tx1"/>
              </a:buClr>
            </a:pPr>
            <a:r>
              <a:rPr lang="en-US" sz="2000" dirty="0">
                <a:latin typeface="Arial" panose="020B0604020202020204" pitchFamily="34" charset="0"/>
                <a:cs typeface="Arial" panose="020B0604020202020204" pitchFamily="34" charset="0"/>
              </a:rPr>
              <a:t>intravenous antibiotics, and diuretics for ﬂuid overload, </a:t>
            </a:r>
          </a:p>
          <a:p>
            <a:pPr lvl="1" algn="just">
              <a:buClr>
                <a:schemeClr val="tx1"/>
              </a:buClr>
            </a:pPr>
            <a:r>
              <a:rPr lang="en-US" sz="2000" dirty="0">
                <a:latin typeface="Arial" panose="020B0604020202020204" pitchFamily="34" charset="0"/>
                <a:cs typeface="Arial" panose="020B0604020202020204" pitchFamily="34" charset="0"/>
              </a:rPr>
              <a:t>therapy to improve cardiac function, and nutritional support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a:p>
            <a:pPr algn="just">
              <a:buClr>
                <a:schemeClr val="tx1"/>
              </a:buClr>
            </a:pPr>
            <a:endParaRPr lang="en-US" sz="2400"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85</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755015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Arial" panose="020B0604020202020204" pitchFamily="34" charset="0"/>
                <a:cs typeface="Arial" panose="020B0604020202020204" pitchFamily="34" charset="0"/>
              </a:rPr>
              <a:t>References</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600200"/>
            <a:ext cx="8534400" cy="4525963"/>
          </a:xfrm>
        </p:spPr>
        <p:txBody>
          <a:bodyPr>
            <a:normAutofit/>
          </a:bodyPr>
          <a:lstStyle/>
          <a:p>
            <a:pPr algn="just"/>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Tamul</a:t>
            </a:r>
            <a:r>
              <a:rPr lang="en-US" sz="2300" dirty="0">
                <a:latin typeface="Arial" panose="020B0604020202020204" pitchFamily="34" charset="0"/>
                <a:cs typeface="Arial" panose="020B0604020202020204" pitchFamily="34" charset="0"/>
              </a:rPr>
              <a:t> PC, Ault ML. Respiratory function in anesthesia. In: Barash PG, Cullen BF, Stoelting RK, et al, eds. Clinical Anesthesia. 8</a:t>
            </a:r>
            <a:r>
              <a:rPr lang="en-US" sz="2300" baseline="30000" dirty="0">
                <a:latin typeface="Arial" panose="020B0604020202020204" pitchFamily="34" charset="0"/>
                <a:cs typeface="Arial" panose="020B0604020202020204" pitchFamily="34" charset="0"/>
              </a:rPr>
              <a:t>th</a:t>
            </a:r>
            <a:r>
              <a:rPr lang="en-US" sz="2300" dirty="0">
                <a:latin typeface="Arial" panose="020B0604020202020204" pitchFamily="34" charset="0"/>
                <a:cs typeface="Arial" panose="020B0604020202020204" pitchFamily="34" charset="0"/>
              </a:rPr>
              <a:t> ed. Philadelphia: </a:t>
            </a:r>
            <a:r>
              <a:rPr lang="en-US" sz="2300" dirty="0" err="1">
                <a:latin typeface="Arial" panose="020B0604020202020204" pitchFamily="34" charset="0"/>
                <a:cs typeface="Arial" panose="020B0604020202020204" pitchFamily="34" charset="0"/>
              </a:rPr>
              <a:t>Wolters</a:t>
            </a:r>
            <a:r>
              <a:rPr lang="en-US" sz="2300" dirty="0">
                <a:latin typeface="Arial" panose="020B0604020202020204" pitchFamily="34" charset="0"/>
                <a:cs typeface="Arial" panose="020B0604020202020204" pitchFamily="34" charset="0"/>
              </a:rPr>
              <a:t> Kluwer; 2017: 938-996</a:t>
            </a:r>
          </a:p>
          <a:p>
            <a:pPr algn="just"/>
            <a:r>
              <a:rPr lang="en-US" sz="2300" dirty="0" err="1">
                <a:latin typeface="Arial" panose="020B0604020202020204" pitchFamily="34" charset="0"/>
                <a:cs typeface="Arial" panose="020B0604020202020204" pitchFamily="34" charset="0"/>
              </a:rPr>
              <a:t>Ashfaq</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Hasan</a:t>
            </a:r>
            <a:r>
              <a:rPr lang="en-US" sz="2300" dirty="0">
                <a:latin typeface="Arial" panose="020B0604020202020204" pitchFamily="34" charset="0"/>
                <a:cs typeface="Arial" panose="020B0604020202020204" pitchFamily="34" charset="0"/>
              </a:rPr>
              <a:t>. Understanding Mechanical Ventilation: A Practical Handbook, 2</a:t>
            </a:r>
            <a:r>
              <a:rPr lang="en-US" sz="2300" baseline="30000" dirty="0">
                <a:latin typeface="Arial" panose="020B0604020202020204" pitchFamily="34" charset="0"/>
                <a:cs typeface="Arial" panose="020B0604020202020204" pitchFamily="34" charset="0"/>
              </a:rPr>
              <a:t>nd</a:t>
            </a:r>
            <a:r>
              <a:rPr lang="en-US" sz="2300" dirty="0">
                <a:latin typeface="Arial" panose="020B0604020202020204" pitchFamily="34" charset="0"/>
                <a:cs typeface="Arial" panose="020B0604020202020204" pitchFamily="34" charset="0"/>
              </a:rPr>
              <a:t>  Edition </a:t>
            </a:r>
          </a:p>
          <a:p>
            <a:pPr algn="just"/>
            <a:r>
              <a:rPr lang="en-US" sz="2300" dirty="0">
                <a:latin typeface="Arial" panose="020B0604020202020204" pitchFamily="34" charset="0"/>
                <a:cs typeface="Arial" panose="020B0604020202020204" pitchFamily="34" charset="0"/>
              </a:rPr>
              <a:t>Miller Anesthesia, 9</a:t>
            </a:r>
            <a:r>
              <a:rPr lang="en-US" sz="2300" baseline="30000" dirty="0">
                <a:latin typeface="Arial" panose="020B0604020202020204" pitchFamily="34" charset="0"/>
                <a:cs typeface="Arial" panose="020B0604020202020204" pitchFamily="34" charset="0"/>
              </a:rPr>
              <a:t>th</a:t>
            </a:r>
            <a:r>
              <a:rPr lang="en-US" sz="2300" dirty="0">
                <a:latin typeface="Arial" panose="020B0604020202020204" pitchFamily="34" charset="0"/>
                <a:cs typeface="Arial" panose="020B0604020202020204" pitchFamily="34" charset="0"/>
              </a:rPr>
              <a:t> ed. Page 354-382</a:t>
            </a:r>
          </a:p>
          <a:p>
            <a:pPr marL="0" indent="0">
              <a:buNone/>
            </a:pPr>
            <a:endParaRPr lang="en-US" sz="23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86</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227851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59733" y="2967335"/>
            <a:ext cx="5041267" cy="1323439"/>
          </a:xfrm>
          <a:prstGeom prst="rect">
            <a:avLst/>
          </a:prstGeom>
          <a:noFill/>
        </p:spPr>
        <p:txBody>
          <a:bodyPr wrap="square" lIns="91440" tIns="45720" rIns="91440" bIns="45720">
            <a:spAutoFit/>
          </a:bodyPr>
          <a:lstStyle/>
          <a:p>
            <a:pPr algn="ctr"/>
            <a:r>
              <a:rPr lang="en-US" sz="8000" b="1" cap="none"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Thank you</a:t>
            </a:r>
          </a:p>
        </p:txBody>
      </p:sp>
      <p:sp>
        <p:nvSpPr>
          <p:cNvPr id="3" name="Slide Number Placeholder 2"/>
          <p:cNvSpPr>
            <a:spLocks noGrp="1"/>
          </p:cNvSpPr>
          <p:nvPr>
            <p:ph type="sldNum" sz="quarter" idx="12"/>
          </p:nvPr>
        </p:nvSpPr>
        <p:spPr/>
        <p:txBody>
          <a:bodyPr/>
          <a:lstStyle/>
          <a:p>
            <a:fld id="{B6F15528-21DE-4FAA-801E-634DDDAF4B2B}" type="slidenum">
              <a:rPr lang="en-US" smtClean="0"/>
              <a:pPr/>
              <a:t>87</a:t>
            </a:fld>
            <a:endParaRPr lang="en-US"/>
          </a:p>
        </p:txBody>
      </p:sp>
    </p:spTree>
    <p:extLst>
      <p:ext uri="{BB962C8B-B14F-4D97-AF65-F5344CB8AC3E}">
        <p14:creationId xmlns:p14="http://schemas.microsoft.com/office/powerpoint/2010/main" val="34604218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3327</TotalTime>
  <Words>7913</Words>
  <Application>Microsoft Office PowerPoint</Application>
  <PresentationFormat>On-screen Show (4:3)</PresentationFormat>
  <Paragraphs>778</Paragraphs>
  <Slides>87</Slides>
  <Notes>38</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87</vt:i4>
      </vt:variant>
    </vt:vector>
  </HeadingPairs>
  <TitlesOfParts>
    <vt:vector size="98" baseType="lpstr">
      <vt:lpstr>Agency FB</vt:lpstr>
      <vt:lpstr>Arial</vt:lpstr>
      <vt:lpstr>Calibri</vt:lpstr>
      <vt:lpstr>Courier New</vt:lpstr>
      <vt:lpstr>LiberationSans</vt:lpstr>
      <vt:lpstr>LiberationSans-Bold</vt:lpstr>
      <vt:lpstr>Symbol</vt:lpstr>
      <vt:lpstr>Times New Roman</vt:lpstr>
      <vt:lpstr>Wingdings</vt:lpstr>
      <vt:lpstr>Office Theme</vt:lpstr>
      <vt:lpstr>Slide</vt:lpstr>
      <vt:lpstr>PowerPoint Presentation</vt:lpstr>
      <vt:lpstr>Outlines</vt:lpstr>
      <vt:lpstr>Objectives </vt:lpstr>
      <vt:lpstr>Introduction </vt:lpstr>
      <vt:lpstr>Interactive question 1</vt:lpstr>
      <vt:lpstr>Interactive question 2</vt:lpstr>
      <vt:lpstr>Introduction…</vt:lpstr>
      <vt:lpstr>Cont.…</vt:lpstr>
      <vt:lpstr>Four Respiration Processes…</vt:lpstr>
      <vt:lpstr>PowerPoint Presentation</vt:lpstr>
      <vt:lpstr>Cont…</vt:lpstr>
      <vt:lpstr>Cont…</vt:lpstr>
      <vt:lpstr>PowerPoint Presentation</vt:lpstr>
      <vt:lpstr>Regulation of Breathing… </vt:lpstr>
      <vt:lpstr>Regulation of Breathing… </vt:lpstr>
      <vt:lpstr>  Regulation of Breathing… </vt:lpstr>
      <vt:lpstr>Regulation of Breathing… </vt:lpstr>
      <vt:lpstr>Regulation of Breathing… </vt:lpstr>
      <vt:lpstr>Regulation of Breathing… </vt:lpstr>
      <vt:lpstr>Regulation of Breathing… </vt:lpstr>
      <vt:lpstr>Pulmonary Gas Exchange</vt:lpstr>
      <vt:lpstr>Distribution of Ventilation and Perfusion</vt:lpstr>
      <vt:lpstr>Cont…</vt:lpstr>
      <vt:lpstr> The West lung zone model  </vt:lpstr>
      <vt:lpstr>Cont…</vt:lpstr>
      <vt:lpstr>Cont…</vt:lpstr>
      <vt:lpstr>Cont.…</vt:lpstr>
      <vt:lpstr> Cont…  </vt:lpstr>
      <vt:lpstr>Cont…</vt:lpstr>
      <vt:lpstr>Cont…</vt:lpstr>
      <vt:lpstr>Cont…</vt:lpstr>
      <vt:lpstr>Cont…</vt:lpstr>
      <vt:lpstr>Cont…</vt:lpstr>
      <vt:lpstr>PowerPoint Presentation</vt:lpstr>
      <vt:lpstr>Cont…</vt:lpstr>
      <vt:lpstr>Cont…</vt:lpstr>
      <vt:lpstr>Cont…</vt:lpstr>
      <vt:lpstr>Cont…</vt:lpstr>
      <vt:lpstr>Cont…</vt:lpstr>
      <vt:lpstr>Cont…</vt:lpstr>
      <vt:lpstr>Cont…</vt:lpstr>
      <vt:lpstr>Cont…</vt:lpstr>
      <vt:lpstr>Cont…</vt:lpstr>
      <vt:lpstr>Cont…</vt:lpstr>
      <vt:lpstr>PowerPoint Presentation</vt:lpstr>
      <vt:lpstr>Definition </vt:lpstr>
      <vt:lpstr>Cont…</vt:lpstr>
      <vt:lpstr>Interactive question 3 </vt:lpstr>
      <vt:lpstr>Types of respiratory failure</vt:lpstr>
      <vt:lpstr>Cont…</vt:lpstr>
      <vt:lpstr>Types of respiratory failure…</vt:lpstr>
      <vt:lpstr>Types of respiratory failure…</vt:lpstr>
      <vt:lpstr>Type I respiratory failure…</vt:lpstr>
      <vt:lpstr>Types of respiratory failure…</vt:lpstr>
      <vt:lpstr>Types of respiratory failure……</vt:lpstr>
      <vt:lpstr>Type II respiratory failure……</vt:lpstr>
      <vt:lpstr>Type II respiratory failure classification</vt:lpstr>
      <vt:lpstr>Type II respiratory failure classification…</vt:lpstr>
      <vt:lpstr>Types of respiratory failure……</vt:lpstr>
      <vt:lpstr>Cont.…</vt:lpstr>
      <vt:lpstr>PowerPoint Presentation</vt:lpstr>
      <vt:lpstr>Causes of Respiratory failure </vt:lpstr>
      <vt:lpstr>Causes of Respiratory failure…</vt:lpstr>
      <vt:lpstr>Causes of Respiratory failure…</vt:lpstr>
      <vt:lpstr>Cont.… </vt:lpstr>
      <vt:lpstr>Cont…</vt:lpstr>
      <vt:lpstr>Cont…</vt:lpstr>
      <vt:lpstr>Diffusion Limitation…</vt:lpstr>
      <vt:lpstr>Cont…</vt:lpstr>
      <vt:lpstr>Causes of Respiratory failure…</vt:lpstr>
      <vt:lpstr>Cont.…</vt:lpstr>
      <vt:lpstr>Clinical Manifestations of Respiratory Failure</vt:lpstr>
      <vt:lpstr>Clinical Manifestations of Respiratory Failure….</vt:lpstr>
      <vt:lpstr>Cont.…</vt:lpstr>
      <vt:lpstr>Assessment of Respiratory Failure </vt:lpstr>
      <vt:lpstr>Cont…</vt:lpstr>
      <vt:lpstr>Cont…</vt:lpstr>
      <vt:lpstr>Cont.…</vt:lpstr>
      <vt:lpstr>Cont.…</vt:lpstr>
      <vt:lpstr>Steps in the Oxygenation Process </vt:lpstr>
      <vt:lpstr>Cont…</vt:lpstr>
      <vt:lpstr>Diagnostic evaluation of respiratory failure</vt:lpstr>
      <vt:lpstr>Cont…</vt:lpstr>
      <vt:lpstr>Management</vt:lpstr>
      <vt:lpstr>Cont…</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Mulualem Sitot</cp:lastModifiedBy>
  <cp:revision>572</cp:revision>
  <dcterms:created xsi:type="dcterms:W3CDTF">2006-08-16T00:00:00Z</dcterms:created>
  <dcterms:modified xsi:type="dcterms:W3CDTF">2026-05-07T20:55:00Z</dcterms:modified>
</cp:coreProperties>
</file>