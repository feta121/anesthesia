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6" r:id="rId1"/>
  </p:sldMasterIdLst>
  <p:notesMasterIdLst>
    <p:notesMasterId r:id="rId63"/>
  </p:notesMasterIdLst>
  <p:sldIdLst>
    <p:sldId id="256" r:id="rId2"/>
    <p:sldId id="590" r:id="rId3"/>
    <p:sldId id="589" r:id="rId4"/>
    <p:sldId id="558" r:id="rId5"/>
    <p:sldId id="559" r:id="rId6"/>
    <p:sldId id="560" r:id="rId7"/>
    <p:sldId id="561" r:id="rId8"/>
    <p:sldId id="563" r:id="rId9"/>
    <p:sldId id="565" r:id="rId10"/>
    <p:sldId id="566" r:id="rId11"/>
    <p:sldId id="567" r:id="rId12"/>
    <p:sldId id="568" r:id="rId13"/>
    <p:sldId id="569" r:id="rId14"/>
    <p:sldId id="571" r:id="rId15"/>
    <p:sldId id="572" r:id="rId16"/>
    <p:sldId id="573" r:id="rId17"/>
    <p:sldId id="574" r:id="rId18"/>
    <p:sldId id="576" r:id="rId19"/>
    <p:sldId id="578" r:id="rId20"/>
    <p:sldId id="579" r:id="rId21"/>
    <p:sldId id="587" r:id="rId22"/>
    <p:sldId id="582" r:id="rId23"/>
    <p:sldId id="583" r:id="rId24"/>
    <p:sldId id="584" r:id="rId25"/>
    <p:sldId id="585" r:id="rId26"/>
    <p:sldId id="588" r:id="rId27"/>
    <p:sldId id="586" r:id="rId28"/>
    <p:sldId id="474" r:id="rId29"/>
    <p:sldId id="503" r:id="rId30"/>
    <p:sldId id="481" r:id="rId31"/>
    <p:sldId id="480" r:id="rId32"/>
    <p:sldId id="482" r:id="rId33"/>
    <p:sldId id="477" r:id="rId34"/>
    <p:sldId id="486" r:id="rId35"/>
    <p:sldId id="488" r:id="rId36"/>
    <p:sldId id="489" r:id="rId37"/>
    <p:sldId id="504" r:id="rId38"/>
    <p:sldId id="494" r:id="rId39"/>
    <p:sldId id="492" r:id="rId40"/>
    <p:sldId id="495" r:id="rId41"/>
    <p:sldId id="580" r:id="rId42"/>
    <p:sldId id="498" r:id="rId43"/>
    <p:sldId id="524" r:id="rId44"/>
    <p:sldId id="525" r:id="rId45"/>
    <p:sldId id="526" r:id="rId46"/>
    <p:sldId id="528" r:id="rId47"/>
    <p:sldId id="535" r:id="rId48"/>
    <p:sldId id="530" r:id="rId49"/>
    <p:sldId id="532" r:id="rId50"/>
    <p:sldId id="548" r:id="rId51"/>
    <p:sldId id="550" r:id="rId52"/>
    <p:sldId id="551" r:id="rId53"/>
    <p:sldId id="296" r:id="rId54"/>
    <p:sldId id="419" r:id="rId55"/>
    <p:sldId id="395" r:id="rId56"/>
    <p:sldId id="310" r:id="rId57"/>
    <p:sldId id="313" r:id="rId58"/>
    <p:sldId id="332" r:id="rId59"/>
    <p:sldId id="398" r:id="rId60"/>
    <p:sldId id="429" r:id="rId61"/>
    <p:sldId id="258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52B0C-DCDE-4755-8803-A6FEEFD4DF78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B2C55-FB8B-4A86-BD97-27F1FBBA8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02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169F86B-4C75-4BC7-ACB2-D7A595B25C86}" type="slidenum">
              <a:rPr lang="en-US" altLang="en-US" sz="1200"/>
              <a:t>32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089559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1605F8-FD3A-48BE-925C-0F2ABD35C2F2}" type="slidenum">
              <a:rPr lang="en-US" altLang="en-US" sz="1200"/>
              <a:t>45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551372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008E61-1F9B-4638-9603-9169888DF266}" type="slidenum">
              <a:rPr lang="en-US" altLang="en-US" sz="1200"/>
              <a:t>53</a:t>
            </a:fld>
            <a:endParaRPr lang="en-US" alt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solidFill>
            <a:srgbClr val="FFFFFF"/>
          </a:solidFill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99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F04937D-28CC-44C1-87DB-DBD0E20A2871}" type="slidenum">
              <a:rPr lang="en-US" altLang="en-US" sz="1200"/>
              <a:t>54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058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B9516C-7566-4863-B9FF-C96F62130DC4}" type="slidenum">
              <a:rPr lang="en-US" altLang="en-US" sz="1200"/>
              <a:t>55</a:t>
            </a:fld>
            <a:endParaRPr lang="en-US" altLang="en-US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008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8489A47-BE71-4666-9F45-E0584D514BF2}" type="slidenum">
              <a:rPr lang="en-US" altLang="en-US" sz="1200"/>
              <a:t>56</a:t>
            </a:fld>
            <a:endParaRPr lang="en-US" altLang="en-US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382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CDC6E5-F2F0-423B-9C40-402E4CE63558}" type="slidenum">
              <a:rPr lang="en-US" altLang="en-US" sz="1200"/>
              <a:t>57</a:t>
            </a:fld>
            <a:endParaRPr lang="en-US" altLang="en-US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46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B4DA353-B60A-45EF-87CA-9070866C5B5D}" type="slidenum">
              <a:rPr lang="en-US" altLang="en-US" sz="1200"/>
              <a:t>58</a:t>
            </a:fld>
            <a:endParaRPr lang="en-US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052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1B74745-4E4A-4459-8612-F2E219160C17}" type="slidenum">
              <a:rPr lang="en-US" altLang="en-US" sz="1200"/>
              <a:t>59</a:t>
            </a:fld>
            <a:endParaRPr lang="en-US" alt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955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0BF4F-9964-4C06-829E-025B3011E90A}" type="slidenum">
              <a:rPr lang="en-US" altLang="en-US" sz="1200"/>
              <a:t>60</a:t>
            </a:fld>
            <a:endParaRPr lang="en-US" altLang="en-US" sz="12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495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9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1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63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0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63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2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7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9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58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1720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1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532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86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94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68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Click icon to add table</a:t>
            </a:r>
            <a:endParaRPr lang="he-IL" noProof="0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BDCB6-8F15-45A7-BEBD-C88A48D83F76}" type="slidenum">
              <a:rPr lang="he-IL" altLang="en-US" smtClean="0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1691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6BE4B75-3B54-4A40-81C0-B6A5EC35FC50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340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1.doc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418" y="752145"/>
            <a:ext cx="8689976" cy="2509213"/>
          </a:xfrm>
        </p:spPr>
        <p:txBody>
          <a:bodyPr>
            <a:normAutofit/>
          </a:bodyPr>
          <a:lstStyle/>
          <a:p>
            <a:r>
              <a:rPr lang="en-US" dirty="0"/>
              <a:t>CHILDHOOD SOLID </a:t>
            </a:r>
            <a:r>
              <a:rPr lang="en-US" dirty="0" smtClean="0"/>
              <a:t>TUMORs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039086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From anesthesia point of view</a:t>
            </a:r>
            <a:endParaRPr lang="en-US"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0"/>
            <a:ext cx="7772400" cy="1143000"/>
          </a:xfrm>
        </p:spPr>
        <p:txBody>
          <a:bodyPr>
            <a:normAutofit/>
          </a:bodyPr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Cancer Types by Age Group</a:t>
            </a:r>
          </a:p>
        </p:txBody>
      </p:sp>
      <p:graphicFrame>
        <p:nvGraphicFramePr>
          <p:cNvPr id="256003" name="Group 3"/>
          <p:cNvGraphicFramePr>
            <a:graphicFrameLocks noGrp="1"/>
          </p:cNvGraphicFramePr>
          <p:nvPr>
            <p:ph type="tbl" idx="1"/>
          </p:nvPr>
        </p:nvGraphicFramePr>
        <p:xfrm>
          <a:off x="578840" y="947956"/>
          <a:ext cx="11610364" cy="5915916"/>
        </p:xfrm>
        <a:graphic>
          <a:graphicData uri="http://schemas.openxmlformats.org/drawingml/2006/table">
            <a:tbl>
              <a:tblPr/>
              <a:tblGrid>
                <a:gridCol w="3926048"/>
                <a:gridCol w="3926048"/>
                <a:gridCol w="3758268"/>
              </a:tblGrid>
              <a:tr h="3984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Tumor Type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Ages 0-14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Ages 15-19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Leukemia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CNS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Neuroblastoma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NHL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Hodgkin’s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3.6%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16.8%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Wilm’s tumor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Rhabdomyosarcoma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3.6%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NRSTS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Osteosarcoma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4.2%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Ewing sarcoma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Germ cell/gonadal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12.4%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Retinoblastoma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Hepatoblastoma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Thyroid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7.3%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Melanoma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7.6%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8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35B41ED-C673-4522-94C6-4ABC00B3604D}" type="slidenum">
              <a:rPr lang="he-IL" altLang="en-US" sz="1600">
                <a:solidFill>
                  <a:srgbClr val="DFE0D4"/>
                </a:solidFill>
              </a:rPr>
              <a:t>2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278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Cancer Types in Children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1747"/>
            <a:ext cx="10515600" cy="36897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Mesenchymal tumors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Tumors of bone (</a:t>
            </a:r>
            <a:r>
              <a:rPr lang="en-US" altLang="en-US" sz="2400" u="sng" dirty="0"/>
              <a:t>Osteosarcoma</a:t>
            </a:r>
            <a:r>
              <a:rPr lang="en-US" altLang="en-US" sz="2400" dirty="0"/>
              <a:t>, Ewing sarcoma)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Tumors of soft tissues (Soft tissue sarcomas=STS)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Tumors of skeletal muscle (Rhabdomyosarcoma)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Tumors of smooth muscle (Leiomyosarcoma)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Tumors of adipose tissue (Liposarcoma)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Tumors of fibroblasts (Fibrosarcoma)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Tumors of cartilage (Chondrosarcoma, synovial sarcoma)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Tumors of blood vessels (Angiosarcoma)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MPNST, clear cell sarcoma, inflammatory </a:t>
            </a:r>
            <a:r>
              <a:rPr lang="en-US" altLang="en-US" sz="2000" dirty="0" err="1"/>
              <a:t>myofibroblastic</a:t>
            </a:r>
            <a:r>
              <a:rPr lang="en-US" altLang="en-US" sz="2000" dirty="0"/>
              <a:t> tumor, desmoid (fibromatosis), DSRCT, MFH</a:t>
            </a: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D7BCF4F-0C3E-45BB-8E62-C56583BDDDD3}" type="slidenum">
              <a:rPr lang="en-US" altLang="en-US" sz="1600">
                <a:solidFill>
                  <a:srgbClr val="DFE0D4"/>
                </a:solidFill>
              </a:rPr>
              <a:t>4</a:t>
            </a:fld>
            <a:endParaRPr lang="en-US" altLang="en-US" sz="1600">
              <a:solidFill>
                <a:srgbClr val="DFE0D4"/>
              </a:solidFill>
            </a:endParaRPr>
          </a:p>
        </p:txBody>
      </p:sp>
      <p:sp>
        <p:nvSpPr>
          <p:cNvPr id="13316" name="Line 6"/>
          <p:cNvSpPr>
            <a:spLocks noChangeShapeType="1"/>
          </p:cNvSpPr>
          <p:nvPr/>
        </p:nvSpPr>
        <p:spPr bwMode="auto">
          <a:xfrm>
            <a:off x="1828800" y="2209800"/>
            <a:ext cx="8153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 dirty="0"/>
              <a:t>Pediatric soft tissue sarcomas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The most common form of soft-tissue sarcoma in childhood is rhabdomyosarcoma (50% of all STS)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For convenience – all other soft-tissue sarcomas of childhood are called non-</a:t>
            </a:r>
            <a:r>
              <a:rPr lang="en-US" altLang="en-US" sz="2400" dirty="0" err="1"/>
              <a:t>rhabdo</a:t>
            </a:r>
            <a:r>
              <a:rPr lang="en-US" altLang="en-US" sz="2400" dirty="0"/>
              <a:t> soft tissue sarcomas (NRSTS) – and account for the remaining 50% of STS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8DAD738-5742-4D5F-872F-3DEE9E00103D}" type="slidenum">
              <a:rPr lang="en-US" altLang="en-US" sz="1600">
                <a:solidFill>
                  <a:srgbClr val="DFE0D4"/>
                </a:solidFill>
              </a:rPr>
              <a:t>5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 dirty="0" err="1"/>
              <a:t>Rhabdomyosarcoma</a:t>
            </a:r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34067" y="2015732"/>
            <a:ext cx="9603275" cy="345061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tumor which arises from immature mesenchymal cells committed to </a:t>
            </a: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skeletal muscle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lineage</a:t>
            </a:r>
          </a:p>
          <a:p>
            <a:pPr eaLnBrk="1" hangingPunct="1"/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 can arise in multiple organs giving rise to </a:t>
            </a: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 spectrum of clinical presentations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these organs (e.g. – bladder) do not normally contain skeletal muscle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480060" y="838161"/>
            <a:ext cx="811019" cy="50357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D2C738-D08D-45A3-AEA4-8A1082437EE1}" type="slidenum">
              <a:rPr lang="en-US" altLang="en-US" sz="1600">
                <a:solidFill>
                  <a:srgbClr val="DFE0D4"/>
                </a:solidFill>
              </a:rPr>
              <a:t>6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 sz="36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Rhabdomyosarcoma -  Epidemiology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type of soft tissue sarcoma in children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3.5% of childhood cancer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Incidence: 4.3/1,000,000 per year   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USA ~ 350 new cases/year;  Ethiopia? ~ 150? Less? (Lower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incidence of RMS in African-American girls and in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Southeast Asia)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2/3 of cases occur in children &lt; 6 years of age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associations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0142062-8D1A-430B-96CC-C881B25F00B0}" type="slidenum">
              <a:rPr lang="en-US" altLang="en-US" sz="1600">
                <a:solidFill>
                  <a:srgbClr val="DFE0D4"/>
                </a:solidFill>
              </a:rPr>
              <a:t>7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 sz="36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Rhabdomyosarcoma -  Epidemiology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type of soft tissue sarcoma in children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3.5% of childhood cancer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Incidence: 4.3/1,000,000 per year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USA ~ 350 new cases/year;  Ethiopia? ~ 150? Less? (Lower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incidence of RMS in African-American girls and 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Southeast Asia)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2/3 of cases occur in children &lt; 6 years of age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associations</a:t>
            </a: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D98E98F-4079-4460-B713-D891413A8138}" type="slidenum">
              <a:rPr lang="en-US" altLang="en-US" sz="1600">
                <a:solidFill>
                  <a:srgbClr val="DFE0D4"/>
                </a:solidFill>
              </a:rPr>
              <a:t>8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981200" y="2438401"/>
            <a:ext cx="8229600" cy="1096963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Rhabdomyosarcoma- Clinical Presentations</a:t>
            </a:r>
            <a:endParaRPr lang="he-IL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2048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CF54266-B888-4B23-8D16-A22D247A2454}" type="slidenum">
              <a:rPr lang="en-US" altLang="en-US" sz="1600">
                <a:solidFill>
                  <a:srgbClr val="DFE0D4"/>
                </a:solidFill>
              </a:rPr>
              <a:t>9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5" descr="F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838200"/>
            <a:ext cx="4152900" cy="5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6"/>
          <p:cNvSpPr txBox="1">
            <a:spLocks noChangeArrowheads="1"/>
          </p:cNvSpPr>
          <p:nvPr/>
        </p:nvSpPr>
        <p:spPr bwMode="auto">
          <a:xfrm>
            <a:off x="1828800" y="914400"/>
            <a:ext cx="287655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b="1" u="sng" dirty="0">
                <a:solidFill>
                  <a:schemeClr val="accent1"/>
                </a:solidFill>
              </a:rPr>
              <a:t>Rhabdomyosarcoma</a:t>
            </a:r>
          </a:p>
          <a:p>
            <a:r>
              <a:rPr lang="en-US" altLang="en-US" sz="2000" b="1" u="sng" dirty="0">
                <a:solidFill>
                  <a:schemeClr val="accent1"/>
                </a:solidFill>
              </a:rPr>
              <a:t>Sites of disease</a:t>
            </a:r>
          </a:p>
          <a:p>
            <a:endParaRPr lang="en-US" altLang="en-US" sz="2000" b="1" dirty="0">
              <a:solidFill>
                <a:srgbClr val="FFFF00"/>
              </a:solidFill>
            </a:endParaRPr>
          </a:p>
          <a:p>
            <a:r>
              <a:rPr lang="en-US" altLang="en-US" sz="2000" b="1" dirty="0"/>
              <a:t>Head &amp; Neck</a:t>
            </a:r>
          </a:p>
          <a:p>
            <a:r>
              <a:rPr lang="en-US" altLang="en-US" sz="2000" b="1" dirty="0"/>
              <a:t>    Orbit</a:t>
            </a:r>
          </a:p>
          <a:p>
            <a:r>
              <a:rPr lang="en-US" altLang="en-US" sz="2000" b="1" dirty="0"/>
              <a:t>    </a:t>
            </a:r>
            <a:r>
              <a:rPr lang="en-US" altLang="en-US" sz="2000" b="1" dirty="0" err="1"/>
              <a:t>Parameningeal</a:t>
            </a:r>
            <a:endParaRPr lang="en-US" altLang="en-US" sz="2000" b="1" dirty="0"/>
          </a:p>
          <a:p>
            <a:r>
              <a:rPr lang="en-US" altLang="en-US" sz="2000" b="1" dirty="0"/>
              <a:t>    Non-</a:t>
            </a:r>
            <a:r>
              <a:rPr lang="en-US" altLang="en-US" sz="2000" b="1" dirty="0" err="1"/>
              <a:t>Parameningeal</a:t>
            </a:r>
            <a:endParaRPr lang="en-US" altLang="en-US" sz="2000" b="1" dirty="0"/>
          </a:p>
          <a:p>
            <a:endParaRPr lang="en-US" altLang="en-US" sz="2000" b="1" dirty="0"/>
          </a:p>
          <a:p>
            <a:r>
              <a:rPr lang="en-US" altLang="en-US" sz="2000" b="1" dirty="0"/>
              <a:t>Genitourinary</a:t>
            </a:r>
          </a:p>
          <a:p>
            <a:r>
              <a:rPr lang="en-US" altLang="en-US" sz="2000" b="1" dirty="0"/>
              <a:t>     Bladder</a:t>
            </a:r>
          </a:p>
          <a:p>
            <a:r>
              <a:rPr lang="en-US" altLang="en-US" sz="2000" b="1" dirty="0"/>
              <a:t>     Prostate</a:t>
            </a:r>
          </a:p>
          <a:p>
            <a:r>
              <a:rPr lang="en-US" altLang="en-US" sz="2000" b="1" dirty="0"/>
              <a:t>     Para-testicular</a:t>
            </a:r>
          </a:p>
          <a:p>
            <a:r>
              <a:rPr lang="en-US" altLang="en-US" sz="2000" b="1" dirty="0"/>
              <a:t>     Vagina/uterus</a:t>
            </a:r>
          </a:p>
          <a:p>
            <a:endParaRPr lang="en-US" altLang="en-US" sz="2000" b="1" dirty="0"/>
          </a:p>
          <a:p>
            <a:r>
              <a:rPr lang="en-US" altLang="en-US" sz="2000" b="1" dirty="0"/>
              <a:t>Extremity</a:t>
            </a:r>
          </a:p>
          <a:p>
            <a:endParaRPr lang="en-US" altLang="en-US" sz="2000" b="1" dirty="0"/>
          </a:p>
          <a:p>
            <a:r>
              <a:rPr lang="en-US" altLang="en-US" sz="2000" b="1" dirty="0"/>
              <a:t>Others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F124365-593E-4740-9836-09E9BD11D357}" type="slidenum">
              <a:rPr lang="en-US" altLang="en-US" sz="1600">
                <a:solidFill>
                  <a:srgbClr val="DFE0D4"/>
                </a:solidFill>
              </a:rPr>
              <a:t>10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 sz="2800" b="1" u="sng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RMS – Clinical Presentation is Site Dependent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Orbit - Proptosis, ophthalmoplegia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head and neck/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parameningeal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nasal or aural obstruction, cranial nerve palsies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Genitourinary tract – Bladder: Hematuria, urinary obstruction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Paratesticular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painless scrotal mass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Vaginal – Vaginal mass, discharge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Extremities – Swelling, pain, lymph node involvement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872905B-EE77-41D9-B28C-5AAF9587EA9D}" type="slidenum">
              <a:rPr lang="en-US" altLang="en-US" sz="1600">
                <a:solidFill>
                  <a:srgbClr val="DFE0D4"/>
                </a:solidFill>
              </a:rPr>
              <a:t>11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 descr="ORBITALRHABDOMYOSARCOM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990601"/>
            <a:ext cx="3317875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371600"/>
            <a:ext cx="42862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 Box 9"/>
          <p:cNvSpPr txBox="1">
            <a:spLocks noChangeArrowheads="1"/>
          </p:cNvSpPr>
          <p:nvPr/>
        </p:nvSpPr>
        <p:spPr bwMode="auto">
          <a:xfrm>
            <a:off x="4724401" y="228601"/>
            <a:ext cx="42033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/>
              <a:t>Orbital rhabdomyosarcoma</a:t>
            </a:r>
          </a:p>
        </p:txBody>
      </p:sp>
      <p:pic>
        <p:nvPicPr>
          <p:cNvPr id="23557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191000"/>
            <a:ext cx="20193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223C7B-E941-4C8D-BE23-6E41FAB18934}" type="slidenum">
              <a:rPr lang="en-US" altLang="en-US" sz="1600">
                <a:solidFill>
                  <a:srgbClr val="DFE0D4"/>
                </a:solidFill>
              </a:rPr>
              <a:t>12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صورة 1" descr="pleamorphic ar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513" y="1214438"/>
            <a:ext cx="5956300" cy="392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مربع نص 2"/>
          <p:cNvSpPr txBox="1">
            <a:spLocks noChangeArrowheads="1"/>
          </p:cNvSpPr>
          <p:nvPr/>
        </p:nvSpPr>
        <p:spPr bwMode="auto">
          <a:xfrm>
            <a:off x="2057400" y="1905000"/>
            <a:ext cx="20716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dirty="0">
                <a:latin typeface="Gill Sans MT" panose="020B0502020104020203" charset="0"/>
                <a:ea typeface="Majalla UI"/>
                <a:cs typeface="Majalla UI"/>
              </a:rPr>
              <a:t>Extremity RMS   </a:t>
            </a:r>
            <a:endParaRPr lang="ar-SA" altLang="en-US" sz="2800" dirty="0">
              <a:latin typeface="Gill Sans MT" panose="020B0502020104020203" charset="0"/>
              <a:ea typeface="Majalla UI"/>
              <a:cs typeface="Majalla UI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7880097-C413-4461-8A3E-109CB574AA5E}" type="slidenum">
              <a:rPr lang="en-US" altLang="en-US" sz="1600">
                <a:solidFill>
                  <a:srgbClr val="DFE0D4"/>
                </a:solidFill>
              </a:rPr>
              <a:t>13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 sz="36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Rhabdomyosarcoma – Approach to Diagnosis and Staging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primary site – XR, CT, MRI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Biopsy / surgery</a:t>
            </a:r>
          </a:p>
          <a:p>
            <a:pPr eaLnBrk="1" hangingPunct="1">
              <a:buFontTx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Metastatic workup – CT chest, bone scan, bone marrow, PET</a:t>
            </a:r>
          </a:p>
          <a:p>
            <a:pPr eaLnBrk="1" hangingPunct="1">
              <a:buFontTx/>
              <a:buNone/>
            </a:pP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1078A9-7C04-4CB4-83EE-286CCA33D6B8}" type="slidenum">
              <a:rPr lang="en-US" altLang="en-US" sz="1600">
                <a:solidFill>
                  <a:srgbClr val="DFE0D4"/>
                </a:solidFill>
              </a:rPr>
              <a:t>14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 sz="36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Rhabdomyosarcoma - Pathology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885569" y="1396536"/>
            <a:ext cx="9603275" cy="345061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major histologic subtypes: 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I. Embryonal RMS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(Botryoid and spindle cell variants)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II. Alveolar RMS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Undifferentiated sarcoma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9215009-9C89-4452-A5C2-7FAA68CCD392}" type="slidenum">
              <a:rPr lang="en-US" altLang="en-US" sz="1600">
                <a:solidFill>
                  <a:srgbClr val="DFE0D4"/>
                </a:solidFill>
              </a:rPr>
              <a:t>15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 sz="36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Small round blue cell tumors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Lymphoma</a:t>
            </a: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Neuroblastoma</a:t>
            </a: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Rhabdomyosarcoma</a:t>
            </a: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Ewing/PNET</a:t>
            </a: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Desmoplastic small round cell tumor (DSCRT)</a:t>
            </a:r>
          </a:p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Poorly differentiated synovial sarcoma</a:t>
            </a:r>
          </a:p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Small cell osteosarcoma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AB4D4C-044D-445F-8F52-1B2A1A562411}" type="slidenum">
              <a:rPr lang="en-US" altLang="en-US" sz="1600">
                <a:solidFill>
                  <a:srgbClr val="DFE0D4"/>
                </a:solidFill>
              </a:rPr>
              <a:t>16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4610">
              <a:defRPr/>
            </a:pPr>
            <a:r>
              <a:rPr lang="en-US" sz="32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Small round blue cell tumors</a:t>
            </a:r>
            <a:br>
              <a:rPr lang="en-US" sz="32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r>
              <a:rPr lang="en-US" sz="32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Immunohistochemistry</a:t>
            </a:r>
          </a:p>
        </p:txBody>
      </p:sp>
      <p:graphicFrame>
        <p:nvGraphicFramePr>
          <p:cNvPr id="107564" name="Group 4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024348569"/>
              </p:ext>
            </p:extLst>
          </p:nvPr>
        </p:nvGraphicFramePr>
        <p:xfrm>
          <a:off x="679508" y="1534160"/>
          <a:ext cx="9531542" cy="4366886"/>
        </p:xfrm>
        <a:graphic>
          <a:graphicData uri="http://schemas.openxmlformats.org/drawingml/2006/table">
            <a:tbl>
              <a:tblPr/>
              <a:tblGrid>
                <a:gridCol w="3177097"/>
                <a:gridCol w="6354445"/>
              </a:tblGrid>
              <a:tr h="8109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Tumor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Immunohistochemical markers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2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Ewing / ESFT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PAS+ (Glycogen); NSE (Neuron specific enolase); CD99;  Fli1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Rhabdomyosarcoma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Desmin, myosin, MyoD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24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Lymphoma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LCA=Leukocyte common antigen=CD45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 markers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CD30-HD,ALCL; CD20-B cell;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CD3-T cell; TdT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25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Neuroblastoma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NSE; S100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69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E3D154A-2FA1-4F7F-AE98-58E0F6A79BC3}" type="slidenum">
              <a:rPr lang="he-IL" altLang="en-US" sz="1600">
                <a:solidFill>
                  <a:srgbClr val="DFE0D4"/>
                </a:solidFill>
              </a:rPr>
              <a:t>17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 sz="28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Staging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that defines the local and distant (metastatic) extent of a tumor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Tumors have unique and consistent patterns of spread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Wilms’ tumor to lungs and liver (not to bone or bone marrow)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Neuroblastoma – bones, bone marrow, lymph, (not to lungs)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is associated with prognosis (metastatic disease is rarely curable)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C187EF-94FA-40A5-8910-07AF9CBFB2B6}" type="slidenum">
              <a:rPr lang="en-US" altLang="en-US" sz="1600">
                <a:solidFill>
                  <a:srgbClr val="DFE0D4"/>
                </a:solidFill>
              </a:rPr>
              <a:t>18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 sz="36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Rhabdomyosarcoma - Treatment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en-US" dirty="0">
              <a:solidFill>
                <a:srgbClr val="FFFF00"/>
              </a:solidFill>
            </a:endParaRP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control – Surgery vs. Radiation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Systemic therapy – Chemotherapy</a:t>
            </a:r>
          </a:p>
          <a:p>
            <a:pPr eaLnBrk="1" hangingPunct="1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Pediatric sarcomas are systemic illnesses</a:t>
            </a:r>
          </a:p>
          <a:p>
            <a:pPr eaLnBrk="1" hangingPunct="1">
              <a:buFontTx/>
              <a:buNone/>
            </a:pP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B3683E3-28B4-4323-B236-660B03FAEB84}" type="slidenum">
              <a:rPr lang="en-US" altLang="en-US" sz="1600">
                <a:solidFill>
                  <a:srgbClr val="DFE0D4"/>
                </a:solidFill>
              </a:rPr>
              <a:t>19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 sz="360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Pediatric Cancer as a Systemic Illness – The rule and the exceptions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RULE- Pediatric solid tumors are always systemic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micrometastatic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 is present at diagnosis in the majority of patients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patients – including those with apparently localized disease - must be treated with chemotherapy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Osteosarcoma, Ewing, RMS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7178AC5-A6CE-4F01-BB0B-F9E665550325}" type="slidenum">
              <a:rPr lang="en-US" altLang="en-US" sz="1600">
                <a:solidFill>
                  <a:srgbClr val="DFE0D4"/>
                </a:solidFill>
              </a:rPr>
              <a:t>20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MALIGNANT BONE TUMORS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OSTEOSARCOMA</a:t>
            </a:r>
          </a:p>
          <a:p>
            <a:r>
              <a:rPr lang="en-US" altLang="en-US" dirty="0"/>
              <a:t>EWINGS SARCOMA</a:t>
            </a: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9BF1577-8FC2-4015-BA16-7C0E0E8AE530}" type="slidenum">
              <a:rPr lang="en-US" altLang="en-US" sz="1600">
                <a:solidFill>
                  <a:srgbClr val="DFE0D4"/>
                </a:solidFill>
              </a:rPr>
              <a:t>21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M687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304800"/>
            <a:ext cx="4371975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Box 3"/>
          <p:cNvSpPr txBox="1">
            <a:spLocks noChangeArrowheads="1"/>
          </p:cNvSpPr>
          <p:nvPr/>
        </p:nvSpPr>
        <p:spPr bwMode="auto">
          <a:xfrm>
            <a:off x="6858000" y="1447800"/>
            <a:ext cx="2911631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Calibri" panose="020F0502020204030204" charset="0"/>
              </a:rPr>
              <a:t>Clinical Presentation</a:t>
            </a:r>
          </a:p>
          <a:p>
            <a:endParaRPr lang="en-US" altLang="en-US" dirty="0">
              <a:latin typeface="Calibri" panose="020F0502020204030204" charset="0"/>
            </a:endParaRPr>
          </a:p>
          <a:p>
            <a:r>
              <a:rPr lang="en-US" altLang="en-US" dirty="0">
                <a:latin typeface="Calibri" panose="020F0502020204030204" charset="0"/>
              </a:rPr>
              <a:t>Extremity bone pain</a:t>
            </a:r>
          </a:p>
          <a:p>
            <a:endParaRPr lang="en-US" altLang="en-US" dirty="0">
              <a:latin typeface="Calibri" panose="020F0502020204030204" charset="0"/>
            </a:endParaRPr>
          </a:p>
          <a:p>
            <a:r>
              <a:rPr lang="en-US" altLang="en-US" dirty="0">
                <a:latin typeface="Calibri" panose="020F0502020204030204" charset="0"/>
              </a:rPr>
              <a:t>Progressive swelling</a:t>
            </a:r>
          </a:p>
          <a:p>
            <a:r>
              <a:rPr lang="en-US" altLang="en-US" dirty="0">
                <a:latin typeface="Calibri" panose="020F0502020204030204" charset="0"/>
              </a:rPr>
              <a:t>	Distal Femur</a:t>
            </a:r>
          </a:p>
          <a:p>
            <a:r>
              <a:rPr lang="en-US" altLang="en-US" dirty="0">
                <a:latin typeface="Calibri" panose="020F0502020204030204" charset="0"/>
              </a:rPr>
              <a:t>	Proximal tibia</a:t>
            </a:r>
          </a:p>
          <a:p>
            <a:r>
              <a:rPr lang="en-US" altLang="en-US" dirty="0">
                <a:latin typeface="Calibri" panose="020F0502020204030204" charset="0"/>
              </a:rPr>
              <a:t>	Proximal </a:t>
            </a:r>
            <a:r>
              <a:rPr lang="en-US" altLang="en-US" dirty="0" err="1">
                <a:latin typeface="Calibri" panose="020F0502020204030204" charset="0"/>
              </a:rPr>
              <a:t>humerus</a:t>
            </a:r>
            <a:endParaRPr lang="en-US" altLang="en-US" dirty="0">
              <a:latin typeface="Calibri" panose="020F0502020204030204" charset="0"/>
            </a:endParaRPr>
          </a:p>
          <a:p>
            <a:endParaRPr lang="en-US" altLang="en-US" dirty="0">
              <a:latin typeface="Calibri" panose="020F0502020204030204" charset="0"/>
            </a:endParaRPr>
          </a:p>
          <a:p>
            <a:r>
              <a:rPr lang="en-US" altLang="en-US" dirty="0">
                <a:latin typeface="Calibri" panose="020F0502020204030204" charset="0"/>
              </a:rPr>
              <a:t>Fever uncommon </a:t>
            </a:r>
          </a:p>
          <a:p>
            <a:r>
              <a:rPr lang="en-US" altLang="en-US" dirty="0">
                <a:latin typeface="Calibri" panose="020F0502020204030204" charset="0"/>
              </a:rPr>
              <a:t>(vs. Ewing sarcoma)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74970C8-7254-4C1E-806F-35ED1ACFFADE}" type="slidenum">
              <a:rPr lang="en-US" altLang="en-US" sz="1600">
                <a:solidFill>
                  <a:srgbClr val="DFE0D4"/>
                </a:solidFill>
              </a:rPr>
              <a:t>22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M687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304800"/>
            <a:ext cx="4371975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TextBox 3"/>
          <p:cNvSpPr txBox="1">
            <a:spLocks noChangeArrowheads="1"/>
          </p:cNvSpPr>
          <p:nvPr/>
        </p:nvSpPr>
        <p:spPr bwMode="auto">
          <a:xfrm>
            <a:off x="6910252" y="637904"/>
            <a:ext cx="38100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Calibri" panose="020F0502020204030204" charset="0"/>
              </a:rPr>
              <a:t>Diagnostic work-up</a:t>
            </a:r>
          </a:p>
          <a:p>
            <a:endParaRPr lang="en-US" altLang="en-US" dirty="0">
              <a:solidFill>
                <a:srgbClr val="FFFF00"/>
              </a:solidFill>
              <a:latin typeface="Calibri" panose="020F0502020204030204" charset="0"/>
            </a:endParaRPr>
          </a:p>
          <a:p>
            <a:r>
              <a:rPr lang="en-US" altLang="en-US" dirty="0">
                <a:latin typeface="Calibri" panose="020F0502020204030204" charset="0"/>
              </a:rPr>
              <a:t>Diagnostic imaging</a:t>
            </a:r>
          </a:p>
          <a:p>
            <a:r>
              <a:rPr lang="en-US" altLang="en-US" dirty="0">
                <a:latin typeface="Calibri" panose="020F0502020204030204" charset="0"/>
              </a:rPr>
              <a:t>	XR extremity (MRI)</a:t>
            </a:r>
          </a:p>
          <a:p>
            <a:r>
              <a:rPr lang="en-US" altLang="en-US" dirty="0">
                <a:latin typeface="Calibri" panose="020F0502020204030204" charset="0"/>
              </a:rPr>
              <a:t>	XR chest (CT)</a:t>
            </a:r>
          </a:p>
          <a:p>
            <a:endParaRPr lang="en-US" altLang="en-US" dirty="0">
              <a:latin typeface="Calibri" panose="020F0502020204030204" charset="0"/>
            </a:endParaRPr>
          </a:p>
          <a:p>
            <a:r>
              <a:rPr lang="en-US" altLang="en-US" dirty="0">
                <a:latin typeface="Calibri" panose="020F0502020204030204" charset="0"/>
              </a:rPr>
              <a:t>Laboratory</a:t>
            </a:r>
          </a:p>
          <a:p>
            <a:r>
              <a:rPr lang="en-US" altLang="en-US" dirty="0">
                <a:latin typeface="Calibri" panose="020F0502020204030204" charset="0"/>
              </a:rPr>
              <a:t>	CBC</a:t>
            </a:r>
          </a:p>
          <a:p>
            <a:r>
              <a:rPr lang="en-US" altLang="en-US" dirty="0">
                <a:latin typeface="Calibri" panose="020F0502020204030204" charset="0"/>
              </a:rPr>
              <a:t>	Chemistries (AP, LDH)</a:t>
            </a:r>
          </a:p>
          <a:p>
            <a:endParaRPr lang="en-US" altLang="en-US" dirty="0">
              <a:latin typeface="Calibri" panose="020F0502020204030204" charset="0"/>
            </a:endParaRPr>
          </a:p>
          <a:p>
            <a:r>
              <a:rPr lang="en-US" altLang="en-US" dirty="0">
                <a:latin typeface="Calibri" panose="020F0502020204030204" charset="0"/>
              </a:rPr>
              <a:t>Biopsy</a:t>
            </a:r>
          </a:p>
          <a:p>
            <a:r>
              <a:rPr lang="en-US" altLang="en-US" dirty="0">
                <a:latin typeface="Calibri" panose="020F0502020204030204" charset="0"/>
              </a:rPr>
              <a:t>	Needle vs. open</a:t>
            </a:r>
          </a:p>
          <a:p>
            <a:r>
              <a:rPr lang="en-US" altLang="en-US" dirty="0">
                <a:latin typeface="Calibri" panose="020F0502020204030204" charset="0"/>
              </a:rPr>
              <a:t>	Site of biopsy important if 	LSP planned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C85FEA3-6ECE-4169-B96D-356A0D37D43D}" type="slidenum">
              <a:rPr lang="en-US" altLang="en-US" sz="1600">
                <a:solidFill>
                  <a:srgbClr val="DFE0D4"/>
                </a:solidFill>
              </a:rPr>
              <a:t>23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M988_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914401"/>
            <a:ext cx="4773613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02" t="9776" r="13208"/>
          <a:stretch>
            <a:fillRect/>
          </a:stretch>
        </p:blipFill>
        <p:spPr bwMode="auto">
          <a:xfrm>
            <a:off x="6767514" y="457201"/>
            <a:ext cx="3671887" cy="576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E6D59A-7E9D-439E-A312-766CA63819A7}" type="slidenum">
              <a:rPr lang="en-US" altLang="en-US" sz="1600">
                <a:solidFill>
                  <a:srgbClr val="DFE0D4"/>
                </a:solidFill>
              </a:rPr>
              <a:t>24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Tahoma" panose="020B0604030504040204" pitchFamily="34" charset="0"/>
                <a:ea typeface="MS PGothic" panose="020B0600070205080204" pitchFamily="34" charset="-128"/>
              </a:rPr>
              <a:t>Bone Tumors in Children</a:t>
            </a:r>
          </a:p>
        </p:txBody>
      </p:sp>
      <p:graphicFrame>
        <p:nvGraphicFramePr>
          <p:cNvPr id="37891" name="Object 2"/>
          <p:cNvGraphicFramePr>
            <a:graphicFrameLocks noGrp="1" noChangeAspect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602276159"/>
              </p:ext>
            </p:extLst>
          </p:nvPr>
        </p:nvGraphicFramePr>
        <p:xfrm>
          <a:off x="1473200" y="1355725"/>
          <a:ext cx="8666163" cy="467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Document" r:id="rId3" imgW="8518525" imgH="4599305" progId="Word.Document.8">
                  <p:embed/>
                </p:oleObj>
              </mc:Choice>
              <mc:Fallback>
                <p:oleObj name="Document" r:id="rId3" imgW="8518525" imgH="459930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1355725"/>
                        <a:ext cx="8666163" cy="467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9CC115-4CF2-4095-88E5-44C217EA5270}" type="slidenum">
              <a:rPr lang="he-IL" altLang="en-US" sz="1600">
                <a:solidFill>
                  <a:srgbClr val="DFE0D4"/>
                </a:solidFill>
              </a:rPr>
              <a:t>25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1" y="609600"/>
            <a:ext cx="4403725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8876B00-ADBA-4EC7-AF9A-A4852A0FB7DD}" type="slidenum">
              <a:rPr lang="en-US" altLang="en-US" sz="1600">
                <a:solidFill>
                  <a:srgbClr val="DFE0D4"/>
                </a:solidFill>
              </a:rPr>
              <a:t>26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Bone Tumors</a:t>
            </a:r>
            <a:br>
              <a:rPr lang="en-US" sz="400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</a:br>
            <a:r>
              <a:rPr lang="en-US" sz="360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Treatment</a:t>
            </a:r>
            <a:endParaRPr lang="en-US">
              <a:latin typeface="Calibri" panose="020F0502020204030204" charset="0"/>
              <a:ea typeface="MS PGothic" panose="020B0600070205080204" pitchFamily="34" charset="-128"/>
              <a:cs typeface="Calibri" panose="020F0502020204030204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209800" y="1981200"/>
            <a:ext cx="3817938" cy="41148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OSTEOSARCOMA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Systemic Chemotherapy: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Adriamycin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Cisplatin/Carboplatin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Methotrexate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 err="1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Ifosfamide</a:t>
            </a:r>
            <a:endParaRPr lang="en-US" altLang="en-US" sz="2000" dirty="0">
              <a:latin typeface="Calibri" panose="020F0502020204030204" charset="0"/>
              <a:ea typeface="MS PGothic" panose="020B0600070205080204" pitchFamily="34" charset="-128"/>
              <a:cs typeface="Calibri" panose="020F050202020403020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Local Control: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Surgery</a:t>
            </a:r>
          </a:p>
          <a:p>
            <a:pPr lvl="1">
              <a:lnSpc>
                <a:spcPct val="90000"/>
              </a:lnSpc>
            </a:pPr>
            <a:r>
              <a:rPr lang="en-US" altLang="en-US" sz="2000" u="sng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NO radiation therapy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6164264" y="1981200"/>
            <a:ext cx="3817937" cy="4114800"/>
          </a:xfrm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altLang="en-US" sz="24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EWING’S SARCOMA</a:t>
            </a:r>
          </a:p>
          <a:p>
            <a:pPr>
              <a:buFontTx/>
              <a:buNone/>
            </a:pPr>
            <a:r>
              <a:rPr lang="en-US" altLang="en-US" sz="24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Systemic Chemotherapy:</a:t>
            </a:r>
          </a:p>
          <a:p>
            <a:pPr lvl="1"/>
            <a:r>
              <a:rPr lang="en-US" alt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Adriamycin</a:t>
            </a:r>
          </a:p>
          <a:p>
            <a:pPr lvl="1"/>
            <a:r>
              <a:rPr lang="en-US" altLang="en-US" sz="2000" dirty="0" err="1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Ifosfamide</a:t>
            </a:r>
            <a:r>
              <a:rPr lang="en-US" alt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, </a:t>
            </a:r>
            <a:r>
              <a:rPr lang="en-US" altLang="en-US" sz="2000" dirty="0" err="1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cyclophos</a:t>
            </a:r>
            <a:r>
              <a:rPr lang="en-US" alt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.</a:t>
            </a:r>
          </a:p>
          <a:p>
            <a:pPr lvl="1"/>
            <a:r>
              <a:rPr lang="en-US" alt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Etoposide</a:t>
            </a:r>
          </a:p>
          <a:p>
            <a:pPr lvl="1"/>
            <a:r>
              <a:rPr lang="en-US" alt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Vincristine</a:t>
            </a:r>
          </a:p>
          <a:p>
            <a:pPr>
              <a:buFontTx/>
              <a:buNone/>
            </a:pPr>
            <a:r>
              <a:rPr lang="en-US" altLang="en-US" sz="24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Local Control:</a:t>
            </a:r>
          </a:p>
          <a:p>
            <a:pPr lvl="1"/>
            <a:r>
              <a:rPr lang="en-US" alt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Surgery</a:t>
            </a:r>
          </a:p>
          <a:p>
            <a:pPr lvl="1"/>
            <a:r>
              <a:rPr lang="en-US" alt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Radiation therapy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6DBC5B-8CA5-4C87-85FF-95A29C538EE8}" type="slidenum">
              <a:rPr lang="en-US" altLang="en-US" sz="1600">
                <a:solidFill>
                  <a:srgbClr val="DFE0D4"/>
                </a:solidFill>
              </a:rPr>
              <a:t>27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4610">
              <a:defRPr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Neuroblastoma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None/>
              <a:defRPr/>
            </a:pPr>
            <a:endParaRPr lang="en-US" sz="20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400" dirty="0"/>
              <a:t>Malignant embryonic tumor of precursor cells of sympathetic ganglia and adrenal medulla</a:t>
            </a:r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400" b="1" dirty="0"/>
              <a:t>The most common malignancy in infants and extracranial solid tumor of childhood</a:t>
            </a:r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400" b="1" dirty="0"/>
              <a:t>More than 90% are in children 5 years of age or younger</a:t>
            </a:r>
          </a:p>
          <a:p>
            <a:pPr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marL="0" indent="0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400" b="1" dirty="0"/>
              <a:t>Extremely Variable Natural course of the disease</a:t>
            </a:r>
            <a:endParaRPr lang="en-US" sz="24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24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24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2400" dirty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38DB2B4-E65F-4F24-B7C5-ED8AA4A3847F}" type="slidenum">
              <a:rPr lang="en-US" altLang="en-US" sz="1600">
                <a:solidFill>
                  <a:srgbClr val="DFE0D4"/>
                </a:solidFill>
              </a:rPr>
              <a:t>28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4610">
              <a:defRPr/>
            </a:pPr>
            <a: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Local Symptoms and Classic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None/>
              <a:defRPr/>
            </a:pPr>
            <a:r>
              <a:rPr lang="en-US" sz="2400" dirty="0"/>
              <a:t>Abdomen</a:t>
            </a:r>
          </a:p>
          <a:p>
            <a:pPr marL="640080" lvl="1">
              <a:defRPr/>
            </a:pPr>
            <a:r>
              <a:rPr lang="en-US" dirty="0"/>
              <a:t> </a:t>
            </a:r>
            <a:r>
              <a:rPr lang="en-US" sz="2000" dirty="0"/>
              <a:t>Retroperitoneal mass +/-abdominal distension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2400" dirty="0"/>
              <a:t>Metastatic :</a:t>
            </a:r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000" dirty="0"/>
              <a:t>Intervertebral foramina: </a:t>
            </a:r>
            <a:r>
              <a:rPr lang="en-US" sz="2000" b="1" dirty="0"/>
              <a:t>dumb-bell tumor</a:t>
            </a:r>
          </a:p>
          <a:p>
            <a:pPr>
              <a:spcBef>
                <a:spcPts val="0"/>
              </a:spcBef>
              <a:buNone/>
              <a:defRPr/>
            </a:pPr>
            <a:endParaRPr lang="en-US" sz="24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400" dirty="0"/>
              <a:t> Lymphatic and/or hematogenous spread </a:t>
            </a:r>
          </a:p>
          <a:p>
            <a:pPr marL="640080" lvl="1">
              <a:defRPr/>
            </a:pPr>
            <a:r>
              <a:rPr lang="en-US" sz="2000" dirty="0"/>
              <a:t>mostly in bone marrow(&gt;50% of patients), bone , liver and/or skin</a:t>
            </a:r>
          </a:p>
          <a:p>
            <a:pPr marL="640080" lvl="1">
              <a:defRPr/>
            </a:pPr>
            <a:r>
              <a:rPr lang="en-US" sz="2000" dirty="0"/>
              <a:t>rarely in brain , spinal cord, heart, lung</a:t>
            </a:r>
          </a:p>
          <a:p>
            <a:pPr marL="457200" lvl="1" indent="0">
              <a:buNone/>
              <a:defRPr/>
            </a:pPr>
            <a:endParaRPr lang="en-US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24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24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1600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1A5C1D-F5A7-4E65-B492-C2D64847497F}" type="slidenum">
              <a:rPr lang="en-US" altLang="en-US" sz="1600">
                <a:solidFill>
                  <a:srgbClr val="DFE0D4"/>
                </a:solidFill>
              </a:rPr>
              <a:t>29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/>
            </a:r>
            <a:b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Signs and Symptoms 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400" dirty="0"/>
              <a:t>highly associated with </a:t>
            </a:r>
            <a:r>
              <a:rPr lang="en-US" sz="2400" dirty="0" err="1"/>
              <a:t>neuroblastoma</a:t>
            </a:r>
            <a:endParaRPr lang="en-US" sz="2400" dirty="0"/>
          </a:p>
          <a:p>
            <a:pPr marL="457200" lvl="1" indent="0">
              <a:buNone/>
              <a:defRPr/>
            </a:pPr>
            <a:r>
              <a:rPr lang="en-US" sz="2000" dirty="0"/>
              <a:t>-  </a:t>
            </a:r>
            <a:r>
              <a:rPr lang="en-US" dirty="0"/>
              <a:t>Exophthalmos</a:t>
            </a:r>
          </a:p>
          <a:p>
            <a:pPr marL="640080" lvl="1">
              <a:defRPr/>
            </a:pPr>
            <a:r>
              <a:rPr lang="en-US" dirty="0" err="1"/>
              <a:t>Ecchymoses</a:t>
            </a:r>
            <a:r>
              <a:rPr lang="en-US" dirty="0"/>
              <a:t> (‘‘raccoon eyes’’)</a:t>
            </a:r>
          </a:p>
          <a:p>
            <a:pPr marL="640080" lvl="1">
              <a:defRPr/>
            </a:pPr>
            <a:r>
              <a:rPr lang="en-US" dirty="0"/>
              <a:t>Horner’s syndrome (</a:t>
            </a:r>
            <a:r>
              <a:rPr lang="en-US" dirty="0" err="1"/>
              <a:t>miosis</a:t>
            </a:r>
            <a:r>
              <a:rPr lang="en-US" dirty="0"/>
              <a:t>, ptosis, </a:t>
            </a:r>
            <a:r>
              <a:rPr lang="en-US" dirty="0" err="1"/>
              <a:t>anhydrosis</a:t>
            </a:r>
            <a:r>
              <a:rPr lang="en-US" dirty="0"/>
              <a:t>)</a:t>
            </a:r>
          </a:p>
          <a:p>
            <a:pPr marL="640080" lvl="1">
              <a:defRPr/>
            </a:pPr>
            <a:r>
              <a:rPr lang="en-US" dirty="0"/>
              <a:t>Massive hepatomegaly</a:t>
            </a:r>
          </a:p>
          <a:p>
            <a:pPr marL="640080" lvl="1">
              <a:defRPr/>
            </a:pPr>
            <a:r>
              <a:rPr lang="en-US" dirty="0"/>
              <a:t>Constipation, abdominal pain</a:t>
            </a:r>
          </a:p>
          <a:p>
            <a:pPr marL="640080" lvl="1">
              <a:defRPr/>
            </a:pPr>
            <a:r>
              <a:rPr lang="en-US" dirty="0"/>
              <a:t>Localized back pain, weakness of </a:t>
            </a:r>
            <a:r>
              <a:rPr lang="en-US" dirty="0" err="1"/>
              <a:t>extremeties</a:t>
            </a:r>
            <a:endParaRPr lang="en-US" dirty="0"/>
          </a:p>
          <a:p>
            <a:pPr marL="640080" lvl="1">
              <a:defRPr/>
            </a:pPr>
            <a:r>
              <a:rPr lang="en-US" dirty="0"/>
              <a:t>Scoliosis, bladder dysfunction</a:t>
            </a:r>
          </a:p>
          <a:p>
            <a:pPr marL="640080" lvl="1">
              <a:defRPr/>
            </a:pPr>
            <a:r>
              <a:rPr lang="en-US" dirty="0"/>
              <a:t>Palpable </a:t>
            </a:r>
            <a:r>
              <a:rPr lang="en-US" dirty="0" err="1"/>
              <a:t>nontender</a:t>
            </a:r>
            <a:r>
              <a:rPr lang="en-US" dirty="0"/>
              <a:t> subcutaneous nodules</a:t>
            </a: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18A3DD3-0A2E-4435-B8F3-259A0C8D987D}" type="slidenum">
              <a:rPr lang="en-US" altLang="en-US" sz="1600">
                <a:solidFill>
                  <a:srgbClr val="DFE0D4"/>
                </a:solidFill>
              </a:rPr>
              <a:t>30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/>
            </a:r>
            <a:b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endParaRPr lang="en-US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400" b="1" dirty="0"/>
              <a:t>Symptoms Associated with Catecholamine Production</a:t>
            </a:r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2400" b="1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400" b="1" dirty="0" err="1"/>
              <a:t>Paraneoplastic</a:t>
            </a:r>
            <a:r>
              <a:rPr lang="en-US" sz="2400" b="1" dirty="0"/>
              <a:t> Syndromes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marL="640080" lvl="1">
              <a:buNone/>
              <a:defRPr/>
            </a:pPr>
            <a:endParaRPr lang="en-US" sz="2000" i="1" dirty="0"/>
          </a:p>
          <a:p>
            <a:pPr marL="457200" lvl="1" indent="0">
              <a:buNone/>
              <a:defRPr/>
            </a:pPr>
            <a:endParaRPr lang="en-US" sz="16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400" b="1" dirty="0"/>
              <a:t>Bone marrow infiltration</a:t>
            </a:r>
          </a:p>
          <a:p>
            <a:pPr>
              <a:spcBef>
                <a:spcPts val="0"/>
              </a:spcBef>
              <a:buNone/>
              <a:defRPr/>
            </a:pPr>
            <a:endParaRPr lang="en-US" sz="2000" dirty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302E3DC-765B-4D4E-9A90-E66B00B92DDC}" type="slidenum">
              <a:rPr lang="en-US" altLang="en-US" sz="1600">
                <a:solidFill>
                  <a:srgbClr val="DFE0D4"/>
                </a:solidFill>
              </a:rPr>
              <a:t>31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/>
            </a:r>
            <a:b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Diagnostic Work-up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/>
            <a:r>
              <a:rPr lang="en-US" altLang="en-US" sz="6285" b="1" dirty="0"/>
              <a:t>Laboratory Findings</a:t>
            </a:r>
          </a:p>
          <a:p>
            <a:pPr lvl="1" eaLnBrk="1" hangingPunct="1"/>
            <a:r>
              <a:rPr lang="en-US" altLang="en-US" sz="6285" dirty="0"/>
              <a:t> High levels of VMA in 95%, HVA in 90%</a:t>
            </a:r>
          </a:p>
          <a:p>
            <a:pPr lvl="1" eaLnBrk="1" hangingPunct="1"/>
            <a:r>
              <a:rPr lang="en-US" altLang="en-US" sz="6285" dirty="0"/>
              <a:t> Bone marrow Aspiration and biopsy</a:t>
            </a:r>
          </a:p>
          <a:p>
            <a:pPr lvl="1" eaLnBrk="1" hangingPunct="1">
              <a:buFontTx/>
              <a:buNone/>
            </a:pPr>
            <a:endParaRPr lang="en-US" altLang="en-US" sz="6285" dirty="0"/>
          </a:p>
          <a:p>
            <a:pPr eaLnBrk="1" hangingPunct="1"/>
            <a:r>
              <a:rPr lang="en-US" altLang="en-US" sz="6285" b="1" dirty="0"/>
              <a:t>Conventional X-ray</a:t>
            </a:r>
          </a:p>
          <a:p>
            <a:pPr lvl="1" eaLnBrk="1" hangingPunct="1"/>
            <a:r>
              <a:rPr lang="en-US" altLang="en-US" sz="6285" dirty="0"/>
              <a:t>Thoracic X-ray for mediastinal tumor</a:t>
            </a:r>
          </a:p>
          <a:p>
            <a:pPr lvl="1" eaLnBrk="1" hangingPunct="1"/>
            <a:r>
              <a:rPr lang="en-US" altLang="en-US" sz="6285" dirty="0"/>
              <a:t> Abdominal X-ray: often </a:t>
            </a:r>
            <a:r>
              <a:rPr lang="en-US" altLang="en-US" sz="6285" b="1" dirty="0"/>
              <a:t>calcifications</a:t>
            </a:r>
            <a:r>
              <a:rPr lang="en-US" altLang="en-US" sz="6285" dirty="0"/>
              <a:t> visible in the tumor</a:t>
            </a:r>
          </a:p>
          <a:p>
            <a:pPr lvl="1" eaLnBrk="1" hangingPunct="1">
              <a:buFontTx/>
              <a:buNone/>
            </a:pPr>
            <a:endParaRPr lang="en-US" altLang="en-US" sz="6285" dirty="0"/>
          </a:p>
          <a:p>
            <a:pPr eaLnBrk="1" hangingPunct="1"/>
            <a:r>
              <a:rPr lang="en-US" altLang="en-US" sz="6285" b="1" dirty="0" err="1"/>
              <a:t>Methylisobenzyl</a:t>
            </a:r>
            <a:r>
              <a:rPr lang="en-US" altLang="en-US" sz="6285" b="1" dirty="0"/>
              <a:t> guanidinium (MIBG) scintigraphy</a:t>
            </a:r>
          </a:p>
          <a:p>
            <a:pPr lvl="1" eaLnBrk="1" hangingPunct="1">
              <a:buFontTx/>
              <a:buNone/>
            </a:pPr>
            <a:endParaRPr lang="en-US" altLang="en-US" sz="6285" dirty="0"/>
          </a:p>
          <a:p>
            <a:pPr eaLnBrk="1" hangingPunct="1"/>
            <a:r>
              <a:rPr lang="en-US" altLang="en-US" sz="6285" b="1" dirty="0"/>
              <a:t>Ultrasound, computed tomography and/or magnetic resonance imaging</a:t>
            </a:r>
          </a:p>
          <a:p>
            <a:pPr eaLnBrk="1" hangingPunct="1">
              <a:buFontTx/>
              <a:buNone/>
            </a:pPr>
            <a:r>
              <a:rPr lang="en-US" altLang="en-US" sz="6285" b="1" dirty="0"/>
              <a:t>.     Myelography</a:t>
            </a:r>
          </a:p>
          <a:p>
            <a:pPr eaLnBrk="1" hangingPunct="1"/>
            <a:endParaRPr lang="en-US" altLang="en-US" sz="6285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lvl="1" eaLnBrk="1" hangingPunct="1"/>
            <a:endParaRPr lang="en-US" altLang="en-US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27A8465-78E9-4004-83C8-E8E88F0D2323}" type="slidenum">
              <a:rPr lang="en-US" altLang="en-US" sz="1600">
                <a:solidFill>
                  <a:srgbClr val="DFE0D4"/>
                </a:solidFill>
              </a:rPr>
              <a:t>32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Microscopic Features</a:t>
            </a:r>
            <a:b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endParaRPr lang="en-US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eaLnBrk="1" hangingPunct="1"/>
            <a:r>
              <a:rPr lang="en-US" altLang="en-US" sz="7275" dirty="0"/>
              <a:t>Electron microscopy: </a:t>
            </a:r>
          </a:p>
          <a:p>
            <a:pPr lvl="1" eaLnBrk="1" hangingPunct="1">
              <a:buFontTx/>
              <a:buNone/>
            </a:pPr>
            <a:r>
              <a:rPr lang="en-US" altLang="en-US" sz="4800" dirty="0"/>
              <a:t> neurofilaments , neural tubules ,neurosecretory granules</a:t>
            </a:r>
          </a:p>
          <a:p>
            <a:pPr eaLnBrk="1" hangingPunct="1">
              <a:buFontTx/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7275" dirty="0"/>
              <a:t> Immunohistochemistry:</a:t>
            </a:r>
            <a:r>
              <a:rPr lang="en-US" altLang="en-US" sz="3480" dirty="0"/>
              <a:t> </a:t>
            </a:r>
          </a:p>
          <a:p>
            <a:pPr lvl="1" eaLnBrk="1" hangingPunct="1"/>
            <a:r>
              <a:rPr lang="en-US" altLang="en-US" sz="4800" dirty="0" err="1"/>
              <a:t>immunoperoxidase</a:t>
            </a:r>
            <a:r>
              <a:rPr lang="en-US" altLang="en-US" sz="4800" dirty="0"/>
              <a:t>, neuron-specific enolase (NSE)</a:t>
            </a:r>
          </a:p>
          <a:p>
            <a:pPr eaLnBrk="1" hangingPunct="1"/>
            <a:r>
              <a:rPr lang="en-US" altLang="en-US" sz="7275" dirty="0"/>
              <a:t>Fluorescence testing for intracellular catecholamines</a:t>
            </a:r>
          </a:p>
          <a:p>
            <a:pPr eaLnBrk="1" hangingPunct="1"/>
            <a:endParaRPr lang="en-US" altLang="en-US" sz="4210" dirty="0"/>
          </a:p>
          <a:p>
            <a:pPr eaLnBrk="1" hangingPunct="1"/>
            <a:r>
              <a:rPr lang="en-US" altLang="en-US" sz="7275" dirty="0"/>
              <a:t> </a:t>
            </a:r>
            <a:r>
              <a:rPr lang="en-US" altLang="en-US" sz="7275" b="1" u="sng" dirty="0"/>
              <a:t>Histologically</a:t>
            </a:r>
          </a:p>
          <a:p>
            <a:pPr lvl="1" eaLnBrk="1" hangingPunct="1"/>
            <a:r>
              <a:rPr lang="en-US" altLang="en-US" sz="4800" dirty="0"/>
              <a:t>small round-cell sarcoma</a:t>
            </a:r>
          </a:p>
          <a:p>
            <a:pPr lvl="1" eaLnBrk="1" hangingPunct="1"/>
            <a:r>
              <a:rPr lang="en-US" altLang="en-US" sz="4800" dirty="0"/>
              <a:t>Well-differentiated form: islets with polymorphic nucleus separated by fibrillar material; sometimes cells are characteristically </a:t>
            </a:r>
            <a:r>
              <a:rPr lang="en-US" altLang="en-US" sz="4800" b="1" dirty="0"/>
              <a:t>arranged as rosettes</a:t>
            </a:r>
          </a:p>
          <a:p>
            <a:pPr eaLnBrk="1" hangingPunct="1">
              <a:buFontTx/>
              <a:buNone/>
            </a:pPr>
            <a:endParaRPr lang="en-US" altLang="en-US" sz="4800" dirty="0"/>
          </a:p>
          <a:p>
            <a:pPr eaLnBrk="1" hangingPunct="1">
              <a:buFontTx/>
              <a:buNone/>
            </a:pPr>
            <a:endParaRPr lang="en-US" altLang="en-US" sz="4800" dirty="0"/>
          </a:p>
        </p:txBody>
      </p:sp>
      <p:sp>
        <p:nvSpPr>
          <p:cNvPr id="4608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34059C8-0909-490B-B410-5F3600200AC5}" type="slidenum">
              <a:rPr lang="en-US" altLang="en-US" sz="1600">
                <a:solidFill>
                  <a:srgbClr val="DFE0D4"/>
                </a:solidFill>
              </a:rPr>
              <a:t>33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458686" y="0"/>
            <a:ext cx="8229600" cy="1143000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International neuroblastoma staging system</a:t>
            </a:r>
          </a:p>
        </p:txBody>
      </p:sp>
      <p:pic>
        <p:nvPicPr>
          <p:cNvPr id="4710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26" y="979714"/>
            <a:ext cx="10515599" cy="2926080"/>
          </a:xfrm>
        </p:spPr>
      </p:pic>
      <p:sp>
        <p:nvSpPr>
          <p:cNvPr id="4710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D07B26-E9DE-4FF1-ABDC-A65286F5ECF5}" type="slidenum">
              <a:rPr lang="en-US" altLang="en-US" sz="1600">
                <a:solidFill>
                  <a:srgbClr val="DFE0D4"/>
                </a:solidFill>
              </a:rPr>
              <a:t>34</a:t>
            </a:fld>
            <a:endParaRPr lang="en-US" altLang="en-US" sz="1600">
              <a:solidFill>
                <a:srgbClr val="DFE0D4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27" y="3918858"/>
            <a:ext cx="10698480" cy="218149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Therapy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1905000" y="1828800"/>
            <a:ext cx="8229600" cy="4114800"/>
          </a:xfrm>
        </p:spPr>
        <p:txBody>
          <a:bodyPr/>
          <a:lstStyle/>
          <a:p>
            <a:pPr eaLnBrk="1" hangingPunct="1"/>
            <a:r>
              <a:rPr lang="en-US" altLang="en-US"/>
              <a:t>Surgical procedure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Chemotherapy</a:t>
            </a:r>
          </a:p>
          <a:p>
            <a:pPr eaLnBrk="1" hangingPunct="1">
              <a:buFontTx/>
              <a:buNone/>
            </a:pPr>
            <a:r>
              <a:rPr lang="en-US" altLang="en-US"/>
              <a:t>   </a:t>
            </a:r>
          </a:p>
          <a:p>
            <a:pPr eaLnBrk="1" hangingPunct="1"/>
            <a:r>
              <a:rPr lang="en-US" altLang="en-US"/>
              <a:t>Radiotherapy</a:t>
            </a:r>
          </a:p>
          <a:p>
            <a:pPr eaLnBrk="1" hangingPunct="1">
              <a:buFontTx/>
              <a:buNone/>
            </a:pPr>
            <a:r>
              <a:rPr lang="en-US" altLang="en-US"/>
              <a:t>    Neuroblastoma is radiosensitive</a:t>
            </a:r>
          </a:p>
        </p:txBody>
      </p:sp>
      <p:sp>
        <p:nvSpPr>
          <p:cNvPr id="4915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8D66A3-DB1A-4901-BA67-E031F73A8464}" type="slidenum">
              <a:rPr lang="en-US" altLang="en-US" sz="1600">
                <a:solidFill>
                  <a:srgbClr val="DFE0D4"/>
                </a:solidFill>
              </a:rPr>
              <a:t>35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4610">
              <a:defRPr/>
            </a:pPr>
            <a:r>
              <a:rPr lang="en-US" dirty="0" err="1"/>
              <a:t>Nephroblastoma</a:t>
            </a:r>
            <a:r>
              <a:rPr lang="en-US" dirty="0"/>
              <a:t> (</a:t>
            </a:r>
            <a:r>
              <a:rPr lang="en-US" dirty="0" err="1"/>
              <a:t>Wilm’s</a:t>
            </a:r>
            <a:r>
              <a:rPr lang="en-US" dirty="0"/>
              <a:t> Tumor)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Malignant embryonal tumor of renal tissue</a:t>
            </a:r>
          </a:p>
          <a:p>
            <a:pPr eaLnBrk="1" hangingPunct="1"/>
            <a:r>
              <a:rPr lang="en-US" altLang="en-US" sz="2400" dirty="0"/>
              <a:t>6% of all </a:t>
            </a:r>
            <a:r>
              <a:rPr lang="en-US" altLang="en-US" sz="2400" dirty="0" err="1"/>
              <a:t>neoplasias</a:t>
            </a:r>
            <a:r>
              <a:rPr lang="en-US" altLang="en-US" sz="2400" dirty="0"/>
              <a:t> in children</a:t>
            </a:r>
          </a:p>
          <a:p>
            <a:pPr eaLnBrk="1" hangingPunct="1"/>
            <a:r>
              <a:rPr lang="en-US" altLang="en-US" sz="2400" dirty="0"/>
              <a:t>78% of children with nephroblastoma are less than 5 years old</a:t>
            </a:r>
          </a:p>
          <a:p>
            <a:pPr eaLnBrk="1" hangingPunct="1"/>
            <a:r>
              <a:rPr lang="en-US" altLang="en-US" sz="2400" dirty="0"/>
              <a:t> Peak incidence between 2nd and 3rd year of age</a:t>
            </a:r>
          </a:p>
          <a:p>
            <a:pPr eaLnBrk="1" hangingPunct="1"/>
            <a:r>
              <a:rPr lang="en-US" altLang="en-US" sz="2400" dirty="0"/>
              <a:t>Congenital form at delivery or during neonatal period</a:t>
            </a:r>
          </a:p>
          <a:p>
            <a:pPr eaLnBrk="1" hangingPunct="1"/>
            <a:r>
              <a:rPr lang="en-US" altLang="en-US" sz="2400" dirty="0"/>
              <a:t> Rarely in adolescents and adults</a:t>
            </a: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BC83891-524D-42B5-B10C-F77AA555AF8B}" type="slidenum">
              <a:rPr lang="en-US" altLang="en-US" sz="1600">
                <a:solidFill>
                  <a:srgbClr val="DFE0D4"/>
                </a:solidFill>
              </a:rPr>
              <a:t>36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Association</a:t>
            </a:r>
            <a:b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endParaRPr lang="en-US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en-US" sz="2000"/>
              <a:t> CHROMOSOMAL  ASSOCIATIATION</a:t>
            </a:r>
          </a:p>
          <a:p>
            <a:pPr lvl="1" eaLnBrk="1" hangingPunct="1"/>
            <a:r>
              <a:rPr lang="en-US" altLang="en-US" sz="1600"/>
              <a:t>Chromosome 11p13 with Wilms tumor suppressor gene WT1 in 10–30% of nephroblastomas</a:t>
            </a:r>
          </a:p>
          <a:p>
            <a:pPr lvl="1" eaLnBrk="1" hangingPunct="1"/>
            <a:endParaRPr lang="en-US" altLang="en-US" sz="1600"/>
          </a:p>
          <a:p>
            <a:pPr lvl="1" eaLnBrk="1" hangingPunct="1"/>
            <a:r>
              <a:rPr lang="en-US" altLang="en-US" sz="1600"/>
              <a:t>Associated with WT2 on chromosome 11p15 at a rate of 15%</a:t>
            </a:r>
          </a:p>
          <a:p>
            <a:pPr lvl="1" eaLnBrk="1" hangingPunct="1"/>
            <a:endParaRPr lang="en-US" altLang="en-US" sz="1600"/>
          </a:p>
          <a:p>
            <a:pPr lvl="1" eaLnBrk="1" hangingPunct="1"/>
            <a:endParaRPr lang="en-US" altLang="en-US" sz="1600"/>
          </a:p>
          <a:p>
            <a:pPr eaLnBrk="1" hangingPunct="1"/>
            <a:r>
              <a:rPr lang="en-US" altLang="en-US" sz="2000"/>
              <a:t>CONGENITAL ANOMALIES</a:t>
            </a:r>
          </a:p>
          <a:p>
            <a:pPr lvl="1" eaLnBrk="1" hangingPunct="1"/>
            <a:r>
              <a:rPr lang="en-US" altLang="en-US" sz="1600"/>
              <a:t>WAGR syndrome</a:t>
            </a:r>
          </a:p>
          <a:p>
            <a:pPr lvl="1" eaLnBrk="1" hangingPunct="1"/>
            <a:r>
              <a:rPr lang="en-US" altLang="en-US" sz="1600"/>
              <a:t>Genital malformations</a:t>
            </a:r>
          </a:p>
          <a:p>
            <a:pPr lvl="1" eaLnBrk="1" hangingPunct="1"/>
            <a:r>
              <a:rPr lang="en-US" altLang="en-US" sz="1600"/>
              <a:t>Denys-Drash syndrome</a:t>
            </a:r>
          </a:p>
          <a:p>
            <a:pPr lvl="1" eaLnBrk="1" hangingPunct="1"/>
            <a:r>
              <a:rPr lang="en-US" altLang="en-US" sz="1600"/>
              <a:t>Beckwith-Wiedemann syndrome (BWS)</a:t>
            </a:r>
          </a:p>
          <a:p>
            <a:pPr lvl="1" eaLnBrk="1" hangingPunct="1"/>
            <a:r>
              <a:rPr lang="en-US" altLang="en-US" sz="1600"/>
              <a:t>Isolated hemihypertrophy</a:t>
            </a:r>
          </a:p>
          <a:p>
            <a:pPr lvl="1" eaLnBrk="1" hangingPunct="1"/>
            <a:r>
              <a:rPr lang="en-US" altLang="en-US" sz="1600"/>
              <a:t>Neurofibromatosis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F5F467-7335-4FE5-B84A-7DD865824E00}" type="slidenum">
              <a:rPr lang="en-US" altLang="en-US" sz="1600">
                <a:solidFill>
                  <a:srgbClr val="DFE0D4"/>
                </a:solidFill>
              </a:rPr>
              <a:t>37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Clinical Manifestations</a:t>
            </a:r>
            <a:b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endParaRPr lang="en-US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Visible and palpable abdominal mass</a:t>
            </a:r>
          </a:p>
          <a:p>
            <a:pPr eaLnBrk="1" hangingPunct="1"/>
            <a:r>
              <a:rPr lang="en-US" altLang="en-US" sz="2400" dirty="0"/>
              <a:t>Unclear febrile episodes, anorexia, vomiting</a:t>
            </a:r>
          </a:p>
          <a:p>
            <a:pPr eaLnBrk="1" hangingPunct="1"/>
            <a:r>
              <a:rPr lang="en-US" altLang="en-US" sz="2400" dirty="0"/>
              <a:t>Hematuria ,Hypertension , Polycythemia</a:t>
            </a:r>
          </a:p>
          <a:p>
            <a:pPr eaLnBrk="1" hangingPunct="1"/>
            <a:r>
              <a:rPr lang="en-US" altLang="en-US" sz="2400" dirty="0"/>
              <a:t>Coughing, pleural pain, and/or pleural effusion </a:t>
            </a:r>
          </a:p>
          <a:p>
            <a:pPr eaLnBrk="1" hangingPunct="1"/>
            <a:r>
              <a:rPr lang="en-US" altLang="en-US" sz="2400" dirty="0"/>
              <a:t>Acquired Von Willebrand coagulopathy in about 8% of patients</a:t>
            </a:r>
          </a:p>
          <a:p>
            <a:pPr eaLnBrk="1" hangingPunct="1"/>
            <a:r>
              <a:rPr lang="en-US" altLang="en-US" sz="2400" dirty="0"/>
              <a:t>Special symptoms in association with congenital anomalies</a:t>
            </a: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D0517D-DD36-4FBA-B946-BA58A15980B7}" type="slidenum">
              <a:rPr lang="en-US" altLang="en-US" sz="1600">
                <a:solidFill>
                  <a:srgbClr val="DFE0D4"/>
                </a:solidFill>
              </a:rPr>
              <a:t>38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Microscopic features</a:t>
            </a:r>
            <a:b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endParaRPr lang="en-US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/>
              <a:t>Mostly mixed form of </a:t>
            </a:r>
            <a:r>
              <a:rPr lang="en-US" altLang="en-US" sz="2000" b="1" dirty="0"/>
              <a:t>epithelial , </a:t>
            </a:r>
            <a:r>
              <a:rPr lang="en-US" altLang="en-US" sz="2000" b="1" dirty="0" err="1"/>
              <a:t>blastemic</a:t>
            </a:r>
            <a:r>
              <a:rPr lang="en-US" altLang="en-US" sz="2000" b="1" dirty="0"/>
              <a:t> and stromal </a:t>
            </a:r>
            <a:r>
              <a:rPr lang="en-US" altLang="en-US" sz="2000" dirty="0"/>
              <a:t>cellular components 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 In </a:t>
            </a:r>
            <a:r>
              <a:rPr lang="en-US" altLang="en-US" sz="2000" b="1" dirty="0"/>
              <a:t>well-differentiated forms </a:t>
            </a:r>
            <a:r>
              <a:rPr lang="en-US" altLang="en-US" sz="2000" dirty="0"/>
              <a:t>glandular acini or glomerular structures separated by stroma elements which arrange cells in cords or nests</a:t>
            </a:r>
          </a:p>
          <a:p>
            <a:pPr eaLnBrk="1" hangingPunct="1">
              <a:buFontTx/>
              <a:buNone/>
            </a:pPr>
            <a:endParaRPr lang="en-US" altLang="en-US" sz="2000" dirty="0"/>
          </a:p>
        </p:txBody>
      </p:sp>
      <p:sp>
        <p:nvSpPr>
          <p:cNvPr id="5325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566C19-038D-414F-91E5-CAE0070EF745}" type="slidenum">
              <a:rPr lang="en-US" altLang="en-US" sz="1600">
                <a:solidFill>
                  <a:srgbClr val="DFE0D4"/>
                </a:solidFill>
              </a:rPr>
              <a:t>39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Laboratory Diagnosis</a:t>
            </a:r>
            <a:b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endParaRPr lang="en-US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000"/>
              <a:t>RFT 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000"/>
          </a:p>
          <a:p>
            <a:pPr eaLnBrk="1" hangingPunct="1"/>
            <a:r>
              <a:rPr lang="en-US" altLang="en-US" sz="2000"/>
              <a:t>Urine analysis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Conventional abdominal radiography ,IVP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Ultrasound, computed tomography (CT) and/or magnetic resonance imaging (MRI)</a:t>
            </a:r>
          </a:p>
          <a:p>
            <a:pPr eaLnBrk="1" hangingPunct="1">
              <a:buFontTx/>
              <a:buNone/>
            </a:pPr>
            <a:endParaRPr lang="en-US" altLang="en-US" sz="200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F03FD9D-534A-46F1-A55C-91797E3EC48C}" type="slidenum">
              <a:rPr lang="en-US" altLang="en-US" sz="1600">
                <a:solidFill>
                  <a:srgbClr val="DFE0D4"/>
                </a:solidFill>
              </a:rPr>
              <a:t>40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7772400" cy="1143000"/>
          </a:xfrm>
        </p:spPr>
        <p:txBody>
          <a:bodyPr/>
          <a:lstStyle/>
          <a:p>
            <a:pPr marL="54610">
              <a:defRPr/>
            </a:pPr>
            <a:r>
              <a:rPr lang="en-US" altLang="he-IL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Wilms’ tumor - Staging</a:t>
            </a:r>
          </a:p>
        </p:txBody>
      </p:sp>
      <p:graphicFrame>
        <p:nvGraphicFramePr>
          <p:cNvPr id="19498" name="Group 42"/>
          <p:cNvGraphicFramePr>
            <a:graphicFrameLocks noGrp="1"/>
          </p:cNvGraphicFramePr>
          <p:nvPr>
            <p:ph type="tbl" idx="1"/>
          </p:nvPr>
        </p:nvGraphicFramePr>
        <p:xfrm>
          <a:off x="2133600" y="1295400"/>
          <a:ext cx="7772400" cy="4491036"/>
        </p:xfrm>
        <a:graphic>
          <a:graphicData uri="http://schemas.openxmlformats.org/drawingml/2006/table">
            <a:tbl>
              <a:tblPr/>
              <a:tblGrid>
                <a:gridCol w="6248400"/>
                <a:gridCol w="1524000"/>
              </a:tblGrid>
              <a:tr h="711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he-IL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711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he-IL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Tumor confined to the kidney and completely resected. No penetration of renal capsule or sinus vessels.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he-IL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    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8230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he-IL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Tumor extends beyond kidney but completely resected; a) penetration of renal capsule b) invasion of renal sinus c) biopsy d) local spillage during removal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he-IL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    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8230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he-IL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Gross or microscopic residual (including gross spillage, positive margins, regional lymph nodes –renal hilar, para-aortic, or beyond, peritoneal implants, spillage beyond flank)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he-IL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    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711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he-IL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Metastatic disease outside abdomen (lungs, liver)                                    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he-IL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    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711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Bilateral Wilms’ tumors</a:t>
                      </a:r>
                      <a:endParaRPr kumimoji="0" lang="en-US" altLang="he-IL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he-IL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5532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8D8242-0183-47B1-AB9E-F26F645B8015}" type="slidenum">
              <a:rPr lang="he-IL" altLang="en-US" sz="1600">
                <a:solidFill>
                  <a:srgbClr val="DFE0D4"/>
                </a:solidFill>
              </a:rPr>
              <a:t>41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Therapy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Primary surgical resection or preoperative chemotherapy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Chemotherapy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Radiotherapy</a:t>
            </a:r>
          </a:p>
          <a:p>
            <a:pPr lvl="1" eaLnBrk="1" hangingPunct="1"/>
            <a:r>
              <a:rPr lang="en-US" altLang="en-US" dirty="0" err="1"/>
              <a:t>Nephroblastoma</a:t>
            </a:r>
            <a:r>
              <a:rPr lang="en-US" altLang="en-US" dirty="0"/>
              <a:t> is radiosensitive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D0E7476-EA7B-46C8-9281-6587EE554165}" type="slidenum">
              <a:rPr lang="en-US" altLang="en-US" sz="1600">
                <a:solidFill>
                  <a:srgbClr val="DFE0D4"/>
                </a:solidFill>
              </a:rPr>
              <a:t>42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4610">
              <a:defRPr/>
            </a:pPr>
            <a:r>
              <a:rPr lang="en-US" dirty="0"/>
              <a:t>Germ cell tumors</a:t>
            </a:r>
            <a:r>
              <a:rPr lang="en-US" dirty="0">
                <a:solidFill>
                  <a:srgbClr val="FFFF00"/>
                </a:solidFill>
              </a:rPr>
              <a:t/>
            </a:r>
            <a:br>
              <a:rPr lang="en-US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Primordial germ cells can develop into benign or malignant tumors in the</a:t>
            </a:r>
          </a:p>
          <a:p>
            <a:pPr lvl="1" eaLnBrk="1" hangingPunct="1"/>
            <a:r>
              <a:rPr lang="en-US" altLang="en-US" dirty="0"/>
              <a:t>gonads </a:t>
            </a:r>
          </a:p>
          <a:p>
            <a:pPr lvl="1" eaLnBrk="1" hangingPunct="1"/>
            <a:r>
              <a:rPr lang="en-US" altLang="en-US" dirty="0"/>
              <a:t>extragonadal (&gt; 50%) sites </a:t>
            </a:r>
          </a:p>
          <a:p>
            <a:pPr lvl="2" eaLnBrk="1" hangingPunct="1"/>
            <a:r>
              <a:rPr lang="en-US" altLang="en-US" dirty="0"/>
              <a:t>Retroperitoneum, brain, or mediastinum</a:t>
            </a:r>
          </a:p>
          <a:p>
            <a:pPr eaLnBrk="1" hangingPunct="1"/>
            <a:r>
              <a:rPr lang="en-US" altLang="en-US" sz="2400" dirty="0"/>
              <a:t>includes </a:t>
            </a:r>
          </a:p>
          <a:p>
            <a:pPr lvl="1" eaLnBrk="1" hangingPunct="1"/>
            <a:r>
              <a:rPr lang="en-US" altLang="en-US" dirty="0"/>
              <a:t>germinomas, embryonal carcinomas,</a:t>
            </a:r>
          </a:p>
          <a:p>
            <a:pPr lvl="1" eaLnBrk="1" hangingPunct="1"/>
            <a:r>
              <a:rPr lang="en-US" altLang="en-US" dirty="0"/>
              <a:t>endodermal sinus tumors,</a:t>
            </a:r>
          </a:p>
          <a:p>
            <a:pPr lvl="1" eaLnBrk="1" hangingPunct="1"/>
            <a:r>
              <a:rPr lang="en-US" altLang="en-US" dirty="0"/>
              <a:t>choriocarcinomas, and </a:t>
            </a:r>
            <a:r>
              <a:rPr lang="en-US" altLang="en-US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teratomas </a:t>
            </a:r>
          </a:p>
        </p:txBody>
      </p:sp>
      <p:sp>
        <p:nvSpPr>
          <p:cNvPr id="5734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99541B7-C37A-42B3-AE5A-3E861E3BE115}" type="slidenum">
              <a:rPr lang="en-US" altLang="en-US" sz="1600">
                <a:solidFill>
                  <a:srgbClr val="DFE0D4"/>
                </a:solidFill>
              </a:rPr>
              <a:t>43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GCT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represent about 3% of childhood malignancies.</a:t>
            </a:r>
          </a:p>
          <a:p>
            <a:pPr eaLnBrk="1" hangingPunct="1"/>
            <a:r>
              <a:rPr lang="en-US" altLang="en-US" sz="2400" dirty="0"/>
              <a:t>Teratomas are the most common</a:t>
            </a:r>
          </a:p>
          <a:p>
            <a:pPr eaLnBrk="1" hangingPunct="1"/>
            <a:r>
              <a:rPr lang="en-US" altLang="en-US" sz="2400" dirty="0"/>
              <a:t>Ultrasonography is the initial imaging modality</a:t>
            </a:r>
          </a:p>
          <a:p>
            <a:pPr eaLnBrk="1" hangingPunct="1"/>
            <a:r>
              <a:rPr lang="en-US" altLang="en-US" sz="2400" dirty="0"/>
              <a:t>Laboratory tests </a:t>
            </a:r>
          </a:p>
          <a:p>
            <a:pPr lvl="1" eaLnBrk="1" hangingPunct="1"/>
            <a:r>
              <a:rPr lang="en-US" altLang="en-US" dirty="0"/>
              <a:t>serum a-fetoprotein and beta-HCG hormone and LDH (elevated in dysgerminoma)</a:t>
            </a:r>
          </a:p>
          <a:p>
            <a:pPr lvl="1" eaLnBrk="1" hangingPunct="1"/>
            <a:r>
              <a:rPr lang="en-US" altLang="en-US" dirty="0"/>
              <a:t>fetal isozyme of alkaline phosphatase (PLAP), which is elevated in seminomas</a:t>
            </a:r>
          </a:p>
        </p:txBody>
      </p:sp>
      <p:sp>
        <p:nvSpPr>
          <p:cNvPr id="5837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217095A-602D-4B01-80B2-B164B257C0D2}" type="slidenum">
              <a:rPr lang="en-US" altLang="en-US" sz="1600">
                <a:solidFill>
                  <a:srgbClr val="DFE0D4"/>
                </a:solidFill>
              </a:rPr>
              <a:t>44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Treatment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Surgical resection is indicated if possible</a:t>
            </a:r>
          </a:p>
          <a:p>
            <a:pPr eaLnBrk="1" hangingPunct="1"/>
            <a:r>
              <a:rPr lang="en-US" altLang="en-US"/>
              <a:t>Combination chemotherapy </a:t>
            </a:r>
          </a:p>
          <a:p>
            <a:pPr eaLnBrk="1" hangingPunct="1"/>
            <a:r>
              <a:rPr lang="en-US" altLang="en-US"/>
              <a:t>The EFS rate is about 80%</a:t>
            </a:r>
          </a:p>
        </p:txBody>
      </p:sp>
      <p:sp>
        <p:nvSpPr>
          <p:cNvPr id="5939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DAD8EAC-4532-41C2-9C63-4ADA43440691}" type="slidenum">
              <a:rPr lang="en-US" altLang="en-US" sz="1600">
                <a:solidFill>
                  <a:srgbClr val="DFE0D4"/>
                </a:solidFill>
              </a:rPr>
              <a:t>45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 </a:t>
            </a:r>
            <a:r>
              <a:rPr lang="en-US" b="1" dirty="0"/>
              <a:t>Malignant liver masses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000" b="1" dirty="0"/>
              <a:t>Include</a:t>
            </a:r>
          </a:p>
          <a:p>
            <a:pPr lvl="1" eaLnBrk="1" hangingPunct="1"/>
            <a:r>
              <a:rPr lang="en-US" altLang="en-US" sz="2000" b="1" dirty="0"/>
              <a:t>Hepatoblastoma</a:t>
            </a:r>
          </a:p>
          <a:p>
            <a:pPr lvl="1" eaLnBrk="1" hangingPunct="1"/>
            <a:r>
              <a:rPr lang="en-US" altLang="en-US" sz="2000" b="1" dirty="0"/>
              <a:t>Hepatocellular carcinoma</a:t>
            </a:r>
          </a:p>
          <a:p>
            <a:pPr lvl="1" eaLnBrk="1" hangingPunct="1"/>
            <a:endParaRPr lang="en-US" altLang="en-US" sz="2000" b="1" dirty="0"/>
          </a:p>
          <a:p>
            <a:pPr eaLnBrk="1" hangingPunct="1"/>
            <a:r>
              <a:rPr lang="en-US" altLang="en-US" sz="2000" b="1" dirty="0"/>
              <a:t>only 1% to 2%of childhood cancers</a:t>
            </a:r>
          </a:p>
        </p:txBody>
      </p:sp>
      <p:sp>
        <p:nvSpPr>
          <p:cNvPr id="6042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2402FD-9324-4E17-B5A6-4F591B2E434D}" type="slidenum">
              <a:rPr lang="en-US" altLang="en-US" sz="1600">
                <a:solidFill>
                  <a:srgbClr val="DFE0D4"/>
                </a:solidFill>
              </a:rPr>
              <a:t>46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4610">
              <a:defRPr/>
            </a:pPr>
            <a:r>
              <a:rPr lang="en-US" dirty="0" err="1"/>
              <a:t>Hepatoblastoma</a:t>
            </a:r>
            <a:r>
              <a:rPr lang="en-US" dirty="0">
                <a:solidFill>
                  <a:srgbClr val="FFFF00"/>
                </a:solidFill>
              </a:rPr>
              <a:t/>
            </a:r>
            <a:br>
              <a:rPr lang="en-US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1600" dirty="0"/>
              <a:t>the most common primary malignant liver tumor</a:t>
            </a:r>
          </a:p>
          <a:p>
            <a:pPr marL="640080" lvl="1">
              <a:defRPr/>
            </a:pPr>
            <a:r>
              <a:rPr lang="en-US" sz="1600" dirty="0"/>
              <a:t>The mean age at diagnosis is 1 year</a:t>
            </a:r>
          </a:p>
          <a:p>
            <a:pPr marL="640080" lvl="1">
              <a:defRPr/>
            </a:pPr>
            <a:r>
              <a:rPr lang="en-US" sz="1600" dirty="0"/>
              <a:t> more than 80% of cases diagnosed before 3 years of age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1600" dirty="0"/>
              <a:t>    </a:t>
            </a:r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1600" dirty="0"/>
              <a:t>seen in association with </a:t>
            </a:r>
          </a:p>
          <a:p>
            <a:pPr marL="640080" lvl="1">
              <a:defRPr/>
            </a:pPr>
            <a:r>
              <a:rPr lang="en-US" sz="1600" dirty="0"/>
              <a:t>Beckwith-</a:t>
            </a:r>
            <a:r>
              <a:rPr lang="en-US" sz="1600" dirty="0" err="1"/>
              <a:t>Wiedemann</a:t>
            </a:r>
            <a:r>
              <a:rPr lang="en-US" sz="1600" dirty="0"/>
              <a:t> syndrome</a:t>
            </a:r>
          </a:p>
          <a:p>
            <a:pPr marL="640080" lvl="1">
              <a:defRPr/>
            </a:pPr>
            <a:r>
              <a:rPr lang="en-US" sz="1600" dirty="0"/>
              <a:t>isolated </a:t>
            </a:r>
            <a:r>
              <a:rPr lang="en-US" sz="1600" dirty="0" err="1"/>
              <a:t>hemihypertrophy</a:t>
            </a:r>
            <a:endParaRPr lang="en-US" sz="1600" dirty="0"/>
          </a:p>
          <a:p>
            <a:pPr marL="640080" lvl="1">
              <a:defRPr/>
            </a:pPr>
            <a:r>
              <a:rPr lang="en-US" sz="1600" dirty="0"/>
              <a:t>familial adenomatous polyposis </a:t>
            </a:r>
          </a:p>
          <a:p>
            <a:pPr marL="457200" lvl="1" indent="0">
              <a:buNone/>
              <a:defRPr/>
            </a:pPr>
            <a:endParaRPr lang="en-US" sz="12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1600" dirty="0"/>
              <a:t>An asymptomatic abdominal mass the most common presentation </a:t>
            </a:r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1600" dirty="0"/>
              <a:t>Anorexia, pain, or weight loss is seen in only 15% to 20% of children at diagnosis</a:t>
            </a:r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1600" dirty="0"/>
              <a:t>Jaundice is rare</a:t>
            </a:r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1600" dirty="0"/>
              <a:t>The most frequent sites of metastases are lungs or lymph nodes, and rarely bone, brain, or bone marrow.</a:t>
            </a:r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16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16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16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1600" dirty="0"/>
          </a:p>
        </p:txBody>
      </p:sp>
      <p:sp>
        <p:nvSpPr>
          <p:cNvPr id="6144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65B1C95-182B-4F60-AE90-89B635FCAD1B}" type="slidenum">
              <a:rPr lang="en-US" altLang="en-US" sz="1600">
                <a:solidFill>
                  <a:srgbClr val="DFE0D4"/>
                </a:solidFill>
              </a:rPr>
              <a:t>47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Lab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/>
              <a:t>Thrombocytosis is common with platelet counts as high as 1,500,000/mm3</a:t>
            </a:r>
          </a:p>
          <a:p>
            <a:pPr eaLnBrk="1" hangingPunct="1"/>
            <a:r>
              <a:rPr lang="en-US" altLang="en-US" sz="2000" dirty="0"/>
              <a:t>Serum a-fetoprotein, elevated in essentially all patients with hepatoblastoma</a:t>
            </a:r>
          </a:p>
          <a:p>
            <a:pPr eaLnBrk="1" hangingPunct="1"/>
            <a:r>
              <a:rPr lang="en-US" altLang="en-US" sz="2000" dirty="0"/>
              <a:t>U/S- the best initial imaging technique</a:t>
            </a:r>
          </a:p>
          <a:p>
            <a:pPr lvl="1" eaLnBrk="1" hangingPunct="1"/>
            <a:r>
              <a:rPr lang="en-US" altLang="en-US" sz="1600" dirty="0"/>
              <a:t> usually a large solitary mass. </a:t>
            </a:r>
            <a:r>
              <a:rPr lang="en-US" altLang="en-US" sz="1600" b="1" dirty="0"/>
              <a:t>Vascular</a:t>
            </a:r>
          </a:p>
          <a:p>
            <a:pPr lvl="1" eaLnBrk="1" hangingPunct="1">
              <a:buFontTx/>
              <a:buNone/>
            </a:pPr>
            <a:endParaRPr lang="en-US" altLang="en-US" sz="1600" dirty="0"/>
          </a:p>
          <a:p>
            <a:pPr eaLnBrk="1" hangingPunct="1">
              <a:buFontTx/>
              <a:buNone/>
            </a:pPr>
            <a:endParaRPr lang="en-US" altLang="en-US" sz="2000" dirty="0"/>
          </a:p>
          <a:p>
            <a:pPr eaLnBrk="1" hangingPunct="1">
              <a:buFontTx/>
              <a:buNone/>
            </a:pPr>
            <a:endParaRPr lang="en-US" altLang="en-US" dirty="0"/>
          </a:p>
        </p:txBody>
      </p:sp>
      <p:sp>
        <p:nvSpPr>
          <p:cNvPr id="6246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5DCC92-4863-41AE-BC13-F1825214F979}" type="slidenum">
              <a:rPr lang="en-US" altLang="en-US" sz="1600">
                <a:solidFill>
                  <a:srgbClr val="DFE0D4"/>
                </a:solidFill>
              </a:rPr>
              <a:t>48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Treatment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Surgical resection </a:t>
            </a:r>
          </a:p>
          <a:p>
            <a:pPr eaLnBrk="1" hangingPunct="1"/>
            <a:r>
              <a:rPr lang="en-US" altLang="en-US"/>
              <a:t>Chemotherapy </a:t>
            </a:r>
          </a:p>
        </p:txBody>
      </p:sp>
      <p:sp>
        <p:nvSpPr>
          <p:cNvPr id="6349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E21A19-3F82-41A4-8313-8721CA712537}" type="slidenum">
              <a:rPr lang="en-US" altLang="en-US" sz="1600">
                <a:solidFill>
                  <a:srgbClr val="DFE0D4"/>
                </a:solidFill>
              </a:rPr>
              <a:t>49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4610">
              <a:defRPr/>
            </a:pPr>
            <a:r>
              <a:rPr lang="en-US" dirty="0"/>
              <a:t>Retinoblastoma</a:t>
            </a: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dirty="0"/>
              <a:t>Malignant, congenital tumor of the retina of the eye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400" dirty="0"/>
          </a:p>
          <a:p>
            <a:pPr eaLnBrk="1" hangingPunct="1"/>
            <a:r>
              <a:rPr lang="en-US" altLang="en-US" sz="2400" dirty="0"/>
              <a:t>Two percent of all </a:t>
            </a:r>
            <a:r>
              <a:rPr lang="en-US" altLang="en-US" sz="2400" dirty="0" err="1"/>
              <a:t>neoplasias</a:t>
            </a:r>
            <a:r>
              <a:rPr lang="en-US" altLang="en-US" sz="2400" dirty="0"/>
              <a:t> in childhood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400" dirty="0"/>
          </a:p>
          <a:p>
            <a:pPr eaLnBrk="1" hangingPunct="1"/>
            <a:r>
              <a:rPr lang="en-US" altLang="en-US" sz="2400" dirty="0"/>
              <a:t>Median age at diagnosis: 2 years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400" dirty="0"/>
          </a:p>
          <a:p>
            <a:pPr eaLnBrk="1" hangingPunct="1"/>
            <a:r>
              <a:rPr lang="en-US" altLang="en-US" sz="2400" dirty="0"/>
              <a:t>Bilateral involvement in 20–30% of cases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400" dirty="0"/>
          </a:p>
          <a:p>
            <a:pPr eaLnBrk="1" hangingPunct="1"/>
            <a:r>
              <a:rPr lang="en-US" altLang="en-US" sz="2400" dirty="0"/>
              <a:t>Hereditary and acquired forms</a:t>
            </a:r>
            <a:endParaRPr lang="en-US" altLang="en-US" sz="2000" dirty="0"/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2000" dirty="0"/>
          </a:p>
        </p:txBody>
      </p:sp>
      <p:sp>
        <p:nvSpPr>
          <p:cNvPr id="6451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6006977-C57E-48EF-B4C7-4DE7312F8A64}" type="slidenum">
              <a:rPr lang="en-US" altLang="en-US" sz="1600">
                <a:solidFill>
                  <a:srgbClr val="DFE0D4"/>
                </a:solidFill>
              </a:rPr>
              <a:t>50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>
            <a:normAutofit fontScale="90000"/>
          </a:bodyPr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DIAGNOSIS</a:t>
            </a:r>
            <a:b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endParaRPr lang="en-US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 err="1"/>
              <a:t>Leukokoria</a:t>
            </a:r>
            <a:r>
              <a:rPr lang="en-US" altLang="en-US" sz="2000" dirty="0"/>
              <a:t> (“cat’s eye” reflex),Strabismus ,</a:t>
            </a:r>
            <a:r>
              <a:rPr lang="en-US" altLang="en-US" sz="2000" dirty="0" err="1"/>
              <a:t>Anisocoria</a:t>
            </a:r>
            <a:r>
              <a:rPr lang="en-US" altLang="en-US" sz="2000" dirty="0"/>
              <a:t> ,Loss of vision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2000" dirty="0" err="1"/>
              <a:t>Fundoscopy</a:t>
            </a:r>
            <a:r>
              <a:rPr lang="en-US" altLang="en-US" sz="2000" dirty="0"/>
              <a:t> :tumor mostly present 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2000" dirty="0"/>
              <a:t> Ultrasound, computed tomography (CT) or magnetic resonance imaging (MRI) </a:t>
            </a:r>
          </a:p>
        </p:txBody>
      </p:sp>
      <p:sp>
        <p:nvSpPr>
          <p:cNvPr id="6554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6C0D4A-43A4-4235-815B-50847E07892B}" type="slidenum">
              <a:rPr lang="en-US" altLang="en-US" sz="1600">
                <a:solidFill>
                  <a:srgbClr val="DFE0D4"/>
                </a:solidFill>
              </a:rPr>
              <a:t>51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Treatment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Chemotherapy</a:t>
            </a:r>
          </a:p>
          <a:p>
            <a:pPr eaLnBrk="1" hangingPunct="1"/>
            <a:r>
              <a:rPr lang="en-US" altLang="en-US" sz="2000"/>
              <a:t>Surery:Enucleation</a:t>
            </a:r>
          </a:p>
          <a:p>
            <a:pPr eaLnBrk="1" hangingPunct="1"/>
            <a:r>
              <a:rPr lang="en-US" altLang="en-US" sz="2000"/>
              <a:t> Retinoblastoma is highly radiosensitive</a:t>
            </a:r>
          </a:p>
          <a:p>
            <a:pPr marL="457200" lvl="1" indent="0">
              <a:buNone/>
            </a:pPr>
            <a:endParaRPr lang="en-US" altLang="en-US" sz="2000"/>
          </a:p>
        </p:txBody>
      </p:sp>
      <p:sp>
        <p:nvSpPr>
          <p:cNvPr id="6656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1719924-56AD-46A4-97A1-7EE96AD0EE3C}" type="slidenum">
              <a:rPr lang="en-US" altLang="en-US" sz="1600">
                <a:solidFill>
                  <a:srgbClr val="DFE0D4"/>
                </a:solidFill>
              </a:rPr>
              <a:t>52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0488" tIns="44450" rIns="90488" bIns="44450" rtlCol="0" anchor="ctr">
            <a:normAutofit/>
          </a:bodyPr>
          <a:lstStyle/>
          <a:p>
            <a:pPr marL="54610">
              <a:defRPr/>
            </a:pPr>
            <a:r>
              <a:rPr lang="en-US" dirty="0"/>
              <a:t>BRAIN TUMORS</a:t>
            </a:r>
            <a:r>
              <a:rPr lang="en-US" dirty="0">
                <a:solidFill>
                  <a:srgbClr val="FFFF00"/>
                </a:solidFill>
              </a:rPr>
              <a:t/>
            </a:r>
            <a:br>
              <a:rPr lang="en-US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602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0488" tIns="44450" rIns="90488" bIns="44450" rtlCol="0">
            <a:normAutofit/>
          </a:bodyPr>
          <a:lstStyle/>
          <a:p>
            <a:pPr eaLnBrk="1" hangingPunct="1">
              <a:buFontTx/>
              <a:buNone/>
              <a:defRPr/>
            </a:pPr>
            <a:r>
              <a:rPr lang="en-US" dirty="0">
                <a:solidFill>
                  <a:srgbClr val="FFFF00"/>
                </a:solidFill>
              </a:rPr>
              <a:t>    </a:t>
            </a:r>
          </a:p>
          <a:p>
            <a:pPr eaLnBrk="1" hangingPunct="1">
              <a:defRPr/>
            </a:pPr>
            <a:r>
              <a:rPr lang="en-US" sz="3000" dirty="0"/>
              <a:t>25-30% of cancer deaths</a:t>
            </a:r>
          </a:p>
          <a:p>
            <a:pPr eaLnBrk="1" hangingPunct="1">
              <a:defRPr/>
            </a:pPr>
            <a:r>
              <a:rPr lang="en-US" sz="2400" dirty="0"/>
              <a:t>Source of major morbidity</a:t>
            </a:r>
            <a:r>
              <a:rPr lang="en-US" dirty="0"/>
              <a:t> </a:t>
            </a:r>
          </a:p>
          <a:p>
            <a:pPr eaLnBrk="1" hangingPunct="1">
              <a:defRPr/>
            </a:pPr>
            <a:r>
              <a:rPr lang="en-US" dirty="0"/>
              <a:t>Classified as: </a:t>
            </a:r>
          </a:p>
          <a:p>
            <a:pPr lvl="1" eaLnBrk="1" hangingPunct="1">
              <a:defRPr/>
            </a:pPr>
            <a:r>
              <a:rPr lang="en-US" dirty="0"/>
              <a:t>Primary </a:t>
            </a:r>
          </a:p>
          <a:p>
            <a:pPr lvl="1" eaLnBrk="1" hangingPunct="1">
              <a:defRPr/>
            </a:pPr>
            <a:r>
              <a:rPr lang="en-US" dirty="0"/>
              <a:t>Secondary</a:t>
            </a:r>
          </a:p>
          <a:p>
            <a:pPr lvl="1" eaLnBrk="1" hangingPunct="1">
              <a:defRPr/>
            </a:pP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758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E3F762-4924-4BE8-9EA7-56027926038D}" type="slidenum">
              <a:rPr lang="en-US" altLang="en-US" sz="1600">
                <a:solidFill>
                  <a:srgbClr val="DFE0D4"/>
                </a:solidFill>
              </a:rPr>
              <a:t>53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Brain tumors 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US"/>
              <a:t>Neuronal/embryonal    non-neuronal     other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US"/>
              <a:t>                                       brain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US"/>
              <a:t>________________________________________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 sz="2400"/>
              <a:t>PNET</a:t>
            </a:r>
            <a:r>
              <a:rPr lang="en-US" altLang="en-US"/>
              <a:t>                         Glioma             P</a:t>
            </a:r>
            <a:r>
              <a:rPr lang="en-US" altLang="en-US" sz="2000"/>
              <a:t>ituitary</a:t>
            </a:r>
            <a:r>
              <a:rPr lang="en-US" altLang="en-US"/>
              <a:t> </a:t>
            </a:r>
            <a:r>
              <a:rPr lang="en-US" altLang="en-US" sz="2000"/>
              <a:t>adenomas</a:t>
            </a: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 sz="2000"/>
              <a:t>-Medulloblastoma                   -Astrocytoma            Craniopharyngioma</a:t>
            </a: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 sz="2000"/>
              <a:t>                                               -Oligodendroglioma    Germ cell tumors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-pineoblastoma                        -Mixed glial                 Hemangioma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                                               </a:t>
            </a:r>
            <a:r>
              <a:rPr lang="en-US" altLang="en-US"/>
              <a:t>Ependymoma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-Supratentorial PNET            </a:t>
            </a:r>
            <a:r>
              <a:rPr lang="en-US" altLang="en-US" sz="2400"/>
              <a:t>C</a:t>
            </a:r>
            <a:r>
              <a:rPr lang="en-US" altLang="en-US"/>
              <a:t>horoid plexus tumors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  ATRT                                     </a:t>
            </a:r>
            <a:r>
              <a:rPr lang="en-US" altLang="en-US" sz="2400"/>
              <a:t>M</a:t>
            </a:r>
            <a:r>
              <a:rPr lang="en-US" altLang="en-US"/>
              <a:t>eningioma</a:t>
            </a:r>
          </a:p>
          <a:p>
            <a:pPr eaLnBrk="1" hangingPunct="1">
              <a:buFontTx/>
              <a:buNone/>
            </a:pPr>
            <a:r>
              <a:rPr lang="en-US" altLang="en-US"/>
              <a:t>            </a:t>
            </a:r>
          </a:p>
        </p:txBody>
      </p:sp>
      <p:sp>
        <p:nvSpPr>
          <p:cNvPr id="6861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9246B21-7774-4F14-81B2-F6587DDB32CC}" type="slidenum">
              <a:rPr lang="en-US" altLang="en-US" sz="1600">
                <a:solidFill>
                  <a:srgbClr val="DFE0D4"/>
                </a:solidFill>
              </a:rPr>
              <a:t>54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7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4610">
              <a:defRPr/>
            </a:pPr>
            <a:endParaRPr lang="en-US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9637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CB91D23-C083-4900-B779-2B5D0DB266F1}" type="slidenum">
              <a:rPr lang="en-US" altLang="en-US" sz="1600">
                <a:solidFill>
                  <a:srgbClr val="DFE0D4"/>
                </a:solidFill>
              </a:rPr>
              <a:t>55</a:t>
            </a:fld>
            <a:endParaRPr lang="en-US" altLang="en-US" sz="1600">
              <a:solidFill>
                <a:srgbClr val="DFE0D4"/>
              </a:solidFill>
            </a:endParaRPr>
          </a:p>
        </p:txBody>
      </p:sp>
      <p:pic>
        <p:nvPicPr>
          <p:cNvPr id="69636" name="Picture 1" descr="weitzman Mar 22 2010000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-152400"/>
            <a:ext cx="12192000" cy="754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066800"/>
          </a:xfrm>
        </p:spPr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Infratentorial tumors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295400"/>
            <a:ext cx="77724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Medulloblastoma                       20%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Cerebellar astrocytoma              15%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IVth ventricular ependymoma    10%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 Brain stem glioma                      10%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Other - astrocytoma, 4th ventricular choroid plexus tumors </a:t>
            </a: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AAA0F9-BCDB-47F5-BC5E-92318D5530B9}" type="slidenum">
              <a:rPr lang="en-US" altLang="en-US" sz="1600">
                <a:solidFill>
                  <a:srgbClr val="DFE0D4"/>
                </a:solidFill>
              </a:rPr>
              <a:t>56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 S +S Infratentorial tumors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endParaRPr lang="en-US" sz="20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000" dirty="0" err="1"/>
              <a:t>IVth</a:t>
            </a:r>
            <a:r>
              <a:rPr lang="en-US" sz="2000" dirty="0"/>
              <a:t> ventricle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2000" dirty="0"/>
              <a:t> 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2000" dirty="0"/>
              <a:t>     early intracranial hypertension</a:t>
            </a:r>
          </a:p>
          <a:p>
            <a:pPr>
              <a:spcBef>
                <a:spcPts val="0"/>
              </a:spcBef>
              <a:buNone/>
              <a:defRPr/>
            </a:pPr>
            <a:endParaRPr lang="en-US" sz="2000" dirty="0"/>
          </a:p>
          <a:p>
            <a:pPr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000" dirty="0"/>
              <a:t>Cerebellum and cerebellar </a:t>
            </a:r>
            <a:r>
              <a:rPr lang="en-US" sz="2000" dirty="0" err="1"/>
              <a:t>vermis</a:t>
            </a:r>
            <a:endParaRPr lang="en-US" sz="2000" dirty="0"/>
          </a:p>
          <a:p>
            <a:pPr>
              <a:spcBef>
                <a:spcPts val="0"/>
              </a:spcBef>
              <a:buNone/>
              <a:defRPr/>
            </a:pPr>
            <a:r>
              <a:rPr lang="en-US" sz="2000" dirty="0"/>
              <a:t>  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2000" dirty="0"/>
              <a:t>     ataxia, tremor, past pointing , </a:t>
            </a:r>
            <a:r>
              <a:rPr lang="en-US" sz="2000" dirty="0" err="1"/>
              <a:t>nystagmus</a:t>
            </a:r>
            <a:r>
              <a:rPr lang="en-US" sz="2000" dirty="0"/>
              <a:t> , dysarthria</a:t>
            </a:r>
          </a:p>
          <a:p>
            <a:pPr>
              <a:spcBef>
                <a:spcPts val="0"/>
              </a:spcBef>
              <a:buNone/>
              <a:defRPr/>
            </a:pPr>
            <a:endParaRPr lang="en-US" sz="2000" dirty="0"/>
          </a:p>
          <a:p>
            <a:pPr>
              <a:lnSpc>
                <a:spcPct val="60000"/>
              </a:lnSpc>
              <a:spcBef>
                <a:spcPts val="0"/>
              </a:spcBef>
              <a:buFont typeface="Wingdings 2" panose="05020102010507070707"/>
              <a:buChar char=""/>
              <a:defRPr/>
            </a:pPr>
            <a:r>
              <a:rPr lang="en-US" sz="2000" dirty="0"/>
              <a:t>Brain stem</a:t>
            </a:r>
          </a:p>
          <a:p>
            <a:pPr>
              <a:lnSpc>
                <a:spcPct val="60000"/>
              </a:lnSpc>
              <a:spcBef>
                <a:spcPts val="0"/>
              </a:spcBef>
              <a:buNone/>
              <a:defRPr/>
            </a:pPr>
            <a:r>
              <a:rPr lang="en-US" sz="2000" dirty="0"/>
              <a:t> 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buNone/>
              <a:defRPr/>
            </a:pPr>
            <a:r>
              <a:rPr lang="en-US" sz="2000" dirty="0"/>
              <a:t>      -cranial nerve palsy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buNone/>
              <a:defRPr/>
            </a:pPr>
            <a:r>
              <a:rPr lang="en-US" sz="2000" dirty="0"/>
              <a:t>  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buNone/>
              <a:defRPr/>
            </a:pPr>
            <a:r>
              <a:rPr lang="en-US" sz="2000" dirty="0"/>
              <a:t>      -long tracts --motor, sensory 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buNone/>
              <a:defRPr/>
            </a:pPr>
            <a:endParaRPr lang="en-US" sz="2000" dirty="0"/>
          </a:p>
          <a:p>
            <a:pPr marL="0" indent="0">
              <a:lnSpc>
                <a:spcPct val="60000"/>
              </a:lnSpc>
              <a:spcBef>
                <a:spcPts val="0"/>
              </a:spcBef>
              <a:buNone/>
              <a:defRPr/>
            </a:pPr>
            <a:r>
              <a:rPr lang="en-US" sz="2000" dirty="0"/>
              <a:t>     -</a:t>
            </a:r>
            <a:r>
              <a:rPr lang="en-US" sz="2000" dirty="0">
                <a:solidFill>
                  <a:srgbClr val="FF0000"/>
                </a:solidFill>
              </a:rPr>
              <a:t>conjugate eye movement </a:t>
            </a:r>
          </a:p>
          <a:p>
            <a:pPr marL="0" indent="0">
              <a:lnSpc>
                <a:spcPct val="60000"/>
              </a:lnSpc>
              <a:spcBef>
                <a:spcPts val="0"/>
              </a:spcBef>
              <a:buNone/>
              <a:defRPr/>
            </a:pPr>
            <a:r>
              <a:rPr lang="en-US" sz="2000" dirty="0"/>
              <a:t>        </a:t>
            </a:r>
          </a:p>
        </p:txBody>
      </p:sp>
      <p:sp>
        <p:nvSpPr>
          <p:cNvPr id="7168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4CD28C-D2BF-45EB-BAC7-23B819FA81FE}" type="slidenum">
              <a:rPr lang="en-US" altLang="en-US" sz="1600">
                <a:solidFill>
                  <a:srgbClr val="DFE0D4"/>
                </a:solidFill>
              </a:rPr>
              <a:t>57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4610">
              <a:defRPr/>
            </a:pPr>
            <a:r>
              <a:rPr lang="en-US" dirty="0" err="1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Suprasellar</a:t>
            </a:r>
            <a:r>
              <a:rPr lang="en-US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 tumors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Optic chiasm gliomas  (low grade) NF1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Thalamic and hypothalamic gliomas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                                            (more low grade)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Craniopharyngioma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Germinoma and mixed germ cell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Pituitary adenomas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Arising from sella --Ewings,osteosarcoma. lymphoma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  <p:sp>
        <p:nvSpPr>
          <p:cNvPr id="7270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7752A-9A13-41C5-A047-653B49BC2AD4}" type="slidenum">
              <a:rPr lang="en-US" altLang="en-US" sz="1600">
                <a:solidFill>
                  <a:srgbClr val="DFE0D4"/>
                </a:solidFill>
              </a:rPr>
              <a:t>58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S+ S Suprasellar tumors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 optic pathway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         --visual loss, visual field loss -hemianopia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Hypothalamus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            --temperature regulation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           --satiety ( appetite)  morbid obesity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           --mood swings 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Thalamus and 3rd ventricle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            -long tract signs , </a:t>
            </a:r>
            <a:r>
              <a:rPr lang="en-US" altLang="en-US">
                <a:sym typeface="Wingdings" panose="05000000000000000000" pitchFamily="2" charset="2"/>
              </a:rPr>
              <a:t> ICP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ym typeface="Wingdings" panose="05000000000000000000" pitchFamily="2" charset="2"/>
              </a:rPr>
              <a:t>Anterior and post pituitary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sym typeface="Wingdings" panose="05000000000000000000" pitchFamily="2" charset="2"/>
              </a:rPr>
              <a:t>          -- diabetes insipidus, growth, thyroid, precocious or delayed puberty</a:t>
            </a:r>
          </a:p>
        </p:txBody>
      </p:sp>
      <p:sp>
        <p:nvSpPr>
          <p:cNvPr id="7373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81526CB-9B83-4F1D-8A0C-E544009069C9}" type="slidenum">
              <a:rPr lang="en-US" altLang="en-US" sz="1600">
                <a:solidFill>
                  <a:srgbClr val="DFE0D4"/>
                </a:solidFill>
              </a:rPr>
              <a:t>59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3536"/>
            <a:ext cx="8229600" cy="1143000"/>
          </a:xfrm>
        </p:spPr>
        <p:txBody>
          <a:bodyPr/>
          <a:lstStyle/>
          <a:p>
            <a:pPr marL="54610">
              <a:defRPr/>
            </a:pPr>
            <a:r>
              <a:rPr lang="en-US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Brain tumor therapy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Surgery 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Chemotherapy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Radiation therapy</a:t>
            </a:r>
          </a:p>
        </p:txBody>
      </p:sp>
      <p:sp>
        <p:nvSpPr>
          <p:cNvPr id="7475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892E6A-21E7-409F-9ADA-A43CF8F1FFF5}" type="slidenum">
              <a:rPr lang="en-US" altLang="en-US" sz="1600">
                <a:solidFill>
                  <a:srgbClr val="DFE0D4"/>
                </a:solidFill>
              </a:rPr>
              <a:t>60</a:t>
            </a:fld>
            <a:endParaRPr lang="en-US" altLang="en-US" sz="1600">
              <a:solidFill>
                <a:srgbClr val="DFE0D4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</TotalTime>
  <Words>1965</Words>
  <Application>Microsoft Office PowerPoint</Application>
  <PresentationFormat>Widescreen</PresentationFormat>
  <Paragraphs>598</Paragraphs>
  <Slides>61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4" baseType="lpstr">
      <vt:lpstr>MS PGothic</vt:lpstr>
      <vt:lpstr>Arial</vt:lpstr>
      <vt:lpstr>Calibri</vt:lpstr>
      <vt:lpstr>Century Gothic</vt:lpstr>
      <vt:lpstr>Gill Sans MT</vt:lpstr>
      <vt:lpstr>Majalla UI</vt:lpstr>
      <vt:lpstr>Tahoma</vt:lpstr>
      <vt:lpstr>Times New Roman</vt:lpstr>
      <vt:lpstr>Wingdings</vt:lpstr>
      <vt:lpstr>Wingdings 2</vt:lpstr>
      <vt:lpstr>Wingdings 3</vt:lpstr>
      <vt:lpstr>Ion</vt:lpstr>
      <vt:lpstr>Document</vt:lpstr>
      <vt:lpstr>CHILDHOOD SOLID TUMORs</vt:lpstr>
      <vt:lpstr>Cancer Types by Age Group</vt:lpstr>
      <vt:lpstr>Major Cancer Types in Children</vt:lpstr>
      <vt:lpstr>Mesenchymal tumors</vt:lpstr>
      <vt:lpstr>Pediatric soft tissue sarcomas</vt:lpstr>
      <vt:lpstr>Rhabdomyosarcoma</vt:lpstr>
      <vt:lpstr>Rhabdomyosarcoma -  Epidemiology</vt:lpstr>
      <vt:lpstr>Rhabdomyosarcoma -  Epidemiology</vt:lpstr>
      <vt:lpstr>Rhabdomyosarcoma- Clinical Presentations</vt:lpstr>
      <vt:lpstr>PowerPoint Presentation</vt:lpstr>
      <vt:lpstr>RMS – Clinical Presentation is Site Dependent</vt:lpstr>
      <vt:lpstr>PowerPoint Presentation</vt:lpstr>
      <vt:lpstr>PowerPoint Presentation</vt:lpstr>
      <vt:lpstr>Rhabdomyosarcoma – Approach to Diagnosis and Staging</vt:lpstr>
      <vt:lpstr>Rhabdomyosarcoma - Pathology</vt:lpstr>
      <vt:lpstr>Small round blue cell tumors</vt:lpstr>
      <vt:lpstr>Small round blue cell tumors Immunohistochemistry</vt:lpstr>
      <vt:lpstr>Staging</vt:lpstr>
      <vt:lpstr>Rhabdomyosarcoma - Treatment</vt:lpstr>
      <vt:lpstr>Pediatric Cancer as a Systemic Illness – The rule and the exceptions</vt:lpstr>
      <vt:lpstr>MALIGNANT BONE TUMORS</vt:lpstr>
      <vt:lpstr>PowerPoint Presentation</vt:lpstr>
      <vt:lpstr>PowerPoint Presentation</vt:lpstr>
      <vt:lpstr>PowerPoint Presentation</vt:lpstr>
      <vt:lpstr>Bone Tumors in Children</vt:lpstr>
      <vt:lpstr>PowerPoint Presentation</vt:lpstr>
      <vt:lpstr>Bone Tumors Treatment</vt:lpstr>
      <vt:lpstr> Neuroblastoma</vt:lpstr>
      <vt:lpstr>Local Symptoms and Classic Signs</vt:lpstr>
      <vt:lpstr> Signs and Symptoms </vt:lpstr>
      <vt:lpstr> </vt:lpstr>
      <vt:lpstr> Diagnostic Work-up</vt:lpstr>
      <vt:lpstr>Microscopic Features </vt:lpstr>
      <vt:lpstr>International neuroblastoma staging system</vt:lpstr>
      <vt:lpstr>Therapy</vt:lpstr>
      <vt:lpstr>Nephroblastoma (Wilm’s Tumor)</vt:lpstr>
      <vt:lpstr>Association </vt:lpstr>
      <vt:lpstr>Clinical Manifestations </vt:lpstr>
      <vt:lpstr>Microscopic features </vt:lpstr>
      <vt:lpstr>Laboratory Diagnosis </vt:lpstr>
      <vt:lpstr>Wilms’ tumor - Staging</vt:lpstr>
      <vt:lpstr>Therapy</vt:lpstr>
      <vt:lpstr>Germ cell tumors </vt:lpstr>
      <vt:lpstr>GCT</vt:lpstr>
      <vt:lpstr>Treatment</vt:lpstr>
      <vt:lpstr>   Malignant liver masses</vt:lpstr>
      <vt:lpstr>Hepatoblastoma </vt:lpstr>
      <vt:lpstr>Lab</vt:lpstr>
      <vt:lpstr>Treatment</vt:lpstr>
      <vt:lpstr>Retinoblastoma</vt:lpstr>
      <vt:lpstr>DIAGNOSIS </vt:lpstr>
      <vt:lpstr>Treatment</vt:lpstr>
      <vt:lpstr>BRAIN TUMORS </vt:lpstr>
      <vt:lpstr>Brain tumors </vt:lpstr>
      <vt:lpstr>PowerPoint Presentation</vt:lpstr>
      <vt:lpstr>Infratentorial tumors</vt:lpstr>
      <vt:lpstr> S +S Infratentorial tumors</vt:lpstr>
      <vt:lpstr>Suprasellar tumors</vt:lpstr>
      <vt:lpstr>S+ S Suprasellar tumors</vt:lpstr>
      <vt:lpstr>Brain tumor therapy</vt:lpstr>
      <vt:lpstr>THE END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PANCYTOPENIA</dc:title>
  <dc:creator>Windows User</dc:creator>
  <cp:lastModifiedBy>God is good</cp:lastModifiedBy>
  <cp:revision>172</cp:revision>
  <dcterms:created xsi:type="dcterms:W3CDTF">2022-02-26T17:03:00Z</dcterms:created>
  <dcterms:modified xsi:type="dcterms:W3CDTF">2024-10-31T18:05:20Z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7A5128DE283E4B5F85233CC867B5310E</vt:lpwstr>
  </property>
  <property fmtid="{D5CDD505-2E9C-101B-9397-08002B2CF9AE}" pid="3" name="KSOProductBuildVer">
    <vt:lpwstr>1033-11.2.0.11254</vt:lpwstr>
  </property>
</Properties>
</file>