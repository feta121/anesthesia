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8"/>
  </p:notesMasterIdLst>
  <p:sldIdLst>
    <p:sldId id="256" r:id="rId2"/>
    <p:sldId id="257" r:id="rId3"/>
    <p:sldId id="258" r:id="rId4"/>
    <p:sldId id="268" r:id="rId5"/>
    <p:sldId id="269" r:id="rId6"/>
    <p:sldId id="271" r:id="rId7"/>
    <p:sldId id="273" r:id="rId8"/>
    <p:sldId id="274" r:id="rId9"/>
    <p:sldId id="275" r:id="rId10"/>
    <p:sldId id="276" r:id="rId11"/>
    <p:sldId id="277" r:id="rId12"/>
    <p:sldId id="278" r:id="rId13"/>
    <p:sldId id="279" r:id="rId14"/>
    <p:sldId id="280" r:id="rId15"/>
    <p:sldId id="298" r:id="rId16"/>
    <p:sldId id="281" r:id="rId17"/>
    <p:sldId id="282" r:id="rId18"/>
    <p:sldId id="283" r:id="rId19"/>
    <p:sldId id="284" r:id="rId20"/>
    <p:sldId id="285" r:id="rId21"/>
    <p:sldId id="286" r:id="rId22"/>
    <p:sldId id="287" r:id="rId23"/>
    <p:sldId id="288" r:id="rId24"/>
    <p:sldId id="289" r:id="rId25"/>
    <p:sldId id="290" r:id="rId26"/>
    <p:sldId id="291" r:id="rId27"/>
    <p:sldId id="292" r:id="rId28"/>
    <p:sldId id="293" r:id="rId29"/>
    <p:sldId id="295" r:id="rId30"/>
    <p:sldId id="296" r:id="rId31"/>
    <p:sldId id="299" r:id="rId32"/>
    <p:sldId id="316" r:id="rId33"/>
    <p:sldId id="317" r:id="rId34"/>
    <p:sldId id="259" r:id="rId35"/>
    <p:sldId id="260" r:id="rId36"/>
    <p:sldId id="261" r:id="rId37"/>
    <p:sldId id="318" r:id="rId38"/>
    <p:sldId id="262" r:id="rId39"/>
    <p:sldId id="263" r:id="rId40"/>
    <p:sldId id="264" r:id="rId41"/>
    <p:sldId id="265" r:id="rId42"/>
    <p:sldId id="266" r:id="rId43"/>
    <p:sldId id="267" r:id="rId44"/>
    <p:sldId id="319" r:id="rId45"/>
    <p:sldId id="320" r:id="rId46"/>
    <p:sldId id="321" r:id="rId47"/>
    <p:sldId id="270" r:id="rId48"/>
    <p:sldId id="322" r:id="rId49"/>
    <p:sldId id="272" r:id="rId50"/>
    <p:sldId id="323" r:id="rId51"/>
    <p:sldId id="324" r:id="rId52"/>
    <p:sldId id="325" r:id="rId53"/>
    <p:sldId id="326" r:id="rId54"/>
    <p:sldId id="327" r:id="rId55"/>
    <p:sldId id="328" r:id="rId56"/>
    <p:sldId id="329" r:id="rId57"/>
    <p:sldId id="330" r:id="rId58"/>
    <p:sldId id="331" r:id="rId59"/>
    <p:sldId id="332" r:id="rId60"/>
    <p:sldId id="333" r:id="rId61"/>
    <p:sldId id="334" r:id="rId62"/>
    <p:sldId id="335" r:id="rId63"/>
    <p:sldId id="336" r:id="rId64"/>
    <p:sldId id="337" r:id="rId65"/>
    <p:sldId id="338" r:id="rId66"/>
    <p:sldId id="339" r:id="rId67"/>
    <p:sldId id="340" r:id="rId68"/>
    <p:sldId id="341" r:id="rId69"/>
    <p:sldId id="342" r:id="rId70"/>
    <p:sldId id="343" r:id="rId71"/>
    <p:sldId id="346" r:id="rId72"/>
    <p:sldId id="349" r:id="rId73"/>
    <p:sldId id="313" r:id="rId74"/>
    <p:sldId id="314" r:id="rId75"/>
    <p:sldId id="315" r:id="rId76"/>
    <p:sldId id="297"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User" initials="WU" lastIdx="12" clrIdx="0">
    <p:extLst>
      <p:ext uri="{19B8F6BF-5375-455C-9EA6-DF929625EA0E}">
        <p15:presenceInfo xmlns:p15="http://schemas.microsoft.com/office/powerpoint/2012/main" userId="Windows User" providerId="None"/>
      </p:ext>
    </p:extLst>
  </p:cmAuthor>
  <p:cmAuthor id="2" name="HP" initials="H" lastIdx="1" clrIdx="1">
    <p:extLst>
      <p:ext uri="{19B8F6BF-5375-455C-9EA6-DF929625EA0E}">
        <p15:presenceInfo xmlns:p15="http://schemas.microsoft.com/office/powerpoint/2012/main" userId="HP"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1"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charts/_rels/chart1.xml.rels><?xml version="1.0" encoding="UTF-8" standalone="yes"?>
<Relationships xmlns="http://schemas.openxmlformats.org/package/2006/relationships"><Relationship Id="rId2" Type="http://schemas.openxmlformats.org/officeDocument/2006/relationships/oleObject" Target="file:///C:\Users\mkinney\Desktop\Save%20the%20Children\Data\U5%20and%20Neonatal%20data\Cause%20of%20death%20time%20series\ethiopia%20COD%202012.xlsx" TargetMode="External"/><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ser>
          <c:idx val="0"/>
          <c:order val="0"/>
          <c:spPr>
            <a:ln>
              <a:noFill/>
            </a:ln>
          </c:spPr>
          <c:dPt>
            <c:idx val="0"/>
            <c:bubble3D val="0"/>
            <c:spPr>
              <a:solidFill>
                <a:srgbClr val="FFC000"/>
              </a:solidFill>
              <a:ln>
                <a:noFill/>
              </a:ln>
            </c:spPr>
            <c:extLst>
              <c:ext xmlns:c16="http://schemas.microsoft.com/office/drawing/2014/chart" uri="{C3380CC4-5D6E-409C-BE32-E72D297353CC}">
                <c16:uniqueId val="{00000001-770B-421A-AC6A-2EB0062ADE79}"/>
              </c:ext>
            </c:extLst>
          </c:dPt>
          <c:dPt>
            <c:idx val="1"/>
            <c:bubble3D val="0"/>
            <c:spPr>
              <a:solidFill>
                <a:srgbClr val="339966"/>
              </a:solidFill>
              <a:ln>
                <a:noFill/>
              </a:ln>
            </c:spPr>
            <c:extLst>
              <c:ext xmlns:c16="http://schemas.microsoft.com/office/drawing/2014/chart" uri="{C3380CC4-5D6E-409C-BE32-E72D297353CC}">
                <c16:uniqueId val="{00000003-770B-421A-AC6A-2EB0062ADE79}"/>
              </c:ext>
            </c:extLst>
          </c:dPt>
          <c:dPt>
            <c:idx val="2"/>
            <c:bubble3D val="0"/>
            <c:spPr>
              <a:solidFill>
                <a:srgbClr val="008080"/>
              </a:solidFill>
              <a:ln>
                <a:noFill/>
              </a:ln>
            </c:spPr>
            <c:extLst>
              <c:ext xmlns:c16="http://schemas.microsoft.com/office/drawing/2014/chart" uri="{C3380CC4-5D6E-409C-BE32-E72D297353CC}">
                <c16:uniqueId val="{00000005-770B-421A-AC6A-2EB0062ADE79}"/>
              </c:ext>
            </c:extLst>
          </c:dPt>
          <c:dPt>
            <c:idx val="3"/>
            <c:bubble3D val="0"/>
            <c:spPr>
              <a:solidFill>
                <a:srgbClr val="3333CC"/>
              </a:solidFill>
              <a:ln>
                <a:noFill/>
              </a:ln>
            </c:spPr>
            <c:extLst>
              <c:ext xmlns:c16="http://schemas.microsoft.com/office/drawing/2014/chart" uri="{C3380CC4-5D6E-409C-BE32-E72D297353CC}">
                <c16:uniqueId val="{00000007-770B-421A-AC6A-2EB0062ADE79}"/>
              </c:ext>
            </c:extLst>
          </c:dPt>
          <c:dPt>
            <c:idx val="4"/>
            <c:bubble3D val="0"/>
            <c:spPr>
              <a:solidFill>
                <a:srgbClr val="9999FF"/>
              </a:solidFill>
              <a:ln>
                <a:noFill/>
              </a:ln>
            </c:spPr>
            <c:extLst>
              <c:ext xmlns:c16="http://schemas.microsoft.com/office/drawing/2014/chart" uri="{C3380CC4-5D6E-409C-BE32-E72D297353CC}">
                <c16:uniqueId val="{00000009-770B-421A-AC6A-2EB0062ADE79}"/>
              </c:ext>
            </c:extLst>
          </c:dPt>
          <c:dPt>
            <c:idx val="5"/>
            <c:bubble3D val="0"/>
            <c:spPr>
              <a:solidFill>
                <a:srgbClr val="FFCC99"/>
              </a:solidFill>
              <a:ln>
                <a:noFill/>
              </a:ln>
            </c:spPr>
            <c:extLst>
              <c:ext xmlns:c16="http://schemas.microsoft.com/office/drawing/2014/chart" uri="{C3380CC4-5D6E-409C-BE32-E72D297353CC}">
                <c16:uniqueId val="{0000000B-770B-421A-AC6A-2EB0062ADE79}"/>
              </c:ext>
            </c:extLst>
          </c:dPt>
          <c:dLbls>
            <c:dLbl>
              <c:idx val="1"/>
              <c:layout>
                <c:manualLayout>
                  <c:x val="0.142556654219755"/>
                  <c:y val="5.18014462800647E-3"/>
                </c:manualLayout>
              </c:layout>
              <c:dLblPos val="outEnd"/>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70B-421A-AC6A-2EB0062ADE79}"/>
                </c:ext>
              </c:extLst>
            </c:dLbl>
            <c:dLbl>
              <c:idx val="3"/>
              <c:layout>
                <c:manualLayout>
                  <c:x val="0.28008189711411102"/>
                  <c:y val="-0.142453977270178"/>
                </c:manualLayout>
              </c:layout>
              <c:tx>
                <c:rich>
                  <a:bodyPr/>
                  <a:lstStyle/>
                  <a:p>
                    <a:r>
                      <a:rPr lang="en-US" sz="1600" dirty="0"/>
                      <a:t>Preterm birth</a:t>
                    </a:r>
                    <a:r>
                      <a:rPr lang="en-US" sz="1600" baseline="0" dirty="0"/>
                      <a:t> complications</a:t>
                    </a:r>
                    <a:r>
                      <a:rPr lang="en-US" sz="1600" dirty="0"/>
                      <a:t> 37%</a:t>
                    </a:r>
                  </a:p>
                </c:rich>
              </c:tx>
              <c:dLblPos val="outEnd"/>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770B-421A-AC6A-2EB0062ADE79}"/>
                </c:ext>
              </c:extLst>
            </c:dLbl>
            <c:dLbl>
              <c:idx val="4"/>
              <c:tx>
                <c:rich>
                  <a:bodyPr/>
                  <a:lstStyle/>
                  <a:p>
                    <a:r>
                      <a:rPr lang="en-US" sz="1600" dirty="0" err="1"/>
                      <a:t>Intrapartum</a:t>
                    </a:r>
                    <a:r>
                      <a:rPr lang="en-US" sz="1600" dirty="0"/>
                      <a:t> related, 28%</a:t>
                    </a:r>
                  </a:p>
                </c:rich>
              </c:tx>
              <c:dLblPos val="outEnd"/>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770B-421A-AC6A-2EB0062ADE79}"/>
                </c:ext>
              </c:extLst>
            </c:dLbl>
            <c:dLbl>
              <c:idx val="5"/>
              <c:layout>
                <c:manualLayout>
                  <c:x val="-0.15429661397903"/>
                  <c:y val="-7.7702169420097496E-3"/>
                </c:manualLayout>
              </c:layout>
              <c:dLblPos val="outEnd"/>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B-770B-421A-AC6A-2EB0062ADE79}"/>
                </c:ext>
              </c:extLst>
            </c:dLbl>
            <c:spPr>
              <a:noFill/>
              <a:ln>
                <a:noFill/>
              </a:ln>
              <a:effectLst/>
            </c:spPr>
            <c:txPr>
              <a:bodyPr rot="0" spcFirstLastPara="0" vertOverflow="ellipsis" vert="horz" wrap="square" lIns="38100" tIns="19050" rIns="38100" bIns="19050" anchor="ctr" anchorCtr="1"/>
              <a:lstStyle/>
              <a:p>
                <a:pPr>
                  <a:defRPr lang="fi-FI" sz="1600" b="0" i="0" u="none" strike="noStrike" kern="1200" baseline="0">
                    <a:solidFill>
                      <a:schemeClr val="tx1"/>
                    </a:solidFill>
                    <a:latin typeface="+mn-lt"/>
                    <a:ea typeface="+mn-ea"/>
                    <a:cs typeface="+mn-cs"/>
                  </a:defRPr>
                </a:pPr>
                <a:endParaRPr lang="en-US"/>
              </a:p>
            </c:txPr>
            <c:dLblPos val="outEnd"/>
            <c:showLegendKey val="0"/>
            <c:showVal val="1"/>
            <c:showCatName val="1"/>
            <c:showSerName val="0"/>
            <c:showPercent val="0"/>
            <c:showBubbleSize val="0"/>
            <c:showLeaderLines val="1"/>
            <c:extLst>
              <c:ext xmlns:c15="http://schemas.microsoft.com/office/drawing/2012/chart" uri="{CE6537A1-D6FC-4f65-9D91-7224C49458BB}"/>
            </c:extLst>
          </c:dLbls>
          <c:cat>
            <c:strRef>
              <c:f>'[1]COD pie'!$B$4:$G$4</c:f>
              <c:strCache>
                <c:ptCount val="6"/>
                <c:pt idx="0">
                  <c:v>Diarrhoea</c:v>
                </c:pt>
                <c:pt idx="1">
                  <c:v>Other</c:v>
                </c:pt>
                <c:pt idx="2">
                  <c:v>Severe infection</c:v>
                </c:pt>
                <c:pt idx="3">
                  <c:v>Preterm</c:v>
                </c:pt>
                <c:pt idx="4">
                  <c:v>Intrapartum-related</c:v>
                </c:pt>
                <c:pt idx="5">
                  <c:v>Congenital</c:v>
                </c:pt>
              </c:strCache>
            </c:strRef>
          </c:cat>
          <c:val>
            <c:numRef>
              <c:f>'[2]COD pie'!$B$5:$G$5</c:f>
              <c:numCache>
                <c:formatCode>0\ %</c:formatCode>
                <c:ptCount val="6"/>
                <c:pt idx="0">
                  <c:v>0.01</c:v>
                </c:pt>
                <c:pt idx="1">
                  <c:v>4.0000000000000098E-2</c:v>
                </c:pt>
                <c:pt idx="2">
                  <c:v>0.24</c:v>
                </c:pt>
                <c:pt idx="3">
                  <c:v>0.37</c:v>
                </c:pt>
                <c:pt idx="4">
                  <c:v>0.28000000000000003</c:v>
                </c:pt>
                <c:pt idx="5">
                  <c:v>6.0000000000000102E-2</c:v>
                </c:pt>
              </c:numCache>
            </c:numRef>
          </c:val>
          <c:extLst>
            <c:ext xmlns:c16="http://schemas.microsoft.com/office/drawing/2014/chart" uri="{C3380CC4-5D6E-409C-BE32-E72D297353CC}">
              <c16:uniqueId val="{0000000C-770B-421A-AC6A-2EB0062ADE79}"/>
            </c:ext>
          </c:extLst>
        </c:ser>
        <c:dLbls>
          <c:showLegendKey val="0"/>
          <c:showVal val="0"/>
          <c:showCatName val="0"/>
          <c:showSerName val="0"/>
          <c:showPercent val="0"/>
          <c:showBubbleSize val="0"/>
          <c:showLeaderLines val="1"/>
        </c:dLbls>
        <c:firstSliceAng val="0"/>
      </c:pieChart>
    </c:plotArea>
    <c:plotVisOnly val="1"/>
    <c:dispBlanksAs val="zero"/>
    <c:showDLblsOverMax val="0"/>
  </c:chart>
  <c:txPr>
    <a:bodyPr/>
    <a:lstStyle/>
    <a:p>
      <a:pPr>
        <a:defRPr lang="en-US" sz="1600"/>
      </a:pPr>
      <a:endParaRPr lang="en-US"/>
    </a:p>
  </c:txPr>
  <c:externalData r:id="rId2">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C52B0C-DCDE-4755-8803-A6FEEFD4DF78}" type="datetimeFigureOut">
              <a:rPr lang="en-US" smtClean="0"/>
              <a:t>11/20/2024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AB2C55-FB8B-4A86-BD97-27F1FBBA8331}" type="slidenum">
              <a:rPr lang="en-US" smtClean="0"/>
              <a:t>‹#›</a:t>
            </a:fld>
            <a:endParaRPr lang="en-US"/>
          </a:p>
        </p:txBody>
      </p:sp>
    </p:spTree>
    <p:extLst>
      <p:ext uri="{BB962C8B-B14F-4D97-AF65-F5344CB8AC3E}">
        <p14:creationId xmlns:p14="http://schemas.microsoft.com/office/powerpoint/2010/main" val="2142467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AB2C55-FB8B-4A86-BD97-27F1FBBA8331}" type="slidenum">
              <a:rPr lang="en-US" smtClean="0"/>
              <a:t>2</a:t>
            </a:fld>
            <a:endParaRPr lang="en-US"/>
          </a:p>
        </p:txBody>
      </p:sp>
    </p:spTree>
    <p:extLst>
      <p:ext uri="{BB962C8B-B14F-4D97-AF65-F5344CB8AC3E}">
        <p14:creationId xmlns:p14="http://schemas.microsoft.com/office/powerpoint/2010/main" val="2661602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E227357-9F77-4A14-A6FF-6DF7F5A3F02E}" type="slidenum">
              <a:rPr lang="en-US" smtClean="0"/>
              <a:t>15</a:t>
            </a:fld>
            <a:endParaRPr lang="en-US"/>
          </a:p>
        </p:txBody>
      </p:sp>
      <p:sp>
        <p:nvSpPr>
          <p:cNvPr id="58371" name="Rectangle 2"/>
          <p:cNvSpPr>
            <a:spLocks noGrp="1" noRot="1" noChangeAspect="1" noChangeArrowheads="1" noTextEdit="1"/>
          </p:cNvSpPr>
          <p:nvPr>
            <p:ph type="sldImg"/>
          </p:nvPr>
        </p:nvSpPr>
        <p:spPr>
          <a:xfrm>
            <a:off x="381000" y="685800"/>
            <a:ext cx="6097588" cy="3430588"/>
          </a:xfrm>
        </p:spPr>
      </p:sp>
      <p:sp>
        <p:nvSpPr>
          <p:cNvPr id="583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r>
              <a:rPr lang="en-US" sz="1400">
                <a:latin typeface="Arial" panose="020B0604020202020204" pitchFamily="34" charset="0"/>
                <a:cs typeface="Arial" panose="020B0604020202020204" pitchFamily="34" charset="0"/>
              </a:rPr>
              <a:t>This graph is based on a systematic analysis of data from 2000-2010.  As can be seen, the three main causes of neonatal mortality accounting for about 90% of deaths are preterm birth, intrapartum causes and infections .  </a:t>
            </a:r>
          </a:p>
          <a:p>
            <a:pPr>
              <a:spcBef>
                <a:spcPct val="0"/>
              </a:spcBef>
            </a:pPr>
            <a:endParaRPr lang="en-US" sz="1400">
              <a:latin typeface="Arial" panose="020B0604020202020204" pitchFamily="34" charset="0"/>
              <a:cs typeface="Arial" panose="020B0604020202020204" pitchFamily="34" charset="0"/>
            </a:endParaRPr>
          </a:p>
          <a:p>
            <a:pPr>
              <a:spcBef>
                <a:spcPct val="0"/>
              </a:spcBef>
            </a:pPr>
            <a:r>
              <a:rPr lang="en-US" sz="1400">
                <a:latin typeface="Arial" panose="020B0604020202020204" pitchFamily="34" charset="0"/>
                <a:cs typeface="Arial" panose="020B0604020202020204" pitchFamily="34" charset="0"/>
              </a:rPr>
              <a:t>In the first half of 2000, infections accounted for 44% of newborn death in the country.</a:t>
            </a:r>
          </a:p>
          <a:p>
            <a:pPr>
              <a:spcBef>
                <a:spcPct val="0"/>
              </a:spcBef>
            </a:pPr>
            <a:endParaRPr lang="en-US" sz="1400">
              <a:latin typeface="Arial" panose="020B0604020202020204" pitchFamily="34" charset="0"/>
              <a:cs typeface="Arial" panose="020B0604020202020204" pitchFamily="34" charset="0"/>
            </a:endParaRPr>
          </a:p>
          <a:p>
            <a:pPr>
              <a:spcBef>
                <a:spcPct val="0"/>
              </a:spcBef>
            </a:pPr>
            <a:r>
              <a:rPr lang="en-US" sz="1400">
                <a:latin typeface="Arial" panose="020B0604020202020204" pitchFamily="34" charset="0"/>
                <a:cs typeface="Arial" panose="020B0604020202020204" pitchFamily="34" charset="0"/>
              </a:rPr>
              <a:t>Another underlying factor for high neonatal mortality is low birth weight.  According to the  2011 EDHS, an estimated 11% of newborns are low birth weight though this figure may underestimate the extent of the problem as most newborns are not weighed at birth due to low institutional delivery coverage [only 5% of newborns are weighed at birth].</a:t>
            </a:r>
          </a:p>
          <a:p>
            <a:pPr>
              <a:spcBef>
                <a:spcPct val="0"/>
              </a:spcBef>
            </a:pPr>
            <a:br>
              <a:rPr lang="en-US" sz="1400">
                <a:latin typeface="Arial" panose="020B0604020202020204" pitchFamily="34" charset="0"/>
                <a:cs typeface="Arial" panose="020B0604020202020204" pitchFamily="34" charset="0"/>
              </a:rPr>
            </a:br>
            <a:r>
              <a:rPr lang="en-US" sz="1400">
                <a:latin typeface="Arial" panose="020B0604020202020204" pitchFamily="34" charset="0"/>
                <a:cs typeface="Arial" panose="020B0604020202020204" pitchFamily="34" charset="0"/>
              </a:rPr>
              <a:t> </a:t>
            </a:r>
          </a:p>
          <a:p>
            <a:pPr>
              <a:spcBef>
                <a:spcPct val="0"/>
              </a:spcBef>
            </a:pPr>
            <a:endParaRPr lang="en-US" sz="1400">
              <a:latin typeface="Arial" panose="020B0604020202020204" pitchFamily="34" charset="0"/>
              <a:cs typeface="Arial" panose="020B0604020202020204" pitchFamily="34" charset="0"/>
            </a:endParaRPr>
          </a:p>
          <a:p>
            <a:pPr>
              <a:spcBef>
                <a:spcPct val="0"/>
              </a:spcBef>
            </a:pPr>
            <a:endParaRPr lang="en-US" sz="1400">
              <a:latin typeface="Arial" panose="020B0604020202020204" pitchFamily="34" charset="0"/>
              <a:cs typeface="Arial" panose="020B0604020202020204" pitchFamily="34" charset="0"/>
            </a:endParaRPr>
          </a:p>
          <a:p>
            <a:pPr>
              <a:spcBef>
                <a:spcPct val="0"/>
              </a:spcBef>
            </a:pPr>
            <a:endParaRPr lang="en-US" sz="1400">
              <a:latin typeface="Arial" panose="020B0604020202020204" pitchFamily="34" charset="0"/>
              <a:cs typeface="Arial" panose="020B0604020202020204" pitchFamily="34" charset="0"/>
            </a:endParaRPr>
          </a:p>
          <a:p>
            <a:pPr>
              <a:spcBef>
                <a:spcPct val="0"/>
              </a:spcBef>
            </a:pPr>
            <a:endParaRPr lang="en-GB" sz="1400">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p:sp>
      <p:sp>
        <p:nvSpPr>
          <p:cNvPr id="614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anose="020B0604020202020204" pitchFamily="34" charset="0"/>
              <a:cs typeface="Arial" panose="020B0604020202020204" pitchFamily="34" charset="0"/>
            </a:endParaRPr>
          </a:p>
        </p:txBody>
      </p:sp>
      <p:sp>
        <p:nvSpPr>
          <p:cNvPr id="6144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F21A3D7-A1D0-4336-8BCB-FAF1626AB88D}" type="slidenum">
              <a:rPr lang="en-US" smtClean="0"/>
              <a:t>17</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p:sp>
      <p:sp>
        <p:nvSpPr>
          <p:cNvPr id="6246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panose="020B0604020202020204" pitchFamily="34" charset="0"/>
                <a:cs typeface="Arial" panose="020B0604020202020204" pitchFamily="34" charset="0"/>
              </a:rPr>
              <a:t>Interventions that have narrow delivery channel and separate management, such as immunization, achieve high coverage, whereas those that require fuctional health system and facilities such as  sklled attendance and postnatal care reach barely half the population in need.</a:t>
            </a:r>
          </a:p>
        </p:txBody>
      </p:sp>
      <p:sp>
        <p:nvSpPr>
          <p:cNvPr id="62468"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0155716-B88C-44D6-B13A-3D2859BB6FB5}" type="slidenum">
              <a:rPr lang="en-US" smtClean="0"/>
              <a:t>28</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6F2D4CB8-F2C6-4BA9-BFD9-0D40C6F3C761}" type="slidenum">
              <a:rPr lang="en-US" smtClean="0"/>
              <a:pPr/>
              <a:t>31</a:t>
            </a:fld>
            <a:endParaRPr lang="en-US"/>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843863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6"/>
          <p:cNvSpPr>
            <a:spLocks noGrp="1" noChangeArrowheads="1"/>
          </p:cNvSpPr>
          <p:nvPr>
            <p:ph type="ftr" sz="quarter" idx="4"/>
          </p:nvPr>
        </p:nvSpPr>
        <p:spPr>
          <a:noFill/>
        </p:spPr>
        <p:txBody>
          <a:bodyPr/>
          <a:lstStyle/>
          <a:p>
            <a:r>
              <a:rPr lang="en-US"/>
              <a:t>mehretie k</a:t>
            </a:r>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2627889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C1A9250E-561D-4871-BDF1-3324117E66F4}" type="slidenum">
              <a:rPr lang="en-US" smtClean="0"/>
              <a:pPr/>
              <a:t>33</a:t>
            </a:fld>
            <a:endParaRPr lang="en-US"/>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6670006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fld id="{FA32C2AB-E1DC-45FC-9CF6-8B81CEB23ED5}" type="slidenum">
              <a:rPr lang="en-US" smtClean="0"/>
              <a:pPr/>
              <a:t>34</a:t>
            </a:fld>
            <a:endParaRPr lang="en-US"/>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6528779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EEE3CD11-0C75-498D-A57F-737984D59518}" type="slidenum">
              <a:rPr lang="en-US" smtClean="0"/>
              <a:pPr/>
              <a:t>36</a:t>
            </a:fld>
            <a:endParaRPr lang="en-US"/>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4451779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A6BF98E8-1841-4A12-88E9-63BC0C100B99}" type="slidenum">
              <a:rPr lang="en-US" smtClean="0"/>
              <a:pPr/>
              <a:t>38</a:t>
            </a:fld>
            <a:endParaRPr lang="en-US"/>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1591731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03CDDCB9-FCA3-40C9-B67F-F5B975ED7850}" type="slidenum">
              <a:rPr lang="en-US" smtClean="0"/>
              <a:pPr/>
              <a:t>39</a:t>
            </a:fld>
            <a:endParaRPr lang="en-US"/>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1891328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9AEA5BA4-0F30-4918-A807-0960AB8260D7}" type="slidenum">
              <a:rPr lang="en-US" smtClean="0"/>
              <a:pPr/>
              <a:t>40</a:t>
            </a:fld>
            <a:endParaRPr lang="en-US"/>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969927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77F53784-6168-4564-8968-1BE60EA26ABE}" type="slidenum">
              <a:rPr lang="en-US" smtClean="0"/>
              <a:pPr/>
              <a:t>42</a:t>
            </a:fld>
            <a:endParaRPr lang="en-US"/>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629585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517F1F9B-2346-427C-B51F-5EA18B96E8E0}" type="slidenum">
              <a:rPr lang="en-US" smtClean="0"/>
              <a:pPr/>
              <a:t>43</a:t>
            </a:fld>
            <a:endParaRPr lang="en-US"/>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1940777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6"/>
          <p:cNvSpPr>
            <a:spLocks noGrp="1" noChangeArrowheads="1"/>
          </p:cNvSpPr>
          <p:nvPr>
            <p:ph type="ftr" sz="quarter" idx="4"/>
          </p:nvPr>
        </p:nvSpPr>
        <p:spPr>
          <a:noFill/>
        </p:spPr>
        <p:txBody>
          <a:bodyPr/>
          <a:lstStyle/>
          <a:p>
            <a:r>
              <a:rPr lang="en-US"/>
              <a:t>mehretie k</a:t>
            </a: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9306318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D5B2A328-03FF-400F-B042-5E020EBC781F}" type="slidenum">
              <a:rPr lang="en-US" smtClean="0"/>
              <a:pPr/>
              <a:t>45</a:t>
            </a:fld>
            <a:endParaRPr lang="en-US"/>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8144634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1847E2D1-35FC-4332-B158-E3448BD07B9D}" type="slidenum">
              <a:rPr lang="en-US" smtClean="0"/>
              <a:pPr/>
              <a:t>46</a:t>
            </a:fld>
            <a:endParaRPr 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5340301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8F08A2C2-1B75-4DDA-B558-DD83D661E185}" type="slidenum">
              <a:rPr lang="en-US" smtClean="0"/>
              <a:pPr/>
              <a:t>47</a:t>
            </a:fld>
            <a:endParaRPr lang="en-US"/>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9546974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45F3B966-F3A0-4DAE-811F-413070D63BA9}" type="slidenum">
              <a:rPr lang="en-US" smtClean="0"/>
              <a:pPr/>
              <a:t>48</a:t>
            </a:fld>
            <a:endParaRPr lang="en-US"/>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6510261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1D7C418-B4B0-462A-AFD5-3F2E7B7EE1FE}" type="slidenum">
              <a:rPr lang="ar-SA"/>
              <a:pPr/>
              <a:t>49</a:t>
            </a:fld>
            <a:endParaRPr lang="en-US"/>
          </a:p>
        </p:txBody>
      </p:sp>
      <p:sp>
        <p:nvSpPr>
          <p:cNvPr id="13314" name="Rectangle 2"/>
          <p:cNvSpPr>
            <a:spLocks noGrp="1" noRot="1" noChangeAspect="1" noChangeArrowheads="1" noTextEdit="1"/>
          </p:cNvSpPr>
          <p:nvPr>
            <p:ph type="sldImg"/>
          </p:nvPr>
        </p:nvSpPr>
        <p:spPr>
          <a:ln/>
        </p:spPr>
      </p:sp>
      <p:sp>
        <p:nvSpPr>
          <p:cNvPr id="13315" name="Rectangle 3"/>
          <p:cNvSpPr>
            <a:spLocks noGrp="1" noChangeArrowheads="1"/>
          </p:cNvSpPr>
          <p:nvPr>
            <p:ph type="body" idx="1"/>
          </p:nvPr>
        </p:nvSpPr>
        <p:spPr/>
        <p:txBody>
          <a:bodyPr/>
          <a:lstStyle/>
          <a:p>
            <a:r>
              <a:rPr lang="en-US"/>
              <a:t>Newborn</a:t>
            </a:r>
          </a:p>
        </p:txBody>
      </p:sp>
    </p:spTree>
    <p:extLst>
      <p:ext uri="{BB962C8B-B14F-4D97-AF65-F5344CB8AC3E}">
        <p14:creationId xmlns:p14="http://schemas.microsoft.com/office/powerpoint/2010/main" val="28223013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E593A565-FF00-435A-82C3-AA1422D4C62E}" type="slidenum">
              <a:rPr lang="en-US" smtClean="0"/>
              <a:pPr/>
              <a:t>50</a:t>
            </a:fld>
            <a:endParaRPr lang="en-US"/>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0219903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5578429-BD40-4ACF-B2AB-8C65B2935320}" type="slidenum">
              <a:rPr lang="ar-SA"/>
              <a:pPr/>
              <a:t>52</a:t>
            </a:fld>
            <a:endParaRPr lang="en-US"/>
          </a:p>
        </p:txBody>
      </p:sp>
      <p:sp>
        <p:nvSpPr>
          <p:cNvPr id="12290" name="Rectangle 2"/>
          <p:cNvSpPr>
            <a:spLocks noGrp="1" noRot="1" noChangeAspect="1" noChangeArrowheads="1" noTextEdit="1"/>
          </p:cNvSpPr>
          <p:nvPr>
            <p:ph type="sldImg"/>
          </p:nvPr>
        </p:nvSpPr>
        <p:spPr>
          <a:ln/>
        </p:spPr>
      </p:sp>
      <p:sp>
        <p:nvSpPr>
          <p:cNvPr id="12291" name="Rectangle 3"/>
          <p:cNvSpPr>
            <a:spLocks noGrp="1" noChangeArrowheads="1"/>
          </p:cNvSpPr>
          <p:nvPr>
            <p:ph type="body" idx="1"/>
          </p:nvPr>
        </p:nvSpPr>
        <p:spPr/>
        <p:txBody>
          <a:bodyPr/>
          <a:lstStyle/>
          <a:p>
            <a:r>
              <a:rPr lang="en-US"/>
              <a:t>N</a:t>
            </a:r>
          </a:p>
        </p:txBody>
      </p:sp>
    </p:spTree>
    <p:extLst>
      <p:ext uri="{BB962C8B-B14F-4D97-AF65-F5344CB8AC3E}">
        <p14:creationId xmlns:p14="http://schemas.microsoft.com/office/powerpoint/2010/main" val="40109614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E0B08F05-C6E7-4393-BAFF-5EE6C3B6726B}" type="slidenum">
              <a:rPr lang="en-US" smtClean="0"/>
              <a:pPr/>
              <a:t>55</a:t>
            </a:fld>
            <a:endParaRPr 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2316502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113C610F-9A30-4C51-A103-766EEEC383D9}" type="slidenum">
              <a:rPr lang="en-US" smtClean="0"/>
              <a:pPr/>
              <a:t>57</a:t>
            </a:fld>
            <a:endParaRPr lang="en-US"/>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444605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975EFD57-1A3E-489E-9027-BF849538399D}" type="slidenum">
              <a:rPr lang="en-US" smtClean="0"/>
              <a:pPr/>
              <a:t>58</a:t>
            </a:fld>
            <a:endParaRPr lang="en-US"/>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345780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6951A757-DEC7-4D82-9198-5A0481679306}" type="slidenum">
              <a:rPr lang="en-US" smtClean="0"/>
              <a:pPr/>
              <a:t>60</a:t>
            </a:fld>
            <a:endParaRPr lang="en-US"/>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8603014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8D2A1739-3E84-40C0-9A34-13250BCA2436}" type="slidenum">
              <a:rPr lang="en-US" smtClean="0"/>
              <a:pPr/>
              <a:t>61</a:t>
            </a:fld>
            <a:endParaRPr lang="en-US"/>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5145938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24AEF1E3-8A03-40D7-B0E8-3CCAB658E621}" type="slidenum">
              <a:rPr lang="en-US" smtClean="0"/>
              <a:pPr/>
              <a:t>62</a:t>
            </a:fld>
            <a:endParaRPr lang="en-US"/>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7616982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4974DCF6-4A66-4BDC-8A09-3672449BBE03}" type="slidenum">
              <a:rPr lang="en-US" smtClean="0"/>
              <a:pPr/>
              <a:t>64</a:t>
            </a:fld>
            <a:endParaRPr lang="en-US"/>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5136522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2218275D-1D93-40C6-AAA3-CF64AA8E56EC}" type="slidenum">
              <a:rPr lang="en-US" smtClean="0"/>
              <a:pPr/>
              <a:t>70</a:t>
            </a:fld>
            <a:endParaRPr lang="en-US"/>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7870597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D018AC6F-8E76-45C0-B045-FA214533A1C1}" type="slidenum">
              <a:rPr lang="en-US" smtClean="0"/>
              <a:pPr/>
              <a:t>71</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9580717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6433D4A2-5721-4F33-9D29-5E4BDD070A28}" type="slidenum">
              <a:rPr lang="en-US" smtClean="0"/>
              <a:pPr/>
              <a:t>72</a:t>
            </a:fld>
            <a:endParaRPr lang="en-US"/>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6261256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942D5DDA-75BF-4A81-8261-EF7FF887B86B}" type="slidenum">
              <a:rPr lang="en-US" smtClean="0"/>
              <a:pPr/>
              <a:t>73</a:t>
            </a:fld>
            <a:endParaRPr lang="en-US"/>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6153936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7BCE5AC4-BB51-4C10-BD28-1BDEAA211B63}" type="slidenum">
              <a:rPr lang="en-US" smtClean="0"/>
              <a:pPr/>
              <a:t>75</a:t>
            </a:fld>
            <a:endParaRPr lang="en-US"/>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8583814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93497" y="1334128"/>
            <a:ext cx="7688705" cy="2055917"/>
          </a:xfrm>
          <a:solidFill>
            <a:srgbClr val="2163AB"/>
          </a:solidFill>
        </p:spPr>
        <p:txBody>
          <a:bodyPr anchor="b"/>
          <a:lstStyle>
            <a:lvl1pPr algn="ctr">
              <a:defRPr sz="60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2382692" y="3829409"/>
            <a:ext cx="7599509" cy="1567050"/>
          </a:xfrm>
        </p:spPr>
        <p:txBody>
          <a:bodyPr>
            <a:normAutofit/>
          </a:bodyPr>
          <a:lstStyle>
            <a:lvl1pPr marL="0" indent="0" algn="ctr">
              <a:buNone/>
              <a:defRPr sz="3800" baseline="0">
                <a:solidFill>
                  <a:schemeClr val="tx1"/>
                </a:solidFill>
                <a:latin typeface="Gotham"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6BE4B75-3B54-4A40-81C0-B6A5EC35FC50}" type="datetimeFigureOut">
              <a:rPr lang="en-US"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48D7C0-EF86-4549-BF06-FAB50D30C98D}" type="slidenum">
              <a:rPr lang="en-US" smtClean="0"/>
              <a:t>‹#›</a:t>
            </a:fld>
            <a:endParaRPr lang="en-US"/>
          </a:p>
        </p:txBody>
      </p:sp>
      <p:pic>
        <p:nvPicPr>
          <p:cNvPr id="7" name="Picture 6">
            <a:extLst>
              <a:ext uri="{FF2B5EF4-FFF2-40B4-BE49-F238E27FC236}">
                <a16:creationId xmlns:a16="http://schemas.microsoft.com/office/drawing/2014/main" id="{A1510541-2976-4C2D-9F7A-6DB360DCC37C}"/>
              </a:ext>
            </a:extLst>
          </p:cNvPr>
          <p:cNvPicPr>
            <a:picLocks noChangeAspect="1"/>
          </p:cNvPicPr>
          <p:nvPr/>
        </p:nvPicPr>
        <p:blipFill>
          <a:blip r:embed="rId2"/>
          <a:stretch>
            <a:fillRect/>
          </a:stretch>
        </p:blipFill>
        <p:spPr>
          <a:xfrm>
            <a:off x="9994099" y="1334127"/>
            <a:ext cx="2197903" cy="2906383"/>
          </a:xfrm>
          <a:prstGeom prst="rect">
            <a:avLst/>
          </a:prstGeom>
          <a:effectLst>
            <a:reflection endPos="0" dist="50800" dir="5400000" sy="-100000" algn="bl" rotWithShape="0"/>
          </a:effectLst>
        </p:spPr>
      </p:pic>
      <p:pic>
        <p:nvPicPr>
          <p:cNvPr id="8" name="Picture 7" descr="C:\Users\Newuser\Desktop\AAU.png"/>
          <p:cNvPicPr/>
          <p:nvPr/>
        </p:nvPicPr>
        <p:blipFill>
          <a:blip r:embed="rId3">
            <a:extLst>
              <a:ext uri="{28A0092B-C50C-407E-A947-70E740481C1C}">
                <a14:useLocalDpi xmlns:a14="http://schemas.microsoft.com/office/drawing/2010/main" val="0"/>
              </a:ext>
            </a:extLst>
          </a:blip>
          <a:srcRect/>
          <a:stretch>
            <a:fillRect/>
          </a:stretch>
        </p:blipFill>
        <p:spPr bwMode="auto">
          <a:xfrm>
            <a:off x="179883" y="1334127"/>
            <a:ext cx="1783831" cy="2055917"/>
          </a:xfrm>
          <a:prstGeom prst="rect">
            <a:avLst/>
          </a:prstGeom>
          <a:noFill/>
          <a:ln>
            <a:noFill/>
          </a:ln>
        </p:spPr>
      </p:pic>
    </p:spTree>
    <p:extLst>
      <p:ext uri="{BB962C8B-B14F-4D97-AF65-F5344CB8AC3E}">
        <p14:creationId xmlns:p14="http://schemas.microsoft.com/office/powerpoint/2010/main" val="3963109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normAutofit/>
          </a:bodyPr>
          <a:lstStyle>
            <a:lvl1pPr>
              <a:defRPr sz="4800" baseline="0">
                <a:solidFill>
                  <a:srgbClr val="2163AB"/>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BE4B75-3B54-4A40-81C0-B6A5EC35FC50}" type="datetimeFigureOut">
              <a:rPr lang="en-US"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48D7C0-EF86-4549-BF06-FAB50D30C98D}" type="slidenum">
              <a:rPr lang="en-US" smtClean="0"/>
              <a:t>‹#›</a:t>
            </a:fld>
            <a:endParaRPr lang="en-US"/>
          </a:p>
        </p:txBody>
      </p:sp>
    </p:spTree>
    <p:extLst>
      <p:ext uri="{BB962C8B-B14F-4D97-AF65-F5344CB8AC3E}">
        <p14:creationId xmlns:p14="http://schemas.microsoft.com/office/powerpoint/2010/main" val="2480683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2"/>
            <a:ext cx="10515600" cy="2852737"/>
          </a:xfrm>
          <a:solidFill>
            <a:srgbClr val="2163AB"/>
          </a:solidFill>
        </p:spPr>
        <p:txBody>
          <a:bodyPr anchor="b"/>
          <a:lstStyle>
            <a:lvl1pPr>
              <a:defRPr sz="600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1851" y="4589467"/>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BE4B75-3B54-4A40-81C0-B6A5EC35FC50}" type="datetimeFigureOut">
              <a:rPr lang="en-US"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48D7C0-EF86-4549-BF06-FAB50D30C98D}" type="slidenum">
              <a:rPr lang="en-US" smtClean="0"/>
              <a:t>‹#›</a:t>
            </a:fld>
            <a:endParaRPr lang="en-US"/>
          </a:p>
        </p:txBody>
      </p:sp>
    </p:spTree>
    <p:extLst>
      <p:ext uri="{BB962C8B-B14F-4D97-AF65-F5344CB8AC3E}">
        <p14:creationId xmlns:p14="http://schemas.microsoft.com/office/powerpoint/2010/main" val="2674053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6BE4B75-3B54-4A40-81C0-B6A5EC35FC50}" type="datetimeFigureOut">
              <a:rPr lang="en-US" smtClean="0"/>
              <a:t>11/20/2024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48D7C0-EF86-4549-BF06-FAB50D30C98D}" type="slidenum">
              <a:rPr lang="en-US" smtClean="0"/>
              <a:t>‹#›</a:t>
            </a:fld>
            <a:endParaRPr lang="en-US"/>
          </a:p>
        </p:txBody>
      </p:sp>
    </p:spTree>
    <p:extLst>
      <p:ext uri="{BB962C8B-B14F-4D97-AF65-F5344CB8AC3E}">
        <p14:creationId xmlns:p14="http://schemas.microsoft.com/office/powerpoint/2010/main" val="18824443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9"/>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a:solidFill>
            <a:srgbClr val="2163AB"/>
          </a:solidFill>
        </p:spPr>
        <p:txBody>
          <a:bodyPr anchor="b"/>
          <a:lstStyle>
            <a:lvl1pPr marL="0" indent="0">
              <a:buNone/>
              <a:defRPr sz="2400" b="1"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a:solidFill>
            <a:srgbClr val="2163AB"/>
          </a:solidFill>
        </p:spPr>
        <p:txBody>
          <a:bodyPr anchor="b"/>
          <a:lstStyle>
            <a:lvl1pPr marL="0" indent="0">
              <a:buNone/>
              <a:defRPr sz="2400" b="1"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2"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6BE4B75-3B54-4A40-81C0-B6A5EC35FC50}" type="datetimeFigureOut">
              <a:rPr lang="en-US" smtClean="0"/>
              <a:t>11/20/2024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848D7C0-EF86-4549-BF06-FAB50D30C98D}" type="slidenum">
              <a:rPr lang="en-US" smtClean="0"/>
              <a:t>‹#›</a:t>
            </a:fld>
            <a:endParaRPr lang="en-US"/>
          </a:p>
        </p:txBody>
      </p:sp>
    </p:spTree>
    <p:extLst>
      <p:ext uri="{BB962C8B-B14F-4D97-AF65-F5344CB8AC3E}">
        <p14:creationId xmlns:p14="http://schemas.microsoft.com/office/powerpoint/2010/main" val="497656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6BE4B75-3B54-4A40-81C0-B6A5EC35FC50}" type="datetimeFigureOut">
              <a:rPr lang="en-US" smtClean="0"/>
              <a:t>11/20/2024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848D7C0-EF86-4549-BF06-FAB50D30C98D}" type="slidenum">
              <a:rPr lang="en-US" smtClean="0"/>
              <a:t>‹#›</a:t>
            </a:fld>
            <a:endParaRPr lang="en-US"/>
          </a:p>
        </p:txBody>
      </p:sp>
    </p:spTree>
    <p:extLst>
      <p:ext uri="{BB962C8B-B14F-4D97-AF65-F5344CB8AC3E}">
        <p14:creationId xmlns:p14="http://schemas.microsoft.com/office/powerpoint/2010/main" val="25590634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BE4B75-3B54-4A40-81C0-B6A5EC35FC50}" type="datetimeFigureOut">
              <a:rPr lang="en-US" smtClean="0"/>
              <a:t>11/20/2024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848D7C0-EF86-4549-BF06-FAB50D30C98D}" type="slidenum">
              <a:rPr lang="en-US" smtClean="0"/>
              <a:t>‹#›</a:t>
            </a:fld>
            <a:endParaRPr lang="en-US"/>
          </a:p>
        </p:txBody>
      </p:sp>
    </p:spTree>
    <p:extLst>
      <p:ext uri="{BB962C8B-B14F-4D97-AF65-F5344CB8AC3E}">
        <p14:creationId xmlns:p14="http://schemas.microsoft.com/office/powerpoint/2010/main" val="4013851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9"/>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6BE4B75-3B54-4A40-81C0-B6A5EC35FC50}" type="datetimeFigureOut">
              <a:rPr lang="en-US" smtClean="0"/>
              <a:t>11/20/2024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48D7C0-EF86-4549-BF06-FAB50D30C98D}" type="slidenum">
              <a:rPr lang="en-US" smtClean="0"/>
              <a:t>‹#›</a:t>
            </a:fld>
            <a:endParaRPr lang="en-US"/>
          </a:p>
        </p:txBody>
      </p:sp>
    </p:spTree>
    <p:extLst>
      <p:ext uri="{BB962C8B-B14F-4D97-AF65-F5344CB8AC3E}">
        <p14:creationId xmlns:p14="http://schemas.microsoft.com/office/powerpoint/2010/main" val="568911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9"/>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6BE4B75-3B54-4A40-81C0-B6A5EC35FC50}" type="datetimeFigureOut">
              <a:rPr lang="en-US" smtClean="0"/>
              <a:t>11/20/2024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48D7C0-EF86-4549-BF06-FAB50D30C98D}" type="slidenum">
              <a:rPr lang="en-US" smtClean="0"/>
              <a:t>‹#›</a:t>
            </a:fld>
            <a:endParaRPr lang="en-US"/>
          </a:p>
        </p:txBody>
      </p:sp>
    </p:spTree>
    <p:extLst>
      <p:ext uri="{BB962C8B-B14F-4D97-AF65-F5344CB8AC3E}">
        <p14:creationId xmlns:p14="http://schemas.microsoft.com/office/powerpoint/2010/main" val="1790228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6BE4B75-3B54-4A40-81C0-B6A5EC35FC50}" type="datetimeFigureOut">
              <a:rPr lang="en-US"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48D7C0-EF86-4549-BF06-FAB50D30C98D}" type="slidenum">
              <a:rPr lang="en-US" smtClean="0"/>
              <a:t>‹#›</a:t>
            </a:fld>
            <a:endParaRPr lang="en-US"/>
          </a:p>
        </p:txBody>
      </p:sp>
    </p:spTree>
    <p:extLst>
      <p:ext uri="{BB962C8B-B14F-4D97-AF65-F5344CB8AC3E}">
        <p14:creationId xmlns:p14="http://schemas.microsoft.com/office/powerpoint/2010/main" val="2023082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2"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6BE4B75-3B54-4A40-81C0-B6A5EC35FC50}" type="datetimeFigureOut">
              <a:rPr lang="en-US"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48D7C0-EF86-4549-BF06-FAB50D30C98D}" type="slidenum">
              <a:rPr lang="en-US" smtClean="0"/>
              <a:t>‹#›</a:t>
            </a:fld>
            <a:endParaRPr lang="en-US"/>
          </a:p>
        </p:txBody>
      </p:sp>
    </p:spTree>
    <p:extLst>
      <p:ext uri="{BB962C8B-B14F-4D97-AF65-F5344CB8AC3E}">
        <p14:creationId xmlns:p14="http://schemas.microsoft.com/office/powerpoint/2010/main" val="3441816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BE4B75-3B54-4A40-81C0-B6A5EC35FC50}" type="datetimeFigureOut">
              <a:rPr lang="en-US" smtClean="0"/>
              <a:t>11/20/2024</a:t>
            </a:fld>
            <a:endParaRPr lang="en-US"/>
          </a:p>
        </p:txBody>
      </p:sp>
      <p:sp>
        <p:nvSpPr>
          <p:cNvPr id="5" name="Footer Placeholder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48D7C0-EF86-4549-BF06-FAB50D30C98D}" type="slidenum">
              <a:rPr lang="en-US" smtClean="0"/>
              <a:t>‹#›</a:t>
            </a:fld>
            <a:endParaRPr lang="en-US"/>
          </a:p>
        </p:txBody>
      </p:sp>
      <p:pic>
        <p:nvPicPr>
          <p:cNvPr id="7" name="Picture 6">
            <a:extLst>
              <a:ext uri="{FF2B5EF4-FFF2-40B4-BE49-F238E27FC236}">
                <a16:creationId xmlns:a16="http://schemas.microsoft.com/office/drawing/2014/main" id="{B7E9EF2A-B574-49CE-924E-9EF93F4903FD}"/>
              </a:ext>
            </a:extLst>
          </p:cNvPr>
          <p:cNvPicPr>
            <a:picLocks noChangeAspect="1"/>
          </p:cNvPicPr>
          <p:nvPr/>
        </p:nvPicPr>
        <p:blipFill>
          <a:blip r:embed="rId13"/>
          <a:stretch>
            <a:fillRect/>
          </a:stretch>
        </p:blipFill>
        <p:spPr>
          <a:xfrm>
            <a:off x="10614920" y="5997564"/>
            <a:ext cx="1577080" cy="787072"/>
          </a:xfrm>
          <a:prstGeom prst="rect">
            <a:avLst/>
          </a:prstGeom>
        </p:spPr>
      </p:pic>
      <p:sp>
        <p:nvSpPr>
          <p:cNvPr id="9" name="Rectangle 8">
            <a:extLst>
              <a:ext uri="{FF2B5EF4-FFF2-40B4-BE49-F238E27FC236}">
                <a16:creationId xmlns:a16="http://schemas.microsoft.com/office/drawing/2014/main" id="{A0698C84-1C87-42CB-94CD-C374F67FF580}"/>
              </a:ext>
            </a:extLst>
          </p:cNvPr>
          <p:cNvSpPr/>
          <p:nvPr/>
        </p:nvSpPr>
        <p:spPr>
          <a:xfrm>
            <a:off x="78379" y="6069230"/>
            <a:ext cx="12113623" cy="45719"/>
          </a:xfrm>
          <a:prstGeom prst="rect">
            <a:avLst/>
          </a:prstGeom>
          <a:solidFill>
            <a:srgbClr val="2163AB"/>
          </a:solidFill>
          <a:ln w="6350"/>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06182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baseline="0">
          <a:solidFill>
            <a:srgbClr val="2163AB"/>
          </a:solidFill>
          <a:latin typeface="Gotham" charset="0"/>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baseline="0">
          <a:solidFill>
            <a:schemeClr val="tx1"/>
          </a:solidFill>
          <a:latin typeface="Gotham" charset="0"/>
          <a:ea typeface="+mn-ea"/>
          <a:cs typeface="+mn-cs"/>
        </a:defRPr>
      </a:lvl1pPr>
      <a:lvl2pPr marL="685800" indent="-228600" algn="l" defTabSz="914400" rtl="0" eaLnBrk="1" latinLnBrk="0" hangingPunct="1">
        <a:lnSpc>
          <a:spcPct val="90000"/>
        </a:lnSpc>
        <a:spcBef>
          <a:spcPts val="500"/>
        </a:spcBef>
        <a:buFont typeface="Arial"/>
        <a:buChar char="•"/>
        <a:defRPr sz="2400" kern="1200" baseline="0">
          <a:solidFill>
            <a:schemeClr val="tx1"/>
          </a:solidFill>
          <a:latin typeface="Gotham" charset="0"/>
          <a:ea typeface="+mn-ea"/>
          <a:cs typeface="+mn-cs"/>
        </a:defRPr>
      </a:lvl2pPr>
      <a:lvl3pPr marL="1143000" indent="-228600" algn="l" defTabSz="914400" rtl="0" eaLnBrk="1" latinLnBrk="0" hangingPunct="1">
        <a:lnSpc>
          <a:spcPct val="90000"/>
        </a:lnSpc>
        <a:spcBef>
          <a:spcPts val="500"/>
        </a:spcBef>
        <a:buFont typeface="Arial"/>
        <a:buChar char="•"/>
        <a:defRPr sz="2000" kern="1200" baseline="0">
          <a:solidFill>
            <a:schemeClr val="tx1"/>
          </a:solidFill>
          <a:latin typeface="Gotham" charset="0"/>
          <a:ea typeface="+mn-ea"/>
          <a:cs typeface="+mn-cs"/>
        </a:defRPr>
      </a:lvl3pPr>
      <a:lvl4pPr marL="1600200" indent="-228600" algn="l" defTabSz="914400" rtl="0" eaLnBrk="1" latinLnBrk="0" hangingPunct="1">
        <a:lnSpc>
          <a:spcPct val="90000"/>
        </a:lnSpc>
        <a:spcBef>
          <a:spcPts val="500"/>
        </a:spcBef>
        <a:buFont typeface="Arial"/>
        <a:buChar char="•"/>
        <a:defRPr sz="1800" kern="1200" baseline="0">
          <a:solidFill>
            <a:schemeClr val="tx1"/>
          </a:solidFill>
          <a:latin typeface="Gotham" charset="0"/>
          <a:ea typeface="+mn-ea"/>
          <a:cs typeface="+mn-cs"/>
        </a:defRPr>
      </a:lvl4pPr>
      <a:lvl5pPr marL="2057400" indent="-228600" algn="l" defTabSz="914400" rtl="0" eaLnBrk="1" latinLnBrk="0" hangingPunct="1">
        <a:lnSpc>
          <a:spcPct val="90000"/>
        </a:lnSpc>
        <a:spcBef>
          <a:spcPts val="500"/>
        </a:spcBef>
        <a:buFont typeface="Arial"/>
        <a:buChar char="•"/>
        <a:defRPr sz="1800" kern="1200" baseline="0">
          <a:solidFill>
            <a:schemeClr val="tx1"/>
          </a:solidFill>
          <a:latin typeface="Gotham"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18.jpe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22.jpeg"/></Relationships>
</file>

<file path=ppt/slides/_rels/slide5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A5EB7-295E-5B54-1F02-C855AE2B1A55}"/>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C4FC614F-DAAA-D90E-6F9A-03A5F42B0F6E}"/>
              </a:ext>
            </a:extLst>
          </p:cNvPr>
          <p:cNvSpPr>
            <a:spLocks noGrp="1"/>
          </p:cNvSpPr>
          <p:nvPr>
            <p:ph type="subTitle" idx="1"/>
          </p:nvPr>
        </p:nvSpPr>
        <p:spPr/>
        <p:txBody>
          <a:bodyPr/>
          <a:lstStyle/>
          <a:p>
            <a:endParaRPr lang="en-US"/>
          </a:p>
        </p:txBody>
      </p:sp>
      <p:pic>
        <p:nvPicPr>
          <p:cNvPr id="4" name="Picture 2" descr="INTRODUCTION TO PEDIATRICS&#10;Dr. Tauhid Iqbali&#10;M.D. Pediatrics&#10; ">
            <a:extLst>
              <a:ext uri="{FF2B5EF4-FFF2-40B4-BE49-F238E27FC236}">
                <a16:creationId xmlns:a16="http://schemas.microsoft.com/office/drawing/2014/main" id="{B18FB11E-7604-90AD-B74C-A054F5088381}"/>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717" t="-37938" r="-717" b="37938"/>
          <a:stretch/>
        </p:blipFill>
        <p:spPr bwMode="auto">
          <a:xfrm>
            <a:off x="2672862" y="1221853"/>
            <a:ext cx="7225641" cy="20559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25680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735B-047B-5BD6-A13A-C57A483949BA}"/>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C01B6787-E82E-B84D-2402-409DA6B36F3C}"/>
              </a:ext>
            </a:extLst>
          </p:cNvPr>
          <p:cNvSpPr>
            <a:spLocks noGrp="1"/>
          </p:cNvSpPr>
          <p:nvPr>
            <p:ph idx="1"/>
          </p:nvPr>
        </p:nvSpPr>
        <p:spPr/>
        <p:txBody>
          <a:bodyPr/>
          <a:lstStyle/>
          <a:p>
            <a:pPr>
              <a:buFont typeface="Wingdings" panose="05000000000000000000" pitchFamily="2" charset="2"/>
              <a:buChar char="Ø"/>
            </a:pPr>
            <a:r>
              <a:rPr lang="en-US" dirty="0"/>
              <a:t>Pediatric is a branch of medicine that deals with care of children and adolescent</a:t>
            </a:r>
          </a:p>
          <a:p>
            <a:r>
              <a:rPr lang="en-US" dirty="0"/>
              <a:t>Derived from two Greek  words</a:t>
            </a:r>
          </a:p>
          <a:p>
            <a:pPr marL="0" indent="0">
              <a:buNone/>
            </a:pPr>
            <a:r>
              <a:rPr lang="en-US" dirty="0"/>
              <a:t>        Pedo pais- child</a:t>
            </a:r>
          </a:p>
          <a:p>
            <a:pPr marL="0" indent="0">
              <a:buNone/>
            </a:pPr>
            <a:r>
              <a:rPr lang="en-US" dirty="0"/>
              <a:t>        Latros- healer</a:t>
            </a:r>
          </a:p>
          <a:p>
            <a:endParaRPr lang="en-US" dirty="0"/>
          </a:p>
        </p:txBody>
      </p:sp>
    </p:spTree>
    <p:extLst>
      <p:ext uri="{BB962C8B-B14F-4D97-AF65-F5344CB8AC3E}">
        <p14:creationId xmlns:p14="http://schemas.microsoft.com/office/powerpoint/2010/main" val="1981466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24ADC-6C40-6D52-52D7-49479856DA7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96AB5DB-FE14-3C5B-A251-8D2501795EFB}"/>
              </a:ext>
            </a:extLst>
          </p:cNvPr>
          <p:cNvSpPr>
            <a:spLocks noGrp="1"/>
          </p:cNvSpPr>
          <p:nvPr>
            <p:ph idx="1"/>
          </p:nvPr>
        </p:nvSpPr>
        <p:spPr/>
        <p:txBody>
          <a:bodyPr>
            <a:normAutofit/>
          </a:bodyPr>
          <a:lstStyle/>
          <a:p>
            <a:pPr algn="l"/>
            <a:r>
              <a:rPr lang="en-US" b="0" i="0" u="none" strike="noStrike" baseline="0" dirty="0">
                <a:latin typeface="LiberationSerif"/>
              </a:rPr>
              <a:t>Is the only discipline dedicated to all aspects of the care and wellbeing of infants, children, and adolescents, including their health—their physical, mental, social, and psychological growth and development </a:t>
            </a:r>
          </a:p>
          <a:p>
            <a:r>
              <a:rPr lang="en-US" b="0" i="0" u="none" strike="noStrike" baseline="0" dirty="0">
                <a:latin typeface="LiberationSerif"/>
              </a:rPr>
              <a:t>Their ability to achieve full potential as adults.</a:t>
            </a:r>
            <a:endParaRPr lang="en-US" sz="4000" dirty="0"/>
          </a:p>
        </p:txBody>
      </p:sp>
    </p:spTree>
    <p:extLst>
      <p:ext uri="{BB962C8B-B14F-4D97-AF65-F5344CB8AC3E}">
        <p14:creationId xmlns:p14="http://schemas.microsoft.com/office/powerpoint/2010/main" val="2865765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3073"/>
          <p:cNvSpPr>
            <a:spLocks noGrp="1"/>
          </p:cNvSpPr>
          <p:nvPr>
            <p:ph type="title"/>
          </p:nvPr>
        </p:nvSpPr>
        <p:spPr/>
        <p:txBody>
          <a:bodyPr anchor="b"/>
          <a:lstStyle/>
          <a:p>
            <a:endParaRPr dirty="0"/>
          </a:p>
        </p:txBody>
      </p:sp>
      <p:sp>
        <p:nvSpPr>
          <p:cNvPr id="3075" name="Text Placeholder 3074"/>
          <p:cNvSpPr>
            <a:spLocks noGrp="1"/>
          </p:cNvSpPr>
          <p:nvPr>
            <p:ph type="body" idx="1"/>
          </p:nvPr>
        </p:nvSpPr>
        <p:spPr/>
        <p:txBody>
          <a:bodyPr/>
          <a:lstStyle/>
          <a:p>
            <a:pPr>
              <a:lnSpc>
                <a:spcPct val="90000"/>
              </a:lnSpc>
            </a:pPr>
            <a:r>
              <a:t>More than 90% of the world’s children are born in developing countries</a:t>
            </a:r>
          </a:p>
          <a:p>
            <a:pPr>
              <a:lnSpc>
                <a:spcPct val="90000"/>
              </a:lnSpc>
            </a:pPr>
            <a:r>
              <a:t>35,000 die each day, mostly of common and preventable problems</a:t>
            </a:r>
          </a:p>
          <a:p>
            <a:pPr>
              <a:lnSpc>
                <a:spcPct val="90000"/>
              </a:lnSpc>
            </a:pPr>
            <a:r>
              <a:t>Health and illness are a result of a complex dynamics of environmental, social, political and economic factors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a:sym typeface="+mn-ea"/>
              </a:rPr>
            </a:br>
            <a:r>
              <a:rPr>
                <a:sym typeface="+mn-ea"/>
              </a:rPr>
              <a:t>Principles of child health in developing countries</a:t>
            </a:r>
            <a:br>
              <a:rPr>
                <a:sym typeface="+mn-ea"/>
              </a:rPr>
            </a:br>
            <a:endParaRPr lang="en-US"/>
          </a:p>
        </p:txBody>
      </p:sp>
      <p:sp>
        <p:nvSpPr>
          <p:cNvPr id="3" name="Content Placeholder 2"/>
          <p:cNvSpPr>
            <a:spLocks noGrp="1"/>
          </p:cNvSpPr>
          <p:nvPr>
            <p:ph idx="1"/>
          </p:nvPr>
        </p:nvSpPr>
        <p:spPr/>
        <p:txBody>
          <a:bodyPr>
            <a:normAutofit lnSpcReduction="10000"/>
          </a:bodyPr>
          <a:lstStyle/>
          <a:p>
            <a:pPr>
              <a:lnSpc>
                <a:spcPct val="90000"/>
              </a:lnSpc>
              <a:buClr>
                <a:schemeClr val="tx2"/>
              </a:buClr>
            </a:pPr>
            <a:r>
              <a:rPr sz="3200">
                <a:sym typeface="+mn-ea"/>
              </a:rPr>
              <a:t>UNICEF, WHO, and developed countries argued for more selective programmes whose outcomes and cost can be readily measured</a:t>
            </a:r>
            <a:endParaRPr sz="3200"/>
          </a:p>
          <a:p>
            <a:pPr>
              <a:lnSpc>
                <a:spcPct val="90000"/>
              </a:lnSpc>
              <a:buClr>
                <a:schemeClr val="tx2"/>
              </a:buClr>
            </a:pPr>
            <a:r>
              <a:rPr sz="3200">
                <a:sym typeface="+mn-ea"/>
              </a:rPr>
              <a:t>Selective strategies for the child survival revolution that were implemented were:</a:t>
            </a:r>
            <a:endParaRPr sz="3200"/>
          </a:p>
          <a:p>
            <a:pPr lvl="1">
              <a:lnSpc>
                <a:spcPct val="90000"/>
              </a:lnSpc>
              <a:buClr>
                <a:schemeClr val="tx1"/>
              </a:buClr>
            </a:pPr>
            <a:r>
              <a:rPr sz="3200">
                <a:sym typeface="+mn-ea"/>
              </a:rPr>
              <a:t>(GOBI-FFF)</a:t>
            </a:r>
            <a:endParaRPr sz="3200"/>
          </a:p>
          <a:p>
            <a:pPr lvl="2">
              <a:lnSpc>
                <a:spcPct val="90000"/>
              </a:lnSpc>
              <a:buClr>
                <a:schemeClr val="hlink"/>
              </a:buClr>
            </a:pPr>
            <a:r>
              <a:rPr sz="3200" b="1">
                <a:sym typeface="+mn-ea"/>
              </a:rPr>
              <a:t>Growth monitoring</a:t>
            </a:r>
            <a:endParaRPr sz="3200" b="1"/>
          </a:p>
          <a:p>
            <a:pPr lvl="2">
              <a:lnSpc>
                <a:spcPct val="90000"/>
              </a:lnSpc>
              <a:buClr>
                <a:schemeClr val="hlink"/>
              </a:buClr>
            </a:pPr>
            <a:r>
              <a:rPr sz="3200" b="1">
                <a:sym typeface="+mn-ea"/>
              </a:rPr>
              <a:t>Oral rehydration</a:t>
            </a:r>
            <a:endParaRPr sz="3200" b="1"/>
          </a:p>
          <a:p>
            <a:pPr lvl="2">
              <a:lnSpc>
                <a:spcPct val="90000"/>
              </a:lnSpc>
              <a:buClr>
                <a:schemeClr val="hlink"/>
              </a:buClr>
            </a:pPr>
            <a:r>
              <a:rPr sz="3200" b="1">
                <a:sym typeface="+mn-ea"/>
              </a:rPr>
              <a:t>Breast feeding</a:t>
            </a:r>
            <a:endParaRPr sz="3200" b="1"/>
          </a:p>
          <a:p>
            <a:endParaRPr lang="en-US"/>
          </a:p>
        </p:txBody>
      </p:sp>
      <p:sp>
        <p:nvSpPr>
          <p:cNvPr id="4" name="Slide Number Placeholder 3"/>
          <p:cNvSpPr>
            <a:spLocks noGrp="1"/>
          </p:cNvSpPr>
          <p:nvPr>
            <p:ph type="sldNum" sz="quarter" idx="12"/>
          </p:nvPr>
        </p:nvSpPr>
        <p:spPr/>
        <p:txBody>
          <a:bodyPr/>
          <a:lstStyle/>
          <a:p>
            <a:pPr>
              <a:defRPr/>
            </a:pPr>
            <a:fld id="{15383FC8-24B3-4F34-A5E9-E3F65940C838}" type="slidenum">
              <a:rPr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8433"/>
          <p:cNvSpPr>
            <a:spLocks noGrp="1"/>
          </p:cNvSpPr>
          <p:nvPr>
            <p:ph type="title"/>
          </p:nvPr>
        </p:nvSpPr>
        <p:spPr/>
        <p:txBody>
          <a:bodyPr anchor="b"/>
          <a:lstStyle/>
          <a:p>
            <a:r>
              <a:t>Principles….</a:t>
            </a:r>
          </a:p>
        </p:txBody>
      </p:sp>
      <p:sp>
        <p:nvSpPr>
          <p:cNvPr id="18435" name="Text Placeholder 18434"/>
          <p:cNvSpPr>
            <a:spLocks noGrp="1"/>
          </p:cNvSpPr>
          <p:nvPr>
            <p:ph type="body" idx="1"/>
          </p:nvPr>
        </p:nvSpPr>
        <p:spPr/>
        <p:txBody>
          <a:bodyPr/>
          <a:lstStyle/>
          <a:p>
            <a:pPr lvl="2">
              <a:buClr>
                <a:schemeClr val="hlink"/>
              </a:buClr>
            </a:pPr>
            <a:r>
              <a:rPr sz="2800" b="1" dirty="0"/>
              <a:t>Immunization</a:t>
            </a:r>
          </a:p>
          <a:p>
            <a:pPr lvl="2">
              <a:buClr>
                <a:schemeClr val="hlink"/>
              </a:buClr>
            </a:pPr>
            <a:r>
              <a:rPr sz="2800" b="1" dirty="0"/>
              <a:t>Food </a:t>
            </a:r>
          </a:p>
          <a:p>
            <a:pPr lvl="2">
              <a:buClr>
                <a:schemeClr val="hlink"/>
              </a:buClr>
            </a:pPr>
            <a:r>
              <a:rPr sz="2800" b="1" dirty="0"/>
              <a:t>Female education, and</a:t>
            </a:r>
          </a:p>
          <a:p>
            <a:pPr lvl="2">
              <a:buClr>
                <a:schemeClr val="hlink"/>
              </a:buClr>
            </a:pPr>
            <a:r>
              <a:rPr sz="2800" b="1" dirty="0"/>
              <a:t>Family</a:t>
            </a:r>
            <a:r>
              <a:rPr sz="2800" dirty="0"/>
              <a:t> planning</a:t>
            </a:r>
          </a:p>
          <a:p>
            <a:pPr>
              <a:buClr>
                <a:schemeClr val="tx2"/>
              </a:buClr>
            </a:pPr>
            <a:r>
              <a:rPr dirty="0"/>
              <a:t>GOBI-FFF has remained the developed world’s primary strategy for health development.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 </a:t>
            </a:r>
          </a:p>
        </p:txBody>
      </p:sp>
      <p:sp>
        <p:nvSpPr>
          <p:cNvPr id="3" name="Content Placeholder 2"/>
          <p:cNvSpPr>
            <a:spLocks noGrp="1"/>
          </p:cNvSpPr>
          <p:nvPr>
            <p:ph idx="1"/>
          </p:nvPr>
        </p:nvSpPr>
        <p:spPr/>
        <p:txBody>
          <a:bodyPr>
            <a:normAutofit/>
          </a:bodyPr>
          <a:lstStyle/>
          <a:p>
            <a:pPr marL="0" indent="0">
              <a:buNone/>
            </a:pPr>
            <a:r>
              <a:rPr lang="en-US" sz="4800" b="1" dirty="0">
                <a:solidFill>
                  <a:schemeClr val="accent1"/>
                </a:solidFill>
              </a:rPr>
              <a:t>       Child Health In Ethiopia</a:t>
            </a:r>
            <a:endParaRPr lang="en-US" sz="4800" dirty="0">
              <a:solidFill>
                <a:schemeClr val="accen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normAutofit/>
          </a:bodyPr>
          <a:lstStyle/>
          <a:p>
            <a:r>
              <a:rPr lang="en-US" sz="2800" dirty="0"/>
              <a:t>Child health is a state of physical ,mental ,intellectual, social and emotional well-being and not merely the absence of disease or infirmity. /WHO/</a:t>
            </a:r>
          </a:p>
          <a:p>
            <a:r>
              <a:rPr lang="en-US" sz="2800" dirty="0"/>
              <a:t>Healthy children live in families,environments,and communities that provide them with the opportunity to reach their fullest developmental potential.</a:t>
            </a:r>
          </a:p>
          <a:p>
            <a:r>
              <a:rPr lang="en-US" sz="2800" dirty="0"/>
              <a:t>Children cannot achieve optimal health alone.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1981200" y="274638"/>
            <a:ext cx="8229600" cy="2506662"/>
          </a:xfrm>
        </p:spPr>
        <p:txBody>
          <a:bodyPr/>
          <a:lstStyle/>
          <a:p>
            <a:endParaRPr lang="en-US"/>
          </a:p>
        </p:txBody>
      </p:sp>
      <p:sp>
        <p:nvSpPr>
          <p:cNvPr id="7171" name="Content Placeholder 2"/>
          <p:cNvSpPr>
            <a:spLocks noGrp="1"/>
          </p:cNvSpPr>
          <p:nvPr>
            <p:ph idx="1"/>
          </p:nvPr>
        </p:nvSpPr>
        <p:spPr>
          <a:xfrm>
            <a:off x="1981200" y="3141663"/>
            <a:ext cx="8229600" cy="3527425"/>
          </a:xfrm>
        </p:spPr>
        <p:txBody>
          <a:bodyPr>
            <a:normAutofit/>
          </a:bodyPr>
          <a:lstStyle/>
          <a:p>
            <a:endParaRPr lang="en-US" sz="2400" dirty="0"/>
          </a:p>
          <a:p>
            <a:r>
              <a:rPr lang="en-US" sz="2400" dirty="0"/>
              <a:t>Organized institutional child health care was introduced in Ethiopia in 1957 when the former Ethio-Swedish Pediatric Clinic was opened by  Prof. Edgar </a:t>
            </a:r>
            <a:r>
              <a:rPr lang="en-US" sz="2400" dirty="0" err="1"/>
              <a:t>Mannheimer</a:t>
            </a:r>
            <a:r>
              <a:rPr lang="en-US" sz="2400" dirty="0"/>
              <a:t> within premises of the former Princess </a:t>
            </a:r>
            <a:r>
              <a:rPr lang="en-US" sz="2400" dirty="0" err="1"/>
              <a:t>Tsehai</a:t>
            </a:r>
            <a:r>
              <a:rPr lang="en-US" sz="2400" dirty="0"/>
              <a:t> Memorial Hospital. </a:t>
            </a:r>
          </a:p>
          <a:p>
            <a:r>
              <a:rPr lang="en-US" sz="2400" dirty="0"/>
              <a:t>In 1965 with the establishment of the faculty of medicine it accommodated the department of pediatrics consisting of 100 beds inpatient service.</a:t>
            </a:r>
          </a:p>
          <a:p>
            <a:endParaRPr lang="en-US" sz="2400" dirty="0"/>
          </a:p>
        </p:txBody>
      </p:sp>
      <p:pic>
        <p:nvPicPr>
          <p:cNvPr id="7172" name="Picture 7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2313" y="260350"/>
            <a:ext cx="8424862" cy="309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a:t>Child health situation</a:t>
            </a:r>
          </a:p>
        </p:txBody>
      </p:sp>
      <p:sp>
        <p:nvSpPr>
          <p:cNvPr id="3" name="Content Placeholder 2"/>
          <p:cNvSpPr>
            <a:spLocks noGrp="1"/>
          </p:cNvSpPr>
          <p:nvPr>
            <p:ph idx="1"/>
          </p:nvPr>
        </p:nvSpPr>
        <p:spPr>
          <a:xfrm>
            <a:off x="838200" y="1268413"/>
            <a:ext cx="9578975" cy="4857750"/>
          </a:xfrm>
        </p:spPr>
        <p:txBody>
          <a:bodyPr>
            <a:normAutofit/>
          </a:bodyPr>
          <a:lstStyle/>
          <a:p>
            <a:pPr>
              <a:defRPr/>
            </a:pPr>
            <a:endParaRPr lang="en-US" sz="3200" dirty="0"/>
          </a:p>
          <a:p>
            <a:pPr>
              <a:defRPr/>
            </a:pPr>
            <a:r>
              <a:rPr lang="en-US" sz="3200" dirty="0"/>
              <a:t>children under age five die mostly from preventable </a:t>
            </a:r>
          </a:p>
          <a:p>
            <a:pPr eaLnBrk="1" hangingPunct="1">
              <a:buFont typeface="Arial" panose="020B0604020202020204" pitchFamily="34" charset="0"/>
              <a:buNone/>
              <a:defRPr/>
            </a:pPr>
            <a:r>
              <a:rPr lang="en-US" sz="3200" dirty="0"/>
              <a:t>diseases.</a:t>
            </a:r>
          </a:p>
          <a:p>
            <a:pPr eaLnBrk="1" hangingPunct="1">
              <a:buFont typeface="Arial" panose="020B0604020202020204" pitchFamily="34" charset="0"/>
              <a:buChar char="•"/>
              <a:defRPr/>
            </a:pPr>
            <a:endParaRPr lang="en-US" sz="3200" dirty="0"/>
          </a:p>
          <a:p>
            <a:pPr>
              <a:defRPr/>
            </a:pPr>
            <a:r>
              <a:rPr lang="en-US" sz="3200" dirty="0"/>
              <a:t>In sub-Saharan Africa, one in nine children die before age of five, more than 16 times the average for developed region</a:t>
            </a:r>
          </a:p>
          <a:p>
            <a:pPr eaLnBrk="1" hangingPunct="1">
              <a:buFont typeface="Arial" panose="020B0604020202020204" pitchFamily="34" charset="0"/>
              <a:buNone/>
              <a:defRPr/>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normAutofit fontScale="90000"/>
          </a:bodyPr>
          <a:lstStyle/>
          <a:p>
            <a:br>
              <a:rPr lang="en-US" sz="3600" dirty="0"/>
            </a:br>
            <a:r>
              <a:rPr lang="en-US" sz="3600" dirty="0"/>
              <a:t>Major proximate determinants of infant and under-five mortality.</a:t>
            </a:r>
            <a:br>
              <a:rPr lang="en-US" sz="3600" dirty="0"/>
            </a:br>
            <a:endParaRPr lang="en-US" sz="3600" dirty="0"/>
          </a:p>
        </p:txBody>
      </p:sp>
      <p:sp>
        <p:nvSpPr>
          <p:cNvPr id="9219" name="Content Placeholder 2"/>
          <p:cNvSpPr>
            <a:spLocks noGrp="1"/>
          </p:cNvSpPr>
          <p:nvPr>
            <p:ph idx="1"/>
          </p:nvPr>
        </p:nvSpPr>
        <p:spPr/>
        <p:txBody>
          <a:bodyPr/>
          <a:lstStyle/>
          <a:p>
            <a:pPr>
              <a:buFont typeface="Arial" panose="020B0604020202020204" pitchFamily="34" charset="0"/>
              <a:buNone/>
            </a:pPr>
            <a:r>
              <a:rPr lang="en-US"/>
              <a:t>• Mother’s Characteristics:  </a:t>
            </a:r>
            <a:r>
              <a:rPr lang="en-US" sz="2400"/>
              <a:t>mother’s literacy status, health service utilization (ANC), age at birth, exposure to mass media and total number of births.</a:t>
            </a:r>
          </a:p>
          <a:p>
            <a:pPr>
              <a:buFont typeface="Arial" panose="020B0604020202020204" pitchFamily="34" charset="0"/>
              <a:buNone/>
            </a:pPr>
            <a:endParaRPr lang="en-US" sz="2400"/>
          </a:p>
          <a:p>
            <a:pPr>
              <a:buFont typeface="Arial" panose="020B0604020202020204" pitchFamily="34" charset="0"/>
              <a:buNone/>
            </a:pPr>
            <a:r>
              <a:rPr lang="en-US" sz="2400"/>
              <a:t>• </a:t>
            </a:r>
            <a:r>
              <a:rPr lang="en-US"/>
              <a:t>Child’s Characteristics</a:t>
            </a:r>
            <a:r>
              <a:rPr lang="en-US" b="1"/>
              <a:t>: </a:t>
            </a:r>
            <a:r>
              <a:rPr lang="en-US" sz="2400" b="1"/>
              <a:t>Birth interval, sex of the child, and total number of sibling births;</a:t>
            </a:r>
          </a:p>
          <a:p>
            <a:pPr>
              <a:buFont typeface="Arial" panose="020B0604020202020204" pitchFamily="34" charset="0"/>
              <a:buNone/>
            </a:pPr>
            <a:endParaRPr lang="en-US" sz="2400" b="1"/>
          </a:p>
          <a:p>
            <a:pPr>
              <a:buFont typeface="Arial" panose="020B0604020202020204" pitchFamily="34" charset="0"/>
              <a:buNone/>
            </a:pPr>
            <a:r>
              <a:rPr lang="en-US" sz="2400"/>
              <a:t>• </a:t>
            </a:r>
            <a:r>
              <a:rPr lang="en-US"/>
              <a:t>Household Characteristics</a:t>
            </a:r>
            <a:r>
              <a:rPr lang="en-US" b="1"/>
              <a:t>: </a:t>
            </a:r>
            <a:r>
              <a:rPr lang="en-US" sz="2400" b="1"/>
              <a:t>Household wealth, residence, availability of </a:t>
            </a:r>
            <a:r>
              <a:rPr lang="en-US" sz="2400"/>
              <a:t>safe drinking water, and improved toilet facility.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a:t>Under five mortality rate</a:t>
            </a:r>
          </a:p>
        </p:txBody>
      </p:sp>
      <p:pic>
        <p:nvPicPr>
          <p:cNvPr id="11267"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81200" y="1447800"/>
            <a:ext cx="8229600" cy="4953000"/>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1981200" y="274638"/>
            <a:ext cx="8229600" cy="922337"/>
          </a:xfrm>
        </p:spPr>
        <p:txBody>
          <a:bodyPr>
            <a:normAutofit fontScale="90000"/>
          </a:bodyPr>
          <a:lstStyle/>
          <a:p>
            <a:r>
              <a:rPr lang="en-US"/>
              <a:t>Global Causes of child deaths</a:t>
            </a:r>
            <a:br>
              <a:rPr lang="en-US"/>
            </a:br>
            <a:r>
              <a:rPr lang="en-US" sz="2400"/>
              <a:t>Li Liu et al..  lancet 2015</a:t>
            </a:r>
          </a:p>
        </p:txBody>
      </p:sp>
      <p:pic>
        <p:nvPicPr>
          <p:cNvPr id="14339"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381345" y="1239179"/>
            <a:ext cx="8620783" cy="4809930"/>
          </a:xfr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981200" y="274638"/>
            <a:ext cx="8229600" cy="639762"/>
          </a:xfrm>
        </p:spPr>
        <p:txBody>
          <a:bodyPr/>
          <a:lstStyle/>
          <a:p>
            <a:pPr algn="l" eaLnBrk="1" hangingPunct="1"/>
            <a:r>
              <a:rPr lang="fi-FI" sz="2800"/>
              <a:t>Causes of Child Mortality: Ethiopia </a:t>
            </a:r>
          </a:p>
        </p:txBody>
      </p:sp>
      <p:pic>
        <p:nvPicPr>
          <p:cNvPr id="15363" name="Picture 9"/>
          <p:cNvPicPr>
            <a:picLocks noChangeAspect="1" noChangeArrowheads="1"/>
          </p:cNvPicPr>
          <p:nvPr/>
        </p:nvPicPr>
        <p:blipFill>
          <a:blip r:embed="rId2">
            <a:extLst>
              <a:ext uri="{28A0092B-C50C-407E-A947-70E740481C1C}">
                <a14:useLocalDpi xmlns:a14="http://schemas.microsoft.com/office/drawing/2010/main" val="0"/>
              </a:ext>
            </a:extLst>
          </a:blip>
          <a:srcRect l="16386" r="3970"/>
          <a:stretch>
            <a:fillRect/>
          </a:stretch>
        </p:blipFill>
        <p:spPr bwMode="auto">
          <a:xfrm>
            <a:off x="2362200" y="914400"/>
            <a:ext cx="69342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TextBox 4"/>
          <p:cNvSpPr txBox="1">
            <a:spLocks noChangeArrowheads="1"/>
          </p:cNvSpPr>
          <p:nvPr/>
        </p:nvSpPr>
        <p:spPr bwMode="auto">
          <a:xfrm>
            <a:off x="1524000" y="6211888"/>
            <a:ext cx="9144000" cy="64516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fi-FI">
                <a:solidFill>
                  <a:schemeClr val="bg1"/>
                </a:solidFill>
                <a:latin typeface="Calibri" panose="020F0502020204030204" pitchFamily="34" charset="0"/>
              </a:rPr>
              <a:t>Perinatal causes contribute for 33% of child deaths. ARI/Pneumonia (18%), Diarrhea (13) and Meningitis (6%) are major causes of death children.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ChangeArrowheads="1"/>
          </p:cNvSpPr>
          <p:nvPr/>
        </p:nvSpPr>
        <p:spPr bwMode="auto">
          <a:xfrm>
            <a:off x="1524000" y="2427288"/>
            <a:ext cx="309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p>
            <a:endParaRPr lang="en-US">
              <a:latin typeface="Calibri" panose="020F0502020204030204" pitchFamily="34" charset="0"/>
            </a:endParaRPr>
          </a:p>
        </p:txBody>
      </p:sp>
      <p:sp>
        <p:nvSpPr>
          <p:cNvPr id="16387" name="Rectangle 5"/>
          <p:cNvSpPr>
            <a:spLocks noGrp="1" noChangeArrowheads="1"/>
          </p:cNvSpPr>
          <p:nvPr>
            <p:ph type="title"/>
          </p:nvPr>
        </p:nvSpPr>
        <p:spPr>
          <a:xfrm>
            <a:off x="1809750" y="285750"/>
            <a:ext cx="8410575" cy="914400"/>
          </a:xfrm>
        </p:spPr>
        <p:txBody>
          <a:bodyPr/>
          <a:lstStyle/>
          <a:p>
            <a:pPr algn="l" eaLnBrk="1" hangingPunct="1"/>
            <a:r>
              <a:rPr lang="en-GB" sz="3200"/>
              <a:t>Estimated Causes of Neonatal Deaths in Ethiopia</a:t>
            </a:r>
            <a:endParaRPr lang="en-US" sz="3200"/>
          </a:p>
        </p:txBody>
      </p:sp>
      <p:graphicFrame>
        <p:nvGraphicFramePr>
          <p:cNvPr id="11" name="Chart 10"/>
          <p:cNvGraphicFramePr/>
          <p:nvPr/>
        </p:nvGraphicFramePr>
        <p:xfrm>
          <a:off x="2166911" y="1285860"/>
          <a:ext cx="7572428" cy="4903338"/>
        </p:xfrm>
        <a:graphic>
          <a:graphicData uri="http://schemas.openxmlformats.org/drawingml/2006/chart">
            <c:chart xmlns:c="http://schemas.openxmlformats.org/drawingml/2006/chart" xmlns:r="http://schemas.openxmlformats.org/officeDocument/2006/relationships" r:id="rId3"/>
          </a:graphicData>
        </a:graphic>
      </p:graphicFrame>
      <p:sp>
        <p:nvSpPr>
          <p:cNvPr id="16389" name="Text Box 7"/>
          <p:cNvSpPr txBox="1">
            <a:spLocks noChangeArrowheads="1"/>
          </p:cNvSpPr>
          <p:nvPr/>
        </p:nvSpPr>
        <p:spPr bwMode="auto">
          <a:xfrm>
            <a:off x="1524000" y="5715000"/>
            <a:ext cx="91440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1400" b="1"/>
              <a:t>Source:</a:t>
            </a:r>
            <a:r>
              <a:rPr lang="en-GB" sz="1400" b="1">
                <a:latin typeface="Calibri" panose="020F0502020204030204" pitchFamily="34" charset="0"/>
              </a:rPr>
              <a:t> </a:t>
            </a:r>
            <a:r>
              <a:rPr lang="en-US" sz="1400" b="1">
                <a:latin typeface="Calibri" panose="020F0502020204030204" pitchFamily="34" charset="0"/>
              </a:rPr>
              <a:t>Liu L. et al. 2012. Global, regional, and national causes of child mortality in 2000–2010: an updated systematic analysis. The Lancet. doi:10.1016/S0140-6736(12)60560-1.</a:t>
            </a:r>
            <a:r>
              <a:rPr lang="en-US" sz="1400" b="1"/>
              <a:t>)</a:t>
            </a:r>
            <a:endParaRPr lang="en-GB" sz="1400" b="1"/>
          </a:p>
        </p:txBody>
      </p:sp>
      <p:sp>
        <p:nvSpPr>
          <p:cNvPr id="16390" name="TextBox 9"/>
          <p:cNvSpPr txBox="1">
            <a:spLocks noChangeArrowheads="1"/>
          </p:cNvSpPr>
          <p:nvPr/>
        </p:nvSpPr>
        <p:spPr bwMode="auto">
          <a:xfrm>
            <a:off x="1524000" y="6215063"/>
            <a:ext cx="9144000" cy="64516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fi-FI">
                <a:solidFill>
                  <a:schemeClr val="bg1"/>
                </a:solidFill>
                <a:latin typeface="Calibri" panose="020F0502020204030204" pitchFamily="34" charset="0"/>
              </a:rPr>
              <a:t>Three causes (preterm complications, intrapartum related, &amp; severe infection) account for 89% of all newborn deaths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AutoShape 2"/>
          <p:cNvSpPr>
            <a:spLocks noChangeArrowheads="1"/>
          </p:cNvSpPr>
          <p:nvPr/>
        </p:nvSpPr>
        <p:spPr bwMode="auto">
          <a:xfrm>
            <a:off x="7848600" y="2743200"/>
            <a:ext cx="1447800" cy="2438400"/>
          </a:xfrm>
          <a:prstGeom prst="curvedLeftArrow">
            <a:avLst>
              <a:gd name="adj1" fmla="val 19602"/>
              <a:gd name="adj2" fmla="val 53287"/>
              <a:gd name="adj3" fmla="val 33333"/>
            </a:avLst>
          </a:prstGeom>
          <a:gradFill rotWithShape="1">
            <a:gsLst>
              <a:gs pos="0">
                <a:srgbClr val="07034D">
                  <a:gamma/>
                  <a:shade val="46275"/>
                  <a:invGamma/>
                </a:srgbClr>
              </a:gs>
              <a:gs pos="50000">
                <a:srgbClr val="07034D">
                  <a:alpha val="60001"/>
                </a:srgbClr>
              </a:gs>
              <a:gs pos="100000">
                <a:srgbClr val="07034D">
                  <a:gamma/>
                  <a:shade val="46275"/>
                  <a:invGamma/>
                </a:srgbClr>
              </a:gs>
            </a:gsLst>
            <a:lin ang="0" scaled="1"/>
          </a:gradFill>
          <a:ln w="9525">
            <a:solidFill>
              <a:schemeClr val="tx1"/>
            </a:solidFill>
            <a:miter lim="800000"/>
          </a:ln>
          <a:effectLst/>
        </p:spPr>
        <p:txBody>
          <a:bodyPr wrap="none" anchor="ctr"/>
          <a:lstStyle/>
          <a:p>
            <a:pPr>
              <a:defRPr/>
            </a:pPr>
            <a:endParaRPr lang="en-GB">
              <a:latin typeface="Arial" panose="020B0604020202020204" pitchFamily="34" charset="0"/>
              <a:cs typeface="Arial" panose="020B0604020202020204" pitchFamily="34" charset="0"/>
            </a:endParaRPr>
          </a:p>
        </p:txBody>
      </p:sp>
      <p:sp>
        <p:nvSpPr>
          <p:cNvPr id="17411" name="AutoShape 3"/>
          <p:cNvSpPr>
            <a:spLocks noChangeArrowheads="1"/>
          </p:cNvSpPr>
          <p:nvPr/>
        </p:nvSpPr>
        <p:spPr bwMode="auto">
          <a:xfrm>
            <a:off x="6934200" y="2438400"/>
            <a:ext cx="1214438" cy="914400"/>
          </a:xfrm>
          <a:prstGeom prst="parallelogram">
            <a:avLst>
              <a:gd name="adj" fmla="val 33203"/>
            </a:avLst>
          </a:prstGeom>
          <a:gradFill rotWithShape="1">
            <a:gsLst>
              <a:gs pos="0">
                <a:schemeClr val="folHlink">
                  <a:gamma/>
                  <a:shade val="46275"/>
                  <a:invGamma/>
                </a:schemeClr>
              </a:gs>
              <a:gs pos="50000">
                <a:schemeClr val="folHlink">
                  <a:alpha val="71001"/>
                </a:schemeClr>
              </a:gs>
              <a:gs pos="100000">
                <a:schemeClr val="folHlink">
                  <a:gamma/>
                  <a:shade val="46275"/>
                  <a:invGamma/>
                </a:schemeClr>
              </a:gs>
            </a:gsLst>
            <a:lin ang="5400000" scaled="1"/>
          </a:gradFill>
          <a:ln w="9525">
            <a:solidFill>
              <a:schemeClr val="tx1"/>
            </a:solidFill>
            <a:miter lim="800000"/>
          </a:ln>
          <a:effectLst/>
        </p:spPr>
        <p:txBody>
          <a:bodyPr wrap="none" anchor="ctr"/>
          <a:lstStyle/>
          <a:p>
            <a:pPr>
              <a:defRPr/>
            </a:pPr>
            <a:endParaRPr lang="en-GB">
              <a:latin typeface="Arial" panose="020B0604020202020204" pitchFamily="34" charset="0"/>
              <a:cs typeface="Arial" panose="020B0604020202020204" pitchFamily="34" charset="0"/>
            </a:endParaRPr>
          </a:p>
        </p:txBody>
      </p:sp>
      <p:sp>
        <p:nvSpPr>
          <p:cNvPr id="17412" name="AutoShape 4"/>
          <p:cNvSpPr>
            <a:spLocks noChangeArrowheads="1"/>
          </p:cNvSpPr>
          <p:nvPr/>
        </p:nvSpPr>
        <p:spPr bwMode="auto">
          <a:xfrm>
            <a:off x="6567488" y="2590800"/>
            <a:ext cx="976312" cy="485775"/>
          </a:xfrm>
          <a:prstGeom prst="notchedRightArrow">
            <a:avLst>
              <a:gd name="adj1" fmla="val 50000"/>
              <a:gd name="adj2" fmla="val 50245"/>
            </a:avLst>
          </a:prstGeom>
          <a:gradFill rotWithShape="1">
            <a:gsLst>
              <a:gs pos="0">
                <a:srgbClr val="07034D">
                  <a:gamma/>
                  <a:shade val="46275"/>
                  <a:invGamma/>
                </a:srgbClr>
              </a:gs>
              <a:gs pos="50000">
                <a:srgbClr val="07034D">
                  <a:alpha val="30000"/>
                </a:srgbClr>
              </a:gs>
              <a:gs pos="100000">
                <a:srgbClr val="07034D">
                  <a:gamma/>
                  <a:shade val="46275"/>
                  <a:invGamma/>
                </a:srgbClr>
              </a:gs>
            </a:gsLst>
            <a:lin ang="0" scaled="1"/>
          </a:gradFill>
          <a:ln w="9525">
            <a:solidFill>
              <a:schemeClr val="tx1"/>
            </a:solidFill>
            <a:miter lim="800000"/>
          </a:ln>
          <a:effectLst/>
        </p:spPr>
        <p:txBody>
          <a:bodyPr wrap="none" anchor="ctr"/>
          <a:lstStyle/>
          <a:p>
            <a:pPr>
              <a:defRPr/>
            </a:pPr>
            <a:endParaRPr lang="en-GB">
              <a:latin typeface="Arial" panose="020B0604020202020204" pitchFamily="34" charset="0"/>
              <a:cs typeface="Arial" panose="020B0604020202020204" pitchFamily="34" charset="0"/>
            </a:endParaRPr>
          </a:p>
        </p:txBody>
      </p:sp>
      <p:sp>
        <p:nvSpPr>
          <p:cNvPr id="17413" name="AutoShape 5"/>
          <p:cNvSpPr>
            <a:spLocks noChangeArrowheads="1"/>
          </p:cNvSpPr>
          <p:nvPr/>
        </p:nvSpPr>
        <p:spPr bwMode="auto">
          <a:xfrm>
            <a:off x="5638800" y="2438400"/>
            <a:ext cx="1214438" cy="914400"/>
          </a:xfrm>
          <a:prstGeom prst="parallelogram">
            <a:avLst>
              <a:gd name="adj" fmla="val 33203"/>
            </a:avLst>
          </a:prstGeom>
          <a:gradFill rotWithShape="1">
            <a:gsLst>
              <a:gs pos="0">
                <a:schemeClr val="folHlink">
                  <a:gamma/>
                  <a:shade val="46275"/>
                  <a:invGamma/>
                </a:schemeClr>
              </a:gs>
              <a:gs pos="50000">
                <a:schemeClr val="folHlink">
                  <a:alpha val="71001"/>
                </a:schemeClr>
              </a:gs>
              <a:gs pos="100000">
                <a:schemeClr val="folHlink">
                  <a:gamma/>
                  <a:shade val="46275"/>
                  <a:invGamma/>
                </a:schemeClr>
              </a:gs>
            </a:gsLst>
            <a:lin ang="5400000" scaled="1"/>
          </a:gradFill>
          <a:ln w="9525">
            <a:solidFill>
              <a:schemeClr val="tx1"/>
            </a:solidFill>
            <a:miter lim="800000"/>
          </a:ln>
          <a:effectLst/>
        </p:spPr>
        <p:txBody>
          <a:bodyPr wrap="none" anchor="ctr"/>
          <a:lstStyle/>
          <a:p>
            <a:pPr>
              <a:defRPr/>
            </a:pPr>
            <a:endParaRPr lang="en-GB">
              <a:latin typeface="Arial" panose="020B0604020202020204" pitchFamily="34" charset="0"/>
              <a:cs typeface="Arial" panose="020B0604020202020204" pitchFamily="34" charset="0"/>
            </a:endParaRPr>
          </a:p>
        </p:txBody>
      </p:sp>
      <p:sp>
        <p:nvSpPr>
          <p:cNvPr id="17414" name="AutoShape 6"/>
          <p:cNvSpPr>
            <a:spLocks noChangeArrowheads="1"/>
          </p:cNvSpPr>
          <p:nvPr/>
        </p:nvSpPr>
        <p:spPr bwMode="auto">
          <a:xfrm>
            <a:off x="5257800" y="2590800"/>
            <a:ext cx="976313" cy="485775"/>
          </a:xfrm>
          <a:prstGeom prst="notchedRightArrow">
            <a:avLst>
              <a:gd name="adj1" fmla="val 50000"/>
              <a:gd name="adj2" fmla="val 50245"/>
            </a:avLst>
          </a:prstGeom>
          <a:gradFill rotWithShape="1">
            <a:gsLst>
              <a:gs pos="0">
                <a:srgbClr val="07034D">
                  <a:gamma/>
                  <a:shade val="46275"/>
                  <a:invGamma/>
                </a:srgbClr>
              </a:gs>
              <a:gs pos="50000">
                <a:srgbClr val="07034D">
                  <a:alpha val="30000"/>
                </a:srgbClr>
              </a:gs>
              <a:gs pos="100000">
                <a:srgbClr val="07034D">
                  <a:gamma/>
                  <a:shade val="46275"/>
                  <a:invGamma/>
                </a:srgbClr>
              </a:gs>
            </a:gsLst>
            <a:lin ang="0" scaled="1"/>
          </a:gradFill>
          <a:ln w="9525">
            <a:solidFill>
              <a:schemeClr val="tx1"/>
            </a:solidFill>
            <a:miter lim="800000"/>
          </a:ln>
          <a:effectLst/>
        </p:spPr>
        <p:txBody>
          <a:bodyPr wrap="none" anchor="ctr"/>
          <a:lstStyle/>
          <a:p>
            <a:pPr>
              <a:defRPr/>
            </a:pPr>
            <a:endParaRPr lang="en-GB">
              <a:latin typeface="Arial" panose="020B0604020202020204" pitchFamily="34" charset="0"/>
              <a:cs typeface="Arial" panose="020B0604020202020204" pitchFamily="34" charset="0"/>
            </a:endParaRPr>
          </a:p>
        </p:txBody>
      </p:sp>
      <p:sp>
        <p:nvSpPr>
          <p:cNvPr id="17415" name="AutoShape 7"/>
          <p:cNvSpPr>
            <a:spLocks noChangeArrowheads="1"/>
          </p:cNvSpPr>
          <p:nvPr/>
        </p:nvSpPr>
        <p:spPr bwMode="auto">
          <a:xfrm>
            <a:off x="4348163" y="2438400"/>
            <a:ext cx="1214437" cy="914400"/>
          </a:xfrm>
          <a:prstGeom prst="parallelogram">
            <a:avLst>
              <a:gd name="adj" fmla="val 33203"/>
            </a:avLst>
          </a:prstGeom>
          <a:gradFill rotWithShape="1">
            <a:gsLst>
              <a:gs pos="0">
                <a:schemeClr val="folHlink">
                  <a:gamma/>
                  <a:shade val="46275"/>
                  <a:invGamma/>
                </a:schemeClr>
              </a:gs>
              <a:gs pos="50000">
                <a:schemeClr val="folHlink">
                  <a:alpha val="71001"/>
                </a:schemeClr>
              </a:gs>
              <a:gs pos="100000">
                <a:schemeClr val="folHlink">
                  <a:gamma/>
                  <a:shade val="46275"/>
                  <a:invGamma/>
                </a:schemeClr>
              </a:gs>
            </a:gsLst>
            <a:lin ang="5400000" scaled="1"/>
          </a:gradFill>
          <a:ln w="9525">
            <a:solidFill>
              <a:schemeClr val="tx1"/>
            </a:solidFill>
            <a:miter lim="800000"/>
          </a:ln>
          <a:effectLst/>
        </p:spPr>
        <p:txBody>
          <a:bodyPr wrap="none" anchor="ctr"/>
          <a:lstStyle/>
          <a:p>
            <a:pPr>
              <a:defRPr/>
            </a:pPr>
            <a:endParaRPr lang="en-GB">
              <a:latin typeface="Arial" panose="020B0604020202020204" pitchFamily="34" charset="0"/>
              <a:cs typeface="Arial" panose="020B0604020202020204" pitchFamily="34" charset="0"/>
            </a:endParaRPr>
          </a:p>
        </p:txBody>
      </p:sp>
      <p:sp>
        <p:nvSpPr>
          <p:cNvPr id="17416" name="AutoShape 8"/>
          <p:cNvSpPr>
            <a:spLocks noChangeArrowheads="1"/>
          </p:cNvSpPr>
          <p:nvPr/>
        </p:nvSpPr>
        <p:spPr bwMode="auto">
          <a:xfrm>
            <a:off x="3962400" y="2590800"/>
            <a:ext cx="976313" cy="485775"/>
          </a:xfrm>
          <a:prstGeom prst="notchedRightArrow">
            <a:avLst>
              <a:gd name="adj1" fmla="val 50000"/>
              <a:gd name="adj2" fmla="val 50245"/>
            </a:avLst>
          </a:prstGeom>
          <a:gradFill rotWithShape="1">
            <a:gsLst>
              <a:gs pos="0">
                <a:srgbClr val="07034D">
                  <a:gamma/>
                  <a:shade val="46275"/>
                  <a:invGamma/>
                </a:srgbClr>
              </a:gs>
              <a:gs pos="50000">
                <a:srgbClr val="07034D">
                  <a:alpha val="30000"/>
                </a:srgbClr>
              </a:gs>
              <a:gs pos="100000">
                <a:srgbClr val="07034D">
                  <a:gamma/>
                  <a:shade val="46275"/>
                  <a:invGamma/>
                </a:srgbClr>
              </a:gs>
            </a:gsLst>
            <a:lin ang="0" scaled="1"/>
          </a:gradFill>
          <a:ln w="9525">
            <a:solidFill>
              <a:schemeClr val="tx1"/>
            </a:solidFill>
            <a:miter lim="800000"/>
          </a:ln>
          <a:effectLst/>
        </p:spPr>
        <p:txBody>
          <a:bodyPr wrap="none" anchor="ctr"/>
          <a:lstStyle/>
          <a:p>
            <a:pPr>
              <a:defRPr/>
            </a:pPr>
            <a:endParaRPr lang="en-GB">
              <a:latin typeface="Arial" panose="020B0604020202020204" pitchFamily="34" charset="0"/>
              <a:cs typeface="Arial" panose="020B0604020202020204" pitchFamily="34" charset="0"/>
            </a:endParaRPr>
          </a:p>
        </p:txBody>
      </p:sp>
      <p:sp>
        <p:nvSpPr>
          <p:cNvPr id="17417" name="AutoShape 9"/>
          <p:cNvSpPr>
            <a:spLocks noChangeArrowheads="1"/>
          </p:cNvSpPr>
          <p:nvPr/>
        </p:nvSpPr>
        <p:spPr bwMode="auto">
          <a:xfrm>
            <a:off x="3057525" y="2438400"/>
            <a:ext cx="1214438" cy="914400"/>
          </a:xfrm>
          <a:prstGeom prst="parallelogram">
            <a:avLst>
              <a:gd name="adj" fmla="val 33203"/>
            </a:avLst>
          </a:prstGeom>
          <a:gradFill rotWithShape="1">
            <a:gsLst>
              <a:gs pos="0">
                <a:schemeClr val="folHlink">
                  <a:gamma/>
                  <a:shade val="46275"/>
                  <a:invGamma/>
                </a:schemeClr>
              </a:gs>
              <a:gs pos="50000">
                <a:schemeClr val="folHlink">
                  <a:alpha val="71001"/>
                </a:schemeClr>
              </a:gs>
              <a:gs pos="100000">
                <a:schemeClr val="folHlink">
                  <a:gamma/>
                  <a:shade val="46275"/>
                  <a:invGamma/>
                </a:schemeClr>
              </a:gs>
            </a:gsLst>
            <a:lin ang="5400000" scaled="1"/>
          </a:gradFill>
          <a:ln w="9525">
            <a:solidFill>
              <a:schemeClr val="tx1"/>
            </a:solidFill>
            <a:miter lim="800000"/>
          </a:ln>
          <a:effectLst/>
        </p:spPr>
        <p:txBody>
          <a:bodyPr wrap="none" anchor="ctr"/>
          <a:lstStyle/>
          <a:p>
            <a:pPr>
              <a:defRPr/>
            </a:pPr>
            <a:endParaRPr lang="en-GB">
              <a:latin typeface="Arial" panose="020B0604020202020204" pitchFamily="34" charset="0"/>
              <a:cs typeface="Arial" panose="020B0604020202020204" pitchFamily="34" charset="0"/>
            </a:endParaRPr>
          </a:p>
        </p:txBody>
      </p:sp>
      <p:sp>
        <p:nvSpPr>
          <p:cNvPr id="39954" name="Rectangle 10"/>
          <p:cNvSpPr>
            <a:spLocks noGrp="1" noChangeArrowheads="1"/>
          </p:cNvSpPr>
          <p:nvPr>
            <p:ph type="title"/>
          </p:nvPr>
        </p:nvSpPr>
        <p:spPr>
          <a:xfrm>
            <a:off x="1595438" y="482600"/>
            <a:ext cx="8029575" cy="584200"/>
          </a:xfrm>
        </p:spPr>
        <p:txBody>
          <a:bodyPr>
            <a:normAutofit fontScale="90000"/>
          </a:bodyPr>
          <a:lstStyle/>
          <a:p>
            <a:pPr eaLnBrk="1" hangingPunct="1"/>
            <a:r>
              <a:rPr lang="en-US"/>
              <a:t>Child health care interventions</a:t>
            </a:r>
          </a:p>
        </p:txBody>
      </p:sp>
      <p:sp>
        <p:nvSpPr>
          <p:cNvPr id="17419" name="AutoShape 11"/>
          <p:cNvSpPr>
            <a:spLocks noChangeArrowheads="1"/>
          </p:cNvSpPr>
          <p:nvPr/>
        </p:nvSpPr>
        <p:spPr bwMode="auto">
          <a:xfrm>
            <a:off x="2667000" y="2590800"/>
            <a:ext cx="976313" cy="485775"/>
          </a:xfrm>
          <a:prstGeom prst="notchedRightArrow">
            <a:avLst>
              <a:gd name="adj1" fmla="val 50000"/>
              <a:gd name="adj2" fmla="val 50245"/>
            </a:avLst>
          </a:prstGeom>
          <a:gradFill rotWithShape="1">
            <a:gsLst>
              <a:gs pos="0">
                <a:srgbClr val="07034D">
                  <a:gamma/>
                  <a:shade val="46275"/>
                  <a:invGamma/>
                </a:srgbClr>
              </a:gs>
              <a:gs pos="50000">
                <a:srgbClr val="07034D">
                  <a:alpha val="30000"/>
                </a:srgbClr>
              </a:gs>
              <a:gs pos="100000">
                <a:srgbClr val="07034D">
                  <a:gamma/>
                  <a:shade val="46275"/>
                  <a:invGamma/>
                </a:srgbClr>
              </a:gs>
            </a:gsLst>
            <a:lin ang="0" scaled="1"/>
          </a:gradFill>
          <a:ln w="9525">
            <a:solidFill>
              <a:schemeClr val="tx1"/>
            </a:solidFill>
            <a:miter lim="800000"/>
          </a:ln>
          <a:effectLst/>
        </p:spPr>
        <p:txBody>
          <a:bodyPr wrap="none" anchor="ctr"/>
          <a:lstStyle/>
          <a:p>
            <a:pPr>
              <a:defRPr/>
            </a:pPr>
            <a:endParaRPr lang="en-GB">
              <a:latin typeface="Arial" panose="020B0604020202020204" pitchFamily="34" charset="0"/>
              <a:cs typeface="Arial" panose="020B0604020202020204" pitchFamily="34" charset="0"/>
            </a:endParaRPr>
          </a:p>
        </p:txBody>
      </p:sp>
      <p:sp>
        <p:nvSpPr>
          <p:cNvPr id="17420" name="AutoShape 12"/>
          <p:cNvSpPr>
            <a:spLocks noChangeArrowheads="1"/>
          </p:cNvSpPr>
          <p:nvPr/>
        </p:nvSpPr>
        <p:spPr bwMode="auto">
          <a:xfrm>
            <a:off x="3581400" y="4114800"/>
            <a:ext cx="4038600" cy="1371600"/>
          </a:xfrm>
          <a:prstGeom prst="cube">
            <a:avLst>
              <a:gd name="adj" fmla="val 25000"/>
            </a:avLst>
          </a:prstGeom>
          <a:gradFill rotWithShape="1">
            <a:gsLst>
              <a:gs pos="0">
                <a:schemeClr val="folHlink">
                  <a:gamma/>
                  <a:shade val="46275"/>
                  <a:invGamma/>
                </a:schemeClr>
              </a:gs>
              <a:gs pos="50000">
                <a:schemeClr val="folHlink"/>
              </a:gs>
              <a:gs pos="100000">
                <a:schemeClr val="folHlink">
                  <a:gamma/>
                  <a:shade val="46275"/>
                  <a:invGamma/>
                </a:schemeClr>
              </a:gs>
            </a:gsLst>
            <a:lin ang="0" scaled="1"/>
          </a:gradFill>
          <a:ln w="9525">
            <a:solidFill>
              <a:schemeClr val="tx1"/>
            </a:solidFill>
            <a:miter lim="800000"/>
          </a:ln>
          <a:effectLst/>
        </p:spPr>
        <p:txBody>
          <a:bodyPr wrap="none" lIns="91418" tIns="45710" rIns="91418" bIns="45710" anchor="ctr"/>
          <a:lstStyle/>
          <a:p>
            <a:pPr algn="ctr">
              <a:defRPr/>
            </a:pPr>
            <a:r>
              <a:rPr lang="en-US" sz="4000" b="1" dirty="0">
                <a:solidFill>
                  <a:schemeClr val="bg1"/>
                </a:solidFill>
                <a:latin typeface="Comic Sans MS" panose="030F0702030302020204" pitchFamily="66" charset="0"/>
                <a:cs typeface="Arial" panose="020B0604020202020204" pitchFamily="34" charset="0"/>
              </a:rPr>
              <a:t>Health child</a:t>
            </a:r>
          </a:p>
        </p:txBody>
      </p:sp>
      <p:sp>
        <p:nvSpPr>
          <p:cNvPr id="17421" name="Oval 13"/>
          <p:cNvSpPr>
            <a:spLocks noChangeArrowheads="1"/>
          </p:cNvSpPr>
          <p:nvPr/>
        </p:nvSpPr>
        <p:spPr bwMode="auto">
          <a:xfrm>
            <a:off x="3581400" y="1828800"/>
            <a:ext cx="457200" cy="457200"/>
          </a:xfrm>
          <a:prstGeom prst="ellipse">
            <a:avLst/>
          </a:prstGeom>
          <a:gradFill rotWithShape="1">
            <a:gsLst>
              <a:gs pos="0">
                <a:schemeClr val="accent1">
                  <a:gamma/>
                  <a:shade val="46275"/>
                  <a:invGamma/>
                </a:schemeClr>
              </a:gs>
              <a:gs pos="50000">
                <a:schemeClr val="accent1"/>
              </a:gs>
              <a:gs pos="100000">
                <a:schemeClr val="accent1">
                  <a:gamma/>
                  <a:shade val="46275"/>
                  <a:invGamma/>
                </a:schemeClr>
              </a:gs>
            </a:gsLst>
            <a:lin ang="2700000" scaled="1"/>
          </a:gradFill>
          <a:ln w="9525">
            <a:noFill/>
            <a:round/>
          </a:ln>
          <a:effectLst/>
        </p:spPr>
        <p:txBody>
          <a:bodyPr wrap="none" lIns="91418" tIns="45710" rIns="91418" bIns="45710" anchor="ctr"/>
          <a:lstStyle/>
          <a:p>
            <a:pPr algn="ctr">
              <a:defRPr/>
            </a:pPr>
            <a:r>
              <a:rPr lang="en-US" b="1">
                <a:latin typeface="Arial" panose="020B0604020202020204" pitchFamily="34" charset="0"/>
                <a:cs typeface="Arial" panose="020B0604020202020204" pitchFamily="34" charset="0"/>
              </a:rPr>
              <a:t>1</a:t>
            </a:r>
          </a:p>
        </p:txBody>
      </p:sp>
      <p:sp>
        <p:nvSpPr>
          <p:cNvPr id="17422" name="Oval 14"/>
          <p:cNvSpPr>
            <a:spLocks noChangeArrowheads="1"/>
          </p:cNvSpPr>
          <p:nvPr/>
        </p:nvSpPr>
        <p:spPr bwMode="auto">
          <a:xfrm>
            <a:off x="4876800" y="1828800"/>
            <a:ext cx="457200" cy="457200"/>
          </a:xfrm>
          <a:prstGeom prst="ellipse">
            <a:avLst/>
          </a:prstGeom>
          <a:gradFill rotWithShape="1">
            <a:gsLst>
              <a:gs pos="0">
                <a:schemeClr val="accent1">
                  <a:gamma/>
                  <a:shade val="46275"/>
                  <a:invGamma/>
                </a:schemeClr>
              </a:gs>
              <a:gs pos="50000">
                <a:schemeClr val="accent1"/>
              </a:gs>
              <a:gs pos="100000">
                <a:schemeClr val="accent1">
                  <a:gamma/>
                  <a:shade val="46275"/>
                  <a:invGamma/>
                </a:schemeClr>
              </a:gs>
            </a:gsLst>
            <a:lin ang="2700000" scaled="1"/>
          </a:gradFill>
          <a:ln w="9525">
            <a:noFill/>
            <a:round/>
          </a:ln>
          <a:effectLst/>
        </p:spPr>
        <p:txBody>
          <a:bodyPr wrap="none" lIns="91418" tIns="45710" rIns="91418" bIns="45710" anchor="ctr"/>
          <a:lstStyle/>
          <a:p>
            <a:pPr algn="ctr">
              <a:defRPr/>
            </a:pPr>
            <a:r>
              <a:rPr lang="en-US" b="1">
                <a:latin typeface="Arial" panose="020B0604020202020204" pitchFamily="34" charset="0"/>
                <a:cs typeface="Arial" panose="020B0604020202020204" pitchFamily="34" charset="0"/>
              </a:rPr>
              <a:t>2</a:t>
            </a:r>
          </a:p>
        </p:txBody>
      </p:sp>
      <p:sp>
        <p:nvSpPr>
          <p:cNvPr id="17423" name="Oval 15"/>
          <p:cNvSpPr>
            <a:spLocks noChangeArrowheads="1"/>
          </p:cNvSpPr>
          <p:nvPr/>
        </p:nvSpPr>
        <p:spPr bwMode="auto">
          <a:xfrm>
            <a:off x="6172200" y="1828800"/>
            <a:ext cx="457200" cy="457200"/>
          </a:xfrm>
          <a:prstGeom prst="ellipse">
            <a:avLst/>
          </a:prstGeom>
          <a:gradFill rotWithShape="1">
            <a:gsLst>
              <a:gs pos="0">
                <a:schemeClr val="accent1">
                  <a:gamma/>
                  <a:shade val="46275"/>
                  <a:invGamma/>
                </a:schemeClr>
              </a:gs>
              <a:gs pos="50000">
                <a:schemeClr val="accent1"/>
              </a:gs>
              <a:gs pos="100000">
                <a:schemeClr val="accent1">
                  <a:gamma/>
                  <a:shade val="46275"/>
                  <a:invGamma/>
                </a:schemeClr>
              </a:gs>
            </a:gsLst>
            <a:lin ang="2700000" scaled="1"/>
          </a:gradFill>
          <a:ln w="9525">
            <a:noFill/>
            <a:round/>
          </a:ln>
          <a:effectLst/>
        </p:spPr>
        <p:txBody>
          <a:bodyPr wrap="none" lIns="91418" tIns="45710" rIns="91418" bIns="45710" anchor="ctr"/>
          <a:lstStyle/>
          <a:p>
            <a:pPr algn="ctr">
              <a:defRPr/>
            </a:pPr>
            <a:r>
              <a:rPr lang="en-US" b="1">
                <a:latin typeface="Arial" panose="020B0604020202020204" pitchFamily="34" charset="0"/>
                <a:cs typeface="Arial" panose="020B0604020202020204" pitchFamily="34" charset="0"/>
              </a:rPr>
              <a:t>3</a:t>
            </a:r>
          </a:p>
        </p:txBody>
      </p:sp>
      <p:sp>
        <p:nvSpPr>
          <p:cNvPr id="17424" name="Oval 16"/>
          <p:cNvSpPr>
            <a:spLocks noChangeArrowheads="1"/>
          </p:cNvSpPr>
          <p:nvPr/>
        </p:nvSpPr>
        <p:spPr bwMode="auto">
          <a:xfrm>
            <a:off x="7467600" y="1828800"/>
            <a:ext cx="457200" cy="457200"/>
          </a:xfrm>
          <a:prstGeom prst="ellipse">
            <a:avLst/>
          </a:prstGeom>
          <a:gradFill rotWithShape="1">
            <a:gsLst>
              <a:gs pos="0">
                <a:schemeClr val="accent1">
                  <a:gamma/>
                  <a:shade val="46275"/>
                  <a:invGamma/>
                </a:schemeClr>
              </a:gs>
              <a:gs pos="50000">
                <a:schemeClr val="accent1"/>
              </a:gs>
              <a:gs pos="100000">
                <a:schemeClr val="accent1">
                  <a:gamma/>
                  <a:shade val="46275"/>
                  <a:invGamma/>
                </a:schemeClr>
              </a:gs>
            </a:gsLst>
            <a:lin ang="2700000" scaled="1"/>
          </a:gradFill>
          <a:ln w="9525">
            <a:noFill/>
            <a:round/>
          </a:ln>
          <a:effectLst/>
        </p:spPr>
        <p:txBody>
          <a:bodyPr wrap="none" lIns="91418" tIns="45710" rIns="91418" bIns="45710" anchor="ctr"/>
          <a:lstStyle/>
          <a:p>
            <a:pPr algn="ctr">
              <a:defRPr/>
            </a:pPr>
            <a:r>
              <a:rPr lang="en-US" b="1">
                <a:latin typeface="Arial" panose="020B0604020202020204" pitchFamily="34" charset="0"/>
                <a:cs typeface="Arial" panose="020B0604020202020204" pitchFamily="34" charset="0"/>
              </a:rPr>
              <a:t>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Content Placeholder 2"/>
          <p:cNvSpPr>
            <a:spLocks noGrp="1"/>
          </p:cNvSpPr>
          <p:nvPr>
            <p:ph idx="1"/>
          </p:nvPr>
        </p:nvSpPr>
        <p:spPr>
          <a:xfrm>
            <a:off x="1981200" y="304800"/>
            <a:ext cx="8229600" cy="5821363"/>
          </a:xfrm>
        </p:spPr>
        <p:txBody>
          <a:bodyPr/>
          <a:lstStyle/>
          <a:p>
            <a:pPr eaLnBrk="1" hangingPunct="1">
              <a:buFont typeface="Arial" panose="020B0604020202020204" pitchFamily="34" charset="0"/>
              <a:buNone/>
            </a:pPr>
            <a:r>
              <a:rPr lang="en-US" sz="4400" b="1">
                <a:solidFill>
                  <a:srgbClr val="FFFF00"/>
                </a:solidFill>
              </a:rPr>
              <a:t>Newborn care interventions. </a:t>
            </a:r>
          </a:p>
          <a:p>
            <a:pPr eaLnBrk="1" hangingPunct="1"/>
            <a:r>
              <a:rPr lang="en-US"/>
              <a:t>access to skilled care during pregnancy, childbirth and the immediate postnatal period at community  and facility level. </a:t>
            </a:r>
          </a:p>
          <a:p>
            <a:pPr eaLnBrk="1" hangingPunct="1"/>
            <a:r>
              <a:rPr lang="en-US"/>
              <a:t>early and exclusive breastfeeding</a:t>
            </a:r>
          </a:p>
          <a:p>
            <a:pPr eaLnBrk="1" hangingPunct="1"/>
            <a:r>
              <a:rPr lang="en-US"/>
              <a:t>warmth </a:t>
            </a:r>
          </a:p>
          <a:p>
            <a:pPr eaLnBrk="1" hangingPunct="1"/>
            <a:r>
              <a:rPr lang="en-US"/>
              <a:t>hygienic cord and skin care </a:t>
            </a:r>
          </a:p>
          <a:p>
            <a:pPr eaLnBrk="1" hangingPunct="1"/>
            <a:r>
              <a:rPr lang="en-US"/>
              <a:t>timely and appropriate care-seeking for infections </a:t>
            </a:r>
          </a:p>
          <a:p>
            <a:pPr eaLnBrk="1" hangingPunct="1"/>
            <a:r>
              <a:rPr lang="en-US"/>
              <a:t>care of low-birth-weight infants.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Content Placeholder 2"/>
          <p:cNvSpPr>
            <a:spLocks noGrp="1"/>
          </p:cNvSpPr>
          <p:nvPr>
            <p:ph idx="1"/>
          </p:nvPr>
        </p:nvSpPr>
        <p:spPr>
          <a:xfrm>
            <a:off x="1981200" y="381000"/>
            <a:ext cx="8229600" cy="5745163"/>
          </a:xfrm>
        </p:spPr>
        <p:txBody>
          <a:bodyPr/>
          <a:lstStyle/>
          <a:p>
            <a:pPr eaLnBrk="1" hangingPunct="1"/>
            <a:r>
              <a:rPr lang="en-US" sz="2800" i="1"/>
              <a:t>Components of Community Based Newborn Care Package </a:t>
            </a:r>
          </a:p>
          <a:p>
            <a:pPr lvl="1" eaLnBrk="1" hangingPunct="1"/>
            <a:r>
              <a:rPr lang="en-US"/>
              <a:t>Early Identification of Pregnancy </a:t>
            </a:r>
            <a:endParaRPr lang="fi-FI" sz="2400"/>
          </a:p>
          <a:p>
            <a:pPr lvl="1" eaLnBrk="1" hangingPunct="1"/>
            <a:r>
              <a:rPr lang="en-US"/>
              <a:t>Provision of Focused Antenatal Care (ANC) </a:t>
            </a:r>
            <a:endParaRPr lang="fi-FI" sz="2400"/>
          </a:p>
          <a:p>
            <a:pPr lvl="1" eaLnBrk="1" hangingPunct="1"/>
            <a:r>
              <a:rPr lang="en-US"/>
              <a:t>Promotion of institutional delivery and </a:t>
            </a:r>
            <a:endParaRPr lang="fi-FI" sz="2400"/>
          </a:p>
          <a:p>
            <a:pPr lvl="1" eaLnBrk="1" hangingPunct="1"/>
            <a:r>
              <a:rPr lang="en-US"/>
              <a:t>Safe and clean delivery including provision of misoprostol in case of home deliveries or deliveries at health post level</a:t>
            </a:r>
            <a:endParaRPr lang="fi-FI" sz="2400"/>
          </a:p>
          <a:p>
            <a:pPr lvl="1" eaLnBrk="1" hangingPunct="1"/>
            <a:r>
              <a:rPr lang="en-US"/>
              <a:t>Provision of immediate newborn care, including application of Chlorohexidine on cord</a:t>
            </a:r>
            <a:endParaRPr lang="fi-FI" sz="2400"/>
          </a:p>
          <a:p>
            <a:pPr eaLnBrk="1" hangingPunct="1"/>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r>
              <a:rPr lang="en-US"/>
              <a:t>Cont’d</a:t>
            </a:r>
          </a:p>
        </p:txBody>
      </p:sp>
      <p:sp>
        <p:nvSpPr>
          <p:cNvPr id="43011" name="Content Placeholder 2"/>
          <p:cNvSpPr>
            <a:spLocks noGrp="1"/>
          </p:cNvSpPr>
          <p:nvPr>
            <p:ph idx="1"/>
          </p:nvPr>
        </p:nvSpPr>
        <p:spPr/>
        <p:txBody>
          <a:bodyPr>
            <a:normAutofit/>
          </a:bodyPr>
          <a:lstStyle/>
          <a:p>
            <a:pPr lvl="1" eaLnBrk="1" hangingPunct="1"/>
            <a:r>
              <a:rPr lang="en-US"/>
              <a:t>Recognition of asphyxia, initial stimulation and resuscitation of newborn baby</a:t>
            </a:r>
          </a:p>
          <a:p>
            <a:pPr lvl="1" eaLnBrk="1" hangingPunct="1"/>
            <a:endParaRPr lang="fi-FI" sz="2400"/>
          </a:p>
          <a:p>
            <a:pPr lvl="1" eaLnBrk="1" hangingPunct="1"/>
            <a:r>
              <a:rPr lang="en-US"/>
              <a:t>Prevention and management of hypothermia </a:t>
            </a:r>
          </a:p>
          <a:p>
            <a:pPr lvl="1" eaLnBrk="1" hangingPunct="1"/>
            <a:endParaRPr lang="fi-FI" sz="2400"/>
          </a:p>
          <a:p>
            <a:pPr lvl="1" eaLnBrk="1" hangingPunct="1"/>
            <a:r>
              <a:rPr lang="en-US"/>
              <a:t>Management of pre-term and/or low birth weight neonates </a:t>
            </a:r>
          </a:p>
          <a:p>
            <a:pPr lvl="1" eaLnBrk="1" hangingPunct="1"/>
            <a:endParaRPr lang="fi-FI" sz="2400"/>
          </a:p>
          <a:p>
            <a:pPr lvl="1" eaLnBrk="1" hangingPunct="1"/>
            <a:r>
              <a:rPr lang="en-US"/>
              <a:t>Management of neonatal sepsis/very severe disease at community level</a:t>
            </a:r>
            <a:endParaRPr lang="en-US" sz="5000"/>
          </a:p>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rtlCol="0">
            <a:normAutofit/>
          </a:bodyPr>
          <a:lstStyle/>
          <a:p>
            <a:pPr eaLnBrk="1" fontAlgn="auto" hangingPunct="1">
              <a:spcAft>
                <a:spcPts val="0"/>
              </a:spcAft>
              <a:defRPr/>
            </a:pPr>
            <a:r>
              <a:rPr lang="en-GB">
                <a:solidFill>
                  <a:schemeClr val="tx2">
                    <a:satMod val="200000"/>
                  </a:schemeClr>
                </a:solidFill>
              </a:rPr>
              <a:t>Key interventions</a:t>
            </a:r>
          </a:p>
        </p:txBody>
      </p:sp>
      <p:sp>
        <p:nvSpPr>
          <p:cNvPr id="44035" name="Rectangle 3"/>
          <p:cNvSpPr>
            <a:spLocks noGrp="1" noChangeArrowheads="1"/>
          </p:cNvSpPr>
          <p:nvPr>
            <p:ph idx="1"/>
          </p:nvPr>
        </p:nvSpPr>
        <p:spPr/>
        <p:txBody>
          <a:bodyPr/>
          <a:lstStyle/>
          <a:p>
            <a:pPr eaLnBrk="1" hangingPunct="1"/>
            <a:r>
              <a:rPr lang="en-GB"/>
              <a:t>Pneumonia</a:t>
            </a:r>
          </a:p>
          <a:p>
            <a:pPr lvl="1" eaLnBrk="1" hangingPunct="1"/>
            <a:r>
              <a:rPr lang="en-GB"/>
              <a:t>Exclusive breast feeding</a:t>
            </a:r>
          </a:p>
          <a:p>
            <a:pPr lvl="1" eaLnBrk="1" hangingPunct="1"/>
            <a:r>
              <a:rPr lang="en-GB"/>
              <a:t>Adequate complementary feeding</a:t>
            </a:r>
          </a:p>
          <a:p>
            <a:pPr lvl="1" eaLnBrk="1" hangingPunct="1"/>
            <a:r>
              <a:rPr lang="en-GB"/>
              <a:t>Hib and pneumo vaccination</a:t>
            </a:r>
          </a:p>
          <a:p>
            <a:pPr lvl="1" eaLnBrk="1" hangingPunct="1"/>
            <a:r>
              <a:rPr lang="en-GB"/>
              <a:t>Measles vaccination</a:t>
            </a:r>
          </a:p>
          <a:p>
            <a:pPr lvl="1" eaLnBrk="1" hangingPunct="1"/>
            <a:r>
              <a:rPr lang="en-GB"/>
              <a:t>PMTCT</a:t>
            </a:r>
          </a:p>
          <a:p>
            <a:pPr lvl="1" eaLnBrk="1" hangingPunct="1"/>
            <a:r>
              <a:rPr lang="en-GB"/>
              <a:t>Vitamin A supplementation</a:t>
            </a:r>
          </a:p>
          <a:p>
            <a:pPr lvl="1" eaLnBrk="1" hangingPunct="1"/>
            <a:r>
              <a:rPr lang="en-GB"/>
              <a:t>Antibiotic treatment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rtlCol="0">
            <a:normAutofit/>
          </a:bodyPr>
          <a:lstStyle/>
          <a:p>
            <a:pPr eaLnBrk="1" fontAlgn="auto" hangingPunct="1">
              <a:spcAft>
                <a:spcPts val="0"/>
              </a:spcAft>
              <a:defRPr/>
            </a:pPr>
            <a:r>
              <a:rPr lang="en-GB">
                <a:solidFill>
                  <a:schemeClr val="tx2">
                    <a:satMod val="200000"/>
                  </a:schemeClr>
                </a:solidFill>
              </a:rPr>
              <a:t>Diarrhoea</a:t>
            </a:r>
          </a:p>
        </p:txBody>
      </p:sp>
      <p:sp>
        <p:nvSpPr>
          <p:cNvPr id="45059" name="Rectangle 3"/>
          <p:cNvSpPr>
            <a:spLocks noGrp="1" noChangeArrowheads="1"/>
          </p:cNvSpPr>
          <p:nvPr>
            <p:ph idx="1"/>
          </p:nvPr>
        </p:nvSpPr>
        <p:spPr/>
        <p:txBody>
          <a:bodyPr/>
          <a:lstStyle/>
          <a:p>
            <a:pPr eaLnBrk="1" hangingPunct="1"/>
            <a:r>
              <a:rPr lang="en-GB"/>
              <a:t>Hygiene/sanitation/ safe water</a:t>
            </a:r>
          </a:p>
          <a:p>
            <a:pPr eaLnBrk="1" hangingPunct="1"/>
            <a:r>
              <a:rPr lang="en-GB"/>
              <a:t>Exclusive breast feeding</a:t>
            </a:r>
          </a:p>
          <a:p>
            <a:pPr eaLnBrk="1" hangingPunct="1"/>
            <a:r>
              <a:rPr lang="en-GB"/>
              <a:t>Adequate complimentary feeding</a:t>
            </a:r>
          </a:p>
          <a:p>
            <a:pPr eaLnBrk="1" hangingPunct="1"/>
            <a:r>
              <a:rPr lang="en-GB"/>
              <a:t>Vitamnin A supplementation</a:t>
            </a:r>
          </a:p>
          <a:p>
            <a:pPr eaLnBrk="1" hangingPunct="1"/>
            <a:r>
              <a:rPr lang="en-GB"/>
              <a:t>ORS</a:t>
            </a:r>
          </a:p>
          <a:p>
            <a:pPr eaLnBrk="1" hangingPunct="1"/>
            <a:r>
              <a:rPr lang="en-GB"/>
              <a:t>Zinc supplement</a:t>
            </a:r>
          </a:p>
          <a:p>
            <a:pPr eaLnBrk="1" hangingPunct="1"/>
            <a:r>
              <a:rPr lang="en-GB"/>
              <a:t>Antibiotic</a:t>
            </a:r>
          </a:p>
          <a:p>
            <a:pPr eaLnBrk="1" hangingPunct="1"/>
            <a:endParaRPr lang="en-GB"/>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pPr algn="l" eaLnBrk="1" hangingPunct="1"/>
            <a:r>
              <a:rPr lang="en-US" sz="3200">
                <a:solidFill>
                  <a:srgbClr val="FFFF00"/>
                </a:solidFill>
              </a:rPr>
              <a:t>Water, sanitation, and hygiene   interventions</a:t>
            </a:r>
          </a:p>
        </p:txBody>
      </p:sp>
      <p:sp>
        <p:nvSpPr>
          <p:cNvPr id="46083" name="Content Placeholder 2"/>
          <p:cNvSpPr>
            <a:spLocks noGrp="1"/>
          </p:cNvSpPr>
          <p:nvPr>
            <p:ph idx="1"/>
          </p:nvPr>
        </p:nvSpPr>
        <p:spPr/>
        <p:txBody>
          <a:bodyPr/>
          <a:lstStyle/>
          <a:p>
            <a:pPr eaLnBrk="1" hangingPunct="1">
              <a:buFont typeface="Arial" panose="020B0604020202020204" pitchFamily="34" charset="0"/>
              <a:buNone/>
            </a:pPr>
            <a:r>
              <a:rPr lang="en-US"/>
              <a:t>Risk reductions for diarrhea of:</a:t>
            </a:r>
          </a:p>
          <a:p>
            <a:pPr eaLnBrk="1" hangingPunct="1"/>
            <a:r>
              <a:rPr lang="en-US"/>
              <a:t>48% with hand washing with soap</a:t>
            </a:r>
          </a:p>
          <a:p>
            <a:pPr eaLnBrk="1" hangingPunct="1"/>
            <a:r>
              <a:rPr lang="en-US"/>
              <a:t>17% with improved water quality</a:t>
            </a:r>
          </a:p>
          <a:p>
            <a:pPr eaLnBrk="1" hangingPunct="1"/>
            <a:r>
              <a:rPr lang="en-US"/>
              <a:t>36% with excreta disposal</a:t>
            </a:r>
          </a:p>
        </p:txBody>
      </p:sp>
      <p:pic>
        <p:nvPicPr>
          <p:cNvPr id="4608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7250" y="4149725"/>
            <a:ext cx="4597400" cy="208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rtlCol="0">
            <a:normAutofit/>
          </a:bodyPr>
          <a:lstStyle/>
          <a:p>
            <a:pPr eaLnBrk="1" fontAlgn="auto" hangingPunct="1">
              <a:spcAft>
                <a:spcPts val="0"/>
              </a:spcAft>
              <a:defRPr/>
            </a:pPr>
            <a:r>
              <a:rPr lang="en-GB">
                <a:solidFill>
                  <a:schemeClr val="tx2">
                    <a:satMod val="200000"/>
                  </a:schemeClr>
                </a:solidFill>
              </a:rPr>
              <a:t>Malnutrition key interventions</a:t>
            </a:r>
          </a:p>
        </p:txBody>
      </p:sp>
      <p:sp>
        <p:nvSpPr>
          <p:cNvPr id="47107" name="Rectangle 3"/>
          <p:cNvSpPr>
            <a:spLocks noGrp="1" noChangeArrowheads="1"/>
          </p:cNvSpPr>
          <p:nvPr>
            <p:ph idx="1"/>
          </p:nvPr>
        </p:nvSpPr>
        <p:spPr/>
        <p:txBody>
          <a:bodyPr/>
          <a:lstStyle/>
          <a:p>
            <a:pPr eaLnBrk="1" hangingPunct="1">
              <a:lnSpc>
                <a:spcPct val="90000"/>
              </a:lnSpc>
            </a:pPr>
            <a:r>
              <a:rPr lang="en-GB"/>
              <a:t>Breast feeding</a:t>
            </a:r>
          </a:p>
          <a:p>
            <a:pPr eaLnBrk="1" hangingPunct="1">
              <a:lnSpc>
                <a:spcPct val="90000"/>
              </a:lnSpc>
            </a:pPr>
            <a:r>
              <a:rPr lang="en-GB"/>
              <a:t>Complementary feeding</a:t>
            </a:r>
          </a:p>
          <a:p>
            <a:pPr eaLnBrk="1" hangingPunct="1">
              <a:lnSpc>
                <a:spcPct val="90000"/>
              </a:lnSpc>
            </a:pPr>
            <a:r>
              <a:rPr lang="en-GB"/>
              <a:t>Nutrition advice and supplementation</a:t>
            </a:r>
          </a:p>
          <a:p>
            <a:pPr eaLnBrk="1" hangingPunct="1">
              <a:lnSpc>
                <a:spcPct val="90000"/>
              </a:lnSpc>
            </a:pPr>
            <a:r>
              <a:rPr lang="en-GB"/>
              <a:t>Vitamin A supplementation</a:t>
            </a:r>
          </a:p>
          <a:p>
            <a:pPr eaLnBrk="1" hangingPunct="1">
              <a:lnSpc>
                <a:spcPct val="90000"/>
              </a:lnSpc>
            </a:pPr>
            <a:r>
              <a:rPr lang="en-GB"/>
              <a:t>deworming</a:t>
            </a:r>
          </a:p>
          <a:p>
            <a:pPr eaLnBrk="1" hangingPunct="1">
              <a:lnSpc>
                <a:spcPct val="90000"/>
              </a:lnSpc>
            </a:pPr>
            <a:r>
              <a:rPr lang="en-GB"/>
              <a:t>Family planning</a:t>
            </a:r>
          </a:p>
          <a:p>
            <a:pPr eaLnBrk="1" hangingPunct="1">
              <a:lnSpc>
                <a:spcPct val="90000"/>
              </a:lnSpc>
            </a:pPr>
            <a:r>
              <a:rPr lang="en-GB"/>
              <a:t>Management of severe acute malnutrition</a:t>
            </a:r>
          </a:p>
          <a:p>
            <a:pPr eaLnBrk="1" hangingPunct="1">
              <a:lnSpc>
                <a:spcPct val="90000"/>
              </a:lnSpc>
            </a:pPr>
            <a:r>
              <a:rPr lang="en-GB"/>
              <a:t>Zinc</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1981200" y="274638"/>
            <a:ext cx="8229600" cy="850900"/>
          </a:xfrm>
        </p:spPr>
        <p:txBody>
          <a:bodyPr/>
          <a:lstStyle/>
          <a:p>
            <a:r>
              <a:rPr lang="en-US"/>
              <a:t>Immunization coverage</a:t>
            </a:r>
          </a:p>
        </p:txBody>
      </p:sp>
      <p:pic>
        <p:nvPicPr>
          <p:cNvPr id="48131"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0" y="1268413"/>
            <a:ext cx="9144000" cy="5589587"/>
          </a:xfr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pPr eaLnBrk="1" hangingPunct="1"/>
            <a:r>
              <a:rPr lang="en-US">
                <a:solidFill>
                  <a:srgbClr val="FFFF00"/>
                </a:solidFill>
              </a:rPr>
              <a:t>EPI schedule</a:t>
            </a:r>
          </a:p>
        </p:txBody>
      </p:sp>
      <p:graphicFrame>
        <p:nvGraphicFramePr>
          <p:cNvPr id="4" name="Content Placeholder 3"/>
          <p:cNvGraphicFramePr>
            <a:graphicFrameLocks noGrp="1"/>
          </p:cNvGraphicFramePr>
          <p:nvPr>
            <p:ph idx="1"/>
          </p:nvPr>
        </p:nvGraphicFramePr>
        <p:xfrm>
          <a:off x="1524000" y="1341438"/>
          <a:ext cx="9144000" cy="5516562"/>
        </p:xfrm>
        <a:graphic>
          <a:graphicData uri="http://schemas.openxmlformats.org/drawingml/2006/table">
            <a:tbl>
              <a:tblPr firstRow="1" bandRow="1">
                <a:tableStyleId>{5C22544A-7EE6-4342-B048-85BDC9FD1C3A}</a:tableStyleId>
              </a:tblPr>
              <a:tblGrid>
                <a:gridCol w="2190115">
                  <a:extLst>
                    <a:ext uri="{9D8B030D-6E8A-4147-A177-3AD203B41FA5}">
                      <a16:colId xmlns:a16="http://schemas.microsoft.com/office/drawing/2014/main" val="20000"/>
                    </a:ext>
                  </a:extLst>
                </a:gridCol>
                <a:gridCol w="6953885">
                  <a:extLst>
                    <a:ext uri="{9D8B030D-6E8A-4147-A177-3AD203B41FA5}">
                      <a16:colId xmlns:a16="http://schemas.microsoft.com/office/drawing/2014/main" val="20001"/>
                    </a:ext>
                  </a:extLst>
                </a:gridCol>
              </a:tblGrid>
              <a:tr h="919427">
                <a:tc>
                  <a:txBody>
                    <a:bodyPr/>
                    <a:lstStyle/>
                    <a:p>
                      <a:r>
                        <a:rPr lang="en-US" sz="2400" dirty="0"/>
                        <a:t>time</a:t>
                      </a:r>
                    </a:p>
                  </a:txBody>
                  <a:tcPr marT="45714" marB="45714"/>
                </a:tc>
                <a:tc>
                  <a:txBody>
                    <a:bodyPr/>
                    <a:lstStyle/>
                    <a:p>
                      <a:r>
                        <a:rPr lang="en-US" sz="2400" dirty="0"/>
                        <a:t>vaccines</a:t>
                      </a:r>
                    </a:p>
                  </a:txBody>
                  <a:tcPr marT="45714" marB="45714"/>
                </a:tc>
                <a:extLst>
                  <a:ext uri="{0D108BD9-81ED-4DB2-BD59-A6C34878D82A}">
                    <a16:rowId xmlns:a16="http://schemas.microsoft.com/office/drawing/2014/main" val="10000"/>
                  </a:ext>
                </a:extLst>
              </a:tr>
              <a:tr h="919427">
                <a:tc>
                  <a:txBody>
                    <a:bodyPr/>
                    <a:lstStyle/>
                    <a:p>
                      <a:r>
                        <a:rPr lang="en-US" sz="2400" dirty="0"/>
                        <a:t>Birth</a:t>
                      </a:r>
                    </a:p>
                  </a:txBody>
                  <a:tcPr marT="45714" marB="45714"/>
                </a:tc>
                <a:tc>
                  <a:txBody>
                    <a:bodyPr/>
                    <a:lstStyle/>
                    <a:p>
                      <a:r>
                        <a:rPr lang="en-US" sz="2400" dirty="0"/>
                        <a:t>OPV0, BCG</a:t>
                      </a:r>
                    </a:p>
                  </a:txBody>
                  <a:tcPr marT="45714" marB="45714"/>
                </a:tc>
                <a:extLst>
                  <a:ext uri="{0D108BD9-81ED-4DB2-BD59-A6C34878D82A}">
                    <a16:rowId xmlns:a16="http://schemas.microsoft.com/office/drawing/2014/main" val="10001"/>
                  </a:ext>
                </a:extLst>
              </a:tr>
              <a:tr h="919427">
                <a:tc>
                  <a:txBody>
                    <a:bodyPr/>
                    <a:lstStyle/>
                    <a:p>
                      <a:r>
                        <a:rPr lang="en-US" sz="2400" dirty="0"/>
                        <a:t>6 weeks</a:t>
                      </a:r>
                    </a:p>
                  </a:txBody>
                  <a:tcPr marT="45714" marB="45714"/>
                </a:tc>
                <a:tc>
                  <a:txBody>
                    <a:bodyPr/>
                    <a:lstStyle/>
                    <a:p>
                      <a:r>
                        <a:rPr lang="en-US" sz="2400" dirty="0"/>
                        <a:t>OPV1, DPT1,Pneumovacc1. </a:t>
                      </a:r>
                      <a:r>
                        <a:rPr lang="en-US" sz="2400" dirty="0" err="1"/>
                        <a:t>rota</a:t>
                      </a:r>
                      <a:r>
                        <a:rPr lang="en-US" sz="2400" dirty="0"/>
                        <a:t> 1</a:t>
                      </a:r>
                    </a:p>
                  </a:txBody>
                  <a:tcPr marT="45714" marB="45714"/>
                </a:tc>
                <a:extLst>
                  <a:ext uri="{0D108BD9-81ED-4DB2-BD59-A6C34878D82A}">
                    <a16:rowId xmlns:a16="http://schemas.microsoft.com/office/drawing/2014/main" val="10002"/>
                  </a:ext>
                </a:extLst>
              </a:tr>
              <a:tr h="919427">
                <a:tc>
                  <a:txBody>
                    <a:bodyPr/>
                    <a:lstStyle/>
                    <a:p>
                      <a:r>
                        <a:rPr lang="en-US" sz="2400" dirty="0"/>
                        <a:t>10 weeks</a:t>
                      </a:r>
                    </a:p>
                  </a:txBody>
                  <a:tcPr marT="45714" marB="45714"/>
                </a:tc>
                <a:tc>
                  <a:txBody>
                    <a:bodyPr/>
                    <a:lstStyle/>
                    <a:p>
                      <a:r>
                        <a:rPr lang="en-US" sz="2400" dirty="0"/>
                        <a:t>OPV2, DPT2, pneumovacc2, </a:t>
                      </a:r>
                      <a:r>
                        <a:rPr lang="en-US" sz="2400" dirty="0" err="1"/>
                        <a:t>rota</a:t>
                      </a:r>
                      <a:r>
                        <a:rPr lang="en-US" sz="2400" dirty="0"/>
                        <a:t> 2</a:t>
                      </a:r>
                    </a:p>
                  </a:txBody>
                  <a:tcPr marT="45714" marB="45714"/>
                </a:tc>
                <a:extLst>
                  <a:ext uri="{0D108BD9-81ED-4DB2-BD59-A6C34878D82A}">
                    <a16:rowId xmlns:a16="http://schemas.microsoft.com/office/drawing/2014/main" val="10003"/>
                  </a:ext>
                </a:extLst>
              </a:tr>
              <a:tr h="919427">
                <a:tc>
                  <a:txBody>
                    <a:bodyPr/>
                    <a:lstStyle/>
                    <a:p>
                      <a:r>
                        <a:rPr lang="en-US" sz="2400" dirty="0"/>
                        <a:t>14 weeks</a:t>
                      </a:r>
                    </a:p>
                  </a:txBody>
                  <a:tcPr marT="45714" marB="45714"/>
                </a:tc>
                <a:tc>
                  <a:txBody>
                    <a:bodyPr/>
                    <a:lstStyle/>
                    <a:p>
                      <a:r>
                        <a:rPr lang="en-US" sz="2400" dirty="0"/>
                        <a:t>OPV3, DPT3, Pneumovacc3</a:t>
                      </a:r>
                    </a:p>
                  </a:txBody>
                  <a:tcPr marT="45714" marB="45714"/>
                </a:tc>
                <a:extLst>
                  <a:ext uri="{0D108BD9-81ED-4DB2-BD59-A6C34878D82A}">
                    <a16:rowId xmlns:a16="http://schemas.microsoft.com/office/drawing/2014/main" val="10004"/>
                  </a:ext>
                </a:extLst>
              </a:tr>
              <a:tr h="919427">
                <a:tc>
                  <a:txBody>
                    <a:bodyPr/>
                    <a:lstStyle/>
                    <a:p>
                      <a:r>
                        <a:rPr lang="en-US" sz="2400" dirty="0"/>
                        <a:t>9 months</a:t>
                      </a:r>
                    </a:p>
                  </a:txBody>
                  <a:tcPr marT="45714" marB="45714"/>
                </a:tc>
                <a:tc>
                  <a:txBody>
                    <a:bodyPr/>
                    <a:lstStyle/>
                    <a:p>
                      <a:r>
                        <a:rPr lang="en-US" sz="2400" dirty="0"/>
                        <a:t>Measles</a:t>
                      </a:r>
                    </a:p>
                  </a:txBody>
                  <a:tcPr marT="45714" marB="45714"/>
                </a:tc>
                <a:extLst>
                  <a:ext uri="{0D108BD9-81ED-4DB2-BD59-A6C34878D82A}">
                    <a16:rowId xmlns:a16="http://schemas.microsoft.com/office/drawing/2014/main" val="10005"/>
                  </a:ext>
                </a:extLst>
              </a:tr>
            </a:tbl>
          </a:graphicData>
        </a:graphic>
      </p:graphicFrame>
      <p:pic>
        <p:nvPicPr>
          <p:cNvPr id="49178" name="Picture 7" descr="c25"/>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r="25999"/>
          <a:stretch>
            <a:fillRect/>
          </a:stretch>
        </p:blipFill>
        <p:spPr bwMode="auto">
          <a:xfrm>
            <a:off x="8328025" y="692150"/>
            <a:ext cx="2016125"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rtlCol="0">
            <a:normAutofit/>
          </a:bodyPr>
          <a:lstStyle/>
          <a:p>
            <a:pPr eaLnBrk="1" fontAlgn="auto" hangingPunct="1">
              <a:spcAft>
                <a:spcPts val="0"/>
              </a:spcAft>
              <a:defRPr/>
            </a:pPr>
            <a:r>
              <a:rPr lang="en-GB">
                <a:solidFill>
                  <a:schemeClr val="tx2">
                    <a:satMod val="200000"/>
                  </a:schemeClr>
                </a:solidFill>
              </a:rPr>
              <a:t>Measles interventions</a:t>
            </a:r>
          </a:p>
        </p:txBody>
      </p:sp>
      <p:sp>
        <p:nvSpPr>
          <p:cNvPr id="50179" name="Content Placeholder 2"/>
          <p:cNvSpPr>
            <a:spLocks noGrp="1"/>
          </p:cNvSpPr>
          <p:nvPr>
            <p:ph idx="1"/>
          </p:nvPr>
        </p:nvSpPr>
        <p:spPr/>
        <p:txBody>
          <a:bodyPr/>
          <a:lstStyle/>
          <a:p>
            <a:pPr eaLnBrk="1" hangingPunct="1"/>
            <a:r>
              <a:rPr lang="en-GB"/>
              <a:t>Case detection</a:t>
            </a:r>
          </a:p>
          <a:p>
            <a:pPr eaLnBrk="1" hangingPunct="1"/>
            <a:r>
              <a:rPr lang="en-GB"/>
              <a:t>Vitamin A </a:t>
            </a:r>
          </a:p>
          <a:p>
            <a:pPr eaLnBrk="1" hangingPunct="1"/>
            <a:r>
              <a:rPr lang="en-GB"/>
              <a:t>Immunization</a:t>
            </a:r>
          </a:p>
        </p:txBody>
      </p:sp>
      <p:pic>
        <p:nvPicPr>
          <p:cNvPr id="50180" name="Picture 5" descr="EPIPBL0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1175" y="1773238"/>
            <a:ext cx="4897438"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rtlCol="0">
            <a:normAutofit/>
          </a:bodyPr>
          <a:lstStyle/>
          <a:p>
            <a:pPr eaLnBrk="1" fontAlgn="auto" hangingPunct="1">
              <a:spcAft>
                <a:spcPts val="0"/>
              </a:spcAft>
              <a:defRPr/>
            </a:pPr>
            <a:r>
              <a:rPr lang="en-GB">
                <a:solidFill>
                  <a:schemeClr val="tx2">
                    <a:satMod val="200000"/>
                  </a:schemeClr>
                </a:solidFill>
              </a:rPr>
              <a:t>HIV key interventions</a:t>
            </a:r>
          </a:p>
        </p:txBody>
      </p:sp>
      <p:sp>
        <p:nvSpPr>
          <p:cNvPr id="51203" name="Rectangle 3"/>
          <p:cNvSpPr>
            <a:spLocks noGrp="1" noChangeArrowheads="1"/>
          </p:cNvSpPr>
          <p:nvPr>
            <p:ph idx="1"/>
          </p:nvPr>
        </p:nvSpPr>
        <p:spPr/>
        <p:txBody>
          <a:bodyPr/>
          <a:lstStyle/>
          <a:p>
            <a:pPr eaLnBrk="1" hangingPunct="1"/>
            <a:r>
              <a:rPr lang="en-GB"/>
              <a:t>Family centred care</a:t>
            </a:r>
          </a:p>
          <a:p>
            <a:pPr eaLnBrk="1" hangingPunct="1"/>
            <a:r>
              <a:rPr lang="en-GB"/>
              <a:t>Prevention of HIV infection</a:t>
            </a:r>
          </a:p>
          <a:p>
            <a:pPr eaLnBrk="1" hangingPunct="1"/>
            <a:r>
              <a:rPr lang="en-GB"/>
              <a:t>Care of HIV exposed infant</a:t>
            </a:r>
          </a:p>
          <a:p>
            <a:pPr eaLnBrk="1" hangingPunct="1"/>
            <a:r>
              <a:rPr lang="en-GB"/>
              <a:t>Care and treatment of HIV infected child</a:t>
            </a:r>
          </a:p>
          <a:p>
            <a:pPr lvl="1" eaLnBrk="1" hangingPunct="1"/>
            <a:r>
              <a:rPr lang="en-GB"/>
              <a:t>ART</a:t>
            </a:r>
          </a:p>
          <a:p>
            <a:pPr lvl="1" eaLnBrk="1" hangingPunct="1"/>
            <a:r>
              <a:rPr lang="en-GB"/>
              <a:t>Treating opportunistic infections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itle 1"/>
          <p:cNvSpPr>
            <a:spLocks noGrp="1"/>
          </p:cNvSpPr>
          <p:nvPr>
            <p:ph type="title"/>
          </p:nvPr>
        </p:nvSpPr>
        <p:spPr/>
        <p:txBody>
          <a:bodyPr/>
          <a:lstStyle/>
          <a:p>
            <a:pPr eaLnBrk="1" hangingPunct="1"/>
            <a:r>
              <a:rPr lang="en-US"/>
              <a:t>Child health interventions</a:t>
            </a:r>
          </a:p>
        </p:txBody>
      </p:sp>
      <p:graphicFrame>
        <p:nvGraphicFramePr>
          <p:cNvPr id="2050" name="Content Placeholder 3"/>
          <p:cNvGraphicFramePr>
            <a:graphicFrameLocks noGrp="1"/>
          </p:cNvGraphicFramePr>
          <p:nvPr>
            <p:ph idx="1"/>
          </p:nvPr>
        </p:nvGraphicFramePr>
        <p:xfrm>
          <a:off x="1930400" y="1549400"/>
          <a:ext cx="8331200" cy="4627563"/>
        </p:xfrm>
        <a:graphic>
          <a:graphicData uri="http://schemas.openxmlformats.org/presentationml/2006/ole">
            <mc:AlternateContent xmlns:mc="http://schemas.openxmlformats.org/markup-compatibility/2006">
              <mc:Choice xmlns:v="urn:schemas-microsoft-com:vml" Requires="v">
                <p:oleObj r:id="rId3" imgW="8327390" imgH="4626610" progId="Excel.Chart.8">
                  <p:embed/>
                </p:oleObj>
              </mc:Choice>
              <mc:Fallback>
                <p:oleObj r:id="rId3" imgW="8327390" imgH="4626610" progId="Excel.Chart.8">
                  <p:embed/>
                  <p:pic>
                    <p:nvPicPr>
                      <p:cNvPr id="2050" name="Content Placeholder 3"/>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0400" y="1549400"/>
                        <a:ext cx="8331200" cy="4627563"/>
                      </a:xfrm>
                      <a:prstGeom prst="rect">
                        <a:avLst/>
                      </a:prstGeom>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2927350" y="1125538"/>
            <a:ext cx="6629400" cy="1008062"/>
          </a:xfrm>
          <a:prstGeom prst="rect">
            <a:avLst/>
          </a:prstGeom>
          <a:gradFill rotWithShape="1">
            <a:gsLst>
              <a:gs pos="0">
                <a:schemeClr val="folHlink">
                  <a:gamma/>
                  <a:shade val="46275"/>
                  <a:invGamma/>
                </a:schemeClr>
              </a:gs>
              <a:gs pos="50000">
                <a:schemeClr val="folHlink"/>
              </a:gs>
              <a:gs pos="100000">
                <a:schemeClr val="folHlink">
                  <a:gamma/>
                  <a:shade val="46275"/>
                  <a:invGamma/>
                </a:schemeClr>
              </a:gs>
            </a:gsLst>
            <a:lin ang="5400000" scaled="1"/>
          </a:gradFill>
          <a:ln w="9525">
            <a:noFill/>
            <a:miter lim="800000"/>
          </a:ln>
          <a:effectLst/>
        </p:spPr>
        <p:txBody>
          <a:bodyPr wrap="none" anchor="ctr"/>
          <a:lstStyle/>
          <a:p>
            <a:pPr>
              <a:defRPr/>
            </a:pPr>
            <a:endParaRPr lang="en-GB">
              <a:latin typeface="Arial" panose="020B0604020202020204" pitchFamily="34" charset="0"/>
              <a:cs typeface="Arial" panose="020B0604020202020204" pitchFamily="34" charset="0"/>
            </a:endParaRPr>
          </a:p>
        </p:txBody>
      </p:sp>
      <p:pic>
        <p:nvPicPr>
          <p:cNvPr id="53251" name="Picture 4" descr="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8025" y="1268413"/>
            <a:ext cx="1081088"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2" name="Picture 5" descr="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0463" y="1052513"/>
            <a:ext cx="762000"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3" name="Picture 6" descr="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7713" y="1196975"/>
            <a:ext cx="762000"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4" name="Picture 7" descr="wall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2038" y="1125538"/>
            <a:ext cx="7620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5" name="Picture 8" descr="wall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4425" y="1196975"/>
            <a:ext cx="762000"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6" name="Rectangle 9"/>
          <p:cNvSpPr>
            <a:spLocks noChangeArrowheads="1"/>
          </p:cNvSpPr>
          <p:nvPr/>
        </p:nvSpPr>
        <p:spPr bwMode="auto">
          <a:xfrm>
            <a:off x="2279650" y="2205038"/>
            <a:ext cx="7777163" cy="4464050"/>
          </a:xfrm>
          <a:prstGeom prst="rect">
            <a:avLst/>
          </a:prstGeom>
          <a:gradFill rotWithShape="1">
            <a:gsLst>
              <a:gs pos="0">
                <a:srgbClr val="765E2F"/>
              </a:gs>
              <a:gs pos="50000">
                <a:srgbClr val="FFCC66"/>
              </a:gs>
              <a:gs pos="100000">
                <a:srgbClr val="765E2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1418" tIns="45710" rIns="91418" bIns="45710" anchor="ctr"/>
          <a:lstStyle/>
          <a:p>
            <a:pPr algn="ctr">
              <a:buFont typeface="Arial" panose="020B0604020202020204" pitchFamily="34" charset="0"/>
              <a:buChar char="•"/>
            </a:pPr>
            <a:endParaRPr lang="en-US" sz="3200"/>
          </a:p>
          <a:p>
            <a:pPr algn="ctr">
              <a:buFont typeface="Arial" panose="020B0604020202020204" pitchFamily="34" charset="0"/>
              <a:buChar char="•"/>
            </a:pPr>
            <a:r>
              <a:rPr lang="en-US" sz="3200">
                <a:solidFill>
                  <a:schemeClr val="bg1"/>
                </a:solidFill>
              </a:rPr>
              <a:t>New emerging diseases </a:t>
            </a:r>
          </a:p>
          <a:p>
            <a:pPr algn="ctr">
              <a:buFont typeface="Arial" panose="020B0604020202020204" pitchFamily="34" charset="0"/>
              <a:buChar char="•"/>
            </a:pPr>
            <a:r>
              <a:rPr lang="en-US" sz="3200">
                <a:solidFill>
                  <a:schemeClr val="bg1"/>
                </a:solidFill>
              </a:rPr>
              <a:t>Adolescent health</a:t>
            </a:r>
          </a:p>
          <a:p>
            <a:pPr algn="ctr">
              <a:buFont typeface="Arial" panose="020B0604020202020204" pitchFamily="34" charset="0"/>
              <a:buChar char="•"/>
            </a:pPr>
            <a:r>
              <a:rPr lang="en-US" sz="3200">
                <a:solidFill>
                  <a:schemeClr val="bg1"/>
                </a:solidFill>
              </a:rPr>
              <a:t>Regional health status disparity</a:t>
            </a:r>
          </a:p>
          <a:p>
            <a:pPr algn="ctr">
              <a:buFont typeface="Arial" panose="020B0604020202020204" pitchFamily="34" charset="0"/>
              <a:buChar char="•"/>
            </a:pPr>
            <a:r>
              <a:rPr lang="en-US" sz="3200">
                <a:solidFill>
                  <a:schemeClr val="bg1"/>
                </a:solidFill>
              </a:rPr>
              <a:t>Sustainability of maintaining the achievements</a:t>
            </a:r>
          </a:p>
          <a:p>
            <a:pPr algn="ctr">
              <a:buFont typeface="Arial" panose="020B0604020202020204" pitchFamily="34" charset="0"/>
              <a:buChar char="•"/>
            </a:pPr>
            <a:r>
              <a:rPr lang="en-US" sz="3200">
                <a:solidFill>
                  <a:schemeClr val="bg1"/>
                </a:solidFill>
              </a:rPr>
              <a:t>Actions beyond survival</a:t>
            </a:r>
          </a:p>
          <a:p>
            <a:pPr algn="ctr">
              <a:buFont typeface="Arial" panose="020B0604020202020204" pitchFamily="34" charset="0"/>
              <a:buChar char="•"/>
            </a:pPr>
            <a:r>
              <a:rPr lang="en-US" sz="3200">
                <a:solidFill>
                  <a:schemeClr val="bg1"/>
                </a:solidFill>
              </a:rPr>
              <a:t>High impact interventions are incomplete</a:t>
            </a:r>
          </a:p>
          <a:p>
            <a:pPr algn="ctr">
              <a:buFont typeface="Arial" panose="020B0604020202020204" pitchFamily="34" charset="0"/>
              <a:buChar char="•"/>
            </a:pPr>
            <a:r>
              <a:rPr lang="en-US" sz="3200">
                <a:solidFill>
                  <a:schemeClr val="bg1"/>
                </a:solidFill>
              </a:rPr>
              <a:t>Low pediatric hospital coverage</a:t>
            </a:r>
          </a:p>
          <a:p>
            <a:pPr algn="ctr">
              <a:buFont typeface="Arial" panose="020B0604020202020204" pitchFamily="34" charset="0"/>
              <a:buChar char="•"/>
            </a:pPr>
            <a:r>
              <a:rPr lang="en-US" sz="3200">
                <a:solidFill>
                  <a:schemeClr val="bg1"/>
                </a:solidFill>
              </a:rPr>
              <a:t>Shortage of skilled manpower</a:t>
            </a:r>
          </a:p>
          <a:p>
            <a:pPr algn="ctr">
              <a:buFont typeface="Arial" panose="020B0604020202020204" pitchFamily="34" charset="0"/>
              <a:buChar char="•"/>
            </a:pPr>
            <a:endParaRPr lang="en-US" sz="2400"/>
          </a:p>
          <a:p>
            <a:pPr algn="ctr"/>
            <a:endParaRPr lang="en-US" sz="1400"/>
          </a:p>
          <a:p>
            <a:pPr algn="ctr"/>
            <a:endParaRPr lang="en-US" sz="1400">
              <a:solidFill>
                <a:schemeClr val="accent2"/>
              </a:solidFill>
            </a:endParaRPr>
          </a:p>
        </p:txBody>
      </p:sp>
      <p:sp>
        <p:nvSpPr>
          <p:cNvPr id="53257" name="Rectangle 11"/>
          <p:cNvSpPr>
            <a:spLocks noChangeArrowheads="1"/>
          </p:cNvSpPr>
          <p:nvPr/>
        </p:nvSpPr>
        <p:spPr bwMode="auto">
          <a:xfrm>
            <a:off x="4724400" y="333375"/>
            <a:ext cx="2743200" cy="863600"/>
          </a:xfrm>
          <a:prstGeom prst="rect">
            <a:avLst/>
          </a:prstGeom>
          <a:gradFill rotWithShape="1">
            <a:gsLst>
              <a:gs pos="0">
                <a:srgbClr val="666666"/>
              </a:gs>
              <a:gs pos="50000">
                <a:srgbClr val="DDDDDD"/>
              </a:gs>
              <a:gs pos="100000">
                <a:srgbClr val="66666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1418" tIns="45710" rIns="91418" bIns="45710" anchor="ctr"/>
          <a:lstStyle/>
          <a:p>
            <a:pPr algn="ctr"/>
            <a:r>
              <a:rPr lang="en-US" sz="3600">
                <a:solidFill>
                  <a:schemeClr val="accent2"/>
                </a:solidFill>
              </a:rPr>
              <a:t>Challenges</a:t>
            </a:r>
          </a:p>
        </p:txBody>
      </p:sp>
      <p:cxnSp>
        <p:nvCxnSpPr>
          <p:cNvPr id="53258" name="AutoShape 14"/>
          <p:cNvCxnSpPr>
            <a:cxnSpLocks noChangeShapeType="1"/>
          </p:cNvCxnSpPr>
          <p:nvPr/>
        </p:nvCxnSpPr>
        <p:spPr bwMode="auto">
          <a:xfrm rot="5400000">
            <a:off x="10680700" y="6042026"/>
            <a:ext cx="974725" cy="0"/>
          </a:xfrm>
          <a:prstGeom prst="straightConnector1">
            <a:avLst/>
          </a:prstGeom>
          <a:noFill/>
          <a:ln w="9525">
            <a:solidFill>
              <a:schemeClr val="tx1"/>
            </a:solidFill>
            <a:prstDash val="dash"/>
            <a:round/>
          </a:ln>
          <a:extLst>
            <a:ext uri="{909E8E84-426E-40DD-AFC4-6F175D3DCCD1}">
              <a14:hiddenFill xmlns:a14="http://schemas.microsoft.com/office/drawing/2010/main">
                <a:noFill/>
              </a14:hiddenFill>
            </a:ext>
          </a:extLst>
        </p:spPr>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Content Placeholder 2"/>
          <p:cNvSpPr>
            <a:spLocks noGrp="1"/>
          </p:cNvSpPr>
          <p:nvPr>
            <p:ph idx="1"/>
          </p:nvPr>
        </p:nvSpPr>
        <p:spPr>
          <a:xfrm>
            <a:off x="1981200" y="457200"/>
            <a:ext cx="8229600" cy="5668963"/>
          </a:xfrm>
        </p:spPr>
        <p:txBody>
          <a:bodyPr/>
          <a:lstStyle/>
          <a:p>
            <a:pPr algn="ctr" eaLnBrk="1" hangingPunct="1">
              <a:buFont typeface="Arial" panose="020B0604020202020204" pitchFamily="34" charset="0"/>
              <a:buNone/>
            </a:pPr>
            <a:r>
              <a:rPr lang="en-US" sz="4000"/>
              <a:t>Summary</a:t>
            </a:r>
          </a:p>
          <a:p>
            <a:pPr eaLnBrk="1" hangingPunct="1"/>
            <a:r>
              <a:rPr lang="en-US"/>
              <a:t>child survival improved due to effective public health  Interventions and better economic and social performance.</a:t>
            </a:r>
          </a:p>
          <a:p>
            <a:pPr eaLnBrk="1" hangingPunct="1"/>
            <a:r>
              <a:rPr lang="en-US"/>
              <a:t>The majority of under-five deaths are due to  a small number of common, preventable  and treatable conditions.</a:t>
            </a:r>
          </a:p>
          <a:p>
            <a:pPr eaLnBrk="1" hangingPunct="1"/>
            <a:r>
              <a:rPr lang="en-US"/>
              <a:t>Affordable interventions exist which could prevent 63% of mortality.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pPr eaLnBrk="1" hangingPunct="1"/>
            <a:r>
              <a:rPr lang="en-US" dirty="0"/>
              <a:t>GROWTH &amp; DEVELOPMENT</a:t>
            </a:r>
          </a:p>
        </p:txBody>
      </p:sp>
      <p:sp>
        <p:nvSpPr>
          <p:cNvPr id="2051" name="Subtitle 5"/>
          <p:cNvSpPr>
            <a:spLocks noGrp="1"/>
          </p:cNvSpPr>
          <p:nvPr>
            <p:ph type="subTitle" idx="1"/>
          </p:nvPr>
        </p:nvSpPr>
        <p:spPr/>
        <p:txBody>
          <a:bodyPr>
            <a:normAutofit/>
          </a:bodyPr>
          <a:lstStyle/>
          <a:p>
            <a:pPr eaLnBrk="1" hangingPunct="1"/>
            <a:endParaRPr lang="en-US" sz="2400" b="1" i="1" dirty="0">
              <a:solidFill>
                <a:srgbClr val="FF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Content Placeholder 2"/>
          <p:cNvSpPr>
            <a:spLocks noGrp="1"/>
          </p:cNvSpPr>
          <p:nvPr>
            <p:ph idx="1"/>
          </p:nvPr>
        </p:nvSpPr>
        <p:spPr>
          <a:xfrm>
            <a:off x="1981200" y="1524000"/>
            <a:ext cx="8229600" cy="4940300"/>
          </a:xfrm>
        </p:spPr>
        <p:txBody>
          <a:bodyPr>
            <a:normAutofit/>
          </a:bodyPr>
          <a:lstStyle/>
          <a:p>
            <a:pPr eaLnBrk="1" hangingPunct="1"/>
            <a:r>
              <a:rPr lang="en-US" dirty="0">
                <a:solidFill>
                  <a:srgbClr val="FF0000"/>
                </a:solidFill>
              </a:rPr>
              <a:t>Growth:</a:t>
            </a:r>
            <a:r>
              <a:rPr lang="en-US" dirty="0">
                <a:latin typeface="Times New Roman" pitchFamily="18" charset="0"/>
                <a:cs typeface="Times New Roman" pitchFamily="18" charset="0"/>
              </a:rPr>
              <a:t> </a:t>
            </a:r>
          </a:p>
          <a:p>
            <a:pPr lvl="1" eaLnBrk="1" hangingPunct="1"/>
            <a:r>
              <a:rPr lang="en-US" dirty="0">
                <a:latin typeface="Times New Roman" pitchFamily="18" charset="0"/>
                <a:cs typeface="Times New Roman" pitchFamily="18" charset="0"/>
              </a:rPr>
              <a:t> Change in size due to change in cell size &amp;/or number</a:t>
            </a:r>
            <a:endParaRPr lang="en-US" dirty="0">
              <a:solidFill>
                <a:srgbClr val="FF0000"/>
              </a:solidFill>
            </a:endParaRPr>
          </a:p>
          <a:p>
            <a:pPr lvl="1" eaLnBrk="1" hangingPunct="1"/>
            <a:r>
              <a:rPr lang="en-US" dirty="0"/>
              <a:t>Quantitative(</a:t>
            </a:r>
            <a:r>
              <a:rPr lang="en-US" dirty="0" err="1"/>
              <a:t>Kgs</a:t>
            </a:r>
            <a:r>
              <a:rPr lang="en-US" dirty="0"/>
              <a:t>, Centimeters)</a:t>
            </a:r>
          </a:p>
          <a:p>
            <a:pPr eaLnBrk="1" hangingPunct="1"/>
            <a:endParaRPr lang="en-US" dirty="0"/>
          </a:p>
          <a:p>
            <a:pPr eaLnBrk="1" hangingPunct="1"/>
            <a:r>
              <a:rPr lang="en-US" dirty="0">
                <a:solidFill>
                  <a:srgbClr val="FF0000"/>
                </a:solidFill>
              </a:rPr>
              <a:t>Development:</a:t>
            </a:r>
          </a:p>
          <a:p>
            <a:pPr lvl="1" eaLnBrk="1" hangingPunct="1"/>
            <a:r>
              <a:rPr lang="en-US" dirty="0"/>
              <a:t>Functional maturation</a:t>
            </a:r>
          </a:p>
          <a:p>
            <a:pPr lvl="1" eaLnBrk="1" hangingPunct="1"/>
            <a:r>
              <a:rPr lang="en-US" dirty="0">
                <a:latin typeface="Times New Roman" pitchFamily="18" charset="0"/>
                <a:cs typeface="Times New Roman" pitchFamily="18" charset="0"/>
              </a:rPr>
              <a:t> mainly depends on the  maturation &amp; </a:t>
            </a:r>
            <a:r>
              <a:rPr lang="en-US" dirty="0" err="1">
                <a:latin typeface="Times New Roman" pitchFamily="18" charset="0"/>
                <a:cs typeface="Times New Roman" pitchFamily="18" charset="0"/>
              </a:rPr>
              <a:t>myelination</a:t>
            </a:r>
            <a:r>
              <a:rPr lang="en-US" dirty="0">
                <a:latin typeface="Times New Roman" pitchFamily="18" charset="0"/>
                <a:cs typeface="Times New Roman" pitchFamily="18" charset="0"/>
              </a:rPr>
              <a:t>  of the NS.</a:t>
            </a:r>
          </a:p>
          <a:p>
            <a:pPr lvl="1" eaLnBrk="1" hangingPunct="1"/>
            <a:r>
              <a:rPr lang="en-US" dirty="0"/>
              <a:t>Assessed by skill acquisition</a:t>
            </a:r>
          </a:p>
          <a:p>
            <a:pPr eaLnBrk="1" hangingPunct="1"/>
            <a:endParaRPr lang="en-US" dirty="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algn="l" eaLnBrk="1" hangingPunct="1"/>
            <a:r>
              <a:rPr lang="en-US" sz="3600" b="1"/>
              <a:t>Principles of growth &amp; development</a:t>
            </a:r>
          </a:p>
        </p:txBody>
      </p:sp>
      <p:sp>
        <p:nvSpPr>
          <p:cNvPr id="4099" name="Rectangle 3"/>
          <p:cNvSpPr>
            <a:spLocks noGrp="1" noChangeArrowheads="1"/>
          </p:cNvSpPr>
          <p:nvPr>
            <p:ph type="body" idx="1"/>
          </p:nvPr>
        </p:nvSpPr>
        <p:spPr/>
        <p:txBody>
          <a:bodyPr/>
          <a:lstStyle/>
          <a:p>
            <a:pPr eaLnBrk="1" hangingPunct="1"/>
            <a:r>
              <a:rPr lang="en-US"/>
              <a:t>Growth and development are continuous dynamic processes occurring from conception to maturity.</a:t>
            </a:r>
          </a:p>
          <a:p>
            <a:pPr eaLnBrk="1" hangingPunct="1"/>
            <a:r>
              <a:rPr lang="en-US"/>
              <a:t>The sequence of development is the same in all children, but the rate of development varies from child to child.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algn="l" eaLnBrk="1" hangingPunct="1"/>
            <a:r>
              <a:rPr lang="en-US"/>
              <a:t>Cont’d</a:t>
            </a:r>
          </a:p>
        </p:txBody>
      </p:sp>
      <p:sp>
        <p:nvSpPr>
          <p:cNvPr id="5123" name="Rectangle 3"/>
          <p:cNvSpPr>
            <a:spLocks noGrp="1" noChangeArrowheads="1"/>
          </p:cNvSpPr>
          <p:nvPr>
            <p:ph type="body" idx="1"/>
          </p:nvPr>
        </p:nvSpPr>
        <p:spPr/>
        <p:txBody>
          <a:bodyPr/>
          <a:lstStyle/>
          <a:p>
            <a:pPr eaLnBrk="1" hangingPunct="1">
              <a:lnSpc>
                <a:spcPct val="90000"/>
              </a:lnSpc>
            </a:pPr>
            <a:r>
              <a:rPr lang="en-US"/>
              <a:t>Development is intimately related to maturation of the nervous system, but may be profoundly modified by environment &amp; experience.</a:t>
            </a:r>
          </a:p>
          <a:p>
            <a:pPr eaLnBrk="1" hangingPunct="1">
              <a:lnSpc>
                <a:spcPct val="90000"/>
              </a:lnSpc>
            </a:pPr>
            <a:r>
              <a:rPr lang="en-US"/>
              <a:t>Development is in the cephalocaudal direction. The first step towards walking is the development of head control. The infant can do much with his hands before he can walk.</a:t>
            </a:r>
          </a:p>
          <a:p>
            <a:pPr eaLnBrk="1" hangingPunct="1">
              <a:lnSpc>
                <a:spcPct val="90000"/>
              </a:lnSpc>
            </a:pP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t>Growth Pattern</a:t>
            </a:r>
          </a:p>
        </p:txBody>
      </p:sp>
      <p:pic>
        <p:nvPicPr>
          <p:cNvPr id="7173" name="Picture 5" descr="msotw9_temp0"/>
          <p:cNvPicPr>
            <a:picLocks noChangeAspect="1" noChangeArrowheads="1"/>
          </p:cNvPicPr>
          <p:nvPr/>
        </p:nvPicPr>
        <p:blipFill>
          <a:blip r:embed="rId2" cstate="print"/>
          <a:srcRect/>
          <a:stretch>
            <a:fillRect/>
          </a:stretch>
        </p:blipFill>
        <p:spPr bwMode="auto">
          <a:xfrm>
            <a:off x="4191000" y="1981200"/>
            <a:ext cx="3886200" cy="4191000"/>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a:bodyPr>
          <a:lstStyle/>
          <a:p>
            <a:pPr eaLnBrk="1" hangingPunct="1"/>
            <a:r>
              <a:rPr lang="en-US" sz="4000"/>
              <a:t>Factors affecting growth &amp; development</a:t>
            </a:r>
          </a:p>
        </p:txBody>
      </p:sp>
      <p:sp>
        <p:nvSpPr>
          <p:cNvPr id="6147" name="Rectangle 3"/>
          <p:cNvSpPr>
            <a:spLocks noGrp="1" noChangeArrowheads="1"/>
          </p:cNvSpPr>
          <p:nvPr>
            <p:ph type="body" idx="1"/>
          </p:nvPr>
        </p:nvSpPr>
        <p:spPr/>
        <p:txBody>
          <a:bodyPr/>
          <a:lstStyle/>
          <a:p>
            <a:pPr eaLnBrk="1" hangingPunct="1"/>
            <a:r>
              <a:rPr lang="en-US"/>
              <a:t>Heredity </a:t>
            </a:r>
          </a:p>
          <a:p>
            <a:pPr eaLnBrk="1" hangingPunct="1"/>
            <a:r>
              <a:rPr lang="en-US"/>
              <a:t>Pre and postnatal environment</a:t>
            </a:r>
          </a:p>
          <a:p>
            <a:pPr eaLnBrk="1" hangingPunct="1"/>
            <a:r>
              <a:rPr lang="en-US"/>
              <a:t>Sex </a:t>
            </a:r>
          </a:p>
          <a:p>
            <a:pPr eaLnBrk="1" hangingPunct="1"/>
            <a:r>
              <a:rPr lang="en-US"/>
              <a:t>Endocrine system</a:t>
            </a:r>
          </a:p>
          <a:p>
            <a:pPr eaLnBrk="1" hangingPunct="1"/>
            <a:r>
              <a:rPr lang="en-US"/>
              <a:t>Disease and</a:t>
            </a:r>
          </a:p>
          <a:p>
            <a:pPr eaLnBrk="1" hangingPunct="1"/>
            <a:r>
              <a:rPr lang="en-US"/>
              <a:t>Nutrition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normAutofit/>
          </a:bodyPr>
          <a:lstStyle/>
          <a:p>
            <a:r>
              <a:rPr lang="en-US"/>
              <a:t>Why developmental assessment?</a:t>
            </a:r>
          </a:p>
        </p:txBody>
      </p:sp>
      <p:sp>
        <p:nvSpPr>
          <p:cNvPr id="115715" name="Rectangle 3"/>
          <p:cNvSpPr>
            <a:spLocks noGrp="1" noChangeArrowheads="1"/>
          </p:cNvSpPr>
          <p:nvPr>
            <p:ph type="body" idx="1"/>
          </p:nvPr>
        </p:nvSpPr>
        <p:spPr/>
        <p:txBody>
          <a:bodyPr/>
          <a:lstStyle/>
          <a:p>
            <a:pPr>
              <a:lnSpc>
                <a:spcPct val="90000"/>
              </a:lnSpc>
            </a:pPr>
            <a:r>
              <a:rPr lang="en-US" dirty="0"/>
              <a:t>Early detection of deviation in child’s pattern of development</a:t>
            </a:r>
          </a:p>
          <a:p>
            <a:pPr>
              <a:lnSpc>
                <a:spcPct val="90000"/>
              </a:lnSpc>
            </a:pPr>
            <a:r>
              <a:rPr lang="en-US" dirty="0"/>
              <a:t>Simple and time efficient mechanism to ensure adequate surveillance of developmental progress</a:t>
            </a:r>
          </a:p>
          <a:p>
            <a:pPr>
              <a:lnSpc>
                <a:spcPct val="90000"/>
              </a:lnSpc>
            </a:pPr>
            <a:r>
              <a:rPr lang="en-US" dirty="0"/>
              <a:t>Deviations in growth patterns are important indicators of serious and chronic medical disorders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algn="l" eaLnBrk="1" hangingPunct="1"/>
            <a:r>
              <a:rPr lang="en-US" sz="3600"/>
              <a:t>FETAL GROWTH &amp; DEVELOPMENT</a:t>
            </a:r>
          </a:p>
        </p:txBody>
      </p:sp>
      <p:sp>
        <p:nvSpPr>
          <p:cNvPr id="7171" name="Rectangle 3"/>
          <p:cNvSpPr>
            <a:spLocks noGrp="1" noChangeArrowheads="1"/>
          </p:cNvSpPr>
          <p:nvPr>
            <p:ph type="body" idx="1"/>
          </p:nvPr>
        </p:nvSpPr>
        <p:spPr/>
        <p:txBody>
          <a:bodyPr/>
          <a:lstStyle/>
          <a:p>
            <a:pPr eaLnBrk="1" hangingPunct="1">
              <a:lnSpc>
                <a:spcPct val="90000"/>
              </a:lnSpc>
            </a:pPr>
            <a:r>
              <a:rPr lang="en-US" b="1"/>
              <a:t>Embryonic period</a:t>
            </a:r>
            <a:endParaRPr lang="en-US"/>
          </a:p>
          <a:p>
            <a:pPr eaLnBrk="1" hangingPunct="1">
              <a:lnSpc>
                <a:spcPct val="90000"/>
              </a:lnSpc>
              <a:buFontTx/>
              <a:buNone/>
            </a:pPr>
            <a:r>
              <a:rPr lang="en-US" b="1"/>
              <a:t> </a:t>
            </a:r>
            <a:r>
              <a:rPr lang="en-US"/>
              <a:t>- the 1</a:t>
            </a:r>
            <a:r>
              <a:rPr lang="en-US" baseline="30000"/>
              <a:t>st</a:t>
            </a:r>
            <a:r>
              <a:rPr lang="en-US"/>
              <a:t> 8 weeks of the prenatal period.</a:t>
            </a:r>
          </a:p>
          <a:p>
            <a:pPr eaLnBrk="1" hangingPunct="1">
              <a:lnSpc>
                <a:spcPct val="90000"/>
              </a:lnSpc>
              <a:buFontTx/>
              <a:buNone/>
            </a:pPr>
            <a:r>
              <a:rPr lang="en-US"/>
              <a:t> - the 1</a:t>
            </a:r>
            <a:r>
              <a:rPr lang="en-US" baseline="30000"/>
              <a:t>st</a:t>
            </a:r>
            <a:r>
              <a:rPr lang="en-US"/>
              <a:t> week is germinal; its chief feature is cellular division and the formation of blastocyst.</a:t>
            </a:r>
          </a:p>
          <a:p>
            <a:pPr eaLnBrk="1" hangingPunct="1">
              <a:lnSpc>
                <a:spcPct val="90000"/>
              </a:lnSpc>
              <a:buFontTx/>
              <a:buNone/>
            </a:pPr>
            <a:r>
              <a:rPr lang="en-US"/>
              <a:t> - during the 2</a:t>
            </a:r>
            <a:r>
              <a:rPr lang="en-US" baseline="30000"/>
              <a:t>nd</a:t>
            </a:r>
            <a:r>
              <a:rPr lang="en-US"/>
              <a:t> week, the cell mass differentiates in to two layers (endoderm &amp; ectoderm); during the 3</a:t>
            </a:r>
            <a:r>
              <a:rPr lang="en-US" baseline="30000"/>
              <a:t>rd</a:t>
            </a:r>
            <a:r>
              <a:rPr lang="en-US"/>
              <a:t> week mesoderm is added.</a:t>
            </a:r>
            <a:endParaRPr lang="en-US" b="1"/>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algn="l" eaLnBrk="1" hangingPunct="1"/>
            <a:r>
              <a:rPr lang="en-US"/>
              <a:t>Cont’d</a:t>
            </a:r>
          </a:p>
        </p:txBody>
      </p:sp>
      <p:sp>
        <p:nvSpPr>
          <p:cNvPr id="8195" name="Rectangle 3"/>
          <p:cNvSpPr>
            <a:spLocks noGrp="1" noChangeArrowheads="1"/>
          </p:cNvSpPr>
          <p:nvPr>
            <p:ph type="body" idx="1"/>
          </p:nvPr>
        </p:nvSpPr>
        <p:spPr/>
        <p:txBody>
          <a:bodyPr/>
          <a:lstStyle/>
          <a:p>
            <a:pPr eaLnBrk="1" hangingPunct="1">
              <a:buFontTx/>
              <a:buNone/>
            </a:pPr>
            <a:r>
              <a:rPr lang="en-US"/>
              <a:t> - during the 4</a:t>
            </a:r>
            <a:r>
              <a:rPr lang="en-US" baseline="30000"/>
              <a:t>th</a:t>
            </a:r>
            <a:r>
              <a:rPr lang="en-US"/>
              <a:t> week, the growing organism elaborates the somities and undergoes rapid differentiation between the fourth and eighth week in to an essential human form.</a:t>
            </a:r>
          </a:p>
          <a:p>
            <a:pPr eaLnBrk="1" hangingPunct="1">
              <a:buFontTx/>
              <a:buNone/>
            </a:pP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algn="l" eaLnBrk="1" hangingPunct="1">
              <a:buFontTx/>
              <a:buChar char="•"/>
            </a:pPr>
            <a:r>
              <a:rPr lang="en-US" sz="3200"/>
              <a:t> Fetal period</a:t>
            </a:r>
          </a:p>
        </p:txBody>
      </p:sp>
      <p:sp>
        <p:nvSpPr>
          <p:cNvPr id="9219" name="Rectangle 3"/>
          <p:cNvSpPr>
            <a:spLocks noGrp="1" noChangeArrowheads="1"/>
          </p:cNvSpPr>
          <p:nvPr>
            <p:ph type="body" idx="1"/>
          </p:nvPr>
        </p:nvSpPr>
        <p:spPr/>
        <p:txBody>
          <a:bodyPr/>
          <a:lstStyle/>
          <a:p>
            <a:pPr eaLnBrk="1" hangingPunct="1">
              <a:lnSpc>
                <a:spcPct val="90000"/>
              </a:lnSpc>
              <a:buFontTx/>
              <a:buNone/>
            </a:pPr>
            <a:r>
              <a:rPr lang="en-US"/>
              <a:t> - is the period from nine weeks on.</a:t>
            </a:r>
          </a:p>
          <a:p>
            <a:pPr eaLnBrk="1" hangingPunct="1">
              <a:lnSpc>
                <a:spcPct val="90000"/>
              </a:lnSpc>
              <a:buFontTx/>
              <a:buNone/>
            </a:pPr>
            <a:r>
              <a:rPr lang="en-US"/>
              <a:t> - is marked by rapid growth and elaboration of function.</a:t>
            </a:r>
          </a:p>
          <a:p>
            <a:pPr eaLnBrk="1" hangingPunct="1">
              <a:lnSpc>
                <a:spcPct val="90000"/>
              </a:lnSpc>
              <a:buFontTx/>
              <a:buNone/>
            </a:pPr>
            <a:r>
              <a:rPr lang="en-US"/>
              <a:t> - by 12 weeks the gender of the external genitalia becomes clearly distinguishable. </a:t>
            </a:r>
          </a:p>
          <a:p>
            <a:pPr eaLnBrk="1" hangingPunct="1">
              <a:lnSpc>
                <a:spcPct val="90000"/>
              </a:lnSpc>
              <a:buFontTx/>
              <a:buNone/>
            </a:pPr>
            <a:r>
              <a:rPr lang="en-US"/>
              <a:t> - 2</a:t>
            </a:r>
            <a:r>
              <a:rPr lang="en-US" baseline="30000"/>
              <a:t>nd</a:t>
            </a:r>
            <a:r>
              <a:rPr lang="en-US"/>
              <a:t> trimester – rapid acquisition of new functions.</a:t>
            </a:r>
          </a:p>
          <a:p>
            <a:pPr eaLnBrk="1" hangingPunct="1">
              <a:lnSpc>
                <a:spcPct val="90000"/>
              </a:lnSpc>
              <a:buFontTx/>
              <a:buNone/>
            </a:pPr>
            <a:r>
              <a:rPr lang="en-US"/>
              <a:t> - 3</a:t>
            </a:r>
            <a:r>
              <a:rPr lang="en-US" baseline="30000"/>
              <a:t>rd</a:t>
            </a:r>
            <a:r>
              <a:rPr lang="en-US"/>
              <a:t> trimester – increase in subcutaneous tissue.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sz="2500"/>
              <a:t>Stages of Growth and Development</a:t>
            </a:r>
          </a:p>
        </p:txBody>
      </p:sp>
      <p:sp>
        <p:nvSpPr>
          <p:cNvPr id="5123" name="Rectangle 3"/>
          <p:cNvSpPr>
            <a:spLocks noGrp="1" noChangeArrowheads="1"/>
          </p:cNvSpPr>
          <p:nvPr>
            <p:ph type="body" sz="half" idx="1"/>
          </p:nvPr>
        </p:nvSpPr>
        <p:spPr/>
        <p:txBody>
          <a:bodyPr/>
          <a:lstStyle/>
          <a:p>
            <a:pPr>
              <a:lnSpc>
                <a:spcPct val="90000"/>
              </a:lnSpc>
            </a:pPr>
            <a:r>
              <a:rPr lang="en-US" sz="2700"/>
              <a:t>Infancy</a:t>
            </a:r>
          </a:p>
          <a:p>
            <a:pPr lvl="1">
              <a:lnSpc>
                <a:spcPct val="90000"/>
              </a:lnSpc>
            </a:pPr>
            <a:r>
              <a:rPr lang="en-US" sz="2200"/>
              <a:t>Neonate</a:t>
            </a:r>
          </a:p>
          <a:p>
            <a:pPr lvl="2">
              <a:lnSpc>
                <a:spcPct val="90000"/>
              </a:lnSpc>
            </a:pPr>
            <a:r>
              <a:rPr lang="en-US"/>
              <a:t>Birth to 1 month</a:t>
            </a:r>
          </a:p>
          <a:p>
            <a:pPr lvl="1">
              <a:lnSpc>
                <a:spcPct val="90000"/>
              </a:lnSpc>
            </a:pPr>
            <a:r>
              <a:rPr lang="en-US" sz="2200"/>
              <a:t>Infancy</a:t>
            </a:r>
          </a:p>
          <a:p>
            <a:pPr lvl="2">
              <a:lnSpc>
                <a:spcPct val="90000"/>
              </a:lnSpc>
            </a:pPr>
            <a:r>
              <a:rPr lang="en-US"/>
              <a:t>1 month to 1 year</a:t>
            </a:r>
          </a:p>
          <a:p>
            <a:pPr>
              <a:lnSpc>
                <a:spcPct val="90000"/>
              </a:lnSpc>
            </a:pPr>
            <a:r>
              <a:rPr lang="en-US" sz="2700"/>
              <a:t>Early Childhood</a:t>
            </a:r>
          </a:p>
          <a:p>
            <a:pPr lvl="1">
              <a:lnSpc>
                <a:spcPct val="90000"/>
              </a:lnSpc>
            </a:pPr>
            <a:r>
              <a:rPr lang="en-US" sz="2200"/>
              <a:t>Toddler</a:t>
            </a:r>
          </a:p>
          <a:p>
            <a:pPr lvl="2">
              <a:lnSpc>
                <a:spcPct val="90000"/>
              </a:lnSpc>
            </a:pPr>
            <a:r>
              <a:rPr lang="en-US"/>
              <a:t>1-3 years</a:t>
            </a:r>
          </a:p>
          <a:p>
            <a:pPr lvl="1">
              <a:lnSpc>
                <a:spcPct val="90000"/>
              </a:lnSpc>
            </a:pPr>
            <a:r>
              <a:rPr lang="en-US" sz="2200"/>
              <a:t>Preschool</a:t>
            </a:r>
          </a:p>
          <a:p>
            <a:pPr lvl="2">
              <a:lnSpc>
                <a:spcPct val="90000"/>
              </a:lnSpc>
            </a:pPr>
            <a:r>
              <a:rPr lang="en-US"/>
              <a:t>3-6 years</a:t>
            </a:r>
          </a:p>
        </p:txBody>
      </p:sp>
      <p:sp>
        <p:nvSpPr>
          <p:cNvPr id="5124" name="Rectangle 4"/>
          <p:cNvSpPr>
            <a:spLocks noGrp="1" noChangeArrowheads="1"/>
          </p:cNvSpPr>
          <p:nvPr>
            <p:ph type="body" sz="half" idx="2"/>
          </p:nvPr>
        </p:nvSpPr>
        <p:spPr/>
        <p:txBody>
          <a:bodyPr/>
          <a:lstStyle/>
          <a:p>
            <a:r>
              <a:rPr lang="en-US" sz="2700"/>
              <a:t>Middle Childhood</a:t>
            </a:r>
          </a:p>
          <a:p>
            <a:pPr lvl="1"/>
            <a:r>
              <a:rPr lang="en-US" sz="2200"/>
              <a:t>School age</a:t>
            </a:r>
          </a:p>
          <a:p>
            <a:pPr lvl="1"/>
            <a:r>
              <a:rPr lang="en-US" sz="2200"/>
              <a:t>6 to 12 years</a:t>
            </a:r>
          </a:p>
          <a:p>
            <a:r>
              <a:rPr lang="en-US" sz="2700"/>
              <a:t>Late Childhood</a:t>
            </a:r>
          </a:p>
          <a:p>
            <a:pPr lvl="1"/>
            <a:r>
              <a:rPr lang="en-US" sz="2200"/>
              <a:t>Adolescent</a:t>
            </a:r>
          </a:p>
          <a:p>
            <a:pPr lvl="1"/>
            <a:r>
              <a:rPr lang="en-US" sz="2200"/>
              <a:t>13 years to approximately 18 years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algn="l" eaLnBrk="1" hangingPunct="1"/>
            <a:r>
              <a:rPr lang="en-US" b="1"/>
              <a:t>INFANCY</a:t>
            </a:r>
          </a:p>
        </p:txBody>
      </p:sp>
      <p:sp>
        <p:nvSpPr>
          <p:cNvPr id="10243" name="Rectangle 3"/>
          <p:cNvSpPr>
            <a:spLocks noGrp="1" noChangeArrowheads="1"/>
          </p:cNvSpPr>
          <p:nvPr>
            <p:ph type="body" idx="1"/>
          </p:nvPr>
        </p:nvSpPr>
        <p:spPr/>
        <p:txBody>
          <a:bodyPr/>
          <a:lstStyle/>
          <a:p>
            <a:pPr eaLnBrk="1" hangingPunct="1"/>
            <a:r>
              <a:rPr lang="en-US" b="1" dirty="0"/>
              <a:t>Physical Growth</a:t>
            </a:r>
            <a:endParaRPr lang="en-US" dirty="0"/>
          </a:p>
          <a:p>
            <a:pPr eaLnBrk="1" hangingPunct="1">
              <a:buFontTx/>
              <a:buNone/>
            </a:pPr>
            <a:r>
              <a:rPr lang="en-US" b="1" dirty="0"/>
              <a:t> </a:t>
            </a:r>
            <a:r>
              <a:rPr lang="en-US" dirty="0"/>
              <a:t>- the average newborn weighs ~3.25 kg at birth.</a:t>
            </a:r>
          </a:p>
          <a:p>
            <a:pPr eaLnBrk="1" hangingPunct="1">
              <a:buFontTx/>
              <a:buNone/>
            </a:pPr>
            <a:r>
              <a:rPr lang="en-US" dirty="0"/>
              <a:t> - in the first few days of life newborns may loose up to 10% of their birth wt. This is attributable to excretion of excess extra vascular fluid and less intake.</a:t>
            </a:r>
          </a:p>
          <a:p>
            <a:pPr eaLnBrk="1" hangingPunct="1">
              <a:buFontTx/>
              <a:buNone/>
            </a:pPr>
            <a:r>
              <a:rPr lang="en-US" dirty="0"/>
              <a:t> - most term infants regain their birth wt by ten days of age and grow at ~30g/d in the 1</a:t>
            </a:r>
            <a:r>
              <a:rPr lang="en-US" baseline="30000" dirty="0"/>
              <a:t>st</a:t>
            </a:r>
            <a:r>
              <a:rPr lang="en-US" dirty="0"/>
              <a:t> month of life.  </a:t>
            </a:r>
            <a:endParaRPr lang="en-US" b="1"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algn="l" eaLnBrk="1" hangingPunct="1"/>
            <a:r>
              <a:rPr lang="en-US"/>
              <a:t>Cont’d</a:t>
            </a:r>
          </a:p>
        </p:txBody>
      </p:sp>
      <p:sp>
        <p:nvSpPr>
          <p:cNvPr id="11267" name="Rectangle 3"/>
          <p:cNvSpPr>
            <a:spLocks noGrp="1" noChangeArrowheads="1"/>
          </p:cNvSpPr>
          <p:nvPr>
            <p:ph type="body" idx="1"/>
          </p:nvPr>
        </p:nvSpPr>
        <p:spPr/>
        <p:txBody>
          <a:bodyPr/>
          <a:lstStyle/>
          <a:p>
            <a:pPr eaLnBrk="1" hangingPunct="1">
              <a:lnSpc>
                <a:spcPct val="90000"/>
              </a:lnSpc>
              <a:buFontTx/>
              <a:buNone/>
            </a:pPr>
            <a:r>
              <a:rPr lang="en-US"/>
              <a:t> - between 3 and 4 months the rate of growth slows to ~20g/d.</a:t>
            </a:r>
          </a:p>
          <a:p>
            <a:pPr eaLnBrk="1" hangingPunct="1">
              <a:lnSpc>
                <a:spcPct val="90000"/>
              </a:lnSpc>
              <a:buFontTx/>
              <a:buNone/>
            </a:pPr>
            <a:r>
              <a:rPr lang="en-US"/>
              <a:t> - the full term infant generally doubles birth wt by five months and triples by one year.</a:t>
            </a:r>
          </a:p>
          <a:p>
            <a:pPr eaLnBrk="1" hangingPunct="1">
              <a:lnSpc>
                <a:spcPct val="90000"/>
              </a:lnSpc>
              <a:buFontTx/>
              <a:buNone/>
            </a:pPr>
            <a:r>
              <a:rPr lang="en-US"/>
              <a:t> - the anterior fontanel is closed between 9 and 18 months and the posterior by 4 mo.</a:t>
            </a:r>
          </a:p>
          <a:p>
            <a:pPr eaLnBrk="1" hangingPunct="1">
              <a:lnSpc>
                <a:spcPct val="90000"/>
              </a:lnSpc>
              <a:buFontTx/>
              <a:buNone/>
            </a:pPr>
            <a:r>
              <a:rPr lang="en-US"/>
              <a:t> - head circumference ( 34-35 cm at birth) increases to ~44 cm by 6 mo &amp; to 47 cm by one year.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dt" sz="quarter" idx="10"/>
          </p:nvPr>
        </p:nvSpPr>
        <p:spPr>
          <a:noFill/>
        </p:spPr>
        <p:txBody>
          <a:bodyPr/>
          <a:lstStyle/>
          <a:p>
            <a:fld id="{32945E5C-16BD-4DD8-BED2-361499CDB3BF}" type="datetime1">
              <a:rPr lang="en-US"/>
              <a:pPr/>
              <a:t>11/20/2024</a:t>
            </a:fld>
            <a:endParaRPr lang="en-US"/>
          </a:p>
        </p:txBody>
      </p:sp>
      <p:sp>
        <p:nvSpPr>
          <p:cNvPr id="15362" name="Rectangle 2"/>
          <p:cNvSpPr>
            <a:spLocks noGrp="1" noChangeArrowheads="1"/>
          </p:cNvSpPr>
          <p:nvPr>
            <p:ph type="title"/>
          </p:nvPr>
        </p:nvSpPr>
        <p:spPr>
          <a:xfrm>
            <a:off x="1295400" y="304800"/>
            <a:ext cx="8229600" cy="584200"/>
          </a:xfrm>
        </p:spPr>
        <p:txBody>
          <a:bodyPr>
            <a:normAutofit fontScale="90000"/>
          </a:bodyPr>
          <a:lstStyle/>
          <a:p>
            <a:pPr>
              <a:defRPr/>
            </a:pPr>
            <a:r>
              <a:rPr lang="en-US" sz="4000" b="1" dirty="0">
                <a:latin typeface="Times New Roman" pitchFamily="18" charset="0"/>
                <a:cs typeface="Times New Roman" pitchFamily="18" charset="0"/>
              </a:rPr>
              <a:t> </a:t>
            </a:r>
            <a:r>
              <a:rPr lang="en-US" sz="4000" b="1" dirty="0">
                <a:solidFill>
                  <a:srgbClr val="FF0000"/>
                </a:solidFill>
                <a:latin typeface="Times New Roman" pitchFamily="18" charset="0"/>
                <a:cs typeface="Times New Roman" pitchFamily="18" charset="0"/>
              </a:rPr>
              <a:t>Infant</a:t>
            </a:r>
          </a:p>
        </p:txBody>
      </p:sp>
      <p:sp>
        <p:nvSpPr>
          <p:cNvPr id="12292" name="Rectangle 3"/>
          <p:cNvSpPr>
            <a:spLocks noGrp="1" noChangeArrowheads="1"/>
          </p:cNvSpPr>
          <p:nvPr>
            <p:ph type="body" idx="1"/>
          </p:nvPr>
        </p:nvSpPr>
        <p:spPr>
          <a:xfrm>
            <a:off x="1752600" y="1447800"/>
            <a:ext cx="8686800" cy="5029200"/>
          </a:xfrm>
          <a:solidFill>
            <a:schemeClr val="accent1"/>
          </a:solidFill>
        </p:spPr>
        <p:txBody>
          <a:bodyPr/>
          <a:lstStyle/>
          <a:p>
            <a:pPr>
              <a:buFont typeface="Wingdings" pitchFamily="2" charset="2"/>
              <a:buNone/>
            </a:pPr>
            <a:r>
              <a:rPr lang="en-US" b="1" dirty="0">
                <a:latin typeface="Times New Roman" pitchFamily="18" charset="0"/>
                <a:cs typeface="Times New Roman" pitchFamily="18" charset="0"/>
              </a:rPr>
              <a:t>1. </a:t>
            </a:r>
            <a:r>
              <a:rPr lang="en-US" b="1" dirty="0">
                <a:cs typeface="Times New Roman" pitchFamily="18" charset="0"/>
              </a:rPr>
              <a:t>Physical growth</a:t>
            </a:r>
            <a:endParaRPr lang="en-US" dirty="0">
              <a:cs typeface="Times New Roman" pitchFamily="18" charset="0"/>
            </a:endParaRPr>
          </a:p>
          <a:p>
            <a:pPr lvl="1"/>
            <a:r>
              <a:rPr lang="en-US" dirty="0">
                <a:cs typeface="Times New Roman" pitchFamily="18" charset="0"/>
              </a:rPr>
              <a:t>Weight:- Double at 5th month, triple at 11-12th month</a:t>
            </a:r>
          </a:p>
          <a:p>
            <a:pPr lvl="1">
              <a:buFont typeface="Wingdings" pitchFamily="2" charset="2"/>
              <a:buNone/>
            </a:pPr>
            <a:r>
              <a:rPr lang="en-US" dirty="0">
                <a:cs typeface="Times New Roman" pitchFamily="18" charset="0"/>
              </a:rPr>
              <a:t>			3-12m =  </a:t>
            </a:r>
            <a:r>
              <a:rPr lang="en-US" u="sng" dirty="0">
                <a:cs typeface="Times New Roman" pitchFamily="18" charset="0"/>
              </a:rPr>
              <a:t>age(m)+9</a:t>
            </a:r>
            <a:r>
              <a:rPr lang="en-US" dirty="0">
                <a:cs typeface="Times New Roman" pitchFamily="18" charset="0"/>
              </a:rPr>
              <a:t> </a:t>
            </a:r>
          </a:p>
          <a:p>
            <a:pPr>
              <a:buFont typeface="Wingdings" pitchFamily="2" charset="2"/>
              <a:buNone/>
            </a:pPr>
            <a:r>
              <a:rPr lang="en-US" dirty="0">
                <a:cs typeface="Times New Roman" pitchFamily="18" charset="0"/>
              </a:rPr>
              <a:t>				      2</a:t>
            </a:r>
          </a:p>
          <a:p>
            <a:pPr lvl="1"/>
            <a:r>
              <a:rPr lang="en-US" dirty="0">
                <a:cs typeface="Times New Roman" pitchFamily="18" charset="0"/>
              </a:rPr>
              <a:t>Length:-Increase by 25 cm in the 1st yr, 12.5 cm in the 2nd yr.             </a:t>
            </a:r>
          </a:p>
          <a:p>
            <a:pPr lvl="1"/>
            <a:r>
              <a:rPr lang="en-US" dirty="0">
                <a:cs typeface="Times New Roman" pitchFamily="18" charset="0"/>
              </a:rPr>
              <a:t>Brain growth:- HC increase by 12 cm in the first yr, </a:t>
            </a:r>
          </a:p>
          <a:p>
            <a:pPr lvl="1">
              <a:buFont typeface="Wingdings" pitchFamily="2" charset="2"/>
              <a:buNone/>
            </a:pPr>
            <a:r>
              <a:rPr lang="en-US" dirty="0">
                <a:cs typeface="Times New Roman" pitchFamily="18" charset="0"/>
              </a:rPr>
              <a:t>                           - only 2 cm in the 2nd year.</a:t>
            </a:r>
            <a:endParaRPr lang="en-US" b="1" dirty="0">
              <a:cs typeface="Times New Roman" pitchFamily="18" charset="0"/>
            </a:endParaRPr>
          </a:p>
          <a:p>
            <a:pPr>
              <a:buFont typeface="Wingdings" pitchFamily="2" charset="2"/>
              <a:buNone/>
            </a:pPr>
            <a:endParaRPr lang="en-US" sz="2400" dirty="0">
              <a:latin typeface="Times New Roman" pitchFamily="18" charset="0"/>
              <a:cs typeface="Times New Roman" pitchFamily="18" charset="0"/>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algn="l" eaLnBrk="1" hangingPunct="1"/>
            <a:r>
              <a:rPr lang="en-US" sz="3200" dirty="0"/>
              <a:t> - </a:t>
            </a:r>
            <a:r>
              <a:rPr lang="en-US" sz="2400" dirty="0"/>
              <a:t>the first deciduous teeth erupt between 5 and 9 mo.</a:t>
            </a:r>
            <a:endParaRPr lang="en-US" sz="3200" dirty="0"/>
          </a:p>
        </p:txBody>
      </p:sp>
      <p:sp>
        <p:nvSpPr>
          <p:cNvPr id="12291" name="Rectangle 3"/>
          <p:cNvSpPr>
            <a:spLocks noGrp="1" noChangeArrowheads="1"/>
          </p:cNvSpPr>
          <p:nvPr>
            <p:ph type="body" idx="1"/>
          </p:nvPr>
        </p:nvSpPr>
        <p:spPr>
          <a:xfrm>
            <a:off x="1981200" y="2209800"/>
            <a:ext cx="8229600" cy="4191000"/>
          </a:xfrm>
        </p:spPr>
        <p:txBody>
          <a:bodyPr/>
          <a:lstStyle/>
          <a:p>
            <a:pPr eaLnBrk="1" hangingPunct="1">
              <a:buFontTx/>
              <a:buNone/>
            </a:pPr>
            <a:r>
              <a:rPr lang="en-US" dirty="0"/>
              <a:t> </a:t>
            </a:r>
            <a:r>
              <a:rPr lang="en-US" b="1" dirty="0"/>
              <a:t>Formula for ~ average Ht and Wt of normal infants and children</a:t>
            </a:r>
          </a:p>
          <a:p>
            <a:pPr eaLnBrk="1" hangingPunct="1">
              <a:buFontTx/>
              <a:buNone/>
            </a:pPr>
            <a:r>
              <a:rPr lang="en-US" dirty="0"/>
              <a:t>    Age                        Wt (kg)</a:t>
            </a:r>
          </a:p>
          <a:p>
            <a:pPr eaLnBrk="1" hangingPunct="1">
              <a:buFontTx/>
              <a:buNone/>
            </a:pPr>
            <a:r>
              <a:rPr lang="en-US" dirty="0"/>
              <a:t> 3 – 12 mo             age (mo) + 9 / 2</a:t>
            </a:r>
          </a:p>
          <a:p>
            <a:pPr eaLnBrk="1" hangingPunct="1">
              <a:buFontTx/>
              <a:buNone/>
            </a:pPr>
            <a:r>
              <a:rPr lang="en-US" dirty="0"/>
              <a:t> 1 – 6 yr                 (age (yr) + 4)2</a:t>
            </a:r>
          </a:p>
          <a:p>
            <a:pPr eaLnBrk="1" hangingPunct="1">
              <a:buFontTx/>
              <a:buNone/>
            </a:pPr>
            <a:r>
              <a:rPr lang="en-US" dirty="0"/>
              <a:t> 7 – 12 yr               age (yr) * 7 – 5 / 2</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algn="l" eaLnBrk="1" hangingPunct="1"/>
            <a:r>
              <a:rPr lang="en-US"/>
              <a:t>Cont’d</a:t>
            </a:r>
          </a:p>
        </p:txBody>
      </p:sp>
      <p:sp>
        <p:nvSpPr>
          <p:cNvPr id="13315" name="Rectangle 3"/>
          <p:cNvSpPr>
            <a:spLocks noGrp="1" noChangeArrowheads="1"/>
          </p:cNvSpPr>
          <p:nvPr>
            <p:ph type="body" idx="1"/>
          </p:nvPr>
        </p:nvSpPr>
        <p:spPr/>
        <p:txBody>
          <a:bodyPr/>
          <a:lstStyle/>
          <a:p>
            <a:pPr eaLnBrk="1" hangingPunct="1">
              <a:buFontTx/>
              <a:buNone/>
            </a:pPr>
            <a:r>
              <a:rPr lang="en-US" u="sng"/>
              <a:t>  Age                          Ht (cm)</a:t>
            </a:r>
          </a:p>
          <a:p>
            <a:pPr eaLnBrk="1" hangingPunct="1">
              <a:buFontTx/>
              <a:buNone/>
            </a:pPr>
            <a:r>
              <a:rPr lang="en-US" u="sng"/>
              <a:t> </a:t>
            </a:r>
            <a:r>
              <a:rPr lang="en-US"/>
              <a:t>at birth                      50</a:t>
            </a:r>
          </a:p>
          <a:p>
            <a:pPr eaLnBrk="1" hangingPunct="1">
              <a:buFontTx/>
              <a:buNone/>
            </a:pPr>
            <a:r>
              <a:rPr lang="en-US"/>
              <a:t> 1 yr                           75</a:t>
            </a:r>
          </a:p>
          <a:p>
            <a:pPr eaLnBrk="1" hangingPunct="1">
              <a:buFontTx/>
              <a:buNone/>
            </a:pPr>
            <a:r>
              <a:rPr lang="en-US"/>
              <a:t> 2 – 12 yr                   age (yr) * 6 + 77</a:t>
            </a:r>
            <a:endParaRPr lang="en-US" u="sng"/>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algn="l" eaLnBrk="1" hangingPunct="1">
              <a:buFontTx/>
              <a:buChar char="•"/>
            </a:pPr>
            <a:r>
              <a:rPr lang="en-US" sz="3200" b="1"/>
              <a:t> Neurodevelopment </a:t>
            </a:r>
          </a:p>
        </p:txBody>
      </p:sp>
      <p:sp>
        <p:nvSpPr>
          <p:cNvPr id="14339" name="Rectangle 3"/>
          <p:cNvSpPr>
            <a:spLocks noGrp="1" noChangeArrowheads="1"/>
          </p:cNvSpPr>
          <p:nvPr>
            <p:ph type="body" idx="1"/>
          </p:nvPr>
        </p:nvSpPr>
        <p:spPr/>
        <p:txBody>
          <a:bodyPr/>
          <a:lstStyle/>
          <a:p>
            <a:pPr eaLnBrk="1" hangingPunct="1">
              <a:buFontTx/>
              <a:buNone/>
            </a:pPr>
            <a:r>
              <a:rPr lang="en-US" dirty="0"/>
              <a:t> - 4– 8 weeks – head lags when pulled to sitting position, head control is absent in upright position.</a:t>
            </a:r>
          </a:p>
          <a:p>
            <a:pPr eaLnBrk="1" hangingPunct="1">
              <a:buFontTx/>
              <a:buNone/>
            </a:pPr>
            <a:r>
              <a:rPr lang="en-US" dirty="0"/>
              <a:t> - 12 weeks – some control of the head as infant is drown to a sitting position, head tilted a little forward on the upright body.</a:t>
            </a:r>
          </a:p>
          <a:p>
            <a:pPr eaLnBrk="1" hangingPunct="1">
              <a:buFontTx/>
              <a:buNone/>
            </a:pPr>
            <a:r>
              <a:rPr lang="en-US" dirty="0"/>
              <a:t>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algn="l" eaLnBrk="1" hangingPunct="1"/>
            <a:r>
              <a:rPr lang="en-US"/>
              <a:t>cont’d</a:t>
            </a:r>
          </a:p>
        </p:txBody>
      </p:sp>
      <p:sp>
        <p:nvSpPr>
          <p:cNvPr id="15363" name="Rectangle 3"/>
          <p:cNvSpPr>
            <a:spLocks noGrp="1" noChangeArrowheads="1"/>
          </p:cNvSpPr>
          <p:nvPr>
            <p:ph type="body" idx="1"/>
          </p:nvPr>
        </p:nvSpPr>
        <p:spPr/>
        <p:txBody>
          <a:bodyPr/>
          <a:lstStyle/>
          <a:p>
            <a:pPr eaLnBrk="1" hangingPunct="1">
              <a:lnSpc>
                <a:spcPct val="90000"/>
              </a:lnSpc>
              <a:buFontTx/>
              <a:buNone/>
            </a:pPr>
            <a:r>
              <a:rPr lang="en-US"/>
              <a:t> - 4 months – no head lag on pull to a sitting position, head tilts a little forward but is held steady on the upright body.</a:t>
            </a:r>
          </a:p>
          <a:p>
            <a:pPr eaLnBrk="1" hangingPunct="1">
              <a:lnSpc>
                <a:spcPct val="90000"/>
              </a:lnSpc>
              <a:buFontTx/>
              <a:buNone/>
            </a:pPr>
            <a:r>
              <a:rPr lang="en-US"/>
              <a:t> - 5-6 months – head can be maintained erect, rolls over.</a:t>
            </a:r>
          </a:p>
          <a:p>
            <a:pPr eaLnBrk="1" hangingPunct="1">
              <a:lnSpc>
                <a:spcPct val="90000"/>
              </a:lnSpc>
              <a:buFontTx/>
              <a:buNone/>
            </a:pPr>
            <a:r>
              <a:rPr lang="en-US"/>
              <a:t> - 6-6 ½ months – grasps large objects and transfers it from hand to hand, sits alone leaning forward on hands with slight support of the pelvis.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t>Head Control </a:t>
            </a:r>
          </a:p>
        </p:txBody>
      </p:sp>
      <p:pic>
        <p:nvPicPr>
          <p:cNvPr id="9221" name="Picture 5" descr="msotw9_temp0"/>
          <p:cNvPicPr>
            <a:picLocks noChangeAspect="1" noChangeArrowheads="1"/>
          </p:cNvPicPr>
          <p:nvPr/>
        </p:nvPicPr>
        <p:blipFill>
          <a:blip r:embed="rId3" cstate="print"/>
          <a:srcRect/>
          <a:stretch>
            <a:fillRect/>
          </a:stretch>
        </p:blipFill>
        <p:spPr bwMode="auto">
          <a:xfrm>
            <a:off x="1981200" y="1981200"/>
            <a:ext cx="4572000" cy="4191000"/>
          </a:xfrm>
          <a:prstGeom prst="rect">
            <a:avLst/>
          </a:prstGeom>
          <a:noFill/>
          <a:ln w="9525">
            <a:noFill/>
            <a:miter lim="800000"/>
            <a:headEnd/>
            <a:tailEnd/>
          </a:ln>
          <a:effectLst/>
        </p:spPr>
      </p:pic>
      <p:pic>
        <p:nvPicPr>
          <p:cNvPr id="9222" name="Picture 6" descr="msotw9_temp0"/>
          <p:cNvPicPr>
            <a:picLocks noChangeAspect="1" noChangeArrowheads="1"/>
          </p:cNvPicPr>
          <p:nvPr/>
        </p:nvPicPr>
        <p:blipFill>
          <a:blip r:embed="rId4" cstate="print"/>
          <a:srcRect/>
          <a:stretch>
            <a:fillRect/>
          </a:stretch>
        </p:blipFill>
        <p:spPr bwMode="auto">
          <a:xfrm>
            <a:off x="6629400" y="1981200"/>
            <a:ext cx="3886200" cy="4191000"/>
          </a:xfrm>
          <a:prstGeom prst="rect">
            <a:avLst/>
          </a:prstGeom>
          <a:noFill/>
          <a:ln w="9525">
            <a:noFill/>
            <a:miter lim="800000"/>
            <a:headEnd/>
            <a:tailEnd/>
          </a:ln>
          <a:effectLst/>
        </p:spPr>
      </p:pic>
      <p:sp>
        <p:nvSpPr>
          <p:cNvPr id="9223" name="Text Box 7"/>
          <p:cNvSpPr txBox="1">
            <a:spLocks noChangeArrowheads="1"/>
          </p:cNvSpPr>
          <p:nvPr/>
        </p:nvSpPr>
        <p:spPr bwMode="auto">
          <a:xfrm>
            <a:off x="2803526" y="5595938"/>
            <a:ext cx="1387475" cy="457200"/>
          </a:xfrm>
          <a:prstGeom prst="rect">
            <a:avLst/>
          </a:prstGeom>
          <a:noFill/>
          <a:ln w="9525">
            <a:noFill/>
            <a:miter lim="800000"/>
            <a:headEnd/>
            <a:tailEnd/>
          </a:ln>
          <a:effectLst/>
        </p:spPr>
        <p:txBody>
          <a:bodyPr wrap="none">
            <a:spAutoFit/>
          </a:bodyPr>
          <a:lstStyle/>
          <a:p>
            <a:pPr eaLnBrk="1" hangingPunct="1"/>
            <a:r>
              <a:rPr lang="en-US" sz="2400">
                <a:latin typeface="Tahoma" pitchFamily="34" charset="0"/>
              </a:rPr>
              <a:t>Newborn</a:t>
            </a:r>
          </a:p>
        </p:txBody>
      </p:sp>
      <p:sp>
        <p:nvSpPr>
          <p:cNvPr id="9224" name="Text Box 8"/>
          <p:cNvSpPr txBox="1">
            <a:spLocks noChangeArrowheads="1"/>
          </p:cNvSpPr>
          <p:nvPr/>
        </p:nvSpPr>
        <p:spPr bwMode="auto">
          <a:xfrm>
            <a:off x="7146925" y="5672138"/>
            <a:ext cx="2051050" cy="457200"/>
          </a:xfrm>
          <a:prstGeom prst="rect">
            <a:avLst/>
          </a:prstGeom>
          <a:noFill/>
          <a:ln w="9525">
            <a:noFill/>
            <a:miter lim="800000"/>
            <a:headEnd/>
            <a:tailEnd/>
          </a:ln>
          <a:effectLst/>
        </p:spPr>
        <p:txBody>
          <a:bodyPr wrap="none">
            <a:spAutoFit/>
          </a:bodyPr>
          <a:lstStyle/>
          <a:p>
            <a:pPr eaLnBrk="1" hangingPunct="1"/>
            <a:r>
              <a:rPr lang="en-US" sz="2400">
                <a:latin typeface="Tahoma" pitchFamily="34" charset="0"/>
              </a:rPr>
              <a:t>Age 6 months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algn="l" eaLnBrk="1" hangingPunct="1"/>
            <a:r>
              <a:rPr lang="en-US" sz="3200" dirty="0"/>
              <a:t>.</a:t>
            </a:r>
          </a:p>
        </p:txBody>
      </p:sp>
      <p:sp>
        <p:nvSpPr>
          <p:cNvPr id="16387" name="Rectangle 3"/>
          <p:cNvSpPr>
            <a:spLocks noGrp="1" noChangeArrowheads="1"/>
          </p:cNvSpPr>
          <p:nvPr>
            <p:ph type="body" idx="1"/>
          </p:nvPr>
        </p:nvSpPr>
        <p:spPr/>
        <p:txBody>
          <a:bodyPr/>
          <a:lstStyle/>
          <a:p>
            <a:pPr>
              <a:buNone/>
            </a:pPr>
            <a:r>
              <a:rPr lang="en-US" dirty="0"/>
              <a:t>  - 8-9 months – sits with out support</a:t>
            </a:r>
          </a:p>
          <a:p>
            <a:pPr>
              <a:buFont typeface="Arial" pitchFamily="34" charset="0"/>
              <a:buChar char="•"/>
            </a:pPr>
            <a:r>
              <a:rPr lang="en-US" dirty="0"/>
              <a:t>9-10 months- creeps or crawls, pincer grasp.</a:t>
            </a:r>
          </a:p>
          <a:p>
            <a:pPr eaLnBrk="1" hangingPunct="1">
              <a:buFontTx/>
              <a:buNone/>
            </a:pPr>
            <a:r>
              <a:rPr lang="en-US" dirty="0"/>
              <a:t> - 1 year – walks on one hand held.</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t>Sitting Up</a:t>
            </a:r>
          </a:p>
        </p:txBody>
      </p:sp>
      <p:pic>
        <p:nvPicPr>
          <p:cNvPr id="14341" name="Picture 5" descr="msotw9_temp0"/>
          <p:cNvPicPr>
            <a:picLocks noChangeAspect="1" noChangeArrowheads="1"/>
          </p:cNvPicPr>
          <p:nvPr/>
        </p:nvPicPr>
        <p:blipFill>
          <a:blip r:embed="rId2" cstate="print"/>
          <a:srcRect/>
          <a:stretch>
            <a:fillRect/>
          </a:stretch>
        </p:blipFill>
        <p:spPr bwMode="auto">
          <a:xfrm>
            <a:off x="2133600" y="1981200"/>
            <a:ext cx="3886200" cy="4191000"/>
          </a:xfrm>
          <a:prstGeom prst="rect">
            <a:avLst/>
          </a:prstGeom>
          <a:noFill/>
          <a:ln w="9525">
            <a:noFill/>
            <a:miter lim="800000"/>
            <a:headEnd/>
            <a:tailEnd/>
          </a:ln>
          <a:effectLst/>
        </p:spPr>
      </p:pic>
      <p:pic>
        <p:nvPicPr>
          <p:cNvPr id="14342" name="Picture 6" descr="msotw9_temp0"/>
          <p:cNvPicPr>
            <a:picLocks noChangeAspect="1" noChangeArrowheads="1"/>
          </p:cNvPicPr>
          <p:nvPr/>
        </p:nvPicPr>
        <p:blipFill>
          <a:blip r:embed="rId3" cstate="print"/>
          <a:srcRect/>
          <a:stretch>
            <a:fillRect/>
          </a:stretch>
        </p:blipFill>
        <p:spPr bwMode="auto">
          <a:xfrm>
            <a:off x="6629400" y="1676400"/>
            <a:ext cx="3429000" cy="4724400"/>
          </a:xfrm>
          <a:prstGeom prst="rect">
            <a:avLst/>
          </a:prstGeom>
          <a:noFill/>
          <a:ln w="9525">
            <a:noFill/>
            <a:miter lim="800000"/>
            <a:headEnd/>
            <a:tailEnd/>
          </a:ln>
          <a:effectLst/>
        </p:spPr>
      </p:pic>
      <p:sp>
        <p:nvSpPr>
          <p:cNvPr id="14343" name="Text Box 7"/>
          <p:cNvSpPr txBox="1">
            <a:spLocks noChangeArrowheads="1"/>
          </p:cNvSpPr>
          <p:nvPr/>
        </p:nvSpPr>
        <p:spPr bwMode="auto">
          <a:xfrm>
            <a:off x="2955925" y="5595938"/>
            <a:ext cx="2051050" cy="457200"/>
          </a:xfrm>
          <a:prstGeom prst="rect">
            <a:avLst/>
          </a:prstGeom>
          <a:noFill/>
          <a:ln w="9525">
            <a:noFill/>
            <a:miter lim="800000"/>
            <a:headEnd/>
            <a:tailEnd/>
          </a:ln>
          <a:effectLst/>
        </p:spPr>
        <p:txBody>
          <a:bodyPr wrap="none">
            <a:spAutoFit/>
          </a:bodyPr>
          <a:lstStyle/>
          <a:p>
            <a:pPr eaLnBrk="1" hangingPunct="1"/>
            <a:r>
              <a:rPr lang="en-US" sz="2400">
                <a:latin typeface="Tahoma" pitchFamily="34" charset="0"/>
              </a:rPr>
              <a:t>Age 2 months</a:t>
            </a:r>
          </a:p>
        </p:txBody>
      </p:sp>
      <p:sp>
        <p:nvSpPr>
          <p:cNvPr id="14344" name="Text Box 8"/>
          <p:cNvSpPr txBox="1">
            <a:spLocks noChangeArrowheads="1"/>
          </p:cNvSpPr>
          <p:nvPr/>
        </p:nvSpPr>
        <p:spPr bwMode="auto">
          <a:xfrm>
            <a:off x="7070725" y="5748338"/>
            <a:ext cx="2051050" cy="457200"/>
          </a:xfrm>
          <a:prstGeom prst="rect">
            <a:avLst/>
          </a:prstGeom>
          <a:solidFill>
            <a:schemeClr val="bg1"/>
          </a:solidFill>
          <a:ln w="9525">
            <a:noFill/>
            <a:miter lim="800000"/>
            <a:headEnd/>
            <a:tailEnd/>
          </a:ln>
          <a:effectLst/>
        </p:spPr>
        <p:txBody>
          <a:bodyPr wrap="none">
            <a:spAutoFit/>
          </a:bodyPr>
          <a:lstStyle/>
          <a:p>
            <a:pPr eaLnBrk="1" hangingPunct="1"/>
            <a:r>
              <a:rPr lang="en-US" sz="2400">
                <a:latin typeface="Tahoma" pitchFamily="34" charset="0"/>
              </a:rPr>
              <a:t>Age 8 months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t>Ambulation</a:t>
            </a:r>
          </a:p>
        </p:txBody>
      </p:sp>
      <p:pic>
        <p:nvPicPr>
          <p:cNvPr id="10247" name="Picture 7" descr="msotw9_temp0"/>
          <p:cNvPicPr>
            <a:picLocks noChangeAspect="1" noChangeArrowheads="1"/>
          </p:cNvPicPr>
          <p:nvPr/>
        </p:nvPicPr>
        <p:blipFill>
          <a:blip r:embed="rId3" cstate="print"/>
          <a:srcRect/>
          <a:stretch>
            <a:fillRect/>
          </a:stretch>
        </p:blipFill>
        <p:spPr bwMode="auto">
          <a:xfrm>
            <a:off x="6019800" y="1295400"/>
            <a:ext cx="3200400" cy="4572000"/>
          </a:xfrm>
          <a:prstGeom prst="rect">
            <a:avLst/>
          </a:prstGeom>
          <a:noFill/>
          <a:ln w="9525">
            <a:noFill/>
            <a:miter lim="800000"/>
            <a:headEnd/>
            <a:tailEnd/>
          </a:ln>
          <a:effectLst/>
        </p:spPr>
      </p:pic>
      <p:sp>
        <p:nvSpPr>
          <p:cNvPr id="10249" name="Text Box 9"/>
          <p:cNvSpPr txBox="1">
            <a:spLocks noChangeArrowheads="1"/>
          </p:cNvSpPr>
          <p:nvPr/>
        </p:nvSpPr>
        <p:spPr bwMode="auto">
          <a:xfrm>
            <a:off x="6689726" y="5291138"/>
            <a:ext cx="1973263" cy="457200"/>
          </a:xfrm>
          <a:prstGeom prst="rect">
            <a:avLst/>
          </a:prstGeom>
          <a:solidFill>
            <a:schemeClr val="bg1"/>
          </a:solidFill>
          <a:ln w="9525">
            <a:noFill/>
            <a:miter lim="800000"/>
            <a:headEnd/>
            <a:tailEnd/>
          </a:ln>
          <a:effectLst/>
        </p:spPr>
        <p:txBody>
          <a:bodyPr wrap="none">
            <a:spAutoFit/>
          </a:bodyPr>
          <a:lstStyle/>
          <a:p>
            <a:pPr eaLnBrk="1" hangingPunct="1"/>
            <a:r>
              <a:rPr lang="en-US" sz="2400">
                <a:latin typeface="Tahoma" pitchFamily="34" charset="0"/>
              </a:rPr>
              <a:t>13 month old</a:t>
            </a:r>
          </a:p>
        </p:txBody>
      </p:sp>
      <p:pic>
        <p:nvPicPr>
          <p:cNvPr id="10250" name="Picture 10" descr="msotw9_temp0"/>
          <p:cNvPicPr>
            <a:picLocks noChangeAspect="1" noChangeArrowheads="1"/>
          </p:cNvPicPr>
          <p:nvPr/>
        </p:nvPicPr>
        <p:blipFill>
          <a:blip r:embed="rId4" cstate="print"/>
          <a:srcRect/>
          <a:stretch>
            <a:fillRect/>
          </a:stretch>
        </p:blipFill>
        <p:spPr bwMode="auto">
          <a:xfrm>
            <a:off x="2133600" y="2057400"/>
            <a:ext cx="3219450" cy="4495800"/>
          </a:xfrm>
          <a:prstGeom prst="rect">
            <a:avLst/>
          </a:prstGeom>
          <a:noFill/>
          <a:ln w="9525">
            <a:noFill/>
            <a:miter lim="800000"/>
            <a:headEnd/>
            <a:tailEnd/>
          </a:ln>
          <a:effectLst/>
        </p:spPr>
      </p:pic>
      <p:sp>
        <p:nvSpPr>
          <p:cNvPr id="10251" name="Text Box 11"/>
          <p:cNvSpPr txBox="1">
            <a:spLocks noChangeArrowheads="1"/>
          </p:cNvSpPr>
          <p:nvPr/>
        </p:nvSpPr>
        <p:spPr bwMode="auto">
          <a:xfrm>
            <a:off x="2574925" y="5900738"/>
            <a:ext cx="2687638" cy="457200"/>
          </a:xfrm>
          <a:prstGeom prst="rect">
            <a:avLst/>
          </a:prstGeom>
          <a:solidFill>
            <a:schemeClr val="bg1"/>
          </a:solidFill>
          <a:ln w="9525">
            <a:noFill/>
            <a:miter lim="800000"/>
            <a:headEnd/>
            <a:tailEnd/>
          </a:ln>
          <a:effectLst/>
        </p:spPr>
        <p:txBody>
          <a:bodyPr wrap="none">
            <a:spAutoFit/>
          </a:bodyPr>
          <a:lstStyle/>
          <a:p>
            <a:pPr eaLnBrk="1" hangingPunct="1"/>
            <a:r>
              <a:rPr lang="en-US" sz="2400">
                <a:latin typeface="Tahoma" pitchFamily="34" charset="0"/>
              </a:rPr>
              <a:t>Nine to 12-months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t>Fine Motor Development</a:t>
            </a:r>
          </a:p>
        </p:txBody>
      </p:sp>
      <p:pic>
        <p:nvPicPr>
          <p:cNvPr id="17411" name="Picture 3" descr="msotw9_temp0"/>
          <p:cNvPicPr>
            <a:picLocks noChangeAspect="1" noChangeArrowheads="1"/>
          </p:cNvPicPr>
          <p:nvPr/>
        </p:nvPicPr>
        <p:blipFill>
          <a:blip r:embed="rId2" cstate="print"/>
          <a:srcRect/>
          <a:stretch>
            <a:fillRect/>
          </a:stretch>
        </p:blipFill>
        <p:spPr bwMode="auto">
          <a:xfrm>
            <a:off x="1828800" y="2133600"/>
            <a:ext cx="3505200" cy="2743200"/>
          </a:xfrm>
          <a:prstGeom prst="rect">
            <a:avLst/>
          </a:prstGeom>
          <a:noFill/>
          <a:ln w="9525">
            <a:noFill/>
            <a:miter lim="800000"/>
            <a:headEnd/>
            <a:tailEnd/>
          </a:ln>
          <a:effectLst/>
        </p:spPr>
      </p:pic>
      <p:pic>
        <p:nvPicPr>
          <p:cNvPr id="17412" name="Picture 4" descr="msotw9_temp0"/>
          <p:cNvPicPr>
            <a:picLocks noChangeAspect="1" noChangeArrowheads="1"/>
          </p:cNvPicPr>
          <p:nvPr/>
        </p:nvPicPr>
        <p:blipFill>
          <a:blip r:embed="rId3" cstate="print"/>
          <a:srcRect/>
          <a:stretch>
            <a:fillRect/>
          </a:stretch>
        </p:blipFill>
        <p:spPr bwMode="auto">
          <a:xfrm>
            <a:off x="6324600" y="2133600"/>
            <a:ext cx="3581400" cy="3276600"/>
          </a:xfrm>
          <a:prstGeom prst="rect">
            <a:avLst/>
          </a:prstGeom>
          <a:noFill/>
          <a:ln w="9525">
            <a:noFill/>
            <a:miter lim="800000"/>
            <a:headEnd/>
            <a:tailEnd/>
          </a:ln>
          <a:effectLst/>
        </p:spPr>
      </p:pic>
      <p:sp>
        <p:nvSpPr>
          <p:cNvPr id="17413" name="Text Box 5"/>
          <p:cNvSpPr txBox="1">
            <a:spLocks noChangeArrowheads="1"/>
          </p:cNvSpPr>
          <p:nvPr/>
        </p:nvSpPr>
        <p:spPr bwMode="auto">
          <a:xfrm>
            <a:off x="2422526" y="4300538"/>
            <a:ext cx="1838325" cy="457200"/>
          </a:xfrm>
          <a:prstGeom prst="rect">
            <a:avLst/>
          </a:prstGeom>
          <a:solidFill>
            <a:schemeClr val="bg1"/>
          </a:solidFill>
          <a:ln w="9525">
            <a:noFill/>
            <a:miter lim="800000"/>
            <a:headEnd/>
            <a:tailEnd/>
          </a:ln>
          <a:effectLst/>
        </p:spPr>
        <p:txBody>
          <a:bodyPr wrap="none">
            <a:spAutoFit/>
          </a:bodyPr>
          <a:lstStyle/>
          <a:p>
            <a:pPr eaLnBrk="1" hangingPunct="1"/>
            <a:r>
              <a:rPr lang="en-US" sz="2400">
                <a:latin typeface="Tahoma" pitchFamily="34" charset="0"/>
              </a:rPr>
              <a:t>6-month-old</a:t>
            </a:r>
          </a:p>
        </p:txBody>
      </p:sp>
      <p:sp>
        <p:nvSpPr>
          <p:cNvPr id="17414" name="Text Box 6"/>
          <p:cNvSpPr txBox="1">
            <a:spLocks noChangeArrowheads="1"/>
          </p:cNvSpPr>
          <p:nvPr/>
        </p:nvSpPr>
        <p:spPr bwMode="auto">
          <a:xfrm>
            <a:off x="6918326" y="4910138"/>
            <a:ext cx="2005013" cy="457200"/>
          </a:xfrm>
          <a:prstGeom prst="rect">
            <a:avLst/>
          </a:prstGeom>
          <a:solidFill>
            <a:schemeClr val="bg1"/>
          </a:solidFill>
          <a:ln w="9525">
            <a:noFill/>
            <a:miter lim="800000"/>
            <a:headEnd/>
            <a:tailEnd/>
          </a:ln>
          <a:effectLst/>
        </p:spPr>
        <p:txBody>
          <a:bodyPr wrap="none">
            <a:spAutoFit/>
          </a:bodyPr>
          <a:lstStyle/>
          <a:p>
            <a:pPr eaLnBrk="1" hangingPunct="1"/>
            <a:r>
              <a:rPr lang="en-US" sz="2400">
                <a:latin typeface="Tahoma" pitchFamily="34" charset="0"/>
              </a:rPr>
              <a:t>12-month-old</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eaLnBrk="1" hangingPunct="1"/>
            <a:r>
              <a:rPr lang="en-US" b="1" dirty="0"/>
              <a:t>Psychosocial development</a:t>
            </a:r>
          </a:p>
          <a:p>
            <a:pPr eaLnBrk="1" hangingPunct="1">
              <a:buFontTx/>
              <a:buNone/>
            </a:pPr>
            <a:r>
              <a:rPr lang="en-US" dirty="0"/>
              <a:t> - 3-5 weeks – social smile</a:t>
            </a:r>
          </a:p>
          <a:p>
            <a:pPr eaLnBrk="1" hangingPunct="1">
              <a:buFontTx/>
              <a:buNone/>
            </a:pPr>
            <a:r>
              <a:rPr lang="en-US" dirty="0"/>
              <a:t> - 4 months – laughs aloud</a:t>
            </a:r>
          </a:p>
          <a:p>
            <a:pPr eaLnBrk="1" hangingPunct="1">
              <a:buFontTx/>
              <a:buNone/>
            </a:pPr>
            <a:r>
              <a:rPr lang="en-US" dirty="0"/>
              <a:t> - 7 months – responds to changes in facial expression.</a:t>
            </a:r>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algn="l" eaLnBrk="1" hangingPunct="1"/>
            <a:r>
              <a:rPr lang="en-US" sz="3200"/>
              <a:t>Cont’d</a:t>
            </a:r>
          </a:p>
        </p:txBody>
      </p:sp>
      <p:sp>
        <p:nvSpPr>
          <p:cNvPr id="17411" name="Rectangle 3"/>
          <p:cNvSpPr>
            <a:spLocks noGrp="1" noChangeArrowheads="1"/>
          </p:cNvSpPr>
          <p:nvPr>
            <p:ph type="body" idx="1"/>
          </p:nvPr>
        </p:nvSpPr>
        <p:spPr>
          <a:xfrm>
            <a:off x="1981200" y="1676401"/>
            <a:ext cx="8229600" cy="4449763"/>
          </a:xfrm>
        </p:spPr>
        <p:txBody>
          <a:bodyPr>
            <a:normAutofit fontScale="92500"/>
          </a:bodyPr>
          <a:lstStyle/>
          <a:p>
            <a:pPr eaLnBrk="1" hangingPunct="1">
              <a:buFontTx/>
              <a:buNone/>
            </a:pPr>
            <a:r>
              <a:rPr lang="en-US" dirty="0"/>
              <a:t>The most important psychological milestone during infancy is the development of trust.</a:t>
            </a:r>
          </a:p>
          <a:p>
            <a:pPr eaLnBrk="1" hangingPunct="1"/>
            <a:r>
              <a:rPr lang="en-US" b="1" dirty="0"/>
              <a:t>Language</a:t>
            </a:r>
          </a:p>
          <a:p>
            <a:pPr>
              <a:lnSpc>
                <a:spcPct val="80000"/>
              </a:lnSpc>
            </a:pPr>
            <a:r>
              <a:rPr lang="en-US" dirty="0"/>
              <a:t> 1-2 months: coos</a:t>
            </a:r>
          </a:p>
          <a:p>
            <a:pPr>
              <a:lnSpc>
                <a:spcPct val="80000"/>
              </a:lnSpc>
            </a:pPr>
            <a:r>
              <a:rPr lang="en-US" dirty="0"/>
              <a:t>2-6 months: laughs and squeals</a:t>
            </a:r>
          </a:p>
          <a:p>
            <a:pPr>
              <a:lnSpc>
                <a:spcPct val="80000"/>
              </a:lnSpc>
            </a:pPr>
            <a:r>
              <a:rPr lang="en-US" dirty="0"/>
              <a:t>8-9 months babbles: mama/dada as sounds non-specifically</a:t>
            </a:r>
          </a:p>
          <a:p>
            <a:pPr>
              <a:lnSpc>
                <a:spcPct val="80000"/>
              </a:lnSpc>
            </a:pPr>
            <a:r>
              <a:rPr lang="en-US" dirty="0"/>
              <a:t>10-12 months: “mama/dada specific </a:t>
            </a:r>
          </a:p>
          <a:p>
            <a:pPr eaLnBrk="1" hangingPunct="1"/>
            <a:r>
              <a:rPr lang="en-US" dirty="0"/>
              <a:t>by one year of age – can call 2 or 3 words with meaning</a:t>
            </a:r>
          </a:p>
          <a:p>
            <a:pPr eaLnBrk="1" hangingPunct="1">
              <a:buFontTx/>
              <a:buNone/>
            </a:pPr>
            <a:r>
              <a:rPr lang="en-US" dirty="0"/>
              <a:t>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a:xfrm>
            <a:off x="655320" y="182880"/>
            <a:ext cx="10515600" cy="1160938"/>
          </a:xfrm>
        </p:spPr>
        <p:txBody>
          <a:bodyPr/>
          <a:lstStyle/>
          <a:p>
            <a:r>
              <a:rPr lang="en-US" dirty="0">
                <a:solidFill>
                  <a:srgbClr val="FF0000"/>
                </a:solidFill>
              </a:rPr>
              <a:t>Red Flags in infant development</a:t>
            </a:r>
          </a:p>
        </p:txBody>
      </p:sp>
      <p:sp>
        <p:nvSpPr>
          <p:cNvPr id="114691" name="Rectangle 3"/>
          <p:cNvSpPr>
            <a:spLocks noGrp="1" noChangeArrowheads="1"/>
          </p:cNvSpPr>
          <p:nvPr>
            <p:ph type="body" idx="1"/>
          </p:nvPr>
        </p:nvSpPr>
        <p:spPr/>
        <p:txBody>
          <a:bodyPr/>
          <a:lstStyle/>
          <a:p>
            <a:pPr>
              <a:lnSpc>
                <a:spcPct val="90000"/>
              </a:lnSpc>
            </a:pPr>
            <a:r>
              <a:rPr lang="en-US"/>
              <a:t>Unable to sit alone by age 9 months</a:t>
            </a:r>
          </a:p>
          <a:p>
            <a:pPr>
              <a:lnSpc>
                <a:spcPct val="90000"/>
              </a:lnSpc>
            </a:pPr>
            <a:r>
              <a:rPr lang="en-US"/>
              <a:t>Unable to transfer objects from hand to hand by age 1 year</a:t>
            </a:r>
          </a:p>
          <a:p>
            <a:pPr>
              <a:lnSpc>
                <a:spcPct val="90000"/>
              </a:lnSpc>
            </a:pPr>
            <a:r>
              <a:rPr lang="en-US"/>
              <a:t>Abnormal pincer grip or grasp by age 15 months</a:t>
            </a:r>
          </a:p>
          <a:p>
            <a:pPr>
              <a:lnSpc>
                <a:spcPct val="90000"/>
              </a:lnSpc>
            </a:pPr>
            <a:r>
              <a:rPr lang="en-US"/>
              <a:t>Unable to walk alone by 18 months</a:t>
            </a:r>
          </a:p>
          <a:p>
            <a:pPr>
              <a:lnSpc>
                <a:spcPct val="90000"/>
              </a:lnSpc>
            </a:pPr>
            <a:r>
              <a:rPr lang="en-US"/>
              <a:t>Failure to speak recognizable words by 2 years.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algn="l" eaLnBrk="1" hangingPunct="1"/>
            <a:r>
              <a:rPr lang="en-US"/>
              <a:t>Toddler hood </a:t>
            </a:r>
          </a:p>
        </p:txBody>
      </p:sp>
      <p:sp>
        <p:nvSpPr>
          <p:cNvPr id="18435" name="Rectangle 3"/>
          <p:cNvSpPr>
            <a:spLocks noGrp="1" noChangeArrowheads="1"/>
          </p:cNvSpPr>
          <p:nvPr>
            <p:ph type="body" idx="1"/>
          </p:nvPr>
        </p:nvSpPr>
        <p:spPr/>
        <p:txBody>
          <a:bodyPr/>
          <a:lstStyle/>
          <a:p>
            <a:pPr eaLnBrk="1" hangingPunct="1">
              <a:lnSpc>
                <a:spcPct val="90000"/>
              </a:lnSpc>
              <a:buFontTx/>
              <a:buChar char="-"/>
            </a:pPr>
            <a:r>
              <a:rPr lang="en-US" dirty="0"/>
              <a:t>the growth rate slows in the 2</a:t>
            </a:r>
            <a:r>
              <a:rPr lang="en-US" baseline="30000" dirty="0"/>
              <a:t>nd</a:t>
            </a:r>
            <a:r>
              <a:rPr lang="en-US" dirty="0"/>
              <a:t> yr of life &amp; appetite declines. </a:t>
            </a:r>
          </a:p>
          <a:p>
            <a:pPr eaLnBrk="1" hangingPunct="1">
              <a:lnSpc>
                <a:spcPct val="90000"/>
              </a:lnSpc>
              <a:buFontTx/>
              <a:buChar char="-"/>
            </a:pPr>
            <a:r>
              <a:rPr lang="en-US" dirty="0"/>
              <a:t>Most children begin to walk independently near their 1</a:t>
            </a:r>
            <a:r>
              <a:rPr lang="en-US" baseline="30000" dirty="0"/>
              <a:t>st</a:t>
            </a:r>
            <a:r>
              <a:rPr lang="en-US" dirty="0"/>
              <a:t> birthday.</a:t>
            </a:r>
          </a:p>
          <a:p>
            <a:pPr eaLnBrk="1" hangingPunct="1">
              <a:lnSpc>
                <a:spcPct val="90000"/>
              </a:lnSpc>
              <a:buFontTx/>
              <a:buChar char="-"/>
            </a:pPr>
            <a:r>
              <a:rPr lang="en-US" dirty="0"/>
              <a:t>At first infants toddle with a wide based gait, knees bent and arms flexed at the elbow; the entire torso rotates with each stride</a:t>
            </a:r>
          </a:p>
          <a:p>
            <a:pPr eaLnBrk="1" hangingPunct="1">
              <a:lnSpc>
                <a:spcPct val="90000"/>
              </a:lnSpc>
              <a:buFontTx/>
              <a:buChar char="-"/>
            </a:pPr>
            <a:r>
              <a:rPr lang="en-US" dirty="0"/>
              <a:t>Brain growth continues to decelerate during the 2</a:t>
            </a:r>
            <a:r>
              <a:rPr lang="en-US" baseline="30000" dirty="0"/>
              <a:t>nd</a:t>
            </a:r>
            <a:r>
              <a:rPr lang="en-US" dirty="0"/>
              <a:t> yr. Head circumference, which increased ~12 cm during the 1</a:t>
            </a:r>
            <a:r>
              <a:rPr lang="en-US" baseline="30000" dirty="0"/>
              <a:t>st</a:t>
            </a:r>
            <a:r>
              <a:rPr lang="en-US" dirty="0"/>
              <a:t> year, increase only 2 cm during the 2</a:t>
            </a:r>
            <a:r>
              <a:rPr lang="en-US" baseline="30000" dirty="0"/>
              <a:t>nd</a:t>
            </a:r>
            <a:r>
              <a:rPr lang="en-US" dirty="0"/>
              <a:t> year.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algn="l" eaLnBrk="1" hangingPunct="1"/>
            <a:r>
              <a:rPr lang="en-US" sz="3200"/>
              <a:t>Cont’d</a:t>
            </a:r>
          </a:p>
        </p:txBody>
      </p:sp>
      <p:sp>
        <p:nvSpPr>
          <p:cNvPr id="19459" name="Rectangle 3"/>
          <p:cNvSpPr>
            <a:spLocks noGrp="1" noChangeArrowheads="1"/>
          </p:cNvSpPr>
          <p:nvPr>
            <p:ph type="body" idx="1"/>
          </p:nvPr>
        </p:nvSpPr>
        <p:spPr/>
        <p:txBody>
          <a:bodyPr/>
          <a:lstStyle/>
          <a:p>
            <a:pPr eaLnBrk="1" hangingPunct="1">
              <a:buFontTx/>
              <a:buNone/>
            </a:pPr>
            <a:r>
              <a:rPr lang="en-US"/>
              <a:t> - By the end of the 1</a:t>
            </a:r>
            <a:r>
              <a:rPr lang="en-US" baseline="30000"/>
              <a:t>st</a:t>
            </a:r>
            <a:r>
              <a:rPr lang="en-US"/>
              <a:t> yr, the brain has reached ~ two third, and by the end of the 2</a:t>
            </a:r>
            <a:r>
              <a:rPr lang="en-US" baseline="30000"/>
              <a:t>nd</a:t>
            </a:r>
            <a:r>
              <a:rPr lang="en-US"/>
              <a:t> yr, four fifth of its adult size.</a:t>
            </a:r>
          </a:p>
          <a:p>
            <a:pPr eaLnBrk="1" hangingPunct="1">
              <a:buFontTx/>
              <a:buNone/>
            </a:pPr>
            <a:r>
              <a:rPr lang="en-US"/>
              <a:t> - A two yr old child is able to imitate circular strokes, make a horizontal line and put three words together.</a:t>
            </a:r>
          </a:p>
          <a:p>
            <a:pPr eaLnBrk="1" hangingPunct="1">
              <a:buFontTx/>
              <a:buNone/>
            </a:pPr>
            <a:r>
              <a:rPr lang="en-US"/>
              <a:t>The most important psychosocial achievement of toddlers is the development of autonomy or independence.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t>Toddler</a:t>
            </a:r>
          </a:p>
        </p:txBody>
      </p:sp>
      <p:pic>
        <p:nvPicPr>
          <p:cNvPr id="23555" name="Picture 3" descr="msotw9_temp0"/>
          <p:cNvPicPr>
            <a:picLocks noChangeAspect="1" noChangeArrowheads="1"/>
          </p:cNvPicPr>
          <p:nvPr/>
        </p:nvPicPr>
        <p:blipFill>
          <a:blip r:embed="rId2" cstate="print"/>
          <a:srcRect/>
          <a:stretch>
            <a:fillRect/>
          </a:stretch>
        </p:blipFill>
        <p:spPr bwMode="auto">
          <a:xfrm>
            <a:off x="2108200" y="2057400"/>
            <a:ext cx="3652838" cy="4038600"/>
          </a:xfrm>
          <a:prstGeom prst="rect">
            <a:avLst/>
          </a:prstGeom>
          <a:noFill/>
          <a:ln w="9525">
            <a:noFill/>
            <a:miter lim="800000"/>
            <a:headEnd/>
            <a:tailEnd/>
          </a:ln>
          <a:effectLst/>
        </p:spPr>
      </p:pic>
      <p:pic>
        <p:nvPicPr>
          <p:cNvPr id="23556" name="Picture 4" descr="msotw9_temp0"/>
          <p:cNvPicPr>
            <a:picLocks noChangeAspect="1" noChangeArrowheads="1"/>
          </p:cNvPicPr>
          <p:nvPr/>
        </p:nvPicPr>
        <p:blipFill>
          <a:blip r:embed="rId3" cstate="print"/>
          <a:srcRect/>
          <a:stretch>
            <a:fillRect/>
          </a:stretch>
        </p:blipFill>
        <p:spPr bwMode="auto">
          <a:xfrm>
            <a:off x="6096000" y="2092326"/>
            <a:ext cx="3962400" cy="3179763"/>
          </a:xfrm>
          <a:prstGeom prst="rect">
            <a:avLst/>
          </a:prstGeom>
          <a:noFill/>
          <a:ln w="9525">
            <a:noFill/>
            <a:miter lim="800000"/>
            <a:headEnd/>
            <a:tailEnd/>
          </a:ln>
          <a:effectLst/>
        </p:spPr>
      </p:pic>
      <p:sp>
        <p:nvSpPr>
          <p:cNvPr id="23557" name="Text Box 5"/>
          <p:cNvSpPr txBox="1">
            <a:spLocks noChangeArrowheads="1"/>
          </p:cNvSpPr>
          <p:nvPr/>
        </p:nvSpPr>
        <p:spPr bwMode="auto">
          <a:xfrm>
            <a:off x="6003926" y="5618163"/>
            <a:ext cx="4308475" cy="336550"/>
          </a:xfrm>
          <a:prstGeom prst="rect">
            <a:avLst/>
          </a:prstGeom>
          <a:noFill/>
          <a:ln w="9525">
            <a:noFill/>
            <a:miter lim="800000"/>
            <a:headEnd/>
            <a:tailEnd/>
          </a:ln>
          <a:effectLst/>
        </p:spPr>
        <p:txBody>
          <a:bodyPr wrap="none">
            <a:spAutoFit/>
          </a:bodyPr>
          <a:lstStyle/>
          <a:p>
            <a:pPr eaLnBrk="1" hangingPunct="1"/>
            <a:r>
              <a:rPr lang="en-US" sz="1600">
                <a:latin typeface="Tahoma" pitchFamily="34" charset="0"/>
              </a:rPr>
              <a:t>Adele Piliterri, </a:t>
            </a:r>
            <a:r>
              <a:rPr lang="en-US" sz="1600" u="sng">
                <a:latin typeface="Tahoma" pitchFamily="34" charset="0"/>
              </a:rPr>
              <a:t>Child Health Nursing</a:t>
            </a:r>
            <a:r>
              <a:rPr lang="en-US" sz="1600">
                <a:latin typeface="Tahoma" pitchFamily="34" charset="0"/>
              </a:rPr>
              <a:t>, Lippincott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algn="l" eaLnBrk="1" hangingPunct="1"/>
            <a:r>
              <a:rPr lang="en-US"/>
              <a:t>Preschooler (3-6 years)</a:t>
            </a:r>
          </a:p>
        </p:txBody>
      </p:sp>
      <p:sp>
        <p:nvSpPr>
          <p:cNvPr id="20483" name="Rectangle 3"/>
          <p:cNvSpPr>
            <a:spLocks noGrp="1" noChangeArrowheads="1"/>
          </p:cNvSpPr>
          <p:nvPr>
            <p:ph type="body" idx="1"/>
          </p:nvPr>
        </p:nvSpPr>
        <p:spPr/>
        <p:txBody>
          <a:bodyPr/>
          <a:lstStyle/>
          <a:p>
            <a:pPr eaLnBrk="1" hangingPunct="1"/>
            <a:r>
              <a:rPr lang="en-US"/>
              <a:t>During this period of life gain in weight and height are relatively steady at ~ 2kg and  6-8cm per year respectively.</a:t>
            </a:r>
          </a:p>
          <a:p>
            <a:pPr eaLnBrk="1" hangingPunct="1">
              <a:buFontTx/>
              <a:buNone/>
            </a:pPr>
            <a:r>
              <a:rPr lang="en-US"/>
              <a:t> - By 3 yrs of age all twenty primary teeth have erupted.</a:t>
            </a:r>
          </a:p>
          <a:p>
            <a:pPr eaLnBrk="1" hangingPunct="1">
              <a:buFontTx/>
              <a:buNone/>
            </a:pPr>
            <a:r>
              <a:rPr lang="en-US"/>
              <a:t> - Bowel and bladder control emerges during this period, average 30 mo of age.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algn="l" eaLnBrk="1" hangingPunct="1"/>
            <a:r>
              <a:rPr lang="en-US" sz="3200"/>
              <a:t>Cont’d</a:t>
            </a:r>
          </a:p>
        </p:txBody>
      </p:sp>
      <p:sp>
        <p:nvSpPr>
          <p:cNvPr id="21507" name="Rectangle 3"/>
          <p:cNvSpPr>
            <a:spLocks noGrp="1" noChangeArrowheads="1"/>
          </p:cNvSpPr>
          <p:nvPr>
            <p:ph type="body" idx="1"/>
          </p:nvPr>
        </p:nvSpPr>
        <p:spPr/>
        <p:txBody>
          <a:bodyPr/>
          <a:lstStyle/>
          <a:p>
            <a:pPr eaLnBrk="1" hangingPunct="1">
              <a:lnSpc>
                <a:spcPct val="90000"/>
              </a:lnSpc>
              <a:buFontTx/>
              <a:buNone/>
            </a:pPr>
            <a:r>
              <a:rPr lang="en-US"/>
              <a:t> - 3 yrs – goes upstairs with alternating feet.</a:t>
            </a:r>
          </a:p>
          <a:p>
            <a:pPr eaLnBrk="1" hangingPunct="1">
              <a:lnSpc>
                <a:spcPct val="90000"/>
              </a:lnSpc>
              <a:buFontTx/>
              <a:buNone/>
            </a:pPr>
            <a:r>
              <a:rPr lang="en-US"/>
              <a:t>            - stands momentarily with one foot.</a:t>
            </a:r>
          </a:p>
          <a:p>
            <a:pPr eaLnBrk="1" hangingPunct="1">
              <a:lnSpc>
                <a:spcPct val="90000"/>
              </a:lnSpc>
              <a:buFontTx/>
              <a:buNone/>
            </a:pPr>
            <a:r>
              <a:rPr lang="en-US"/>
              <a:t>            - copies a circle and imitates a cross.</a:t>
            </a:r>
          </a:p>
          <a:p>
            <a:pPr eaLnBrk="1" hangingPunct="1">
              <a:lnSpc>
                <a:spcPct val="90000"/>
              </a:lnSpc>
              <a:buFontTx/>
              <a:buNone/>
            </a:pPr>
            <a:r>
              <a:rPr lang="en-US"/>
              <a:t>            - knows age &amp; sex.</a:t>
            </a:r>
          </a:p>
          <a:p>
            <a:pPr eaLnBrk="1" hangingPunct="1">
              <a:lnSpc>
                <a:spcPct val="90000"/>
              </a:lnSpc>
              <a:buFontTx/>
              <a:buNone/>
            </a:pPr>
            <a:r>
              <a:rPr lang="en-US"/>
              <a:t>            - constructs short sentences.</a:t>
            </a:r>
          </a:p>
          <a:p>
            <a:pPr eaLnBrk="1" hangingPunct="1">
              <a:lnSpc>
                <a:spcPct val="90000"/>
              </a:lnSpc>
              <a:buFontTx/>
              <a:buNone/>
            </a:pPr>
            <a:r>
              <a:rPr lang="en-US"/>
              <a:t>            - can ride a tricycle, feeds self well.</a:t>
            </a:r>
          </a:p>
          <a:p>
            <a:pPr eaLnBrk="1" hangingPunct="1">
              <a:lnSpc>
                <a:spcPct val="90000"/>
              </a:lnSpc>
              <a:buFontTx/>
              <a:buNone/>
            </a:pPr>
            <a:r>
              <a:rPr lang="en-US"/>
              <a:t>-4 yrs – goes downstairs with alternating feet</a:t>
            </a:r>
          </a:p>
          <a:p>
            <a:pPr eaLnBrk="1" hangingPunct="1">
              <a:lnSpc>
                <a:spcPct val="90000"/>
              </a:lnSpc>
              <a:buFontTx/>
              <a:buNone/>
            </a:pPr>
            <a:r>
              <a:rPr lang="en-US"/>
              <a:t>          -copies cross and square, tells a story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algn="l" eaLnBrk="1" hangingPunct="1"/>
            <a:r>
              <a:rPr lang="en-US" sz="3200"/>
              <a:t>Cont’d</a:t>
            </a:r>
          </a:p>
        </p:txBody>
      </p:sp>
      <p:sp>
        <p:nvSpPr>
          <p:cNvPr id="22531" name="Rectangle 3"/>
          <p:cNvSpPr>
            <a:spLocks noGrp="1" noChangeArrowheads="1"/>
          </p:cNvSpPr>
          <p:nvPr>
            <p:ph type="body" idx="1"/>
          </p:nvPr>
        </p:nvSpPr>
        <p:spPr/>
        <p:txBody>
          <a:bodyPr/>
          <a:lstStyle/>
          <a:p>
            <a:pPr eaLnBrk="1" hangingPunct="1">
              <a:buFontTx/>
              <a:buNone/>
            </a:pPr>
            <a:r>
              <a:rPr lang="en-US"/>
              <a:t> - 5 yrs – hops on one foot, skips</a:t>
            </a:r>
          </a:p>
          <a:p>
            <a:pPr eaLnBrk="1" hangingPunct="1">
              <a:buFontTx/>
              <a:buNone/>
            </a:pPr>
            <a:r>
              <a:rPr lang="en-US"/>
              <a:t>            - draws a triangle from a copy</a:t>
            </a:r>
          </a:p>
          <a:p>
            <a:pPr eaLnBrk="1" hangingPunct="1">
              <a:buFontTx/>
              <a:buNone/>
            </a:pPr>
            <a:r>
              <a:rPr lang="en-US"/>
              <a:t>            - dresses and undresses</a:t>
            </a:r>
          </a:p>
          <a:p>
            <a:pPr eaLnBrk="1" hangingPunct="1">
              <a:buFontTx/>
              <a:buNone/>
            </a:pPr>
            <a:r>
              <a:rPr lang="en-US"/>
              <a:t>            - knows four colors.</a:t>
            </a:r>
          </a:p>
          <a:p>
            <a:pPr eaLnBrk="1" hangingPunct="1">
              <a:buFontTx/>
              <a:buNone/>
            </a:pPr>
            <a:r>
              <a:rPr lang="en-US"/>
              <a:t> The developmental task of a preschooler is achieving initiative, which is the basis for future sense of ambition and purpose.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r>
              <a:rPr lang="en-US" dirty="0">
                <a:solidFill>
                  <a:srgbClr val="FF0000"/>
                </a:solidFill>
              </a:rPr>
              <a:t>Red flags: preschool</a:t>
            </a:r>
          </a:p>
        </p:txBody>
      </p:sp>
      <p:sp>
        <p:nvSpPr>
          <p:cNvPr id="124931" name="Rectangle 3"/>
          <p:cNvSpPr>
            <a:spLocks noGrp="1" noChangeArrowheads="1"/>
          </p:cNvSpPr>
          <p:nvPr>
            <p:ph type="body" idx="1"/>
          </p:nvPr>
        </p:nvSpPr>
        <p:spPr/>
        <p:txBody>
          <a:bodyPr/>
          <a:lstStyle/>
          <a:p>
            <a:pPr>
              <a:lnSpc>
                <a:spcPct val="90000"/>
              </a:lnSpc>
            </a:pPr>
            <a:r>
              <a:rPr lang="en-US" dirty="0"/>
              <a:t>Inability to perform self-care tasks, hand washing simple dressing, daytime toileting</a:t>
            </a:r>
          </a:p>
          <a:p>
            <a:pPr>
              <a:lnSpc>
                <a:spcPct val="90000"/>
              </a:lnSpc>
            </a:pPr>
            <a:r>
              <a:rPr lang="en-US" dirty="0"/>
              <a:t>Lack of socialization </a:t>
            </a:r>
          </a:p>
          <a:p>
            <a:pPr>
              <a:lnSpc>
                <a:spcPct val="90000"/>
              </a:lnSpc>
            </a:pPr>
            <a:r>
              <a:rPr lang="en-US" dirty="0"/>
              <a:t>Unable to play with other children</a:t>
            </a:r>
          </a:p>
          <a:p>
            <a:pPr>
              <a:lnSpc>
                <a:spcPct val="90000"/>
              </a:lnSpc>
              <a:buNone/>
            </a:pP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algn="l" eaLnBrk="1" hangingPunct="1"/>
            <a:r>
              <a:rPr lang="en-US"/>
              <a:t>Early school years (6-12 years)</a:t>
            </a:r>
          </a:p>
        </p:txBody>
      </p:sp>
      <p:sp>
        <p:nvSpPr>
          <p:cNvPr id="23555" name="Rectangle 3"/>
          <p:cNvSpPr>
            <a:spLocks noGrp="1" noChangeArrowheads="1"/>
          </p:cNvSpPr>
          <p:nvPr>
            <p:ph type="body" idx="1"/>
          </p:nvPr>
        </p:nvSpPr>
        <p:spPr/>
        <p:txBody>
          <a:bodyPr/>
          <a:lstStyle/>
          <a:p>
            <a:pPr eaLnBrk="1" hangingPunct="1"/>
            <a:r>
              <a:rPr lang="en-US" dirty="0"/>
              <a:t>A period of relatively steady growth.</a:t>
            </a:r>
          </a:p>
          <a:p>
            <a:pPr eaLnBrk="1" hangingPunct="1"/>
            <a:r>
              <a:rPr lang="en-US" dirty="0"/>
              <a:t>The head grows only 2-3 cm in circumference throughout the period.</a:t>
            </a:r>
          </a:p>
          <a:p>
            <a:pPr eaLnBrk="1" hangingPunct="1"/>
            <a:r>
              <a:rPr lang="en-US" dirty="0"/>
              <a:t>Lymphatic tissues are at the peak of their development and generally exceed the amount of such tissue in the normal adult.</a:t>
            </a:r>
          </a:p>
          <a:p>
            <a:pPr eaLnBrk="1" hangingPunct="1"/>
            <a:r>
              <a:rPr lang="en-US" dirty="0"/>
              <a:t> ambition and self worth are the most important developing values.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t>School Years: fine motor</a:t>
            </a:r>
          </a:p>
        </p:txBody>
      </p:sp>
      <p:sp>
        <p:nvSpPr>
          <p:cNvPr id="46083" name="Rectangle 3"/>
          <p:cNvSpPr>
            <a:spLocks noGrp="1" noChangeArrowheads="1"/>
          </p:cNvSpPr>
          <p:nvPr>
            <p:ph type="body" idx="1"/>
          </p:nvPr>
        </p:nvSpPr>
        <p:spPr/>
        <p:txBody>
          <a:bodyPr/>
          <a:lstStyle/>
          <a:p>
            <a:pPr>
              <a:lnSpc>
                <a:spcPct val="90000"/>
              </a:lnSpc>
            </a:pPr>
            <a:r>
              <a:rPr lang="en-US" sz="2700" dirty="0"/>
              <a:t>Writing skills improve</a:t>
            </a:r>
          </a:p>
          <a:p>
            <a:pPr>
              <a:lnSpc>
                <a:spcPct val="90000"/>
              </a:lnSpc>
            </a:pPr>
            <a:r>
              <a:rPr lang="en-US" sz="2700" dirty="0"/>
              <a:t>Fine motor is refined</a:t>
            </a:r>
          </a:p>
          <a:p>
            <a:pPr>
              <a:lnSpc>
                <a:spcPct val="90000"/>
              </a:lnSpc>
            </a:pPr>
            <a:r>
              <a:rPr lang="en-US" sz="2700" dirty="0"/>
              <a:t>Fine motor with more focus</a:t>
            </a:r>
          </a:p>
          <a:p>
            <a:pPr lvl="1">
              <a:lnSpc>
                <a:spcPct val="90000"/>
              </a:lnSpc>
            </a:pPr>
            <a:r>
              <a:rPr lang="en-US" sz="2200" dirty="0"/>
              <a:t>Building:  models – </a:t>
            </a:r>
            <a:r>
              <a:rPr lang="en-US" sz="2200" dirty="0" err="1"/>
              <a:t>legos</a:t>
            </a:r>
            <a:r>
              <a:rPr lang="en-US" sz="2200" dirty="0"/>
              <a:t> </a:t>
            </a:r>
          </a:p>
          <a:p>
            <a:pPr lvl="1">
              <a:lnSpc>
                <a:spcPct val="90000"/>
              </a:lnSpc>
            </a:pPr>
            <a:r>
              <a:rPr lang="en-US" sz="2200" dirty="0"/>
              <a:t>Musical instrument</a:t>
            </a:r>
          </a:p>
          <a:p>
            <a:pPr lvl="1">
              <a:lnSpc>
                <a:spcPct val="90000"/>
              </a:lnSpc>
            </a:pPr>
            <a:r>
              <a:rPr lang="en-US" sz="2200" dirty="0"/>
              <a:t>Painting </a:t>
            </a:r>
          </a:p>
          <a:p>
            <a:pPr lvl="1">
              <a:lnSpc>
                <a:spcPct val="90000"/>
              </a:lnSpc>
            </a:pPr>
            <a:r>
              <a:rPr lang="en-US" sz="2200" dirty="0"/>
              <a:t>Typing skills</a:t>
            </a:r>
          </a:p>
          <a:p>
            <a:pPr lvl="1">
              <a:lnSpc>
                <a:spcPct val="90000"/>
              </a:lnSpc>
              <a:buNone/>
            </a:pPr>
            <a:endParaRPr lang="en-US" sz="2200" dirty="0"/>
          </a:p>
          <a:p>
            <a:pPr lvl="1">
              <a:lnSpc>
                <a:spcPct val="90000"/>
              </a:lnSpc>
              <a:buFontTx/>
              <a:buNone/>
            </a:pPr>
            <a:endParaRPr lang="en-US" sz="2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a:t>School Age: gross motor</a:t>
            </a:r>
          </a:p>
        </p:txBody>
      </p:sp>
      <p:sp>
        <p:nvSpPr>
          <p:cNvPr id="49155" name="Rectangle 3"/>
          <p:cNvSpPr>
            <a:spLocks noGrp="1" noChangeArrowheads="1"/>
          </p:cNvSpPr>
          <p:nvPr>
            <p:ph type="body" idx="1"/>
          </p:nvPr>
        </p:nvSpPr>
        <p:spPr/>
        <p:txBody>
          <a:bodyPr/>
          <a:lstStyle/>
          <a:p>
            <a:r>
              <a:rPr lang="en-US"/>
              <a:t>8 to 10 years: team sports</a:t>
            </a:r>
          </a:p>
          <a:p>
            <a:r>
              <a:rPr lang="en-US"/>
              <a:t>Age ten: match sport to the physical and emotional development </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t>School Age: cognitive</a:t>
            </a:r>
          </a:p>
        </p:txBody>
      </p:sp>
      <p:sp>
        <p:nvSpPr>
          <p:cNvPr id="53251" name="Rectangle 3"/>
          <p:cNvSpPr>
            <a:spLocks noGrp="1" noChangeArrowheads="1"/>
          </p:cNvSpPr>
          <p:nvPr>
            <p:ph type="body" idx="1"/>
          </p:nvPr>
        </p:nvSpPr>
        <p:spPr/>
        <p:txBody>
          <a:bodyPr/>
          <a:lstStyle/>
          <a:p>
            <a:r>
              <a:rPr lang="en-US"/>
              <a:t>Greater ability to concentrate and participate in self-initiating quiet activities that challenge cognitive skills, such as reading, playing computer and board games.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r>
              <a:rPr lang="en-US"/>
              <a:t>School performance</a:t>
            </a:r>
          </a:p>
        </p:txBody>
      </p:sp>
      <p:sp>
        <p:nvSpPr>
          <p:cNvPr id="122883" name="Rectangle 3"/>
          <p:cNvSpPr>
            <a:spLocks noGrp="1" noChangeArrowheads="1"/>
          </p:cNvSpPr>
          <p:nvPr>
            <p:ph type="body" idx="1"/>
          </p:nvPr>
        </p:nvSpPr>
        <p:spPr/>
        <p:txBody>
          <a:bodyPr/>
          <a:lstStyle/>
          <a:p>
            <a:pPr>
              <a:buFontTx/>
              <a:buChar char="•"/>
            </a:pPr>
            <a:r>
              <a:rPr lang="en-US" dirty="0"/>
              <a:t>Ask about favorite subject</a:t>
            </a:r>
          </a:p>
          <a:p>
            <a:pPr>
              <a:buFontTx/>
              <a:buChar char="•"/>
            </a:pPr>
            <a:r>
              <a:rPr lang="en-US" dirty="0"/>
              <a:t>How they are doing in school</a:t>
            </a:r>
          </a:p>
          <a:p>
            <a:pPr>
              <a:buFontTx/>
              <a:buChar char="•"/>
            </a:pPr>
            <a:r>
              <a:rPr lang="en-US" dirty="0"/>
              <a:t>Do they like school</a:t>
            </a:r>
          </a:p>
          <a:p>
            <a:pPr>
              <a:buFontTx/>
              <a:buChar char="•"/>
            </a:pPr>
            <a:r>
              <a:rPr lang="en-US" dirty="0"/>
              <a:t>By parent report: any learning difficulties, attention problems, homework</a:t>
            </a:r>
          </a:p>
          <a:p>
            <a:pPr>
              <a:buNone/>
            </a:pPr>
            <a:endParaRPr lang="en-US" dirty="0"/>
          </a:p>
          <a:p>
            <a:pPr>
              <a:buFontTx/>
              <a:buNone/>
            </a:pPr>
            <a:endParaRPr lang="en-US" dirty="0"/>
          </a:p>
          <a:p>
            <a:pPr>
              <a:buFont typeface="Wingdings" pitchFamily="2" charset="2"/>
              <a:buNone/>
            </a:pP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r>
              <a:rPr lang="en-US" dirty="0">
                <a:solidFill>
                  <a:srgbClr val="FF0000"/>
                </a:solidFill>
              </a:rPr>
              <a:t>Red flags: school age</a:t>
            </a:r>
          </a:p>
        </p:txBody>
      </p:sp>
      <p:sp>
        <p:nvSpPr>
          <p:cNvPr id="123907" name="Rectangle 3"/>
          <p:cNvSpPr>
            <a:spLocks noGrp="1" noChangeArrowheads="1"/>
          </p:cNvSpPr>
          <p:nvPr>
            <p:ph type="body" idx="1"/>
          </p:nvPr>
        </p:nvSpPr>
        <p:spPr/>
        <p:txBody>
          <a:bodyPr/>
          <a:lstStyle/>
          <a:p>
            <a:r>
              <a:rPr lang="en-US"/>
              <a:t>School failure</a:t>
            </a:r>
          </a:p>
          <a:p>
            <a:r>
              <a:rPr lang="en-US"/>
              <a:t>Lack of friends </a:t>
            </a:r>
          </a:p>
          <a:p>
            <a:r>
              <a:rPr lang="en-US"/>
              <a:t>Social isolation</a:t>
            </a:r>
          </a:p>
          <a:p>
            <a:r>
              <a:rPr lang="en-US"/>
              <a:t>Aggressive behavior: fights, fire setting, animal abuse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algn="l" eaLnBrk="1" hangingPunct="1"/>
            <a:r>
              <a:rPr lang="en-US"/>
              <a:t>Adolescence </a:t>
            </a:r>
          </a:p>
        </p:txBody>
      </p:sp>
      <p:sp>
        <p:nvSpPr>
          <p:cNvPr id="24579" name="Rectangle 3"/>
          <p:cNvSpPr>
            <a:spLocks noGrp="1" noChangeArrowheads="1"/>
          </p:cNvSpPr>
          <p:nvPr>
            <p:ph type="body" idx="1"/>
          </p:nvPr>
        </p:nvSpPr>
        <p:spPr/>
        <p:txBody>
          <a:bodyPr/>
          <a:lstStyle/>
          <a:p>
            <a:pPr eaLnBrk="1" hangingPunct="1">
              <a:lnSpc>
                <a:spcPct val="90000"/>
              </a:lnSpc>
            </a:pPr>
            <a:r>
              <a:rPr lang="en-US"/>
              <a:t>Between the age of 10 and 20 yrs, children undergo rapid changes in body size, shape, physiology, psychologic, and social functioning.</a:t>
            </a:r>
          </a:p>
          <a:p>
            <a:pPr eaLnBrk="1" hangingPunct="1">
              <a:lnSpc>
                <a:spcPct val="90000"/>
              </a:lnSpc>
            </a:pPr>
            <a:r>
              <a:rPr lang="en-US"/>
              <a:t>The most important organizing process is the development of sexual maturity. Adolescence proceeds across three distinct periods –early, middle, &amp; late- in terms of stages of pubertal development.</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algn="l" eaLnBrk="1" hangingPunct="1"/>
            <a:r>
              <a:rPr lang="en-US" sz="3600"/>
              <a:t>Early adolescence</a:t>
            </a:r>
          </a:p>
        </p:txBody>
      </p:sp>
      <p:sp>
        <p:nvSpPr>
          <p:cNvPr id="27651" name="Rectangle 3"/>
          <p:cNvSpPr>
            <a:spLocks noGrp="1" noChangeArrowheads="1"/>
          </p:cNvSpPr>
          <p:nvPr>
            <p:ph type="body" idx="1"/>
          </p:nvPr>
        </p:nvSpPr>
        <p:spPr/>
        <p:txBody>
          <a:bodyPr/>
          <a:lstStyle/>
          <a:p>
            <a:pPr eaLnBrk="1" hangingPunct="1">
              <a:lnSpc>
                <a:spcPct val="90000"/>
              </a:lnSpc>
            </a:pPr>
            <a:r>
              <a:rPr lang="en-US"/>
              <a:t>Refers to the first stage of puberty (SMR2)</a:t>
            </a:r>
          </a:p>
          <a:p>
            <a:pPr eaLnBrk="1" hangingPunct="1">
              <a:lnSpc>
                <a:spcPct val="90000"/>
              </a:lnSpc>
            </a:pPr>
            <a:r>
              <a:rPr lang="en-US"/>
              <a:t>Age ranges from 10-13 yrs</a:t>
            </a:r>
          </a:p>
          <a:p>
            <a:pPr eaLnBrk="1" hangingPunct="1">
              <a:lnSpc>
                <a:spcPct val="90000"/>
              </a:lnSpc>
            </a:pPr>
            <a:r>
              <a:rPr lang="en-US"/>
              <a:t>In girls the 1</a:t>
            </a:r>
            <a:r>
              <a:rPr lang="en-US" baseline="30000"/>
              <a:t>st</a:t>
            </a:r>
            <a:r>
              <a:rPr lang="en-US"/>
              <a:t> visible sign of puberty is the appearance of breast buds, between 8 &amp;13 yrs and in boys, testicular enlargement begins as early as 9.5 yrs</a:t>
            </a:r>
          </a:p>
          <a:p>
            <a:pPr eaLnBrk="1" hangingPunct="1">
              <a:lnSpc>
                <a:spcPct val="90000"/>
              </a:lnSpc>
            </a:pPr>
            <a:r>
              <a:rPr lang="en-US"/>
              <a:t>For both sexes, growth acceleration begin in early adolescence, but peak growth velocities are not reached until SMR 3 or 4</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lgn="l" eaLnBrk="1" hangingPunct="1"/>
            <a:r>
              <a:rPr lang="en-US" sz="3600" dirty="0"/>
              <a:t>Assessment of growth &amp; development</a:t>
            </a:r>
          </a:p>
        </p:txBody>
      </p:sp>
      <p:sp>
        <p:nvSpPr>
          <p:cNvPr id="30723" name="Rectangle 3"/>
          <p:cNvSpPr>
            <a:spLocks noGrp="1" noChangeArrowheads="1"/>
          </p:cNvSpPr>
          <p:nvPr>
            <p:ph type="body" idx="1"/>
          </p:nvPr>
        </p:nvSpPr>
        <p:spPr/>
        <p:txBody>
          <a:bodyPr/>
          <a:lstStyle/>
          <a:p>
            <a:pPr eaLnBrk="1" hangingPunct="1">
              <a:lnSpc>
                <a:spcPct val="90000"/>
              </a:lnSpc>
              <a:buFontTx/>
              <a:buNone/>
            </a:pPr>
            <a:r>
              <a:rPr lang="en-US" b="1" dirty="0"/>
              <a:t> Growth Chart</a:t>
            </a:r>
          </a:p>
          <a:p>
            <a:pPr eaLnBrk="1" hangingPunct="1">
              <a:lnSpc>
                <a:spcPct val="90000"/>
              </a:lnSpc>
            </a:pPr>
            <a:r>
              <a:rPr lang="en-US" dirty="0"/>
              <a:t>Growth chart is the most powerful tool in growth assessment.</a:t>
            </a:r>
          </a:p>
          <a:p>
            <a:pPr eaLnBrk="1" hangingPunct="1">
              <a:lnSpc>
                <a:spcPct val="90000"/>
              </a:lnSpc>
            </a:pPr>
            <a:r>
              <a:rPr lang="en-US" dirty="0"/>
              <a:t>Z score</a:t>
            </a:r>
          </a:p>
          <a:p>
            <a:pPr>
              <a:lnSpc>
                <a:spcPct val="90000"/>
              </a:lnSpc>
              <a:buNone/>
            </a:pPr>
            <a:r>
              <a:rPr lang="en-US" dirty="0"/>
              <a:t>The data are presented in4 standard charts:</a:t>
            </a:r>
          </a:p>
          <a:p>
            <a:pPr>
              <a:lnSpc>
                <a:spcPct val="90000"/>
              </a:lnSpc>
              <a:buNone/>
            </a:pPr>
            <a:r>
              <a:rPr lang="en-US" dirty="0"/>
              <a:t> 1. weight for age (WFH)</a:t>
            </a:r>
          </a:p>
          <a:p>
            <a:pPr>
              <a:lnSpc>
                <a:spcPct val="90000"/>
              </a:lnSpc>
              <a:buNone/>
            </a:pPr>
            <a:r>
              <a:rPr lang="en-US" dirty="0"/>
              <a:t> 2. height for age (HFA)</a:t>
            </a:r>
          </a:p>
          <a:p>
            <a:pPr>
              <a:lnSpc>
                <a:spcPct val="90000"/>
              </a:lnSpc>
              <a:buNone/>
            </a:pPr>
            <a:r>
              <a:rPr lang="en-US" dirty="0"/>
              <a:t> 3. head circumference for age and</a:t>
            </a:r>
          </a:p>
          <a:p>
            <a:pPr>
              <a:lnSpc>
                <a:spcPct val="90000"/>
              </a:lnSpc>
              <a:buNone/>
            </a:pPr>
            <a:r>
              <a:rPr lang="en-US" dirty="0"/>
              <a:t> 4. weight for height (WFH)</a:t>
            </a:r>
          </a:p>
          <a:p>
            <a:pPr eaLnBrk="1" hangingPunct="1">
              <a:lnSpc>
                <a:spcPct val="90000"/>
              </a:lnSpc>
            </a:pPr>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algn="l" eaLnBrk="1" hangingPunct="1">
              <a:buFontTx/>
              <a:buChar char="•"/>
            </a:pPr>
            <a:r>
              <a:rPr lang="en-US" sz="3200"/>
              <a:t> Dental development</a:t>
            </a:r>
          </a:p>
        </p:txBody>
      </p:sp>
      <p:sp>
        <p:nvSpPr>
          <p:cNvPr id="45059" name="Rectangle 3"/>
          <p:cNvSpPr>
            <a:spLocks noGrp="1" noChangeArrowheads="1"/>
          </p:cNvSpPr>
          <p:nvPr>
            <p:ph type="body" idx="1"/>
          </p:nvPr>
        </p:nvSpPr>
        <p:spPr/>
        <p:txBody>
          <a:bodyPr/>
          <a:lstStyle/>
          <a:p>
            <a:pPr eaLnBrk="1" hangingPunct="1"/>
            <a:r>
              <a:rPr lang="en-US" dirty="0"/>
              <a:t>Dental development includes mineralization, eruption, and exfoliation.</a:t>
            </a:r>
          </a:p>
          <a:p>
            <a:pPr eaLnBrk="1" hangingPunct="1"/>
            <a:r>
              <a:rPr lang="en-US" dirty="0"/>
              <a:t>Initial mineralization begins as early as the 2</a:t>
            </a:r>
            <a:r>
              <a:rPr lang="en-US" baseline="30000" dirty="0"/>
              <a:t>nd</a:t>
            </a:r>
            <a:r>
              <a:rPr lang="en-US" dirty="0"/>
              <a:t> trimester and continues thru age 3 yr for primary teeth and age 25 yr for permanent teeth.</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342900" lvl="1" indent="-342900">
              <a:buFontTx/>
              <a:buChar char="•"/>
            </a:pPr>
            <a:r>
              <a:rPr lang="en-US" sz="3200" dirty="0">
                <a:cs typeface="Times New Roman" pitchFamily="18" charset="0"/>
              </a:rPr>
              <a:t>Rule of ‘’4’’ = No teeth at 4 month of age, &amp; 4 teeth will erupt approximately every 4 months there after until the child has 20 teeth.</a:t>
            </a:r>
          </a:p>
          <a:p>
            <a:r>
              <a:rPr lang="en-US" dirty="0"/>
              <a:t>Delayed eruption is usually considered when there are no teeth by ~ 13 mo of age</a:t>
            </a:r>
          </a:p>
          <a:p>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algn="l" eaLnBrk="1" hangingPunct="1"/>
            <a:r>
              <a:rPr lang="en-US" sz="3200"/>
              <a:t>Cont’d</a:t>
            </a:r>
          </a:p>
        </p:txBody>
      </p:sp>
      <p:sp>
        <p:nvSpPr>
          <p:cNvPr id="46083" name="Rectangle 3"/>
          <p:cNvSpPr>
            <a:spLocks noGrp="1" noChangeArrowheads="1"/>
          </p:cNvSpPr>
          <p:nvPr>
            <p:ph type="body" idx="1"/>
          </p:nvPr>
        </p:nvSpPr>
        <p:spPr/>
        <p:txBody>
          <a:bodyPr/>
          <a:lstStyle/>
          <a:p>
            <a:pPr eaLnBrk="1" hangingPunct="1"/>
            <a:r>
              <a:rPr lang="en-US"/>
              <a:t>Common causes of delayed eruption include hypothyroidism, hypoparathyroidism, familial &amp; idiopathic.</a:t>
            </a:r>
          </a:p>
          <a:p>
            <a:pPr eaLnBrk="1" hangingPunct="1"/>
            <a:r>
              <a:rPr lang="en-US"/>
              <a:t>Nutritional disorders, prolonged illness, and use of certain drugs (tetracycline) in infancy or childhood may interfere with the calcification of deciduous and permanent teeth.</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Content Placeholder 2"/>
          <p:cNvSpPr>
            <a:spLocks noGrp="1"/>
          </p:cNvSpPr>
          <p:nvPr>
            <p:ph idx="1"/>
          </p:nvPr>
        </p:nvSpPr>
        <p:spPr>
          <a:xfrm>
            <a:off x="1981200" y="428625"/>
            <a:ext cx="8229600" cy="5697538"/>
          </a:xfrm>
        </p:spPr>
        <p:txBody>
          <a:bodyPr/>
          <a:lstStyle/>
          <a:p>
            <a:pPr eaLnBrk="1" hangingPunct="1"/>
            <a:endParaRPr lang="en-US"/>
          </a:p>
          <a:p>
            <a:pPr algn="ctr" eaLnBrk="1" hangingPunct="1">
              <a:buFont typeface="Arial" panose="020B0604020202020204" pitchFamily="34" charset="0"/>
              <a:buNone/>
            </a:pPr>
            <a:r>
              <a:rPr lang="en-US" sz="8800"/>
              <a:t>Thank You</a:t>
            </a:r>
          </a:p>
        </p:txBody>
      </p:sp>
      <p:pic>
        <p:nvPicPr>
          <p:cNvPr id="5632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5413" y="3141663"/>
            <a:ext cx="4105275" cy="304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Case Discussion- Feb 24 - Copy">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Case Discussion- Feb 24 - Copy</Template>
  <TotalTime>10856</TotalTime>
  <Words>3111</Words>
  <Application>Microsoft Office PowerPoint</Application>
  <PresentationFormat>Widescreen</PresentationFormat>
  <Paragraphs>419</Paragraphs>
  <Slides>76</Slides>
  <Notes>34</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76</vt:i4>
      </vt:variant>
    </vt:vector>
  </HeadingPairs>
  <TitlesOfParts>
    <vt:vector size="86" baseType="lpstr">
      <vt:lpstr>Arial</vt:lpstr>
      <vt:lpstr>Calibri</vt:lpstr>
      <vt:lpstr>Comic Sans MS</vt:lpstr>
      <vt:lpstr>Gotham</vt:lpstr>
      <vt:lpstr>LiberationSerif</vt:lpstr>
      <vt:lpstr>Tahoma</vt:lpstr>
      <vt:lpstr>Times New Roman</vt:lpstr>
      <vt:lpstr>Wingdings</vt:lpstr>
      <vt:lpstr>Case Discussion- Feb 24 - Copy</vt:lpstr>
      <vt:lpstr>Microsoft Excel Chart</vt:lpstr>
      <vt:lpstr>PowerPoint Presentation</vt:lpstr>
      <vt:lpstr>PowerPoint Presentation</vt:lpstr>
      <vt:lpstr>PowerPoint Presentation</vt:lpstr>
      <vt:lpstr>PowerPoint Presentation</vt:lpstr>
      <vt:lpstr> Principles of child health in developing countries </vt:lpstr>
      <vt:lpstr>Principles….</vt:lpstr>
      <vt:lpstr> </vt:lpstr>
      <vt:lpstr>Introduction</vt:lpstr>
      <vt:lpstr>PowerPoint Presentation</vt:lpstr>
      <vt:lpstr>Child health situation</vt:lpstr>
      <vt:lpstr> Major proximate determinants of infant and under-five mortality. </vt:lpstr>
      <vt:lpstr>Under five mortality rate</vt:lpstr>
      <vt:lpstr>Global Causes of child deaths Li Liu et al..  lancet 2015</vt:lpstr>
      <vt:lpstr>Causes of Child Mortality: Ethiopia </vt:lpstr>
      <vt:lpstr>Estimated Causes of Neonatal Deaths in Ethiopia</vt:lpstr>
      <vt:lpstr>Child health care interventions</vt:lpstr>
      <vt:lpstr>PowerPoint Presentation</vt:lpstr>
      <vt:lpstr>PowerPoint Presentation</vt:lpstr>
      <vt:lpstr>Cont’d</vt:lpstr>
      <vt:lpstr>Key interventions</vt:lpstr>
      <vt:lpstr>Diarrhoea</vt:lpstr>
      <vt:lpstr>Water, sanitation, and hygiene   interventions</vt:lpstr>
      <vt:lpstr>Malnutrition key interventions</vt:lpstr>
      <vt:lpstr>Immunization coverage</vt:lpstr>
      <vt:lpstr>EPI schedule</vt:lpstr>
      <vt:lpstr>Measles interventions</vt:lpstr>
      <vt:lpstr>HIV key interventions</vt:lpstr>
      <vt:lpstr>Child health interventions</vt:lpstr>
      <vt:lpstr>PowerPoint Presentation</vt:lpstr>
      <vt:lpstr>PowerPoint Presentation</vt:lpstr>
      <vt:lpstr>GROWTH &amp; DEVELOPMENT</vt:lpstr>
      <vt:lpstr>PowerPoint Presentation</vt:lpstr>
      <vt:lpstr>Principles of growth &amp; development</vt:lpstr>
      <vt:lpstr>Cont’d</vt:lpstr>
      <vt:lpstr>Growth Pattern</vt:lpstr>
      <vt:lpstr>Factors affecting growth &amp; development</vt:lpstr>
      <vt:lpstr>Why developmental assessment?</vt:lpstr>
      <vt:lpstr>FETAL GROWTH &amp; DEVELOPMENT</vt:lpstr>
      <vt:lpstr>Cont’d</vt:lpstr>
      <vt:lpstr> Fetal period</vt:lpstr>
      <vt:lpstr>Stages of Growth and Development</vt:lpstr>
      <vt:lpstr>INFANCY</vt:lpstr>
      <vt:lpstr>Cont’d</vt:lpstr>
      <vt:lpstr> Infant</vt:lpstr>
      <vt:lpstr> - the first deciduous teeth erupt between 5 and 9 mo.</vt:lpstr>
      <vt:lpstr>Cont’d</vt:lpstr>
      <vt:lpstr> Neurodevelopment </vt:lpstr>
      <vt:lpstr>cont’d</vt:lpstr>
      <vt:lpstr>Head Control </vt:lpstr>
      <vt:lpstr>.</vt:lpstr>
      <vt:lpstr>Sitting Up</vt:lpstr>
      <vt:lpstr>Ambulation</vt:lpstr>
      <vt:lpstr>Fine Motor Development</vt:lpstr>
      <vt:lpstr>PowerPoint Presentation</vt:lpstr>
      <vt:lpstr>Cont’d</vt:lpstr>
      <vt:lpstr>Red Flags in infant development</vt:lpstr>
      <vt:lpstr>Toddler hood </vt:lpstr>
      <vt:lpstr>Cont’d</vt:lpstr>
      <vt:lpstr>Toddler</vt:lpstr>
      <vt:lpstr>Preschooler (3-6 years)</vt:lpstr>
      <vt:lpstr>Cont’d</vt:lpstr>
      <vt:lpstr>Cont’d</vt:lpstr>
      <vt:lpstr>Red flags: preschool</vt:lpstr>
      <vt:lpstr>Early school years (6-12 years)</vt:lpstr>
      <vt:lpstr>School Years: fine motor</vt:lpstr>
      <vt:lpstr>School Age: gross motor</vt:lpstr>
      <vt:lpstr>School Age: cognitive</vt:lpstr>
      <vt:lpstr>School performance</vt:lpstr>
      <vt:lpstr>Red flags: school age</vt:lpstr>
      <vt:lpstr>Adolescence </vt:lpstr>
      <vt:lpstr>Early adolescence</vt:lpstr>
      <vt:lpstr>Assessment of growth &amp; development</vt:lpstr>
      <vt:lpstr> Dental development</vt:lpstr>
      <vt:lpstr>PowerPoint Presentation</vt:lpstr>
      <vt:lpstr>Cont’d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PANCYTOPENIA</dc:title>
  <dc:creator>Windows User</dc:creator>
  <cp:lastModifiedBy>HP</cp:lastModifiedBy>
  <cp:revision>258</cp:revision>
  <dcterms:created xsi:type="dcterms:W3CDTF">2022-02-26T17:03:00Z</dcterms:created>
  <dcterms:modified xsi:type="dcterms:W3CDTF">2024-11-20T17:11:52Z</dcterms:modified>
</cp:coreProperties>
</file>