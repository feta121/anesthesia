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367" r:id="rId9"/>
    <p:sldId id="262" r:id="rId10"/>
    <p:sldId id="263" r:id="rId11"/>
    <p:sldId id="264" r:id="rId12"/>
    <p:sldId id="265" r:id="rId13"/>
    <p:sldId id="315" r:id="rId14"/>
    <p:sldId id="316" r:id="rId15"/>
    <p:sldId id="317" r:id="rId16"/>
    <p:sldId id="318" r:id="rId17"/>
    <p:sldId id="36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9" r:id="rId28"/>
    <p:sldId id="330" r:id="rId29"/>
    <p:sldId id="333" r:id="rId30"/>
    <p:sldId id="369" r:id="rId31"/>
    <p:sldId id="334" r:id="rId32"/>
    <p:sldId id="335" r:id="rId33"/>
    <p:sldId id="337" r:id="rId34"/>
    <p:sldId id="338" r:id="rId35"/>
    <p:sldId id="339" r:id="rId36"/>
    <p:sldId id="343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351" r:id="rId45"/>
    <p:sldId id="352" r:id="rId46"/>
    <p:sldId id="353" r:id="rId47"/>
    <p:sldId id="354" r:id="rId48"/>
    <p:sldId id="355" r:id="rId49"/>
    <p:sldId id="356" r:id="rId50"/>
    <p:sldId id="357" r:id="rId51"/>
    <p:sldId id="360" r:id="rId52"/>
    <p:sldId id="361" r:id="rId53"/>
    <p:sldId id="362" r:id="rId54"/>
    <p:sldId id="36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>
              <a:lnSpc>
                <a:spcPct val="90000"/>
              </a:lnSpc>
            </a:pPr>
            <a:r>
              <a:rPr>
                <a:sym typeface="+mn-ea"/>
              </a:rPr>
              <a:t>Specific findings can support the diagnosis. </a:t>
            </a:r>
            <a:endParaRPr>
              <a:sym typeface="+mn-ea"/>
            </a:endParaRPr>
          </a:p>
          <a:p>
            <a:pPr lvl="2">
              <a:lnSpc>
                <a:spcPct val="90000"/>
              </a:lnSpc>
            </a:pPr>
            <a:r>
              <a:rPr>
                <a:sym typeface="+mn-ea"/>
              </a:rPr>
              <a:t>Non-compressible dilated appendix </a:t>
            </a:r>
          </a:p>
          <a:p>
            <a:pPr lvl="2">
              <a:lnSpc>
                <a:spcPct val="90000"/>
              </a:lnSpc>
            </a:pPr>
            <a:r>
              <a:rPr>
                <a:sym typeface="+mn-ea"/>
              </a:rPr>
              <a:t>Transverse diameter of 6 mm or more. </a:t>
            </a:r>
          </a:p>
          <a:p>
            <a:pPr lvl="2">
              <a:lnSpc>
                <a:spcPct val="90000"/>
              </a:lnSpc>
            </a:pPr>
            <a:r>
              <a:rPr>
                <a:sym typeface="+mn-ea"/>
              </a:rPr>
              <a:t>Lack of peristalsis</a:t>
            </a:r>
          </a:p>
          <a:p>
            <a:pPr lvl="2">
              <a:lnSpc>
                <a:spcPct val="90000"/>
              </a:lnSpc>
            </a:pPr>
            <a:r>
              <a:rPr>
                <a:sym typeface="+mn-ea"/>
              </a:rPr>
              <a:t>Peri appendiceal phlegmon or abscess formation. </a:t>
            </a:r>
          </a:p>
          <a:p>
            <a:pPr lvl="2">
              <a:lnSpc>
                <a:spcPct val="90000"/>
              </a:lnSpc>
            </a:pPr>
            <a:r>
              <a:rPr>
                <a:sym typeface="+mn-ea"/>
              </a:rPr>
              <a:t>An appendicoliths</a:t>
            </a:r>
          </a:p>
          <a:p>
            <a:pPr lvl="2">
              <a:lnSpc>
                <a:spcPct val="90000"/>
              </a:lnSpc>
            </a:pPr>
            <a:r>
              <a:rPr>
                <a:sym typeface="+mn-ea"/>
              </a:rPr>
              <a:t>Focal tenderness over the inflamed appendix</a:t>
            </a:r>
          </a:p>
          <a:p>
            <a:pPr lvl="2"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r>
              <a:rPr lang="en-US"/>
              <a:t>AA MICHAEL</a:t>
            </a:r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r>
              <a:rPr lang="en-US"/>
              <a:t>AA MICHAEL</a:t>
            </a: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7.png"/><Relationship Id="rId7" Type="http://schemas.openxmlformats.org/officeDocument/2006/relationships/oleObject" Target="../embeddings/oleObject4.bin"/><Relationship Id="rId6" Type="http://schemas.openxmlformats.org/officeDocument/2006/relationships/image" Target="../media/image6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png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28905" y="1381760"/>
            <a:ext cx="11843385" cy="1082675"/>
          </a:xfrm>
        </p:spPr>
        <p:txBody>
          <a:bodyPr/>
          <a:lstStyle/>
          <a:p>
            <a:r>
              <a:rPr sz="6000" b="1">
                <a:latin typeface="Georgia" panose="02040502050405020303" charset="0"/>
                <a:cs typeface="Georgia" panose="02040502050405020303" charset="0"/>
                <a:sym typeface="+mn-ea"/>
              </a:rPr>
              <a:t>Acute abdomen in children</a:t>
            </a:r>
            <a:endParaRPr lang="en-US" sz="6000" b="1" dirty="0"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3751" y="4302760"/>
            <a:ext cx="9218083" cy="1752600"/>
          </a:xfrm>
        </p:spPr>
        <p:txBody>
          <a:bodyPr/>
          <a:lstStyle/>
          <a:p>
            <a:r>
              <a:rPr lang="en-US" b="1">
                <a:latin typeface="Georgia" panose="02040502050405020303" charset="0"/>
                <a:cs typeface="Georgia" panose="02040502050405020303" charset="0"/>
                <a:sym typeface="+mn-ea"/>
              </a:rPr>
              <a:t>MICHAEL D(MD,R3)</a:t>
            </a:r>
            <a:endParaRPr lang="en-US" b="1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endParaRPr lang="en-US" b="1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endParaRPr lang="en-US" sz="2800" b="1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r>
              <a:rPr lang="en-US" sz="2800" b="1">
                <a:latin typeface="Georgia" panose="02040502050405020303" charset="0"/>
                <a:cs typeface="Georgia" panose="02040502050405020303" charset="0"/>
                <a:sym typeface="+mn-ea"/>
              </a:rPr>
              <a:t>NOVEMBER ,2024</a:t>
            </a:r>
            <a:endParaRPr lang="en-US" b="1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Georgia" panose="02040502050405020303" charset="0"/>
                <a:cs typeface="Georgia" panose="02040502050405020303" charset="0"/>
              </a:rPr>
              <a:t>OUTLINES</a:t>
            </a:r>
            <a:endParaRPr lang="en-US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sz="4800">
                <a:latin typeface="Georgia" panose="02040502050405020303" charset="0"/>
                <a:cs typeface="Georgia" panose="02040502050405020303" charset="0"/>
                <a:sym typeface="+mn-ea"/>
              </a:rPr>
              <a:t>Acute abdomen </a:t>
            </a:r>
            <a:endParaRPr sz="4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sz="4800">
                <a:latin typeface="Georgia" panose="02040502050405020303" charset="0"/>
                <a:cs typeface="Georgia" panose="02040502050405020303" charset="0"/>
                <a:sym typeface="+mn-ea"/>
              </a:rPr>
              <a:t>Intussusception</a:t>
            </a:r>
            <a:endParaRPr sz="4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sz="4800">
                <a:latin typeface="Georgia" panose="02040502050405020303" charset="0"/>
                <a:cs typeface="Georgia" panose="02040502050405020303" charset="0"/>
                <a:sym typeface="+mn-ea"/>
              </a:rPr>
              <a:t>Acute appendicitis </a:t>
            </a:r>
            <a:endParaRPr sz="4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sz="4800">
                <a:latin typeface="Georgia" panose="02040502050405020303" charset="0"/>
                <a:cs typeface="Georgia" panose="02040502050405020303" charset="0"/>
                <a:sym typeface="+mn-ea"/>
              </a:rPr>
              <a:t>Peritonitis</a:t>
            </a:r>
            <a:endParaRPr sz="4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sz="4800">
                <a:latin typeface="Georgia" panose="02040502050405020303" charset="0"/>
                <a:cs typeface="Georgia" panose="02040502050405020303" charset="0"/>
                <a:sym typeface="+mn-ea"/>
              </a:rPr>
              <a:t>References</a:t>
            </a:r>
            <a:endParaRPr lang="en-US" sz="4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400" b="1">
                <a:latin typeface="Georgia" panose="02040502050405020303" charset="0"/>
                <a:cs typeface="Georgia" panose="02040502050405020303" charset="0"/>
                <a:sym typeface="+mn-ea"/>
              </a:rPr>
              <a:t>Acute Abdomen</a:t>
            </a:r>
            <a:endParaRPr lang="en-US" sz="4400" b="1"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Non-traumatic abdominal  emergency characterized by sudden onset of abdominal pain.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It signifies the need for prompt diagnosis/treatment, never be equated with need for mandatory operation.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Even though most are self-limiting conditions, it presents a diagnostic dilemma.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A child presenting with abdominal pain may be suffering from any of a wide range of conditions.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endParaRPr lang="en-US">
              <a:latin typeface="Georgia" panose="02040502050405020303" charset="0"/>
              <a:cs typeface="Georgia" panose="02040502050405020303" charset="0"/>
            </a:endParaRPr>
          </a:p>
          <a:p>
            <a:endParaRPr lang="en-US">
              <a:latin typeface="Georgia" panose="02040502050405020303" charset="0"/>
              <a:cs typeface="Georgia" panose="02040502050405020303" charset="0"/>
            </a:endParaRPr>
          </a:p>
          <a:p>
            <a:endParaRPr lang="en-US">
              <a:latin typeface="Georgia" panose="02040502050405020303" charset="0"/>
              <a:cs typeface="Georgia" panose="02040502050405020303" charset="0"/>
            </a:endParaRPr>
          </a:p>
          <a:p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Georgia" panose="02040502050405020303" charset="0"/>
                <a:cs typeface="Georgia" panose="02040502050405020303" charset="0"/>
                <a:sym typeface="+mn-ea"/>
              </a:rPr>
              <a:t>Introduction</a:t>
            </a:r>
            <a:endParaRPr lang="en-US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Most will be benign, however the small percentage of children with a life-threatening condition need to be treated with greater urgency than adult patients with equivalent conditions because they often have fewer physiological reserves.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endParaRPr>
              <a:latin typeface="Georgia" panose="02040502050405020303" charset="0"/>
              <a:cs typeface="Georgia" panose="02040502050405020303" charset="0"/>
            </a:endParaRPr>
          </a:p>
          <a:p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In the pre-verbal child, the presence of abdominal pain can only be inferred from the child’s behavior and/or from distension and/or tenderness on examination.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Acute abdominal pain: Three categories</a:t>
            </a:r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sz="2800" b="1">
                <a:latin typeface="Georgia" panose="02040502050405020303" charset="0"/>
                <a:cs typeface="Georgia" panose="02040502050405020303" charset="0"/>
                <a:sym typeface="+mn-ea"/>
              </a:rPr>
              <a:t>Visceral ( Splanchnic)</a:t>
            </a:r>
            <a:endParaRPr sz="2800" b="1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2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Tension, stretch, ischemia, distension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Dull poorly localized, mid line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en-US" sz="2800">
              <a:latin typeface="Georgia" panose="02040502050405020303" charset="0"/>
              <a:cs typeface="Georgia" panose="02040502050405020303" charset="0"/>
            </a:endParaRPr>
          </a:p>
          <a:p>
            <a:r>
              <a:rPr sz="2800" b="1">
                <a:latin typeface="Georgia" panose="02040502050405020303" charset="0"/>
                <a:cs typeface="Georgia" panose="02040502050405020303" charset="0"/>
                <a:sym typeface="+mn-ea"/>
              </a:rPr>
              <a:t>Parietal (Somatic)</a:t>
            </a:r>
            <a:endParaRPr sz="2800" b="1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2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Parietal peritoneal involvement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Sharp, intense, discrete, well localized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en-US" sz="2800">
              <a:latin typeface="Georgia" panose="02040502050405020303" charset="0"/>
              <a:cs typeface="Georgia" panose="02040502050405020303" charset="0"/>
            </a:endParaRPr>
          </a:p>
          <a:p>
            <a:r>
              <a:rPr sz="2800" b="1">
                <a:latin typeface="Georgia" panose="02040502050405020303" charset="0"/>
                <a:cs typeface="Georgia" panose="02040502050405020303" charset="0"/>
                <a:sym typeface="+mn-ea"/>
              </a:rPr>
              <a:t> Referred</a:t>
            </a:r>
            <a:endParaRPr sz="2800" b="1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2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Same as parietal, but felt remote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 b="1">
                <a:latin typeface="Georgia" panose="02040502050405020303" charset="0"/>
                <a:cs typeface="Georgia" panose="02040502050405020303" charset="0"/>
                <a:sym typeface="+mn-ea"/>
              </a:rPr>
              <a:t>Clinical evaluation: Pain</a:t>
            </a:r>
            <a:endParaRPr lang="en-US" sz="4000" b="1"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Sudden/Gradual onset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Time course of pain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Site and character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Aggravating/Relieving factor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Radiation/Shift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Pain severity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Progression and migration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Analgesic use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Prior history of similar pain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lnSpc>
                <a:spcPct val="90000"/>
              </a:lnSpc>
            </a:pPr>
            <a:endParaRPr lang="en-US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Char char="n"/>
            </a:pPr>
            <a:endParaRPr lang="en-US">
              <a:latin typeface="Georgia" panose="02040502050405020303" charset="0"/>
              <a:cs typeface="Georgia" panose="02040502050405020303" charset="0"/>
            </a:endParaRPr>
          </a:p>
          <a:p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 b="1">
                <a:latin typeface="Georgia" panose="02040502050405020303" charset="0"/>
                <a:cs typeface="Georgia" panose="02040502050405020303" charset="0"/>
                <a:sym typeface="+mn-ea"/>
              </a:rPr>
              <a:t>Histo</a:t>
            </a:r>
            <a:r>
              <a:rPr lang="en-US" sz="4000" b="1">
                <a:latin typeface="Georgia" panose="02040502050405020303" charset="0"/>
                <a:cs typeface="Georgia" panose="02040502050405020303" charset="0"/>
                <a:sym typeface="+mn-ea"/>
              </a:rPr>
              <a:t>A</a:t>
            </a:r>
            <a:r>
              <a:rPr sz="4000" b="1">
                <a:latin typeface="Georgia" panose="02040502050405020303" charset="0"/>
                <a:cs typeface="Georgia" panose="02040502050405020303" charset="0"/>
                <a:sym typeface="+mn-ea"/>
              </a:rPr>
              <a:t>ry</a:t>
            </a: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: Associated Symptoms</a:t>
            </a:r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Nausea/vomiting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Before or after pain?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endParaRPr lang="en-US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Diarrhea/Bloody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Before or after pain?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endParaRPr lang="en-US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Constipation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Jaundice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Anorexia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endParaRPr lang="en-US"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History of trauma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Urinary symptoms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Cough and chest symptoms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Alcohol intake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Associated symptoms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Gynecologic history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Past illness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Family history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Drug use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endParaRPr lang="en-US"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</p:spPr>
        <p:txBody>
          <a:bodyPr/>
          <a:p>
            <a:r>
              <a:rPr sz="4000" b="1">
                <a:latin typeface="Georgia" panose="02040502050405020303" charset="0"/>
                <a:cs typeface="Georgia" panose="02040502050405020303" charset="0"/>
                <a:sym typeface="+mn-ea"/>
              </a:rPr>
              <a:t>Physical Exam: General</a:t>
            </a:r>
            <a:endParaRPr lang="en-US" sz="4000" b="1"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2800" b="1">
                <a:latin typeface="Georgia" panose="02040502050405020303" charset="0"/>
                <a:cs typeface="Georgia" panose="02040502050405020303" charset="0"/>
                <a:sym typeface="+mn-ea"/>
              </a:rPr>
              <a:t>General Appearance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Lies perfectly still: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Wingdings" panose="05000000000000000000" pitchFamily="2" charset="2"/>
              </a:rPr>
              <a:t>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 Inflammation, peritonitis</a:t>
            </a:r>
            <a:endParaRPr sz="2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Restless, writhing: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Wingdings" panose="05000000000000000000" pitchFamily="2" charset="2"/>
              </a:rPr>
              <a:t>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 Colic, obstruction</a:t>
            </a:r>
            <a:endParaRPr sz="2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>
              <a:buNone/>
            </a:pPr>
            <a:endParaRPr lang="en-US" sz="2800">
              <a:latin typeface="Georgia" panose="02040502050405020303" charset="0"/>
              <a:cs typeface="Georgia" panose="02040502050405020303" charset="0"/>
            </a:endParaRPr>
          </a:p>
          <a:p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Vital signs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Tachycardic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Wingdings" panose="05000000000000000000" pitchFamily="2" charset="2"/>
              </a:rPr>
              <a:t>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? Early shock (Important than BP)</a:t>
            </a:r>
            <a:endParaRPr sz="2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Rapid shallow breathing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Monotype Sorts" pitchFamily="2" charset="2"/>
              </a:rPr>
              <a:t>: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Wingdings" panose="05000000000000000000" pitchFamily="2" charset="2"/>
              </a:rPr>
              <a:t>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Monotype Sorts" pitchFamily="2" charset="2"/>
              </a:rPr>
              <a:t> peritonitis</a:t>
            </a:r>
            <a:endParaRPr sz="2800">
              <a:latin typeface="Georgia" panose="02040502050405020303" charset="0"/>
              <a:cs typeface="Georgia" panose="02040502050405020303" charset="0"/>
              <a:sym typeface="Monotype Sorts" pitchFamily="2" charset="2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Level of hydration</a:t>
            </a:r>
            <a:endParaRPr sz="2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  <a:sym typeface="Monotype Sorts" pitchFamily="2" charset="2"/>
              </a:rPr>
              <a:t>Fever</a:t>
            </a:r>
            <a:endParaRPr sz="2800">
              <a:latin typeface="Georgia" panose="02040502050405020303" charset="0"/>
              <a:cs typeface="Georgia" panose="02040502050405020303" charset="0"/>
              <a:sym typeface="Monotype Sorts" pitchFamily="2" charset="2"/>
            </a:endParaRPr>
          </a:p>
          <a:p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None/>
            </a:pPr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>
                <a:latin typeface="Georgia" panose="02040502050405020303" charset="0"/>
                <a:cs typeface="Georgia" panose="02040502050405020303" charset="0"/>
                <a:sym typeface="+mn-ea"/>
              </a:rPr>
              <a:t>Physical Exam: General</a:t>
            </a:r>
            <a:endParaRPr lang="en-US" sz="4000"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lnSpc>
                <a:spcPct val="8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  <a:sym typeface="+mn-ea"/>
              </a:rPr>
              <a:t>Bowel Sounds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Listen 1 minute in each quadrant before palpation</a:t>
            </a:r>
            <a:endParaRPr sz="2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Absent bowel sounds: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Wingdings" panose="05000000000000000000" pitchFamily="2" charset="2"/>
              </a:rPr>
              <a:t>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Monotype Sorts" pitchFamily="2" charset="2"/>
              </a:rPr>
              <a:t> ileus, peritonitis, shock</a:t>
            </a:r>
            <a:endParaRPr sz="2800">
              <a:latin typeface="Georgia" panose="02040502050405020303" charset="0"/>
              <a:cs typeface="Georgia" panose="02040502050405020303" charset="0"/>
              <a:sym typeface="Monotype Sorts" pitchFamily="2" charset="2"/>
            </a:endParaRPr>
          </a:p>
          <a:p>
            <a:pPr>
              <a:lnSpc>
                <a:spcPct val="8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  <a:sym typeface="+mn-ea"/>
              </a:rPr>
              <a:t>Palpate each quadrant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Work toward area of pain with warm hands</a:t>
            </a:r>
            <a:endParaRPr sz="2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Patient on back and knee bent (if possible)</a:t>
            </a:r>
            <a:endParaRPr sz="28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2"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Tenderness/Rebound tenderness, rigidity, involuntary guarding, voluntary guarding, masses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8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  <a:sym typeface="+mn-ea"/>
              </a:rPr>
              <a:t>Point of maximal tenderness ?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80000"/>
              </a:lnSpc>
            </a:pPr>
            <a:endParaRPr lang="en-US" sz="2800">
              <a:latin typeface="Georgia" panose="02040502050405020303" charset="0"/>
              <a:cs typeface="Georgia" panose="02040502050405020303" charset="0"/>
            </a:endParaRPr>
          </a:p>
          <a:p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Georgia" panose="02040502050405020303" charset="0"/>
                <a:cs typeface="Georgia" panose="02040502050405020303" charset="0"/>
                <a:sym typeface="+mn-ea"/>
              </a:rPr>
              <a:t>Physical Exam: General</a:t>
            </a:r>
            <a:endParaRPr lang="en-US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lnSpc>
                <a:spcPct val="9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  <a:sym typeface="+mn-ea"/>
              </a:rPr>
              <a:t>Percussion: 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Indirect rebound tenderness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Gaseous or fluidly distention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>
              <a:lnSpc>
                <a:spcPct val="90000"/>
              </a:lnSpc>
            </a:pPr>
            <a:endParaRPr lang="en-US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  <a:sym typeface="+mn-ea"/>
              </a:rPr>
              <a:t>Rectal exam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  <a:sym typeface="+mn-ea"/>
              </a:rPr>
              <a:t>Bleeding, Mass, Tenderness</a:t>
            </a:r>
            <a:endParaRPr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>
              <a:lnSpc>
                <a:spcPct val="90000"/>
              </a:lnSpc>
            </a:pPr>
            <a:endParaRPr lang="en-US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Pelvic exam and testicular exam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Chest exam ,Jaundice, pallor, Cullen's, Grey Turner’s, …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endParaRPr lang="en-US"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9070"/>
            <a:ext cx="10972800" cy="582613"/>
          </a:xfrm>
        </p:spPr>
        <p:txBody>
          <a:bodyPr/>
          <a:p>
            <a:r>
              <a:rPr b="1">
                <a:sym typeface="+mn-ea"/>
              </a:rPr>
              <a:t>Abdominal Special Tests: Signs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Obturator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Font typeface="Wingdings" panose="05000000000000000000" charset="0"/>
              <a:buChar char="Ø"/>
            </a:pPr>
            <a:endParaRPr lang="en-US"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Psoas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Font typeface="Wingdings" panose="05000000000000000000" charset="0"/>
              <a:buChar char="Ø"/>
            </a:pPr>
            <a:endParaRPr lang="en-US"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Murphy’s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Font typeface="Wingdings" panose="05000000000000000000" charset="0"/>
              <a:buChar char="Ø"/>
            </a:pPr>
            <a:endParaRPr lang="en-US"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  <a:sym typeface="+mn-ea"/>
              </a:rPr>
              <a:t>Rovsing’s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110597" name="Oval 110596"/>
          <p:cNvSpPr/>
          <p:nvPr/>
        </p:nvSpPr>
        <p:spPr>
          <a:xfrm>
            <a:off x="1828800" y="304800"/>
            <a:ext cx="2819400" cy="7620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Evidence of trauma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0598" name="Oval 110597"/>
          <p:cNvSpPr/>
          <p:nvPr/>
        </p:nvSpPr>
        <p:spPr>
          <a:xfrm>
            <a:off x="2057400" y="1524000"/>
            <a:ext cx="2362200" cy="914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Fever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0599" name="Oval 110598"/>
          <p:cNvSpPr/>
          <p:nvPr/>
        </p:nvSpPr>
        <p:spPr>
          <a:xfrm>
            <a:off x="2133600" y="2743200"/>
            <a:ext cx="2362200" cy="990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Left-sided pain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0600" name="Oval 110599"/>
          <p:cNvSpPr/>
          <p:nvPr/>
        </p:nvSpPr>
        <p:spPr>
          <a:xfrm>
            <a:off x="1524000" y="4191000"/>
            <a:ext cx="3581400" cy="990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Middle or right sided pain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0601" name="Oval 110600"/>
          <p:cNvSpPr/>
          <p:nvPr/>
        </p:nvSpPr>
        <p:spPr>
          <a:xfrm>
            <a:off x="1524000" y="5638800"/>
            <a:ext cx="36576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Presence in other contacts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0602" name="Straight Connector 110601"/>
          <p:cNvSpPr/>
          <p:nvPr/>
        </p:nvSpPr>
        <p:spPr>
          <a:xfrm>
            <a:off x="3200400" y="1219200"/>
            <a:ext cx="0" cy="30480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04" name="Straight Connector 110603"/>
          <p:cNvSpPr/>
          <p:nvPr/>
        </p:nvSpPr>
        <p:spPr>
          <a:xfrm>
            <a:off x="3276600" y="2438400"/>
            <a:ext cx="0" cy="30480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05" name="Straight Connector 110604"/>
          <p:cNvSpPr/>
          <p:nvPr/>
        </p:nvSpPr>
        <p:spPr>
          <a:xfrm>
            <a:off x="3352800" y="3733800"/>
            <a:ext cx="0" cy="45720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06" name="Straight Connector 110605"/>
          <p:cNvSpPr/>
          <p:nvPr/>
        </p:nvSpPr>
        <p:spPr>
          <a:xfrm>
            <a:off x="3352800" y="5181600"/>
            <a:ext cx="0" cy="45720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07" name="Straight Connector 110606"/>
          <p:cNvSpPr/>
          <p:nvPr/>
        </p:nvSpPr>
        <p:spPr>
          <a:xfrm>
            <a:off x="4648200" y="685800"/>
            <a:ext cx="12954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08" name="Straight Connector 110607"/>
          <p:cNvSpPr/>
          <p:nvPr/>
        </p:nvSpPr>
        <p:spPr>
          <a:xfrm>
            <a:off x="4343400" y="2133600"/>
            <a:ext cx="16002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09" name="Straight Connector 110608"/>
          <p:cNvSpPr/>
          <p:nvPr/>
        </p:nvSpPr>
        <p:spPr>
          <a:xfrm>
            <a:off x="4419600" y="3352800"/>
            <a:ext cx="16764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12" name="Rectangles 110611"/>
          <p:cNvSpPr/>
          <p:nvPr/>
        </p:nvSpPr>
        <p:spPr>
          <a:xfrm>
            <a:off x="6172200" y="0"/>
            <a:ext cx="3200400" cy="838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Child abuse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Accidental</a:t>
            </a:r>
            <a:r>
              <a:rPr>
                <a:latin typeface="Arial" panose="020B0604020202020204" pitchFamily="34" charset="0"/>
              </a:rPr>
              <a:t> </a:t>
            </a:r>
            <a:r>
              <a:rPr sz="2400">
                <a:latin typeface="Arial" panose="020B0604020202020204" pitchFamily="34" charset="0"/>
              </a:rPr>
              <a:t>injury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0613" name="Rectangles 110612"/>
          <p:cNvSpPr/>
          <p:nvPr/>
        </p:nvSpPr>
        <p:spPr>
          <a:xfrm>
            <a:off x="6248400" y="1143000"/>
            <a:ext cx="3505200" cy="1981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Pharyngitis/UTI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Gastroenteritis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Mesenteric</a:t>
            </a:r>
            <a:r>
              <a:rPr>
                <a:latin typeface="Arial" panose="020B0604020202020204" pitchFamily="34" charset="0"/>
              </a:rPr>
              <a:t> </a:t>
            </a:r>
            <a:r>
              <a:rPr sz="2400">
                <a:latin typeface="Arial" panose="020B0604020202020204" pitchFamily="34" charset="0"/>
              </a:rPr>
              <a:t>adenitis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Pneumonia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Appendicitis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0614" name="Rectangles 110613"/>
          <p:cNvSpPr/>
          <p:nvPr/>
        </p:nvSpPr>
        <p:spPr>
          <a:xfrm>
            <a:off x="6096000" y="3276600"/>
            <a:ext cx="3886200" cy="990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Constipation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Ovarian/Testicular torsion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endParaRPr>
              <a:latin typeface="Arial" panose="020B0604020202020204" pitchFamily="34" charset="0"/>
            </a:endParaRPr>
          </a:p>
        </p:txBody>
      </p:sp>
      <p:sp>
        <p:nvSpPr>
          <p:cNvPr id="110615" name="Rectangles 110614"/>
          <p:cNvSpPr/>
          <p:nvPr/>
        </p:nvSpPr>
        <p:spPr>
          <a:xfrm>
            <a:off x="6248400" y="4419600"/>
            <a:ext cx="3810000" cy="1295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Appendicitis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Ovarian/Testicular</a:t>
            </a:r>
            <a:r>
              <a:rPr>
                <a:latin typeface="Arial" panose="020B0604020202020204" pitchFamily="34" charset="0"/>
              </a:rPr>
              <a:t> </a:t>
            </a:r>
            <a:r>
              <a:rPr sz="2400">
                <a:latin typeface="Arial" panose="020B0604020202020204" pitchFamily="34" charset="0"/>
              </a:rPr>
              <a:t>torsion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Mesenteric</a:t>
            </a:r>
            <a:r>
              <a:rPr>
                <a:latin typeface="Arial" panose="020B0604020202020204" pitchFamily="34" charset="0"/>
              </a:rPr>
              <a:t> </a:t>
            </a:r>
            <a:r>
              <a:rPr sz="2400">
                <a:latin typeface="Arial" panose="020B0604020202020204" pitchFamily="34" charset="0"/>
              </a:rPr>
              <a:t>adenitis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endParaRPr sz="2400">
              <a:latin typeface="Arial" panose="020B0604020202020204" pitchFamily="34" charset="0"/>
            </a:endParaRPr>
          </a:p>
        </p:txBody>
      </p:sp>
      <p:sp>
        <p:nvSpPr>
          <p:cNvPr id="110616" name="Rectangles 110615"/>
          <p:cNvSpPr/>
          <p:nvPr/>
        </p:nvSpPr>
        <p:spPr>
          <a:xfrm>
            <a:off x="6400800" y="5943600"/>
            <a:ext cx="3048000" cy="68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Food</a:t>
            </a:r>
            <a:r>
              <a:rPr>
                <a:latin typeface="Arial" panose="020B0604020202020204" pitchFamily="34" charset="0"/>
              </a:rPr>
              <a:t> </a:t>
            </a:r>
            <a:r>
              <a:rPr sz="2400">
                <a:latin typeface="Arial" panose="020B0604020202020204" pitchFamily="34" charset="0"/>
              </a:rPr>
              <a:t>poisoning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Gastroenteritis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0617" name="Rectangles 110616"/>
          <p:cNvSpPr/>
          <p:nvPr/>
        </p:nvSpPr>
        <p:spPr>
          <a:xfrm>
            <a:off x="9648825" y="3613150"/>
            <a:ext cx="3098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1" hangingPunct="1"/>
            <a:endParaRPr sz="2400">
              <a:latin typeface="Arial" panose="020B0604020202020204" pitchFamily="34" charset="0"/>
            </a:endParaRPr>
          </a:p>
        </p:txBody>
      </p:sp>
      <p:sp>
        <p:nvSpPr>
          <p:cNvPr id="110619" name="Straight Connector 110618"/>
          <p:cNvSpPr/>
          <p:nvPr/>
        </p:nvSpPr>
        <p:spPr>
          <a:xfrm>
            <a:off x="5105400" y="4724400"/>
            <a:ext cx="1143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21" name="Straight Connector 110620"/>
          <p:cNvSpPr/>
          <p:nvPr/>
        </p:nvSpPr>
        <p:spPr>
          <a:xfrm>
            <a:off x="5181600" y="6096000"/>
            <a:ext cx="1143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112644" name="Oval 112643"/>
          <p:cNvSpPr/>
          <p:nvPr/>
        </p:nvSpPr>
        <p:spPr>
          <a:xfrm>
            <a:off x="1981200" y="457200"/>
            <a:ext cx="2895600" cy="685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Sexually active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2645" name="Oval 112644"/>
          <p:cNvSpPr/>
          <p:nvPr/>
        </p:nvSpPr>
        <p:spPr>
          <a:xfrm>
            <a:off x="1981200" y="1676400"/>
            <a:ext cx="2971800" cy="914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Blood in stool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2646" name="Oval 112645"/>
          <p:cNvSpPr/>
          <p:nvPr/>
        </p:nvSpPr>
        <p:spPr>
          <a:xfrm>
            <a:off x="1981200" y="2971800"/>
            <a:ext cx="2971800" cy="11430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Hematuria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2647" name="Oval 112646"/>
          <p:cNvSpPr/>
          <p:nvPr/>
        </p:nvSpPr>
        <p:spPr>
          <a:xfrm>
            <a:off x="1905000" y="4648200"/>
            <a:ext cx="32766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Evidence of obstruction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2649" name="Straight Connector 112648"/>
          <p:cNvSpPr/>
          <p:nvPr/>
        </p:nvSpPr>
        <p:spPr>
          <a:xfrm>
            <a:off x="3505200" y="1219200"/>
            <a:ext cx="0" cy="45720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0" name="Straight Connector 112649"/>
          <p:cNvSpPr/>
          <p:nvPr/>
        </p:nvSpPr>
        <p:spPr>
          <a:xfrm>
            <a:off x="3429000" y="2514600"/>
            <a:ext cx="0" cy="53340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1" name="Straight Connector 112650"/>
          <p:cNvSpPr/>
          <p:nvPr/>
        </p:nvSpPr>
        <p:spPr>
          <a:xfrm>
            <a:off x="3429000" y="4191000"/>
            <a:ext cx="0" cy="45720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3" name="Straight Connector 112652"/>
          <p:cNvSpPr/>
          <p:nvPr/>
        </p:nvSpPr>
        <p:spPr>
          <a:xfrm>
            <a:off x="4953000" y="762000"/>
            <a:ext cx="16764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4" name="Straight Connector 112653"/>
          <p:cNvSpPr/>
          <p:nvPr/>
        </p:nvSpPr>
        <p:spPr>
          <a:xfrm>
            <a:off x="5029200" y="2057400"/>
            <a:ext cx="16764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5" name="Straight Connector 112654"/>
          <p:cNvSpPr/>
          <p:nvPr/>
        </p:nvSpPr>
        <p:spPr>
          <a:xfrm>
            <a:off x="5029200" y="3505200"/>
            <a:ext cx="18288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6" name="Straight Connector 112655"/>
          <p:cNvSpPr/>
          <p:nvPr/>
        </p:nvSpPr>
        <p:spPr>
          <a:xfrm>
            <a:off x="5181600" y="5029200"/>
            <a:ext cx="17526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8" name="Rectangles 112657"/>
          <p:cNvSpPr/>
          <p:nvPr/>
        </p:nvSpPr>
        <p:spPr>
          <a:xfrm>
            <a:off x="6629400" y="152400"/>
            <a:ext cx="3810000" cy="914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PID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Ectopic</a:t>
            </a:r>
            <a:r>
              <a:rPr>
                <a:latin typeface="Arial" panose="020B0604020202020204" pitchFamily="34" charset="0"/>
              </a:rPr>
              <a:t> </a:t>
            </a:r>
            <a:r>
              <a:rPr sz="2400">
                <a:latin typeface="Arial" panose="020B0604020202020204" pitchFamily="34" charset="0"/>
              </a:rPr>
              <a:t>pregnancy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2659" name="Rectangles 112658"/>
          <p:cNvSpPr/>
          <p:nvPr/>
        </p:nvSpPr>
        <p:spPr>
          <a:xfrm>
            <a:off x="6858000" y="1371600"/>
            <a:ext cx="3581400" cy="1447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Intussusception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IBD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Gastro-enteritis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Purpura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endParaRPr sz="2400">
              <a:latin typeface="Arial" panose="020B0604020202020204" pitchFamily="34" charset="0"/>
            </a:endParaRPr>
          </a:p>
        </p:txBody>
      </p:sp>
      <p:sp>
        <p:nvSpPr>
          <p:cNvPr id="112660" name="Rectangles 112659"/>
          <p:cNvSpPr/>
          <p:nvPr/>
        </p:nvSpPr>
        <p:spPr>
          <a:xfrm>
            <a:off x="6934200" y="3048000"/>
            <a:ext cx="3048000" cy="1143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Renal</a:t>
            </a:r>
            <a:r>
              <a:rPr>
                <a:latin typeface="Arial" panose="020B0604020202020204" pitchFamily="34" charset="0"/>
              </a:rPr>
              <a:t> </a:t>
            </a:r>
            <a:r>
              <a:rPr sz="2400">
                <a:latin typeface="Arial" panose="020B0604020202020204" pitchFamily="34" charset="0"/>
              </a:rPr>
              <a:t>calculi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Renal</a:t>
            </a:r>
            <a:r>
              <a:rPr>
                <a:latin typeface="Arial" panose="020B0604020202020204" pitchFamily="34" charset="0"/>
              </a:rPr>
              <a:t> </a:t>
            </a:r>
            <a:r>
              <a:rPr sz="2400">
                <a:latin typeface="Arial" panose="020B0604020202020204" pitchFamily="34" charset="0"/>
              </a:rPr>
              <a:t>trauma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UTI</a:t>
            </a:r>
            <a:endParaRPr sz="2400">
              <a:latin typeface="Arial" panose="020B0604020202020204" pitchFamily="34" charset="0"/>
            </a:endParaRPr>
          </a:p>
        </p:txBody>
      </p:sp>
      <p:sp>
        <p:nvSpPr>
          <p:cNvPr id="112661" name="Rectangles 112660"/>
          <p:cNvSpPr/>
          <p:nvPr/>
        </p:nvSpPr>
        <p:spPr>
          <a:xfrm>
            <a:off x="6934200" y="4800600"/>
            <a:ext cx="3276600" cy="1066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Arial" panose="020B0604020202020204" pitchFamily="34" charset="0"/>
              </a:rPr>
              <a:t>Malrotation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Intussusception</a:t>
            </a:r>
            <a:endParaRPr sz="2400">
              <a:latin typeface="Arial" panose="020B0604020202020204" pitchFamily="34" charset="0"/>
            </a:endParaRPr>
          </a:p>
          <a:p>
            <a:pPr algn="ctr" eaLnBrk="1" hangingPunct="1"/>
            <a:r>
              <a:rPr sz="2400">
                <a:latin typeface="Arial" panose="020B0604020202020204" pitchFamily="34" charset="0"/>
              </a:rPr>
              <a:t>Volvulus</a:t>
            </a:r>
            <a:endParaRPr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64514" name="Title 64513"/>
          <p:cNvSpPr>
            <a:spLocks noGrp="1" noRot="1"/>
          </p:cNvSpPr>
          <p:nvPr>
            <p:ph type="title"/>
          </p:nvPr>
        </p:nvSpPr>
        <p:spPr>
          <a:xfrm>
            <a:off x="1981200" y="533400"/>
            <a:ext cx="8229600" cy="884238"/>
          </a:xfrm>
        </p:spPr>
        <p:txBody>
          <a:bodyPr anchor="ctr" anchorCtr="0">
            <a:normAutofit fontScale="90000"/>
          </a:bodyPr>
          <a:p>
            <a:r>
              <a:rPr sz="3600" b="1">
                <a:latin typeface="Georgia" panose="02040502050405020303" charset="0"/>
                <a:cs typeface="Georgia" panose="02040502050405020303" charset="0"/>
              </a:rPr>
              <a:t>Abdominal Pain by Predominant Age</a:t>
            </a:r>
            <a:br>
              <a:rPr sz="3600" b="1">
                <a:latin typeface="Georgia" panose="02040502050405020303" charset="0"/>
                <a:cs typeface="Georgia" panose="02040502050405020303" charset="0"/>
              </a:rPr>
            </a:br>
            <a:endParaRPr sz="36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64515" name="Text Placeholder 64514"/>
          <p:cNvSpPr>
            <a:spLocks noGrp="1"/>
          </p:cNvSpPr>
          <p:nvPr>
            <p:ph type="body" sz="half" idx="1"/>
          </p:nvPr>
        </p:nvSpPr>
        <p:spPr>
          <a:xfrm>
            <a:off x="1981200" y="1447800"/>
            <a:ext cx="4038600" cy="4525963"/>
          </a:xfrm>
        </p:spPr>
        <p:txBody>
          <a:bodyPr>
            <a:normAutofit lnSpcReduction="20000"/>
          </a:bodyPr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Birth to one year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Infantile colic**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Gastroenteritis**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Intussusception**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Constipation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Urinary tract infection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Volvulus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Incarcerated hernia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Hirschsprung’s disease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sz="24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64516" name="Text Placeholder 64515"/>
          <p:cNvSpPr>
            <a:spLocks noGrp="1"/>
          </p:cNvSpPr>
          <p:nvPr>
            <p:ph type="body" sz="half" idx="2"/>
          </p:nvPr>
        </p:nvSpPr>
        <p:spPr>
          <a:xfrm>
            <a:off x="6248400" y="1295400"/>
            <a:ext cx="4038600" cy="4525963"/>
          </a:xfrm>
        </p:spPr>
        <p:txBody>
          <a:bodyPr/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Two to five years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Gastroenteritis**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Appendicitis**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Constipation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Urinary tract infection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Intussusception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Volvulus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Trauma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Pharyngitis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Sickle cell crisis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Mesenteric lymphadenitis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65540" name="Title 65539"/>
          <p:cNvSpPr>
            <a:spLocks noGrp="1" noRot="1"/>
          </p:cNvSpPr>
          <p:nvPr>
            <p:ph type="title"/>
          </p:nvPr>
        </p:nvSpPr>
        <p:spPr>
          <a:xfrm>
            <a:off x="1981200" y="533400"/>
            <a:ext cx="8229600" cy="868363"/>
          </a:xfrm>
        </p:spPr>
        <p:txBody>
          <a:bodyPr anchor="ctr" anchorCtr="0">
            <a:normAutofit fontScale="90000"/>
          </a:bodyPr>
          <a:p>
            <a:r>
              <a:rPr sz="3600" b="1">
                <a:latin typeface="Georgia" panose="02040502050405020303" charset="0"/>
                <a:cs typeface="Georgia" panose="02040502050405020303" charset="0"/>
              </a:rPr>
              <a:t>Abdominal Pain by Predominant Age</a:t>
            </a:r>
            <a:br>
              <a:rPr sz="3600" b="1">
                <a:latin typeface="Georgia" panose="02040502050405020303" charset="0"/>
                <a:cs typeface="Georgia" panose="02040502050405020303" charset="0"/>
              </a:rPr>
            </a:br>
            <a:endParaRPr sz="36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65539" name="Text Placeholder 65538"/>
          <p:cNvSpPr>
            <a:spLocks noGrp="1"/>
          </p:cNvSpPr>
          <p:nvPr>
            <p:ph type="body" sz="half" idx="1"/>
          </p:nvPr>
        </p:nvSpPr>
        <p:spPr>
          <a:xfrm>
            <a:off x="1981200" y="1371600"/>
            <a:ext cx="4038600" cy="4525963"/>
          </a:xfrm>
        </p:spPr>
        <p:txBody>
          <a:bodyPr>
            <a:normAutofit fontScale="90000" lnSpcReduction="10000"/>
          </a:bodyPr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Six to 11 years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Gastroenteritis**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Appendicitis**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Constipation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Functional pain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Urinary tract infection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Trauma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Pharyngitis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Sickle cell crisis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Mesenteric lymphadenitis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65541" name="Text Placeholder 65540"/>
          <p:cNvSpPr>
            <a:spLocks noGrp="1"/>
          </p:cNvSpPr>
          <p:nvPr>
            <p:ph type="body" sz="half" idx="2"/>
          </p:nvPr>
        </p:nvSpPr>
        <p:spPr>
          <a:xfrm>
            <a:off x="6248400" y="1447800"/>
            <a:ext cx="4038600" cy="4800600"/>
          </a:xfrm>
        </p:spPr>
        <p:txBody>
          <a:bodyPr>
            <a:normAutofit lnSpcReduction="10000"/>
          </a:bodyPr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sz="2400" b="1">
                <a:latin typeface="Georgia" panose="02040502050405020303" charset="0"/>
                <a:cs typeface="Georgia" panose="02040502050405020303" charset="0"/>
              </a:rPr>
              <a:t>12 to 18 years</a:t>
            </a:r>
            <a:endParaRPr sz="2400" b="1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Appendicitis**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Dysmenorrhea**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Mittelschmerz**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Gastroenteritis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Constipation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PID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Threatened abortion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Ectopic pregnancy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Ovarian/testicular torsion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1345" y="1177290"/>
            <a:ext cx="7216140" cy="4873625"/>
          </a:xfrm>
        </p:spPr>
        <p:txBody>
          <a:bodyPr/>
          <a:p>
            <a:pPr marL="0" indent="0">
              <a:buNone/>
            </a:pPr>
            <a:r>
              <a:rPr sz="7200">
                <a:latin typeface="Arial Black" panose="020B0A04020102020204" charset="0"/>
                <a:cs typeface="Arial Black" panose="020B0A04020102020204" charset="0"/>
                <a:sym typeface="+mn-ea"/>
              </a:rPr>
              <a:t>Acute </a:t>
            </a:r>
            <a:r>
              <a:rPr lang="en-US" sz="7200">
                <a:latin typeface="Arial Black" panose="020B0A04020102020204" charset="0"/>
                <a:cs typeface="Arial Black" panose="020B0A04020102020204" charset="0"/>
                <a:sym typeface="+mn-ea"/>
              </a:rPr>
              <a:t>A</a:t>
            </a:r>
            <a:r>
              <a:rPr sz="7200">
                <a:latin typeface="Arial Black" panose="020B0A04020102020204" charset="0"/>
                <a:cs typeface="Arial Black" panose="020B0A04020102020204" charset="0"/>
                <a:sym typeface="+mn-ea"/>
              </a:rPr>
              <a:t>ppendicitis</a:t>
            </a:r>
            <a:endParaRPr lang="en-US" sz="7200">
              <a:latin typeface="Arial Black" panose="020B0A04020102020204" charset="0"/>
              <a:cs typeface="Arial Black" panose="020B0A04020102020204" charset="0"/>
            </a:endParaRPr>
          </a:p>
          <a:p>
            <a:endParaRPr lang="en-US" sz="72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20482" name="Picture 2" descr="my_name_is_appendix_20140223_mynameisappendix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55" y="1447800"/>
            <a:ext cx="499618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9218" name="Title 9217"/>
          <p:cNvSpPr>
            <a:spLocks noGrp="1" noRot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 Introduction</a:t>
            </a: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9219" name="Text Placeholder 9218"/>
          <p:cNvSpPr>
            <a:spLocks noGrp="1"/>
          </p:cNvSpPr>
          <p:nvPr>
            <p:ph type="body" idx="1"/>
          </p:nvPr>
        </p:nvSpPr>
        <p:spPr>
          <a:xfrm>
            <a:off x="608965" y="1066800"/>
            <a:ext cx="10132060" cy="5410200"/>
          </a:xfrm>
        </p:spPr>
        <p:txBody>
          <a:bodyPr/>
          <a:p>
            <a:pPr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Acute appendicitis is the commonest cause of abdominal pain leading to emergency abdominal surgery in pediatrics.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Life time risk: 7%, 1.1 cases per 1000 people per year and some familial predisposition exists.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The Pathophysiology of appendicitis is due to a closed loop obstruction of the appendix.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hyperplasia of the submucosal lymphoid follicles.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Fecaliths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Parasites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Foreign bodies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  <a:buNone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14338" name="Title 14337"/>
          <p:cNvSpPr>
            <a:spLocks noGrp="1" noRot="1"/>
          </p:cNvSpPr>
          <p:nvPr>
            <p:ph type="title"/>
          </p:nvPr>
        </p:nvSpPr>
        <p:spPr>
          <a:xfrm>
            <a:off x="1981200" y="274638"/>
            <a:ext cx="8229600" cy="598487"/>
          </a:xfrm>
        </p:spPr>
        <p:txBody>
          <a:bodyPr anchor="ctr" anchorCtr="0"/>
          <a:p>
            <a:r>
              <a:rPr sz="4400" b="1">
                <a:latin typeface="Georgia" panose="02040502050405020303" charset="0"/>
                <a:cs typeface="Georgia" panose="02040502050405020303" charset="0"/>
              </a:rPr>
              <a:t>Incidence</a:t>
            </a:r>
            <a:endParaRPr sz="44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4339" name="Text Placeholder 14338"/>
          <p:cNvSpPr>
            <a:spLocks noGrp="1"/>
          </p:cNvSpPr>
          <p:nvPr>
            <p:ph type="body" idx="1"/>
          </p:nvPr>
        </p:nvSpPr>
        <p:spPr>
          <a:xfrm>
            <a:off x="1012190" y="1219200"/>
            <a:ext cx="10570210" cy="5105400"/>
          </a:xfrm>
        </p:spPr>
        <p:txBody>
          <a:bodyPr>
            <a:normAutofit lnSpcReduction="10000"/>
          </a:bodyPr>
          <a:p>
            <a:pPr>
              <a:lnSpc>
                <a:spcPct val="9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Sex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: Male: female ~ 1.4:1.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None/>
            </a:pP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Age: 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Mean age in pediatrics is 6-10 years.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Incidence of appendicitis is rare in neonate and infants, rises and peaks in the late teen years, and gradually declines in the geriatric years.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 the younger child, the omentum is less developed and less likely to wall off a perforation, making peritonitis more likely.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12290" name="Title 12289"/>
          <p:cNvSpPr>
            <a:spLocks noGrp="1" noRot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 anchor="ctr" anchorCtr="0"/>
          <a:p>
            <a:r>
              <a:rPr sz="4400" b="1">
                <a:latin typeface="Georgia" panose="02040502050405020303" charset="0"/>
                <a:cs typeface="Georgia" panose="02040502050405020303" charset="0"/>
              </a:rPr>
              <a:t>Pathophysiology</a:t>
            </a:r>
            <a:endParaRPr sz="44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2291" name="Text Placeholder 12290"/>
          <p:cNvSpPr>
            <a:spLocks noGrp="1"/>
          </p:cNvSpPr>
          <p:nvPr>
            <p:ph type="body" idx="1"/>
          </p:nvPr>
        </p:nvSpPr>
        <p:spPr>
          <a:xfrm>
            <a:off x="737870" y="1066800"/>
            <a:ext cx="11101070" cy="4754880"/>
          </a:xfrm>
        </p:spPr>
        <p:txBody>
          <a:bodyPr>
            <a:normAutofit lnSpcReduction="20000"/>
          </a:bodyPr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Obstruction of the appendiceal lumen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Increasing intraluminal pressure + mucosal edema.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Venous and lymphatic obstruction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Ischemic inflammation of the appendix.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Bacterial proliferation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Perforation will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Arterial obstruction and gangrene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90000"/>
              </a:lnSpc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Peritonitis develops.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The overall mortality ~ 0.2-0.8% is attributable to complications of the disease..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145410" name="Title 145409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Clinical presentation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45411" name="Text Placeholder 145410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  <a:buFont typeface="Wingdings" panose="05000000000000000000" charset="0"/>
              <a:buChar char="q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Variations in the position of the appendix, age of the patient, and degree of inflammation make the clinical presentation of appendicitis notoriously inconsistent.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Periumbilical pain that shifts to the RLQ**~ 80% sensitive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Anorexia, nausea, few vomit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Diarrhea/Constipation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Urinary symptoms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Afebrile or low-grade fever.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146434" name="Title 146433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Physical findings</a:t>
            </a: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46436" name="Text Placeholder 146435"/>
          <p:cNvSpPr>
            <a:spLocks noGrp="1"/>
          </p:cNvSpPr>
          <p:nvPr>
            <p:ph type="body" sz="half" idx="1"/>
          </p:nvPr>
        </p:nvSpPr>
        <p:spPr>
          <a:xfrm>
            <a:off x="985520" y="1600200"/>
            <a:ext cx="5034280" cy="4526280"/>
          </a:xfrm>
        </p:spPr>
        <p:txBody>
          <a:bodyPr/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Liming child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Child Lies still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Tenderness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Mc Burney’s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Rebound tenderness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Guarding and rigidity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Rovsing’s sign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Psoas sign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Obturator sign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46437" name="Text Placeholder 146436"/>
          <p:cNvSpPr>
            <a:spLocks noGrp="1"/>
          </p:cNvSpPr>
          <p:nvPr>
            <p:ph type="body" sz="half" idx="2"/>
          </p:nvPr>
        </p:nvSpPr>
        <p:spPr>
          <a:xfrm>
            <a:off x="6172200" y="1600200"/>
            <a:ext cx="5410835" cy="4526280"/>
          </a:xfrm>
        </p:spPr>
        <p:txBody>
          <a:bodyPr/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Cough sign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Generalized peritonitis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RLQ mass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PR tenderness or mass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Inflamed hemi scrotum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CVA tenderness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153602" name="Title 15360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/>
        </p:txBody>
      </p:sp>
      <p:grpSp>
        <p:nvGrpSpPr>
          <p:cNvPr id="153603" name="Group 153602"/>
          <p:cNvGrpSpPr/>
          <p:nvPr/>
        </p:nvGrpSpPr>
        <p:grpSpPr>
          <a:xfrm>
            <a:off x="1976438" y="1905000"/>
            <a:ext cx="8239125" cy="3987800"/>
            <a:chOff x="-3" y="-3"/>
            <a:chExt cx="5190" cy="2512"/>
          </a:xfrm>
        </p:grpSpPr>
        <p:grpSp>
          <p:nvGrpSpPr>
            <p:cNvPr id="153604" name="Group 153603"/>
            <p:cNvGrpSpPr/>
            <p:nvPr/>
          </p:nvGrpSpPr>
          <p:grpSpPr>
            <a:xfrm>
              <a:off x="0" y="0"/>
              <a:ext cx="5184" cy="2506"/>
              <a:chOff x="0" y="0"/>
              <a:chExt cx="5184" cy="2506"/>
            </a:xfrm>
          </p:grpSpPr>
          <p:sp>
            <p:nvSpPr>
              <p:cNvPr id="153605" name="Rectangles 153604"/>
              <p:cNvSpPr/>
              <p:nvPr/>
            </p:nvSpPr>
            <p:spPr>
              <a:xfrm>
                <a:off x="0" y="0"/>
                <a:ext cx="5184" cy="25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eaLnBrk="1" hangingPunct="1"/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sz="255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                                                </a:t>
                </a:r>
                <a:endParaRPr sz="24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53606" name="Rectangles 153605"/>
              <p:cNvSpPr/>
              <p:nvPr/>
            </p:nvSpPr>
            <p:spPr>
              <a:xfrm>
                <a:off x="0" y="0"/>
                <a:ext cx="5184" cy="2506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en-US"/>
              </a:p>
            </p:txBody>
          </p:sp>
        </p:grpSp>
        <p:sp>
          <p:nvSpPr>
            <p:cNvPr id="153607" name="Rectangles 153606"/>
            <p:cNvSpPr/>
            <p:nvPr/>
          </p:nvSpPr>
          <p:spPr>
            <a:xfrm>
              <a:off x="-3" y="-3"/>
              <a:ext cx="5190" cy="2512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</p:grpSp>
      <p:sp>
        <p:nvSpPr>
          <p:cNvPr id="153608" name="Rectangles 153607" descr="Figure 2B"/>
          <p:cNvSpPr>
            <a:spLocks noChangeAspect="1"/>
          </p:cNvSpPr>
          <p:nvPr/>
        </p:nvSpPr>
        <p:spPr>
          <a:xfrm>
            <a:off x="2149475" y="1425575"/>
            <a:ext cx="3600450" cy="4057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grpSp>
        <p:nvGrpSpPr>
          <p:cNvPr id="153609" name="Group 153608"/>
          <p:cNvGrpSpPr/>
          <p:nvPr/>
        </p:nvGrpSpPr>
        <p:grpSpPr>
          <a:xfrm>
            <a:off x="1976438" y="860425"/>
            <a:ext cx="8239125" cy="4978400"/>
            <a:chOff x="-3" y="-3"/>
            <a:chExt cx="5190" cy="3136"/>
          </a:xfrm>
        </p:grpSpPr>
        <p:grpSp>
          <p:nvGrpSpPr>
            <p:cNvPr id="153610" name="Group 153609"/>
            <p:cNvGrpSpPr/>
            <p:nvPr/>
          </p:nvGrpSpPr>
          <p:grpSpPr>
            <a:xfrm>
              <a:off x="0" y="0"/>
              <a:ext cx="5184" cy="3130"/>
              <a:chOff x="0" y="0"/>
              <a:chExt cx="5184" cy="3130"/>
            </a:xfrm>
          </p:grpSpPr>
          <p:sp>
            <p:nvSpPr>
              <p:cNvPr id="153611" name="Rectangles 153610"/>
              <p:cNvSpPr/>
              <p:nvPr/>
            </p:nvSpPr>
            <p:spPr>
              <a:xfrm>
                <a:off x="0" y="0"/>
                <a:ext cx="5184" cy="31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eaLnBrk="1" hangingPunct="1"/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sz="3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                                                 </a:t>
                </a:r>
                <a:endParaRPr sz="24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53612" name="Rectangles 153611"/>
              <p:cNvSpPr/>
              <p:nvPr/>
            </p:nvSpPr>
            <p:spPr>
              <a:xfrm>
                <a:off x="0" y="0"/>
                <a:ext cx="5184" cy="313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en-US"/>
              </a:p>
            </p:txBody>
          </p:sp>
        </p:grpSp>
        <p:sp>
          <p:nvSpPr>
            <p:cNvPr id="153613" name="Rectangles 153612"/>
            <p:cNvSpPr/>
            <p:nvPr/>
          </p:nvSpPr>
          <p:spPr>
            <a:xfrm>
              <a:off x="-3" y="-3"/>
              <a:ext cx="5190" cy="3136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</p:grpSp>
      <p:sp>
        <p:nvSpPr>
          <p:cNvPr id="153614" name="Rectangles 153613" descr="Figure 1B"/>
          <p:cNvSpPr>
            <a:spLocks noChangeAspect="1"/>
          </p:cNvSpPr>
          <p:nvPr/>
        </p:nvSpPr>
        <p:spPr>
          <a:xfrm>
            <a:off x="1981200" y="533400"/>
            <a:ext cx="3714750" cy="5086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graphicFrame>
        <p:nvGraphicFramePr>
          <p:cNvPr id="153615" name="Object 153614"/>
          <p:cNvGraphicFramePr/>
          <p:nvPr/>
        </p:nvGraphicFramePr>
        <p:xfrm>
          <a:off x="1905000" y="4419600"/>
          <a:ext cx="4852988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000375" imgH="1304925" progId="Paint.Picture">
                  <p:embed/>
                </p:oleObj>
              </mc:Choice>
              <mc:Fallback>
                <p:oleObj name="" r:id="rId1" imgW="3000375" imgH="1304925" progId="Paint.Picture">
                  <p:embed/>
                  <p:pic>
                    <p:nvPicPr>
                      <p:cNvPr id="0" name="Picture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4419600"/>
                        <a:ext cx="4852988" cy="211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6" name="Object 153615"/>
          <p:cNvGraphicFramePr/>
          <p:nvPr/>
        </p:nvGraphicFramePr>
        <p:xfrm>
          <a:off x="7143750" y="228600"/>
          <a:ext cx="352425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3524250" imgH="2428875" progId="Paint.Picture">
                  <p:embed/>
                </p:oleObj>
              </mc:Choice>
              <mc:Fallback>
                <p:oleObj name="" r:id="rId3" imgW="3524250" imgH="2428875" progId="Paint.Picture">
                  <p:embed/>
                  <p:pic>
                    <p:nvPicPr>
                      <p:cNvPr id="0" name="Picture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43750" y="228600"/>
                        <a:ext cx="3524250" cy="242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7" name="Object 153616"/>
          <p:cNvGraphicFramePr/>
          <p:nvPr/>
        </p:nvGraphicFramePr>
        <p:xfrm>
          <a:off x="7288213" y="2667000"/>
          <a:ext cx="3379787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3000375" imgH="3381375" progId="Paint.Picture">
                  <p:embed/>
                </p:oleObj>
              </mc:Choice>
              <mc:Fallback>
                <p:oleObj name="" r:id="rId5" imgW="3000375" imgH="3381375" progId="Paint.Picture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88213" y="2667000"/>
                        <a:ext cx="3379787" cy="38100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8" name="Object 153617"/>
          <p:cNvGraphicFramePr/>
          <p:nvPr/>
        </p:nvGraphicFramePr>
        <p:xfrm>
          <a:off x="1905000" y="152400"/>
          <a:ext cx="3095625" cy="423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3095625" imgH="4238625" progId="Paint.Picture">
                  <p:embed/>
                </p:oleObj>
              </mc:Choice>
              <mc:Fallback>
                <p:oleObj name="" r:id="rId7" imgW="3095625" imgH="4238625" progId="Paint.Picture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5000" y="152400"/>
                        <a:ext cx="3095625" cy="423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9" name="Left Arrow Callout 153618"/>
          <p:cNvSpPr/>
          <p:nvPr/>
        </p:nvSpPr>
        <p:spPr>
          <a:xfrm>
            <a:off x="5029200" y="685800"/>
            <a:ext cx="1752600" cy="1371600"/>
          </a:xfrm>
          <a:prstGeom prst="leftArrowCallout">
            <a:avLst>
              <a:gd name="adj1" fmla="val 25000"/>
              <a:gd name="adj2" fmla="val 25000"/>
              <a:gd name="adj3" fmla="val 21296"/>
              <a:gd name="adj4" fmla="val 6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Psoas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endParaRPr sz="24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3620" name="Right Arrow Callout 153619"/>
          <p:cNvSpPr/>
          <p:nvPr/>
        </p:nvSpPr>
        <p:spPr>
          <a:xfrm>
            <a:off x="5410200" y="2743200"/>
            <a:ext cx="1828800" cy="12192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Obturator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endParaRPr sz="24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20482" name="Title 20481"/>
          <p:cNvSpPr>
            <a:spLocks noGrp="1" noRot="1"/>
          </p:cNvSpPr>
          <p:nvPr>
            <p:ph type="title"/>
          </p:nvPr>
        </p:nvSpPr>
        <p:spPr>
          <a:xfrm>
            <a:off x="1981200" y="274638"/>
            <a:ext cx="8229600" cy="598487"/>
          </a:xfrm>
        </p:spPr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Laboratory studies</a:t>
            </a: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0483" name="Text Placeholder 20482"/>
          <p:cNvSpPr>
            <a:spLocks noGrp="1"/>
          </p:cNvSpPr>
          <p:nvPr>
            <p:ph type="body" idx="1"/>
          </p:nvPr>
        </p:nvSpPr>
        <p:spPr>
          <a:xfrm>
            <a:off x="814705" y="1447800"/>
            <a:ext cx="10459720" cy="4343400"/>
          </a:xfrm>
        </p:spPr>
        <p:txBody>
          <a:bodyPr/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WBC count and differential count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Leukocytosis with a left shift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C-reactive proteins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Urinalysis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Irritation of the bladder or ureters by an inflamed appendix may result in a few WBCs in the urine.</a:t>
            </a:r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23554" name="Title 23553"/>
          <p:cNvSpPr>
            <a:spLocks noGrp="1" noRot="1"/>
          </p:cNvSpPr>
          <p:nvPr>
            <p:ph type="title"/>
          </p:nvPr>
        </p:nvSpPr>
        <p:spPr>
          <a:xfrm>
            <a:off x="1752600" y="381000"/>
            <a:ext cx="8534400" cy="685800"/>
          </a:xfrm>
        </p:spPr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Imaging: </a:t>
            </a: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3555" name="Text Placeholder 23554"/>
          <p:cNvSpPr>
            <a:spLocks noGrp="1"/>
          </p:cNvSpPr>
          <p:nvPr>
            <p:ph type="body" idx="1"/>
          </p:nvPr>
        </p:nvSpPr>
        <p:spPr>
          <a:xfrm>
            <a:off x="706120" y="1066800"/>
            <a:ext cx="11033760" cy="5334000"/>
          </a:xfrm>
        </p:spPr>
        <p:txBody>
          <a:bodyPr/>
          <a:p>
            <a:pPr>
              <a:lnSpc>
                <a:spcPct val="90000"/>
              </a:lnSpc>
              <a:buFont typeface="Wingdings" panose="05000000000000000000" charset="0"/>
              <a:buChar char="q"/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Graded compression Ultra sound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Sensitivity = 85%,  specificity = 94% in pediatric patient</a:t>
            </a:r>
            <a:r>
              <a:rPr lang="en-US" sz="2400">
                <a:latin typeface="Georgia" panose="02040502050405020303" charset="0"/>
                <a:cs typeface="Georgia" panose="02040502050405020303" charset="0"/>
              </a:rPr>
              <a:t>s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4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q"/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Computed Tomography scan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In children, the CT scan has had a limited role.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CT scans are useful for patients in whom the ultrasound findings are equivocal.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q"/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Plain abdominal radiography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q"/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Barium enema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q"/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Radio-nucleotide study.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q"/>
            </a:pP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endParaRPr sz="2000">
              <a:latin typeface="Georgia" panose="02040502050405020303" charset="0"/>
              <a:cs typeface="Georgia" panose="02040502050405020303" charset="0"/>
            </a:endParaRPr>
          </a:p>
          <a:p>
            <a:pPr lvl="2">
              <a:lnSpc>
                <a:spcPct val="90000"/>
              </a:lnSpc>
            </a:pPr>
            <a:endParaRPr sz="20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38914" name="Title 38913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The </a:t>
            </a:r>
            <a:r>
              <a:rPr b="1" u="sng">
                <a:latin typeface="Georgia" panose="02040502050405020303" charset="0"/>
                <a:cs typeface="Georgia" panose="02040502050405020303" charset="0"/>
              </a:rPr>
              <a:t>MANTRELS</a:t>
            </a:r>
            <a:r>
              <a:rPr b="1">
                <a:latin typeface="Georgia" panose="02040502050405020303" charset="0"/>
                <a:cs typeface="Georgia" panose="02040502050405020303" charset="0"/>
              </a:rPr>
              <a:t> score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8915" name="Text Placeholder 3891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1399520" cy="4953000"/>
          </a:xfrm>
        </p:spPr>
        <p:txBody>
          <a:bodyPr>
            <a:normAutofit lnSpcReduction="10000"/>
          </a:bodyPr>
          <a:p>
            <a:pPr>
              <a:lnSpc>
                <a:spcPct val="90000"/>
              </a:lnSpc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M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=Migration of pain to the RLQ		1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A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= Anorexia					1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N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= Nausea and vomiting			1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T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= Tenderness in RLQ			2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R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= Rebound pain				1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E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= Elevated temperature			1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L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= Leukocytosis					2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None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S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= Shift of WBC to the left			</a:t>
            </a:r>
            <a:r>
              <a:rPr sz="2800" u="sng">
                <a:latin typeface="Georgia" panose="02040502050405020303" charset="0"/>
                <a:cs typeface="Georgia" panose="02040502050405020303" charset="0"/>
              </a:rPr>
              <a:t>1</a:t>
            </a:r>
            <a:endParaRPr sz="2800" u="sng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None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					</a:t>
            </a:r>
            <a:r>
              <a:rPr sz="2800" b="1">
                <a:latin typeface="Georgia" panose="02040502050405020303" charset="0"/>
                <a:cs typeface="Georgia" panose="02040502050405020303" charset="0"/>
              </a:rPr>
              <a:t>Total 		10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26626" name="Title 26625"/>
          <p:cNvSpPr>
            <a:spLocks noGrp="1" noRot="1"/>
          </p:cNvSpPr>
          <p:nvPr>
            <p:ph type="title"/>
          </p:nvPr>
        </p:nvSpPr>
        <p:spPr>
          <a:xfrm>
            <a:off x="1981200" y="438150"/>
            <a:ext cx="8229600" cy="434975"/>
          </a:xfrm>
        </p:spPr>
        <p:txBody>
          <a:bodyPr anchor="ctr" anchorCtr="0"/>
          <a:p>
            <a:r>
              <a:rPr sz="4000">
                <a:latin typeface="Georgia" panose="02040502050405020303" charset="0"/>
                <a:cs typeface="Georgia" panose="02040502050405020303" charset="0"/>
              </a:rPr>
              <a:t>Management</a:t>
            </a:r>
            <a:endParaRPr sz="40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6627" name="Text Placeholder 26626"/>
          <p:cNvSpPr>
            <a:spLocks noGrp="1"/>
          </p:cNvSpPr>
          <p:nvPr>
            <p:ph type="body" idx="1"/>
          </p:nvPr>
        </p:nvSpPr>
        <p:spPr>
          <a:xfrm>
            <a:off x="610235" y="1219200"/>
            <a:ext cx="9752965" cy="4648200"/>
          </a:xfrm>
        </p:spPr>
        <p:txBody>
          <a:bodyPr/>
          <a:p>
            <a:pPr>
              <a:lnSpc>
                <a:spcPct val="90000"/>
              </a:lnSpc>
              <a:buFont typeface="Wingdings" panose="05000000000000000000" charset="0"/>
              <a:buChar char="q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Children with a classic history for appendicitis require prompt surgical intervention. 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Kept NPO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Administer analgesics once decision is made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IV fluids and ensure adequate hydration.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Antibiotics Gm-ve and anaerobic organisms such as </a:t>
            </a:r>
            <a:r>
              <a:rPr i="1">
                <a:latin typeface="Georgia" panose="02040502050405020303" charset="0"/>
                <a:cs typeface="Georgia" panose="02040502050405020303" charset="0"/>
              </a:rPr>
              <a:t>E. coli</a:t>
            </a:r>
            <a:r>
              <a:rPr>
                <a:latin typeface="Georgia" panose="02040502050405020303" charset="0"/>
                <a:cs typeface="Georgia" panose="02040502050405020303" charset="0"/>
              </a:rPr>
              <a:t> and </a:t>
            </a:r>
            <a:r>
              <a:rPr i="1">
                <a:latin typeface="Georgia" panose="02040502050405020303" charset="0"/>
                <a:cs typeface="Georgia" panose="02040502050405020303" charset="0"/>
              </a:rPr>
              <a:t>Bacteroides.</a:t>
            </a:r>
            <a:endParaRPr i="1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endParaRPr i="1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lvl="1">
              <a:lnSpc>
                <a:spcPct val="90000"/>
              </a:lnSpc>
              <a:buFont typeface="Wingdings" panose="05000000000000000000" charset="0"/>
              <a:buChar char="q"/>
            </a:pPr>
            <a:r>
              <a:rPr i="1">
                <a:latin typeface="Georgia" panose="02040502050405020303" charset="0"/>
                <a:cs typeface="Georgia" panose="02040502050405020303" charset="0"/>
                <a:sym typeface="+mn-ea"/>
              </a:rPr>
              <a:t>Appendectomy is the definitive treatment for acute appendicitis.</a:t>
            </a:r>
            <a:endParaRPr i="1">
              <a:latin typeface="Georgia" panose="02040502050405020303" charset="0"/>
              <a:cs typeface="Georgia" panose="02040502050405020303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i="1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28674" name="Title 28673"/>
          <p:cNvSpPr>
            <a:spLocks noGrp="1" noRot="1"/>
          </p:cNvSpPr>
          <p:nvPr>
            <p:ph type="title"/>
          </p:nvPr>
        </p:nvSpPr>
        <p:spPr>
          <a:xfrm>
            <a:off x="2133600" y="533400"/>
            <a:ext cx="6870700" cy="838200"/>
          </a:xfrm>
        </p:spPr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Complications </a:t>
            </a:r>
            <a:br>
              <a:rPr sz="4000" b="1">
                <a:latin typeface="Georgia" panose="02040502050405020303" charset="0"/>
                <a:cs typeface="Georgia" panose="02040502050405020303" charset="0"/>
              </a:rPr>
            </a:b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8675" name="Text Placeholder 28674"/>
          <p:cNvSpPr>
            <a:spLocks noGrp="1"/>
          </p:cNvSpPr>
          <p:nvPr>
            <p:ph type="body" idx="1"/>
          </p:nvPr>
        </p:nvSpPr>
        <p:spPr>
          <a:xfrm>
            <a:off x="1083945" y="990600"/>
            <a:ext cx="8822055" cy="5029200"/>
          </a:xfrm>
        </p:spPr>
        <p:txBody>
          <a:bodyPr>
            <a:normAutofit lnSpcReduction="10000"/>
          </a:bodyPr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endParaRPr sz="20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Perforation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Sepsis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Shock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Dehiscence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Wound infection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Bowel obstruction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Abdominal/pelvic abscess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Death (rare)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q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The prognosis is generally excellent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v"/>
            </a:pPr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899025" y="987425"/>
            <a:ext cx="7292975" cy="4873625"/>
          </a:xfrm>
        </p:spPr>
        <p:txBody>
          <a:bodyPr/>
          <a:p>
            <a:pPr marL="0" indent="0">
              <a:buNone/>
            </a:pPr>
            <a:endParaRPr sz="6600" b="1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0" indent="0">
              <a:buNone/>
            </a:pPr>
            <a:r>
              <a:rPr sz="6600" b="1">
                <a:latin typeface="Georgia" panose="02040502050405020303" charset="0"/>
                <a:cs typeface="Georgia" panose="02040502050405020303" charset="0"/>
                <a:sym typeface="+mn-ea"/>
              </a:rPr>
              <a:t>Intussusception</a:t>
            </a:r>
            <a:endParaRPr lang="en-US" sz="6600" b="1"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170" y="1284605"/>
            <a:ext cx="4719955" cy="46570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40962" name="Title 4096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sz="4400" b="1">
                <a:latin typeface="Georgia" panose="02040502050405020303" charset="0"/>
                <a:cs typeface="Georgia" panose="02040502050405020303" charset="0"/>
              </a:rPr>
              <a:t>Introduction</a:t>
            </a:r>
            <a:endParaRPr sz="44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0963" name="Text Placeholder 4096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Intussusception is the telescoping or prolapse of one portion of the bowel into an adjacent segment.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First described accurately be John Hunter in 1793.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Incidence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: 1.5-4.3 per 1000 live births.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Peak incidence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: 5-9</a:t>
            </a:r>
            <a:r>
              <a:rPr sz="2800" baseline="30000">
                <a:latin typeface="Georgia" panose="02040502050405020303" charset="0"/>
                <a:cs typeface="Georgia" panose="02040502050405020303" charset="0"/>
              </a:rPr>
              <a:t>th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month of life.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60-70% are males, M:F= 3:1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 patients older than 4 years, the male-to-female ratio is 8:1.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56322" name="Title 5632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Ethiopia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6384" name="Text Placeholder 56383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Study site: Addis Ababa, TAH, 1663-1970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Incidence: 6 cases per year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Mean age= 8 months, M:F 2:1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No seasonal variation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Average duration: 3.2 days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All are operated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Font typeface="Wingdings" panose="05000000000000000000" charset="0"/>
              <a:buChar char="Ø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Reduction in 76%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Ø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10/42 died;  mortality=24%</a:t>
            </a:r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43010" name="Title 43009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>
                <a:latin typeface="Georgia" panose="02040502050405020303" charset="0"/>
                <a:cs typeface="Georgia" panose="02040502050405020303" charset="0"/>
              </a:rPr>
              <a:t>Types: Ethiopia</a:t>
            </a:r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3011" name="Text Placeholder 43010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533400" indent="-533400">
              <a:buFontTx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Ileo-colic ~ 81% 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533400" indent="-533400">
              <a:buFontTx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Enteral ~ 2.4%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533400" indent="-533400">
              <a:buFontTx/>
              <a:buAutoNum type="arabicPeriod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Colo-colic ~ 16.6%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533400" indent="-533400">
              <a:buFontTx/>
              <a:buAutoNum type="arabicPeriod"/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533400" indent="-533400"/>
            <a:r>
              <a:rPr>
                <a:latin typeface="Georgia" panose="02040502050405020303" charset="0"/>
                <a:cs typeface="Georgia" panose="02040502050405020303" charset="0"/>
              </a:rPr>
              <a:t>Acute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533400" indent="-533400"/>
            <a:r>
              <a:rPr>
                <a:latin typeface="Georgia" panose="02040502050405020303" charset="0"/>
                <a:cs typeface="Georgia" panose="02040502050405020303" charset="0"/>
              </a:rPr>
              <a:t>Sub acute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533400" indent="-533400"/>
            <a:r>
              <a:rPr>
                <a:latin typeface="Georgia" panose="02040502050405020303" charset="0"/>
                <a:cs typeface="Georgia" panose="02040502050405020303" charset="0"/>
              </a:rPr>
              <a:t>Chronic and recurrent</a:t>
            </a:r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48130" name="Title 48129"/>
          <p:cNvSpPr>
            <a:spLocks noGrp="1" noRot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Etiology</a:t>
            </a: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8131" name="Text Placeholder 48130"/>
          <p:cNvSpPr>
            <a:spLocks noGrp="1"/>
          </p:cNvSpPr>
          <p:nvPr>
            <p:ph type="body" idx="1"/>
          </p:nvPr>
        </p:nvSpPr>
        <p:spPr>
          <a:xfrm>
            <a:off x="724535" y="1066800"/>
            <a:ext cx="9486265" cy="5334000"/>
          </a:xfrm>
        </p:spPr>
        <p:txBody>
          <a:bodyPr/>
          <a:p>
            <a:pPr>
              <a:lnSpc>
                <a:spcPct val="8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Primary idiopathic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~ 90%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Lymphoid hyperplasia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Defective peristalsis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Mal-fixation of the cecal mesentery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Secondary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~ 10% : common with advancing age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Meckle’s diverticula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Duplication cysts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Inflammatory lesions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Neoplastic lesions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Vascular/hematological lesions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None/>
            </a:pPr>
            <a:r>
              <a:rPr sz="2000">
                <a:latin typeface="Georgia" panose="02040502050405020303" charset="0"/>
                <a:cs typeface="Georgia" panose="02040502050405020303" charset="0"/>
              </a:rPr>
              <a:t>	</a:t>
            </a:r>
            <a:endParaRPr sz="20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45058" name="Title 45057"/>
          <p:cNvSpPr>
            <a:spLocks noGrp="1" noRot="1"/>
          </p:cNvSpPr>
          <p:nvPr>
            <p:ph type="title"/>
          </p:nvPr>
        </p:nvSpPr>
        <p:spPr>
          <a:xfrm>
            <a:off x="1981200" y="457200"/>
            <a:ext cx="8229600" cy="868363"/>
          </a:xfrm>
        </p:spPr>
        <p:txBody>
          <a:bodyPr anchor="ctr" anchorCtr="0">
            <a:normAutofit fontScale="90000"/>
          </a:bodyPr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Clinical findings</a:t>
            </a:r>
            <a:br>
              <a:rPr sz="4000" b="1">
                <a:latin typeface="Georgia" panose="02040502050405020303" charset="0"/>
                <a:cs typeface="Georgia" panose="02040502050405020303" charset="0"/>
              </a:rPr>
            </a:b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5060" name="Text Placeholder 45059"/>
          <p:cNvSpPr>
            <a:spLocks noGrp="1"/>
          </p:cNvSpPr>
          <p:nvPr>
            <p:ph type="body" sz="half" idx="1"/>
          </p:nvPr>
        </p:nvSpPr>
        <p:spPr>
          <a:xfrm>
            <a:off x="1752600" y="1295400"/>
            <a:ext cx="4038600" cy="4876800"/>
          </a:xfrm>
        </p:spPr>
        <p:txBody>
          <a:bodyPr>
            <a:normAutofit lnSpcReduction="20000"/>
          </a:bodyPr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Previously health baby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Sudden repeated screams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Pallor and drawing of legs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Vomiting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Red currant jelly stool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Dehydration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Intestinal obstruction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Death in  days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Painless intussusception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5061" name="Text Placeholder 45060"/>
          <p:cNvSpPr>
            <a:spLocks noGrp="1"/>
          </p:cNvSpPr>
          <p:nvPr>
            <p:ph type="body" sz="half" idx="2"/>
          </p:nvPr>
        </p:nvSpPr>
        <p:spPr>
          <a:xfrm>
            <a:off x="6629400" y="1219200"/>
            <a:ext cx="3886200" cy="4754563"/>
          </a:xfrm>
        </p:spPr>
        <p:txBody>
          <a:bodyPr>
            <a:normAutofit lnSpcReduction="10000"/>
          </a:bodyPr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Fever and Tachycardia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Dehydration signs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Sausage in the RUQ or Epigastrium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Distended abdomen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Features of intestinal obstruction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Peritonitis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Bleeding PR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Mass PR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52226" name="Title 52225"/>
          <p:cNvSpPr>
            <a:spLocks noGrp="1" noRot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Management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2227" name="Text Placeholder 52226"/>
          <p:cNvSpPr>
            <a:spLocks noGrp="1"/>
          </p:cNvSpPr>
          <p:nvPr>
            <p:ph type="body" idx="1"/>
          </p:nvPr>
        </p:nvSpPr>
        <p:spPr>
          <a:xfrm>
            <a:off x="831215" y="1371600"/>
            <a:ext cx="10161905" cy="4754880"/>
          </a:xfrm>
        </p:spPr>
        <p:txBody>
          <a:bodyPr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Non operative reduction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 marL="762000" lvl="1" indent="-3048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Pneumatic or hydrostatic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762000" lvl="1" indent="-3048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Fluoroscopic or ultra sound guided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762000" lvl="1" indent="-304800">
              <a:lnSpc>
                <a:spcPct val="90000"/>
              </a:lnSpc>
              <a:buFont typeface="Wingdings" panose="05000000000000000000" pitchFamily="2" charset="2"/>
              <a:buChar char="q"/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Success rate= 50-85%. 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Contraindications</a:t>
            </a:r>
            <a:endParaRPr sz="2800" b="1">
              <a:latin typeface="Georgia" panose="02040502050405020303" charset="0"/>
              <a:cs typeface="Georgia" panose="02040502050405020303" charset="0"/>
            </a:endParaRPr>
          </a:p>
          <a:p>
            <a:pPr marL="762000" lvl="1" indent="-304800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Signs of peritonitis or perforation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762000" lvl="1" indent="-304800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Demonstration of a lead point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762000" lvl="1" indent="-304800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Presence of shock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762000" lvl="1" indent="-304800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Chronic or neonatal intussusception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762000" lvl="1" indent="-304800">
              <a:lnSpc>
                <a:spcPct val="90000"/>
              </a:lnSpc>
            </a:pP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 b="1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139266" name="Title 139265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Management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39267" name="Text Placeholder 139266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sz="2800" b="1">
                <a:latin typeface="Georgia" panose="02040502050405020303" charset="0"/>
                <a:cs typeface="Georgia" panose="02040502050405020303" charset="0"/>
              </a:rPr>
              <a:t>Operative management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: Indicated for those in whom Radiologic techniques are contraindicated or failed.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Right transverse muscle splitting incision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Gentle milking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Resection and end to end anastomosis if indicated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Appendectomy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Anti-recurrence </a:t>
            </a:r>
            <a:r>
              <a:rPr sz="2800" err="1">
                <a:latin typeface="Georgia" panose="02040502050405020303" charset="0"/>
                <a:cs typeface="Georgia" panose="02040502050405020303" charset="0"/>
              </a:rPr>
              <a:t>precedures</a:t>
            </a:r>
            <a:endParaRPr sz="2800" err="1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US">
                <a:latin typeface="Arial" panose="020B0604020202020204" pitchFamily="34" charset="0"/>
              </a:rPr>
              <a:t>AA MICHAEL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140290" name="Title 140289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sz="4400">
                <a:latin typeface="Georgia" panose="02040502050405020303" charset="0"/>
                <a:cs typeface="Georgia" panose="02040502050405020303" charset="0"/>
              </a:rPr>
              <a:t>Prognosis</a:t>
            </a:r>
            <a:endParaRPr sz="44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40291" name="Text Placeholder 140290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Recurrent intussusception ~ 4%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Adhesive intestinal obstruction ~ 3-6%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Septic complications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Death ~ &lt;1%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Mortality and morbidity are higher when there is delay in presentation or treatment, typically in older children and in small bowel intussusception !!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61794" name="Title 161793"/>
          <p:cNvSpPr>
            <a:spLocks noGrp="1" noRot="1"/>
          </p:cNvSpPr>
          <p:nvPr>
            <p:ph type="title"/>
          </p:nvPr>
        </p:nvSpPr>
        <p:spPr>
          <a:xfrm>
            <a:off x="1448435" y="274955"/>
            <a:ext cx="8762365" cy="715645"/>
          </a:xfrm>
        </p:spPr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Peritonitis</a:t>
            </a: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1795" name="Text Placeholder 161794"/>
          <p:cNvSpPr>
            <a:spLocks noGrp="1"/>
          </p:cNvSpPr>
          <p:nvPr>
            <p:ph type="body" idx="1"/>
          </p:nvPr>
        </p:nvSpPr>
        <p:spPr>
          <a:xfrm>
            <a:off x="421005" y="1066800"/>
            <a:ext cx="9865995" cy="5257800"/>
          </a:xfrm>
        </p:spPr>
        <p:txBody>
          <a:bodyPr/>
          <a:p>
            <a:r>
              <a:rPr sz="2800">
                <a:latin typeface="Georgia" panose="02040502050405020303" charset="0"/>
                <a:cs typeface="Georgia" panose="02040502050405020303" charset="0"/>
              </a:rPr>
              <a:t>The term peritonitis refers to a constellation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400">
                <a:latin typeface="Georgia" panose="02040502050405020303" charset="0"/>
                <a:cs typeface="Georgia" panose="02040502050405020303" charset="0"/>
              </a:rPr>
              <a:t>Abdominal pain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400">
                <a:latin typeface="Georgia" panose="02040502050405020303" charset="0"/>
                <a:cs typeface="Georgia" panose="02040502050405020303" charset="0"/>
              </a:rPr>
              <a:t>Tenderness on palpation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400">
                <a:latin typeface="Georgia" panose="02040502050405020303" charset="0"/>
                <a:cs typeface="Georgia" panose="02040502050405020303" charset="0"/>
              </a:rPr>
              <a:t>Abdominal wall muscle rigidity and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400">
                <a:latin typeface="Georgia" panose="02040502050405020303" charset="0"/>
                <a:cs typeface="Georgia" panose="02040502050405020303" charset="0"/>
              </a:rPr>
              <a:t>Systemic signs of inflammation. 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r>
              <a:rPr sz="2800">
                <a:latin typeface="Georgia" panose="02040502050405020303" charset="0"/>
                <a:cs typeface="Georgia" panose="02040502050405020303" charset="0"/>
              </a:rPr>
              <a:t>May be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400">
                <a:latin typeface="Georgia" panose="02040502050405020303" charset="0"/>
                <a:cs typeface="Georgia" panose="02040502050405020303" charset="0"/>
              </a:rPr>
              <a:t>Primary ► Spontaneous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400">
                <a:latin typeface="Georgia" panose="02040502050405020303" charset="0"/>
                <a:cs typeface="Georgia" panose="02040502050405020303" charset="0"/>
              </a:rPr>
              <a:t>Secondary ► Related to a pathologic process in an organ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400">
                <a:latin typeface="Georgia" panose="02040502050405020303" charset="0"/>
                <a:cs typeface="Georgia" panose="02040502050405020303" charset="0"/>
              </a:rPr>
              <a:t>Tertiary ► Persistent or recurrent infection after adequate initial therapy.</a:t>
            </a:r>
            <a:r>
              <a:rPr>
                <a:latin typeface="Georgia" panose="02040502050405020303" charset="0"/>
                <a:cs typeface="Georgia" panose="02040502050405020303" charset="0"/>
              </a:rPr>
              <a:t> </a:t>
            </a:r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80226" name="Title 180225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Paths of bacterial invasion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80227" name="Text Placeholder 180226"/>
          <p:cNvSpPr>
            <a:spLocks noGrp="1"/>
          </p:cNvSpPr>
          <p:nvPr>
            <p:ph type="body" idx="1"/>
          </p:nvPr>
        </p:nvSpPr>
        <p:spPr>
          <a:xfrm>
            <a:off x="380365" y="1090295"/>
            <a:ext cx="11123295" cy="4677410"/>
          </a:xfrm>
        </p:spPr>
        <p:txBody>
          <a:bodyPr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Direct infection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romanLcPeriod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Via a GI perforation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romanLcPeriod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Via an abdominal wall breach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romanLcPeriod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Post operative: Drains, foreign materials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romanLcPeriod"/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Local infection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romanLcPeriod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From an inflamed organ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romanLcPeriod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Migration through a gut wall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romanLcPeriod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Via the fallopian tubes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romanLcPeriod"/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Blood-stream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73058" name="Title 173057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Microbiology</a:t>
            </a: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73059" name="Text Placeholder 173058"/>
          <p:cNvSpPr>
            <a:spLocks noGrp="1"/>
          </p:cNvSpPr>
          <p:nvPr>
            <p:ph type="body" sz="half" idx="1"/>
          </p:nvPr>
        </p:nvSpPr>
        <p:spPr>
          <a:xfrm>
            <a:off x="511175" y="1219200"/>
            <a:ext cx="5508625" cy="5181600"/>
          </a:xfrm>
        </p:spPr>
        <p:txBody>
          <a:bodyPr/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Gram-negative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 sz="2400" i="1">
                <a:latin typeface="Georgia" panose="02040502050405020303" charset="0"/>
                <a:cs typeface="Georgia" panose="02040502050405020303" charset="0"/>
              </a:rPr>
              <a:t>E coli</a:t>
            </a:r>
            <a:br>
              <a:rPr sz="2400" i="1">
                <a:latin typeface="Georgia" panose="02040502050405020303" charset="0"/>
                <a:cs typeface="Georgia" panose="02040502050405020303" charset="0"/>
              </a:rPr>
            </a:br>
            <a:endParaRPr sz="2400" i="1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 sz="2400" i="1">
                <a:latin typeface="Georgia" panose="02040502050405020303" charset="0"/>
                <a:cs typeface="Georgia" panose="02040502050405020303" charset="0"/>
              </a:rPr>
              <a:t>Enterobacter species</a:t>
            </a:r>
            <a:br>
              <a:rPr sz="2400" i="1">
                <a:latin typeface="Georgia" panose="02040502050405020303" charset="0"/>
                <a:cs typeface="Georgia" panose="02040502050405020303" charset="0"/>
              </a:rPr>
            </a:br>
            <a:endParaRPr sz="2400" i="1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 sz="2400" i="1">
                <a:latin typeface="Georgia" panose="02040502050405020303" charset="0"/>
                <a:cs typeface="Georgia" panose="02040502050405020303" charset="0"/>
              </a:rPr>
              <a:t>Klebsiella species</a:t>
            </a:r>
            <a:br>
              <a:rPr sz="2400" i="1">
                <a:latin typeface="Georgia" panose="02040502050405020303" charset="0"/>
                <a:cs typeface="Georgia" panose="02040502050405020303" charset="0"/>
              </a:rPr>
            </a:br>
            <a:endParaRPr sz="2400" i="1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 sz="2400" i="1">
                <a:latin typeface="Georgia" panose="02040502050405020303" charset="0"/>
                <a:cs typeface="Georgia" panose="02040502050405020303" charset="0"/>
              </a:rPr>
              <a:t>Proteus species</a:t>
            </a:r>
            <a:r>
              <a:rPr sz="2400">
                <a:latin typeface="Georgia" panose="02040502050405020303" charset="0"/>
                <a:cs typeface="Georgia" panose="02040502050405020303" charset="0"/>
              </a:rPr>
              <a:t> </a:t>
            </a:r>
            <a:br>
              <a:rPr sz="2400">
                <a:latin typeface="Georgia" panose="02040502050405020303" charset="0"/>
                <a:cs typeface="Georgia" panose="02040502050405020303" charset="0"/>
              </a:rPr>
            </a:b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Gram-positive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 sz="2400" i="1">
                <a:latin typeface="Georgia" panose="02040502050405020303" charset="0"/>
                <a:cs typeface="Georgia" panose="02040502050405020303" charset="0"/>
              </a:rPr>
              <a:t>Streptococcus</a:t>
            </a:r>
            <a:r>
              <a:rPr sz="2400">
                <a:latin typeface="Georgia" panose="02040502050405020303" charset="0"/>
                <a:cs typeface="Georgia" panose="02040502050405020303" charset="0"/>
              </a:rPr>
              <a:t> species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 sz="2400" i="1">
                <a:latin typeface="Georgia" panose="02040502050405020303" charset="0"/>
                <a:cs typeface="Georgia" panose="02040502050405020303" charset="0"/>
              </a:rPr>
              <a:t>Enterococcus</a:t>
            </a:r>
            <a:r>
              <a:rPr sz="2400">
                <a:latin typeface="Georgia" panose="02040502050405020303" charset="0"/>
                <a:cs typeface="Georgia" panose="02040502050405020303" charset="0"/>
              </a:rPr>
              <a:t> species 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73060" name="Text Placeholder 173059"/>
          <p:cNvSpPr>
            <a:spLocks noGrp="1"/>
          </p:cNvSpPr>
          <p:nvPr>
            <p:ph type="body" sz="half" idx="2"/>
          </p:nvPr>
        </p:nvSpPr>
        <p:spPr>
          <a:xfrm>
            <a:off x="6172200" y="1219200"/>
            <a:ext cx="5410200" cy="4907280"/>
          </a:xfrm>
        </p:spPr>
        <p:txBody>
          <a:bodyPr/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Anaerobic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 i="1">
                <a:latin typeface="Georgia" panose="02040502050405020303" charset="0"/>
                <a:cs typeface="Georgia" panose="02040502050405020303" charset="0"/>
              </a:rPr>
              <a:t>Bacteroides fragilis</a:t>
            </a:r>
            <a:br>
              <a:rPr i="1">
                <a:latin typeface="Georgia" panose="02040502050405020303" charset="0"/>
                <a:cs typeface="Georgia" panose="02040502050405020303" charset="0"/>
              </a:rPr>
            </a:br>
            <a:endParaRPr i="1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O</a:t>
            </a:r>
            <a:r>
              <a:rPr lang="en-US">
                <a:latin typeface="Georgia" panose="02040502050405020303" charset="0"/>
                <a:cs typeface="Georgia" panose="02040502050405020303" charset="0"/>
              </a:rPr>
              <a:t>a</a:t>
            </a:r>
            <a:r>
              <a:rPr>
                <a:latin typeface="Georgia" panose="02040502050405020303" charset="0"/>
                <a:cs typeface="Georgia" panose="02040502050405020303" charset="0"/>
              </a:rPr>
              <a:t>ther </a:t>
            </a:r>
            <a:r>
              <a:rPr i="1">
                <a:latin typeface="Georgia" panose="02040502050405020303" charset="0"/>
                <a:cs typeface="Georgia" panose="02040502050405020303" charset="0"/>
              </a:rPr>
              <a:t>Bacteroides</a:t>
            </a:r>
            <a:r>
              <a:rPr>
                <a:latin typeface="Georgia" panose="02040502050405020303" charset="0"/>
                <a:cs typeface="Georgia" panose="02040502050405020303" charset="0"/>
              </a:rPr>
              <a:t> species</a:t>
            </a:r>
            <a:br>
              <a:rPr>
                <a:latin typeface="Georgia" panose="02040502050405020303" charset="0"/>
                <a:cs typeface="Georgia" panose="02040502050405020303" charset="0"/>
              </a:rPr>
            </a:b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 i="1">
                <a:latin typeface="Georgia" panose="02040502050405020303" charset="0"/>
                <a:cs typeface="Georgia" panose="02040502050405020303" charset="0"/>
              </a:rPr>
              <a:t>Clostridium</a:t>
            </a:r>
            <a:r>
              <a:rPr>
                <a:latin typeface="Georgia" panose="02040502050405020303" charset="0"/>
                <a:cs typeface="Georgia" panose="02040502050405020303" charset="0"/>
              </a:rPr>
              <a:t> species</a:t>
            </a:r>
            <a:br>
              <a:rPr>
                <a:latin typeface="Georgia" panose="02040502050405020303" charset="0"/>
                <a:cs typeface="Georgia" panose="02040502050405020303" charset="0"/>
              </a:rPr>
            </a:b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Anaerobic </a:t>
            </a:r>
            <a:r>
              <a:rPr i="1">
                <a:latin typeface="Georgia" panose="02040502050405020303" charset="0"/>
                <a:cs typeface="Georgia" panose="02040502050405020303" charset="0"/>
              </a:rPr>
              <a:t>Streptococcus</a:t>
            </a:r>
            <a:r>
              <a:rPr>
                <a:latin typeface="Georgia" panose="02040502050405020303" charset="0"/>
                <a:cs typeface="Georgia" panose="02040502050405020303" charset="0"/>
              </a:rPr>
              <a:t> species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82274" name="Title 182273"/>
          <p:cNvSpPr>
            <a:spLocks noGrp="1" noRot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Natural history 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82275" name="Text Placeholder 182274"/>
          <p:cNvSpPr>
            <a:spLocks noGrp="1"/>
          </p:cNvSpPr>
          <p:nvPr>
            <p:ph type="body" idx="1"/>
          </p:nvPr>
        </p:nvSpPr>
        <p:spPr>
          <a:xfrm>
            <a:off x="1981200" y="1752600"/>
            <a:ext cx="8229600" cy="4525963"/>
          </a:xfrm>
        </p:spPr>
        <p:txBody>
          <a:bodyPr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sz="3600">
                <a:latin typeface="Georgia" panose="02040502050405020303" charset="0"/>
                <a:cs typeface="Georgia" panose="02040502050405020303" charset="0"/>
              </a:rPr>
              <a:t>Localized peritonitis</a:t>
            </a:r>
            <a:endParaRPr sz="36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sz="3600">
                <a:latin typeface="Georgia" panose="02040502050405020303" charset="0"/>
                <a:cs typeface="Georgia" panose="02040502050405020303" charset="0"/>
              </a:rPr>
              <a:t>Generalized peritonitis</a:t>
            </a:r>
            <a:endParaRPr sz="36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sz="3600">
                <a:latin typeface="Georgia" panose="02040502050405020303" charset="0"/>
                <a:cs typeface="Georgia" panose="02040502050405020303" charset="0"/>
              </a:rPr>
              <a:t>Initial phase</a:t>
            </a:r>
            <a:endParaRPr sz="36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sz="3600">
                <a:latin typeface="Georgia" panose="02040502050405020303" charset="0"/>
                <a:cs typeface="Georgia" panose="02040502050405020303" charset="0"/>
              </a:rPr>
              <a:t>Intermediate phase</a:t>
            </a:r>
            <a:endParaRPr sz="36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sz="3600">
                <a:latin typeface="Georgia" panose="02040502050405020303" charset="0"/>
                <a:cs typeface="Georgia" panose="02040502050405020303" charset="0"/>
              </a:rPr>
              <a:t>Terminal phase</a:t>
            </a:r>
            <a:endParaRPr sz="36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62818" name="Title 162817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Clinical features: History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2819" name="Text Placeholder 162818"/>
          <p:cNvSpPr>
            <a:spLocks noGrp="1"/>
          </p:cNvSpPr>
          <p:nvPr>
            <p:ph type="body" idx="1"/>
          </p:nvPr>
        </p:nvSpPr>
        <p:spPr>
          <a:xfrm>
            <a:off x="608965" y="1295400"/>
            <a:ext cx="10278110" cy="5181600"/>
          </a:xfrm>
        </p:spPr>
        <p:txBody>
          <a:bodyPr/>
          <a:p>
            <a:r>
              <a:rPr sz="2800">
                <a:latin typeface="Georgia" panose="02040502050405020303" charset="0"/>
                <a:cs typeface="Georgia" panose="02040502050405020303" charset="0"/>
              </a:rPr>
              <a:t>The diagnosis of peritonitis is clinical!!!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r>
              <a:rPr sz="2800">
                <a:latin typeface="Georgia" panose="02040502050405020303" charset="0"/>
                <a:cs typeface="Georgia" panose="02040502050405020303" charset="0"/>
              </a:rPr>
              <a:t>Abdominal pain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/>
            <a:r>
              <a:rPr sz="2800">
                <a:latin typeface="Georgia" panose="02040502050405020303" charset="0"/>
                <a:cs typeface="Georgia" panose="02040502050405020303" charset="0"/>
              </a:rPr>
              <a:t>Dull and poorly localized 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Wingdings" panose="05000000000000000000" pitchFamily="2" charset="2"/>
              </a:rPr>
              <a:t> 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Steady, more severe, 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Wingdings" panose="05000000000000000000" pitchFamily="2" charset="2"/>
              </a:rPr>
              <a:t>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More severe </a:t>
            </a:r>
            <a:r>
              <a:rPr sz="2800">
                <a:latin typeface="Georgia" panose="02040502050405020303" charset="0"/>
                <a:cs typeface="Georgia" panose="02040502050405020303" charset="0"/>
                <a:sym typeface="Wingdings" panose="05000000000000000000" pitchFamily="2" charset="2"/>
              </a:rPr>
              <a:t>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Generalized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2"/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>
                <a:latin typeface="Georgia" panose="02040502050405020303" charset="0"/>
                <a:cs typeface="Georgia" panose="02040502050405020303" charset="0"/>
              </a:rPr>
              <a:t>Fever/ hypothermia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>
                <a:latin typeface="Georgia" panose="02040502050405020303" charset="0"/>
                <a:cs typeface="Georgia" panose="02040502050405020303" charset="0"/>
              </a:rPr>
              <a:t>Anorexia, nausea  and Vomiting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>
                <a:latin typeface="Georgia" panose="02040502050405020303" charset="0"/>
                <a:cs typeface="Georgia" panose="02040502050405020303" charset="0"/>
              </a:rPr>
              <a:t>Diarrhea/Constipation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>
                <a:latin typeface="Georgia" panose="02040502050405020303" charset="0"/>
                <a:cs typeface="Georgia" panose="02040502050405020303" charset="0"/>
              </a:rPr>
              <a:t>Symptoms referable to specific organs</a:t>
            </a:r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63842" name="Title 16384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Clinical features: Physical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3843" name="Text Placeholder 163842"/>
          <p:cNvSpPr>
            <a:spLocks noGrp="1"/>
          </p:cNvSpPr>
          <p:nvPr>
            <p:ph type="body" idx="1"/>
          </p:nvPr>
        </p:nvSpPr>
        <p:spPr>
          <a:xfrm>
            <a:off x="522605" y="1447800"/>
            <a:ext cx="9688195" cy="4678680"/>
          </a:xfrm>
        </p:spPr>
        <p:txBody>
          <a:bodyPr/>
          <a:p>
            <a:r>
              <a:rPr sz="2800">
                <a:latin typeface="Georgia" panose="02040502050405020303" charset="0"/>
                <a:cs typeface="Georgia" panose="02040502050405020303" charset="0"/>
              </a:rPr>
              <a:t>Physical exam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</a:rPr>
              <a:t>Unwell and in acute distress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</a:rPr>
              <a:t>Fascis hippocraticus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</a:rPr>
              <a:t>Tachycardia, hypotension or overt septic shock.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</a:rPr>
              <a:t>Abdominal wall rigidity**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</a:rPr>
              <a:t>Tenderness and rebound tenderness**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</a:rPr>
              <a:t>Patients avoid all motion and keep their hips flexed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</a:rPr>
              <a:t>Hypoactive/absent bowel sounds.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/>
            <a:r>
              <a:rPr sz="2800">
                <a:latin typeface="Georgia" panose="02040502050405020303" charset="0"/>
                <a:cs typeface="Georgia" panose="02040502050405020303" charset="0"/>
              </a:rPr>
              <a:t>Rectal and vaginal findings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None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64866" name="Title 164865"/>
          <p:cNvSpPr>
            <a:spLocks noGrp="1" noRot="1"/>
          </p:cNvSpPr>
          <p:nvPr>
            <p:ph type="title"/>
          </p:nvPr>
        </p:nvSpPr>
        <p:spPr>
          <a:xfrm>
            <a:off x="609600" y="190500"/>
            <a:ext cx="10972800" cy="1021715"/>
          </a:xfrm>
        </p:spPr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Lab studies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4867" name="Text Placeholder 164866"/>
          <p:cNvSpPr>
            <a:spLocks noGrp="1"/>
          </p:cNvSpPr>
          <p:nvPr>
            <p:ph type="body" sz="half" idx="1"/>
          </p:nvPr>
        </p:nvSpPr>
        <p:spPr>
          <a:xfrm>
            <a:off x="1068705" y="1600200"/>
            <a:ext cx="4951095" cy="4526280"/>
          </a:xfrm>
        </p:spPr>
        <p:txBody>
          <a:bodyPr/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CBC with differential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r>
              <a:rPr>
                <a:latin typeface="Georgia" panose="02040502050405020303" charset="0"/>
                <a:cs typeface="Georgia" panose="02040502050405020303" charset="0"/>
              </a:rPr>
              <a:t>Leukocytosis/leucopenia with left shift 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  <a:buClr>
                <a:schemeClr val="accent2"/>
              </a:buClr>
              <a:buSzPct val="70000"/>
              <a:buFont typeface="Wingdings" panose="05000000000000000000" pitchFamily="2" charset="2"/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Serum electrolyte panel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BUN and creatinine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Coagulation profile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Liver function tests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4868" name="Text Placeholder 164867"/>
          <p:cNvSpPr>
            <a:spLocks noGrp="1"/>
          </p:cNvSpPr>
          <p:nvPr>
            <p:ph type="body" sz="half" idx="2"/>
          </p:nvPr>
        </p:nvSpPr>
        <p:spPr>
          <a:xfrm>
            <a:off x="6172200" y="1600200"/>
            <a:ext cx="4916170" cy="4526280"/>
          </a:xfrm>
        </p:spPr>
        <p:txBody>
          <a:bodyPr/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Serum amylase and lipase levels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Urinalysis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Aerobic and anaerobic blood cultures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Peritoneal fluid analysis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Intra operative fluid analysis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65890" name="Title 165889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Imaging studies: Auxiliary</a:t>
            </a: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5891" name="Text Placeholder 165890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>
                <a:latin typeface="Georgia" panose="02040502050405020303" charset="0"/>
                <a:cs typeface="Georgia" panose="02040502050405020303" charset="0"/>
              </a:rPr>
              <a:t>Plain abdominal radiograph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r>
              <a:rPr>
                <a:latin typeface="Georgia" panose="02040502050405020303" charset="0"/>
                <a:cs typeface="Georgia" panose="02040502050405020303" charset="0"/>
              </a:rPr>
              <a:t>CXR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r>
              <a:rPr>
                <a:latin typeface="Georgia" panose="02040502050405020303" charset="0"/>
                <a:cs typeface="Georgia" panose="02040502050405020303" charset="0"/>
              </a:rPr>
              <a:t>Ultra sound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r>
              <a:rPr>
                <a:latin typeface="Georgia" panose="02040502050405020303" charset="0"/>
                <a:cs typeface="Georgia" panose="02040502050405020303" charset="0"/>
              </a:rPr>
              <a:t>CT scan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r>
              <a:rPr>
                <a:latin typeface="Georgia" panose="02040502050405020303" charset="0"/>
                <a:cs typeface="Georgia" panose="02040502050405020303" charset="0"/>
              </a:rPr>
              <a:t>MRI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r>
              <a:rPr>
                <a:latin typeface="Georgia" panose="02040502050405020303" charset="0"/>
                <a:cs typeface="Georgia" panose="02040502050405020303" charset="0"/>
              </a:rPr>
              <a:t>Nuclear medicine imaging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r>
              <a:rPr>
                <a:latin typeface="Georgia" panose="02040502050405020303" charset="0"/>
                <a:cs typeface="Georgia" panose="02040502050405020303" charset="0"/>
              </a:rPr>
              <a:t>Contrast scans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66914" name="Title 166913"/>
          <p:cNvSpPr>
            <a:spLocks noGrp="1" noRot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Treatment</a:t>
            </a: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6915" name="Text Placeholder 166914"/>
          <p:cNvSpPr>
            <a:spLocks noGrp="1"/>
          </p:cNvSpPr>
          <p:nvPr>
            <p:ph type="body" idx="1"/>
          </p:nvPr>
        </p:nvSpPr>
        <p:spPr>
          <a:xfrm>
            <a:off x="795655" y="1219200"/>
            <a:ext cx="9415145" cy="4907280"/>
          </a:xfrm>
        </p:spPr>
        <p:txBody>
          <a:bodyPr/>
          <a:p>
            <a:pPr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The general principles of treatment are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(1) To control the infectious source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(2) To purge bacteria and toxins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(3) To maintain organ system function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(4) To control the inflammatory process. 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8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Medical support includes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(1) Systemic antibiotic therapy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(2) Intensive care and organ function support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(3) Nutrition and metabolic support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(4) Inflammatory response modulation therapy. 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80000"/>
              </a:lnSpc>
            </a:pPr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67938" name="Title 167937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Preoperative preparation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7939" name="Text Placeholder 167938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Fluid resuscitation </a:t>
            </a:r>
            <a:r>
              <a:rPr sz="2800" u="sng">
                <a:latin typeface="Georgia" panose="02040502050405020303" charset="0"/>
                <a:cs typeface="Georgia" panose="02040502050405020303" charset="0"/>
              </a:rPr>
              <a:t>+</a:t>
            </a:r>
            <a:r>
              <a:rPr sz="2800">
                <a:latin typeface="Georgia" panose="02040502050405020303" charset="0"/>
                <a:cs typeface="Georgia" panose="02040502050405020303" charset="0"/>
              </a:rPr>
              <a:t> blood transfusion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Administration of antibiotics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Oxygen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Nasogastric intubation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Urinary catheterization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Monitoring of vital signs and homodynamic data.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Analgesia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Early surgery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Ø"/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68962" name="Title 168961"/>
          <p:cNvSpPr>
            <a:spLocks noGrp="1" noRot="1"/>
          </p:cNvSpPr>
          <p:nvPr>
            <p:ph type="title"/>
          </p:nvPr>
        </p:nvSpPr>
        <p:spPr>
          <a:xfrm>
            <a:off x="1981200" y="457200"/>
            <a:ext cx="8229600" cy="792163"/>
          </a:xfrm>
        </p:spPr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Antibiotic therapy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8963" name="Text Placeholder 168962"/>
          <p:cNvSpPr>
            <a:spLocks noGrp="1"/>
          </p:cNvSpPr>
          <p:nvPr>
            <p:ph type="body" idx="1"/>
          </p:nvPr>
        </p:nvSpPr>
        <p:spPr>
          <a:xfrm>
            <a:off x="439420" y="1676400"/>
            <a:ext cx="9771380" cy="4145280"/>
          </a:xfrm>
        </p:spPr>
        <p:txBody>
          <a:bodyPr/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Begin empiric therapy , mainly active against gram-negative organisms and anaerobes.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In uncomplicated peritonitis with early adequate source control, a course of 5-7 days is adequate in most cases.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Several studies suggest that antibiotic therapy is not as effective in later stages of the infection. </a:t>
            </a:r>
            <a:r>
              <a:rPr>
                <a:latin typeface="Georgia" panose="02040502050405020303" charset="0"/>
                <a:cs typeface="Georgia" panose="02040502050405020303" charset="0"/>
              </a:rPr>
              <a:t> </a:t>
            </a:r>
            <a:endParaRPr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69986" name="Title 169985"/>
          <p:cNvSpPr>
            <a:spLocks noGrp="1" noRot="1"/>
          </p:cNvSpPr>
          <p:nvPr>
            <p:ph type="title"/>
          </p:nvPr>
        </p:nvSpPr>
        <p:spPr>
          <a:xfrm>
            <a:off x="609600" y="190500"/>
            <a:ext cx="10972800" cy="997585"/>
          </a:xfrm>
        </p:spPr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Surgery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9987" name="Text Placeholder 169986"/>
          <p:cNvSpPr>
            <a:spLocks noGrp="1"/>
          </p:cNvSpPr>
          <p:nvPr>
            <p:ph type="body" idx="1"/>
          </p:nvPr>
        </p:nvSpPr>
        <p:spPr>
          <a:xfrm>
            <a:off x="1033145" y="1371600"/>
            <a:ext cx="10173335" cy="4526280"/>
          </a:xfrm>
        </p:spPr>
        <p:txBody>
          <a:bodyPr>
            <a:normAutofit lnSpcReduction="20000"/>
          </a:bodyPr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Surgery remains an important therapeutic modality for all cases of peritoneal infection.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Any operation should address the first 2 principles of the treatment of intra-peritoneal infections: 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Early and definitive source control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Purging of bacteria and toxins from the cavity. 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Nonoperative interventional therapies include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percutaneous drainage of abscesses 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>
                <a:latin typeface="Georgia" panose="02040502050405020303" charset="0"/>
                <a:cs typeface="Georgia" panose="02040502050405020303" charset="0"/>
              </a:rPr>
              <a:t>percutaneous and endoscopic stent placements. </a:t>
            </a:r>
            <a:endParaRPr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83298" name="Title 183297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Complications of peritonitis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83299" name="Text Placeholder 183298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Residual abscess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Bacterial septicemia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Bronchopneumonia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Electrolyte imbalance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Renal; failure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Bone marrow suppression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Multi organ failure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Post operative adhesion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Paralytic ileus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81250" name="Title 181249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sz="4000" b="1">
                <a:latin typeface="Georgia" panose="02040502050405020303" charset="0"/>
                <a:cs typeface="Georgia" panose="02040502050405020303" charset="0"/>
              </a:rPr>
              <a:t>Prognosis</a:t>
            </a:r>
            <a:endParaRPr sz="4000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81251" name="Text Placeholder 181250"/>
          <p:cNvSpPr>
            <a:spLocks noGrp="1"/>
          </p:cNvSpPr>
          <p:nvPr>
            <p:ph type="body" idx="1"/>
          </p:nvPr>
        </p:nvSpPr>
        <p:spPr>
          <a:xfrm>
            <a:off x="771525" y="1447800"/>
            <a:ext cx="9439275" cy="4526280"/>
          </a:xfrm>
        </p:spPr>
        <p:txBody>
          <a:bodyPr/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Average mortality=10%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Appendicitis, PUD: 10%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Post operative: 50%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Fecal: 75%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>
              <a:lnSpc>
                <a:spcPct val="90000"/>
              </a:lnSpc>
            </a:pPr>
            <a:r>
              <a:rPr sz="2800">
                <a:latin typeface="Georgia" panose="02040502050405020303" charset="0"/>
                <a:cs typeface="Georgia" panose="02040502050405020303" charset="0"/>
              </a:rPr>
              <a:t>Mortality depends on:</a:t>
            </a:r>
            <a:endParaRPr sz="28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the degree and duration of peritoneal contamination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the age of the patient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The general health of the patient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The nature of the underlying cause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lnSpc>
                <a:spcPct val="90000"/>
              </a:lnSpc>
            </a:pPr>
            <a:endParaRPr sz="24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p>
            <a:pPr lvl="0" eaLnBrk="1" hangingPunct="1"/>
            <a:fld id="{BB962C8B-B14F-4D97-AF65-F5344CB8AC3E}" type="datetime4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41314" name="Title 141313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b="1">
                <a:latin typeface="Georgia" panose="02040502050405020303" charset="0"/>
                <a:cs typeface="Georgia" panose="02040502050405020303" charset="0"/>
              </a:rPr>
              <a:t>References</a:t>
            </a:r>
            <a:endParaRPr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41315" name="Text Placeholder 141314"/>
          <p:cNvSpPr>
            <a:spLocks noGrp="1"/>
          </p:cNvSpPr>
          <p:nvPr>
            <p:ph type="body" idx="1"/>
          </p:nvPr>
        </p:nvSpPr>
        <p:spPr>
          <a:xfrm>
            <a:off x="194945" y="774065"/>
            <a:ext cx="11387455" cy="5353685"/>
          </a:xfrm>
        </p:spPr>
        <p:txBody>
          <a:bodyPr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Intussusception in Ethiopia: Asrat Woldeyes and Tor Von </a:t>
            </a:r>
            <a:r>
              <a:rPr sz="2400" err="1">
                <a:latin typeface="Georgia" panose="02040502050405020303" charset="0"/>
                <a:cs typeface="Georgia" panose="02040502050405020303" charset="0"/>
              </a:rPr>
              <a:t>Schreeb</a:t>
            </a:r>
            <a:r>
              <a:rPr sz="2400">
                <a:latin typeface="Georgia" panose="02040502050405020303" charset="0"/>
                <a:cs typeface="Georgia" panose="02040502050405020303" charset="0"/>
              </a:rPr>
              <a:t>, EMJ 1973.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Pediatric intussusception: Br. J. Surg, 1992, </a:t>
            </a:r>
            <a:r>
              <a:rPr sz="2400" err="1">
                <a:latin typeface="Georgia" panose="02040502050405020303" charset="0"/>
                <a:cs typeface="Georgia" panose="02040502050405020303" charset="0"/>
              </a:rPr>
              <a:t>Vol</a:t>
            </a:r>
            <a:r>
              <a:rPr sz="2400">
                <a:latin typeface="Georgia" panose="02040502050405020303" charset="0"/>
                <a:cs typeface="Georgia" panose="02040502050405020303" charset="0"/>
              </a:rPr>
              <a:t> 79,September 867-876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Peritonitis and Abdominal Sepsis Last : September 29, 2004, Thomas Geniut.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Intussusception, Child Last: June 10, 2005, Beverly P. Wood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sz="2400">
                <a:latin typeface="Georgia" panose="02040502050405020303" charset="0"/>
                <a:cs typeface="Georgia" panose="02040502050405020303" charset="0"/>
              </a:rPr>
              <a:t>Appendicitis, Acute May 26, 2005, Sandy Craig.</a:t>
            </a: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buFont typeface="Wingdings" panose="05000000000000000000" pitchFamily="2" charset="2"/>
              <a:buAutoNum type="arabicPeriod" startAt="6"/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The diagnosis of Acute Abdomen- Text book , Sir Zachary Cope.</a:t>
            </a:r>
            <a:endParaRPr sz="24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buFont typeface="Wingdings" panose="05000000000000000000" pitchFamily="2" charset="2"/>
              <a:buAutoNum type="arabicPeriod" startAt="6"/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Pediatrics, Appendicitis</a:t>
            </a:r>
            <a:r>
              <a:rPr sz="2400" b="1">
                <a:latin typeface="Georgia" panose="02040502050405020303" charset="0"/>
                <a:cs typeface="Georgia" panose="02040502050405020303" charset="0"/>
                <a:sym typeface="+mn-ea"/>
              </a:rPr>
              <a:t>:</a:t>
            </a: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 June 9, 2004, Jeffrey Tucker.</a:t>
            </a:r>
            <a:endParaRPr sz="24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buFont typeface="Wingdings" panose="05000000000000000000" pitchFamily="2" charset="2"/>
              <a:buAutoNum type="arabicPeriod" startAt="6"/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 Surgery international: Acute appendicitis in the child.</a:t>
            </a:r>
            <a:endParaRPr sz="24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buFont typeface="Wingdings" panose="05000000000000000000" pitchFamily="2" charset="2"/>
              <a:buAutoNum type="arabicPeriod" startAt="6"/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Sabiston Text book of surgery</a:t>
            </a:r>
            <a:endParaRPr sz="24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buFont typeface="Wingdings" panose="05000000000000000000" pitchFamily="2" charset="2"/>
              <a:buAutoNum type="arabicPeriod" startAt="6"/>
            </a:pPr>
            <a:r>
              <a:rPr sz="2400">
                <a:latin typeface="Georgia" panose="02040502050405020303" charset="0"/>
                <a:cs typeface="Georgia" panose="02040502050405020303" charset="0"/>
                <a:sym typeface="+mn-ea"/>
              </a:rPr>
              <a:t> Maingot’s, Text book of abdominal surgery</a:t>
            </a:r>
            <a:endParaRPr sz="2400"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609600" indent="-609600">
              <a:buFont typeface="Wingdings" panose="05000000000000000000" pitchFamily="2" charset="2"/>
              <a:buAutoNum type="arabicPeriod" startAt="6"/>
            </a:pPr>
            <a:endParaRPr sz="2400">
              <a:latin typeface="Georgia" panose="02040502050405020303" charset="0"/>
              <a:cs typeface="Georgia" panose="02040502050405020303" charset="0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sz="240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57698" name="Title 157697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sz="6000"/>
              <a:t>Thank you very much!!</a:t>
            </a:r>
            <a:endParaRPr sz="6000"/>
          </a:p>
        </p:txBody>
      </p:sp>
      <p:pic>
        <p:nvPicPr>
          <p:cNvPr id="157699" name="Content Placeholder 157698" descr="garfiel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33763" y="1684338"/>
            <a:ext cx="5002212" cy="4273550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AA MICHAEL</a:t>
            </a:r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13623</Words>
  <Application>WPS Presentation</Application>
  <PresentationFormat>Widescreen</PresentationFormat>
  <Paragraphs>1030</Paragraphs>
  <Slides>52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52</vt:i4>
      </vt:variant>
    </vt:vector>
  </HeadingPairs>
  <TitlesOfParts>
    <vt:vector size="7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Georgia</vt:lpstr>
      <vt:lpstr>Monotype Sorts</vt:lpstr>
      <vt:lpstr>Wingdings</vt:lpstr>
      <vt:lpstr>Times New Roman</vt:lpstr>
      <vt:lpstr>Arial Black</vt:lpstr>
      <vt:lpstr>MS UI Gothic</vt:lpstr>
      <vt:lpstr>Gear Drives</vt:lpstr>
      <vt:lpstr>Paint.Picture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Abdominal Pain by Predominant Age </vt:lpstr>
      <vt:lpstr>Abdominal Pain by Predominant Age </vt:lpstr>
      <vt:lpstr>PowerPoint 演示文稿</vt:lpstr>
      <vt:lpstr>Acute appendicitis: Introduction</vt:lpstr>
      <vt:lpstr>Incidence</vt:lpstr>
      <vt:lpstr>Pathophysiology</vt:lpstr>
      <vt:lpstr>Clinical presentation</vt:lpstr>
      <vt:lpstr>Physical findings</vt:lpstr>
      <vt:lpstr>PowerPoint 演示文稿</vt:lpstr>
      <vt:lpstr>Laboratory studies</vt:lpstr>
      <vt:lpstr>Imaging: Graded compression Ultra sound</vt:lpstr>
      <vt:lpstr>The MANTRELS score</vt:lpstr>
      <vt:lpstr>Management</vt:lpstr>
      <vt:lpstr>Complications  </vt:lpstr>
      <vt:lpstr>PowerPoint 演示文稿</vt:lpstr>
      <vt:lpstr>Intussusception: Introduction</vt:lpstr>
      <vt:lpstr>Ethiopia</vt:lpstr>
      <vt:lpstr>Types: Ethiopia</vt:lpstr>
      <vt:lpstr>Etiology</vt:lpstr>
      <vt:lpstr>Clinical findings </vt:lpstr>
      <vt:lpstr>Management</vt:lpstr>
      <vt:lpstr>Management</vt:lpstr>
      <vt:lpstr>Prognosis</vt:lpstr>
      <vt:lpstr>Peritonitis</vt:lpstr>
      <vt:lpstr>Paths of bacterial invasion</vt:lpstr>
      <vt:lpstr>Microbiology</vt:lpstr>
      <vt:lpstr>Natural history </vt:lpstr>
      <vt:lpstr>Clinical features: History</vt:lpstr>
      <vt:lpstr>Clinical features: Physical</vt:lpstr>
      <vt:lpstr>Lab studies</vt:lpstr>
      <vt:lpstr>Imaging studies: Auxiliary</vt:lpstr>
      <vt:lpstr>Treatment</vt:lpstr>
      <vt:lpstr>Preoperative preparation</vt:lpstr>
      <vt:lpstr>Antibiotic therapy</vt:lpstr>
      <vt:lpstr>Surgery</vt:lpstr>
      <vt:lpstr>Complications of peritonitis</vt:lpstr>
      <vt:lpstr>Prognosis</vt:lpstr>
      <vt:lpstr>References</vt:lpstr>
      <vt:lpstr>Thank you very much!!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Acute abdomen in children</dc:title>
  <dc:creator/>
  <cp:lastModifiedBy>user</cp:lastModifiedBy>
  <cp:revision>1</cp:revision>
  <dcterms:created xsi:type="dcterms:W3CDTF">2024-11-06T21:05:09Z</dcterms:created>
  <dcterms:modified xsi:type="dcterms:W3CDTF">2024-11-06T21:05:09Z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A0C988647FE44F718A287F7984CF7F9C_11</vt:lpwstr>
  </property>
  <property fmtid="{D5CDD505-2E9C-101B-9397-08002B2CF9AE}" pid="3" name="KSOProductBuildVer">
    <vt:lpwstr>1033-12.2.0.18607</vt:lpwstr>
  </property>
</Properties>
</file>