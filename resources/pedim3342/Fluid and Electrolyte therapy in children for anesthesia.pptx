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Default Extension="doc" ContentType="application/msword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notesSlides/notesSlide18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7"/>
  </p:notesMasterIdLst>
  <p:sldIdLst>
    <p:sldId id="256" r:id="rId2"/>
    <p:sldId id="261" r:id="rId3"/>
    <p:sldId id="257" r:id="rId4"/>
    <p:sldId id="262" r:id="rId5"/>
    <p:sldId id="260" r:id="rId6"/>
    <p:sldId id="393" r:id="rId7"/>
    <p:sldId id="263" r:id="rId8"/>
    <p:sldId id="258" r:id="rId9"/>
    <p:sldId id="274" r:id="rId10"/>
    <p:sldId id="259" r:id="rId11"/>
    <p:sldId id="264" r:id="rId12"/>
    <p:sldId id="391" r:id="rId13"/>
    <p:sldId id="402" r:id="rId14"/>
    <p:sldId id="404" r:id="rId15"/>
    <p:sldId id="405" r:id="rId16"/>
    <p:sldId id="406" r:id="rId17"/>
    <p:sldId id="426" r:id="rId18"/>
    <p:sldId id="407" r:id="rId19"/>
    <p:sldId id="408" r:id="rId20"/>
    <p:sldId id="409" r:id="rId21"/>
    <p:sldId id="410" r:id="rId22"/>
    <p:sldId id="412" r:id="rId23"/>
    <p:sldId id="413" r:id="rId24"/>
    <p:sldId id="427" r:id="rId25"/>
    <p:sldId id="418" r:id="rId26"/>
    <p:sldId id="419" r:id="rId27"/>
    <p:sldId id="420" r:id="rId28"/>
    <p:sldId id="421" r:id="rId29"/>
    <p:sldId id="422" r:id="rId30"/>
    <p:sldId id="423" r:id="rId31"/>
    <p:sldId id="424" r:id="rId32"/>
    <p:sldId id="425" r:id="rId33"/>
    <p:sldId id="417" r:id="rId34"/>
    <p:sldId id="392" r:id="rId35"/>
    <p:sldId id="266" r:id="rId36"/>
    <p:sldId id="269" r:id="rId37"/>
    <p:sldId id="401" r:id="rId38"/>
    <p:sldId id="271" r:id="rId39"/>
    <p:sldId id="279" r:id="rId40"/>
    <p:sldId id="294" r:id="rId41"/>
    <p:sldId id="296" r:id="rId42"/>
    <p:sldId id="285" r:id="rId43"/>
    <p:sldId id="290" r:id="rId44"/>
    <p:sldId id="382" r:id="rId45"/>
    <p:sldId id="383" r:id="rId46"/>
    <p:sldId id="384" r:id="rId47"/>
    <p:sldId id="291" r:id="rId48"/>
    <p:sldId id="297" r:id="rId49"/>
    <p:sldId id="398" r:id="rId50"/>
    <p:sldId id="293" r:id="rId51"/>
    <p:sldId id="385" r:id="rId52"/>
    <p:sldId id="400" r:id="rId53"/>
    <p:sldId id="377" r:id="rId54"/>
    <p:sldId id="386" r:id="rId55"/>
    <p:sldId id="388" r:id="rId56"/>
    <p:sldId id="299" r:id="rId57"/>
    <p:sldId id="312" r:id="rId58"/>
    <p:sldId id="310" r:id="rId59"/>
    <p:sldId id="311" r:id="rId60"/>
    <p:sldId id="306" r:id="rId61"/>
    <p:sldId id="307" r:id="rId62"/>
    <p:sldId id="308" r:id="rId63"/>
    <p:sldId id="301" r:id="rId64"/>
    <p:sldId id="313" r:id="rId65"/>
    <p:sldId id="314" r:id="rId66"/>
    <p:sldId id="316" r:id="rId67"/>
    <p:sldId id="390" r:id="rId68"/>
    <p:sldId id="317" r:id="rId69"/>
    <p:sldId id="315" r:id="rId70"/>
    <p:sldId id="318" r:id="rId71"/>
    <p:sldId id="323" r:id="rId72"/>
    <p:sldId id="321" r:id="rId73"/>
    <p:sldId id="319" r:id="rId74"/>
    <p:sldId id="320" r:id="rId75"/>
    <p:sldId id="341" r:id="rId76"/>
    <p:sldId id="342" r:id="rId77"/>
    <p:sldId id="286" r:id="rId78"/>
    <p:sldId id="343" r:id="rId79"/>
    <p:sldId id="352" r:id="rId80"/>
    <p:sldId id="353" r:id="rId81"/>
    <p:sldId id="355" r:id="rId82"/>
    <p:sldId id="356" r:id="rId83"/>
    <p:sldId id="357" r:id="rId84"/>
    <p:sldId id="358" r:id="rId85"/>
    <p:sldId id="348" r:id="rId86"/>
    <p:sldId id="359" r:id="rId87"/>
    <p:sldId id="360" r:id="rId88"/>
    <p:sldId id="361" r:id="rId89"/>
    <p:sldId id="365" r:id="rId90"/>
    <p:sldId id="367" r:id="rId91"/>
    <p:sldId id="363" r:id="rId92"/>
    <p:sldId id="364" r:id="rId93"/>
    <p:sldId id="368" r:id="rId94"/>
    <p:sldId id="372" r:id="rId95"/>
    <p:sldId id="373" r:id="rId9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2" autoAdjust="0"/>
    <p:restoredTop sz="83452" autoAdjust="0"/>
  </p:normalViewPr>
  <p:slideViewPr>
    <p:cSldViewPr>
      <p:cViewPr varScale="1">
        <p:scale>
          <a:sx n="64" d="100"/>
          <a:sy n="64" d="100"/>
        </p:scale>
        <p:origin x="-134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" y="108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D5074-3DAD-413B-8043-B4C8B53E2917}" type="datetimeFigureOut">
              <a:rPr lang="en-US" smtClean="0"/>
              <a:pPr/>
              <a:t>9/11/2024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42601-06BA-43A1-BD7F-73F6D7C6493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494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CCC234-BB4C-4513-9000-6C70137950A5}" type="slidenum">
              <a:rPr lang="en-US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 smtClean="0"/>
          </a:p>
        </p:txBody>
      </p:sp>
      <p:sp>
        <p:nvSpPr>
          <p:cNvPr id="51204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DB0180-3694-4AAC-8193-0FB2F80BD5B0}" type="slidenum">
              <a:rPr lang="en-US" altLang="en-US"/>
              <a:pPr/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2601-06BA-43A1-BD7F-73F6D7C6493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1824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2601-06BA-43A1-BD7F-73F6D7C6493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21065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2601-06BA-43A1-BD7F-73F6D7C64930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74851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A1FC80-C413-4FC5-B094-CE26DF6D9E1F}" type="slidenum">
              <a:rPr lang="en-GB">
                <a:solidFill>
                  <a:prstClr val="black"/>
                </a:solidFill>
              </a:rPr>
              <a:pPr/>
              <a:t>43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2601-06BA-43A1-BD7F-73F6D7C64930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29943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2601-06BA-43A1-BD7F-73F6D7C64930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22466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B66AE3-CAE7-423D-9837-348D265A6C42}" type="slidenum">
              <a:rPr lang="en-GB"/>
              <a:pPr/>
              <a:t>48</a:t>
            </a:fld>
            <a:endParaRPr lang="en-GB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2601-06BA-43A1-BD7F-73F6D7C64930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23263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2601-06BA-43A1-BD7F-73F6D7C64930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73720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2601-06BA-43A1-BD7F-73F6D7C64930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1099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2601-06BA-43A1-BD7F-73F6D7C64930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93584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2601-06BA-43A1-BD7F-73F6D7C64930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49906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755198-A1F4-44AD-B9AC-9EB009F8A742}" type="slidenum">
              <a:rPr lang="en-GB"/>
              <a:pPr/>
              <a:t>58</a:t>
            </a:fld>
            <a:endParaRPr lang="en-GB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A5A09BE-397C-4A57-9278-62935DB08FFF}" type="slidenum">
              <a:rPr lang="en-GB"/>
              <a:pPr/>
              <a:t>59</a:t>
            </a:fld>
            <a:endParaRPr lang="en-GB"/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169583-CEB0-4D37-826A-47C2094E008B}" type="slidenum">
              <a:rPr lang="en-GB">
                <a:solidFill>
                  <a:prstClr val="black"/>
                </a:solidFill>
              </a:rPr>
              <a:pPr/>
              <a:t>66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05BE89-3AF5-4814-AD29-F207E43A0109}" type="slidenum">
              <a:rPr lang="en-GB"/>
              <a:pPr/>
              <a:t>68</a:t>
            </a:fld>
            <a:endParaRPr lang="en-GB"/>
          </a:p>
        </p:txBody>
      </p:sp>
      <p:sp>
        <p:nvSpPr>
          <p:cNvPr id="202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1D25B94-B09A-4E66-BD77-202C633C98F0}" type="slidenum">
              <a:rPr lang="en-GB"/>
              <a:pPr/>
              <a:t>72</a:t>
            </a:fld>
            <a:endParaRPr lang="en-GB"/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F08366-BEDB-48A3-89A6-17F50F1AE5D6}" type="slidenum">
              <a:rPr lang="en-GB"/>
              <a:pPr/>
              <a:t>75</a:t>
            </a:fld>
            <a:endParaRPr lang="en-GB"/>
          </a:p>
        </p:txBody>
      </p:sp>
      <p:sp>
        <p:nvSpPr>
          <p:cNvPr id="20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D12490-5407-4D6E-AD15-026B8F704EB5}" type="slidenum">
              <a:rPr lang="en-GB"/>
              <a:pPr/>
              <a:t>76</a:t>
            </a:fld>
            <a:endParaRPr lang="en-GB"/>
          </a:p>
        </p:txBody>
      </p:sp>
      <p:sp>
        <p:nvSpPr>
          <p:cNvPr id="20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AEBC71-06FD-40F2-BCD3-361E50788C0E}" type="slidenum">
              <a:rPr lang="en-GB"/>
              <a:pPr/>
              <a:t>78</a:t>
            </a:fld>
            <a:endParaRPr lang="en-GB"/>
          </a:p>
        </p:txBody>
      </p:sp>
      <p:sp>
        <p:nvSpPr>
          <p:cNvPr id="208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2601-06BA-43A1-BD7F-73F6D7C64930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13681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042601-06BA-43A1-BD7F-73F6D7C64930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277313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2650E8-B50D-4D41-A9C6-690F962A6795}" type="slidenum">
              <a:rPr lang="en-GB">
                <a:solidFill>
                  <a:prstClr val="black"/>
                </a:solidFill>
              </a:rPr>
              <a:pPr/>
              <a:t>90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21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8EB78A-AC1E-4675-9F12-CD806588714C}" type="slidenum">
              <a:rPr lang="en-GB">
                <a:solidFill>
                  <a:prstClr val="black"/>
                </a:solidFill>
              </a:rPr>
              <a:pPr/>
              <a:t>91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EA8A17A3-129B-4E4F-A9CA-CC3BE3EB417F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r>
              <a:rPr lang="en-US" smtClean="0">
                <a:solidFill>
                  <a:srgbClr val="575F6D"/>
                </a:solidFill>
              </a:rPr>
              <a:t>22</a:t>
            </a:r>
            <a:endParaRPr lang="en-US">
              <a:solidFill>
                <a:srgbClr val="575F6D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345EA4B6-D28D-4C71-A1C9-F73745D0A1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683353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87F2932-F5D5-4412-8CC0-34789D239ACD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45EA4B6-D28D-4C71-A1C9-F73745D0A1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en-US" smtClean="0">
                <a:solidFill>
                  <a:srgbClr val="575F6D"/>
                </a:solidFill>
              </a:rPr>
              <a:t>22</a:t>
            </a:r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39244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F7B3E2F8-F555-489D-8E73-AB2061F45E74}" type="datetime1">
              <a:rPr lang="en-US" smtClean="0">
                <a:solidFill>
                  <a:srgbClr val="FFF39D"/>
                </a:solidFill>
              </a:rPr>
              <a:t>9/11/2024</a:t>
            </a:fld>
            <a:endParaRPr lang="en-US">
              <a:solidFill>
                <a:srgbClr val="FFF39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r>
              <a:rPr lang="en-US" smtClean="0">
                <a:solidFill>
                  <a:srgbClr val="FFF39D"/>
                </a:solidFill>
              </a:rPr>
              <a:t>22</a:t>
            </a:r>
            <a:endParaRPr lang="en-US">
              <a:solidFill>
                <a:srgbClr val="FFF39D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45EA4B6-D28D-4C71-A1C9-F73745D0A1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994520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D870-FD79-4E8C-B020-36BD3EAB0E60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575F6D"/>
                </a:solidFill>
              </a:rPr>
              <a:t>22</a:t>
            </a:r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="" xmlns:p14="http://schemas.microsoft.com/office/powerpoint/2010/main" val="3577795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5EA76-AEFA-4A23-95BF-429564BE751A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575F6D"/>
                </a:solidFill>
              </a:rPr>
              <a:t>22</a:t>
            </a:r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="" xmlns:p14="http://schemas.microsoft.com/office/powerpoint/2010/main" val="349929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0455202-B7BF-4899-824B-02622EC2BA9B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45EA4B6-D28D-4C71-A1C9-F73745D0A1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>
                <a:solidFill>
                  <a:srgbClr val="575F6D"/>
                </a:solidFill>
              </a:rPr>
              <a:t>22</a:t>
            </a:r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1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8885B-6BE0-4F0D-9614-EC29531DD9B6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575F6D"/>
                </a:solidFill>
              </a:rPr>
              <a:t>22</a:t>
            </a:r>
            <a:endParaRPr lang="en-US">
              <a:solidFill>
                <a:srgbClr val="575F6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41222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B956648D-F656-4C15-9331-005B164493EA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45EA4B6-D28D-4C71-A1C9-F73745D0A1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en-US" smtClean="0">
                <a:solidFill>
                  <a:srgbClr val="575F6D"/>
                </a:solidFill>
              </a:rPr>
              <a:t>22</a:t>
            </a:r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943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DB04A90-0E34-41C6-80AA-7267F198E47D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45EA4B6-D28D-4C71-A1C9-F73745D0A1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>
                <a:solidFill>
                  <a:srgbClr val="575F6D"/>
                </a:solidFill>
              </a:rPr>
              <a:t>22</a:t>
            </a:r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38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7CD4C-5FA0-4B60-8252-23062876538C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575F6D"/>
                </a:solidFill>
              </a:rPr>
              <a:t>22</a:t>
            </a:r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91838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D84F-1815-40FB-B434-6AD8F068D999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575F6D"/>
                </a:solidFill>
              </a:rPr>
              <a:t>22</a:t>
            </a:r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4177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3592FDB8-A4E1-4C19-B05B-51F526BFAEB4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r>
              <a:rPr lang="en-US" smtClean="0">
                <a:solidFill>
                  <a:srgbClr val="575F6D"/>
                </a:solidFill>
              </a:rPr>
              <a:t>22</a:t>
            </a:r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45EA4B6-D28D-4C71-A1C9-F73745D0A1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04328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Word_97_-_2003_Document1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295400"/>
            <a:ext cx="68580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Fluid and Electrolyte Disorders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A03-EB07-4E42-8F59-073B06E0A741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99418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Body Water-TBW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TBW as a percentage of body weight varies with age.</a:t>
            </a:r>
          </a:p>
          <a:p>
            <a:r>
              <a:rPr lang="en-US" dirty="0"/>
              <a:t> Term Neonate has high TBW- 75% of birth weight.</a:t>
            </a:r>
          </a:p>
          <a:p>
            <a:r>
              <a:rPr lang="en-US" dirty="0"/>
              <a:t>Premature infants have higher TBW than term infants.</a:t>
            </a:r>
          </a:p>
          <a:p>
            <a:endParaRPr lang="en-US" dirty="0"/>
          </a:p>
          <a:p>
            <a:r>
              <a:rPr lang="en-US" dirty="0"/>
              <a:t>During the 1st </a:t>
            </a:r>
            <a:r>
              <a:rPr lang="en-US" dirty="0" err="1"/>
              <a:t>yr</a:t>
            </a:r>
            <a:r>
              <a:rPr lang="en-US" dirty="0"/>
              <a:t> of life, TBW decreases to 60% of body weight and remains at this level until puberty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0A2E9B-DF7F-4D7C-8B17-23788A0FB4AE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8355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8000999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E1DEBF0-0A33-4249-9D03-045877C8F50A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90143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Fluid Compartments..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TBW  has 2 main compartments:- </a:t>
            </a:r>
            <a:r>
              <a:rPr lang="en-US" dirty="0" smtClean="0"/>
              <a:t>Intracellular fluid(ICF) and extracellular fluid (ECF).</a:t>
            </a:r>
            <a:endParaRPr lang="en-US" dirty="0"/>
          </a:p>
          <a:p>
            <a:r>
              <a:rPr lang="en-US" dirty="0"/>
              <a:t>In the fetus and newborn, the ECF volume is larger.</a:t>
            </a:r>
          </a:p>
          <a:p>
            <a:r>
              <a:rPr lang="en-US" dirty="0"/>
              <a:t>By 1 </a:t>
            </a:r>
            <a:r>
              <a:rPr lang="en-US" dirty="0" err="1"/>
              <a:t>yr</a:t>
            </a:r>
            <a:r>
              <a:rPr lang="en-US" dirty="0"/>
              <a:t> of age, the ratio of ICF volume to ECF volume approaches adult levels.</a:t>
            </a:r>
          </a:p>
          <a:p>
            <a:r>
              <a:rPr lang="en-US" dirty="0"/>
              <a:t>The ECF volume is approximately 20–25% of body weight, </a:t>
            </a:r>
          </a:p>
          <a:p>
            <a:r>
              <a:rPr lang="en-US" dirty="0"/>
              <a:t>The ICF volume is approximately 30–40% of body weight, close to twice the ECF volume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CC1AE0-E14C-4D81-A900-384F9F3AAAF8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31905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dirty="0"/>
              <a:t>Fluid Compartment 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30312"/>
            <a:ext cx="7315200" cy="5537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E3E80CF-6159-4ECF-834F-44746A46230F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0340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delicate equilibrium between the intravascular fluid and the interstitial fluid exists.</a:t>
            </a:r>
          </a:p>
          <a:p>
            <a:r>
              <a:rPr lang="en-US" dirty="0"/>
              <a:t>The balance between hydrostatic and oncotic forces regulates the intravascular volume.</a:t>
            </a:r>
          </a:p>
          <a:p>
            <a:r>
              <a:rPr lang="en-US" dirty="0"/>
              <a:t>There is usually a net movement of fluid out of the intravascular space to the interstitial space</a:t>
            </a:r>
            <a:r>
              <a:rPr lang="en-US" sz="3200" dirty="0"/>
              <a:t>,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BAEB7E5-7631-4A16-91EA-52DB37CCFA17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32958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Electrolyte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composition of the solutes in the ICF and ECF are very different.</a:t>
            </a:r>
          </a:p>
          <a:p>
            <a:r>
              <a:rPr lang="en-US" dirty="0"/>
              <a:t> Na+ and </a:t>
            </a:r>
            <a:r>
              <a:rPr lang="en-US" dirty="0" err="1"/>
              <a:t>Cl</a:t>
            </a:r>
            <a:r>
              <a:rPr lang="en-US" dirty="0"/>
              <a:t>− are the dominant </a:t>
            </a:r>
            <a:r>
              <a:rPr lang="en-US" dirty="0" err="1"/>
              <a:t>cation</a:t>
            </a:r>
            <a:r>
              <a:rPr lang="en-US" dirty="0"/>
              <a:t> and anion, respectively,  in the ECF. </a:t>
            </a:r>
          </a:p>
          <a:p>
            <a:r>
              <a:rPr lang="en-US" dirty="0"/>
              <a:t>Potassium (K+ ) is the most abundant </a:t>
            </a:r>
            <a:r>
              <a:rPr lang="en-US" dirty="0" err="1"/>
              <a:t>cation</a:t>
            </a:r>
            <a:r>
              <a:rPr lang="en-US" dirty="0"/>
              <a:t> in the ICF.</a:t>
            </a:r>
          </a:p>
          <a:p>
            <a:r>
              <a:rPr lang="en-US" dirty="0"/>
              <a:t>Proteins, organic anions, and phosphate are the most plentiful anions in the ICF.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5D65A1B-D6B4-429F-A392-7E1B19C039A5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49342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Electrolyte Composition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47800"/>
            <a:ext cx="6934200" cy="4560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B9548B5-C482-41DE-B674-DDD792ABAE55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24062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800"/>
              <a:t>Electrolyte Functions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371600"/>
            <a:ext cx="8497888" cy="4535487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/>
              <a:t>Regulate water distribution</a:t>
            </a:r>
          </a:p>
          <a:p>
            <a:pPr eaLnBrk="1" hangingPunct="1"/>
            <a:r>
              <a:rPr lang="en-US" sz="2800" dirty="0"/>
              <a:t>Muscle contraction</a:t>
            </a:r>
          </a:p>
          <a:p>
            <a:pPr eaLnBrk="1" hangingPunct="1"/>
            <a:r>
              <a:rPr lang="en-US" sz="2800" dirty="0"/>
              <a:t>Nerve impulse transmission</a:t>
            </a:r>
          </a:p>
          <a:p>
            <a:pPr eaLnBrk="1" hangingPunct="1"/>
            <a:r>
              <a:rPr lang="en-US" sz="2800" dirty="0"/>
              <a:t>Blood clotting</a:t>
            </a:r>
          </a:p>
          <a:p>
            <a:pPr eaLnBrk="1" hangingPunct="1"/>
            <a:r>
              <a:rPr lang="en-US" sz="2800" dirty="0"/>
              <a:t>Regulate enzyme reactions (ATP)</a:t>
            </a:r>
          </a:p>
          <a:p>
            <a:pPr eaLnBrk="1" hangingPunct="1"/>
            <a:r>
              <a:rPr lang="en-US" sz="2800" dirty="0"/>
              <a:t>Regulate acid-base balance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B8F996-FE32-443C-BA12-E5DAB944AD82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600119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Osmolality…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ICF and the ECF are in osmotic equilibrium.</a:t>
            </a:r>
          </a:p>
          <a:p>
            <a:r>
              <a:rPr lang="en-US" dirty="0"/>
              <a:t>If the osmolality in 1 compartment changes, then water movement leads to a rapid equalization of osmolality.</a:t>
            </a:r>
          </a:p>
          <a:p>
            <a:endParaRPr lang="en-US" dirty="0"/>
          </a:p>
          <a:p>
            <a:r>
              <a:rPr lang="en-US" dirty="0"/>
              <a:t>The ECF osmolality can be determined and usually equals ICF osmolality.</a:t>
            </a:r>
          </a:p>
          <a:p>
            <a:endParaRPr lang="en-US" dirty="0"/>
          </a:p>
          <a:p>
            <a:r>
              <a:rPr lang="en-US" dirty="0"/>
              <a:t>The Plasma osmolality is normally 285-295 </a:t>
            </a:r>
            <a:r>
              <a:rPr lang="en-US" dirty="0" err="1"/>
              <a:t>mOsm</a:t>
            </a:r>
            <a:r>
              <a:rPr lang="en-US" dirty="0"/>
              <a:t>/kg.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C58619C-356D-481A-86AE-313C1F1E50B7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74551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Plasma Osmolality 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52600"/>
            <a:ext cx="5897336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971800"/>
            <a:ext cx="57150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4930302-B377-41E8-9632-34B18E7F4B36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901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Hyperglycemia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dirty="0" err="1"/>
              <a:t>Hyponatremia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4937760"/>
          </a:xfrm>
        </p:spPr>
        <p:txBody>
          <a:bodyPr/>
          <a:lstStyle/>
          <a:p>
            <a:r>
              <a:rPr lang="en-US" dirty="0"/>
              <a:t>Hyperglycemia causes an increase in the plasma osmolality.</a:t>
            </a:r>
          </a:p>
          <a:p>
            <a:r>
              <a:rPr lang="en-US" dirty="0"/>
              <a:t>Dilution of the Na+ in the ECS.</a:t>
            </a:r>
          </a:p>
          <a:p>
            <a:r>
              <a:rPr lang="en-US" dirty="0" err="1"/>
              <a:t>Hyponatremia</a:t>
            </a:r>
            <a:r>
              <a:rPr lang="en-US" dirty="0"/>
              <a:t> despite elevated plasma osmolality</a:t>
            </a:r>
          </a:p>
          <a:p>
            <a:r>
              <a:rPr lang="en-US" dirty="0"/>
              <a:t>The [Na]corrected is the more reliable indicator of the ratio of total body Na+ to TBW.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495800"/>
            <a:ext cx="7148513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8B6C392-1154-48B7-B317-726DB4340617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33251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Maintenance fluid and electrolyte needs</a:t>
            </a:r>
          </a:p>
        </p:txBody>
      </p:sp>
      <p:sp>
        <p:nvSpPr>
          <p:cNvPr id="31748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33400" indent="-533400" eaLnBrk="1" hangingPunct="1">
              <a:buNone/>
            </a:pPr>
            <a:endParaRPr lang="en-US" altLang="en-US" sz="3200" dirty="0" smtClean="0"/>
          </a:p>
          <a:p>
            <a:pPr marL="533400" indent="-533400" eaLnBrk="1" hangingPunct="1"/>
            <a:r>
              <a:rPr lang="en-US" altLang="en-US" dirty="0" smtClean="0"/>
              <a:t>Maintenance </a:t>
            </a:r>
            <a:r>
              <a:rPr lang="en-US" altLang="en-US" dirty="0" smtClean="0"/>
              <a:t>fluid needs: the quantity of intake that will provide the fluid necessary to match fluid losses. </a:t>
            </a:r>
          </a:p>
          <a:p>
            <a:pPr marL="533400" indent="-533400" eaLnBrk="1" hangingPunct="1"/>
            <a:r>
              <a:rPr lang="en-US" altLang="en-US" dirty="0" smtClean="0"/>
              <a:t>Maintenance fluids should contain water, glucose, Na+ and K+</a:t>
            </a:r>
          </a:p>
          <a:p>
            <a:pPr marL="533400" indent="-533400" eaLnBrk="1" hangingPunct="1">
              <a:buFont typeface="Wingdings" pitchFamily="2" charset="2"/>
              <a:buNone/>
            </a:pPr>
            <a:endParaRPr lang="en-US" altLang="en-US" dirty="0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378143-D39C-4E0F-B09A-A0C460C8B525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Goals of maintenance fluids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3600" smtClean="0"/>
              <a:t>Prevent dehydration </a:t>
            </a:r>
          </a:p>
          <a:p>
            <a:r>
              <a:rPr lang="en-US" altLang="en-US" sz="3600" smtClean="0"/>
              <a:t>Prevent electrolyte disorders </a:t>
            </a:r>
          </a:p>
          <a:p>
            <a:r>
              <a:rPr lang="en-US" altLang="en-US" sz="3600" smtClean="0"/>
              <a:t>Prevent ketoacidosis </a:t>
            </a:r>
          </a:p>
          <a:p>
            <a:r>
              <a:rPr lang="en-US" altLang="en-US" sz="3600" smtClean="0"/>
              <a:t> Prevent protein degradation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E987999-FE89-48AB-9ABD-5EC4F2A3AB00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800" smtClean="0"/>
              <a:t>Composition of Intravenous Solutions in mEq/l</a:t>
            </a:r>
            <a:br>
              <a:rPr lang="en-US" altLang="en-US" sz="2800" smtClean="0"/>
            </a:br>
            <a:endParaRPr lang="en-US" altLang="en-US" sz="2800" smtClean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ph sz="quarter" idx="1"/>
          </p:nvPr>
        </p:nvGraphicFramePr>
        <p:xfrm>
          <a:off x="228600" y="1676400"/>
          <a:ext cx="8763001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/>
                <a:gridCol w="1143000"/>
                <a:gridCol w="914400"/>
                <a:gridCol w="914400"/>
                <a:gridCol w="1295400"/>
                <a:gridCol w="1219201"/>
              </a:tblGrid>
              <a:tr h="762000">
                <a:tc>
                  <a:txBody>
                    <a:bodyPr/>
                    <a:lstStyle/>
                    <a:p>
                      <a:r>
                        <a:rPr lang="en-US" sz="2800" dirty="0"/>
                        <a:t>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Na+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K+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Cl-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Ca++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lactate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2800" dirty="0"/>
                        <a:t>0.9% NaCl (NS)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-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2800" dirty="0"/>
                        <a:t>0.45% NaCl (half 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-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2800" dirty="0"/>
                        <a:t>0.2% NaCl (NS)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US" sz="2800" dirty="0"/>
                        <a:t>Ringers lactate (RL)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F6D695D-F4CA-4394-B18E-C14EEAC32E07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Maintenance requirements</a:t>
            </a:r>
          </a:p>
        </p:txBody>
      </p:sp>
      <p:sp>
        <p:nvSpPr>
          <p:cNvPr id="38916" name="Rectangle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altLang="en-US" dirty="0" smtClean="0"/>
          </a:p>
          <a:p>
            <a:pPr eaLnBrk="1" hangingPunct="1">
              <a:lnSpc>
                <a:spcPct val="80000"/>
              </a:lnSpc>
            </a:pPr>
            <a:endParaRPr lang="en-US" altLang="en-US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en-US" dirty="0" smtClean="0"/>
              <a:t>Maintenance Fluids: weight dependent &amp; age dependent: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 smtClean="0"/>
              <a:t>Isotonic fluids with 5% dextrose are recommended as standard maintenance fluid except in neonates.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 smtClean="0"/>
              <a:t>Isotonic fluid:D5 +NS + 10-20 </a:t>
            </a:r>
            <a:r>
              <a:rPr lang="en-US" altLang="en-US" dirty="0" err="1" smtClean="0"/>
              <a:t>mEq</a:t>
            </a:r>
            <a:r>
              <a:rPr lang="en-US" altLang="en-US" dirty="0" smtClean="0"/>
              <a:t> </a:t>
            </a:r>
            <a:r>
              <a:rPr lang="en-US" altLang="en-US" dirty="0" err="1" smtClean="0"/>
              <a:t>KCl</a:t>
            </a:r>
            <a:r>
              <a:rPr lang="en-US" altLang="en-US" dirty="0" smtClean="0"/>
              <a:t> </a:t>
            </a:r>
          </a:p>
          <a:p>
            <a:pPr eaLnBrk="1" hangingPunct="1">
              <a:lnSpc>
                <a:spcPct val="80000"/>
              </a:lnSpc>
              <a:buNone/>
            </a:pPr>
            <a:endParaRPr lang="en-US" altLang="en-US" sz="3200" dirty="0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006FD8E-6744-44F7-AEBF-96FBF7B41AB8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Maintenance fluid and electrolyte needs</a:t>
            </a:r>
          </a:p>
        </p:txBody>
      </p:sp>
      <p:graphicFrame>
        <p:nvGraphicFramePr>
          <p:cNvPr id="32772" name="Object 3"/>
          <p:cNvGraphicFramePr>
            <a:graphicFrameLocks noChangeAspect="1"/>
          </p:cNvGraphicFramePr>
          <p:nvPr>
            <p:ph sz="quarter" idx="1"/>
          </p:nvPr>
        </p:nvGraphicFramePr>
        <p:xfrm>
          <a:off x="920750" y="1708150"/>
          <a:ext cx="7759700" cy="4051300"/>
        </p:xfrm>
        <a:graphic>
          <a:graphicData uri="http://schemas.openxmlformats.org/presentationml/2006/ole">
            <p:oleObj spid="_x0000_s5122" name="Document" r:id="rId3" imgW="7715158" imgH="4000359" progId="Word.Document.8">
              <p:embed/>
            </p:oleObj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D2E7A8-34AC-4942-AF64-980DC76CD9F0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Replacement of ongoing losses in diarrhea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2800" dirty="0" smtClean="0"/>
              <a:t>In diarrheal disease (expected losses Na+55 </a:t>
            </a:r>
            <a:r>
              <a:rPr lang="en-US" altLang="en-US" sz="2800" dirty="0" err="1" smtClean="0"/>
              <a:t>mEq</a:t>
            </a:r>
            <a:r>
              <a:rPr lang="en-US" altLang="en-US" sz="2800" dirty="0" smtClean="0"/>
              <a:t>/L, K+ 25 </a:t>
            </a:r>
            <a:r>
              <a:rPr lang="en-US" altLang="en-US" sz="2800" dirty="0" err="1" smtClean="0"/>
              <a:t>mEq</a:t>
            </a:r>
            <a:r>
              <a:rPr lang="en-US" altLang="en-US" sz="2800" dirty="0" smtClean="0"/>
              <a:t>/L, HCO3 15 </a:t>
            </a:r>
            <a:r>
              <a:rPr lang="en-US" altLang="en-US" sz="2800" dirty="0" err="1" smtClean="0"/>
              <a:t>mEq</a:t>
            </a:r>
            <a:r>
              <a:rPr lang="en-US" altLang="en-US" sz="2800" dirty="0" smtClean="0"/>
              <a:t>/L)</a:t>
            </a:r>
          </a:p>
          <a:p>
            <a:r>
              <a:rPr lang="en-US" altLang="en-US" sz="2800" dirty="0" smtClean="0"/>
              <a:t>Fluid of choice ORS</a:t>
            </a:r>
          </a:p>
          <a:p>
            <a:r>
              <a:rPr lang="en-US" altLang="en-US" sz="2800" dirty="0" smtClean="0"/>
              <a:t>If IV: D5+half NS+30 </a:t>
            </a:r>
            <a:r>
              <a:rPr lang="en-US" altLang="en-US" sz="2800" dirty="0" err="1" smtClean="0"/>
              <a:t>mEq</a:t>
            </a:r>
            <a:r>
              <a:rPr lang="en-US" altLang="en-US" sz="2800" dirty="0" smtClean="0"/>
              <a:t> HCO3+20 </a:t>
            </a:r>
            <a:r>
              <a:rPr lang="en-US" altLang="en-US" sz="2800" dirty="0" err="1" smtClean="0"/>
              <a:t>mEq</a:t>
            </a:r>
            <a:r>
              <a:rPr lang="en-US" altLang="en-US" sz="2800" dirty="0" smtClean="0"/>
              <a:t>/L of KCL</a:t>
            </a:r>
          </a:p>
          <a:p>
            <a:r>
              <a:rPr lang="en-US" altLang="en-US" sz="2800" dirty="0" smtClean="0"/>
              <a:t>Replace stool ml/ml</a:t>
            </a:r>
          </a:p>
          <a:p>
            <a:endParaRPr lang="en-US" altLang="en-US" dirty="0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397BF5C-C56A-4CED-A6B0-3812E3A33371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Ongoing losses in vomiting </a:t>
            </a:r>
          </a:p>
        </p:txBody>
      </p:sp>
      <p:sp>
        <p:nvSpPr>
          <p:cNvPr id="4813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2800" smtClean="0"/>
              <a:t>Estimated losses in hypertrophic pyloric stenosis (Na+ 60 mEq/L, Cl- 90 mEq/L, K+ 10 mEq/L)</a:t>
            </a:r>
          </a:p>
          <a:p>
            <a:r>
              <a:rPr lang="en-US" altLang="en-US" sz="2800" smtClean="0"/>
              <a:t>Solution: NS + 10 mEq/L of KCl</a:t>
            </a:r>
          </a:p>
          <a:p>
            <a:r>
              <a:rPr lang="en-US" altLang="en-US" sz="2800" smtClean="0"/>
              <a:t>Replace vomiting ml/ml</a:t>
            </a:r>
          </a:p>
          <a:p>
            <a:endParaRPr lang="en-US" alt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E29893-47E2-4EBD-9E74-77EAAB5D454D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Ongoing losses in altered RF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sz="2800" smtClean="0">
                <a:solidFill>
                  <a:srgbClr val="FF0000"/>
                </a:solidFill>
              </a:rPr>
              <a:t>Oliguria or anuria</a:t>
            </a:r>
          </a:p>
          <a:p>
            <a:pPr lvl="1"/>
            <a:r>
              <a:rPr lang="en-US" altLang="en-US" sz="2800" smtClean="0"/>
              <a:t>Insensible fluid losses (25-40% of the maintenance) with D5 + half NS </a:t>
            </a:r>
            <a:r>
              <a:rPr lang="en-US" altLang="en-US" sz="2800" u="sng" smtClean="0"/>
              <a:t>+</a:t>
            </a:r>
            <a:r>
              <a:rPr lang="en-US" altLang="en-US" sz="2800" smtClean="0"/>
              <a:t> KCl or orally</a:t>
            </a:r>
            <a:endParaRPr lang="en-US" altLang="en-US" sz="2800" u="sng" smtClean="0"/>
          </a:p>
          <a:p>
            <a:pPr lvl="1"/>
            <a:r>
              <a:rPr lang="en-US" altLang="en-US" sz="2800" smtClean="0"/>
              <a:t>Volume for volume replacement of urine</a:t>
            </a:r>
          </a:p>
          <a:p>
            <a:r>
              <a:rPr lang="en-US" altLang="en-US" sz="2800" smtClean="0">
                <a:solidFill>
                  <a:srgbClr val="FF0000"/>
                </a:solidFill>
              </a:rPr>
              <a:t>Polyuric states</a:t>
            </a:r>
          </a:p>
          <a:p>
            <a:pPr lvl="1"/>
            <a:r>
              <a:rPr lang="en-US" altLang="en-US" sz="2800" smtClean="0"/>
              <a:t>Replace insensible loss (25-40% of maintenance) with D5 +half normal saline </a:t>
            </a:r>
            <a:r>
              <a:rPr lang="en-US" altLang="en-US" sz="2800" u="sng" smtClean="0"/>
              <a:t>+</a:t>
            </a:r>
            <a:r>
              <a:rPr lang="en-US" altLang="en-US" sz="2800" smtClean="0"/>
              <a:t> KCl</a:t>
            </a:r>
            <a:endParaRPr lang="en-US" altLang="en-US" sz="2800" u="sng" smtClean="0"/>
          </a:p>
          <a:p>
            <a:pPr lvl="1"/>
            <a:r>
              <a:rPr lang="en-US" altLang="en-US" sz="2800" smtClean="0"/>
              <a:t>Replace urine output volume for volume</a:t>
            </a:r>
          </a:p>
          <a:p>
            <a:endParaRPr lang="en-US" alt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9212B95-5DE5-40A8-8A8B-12E4F569AACE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Dehydration </a:t>
            </a:r>
          </a:p>
        </p:txBody>
      </p:sp>
      <p:sp>
        <p:nvSpPr>
          <p:cNvPr id="50180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 smtClean="0"/>
              <a:t>Epidemiology:</a:t>
            </a:r>
          </a:p>
          <a:p>
            <a:pPr lvl="1" eaLnBrk="1" hangingPunct="1">
              <a:lnSpc>
                <a:spcPct val="160000"/>
              </a:lnSpc>
              <a:buSzPct val="70000"/>
            </a:pPr>
            <a:r>
              <a:rPr lang="en-US" altLang="en-US" sz="3200" dirty="0" smtClean="0"/>
              <a:t>One of the most common medical problems</a:t>
            </a:r>
          </a:p>
          <a:p>
            <a:pPr eaLnBrk="1" hangingPunct="1">
              <a:buNone/>
            </a:pPr>
            <a:endParaRPr lang="en-US" altLang="en-US" dirty="0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1286E5D-3EC0-41E2-8566-319BF23B73D8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Estimation of the degree of DHN</a:t>
            </a:r>
          </a:p>
        </p:txBody>
      </p:sp>
      <p:sp>
        <p:nvSpPr>
          <p:cNvPr id="53252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4 key signs:</a:t>
            </a:r>
          </a:p>
          <a:p>
            <a:pPr lvl="1" eaLnBrk="1" hangingPunct="1"/>
            <a:r>
              <a:rPr lang="en-US" altLang="en-US" sz="3200" smtClean="0"/>
              <a:t>Mental status</a:t>
            </a:r>
          </a:p>
          <a:p>
            <a:pPr lvl="1" eaLnBrk="1" hangingPunct="1"/>
            <a:r>
              <a:rPr lang="en-US" altLang="en-US" sz="3200" smtClean="0"/>
              <a:t>Thirst</a:t>
            </a:r>
          </a:p>
          <a:p>
            <a:pPr lvl="1" eaLnBrk="1" hangingPunct="1"/>
            <a:r>
              <a:rPr lang="en-US" altLang="en-US" sz="3200" smtClean="0"/>
              <a:t>Eye signs</a:t>
            </a:r>
          </a:p>
          <a:p>
            <a:pPr lvl="1" eaLnBrk="1" hangingPunct="1"/>
            <a:r>
              <a:rPr lang="en-US" altLang="en-US" sz="3200" smtClean="0"/>
              <a:t>Skin pinch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1447800"/>
            <a:ext cx="2981325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2967A4F-D10E-453D-B905-45FAF4706132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Classification of the degree of DHN</a:t>
            </a:r>
          </a:p>
        </p:txBody>
      </p:sp>
      <p:sp>
        <p:nvSpPr>
          <p:cNvPr id="54276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NO dehydration (&lt; 5% loss)</a:t>
            </a:r>
          </a:p>
          <a:p>
            <a:pPr eaLnBrk="1" hangingPunct="1"/>
            <a:r>
              <a:rPr lang="en-US" altLang="en-US" sz="3200" smtClean="0"/>
              <a:t>Some dehydration (6-9% loss)</a:t>
            </a:r>
          </a:p>
          <a:p>
            <a:pPr eaLnBrk="1" hangingPunct="1"/>
            <a:r>
              <a:rPr lang="en-US" altLang="en-US" sz="3200" smtClean="0"/>
              <a:t>Severe dehydration (&gt; 10% loss)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D5ECC4-203D-4D7F-AC4A-7FE6A4945DA3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Evaluation of Dehydration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828800"/>
            <a:ext cx="8762999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706048-AA73-4D27-B98D-EFBBA80F81A5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22162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534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 smtClean="0"/>
              <a:t>Classification of dehydration: </a:t>
            </a:r>
            <a:r>
              <a:rPr lang="en-US" sz="3600" i="1" dirty="0" smtClean="0"/>
              <a:t>Two signs needed  </a:t>
            </a:r>
            <a:endParaRPr lang="en-US" i="1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05800" cy="5334000"/>
          </a:xfrm>
        </p:spPr>
        <p:txBody>
          <a:bodyPr/>
          <a:lstStyle/>
          <a:p>
            <a:pPr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buFontTx/>
              <a:buNone/>
            </a:pPr>
            <a:r>
              <a:rPr lang="en-US" sz="2400" dirty="0"/>
              <a:t>                      </a:t>
            </a:r>
          </a:p>
          <a:p>
            <a:pPr>
              <a:buFontTx/>
              <a:buNone/>
            </a:pPr>
            <a:r>
              <a:rPr lang="en-US" sz="2400" dirty="0"/>
              <a:t>                                              </a:t>
            </a:r>
          </a:p>
        </p:txBody>
      </p:sp>
      <p:graphicFrame>
        <p:nvGraphicFramePr>
          <p:cNvPr id="18523" name="Group 91"/>
          <p:cNvGraphicFramePr>
            <a:graphicFrameLocks noGrp="1"/>
          </p:cNvGraphicFramePr>
          <p:nvPr/>
        </p:nvGraphicFramePr>
        <p:xfrm>
          <a:off x="685800" y="1066800"/>
          <a:ext cx="8153400" cy="5099750"/>
        </p:xfrm>
        <a:graphic>
          <a:graphicData uri="http://schemas.openxmlformats.org/drawingml/2006/table">
            <a:tbl>
              <a:tblPr/>
              <a:tblGrid>
                <a:gridCol w="1447800"/>
                <a:gridCol w="2133600"/>
                <a:gridCol w="2133600"/>
                <a:gridCol w="2438400"/>
              </a:tblGrid>
              <a:tr h="7746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Parameter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No dehydration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Some dehydration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Severe dehydration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11878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Mental status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Alert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Restless,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irritable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Lethargic or unconscious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8435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Eye ball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 sunken eyes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sunken eyes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sunken eyes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10576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Drinking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Drinking normally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Eager to drink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Unable to drink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118780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Skin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turgor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Normal skin </a:t>
                      </a: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turgor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Skin pinch returns slowly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Skin pinch returns very slowly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CEFB9E0-685D-44B1-A995-1156E4CA9ED5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659" y="545097"/>
            <a:ext cx="8229600" cy="978903"/>
          </a:xfrm>
        </p:spPr>
        <p:txBody>
          <a:bodyPr>
            <a:normAutofit/>
          </a:bodyPr>
          <a:lstStyle/>
          <a:p>
            <a:r>
              <a:rPr lang="en-US" sz="4000" dirty="0" smtClean="0"/>
              <a:t>Management of dehydration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59" y="1447800"/>
            <a:ext cx="8229600" cy="4678363"/>
          </a:xfrm>
        </p:spPr>
        <p:txBody>
          <a:bodyPr/>
          <a:lstStyle/>
          <a:p>
            <a:pPr marL="609600" indent="-609600">
              <a:buNone/>
            </a:pPr>
            <a:r>
              <a:rPr lang="en-US" dirty="0" smtClean="0">
                <a:solidFill>
                  <a:srgbClr val="FF0000"/>
                </a:solidFill>
              </a:rPr>
              <a:t>1. No DHN</a:t>
            </a:r>
            <a:r>
              <a:rPr lang="en-US" dirty="0" smtClean="0">
                <a:solidFill>
                  <a:srgbClr val="6666FF"/>
                </a:solidFill>
              </a:rPr>
              <a:t>– </a:t>
            </a:r>
            <a:r>
              <a:rPr lang="en-US" dirty="0" err="1" smtClean="0"/>
              <a:t>Mx</a:t>
            </a:r>
            <a:r>
              <a:rPr lang="en-US" dirty="0" smtClean="0"/>
              <a:t> plan A</a:t>
            </a:r>
          </a:p>
          <a:p>
            <a:pPr marL="609600" indent="-609600">
              <a:buFont typeface="Wingdings" pitchFamily="2" charset="2"/>
              <a:buChar char="§"/>
            </a:pPr>
            <a:r>
              <a:rPr lang="en-US" dirty="0" smtClean="0"/>
              <a:t>Treat diarrhea at home:</a:t>
            </a:r>
          </a:p>
          <a:p>
            <a:pPr marL="609600" indent="-609600">
              <a:buFont typeface="Wingdings" pitchFamily="2" charset="2"/>
              <a:buChar char="§"/>
            </a:pPr>
            <a:r>
              <a:rPr lang="en-US" dirty="0" smtClean="0"/>
              <a:t>Rules of 3 ‘Fs’</a:t>
            </a:r>
          </a:p>
          <a:p>
            <a:pPr marL="609600" indent="-609600">
              <a:buFontTx/>
              <a:buNone/>
            </a:pPr>
            <a:r>
              <a:rPr lang="en-US" dirty="0" smtClean="0">
                <a:solidFill>
                  <a:srgbClr val="6666FF"/>
                </a:solidFill>
              </a:rPr>
              <a:t>        1. </a:t>
            </a:r>
            <a:r>
              <a:rPr lang="en-US" dirty="0" smtClean="0"/>
              <a:t>Give extra </a:t>
            </a:r>
            <a:r>
              <a:rPr lang="en-US" dirty="0" smtClean="0">
                <a:solidFill>
                  <a:srgbClr val="FF0000"/>
                </a:solidFill>
              </a:rPr>
              <a:t>FLUID</a:t>
            </a:r>
          </a:p>
          <a:p>
            <a:pPr marL="609600" indent="-609600">
              <a:buFontTx/>
              <a:buNone/>
            </a:pPr>
            <a:r>
              <a:rPr lang="en-US" dirty="0" smtClean="0">
                <a:solidFill>
                  <a:srgbClr val="6666FF"/>
                </a:solidFill>
              </a:rPr>
              <a:t>        2. </a:t>
            </a:r>
            <a:r>
              <a:rPr lang="en-US" dirty="0" smtClean="0"/>
              <a:t>Continue</a:t>
            </a:r>
            <a:r>
              <a:rPr lang="en-US" dirty="0" smtClean="0">
                <a:solidFill>
                  <a:srgbClr val="6666FF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FEEDING</a:t>
            </a:r>
          </a:p>
          <a:p>
            <a:pPr marL="609600" indent="-609600">
              <a:buFontTx/>
              <a:buNone/>
            </a:pPr>
            <a:r>
              <a:rPr lang="en-US" dirty="0" smtClean="0">
                <a:solidFill>
                  <a:srgbClr val="6666FF"/>
                </a:solidFill>
              </a:rPr>
              <a:t>        3. </a:t>
            </a:r>
            <a:r>
              <a:rPr lang="en-US" dirty="0" smtClean="0"/>
              <a:t>When to come for </a:t>
            </a:r>
            <a:r>
              <a:rPr lang="en-US" dirty="0" smtClean="0">
                <a:solidFill>
                  <a:srgbClr val="FF0000"/>
                </a:solidFill>
              </a:rPr>
              <a:t>FOLLOW UP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46BD555-57B2-4EE9-9377-ED12EBBD62AE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659" y="545097"/>
            <a:ext cx="8229600" cy="1055103"/>
          </a:xfrm>
        </p:spPr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59" y="1524000"/>
            <a:ext cx="8229600" cy="4602163"/>
          </a:xfrm>
        </p:spPr>
        <p:txBody>
          <a:bodyPr/>
          <a:lstStyle/>
          <a:p>
            <a:r>
              <a:rPr lang="en-US" dirty="0" smtClean="0">
                <a:solidFill>
                  <a:srgbClr val="6666FF"/>
                </a:solidFill>
              </a:rPr>
              <a:t>Fluid</a:t>
            </a:r>
            <a:r>
              <a:rPr lang="en-US" dirty="0" smtClean="0"/>
              <a:t> – in addition to the usual fluid intake</a:t>
            </a:r>
          </a:p>
          <a:p>
            <a:pPr>
              <a:buFontTx/>
              <a:buNone/>
            </a:pPr>
            <a:r>
              <a:rPr lang="en-US" dirty="0" smtClean="0"/>
              <a:t>      give   ORS: 10ml/kg</a:t>
            </a:r>
          </a:p>
          <a:p>
            <a:pPr>
              <a:buFontTx/>
              <a:buNone/>
            </a:pPr>
            <a:r>
              <a:rPr lang="en-US" dirty="0" smtClean="0"/>
              <a:t>                  OR                                         </a:t>
            </a:r>
          </a:p>
          <a:p>
            <a:pPr>
              <a:buFontTx/>
              <a:buNone/>
            </a:pPr>
            <a:r>
              <a:rPr lang="en-US" dirty="0" smtClean="0"/>
              <a:t>    50-100ml for those below 2yrs      per bowel                                                            </a:t>
            </a:r>
          </a:p>
          <a:p>
            <a:pPr>
              <a:buFontTx/>
              <a:buNone/>
            </a:pPr>
            <a:r>
              <a:rPr lang="en-US" dirty="0" smtClean="0"/>
              <a:t>    100-200ml for children </a:t>
            </a:r>
            <a:r>
              <a:rPr lang="en-US" u="sng" dirty="0" smtClean="0"/>
              <a:t>&gt; </a:t>
            </a:r>
            <a:r>
              <a:rPr lang="en-US" dirty="0" smtClean="0"/>
              <a:t>2yrs       motion</a:t>
            </a:r>
          </a:p>
          <a:p>
            <a:pPr>
              <a:buFontTx/>
              <a:buNone/>
            </a:pPr>
            <a:endParaRPr lang="en-US" sz="2400" dirty="0" smtClean="0"/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Other fluids; breast milk, food-based fluids(soup, rice </a:t>
            </a:r>
            <a:r>
              <a:rPr lang="en-US" sz="2800" dirty="0" err="1" smtClean="0"/>
              <a:t>water,yogurt</a:t>
            </a:r>
            <a:r>
              <a:rPr lang="en-US" sz="2800" dirty="0" smtClean="0"/>
              <a:t>) or clean water</a:t>
            </a:r>
          </a:p>
          <a:p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6019800" y="2514600"/>
            <a:ext cx="612648" cy="19812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3B9CFED-4373-47F7-ACE0-F8F0E964F3C3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59" y="1524000"/>
            <a:ext cx="8229600" cy="4602163"/>
          </a:xfrm>
        </p:spPr>
        <p:txBody>
          <a:bodyPr/>
          <a:lstStyle/>
          <a:p>
            <a:r>
              <a:rPr lang="en-US" dirty="0" smtClean="0">
                <a:solidFill>
                  <a:srgbClr val="6666FF"/>
                </a:solidFill>
              </a:rPr>
              <a:t>Feeding- </a:t>
            </a:r>
            <a:r>
              <a:rPr lang="en-US" dirty="0" smtClean="0"/>
              <a:t>frequent breast feeding</a:t>
            </a:r>
          </a:p>
          <a:p>
            <a:pPr>
              <a:buFontTx/>
              <a:buNone/>
            </a:pPr>
            <a:r>
              <a:rPr lang="en-US" dirty="0" smtClean="0"/>
              <a:t>                -cow’s milk or formula</a:t>
            </a:r>
          </a:p>
          <a:p>
            <a:pPr>
              <a:buFontTx/>
              <a:buNone/>
            </a:pPr>
            <a:r>
              <a:rPr lang="en-US" dirty="0" smtClean="0"/>
              <a:t>               - continue other foods if he started</a:t>
            </a:r>
          </a:p>
          <a:p>
            <a:r>
              <a:rPr lang="en-US" dirty="0" smtClean="0">
                <a:solidFill>
                  <a:srgbClr val="6666FF"/>
                </a:solidFill>
              </a:rPr>
              <a:t>Return/follow up-</a:t>
            </a:r>
            <a:r>
              <a:rPr lang="en-US" dirty="0" smtClean="0"/>
              <a:t>see him in 2days 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    come back immediately if the child becomes sick(unable to </a:t>
            </a:r>
            <a:r>
              <a:rPr lang="en-US" dirty="0" err="1" smtClean="0"/>
              <a:t>drink,sicker,fever,dysentery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1E40996-4076-46A4-AF00-B6D9EF3D966A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659" y="545097"/>
            <a:ext cx="8229600" cy="978903"/>
          </a:xfrm>
        </p:spPr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59" y="1447800"/>
            <a:ext cx="8229600" cy="4678363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buFontTx/>
              <a:buNone/>
            </a:pPr>
            <a:r>
              <a:rPr lang="en-US" dirty="0" smtClean="0">
                <a:solidFill>
                  <a:srgbClr val="6666FF"/>
                </a:solidFill>
              </a:rPr>
              <a:t>B. </a:t>
            </a:r>
            <a:r>
              <a:rPr lang="en-US" dirty="0" smtClean="0">
                <a:solidFill>
                  <a:srgbClr val="FF0000"/>
                </a:solidFill>
              </a:rPr>
              <a:t>Some DHN</a:t>
            </a:r>
            <a:r>
              <a:rPr lang="en-US" dirty="0" smtClean="0">
                <a:solidFill>
                  <a:srgbClr val="6666FF"/>
                </a:solidFill>
              </a:rPr>
              <a:t>– </a:t>
            </a:r>
            <a:r>
              <a:rPr lang="en-US" dirty="0" smtClean="0"/>
              <a:t>plan B, loss is estimated to be 5%(average</a:t>
            </a:r>
            <a:r>
              <a:rPr lang="en-US" dirty="0" smtClean="0">
                <a:solidFill>
                  <a:srgbClr val="6666FF"/>
                </a:solidFill>
              </a:rPr>
              <a:t>)</a:t>
            </a:r>
          </a:p>
          <a:p>
            <a:pPr lvl="1">
              <a:lnSpc>
                <a:spcPct val="125000"/>
              </a:lnSpc>
              <a:buSzPct val="50000"/>
              <a:buFontTx/>
              <a:buBlip>
                <a:blip r:embed="rId2"/>
              </a:buBlip>
            </a:pPr>
            <a:r>
              <a:rPr lang="en-US" dirty="0" smtClean="0"/>
              <a:t>Treat with ORS:</a:t>
            </a:r>
          </a:p>
          <a:p>
            <a:pPr lvl="1">
              <a:lnSpc>
                <a:spcPct val="125000"/>
              </a:lnSpc>
              <a:buSzPct val="50000"/>
              <a:buFontTx/>
              <a:buBlip>
                <a:blip r:embed="rId2"/>
              </a:buBlip>
            </a:pPr>
            <a:r>
              <a:rPr lang="en-US" dirty="0" smtClean="0"/>
              <a:t>Volume is 75ml/kg</a:t>
            </a:r>
          </a:p>
          <a:p>
            <a:pPr lvl="1">
              <a:lnSpc>
                <a:spcPct val="125000"/>
              </a:lnSpc>
              <a:buSzPct val="50000"/>
              <a:buFontTx/>
              <a:buBlip>
                <a:blip r:embed="rId2"/>
              </a:buBlip>
            </a:pPr>
            <a:r>
              <a:rPr lang="en-US" dirty="0" smtClean="0"/>
              <a:t>Give over 4hrs</a:t>
            </a:r>
          </a:p>
          <a:p>
            <a:pPr lvl="1">
              <a:lnSpc>
                <a:spcPct val="125000"/>
              </a:lnSpc>
              <a:buSzPct val="50000"/>
              <a:buFontTx/>
              <a:buBlip>
                <a:blip r:embed="rId2"/>
              </a:buBlip>
            </a:pPr>
            <a:r>
              <a:rPr lang="en-US" dirty="0" smtClean="0"/>
              <a:t>Continue breast feeding</a:t>
            </a:r>
          </a:p>
          <a:p>
            <a:pPr lvl="1">
              <a:lnSpc>
                <a:spcPct val="125000"/>
              </a:lnSpc>
              <a:buSzPct val="50000"/>
              <a:buFontTx/>
              <a:buBlip>
                <a:blip r:embed="rId2"/>
              </a:buBlip>
            </a:pPr>
            <a:r>
              <a:rPr lang="en-US" dirty="0" smtClean="0"/>
              <a:t>If vomiting, wait for 10minutes</a:t>
            </a:r>
          </a:p>
          <a:p>
            <a:pPr lvl="1">
              <a:lnSpc>
                <a:spcPct val="125000"/>
              </a:lnSpc>
              <a:buSzPct val="50000"/>
              <a:buFontTx/>
              <a:buBlip>
                <a:blip r:embed="rId2"/>
              </a:buBlip>
            </a:pPr>
            <a:r>
              <a:rPr lang="en-US" dirty="0" smtClean="0"/>
              <a:t>After 4hrs, reassess and classify DHN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245CCFE-0BA7-452E-B462-EE43556FD594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659" y="545097"/>
            <a:ext cx="8229600" cy="826503"/>
          </a:xfrm>
        </p:spPr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59" y="1600200"/>
            <a:ext cx="82296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dirty="0" smtClean="0">
                <a:solidFill>
                  <a:srgbClr val="FF0000"/>
                </a:solidFill>
              </a:rPr>
              <a:t>C.  Severe DHN-</a:t>
            </a:r>
          </a:p>
          <a:p>
            <a:r>
              <a:rPr lang="en-US" dirty="0" smtClean="0"/>
              <a:t>treatment plan C-loss estimated to be 10% of body weight</a:t>
            </a:r>
          </a:p>
          <a:p>
            <a:r>
              <a:rPr lang="en-US" dirty="0" smtClean="0"/>
              <a:t>Start IV immediately</a:t>
            </a:r>
          </a:p>
          <a:p>
            <a:r>
              <a:rPr lang="en-US" dirty="0" smtClean="0"/>
              <a:t>Ringer’s lactate or NS</a:t>
            </a:r>
          </a:p>
          <a:p>
            <a:r>
              <a:rPr lang="en-US" dirty="0" smtClean="0"/>
              <a:t>Volume is 100ml/kg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04CEF8C-BA0D-410C-AAC8-2BD5FC6CE5D2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838200"/>
            <a:ext cx="7772400" cy="685800"/>
          </a:xfrm>
        </p:spPr>
        <p:txBody>
          <a:bodyPr>
            <a:normAutofit/>
          </a:bodyPr>
          <a:lstStyle/>
          <a:p>
            <a:r>
              <a:rPr lang="en-US" sz="3200" dirty="0" err="1" smtClean="0"/>
              <a:t>Mx</a:t>
            </a:r>
            <a:r>
              <a:rPr lang="en-US" sz="3200" dirty="0" smtClean="0"/>
              <a:t> of severe dehydration </a:t>
            </a:r>
            <a:endParaRPr lang="en-US" sz="3200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9530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  </a:t>
            </a:r>
          </a:p>
          <a:p>
            <a:pPr>
              <a:buFontTx/>
              <a:buNone/>
            </a:pPr>
            <a:endParaRPr lang="en-US" dirty="0"/>
          </a:p>
          <a:p>
            <a:pPr>
              <a:buFontTx/>
              <a:buNone/>
            </a:pPr>
            <a:r>
              <a:rPr lang="en-US" dirty="0"/>
              <a:t>                           </a:t>
            </a:r>
          </a:p>
        </p:txBody>
      </p:sp>
      <p:graphicFrame>
        <p:nvGraphicFramePr>
          <p:cNvPr id="24611" name="Group 35"/>
          <p:cNvGraphicFramePr>
            <a:graphicFrameLocks noGrp="1"/>
          </p:cNvGraphicFramePr>
          <p:nvPr/>
        </p:nvGraphicFramePr>
        <p:xfrm>
          <a:off x="1142999" y="1676400"/>
          <a:ext cx="7010401" cy="3733800"/>
        </p:xfrm>
        <a:graphic>
          <a:graphicData uri="http://schemas.openxmlformats.org/drawingml/2006/table">
            <a:tbl>
              <a:tblPr/>
              <a:tblGrid>
                <a:gridCol w="2057401"/>
                <a:gridCol w="2743200"/>
                <a:gridCol w="2209800"/>
              </a:tblGrid>
              <a:tr h="165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Infants (below 12months of age)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r>
                        <a:rPr kumimoji="0" lang="en-US" sz="2400" b="0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st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give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30ml/kg  over 1hour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(repeat if no response *)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Then give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70ml/kg over 5hrs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  <a:tr h="1594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Children</a:t>
                      </a:r>
                      <a:r>
                        <a:rPr kumimoji="0" lang="en-US" sz="24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&gt;</a:t>
                      </a: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12months of age</a:t>
                      </a:r>
                      <a:endParaRPr kumimoji="0" lang="en-US" sz="2400" b="0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Over 30minutes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(repeat if no response *)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Over two and half hours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</a:tr>
            </a:tbl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9B16D7D-1A78-44D0-8891-BE78F332459F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659" y="545097"/>
            <a:ext cx="8229600" cy="902703"/>
          </a:xfrm>
        </p:spPr>
        <p:txBody>
          <a:bodyPr/>
          <a:lstStyle/>
          <a:p>
            <a:r>
              <a:rPr lang="en-US" dirty="0" smtClean="0"/>
              <a:t>Cont…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59" y="1447800"/>
            <a:ext cx="8229600" cy="4678363"/>
          </a:xfrm>
        </p:spPr>
        <p:txBody>
          <a:bodyPr/>
          <a:lstStyle/>
          <a:p>
            <a:r>
              <a:rPr lang="en-US" dirty="0" smtClean="0"/>
              <a:t>Zink supplementation</a:t>
            </a:r>
          </a:p>
          <a:p>
            <a:pPr lvl="1"/>
            <a:r>
              <a:rPr lang="en-US" dirty="0" smtClean="0"/>
              <a:t>reduce duration and severity of diarrhea</a:t>
            </a:r>
          </a:p>
          <a:p>
            <a:pPr lvl="1"/>
            <a:r>
              <a:rPr lang="en-US" dirty="0" smtClean="0"/>
              <a:t>increased use of ORS and reduction in the inappropriate use of antimicrobials</a:t>
            </a:r>
          </a:p>
          <a:p>
            <a:pPr lvl="1"/>
            <a:r>
              <a:rPr lang="en-US" dirty="0" smtClean="0"/>
              <a:t>10 mg/day for infants &lt;6 mo of age and 20 mg/day for those &gt;6 mo for 10 days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8954BED-B9B0-4480-9D9C-592736F9CC67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Mx</a:t>
            </a:r>
            <a:r>
              <a:rPr lang="en-US" altLang="en-US" dirty="0" smtClean="0"/>
              <a:t> of DHN in SAM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 dirty="0" smtClean="0"/>
              <a:t>Children with SAM and some or severe dehydration but not in shock:</a:t>
            </a:r>
          </a:p>
          <a:p>
            <a:pPr eaLnBrk="1" hangingPunct="1"/>
            <a:r>
              <a:rPr lang="en-US" altLang="en-US" dirty="0" smtClean="0"/>
              <a:t>5 </a:t>
            </a:r>
            <a:r>
              <a:rPr lang="en-US" altLang="en-US" dirty="0" err="1" smtClean="0"/>
              <a:t>mL</a:t>
            </a:r>
            <a:r>
              <a:rPr lang="en-US" altLang="en-US" dirty="0" smtClean="0"/>
              <a:t>/kg </a:t>
            </a:r>
            <a:r>
              <a:rPr lang="en-US" altLang="en-US" dirty="0" err="1" smtClean="0"/>
              <a:t>ReSoMal</a:t>
            </a:r>
            <a:r>
              <a:rPr lang="en-US" altLang="en-US" dirty="0" smtClean="0"/>
              <a:t> every 30 min for the first 2 h. Then, if the child is still dehydrated, 5–10 </a:t>
            </a:r>
            <a:r>
              <a:rPr lang="en-US" altLang="en-US" dirty="0" err="1" smtClean="0"/>
              <a:t>mL</a:t>
            </a:r>
            <a:r>
              <a:rPr lang="en-US" altLang="en-US" dirty="0" smtClean="0"/>
              <a:t>/kg/h </a:t>
            </a:r>
            <a:r>
              <a:rPr lang="en-US" altLang="en-US" dirty="0" err="1" smtClean="0"/>
              <a:t>ReSoMal</a:t>
            </a:r>
            <a:r>
              <a:rPr lang="en-US" altLang="en-US" dirty="0" smtClean="0"/>
              <a:t> should be given in alternate hours with F-75, up to a maximum of 10 </a:t>
            </a:r>
            <a:r>
              <a:rPr lang="en-US" altLang="en-US" dirty="0" smtClean="0"/>
              <a:t>hr</a:t>
            </a:r>
            <a:endParaRPr lang="en-US" altLang="en-US" dirty="0" smtClean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67200"/>
            <a:ext cx="9144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5ACC828-1E36-4EEA-9E1B-4F04918BB64C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Electrolyte Disturbances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1E45A-74F2-4FEF-B6DE-D0A54F66D795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70221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Sodium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Sodium is the dominant </a:t>
            </a:r>
            <a:r>
              <a:rPr lang="en-US" dirty="0" err="1"/>
              <a:t>cation</a:t>
            </a:r>
            <a:r>
              <a:rPr lang="en-US" dirty="0"/>
              <a:t> of the ECF.</a:t>
            </a:r>
          </a:p>
          <a:p>
            <a:endParaRPr lang="en-US" dirty="0"/>
          </a:p>
          <a:p>
            <a:r>
              <a:rPr lang="en-US" dirty="0"/>
              <a:t>Is the principal determinant of extracellular osmolality.</a:t>
            </a:r>
          </a:p>
          <a:p>
            <a:endParaRPr lang="en-US" dirty="0"/>
          </a:p>
          <a:p>
            <a:r>
              <a:rPr lang="en-US" dirty="0"/>
              <a:t> Na+ is necessary for the maintenance of intravascular volume.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4E7E06D-6324-420B-AEFA-8698B0B3E4DB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118358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Cont’d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135-145mEq/L</a:t>
            </a:r>
          </a:p>
          <a:p>
            <a:r>
              <a:rPr lang="en-US" dirty="0"/>
              <a:t>Regulates volume of body fluids</a:t>
            </a:r>
          </a:p>
          <a:p>
            <a:r>
              <a:rPr lang="en-US" dirty="0"/>
              <a:t>Needed for nerve impulse &amp; muscle fiber transmission (Na/K pump)</a:t>
            </a:r>
          </a:p>
          <a:p>
            <a:r>
              <a:rPr lang="en-US" dirty="0"/>
              <a:t>Reabsorption in renal tubule regulated by:-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Aldosterone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Renin/angiotensin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A58DEE-57A0-4D32-B7C1-29501307FC1C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406349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685800" y="274638"/>
            <a:ext cx="7239000" cy="563562"/>
          </a:xfrm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524500"/>
          </a:xfrm>
        </p:spPr>
        <p:txBody>
          <a:bodyPr>
            <a:normAutofit/>
          </a:bodyPr>
          <a:lstStyle/>
          <a:p>
            <a:pPr lvl="1">
              <a:buSzPct val="65000"/>
              <a:buNone/>
            </a:pPr>
            <a:r>
              <a:rPr lang="en-US" altLang="en-US" sz="2400" dirty="0" err="1" smtClean="0">
                <a:solidFill>
                  <a:srgbClr val="FF0000"/>
                </a:solidFill>
              </a:rPr>
              <a:t>Aldosterone</a:t>
            </a:r>
            <a:r>
              <a:rPr lang="en-US" altLang="en-US" sz="2400" dirty="0" smtClean="0">
                <a:solidFill>
                  <a:srgbClr val="FF0000"/>
                </a:solidFill>
              </a:rPr>
              <a:t>:</a:t>
            </a:r>
            <a:r>
              <a:rPr lang="en-US" altLang="en-US" sz="2400" dirty="0" smtClean="0"/>
              <a:t> Released from the adrenal cortex</a:t>
            </a:r>
          </a:p>
          <a:p>
            <a:pPr lvl="3"/>
            <a:r>
              <a:rPr lang="en-US" altLang="en-US" sz="2400" dirty="0" smtClean="0"/>
              <a:t>Decrease circulating volume</a:t>
            </a:r>
          </a:p>
          <a:p>
            <a:pPr lvl="3"/>
            <a:r>
              <a:rPr lang="en-US" altLang="en-US" sz="2400" dirty="0" smtClean="0"/>
              <a:t>Stimulated by R-A-A-S</a:t>
            </a:r>
          </a:p>
          <a:p>
            <a:pPr lvl="3"/>
            <a:r>
              <a:rPr lang="en-US" altLang="en-US" sz="2400" dirty="0" smtClean="0"/>
              <a:t>Increase plasma K</a:t>
            </a:r>
          </a:p>
          <a:p>
            <a:pPr lvl="2"/>
            <a:r>
              <a:rPr lang="en-US" altLang="en-US" sz="2400" dirty="0" smtClean="0"/>
              <a:t> Enhanced renal </a:t>
            </a:r>
            <a:r>
              <a:rPr lang="en-US" altLang="en-US" sz="2400" dirty="0" err="1" smtClean="0"/>
              <a:t>reabsorption</a:t>
            </a:r>
            <a:r>
              <a:rPr lang="en-US" altLang="en-US" sz="2400" dirty="0" smtClean="0"/>
              <a:t> of Na in exchange for K (increase Na = expansion of ECF)</a:t>
            </a:r>
          </a:p>
          <a:p>
            <a:pPr lvl="1">
              <a:buSzPct val="65000"/>
            </a:pPr>
            <a:r>
              <a:rPr lang="en-US" altLang="en-US" sz="2400" dirty="0" smtClean="0">
                <a:solidFill>
                  <a:srgbClr val="FF0000"/>
                </a:solidFill>
              </a:rPr>
              <a:t>ANP</a:t>
            </a:r>
            <a:r>
              <a:rPr lang="en-US" altLang="en-US" sz="2400" dirty="0" smtClean="0"/>
              <a:t>: secreted by the cardiac atrium in response to </a:t>
            </a:r>
            <a:r>
              <a:rPr lang="en-US" altLang="en-US" sz="2400" dirty="0" err="1" smtClean="0"/>
              <a:t>atrial</a:t>
            </a:r>
            <a:r>
              <a:rPr lang="en-US" altLang="en-US" sz="2400" dirty="0" smtClean="0"/>
              <a:t> dilatation (regulates blood volume)</a:t>
            </a:r>
          </a:p>
          <a:p>
            <a:pPr lvl="2"/>
            <a:r>
              <a:rPr lang="en-US" altLang="en-US" sz="2400" dirty="0" smtClean="0"/>
              <a:t>Inhibits </a:t>
            </a:r>
            <a:r>
              <a:rPr lang="en-US" altLang="en-US" sz="2400" dirty="0" err="1" smtClean="0"/>
              <a:t>Renin</a:t>
            </a:r>
            <a:r>
              <a:rPr lang="en-US" altLang="en-US" sz="2400" dirty="0" smtClean="0"/>
              <a:t> secretion</a:t>
            </a:r>
          </a:p>
          <a:p>
            <a:pPr lvl="2"/>
            <a:r>
              <a:rPr lang="en-US" altLang="en-US" sz="2400" dirty="0" smtClean="0"/>
              <a:t>Increase GFR and Na excretion</a:t>
            </a:r>
          </a:p>
          <a:p>
            <a:endParaRPr lang="en-US" altLang="en-US" dirty="0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B097A7-BADC-474A-9C7D-07EF6A0B6E65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Hypernatremia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FD18-EFC3-4B25-B6CA-889A492E7CD3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111518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Hypernatremia…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1">
              <a:buFontTx/>
              <a:buNone/>
            </a:pPr>
            <a:endParaRPr lang="en-US" altLang="en-US" sz="2000" dirty="0"/>
          </a:p>
          <a:p>
            <a:pPr lvl="1"/>
            <a:r>
              <a:rPr lang="pt-BR" altLang="en-US" sz="2800" dirty="0"/>
              <a:t>Plasma Na+ &gt; 145 mEq / L</a:t>
            </a:r>
            <a:endParaRPr lang="en-US" altLang="en-US" sz="2800" dirty="0"/>
          </a:p>
          <a:p>
            <a:pPr lvl="1"/>
            <a:r>
              <a:rPr lang="en-US" altLang="en-US" sz="2800" dirty="0"/>
              <a:t>Excess Na intake (hypertonic IV solution)</a:t>
            </a:r>
            <a:endParaRPr lang="en-US" altLang="en-US" sz="1600" dirty="0"/>
          </a:p>
          <a:p>
            <a:pPr lvl="1"/>
            <a:r>
              <a:rPr lang="en-US" altLang="en-US" sz="2800" b="1" dirty="0"/>
              <a:t>Due to </a:t>
            </a:r>
            <a:r>
              <a:rPr lang="en-US" altLang="en-US" sz="2800" b="1" dirty="0">
                <a:latin typeface="Times New Roman" pitchFamily="18" charset="0"/>
                <a:cs typeface="Times New Roman" pitchFamily="18" charset="0"/>
              </a:rPr>
              <a:t>↑ </a:t>
            </a:r>
            <a:r>
              <a:rPr lang="en-US" altLang="en-US" sz="2800" b="1" dirty="0">
                <a:cs typeface="Times New Roman" pitchFamily="18" charset="0"/>
              </a:rPr>
              <a:t>Na + or </a:t>
            </a:r>
            <a:r>
              <a:rPr lang="en-US" altLang="en-US" sz="2800" b="1" dirty="0">
                <a:latin typeface="Times New Roman" pitchFamily="18" charset="0"/>
                <a:cs typeface="Times New Roman" pitchFamily="18" charset="0"/>
              </a:rPr>
              <a:t>↓</a:t>
            </a:r>
            <a:r>
              <a:rPr lang="en-US" altLang="en-US" sz="2800" b="1" dirty="0">
                <a:cs typeface="Times New Roman" pitchFamily="18" charset="0"/>
              </a:rPr>
              <a:t> water</a:t>
            </a:r>
          </a:p>
          <a:p>
            <a:pPr lvl="1"/>
            <a:r>
              <a:rPr lang="en-US" altLang="en-US" sz="2800" dirty="0">
                <a:cs typeface="Times New Roman" pitchFamily="18" charset="0"/>
              </a:rPr>
              <a:t>Water moves from ICF </a:t>
            </a: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→ </a:t>
            </a:r>
            <a:r>
              <a:rPr lang="en-US" altLang="en-US" sz="2800" dirty="0">
                <a:cs typeface="Times New Roman" pitchFamily="18" charset="0"/>
              </a:rPr>
              <a:t>ECF</a:t>
            </a:r>
          </a:p>
          <a:p>
            <a:pPr lvl="1"/>
            <a:r>
              <a:rPr lang="en-US" altLang="en-US" sz="2800" dirty="0">
                <a:cs typeface="Times New Roman" pitchFamily="18" charset="0"/>
              </a:rPr>
              <a:t>Cells dehydrate</a:t>
            </a:r>
          </a:p>
          <a:p>
            <a:pPr lvl="1">
              <a:buFontTx/>
              <a:buNone/>
            </a:pPr>
            <a:endParaRPr lang="en-US" altLang="en-US" sz="3200" b="1" dirty="0">
              <a:cs typeface="Times New Roman" pitchFamily="18" charset="0"/>
            </a:endParaRPr>
          </a:p>
          <a:p>
            <a:pPr lvl="1">
              <a:buFontTx/>
              <a:buNone/>
            </a:pPr>
            <a:endParaRPr lang="en-US" altLang="en-US" sz="3200" b="1" dirty="0">
              <a:cs typeface="Times New Roman" pitchFamily="18" charset="0"/>
            </a:endParaRPr>
          </a:p>
          <a:p>
            <a:pPr lvl="1">
              <a:buFontTx/>
              <a:buNone/>
            </a:pPr>
            <a:endParaRPr lang="en-US" altLang="en-US" sz="2400" b="1" dirty="0">
              <a:cs typeface="Times New Roman" pitchFamily="18" charset="0"/>
            </a:endParaRPr>
          </a:p>
        </p:txBody>
      </p:sp>
      <p:sp>
        <p:nvSpPr>
          <p:cNvPr id="4" name="Flowchart: Magnetic Disk 3"/>
          <p:cNvSpPr/>
          <p:nvPr/>
        </p:nvSpPr>
        <p:spPr bwMode="auto">
          <a:xfrm>
            <a:off x="7391400" y="2743200"/>
            <a:ext cx="1143000" cy="2438400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sz="2000" dirty="0">
                <a:ea typeface="ＭＳ Ｐゴシック" pitchFamily="-64" charset="-128"/>
              </a:rPr>
              <a:t>Na+</a:t>
            </a:r>
          </a:p>
          <a:p>
            <a:pPr>
              <a:defRPr/>
            </a:pPr>
            <a:r>
              <a:rPr lang="en-US" sz="2000" dirty="0">
                <a:ea typeface="ＭＳ Ｐゴシック" pitchFamily="-64" charset="-128"/>
              </a:rPr>
              <a:t>Na+</a:t>
            </a:r>
          </a:p>
          <a:p>
            <a:pPr>
              <a:defRPr/>
            </a:pPr>
            <a:r>
              <a:rPr lang="en-US" sz="2000" dirty="0">
                <a:ea typeface="ＭＳ Ｐゴシック" pitchFamily="-64" charset="-128"/>
              </a:rPr>
              <a:t>Na+</a:t>
            </a:r>
          </a:p>
        </p:txBody>
      </p:sp>
      <p:sp>
        <p:nvSpPr>
          <p:cNvPr id="23557" name="Oval 4"/>
          <p:cNvSpPr>
            <a:spLocks noChangeArrowheads="1"/>
          </p:cNvSpPr>
          <p:nvPr/>
        </p:nvSpPr>
        <p:spPr bwMode="auto">
          <a:xfrm>
            <a:off x="6172200" y="4267200"/>
            <a:ext cx="1219200" cy="11430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en-US"/>
              <a:t>Cell</a:t>
            </a:r>
          </a:p>
          <a:p>
            <a:r>
              <a:rPr lang="en-US" altLang="en-US"/>
              <a:t>H</a:t>
            </a:r>
            <a:r>
              <a:rPr lang="en-US" altLang="en-US" baseline="-25000"/>
              <a:t>2</a:t>
            </a:r>
            <a:r>
              <a:rPr lang="en-US" altLang="en-US"/>
              <a:t>O</a:t>
            </a:r>
          </a:p>
        </p:txBody>
      </p:sp>
      <p:sp>
        <p:nvSpPr>
          <p:cNvPr id="6" name="Right Arrow 5"/>
          <p:cNvSpPr/>
          <p:nvPr/>
        </p:nvSpPr>
        <p:spPr bwMode="auto">
          <a:xfrm>
            <a:off x="7162800" y="4876800"/>
            <a:ext cx="381000" cy="3810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2ECF277-DD6F-4A1B-984B-45DF27D4EBA3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1582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Causes of Hypernatremia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1. Excessive Sodium</a:t>
            </a:r>
          </a:p>
          <a:p>
            <a:r>
              <a:rPr lang="en-US" dirty="0"/>
              <a:t>Improperly mixed formula</a:t>
            </a:r>
          </a:p>
          <a:p>
            <a:r>
              <a:rPr lang="en-US" dirty="0"/>
              <a:t>Excess sodium bicarbonate</a:t>
            </a:r>
          </a:p>
          <a:p>
            <a:r>
              <a:rPr lang="en-US" dirty="0"/>
              <a:t>Ingestion of seawater or sodium chloride</a:t>
            </a:r>
          </a:p>
          <a:p>
            <a:r>
              <a:rPr lang="en-US" dirty="0"/>
              <a:t>Intentional salt poisoning</a:t>
            </a:r>
          </a:p>
          <a:p>
            <a:r>
              <a:rPr lang="en-US" dirty="0"/>
              <a:t>Intravenous hypertonic saline</a:t>
            </a:r>
          </a:p>
          <a:p>
            <a:r>
              <a:rPr lang="en-US" dirty="0" err="1"/>
              <a:t>Hyperaldosteronism</a:t>
            </a:r>
            <a:endParaRPr lang="en-US" dirty="0"/>
          </a:p>
          <a:p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130802" cy="4937760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2. Water Deficit</a:t>
            </a:r>
          </a:p>
          <a:p>
            <a:r>
              <a:rPr lang="en-US" dirty="0" err="1"/>
              <a:t>Nephrogenic</a:t>
            </a:r>
            <a:r>
              <a:rPr lang="en-US" dirty="0"/>
              <a:t> Diabetes </a:t>
            </a:r>
            <a:r>
              <a:rPr lang="en-US" dirty="0" err="1"/>
              <a:t>Insipidus</a:t>
            </a:r>
            <a:endParaRPr lang="en-US" dirty="0"/>
          </a:p>
          <a:p>
            <a:r>
              <a:rPr lang="en-US" dirty="0"/>
              <a:t> Central DI</a:t>
            </a:r>
          </a:p>
          <a:p>
            <a:r>
              <a:rPr lang="en-US" dirty="0"/>
              <a:t>Increased Insensible Losses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Premature infants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Radiant warmers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Phototherapy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Inadequate intake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E81A5-7B31-4075-933A-719293469607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977568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58200" cy="493776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3. Water and Sodium Deficits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Gastrointestinal Losses</a:t>
            </a:r>
          </a:p>
          <a:p>
            <a:r>
              <a:rPr lang="en-US" dirty="0"/>
              <a:t>Diarrhea</a:t>
            </a:r>
          </a:p>
          <a:p>
            <a:r>
              <a:rPr lang="en-US" dirty="0"/>
              <a:t>Emesis/nasogastric suction</a:t>
            </a:r>
          </a:p>
          <a:p>
            <a:r>
              <a:rPr lang="en-US" dirty="0"/>
              <a:t>Osmotic cathartics (lactulose)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Cutaneous Losses</a:t>
            </a:r>
          </a:p>
          <a:p>
            <a:r>
              <a:rPr lang="en-US" dirty="0"/>
              <a:t>Burns</a:t>
            </a:r>
          </a:p>
          <a:p>
            <a:r>
              <a:rPr lang="en-US" dirty="0"/>
              <a:t>Excessive sweating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Renal Losses</a:t>
            </a:r>
          </a:p>
          <a:p>
            <a:r>
              <a:rPr lang="en-US" dirty="0"/>
              <a:t>Osmotic diuretics (</a:t>
            </a:r>
            <a:r>
              <a:rPr lang="en-US" dirty="0" err="1"/>
              <a:t>mannitol</a:t>
            </a:r>
            <a:r>
              <a:rPr lang="en-US" dirty="0"/>
              <a:t>)</a:t>
            </a:r>
          </a:p>
          <a:p>
            <a:r>
              <a:rPr lang="en-US" dirty="0"/>
              <a:t>Diabetes mellitus</a:t>
            </a:r>
          </a:p>
          <a:p>
            <a:r>
              <a:rPr lang="en-US" dirty="0"/>
              <a:t>Chronic kidney disease (dysplasia and obstructive </a:t>
            </a:r>
            <a:r>
              <a:rPr lang="en-US" dirty="0" err="1"/>
              <a:t>uropathy</a:t>
            </a:r>
            <a:r>
              <a:rPr lang="en-US" dirty="0"/>
              <a:t>)</a:t>
            </a:r>
          </a:p>
          <a:p>
            <a:r>
              <a:rPr lang="en-US" dirty="0" err="1"/>
              <a:t>Polyuric</a:t>
            </a:r>
            <a:r>
              <a:rPr lang="en-US" dirty="0"/>
              <a:t> phase of acute tubular necrosis</a:t>
            </a:r>
          </a:p>
          <a:p>
            <a:r>
              <a:rPr lang="en-US" dirty="0"/>
              <a:t>Post obstructive diuresis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B0CC160-0FC9-4005-B915-9FEB80782655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125472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Manifestations..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 err="1"/>
              <a:t>Hypernatremia</a:t>
            </a:r>
            <a:r>
              <a:rPr lang="en-US" dirty="0"/>
              <a:t> </a:t>
            </a:r>
            <a:r>
              <a:rPr lang="en-US" dirty="0" smtClean="0"/>
              <a:t>           </a:t>
            </a:r>
            <a:r>
              <a:rPr lang="en-US" dirty="0"/>
              <a:t>Asymptomatic </a:t>
            </a:r>
          </a:p>
          <a:p>
            <a:pPr marL="0" indent="0">
              <a:buNone/>
            </a:pPr>
            <a:r>
              <a:rPr lang="en-US" dirty="0"/>
              <a:t>                                     Symptomatic (Na&gt;160 </a:t>
            </a:r>
            <a:r>
              <a:rPr lang="en-US" dirty="0" err="1" smtClean="0"/>
              <a:t>meq</a:t>
            </a:r>
            <a:r>
              <a:rPr lang="en-US" dirty="0" smtClean="0"/>
              <a:t>/L)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AutoShape 3"/>
          <p:cNvSpPr>
            <a:spLocks/>
          </p:cNvSpPr>
          <p:nvPr/>
        </p:nvSpPr>
        <p:spPr bwMode="auto">
          <a:xfrm>
            <a:off x="3419123" y="1700214"/>
            <a:ext cx="386644" cy="1844675"/>
          </a:xfrm>
          <a:prstGeom prst="leftBrace">
            <a:avLst>
              <a:gd name="adj1" fmla="val 3534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8" dist="17961" dir="13500000">
              <a:schemeClr val="tx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605916-0097-48A8-90B1-8D4D14FAABF0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478114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/>
              <a:t>Clinical Manifestations of Abnormalities in Serum Sodium 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l">
              <a:lnSpc>
                <a:spcPct val="80000"/>
              </a:lnSpc>
            </a:pPr>
            <a:r>
              <a:rPr lang="en-US" sz="2100" dirty="0"/>
              <a:t>Central nervous </a:t>
            </a:r>
            <a:r>
              <a:rPr lang="en-US" sz="2100" dirty="0" smtClean="0"/>
              <a:t>system -- </a:t>
            </a:r>
            <a:r>
              <a:rPr lang="en-US" sz="2100" dirty="0"/>
              <a:t>Restlessness, lethargy, ataxia </a:t>
            </a:r>
            <a:r>
              <a:rPr lang="en-US" sz="2100" dirty="0" smtClean="0"/>
              <a:t>, </a:t>
            </a:r>
            <a:r>
              <a:rPr lang="en-US" sz="2100" dirty="0" err="1" smtClean="0"/>
              <a:t>irritablity</a:t>
            </a:r>
            <a:r>
              <a:rPr lang="en-US" sz="2100" dirty="0" smtClean="0"/>
              <a:t> ,delirium</a:t>
            </a:r>
            <a:r>
              <a:rPr lang="en-US" sz="2100" dirty="0"/>
              <a:t>, seizures, coma      </a:t>
            </a:r>
          </a:p>
          <a:p>
            <a:pPr algn="l">
              <a:lnSpc>
                <a:spcPct val="80000"/>
              </a:lnSpc>
            </a:pPr>
            <a:r>
              <a:rPr lang="en-US" sz="2100" dirty="0"/>
              <a:t>Musculoskeletal </a:t>
            </a:r>
            <a:r>
              <a:rPr lang="en-US" sz="2100" dirty="0" smtClean="0"/>
              <a:t>--  </a:t>
            </a:r>
            <a:r>
              <a:rPr lang="en-US" sz="2100" dirty="0"/>
              <a:t>weakness</a:t>
            </a:r>
          </a:p>
          <a:p>
            <a:pPr algn="l">
              <a:lnSpc>
                <a:spcPct val="80000"/>
              </a:lnSpc>
            </a:pPr>
            <a:r>
              <a:rPr lang="en-US" sz="2100" dirty="0"/>
              <a:t>Cardiovascular </a:t>
            </a:r>
            <a:r>
              <a:rPr lang="en-US" sz="2100" dirty="0" smtClean="0"/>
              <a:t>--     </a:t>
            </a:r>
            <a:r>
              <a:rPr lang="en-US" sz="2100" dirty="0"/>
              <a:t>Tachycardia, </a:t>
            </a:r>
            <a:r>
              <a:rPr lang="en-US" sz="2100" dirty="0" smtClean="0"/>
              <a:t>hypotension, syncope</a:t>
            </a:r>
            <a:endParaRPr lang="en-US" sz="2100" dirty="0"/>
          </a:p>
          <a:p>
            <a:pPr algn="l">
              <a:lnSpc>
                <a:spcPct val="80000"/>
              </a:lnSpc>
            </a:pPr>
            <a:r>
              <a:rPr lang="en-US" sz="2100" dirty="0"/>
              <a:t>Tissue </a:t>
            </a:r>
            <a:r>
              <a:rPr lang="en-US" sz="2100" dirty="0" smtClean="0"/>
              <a:t>-- </a:t>
            </a:r>
            <a:r>
              <a:rPr lang="en-US" sz="2100" dirty="0"/>
              <a:t>Dry sticky mucous membranes, red </a:t>
            </a:r>
            <a:r>
              <a:rPr lang="en-US" sz="2100" dirty="0" smtClean="0"/>
              <a:t>swollen tongue ,decreased </a:t>
            </a:r>
            <a:r>
              <a:rPr lang="en-US" sz="2100" dirty="0"/>
              <a:t>saliva and tears</a:t>
            </a:r>
          </a:p>
          <a:p>
            <a:pPr algn="l">
              <a:lnSpc>
                <a:spcPct val="80000"/>
              </a:lnSpc>
            </a:pPr>
            <a:r>
              <a:rPr lang="en-US" sz="2100" dirty="0"/>
              <a:t>Renal </a:t>
            </a:r>
            <a:r>
              <a:rPr lang="en-US" sz="2100" dirty="0" smtClean="0"/>
              <a:t>-- </a:t>
            </a:r>
            <a:r>
              <a:rPr lang="en-US" sz="2100" dirty="0" err="1" smtClean="0"/>
              <a:t>Oliguria</a:t>
            </a:r>
            <a:r>
              <a:rPr lang="en-US" sz="2100" dirty="0" smtClean="0"/>
              <a:t>   </a:t>
            </a:r>
            <a:endParaRPr lang="en-US" sz="2100" dirty="0"/>
          </a:p>
          <a:p>
            <a:pPr algn="l">
              <a:lnSpc>
                <a:spcPct val="80000"/>
              </a:lnSpc>
            </a:pPr>
            <a:r>
              <a:rPr lang="en-US" sz="2100" dirty="0"/>
              <a:t>Metabolic </a:t>
            </a:r>
            <a:r>
              <a:rPr lang="en-US" sz="2100" dirty="0" smtClean="0"/>
              <a:t>--fever   </a:t>
            </a:r>
            <a:endParaRPr lang="en-US" sz="21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634ABFF-F49D-48ED-858C-3DB1F64D8D0E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76810728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Hypernatremic</a:t>
            </a:r>
            <a:r>
              <a:rPr lang="en-US" dirty="0" smtClean="0"/>
              <a:t> Dehydration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history usually suggests the etiology of the dehydration :- isotonic dehydration, </a:t>
            </a:r>
            <a:r>
              <a:rPr lang="en-US" dirty="0" err="1"/>
              <a:t>hyponatremic</a:t>
            </a:r>
            <a:r>
              <a:rPr lang="en-US" dirty="0"/>
              <a:t> dehydration, or </a:t>
            </a:r>
            <a:r>
              <a:rPr lang="en-US" dirty="0" err="1"/>
              <a:t>hypernatremic</a:t>
            </a:r>
            <a:r>
              <a:rPr lang="en-US" dirty="0"/>
              <a:t> dehydration.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The degree of dehydration is underestimated in </a:t>
            </a:r>
            <a:r>
              <a:rPr lang="en-US" dirty="0" err="1"/>
              <a:t>hypernatremic</a:t>
            </a:r>
            <a:r>
              <a:rPr lang="en-US" dirty="0"/>
              <a:t> dehydration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B2620A5-D6D9-42BE-9BC3-A47F8A9F7477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631553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to Severe Dehydration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Acute intervention to ensure  adequate tissue perfusion.</a:t>
            </a:r>
          </a:p>
          <a:p>
            <a:r>
              <a:rPr lang="en-US" dirty="0"/>
              <a:t>Rapid restoration of the circulating intravascular volume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4AE48E1-67AC-4A71-9B2C-F8554A6C3BA6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200819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Treatment…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8108334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254C02A-46FD-4663-8BBA-F3D91227C458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808507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Calculate the free water deficit</a:t>
            </a:r>
          </a:p>
          <a:p>
            <a:r>
              <a:rPr lang="en-US" dirty="0"/>
              <a:t>Correct the free water deficit at a rate of 0.5 -1mEq/L/</a:t>
            </a:r>
            <a:r>
              <a:rPr lang="en-US" dirty="0" err="1"/>
              <a:t>hr</a:t>
            </a:r>
            <a:endParaRPr lang="en-US" dirty="0"/>
          </a:p>
          <a:p>
            <a:r>
              <a:rPr lang="en-US" dirty="0"/>
              <a:t>Check serum Na q4hr</a:t>
            </a:r>
          </a:p>
          <a:p>
            <a:r>
              <a:rPr lang="en-US" dirty="0"/>
              <a:t>Use isotonic salt-free IV fluid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E5BF58-9F41-4AFF-A745-2303B18B4DC6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374715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133601"/>
            <a:ext cx="8763000" cy="1152525"/>
          </a:xfrm>
        </p:spPr>
        <p:txBody>
          <a:bodyPr/>
          <a:lstStyle/>
          <a:p>
            <a:r>
              <a:rPr lang="en-US" sz="2400" dirty="0"/>
              <a:t>Water deficit (L)=                                  </a:t>
            </a:r>
            <a:r>
              <a:rPr lang="en-US" sz="2400" dirty="0" smtClean="0"/>
              <a:t>        </a:t>
            </a:r>
            <a:r>
              <a:rPr lang="en-US" sz="2400" dirty="0" smtClean="0">
                <a:cs typeface="Tahoma" pitchFamily="34" charset="0"/>
              </a:rPr>
              <a:t>× </a:t>
            </a:r>
            <a:r>
              <a:rPr lang="en-US" sz="2400" dirty="0">
                <a:cs typeface="Tahoma" pitchFamily="34" charset="0"/>
              </a:rPr>
              <a:t>TBW</a:t>
            </a:r>
            <a:r>
              <a:rPr lang="en-US" sz="2400" dirty="0"/>
              <a:t>                 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4390" y="260350"/>
            <a:ext cx="7632700" cy="17526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cs typeface="Times New Roman" pitchFamily="18" charset="0"/>
              </a:rPr>
              <a:t>The formula used to estimate the amount of water required to correct hypernatremia:-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1600200" y="1828800"/>
            <a:ext cx="7089422" cy="162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5000"/>
              </a:lnSpc>
            </a:pP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    </a:t>
            </a: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</a:rPr>
              <a:t>Serum sodium-140   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/>
            </a:r>
            <a:br>
              <a:rPr lang="en-US" dirty="0">
                <a:solidFill>
                  <a:schemeClr val="tx2"/>
                </a:solidFill>
                <a:latin typeface="Times New Roman" pitchFamily="18" charset="0"/>
              </a:rPr>
            </a:b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                                               </a:t>
            </a:r>
            <a:br>
              <a:rPr lang="en-US" dirty="0">
                <a:solidFill>
                  <a:schemeClr val="tx2"/>
                </a:solidFill>
                <a:latin typeface="Times New Roman" pitchFamily="18" charset="0"/>
              </a:rPr>
            </a:b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        </a:t>
            </a:r>
            <a:endParaRPr lang="en-US" dirty="0" smtClean="0">
              <a:solidFill>
                <a:schemeClr val="tx2"/>
              </a:solidFill>
              <a:latin typeface="Times New Roman" pitchFamily="18" charset="0"/>
            </a:endParaRPr>
          </a:p>
          <a:p>
            <a:pPr algn="ctr">
              <a:lnSpc>
                <a:spcPct val="85000"/>
              </a:lnSpc>
            </a:pP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</a:rPr>
              <a:t>   </a:t>
            </a:r>
            <a:r>
              <a:rPr lang="en-US" dirty="0">
                <a:solidFill>
                  <a:schemeClr val="tx2"/>
                </a:solidFill>
                <a:latin typeface="Times New Roman" pitchFamily="18" charset="0"/>
              </a:rPr>
              <a:t>140</a:t>
            </a:r>
          </a:p>
        </p:txBody>
      </p:sp>
      <p:sp>
        <p:nvSpPr>
          <p:cNvPr id="73734" name="Line 6"/>
          <p:cNvSpPr>
            <a:spLocks noChangeShapeType="1"/>
          </p:cNvSpPr>
          <p:nvPr/>
        </p:nvSpPr>
        <p:spPr bwMode="auto">
          <a:xfrm flipH="1">
            <a:off x="3810000" y="2819400"/>
            <a:ext cx="3125611" cy="1905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538C4-EA06-4C5D-A025-93FADF4D9067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3572359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Deficit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Water Deficit= (</a:t>
            </a:r>
            <a:r>
              <a:rPr lang="en-US" sz="2000" dirty="0"/>
              <a:t>[serum Na/140]-1) x TBW</a:t>
            </a:r>
          </a:p>
          <a:p>
            <a:endParaRPr lang="en-US" sz="2000" dirty="0"/>
          </a:p>
          <a:p>
            <a:r>
              <a:rPr lang="en-US" sz="2000" dirty="0"/>
              <a:t>Example 20 kg male, serum Na= 160</a:t>
            </a:r>
          </a:p>
          <a:p>
            <a:r>
              <a:rPr lang="en-US" sz="2000" dirty="0"/>
              <a:t>Water deficit= ([160/140]-1)x 0.6x 20</a:t>
            </a:r>
          </a:p>
          <a:p>
            <a:pPr marL="0" indent="0">
              <a:buNone/>
            </a:pPr>
            <a:r>
              <a:rPr lang="en-US" sz="2000" dirty="0"/>
              <a:t>                    = 0.14 x 0.6x 20</a:t>
            </a:r>
          </a:p>
          <a:p>
            <a:pPr marL="0" indent="0">
              <a:buNone/>
            </a:pPr>
            <a:r>
              <a:rPr lang="en-US" sz="2000" dirty="0"/>
              <a:t>                   = 1.7 L</a:t>
            </a:r>
          </a:p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3E826F2-4F81-4E93-AF6C-7DA021C7AC80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756474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Only  half of the water deficit should be corrected in the first 24 hours.</a:t>
            </a:r>
          </a:p>
          <a:p>
            <a:r>
              <a:rPr lang="en-US" dirty="0"/>
              <a:t>In most clinical situations, the total deficit will require replacement over the next 24 - 72 hours</a:t>
            </a:r>
          </a:p>
          <a:p>
            <a:r>
              <a:rPr lang="en-US" dirty="0"/>
              <a:t>Decrease Na concentration at a rate of 0.5 </a:t>
            </a:r>
            <a:r>
              <a:rPr lang="en-US" dirty="0" err="1"/>
              <a:t>mEq</a:t>
            </a:r>
            <a:r>
              <a:rPr lang="en-US" dirty="0"/>
              <a:t>/</a:t>
            </a:r>
            <a:r>
              <a:rPr lang="en-US" dirty="0" err="1"/>
              <a:t>hr</a:t>
            </a:r>
            <a:r>
              <a:rPr lang="en-US" dirty="0"/>
              <a:t> ~ 10 </a:t>
            </a:r>
            <a:r>
              <a:rPr lang="en-US" dirty="0" err="1"/>
              <a:t>mEq</a:t>
            </a:r>
            <a:r>
              <a:rPr lang="en-US" dirty="0"/>
              <a:t>/day.</a:t>
            </a:r>
          </a:p>
          <a:p>
            <a:r>
              <a:rPr lang="en-US" dirty="0"/>
              <a:t>Faster correction can result in Cerebral Edema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8D56572-C2E6-4581-880E-ED83698DE9E7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189603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Hypernatremic</a:t>
            </a:r>
            <a:r>
              <a:rPr lang="en-US" dirty="0"/>
              <a:t> Dehydration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Is the most dangerous form of dehydration</a:t>
            </a:r>
          </a:p>
          <a:p>
            <a:r>
              <a:rPr lang="en-US" dirty="0"/>
              <a:t>Hypernatremia can cause serious neurologic damage, including central nervous system hemorrhages and thrombosis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1E06EE5-1A18-4333-9A84-9C00F09ACF3F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22524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Cont’d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1676400"/>
            <a:ext cx="7010400" cy="407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11FA13D-DE27-40EB-8366-2B5785C0F311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997488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 Complications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i="1" dirty="0"/>
              <a:t>To minimize the risk of cerebral edema, the serum sodium concentration should not decrease by &gt;10 </a:t>
            </a:r>
            <a:r>
              <a:rPr lang="en-US" i="1" dirty="0" err="1"/>
              <a:t>mEq</a:t>
            </a:r>
            <a:r>
              <a:rPr lang="en-US" i="1" dirty="0"/>
              <a:t>/L every 24 hr.</a:t>
            </a:r>
          </a:p>
          <a:p>
            <a:endParaRPr lang="en-US" dirty="0"/>
          </a:p>
          <a:p>
            <a:endParaRPr lang="en-US" b="1" i="1" dirty="0"/>
          </a:p>
          <a:p>
            <a:r>
              <a:rPr lang="en-US" b="1" i="1" dirty="0"/>
              <a:t>Overly rapid treatment of </a:t>
            </a:r>
            <a:r>
              <a:rPr lang="en-US" b="1" i="1" dirty="0" err="1"/>
              <a:t>hypernatremic</a:t>
            </a:r>
            <a:r>
              <a:rPr lang="en-US" b="1" i="1" dirty="0"/>
              <a:t> dehydration may cause significant morbidity and mortality.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97A2B4-B470-46D6-ACB6-9DEE16D42232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546456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Cont’D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67" y="1447800"/>
            <a:ext cx="7560945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03EB64D-6739-4C24-8F48-57B3D388E492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473745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Cerebral Edema…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Seizures and a depressed level of consciousness are the most common manifestation.</a:t>
            </a:r>
          </a:p>
          <a:p>
            <a:r>
              <a:rPr lang="en-US" dirty="0"/>
              <a:t> Signs of increased intracranial pressure or impending herniation may develop quite rapidly.</a:t>
            </a:r>
          </a:p>
          <a:p>
            <a:endParaRPr lang="en-US" dirty="0"/>
          </a:p>
          <a:p>
            <a:r>
              <a:rPr lang="en-US" dirty="0"/>
              <a:t>Acutely, increasing the serum [Na+ ] through an infusion of 3% sodium chloride can reverse the cerebral edema. </a:t>
            </a:r>
          </a:p>
          <a:p>
            <a:r>
              <a:rPr lang="en-US" dirty="0"/>
              <a:t>Each 1 </a:t>
            </a:r>
            <a:r>
              <a:rPr lang="en-US" dirty="0">
                <a:solidFill>
                  <a:srgbClr val="FF0000"/>
                </a:solidFill>
              </a:rPr>
              <a:t>mL/kg of 3% </a:t>
            </a:r>
            <a:r>
              <a:rPr lang="en-US" dirty="0" err="1">
                <a:solidFill>
                  <a:srgbClr val="FF0000"/>
                </a:solidFill>
              </a:rPr>
              <a:t>NaCl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increases the serum [Na+ ] by approximately 1 </a:t>
            </a:r>
            <a:r>
              <a:rPr lang="en-US" dirty="0" err="1"/>
              <a:t>mEq</a:t>
            </a:r>
            <a:r>
              <a:rPr lang="en-US" dirty="0"/>
              <a:t>/L. </a:t>
            </a:r>
          </a:p>
          <a:p>
            <a:r>
              <a:rPr lang="en-US" dirty="0"/>
              <a:t>An infusion of 4 mL/kg often results in resolution of the symptoms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1042620-98B4-4798-957F-8DCE51DDB9D4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346539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Hyponatremia</a:t>
            </a:r>
            <a:r>
              <a:rPr lang="en-US" dirty="0"/>
              <a:t>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235DF-B2A2-4193-8756-DF265FE772F2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188983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 err="1"/>
              <a:t>Hyponatremia</a:t>
            </a:r>
            <a:r>
              <a:rPr lang="en-US" dirty="0"/>
              <a:t>:  Na&lt;135mEq/L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Causes :</a:t>
            </a:r>
          </a:p>
          <a:p>
            <a:pPr marL="0" indent="0">
              <a:buNone/>
            </a:pPr>
            <a:r>
              <a:rPr lang="en-US" dirty="0"/>
              <a:t>1. Sodium depletion</a:t>
            </a:r>
          </a:p>
          <a:p>
            <a:pPr marL="0" indent="0">
              <a:buNone/>
            </a:pPr>
            <a:r>
              <a:rPr lang="en-US" dirty="0"/>
              <a:t>2.  Sodium dilution 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CA57F0-0551-4F0F-A7EF-6ED07146D8E3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38560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Sodium depletion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77827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787400" y="1511300"/>
            <a:ext cx="7772400" cy="4114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1.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Decrease intake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  􀂄Low Na diet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  􀂄</a:t>
            </a:r>
            <a:r>
              <a:rPr lang="en-US" sz="2400" dirty="0" err="1"/>
              <a:t>Enteral</a:t>
            </a:r>
            <a:r>
              <a:rPr lang="en-US" sz="2400" dirty="0"/>
              <a:t> feeds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2. 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</a:rPr>
              <a:t>Increase loss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</a:t>
            </a:r>
            <a:r>
              <a:rPr lang="en-US" sz="2400" b="1" dirty="0"/>
              <a:t>Gastrointestinal Losses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  􀁻Vomiting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  􀁻Prolonged NGT suctioning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  􀁻Diarrhea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</a:t>
            </a:r>
            <a:r>
              <a:rPr lang="en-US" sz="2400" b="1" dirty="0"/>
              <a:t>Renal Losses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  􀁻Diuretics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  􀁻Primary renal disease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3.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 smtClean="0">
                <a:solidFill>
                  <a:schemeClr val="bg2">
                    <a:lumMod val="10000"/>
                  </a:schemeClr>
                </a:solidFill>
              </a:rPr>
              <a:t>Depletional</a:t>
            </a:r>
            <a:r>
              <a:rPr lang="en-US" sz="2400" b="1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bg2">
                    <a:lumMod val="10000"/>
                  </a:schemeClr>
                </a:solidFill>
              </a:rPr>
              <a:t>hyponatreamia</a:t>
            </a:r>
            <a:r>
              <a:rPr lang="en-US" sz="2400" b="1" dirty="0" smtClean="0">
                <a:solidFill>
                  <a:schemeClr val="bg2">
                    <a:lumMod val="10000"/>
                  </a:schemeClr>
                </a:solidFill>
              </a:rPr>
              <a:t> is often accompanied by </a:t>
            </a:r>
            <a:r>
              <a:rPr lang="en-US" sz="2400" b="1" dirty="0" err="1" smtClean="0">
                <a:solidFill>
                  <a:schemeClr val="bg2">
                    <a:lumMod val="10000"/>
                  </a:schemeClr>
                </a:solidFill>
              </a:rPr>
              <a:t>extracellulr</a:t>
            </a:r>
            <a:r>
              <a:rPr lang="en-US" sz="2400" b="1" dirty="0" smtClean="0">
                <a:solidFill>
                  <a:schemeClr val="bg2">
                    <a:lumMod val="10000"/>
                  </a:schemeClr>
                </a:solidFill>
              </a:rPr>
              <a:t> volume deficit</a:t>
            </a:r>
            <a:endParaRPr lang="en-US" sz="2400" b="1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F1F0F3F-7062-44D3-B1E5-3577E1CC4EDB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822445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Sodium dilution</a:t>
            </a:r>
            <a:br>
              <a:rPr lang="en-US"/>
            </a:br>
            <a:endParaRPr 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30956" y="1587500"/>
            <a:ext cx="7772400" cy="41148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1. Due to excess extracellular water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 􀂄Intentional: excessive oral intake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 􀂄Iatrogenic: Intravenous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2. Drugs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 􀂄Antipsychotics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 􀂄Tricyclic antidepressants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  􀂄Angiotensin-converting enzyme inhibitors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3. Hyperosmolar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􀁻</a:t>
            </a:r>
            <a:r>
              <a:rPr lang="en-US" sz="2400" dirty="0" err="1"/>
              <a:t>Mannitol</a:t>
            </a:r>
            <a:endParaRPr lang="en-US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􀁻Hyperglycemia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- For every 100 mg/</a:t>
            </a:r>
            <a:r>
              <a:rPr lang="en-US" sz="2400" dirty="0" err="1"/>
              <a:t>dL</a:t>
            </a:r>
            <a:r>
              <a:rPr lang="en-US" sz="2400" dirty="0"/>
              <a:t> increment in plasma glucose above normal, the plasma sodium should decrease by 1.6 </a:t>
            </a:r>
            <a:r>
              <a:rPr lang="en-US" sz="2400" dirty="0" err="1"/>
              <a:t>mEq</a:t>
            </a:r>
            <a:r>
              <a:rPr lang="en-US" sz="2400" dirty="0"/>
              <a:t>/L.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4.Pseudohyponatremia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􀁻Plasma lipids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400" dirty="0"/>
              <a:t>   􀁻Plasma proteins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  <a:p>
            <a:pPr>
              <a:lnSpc>
                <a:spcPct val="80000"/>
              </a:lnSpc>
              <a:buFontTx/>
              <a:buNone/>
            </a:pPr>
            <a:endParaRPr lang="en-US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C9F2E02-2850-4B33-A3A7-31836511B3A5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667743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en-US" altLang="en-US" dirty="0" err="1">
                <a:solidFill>
                  <a:schemeClr val="tx1"/>
                </a:solidFill>
              </a:rPr>
              <a:t>Hyponatremia</a:t>
            </a:r>
            <a:r>
              <a:rPr lang="en-US" altLang="en-US" dirty="0">
                <a:solidFill>
                  <a:schemeClr val="tx1"/>
                </a:solidFill>
              </a:rPr>
              <a:t>…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447800"/>
            <a:ext cx="7772400" cy="4953000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cs typeface="Arial" charset="0"/>
              </a:rPr>
              <a:t>Hypovolemic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cs typeface="Arial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cs typeface="Arial" charset="0"/>
              </a:rPr>
              <a:t>hyponatremia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cs typeface="Arial" charset="0"/>
              </a:rPr>
              <a:t> 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endParaRPr lang="en-US" sz="2800" b="1" dirty="0">
              <a:cs typeface="Arial" charset="0"/>
            </a:endParaRP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b="1" dirty="0">
                <a:solidFill>
                  <a:schemeClr val="tx1"/>
                </a:solidFill>
                <a:cs typeface="Arial" charset="0"/>
              </a:rPr>
              <a:t>Renal losses </a:t>
            </a:r>
            <a:r>
              <a:rPr lang="en-US" sz="2400" dirty="0">
                <a:cs typeface="Arial" charset="0"/>
              </a:rPr>
              <a:t>caused by diuretic excess, osmotic </a:t>
            </a:r>
            <a:r>
              <a:rPr lang="en-US" sz="2400" dirty="0" err="1">
                <a:cs typeface="Arial" charset="0"/>
              </a:rPr>
              <a:t>diuresis</a:t>
            </a:r>
            <a:r>
              <a:rPr lang="en-US" sz="2400" dirty="0">
                <a:cs typeface="Arial" charset="0"/>
              </a:rPr>
              <a:t>, adrenal insufficiency…..</a:t>
            </a:r>
          </a:p>
          <a:p>
            <a:pPr marL="822960" lvl="2" fontAlgn="auto">
              <a:spcAft>
                <a:spcPts val="0"/>
              </a:spcAft>
              <a:buClr>
                <a:schemeClr val="bg1">
                  <a:shade val="50000"/>
                </a:schemeClr>
              </a:buClr>
              <a:buFontTx/>
              <a:buNone/>
              <a:defRPr/>
            </a:pPr>
            <a:endParaRPr lang="en-US" dirty="0">
              <a:cs typeface="Arial" charset="0"/>
            </a:endParaRP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solidFill>
                  <a:schemeClr val="tx1"/>
                </a:solidFill>
                <a:cs typeface="Arial" charset="0"/>
              </a:rPr>
              <a:t>Extra renal losses </a:t>
            </a:r>
            <a:r>
              <a:rPr lang="en-US" sz="2400" dirty="0">
                <a:cs typeface="Arial" charset="0"/>
              </a:rPr>
              <a:t>caused by vomiting, diarrhea, sweat, and third spacing </a:t>
            </a:r>
          </a:p>
          <a:p>
            <a:pPr marL="548640" lvl="1" indent="-274320" fontAlgn="auto">
              <a:spcAft>
                <a:spcPts val="0"/>
              </a:spcAft>
              <a:buFontTx/>
              <a:buNone/>
              <a:defRPr/>
            </a:pPr>
            <a:endParaRPr lang="en-US" sz="2400" dirty="0">
              <a:cs typeface="Arial" charset="0"/>
            </a:endParaRPr>
          </a:p>
          <a:p>
            <a:pPr marL="274320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cs typeface="Arial" charset="0"/>
              </a:rPr>
              <a:t>Rx: Volume resuscitation with 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B47CF30-5781-4597-9E9B-A5EC84A992D6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6410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762000"/>
          </a:xfrm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Hyponatremia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676400"/>
            <a:ext cx="7772400" cy="4572000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cs typeface="Arial" charset="0"/>
              </a:rPr>
              <a:t>Normovolemic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cs typeface="Arial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cs typeface="Arial" charset="0"/>
              </a:rPr>
              <a:t>hyponatremia</a:t>
            </a:r>
            <a:endParaRPr lang="en-US" b="1" dirty="0">
              <a:solidFill>
                <a:schemeClr val="accent6">
                  <a:lumMod val="50000"/>
                </a:schemeClr>
              </a:solidFill>
              <a:cs typeface="Arial" charset="0"/>
            </a:endParaRP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endParaRPr lang="en-US" sz="2800" dirty="0">
              <a:cs typeface="Arial" charset="0"/>
            </a:endParaRP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cs typeface="Arial" charset="0"/>
              </a:rPr>
              <a:t>When hyponatremia is caused by SIADH, reset osmostat, glucocorticoid deficiency, hypothyroidism, or water intoxication(psychogenic polydipsi)</a:t>
            </a:r>
          </a:p>
          <a:p>
            <a:pPr marL="548640" lvl="1" indent="-274320" fontAlgn="auto">
              <a:spcAft>
                <a:spcPts val="0"/>
              </a:spcAft>
              <a:buFontTx/>
              <a:buNone/>
              <a:defRPr/>
            </a:pPr>
            <a:endParaRPr lang="en-US" sz="2400" dirty="0">
              <a:cs typeface="Arial" charset="0"/>
            </a:endParaRPr>
          </a:p>
          <a:p>
            <a:pPr marL="274320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cs typeface="Arial" charset="0"/>
              </a:rPr>
              <a:t>Rx: </a:t>
            </a: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cs typeface="Arial" charset="0"/>
              </a:rPr>
              <a:t>Fluid restriction</a:t>
            </a: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cs typeface="Arial" charset="0"/>
              </a:rPr>
              <a:t>Correct endocrine abnormality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B077B61-FA42-4443-BC7B-9A95C26E5F5F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738106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72400" cy="609600"/>
          </a:xfrm>
        </p:spPr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Hyponatremia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5800" y="1600200"/>
            <a:ext cx="7772400" cy="4800600"/>
          </a:xfrm>
        </p:spPr>
        <p:txBody>
          <a:bodyPr>
            <a:normAutofit/>
          </a:bodyPr>
          <a:lstStyle/>
          <a:p>
            <a:pPr marL="274320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cs typeface="Arial" charset="0"/>
              </a:rPr>
              <a:t>Hypervolemic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cs typeface="Arial" charset="0"/>
              </a:rPr>
              <a:t>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cs typeface="Arial" charset="0"/>
              </a:rPr>
              <a:t>hyponatremia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cs typeface="Arial" charset="0"/>
              </a:rPr>
              <a:t> </a:t>
            </a:r>
          </a:p>
          <a:p>
            <a:pPr marL="274320" indent="-274320" fontAlgn="auto">
              <a:spcAft>
                <a:spcPts val="0"/>
              </a:spcAft>
              <a:buFontTx/>
              <a:buNone/>
              <a:defRPr/>
            </a:pPr>
            <a:endParaRPr lang="en-US" sz="2800" dirty="0">
              <a:cs typeface="Arial" charset="0"/>
            </a:endParaRP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cs typeface="Arial" charset="0"/>
              </a:rPr>
              <a:t>If </a:t>
            </a:r>
            <a:r>
              <a:rPr lang="en-US" sz="2400" dirty="0" err="1">
                <a:cs typeface="Arial" charset="0"/>
              </a:rPr>
              <a:t>hyponatremia</a:t>
            </a:r>
            <a:r>
              <a:rPr lang="en-US" sz="2400" dirty="0">
                <a:cs typeface="Arial" charset="0"/>
              </a:rPr>
              <a:t> is caused by an edema-forming state (</a:t>
            </a:r>
            <a:r>
              <a:rPr lang="en-US" sz="2400" dirty="0" err="1">
                <a:cs typeface="Arial" charset="0"/>
              </a:rPr>
              <a:t>eg</a:t>
            </a:r>
            <a:r>
              <a:rPr lang="en-US" sz="2400" dirty="0">
                <a:cs typeface="Arial" charset="0"/>
              </a:rPr>
              <a:t>, congestive heart failure, cirrhosis, </a:t>
            </a:r>
            <a:r>
              <a:rPr lang="en-US" sz="2400" dirty="0" err="1">
                <a:cs typeface="Arial" charset="0"/>
              </a:rPr>
              <a:t>nephrotic</a:t>
            </a:r>
            <a:r>
              <a:rPr lang="en-US" sz="2400" dirty="0">
                <a:cs typeface="Arial" charset="0"/>
              </a:rPr>
              <a:t> syndrome)</a:t>
            </a:r>
          </a:p>
          <a:p>
            <a:pPr marL="548640" lvl="1" indent="-274320" fontAlgn="auto">
              <a:spcAft>
                <a:spcPts val="0"/>
              </a:spcAft>
              <a:buFontTx/>
              <a:buNone/>
              <a:defRPr/>
            </a:pPr>
            <a:endParaRPr lang="en-US" sz="2400" dirty="0">
              <a:cs typeface="Arial" charset="0"/>
            </a:endParaRPr>
          </a:p>
          <a:p>
            <a:pPr marL="548640" lvl="1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400" dirty="0">
                <a:cs typeface="Arial" charset="0"/>
              </a:rPr>
              <a:t>If </a:t>
            </a:r>
            <a:r>
              <a:rPr lang="en-US" sz="2400" dirty="0" err="1">
                <a:cs typeface="Arial" charset="0"/>
              </a:rPr>
              <a:t>hyponatremia</a:t>
            </a:r>
            <a:r>
              <a:rPr lang="en-US" sz="2400" dirty="0">
                <a:cs typeface="Arial" charset="0"/>
              </a:rPr>
              <a:t> is caused by acute or chronic renal failure</a:t>
            </a:r>
          </a:p>
          <a:p>
            <a:pPr marL="548640" lvl="1" indent="-274320" fontAlgn="auto">
              <a:spcAft>
                <a:spcPts val="0"/>
              </a:spcAft>
              <a:buFontTx/>
              <a:buNone/>
              <a:defRPr/>
            </a:pPr>
            <a:endParaRPr lang="en-US" sz="2400" dirty="0">
              <a:cs typeface="Arial" charset="0"/>
            </a:endParaRPr>
          </a:p>
          <a:p>
            <a:pPr marL="274320" indent="-274320" fontAlgn="auto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>
                <a:cs typeface="Arial" charset="0"/>
              </a:rPr>
              <a:t>Rx: Correct underlying state</a:t>
            </a:r>
          </a:p>
          <a:p>
            <a:pPr marL="274320" indent="-274320" fontAlgn="auto">
              <a:spcAft>
                <a:spcPts val="0"/>
              </a:spcAft>
              <a:buFont typeface="Wingdings 3"/>
              <a:buChar char=""/>
              <a:defRPr/>
            </a:pPr>
            <a:endParaRPr lang="en-US" sz="2800" dirty="0">
              <a:cs typeface="Arial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DF86B5-73A1-4626-850E-16F06E0493CD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153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symptoms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CNS symptom when Na&lt;120 </a:t>
            </a:r>
            <a:r>
              <a:rPr lang="en-US" dirty="0" err="1"/>
              <a:t>meq</a:t>
            </a:r>
            <a:r>
              <a:rPr lang="en-US" dirty="0"/>
              <a:t>/l</a:t>
            </a:r>
          </a:p>
          <a:p>
            <a:endParaRPr lang="en-US" dirty="0"/>
          </a:p>
          <a:p>
            <a:r>
              <a:rPr lang="en-US" dirty="0"/>
              <a:t>Cardiac symptom when Na&lt;100 </a:t>
            </a:r>
            <a:r>
              <a:rPr lang="en-US" dirty="0" err="1"/>
              <a:t>meq</a:t>
            </a:r>
            <a:r>
              <a:rPr lang="en-US" dirty="0"/>
              <a:t>/l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61FAD1-A8D4-41DD-9B4C-06C1EAC0FCF0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534732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Acute </a:t>
            </a:r>
            <a:r>
              <a:rPr lang="en-US" dirty="0" err="1"/>
              <a:t>Hyponatremia</a:t>
            </a:r>
            <a:r>
              <a:rPr lang="en-US" dirty="0"/>
              <a:t> (&lt;24 hours)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Early Onset (Serum Sodium &lt;125 </a:t>
            </a:r>
            <a:r>
              <a:rPr lang="en-US" dirty="0" err="1"/>
              <a:t>meq</a:t>
            </a:r>
            <a:r>
              <a:rPr lang="en-US" dirty="0"/>
              <a:t>/L) </a:t>
            </a:r>
          </a:p>
          <a:p>
            <a:pPr marL="0" indent="0">
              <a:buNone/>
            </a:pPr>
            <a:r>
              <a:rPr lang="en-US" dirty="0"/>
              <a:t>- Nausea </a:t>
            </a:r>
          </a:p>
          <a:p>
            <a:pPr marL="0" indent="0">
              <a:buNone/>
            </a:pPr>
            <a:r>
              <a:rPr lang="en-US" dirty="0"/>
              <a:t>- Vomiting </a:t>
            </a:r>
          </a:p>
          <a:p>
            <a:pPr marL="0" indent="0">
              <a:buNone/>
            </a:pPr>
            <a:r>
              <a:rPr lang="en-US" dirty="0"/>
              <a:t>- Headache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Later or Severe (Serum Sodium &lt;120 </a:t>
            </a:r>
            <a:r>
              <a:rPr lang="en-US" dirty="0" err="1"/>
              <a:t>meq</a:t>
            </a:r>
            <a:r>
              <a:rPr lang="en-US" dirty="0"/>
              <a:t>/L) </a:t>
            </a:r>
          </a:p>
          <a:p>
            <a:pPr>
              <a:buFontTx/>
              <a:buChar char="-"/>
            </a:pPr>
            <a:r>
              <a:rPr lang="en-US" dirty="0"/>
              <a:t>Seizure </a:t>
            </a:r>
          </a:p>
          <a:p>
            <a:pPr>
              <a:buFontTx/>
              <a:buChar char="-"/>
            </a:pPr>
            <a:r>
              <a:rPr lang="en-US" dirty="0"/>
              <a:t>Coma </a:t>
            </a:r>
          </a:p>
          <a:p>
            <a:pPr>
              <a:buFontTx/>
              <a:buChar char="-"/>
            </a:pPr>
            <a:r>
              <a:rPr lang="en-US" dirty="0"/>
              <a:t>Respiratory arrest 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6D2F6D-8CE3-47EA-A88F-1B7C16400EE6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839162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Chronic </a:t>
            </a:r>
            <a:r>
              <a:rPr lang="en-US" dirty="0" err="1"/>
              <a:t>Hyponatremia</a:t>
            </a:r>
            <a:r>
              <a:rPr lang="en-US" dirty="0"/>
              <a:t> (&gt;48 hours) </a:t>
            </a:r>
          </a:p>
          <a:p>
            <a:pPr>
              <a:buFontTx/>
              <a:buChar char="-"/>
            </a:pPr>
            <a:r>
              <a:rPr lang="en-US" dirty="0"/>
              <a:t>Lethargy </a:t>
            </a:r>
          </a:p>
          <a:p>
            <a:pPr>
              <a:buFontTx/>
              <a:buChar char="-"/>
            </a:pPr>
            <a:r>
              <a:rPr lang="en-US" dirty="0"/>
              <a:t>Confusion </a:t>
            </a:r>
          </a:p>
          <a:p>
            <a:pPr>
              <a:buFontTx/>
              <a:buChar char="-"/>
            </a:pPr>
            <a:r>
              <a:rPr lang="en-US" dirty="0"/>
              <a:t>Muscle cramps </a:t>
            </a:r>
          </a:p>
          <a:p>
            <a:pPr>
              <a:buFontTx/>
              <a:buChar char="-"/>
            </a:pPr>
            <a:r>
              <a:rPr lang="en-US" dirty="0"/>
              <a:t>Neurologic Impairment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280E56C-0814-42C3-9F62-6A925558AD2C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13466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443090" y="1524000"/>
            <a:ext cx="8521700" cy="406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b="1" dirty="0">
                <a:solidFill>
                  <a:srgbClr val="FF822D"/>
                </a:solidFill>
                <a:latin typeface="Times New Roman" pitchFamily="18" charset="0"/>
              </a:rPr>
              <a:t>Body System                   </a:t>
            </a:r>
            <a:r>
              <a:rPr lang="en-US" b="1" dirty="0" err="1">
                <a:solidFill>
                  <a:srgbClr val="FF822D"/>
                </a:solidFill>
                <a:latin typeface="Times New Roman" pitchFamily="18" charset="0"/>
              </a:rPr>
              <a:t>Hyponatremia</a:t>
            </a:r>
            <a:r>
              <a:rPr lang="en-US" b="1" dirty="0">
                <a:solidFill>
                  <a:srgbClr val="FF822D"/>
                </a:solidFill>
                <a:latin typeface="Times New Roman" pitchFamily="18" charset="0"/>
              </a:rPr>
              <a:t> </a:t>
            </a:r>
          </a:p>
          <a:p>
            <a:pPr>
              <a:spcBef>
                <a:spcPct val="20000"/>
              </a:spcBef>
            </a:pPr>
            <a:endParaRPr lang="en-US" b="1" dirty="0">
              <a:solidFill>
                <a:srgbClr val="FF822D"/>
              </a:solidFill>
              <a:latin typeface="Times New Roman" pitchFamily="18" charset="0"/>
            </a:endParaRPr>
          </a:p>
          <a:p>
            <a:pPr>
              <a:spcBef>
                <a:spcPct val="20000"/>
              </a:spcBef>
            </a:pPr>
            <a:r>
              <a:rPr lang="en-US" sz="1500" b="1" dirty="0">
                <a:solidFill>
                  <a:prstClr val="black"/>
                </a:solidFill>
                <a:latin typeface="Times New Roman" pitchFamily="18" charset="0"/>
              </a:rPr>
              <a:t>central nervous system            Headache, confusion, hyper-or hypoactive deep tendon</a:t>
            </a:r>
          </a:p>
          <a:p>
            <a:pPr>
              <a:spcBef>
                <a:spcPct val="20000"/>
              </a:spcBef>
            </a:pPr>
            <a:r>
              <a:rPr lang="en-US" sz="1500" b="1" dirty="0">
                <a:solidFill>
                  <a:prstClr val="black"/>
                </a:solidFill>
                <a:latin typeface="Times New Roman" pitchFamily="18" charset="0"/>
              </a:rPr>
              <a:t>                                                  reflexes, seizures, coma, increased intracranial pressure</a:t>
            </a:r>
          </a:p>
          <a:p>
            <a:pPr>
              <a:spcBef>
                <a:spcPct val="20000"/>
              </a:spcBef>
            </a:pPr>
            <a:r>
              <a:rPr lang="en-US" sz="1500" b="1" dirty="0">
                <a:solidFill>
                  <a:prstClr val="black"/>
                </a:solidFill>
                <a:latin typeface="Times New Roman" pitchFamily="18" charset="0"/>
              </a:rPr>
              <a:t>Musculoskeletal                          Weakness, fatigue, muscle cramps/twitching </a:t>
            </a:r>
          </a:p>
          <a:p>
            <a:pPr>
              <a:spcBef>
                <a:spcPct val="20000"/>
              </a:spcBef>
            </a:pPr>
            <a:r>
              <a:rPr lang="en-US" sz="1500" b="1" dirty="0">
                <a:solidFill>
                  <a:prstClr val="black"/>
                </a:solidFill>
                <a:latin typeface="Times New Roman" pitchFamily="18" charset="0"/>
              </a:rPr>
              <a:t>Gastrointestinal                            Anorexia, nausea, vomiting, watery diarrhea</a:t>
            </a:r>
          </a:p>
          <a:p>
            <a:pPr>
              <a:spcBef>
                <a:spcPct val="20000"/>
              </a:spcBef>
            </a:pPr>
            <a:r>
              <a:rPr lang="en-US" sz="1500" b="1" dirty="0">
                <a:solidFill>
                  <a:prstClr val="black"/>
                </a:solidFill>
                <a:latin typeface="Times New Roman" pitchFamily="18" charset="0"/>
              </a:rPr>
              <a:t>Cardiovascular                          Hypertension and </a:t>
            </a:r>
            <a:r>
              <a:rPr lang="en-US" sz="1500" b="1" dirty="0" err="1">
                <a:solidFill>
                  <a:prstClr val="black"/>
                </a:solidFill>
                <a:latin typeface="Times New Roman" pitchFamily="18" charset="0"/>
              </a:rPr>
              <a:t>bradycardia</a:t>
            </a:r>
            <a:r>
              <a:rPr lang="en-US" sz="1500" b="1" dirty="0">
                <a:solidFill>
                  <a:prstClr val="black"/>
                </a:solidFill>
                <a:latin typeface="Times New Roman" pitchFamily="18" charset="0"/>
              </a:rPr>
              <a:t> if significant increases in     </a:t>
            </a:r>
          </a:p>
          <a:p>
            <a:pPr>
              <a:spcBef>
                <a:spcPct val="20000"/>
              </a:spcBef>
            </a:pPr>
            <a:r>
              <a:rPr lang="en-US" sz="1500" b="1" dirty="0">
                <a:solidFill>
                  <a:prstClr val="black"/>
                </a:solidFill>
                <a:latin typeface="Times New Roman" pitchFamily="18" charset="0"/>
              </a:rPr>
              <a:t>                                                      intracranial pressure </a:t>
            </a:r>
          </a:p>
          <a:p>
            <a:pPr>
              <a:spcBef>
                <a:spcPct val="20000"/>
              </a:spcBef>
            </a:pPr>
            <a:r>
              <a:rPr lang="en-US" sz="1500" b="1" dirty="0">
                <a:solidFill>
                  <a:prstClr val="black"/>
                </a:solidFill>
                <a:latin typeface="Times New Roman" pitchFamily="18" charset="0"/>
              </a:rPr>
              <a:t>Tissue                                             Lacrimation, salivation</a:t>
            </a:r>
          </a:p>
          <a:p>
            <a:pPr>
              <a:spcBef>
                <a:spcPct val="20000"/>
              </a:spcBef>
            </a:pPr>
            <a:r>
              <a:rPr lang="en-US" sz="1500" b="1" dirty="0">
                <a:solidFill>
                  <a:prstClr val="black"/>
                </a:solidFill>
                <a:latin typeface="Times New Roman" pitchFamily="18" charset="0"/>
              </a:rPr>
              <a:t>Renal                                              Oliguria    </a:t>
            </a:r>
          </a:p>
          <a:p>
            <a:pPr>
              <a:spcBef>
                <a:spcPct val="20000"/>
              </a:spcBef>
            </a:pPr>
            <a:endParaRPr lang="en-US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C596E-48E4-47CD-9A60-ACD58370A218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89399594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Hyponatremia</a:t>
            </a:r>
            <a:r>
              <a:rPr lang="en-US" dirty="0"/>
              <a:t> Treatment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initial goal is correction of intravascular volume depletion with isotonic fluid.</a:t>
            </a:r>
          </a:p>
          <a:p>
            <a:endParaRPr lang="en-US" dirty="0"/>
          </a:p>
          <a:p>
            <a:r>
              <a:rPr lang="en-US" dirty="0"/>
              <a:t> An overly rapid (&gt;12 </a:t>
            </a:r>
            <a:r>
              <a:rPr lang="en-US" dirty="0" err="1"/>
              <a:t>mEq</a:t>
            </a:r>
            <a:r>
              <a:rPr lang="en-US" dirty="0"/>
              <a:t>/L over 1st 24 </a:t>
            </a:r>
            <a:r>
              <a:rPr lang="en-US" dirty="0" err="1"/>
              <a:t>hr</a:t>
            </a:r>
            <a:r>
              <a:rPr lang="en-US" dirty="0"/>
              <a:t>) or overcorrection in the serum [Na+ ] (&gt;135 </a:t>
            </a:r>
            <a:r>
              <a:rPr lang="en-US" dirty="0" err="1"/>
              <a:t>mEq</a:t>
            </a:r>
            <a:r>
              <a:rPr lang="en-US" dirty="0"/>
              <a:t>/L) is associated with an increased risk of central </a:t>
            </a:r>
            <a:r>
              <a:rPr lang="en-US" dirty="0" err="1"/>
              <a:t>pontine</a:t>
            </a:r>
            <a:r>
              <a:rPr lang="en-US" dirty="0"/>
              <a:t> </a:t>
            </a:r>
            <a:r>
              <a:rPr lang="en-US" dirty="0" err="1"/>
              <a:t>myelinolysis</a:t>
            </a:r>
            <a:r>
              <a:rPr lang="en-US" dirty="0"/>
              <a:t>.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F0EB2A9-3781-463C-A47C-C5DD47189250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921471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45911" y="0"/>
            <a:ext cx="8229600" cy="1143000"/>
          </a:xfrm>
        </p:spPr>
        <p:txBody>
          <a:bodyPr/>
          <a:lstStyle/>
          <a:p>
            <a:r>
              <a:rPr lang="en-US"/>
              <a:t>Treatment 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24555" y="1268413"/>
            <a:ext cx="7903634" cy="5084762"/>
          </a:xfrm>
        </p:spPr>
        <p:txBody>
          <a:bodyPr/>
          <a:lstStyle/>
          <a:p>
            <a:pPr marL="609600" indent="-609600" algn="just">
              <a:lnSpc>
                <a:spcPct val="120000"/>
              </a:lnSpc>
              <a:buFont typeface="Wingdings" pitchFamily="2" charset="2"/>
              <a:buAutoNum type="arabicPeriod"/>
            </a:pPr>
            <a:r>
              <a:rPr lang="en-US" sz="2800" b="1"/>
              <a:t>Asymptomatic :</a:t>
            </a:r>
            <a:r>
              <a:rPr lang="en-US" sz="2800"/>
              <a:t> </a:t>
            </a:r>
            <a:r>
              <a:rPr lang="en-US" sz="2400" i="1"/>
              <a:t>increase the sodium level  by no more than 0.5-1 meq/L/h to a maximum increase of 12 meq/L per day </a:t>
            </a:r>
            <a:endParaRPr lang="en-US" sz="2400" b="1"/>
          </a:p>
          <a:p>
            <a:pPr marL="609600" indent="-609600" algn="just">
              <a:lnSpc>
                <a:spcPct val="120000"/>
              </a:lnSpc>
              <a:buFont typeface="Wingdings" pitchFamily="2" charset="2"/>
              <a:buAutoNum type="arabicPeriod"/>
            </a:pPr>
            <a:endParaRPr lang="en-US" sz="2400" b="1"/>
          </a:p>
          <a:p>
            <a:pPr marL="609600" indent="-609600" algn="just">
              <a:lnSpc>
                <a:spcPct val="120000"/>
              </a:lnSpc>
              <a:buFont typeface="Wingdings" pitchFamily="2" charset="2"/>
              <a:buAutoNum type="arabicPeriod"/>
            </a:pPr>
            <a:r>
              <a:rPr lang="en-US" sz="2400" b="1"/>
              <a:t>Symptomatic:  </a:t>
            </a:r>
            <a:r>
              <a:rPr lang="en-US" sz="2400" i="1"/>
              <a:t>(Na&lt;120 meq/L) Increase the sodium level by no more than 1meq/L per hour until the serum Na level reaches 130 meq/L or neurologic symptoms are improved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D9DAB62-0FBA-47E5-AD55-C7A0F8C9849F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26601007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 Deficit = (Na Desired - Na observed)  x 0.6 x body weight(kg) </a:t>
            </a:r>
          </a:p>
          <a:p>
            <a:r>
              <a:rPr lang="en-US" dirty="0"/>
              <a:t>Replace half in first 8 hours and the rest in the following 16 hours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2320718-9062-4E84-9F66-A9AC54A120E8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5613692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/>
              <a:t>In cases of severe </a:t>
            </a:r>
            <a:r>
              <a:rPr lang="en-US" dirty="0" err="1"/>
              <a:t>hyponatremia</a:t>
            </a:r>
            <a:r>
              <a:rPr lang="en-US" dirty="0"/>
              <a:t> (&lt;120 </a:t>
            </a:r>
            <a:r>
              <a:rPr lang="en-US" dirty="0" err="1"/>
              <a:t>mEq</a:t>
            </a:r>
            <a:r>
              <a:rPr lang="en-US" dirty="0"/>
              <a:t>) with CNS symptoms:-</a:t>
            </a:r>
          </a:p>
          <a:p>
            <a:r>
              <a:rPr lang="en-US" dirty="0"/>
              <a:t>3% </a:t>
            </a:r>
            <a:r>
              <a:rPr lang="en-US" dirty="0" err="1"/>
              <a:t>NaCl</a:t>
            </a:r>
            <a:r>
              <a:rPr lang="en-US" dirty="0"/>
              <a:t> 3-5 ml/kg IV push for </a:t>
            </a:r>
            <a:r>
              <a:rPr lang="en-US" dirty="0" err="1"/>
              <a:t>hyponatremia</a:t>
            </a:r>
            <a:r>
              <a:rPr lang="en-US" dirty="0"/>
              <a:t> induced seizures</a:t>
            </a:r>
          </a:p>
          <a:p>
            <a:r>
              <a:rPr lang="en-US" dirty="0"/>
              <a:t>6 ml/kg of </a:t>
            </a:r>
            <a:r>
              <a:rPr lang="en-US" dirty="0" err="1"/>
              <a:t>NaCl</a:t>
            </a:r>
            <a:r>
              <a:rPr lang="en-US" dirty="0"/>
              <a:t> will raise serum Na by 5 </a:t>
            </a:r>
            <a:r>
              <a:rPr lang="en-US" dirty="0" err="1"/>
              <a:t>mEq</a:t>
            </a:r>
            <a:r>
              <a:rPr lang="en-US" dirty="0"/>
              <a:t>/L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991205-8311-464E-97C3-F1135B243994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090611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Oval 1"/>
          <p:cNvSpPr>
            <a:spLocks noChangeArrowheads="1"/>
          </p:cNvSpPr>
          <p:nvPr/>
        </p:nvSpPr>
        <p:spPr bwMode="auto">
          <a:xfrm>
            <a:off x="3733800" y="2743200"/>
            <a:ext cx="2438400" cy="19812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H</a:t>
            </a:r>
            <a:r>
              <a:rPr lang="en-US" baseline="-25000" dirty="0">
                <a:latin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</a:rPr>
              <a:t>O</a:t>
            </a:r>
          </a:p>
        </p:txBody>
      </p:sp>
      <p:sp>
        <p:nvSpPr>
          <p:cNvPr id="27651" name="Can 2"/>
          <p:cNvSpPr>
            <a:spLocks noChangeArrowheads="1"/>
          </p:cNvSpPr>
          <p:nvPr/>
        </p:nvSpPr>
        <p:spPr bwMode="auto">
          <a:xfrm>
            <a:off x="6096000" y="2057400"/>
            <a:ext cx="1524000" cy="3352800"/>
          </a:xfrm>
          <a:prstGeom prst="can">
            <a:avLst>
              <a:gd name="adj" fmla="val 25002"/>
            </a:avLst>
          </a:prstGeom>
          <a:solidFill>
            <a:schemeClr val="accent2">
              <a:lumMod val="60000"/>
              <a:lumOff val="4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         Na</a:t>
            </a:r>
            <a:r>
              <a:rPr lang="en-US" baseline="30000" dirty="0">
                <a:latin typeface="Arial" panose="020B0604020202020204" pitchFamily="34" charset="0"/>
              </a:rPr>
              <a:t> + </a:t>
            </a:r>
            <a:endParaRPr lang="en-US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         Na</a:t>
            </a:r>
            <a:r>
              <a:rPr lang="en-US" baseline="30000" dirty="0">
                <a:latin typeface="Arial" panose="020B0604020202020204" pitchFamily="34" charset="0"/>
              </a:rPr>
              <a:t>+</a:t>
            </a:r>
          </a:p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H</a:t>
            </a:r>
            <a:r>
              <a:rPr lang="en-US" baseline="-25000" dirty="0">
                <a:latin typeface="Arial" panose="020B0604020202020204" pitchFamily="34" charset="0"/>
              </a:rPr>
              <a:t>2</a:t>
            </a:r>
            <a:r>
              <a:rPr lang="en-US" dirty="0">
                <a:latin typeface="Arial" panose="020B0604020202020204" pitchFamily="34" charset="0"/>
              </a:rPr>
              <a:t>O  Na</a:t>
            </a:r>
            <a:r>
              <a:rPr lang="en-US" baseline="30000" dirty="0">
                <a:latin typeface="Arial" panose="020B0604020202020204" pitchFamily="34" charset="0"/>
              </a:rPr>
              <a:t>+</a:t>
            </a:r>
            <a:endParaRPr lang="en-US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Arial" panose="020B0604020202020204" pitchFamily="34" charset="0"/>
              </a:rPr>
              <a:t>         Na</a:t>
            </a:r>
            <a:r>
              <a:rPr lang="en-US" baseline="30000" dirty="0">
                <a:latin typeface="Arial" panose="020B0604020202020204" pitchFamily="34" charset="0"/>
              </a:rPr>
              <a:t>+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5844" name="Rectangle 3"/>
          <p:cNvSpPr>
            <a:spLocks noChangeArrowheads="1"/>
          </p:cNvSpPr>
          <p:nvPr/>
        </p:nvSpPr>
        <p:spPr bwMode="auto">
          <a:xfrm>
            <a:off x="1447800" y="838200"/>
            <a:ext cx="6934200" cy="9144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sz="4400"/>
              <a:t>Complications of treatment</a:t>
            </a:r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5562600" y="5410200"/>
            <a:ext cx="3352800" cy="685800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solidFill>
                  <a:srgbClr val="FF0000"/>
                </a:solidFill>
              </a:rPr>
              <a:t>Pontine myelinolysis</a:t>
            </a:r>
            <a:endParaRPr lang="en-US" altLang="en-US"/>
          </a:p>
        </p:txBody>
      </p:sp>
      <p:sp>
        <p:nvSpPr>
          <p:cNvPr id="35846" name="Right Arrow 5"/>
          <p:cNvSpPr>
            <a:spLocks noChangeArrowheads="1"/>
          </p:cNvSpPr>
          <p:nvPr/>
        </p:nvSpPr>
        <p:spPr bwMode="auto">
          <a:xfrm>
            <a:off x="5943600" y="3657600"/>
            <a:ext cx="3810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  <p:sp>
        <p:nvSpPr>
          <p:cNvPr id="35847" name="Oval 6"/>
          <p:cNvSpPr>
            <a:spLocks noChangeArrowheads="1"/>
          </p:cNvSpPr>
          <p:nvPr/>
        </p:nvSpPr>
        <p:spPr bwMode="auto">
          <a:xfrm>
            <a:off x="685800" y="2743200"/>
            <a:ext cx="1219200" cy="1371600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en-US"/>
              <a:t>H</a:t>
            </a:r>
            <a:r>
              <a:rPr lang="en-US" altLang="en-US" baseline="-25000"/>
              <a:t>2</a:t>
            </a:r>
            <a:r>
              <a:rPr lang="en-US" altLang="en-US"/>
              <a:t>O</a:t>
            </a:r>
          </a:p>
          <a:p>
            <a:r>
              <a:rPr lang="en-US" altLang="en-US"/>
              <a:t>Na</a:t>
            </a:r>
            <a:r>
              <a:rPr lang="en-US" altLang="en-US" baseline="30000"/>
              <a:t> + </a:t>
            </a:r>
            <a:endParaRPr lang="en-US" altLang="en-US"/>
          </a:p>
          <a:p>
            <a:endParaRPr lang="en-US" altLang="en-US"/>
          </a:p>
        </p:txBody>
      </p:sp>
      <p:sp>
        <p:nvSpPr>
          <p:cNvPr id="35848" name="Flowchart: Magnetic Disk 7"/>
          <p:cNvSpPr>
            <a:spLocks noChangeArrowheads="1"/>
          </p:cNvSpPr>
          <p:nvPr/>
        </p:nvSpPr>
        <p:spPr bwMode="auto">
          <a:xfrm>
            <a:off x="1905000" y="2209800"/>
            <a:ext cx="1295400" cy="2971800"/>
          </a:xfrm>
          <a:prstGeom prst="flowChartMagneticDis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r>
              <a:rPr lang="en-US" altLang="en-US"/>
              <a:t>  H</a:t>
            </a:r>
            <a:r>
              <a:rPr lang="en-US" altLang="en-US" baseline="-25000"/>
              <a:t>2</a:t>
            </a:r>
            <a:r>
              <a:rPr lang="en-US" altLang="en-US"/>
              <a:t>O</a:t>
            </a:r>
          </a:p>
          <a:p>
            <a:r>
              <a:rPr lang="en-US" altLang="en-US"/>
              <a:t>Na</a:t>
            </a:r>
            <a:r>
              <a:rPr lang="en-US" altLang="en-US" baseline="30000"/>
              <a:t> + 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9" name="Left-Right Arrow 8"/>
          <p:cNvSpPr/>
          <p:nvPr/>
        </p:nvSpPr>
        <p:spPr bwMode="auto">
          <a:xfrm>
            <a:off x="1676400" y="3352800"/>
            <a:ext cx="457200" cy="304800"/>
          </a:xfrm>
          <a:prstGeom prst="leftRightArrow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endParaRPr lang="en-US" dirty="0">
              <a:solidFill>
                <a:srgbClr val="1D9509"/>
              </a:solidFill>
              <a:latin typeface="Arial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45BA6-9A8F-48BD-BE48-948FF541E417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855083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Cont’D</a:t>
            </a:r>
            <a:endParaRPr lang="en-US" dirty="0"/>
          </a:p>
        </p:txBody>
      </p:sp>
      <p:sp>
        <p:nvSpPr>
          <p:cNvPr id="83970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cs typeface="Times New Roman" pitchFamily="18" charset="0"/>
              </a:rPr>
              <a:t>Rapid correction of </a:t>
            </a:r>
            <a:r>
              <a:rPr lang="en-US" b="1" dirty="0" err="1">
                <a:cs typeface="Times New Roman" pitchFamily="18" charset="0"/>
              </a:rPr>
              <a:t>hyponatremia</a:t>
            </a:r>
            <a:endParaRPr lang="en-US" b="1" dirty="0"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              </a:t>
            </a:r>
          </a:p>
          <a:p>
            <a:pPr marL="0" indent="0">
              <a:buNone/>
            </a:pPr>
            <a:r>
              <a:rPr lang="en-US" b="1" dirty="0">
                <a:cs typeface="Times New Roman" pitchFamily="18" charset="0"/>
              </a:rPr>
              <a:t>Pontine </a:t>
            </a:r>
            <a:r>
              <a:rPr lang="en-US" b="1" dirty="0" err="1">
                <a:cs typeface="Times New Roman" pitchFamily="18" charset="0"/>
              </a:rPr>
              <a:t>myelinolysis</a:t>
            </a:r>
            <a:endParaRPr lang="en-US" b="1" dirty="0"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               </a:t>
            </a:r>
          </a:p>
          <a:p>
            <a:pPr marL="0" indent="0">
              <a:buNone/>
            </a:pPr>
            <a:r>
              <a:rPr lang="en-US" b="1" dirty="0">
                <a:cs typeface="Times New Roman" pitchFamily="18" charset="0"/>
              </a:rPr>
              <a:t>Seizures, weakness/paresis, </a:t>
            </a:r>
            <a:r>
              <a:rPr lang="en-US" b="1" dirty="0" err="1">
                <a:cs typeface="Times New Roman" pitchFamily="18" charset="0"/>
              </a:rPr>
              <a:t>akinetic</a:t>
            </a:r>
            <a:r>
              <a:rPr lang="en-US" b="1" dirty="0">
                <a:cs typeface="Times New Roman" pitchFamily="18" charset="0"/>
              </a:rPr>
              <a:t> movements, unresponsiveness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               </a:t>
            </a:r>
          </a:p>
          <a:p>
            <a:pPr marL="0" indent="0">
              <a:buNone/>
            </a:pPr>
            <a:r>
              <a:rPr lang="en-US" b="1" dirty="0">
                <a:cs typeface="Times New Roman" pitchFamily="18" charset="0"/>
              </a:rPr>
              <a:t>Permanent brain damage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              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cs typeface="Times New Roman" pitchFamily="18" charset="0"/>
                <a:sym typeface="Symbol" pitchFamily="18" charset="2"/>
              </a:rPr>
              <a:t>         </a:t>
            </a:r>
            <a:r>
              <a:rPr lang="en-US" b="1" dirty="0">
                <a:cs typeface="Times New Roman" pitchFamily="18" charset="0"/>
              </a:rPr>
              <a:t>Death</a:t>
            </a:r>
          </a:p>
          <a:p>
            <a:endParaRPr lang="en-US" b="1" dirty="0">
              <a:cs typeface="Times New Roman" pitchFamily="18" charset="0"/>
            </a:endParaRPr>
          </a:p>
          <a:p>
            <a:endParaRPr lang="en-US" b="1" dirty="0">
              <a:cs typeface="Times New Roman" pitchFamily="18" charset="0"/>
            </a:endParaRPr>
          </a:p>
          <a:p>
            <a:endParaRPr lang="en-US" b="1" dirty="0"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D7990BA-15FD-4A93-A058-0F77FB191A4E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44983468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Potassium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5082-A68E-4EE5-95E4-E1B372C791E0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559011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Potassium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Most abundant intracellular </a:t>
            </a:r>
            <a:r>
              <a:rPr lang="en-US" dirty="0" err="1"/>
              <a:t>cation</a:t>
            </a:r>
            <a:endParaRPr lang="en-US" dirty="0"/>
          </a:p>
          <a:p>
            <a:r>
              <a:rPr lang="en-US" dirty="0"/>
              <a:t>Normal serum values 3.5-5.5 </a:t>
            </a:r>
            <a:r>
              <a:rPr lang="en-US" dirty="0" err="1"/>
              <a:t>mEq</a:t>
            </a:r>
            <a:endParaRPr lang="en-US" dirty="0"/>
          </a:p>
          <a:p>
            <a:r>
              <a:rPr lang="en-US" dirty="0"/>
              <a:t>Abnormalities of serum K are potentially life-threatening due to effect in cardiac function.</a:t>
            </a:r>
          </a:p>
          <a:p>
            <a:endParaRPr lang="en-US" dirty="0"/>
          </a:p>
          <a:p>
            <a:r>
              <a:rPr lang="en-US" dirty="0"/>
              <a:t>HYPOKALEMIA and HYPERKALEMIA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FFAE8A4-6DD6-4685-82B8-6347FC3CA829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0351719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Hyperkalemia Causes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108657" y="1268414"/>
            <a:ext cx="8243711" cy="544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endParaRPr lang="en-US" b="1" dirty="0">
              <a:solidFill>
                <a:schemeClr val="tx2"/>
              </a:solidFill>
              <a:latin typeface="Times New Roman" pitchFamily="18" charset="0"/>
            </a:endParaRPr>
          </a:p>
          <a:p>
            <a:pPr algn="ctr">
              <a:spcBef>
                <a:spcPct val="20000"/>
              </a:spcBef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</a:rPr>
              <a:t>Increased intake</a:t>
            </a:r>
          </a:p>
          <a:p>
            <a:pPr algn="ctr"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</a:rPr>
              <a:t>    Potassium supplementation</a:t>
            </a:r>
          </a:p>
          <a:p>
            <a:pPr algn="ctr"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</a:rPr>
              <a:t>    Blood transfusions</a:t>
            </a:r>
          </a:p>
          <a:p>
            <a:pPr algn="ctr"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</a:rPr>
              <a:t>   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</a:rPr>
              <a:t>Endogenous load/destruction</a:t>
            </a:r>
            <a:r>
              <a:rPr lang="en-US" sz="2000" dirty="0">
                <a:latin typeface="Times New Roman" pitchFamily="18" charset="0"/>
              </a:rPr>
              <a:t>:</a:t>
            </a:r>
          </a:p>
          <a:p>
            <a:pPr algn="ctr"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</a:rPr>
              <a:t> hemolysis, </a:t>
            </a:r>
            <a:r>
              <a:rPr lang="en-US" sz="2000" dirty="0" err="1">
                <a:latin typeface="Times New Roman" pitchFamily="18" charset="0"/>
              </a:rPr>
              <a:t>rhabdomyolysis</a:t>
            </a:r>
            <a:r>
              <a:rPr lang="en-US" sz="2000" dirty="0">
                <a:latin typeface="Times New Roman" pitchFamily="18" charset="0"/>
              </a:rPr>
              <a:t>,</a:t>
            </a:r>
          </a:p>
          <a:p>
            <a:pPr algn="ctr"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</a:rPr>
              <a:t>       </a:t>
            </a:r>
            <a:r>
              <a:rPr lang="en-US" sz="2000" dirty="0" err="1">
                <a:latin typeface="Times New Roman" pitchFamily="18" charset="0"/>
              </a:rPr>
              <a:t>cruch</a:t>
            </a:r>
            <a:r>
              <a:rPr lang="en-US" sz="2000" dirty="0">
                <a:latin typeface="Times New Roman" pitchFamily="18" charset="0"/>
              </a:rPr>
              <a:t> injury, gastrointestinal hemorrhage</a:t>
            </a:r>
          </a:p>
          <a:p>
            <a:pPr algn="ctr">
              <a:spcBef>
                <a:spcPct val="20000"/>
              </a:spcBef>
            </a:pPr>
            <a:r>
              <a:rPr lang="en-US" b="1" dirty="0">
                <a:solidFill>
                  <a:schemeClr val="tx2"/>
                </a:solidFill>
                <a:latin typeface="Times New Roman" pitchFamily="18" charset="0"/>
              </a:rPr>
              <a:t>Increased release</a:t>
            </a:r>
          </a:p>
          <a:p>
            <a:pPr algn="ctr"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</a:rPr>
              <a:t>    Acidosis</a:t>
            </a:r>
          </a:p>
          <a:p>
            <a:pPr algn="ctr"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</a:rPr>
              <a:t>    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</a:rPr>
              <a:t>Rapid rise of </a:t>
            </a:r>
            <a:r>
              <a:rPr lang="en-US" b="1" dirty="0" err="1">
                <a:solidFill>
                  <a:schemeClr val="tx2"/>
                </a:solidFill>
                <a:latin typeface="Times New Roman" pitchFamily="18" charset="0"/>
              </a:rPr>
              <a:t>extracelulare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</a:rPr>
              <a:t> osmolality (hyperglycemia or </a:t>
            </a:r>
            <a:r>
              <a:rPr lang="en-US" b="1" dirty="0" err="1">
                <a:solidFill>
                  <a:schemeClr val="tx2"/>
                </a:solidFill>
                <a:latin typeface="Times New Roman" pitchFamily="18" charset="0"/>
              </a:rPr>
              <a:t>mannitol</a:t>
            </a:r>
            <a:r>
              <a:rPr lang="en-US" b="1" dirty="0">
                <a:solidFill>
                  <a:schemeClr val="tx2"/>
                </a:solidFill>
                <a:latin typeface="Times New Roman" pitchFamily="18" charset="0"/>
              </a:rPr>
              <a:t>)</a:t>
            </a:r>
          </a:p>
          <a:p>
            <a:pPr algn="ctr"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</a:rPr>
              <a:t>Impaired excretion of potassium</a:t>
            </a:r>
          </a:p>
          <a:p>
            <a:pPr algn="ctr">
              <a:spcBef>
                <a:spcPct val="20000"/>
              </a:spcBef>
            </a:pPr>
            <a:r>
              <a:rPr lang="en-US" sz="2000" dirty="0">
                <a:latin typeface="Times New Roman" pitchFamily="18" charset="0"/>
              </a:rPr>
              <a:t>    Renal  insufficiency/failure</a:t>
            </a:r>
          </a:p>
          <a:p>
            <a:pPr algn="ctr">
              <a:spcBef>
                <a:spcPct val="20000"/>
              </a:spcBef>
            </a:pPr>
            <a:endParaRPr lang="en-US" sz="2000" dirty="0">
              <a:latin typeface="Times New Roman" pitchFamily="18" charset="0"/>
            </a:endParaRPr>
          </a:p>
          <a:p>
            <a:pPr algn="ctr">
              <a:spcBef>
                <a:spcPct val="20000"/>
              </a:spcBef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F7F5-46C5-4082-9427-804143D30FBC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6466479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1366838" y="-163513"/>
            <a:ext cx="7777162" cy="1431926"/>
          </a:xfrm>
        </p:spPr>
        <p:txBody>
          <a:bodyPr/>
          <a:lstStyle/>
          <a:p>
            <a:r>
              <a:rPr lang="en-US" sz="2800"/>
              <a:t>Clinical manifestation of hyperkalemia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360363" y="1628775"/>
            <a:ext cx="8783637" cy="576263"/>
          </a:xfrm>
        </p:spPr>
        <p:txBody>
          <a:bodyPr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i="1" dirty="0">
                <a:solidFill>
                  <a:schemeClr val="tx2"/>
                </a:solidFill>
                <a:cs typeface="Times New Roman" pitchFamily="18" charset="0"/>
              </a:rPr>
              <a:t>System                      Clinical Presentations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359834" y="2205039"/>
            <a:ext cx="8245122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000" i="1" dirty="0">
                <a:latin typeface="Times New Roman" pitchFamily="18" charset="0"/>
              </a:rPr>
              <a:t>Gastrointestinal                  Nausea/vomiting ,colic, diarrhea</a:t>
            </a:r>
          </a:p>
          <a:p>
            <a:pPr>
              <a:spcBef>
                <a:spcPct val="20000"/>
              </a:spcBef>
            </a:pPr>
            <a:r>
              <a:rPr lang="en-US" sz="2000" i="1" dirty="0">
                <a:latin typeface="Times New Roman" pitchFamily="18" charset="0"/>
              </a:rPr>
              <a:t>Neuromuscular                   weakness, paralysis, respiratory failure</a:t>
            </a:r>
          </a:p>
          <a:p>
            <a:pPr>
              <a:spcBef>
                <a:spcPct val="20000"/>
              </a:spcBef>
            </a:pPr>
            <a:r>
              <a:rPr lang="en-US" sz="2000" i="1" dirty="0">
                <a:latin typeface="Times New Roman" pitchFamily="18" charset="0"/>
              </a:rPr>
              <a:t>Cardiovascular                   Arrhythmia, arrest</a:t>
            </a:r>
          </a:p>
          <a:p>
            <a:pPr>
              <a:spcBef>
                <a:spcPct val="20000"/>
              </a:spcBef>
            </a:pPr>
            <a:endParaRPr lang="en-US" sz="2000" i="1" dirty="0">
              <a:latin typeface="Times New Roman" pitchFamily="18" charset="0"/>
            </a:endParaRPr>
          </a:p>
          <a:p>
            <a:pPr>
              <a:spcBef>
                <a:spcPct val="20000"/>
              </a:spcBef>
            </a:pPr>
            <a:r>
              <a:rPr lang="en-US" sz="2000" i="1" dirty="0">
                <a:latin typeface="Times New Roman" pitchFamily="18" charset="0"/>
              </a:rPr>
              <a:t>ECG changes                 Peaked T waves (early change)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000" i="1" dirty="0">
                <a:latin typeface="Times New Roman" pitchFamily="18" charset="0"/>
              </a:rPr>
              <a:t>                                       Flattened P wave 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000" i="1" dirty="0">
                <a:latin typeface="Times New Roman" pitchFamily="18" charset="0"/>
              </a:rPr>
              <a:t>                                       Prolonged PR interval (first-degree block)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000" i="1" dirty="0">
                <a:latin typeface="Times New Roman" pitchFamily="18" charset="0"/>
              </a:rPr>
              <a:t>                                       Widened QRS complex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000" i="1" dirty="0">
                <a:latin typeface="Times New Roman" pitchFamily="18" charset="0"/>
              </a:rPr>
              <a:t>                                       Sine wave formation 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000" i="1" dirty="0">
                <a:latin typeface="Times New Roman" pitchFamily="18" charset="0"/>
              </a:rPr>
              <a:t>                                       Ventricular fibrillation</a:t>
            </a:r>
            <a:r>
              <a:rPr lang="en-US" sz="2800" i="1" dirty="0">
                <a:latin typeface="Times New Roman" pitchFamily="18" charset="0"/>
              </a:rPr>
              <a:t> </a:t>
            </a:r>
          </a:p>
        </p:txBody>
      </p:sp>
      <p:sp>
        <p:nvSpPr>
          <p:cNvPr id="88069" name="Line 5"/>
          <p:cNvSpPr>
            <a:spLocks noChangeShapeType="1"/>
          </p:cNvSpPr>
          <p:nvPr/>
        </p:nvSpPr>
        <p:spPr bwMode="auto">
          <a:xfrm flipH="1">
            <a:off x="972257" y="6742113"/>
            <a:ext cx="7920566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8070" name="Line 6"/>
          <p:cNvSpPr>
            <a:spLocks noChangeShapeType="1"/>
          </p:cNvSpPr>
          <p:nvPr/>
        </p:nvSpPr>
        <p:spPr bwMode="auto">
          <a:xfrm flipH="1">
            <a:off x="324556" y="2133600"/>
            <a:ext cx="792056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34580-B5B3-4C8C-BA34-DEE6C50623F5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1465575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Hyperkalemia ECG</a:t>
            </a:r>
          </a:p>
        </p:txBody>
      </p:sp>
      <p:pic>
        <p:nvPicPr>
          <p:cNvPr id="4" name="Picture 7" descr="afp20060115p283-f1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219200"/>
            <a:ext cx="5181600" cy="4937125"/>
          </a:xfrm>
          <a:noFill/>
        </p:spPr>
      </p:pic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EA4421-88BA-4BBB-B42A-A0B6B0C458B6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16363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 descr="Picture4 001"/>
          <p:cNvPicPr>
            <a:picLocks noChangeAspect="1" noChangeArrowheads="1"/>
          </p:cNvPicPr>
          <p:nvPr/>
        </p:nvPicPr>
        <p:blipFill>
          <a:blip r:embed="rId3"/>
          <a:srcRect l="50012" t="4198" r="5450" b="6981"/>
          <a:stretch>
            <a:fillRect/>
          </a:stretch>
        </p:blipFill>
        <p:spPr bwMode="auto">
          <a:xfrm>
            <a:off x="1792111" y="109539"/>
            <a:ext cx="5513212" cy="663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2F472-E8B1-4535-B4C9-E3EC41767331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93467715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 to Hyperkalemia</a:t>
            </a:r>
          </a:p>
        </p:txBody>
      </p:sp>
      <p:sp>
        <p:nvSpPr>
          <p:cNvPr id="41987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b="1" u="sng" dirty="0"/>
              <a:t>Step 1: Is it real?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Assess for/exclude pseudo hyperkalemia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Hemolysis—ask the nurse/phlebotomist/lab tech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If suspected— repeat K</a:t>
            </a:r>
            <a:r>
              <a:rPr lang="en-US" sz="1800" baseline="30000" dirty="0"/>
              <a:t>+</a:t>
            </a:r>
            <a:r>
              <a:rPr lang="en-US" sz="1800" dirty="0"/>
              <a:t> level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Potassium infusion—ask the nurse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If suspected—repeat K</a:t>
            </a:r>
            <a:r>
              <a:rPr lang="en-US" sz="1800" baseline="30000" dirty="0"/>
              <a:t>+</a:t>
            </a:r>
            <a:r>
              <a:rPr lang="en-US" sz="1800" dirty="0"/>
              <a:t> level from peripheral vein AWAY from infusion site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3D2A2DC-6B05-4E72-A4EC-4FD3E5911E73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024445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 to Hyperkalemia</a:t>
            </a:r>
          </a:p>
        </p:txBody>
      </p:sp>
      <p:sp>
        <p:nvSpPr>
          <p:cNvPr id="43011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b="1" u="sng" dirty="0"/>
              <a:t>Step 2: If real, why did it happen?</a:t>
            </a:r>
          </a:p>
          <a:p>
            <a:pPr lvl="1"/>
            <a:r>
              <a:rPr lang="en-US" dirty="0"/>
              <a:t>Acute or chronic renal failure</a:t>
            </a:r>
          </a:p>
          <a:p>
            <a:pPr lvl="1"/>
            <a:r>
              <a:rPr lang="en-US" dirty="0"/>
              <a:t>Medications (K</a:t>
            </a:r>
            <a:r>
              <a:rPr lang="en-US" baseline="30000" dirty="0"/>
              <a:t>+</a:t>
            </a:r>
            <a:r>
              <a:rPr lang="en-US" dirty="0"/>
              <a:t> sparing diuretics, ACE inhibitors, ARB’s, BB’s, digoxin, etc.)</a:t>
            </a:r>
          </a:p>
          <a:p>
            <a:pPr lvl="1"/>
            <a:r>
              <a:rPr lang="en-US" dirty="0" err="1"/>
              <a:t>Endocrinopathies</a:t>
            </a:r>
            <a:endParaRPr lang="en-US" dirty="0"/>
          </a:p>
          <a:p>
            <a:pPr lvl="1"/>
            <a:r>
              <a:rPr lang="en-US" dirty="0"/>
              <a:t>K</a:t>
            </a:r>
            <a:r>
              <a:rPr lang="en-US" baseline="30000" dirty="0"/>
              <a:t>+</a:t>
            </a:r>
            <a:r>
              <a:rPr lang="en-US" dirty="0"/>
              <a:t> supplements or salt substitutes</a:t>
            </a:r>
          </a:p>
          <a:p>
            <a:pPr lvl="1"/>
            <a:r>
              <a:rPr lang="en-US" dirty="0"/>
              <a:t>K</a:t>
            </a:r>
            <a:r>
              <a:rPr lang="en-US" baseline="30000" dirty="0"/>
              <a:t>+</a:t>
            </a:r>
            <a:r>
              <a:rPr lang="en-US" dirty="0"/>
              <a:t> in IV infusions/TPN</a:t>
            </a:r>
          </a:p>
          <a:p>
            <a:pPr lvl="1"/>
            <a:r>
              <a:rPr lang="en-US" dirty="0"/>
              <a:t>GI losses..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F96ED68-4C44-4608-9E29-E598559F34BE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096454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 to Hyperkalemia</a:t>
            </a:r>
          </a:p>
        </p:txBody>
      </p:sp>
      <p:sp>
        <p:nvSpPr>
          <p:cNvPr id="45059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b="1" u="sng" dirty="0"/>
              <a:t>Step 3 (</a:t>
            </a:r>
            <a:r>
              <a:rPr lang="en-US" sz="2800" b="1" u="sng" dirty="0" err="1"/>
              <a:t>con’t</a:t>
            </a:r>
            <a:r>
              <a:rPr lang="en-US" sz="2800" b="1" u="sng" dirty="0"/>
              <a:t>): EKG assessment</a:t>
            </a:r>
          </a:p>
          <a:p>
            <a:pPr lvl="1"/>
            <a:r>
              <a:rPr lang="en-US" dirty="0"/>
              <a:t>Four stages of EKG changes</a:t>
            </a:r>
          </a:p>
          <a:p>
            <a:pPr lvl="2"/>
            <a:r>
              <a:rPr lang="en-US" dirty="0"/>
              <a:t>Peaked T waves</a:t>
            </a:r>
          </a:p>
          <a:p>
            <a:pPr lvl="2"/>
            <a:r>
              <a:rPr lang="en-US" dirty="0"/>
              <a:t>PR prolongation</a:t>
            </a:r>
          </a:p>
          <a:p>
            <a:pPr lvl="2"/>
            <a:r>
              <a:rPr lang="en-US" dirty="0"/>
              <a:t>QRS widening</a:t>
            </a:r>
          </a:p>
          <a:p>
            <a:pPr lvl="2"/>
            <a:r>
              <a:rPr lang="en-US" dirty="0"/>
              <a:t>Sine waves</a:t>
            </a:r>
          </a:p>
          <a:p>
            <a:pPr lvl="2"/>
            <a:endParaRPr lang="en-US" dirty="0"/>
          </a:p>
          <a:p>
            <a:pPr lvl="2">
              <a:buFont typeface="Arial" pitchFamily="34" charset="0"/>
              <a:buNone/>
            </a:pPr>
            <a:endParaRPr lang="en-US" dirty="0"/>
          </a:p>
          <a:p>
            <a:pPr lvl="2"/>
            <a:r>
              <a:rPr lang="en-US" dirty="0" err="1" smtClean="0"/>
              <a:t>Pulseless</a:t>
            </a:r>
            <a:r>
              <a:rPr lang="en-US" dirty="0" smtClean="0"/>
              <a:t> electrical activity </a:t>
            </a:r>
            <a:r>
              <a:rPr lang="en-US" dirty="0"/>
              <a:t>or </a:t>
            </a:r>
            <a:r>
              <a:rPr lang="en-US" dirty="0" err="1"/>
              <a:t>asystole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794110-3EBF-48BC-B32E-893CB5D17261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3439188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to Hyperkalemia…</a:t>
            </a:r>
          </a:p>
        </p:txBody>
      </p:sp>
      <p:sp>
        <p:nvSpPr>
          <p:cNvPr id="46083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u="sng" dirty="0"/>
              <a:t>Step 4: Emergency Rx</a:t>
            </a:r>
          </a:p>
          <a:p>
            <a:pPr lvl="1">
              <a:lnSpc>
                <a:spcPct val="90000"/>
              </a:lnSpc>
            </a:pPr>
            <a:r>
              <a:rPr lang="en-US" sz="2400" b="1" dirty="0"/>
              <a:t>Part A</a:t>
            </a:r>
            <a:r>
              <a:rPr lang="en-US" sz="2400" dirty="0"/>
              <a:t>: oppose toxic effects on cell membrane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IV calcium infusion (</a:t>
            </a:r>
            <a:r>
              <a:rPr lang="en-US" sz="2000" dirty="0" err="1"/>
              <a:t>gluconate</a:t>
            </a:r>
            <a:r>
              <a:rPr lang="en-US" sz="2000" dirty="0"/>
              <a:t> preferred over chloride)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Less toxic effects if IV extravasation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Give </a:t>
            </a:r>
            <a:r>
              <a:rPr lang="en-US" sz="2000" dirty="0" smtClean="0"/>
              <a:t>1-2ml/kg, </a:t>
            </a:r>
            <a:r>
              <a:rPr lang="en-US" sz="2000" dirty="0"/>
              <a:t>10mL ampules of 10% Calcium </a:t>
            </a:r>
            <a:r>
              <a:rPr lang="en-US" sz="2000" dirty="0" err="1"/>
              <a:t>gluconate</a:t>
            </a:r>
            <a:r>
              <a:rPr lang="en-US" sz="2000" dirty="0"/>
              <a:t> over 2-5 minutes</a:t>
            </a:r>
          </a:p>
          <a:p>
            <a:pPr lvl="2">
              <a:lnSpc>
                <a:spcPct val="90000"/>
              </a:lnSpc>
            </a:pPr>
            <a:r>
              <a:rPr lang="en-US" sz="2000" dirty="0"/>
              <a:t>Keep EKG machine attached to patient!!!</a:t>
            </a:r>
          </a:p>
          <a:p>
            <a:pPr lvl="3">
              <a:lnSpc>
                <a:spcPct val="90000"/>
              </a:lnSpc>
            </a:pPr>
            <a:r>
              <a:rPr lang="en-US" sz="1800" dirty="0"/>
              <a:t>EKG changes will diminish in 1-3 minutes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Action:  Stabilization of cardiac cells.  Does not lower potassium.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 Used for hyperkalemia with EKG changes.   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If EKG changes do not immediately resolve, dose can be repeated in 5 minutes.</a:t>
            </a:r>
          </a:p>
          <a:p>
            <a:pPr>
              <a:lnSpc>
                <a:spcPct val="90000"/>
              </a:lnSpc>
              <a:buFont typeface="Arial" pitchFamily="34" charset="0"/>
              <a:buNone/>
            </a:pPr>
            <a:endParaRPr lang="en-US" sz="2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1B002F-D6D3-481B-A606-A928D13B4ED5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1036760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 to Hyperkalemia</a:t>
            </a:r>
          </a:p>
        </p:txBody>
      </p:sp>
      <p:sp>
        <p:nvSpPr>
          <p:cNvPr id="47107" name="Rectangle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en-US" sz="2000" b="1" u="sng" dirty="0"/>
              <a:t>Step 4 (</a:t>
            </a:r>
            <a:r>
              <a:rPr lang="en-US" sz="2000" b="1" u="sng" dirty="0" err="1"/>
              <a:t>con’t</a:t>
            </a:r>
            <a:r>
              <a:rPr lang="en-US" sz="2000" b="1" u="sng" dirty="0"/>
              <a:t>): Emergency Rx</a:t>
            </a:r>
          </a:p>
          <a:p>
            <a:pPr lvl="1">
              <a:lnSpc>
                <a:spcPct val="80000"/>
              </a:lnSpc>
            </a:pPr>
            <a:r>
              <a:rPr lang="en-US" sz="3200" b="1" dirty="0"/>
              <a:t>Part B: Shift K</a:t>
            </a:r>
            <a:r>
              <a:rPr lang="en-US" sz="3200" b="1" baseline="30000" dirty="0"/>
              <a:t>+</a:t>
            </a:r>
            <a:r>
              <a:rPr lang="en-US" sz="3200" b="1" dirty="0"/>
              <a:t> into cells</a:t>
            </a:r>
            <a:endParaRPr lang="en-US" sz="3200" dirty="0"/>
          </a:p>
          <a:p>
            <a:pPr lvl="2">
              <a:lnSpc>
                <a:spcPct val="80000"/>
              </a:lnSpc>
              <a:buFont typeface="Arial" pitchFamily="34" charset="0"/>
              <a:buNone/>
            </a:pPr>
            <a:endParaRPr lang="en-US" sz="1800" dirty="0"/>
          </a:p>
          <a:p>
            <a:pPr lvl="2">
              <a:lnSpc>
                <a:spcPct val="80000"/>
              </a:lnSpc>
            </a:pPr>
            <a:r>
              <a:rPr lang="en-US" sz="1800" b="1" dirty="0"/>
              <a:t>Insulin/dextrose therapy</a:t>
            </a:r>
          </a:p>
          <a:p>
            <a:pPr lvl="3">
              <a:lnSpc>
                <a:spcPct val="80000"/>
              </a:lnSpc>
            </a:pPr>
            <a:r>
              <a:rPr lang="en-US" sz="2000" dirty="0"/>
              <a:t>Give 0.1iU/kg regular insulin IV push, together with 1 ampule (50mL) D50 IV push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2000" dirty="0"/>
              <a:t>Follow this with a D 5 containing IV maintenance fluid for several hours.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2000" dirty="0"/>
              <a:t>Effect within 15 minutes. 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2000" dirty="0"/>
              <a:t> Peak effect 60 min. Duration 3-4 hours.</a:t>
            </a:r>
          </a:p>
          <a:p>
            <a:pPr lvl="2">
              <a:lnSpc>
                <a:spcPct val="80000"/>
              </a:lnSpc>
            </a:pPr>
            <a:r>
              <a:rPr lang="en-US" sz="1800" dirty="0"/>
              <a:t>Adjuncts </a:t>
            </a:r>
          </a:p>
          <a:p>
            <a:pPr lvl="3">
              <a:lnSpc>
                <a:spcPct val="80000"/>
              </a:lnSpc>
            </a:pPr>
            <a:r>
              <a:rPr lang="en-US" sz="2400" b="1" dirty="0"/>
              <a:t>Beta agonist:</a:t>
            </a:r>
            <a:r>
              <a:rPr lang="en-US" sz="2400" dirty="0"/>
              <a:t> </a:t>
            </a:r>
          </a:p>
          <a:p>
            <a:pPr lvl="3">
              <a:lnSpc>
                <a:spcPct val="80000"/>
              </a:lnSpc>
            </a:pPr>
            <a:r>
              <a:rPr lang="en-US" sz="2400" dirty="0"/>
              <a:t>Albuterol nebulizer </a:t>
            </a:r>
          </a:p>
          <a:p>
            <a:pPr lvl="4">
              <a:lnSpc>
                <a:spcPct val="80000"/>
              </a:lnSpc>
            </a:pPr>
            <a:r>
              <a:rPr lang="en-US" sz="2400" dirty="0"/>
              <a:t>Peak effect in 90 minutes</a:t>
            </a:r>
          </a:p>
          <a:p>
            <a:pPr lvl="3">
              <a:lnSpc>
                <a:spcPct val="80000"/>
              </a:lnSpc>
            </a:pPr>
            <a:r>
              <a:rPr lang="en-US" sz="2400" b="1" dirty="0"/>
              <a:t>Sodium bicarbonate</a:t>
            </a:r>
            <a:r>
              <a:rPr lang="en-US" sz="2400" dirty="0"/>
              <a:t> 1 ampule IV push</a:t>
            </a:r>
          </a:p>
          <a:p>
            <a:pPr lvl="3">
              <a:lnSpc>
                <a:spcPct val="80000"/>
              </a:lnSpc>
            </a:pPr>
            <a:r>
              <a:rPr lang="en-US" sz="2400" dirty="0"/>
              <a:t>Onset: 30 minutes</a:t>
            </a:r>
          </a:p>
          <a:p>
            <a:pPr lvl="3">
              <a:lnSpc>
                <a:spcPct val="80000"/>
              </a:lnSpc>
            </a:pPr>
            <a:r>
              <a:rPr lang="en-US" sz="2400" dirty="0"/>
              <a:t>Duration:  60-120 minutes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8FB219-993B-4D50-A70A-5EAF80128F73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222222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 to Hyperkalemia</a:t>
            </a:r>
          </a:p>
        </p:txBody>
      </p:sp>
      <p:sp>
        <p:nvSpPr>
          <p:cNvPr id="48131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b="1" u="sng" dirty="0"/>
              <a:t>Step 5: Emergency or non-emergency therapy</a:t>
            </a:r>
            <a:r>
              <a:rPr lang="en-US" dirty="0"/>
              <a:t> (usually takes 4-6 hours to work)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Direct elimination of K</a:t>
            </a:r>
            <a:r>
              <a:rPr lang="en-US" baseline="30000" dirty="0"/>
              <a:t>+</a:t>
            </a:r>
            <a:r>
              <a:rPr lang="en-US" dirty="0"/>
              <a:t> from body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Sodium polystyrene </a:t>
            </a:r>
            <a:r>
              <a:rPr lang="en-US" dirty="0" err="1"/>
              <a:t>sufonate</a:t>
            </a:r>
            <a:r>
              <a:rPr lang="en-US" dirty="0"/>
              <a:t> (K</a:t>
            </a:r>
            <a:r>
              <a:rPr lang="en-US" baseline="30000" dirty="0"/>
              <a:t>+</a:t>
            </a:r>
            <a:r>
              <a:rPr lang="en-US" dirty="0"/>
              <a:t> binding resin) plus sorbitol</a:t>
            </a:r>
          </a:p>
          <a:p>
            <a:pPr lvl="2">
              <a:lnSpc>
                <a:spcPct val="90000"/>
              </a:lnSpc>
            </a:pPr>
            <a:r>
              <a:rPr lang="en-US" sz="2600" dirty="0"/>
              <a:t>Give </a:t>
            </a:r>
            <a:r>
              <a:rPr lang="en-US" sz="2600" dirty="0" err="1"/>
              <a:t>Kayexalate</a:t>
            </a:r>
            <a:r>
              <a:rPr lang="en-US" sz="2600" dirty="0"/>
              <a:t> 30-60 </a:t>
            </a:r>
            <a:r>
              <a:rPr lang="en-US" sz="2600" dirty="0" err="1"/>
              <a:t>gm</a:t>
            </a:r>
            <a:endParaRPr lang="en-US" sz="2600" dirty="0"/>
          </a:p>
          <a:p>
            <a:pPr lvl="3">
              <a:lnSpc>
                <a:spcPct val="90000"/>
              </a:lnSpc>
            </a:pPr>
            <a:r>
              <a:rPr lang="en-US" dirty="0"/>
              <a:t>PO if patient can tolerate</a:t>
            </a:r>
          </a:p>
          <a:p>
            <a:pPr lvl="3">
              <a:lnSpc>
                <a:spcPct val="90000"/>
              </a:lnSpc>
            </a:pPr>
            <a:r>
              <a:rPr lang="en-US" dirty="0"/>
              <a:t>PR (retention enema) if upper GI problems</a:t>
            </a:r>
          </a:p>
          <a:p>
            <a:pPr lvl="3">
              <a:lnSpc>
                <a:spcPct val="90000"/>
              </a:lnSpc>
            </a:pPr>
            <a:r>
              <a:rPr lang="en-US" dirty="0"/>
              <a:t>Patient needs to have a colon for this to work!</a:t>
            </a:r>
          </a:p>
          <a:p>
            <a:pPr lvl="1">
              <a:lnSpc>
                <a:spcPct val="90000"/>
              </a:lnSpc>
            </a:pPr>
            <a:r>
              <a:rPr lang="en-US" sz="2800" dirty="0"/>
              <a:t>Hemodialysis as last resort or in severe cases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C103ED-6B99-4F7F-81D4-CADB0C1B2855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321545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CONT’D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258887"/>
            <a:ext cx="7315200" cy="4857750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BA01336-9A65-403D-83E4-8899C18B9278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3548920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Summary: Hyperkalemia</a:t>
            </a:r>
          </a:p>
        </p:txBody>
      </p:sp>
      <p:sp>
        <p:nvSpPr>
          <p:cNvPr id="49155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Arial" pitchFamily="34" charset="0"/>
              <a:buNone/>
            </a:pPr>
            <a:endParaRPr lang="en-US">
              <a:solidFill>
                <a:srgbClr val="FF5050"/>
              </a:solidFill>
            </a:endParaRPr>
          </a:p>
          <a:p>
            <a:pPr lvl="1"/>
            <a:r>
              <a:rPr lang="en-US"/>
              <a:t>Make sure it’s real</a:t>
            </a:r>
          </a:p>
          <a:p>
            <a:pPr lvl="1"/>
            <a:r>
              <a:rPr lang="en-US"/>
              <a:t>Determine emergent or not</a:t>
            </a:r>
          </a:p>
          <a:p>
            <a:pPr lvl="2"/>
            <a:r>
              <a:rPr lang="en-US"/>
              <a:t>Degree of hyperkalemia, EKG</a:t>
            </a:r>
          </a:p>
          <a:p>
            <a:pPr lvl="1"/>
            <a:r>
              <a:rPr lang="en-US"/>
              <a:t>Treat emergent cases with calcium gluconate, insulin, dextrose, and kayexalate +/- dialysis</a:t>
            </a:r>
          </a:p>
          <a:p>
            <a:pPr lvl="1"/>
            <a:r>
              <a:rPr lang="en-US"/>
              <a:t>Monitor closely for response to treatment—watch for rebound</a:t>
            </a:r>
          </a:p>
          <a:p>
            <a:pPr lvl="1"/>
            <a:r>
              <a:rPr lang="en-US"/>
              <a:t>Fix the cause if possible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E9B71B2-3E36-4195-B0ED-B84ECE7D1D0C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7663875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Hypokalemia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635E-C606-47AF-B399-FF46D26BC3AF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8921075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Times New Roman" pitchFamily="18" charset="0"/>
              </a:rPr>
              <a:t>Hypokalemia</a:t>
            </a:r>
          </a:p>
        </p:txBody>
      </p:sp>
      <p:sp>
        <p:nvSpPr>
          <p:cNvPr id="24579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 &lt; 3.5 </a:t>
            </a:r>
            <a:r>
              <a:rPr lang="en-US" dirty="0" err="1"/>
              <a:t>mEq</a:t>
            </a:r>
            <a:r>
              <a:rPr lang="en-US" dirty="0"/>
              <a:t>/L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3DC5B91-A6AA-4EC6-AA7C-A4E3B5795E51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6692705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cs typeface="Times New Roman" pitchFamily="18" charset="0"/>
              </a:rPr>
              <a:t>Pathophysiology of hypokalemia</a:t>
            </a:r>
          </a:p>
        </p:txBody>
      </p:sp>
      <p:sp>
        <p:nvSpPr>
          <p:cNvPr id="26627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cs typeface="Times New Roman" pitchFamily="18" charset="0"/>
              </a:rPr>
              <a:t>Deficient intake (Poor potassium intake) </a:t>
            </a:r>
          </a:p>
          <a:p>
            <a:r>
              <a:rPr lang="en-US" dirty="0">
                <a:cs typeface="Times New Roman" pitchFamily="18" charset="0"/>
              </a:rPr>
              <a:t> Due to a shift from extracellular to intracellular </a:t>
            </a:r>
          </a:p>
          <a:p>
            <a:r>
              <a:rPr lang="en-US" dirty="0">
                <a:cs typeface="Times New Roman" pitchFamily="18" charset="0"/>
              </a:rPr>
              <a:t>Increased excretion</a:t>
            </a:r>
          </a:p>
          <a:p>
            <a:pPr lvl="1"/>
            <a:r>
              <a:rPr lang="en-US" dirty="0">
                <a:cs typeface="Times New Roman" pitchFamily="18" charset="0"/>
              </a:rPr>
              <a:t>Renal </a:t>
            </a:r>
          </a:p>
          <a:p>
            <a:pPr lvl="1"/>
            <a:r>
              <a:rPr lang="en-US" dirty="0">
                <a:cs typeface="Times New Roman" pitchFamily="18" charset="0"/>
              </a:rPr>
              <a:t>Extra renal 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657600"/>
            <a:ext cx="4191000" cy="185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12D28FC-0CD1-4420-8605-3AA53C7AC22A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8337423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Magnesium..</a:t>
            </a:r>
          </a:p>
        </p:txBody>
      </p:sp>
      <p:sp>
        <p:nvSpPr>
          <p:cNvPr id="532482" name="Rectangle 2"/>
          <p:cNvSpPr>
            <a:spLocks noGrp="1" noChangeArrowheads="1"/>
          </p:cNvSpPr>
          <p:nvPr>
            <p:ph sz="quarter" idx="1"/>
          </p:nvPr>
        </p:nvSpPr>
        <p:spPr>
          <a:effectLst>
            <a:outerShdw dist="35921" dir="2700000" algn="ctr" rotWithShape="0">
              <a:schemeClr val="bg2"/>
            </a:outerShdw>
          </a:effectLst>
        </p:spPr>
        <p:txBody>
          <a:bodyPr>
            <a:normAutofit lnSpcReduction="10000"/>
          </a:bodyPr>
          <a:lstStyle/>
          <a:p>
            <a:pPr marL="0" indent="0">
              <a:lnSpc>
                <a:spcPct val="140000"/>
              </a:lnSpc>
              <a:buNone/>
              <a:defRPr/>
            </a:pPr>
            <a:r>
              <a:rPr lang="en-US" dirty="0"/>
              <a:t>     Magnesium Depletion</a:t>
            </a:r>
          </a:p>
          <a:p>
            <a:pPr marL="0" indent="0">
              <a:lnSpc>
                <a:spcPct val="140000"/>
              </a:lnSpc>
              <a:buNone/>
              <a:defRPr/>
            </a:pPr>
            <a:r>
              <a:rPr lang="en-US" sz="2800" dirty="0"/>
              <a:t>(drug induced: </a:t>
            </a:r>
            <a:r>
              <a:rPr lang="en-US" sz="2800" dirty="0" err="1"/>
              <a:t>amphotericin</a:t>
            </a:r>
            <a:r>
              <a:rPr lang="en-US" sz="2800" dirty="0"/>
              <a:t>, </a:t>
            </a:r>
            <a:r>
              <a:rPr lang="en-US" sz="2800" dirty="0" err="1"/>
              <a:t>amioglycosides</a:t>
            </a:r>
            <a:r>
              <a:rPr lang="en-US" sz="2800" dirty="0"/>
              <a:t>, </a:t>
            </a:r>
            <a:r>
              <a:rPr lang="en-US" sz="2800" dirty="0" err="1"/>
              <a:t>cisplatin</a:t>
            </a:r>
            <a:r>
              <a:rPr lang="en-US" sz="2800" dirty="0"/>
              <a:t>)</a:t>
            </a:r>
          </a:p>
          <a:p>
            <a:pPr marL="0" indent="0">
              <a:lnSpc>
                <a:spcPct val="140000"/>
              </a:lnSpc>
              <a:buNone/>
              <a:defRPr/>
            </a:pPr>
            <a:r>
              <a:rPr lang="en-US" sz="3900" dirty="0">
                <a:solidFill>
                  <a:srgbClr val="FF822D"/>
                </a:solidFill>
                <a:sym typeface="Symbol" pitchFamily="18" charset="2"/>
              </a:rPr>
              <a:t>                  </a:t>
            </a:r>
          </a:p>
          <a:p>
            <a:pPr marL="0" indent="0">
              <a:lnSpc>
                <a:spcPct val="140000"/>
              </a:lnSpc>
              <a:buNone/>
              <a:defRPr/>
            </a:pPr>
            <a:r>
              <a:rPr lang="en-US" sz="2800" dirty="0"/>
              <a:t>Renal potassium wastage</a:t>
            </a:r>
          </a:p>
          <a:p>
            <a:pPr marL="0" indent="0">
              <a:lnSpc>
                <a:spcPct val="140000"/>
              </a:lnSpc>
              <a:buNone/>
              <a:defRPr/>
            </a:pPr>
            <a:r>
              <a:rPr lang="en-US" sz="3900" dirty="0">
                <a:solidFill>
                  <a:srgbClr val="FF822D"/>
                </a:solidFill>
                <a:sym typeface="Symbol" pitchFamily="18" charset="2"/>
              </a:rPr>
              <a:t>                  </a:t>
            </a:r>
          </a:p>
          <a:p>
            <a:pPr marL="0" indent="0">
              <a:lnSpc>
                <a:spcPct val="140000"/>
              </a:lnSpc>
              <a:buNone/>
              <a:defRPr/>
            </a:pPr>
            <a:r>
              <a:rPr lang="en-US" sz="2800" dirty="0"/>
              <a:t>                  Hypokalemia</a:t>
            </a:r>
          </a:p>
          <a:p>
            <a:pPr>
              <a:lnSpc>
                <a:spcPct val="140000"/>
              </a:lnSpc>
              <a:defRPr/>
            </a:pPr>
            <a:endParaRPr lang="en-US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AF7A79-EEEE-4782-B6D9-6E8BEBCCD42F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18984301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Clinical Manifestation of Abnormalities in potassium  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sz="2200" b="1">
                <a:solidFill>
                  <a:schemeClr val="tx2"/>
                </a:solidFill>
              </a:rPr>
              <a:t>System                           hypokalemia</a:t>
            </a:r>
            <a:endParaRPr lang="en-US" sz="2200">
              <a:solidFill>
                <a:schemeClr val="tx2"/>
              </a:solidFill>
            </a:endParaRP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431801" y="2349500"/>
            <a:ext cx="8243711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000" i="1">
                <a:solidFill>
                  <a:prstClr val="black"/>
                </a:solidFill>
                <a:latin typeface="Times New Roman" pitchFamily="18" charset="0"/>
              </a:rPr>
              <a:t>Gastrointestinal                  Ileus, constipation  </a:t>
            </a:r>
          </a:p>
          <a:p>
            <a:pPr>
              <a:spcBef>
                <a:spcPct val="20000"/>
              </a:spcBef>
            </a:pPr>
            <a:r>
              <a:rPr lang="en-US" sz="2000" i="1">
                <a:solidFill>
                  <a:prstClr val="black"/>
                </a:solidFill>
                <a:latin typeface="Times New Roman" pitchFamily="18" charset="0"/>
              </a:rPr>
              <a:t>Neuromuscular                   Decreased reflexes, fatigue, weakness, </a:t>
            </a:r>
          </a:p>
          <a:p>
            <a:pPr>
              <a:spcBef>
                <a:spcPct val="20000"/>
              </a:spcBef>
            </a:pPr>
            <a:r>
              <a:rPr lang="en-US" sz="2000" i="1">
                <a:solidFill>
                  <a:prstClr val="black"/>
                </a:solidFill>
                <a:latin typeface="Times New Roman" pitchFamily="18" charset="0"/>
              </a:rPr>
              <a:t>                                             paralysis</a:t>
            </a:r>
          </a:p>
          <a:p>
            <a:pPr>
              <a:spcBef>
                <a:spcPct val="20000"/>
              </a:spcBef>
            </a:pPr>
            <a:r>
              <a:rPr lang="en-US" sz="2000" i="1">
                <a:solidFill>
                  <a:prstClr val="black"/>
                </a:solidFill>
                <a:latin typeface="Times New Roman" pitchFamily="18" charset="0"/>
              </a:rPr>
              <a:t>Cardiovascular                   Arrest</a:t>
            </a:r>
          </a:p>
          <a:p>
            <a:pPr>
              <a:spcBef>
                <a:spcPct val="20000"/>
              </a:spcBef>
            </a:pPr>
            <a:r>
              <a:rPr lang="en-US" sz="2000" i="1">
                <a:solidFill>
                  <a:prstClr val="black"/>
                </a:solidFill>
                <a:latin typeface="Times New Roman" pitchFamily="18" charset="0"/>
              </a:rPr>
              <a:t>ECG changes                     U-waves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000" i="1">
                <a:solidFill>
                  <a:prstClr val="black"/>
                </a:solidFill>
                <a:latin typeface="Times New Roman" pitchFamily="18" charset="0"/>
              </a:rPr>
              <a:t>                                         T-wave flattening  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000" i="1">
                <a:solidFill>
                  <a:prstClr val="black"/>
                </a:solidFill>
                <a:latin typeface="Times New Roman" pitchFamily="18" charset="0"/>
              </a:rPr>
              <a:t>                                         ST-segment changes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sz="2000" i="1">
                <a:solidFill>
                  <a:prstClr val="black"/>
                </a:solidFill>
                <a:latin typeface="Times New Roman" pitchFamily="18" charset="0"/>
              </a:rPr>
              <a:t>                                        Arrhythmias </a:t>
            </a:r>
            <a:endParaRPr lang="en-US" sz="2800" i="1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162E3F-5A4C-4A2A-B668-21E7C0EB16E0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56878931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	EKG Changes in Hypokalemia</a:t>
            </a:r>
          </a:p>
        </p:txBody>
      </p:sp>
      <p:sp>
        <p:nvSpPr>
          <p:cNvPr id="25603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 eaLnBrk="1" hangingPunct="1"/>
            <a:r>
              <a:rPr lang="en-US"/>
              <a:t>Flattened T waves</a:t>
            </a:r>
          </a:p>
          <a:p>
            <a:pPr lvl="1" eaLnBrk="1" hangingPunct="1"/>
            <a:r>
              <a:rPr lang="en-US"/>
              <a:t>ST depressions</a:t>
            </a:r>
          </a:p>
          <a:p>
            <a:pPr lvl="1" eaLnBrk="1" hangingPunct="1"/>
            <a:r>
              <a:rPr lang="en-US"/>
              <a:t>Prominent U waves</a:t>
            </a:r>
          </a:p>
          <a:p>
            <a:pPr lvl="1" eaLnBrk="1" hangingPunct="1"/>
            <a:r>
              <a:rPr lang="en-US"/>
              <a:t>Prolonged QT </a:t>
            </a:r>
          </a:p>
          <a:p>
            <a:pPr lvl="1" eaLnBrk="1" hangingPunct="1"/>
            <a:r>
              <a:rPr lang="en-US"/>
              <a:t>Prolonged PR interval</a:t>
            </a:r>
          </a:p>
          <a:p>
            <a:endParaRPr lang="en-US"/>
          </a:p>
          <a:p>
            <a:pPr eaLnBrk="1" hangingPunct="1">
              <a:buFont typeface="Arial" pitchFamily="34" charset="0"/>
              <a:buNone/>
            </a:pPr>
            <a:endParaRPr lang="en-US"/>
          </a:p>
        </p:txBody>
      </p:sp>
      <p:pic>
        <p:nvPicPr>
          <p:cNvPr id="25604" name="Content Placeholder 3" descr="PotassiumEKGs.gif"/>
          <p:cNvPicPr>
            <a:picLocks noChangeAspect="1"/>
          </p:cNvPicPr>
          <p:nvPr/>
        </p:nvPicPr>
        <p:blipFill>
          <a:blip r:embed="rId2"/>
          <a:srcRect b="48161"/>
          <a:stretch>
            <a:fillRect/>
          </a:stretch>
        </p:blipFill>
        <p:spPr bwMode="auto">
          <a:xfrm>
            <a:off x="1692275" y="4292600"/>
            <a:ext cx="499745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3810311-D749-4A19-8559-6EB7CB4D9CCE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663041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 to Hypokalemia</a:t>
            </a:r>
          </a:p>
        </p:txBody>
      </p:sp>
      <p:sp>
        <p:nvSpPr>
          <p:cNvPr id="30723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u="sng"/>
              <a:t>Step 1: Redistribution or depletion?</a:t>
            </a:r>
          </a:p>
          <a:p>
            <a:pPr lvl="1"/>
            <a:r>
              <a:rPr lang="en-US"/>
              <a:t>Redistribution causes</a:t>
            </a:r>
          </a:p>
          <a:p>
            <a:pPr lvl="2"/>
            <a:r>
              <a:rPr lang="en-US"/>
              <a:t>Insulin therapy (usually in DKA)</a:t>
            </a:r>
          </a:p>
          <a:p>
            <a:pPr lvl="2"/>
            <a:r>
              <a:rPr lang="en-US"/>
              <a:t>Beta 2 agonists (e.g. albuterol)</a:t>
            </a:r>
          </a:p>
          <a:p>
            <a:pPr lvl="2"/>
            <a:r>
              <a:rPr lang="en-US"/>
              <a:t>Metabolic alkalosis</a:t>
            </a:r>
          </a:p>
          <a:p>
            <a:pPr lvl="1"/>
            <a:r>
              <a:rPr lang="en-US"/>
              <a:t>Replacement of potassium in these settings may lead to overshoot and hyperkalemia </a:t>
            </a:r>
          </a:p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12DC386-10B1-45F7-B704-B6C604E8DAEA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2757340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Approach to Hypokalemia</a:t>
            </a:r>
          </a:p>
        </p:txBody>
      </p:sp>
      <p:sp>
        <p:nvSpPr>
          <p:cNvPr id="31747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b="1" u="sng"/>
              <a:t>Step 1: Redistribution or depletion?</a:t>
            </a:r>
          </a:p>
          <a:p>
            <a:pPr lvl="1"/>
            <a:r>
              <a:rPr lang="en-US" sz="2400"/>
              <a:t>Depletion causes (common)</a:t>
            </a:r>
          </a:p>
          <a:p>
            <a:pPr lvl="2"/>
            <a:r>
              <a:rPr lang="en-US" sz="2200"/>
              <a:t>GI tract losses (diarrhea, vomiting)</a:t>
            </a:r>
          </a:p>
          <a:p>
            <a:pPr lvl="2"/>
            <a:r>
              <a:rPr lang="en-US" sz="2200"/>
              <a:t>Loop/thiazide diuretic therapy</a:t>
            </a:r>
          </a:p>
          <a:p>
            <a:pPr lvl="2"/>
            <a:r>
              <a:rPr lang="en-US" sz="2200"/>
              <a:t>Other medications (e.g. amphotericin B)</a:t>
            </a:r>
          </a:p>
          <a:p>
            <a:pPr lvl="2"/>
            <a:r>
              <a:rPr lang="en-US" sz="2200"/>
              <a:t>Osmotic diuresis (DKA)</a:t>
            </a:r>
          </a:p>
          <a:p>
            <a:pPr lvl="2"/>
            <a:r>
              <a:rPr lang="en-US" sz="2200"/>
              <a:t>Endocrinopathies (mineralocorticoid excess)</a:t>
            </a:r>
          </a:p>
          <a:p>
            <a:pPr lvl="2"/>
            <a:r>
              <a:rPr lang="en-US" sz="2200"/>
              <a:t>Salt wasting nephropathies/RTA’s</a:t>
            </a:r>
          </a:p>
          <a:p>
            <a:pPr lvl="2"/>
            <a:r>
              <a:rPr lang="en-US" sz="2200"/>
              <a:t>Magnesium deficiency</a:t>
            </a:r>
          </a:p>
          <a:p>
            <a:pPr lvl="2">
              <a:buFont typeface="Arial" pitchFamily="34" charset="0"/>
              <a:buNone/>
            </a:pP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41DEBFF-5854-41EF-A2C5-699436AC5E52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7629369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Summary:  Hypokalemia</a:t>
            </a:r>
          </a:p>
        </p:txBody>
      </p:sp>
      <p:sp>
        <p:nvSpPr>
          <p:cNvPr id="36867" name="Rectangle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/>
              <a:t>PO almost always preferred over IV</a:t>
            </a:r>
          </a:p>
          <a:p>
            <a:pPr lvl="1"/>
            <a:r>
              <a:rPr lang="en-US"/>
              <a:t>KCl is preferred preparation</a:t>
            </a:r>
          </a:p>
          <a:p>
            <a:pPr lvl="1"/>
            <a:r>
              <a:rPr lang="en-US"/>
              <a:t>Don’t give too much too quickly</a:t>
            </a:r>
          </a:p>
          <a:p>
            <a:pPr lvl="1"/>
            <a:r>
              <a:rPr lang="en-US"/>
              <a:t>Be gentle in renal failure patients</a:t>
            </a:r>
          </a:p>
          <a:p>
            <a:pPr lvl="1"/>
            <a:r>
              <a:rPr lang="en-US"/>
              <a:t>Don’t forget to check magnesium levels in refractory patients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26B66B0-47B5-48EF-A5E0-F55F4A7476D3}" type="datetime1">
              <a:rPr lang="en-US" smtClean="0">
                <a:solidFill>
                  <a:srgbClr val="575F6D"/>
                </a:solidFill>
              </a:rPr>
              <a:t>9/11/2024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45EA4B6-D28D-4C71-A1C9-F73745D0A10A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542853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693</TotalTime>
  <Words>3362</Words>
  <Application>Microsoft Office PowerPoint</Application>
  <PresentationFormat>On-screen Show (4:3)</PresentationFormat>
  <Paragraphs>848</Paragraphs>
  <Slides>95</Slides>
  <Notes>26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7" baseType="lpstr">
      <vt:lpstr>Oriel</vt:lpstr>
      <vt:lpstr>Microsoft Word Document</vt:lpstr>
      <vt:lpstr>Fluid and Electrolyte Disorders</vt:lpstr>
      <vt:lpstr>Total Body Water-TBW</vt:lpstr>
      <vt:lpstr>Cont’D</vt:lpstr>
      <vt:lpstr>Fluid Compartments..</vt:lpstr>
      <vt:lpstr>Fluid Compartment </vt:lpstr>
      <vt:lpstr>Cont’D</vt:lpstr>
      <vt:lpstr>Electrolyte Composition</vt:lpstr>
      <vt:lpstr>Electrolyte Composition</vt:lpstr>
      <vt:lpstr>Electrolyte Functions</vt:lpstr>
      <vt:lpstr>Osmolality…</vt:lpstr>
      <vt:lpstr>Plasma Osmolality </vt:lpstr>
      <vt:lpstr>Hyperglycemia Vs Hyponatremia?</vt:lpstr>
      <vt:lpstr>Maintenance fluid and electrolyte needs</vt:lpstr>
      <vt:lpstr>Goals of maintenance fluids</vt:lpstr>
      <vt:lpstr>Composition of Intravenous Solutions in mEq/l </vt:lpstr>
      <vt:lpstr>Maintenance requirements</vt:lpstr>
      <vt:lpstr>Maintenance fluid and electrolyte needs</vt:lpstr>
      <vt:lpstr>Replacement of ongoing losses in diarrhea</vt:lpstr>
      <vt:lpstr>Ongoing losses in vomiting </vt:lpstr>
      <vt:lpstr>Ongoing losses in altered RF</vt:lpstr>
      <vt:lpstr>Dehydration </vt:lpstr>
      <vt:lpstr>Estimation of the degree of DHN</vt:lpstr>
      <vt:lpstr>Classification of the degree of DHN</vt:lpstr>
      <vt:lpstr>Clinical Evaluation of Dehydration</vt:lpstr>
      <vt:lpstr>Classification of dehydration: Two signs needed  </vt:lpstr>
      <vt:lpstr>Management of dehydration </vt:lpstr>
      <vt:lpstr>Cont…</vt:lpstr>
      <vt:lpstr>Cont…</vt:lpstr>
      <vt:lpstr>Cont…</vt:lpstr>
      <vt:lpstr>Cont…</vt:lpstr>
      <vt:lpstr>Mx of severe dehydration </vt:lpstr>
      <vt:lpstr>Cont…</vt:lpstr>
      <vt:lpstr>Mx of DHN in SAM</vt:lpstr>
      <vt:lpstr>Common Electrolyte Disturbances</vt:lpstr>
      <vt:lpstr>Sodium</vt:lpstr>
      <vt:lpstr>Cont’d </vt:lpstr>
      <vt:lpstr>Slide 37</vt:lpstr>
      <vt:lpstr>Hypernatremia</vt:lpstr>
      <vt:lpstr>Hypernatremia…</vt:lpstr>
      <vt:lpstr>Causes of Hypernatremia</vt:lpstr>
      <vt:lpstr>Cont’D</vt:lpstr>
      <vt:lpstr>Clinical Manifestations..</vt:lpstr>
      <vt:lpstr>Clinical Manifestations of Abnormalities in Serum Sodium </vt:lpstr>
      <vt:lpstr>Hypernatremic Dehydration</vt:lpstr>
      <vt:lpstr>Approach to Severe Dehydration</vt:lpstr>
      <vt:lpstr>Treatment…</vt:lpstr>
      <vt:lpstr>Cont’D</vt:lpstr>
      <vt:lpstr>Water deficit (L)=                                          × TBW                 </vt:lpstr>
      <vt:lpstr>Water Deficit</vt:lpstr>
      <vt:lpstr>Cont’D</vt:lpstr>
      <vt:lpstr>Hypernatremic Dehydration</vt:lpstr>
      <vt:lpstr>Cont’d</vt:lpstr>
      <vt:lpstr>Treatment Complications </vt:lpstr>
      <vt:lpstr> Cont’D</vt:lpstr>
      <vt:lpstr>Cerebral Edema… </vt:lpstr>
      <vt:lpstr>Hyponatremia </vt:lpstr>
      <vt:lpstr> Hyponatremia:  Na&lt;135mEq/L</vt:lpstr>
      <vt:lpstr>Sodium depletion </vt:lpstr>
      <vt:lpstr>Sodium dilution </vt:lpstr>
      <vt:lpstr>Hyponatremia…</vt:lpstr>
      <vt:lpstr>Hyponatremia</vt:lpstr>
      <vt:lpstr>Hyponatremia</vt:lpstr>
      <vt:lpstr>Sign and symptoms </vt:lpstr>
      <vt:lpstr>Cont’D</vt:lpstr>
      <vt:lpstr>Cont’D</vt:lpstr>
      <vt:lpstr>Cont’D</vt:lpstr>
      <vt:lpstr>Hyponatremia Treatment </vt:lpstr>
      <vt:lpstr>Treatment </vt:lpstr>
      <vt:lpstr>Cont’D</vt:lpstr>
      <vt:lpstr>Cont’D</vt:lpstr>
      <vt:lpstr>Slide 71</vt:lpstr>
      <vt:lpstr>Cont’D</vt:lpstr>
      <vt:lpstr>Potassium</vt:lpstr>
      <vt:lpstr>Potassium </vt:lpstr>
      <vt:lpstr>Hyperkalemia Causes</vt:lpstr>
      <vt:lpstr>Clinical manifestation of hyperkalemia</vt:lpstr>
      <vt:lpstr>Hyperkalemia ECG</vt:lpstr>
      <vt:lpstr>Slide 78</vt:lpstr>
      <vt:lpstr>Approach to Hyperkalemia</vt:lpstr>
      <vt:lpstr>Approach to Hyperkalemia</vt:lpstr>
      <vt:lpstr>Approach to Hyperkalemia</vt:lpstr>
      <vt:lpstr>Approach to Hyperkalemia…</vt:lpstr>
      <vt:lpstr>Approach to Hyperkalemia</vt:lpstr>
      <vt:lpstr>Approach to Hyperkalemia</vt:lpstr>
      <vt:lpstr>CONT’D</vt:lpstr>
      <vt:lpstr>Summary: Hyperkalemia</vt:lpstr>
      <vt:lpstr>Hypokalemia </vt:lpstr>
      <vt:lpstr>Hypokalemia</vt:lpstr>
      <vt:lpstr>Pathophysiology of hypokalemia</vt:lpstr>
      <vt:lpstr>Magnesium..</vt:lpstr>
      <vt:lpstr>Clinical Manifestation of Abnormalities in potassium  </vt:lpstr>
      <vt:lpstr> EKG Changes in Hypokalemia</vt:lpstr>
      <vt:lpstr>Approach to Hypokalemia</vt:lpstr>
      <vt:lpstr>Approach to Hypokalemia</vt:lpstr>
      <vt:lpstr>Summary:  Hypokalemia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Fluid and Electrolyte Disorders</dc:title>
  <dc:creator>Gashaw A.</dc:creator>
  <cp:lastModifiedBy>STIP User</cp:lastModifiedBy>
  <cp:revision>67</cp:revision>
  <dcterms:created xsi:type="dcterms:W3CDTF">2006-08-16T00:00:00Z</dcterms:created>
  <dcterms:modified xsi:type="dcterms:W3CDTF">2024-09-11T16:22:21Z</dcterms:modified>
</cp:coreProperties>
</file>