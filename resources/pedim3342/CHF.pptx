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256" r:id="rId3"/>
    <p:sldId id="369" r:id="rId5"/>
    <p:sldId id="358" r:id="rId6"/>
    <p:sldId id="378" r:id="rId7"/>
    <p:sldId id="362" r:id="rId8"/>
    <p:sldId id="440" r:id="rId9"/>
    <p:sldId id="364" r:id="rId10"/>
    <p:sldId id="257" r:id="rId11"/>
    <p:sldId id="258" r:id="rId12"/>
    <p:sldId id="312" r:id="rId13"/>
    <p:sldId id="259" r:id="rId14"/>
    <p:sldId id="382" r:id="rId15"/>
    <p:sldId id="383" r:id="rId16"/>
    <p:sldId id="266" r:id="rId17"/>
    <p:sldId id="268" r:id="rId18"/>
    <p:sldId id="302" r:id="rId19"/>
    <p:sldId id="303" r:id="rId20"/>
    <p:sldId id="441" r:id="rId21"/>
    <p:sldId id="275" r:id="rId22"/>
    <p:sldId id="442" r:id="rId23"/>
    <p:sldId id="443" r:id="rId24"/>
    <p:sldId id="261" r:id="rId25"/>
    <p:sldId id="283" r:id="rId26"/>
    <p:sldId id="496" r:id="rId27"/>
    <p:sldId id="287" r:id="rId28"/>
    <p:sldId id="298" r:id="rId29"/>
    <p:sldId id="291" r:id="rId30"/>
    <p:sldId id="497" r:id="rId31"/>
    <p:sldId id="292" r:id="rId32"/>
    <p:sldId id="294" r:id="rId33"/>
    <p:sldId id="331" r:id="rId34"/>
    <p:sldId id="333" r:id="rId35"/>
    <p:sldId id="498" r:id="rId36"/>
    <p:sldId id="499" r:id="rId37"/>
    <p:sldId id="342" r:id="rId38"/>
    <p:sldId id="502" r:id="rId39"/>
    <p:sldId id="343" r:id="rId40"/>
    <p:sldId id="345" r:id="rId41"/>
    <p:sldId id="347" r:id="rId42"/>
    <p:sldId id="500" r:id="rId43"/>
    <p:sldId id="351" r:id="rId44"/>
    <p:sldId id="356" r:id="rId45"/>
    <p:sldId id="503" r:id="rId46"/>
  </p:sldIdLst>
  <p:sldSz cx="9144000" cy="6858000" type="screen4x3"/>
  <p:notesSz cx="6858000" cy="9144000"/>
  <p:defaultTextStyle>
    <a:defPPr>
      <a:defRPr lang="fr-CH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1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FF00FF"/>
    <a:srgbClr val="00CC00"/>
    <a:srgbClr val="FF66CC"/>
    <a:srgbClr val="FF99CC"/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2670"/>
    <p:restoredTop sz="94660"/>
  </p:normalViewPr>
  <p:slideViewPr>
    <p:cSldViewPr showGuides="1">
      <p:cViewPr varScale="1">
        <p:scale>
          <a:sx n="57" d="100"/>
          <a:sy n="57" d="100"/>
        </p:scale>
        <p:origin x="-96" y="-6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i="0" dirty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i="0" dirty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9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i="0" dirty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9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0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i="0" dirty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i="0" dirty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066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07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GB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GB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GB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GB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07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i="0" dirty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07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7373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7475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x-none" dirty="0"/>
              <a:t>PDA: Functionally closed at 10 to 15 hrs after birth. Increased oxygen saturation and reduced prostaglandin level lead to closure</a:t>
            </a:r>
            <a:endParaRPr lang="en-US" altLang="x-none" dirty="0"/>
          </a:p>
          <a:p>
            <a:pPr lvl="0" eaLnBrk="1" hangingPunct="1"/>
            <a:r>
              <a:rPr lang="en-GB" altLang="x-none" dirty="0"/>
              <a:t>If bloods still shunts away from the lungs PPHN , Persistant PDA , Failure of foramen ovale to close leading to ASD may lead to lung congestion . </a:t>
            </a:r>
            <a:endParaRPr lang="en-GB" altLang="x-none" dirty="0"/>
          </a:p>
          <a:p>
            <a:pPr lvl="0"/>
            <a:endParaRPr lang="en-US" altLang="x-none" dirty="0"/>
          </a:p>
        </p:txBody>
      </p:sp>
      <p:sp>
        <p:nvSpPr>
          <p:cNvPr id="7578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7680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778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GB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sym typeface="+mn-ea"/>
              </a:rPr>
              <a:t>  It is not static ,there is always a continuous anatomical or physiological change</a:t>
            </a:r>
            <a:endParaRPr kumimoji="0" lang="en-GB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788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7987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x-none" sz="1200" i="0" dirty="0"/>
            </a:fld>
            <a:endParaRPr lang="en-US" altLang="x-none" sz="1200" i="0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>
          <a:xfrm>
            <a:off x="1146175" y="687388"/>
            <a:ext cx="4570413" cy="3427412"/>
          </a:xfrm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</p:spPr>
        <p:txBody>
          <a:bodyPr wrap="square" lIns="91440" tIns="45720" rIns="91440" bIns="45720" anchor="t" anchorCtr="0"/>
          <a:p>
            <a:pPr lvl="0"/>
            <a:endParaRPr lang="en-GB" altLang="x-non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x-none" sz="1200" i="0" dirty="0"/>
            </a:fld>
            <a:endParaRPr lang="en-US" altLang="x-none" sz="1200" i="0" dirty="0"/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GB" altLang="x-non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983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003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034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044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064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075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  <p:sp>
        <p:nvSpPr>
          <p:cNvPr id="1105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GB" altLang="x-none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116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1264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218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2288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2493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2698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3107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 dirty="0"/>
          </a:p>
        </p:txBody>
      </p:sp>
      <p:sp>
        <p:nvSpPr>
          <p:cNvPr id="1361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GB" altLang="x-none" sz="1200" i="0" dirty="0"/>
            </a:fld>
            <a:endParaRPr lang="en-GB" altLang="x-none" sz="1200" i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algn="r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x-none" dirty="0"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x-none" dirty="0"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35560" y="980440"/>
            <a:ext cx="8229600" cy="17462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Franklin Gothic Medium" panose="020B0603020102020204" charset="0"/>
                <a:ea typeface="+mj-ea"/>
                <a:cs typeface="Franklin Gothic Medium" panose="020B0603020102020204" charset="0"/>
              </a:rPr>
              <a:t>CONGENITAL HEART DISEASES</a:t>
            </a:r>
            <a:endParaRPr kumimoji="0" lang="fr-CH" sz="4400" b="1" i="1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Franklin Gothic Medium" panose="020B0603020102020204" charset="0"/>
              <a:ea typeface="+mj-ea"/>
              <a:cs typeface="Franklin Gothic Medium" panose="020B060302010202020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71775" y="3212465"/>
            <a:ext cx="5699125" cy="2665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fr-CH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           MICHAEL D(MD,R3)</a:t>
            </a:r>
            <a:endParaRPr kumimoji="0" lang="en-US" altLang="fr-CH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fr-CH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fr-CH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fr-CH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                     November 2024</a:t>
            </a:r>
            <a:endParaRPr kumimoji="0" lang="en-US" altLang="fr-CH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08910"/>
            <a:ext cx="3921760" cy="336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332105"/>
            <a:ext cx="5839460" cy="9366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CH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OUTLINES</a:t>
            </a:r>
            <a:endParaRPr kumimoji="0" lang="en-US" altLang="fr-CH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05" y="619443"/>
            <a:ext cx="9144000" cy="5786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classification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The epidemiology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pathophysiology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clinical presentation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principles of management 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304800"/>
            <a:ext cx="8077200" cy="914400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Fetal circulation</a:t>
            </a:r>
            <a:endParaRPr kumimoji="0" lang="en-US" sz="5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1000" y="1371600"/>
            <a:ext cx="8382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o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right and left ventricles exist in a parallel circuit.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o"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 the fetus gas and metabolite exchange are provided by the </a:t>
            </a:r>
            <a:r>
              <a:rPr kumimoji="0" lang="en-US" sz="32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placenta</a:t>
            </a:r>
            <a:endParaRPr kumimoji="0" lang="en-US" sz="3200" b="0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o"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Parallel circuit maintained</a:t>
            </a: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ü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  Foramen ovale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ü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  Ductus arteriosus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ü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  Ductus venosus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0636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Foetal Circulation</a:t>
            </a:r>
            <a:endParaRPr kumimoji="0" lang="en-ZA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"/>
          </p:nvPr>
        </p:nvSpPr>
        <p:spPr>
          <a:xfrm>
            <a:off x="250825" y="1143000"/>
            <a:ext cx="4537075" cy="5516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Arterial blood leaves the placenta via the umbilical vein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This branches and delivers blood to the IVC by way of the ductus venosus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Blood then goes into the right atrium, 30% goes across the foramen ovale, the rest to the RV then to PA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GB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Instead of going to the lungs, 85% goes through the PDA to the aorta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7172" name="Content Placeholder 6" descr="Picture1.png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003800" y="1285875"/>
            <a:ext cx="3889375" cy="518477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225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3895" y="476250"/>
            <a:ext cx="7772400" cy="762000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Transitional circulation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1700530"/>
            <a:ext cx="8465185" cy="453771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Interruption of Umbilical cord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Removal of the low resistance placental circulation result in  an </a:t>
            </a:r>
            <a:r>
              <a:rPr kumimoji="0" 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Increased systemic vascular resistance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lack of blood flow  through the placenta leads to closure of  </a:t>
            </a:r>
            <a:r>
              <a:rPr kumimoji="0" 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Ductus venosus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 </a:t>
            </a:r>
            <a:r>
              <a:rPr kumimoji="0" 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(</a:t>
            </a:r>
            <a:r>
              <a:rPr kumimoji="0" lang="en-GB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ligamentum venosum</a:t>
            </a: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defRPr/>
            </a:pPr>
            <a:endParaRPr kumimoji="0" lang="en-US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defRPr/>
            </a:pPr>
            <a:endParaRPr kumimoji="0" lang="fr-FR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AutoNum type="alphaLcPeriod"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Transitional circulation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Expansion of lungs :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v"/>
              <a:defRPr/>
            </a:pP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Mechanical expansion of the lungs and increased arterial P02 result in a rapid </a:t>
            </a:r>
            <a:r>
              <a:rPr lang="en-US" sz="2400" b="1" u="sng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decrease in pulmonary vascular resistance. </a:t>
            </a:r>
            <a:endParaRPr kumimoji="0" lang="en-US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v"/>
              <a:defRPr/>
            </a:pP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The  increased blood volume from the pulmonary circulation  increased the   LA volume and pressure sufficiently  to </a:t>
            </a:r>
            <a:r>
              <a:rPr lang="en-US" sz="2400" b="1" u="sng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close the foramen ovale</a:t>
            </a:r>
            <a:r>
              <a:rPr lang="fr-FR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  </a:t>
            </a:r>
            <a:r>
              <a:rPr lang="fr-FR" sz="2400" b="1" u="sng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(</a:t>
            </a:r>
            <a:r>
              <a:rPr lang="fr-FR" sz="2400" b="1" i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fossa</a:t>
            </a:r>
            <a:r>
              <a:rPr lang="fr-FR" sz="2400" i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fr-FR" sz="2400" b="1" i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ovalis</a:t>
            </a:r>
            <a:r>
              <a:rPr lang="fr-FR" sz="2400" b="1" u="sng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)</a:t>
            </a:r>
            <a:endParaRPr kumimoji="0" lang="fr-FR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fr-FR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</a:t>
            </a:r>
            <a:r>
              <a:rPr lang="en-US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DA closure</a:t>
            </a: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: The ductus flow become left to right and later the ductus will obliterated.(</a:t>
            </a:r>
            <a:r>
              <a:rPr lang="en-US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ligamentum</a:t>
            </a: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arteriosus</a:t>
            </a:r>
            <a:r>
              <a:rPr lang="en-US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) </a:t>
            </a:r>
            <a:endParaRPr kumimoji="0" lang="fr-FR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fr-FR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43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685800"/>
            <a:ext cx="7772400" cy="685800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4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Transitional circulation</a:t>
            </a:r>
            <a:endParaRPr kumimoji="0" lang="en-US" sz="4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14630" y="1371600"/>
            <a:ext cx="8466455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right ventricle  is coupled with low 	resistance pulmonary circulation  and its wall thickness and mass decreased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left ventricle coupled to high resistance systemic circulation and its wall thickness and mass increased and deliver the entire systemic cardiac out put.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There is a change from fetal haemoglobin to 	adult haemoglobin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2095" y="409575"/>
            <a:ext cx="8434705" cy="78613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CH" sz="32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  <a:sym typeface="+mn-ea"/>
              </a:rPr>
              <a:t>Introduction:</a:t>
            </a: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Congenital Heart disease</a:t>
            </a:r>
            <a:endParaRPr kumimoji="0" lang="en-GB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94005" y="1341755"/>
            <a:ext cx="8742680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Structural or functional heart disease that present at birth.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None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incidence is higher in abortus and still births 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Estimate in live birth range from 4-10.2 per 1000live birth</a:t>
            </a:r>
            <a:r>
              <a:rPr kumimoji="0" lang="fr-CH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. </a:t>
            </a:r>
            <a:endParaRPr kumimoji="0" lang="fr-CH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Cont….</a:t>
            </a:r>
            <a:endParaRPr kumimoji="0" lang="fr-CH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89010" cy="45262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incidence of specific type of CHD varies from one country to another 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Specific aetiology only known 10% 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ü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   8% genetic 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ü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   2% environmental (rubella, foetal-alcohol 	syndrome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90% Multifactorial inheritance     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438" name="Rectangle 54"/>
          <p:cNvSpPr>
            <a:spLocks noGrp="1" noChangeArrowheads="1"/>
          </p:cNvSpPr>
          <p:nvPr>
            <p:ph type="title"/>
          </p:nvPr>
        </p:nvSpPr>
        <p:spPr>
          <a:xfrm>
            <a:off x="81280" y="274955"/>
            <a:ext cx="8730615" cy="11430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Prevalence of Congenital heart Disease (chart review)</a:t>
            </a:r>
            <a:endParaRPr kumimoji="0" lang="en-GB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graphicFrame>
        <p:nvGraphicFramePr>
          <p:cNvPr id="272445" name="Group 61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94276"/>
        </p:xfrm>
        <a:graphic>
          <a:graphicData uri="http://schemas.openxmlformats.org/drawingml/2006/table">
            <a:tbl>
              <a:tblPr/>
              <a:tblGrid>
                <a:gridCol w="1019175"/>
                <a:gridCol w="2374900"/>
                <a:gridCol w="2778125"/>
                <a:gridCol w="2057400"/>
              </a:tblGrid>
              <a:tr h="1030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Developed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countries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Ethio-Swedish 1986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TA</a:t>
                      </a:r>
                      <a:r>
                        <a:rPr kumimoji="0" lang="en-US" alt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S</a:t>
                      </a: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H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2003-08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VSD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28.3%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41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28.4%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PDA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12%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13%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16.5%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ASD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10.7%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13.6%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13%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COA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8.8%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&lt;2%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1.8%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TOF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7%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9%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5.7%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PS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6%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9.9%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8.8%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2.3%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3.5%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eorgia" panose="02040502050405020303" charset="0"/>
                          <a:cs typeface="Georgia" panose="02040502050405020303" charset="0"/>
                        </a:rPr>
                        <a:t>3.4%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       </a:t>
            </a: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cont.….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043988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The risk of recurrence in siblings varies from 1-4%</a:t>
            </a:r>
            <a:endParaRPr kumimoji="0" lang="en-GB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Third Pregnancy   20-30% 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Parents with CHD  4-6%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Varies with type of inheritance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Except PDA and ASD males are more affected than females.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205" y="431800"/>
            <a:ext cx="8443595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9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Congenital Heart Disease ;Types</a:t>
            </a:r>
            <a:endParaRPr kumimoji="0" lang="en-US" sz="39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71450" y="1974850"/>
            <a:ext cx="8686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812800" marR="0" lvl="0" indent="-8128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/>
              <a:buAutoNum type="romanUcPeriod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  <a:sym typeface="Symbol" panose="05050102010706020507" pitchFamily="18" charset="2"/>
              </a:rPr>
              <a:t>Increased Pulmonary </a:t>
            </a: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  <a:sym typeface="Symbol" panose="05050102010706020507" pitchFamily="18" charset="2"/>
              </a:rPr>
              <a:t>Blood Flow 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812800" marR="0" lvl="0" indent="-8128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/>
              <a:buAutoNum type="romanUcPeriod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Decreased Pulmonary </a:t>
            </a: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Blood Flow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812800" marR="0" lvl="0" indent="-8128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Monotype Sorts"/>
              <a:buAutoNum type="romanUcPeriod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Inadequate Systemic </a:t>
            </a: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Flow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1168400" marR="0" lvl="1" indent="-711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Tx/>
              <a:buNone/>
              <a:defRPr/>
            </a:pPr>
            <a:endParaRPr kumimoji="0" lang="en-US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" y="646430"/>
            <a:ext cx="8568690" cy="1139825"/>
          </a:xfrm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Common Congenital Heart Diseases</a:t>
            </a:r>
            <a:endParaRPr kumimoji="0" lang="en-US" sz="3600" b="1" i="0" u="sng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981200"/>
            <a:ext cx="3352800" cy="4114800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R="0" lvl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US" sz="35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Acynotic </a:t>
            </a:r>
            <a:endParaRPr kumimoji="0" lang="en-US" sz="35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Shunts ( L to R) :</a:t>
            </a:r>
            <a:endParaRPr kumimoji="0" lang="en-US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ASD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VSD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PDA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AVSD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Stenosis:</a:t>
            </a:r>
            <a:endParaRPr kumimoji="0" lang="en-US" sz="24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Coarctation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48200" y="1981200"/>
            <a:ext cx="4100513" cy="41148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US" sz="3500" b="1" i="1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cyanosis</a:t>
            </a:r>
            <a:endParaRPr kumimoji="0" lang="en-US" sz="3500" b="1" i="1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TOF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TGA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Tricuspid atresia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Truncus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TAPVR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Ebstein’s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Single ventricle eg. HLHS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Clinical manifestation of CHD</a:t>
            </a:r>
            <a:endParaRPr kumimoji="0" lang="fr-CH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28750"/>
            <a:ext cx="8208963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CHD suspected in any child with: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Feeding difficulty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Recurrent  attack of </a:t>
            </a:r>
            <a:r>
              <a:rPr kumimoji="0" lang="en-US" alt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RTI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Growth failure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Cyanosis unresponsive to 100% oxygen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Tachycardia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Respiratory distress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Rhythm disturbance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Murmur ( </a:t>
            </a:r>
            <a:r>
              <a:rPr kumimoji="0" lang="en-GB" sz="1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absence of murmur doesn't rule out or in CHD)</a:t>
            </a:r>
            <a:endParaRPr kumimoji="0" lang="en-GB" sz="1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1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08585" y="427038"/>
            <a:ext cx="8229600" cy="6445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Management</a:t>
            </a:r>
            <a:r>
              <a:rPr kumimoji="0" lang="fr-CH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 of CHD</a:t>
            </a:r>
            <a:endParaRPr kumimoji="0" lang="fr-CH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468630" y="1052830"/>
            <a:ext cx="8376920" cy="5616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3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General  principle </a:t>
            </a:r>
            <a:endParaRPr kumimoji="0" lang="en-GB" sz="31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7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1) Treatment of Congestive Heart Failure</a:t>
            </a:r>
            <a:endParaRPr kumimoji="0" lang="en-GB" sz="27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GB" sz="27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-</a:t>
            </a:r>
            <a:r>
              <a:rPr kumimoji="0" 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Diuretics</a:t>
            </a:r>
            <a:r>
              <a:rPr kumimoji="0" lang="en-US" alt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,</a:t>
            </a:r>
            <a:r>
              <a:rPr kumimoji="0" 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Inotropic support</a:t>
            </a:r>
            <a:r>
              <a:rPr kumimoji="0" lang="en-US" alt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,</a:t>
            </a:r>
            <a:r>
              <a:rPr kumimoji="0" 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After load reduction </a:t>
            </a:r>
            <a:endParaRPr kumimoji="0" lang="en-GB" sz="21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endParaRPr kumimoji="0" lang="en-GB" sz="21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7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2)  Correction of underlying defect </a:t>
            </a:r>
            <a:endParaRPr kumimoji="0" lang="en-GB" sz="27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7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7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3)Prevention and treatment of complication</a:t>
            </a:r>
            <a:endParaRPr kumimoji="0" lang="en-GB" sz="27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GB" sz="27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 -</a:t>
            </a:r>
            <a:r>
              <a:rPr kumimoji="0" 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Pulmonary HPT </a:t>
            </a:r>
            <a:r>
              <a:rPr kumimoji="0" lang="en-US" alt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,</a:t>
            </a:r>
            <a:r>
              <a:rPr kumimoji="0" lang="en-GB" sz="21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Infective endocarditis:polycythemia </a:t>
            </a:r>
            <a:endParaRPr kumimoji="0" lang="en-GB" sz="2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4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00063"/>
            <a:ext cx="8229600" cy="9906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Ventricular</a:t>
            </a: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 Septal Defect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941513"/>
            <a:ext cx="5572125" cy="3844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Most common CHD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Both sexes are equally affected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Incidence of 1/3000  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Can be single or multiple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Can be associated with other congenital heart diseases 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18436" name="Picture 7" descr="VSDcolor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470525" y="1600200"/>
            <a:ext cx="3673475" cy="453072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180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VSD cont.…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Types of VSD:</a:t>
            </a:r>
            <a:endParaRPr kumimoji="0" lang="en-GB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70%  membranous close to pulmonary 	valve and Pulmonary artery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20% muscular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5%   Aortic valve (sub aortic)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5% near junction of Mitral and tricuspid 	valve (A-V canal defect)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Clinical</a:t>
            </a:r>
            <a:r>
              <a:rPr lang="fr-CH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manifestations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fr-CH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)  </a:t>
            </a:r>
            <a:r>
              <a:rPr lang="en-GB" sz="28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Asymptomatic:</a:t>
            </a:r>
            <a:endParaRPr kumimoji="0" lang="en-GB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Small VSD 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Loud harsh Holosystolic murmur at LLSB, with thrill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X-ray is normal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</a:t>
            </a:r>
            <a:r>
              <a:rPr lang="en-US" alt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</a:t>
            </a: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G  normal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94200" y="1600200"/>
            <a:ext cx="4399915" cy="4526280"/>
          </a:xfrm>
        </p:spPr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fr-CH" sz="28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II ) </a:t>
            </a:r>
            <a:r>
              <a:rPr lang="en-GB" sz="28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Large defects:</a:t>
            </a:r>
            <a:endParaRPr kumimoji="0" lang="en-GB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pulmonary hypertension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Dyspnea, feeding difficulty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Poor growth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Profuse perspiration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8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Recurrent pulmonary infection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180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Physical Examination</a:t>
            </a: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: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280400" cy="4968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Prominence of the precordium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Palpable parasternal lift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Holosystolic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murmur at LLSB less harsh and more blowing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Diastolic murmur at the  apex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Apical trust with systolic 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thrill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Increased P2  indicate pulmonary HPT.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VSD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39590" cy="4908550"/>
          </a:xfrm>
        </p:spPr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Chest X-Ray 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Cardiomegally         	(LA, LV,RV,PA)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Increased vascular 	marking</a:t>
            </a:r>
            <a:endParaRPr 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alt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ECHO</a:t>
            </a:r>
            <a:endParaRPr lang="en-GB" sz="2400" b="1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Position and size of 	VSD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 Chamber size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Pressure gradient  across the defect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 Direction of shunt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ECG:</a:t>
            </a: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P wave peaked and notched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Left ventricular hypertrophy  (biventricular)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Treatment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Small size 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Reassurance 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No surgical treatment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Maintain integrity of primary and permanent  teeth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anti- infective endocarditis prophylaxis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440" y="1600200"/>
            <a:ext cx="4150360" cy="4526280"/>
          </a:xfrm>
        </p:spPr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Large VSD: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Control CHF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Prevent development of Pulmonary vascular disease.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-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Surgical closure</a:t>
            </a: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,</a:t>
            </a:r>
            <a:endParaRPr lang="en-US" alt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-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Device closure</a:t>
            </a: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or 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endParaRPr 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-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Palliative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xfrm>
            <a:off x="323850" y="285750"/>
            <a:ext cx="8362950" cy="9080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Patent Ductus Arteriosus(PDA)</a:t>
            </a:r>
            <a:endParaRPr kumimoji="0" lang="fr-CH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50184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243013"/>
            <a:ext cx="467995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During foetal life blood from PA shunted through the DA in to the Aorta.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After birth closed functionally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Prematurity and hypoxia predispose for patencey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Female are more affected than males Commonly associated with rubella of the mother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Isolated PDAs are common in high altitude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30724" name="Picture 11" descr="heart-normalwith_blood"/>
          <p:cNvPicPr>
            <a:picLocks noChangeAspect="1"/>
          </p:cNvPicPr>
          <p:nvPr>
            <p:ph sz="quarter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157788" y="1204913"/>
            <a:ext cx="3517900" cy="2152650"/>
          </a:xfrm>
        </p:spPr>
      </p:pic>
      <p:pic>
        <p:nvPicPr>
          <p:cNvPr id="30725" name="Picture 12" descr="heart-PDAwith_blood"/>
          <p:cNvPicPr>
            <a:picLocks noChangeAspect="1"/>
          </p:cNvPicPr>
          <p:nvPr>
            <p:ph sz="quarter" idx="3"/>
          </p:nvPr>
        </p:nvPicPr>
        <p:blipFill>
          <a:blip r:embed="rId2"/>
          <a:srcRect/>
          <a:stretch>
            <a:fillRect/>
          </a:stretch>
        </p:blipFill>
        <p:spPr>
          <a:xfrm>
            <a:off x="5076825" y="3500438"/>
            <a:ext cx="3382963" cy="2443162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698500"/>
            <a:ext cx="7907338" cy="8731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Clinical manifestation</a:t>
            </a:r>
            <a:br>
              <a:rPr kumimoji="0" lang="fr-CH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</a:br>
            <a:endParaRPr kumimoji="0" lang="fr-CH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1525588"/>
            <a:ext cx="8820150" cy="4475163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Depend on the :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Size  of the defect and direction of flow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Small defects no symptom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Large defect result in Large left to right shunt 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CHF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Growth Failure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Repeated ARI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Reversal of shunt ,(Eisenmengers ) result in dyspnoea and cyanosis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  <a:defRPr/>
            </a:pP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fr-CH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Physical EXAMINATION</a:t>
            </a:r>
            <a:endParaRPr lang="en-GB" b="1" kern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Bounding</a:t>
            </a: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pulse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Wide</a:t>
            </a: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pulse pressure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Heave , thrill in the 2nd ics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Continuous machinery murmur 2nd ics</a:t>
            </a:r>
            <a:endParaRPr lang="en-GB" sz="2400" kern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X-ray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: prominent PA, increases PA marking enlarged chambers(LA,LV),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GB" sz="2400" kern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EKG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: bi-ventricular hyperthrophy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ECHO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: size of the PDA, direction of flow, chamber size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Catheterization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: a step up oxygen saturation, PDA anatomy in angiography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Treatment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Medical therapy: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Congestive heart failure treatment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infective endocarditis prophylaxi</a:t>
            </a:r>
            <a:r>
              <a:rPr kumimoji="0" lang="en-US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</a:t>
            </a:r>
            <a:endParaRPr kumimoji="0" lang="en-US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Surgical closure of the PDA (banding)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Closure of the PDA coil embolization or device closure without thoracotomy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20" name="Rectangle 4"/>
          <p:cNvSpPr>
            <a:spLocks noGrp="1" noChangeArrowheads="1"/>
          </p:cNvSpPr>
          <p:nvPr>
            <p:ph type="title"/>
          </p:nvPr>
        </p:nvSpPr>
        <p:spPr>
          <a:xfrm>
            <a:off x="395605" y="188595"/>
            <a:ext cx="8229600" cy="7032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Coarctation of the Aorta</a:t>
            </a:r>
            <a:endParaRPr kumimoji="0" lang="fr-CH" sz="4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18842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08685"/>
            <a:ext cx="5076825" cy="574103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Occurs at any point from transverse arch to iliac bifurcation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98% below the origin of left sub clavian at the origin of Ductus 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Male to female ratio:  2:1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Associated with</a:t>
            </a:r>
            <a:r>
              <a:rPr kumimoji="0" lang="en-GB" sz="2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:</a:t>
            </a:r>
            <a:endParaRPr kumimoji="0" lang="en-GB" sz="2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Turner syndrome 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Bi cuspid aortic valve (70%)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Mitral valve abnormality 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Sub aortic stenosis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36868" name="Picture 7" descr="coarctationdiagram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4908550" y="1268413"/>
            <a:ext cx="4235450" cy="4875212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Clinical Manifestations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147050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Severe  critical stenosis, the neonate present with evidence of CHF if not corrected surgically  result in death.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Past the neonatal period  Usually asymptomatic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Older children: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Headaches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Epistaxis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Claudication, cold feet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CH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Coarctation of the Aorta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Physical Examination</a:t>
            </a:r>
            <a:endParaRPr 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Weak or absent femoral pulses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Increased B/P in the upper extremities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B/P difference between upper and lower extremities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Radio Femoral pulse delay ( Collaterals)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Chest x_ray: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Dilated descending Aorta, enlarged LV.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Rib notching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ECG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: normal in childhood, later LV hypertrophy</a:t>
            </a: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.</a:t>
            </a:r>
            <a:endParaRPr lang="fr-CH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altLang="fr-CH" sz="24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ECHO</a:t>
            </a:r>
            <a:endParaRPr lang="fr-CH" sz="2400" b="1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Measure the stenotic area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fr-CH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gradient</a:t>
            </a: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fr-CH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Physical Examination</a:t>
            </a:r>
            <a:r>
              <a:rPr kumimoji="0" lang="fr-CH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:</a:t>
            </a:r>
            <a:endParaRPr kumimoji="0" lang="fr-CH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075613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Weak or absent femoral pulses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Increased B/P in the upper extremities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B/P difference between upper and lower extremities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Radio Femoral pulse delay ( Collaterals)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A2 is  loud , systolic murmur 3rd and 4th ULSB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Treatment</a:t>
            </a:r>
            <a:endParaRPr kumimoji="0" lang="en-GB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781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Neonatal: closure of  the ductus lead to hypo perfussion and acidosis, thus give infusion of prostaglandin to reopen the ductus, after stabilization </a:t>
            </a:r>
            <a:r>
              <a:rPr kumimoji="0" lang="en-GB" sz="240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surgical treatment</a:t>
            </a: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.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Older children  with CHF and no hypertension medical treatment followed by </a:t>
            </a:r>
            <a:r>
              <a:rPr kumimoji="0" lang="en-GB" sz="240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surgery or angioplasty.</a:t>
            </a:r>
            <a:endParaRPr kumimoji="0" lang="en-GB" sz="2400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Re -stenosis  balloon angioplasty is safe.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WordArt 3"/>
          <p:cNvSpPr>
            <a:spLocks noTextEdit="1"/>
          </p:cNvSpPr>
          <p:nvPr/>
        </p:nvSpPr>
        <p:spPr>
          <a:xfrm>
            <a:off x="928688" y="1428750"/>
            <a:ext cx="6858000" cy="3357563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normAutofit/>
            <a:scene3d>
              <a:camera prst="legacyObliqueTopLeft">
                <a:rot lat="0" lon="0" rev="0"/>
              </a:camera>
              <a:lightRig rig="legacyNormal3" dir="r"/>
            </a:scene3d>
            <a:sp3d extrusionH="201600" prstMaterial="legacyMatte">
              <a:extrusionClr>
                <a:srgbClr val="0066CC"/>
              </a:extrusionClr>
            </a:sp3d>
          </a:bodyPr>
          <a:p>
            <a:pPr algn="ctr"/>
            <a:r>
              <a:rPr lang="en-US" sz="4400" b="1" i="1">
                <a:solidFill>
                  <a:schemeClr val="tx1"/>
                </a:solidFill>
                <a:latin typeface="Georgia" panose="02040502050405020303" charset="0"/>
                <a:ea typeface="Rage Italic" charset="0"/>
                <a:cs typeface="Georgia" panose="02040502050405020303" charset="0"/>
              </a:rPr>
              <a:t>Cyanotic Heart Diseases</a:t>
            </a:r>
            <a:endParaRPr lang="en-US" sz="4400" b="1" i="1">
              <a:solidFill>
                <a:schemeClr val="tx1"/>
              </a:solidFill>
              <a:latin typeface="Georgia" panose="02040502050405020303" charset="0"/>
              <a:ea typeface="Rage Italic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404495"/>
            <a:ext cx="8134350" cy="8636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</a:br>
            <a:b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</a:b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Tetralogy of Fallot</a:t>
            </a:r>
            <a:b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</a:br>
            <a:br>
              <a:rPr kumimoji="0" lang="en-GB" sz="5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</a:br>
            <a:endParaRPr kumimoji="0" lang="en-GB" sz="5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96975"/>
            <a:ext cx="4464050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Common cyanotic congenital cardiac anomaly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Four anatomical components of TOF:</a:t>
            </a: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GB" sz="2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VSD</a:t>
            </a:r>
            <a:endParaRPr kumimoji="0" lang="en-GB" sz="2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GB" sz="2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Overriding Aorta</a:t>
            </a:r>
            <a:endParaRPr kumimoji="0" lang="en-GB" sz="2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GB" sz="2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Right ventricular outflow obstruction</a:t>
            </a:r>
            <a:endParaRPr kumimoji="0" lang="en-GB" sz="2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GB" sz="22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Right ventricular hypertrophy</a:t>
            </a:r>
            <a:endParaRPr kumimoji="0" lang="en-GB" sz="22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45060" name="Picture 4" descr="tetralogydiagram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4572000" y="1628775"/>
            <a:ext cx="4392613" cy="4608513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8155" y="1417955"/>
            <a:ext cx="3977640" cy="5134610"/>
          </a:xfrm>
        </p:spPr>
        <p:txBody>
          <a:bodyPr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C</a:t>
            </a:r>
            <a:r>
              <a:rPr lang="en-US" altLang="en-GB" sz="2400" b="1" kern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M</a:t>
            </a:r>
            <a:endParaRPr lang="en-GB" sz="2400" b="1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-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Variable depend on RVOT obstruction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pink to cyanosis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CHF is not a usual manifestation of TOF</a:t>
            </a:r>
            <a:endParaRPr kumimoji="0" lang="en-GB" sz="2400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Squatting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Dyspnoea on exertion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Hypoxic spells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Growth failure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54550" y="1600200"/>
            <a:ext cx="4032250" cy="4792980"/>
          </a:xfrm>
        </p:spPr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Physical Examination:</a:t>
            </a:r>
            <a:endParaRPr lang="en-GB" sz="2400" b="1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Cyanosis variable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Clubbing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Usually S2 is single,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Quite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precordium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Thrill at the pulmonary area(-+)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Systolic </a:t>
            </a:r>
            <a:r>
              <a:rPr lang="en-GB" sz="2400" kern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ejection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murmur at the pulmonary area (</a:t>
            </a:r>
            <a:r>
              <a:rPr lang="en-GB" sz="2400" kern="0" noProof="0" dirty="0" smtClean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LUSB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Georgia" panose="02040502050405020303" charset="0"/>
                <a:cs typeface="Georgia" panose="02040502050405020303" charset="0"/>
              </a:rPr>
              <a:t>IMAGING</a:t>
            </a:r>
            <a:endParaRPr lang="en-US" b="1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Chest x ray 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Normal sized, boot shaped heart.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Reduced pulmonary vascular marking (oligemic depend on the degree of RVOT obstruction.</a:t>
            </a:r>
            <a:endParaRPr lang="en-GB" sz="2400" kern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alt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ECG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Right axis deviation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Right atrial and right ventricular enlargement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ECHO</a:t>
            </a:r>
            <a:endParaRPr 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Location and size of the VSD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The  aortic override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The degree of RVOT obstruction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The size of pulmonary valve  annulus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Look for other associated anomalies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indent="0">
              <a:buNone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12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188913"/>
            <a:ext cx="7772400" cy="1250950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Complications</a:t>
            </a:r>
            <a:endParaRPr kumimoji="0" lang="en-GB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55650" y="1989138"/>
            <a:ext cx="7488238" cy="4535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Cardiovascular accidents 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Brain abscess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Infective endocarditis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Polycythemia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Management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5435" cy="4526280"/>
          </a:xfrm>
        </p:spPr>
        <p:txBody>
          <a:bodyPr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0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Medical management:</a:t>
            </a:r>
            <a:endParaRPr kumimoji="0" lang="en-GB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A)</a:t>
            </a:r>
            <a:r>
              <a:rPr lang="en-GB" sz="2000" i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Neonatal period</a:t>
            </a: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alt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=</a:t>
            </a: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give prostaglandin to prevent ductal closure and followed by palliative shunt (B-T Shunt)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B)Recognition and treatment of hyper cyanotic spell.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Knee chest positioning of the patient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Administration of oxygen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Volume expansion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Correction of acidosis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Sedation with morphine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Propranolol 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C)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Treat infective endocarditis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D) correct</a:t>
            </a: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Anemia</a:t>
            </a:r>
            <a:endParaRPr kumimoji="0" lang="en-US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E) 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correct</a:t>
            </a: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Severe polycythemia </a:t>
            </a:r>
            <a:endParaRPr lang="en-GB" sz="24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Surgical Management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>
              <a:buFont typeface="Wingdings" panose="05000000000000000000" charset="0"/>
              <a:buChar char="q"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539433" y="188595"/>
            <a:ext cx="7772400" cy="647700"/>
          </a:xfrm>
        </p:spPr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4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0825" y="692150"/>
            <a:ext cx="8498205" cy="55200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Medical management</a:t>
            </a:r>
            <a:r>
              <a:rPr kumimoji="0" lang="en-GB" sz="9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:</a:t>
            </a:r>
            <a:endParaRPr kumimoji="0" lang="en-GB" sz="9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</a:t>
            </a: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)</a:t>
            </a:r>
            <a:r>
              <a:rPr kumimoji="0" lang="en-GB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Neonatal period</a:t>
            </a: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</a:t>
            </a:r>
            <a:r>
              <a:rPr kumimoji="0" lang="en-US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=</a:t>
            </a: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give prostaglandin to prevent ductal closure and followed by palliative shunt (B-T Shunt)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B)Recognition and treatment of hyper cyanotic spell.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Knee chest positioning of the patient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Administration of oxygen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Volume expansion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Correction of acidosis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Sedation with morphine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</a:rPr>
              <a:t>Propranolol 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C) Treat infective endocarditis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D) correct</a:t>
            </a:r>
            <a:r>
              <a:rPr kumimoji="0" lang="en-US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Anemia</a:t>
            </a:r>
            <a:endParaRPr kumimoji="0" lang="en-US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E) </a:t>
            </a:r>
            <a:r>
              <a:rPr 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correct</a:t>
            </a:r>
            <a:r>
              <a:rPr lang="en-US" altLang="en-GB" sz="24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Severe polycythemia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WordArt 3"/>
          <p:cNvSpPr>
            <a:spLocks noTextEdit="1"/>
          </p:cNvSpPr>
          <p:nvPr/>
        </p:nvSpPr>
        <p:spPr>
          <a:xfrm>
            <a:off x="428625" y="1428750"/>
            <a:ext cx="7815263" cy="32146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normAutofit/>
            <a:scene3d>
              <a:camera prst="legacyPerspectiveFront">
                <a:rot lat="2052000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p>
            <a:pPr algn="ctr"/>
            <a:r>
              <a:rPr lang="en-US" sz="3600" i="1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Harrington" charset="0"/>
                <a:ea typeface="Harrington" charset="0"/>
              </a:rPr>
              <a:t>Transposition of the Great Arteries</a:t>
            </a:r>
            <a:endParaRPr lang="en-US" sz="3600" i="1"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  <a:tileRect/>
              </a:gradFill>
              <a:latin typeface="Harrington" charset="0"/>
              <a:ea typeface="Harrington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Transposition of the Great Arteries</a:t>
            </a:r>
            <a:endParaRPr kumimoji="0" lang="en-GB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705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TGA occurs in 8-9% of CHD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Male are affected than Females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Different variety exist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59396" name="Picture 4" descr="transposition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4859973" y="1628458"/>
            <a:ext cx="4105275" cy="3671887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sz="3200" b="1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Transposition of the Great Arteries</a:t>
            </a:r>
            <a:endParaRPr lang="en-GB" sz="3200" b="1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Clinical features:</a:t>
            </a:r>
            <a:endParaRPr lang="en-GB" sz="2400" b="1" kern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Cyanosis  detected 87% of the neonates immediately ; rest later at the age of 1 to 3 month and is progressive.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Clubbing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Squatting only 20% of patients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Dyspnoea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Cardiac failure 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Cough</a:t>
            </a: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endParaRPr kumimoji="0" lang="en-GB" sz="24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  <a:sym typeface="+mn-ea"/>
              </a:rPr>
              <a:t>Physical findings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GB" sz="2400" b="1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TGA with no VSD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Cyanosis intense 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Precordial lift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Loud first sound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Splitted S2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400" kern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Murmur may not be heard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GB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605" y="188595"/>
            <a:ext cx="8229600" cy="99441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Radiology </a:t>
            </a:r>
            <a:endParaRPr kumimoji="0" lang="en-GB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2145" y="1136015"/>
            <a:ext cx="7109460" cy="544639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US" alt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CXR</a:t>
            </a:r>
            <a:endParaRPr kumimoji="0" lang="en-GB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Increased pulmonary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vascular marking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Large heart with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 egg - on side appearance.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US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ECG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Right ventricular hypertrophy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Right axis deviation</a:t>
            </a:r>
            <a:endParaRPr lang="en-GB" sz="2000" kern="0" noProof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lang="en-US" alt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ECHO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pulmonary artery from the LV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Aorta from RV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Associated lesions like VSD and ASD be identified.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GB" sz="2000" kern="0" noProof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cs typeface="Georgia" panose="02040502050405020303" charset="0"/>
                <a:sym typeface="+mn-ea"/>
              </a:rPr>
              <a:t>Coronary artery anatomy</a:t>
            </a:r>
            <a:endParaRPr kumimoji="0" 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  <p:pic>
        <p:nvPicPr>
          <p:cNvPr id="63492" name="Picture 4" descr="tgadcxr1sss"/>
          <p:cNvPicPr>
            <a:picLocks noChangeAspect="1"/>
          </p:cNvPicPr>
          <p:nvPr>
            <p:ph type="clipArt" sz="half" idx="2"/>
          </p:nvPr>
        </p:nvPicPr>
        <p:blipFill>
          <a:blip r:embed="rId1">
            <a:lum bright="-14001"/>
          </a:blip>
          <a:srcRect/>
          <a:stretch>
            <a:fillRect/>
          </a:stretch>
        </p:blipFill>
        <p:spPr>
          <a:xfrm>
            <a:off x="5220335" y="1417955"/>
            <a:ext cx="4038600" cy="4520565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j-ea"/>
                <a:cs typeface="Georgia" panose="02040502050405020303" charset="0"/>
              </a:rPr>
              <a:t>Management</a:t>
            </a:r>
            <a:endParaRPr kumimoji="0" lang="en-GB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j-ea"/>
              <a:cs typeface="Georgia" panose="02040502050405020303" charset="0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18488" cy="5329238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Medical management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: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Prostaglandin to keep the DA open until palliation done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Give oxygen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Treat  metabolic acidosis with 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bicarbonate.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q"/>
              <a:defRPr/>
            </a:pP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Surgical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: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Palliative  balloon septostomy creating  /increasing ASD Rashkind procedure.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Arterial Switch (Jaten Procedure)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charset="0"/>
                <a:ea typeface="+mn-ea"/>
                <a:cs typeface="Georgia" panose="02040502050405020303" charset="0"/>
              </a:rPr>
              <a:t>Atrial switch ( Mustard procedure)</a:t>
            </a: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charset="0"/>
              <a:ea typeface="+mn-ea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415" y="242570"/>
            <a:ext cx="9081135" cy="6551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0</TotalTime>
  <Words>10134</Words>
  <Application>WPS Presentation</Application>
  <PresentationFormat>On-screen Show (4:3)</PresentationFormat>
  <Paragraphs>575</Paragraphs>
  <Slides>43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Arial</vt:lpstr>
      <vt:lpstr>SimSun</vt:lpstr>
      <vt:lpstr>Wingdings</vt:lpstr>
      <vt:lpstr>Franklin Gothic Medium</vt:lpstr>
      <vt:lpstr>Georgia</vt:lpstr>
      <vt:lpstr>Wingdings</vt:lpstr>
      <vt:lpstr>Microsoft YaHei</vt:lpstr>
      <vt:lpstr>Arial Unicode MS</vt:lpstr>
      <vt:lpstr>Monotype Sorts</vt:lpstr>
      <vt:lpstr>Symbol</vt:lpstr>
      <vt:lpstr>Rage Italic</vt:lpstr>
      <vt:lpstr>Segoe Print</vt:lpstr>
      <vt:lpstr>Harrington</vt:lpstr>
      <vt:lpstr>Business Cooperate</vt:lpstr>
      <vt:lpstr>CONGENITAL HEART DISEASES</vt:lpstr>
      <vt:lpstr>OUTLINES</vt:lpstr>
      <vt:lpstr>Fetal circulation</vt:lpstr>
      <vt:lpstr>Foetal Circulation</vt:lpstr>
      <vt:lpstr>Transitional circulation</vt:lpstr>
      <vt:lpstr>Transitional circulation</vt:lpstr>
      <vt:lpstr>Transitional circulation</vt:lpstr>
      <vt:lpstr>Introduction:Congenital Heart disease</vt:lpstr>
      <vt:lpstr>Cont….</vt:lpstr>
      <vt:lpstr>Prevalence of Congenital heart Disease (chart review)</vt:lpstr>
      <vt:lpstr>       cont.….</vt:lpstr>
      <vt:lpstr>Congenital Heart Disease ;Types</vt:lpstr>
      <vt:lpstr>Common Congenital Heart Diseases</vt:lpstr>
      <vt:lpstr>Clinical manifestation of CHD</vt:lpstr>
      <vt:lpstr>Management of CHD</vt:lpstr>
      <vt:lpstr>Ventricular Septal Defect</vt:lpstr>
      <vt:lpstr>VSD cont.…</vt:lpstr>
      <vt:lpstr>Clinical manifestations</vt:lpstr>
      <vt:lpstr>Physical Examination:</vt:lpstr>
      <vt:lpstr>VSD</vt:lpstr>
      <vt:lpstr>Treatment</vt:lpstr>
      <vt:lpstr>Patent Ductus Arteriosus(PDA)</vt:lpstr>
      <vt:lpstr>Clinical manifestation </vt:lpstr>
      <vt:lpstr>Physical EXAMINATION</vt:lpstr>
      <vt:lpstr>Treatment</vt:lpstr>
      <vt:lpstr>Coarctation of the Aorta</vt:lpstr>
      <vt:lpstr>Clinical Manifestations</vt:lpstr>
      <vt:lpstr>Coarctation of the Aorta</vt:lpstr>
      <vt:lpstr>Physical Examination:</vt:lpstr>
      <vt:lpstr>Treatment</vt:lpstr>
      <vt:lpstr>PowerPoint 演示文稿</vt:lpstr>
      <vt:lpstr>  Tetralogy of Fallot  </vt:lpstr>
      <vt:lpstr>PowerPoint 演示文稿</vt:lpstr>
      <vt:lpstr>IMAGING</vt:lpstr>
      <vt:lpstr>Complications</vt:lpstr>
      <vt:lpstr>Management</vt:lpstr>
      <vt:lpstr>PowerPoint 演示文稿</vt:lpstr>
      <vt:lpstr>PowerPoint 演示文稿</vt:lpstr>
      <vt:lpstr>Transposition of the Great Arteries</vt:lpstr>
      <vt:lpstr>Transposition of the Great Arteries</vt:lpstr>
      <vt:lpstr>Radiology </vt:lpstr>
      <vt:lpstr>Management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CONGENITAL HEART DISEASES</dc:title>
  <dc:creator>EndUser</dc:creator>
  <cp:lastModifiedBy>user</cp:lastModifiedBy>
  <cp:revision>85</cp:revision>
  <dcterms:created xsi:type="dcterms:W3CDTF">2004-07-05T12:55:00Z</dcterms:created>
  <dcterms:modified xsi:type="dcterms:W3CDTF">2024-11-07T02:09:43Z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6199C0831F3E45B1BE94E393ECBAFCA5_13</vt:lpwstr>
  </property>
  <property fmtid="{D5CDD505-2E9C-101B-9397-08002B2CF9AE}" pid="3" name="KSOProductBuildVer">
    <vt:lpwstr>1033-12.2.0.18607</vt:lpwstr>
  </property>
</Properties>
</file>