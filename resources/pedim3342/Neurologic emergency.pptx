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37"/>
  </p:notesMasterIdLst>
  <p:sldIdLst>
    <p:sldId id="402" r:id="rId2"/>
    <p:sldId id="361" r:id="rId3"/>
    <p:sldId id="266" r:id="rId4"/>
    <p:sldId id="267" r:id="rId5"/>
    <p:sldId id="258" r:id="rId6"/>
    <p:sldId id="269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270" r:id="rId16"/>
    <p:sldId id="262" r:id="rId17"/>
    <p:sldId id="278" r:id="rId18"/>
    <p:sldId id="286" r:id="rId19"/>
    <p:sldId id="298" r:id="rId20"/>
    <p:sldId id="290" r:id="rId21"/>
    <p:sldId id="296" r:id="rId22"/>
    <p:sldId id="406" r:id="rId23"/>
    <p:sldId id="318" r:id="rId24"/>
    <p:sldId id="335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423" r:id="rId34"/>
    <p:sldId id="424" r:id="rId35"/>
    <p:sldId id="425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5" autoAdjust="0"/>
    <p:restoredTop sz="94660"/>
  </p:normalViewPr>
  <p:slideViewPr>
    <p:cSldViewPr>
      <p:cViewPr>
        <p:scale>
          <a:sx n="77" d="100"/>
          <a:sy n="77" d="100"/>
        </p:scale>
        <p:origin x="-11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AE605-A6CE-4BFA-AA11-BA0E37DED0FC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27FC9-F2C9-4309-BBBD-0818B0C65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8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3EF7-AF92-48C0-B09B-64D2F1F9617F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9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AC3D2-FA31-4E8A-979A-97AA6CD1CF0D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9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BD737-CDD0-42FC-9A24-9907A6D677AF}" type="datetime1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7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B7D33-BAC8-4E7A-9425-9CD449CEBEAE}" type="datetime1">
              <a:rPr lang="en-US" smtClean="0"/>
              <a:t>10/12/2024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9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4B022-A712-4521-A1E1-59612F36397E}" type="datetime1">
              <a:rPr lang="en-US" smtClean="0"/>
              <a:t>10/12/2024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29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9CA29-8A16-4573-BEEC-57F380BDC8B7}" type="datetime1">
              <a:rPr lang="en-US" smtClean="0"/>
              <a:t>10/12/2024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3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52AA-216F-4752-88E8-2C017B39999D}" type="datetime1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6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7A78-D213-4F19-8F27-14390A0E03E7}" type="datetime1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3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2FC0A-F36D-4B5C-B1B4-3E25A2C42223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3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2DD3-EFD3-478C-9160-BA4E4703E58F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0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2DA6A-1865-4223-92D5-76D989FE82FB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8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marL="0" indent="0" algn="r">
              <a:buNone/>
            </a:pPr>
            <a:endParaRPr lang="en-US" dirty="0" smtClean="0"/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 smtClean="0"/>
              <a:t>PEDIATRICS NEUROLOGIC EMERGENCY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2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Brain Anatomy </a:t>
            </a:r>
            <a:r>
              <a:rPr lang="en-US" dirty="0"/>
              <a:t>and </a:t>
            </a:r>
            <a:r>
              <a:rPr lang="en-US" dirty="0" smtClean="0"/>
              <a:t>physiology </a:t>
            </a:r>
            <a:endParaRPr lang="en-US" dirty="0"/>
          </a:p>
          <a:p>
            <a:r>
              <a:rPr lang="en-US" dirty="0" smtClean="0"/>
              <a:t>Increased Intracranial pressure(ICP)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Traumatic </a:t>
            </a:r>
            <a:r>
              <a:rPr lang="en-US" dirty="0"/>
              <a:t>Brain injury</a:t>
            </a:r>
          </a:p>
          <a:p>
            <a:r>
              <a:rPr lang="en-US" dirty="0" smtClean="0"/>
              <a:t>Approach </a:t>
            </a:r>
            <a:r>
              <a:rPr lang="en-US" dirty="0"/>
              <a:t>to coma in Children </a:t>
            </a:r>
            <a:endParaRPr lang="en-US" dirty="0" smtClean="0"/>
          </a:p>
          <a:p>
            <a:r>
              <a:rPr lang="en-US" dirty="0"/>
              <a:t>Childhood paralytic </a:t>
            </a:r>
            <a:r>
              <a:rPr lang="en-US" dirty="0" smtClean="0"/>
              <a:t>syndromes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605F-732B-4987-A5D9-34BE869182D2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2800" dirty="0"/>
              <a:t>The brain is protected from injury by…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2600" b="1" dirty="0" smtClean="0"/>
              <a:t>Scalp </a:t>
            </a:r>
            <a:r>
              <a:rPr lang="en-US" sz="2600" dirty="0"/>
              <a:t>and </a:t>
            </a:r>
            <a:r>
              <a:rPr lang="en-US" sz="2600" b="1" dirty="0"/>
              <a:t>skull</a:t>
            </a:r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2600" b="1" dirty="0" smtClean="0"/>
              <a:t>meninges</a:t>
            </a:r>
            <a:endParaRPr lang="en-US" sz="2600" b="1" dirty="0"/>
          </a:p>
          <a:p>
            <a:pPr marL="914400" lvl="1" indent="-457200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sz="2600" dirty="0" smtClean="0"/>
              <a:t> </a:t>
            </a:r>
            <a:r>
              <a:rPr lang="en-US" sz="2600" b="1" dirty="0"/>
              <a:t>cerebrospinal fluid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E3838-7631-4BB8-9D98-7EA21BD35928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b="1" dirty="0"/>
              <a:t>The Coverings of the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F8D75-100D-4B19-8120-D95E50829841}" type="datetime1">
              <a:rPr lang="en-US" smtClean="0"/>
              <a:t>10/12/2024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07" y="3383321"/>
            <a:ext cx="3086907" cy="1971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232" y="1918953"/>
            <a:ext cx="4661045" cy="4500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brain has high metabolic </a:t>
            </a:r>
            <a:r>
              <a:rPr lang="en-US" dirty="0" smtClean="0"/>
              <a:t>demands</a:t>
            </a:r>
          </a:p>
          <a:p>
            <a:r>
              <a:rPr lang="en-US" dirty="0" smtClean="0"/>
              <a:t>Total </a:t>
            </a:r>
            <a:r>
              <a:rPr lang="en-US" dirty="0"/>
              <a:t>brain volume at age 1 </a:t>
            </a:r>
            <a:r>
              <a:rPr lang="en-US" dirty="0" smtClean="0"/>
              <a:t>month </a:t>
            </a:r>
            <a:r>
              <a:rPr lang="en-US" dirty="0"/>
              <a:t>is approximately 36% of adult volume but by age 1 </a:t>
            </a:r>
            <a:r>
              <a:rPr lang="en-US" dirty="0" err="1"/>
              <a:t>yr</a:t>
            </a:r>
            <a:r>
              <a:rPr lang="en-US" dirty="0"/>
              <a:t> is approximately 72% (83% by 2 </a:t>
            </a:r>
            <a:r>
              <a:rPr lang="en-US" dirty="0" err="1"/>
              <a:t>yr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E6A87-E2D0-49BF-9555-5E072938D67B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BRAIN METABOLISM AND CEREBRAL BLOOD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Brain oxygen consumption  is about 3.5 ml /100 g/1min</a:t>
            </a:r>
          </a:p>
          <a:p>
            <a:r>
              <a:rPr lang="en-US" sz="2400" dirty="0" smtClean="0"/>
              <a:t>25 </a:t>
            </a:r>
            <a:r>
              <a:rPr lang="en-US" sz="2400" dirty="0"/>
              <a:t>% of the body's total oxygen consumption</a:t>
            </a:r>
          </a:p>
          <a:p>
            <a:r>
              <a:rPr lang="en-US" sz="2400" dirty="0" smtClean="0"/>
              <a:t>90</a:t>
            </a:r>
            <a:r>
              <a:rPr lang="en-US" sz="2400" dirty="0"/>
              <a:t>% of </a:t>
            </a:r>
            <a:r>
              <a:rPr lang="en-US" sz="2400" dirty="0" smtClean="0"/>
              <a:t>its energy come from glucose</a:t>
            </a:r>
          </a:p>
          <a:p>
            <a:r>
              <a:rPr lang="en-US" sz="2400" dirty="0" smtClean="0"/>
              <a:t>Normal cerebral blood flow is approximately  </a:t>
            </a:r>
            <a:r>
              <a:rPr lang="en-US" sz="2400" dirty="0"/>
              <a:t>55 ml /100 g/1min</a:t>
            </a:r>
          </a:p>
          <a:p>
            <a:r>
              <a:rPr lang="en-US" sz="2400" dirty="0"/>
              <a:t> 15 % of the CO</a:t>
            </a:r>
          </a:p>
          <a:p>
            <a:pPr marL="0" indent="0">
              <a:buNone/>
            </a:pPr>
            <a:r>
              <a:rPr lang="en-US" sz="2400" dirty="0"/>
              <a:t>                        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3C33-C6A9-44F0-B243-0A6E7AF2F97C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>
              <a:tabLst>
                <a:tab pos="284163" algn="l"/>
                <a:tab pos="630238" algn="l"/>
              </a:tabLst>
            </a:pPr>
            <a:endParaRPr lang="en-US" dirty="0" smtClean="0"/>
          </a:p>
          <a:p>
            <a:pPr marL="0" indent="0">
              <a:buNone/>
              <a:tabLst>
                <a:tab pos="284163" algn="l"/>
                <a:tab pos="630238" algn="l"/>
              </a:tabLst>
            </a:pPr>
            <a:r>
              <a:rPr lang="en-US" dirty="0"/>
              <a:t> </a:t>
            </a:r>
            <a:r>
              <a:rPr lang="en-US" dirty="0" smtClean="0"/>
              <a:t>        APPROACH </a:t>
            </a:r>
            <a:r>
              <a:rPr lang="en-US" dirty="0"/>
              <a:t>TO A CHILD IN COMA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3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Consciousness has two dimensions :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/>
              <a:t>a) Wakefulness/arousal or alertness</a:t>
            </a:r>
          </a:p>
          <a:p>
            <a:pPr marL="0" indent="0">
              <a:buNone/>
            </a:pPr>
            <a:r>
              <a:rPr lang="en-US" dirty="0" smtClean="0"/>
              <a:t>       </a:t>
            </a:r>
            <a:r>
              <a:rPr lang="en-US" dirty="0"/>
              <a:t>b) Awareness of self and </a:t>
            </a:r>
            <a:r>
              <a:rPr lang="en-US" dirty="0" smtClean="0"/>
              <a:t>         </a:t>
            </a:r>
            <a:r>
              <a:rPr lang="en-US" dirty="0"/>
              <a:t>surroundings(environment</a:t>
            </a:r>
            <a:r>
              <a:rPr lang="en-US" dirty="0" smtClean="0"/>
              <a:t>)</a:t>
            </a:r>
          </a:p>
          <a:p>
            <a:r>
              <a:rPr lang="en-US" b="1" dirty="0"/>
              <a:t>Lethargy </a:t>
            </a:r>
          </a:p>
          <a:p>
            <a:pPr marL="0" indent="0">
              <a:buNone/>
            </a:pPr>
            <a:r>
              <a:rPr lang="en-US" dirty="0"/>
              <a:t>     -  Decreased wakefulness or drowsiness</a:t>
            </a:r>
          </a:p>
          <a:p>
            <a:pPr marL="0" indent="0">
              <a:buNone/>
            </a:pPr>
            <a:r>
              <a:rPr lang="en-US" dirty="0"/>
              <a:t>      - Patient may be confused but is able to </a:t>
            </a:r>
          </a:p>
          <a:p>
            <a:pPr marL="0" indent="0">
              <a:buNone/>
            </a:pPr>
            <a:r>
              <a:rPr lang="en-US" dirty="0"/>
              <a:t>         communicate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01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Stupor </a:t>
            </a:r>
            <a:r>
              <a:rPr lang="en-US" b="1" dirty="0" smtClean="0"/>
              <a:t>:-</a:t>
            </a:r>
            <a:r>
              <a:rPr lang="en-US" dirty="0" smtClean="0"/>
              <a:t> </a:t>
            </a:r>
            <a:r>
              <a:rPr lang="en-US" dirty="0"/>
              <a:t>Patient can be aroused with painful (noxious) </a:t>
            </a:r>
            <a:r>
              <a:rPr lang="en-US" dirty="0" smtClean="0"/>
              <a:t> stimuli</a:t>
            </a:r>
          </a:p>
          <a:p>
            <a:r>
              <a:rPr lang="en-US" b="1" dirty="0"/>
              <a:t>Coma</a:t>
            </a:r>
            <a:r>
              <a:rPr lang="en-US" dirty="0"/>
              <a:t> (</a:t>
            </a:r>
            <a:r>
              <a:rPr lang="en-US" dirty="0" smtClean="0"/>
              <a:t>unconsciousness) refers </a:t>
            </a:r>
            <a:r>
              <a:rPr lang="en-US" dirty="0"/>
              <a:t>to a state in which the patient is </a:t>
            </a:r>
            <a:r>
              <a:rPr lang="en-US" dirty="0" smtClean="0"/>
              <a:t>unable  </a:t>
            </a:r>
            <a:r>
              <a:rPr lang="en-US" dirty="0"/>
              <a:t>to arouse or respond to noxious stimuli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Patient  is completely unaware of self &amp;  </a:t>
            </a:r>
            <a:r>
              <a:rPr lang="en-US" dirty="0" smtClean="0"/>
              <a:t>surroundings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GCS ASSESMENT 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46852" y="1631852"/>
            <a:ext cx="5450296" cy="4462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8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of coma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1) Metabolic (70-80%)</a:t>
            </a:r>
          </a:p>
          <a:p>
            <a:r>
              <a:rPr lang="en-US" dirty="0"/>
              <a:t>Hypoglycemia</a:t>
            </a:r>
          </a:p>
          <a:p>
            <a:r>
              <a:rPr lang="en-US" dirty="0"/>
              <a:t>Diabetes Mellitus </a:t>
            </a:r>
          </a:p>
          <a:p>
            <a:r>
              <a:rPr lang="en-US" dirty="0"/>
              <a:t>Renal failure </a:t>
            </a:r>
          </a:p>
          <a:p>
            <a:r>
              <a:rPr lang="en-US" dirty="0"/>
              <a:t>Hepatic failure</a:t>
            </a:r>
          </a:p>
          <a:p>
            <a:r>
              <a:rPr lang="en-US" dirty="0"/>
              <a:t>Hypothyroidism</a:t>
            </a:r>
          </a:p>
          <a:p>
            <a:r>
              <a:rPr lang="en-US" dirty="0"/>
              <a:t>Hypothermia</a:t>
            </a:r>
          </a:p>
          <a:p>
            <a:r>
              <a:rPr lang="en-US" dirty="0"/>
              <a:t>Cardiorespiratory failure</a:t>
            </a:r>
          </a:p>
          <a:p>
            <a:r>
              <a:rPr lang="en-US" dirty="0"/>
              <a:t>Hypoxic Encephalopathy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97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2) Drug over dosage (including </a:t>
            </a:r>
            <a:r>
              <a:rPr lang="en-US" dirty="0" smtClean="0"/>
              <a:t>alcohol)</a:t>
            </a:r>
          </a:p>
          <a:p>
            <a:r>
              <a:rPr lang="en-US" dirty="0" smtClean="0"/>
              <a:t>3</a:t>
            </a:r>
            <a:r>
              <a:rPr lang="en-US" dirty="0"/>
              <a:t>) Structural (20-30%) – diffuse &amp; focal </a:t>
            </a:r>
            <a:r>
              <a:rPr lang="en-US" dirty="0" smtClean="0"/>
              <a:t>causes           </a:t>
            </a:r>
            <a:r>
              <a:rPr lang="en-US" b="1" dirty="0"/>
              <a:t>i) Diffuse 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  </a:t>
            </a:r>
            <a:r>
              <a:rPr lang="en-US" dirty="0" smtClean="0"/>
              <a:t> </a:t>
            </a:r>
            <a:r>
              <a:rPr lang="en-US" dirty="0"/>
              <a:t>Meningitis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   </a:t>
            </a:r>
            <a:r>
              <a:rPr lang="en-US" dirty="0" smtClean="0"/>
              <a:t>Encephalitis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  Other </a:t>
            </a:r>
            <a:r>
              <a:rPr lang="en-US" dirty="0"/>
              <a:t>infections e.g. cerebral </a:t>
            </a:r>
            <a:r>
              <a:rPr lang="en-US" dirty="0" smtClean="0"/>
              <a:t>malaria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   Head injury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 Epilepsy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 Hypertensive </a:t>
            </a:r>
            <a:r>
              <a:rPr lang="en-US" dirty="0"/>
              <a:t>encephalopathy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   </a:t>
            </a:r>
            <a:r>
              <a:rPr lang="en-US" dirty="0"/>
              <a:t>Subarachnoid </a:t>
            </a:r>
            <a:r>
              <a:rPr lang="en-US" dirty="0" err="1"/>
              <a:t>hemmorrhage</a:t>
            </a:r>
            <a:endParaRPr lang="en-US" dirty="0"/>
          </a:p>
          <a:p>
            <a:pPr>
              <a:buFont typeface="Wingdings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00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ii) Focal </a:t>
            </a:r>
            <a:endParaRPr lang="en-US" b="1" dirty="0" smtClean="0"/>
          </a:p>
          <a:p>
            <a:r>
              <a:rPr lang="en-US" dirty="0" smtClean="0"/>
              <a:t>Head </a:t>
            </a:r>
            <a:r>
              <a:rPr lang="en-US" dirty="0"/>
              <a:t>injury</a:t>
            </a:r>
          </a:p>
          <a:p>
            <a:r>
              <a:rPr lang="en-US" dirty="0"/>
              <a:t>Tumor </a:t>
            </a:r>
          </a:p>
          <a:p>
            <a:r>
              <a:rPr lang="en-US" dirty="0" smtClean="0"/>
              <a:t>hemorrhage</a:t>
            </a:r>
            <a:endParaRPr lang="en-US" dirty="0"/>
          </a:p>
          <a:p>
            <a:r>
              <a:rPr lang="en-US" dirty="0"/>
              <a:t>I</a:t>
            </a:r>
            <a:r>
              <a:rPr lang="en-US" dirty="0" smtClean="0"/>
              <a:t>nfarction </a:t>
            </a:r>
            <a:r>
              <a:rPr lang="en-US" dirty="0"/>
              <a:t>with edema</a:t>
            </a:r>
          </a:p>
          <a:p>
            <a:r>
              <a:rPr lang="en-US" dirty="0" smtClean="0"/>
              <a:t>Brain </a:t>
            </a:r>
            <a:r>
              <a:rPr lang="en-US" dirty="0" err="1" smtClean="0"/>
              <a:t>bscess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49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/>
          <a:lstStyle/>
          <a:p>
            <a:r>
              <a:rPr lang="en-US" dirty="0" smtClean="0"/>
              <a:t>Approach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830763"/>
          </a:xfrm>
        </p:spPr>
        <p:txBody>
          <a:bodyPr>
            <a:noAutofit/>
          </a:bodyPr>
          <a:lstStyle/>
          <a:p>
            <a:r>
              <a:rPr lang="en-US" sz="2800" b="1" dirty="0"/>
              <a:t>History of the patient</a:t>
            </a:r>
          </a:p>
          <a:p>
            <a:r>
              <a:rPr lang="en-US" sz="2800" b="1" dirty="0" smtClean="0"/>
              <a:t> </a:t>
            </a:r>
            <a:r>
              <a:rPr lang="en-US" sz="2800" b="1" dirty="0"/>
              <a:t>Physical examination</a:t>
            </a:r>
          </a:p>
          <a:p>
            <a:pPr marL="0" indent="0">
              <a:buNone/>
            </a:pPr>
            <a:r>
              <a:rPr lang="en-US" sz="2800" dirty="0"/>
              <a:t>       A) Vital </a:t>
            </a:r>
            <a:r>
              <a:rPr lang="en-US" sz="2800" dirty="0" smtClean="0"/>
              <a:t>sign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B</a:t>
            </a:r>
            <a:r>
              <a:rPr lang="en-US" sz="2800" dirty="0"/>
              <a:t>) Other physical findings</a:t>
            </a:r>
          </a:p>
          <a:p>
            <a:pPr marL="0" indent="0">
              <a:buNone/>
            </a:pPr>
            <a:r>
              <a:rPr lang="en-US" sz="2800" dirty="0"/>
              <a:t>       C) </a:t>
            </a:r>
            <a:r>
              <a:rPr lang="en-US" sz="2800" dirty="0" err="1"/>
              <a:t>Fundoscopy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D) Neurologic evaluation</a:t>
            </a:r>
          </a:p>
          <a:p>
            <a:r>
              <a:rPr lang="en-US" sz="2800" b="1" dirty="0" smtClean="0"/>
              <a:t>Investigation</a:t>
            </a:r>
            <a:endParaRPr lang="en-US" sz="2800" b="1" dirty="0"/>
          </a:p>
          <a:p>
            <a:r>
              <a:rPr lang="en-US" sz="2800" b="1" dirty="0" smtClean="0"/>
              <a:t> Management and Follow-up</a:t>
            </a:r>
            <a:endParaRPr lang="en-US" sz="2800" b="1" dirty="0"/>
          </a:p>
          <a:p>
            <a:endParaRPr lang="en-US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06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Intracranial pressure(ICP)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1"/>
            <a:ext cx="8305800" cy="3763963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The brain is confined by a rigid container, the skull. </a:t>
            </a:r>
          </a:p>
          <a:p>
            <a:pPr lvl="1"/>
            <a:r>
              <a:rPr lang="en-US" dirty="0"/>
              <a:t> A sustained ICP of &gt;20mmHg is associated with a worse </a:t>
            </a:r>
            <a:r>
              <a:rPr lang="en-US" dirty="0" smtClean="0"/>
              <a:t>outcome.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lang="it-IT" dirty="0" smtClean="0"/>
              <a:t>erebral </a:t>
            </a:r>
            <a:r>
              <a:rPr lang="it-IT" dirty="0"/>
              <a:t>perfusion pressure = MAP – intracranial pressure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5A14B-63DD-4A22-85B9-85F7324B2E7B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</a:t>
            </a:r>
            <a:r>
              <a:rPr lang="en-US" dirty="0" smtClean="0"/>
              <a:t>esult </a:t>
            </a:r>
            <a:r>
              <a:rPr lang="en-US" dirty="0"/>
              <a:t>from swelling, masses, or increases in blood and CSF volumes. </a:t>
            </a:r>
          </a:p>
          <a:p>
            <a:r>
              <a:rPr lang="en-US" dirty="0"/>
              <a:t>C</a:t>
            </a:r>
            <a:r>
              <a:rPr lang="en-US" dirty="0" smtClean="0"/>
              <a:t>ompensatory </a:t>
            </a:r>
            <a:r>
              <a:rPr lang="en-US" dirty="0"/>
              <a:t>mechanisms decrease ICP by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D</a:t>
            </a:r>
            <a:r>
              <a:rPr lang="en-US" dirty="0" smtClean="0"/>
              <a:t>ecreasing </a:t>
            </a:r>
            <a:r>
              <a:rPr lang="en-US" dirty="0"/>
              <a:t>CSF volume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Decreasing </a:t>
            </a:r>
            <a:r>
              <a:rPr lang="en-US" dirty="0"/>
              <a:t>cerebral blood volume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Increasing </a:t>
            </a:r>
            <a:r>
              <a:rPr lang="en-US" dirty="0"/>
              <a:t>cranial </a:t>
            </a:r>
            <a:r>
              <a:rPr lang="en-US" dirty="0" smtClean="0"/>
              <a:t>volume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D08A-1208-4113-AB24-F8E84A0C07E0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Sign and symptoms of ICP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dirty="0" smtClean="0"/>
              <a:t>Headache</a:t>
            </a:r>
            <a:endParaRPr lang="en-US" dirty="0"/>
          </a:p>
          <a:p>
            <a:pPr lvl="2"/>
            <a:r>
              <a:rPr lang="en-US" dirty="0" smtClean="0"/>
              <a:t>Nausea and Vomiting</a:t>
            </a:r>
            <a:endParaRPr lang="en-US" dirty="0"/>
          </a:p>
          <a:p>
            <a:pPr lvl="2"/>
            <a:r>
              <a:rPr lang="en-US" dirty="0" smtClean="0"/>
              <a:t>Decreased mentation</a:t>
            </a:r>
            <a:endParaRPr lang="en-US" dirty="0"/>
          </a:p>
          <a:p>
            <a:pPr lvl="2"/>
            <a:r>
              <a:rPr lang="en-US" dirty="0"/>
              <a:t>Papilledema</a:t>
            </a:r>
          </a:p>
          <a:p>
            <a:pPr lvl="2"/>
            <a:r>
              <a:rPr lang="en-US" dirty="0" smtClean="0"/>
              <a:t>Sixth </a:t>
            </a:r>
            <a:r>
              <a:rPr lang="en-US" dirty="0"/>
              <a:t>nerve palsy</a:t>
            </a:r>
          </a:p>
          <a:p>
            <a:pPr lvl="2"/>
            <a:r>
              <a:rPr lang="en-US" dirty="0"/>
              <a:t>Bulging fontanelles and splitting sutures </a:t>
            </a:r>
          </a:p>
          <a:p>
            <a:pPr marL="1371600" lvl="3" indent="0">
              <a:buNone/>
            </a:pPr>
            <a:r>
              <a:rPr lang="en-US" dirty="0"/>
              <a:t>(in infants)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671A-DB50-4171-B9D2-5146FEEA50A4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	Traumatic Brain </a:t>
            </a:r>
            <a:r>
              <a:rPr lang="en-US" dirty="0" smtClean="0"/>
              <a:t>Injury(TBI)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41648" cy="5029200"/>
          </a:xfrm>
        </p:spPr>
        <p:txBody>
          <a:bodyPr>
            <a:normAutofit/>
          </a:bodyPr>
          <a:lstStyle/>
          <a:p>
            <a:r>
              <a:rPr lang="en-US" dirty="0"/>
              <a:t>M</a:t>
            </a:r>
            <a:r>
              <a:rPr lang="en-US" dirty="0" smtClean="0"/>
              <a:t>otor </a:t>
            </a:r>
            <a:r>
              <a:rPr lang="en-US" dirty="0"/>
              <a:t>vehicle crashes, falls, assaults, abusive head trauma, child abuse.</a:t>
            </a:r>
          </a:p>
          <a:p>
            <a:r>
              <a:rPr lang="en-US" dirty="0"/>
              <a:t>Most TBIs in children are from closed-head injuries.</a:t>
            </a:r>
          </a:p>
          <a:p>
            <a:r>
              <a:rPr lang="en-US" dirty="0"/>
              <a:t>TBI results in primary and secondary injury.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32198" y="1216152"/>
            <a:ext cx="4511801" cy="4937760"/>
          </a:xfrm>
        </p:spPr>
        <p:txBody>
          <a:bodyPr>
            <a:normAutofit/>
          </a:bodyPr>
          <a:lstStyle/>
          <a:p>
            <a:r>
              <a:rPr lang="en-US" dirty="0"/>
              <a:t>Epidural, subdural, and parenchymal intracranial hemorrhages can result. </a:t>
            </a:r>
          </a:p>
          <a:p>
            <a:r>
              <a:rPr lang="en-US" dirty="0"/>
              <a:t>F</a:t>
            </a:r>
            <a:r>
              <a:rPr lang="en-US" dirty="0" smtClean="0"/>
              <a:t>ocal </a:t>
            </a:r>
            <a:r>
              <a:rPr lang="en-US" dirty="0"/>
              <a:t>cerebral contusions, diffuse cerebral swelling, axonal injury, and injury to the cerebellum or brainstem.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05D9-D45A-41D2-AB98-846CBC688E5A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6447501" cy="3880773"/>
          </a:xfrm>
        </p:spPr>
        <p:txBody>
          <a:bodyPr>
            <a:noAutofit/>
          </a:bodyPr>
          <a:lstStyle/>
          <a:p>
            <a:r>
              <a:rPr lang="en-US" dirty="0"/>
              <a:t>Minor head injury: GCS 15 with no LOC</a:t>
            </a:r>
          </a:p>
          <a:p>
            <a:r>
              <a:rPr lang="en-US" dirty="0"/>
              <a:t>Mild head injury: GCS 14 or 15 with LOC</a:t>
            </a:r>
          </a:p>
          <a:p>
            <a:r>
              <a:rPr lang="en-US" dirty="0"/>
              <a:t>Moderate head injury: GCS 9–13</a:t>
            </a:r>
          </a:p>
          <a:p>
            <a:r>
              <a:rPr lang="en-US" dirty="0"/>
              <a:t>Severe head injury: GCS 3–8</a:t>
            </a:r>
          </a:p>
          <a:p>
            <a:r>
              <a:rPr lang="en-US" dirty="0"/>
              <a:t>Critical  : GCS 4 &amp; 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D5B3-A76C-41E2-87BD-A034774F8836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Manifestations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en-US" dirty="0" smtClean="0"/>
              <a:t>oma </a:t>
            </a:r>
            <a:r>
              <a:rPr lang="en-US" dirty="0"/>
              <a:t>is seen immediately after the injury and is sustained. </a:t>
            </a:r>
            <a:endParaRPr lang="en-US" dirty="0" smtClean="0"/>
          </a:p>
          <a:p>
            <a:r>
              <a:rPr lang="en-US" dirty="0" smtClean="0"/>
              <a:t>Alert </a:t>
            </a:r>
            <a:r>
              <a:rPr lang="en-US" dirty="0"/>
              <a:t>on presentation but may deteriorate after a period of hours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40256-D510-4705-80B2-37F9B96EAB32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</a:t>
            </a:r>
            <a:r>
              <a:rPr lang="en-US" dirty="0" smtClean="0"/>
              <a:t>ncreased ICP with impending herniation may be heralded by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New-onset or worsening headache, depressed level of consciousness, 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Vital sign changes (hypertension, </a:t>
            </a:r>
            <a:r>
              <a:rPr lang="en-US" dirty="0" err="1" smtClean="0"/>
              <a:t>bradycardia</a:t>
            </a:r>
            <a:r>
              <a:rPr lang="en-US" dirty="0" smtClean="0"/>
              <a:t>, irregular respirations)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CNS palsy</a:t>
            </a:r>
          </a:p>
          <a:p>
            <a:pPr>
              <a:buFont typeface="Courier New" pitchFamily="49" charset="0"/>
              <a:buChar char="o"/>
            </a:pPr>
            <a:endParaRPr lang="en-US" dirty="0"/>
          </a:p>
          <a:p>
            <a:pPr>
              <a:buFont typeface="Courier New" pitchFamily="49" charset="0"/>
              <a:buChar char="o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67615-417D-4446-BF39-5F2714396249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Primary  </a:t>
            </a:r>
            <a:r>
              <a:rPr lang="en-US" dirty="0" smtClean="0"/>
              <a:t>Head </a:t>
            </a:r>
            <a:r>
              <a:rPr lang="en-US" dirty="0"/>
              <a:t>Injury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 occur immediately on impact</a:t>
            </a:r>
          </a:p>
          <a:p>
            <a:r>
              <a:rPr lang="en-US" dirty="0"/>
              <a:t>No LOC once consciousness </a:t>
            </a:r>
            <a:r>
              <a:rPr lang="en-US" dirty="0" smtClean="0"/>
              <a:t>regained</a:t>
            </a:r>
          </a:p>
          <a:p>
            <a:r>
              <a:rPr lang="en-US" dirty="0"/>
              <a:t>Concussion</a:t>
            </a:r>
          </a:p>
          <a:p>
            <a:r>
              <a:rPr lang="en-US" dirty="0"/>
              <a:t>Contusion</a:t>
            </a:r>
          </a:p>
          <a:p>
            <a:r>
              <a:rPr lang="en-US" dirty="0"/>
              <a:t>Diffuse axonal injury</a:t>
            </a:r>
          </a:p>
          <a:p>
            <a:r>
              <a:rPr lang="en-US" dirty="0" smtClean="0"/>
              <a:t>Bleeding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77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Secondary brain injury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 smtClean="0"/>
              <a:t>-</a:t>
            </a:r>
            <a:r>
              <a:rPr lang="en-US" dirty="0"/>
              <a:t>O</a:t>
            </a:r>
            <a:r>
              <a:rPr lang="en-US" dirty="0" smtClean="0"/>
              <a:t>ccurs  </a:t>
            </a:r>
            <a:r>
              <a:rPr lang="en-US" dirty="0"/>
              <a:t>after the moment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Hypoxia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Hypotension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Raised intracranial pressure (</a:t>
            </a:r>
            <a:r>
              <a:rPr lang="en-US" dirty="0" smtClean="0"/>
              <a:t>ICP)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Intracranial hematoma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Seizures</a:t>
            </a: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Infection 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BE10-FEDA-4299-AEEE-BF0A52618059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Immediately order CT scan</a:t>
            </a:r>
          </a:p>
          <a:p>
            <a:r>
              <a:rPr lang="en-US" dirty="0" smtClean="0"/>
              <a:t>Multi disciplinary involvement</a:t>
            </a:r>
          </a:p>
          <a:p>
            <a:r>
              <a:rPr lang="en-US" dirty="0" smtClean="0"/>
              <a:t>Intensive </a:t>
            </a:r>
            <a:r>
              <a:rPr lang="en-US" dirty="0"/>
              <a:t>care unit (ICU) </a:t>
            </a:r>
            <a:r>
              <a:rPr lang="en-US" dirty="0" smtClean="0"/>
              <a:t>monitoring(moderate and severe)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Monitoring for increased ICP</a:t>
            </a:r>
          </a:p>
          <a:p>
            <a:r>
              <a:rPr lang="en-US" dirty="0" smtClean="0"/>
              <a:t>Anticonvulsant prophylaxis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D593C-73D5-43DF-894E-5A9417A002D7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Childhood paralytic syndromes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POLIOMYELITIS</a:t>
            </a:r>
            <a:r>
              <a:rPr lang="en-US" dirty="0" smtClean="0"/>
              <a:t> caused by  </a:t>
            </a:r>
            <a:r>
              <a:rPr lang="en-US" dirty="0"/>
              <a:t>Poliovirus : RNA virus </a:t>
            </a:r>
            <a:endParaRPr lang="en-US" dirty="0" smtClean="0"/>
          </a:p>
          <a:p>
            <a:r>
              <a:rPr lang="en-US" dirty="0"/>
              <a:t>Wild-type  Poliovirus</a:t>
            </a:r>
          </a:p>
          <a:p>
            <a:r>
              <a:rPr lang="en-US" dirty="0"/>
              <a:t>Vaccine strains of </a:t>
            </a:r>
            <a:r>
              <a:rPr lang="en-US" dirty="0" smtClean="0"/>
              <a:t>poliovirus </a:t>
            </a:r>
          </a:p>
          <a:p>
            <a:r>
              <a:rPr lang="en-US" dirty="0"/>
              <a:t>90-95% of infections </a:t>
            </a:r>
            <a:r>
              <a:rPr lang="en-US" dirty="0" smtClean="0"/>
              <a:t> are asymptomatic </a:t>
            </a:r>
          </a:p>
          <a:p>
            <a:r>
              <a:rPr lang="en-US" dirty="0"/>
              <a:t>0.1% of infected infants and 1% of infected adolescents develop </a:t>
            </a:r>
            <a:r>
              <a:rPr lang="en-US" dirty="0" smtClean="0"/>
              <a:t>paralysis </a:t>
            </a:r>
          </a:p>
          <a:p>
            <a:r>
              <a:rPr lang="en-US" dirty="0"/>
              <a:t>Transmission : Fecal-oral  route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19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Pathogenesis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Poliovirus enters the body by mouth into GI tract </a:t>
            </a:r>
            <a:endParaRPr lang="en-US" dirty="0" smtClean="0"/>
          </a:p>
          <a:p>
            <a:r>
              <a:rPr lang="en-US" dirty="0"/>
              <a:t>Spread to lymphatic tissues of the </a:t>
            </a:r>
            <a:r>
              <a:rPr lang="en-US" dirty="0" err="1"/>
              <a:t>nasopharynx</a:t>
            </a:r>
            <a:r>
              <a:rPr lang="en-US" dirty="0"/>
              <a:t> (tonsils) &amp; intestinal wall (</a:t>
            </a:r>
            <a:r>
              <a:rPr lang="en-US" dirty="0" err="1"/>
              <a:t>peyer’s</a:t>
            </a:r>
            <a:r>
              <a:rPr lang="en-US" dirty="0"/>
              <a:t> patches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Primary </a:t>
            </a:r>
            <a:r>
              <a:rPr lang="en-US" dirty="0" err="1"/>
              <a:t>viremia</a:t>
            </a:r>
            <a:r>
              <a:rPr lang="en-US" dirty="0"/>
              <a:t> occurs after 2-3 </a:t>
            </a:r>
            <a:r>
              <a:rPr lang="en-US" dirty="0" smtClean="0"/>
              <a:t>days</a:t>
            </a:r>
          </a:p>
          <a:p>
            <a:r>
              <a:rPr lang="en-US" dirty="0"/>
              <a:t>Poliovirus spreads to CNS via :</a:t>
            </a:r>
          </a:p>
          <a:p>
            <a:pPr marL="0" indent="0">
              <a:buNone/>
            </a:pPr>
            <a:r>
              <a:rPr lang="en-US" dirty="0"/>
              <a:t>         1. blood stream  and</a:t>
            </a:r>
          </a:p>
          <a:p>
            <a:pPr marL="0" indent="0">
              <a:buNone/>
            </a:pPr>
            <a:r>
              <a:rPr lang="en-US" dirty="0"/>
              <a:t>         2. ? along peripheral nerves   </a:t>
            </a:r>
          </a:p>
          <a:p>
            <a:r>
              <a:rPr lang="en-US" dirty="0"/>
              <a:t>Signs of poliomyelitis 10-14 days after infection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78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poliovirus primarily infects motor neuron cells in the :</a:t>
            </a:r>
          </a:p>
          <a:p>
            <a:r>
              <a:rPr lang="en-US" dirty="0"/>
              <a:t>     1.spinal cord (the anterior horn cells) and  </a:t>
            </a:r>
          </a:p>
          <a:p>
            <a:r>
              <a:rPr lang="en-US" dirty="0"/>
              <a:t>     2.medulla oblongata (the cranial nerve nuclei).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79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  </a:t>
            </a:r>
            <a:r>
              <a:rPr lang="en-US" dirty="0" smtClean="0"/>
              <a:t>In apparent Infection</a:t>
            </a:r>
          </a:p>
          <a:p>
            <a:r>
              <a:rPr lang="en-US" dirty="0"/>
              <a:t>2)  Abortive </a:t>
            </a:r>
            <a:r>
              <a:rPr lang="en-US" dirty="0" smtClean="0"/>
              <a:t>poliomyelitis</a:t>
            </a:r>
          </a:p>
          <a:p>
            <a:r>
              <a:rPr lang="en-US" dirty="0"/>
              <a:t>3) Non-paralytic </a:t>
            </a:r>
            <a:r>
              <a:rPr lang="en-US" dirty="0" smtClean="0"/>
              <a:t>poliomyelitis</a:t>
            </a:r>
          </a:p>
          <a:p>
            <a:r>
              <a:rPr lang="en-US" dirty="0" smtClean="0"/>
              <a:t>4 </a:t>
            </a:r>
            <a:r>
              <a:rPr lang="en-US" dirty="0"/>
              <a:t>Paralytic poliomyelitis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77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Poliomyelitis should be considered in any unimmunized or incompletely immunized child with paralytic </a:t>
            </a:r>
            <a:r>
              <a:rPr lang="en-US" dirty="0" smtClean="0"/>
              <a:t>disease</a:t>
            </a:r>
          </a:p>
          <a:p>
            <a:r>
              <a:rPr lang="en-US" b="1" dirty="0"/>
              <a:t>VAPP</a:t>
            </a:r>
            <a:r>
              <a:rPr lang="en-US" dirty="0"/>
              <a:t>  should be considered in any child with paralytic disease occurring 7-14 days after receiving </a:t>
            </a:r>
            <a:r>
              <a:rPr lang="en-US" dirty="0" smtClean="0"/>
              <a:t>OPV</a:t>
            </a:r>
          </a:p>
          <a:p>
            <a:r>
              <a:rPr lang="en-US" dirty="0" smtClean="0"/>
              <a:t>Definitive diagnosis </a:t>
            </a:r>
            <a:r>
              <a:rPr lang="en-US" dirty="0"/>
              <a:t>is with stool culture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37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Guillain-Barre Syndrome</a:t>
            </a:r>
          </a:p>
          <a:p>
            <a:r>
              <a:rPr lang="fr-FR" dirty="0"/>
              <a:t>Transverse </a:t>
            </a:r>
            <a:r>
              <a:rPr lang="fr-FR" dirty="0" err="1"/>
              <a:t>Myelitis</a:t>
            </a:r>
            <a:endParaRPr lang="fr-FR" dirty="0"/>
          </a:p>
          <a:p>
            <a:r>
              <a:rPr lang="fr-FR" dirty="0" err="1"/>
              <a:t>Traumatic</a:t>
            </a:r>
            <a:r>
              <a:rPr lang="fr-FR" dirty="0"/>
              <a:t> </a:t>
            </a:r>
            <a:r>
              <a:rPr lang="fr-FR" dirty="0" err="1"/>
              <a:t>Paralysis</a:t>
            </a:r>
            <a:endParaRPr lang="fr-FR" dirty="0"/>
          </a:p>
          <a:p>
            <a:r>
              <a:rPr lang="en-US" dirty="0"/>
              <a:t>Botulism</a:t>
            </a:r>
          </a:p>
          <a:p>
            <a:r>
              <a:rPr lang="en-US" dirty="0"/>
              <a:t>Myasthenia gravis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28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Guillain-Barre Syndrome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Postinfectious</a:t>
            </a:r>
            <a:r>
              <a:rPr lang="en-US" dirty="0"/>
              <a:t> polyneuropathy </a:t>
            </a:r>
            <a:r>
              <a:rPr lang="en-US" dirty="0" smtClean="0"/>
              <a:t>(</a:t>
            </a:r>
            <a:r>
              <a:rPr lang="en-US" dirty="0" err="1" smtClean="0"/>
              <a:t>motor,sensory,autonomic</a:t>
            </a:r>
            <a:r>
              <a:rPr lang="en-US" dirty="0" smtClean="0"/>
              <a:t> )</a:t>
            </a:r>
          </a:p>
          <a:p>
            <a:r>
              <a:rPr lang="en-US" dirty="0"/>
              <a:t>Most patients have a demyelinating neuropathy</a:t>
            </a:r>
          </a:p>
          <a:p>
            <a:r>
              <a:rPr lang="en-US" dirty="0" smtClean="0"/>
              <a:t>Involves all age group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44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manifestations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Paralysis usually follows a non-specific viral infection by about 10 days </a:t>
            </a:r>
          </a:p>
          <a:p>
            <a:r>
              <a:rPr lang="en-US" dirty="0"/>
              <a:t>Mycoplasma </a:t>
            </a:r>
            <a:r>
              <a:rPr lang="en-US" dirty="0" err="1"/>
              <a:t>pneumoniae</a:t>
            </a:r>
            <a:r>
              <a:rPr lang="en-US" dirty="0"/>
              <a:t> </a:t>
            </a:r>
            <a:r>
              <a:rPr lang="en-US" dirty="0" smtClean="0"/>
              <a:t>,Campylobacter </a:t>
            </a:r>
            <a:r>
              <a:rPr lang="en-US" dirty="0" err="1"/>
              <a:t>jejuni</a:t>
            </a:r>
            <a:r>
              <a:rPr lang="en-US" dirty="0"/>
              <a:t> ,</a:t>
            </a:r>
            <a:r>
              <a:rPr lang="en-US" dirty="0" err="1" smtClean="0"/>
              <a:t>H.pylori</a:t>
            </a:r>
            <a:r>
              <a:rPr lang="en-US" dirty="0" smtClean="0"/>
              <a:t> </a:t>
            </a:r>
          </a:p>
          <a:p>
            <a:r>
              <a:rPr lang="en-US" dirty="0"/>
              <a:t>Weakness begins usually in the  lower extremity &amp; progress to involve the trunk ,upper limbs and finally bulbar muscles…Landry ascending paralysis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03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Laboratory findings and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CSF: Protein &gt; 2x upper limit of </a:t>
            </a:r>
            <a:r>
              <a:rPr lang="en-US" dirty="0" smtClean="0"/>
              <a:t>normal</a:t>
            </a:r>
          </a:p>
          <a:p>
            <a:r>
              <a:rPr lang="en-US" dirty="0" smtClean="0"/>
              <a:t>No </a:t>
            </a:r>
            <a:r>
              <a:rPr lang="en-US" dirty="0" err="1"/>
              <a:t>pleocytosis</a:t>
            </a:r>
            <a:r>
              <a:rPr lang="en-US" dirty="0"/>
              <a:t> (&lt; 10 WBC/mm3 ) </a:t>
            </a:r>
            <a:endParaRPr lang="en-US" dirty="0" smtClean="0"/>
          </a:p>
          <a:p>
            <a:r>
              <a:rPr lang="en-US" dirty="0"/>
              <a:t>Dissociation b/n high CSF protein &amp; </a:t>
            </a:r>
            <a:r>
              <a:rPr lang="en-US" dirty="0" smtClean="0"/>
              <a:t>a lack </a:t>
            </a:r>
            <a:r>
              <a:rPr lang="en-US" dirty="0"/>
              <a:t>of cellular response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63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 and prognosis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Admit to ICU</a:t>
            </a:r>
          </a:p>
          <a:p>
            <a:r>
              <a:rPr lang="en-US" dirty="0" smtClean="0"/>
              <a:t>Give IV IG</a:t>
            </a:r>
          </a:p>
          <a:p>
            <a:r>
              <a:rPr lang="en-US" dirty="0" err="1" smtClean="0"/>
              <a:t>Plasmapharesis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b="1" dirty="0" smtClean="0"/>
              <a:t>Prognosis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Has </a:t>
            </a:r>
            <a:r>
              <a:rPr lang="en-US" dirty="0"/>
              <a:t>good prognosis </a:t>
            </a:r>
            <a:r>
              <a:rPr lang="en-US" dirty="0" smtClean="0"/>
              <a:t>,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 </a:t>
            </a:r>
            <a:r>
              <a:rPr lang="en-US" dirty="0"/>
              <a:t>Spontaneous recovery begins in 2-3 weeks</a:t>
            </a:r>
          </a:p>
          <a:p>
            <a:pPr>
              <a:buFont typeface="Courier New" pitchFamily="49" charset="0"/>
              <a:buChar char="o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8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Seizure disorder</a:t>
            </a:r>
          </a:p>
          <a:p>
            <a:r>
              <a:rPr lang="en-US" dirty="0" smtClean="0"/>
              <a:t>Meningitis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7579-C80E-4805-88F8-E24403520A81}" type="datetime1">
              <a:rPr lang="en-US" smtClean="0"/>
              <a:t>10/12/2024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4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1040</Words>
  <Application>Microsoft Office PowerPoint</Application>
  <PresentationFormat>On-screen Show (4:3)</PresentationFormat>
  <Paragraphs>267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PowerPoint Presentation</vt:lpstr>
      <vt:lpstr>Outlines </vt:lpstr>
      <vt:lpstr>INTRODUCTION </vt:lpstr>
      <vt:lpstr>The Coverings of the Brain</vt:lpstr>
      <vt:lpstr>Physiology</vt:lpstr>
      <vt:lpstr>BRAIN METABOLISM AND CEREBRAL BLOOD FLOW</vt:lpstr>
      <vt:lpstr>PowerPoint Presentation</vt:lpstr>
      <vt:lpstr>Definition </vt:lpstr>
      <vt:lpstr>Cont’d </vt:lpstr>
      <vt:lpstr>GCS ASSESMENT </vt:lpstr>
      <vt:lpstr>Causes of coma</vt:lpstr>
      <vt:lpstr>Cont’d</vt:lpstr>
      <vt:lpstr>Cont’d</vt:lpstr>
      <vt:lpstr>Approach </vt:lpstr>
      <vt:lpstr>Intracranial pressure(ICP)</vt:lpstr>
      <vt:lpstr>Cont’d</vt:lpstr>
      <vt:lpstr>Sign and symptoms of ICP</vt:lpstr>
      <vt:lpstr> Traumatic Brain Injury(TBI) </vt:lpstr>
      <vt:lpstr>Classification</vt:lpstr>
      <vt:lpstr>Clinical Manifestations </vt:lpstr>
      <vt:lpstr>Cont’D</vt:lpstr>
      <vt:lpstr>Primary  Head Injury</vt:lpstr>
      <vt:lpstr>Secondary brain injury</vt:lpstr>
      <vt:lpstr>Management </vt:lpstr>
      <vt:lpstr>Childhood paralytic syndromes</vt:lpstr>
      <vt:lpstr>Pathogenesis</vt:lpstr>
      <vt:lpstr>Cont’d</vt:lpstr>
      <vt:lpstr>Clinical Manifestations</vt:lpstr>
      <vt:lpstr>Diagnosis </vt:lpstr>
      <vt:lpstr>Differential Diagnosis</vt:lpstr>
      <vt:lpstr>Guillain-Barre Syndrome </vt:lpstr>
      <vt:lpstr>Clinical manifestations </vt:lpstr>
      <vt:lpstr>Laboratory findings and Diagnosis</vt:lpstr>
      <vt:lpstr>Treatment and prognosis </vt:lpstr>
      <vt:lpstr>Assignment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Neurologic Emergencies and Stabilization</dc:title>
  <dc:creator>Gashaw A.</dc:creator>
  <cp:lastModifiedBy>user</cp:lastModifiedBy>
  <cp:revision>151</cp:revision>
  <dcterms:created xsi:type="dcterms:W3CDTF">2006-08-16T00:00:00Z</dcterms:created>
  <dcterms:modified xsi:type="dcterms:W3CDTF">2024-10-12T11:02:36Z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D5DD5A7FFB95457FA9329ADFF6628394</vt:lpwstr>
  </property>
  <property fmtid="{D5CDD505-2E9C-101B-9397-08002B2CF9AE}" pid="3" name="KSOProductBuildVer">
    <vt:lpwstr>1033-11.2.0.11254</vt:lpwstr>
  </property>
</Properties>
</file>