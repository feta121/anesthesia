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33"/>
  </p:notesMasterIdLst>
  <p:sldIdLst>
    <p:sldId id="256" r:id="rId2"/>
    <p:sldId id="348" r:id="rId3"/>
    <p:sldId id="268" r:id="rId4"/>
    <p:sldId id="343" r:id="rId5"/>
    <p:sldId id="349" r:id="rId6"/>
    <p:sldId id="344" r:id="rId7"/>
    <p:sldId id="269" r:id="rId8"/>
    <p:sldId id="350" r:id="rId9"/>
    <p:sldId id="351" r:id="rId10"/>
    <p:sldId id="298" r:id="rId11"/>
    <p:sldId id="345" r:id="rId12"/>
    <p:sldId id="331" r:id="rId13"/>
    <p:sldId id="332" r:id="rId14"/>
    <p:sldId id="334" r:id="rId15"/>
    <p:sldId id="337" r:id="rId16"/>
    <p:sldId id="338" r:id="rId17"/>
    <p:sldId id="339" r:id="rId18"/>
    <p:sldId id="340" r:id="rId19"/>
    <p:sldId id="342" r:id="rId20"/>
    <p:sldId id="347" r:id="rId21"/>
    <p:sldId id="263" r:id="rId22"/>
    <p:sldId id="299" r:id="rId23"/>
    <p:sldId id="266" r:id="rId24"/>
    <p:sldId id="267" r:id="rId25"/>
    <p:sldId id="273" r:id="rId26"/>
    <p:sldId id="275" r:id="rId27"/>
    <p:sldId id="280" r:id="rId28"/>
    <p:sldId id="281" r:id="rId29"/>
    <p:sldId id="282" r:id="rId30"/>
    <p:sldId id="283" r:id="rId31"/>
    <p:sldId id="35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2513D-2315-4E18-A981-296A83DC52C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022F4F-D1AB-4162-B214-CBBD4CC7665E}">
      <dgm:prSet/>
      <dgm:spPr/>
      <dgm:t>
        <a:bodyPr/>
        <a:lstStyle/>
        <a:p>
          <a:r>
            <a:rPr lang="en-US" dirty="0" smtClean="0"/>
            <a:t>Meconium aspiration syndrome</a:t>
          </a:r>
          <a:endParaRPr lang="en-US" dirty="0"/>
        </a:p>
      </dgm:t>
    </dgm:pt>
    <dgm:pt modelId="{2C893B9E-341D-461F-916C-66D256186C8A}" type="parTrans" cxnId="{96A54A9D-AC09-4033-9A42-6B875EF2317C}">
      <dgm:prSet/>
      <dgm:spPr/>
      <dgm:t>
        <a:bodyPr/>
        <a:lstStyle/>
        <a:p>
          <a:endParaRPr lang="en-US"/>
        </a:p>
      </dgm:t>
    </dgm:pt>
    <dgm:pt modelId="{9EC327A5-DA57-4F56-851D-D6C4D40B1D4C}" type="sibTrans" cxnId="{96A54A9D-AC09-4033-9A42-6B875EF2317C}">
      <dgm:prSet/>
      <dgm:spPr/>
      <dgm:t>
        <a:bodyPr/>
        <a:lstStyle/>
        <a:p>
          <a:endParaRPr lang="en-US"/>
        </a:p>
      </dgm:t>
    </dgm:pt>
    <dgm:pt modelId="{644F70C9-8B4F-4040-81AF-7E8E13A283B6}">
      <dgm:prSet/>
      <dgm:spPr/>
      <dgm:t>
        <a:bodyPr/>
        <a:lstStyle/>
        <a:p>
          <a:r>
            <a:rPr lang="en-US" dirty="0" smtClean="0"/>
            <a:t>RDS Hyaline Membrane Disease </a:t>
          </a:r>
          <a:endParaRPr lang="en-US" dirty="0"/>
        </a:p>
      </dgm:t>
    </dgm:pt>
    <dgm:pt modelId="{D023CAD9-C1D7-4116-9083-390AF6256AA3}" type="parTrans" cxnId="{D5D8FAA8-B2AC-4EDF-AE52-4B6351049549}">
      <dgm:prSet/>
      <dgm:spPr/>
      <dgm:t>
        <a:bodyPr/>
        <a:lstStyle/>
        <a:p>
          <a:endParaRPr lang="en-US"/>
        </a:p>
      </dgm:t>
    </dgm:pt>
    <dgm:pt modelId="{A5AAC1EF-6882-45EE-A010-34FFB482AC5C}" type="sibTrans" cxnId="{D5D8FAA8-B2AC-4EDF-AE52-4B6351049549}">
      <dgm:prSet/>
      <dgm:spPr/>
      <dgm:t>
        <a:bodyPr/>
        <a:lstStyle/>
        <a:p>
          <a:endParaRPr lang="en-US"/>
        </a:p>
      </dgm:t>
    </dgm:pt>
    <dgm:pt modelId="{EB574A8D-8B18-4C26-9A86-64F2E2C05806}">
      <dgm:prSet/>
      <dgm:spPr/>
      <dgm:t>
        <a:bodyPr/>
        <a:lstStyle/>
        <a:p>
          <a:r>
            <a:rPr lang="en-US" smtClean="0"/>
            <a:t>Congenital pneumonia</a:t>
          </a:r>
          <a:endParaRPr lang="en-US"/>
        </a:p>
      </dgm:t>
    </dgm:pt>
    <dgm:pt modelId="{71DA6000-D13B-41BE-A482-829627D70DC5}" type="parTrans" cxnId="{82C740A4-6DBC-4248-80D7-91AFC78C7A10}">
      <dgm:prSet/>
      <dgm:spPr/>
      <dgm:t>
        <a:bodyPr/>
        <a:lstStyle/>
        <a:p>
          <a:endParaRPr lang="en-US"/>
        </a:p>
      </dgm:t>
    </dgm:pt>
    <dgm:pt modelId="{EBE2FFA1-3EB2-4AA7-9515-E56BD9AB751D}" type="sibTrans" cxnId="{82C740A4-6DBC-4248-80D7-91AFC78C7A10}">
      <dgm:prSet/>
      <dgm:spPr/>
      <dgm:t>
        <a:bodyPr/>
        <a:lstStyle/>
        <a:p>
          <a:endParaRPr lang="en-US"/>
        </a:p>
      </dgm:t>
    </dgm:pt>
    <dgm:pt modelId="{D23EC175-9D2B-4CDC-9FB1-CEE3B5304FA2}">
      <dgm:prSet/>
      <dgm:spPr/>
      <dgm:t>
        <a:bodyPr/>
        <a:lstStyle/>
        <a:p>
          <a:r>
            <a:rPr lang="en-US" smtClean="0"/>
            <a:t>Apnea</a:t>
          </a:r>
          <a:endParaRPr lang="en-US"/>
        </a:p>
      </dgm:t>
    </dgm:pt>
    <dgm:pt modelId="{14E589E6-DD0B-4E97-96EE-C6BBA750D86B}" type="parTrans" cxnId="{9392CEC4-745D-49B3-BB9C-0F69DFE1B810}">
      <dgm:prSet/>
      <dgm:spPr/>
      <dgm:t>
        <a:bodyPr/>
        <a:lstStyle/>
        <a:p>
          <a:endParaRPr lang="en-US"/>
        </a:p>
      </dgm:t>
    </dgm:pt>
    <dgm:pt modelId="{BD827DCA-4787-4D15-8D30-EB1C4F319330}" type="sibTrans" cxnId="{9392CEC4-745D-49B3-BB9C-0F69DFE1B810}">
      <dgm:prSet/>
      <dgm:spPr/>
      <dgm:t>
        <a:bodyPr/>
        <a:lstStyle/>
        <a:p>
          <a:endParaRPr lang="en-US"/>
        </a:p>
      </dgm:t>
    </dgm:pt>
    <dgm:pt modelId="{94BDA92C-26DA-44D1-8E7C-0F1E27268AD1}" type="pres">
      <dgm:prSet presAssocID="{0982513D-2315-4E18-A981-296A83DC52C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380F99-55AC-4C62-A2AA-89CC6ED3CF2A}" type="pres">
      <dgm:prSet presAssocID="{33022F4F-D1AB-4162-B214-CBBD4CC7665E}" presName="node" presStyleLbl="node1" presStyleIdx="0" presStyleCnt="4" custLinFactNeighborX="-5277" custLinFactNeighborY="-127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D6D0D0-A9B8-4927-8D0D-F508DAEC3455}" type="pres">
      <dgm:prSet presAssocID="{9EC327A5-DA57-4F56-851D-D6C4D40B1D4C}" presName="sibTrans" presStyleCnt="0"/>
      <dgm:spPr/>
    </dgm:pt>
    <dgm:pt modelId="{EE614861-C42B-4ADE-9A2E-72AAA6FA72B5}" type="pres">
      <dgm:prSet presAssocID="{644F70C9-8B4F-4040-81AF-7E8E13A283B6}" presName="node" presStyleLbl="node1" presStyleIdx="1" presStyleCnt="4" custLinFactNeighborX="251" custLinFactNeighborY="3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12D94E-37C8-4773-9B20-8843DF32D5F7}" type="pres">
      <dgm:prSet presAssocID="{A5AAC1EF-6882-45EE-A010-34FFB482AC5C}" presName="sibTrans" presStyleCnt="0"/>
      <dgm:spPr/>
    </dgm:pt>
    <dgm:pt modelId="{14ED105E-73D0-471F-AAE4-36ACE2EF9B6A}" type="pres">
      <dgm:prSet presAssocID="{EB574A8D-8B18-4C26-9A86-64F2E2C05806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995F22-17D0-4F9C-B921-50BBEAA40DCC}" type="pres">
      <dgm:prSet presAssocID="{EBE2FFA1-3EB2-4AA7-9515-E56BD9AB751D}" presName="sibTrans" presStyleCnt="0"/>
      <dgm:spPr/>
    </dgm:pt>
    <dgm:pt modelId="{E07A1708-2E6B-48CA-B5E1-5CEA897A7942}" type="pres">
      <dgm:prSet presAssocID="{D23EC175-9D2B-4CDC-9FB1-CEE3B5304FA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EE10AA3-D267-4E64-A91E-0E286EB13E85}" type="presOf" srcId="{EB574A8D-8B18-4C26-9A86-64F2E2C05806}" destId="{14ED105E-73D0-471F-AAE4-36ACE2EF9B6A}" srcOrd="0" destOrd="0" presId="urn:microsoft.com/office/officeart/2005/8/layout/default"/>
    <dgm:cxn modelId="{716E67B2-6CFC-400B-82F6-DCDFC58D73CB}" type="presOf" srcId="{644F70C9-8B4F-4040-81AF-7E8E13A283B6}" destId="{EE614861-C42B-4ADE-9A2E-72AAA6FA72B5}" srcOrd="0" destOrd="0" presId="urn:microsoft.com/office/officeart/2005/8/layout/default"/>
    <dgm:cxn modelId="{96A54A9D-AC09-4033-9A42-6B875EF2317C}" srcId="{0982513D-2315-4E18-A981-296A83DC52CE}" destId="{33022F4F-D1AB-4162-B214-CBBD4CC7665E}" srcOrd="0" destOrd="0" parTransId="{2C893B9E-341D-461F-916C-66D256186C8A}" sibTransId="{9EC327A5-DA57-4F56-851D-D6C4D40B1D4C}"/>
    <dgm:cxn modelId="{8125A9DE-81C0-467B-9255-5C0C92048F46}" type="presOf" srcId="{33022F4F-D1AB-4162-B214-CBBD4CC7665E}" destId="{D1380F99-55AC-4C62-A2AA-89CC6ED3CF2A}" srcOrd="0" destOrd="0" presId="urn:microsoft.com/office/officeart/2005/8/layout/default"/>
    <dgm:cxn modelId="{9392CEC4-745D-49B3-BB9C-0F69DFE1B810}" srcId="{0982513D-2315-4E18-A981-296A83DC52CE}" destId="{D23EC175-9D2B-4CDC-9FB1-CEE3B5304FA2}" srcOrd="3" destOrd="0" parTransId="{14E589E6-DD0B-4E97-96EE-C6BBA750D86B}" sibTransId="{BD827DCA-4787-4D15-8D30-EB1C4F319330}"/>
    <dgm:cxn modelId="{9564C134-E7FB-4DF6-9B7F-F7FEA324D8DE}" type="presOf" srcId="{0982513D-2315-4E18-A981-296A83DC52CE}" destId="{94BDA92C-26DA-44D1-8E7C-0F1E27268AD1}" srcOrd="0" destOrd="0" presId="urn:microsoft.com/office/officeart/2005/8/layout/default"/>
    <dgm:cxn modelId="{7213186A-36E2-457B-A12E-C7C5C0A8D38A}" type="presOf" srcId="{D23EC175-9D2B-4CDC-9FB1-CEE3B5304FA2}" destId="{E07A1708-2E6B-48CA-B5E1-5CEA897A7942}" srcOrd="0" destOrd="0" presId="urn:microsoft.com/office/officeart/2005/8/layout/default"/>
    <dgm:cxn modelId="{D5D8FAA8-B2AC-4EDF-AE52-4B6351049549}" srcId="{0982513D-2315-4E18-A981-296A83DC52CE}" destId="{644F70C9-8B4F-4040-81AF-7E8E13A283B6}" srcOrd="1" destOrd="0" parTransId="{D023CAD9-C1D7-4116-9083-390AF6256AA3}" sibTransId="{A5AAC1EF-6882-45EE-A010-34FFB482AC5C}"/>
    <dgm:cxn modelId="{82C740A4-6DBC-4248-80D7-91AFC78C7A10}" srcId="{0982513D-2315-4E18-A981-296A83DC52CE}" destId="{EB574A8D-8B18-4C26-9A86-64F2E2C05806}" srcOrd="2" destOrd="0" parTransId="{71DA6000-D13B-41BE-A482-829627D70DC5}" sibTransId="{EBE2FFA1-3EB2-4AA7-9515-E56BD9AB751D}"/>
    <dgm:cxn modelId="{96EE72B2-266F-4511-B2A9-EF57C31D2680}" type="presParOf" srcId="{94BDA92C-26DA-44D1-8E7C-0F1E27268AD1}" destId="{D1380F99-55AC-4C62-A2AA-89CC6ED3CF2A}" srcOrd="0" destOrd="0" presId="urn:microsoft.com/office/officeart/2005/8/layout/default"/>
    <dgm:cxn modelId="{65D17F0D-7B83-4AC4-97F1-C28C98039D8B}" type="presParOf" srcId="{94BDA92C-26DA-44D1-8E7C-0F1E27268AD1}" destId="{71D6D0D0-A9B8-4927-8D0D-F508DAEC3455}" srcOrd="1" destOrd="0" presId="urn:microsoft.com/office/officeart/2005/8/layout/default"/>
    <dgm:cxn modelId="{61CA71C9-8A8A-439E-B86E-8C3F41ED69DD}" type="presParOf" srcId="{94BDA92C-26DA-44D1-8E7C-0F1E27268AD1}" destId="{EE614861-C42B-4ADE-9A2E-72AAA6FA72B5}" srcOrd="2" destOrd="0" presId="urn:microsoft.com/office/officeart/2005/8/layout/default"/>
    <dgm:cxn modelId="{49791EB9-78D3-4C1D-9865-DF6B50FAEAC5}" type="presParOf" srcId="{94BDA92C-26DA-44D1-8E7C-0F1E27268AD1}" destId="{8F12D94E-37C8-4773-9B20-8843DF32D5F7}" srcOrd="3" destOrd="0" presId="urn:microsoft.com/office/officeart/2005/8/layout/default"/>
    <dgm:cxn modelId="{8622E7D5-5E47-4459-A9B8-B187BF627674}" type="presParOf" srcId="{94BDA92C-26DA-44D1-8E7C-0F1E27268AD1}" destId="{14ED105E-73D0-471F-AAE4-36ACE2EF9B6A}" srcOrd="4" destOrd="0" presId="urn:microsoft.com/office/officeart/2005/8/layout/default"/>
    <dgm:cxn modelId="{C5DBF7A0-BC56-42BE-94DF-B2027A325626}" type="presParOf" srcId="{94BDA92C-26DA-44D1-8E7C-0F1E27268AD1}" destId="{EF995F22-17D0-4F9C-B921-50BBEAA40DCC}" srcOrd="5" destOrd="0" presId="urn:microsoft.com/office/officeart/2005/8/layout/default"/>
    <dgm:cxn modelId="{46D8E88C-2CA1-47F0-A5C7-3EAAE940F533}" type="presParOf" srcId="{94BDA92C-26DA-44D1-8E7C-0F1E27268AD1}" destId="{E07A1708-2E6B-48CA-B5E1-5CEA897A79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80F99-55AC-4C62-A2AA-89CC6ED3CF2A}">
      <dsp:nvSpPr>
        <dsp:cNvPr id="0" name=""/>
        <dsp:cNvSpPr/>
      </dsp:nvSpPr>
      <dsp:spPr>
        <a:xfrm>
          <a:off x="0" y="0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Meconium aspiration syndrome</a:t>
          </a:r>
          <a:endParaRPr lang="en-US" sz="3500" kern="1200" dirty="0"/>
        </a:p>
      </dsp:txBody>
      <dsp:txXfrm>
        <a:off x="0" y="0"/>
        <a:ext cx="2902148" cy="1741289"/>
      </dsp:txXfrm>
    </dsp:sp>
    <dsp:sp modelId="{EE614861-C42B-4ADE-9A2E-72AAA6FA72B5}">
      <dsp:nvSpPr>
        <dsp:cNvPr id="0" name=""/>
        <dsp:cNvSpPr/>
      </dsp:nvSpPr>
      <dsp:spPr>
        <a:xfrm>
          <a:off x="3193851" y="152394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RDS Hyaline Membrane Disease </a:t>
          </a:r>
          <a:endParaRPr lang="en-US" sz="3500" kern="1200" dirty="0"/>
        </a:p>
      </dsp:txBody>
      <dsp:txXfrm>
        <a:off x="3193851" y="152394"/>
        <a:ext cx="2902148" cy="1741289"/>
      </dsp:txXfrm>
    </dsp:sp>
    <dsp:sp modelId="{14ED105E-73D0-471F-AAE4-36ACE2EF9B6A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smtClean="0"/>
            <a:t>Congenital pneumonia</a:t>
          </a:r>
          <a:endParaRPr lang="en-US" sz="3500" kern="1200"/>
        </a:p>
      </dsp:txBody>
      <dsp:txXfrm>
        <a:off x="744" y="2177107"/>
        <a:ext cx="2902148" cy="1741289"/>
      </dsp:txXfrm>
    </dsp:sp>
    <dsp:sp modelId="{E07A1708-2E6B-48CA-B5E1-5CEA897A7942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smtClean="0"/>
            <a:t>Apnea</a:t>
          </a:r>
          <a:endParaRPr lang="en-US" sz="3500" kern="1200"/>
        </a:p>
      </dsp:txBody>
      <dsp:txXfrm>
        <a:off x="3193107" y="2177107"/>
        <a:ext cx="2902148" cy="1741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0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040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058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4504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01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5074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9860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155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453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990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93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326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8B936-2FB4-4054-A913-7A8B391DEE9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B2D34-2F5F-44C4-9F06-01FEA5C9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3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2400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/>
              <a:t>Common Neonatal Problems</a:t>
            </a:r>
            <a:endParaRPr lang="en-US" b="1" dirty="0"/>
          </a:p>
        </p:txBody>
      </p:sp>
      <p:pic>
        <p:nvPicPr>
          <p:cNvPr id="7170" name="Picture 2" descr="C:\Users\Emory\Pictures\my phone new\WP_20140521_00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48221" y="1600200"/>
            <a:ext cx="7647557" cy="4525963"/>
          </a:xfrm>
          <a:prstGeom prst="rect">
            <a:avLst/>
          </a:prstGeo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PNA</a:t>
            </a:r>
          </a:p>
          <a:p>
            <a:r>
              <a:rPr lang="en-US" dirty="0" smtClean="0"/>
              <a:t>Respiratory problems</a:t>
            </a:r>
            <a:endParaRPr lang="en-US" dirty="0" smtClean="0"/>
          </a:p>
          <a:p>
            <a:r>
              <a:rPr lang="en-US" dirty="0" smtClean="0"/>
              <a:t>Neonatal infections</a:t>
            </a:r>
          </a:p>
          <a:p>
            <a:r>
              <a:rPr lang="en-US" dirty="0"/>
              <a:t>Prematurity </a:t>
            </a:r>
            <a:endParaRPr lang="en-US" dirty="0" smtClean="0"/>
          </a:p>
          <a:p>
            <a:r>
              <a:rPr lang="en-US" dirty="0" smtClean="0"/>
              <a:t>Birth injuries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78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/>
              <a:t>Perinatal Asphyxia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5410200"/>
          </a:xfrm>
        </p:spPr>
        <p:txBody>
          <a:bodyPr>
            <a:normAutofit/>
          </a:bodyPr>
          <a:lstStyle/>
          <a:p>
            <a:pPr marL="640080" lvl="1" indent="-274320">
              <a:lnSpc>
                <a:spcPct val="90000"/>
              </a:lnSpc>
              <a:spcBef>
                <a:spcPct val="60000"/>
              </a:spcBef>
              <a:spcAft>
                <a:spcPct val="20000"/>
              </a:spcAft>
              <a:buClr>
                <a:schemeClr val="accent2">
                  <a:shade val="75000"/>
                </a:schemeClr>
              </a:buClr>
              <a:buFont typeface="Wingdings 2" panose="05020102010507070707"/>
              <a:buChar char=""/>
              <a:defRPr/>
            </a:pP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oxygen (Hypoxia)</a:t>
            </a:r>
          </a:p>
          <a:p>
            <a:pPr marL="640080" lvl="1" indent="-274320">
              <a:lnSpc>
                <a:spcPct val="90000"/>
              </a:lnSpc>
              <a:spcBef>
                <a:spcPct val="60000"/>
              </a:spcBef>
              <a:spcAft>
                <a:spcPct val="80000"/>
              </a:spcAft>
              <a:buClr>
                <a:schemeClr val="accent2">
                  <a:shade val="75000"/>
                </a:schemeClr>
              </a:buClr>
              <a:buFont typeface="Wingdings 2" panose="05020102010507070707"/>
              <a:buChar char=""/>
              <a:defRPr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perfusion (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Ischemia)</a:t>
            </a:r>
          </a:p>
          <a:p>
            <a:pPr marL="640080" lvl="1" indent="-274320">
              <a:lnSpc>
                <a:spcPct val="90000"/>
              </a:lnSpc>
              <a:spcBef>
                <a:spcPct val="60000"/>
              </a:spcBef>
              <a:spcAft>
                <a:spcPct val="80000"/>
              </a:spcAft>
              <a:buClr>
                <a:schemeClr val="accent2">
                  <a:shade val="75000"/>
                </a:schemeClr>
              </a:buClr>
              <a:buFont typeface="Wingdings 2" panose="05020102010507070707"/>
              <a:buChar char=""/>
              <a:defRPr/>
            </a:pP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26/1000 live births</a:t>
            </a:r>
          </a:p>
          <a:p>
            <a:pPr marL="640080" lvl="1" indent="-274320">
              <a:lnSpc>
                <a:spcPct val="90000"/>
              </a:lnSpc>
              <a:spcBef>
                <a:spcPct val="60000"/>
              </a:spcBef>
              <a:spcAft>
                <a:spcPct val="80000"/>
              </a:spcAft>
              <a:buClr>
                <a:schemeClr val="accent2">
                  <a:shade val="75000"/>
                </a:schemeClr>
              </a:buClr>
              <a:buFont typeface="Wingdings 2" panose="05020102010507070707"/>
              <a:buChar char=""/>
              <a:defRPr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20–30% of infants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 in neonatal period</a:t>
            </a:r>
          </a:p>
          <a:p>
            <a:pPr marL="640080" lvl="1" indent="-274320">
              <a:lnSpc>
                <a:spcPct val="90000"/>
              </a:lnSpc>
              <a:spcBef>
                <a:spcPct val="60000"/>
              </a:spcBef>
              <a:spcAft>
                <a:spcPct val="80000"/>
              </a:spcAft>
              <a:buClr>
                <a:schemeClr val="accent2">
                  <a:shade val="75000"/>
                </a:schemeClr>
              </a:buClr>
              <a:buFont typeface="Wingdings 2" panose="05020102010507070707"/>
              <a:buChar char=""/>
              <a:defRPr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33–50% of survivors are left with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neurodevelopmental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abnormalities</a:t>
            </a:r>
            <a:endParaRPr lang="en-US" sz="3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Courier New" pitchFamily="49" charset="0"/>
              <a:buChar char="o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 &lt;</a:t>
            </a:r>
            <a:r>
              <a:rPr lang="en-US" dirty="0" smtClean="0"/>
              <a:t>7.0 </a:t>
            </a:r>
            <a:endParaRPr lang="en-US" dirty="0"/>
          </a:p>
          <a:p>
            <a:r>
              <a:rPr lang="en-US" dirty="0"/>
              <a:t> APGAR score of </a:t>
            </a:r>
            <a:r>
              <a:rPr lang="en-US" dirty="0" smtClean="0"/>
              <a:t>&lt;5  at 5 and   </a:t>
            </a:r>
            <a:r>
              <a:rPr lang="en-US" dirty="0"/>
              <a:t>10 minutes</a:t>
            </a:r>
          </a:p>
          <a:p>
            <a:r>
              <a:rPr lang="en-US" dirty="0"/>
              <a:t> Neurologic sequelae: ( seizures, </a:t>
            </a:r>
            <a:r>
              <a:rPr lang="en-US" dirty="0" err="1"/>
              <a:t>hypotonia</a:t>
            </a:r>
            <a:r>
              <a:rPr lang="en-US" dirty="0"/>
              <a:t>,  coma</a:t>
            </a:r>
          </a:p>
          <a:p>
            <a:r>
              <a:rPr lang="en-US" dirty="0" err="1"/>
              <a:t>Multiorgan</a:t>
            </a:r>
            <a:r>
              <a:rPr lang="en-US" dirty="0"/>
              <a:t> dysfunction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8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APGAR SCORE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019925" cy="3282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258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PATHOPHYSIOLOGY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Anaerobic </a:t>
            </a:r>
            <a:r>
              <a:rPr lang="en-US" dirty="0"/>
              <a:t>metabolism </a:t>
            </a:r>
            <a:r>
              <a:rPr lang="en-US" dirty="0" err="1" smtClean="0"/>
              <a:t>ogenerates</a:t>
            </a:r>
            <a:r>
              <a:rPr lang="en-US" dirty="0" smtClean="0"/>
              <a:t> lactate </a:t>
            </a:r>
            <a:r>
              <a:rPr lang="en-US" dirty="0"/>
              <a:t>and inorganic </a:t>
            </a:r>
            <a:r>
              <a:rPr lang="en-US" dirty="0" smtClean="0"/>
              <a:t>phosphates</a:t>
            </a:r>
          </a:p>
          <a:p>
            <a:r>
              <a:rPr lang="en-US" dirty="0"/>
              <a:t> </a:t>
            </a:r>
            <a:r>
              <a:rPr lang="en-US" dirty="0" smtClean="0"/>
              <a:t>Brain </a:t>
            </a:r>
            <a:r>
              <a:rPr lang="en-US" dirty="0"/>
              <a:t>edema, an increase of neurotransmitter </a:t>
            </a:r>
            <a:r>
              <a:rPr lang="en-US" dirty="0" smtClean="0"/>
              <a:t>release.</a:t>
            </a:r>
          </a:p>
          <a:p>
            <a:r>
              <a:rPr lang="en-US" dirty="0" smtClean="0"/>
              <a:t>Excess </a:t>
            </a:r>
            <a:r>
              <a:rPr lang="en-US" dirty="0"/>
              <a:t>activation of glutamate receptors, </a:t>
            </a:r>
            <a:r>
              <a:rPr lang="en-US" dirty="0" smtClean="0"/>
              <a:t>leads cell death</a:t>
            </a:r>
          </a:p>
          <a:p>
            <a:r>
              <a:rPr lang="en-US" dirty="0"/>
              <a:t>Nitric oxide and oxygen-free radicals </a:t>
            </a:r>
            <a:r>
              <a:rPr lang="en-US" dirty="0" smtClean="0"/>
              <a:t>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6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satMod val="200000"/>
                  </a:schemeClr>
                </a:solidFill>
              </a:rPr>
              <a:t>PATHOPHYSIOLOGY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530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90800" y="1295400"/>
            <a:ext cx="3124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Acute asphyxia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2590800"/>
            <a:ext cx="3048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  <a:buClr>
                <a:srgbClr val="FFFF00"/>
              </a:buClr>
              <a:buSzPct val="69000"/>
              <a:buFont typeface="Monotype Sorts" pitchFamily="2" charset="2"/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Arial" panose="020B0604020202020204" pitchFamily="34" charset="0"/>
              </a:rPr>
              <a:t>Diving reflex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3962400"/>
            <a:ext cx="2743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20000"/>
              </a:spcBef>
              <a:buClr>
                <a:srgbClr val="FFFF00"/>
              </a:buClr>
              <a:buSzPct val="69000"/>
              <a:buFont typeface="Monotype Sorts" pitchFamily="2" charset="2"/>
              <a:buNone/>
            </a:pPr>
            <a:r>
              <a:rPr lang="en-US" sz="2000" dirty="0" smtClean="0">
                <a:solidFill>
                  <a:srgbClr val="FFFFFF"/>
                </a:solidFill>
                <a:latin typeface="Arial" panose="020B0604020202020204" pitchFamily="34" charset="0"/>
              </a:rPr>
              <a:t>Shunting of blood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to </a:t>
            </a: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</a:rPr>
              <a:t>brain adrenals &amp; heart</a:t>
            </a:r>
            <a:endParaRPr lang="en-US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3962400"/>
            <a:ext cx="2286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20000"/>
              </a:spcBef>
              <a:buClr>
                <a:srgbClr val="FFFF00"/>
              </a:buClr>
              <a:buSzPct val="69000"/>
              <a:buFont typeface="Monotype Sorts" pitchFamily="2" charset="2"/>
              <a:buNone/>
            </a:pPr>
            <a:r>
              <a:rPr lang="en-US" sz="2000" dirty="0" smtClean="0">
                <a:solidFill>
                  <a:srgbClr val="FFFFFF"/>
                </a:solidFill>
                <a:latin typeface="Arial" panose="020B0604020202020204" pitchFamily="34" charset="0"/>
              </a:rPr>
              <a:t>Away from </a:t>
            </a:r>
            <a:r>
              <a:rPr lang="en-US" sz="2400" b="1" dirty="0" smtClean="0">
                <a:solidFill>
                  <a:srgbClr val="FFFF00"/>
                </a:solidFill>
                <a:latin typeface="Arial" panose="020B0604020202020204" pitchFamily="34" charset="0"/>
              </a:rPr>
              <a:t>lungs, kidney gut &amp; skin</a:t>
            </a:r>
            <a:endParaRPr lang="en-US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62600" y="5334000"/>
            <a:ext cx="3276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FC000"/>
                </a:solidFill>
              </a:rPr>
              <a:t> </a:t>
            </a:r>
            <a:r>
              <a:rPr lang="en-US" sz="2000" b="1" dirty="0" smtClean="0">
                <a:solidFill>
                  <a:srgbClr val="FFC000"/>
                </a:solidFill>
              </a:rPr>
              <a:t>NONE BRAIN ORGAN DAMAGE</a:t>
            </a:r>
            <a:endParaRPr lang="en-US" sz="2000" b="1" dirty="0">
              <a:solidFill>
                <a:srgbClr val="FFC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343400" y="1981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477000" y="3581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667000" y="35814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667000" y="3581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572000" y="32766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8600" y="5486400"/>
            <a:ext cx="3048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FFFF00"/>
                </a:solidFill>
              </a:rPr>
              <a:t>CEREBRAL CORTICAL LESIONS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19" name="Straight Arrow Connector 18"/>
          <p:cNvCxnSpPr>
            <a:stCxn id="6" idx="2"/>
          </p:cNvCxnSpPr>
          <p:nvPr/>
        </p:nvCxnSpPr>
        <p:spPr>
          <a:xfrm>
            <a:off x="1676400" y="4876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</p:cNvCxnSpPr>
          <p:nvPr/>
        </p:nvCxnSpPr>
        <p:spPr>
          <a:xfrm>
            <a:off x="7086600" y="4876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Antepartum(20%)</a:t>
            </a:r>
          </a:p>
          <a:p>
            <a:r>
              <a:rPr lang="en-US" dirty="0" smtClean="0"/>
              <a:t>Intra partum (70%)</a:t>
            </a:r>
          </a:p>
          <a:p>
            <a:r>
              <a:rPr lang="en-US" dirty="0" smtClean="0"/>
              <a:t>Post partum(10%)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9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34381"/>
            <a:ext cx="7391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20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Causes of respiratory distresses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8307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95918495"/>
              </p:ext>
            </p:extLst>
          </p:nvPr>
        </p:nvGraphicFramePr>
        <p:xfrm>
          <a:off x="457200" y="1371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Hyaline Membrane Disease (</a:t>
            </a:r>
            <a:r>
              <a:rPr lang="en-US" dirty="0" smtClean="0"/>
              <a:t>HMD)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Resulting from lack of  surfactant</a:t>
            </a:r>
          </a:p>
          <a:p>
            <a:r>
              <a:rPr lang="en-US" dirty="0"/>
              <a:t>Inversely proportional to gestational age &amp; birth weight.  Occurs in: </a:t>
            </a:r>
          </a:p>
          <a:p>
            <a:r>
              <a:rPr lang="en-US" dirty="0"/>
              <a:t>60 – 80%  of infants &lt; 28 </a:t>
            </a:r>
            <a:r>
              <a:rPr lang="en-US" dirty="0" err="1"/>
              <a:t>wks</a:t>
            </a:r>
            <a:endParaRPr lang="en-US" dirty="0"/>
          </a:p>
          <a:p>
            <a:r>
              <a:rPr lang="en-US" dirty="0"/>
              <a:t>15 – 30% of infants b/n 32 &amp; 36 </a:t>
            </a:r>
            <a:r>
              <a:rPr lang="en-US" dirty="0" err="1"/>
              <a:t>wks</a:t>
            </a:r>
            <a:endParaRPr lang="en-US" dirty="0"/>
          </a:p>
          <a:p>
            <a:r>
              <a:rPr lang="en-US" dirty="0" smtClean="0"/>
              <a:t>Rare after 37 weeks </a:t>
            </a:r>
            <a:endParaRPr lang="en-US" dirty="0"/>
          </a:p>
          <a:p>
            <a:r>
              <a:rPr lang="en-US" dirty="0"/>
              <a:t>C/S delivery, precipitated labor </a:t>
            </a:r>
            <a:r>
              <a:rPr lang="en-US" dirty="0" smtClean="0"/>
              <a:t>,Asphyxia</a:t>
            </a:r>
            <a:r>
              <a:rPr lang="en-US" dirty="0"/>
              <a:t>, cold stress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3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/>
            <a:r>
              <a:rPr lang="en-US" sz="3600" dirty="0" err="1">
                <a:latin typeface="+mn-lt"/>
                <a:ea typeface="+mn-ea"/>
                <a:cs typeface="+mn-cs"/>
              </a:rPr>
              <a:t>Pathphysiology</a:t>
            </a:r>
            <a:r>
              <a:rPr lang="en-US" sz="3600" dirty="0"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914400" lvl="2" indent="0">
              <a:buNone/>
            </a:pPr>
            <a:endParaRPr lang="en-US" sz="2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algn="just">
              <a:buFont typeface="Arial" pitchFamily="34" charset="0"/>
              <a:buChar char="•"/>
            </a:pPr>
            <a:r>
              <a:rPr lang="en-US" baseline="0" dirty="0" smtClean="0">
                <a:solidFill>
                  <a:schemeClr val="tx1"/>
                </a:solidFill>
              </a:rPr>
              <a:t>Surfactant substances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aseline="0" dirty="0" smtClean="0">
                <a:solidFill>
                  <a:schemeClr val="tx1"/>
                </a:solidFill>
              </a:rPr>
              <a:t>are produced by alveolar type II cells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baseline="0" dirty="0" smtClean="0">
                <a:solidFill>
                  <a:schemeClr val="tx1"/>
                </a:solidFill>
              </a:rPr>
              <a:t>Mature level found after 35 wks of gestation </a:t>
            </a:r>
            <a:endParaRPr lang="en-US" dirty="0"/>
          </a:p>
          <a:p>
            <a:pPr lvl="1" algn="just">
              <a:buFont typeface="Arial" pitchFamily="34" charset="0"/>
              <a:buChar char="•"/>
            </a:pPr>
            <a:r>
              <a:rPr lang="en-US" dirty="0" smtClean="0"/>
              <a:t>Normally reduce </a:t>
            </a:r>
            <a:r>
              <a:rPr lang="en-US" dirty="0"/>
              <a:t>surface tension of alveoli </a:t>
            </a:r>
            <a:endParaRPr lang="en-US" dirty="0" smtClean="0"/>
          </a:p>
          <a:p>
            <a:pPr lvl="1" algn="just">
              <a:buFont typeface="Arial" pitchFamily="34" charset="0"/>
              <a:buChar char="•"/>
            </a:pPr>
            <a:r>
              <a:rPr lang="en-US" dirty="0" smtClean="0"/>
              <a:t>Deficiency leads </a:t>
            </a:r>
            <a:r>
              <a:rPr lang="en-US" dirty="0"/>
              <a:t>to: </a:t>
            </a:r>
          </a:p>
          <a:p>
            <a:pPr lvl="2" algn="just" fontAlgn="base">
              <a:buFont typeface="Wingdings" pitchFamily="2" charset="2"/>
              <a:buChar char="ü"/>
            </a:pPr>
            <a:r>
              <a:rPr lang="en-US" sz="2800" dirty="0"/>
              <a:t>High alveolar surface tension </a:t>
            </a:r>
          </a:p>
          <a:p>
            <a:pPr lvl="2" algn="just" fontAlgn="base">
              <a:buFont typeface="Wingdings" pitchFamily="2" charset="2"/>
              <a:buChar char="ü"/>
            </a:pPr>
            <a:r>
              <a:rPr lang="en-US" sz="2800" dirty="0"/>
              <a:t>Tendency of affected lung to become  </a:t>
            </a:r>
            <a:r>
              <a:rPr lang="en-US" sz="2800" dirty="0" err="1"/>
              <a:t>atelectatic</a:t>
            </a:r>
            <a:r>
              <a:rPr lang="en-US" sz="2800" dirty="0"/>
              <a:t>  </a:t>
            </a:r>
          </a:p>
          <a:p>
            <a:pPr lvl="2" algn="just" fontAlgn="base">
              <a:buFont typeface="Wingdings" pitchFamily="2" charset="2"/>
              <a:buChar char="ü"/>
            </a:pPr>
            <a:r>
              <a:rPr lang="en-US" sz="2800" dirty="0"/>
              <a:t>Failure to develop a functional residual capacity (FRC) &amp; </a:t>
            </a:r>
          </a:p>
          <a:p>
            <a:pPr lvl="2" algn="just" fontAlgn="base">
              <a:buFont typeface="Wingdings" pitchFamily="2" charset="2"/>
              <a:buChar char="ü"/>
            </a:pPr>
            <a:r>
              <a:rPr lang="en-US" sz="2800" dirty="0"/>
              <a:t>Intrapulmonary shunting, hypoxemia, and cyanosis </a:t>
            </a:r>
          </a:p>
          <a:p>
            <a:pPr lvl="2" algn="just" rtl="0" eaLnBrk="1" fontAlgn="base" hangingPunct="1">
              <a:buFont typeface="Wingdings" pitchFamily="2" charset="2"/>
              <a:buChar char="ü"/>
            </a:pPr>
            <a:endParaRPr lang="en-US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rtl="0" eaLnBrk="1" fontAlgn="base" hangingPunct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In the 1</a:t>
            </a:r>
            <a:r>
              <a:rPr lang="en-US" baseline="30000" dirty="0" smtClean="0">
                <a:solidFill>
                  <a:schemeClr val="tx1"/>
                </a:solidFill>
              </a:rPr>
              <a:t>st</a:t>
            </a:r>
            <a:r>
              <a:rPr lang="en-US" dirty="0" smtClean="0">
                <a:solidFill>
                  <a:schemeClr val="tx1"/>
                </a:solidFill>
              </a:rPr>
              <a:t> 3 hrs of life – tachypnea, grunting, nasal flaring, chest retractions, &amp; cyanosis → decreased air entry</a:t>
            </a:r>
          </a:p>
          <a:p>
            <a:pPr lvl="1" fontAlgn="base">
              <a:buFont typeface="Arial" pitchFamily="34" charset="0"/>
              <a:buChar char="•"/>
            </a:pPr>
            <a:r>
              <a:rPr lang="en-US" dirty="0"/>
              <a:t>The natural course is progressive worsening over the 1st 48 – 72 </a:t>
            </a:r>
            <a:r>
              <a:rPr lang="en-US" dirty="0" err="1"/>
              <a:t>hrs</a:t>
            </a:r>
            <a:r>
              <a:rPr lang="en-US" dirty="0"/>
              <a:t> of life</a:t>
            </a:r>
          </a:p>
          <a:p>
            <a:pPr lvl="1" rtl="0" eaLnBrk="1" fontAlgn="base" hangingPunct="1">
              <a:buFont typeface="Arial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rtl="0" eaLnBrk="1" fontAlgn="base" hangingPunct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History </a:t>
            </a:r>
            <a:endParaRPr lang="en-US" dirty="0" smtClean="0"/>
          </a:p>
          <a:p>
            <a:pPr lvl="1" rtl="0" eaLnBrk="1" fontAlgn="base" hangingPunct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P/E – respiratory distress &amp; cyanosis</a:t>
            </a:r>
            <a:endParaRPr lang="en-US" dirty="0" smtClean="0"/>
          </a:p>
          <a:p>
            <a:pPr lvl="1" rtl="0" eaLnBrk="1" fontAlgn="base" hangingPunct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Lab – arterial blood gas show variable degrees of hypoxemia &amp; hypercapnia </a:t>
            </a:r>
          </a:p>
          <a:p>
            <a:pPr lvl="1" rtl="0" eaLnBrk="1" fontAlgn="base" hangingPunct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CXR – shows diffuse atelectasis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Prevention and 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eaLnBrk="1" fontAlgn="base" hangingPunct="1"/>
            <a:r>
              <a:rPr lang="en-US" sz="2800" b="1" dirty="0" smtClean="0">
                <a:solidFill>
                  <a:schemeClr val="tx1"/>
                </a:solidFill>
              </a:rPr>
              <a:t>Prevention:</a:t>
            </a:r>
            <a:endParaRPr lang="en-US" b="1" dirty="0" smtClean="0"/>
          </a:p>
          <a:p>
            <a:pPr lvl="1" rtl="0" eaLnBrk="1" fontAlgn="base" hangingPunct="1"/>
            <a:r>
              <a:rPr lang="en-US" sz="2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Administration of corticosteroids to the mother 24 – 48 hrs before delivery </a:t>
            </a:r>
          </a:p>
          <a:p>
            <a:pPr marL="228600" lvl="2" rtl="0" eaLnBrk="1" fontAlgn="base" hangingPunct="1"/>
            <a:r>
              <a:rPr lang="en-US" sz="32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Treatment </a:t>
            </a:r>
            <a:r>
              <a:rPr lang="en-US" sz="32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3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CPAP ,surfactant </a:t>
            </a:r>
            <a:endParaRPr lang="en-US" sz="3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Meconium Aspiration </a:t>
            </a:r>
            <a:r>
              <a:rPr lang="en-US" dirty="0" smtClean="0"/>
              <a:t>Syndrome </a:t>
            </a:r>
            <a:r>
              <a:rPr lang="en-US" dirty="0" smtClean="0"/>
              <a:t>(MAS)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rtl="0" eaLnBrk="1" fontAlgn="base" hangingPunct="1"/>
            <a:r>
              <a:rPr lang="en-US" baseline="0" dirty="0" smtClean="0">
                <a:solidFill>
                  <a:schemeClr val="tx1"/>
                </a:solidFill>
              </a:rPr>
              <a:t>Chemical pneumonitis and obstruction of the bronchi</a:t>
            </a:r>
          </a:p>
          <a:p>
            <a:pPr lvl="1" rtl="0" eaLnBrk="1" fontAlgn="base" hangingPunct="1"/>
            <a:r>
              <a:rPr lang="en-US" baseline="0" dirty="0" smtClean="0">
                <a:solidFill>
                  <a:schemeClr val="tx1"/>
                </a:solidFill>
              </a:rPr>
              <a:t>Meconium aspiration is found </a:t>
            </a:r>
            <a:r>
              <a:rPr lang="en-US" baseline="0" dirty="0" smtClean="0">
                <a:solidFill>
                  <a:schemeClr val="tx1"/>
                </a:solidFill>
              </a:rPr>
              <a:t>in 5-15% of births, mostly in post terms </a:t>
            </a:r>
          </a:p>
          <a:p>
            <a:pPr lvl="1" rtl="0" eaLnBrk="1" fontAlgn="base" hangingPunct="1"/>
            <a:r>
              <a:rPr lang="en-US" baseline="0" dirty="0" smtClean="0"/>
              <a:t>5% of such infants develop MAS </a:t>
            </a:r>
          </a:p>
          <a:p>
            <a:pPr lvl="1" rtl="0" eaLnBrk="1" fontAlgn="base" hangingPunct="1"/>
            <a:r>
              <a:rPr lang="en-US" baseline="0" dirty="0" smtClean="0"/>
              <a:t>In 5-10% of them die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rtl="0" eaLnBrk="1" fontAlgn="base" hangingPunct="1"/>
            <a:r>
              <a:rPr lang="en-US" baseline="0" dirty="0" smtClean="0"/>
              <a:t>Commonly occurs in the setting of fetal distress</a:t>
            </a:r>
          </a:p>
          <a:p>
            <a:pPr lvl="1" rtl="0" eaLnBrk="1" fontAlgn="base" hangingPunct="1"/>
            <a:r>
              <a:rPr lang="en-US" baseline="0" dirty="0" smtClean="0">
                <a:solidFill>
                  <a:schemeClr val="tx1"/>
                </a:solidFill>
              </a:rPr>
              <a:t>hypoxia triggers vagal stimulation of intestine with passage of meconium to AF and </a:t>
            </a:r>
          </a:p>
          <a:p>
            <a:pPr lvl="2" rtl="0" eaLnBrk="1" fontAlgn="base" hangingPunct="1"/>
            <a:r>
              <a:rPr lang="en-US" baseline="0" dirty="0" smtClean="0">
                <a:solidFill>
                  <a:schemeClr val="tx1"/>
                </a:solidFill>
              </a:rPr>
              <a:t>Fetal gasping leading to aspiration </a:t>
            </a:r>
          </a:p>
          <a:p>
            <a:pPr lvl="2" rtl="0" eaLnBrk="1" fontAlgn="base" hangingPunct="1"/>
            <a:r>
              <a:rPr lang="en-US" baseline="0" dirty="0" smtClean="0">
                <a:solidFill>
                  <a:schemeClr val="tx1"/>
                </a:solidFill>
              </a:rPr>
              <a:t>Most severe in post terms</a:t>
            </a:r>
            <a:endParaRPr lang="en-US" b="1" baseline="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/>
            <a:r>
              <a:rPr lang="en-US" dirty="0"/>
              <a:t>Clinical manifestation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aseline="0" dirty="0" smtClean="0">
                <a:solidFill>
                  <a:schemeClr val="tx1"/>
                </a:solidFill>
              </a:rPr>
              <a:t>Mild to severe RD </a:t>
            </a:r>
          </a:p>
          <a:p>
            <a:pPr lvl="1"/>
            <a:r>
              <a:rPr lang="en-US" baseline="0" dirty="0" smtClean="0">
                <a:solidFill>
                  <a:schemeClr val="tx1"/>
                </a:solidFill>
              </a:rPr>
              <a:t>Air trapping by partial bronchial obstruction </a:t>
            </a:r>
          </a:p>
          <a:p>
            <a:pPr lvl="1"/>
            <a:r>
              <a:rPr lang="en-US" baseline="0" dirty="0" smtClean="0">
                <a:solidFill>
                  <a:schemeClr val="tx1"/>
                </a:solidFill>
              </a:rPr>
              <a:t>Tension pneumothorax </a:t>
            </a:r>
          </a:p>
          <a:p>
            <a:pPr lvl="1"/>
            <a:r>
              <a:rPr lang="en-US" baseline="0" dirty="0" smtClean="0">
                <a:solidFill>
                  <a:schemeClr val="tx1"/>
                </a:solidFill>
              </a:rPr>
              <a:t>Increased anterior-posterior chest diameter </a:t>
            </a:r>
          </a:p>
          <a:p>
            <a:pPr lvl="1"/>
            <a:r>
              <a:rPr lang="en-US" baseline="0" dirty="0" smtClean="0">
                <a:solidFill>
                  <a:schemeClr val="tx1"/>
                </a:solidFill>
              </a:rPr>
              <a:t>Meconium staining of umbilical cord, nails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Tratment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As </a:t>
            </a:r>
            <a:r>
              <a:rPr lang="en-US" dirty="0"/>
              <a:t>it occurs with the first breath the best therapy is </a:t>
            </a:r>
            <a:r>
              <a:rPr lang="en-US" dirty="0">
                <a:solidFill>
                  <a:schemeClr val="tx1"/>
                </a:solidFill>
              </a:rPr>
              <a:t>PREVENTION </a:t>
            </a:r>
          </a:p>
          <a:p>
            <a:pPr lvl="2"/>
            <a:r>
              <a:rPr lang="en-US" dirty="0" err="1">
                <a:solidFill>
                  <a:schemeClr val="tx1"/>
                </a:solidFill>
              </a:rPr>
              <a:t>Oropharyngeal</a:t>
            </a:r>
            <a:r>
              <a:rPr lang="en-US" dirty="0">
                <a:solidFill>
                  <a:schemeClr val="tx1"/>
                </a:solidFill>
              </a:rPr>
              <a:t> suctioning before delivery of chest  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Endotracheal intubation and mechanical ventilation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Antibiotics </a:t>
            </a:r>
            <a:endParaRPr lang="en-US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endParaRPr lang="en-US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Hypothermia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neonates are at risk of hypothermia </a:t>
            </a:r>
            <a:endParaRPr lang="en-US" dirty="0" smtClean="0"/>
          </a:p>
          <a:p>
            <a:r>
              <a:rPr lang="en-US" dirty="0" smtClean="0"/>
              <a:t>This is due to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</a:t>
            </a:r>
            <a:r>
              <a:rPr lang="en-US" dirty="0" smtClean="0"/>
              <a:t>mniotic </a:t>
            </a:r>
            <a:r>
              <a:rPr lang="en-US" dirty="0"/>
              <a:t>fluid </a:t>
            </a:r>
            <a:r>
              <a:rPr lang="en-US" dirty="0" smtClean="0"/>
              <a:t>,cold </a:t>
            </a:r>
            <a:r>
              <a:rPr lang="en-US" dirty="0"/>
              <a:t>&amp; dry </a:t>
            </a:r>
            <a:r>
              <a:rPr lang="en-US" dirty="0" err="1" smtClean="0"/>
              <a:t>env’t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Larger surface area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Subcutaneous fat is </a:t>
            </a:r>
            <a:r>
              <a:rPr lang="en-US" dirty="0" smtClean="0"/>
              <a:t>thinner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low ability to conserve heat.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88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"/>
          <p:cNvSpPr>
            <a:spLocks noChangeArrowheads="1"/>
          </p:cNvSpPr>
          <p:nvPr/>
        </p:nvSpPr>
        <p:spPr bwMode="auto">
          <a:xfrm>
            <a:off x="1371600" y="1219200"/>
            <a:ext cx="2286000" cy="5410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Line 3"/>
          <p:cNvSpPr>
            <a:spLocks noChangeShapeType="1"/>
          </p:cNvSpPr>
          <p:nvPr/>
        </p:nvSpPr>
        <p:spPr bwMode="auto">
          <a:xfrm>
            <a:off x="1371600" y="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57200" y="0"/>
            <a:ext cx="8305800" cy="990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latin typeface="Tahoma" panose="020B0604030504040204" pitchFamily="34" charset="0"/>
              </a:rPr>
              <a:t>Body Temperature</a:t>
            </a:r>
            <a:r>
              <a:rPr lang="en-US" sz="2400" b="1" dirty="0">
                <a:latin typeface="Tahoma" panose="020B0604030504040204" pitchFamily="34" charset="0"/>
              </a:rPr>
              <a:t> </a:t>
            </a:r>
            <a:endParaRPr lang="en-US" b="1" dirty="0">
              <a:latin typeface="Tahoma" panose="020B0604030504040204" pitchFamily="34" charset="0"/>
            </a:endParaRPr>
          </a:p>
        </p:txBody>
      </p:sp>
      <p:sp>
        <p:nvSpPr>
          <p:cNvPr id="37897" name="AutoShape 12"/>
          <p:cNvSpPr>
            <a:spLocks noChangeArrowheads="1"/>
          </p:cNvSpPr>
          <p:nvPr/>
        </p:nvSpPr>
        <p:spPr bwMode="auto">
          <a:xfrm>
            <a:off x="1905000" y="1295400"/>
            <a:ext cx="609600" cy="4800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1371600" y="5257800"/>
            <a:ext cx="1676400" cy="1295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AutoShape 13"/>
          <p:cNvSpPr>
            <a:spLocks noChangeArrowheads="1"/>
          </p:cNvSpPr>
          <p:nvPr/>
        </p:nvSpPr>
        <p:spPr bwMode="auto">
          <a:xfrm>
            <a:off x="1905000" y="2743200"/>
            <a:ext cx="609600" cy="30480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Text Box 18"/>
          <p:cNvSpPr txBox="1">
            <a:spLocks noChangeArrowheads="1"/>
          </p:cNvSpPr>
          <p:nvPr/>
        </p:nvSpPr>
        <p:spPr bwMode="auto">
          <a:xfrm>
            <a:off x="2514600" y="1828800"/>
            <a:ext cx="1905000" cy="3195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660033"/>
                </a:solidFill>
              </a:rPr>
              <a:t>37.5 C</a:t>
            </a:r>
          </a:p>
          <a:p>
            <a:pPr>
              <a:spcBef>
                <a:spcPct val="50000"/>
              </a:spcBef>
            </a:pPr>
            <a:endParaRPr lang="en-US" sz="2400" b="1">
              <a:solidFill>
                <a:srgbClr val="660033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660033"/>
                </a:solidFill>
              </a:rPr>
              <a:t>36.5 C</a:t>
            </a:r>
          </a:p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660033"/>
                </a:solidFill>
              </a:rPr>
              <a:t>36.0 C</a:t>
            </a:r>
          </a:p>
          <a:p>
            <a:pPr>
              <a:spcBef>
                <a:spcPct val="50000"/>
              </a:spcBef>
            </a:pPr>
            <a:endParaRPr lang="en-US" sz="2400" b="1">
              <a:solidFill>
                <a:srgbClr val="660033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660033"/>
                </a:solidFill>
              </a:rPr>
              <a:t>32.0 C</a:t>
            </a:r>
          </a:p>
        </p:txBody>
      </p:sp>
      <p:sp>
        <p:nvSpPr>
          <p:cNvPr id="37905" name="Text Box 24"/>
          <p:cNvSpPr txBox="1">
            <a:spLocks noChangeArrowheads="1"/>
          </p:cNvSpPr>
          <p:nvPr/>
        </p:nvSpPr>
        <p:spPr bwMode="auto">
          <a:xfrm>
            <a:off x="4800600" y="1371600"/>
            <a:ext cx="4343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40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37906" name="Text Box 25"/>
          <p:cNvSpPr txBox="1">
            <a:spLocks noChangeArrowheads="1"/>
          </p:cNvSpPr>
          <p:nvPr/>
        </p:nvSpPr>
        <p:spPr bwMode="auto">
          <a:xfrm>
            <a:off x="4495800" y="2209800"/>
            <a:ext cx="43434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smtClean="0"/>
              <a:t>         </a:t>
            </a:r>
            <a:r>
              <a:rPr lang="en-US" sz="3200" b="1" dirty="0" smtClean="0">
                <a:solidFill>
                  <a:schemeClr val="accent1"/>
                </a:solidFill>
              </a:rPr>
              <a:t>Normal </a:t>
            </a:r>
            <a:r>
              <a:rPr lang="en-US" sz="3200" b="1" dirty="0">
                <a:solidFill>
                  <a:schemeClr val="accent1"/>
                </a:solidFill>
              </a:rPr>
              <a:t>range</a:t>
            </a:r>
          </a:p>
        </p:txBody>
      </p:sp>
      <p:sp>
        <p:nvSpPr>
          <p:cNvPr id="37907" name="Text Box 26"/>
          <p:cNvSpPr txBox="1">
            <a:spLocks noChangeArrowheads="1"/>
          </p:cNvSpPr>
          <p:nvPr/>
        </p:nvSpPr>
        <p:spPr bwMode="auto">
          <a:xfrm>
            <a:off x="4343400" y="3200400"/>
            <a:ext cx="4800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         Mild hypothermia</a:t>
            </a:r>
            <a:endParaRPr lang="en-US" sz="2400" b="1" dirty="0"/>
          </a:p>
        </p:txBody>
      </p:sp>
      <p:sp>
        <p:nvSpPr>
          <p:cNvPr id="37908" name="Text Box 27"/>
          <p:cNvSpPr txBox="1">
            <a:spLocks noChangeArrowheads="1"/>
          </p:cNvSpPr>
          <p:nvPr/>
        </p:nvSpPr>
        <p:spPr bwMode="auto">
          <a:xfrm>
            <a:off x="4724400" y="4038600"/>
            <a:ext cx="441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/>
              <a:t>  Moderate </a:t>
            </a:r>
            <a:r>
              <a:rPr lang="en-US" sz="2400" b="1" dirty="0"/>
              <a:t>hypothermia</a:t>
            </a:r>
            <a:r>
              <a:rPr lang="en-US" sz="2000" b="1" dirty="0"/>
              <a:t>  </a:t>
            </a:r>
          </a:p>
        </p:txBody>
      </p:sp>
      <p:sp>
        <p:nvSpPr>
          <p:cNvPr id="37910" name="Text Box 29"/>
          <p:cNvSpPr txBox="1">
            <a:spLocks noChangeArrowheads="1"/>
          </p:cNvSpPr>
          <p:nvPr/>
        </p:nvSpPr>
        <p:spPr bwMode="auto">
          <a:xfrm>
            <a:off x="4495800" y="5029200"/>
            <a:ext cx="4419600" cy="11449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sz="2400" b="1" dirty="0" smtClean="0"/>
              <a:t> </a:t>
            </a:r>
            <a:r>
              <a:rPr lang="en-US" sz="3600" b="1" dirty="0" smtClean="0">
                <a:solidFill>
                  <a:srgbClr val="C00000"/>
                </a:solidFill>
              </a:rPr>
              <a:t>Severe hypothermia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sz="3600" b="1" dirty="0" smtClean="0">
                <a:solidFill>
                  <a:srgbClr val="C00000"/>
                </a:solidFill>
              </a:rPr>
              <a:t> Cold injury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7911" name="Rectangle 30"/>
          <p:cNvSpPr>
            <a:spLocks noChangeArrowheads="1"/>
          </p:cNvSpPr>
          <p:nvPr/>
        </p:nvSpPr>
        <p:spPr bwMode="auto">
          <a:xfrm>
            <a:off x="2057400" y="2743200"/>
            <a:ext cx="152400" cy="2286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Oval 31"/>
          <p:cNvSpPr>
            <a:spLocks noChangeArrowheads="1"/>
          </p:cNvSpPr>
          <p:nvPr/>
        </p:nvSpPr>
        <p:spPr bwMode="auto">
          <a:xfrm>
            <a:off x="1981200" y="56388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57600" y="25146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733800" y="3429000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657600" y="419100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7910" idx="1"/>
          </p:cNvCxnSpPr>
          <p:nvPr/>
        </p:nvCxnSpPr>
        <p:spPr>
          <a:xfrm flipV="1">
            <a:off x="3657600" y="5601665"/>
            <a:ext cx="838200" cy="37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echanisms of heat lose</a:t>
            </a:r>
          </a:p>
        </p:txBody>
      </p:sp>
      <p:pic>
        <p:nvPicPr>
          <p:cNvPr id="14341" name="Content Placeholder 5" descr="p6.gif (19684 bytes)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2167731"/>
            <a:ext cx="6096000" cy="33909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EF7802-DFFB-4381-9821-1788D08A62DB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Clinical manifestation of Hypothermia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56388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b="1" dirty="0" smtClean="0"/>
              <a:t>Peripheral vasoconstriction</a:t>
            </a:r>
          </a:p>
          <a:p>
            <a:pPr marL="514350" indent="-51435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- Acrocyanosis, decreased peripheral perfusion</a:t>
            </a:r>
          </a:p>
          <a:p>
            <a:pPr marL="514350" indent="-514350">
              <a:buAutoNum type="arabicPeriod" startAt="2"/>
            </a:pPr>
            <a:r>
              <a:rPr lang="en-US" sz="2800" b="1" dirty="0" smtClean="0"/>
              <a:t>CNS depression</a:t>
            </a:r>
          </a:p>
          <a:p>
            <a:pPr marL="514350" indent="-51435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- Lethargy, poor feeding,  apnea and bradycardia</a:t>
            </a:r>
          </a:p>
          <a:p>
            <a:pPr marL="514350" indent="-514350">
              <a:buNone/>
            </a:pPr>
            <a:r>
              <a:rPr lang="en-US" sz="2800" b="1" dirty="0" smtClean="0"/>
              <a:t>3. Increased metabolism</a:t>
            </a:r>
          </a:p>
          <a:p>
            <a:pPr marL="514350" indent="-51435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- Hypoglycemia, hypoxia, metabolic acidosis</a:t>
            </a:r>
          </a:p>
          <a:p>
            <a:pPr marL="514350" indent="-514350">
              <a:buNone/>
            </a:pPr>
            <a:r>
              <a:rPr lang="en-US" sz="2800" b="1" dirty="0" smtClean="0"/>
              <a:t>4. Increased pulmonary arterial pressure</a:t>
            </a:r>
          </a:p>
          <a:p>
            <a:pPr marL="514350" indent="-51435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- Tachypnea, respiratory distress</a:t>
            </a:r>
          </a:p>
          <a:p>
            <a:pPr marL="514350" indent="-514350">
              <a:buNone/>
            </a:pPr>
            <a:r>
              <a:rPr lang="en-US" sz="2800" b="1" dirty="0" smtClean="0"/>
              <a:t>5</a:t>
            </a:r>
            <a:r>
              <a:rPr lang="en-US" sz="2800" dirty="0" smtClean="0"/>
              <a:t>.</a:t>
            </a:r>
            <a:r>
              <a:rPr lang="en-US" sz="2800" b="1" dirty="0" smtClean="0"/>
              <a:t>Depressed Immunologic system</a:t>
            </a:r>
          </a:p>
          <a:p>
            <a:pPr marL="514350" indent="-51435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- develop septicemia, sclerema, DIC</a:t>
            </a:r>
          </a:p>
          <a:p>
            <a:pPr marL="514350" indent="-514350">
              <a:buNone/>
            </a:pPr>
            <a:endParaRPr lang="en-US" sz="2800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Infection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Early Onset neonatal sepsis (&lt;7 days)</a:t>
            </a:r>
          </a:p>
          <a:p>
            <a:pPr>
              <a:buNone/>
            </a:pPr>
            <a:r>
              <a:rPr lang="en-US" dirty="0" smtClean="0"/>
              <a:t> Late Onset neonatal sepsis (&gt; 7 days)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Bacterial meningitis</a:t>
            </a:r>
          </a:p>
          <a:p>
            <a:r>
              <a:rPr lang="en-US" dirty="0" smtClean="0"/>
              <a:t>Congenital pneumonia</a:t>
            </a:r>
          </a:p>
          <a:p>
            <a:r>
              <a:rPr lang="en-US" dirty="0" smtClean="0"/>
              <a:t>Neonatal Sepsis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Causative organisms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US" sz="2400" dirty="0" smtClean="0"/>
              <a:t>Group B streptococcus</a:t>
            </a:r>
          </a:p>
          <a:p>
            <a:pPr lvl="1" eaLnBrk="1" hangingPunct="1">
              <a:defRPr/>
            </a:pPr>
            <a:r>
              <a:rPr lang="en-US" sz="2400" dirty="0" smtClean="0"/>
              <a:t>Gram-negative </a:t>
            </a:r>
            <a:r>
              <a:rPr lang="en-US" sz="2400" dirty="0" err="1" smtClean="0"/>
              <a:t>enterics</a:t>
            </a:r>
            <a:r>
              <a:rPr lang="en-US" sz="2400" dirty="0" smtClean="0"/>
              <a:t> (esp. </a:t>
            </a:r>
            <a:r>
              <a:rPr lang="en-US" sz="2400" i="1" dirty="0" smtClean="0"/>
              <a:t>E. coli</a:t>
            </a:r>
            <a:r>
              <a:rPr lang="en-US" sz="2400" dirty="0" smtClean="0"/>
              <a:t>)</a:t>
            </a:r>
          </a:p>
          <a:p>
            <a:pPr lvl="1" eaLnBrk="1" hangingPunct="1">
              <a:defRPr/>
            </a:pPr>
            <a:r>
              <a:rPr lang="en-US" sz="2400" i="1" dirty="0" err="1" smtClean="0"/>
              <a:t>Listeria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monocytogenes</a:t>
            </a:r>
            <a:r>
              <a:rPr lang="en-US" sz="2400" i="1" dirty="0" smtClean="0"/>
              <a:t>, Staphylococcus</a:t>
            </a:r>
            <a:r>
              <a:rPr lang="en-US" sz="2400" dirty="0" smtClean="0"/>
              <a:t>, other streptococci (</a:t>
            </a:r>
            <a:r>
              <a:rPr lang="en-US" sz="2400" dirty="0" err="1" smtClean="0"/>
              <a:t>entercocci</a:t>
            </a:r>
            <a:r>
              <a:rPr lang="en-US" sz="2400" dirty="0" smtClean="0"/>
              <a:t>), anaerobes, </a:t>
            </a:r>
            <a:r>
              <a:rPr lang="en-US" sz="2400" i="1" dirty="0" smtClean="0"/>
              <a:t>H. flu</a:t>
            </a:r>
            <a:endParaRPr lang="en-US" sz="2400" dirty="0" smtClean="0"/>
          </a:p>
          <a:p>
            <a:pPr marL="0" indent="0" eaLnBrk="1" hangingPunct="1">
              <a:buNone/>
              <a:defRPr/>
            </a:pPr>
            <a:endParaRPr lang="en-US" sz="2800" b="1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Clinical presentation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Temperature irregularity  </a:t>
            </a: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Change in behavior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Lethargy, irritability, changes in tone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Skin changes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Poor perfusion, mottling, cyanosis, pallor, petechiae, rashes, jaundice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Feeding problems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Intolerance, vomiting, diarrhea, abdominal distension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Cardiopulmonary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Tachypnea, grunting, flaring, retractions, apnea, tachycardia, hypotension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Metabolic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Hypo or hyperglycemia, metabolic acidosis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Neonatal jaundice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dirty="0" smtClean="0"/>
              <a:t>s </a:t>
            </a:r>
            <a:r>
              <a:rPr lang="en-US" dirty="0"/>
              <a:t>a yellowish discoloration of the skin and or sclera due to bilirubin deposition.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lmost </a:t>
            </a:r>
            <a:r>
              <a:rPr lang="en-US" dirty="0"/>
              <a:t>97 % healthy full term babies have biochemical hyperbilirubinemia. </a:t>
            </a:r>
            <a:endParaRPr lang="en-US" dirty="0" smtClean="0"/>
          </a:p>
          <a:p>
            <a:r>
              <a:rPr lang="en-US" dirty="0" smtClean="0"/>
              <a:t>It could be physiologic or pathologic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>Causes of Jaundice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i="1" dirty="0" err="1" smtClean="0">
                <a:latin typeface="Calibri" panose="020F0502020204030204" pitchFamily="34" charset="0"/>
                <a:cs typeface="Arial" panose="020B0604020202020204" pitchFamily="34" charset="0"/>
              </a:rPr>
              <a:t>Isoimmunization</a:t>
            </a:r>
            <a:r>
              <a:rPr lang="en-US" b="1" dirty="0" smtClean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RH </a:t>
            </a: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and ABO </a:t>
            </a: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incompatibility, </a:t>
            </a:r>
            <a:endParaRPr lang="en-US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Other </a:t>
            </a: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blood group  incompatibility</a:t>
            </a:r>
          </a:p>
          <a:p>
            <a:pPr lvl="0"/>
            <a:r>
              <a:rPr lang="en-US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Infection</a:t>
            </a:r>
            <a:endParaRPr lang="en-US" i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en-US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Sequestered blood</a:t>
            </a:r>
            <a:endParaRPr lang="en-US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Subgalial </a:t>
            </a: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hemorrhage, </a:t>
            </a:r>
            <a:r>
              <a:rPr lang="en-US" dirty="0" err="1">
                <a:latin typeface="Calibri" panose="020F0502020204030204" pitchFamily="34" charset="0"/>
                <a:cs typeface="Arial" panose="020B0604020202020204" pitchFamily="34" charset="0"/>
              </a:rPr>
              <a:t>cephal</a:t>
            </a: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hematoma</a:t>
            </a:r>
            <a:endParaRPr lang="en-US" i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en-US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Erythrocyte </a:t>
            </a:r>
            <a:r>
              <a:rPr lang="en-US" b="1" i="1" dirty="0">
                <a:latin typeface="Calibri" panose="020F0502020204030204" pitchFamily="34" charset="0"/>
                <a:cs typeface="Arial" panose="020B0604020202020204" pitchFamily="34" charset="0"/>
              </a:rPr>
              <a:t>biochemical </a:t>
            </a:r>
            <a:r>
              <a:rPr lang="en-US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defect</a:t>
            </a:r>
            <a:endParaRPr lang="en-US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Arial" panose="020B0604020202020204" pitchFamily="34" charset="0"/>
              </a:rPr>
              <a:t>G6PD deficiency</a:t>
            </a:r>
            <a:endParaRPr lang="en-US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Cont’d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600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Structural abnormalities of erythrocytes</a:t>
            </a:r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Hereditary spherocytosis, </a:t>
            </a:r>
            <a:r>
              <a:rPr lang="en-US" sz="2600" dirty="0" err="1" smtClean="0">
                <a:latin typeface="Calibri" panose="020F0502020204030204" pitchFamily="34" charset="0"/>
                <a:cs typeface="Arial" panose="020B0604020202020204" pitchFamily="34" charset="0"/>
              </a:rPr>
              <a:t>eliptocytosis</a:t>
            </a:r>
            <a:endParaRPr lang="en-US" sz="2600" i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600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Disorder of hepatic uptake</a:t>
            </a:r>
            <a:r>
              <a:rPr lang="en-US" sz="26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Gilbert syndrome</a:t>
            </a:r>
            <a:endParaRPr lang="en-US" sz="2600" i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600" b="1" i="1" dirty="0" smtClean="0">
                <a:latin typeface="Calibri" panose="020F0502020204030204" pitchFamily="34" charset="0"/>
                <a:cs typeface="Arial" panose="020B0604020202020204" pitchFamily="34" charset="0"/>
              </a:rPr>
              <a:t>Disorder of conjugation</a:t>
            </a:r>
            <a:r>
              <a:rPr lang="en-US" sz="26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600" dirty="0" err="1" smtClean="0">
                <a:latin typeface="Calibri" panose="020F0502020204030204" pitchFamily="34" charset="0"/>
                <a:cs typeface="Arial" panose="020B0604020202020204" pitchFamily="34" charset="0"/>
              </a:rPr>
              <a:t>Crigler</a:t>
            </a:r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en-US" sz="2600" dirty="0" err="1" smtClean="0">
                <a:latin typeface="Calibri" panose="020F0502020204030204" pitchFamily="34" charset="0"/>
                <a:cs typeface="Arial" panose="020B0604020202020204" pitchFamily="34" charset="0"/>
              </a:rPr>
              <a:t>Najar</a:t>
            </a:r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 syndrome (absence of UGT activity) </a:t>
            </a:r>
          </a:p>
          <a:p>
            <a:pPr lvl="0"/>
            <a:r>
              <a:rPr lang="en-US" sz="26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Disorder of enterohepatic circulation 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Breast feeding Jaundice</a:t>
            </a:r>
          </a:p>
          <a:p>
            <a:pPr lvl="1"/>
            <a:r>
              <a:rPr lang="en-US" sz="2600" i="1" dirty="0" smtClean="0">
                <a:latin typeface="Calibri" panose="020F0502020204030204" pitchFamily="34" charset="0"/>
                <a:cs typeface="Arial" panose="020B0604020202020204" pitchFamily="34" charset="0"/>
              </a:rPr>
              <a:t>Hypothyroidism</a:t>
            </a:r>
            <a:r>
              <a:rPr lang="en-US" sz="2600" dirty="0" smtClean="0">
                <a:latin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Principles of treatment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5029200"/>
          </a:xfrm>
        </p:spPr>
        <p:txBody>
          <a:bodyPr>
            <a:normAutofit/>
          </a:bodyPr>
          <a:lstStyle/>
          <a:p>
            <a:pPr lvl="0"/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Phototherapy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Exchange transfusion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Note: Use Butanic curve for choosing the management options.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30</a:t>
            </a:fld>
            <a:endParaRPr lang="en-US"/>
          </a:p>
        </p:txBody>
      </p:sp>
      <p:pic>
        <p:nvPicPr>
          <p:cNvPr id="2050" name="Picture 2" descr="C:\Users\Emory\Pictures\my phone new\WP_20140313_0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524000"/>
            <a:ext cx="4038600" cy="213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on birth injuries and on prematurity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2D34-2F5F-44C4-9F06-01FEA5C98AB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6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876</Words>
  <Application>Microsoft Office PowerPoint</Application>
  <PresentationFormat>On-screen Show (4:3)</PresentationFormat>
  <Paragraphs>203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Common Neonatal Problems</vt:lpstr>
      <vt:lpstr>Outline </vt:lpstr>
      <vt:lpstr>Perinatal Asphyxia</vt:lpstr>
      <vt:lpstr>Diagnosis </vt:lpstr>
      <vt:lpstr>APGAR SCORE</vt:lpstr>
      <vt:lpstr>PATHOPHYSIOLOGY</vt:lpstr>
      <vt:lpstr>PATHOPHYSIOLOGY</vt:lpstr>
      <vt:lpstr>Causes </vt:lpstr>
      <vt:lpstr>Staging </vt:lpstr>
      <vt:lpstr>Causes of respiratory distresses</vt:lpstr>
      <vt:lpstr>Hyaline Membrane Disease (HMD)</vt:lpstr>
      <vt:lpstr>Pathphysiology </vt:lpstr>
      <vt:lpstr>Clinical manifestations </vt:lpstr>
      <vt:lpstr>Diagnosis </vt:lpstr>
      <vt:lpstr>Prevention and treatment </vt:lpstr>
      <vt:lpstr>Meconium Aspiration Syndrome (MAS) </vt:lpstr>
      <vt:lpstr>MAS… </vt:lpstr>
      <vt:lpstr>Clinical manifestation </vt:lpstr>
      <vt:lpstr>Tratment </vt:lpstr>
      <vt:lpstr>Hypothermia </vt:lpstr>
      <vt:lpstr>PowerPoint Presentation</vt:lpstr>
      <vt:lpstr>Mechanisms of heat lose</vt:lpstr>
      <vt:lpstr>Clinical manifestation of Hypothermia</vt:lpstr>
      <vt:lpstr>Infection</vt:lpstr>
      <vt:lpstr>Causative organisms</vt:lpstr>
      <vt:lpstr>Clinical presentation</vt:lpstr>
      <vt:lpstr>Neonatal jaundice  </vt:lpstr>
      <vt:lpstr>Causes of Jaundice</vt:lpstr>
      <vt:lpstr>Cont’d</vt:lpstr>
      <vt:lpstr>Principles of treatment</vt:lpstr>
      <vt:lpstr>Assignment  </vt:lpstr>
    </vt:vector>
  </TitlesOfParts>
  <Company>Emory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of common problems in the newborne</dc:title>
  <dc:creator>Emory</dc:creator>
  <cp:lastModifiedBy>user</cp:lastModifiedBy>
  <cp:revision>51</cp:revision>
  <dcterms:created xsi:type="dcterms:W3CDTF">2015-09-20T19:38:00Z</dcterms:created>
  <dcterms:modified xsi:type="dcterms:W3CDTF">2024-10-12T10:13:12Z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1033-11.2.0.11191</vt:lpwstr>
  </property>
  <property fmtid="{D5CDD505-2E9C-101B-9397-08002B2CF9AE}" pid="3" name="ICV">
    <vt:lpwstr>A59F7150F2794B51B3CC0673F2D1AEE1</vt:lpwstr>
  </property>
</Properties>
</file>