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diagrams/layout1.xml" ContentType="application/vnd.openxmlformats-officedocument.drawingml.diagramLayout+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comments/comment1.xml" ContentType="application/vnd.openxmlformats-officedocument.presentationml.comments+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diagrams/data1.xml" ContentType="application/vnd.openxmlformats-officedocument.drawingml.diagramData+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440" r:id="rId2"/>
    <p:sldId id="449" r:id="rId3"/>
    <p:sldId id="451" r:id="rId4"/>
    <p:sldId id="452" r:id="rId5"/>
    <p:sldId id="454" r:id="rId6"/>
    <p:sldId id="455" r:id="rId7"/>
    <p:sldId id="456" r:id="rId8"/>
    <p:sldId id="457" r:id="rId9"/>
    <p:sldId id="458" r:id="rId10"/>
    <p:sldId id="462" r:id="rId11"/>
    <p:sldId id="463" r:id="rId12"/>
    <p:sldId id="551" r:id="rId13"/>
    <p:sldId id="464" r:id="rId14"/>
    <p:sldId id="465" r:id="rId15"/>
    <p:sldId id="466" r:id="rId16"/>
    <p:sldId id="468" r:id="rId17"/>
    <p:sldId id="469" r:id="rId18"/>
    <p:sldId id="470" r:id="rId19"/>
    <p:sldId id="471" r:id="rId20"/>
    <p:sldId id="472" r:id="rId21"/>
    <p:sldId id="473" r:id="rId22"/>
    <p:sldId id="474" r:id="rId23"/>
    <p:sldId id="475" r:id="rId24"/>
    <p:sldId id="476" r:id="rId25"/>
    <p:sldId id="477" r:id="rId26"/>
    <p:sldId id="478" r:id="rId27"/>
    <p:sldId id="479" r:id="rId28"/>
    <p:sldId id="480" r:id="rId29"/>
    <p:sldId id="481" r:id="rId30"/>
    <p:sldId id="482" r:id="rId31"/>
    <p:sldId id="483" r:id="rId32"/>
    <p:sldId id="484" r:id="rId33"/>
    <p:sldId id="485" r:id="rId34"/>
    <p:sldId id="486" r:id="rId35"/>
    <p:sldId id="487" r:id="rId36"/>
    <p:sldId id="488" r:id="rId37"/>
    <p:sldId id="489" r:id="rId38"/>
    <p:sldId id="548" r:id="rId39"/>
    <p:sldId id="549" r:id="rId40"/>
    <p:sldId id="550" r:id="rId41"/>
    <p:sldId id="492" r:id="rId42"/>
    <p:sldId id="493" r:id="rId43"/>
    <p:sldId id="494" r:id="rId44"/>
    <p:sldId id="495" r:id="rId45"/>
    <p:sldId id="496" r:id="rId46"/>
    <p:sldId id="497" r:id="rId47"/>
    <p:sldId id="498" r:id="rId48"/>
    <p:sldId id="499" r:id="rId49"/>
    <p:sldId id="500" r:id="rId50"/>
    <p:sldId id="501" r:id="rId51"/>
    <p:sldId id="503" r:id="rId52"/>
    <p:sldId id="505" r:id="rId53"/>
    <p:sldId id="506" r:id="rId54"/>
    <p:sldId id="507" r:id="rId55"/>
    <p:sldId id="508" r:id="rId56"/>
    <p:sldId id="512" r:id="rId57"/>
    <p:sldId id="513" r:id="rId58"/>
    <p:sldId id="514" r:id="rId59"/>
    <p:sldId id="517" r:id="rId60"/>
    <p:sldId id="518" r:id="rId61"/>
    <p:sldId id="519" r:id="rId62"/>
    <p:sldId id="521" r:id="rId63"/>
    <p:sldId id="522" r:id="rId64"/>
    <p:sldId id="523" r:id="rId65"/>
    <p:sldId id="524" r:id="rId66"/>
    <p:sldId id="525" r:id="rId67"/>
    <p:sldId id="526" r:id="rId68"/>
    <p:sldId id="527" r:id="rId69"/>
    <p:sldId id="562" r:id="rId70"/>
    <p:sldId id="563" r:id="rId71"/>
    <p:sldId id="564" r:id="rId72"/>
    <p:sldId id="565" r:id="rId73"/>
    <p:sldId id="566" r:id="rId74"/>
    <p:sldId id="536" r:id="rId75"/>
    <p:sldId id="537" r:id="rId76"/>
    <p:sldId id="538" r:id="rId77"/>
  </p:sldIdLst>
  <p:sldSz cx="118872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74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tich Atinafu" initials="GA" lastIdx="1" clrIdx="0">
    <p:extLst>
      <p:ext uri="{19B8F6BF-5375-455C-9EA6-DF929625EA0E}">
        <p15:presenceInfo xmlns="" xmlns:p15="http://schemas.microsoft.com/office/powerpoint/2012/main" userId="35d1ceff8b0c84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2163A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420" autoAdjust="0"/>
    <p:restoredTop sz="86465" autoAdjust="0"/>
  </p:normalViewPr>
  <p:slideViewPr>
    <p:cSldViewPr snapToGrid="0" snapToObjects="1">
      <p:cViewPr varScale="1">
        <p:scale>
          <a:sx n="66" d="100"/>
          <a:sy n="66" d="100"/>
        </p:scale>
        <p:origin x="-768" y="-114"/>
      </p:cViewPr>
      <p:guideLst>
        <p:guide orient="horz" pos="2160"/>
        <p:guide pos="3744"/>
      </p:guideLst>
    </p:cSldViewPr>
  </p:slideViewPr>
  <p:notesTextViewPr>
    <p:cViewPr>
      <p:scale>
        <a:sx n="1" d="1"/>
        <a:sy n="1" d="1"/>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5-20T18:32:02.234" idx="1">
    <p:pos x="10" y="10"/>
    <p:text>Common causes of distributive shock in children include sepsis, anaphylaxis, and accidental or intentional drug overdose (e.g., calcium channel blockers, atypical antipsychotics).</p:text>
    <p:extLst>
      <p:ext uri="{C676402C-5697-4E1C-873F-D02D1690AC5C}">
        <p15:threadingInfo xmlns=""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3DEFB6-9C67-1240-9381-16D6FE7BD060}" type="doc">
      <dgm:prSet loTypeId="urn:microsoft.com/office/officeart/2005/8/layout/process2" loCatId="process" qsTypeId="urn:microsoft.com/office/officeart/2005/8/quickstyle/simple4" qsCatId="simple" csTypeId="urn:microsoft.com/office/officeart/2005/8/colors/accent2_2" csCatId="accent2" phldr="1"/>
      <dgm:spPr/>
    </dgm:pt>
    <dgm:pt modelId="{8E875347-FDCF-ED47-8611-2F54980608C9}">
      <dgm:prSet phldrT="[Text]"/>
      <dgm:spPr/>
      <dgm:t>
        <a:bodyPr/>
        <a:lstStyle/>
        <a:p>
          <a:r>
            <a:rPr lang="en-US" dirty="0" smtClean="0"/>
            <a:t>Compensated</a:t>
          </a:r>
          <a:endParaRPr lang="en-US" dirty="0"/>
        </a:p>
      </dgm:t>
    </dgm:pt>
    <dgm:pt modelId="{F7B5D1D0-98E1-E94B-9E48-13DF3B65B970}" type="parTrans" cxnId="{27DB9DF3-C8DA-9A4E-A83B-C5445CBD69F9}">
      <dgm:prSet/>
      <dgm:spPr/>
      <dgm:t>
        <a:bodyPr/>
        <a:lstStyle/>
        <a:p>
          <a:endParaRPr lang="en-US"/>
        </a:p>
      </dgm:t>
    </dgm:pt>
    <dgm:pt modelId="{0BFD6986-F01C-0F41-97A7-78D41EFC8021}" type="sibTrans" cxnId="{27DB9DF3-C8DA-9A4E-A83B-C5445CBD69F9}">
      <dgm:prSet/>
      <dgm:spPr>
        <a:solidFill>
          <a:srgbClr val="FF0000"/>
        </a:solidFill>
      </dgm:spPr>
      <dgm:t>
        <a:bodyPr/>
        <a:lstStyle/>
        <a:p>
          <a:endParaRPr lang="en-US"/>
        </a:p>
      </dgm:t>
    </dgm:pt>
    <dgm:pt modelId="{B904BE92-4863-DD49-8D48-BF19AB4DF205}">
      <dgm:prSet phldrT="[Text]"/>
      <dgm:spPr/>
      <dgm:t>
        <a:bodyPr/>
        <a:lstStyle/>
        <a:p>
          <a:r>
            <a:rPr lang="en-US" dirty="0" smtClean="0"/>
            <a:t>Hypotensive</a:t>
          </a:r>
          <a:endParaRPr lang="en-US" dirty="0"/>
        </a:p>
      </dgm:t>
    </dgm:pt>
    <dgm:pt modelId="{60C263C5-D1F0-844B-B49E-92CA2ECE1F8A}" type="parTrans" cxnId="{13F8C793-1412-AA42-A5F3-EAEE73B51B8F}">
      <dgm:prSet/>
      <dgm:spPr/>
      <dgm:t>
        <a:bodyPr/>
        <a:lstStyle/>
        <a:p>
          <a:endParaRPr lang="en-US"/>
        </a:p>
      </dgm:t>
    </dgm:pt>
    <dgm:pt modelId="{3733DE37-2545-D540-AF3A-0A78CE6F61C3}" type="sibTrans" cxnId="{13F8C793-1412-AA42-A5F3-EAEE73B51B8F}">
      <dgm:prSet/>
      <dgm:spPr>
        <a:solidFill>
          <a:srgbClr val="FF0000"/>
        </a:solidFill>
      </dgm:spPr>
      <dgm:t>
        <a:bodyPr/>
        <a:lstStyle/>
        <a:p>
          <a:endParaRPr lang="en-US"/>
        </a:p>
      </dgm:t>
    </dgm:pt>
    <dgm:pt modelId="{9089BCCB-9905-0741-B617-451AAD241744}">
      <dgm:prSet phldrT="[Text]"/>
      <dgm:spPr/>
      <dgm:t>
        <a:bodyPr/>
        <a:lstStyle/>
        <a:p>
          <a:r>
            <a:rPr lang="en-US" dirty="0" smtClean="0"/>
            <a:t>Cardiac Arrest</a:t>
          </a:r>
          <a:endParaRPr lang="en-US" dirty="0"/>
        </a:p>
      </dgm:t>
    </dgm:pt>
    <dgm:pt modelId="{BD79CD3A-23C7-3D4E-8ADE-DFD7E6F573C7}" type="parTrans" cxnId="{C403B4B1-EF7C-2341-89FE-01C1954F4805}">
      <dgm:prSet/>
      <dgm:spPr/>
      <dgm:t>
        <a:bodyPr/>
        <a:lstStyle/>
        <a:p>
          <a:endParaRPr lang="en-US"/>
        </a:p>
      </dgm:t>
    </dgm:pt>
    <dgm:pt modelId="{378D2606-33DF-3F4A-B8B6-32C52312CA3B}" type="sibTrans" cxnId="{C403B4B1-EF7C-2341-89FE-01C1954F4805}">
      <dgm:prSet/>
      <dgm:spPr/>
      <dgm:t>
        <a:bodyPr/>
        <a:lstStyle/>
        <a:p>
          <a:endParaRPr lang="en-US"/>
        </a:p>
      </dgm:t>
    </dgm:pt>
    <dgm:pt modelId="{68A09ABE-3DB5-7845-A43C-74F366CEF303}" type="pres">
      <dgm:prSet presAssocID="{873DEFB6-9C67-1240-9381-16D6FE7BD060}" presName="linearFlow" presStyleCnt="0">
        <dgm:presLayoutVars>
          <dgm:resizeHandles val="exact"/>
        </dgm:presLayoutVars>
      </dgm:prSet>
      <dgm:spPr/>
    </dgm:pt>
    <dgm:pt modelId="{5A697344-1A8F-4A4F-A960-749536E3F027}" type="pres">
      <dgm:prSet presAssocID="{8E875347-FDCF-ED47-8611-2F54980608C9}" presName="node" presStyleLbl="node1" presStyleIdx="0" presStyleCnt="3" custScaleY="46219" custLinFactNeighborY="-8611">
        <dgm:presLayoutVars>
          <dgm:bulletEnabled val="1"/>
        </dgm:presLayoutVars>
      </dgm:prSet>
      <dgm:spPr/>
      <dgm:t>
        <a:bodyPr/>
        <a:lstStyle/>
        <a:p>
          <a:endParaRPr lang="en-US"/>
        </a:p>
      </dgm:t>
    </dgm:pt>
    <dgm:pt modelId="{B6FA6BB2-0480-EC49-8A56-F35100D7EF1C}" type="pres">
      <dgm:prSet presAssocID="{0BFD6986-F01C-0F41-97A7-78D41EFC8021}" presName="sibTrans" presStyleLbl="sibTrans2D1" presStyleIdx="0" presStyleCnt="2"/>
      <dgm:spPr/>
      <dgm:t>
        <a:bodyPr/>
        <a:lstStyle/>
        <a:p>
          <a:endParaRPr lang="en-US"/>
        </a:p>
      </dgm:t>
    </dgm:pt>
    <dgm:pt modelId="{E27A7CA1-BF51-0D4A-A408-47070AFFF56D}" type="pres">
      <dgm:prSet presAssocID="{0BFD6986-F01C-0F41-97A7-78D41EFC8021}" presName="connectorText" presStyleLbl="sibTrans2D1" presStyleIdx="0" presStyleCnt="2"/>
      <dgm:spPr/>
      <dgm:t>
        <a:bodyPr/>
        <a:lstStyle/>
        <a:p>
          <a:endParaRPr lang="en-US"/>
        </a:p>
      </dgm:t>
    </dgm:pt>
    <dgm:pt modelId="{F0EAA1EE-8BF1-094A-99BF-1D38E232B61C}" type="pres">
      <dgm:prSet presAssocID="{B904BE92-4863-DD49-8D48-BF19AB4DF205}" presName="node" presStyleLbl="node1" presStyleIdx="1" presStyleCnt="3" custScaleY="52855">
        <dgm:presLayoutVars>
          <dgm:bulletEnabled val="1"/>
        </dgm:presLayoutVars>
      </dgm:prSet>
      <dgm:spPr/>
      <dgm:t>
        <a:bodyPr/>
        <a:lstStyle/>
        <a:p>
          <a:endParaRPr lang="en-US"/>
        </a:p>
      </dgm:t>
    </dgm:pt>
    <dgm:pt modelId="{7D47E677-2FE0-8441-BE21-3995C99C022C}" type="pres">
      <dgm:prSet presAssocID="{3733DE37-2545-D540-AF3A-0A78CE6F61C3}" presName="sibTrans" presStyleLbl="sibTrans2D1" presStyleIdx="1" presStyleCnt="2" custScaleY="43523" custLinFactNeighborX="8536"/>
      <dgm:spPr/>
      <dgm:t>
        <a:bodyPr/>
        <a:lstStyle/>
        <a:p>
          <a:endParaRPr lang="en-US"/>
        </a:p>
      </dgm:t>
    </dgm:pt>
    <dgm:pt modelId="{DDE3C714-E1C5-5549-985D-75CA8326C57E}" type="pres">
      <dgm:prSet presAssocID="{3733DE37-2545-D540-AF3A-0A78CE6F61C3}" presName="connectorText" presStyleLbl="sibTrans2D1" presStyleIdx="1" presStyleCnt="2"/>
      <dgm:spPr/>
      <dgm:t>
        <a:bodyPr/>
        <a:lstStyle/>
        <a:p>
          <a:endParaRPr lang="en-US"/>
        </a:p>
      </dgm:t>
    </dgm:pt>
    <dgm:pt modelId="{58444171-31F7-D547-B2DE-64D53E61D56B}" type="pres">
      <dgm:prSet presAssocID="{9089BCCB-9905-0741-B617-451AAD241744}" presName="node" presStyleLbl="node1" presStyleIdx="2" presStyleCnt="3" custScaleY="42274">
        <dgm:presLayoutVars>
          <dgm:bulletEnabled val="1"/>
        </dgm:presLayoutVars>
      </dgm:prSet>
      <dgm:spPr/>
      <dgm:t>
        <a:bodyPr/>
        <a:lstStyle/>
        <a:p>
          <a:endParaRPr lang="en-US"/>
        </a:p>
      </dgm:t>
    </dgm:pt>
  </dgm:ptLst>
  <dgm:cxnLst>
    <dgm:cxn modelId="{6633132E-0009-400A-8F4F-03D1CDF9853D}" type="presOf" srcId="{873DEFB6-9C67-1240-9381-16D6FE7BD060}" destId="{68A09ABE-3DB5-7845-A43C-74F366CEF303}" srcOrd="0" destOrd="0" presId="urn:microsoft.com/office/officeart/2005/8/layout/process2"/>
    <dgm:cxn modelId="{B1B00B48-0AB4-4481-AAFC-BE11E53EBCC9}" type="presOf" srcId="{B904BE92-4863-DD49-8D48-BF19AB4DF205}" destId="{F0EAA1EE-8BF1-094A-99BF-1D38E232B61C}" srcOrd="0" destOrd="0" presId="urn:microsoft.com/office/officeart/2005/8/layout/process2"/>
    <dgm:cxn modelId="{D2F3757E-68B8-4F84-ADCD-4DA8B566BCDD}" type="presOf" srcId="{3733DE37-2545-D540-AF3A-0A78CE6F61C3}" destId="{DDE3C714-E1C5-5549-985D-75CA8326C57E}" srcOrd="1" destOrd="0" presId="urn:microsoft.com/office/officeart/2005/8/layout/process2"/>
    <dgm:cxn modelId="{C403B4B1-EF7C-2341-89FE-01C1954F4805}" srcId="{873DEFB6-9C67-1240-9381-16D6FE7BD060}" destId="{9089BCCB-9905-0741-B617-451AAD241744}" srcOrd="2" destOrd="0" parTransId="{BD79CD3A-23C7-3D4E-8ADE-DFD7E6F573C7}" sibTransId="{378D2606-33DF-3F4A-B8B6-32C52312CA3B}"/>
    <dgm:cxn modelId="{27DB9DF3-C8DA-9A4E-A83B-C5445CBD69F9}" srcId="{873DEFB6-9C67-1240-9381-16D6FE7BD060}" destId="{8E875347-FDCF-ED47-8611-2F54980608C9}" srcOrd="0" destOrd="0" parTransId="{F7B5D1D0-98E1-E94B-9E48-13DF3B65B970}" sibTransId="{0BFD6986-F01C-0F41-97A7-78D41EFC8021}"/>
    <dgm:cxn modelId="{AF210E1F-1534-4EC3-9101-CF8E6C4D3C30}" type="presOf" srcId="{0BFD6986-F01C-0F41-97A7-78D41EFC8021}" destId="{E27A7CA1-BF51-0D4A-A408-47070AFFF56D}" srcOrd="1" destOrd="0" presId="urn:microsoft.com/office/officeart/2005/8/layout/process2"/>
    <dgm:cxn modelId="{889D903E-8916-4590-A6ED-E8AF6253FEC0}" type="presOf" srcId="{3733DE37-2545-D540-AF3A-0A78CE6F61C3}" destId="{7D47E677-2FE0-8441-BE21-3995C99C022C}" srcOrd="0" destOrd="0" presId="urn:microsoft.com/office/officeart/2005/8/layout/process2"/>
    <dgm:cxn modelId="{9AEA848B-7295-459C-92A3-682AA6DF8E71}" type="presOf" srcId="{9089BCCB-9905-0741-B617-451AAD241744}" destId="{58444171-31F7-D547-B2DE-64D53E61D56B}" srcOrd="0" destOrd="0" presId="urn:microsoft.com/office/officeart/2005/8/layout/process2"/>
    <dgm:cxn modelId="{13F8C793-1412-AA42-A5F3-EAEE73B51B8F}" srcId="{873DEFB6-9C67-1240-9381-16D6FE7BD060}" destId="{B904BE92-4863-DD49-8D48-BF19AB4DF205}" srcOrd="1" destOrd="0" parTransId="{60C263C5-D1F0-844B-B49E-92CA2ECE1F8A}" sibTransId="{3733DE37-2545-D540-AF3A-0A78CE6F61C3}"/>
    <dgm:cxn modelId="{4617B053-D612-4ED0-96D8-3B0FED69DD03}" type="presOf" srcId="{0BFD6986-F01C-0F41-97A7-78D41EFC8021}" destId="{B6FA6BB2-0480-EC49-8A56-F35100D7EF1C}" srcOrd="0" destOrd="0" presId="urn:microsoft.com/office/officeart/2005/8/layout/process2"/>
    <dgm:cxn modelId="{5F1CD98B-43A0-42F9-A5B4-7F09D84870C1}" type="presOf" srcId="{8E875347-FDCF-ED47-8611-2F54980608C9}" destId="{5A697344-1A8F-4A4F-A960-749536E3F027}" srcOrd="0" destOrd="0" presId="urn:microsoft.com/office/officeart/2005/8/layout/process2"/>
    <dgm:cxn modelId="{FE27CEC5-A0D7-440B-8067-16F2A933F088}" type="presParOf" srcId="{68A09ABE-3DB5-7845-A43C-74F366CEF303}" destId="{5A697344-1A8F-4A4F-A960-749536E3F027}" srcOrd="0" destOrd="0" presId="urn:microsoft.com/office/officeart/2005/8/layout/process2"/>
    <dgm:cxn modelId="{175ADA77-3EE5-4752-BBB1-CBA8BBEF0716}" type="presParOf" srcId="{68A09ABE-3DB5-7845-A43C-74F366CEF303}" destId="{B6FA6BB2-0480-EC49-8A56-F35100D7EF1C}" srcOrd="1" destOrd="0" presId="urn:microsoft.com/office/officeart/2005/8/layout/process2"/>
    <dgm:cxn modelId="{1BEDCF54-2B2D-4884-AFE6-86B85F9C1001}" type="presParOf" srcId="{B6FA6BB2-0480-EC49-8A56-F35100D7EF1C}" destId="{E27A7CA1-BF51-0D4A-A408-47070AFFF56D}" srcOrd="0" destOrd="0" presId="urn:microsoft.com/office/officeart/2005/8/layout/process2"/>
    <dgm:cxn modelId="{C4ACC305-0C8F-4A0D-B1D0-A3C38A72B8D7}" type="presParOf" srcId="{68A09ABE-3DB5-7845-A43C-74F366CEF303}" destId="{F0EAA1EE-8BF1-094A-99BF-1D38E232B61C}" srcOrd="2" destOrd="0" presId="urn:microsoft.com/office/officeart/2005/8/layout/process2"/>
    <dgm:cxn modelId="{93C47EEE-ADD6-4463-B2B1-AC8395FAC155}" type="presParOf" srcId="{68A09ABE-3DB5-7845-A43C-74F366CEF303}" destId="{7D47E677-2FE0-8441-BE21-3995C99C022C}" srcOrd="3" destOrd="0" presId="urn:microsoft.com/office/officeart/2005/8/layout/process2"/>
    <dgm:cxn modelId="{8823D053-D97F-45D3-8A43-DEE0906A550E}" type="presParOf" srcId="{7D47E677-2FE0-8441-BE21-3995C99C022C}" destId="{DDE3C714-E1C5-5549-985D-75CA8326C57E}" srcOrd="0" destOrd="0" presId="urn:microsoft.com/office/officeart/2005/8/layout/process2"/>
    <dgm:cxn modelId="{5D68D7A5-0C7B-483F-AB12-0CD0D4911FA7}" type="presParOf" srcId="{68A09ABE-3DB5-7845-A43C-74F366CEF303}" destId="{58444171-31F7-D547-B2DE-64D53E61D56B}" srcOrd="4" destOrd="0" presId="urn:microsoft.com/office/officeart/2005/8/layout/process2"/>
  </dgm:cxnLst>
  <dgm:bg/>
  <dgm:whole/>
  <dgm:extLst>
    <a:ext uri="http://schemas.microsoft.com/office/drawing/2008/diagram">
      <dsp:dataModelExt xmlns=""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697344-1A8F-4A4F-A960-749536E3F027}">
      <dsp:nvSpPr>
        <dsp:cNvPr id="0" name=""/>
        <dsp:cNvSpPr/>
      </dsp:nvSpPr>
      <dsp:spPr>
        <a:xfrm>
          <a:off x="435414" y="0"/>
          <a:ext cx="3165406" cy="812788"/>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Compensated</a:t>
          </a:r>
          <a:endParaRPr lang="en-US" sz="3000" kern="1200" dirty="0"/>
        </a:p>
      </dsp:txBody>
      <dsp:txXfrm>
        <a:off x="459220" y="23806"/>
        <a:ext cx="3117794" cy="765176"/>
      </dsp:txXfrm>
    </dsp:sp>
    <dsp:sp modelId="{B6FA6BB2-0480-EC49-8A56-F35100D7EF1C}">
      <dsp:nvSpPr>
        <dsp:cNvPr id="0" name=""/>
        <dsp:cNvSpPr/>
      </dsp:nvSpPr>
      <dsp:spPr>
        <a:xfrm rot="5400000">
          <a:off x="1687855" y="857462"/>
          <a:ext cx="660524" cy="791351"/>
        </a:xfrm>
        <a:prstGeom prst="rightArrow">
          <a:avLst>
            <a:gd name="adj1" fmla="val 60000"/>
            <a:gd name="adj2" fmla="val 50000"/>
          </a:avLst>
        </a:prstGeom>
        <a:solidFill>
          <a:srgbClr val="FF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en-US" sz="2400" kern="1200"/>
        </a:p>
      </dsp:txBody>
      <dsp:txXfrm rot="-5400000">
        <a:off x="1780712" y="922876"/>
        <a:ext cx="474811" cy="462367"/>
      </dsp:txXfrm>
    </dsp:sp>
    <dsp:sp modelId="{F0EAA1EE-8BF1-094A-99BF-1D38E232B61C}">
      <dsp:nvSpPr>
        <dsp:cNvPr id="0" name=""/>
        <dsp:cNvSpPr/>
      </dsp:nvSpPr>
      <dsp:spPr>
        <a:xfrm>
          <a:off x="435414" y="1693487"/>
          <a:ext cx="3165406" cy="92948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Hypotensive</a:t>
          </a:r>
          <a:endParaRPr lang="en-US" sz="3000" kern="1200" dirty="0"/>
        </a:p>
      </dsp:txBody>
      <dsp:txXfrm>
        <a:off x="462638" y="1720711"/>
        <a:ext cx="3110958" cy="875038"/>
      </dsp:txXfrm>
    </dsp:sp>
    <dsp:sp modelId="{7D47E677-2FE0-8441-BE21-3995C99C022C}">
      <dsp:nvSpPr>
        <dsp:cNvPr id="0" name=""/>
        <dsp:cNvSpPr/>
      </dsp:nvSpPr>
      <dsp:spPr>
        <a:xfrm rot="5400000">
          <a:off x="1744679" y="2890403"/>
          <a:ext cx="659459" cy="344419"/>
        </a:xfrm>
        <a:prstGeom prst="rightArrow">
          <a:avLst>
            <a:gd name="adj1" fmla="val 60000"/>
            <a:gd name="adj2" fmla="val 50000"/>
          </a:avLst>
        </a:prstGeom>
        <a:solidFill>
          <a:srgbClr val="FF000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en-US" sz="2400" kern="1200"/>
        </a:p>
      </dsp:txBody>
      <dsp:txXfrm rot="-5400000">
        <a:off x="1971083" y="2732883"/>
        <a:ext cx="206651" cy="556133"/>
      </dsp:txXfrm>
    </dsp:sp>
    <dsp:sp modelId="{58444171-31F7-D547-B2DE-64D53E61D56B}">
      <dsp:nvSpPr>
        <dsp:cNvPr id="0" name=""/>
        <dsp:cNvSpPr/>
      </dsp:nvSpPr>
      <dsp:spPr>
        <a:xfrm>
          <a:off x="435414" y="3502253"/>
          <a:ext cx="3165406" cy="74341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Cardiac Arrest</a:t>
          </a:r>
          <a:endParaRPr lang="en-US" sz="3000" kern="1200" dirty="0"/>
        </a:p>
      </dsp:txBody>
      <dsp:txXfrm>
        <a:off x="457188" y="3524027"/>
        <a:ext cx="3121858" cy="69986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85ADCA-240E-4466-B4D5-5683C338A9E9}" type="datetimeFigureOut">
              <a:rPr lang="en-US" smtClean="0"/>
              <a:pPr/>
              <a:t>9/11/2024</a:t>
            </a:fld>
            <a:endParaRPr lang="en-US"/>
          </a:p>
        </p:txBody>
      </p:sp>
      <p:sp>
        <p:nvSpPr>
          <p:cNvPr id="4" name="Slide Image Placeholder 3"/>
          <p:cNvSpPr>
            <a:spLocks noGrp="1" noRot="1" noChangeAspect="1"/>
          </p:cNvSpPr>
          <p:nvPr>
            <p:ph type="sldImg" idx="2"/>
          </p:nvPr>
        </p:nvSpPr>
        <p:spPr>
          <a:xfrm>
            <a:off x="457200" y="685800"/>
            <a:ext cx="5943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D68E45-50B2-4ADB-BF1B-B662374E9D4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D68E45-50B2-4ADB-BF1B-B662374E9D49}"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43E8D40-7B02-4230-BFFC-16D6CAC49E63}" type="slidenum">
              <a:rPr lang="en-US" smtClean="0"/>
              <a:pPr/>
              <a:t>14</a:t>
            </a:fld>
            <a:endParaRPr lang="en-US"/>
          </a:p>
        </p:txBody>
      </p:sp>
    </p:spTree>
    <p:extLst>
      <p:ext uri="{BB962C8B-B14F-4D97-AF65-F5344CB8AC3E}">
        <p14:creationId xmlns="" xmlns:p14="http://schemas.microsoft.com/office/powerpoint/2010/main" val="333208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ea typeface="MS PGothic" panose="020B0600070205080204" pitchFamily="34" charset="-128"/>
              </a:rPr>
              <a:t>Early recognition &amp; timely intervention are critical to halting the progression from compensated shock to hypotensive shock to cardiopulmonary failure &amp; arrest</a:t>
            </a:r>
          </a:p>
        </p:txBody>
      </p:sp>
      <p:sp>
        <p:nvSpPr>
          <p:cNvPr id="27652"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563FBE2-D113-4D4D-83E0-55A3C47668BC}" type="slidenum">
              <a:rPr lang="en-US" altLang="en-US" smtClean="0">
                <a:latin typeface="Arial" panose="020B0604020202020204" pitchFamily="34" charset="0"/>
                <a:ea typeface="MS PGothic" panose="020B0600070205080204" pitchFamily="34" charset="-128"/>
              </a:rPr>
              <a:pPr>
                <a:spcBef>
                  <a:spcPct val="0"/>
                </a:spcBef>
              </a:pPr>
              <a:t>20</a:t>
            </a:fld>
            <a:endParaRPr lang="en-US" altLang="en-US" smtClean="0">
              <a:latin typeface="Arial" panose="020B0604020202020204" pitchFamily="34" charset="0"/>
              <a:ea typeface="MS PGothic" panose="020B0600070205080204" pitchFamily="34" charset="-128"/>
            </a:endParaRPr>
          </a:p>
        </p:txBody>
      </p:sp>
    </p:spTree>
    <p:extLst>
      <p:ext uri="{BB962C8B-B14F-4D97-AF65-F5344CB8AC3E}">
        <p14:creationId xmlns="" xmlns:p14="http://schemas.microsoft.com/office/powerpoint/2010/main" val="3305439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D68E45-50B2-4ADB-BF1B-B662374E9D49}" type="slidenum">
              <a:rPr lang="en-US" smtClean="0"/>
              <a:pPr/>
              <a:t>52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fld id="{5FD68E45-50B2-4ADB-BF1B-B662374E9D49}" type="slidenum">
              <a:rPr lang="en-US" smtClean="0"/>
              <a:pPr/>
              <a:t>55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D68E45-50B2-4ADB-BF1B-B662374E9D49}" type="slidenum">
              <a:rPr lang="en-US" smtClean="0"/>
              <a:pPr/>
              <a:t>63</a:t>
            </a:fld>
            <a:endParaRPr lang="en-US"/>
          </a:p>
        </p:txBody>
      </p:sp>
    </p:spTree>
    <p:extLst>
      <p:ext uri="{BB962C8B-B14F-4D97-AF65-F5344CB8AC3E}">
        <p14:creationId xmlns="" xmlns:p14="http://schemas.microsoft.com/office/powerpoint/2010/main" val="529209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5FD68E45-50B2-4ADB-BF1B-B662374E9D49}" type="slidenum">
              <a:rPr lang="en-US" smtClean="0"/>
              <a:pPr/>
              <a:t>64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D68E45-50B2-4ADB-BF1B-B662374E9D49}" type="slidenum">
              <a:rPr lang="en-US" smtClean="0"/>
              <a:pPr/>
              <a:t>65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36157" y="1334125"/>
            <a:ext cx="7496487" cy="2055917"/>
          </a:xfrm>
          <a:solidFill>
            <a:srgbClr val="2163AB"/>
          </a:solidFill>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323123" y="3829409"/>
            <a:ext cx="7409521" cy="1567050"/>
          </a:xfrm>
        </p:spPr>
        <p:txBody>
          <a:bodyPr>
            <a:normAutofit/>
          </a:bodyPr>
          <a:lstStyle>
            <a:lvl1pPr marL="0" indent="0" algn="ctr">
              <a:buNone/>
              <a:defRPr sz="3800" baseline="0">
                <a:solidFill>
                  <a:schemeClr val="tx1"/>
                </a:solidFill>
                <a:latin typeface="Gotham"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80DAC70D-6E90-430D-9773-497C3FE48975}" type="datetime1">
              <a:rPr lang="en-US" smtClean="0"/>
              <a:pPr/>
              <a:t>9/11/2024</a:t>
            </a:fld>
            <a:endParaRPr lang="en-US"/>
          </a:p>
        </p:txBody>
      </p:sp>
      <p:sp>
        <p:nvSpPr>
          <p:cNvPr id="5" name="Footer Placeholder 4"/>
          <p:cNvSpPr>
            <a:spLocks noGrp="1"/>
          </p:cNvSpPr>
          <p:nvPr>
            <p:ph type="ftr" sz="quarter" idx="11"/>
          </p:nvPr>
        </p:nvSpPr>
        <p:spPr/>
        <p:txBody>
          <a:bodyPr/>
          <a:lstStyle/>
          <a:p>
            <a:r>
              <a:rPr lang="en-US"/>
              <a:t>CKD ANEMIA </a:t>
            </a:r>
          </a:p>
        </p:txBody>
      </p:sp>
      <p:sp>
        <p:nvSpPr>
          <p:cNvPr id="6" name="Slide Number Placeholder 5"/>
          <p:cNvSpPr>
            <a:spLocks noGrp="1"/>
          </p:cNvSpPr>
          <p:nvPr>
            <p:ph type="sldNum" sz="quarter" idx="12"/>
          </p:nvPr>
        </p:nvSpPr>
        <p:spPr/>
        <p:txBody>
          <a:bodyPr/>
          <a:lstStyle/>
          <a:p>
            <a:fld id="{8E30B161-E1FF-F046-8250-F40BD7265985}" type="slidenum">
              <a:rPr lang="en-US" smtClean="0"/>
              <a:pPr/>
              <a:t>‹#›</a:t>
            </a:fld>
            <a:endParaRPr lang="en-US"/>
          </a:p>
        </p:txBody>
      </p:sp>
      <p:pic>
        <p:nvPicPr>
          <p:cNvPr id="7" name="Picture 6">
            <a:extLst>
              <a:ext uri="{FF2B5EF4-FFF2-40B4-BE49-F238E27FC236}">
                <a16:creationId xmlns="" xmlns:a16="http://schemas.microsoft.com/office/drawing/2014/main" id="{A1510541-2976-4C2D-9F7A-6DB360DCC37C}"/>
              </a:ext>
            </a:extLst>
          </p:cNvPr>
          <p:cNvPicPr>
            <a:picLocks noChangeAspect="1"/>
          </p:cNvPicPr>
          <p:nvPr userDrawn="1"/>
        </p:nvPicPr>
        <p:blipFill>
          <a:blip r:embed="rId2"/>
          <a:stretch>
            <a:fillRect/>
          </a:stretch>
        </p:blipFill>
        <p:spPr>
          <a:xfrm>
            <a:off x="9744246" y="1334124"/>
            <a:ext cx="2142954" cy="2906383"/>
          </a:xfrm>
          <a:prstGeom prst="rect">
            <a:avLst/>
          </a:prstGeom>
          <a:effectLst>
            <a:reflection endPos="0" dist="50800" dir="5400000" sy="-100000" algn="bl" rotWithShape="0"/>
          </a:effectLst>
        </p:spPr>
      </p:pic>
      <p:pic>
        <p:nvPicPr>
          <p:cNvPr id="8" name="Picture 7" descr="C:\Users\Newuser\Desktop\AAU.png"/>
          <p:cNvPicPr/>
          <p:nvPr userDrawn="1"/>
        </p:nvPicPr>
        <p:blipFill>
          <a:blip r:embed="rId3">
            <a:extLst>
              <a:ext uri="{28A0092B-C50C-407E-A947-70E740481C1C}">
                <a14:useLocalDpi xmlns="" xmlns:a14="http://schemas.microsoft.com/office/drawing/2010/main" val="0"/>
              </a:ext>
            </a:extLst>
          </a:blip>
          <a:srcRect/>
          <a:stretch>
            <a:fillRect/>
          </a:stretch>
        </p:blipFill>
        <p:spPr bwMode="auto">
          <a:xfrm>
            <a:off x="175385" y="1334124"/>
            <a:ext cx="1739234" cy="2055917"/>
          </a:xfrm>
          <a:prstGeom prst="rect">
            <a:avLst/>
          </a:prstGeom>
          <a:noFill/>
          <a:ln>
            <a:noFill/>
          </a:ln>
        </p:spPr>
      </p:pic>
    </p:spTree>
    <p:extLst>
      <p:ext uri="{BB962C8B-B14F-4D97-AF65-F5344CB8AC3E}">
        <p14:creationId xmlns="" xmlns:p14="http://schemas.microsoft.com/office/powerpoint/2010/main" val="1189095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a:bodyPr>
          <a:lstStyle>
            <a:lvl1pPr>
              <a:defRPr sz="4800" baseline="0">
                <a:solidFill>
                  <a:srgbClr val="2163AB"/>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E88CCBB-4E7C-45A7-8C00-945219713B85}" type="datetime1">
              <a:rPr lang="en-US" smtClean="0"/>
              <a:pPr/>
              <a:t>9/11/2024</a:t>
            </a:fld>
            <a:endParaRPr lang="en-US"/>
          </a:p>
        </p:txBody>
      </p:sp>
      <p:sp>
        <p:nvSpPr>
          <p:cNvPr id="5" name="Footer Placeholder 4"/>
          <p:cNvSpPr>
            <a:spLocks noGrp="1"/>
          </p:cNvSpPr>
          <p:nvPr>
            <p:ph type="ftr" sz="quarter" idx="11"/>
          </p:nvPr>
        </p:nvSpPr>
        <p:spPr/>
        <p:txBody>
          <a:bodyPr/>
          <a:lstStyle/>
          <a:p>
            <a:r>
              <a:rPr lang="en-US"/>
              <a:t>CKD ANEMIA </a:t>
            </a:r>
          </a:p>
        </p:txBody>
      </p:sp>
      <p:sp>
        <p:nvSpPr>
          <p:cNvPr id="6" name="Slide Number Placeholder 5"/>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1793991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1054" y="1709739"/>
            <a:ext cx="10252710" cy="2852737"/>
          </a:xfrm>
          <a:solidFill>
            <a:srgbClr val="2163AB"/>
          </a:solidFill>
        </p:spPr>
        <p:txBody>
          <a:bodyPr anchor="b"/>
          <a:lstStyle>
            <a:lvl1pPr>
              <a:defRPr sz="6000" baseline="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811054" y="4589464"/>
            <a:ext cx="1025271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01A106-5545-4F8D-AD0B-E490F77E8419}" type="datetime1">
              <a:rPr lang="en-US" smtClean="0"/>
              <a:pPr/>
              <a:t>9/11/2024</a:t>
            </a:fld>
            <a:endParaRPr lang="en-US"/>
          </a:p>
        </p:txBody>
      </p:sp>
      <p:sp>
        <p:nvSpPr>
          <p:cNvPr id="5" name="Footer Placeholder 4"/>
          <p:cNvSpPr>
            <a:spLocks noGrp="1"/>
          </p:cNvSpPr>
          <p:nvPr>
            <p:ph type="ftr" sz="quarter" idx="11"/>
          </p:nvPr>
        </p:nvSpPr>
        <p:spPr/>
        <p:txBody>
          <a:bodyPr/>
          <a:lstStyle/>
          <a:p>
            <a:r>
              <a:rPr lang="en-US"/>
              <a:t>CKD ANEMIA </a:t>
            </a:r>
          </a:p>
        </p:txBody>
      </p:sp>
      <p:sp>
        <p:nvSpPr>
          <p:cNvPr id="6" name="Slide Number Placeholder 5"/>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945560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7245" y="1825625"/>
            <a:ext cx="505206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017895" y="1825625"/>
            <a:ext cx="50520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57F1E4-4E4C-4425-93DB-29C3A312F457}" type="datetime1">
              <a:rPr lang="en-US" smtClean="0"/>
              <a:pPr/>
              <a:t>9/11/2024</a:t>
            </a:fld>
            <a:endParaRPr lang="en-US"/>
          </a:p>
        </p:txBody>
      </p:sp>
      <p:sp>
        <p:nvSpPr>
          <p:cNvPr id="6" name="Footer Placeholder 5"/>
          <p:cNvSpPr>
            <a:spLocks noGrp="1"/>
          </p:cNvSpPr>
          <p:nvPr>
            <p:ph type="ftr" sz="quarter" idx="11"/>
          </p:nvPr>
        </p:nvSpPr>
        <p:spPr/>
        <p:txBody>
          <a:bodyPr/>
          <a:lstStyle/>
          <a:p>
            <a:r>
              <a:rPr lang="en-US"/>
              <a:t>CKD ANEMIA </a:t>
            </a:r>
          </a:p>
        </p:txBody>
      </p:sp>
      <p:sp>
        <p:nvSpPr>
          <p:cNvPr id="7" name="Slide Number Placeholder 6"/>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650671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8793" y="365126"/>
            <a:ext cx="10252710" cy="1325563"/>
          </a:xfrm>
        </p:spPr>
        <p:txBody>
          <a:bodyPr/>
          <a:lstStyle/>
          <a:p>
            <a:r>
              <a:rPr lang="en-US" dirty="0"/>
              <a:t>Click to edit Master title style</a:t>
            </a:r>
          </a:p>
        </p:txBody>
      </p:sp>
      <p:sp>
        <p:nvSpPr>
          <p:cNvPr id="3" name="Text Placeholder 2"/>
          <p:cNvSpPr>
            <a:spLocks noGrp="1"/>
          </p:cNvSpPr>
          <p:nvPr>
            <p:ph type="body" idx="1"/>
          </p:nvPr>
        </p:nvSpPr>
        <p:spPr>
          <a:xfrm>
            <a:off x="818794" y="1681163"/>
            <a:ext cx="5028842" cy="823912"/>
          </a:xfrm>
          <a:solidFill>
            <a:srgbClr val="2163AB"/>
          </a:solidFill>
        </p:spPr>
        <p:txBody>
          <a:bodyPr anchor="b"/>
          <a:lstStyle>
            <a:lvl1pPr marL="0" indent="0">
              <a:buNone/>
              <a:defRPr sz="2400" b="1"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18794" y="2505075"/>
            <a:ext cx="5028842"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17895" y="1681163"/>
            <a:ext cx="5053608" cy="823912"/>
          </a:xfrm>
          <a:solidFill>
            <a:srgbClr val="2163AB"/>
          </a:solidFill>
        </p:spPr>
        <p:txBody>
          <a:bodyPr anchor="b"/>
          <a:lstStyle>
            <a:lvl1pPr marL="0" indent="0">
              <a:buNone/>
              <a:defRPr sz="2400" b="1"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017895" y="2505075"/>
            <a:ext cx="505360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CFCDC6-85C2-4F92-A298-213F6FBEF179}" type="datetime1">
              <a:rPr lang="en-US" smtClean="0"/>
              <a:pPr/>
              <a:t>9/11/2024</a:t>
            </a:fld>
            <a:endParaRPr lang="en-US"/>
          </a:p>
        </p:txBody>
      </p:sp>
      <p:sp>
        <p:nvSpPr>
          <p:cNvPr id="8" name="Footer Placeholder 7"/>
          <p:cNvSpPr>
            <a:spLocks noGrp="1"/>
          </p:cNvSpPr>
          <p:nvPr>
            <p:ph type="ftr" sz="quarter" idx="11"/>
          </p:nvPr>
        </p:nvSpPr>
        <p:spPr/>
        <p:txBody>
          <a:bodyPr/>
          <a:lstStyle/>
          <a:p>
            <a:r>
              <a:rPr lang="en-US"/>
              <a:t>CKD ANEMIA </a:t>
            </a:r>
          </a:p>
        </p:txBody>
      </p:sp>
      <p:sp>
        <p:nvSpPr>
          <p:cNvPr id="9" name="Slide Number Placeholder 8"/>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853220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9DDC5F-737D-4767-93AC-6A9009C26ADA}" type="datetime1">
              <a:rPr lang="en-US" smtClean="0"/>
              <a:pPr/>
              <a:t>9/11/2024</a:t>
            </a:fld>
            <a:endParaRPr lang="en-US"/>
          </a:p>
        </p:txBody>
      </p:sp>
      <p:sp>
        <p:nvSpPr>
          <p:cNvPr id="4" name="Footer Placeholder 3"/>
          <p:cNvSpPr>
            <a:spLocks noGrp="1"/>
          </p:cNvSpPr>
          <p:nvPr>
            <p:ph type="ftr" sz="quarter" idx="11"/>
          </p:nvPr>
        </p:nvSpPr>
        <p:spPr/>
        <p:txBody>
          <a:bodyPr/>
          <a:lstStyle/>
          <a:p>
            <a:r>
              <a:rPr lang="en-US"/>
              <a:t>CKD ANEMIA </a:t>
            </a:r>
          </a:p>
        </p:txBody>
      </p:sp>
      <p:sp>
        <p:nvSpPr>
          <p:cNvPr id="5" name="Slide Number Placeholder 4"/>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1328010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A60377-DA6B-41A8-8AE2-326F16301919}" type="datetime1">
              <a:rPr lang="en-US" smtClean="0"/>
              <a:pPr/>
              <a:t>9/11/2024</a:t>
            </a:fld>
            <a:endParaRPr lang="en-US"/>
          </a:p>
        </p:txBody>
      </p:sp>
      <p:sp>
        <p:nvSpPr>
          <p:cNvPr id="3" name="Footer Placeholder 2"/>
          <p:cNvSpPr>
            <a:spLocks noGrp="1"/>
          </p:cNvSpPr>
          <p:nvPr>
            <p:ph type="ftr" sz="quarter" idx="11"/>
          </p:nvPr>
        </p:nvSpPr>
        <p:spPr/>
        <p:txBody>
          <a:bodyPr/>
          <a:lstStyle/>
          <a:p>
            <a:r>
              <a:rPr lang="en-US"/>
              <a:t>CKD ANEMIA </a:t>
            </a:r>
          </a:p>
        </p:txBody>
      </p:sp>
      <p:sp>
        <p:nvSpPr>
          <p:cNvPr id="4" name="Slide Number Placeholder 3"/>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1076980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794" y="457200"/>
            <a:ext cx="3833931"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053608" y="987426"/>
            <a:ext cx="601789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8794" y="2057400"/>
            <a:ext cx="383393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153B29-9C50-4383-AF06-6CBDEF2021C9}" type="datetime1">
              <a:rPr lang="en-US" smtClean="0"/>
              <a:pPr/>
              <a:t>9/11/2024</a:t>
            </a:fld>
            <a:endParaRPr lang="en-US"/>
          </a:p>
        </p:txBody>
      </p:sp>
      <p:sp>
        <p:nvSpPr>
          <p:cNvPr id="6" name="Footer Placeholder 5"/>
          <p:cNvSpPr>
            <a:spLocks noGrp="1"/>
          </p:cNvSpPr>
          <p:nvPr>
            <p:ph type="ftr" sz="quarter" idx="11"/>
          </p:nvPr>
        </p:nvSpPr>
        <p:spPr/>
        <p:txBody>
          <a:bodyPr/>
          <a:lstStyle/>
          <a:p>
            <a:r>
              <a:rPr lang="en-US"/>
              <a:t>CKD ANEMIA </a:t>
            </a:r>
          </a:p>
        </p:txBody>
      </p:sp>
      <p:sp>
        <p:nvSpPr>
          <p:cNvPr id="7" name="Slide Number Placeholder 6"/>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1822162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794" y="457200"/>
            <a:ext cx="3833931"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053608" y="987426"/>
            <a:ext cx="601789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18794" y="2057400"/>
            <a:ext cx="383393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A118D-7124-4E4F-B3D5-F7721A52D5E3}" type="datetime1">
              <a:rPr lang="en-US" smtClean="0"/>
              <a:pPr/>
              <a:t>9/11/2024</a:t>
            </a:fld>
            <a:endParaRPr lang="en-US"/>
          </a:p>
        </p:txBody>
      </p:sp>
      <p:sp>
        <p:nvSpPr>
          <p:cNvPr id="6" name="Footer Placeholder 5"/>
          <p:cNvSpPr>
            <a:spLocks noGrp="1"/>
          </p:cNvSpPr>
          <p:nvPr>
            <p:ph type="ftr" sz="quarter" idx="11"/>
          </p:nvPr>
        </p:nvSpPr>
        <p:spPr/>
        <p:txBody>
          <a:bodyPr/>
          <a:lstStyle/>
          <a:p>
            <a:r>
              <a:rPr lang="en-US"/>
              <a:t>CKD ANEMIA </a:t>
            </a:r>
          </a:p>
        </p:txBody>
      </p:sp>
      <p:sp>
        <p:nvSpPr>
          <p:cNvPr id="7" name="Slide Number Placeholder 6"/>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1964381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6B645A-4FD4-438F-8515-70A5BBBD78CA}" type="datetime1">
              <a:rPr lang="en-US" smtClean="0"/>
              <a:pPr/>
              <a:t>9/11/2024</a:t>
            </a:fld>
            <a:endParaRPr lang="en-US"/>
          </a:p>
        </p:txBody>
      </p:sp>
      <p:sp>
        <p:nvSpPr>
          <p:cNvPr id="5" name="Footer Placeholder 4"/>
          <p:cNvSpPr>
            <a:spLocks noGrp="1"/>
          </p:cNvSpPr>
          <p:nvPr>
            <p:ph type="ftr" sz="quarter" idx="11"/>
          </p:nvPr>
        </p:nvSpPr>
        <p:spPr/>
        <p:txBody>
          <a:bodyPr/>
          <a:lstStyle/>
          <a:p>
            <a:r>
              <a:rPr lang="en-US"/>
              <a:t>CKD ANEMIA </a:t>
            </a:r>
          </a:p>
        </p:txBody>
      </p:sp>
      <p:sp>
        <p:nvSpPr>
          <p:cNvPr id="6" name="Slide Number Placeholder 5"/>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209603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06777" y="365125"/>
            <a:ext cx="2563178"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7245" y="365125"/>
            <a:ext cx="7540943"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128B50-6C91-41A7-A315-B1792599BA6F}" type="datetime1">
              <a:rPr lang="en-US" smtClean="0"/>
              <a:pPr/>
              <a:t>9/11/2024</a:t>
            </a:fld>
            <a:endParaRPr lang="en-US"/>
          </a:p>
        </p:txBody>
      </p:sp>
      <p:sp>
        <p:nvSpPr>
          <p:cNvPr id="5" name="Footer Placeholder 4"/>
          <p:cNvSpPr>
            <a:spLocks noGrp="1"/>
          </p:cNvSpPr>
          <p:nvPr>
            <p:ph type="ftr" sz="quarter" idx="11"/>
          </p:nvPr>
        </p:nvSpPr>
        <p:spPr/>
        <p:txBody>
          <a:bodyPr/>
          <a:lstStyle/>
          <a:p>
            <a:r>
              <a:rPr lang="en-US"/>
              <a:t>CKD ANEMIA </a:t>
            </a:r>
          </a:p>
        </p:txBody>
      </p:sp>
      <p:sp>
        <p:nvSpPr>
          <p:cNvPr id="6" name="Slide Number Placeholder 5"/>
          <p:cNvSpPr>
            <a:spLocks noGrp="1"/>
          </p:cNvSpPr>
          <p:nvPr>
            <p:ph type="sldNum" sz="quarter" idx="12"/>
          </p:nvPr>
        </p:nvSpPr>
        <p:spPr/>
        <p:txBody>
          <a:bodyPr/>
          <a:lstStyle/>
          <a:p>
            <a:fld id="{8E30B161-E1FF-F046-8250-F40BD7265985}" type="slidenum">
              <a:rPr lang="en-US" smtClean="0"/>
              <a:pPr/>
              <a:t>‹#›</a:t>
            </a:fld>
            <a:endParaRPr lang="en-US"/>
          </a:p>
        </p:txBody>
      </p:sp>
    </p:spTree>
    <p:extLst>
      <p:ext uri="{BB962C8B-B14F-4D97-AF65-F5344CB8AC3E}">
        <p14:creationId xmlns="" xmlns:p14="http://schemas.microsoft.com/office/powerpoint/2010/main" val="723608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7245" y="365126"/>
            <a:ext cx="1025271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17245" y="1825625"/>
            <a:ext cx="102527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17245" y="6356351"/>
            <a:ext cx="267462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98070-D17C-45BF-9EAE-02022B84D626}" type="datetime1">
              <a:rPr lang="en-US" smtClean="0"/>
              <a:pPr/>
              <a:t>9/11/2024</a:t>
            </a:fld>
            <a:endParaRPr lang="en-US"/>
          </a:p>
        </p:txBody>
      </p:sp>
      <p:sp>
        <p:nvSpPr>
          <p:cNvPr id="5" name="Footer Placeholder 4"/>
          <p:cNvSpPr>
            <a:spLocks noGrp="1"/>
          </p:cNvSpPr>
          <p:nvPr>
            <p:ph type="ftr" sz="quarter" idx="3"/>
          </p:nvPr>
        </p:nvSpPr>
        <p:spPr>
          <a:xfrm>
            <a:off x="3937635" y="6356351"/>
            <a:ext cx="401193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CKD ANEMIA </a:t>
            </a:r>
          </a:p>
        </p:txBody>
      </p:sp>
      <p:sp>
        <p:nvSpPr>
          <p:cNvPr id="6" name="Slide Number Placeholder 5"/>
          <p:cNvSpPr>
            <a:spLocks noGrp="1"/>
          </p:cNvSpPr>
          <p:nvPr>
            <p:ph type="sldNum" sz="quarter" idx="4"/>
          </p:nvPr>
        </p:nvSpPr>
        <p:spPr>
          <a:xfrm>
            <a:off x="8395335" y="6356351"/>
            <a:ext cx="267462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30B161-E1FF-F046-8250-F40BD7265985}" type="slidenum">
              <a:rPr lang="en-US" smtClean="0"/>
              <a:pPr/>
              <a:t>‹#›</a:t>
            </a:fld>
            <a:endParaRPr lang="en-US"/>
          </a:p>
        </p:txBody>
      </p:sp>
      <p:pic>
        <p:nvPicPr>
          <p:cNvPr id="7" name="Picture 6">
            <a:extLst>
              <a:ext uri="{FF2B5EF4-FFF2-40B4-BE49-F238E27FC236}">
                <a16:creationId xmlns="" xmlns:a16="http://schemas.microsoft.com/office/drawing/2014/main" id="{B7E9EF2A-B574-49CE-924E-9EF93F4903FD}"/>
              </a:ext>
            </a:extLst>
          </p:cNvPr>
          <p:cNvPicPr>
            <a:picLocks noChangeAspect="1"/>
          </p:cNvPicPr>
          <p:nvPr userDrawn="1"/>
        </p:nvPicPr>
        <p:blipFill>
          <a:blip r:embed="rId13"/>
          <a:stretch>
            <a:fillRect/>
          </a:stretch>
        </p:blipFill>
        <p:spPr>
          <a:xfrm>
            <a:off x="10349547" y="5997564"/>
            <a:ext cx="1537653" cy="787072"/>
          </a:xfrm>
          <a:prstGeom prst="rect">
            <a:avLst/>
          </a:prstGeom>
        </p:spPr>
      </p:pic>
      <p:sp>
        <p:nvSpPr>
          <p:cNvPr id="9" name="Rectangle 8">
            <a:extLst>
              <a:ext uri="{FF2B5EF4-FFF2-40B4-BE49-F238E27FC236}">
                <a16:creationId xmlns="" xmlns:a16="http://schemas.microsoft.com/office/drawing/2014/main" id="{A0698C84-1C87-42CB-94CD-C374F67FF580}"/>
              </a:ext>
            </a:extLst>
          </p:cNvPr>
          <p:cNvSpPr/>
          <p:nvPr userDrawn="1"/>
        </p:nvSpPr>
        <p:spPr>
          <a:xfrm>
            <a:off x="76419" y="6069227"/>
            <a:ext cx="11810781" cy="45719"/>
          </a:xfrm>
          <a:prstGeom prst="rect">
            <a:avLst/>
          </a:prstGeom>
          <a:solidFill>
            <a:srgbClr val="2163AB"/>
          </a:solidFill>
          <a:ln w="6350"/>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777267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baseline="0">
          <a:solidFill>
            <a:srgbClr val="2163AB"/>
          </a:solidFill>
          <a:latin typeface="Gotham" charset="0"/>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baseline="0">
          <a:solidFill>
            <a:schemeClr val="tx1"/>
          </a:solidFill>
          <a:latin typeface="Gotham"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chemeClr val="tx1"/>
          </a:solidFill>
          <a:latin typeface="Gotham"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chemeClr val="tx1"/>
          </a:solidFill>
          <a:latin typeface="Gotham"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chemeClr val="tx1"/>
          </a:solidFill>
          <a:latin typeface="Gotham"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chemeClr val="tx1"/>
          </a:solidFill>
          <a:latin typeface="Gotham"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diagramData" Target="../diagrams/data1.xml"/><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0099" y="1669774"/>
            <a:ext cx="8155277" cy="1720268"/>
          </a:xfrm>
        </p:spPr>
        <p:txBody>
          <a:bodyPr>
            <a:normAutofit/>
          </a:bodyPr>
          <a:lstStyle/>
          <a:p>
            <a:r>
              <a:rPr lang="en-US" sz="4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Pediatric Shock</a:t>
            </a:r>
            <a:r>
              <a:rPr lang="en-US"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sz="48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3366" y="3808675"/>
            <a:ext cx="11696369" cy="2282024"/>
          </a:xfrm>
        </p:spPr>
        <p:txBody>
          <a:bodyPr>
            <a:noAutofit/>
          </a:bodyPr>
          <a:lstStyle/>
          <a:p>
            <a:r>
              <a:rPr lang="en-US" sz="2800" b="1" dirty="0" smtClean="0"/>
              <a:t> Dr. Melat S. </a:t>
            </a:r>
            <a:r>
              <a:rPr lang="en-US" sz="2800" b="1" dirty="0"/>
              <a:t>(</a:t>
            </a:r>
            <a:r>
              <a:rPr lang="en-US" sz="2800" b="1" dirty="0" smtClean="0"/>
              <a:t>PCHR3)</a:t>
            </a:r>
            <a:endParaRPr lang="en-US" sz="2800" b="1" dirty="0">
              <a:latin typeface="Times New Roman" panose="02020603050405020304" pitchFamily="18" charset="0"/>
              <a:cs typeface="Times New Roman" panose="02020603050405020304" pitchFamily="18" charset="0"/>
            </a:endParaRPr>
          </a:p>
          <a:p>
            <a:endParaRPr lang="en-US" sz="2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2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August</a:t>
            </a:r>
            <a:r>
              <a:rPr lang="en-US"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2024</a:t>
            </a:r>
          </a:p>
          <a:p>
            <a:endParaRPr lang="en-US" sz="2800" b="1" i="1" dirty="0">
              <a:effectLst>
                <a:outerShdw blurRad="38100" dist="38100" dir="2700000" algn="tl">
                  <a:srgbClr val="000000">
                    <a:alpha val="43137"/>
                  </a:srgbClr>
                </a:outerShdw>
              </a:effectLst>
            </a:endParaRPr>
          </a:p>
        </p:txBody>
      </p:sp>
    </p:spTree>
    <p:extLst>
      <p:ext uri="{BB962C8B-B14F-4D97-AF65-F5344CB8AC3E}">
        <p14:creationId xmlns="" xmlns:p14="http://schemas.microsoft.com/office/powerpoint/2010/main" val="6428125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680" b="1" dirty="0">
                <a:solidFill>
                  <a:schemeClr val="accent5"/>
                </a:solidFill>
              </a:rPr>
              <a:t>Outlines</a:t>
            </a:r>
            <a:endParaRPr lang="en-US" b="1" dirty="0">
              <a:solidFill>
                <a:schemeClr val="accent5"/>
              </a:solidFill>
            </a:endParaRPr>
          </a:p>
        </p:txBody>
      </p:sp>
      <p:sp>
        <p:nvSpPr>
          <p:cNvPr id="3" name="Content Placeholder 2"/>
          <p:cNvSpPr>
            <a:spLocks noGrp="1"/>
          </p:cNvSpPr>
          <p:nvPr>
            <p:ph idx="1"/>
          </p:nvPr>
        </p:nvSpPr>
        <p:spPr/>
        <p:txBody>
          <a:bodyPr>
            <a:normAutofit fontScale="92500" lnSpcReduction="20000"/>
          </a:bodyPr>
          <a:lstStyle/>
          <a:p>
            <a:r>
              <a:rPr lang="en-US" sz="2925" dirty="0"/>
              <a:t>Definition</a:t>
            </a:r>
          </a:p>
          <a:p>
            <a:r>
              <a:rPr lang="en-US" sz="2925" dirty="0"/>
              <a:t>Epidemiology</a:t>
            </a:r>
          </a:p>
          <a:p>
            <a:r>
              <a:rPr lang="en-US" sz="2925" dirty="0"/>
              <a:t>Types of shock</a:t>
            </a:r>
          </a:p>
          <a:p>
            <a:r>
              <a:rPr lang="en-US" sz="2925" dirty="0"/>
              <a:t>Pathophysiology of shock</a:t>
            </a:r>
          </a:p>
          <a:p>
            <a:r>
              <a:rPr lang="en-US" sz="2925" dirty="0"/>
              <a:t>Clinical manifestation of shock</a:t>
            </a:r>
          </a:p>
          <a:p>
            <a:r>
              <a:rPr lang="en-US" sz="2925" dirty="0"/>
              <a:t>Diagnosis</a:t>
            </a:r>
          </a:p>
          <a:p>
            <a:r>
              <a:rPr lang="en-US" sz="2925" dirty="0"/>
              <a:t>Laboratory findings</a:t>
            </a:r>
          </a:p>
          <a:p>
            <a:r>
              <a:rPr lang="en-US" sz="2925" dirty="0"/>
              <a:t>Treatment of shock</a:t>
            </a:r>
          </a:p>
          <a:p>
            <a:r>
              <a:rPr lang="en-US" sz="2925" dirty="0"/>
              <a:t>Prognosis</a:t>
            </a:r>
          </a:p>
          <a:p>
            <a:r>
              <a:rPr lang="en-US" sz="2925" dirty="0"/>
              <a:t>References</a:t>
            </a:r>
          </a:p>
          <a:p>
            <a:endParaRPr lang="en-US" dirty="0" smtClean="0"/>
          </a:p>
          <a:p>
            <a:endParaRPr lang="en-US" dirty="0"/>
          </a:p>
        </p:txBody>
      </p:sp>
    </p:spTree>
    <p:extLst>
      <p:ext uri="{BB962C8B-B14F-4D97-AF65-F5344CB8AC3E}">
        <p14:creationId xmlns="" xmlns:p14="http://schemas.microsoft.com/office/powerpoint/2010/main" val="26460528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680" b="1" dirty="0">
                <a:solidFill>
                  <a:schemeClr val="accent5"/>
                </a:solidFill>
              </a:rPr>
              <a:t>Definition</a:t>
            </a:r>
            <a:endParaRPr lang="en-US" b="1" dirty="0">
              <a:solidFill>
                <a:schemeClr val="accent5"/>
              </a:solidFill>
            </a:endParaRPr>
          </a:p>
        </p:txBody>
      </p:sp>
      <p:sp>
        <p:nvSpPr>
          <p:cNvPr id="3" name="Content Placeholder 2"/>
          <p:cNvSpPr>
            <a:spLocks noGrp="1"/>
          </p:cNvSpPr>
          <p:nvPr>
            <p:ph idx="1"/>
          </p:nvPr>
        </p:nvSpPr>
        <p:spPr/>
        <p:txBody>
          <a:bodyPr>
            <a:normAutofit/>
          </a:bodyPr>
          <a:lstStyle/>
          <a:p>
            <a:r>
              <a:rPr lang="en-US" sz="3200" b="1" i="1" dirty="0" smtClean="0">
                <a:solidFill>
                  <a:schemeClr val="accent5"/>
                </a:solidFill>
              </a:rPr>
              <a:t>Shock </a:t>
            </a:r>
            <a:r>
              <a:rPr lang="en-US" sz="3200" i="1" dirty="0" smtClean="0"/>
              <a:t> </a:t>
            </a:r>
            <a:r>
              <a:rPr lang="en-US" sz="3200" dirty="0"/>
              <a:t>is an </a:t>
            </a:r>
            <a:r>
              <a:rPr lang="en-US" sz="3200" dirty="0">
                <a:solidFill>
                  <a:srgbClr val="FF0000"/>
                </a:solidFill>
              </a:rPr>
              <a:t>acute</a:t>
            </a:r>
            <a:r>
              <a:rPr lang="en-US" sz="3200" dirty="0"/>
              <a:t>, </a:t>
            </a:r>
            <a:r>
              <a:rPr lang="en-US" sz="3200" dirty="0">
                <a:solidFill>
                  <a:srgbClr val="FF0000"/>
                </a:solidFill>
              </a:rPr>
              <a:t>life-threatening</a:t>
            </a:r>
            <a:r>
              <a:rPr lang="en-US" sz="3200" dirty="0"/>
              <a:t> process of </a:t>
            </a:r>
            <a:r>
              <a:rPr lang="en-US" sz="3200" dirty="0">
                <a:solidFill>
                  <a:srgbClr val="FF0000"/>
                </a:solidFill>
              </a:rPr>
              <a:t>cardiovascular</a:t>
            </a:r>
            <a:r>
              <a:rPr lang="en-US" sz="3200" dirty="0"/>
              <a:t> </a:t>
            </a:r>
            <a:r>
              <a:rPr lang="en-US" sz="3200" dirty="0">
                <a:solidFill>
                  <a:srgbClr val="FF0000"/>
                </a:solidFill>
              </a:rPr>
              <a:t>insufficiency</a:t>
            </a:r>
            <a:r>
              <a:rPr lang="en-US" sz="3200" dirty="0"/>
              <a:t> characterized by inadequate delivery of </a:t>
            </a:r>
            <a:r>
              <a:rPr lang="en-US" sz="3200" dirty="0">
                <a:solidFill>
                  <a:srgbClr val="FF0000"/>
                </a:solidFill>
              </a:rPr>
              <a:t>oxygen</a:t>
            </a:r>
            <a:r>
              <a:rPr lang="en-US" sz="3200" dirty="0"/>
              <a:t> and </a:t>
            </a:r>
            <a:r>
              <a:rPr lang="en-US" sz="3200" dirty="0">
                <a:solidFill>
                  <a:srgbClr val="FF0000"/>
                </a:solidFill>
              </a:rPr>
              <a:t>nutrients</a:t>
            </a:r>
            <a:r>
              <a:rPr lang="en-US" sz="3200" dirty="0"/>
              <a:t> (e.g., glucose) by the circulatory system to meet the metabolic demands of vital organs that results in cellular dysfunction and injury. </a:t>
            </a:r>
            <a:r>
              <a:rPr lang="en-US" sz="3200" dirty="0" smtClean="0"/>
              <a:t/>
            </a:r>
            <a:br>
              <a:rPr lang="en-US" sz="3200" dirty="0" smtClean="0"/>
            </a:br>
            <a:endParaRPr lang="en-US" sz="3200" dirty="0"/>
          </a:p>
        </p:txBody>
      </p:sp>
    </p:spTree>
    <p:extLst>
      <p:ext uri="{BB962C8B-B14F-4D97-AF65-F5344CB8AC3E}">
        <p14:creationId xmlns="" xmlns:p14="http://schemas.microsoft.com/office/powerpoint/2010/main" val="7912090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a:t/>
            </a:r>
            <a:br>
              <a:rPr lang="en-US" b="1" dirty="0"/>
            </a:br>
            <a:r>
              <a:rPr lang="en-US" sz="5168" b="1" dirty="0">
                <a:solidFill>
                  <a:schemeClr val="accent5"/>
                </a:solidFill>
              </a:rPr>
              <a:t>Epidemiology</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a:t>Shock occurs in approximately 2% of all hospitalized infants, children, and adults in developed </a:t>
            </a:r>
            <a:r>
              <a:rPr lang="en-US" dirty="0" smtClean="0"/>
              <a:t>countries,</a:t>
            </a:r>
          </a:p>
          <a:p>
            <a:endParaRPr lang="en-US" dirty="0" smtClean="0"/>
          </a:p>
          <a:p>
            <a:r>
              <a:rPr lang="en-US" dirty="0" smtClean="0"/>
              <a:t> </a:t>
            </a:r>
            <a:r>
              <a:rPr lang="en-US" dirty="0"/>
              <a:t>A</a:t>
            </a:r>
            <a:r>
              <a:rPr lang="en-US" dirty="0" smtClean="0"/>
              <a:t>nd the mortality rate varies substantially depending on the etiology and clinical circumstances. </a:t>
            </a:r>
          </a:p>
          <a:p>
            <a:endParaRPr lang="en-US" dirty="0"/>
          </a:p>
          <a:p>
            <a:pPr marL="0" indent="0">
              <a:buNone/>
            </a:pPr>
            <a:endParaRPr lang="en-US" dirty="0" smtClean="0"/>
          </a:p>
        </p:txBody>
      </p:sp>
    </p:spTree>
    <p:extLst>
      <p:ext uri="{BB962C8B-B14F-4D97-AF65-F5344CB8AC3E}">
        <p14:creationId xmlns="" xmlns:p14="http://schemas.microsoft.com/office/powerpoint/2010/main" val="37731379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245" y="409595"/>
            <a:ext cx="10252710" cy="1292424"/>
          </a:xfrm>
        </p:spPr>
        <p:txBody>
          <a:bodyPr>
            <a:normAutofit/>
          </a:bodyPr>
          <a:lstStyle/>
          <a:p>
            <a:r>
              <a:rPr lang="en-US" sz="5265" b="1" dirty="0">
                <a:solidFill>
                  <a:schemeClr val="accent5"/>
                </a:solidFill>
              </a:rPr>
              <a:t>Types of Shock</a:t>
            </a:r>
          </a:p>
        </p:txBody>
      </p:sp>
      <p:sp>
        <p:nvSpPr>
          <p:cNvPr id="3" name="Content Placeholder 2"/>
          <p:cNvSpPr>
            <a:spLocks noGrp="1"/>
          </p:cNvSpPr>
          <p:nvPr>
            <p:ph idx="1"/>
          </p:nvPr>
        </p:nvSpPr>
        <p:spPr/>
        <p:txBody>
          <a:bodyPr/>
          <a:lstStyle/>
          <a:p>
            <a:endParaRPr lang="en-US" dirty="0"/>
          </a:p>
        </p:txBody>
      </p:sp>
      <p:pic>
        <p:nvPicPr>
          <p:cNvPr id="4" name="Content Placeholder 5"/>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1314604"/>
            <a:ext cx="11887200" cy="5011900"/>
          </a:xfrm>
          <a:prstGeom prst="rect">
            <a:avLst/>
          </a:prstGeom>
        </p:spPr>
      </p:pic>
    </p:spTree>
    <p:extLst>
      <p:ext uri="{BB962C8B-B14F-4D97-AF65-F5344CB8AC3E}">
        <p14:creationId xmlns="" xmlns:p14="http://schemas.microsoft.com/office/powerpoint/2010/main" val="29952843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Hypovolemic shock</a:t>
            </a:r>
          </a:p>
        </p:txBody>
      </p:sp>
      <p:sp>
        <p:nvSpPr>
          <p:cNvPr id="3" name="Content Placeholder 2"/>
          <p:cNvSpPr>
            <a:spLocks noGrp="1"/>
          </p:cNvSpPr>
          <p:nvPr>
            <p:ph idx="1"/>
          </p:nvPr>
        </p:nvSpPr>
        <p:spPr/>
        <p:txBody>
          <a:bodyPr>
            <a:normAutofit/>
          </a:bodyPr>
          <a:lstStyle/>
          <a:p>
            <a:pPr marL="0" indent="0">
              <a:buNone/>
            </a:pPr>
            <a:endParaRPr lang="en-US" dirty="0" smtClean="0"/>
          </a:p>
          <a:p>
            <a:pPr>
              <a:buFont typeface="Courier New" panose="02070309020205020404" pitchFamily="49" charset="0"/>
              <a:buChar char="o"/>
            </a:pPr>
            <a:r>
              <a:rPr lang="en-US" dirty="0" smtClean="0"/>
              <a:t>The most common </a:t>
            </a:r>
            <a:r>
              <a:rPr lang="en-US" dirty="0"/>
              <a:t>cause of shock in children </a:t>
            </a:r>
            <a:r>
              <a:rPr lang="en-US" dirty="0" smtClean="0"/>
              <a:t>worldwide.</a:t>
            </a:r>
          </a:p>
          <a:p>
            <a:pPr>
              <a:buFont typeface="Courier New" panose="02070309020205020404" pitchFamily="49" charset="0"/>
              <a:buChar char="o"/>
            </a:pPr>
            <a:r>
              <a:rPr lang="en-US" dirty="0" smtClean="0"/>
              <a:t>Inadequate </a:t>
            </a:r>
            <a:r>
              <a:rPr lang="en-US" dirty="0"/>
              <a:t>tissue </a:t>
            </a:r>
            <a:r>
              <a:rPr lang="en-US" dirty="0" smtClean="0"/>
              <a:t>perfusion usually  </a:t>
            </a:r>
            <a:r>
              <a:rPr lang="en-US" dirty="0"/>
              <a:t>from decreased intravascular </a:t>
            </a:r>
            <a:r>
              <a:rPr lang="en-US" dirty="0" smtClean="0"/>
              <a:t>volume </a:t>
            </a:r>
            <a:r>
              <a:rPr lang="en-US" dirty="0"/>
              <a:t>as the result of fluid </a:t>
            </a:r>
            <a:r>
              <a:rPr lang="en-US" dirty="0" smtClean="0"/>
              <a:t>loss.</a:t>
            </a:r>
          </a:p>
          <a:p>
            <a:pPr marL="0" indent="0">
              <a:buNone/>
            </a:pPr>
            <a:endParaRPr lang="en-US" dirty="0" smtClean="0"/>
          </a:p>
          <a:p>
            <a:pPr>
              <a:buFont typeface="Wingdings" panose="05000000000000000000" pitchFamily="2" charset="2"/>
              <a:buChar char="ü"/>
            </a:pPr>
            <a:r>
              <a:rPr lang="en-US" dirty="0" smtClean="0"/>
              <a:t>Etiologies</a:t>
            </a:r>
          </a:p>
          <a:p>
            <a:r>
              <a:rPr lang="en-US" dirty="0" smtClean="0"/>
              <a:t> </a:t>
            </a:r>
            <a:r>
              <a:rPr lang="en-US" dirty="0"/>
              <a:t>Vomiting and/or diarrhea, Osmotic </a:t>
            </a:r>
            <a:r>
              <a:rPr lang="en-US" dirty="0" smtClean="0"/>
              <a:t>diuresis, </a:t>
            </a:r>
            <a:r>
              <a:rPr lang="en-US" dirty="0"/>
              <a:t>Hemorrhage, Inadequate fluid intake, Insensible losses</a:t>
            </a:r>
          </a:p>
          <a:p>
            <a:pPr marL="0" indent="0">
              <a:buNone/>
            </a:pPr>
            <a:endParaRPr lang="en-US" dirty="0"/>
          </a:p>
        </p:txBody>
      </p:sp>
    </p:spTree>
    <p:extLst>
      <p:ext uri="{BB962C8B-B14F-4D97-AF65-F5344CB8AC3E}">
        <p14:creationId xmlns="" xmlns:p14="http://schemas.microsoft.com/office/powerpoint/2010/main" val="41995040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Cardiogenic shock </a:t>
            </a:r>
          </a:p>
        </p:txBody>
      </p:sp>
      <p:sp>
        <p:nvSpPr>
          <p:cNvPr id="3" name="Content Placeholder 2"/>
          <p:cNvSpPr>
            <a:spLocks noGrp="1"/>
          </p:cNvSpPr>
          <p:nvPr>
            <p:ph idx="1"/>
          </p:nvPr>
        </p:nvSpPr>
        <p:spPr/>
        <p:txBody>
          <a:bodyPr>
            <a:normAutofit/>
          </a:bodyPr>
          <a:lstStyle/>
          <a:p>
            <a:pPr>
              <a:buFont typeface="Courier New" panose="02070309020205020404" pitchFamily="49" charset="0"/>
              <a:buChar char="o"/>
            </a:pPr>
            <a:r>
              <a:rPr lang="en-US" dirty="0" smtClean="0"/>
              <a:t>Cardiac </a:t>
            </a:r>
            <a:r>
              <a:rPr lang="en-US" dirty="0"/>
              <a:t>pump failure secondary to Poor myocardial </a:t>
            </a:r>
            <a:r>
              <a:rPr lang="en-US" dirty="0" smtClean="0"/>
              <a:t>function.</a:t>
            </a:r>
          </a:p>
          <a:p>
            <a:pPr>
              <a:buFont typeface="Courier New" panose="02070309020205020404" pitchFamily="49" charset="0"/>
              <a:buChar char="o"/>
            </a:pPr>
            <a:endParaRPr lang="en-US" dirty="0"/>
          </a:p>
          <a:p>
            <a:pPr>
              <a:buFont typeface="Wingdings" panose="05000000000000000000" pitchFamily="2" charset="2"/>
              <a:buChar char="ü"/>
            </a:pPr>
            <a:r>
              <a:rPr lang="en-US" dirty="0" smtClean="0"/>
              <a:t>Etiologies</a:t>
            </a:r>
            <a:endParaRPr lang="en-US" b="1" dirty="0" smtClean="0"/>
          </a:p>
          <a:p>
            <a:r>
              <a:rPr lang="en-US" dirty="0"/>
              <a:t>I</a:t>
            </a:r>
            <a:r>
              <a:rPr lang="en-US" dirty="0" smtClean="0"/>
              <a:t>s </a:t>
            </a:r>
            <a:r>
              <a:rPr lang="en-US" dirty="0"/>
              <a:t>seen in patients with congenital heart disease (before or after surgery, including heart transplantation) or those with congenital or acquired cardiomyopathies, including acute </a:t>
            </a:r>
            <a:r>
              <a:rPr lang="en-US" dirty="0" smtClean="0"/>
              <a:t>myocarditis.</a:t>
            </a:r>
          </a:p>
        </p:txBody>
      </p:sp>
    </p:spTree>
    <p:extLst>
      <p:ext uri="{BB962C8B-B14F-4D97-AF65-F5344CB8AC3E}">
        <p14:creationId xmlns="" xmlns:p14="http://schemas.microsoft.com/office/powerpoint/2010/main" val="5128543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Obstructive shock </a:t>
            </a:r>
          </a:p>
        </p:txBody>
      </p:sp>
      <p:sp>
        <p:nvSpPr>
          <p:cNvPr id="3" name="Content Placeholder 2"/>
          <p:cNvSpPr>
            <a:spLocks noGrp="1"/>
          </p:cNvSpPr>
          <p:nvPr>
            <p:ph idx="1"/>
          </p:nvPr>
        </p:nvSpPr>
        <p:spPr/>
        <p:txBody>
          <a:bodyPr>
            <a:normAutofit fontScale="85000" lnSpcReduction="20000"/>
          </a:bodyPr>
          <a:lstStyle/>
          <a:p>
            <a:pPr>
              <a:buFont typeface="Courier New" panose="02070309020205020404" pitchFamily="49" charset="0"/>
              <a:buChar char="o"/>
            </a:pPr>
            <a:r>
              <a:rPr lang="en-US" dirty="0" smtClean="0"/>
              <a:t>stems </a:t>
            </a:r>
            <a:r>
              <a:rPr lang="en-US" dirty="0"/>
              <a:t>from any lesion that creates a mechanical impediment to ventricular blood </a:t>
            </a:r>
            <a:r>
              <a:rPr lang="en-US" dirty="0" smtClean="0"/>
              <a:t>outflow.</a:t>
            </a:r>
          </a:p>
          <a:p>
            <a:pPr>
              <a:buFont typeface="Courier New" panose="02070309020205020404" pitchFamily="49" charset="0"/>
              <a:buChar char="o"/>
            </a:pPr>
            <a:endParaRPr lang="en-US" dirty="0" smtClean="0"/>
          </a:p>
          <a:p>
            <a:pPr>
              <a:buFont typeface="Wingdings" panose="05000000000000000000" pitchFamily="2" charset="2"/>
              <a:buChar char="ü"/>
            </a:pPr>
            <a:r>
              <a:rPr lang="en-US" dirty="0" smtClean="0"/>
              <a:t>Etiologies</a:t>
            </a:r>
          </a:p>
          <a:p>
            <a:pPr marL="0" indent="0">
              <a:buNone/>
            </a:pPr>
            <a:endParaRPr lang="en-US" dirty="0"/>
          </a:p>
          <a:p>
            <a:r>
              <a:rPr lang="en-US" dirty="0" smtClean="0"/>
              <a:t>Pericardial tamponade</a:t>
            </a:r>
          </a:p>
          <a:p>
            <a:r>
              <a:rPr lang="en-US" dirty="0"/>
              <a:t>T</a:t>
            </a:r>
            <a:r>
              <a:rPr lang="en-US" dirty="0" smtClean="0"/>
              <a:t>ension pneumothorax</a:t>
            </a:r>
          </a:p>
          <a:p>
            <a:r>
              <a:rPr lang="en-US" dirty="0" smtClean="0"/>
              <a:t>Pulmonary embolism</a:t>
            </a:r>
          </a:p>
          <a:p>
            <a:r>
              <a:rPr lang="en-US" dirty="0"/>
              <a:t>A</a:t>
            </a:r>
            <a:r>
              <a:rPr lang="en-US" dirty="0" smtClean="0"/>
              <a:t>ortic </a:t>
            </a:r>
            <a:r>
              <a:rPr lang="en-US" dirty="0" err="1" smtClean="0"/>
              <a:t>coarctation</a:t>
            </a:r>
            <a:endParaRPr lang="en-US" dirty="0" smtClean="0"/>
          </a:p>
          <a:p>
            <a:r>
              <a:rPr lang="en-US" dirty="0"/>
              <a:t>I</a:t>
            </a:r>
            <a:r>
              <a:rPr lang="en-US" dirty="0" smtClean="0"/>
              <a:t>nterrupted </a:t>
            </a:r>
            <a:r>
              <a:rPr lang="en-US" dirty="0"/>
              <a:t>aortic </a:t>
            </a:r>
            <a:r>
              <a:rPr lang="en-US" dirty="0" smtClean="0"/>
              <a:t>arch and</a:t>
            </a:r>
          </a:p>
          <a:p>
            <a:r>
              <a:rPr lang="en-US" dirty="0" smtClean="0"/>
              <a:t>Critical </a:t>
            </a:r>
            <a:r>
              <a:rPr lang="en-US" dirty="0"/>
              <a:t>aortic valve </a:t>
            </a:r>
            <a:r>
              <a:rPr lang="en-US" dirty="0" smtClean="0"/>
              <a:t>stenosis</a:t>
            </a:r>
            <a:endParaRPr lang="en-US" dirty="0"/>
          </a:p>
        </p:txBody>
      </p:sp>
    </p:spTree>
    <p:extLst>
      <p:ext uri="{BB962C8B-B14F-4D97-AF65-F5344CB8AC3E}">
        <p14:creationId xmlns="" xmlns:p14="http://schemas.microsoft.com/office/powerpoint/2010/main" val="17663236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Distributive shock </a:t>
            </a:r>
          </a:p>
        </p:txBody>
      </p:sp>
      <p:sp>
        <p:nvSpPr>
          <p:cNvPr id="3" name="Content Placeholder 2"/>
          <p:cNvSpPr>
            <a:spLocks noGrp="1"/>
          </p:cNvSpPr>
          <p:nvPr>
            <p:ph idx="1"/>
          </p:nvPr>
        </p:nvSpPr>
        <p:spPr/>
        <p:txBody>
          <a:bodyPr>
            <a:normAutofit fontScale="92500" lnSpcReduction="10000"/>
          </a:bodyPr>
          <a:lstStyle/>
          <a:p>
            <a:pPr>
              <a:buFont typeface="Courier New" panose="02070309020205020404" pitchFamily="49" charset="0"/>
              <a:buChar char="o"/>
            </a:pPr>
            <a:r>
              <a:rPr lang="en-US" dirty="0" smtClean="0"/>
              <a:t>Is caused by inappropriate vasodilation, pooling of blood in the peripheral vasculature, leakage of blood plasma into the interstitium through a compromised endothelial barrier</a:t>
            </a:r>
            <a:r>
              <a:rPr lang="en-US" dirty="0"/>
              <a:t>.</a:t>
            </a:r>
            <a:endParaRPr lang="en-US" dirty="0" smtClean="0"/>
          </a:p>
          <a:p>
            <a:pPr>
              <a:buFont typeface="Courier New" panose="02070309020205020404" pitchFamily="49" charset="0"/>
              <a:buChar char="o"/>
            </a:pPr>
            <a:endParaRPr lang="en-US" dirty="0" smtClean="0"/>
          </a:p>
          <a:p>
            <a:pPr>
              <a:buFont typeface="Wingdings" panose="05000000000000000000" pitchFamily="2" charset="2"/>
              <a:buChar char="ü"/>
            </a:pPr>
            <a:r>
              <a:rPr lang="en-US" dirty="0" smtClean="0"/>
              <a:t>Etiologies</a:t>
            </a:r>
          </a:p>
          <a:p>
            <a:endParaRPr lang="en-US" dirty="0"/>
          </a:p>
          <a:p>
            <a:r>
              <a:rPr lang="en-US" dirty="0" smtClean="0"/>
              <a:t>Sepsis</a:t>
            </a:r>
          </a:p>
          <a:p>
            <a:r>
              <a:rPr lang="en-US" dirty="0" smtClean="0"/>
              <a:t>Anaphylaxis</a:t>
            </a:r>
          </a:p>
          <a:p>
            <a:r>
              <a:rPr lang="en-US" dirty="0"/>
              <a:t>A</a:t>
            </a:r>
            <a:r>
              <a:rPr lang="en-US" dirty="0" smtClean="0"/>
              <a:t>nd accidental or intentional drug overdose (e.g., calcium channel blockers, atypical antipsychotics).</a:t>
            </a:r>
          </a:p>
        </p:txBody>
      </p:sp>
    </p:spTree>
    <p:extLst>
      <p:ext uri="{BB962C8B-B14F-4D97-AF65-F5344CB8AC3E}">
        <p14:creationId xmlns="" xmlns:p14="http://schemas.microsoft.com/office/powerpoint/2010/main" val="33938465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5"/>
                </a:solidFill>
              </a:rPr>
              <a:t>Neurogenic shock </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Is a type of distributive shock caused by a sudden disruption of sympathetic nerve stimulation to the vascular smooth muscle leading to a profound decrease in vasomotor tone.</a:t>
            </a:r>
          </a:p>
          <a:p>
            <a:pPr>
              <a:buFont typeface="Wingdings" panose="05000000000000000000" pitchFamily="2" charset="2"/>
              <a:buChar char="ü"/>
            </a:pPr>
            <a:endParaRPr lang="en-US" dirty="0" smtClean="0"/>
          </a:p>
          <a:p>
            <a:pPr>
              <a:buFont typeface="Wingdings" panose="05000000000000000000" pitchFamily="2" charset="2"/>
              <a:buChar char="ü"/>
            </a:pPr>
            <a:r>
              <a:rPr lang="en-US" dirty="0" smtClean="0"/>
              <a:t>Etiologies</a:t>
            </a:r>
          </a:p>
          <a:p>
            <a:pPr>
              <a:buFont typeface="Wingdings" panose="05000000000000000000" pitchFamily="2" charset="2"/>
              <a:buChar char="ü"/>
            </a:pPr>
            <a:endParaRPr lang="en-US" dirty="0"/>
          </a:p>
          <a:p>
            <a:pPr lvl="1"/>
            <a:r>
              <a:rPr lang="en-US" dirty="0" smtClean="0"/>
              <a:t>severe traumatic brain or</a:t>
            </a:r>
          </a:p>
          <a:p>
            <a:pPr lvl="1"/>
            <a:r>
              <a:rPr lang="en-US" dirty="0" smtClean="0"/>
              <a:t> cervical spine injury.</a:t>
            </a:r>
            <a:br>
              <a:rPr lang="en-US" dirty="0" smtClean="0"/>
            </a:br>
            <a:endParaRPr lang="en-US" dirty="0"/>
          </a:p>
        </p:txBody>
      </p:sp>
    </p:spTree>
    <p:extLst>
      <p:ext uri="{BB962C8B-B14F-4D97-AF65-F5344CB8AC3E}">
        <p14:creationId xmlns="" xmlns:p14="http://schemas.microsoft.com/office/powerpoint/2010/main" val="1812813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rPr>
              <a:t>Dissociative shock </a:t>
            </a:r>
            <a:endParaRPr lang="en-US" dirty="0">
              <a:solidFill>
                <a:schemeClr val="accent5"/>
              </a:solidFill>
            </a:endParaRPr>
          </a:p>
        </p:txBody>
      </p:sp>
      <p:sp>
        <p:nvSpPr>
          <p:cNvPr id="3" name="Content Placeholder 2"/>
          <p:cNvSpPr>
            <a:spLocks noGrp="1"/>
          </p:cNvSpPr>
          <p:nvPr>
            <p:ph idx="1"/>
          </p:nvPr>
        </p:nvSpPr>
        <p:spPr/>
        <p:txBody>
          <a:bodyPr>
            <a:normAutofit fontScale="92500" lnSpcReduction="10000"/>
          </a:bodyPr>
          <a:lstStyle/>
          <a:p>
            <a:pPr>
              <a:lnSpc>
                <a:spcPct val="110000"/>
              </a:lnSpc>
              <a:buFont typeface="Courier New" panose="02070309020205020404" pitchFamily="49" charset="0"/>
              <a:buChar char="o"/>
            </a:pPr>
            <a:r>
              <a:rPr lang="en-US" dirty="0" smtClean="0"/>
              <a:t>Is </a:t>
            </a:r>
            <a:r>
              <a:rPr lang="en-US" dirty="0"/>
              <a:t>a special category of shock in which cellular oxygen </a:t>
            </a:r>
            <a:r>
              <a:rPr lang="en-US" dirty="0" smtClean="0"/>
              <a:t>delivery </a:t>
            </a:r>
            <a:r>
              <a:rPr lang="en-US" dirty="0"/>
              <a:t>is severely impaired despite sustained or </a:t>
            </a:r>
            <a:r>
              <a:rPr lang="en-US" dirty="0" smtClean="0"/>
              <a:t>supra normal </a:t>
            </a:r>
            <a:r>
              <a:rPr lang="en-US" dirty="0"/>
              <a:t>tissue </a:t>
            </a:r>
            <a:r>
              <a:rPr lang="en-US" dirty="0" smtClean="0"/>
              <a:t>perfusion.</a:t>
            </a:r>
          </a:p>
          <a:p>
            <a:pPr>
              <a:lnSpc>
                <a:spcPct val="110000"/>
              </a:lnSpc>
              <a:buFont typeface="Courier New" panose="02070309020205020404" pitchFamily="49" charset="0"/>
              <a:buChar char="o"/>
            </a:pPr>
            <a:endParaRPr lang="en-US" dirty="0" smtClean="0"/>
          </a:p>
          <a:p>
            <a:pPr>
              <a:lnSpc>
                <a:spcPct val="110000"/>
              </a:lnSpc>
              <a:buFont typeface="Wingdings" panose="05000000000000000000" pitchFamily="2" charset="2"/>
              <a:buChar char="ü"/>
            </a:pPr>
            <a:r>
              <a:rPr lang="en-US" dirty="0" smtClean="0"/>
              <a:t>Etiologies </a:t>
            </a:r>
          </a:p>
          <a:p>
            <a:pPr>
              <a:lnSpc>
                <a:spcPct val="110000"/>
              </a:lnSpc>
              <a:buFont typeface="Wingdings" panose="05000000000000000000" pitchFamily="2" charset="2"/>
              <a:buChar char="ü"/>
            </a:pPr>
            <a:endParaRPr lang="en-US" dirty="0" smtClean="0"/>
          </a:p>
          <a:p>
            <a:pPr lvl="1">
              <a:buFont typeface="Courier New" panose="02070309020205020404" pitchFamily="49" charset="0"/>
              <a:buChar char="o"/>
            </a:pPr>
            <a:r>
              <a:rPr lang="en-US" sz="2600" dirty="0" smtClean="0"/>
              <a:t>Methemoglobinemia (from drugs like </a:t>
            </a:r>
            <a:r>
              <a:rPr lang="en-US" sz="2600" dirty="0" err="1" smtClean="0"/>
              <a:t>cotrimozazole,dapsone,pesticides</a:t>
            </a:r>
            <a:endParaRPr lang="en-US" sz="2600" dirty="0"/>
          </a:p>
          <a:p>
            <a:pPr lvl="1">
              <a:buFont typeface="Courier New" panose="02070309020205020404" pitchFamily="49" charset="0"/>
              <a:buChar char="o"/>
            </a:pPr>
            <a:r>
              <a:rPr lang="en-US" sz="2600" dirty="0"/>
              <a:t>carbon monoxide </a:t>
            </a:r>
            <a:r>
              <a:rPr lang="en-US" sz="2600" dirty="0" smtClean="0"/>
              <a:t>poisoning</a:t>
            </a:r>
            <a:r>
              <a:rPr lang="en-US" sz="2600" dirty="0"/>
              <a:t/>
            </a:r>
            <a:br>
              <a:rPr lang="en-US" sz="2600" dirty="0"/>
            </a:br>
            <a:endParaRPr lang="en-US" sz="2600" dirty="0"/>
          </a:p>
        </p:txBody>
      </p:sp>
    </p:spTree>
    <p:extLst>
      <p:ext uri="{BB962C8B-B14F-4D97-AF65-F5344CB8AC3E}">
        <p14:creationId xmlns="" xmlns:p14="http://schemas.microsoft.com/office/powerpoint/2010/main" val="3767059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Septic Shock</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Is life-threatening cardiovascular dysfunction in patients with suspected or confirmed infection </a:t>
            </a:r>
            <a:r>
              <a:rPr lang="en-US" dirty="0" smtClean="0"/>
              <a:t>.</a:t>
            </a:r>
          </a:p>
          <a:p>
            <a:pPr>
              <a:buFont typeface="Wingdings" panose="05000000000000000000" pitchFamily="2" charset="2"/>
              <a:buChar char="q"/>
            </a:pPr>
            <a:endParaRPr lang="en-US" dirty="0"/>
          </a:p>
          <a:p>
            <a:pPr>
              <a:buFont typeface="Courier New" panose="02070309020205020404" pitchFamily="49" charset="0"/>
              <a:buChar char="o"/>
            </a:pPr>
            <a:r>
              <a:rPr lang="en-US" dirty="0" smtClean="0"/>
              <a:t>Etiologies :- </a:t>
            </a:r>
          </a:p>
          <a:p>
            <a:pPr marL="0" indent="0">
              <a:buNone/>
            </a:pPr>
            <a:r>
              <a:rPr lang="en-US" dirty="0"/>
              <a:t> </a:t>
            </a:r>
            <a:r>
              <a:rPr lang="en-US" dirty="0" smtClean="0"/>
              <a:t>       Could </a:t>
            </a:r>
            <a:r>
              <a:rPr lang="en-US" dirty="0"/>
              <a:t>be bacterial, viral , fungal infections</a:t>
            </a:r>
          </a:p>
          <a:p>
            <a:pPr marL="0" indent="0">
              <a:buNone/>
            </a:pPr>
            <a:endParaRPr lang="en-US" dirty="0" smtClean="0"/>
          </a:p>
          <a:p>
            <a:pPr>
              <a:buFont typeface="Wingdings" panose="05000000000000000000" pitchFamily="2" charset="2"/>
              <a:buChar char="q"/>
            </a:pPr>
            <a:endParaRPr lang="en-US" dirty="0"/>
          </a:p>
        </p:txBody>
      </p:sp>
    </p:spTree>
    <p:extLst>
      <p:ext uri="{BB962C8B-B14F-4D97-AF65-F5344CB8AC3E}">
        <p14:creationId xmlns="" xmlns:p14="http://schemas.microsoft.com/office/powerpoint/2010/main" val="42734326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680" b="1" dirty="0">
                <a:solidFill>
                  <a:schemeClr val="accent5"/>
                </a:solidFill>
              </a:rPr>
              <a:t>Pathophysiology</a:t>
            </a:r>
            <a:endParaRPr lang="en-US" b="1" dirty="0">
              <a:solidFill>
                <a:schemeClr val="accent5"/>
              </a:solidFill>
            </a:endParaRPr>
          </a:p>
        </p:txBody>
      </p:sp>
      <p:sp>
        <p:nvSpPr>
          <p:cNvPr id="3" name="Content Placeholder 2"/>
          <p:cNvSpPr>
            <a:spLocks noGrp="1"/>
          </p:cNvSpPr>
          <p:nvPr>
            <p:ph idx="1"/>
          </p:nvPr>
        </p:nvSpPr>
        <p:spPr/>
        <p:txBody>
          <a:bodyPr>
            <a:normAutofit/>
          </a:bodyPr>
          <a:lstStyle/>
          <a:p>
            <a:r>
              <a:rPr lang="en-US" sz="2925" dirty="0"/>
              <a:t>An initial insult triggers shock, leading to inadequate oxygen delivery to organs and </a:t>
            </a:r>
            <a:r>
              <a:rPr lang="en-US" sz="2925" dirty="0" smtClean="0"/>
              <a:t>tissues.</a:t>
            </a:r>
            <a:endParaRPr lang="en-US" sz="2925" dirty="0"/>
          </a:p>
          <a:p>
            <a:r>
              <a:rPr lang="en-US" sz="2925" dirty="0"/>
              <a:t>Compensatory mechanisms attempt to maintain blood pressure by increasing cardiac output and systemic vascular </a:t>
            </a:r>
            <a:r>
              <a:rPr lang="en-US" sz="2925" dirty="0" smtClean="0"/>
              <a:t>resistance.</a:t>
            </a:r>
            <a:endParaRPr lang="en-US" sz="2925" dirty="0"/>
          </a:p>
          <a:p>
            <a:r>
              <a:rPr lang="en-US" sz="2925" dirty="0"/>
              <a:t>The body also attempts to optimize oxygen delivery to the tissues by increasing oxygen extraction and redistributing blood flow to the brain, heart, and kidneys at the expense of the skin and gastrointestinal </a:t>
            </a:r>
            <a:r>
              <a:rPr lang="en-US" sz="2925" dirty="0" smtClean="0"/>
              <a:t>tract.</a:t>
            </a:r>
            <a:endParaRPr lang="en-US" sz="2925" dirty="0"/>
          </a:p>
        </p:txBody>
      </p:sp>
    </p:spTree>
    <p:extLst>
      <p:ext uri="{BB962C8B-B14F-4D97-AF65-F5344CB8AC3E}">
        <p14:creationId xmlns="" xmlns:p14="http://schemas.microsoft.com/office/powerpoint/2010/main" val="32771783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These responses lead to an initial state of compensated shock in which BP is </a:t>
            </a:r>
            <a:r>
              <a:rPr lang="en-US" dirty="0" smtClean="0"/>
              <a:t>maintained.</a:t>
            </a:r>
            <a:endParaRPr lang="en-US" dirty="0"/>
          </a:p>
          <a:p>
            <a:r>
              <a:rPr lang="en-US" dirty="0"/>
              <a:t>If treatment is not initiated or is inadequate during this period, decompensated shock develops, with hypotension and tissue damage that may lead to multisystem organ dysfunction and, ultimately, death</a:t>
            </a:r>
          </a:p>
        </p:txBody>
      </p:sp>
      <p:sp>
        <p:nvSpPr>
          <p:cNvPr id="4" name="Rectangle 3"/>
          <p:cNvSpPr/>
          <p:nvPr/>
        </p:nvSpPr>
        <p:spPr>
          <a:xfrm>
            <a:off x="4606292" y="605791"/>
            <a:ext cx="1451522" cy="570156"/>
          </a:xfrm>
          <a:prstGeom prst="rect">
            <a:avLst/>
          </a:prstGeom>
        </p:spPr>
        <p:txBody>
          <a:bodyPr wrap="none">
            <a:spAutoFit/>
          </a:bodyPr>
          <a:lstStyle/>
          <a:p>
            <a:r>
              <a:rPr lang="en-US" sz="3120" dirty="0"/>
              <a:t>…cont…</a:t>
            </a:r>
          </a:p>
        </p:txBody>
      </p:sp>
    </p:spTree>
    <p:extLst>
      <p:ext uri="{BB962C8B-B14F-4D97-AF65-F5344CB8AC3E}">
        <p14:creationId xmlns="" xmlns:p14="http://schemas.microsoft.com/office/powerpoint/2010/main" val="19985683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51610"/>
            <a:ext cx="9955530" cy="4584265"/>
          </a:xfrm>
        </p:spPr>
        <p:txBody>
          <a:bodyPr>
            <a:normAutofit/>
          </a:bodyPr>
          <a:lstStyle/>
          <a:p>
            <a:r>
              <a:rPr lang="en-US" dirty="0"/>
              <a:t>In the early phases of shock, multiple compensatory physiologic mechanisms act to maintain BP and preserve tissue perfusion and oxygen </a:t>
            </a:r>
            <a:r>
              <a:rPr lang="en-US" dirty="0" smtClean="0"/>
              <a:t>delivery.</a:t>
            </a:r>
            <a:r>
              <a:rPr lang="en-US" dirty="0"/>
              <a:t> </a:t>
            </a:r>
            <a:endParaRPr lang="en-US" dirty="0" smtClean="0"/>
          </a:p>
          <a:p>
            <a:endParaRPr lang="en-US" dirty="0" smtClean="0"/>
          </a:p>
          <a:p>
            <a:pPr lvl="2">
              <a:buFont typeface="Courier New" panose="02070309020205020404" pitchFamily="49" charset="0"/>
              <a:buChar char="o"/>
            </a:pPr>
            <a:r>
              <a:rPr lang="en-US" sz="2800" dirty="0" smtClean="0"/>
              <a:t>Increases </a:t>
            </a:r>
            <a:r>
              <a:rPr lang="en-US" sz="2800" dirty="0"/>
              <a:t>in heart rate, stroke volume, and vascular smooth muscle </a:t>
            </a:r>
            <a:r>
              <a:rPr lang="en-US" sz="2800" dirty="0" smtClean="0"/>
              <a:t>tone </a:t>
            </a:r>
          </a:p>
          <a:p>
            <a:pPr lvl="2">
              <a:buFont typeface="Courier New" panose="02070309020205020404" pitchFamily="49" charset="0"/>
              <a:buChar char="o"/>
            </a:pPr>
            <a:r>
              <a:rPr lang="en-US" sz="2800" dirty="0" smtClean="0"/>
              <a:t>Greater </a:t>
            </a:r>
            <a:r>
              <a:rPr lang="en-US" sz="2800" dirty="0"/>
              <a:t>carbon dioxide </a:t>
            </a:r>
            <a:r>
              <a:rPr lang="en-US" sz="2800" dirty="0" smtClean="0"/>
              <a:t>elimination</a:t>
            </a:r>
          </a:p>
          <a:p>
            <a:pPr lvl="2">
              <a:buFont typeface="Courier New" panose="02070309020205020404" pitchFamily="49" charset="0"/>
              <a:buChar char="o"/>
            </a:pPr>
            <a:r>
              <a:rPr lang="en-US" sz="2800" dirty="0" smtClean="0"/>
              <a:t> </a:t>
            </a:r>
            <a:r>
              <a:rPr lang="en-US" sz="2800" dirty="0"/>
              <a:t>Renal excretion of hydrogen ions and retention of bicarbonate</a:t>
            </a:r>
          </a:p>
          <a:p>
            <a:endParaRPr lang="en-US" dirty="0"/>
          </a:p>
          <a:p>
            <a:endParaRPr lang="en-US" dirty="0"/>
          </a:p>
          <a:p>
            <a:endParaRPr lang="en-US" dirty="0"/>
          </a:p>
        </p:txBody>
      </p:sp>
    </p:spTree>
    <p:extLst>
      <p:ext uri="{BB962C8B-B14F-4D97-AF65-F5344CB8AC3E}">
        <p14:creationId xmlns="" xmlns:p14="http://schemas.microsoft.com/office/powerpoint/2010/main" val="16729760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1670" y="353497"/>
            <a:ext cx="8023860" cy="698063"/>
          </a:xfrm>
        </p:spPr>
        <p:txBody>
          <a:bodyPr>
            <a:normAutofit/>
          </a:bodyPr>
          <a:lstStyle/>
          <a:p>
            <a:pPr algn="l"/>
            <a:endParaRPr lang="en-US" sz="1950" dirty="0"/>
          </a:p>
        </p:txBody>
      </p:sp>
      <p:pic>
        <p:nvPicPr>
          <p:cNvPr id="2052" name="Picture 4"/>
          <p:cNvPicPr>
            <a:picLocks noGrp="1" noChangeAspect="1" noChangeArrowheads="1"/>
          </p:cNvPicPr>
          <p:nvPr>
            <p:ph idx="1"/>
          </p:nvPr>
        </p:nvPicPr>
        <p:blipFill>
          <a:blip r:embed="rId2" cstate="print"/>
          <a:srcRect/>
          <a:stretch>
            <a:fillRect/>
          </a:stretch>
        </p:blipFill>
        <p:spPr bwMode="auto">
          <a:xfrm>
            <a:off x="1857375" y="112741"/>
            <a:ext cx="8098155" cy="5969016"/>
          </a:xfrm>
          <a:prstGeom prst="rect">
            <a:avLst/>
          </a:prstGeom>
          <a:noFill/>
          <a:ln w="9525">
            <a:noFill/>
            <a:miter lim="800000"/>
            <a:headEnd/>
            <a:tailEnd/>
          </a:ln>
          <a:effectLst/>
        </p:spPr>
      </p:pic>
      <p:sp>
        <p:nvSpPr>
          <p:cNvPr id="3" name="Rectangle 2"/>
          <p:cNvSpPr/>
          <p:nvPr/>
        </p:nvSpPr>
        <p:spPr>
          <a:xfrm>
            <a:off x="1708785" y="6400800"/>
            <a:ext cx="8395335" cy="222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55" dirty="0"/>
              <a:t> Sequence of pathophysiologic events in clinical shock states</a:t>
            </a:r>
          </a:p>
        </p:txBody>
      </p:sp>
      <p:sp>
        <p:nvSpPr>
          <p:cNvPr id="4" name="Slide Number Placeholder 3"/>
          <p:cNvSpPr>
            <a:spLocks noGrp="1"/>
          </p:cNvSpPr>
          <p:nvPr>
            <p:ph type="sldNum" sz="quarter" idx="12"/>
          </p:nvPr>
        </p:nvSpPr>
        <p:spPr/>
        <p:txBody>
          <a:bodyPr/>
          <a:lstStyle/>
          <a:p>
            <a:fld id="{A8433AC4-EA92-4536-8B19-689C3C6C8887}" type="slidenum">
              <a:rPr lang="en-US" smtClean="0"/>
              <a:pPr/>
              <a:t>16</a:t>
            </a:fld>
            <a:endParaRPr lang="en-US"/>
          </a:p>
        </p:txBody>
      </p:sp>
    </p:spTree>
    <p:extLst>
      <p:ext uri="{BB962C8B-B14F-4D97-AF65-F5344CB8AC3E}">
        <p14:creationId xmlns="" xmlns:p14="http://schemas.microsoft.com/office/powerpoint/2010/main" val="35023769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CLINICAL MANIFESTATIONS </a:t>
            </a:r>
          </a:p>
        </p:txBody>
      </p:sp>
      <p:sp>
        <p:nvSpPr>
          <p:cNvPr id="3" name="Content Placeholder 2"/>
          <p:cNvSpPr>
            <a:spLocks noGrp="1"/>
          </p:cNvSpPr>
          <p:nvPr>
            <p:ph idx="1"/>
          </p:nvPr>
        </p:nvSpPr>
        <p:spPr/>
        <p:txBody>
          <a:bodyPr>
            <a:normAutofit fontScale="92500"/>
          </a:bodyPr>
          <a:lstStyle/>
          <a:p>
            <a:r>
              <a:rPr lang="en-US" dirty="0"/>
              <a:t>The clinical presentation of shock depends in part on the underlying etiology</a:t>
            </a:r>
            <a:r>
              <a:rPr lang="en-US" dirty="0" smtClean="0"/>
              <a:t>,</a:t>
            </a:r>
          </a:p>
          <a:p>
            <a:endParaRPr lang="en-US" dirty="0"/>
          </a:p>
          <a:p>
            <a:r>
              <a:rPr lang="en-US" dirty="0" smtClean="0"/>
              <a:t>But </a:t>
            </a:r>
            <a:r>
              <a:rPr lang="en-US" dirty="0"/>
              <a:t>if unrecognized and untreated, all forms of shock follow a common progression of clinical signs and pathophysiologic changes that may ultimately lead to irreversible organ injury and death. </a:t>
            </a:r>
            <a:endParaRPr lang="en-US" dirty="0" smtClean="0"/>
          </a:p>
          <a:p>
            <a:endParaRPr lang="en-US" dirty="0" smtClean="0"/>
          </a:p>
          <a:p>
            <a:r>
              <a:rPr lang="en-US" dirty="0" smtClean="0"/>
              <a:t>Among </a:t>
            </a:r>
            <a:r>
              <a:rPr lang="en-US" dirty="0"/>
              <a:t>the first physiologic responses is sympathetic adrenergic system activation and its related signs and symptoms</a:t>
            </a:r>
            <a:r>
              <a:rPr lang="en-US" dirty="0" smtClean="0"/>
              <a:t>.</a:t>
            </a:r>
            <a:endParaRPr lang="en-US" dirty="0"/>
          </a:p>
        </p:txBody>
      </p:sp>
    </p:spTree>
    <p:extLst>
      <p:ext uri="{BB962C8B-B14F-4D97-AF65-F5344CB8AC3E}">
        <p14:creationId xmlns="" xmlns:p14="http://schemas.microsoft.com/office/powerpoint/2010/main" val="15971099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t>Shock may initially manifest as only tachycardia, with or without tachypnea. </a:t>
            </a:r>
            <a:endParaRPr lang="en-US" i="1" dirty="0" smtClean="0"/>
          </a:p>
          <a:p>
            <a:endParaRPr lang="en-US" i="1" dirty="0"/>
          </a:p>
          <a:p>
            <a:r>
              <a:rPr lang="en-US" dirty="0"/>
              <a:t>Progression leads to decreased urine output, poor peripheral perfusion, respiratory distress or failure, alteration of mental status, and low BP.</a:t>
            </a:r>
          </a:p>
        </p:txBody>
      </p:sp>
    </p:spTree>
    <p:extLst>
      <p:ext uri="{BB962C8B-B14F-4D97-AF65-F5344CB8AC3E}">
        <p14:creationId xmlns="" xmlns:p14="http://schemas.microsoft.com/office/powerpoint/2010/main" val="9692003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 A significant misconception is that shock occurs only with low BP. </a:t>
            </a:r>
            <a:endParaRPr lang="en-US" dirty="0" smtClean="0"/>
          </a:p>
          <a:p>
            <a:endParaRPr lang="en-US" dirty="0" smtClean="0"/>
          </a:p>
          <a:p>
            <a:r>
              <a:rPr lang="en-US" dirty="0" smtClean="0"/>
              <a:t>Hypotension </a:t>
            </a:r>
            <a:r>
              <a:rPr lang="en-US" dirty="0"/>
              <a:t>is often a late finding, especially in infants and young </a:t>
            </a:r>
            <a:r>
              <a:rPr lang="en-US" dirty="0" smtClean="0"/>
              <a:t>children</a:t>
            </a:r>
          </a:p>
          <a:p>
            <a:endParaRPr lang="en-US" dirty="0"/>
          </a:p>
          <a:p>
            <a:r>
              <a:rPr lang="en-US" dirty="0" smtClean="0"/>
              <a:t> And </a:t>
            </a:r>
            <a:r>
              <a:rPr lang="en-US" dirty="0"/>
              <a:t>is not a criterion for the diagnosis of shock because of a complex set of compensatory mechanisms that attempt to preserve BP and peripheral perfusion. </a:t>
            </a:r>
            <a:endParaRPr lang="en-US" dirty="0" smtClean="0"/>
          </a:p>
          <a:p>
            <a:endParaRPr lang="en-US" dirty="0"/>
          </a:p>
          <a:p>
            <a:r>
              <a:rPr lang="en-US" i="1" dirty="0">
                <a:solidFill>
                  <a:schemeClr val="accent5"/>
                </a:solidFill>
              </a:rPr>
              <a:t>Hypotension reflects an advanced state of uncompensated shock and is associated with increased morbidity and mortality .</a:t>
            </a:r>
            <a:endParaRPr lang="en-US" i="1" dirty="0" smtClean="0">
              <a:solidFill>
                <a:schemeClr val="accent5"/>
              </a:solidFill>
            </a:endParaRPr>
          </a:p>
        </p:txBody>
      </p:sp>
    </p:spTree>
    <p:extLst>
      <p:ext uri="{BB962C8B-B14F-4D97-AF65-F5344CB8AC3E}">
        <p14:creationId xmlns="" xmlns:p14="http://schemas.microsoft.com/office/powerpoint/2010/main" val="3405933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a:defRPr/>
            </a:pPr>
            <a:r>
              <a:rPr lang="en-US" sz="4680" b="1" dirty="0">
                <a:solidFill>
                  <a:schemeClr val="accent5"/>
                </a:solidFill>
              </a:rPr>
              <a:t>Timing</a:t>
            </a:r>
            <a:endParaRPr lang="en-US" b="1" dirty="0" smtClean="0">
              <a:solidFill>
                <a:schemeClr val="accent5"/>
              </a:solidFill>
            </a:endParaRPr>
          </a:p>
        </p:txBody>
      </p:sp>
      <p:graphicFrame>
        <p:nvGraphicFramePr>
          <p:cNvPr id="4" name="Content Placeholder 3"/>
          <p:cNvGraphicFramePr>
            <a:graphicFrameLocks noGrp="1"/>
          </p:cNvGraphicFramePr>
          <p:nvPr>
            <p:ph idx="1"/>
          </p:nvPr>
        </p:nvGraphicFramePr>
        <p:xfrm>
          <a:off x="2553078" y="1868805"/>
          <a:ext cx="4036235" cy="4247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628" name="TextBox 4"/>
          <p:cNvSpPr txBox="1">
            <a:spLocks noChangeArrowheads="1"/>
          </p:cNvSpPr>
          <p:nvPr/>
        </p:nvSpPr>
        <p:spPr bwMode="auto">
          <a:xfrm>
            <a:off x="5112427" y="2760347"/>
            <a:ext cx="2077939" cy="810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340" dirty="0"/>
              <a:t>Possibly Hours</a:t>
            </a:r>
          </a:p>
        </p:txBody>
      </p:sp>
      <p:sp>
        <p:nvSpPr>
          <p:cNvPr id="26629" name="TextBox 5"/>
          <p:cNvSpPr txBox="1">
            <a:spLocks noChangeArrowheads="1"/>
          </p:cNvSpPr>
          <p:nvPr/>
        </p:nvSpPr>
        <p:spPr bwMode="auto">
          <a:xfrm>
            <a:off x="5180917" y="4543427"/>
            <a:ext cx="2079099" cy="8102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340" dirty="0"/>
              <a:t>Potentially Minutes</a:t>
            </a:r>
          </a:p>
        </p:txBody>
      </p:sp>
      <p:pic>
        <p:nvPicPr>
          <p:cNvPr id="26630" name="Picture 8"/>
          <p:cNvPicPr>
            <a:picLocks noChangeAspect="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7096334" y="2528176"/>
            <a:ext cx="1369815" cy="252448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30468409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sz="3413" b="1" dirty="0">
                <a:solidFill>
                  <a:schemeClr val="accent5"/>
                </a:solidFill>
              </a:rPr>
              <a:t>Hypovolemic shock </a:t>
            </a:r>
          </a:p>
          <a:p>
            <a:endParaRPr lang="en-US" b="1" dirty="0"/>
          </a:p>
          <a:p>
            <a:pPr lvl="1">
              <a:buFont typeface="Courier New" panose="02070309020205020404" pitchFamily="49" charset="0"/>
              <a:buChar char="o"/>
            </a:pPr>
            <a:r>
              <a:rPr lang="en-US" sz="3217" dirty="0" smtClean="0"/>
              <a:t> Tachycardia</a:t>
            </a:r>
            <a:endParaRPr lang="en-US" sz="3217" dirty="0"/>
          </a:p>
          <a:p>
            <a:pPr lvl="1">
              <a:buFont typeface="Courier New" panose="02070309020205020404" pitchFamily="49" charset="0"/>
              <a:buChar char="o"/>
            </a:pPr>
            <a:r>
              <a:rPr lang="en-US" sz="3217" dirty="0" smtClean="0"/>
              <a:t> Orthostatic </a:t>
            </a:r>
            <a:r>
              <a:rPr lang="en-US" sz="3217" dirty="0"/>
              <a:t>hypotension </a:t>
            </a:r>
          </a:p>
          <a:p>
            <a:pPr lvl="1">
              <a:buFont typeface="Courier New" panose="02070309020205020404" pitchFamily="49" charset="0"/>
              <a:buChar char="o"/>
            </a:pPr>
            <a:r>
              <a:rPr lang="en-US" sz="3217" dirty="0" smtClean="0"/>
              <a:t> Dry </a:t>
            </a:r>
            <a:r>
              <a:rPr lang="en-US" sz="3217" dirty="0"/>
              <a:t>mucous membranes, </a:t>
            </a:r>
          </a:p>
          <a:p>
            <a:pPr lvl="1">
              <a:buFont typeface="Courier New" panose="02070309020205020404" pitchFamily="49" charset="0"/>
              <a:buChar char="o"/>
            </a:pPr>
            <a:r>
              <a:rPr lang="en-US" sz="3217" dirty="0" smtClean="0"/>
              <a:t> Dry </a:t>
            </a:r>
            <a:r>
              <a:rPr lang="en-US" sz="3217" dirty="0"/>
              <a:t>axillae</a:t>
            </a:r>
          </a:p>
          <a:p>
            <a:pPr lvl="1">
              <a:buFont typeface="Courier New" panose="02070309020205020404" pitchFamily="49" charset="0"/>
              <a:buChar char="o"/>
            </a:pPr>
            <a:r>
              <a:rPr lang="en-US" sz="3217" dirty="0" smtClean="0"/>
              <a:t> Poor </a:t>
            </a:r>
            <a:r>
              <a:rPr lang="en-US" sz="3217" dirty="0"/>
              <a:t>skin turgor,</a:t>
            </a:r>
          </a:p>
          <a:p>
            <a:pPr lvl="1">
              <a:buFont typeface="Courier New" panose="02070309020205020404" pitchFamily="49" charset="0"/>
              <a:buChar char="o"/>
            </a:pPr>
            <a:r>
              <a:rPr lang="en-US" sz="3217" dirty="0" smtClean="0"/>
              <a:t> Decreased </a:t>
            </a:r>
            <a:r>
              <a:rPr lang="en-US" sz="3217" dirty="0"/>
              <a:t>urine output. </a:t>
            </a:r>
          </a:p>
          <a:p>
            <a:pPr lvl="1">
              <a:buFont typeface="Courier New" panose="02070309020205020404" pitchFamily="49" charset="0"/>
              <a:buChar char="o"/>
            </a:pPr>
            <a:r>
              <a:rPr lang="en-US" sz="3217" dirty="0" smtClean="0"/>
              <a:t> Normal </a:t>
            </a:r>
            <a:r>
              <a:rPr lang="en-US" sz="3217" dirty="0"/>
              <a:t>or slightly cool distal extremities, and</a:t>
            </a:r>
          </a:p>
          <a:p>
            <a:pPr lvl="1">
              <a:buFont typeface="Courier New" panose="02070309020205020404" pitchFamily="49" charset="0"/>
              <a:buChar char="o"/>
            </a:pPr>
            <a:r>
              <a:rPr lang="en-US" sz="3217" dirty="0"/>
              <a:t> N</a:t>
            </a:r>
            <a:r>
              <a:rPr lang="en-US" sz="3217" dirty="0" smtClean="0"/>
              <a:t>ormal</a:t>
            </a:r>
            <a:r>
              <a:rPr lang="en-US" sz="3217" dirty="0"/>
              <a:t>, decreased, or </a:t>
            </a:r>
            <a:r>
              <a:rPr lang="en-US" sz="3217" dirty="0" smtClean="0"/>
              <a:t>absent peripheral pulse</a:t>
            </a:r>
            <a:endParaRPr lang="en-US" sz="2730" dirty="0"/>
          </a:p>
          <a:p>
            <a:pPr marL="0" indent="0">
              <a:buNone/>
            </a:pPr>
            <a:r>
              <a:rPr lang="en-US" dirty="0"/>
              <a:t/>
            </a:r>
            <a:br>
              <a:rPr lang="en-US" dirty="0"/>
            </a:br>
            <a:endParaRPr lang="en-US" dirty="0"/>
          </a:p>
        </p:txBody>
      </p:sp>
    </p:spTree>
    <p:extLst>
      <p:ext uri="{BB962C8B-B14F-4D97-AF65-F5344CB8AC3E}">
        <p14:creationId xmlns="" xmlns:p14="http://schemas.microsoft.com/office/powerpoint/2010/main" val="29770072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3510" b="1" dirty="0">
                <a:solidFill>
                  <a:schemeClr val="accent5"/>
                </a:solidFill>
              </a:rPr>
              <a:t>Cardiogenic shock </a:t>
            </a:r>
            <a:endParaRPr lang="en-US" sz="3510" b="1" dirty="0" smtClean="0">
              <a:solidFill>
                <a:schemeClr val="accent5"/>
              </a:solidFill>
            </a:endParaRPr>
          </a:p>
          <a:p>
            <a:endParaRPr lang="en-US" sz="3510" dirty="0">
              <a:solidFill>
                <a:schemeClr val="accent5"/>
              </a:solidFill>
            </a:endParaRPr>
          </a:p>
          <a:p>
            <a:pPr lvl="1">
              <a:buFont typeface="Courier New" panose="02070309020205020404" pitchFamily="49" charset="0"/>
              <a:buChar char="o"/>
            </a:pPr>
            <a:r>
              <a:rPr lang="en-US" sz="2730" dirty="0"/>
              <a:t>Tachypnea</a:t>
            </a:r>
          </a:p>
          <a:p>
            <a:pPr lvl="1">
              <a:buFont typeface="Courier New" panose="02070309020205020404" pitchFamily="49" charset="0"/>
              <a:buChar char="o"/>
            </a:pPr>
            <a:r>
              <a:rPr lang="en-US" sz="2730" dirty="0" smtClean="0"/>
              <a:t>cool </a:t>
            </a:r>
            <a:r>
              <a:rPr lang="en-US" sz="2730" dirty="0"/>
              <a:t>extremities</a:t>
            </a:r>
          </a:p>
          <a:p>
            <a:pPr lvl="1">
              <a:buFont typeface="Courier New" panose="02070309020205020404" pitchFamily="49" charset="0"/>
              <a:buChar char="o"/>
            </a:pPr>
            <a:r>
              <a:rPr lang="en-US" sz="2730" dirty="0"/>
              <a:t>delayed capillary filling time</a:t>
            </a:r>
          </a:p>
          <a:p>
            <a:pPr lvl="1">
              <a:buFont typeface="Courier New" panose="02070309020205020404" pitchFamily="49" charset="0"/>
              <a:buChar char="o"/>
            </a:pPr>
            <a:r>
              <a:rPr lang="en-US" sz="2730" dirty="0"/>
              <a:t>poor peripheral and/or central pulses</a:t>
            </a:r>
          </a:p>
          <a:p>
            <a:pPr lvl="1">
              <a:buFont typeface="Courier New" panose="02070309020205020404" pitchFamily="49" charset="0"/>
              <a:buChar char="o"/>
            </a:pPr>
            <a:r>
              <a:rPr lang="en-US" sz="2730" dirty="0"/>
              <a:t>reduced pulse pressure</a:t>
            </a:r>
          </a:p>
          <a:p>
            <a:pPr lvl="1">
              <a:buFont typeface="Courier New" panose="02070309020205020404" pitchFamily="49" charset="0"/>
              <a:buChar char="o"/>
            </a:pPr>
            <a:r>
              <a:rPr lang="en-US" sz="2730" dirty="0"/>
              <a:t>declining mental </a:t>
            </a:r>
            <a:r>
              <a:rPr lang="en-US" sz="2730" dirty="0" smtClean="0"/>
              <a:t>status</a:t>
            </a:r>
          </a:p>
          <a:p>
            <a:pPr lvl="1">
              <a:buFont typeface="Courier New" panose="02070309020205020404" pitchFamily="49" charset="0"/>
              <a:buChar char="o"/>
            </a:pPr>
            <a:r>
              <a:rPr lang="en-US" sz="2730" dirty="0" smtClean="0"/>
              <a:t>Decrease urine output</a:t>
            </a:r>
            <a:endParaRPr lang="en-US" sz="2730" dirty="0"/>
          </a:p>
        </p:txBody>
      </p:sp>
    </p:spTree>
    <p:extLst>
      <p:ext uri="{BB962C8B-B14F-4D97-AF65-F5344CB8AC3E}">
        <p14:creationId xmlns="" xmlns:p14="http://schemas.microsoft.com/office/powerpoint/2010/main" val="28429073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sz="3510" b="1" dirty="0">
                <a:solidFill>
                  <a:schemeClr val="accent5"/>
                </a:solidFill>
              </a:rPr>
              <a:t>Obstructive shock </a:t>
            </a:r>
          </a:p>
          <a:p>
            <a:pPr marL="0" indent="0">
              <a:buNone/>
            </a:pPr>
            <a:endParaRPr lang="en-US" b="1" dirty="0" smtClean="0"/>
          </a:p>
          <a:p>
            <a:pPr lvl="1">
              <a:buFont typeface="Courier New" panose="02070309020205020404" pitchFamily="49" charset="0"/>
              <a:buChar char="o"/>
            </a:pPr>
            <a:r>
              <a:rPr lang="en-US" sz="3120" dirty="0"/>
              <a:t>Tachycardia</a:t>
            </a:r>
          </a:p>
          <a:p>
            <a:pPr lvl="1">
              <a:buFont typeface="Courier New" panose="02070309020205020404" pitchFamily="49" charset="0"/>
              <a:buChar char="o"/>
            </a:pPr>
            <a:r>
              <a:rPr lang="en-US" sz="3120" dirty="0" smtClean="0"/>
              <a:t>Delayed </a:t>
            </a:r>
            <a:r>
              <a:rPr lang="en-US" sz="3120" dirty="0"/>
              <a:t>capillary refill</a:t>
            </a:r>
          </a:p>
          <a:p>
            <a:pPr lvl="1">
              <a:buFont typeface="Courier New" panose="02070309020205020404" pitchFamily="49" charset="0"/>
              <a:buChar char="o"/>
            </a:pPr>
            <a:r>
              <a:rPr lang="en-US" sz="3120" dirty="0" smtClean="0"/>
              <a:t>Cool </a:t>
            </a:r>
            <a:r>
              <a:rPr lang="en-US" sz="3120" dirty="0"/>
              <a:t>extremities</a:t>
            </a:r>
          </a:p>
          <a:p>
            <a:pPr lvl="1">
              <a:buFont typeface="Courier New" panose="02070309020205020404" pitchFamily="49" charset="0"/>
              <a:buChar char="o"/>
            </a:pPr>
            <a:r>
              <a:rPr lang="en-US" sz="3120" dirty="0" smtClean="0"/>
              <a:t>Diminished </a:t>
            </a:r>
            <a:r>
              <a:rPr lang="en-US" sz="3120" dirty="0"/>
              <a:t>peripheral </a:t>
            </a:r>
            <a:r>
              <a:rPr lang="en-US" sz="3120" dirty="0" smtClean="0"/>
              <a:t>pulses</a:t>
            </a:r>
          </a:p>
          <a:p>
            <a:pPr lvl="1">
              <a:buFont typeface="Courier New" panose="02070309020205020404" pitchFamily="49" charset="0"/>
              <a:buChar char="o"/>
            </a:pPr>
            <a:r>
              <a:rPr lang="en-US" sz="3120" dirty="0"/>
              <a:t>D</a:t>
            </a:r>
            <a:r>
              <a:rPr lang="en-US" sz="3120" dirty="0" smtClean="0"/>
              <a:t>ecreased </a:t>
            </a:r>
            <a:r>
              <a:rPr lang="en-US" sz="3120" dirty="0"/>
              <a:t>pulse pressure </a:t>
            </a:r>
            <a:endParaRPr lang="en-US" sz="3120" dirty="0" smtClean="0"/>
          </a:p>
          <a:p>
            <a:pPr lvl="1">
              <a:buFont typeface="Courier New" panose="02070309020205020404" pitchFamily="49" charset="0"/>
              <a:buChar char="o"/>
            </a:pPr>
            <a:r>
              <a:rPr lang="en-US" sz="3120" dirty="0"/>
              <a:t>P</a:t>
            </a:r>
            <a:r>
              <a:rPr lang="en-US" sz="3120" dirty="0" smtClean="0"/>
              <a:t>resence </a:t>
            </a:r>
            <a:r>
              <a:rPr lang="en-US" sz="3120" dirty="0"/>
              <a:t>of </a:t>
            </a:r>
            <a:r>
              <a:rPr lang="en-US" sz="3120" dirty="0" err="1"/>
              <a:t>pulsus</a:t>
            </a:r>
            <a:r>
              <a:rPr lang="en-US" sz="3120" dirty="0"/>
              <a:t> </a:t>
            </a:r>
            <a:r>
              <a:rPr lang="en-US" sz="3120" dirty="0" err="1"/>
              <a:t>paradoxus</a:t>
            </a:r>
            <a:r>
              <a:rPr lang="en-US" dirty="0"/>
              <a:t/>
            </a:r>
            <a:br>
              <a:rPr lang="en-US" dirty="0"/>
            </a:br>
            <a:endParaRPr lang="en-US" dirty="0"/>
          </a:p>
        </p:txBody>
      </p:sp>
    </p:spTree>
    <p:extLst>
      <p:ext uri="{BB962C8B-B14F-4D97-AF65-F5344CB8AC3E}">
        <p14:creationId xmlns="" xmlns:p14="http://schemas.microsoft.com/office/powerpoint/2010/main" val="36395193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lstStyle/>
          <a:p>
            <a:r>
              <a:rPr lang="en-US" dirty="0" smtClean="0">
                <a:solidFill>
                  <a:srgbClr val="FF0000"/>
                </a:solidFill>
              </a:rPr>
              <a:t>Obstructive </a:t>
            </a:r>
            <a:r>
              <a:rPr lang="en-US" dirty="0">
                <a:solidFill>
                  <a:srgbClr val="FF0000"/>
                </a:solidFill>
              </a:rPr>
              <a:t>shock </a:t>
            </a:r>
            <a:r>
              <a:rPr lang="en-US" dirty="0"/>
              <a:t>due to tension pneumothorax typically includes signs of respiratory distress, hypoxia, and diminished breath </a:t>
            </a:r>
            <a:r>
              <a:rPr lang="en-US" dirty="0" smtClean="0"/>
              <a:t>sounds.</a:t>
            </a:r>
          </a:p>
          <a:p>
            <a:endParaRPr lang="en-US" dirty="0" smtClean="0"/>
          </a:p>
          <a:p>
            <a:r>
              <a:rPr lang="en-US" dirty="0"/>
              <a:t>Pericardial tamponade indicate by </a:t>
            </a:r>
            <a:r>
              <a:rPr lang="en-US" dirty="0">
                <a:solidFill>
                  <a:srgbClr val="FF0000"/>
                </a:solidFill>
              </a:rPr>
              <a:t>Beck’s triad of hypotension, jugular vein distention, and muffled heart </a:t>
            </a:r>
            <a:r>
              <a:rPr lang="en-US" dirty="0" smtClean="0">
                <a:solidFill>
                  <a:srgbClr val="FF0000"/>
                </a:solidFill>
              </a:rPr>
              <a:t>sounds.</a:t>
            </a:r>
            <a:endParaRPr lang="en-US" dirty="0"/>
          </a:p>
        </p:txBody>
      </p:sp>
    </p:spTree>
    <p:extLst>
      <p:ext uri="{BB962C8B-B14F-4D97-AF65-F5344CB8AC3E}">
        <p14:creationId xmlns="" xmlns:p14="http://schemas.microsoft.com/office/powerpoint/2010/main" val="1513019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smtClean="0"/>
          </a:p>
          <a:p>
            <a:r>
              <a:rPr lang="en-US" dirty="0" smtClean="0"/>
              <a:t>A </a:t>
            </a:r>
            <a:r>
              <a:rPr lang="en-US" dirty="0"/>
              <a:t>saddle pulmonary embolism often presents with a sudden cardiac arrest</a:t>
            </a:r>
            <a:r>
              <a:rPr lang="en-US" dirty="0" smtClean="0"/>
              <a:t>.</a:t>
            </a:r>
          </a:p>
          <a:p>
            <a:endParaRPr lang="en-US" dirty="0" smtClean="0"/>
          </a:p>
          <a:p>
            <a:r>
              <a:rPr lang="en-US" dirty="0" smtClean="0"/>
              <a:t> </a:t>
            </a:r>
            <a:r>
              <a:rPr lang="en-US" dirty="0"/>
              <a:t>Left-heart obstructive lesions may present in newborns with discrepant perfusion of the upper and lower extremities.</a:t>
            </a:r>
          </a:p>
        </p:txBody>
      </p:sp>
    </p:spTree>
    <p:extLst>
      <p:ext uri="{BB962C8B-B14F-4D97-AF65-F5344CB8AC3E}">
        <p14:creationId xmlns="" xmlns:p14="http://schemas.microsoft.com/office/powerpoint/2010/main" val="256320013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sz="3510" b="1" dirty="0">
                <a:solidFill>
                  <a:schemeClr val="accent5"/>
                </a:solidFill>
              </a:rPr>
              <a:t>Distributive shock </a:t>
            </a:r>
          </a:p>
          <a:p>
            <a:pPr marL="445770" lvl="1" indent="0">
              <a:buNone/>
            </a:pPr>
            <a:r>
              <a:rPr lang="en-US" sz="2925" dirty="0"/>
              <a:t>#includes signs of vasodilation, including </a:t>
            </a:r>
          </a:p>
          <a:p>
            <a:pPr lvl="1">
              <a:buFont typeface="Courier New" panose="02070309020205020404" pitchFamily="49" charset="0"/>
              <a:buChar char="o"/>
            </a:pPr>
            <a:r>
              <a:rPr lang="en-US" sz="3120" dirty="0"/>
              <a:t>Tachycardia</a:t>
            </a:r>
          </a:p>
          <a:p>
            <a:pPr lvl="1">
              <a:buFont typeface="Courier New" panose="02070309020205020404" pitchFamily="49" charset="0"/>
              <a:buChar char="o"/>
            </a:pPr>
            <a:r>
              <a:rPr lang="en-US" sz="3120" dirty="0"/>
              <a:t>flash capillary refill</a:t>
            </a:r>
          </a:p>
          <a:p>
            <a:pPr lvl="1">
              <a:buFont typeface="Courier New" panose="02070309020205020404" pitchFamily="49" charset="0"/>
              <a:buChar char="o"/>
            </a:pPr>
            <a:r>
              <a:rPr lang="en-US" sz="3120" dirty="0"/>
              <a:t>warm extremities</a:t>
            </a:r>
          </a:p>
          <a:p>
            <a:pPr lvl="1">
              <a:buFont typeface="Courier New" panose="02070309020205020404" pitchFamily="49" charset="0"/>
              <a:buChar char="o"/>
            </a:pPr>
            <a:r>
              <a:rPr lang="en-US" sz="3120" dirty="0"/>
              <a:t>bounding peripheral pulses, and </a:t>
            </a:r>
          </a:p>
          <a:p>
            <a:pPr lvl="1">
              <a:buFont typeface="Courier New" panose="02070309020205020404" pitchFamily="49" charset="0"/>
              <a:buChar char="o"/>
            </a:pPr>
            <a:r>
              <a:rPr lang="en-US" sz="3120" dirty="0"/>
              <a:t>increased pulse pressure, often with diastolic hypotension.</a:t>
            </a:r>
          </a:p>
          <a:p>
            <a:pPr marL="0" indent="0">
              <a:buNone/>
            </a:pPr>
            <a:r>
              <a:rPr lang="en-US" dirty="0"/>
              <a:t/>
            </a:r>
            <a:br>
              <a:rPr lang="en-US" dirty="0"/>
            </a:br>
            <a:endParaRPr lang="en-US" dirty="0"/>
          </a:p>
        </p:txBody>
      </p:sp>
    </p:spTree>
    <p:extLst>
      <p:ext uri="{BB962C8B-B14F-4D97-AF65-F5344CB8AC3E}">
        <p14:creationId xmlns="" xmlns:p14="http://schemas.microsoft.com/office/powerpoint/2010/main" val="17078338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a:t>
            </a:r>
            <a:r>
              <a:rPr lang="en-US" dirty="0">
                <a:solidFill>
                  <a:srgbClr val="FF0000"/>
                </a:solidFill>
              </a:rPr>
              <a:t>neurogenic shock</a:t>
            </a:r>
            <a:r>
              <a:rPr lang="en-US" dirty="0"/>
              <a:t>, tachycardia may be absent or frank bradycardia may be present. </a:t>
            </a:r>
          </a:p>
          <a:p>
            <a:r>
              <a:rPr lang="en-US" dirty="0"/>
              <a:t>Similar to distributive shock, signs of vasodilation may be present, although in the immediate phase, the patient can feel cool peripherally with delayed capillary refill. </a:t>
            </a:r>
            <a:br>
              <a:rPr lang="en-US" dirty="0"/>
            </a:br>
            <a:endParaRPr lang="en-US" dirty="0"/>
          </a:p>
        </p:txBody>
      </p:sp>
    </p:spTree>
    <p:extLst>
      <p:ext uri="{BB962C8B-B14F-4D97-AF65-F5344CB8AC3E}">
        <p14:creationId xmlns="" xmlns:p14="http://schemas.microsoft.com/office/powerpoint/2010/main" val="21012781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4000" b="1" dirty="0">
                <a:solidFill>
                  <a:schemeClr val="accent5"/>
                </a:solidFill>
              </a:rPr>
              <a:t>Septic shock </a:t>
            </a:r>
          </a:p>
          <a:p>
            <a:pPr>
              <a:buFont typeface="Courier New" panose="02070309020205020404" pitchFamily="49" charset="0"/>
              <a:buChar char="o"/>
            </a:pPr>
            <a:r>
              <a:rPr lang="en-US" dirty="0" smtClean="0"/>
              <a:t>Present with wide </a:t>
            </a:r>
            <a:r>
              <a:rPr lang="en-US" dirty="0"/>
              <a:t>spectrum of presenting signs and symptoms. </a:t>
            </a:r>
            <a:endParaRPr lang="en-US" dirty="0" smtClean="0"/>
          </a:p>
          <a:p>
            <a:pPr>
              <a:buFont typeface="Courier New" panose="02070309020205020404" pitchFamily="49" charset="0"/>
              <a:buChar char="o"/>
            </a:pPr>
            <a:r>
              <a:rPr lang="en-US" dirty="0" smtClean="0"/>
              <a:t>A </a:t>
            </a:r>
            <a:r>
              <a:rPr lang="en-US" dirty="0"/>
              <a:t>key historical clue </a:t>
            </a:r>
            <a:r>
              <a:rPr lang="en-US" dirty="0" smtClean="0"/>
              <a:t>is</a:t>
            </a:r>
          </a:p>
          <a:p>
            <a:pPr lvl="1">
              <a:buFont typeface="Courier New" panose="02070309020205020404" pitchFamily="49" charset="0"/>
              <a:buChar char="o"/>
            </a:pPr>
            <a:r>
              <a:rPr lang="en-US" dirty="0" smtClean="0"/>
              <a:t> </a:t>
            </a:r>
            <a:r>
              <a:rPr lang="en-US" dirty="0"/>
              <a:t>T</a:t>
            </a:r>
            <a:r>
              <a:rPr lang="en-US" dirty="0" smtClean="0"/>
              <a:t>he </a:t>
            </a:r>
            <a:r>
              <a:rPr lang="en-US" dirty="0"/>
              <a:t>presence of fever (or hypothermia</a:t>
            </a:r>
            <a:r>
              <a:rPr lang="en-US" dirty="0" smtClean="0"/>
              <a:t>)</a:t>
            </a:r>
          </a:p>
          <a:p>
            <a:pPr lvl="1">
              <a:buFont typeface="Courier New" panose="02070309020205020404" pitchFamily="49" charset="0"/>
              <a:buChar char="o"/>
            </a:pPr>
            <a:r>
              <a:rPr lang="en-US" dirty="0" smtClean="0"/>
              <a:t> </a:t>
            </a:r>
            <a:r>
              <a:rPr lang="en-US" dirty="0"/>
              <a:t>A</a:t>
            </a:r>
            <a:r>
              <a:rPr lang="en-US" dirty="0" smtClean="0"/>
              <a:t>long </a:t>
            </a:r>
            <a:r>
              <a:rPr lang="en-US" dirty="0"/>
              <a:t>with evidence for either a </a:t>
            </a:r>
            <a:r>
              <a:rPr lang="en-US" i="1" dirty="0"/>
              <a:t>systemic </a:t>
            </a:r>
            <a:r>
              <a:rPr lang="en-US" dirty="0"/>
              <a:t>(e.g., bacteremia, </a:t>
            </a:r>
            <a:r>
              <a:rPr lang="en-US" dirty="0" err="1"/>
              <a:t>rickettsial</a:t>
            </a:r>
            <a:r>
              <a:rPr lang="en-US" dirty="0"/>
              <a:t> disease, </a:t>
            </a:r>
            <a:r>
              <a:rPr lang="en-US" dirty="0" err="1"/>
              <a:t>fungemia</a:t>
            </a:r>
            <a:r>
              <a:rPr lang="en-US" dirty="0"/>
              <a:t>, viremia) or </a:t>
            </a:r>
            <a:r>
              <a:rPr lang="en-US" i="1" dirty="0"/>
              <a:t>localized </a:t>
            </a:r>
            <a:r>
              <a:rPr lang="en-US" dirty="0"/>
              <a:t>(e.g., meningitis, pneumonia, pyelonephritis, peritonitis, necrotizing fasciitis) infection. </a:t>
            </a:r>
            <a:br>
              <a:rPr lang="en-US" dirty="0"/>
            </a:br>
            <a:endParaRPr lang="en-US" dirty="0"/>
          </a:p>
        </p:txBody>
      </p:sp>
    </p:spTree>
    <p:extLst>
      <p:ext uri="{BB962C8B-B14F-4D97-AF65-F5344CB8AC3E}">
        <p14:creationId xmlns="" xmlns:p14="http://schemas.microsoft.com/office/powerpoint/2010/main" val="11153005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Infants and young children most commonly present with </a:t>
            </a:r>
            <a:r>
              <a:rPr lang="en-US" dirty="0">
                <a:solidFill>
                  <a:srgbClr val="FF0000"/>
                </a:solidFill>
              </a:rPr>
              <a:t>“cold shock,” </a:t>
            </a:r>
            <a:r>
              <a:rPr lang="en-US" dirty="0"/>
              <a:t>with features of hypovolemic and cardiogenic shock predominating, including </a:t>
            </a:r>
            <a:endParaRPr lang="en-US" dirty="0" smtClean="0"/>
          </a:p>
          <a:p>
            <a:pPr lvl="1">
              <a:buFont typeface="Courier New" panose="02070309020205020404" pitchFamily="49" charset="0"/>
              <a:buChar char="o"/>
            </a:pPr>
            <a:r>
              <a:rPr lang="en-US" sz="2800" dirty="0" smtClean="0"/>
              <a:t>Tachycardia</a:t>
            </a:r>
          </a:p>
          <a:p>
            <a:pPr lvl="1">
              <a:buFont typeface="Courier New" panose="02070309020205020404" pitchFamily="49" charset="0"/>
              <a:buChar char="o"/>
            </a:pPr>
            <a:r>
              <a:rPr lang="en-US" sz="2800" dirty="0" smtClean="0"/>
              <a:t>delayed </a:t>
            </a:r>
            <a:r>
              <a:rPr lang="en-US" sz="2800" dirty="0"/>
              <a:t>capillary </a:t>
            </a:r>
            <a:r>
              <a:rPr lang="en-US" sz="2800" dirty="0" smtClean="0"/>
              <a:t>refill</a:t>
            </a:r>
          </a:p>
          <a:p>
            <a:pPr lvl="1">
              <a:buFont typeface="Courier New" panose="02070309020205020404" pitchFamily="49" charset="0"/>
              <a:buChar char="o"/>
            </a:pPr>
            <a:r>
              <a:rPr lang="en-US" sz="2800" dirty="0" smtClean="0"/>
              <a:t>cool extremities</a:t>
            </a:r>
          </a:p>
          <a:p>
            <a:pPr lvl="1">
              <a:buFont typeface="Courier New" panose="02070309020205020404" pitchFamily="49" charset="0"/>
              <a:buChar char="o"/>
            </a:pPr>
            <a:r>
              <a:rPr lang="en-US" sz="2800" dirty="0" smtClean="0"/>
              <a:t>diminished </a:t>
            </a:r>
            <a:r>
              <a:rPr lang="en-US" sz="2800" dirty="0"/>
              <a:t>peripheral pulses, and </a:t>
            </a:r>
            <a:endParaRPr lang="en-US" sz="2800" dirty="0" smtClean="0"/>
          </a:p>
          <a:p>
            <a:pPr lvl="1">
              <a:buFont typeface="Courier New" panose="02070309020205020404" pitchFamily="49" charset="0"/>
              <a:buChar char="o"/>
            </a:pPr>
            <a:r>
              <a:rPr lang="en-US" sz="2800" dirty="0" smtClean="0"/>
              <a:t>decreased </a:t>
            </a:r>
            <a:r>
              <a:rPr lang="en-US" sz="2800" dirty="0"/>
              <a:t>pulse pressure</a:t>
            </a:r>
            <a:r>
              <a:rPr lang="en-US" sz="2800" dirty="0" smtClean="0"/>
              <a:t>.</a:t>
            </a:r>
          </a:p>
        </p:txBody>
      </p:sp>
    </p:spTree>
    <p:extLst>
      <p:ext uri="{BB962C8B-B14F-4D97-AF65-F5344CB8AC3E}">
        <p14:creationId xmlns="" xmlns:p14="http://schemas.microsoft.com/office/powerpoint/2010/main" val="25644908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Older children and adolescents, especially those with sepsis from indwelling central venous catheters, more commonly present with </a:t>
            </a:r>
            <a:r>
              <a:rPr lang="en-US" dirty="0">
                <a:solidFill>
                  <a:srgbClr val="FF0000"/>
                </a:solidFill>
              </a:rPr>
              <a:t>“warm shock” </a:t>
            </a:r>
            <a:r>
              <a:rPr lang="en-US" dirty="0"/>
              <a:t>that resembles distributive shock, including </a:t>
            </a:r>
            <a:endParaRPr lang="en-US" dirty="0" smtClean="0"/>
          </a:p>
          <a:p>
            <a:pPr lvl="2">
              <a:buFont typeface="Courier New" panose="02070309020205020404" pitchFamily="49" charset="0"/>
              <a:buChar char="o"/>
            </a:pPr>
            <a:r>
              <a:rPr lang="en-US" sz="2800" dirty="0" smtClean="0"/>
              <a:t>Tachycardia</a:t>
            </a:r>
          </a:p>
          <a:p>
            <a:pPr lvl="2">
              <a:buFont typeface="Courier New" panose="02070309020205020404" pitchFamily="49" charset="0"/>
              <a:buChar char="o"/>
            </a:pPr>
            <a:r>
              <a:rPr lang="en-US" sz="2800" dirty="0"/>
              <a:t>F</a:t>
            </a:r>
            <a:r>
              <a:rPr lang="en-US" sz="2800" dirty="0" smtClean="0"/>
              <a:t>lash </a:t>
            </a:r>
            <a:r>
              <a:rPr lang="en-US" sz="2800" dirty="0"/>
              <a:t>capillary </a:t>
            </a:r>
            <a:r>
              <a:rPr lang="en-US" sz="2800" dirty="0" smtClean="0"/>
              <a:t>refill</a:t>
            </a:r>
          </a:p>
          <a:p>
            <a:pPr lvl="2">
              <a:buFont typeface="Courier New" panose="02070309020205020404" pitchFamily="49" charset="0"/>
              <a:buChar char="o"/>
            </a:pPr>
            <a:r>
              <a:rPr lang="en-US" sz="2800" dirty="0"/>
              <a:t>W</a:t>
            </a:r>
            <a:r>
              <a:rPr lang="en-US" sz="2800" dirty="0" smtClean="0"/>
              <a:t>arm extremities</a:t>
            </a:r>
          </a:p>
          <a:p>
            <a:pPr lvl="2">
              <a:buFont typeface="Courier New" panose="02070309020205020404" pitchFamily="49" charset="0"/>
              <a:buChar char="o"/>
            </a:pPr>
            <a:r>
              <a:rPr lang="en-US" sz="2800" dirty="0"/>
              <a:t>B</a:t>
            </a:r>
            <a:r>
              <a:rPr lang="en-US" sz="2800" dirty="0" smtClean="0"/>
              <a:t>ounding </a:t>
            </a:r>
            <a:r>
              <a:rPr lang="en-US" sz="2800" dirty="0"/>
              <a:t>peripheral pulses, and </a:t>
            </a:r>
            <a:endParaRPr lang="en-US" sz="2800" dirty="0" smtClean="0"/>
          </a:p>
          <a:p>
            <a:pPr lvl="2">
              <a:buFont typeface="Courier New" panose="02070309020205020404" pitchFamily="49" charset="0"/>
              <a:buChar char="o"/>
            </a:pPr>
            <a:r>
              <a:rPr lang="en-US" sz="2800" dirty="0"/>
              <a:t>I</a:t>
            </a:r>
            <a:r>
              <a:rPr lang="en-US" sz="2800" dirty="0" smtClean="0"/>
              <a:t>ncreased </a:t>
            </a:r>
            <a:r>
              <a:rPr lang="en-US" sz="2800" dirty="0"/>
              <a:t>pulse pressure</a:t>
            </a:r>
          </a:p>
        </p:txBody>
      </p:sp>
    </p:spTree>
    <p:extLst>
      <p:ext uri="{BB962C8B-B14F-4D97-AF65-F5344CB8AC3E}">
        <p14:creationId xmlns="" xmlns:p14="http://schemas.microsoft.com/office/powerpoint/2010/main" val="20605628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solidFill>
                  <a:srgbClr val="FF0000"/>
                </a:solidFill>
              </a:rPr>
              <a:t>Regardless of etiology, </a:t>
            </a:r>
            <a:r>
              <a:rPr lang="en-US" dirty="0">
                <a:solidFill>
                  <a:schemeClr val="accent5"/>
                </a:solidFill>
              </a:rPr>
              <a:t>uncompensated shock</a:t>
            </a:r>
            <a:r>
              <a:rPr lang="en-US" dirty="0"/>
              <a:t>, </a:t>
            </a:r>
            <a:r>
              <a:rPr lang="en-US" dirty="0" smtClean="0"/>
              <a:t>presents with:-</a:t>
            </a:r>
          </a:p>
          <a:p>
            <a:pPr lvl="1"/>
            <a:r>
              <a:rPr lang="en-US" sz="3120" dirty="0" smtClean="0"/>
              <a:t>Hypotension</a:t>
            </a:r>
            <a:endParaRPr lang="en-US" sz="3120" dirty="0"/>
          </a:p>
          <a:p>
            <a:pPr lvl="1"/>
            <a:r>
              <a:rPr lang="en-US" sz="3120" dirty="0" smtClean="0"/>
              <a:t>High </a:t>
            </a:r>
            <a:r>
              <a:rPr lang="en-US" sz="3120" dirty="0"/>
              <a:t>SVR</a:t>
            </a:r>
          </a:p>
          <a:p>
            <a:pPr lvl="1"/>
            <a:r>
              <a:rPr lang="en-US" sz="3120" dirty="0" smtClean="0"/>
              <a:t>Decreased </a:t>
            </a:r>
            <a:r>
              <a:rPr lang="en-US" sz="3120" dirty="0"/>
              <a:t>cardiac output</a:t>
            </a:r>
          </a:p>
          <a:p>
            <a:pPr lvl="1"/>
            <a:r>
              <a:rPr lang="en-US" sz="3120" dirty="0"/>
              <a:t>R</a:t>
            </a:r>
            <a:r>
              <a:rPr lang="en-US" sz="3120" dirty="0" smtClean="0"/>
              <a:t>espiratory </a:t>
            </a:r>
            <a:r>
              <a:rPr lang="en-US" sz="3120" dirty="0"/>
              <a:t>failure</a:t>
            </a:r>
          </a:p>
          <a:p>
            <a:pPr lvl="1"/>
            <a:r>
              <a:rPr lang="en-US" sz="3120" dirty="0" err="1" smtClean="0"/>
              <a:t>Obtundation</a:t>
            </a:r>
            <a:r>
              <a:rPr lang="en-US" sz="3120" dirty="0"/>
              <a:t>, and </a:t>
            </a:r>
          </a:p>
          <a:p>
            <a:pPr lvl="1"/>
            <a:r>
              <a:rPr lang="en-US" sz="3120" dirty="0" smtClean="0"/>
              <a:t>Oliguria</a:t>
            </a:r>
            <a:endParaRPr lang="en-US" sz="3120" dirty="0"/>
          </a:p>
        </p:txBody>
      </p:sp>
    </p:spTree>
    <p:extLst>
      <p:ext uri="{BB962C8B-B14F-4D97-AF65-F5344CB8AC3E}">
        <p14:creationId xmlns="" xmlns:p14="http://schemas.microsoft.com/office/powerpoint/2010/main" val="40555242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Additional clinical findings in shock include cutaneous lesions such as </a:t>
            </a:r>
            <a:r>
              <a:rPr lang="en-US" dirty="0" err="1">
                <a:solidFill>
                  <a:schemeClr val="accent5"/>
                </a:solidFill>
              </a:rPr>
              <a:t>petechiae</a:t>
            </a:r>
            <a:r>
              <a:rPr lang="en-US" dirty="0">
                <a:solidFill>
                  <a:schemeClr val="accent5"/>
                </a:solidFill>
              </a:rPr>
              <a:t>, diffuse erythema, </a:t>
            </a:r>
            <a:r>
              <a:rPr lang="en-US" dirty="0" smtClean="0">
                <a:solidFill>
                  <a:schemeClr val="accent5"/>
                </a:solidFill>
              </a:rPr>
              <a:t>ecchymosis, </a:t>
            </a:r>
            <a:r>
              <a:rPr lang="en-US" dirty="0" err="1">
                <a:solidFill>
                  <a:schemeClr val="accent5"/>
                </a:solidFill>
              </a:rPr>
              <a:t>ecthyma</a:t>
            </a:r>
            <a:r>
              <a:rPr lang="en-US" dirty="0">
                <a:solidFill>
                  <a:schemeClr val="accent5"/>
                </a:solidFill>
              </a:rPr>
              <a:t> </a:t>
            </a:r>
            <a:r>
              <a:rPr lang="en-US" dirty="0" err="1">
                <a:solidFill>
                  <a:schemeClr val="accent5"/>
                </a:solidFill>
              </a:rPr>
              <a:t>gangrenosum</a:t>
            </a:r>
            <a:r>
              <a:rPr lang="en-US" dirty="0">
                <a:solidFill>
                  <a:schemeClr val="accent5"/>
                </a:solidFill>
              </a:rPr>
              <a:t>, and peripheral gangrene</a:t>
            </a:r>
            <a:r>
              <a:rPr lang="en-US" dirty="0"/>
              <a:t>. </a:t>
            </a:r>
          </a:p>
          <a:p>
            <a:r>
              <a:rPr lang="en-US" dirty="0">
                <a:solidFill>
                  <a:schemeClr val="accent1"/>
                </a:solidFill>
              </a:rPr>
              <a:t>Jaundice</a:t>
            </a:r>
            <a:r>
              <a:rPr lang="en-US" dirty="0"/>
              <a:t> can be present either as a sign of infection or as a result of MODS. </a:t>
            </a:r>
            <a:br>
              <a:rPr lang="en-US" dirty="0"/>
            </a:br>
            <a:endParaRPr lang="en-US" dirty="0"/>
          </a:p>
          <a:p>
            <a:endParaRPr lang="en-US" dirty="0"/>
          </a:p>
        </p:txBody>
      </p:sp>
    </p:spTree>
    <p:extLst>
      <p:ext uri="{BB962C8B-B14F-4D97-AF65-F5344CB8AC3E}">
        <p14:creationId xmlns="" xmlns:p14="http://schemas.microsoft.com/office/powerpoint/2010/main" val="31710550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680" b="1" dirty="0">
                <a:solidFill>
                  <a:schemeClr val="accent5"/>
                </a:solidFill>
              </a:rPr>
              <a:t>DIAGNOSIS</a:t>
            </a:r>
            <a:r>
              <a:rPr lang="en-US" dirty="0"/>
              <a:t> </a:t>
            </a:r>
          </a:p>
        </p:txBody>
      </p:sp>
      <p:sp>
        <p:nvSpPr>
          <p:cNvPr id="3" name="Content Placeholder 2"/>
          <p:cNvSpPr>
            <a:spLocks noGrp="1"/>
          </p:cNvSpPr>
          <p:nvPr>
            <p:ph idx="1"/>
          </p:nvPr>
        </p:nvSpPr>
        <p:spPr>
          <a:xfrm>
            <a:off x="1454229" y="5071024"/>
            <a:ext cx="10252710" cy="1870490"/>
          </a:xfrm>
        </p:spPr>
        <p:txBody>
          <a:bodyPr>
            <a:normAutofit/>
          </a:bodyPr>
          <a:lstStyle/>
          <a:p>
            <a:r>
              <a:rPr lang="en-US" dirty="0">
                <a:solidFill>
                  <a:srgbClr val="0070C0"/>
                </a:solidFill>
              </a:rPr>
              <a:t>Shock is a clinical diagnosis that should be primarily based on a thorough history and physical examination </a:t>
            </a:r>
            <a:r>
              <a:rPr lang="en-US" dirty="0" smtClean="0">
                <a:solidFill>
                  <a:srgbClr val="0070C0"/>
                </a:solidFill>
              </a:rPr>
              <a:t>.</a:t>
            </a:r>
          </a:p>
          <a:p>
            <a:endParaRPr lang="en-US" dirty="0" smtClean="0"/>
          </a:p>
        </p:txBody>
      </p:sp>
      <p:pic>
        <p:nvPicPr>
          <p:cNvPr id="1028" name="Picture 4" descr="See related image detail. Doctor stock vector. Illustration of hospital, stethoscope - 40156347"/>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364007" y="592159"/>
            <a:ext cx="3046408" cy="4376589"/>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5325983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solidFill>
                  <a:schemeClr val="accent5"/>
                </a:solidFill>
              </a:rPr>
              <a:t>The physical examination should include rapid assessment </a:t>
            </a:r>
            <a:r>
              <a:rPr lang="en-US" b="1" dirty="0" smtClean="0">
                <a:solidFill>
                  <a:schemeClr val="accent5"/>
                </a:solidFill>
              </a:rPr>
              <a:t>of-</a:t>
            </a:r>
          </a:p>
          <a:p>
            <a:pPr lvl="1">
              <a:buFont typeface="Courier New" panose="02070309020205020404" pitchFamily="49" charset="0"/>
              <a:buChar char="o"/>
            </a:pPr>
            <a:endParaRPr lang="en-US" dirty="0"/>
          </a:p>
          <a:p>
            <a:pPr lvl="1">
              <a:buFont typeface="Courier New" panose="02070309020205020404" pitchFamily="49" charset="0"/>
              <a:buChar char="o"/>
            </a:pPr>
            <a:r>
              <a:rPr lang="en-US" sz="2730" dirty="0"/>
              <a:t>vital signs (including pulse oximetry)</a:t>
            </a:r>
          </a:p>
          <a:p>
            <a:pPr lvl="1">
              <a:buFont typeface="Courier New" panose="02070309020205020404" pitchFamily="49" charset="0"/>
              <a:buChar char="o"/>
            </a:pPr>
            <a:r>
              <a:rPr lang="en-US" sz="2730" dirty="0"/>
              <a:t>mental status/level of consciousness</a:t>
            </a:r>
          </a:p>
          <a:p>
            <a:pPr lvl="1">
              <a:buFont typeface="Courier New" panose="02070309020205020404" pitchFamily="49" charset="0"/>
              <a:buChar char="o"/>
            </a:pPr>
            <a:r>
              <a:rPr lang="en-US" sz="2730" dirty="0"/>
              <a:t>extremity temperature</a:t>
            </a:r>
          </a:p>
          <a:p>
            <a:pPr lvl="1">
              <a:buFont typeface="Courier New" panose="02070309020205020404" pitchFamily="49" charset="0"/>
              <a:buChar char="o"/>
            </a:pPr>
            <a:r>
              <a:rPr lang="en-US" sz="2730" dirty="0"/>
              <a:t>peripheral and central pulses</a:t>
            </a:r>
          </a:p>
          <a:p>
            <a:pPr lvl="1">
              <a:buFont typeface="Courier New" panose="02070309020205020404" pitchFamily="49" charset="0"/>
              <a:buChar char="o"/>
            </a:pPr>
            <a:r>
              <a:rPr lang="en-US" sz="2730" dirty="0"/>
              <a:t>capillary refill, and </a:t>
            </a:r>
          </a:p>
          <a:p>
            <a:pPr lvl="1">
              <a:buFont typeface="Courier New" panose="02070309020205020404" pitchFamily="49" charset="0"/>
              <a:buChar char="o"/>
            </a:pPr>
            <a:r>
              <a:rPr lang="en-US" sz="2730" dirty="0"/>
              <a:t>presence of rashes or skin changes </a:t>
            </a:r>
            <a:r>
              <a:rPr lang="en-US" dirty="0"/>
              <a:t/>
            </a:r>
            <a:br>
              <a:rPr lang="en-US" dirty="0"/>
            </a:br>
            <a:endParaRPr lang="en-US" dirty="0"/>
          </a:p>
        </p:txBody>
      </p:sp>
    </p:spTree>
    <p:extLst>
      <p:ext uri="{BB962C8B-B14F-4D97-AF65-F5344CB8AC3E}">
        <p14:creationId xmlns="" xmlns:p14="http://schemas.microsoft.com/office/powerpoint/2010/main" val="17830906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020050" y="286523"/>
            <a:ext cx="9323514" cy="5821742"/>
          </a:xfrm>
        </p:spPr>
      </p:pic>
    </p:spTree>
    <p:extLst>
      <p:ext uri="{BB962C8B-B14F-4D97-AF65-F5344CB8AC3E}">
        <p14:creationId xmlns="" xmlns:p14="http://schemas.microsoft.com/office/powerpoint/2010/main" val="31411361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971859" y="431096"/>
            <a:ext cx="9787836" cy="5815090"/>
          </a:xfrm>
        </p:spPr>
      </p:pic>
    </p:spTree>
    <p:extLst>
      <p:ext uri="{BB962C8B-B14F-4D97-AF65-F5344CB8AC3E}">
        <p14:creationId xmlns="" xmlns:p14="http://schemas.microsoft.com/office/powerpoint/2010/main" val="22918256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endParaRPr lang="en-US" dirty="0"/>
          </a:p>
          <a:p>
            <a:r>
              <a:rPr lang="en-US" dirty="0"/>
              <a:t>Increasingly, </a:t>
            </a:r>
            <a:r>
              <a:rPr lang="en-US" dirty="0">
                <a:solidFill>
                  <a:srgbClr val="FF0000"/>
                </a:solidFill>
              </a:rPr>
              <a:t>point-of-care ultrasound (POCUS) </a:t>
            </a:r>
            <a:r>
              <a:rPr lang="en-US" dirty="0"/>
              <a:t>is being incorporated into the initial assessment of children with shock to assess </a:t>
            </a:r>
            <a:endParaRPr lang="en-US" dirty="0" smtClean="0"/>
          </a:p>
          <a:p>
            <a:endParaRPr lang="en-US" dirty="0" smtClean="0"/>
          </a:p>
          <a:p>
            <a:pPr lvl="1">
              <a:buFont typeface="Courier New" panose="02070309020205020404" pitchFamily="49" charset="0"/>
              <a:buChar char="o"/>
            </a:pPr>
            <a:r>
              <a:rPr lang="en-US" sz="2730" dirty="0"/>
              <a:t>Intravascular volume status</a:t>
            </a:r>
          </a:p>
          <a:p>
            <a:pPr lvl="1">
              <a:buFont typeface="Courier New" panose="02070309020205020404" pitchFamily="49" charset="0"/>
              <a:buChar char="o"/>
            </a:pPr>
            <a:r>
              <a:rPr lang="en-US" sz="2730" dirty="0"/>
              <a:t>Likelihood of a positive hemodynamic response to fluid therapy, and </a:t>
            </a:r>
          </a:p>
          <a:p>
            <a:pPr lvl="1">
              <a:buFont typeface="Courier New" panose="02070309020205020404" pitchFamily="49" charset="0"/>
              <a:buChar char="o"/>
            </a:pPr>
            <a:r>
              <a:rPr lang="en-US" sz="2730" dirty="0"/>
              <a:t>Myocardial function</a:t>
            </a:r>
          </a:p>
        </p:txBody>
      </p:sp>
    </p:spTree>
    <p:extLst>
      <p:ext uri="{BB962C8B-B14F-4D97-AF65-F5344CB8AC3E}">
        <p14:creationId xmlns="" xmlns:p14="http://schemas.microsoft.com/office/powerpoint/2010/main" val="41425557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Septic shock</a:t>
            </a:r>
          </a:p>
        </p:txBody>
      </p:sp>
      <p:sp>
        <p:nvSpPr>
          <p:cNvPr id="3" name="Content Placeholder 2"/>
          <p:cNvSpPr>
            <a:spLocks noGrp="1"/>
          </p:cNvSpPr>
          <p:nvPr>
            <p:ph idx="1"/>
          </p:nvPr>
        </p:nvSpPr>
        <p:spPr>
          <a:xfrm>
            <a:off x="817245" y="1734146"/>
            <a:ext cx="10252710" cy="4592358"/>
          </a:xfrm>
        </p:spPr>
        <p:txBody>
          <a:bodyPr>
            <a:normAutofit fontScale="92500" lnSpcReduction="20000"/>
          </a:bodyPr>
          <a:lstStyle/>
          <a:p>
            <a:pPr marL="0" indent="0">
              <a:buNone/>
            </a:pPr>
            <a:endParaRPr lang="en-US" dirty="0"/>
          </a:p>
          <a:p>
            <a:pPr>
              <a:buFont typeface="Courier New" panose="02070309020205020404" pitchFamily="49" charset="0"/>
              <a:buChar char="o"/>
            </a:pPr>
            <a:r>
              <a:rPr lang="en-US" dirty="0">
                <a:solidFill>
                  <a:srgbClr val="FF0000"/>
                </a:solidFill>
              </a:rPr>
              <a:t> Sepsis in children is operationalized as a Phoenix Sepsis </a:t>
            </a:r>
            <a:r>
              <a:rPr lang="en-US" dirty="0" smtClean="0">
                <a:solidFill>
                  <a:srgbClr val="FF0000"/>
                </a:solidFill>
              </a:rPr>
              <a:t>Score</a:t>
            </a:r>
            <a:endParaRPr lang="en-US" dirty="0">
              <a:solidFill>
                <a:srgbClr val="FF0000"/>
              </a:solidFill>
            </a:endParaRPr>
          </a:p>
          <a:p>
            <a:pPr marL="0" indent="0">
              <a:buNone/>
            </a:pPr>
            <a:r>
              <a:rPr lang="en-US" dirty="0" smtClean="0">
                <a:solidFill>
                  <a:schemeClr val="accent5"/>
                </a:solidFill>
              </a:rPr>
              <a:t>Of </a:t>
            </a:r>
            <a:r>
              <a:rPr lang="en-US" dirty="0">
                <a:solidFill>
                  <a:schemeClr val="accent5"/>
                </a:solidFill>
              </a:rPr>
              <a:t>at least 2 points from a composite four-organ system model that includes criteria for </a:t>
            </a:r>
            <a:endParaRPr lang="en-US" dirty="0" smtClean="0">
              <a:solidFill>
                <a:schemeClr val="accent5"/>
              </a:solidFill>
            </a:endParaRPr>
          </a:p>
          <a:p>
            <a:pPr marL="0" indent="0">
              <a:buNone/>
            </a:pPr>
            <a:endParaRPr lang="en-US" dirty="0">
              <a:solidFill>
                <a:schemeClr val="accent5"/>
              </a:solidFill>
            </a:endParaRPr>
          </a:p>
          <a:p>
            <a:pPr lvl="1"/>
            <a:r>
              <a:rPr lang="en-US" sz="2925" dirty="0" smtClean="0"/>
              <a:t>Respiratory</a:t>
            </a:r>
            <a:endParaRPr lang="en-US" sz="2925" dirty="0"/>
          </a:p>
          <a:p>
            <a:pPr lvl="1"/>
            <a:r>
              <a:rPr lang="en-US" sz="2925" dirty="0" smtClean="0"/>
              <a:t>Neurologic </a:t>
            </a:r>
          </a:p>
          <a:p>
            <a:pPr lvl="1"/>
            <a:r>
              <a:rPr lang="en-US" sz="2925" dirty="0" smtClean="0"/>
              <a:t>Coagulation and</a:t>
            </a:r>
            <a:endParaRPr lang="en-US" sz="2925" dirty="0"/>
          </a:p>
          <a:p>
            <a:pPr lvl="1"/>
            <a:r>
              <a:rPr lang="en-US" sz="2925" dirty="0" smtClean="0"/>
              <a:t>cardiovascular </a:t>
            </a:r>
            <a:r>
              <a:rPr lang="en-US" sz="2925" dirty="0"/>
              <a:t>dysfunction,</a:t>
            </a:r>
          </a:p>
          <a:p>
            <a:endParaRPr lang="en-US" dirty="0"/>
          </a:p>
          <a:p>
            <a:pPr>
              <a:buFont typeface="Wingdings" panose="05000000000000000000" pitchFamily="2" charset="2"/>
              <a:buChar char="v"/>
            </a:pPr>
            <a:r>
              <a:rPr lang="en-US" dirty="0"/>
              <a:t> </a:t>
            </a:r>
            <a:r>
              <a:rPr lang="en-US" sz="2925" dirty="0">
                <a:solidFill>
                  <a:srgbClr val="C00000"/>
                </a:solidFill>
              </a:rPr>
              <a:t>with septic shock requiring at least 1 point in the cardiovascular </a:t>
            </a:r>
            <a:r>
              <a:rPr lang="en-US" sz="2925" dirty="0" err="1">
                <a:solidFill>
                  <a:srgbClr val="C00000"/>
                </a:solidFill>
              </a:rPr>
              <a:t>subscore</a:t>
            </a:r>
            <a:r>
              <a:rPr lang="en-US" sz="2925" dirty="0">
                <a:solidFill>
                  <a:srgbClr val="C00000"/>
                </a:solidFill>
              </a:rPr>
              <a:t> .</a:t>
            </a:r>
          </a:p>
        </p:txBody>
      </p:sp>
    </p:spTree>
    <p:extLst>
      <p:ext uri="{BB962C8B-B14F-4D97-AF65-F5344CB8AC3E}">
        <p14:creationId xmlns="" xmlns:p14="http://schemas.microsoft.com/office/powerpoint/2010/main" val="24514535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040131" y="-30004"/>
            <a:ext cx="8377589" cy="6667976"/>
          </a:xfrm>
        </p:spPr>
      </p:pic>
    </p:spTree>
    <p:extLst>
      <p:ext uri="{BB962C8B-B14F-4D97-AF65-F5344CB8AC3E}">
        <p14:creationId xmlns="" xmlns:p14="http://schemas.microsoft.com/office/powerpoint/2010/main" val="359932355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662352" y="252889"/>
            <a:ext cx="7826740" cy="6519386"/>
          </a:xfrm>
        </p:spPr>
      </p:pic>
    </p:spTree>
    <p:extLst>
      <p:ext uri="{BB962C8B-B14F-4D97-AF65-F5344CB8AC3E}">
        <p14:creationId xmlns="" xmlns:p14="http://schemas.microsoft.com/office/powerpoint/2010/main" val="44642709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LABORATORY FINDINGS </a:t>
            </a:r>
          </a:p>
        </p:txBody>
      </p:sp>
      <p:sp>
        <p:nvSpPr>
          <p:cNvPr id="3" name="Content Placeholder 2"/>
          <p:cNvSpPr>
            <a:spLocks noGrp="1"/>
          </p:cNvSpPr>
          <p:nvPr>
            <p:ph idx="1"/>
          </p:nvPr>
        </p:nvSpPr>
        <p:spPr/>
        <p:txBody>
          <a:bodyPr>
            <a:normAutofit lnSpcReduction="10000"/>
          </a:bodyPr>
          <a:lstStyle/>
          <a:p>
            <a:r>
              <a:rPr lang="en-US" dirty="0">
                <a:solidFill>
                  <a:schemeClr val="accent1">
                    <a:lumMod val="75000"/>
                  </a:schemeClr>
                </a:solidFill>
              </a:rPr>
              <a:t>Although the initial diagnosis of shock can and should be based on clinical data from the history and physical examination</a:t>
            </a:r>
            <a:r>
              <a:rPr lang="en-US" dirty="0"/>
              <a:t>, </a:t>
            </a:r>
            <a:endParaRPr lang="en-US" dirty="0" smtClean="0"/>
          </a:p>
          <a:p>
            <a:endParaRPr lang="en-US" dirty="0"/>
          </a:p>
          <a:p>
            <a:r>
              <a:rPr lang="en-US" dirty="0"/>
              <a:t>T</a:t>
            </a:r>
            <a:r>
              <a:rPr lang="en-US" dirty="0" smtClean="0"/>
              <a:t>he </a:t>
            </a:r>
            <a:r>
              <a:rPr lang="en-US" dirty="0"/>
              <a:t>overall evaluation of shock should also include early laboratory testing to screen for </a:t>
            </a:r>
            <a:endParaRPr lang="en-US" dirty="0" smtClean="0"/>
          </a:p>
          <a:p>
            <a:endParaRPr lang="en-US" dirty="0" smtClean="0"/>
          </a:p>
          <a:p>
            <a:pPr lvl="1">
              <a:buFont typeface="Courier New" panose="02070309020205020404" pitchFamily="49" charset="0"/>
              <a:buChar char="o"/>
            </a:pPr>
            <a:r>
              <a:rPr lang="en-US" dirty="0" smtClean="0">
                <a:solidFill>
                  <a:srgbClr val="FF0000"/>
                </a:solidFill>
              </a:rPr>
              <a:t>hyperlactatemia </a:t>
            </a:r>
            <a:r>
              <a:rPr lang="en-US" dirty="0">
                <a:solidFill>
                  <a:srgbClr val="FF0000"/>
                </a:solidFill>
              </a:rPr>
              <a:t>(as a sign of increased anaerobic metabolism), </a:t>
            </a:r>
            <a:r>
              <a:rPr lang="en-US" dirty="0" err="1">
                <a:solidFill>
                  <a:srgbClr val="FF0000"/>
                </a:solidFill>
              </a:rPr>
              <a:t>acidemia</a:t>
            </a:r>
            <a:r>
              <a:rPr lang="en-US" dirty="0">
                <a:solidFill>
                  <a:srgbClr val="FF0000"/>
                </a:solidFill>
              </a:rPr>
              <a:t>, and </a:t>
            </a:r>
            <a:endParaRPr lang="en-US" dirty="0" smtClean="0">
              <a:solidFill>
                <a:srgbClr val="FF0000"/>
              </a:solidFill>
            </a:endParaRPr>
          </a:p>
          <a:p>
            <a:pPr lvl="1">
              <a:buFont typeface="Courier New" panose="02070309020205020404" pitchFamily="49" charset="0"/>
              <a:buChar char="o"/>
            </a:pPr>
            <a:r>
              <a:rPr lang="en-US" dirty="0" smtClean="0">
                <a:solidFill>
                  <a:srgbClr val="FF0000"/>
                </a:solidFill>
              </a:rPr>
              <a:t>electrolyte </a:t>
            </a:r>
            <a:r>
              <a:rPr lang="en-US" dirty="0">
                <a:solidFill>
                  <a:srgbClr val="FF0000"/>
                </a:solidFill>
              </a:rPr>
              <a:t>disturbances, including hypoglycemia and hypocalcemia. </a:t>
            </a:r>
            <a:br>
              <a:rPr lang="en-US" dirty="0">
                <a:solidFill>
                  <a:srgbClr val="FF0000"/>
                </a:solidFill>
              </a:rPr>
            </a:br>
            <a:endParaRPr lang="en-US" dirty="0">
              <a:solidFill>
                <a:srgbClr val="FF0000"/>
              </a:solidFill>
            </a:endParaRPr>
          </a:p>
        </p:txBody>
      </p:sp>
    </p:spTree>
    <p:extLst>
      <p:ext uri="{BB962C8B-B14F-4D97-AF65-F5344CB8AC3E}">
        <p14:creationId xmlns="" xmlns:p14="http://schemas.microsoft.com/office/powerpoint/2010/main" val="17511866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Laboratory evidence of concurrent </a:t>
            </a:r>
            <a:r>
              <a:rPr lang="en-US" dirty="0">
                <a:solidFill>
                  <a:srgbClr val="FF0000"/>
                </a:solidFill>
              </a:rPr>
              <a:t>MODS</a:t>
            </a:r>
            <a:r>
              <a:rPr lang="en-US" dirty="0"/>
              <a:t> should also be sought, including </a:t>
            </a:r>
            <a:endParaRPr lang="en-US" dirty="0" smtClean="0"/>
          </a:p>
          <a:p>
            <a:endParaRPr lang="en-US" dirty="0" smtClean="0"/>
          </a:p>
          <a:p>
            <a:pPr lvl="1">
              <a:buFont typeface="Courier New" panose="02070309020205020404" pitchFamily="49" charset="0"/>
              <a:buChar char="o"/>
            </a:pPr>
            <a:r>
              <a:rPr lang="en-US" dirty="0"/>
              <a:t>A</a:t>
            </a:r>
            <a:r>
              <a:rPr lang="en-US" dirty="0" smtClean="0"/>
              <a:t> </a:t>
            </a:r>
            <a:r>
              <a:rPr lang="en-US" dirty="0"/>
              <a:t>complete blood </a:t>
            </a:r>
            <a:r>
              <a:rPr lang="en-US" dirty="0" smtClean="0"/>
              <a:t>count</a:t>
            </a:r>
          </a:p>
          <a:p>
            <a:pPr lvl="1">
              <a:buFont typeface="Courier New" panose="02070309020205020404" pitchFamily="49" charset="0"/>
              <a:buChar char="o"/>
            </a:pPr>
            <a:r>
              <a:rPr lang="en-US" dirty="0"/>
              <a:t>R</a:t>
            </a:r>
            <a:r>
              <a:rPr lang="en-US" dirty="0" smtClean="0"/>
              <a:t>enal </a:t>
            </a:r>
            <a:r>
              <a:rPr lang="en-US" dirty="0"/>
              <a:t>function </a:t>
            </a:r>
            <a:r>
              <a:rPr lang="en-US" dirty="0" smtClean="0"/>
              <a:t>tests</a:t>
            </a:r>
          </a:p>
          <a:p>
            <a:pPr lvl="1">
              <a:buFont typeface="Courier New" panose="02070309020205020404" pitchFamily="49" charset="0"/>
              <a:buChar char="o"/>
            </a:pPr>
            <a:r>
              <a:rPr lang="en-US" dirty="0"/>
              <a:t>L</a:t>
            </a:r>
            <a:r>
              <a:rPr lang="en-US" dirty="0" smtClean="0"/>
              <a:t>iver </a:t>
            </a:r>
            <a:r>
              <a:rPr lang="en-US" dirty="0"/>
              <a:t>function tests, and </a:t>
            </a:r>
            <a:endParaRPr lang="en-US" dirty="0" smtClean="0"/>
          </a:p>
          <a:p>
            <a:pPr lvl="1">
              <a:buFont typeface="Courier New" panose="02070309020205020404" pitchFamily="49" charset="0"/>
              <a:buChar char="o"/>
            </a:pPr>
            <a:r>
              <a:rPr lang="en-US" dirty="0"/>
              <a:t>C</a:t>
            </a:r>
            <a:r>
              <a:rPr lang="en-US" dirty="0" smtClean="0"/>
              <a:t>oagulation </a:t>
            </a:r>
            <a:r>
              <a:rPr lang="en-US" dirty="0"/>
              <a:t>profile (including fibrinogen and d-dimer or fibrin split products</a:t>
            </a:r>
            <a:r>
              <a:rPr lang="en-US" dirty="0" smtClean="0"/>
              <a:t>).</a:t>
            </a:r>
          </a:p>
          <a:p>
            <a:pPr marL="0" indent="0">
              <a:buNone/>
            </a:pPr>
            <a:endParaRPr lang="en-US" dirty="0" smtClean="0"/>
          </a:p>
          <a:p>
            <a:endParaRPr lang="en-US" dirty="0"/>
          </a:p>
        </p:txBody>
      </p:sp>
    </p:spTree>
    <p:extLst>
      <p:ext uri="{BB962C8B-B14F-4D97-AF65-F5344CB8AC3E}">
        <p14:creationId xmlns="" xmlns:p14="http://schemas.microsoft.com/office/powerpoint/2010/main" val="114943543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Elevated neutrophil counts with </a:t>
            </a:r>
            <a:r>
              <a:rPr lang="en-US" dirty="0">
                <a:solidFill>
                  <a:srgbClr val="FF0000"/>
                </a:solidFill>
              </a:rPr>
              <a:t>increased immature forms </a:t>
            </a:r>
            <a:r>
              <a:rPr lang="en-US" dirty="0"/>
              <a:t>(i.e., bands, </a:t>
            </a:r>
            <a:r>
              <a:rPr lang="en-US" dirty="0" err="1"/>
              <a:t>myelocytes</a:t>
            </a:r>
            <a:r>
              <a:rPr lang="en-US" dirty="0"/>
              <a:t>, </a:t>
            </a:r>
            <a:r>
              <a:rPr lang="en-US" dirty="0" err="1"/>
              <a:t>promyelocytes</a:t>
            </a:r>
            <a:r>
              <a:rPr lang="en-US" dirty="0"/>
              <a:t>) and </a:t>
            </a:r>
            <a:r>
              <a:rPr lang="en-US" dirty="0">
                <a:solidFill>
                  <a:srgbClr val="FF0000"/>
                </a:solidFill>
              </a:rPr>
              <a:t>elevated CRP</a:t>
            </a:r>
            <a:r>
              <a:rPr lang="en-US" dirty="0"/>
              <a:t> and </a:t>
            </a:r>
            <a:r>
              <a:rPr lang="en-US" dirty="0" err="1"/>
              <a:t>procalcitonin</a:t>
            </a:r>
            <a:r>
              <a:rPr lang="en-US" dirty="0"/>
              <a:t> levels may be seen with </a:t>
            </a:r>
            <a:r>
              <a:rPr lang="en-US" dirty="0">
                <a:solidFill>
                  <a:srgbClr val="FF0000"/>
                </a:solidFill>
              </a:rPr>
              <a:t>infection</a:t>
            </a:r>
            <a:r>
              <a:rPr lang="en-US" dirty="0"/>
              <a:t>. </a:t>
            </a:r>
            <a:endParaRPr lang="en-US" dirty="0" smtClean="0"/>
          </a:p>
          <a:p>
            <a:endParaRPr lang="en-US" dirty="0"/>
          </a:p>
          <a:p>
            <a:r>
              <a:rPr lang="en-US" dirty="0"/>
              <a:t>A </a:t>
            </a:r>
            <a:r>
              <a:rPr lang="en-US" dirty="0">
                <a:solidFill>
                  <a:srgbClr val="FF0000"/>
                </a:solidFill>
              </a:rPr>
              <a:t>blood gas analysis </a:t>
            </a:r>
            <a:r>
              <a:rPr lang="en-US" dirty="0"/>
              <a:t>may be helpful to assess the degree of </a:t>
            </a:r>
            <a:r>
              <a:rPr lang="en-US" dirty="0">
                <a:solidFill>
                  <a:srgbClr val="FF0000"/>
                </a:solidFill>
              </a:rPr>
              <a:t>respiratory dysfunction</a:t>
            </a:r>
            <a:r>
              <a:rPr lang="en-US" dirty="0"/>
              <a:t>, and an elevated venous to arterial Pco2 gap ≥5 mm Hg (≥0.67 </a:t>
            </a:r>
            <a:r>
              <a:rPr lang="en-US" dirty="0" err="1"/>
              <a:t>KPa</a:t>
            </a:r>
            <a:r>
              <a:rPr lang="en-US" dirty="0"/>
              <a:t>) may signify an early shock state. </a:t>
            </a:r>
            <a:endParaRPr lang="en-US" dirty="0" smtClean="0"/>
          </a:p>
          <a:p>
            <a:endParaRPr lang="en-US" dirty="0" smtClean="0"/>
          </a:p>
          <a:p>
            <a:r>
              <a:rPr lang="en-US" dirty="0"/>
              <a:t>NB :- </a:t>
            </a:r>
            <a:r>
              <a:rPr lang="en-US" b="1" dirty="0">
                <a:solidFill>
                  <a:schemeClr val="accent5"/>
                </a:solidFill>
              </a:rPr>
              <a:t>For septic shock, at least one blood culture should be collected along with other cultures as supported by the history and physical. </a:t>
            </a:r>
          </a:p>
          <a:p>
            <a:endParaRPr lang="en-US" dirty="0"/>
          </a:p>
        </p:txBody>
      </p:sp>
    </p:spTree>
    <p:extLst>
      <p:ext uri="{BB962C8B-B14F-4D97-AF65-F5344CB8AC3E}">
        <p14:creationId xmlns="" xmlns:p14="http://schemas.microsoft.com/office/powerpoint/2010/main" val="23463299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680" b="1" dirty="0">
                <a:solidFill>
                  <a:schemeClr val="accent5"/>
                </a:solidFill>
              </a:rPr>
              <a:t>TREATMENT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3510" b="1" dirty="0">
                <a:solidFill>
                  <a:schemeClr val="accent5"/>
                </a:solidFill>
              </a:rPr>
              <a:t>General principles</a:t>
            </a:r>
            <a:endParaRPr lang="en-US" sz="3510" dirty="0">
              <a:solidFill>
                <a:schemeClr val="accent5"/>
              </a:solidFill>
            </a:endParaRPr>
          </a:p>
          <a:p>
            <a:endParaRPr lang="en-US" dirty="0"/>
          </a:p>
          <a:p>
            <a:r>
              <a:rPr lang="en-US" dirty="0" smtClean="0"/>
              <a:t>Initial </a:t>
            </a:r>
            <a:r>
              <a:rPr lang="en-US" dirty="0"/>
              <a:t>management begins with early recognition of the compensated or uncompensated shock state based on the </a:t>
            </a:r>
            <a:r>
              <a:rPr lang="en-US" dirty="0">
                <a:solidFill>
                  <a:srgbClr val="FF0000"/>
                </a:solidFill>
              </a:rPr>
              <a:t>history, physical examination, and laboratory assessments </a:t>
            </a:r>
            <a:r>
              <a:rPr lang="en-US" dirty="0" smtClean="0">
                <a:solidFill>
                  <a:srgbClr val="FF0000"/>
                </a:solidFill>
              </a:rPr>
              <a:t>.</a:t>
            </a:r>
          </a:p>
          <a:p>
            <a:endParaRPr lang="en-US" dirty="0" smtClean="0">
              <a:solidFill>
                <a:srgbClr val="FF0000"/>
              </a:solidFill>
            </a:endParaRPr>
          </a:p>
          <a:p>
            <a:r>
              <a:rPr lang="en-US" dirty="0"/>
              <a:t>Once recognized, </a:t>
            </a:r>
            <a:r>
              <a:rPr lang="en-US" dirty="0">
                <a:solidFill>
                  <a:srgbClr val="FF0000"/>
                </a:solidFill>
              </a:rPr>
              <a:t>immediate efforts to restore oxygen (and other nutrient) delivery by supporting the circulation and identifying and reversing the underlying etiology of shock are necessary </a:t>
            </a:r>
            <a:r>
              <a:rPr lang="en-US" dirty="0" smtClean="0">
                <a:solidFill>
                  <a:srgbClr val="FF0000"/>
                </a:solidFill>
              </a:rPr>
              <a:t>.</a:t>
            </a:r>
          </a:p>
        </p:txBody>
      </p:sp>
    </p:spTree>
    <p:extLst>
      <p:ext uri="{BB962C8B-B14F-4D97-AF65-F5344CB8AC3E}">
        <p14:creationId xmlns="" xmlns:p14="http://schemas.microsoft.com/office/powerpoint/2010/main" val="412150720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Restoration of oxygen delivery includes </a:t>
            </a:r>
            <a:endParaRPr lang="en-US" dirty="0" smtClean="0"/>
          </a:p>
          <a:p>
            <a:endParaRPr lang="en-US" dirty="0" smtClean="0"/>
          </a:p>
          <a:p>
            <a:pPr lvl="1">
              <a:buFont typeface="Wingdings" panose="05000000000000000000" pitchFamily="2" charset="2"/>
              <a:buChar char="§"/>
            </a:pPr>
            <a:r>
              <a:rPr lang="en-US" sz="3120" dirty="0">
                <a:solidFill>
                  <a:srgbClr val="0070C0"/>
                </a:solidFill>
              </a:rPr>
              <a:t>ensuring airway patency and adequacy of breathing</a:t>
            </a:r>
          </a:p>
          <a:p>
            <a:pPr lvl="1">
              <a:buFont typeface="Wingdings" panose="05000000000000000000" pitchFamily="2" charset="2"/>
              <a:buChar char="§"/>
            </a:pPr>
            <a:r>
              <a:rPr lang="en-US" sz="3120" dirty="0">
                <a:solidFill>
                  <a:srgbClr val="0070C0"/>
                </a:solidFill>
              </a:rPr>
              <a:t>providing supplemental oxygen if hypoxemia (Spo2 &lt;92–94%) is present</a:t>
            </a:r>
          </a:p>
          <a:p>
            <a:pPr lvl="1">
              <a:buFont typeface="Wingdings" panose="05000000000000000000" pitchFamily="2" charset="2"/>
              <a:buChar char="§"/>
            </a:pPr>
            <a:r>
              <a:rPr lang="en-US" sz="3120" dirty="0">
                <a:solidFill>
                  <a:srgbClr val="0070C0"/>
                </a:solidFill>
              </a:rPr>
              <a:t>establishing vascular access</a:t>
            </a:r>
          </a:p>
          <a:p>
            <a:pPr lvl="1">
              <a:buFont typeface="Wingdings" panose="05000000000000000000" pitchFamily="2" charset="2"/>
              <a:buChar char="§"/>
            </a:pPr>
            <a:r>
              <a:rPr lang="en-US" sz="3120" dirty="0">
                <a:solidFill>
                  <a:srgbClr val="0070C0"/>
                </a:solidFill>
              </a:rPr>
              <a:t>expanding the circulating blood volume</a:t>
            </a:r>
          </a:p>
          <a:p>
            <a:pPr lvl="1">
              <a:buFont typeface="Wingdings" panose="05000000000000000000" pitchFamily="2" charset="2"/>
              <a:buChar char="§"/>
            </a:pPr>
            <a:r>
              <a:rPr lang="en-US" sz="3120" dirty="0">
                <a:solidFill>
                  <a:srgbClr val="0070C0"/>
                </a:solidFill>
              </a:rPr>
              <a:t>supporting the cardiac and vascular system with appropriate vasoactive agents when necessary, and</a:t>
            </a:r>
          </a:p>
          <a:p>
            <a:pPr lvl="1">
              <a:buFont typeface="Wingdings" panose="05000000000000000000" pitchFamily="2" charset="2"/>
              <a:buChar char="§"/>
            </a:pPr>
            <a:r>
              <a:rPr lang="en-US" sz="3120" dirty="0">
                <a:solidFill>
                  <a:srgbClr val="0070C0"/>
                </a:solidFill>
              </a:rPr>
              <a:t>frequently reassessing the patient’s response to initial therapy. </a:t>
            </a:r>
            <a:r>
              <a:rPr lang="en-US" dirty="0"/>
              <a:t/>
            </a:r>
            <a:br>
              <a:rPr lang="en-US" dirty="0"/>
            </a:br>
            <a:endParaRPr lang="en-US" dirty="0"/>
          </a:p>
        </p:txBody>
      </p:sp>
    </p:spTree>
    <p:extLst>
      <p:ext uri="{BB962C8B-B14F-4D97-AF65-F5344CB8AC3E}">
        <p14:creationId xmlns="" xmlns:p14="http://schemas.microsoft.com/office/powerpoint/2010/main" val="33536623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a:t>Indications for intubation and mechanical ventilation </a:t>
            </a:r>
            <a:r>
              <a:rPr lang="en-US" dirty="0"/>
              <a:t>include </a:t>
            </a:r>
            <a:endParaRPr lang="en-US" dirty="0" smtClean="0"/>
          </a:p>
          <a:p>
            <a:endParaRPr lang="en-US" dirty="0" smtClean="0"/>
          </a:p>
          <a:p>
            <a:pPr lvl="1">
              <a:buFont typeface="Wingdings" panose="05000000000000000000" pitchFamily="2" charset="2"/>
              <a:buChar char="§"/>
            </a:pPr>
            <a:r>
              <a:rPr lang="en-US" sz="2925" dirty="0"/>
              <a:t>acute hypoxemic or </a:t>
            </a:r>
            <a:r>
              <a:rPr lang="en-US" sz="2925" dirty="0" err="1"/>
              <a:t>hypercarbic</a:t>
            </a:r>
            <a:r>
              <a:rPr lang="en-US" sz="2925" dirty="0"/>
              <a:t> respiratory failure or</a:t>
            </a:r>
          </a:p>
          <a:p>
            <a:pPr lvl="1">
              <a:buFont typeface="Wingdings" panose="05000000000000000000" pitchFamily="2" charset="2"/>
              <a:buChar char="§"/>
            </a:pPr>
            <a:r>
              <a:rPr lang="en-US" sz="2925" dirty="0"/>
              <a:t>persistence of circulatory failure </a:t>
            </a:r>
          </a:p>
          <a:p>
            <a:pPr lvl="1">
              <a:buFont typeface="Courier New" panose="02070309020205020404" pitchFamily="49" charset="0"/>
              <a:buChar char="o"/>
            </a:pPr>
            <a:endParaRPr lang="en-US" dirty="0" smtClean="0"/>
          </a:p>
          <a:p>
            <a:r>
              <a:rPr lang="en-US" dirty="0"/>
              <a:t>I</a:t>
            </a:r>
            <a:r>
              <a:rPr lang="en-US" dirty="0" smtClean="0"/>
              <a:t>n </a:t>
            </a:r>
            <a:r>
              <a:rPr lang="en-US" dirty="0"/>
              <a:t>which case a reduction in metabolic demand facilitated by sedation and </a:t>
            </a:r>
            <a:r>
              <a:rPr lang="en-US" dirty="0" err="1"/>
              <a:t>ventilatory</a:t>
            </a:r>
            <a:r>
              <a:rPr lang="en-US" dirty="0"/>
              <a:t> support can be helpful. </a:t>
            </a:r>
            <a:endParaRPr lang="en-US" dirty="0" smtClean="0"/>
          </a:p>
          <a:p>
            <a:r>
              <a:rPr lang="en-US" dirty="0" smtClean="0">
                <a:solidFill>
                  <a:srgbClr val="FF0000"/>
                </a:solidFill>
              </a:rPr>
              <a:t>Sedation</a:t>
            </a:r>
            <a:r>
              <a:rPr lang="en-US" dirty="0" smtClean="0"/>
              <a:t> </a:t>
            </a:r>
            <a:r>
              <a:rPr lang="en-US" dirty="0"/>
              <a:t>and </a:t>
            </a:r>
            <a:r>
              <a:rPr lang="en-US" dirty="0">
                <a:solidFill>
                  <a:srgbClr val="FF0000"/>
                </a:solidFill>
              </a:rPr>
              <a:t>endotracheal</a:t>
            </a:r>
            <a:r>
              <a:rPr lang="en-US" dirty="0"/>
              <a:t> </a:t>
            </a:r>
            <a:r>
              <a:rPr lang="en-US" dirty="0">
                <a:solidFill>
                  <a:srgbClr val="FF0000"/>
                </a:solidFill>
              </a:rPr>
              <a:t>intubation</a:t>
            </a:r>
            <a:r>
              <a:rPr lang="en-US" dirty="0"/>
              <a:t> </a:t>
            </a:r>
            <a:r>
              <a:rPr lang="en-US" dirty="0">
                <a:solidFill>
                  <a:srgbClr val="0070C0"/>
                </a:solidFill>
              </a:rPr>
              <a:t>reduce the work of breathing, which can divert cardiac output away from the muscles of respiration and improve perfusion to other organs. </a:t>
            </a:r>
            <a:br>
              <a:rPr lang="en-US" dirty="0">
                <a:solidFill>
                  <a:srgbClr val="0070C0"/>
                </a:solidFill>
              </a:rPr>
            </a:br>
            <a:endParaRPr lang="en-US" dirty="0" smtClean="0">
              <a:solidFill>
                <a:srgbClr val="0070C0"/>
              </a:solidFill>
            </a:endParaRPr>
          </a:p>
          <a:p>
            <a:endParaRPr lang="en-US" dirty="0"/>
          </a:p>
        </p:txBody>
      </p:sp>
    </p:spTree>
    <p:extLst>
      <p:ext uri="{BB962C8B-B14F-4D97-AF65-F5344CB8AC3E}">
        <p14:creationId xmlns="" xmlns:p14="http://schemas.microsoft.com/office/powerpoint/2010/main" val="29295856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b="1" dirty="0">
                <a:solidFill>
                  <a:srgbClr val="FF0000"/>
                </a:solidFill>
              </a:rPr>
              <a:t>Vascular access </a:t>
            </a:r>
            <a:r>
              <a:rPr lang="en-US" dirty="0">
                <a:solidFill>
                  <a:srgbClr val="0070C0"/>
                </a:solidFill>
              </a:rPr>
              <a:t>should be established within the first few minutes of shock recognition, ideally with at least two large-bore peripheral intravenous (IV) catheters. </a:t>
            </a:r>
            <a:endParaRPr lang="en-US" dirty="0" smtClean="0">
              <a:solidFill>
                <a:srgbClr val="0070C0"/>
              </a:solidFill>
            </a:endParaRPr>
          </a:p>
          <a:p>
            <a:endParaRPr lang="en-US" dirty="0" smtClean="0">
              <a:solidFill>
                <a:srgbClr val="0070C0"/>
              </a:solidFill>
            </a:endParaRPr>
          </a:p>
          <a:p>
            <a:r>
              <a:rPr lang="en-US" dirty="0" smtClean="0"/>
              <a:t>If </a:t>
            </a:r>
            <a:r>
              <a:rPr lang="en-US" dirty="0"/>
              <a:t>peripheral IV access is not successful </a:t>
            </a:r>
            <a:r>
              <a:rPr lang="en-US" dirty="0">
                <a:solidFill>
                  <a:srgbClr val="FF0000"/>
                </a:solidFill>
              </a:rPr>
              <a:t>within 5 minutes</a:t>
            </a:r>
            <a:r>
              <a:rPr lang="en-US" dirty="0"/>
              <a:t>, </a:t>
            </a:r>
            <a:r>
              <a:rPr lang="en-US" dirty="0">
                <a:solidFill>
                  <a:srgbClr val="FF0000"/>
                </a:solidFill>
              </a:rPr>
              <a:t>intraosseous</a:t>
            </a:r>
            <a:r>
              <a:rPr lang="en-US" dirty="0"/>
              <a:t> (IO) access should be established until more definitive access is secured </a:t>
            </a:r>
            <a:r>
              <a:rPr lang="en-US" dirty="0" smtClean="0"/>
              <a:t>.</a:t>
            </a:r>
          </a:p>
          <a:p>
            <a:pPr marL="0" indent="0">
              <a:buNone/>
            </a:pPr>
            <a:r>
              <a:rPr lang="en-US" dirty="0"/>
              <a:t/>
            </a:r>
            <a:br>
              <a:rPr lang="en-US" dirty="0"/>
            </a:br>
            <a:endParaRPr lang="en-US" dirty="0"/>
          </a:p>
        </p:txBody>
      </p:sp>
    </p:spTree>
    <p:extLst>
      <p:ext uri="{BB962C8B-B14F-4D97-AF65-F5344CB8AC3E}">
        <p14:creationId xmlns="" xmlns:p14="http://schemas.microsoft.com/office/powerpoint/2010/main" val="3063363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solidFill>
                  <a:srgbClr val="FF0000"/>
                </a:solidFill>
              </a:rPr>
              <a:t>Central venous access </a:t>
            </a:r>
            <a:r>
              <a:rPr lang="en-US" dirty="0"/>
              <a:t>should be considered for patients </a:t>
            </a:r>
            <a:r>
              <a:rPr lang="en-US" dirty="0" smtClean="0"/>
              <a:t>with:</a:t>
            </a:r>
          </a:p>
          <a:p>
            <a:pPr lvl="1">
              <a:buFont typeface="Wingdings" panose="05000000000000000000" pitchFamily="2" charset="2"/>
              <a:buChar char="§"/>
            </a:pPr>
            <a:r>
              <a:rPr lang="en-US" sz="2730" dirty="0"/>
              <a:t>unstable peripheral IV access</a:t>
            </a:r>
          </a:p>
          <a:p>
            <a:pPr lvl="1">
              <a:buFont typeface="Wingdings" panose="05000000000000000000" pitchFamily="2" charset="2"/>
              <a:buChar char="§"/>
            </a:pPr>
            <a:r>
              <a:rPr lang="en-US" sz="2730" dirty="0"/>
              <a:t>persistence of shock despite 40-60 mL/kg fluid bolus therapy </a:t>
            </a:r>
            <a:r>
              <a:rPr lang="en-US" sz="2730" i="1" dirty="0"/>
              <a:t>(fluid-refractory shock), </a:t>
            </a:r>
            <a:r>
              <a:rPr lang="en-US" sz="2730" dirty="0"/>
              <a:t>or </a:t>
            </a:r>
          </a:p>
          <a:p>
            <a:pPr lvl="1">
              <a:buFont typeface="Wingdings" panose="05000000000000000000" pitchFamily="2" charset="2"/>
              <a:buChar char="§"/>
            </a:pPr>
            <a:r>
              <a:rPr lang="en-US" sz="2730" dirty="0"/>
              <a:t>need for vasoactive medications</a:t>
            </a:r>
          </a:p>
          <a:p>
            <a:pPr marL="0" indent="0">
              <a:buNone/>
            </a:pPr>
            <a:endParaRPr lang="en-US" dirty="0" smtClean="0"/>
          </a:p>
          <a:p>
            <a:r>
              <a:rPr lang="en-US" dirty="0"/>
              <a:t>NB :- </a:t>
            </a:r>
            <a:r>
              <a:rPr lang="en-US" dirty="0">
                <a:solidFill>
                  <a:srgbClr val="FF0000"/>
                </a:solidFill>
              </a:rPr>
              <a:t>Placement of an arterial catheter should be considered for patients with fluid-refractory shock who require active titration of vasoactive medications </a:t>
            </a:r>
            <a:r>
              <a:rPr lang="en-US" dirty="0" smtClean="0">
                <a:solidFill>
                  <a:srgbClr val="FF0000"/>
                </a:solidFill>
              </a:rPr>
              <a:t>.</a:t>
            </a:r>
            <a:endParaRPr lang="en-US" dirty="0">
              <a:solidFill>
                <a:srgbClr val="FF0000"/>
              </a:solidFill>
            </a:endParaRPr>
          </a:p>
        </p:txBody>
      </p:sp>
    </p:spTree>
    <p:extLst>
      <p:ext uri="{BB962C8B-B14F-4D97-AF65-F5344CB8AC3E}">
        <p14:creationId xmlns="" xmlns:p14="http://schemas.microsoft.com/office/powerpoint/2010/main" val="370320007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solidFill>
                  <a:srgbClr val="FF0000"/>
                </a:solidFill>
              </a:rPr>
              <a:t>Volume resuscitation </a:t>
            </a:r>
            <a:r>
              <a:rPr lang="en-US" dirty="0"/>
              <a:t>with fluid bolus therapy in aliquots of 10-20 mL/kg pushed over 5-10 minutes is currently recommended for most types of shock and in most settings in </a:t>
            </a:r>
            <a:r>
              <a:rPr lang="en-US" dirty="0" smtClean="0"/>
              <a:t>children.</a:t>
            </a:r>
          </a:p>
          <a:p>
            <a:r>
              <a:rPr lang="en-US" dirty="0"/>
              <a:t>Several observational studies have demonstrated improved outcomes in children with shock with initial volume </a:t>
            </a:r>
            <a:r>
              <a:rPr lang="en-US" dirty="0" smtClean="0"/>
              <a:t>resuscitation. </a:t>
            </a:r>
          </a:p>
          <a:p>
            <a:pPr marL="0" indent="0">
              <a:buNone/>
            </a:pPr>
            <a:r>
              <a:rPr lang="en-US" dirty="0"/>
              <a:t/>
            </a:r>
            <a:br>
              <a:rPr lang="en-US" dirty="0"/>
            </a:br>
            <a:endParaRPr lang="en-US" dirty="0"/>
          </a:p>
        </p:txBody>
      </p:sp>
    </p:spTree>
    <p:extLst>
      <p:ext uri="{BB962C8B-B14F-4D97-AF65-F5344CB8AC3E}">
        <p14:creationId xmlns="" xmlns:p14="http://schemas.microsoft.com/office/powerpoint/2010/main" val="426030422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solidFill>
                  <a:schemeClr val="accent5"/>
                </a:solidFill>
              </a:rPr>
              <a:t>With titration of fluid administration, </a:t>
            </a:r>
            <a:r>
              <a:rPr lang="en-US" dirty="0">
                <a:solidFill>
                  <a:schemeClr val="accent5"/>
                </a:solidFill>
              </a:rPr>
              <a:t>improvements in hemodynamic </a:t>
            </a:r>
            <a:r>
              <a:rPr lang="en-US" dirty="0" smtClean="0">
                <a:solidFill>
                  <a:schemeClr val="accent5"/>
                </a:solidFill>
              </a:rPr>
              <a:t>targets including</a:t>
            </a:r>
            <a:r>
              <a:rPr lang="en-US" dirty="0" smtClean="0"/>
              <a:t>:</a:t>
            </a:r>
          </a:p>
          <a:p>
            <a:pPr lvl="1">
              <a:buFont typeface="Courier New" panose="02070309020205020404" pitchFamily="49" charset="0"/>
              <a:buChar char="o"/>
            </a:pPr>
            <a:endParaRPr lang="en-US" dirty="0"/>
          </a:p>
          <a:p>
            <a:pPr lvl="2">
              <a:buFont typeface="Wingdings" panose="05000000000000000000" pitchFamily="2" charset="2"/>
              <a:buChar char="§"/>
            </a:pPr>
            <a:r>
              <a:rPr lang="en-US" sz="2730" dirty="0"/>
              <a:t>Decrease in HR</a:t>
            </a:r>
          </a:p>
          <a:p>
            <a:pPr lvl="2">
              <a:buFont typeface="Wingdings" panose="05000000000000000000" pitchFamily="2" charset="2"/>
              <a:buChar char="§"/>
            </a:pPr>
            <a:r>
              <a:rPr lang="en-US" sz="2730" dirty="0"/>
              <a:t>Increase in BP</a:t>
            </a:r>
          </a:p>
          <a:p>
            <a:pPr lvl="2">
              <a:buFont typeface="Wingdings" panose="05000000000000000000" pitchFamily="2" charset="2"/>
              <a:buChar char="§"/>
            </a:pPr>
            <a:r>
              <a:rPr lang="en-US" sz="2730" dirty="0"/>
              <a:t>Normalization of capillary refill</a:t>
            </a:r>
          </a:p>
          <a:p>
            <a:pPr lvl="2">
              <a:buFont typeface="Wingdings" panose="05000000000000000000" pitchFamily="2" charset="2"/>
              <a:buChar char="§"/>
            </a:pPr>
            <a:r>
              <a:rPr lang="en-US" sz="2730" dirty="0"/>
              <a:t>Peripheral pulse strength, and </a:t>
            </a:r>
          </a:p>
          <a:p>
            <a:pPr lvl="2">
              <a:buFont typeface="Wingdings" panose="05000000000000000000" pitchFamily="2" charset="2"/>
              <a:buChar char="§"/>
            </a:pPr>
            <a:r>
              <a:rPr lang="en-US" sz="2730" dirty="0"/>
              <a:t>Extremity temperature</a:t>
            </a:r>
          </a:p>
          <a:p>
            <a:pPr lvl="2">
              <a:buFont typeface="Wingdings" panose="05000000000000000000" pitchFamily="2" charset="2"/>
              <a:buChar char="§"/>
            </a:pPr>
            <a:r>
              <a:rPr lang="en-US" sz="2730" dirty="0"/>
              <a:t>Improved urine output; and </a:t>
            </a:r>
          </a:p>
          <a:p>
            <a:pPr lvl="2">
              <a:buFont typeface="Wingdings" panose="05000000000000000000" pitchFamily="2" charset="2"/>
              <a:buChar char="§"/>
            </a:pPr>
            <a:r>
              <a:rPr lang="en-US" sz="2730" dirty="0"/>
              <a:t>Fall in blood lactate by ≥10–20%.</a:t>
            </a:r>
          </a:p>
          <a:p>
            <a:pPr marL="891540" lvl="2" indent="0">
              <a:buNone/>
            </a:pPr>
            <a:endParaRPr lang="en-US" sz="2340" dirty="0"/>
          </a:p>
        </p:txBody>
      </p:sp>
    </p:spTree>
    <p:extLst>
      <p:ext uri="{BB962C8B-B14F-4D97-AF65-F5344CB8AC3E}">
        <p14:creationId xmlns="" xmlns:p14="http://schemas.microsoft.com/office/powerpoint/2010/main" val="301626434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Fluid boluses totaling </a:t>
            </a:r>
            <a:r>
              <a:rPr lang="en-US" dirty="0" smtClean="0">
                <a:solidFill>
                  <a:srgbClr val="FF0000"/>
                </a:solidFill>
              </a:rPr>
              <a:t>up to 60 mL/kg </a:t>
            </a:r>
            <a:r>
              <a:rPr lang="en-US" dirty="0" smtClean="0"/>
              <a:t>may be needed in the first hour of resuscitation, with volumes exceeding </a:t>
            </a:r>
            <a:r>
              <a:rPr lang="en-US" dirty="0" smtClean="0">
                <a:solidFill>
                  <a:srgbClr val="FF0000"/>
                </a:solidFill>
              </a:rPr>
              <a:t>200 mL/kg </a:t>
            </a:r>
            <a:r>
              <a:rPr lang="en-US" dirty="0" smtClean="0"/>
              <a:t>over several hours. </a:t>
            </a:r>
          </a:p>
          <a:p>
            <a:endParaRPr lang="en-US" dirty="0" smtClean="0"/>
          </a:p>
          <a:p>
            <a:r>
              <a:rPr lang="en-US" dirty="0">
                <a:solidFill>
                  <a:srgbClr val="FF0000"/>
                </a:solidFill>
              </a:rPr>
              <a:t>Importantly</a:t>
            </a:r>
            <a:r>
              <a:rPr lang="en-US" dirty="0"/>
              <a:t>, not all children with shock will continue to improve with repeated volume resuscitation particularly those with </a:t>
            </a:r>
            <a:r>
              <a:rPr lang="en-US" dirty="0">
                <a:solidFill>
                  <a:srgbClr val="FF0000"/>
                </a:solidFill>
              </a:rPr>
              <a:t>cardiogenic</a:t>
            </a:r>
            <a:r>
              <a:rPr lang="en-US" dirty="0"/>
              <a:t> and </a:t>
            </a:r>
            <a:r>
              <a:rPr lang="en-US" dirty="0">
                <a:solidFill>
                  <a:srgbClr val="FF0000"/>
                </a:solidFill>
              </a:rPr>
              <a:t>dissociative</a:t>
            </a:r>
            <a:r>
              <a:rPr lang="en-US" dirty="0"/>
              <a:t> shock, </a:t>
            </a:r>
            <a:r>
              <a:rPr lang="en-US" dirty="0">
                <a:solidFill>
                  <a:srgbClr val="FF0000"/>
                </a:solidFill>
              </a:rPr>
              <a:t>severe anemia, </a:t>
            </a:r>
            <a:r>
              <a:rPr lang="en-US" dirty="0"/>
              <a:t>or</a:t>
            </a:r>
            <a:r>
              <a:rPr lang="en-US" dirty="0">
                <a:solidFill>
                  <a:srgbClr val="FF0000"/>
                </a:solidFill>
              </a:rPr>
              <a:t> malnutrition</a:t>
            </a:r>
            <a:r>
              <a:rPr lang="en-US" dirty="0"/>
              <a:t>. </a:t>
            </a:r>
          </a:p>
          <a:p>
            <a:pPr marL="0" indent="0">
              <a:buNone/>
            </a:pPr>
            <a:r>
              <a:rPr lang="en-US" dirty="0"/>
              <a:t/>
            </a:r>
            <a:br>
              <a:rPr lang="en-US" dirty="0"/>
            </a:br>
            <a:r>
              <a:rPr lang="en-US" dirty="0"/>
              <a:t/>
            </a:r>
            <a:br>
              <a:rPr lang="en-US" dirty="0"/>
            </a:br>
            <a:endParaRPr lang="en-US" dirty="0"/>
          </a:p>
        </p:txBody>
      </p:sp>
    </p:spTree>
    <p:extLst>
      <p:ext uri="{BB962C8B-B14F-4D97-AF65-F5344CB8AC3E}">
        <p14:creationId xmlns="" xmlns:p14="http://schemas.microsoft.com/office/powerpoint/2010/main" val="36256533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Before repeating a fluid bolus, the clinician should determine if the patient responded in a hemodynamically desirable way after the prior fluid bolus and ensure that signs of fluid overload, </a:t>
            </a:r>
            <a:endParaRPr lang="en-US" dirty="0" smtClean="0"/>
          </a:p>
          <a:p>
            <a:pPr lvl="2">
              <a:buFont typeface="Wingdings" panose="05000000000000000000" pitchFamily="2" charset="2"/>
              <a:buChar char="§"/>
            </a:pPr>
            <a:r>
              <a:rPr lang="en-US" sz="2730" dirty="0">
                <a:solidFill>
                  <a:schemeClr val="accent5"/>
                </a:solidFill>
              </a:rPr>
              <a:t>such as rales</a:t>
            </a:r>
          </a:p>
          <a:p>
            <a:pPr lvl="2">
              <a:buFont typeface="Wingdings" panose="05000000000000000000" pitchFamily="2" charset="2"/>
              <a:buChar char="§"/>
            </a:pPr>
            <a:r>
              <a:rPr lang="en-US" sz="2730" dirty="0">
                <a:solidFill>
                  <a:schemeClr val="accent5"/>
                </a:solidFill>
              </a:rPr>
              <a:t>gallop rhythm, or </a:t>
            </a:r>
          </a:p>
          <a:p>
            <a:pPr lvl="2">
              <a:buFont typeface="Wingdings" panose="05000000000000000000" pitchFamily="2" charset="2"/>
              <a:buChar char="§"/>
            </a:pPr>
            <a:r>
              <a:rPr lang="en-US" sz="2730" dirty="0">
                <a:solidFill>
                  <a:schemeClr val="accent5"/>
                </a:solidFill>
              </a:rPr>
              <a:t>hepatomegaly, have not developed</a:t>
            </a:r>
            <a:r>
              <a:rPr lang="en-US" sz="2730" dirty="0"/>
              <a:t>.</a:t>
            </a:r>
          </a:p>
          <a:p>
            <a:pPr lvl="2">
              <a:buNone/>
            </a:pPr>
            <a:endParaRPr lang="en-US" dirty="0"/>
          </a:p>
        </p:txBody>
      </p:sp>
    </p:spTree>
    <p:extLst>
      <p:ext uri="{BB962C8B-B14F-4D97-AF65-F5344CB8AC3E}">
        <p14:creationId xmlns="" xmlns:p14="http://schemas.microsoft.com/office/powerpoint/2010/main" val="19964697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children with evidence of </a:t>
            </a:r>
            <a:r>
              <a:rPr lang="en-US" dirty="0">
                <a:solidFill>
                  <a:schemeClr val="accent5"/>
                </a:solidFill>
              </a:rPr>
              <a:t>fluid overload</a:t>
            </a:r>
            <a:r>
              <a:rPr lang="en-US" dirty="0"/>
              <a:t>, </a:t>
            </a:r>
            <a:r>
              <a:rPr lang="en-US" dirty="0">
                <a:solidFill>
                  <a:schemeClr val="accent5"/>
                </a:solidFill>
              </a:rPr>
              <a:t>adequate intravascular volume, </a:t>
            </a:r>
            <a:r>
              <a:rPr lang="en-US" dirty="0"/>
              <a:t>or</a:t>
            </a:r>
            <a:r>
              <a:rPr lang="en-US" dirty="0">
                <a:solidFill>
                  <a:schemeClr val="accent5"/>
                </a:solidFill>
              </a:rPr>
              <a:t> lack of hemodynamic improvement</a:t>
            </a:r>
            <a:r>
              <a:rPr lang="en-US" dirty="0"/>
              <a:t> with prior fluid boluses, </a:t>
            </a:r>
            <a:r>
              <a:rPr lang="en-US" dirty="0">
                <a:solidFill>
                  <a:srgbClr val="FF0000"/>
                </a:solidFill>
              </a:rPr>
              <a:t>resuscitation should shift from volume resuscitation to vasoactive medications</a:t>
            </a:r>
            <a:r>
              <a:rPr lang="en-US" dirty="0"/>
              <a:t>. </a:t>
            </a:r>
            <a:endParaRPr lang="en-US" dirty="0" smtClean="0"/>
          </a:p>
        </p:txBody>
      </p:sp>
    </p:spTree>
    <p:extLst>
      <p:ext uri="{BB962C8B-B14F-4D97-AF65-F5344CB8AC3E}">
        <p14:creationId xmlns="" xmlns:p14="http://schemas.microsoft.com/office/powerpoint/2010/main" val="47214430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The optimal fluid type for initial shock resuscitation remains a matter of debate</a:t>
            </a:r>
            <a:r>
              <a:rPr lang="en-US" dirty="0" smtClean="0"/>
              <a:t>.</a:t>
            </a:r>
          </a:p>
          <a:p>
            <a:endParaRPr lang="en-US" dirty="0" smtClean="0"/>
          </a:p>
          <a:p>
            <a:r>
              <a:rPr lang="en-US" dirty="0" smtClean="0"/>
              <a:t> </a:t>
            </a:r>
            <a:r>
              <a:rPr lang="en-US" dirty="0">
                <a:solidFill>
                  <a:srgbClr val="FF0000"/>
                </a:solidFill>
              </a:rPr>
              <a:t>Most studies have not demonstrated a clear benefit for use of colloids, such as 4–5% albumin, over crystalloids</a:t>
            </a:r>
            <a:r>
              <a:rPr lang="en-US" dirty="0"/>
              <a:t>, though there may be a small clinical benefit for resuscitation with colloids in septic shock. </a:t>
            </a:r>
            <a:endParaRPr lang="en-US" dirty="0" smtClean="0"/>
          </a:p>
          <a:p>
            <a:endParaRPr lang="en-US" dirty="0" smtClean="0"/>
          </a:p>
          <a:p>
            <a:r>
              <a:rPr lang="en-US" dirty="0">
                <a:solidFill>
                  <a:srgbClr val="FF0000"/>
                </a:solidFill>
              </a:rPr>
              <a:t>Because crystalloids are inexpensive, easy to administer, and readily available, current guidelines generally recommend initial resuscitation begin with these fluids. </a:t>
            </a:r>
            <a:br>
              <a:rPr lang="en-US" dirty="0">
                <a:solidFill>
                  <a:srgbClr val="FF0000"/>
                </a:solidFill>
              </a:rPr>
            </a:br>
            <a:r>
              <a:rPr lang="en-US" dirty="0"/>
              <a:t/>
            </a:r>
            <a:br>
              <a:rPr lang="en-US" dirty="0"/>
            </a:br>
            <a:endParaRPr lang="en-US" dirty="0"/>
          </a:p>
        </p:txBody>
      </p:sp>
    </p:spTree>
    <p:extLst>
      <p:ext uri="{BB962C8B-B14F-4D97-AF65-F5344CB8AC3E}">
        <p14:creationId xmlns="" xmlns:p14="http://schemas.microsoft.com/office/powerpoint/2010/main" val="389504853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Exceptions include children with </a:t>
            </a:r>
            <a:r>
              <a:rPr lang="en-US" dirty="0">
                <a:solidFill>
                  <a:srgbClr val="FF0000"/>
                </a:solidFill>
              </a:rPr>
              <a:t>hemorrhagic shock </a:t>
            </a:r>
            <a:r>
              <a:rPr lang="en-US" dirty="0"/>
              <a:t>and</a:t>
            </a:r>
            <a:r>
              <a:rPr lang="en-US" dirty="0">
                <a:solidFill>
                  <a:srgbClr val="FF0000"/>
                </a:solidFill>
              </a:rPr>
              <a:t> dissociative shock </a:t>
            </a:r>
            <a:r>
              <a:rPr lang="en-US" dirty="0"/>
              <a:t>resulting from severe anemia for whom early </a:t>
            </a:r>
            <a:r>
              <a:rPr lang="en-US" dirty="0">
                <a:solidFill>
                  <a:srgbClr val="FF0000"/>
                </a:solidFill>
              </a:rPr>
              <a:t>blood product transfusion is preferred </a:t>
            </a:r>
            <a:r>
              <a:rPr lang="en-US" dirty="0" smtClean="0">
                <a:solidFill>
                  <a:srgbClr val="FF0000"/>
                </a:solidFill>
              </a:rPr>
              <a:t>.</a:t>
            </a:r>
          </a:p>
          <a:p>
            <a:endParaRPr lang="en-US" dirty="0" smtClean="0">
              <a:solidFill>
                <a:srgbClr val="FF0000"/>
              </a:solidFill>
            </a:endParaRPr>
          </a:p>
          <a:p>
            <a:r>
              <a:rPr lang="en-US" dirty="0">
                <a:solidFill>
                  <a:srgbClr val="0070C0"/>
                </a:solidFill>
              </a:rPr>
              <a:t>Crystalloid volume resuscitation may include 0.9% normal saline or balanced/buffered fluids, such as lactated Ringer solution, Hartmann solution, and Plasma-</a:t>
            </a:r>
            <a:r>
              <a:rPr lang="en-US" dirty="0" err="1">
                <a:solidFill>
                  <a:srgbClr val="0070C0"/>
                </a:solidFill>
              </a:rPr>
              <a:t>Lyte</a:t>
            </a:r>
            <a:r>
              <a:rPr lang="en-US" dirty="0" smtClean="0">
                <a:solidFill>
                  <a:srgbClr val="0070C0"/>
                </a:solidFill>
              </a:rPr>
              <a:t>.</a:t>
            </a:r>
          </a:p>
          <a:p>
            <a:pPr marL="0" indent="0">
              <a:buNone/>
            </a:pPr>
            <a:r>
              <a:rPr lang="en-US" dirty="0"/>
              <a:t/>
            </a:r>
            <a:br>
              <a:rPr lang="en-US" dirty="0"/>
            </a:br>
            <a:endParaRPr lang="en-US" dirty="0"/>
          </a:p>
        </p:txBody>
      </p:sp>
    </p:spTree>
    <p:extLst>
      <p:ext uri="{BB962C8B-B14F-4D97-AF65-F5344CB8AC3E}">
        <p14:creationId xmlns="" xmlns:p14="http://schemas.microsoft.com/office/powerpoint/2010/main" val="411154407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r>
              <a:rPr lang="en-US" dirty="0"/>
              <a:t>T</a:t>
            </a:r>
            <a:r>
              <a:rPr lang="en-US" dirty="0" smtClean="0"/>
              <a:t>he </a:t>
            </a:r>
            <a:r>
              <a:rPr lang="en-US" dirty="0"/>
              <a:t>criteria to transfuse red blood cells are not clear, though it is reasonable to target </a:t>
            </a:r>
            <a:r>
              <a:rPr lang="en-US" dirty="0">
                <a:solidFill>
                  <a:srgbClr val="FF0000"/>
                </a:solidFill>
              </a:rPr>
              <a:t>hemoglobin levels &gt;9 g/</a:t>
            </a:r>
            <a:r>
              <a:rPr lang="en-US" dirty="0" err="1">
                <a:solidFill>
                  <a:srgbClr val="FF0000"/>
                </a:solidFill>
              </a:rPr>
              <a:t>dL</a:t>
            </a:r>
            <a:r>
              <a:rPr lang="en-US" dirty="0">
                <a:solidFill>
                  <a:srgbClr val="FF0000"/>
                </a:solidFill>
              </a:rPr>
              <a:t> </a:t>
            </a:r>
            <a:r>
              <a:rPr lang="en-US" dirty="0"/>
              <a:t>for children </a:t>
            </a:r>
            <a:endParaRPr lang="en-US" dirty="0" smtClean="0"/>
          </a:p>
          <a:p>
            <a:endParaRPr lang="en-US" dirty="0" smtClean="0"/>
          </a:p>
          <a:p>
            <a:pPr lvl="1">
              <a:buFont typeface="Wingdings" panose="05000000000000000000" pitchFamily="2" charset="2"/>
              <a:buChar char="§"/>
            </a:pPr>
            <a:r>
              <a:rPr lang="en-US" sz="2925" dirty="0"/>
              <a:t>who remain hemodynamically unstable with low </a:t>
            </a:r>
            <a:r>
              <a:rPr lang="en-US" sz="2925" dirty="0" smtClean="0"/>
              <a:t>Spo2 </a:t>
            </a:r>
            <a:r>
              <a:rPr lang="en-US" sz="2925" dirty="0"/>
              <a:t>and/or </a:t>
            </a:r>
          </a:p>
          <a:p>
            <a:pPr lvl="1">
              <a:buFont typeface="Wingdings" panose="05000000000000000000" pitchFamily="2" charset="2"/>
              <a:buChar char="§"/>
            </a:pPr>
            <a:r>
              <a:rPr lang="en-US" sz="2925" dirty="0"/>
              <a:t>high blood lactate despite other interventions. </a:t>
            </a:r>
          </a:p>
          <a:p>
            <a:pPr lvl="1">
              <a:buFont typeface="Courier New" panose="02070309020205020404" pitchFamily="49" charset="0"/>
              <a:buChar char="o"/>
            </a:pPr>
            <a:endParaRPr lang="en-US" dirty="0" smtClean="0"/>
          </a:p>
          <a:p>
            <a:r>
              <a:rPr lang="en-US" dirty="0" smtClean="0">
                <a:solidFill>
                  <a:srgbClr val="FF0000"/>
                </a:solidFill>
              </a:rPr>
              <a:t>Notably</a:t>
            </a:r>
            <a:r>
              <a:rPr lang="en-US" dirty="0"/>
              <a:t>, transfusion of </a:t>
            </a:r>
            <a:r>
              <a:rPr lang="en-US" dirty="0">
                <a:solidFill>
                  <a:srgbClr val="FF0000"/>
                </a:solidFill>
              </a:rPr>
              <a:t>plasma</a:t>
            </a:r>
            <a:r>
              <a:rPr lang="en-US" dirty="0"/>
              <a:t> or </a:t>
            </a:r>
            <a:r>
              <a:rPr lang="en-US" dirty="0">
                <a:solidFill>
                  <a:srgbClr val="FF0000"/>
                </a:solidFill>
              </a:rPr>
              <a:t>platelets</a:t>
            </a:r>
            <a:r>
              <a:rPr lang="en-US" dirty="0"/>
              <a:t> should be reserved to treat active bleeding or reduce risk of bleeding before an invasive procedure rather than used solely to correct laboratory abnormalities or as volume expanders. </a:t>
            </a:r>
            <a:br>
              <a:rPr lang="en-US" dirty="0"/>
            </a:br>
            <a:r>
              <a:rPr lang="en-US" dirty="0"/>
              <a:t/>
            </a:r>
            <a:br>
              <a:rPr lang="en-US" dirty="0"/>
            </a:br>
            <a:endParaRPr lang="en-US" dirty="0"/>
          </a:p>
        </p:txBody>
      </p:sp>
    </p:spTree>
    <p:extLst>
      <p:ext uri="{BB962C8B-B14F-4D97-AF65-F5344CB8AC3E}">
        <p14:creationId xmlns="" xmlns:p14="http://schemas.microsoft.com/office/powerpoint/2010/main" val="359331490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normAutofit/>
          </a:bodyPr>
          <a:lstStyle/>
          <a:p>
            <a:r>
              <a:rPr lang="en-US" b="1" dirty="0">
                <a:solidFill>
                  <a:srgbClr val="FF0000"/>
                </a:solidFill>
              </a:rPr>
              <a:t>Vasoactive</a:t>
            </a:r>
            <a:r>
              <a:rPr lang="en-US" b="1" dirty="0"/>
              <a:t> </a:t>
            </a:r>
            <a:r>
              <a:rPr lang="en-US" b="1" dirty="0">
                <a:solidFill>
                  <a:srgbClr val="FF0000"/>
                </a:solidFill>
              </a:rPr>
              <a:t>medications</a:t>
            </a:r>
            <a:r>
              <a:rPr lang="en-US" b="1" dirty="0"/>
              <a:t> </a:t>
            </a:r>
            <a:r>
              <a:rPr lang="en-US" dirty="0"/>
              <a:t>should be initiated for children with </a:t>
            </a:r>
            <a:r>
              <a:rPr lang="en-US" dirty="0" smtClean="0"/>
              <a:t>fluid refractory shock, With </a:t>
            </a:r>
            <a:r>
              <a:rPr lang="en-US" dirty="0"/>
              <a:t>early consideration for inotropes, such as </a:t>
            </a:r>
          </a:p>
          <a:p>
            <a:endParaRPr lang="en-US" dirty="0" smtClean="0"/>
          </a:p>
          <a:p>
            <a:pPr lvl="1">
              <a:buFont typeface="Wingdings" panose="05000000000000000000" pitchFamily="2" charset="2"/>
              <a:buChar char="§"/>
            </a:pPr>
            <a:r>
              <a:rPr lang="en-US" sz="2730" dirty="0">
                <a:solidFill>
                  <a:srgbClr val="FF0000"/>
                </a:solidFill>
              </a:rPr>
              <a:t>epinephrine</a:t>
            </a:r>
            <a:r>
              <a:rPr lang="en-US" sz="2730" dirty="0"/>
              <a:t>, when myocardial dysfunction is present and</a:t>
            </a:r>
          </a:p>
          <a:p>
            <a:pPr lvl="1">
              <a:buFont typeface="Wingdings" panose="05000000000000000000" pitchFamily="2" charset="2"/>
              <a:buChar char="§"/>
            </a:pPr>
            <a:r>
              <a:rPr lang="en-US" sz="2730" dirty="0"/>
              <a:t>vasopressors, such as </a:t>
            </a:r>
            <a:r>
              <a:rPr lang="en-US" sz="2730" dirty="0">
                <a:solidFill>
                  <a:srgbClr val="FF0000"/>
                </a:solidFill>
              </a:rPr>
              <a:t>norepinephrine</a:t>
            </a:r>
            <a:r>
              <a:rPr lang="en-US" sz="2730" dirty="0"/>
              <a:t>, when </a:t>
            </a:r>
            <a:r>
              <a:rPr lang="en-US" sz="2730" dirty="0" err="1"/>
              <a:t>vasoplegia</a:t>
            </a:r>
            <a:r>
              <a:rPr lang="en-US" sz="2730" dirty="0"/>
              <a:t> is present.</a:t>
            </a:r>
          </a:p>
          <a:p>
            <a:pPr lvl="1">
              <a:buFont typeface="Courier New" panose="02070309020205020404" pitchFamily="49" charset="0"/>
              <a:buChar char="o"/>
            </a:pPr>
            <a:endParaRPr lang="en-US" dirty="0" smtClean="0"/>
          </a:p>
          <a:p>
            <a:pPr marL="0" indent="0">
              <a:buNone/>
            </a:pPr>
            <a:r>
              <a:rPr lang="en-US" dirty="0"/>
              <a:t/>
            </a:r>
            <a:br>
              <a:rPr lang="en-US" dirty="0"/>
            </a:br>
            <a:endParaRPr lang="en-US" dirty="0"/>
          </a:p>
        </p:txBody>
      </p:sp>
    </p:spTree>
    <p:extLst>
      <p:ext uri="{BB962C8B-B14F-4D97-AF65-F5344CB8AC3E}">
        <p14:creationId xmlns="" xmlns:p14="http://schemas.microsoft.com/office/powerpoint/2010/main" val="422859068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children with septic shock, </a:t>
            </a:r>
            <a:r>
              <a:rPr lang="en-US" dirty="0" smtClean="0"/>
              <a:t> </a:t>
            </a:r>
            <a:r>
              <a:rPr lang="en-US" dirty="0"/>
              <a:t>trials have demonstrated that </a:t>
            </a:r>
            <a:r>
              <a:rPr lang="en-US" dirty="0">
                <a:solidFill>
                  <a:schemeClr val="accent5"/>
                </a:solidFill>
              </a:rPr>
              <a:t>epinephrine as first-line vasoactive therapy is more effective at reducing mortality than dopamine</a:t>
            </a:r>
            <a:r>
              <a:rPr lang="en-US" dirty="0"/>
              <a:t>.</a:t>
            </a:r>
          </a:p>
          <a:p>
            <a:r>
              <a:rPr lang="en-US" dirty="0"/>
              <a:t> As such, </a:t>
            </a:r>
            <a:r>
              <a:rPr lang="en-US" dirty="0">
                <a:solidFill>
                  <a:srgbClr val="FF0000"/>
                </a:solidFill>
              </a:rPr>
              <a:t>epinephrine</a:t>
            </a:r>
            <a:r>
              <a:rPr lang="en-US" dirty="0"/>
              <a:t> is the preferred first-line vasoactive therapy for fluid-refractory septic </a:t>
            </a:r>
            <a:r>
              <a:rPr lang="en-US" dirty="0" smtClean="0"/>
              <a:t>shock.</a:t>
            </a:r>
            <a:endParaRPr lang="en-US" dirty="0"/>
          </a:p>
        </p:txBody>
      </p:sp>
    </p:spTree>
    <p:extLst>
      <p:ext uri="{BB962C8B-B14F-4D97-AF65-F5344CB8AC3E}">
        <p14:creationId xmlns="" xmlns:p14="http://schemas.microsoft.com/office/powerpoint/2010/main" val="37309767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Metabolic </a:t>
            </a:r>
            <a:r>
              <a:rPr lang="en-US" b="1" dirty="0"/>
              <a:t>abnormalities</a:t>
            </a:r>
            <a:r>
              <a:rPr lang="en-US" dirty="0"/>
              <a:t>, such as </a:t>
            </a:r>
            <a:r>
              <a:rPr lang="en-US" dirty="0">
                <a:solidFill>
                  <a:srgbClr val="FF0000"/>
                </a:solidFill>
              </a:rPr>
              <a:t>hypoglycemia</a:t>
            </a:r>
            <a:r>
              <a:rPr lang="en-US" dirty="0"/>
              <a:t> and </a:t>
            </a:r>
            <a:r>
              <a:rPr lang="en-US" dirty="0">
                <a:solidFill>
                  <a:srgbClr val="FF0000"/>
                </a:solidFill>
              </a:rPr>
              <a:t>hypocalcemia</a:t>
            </a:r>
            <a:r>
              <a:rPr lang="en-US" dirty="0"/>
              <a:t>, may precipitate or worsen shock. </a:t>
            </a:r>
            <a:endParaRPr lang="en-US" dirty="0" smtClean="0"/>
          </a:p>
          <a:p>
            <a:endParaRPr lang="en-US" dirty="0" smtClean="0"/>
          </a:p>
          <a:p>
            <a:r>
              <a:rPr lang="en-US" dirty="0" smtClean="0"/>
              <a:t>Blood </a:t>
            </a:r>
            <a:r>
              <a:rPr lang="en-US" dirty="0"/>
              <a:t>glucose and </a:t>
            </a:r>
            <a:r>
              <a:rPr lang="en-US" dirty="0" smtClean="0"/>
              <a:t>ionized calcium </a:t>
            </a:r>
            <a:r>
              <a:rPr lang="en-US" dirty="0"/>
              <a:t>can both be measured rapidly via </a:t>
            </a:r>
            <a:r>
              <a:rPr lang="en-US" dirty="0">
                <a:solidFill>
                  <a:srgbClr val="FF0000"/>
                </a:solidFill>
              </a:rPr>
              <a:t>bedside point-of-care testing, </a:t>
            </a:r>
            <a:r>
              <a:rPr lang="en-US" dirty="0"/>
              <a:t>and if present, hypoglycemia and hypocalcemia </a:t>
            </a:r>
            <a:r>
              <a:rPr lang="en-US" dirty="0">
                <a:solidFill>
                  <a:srgbClr val="FF0000"/>
                </a:solidFill>
              </a:rPr>
              <a:t>should be corrected during the initial resuscitation</a:t>
            </a:r>
            <a:r>
              <a:rPr lang="en-US" dirty="0"/>
              <a:t>. </a:t>
            </a:r>
            <a:endParaRPr lang="en-US" dirty="0" smtClean="0"/>
          </a:p>
        </p:txBody>
      </p:sp>
    </p:spTree>
    <p:extLst>
      <p:ext uri="{BB962C8B-B14F-4D97-AF65-F5344CB8AC3E}">
        <p14:creationId xmlns="" xmlns:p14="http://schemas.microsoft.com/office/powerpoint/2010/main" val="175838361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680" b="1" dirty="0">
                <a:solidFill>
                  <a:schemeClr val="accent5"/>
                </a:solidFill>
              </a:rPr>
              <a:t>Specific Management By shock type</a:t>
            </a:r>
          </a:p>
        </p:txBody>
      </p:sp>
      <p:sp>
        <p:nvSpPr>
          <p:cNvPr id="3" name="Content Placeholder 2"/>
          <p:cNvSpPr>
            <a:spLocks noGrp="1"/>
          </p:cNvSpPr>
          <p:nvPr>
            <p:ph idx="1"/>
          </p:nvPr>
        </p:nvSpPr>
        <p:spPr/>
        <p:txBody>
          <a:bodyPr/>
          <a:lstStyle/>
          <a:p>
            <a:r>
              <a:rPr lang="en-US" dirty="0"/>
              <a:t>For children with </a:t>
            </a:r>
            <a:r>
              <a:rPr lang="en-US" b="1" dirty="0">
                <a:solidFill>
                  <a:srgbClr val="FF0000"/>
                </a:solidFill>
              </a:rPr>
              <a:t>cardiogenic shock </a:t>
            </a:r>
            <a:r>
              <a:rPr lang="en-US" dirty="0" smtClean="0"/>
              <a:t>must </a:t>
            </a:r>
            <a:r>
              <a:rPr lang="en-US" dirty="0"/>
              <a:t>be reversed by early treatment with inotropes, such as epinephrine, dopamine, </a:t>
            </a:r>
            <a:r>
              <a:rPr lang="en-US" dirty="0" err="1"/>
              <a:t>dobutamine</a:t>
            </a:r>
            <a:r>
              <a:rPr lang="en-US" dirty="0"/>
              <a:t>, or </a:t>
            </a:r>
            <a:r>
              <a:rPr lang="en-US" dirty="0" err="1"/>
              <a:t>milrinone</a:t>
            </a:r>
            <a:r>
              <a:rPr lang="en-US" dirty="0"/>
              <a:t>. </a:t>
            </a:r>
            <a:endParaRPr lang="en-US" dirty="0" smtClean="0"/>
          </a:p>
          <a:p>
            <a:endParaRPr lang="en-US" dirty="0"/>
          </a:p>
          <a:p>
            <a:r>
              <a:rPr lang="en-US" dirty="0" smtClean="0">
                <a:solidFill>
                  <a:srgbClr val="0070C0"/>
                </a:solidFill>
              </a:rPr>
              <a:t>Gentle </a:t>
            </a:r>
            <a:r>
              <a:rPr lang="en-US" dirty="0">
                <a:solidFill>
                  <a:srgbClr val="0070C0"/>
                </a:solidFill>
              </a:rPr>
              <a:t>volume resuscitation to optimize preload may also be helpful, but excessive fluid administration can worsen volume overload and further compromise heart function. </a:t>
            </a:r>
            <a:br>
              <a:rPr lang="en-US" dirty="0">
                <a:solidFill>
                  <a:srgbClr val="0070C0"/>
                </a:solidFill>
              </a:rPr>
            </a:br>
            <a:endParaRPr lang="en-US" dirty="0">
              <a:solidFill>
                <a:srgbClr val="0070C0"/>
              </a:solidFill>
            </a:endParaRPr>
          </a:p>
        </p:txBody>
      </p:sp>
    </p:spTree>
    <p:extLst>
      <p:ext uri="{BB962C8B-B14F-4D97-AF65-F5344CB8AC3E}">
        <p14:creationId xmlns="" xmlns:p14="http://schemas.microsoft.com/office/powerpoint/2010/main" val="371726372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In </a:t>
            </a:r>
            <a:r>
              <a:rPr lang="en-US" b="1" dirty="0">
                <a:solidFill>
                  <a:srgbClr val="FF0000"/>
                </a:solidFill>
              </a:rPr>
              <a:t>obstructive shock</a:t>
            </a:r>
            <a:r>
              <a:rPr lang="en-US" dirty="0"/>
              <a:t>, action is often needed to relieve the point of mechanical obstruction</a:t>
            </a:r>
            <a:r>
              <a:rPr lang="en-US" dirty="0" smtClean="0"/>
              <a:t>.</a:t>
            </a:r>
          </a:p>
          <a:p>
            <a:endParaRPr lang="en-US" dirty="0" smtClean="0"/>
          </a:p>
          <a:p>
            <a:pPr lvl="1">
              <a:buFont typeface="Courier New" panose="02070309020205020404" pitchFamily="49" charset="0"/>
              <a:buChar char="o"/>
            </a:pPr>
            <a:r>
              <a:rPr lang="en-US" dirty="0" smtClean="0"/>
              <a:t> </a:t>
            </a:r>
            <a:r>
              <a:rPr lang="en-US" dirty="0"/>
              <a:t>Examples </a:t>
            </a:r>
            <a:r>
              <a:rPr lang="en-US" dirty="0" smtClean="0"/>
              <a:t>include</a:t>
            </a:r>
          </a:p>
          <a:p>
            <a:pPr lvl="1">
              <a:buFont typeface="Courier New" panose="02070309020205020404" pitchFamily="49" charset="0"/>
              <a:buChar char="o"/>
            </a:pPr>
            <a:r>
              <a:rPr lang="en-US" dirty="0" smtClean="0"/>
              <a:t> </a:t>
            </a:r>
            <a:r>
              <a:rPr lang="en-US" dirty="0"/>
              <a:t>T</a:t>
            </a:r>
            <a:r>
              <a:rPr lang="en-US" dirty="0" smtClean="0"/>
              <a:t>horacentesis </a:t>
            </a:r>
            <a:r>
              <a:rPr lang="en-US" dirty="0"/>
              <a:t>for tension pneumothorax</a:t>
            </a:r>
            <a:r>
              <a:rPr lang="en-US" dirty="0" smtClean="0"/>
              <a:t>,</a:t>
            </a:r>
          </a:p>
          <a:p>
            <a:pPr lvl="1">
              <a:buFont typeface="Courier New" panose="02070309020205020404" pitchFamily="49" charset="0"/>
              <a:buChar char="o"/>
            </a:pPr>
            <a:r>
              <a:rPr lang="en-US" dirty="0" smtClean="0"/>
              <a:t> </a:t>
            </a:r>
            <a:r>
              <a:rPr lang="en-US" dirty="0" err="1"/>
              <a:t>P</a:t>
            </a:r>
            <a:r>
              <a:rPr lang="en-US" dirty="0" err="1" smtClean="0"/>
              <a:t>ericardiocentesis</a:t>
            </a:r>
            <a:r>
              <a:rPr lang="en-US" dirty="0" smtClean="0"/>
              <a:t> </a:t>
            </a:r>
            <a:r>
              <a:rPr lang="en-US" dirty="0"/>
              <a:t>for cardiac tamponade, </a:t>
            </a:r>
            <a:r>
              <a:rPr lang="en-US" dirty="0" smtClean="0"/>
              <a:t>and</a:t>
            </a:r>
          </a:p>
          <a:p>
            <a:pPr lvl="1">
              <a:buFont typeface="Courier New" panose="02070309020205020404" pitchFamily="49" charset="0"/>
              <a:buChar char="o"/>
            </a:pPr>
            <a:r>
              <a:rPr lang="en-US" dirty="0" smtClean="0"/>
              <a:t> </a:t>
            </a:r>
            <a:r>
              <a:rPr lang="en-US" dirty="0"/>
              <a:t>A</a:t>
            </a:r>
            <a:r>
              <a:rPr lang="en-US" dirty="0" smtClean="0"/>
              <a:t>dministration </a:t>
            </a:r>
            <a:r>
              <a:rPr lang="en-US" dirty="0"/>
              <a:t>of systemic fibrinolytic medications for pulmonary embolism. </a:t>
            </a:r>
            <a:endParaRPr lang="en-US" dirty="0" smtClean="0"/>
          </a:p>
          <a:p>
            <a:pPr lvl="1">
              <a:buFont typeface="Courier New" panose="02070309020205020404" pitchFamily="49" charset="0"/>
              <a:buChar char="o"/>
            </a:pPr>
            <a:endParaRPr lang="en-US" dirty="0" smtClean="0"/>
          </a:p>
          <a:p>
            <a:r>
              <a:rPr lang="en-US" dirty="0" smtClean="0"/>
              <a:t>For </a:t>
            </a:r>
            <a:r>
              <a:rPr lang="en-US" dirty="0"/>
              <a:t>neonates or young infants (typically &lt;2-3 weeks of age) with shock caused by </a:t>
            </a:r>
            <a:r>
              <a:rPr lang="en-US" dirty="0">
                <a:solidFill>
                  <a:srgbClr val="FF0000"/>
                </a:solidFill>
              </a:rPr>
              <a:t>ductal-dependent congenital heart disease</a:t>
            </a:r>
            <a:r>
              <a:rPr lang="en-US" dirty="0"/>
              <a:t>, a </a:t>
            </a:r>
            <a:r>
              <a:rPr lang="en-US" dirty="0">
                <a:solidFill>
                  <a:srgbClr val="FF0000"/>
                </a:solidFill>
              </a:rPr>
              <a:t>prostaglandin</a:t>
            </a:r>
            <a:r>
              <a:rPr lang="en-US" dirty="0"/>
              <a:t> infusion should be started to maintain systemic cardiac output while preparing to transfer to a pediatric specialty center. </a:t>
            </a:r>
            <a:br>
              <a:rPr lang="en-US" dirty="0"/>
            </a:br>
            <a:endParaRPr lang="en-US" dirty="0"/>
          </a:p>
        </p:txBody>
      </p:sp>
    </p:spTree>
    <p:extLst>
      <p:ext uri="{BB962C8B-B14F-4D97-AF65-F5344CB8AC3E}">
        <p14:creationId xmlns="" xmlns:p14="http://schemas.microsoft.com/office/powerpoint/2010/main" val="167751893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245" y="365126"/>
            <a:ext cx="10252710" cy="1325563"/>
          </a:xfrm>
        </p:spPr>
        <p:txBody>
          <a:bodyPr>
            <a:normAutofit fontScale="90000"/>
          </a:bodyPr>
          <a:lstStyle/>
          <a:p>
            <a:r>
              <a:rPr lang="en-US" sz="3100" dirty="0" smtClean="0"/>
              <a:t/>
            </a:r>
            <a:br>
              <a:rPr lang="en-US" sz="3100" dirty="0" smtClean="0"/>
            </a:br>
            <a:r>
              <a:rPr lang="en-US" sz="3100" dirty="0" smtClean="0"/>
              <a:t/>
            </a:r>
            <a:br>
              <a:rPr lang="en-US" sz="3100" dirty="0" smtClean="0"/>
            </a:br>
            <a:r>
              <a:rPr lang="en-US" sz="3100" dirty="0" smtClean="0"/>
              <a:t>The management of </a:t>
            </a:r>
            <a:r>
              <a:rPr lang="en-US" sz="3100" b="1" dirty="0" smtClean="0">
                <a:solidFill>
                  <a:srgbClr val="FF0000"/>
                </a:solidFill>
              </a:rPr>
              <a:t>septic shock </a:t>
            </a:r>
            <a:r>
              <a:rPr lang="en-US" sz="3100" dirty="0" smtClean="0"/>
              <a:t>should follow the recommendations of the 2020 Surviving Sepsis Campaign International Guidelines for the Management of Septic Shock and Sepsis-Associated Organ Dysfunction in Children </a:t>
            </a:r>
            <a:r>
              <a:rPr lang="en-US" dirty="0" smtClean="0"/>
              <a:t>.</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endParaRPr lang="en-US" dirty="0" smtClean="0"/>
          </a:p>
          <a:p>
            <a:r>
              <a:rPr lang="en-US" dirty="0" smtClean="0"/>
              <a:t>These </a:t>
            </a:r>
            <a:r>
              <a:rPr lang="en-US" dirty="0"/>
              <a:t>guidelines recommend six initial management steps in the first hour after shock recognition </a:t>
            </a:r>
            <a:r>
              <a:rPr lang="en-US" dirty="0" smtClean="0"/>
              <a:t>including</a:t>
            </a:r>
          </a:p>
          <a:p>
            <a:endParaRPr lang="en-US" dirty="0" smtClean="0"/>
          </a:p>
          <a:p>
            <a:pPr lvl="1">
              <a:buFont typeface="Courier New" panose="02070309020205020404" pitchFamily="49" charset="0"/>
              <a:buChar char="o"/>
            </a:pPr>
            <a:r>
              <a:rPr lang="en-US" dirty="0">
                <a:solidFill>
                  <a:srgbClr val="FF0000"/>
                </a:solidFill>
              </a:rPr>
              <a:t>O</a:t>
            </a:r>
            <a:r>
              <a:rPr lang="en-US" dirty="0" smtClean="0">
                <a:solidFill>
                  <a:srgbClr val="FF0000"/>
                </a:solidFill>
              </a:rPr>
              <a:t>btaining </a:t>
            </a:r>
            <a:r>
              <a:rPr lang="en-US" dirty="0">
                <a:solidFill>
                  <a:srgbClr val="FF0000"/>
                </a:solidFill>
              </a:rPr>
              <a:t>IV/IO </a:t>
            </a:r>
            <a:r>
              <a:rPr lang="en-US" dirty="0" smtClean="0">
                <a:solidFill>
                  <a:srgbClr val="FF0000"/>
                </a:solidFill>
              </a:rPr>
              <a:t>access</a:t>
            </a:r>
          </a:p>
          <a:p>
            <a:pPr lvl="1">
              <a:buFont typeface="Courier New" panose="02070309020205020404" pitchFamily="49" charset="0"/>
              <a:buChar char="o"/>
            </a:pPr>
            <a:r>
              <a:rPr lang="en-US" dirty="0">
                <a:solidFill>
                  <a:srgbClr val="FF0000"/>
                </a:solidFill>
              </a:rPr>
              <a:t>C</a:t>
            </a:r>
            <a:r>
              <a:rPr lang="en-US" dirty="0" smtClean="0">
                <a:solidFill>
                  <a:srgbClr val="FF0000"/>
                </a:solidFill>
              </a:rPr>
              <a:t>ollecting </a:t>
            </a:r>
            <a:r>
              <a:rPr lang="en-US" dirty="0">
                <a:solidFill>
                  <a:srgbClr val="FF0000"/>
                </a:solidFill>
              </a:rPr>
              <a:t>a blood </a:t>
            </a:r>
            <a:r>
              <a:rPr lang="en-US" dirty="0" smtClean="0">
                <a:solidFill>
                  <a:srgbClr val="FF0000"/>
                </a:solidFill>
              </a:rPr>
              <a:t>culture,</a:t>
            </a:r>
          </a:p>
          <a:p>
            <a:pPr lvl="1">
              <a:buFont typeface="Courier New" panose="02070309020205020404" pitchFamily="49" charset="0"/>
              <a:buChar char="o"/>
            </a:pPr>
            <a:r>
              <a:rPr lang="en-US" dirty="0">
                <a:solidFill>
                  <a:srgbClr val="FF0000"/>
                </a:solidFill>
              </a:rPr>
              <a:t>A</a:t>
            </a:r>
            <a:r>
              <a:rPr lang="en-US" dirty="0" smtClean="0">
                <a:solidFill>
                  <a:srgbClr val="FF0000"/>
                </a:solidFill>
              </a:rPr>
              <a:t>dministering </a:t>
            </a:r>
            <a:r>
              <a:rPr lang="en-US" dirty="0">
                <a:solidFill>
                  <a:srgbClr val="FF0000"/>
                </a:solidFill>
              </a:rPr>
              <a:t>empiric broad-spectrum </a:t>
            </a:r>
            <a:r>
              <a:rPr lang="en-US" dirty="0" smtClean="0">
                <a:solidFill>
                  <a:srgbClr val="FF0000"/>
                </a:solidFill>
              </a:rPr>
              <a:t>antibiotics</a:t>
            </a:r>
          </a:p>
          <a:p>
            <a:pPr lvl="1">
              <a:buFont typeface="Courier New" panose="02070309020205020404" pitchFamily="49" charset="0"/>
              <a:buChar char="o"/>
            </a:pPr>
            <a:r>
              <a:rPr lang="en-US" dirty="0">
                <a:solidFill>
                  <a:srgbClr val="FF0000"/>
                </a:solidFill>
              </a:rPr>
              <a:t>M</a:t>
            </a:r>
            <a:r>
              <a:rPr lang="en-US" dirty="0" smtClean="0">
                <a:solidFill>
                  <a:srgbClr val="FF0000"/>
                </a:solidFill>
              </a:rPr>
              <a:t>easuring lactate</a:t>
            </a:r>
          </a:p>
          <a:p>
            <a:pPr lvl="1">
              <a:buFont typeface="Courier New" panose="02070309020205020404" pitchFamily="49" charset="0"/>
              <a:buChar char="o"/>
            </a:pPr>
            <a:r>
              <a:rPr lang="en-US" dirty="0">
                <a:solidFill>
                  <a:srgbClr val="FF0000"/>
                </a:solidFill>
              </a:rPr>
              <a:t>P</a:t>
            </a:r>
            <a:r>
              <a:rPr lang="en-US" dirty="0" smtClean="0">
                <a:solidFill>
                  <a:srgbClr val="FF0000"/>
                </a:solidFill>
              </a:rPr>
              <a:t>roviding </a:t>
            </a:r>
            <a:r>
              <a:rPr lang="en-US" dirty="0">
                <a:solidFill>
                  <a:srgbClr val="FF0000"/>
                </a:solidFill>
              </a:rPr>
              <a:t>volume resuscitation, and </a:t>
            </a:r>
            <a:endParaRPr lang="en-US" dirty="0" smtClean="0">
              <a:solidFill>
                <a:srgbClr val="FF0000"/>
              </a:solidFill>
            </a:endParaRPr>
          </a:p>
          <a:p>
            <a:pPr lvl="1">
              <a:buFont typeface="Courier New" panose="02070309020205020404" pitchFamily="49" charset="0"/>
              <a:buChar char="o"/>
            </a:pPr>
            <a:r>
              <a:rPr lang="en-US" dirty="0">
                <a:solidFill>
                  <a:srgbClr val="FF0000"/>
                </a:solidFill>
              </a:rPr>
              <a:t>I</a:t>
            </a:r>
            <a:r>
              <a:rPr lang="en-US" dirty="0" smtClean="0">
                <a:solidFill>
                  <a:srgbClr val="FF0000"/>
                </a:solidFill>
              </a:rPr>
              <a:t>nitiating </a:t>
            </a:r>
            <a:r>
              <a:rPr lang="en-US" dirty="0">
                <a:solidFill>
                  <a:srgbClr val="FF0000"/>
                </a:solidFill>
              </a:rPr>
              <a:t>vasoactive medication if shock persists despite fluid therapy. </a:t>
            </a:r>
            <a:br>
              <a:rPr lang="en-US" dirty="0">
                <a:solidFill>
                  <a:srgbClr val="FF0000"/>
                </a:solidFill>
              </a:rPr>
            </a:br>
            <a:r>
              <a:rPr lang="en-US" dirty="0">
                <a:solidFill>
                  <a:srgbClr val="FF0000"/>
                </a:solidFill>
              </a:rPr>
              <a:t/>
            </a:r>
            <a:br>
              <a:rPr lang="en-US" dirty="0">
                <a:solidFill>
                  <a:srgbClr val="FF0000"/>
                </a:solidFill>
              </a:rPr>
            </a:br>
            <a:endParaRPr lang="en-US" dirty="0">
              <a:solidFill>
                <a:srgbClr val="FF0000"/>
              </a:solidFill>
            </a:endParaRPr>
          </a:p>
        </p:txBody>
      </p:sp>
    </p:spTree>
    <p:extLst>
      <p:ext uri="{BB962C8B-B14F-4D97-AF65-F5344CB8AC3E}">
        <p14:creationId xmlns="" xmlns:p14="http://schemas.microsoft.com/office/powerpoint/2010/main" val="33215472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extLst>
              <a:ext uri="{28A0092B-C50C-407E-A947-70E740481C1C}">
                <a14:useLocalDpi xmlns="" xmlns:a14="http://schemas.microsoft.com/office/drawing/2010/main" val="0"/>
              </a:ext>
            </a:extLst>
          </a:blip>
          <a:stretch>
            <a:fillRect/>
          </a:stretch>
        </p:blipFill>
        <p:spPr>
          <a:xfrm>
            <a:off x="1714052" y="1690689"/>
            <a:ext cx="7613276" cy="2904171"/>
          </a:xfrm>
        </p:spPr>
      </p:pic>
      <p:sp>
        <p:nvSpPr>
          <p:cNvPr id="4" name="Title 3"/>
          <p:cNvSpPr>
            <a:spLocks noGrp="1"/>
          </p:cNvSpPr>
          <p:nvPr>
            <p:ph type="title"/>
          </p:nvPr>
        </p:nvSpPr>
        <p:spPr/>
        <p:txBody>
          <a:bodyPr/>
          <a:lstStyle/>
          <a:p>
            <a:r>
              <a:rPr lang="en-US" dirty="0" smtClean="0"/>
              <a:t> </a:t>
            </a:r>
            <a:endParaRPr lang="en-US" dirty="0"/>
          </a:p>
        </p:txBody>
      </p:sp>
      <p:pic>
        <p:nvPicPr>
          <p:cNvPr id="7" name="Picture 6"/>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538107" y="-142222"/>
            <a:ext cx="10239485" cy="4446270"/>
          </a:xfrm>
          <a:prstGeom prst="rect">
            <a:avLst/>
          </a:prstGeom>
        </p:spPr>
      </p:pic>
      <p:pic>
        <p:nvPicPr>
          <p:cNvPr id="9" name="Picture 8"/>
          <p:cNvPicPr>
            <a:picLocks noChangeAspect="1"/>
          </p:cNvPicPr>
          <p:nvPr/>
        </p:nvPicPr>
        <p:blipFill>
          <a:blip r:embed="rId5">
            <a:extLst>
              <a:ext uri="{28A0092B-C50C-407E-A947-70E740481C1C}">
                <a14:useLocalDpi xmlns="" xmlns:a14="http://schemas.microsoft.com/office/drawing/2010/main" val="0"/>
              </a:ext>
            </a:extLst>
          </a:blip>
          <a:stretch>
            <a:fillRect/>
          </a:stretch>
        </p:blipFill>
        <p:spPr>
          <a:xfrm>
            <a:off x="0" y="3958815"/>
            <a:ext cx="11688806" cy="2796988"/>
          </a:xfrm>
          <a:prstGeom prst="rect">
            <a:avLst/>
          </a:prstGeom>
        </p:spPr>
      </p:pic>
    </p:spTree>
    <p:extLst>
      <p:ext uri="{BB962C8B-B14F-4D97-AF65-F5344CB8AC3E}">
        <p14:creationId xmlns="" xmlns:p14="http://schemas.microsoft.com/office/powerpoint/2010/main" val="269371765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Notably, the Surviving Sepsis Campaign suggests volume resuscitation with up to 40-60 mL/kg in bolus fluid (10-20 mL/kg per bolus) over the first hour, titrated to clinical markers </a:t>
            </a:r>
            <a:r>
              <a:rPr lang="en-US" dirty="0" smtClean="0"/>
              <a:t>for </a:t>
            </a:r>
            <a:r>
              <a:rPr lang="en-US" dirty="0"/>
              <a:t>children with septic </a:t>
            </a:r>
            <a:r>
              <a:rPr lang="en-US" dirty="0" smtClean="0"/>
              <a:t>shock.</a:t>
            </a:r>
          </a:p>
          <a:p>
            <a:endParaRPr lang="en-US" dirty="0" smtClean="0"/>
          </a:p>
          <a:p>
            <a:pPr lvl="1">
              <a:buFont typeface="Wingdings" panose="05000000000000000000" pitchFamily="2" charset="2"/>
              <a:buChar char="Ø"/>
            </a:pPr>
            <a:r>
              <a:rPr lang="en-US" dirty="0" smtClean="0"/>
              <a:t>In </a:t>
            </a:r>
            <a:r>
              <a:rPr lang="en-US" dirty="0"/>
              <a:t>geographic regions that have access to intensive care (either locally or via transport) or in any setting when hypotension is present. </a:t>
            </a:r>
            <a:endParaRPr lang="en-US" dirty="0" smtClean="0"/>
          </a:p>
        </p:txBody>
      </p:sp>
    </p:spTree>
    <p:extLst>
      <p:ext uri="{BB962C8B-B14F-4D97-AF65-F5344CB8AC3E}">
        <p14:creationId xmlns="" xmlns:p14="http://schemas.microsoft.com/office/powerpoint/2010/main" val="231690551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Fluid-Refractory and Catecholamine-Resistant Shock</a:t>
            </a:r>
            <a:r>
              <a:rPr lang="en-US" dirty="0">
                <a:solidFill>
                  <a:srgbClr val="FF0000"/>
                </a:solidFill>
              </a:rPr>
              <a:t> </a:t>
            </a:r>
          </a:p>
        </p:txBody>
      </p:sp>
      <p:sp>
        <p:nvSpPr>
          <p:cNvPr id="3" name="Content Placeholder 2"/>
          <p:cNvSpPr>
            <a:spLocks noGrp="1"/>
          </p:cNvSpPr>
          <p:nvPr>
            <p:ph idx="1"/>
          </p:nvPr>
        </p:nvSpPr>
        <p:spPr/>
        <p:txBody>
          <a:bodyPr/>
          <a:lstStyle/>
          <a:p>
            <a:r>
              <a:rPr lang="en-US" dirty="0"/>
              <a:t>If shock persists despite volume resuscitation and vasoactive support with an initial </a:t>
            </a:r>
            <a:r>
              <a:rPr lang="en-US" dirty="0" err="1"/>
              <a:t>catecholaminergic</a:t>
            </a:r>
            <a:r>
              <a:rPr lang="en-US" dirty="0"/>
              <a:t> agent, such as epinephrine, the child has </a:t>
            </a:r>
            <a:r>
              <a:rPr lang="en-US" b="1" dirty="0">
                <a:solidFill>
                  <a:srgbClr val="FF0000"/>
                </a:solidFill>
              </a:rPr>
              <a:t>fluid-refractory and catecholamine-resistant shock</a:t>
            </a:r>
            <a:r>
              <a:rPr lang="en-US" dirty="0">
                <a:solidFill>
                  <a:srgbClr val="FF0000"/>
                </a:solidFill>
              </a:rPr>
              <a:t>. </a:t>
            </a:r>
            <a:r>
              <a:rPr lang="en-US" dirty="0"/>
              <a:t/>
            </a:r>
            <a:br>
              <a:rPr lang="en-US" dirty="0"/>
            </a:br>
            <a:endParaRPr lang="en-US" dirty="0" smtClean="0"/>
          </a:p>
          <a:p>
            <a:r>
              <a:rPr lang="en-US" dirty="0"/>
              <a:t>second-line vasoactive medications, stress-dose corticosteroids, and extracorporeal membrane oxygenation (ECMO</a:t>
            </a:r>
            <a:r>
              <a:rPr lang="en-US" dirty="0" smtClean="0"/>
              <a:t>). </a:t>
            </a:r>
            <a:r>
              <a:rPr lang="en-US" dirty="0"/>
              <a:t/>
            </a:r>
            <a:br>
              <a:rPr lang="en-US" dirty="0"/>
            </a:br>
            <a:endParaRPr lang="en-US" dirty="0"/>
          </a:p>
        </p:txBody>
      </p:sp>
    </p:spTree>
    <p:extLst>
      <p:ext uri="{BB962C8B-B14F-4D97-AF65-F5344CB8AC3E}">
        <p14:creationId xmlns="" xmlns:p14="http://schemas.microsoft.com/office/powerpoint/2010/main" val="32895672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a:solidFill>
                  <a:srgbClr val="FF0000"/>
                </a:solidFill>
              </a:rPr>
              <a:t>Stress-dose corticosteroids </a:t>
            </a:r>
            <a:r>
              <a:rPr lang="en-US" dirty="0"/>
              <a:t>are indicated for patients with septic shock who have absolute adrenal insufficiency, such as that caused </a:t>
            </a:r>
            <a:r>
              <a:rPr lang="en-US" dirty="0" smtClean="0"/>
              <a:t>by</a:t>
            </a:r>
          </a:p>
          <a:p>
            <a:r>
              <a:rPr lang="en-US" dirty="0" smtClean="0"/>
              <a:t> </a:t>
            </a:r>
          </a:p>
          <a:p>
            <a:pPr lvl="1">
              <a:buFont typeface="Courier New" panose="02070309020205020404" pitchFamily="49" charset="0"/>
              <a:buChar char="o"/>
            </a:pPr>
            <a:r>
              <a:rPr lang="en-US" dirty="0" smtClean="0"/>
              <a:t>congenital </a:t>
            </a:r>
            <a:r>
              <a:rPr lang="en-US" dirty="0"/>
              <a:t>adrenal </a:t>
            </a:r>
            <a:r>
              <a:rPr lang="en-US" dirty="0" smtClean="0"/>
              <a:t>hyperplasia</a:t>
            </a:r>
          </a:p>
          <a:p>
            <a:pPr lvl="1">
              <a:buFont typeface="Courier New" panose="02070309020205020404" pitchFamily="49" charset="0"/>
              <a:buChar char="o"/>
            </a:pPr>
            <a:r>
              <a:rPr lang="en-US" dirty="0" smtClean="0"/>
              <a:t>septic </a:t>
            </a:r>
            <a:r>
              <a:rPr lang="en-US" dirty="0"/>
              <a:t>shock with </a:t>
            </a:r>
            <a:r>
              <a:rPr lang="en-US" dirty="0" smtClean="0"/>
              <a:t>purpura,</a:t>
            </a:r>
          </a:p>
          <a:p>
            <a:pPr lvl="1">
              <a:buFont typeface="Courier New" panose="02070309020205020404" pitchFamily="49" charset="0"/>
              <a:buChar char="o"/>
            </a:pPr>
            <a:r>
              <a:rPr lang="en-US" dirty="0" smtClean="0"/>
              <a:t>prior </a:t>
            </a:r>
            <a:r>
              <a:rPr lang="en-US" dirty="0"/>
              <a:t>steroid therapy for chronic illness, or </a:t>
            </a:r>
            <a:endParaRPr lang="en-US" dirty="0" smtClean="0"/>
          </a:p>
          <a:p>
            <a:pPr lvl="1">
              <a:buFont typeface="Courier New" panose="02070309020205020404" pitchFamily="49" charset="0"/>
              <a:buChar char="o"/>
            </a:pPr>
            <a:r>
              <a:rPr lang="en-US" dirty="0" smtClean="0"/>
              <a:t>Hypopituitarism</a:t>
            </a:r>
          </a:p>
          <a:p>
            <a:pPr lvl="1">
              <a:buFont typeface="Courier New" panose="02070309020205020404" pitchFamily="49" charset="0"/>
              <a:buChar char="o"/>
            </a:pPr>
            <a:r>
              <a:rPr lang="en-US" dirty="0" smtClean="0"/>
              <a:t>And can </a:t>
            </a:r>
            <a:r>
              <a:rPr lang="en-US" dirty="0"/>
              <a:t>be considered for children with fluid-refractory, catecholamine-resistant shock without a reversible etiology </a:t>
            </a:r>
            <a:r>
              <a:rPr lang="en-US" dirty="0" smtClean="0"/>
              <a:t>.</a:t>
            </a:r>
            <a:r>
              <a:rPr lang="en-US" dirty="0"/>
              <a:t/>
            </a:r>
            <a:br>
              <a:rPr lang="en-US" dirty="0"/>
            </a:br>
            <a:r>
              <a:rPr lang="en-US" dirty="0"/>
              <a:t/>
            </a:r>
            <a:br>
              <a:rPr lang="en-US" dirty="0"/>
            </a:br>
            <a:endParaRPr lang="en-US" dirty="0"/>
          </a:p>
        </p:txBody>
      </p:sp>
    </p:spTree>
    <p:extLst>
      <p:ext uri="{BB962C8B-B14F-4D97-AF65-F5344CB8AC3E}">
        <p14:creationId xmlns="" xmlns:p14="http://schemas.microsoft.com/office/powerpoint/2010/main" val="75983155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a:solidFill>
                  <a:srgbClr val="FF0000"/>
                </a:solidFill>
              </a:rPr>
              <a:t>Second-line vasoactive therapy </a:t>
            </a:r>
            <a:r>
              <a:rPr lang="en-US" dirty="0"/>
              <a:t>should be considered for patients in whom shock persists despite titration of the initial vasoactive agent. </a:t>
            </a:r>
            <a:endParaRPr lang="en-US" dirty="0" smtClean="0"/>
          </a:p>
          <a:p>
            <a:endParaRPr lang="en-US" dirty="0"/>
          </a:p>
          <a:p>
            <a:r>
              <a:rPr lang="en-US" dirty="0"/>
              <a:t>For patients with “</a:t>
            </a:r>
            <a:r>
              <a:rPr lang="en-US" dirty="0">
                <a:solidFill>
                  <a:srgbClr val="FF0000"/>
                </a:solidFill>
              </a:rPr>
              <a:t>warm</a:t>
            </a:r>
            <a:r>
              <a:rPr lang="en-US" dirty="0"/>
              <a:t>” shock or evidence of low SVR initially treated with </a:t>
            </a:r>
            <a:r>
              <a:rPr lang="en-US" dirty="0">
                <a:solidFill>
                  <a:srgbClr val="FF0000"/>
                </a:solidFill>
              </a:rPr>
              <a:t>norepinephrine</a:t>
            </a:r>
            <a:r>
              <a:rPr lang="en-US" dirty="0"/>
              <a:t>, the addition of vasopressin or </a:t>
            </a:r>
            <a:r>
              <a:rPr lang="en-US" dirty="0">
                <a:solidFill>
                  <a:srgbClr val="FF0000"/>
                </a:solidFill>
              </a:rPr>
              <a:t>epinephrine</a:t>
            </a:r>
            <a:r>
              <a:rPr lang="en-US" dirty="0"/>
              <a:t> may be considered. </a:t>
            </a:r>
            <a:br>
              <a:rPr lang="en-US" dirty="0"/>
            </a:br>
            <a:endParaRPr lang="en-US" dirty="0" smtClean="0"/>
          </a:p>
          <a:p>
            <a:pPr marL="0" indent="0">
              <a:buNone/>
            </a:pPr>
            <a:r>
              <a:rPr lang="en-US" dirty="0"/>
              <a:t/>
            </a:r>
            <a:br>
              <a:rPr lang="en-US" dirty="0"/>
            </a:br>
            <a:r>
              <a:rPr lang="en-US" dirty="0"/>
              <a:t/>
            </a:r>
            <a:br>
              <a:rPr lang="en-US" dirty="0"/>
            </a:br>
            <a:endParaRPr lang="en-US" dirty="0"/>
          </a:p>
        </p:txBody>
      </p:sp>
    </p:spTree>
    <p:extLst>
      <p:ext uri="{BB962C8B-B14F-4D97-AF65-F5344CB8AC3E}">
        <p14:creationId xmlns="" xmlns:p14="http://schemas.microsoft.com/office/powerpoint/2010/main" val="29769109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patients with “</a:t>
            </a:r>
            <a:r>
              <a:rPr lang="en-US" dirty="0">
                <a:solidFill>
                  <a:srgbClr val="FF0000"/>
                </a:solidFill>
              </a:rPr>
              <a:t>cold</a:t>
            </a:r>
            <a:r>
              <a:rPr lang="en-US" dirty="0"/>
              <a:t>” shock or evidence of myocardial dysfunction, priority should be given to improving </a:t>
            </a:r>
            <a:r>
              <a:rPr lang="en-US" dirty="0">
                <a:solidFill>
                  <a:srgbClr val="FF0000"/>
                </a:solidFill>
              </a:rPr>
              <a:t>cardiac</a:t>
            </a:r>
            <a:r>
              <a:rPr lang="en-US" dirty="0"/>
              <a:t> </a:t>
            </a:r>
            <a:r>
              <a:rPr lang="en-US" dirty="0">
                <a:solidFill>
                  <a:srgbClr val="FF0000"/>
                </a:solidFill>
              </a:rPr>
              <a:t>contractility</a:t>
            </a:r>
            <a:r>
              <a:rPr lang="en-US" dirty="0"/>
              <a:t> with inotropes. </a:t>
            </a:r>
            <a:endParaRPr lang="en-US" dirty="0" smtClean="0"/>
          </a:p>
          <a:p>
            <a:endParaRPr lang="en-US" dirty="0" smtClean="0"/>
          </a:p>
          <a:p>
            <a:r>
              <a:rPr lang="en-US" dirty="0" smtClean="0">
                <a:solidFill>
                  <a:srgbClr val="FF0000"/>
                </a:solidFill>
              </a:rPr>
              <a:t>First-line</a:t>
            </a:r>
            <a:r>
              <a:rPr lang="en-US" dirty="0" smtClean="0"/>
              <a:t> </a:t>
            </a:r>
            <a:r>
              <a:rPr lang="en-US" dirty="0"/>
              <a:t>therapy with </a:t>
            </a:r>
            <a:r>
              <a:rPr lang="en-US" dirty="0">
                <a:solidFill>
                  <a:srgbClr val="FF0000"/>
                </a:solidFill>
              </a:rPr>
              <a:t>epinephrine</a:t>
            </a:r>
            <a:r>
              <a:rPr lang="en-US" dirty="0"/>
              <a:t> is recommended, with </a:t>
            </a:r>
            <a:r>
              <a:rPr lang="en-US" dirty="0">
                <a:solidFill>
                  <a:srgbClr val="FF0000"/>
                </a:solidFill>
              </a:rPr>
              <a:t>addition</a:t>
            </a:r>
            <a:r>
              <a:rPr lang="en-US" dirty="0"/>
              <a:t> of </a:t>
            </a:r>
            <a:r>
              <a:rPr lang="en-US" dirty="0">
                <a:solidFill>
                  <a:srgbClr val="FF0000"/>
                </a:solidFill>
              </a:rPr>
              <a:t>dopamine</a:t>
            </a:r>
            <a:r>
              <a:rPr lang="en-US" dirty="0"/>
              <a:t>, </a:t>
            </a:r>
            <a:r>
              <a:rPr lang="en-US" dirty="0" err="1">
                <a:solidFill>
                  <a:srgbClr val="FF0000"/>
                </a:solidFill>
              </a:rPr>
              <a:t>dobutamine</a:t>
            </a:r>
            <a:r>
              <a:rPr lang="en-US" dirty="0"/>
              <a:t>, or </a:t>
            </a:r>
            <a:r>
              <a:rPr lang="en-US" dirty="0">
                <a:solidFill>
                  <a:srgbClr val="FF0000"/>
                </a:solidFill>
              </a:rPr>
              <a:t>norepinephrine</a:t>
            </a:r>
            <a:r>
              <a:rPr lang="en-US" dirty="0"/>
              <a:t> as </a:t>
            </a:r>
            <a:r>
              <a:rPr lang="en-US" dirty="0" smtClean="0"/>
              <a:t>second line agents.</a:t>
            </a:r>
            <a:endParaRPr lang="en-US" dirty="0"/>
          </a:p>
        </p:txBody>
      </p:sp>
    </p:spTree>
    <p:extLst>
      <p:ext uri="{BB962C8B-B14F-4D97-AF65-F5344CB8AC3E}">
        <p14:creationId xmlns="" xmlns:p14="http://schemas.microsoft.com/office/powerpoint/2010/main" val="223290761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Shock Management is severe acute </a:t>
            </a:r>
            <a:r>
              <a:rPr lang="en-US" dirty="0" err="1" smtClean="0"/>
              <a:t>manutrition</a:t>
            </a:r>
            <a:endParaRPr lang="en-US" dirty="0"/>
          </a:p>
        </p:txBody>
      </p:sp>
      <p:sp>
        <p:nvSpPr>
          <p:cNvPr id="3" name="Content Placeholder 2"/>
          <p:cNvSpPr>
            <a:spLocks noGrp="1"/>
          </p:cNvSpPr>
          <p:nvPr>
            <p:ph idx="1"/>
          </p:nvPr>
        </p:nvSpPr>
        <p:spPr>
          <a:xfrm>
            <a:off x="817245" y="1613647"/>
            <a:ext cx="10252710" cy="4563316"/>
          </a:xfrm>
        </p:spPr>
        <p:txBody>
          <a:bodyPr>
            <a:normAutofit fontScale="32500" lnSpcReduction="20000"/>
          </a:bodyPr>
          <a:lstStyle/>
          <a:p>
            <a:r>
              <a:rPr lang="en-US" sz="8600" dirty="0">
                <a:solidFill>
                  <a:schemeClr val="accent6"/>
                </a:solidFill>
              </a:rPr>
              <a:t>The four key steps to manage shock </a:t>
            </a:r>
            <a:r>
              <a:rPr lang="en-US" sz="8600" dirty="0" smtClean="0">
                <a:solidFill>
                  <a:schemeClr val="accent6"/>
                </a:solidFill>
              </a:rPr>
              <a:t>are:</a:t>
            </a:r>
          </a:p>
          <a:p>
            <a:endParaRPr lang="en-US" sz="5800" dirty="0" smtClean="0">
              <a:solidFill>
                <a:schemeClr val="accent6"/>
              </a:solidFill>
            </a:endParaRPr>
          </a:p>
          <a:p>
            <a:pPr lvl="1">
              <a:buFont typeface="Courier New" panose="02070309020205020404" pitchFamily="49" charset="0"/>
              <a:buChar char="o"/>
            </a:pPr>
            <a:r>
              <a:rPr lang="en-US" sz="7400" dirty="0" smtClean="0"/>
              <a:t>Give oxygen </a:t>
            </a:r>
          </a:p>
          <a:p>
            <a:pPr lvl="1">
              <a:buFont typeface="Courier New" panose="02070309020205020404" pitchFamily="49" charset="0"/>
              <a:buChar char="o"/>
            </a:pPr>
            <a:r>
              <a:rPr lang="en-US" sz="7400" dirty="0" smtClean="0"/>
              <a:t>Give </a:t>
            </a:r>
            <a:r>
              <a:rPr lang="en-US" sz="7400" dirty="0"/>
              <a:t>10% Glucose  5 ml/kg by </a:t>
            </a:r>
            <a:r>
              <a:rPr lang="en-US" sz="7400" dirty="0" smtClean="0"/>
              <a:t>IV</a:t>
            </a:r>
          </a:p>
          <a:p>
            <a:pPr lvl="1">
              <a:buFont typeface="Courier New" panose="02070309020205020404" pitchFamily="49" charset="0"/>
              <a:buChar char="o"/>
            </a:pPr>
            <a:r>
              <a:rPr lang="en-US" sz="7400" dirty="0" smtClean="0"/>
              <a:t> </a:t>
            </a:r>
            <a:r>
              <a:rPr lang="en-US" sz="7400" dirty="0"/>
              <a:t>Keep the child </a:t>
            </a:r>
            <a:r>
              <a:rPr lang="en-US" sz="7400" dirty="0" smtClean="0"/>
              <a:t>warm</a:t>
            </a:r>
          </a:p>
          <a:p>
            <a:pPr lvl="1">
              <a:buFont typeface="Courier New" panose="02070309020205020404" pitchFamily="49" charset="0"/>
              <a:buChar char="o"/>
            </a:pPr>
            <a:r>
              <a:rPr lang="en-US" sz="7400" dirty="0" smtClean="0"/>
              <a:t> </a:t>
            </a:r>
            <a:r>
              <a:rPr lang="en-US" sz="7400" dirty="0"/>
              <a:t>Give IV </a:t>
            </a:r>
            <a:r>
              <a:rPr lang="en-US" sz="7400" dirty="0" smtClean="0"/>
              <a:t>fluids </a:t>
            </a:r>
            <a:r>
              <a:rPr lang="en-US" sz="7400" dirty="0"/>
              <a:t>Infuse IV fluid at 15ml/kg over 1 </a:t>
            </a:r>
            <a:r>
              <a:rPr lang="en-US" sz="7400" dirty="0" smtClean="0"/>
              <a:t>hour</a:t>
            </a:r>
          </a:p>
          <a:p>
            <a:pPr lvl="1">
              <a:buFont typeface="Courier New" panose="02070309020205020404" pitchFamily="49" charset="0"/>
              <a:buChar char="o"/>
            </a:pPr>
            <a:r>
              <a:rPr lang="en-US" sz="7400" dirty="0" smtClean="0"/>
              <a:t> </a:t>
            </a:r>
            <a:r>
              <a:rPr lang="en-US" sz="7400" dirty="0"/>
              <a:t>If respiratory rate and pulse rate are slower after one hour, the child is </a:t>
            </a:r>
            <a:r>
              <a:rPr lang="en-US" sz="7400" dirty="0" smtClean="0"/>
              <a:t>improving </a:t>
            </a:r>
            <a:r>
              <a:rPr lang="en-US" sz="7400" dirty="0"/>
              <a:t>Repeat the same amount of IV fluids for another hour</a:t>
            </a:r>
          </a:p>
          <a:p>
            <a:endParaRPr lang="en-US" dirty="0"/>
          </a:p>
          <a:p>
            <a:endParaRPr lang="en-US" dirty="0" smtClean="0"/>
          </a:p>
          <a:p>
            <a:endParaRPr lang="en-US" dirty="0"/>
          </a:p>
          <a:p>
            <a:endParaRPr lang="en-US" dirty="0"/>
          </a:p>
          <a:p>
            <a:endParaRPr lang="en-US" dirty="0"/>
          </a:p>
          <a:p>
            <a:endParaRPr lang="en-US" dirty="0"/>
          </a:p>
          <a:p>
            <a:endParaRPr lang="en-US" dirty="0"/>
          </a:p>
          <a:p>
            <a:r>
              <a:rPr lang="en-US" dirty="0" smtClean="0">
                <a:solidFill>
                  <a:schemeClr val="accent5"/>
                </a:solidFill>
              </a:rPr>
              <a:t> </a:t>
            </a:r>
            <a:endParaRPr lang="en-US" dirty="0">
              <a:solidFill>
                <a:schemeClr val="accent5"/>
              </a:solidFill>
            </a:endParaRPr>
          </a:p>
        </p:txBody>
      </p:sp>
      <p:sp>
        <p:nvSpPr>
          <p:cNvPr id="4" name="Footer Placeholder 3"/>
          <p:cNvSpPr>
            <a:spLocks noGrp="1"/>
          </p:cNvSpPr>
          <p:nvPr>
            <p:ph type="ftr" sz="quarter" idx="11"/>
          </p:nvPr>
        </p:nvSpPr>
        <p:spPr/>
        <p:txBody>
          <a:bodyPr/>
          <a:lstStyle/>
          <a:p>
            <a:r>
              <a:rPr lang="en-US" smtClean="0"/>
              <a:t>CKD ANEMIA </a:t>
            </a:r>
            <a:endParaRPr lang="en-US"/>
          </a:p>
        </p:txBody>
      </p:sp>
    </p:spTree>
    <p:extLst>
      <p:ext uri="{BB962C8B-B14F-4D97-AF65-F5344CB8AC3E}">
        <p14:creationId xmlns="" xmlns:p14="http://schemas.microsoft.com/office/powerpoint/2010/main" val="329971401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solidFill>
                  <a:schemeClr val="accent5"/>
                </a:solidFill>
              </a:rPr>
              <a:t>Use one of the following </a:t>
            </a:r>
            <a:r>
              <a:rPr lang="en-US" dirty="0" smtClean="0">
                <a:solidFill>
                  <a:schemeClr val="accent5"/>
                </a:solidFill>
              </a:rPr>
              <a:t>solutions</a:t>
            </a:r>
            <a:endParaRPr lang="en-US" dirty="0">
              <a:solidFill>
                <a:schemeClr val="accent5"/>
              </a:solidFill>
            </a:endParaRPr>
          </a:p>
          <a:p>
            <a:pPr lvl="1">
              <a:buFont typeface="Courier New" panose="02070309020205020404" pitchFamily="49" charset="0"/>
              <a:buChar char="o"/>
            </a:pPr>
            <a:r>
              <a:rPr lang="en-US" dirty="0"/>
              <a:t>Ringer’s lactate solution with 5per cent </a:t>
            </a:r>
            <a:r>
              <a:rPr lang="en-US" dirty="0" smtClean="0"/>
              <a:t>glucose</a:t>
            </a:r>
          </a:p>
          <a:p>
            <a:pPr lvl="1">
              <a:buFont typeface="Courier New" panose="02070309020205020404" pitchFamily="49" charset="0"/>
              <a:buChar char="o"/>
            </a:pPr>
            <a:r>
              <a:rPr lang="en-US" dirty="0"/>
              <a:t>0.9 per cent normal saline with 5per cent </a:t>
            </a:r>
            <a:r>
              <a:rPr lang="en-US" dirty="0" smtClean="0"/>
              <a:t>glucose</a:t>
            </a:r>
          </a:p>
          <a:p>
            <a:pPr lvl="1">
              <a:buFont typeface="Courier New" panose="02070309020205020404" pitchFamily="49" charset="0"/>
              <a:buChar char="o"/>
            </a:pPr>
            <a:r>
              <a:rPr lang="en-US" dirty="0"/>
              <a:t>If either of these are used, add sterile potassium chloride (20 </a:t>
            </a:r>
            <a:r>
              <a:rPr lang="en-US" dirty="0" err="1"/>
              <a:t>Mmol</a:t>
            </a:r>
            <a:r>
              <a:rPr lang="en-US" dirty="0"/>
              <a:t>/l) if </a:t>
            </a:r>
            <a:r>
              <a:rPr lang="en-US" dirty="0" smtClean="0"/>
              <a:t>possible.</a:t>
            </a:r>
            <a:endParaRPr lang="en-US" dirty="0"/>
          </a:p>
          <a:p>
            <a:endParaRPr lang="en-US" dirty="0"/>
          </a:p>
          <a:p>
            <a:r>
              <a:rPr lang="en-US" dirty="0">
                <a:solidFill>
                  <a:schemeClr val="accent5"/>
                </a:solidFill>
              </a:rPr>
              <a:t>After two hours of IV fluids, switch to oral or NG rehydration with </a:t>
            </a:r>
            <a:r>
              <a:rPr lang="en-US" dirty="0" err="1" smtClean="0">
                <a:solidFill>
                  <a:schemeClr val="accent5"/>
                </a:solidFill>
              </a:rPr>
              <a:t>ReSoMal</a:t>
            </a:r>
            <a:endParaRPr lang="en-US" dirty="0" smtClean="0">
              <a:solidFill>
                <a:schemeClr val="accent5"/>
              </a:solidFill>
            </a:endParaRPr>
          </a:p>
          <a:p>
            <a:pPr lvl="1">
              <a:buFont typeface="Courier New" panose="02070309020205020404" pitchFamily="49" charset="0"/>
              <a:buChar char="o"/>
            </a:pPr>
            <a:r>
              <a:rPr lang="en-US" dirty="0"/>
              <a:t>Give 5-10 ml/kg </a:t>
            </a:r>
            <a:r>
              <a:rPr lang="en-US" dirty="0" err="1"/>
              <a:t>ReSoMal</a:t>
            </a:r>
            <a:r>
              <a:rPr lang="en-US" dirty="0"/>
              <a:t> in alternate hours with F-75 for up to 10 hours or until fully </a:t>
            </a:r>
            <a:r>
              <a:rPr lang="en-US" dirty="0" smtClean="0"/>
              <a:t>rehydrated.</a:t>
            </a:r>
            <a:endParaRPr lang="en-US" dirty="0"/>
          </a:p>
          <a:p>
            <a:endParaRPr lang="en-US" dirty="0">
              <a:solidFill>
                <a:schemeClr val="accent5"/>
              </a:solidFill>
            </a:endParaRPr>
          </a:p>
        </p:txBody>
      </p:sp>
    </p:spTree>
    <p:extLst>
      <p:ext uri="{BB962C8B-B14F-4D97-AF65-F5344CB8AC3E}">
        <p14:creationId xmlns="" xmlns:p14="http://schemas.microsoft.com/office/powerpoint/2010/main" val="25160188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If the respiratory rate and pulse rate increase and child is gaining weight, stop the IV rehydration and assume septic or cardiogenic </a:t>
            </a:r>
            <a:r>
              <a:rPr lang="en-US" dirty="0" smtClean="0"/>
              <a:t>shock.</a:t>
            </a:r>
            <a:endParaRPr lang="en-US" dirty="0"/>
          </a:p>
          <a:p>
            <a:endParaRPr lang="en-US" dirty="0"/>
          </a:p>
          <a:p>
            <a:endParaRPr lang="en-US" dirty="0"/>
          </a:p>
          <a:p>
            <a:endParaRPr lang="en-US" dirty="0"/>
          </a:p>
        </p:txBody>
      </p:sp>
    </p:spTree>
    <p:extLst>
      <p:ext uri="{BB962C8B-B14F-4D97-AF65-F5344CB8AC3E}">
        <p14:creationId xmlns="" xmlns:p14="http://schemas.microsoft.com/office/powerpoint/2010/main" val="366820454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Management of </a:t>
            </a:r>
            <a:r>
              <a:rPr lang="en-US" dirty="0">
                <a:solidFill>
                  <a:srgbClr val="FF0000"/>
                </a:solidFill>
              </a:rPr>
              <a:t>septic </a:t>
            </a:r>
            <a:r>
              <a:rPr lang="en-US" dirty="0" smtClean="0">
                <a:solidFill>
                  <a:srgbClr val="FF0000"/>
                </a:solidFill>
              </a:rPr>
              <a:t>shock</a:t>
            </a:r>
            <a:r>
              <a:rPr lang="en-US" dirty="0" smtClean="0"/>
              <a:t> with SAM</a:t>
            </a:r>
            <a:endParaRPr lang="en-US" dirty="0"/>
          </a:p>
          <a:p>
            <a:r>
              <a:rPr lang="en-US" dirty="0">
                <a:solidFill>
                  <a:schemeClr val="accent5"/>
                </a:solidFill>
              </a:rPr>
              <a:t>All patients with signs of septic shock should immediately</a:t>
            </a:r>
            <a:r>
              <a:rPr lang="en-US" dirty="0" smtClean="0"/>
              <a:t>:</a:t>
            </a:r>
          </a:p>
          <a:p>
            <a:endParaRPr lang="en-US" dirty="0"/>
          </a:p>
          <a:p>
            <a:pPr lvl="1">
              <a:buFont typeface="Courier New" panose="02070309020205020404" pitchFamily="49" charset="0"/>
              <a:buChar char="o"/>
            </a:pPr>
            <a:r>
              <a:rPr lang="en-US" dirty="0" smtClean="0"/>
              <a:t>Be </a:t>
            </a:r>
            <a:r>
              <a:rPr lang="en-US" dirty="0"/>
              <a:t>given broad-spectrum antibiotics</a:t>
            </a:r>
          </a:p>
          <a:p>
            <a:pPr lvl="1">
              <a:buFont typeface="Courier New" panose="02070309020205020404" pitchFamily="49" charset="0"/>
              <a:buChar char="o"/>
            </a:pPr>
            <a:r>
              <a:rPr lang="en-US" dirty="0"/>
              <a:t>Be kept warm to prevent hypothermia or</a:t>
            </a:r>
          </a:p>
          <a:p>
            <a:pPr lvl="1">
              <a:buFont typeface="Courier New" panose="02070309020205020404" pitchFamily="49" charset="0"/>
              <a:buChar char="o"/>
            </a:pPr>
            <a:r>
              <a:rPr lang="en-US" dirty="0"/>
              <a:t>Be treated or ensure hypoglycemia is prevented</a:t>
            </a:r>
          </a:p>
        </p:txBody>
      </p:sp>
    </p:spTree>
    <p:extLst>
      <p:ext uri="{BB962C8B-B14F-4D97-AF65-F5344CB8AC3E}">
        <p14:creationId xmlns="" xmlns:p14="http://schemas.microsoft.com/office/powerpoint/2010/main" val="155455021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Give maintenance IV fluids (4 ml/kg/hour) while waiting for blood </a:t>
            </a:r>
            <a:r>
              <a:rPr lang="en-US" dirty="0" smtClean="0"/>
              <a:t>transfusion.</a:t>
            </a:r>
          </a:p>
          <a:p>
            <a:endParaRPr lang="en-US" dirty="0" smtClean="0"/>
          </a:p>
          <a:p>
            <a:r>
              <a:rPr lang="en-US" dirty="0"/>
              <a:t>When blood is available, stop all oral intake and IV fluids, give a diuretic to make room for the </a:t>
            </a:r>
            <a:r>
              <a:rPr lang="en-US" dirty="0" smtClean="0"/>
              <a:t>blood.</a:t>
            </a:r>
          </a:p>
          <a:p>
            <a:endParaRPr lang="en-US" dirty="0" smtClean="0"/>
          </a:p>
          <a:p>
            <a:r>
              <a:rPr lang="en-US" dirty="0"/>
              <a:t>Then transfuse whole fresh blood at 10 ml/kg slowly over three </a:t>
            </a:r>
            <a:r>
              <a:rPr lang="en-US" dirty="0" smtClean="0"/>
              <a:t>hours</a:t>
            </a:r>
          </a:p>
          <a:p>
            <a:endParaRPr lang="en-US" dirty="0" smtClean="0"/>
          </a:p>
          <a:p>
            <a:r>
              <a:rPr lang="en-US" dirty="0"/>
              <a:t>If there are signs of heart failure, give packed cells</a:t>
            </a:r>
          </a:p>
          <a:p>
            <a:endParaRPr lang="en-US" dirty="0"/>
          </a:p>
          <a:p>
            <a:endParaRPr lang="en-US" dirty="0"/>
          </a:p>
          <a:p>
            <a:endParaRPr lang="en-US" dirty="0" smtClean="0"/>
          </a:p>
          <a:p>
            <a:endParaRPr lang="en-US" dirty="0"/>
          </a:p>
        </p:txBody>
      </p:sp>
    </p:spTree>
    <p:extLst>
      <p:ext uri="{BB962C8B-B14F-4D97-AF65-F5344CB8AC3E}">
        <p14:creationId xmlns="" xmlns:p14="http://schemas.microsoft.com/office/powerpoint/2010/main" val="271835212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680" b="1" dirty="0">
                <a:solidFill>
                  <a:schemeClr val="accent5"/>
                </a:solidFill>
              </a:rPr>
              <a:t>Targets for Shock Reversal</a:t>
            </a:r>
            <a:r>
              <a:rPr lang="en-US" sz="4680" dirty="0">
                <a:solidFill>
                  <a:schemeClr val="accent5"/>
                </a:solidFill>
              </a:rPr>
              <a:t> </a:t>
            </a:r>
          </a:p>
        </p:txBody>
      </p:sp>
      <p:sp>
        <p:nvSpPr>
          <p:cNvPr id="3" name="Content Placeholder 2"/>
          <p:cNvSpPr>
            <a:spLocks noGrp="1"/>
          </p:cNvSpPr>
          <p:nvPr>
            <p:ph idx="1"/>
          </p:nvPr>
        </p:nvSpPr>
        <p:spPr/>
        <p:txBody>
          <a:bodyPr>
            <a:normAutofit/>
          </a:bodyPr>
          <a:lstStyle/>
          <a:p>
            <a:r>
              <a:rPr lang="en-US" dirty="0">
                <a:solidFill>
                  <a:srgbClr val="FF0000"/>
                </a:solidFill>
              </a:rPr>
              <a:t>Clinical</a:t>
            </a:r>
            <a:r>
              <a:rPr lang="en-US" dirty="0"/>
              <a:t> </a:t>
            </a:r>
            <a:r>
              <a:rPr lang="en-US" dirty="0">
                <a:solidFill>
                  <a:srgbClr val="FF0000"/>
                </a:solidFill>
              </a:rPr>
              <a:t>signs</a:t>
            </a:r>
            <a:r>
              <a:rPr lang="en-US" dirty="0"/>
              <a:t> </a:t>
            </a:r>
            <a:r>
              <a:rPr lang="en-US" dirty="0" smtClean="0"/>
              <a:t>include:- </a:t>
            </a:r>
          </a:p>
          <a:p>
            <a:endParaRPr lang="en-US" dirty="0" smtClean="0"/>
          </a:p>
          <a:p>
            <a:pPr lvl="1">
              <a:buFont typeface="Courier New" panose="02070309020205020404" pitchFamily="49" charset="0"/>
              <a:buChar char="o"/>
            </a:pPr>
            <a:r>
              <a:rPr lang="en-US" dirty="0">
                <a:solidFill>
                  <a:srgbClr val="00B050"/>
                </a:solidFill>
              </a:rPr>
              <a:t>A</a:t>
            </a:r>
            <a:r>
              <a:rPr lang="en-US" dirty="0" smtClean="0">
                <a:solidFill>
                  <a:srgbClr val="00B050"/>
                </a:solidFill>
              </a:rPr>
              <a:t> </a:t>
            </a:r>
            <a:r>
              <a:rPr lang="en-US" dirty="0">
                <a:solidFill>
                  <a:srgbClr val="00B050"/>
                </a:solidFill>
              </a:rPr>
              <a:t>decrease in HR and respiratory rate</a:t>
            </a:r>
            <a:r>
              <a:rPr lang="en-US" dirty="0" smtClean="0">
                <a:solidFill>
                  <a:srgbClr val="00B050"/>
                </a:solidFill>
              </a:rPr>
              <a:t>,</a:t>
            </a:r>
          </a:p>
          <a:p>
            <a:pPr lvl="1">
              <a:buFont typeface="Courier New" panose="02070309020205020404" pitchFamily="49" charset="0"/>
              <a:buChar char="o"/>
            </a:pPr>
            <a:r>
              <a:rPr lang="en-US" dirty="0" smtClean="0">
                <a:solidFill>
                  <a:srgbClr val="00B050"/>
                </a:solidFill>
              </a:rPr>
              <a:t>Increase </a:t>
            </a:r>
            <a:r>
              <a:rPr lang="en-US" dirty="0">
                <a:solidFill>
                  <a:srgbClr val="00B050"/>
                </a:solidFill>
              </a:rPr>
              <a:t>in </a:t>
            </a:r>
            <a:r>
              <a:rPr lang="en-US" dirty="0" smtClean="0">
                <a:solidFill>
                  <a:srgbClr val="00B050"/>
                </a:solidFill>
              </a:rPr>
              <a:t>BP</a:t>
            </a:r>
          </a:p>
          <a:p>
            <a:pPr lvl="1">
              <a:buFont typeface="Courier New" panose="02070309020205020404" pitchFamily="49" charset="0"/>
              <a:buChar char="o"/>
            </a:pPr>
            <a:r>
              <a:rPr lang="en-US" dirty="0">
                <a:solidFill>
                  <a:srgbClr val="00B050"/>
                </a:solidFill>
              </a:rPr>
              <a:t>I</a:t>
            </a:r>
            <a:r>
              <a:rPr lang="en-US" dirty="0" smtClean="0">
                <a:solidFill>
                  <a:srgbClr val="00B050"/>
                </a:solidFill>
              </a:rPr>
              <a:t>mproved </a:t>
            </a:r>
            <a:r>
              <a:rPr lang="en-US" dirty="0">
                <a:solidFill>
                  <a:srgbClr val="00B050"/>
                </a:solidFill>
              </a:rPr>
              <a:t>urine output to &gt;0.5 mL/ </a:t>
            </a:r>
            <a:r>
              <a:rPr lang="en-US" dirty="0" smtClean="0">
                <a:solidFill>
                  <a:srgbClr val="00B050"/>
                </a:solidFill>
              </a:rPr>
              <a:t>kg/</a:t>
            </a:r>
            <a:r>
              <a:rPr lang="en-US" dirty="0" err="1" smtClean="0">
                <a:solidFill>
                  <a:srgbClr val="00B050"/>
                </a:solidFill>
              </a:rPr>
              <a:t>hr</a:t>
            </a:r>
            <a:endParaRPr lang="en-US" dirty="0" smtClean="0">
              <a:solidFill>
                <a:srgbClr val="00B050"/>
              </a:solidFill>
            </a:endParaRPr>
          </a:p>
          <a:p>
            <a:pPr lvl="1">
              <a:buFont typeface="Courier New" panose="02070309020205020404" pitchFamily="49" charset="0"/>
              <a:buChar char="o"/>
            </a:pPr>
            <a:r>
              <a:rPr lang="en-US" dirty="0">
                <a:solidFill>
                  <a:srgbClr val="00B050"/>
                </a:solidFill>
              </a:rPr>
              <a:t>N</a:t>
            </a:r>
            <a:r>
              <a:rPr lang="en-US" dirty="0" smtClean="0">
                <a:solidFill>
                  <a:srgbClr val="00B050"/>
                </a:solidFill>
              </a:rPr>
              <a:t>ormalization </a:t>
            </a:r>
            <a:r>
              <a:rPr lang="en-US" dirty="0">
                <a:solidFill>
                  <a:srgbClr val="00B050"/>
                </a:solidFill>
              </a:rPr>
              <a:t>of mental </a:t>
            </a:r>
            <a:r>
              <a:rPr lang="en-US" dirty="0" smtClean="0">
                <a:solidFill>
                  <a:srgbClr val="00B050"/>
                </a:solidFill>
              </a:rPr>
              <a:t>status</a:t>
            </a:r>
          </a:p>
          <a:p>
            <a:pPr lvl="1">
              <a:buFont typeface="Courier New" panose="02070309020205020404" pitchFamily="49" charset="0"/>
              <a:buChar char="o"/>
            </a:pPr>
            <a:r>
              <a:rPr lang="en-US" dirty="0">
                <a:solidFill>
                  <a:srgbClr val="00B050"/>
                </a:solidFill>
              </a:rPr>
              <a:t>D</a:t>
            </a:r>
            <a:r>
              <a:rPr lang="en-US" dirty="0" smtClean="0">
                <a:solidFill>
                  <a:srgbClr val="00B050"/>
                </a:solidFill>
              </a:rPr>
              <a:t>ecreased </a:t>
            </a:r>
            <a:r>
              <a:rPr lang="en-US" dirty="0">
                <a:solidFill>
                  <a:srgbClr val="00B050"/>
                </a:solidFill>
              </a:rPr>
              <a:t>capillary refill </a:t>
            </a:r>
            <a:r>
              <a:rPr lang="en-US" dirty="0" smtClean="0">
                <a:solidFill>
                  <a:srgbClr val="00B050"/>
                </a:solidFill>
              </a:rPr>
              <a:t>time</a:t>
            </a:r>
          </a:p>
          <a:p>
            <a:pPr lvl="1">
              <a:buFont typeface="Courier New" panose="02070309020205020404" pitchFamily="49" charset="0"/>
              <a:buChar char="o"/>
            </a:pPr>
            <a:r>
              <a:rPr lang="en-US" dirty="0">
                <a:solidFill>
                  <a:srgbClr val="00B050"/>
                </a:solidFill>
              </a:rPr>
              <a:t>W</a:t>
            </a:r>
            <a:r>
              <a:rPr lang="en-US" dirty="0" smtClean="0">
                <a:solidFill>
                  <a:srgbClr val="00B050"/>
                </a:solidFill>
              </a:rPr>
              <a:t>armth </a:t>
            </a:r>
            <a:r>
              <a:rPr lang="en-US" dirty="0">
                <a:solidFill>
                  <a:srgbClr val="00B050"/>
                </a:solidFill>
              </a:rPr>
              <a:t>of distal extremities, and </a:t>
            </a:r>
            <a:endParaRPr lang="en-US" dirty="0" smtClean="0">
              <a:solidFill>
                <a:srgbClr val="00B050"/>
              </a:solidFill>
            </a:endParaRPr>
          </a:p>
          <a:p>
            <a:pPr lvl="1">
              <a:buFont typeface="Courier New" panose="02070309020205020404" pitchFamily="49" charset="0"/>
              <a:buChar char="o"/>
            </a:pPr>
            <a:r>
              <a:rPr lang="en-US" dirty="0">
                <a:solidFill>
                  <a:srgbClr val="00B050"/>
                </a:solidFill>
              </a:rPr>
              <a:t>I</a:t>
            </a:r>
            <a:r>
              <a:rPr lang="en-US" dirty="0" smtClean="0">
                <a:solidFill>
                  <a:srgbClr val="00B050"/>
                </a:solidFill>
              </a:rPr>
              <a:t>mproved </a:t>
            </a:r>
            <a:r>
              <a:rPr lang="en-US" dirty="0">
                <a:solidFill>
                  <a:srgbClr val="00B050"/>
                </a:solidFill>
              </a:rPr>
              <a:t>peripheral pulses. </a:t>
            </a:r>
            <a:r>
              <a:rPr lang="en-US" dirty="0"/>
              <a:t/>
            </a:r>
            <a:br>
              <a:rPr lang="en-US" dirty="0"/>
            </a:br>
            <a:endParaRPr lang="en-US" dirty="0"/>
          </a:p>
        </p:txBody>
      </p:sp>
    </p:spTree>
    <p:extLst>
      <p:ext uri="{BB962C8B-B14F-4D97-AF65-F5344CB8AC3E}">
        <p14:creationId xmlns="" xmlns:p14="http://schemas.microsoft.com/office/powerpoint/2010/main" val="76318363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On laboratory exam :- </a:t>
            </a:r>
          </a:p>
          <a:p>
            <a:r>
              <a:rPr lang="en-US" dirty="0"/>
              <a:t>D</a:t>
            </a:r>
            <a:r>
              <a:rPr lang="en-US" dirty="0" smtClean="0"/>
              <a:t>ecreasing </a:t>
            </a:r>
            <a:r>
              <a:rPr lang="en-US" dirty="0"/>
              <a:t>trend in blood lactate levels </a:t>
            </a:r>
            <a:endParaRPr lang="en-US" dirty="0" smtClean="0"/>
          </a:p>
          <a:p>
            <a:r>
              <a:rPr lang="en-US" dirty="0"/>
              <a:t>Blood pH and base deficit </a:t>
            </a:r>
            <a:endParaRPr lang="en-US" dirty="0" smtClean="0"/>
          </a:p>
          <a:p>
            <a:endParaRPr lang="en-US" dirty="0"/>
          </a:p>
          <a:p>
            <a:r>
              <a:rPr lang="en-US" dirty="0">
                <a:solidFill>
                  <a:schemeClr val="accent6"/>
                </a:solidFill>
              </a:rPr>
              <a:t>Other parameters </a:t>
            </a:r>
            <a:r>
              <a:rPr lang="en-US" dirty="0"/>
              <a:t>to monitor for improvement in shock include serial </a:t>
            </a:r>
            <a:r>
              <a:rPr lang="en-US" dirty="0">
                <a:solidFill>
                  <a:srgbClr val="FF0000"/>
                </a:solidFill>
              </a:rPr>
              <a:t>POCUS</a:t>
            </a:r>
            <a:r>
              <a:rPr lang="en-US" dirty="0"/>
              <a:t> to </a:t>
            </a:r>
            <a:r>
              <a:rPr lang="en-US" dirty="0">
                <a:solidFill>
                  <a:srgbClr val="FF0000"/>
                </a:solidFill>
              </a:rPr>
              <a:t>assess volume status, cardiac </a:t>
            </a:r>
            <a:r>
              <a:rPr lang="en-US" dirty="0" smtClean="0">
                <a:solidFill>
                  <a:srgbClr val="FF0000"/>
                </a:solidFill>
              </a:rPr>
              <a:t>output</a:t>
            </a:r>
            <a:r>
              <a:rPr lang="en-US" dirty="0"/>
              <a:t>.</a:t>
            </a:r>
          </a:p>
        </p:txBody>
      </p:sp>
    </p:spTree>
    <p:extLst>
      <p:ext uri="{BB962C8B-B14F-4D97-AF65-F5344CB8AC3E}">
        <p14:creationId xmlns="" xmlns:p14="http://schemas.microsoft.com/office/powerpoint/2010/main" val="84781063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680" b="1" dirty="0">
                <a:solidFill>
                  <a:schemeClr val="accent5"/>
                </a:solidFill>
              </a:rPr>
              <a:t>PROGNOSIS</a:t>
            </a:r>
            <a:r>
              <a:rPr lang="en-US" dirty="0"/>
              <a:t> </a:t>
            </a:r>
          </a:p>
        </p:txBody>
      </p:sp>
      <p:sp>
        <p:nvSpPr>
          <p:cNvPr id="3" name="Content Placeholder 2"/>
          <p:cNvSpPr>
            <a:spLocks noGrp="1"/>
          </p:cNvSpPr>
          <p:nvPr>
            <p:ph idx="1"/>
          </p:nvPr>
        </p:nvSpPr>
        <p:spPr/>
        <p:txBody>
          <a:bodyPr/>
          <a:lstStyle/>
          <a:p>
            <a:r>
              <a:rPr lang="en-US" dirty="0"/>
              <a:t>In septic shock, </a:t>
            </a:r>
            <a:r>
              <a:rPr lang="en-US" dirty="0">
                <a:solidFill>
                  <a:srgbClr val="FF0000"/>
                </a:solidFill>
              </a:rPr>
              <a:t>mortality rates are as low as 3% </a:t>
            </a:r>
            <a:r>
              <a:rPr lang="en-US" dirty="0"/>
              <a:t>in previously healthy children and 6–9% in children with chronic illness (compared with 25–30% in adults). </a:t>
            </a:r>
            <a:endParaRPr lang="en-US" dirty="0" smtClean="0"/>
          </a:p>
          <a:p>
            <a:endParaRPr lang="en-US" dirty="0"/>
          </a:p>
          <a:p>
            <a:r>
              <a:rPr lang="en-US" dirty="0"/>
              <a:t>The risk of death involves a complex interaction of factors, including the </a:t>
            </a:r>
            <a:r>
              <a:rPr lang="en-US" dirty="0">
                <a:solidFill>
                  <a:srgbClr val="FF0000"/>
                </a:solidFill>
              </a:rPr>
              <a:t>underlying etiology, presence of chronic illness, host immune response, and timing of recognition and </a:t>
            </a:r>
            <a:r>
              <a:rPr lang="en-US" dirty="0" smtClean="0">
                <a:solidFill>
                  <a:srgbClr val="FF0000"/>
                </a:solidFill>
              </a:rPr>
              <a:t>therapy.</a:t>
            </a:r>
            <a:r>
              <a:rPr lang="en-US" dirty="0">
                <a:solidFill>
                  <a:srgbClr val="FF0000"/>
                </a:solidFill>
              </a:rPr>
              <a:t/>
            </a:r>
            <a:br>
              <a:rPr lang="en-US" dirty="0">
                <a:solidFill>
                  <a:srgbClr val="FF0000"/>
                </a:solidFill>
              </a:rPr>
            </a:br>
            <a:r>
              <a:rPr lang="en-US" dirty="0"/>
              <a:t/>
            </a:r>
            <a:br>
              <a:rPr lang="en-US" dirty="0"/>
            </a:br>
            <a:endParaRPr lang="en-US" dirty="0"/>
          </a:p>
        </p:txBody>
      </p:sp>
    </p:spTree>
    <p:extLst>
      <p:ext uri="{BB962C8B-B14F-4D97-AF65-F5344CB8AC3E}">
        <p14:creationId xmlns="" xmlns:p14="http://schemas.microsoft.com/office/powerpoint/2010/main" val="9128796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16655</TotalTime>
  <Words>3183</Words>
  <Application>Microsoft Office PowerPoint</Application>
  <PresentationFormat>Custom</PresentationFormat>
  <Paragraphs>415</Paragraphs>
  <Slides>76</Slides>
  <Notes>8</Notes>
  <HiddenSlides>0</HiddenSlides>
  <MMClips>0</MMClips>
  <ScaleCrop>false</ScaleCrop>
  <HeadingPairs>
    <vt:vector size="4" baseType="variant">
      <vt:variant>
        <vt:lpstr>Theme</vt:lpstr>
      </vt:variant>
      <vt:variant>
        <vt:i4>1</vt:i4>
      </vt:variant>
      <vt:variant>
        <vt:lpstr>Slide Titles</vt:lpstr>
      </vt:variant>
      <vt:variant>
        <vt:i4>76</vt:i4>
      </vt:variant>
    </vt:vector>
  </HeadingPairs>
  <TitlesOfParts>
    <vt:vector size="77" baseType="lpstr">
      <vt:lpstr>Office Theme</vt:lpstr>
      <vt:lpstr>Pediatric Shock </vt:lpstr>
      <vt:lpstr>Outlines</vt:lpstr>
      <vt:lpstr>Definition</vt:lpstr>
      <vt:lpstr>  Epidemiology </vt:lpstr>
      <vt:lpstr>Types of Shock</vt:lpstr>
      <vt:lpstr>Hypovolemic shock</vt:lpstr>
      <vt:lpstr>Cardiogenic shock </vt:lpstr>
      <vt:lpstr>Obstructive shock </vt:lpstr>
      <vt:lpstr>Distributive shock </vt:lpstr>
      <vt:lpstr>Neurogenic shock </vt:lpstr>
      <vt:lpstr>Dissociative shock </vt:lpstr>
      <vt:lpstr>Septic Shock</vt:lpstr>
      <vt:lpstr>Pathophysiology</vt:lpstr>
      <vt:lpstr>Slide 14</vt:lpstr>
      <vt:lpstr>Slide 15</vt:lpstr>
      <vt:lpstr>Slide 16</vt:lpstr>
      <vt:lpstr>CLINICAL MANIFESTATIONS </vt:lpstr>
      <vt:lpstr>Slide 18</vt:lpstr>
      <vt:lpstr>Slide 19</vt:lpstr>
      <vt:lpstr>Timing</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DIAGNOSIS </vt:lpstr>
      <vt:lpstr>Slide 34</vt:lpstr>
      <vt:lpstr>Slide 35</vt:lpstr>
      <vt:lpstr>Slide 36</vt:lpstr>
      <vt:lpstr>Slide 37</vt:lpstr>
      <vt:lpstr>Septic shock</vt:lpstr>
      <vt:lpstr>Slide 39</vt:lpstr>
      <vt:lpstr>Slide 40</vt:lpstr>
      <vt:lpstr>LABORATORY FINDINGS </vt:lpstr>
      <vt:lpstr>Slide 42</vt:lpstr>
      <vt:lpstr>Slide 43</vt:lpstr>
      <vt:lpstr>TREATMENT</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Specific Management By shock type</vt:lpstr>
      <vt:lpstr>Slide 61</vt:lpstr>
      <vt:lpstr>  The management of septic shock should follow the recommendations of the 2020 Surviving Sepsis Campaign International Guidelines for the Management of Septic Shock and Sepsis-Associated Organ Dysfunction in Children . </vt:lpstr>
      <vt:lpstr> </vt:lpstr>
      <vt:lpstr>Slide 64</vt:lpstr>
      <vt:lpstr>Fluid-Refractory and Catecholamine-Resistant Shock </vt:lpstr>
      <vt:lpstr>Slide 66</vt:lpstr>
      <vt:lpstr>Slide 67</vt:lpstr>
      <vt:lpstr>Slide 68</vt:lpstr>
      <vt:lpstr>Shock Management is severe acute manutrition</vt:lpstr>
      <vt:lpstr>Slide 70</vt:lpstr>
      <vt:lpstr>Slide 71</vt:lpstr>
      <vt:lpstr>Slide 72</vt:lpstr>
      <vt:lpstr>Slide 73</vt:lpstr>
      <vt:lpstr>Targets for Shock Reversal </vt:lpstr>
      <vt:lpstr>Slide 75</vt:lpstr>
      <vt:lpstr>PROGNOSIS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amirs08444@gmail.com</dc:creator>
  <cp:lastModifiedBy>STIP User</cp:lastModifiedBy>
  <cp:revision>249</cp:revision>
  <dcterms:created xsi:type="dcterms:W3CDTF">2020-10-28T19:56:25Z</dcterms:created>
  <dcterms:modified xsi:type="dcterms:W3CDTF">2024-09-11T16:27:42Z</dcterms:modified>
</cp:coreProperties>
</file>