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7" r:id="rId2"/>
    <p:sldId id="259" r:id="rId3"/>
    <p:sldId id="258" r:id="rId4"/>
    <p:sldId id="261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D3102-AD23-4BFF-87AE-61567A0BE8E3}" type="datetime1">
              <a:rPr lang="en-US" smtClean="0"/>
              <a:t>10/19/2024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9053D-4B37-4D7B-8ABF-990319F02EE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541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F5725-E820-4B2A-A81C-15E6A453397F}" type="datetime1">
              <a:rPr lang="en-US" smtClean="0"/>
              <a:t>10/19/2024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9053D-4B37-4D7B-8ABF-990319F02EE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6492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DB90A-5AB2-4BF4-8147-F4CADCC03FE3}" type="datetime1">
              <a:rPr lang="en-US" smtClean="0"/>
              <a:t>10/19/2024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9053D-4B37-4D7B-8ABF-990319F0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55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ECF7D-CB0D-4FDB-902B-9E5CD56B2F3F}" type="datetime1">
              <a:rPr lang="en-US" smtClean="0"/>
              <a:t>10/19/2024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9053D-4B37-4D7B-8ABF-990319F0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618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55614-9033-4786-9235-17DD4EEE6651}" type="datetime1">
              <a:rPr lang="en-US" smtClean="0"/>
              <a:t>10/19/2024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9053D-4B37-4D7B-8ABF-990319F0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105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FD299-E27D-455F-9667-E019E6CEA2DD}" type="datetime1">
              <a:rPr lang="en-US" smtClean="0"/>
              <a:t>10/19/2024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9053D-4B37-4D7B-8ABF-990319F0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408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AA9CB-1752-48C5-8105-E376DCE212C0}" type="datetime1">
              <a:rPr lang="en-US" smtClean="0"/>
              <a:t>10/19/2024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9053D-4B37-4D7B-8ABF-990319F0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678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F1C62-8F5A-4581-84EA-8C88B3391AE6}" type="datetime1">
              <a:rPr lang="en-US" smtClean="0"/>
              <a:t>10/19/2024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9053D-4B37-4D7B-8ABF-990319F02EE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171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98DDE-8CD0-4E97-98D0-8F413940748F}" type="datetime1">
              <a:rPr lang="en-US" smtClean="0"/>
              <a:t>10/19/2024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9053D-4B37-4D7B-8ABF-990319F02EE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657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ABC42-E576-4B96-A2BC-C9DCC9DAE463}" type="datetime1">
              <a:rPr lang="en-US" smtClean="0"/>
              <a:t>10/19/2024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9053D-4B37-4D7B-8ABF-990319F02EE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12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9B64A-A574-4632-8FB6-30501D3E1ACB}" type="datetime1">
              <a:rPr lang="en-US" smtClean="0"/>
              <a:t>10/19/2024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9053D-4B37-4D7B-8ABF-990319F02EE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483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BB6B48-E8B6-492E-B5F2-B7A73A7469AD}" type="datetime1">
              <a:rPr lang="en-US" smtClean="0"/>
              <a:t>10/19/2024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9053D-4B37-4D7B-8ABF-990319F02EE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187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4400" b="1" dirty="0" smtClean="0"/>
          </a:p>
          <a:p>
            <a:pPr marL="0" indent="0">
              <a:buNone/>
            </a:pPr>
            <a:r>
              <a:rPr lang="en-US" sz="4400" b="1" dirty="0" smtClean="0"/>
              <a:t>Childhood Seizure Disorders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2288799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Definition</a:t>
            </a:r>
          </a:p>
          <a:p>
            <a:r>
              <a:rPr lang="en-US" dirty="0" smtClean="0"/>
              <a:t>Etiology </a:t>
            </a:r>
          </a:p>
          <a:p>
            <a:r>
              <a:rPr lang="en-US" dirty="0" smtClean="0"/>
              <a:t>Types of seizure</a:t>
            </a:r>
          </a:p>
          <a:p>
            <a:r>
              <a:rPr lang="en-US" dirty="0" smtClean="0"/>
              <a:t> Status epileptics</a:t>
            </a:r>
          </a:p>
          <a:p>
            <a:r>
              <a:rPr lang="en-US" dirty="0" smtClean="0"/>
              <a:t>Treatment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0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Seizure</a:t>
            </a:r>
            <a:r>
              <a:rPr lang="en-US" dirty="0" smtClean="0"/>
              <a:t>  paroxysmal , time-limited change in motor activity and/ or  behavior that results from abnormal electrical activity in the  brain.</a:t>
            </a:r>
          </a:p>
          <a:p>
            <a:r>
              <a:rPr lang="en-US" b="1" dirty="0" smtClean="0"/>
              <a:t>Epilepsy</a:t>
            </a:r>
            <a:r>
              <a:rPr lang="en-US" dirty="0" smtClean="0"/>
              <a:t> : Two or more unprovoked seizures  which occur  &gt;24 </a:t>
            </a:r>
            <a:r>
              <a:rPr lang="en-US" dirty="0" err="1" smtClean="0"/>
              <a:t>hr</a:t>
            </a:r>
            <a:r>
              <a:rPr lang="en-US" dirty="0" smtClean="0"/>
              <a:t> apart .</a:t>
            </a:r>
          </a:p>
          <a:p>
            <a:r>
              <a:rPr lang="en-US" b="1" dirty="0" smtClean="0"/>
              <a:t>Status </a:t>
            </a:r>
            <a:r>
              <a:rPr lang="en-US" b="1" dirty="0" err="1" smtClean="0"/>
              <a:t>epilepticus</a:t>
            </a:r>
            <a:r>
              <a:rPr lang="en-US" dirty="0" err="1" smtClean="0"/>
              <a:t>:Continuous</a:t>
            </a:r>
            <a:r>
              <a:rPr lang="en-US" dirty="0" smtClean="0"/>
              <a:t> convulsion   lasting for &gt; 5min ,for NCSE  10 minutes</a:t>
            </a:r>
          </a:p>
        </p:txBody>
      </p:sp>
    </p:spTree>
    <p:extLst>
      <p:ext uri="{BB962C8B-B14F-4D97-AF65-F5344CB8AC3E}">
        <p14:creationId xmlns:p14="http://schemas.microsoft.com/office/powerpoint/2010/main" val="3464998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Epidemiology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Cumulative lifetime incidence of epilepsy: 3%</a:t>
            </a:r>
          </a:p>
          <a:p>
            <a:r>
              <a:rPr lang="en-US" dirty="0" smtClean="0"/>
              <a:t> More than ½ of cases begin in childhood</a:t>
            </a:r>
          </a:p>
          <a:p>
            <a:r>
              <a:rPr lang="en-US" dirty="0" smtClean="0"/>
              <a:t>Genetic factors : 20 % of all cases of epilepsy</a:t>
            </a:r>
          </a:p>
          <a:p>
            <a:r>
              <a:rPr lang="en-US" dirty="0" smtClean="0"/>
              <a:t>Seizures are common in pediatric age   (10 % of children )</a:t>
            </a:r>
          </a:p>
          <a:p>
            <a:r>
              <a:rPr lang="en-US" dirty="0" smtClean="0"/>
              <a:t>&lt; 1/3 of seizures in children are caused  by epilepsy 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384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Mechanisms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Mechanism of seizures : unknown</a:t>
            </a:r>
          </a:p>
          <a:p>
            <a:r>
              <a:rPr lang="en-US" dirty="0" smtClean="0"/>
              <a:t>Two hypotheses : </a:t>
            </a:r>
            <a:endParaRPr lang="en-US" dirty="0"/>
          </a:p>
          <a:p>
            <a:r>
              <a:rPr lang="en-US" dirty="0" smtClean="0"/>
              <a:t>1Inhibitory neurons selectively damaged &amp; remaining  principal excitatory neurons become </a:t>
            </a:r>
            <a:r>
              <a:rPr lang="en-US" dirty="0" err="1" smtClean="0"/>
              <a:t>hyperexcitable</a:t>
            </a:r>
            <a:r>
              <a:rPr lang="en-US" dirty="0" smtClean="0"/>
              <a:t> .</a:t>
            </a:r>
          </a:p>
          <a:p>
            <a:r>
              <a:rPr lang="en-US" dirty="0" smtClean="0"/>
              <a:t> 2) Aberrant excitatory circuits - Formed as part of reorganization after injury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7236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Classification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Focal onset </a:t>
            </a:r>
          </a:p>
          <a:p>
            <a:r>
              <a:rPr lang="en-US" dirty="0" smtClean="0"/>
              <a:t> a focal aware seizure </a:t>
            </a:r>
          </a:p>
          <a:p>
            <a:r>
              <a:rPr lang="en-US" dirty="0" smtClean="0"/>
              <a:t> b focal seizure with impaired consciousness  </a:t>
            </a:r>
          </a:p>
          <a:p>
            <a:r>
              <a:rPr lang="en-US" b="1" dirty="0" smtClean="0"/>
              <a:t>2 generalized seizures</a:t>
            </a:r>
          </a:p>
          <a:p>
            <a:r>
              <a:rPr lang="en-US" b="1" dirty="0" smtClean="0"/>
              <a:t>3 unknown onset </a:t>
            </a:r>
          </a:p>
        </p:txBody>
      </p:sp>
    </p:spTree>
    <p:extLst>
      <p:ext uri="{BB962C8B-B14F-4D97-AF65-F5344CB8AC3E}">
        <p14:creationId xmlns:p14="http://schemas.microsoft.com/office/powerpoint/2010/main" val="3020511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Febrile Seizures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</a:t>
            </a:r>
            <a:r>
              <a:rPr lang="en-US" dirty="0" smtClean="0"/>
              <a:t>ccur between the ages of 6 and 60 months of life (peak 12-18 months old)</a:t>
            </a:r>
          </a:p>
          <a:p>
            <a:r>
              <a:rPr lang="en-US" dirty="0" smtClean="0"/>
              <a:t>Most common cause of seizures in childhood</a:t>
            </a:r>
          </a:p>
          <a:p>
            <a:r>
              <a:rPr lang="en-US" dirty="0" smtClean="0"/>
              <a:t>Excellent prognosis</a:t>
            </a:r>
          </a:p>
          <a:p>
            <a:r>
              <a:rPr lang="en-US" dirty="0" err="1" smtClean="0"/>
              <a:t>Dx</a:t>
            </a:r>
            <a:r>
              <a:rPr lang="en-US" dirty="0" smtClean="0"/>
              <a:t> by exclusion</a:t>
            </a:r>
          </a:p>
          <a:p>
            <a:r>
              <a:rPr lang="en-US" dirty="0" smtClean="0"/>
              <a:t>Incidence :  ≈ 2-5% of young children</a:t>
            </a:r>
          </a:p>
          <a:p>
            <a:r>
              <a:rPr lang="en-US" dirty="0" smtClean="0"/>
              <a:t>Recurrence : in 30-50 % of cases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957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Classificationn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A simple febrile seizure </a:t>
            </a:r>
            <a:r>
              <a:rPr lang="en-US" dirty="0" smtClean="0"/>
              <a:t>lasting for a maximum of 15 minutes, and not recurrent within a 24-hour period. </a:t>
            </a:r>
          </a:p>
          <a:p>
            <a:r>
              <a:rPr lang="en-US" b="1" dirty="0"/>
              <a:t>C</a:t>
            </a:r>
            <a:r>
              <a:rPr lang="en-US" b="1" dirty="0" smtClean="0"/>
              <a:t>omplex febrile seizure  </a:t>
            </a:r>
            <a:r>
              <a:rPr lang="en-US" dirty="0" smtClean="0"/>
              <a:t>is (&gt;15 minutes), and/or is focal, and/or recurs within 24 hours. </a:t>
            </a:r>
          </a:p>
          <a:p>
            <a:r>
              <a:rPr lang="en-US" b="1" dirty="0" smtClean="0"/>
              <a:t>Febrile status </a:t>
            </a:r>
            <a:r>
              <a:rPr lang="en-US" b="1" dirty="0" err="1" smtClean="0"/>
              <a:t>epilepticus</a:t>
            </a:r>
            <a:r>
              <a:rPr lang="en-US" b="1" dirty="0" smtClean="0"/>
              <a:t>  </a:t>
            </a:r>
            <a:r>
              <a:rPr lang="en-US" dirty="0" smtClean="0"/>
              <a:t>longer than 30 minutes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651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Etiology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Genetic</a:t>
            </a:r>
          </a:p>
          <a:p>
            <a:r>
              <a:rPr lang="en-US" dirty="0" smtClean="0"/>
              <a:t>Structural</a:t>
            </a:r>
          </a:p>
          <a:p>
            <a:r>
              <a:rPr lang="en-US" dirty="0" smtClean="0"/>
              <a:t>Metabolic</a:t>
            </a:r>
          </a:p>
          <a:p>
            <a:r>
              <a:rPr lang="en-US" dirty="0" smtClean="0"/>
              <a:t>Immune</a:t>
            </a:r>
          </a:p>
          <a:p>
            <a:r>
              <a:rPr lang="en-US" dirty="0" smtClean="0"/>
              <a:t>Infectious</a:t>
            </a:r>
          </a:p>
          <a:p>
            <a:r>
              <a:rPr lang="en-US" dirty="0" smtClean="0"/>
              <a:t> unknown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895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EVALUATION OF THE FIRST SEIZURE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ABC of life </a:t>
            </a:r>
          </a:p>
          <a:p>
            <a:r>
              <a:rPr lang="en-US" dirty="0" smtClean="0"/>
              <a:t> Temperature, blood pressure, and glucose concentration</a:t>
            </a:r>
          </a:p>
          <a:p>
            <a:r>
              <a:rPr lang="en-US" dirty="0" smtClean="0"/>
              <a:t>Important </a:t>
            </a:r>
            <a:r>
              <a:rPr lang="en-US" dirty="0" err="1" smtClean="0"/>
              <a:t>hx</a:t>
            </a:r>
            <a:r>
              <a:rPr lang="en-US" dirty="0" smtClean="0"/>
              <a:t> for meningitis, systemic sepsis, head trauma, and ingestion of drugs or medications or other toxins</a:t>
            </a:r>
          </a:p>
          <a:p>
            <a:r>
              <a:rPr lang="en-US" dirty="0" smtClean="0"/>
              <a:t>Seizure type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15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Cont’d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Tonic seizures </a:t>
            </a:r>
            <a:r>
              <a:rPr lang="en-US" dirty="0" smtClean="0"/>
              <a:t>increased</a:t>
            </a:r>
            <a:r>
              <a:rPr lang="en-US" dirty="0"/>
              <a:t> </a:t>
            </a:r>
            <a:r>
              <a:rPr lang="en-US" dirty="0" smtClean="0"/>
              <a:t>tone or rigidity</a:t>
            </a:r>
          </a:p>
          <a:p>
            <a:r>
              <a:rPr lang="en-US" b="1" dirty="0"/>
              <a:t>A</a:t>
            </a:r>
            <a:r>
              <a:rPr lang="en-US" b="1" dirty="0" smtClean="0"/>
              <a:t>tonic seizures </a:t>
            </a:r>
            <a:r>
              <a:rPr lang="en-US" dirty="0" smtClean="0"/>
              <a:t>are characterized by flaccidity and lack of movement.</a:t>
            </a:r>
          </a:p>
          <a:p>
            <a:r>
              <a:rPr lang="en-US" b="1" dirty="0" err="1" smtClean="0"/>
              <a:t>Clonic</a:t>
            </a:r>
            <a:r>
              <a:rPr lang="en-US" b="1" dirty="0" smtClean="0"/>
              <a:t> </a:t>
            </a:r>
            <a:r>
              <a:rPr lang="en-US" dirty="0" smtClean="0"/>
              <a:t>seizures consist of rhythmic, fast muscle contractions and slightly longer relaxations</a:t>
            </a:r>
          </a:p>
          <a:p>
            <a:r>
              <a:rPr lang="en-US" dirty="0" smtClean="0"/>
              <a:t> </a:t>
            </a:r>
            <a:r>
              <a:rPr lang="en-US" b="1" dirty="0" smtClean="0"/>
              <a:t>myoclonus</a:t>
            </a:r>
            <a:r>
              <a:rPr lang="en-US" dirty="0" smtClean="0"/>
              <a:t> is a </a:t>
            </a:r>
            <a:r>
              <a:rPr lang="en-US" dirty="0" err="1" smtClean="0"/>
              <a:t>shocklike</a:t>
            </a:r>
            <a:r>
              <a:rPr lang="en-US" dirty="0" smtClean="0"/>
              <a:t> contraction of a muscle of &lt;50 milliseconds that is often repeated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481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Cont’d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Duration and level of consciousness </a:t>
            </a:r>
          </a:p>
          <a:p>
            <a:r>
              <a:rPr lang="en-US" dirty="0" smtClean="0"/>
              <a:t>Developmental history ,family history </a:t>
            </a:r>
          </a:p>
          <a:p>
            <a:r>
              <a:rPr lang="en-US" dirty="0" smtClean="0"/>
              <a:t>P/E V/S,HC neurologic examination</a:t>
            </a:r>
          </a:p>
          <a:p>
            <a:r>
              <a:rPr lang="en-US" dirty="0" smtClean="0"/>
              <a:t>LAB </a:t>
            </a:r>
            <a:r>
              <a:rPr lang="en-US" dirty="0" err="1" smtClean="0"/>
              <a:t>CBC,LP,EEG,Imaging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0019093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Treatment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Patient has a normal neurodevelopmental status, EEG, and MRI treatment is usually not started</a:t>
            </a:r>
          </a:p>
          <a:p>
            <a:r>
              <a:rPr lang="en-US" dirty="0" smtClean="0"/>
              <a:t>If the patient has an abnormal EEG, MRI, developmental status, and/or neurologic exam and/or has a positive family history of epilepsy, treatment</a:t>
            </a:r>
            <a:r>
              <a:rPr lang="en-US" dirty="0"/>
              <a:t> </a:t>
            </a:r>
            <a:r>
              <a:rPr lang="en-US" dirty="0" smtClean="0"/>
              <a:t>will be  started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38355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4400" b="1" dirty="0" smtClean="0"/>
          </a:p>
          <a:p>
            <a:pPr marL="0" indent="0">
              <a:buNone/>
            </a:pPr>
            <a:r>
              <a:rPr lang="en-US" sz="4400" b="1" dirty="0"/>
              <a:t> </a:t>
            </a:r>
            <a:r>
              <a:rPr lang="en-US" sz="4400" b="1" dirty="0" smtClean="0"/>
              <a:t>         Thank you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703368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</TotalTime>
  <Words>417</Words>
  <Application>Microsoft Office PowerPoint</Application>
  <PresentationFormat>On-screen Show (4:3)</PresentationFormat>
  <Paragraphs>67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Outlines </vt:lpstr>
      <vt:lpstr>Definitions</vt:lpstr>
      <vt:lpstr>Epidemiology</vt:lpstr>
      <vt:lpstr>Mechanisms</vt:lpstr>
      <vt:lpstr>Classification </vt:lpstr>
      <vt:lpstr>Febrile Seizures</vt:lpstr>
      <vt:lpstr>Classificationn </vt:lpstr>
      <vt:lpstr>Etiology </vt:lpstr>
      <vt:lpstr>EVALUATION OF THE FIRST SEIZURE</vt:lpstr>
      <vt:lpstr>Cont’d </vt:lpstr>
      <vt:lpstr>Cont’d </vt:lpstr>
      <vt:lpstr>Treatment 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16</cp:revision>
  <dcterms:created xsi:type="dcterms:W3CDTF">2024-10-19T10:12:01Z</dcterms:created>
  <dcterms:modified xsi:type="dcterms:W3CDTF">2024-10-19T12:06:16Z</dcterms:modified>
</cp:coreProperties>
</file>