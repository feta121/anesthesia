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39"/>
  </p:notesMasterIdLst>
  <p:sldIdLst>
    <p:sldId id="257" r:id="rId2"/>
    <p:sldId id="258" r:id="rId3"/>
    <p:sldId id="295" r:id="rId4"/>
    <p:sldId id="296" r:id="rId5"/>
    <p:sldId id="311" r:id="rId6"/>
    <p:sldId id="259" r:id="rId7"/>
    <p:sldId id="297" r:id="rId8"/>
    <p:sldId id="260" r:id="rId9"/>
    <p:sldId id="276" r:id="rId10"/>
    <p:sldId id="277" r:id="rId11"/>
    <p:sldId id="278" r:id="rId12"/>
    <p:sldId id="261" r:id="rId13"/>
    <p:sldId id="266" r:id="rId14"/>
    <p:sldId id="287" r:id="rId15"/>
    <p:sldId id="299" r:id="rId16"/>
    <p:sldId id="349" r:id="rId17"/>
    <p:sldId id="263" r:id="rId18"/>
    <p:sldId id="264" r:id="rId19"/>
    <p:sldId id="265" r:id="rId20"/>
    <p:sldId id="262" r:id="rId21"/>
    <p:sldId id="284" r:id="rId22"/>
    <p:sldId id="300" r:id="rId23"/>
    <p:sldId id="279" r:id="rId24"/>
    <p:sldId id="285" r:id="rId25"/>
    <p:sldId id="303" r:id="rId26"/>
    <p:sldId id="280" r:id="rId27"/>
    <p:sldId id="281" r:id="rId28"/>
    <p:sldId id="306" r:id="rId29"/>
    <p:sldId id="282" r:id="rId30"/>
    <p:sldId id="283" r:id="rId31"/>
    <p:sldId id="310" r:id="rId32"/>
    <p:sldId id="345" r:id="rId33"/>
    <p:sldId id="346" r:id="rId34"/>
    <p:sldId id="347" r:id="rId35"/>
    <p:sldId id="348" r:id="rId36"/>
    <p:sldId id="288" r:id="rId37"/>
    <p:sldId id="28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#1">
  <dgm:title val=""/>
  <dgm:desc val=""/>
  <dgm:catLst>
    <dgm:cat type="accent2" pri="11300"/>
  </dgm:catLst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19EF1E-CBFC-480B-A8DB-E7AFEE61E9AC}" type="doc">
      <dgm:prSet loTypeId="urn:microsoft.com/office/officeart/2005/8/layout/radial2#1" loCatId="relationship" qsTypeId="urn:microsoft.com/office/officeart/2005/8/quickstyle/simple3#1" qsCatId="simple" csTypeId="urn:microsoft.com/office/officeart/2005/8/colors/accent2_3#1" csCatId="accent2" phldr="1"/>
      <dgm:spPr/>
      <dgm:t>
        <a:bodyPr/>
        <a:lstStyle/>
        <a:p>
          <a:endParaRPr lang="en-US"/>
        </a:p>
      </dgm:t>
    </dgm:pt>
    <dgm:pt modelId="{D13D5781-019F-4CEC-8257-13CCCA0157BA}">
      <dgm:prSet phldrT="[Text]"/>
      <dgm:spPr/>
      <dgm:t>
        <a:bodyPr/>
        <a:lstStyle/>
        <a:p>
          <a:r>
            <a:rPr lang="en-US" dirty="0"/>
            <a:t>Fat stores are mobilized to provide energy.</a:t>
          </a:r>
        </a:p>
      </dgm:t>
    </dgm:pt>
    <dgm:pt modelId="{DADA655C-7142-4FF2-8EDE-0B95CFE2DF18}" type="parTrans" cxnId="{7327D118-1FAF-4F83-8111-49A07E09EEE4}">
      <dgm:prSet/>
      <dgm:spPr/>
      <dgm:t>
        <a:bodyPr/>
        <a:lstStyle/>
        <a:p>
          <a:endParaRPr lang="en-US"/>
        </a:p>
      </dgm:t>
    </dgm:pt>
    <dgm:pt modelId="{0D2E0473-EDAE-4AEB-ADFB-DD22C9F33C84}" type="sibTrans" cxnId="{7327D118-1FAF-4F83-8111-49A07E09EEE4}">
      <dgm:prSet/>
      <dgm:spPr/>
      <dgm:t>
        <a:bodyPr/>
        <a:lstStyle/>
        <a:p>
          <a:endParaRPr lang="en-US"/>
        </a:p>
      </dgm:t>
    </dgm:pt>
    <dgm:pt modelId="{7DBC52C5-A3E6-4E6E-9E82-F570855B9162}">
      <dgm:prSet phldrT="[Text]" custT="1"/>
      <dgm:spPr/>
      <dgm:t>
        <a:bodyPr/>
        <a:lstStyle/>
        <a:p>
          <a:r>
            <a:rPr lang="en-US" sz="1600" dirty="0"/>
            <a:t>Later protein in muscle, skin, and the gastrointestinal tract is mobilized.</a:t>
          </a:r>
        </a:p>
      </dgm:t>
    </dgm:pt>
    <dgm:pt modelId="{3A8DB63F-8033-4196-8797-7F1C08E62159}" type="parTrans" cxnId="{228F62D1-2250-4810-AEE9-428DB81D7110}">
      <dgm:prSet/>
      <dgm:spPr/>
      <dgm:t>
        <a:bodyPr/>
        <a:lstStyle/>
        <a:p>
          <a:endParaRPr lang="en-US"/>
        </a:p>
      </dgm:t>
    </dgm:pt>
    <dgm:pt modelId="{1B8E5E20-D666-4DB0-AB7D-610A29822C2E}" type="sibTrans" cxnId="{228F62D1-2250-4810-AEE9-428DB81D7110}">
      <dgm:prSet/>
      <dgm:spPr/>
      <dgm:t>
        <a:bodyPr/>
        <a:lstStyle/>
        <a:p>
          <a:endParaRPr lang="en-US"/>
        </a:p>
      </dgm:t>
    </dgm:pt>
    <dgm:pt modelId="{1108391E-EA32-4EAC-BFD6-5E7E25B7707D}">
      <dgm:prSet phldrT="[Text]" custT="1"/>
      <dgm:spPr/>
      <dgm:t>
        <a:bodyPr/>
        <a:lstStyle/>
        <a:p>
          <a:r>
            <a:rPr lang="en-US" sz="1600" dirty="0"/>
            <a:t>Energy Conservation</a:t>
          </a:r>
        </a:p>
      </dgm:t>
    </dgm:pt>
    <dgm:pt modelId="{97AFA951-BC6F-4E11-A3F3-58889580D224}" type="parTrans" cxnId="{9C70FBB8-39FD-4ED8-B53D-28A1E1660B75}">
      <dgm:prSet>
        <dgm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4740FFAA-5ADD-4687-B41E-5603934BFA4B}" type="sibTrans" cxnId="{9C70FBB8-39FD-4ED8-B53D-28A1E1660B75}">
      <dgm:prSet/>
      <dgm:spPr/>
      <dgm:t>
        <a:bodyPr/>
        <a:lstStyle/>
        <a:p>
          <a:endParaRPr lang="en-US"/>
        </a:p>
      </dgm:t>
    </dgm:pt>
    <dgm:pt modelId="{33B452FC-1DC1-453D-93ED-334574E6B03C}" type="pres">
      <dgm:prSet presAssocID="{D419EF1E-CBFC-480B-A8DB-E7AFEE61E9AC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AB7BB9A-4673-429F-805A-66E92E468AD4}" type="pres">
      <dgm:prSet presAssocID="{D419EF1E-CBFC-480B-A8DB-E7AFEE61E9AC}" presName="cycle" presStyleCnt="0"/>
      <dgm:spPr/>
      <dgm:t>
        <a:bodyPr/>
        <a:lstStyle/>
        <a:p>
          <a:endParaRPr lang="en-US"/>
        </a:p>
      </dgm:t>
    </dgm:pt>
    <dgm:pt modelId="{394D79A6-A1DD-44D8-9BC6-76DAA2C6AD8C}" type="pres">
      <dgm:prSet presAssocID="{D419EF1E-CBFC-480B-A8DB-E7AFEE61E9AC}" presName="centerShape" presStyleCnt="0"/>
      <dgm:spPr/>
      <dgm:t>
        <a:bodyPr/>
        <a:lstStyle/>
        <a:p>
          <a:endParaRPr lang="en-US"/>
        </a:p>
      </dgm:t>
    </dgm:pt>
    <dgm:pt modelId="{DBC05FE7-A5D1-439D-B260-E6CD8CC12E45}" type="pres">
      <dgm:prSet presAssocID="{D419EF1E-CBFC-480B-A8DB-E7AFEE61E9AC}" presName="connSite" presStyleLbl="node1" presStyleIdx="0" presStyleCnt="4"/>
      <dgm:spPr/>
      <dgm:t>
        <a:bodyPr/>
        <a:lstStyle/>
        <a:p>
          <a:endParaRPr lang="en-US"/>
        </a:p>
      </dgm:t>
    </dgm:pt>
    <dgm:pt modelId="{ADF9281D-1770-4137-9D40-99EFB2282726}" type="pres">
      <dgm:prSet presAssocID="{D419EF1E-CBFC-480B-A8DB-E7AFEE61E9AC}" presName="visible" presStyleLbl="node1" presStyleIdx="0" presStyleCnt="4" custScaleX="87136" custScaleY="82802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7EC08AB1-D320-4225-917B-E5DCDFA89BDD}" type="pres">
      <dgm:prSet presAssocID="{DADA655C-7142-4FF2-8EDE-0B95CFE2DF18}" presName="Name25" presStyleLbl="parChTrans1D1" presStyleIdx="0" presStyleCnt="3"/>
      <dgm:spPr>
        <a:prstGeom prst="rightArrow">
          <a:avLst/>
        </a:prstGeom>
      </dgm:spPr>
      <dgm:t>
        <a:bodyPr/>
        <a:lstStyle/>
        <a:p>
          <a:endParaRPr lang="en-US"/>
        </a:p>
      </dgm:t>
    </dgm:pt>
    <dgm:pt modelId="{E6E3FB2A-0980-46A8-810B-475AB87222A1}" type="pres">
      <dgm:prSet presAssocID="{D13D5781-019F-4CEC-8257-13CCCA0157BA}" presName="node" presStyleCnt="0"/>
      <dgm:spPr/>
      <dgm:t>
        <a:bodyPr/>
        <a:lstStyle/>
        <a:p>
          <a:endParaRPr lang="en-US"/>
        </a:p>
      </dgm:t>
    </dgm:pt>
    <dgm:pt modelId="{69C1C6CA-82FB-45CA-8070-F73713AFE94D}" type="pres">
      <dgm:prSet presAssocID="{D13D5781-019F-4CEC-8257-13CCCA0157BA}" presName="parentNode" presStyleLbl="node1" presStyleIdx="1" presStyleCnt="4" custScaleX="240113" custScaleY="58030" custLinFactNeighborX="88475" custLinFactNeighborY="1302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3EE4D0-2C0B-45D2-91DE-95CA7EFB5A1B}" type="pres">
      <dgm:prSet presAssocID="{D13D5781-019F-4CEC-8257-13CCCA0157BA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9906BF-12AF-483B-84ED-B96392B629EF}" type="pres">
      <dgm:prSet presAssocID="{3A8DB63F-8033-4196-8797-7F1C08E62159}" presName="Name25" presStyleLbl="parChTrans1D1" presStyleIdx="1" presStyleCnt="3"/>
      <dgm:spPr>
        <a:prstGeom prst="rightArrow">
          <a:avLst/>
        </a:prstGeom>
      </dgm:spPr>
      <dgm:t>
        <a:bodyPr/>
        <a:lstStyle/>
        <a:p>
          <a:endParaRPr lang="en-US"/>
        </a:p>
      </dgm:t>
    </dgm:pt>
    <dgm:pt modelId="{C803C344-064C-4952-9B16-15F8EBC38A98}" type="pres">
      <dgm:prSet presAssocID="{7DBC52C5-A3E6-4E6E-9E82-F570855B9162}" presName="node" presStyleCnt="0"/>
      <dgm:spPr/>
      <dgm:t>
        <a:bodyPr/>
        <a:lstStyle/>
        <a:p>
          <a:endParaRPr lang="en-US"/>
        </a:p>
      </dgm:t>
    </dgm:pt>
    <dgm:pt modelId="{461D81F0-8416-486A-8561-F4D5328C3990}" type="pres">
      <dgm:prSet presAssocID="{7DBC52C5-A3E6-4E6E-9E82-F570855B9162}" presName="parentNode" presStyleLbl="node1" presStyleIdx="2" presStyleCnt="4" custScaleX="272411" custLinFactNeighborX="93998" custLinFactNeighborY="919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A79338-00BF-4972-BC44-5306DD92A940}" type="pres">
      <dgm:prSet presAssocID="{7DBC52C5-A3E6-4E6E-9E82-F570855B9162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AEAD60-64E6-4D97-A8AE-A54232A11F54}" type="pres">
      <dgm:prSet presAssocID="{97AFA951-BC6F-4E11-A3F3-58889580D224}" presName="Name25" presStyleLbl="parChTrans1D1" presStyleIdx="2" presStyleCnt="3"/>
      <dgm:spPr>
        <a:prstGeom prst="rightArrow">
          <a:avLst/>
        </a:prstGeom>
      </dgm:spPr>
      <dgm:t>
        <a:bodyPr/>
        <a:lstStyle/>
        <a:p>
          <a:endParaRPr lang="en-US"/>
        </a:p>
      </dgm:t>
    </dgm:pt>
    <dgm:pt modelId="{E8D161A6-B64B-4AE1-91B5-C3F6F9A02A70}" type="pres">
      <dgm:prSet presAssocID="{1108391E-EA32-4EAC-BFD6-5E7E25B7707D}" presName="node" presStyleCnt="0"/>
      <dgm:spPr/>
      <dgm:t>
        <a:bodyPr/>
        <a:lstStyle/>
        <a:p>
          <a:endParaRPr lang="en-US"/>
        </a:p>
      </dgm:t>
    </dgm:pt>
    <dgm:pt modelId="{6E89B7AA-29F5-4FDF-9788-2FC91186AB81}" type="pres">
      <dgm:prSet presAssocID="{1108391E-EA32-4EAC-BFD6-5E7E25B7707D}" presName="parentNode" presStyleLbl="node1" presStyleIdx="3" presStyleCnt="4" custScaleX="185199" custScaleY="98884" custLinFactNeighborX="14448" custLinFactNeighborY="103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74080B-DD80-4E9D-A629-BFB4739F0803}" type="pres">
      <dgm:prSet presAssocID="{1108391E-EA32-4EAC-BFD6-5E7E25B7707D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70FBB8-39FD-4ED8-B53D-28A1E1660B75}" srcId="{D419EF1E-CBFC-480B-A8DB-E7AFEE61E9AC}" destId="{1108391E-EA32-4EAC-BFD6-5E7E25B7707D}" srcOrd="2" destOrd="0" parTransId="{97AFA951-BC6F-4E11-A3F3-58889580D224}" sibTransId="{4740FFAA-5ADD-4687-B41E-5603934BFA4B}"/>
    <dgm:cxn modelId="{84A8FEA3-F32D-4CDB-96CD-B3B48EB5DA53}" type="presOf" srcId="{3A8DB63F-8033-4196-8797-7F1C08E62159}" destId="{C69906BF-12AF-483B-84ED-B96392B629EF}" srcOrd="0" destOrd="0" presId="urn:microsoft.com/office/officeart/2005/8/layout/radial2#1"/>
    <dgm:cxn modelId="{7327D118-1FAF-4F83-8111-49A07E09EEE4}" srcId="{D419EF1E-CBFC-480B-A8DB-E7AFEE61E9AC}" destId="{D13D5781-019F-4CEC-8257-13CCCA0157BA}" srcOrd="0" destOrd="0" parTransId="{DADA655C-7142-4FF2-8EDE-0B95CFE2DF18}" sibTransId="{0D2E0473-EDAE-4AEB-ADFB-DD22C9F33C84}"/>
    <dgm:cxn modelId="{B9AF6BB7-595F-42B3-89C6-DA6FD3055516}" type="presOf" srcId="{DADA655C-7142-4FF2-8EDE-0B95CFE2DF18}" destId="{7EC08AB1-D320-4225-917B-E5DCDFA89BDD}" srcOrd="0" destOrd="0" presId="urn:microsoft.com/office/officeart/2005/8/layout/radial2#1"/>
    <dgm:cxn modelId="{228F62D1-2250-4810-AEE9-428DB81D7110}" srcId="{D419EF1E-CBFC-480B-A8DB-E7AFEE61E9AC}" destId="{7DBC52C5-A3E6-4E6E-9E82-F570855B9162}" srcOrd="1" destOrd="0" parTransId="{3A8DB63F-8033-4196-8797-7F1C08E62159}" sibTransId="{1B8E5E20-D666-4DB0-AB7D-610A29822C2E}"/>
    <dgm:cxn modelId="{0AF2C3A1-BCF8-480E-A792-6C4DF6EA702A}" type="presOf" srcId="{7DBC52C5-A3E6-4E6E-9E82-F570855B9162}" destId="{461D81F0-8416-486A-8561-F4D5328C3990}" srcOrd="0" destOrd="0" presId="urn:microsoft.com/office/officeart/2005/8/layout/radial2#1"/>
    <dgm:cxn modelId="{4421BDA2-C1A1-4B1C-BF75-512185AB27D5}" type="presOf" srcId="{D13D5781-019F-4CEC-8257-13CCCA0157BA}" destId="{69C1C6CA-82FB-45CA-8070-F73713AFE94D}" srcOrd="0" destOrd="0" presId="urn:microsoft.com/office/officeart/2005/8/layout/radial2#1"/>
    <dgm:cxn modelId="{DC56B9AD-09B4-4F10-AC61-A67EC36036EE}" type="presOf" srcId="{97AFA951-BC6F-4E11-A3F3-58889580D224}" destId="{19AEAD60-64E6-4D97-A8AE-A54232A11F54}" srcOrd="0" destOrd="0" presId="urn:microsoft.com/office/officeart/2005/8/layout/radial2#1"/>
    <dgm:cxn modelId="{E21DA517-B9B3-4303-B3DF-0F00D4A0FF1E}" type="presOf" srcId="{D419EF1E-CBFC-480B-A8DB-E7AFEE61E9AC}" destId="{33B452FC-1DC1-453D-93ED-334574E6B03C}" srcOrd="0" destOrd="0" presId="urn:microsoft.com/office/officeart/2005/8/layout/radial2#1"/>
    <dgm:cxn modelId="{44CA755E-0236-402A-B1DD-E29987BFACD5}" type="presOf" srcId="{1108391E-EA32-4EAC-BFD6-5E7E25B7707D}" destId="{6E89B7AA-29F5-4FDF-9788-2FC91186AB81}" srcOrd="0" destOrd="0" presId="urn:microsoft.com/office/officeart/2005/8/layout/radial2#1"/>
    <dgm:cxn modelId="{576FEFD4-4269-4D36-896D-F824E8314C49}" type="presParOf" srcId="{33B452FC-1DC1-453D-93ED-334574E6B03C}" destId="{2AB7BB9A-4673-429F-805A-66E92E468AD4}" srcOrd="0" destOrd="0" presId="urn:microsoft.com/office/officeart/2005/8/layout/radial2#1"/>
    <dgm:cxn modelId="{792AA503-04B5-4E17-BDD5-0C209FD88267}" type="presParOf" srcId="{2AB7BB9A-4673-429F-805A-66E92E468AD4}" destId="{394D79A6-A1DD-44D8-9BC6-76DAA2C6AD8C}" srcOrd="0" destOrd="0" presId="urn:microsoft.com/office/officeart/2005/8/layout/radial2#1"/>
    <dgm:cxn modelId="{CEB753AA-6493-406C-9BE7-C00F2FF2F207}" type="presParOf" srcId="{394D79A6-A1DD-44D8-9BC6-76DAA2C6AD8C}" destId="{DBC05FE7-A5D1-439D-B260-E6CD8CC12E45}" srcOrd="0" destOrd="0" presId="urn:microsoft.com/office/officeart/2005/8/layout/radial2#1"/>
    <dgm:cxn modelId="{CF4886C7-0CB6-47F8-A0EC-36B353A21F5F}" type="presParOf" srcId="{394D79A6-A1DD-44D8-9BC6-76DAA2C6AD8C}" destId="{ADF9281D-1770-4137-9D40-99EFB2282726}" srcOrd="1" destOrd="0" presId="urn:microsoft.com/office/officeart/2005/8/layout/radial2#1"/>
    <dgm:cxn modelId="{13FDAE26-780F-4D25-878C-B99E57598893}" type="presParOf" srcId="{2AB7BB9A-4673-429F-805A-66E92E468AD4}" destId="{7EC08AB1-D320-4225-917B-E5DCDFA89BDD}" srcOrd="1" destOrd="0" presId="urn:microsoft.com/office/officeart/2005/8/layout/radial2#1"/>
    <dgm:cxn modelId="{EEE63C72-E7B6-458F-8D6D-48E2F2993981}" type="presParOf" srcId="{2AB7BB9A-4673-429F-805A-66E92E468AD4}" destId="{E6E3FB2A-0980-46A8-810B-475AB87222A1}" srcOrd="2" destOrd="0" presId="urn:microsoft.com/office/officeart/2005/8/layout/radial2#1"/>
    <dgm:cxn modelId="{C1AE88EA-64AE-4D48-A6BB-73CB5DC44AD9}" type="presParOf" srcId="{E6E3FB2A-0980-46A8-810B-475AB87222A1}" destId="{69C1C6CA-82FB-45CA-8070-F73713AFE94D}" srcOrd="0" destOrd="0" presId="urn:microsoft.com/office/officeart/2005/8/layout/radial2#1"/>
    <dgm:cxn modelId="{21F4F9C5-5CED-4A8D-88AC-D8C1DDAC41EA}" type="presParOf" srcId="{E6E3FB2A-0980-46A8-810B-475AB87222A1}" destId="{FA3EE4D0-2C0B-45D2-91DE-95CA7EFB5A1B}" srcOrd="1" destOrd="0" presId="urn:microsoft.com/office/officeart/2005/8/layout/radial2#1"/>
    <dgm:cxn modelId="{3F613E6E-4B6D-49ED-A6A3-66A996B41B9B}" type="presParOf" srcId="{2AB7BB9A-4673-429F-805A-66E92E468AD4}" destId="{C69906BF-12AF-483B-84ED-B96392B629EF}" srcOrd="3" destOrd="0" presId="urn:microsoft.com/office/officeart/2005/8/layout/radial2#1"/>
    <dgm:cxn modelId="{0CF78654-7024-42C4-B07D-D8E3F7347AAA}" type="presParOf" srcId="{2AB7BB9A-4673-429F-805A-66E92E468AD4}" destId="{C803C344-064C-4952-9B16-15F8EBC38A98}" srcOrd="4" destOrd="0" presId="urn:microsoft.com/office/officeart/2005/8/layout/radial2#1"/>
    <dgm:cxn modelId="{59B5A47B-4422-4F47-AC4D-E53B5C5046F4}" type="presParOf" srcId="{C803C344-064C-4952-9B16-15F8EBC38A98}" destId="{461D81F0-8416-486A-8561-F4D5328C3990}" srcOrd="0" destOrd="0" presId="urn:microsoft.com/office/officeart/2005/8/layout/radial2#1"/>
    <dgm:cxn modelId="{5DFCFC8B-6A77-406F-9CF8-66401F3743D9}" type="presParOf" srcId="{C803C344-064C-4952-9B16-15F8EBC38A98}" destId="{0EA79338-00BF-4972-BC44-5306DD92A940}" srcOrd="1" destOrd="0" presId="urn:microsoft.com/office/officeart/2005/8/layout/radial2#1"/>
    <dgm:cxn modelId="{F56F0187-36B9-483F-89B4-67ADD64E6A2F}" type="presParOf" srcId="{2AB7BB9A-4673-429F-805A-66E92E468AD4}" destId="{19AEAD60-64E6-4D97-A8AE-A54232A11F54}" srcOrd="5" destOrd="0" presId="urn:microsoft.com/office/officeart/2005/8/layout/radial2#1"/>
    <dgm:cxn modelId="{E69499D4-CD5E-48B2-95DD-9575A1F3BA6C}" type="presParOf" srcId="{2AB7BB9A-4673-429F-805A-66E92E468AD4}" destId="{E8D161A6-B64B-4AE1-91B5-C3F6F9A02A70}" srcOrd="6" destOrd="0" presId="urn:microsoft.com/office/officeart/2005/8/layout/radial2#1"/>
    <dgm:cxn modelId="{214ACBBB-3587-4C4A-B15D-D6BAD6376EA0}" type="presParOf" srcId="{E8D161A6-B64B-4AE1-91B5-C3F6F9A02A70}" destId="{6E89B7AA-29F5-4FDF-9788-2FC91186AB81}" srcOrd="0" destOrd="0" presId="urn:microsoft.com/office/officeart/2005/8/layout/radial2#1"/>
    <dgm:cxn modelId="{BA057765-8F9E-457F-A131-0CB19699C99A}" type="presParOf" srcId="{E8D161A6-B64B-4AE1-91B5-C3F6F9A02A70}" destId="{8574080B-DD80-4E9D-A629-BFB4739F0803}" srcOrd="1" destOrd="0" presId="urn:microsoft.com/office/officeart/2005/8/layout/radial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EAD60-64E6-4D97-A8AE-A54232A11F54}">
      <dsp:nvSpPr>
        <dsp:cNvPr id="0" name=""/>
        <dsp:cNvSpPr/>
      </dsp:nvSpPr>
      <dsp:spPr>
        <a:xfrm rot="2529509">
          <a:off x="3336589" y="2873765"/>
          <a:ext cx="539839" cy="35815"/>
        </a:xfrm>
        <a:prstGeom prst="rightArrow">
          <a:avLst/>
        </a:prstGeom>
        <a:noFill/>
        <a:ln w="158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dsp:style>
    </dsp:sp>
    <dsp:sp modelId="{C69906BF-12AF-483B-84ED-B96392B629EF}">
      <dsp:nvSpPr>
        <dsp:cNvPr id="0" name=""/>
        <dsp:cNvSpPr/>
      </dsp:nvSpPr>
      <dsp:spPr>
        <a:xfrm rot="132241">
          <a:off x="3406210" y="2068624"/>
          <a:ext cx="566849" cy="35815"/>
        </a:xfrm>
        <a:prstGeom prst="rightArrow">
          <a:avLst/>
        </a:prstGeom>
        <a:noFill/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C08AB1-D320-4225-917B-E5DCDFA89BDD}">
      <dsp:nvSpPr>
        <dsp:cNvPr id="0" name=""/>
        <dsp:cNvSpPr/>
      </dsp:nvSpPr>
      <dsp:spPr>
        <a:xfrm rot="19900130">
          <a:off x="3323592" y="1306553"/>
          <a:ext cx="1382990" cy="35815"/>
        </a:xfrm>
        <a:prstGeom prst="rightArrow">
          <a:avLst/>
        </a:prstGeom>
        <a:noFill/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F9281D-1770-4137-9D40-99EFB2282726}">
      <dsp:nvSpPr>
        <dsp:cNvPr id="0" name=""/>
        <dsp:cNvSpPr/>
      </dsp:nvSpPr>
      <dsp:spPr>
        <a:xfrm>
          <a:off x="1762512" y="1181199"/>
          <a:ext cx="1823179" cy="1732497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9C1C6CA-82FB-45CA-8070-F73713AFE94D}">
      <dsp:nvSpPr>
        <dsp:cNvPr id="0" name=""/>
        <dsp:cNvSpPr/>
      </dsp:nvSpPr>
      <dsp:spPr>
        <a:xfrm>
          <a:off x="3733070" y="299657"/>
          <a:ext cx="3014384" cy="728510"/>
        </a:xfrm>
        <a:prstGeom prst="ellipse">
          <a:avLst/>
        </a:prstGeom>
        <a:solidFill>
          <a:schemeClr val="accent2">
            <a:shade val="80000"/>
            <a:hueOff val="-73073"/>
            <a:satOff val="-101"/>
            <a:lumOff val="8451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/>
            <a:t>Fat stores are mobilized to provide energy.</a:t>
          </a:r>
        </a:p>
      </dsp:txBody>
      <dsp:txXfrm>
        <a:off x="4174516" y="406345"/>
        <a:ext cx="2131492" cy="515134"/>
      </dsp:txXfrm>
    </dsp:sp>
    <dsp:sp modelId="{461D81F0-8416-486A-8561-F4D5328C3990}">
      <dsp:nvSpPr>
        <dsp:cNvPr id="0" name=""/>
        <dsp:cNvSpPr/>
      </dsp:nvSpPr>
      <dsp:spPr>
        <a:xfrm>
          <a:off x="3963529" y="1535181"/>
          <a:ext cx="3419854" cy="1255402"/>
        </a:xfrm>
        <a:prstGeom prst="ellipse">
          <a:avLst/>
        </a:prstGeom>
        <a:solidFill>
          <a:schemeClr val="accent2">
            <a:shade val="80000"/>
            <a:hueOff val="-146146"/>
            <a:satOff val="-201"/>
            <a:lumOff val="16902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Later protein in muscle, skin, and the gastrointestinal tract is mobilized.</a:t>
          </a:r>
        </a:p>
      </dsp:txBody>
      <dsp:txXfrm>
        <a:off x="4464355" y="1719030"/>
        <a:ext cx="2418202" cy="887704"/>
      </dsp:txXfrm>
    </dsp:sp>
    <dsp:sp modelId="{6E89B7AA-29F5-4FDF-9788-2FC91186AB81}">
      <dsp:nvSpPr>
        <dsp:cNvPr id="0" name=""/>
        <dsp:cNvSpPr/>
      </dsp:nvSpPr>
      <dsp:spPr>
        <a:xfrm>
          <a:off x="3234604" y="2986798"/>
          <a:ext cx="2324992" cy="1241392"/>
        </a:xfrm>
        <a:prstGeom prst="ellipse">
          <a:avLst/>
        </a:prstGeom>
        <a:solidFill>
          <a:schemeClr val="accent2">
            <a:shade val="80000"/>
            <a:hueOff val="-219218"/>
            <a:satOff val="-302"/>
            <a:lumOff val="25353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Energy Conservation</a:t>
          </a:r>
        </a:p>
      </dsp:txBody>
      <dsp:txXfrm>
        <a:off x="3575091" y="3168596"/>
        <a:ext cx="1644018" cy="877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#1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srcNode" val="connSite"/>
              <dgm:param type="dstNode" val="parentNode"/>
              <dgm:param type="dim" val="1D"/>
              <dgm:param type="endSty" val="noArr"/>
              <dgm:param type="begPts" val="auto"/>
              <dgm:param type="endPts" val="auto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0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52B0C-DCDE-4755-8803-A6FEEFD4DF78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104870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0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1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B2C55-FB8B-4A86-BD97-27F1FBBA8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37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58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3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7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0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7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7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74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58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0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7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89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7390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98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86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11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05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6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1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Severe Acute Malnutrition </a:t>
            </a:r>
          </a:p>
        </p:txBody>
      </p:sp>
      <p:sp>
        <p:nvSpPr>
          <p:cNvPr id="1048600" name="Subtitle 2"/>
          <p:cNvSpPr>
            <a:spLocks noGrp="1"/>
          </p:cNvSpPr>
          <p:nvPr>
            <p:ph type="subTitle" idx="1"/>
          </p:nvPr>
        </p:nvSpPr>
        <p:spPr>
          <a:xfrm>
            <a:off x="1197736" y="3829408"/>
            <a:ext cx="8784466" cy="2159267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Severe acute Malnutrition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cap="none" dirty="0" smtClean="0"/>
              <a:t>It is a lack of enough or sufficient  nutrients  in  the body.</a:t>
            </a:r>
          </a:p>
          <a:p>
            <a:endParaRPr lang="en-US" cap="none" dirty="0" smtClean="0"/>
          </a:p>
          <a:p>
            <a:r>
              <a:rPr lang="en-US" cap="none" dirty="0" smtClean="0"/>
              <a:t>It can be </a:t>
            </a:r>
            <a:r>
              <a:rPr lang="en-US" b="1" cap="none" dirty="0" smtClean="0"/>
              <a:t>under-nutrition </a:t>
            </a:r>
            <a:r>
              <a:rPr lang="en-US" cap="none" dirty="0" smtClean="0"/>
              <a:t>or </a:t>
            </a:r>
            <a:r>
              <a:rPr lang="en-US" b="1" cap="none" dirty="0" smtClean="0"/>
              <a:t>over-nutrition</a:t>
            </a:r>
          </a:p>
          <a:p>
            <a:pPr marL="0" indent="0">
              <a:buNone/>
            </a:pPr>
            <a:endParaRPr lang="en-US" cap="non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cap="none" dirty="0" smtClean="0">
                <a:sym typeface="+mn-ea"/>
              </a:rPr>
              <a:t>Acute malnutrition- </a:t>
            </a:r>
            <a:r>
              <a:rPr lang="en-US" cap="none" dirty="0" smtClean="0">
                <a:sym typeface="+mn-ea"/>
              </a:rPr>
              <a:t>acute malnutrition is a form of undernutrition. It is caused by a decrease in food consumption and/or illness resulting in bilateral pitting edema and/or sudden weight loss.</a:t>
            </a:r>
          </a:p>
          <a:p>
            <a:r>
              <a:rPr lang="en-US" cap="none" dirty="0" smtClean="0">
                <a:sym typeface="+mn-ea"/>
              </a:rPr>
              <a:t>It</a:t>
            </a:r>
            <a:r>
              <a:rPr lang="en-US" b="1" cap="none" dirty="0" smtClean="0">
                <a:sym typeface="+mn-ea"/>
              </a:rPr>
              <a:t> </a:t>
            </a:r>
            <a:r>
              <a:rPr lang="en-US" cap="none" dirty="0" smtClean="0">
                <a:sym typeface="+mn-ea"/>
              </a:rPr>
              <a:t>is classified into severe acute malnutrition(SAM) and moderate acute malnutrition (MAM) according to the degree of wasting and the presence of edema. </a:t>
            </a:r>
            <a:endParaRPr lang="en-US" cap="none" dirty="0" smtClean="0"/>
          </a:p>
          <a:p>
            <a:endParaRPr lang="en-US" cap="non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cap="none" dirty="0" smtClean="0"/>
              <a:t>Severe acute malnutrition- </a:t>
            </a:r>
            <a:r>
              <a:rPr lang="en-US" cap="none" dirty="0" smtClean="0"/>
              <a:t>is defined by the presence of bilateral pitting </a:t>
            </a:r>
            <a:r>
              <a:rPr lang="en-US" cap="none" dirty="0" err="1" smtClean="0"/>
              <a:t>oedema</a:t>
            </a:r>
            <a:r>
              <a:rPr lang="en-US" cap="none" dirty="0" smtClean="0"/>
              <a:t> or severe wasting (MUAC &lt; 11.5 cm or a WFH &lt; -3 z-score [WHO standards]) in children 6-59 months old. </a:t>
            </a:r>
          </a:p>
          <a:p>
            <a:r>
              <a:rPr lang="en-US" cap="none" dirty="0" smtClean="0"/>
              <a:t>A patient with </a:t>
            </a:r>
            <a:r>
              <a:rPr lang="en-US" cap="none" dirty="0" err="1" smtClean="0"/>
              <a:t>sam</a:t>
            </a:r>
            <a:r>
              <a:rPr lang="en-US" cap="none" dirty="0" smtClean="0"/>
              <a:t> is highly vulnerable and has a high mortality risk</a:t>
            </a:r>
            <a:endParaRPr lang="en-US" cap="non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1945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Epidemiology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2428" y="1497508"/>
            <a:ext cx="11178862" cy="4592862"/>
          </a:xfrm>
        </p:spPr>
        <p:txBody>
          <a:bodyPr>
            <a:normAutofit/>
          </a:bodyPr>
          <a:lstStyle/>
          <a:p>
            <a:r>
              <a:rPr lang="en-US" cap="none" dirty="0" smtClean="0"/>
              <a:t>In 2020, a study conducted by UNICEF, WHO, and the world bank shows 144 million children under the age of 5(21.3%) across the world  suffer from stunting and 47 million(6.6%) from wasting.</a:t>
            </a:r>
          </a:p>
          <a:p>
            <a:r>
              <a:rPr lang="en-US" cap="none" dirty="0" smtClean="0"/>
              <a:t>A study performed in </a:t>
            </a:r>
            <a:r>
              <a:rPr lang="en-US" cap="none" dirty="0" err="1" smtClean="0"/>
              <a:t>ethiopia</a:t>
            </a:r>
            <a:r>
              <a:rPr lang="en-US" cap="none" dirty="0" smtClean="0"/>
              <a:t> in 2016 showed that;</a:t>
            </a:r>
          </a:p>
          <a:p>
            <a:pPr marL="0" indent="0">
              <a:buNone/>
            </a:pPr>
            <a:r>
              <a:rPr lang="en-US" cap="none" dirty="0" smtClean="0"/>
              <a:t>            - 38% of children under 5 age were stunted or too short for their height and 18%</a:t>
            </a:r>
          </a:p>
          <a:p>
            <a:pPr marL="0" indent="0">
              <a:buNone/>
            </a:pPr>
            <a:r>
              <a:rPr lang="en-US" cap="none" dirty="0" smtClean="0"/>
              <a:t>                       Stunted</a:t>
            </a:r>
          </a:p>
          <a:p>
            <a:pPr marL="0" indent="0">
              <a:buNone/>
            </a:pPr>
            <a:r>
              <a:rPr lang="en-US" cap="none" dirty="0" smtClean="0"/>
              <a:t>           - 10% were wasted or too thin for their height including 3% who were severely </a:t>
            </a:r>
          </a:p>
          <a:p>
            <a:pPr marL="0" indent="0">
              <a:buNone/>
            </a:pPr>
            <a:r>
              <a:rPr lang="en-US" cap="none" dirty="0" smtClean="0"/>
              <a:t>           </a:t>
            </a:r>
            <a:r>
              <a:rPr lang="en-US" cap="none" dirty="0" smtClean="0"/>
              <a:t>- 24% of children under the age 5 were underweight or were too thin</a:t>
            </a:r>
          </a:p>
          <a:p>
            <a:endParaRPr lang="en-US" cap="none" dirty="0" smtClean="0"/>
          </a:p>
          <a:p>
            <a:endParaRPr lang="en-US" cap="non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Etiology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cap="none" dirty="0" smtClean="0"/>
              <a:t>Primary-</a:t>
            </a:r>
            <a:r>
              <a:rPr lang="en-US" cap="none" dirty="0" smtClean="0"/>
              <a:t>when the otherwise healthy individual’s needs for protein, energy, or both are not met by an adequate diet.</a:t>
            </a:r>
          </a:p>
          <a:p>
            <a:pPr>
              <a:lnSpc>
                <a:spcPct val="150000"/>
              </a:lnSpc>
            </a:pPr>
            <a:r>
              <a:rPr lang="en-US" b="1" cap="none" dirty="0" smtClean="0"/>
              <a:t>Secondary-</a:t>
            </a:r>
            <a:r>
              <a:rPr lang="en-US" cap="none" dirty="0" smtClean="0"/>
              <a:t>result of disease state that may lead to sub optimal intake, inadequate nutrient absorption or use, and increased requirements because of nutrient loss or increased energy expenditure. </a:t>
            </a:r>
            <a:endParaRPr lang="en-US" b="1" cap="none" dirty="0" smtClean="0"/>
          </a:p>
          <a:p>
            <a:pPr marL="0" indent="0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Precipitating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 smtClean="0"/>
              <a:t>Lack of food</a:t>
            </a:r>
          </a:p>
          <a:p>
            <a:r>
              <a:rPr lang="en-US" cap="none" dirty="0" smtClean="0"/>
              <a:t>Inadequate breast feeding</a:t>
            </a:r>
          </a:p>
          <a:p>
            <a:r>
              <a:rPr lang="en-US" cap="none" dirty="0" err="1" smtClean="0"/>
              <a:t>Diarrhoea</a:t>
            </a:r>
            <a:r>
              <a:rPr lang="en-US" cap="none" dirty="0" smtClean="0"/>
              <a:t> and malabsorption</a:t>
            </a:r>
          </a:p>
          <a:p>
            <a:r>
              <a:rPr lang="en-US" cap="none" dirty="0" smtClean="0"/>
              <a:t>Infection</a:t>
            </a:r>
            <a:endParaRPr lang="en-US" cap="non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691707" y="0"/>
            <a:ext cx="10364451" cy="1149531"/>
          </a:xfrm>
        </p:spPr>
        <p:txBody>
          <a:bodyPr/>
          <a:lstStyle/>
          <a:p>
            <a:pPr algn="ctr"/>
            <a:r>
              <a:rPr lang="en-US" dirty="0"/>
              <a:t>Pathophysiology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378585"/>
            <a:ext cx="10515600" cy="45326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cap="none" dirty="0" smtClean="0"/>
              <a:t>      Appetite loss, nutrient loss and malabsorption</a:t>
            </a:r>
          </a:p>
          <a:p>
            <a:pPr marL="0" indent="0">
              <a:buNone/>
            </a:pPr>
            <a:r>
              <a:rPr lang="en-US" sz="3200" cap="none" dirty="0" smtClean="0"/>
              <a:t>           </a:t>
            </a:r>
          </a:p>
          <a:p>
            <a:pPr marL="0" indent="0">
              <a:buNone/>
            </a:pPr>
            <a:r>
              <a:rPr lang="en-US" sz="3200" cap="none" dirty="0" smtClean="0"/>
              <a:t>                 Inadequate dietary intake      </a:t>
            </a:r>
          </a:p>
          <a:p>
            <a:pPr marL="0" indent="0">
              <a:buNone/>
            </a:pPr>
            <a:r>
              <a:rPr lang="en-US" sz="3200" cap="none" dirty="0" smtClean="0"/>
              <a:t>    </a:t>
            </a:r>
          </a:p>
          <a:p>
            <a:pPr marL="0" indent="0">
              <a:buNone/>
            </a:pPr>
            <a:r>
              <a:rPr lang="en-US" sz="3200" cap="none" dirty="0" smtClean="0"/>
              <a:t>     weight loss, growth faltering, lowered immunity       </a:t>
            </a:r>
          </a:p>
          <a:p>
            <a:pPr marL="0" indent="0">
              <a:buNone/>
            </a:pPr>
            <a:r>
              <a:rPr lang="en-US" sz="3200" cap="none" dirty="0" smtClean="0"/>
              <a:t>    </a:t>
            </a:r>
          </a:p>
          <a:p>
            <a:pPr marL="0" indent="0">
              <a:buNone/>
            </a:pPr>
            <a:r>
              <a:rPr lang="en-US" sz="3200" cap="none" dirty="0" smtClean="0"/>
              <a:t>        prone to infection and other disease</a:t>
            </a:r>
          </a:p>
          <a:p>
            <a:pPr marL="0" indent="0">
              <a:buNone/>
            </a:pPr>
            <a:endParaRPr lang="en-US" sz="32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221605" y="1833122"/>
            <a:ext cx="0" cy="5594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231131" y="2995930"/>
            <a:ext cx="9525" cy="591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240656" y="4255477"/>
            <a:ext cx="0" cy="5392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37138" y="1356995"/>
            <a:ext cx="835855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585105" y="2640751"/>
            <a:ext cx="4736123" cy="5616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417152" y="3890052"/>
            <a:ext cx="8534400" cy="5744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574242" y="5251938"/>
            <a:ext cx="6541478" cy="4806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cont....</a:t>
            </a:r>
          </a:p>
        </p:txBody>
      </p:sp>
      <p:sp>
        <p:nvSpPr>
          <p:cNvPr id="1048639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2500" lnSpcReduction="20000"/>
          </a:bodyPr>
          <a:lstStyle/>
          <a:p>
            <a:pPr>
              <a:lnSpc>
                <a:spcPct val="200000"/>
              </a:lnSpc>
            </a:pPr>
            <a:r>
              <a:rPr lang="en-US" sz="5100" cap="none" dirty="0" smtClean="0"/>
              <a:t>When a child’s intake is insufficient to meet daily needs:</a:t>
            </a:r>
          </a:p>
          <a:p>
            <a:pPr>
              <a:lnSpc>
                <a:spcPct val="200000"/>
              </a:lnSpc>
            </a:pPr>
            <a:r>
              <a:rPr lang="en-US" sz="4500" cap="none" dirty="0" smtClean="0"/>
              <a:t>Physiologic and metabolic changes take place in an orderly progression to conserve energy and prolong life. </a:t>
            </a:r>
          </a:p>
          <a:p>
            <a:pPr>
              <a:lnSpc>
                <a:spcPct val="200000"/>
              </a:lnSpc>
            </a:pPr>
            <a:r>
              <a:rPr lang="en-US" sz="5100" cap="none" dirty="0" smtClean="0"/>
              <a:t>This process is called </a:t>
            </a:r>
            <a:r>
              <a:rPr lang="en-US" sz="5100" b="1" i="0" cap="none" dirty="0" smtClean="0"/>
              <a:t>reductive adaptation</a:t>
            </a:r>
            <a:r>
              <a:rPr lang="en-US" sz="5100" b="1" cap="none" dirty="0" smtClean="0"/>
              <a:t>. </a:t>
            </a:r>
          </a:p>
          <a:p>
            <a:endParaRPr lang="en-US" sz="4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graphicFrame>
        <p:nvGraphicFramePr>
          <p:cNvPr id="4194304" name="Content Placeholder 4"/>
          <p:cNvGraphicFramePr>
            <a:graphicFrameLocks noGrp="1"/>
          </p:cNvGraphicFramePr>
          <p:nvPr>
            <p:ph sz="quarter" idx="13"/>
          </p:nvPr>
        </p:nvGraphicFramePr>
        <p:xfrm>
          <a:off x="645017" y="142638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048642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6429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cap="none" dirty="0" smtClean="0"/>
              <a:t>Energy is conserved by </a:t>
            </a:r>
          </a:p>
          <a:p>
            <a:pPr>
              <a:lnSpc>
                <a:spcPct val="150000"/>
              </a:lnSpc>
            </a:pPr>
            <a:r>
              <a:rPr lang="en-US" cap="none" dirty="0" smtClean="0"/>
              <a:t>Reducing physical activity and growth, </a:t>
            </a:r>
          </a:p>
          <a:p>
            <a:pPr>
              <a:lnSpc>
                <a:spcPct val="150000"/>
              </a:lnSpc>
            </a:pPr>
            <a:r>
              <a:rPr lang="en-US" cap="none" dirty="0" smtClean="0"/>
              <a:t>Reducing basal metabolism and the functional reserve of organs and </a:t>
            </a:r>
          </a:p>
          <a:p>
            <a:pPr>
              <a:lnSpc>
                <a:spcPct val="150000"/>
              </a:lnSpc>
            </a:pPr>
            <a:r>
              <a:rPr lang="en-US" cap="none" dirty="0" smtClean="0"/>
              <a:t>Reducing inflammatory and immune responses.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cap="none" dirty="0" smtClean="0"/>
              <a:t>            These changes have important consequences</a:t>
            </a:r>
          </a:p>
          <a:p>
            <a:endParaRPr lang="en-US" cap="none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</a:t>
            </a:r>
            <a:r>
              <a:rPr lang="en-US" dirty="0" smtClean="0"/>
              <a:t>onsequence </a:t>
            </a:r>
            <a:r>
              <a:rPr lang="en-US" dirty="0"/>
              <a:t>of reductive adaptation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cap="none" dirty="0" smtClean="0"/>
              <a:t>Lethargy and irritability</a:t>
            </a:r>
          </a:p>
          <a:p>
            <a:r>
              <a:rPr lang="en-US" cap="none" dirty="0" smtClean="0"/>
              <a:t>Impaired thyroid function</a:t>
            </a:r>
          </a:p>
          <a:p>
            <a:r>
              <a:rPr lang="en-US" cap="none" dirty="0" smtClean="0"/>
              <a:t>Impaired cardiac function</a:t>
            </a:r>
          </a:p>
          <a:p>
            <a:r>
              <a:rPr lang="en-US" cap="none" dirty="0" smtClean="0"/>
              <a:t>Respiratory tract infection</a:t>
            </a:r>
          </a:p>
          <a:p>
            <a:r>
              <a:rPr lang="en-US" cap="none" dirty="0" smtClean="0"/>
              <a:t>Impaired hepatic synthetic function</a:t>
            </a:r>
          </a:p>
          <a:p>
            <a:r>
              <a:rPr lang="en-US" cap="none" dirty="0" smtClean="0"/>
              <a:t>Impaired glomerular and tubular function</a:t>
            </a:r>
          </a:p>
          <a:p>
            <a:r>
              <a:rPr lang="en-US" cap="none" dirty="0" smtClean="0"/>
              <a:t>Loss of skin integrity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    </a:t>
            </a:r>
            <a:r>
              <a:rPr lang="en-US" sz="5335">
                <a:sym typeface="+mn-ea"/>
              </a:rPr>
              <a:t>Clinical manifestation</a:t>
            </a:r>
            <a:r>
              <a:rPr lang="en-US" sz="5335"/>
              <a:t/>
            </a:r>
            <a:br>
              <a:rPr lang="en-US" sz="5335"/>
            </a:br>
            <a:endParaRPr lang="en-US" sz="5335" dirty="0"/>
          </a:p>
        </p:txBody>
      </p:sp>
      <p:sp>
        <p:nvSpPr>
          <p:cNvPr id="1048619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284605"/>
            <a:ext cx="10515600" cy="4892675"/>
          </a:xfrm>
        </p:spPr>
        <p:txBody>
          <a:bodyPr>
            <a:normAutofit/>
          </a:bodyPr>
          <a:lstStyle/>
          <a:p>
            <a:r>
              <a:rPr lang="en-US" cap="none" dirty="0" smtClean="0"/>
              <a:t>Weight loss</a:t>
            </a:r>
          </a:p>
          <a:p>
            <a:r>
              <a:rPr lang="en-US" cap="none" dirty="0" smtClean="0"/>
              <a:t>Lack of appetite(anorexia)</a:t>
            </a:r>
          </a:p>
          <a:p>
            <a:r>
              <a:rPr lang="en-US" cap="none" dirty="0" smtClean="0"/>
              <a:t>Tiredness and irritability</a:t>
            </a:r>
          </a:p>
          <a:p>
            <a:r>
              <a:rPr lang="en-US" cap="none" dirty="0" smtClean="0"/>
              <a:t>Temperature change </a:t>
            </a:r>
          </a:p>
          <a:p>
            <a:r>
              <a:rPr lang="en-US" cap="none" dirty="0" smtClean="0"/>
              <a:t>Loss of fat, muscle mass, and body tissue </a:t>
            </a:r>
          </a:p>
          <a:p>
            <a:r>
              <a:rPr lang="en-US" cap="none" dirty="0" smtClean="0"/>
              <a:t>Depression</a:t>
            </a:r>
          </a:p>
          <a:p>
            <a:r>
              <a:rPr lang="en-US" cap="none" dirty="0" smtClean="0"/>
              <a:t>Bilateral pitting edema</a:t>
            </a:r>
          </a:p>
          <a:p>
            <a:r>
              <a:rPr lang="en-US" cap="none" dirty="0" smtClean="0"/>
              <a:t>Anemia</a:t>
            </a:r>
          </a:p>
          <a:p>
            <a:r>
              <a:rPr lang="en-US" cap="none" dirty="0" smtClean="0"/>
              <a:t>Change in alertness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Complications</a:t>
            </a:r>
          </a:p>
        </p:txBody>
      </p:sp>
      <p:sp>
        <p:nvSpPr>
          <p:cNvPr id="1048591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cap="none" dirty="0" smtClean="0"/>
              <a:t>Poor appetite</a:t>
            </a:r>
          </a:p>
          <a:p>
            <a:r>
              <a:rPr lang="en-US" cap="none" dirty="0" smtClean="0"/>
              <a:t>Intractable vomiting </a:t>
            </a:r>
          </a:p>
          <a:p>
            <a:r>
              <a:rPr lang="en-US" cap="none" dirty="0" smtClean="0"/>
              <a:t>Convulsions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/>
              <a:t>Lethargy</a:t>
            </a:r>
          </a:p>
          <a:p>
            <a:r>
              <a:rPr lang="en-US" cap="none" dirty="0" smtClean="0"/>
              <a:t>Unconsciousness</a:t>
            </a:r>
          </a:p>
          <a:p>
            <a:r>
              <a:rPr lang="en-US" cap="none" dirty="0" smtClean="0"/>
              <a:t>High fever (axillary temperature &gt;39 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 Box 0"/>
          <p:cNvSpPr txBox="1"/>
          <p:nvPr/>
        </p:nvSpPr>
        <p:spPr>
          <a:xfrm>
            <a:off x="6824443" y="4728845"/>
            <a:ext cx="3073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1800" cap="none" dirty="0" smtClean="0">
                <a:sym typeface="+mn-ea"/>
              </a:rPr>
              <a:t>Lower respiratory tract infection</a:t>
            </a:r>
            <a:endParaRPr lang="en-US" sz="1800" cap="none" dirty="0" smtClean="0"/>
          </a:p>
          <a:p>
            <a:r>
              <a:rPr lang="en-US" sz="1800" cap="none" dirty="0" smtClean="0">
                <a:sym typeface="+mn-ea"/>
              </a:rPr>
              <a:t>Dehydration</a:t>
            </a:r>
            <a:endParaRPr lang="en-US" sz="1800" cap="none" dirty="0" smtClean="0"/>
          </a:p>
          <a:p>
            <a:r>
              <a:rPr lang="en-US" sz="1800" cap="none" dirty="0" smtClean="0">
                <a:sym typeface="+mn-ea"/>
              </a:rPr>
              <a:t>Persistent </a:t>
            </a:r>
            <a:r>
              <a:rPr lang="en-US" sz="1800" cap="none" dirty="0" err="1" smtClean="0">
                <a:sym typeface="+mn-ea"/>
              </a:rPr>
              <a:t>diarrhoea</a:t>
            </a:r>
            <a:endParaRPr lang="en-US" sz="1800" cap="none" dirty="0" smtClean="0"/>
          </a:p>
          <a:p>
            <a:r>
              <a:rPr lang="en-US" sz="1800" cap="none" dirty="0" smtClean="0">
                <a:sym typeface="+mn-ea"/>
              </a:rPr>
              <a:t>Severe </a:t>
            </a:r>
            <a:r>
              <a:rPr lang="en-US" sz="1800" cap="none" dirty="0" err="1" smtClean="0">
                <a:sym typeface="+mn-ea"/>
              </a:rPr>
              <a:t>anaemia</a:t>
            </a:r>
            <a:endParaRPr lang="en-US" sz="1800" cap="none" dirty="0" smtClean="0"/>
          </a:p>
          <a:p>
            <a:r>
              <a:rPr lang="en-US" sz="1800" cap="none" dirty="0" err="1" smtClean="0">
                <a:sym typeface="+mn-ea"/>
              </a:rPr>
              <a:t>Hypoglycaemia</a:t>
            </a:r>
            <a:endParaRPr lang="en-US" sz="1800" cap="none" dirty="0" smtClean="0"/>
          </a:p>
          <a:p>
            <a:r>
              <a:rPr lang="en-US" sz="1800" cap="none" dirty="0" smtClean="0">
                <a:sym typeface="+mn-ea"/>
              </a:rPr>
              <a:t>Hypothermia (axillary temp. &lt; 35</a:t>
            </a:r>
            <a:r>
              <a:rPr lang="en-US" sz="1800" cap="none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⁰</a:t>
            </a:r>
            <a:r>
              <a:rPr lang="en-US" sz="1800" cap="none" dirty="0" smtClean="0">
                <a:sym typeface="+mn-ea"/>
              </a:rPr>
              <a:t>c)</a:t>
            </a:r>
            <a:endParaRPr lang="en-US" sz="1800" cap="none" dirty="0" smtClean="0"/>
          </a:p>
          <a:p>
            <a:r>
              <a:rPr lang="en-US" sz="1800" cap="none" dirty="0" smtClean="0">
                <a:sym typeface="+mn-ea"/>
              </a:rPr>
              <a:t>Severe skin lesions</a:t>
            </a:r>
            <a:endParaRPr lang="en-US" sz="1800" cap="none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104164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 smtClean="0">
                <a:sym typeface="+mn-ea"/>
              </a:rPr>
              <a:t> Kwashiorkor </a:t>
            </a:r>
            <a:r>
              <a:rPr lang="en-US" dirty="0" err="1" smtClean="0">
                <a:sym typeface="+mn-ea"/>
              </a:rPr>
              <a:t>vs</a:t>
            </a:r>
            <a:r>
              <a:rPr lang="en-US" dirty="0" smtClean="0"/>
              <a:t> Marasmus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22411500"/>
              </p:ext>
            </p:extLst>
          </p:nvPr>
        </p:nvGraphicFramePr>
        <p:xfrm>
          <a:off x="838200" y="1312983"/>
          <a:ext cx="10515600" cy="46775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22631"/>
                <a:gridCol w="5292969"/>
              </a:tblGrid>
              <a:tr h="381838">
                <a:tc>
                  <a:txBody>
                    <a:bodyPr/>
                    <a:lstStyle/>
                    <a:p>
                      <a:r>
                        <a:rPr lang="en-US" dirty="0" smtClean="0"/>
                        <a:t>Kwashiorkor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Marasmus</a:t>
                      </a:r>
                      <a:endParaRPr lang="en-US" dirty="0"/>
                    </a:p>
                  </a:txBody>
                  <a:tcPr/>
                </a:tc>
              </a:tr>
              <a:tr h="668215">
                <a:tc>
                  <a:txBody>
                    <a:bodyPr/>
                    <a:lstStyle/>
                    <a:p>
                      <a:r>
                        <a:rPr lang="en-US" dirty="0" smtClean="0"/>
                        <a:t>It develops in children whose diets are deficient of protein.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 is due to deficiency of protein and calories.</a:t>
                      </a:r>
                      <a:endParaRPr lang="en-US" dirty="0"/>
                    </a:p>
                  </a:txBody>
                  <a:tcPr/>
                </a:tc>
              </a:tr>
              <a:tr h="668215">
                <a:tc>
                  <a:txBody>
                    <a:bodyPr/>
                    <a:lstStyle/>
                    <a:p>
                      <a:r>
                        <a:rPr lang="en-US" dirty="0" smtClean="0"/>
                        <a:t>It occurs in children between 6 month and 3 years of 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 is common in infants under one year of age.</a:t>
                      </a:r>
                      <a:endParaRPr lang="en-US" dirty="0"/>
                    </a:p>
                  </a:txBody>
                  <a:tcPr/>
                </a:tc>
              </a:tr>
              <a:tr h="381838">
                <a:tc>
                  <a:txBody>
                    <a:bodyPr/>
                    <a:lstStyle/>
                    <a:p>
                      <a:r>
                        <a:rPr lang="en-US" dirty="0" smtClean="0"/>
                        <a:t>Subcutaneous fat is preserved.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Subcutaneous fat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is</a:t>
                      </a:r>
                      <a:r>
                        <a:rPr lang="en-US" baseline="0" dirty="0" smtClean="0"/>
                        <a:t> not preserved.</a:t>
                      </a:r>
                      <a:endParaRPr lang="en-US" dirty="0"/>
                    </a:p>
                  </a:txBody>
                  <a:tcPr/>
                </a:tc>
              </a:tr>
              <a:tr h="381838">
                <a:tc>
                  <a:txBody>
                    <a:bodyPr/>
                    <a:lstStyle/>
                    <a:p>
                      <a:r>
                        <a:rPr lang="en-US" dirty="0" smtClean="0"/>
                        <a:t>edema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/>
                        <a:t>is present.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Oedema</a:t>
                      </a:r>
                      <a:r>
                        <a:rPr lang="en-US" dirty="0" smtClean="0"/>
                        <a:t> is absent.</a:t>
                      </a:r>
                      <a:endParaRPr lang="en-US" dirty="0"/>
                    </a:p>
                  </a:txBody>
                  <a:tcPr/>
                </a:tc>
              </a:tr>
              <a:tr h="381838">
                <a:tc>
                  <a:txBody>
                    <a:bodyPr/>
                    <a:lstStyle/>
                    <a:p>
                      <a:r>
                        <a:rPr lang="en-US" dirty="0" smtClean="0"/>
                        <a:t>Ribs are not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very prominent.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Ribs become very prominent.</a:t>
                      </a:r>
                      <a:endParaRPr lang="en-US" dirty="0"/>
                    </a:p>
                  </a:txBody>
                  <a:tcPr/>
                </a:tc>
              </a:tr>
              <a:tr h="381838">
                <a:tc>
                  <a:txBody>
                    <a:bodyPr/>
                    <a:lstStyle/>
                    <a:p>
                      <a:r>
                        <a:rPr lang="en-US" dirty="0" smtClean="0"/>
                        <a:t>Lethargic.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Alert and irritable.</a:t>
                      </a:r>
                      <a:endParaRPr lang="en-US" dirty="0"/>
                    </a:p>
                  </a:txBody>
                  <a:tcPr/>
                </a:tc>
              </a:tr>
              <a:tr h="381838">
                <a:tc>
                  <a:txBody>
                    <a:bodyPr/>
                    <a:lstStyle/>
                    <a:p>
                      <a:r>
                        <a:rPr lang="en-US" dirty="0" smtClean="0"/>
                        <a:t>Muscle wasting mild or absent.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Severe muscle wasting.</a:t>
                      </a:r>
                      <a:endParaRPr lang="en-US" dirty="0"/>
                    </a:p>
                  </a:txBody>
                  <a:tcPr/>
                </a:tc>
              </a:tr>
              <a:tr h="381838">
                <a:tc>
                  <a:txBody>
                    <a:bodyPr/>
                    <a:lstStyle/>
                    <a:p>
                      <a:r>
                        <a:rPr lang="en-US" dirty="0" smtClean="0"/>
                        <a:t>Poor appetite.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Voracious feeder.</a:t>
                      </a:r>
                      <a:endParaRPr lang="en-US" dirty="0"/>
                    </a:p>
                  </a:txBody>
                  <a:tcPr/>
                </a:tc>
              </a:tr>
              <a:tr h="668215">
                <a:tc>
                  <a:txBody>
                    <a:bodyPr/>
                    <a:lstStyle/>
                    <a:p>
                      <a:r>
                        <a:rPr lang="en-US" dirty="0" smtClean="0"/>
                        <a:t>The person suffering</a:t>
                      </a:r>
                      <a:r>
                        <a:rPr lang="en-US" baseline="0" dirty="0" smtClean="0"/>
                        <a:t> from kwashiorkor needs adequate amount of protein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person suffering from</a:t>
                      </a:r>
                      <a:r>
                        <a:rPr lang="en-US" baseline="0" dirty="0" smtClean="0"/>
                        <a:t> marasmus needs adequate amount of protein, fat and carbohydrate.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Diagnosis</a:t>
            </a:r>
            <a:r>
              <a:rPr lang="en-US" altLang="en-GB" dirty="0"/>
              <a:t> </a:t>
            </a:r>
            <a:endParaRPr lang="zh-CN" altLang="en-US" dirty="0"/>
          </a:p>
        </p:txBody>
      </p:sp>
      <p:sp>
        <p:nvSpPr>
          <p:cNvPr id="1048612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453662"/>
            <a:ext cx="10515600" cy="4548553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/>
              <a:t>Triage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/>
              <a:t>Assess for bilateral pitting </a:t>
            </a:r>
            <a:r>
              <a:rPr lang="en-US" cap="none" dirty="0" err="1" smtClean="0"/>
              <a:t>oedema</a:t>
            </a:r>
            <a:endParaRPr lang="en-US" cap="none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/>
              <a:t>Measure MUAC or WFL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/>
              <a:t>Conduct RUTF appetite test for children 6-59 month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/>
              <a:t>Assess for recent weight loss or failure to gain weight and feeding in infants 0-6 month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/>
              <a:t>Check for medical complications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/>
              <a:t>Decide where to treat patients</a:t>
            </a:r>
            <a:endParaRPr lang="en-US" cap="non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Anthropometric Indicators of Nutritional Status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1048614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>
              <a:lnSpc>
                <a:spcPct val="200000"/>
              </a:lnSpc>
            </a:pPr>
            <a:r>
              <a:rPr lang="en-US" dirty="0"/>
              <a:t>Weight for age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Weight for height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Height for age 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MUAC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838199" y="-386861"/>
            <a:ext cx="10556631" cy="1910862"/>
          </a:xfrm>
        </p:spPr>
        <p:txBody>
          <a:bodyPr/>
          <a:lstStyle/>
          <a:p>
            <a:pPr algn="ct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048616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160780"/>
            <a:ext cx="10462846" cy="1706245"/>
          </a:xfrm>
        </p:spPr>
        <p:txBody>
          <a:bodyPr>
            <a:noAutofit/>
          </a:bodyPr>
          <a:lstStyle/>
          <a:p>
            <a:r>
              <a:rPr lang="en-GB" altLang="en-US" sz="1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% </a:t>
            </a:r>
            <a:r>
              <a:rPr lang="en-US" altLang="ar-SA" sz="1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Weight for height = ((weight of patient) / (weight of a normal child </a:t>
            </a:r>
            <a:r>
              <a:rPr lang="en-US" altLang="ar-SA" sz="19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of the same height))*100 </a:t>
            </a:r>
            <a:r>
              <a:rPr lang="en-US" altLang="ar-SA" sz="1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						</a:t>
            </a:r>
          </a:p>
          <a:p>
            <a:endParaRPr lang="en-US" altLang="ar-SA" sz="19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r>
              <a:rPr lang="en-US" altLang="ar-SA" sz="1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% Height for age = ((height of patient) / </a:t>
            </a:r>
            <a:r>
              <a:rPr lang="en-US" altLang="ar-SA" sz="19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(height </a:t>
            </a:r>
            <a:r>
              <a:rPr lang="en-US" altLang="ar-SA" sz="1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of a normal child of </a:t>
            </a:r>
            <a:r>
              <a:rPr lang="en-US" altLang="ar-SA" sz="19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the same age))*100</a:t>
            </a:r>
            <a:endParaRPr lang="en-US" altLang="ar-SA" sz="19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0" indent="0">
              <a:buNone/>
            </a:pPr>
            <a:r>
              <a:rPr lang="en-US" altLang="ar-SA" sz="1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						</a:t>
            </a:r>
          </a:p>
        </p:txBody>
      </p:sp>
      <p:sp>
        <p:nvSpPr>
          <p:cNvPr id="1048617" name="Content Placeholder 2"/>
          <p:cNvSpPr txBox="1"/>
          <p:nvPr/>
        </p:nvSpPr>
        <p:spPr>
          <a:xfrm>
            <a:off x="609600" y="3232597"/>
            <a:ext cx="10972800" cy="26670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6429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 baseline="0">
                <a:solidFill>
                  <a:schemeClr val="tx1"/>
                </a:solidFill>
                <a:latin typeface="Gotham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 baseline="0">
                <a:solidFill>
                  <a:schemeClr val="tx1"/>
                </a:solidFill>
                <a:latin typeface="Gotham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 baseline="0">
                <a:solidFill>
                  <a:schemeClr val="tx1"/>
                </a:solidFill>
                <a:latin typeface="Gotham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 baseline="0">
                <a:solidFill>
                  <a:schemeClr val="tx1"/>
                </a:solidFill>
                <a:latin typeface="Gotham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 baseline="0">
                <a:solidFill>
                  <a:schemeClr val="tx1"/>
                </a:solidFill>
                <a:latin typeface="Gotham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Arial" panose="020B0604020202020204"/>
              <a:buNone/>
            </a:pPr>
            <a:r>
              <a:rPr lang="en-US" altLang="ar-SA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endParaRPr lang="en-US" altLang="ar-SA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609969" y="3282462"/>
          <a:ext cx="8127999" cy="26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9662"/>
                <a:gridCol w="2949004"/>
                <a:gridCol w="2709333"/>
              </a:tblGrid>
              <a:tr h="799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Weight for height</a:t>
                      </a:r>
                    </a:p>
                    <a:p>
                      <a:r>
                        <a:rPr lang="en-US" dirty="0" smtClean="0"/>
                        <a:t>(wasting)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Height for age</a:t>
                      </a:r>
                    </a:p>
                    <a:p>
                      <a:r>
                        <a:rPr lang="en-US" dirty="0" smtClean="0"/>
                        <a:t>(stunting)</a:t>
                      </a:r>
                      <a:endParaRPr lang="en-US" dirty="0"/>
                    </a:p>
                  </a:txBody>
                  <a:tcPr/>
                </a:tc>
              </a:tr>
              <a:tr h="454334">
                <a:tc>
                  <a:txBody>
                    <a:bodyPr/>
                    <a:lstStyle/>
                    <a:p>
                      <a:r>
                        <a:rPr lang="en-US" dirty="0" smtClean="0"/>
                        <a:t>Normal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&gt;90 %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&gt;95%  </a:t>
                      </a:r>
                      <a:endParaRPr lang="en-US" dirty="0"/>
                    </a:p>
                  </a:txBody>
                  <a:tcPr/>
                </a:tc>
              </a:tr>
              <a:tr h="454334">
                <a:tc>
                  <a:txBody>
                    <a:bodyPr/>
                    <a:lstStyle/>
                    <a:p>
                      <a:r>
                        <a:rPr lang="en-US" dirty="0" smtClean="0"/>
                        <a:t>Mild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80-90%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90-95%</a:t>
                      </a:r>
                      <a:endParaRPr lang="en-US" dirty="0"/>
                    </a:p>
                  </a:txBody>
                  <a:tcPr/>
                </a:tc>
              </a:tr>
              <a:tr h="454334">
                <a:tc>
                  <a:txBody>
                    <a:bodyPr/>
                    <a:lstStyle/>
                    <a:p>
                      <a:r>
                        <a:rPr lang="en-US" dirty="0" smtClean="0"/>
                        <a:t>Moderate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70-80%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85-90%</a:t>
                      </a:r>
                      <a:endParaRPr lang="en-US" dirty="0"/>
                    </a:p>
                  </a:txBody>
                  <a:tcPr/>
                </a:tc>
              </a:tr>
              <a:tr h="454334">
                <a:tc>
                  <a:txBody>
                    <a:bodyPr/>
                    <a:lstStyle/>
                    <a:p>
                      <a:r>
                        <a:rPr lang="en-US" dirty="0" smtClean="0"/>
                        <a:t>Severe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&lt;70%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&lt;85%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048610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Children with SAM have very low weight-for-height/length </a:t>
            </a:r>
            <a:r>
              <a:rPr lang="en-US" dirty="0" smtClean="0"/>
              <a:t>&lt;</a:t>
            </a:r>
            <a:r>
              <a:rPr lang="en-US" dirty="0" smtClean="0"/>
              <a:t>- 3SD</a:t>
            </a:r>
            <a:r>
              <a:rPr lang="en-US" dirty="0" smtClean="0"/>
              <a:t>, </a:t>
            </a:r>
            <a:endParaRPr lang="en-US" dirty="0"/>
          </a:p>
          <a:p>
            <a:r>
              <a:rPr lang="en-US" dirty="0"/>
              <a:t>mid-upper arm circumference </a:t>
            </a:r>
            <a:r>
              <a:rPr lang="en-US" dirty="0" smtClean="0"/>
              <a:t>&lt;115 </a:t>
            </a:r>
            <a:r>
              <a:rPr lang="en-US" dirty="0"/>
              <a:t>mm, or by the presence of nutritional edema. </a:t>
            </a:r>
            <a:endParaRPr lang="en-US" dirty="0" smtClean="0"/>
          </a:p>
          <a:p>
            <a:r>
              <a:rPr lang="en-US" dirty="0" smtClean="0"/>
              <a:t>Children </a:t>
            </a:r>
            <a:r>
              <a:rPr lang="en-US" dirty="0"/>
              <a:t>with SAM with loss of appetite or any medical complication have complicated severe acute malnutrition and should be admitted for inpatient care.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Children </a:t>
            </a:r>
            <a:r>
              <a:rPr lang="en-US" dirty="0"/>
              <a:t>who have a good appetite and no medical </a:t>
            </a:r>
            <a:r>
              <a:rPr lang="en-US" dirty="0" smtClean="0"/>
              <a:t> complications </a:t>
            </a:r>
            <a:r>
              <a:rPr lang="en-US" dirty="0"/>
              <a:t>can be managed as out-patients. 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9715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963" y="365129"/>
            <a:ext cx="10118501" cy="5550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Admission procedure for children </a:t>
            </a:r>
            <a:br>
              <a:rPr lang="en-US"/>
            </a:br>
            <a:r>
              <a:rPr lang="en-US"/>
              <a:t>6-59month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825625"/>
            <a:ext cx="10515600" cy="41306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Triage</a:t>
            </a:r>
          </a:p>
          <a:p>
            <a:pPr>
              <a:buFont typeface="Wingdings" panose="05000000000000000000" charset="0"/>
              <a:buChar char="ü"/>
            </a:pPr>
            <a:r>
              <a:rPr lang="en-US"/>
              <a:t>Antropometric measurement to confirm nutritional status</a:t>
            </a:r>
          </a:p>
          <a:p>
            <a:pPr>
              <a:buFont typeface="Wingdings" panose="05000000000000000000" charset="0"/>
              <a:buChar char="ü"/>
            </a:pPr>
            <a:r>
              <a:rPr lang="en-US"/>
              <a:t>Conduct RUTF appetite test </a:t>
            </a:r>
          </a:p>
          <a:p>
            <a:pPr>
              <a:buFont typeface="Wingdings" panose="05000000000000000000" charset="0"/>
              <a:buChar char="ü"/>
            </a:pPr>
            <a:r>
              <a:rPr lang="en-US"/>
              <a:t>Conduct medical assesment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ym typeface="+mn-ea"/>
              </a:rPr>
              <a:t>Appetite test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48644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238250"/>
            <a:ext cx="10515600" cy="4939030"/>
          </a:xfrm>
        </p:spPr>
        <p:txBody>
          <a:bodyPr>
            <a:normAutofit fontScale="96429"/>
          </a:bodyPr>
          <a:lstStyle/>
          <a:p>
            <a:pPr>
              <a:lnSpc>
                <a:spcPct val="150000"/>
              </a:lnSpc>
            </a:pPr>
            <a:r>
              <a:rPr lang="en-US" cap="none" dirty="0" smtClean="0"/>
              <a:t>Even though the definition and identification of SAM is by anthropometric measurements, it is mainly the metabolic malnutrition that causes death.  </a:t>
            </a:r>
          </a:p>
          <a:p>
            <a:pPr>
              <a:lnSpc>
                <a:spcPct val="150000"/>
              </a:lnSpc>
            </a:pPr>
            <a:r>
              <a:rPr lang="en-US" cap="none" dirty="0" smtClean="0"/>
              <a:t>Often the only sign of severe metabolic malnutrition is a reduction in appetite.  </a:t>
            </a:r>
          </a:p>
          <a:p>
            <a:pPr>
              <a:lnSpc>
                <a:spcPct val="150000"/>
              </a:lnSpc>
            </a:pPr>
            <a:r>
              <a:rPr lang="en-US" cap="none" dirty="0" smtClean="0"/>
              <a:t>The most important criterion to decide if a patient should be sent to in or out patient management is the </a:t>
            </a:r>
            <a:r>
              <a:rPr lang="en-US" b="1" cap="none" dirty="0" smtClean="0"/>
              <a:t>appetite test</a:t>
            </a:r>
            <a:r>
              <a:rPr lang="en-US" cap="none" dirty="0" smtClean="0"/>
              <a:t>.  </a:t>
            </a:r>
          </a:p>
          <a:p>
            <a:endParaRPr lang="en-US" cap="none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cont...</a:t>
            </a:r>
          </a:p>
        </p:txBody>
      </p:sp>
      <p:sp>
        <p:nvSpPr>
          <p:cNvPr id="1048656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421765"/>
            <a:ext cx="10515600" cy="4486275"/>
          </a:xfrm>
        </p:spPr>
        <p:txBody>
          <a:bodyPr>
            <a:normAutofit fontScale="42857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4665" cap="none" dirty="0" smtClean="0"/>
              <a:t> </a:t>
            </a:r>
            <a:r>
              <a:rPr lang="en-US" sz="4665" b="1" cap="none" dirty="0" smtClean="0"/>
              <a:t>How to do appetite test:</a:t>
            </a:r>
          </a:p>
          <a:p>
            <a:pPr marL="0" indent="0">
              <a:buNone/>
            </a:pPr>
            <a:r>
              <a:rPr lang="en-US" cap="none" dirty="0" smtClean="0"/>
              <a:t>    - </a:t>
            </a:r>
            <a:r>
              <a:rPr lang="en-US" sz="4455" cap="none" dirty="0" smtClean="0"/>
              <a:t>Do the test in a separate quiet area </a:t>
            </a:r>
          </a:p>
          <a:p>
            <a:pPr marL="0" indent="0">
              <a:buNone/>
            </a:pPr>
            <a:r>
              <a:rPr lang="en-US" sz="4455" cap="none" dirty="0" smtClean="0"/>
              <a:t>    - explain to the mother/caregiver how the test will be done,</a:t>
            </a:r>
          </a:p>
          <a:p>
            <a:pPr marL="0" indent="0">
              <a:buNone/>
            </a:pPr>
            <a:r>
              <a:rPr lang="en-US" sz="4455" cap="none" dirty="0" smtClean="0"/>
              <a:t>    -The mother/caregiver should wash her hands,</a:t>
            </a:r>
          </a:p>
          <a:p>
            <a:pPr marL="0" indent="0">
              <a:buNone/>
            </a:pPr>
            <a:r>
              <a:rPr lang="en-US" sz="4455" cap="none" dirty="0" smtClean="0"/>
              <a:t>    - The mother sits comfortably with the child on her lap and offers therapeutic food,</a:t>
            </a:r>
          </a:p>
          <a:p>
            <a:pPr marL="0" indent="0">
              <a:buNone/>
            </a:pPr>
            <a:r>
              <a:rPr lang="en-US" sz="4455" cap="none" dirty="0" smtClean="0"/>
              <a:t>    - The child shouldn’t have taken any food for the last 2 </a:t>
            </a:r>
            <a:r>
              <a:rPr lang="en-US" sz="4455" cap="none" dirty="0" err="1" smtClean="0"/>
              <a:t>hrs</a:t>
            </a:r>
            <a:r>
              <a:rPr lang="en-US" sz="4455" cap="none" dirty="0" smtClean="0"/>
              <a:t>,</a:t>
            </a:r>
          </a:p>
          <a:p>
            <a:pPr marL="0" indent="0">
              <a:buNone/>
            </a:pPr>
            <a:r>
              <a:rPr lang="en-US" sz="4455" cap="none" dirty="0" smtClean="0"/>
              <a:t>    - The test usually takes a short time but may take up to one </a:t>
            </a:r>
            <a:r>
              <a:rPr lang="en-US" sz="4455" cap="none" dirty="0" err="1" smtClean="0"/>
              <a:t>hr</a:t>
            </a:r>
            <a:r>
              <a:rPr lang="en-US" sz="4455" cap="none" dirty="0" smtClean="0"/>
              <a:t>,</a:t>
            </a:r>
          </a:p>
          <a:p>
            <a:pPr marL="0" indent="0">
              <a:buNone/>
            </a:pPr>
            <a:r>
              <a:rPr lang="en-US" sz="4455" cap="none" dirty="0" smtClean="0"/>
              <a:t>    -The child must not be forced to take the food offered,</a:t>
            </a:r>
          </a:p>
          <a:p>
            <a:pPr marL="0" indent="0">
              <a:buNone/>
            </a:pPr>
            <a:r>
              <a:rPr lang="en-US" sz="4455" cap="none" dirty="0" smtClean="0"/>
              <a:t>    -When the child has finished, the amount taken is judged/ measured.</a:t>
            </a:r>
          </a:p>
          <a:p>
            <a:pPr marL="0" indent="0">
              <a:buNone/>
            </a:pPr>
            <a:r>
              <a:rPr lang="en-US" sz="4455" cap="none" dirty="0" smtClean="0"/>
              <a:t>     </a:t>
            </a:r>
            <a:endParaRPr lang="en-US" sz="445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Treatment for OTP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 smtClean="0"/>
              <a:t>10% sugar water solution to prevent hypoglycemia,</a:t>
            </a:r>
          </a:p>
          <a:p>
            <a:r>
              <a:rPr lang="en-US" cap="none" dirty="0" smtClean="0"/>
              <a:t>RUTF depending on the weight of the child,</a:t>
            </a:r>
          </a:p>
          <a:p>
            <a:r>
              <a:rPr lang="en-US" cap="none" dirty="0" smtClean="0"/>
              <a:t>Amoxicillin,</a:t>
            </a:r>
          </a:p>
          <a:p>
            <a:r>
              <a:rPr lang="en-US" cap="none" dirty="0" smtClean="0"/>
              <a:t>De-worming tabs,</a:t>
            </a:r>
          </a:p>
          <a:p>
            <a:r>
              <a:rPr lang="en-US" cap="none" dirty="0" smtClean="0"/>
              <a:t>Measles vaccine if patient is 9-59 month.</a:t>
            </a:r>
            <a:endParaRPr lang="en-US" cap="none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for SC patient </a:t>
            </a:r>
          </a:p>
        </p:txBody>
      </p:sp>
      <p:sp>
        <p:nvSpPr>
          <p:cNvPr id="1048646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cap="none" dirty="0" smtClean="0"/>
              <a:t>It’s separated into 3 phases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cap="none" dirty="0" smtClean="0"/>
              <a:t>Stabilization phase</a:t>
            </a:r>
          </a:p>
          <a:p>
            <a:r>
              <a:rPr lang="en-US" cap="none" dirty="0" smtClean="0"/>
              <a:t>It’s aim is to repair cellular function, correct fluid and electrolyte imbalance, restore homeostasis.</a:t>
            </a:r>
          </a:p>
          <a:p>
            <a:r>
              <a:rPr lang="en-US" cap="none" dirty="0" smtClean="0"/>
              <a:t>Stabilized first by following 10 steps m/m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/>
              <a:t>Lasts for 1-2 days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/>
              <a:t>The feeding formula(f-75) is starter diet which promotes recovery of normal metabolic function and nutrition and electrolyte balance .</a:t>
            </a:r>
            <a:endParaRPr lang="en-US" cap="none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048648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b="1" cap="none" dirty="0" smtClean="0"/>
              <a:t>Transition phase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cap="none" dirty="0" smtClean="0"/>
              <a:t>The child moves to transition phase when there is</a:t>
            </a:r>
          </a:p>
          <a:p>
            <a:pPr lvl="1">
              <a:buFont typeface="Wingdings" panose="05000000000000000000" charset="0"/>
              <a:buChar char="ü"/>
            </a:pPr>
            <a:r>
              <a:rPr lang="en-US" b="1" cap="none" dirty="0" err="1" smtClean="0"/>
              <a:t>Atleast</a:t>
            </a:r>
            <a:r>
              <a:rPr lang="en-US" b="1" cap="none" dirty="0" smtClean="0"/>
              <a:t> the beginning of loss of </a:t>
            </a:r>
            <a:r>
              <a:rPr lang="en-US" b="1" cap="none" dirty="0" err="1" smtClean="0"/>
              <a:t>oedema</a:t>
            </a:r>
            <a:endParaRPr lang="en-US" b="1" cap="none" dirty="0" smtClean="0"/>
          </a:p>
          <a:p>
            <a:pPr lvl="1">
              <a:buFont typeface="Wingdings" panose="05000000000000000000" charset="0"/>
              <a:buChar char="ü"/>
            </a:pPr>
            <a:r>
              <a:rPr lang="en-US" b="1" cap="none" dirty="0" smtClean="0"/>
              <a:t>Return of appetite</a:t>
            </a:r>
          </a:p>
          <a:p>
            <a:pPr lvl="1">
              <a:buFont typeface="Wingdings" panose="05000000000000000000" charset="0"/>
              <a:buChar char="ü"/>
            </a:pPr>
            <a:r>
              <a:rPr lang="en-US" b="1" cap="none" dirty="0" smtClean="0"/>
              <a:t>Is alert and active</a:t>
            </a:r>
          </a:p>
          <a:p>
            <a:pPr lvl="1">
              <a:buFont typeface="Wingdings" panose="05000000000000000000" charset="0"/>
              <a:buChar char="ü"/>
            </a:pPr>
            <a:endParaRPr lang="en-US" b="1" cap="none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7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cap="none" dirty="0" smtClean="0">
                <a:sym typeface="+mn-ea"/>
              </a:rPr>
              <a:t>Lasts for 3-7 days</a:t>
            </a:r>
            <a:endParaRPr lang="en-US" cap="none" dirty="0" smtClean="0"/>
          </a:p>
          <a:p>
            <a:r>
              <a:rPr lang="en-US" cap="none" dirty="0" smtClean="0">
                <a:sym typeface="+mn-ea"/>
              </a:rPr>
              <a:t>It is intended to ensure that the child is clinically stable and can tolerate an increased energy and protein intake </a:t>
            </a:r>
            <a:endParaRPr lang="en-US" cap="none" dirty="0" smtClean="0"/>
          </a:p>
          <a:p>
            <a:r>
              <a:rPr lang="en-US" cap="none" dirty="0" smtClean="0">
                <a:sym typeface="+mn-ea"/>
              </a:rPr>
              <a:t>The only difference in this phase is the change in type of diet</a:t>
            </a:r>
            <a:endParaRPr lang="en-US" cap="none" dirty="0" smtClean="0"/>
          </a:p>
          <a:p>
            <a:pPr marL="0" indent="0">
              <a:buNone/>
            </a:pPr>
            <a:r>
              <a:rPr lang="en-US" cap="none" dirty="0" smtClean="0">
                <a:sym typeface="+mn-ea"/>
              </a:rPr>
              <a:t>      </a:t>
            </a:r>
            <a:r>
              <a:rPr lang="en-US" b="1" cap="none" dirty="0" smtClean="0">
                <a:sym typeface="+mn-ea"/>
              </a:rPr>
              <a:t>- </a:t>
            </a:r>
            <a:r>
              <a:rPr lang="en-US" cap="none" dirty="0" smtClean="0">
                <a:sym typeface="+mn-ea"/>
              </a:rPr>
              <a:t>Gradual transition from starter diet(f-75) to catch up diet(f 100)</a:t>
            </a:r>
            <a:endParaRPr lang="en-US" cap="none" dirty="0" smtClean="0"/>
          </a:p>
          <a:p>
            <a:pPr marL="0" indent="0">
              <a:buNone/>
            </a:pPr>
            <a:r>
              <a:rPr lang="en-US" cap="none" dirty="0" smtClean="0">
                <a:sym typeface="+mn-ea"/>
              </a:rPr>
              <a:t>     </a:t>
            </a:r>
            <a:r>
              <a:rPr lang="en-US" b="1" cap="none" dirty="0" smtClean="0">
                <a:sym typeface="+mn-ea"/>
              </a:rPr>
              <a:t> - </a:t>
            </a:r>
            <a:r>
              <a:rPr lang="en-US" cap="none" dirty="0" smtClean="0">
                <a:sym typeface="+mn-ea"/>
              </a:rPr>
              <a:t>Quantity of catch up diet (F 100) given is equal to the quantity of starter diet given in stabilization phase.</a:t>
            </a:r>
            <a:r>
              <a:rPr lang="en-US" b="1" cap="none" dirty="0" smtClean="0">
                <a:sym typeface="+mn-ea"/>
              </a:rPr>
              <a:t>         </a:t>
            </a:r>
            <a:endParaRPr lang="en-US" b="1" cap="none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1048650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200785"/>
            <a:ext cx="10515600" cy="49764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cap="none" dirty="0" smtClean="0"/>
              <a:t>Rehabilitation phase </a:t>
            </a:r>
          </a:p>
          <a:p>
            <a:r>
              <a:rPr lang="en-US" cap="none" dirty="0" smtClean="0"/>
              <a:t>The child progress to rehabilitation phase when:</a:t>
            </a:r>
          </a:p>
          <a:p>
            <a:pPr lvl="1"/>
            <a:r>
              <a:rPr lang="en-US" cap="none" dirty="0" smtClean="0"/>
              <a:t>Has reasonable appetite finishes &gt;90% of feed that is given without significant pause</a:t>
            </a:r>
          </a:p>
          <a:p>
            <a:pPr lvl="1"/>
            <a:r>
              <a:rPr lang="en-US" cap="none" dirty="0" smtClean="0"/>
              <a:t>Major reduction or loss of edema</a:t>
            </a:r>
          </a:p>
          <a:p>
            <a:pPr lvl="1"/>
            <a:r>
              <a:rPr lang="en-US" cap="none" dirty="0" smtClean="0"/>
              <a:t>No other medical complication </a:t>
            </a:r>
          </a:p>
          <a:p>
            <a:pPr lvl="0"/>
            <a:r>
              <a:rPr lang="en-US" cap="none" dirty="0" smtClean="0">
                <a:sym typeface="+mn-ea"/>
              </a:rPr>
              <a:t>It’s aim is to promote rapid weight </a:t>
            </a:r>
            <a:r>
              <a:rPr lang="en-US" cap="none" dirty="0" err="1" smtClean="0">
                <a:sym typeface="+mn-ea"/>
              </a:rPr>
              <a:t>gain,stimulate</a:t>
            </a:r>
            <a:r>
              <a:rPr lang="en-US" cap="none" dirty="0" smtClean="0">
                <a:sym typeface="+mn-ea"/>
              </a:rPr>
              <a:t> emotional and </a:t>
            </a:r>
            <a:r>
              <a:rPr lang="en-US" cap="none" dirty="0" err="1" smtClean="0">
                <a:sym typeface="+mn-ea"/>
              </a:rPr>
              <a:t>phyiscal</a:t>
            </a:r>
            <a:r>
              <a:rPr lang="en-US" cap="none" dirty="0" smtClean="0">
                <a:sym typeface="+mn-ea"/>
              </a:rPr>
              <a:t> development and prepare the child to start normal feeding at home.</a:t>
            </a:r>
            <a:endParaRPr lang="en-US" cap="non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cap="none" dirty="0" smtClean="0">
                <a:sym typeface="+mn-ea"/>
              </a:rPr>
              <a:t> </a:t>
            </a:r>
            <a:endParaRPr lang="en-US" cap="none" dirty="0" smtClean="0"/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048652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Pushing ahead too quickly induce risks such as “</a:t>
            </a:r>
            <a:r>
              <a:rPr lang="en-US" b="1" dirty="0" err="1"/>
              <a:t>refeeding</a:t>
            </a:r>
            <a:r>
              <a:rPr lang="en-US" b="1" dirty="0"/>
              <a:t> syndrome</a:t>
            </a:r>
            <a:r>
              <a:rPr lang="en-US" dirty="0"/>
              <a:t>.” It is a fatal shift in fluid and electrolyte that may occur in malnourished patient receiving artificially </a:t>
            </a:r>
            <a:r>
              <a:rPr lang="en-US" dirty="0" err="1"/>
              <a:t>refeeding</a:t>
            </a:r>
            <a:r>
              <a:rPr lang="en-US" dirty="0"/>
              <a:t>. It is characterized by fatigue, weakness, confusion, high BP, irregular heart beat and difficulty in breathing.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5785"/>
          </a:xfrm>
        </p:spPr>
        <p:txBody>
          <a:bodyPr>
            <a:normAutofit fontScale="90000"/>
          </a:bodyPr>
          <a:lstStyle/>
          <a:p>
            <a:r>
              <a:rPr lang="en-US"/>
              <a:t>10 steps managment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</p:nvPr>
        </p:nvGraphicFramePr>
        <p:xfrm>
          <a:off x="838200" y="926465"/>
          <a:ext cx="10515600" cy="55175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86685"/>
                <a:gridCol w="2542540"/>
                <a:gridCol w="2657475"/>
                <a:gridCol w="2628900"/>
              </a:tblGrid>
              <a:tr h="939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 step </a:t>
                      </a:r>
                      <a:r>
                        <a:rPr lang="en-US" dirty="0" smtClean="0"/>
                        <a:t>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Stabilization</a:t>
                      </a:r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Day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Transition</a:t>
                      </a:r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Day 3-7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Rehabilitation</a:t>
                      </a:r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weeks 2-6</a:t>
                      </a:r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1.Hypoglycemia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2.Hypothermia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3.Dehydration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4.Electrolyte imbalance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5.Infection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6.Micronutrient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                  no 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                     with 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7.Initiate feeding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8.Catch up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9.Sensory stimulation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10.Prepare for follow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 flipV="1">
            <a:off x="3555365" y="1394460"/>
            <a:ext cx="7783195" cy="9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709035" y="2154555"/>
            <a:ext cx="203962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737610" y="2539365"/>
            <a:ext cx="2011045" cy="1905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728085" y="3001010"/>
            <a:ext cx="2039620" cy="1016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780155" y="3482340"/>
            <a:ext cx="6552565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790315" y="3924935"/>
            <a:ext cx="3395980" cy="1905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703320" y="4396105"/>
            <a:ext cx="856615" cy="10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271770" y="4358005"/>
            <a:ext cx="19532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100060" y="4386580"/>
            <a:ext cx="2222500" cy="196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761105" y="4829175"/>
            <a:ext cx="3463925" cy="292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830820" y="5281295"/>
            <a:ext cx="2463165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761105" y="5723890"/>
            <a:ext cx="6532880" cy="292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917815" y="6214745"/>
            <a:ext cx="2347595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SC Admission Criteria for Infants 0-6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cap="none" dirty="0" smtClean="0"/>
              <a:t>Any grade of bilateral pitting edema (+, ++ or +++) </a:t>
            </a:r>
          </a:p>
          <a:p>
            <a:r>
              <a:rPr lang="en-US" cap="none" dirty="0" smtClean="0"/>
              <a:t> WFL &lt; -3 z score</a:t>
            </a:r>
          </a:p>
          <a:p>
            <a:r>
              <a:rPr lang="en-US" cap="none" dirty="0" smtClean="0"/>
              <a:t> Recent weight loss or failure to gain weight</a:t>
            </a:r>
          </a:p>
          <a:p>
            <a:r>
              <a:rPr lang="en-US" cap="none" dirty="0" smtClean="0"/>
              <a:t> Ineffective feeding</a:t>
            </a:r>
          </a:p>
          <a:p>
            <a:r>
              <a:rPr lang="en-US" cap="none" dirty="0" smtClean="0"/>
              <a:t> Presence of any medical complications</a:t>
            </a:r>
            <a:endParaRPr lang="en-US" cap="none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6862"/>
            <a:ext cx="10515600" cy="12192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Management of the Breastfed Infant 0-6 Months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817077"/>
            <a:ext cx="10515600" cy="4359886"/>
          </a:xfrm>
        </p:spPr>
        <p:txBody>
          <a:bodyPr>
            <a:normAutofit fontScale="97500"/>
          </a:bodyPr>
          <a:lstStyle/>
          <a:p>
            <a:r>
              <a:rPr lang="en-US" cap="none" dirty="0" smtClean="0"/>
              <a:t> Prioritize re-establishing effective exclusive breastfeeding.</a:t>
            </a:r>
          </a:p>
          <a:p>
            <a:pPr marL="0" indent="0">
              <a:buNone/>
            </a:pPr>
            <a:r>
              <a:rPr lang="en-US" cap="none" dirty="0" smtClean="0"/>
              <a:t>                Dietary treatment</a:t>
            </a:r>
          </a:p>
          <a:p>
            <a:pPr lvl="1"/>
            <a:r>
              <a:rPr lang="en-US" cap="none" dirty="0" smtClean="0"/>
              <a:t>The objective is to supplement the child’s breastfeeding with therapeutic milk while stimulating breast milk production. </a:t>
            </a:r>
          </a:p>
          <a:p>
            <a:pPr lvl="1"/>
            <a:r>
              <a:rPr lang="en-US" cap="none" dirty="0" smtClean="0"/>
              <a:t> The infant should be breastfed as frequently as possible.  Between 30 minutes and 1 hour after a normal breastfeeding session, give maintenance amounts of therapeutic milk.</a:t>
            </a:r>
          </a:p>
          <a:p>
            <a:pPr lvl="1"/>
            <a:r>
              <a:rPr lang="en-US" cap="none" dirty="0" smtClean="0"/>
              <a:t> Give f-100-diluted to breastfed infants without bilateral pitting edema.  Give F-75 to infants with bilateral pitting edema and change to f-100-diluted when the edema is resolved. </a:t>
            </a:r>
          </a:p>
          <a:p>
            <a:pPr lvl="1"/>
            <a:r>
              <a:rPr lang="en-US" cap="none" dirty="0" smtClean="0"/>
              <a:t> Never give full strength f-100 to infants 0-6 months old.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 </a:t>
            </a:r>
            <a:r>
              <a:rPr lang="en-US" cap="none" dirty="0" smtClean="0">
                <a:sym typeface="+mn-ea"/>
              </a:rPr>
              <a:t>Promote and support the mother or caregiver to breastfeed.</a:t>
            </a:r>
            <a:endParaRPr lang="en-US" cap="none" dirty="0" smtClean="0"/>
          </a:p>
          <a:p>
            <a:r>
              <a:rPr lang="en-US" cap="none" dirty="0" smtClean="0">
                <a:sym typeface="+mn-ea"/>
              </a:rPr>
              <a:t> Assess the physical and mental health status of mothers or caregivers and provide relevant treatment and support.</a:t>
            </a:r>
            <a:endParaRPr lang="en-US" cap="none" dirty="0" smtClean="0"/>
          </a:p>
          <a:p>
            <a:r>
              <a:rPr lang="en-US" cap="none" dirty="0" smtClean="0">
                <a:sym typeface="+mn-ea"/>
              </a:rPr>
              <a:t>Routine medicines and supplements.</a:t>
            </a:r>
            <a:endParaRPr lang="en-US" cap="none" dirty="0" smtClean="0"/>
          </a:p>
          <a:p>
            <a:r>
              <a:rPr lang="en-US" cap="none" dirty="0" smtClean="0">
                <a:sym typeface="+mn-ea"/>
              </a:rPr>
              <a:t>Broad-spectrum antibiotics.</a:t>
            </a:r>
            <a:endParaRPr lang="en-US" cap="none" dirty="0" smtClean="0"/>
          </a:p>
          <a:p>
            <a:r>
              <a:rPr lang="en-US" cap="none" dirty="0" smtClean="0">
                <a:sym typeface="+mn-ea"/>
              </a:rPr>
              <a:t> Provide daily doses of iron syrup orally.</a:t>
            </a:r>
            <a:endParaRPr lang="en-US" cap="none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ym typeface="+mn-ea"/>
              </a:rPr>
              <a:t>Discharge criteria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cap="none" dirty="0" smtClean="0"/>
              <a:t>Successful re-lactation and effective breastfeeding has been achieved. </a:t>
            </a:r>
          </a:p>
          <a:p>
            <a:r>
              <a:rPr lang="en-US" cap="none" dirty="0" smtClean="0"/>
              <a:t> Gaining weight on exclusive breastfeeding (</a:t>
            </a:r>
            <a:r>
              <a:rPr lang="en-US" cap="none" dirty="0" err="1" smtClean="0"/>
              <a:t>i.E.</a:t>
            </a:r>
            <a:r>
              <a:rPr lang="en-US" cap="none" dirty="0" smtClean="0"/>
              <a:t>, More than 5 g/kg/day for at least 3 successive days).</a:t>
            </a:r>
          </a:p>
          <a:p>
            <a:r>
              <a:rPr lang="en-US" cap="none" dirty="0" smtClean="0"/>
              <a:t> No bilateral pitting </a:t>
            </a:r>
            <a:r>
              <a:rPr lang="en-US" cap="none" dirty="0" err="1" smtClean="0"/>
              <a:t>oedema</a:t>
            </a:r>
            <a:r>
              <a:rPr lang="en-US" cap="none" dirty="0" smtClean="0"/>
              <a:t>. </a:t>
            </a:r>
          </a:p>
          <a:p>
            <a:r>
              <a:rPr lang="en-US" cap="none" dirty="0" smtClean="0"/>
              <a:t> Clinically well and alert. </a:t>
            </a:r>
          </a:p>
          <a:p>
            <a:r>
              <a:rPr lang="en-US" cap="none" dirty="0" smtClean="0"/>
              <a:t> Infant has been checked for immunization and other routine interventions.</a:t>
            </a:r>
          </a:p>
          <a:p>
            <a:r>
              <a:rPr lang="en-US" cap="none" dirty="0" smtClean="0"/>
              <a:t> Mothers or caregivers have been linked with community-based follow-up and support.</a:t>
            </a:r>
            <a:endParaRPr lang="en-US" cap="none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Prevention of malnutrition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cap="none" dirty="0" smtClean="0"/>
              <a:t>Some of the prevention mechanisms are;</a:t>
            </a:r>
          </a:p>
          <a:p>
            <a:r>
              <a:rPr lang="en-US" cap="none" dirty="0" smtClean="0"/>
              <a:t>Breast feeding</a:t>
            </a:r>
          </a:p>
          <a:p>
            <a:r>
              <a:rPr lang="en-US" cap="none" dirty="0" smtClean="0"/>
              <a:t>Complementary feeding</a:t>
            </a:r>
          </a:p>
          <a:p>
            <a:r>
              <a:rPr lang="en-US" cap="none" dirty="0" smtClean="0"/>
              <a:t>Nutrition supplementation</a:t>
            </a:r>
          </a:p>
          <a:p>
            <a:r>
              <a:rPr lang="en-US" cap="none" dirty="0" smtClean="0"/>
              <a:t>Family planning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</a:p>
          <a:p>
            <a:pPr marL="0" indent="0" algn="ctr">
              <a:buNone/>
            </a:pPr>
            <a:r>
              <a:rPr lang="en-US" sz="8000" dirty="0" smtClean="0"/>
              <a:t>THANK YOU</a:t>
            </a:r>
            <a:endParaRPr lang="en-US" sz="80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18</TotalTime>
  <Words>1676</Words>
  <Application>Microsoft Office PowerPoint</Application>
  <PresentationFormat>Widescreen</PresentationFormat>
  <Paragraphs>260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宋体</vt:lpstr>
      <vt:lpstr>Arial</vt:lpstr>
      <vt:lpstr>Calibri</vt:lpstr>
      <vt:lpstr>Gotham</vt:lpstr>
      <vt:lpstr>Tw Cen MT</vt:lpstr>
      <vt:lpstr>Wingdings</vt:lpstr>
      <vt:lpstr>Droplet</vt:lpstr>
      <vt:lpstr>Severe Acute Malnutrition </vt:lpstr>
      <vt:lpstr>Severe acute Malnutrition</vt:lpstr>
      <vt:lpstr>cont..</vt:lpstr>
      <vt:lpstr>cont...</vt:lpstr>
      <vt:lpstr>Epidemiology </vt:lpstr>
      <vt:lpstr>Etiology</vt:lpstr>
      <vt:lpstr>Precipitating factors</vt:lpstr>
      <vt:lpstr>Pathophysiology</vt:lpstr>
      <vt:lpstr>cont....</vt:lpstr>
      <vt:lpstr>Cont…</vt:lpstr>
      <vt:lpstr>Cont…</vt:lpstr>
      <vt:lpstr>Consequence of reductive adaptation</vt:lpstr>
      <vt:lpstr>             Clinical manifestation </vt:lpstr>
      <vt:lpstr>Complications</vt:lpstr>
      <vt:lpstr>cont...</vt:lpstr>
      <vt:lpstr>  Kwashiorkor vs Marasmus </vt:lpstr>
      <vt:lpstr>Diagnosis </vt:lpstr>
      <vt:lpstr>Anthropometric Indicators of Nutritional Status </vt:lpstr>
      <vt:lpstr>Cont…</vt:lpstr>
      <vt:lpstr>Cont…</vt:lpstr>
      <vt:lpstr>PowerPoint Presentation</vt:lpstr>
      <vt:lpstr>Admission procedure for children  6-59month</vt:lpstr>
      <vt:lpstr>Appetite test </vt:lpstr>
      <vt:lpstr>cont...</vt:lpstr>
      <vt:lpstr>Treatment for OTP patients</vt:lpstr>
      <vt:lpstr>Treatment for SC patient </vt:lpstr>
      <vt:lpstr>Cont…</vt:lpstr>
      <vt:lpstr>cont...</vt:lpstr>
      <vt:lpstr>Con…</vt:lpstr>
      <vt:lpstr>Cont…</vt:lpstr>
      <vt:lpstr>10 steps managment</vt:lpstr>
      <vt:lpstr>SC Admission Criteria for Infants 0-6 Months</vt:lpstr>
      <vt:lpstr>Management of the Breastfed Infant 0-6 Months </vt:lpstr>
      <vt:lpstr>cont...</vt:lpstr>
      <vt:lpstr>Discharge criteria </vt:lpstr>
      <vt:lpstr>Prevention of malnutrition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Acute Malnutrition</dc:title>
  <dc:creator>Windows User</dc:creator>
  <cp:lastModifiedBy>God is good</cp:lastModifiedBy>
  <cp:revision>41</cp:revision>
  <dcterms:created xsi:type="dcterms:W3CDTF">2022-07-01T13:45:00Z</dcterms:created>
  <dcterms:modified xsi:type="dcterms:W3CDTF">2024-10-31T18:24:34Z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A53320B1F5034743B977898249CBDE0B</vt:lpwstr>
  </property>
  <property fmtid="{D5CDD505-2E9C-101B-9397-08002B2CF9AE}" pid="3" name="KSOProductBuildVer">
    <vt:lpwstr>1033-11.2.0.11254</vt:lpwstr>
  </property>
</Properties>
</file>