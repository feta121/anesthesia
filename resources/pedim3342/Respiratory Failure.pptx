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0"/>
  </p:notesMasterIdLst>
  <p:handoutMasterIdLst>
    <p:handoutMasterId r:id="rId81"/>
  </p:handoutMasterIdLst>
  <p:sldIdLst>
    <p:sldId id="257" r:id="rId2"/>
    <p:sldId id="258" r:id="rId3"/>
    <p:sldId id="260" r:id="rId4"/>
    <p:sldId id="318" r:id="rId5"/>
    <p:sldId id="383" r:id="rId6"/>
    <p:sldId id="319" r:id="rId7"/>
    <p:sldId id="320" r:id="rId8"/>
    <p:sldId id="321" r:id="rId9"/>
    <p:sldId id="322" r:id="rId10"/>
    <p:sldId id="323" r:id="rId11"/>
    <p:sldId id="324" r:id="rId12"/>
    <p:sldId id="384" r:id="rId13"/>
    <p:sldId id="361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31" r:id="rId29"/>
    <p:sldId id="332" r:id="rId30"/>
    <p:sldId id="386" r:id="rId31"/>
    <p:sldId id="336" r:id="rId32"/>
    <p:sldId id="338" r:id="rId33"/>
    <p:sldId id="339" r:id="rId34"/>
    <p:sldId id="340" r:id="rId35"/>
    <p:sldId id="358" r:id="rId36"/>
    <p:sldId id="359" r:id="rId37"/>
    <p:sldId id="382" r:id="rId38"/>
    <p:sldId id="363" r:id="rId39"/>
    <p:sldId id="272" r:id="rId40"/>
    <p:sldId id="364" r:id="rId41"/>
    <p:sldId id="273" r:id="rId42"/>
    <p:sldId id="365" r:id="rId43"/>
    <p:sldId id="366" r:id="rId44"/>
    <p:sldId id="367" r:id="rId45"/>
    <p:sldId id="287" r:id="rId46"/>
    <p:sldId id="368" r:id="rId47"/>
    <p:sldId id="369" r:id="rId48"/>
    <p:sldId id="290" r:id="rId49"/>
    <p:sldId id="291" r:id="rId50"/>
    <p:sldId id="292" r:id="rId51"/>
    <p:sldId id="370" r:id="rId52"/>
    <p:sldId id="371" r:id="rId53"/>
    <p:sldId id="293" r:id="rId54"/>
    <p:sldId id="294" r:id="rId55"/>
    <p:sldId id="372" r:id="rId56"/>
    <p:sldId id="373" r:id="rId57"/>
    <p:sldId id="299" r:id="rId58"/>
    <p:sldId id="300" r:id="rId59"/>
    <p:sldId id="301" r:id="rId60"/>
    <p:sldId id="302" r:id="rId61"/>
    <p:sldId id="374" r:id="rId62"/>
    <p:sldId id="387" r:id="rId63"/>
    <p:sldId id="303" r:id="rId64"/>
    <p:sldId id="375" r:id="rId65"/>
    <p:sldId id="306" r:id="rId66"/>
    <p:sldId id="307" r:id="rId67"/>
    <p:sldId id="263" r:id="rId68"/>
    <p:sldId id="264" r:id="rId69"/>
    <p:sldId id="265" r:id="rId70"/>
    <p:sldId id="376" r:id="rId71"/>
    <p:sldId id="266" r:id="rId72"/>
    <p:sldId id="377" r:id="rId73"/>
    <p:sldId id="378" r:id="rId74"/>
    <p:sldId id="379" r:id="rId75"/>
    <p:sldId id="380" r:id="rId76"/>
    <p:sldId id="360" r:id="rId77"/>
    <p:sldId id="305" r:id="rId78"/>
    <p:sldId id="385" r:id="rId7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U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06" autoAdjust="0"/>
    <p:restoredTop sz="91103" autoAdjust="0"/>
  </p:normalViewPr>
  <p:slideViewPr>
    <p:cSldViewPr snapToGrid="0">
      <p:cViewPr varScale="1">
        <p:scale>
          <a:sx n="65" d="100"/>
          <a:sy n="65" d="100"/>
        </p:scale>
        <p:origin x="948" y="78"/>
      </p:cViewPr>
      <p:guideLst>
        <p:guide orient="horz" pos="218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commentAuthors" Target="commentAuthor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86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1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28E484-399D-43D8-944B-3F77495EB873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104881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1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BA85F-5ED5-43E2-939F-13DE892F2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9069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07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52B0C-DCDE-4755-8803-A6FEEFD4DF78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104880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80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1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1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B2C55-FB8B-4A86-BD97-27F1FBBA8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3661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2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04859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AB2C55-FB8B-4A86-BD97-27F1FBBA8331}" type="slidenum">
              <a:rPr lang="en-US" smtClean="0"/>
              <a:t>1</a:t>
            </a:fld>
            <a:endParaRPr lang="en-US" dirty="0"/>
          </a:p>
        </p:txBody>
      </p:sp>
      <p:sp>
        <p:nvSpPr>
          <p:cNvPr id="10485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05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06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07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B2C55-FB8B-4A86-BD97-27F1FBBA8331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DAD342B-C0A4-4D38-BE2B-BC74BF0384EC}" type="slidenum">
              <a:rPr lang="en-US"/>
              <a:t>41</a:t>
            </a:fld>
            <a:endParaRPr lang="en-US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A2C21-580F-4315-807F-D864FBFF2693}" type="slidenum">
              <a:rPr lang="en-US" smtClean="0"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A2C21-580F-4315-807F-D864FBFF2693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A2C21-580F-4315-807F-D864FBFF2693}" type="slidenum">
              <a:rPr lang="en-US" smtClean="0"/>
              <a:t>61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A2C21-580F-4315-807F-D864FBFF2693}" type="slidenum">
              <a:rPr lang="en-US" smtClean="0"/>
              <a:t>70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F1043DD-3C85-482D-97F7-DFE3859A4B0A}" type="slidenum">
              <a:rPr lang="en-US"/>
              <a:t>75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EC2B04-28E6-4D44-831A-BF71E4F0EB77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379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Title 1"/>
          <p:cNvSpPr>
            <a:spLocks noGrp="1"/>
          </p:cNvSpPr>
          <p:nvPr>
            <p:ph type="ctrTitle"/>
          </p:nvPr>
        </p:nvSpPr>
        <p:spPr>
          <a:xfrm>
            <a:off x="2293497" y="1334128"/>
            <a:ext cx="7688705" cy="2055917"/>
          </a:xfrm>
          <a:solidFill>
            <a:srgbClr val="2163AB"/>
          </a:solidFill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3" name="Subtitle 2"/>
          <p:cNvSpPr>
            <a:spLocks noGrp="1"/>
          </p:cNvSpPr>
          <p:nvPr>
            <p:ph type="subTitle" idx="1"/>
          </p:nvPr>
        </p:nvSpPr>
        <p:spPr>
          <a:xfrm>
            <a:off x="2382692" y="3829409"/>
            <a:ext cx="7599509" cy="1567050"/>
          </a:xfrm>
        </p:spPr>
        <p:txBody>
          <a:bodyPr>
            <a:normAutofit/>
          </a:bodyPr>
          <a:lstStyle>
            <a:lvl1pPr marL="0" indent="0" algn="ctr">
              <a:buNone/>
              <a:defRPr sz="3800" baseline="0">
                <a:solidFill>
                  <a:schemeClr val="tx1"/>
                </a:solidFill>
                <a:latin typeface="Gotham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58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8B4F6-7C45-4638-952D-A505C6B8352F}" type="datetime1">
              <a:rPr lang="en-US" smtClean="0"/>
              <a:t>8/23/2024</a:t>
            </a:fld>
            <a:endParaRPr lang="en-US"/>
          </a:p>
        </p:txBody>
      </p:sp>
      <p:sp>
        <p:nvSpPr>
          <p:cNvPr id="104858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104858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  <p:pic>
        <p:nvPicPr>
          <p:cNvPr id="2097153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099" y="1334127"/>
            <a:ext cx="2197903" cy="2906383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pic>
        <p:nvPicPr>
          <p:cNvPr id="2097154" name="Picture 7" descr="C:\Users\Newuser\Desktop\AAU.p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883" y="1334127"/>
            <a:ext cx="1783831" cy="2055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>
            <a:lvl1pPr>
              <a:defRPr sz="4800" baseline="0">
                <a:solidFill>
                  <a:srgbClr val="2163A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9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F5A5F-7078-48A8-91F9-71D9940FA288}" type="datetime1">
              <a:rPr lang="en-US" smtClean="0"/>
              <a:t>8/23/2024</a:t>
            </a:fld>
            <a:endParaRPr lang="en-US"/>
          </a:p>
        </p:txBody>
      </p:sp>
      <p:sp>
        <p:nvSpPr>
          <p:cNvPr id="104859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10485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4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solidFill>
            <a:srgbClr val="2163AB"/>
          </a:solidFill>
        </p:spPr>
        <p:txBody>
          <a:bodyPr anchor="b"/>
          <a:lstStyle>
            <a:lvl1pPr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85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8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B1609-1807-4066-9A83-79A0E2930566}" type="datetime1">
              <a:rPr lang="en-US" smtClean="0"/>
              <a:t>8/23/2024</a:t>
            </a:fld>
            <a:endParaRPr lang="en-US"/>
          </a:p>
        </p:txBody>
      </p:sp>
      <p:sp>
        <p:nvSpPr>
          <p:cNvPr id="104878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104878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89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90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4D2E-B797-4FE0-92E3-7AFB8E0061E0}" type="datetime1">
              <a:rPr lang="en-US" smtClean="0"/>
              <a:t>8/23/2024</a:t>
            </a:fld>
            <a:endParaRPr lang="en-US"/>
          </a:p>
        </p:txBody>
      </p:sp>
      <p:sp>
        <p:nvSpPr>
          <p:cNvPr id="104869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104869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9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90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solidFill>
            <a:srgbClr val="2163AB"/>
          </a:solidFill>
        </p:spPr>
        <p:txBody>
          <a:bodyPr anchor="b"/>
          <a:lstStyle>
            <a:lvl1pPr marL="0" indent="0"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91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9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  <a:solidFill>
            <a:srgbClr val="2163AB"/>
          </a:solidFill>
        </p:spPr>
        <p:txBody>
          <a:bodyPr anchor="b"/>
          <a:lstStyle>
            <a:lvl1pPr marL="0" indent="0"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93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9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55AE9-4F50-43DC-9CCF-F8A0874A36A0}" type="datetime1">
              <a:rPr lang="en-US" smtClean="0"/>
              <a:t>8/23/2024</a:t>
            </a:fld>
            <a:endParaRPr lang="en-US"/>
          </a:p>
        </p:txBody>
      </p:sp>
      <p:sp>
        <p:nvSpPr>
          <p:cNvPr id="104879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104879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6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8DC66-F36C-47DF-A9A9-AFDCA185E177}" type="datetime1">
              <a:rPr lang="en-US" smtClean="0"/>
              <a:t>8/23/2024</a:t>
            </a:fld>
            <a:endParaRPr lang="en-US"/>
          </a:p>
        </p:txBody>
      </p:sp>
      <p:sp>
        <p:nvSpPr>
          <p:cNvPr id="104876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104876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4A7D6-390C-4131-B6B7-034209015D7B}" type="datetime1">
              <a:rPr lang="en-US" smtClean="0"/>
              <a:t>8/23/2024</a:t>
            </a:fld>
            <a:endParaRPr lang="en-US"/>
          </a:p>
        </p:txBody>
      </p:sp>
      <p:sp>
        <p:nvSpPr>
          <p:cNvPr id="104879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104879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01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02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0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C8DB2-6E52-43D7-A6DE-B5C4C4C106E1}" type="datetime1">
              <a:rPr lang="en-US" smtClean="0"/>
              <a:t>8/23/2024</a:t>
            </a:fld>
            <a:endParaRPr lang="en-US"/>
          </a:p>
        </p:txBody>
      </p:sp>
      <p:sp>
        <p:nvSpPr>
          <p:cNvPr id="104880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104880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74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48775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7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63D10-B069-4E79-A0DB-EFC957406CF0}" type="datetime1">
              <a:rPr lang="en-US" smtClean="0"/>
              <a:t>8/23/2024</a:t>
            </a:fld>
            <a:endParaRPr lang="en-US"/>
          </a:p>
        </p:txBody>
      </p:sp>
      <p:sp>
        <p:nvSpPr>
          <p:cNvPr id="104877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104877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8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8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6B90E-832E-499A-92EB-37B57CA63630}" type="datetime1">
              <a:rPr lang="en-US" smtClean="0"/>
              <a:t>8/23/2024</a:t>
            </a:fld>
            <a:endParaRPr lang="en-US"/>
          </a:p>
        </p:txBody>
      </p:sp>
      <p:sp>
        <p:nvSpPr>
          <p:cNvPr id="104878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104878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6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7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0CDF-48FD-4037-8E31-60FCC0DE055C}" type="datetime1">
              <a:rPr lang="en-US" smtClean="0"/>
              <a:t>8/23/2024</a:t>
            </a:fld>
            <a:endParaRPr lang="en-US"/>
          </a:p>
        </p:txBody>
      </p:sp>
      <p:sp>
        <p:nvSpPr>
          <p:cNvPr id="104877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104877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64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6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084CA-77E8-4610-832A-73F7A7F0DAF6}" type="datetime1">
              <a:rPr lang="en-US" smtClean="0"/>
              <a:t>8/23/2024</a:t>
            </a:fld>
            <a:endParaRPr lang="en-US"/>
          </a:p>
        </p:txBody>
      </p:sp>
      <p:sp>
        <p:nvSpPr>
          <p:cNvPr id="104876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104876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8750"/>
            <a:ext cx="10972800" cy="12588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chemeClr val="tx2">
                  <a:shade val="90000"/>
                </a:schemeClr>
              </a:solidFill>
              <a:latin typeface="Verdana" panose="020B060403050404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chemeClr val="tx2">
                  <a:shade val="90000"/>
                </a:schemeClr>
              </a:solidFill>
              <a:latin typeface="Verdana" panose="020B060403050404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A2068E5-65BC-44A5-B27C-80B2F8F98BFB}" type="slidenum">
              <a:rPr lang="en-US" smtClean="0">
                <a:solidFill>
                  <a:srgbClr val="045C75"/>
                </a:solidFill>
                <a:latin typeface="Verdan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45C75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256384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5412CE-A595-4FCE-B666-262BAB049ED0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78468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084CA-77E8-4610-832A-73F7A7F0DAF6}" type="datetime1">
              <a:rPr lang="en-US" smtClean="0"/>
              <a:t>8/23/2024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8D7C0-EF86-4549-BF06-FAB50D30C98D}" type="slidenum">
              <a:rPr lang="en-US" smtClean="0"/>
              <a:t>‹#›</a:t>
            </a:fld>
            <a:endParaRPr lang="en-US"/>
          </a:p>
        </p:txBody>
      </p:sp>
      <p:pic>
        <p:nvPicPr>
          <p:cNvPr id="2097152" name="Picture 6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0614920" y="5997564"/>
            <a:ext cx="1577080" cy="787072"/>
          </a:xfrm>
          <a:prstGeom prst="rect">
            <a:avLst/>
          </a:prstGeom>
        </p:spPr>
      </p:pic>
      <p:sp>
        <p:nvSpPr>
          <p:cNvPr id="1048581" name="Rectangle 8"/>
          <p:cNvSpPr/>
          <p:nvPr/>
        </p:nvSpPr>
        <p:spPr>
          <a:xfrm>
            <a:off x="78379" y="6069230"/>
            <a:ext cx="12113623" cy="45719"/>
          </a:xfrm>
          <a:prstGeom prst="rect">
            <a:avLst/>
          </a:prstGeom>
          <a:solidFill>
            <a:srgbClr val="2163AB"/>
          </a:solidFill>
          <a:ln w="6350"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rgbClr val="2163AB"/>
          </a:solidFill>
          <a:latin typeface="Gotham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 baseline="0">
          <a:solidFill>
            <a:schemeClr val="tx1"/>
          </a:solidFill>
          <a:latin typeface="Gotham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 baseline="0">
          <a:solidFill>
            <a:schemeClr val="tx1"/>
          </a:solidFill>
          <a:latin typeface="Gotham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 baseline="0">
          <a:solidFill>
            <a:schemeClr val="tx1"/>
          </a:solidFill>
          <a:latin typeface="Gotham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 baseline="0">
          <a:solidFill>
            <a:schemeClr val="tx1"/>
          </a:solidFill>
          <a:latin typeface="Gotham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 baseline="0">
          <a:solidFill>
            <a:schemeClr val="tx1"/>
          </a:solidFill>
          <a:latin typeface="Gotham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jpe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itle 1"/>
          <p:cNvSpPr>
            <a:spLocks noGrp="1"/>
          </p:cNvSpPr>
          <p:nvPr>
            <p:ph type="ctrTitle"/>
          </p:nvPr>
        </p:nvSpPr>
        <p:spPr>
          <a:xfrm>
            <a:off x="1950720" y="1312288"/>
            <a:ext cx="8773160" cy="223393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RESPIRATORY FAILURE</a:t>
            </a:r>
          </a:p>
        </p:txBody>
      </p:sp>
      <p:sp>
        <p:nvSpPr>
          <p:cNvPr id="1048588" name="Subtitle 2"/>
          <p:cNvSpPr>
            <a:spLocks noGrp="1"/>
          </p:cNvSpPr>
          <p:nvPr>
            <p:ph type="subTitle" idx="1"/>
          </p:nvPr>
        </p:nvSpPr>
        <p:spPr>
          <a:xfrm>
            <a:off x="4965700" y="4085303"/>
            <a:ext cx="7080250" cy="1874807"/>
          </a:xfrm>
        </p:spPr>
        <p:txBody>
          <a:bodyPr>
            <a:noAutofit/>
          </a:bodyPr>
          <a:lstStyle/>
          <a:p>
            <a:pPr algn="l"/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Dr Firezer- PCHR3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4859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9740" y="6356354"/>
            <a:ext cx="2743200" cy="365125"/>
          </a:xfrm>
        </p:spPr>
        <p:txBody>
          <a:bodyPr/>
          <a:lstStyle/>
          <a:p>
            <a:fld id="{D848D7C0-EF86-4549-BF06-FAB50D30C98D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755832" y="629286"/>
            <a:ext cx="11144794" cy="998360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 </a:t>
            </a: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755650" y="1578610"/>
            <a:ext cx="10515600" cy="404685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DEFINITION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Etiology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Management </a:t>
            </a:r>
          </a:p>
          <a:p>
            <a:pPr>
              <a:lnSpc>
                <a:spcPct val="11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Common respiratory problems in children</a:t>
            </a:r>
          </a:p>
          <a:p>
            <a:pPr marL="0" indent="0">
              <a:lnSpc>
                <a:spcPct val="110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2535" y="6356354"/>
            <a:ext cx="2743200" cy="365125"/>
          </a:xfrm>
        </p:spPr>
        <p:txBody>
          <a:bodyPr/>
          <a:lstStyle/>
          <a:p>
            <a:fld id="{D848D7C0-EF86-4549-BF06-FAB50D30C98D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Respiratory failure </a:t>
            </a:r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Inability of the lungs to provide oxygen or remove CO2.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Two types; 1. hypoxic RF 2. ventilatory RF.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871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F7F4D-0D6F-2294-6577-04A4B5A5E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Respiratory distress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A5AF6-0A92-DF22-8A83-483A650B8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Signs and symptoms of an abnormal respiratory pattern.</a:t>
            </a:r>
          </a:p>
          <a:p>
            <a:r>
              <a:rPr lang="en-US" dirty="0"/>
              <a:t>Nasal flaring, chest wall retractions, fast breathing, grunting, stridor…</a:t>
            </a:r>
          </a:p>
          <a:p>
            <a:r>
              <a:rPr lang="en-US" dirty="0"/>
              <a:t>Can be pulmonary or non pulmonary etiologies.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563EC9-5741-F7CB-C3E8-A748E8CAE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CBC86-906E-7591-7993-A12B5CBDE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76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59BEA-4037-1D5D-246E-93F8809F1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25397-D6D0-8690-95FC-F96936020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 breathing – </a:t>
            </a:r>
          </a:p>
          <a:p>
            <a:pPr lvl="1"/>
            <a:r>
              <a:rPr lang="en-US" dirty="0"/>
              <a:t>age 0- 2 months -----  &gt; 60/minute</a:t>
            </a:r>
          </a:p>
          <a:p>
            <a:pPr lvl="1"/>
            <a:r>
              <a:rPr lang="en-US" dirty="0"/>
              <a:t>2-12 months------        &gt; 50/minute</a:t>
            </a:r>
          </a:p>
          <a:p>
            <a:pPr lvl="1"/>
            <a:r>
              <a:rPr lang="en-US" dirty="0"/>
              <a:t>1yr – 5 years-------       &gt; 40/minute</a:t>
            </a:r>
          </a:p>
          <a:p>
            <a:pPr lvl="1"/>
            <a:r>
              <a:rPr lang="en-US" dirty="0"/>
              <a:t>5yr – 12 years------      &gt; 30/minute</a:t>
            </a:r>
          </a:p>
          <a:p>
            <a:r>
              <a:rPr lang="en-US" dirty="0"/>
              <a:t>Presence of retractions</a:t>
            </a:r>
          </a:p>
          <a:p>
            <a:r>
              <a:rPr lang="en-US" dirty="0"/>
              <a:t>Apnea</a:t>
            </a:r>
          </a:p>
          <a:p>
            <a:r>
              <a:rPr lang="en-US" dirty="0"/>
              <a:t>Cyanosis</a:t>
            </a:r>
          </a:p>
          <a:p>
            <a:r>
              <a:rPr lang="en-US" dirty="0"/>
              <a:t>Could be due to pulmonary and non-pulmonary etiologies.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B10DD2-26E6-8162-0916-C4B034907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12854-58E1-4B44-379D-8DC63B70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86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AB845-9E24-170A-5A67-A9D6F3F1D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B9CA3DD-10F4-F122-11B9-EBFFC197E1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3265" y="882932"/>
            <a:ext cx="6000135" cy="4706706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16164-8F84-147E-6B76-D03853357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B5082C-951D-C01F-4D5D-8B7D12410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117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0CDD6-6B44-2455-1F60-93F379D3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0AD294B-BAA4-EC2B-7C5E-18DD7984B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9"/>
            <a:ext cx="9618406" cy="560796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254D19-3ED1-4C41-DEA2-D276D8ECD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DC3B4-A4B3-F5CA-D1D8-F7F77BAE9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79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7C900-8AB1-6EB6-7459-3DFA6B991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729C177-A943-7312-0CA1-776770A56B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65129"/>
            <a:ext cx="12191999" cy="548877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87798-EBF6-9374-2B5C-F0B9F1CC0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A0F422-ABF4-1B6D-F4B0-E3DCDAD85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1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63D67-12E3-7C4A-BAE3-BF52BF98F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17F49-2D73-8408-AC1F-E69C66A95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Clinical evaluation</a:t>
            </a:r>
          </a:p>
          <a:p>
            <a:r>
              <a:rPr lang="en-US" dirty="0"/>
              <a:t>Pulse oximetry</a:t>
            </a:r>
          </a:p>
          <a:p>
            <a:r>
              <a:rPr lang="en-US" dirty="0"/>
              <a:t>ABG</a:t>
            </a:r>
          </a:p>
          <a:p>
            <a:r>
              <a:rPr lang="en-US" dirty="0"/>
              <a:t>Oxygenation &amp; ventilation assessment( OI,OSI, P/F, S/F)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874793-4F3F-62A6-67B5-870B4911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9C879F-3BA4-2FD4-B341-39CF8C213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16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D367C-4D39-959F-2D0C-03F1C6861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A88DE-D73A-59C1-FA9C-20D9E1BFF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Oxygen administration</a:t>
            </a:r>
          </a:p>
          <a:p>
            <a:r>
              <a:rPr lang="en-US" dirty="0"/>
              <a:t>Various ways of delivering oxygen.</a:t>
            </a:r>
          </a:p>
          <a:p>
            <a:r>
              <a:rPr lang="en-US" dirty="0"/>
              <a:t>Fio2 = 21%+ flow*3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71E532-FE8E-E386-6146-A1114CEEC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47B35-4A4C-F1B5-F7D2-2C4630BEC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466A35-1D14-F60C-DB19-380C55546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3111911"/>
            <a:ext cx="5678129" cy="272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02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1985F-5485-D984-0C5F-0102F2DC8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con.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7C0CF-D381-7422-55B2-701ABA5D3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Positive pressure respiratory support</a:t>
            </a:r>
          </a:p>
          <a:p>
            <a:r>
              <a:rPr lang="en-US" dirty="0"/>
              <a:t>Non invasive ( CPAP , BIPAP)</a:t>
            </a:r>
          </a:p>
          <a:p>
            <a:r>
              <a:rPr lang="en-US" dirty="0"/>
              <a:t>and invasive( ENDOTRACHEAL INTUBATION)- impending respiratory failure.</a:t>
            </a:r>
          </a:p>
          <a:p>
            <a:r>
              <a:rPr lang="en-US" dirty="0"/>
              <a:t>ETT size estimation= age/4 + 4.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74A1B-5D17-6BED-3A48-2E3C6662D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Rf by </a:t>
            </a:r>
            <a:r>
              <a:rPr lang="en-US" dirty="0" err="1"/>
              <a:t>dr</a:t>
            </a:r>
            <a:r>
              <a:rPr lang="en-US" dirty="0"/>
              <a:t> firezer.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FE0938-64D8-7DE3-B0EF-652C96C7C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548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29C35-8DC8-D407-37E0-40E54429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SOAPME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FF926-1B32-99F8-2090-6EA5FE254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S- SUCTION</a:t>
            </a:r>
          </a:p>
          <a:p>
            <a:r>
              <a:rPr lang="en-US" dirty="0"/>
              <a:t>O- OXYGEN,BAG,MASK</a:t>
            </a:r>
          </a:p>
          <a:p>
            <a:r>
              <a:rPr lang="en-US" dirty="0"/>
              <a:t>A- AIRWAY: ETT,STYLET,ORAL AIRWAY,LARYNGOSCOPE</a:t>
            </a:r>
          </a:p>
          <a:p>
            <a:r>
              <a:rPr lang="en-US" dirty="0"/>
              <a:t>P-PHARMACOLOGY,MEDICATIONS</a:t>
            </a:r>
          </a:p>
          <a:p>
            <a:r>
              <a:rPr lang="en-US" dirty="0"/>
              <a:t>ME- MONITORING EQUIMENT: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B8F53-F147-CAAB-CB98-73A5A4D49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C4A3B2-11AF-6456-4CF5-510CA569B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37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DDFA-D304-8B56-BB18-30626E3A9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Respiratory Problems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BDAEFE2-7904-A404-8134-916ABEF4D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026" y="1427163"/>
            <a:ext cx="7329948" cy="435133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B1A27-5A81-241B-71F1-9DFF98937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53A1B3-1905-265F-4EF1-D794D1ACB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183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two years old child presented to the emergency ward with fast breathing ,grunting and high grade fever of two days  duration . He had antecedent history of upper respiratory tract infection </a:t>
            </a:r>
          </a:p>
          <a:p>
            <a:r>
              <a:rPr lang="en-US" sz="2400" dirty="0"/>
              <a:t>On examination : V/S PR : 145 /min regular ,full in volume ,RR: 56/min ,SaO2: 88% room air </a:t>
            </a:r>
          </a:p>
          <a:p>
            <a:r>
              <a:rPr lang="en-US" sz="2400" dirty="0"/>
              <a:t>Nasal flaring , intercostal subcostal  retraction </a:t>
            </a:r>
          </a:p>
          <a:p>
            <a:r>
              <a:rPr lang="en-US" sz="2400" dirty="0"/>
              <a:t>Bronchial breath sound over the right upper lobe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536F4-AF3B-4B6A-84D5-AE8246DFFEDE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4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981200" y="457200"/>
            <a:ext cx="8229600" cy="5791200"/>
          </a:xfrm>
        </p:spPr>
      </p:pic>
      <p:sp>
        <p:nvSpPr>
          <p:cNvPr id="9219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0" tIns="0" rIns="0" bIns="0" rtlCol="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>
                <a:solidFill>
                  <a:srgbClr val="045C75"/>
                </a:solidFill>
              </a:rPr>
              <a:t>15</a:t>
            </a:fld>
            <a:endParaRPr lang="en-US" sz="1200" dirty="0">
              <a:solidFill>
                <a:srgbClr val="045C75"/>
              </a:solidFill>
            </a:endParaRPr>
          </a:p>
        </p:txBody>
      </p:sp>
      <p:pic>
        <p:nvPicPr>
          <p:cNvPr id="9220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601" y="5638801"/>
            <a:ext cx="892175" cy="10525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8229600" cy="762000"/>
          </a:xfrm>
        </p:spPr>
        <p:txBody>
          <a:bodyPr vert="horz" wrap="square" lIns="0" tIns="45720" rIns="0" bIns="0" numCol="1" rtlCol="0" anchor="b" anchorCtr="0" compatLnSpc="1">
            <a:normAutofit fontScale="90000"/>
          </a:bodyPr>
          <a:lstStyle/>
          <a:p>
            <a:pPr>
              <a:lnSpc>
                <a:spcPct val="100000"/>
              </a:lnSpc>
              <a:defRPr/>
            </a:pPr>
            <a:r>
              <a:rPr lang="en-US" sz="5000" dirty="0">
                <a:solidFill>
                  <a:schemeClr val="tx1"/>
                </a:solidFill>
                <a:latin typeface="+mj-lt"/>
              </a:rPr>
              <a:t>Extent of the problem</a:t>
            </a:r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510540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/>
            <a:r>
              <a:rPr dirty="0"/>
              <a:t>In Ethiopia it accounts for 28% of U5C deaths.</a:t>
            </a:r>
          </a:p>
          <a:p>
            <a:pPr eaLnBrk="1" hangingPunct="1"/>
            <a:endParaRPr dirty="0"/>
          </a:p>
          <a:p>
            <a:pPr eaLnBrk="1" hangingPunct="1">
              <a:lnSpc>
                <a:spcPct val="90000"/>
              </a:lnSpc>
              <a:buBlip>
                <a:blip r:embed="rId2"/>
              </a:buBlip>
            </a:pPr>
            <a:r>
              <a:rPr dirty="0"/>
              <a:t>It is estimated that 65% of these pneumonia deaths could be prevented if appropriate preventive and treatment interventions were applied at national scale.</a:t>
            </a:r>
          </a:p>
          <a:p>
            <a:pPr eaLnBrk="1" hangingPunct="1">
              <a:lnSpc>
                <a:spcPct val="90000"/>
              </a:lnSpc>
              <a:buBlip>
                <a:blip r:embed="rId2"/>
              </a:buBlip>
            </a:pPr>
            <a:endParaRPr dirty="0"/>
          </a:p>
          <a:p>
            <a:pPr eaLnBrk="1" hangingPunct="1">
              <a:lnSpc>
                <a:spcPct val="90000"/>
              </a:lnSpc>
            </a:pPr>
            <a:r>
              <a:rPr dirty="0"/>
              <a:t>Treatments such as oral antibiotics, in addition to the effective prevention interventions of breastfeeding and adequate complementary feeding.</a:t>
            </a:r>
          </a:p>
          <a:p>
            <a:pPr eaLnBrk="1" hangingPunct="1"/>
            <a:endParaRPr dirty="0"/>
          </a:p>
        </p:txBody>
      </p:sp>
      <p:sp>
        <p:nvSpPr>
          <p:cNvPr id="10244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0" tIns="0" rIns="0" bIns="0" rtlCol="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/>
              <a:t>16</a:t>
            </a:fld>
            <a:endParaRPr lang="en-US" sz="1200" dirty="0"/>
          </a:p>
        </p:txBody>
      </p:sp>
      <p:pic>
        <p:nvPicPr>
          <p:cNvPr id="10245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826" y="5805488"/>
            <a:ext cx="892175" cy="1052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0" rtlCol="0" anchor="b">
            <a:normAutofit/>
          </a:bodyPr>
          <a:lstStyle/>
          <a:p>
            <a:pPr eaLnBrk="1" hangingPunct="1"/>
            <a:r>
              <a:rPr lang="en-GB" altLang="x-none" dirty="0">
                <a:solidFill>
                  <a:schemeClr val="tx1"/>
                </a:solidFill>
              </a:rPr>
              <a:t>Defence of Respiratory Tract</a:t>
            </a:r>
          </a:p>
        </p:txBody>
      </p:sp>
      <p:pic>
        <p:nvPicPr>
          <p:cNvPr id="11267" name="Picture 7" descr="urti"/>
          <p:cNvPicPr>
            <a:picLocks noGrp="1" noChangeAspect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981200" y="1600200"/>
            <a:ext cx="4038600" cy="4495800"/>
          </a:xfrm>
        </p:spPr>
      </p:pic>
      <p:sp>
        <p:nvSpPr>
          <p:cNvPr id="11268" name="Rectangle 6"/>
          <p:cNvSpPr>
            <a:spLocks noGrp="1"/>
          </p:cNvSpPr>
          <p:nvPr>
            <p:ph type="body" sz="half" idx="2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>
              <a:lnSpc>
                <a:spcPct val="80000"/>
              </a:lnSpc>
              <a:buClr>
                <a:srgbClr val="0BD0D9"/>
              </a:buClr>
              <a:buSzPct val="95000"/>
              <a:buFont typeface="Wingdings 2" panose="05020102010507070707" pitchFamily="18" charset="2"/>
            </a:pPr>
            <a:r>
              <a:rPr lang="en-GB" altLang="x-none" sz="2400" dirty="0">
                <a:solidFill>
                  <a:srgbClr val="7030A0"/>
                </a:solidFill>
              </a:rPr>
              <a:t>Mechanical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x-none" sz="2000" dirty="0"/>
              <a:t>Filtration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x-none" sz="2000" b="1" dirty="0"/>
              <a:t>Mucociliary</a:t>
            </a:r>
            <a:r>
              <a:rPr lang="en-GB" altLang="x-none" sz="2000" dirty="0"/>
              <a:t> clearance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x-none" sz="2000" b="1" dirty="0"/>
              <a:t>Reflex</a:t>
            </a:r>
          </a:p>
          <a:p>
            <a:pPr eaLnBrk="1" hangingPunct="1">
              <a:lnSpc>
                <a:spcPct val="80000"/>
              </a:lnSpc>
              <a:buClr>
                <a:srgbClr val="0BD0D9"/>
              </a:buClr>
              <a:buSzPct val="95000"/>
              <a:buFont typeface="Wingdings 2" panose="05020102010507070707" pitchFamily="18" charset="2"/>
            </a:pPr>
            <a:r>
              <a:rPr lang="en-GB" altLang="x-none" sz="2400" dirty="0">
                <a:solidFill>
                  <a:srgbClr val="7030A0"/>
                </a:solidFill>
              </a:rPr>
              <a:t>Innate</a:t>
            </a:r>
            <a:r>
              <a:rPr lang="en-GB" altLang="x-none" sz="2400" dirty="0"/>
              <a:t> defence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x-none" sz="2000" dirty="0"/>
              <a:t>airway antimicrobial factors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x-none" sz="2000" dirty="0"/>
              <a:t>Alveolar </a:t>
            </a:r>
            <a:r>
              <a:rPr lang="en-GB" altLang="x-none" sz="2000" b="1" dirty="0"/>
              <a:t>macrophages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x-none" sz="2000" b="1" dirty="0"/>
              <a:t>Neutrophils</a:t>
            </a:r>
          </a:p>
          <a:p>
            <a:pPr eaLnBrk="1" hangingPunct="1">
              <a:lnSpc>
                <a:spcPct val="80000"/>
              </a:lnSpc>
              <a:buClr>
                <a:srgbClr val="0BD0D9"/>
              </a:buClr>
              <a:buSzPct val="95000"/>
              <a:buFont typeface="Wingdings 2" panose="05020102010507070707" pitchFamily="18" charset="2"/>
            </a:pPr>
            <a:r>
              <a:rPr lang="en-GB" altLang="x-none" sz="2400" dirty="0">
                <a:solidFill>
                  <a:srgbClr val="7030A0"/>
                </a:solidFill>
              </a:rPr>
              <a:t>Adaptive</a:t>
            </a:r>
            <a:r>
              <a:rPr lang="en-GB" altLang="x-none" sz="2400" dirty="0"/>
              <a:t> defence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x-none" sz="2000" dirty="0"/>
              <a:t>Secretaory </a:t>
            </a:r>
            <a:r>
              <a:rPr lang="en-GB" altLang="x-none" sz="2000" b="1" dirty="0"/>
              <a:t>IgA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x-none" sz="2000" b="1" dirty="0"/>
              <a:t>IgG</a:t>
            </a:r>
            <a:r>
              <a:rPr lang="en-GB" altLang="x-none" sz="2000" dirty="0"/>
              <a:t>								</a:t>
            </a:r>
          </a:p>
        </p:txBody>
      </p:sp>
      <p:sp>
        <p:nvSpPr>
          <p:cNvPr id="11269" name="Slide Number Placeholder 4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0" tIns="0" rIns="0" bIns="0" rtlCol="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>
                <a:solidFill>
                  <a:srgbClr val="045C75"/>
                </a:solidFill>
              </a:rPr>
              <a:t>17</a:t>
            </a:fld>
            <a:endParaRPr lang="en-US" sz="1200" dirty="0">
              <a:solidFill>
                <a:srgbClr val="045C75"/>
              </a:solidFill>
            </a:endParaRPr>
          </a:p>
        </p:txBody>
      </p:sp>
      <p:pic>
        <p:nvPicPr>
          <p:cNvPr id="11270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826" y="5805488"/>
            <a:ext cx="892175" cy="1052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pneumonia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Pneumonia is a lung parenchymal infection</a:t>
            </a:r>
          </a:p>
          <a:p>
            <a:r>
              <a:rPr lang="en-US" dirty="0"/>
              <a:t>Classification of pneumonia is based on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place of acquisition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clinical symptoms/signs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patterns on chest radiograph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Etiology of pneumonia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lung pathology 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536F4-AF3B-4B6A-84D5-AE8246DFFEDE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0" rtlCol="0" anchor="b">
            <a:normAutofit/>
          </a:bodyPr>
          <a:lstStyle/>
          <a:p>
            <a:pPr eaLnBrk="1" hangingPunct="1"/>
            <a:r>
              <a:rPr dirty="0">
                <a:solidFill>
                  <a:schemeClr val="tx1"/>
                </a:solidFill>
              </a:rPr>
              <a:t>Etiology</a:t>
            </a:r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/>
            <a:r>
              <a:rPr dirty="0"/>
              <a:t>Depends upon</a:t>
            </a:r>
          </a:p>
          <a:p>
            <a:pPr lvl="1" eaLnBrk="1" hangingPunct="1"/>
            <a:r>
              <a:rPr b="1" dirty="0"/>
              <a:t>Age</a:t>
            </a:r>
          </a:p>
          <a:p>
            <a:pPr lvl="1" eaLnBrk="1" hangingPunct="1"/>
            <a:r>
              <a:rPr dirty="0"/>
              <a:t>Clinical </a:t>
            </a:r>
            <a:r>
              <a:rPr b="1" dirty="0"/>
              <a:t>setting</a:t>
            </a:r>
            <a:r>
              <a:rPr dirty="0"/>
              <a:t> (community, hospital)</a:t>
            </a:r>
          </a:p>
          <a:p>
            <a:pPr lvl="1" eaLnBrk="1" hangingPunct="1"/>
            <a:r>
              <a:rPr dirty="0"/>
              <a:t>Local </a:t>
            </a:r>
            <a:r>
              <a:rPr b="1" dirty="0"/>
              <a:t>epidemiology</a:t>
            </a:r>
            <a:r>
              <a:rPr dirty="0"/>
              <a:t> (RSV, influenza epidemics)</a:t>
            </a:r>
          </a:p>
          <a:p>
            <a:pPr lvl="1" eaLnBrk="1" hangingPunct="1"/>
            <a:r>
              <a:rPr dirty="0"/>
              <a:t>Relevant </a:t>
            </a:r>
            <a:r>
              <a:rPr b="1" dirty="0"/>
              <a:t>exposure</a:t>
            </a:r>
            <a:r>
              <a:rPr dirty="0"/>
              <a:t> ( contaminated water, animals)</a:t>
            </a:r>
          </a:p>
          <a:p>
            <a:pPr lvl="1" eaLnBrk="1" hangingPunct="1"/>
            <a:r>
              <a:rPr b="1" dirty="0"/>
              <a:t>Immunostatus</a:t>
            </a:r>
          </a:p>
          <a:p>
            <a:pPr lvl="1" eaLnBrk="1" hangingPunct="1"/>
            <a:endParaRPr dirty="0"/>
          </a:p>
        </p:txBody>
      </p:sp>
      <p:sp>
        <p:nvSpPr>
          <p:cNvPr id="12292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0" tIns="0" rIns="0" bIns="0" rtlCol="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>
                <a:solidFill>
                  <a:srgbClr val="045C75"/>
                </a:solidFill>
              </a:rPr>
              <a:t>19</a:t>
            </a:fld>
            <a:endParaRPr lang="en-US" sz="1200" dirty="0">
              <a:solidFill>
                <a:srgbClr val="045C75"/>
              </a:solidFill>
            </a:endParaRPr>
          </a:p>
        </p:txBody>
      </p:sp>
      <p:pic>
        <p:nvPicPr>
          <p:cNvPr id="12293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826" y="5805488"/>
            <a:ext cx="892175" cy="1052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Etiology of pneumonia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6324963"/>
              </p:ext>
            </p:extLst>
          </p:nvPr>
        </p:nvGraphicFramePr>
        <p:xfrm>
          <a:off x="1524001" y="1600200"/>
          <a:ext cx="9067799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3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r>
                        <a:rPr lang="en-US" dirty="0"/>
                        <a:t>Age related</a:t>
                      </a:r>
                      <a:r>
                        <a:rPr lang="en-US" baseline="0" dirty="0"/>
                        <a:t> etiology of pneumonia in </a:t>
                      </a:r>
                      <a:r>
                        <a:rPr lang="en-US" baseline="0" dirty="0" err="1"/>
                        <a:t>immunocompetent</a:t>
                      </a:r>
                      <a:r>
                        <a:rPr lang="en-US" baseline="0" dirty="0"/>
                        <a:t> children : </a:t>
                      </a:r>
                      <a:r>
                        <a:rPr lang="en-US" sz="1600" baseline="0" dirty="0"/>
                        <a:t>AAP Pediatric Pulmonology 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/>
                        <a:t>&lt; 2months</a:t>
                      </a:r>
                      <a:r>
                        <a:rPr lang="en-US" b="1" i="1" baseline="0" dirty="0"/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aseline="0" dirty="0"/>
                        <a:t>Group b streptococcus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aseline="0" dirty="0"/>
                        <a:t>Staphylococcus </a:t>
                      </a:r>
                      <a:r>
                        <a:rPr lang="en-US" sz="1600" baseline="0" dirty="0" err="1"/>
                        <a:t>aureus</a:t>
                      </a:r>
                      <a:r>
                        <a:rPr lang="en-US" sz="1600" baseline="0" dirty="0"/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aseline="0" dirty="0"/>
                        <a:t>Listeria </a:t>
                      </a:r>
                      <a:r>
                        <a:rPr lang="en-US" sz="1600" baseline="0" dirty="0" err="1"/>
                        <a:t>Monocytogens</a:t>
                      </a:r>
                      <a:endParaRPr lang="en-US" sz="1600" baseline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1" dirty="0"/>
                        <a:t>2-12 months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Pneumococcus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Virus :</a:t>
                      </a:r>
                      <a:r>
                        <a:rPr lang="en-US" sz="1600" b="1" i="1" dirty="0"/>
                        <a:t>RSV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Parinfluenza</a:t>
                      </a:r>
                      <a:r>
                        <a:rPr lang="en-US" sz="1600" baseline="0" dirty="0"/>
                        <a:t> ,Influenza Adenovirus </a:t>
                      </a:r>
                      <a:r>
                        <a:rPr lang="en-US" sz="1600" baseline="0" dirty="0" err="1"/>
                        <a:t>hMPV</a:t>
                      </a:r>
                      <a:endParaRPr lang="en-US" sz="1600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baseline="0" dirty="0"/>
                        <a:t>chlamydia Trachomatis pertussis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1-4</a:t>
                      </a:r>
                      <a:r>
                        <a:rPr lang="en-US" b="1" baseline="0" dirty="0"/>
                        <a:t> years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aseline="0" dirty="0"/>
                        <a:t>Pneumococcus,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baseline="0" dirty="0" err="1"/>
                        <a:t>H.influenza</a:t>
                      </a:r>
                      <a:r>
                        <a:rPr lang="en-US" sz="1600" baseline="0" dirty="0"/>
                        <a:t>, Pertussis ,</a:t>
                      </a:r>
                      <a:r>
                        <a:rPr lang="en-US" sz="1600" baseline="0" dirty="0" err="1"/>
                        <a:t>St.Aureus</a:t>
                      </a:r>
                      <a:r>
                        <a:rPr lang="en-US" sz="1600" baseline="0" dirty="0"/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aseline="0" dirty="0"/>
                        <a:t>Virus :</a:t>
                      </a:r>
                      <a:r>
                        <a:rPr lang="en-US" sz="1600" baseline="0" dirty="0" err="1"/>
                        <a:t>parainfleunza,influenza,</a:t>
                      </a:r>
                      <a:r>
                        <a:rPr lang="en-US" sz="1600" b="1" baseline="0" dirty="0" err="1"/>
                        <a:t>RSV,</a:t>
                      </a:r>
                      <a:r>
                        <a:rPr lang="en-US" sz="1600" b="0" baseline="0" dirty="0" err="1"/>
                        <a:t>Adenovirus</a:t>
                      </a:r>
                      <a:r>
                        <a:rPr lang="en-US" sz="1600" b="0" baseline="0" dirty="0"/>
                        <a:t> ,hMPV,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/>
                        <a:t>Mycoplasma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1" baseline="0" dirty="0" err="1"/>
                        <a:t>M.Tuberculosis</a:t>
                      </a:r>
                      <a:r>
                        <a:rPr lang="en-US" sz="1600" b="1" i="1" baseline="0" dirty="0"/>
                        <a:t> </a:t>
                      </a:r>
                      <a:endParaRPr lang="en-US" sz="16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1" dirty="0"/>
                        <a:t>5-12years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Mycoplasma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/>
                        <a:t>St.pneumoccocus</a:t>
                      </a:r>
                      <a:r>
                        <a:rPr lang="en-US" sz="1600" dirty="0"/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/>
                        <a:t>H.influenza</a:t>
                      </a: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Viruses</a:t>
                      </a:r>
                      <a:r>
                        <a:rPr lang="en-US" sz="1600" baseline="0" dirty="0"/>
                        <a:t> </a:t>
                      </a: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1" dirty="0"/>
                        <a:t>≥12 years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/>
                        <a:t>Mycoplasma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 err="1"/>
                        <a:t>C.pneumoniae</a:t>
                      </a:r>
                      <a:endParaRPr lang="en-US" sz="1600" b="0" i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/>
                        <a:t>Group A </a:t>
                      </a:r>
                      <a:r>
                        <a:rPr lang="en-US" sz="1600" b="0" i="0" dirty="0" err="1"/>
                        <a:t>streptoccocus</a:t>
                      </a:r>
                      <a:r>
                        <a:rPr lang="en-US" sz="1600" b="0" i="0" baseline="0" dirty="0"/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baseline="0" dirty="0" err="1"/>
                        <a:t>M.Tb</a:t>
                      </a:r>
                      <a:endParaRPr lang="en-US" sz="16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536F4-AF3B-4B6A-84D5-AE8246DFFEDE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0" rtlCol="0" anchor="b">
            <a:normAutofit/>
          </a:bodyPr>
          <a:lstStyle/>
          <a:p>
            <a:pPr eaLnBrk="1" hangingPunct="1"/>
            <a:r>
              <a:rPr dirty="0">
                <a:solidFill>
                  <a:schemeClr val="tx1"/>
                </a:solidFill>
              </a:rPr>
              <a:t>Routes of infections</a:t>
            </a:r>
            <a:endParaRPr lang="en-GB" altLang="x-none" dirty="0">
              <a:solidFill>
                <a:schemeClr val="tx1"/>
              </a:solidFill>
            </a:endParaRP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/>
            <a:endParaRPr dirty="0"/>
          </a:p>
          <a:p>
            <a:pPr lvl="1" eaLnBrk="1" hangingPunct="1"/>
            <a:r>
              <a:rPr dirty="0"/>
              <a:t>Inhalation</a:t>
            </a:r>
          </a:p>
          <a:p>
            <a:pPr lvl="1" eaLnBrk="1" hangingPunct="1"/>
            <a:r>
              <a:rPr dirty="0"/>
              <a:t>Aspiration </a:t>
            </a:r>
          </a:p>
          <a:p>
            <a:pPr lvl="1" eaLnBrk="1" hangingPunct="1"/>
            <a:r>
              <a:rPr dirty="0"/>
              <a:t>Direct inocculation</a:t>
            </a:r>
          </a:p>
          <a:p>
            <a:pPr lvl="1" eaLnBrk="1" hangingPunct="1"/>
            <a:r>
              <a:rPr dirty="0"/>
              <a:t>Blood borne</a:t>
            </a:r>
          </a:p>
          <a:p>
            <a:pPr eaLnBrk="1" hangingPunct="1"/>
            <a:endParaRPr lang="en-GB" altLang="x-none" dirty="0"/>
          </a:p>
        </p:txBody>
      </p:sp>
      <p:sp>
        <p:nvSpPr>
          <p:cNvPr id="14340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0" tIns="0" rIns="0" bIns="0" rtlCol="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>
                <a:solidFill>
                  <a:srgbClr val="045C75"/>
                </a:solidFill>
              </a:rPr>
              <a:t>21</a:t>
            </a:fld>
            <a:endParaRPr lang="en-US" sz="1200" dirty="0">
              <a:solidFill>
                <a:srgbClr val="045C75"/>
              </a:solidFill>
            </a:endParaRPr>
          </a:p>
        </p:txBody>
      </p:sp>
      <p:pic>
        <p:nvPicPr>
          <p:cNvPr id="14341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1" y="5805488"/>
            <a:ext cx="892175" cy="1052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0" rtlCol="0" anchor="b">
            <a:normAutofit/>
          </a:bodyPr>
          <a:lstStyle/>
          <a:p>
            <a:pPr eaLnBrk="1" hangingPunct="1"/>
            <a:r>
              <a:rPr b="1" dirty="0">
                <a:solidFill>
                  <a:schemeClr val="tx1"/>
                </a:solidFill>
              </a:rPr>
              <a:t>Pathophysiology</a:t>
            </a:r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/>
            <a:r>
              <a:rPr dirty="0"/>
              <a:t>Risk factors</a:t>
            </a:r>
          </a:p>
          <a:p>
            <a:pPr lvl="1" eaLnBrk="1" hangingPunct="1"/>
            <a:r>
              <a:rPr dirty="0"/>
              <a:t>Lack of EBF </a:t>
            </a:r>
          </a:p>
          <a:p>
            <a:pPr lvl="1" eaLnBrk="1" hangingPunct="1"/>
            <a:r>
              <a:rPr dirty="0"/>
              <a:t>Undernutrition</a:t>
            </a:r>
          </a:p>
          <a:p>
            <a:pPr lvl="1" eaLnBrk="1" hangingPunct="1"/>
            <a:r>
              <a:rPr dirty="0"/>
              <a:t>Indoor </a:t>
            </a:r>
            <a:r>
              <a:rPr lang="en-US" dirty="0"/>
              <a:t>air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pollution</a:t>
            </a:r>
            <a:endParaRPr b="1" dirty="0">
              <a:solidFill>
                <a:srgbClr val="FF0000"/>
              </a:solidFill>
            </a:endParaRPr>
          </a:p>
          <a:p>
            <a:pPr lvl="1" eaLnBrk="1" hangingPunct="1"/>
            <a:r>
              <a:rPr dirty="0"/>
              <a:t>Low birth weight</a:t>
            </a:r>
          </a:p>
          <a:p>
            <a:pPr lvl="1" eaLnBrk="1" hangingPunct="1"/>
            <a:r>
              <a:rPr lang="en-US" dirty="0"/>
              <a:t>Overc</a:t>
            </a:r>
            <a:r>
              <a:rPr dirty="0"/>
              <a:t>rowding</a:t>
            </a:r>
          </a:p>
          <a:p>
            <a:pPr lvl="1" eaLnBrk="1" hangingPunct="1"/>
            <a:r>
              <a:rPr dirty="0"/>
              <a:t>Lack of </a:t>
            </a:r>
            <a:r>
              <a:rPr lang="en-US" dirty="0">
                <a:solidFill>
                  <a:schemeClr val="tx1"/>
                </a:solidFill>
              </a:rPr>
              <a:t>vaccination</a:t>
            </a:r>
            <a:endParaRPr lang="en-US" b="1" dirty="0">
              <a:solidFill>
                <a:schemeClr val="tx1"/>
              </a:solidFill>
            </a:endParaRPr>
          </a:p>
          <a:p>
            <a:pPr lvl="1" eaLnBrk="1" hangingPunct="1"/>
            <a:r>
              <a:rPr lang="en-US" dirty="0">
                <a:solidFill>
                  <a:schemeClr val="tx1"/>
                </a:solidFill>
              </a:rPr>
              <a:t>Malnutrition,HIV infection</a:t>
            </a:r>
            <a:endParaRPr dirty="0"/>
          </a:p>
          <a:p>
            <a:pPr eaLnBrk="1" hangingPunct="1"/>
            <a:endParaRPr dirty="0"/>
          </a:p>
        </p:txBody>
      </p:sp>
      <p:sp>
        <p:nvSpPr>
          <p:cNvPr id="15364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0" tIns="0" rIns="0" bIns="0" rtlCol="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>
                <a:solidFill>
                  <a:srgbClr val="045C75"/>
                </a:solidFill>
              </a:rPr>
              <a:t>22</a:t>
            </a:fld>
            <a:endParaRPr lang="en-US" sz="1200" dirty="0">
              <a:solidFill>
                <a:srgbClr val="045C75"/>
              </a:solidFill>
            </a:endParaRPr>
          </a:p>
        </p:txBody>
      </p:sp>
      <p:pic>
        <p:nvPicPr>
          <p:cNvPr id="15365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1" y="4267201"/>
            <a:ext cx="892175" cy="10525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536F4-AF3B-4B6A-84D5-AE8246DFFEDE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presentation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Viral : Wheezing ,tachypnea, rhinorrhea</a:t>
            </a:r>
          </a:p>
          <a:p>
            <a:r>
              <a:rPr lang="en-US" dirty="0"/>
              <a:t>Bacterial :High grade fever, Cough ,Tachypnea, Coarse crackles ,Bronchial breath sounds </a:t>
            </a:r>
          </a:p>
          <a:p>
            <a:r>
              <a:rPr lang="en-US" dirty="0"/>
              <a:t>Atypical : </a:t>
            </a:r>
            <a:r>
              <a:rPr lang="en-US" dirty="0" err="1"/>
              <a:t>extrapulmonary</a:t>
            </a:r>
            <a:r>
              <a:rPr lang="en-US" dirty="0"/>
              <a:t> manifestations, low grade fever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536F4-AF3B-4B6A-84D5-AE8246DFFEDE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Laboratory diagnosis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i="1" dirty="0"/>
              <a:t>CBC: </a:t>
            </a:r>
          </a:p>
          <a:p>
            <a:pPr lvl="1"/>
            <a:r>
              <a:rPr lang="en-US" dirty="0"/>
              <a:t>High neutrophil count in bacterial infection </a:t>
            </a:r>
          </a:p>
          <a:p>
            <a:pPr lvl="1"/>
            <a:r>
              <a:rPr lang="en-US" dirty="0"/>
              <a:t>High lymphocyte count : Viral, </a:t>
            </a:r>
            <a:r>
              <a:rPr lang="en-US" dirty="0" err="1"/>
              <a:t>B.pertussis</a:t>
            </a:r>
            <a:r>
              <a:rPr lang="en-US"/>
              <a:t> , </a:t>
            </a:r>
            <a:r>
              <a:rPr lang="en-US" dirty="0" err="1"/>
              <a:t>M.Tuberculosis</a:t>
            </a:r>
            <a:r>
              <a:rPr lang="en-US" dirty="0"/>
              <a:t> </a:t>
            </a:r>
          </a:p>
          <a:p>
            <a:r>
              <a:rPr lang="en-US" sz="2400" b="1" i="1" dirty="0"/>
              <a:t>Raised acute phase reactant </a:t>
            </a:r>
          </a:p>
          <a:p>
            <a:pPr lvl="1"/>
            <a:r>
              <a:rPr lang="en-US" dirty="0"/>
              <a:t>CRP&gt;40mg/dl</a:t>
            </a:r>
          </a:p>
          <a:p>
            <a:pPr lvl="1"/>
            <a:r>
              <a:rPr lang="en-US" dirty="0" err="1"/>
              <a:t>Procalcitonin</a:t>
            </a:r>
            <a:r>
              <a:rPr lang="en-US" dirty="0"/>
              <a:t> </a:t>
            </a:r>
          </a:p>
          <a:p>
            <a:r>
              <a:rPr lang="en-US" sz="2400" b="1" i="1" dirty="0"/>
              <a:t>Blood culture :</a:t>
            </a:r>
          </a:p>
          <a:p>
            <a:pPr lvl="1"/>
            <a:r>
              <a:rPr lang="en-US" dirty="0"/>
              <a:t>20% positive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536F4-AF3B-4B6A-84D5-AE8246DFFEDE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Immunoassays</a:t>
            </a:r>
            <a:r>
              <a:rPr lang="en-US" dirty="0"/>
              <a:t> ;</a:t>
            </a:r>
          </a:p>
          <a:p>
            <a:pPr lvl="1"/>
            <a:r>
              <a:rPr lang="en-US" dirty="0"/>
              <a:t>Comparison from acute to convalescent stage </a:t>
            </a:r>
          </a:p>
          <a:p>
            <a:pPr lvl="1"/>
            <a:r>
              <a:rPr lang="en-US" dirty="0" err="1"/>
              <a:t>IgM</a:t>
            </a:r>
            <a:r>
              <a:rPr lang="en-US" dirty="0"/>
              <a:t> level </a:t>
            </a:r>
          </a:p>
          <a:p>
            <a:pPr lvl="1"/>
            <a:r>
              <a:rPr lang="en-US" dirty="0"/>
              <a:t>Cold agglutinins </a:t>
            </a:r>
          </a:p>
          <a:p>
            <a:r>
              <a:rPr lang="en-US" b="1" i="1" dirty="0"/>
              <a:t>Multiplex PCR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536F4-AF3B-4B6A-84D5-AE8246DFFEDE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Interstitial infiltrate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Lobar pneumonia 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198" y="2609568"/>
            <a:ext cx="4045268" cy="366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609568"/>
            <a:ext cx="3810000" cy="3669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536F4-AF3B-4B6A-84D5-AE8246DFFEDE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0" y="457200"/>
            <a:ext cx="7772400" cy="533400"/>
          </a:xfrm>
          <a:ln>
            <a:miter lim="800000"/>
          </a:ln>
          <a:effectLst/>
          <a:sp3d prstMaterial="plastic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rtlCol="0" anchor="b" anchorCtr="0" compatLnSpc="1">
            <a:normAutofit fontScale="90000"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/>
          <a:p>
            <a:pPr>
              <a:lnSpc>
                <a:spcPct val="100000"/>
              </a:lnSpc>
              <a:defRPr/>
            </a:pPr>
            <a:r>
              <a:rPr lang="en-US" sz="5000" b="1" dirty="0">
                <a:solidFill>
                  <a:schemeClr val="tx1"/>
                </a:solidFill>
                <a:latin typeface="+mj-lt"/>
              </a:rPr>
              <a:t>Types of Pneumonia</a:t>
            </a:r>
          </a:p>
        </p:txBody>
      </p:sp>
      <p:grpSp>
        <p:nvGrpSpPr>
          <p:cNvPr id="2" name="Group 5"/>
          <p:cNvGrpSpPr/>
          <p:nvPr/>
        </p:nvGrpSpPr>
        <p:grpSpPr>
          <a:xfrm>
            <a:off x="2133600" y="1066800"/>
            <a:ext cx="9144000" cy="4344988"/>
            <a:chOff x="0" y="0"/>
            <a:chExt cx="3348" cy="698"/>
          </a:xfrm>
        </p:grpSpPr>
        <p:sp>
          <p:nvSpPr>
            <p:cNvPr id="30726" name="Rectangle 3"/>
            <p:cNvSpPr/>
            <p:nvPr/>
          </p:nvSpPr>
          <p:spPr>
            <a:xfrm>
              <a:off x="0" y="0"/>
              <a:ext cx="3348" cy="5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endParaRPr lang="en-GB" altLang="x-none" dirty="0">
                <a:latin typeface="Verdana" panose="020B0604030504040204" pitchFamily="34" charset="0"/>
              </a:endParaRPr>
            </a:p>
          </p:txBody>
        </p:sp>
        <p:sp>
          <p:nvSpPr>
            <p:cNvPr id="30727" name="Rectangle 4"/>
            <p:cNvSpPr/>
            <p:nvPr/>
          </p:nvSpPr>
          <p:spPr>
            <a:xfrm>
              <a:off x="0" y="0"/>
              <a:ext cx="2952" cy="69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eaLnBrk="1" hangingPunct="1"/>
              <a:endParaRPr sz="600" dirty="0">
                <a:latin typeface="Verdana" panose="020B0604030504040204" pitchFamily="34" charset="0"/>
                <a:cs typeface="Arial" panose="020B0604020202020204" pitchFamily="34" charset="0"/>
              </a:endParaRPr>
            </a:p>
            <a:p>
              <a:pPr lvl="1">
                <a:buChar char="•"/>
              </a:pPr>
              <a:r>
                <a:rPr sz="2000" b="1" dirty="0">
                  <a:latin typeface="Verdana" panose="020B0604030504040204" pitchFamily="34" charset="0"/>
                  <a:cs typeface="Arial" panose="020B0604020202020204" pitchFamily="34" charset="0"/>
                </a:rPr>
                <a:t> Community-acquired (CAP) </a:t>
              </a:r>
            </a:p>
            <a:p>
              <a:pPr lvl="1">
                <a:buChar char="•"/>
              </a:pPr>
              <a:endParaRPr sz="2000" b="1" dirty="0">
                <a:latin typeface="Verdana" panose="020B0604030504040204" pitchFamily="34" charset="0"/>
                <a:cs typeface="Arial" panose="020B0604020202020204" pitchFamily="34" charset="0"/>
              </a:endParaRPr>
            </a:p>
            <a:p>
              <a:pPr lvl="1">
                <a:buChar char="•"/>
              </a:pPr>
              <a:r>
                <a:rPr sz="2000" b="1" dirty="0">
                  <a:latin typeface="Verdana" panose="020B0604030504040204" pitchFamily="34" charset="0"/>
                  <a:cs typeface="Arial" panose="020B0604020202020204" pitchFamily="34" charset="0"/>
                </a:rPr>
                <a:t> Nosocomial or hospital-acquired</a:t>
              </a:r>
              <a:r>
                <a:rPr sz="2000" dirty="0">
                  <a:latin typeface="Verdana" panose="020B0604030504040204" pitchFamily="34" charset="0"/>
                  <a:cs typeface="Arial" panose="020B0604020202020204" pitchFamily="34" charset="0"/>
                </a:rPr>
                <a:t> .</a:t>
              </a:r>
            </a:p>
            <a:p>
              <a:pPr lvl="1"/>
              <a:endParaRPr sz="2000" dirty="0">
                <a:latin typeface="Verdana" panose="020B0604030504040204" pitchFamily="34" charset="0"/>
                <a:cs typeface="Arial" panose="020B0604020202020204" pitchFamily="34" charset="0"/>
              </a:endParaRPr>
            </a:p>
            <a:p>
              <a:pPr lvl="1" eaLnBrk="1" hangingPunct="1">
                <a:buFont typeface="Arial" panose="020B0604020202020204" pitchFamily="34" charset="0"/>
                <a:buChar char="•"/>
              </a:pPr>
              <a:r>
                <a:rPr lang="en-GB" altLang="x-none" b="1" dirty="0">
                  <a:latin typeface="Verdana" panose="020B0604030504040204" pitchFamily="34" charset="0"/>
                </a:rPr>
                <a:t>  </a:t>
              </a:r>
              <a:r>
                <a:rPr lang="en-GB" altLang="x-none" b="1" dirty="0">
                  <a:solidFill>
                    <a:srgbClr val="7030A0"/>
                  </a:solidFill>
                  <a:latin typeface="Verdana" panose="020B0604030504040204" pitchFamily="34" charset="0"/>
                </a:rPr>
                <a:t>Recurrent pneumonia</a:t>
              </a:r>
              <a:r>
                <a:rPr lang="en-GB" altLang="x-none" dirty="0">
                  <a:solidFill>
                    <a:srgbClr val="7030A0"/>
                  </a:solidFill>
                  <a:latin typeface="Verdana" panose="020B0604030504040204" pitchFamily="34" charset="0"/>
                </a:rPr>
                <a:t> </a:t>
              </a:r>
              <a:r>
                <a:rPr lang="en-GB" altLang="x-none" dirty="0">
                  <a:latin typeface="Verdana" panose="020B0604030504040204" pitchFamily="34" charset="0"/>
                </a:rPr>
                <a:t>is defined </a:t>
              </a:r>
              <a:r>
                <a:rPr lang="en-GB" altLang="x-none" b="1" dirty="0">
                  <a:latin typeface="Verdana" panose="020B0604030504040204" pitchFamily="34" charset="0"/>
                </a:rPr>
                <a:t>as </a:t>
              </a:r>
              <a:r>
                <a:rPr lang="en-GB" altLang="x-none" b="1" dirty="0">
                  <a:solidFill>
                    <a:srgbClr val="FF0000"/>
                  </a:solidFill>
                  <a:latin typeface="Verdana" panose="020B0604030504040204" pitchFamily="34" charset="0"/>
                </a:rPr>
                <a:t>2 or more</a:t>
              </a:r>
              <a:r>
                <a:rPr lang="en-GB" altLang="x-none" dirty="0">
                  <a:solidFill>
                    <a:srgbClr val="FF0000"/>
                  </a:solidFill>
                  <a:latin typeface="Verdana" panose="020B0604030504040204" pitchFamily="34" charset="0"/>
                </a:rPr>
                <a:t> episodes in a single yr </a:t>
              </a:r>
              <a:r>
                <a:rPr lang="en-GB" altLang="x-none" b="1" dirty="0">
                  <a:latin typeface="Verdana" panose="020B0604030504040204" pitchFamily="34" charset="0"/>
                </a:rPr>
                <a:t>or </a:t>
              </a:r>
              <a:r>
                <a:rPr lang="en-GB" altLang="x-none" b="1" dirty="0">
                  <a:solidFill>
                    <a:srgbClr val="FF0000"/>
                  </a:solidFill>
                  <a:latin typeface="Verdana" panose="020B0604030504040204" pitchFamily="34" charset="0"/>
                </a:rPr>
                <a:t>3 or more</a:t>
              </a:r>
              <a:r>
                <a:rPr lang="en-GB" altLang="x-none" dirty="0">
                  <a:solidFill>
                    <a:srgbClr val="FF0000"/>
                  </a:solidFill>
                  <a:latin typeface="Verdana" panose="020B0604030504040204" pitchFamily="34" charset="0"/>
                </a:rPr>
                <a:t> episodes ever</a:t>
              </a:r>
              <a:r>
                <a:rPr lang="en-GB" altLang="x-none" dirty="0">
                  <a:latin typeface="Verdana" panose="020B0604030504040204" pitchFamily="34" charset="0"/>
                </a:rPr>
                <a:t>, with </a:t>
              </a:r>
              <a:r>
                <a:rPr lang="en-GB" altLang="x-none" b="1" dirty="0">
                  <a:latin typeface="Verdana" panose="020B0604030504040204" pitchFamily="34" charset="0"/>
                </a:rPr>
                <a:t>radiographic clearing between occurrences. </a:t>
              </a:r>
            </a:p>
            <a:p>
              <a:pPr eaLnBrk="1" hangingPunct="1"/>
              <a:endParaRPr lang="en-GB" altLang="x-none" dirty="0">
                <a:latin typeface="Verdana" panose="020B0604030504040204" pitchFamily="34" charset="0"/>
              </a:endParaRPr>
            </a:p>
            <a:p>
              <a:pPr eaLnBrk="1" hangingPunct="1"/>
              <a:r>
                <a:rPr lang="en-GB" altLang="x-none" dirty="0">
                  <a:latin typeface="Verdana" panose="020B0604030504040204" pitchFamily="34" charset="0"/>
                </a:rPr>
                <a:t>An underlying disorder should be considered if a child experiences recurrent bacterial pneumonia. </a:t>
              </a:r>
            </a:p>
            <a:p>
              <a:pPr lvl="1">
                <a:buChar char="•"/>
              </a:pPr>
              <a:endParaRPr sz="2000" dirty="0">
                <a:latin typeface="Verdana" panose="020B0604030504040204" pitchFamily="34" charset="0"/>
                <a:cs typeface="Arial" panose="020B0604020202020204" pitchFamily="34" charset="0"/>
              </a:endParaRPr>
            </a:p>
            <a:p>
              <a:endParaRPr sz="2000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30724" name="Object 9"/>
          <p:cNvGraphicFramePr>
            <a:graphicFrameLocks noChangeAspect="1"/>
          </p:cNvGraphicFramePr>
          <p:nvPr/>
        </p:nvGraphicFramePr>
        <p:xfrm>
          <a:off x="9775826" y="5805488"/>
          <a:ext cx="892175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71700" imgH="2562225" progId="Paint.Picture">
                  <p:embed/>
                </p:oleObj>
              </mc:Choice>
              <mc:Fallback>
                <p:oleObj r:id="rId2" imgW="2171700" imgH="2562225" progId="Paint.Picture">
                  <p:embed/>
                  <p:pic>
                    <p:nvPicPr>
                      <p:cNvPr id="30724" name="Object 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775826" y="5805488"/>
                        <a:ext cx="892175" cy="1052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Slide Number Placeholder 6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0" tIns="0" rIns="0" bIns="0" rtlCol="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>
                <a:solidFill>
                  <a:srgbClr val="045C75"/>
                </a:solidFill>
              </a:rPr>
              <a:t>28</a:t>
            </a:fld>
            <a:endParaRPr lang="en-US" sz="1200" dirty="0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1981200" y="304800"/>
            <a:ext cx="8229600" cy="838200"/>
          </a:xfrm>
        </p:spPr>
        <p:txBody>
          <a:bodyPr vert="horz" wrap="square" lIns="0" tIns="45720" rIns="0" bIns="0" rtlCol="0" anchor="b">
            <a:normAutofit/>
          </a:bodyPr>
          <a:lstStyle/>
          <a:p>
            <a:pPr eaLnBrk="1" hangingPunct="1"/>
            <a:r>
              <a:rPr lang="en-GB" altLang="x-none" sz="3600" b="1" dirty="0">
                <a:solidFill>
                  <a:schemeClr val="tx1"/>
                </a:solidFill>
              </a:rPr>
              <a:t>Causes of recurrent pneumonia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981200" y="1371600"/>
            <a:ext cx="8229600" cy="4953000"/>
          </a:xfrm>
        </p:spPr>
        <p:txBody>
          <a:bodyPr vert="horz" wrap="square" lIns="91440" tIns="45720" rIns="91440" bIns="45720" numCol="1" rtlCol="0" anchor="t" anchorCtr="0" compatLnSpc="1">
            <a:normAutofit fontScale="92500" lnSpcReduction="10000"/>
          </a:bodyPr>
          <a:lstStyle/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GB" sz="2600" dirty="0">
                <a:solidFill>
                  <a:srgbClr val="FF0000"/>
                </a:solidFill>
                <a:latin typeface="+mn-lt"/>
              </a:rPr>
              <a:t>Hereditary</a:t>
            </a:r>
            <a:r>
              <a:rPr lang="en-GB" sz="2600" dirty="0">
                <a:latin typeface="+mn-lt"/>
              </a:rPr>
              <a:t> Disorders: </a:t>
            </a:r>
            <a:r>
              <a:rPr lang="en-GB" sz="2600" b="1" dirty="0">
                <a:latin typeface="+mn-lt"/>
              </a:rPr>
              <a:t>Cystic fibrosis</a:t>
            </a:r>
            <a:r>
              <a:rPr lang="en-GB" sz="2600" dirty="0">
                <a:latin typeface="+mn-lt"/>
              </a:rPr>
              <a:t>, </a:t>
            </a:r>
            <a:r>
              <a:rPr lang="en-GB" sz="2600" b="1" dirty="0">
                <a:latin typeface="+mn-lt"/>
              </a:rPr>
              <a:t>Sickle cell </a:t>
            </a:r>
            <a:r>
              <a:rPr lang="en-GB" sz="2600" dirty="0">
                <a:latin typeface="+mn-lt"/>
              </a:rPr>
              <a:t>disease</a:t>
            </a: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GB" sz="2600" dirty="0">
                <a:latin typeface="+mn-lt"/>
              </a:rPr>
              <a:t>Disorders of </a:t>
            </a:r>
            <a:r>
              <a:rPr lang="en-GB" sz="2600" dirty="0">
                <a:solidFill>
                  <a:srgbClr val="FF0000"/>
                </a:solidFill>
                <a:latin typeface="+mn-lt"/>
              </a:rPr>
              <a:t>Immunity</a:t>
            </a:r>
            <a:r>
              <a:rPr lang="en-GB" sz="2600" dirty="0">
                <a:latin typeface="+mn-lt"/>
              </a:rPr>
              <a:t>: </a:t>
            </a:r>
            <a:r>
              <a:rPr lang="en-GB" sz="2600" b="1" dirty="0">
                <a:latin typeface="+mn-lt"/>
              </a:rPr>
              <a:t>AIDS</a:t>
            </a:r>
            <a:r>
              <a:rPr lang="en-GB" sz="2600" dirty="0">
                <a:latin typeface="+mn-lt"/>
              </a:rPr>
              <a:t>,  </a:t>
            </a:r>
            <a:r>
              <a:rPr lang="en-GB" sz="2600" dirty="0" err="1">
                <a:latin typeface="+mn-lt"/>
              </a:rPr>
              <a:t>agammaglobulinemia</a:t>
            </a:r>
            <a:endParaRPr lang="en-GB" sz="2600" dirty="0">
              <a:latin typeface="+mn-lt"/>
            </a:endParaRP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GB" sz="2600" dirty="0">
                <a:latin typeface="+mn-lt"/>
              </a:rPr>
              <a:t>  </a:t>
            </a: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GB" sz="2600" dirty="0">
                <a:latin typeface="+mn-lt"/>
              </a:rPr>
              <a:t>Disorders of </a:t>
            </a:r>
            <a:r>
              <a:rPr lang="en-GB" sz="2600" b="1" dirty="0">
                <a:solidFill>
                  <a:srgbClr val="FF0000"/>
                </a:solidFill>
                <a:latin typeface="+mn-lt"/>
              </a:rPr>
              <a:t>Leukocytes</a:t>
            </a:r>
            <a:r>
              <a:rPr lang="en-GB" sz="2600" b="1" dirty="0">
                <a:latin typeface="+mn-lt"/>
              </a:rPr>
              <a:t>: </a:t>
            </a:r>
            <a:r>
              <a:rPr lang="en-GB" sz="2600" dirty="0">
                <a:latin typeface="+mn-lt"/>
              </a:rPr>
              <a:t>Chronic </a:t>
            </a:r>
            <a:r>
              <a:rPr lang="en-GB" sz="2600" dirty="0" err="1">
                <a:latin typeface="+mn-lt"/>
              </a:rPr>
              <a:t>granulomatous</a:t>
            </a:r>
            <a:r>
              <a:rPr lang="en-GB" sz="2600" dirty="0">
                <a:latin typeface="+mn-lt"/>
              </a:rPr>
              <a:t> disease</a:t>
            </a: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GB" sz="2600" dirty="0">
                <a:latin typeface="+mn-lt"/>
              </a:rPr>
              <a:t>  </a:t>
            </a:r>
            <a:r>
              <a:rPr lang="en-GB" sz="2600" dirty="0" err="1">
                <a:latin typeface="+mn-lt"/>
              </a:rPr>
              <a:t>Hyperimmunoglobulin</a:t>
            </a:r>
            <a:r>
              <a:rPr lang="en-GB" sz="2600" dirty="0">
                <a:latin typeface="+mn-lt"/>
              </a:rPr>
              <a:t> E syndrome (Job syndrome)</a:t>
            </a: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GB" sz="2600" dirty="0">
                <a:latin typeface="+mn-lt"/>
              </a:rPr>
              <a:t>  </a:t>
            </a: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GB" sz="2600" dirty="0">
                <a:latin typeface="+mn-lt"/>
              </a:rPr>
              <a:t>Disorders of </a:t>
            </a:r>
            <a:r>
              <a:rPr lang="en-GB" sz="2600" b="1" dirty="0">
                <a:solidFill>
                  <a:srgbClr val="FF0000"/>
                </a:solidFill>
                <a:latin typeface="+mn-lt"/>
              </a:rPr>
              <a:t>Cilia</a:t>
            </a:r>
            <a:r>
              <a:rPr lang="en-GB" sz="2600" b="1" dirty="0">
                <a:latin typeface="+mn-lt"/>
              </a:rPr>
              <a:t>: Immotile</a:t>
            </a:r>
            <a:r>
              <a:rPr lang="en-GB" sz="2600" dirty="0">
                <a:latin typeface="+mn-lt"/>
              </a:rPr>
              <a:t> cilia syndrome,  </a:t>
            </a:r>
            <a:r>
              <a:rPr lang="en-GB" sz="2600" b="1" dirty="0" err="1">
                <a:latin typeface="+mn-lt"/>
              </a:rPr>
              <a:t>Kartagener</a:t>
            </a:r>
            <a:r>
              <a:rPr lang="en-GB" sz="2600" dirty="0">
                <a:latin typeface="+mn-lt"/>
              </a:rPr>
              <a:t> syndrome</a:t>
            </a: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endParaRPr lang="en-GB" sz="2600" dirty="0">
              <a:latin typeface="+mn-lt"/>
            </a:endParaRP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GB" sz="2600" b="1" dirty="0">
                <a:solidFill>
                  <a:srgbClr val="FF0000"/>
                </a:solidFill>
                <a:latin typeface="+mn-lt"/>
              </a:rPr>
              <a:t>Anatomic</a:t>
            </a:r>
            <a:r>
              <a:rPr lang="en-GB" sz="2600" b="1" dirty="0">
                <a:latin typeface="+mn-lt"/>
              </a:rPr>
              <a:t> </a:t>
            </a:r>
            <a:r>
              <a:rPr lang="en-GB" sz="2600" dirty="0">
                <a:latin typeface="+mn-lt"/>
              </a:rPr>
              <a:t>Disorders</a:t>
            </a:r>
            <a:r>
              <a:rPr lang="en-GB" sz="2600" b="1" dirty="0">
                <a:latin typeface="+mn-lt"/>
              </a:rPr>
              <a:t>: </a:t>
            </a:r>
            <a:r>
              <a:rPr lang="en-GB" sz="2600" dirty="0">
                <a:latin typeface="+mn-lt"/>
              </a:rPr>
              <a:t>Sequestration,  </a:t>
            </a:r>
            <a:r>
              <a:rPr lang="en-GB" sz="2600" dirty="0" err="1">
                <a:latin typeface="+mn-lt"/>
              </a:rPr>
              <a:t>Esophageal</a:t>
            </a:r>
            <a:r>
              <a:rPr lang="en-GB" sz="2600" dirty="0">
                <a:latin typeface="+mn-lt"/>
              </a:rPr>
              <a:t> </a:t>
            </a:r>
            <a:r>
              <a:rPr lang="en-GB" sz="2600" b="1" dirty="0">
                <a:latin typeface="+mn-lt"/>
              </a:rPr>
              <a:t>reflux</a:t>
            </a:r>
            <a:r>
              <a:rPr lang="en-GB" sz="2600" dirty="0">
                <a:latin typeface="+mn-lt"/>
              </a:rPr>
              <a:t>, </a:t>
            </a:r>
            <a:r>
              <a:rPr lang="en-GB" sz="2600" b="1" dirty="0">
                <a:latin typeface="+mn-lt"/>
              </a:rPr>
              <a:t>Foreign body</a:t>
            </a:r>
            <a:r>
              <a:rPr lang="en-GB" sz="2600" dirty="0">
                <a:latin typeface="+mn-lt"/>
              </a:rPr>
              <a:t>,  </a:t>
            </a:r>
            <a:r>
              <a:rPr lang="en-GB" sz="2600" dirty="0" err="1">
                <a:latin typeface="+mn-lt"/>
              </a:rPr>
              <a:t>Tracheoesophageal</a:t>
            </a:r>
            <a:r>
              <a:rPr lang="en-GB" sz="2600" dirty="0">
                <a:latin typeface="+mn-lt"/>
              </a:rPr>
              <a:t> </a:t>
            </a:r>
            <a:r>
              <a:rPr lang="en-GB" sz="2600" b="1" dirty="0">
                <a:latin typeface="+mn-lt"/>
              </a:rPr>
              <a:t>fistula</a:t>
            </a:r>
            <a:r>
              <a:rPr lang="en-GB" sz="2600" dirty="0">
                <a:latin typeface="+mn-lt"/>
              </a:rPr>
              <a:t> ,</a:t>
            </a:r>
            <a:r>
              <a:rPr lang="en-GB" sz="2600" dirty="0" err="1">
                <a:latin typeface="+mn-lt"/>
              </a:rPr>
              <a:t>Gastroesophageal</a:t>
            </a:r>
            <a:r>
              <a:rPr lang="en-GB" sz="2600" dirty="0">
                <a:latin typeface="+mn-lt"/>
              </a:rPr>
              <a:t> reflux,  </a:t>
            </a:r>
            <a:r>
              <a:rPr lang="en-GB" sz="2600" b="1" dirty="0" err="1">
                <a:latin typeface="+mn-lt"/>
              </a:rPr>
              <a:t>Bronchiectasis</a:t>
            </a:r>
            <a:r>
              <a:rPr lang="en-GB" sz="2600" dirty="0">
                <a:latin typeface="+mn-lt"/>
              </a:rPr>
              <a:t>.</a:t>
            </a: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Font typeface="Wingdings 2" panose="05020102010507070707"/>
              <a:buChar char=""/>
              <a:defRPr/>
            </a:pPr>
            <a:endParaRPr lang="en-GB" sz="2600" dirty="0">
              <a:latin typeface="+mn-lt"/>
            </a:endParaRP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Font typeface="Wingdings 2" panose="05020102010507070707"/>
              <a:buChar char=""/>
              <a:defRPr/>
            </a:pPr>
            <a:endParaRPr lang="en-GB" sz="2600" dirty="0">
              <a:latin typeface="+mn-lt"/>
            </a:endParaRP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Font typeface="Wingdings 2" panose="05020102010507070707"/>
              <a:buChar char=""/>
              <a:defRPr/>
            </a:pPr>
            <a:endParaRPr lang="en-GB" sz="2600" dirty="0">
              <a:latin typeface="+mn-lt"/>
            </a:endParaRPr>
          </a:p>
        </p:txBody>
      </p:sp>
      <p:sp>
        <p:nvSpPr>
          <p:cNvPr id="31748" name="Slide Number Placeholder 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0" tIns="0" rIns="0" bIns="0" rtlCol="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>
                <a:solidFill>
                  <a:srgbClr val="045C75"/>
                </a:solidFill>
              </a:rPr>
              <a:t>29</a:t>
            </a:fld>
            <a:endParaRPr lang="en-US" sz="1200" dirty="0">
              <a:solidFill>
                <a:srgbClr val="045C75"/>
              </a:solidFill>
            </a:endParaRPr>
          </a:p>
        </p:txBody>
      </p:sp>
      <p:pic>
        <p:nvPicPr>
          <p:cNvPr id="31749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826" y="5805488"/>
            <a:ext cx="892175" cy="1052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D5DE0-F6FB-167A-CCF3-7AF4A3A07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F1D5554-2C5B-A3F5-6A29-A03D861848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994" y="1430594"/>
            <a:ext cx="6430296" cy="4306529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5A4C9D-5ADE-ADCF-F53C-CC00D795C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96DDF-8269-4DCB-445C-58E9A4C78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62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0" rtlCol="0" anchor="b">
            <a:normAutofit/>
          </a:bodyPr>
          <a:lstStyle/>
          <a:p>
            <a:pPr eaLnBrk="1" hangingPunct="1"/>
            <a:r>
              <a:rPr dirty="0">
                <a:solidFill>
                  <a:schemeClr val="tx1"/>
                </a:solidFill>
              </a:rPr>
              <a:t>Complications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935163"/>
            <a:ext cx="8229600" cy="4389438"/>
          </a:xfrm>
        </p:spPr>
        <p:txBody>
          <a:bodyPr vert="horz" wrap="square" lIns="91440" tIns="45720" rIns="91440" bIns="45720" numCol="1" rtlCol="0" anchor="t" anchorCtr="0" compatLnSpc="1">
            <a:normAutofit fontScale="92500" lnSpcReduction="20000"/>
          </a:bodyPr>
          <a:lstStyle/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GB" sz="2600" dirty="0">
                <a:latin typeface="+mn-lt"/>
              </a:rPr>
              <a:t>Complications of pneumonia are usually the result of direct</a:t>
            </a: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GB" sz="2600" dirty="0">
                <a:latin typeface="+mn-lt"/>
              </a:rPr>
              <a:t>spread of bacterial infection within the thoracic cavity or</a:t>
            </a: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GB" sz="2600" dirty="0" err="1">
                <a:latin typeface="+mn-lt"/>
              </a:rPr>
              <a:t>hematogenous</a:t>
            </a:r>
            <a:r>
              <a:rPr lang="en-GB" sz="2600" dirty="0">
                <a:latin typeface="+mn-lt"/>
              </a:rPr>
              <a:t> spread.</a:t>
            </a:r>
            <a:endParaRPr lang="en-US" sz="2600" dirty="0">
              <a:latin typeface="+mn-lt"/>
            </a:endParaRP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Font typeface="Wingdings 2" panose="05020102010507070707"/>
              <a:buChar char=""/>
              <a:defRPr/>
            </a:pPr>
            <a:r>
              <a:rPr lang="en-US" sz="2600" b="1" dirty="0">
                <a:latin typeface="+mn-lt"/>
              </a:rPr>
              <a:t>Abscess</a:t>
            </a: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Font typeface="Wingdings 2" panose="05020102010507070707"/>
              <a:buChar char=""/>
              <a:defRPr/>
            </a:pPr>
            <a:r>
              <a:rPr lang="en-US" sz="2600" dirty="0">
                <a:latin typeface="+mn-lt"/>
              </a:rPr>
              <a:t>Pleural </a:t>
            </a:r>
            <a:r>
              <a:rPr lang="en-US" sz="2600" b="1" dirty="0">
                <a:latin typeface="+mn-lt"/>
              </a:rPr>
              <a:t>effusion</a:t>
            </a:r>
            <a:r>
              <a:rPr lang="en-US" sz="2600" dirty="0">
                <a:latin typeface="+mn-lt"/>
              </a:rPr>
              <a:t>, </a:t>
            </a:r>
            <a:r>
              <a:rPr lang="en-US" sz="2600" dirty="0" err="1">
                <a:latin typeface="+mn-lt"/>
              </a:rPr>
              <a:t>empyema</a:t>
            </a:r>
            <a:endParaRPr lang="en-US" sz="2600" dirty="0">
              <a:latin typeface="+mn-lt"/>
            </a:endParaRPr>
          </a:p>
          <a:p>
            <a:pPr marL="548640" lvl="1" indent="-27432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/>
              <a:buChar char=""/>
              <a:defRPr/>
            </a:pPr>
            <a:r>
              <a:rPr lang="en-US" dirty="0" err="1">
                <a:latin typeface="+mn-lt"/>
              </a:rPr>
              <a:t>Bronchopleural</a:t>
            </a:r>
            <a:r>
              <a:rPr lang="en-US" dirty="0">
                <a:latin typeface="+mn-lt"/>
              </a:rPr>
              <a:t> fistula</a:t>
            </a:r>
          </a:p>
          <a:p>
            <a:pPr marL="548640" lvl="1" indent="-27432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/>
              <a:buChar char=""/>
              <a:defRPr/>
            </a:pPr>
            <a:r>
              <a:rPr lang="en-US" dirty="0" err="1">
                <a:latin typeface="+mn-lt"/>
              </a:rPr>
              <a:t>Cutaneous</a:t>
            </a:r>
            <a:r>
              <a:rPr lang="en-US" dirty="0">
                <a:latin typeface="+mn-lt"/>
              </a:rPr>
              <a:t> fistula</a:t>
            </a:r>
          </a:p>
          <a:p>
            <a:pPr marL="548640" lvl="1" indent="-274320">
              <a:lnSpc>
                <a:spcPct val="100000"/>
              </a:lnSpc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/>
              <a:buChar char=""/>
              <a:defRPr/>
            </a:pPr>
            <a:r>
              <a:rPr lang="en-US" dirty="0" err="1">
                <a:latin typeface="+mn-lt"/>
              </a:rPr>
              <a:t>Pneumothorax</a:t>
            </a:r>
            <a:endParaRPr lang="en-US" dirty="0">
              <a:latin typeface="+mn-lt"/>
            </a:endParaRP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Font typeface="Wingdings 2" panose="05020102010507070707"/>
              <a:buChar char=""/>
              <a:defRPr/>
            </a:pPr>
            <a:r>
              <a:rPr lang="en-US" sz="2600" dirty="0" err="1">
                <a:latin typeface="+mn-lt"/>
              </a:rPr>
              <a:t>Hematogenous</a:t>
            </a:r>
            <a:r>
              <a:rPr lang="en-US" sz="2600" dirty="0">
                <a:latin typeface="+mn-lt"/>
              </a:rPr>
              <a:t> spread (</a:t>
            </a:r>
            <a:r>
              <a:rPr lang="en-US" sz="2600" b="1" dirty="0">
                <a:latin typeface="+mn-lt"/>
              </a:rPr>
              <a:t>meningitis</a:t>
            </a:r>
            <a:r>
              <a:rPr lang="en-US" sz="2600" dirty="0">
                <a:latin typeface="+mn-lt"/>
              </a:rPr>
              <a:t>, </a:t>
            </a:r>
            <a:r>
              <a:rPr lang="en-GB" sz="2600" dirty="0" err="1">
                <a:latin typeface="+mn-lt"/>
              </a:rPr>
              <a:t>suppurative</a:t>
            </a:r>
            <a:r>
              <a:rPr lang="en-GB" sz="2600" dirty="0">
                <a:latin typeface="+mn-lt"/>
              </a:rPr>
              <a:t> </a:t>
            </a:r>
            <a:r>
              <a:rPr lang="en-GB" sz="2600" b="1" dirty="0">
                <a:latin typeface="+mn-lt"/>
              </a:rPr>
              <a:t>arthritis</a:t>
            </a:r>
            <a:r>
              <a:rPr lang="en-GB" sz="2600" dirty="0">
                <a:latin typeface="+mn-lt"/>
              </a:rPr>
              <a:t>, and </a:t>
            </a:r>
            <a:r>
              <a:rPr lang="en-GB" sz="2600" b="1" dirty="0" err="1">
                <a:latin typeface="+mn-lt"/>
              </a:rPr>
              <a:t>osteomyelitis</a:t>
            </a:r>
            <a:r>
              <a:rPr lang="en-GB" sz="2600" b="1" dirty="0">
                <a:latin typeface="+mn-lt"/>
              </a:rPr>
              <a:t>)</a:t>
            </a: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Font typeface="Wingdings 2" panose="05020102010507070707"/>
              <a:buChar char=""/>
              <a:defRPr/>
            </a:pPr>
            <a:r>
              <a:rPr lang="en-US" sz="2600" dirty="0" err="1">
                <a:solidFill>
                  <a:srgbClr val="7030A0"/>
                </a:solidFill>
                <a:latin typeface="+mn-lt"/>
              </a:rPr>
              <a:t>Bronchiectasis</a:t>
            </a:r>
            <a:endParaRPr lang="en-US" sz="2600" dirty="0">
              <a:solidFill>
                <a:srgbClr val="7030A0"/>
              </a:solidFill>
              <a:latin typeface="+mn-lt"/>
            </a:endParaRP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Font typeface="Wingdings 2" panose="05020102010507070707"/>
              <a:buChar char=""/>
              <a:defRPr/>
            </a:pPr>
            <a:r>
              <a:rPr lang="en-US" sz="2600" dirty="0" err="1">
                <a:solidFill>
                  <a:srgbClr val="7030A0"/>
                </a:solidFill>
                <a:latin typeface="+mn-lt"/>
              </a:rPr>
              <a:t>Pericarditis</a:t>
            </a:r>
            <a:endParaRPr lang="en-US" sz="2600" dirty="0">
              <a:solidFill>
                <a:srgbClr val="7030A0"/>
              </a:solidFill>
              <a:latin typeface="+mn-lt"/>
            </a:endParaRP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Font typeface="Wingdings 2" panose="05020102010507070707"/>
              <a:buChar char=""/>
              <a:defRPr/>
            </a:pPr>
            <a:endParaRPr lang="en-US" sz="2600" dirty="0">
              <a:latin typeface="+mn-lt"/>
            </a:endParaRPr>
          </a:p>
        </p:txBody>
      </p:sp>
      <p:sp>
        <p:nvSpPr>
          <p:cNvPr id="35844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0" tIns="0" rIns="0" bIns="0" rtlCol="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>
                <a:solidFill>
                  <a:srgbClr val="045C75"/>
                </a:solidFill>
              </a:rPr>
              <a:t>31</a:t>
            </a:fld>
            <a:endParaRPr lang="en-US" sz="1200" dirty="0">
              <a:solidFill>
                <a:srgbClr val="045C75"/>
              </a:solidFill>
            </a:endParaRPr>
          </a:p>
        </p:txBody>
      </p:sp>
      <p:pic>
        <p:nvPicPr>
          <p:cNvPr id="35845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826" y="5805488"/>
            <a:ext cx="892175" cy="1052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1981200" y="210820"/>
            <a:ext cx="8229600" cy="873760"/>
          </a:xfrm>
        </p:spPr>
        <p:txBody>
          <a:bodyPr vert="horz" wrap="square" lIns="0" tIns="45720" rIns="0" bIns="0" rtlCol="0" anchor="b">
            <a:normAutofit/>
          </a:bodyPr>
          <a:lstStyle/>
          <a:p>
            <a:pPr eaLnBrk="1" hangingPunct="1"/>
            <a:r>
              <a:rPr dirty="0">
                <a:solidFill>
                  <a:schemeClr val="tx1"/>
                </a:solidFill>
              </a:rPr>
              <a:t>Principles of treatment</a:t>
            </a: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/>
            <a:r>
              <a:rPr dirty="0"/>
              <a:t>Appropriate antimicrobial agents</a:t>
            </a:r>
          </a:p>
          <a:p>
            <a:pPr eaLnBrk="1" hangingPunct="1"/>
            <a:r>
              <a:rPr dirty="0"/>
              <a:t>Decrease fever</a:t>
            </a:r>
          </a:p>
          <a:p>
            <a:pPr eaLnBrk="1" hangingPunct="1"/>
            <a:r>
              <a:rPr dirty="0"/>
              <a:t>Encourage feeding</a:t>
            </a:r>
          </a:p>
          <a:p>
            <a:pPr eaLnBrk="1" hangingPunct="1"/>
            <a:r>
              <a:rPr dirty="0"/>
              <a:t>Increase fluid intake</a:t>
            </a:r>
          </a:p>
          <a:p>
            <a:pPr eaLnBrk="1" hangingPunct="1"/>
            <a:r>
              <a:rPr dirty="0"/>
              <a:t>Arrange follow-up</a:t>
            </a:r>
          </a:p>
        </p:txBody>
      </p:sp>
      <p:sp>
        <p:nvSpPr>
          <p:cNvPr id="37892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0" tIns="0" rIns="0" bIns="0" rtlCol="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>
                <a:solidFill>
                  <a:srgbClr val="045C75"/>
                </a:solidFill>
              </a:rPr>
              <a:t>32</a:t>
            </a:fld>
            <a:endParaRPr lang="en-US" sz="1200" dirty="0">
              <a:solidFill>
                <a:srgbClr val="045C75"/>
              </a:solidFill>
            </a:endParaRPr>
          </a:p>
        </p:txBody>
      </p:sp>
      <p:pic>
        <p:nvPicPr>
          <p:cNvPr id="37893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826" y="5805488"/>
            <a:ext cx="892175" cy="1052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  <p:bldP spid="14339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0" rtlCol="0" anchor="b">
            <a:normAutofit/>
          </a:bodyPr>
          <a:lstStyle/>
          <a:p>
            <a:pPr eaLnBrk="1" hangingPunct="1"/>
            <a:r>
              <a:rPr lang="en-GB" altLang="x-none" sz="4000" dirty="0">
                <a:solidFill>
                  <a:schemeClr val="tx1"/>
                </a:solidFill>
              </a:rPr>
              <a:t>No improvement or slow resolution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981200" y="1935163"/>
            <a:ext cx="8229600" cy="4389438"/>
          </a:xfrm>
        </p:spPr>
        <p:txBody>
          <a:bodyPr vert="horz" wrap="square" lIns="91440" tIns="45720" rIns="91440" bIns="45720" numCol="1" rtlCol="0" anchor="t" anchorCtr="0" compatLnSpc="1">
            <a:normAutofit fontScale="92500" lnSpcReduction="10000"/>
          </a:bodyPr>
          <a:lstStyle/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Font typeface="Wingdings 2" panose="05020102010507070707"/>
              <a:buChar char=""/>
              <a:defRPr/>
            </a:pPr>
            <a:r>
              <a:rPr lang="en-GB" sz="2600" b="1" dirty="0">
                <a:latin typeface="+mn-lt"/>
              </a:rPr>
              <a:t>complications</a:t>
            </a:r>
            <a:r>
              <a:rPr lang="en-GB" sz="2600" dirty="0">
                <a:latin typeface="+mn-lt"/>
              </a:rPr>
              <a:t>, such as </a:t>
            </a:r>
            <a:r>
              <a:rPr lang="en-GB" sz="2600" dirty="0" err="1">
                <a:latin typeface="+mn-lt"/>
              </a:rPr>
              <a:t>empyema</a:t>
            </a:r>
            <a:endParaRPr lang="en-GB" sz="2600" dirty="0">
              <a:latin typeface="+mn-lt"/>
            </a:endParaRP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Font typeface="Wingdings 2" panose="05020102010507070707"/>
              <a:buChar char=""/>
              <a:defRPr/>
            </a:pPr>
            <a:r>
              <a:rPr lang="en-GB" sz="2600" dirty="0">
                <a:latin typeface="+mn-lt"/>
              </a:rPr>
              <a:t>bacterial </a:t>
            </a:r>
            <a:r>
              <a:rPr lang="en-GB" sz="2600" b="1" dirty="0">
                <a:latin typeface="+mn-lt"/>
              </a:rPr>
              <a:t>resistance</a:t>
            </a: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Font typeface="Wingdings 2" panose="05020102010507070707"/>
              <a:buChar char=""/>
              <a:defRPr/>
            </a:pPr>
            <a:r>
              <a:rPr lang="en-GB" sz="2600" b="1" dirty="0">
                <a:latin typeface="+mn-lt"/>
              </a:rPr>
              <a:t>nonbacterial</a:t>
            </a:r>
            <a:r>
              <a:rPr lang="en-GB" sz="2600" dirty="0">
                <a:latin typeface="+mn-lt"/>
              </a:rPr>
              <a:t> </a:t>
            </a:r>
            <a:r>
              <a:rPr lang="en-GB" sz="2600" dirty="0" err="1">
                <a:latin typeface="+mn-lt"/>
              </a:rPr>
              <a:t>etiologies</a:t>
            </a:r>
            <a:r>
              <a:rPr lang="en-GB" sz="2600" dirty="0">
                <a:latin typeface="+mn-lt"/>
              </a:rPr>
              <a:t> such as viruses and aspiration of foreign bodies or food; </a:t>
            </a: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Font typeface="Wingdings 2" panose="05020102010507070707"/>
              <a:buChar char=""/>
              <a:defRPr/>
            </a:pPr>
            <a:r>
              <a:rPr lang="en-GB" sz="2600" dirty="0">
                <a:latin typeface="+mn-lt"/>
              </a:rPr>
              <a:t>bronchial </a:t>
            </a:r>
            <a:r>
              <a:rPr lang="en-GB" sz="2600" b="1" dirty="0">
                <a:latin typeface="+mn-lt"/>
              </a:rPr>
              <a:t>obstruction</a:t>
            </a:r>
            <a:r>
              <a:rPr lang="en-GB" sz="2600" dirty="0">
                <a:latin typeface="+mn-lt"/>
              </a:rPr>
              <a:t> from </a:t>
            </a:r>
            <a:r>
              <a:rPr lang="en-GB" sz="2600" dirty="0" err="1">
                <a:latin typeface="+mn-lt"/>
              </a:rPr>
              <a:t>endobronchial</a:t>
            </a:r>
            <a:r>
              <a:rPr lang="en-GB" sz="2600" dirty="0">
                <a:latin typeface="+mn-lt"/>
              </a:rPr>
              <a:t> lesions, foreign body, or mucous plugs</a:t>
            </a: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Font typeface="Wingdings 2" panose="05020102010507070707"/>
              <a:buChar char=""/>
              <a:defRPr/>
            </a:pPr>
            <a:r>
              <a:rPr lang="en-GB" sz="2600" dirty="0">
                <a:latin typeface="+mn-lt"/>
              </a:rPr>
              <a:t>pre-existing diseases such as </a:t>
            </a:r>
            <a:r>
              <a:rPr lang="en-GB" sz="2600" b="1" dirty="0" err="1">
                <a:latin typeface="+mn-lt"/>
              </a:rPr>
              <a:t>immunodeficiencies</a:t>
            </a:r>
            <a:endParaRPr lang="en-GB" sz="2600" b="1" dirty="0">
              <a:latin typeface="+mn-lt"/>
            </a:endParaRP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Font typeface="Wingdings 2" panose="05020102010507070707"/>
              <a:buChar char=""/>
              <a:defRPr/>
            </a:pPr>
            <a:r>
              <a:rPr lang="en-GB" sz="2600" dirty="0">
                <a:latin typeface="+mn-lt"/>
              </a:rPr>
              <a:t>other </a:t>
            </a:r>
            <a:r>
              <a:rPr lang="en-GB" sz="2600" b="1" dirty="0" err="1">
                <a:latin typeface="+mn-lt"/>
              </a:rPr>
              <a:t>noninfectious</a:t>
            </a:r>
            <a:r>
              <a:rPr lang="en-GB" sz="2600" dirty="0">
                <a:latin typeface="+mn-lt"/>
              </a:rPr>
              <a:t> causes (including </a:t>
            </a:r>
            <a:r>
              <a:rPr lang="en-GB" sz="2600" dirty="0" err="1">
                <a:latin typeface="+mn-lt"/>
              </a:rPr>
              <a:t>bronchiolitis</a:t>
            </a:r>
            <a:r>
              <a:rPr lang="en-GB" sz="2600" dirty="0">
                <a:latin typeface="+mn-lt"/>
              </a:rPr>
              <a:t> </a:t>
            </a:r>
            <a:r>
              <a:rPr lang="en-GB" sz="2600" dirty="0" err="1">
                <a:latin typeface="+mn-lt"/>
              </a:rPr>
              <a:t>obliterans</a:t>
            </a:r>
            <a:r>
              <a:rPr lang="en-GB" sz="2600" dirty="0">
                <a:latin typeface="+mn-lt"/>
              </a:rPr>
              <a:t>, </a:t>
            </a:r>
            <a:r>
              <a:rPr lang="en-GB" sz="2600" dirty="0" err="1">
                <a:latin typeface="+mn-lt"/>
              </a:rPr>
              <a:t>eosinophilic</a:t>
            </a:r>
            <a:r>
              <a:rPr lang="en-GB" sz="2600" dirty="0">
                <a:latin typeface="+mn-lt"/>
              </a:rPr>
              <a:t> pneumonia)</a:t>
            </a: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GB" sz="2600" i="1" dirty="0">
                <a:solidFill>
                  <a:srgbClr val="FF0000"/>
                </a:solidFill>
                <a:latin typeface="+mn-lt"/>
              </a:rPr>
              <a:t> A repeat chest x-ray is the 1st step in determining the reason for delay in response to treatment.</a:t>
            </a: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Font typeface="Wingdings 2" panose="05020102010507070707"/>
              <a:buChar char=""/>
              <a:defRPr/>
            </a:pPr>
            <a:endParaRPr lang="en-GB" sz="2600" dirty="0">
              <a:latin typeface="+mn-lt"/>
            </a:endParaRPr>
          </a:p>
        </p:txBody>
      </p:sp>
      <p:sp>
        <p:nvSpPr>
          <p:cNvPr id="38916" name="Slide Number Placeholder 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0" tIns="0" rIns="0" bIns="0" rtlCol="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>
                <a:solidFill>
                  <a:srgbClr val="045C75"/>
                </a:solidFill>
              </a:rPr>
              <a:t>33</a:t>
            </a:fld>
            <a:endParaRPr lang="en-US" sz="1200" dirty="0">
              <a:solidFill>
                <a:srgbClr val="045C75"/>
              </a:solidFill>
            </a:endParaRPr>
          </a:p>
        </p:txBody>
      </p:sp>
      <p:pic>
        <p:nvPicPr>
          <p:cNvPr id="3891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1" y="5805488"/>
            <a:ext cx="892175" cy="1052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0" tIns="45720" rIns="0" bIns="0" numCol="1" rtlCol="0" anchor="b" anchorCtr="0" compatLnSpc="1">
            <a:norm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5000" dirty="0">
                <a:solidFill>
                  <a:schemeClr val="tx1"/>
                </a:solidFill>
                <a:latin typeface="+mj-lt"/>
              </a:rPr>
              <a:t>Key interventions for pneumonia</a:t>
            </a:r>
          </a:p>
        </p:txBody>
      </p:sp>
      <p:sp>
        <p:nvSpPr>
          <p:cNvPr id="3993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/>
            <a:r>
              <a:rPr dirty="0"/>
              <a:t>Exclusive </a:t>
            </a:r>
            <a:r>
              <a:rPr b="1" dirty="0"/>
              <a:t>breastfeeding</a:t>
            </a:r>
          </a:p>
          <a:p>
            <a:pPr eaLnBrk="1" hangingPunct="1"/>
            <a:r>
              <a:rPr dirty="0"/>
              <a:t>Adequate </a:t>
            </a:r>
            <a:r>
              <a:rPr b="1" dirty="0"/>
              <a:t>complementary</a:t>
            </a:r>
            <a:r>
              <a:rPr dirty="0"/>
              <a:t> feeding</a:t>
            </a:r>
          </a:p>
          <a:p>
            <a:pPr eaLnBrk="1" hangingPunct="1"/>
            <a:r>
              <a:rPr b="1" dirty="0"/>
              <a:t>Immunization</a:t>
            </a:r>
          </a:p>
          <a:p>
            <a:pPr eaLnBrk="1" hangingPunct="1"/>
            <a:r>
              <a:rPr b="1" dirty="0"/>
              <a:t>Vitamin A </a:t>
            </a:r>
            <a:r>
              <a:rPr dirty="0"/>
              <a:t>supplementation</a:t>
            </a:r>
          </a:p>
          <a:p>
            <a:pPr eaLnBrk="1" hangingPunct="1"/>
            <a:r>
              <a:rPr b="1" dirty="0"/>
              <a:t>Antibiotic</a:t>
            </a:r>
            <a:r>
              <a:rPr dirty="0"/>
              <a:t> treatment</a:t>
            </a:r>
          </a:p>
          <a:p>
            <a:pPr eaLnBrk="1" hangingPunct="1"/>
            <a:r>
              <a:rPr dirty="0"/>
              <a:t>Prevention of indoor air </a:t>
            </a:r>
            <a:r>
              <a:rPr b="1" dirty="0"/>
              <a:t>pollution</a:t>
            </a:r>
          </a:p>
        </p:txBody>
      </p:sp>
      <p:sp>
        <p:nvSpPr>
          <p:cNvPr id="39940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0" tIns="0" rIns="0" bIns="0" rtlCol="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>
                <a:solidFill>
                  <a:srgbClr val="045C75"/>
                </a:solidFill>
              </a:rPr>
              <a:t>34</a:t>
            </a:fld>
            <a:endParaRPr lang="en-US" sz="1200" dirty="0">
              <a:solidFill>
                <a:srgbClr val="045C75"/>
              </a:solidFill>
            </a:endParaRPr>
          </a:p>
        </p:txBody>
      </p:sp>
      <p:pic>
        <p:nvPicPr>
          <p:cNvPr id="39941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826" y="5805488"/>
            <a:ext cx="892175" cy="1052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9576" y="0"/>
            <a:ext cx="7941568" cy="764704"/>
          </a:xfrm>
        </p:spPr>
        <p:txBody>
          <a:bodyPr/>
          <a:lstStyle/>
          <a:p>
            <a:r>
              <a:rPr lang="en-GB" dirty="0"/>
              <a:t>WHO new guideline</a:t>
            </a:r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5520" y="620688"/>
            <a:ext cx="8892480" cy="6237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536F4-AF3B-4B6A-84D5-AE8246DFFEDE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1" y="260648"/>
            <a:ext cx="9143999" cy="6597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536F4-AF3B-4B6A-84D5-AE8246DFFEDE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A4C06-BDF9-9BEC-C286-C53D0677D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Upper airway obstruction.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86923-760C-BB90-6512-5FC44A70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254163-2042-40DA-5FAD-C14AA247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DBFADD-6615-8DAA-9553-0B8C18827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799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83820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n-US" sz="3200"/>
              <a:t>Upper Airway vs. Lower Airway Obstruction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Upper airway obstruction present as inspiratory stridor</a:t>
            </a:r>
          </a:p>
          <a:p>
            <a:pPr lvl="1" eaLnBrk="1" hangingPunct="1"/>
            <a:r>
              <a:rPr lang="en-US" altLang="en-US"/>
              <a:t>Produced by turbulent airflow through large airways</a:t>
            </a:r>
          </a:p>
          <a:p>
            <a:pPr lvl="1" eaLnBrk="1" hangingPunct="1"/>
            <a:r>
              <a:rPr lang="en-US" altLang="en-US"/>
              <a:t>Normal respiratory volume of air moves through narrowed airways</a:t>
            </a:r>
          </a:p>
          <a:p>
            <a:pPr eaLnBrk="1" hangingPunct="1"/>
            <a:r>
              <a:rPr lang="en-US" altLang="en-US"/>
              <a:t>Lower airway obstructive processes present as expiratory wheezing.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2AB735-BF81-42D3-8AB0-17AC4E3C8048}" type="slidenum">
              <a:rPr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defTabSz="685800">
              <a:defRPr/>
            </a:pPr>
            <a:r>
              <a:rPr lang="en-US" sz="3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                Introduction</a:t>
            </a:r>
            <a:br>
              <a:rPr lang="en-US" sz="3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endParaRPr lang="en-US" sz="33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indent="0" defTabSz="685800" fontAlgn="base">
              <a:spcBef>
                <a:spcPts val="750"/>
              </a:spcBef>
              <a:spcAft>
                <a:spcPct val="0"/>
              </a:spcAft>
              <a:buNone/>
              <a:defRPr/>
            </a:pPr>
            <a:r>
              <a:rPr lang="en-US" altLang="en-US" sz="2400" dirty="0">
                <a:latin typeface="+mn-lt"/>
              </a:rPr>
              <a:t>• Upper airway obstruction is a common cause of pediatric emergency department visits, accounting for approximately 15% of all critically ill patients.</a:t>
            </a:r>
          </a:p>
          <a:p>
            <a:pPr marL="171450" indent="-171450" defTabSz="685800" fontAlgn="base"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400" dirty="0">
              <a:latin typeface="+mn-lt"/>
            </a:endParaRPr>
          </a:p>
          <a:p>
            <a:pPr marL="171450" indent="-171450" defTabSz="685800" fontAlgn="base"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2400" dirty="0">
              <a:latin typeface="+mn-lt"/>
            </a:endParaRPr>
          </a:p>
          <a:p>
            <a:pPr marL="0" indent="0" defTabSz="685800" fontAlgn="base">
              <a:spcBef>
                <a:spcPts val="750"/>
              </a:spcBef>
              <a:spcAft>
                <a:spcPct val="0"/>
              </a:spcAft>
              <a:buNone/>
              <a:defRPr/>
            </a:pPr>
            <a:r>
              <a:rPr lang="en-US" altLang="en-US" sz="2400" dirty="0">
                <a:latin typeface="+mn-lt"/>
              </a:rPr>
              <a:t>•  Infectious etiologies account for 90% of these, with viral croup accounting for 80%.</a:t>
            </a:r>
          </a:p>
          <a:p>
            <a:pPr marL="0" indent="0" defTabSz="685800" fontAlgn="base">
              <a:spcBef>
                <a:spcPts val="750"/>
              </a:spcBef>
              <a:spcAft>
                <a:spcPct val="0"/>
              </a:spcAft>
              <a:buNone/>
              <a:defRPr/>
            </a:pPr>
            <a:r>
              <a:rPr lang="en-US" sz="2400" b="1" dirty="0">
                <a:solidFill>
                  <a:schemeClr val="bg1"/>
                </a:solidFill>
                <a:sym typeface="+mn-ea"/>
              </a:rPr>
              <a:t>       - The most common cause of upper airway obstruction in children is croup</a:t>
            </a:r>
            <a:endParaRPr lang="en-US" altLang="en-US" sz="2400" b="1" dirty="0">
              <a:solidFill>
                <a:schemeClr val="bg1"/>
              </a:solidFill>
              <a:latin typeface="+mn-lt"/>
              <a:sym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2AB735-BF81-42D3-8AB0-17AC4E3C8048}" type="slidenum">
              <a:rPr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57201"/>
            <a:ext cx="9144000" cy="599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5ABCBB-F222-4CAB-8406-2EA73DDB8F21}" type="slidenum">
              <a:rPr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13665"/>
            <a:ext cx="8229600" cy="980440"/>
          </a:xfrm>
        </p:spPr>
        <p:txBody>
          <a:bodyPr>
            <a:normAutofit fontScale="90000"/>
          </a:bodyPr>
          <a:lstStyle/>
          <a:p>
            <a:br>
              <a:rPr lang="en-US"/>
            </a:br>
            <a:r>
              <a:rPr lang="en-US" sz="3200"/>
              <a:t>Unique features of the pediatric airway</a:t>
            </a:r>
            <a:br>
              <a:rPr lang="en-US" sz="3200"/>
            </a:br>
            <a:endParaRPr lang="en-US" sz="320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323341"/>
            <a:ext cx="8229600" cy="503364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1. Tongue is relatively large in proportion to oral cavity</a:t>
            </a:r>
          </a:p>
          <a:p>
            <a:pPr marL="0" indent="0">
              <a:buNone/>
            </a:pPr>
            <a:r>
              <a:rPr lang="en-US"/>
              <a:t>2. Infants &lt;2 months of age are obligate nose breathers</a:t>
            </a:r>
          </a:p>
          <a:p>
            <a:pPr marL="0" indent="0">
              <a:buNone/>
            </a:pPr>
            <a:r>
              <a:rPr lang="en-US"/>
              <a:t>3. Trachea is smaller and shorter than that of adults</a:t>
            </a:r>
          </a:p>
          <a:p>
            <a:pPr marL="0" indent="0">
              <a:buNone/>
            </a:pPr>
            <a:r>
              <a:rPr lang="en-US"/>
              <a:t>4. Larynx is relatively anterior and high: C2 in neonate, C3-4 in child, C5-6  in adult</a:t>
            </a:r>
          </a:p>
          <a:p>
            <a:pPr marL="0" indent="0">
              <a:buNone/>
            </a:pPr>
            <a:r>
              <a:rPr lang="en-US"/>
              <a:t>5. Chest wall of infants relatively weak and unstable</a:t>
            </a:r>
          </a:p>
          <a:p>
            <a:pPr marL="0" indent="0">
              <a:buNone/>
            </a:pPr>
            <a:r>
              <a:rPr lang="en-US"/>
              <a:t>6. Immunologic immaturity leads to increased susceptibility to respiratory infections</a:t>
            </a:r>
          </a:p>
          <a:p>
            <a:pPr marL="0" indent="0">
              <a:buNone/>
            </a:pPr>
            <a:r>
              <a:rPr lang="en-US"/>
              <a:t>7. Developmental immaturity leads to increased susceptibility to foreign body aspiration</a:t>
            </a:r>
            <a:endParaRPr lang="en-US" dirty="0"/>
          </a:p>
        </p:txBody>
      </p:sp>
      <p:sp>
        <p:nvSpPr>
          <p:cNvPr id="9220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7CB66EB-B9CA-4D24-B31D-1A26E8F2D4E8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Causes of Upper Airway Obstruction in Children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Congenital </a:t>
            </a:r>
          </a:p>
          <a:p>
            <a:pPr eaLnBrk="1" hangingPunct="1"/>
            <a:r>
              <a:rPr lang="en-US" altLang="en-US"/>
              <a:t>Aquired 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Iatrogenic (subglottic stenosis)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Infections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Foreign Bodies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trauma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2AB735-BF81-42D3-8AB0-17AC4E3C8048}" type="slidenum">
              <a:rPr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C/F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sym typeface="+mn-ea"/>
              </a:rPr>
              <a:t>Inspiratory stridor:</a:t>
            </a:r>
            <a:endParaRPr lang="en-US" sz="3200" dirty="0"/>
          </a:p>
          <a:p>
            <a:pPr lvl="1"/>
            <a:r>
              <a:rPr lang="en-US" sz="3200" b="1" dirty="0">
                <a:sym typeface="+mn-ea"/>
              </a:rPr>
              <a:t>Stridor</a:t>
            </a:r>
            <a:r>
              <a:rPr lang="en-US" sz="3200" dirty="0">
                <a:sym typeface="+mn-ea"/>
              </a:rPr>
              <a:t> is a harsh, high-pitched, musical sound produced by turbulent airflow through a partially obstructed airway</a:t>
            </a:r>
          </a:p>
          <a:p>
            <a:pPr marL="457200" lvl="1" indent="0">
              <a:buNone/>
            </a:pPr>
            <a:endParaRPr lang="en-US" sz="3200" dirty="0">
              <a:sym typeface="+mn-ea"/>
            </a:endParaRPr>
          </a:p>
          <a:p>
            <a:pPr defTabSz="685800" fontAlgn="base">
              <a:spcBef>
                <a:spcPts val="750"/>
              </a:spcBef>
              <a:spcAft>
                <a:spcPct val="0"/>
              </a:spcAft>
              <a:buFont typeface="Wingdings" panose="05000000000000000000" charset="0"/>
              <a:buChar char="Ø"/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Stridor, which is derived from Greek, meaning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685800" fontAlgn="base">
              <a:spcBef>
                <a:spcPts val="750"/>
              </a:spcBef>
              <a:spcAft>
                <a:spcPct val="0"/>
              </a:spcAft>
              <a:buNone/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“creaking,” is caused by rapid turbulent flow through a narrowed airway</a:t>
            </a:r>
            <a:endParaRPr lang="en-US" dirty="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2AB735-BF81-42D3-8AB0-17AC4E3C8048}" type="slidenum">
              <a:rPr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defTabSz="685800">
              <a:defRPr/>
            </a:pPr>
            <a:r>
              <a:rPr lang="en-US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Causes of Stridor </a:t>
            </a:r>
            <a:br>
              <a:rPr lang="en-US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rtlCol="0" anchor="t" anchorCtr="0" compatLnSpc="1">
            <a:normAutofit lnSpcReduction="10000"/>
          </a:bodyPr>
          <a:lstStyle/>
          <a:p>
            <a:pPr defTabSz="685800" fontAlgn="base">
              <a:spcBef>
                <a:spcPts val="750"/>
              </a:spcBef>
              <a:spcAft>
                <a:spcPct val="0"/>
              </a:spcAft>
              <a:buFont typeface="Wingdings" panose="05000000000000000000" charset="0"/>
              <a:buChar char="Ø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Children &lt; 6 months of age</a:t>
            </a:r>
          </a:p>
          <a:p>
            <a:pPr marL="514350" lvl="1" indent="-171450" defTabSz="685800" fontAlgn="base"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Laryngomalacia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-171450" defTabSz="685800" fontAlgn="base"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Tracheomalasia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1" indent="-171450" defTabSz="685800" fontAlgn="base"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Vocal cord paralysis</a:t>
            </a:r>
          </a:p>
          <a:p>
            <a:pPr marL="342900" lvl="1" indent="0" defTabSz="685800" fontAlgn="base">
              <a:spcBef>
                <a:spcPts val="375"/>
              </a:spcBef>
              <a:spcAft>
                <a:spcPct val="0"/>
              </a:spcAft>
              <a:buNone/>
              <a:defRPr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685800" fontAlgn="base">
              <a:spcBef>
                <a:spcPts val="750"/>
              </a:spcBef>
              <a:spcAft>
                <a:spcPct val="0"/>
              </a:spcAft>
              <a:buFont typeface="Wingdings" panose="05000000000000000000" charset="0"/>
              <a:buChar char="Ø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Children &gt; 6 months of age</a:t>
            </a:r>
          </a:p>
          <a:p>
            <a:pPr marL="171450" indent="-171450" defTabSz="685800" fontAlgn="base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Viral Croup</a:t>
            </a:r>
          </a:p>
          <a:p>
            <a:pPr marL="171450" indent="-171450" defTabSz="685800" fontAlgn="base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Epiglottitis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defTabSz="685800" fontAlgn="base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Retropharyngeal abscess</a:t>
            </a:r>
          </a:p>
          <a:p>
            <a:pPr marL="171450" indent="-171450" defTabSz="685800" fontAlgn="base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Bacterial tracheitis</a:t>
            </a:r>
          </a:p>
          <a:p>
            <a:pPr marL="171450" indent="-171450" defTabSz="685800" fontAlgn="base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Foreign Body aspiration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2AB735-BF81-42D3-8AB0-17AC4E3C8048}" type="slidenum">
              <a:rPr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6" descr="scan0001"/>
          <p:cNvPicPr>
            <a:picLocks noGrp="1" noChangeAspect="1"/>
          </p:cNvPicPr>
          <p:nvPr>
            <p:ph/>
          </p:nvPr>
        </p:nvPicPr>
        <p:blipFill>
          <a:blip r:embed="rId2"/>
          <a:srcRect/>
          <a:stretch>
            <a:fillRect/>
          </a:stretch>
        </p:blipFill>
        <p:spPr>
          <a:xfrm>
            <a:off x="1686560" y="-66675"/>
            <a:ext cx="8796020" cy="6892925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12CE-A595-4FCE-B666-262BAB049ED0}" type="slidenum">
              <a:rPr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defTabSz="685800">
              <a:defRPr/>
            </a:pPr>
            <a:r>
              <a:rPr lang="en-US" alt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I.Viral</a:t>
            </a:r>
            <a:r>
              <a:rPr lang="en-US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Croup (</a:t>
            </a:r>
            <a:r>
              <a:rPr lang="en-US" alt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laryngotracheobronchitis</a:t>
            </a:r>
            <a:r>
              <a:rPr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)</a:t>
            </a:r>
          </a:p>
        </p:txBody>
      </p:sp>
      <p:sp>
        <p:nvSpPr>
          <p:cNvPr id="2355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cause of stridor after neonatal period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affected are children 6 mo.- 3 y.o 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incidence between 1-2 yrs of age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Narrowest part of airway is at cricoid cartilage and in children 1 mm of airway edema may ↓ cross-sectional area 50-60%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cases occur cold season 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2AB735-BF81-42D3-8AB0-17AC4E3C8048}" type="slidenum">
              <a:rPr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defTabSz="685800">
              <a:defRPr/>
            </a:pPr>
            <a:r>
              <a:rPr lang="en-US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SPASMODIC CROUP</a:t>
            </a:r>
          </a:p>
        </p:txBody>
      </p:sp>
      <p:sp>
        <p:nvSpPr>
          <p:cNvPr id="2457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Thought to be on continuum  with acute viral croup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Seen more commonly in atopic children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seasonal variation 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resolves within 6 hours of onset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recurrent and not associated with fever</a:t>
            </a:r>
          </a:p>
          <a:p>
            <a:pPr lvl="1" eaLnBrk="1" hangingPunct="1"/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2AB735-BF81-42D3-8AB0-17AC4E3C8048}" type="slidenum">
              <a:rPr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defTabSz="685800">
              <a:defRPr/>
            </a:pPr>
            <a:r>
              <a:rPr lang="en-US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VIRAL CROUP</a:t>
            </a:r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Etiology-mostly viral</a:t>
            </a:r>
          </a:p>
          <a:p>
            <a:pPr lvl="2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Parainfluenza virus type I,II,III</a:t>
            </a:r>
          </a:p>
          <a:p>
            <a:pPr lvl="2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Incubation 2-6 days, virus shed for about 2 weeks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Influenza A or B, RSV, rhinovirus, and measles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Adenovirus- also hemorrhagic cystitis, and conjunctivitis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Mycoplasma pneumoniae may present with croup like syndrome</a:t>
            </a:r>
          </a:p>
          <a:p>
            <a:pPr lvl="1" eaLnBrk="1" hangingPunct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2AB735-BF81-42D3-8AB0-17AC4E3C8048}" type="slidenum">
              <a:rPr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defTabSz="685800">
              <a:defRPr/>
            </a:pPr>
            <a:r>
              <a:rPr lang="en-US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VIRAL CROUP</a:t>
            </a:r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 marL="609600" indent="-609600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Signs &amp; Symptoms</a:t>
            </a:r>
          </a:p>
          <a:p>
            <a:pPr marL="990600" lvl="1" indent="-533400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1-5 day prodrome of cough, coryza, +/- low grade fever and URI type symptoms</a:t>
            </a:r>
          </a:p>
          <a:p>
            <a:pPr marL="990600" lvl="1" indent="-533400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by 3-4 days of </a:t>
            </a:r>
            <a:r>
              <a:rPr lang="en-US" altLang="en-US" b="1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barking cough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worse in late evening and night</a:t>
            </a:r>
          </a:p>
          <a:p>
            <a:pPr marL="990600" lvl="1" indent="-533400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+/- biphasic stridor: inspiratory component greater than expiratory.  Unaffected by position, worsened by agitation or crying</a:t>
            </a:r>
          </a:p>
          <a:p>
            <a:pPr marL="990600" lvl="1" indent="-533400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 3-7 days regardless of tx, usually 3</a:t>
            </a:r>
            <a:r>
              <a:rPr lang="en-US" alt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4</a:t>
            </a:r>
            <a:r>
              <a:rPr lang="en-US" alt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days are worst, followed by improvement</a:t>
            </a:r>
          </a:p>
          <a:p>
            <a:pPr marL="990600" lvl="1" indent="-533400">
              <a:buNone/>
            </a:pPr>
            <a:endParaRPr lang="en-US" alt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2AB735-BF81-42D3-8AB0-17AC4E3C8048}" type="slidenum">
              <a:rPr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defTabSz="685800">
              <a:defRPr/>
            </a:pPr>
            <a:r>
              <a:rPr lang="en-US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VIRAL CROUP</a:t>
            </a:r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Diagnosis- made clinically</a:t>
            </a:r>
          </a:p>
          <a:p>
            <a:pPr eaLnBrk="1" hangingPunct="1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X-rays: If other causes being considered or in atypical or prolonged cases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Obtain lateral neck films and PA CXR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 CXR in croup </a:t>
            </a:r>
            <a:r>
              <a:rPr lang="en-US" altLang="en-US" b="1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“steeple sign”</a:t>
            </a:r>
            <a:endParaRPr lang="en-US" altLang="en-US" i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endParaRPr lang="en-US" altLang="en-US" i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2AB735-BF81-42D3-8AB0-17AC4E3C8048}" type="slidenum">
              <a:rPr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7BE9-7A03-4066-B0F1-F23CB33C6314}" type="slidenum">
              <a:rPr lang="en-US" smtClean="0"/>
              <a:t>51</a:t>
            </a:fld>
            <a:endParaRPr lang="en-US"/>
          </a:p>
        </p:txBody>
      </p:sp>
      <p:pic>
        <p:nvPicPr>
          <p:cNvPr id="87042" name="Picture 2" descr="C:\DOCUME~1\DRB3EA~1.KAL\LOCALS~1\Temp\msohtmlclip1\01\clip_image00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2200" y="838200"/>
            <a:ext cx="6248400" cy="5257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7BE9-7A03-4066-B0F1-F23CB33C6314}" type="slidenum">
              <a:rPr lang="en-US" smtClean="0"/>
              <a:t>52</a:t>
            </a:fld>
            <a:endParaRPr lang="en-US"/>
          </a:p>
        </p:txBody>
      </p:sp>
      <p:pic>
        <p:nvPicPr>
          <p:cNvPr id="88066" name="Picture 2" descr="C:\DOCUME~1\DRB3EA~1.KAL\LOCALS~1\Temp\msohtmlclip1\01\clip_image00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24200" y="714974"/>
            <a:ext cx="5410200" cy="5181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93D949-33C4-53BE-BF0F-F40503DA7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STEEPLE SIGN</a:t>
            </a:r>
          </a:p>
        </p:txBody>
      </p:sp>
      <p:pic>
        <p:nvPicPr>
          <p:cNvPr id="28675" name="Picture 5" descr="croup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95325" y="1690692"/>
            <a:ext cx="2762250" cy="4286250"/>
          </a:xfrm>
        </p:spPr>
      </p:pic>
      <p:pic>
        <p:nvPicPr>
          <p:cNvPr id="28676" name="Picture 8" descr="croup1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767598" y="2028825"/>
            <a:ext cx="2705100" cy="2800350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B8EAE0-2989-4A36-AA06-EBB1CF199474}" type="slidenum">
              <a:rPr lang="en-US"/>
              <a:t>53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15BD7F-1EF8-DCE1-47CA-6354289CE3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721" y="76765"/>
            <a:ext cx="4476750" cy="590017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eaLnBrk="1" hangingPunct="1"/>
            <a:endParaRPr lang="en-US" altLang="en-US" dirty="0"/>
          </a:p>
        </p:txBody>
      </p:sp>
      <p:graphicFrame>
        <p:nvGraphicFramePr>
          <p:cNvPr id="29699" name="Content Placeholder 29698"/>
          <p:cNvGraphicFramePr>
            <a:graphicFrameLocks noGrp="1"/>
          </p:cNvGraphicFramePr>
          <p:nvPr>
            <p:ph idx="1"/>
          </p:nvPr>
        </p:nvGraphicFramePr>
        <p:xfrm>
          <a:off x="1524000" y="-152400"/>
          <a:ext cx="9144000" cy="7450138"/>
        </p:xfrm>
        <a:graphic>
          <a:graphicData uri="http://schemas.openxmlformats.org/drawingml/2006/table">
            <a:tbl>
              <a:tblPr/>
              <a:tblGrid>
                <a:gridCol w="91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4501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defTabSz="685800" eaLnBrk="1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modified Westley clinical scoring system for croup </a:t>
                      </a:r>
                    </a:p>
                    <a:p>
                      <a:pPr lvl="0" defTabSz="685800" eaLnBrk="1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"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Inspiratory stridor: </a:t>
                      </a:r>
                    </a:p>
                    <a:p>
                      <a:pPr marL="742950" lvl="1" indent="-400050" defTabSz="685800" eaLnBrk="1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present - 0 points </a:t>
                      </a:r>
                    </a:p>
                    <a:p>
                      <a:pPr marL="742950" lvl="1" indent="-400050" defTabSz="685800" eaLnBrk="1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 agitated/active - 1 point </a:t>
                      </a:r>
                    </a:p>
                    <a:p>
                      <a:pPr marL="742950" lvl="1" indent="-400050" defTabSz="685800" eaLnBrk="1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 rest - 2 points </a:t>
                      </a:r>
                    </a:p>
                    <a:p>
                      <a:pPr lvl="0" defTabSz="685800" eaLnBrk="1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"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Intercostal re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tractions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</a:p>
                    <a:p>
                      <a:pPr marL="742950" lvl="1" indent="-400050" defTabSz="685800" eaLnBrk="1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 - 1 point </a:t>
                      </a:r>
                    </a:p>
                    <a:p>
                      <a:pPr marL="742950" lvl="1" indent="-400050" defTabSz="685800" eaLnBrk="1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- 2 points </a:t>
                      </a:r>
                    </a:p>
                    <a:p>
                      <a:pPr marL="742950" lvl="1" indent="-400050" defTabSz="685800" eaLnBrk="1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Severe - 3 points </a:t>
                      </a:r>
                    </a:p>
                    <a:p>
                      <a:pPr lvl="0" defTabSz="685800" eaLnBrk="1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Air entry:</a:t>
                      </a:r>
                    </a:p>
                    <a:p>
                      <a:pPr marL="742950" lvl="1" indent="-400050" defTabSz="685800" eaLnBrk="1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 - 0 points </a:t>
                      </a:r>
                    </a:p>
                    <a:p>
                      <a:pPr marL="742950" lvl="1" indent="-400050" defTabSz="685800" eaLnBrk="1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Mildly decreased -1 point </a:t>
                      </a:r>
                    </a:p>
                    <a:p>
                      <a:pPr marL="742950" lvl="1" indent="-400050" defTabSz="685800" eaLnBrk="1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Severely decreased - 2 points </a:t>
                      </a:r>
                    </a:p>
                    <a:p>
                      <a:pPr lvl="0" defTabSz="685800" eaLnBrk="1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"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Cyanosis:</a:t>
                      </a:r>
                    </a:p>
                    <a:p>
                      <a:pPr marL="742950" lvl="1" indent="-400050" defTabSz="685800" eaLnBrk="1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 - 0 points </a:t>
                      </a:r>
                    </a:p>
                    <a:p>
                      <a:pPr marL="742950" lvl="1" indent="-400050" defTabSz="685800" eaLnBrk="1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 agitation/activity - 4 points </a:t>
                      </a:r>
                    </a:p>
                    <a:p>
                      <a:pPr marL="742950" lvl="1" indent="-400050" defTabSz="685800" eaLnBrk="1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 rest - 5 points </a:t>
                      </a:r>
                    </a:p>
                    <a:p>
                      <a:pPr lvl="0" defTabSz="685800" eaLnBrk="1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"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Level of consciousness: </a:t>
                      </a:r>
                    </a:p>
                    <a:p>
                      <a:pPr marL="742950" lvl="1" indent="-400050" defTabSz="685800" eaLnBrk="1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 - 0 points </a:t>
                      </a:r>
                    </a:p>
                    <a:p>
                      <a:pPr marL="742950" lvl="1" indent="-400050" defTabSz="685800" eaLnBrk="1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Altered - 5 points</a:t>
                      </a:r>
                    </a:p>
                    <a:p>
                      <a:pPr lvl="0" defTabSz="685800" eaLnBrk="1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Possible Score 0-17: </a:t>
                      </a:r>
                    </a:p>
                    <a:p>
                      <a:pPr lvl="0" defTabSz="685800" eaLnBrk="1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"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=mild croup, 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7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=moderate croup, &gt;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8/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=severe croup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, &gt;/12=Impending respiratory failure</a:t>
                      </a:r>
                    </a:p>
                  </a:txBody>
                  <a:tcPr marL="0" marR="0" marT="0" marB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2AB735-BF81-42D3-8AB0-17AC4E3C8048}" type="slidenum">
              <a:rPr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of croup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45000"/>
              </a:lnSpc>
            </a:pPr>
            <a:r>
              <a:rPr lang="en-US" dirty="0"/>
              <a:t>Mild croup – home treatment , use steam</a:t>
            </a:r>
          </a:p>
          <a:p>
            <a:pPr>
              <a:lnSpc>
                <a:spcPct val="145000"/>
              </a:lnSpc>
            </a:pPr>
            <a:r>
              <a:rPr lang="en-US" dirty="0"/>
              <a:t>Moderate to severe cases (progressive </a:t>
            </a:r>
            <a:r>
              <a:rPr lang="en-US" dirty="0" err="1"/>
              <a:t>stridor</a:t>
            </a:r>
            <a:r>
              <a:rPr lang="en-US" dirty="0"/>
              <a:t>, restlessness, cyanosis, pallor or depressed </a:t>
            </a:r>
            <a:r>
              <a:rPr lang="en-US" dirty="0" err="1"/>
              <a:t>sensorium</a:t>
            </a:r>
            <a:r>
              <a:rPr lang="en-US" dirty="0"/>
              <a:t>)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Admission 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 Avoid disturbing the pt. as much as possible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Give </a:t>
            </a:r>
            <a:r>
              <a:rPr lang="en-US" dirty="0" err="1"/>
              <a:t>parenteral</a:t>
            </a:r>
            <a:r>
              <a:rPr lang="en-US" dirty="0"/>
              <a:t> fluids </a:t>
            </a:r>
          </a:p>
          <a:p>
            <a:pPr lvl="1">
              <a:lnSpc>
                <a:spcPct val="140000"/>
              </a:lnSpc>
            </a:pPr>
            <a:r>
              <a:rPr lang="en-US" dirty="0"/>
              <a:t>Give oxygen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C2D7D-8F0F-48A0-8FF1-1B7AE2032E3E}" type="slidenum">
              <a:rPr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955"/>
            <a:ext cx="8229600" cy="71882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24280"/>
            <a:ext cx="8229600" cy="4902200"/>
          </a:xfrm>
        </p:spPr>
        <p:txBody>
          <a:bodyPr>
            <a:normAutofit fontScale="97500" lnSpcReduction="10000"/>
          </a:bodyPr>
          <a:lstStyle/>
          <a:p>
            <a:pPr marL="457200" lvl="1" indent="0">
              <a:lnSpc>
                <a:spcPct val="140000"/>
              </a:lnSpc>
              <a:buNone/>
            </a:pPr>
            <a:r>
              <a:rPr lang="en-US" sz="3000" dirty="0"/>
              <a:t>Racemic epinephrine(0.25-0.75ml 2.25%  max 0.5ml)in3ml of NS  q 20 min</a:t>
            </a:r>
          </a:p>
          <a:p>
            <a:pPr lvl="1">
              <a:lnSpc>
                <a:spcPct val="135000"/>
              </a:lnSpc>
            </a:pPr>
            <a:r>
              <a:rPr lang="en-US" sz="3000" dirty="0"/>
              <a:t>Steroids </a:t>
            </a:r>
          </a:p>
          <a:p>
            <a:pPr lvl="2">
              <a:lnSpc>
                <a:spcPct val="135000"/>
              </a:lnSpc>
            </a:pPr>
            <a:r>
              <a:rPr lang="en-US" sz="3000" dirty="0"/>
              <a:t>Reduce inflammatory edema</a:t>
            </a:r>
          </a:p>
          <a:p>
            <a:pPr lvl="2">
              <a:lnSpc>
                <a:spcPct val="135000"/>
              </a:lnSpc>
            </a:pPr>
            <a:r>
              <a:rPr lang="en-US" sz="3000" dirty="0"/>
              <a:t>  0.6mg/kg </a:t>
            </a:r>
            <a:r>
              <a:rPr lang="en-US" sz="3000" dirty="0" err="1"/>
              <a:t>im</a:t>
            </a:r>
            <a:r>
              <a:rPr lang="en-US" sz="3000" dirty="0"/>
              <a:t> single dose</a:t>
            </a:r>
          </a:p>
          <a:p>
            <a:pPr lvl="2">
              <a:lnSpc>
                <a:spcPct val="135000"/>
              </a:lnSpc>
            </a:pPr>
            <a:r>
              <a:rPr lang="en-US" sz="2800" b="1" dirty="0" err="1"/>
              <a:t>nebulized</a:t>
            </a:r>
            <a:r>
              <a:rPr lang="en-US" sz="2800" b="1" dirty="0"/>
              <a:t> </a:t>
            </a:r>
            <a:r>
              <a:rPr lang="en-US" sz="2800" b="1" dirty="0" err="1"/>
              <a:t>budesonide</a:t>
            </a:r>
            <a:endParaRPr lang="en-US" sz="3000" dirty="0"/>
          </a:p>
          <a:p>
            <a:pPr lvl="1">
              <a:lnSpc>
                <a:spcPct val="135000"/>
              </a:lnSpc>
            </a:pPr>
            <a:r>
              <a:rPr lang="en-US" sz="3000" dirty="0"/>
              <a:t>Antibiotics not indicated</a:t>
            </a:r>
          </a:p>
          <a:p>
            <a:pPr lvl="1">
              <a:lnSpc>
                <a:spcPct val="135000"/>
              </a:lnSpc>
            </a:pPr>
            <a:r>
              <a:rPr lang="en-US" sz="3000" dirty="0"/>
              <a:t>Artificial airway for severe cases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C2D7D-8F0F-48A0-8FF1-1B7AE2032E3E}" type="slidenum">
              <a:rPr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AutoShape 2"/>
          <p:cNvSpPr>
            <a:spLocks noGrp="1" noChangeArrowheads="1"/>
          </p:cNvSpPr>
          <p:nvPr>
            <p:ph type="title"/>
          </p:nvPr>
        </p:nvSpPr>
        <p:spPr>
          <a:xfrm>
            <a:off x="2346325" y="231775"/>
            <a:ext cx="7543800" cy="1449388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defTabSz="685800">
              <a:defRPr/>
            </a:pPr>
            <a:r>
              <a:rPr lang="en-US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EPIGLOTTITIS</a:t>
            </a: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Causative Organisms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influenza &lt; 25% secondary to vaccinations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Strep pyogenes and pneumonie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Staph aureus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Immunocompromised patients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Herpes simplex, candida, varicella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to H. Flu vaccination median age was 3 years</a:t>
            </a: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—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 age 7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2AB735-BF81-42D3-8AB0-17AC4E3C8048}" type="slidenum">
              <a:rPr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defTabSz="685800">
              <a:defRPr/>
            </a:pPr>
            <a:r>
              <a:rPr lang="en-US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EPIGLOTTITIS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 symptoms- abrupt onset of high fever, sore throat,  dysphagia, and drooling, +/- stridor. </a:t>
            </a:r>
            <a:r>
              <a:rPr lang="en-US" altLang="en-US" sz="24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Usually no cough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cases may develop over days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Toxic-appearing, apprehensive, often sits in tripod or “sniffing” position, voice may be muffled, marked tenderness with palpation of hyoid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2AB735-BF81-42D3-8AB0-17AC4E3C8048}" type="slidenum">
              <a:rPr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defTabSz="685800">
              <a:defRPr/>
            </a:pPr>
            <a:r>
              <a:rPr lang="en-US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EPIGLOTTITIS</a:t>
            </a: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Dx- lateral XR unnecessary for classic s/s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uncertain dx – lateral XR of soft tissues with neck extended during inspiration</a:t>
            </a:r>
          </a:p>
          <a:p>
            <a:pPr lvl="2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(+) if XR with head flexed or in expiration</a:t>
            </a:r>
          </a:p>
          <a:p>
            <a:pPr lvl="2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False (-) direct visualization needed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Rays- epiglottis is swollen </a:t>
            </a:r>
            <a:r>
              <a:rPr lang="en-US" altLang="en-US" sz="2400" b="1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“thumbprint”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the base of the hypopharynx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vallecular space obscured 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Supraglottic ballooning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2AB735-BF81-42D3-8AB0-17AC4E3C8048}" type="slidenum">
              <a:rPr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5" descr="epiglotitis1"/>
          <p:cNvPicPr>
            <a:picLocks noGrp="1" noChangeAspect="1"/>
          </p:cNvPicPr>
          <p:nvPr>
            <p:ph/>
          </p:nvPr>
        </p:nvPicPr>
        <p:blipFill>
          <a:blip r:embed="rId2"/>
          <a:srcRect/>
          <a:stretch>
            <a:fillRect/>
          </a:stretch>
        </p:blipFill>
        <p:spPr>
          <a:xfrm>
            <a:off x="3200401" y="457200"/>
            <a:ext cx="5751513" cy="5867400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12CE-A595-4FCE-B666-262BAB049ED0}" type="slidenum">
              <a:rPr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7BE9-7A03-4066-B0F1-F23CB33C6314}" type="slidenum">
              <a:rPr lang="en-US" smtClean="0"/>
              <a:t>61</a:t>
            </a:fld>
            <a:endParaRPr lang="en-US"/>
          </a:p>
        </p:txBody>
      </p:sp>
      <p:pic>
        <p:nvPicPr>
          <p:cNvPr id="1026" name="Picture 2" descr="C:\DOCUME~1\DRB3EA~1.KAL\LOCALS~1\Temp\msohtmlclip1\01\clip_image00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53566" y="78105"/>
            <a:ext cx="8460105" cy="66433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9BE8872-C060-FE3F-5201-C6730906A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THUMB SIGN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B5F19B0-1D3F-263C-74FE-3882DB52941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135" y="1870082"/>
            <a:ext cx="4483509" cy="3926033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F4CB7F5-9061-EA6A-D240-7363705EC4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103" y="2079523"/>
            <a:ext cx="5439697" cy="345112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7E80F4-F4E1-FDF5-4F5E-4249F495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E2F9C-BB8B-8E0F-AC2F-2ADFEE1AF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407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5" descr="epiglotitis"/>
          <p:cNvPicPr>
            <a:picLocks noGrp="1" noChangeAspect="1"/>
          </p:cNvPicPr>
          <p:nvPr>
            <p:ph/>
          </p:nvPr>
        </p:nvPicPr>
        <p:blipFill>
          <a:blip r:embed="rId2"/>
          <a:srcRect/>
          <a:stretch>
            <a:fillRect/>
          </a:stretch>
        </p:blipFill>
        <p:spPr>
          <a:xfrm>
            <a:off x="3121025" y="762001"/>
            <a:ext cx="6254750" cy="5324475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12CE-A595-4FCE-B666-262BAB049ED0}" type="slidenum">
              <a:rPr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of </a:t>
            </a:r>
            <a:r>
              <a:rPr lang="en-US" dirty="0" err="1"/>
              <a:t>Epiglottitis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2578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5000"/>
              </a:lnSpc>
            </a:pPr>
            <a:r>
              <a:rPr lang="en-US" sz="3300" dirty="0"/>
              <a:t>A medical emergency, needs immediate </a:t>
            </a:r>
            <a:r>
              <a:rPr lang="en-US" sz="3300" b="1" dirty="0"/>
              <a:t>artificial airway</a:t>
            </a:r>
            <a:r>
              <a:rPr lang="en-US" sz="3300" dirty="0"/>
              <a:t> </a:t>
            </a:r>
          </a:p>
          <a:p>
            <a:pPr marL="0" indent="0">
              <a:lnSpc>
                <a:spcPct val="155000"/>
              </a:lnSpc>
              <a:buNone/>
            </a:pPr>
            <a:r>
              <a:rPr lang="en-US" sz="3300" dirty="0">
                <a:solidFill>
                  <a:srgbClr val="FF0000"/>
                </a:solidFill>
                <a:sym typeface="+mn-ea"/>
              </a:rPr>
              <a:t>    - A child with confirmed </a:t>
            </a:r>
            <a:r>
              <a:rPr lang="en-US" sz="3300" dirty="0" err="1">
                <a:solidFill>
                  <a:srgbClr val="FF0000"/>
                </a:solidFill>
                <a:sym typeface="+mn-ea"/>
              </a:rPr>
              <a:t>epiglottitis</a:t>
            </a:r>
            <a:r>
              <a:rPr lang="en-US" sz="3300" dirty="0">
                <a:solidFill>
                  <a:srgbClr val="FF0000"/>
                </a:solidFill>
                <a:sym typeface="+mn-ea"/>
              </a:rPr>
              <a:t> should be </a:t>
            </a:r>
            <a:r>
              <a:rPr lang="en-US" sz="3300" dirty="0" err="1">
                <a:solidFill>
                  <a:srgbClr val="FF0000"/>
                </a:solidFill>
                <a:sym typeface="+mn-ea"/>
              </a:rPr>
              <a:t>intubated</a:t>
            </a:r>
            <a:endParaRPr lang="en-US" sz="3300" dirty="0"/>
          </a:p>
          <a:p>
            <a:pPr>
              <a:lnSpc>
                <a:spcPct val="155000"/>
              </a:lnSpc>
            </a:pPr>
            <a:r>
              <a:rPr lang="en-US" sz="3300" dirty="0" err="1"/>
              <a:t>Recemic</a:t>
            </a:r>
            <a:r>
              <a:rPr lang="en-US" sz="3300" dirty="0"/>
              <a:t> epinephrine and corticosteroids are not effective </a:t>
            </a:r>
          </a:p>
          <a:p>
            <a:pPr>
              <a:lnSpc>
                <a:spcPct val="155000"/>
              </a:lnSpc>
            </a:pPr>
            <a:r>
              <a:rPr lang="en-US" sz="3300" dirty="0"/>
              <a:t>Blood culture ,epiglottic surface,  should be collected</a:t>
            </a:r>
          </a:p>
          <a:p>
            <a:pPr>
              <a:lnSpc>
                <a:spcPct val="155000"/>
              </a:lnSpc>
            </a:pPr>
            <a:r>
              <a:rPr lang="en-US" sz="3300" dirty="0"/>
              <a:t>Antibiotics against </a:t>
            </a:r>
            <a:r>
              <a:rPr lang="en-US" sz="3300" dirty="0" err="1"/>
              <a:t>H.influenzae</a:t>
            </a:r>
            <a:r>
              <a:rPr lang="en-US" sz="3300" dirty="0"/>
              <a:t> type b for 7-10 days</a:t>
            </a:r>
          </a:p>
          <a:p>
            <a:pPr lvl="1" eaLnBrk="1" hangingPunct="1"/>
            <a:r>
              <a:rPr lang="en-US" altLang="en-US" sz="3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en-US" sz="33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nd</a:t>
            </a:r>
            <a:r>
              <a:rPr lang="en-US" altLang="en-US" sz="3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or 3</a:t>
            </a:r>
            <a:r>
              <a:rPr lang="en-US" altLang="en-US" sz="33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rd</a:t>
            </a:r>
            <a:r>
              <a:rPr lang="en-US" altLang="en-US" sz="33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cephalosporin +/- vancomycin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C2D7D-8F0F-48A0-8FF1-1B7AE2032E3E}" type="slidenum">
              <a:rPr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defTabSz="685800">
              <a:defRPr/>
            </a:pPr>
            <a:r>
              <a:rPr lang="en-US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BACTERIAL TRACHEITIS</a:t>
            </a:r>
          </a:p>
        </p:txBody>
      </p:sp>
      <p:sp>
        <p:nvSpPr>
          <p:cNvPr id="3686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Often caused by bacterial superinfection of antecedent viral upper respiratory infection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Most common in children &lt;3 yrs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Signs &amp; Symptoms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2-7 days of croup like syndrome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Then worsening symptoms &amp; toxic appearance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Severe inspiratory &amp; expiratory stridor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Cough w/ occasional thick sputum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Rough / hoarse voice, no dysphagia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May complain of troubling/ burning substernal chest discomfort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2AB735-BF81-42D3-8AB0-17AC4E3C8048}" type="slidenum">
              <a:rPr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defTabSz="685800">
              <a:defRPr/>
            </a:pPr>
            <a:r>
              <a:rPr lang="en-US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BACTERIAL TRACHEITIS</a:t>
            </a:r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 eaLnBrk="1" hangingPunct="1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w/ ↑ WBC and left shift</a:t>
            </a:r>
          </a:p>
          <a:p>
            <a:pPr lvl="1"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XR- subglottic narrowing of trachea +/- irregular densities w/in trachea, borders appear indistinct</a:t>
            </a:r>
          </a:p>
          <a:p>
            <a:pPr eaLnBrk="1" hangingPunct="1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Similar to epiglottitis- 85 % require intubation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Treatment- Vancomycin and 3</a:t>
            </a: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generation cephalosporin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2AB735-BF81-42D3-8AB0-17AC4E3C8048}" type="slidenum">
              <a:rPr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Foreign Body Obstruction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Infants and toddlers use their mouths to explore their surroundings. </a:t>
            </a:r>
          </a:p>
          <a:p>
            <a:pPr eaLnBrk="1" hangingPunct="1"/>
            <a:r>
              <a:rPr lang="en-US" altLang="en-US"/>
              <a:t>Children, younger than 3 yr of age, account for 73% of cases. After finger grasp started 9month </a:t>
            </a:r>
          </a:p>
          <a:p>
            <a:pPr eaLnBrk="1" hangingPunct="1"/>
            <a:r>
              <a:rPr lang="en-US" altLang="en-US"/>
              <a:t>Rare cause of obstruction</a:t>
            </a:r>
          </a:p>
          <a:p>
            <a:pPr eaLnBrk="1" hangingPunct="1"/>
            <a:r>
              <a:rPr lang="en-US" altLang="en-US"/>
              <a:t>Onset is usually sudden</a:t>
            </a:r>
          </a:p>
          <a:p>
            <a:pPr eaLnBrk="1" hangingPunct="1"/>
            <a:r>
              <a:rPr lang="en-US" altLang="en-US"/>
              <a:t>Features dependent on where lodged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2AB735-BF81-42D3-8AB0-17AC4E3C8048}" type="slidenum">
              <a:rPr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2560638" y="762000"/>
            <a:ext cx="7772400" cy="1143000"/>
          </a:xfrm>
        </p:spPr>
        <p:txBody>
          <a:bodyPr/>
          <a:lstStyle/>
          <a:p>
            <a:r>
              <a:rPr lang="en-US" altLang="en-US"/>
              <a:t>C/M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676400"/>
            <a:ext cx="8763000" cy="5105400"/>
          </a:xfrm>
        </p:spPr>
        <p:txBody>
          <a:bodyPr/>
          <a:lstStyle/>
          <a:p>
            <a:pPr>
              <a:defRPr/>
            </a:pPr>
            <a:r>
              <a:rPr lang="en-US" dirty="0"/>
              <a:t>Depends on the site </a:t>
            </a:r>
          </a:p>
          <a:p>
            <a:pPr marL="0" indent="0">
              <a:buNone/>
              <a:defRPr/>
            </a:pPr>
            <a:r>
              <a:rPr lang="en-US" b="1" dirty="0"/>
              <a:t>Trachea</a:t>
            </a:r>
            <a:r>
              <a:rPr lang="en-US" dirty="0"/>
              <a:t> </a:t>
            </a:r>
          </a:p>
          <a:p>
            <a:pPr>
              <a:defRPr/>
            </a:pPr>
            <a:r>
              <a:rPr lang="en-US" dirty="0"/>
              <a:t>chocking ,stridor  sever distress ,cough , absent air entry or wheeze bilaterally </a:t>
            </a:r>
          </a:p>
          <a:p>
            <a:pPr marL="0" indent="0">
              <a:buNone/>
              <a:defRPr/>
            </a:pPr>
            <a:r>
              <a:rPr lang="en-US" dirty="0"/>
              <a:t> </a:t>
            </a:r>
            <a:r>
              <a:rPr lang="en-US" b="1" dirty="0"/>
              <a:t>Bronchial Foreign Bodies </a:t>
            </a: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dirty="0"/>
              <a:t>stop valve effect : atelectasis and mediastina shift to the foreign body side 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dirty="0"/>
              <a:t>Ball valve :hyperinflation and </a:t>
            </a:r>
            <a:r>
              <a:rPr lang="en-US" dirty="0" err="1"/>
              <a:t>mediastinal</a:t>
            </a:r>
            <a:r>
              <a:rPr lang="en-US" dirty="0"/>
              <a:t> shift to the opposite to </a:t>
            </a:r>
            <a:r>
              <a:rPr lang="en-US" dirty="0" err="1"/>
              <a:t>fB</a:t>
            </a:r>
            <a:r>
              <a:rPr lang="en-US" dirty="0"/>
              <a:t> site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2AB735-BF81-42D3-8AB0-17AC4E3C8048}" type="slidenum">
              <a:rPr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25" y="914400"/>
            <a:ext cx="676275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1" name="TextBox 2"/>
          <p:cNvSpPr txBox="1">
            <a:spLocks noChangeArrowheads="1"/>
          </p:cNvSpPr>
          <p:nvPr/>
        </p:nvSpPr>
        <p:spPr bwMode="auto">
          <a:xfrm>
            <a:off x="2057400" y="5867401"/>
            <a:ext cx="7543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Typical xray of foreign body in the esophagus and the opposite occur in the trachea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95600" y="304800"/>
            <a:ext cx="5867400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1">
                    <a:lumMod val="10000"/>
                  </a:schemeClr>
                </a:solidFill>
              </a:rPr>
              <a:t>X ray of foreign body in the esophagus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5ABCBB-F222-4CAB-8406-2EA73DDB8F21}" type="slidenum">
              <a:rPr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7BE9-7A03-4066-B0F1-F23CB33C6314}" type="slidenum">
              <a:rPr lang="en-US" smtClean="0"/>
              <a:t>70</a:t>
            </a:fld>
            <a:endParaRPr lang="en-US"/>
          </a:p>
        </p:txBody>
      </p:sp>
      <p:pic>
        <p:nvPicPr>
          <p:cNvPr id="6146" name="Picture 2" descr="C:\DOCUME~1\DRB3EA~1.KAL\LOCALS~1\Temp\msohtmlclip1\01\clip_image00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0"/>
            <a:ext cx="8915400" cy="6534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Management of the choking infant</a:t>
            </a:r>
            <a:endParaRPr lang="en-US" alt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/>
              <a:t>Lay infant on your arm in head down position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/>
              <a:t>Give 5 blows to the infants back with heel of hand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/>
              <a:t>If obstruction persists turn over and give 5 chest thrusts with 2 fingers 1 finger breadth below nipple level in midline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/>
              <a:t>If obstruction persists check infants mouth for any object which can be easily removed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/>
              <a:t>If necessary repeat sequence with back slaps again</a:t>
            </a:r>
            <a:endParaRPr lang="en-US" altLang="en-US"/>
          </a:p>
        </p:txBody>
      </p:sp>
      <p:sp>
        <p:nvSpPr>
          <p:cNvPr id="54276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0D30EFE-E993-40DC-A918-88481A631168}" type="slidenum">
              <a:rPr lang="en-US" altLang="en-US">
                <a:solidFill>
                  <a:srgbClr val="898989"/>
                </a:solidFill>
                <a:latin typeface="Tahoma" panose="020B0604030504040204" pitchFamily="34" charset="0"/>
              </a:rPr>
              <a:t>71</a:t>
            </a:fld>
            <a:endParaRPr lang="en-US" altLang="en-US">
              <a:solidFill>
                <a:srgbClr val="898989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Management of the choking infant</a:t>
            </a:r>
            <a:endParaRPr lang="en-US" altLang="en-US"/>
          </a:p>
        </p:txBody>
      </p:sp>
      <p:pic>
        <p:nvPicPr>
          <p:cNvPr id="55299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9288" y="1844675"/>
            <a:ext cx="8172450" cy="4235450"/>
          </a:xfrm>
          <a:noFill/>
        </p:spPr>
      </p:pic>
      <p:sp>
        <p:nvSpPr>
          <p:cNvPr id="55300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E499921-8A2A-47F8-9DFE-40A218CA581B}" type="slidenum">
              <a:rPr lang="en-US" altLang="en-US">
                <a:solidFill>
                  <a:srgbClr val="898989"/>
                </a:solidFill>
                <a:latin typeface="Tahoma" panose="020B0604030504040204" pitchFamily="34" charset="0"/>
              </a:rPr>
              <a:t>72</a:t>
            </a:fld>
            <a:endParaRPr lang="en-US" altLang="en-US">
              <a:solidFill>
                <a:srgbClr val="898989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Management of Choking Child</a:t>
            </a:r>
            <a:endParaRPr lang="en-US" altLang="en-US"/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2101850"/>
            <a:ext cx="83058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600" dirty="0"/>
              <a:t>Give 5 blows to the child’s back with heel of hand with child sitting, kneeling or lying</a:t>
            </a:r>
          </a:p>
          <a:p>
            <a:pPr eaLnBrk="1" hangingPunct="1">
              <a:lnSpc>
                <a:spcPct val="80000"/>
              </a:lnSpc>
            </a:pPr>
            <a:endParaRPr lang="en-GB" altLang="en-US" sz="2600" dirty="0"/>
          </a:p>
          <a:p>
            <a:pPr eaLnBrk="1" hangingPunct="1">
              <a:lnSpc>
                <a:spcPct val="80000"/>
              </a:lnSpc>
            </a:pPr>
            <a:r>
              <a:rPr lang="en-GB" altLang="en-US" sz="2600" dirty="0"/>
              <a:t>If obstruction persists, go behind the child and pass your arms around the child’s body: form a fist with one ha</a:t>
            </a:r>
            <a:r>
              <a:rPr lang="en-US" altLang="en-GB" sz="2600" dirty="0"/>
              <a:t>n</a:t>
            </a:r>
            <a:r>
              <a:rPr lang="en-GB" altLang="en-US" sz="2600" dirty="0"/>
              <a:t>d immediately below the child’s sternum; place the other hand over the fist and pull upwards into the abdomen; repeat this </a:t>
            </a:r>
            <a:r>
              <a:rPr lang="en-GB" altLang="en-US" sz="2600" b="1" i="1" u="sng" dirty="0">
                <a:solidFill>
                  <a:srgbClr val="FF0000"/>
                </a:solidFill>
              </a:rPr>
              <a:t>Heimlich manoeuvre</a:t>
            </a:r>
            <a:r>
              <a:rPr lang="en-GB" altLang="en-US" sz="2600" dirty="0"/>
              <a:t> 5 times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600" dirty="0"/>
              <a:t>If the obstruction persists, check the child’s mouth for any obstruction which can be removed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600" dirty="0"/>
              <a:t>If necessary repeat sequence with back slaps again</a:t>
            </a:r>
            <a:endParaRPr lang="en-US" altLang="en-US" sz="2600" dirty="0"/>
          </a:p>
        </p:txBody>
      </p:sp>
      <p:sp>
        <p:nvSpPr>
          <p:cNvPr id="56324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B9EA9BC-51CA-47C2-9166-8AAD8A947179}" type="slidenum">
              <a:rPr lang="en-US" altLang="en-US">
                <a:solidFill>
                  <a:srgbClr val="898989"/>
                </a:solidFill>
                <a:latin typeface="Tahoma" panose="020B0604030504040204" pitchFamily="34" charset="0"/>
              </a:rPr>
              <a:t>73</a:t>
            </a:fld>
            <a:endParaRPr lang="en-US" altLang="en-US">
              <a:solidFill>
                <a:srgbClr val="898989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Management of Choking Child</a:t>
            </a:r>
            <a:endParaRPr lang="en-US" altLang="en-US"/>
          </a:p>
        </p:txBody>
      </p:sp>
      <p:pic>
        <p:nvPicPr>
          <p:cNvPr id="5837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52850" y="2011364"/>
            <a:ext cx="4686300" cy="3703637"/>
          </a:xfrm>
          <a:noFill/>
        </p:spPr>
      </p:pic>
      <p:sp>
        <p:nvSpPr>
          <p:cNvPr id="58372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297FA69-01E7-440E-9AAA-779982A2D77E}" type="slidenum">
              <a:rPr lang="en-US" altLang="en-US">
                <a:solidFill>
                  <a:srgbClr val="898989"/>
                </a:solidFill>
                <a:latin typeface="Tahoma" panose="020B0604030504040204" pitchFamily="34" charset="0"/>
              </a:rPr>
              <a:t>74</a:t>
            </a:fld>
            <a:endParaRPr lang="en-US" altLang="en-US">
              <a:solidFill>
                <a:srgbClr val="898989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74931"/>
            <a:ext cx="8229600" cy="1058545"/>
          </a:xfrm>
        </p:spPr>
        <p:txBody>
          <a:bodyPr/>
          <a:lstStyle/>
          <a:p>
            <a:pPr eaLnBrk="1" hangingPunct="1"/>
            <a:r>
              <a:rPr lang="en-US" dirty="0"/>
              <a:t>Cont... M</a:t>
            </a:r>
            <a:r>
              <a:rPr lang="en-US" dirty="0" err="1"/>
              <a:t>anagment</a:t>
            </a:r>
            <a:endParaRPr lang="en-US" dirty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359536"/>
            <a:ext cx="8229600" cy="4876165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/>
              <a:t>1) </a:t>
            </a:r>
            <a:r>
              <a:rPr lang="en-US" sz="2400" dirty="0"/>
              <a:t>If &lt;1 year old, use back blows/chest compressions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2) If &gt; 1 year old, use Heimlich maneuver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i="1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i="1" dirty="0"/>
              <a:t>3) If foreign body not expelled by above, perform laryngoscopy and remove visible foreign body with pediatric Magill forceps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i="1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i="1" dirty="0"/>
              <a:t>4) If foreign body not visualized, attempt to intubate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i="1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i="1" dirty="0"/>
              <a:t>5) If child cannot be intubated, needle </a:t>
            </a:r>
            <a:r>
              <a:rPr lang="en-US" sz="2400" i="1" dirty="0" err="1"/>
              <a:t>cricothyroidotomy</a:t>
            </a:r>
            <a:endParaRPr lang="en-US" sz="2400" i="1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i="1" dirty="0"/>
              <a:t>   should be attempted</a:t>
            </a:r>
          </a:p>
        </p:txBody>
      </p:sp>
      <p:sp>
        <p:nvSpPr>
          <p:cNvPr id="78852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3DBC7BE-DE44-4F31-B9BC-144D10F9ED33}" type="slidenum">
              <a:rPr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0" rtlCol="0" anchor="b">
            <a:normAutofit/>
          </a:bodyPr>
          <a:lstStyle/>
          <a:p>
            <a:pPr eaLnBrk="1" hangingPunct="1"/>
            <a:r>
              <a:rPr dirty="0"/>
              <a:t>Questions?</a:t>
            </a:r>
          </a:p>
        </p:txBody>
      </p:sp>
      <p:pic>
        <p:nvPicPr>
          <p:cNvPr id="43011" name="Picture 4" descr="MCj04077340000[1]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733800" y="1308460"/>
            <a:ext cx="4572000" cy="4572000"/>
          </a:xfrm>
        </p:spPr>
      </p:pic>
      <p:sp>
        <p:nvSpPr>
          <p:cNvPr id="43012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vert="horz" lIns="0" tIns="0" rIns="0" bIns="0" rtlCol="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200" dirty="0">
                <a:solidFill>
                  <a:srgbClr val="045C75"/>
                </a:solidFill>
              </a:rPr>
              <a:t>76</a:t>
            </a:fld>
            <a:endParaRPr lang="en-US" sz="1200" dirty="0">
              <a:solidFill>
                <a:srgbClr val="045C75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4800" b="1" i="1" dirty="0"/>
              <a:t>            Thank  you!!!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C82-15CB-4F38-A6F4-172CA9252FE1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03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62EA5-6C68-F1F8-0E5B-FE185EA1F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878F5-3213-C7E2-B65B-813C6BD85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Congenital lung malformation.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AF8926-404E-B4DE-1DAA-42F4044BD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Grand Round By</a:t>
            </a:r>
            <a:br>
              <a:rPr lang="en-US"/>
            </a:br>
            <a:r>
              <a:rPr lang="en-US"/>
              <a:t> Pediatric Infectious Disease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EC2937-8BE8-8520-27BC-32BA84D89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D7C0-EF86-4549-BF06-FAB50D30C98D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88265"/>
      </p:ext>
    </p:extLst>
  </p:cSld>
  <p:clrMapOvr>
    <a:masterClrMapping/>
  </p:clrMapOvr>
</p:sld>
</file>

<file path=ppt/theme/theme1.xml><?xml version="1.0" encoding="utf-8"?>
<a:theme xmlns:a="http://schemas.openxmlformats.org/drawingml/2006/main" name="Case Discussion- Feb 24 - Cop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7338</TotalTime>
  <Words>2601</Words>
  <Application>Microsoft Office PowerPoint</Application>
  <PresentationFormat>Widescreen</PresentationFormat>
  <Paragraphs>504</Paragraphs>
  <Slides>78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90" baseType="lpstr">
      <vt:lpstr>Arial</vt:lpstr>
      <vt:lpstr>Calibri</vt:lpstr>
      <vt:lpstr>Courier New</vt:lpstr>
      <vt:lpstr>Gotham</vt:lpstr>
      <vt:lpstr>Symbol</vt:lpstr>
      <vt:lpstr>Tahoma</vt:lpstr>
      <vt:lpstr>Times New Roman</vt:lpstr>
      <vt:lpstr>Verdana</vt:lpstr>
      <vt:lpstr>Wingdings</vt:lpstr>
      <vt:lpstr>Wingdings 2</vt:lpstr>
      <vt:lpstr>Case Discussion- Feb 24 - Copy</vt:lpstr>
      <vt:lpstr>Bitmap Image</vt:lpstr>
      <vt:lpstr>RESPIRATORY FAILURE</vt:lpstr>
      <vt:lpstr>Outline </vt:lpstr>
      <vt:lpstr>Respiratory failure </vt:lpstr>
      <vt:lpstr>Respiratory distress</vt:lpstr>
      <vt:lpstr>DISTRESS</vt:lpstr>
      <vt:lpstr>PowerPoint Presentation</vt:lpstr>
      <vt:lpstr>PowerPoint Presentation</vt:lpstr>
      <vt:lpstr>PowerPoint Presentation</vt:lpstr>
      <vt:lpstr>Monitoring </vt:lpstr>
      <vt:lpstr>Management </vt:lpstr>
      <vt:lpstr>Management con.</vt:lpstr>
      <vt:lpstr>SOAPME</vt:lpstr>
      <vt:lpstr>Common Respiratory Problems</vt:lpstr>
      <vt:lpstr>Case </vt:lpstr>
      <vt:lpstr>PowerPoint Presentation</vt:lpstr>
      <vt:lpstr>Extent of the problem</vt:lpstr>
      <vt:lpstr>Defence of Respiratory Tract</vt:lpstr>
      <vt:lpstr>Definition of pneumonia </vt:lpstr>
      <vt:lpstr>Etiology</vt:lpstr>
      <vt:lpstr>Etiology of pneumonia </vt:lpstr>
      <vt:lpstr>Routes of infections</vt:lpstr>
      <vt:lpstr>Pathophysiology</vt:lpstr>
      <vt:lpstr>PowerPoint Presentation</vt:lpstr>
      <vt:lpstr>Clinical presentation </vt:lpstr>
      <vt:lpstr>Laboratory diagnosis </vt:lpstr>
      <vt:lpstr>PowerPoint Presentation</vt:lpstr>
      <vt:lpstr>PowerPoint Presentation</vt:lpstr>
      <vt:lpstr>Types of Pneumonia</vt:lpstr>
      <vt:lpstr>Causes of recurrent pneumonia</vt:lpstr>
      <vt:lpstr>PowerPoint Presentation</vt:lpstr>
      <vt:lpstr>Complications</vt:lpstr>
      <vt:lpstr>Principles of treatment</vt:lpstr>
      <vt:lpstr>No improvement or slow resolution</vt:lpstr>
      <vt:lpstr>Key interventions for pneumonia</vt:lpstr>
      <vt:lpstr>WHO new guideline</vt:lpstr>
      <vt:lpstr>PowerPoint Presentation</vt:lpstr>
      <vt:lpstr>Upper airway obstruction.</vt:lpstr>
      <vt:lpstr>Upper Airway vs. Lower Airway Obstruction</vt:lpstr>
      <vt:lpstr>                 Introduction </vt:lpstr>
      <vt:lpstr>PowerPoint Presentation</vt:lpstr>
      <vt:lpstr> Unique features of the pediatric airway </vt:lpstr>
      <vt:lpstr>Causes of Upper Airway Obstruction in Children</vt:lpstr>
      <vt:lpstr>C/F</vt:lpstr>
      <vt:lpstr>Common Causes of Stridor  </vt:lpstr>
      <vt:lpstr>PowerPoint Presentation</vt:lpstr>
      <vt:lpstr>I.Viral Croup (laryngotracheobronchitis)</vt:lpstr>
      <vt:lpstr>SPASMODIC CROUP</vt:lpstr>
      <vt:lpstr>VIRAL CROUP</vt:lpstr>
      <vt:lpstr>VIRAL CROUP</vt:lpstr>
      <vt:lpstr>VIRAL CROUP</vt:lpstr>
      <vt:lpstr>PowerPoint Presentation</vt:lpstr>
      <vt:lpstr>PowerPoint Presentation</vt:lpstr>
      <vt:lpstr>STEEPLE SIGN</vt:lpstr>
      <vt:lpstr>PowerPoint Presentation</vt:lpstr>
      <vt:lpstr>Management of croup </vt:lpstr>
      <vt:lpstr>PowerPoint Presentation</vt:lpstr>
      <vt:lpstr>II. EPIGLOTTITIS</vt:lpstr>
      <vt:lpstr>EPIGLOTTITIS</vt:lpstr>
      <vt:lpstr>EPIGLOTTITIS</vt:lpstr>
      <vt:lpstr>PowerPoint Presentation</vt:lpstr>
      <vt:lpstr>PowerPoint Presentation</vt:lpstr>
      <vt:lpstr>THUMB SIGN</vt:lpstr>
      <vt:lpstr>PowerPoint Presentation</vt:lpstr>
      <vt:lpstr>Management of Epiglottitis </vt:lpstr>
      <vt:lpstr>III. BACTERIAL TRACHEITIS</vt:lpstr>
      <vt:lpstr>BACTERIAL TRACHEITIS</vt:lpstr>
      <vt:lpstr>Foreign Body Obstruction</vt:lpstr>
      <vt:lpstr>C/M</vt:lpstr>
      <vt:lpstr>PowerPoint Presentation</vt:lpstr>
      <vt:lpstr>PowerPoint Presentation</vt:lpstr>
      <vt:lpstr>Management of the choking infant</vt:lpstr>
      <vt:lpstr>Management of the choking infant</vt:lpstr>
      <vt:lpstr>Management of Choking Child</vt:lpstr>
      <vt:lpstr>Management of Choking Child</vt:lpstr>
      <vt:lpstr>Cont... Managment</vt:lpstr>
      <vt:lpstr>Questions?</vt:lpstr>
      <vt:lpstr>PowerPoint Presentation</vt:lpstr>
      <vt:lpstr>READING 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Grand Round By  Pediatric Infectious Disease Team</dc:title>
  <dc:creator>Windows User</dc:creator>
  <cp:lastModifiedBy>firezer milashu</cp:lastModifiedBy>
  <cp:revision>72</cp:revision>
  <dcterms:created xsi:type="dcterms:W3CDTF">2023-04-24T20:43:00Z</dcterms:created>
  <dcterms:modified xsi:type="dcterms:W3CDTF">2024-08-27T17:46:38Z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9034557E49F747FDAE522B86AC5F1AD5</vt:lpwstr>
  </property>
  <property fmtid="{D5CDD505-2E9C-101B-9397-08002B2CF9AE}" pid="3" name="KSOProductBuildVer">
    <vt:lpwstr>1033-11.2.0.11536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2023-08-02T08:19:02Z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b6ac8dd1-c58b-42ce-919a-a28a6d9764d6</vt:lpwstr>
  </property>
  <property fmtid="{D5CDD505-2E9C-101B-9397-08002B2CF9AE}" pid="9" name="MSIP_Label_defa4170-0d19-0005-0004-bc88714345d2_ActionId">
    <vt:lpwstr>f3203cad-82e1-4c51-bb50-37c373538c8c</vt:lpwstr>
  </property>
  <property fmtid="{D5CDD505-2E9C-101B-9397-08002B2CF9AE}" pid="10" name="MSIP_Label_defa4170-0d19-0005-0004-bc88714345d2_ContentBits">
    <vt:lpwstr>0</vt:lpwstr>
  </property>
</Properties>
</file>