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34" r:id="rId3"/>
    <p:sldId id="335" r:id="rId4"/>
    <p:sldId id="340" r:id="rId5"/>
    <p:sldId id="433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434" r:id="rId16"/>
    <p:sldId id="373" r:id="rId17"/>
    <p:sldId id="435" r:id="rId18"/>
    <p:sldId id="436" r:id="rId19"/>
    <p:sldId id="438" r:id="rId20"/>
    <p:sldId id="437" r:id="rId21"/>
    <p:sldId id="440" r:id="rId23"/>
    <p:sldId id="442" r:id="rId24"/>
    <p:sldId id="378" r:id="rId25"/>
    <p:sldId id="380" r:id="rId26"/>
    <p:sldId id="381" r:id="rId27"/>
    <p:sldId id="382" r:id="rId28"/>
    <p:sldId id="383" r:id="rId29"/>
    <p:sldId id="384" r:id="rId30"/>
    <p:sldId id="389" r:id="rId31"/>
    <p:sldId id="390" r:id="rId32"/>
    <p:sldId id="392" r:id="rId33"/>
    <p:sldId id="394" r:id="rId34"/>
    <p:sldId id="444" r:id="rId35"/>
    <p:sldId id="397" r:id="rId36"/>
    <p:sldId id="398" r:id="rId37"/>
    <p:sldId id="399" r:id="rId38"/>
    <p:sldId id="401" r:id="rId39"/>
    <p:sldId id="402" r:id="rId40"/>
    <p:sldId id="403" r:id="rId41"/>
    <p:sldId id="407" r:id="rId42"/>
    <p:sldId id="408" r:id="rId43"/>
    <p:sldId id="409" r:id="rId44"/>
    <p:sldId id="410" r:id="rId45"/>
    <p:sldId id="427" r:id="rId46"/>
    <p:sldId id="428" r:id="rId47"/>
    <p:sldId id="429" r:id="rId48"/>
    <p:sldId id="430" r:id="rId49"/>
    <p:sldId id="445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732" y="-84"/>
      </p:cViewPr>
      <p:guideLst>
        <p:guide orient="horz" pos="21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fld id="{EF8F43CF-05F4-4FFB-9657-8D7339B80235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352AB735-BF81-42D3-8AB0-17AC4E3C8048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F878F15-CD48-4C5D-80D9-D44D401682D8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ADB8EAE0-2989-4A36-AA06-EBB1CF19947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D0AE66F5-DC7C-4960-BCB8-671597E9629D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3E0B0C7-816F-4E0A-AB43-D16286337FBF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25ABCBB-F222-4CAB-8406-2EA73DDB8F21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A191D76-447A-473C-8F56-B318081D234A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C7CC7E6-E7AA-4F02-8AC4-0E97FCE134B3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07E4125F-F72E-4DCD-92D3-B868CE2947A1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4745ED8-A591-4F79-A629-AA0C207F1F8C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350" y="0"/>
            <a:ext cx="91503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FF00CD-7E3C-46D3-9480-2F93292BE464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jpeg"/><Relationship Id="rId3" Type="http://schemas.openxmlformats.org/officeDocument/2006/relationships/hyperlink" Target="http://4.bp.blogspot.com/_8_k8W7OcnXM/SNE_z3w9zdI/AAAAAAAAABM/MErSGvbDp70/s1600-h/Janeway+lesion+due+to+endocarditis%5b1%5d.jpg" TargetMode="External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80365" y="1371600"/>
            <a:ext cx="9033510" cy="1082675"/>
          </a:xfrm>
        </p:spPr>
        <p:txBody>
          <a:bodyPr/>
          <a:lstStyle/>
          <a:p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Acquired heart disease in children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2322" y="3733800"/>
            <a:ext cx="6781800" cy="162559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 smtClean="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0" indent="0">
              <a:buNone/>
            </a:pPr>
            <a:endParaRPr lang="en-US" dirty="0" smtClean="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0" indent="0">
              <a:buNone/>
            </a:pPr>
            <a:r>
              <a:rPr lang="en-US" dirty="0" smtClean="0"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r>
              <a:rPr lang="en-US" dirty="0" err="1" smtClean="0">
                <a:latin typeface="Georgia" panose="02040502050405020303" charset="0"/>
                <a:cs typeface="Georgia" panose="02040502050405020303" charset="0"/>
                <a:sym typeface="+mn-ea"/>
              </a:rPr>
              <a:t>Dr.Michael D</a:t>
            </a:r>
            <a:r>
              <a:rPr lang="en-US" dirty="0">
                <a:latin typeface="Georgia" panose="02040502050405020303" charset="0"/>
                <a:cs typeface="Georgia" panose="02040502050405020303" charset="0"/>
                <a:sym typeface="+mn-ea"/>
              </a:rPr>
              <a:t>.(R3)</a:t>
            </a:r>
            <a:endParaRPr lang="en-US" dirty="0">
              <a:solidFill>
                <a:schemeClr val="tx1"/>
              </a:solidFill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8800"/>
            <a:ext cx="7636933" cy="3992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Georgia" panose="02040502050405020303" charset="0"/>
                <a:cs typeface="Georgia" panose="02040502050405020303" charset="0"/>
              </a:rPr>
              <a:t>Rheumatic fever/ Rheumatic heart disease</a:t>
            </a: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Georgia" panose="02040502050405020303" charset="0"/>
                <a:cs typeface="Georgia" panose="02040502050405020303" charset="0"/>
              </a:rPr>
              <a:t>Infective endocarditis</a:t>
            </a: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Georgia" panose="02040502050405020303" charset="0"/>
                <a:cs typeface="Georgia" panose="02040502050405020303" charset="0"/>
              </a:rPr>
              <a:t>Myocarditis</a:t>
            </a: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Georgia" panose="02040502050405020303" charset="0"/>
                <a:cs typeface="Georgia" panose="02040502050405020303" charset="0"/>
              </a:rPr>
              <a:t>Cardiomyopathy</a:t>
            </a: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Georgia" panose="02040502050405020303" charset="0"/>
                <a:cs typeface="Georgia" panose="02040502050405020303" charset="0"/>
              </a:rPr>
              <a:t>Pericarditis</a:t>
            </a: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1447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Georgia" panose="02040502050405020303" charset="0"/>
                <a:cs typeface="Georgia" panose="02040502050405020303" charset="0"/>
              </a:rPr>
              <a:t>Acquired heart disease in children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91056"/>
            <a:ext cx="8458200" cy="51145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sz="2400" b="1" dirty="0">
                <a:latin typeface="Georgia" panose="02040502050405020303" charset="0"/>
                <a:cs typeface="Georgia" panose="02040502050405020303" charset="0"/>
              </a:rPr>
              <a:t>Most Common 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acquired heart disease in developing countries </a:t>
            </a:r>
            <a:r>
              <a:rPr lang="en-US" sz="2400" b="1" dirty="0">
                <a:latin typeface="Georgia" panose="02040502050405020303" charset="0"/>
                <a:cs typeface="Georgia" panose="02040502050405020303" charset="0"/>
              </a:rPr>
              <a:t>300 - 500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/100,000 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  <a:sym typeface="+mn-ea"/>
              </a:rPr>
              <a:t>Patients </a:t>
            </a:r>
            <a:r>
              <a:rPr lang="en-US" sz="2400" b="1" dirty="0">
                <a:latin typeface="Georgia" panose="02040502050405020303" charset="0"/>
                <a:cs typeface="Georgia" panose="02040502050405020303" charset="0"/>
                <a:sym typeface="+mn-ea"/>
              </a:rPr>
              <a:t>5 - 14 years 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  <a:sym typeface="+mn-ea"/>
              </a:rPr>
              <a:t>consist of </a:t>
            </a:r>
            <a:r>
              <a:rPr lang="en-US" sz="2400" b="1" dirty="0">
                <a:latin typeface="Georgia" panose="02040502050405020303" charset="0"/>
                <a:cs typeface="Georgia" panose="02040502050405020303" charset="0"/>
                <a:sym typeface="+mn-ea"/>
              </a:rPr>
              <a:t>72% 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  <a:sym typeface="+mn-ea"/>
              </a:rPr>
              <a:t>of the cases</a:t>
            </a:r>
            <a:endParaRPr lang="en-US" sz="2400" dirty="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endParaRPr lang="en-US" sz="2400" dirty="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  <a:sym typeface="+mn-ea"/>
              </a:rPr>
              <a:t>Mortality dropped from 8 - 30% to zero </a:t>
            </a:r>
            <a:endParaRPr lang="en-US" sz="2400" dirty="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sz="2400" b="1" i="1" dirty="0">
                <a:latin typeface="Georgia" panose="02040502050405020303" charset="0"/>
                <a:cs typeface="Georgia" panose="02040502050405020303" charset="0"/>
                <a:sym typeface="+mn-ea"/>
              </a:rPr>
              <a:t>“ Acute Rheumatic Fever licks the joint and bites the heart”</a:t>
            </a:r>
            <a:endParaRPr lang="en-US" sz="2400" b="1" i="1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q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q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b="1" dirty="0">
                <a:latin typeface="Georgia" panose="02040502050405020303" charset="0"/>
                <a:cs typeface="Georgia" panose="02040502050405020303" charset="0"/>
              </a:rPr>
              <a:t>Acute Rheumatic Fever</a:t>
            </a:r>
            <a:endParaRPr lang="en-US" sz="4400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Georgia" panose="02040502050405020303" charset="0"/>
                <a:cs typeface="Georgia" panose="02040502050405020303" charset="0"/>
              </a:rPr>
              <a:t>Jones Criteria</a:t>
            </a:r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35572" t="40741" r="24040" b="33333"/>
          <a:stretch>
            <a:fillRect/>
          </a:stretch>
        </p:blipFill>
        <p:spPr>
          <a:xfrm>
            <a:off x="762000" y="1143000"/>
            <a:ext cx="7630160" cy="510159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3E0B0C7-816F-4E0A-AB43-D16286337FBF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8534400" cy="4862688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Found in 60% - 90% of cases, </a:t>
            </a:r>
            <a:r>
              <a:rPr lang="en-US" sz="2400" b="1" i="1" dirty="0">
                <a:latin typeface="Georgia" panose="02040502050405020303" charset="0"/>
                <a:cs typeface="Georgia" panose="02040502050405020303" charset="0"/>
              </a:rPr>
              <a:t>Mainly Valvulitis </a:t>
            </a:r>
            <a:endParaRPr lang="en-US" sz="2400" b="1" i="1" dirty="0">
              <a:latin typeface="Georgia" panose="02040502050405020303" charset="0"/>
              <a:cs typeface="Georgia" panose="02040502050405020303" charset="0"/>
            </a:endParaRP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30 - 70% long term morbidity 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i="1" dirty="0">
                <a:latin typeface="Georgia" panose="02040502050405020303" charset="0"/>
                <a:cs typeface="Georgia" panose="02040502050405020303" charset="0"/>
              </a:rPr>
              <a:t>Mitral Valve most commonly affected </a:t>
            </a:r>
            <a:endParaRPr lang="en-US" sz="2400" b="1" i="1" dirty="0">
              <a:latin typeface="Georgia" panose="02040502050405020303" charset="0"/>
              <a:cs typeface="Georgia" panose="02040502050405020303" charset="0"/>
            </a:endParaRP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i="1" dirty="0">
                <a:latin typeface="Georgia" panose="02040502050405020303" charset="0"/>
                <a:cs typeface="Georgia" panose="02040502050405020303" charset="0"/>
              </a:rPr>
              <a:t>Aortic Valve 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more specific for diagnosis 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Acute heart damage is not influenced by the treatment 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marL="571500" indent="-571500" algn="ctr">
              <a:lnSpc>
                <a:spcPct val="90000"/>
              </a:lnSpc>
              <a:spcBef>
                <a:spcPct val="0"/>
              </a:spcBef>
              <a:defRPr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marL="571500" indent="-571500" algn="ctr">
              <a:lnSpc>
                <a:spcPct val="90000"/>
              </a:lnSpc>
              <a:spcBef>
                <a:spcPct val="0"/>
              </a:spcBef>
              <a:defRPr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0"/>
            <a:ext cx="8229600" cy="58261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Georgia" panose="02040502050405020303" charset="0"/>
                <a:cs typeface="Georgia" panose="02040502050405020303" charset="0"/>
              </a:rPr>
              <a:t>ARF – Carditis</a:t>
            </a:r>
            <a:endParaRPr lang="en-US" sz="4800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</p:spPr>
        <p:txBody>
          <a:bodyPr>
            <a:normAutofit/>
          </a:bodyPr>
          <a:lstStyle/>
          <a:p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ARF – Arthritis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447800"/>
            <a:ext cx="8839200" cy="5262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en-US" sz="2400" b="1" dirty="0">
                <a:latin typeface="Georgia" panose="02040502050405020303" charset="0"/>
                <a:ea typeface="+mj-ea"/>
                <a:cs typeface="Georgia" panose="02040502050405020303" charset="0"/>
              </a:rPr>
              <a:t>2 - 5 weeks </a:t>
            </a:r>
            <a:r>
              <a:rPr lang="en-US" sz="2400" dirty="0">
                <a:latin typeface="Georgia" panose="02040502050405020303" charset="0"/>
                <a:ea typeface="+mj-ea"/>
                <a:cs typeface="Georgia" panose="02040502050405020303" charset="0"/>
              </a:rPr>
              <a:t>latent period post group A streptococcus infection </a:t>
            </a:r>
            <a:endParaRPr lang="en-US" sz="2400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endParaRPr lang="en-US" sz="2400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en-US" sz="2400" dirty="0">
                <a:latin typeface="Georgia" panose="02040502050405020303" charset="0"/>
                <a:ea typeface="+mj-ea"/>
                <a:cs typeface="Georgia" panose="02040502050405020303" charset="0"/>
              </a:rPr>
              <a:t>Large joint migratory polyarthritis</a:t>
            </a:r>
            <a:endParaRPr lang="en-US" sz="2400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endParaRPr lang="en-US" sz="2400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en-US" sz="2400" b="1" i="1" dirty="0">
                <a:latin typeface="Georgia" panose="02040502050405020303" charset="0"/>
                <a:ea typeface="+mj-ea"/>
                <a:cs typeface="Georgia" panose="02040502050405020303" charset="0"/>
              </a:rPr>
              <a:t>Rapid response to anti-inflammatory  treatment</a:t>
            </a:r>
            <a:endParaRPr lang="en-US" sz="2400" b="1" i="1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endParaRPr lang="en-US" sz="2400" b="1" i="1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en-US" sz="2400" dirty="0">
                <a:latin typeface="Georgia" panose="02040502050405020303" charset="0"/>
                <a:ea typeface="+mj-ea"/>
                <a:cs typeface="Georgia" panose="02040502050405020303" charset="0"/>
              </a:rPr>
              <a:t>No long term morbidity </a:t>
            </a:r>
            <a:endParaRPr lang="en-US" sz="2400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 marL="571500" indent="-571500">
              <a:buFont typeface="Wingdings" panose="05000000000000000000" charset="0"/>
              <a:buChar char="Ø"/>
              <a:defRPr/>
            </a:pPr>
            <a:endParaRPr lang="en-US" sz="2400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 marL="571500" indent="-571500">
              <a:buFont typeface="Wingdings" panose="05000000000000000000" charset="0"/>
              <a:buChar char="Ø"/>
              <a:defRPr/>
            </a:pPr>
            <a:endParaRPr lang="en-US" sz="2400" kern="0" dirty="0">
              <a:solidFill>
                <a:srgbClr val="EAEAEA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493888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2800" dirty="0">
                <a:latin typeface="Georgia" panose="02040502050405020303" charset="0"/>
                <a:cs typeface="Georgia" panose="02040502050405020303" charset="0"/>
              </a:rPr>
              <a:t>Inflammation involving the </a:t>
            </a:r>
            <a:r>
              <a:rPr lang="en-US" sz="2800" b="1" i="1" dirty="0">
                <a:latin typeface="Georgia" panose="02040502050405020303" charset="0"/>
                <a:cs typeface="Georgia" panose="02040502050405020303" charset="0"/>
              </a:rPr>
              <a:t>basal ganglia</a:t>
            </a:r>
            <a:r>
              <a:rPr lang="en-US" sz="2800" dirty="0">
                <a:latin typeface="Georgia" panose="02040502050405020303" charset="0"/>
                <a:cs typeface="Georgia" panose="02040502050405020303" charset="0"/>
              </a:rPr>
              <a:t>, </a:t>
            </a:r>
            <a:r>
              <a:rPr lang="en-US" sz="2800" b="1" i="1" dirty="0">
                <a:latin typeface="Georgia" panose="02040502050405020303" charset="0"/>
                <a:cs typeface="Georgia" panose="02040502050405020303" charset="0"/>
              </a:rPr>
              <a:t>cerebral cortex </a:t>
            </a:r>
            <a:r>
              <a:rPr lang="en-US" sz="2800" dirty="0">
                <a:latin typeface="Georgia" panose="02040502050405020303" charset="0"/>
                <a:cs typeface="Georgia" panose="02040502050405020303" charset="0"/>
              </a:rPr>
              <a:t>and </a:t>
            </a:r>
            <a:r>
              <a:rPr lang="en-US" sz="2800" b="1" i="1" dirty="0">
                <a:latin typeface="Georgia" panose="02040502050405020303" charset="0"/>
                <a:cs typeface="Georgia" panose="02040502050405020303" charset="0"/>
              </a:rPr>
              <a:t>cerebellum</a:t>
            </a:r>
            <a:r>
              <a:rPr lang="en-US" sz="2800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  <a:p>
            <a:pPr lvl="0"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2800" b="1" i="1" dirty="0">
                <a:latin typeface="Georgia" panose="02040502050405020303" charset="0"/>
                <a:cs typeface="Georgia" panose="02040502050405020303" charset="0"/>
              </a:rPr>
              <a:t>Diagnostic as single criteria </a:t>
            </a:r>
            <a:endParaRPr lang="en-US" sz="2800" b="1" i="1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800" b="1" i="1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2800" dirty="0">
                <a:latin typeface="Georgia" panose="02040502050405020303" charset="0"/>
                <a:cs typeface="Georgia" panose="02040502050405020303" charset="0"/>
              </a:rPr>
              <a:t>Self limited disease</a:t>
            </a: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  <a:p>
            <a:pPr lvl="0"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Georgia" panose="02040502050405020303" charset="0"/>
                <a:cs typeface="Georgia" panose="02040502050405020303" charset="0"/>
              </a:rPr>
              <a:t>ARF– Sydenham Chorea </a:t>
            </a:r>
            <a:endParaRPr lang="en-US" sz="3200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554162"/>
          </a:xfrm>
        </p:spPr>
        <p:txBody>
          <a:bodyPr>
            <a:normAutofit/>
          </a:bodyPr>
          <a:lstStyle/>
          <a:p>
            <a:pPr algn="l">
              <a:spcBef>
                <a:spcPct val="20000"/>
              </a:spcBef>
            </a:pPr>
            <a:r>
              <a:rPr lang="en-US" sz="5400" b="1" dirty="0">
                <a:latin typeface="+mn-lt"/>
                <a:ea typeface="+mn-ea"/>
                <a:cs typeface="+mn-cs"/>
              </a:rPr>
              <a:t>Subcutaneous Nodule</a:t>
            </a:r>
            <a:endParaRPr lang="en-US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Picture 8" descr="rheumatic_fever_nodu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88" y="2173485"/>
            <a:ext cx="4419600" cy="426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ex-artdis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188" y="2173486"/>
            <a:ext cx="41148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046605"/>
            <a:ext cx="5076190" cy="2830195"/>
          </a:xfrm>
        </p:spPr>
        <p:txBody>
          <a:bodyPr>
            <a:normAutofit/>
          </a:bodyPr>
          <a:lstStyle/>
          <a:p>
            <a:pPr marL="0" indent="0" algn="l" fontAlgn="base">
              <a:lnSpc>
                <a:spcPct val="100000"/>
              </a:lnSpc>
              <a:spcAft>
                <a:spcPct val="0"/>
              </a:spcAft>
              <a:buClr>
                <a:srgbClr val="FFFFCC"/>
              </a:buClr>
              <a:buSzPct val="70000"/>
              <a:buNone/>
              <a:defRPr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-Will appear in </a:t>
            </a:r>
            <a:r>
              <a:rPr lang="en-US" sz="2400" b="1" i="1" dirty="0">
                <a:latin typeface="Georgia" panose="02040502050405020303" charset="0"/>
                <a:cs typeface="Georgia" panose="02040502050405020303" charset="0"/>
              </a:rPr>
              <a:t>less than 5% of cases </a:t>
            </a:r>
            <a:endParaRPr lang="en-US" sz="2400" b="1" i="1" dirty="0">
              <a:latin typeface="Georgia" panose="02040502050405020303" charset="0"/>
              <a:cs typeface="Georgia" panose="02040502050405020303" charset="0"/>
            </a:endParaRPr>
          </a:p>
          <a:p>
            <a:pPr marL="0" lvl="0" indent="0" fontAlgn="base">
              <a:lnSpc>
                <a:spcPct val="100000"/>
              </a:lnSpc>
              <a:spcAft>
                <a:spcPct val="0"/>
              </a:spcAft>
              <a:buClr>
                <a:srgbClr val="FFFFCC"/>
              </a:buClr>
              <a:buSzPct val="70000"/>
              <a:buNone/>
              <a:defRPr/>
            </a:pPr>
            <a:r>
              <a:rPr lang="en-US" sz="2400" b="1" i="1" dirty="0">
                <a:latin typeface="Georgia" panose="02040502050405020303" charset="0"/>
                <a:cs typeface="Georgia" panose="02040502050405020303" charset="0"/>
              </a:rPr>
              <a:t>-Associated with carditis</a:t>
            </a:r>
            <a:endParaRPr lang="en-US" sz="2400" b="1" i="1" dirty="0">
              <a:latin typeface="Georgia" panose="02040502050405020303" charset="0"/>
              <a:cs typeface="Georgia" panose="02040502050405020303" charset="0"/>
            </a:endParaRPr>
          </a:p>
          <a:p>
            <a:pPr lvl="0" fontAlgn="base">
              <a:lnSpc>
                <a:spcPct val="100000"/>
              </a:lnSpc>
              <a:spcAft>
                <a:spcPct val="0"/>
              </a:spcAft>
              <a:buClr>
                <a:srgbClr val="FFFFCC"/>
              </a:buClr>
              <a:buSzPct val="70000"/>
              <a:buNone/>
              <a:defRPr/>
            </a:pPr>
            <a:endParaRPr lang="en-US" sz="2400" kern="0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</p:spPr>
        <p:txBody>
          <a:bodyPr/>
          <a:lstStyle/>
          <a:p>
            <a:pPr algn="l">
              <a:spcBef>
                <a:spcPct val="20000"/>
              </a:spcBef>
            </a:pPr>
            <a:r>
              <a:rPr lang="en-US" sz="4800" b="1" dirty="0">
                <a:latin typeface="Georgia" panose="02040502050405020303" charset="0"/>
                <a:ea typeface="+mn-ea"/>
                <a:cs typeface="Georgia" panose="02040502050405020303" charset="0"/>
              </a:rPr>
              <a:t>Erythema Marginatum </a:t>
            </a:r>
            <a:endParaRPr lang="en-US" sz="4800" b="1" dirty="0"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pic>
        <p:nvPicPr>
          <p:cNvPr id="4" name="Picture 5" descr="rheumatic fever الحمى الروماتزمية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046591"/>
            <a:ext cx="3810000" cy="4582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905000"/>
            <a:ext cx="8991600" cy="38100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b="1" dirty="0">
                <a:latin typeface="Georgia" panose="02040502050405020303" charset="0"/>
                <a:cs typeface="Georgia" panose="02040502050405020303" charset="0"/>
              </a:rPr>
              <a:t>0.3%</a:t>
            </a:r>
            <a:r>
              <a:rPr lang="en-AU" sz="2800" dirty="0">
                <a:latin typeface="Georgia" panose="02040502050405020303" charset="0"/>
                <a:cs typeface="Georgia" panose="02040502050405020303" charset="0"/>
              </a:rPr>
              <a:t> - GAS tonsillitis </a:t>
            </a:r>
            <a:r>
              <a:rPr lang="en-AU" sz="2800" b="1" i="1" dirty="0">
                <a:latin typeface="Georgia" panose="02040502050405020303" charset="0"/>
                <a:cs typeface="Georgia" panose="02040502050405020303" charset="0"/>
              </a:rPr>
              <a:t>treated with Penicillin</a:t>
            </a:r>
            <a:endParaRPr lang="en-AU" sz="2800" b="1" i="1" dirty="0">
              <a:latin typeface="Georgia" panose="02040502050405020303" charset="0"/>
              <a:cs typeface="Georgia" panose="02040502050405020303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b="1" dirty="0">
                <a:latin typeface="Georgia" panose="02040502050405020303" charset="0"/>
                <a:cs typeface="Georgia" panose="02040502050405020303" charset="0"/>
              </a:rPr>
              <a:t>3%    </a:t>
            </a:r>
            <a:r>
              <a:rPr lang="en-AU" sz="2800" dirty="0">
                <a:latin typeface="Georgia" panose="02040502050405020303" charset="0"/>
                <a:cs typeface="Georgia" panose="02040502050405020303" charset="0"/>
              </a:rPr>
              <a:t>- GAS tonsillitis </a:t>
            </a:r>
            <a:r>
              <a:rPr lang="en-AU" sz="2800" b="1" dirty="0">
                <a:latin typeface="Georgia" panose="02040502050405020303" charset="0"/>
                <a:cs typeface="Georgia" panose="02040502050405020303" charset="0"/>
              </a:rPr>
              <a:t>untreated</a:t>
            </a:r>
            <a:endParaRPr lang="en-AU" sz="2800" b="1" dirty="0">
              <a:latin typeface="Georgia" panose="02040502050405020303" charset="0"/>
              <a:cs typeface="Georgia" panose="02040502050405020303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b="1" dirty="0">
                <a:latin typeface="Georgia" panose="02040502050405020303" charset="0"/>
                <a:cs typeface="Georgia" panose="02040502050405020303" charset="0"/>
              </a:rPr>
              <a:t>60%</a:t>
            </a:r>
            <a:r>
              <a:rPr lang="en-AU" sz="2800" dirty="0">
                <a:latin typeface="Georgia" panose="02040502050405020303" charset="0"/>
                <a:cs typeface="Georgia" panose="02040502050405020303" charset="0"/>
              </a:rPr>
              <a:t>  - known rheumatic patients with GAS tonsillitis </a:t>
            </a:r>
            <a:endParaRPr lang="en-AU" sz="2800" dirty="0">
              <a:latin typeface="Georgia" panose="02040502050405020303" charset="0"/>
              <a:cs typeface="Georgia" panose="02040502050405020303" charset="0"/>
            </a:endParaRPr>
          </a:p>
          <a:p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8143"/>
            <a:ext cx="8382000" cy="13716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Georgia" panose="02040502050405020303" charset="0"/>
                <a:cs typeface="Georgia" panose="02040502050405020303" charset="0"/>
              </a:rPr>
              <a:t>Rheumatic Attack Rate after GAS</a:t>
            </a:r>
            <a:br>
              <a:rPr lang="en-US" sz="2400" b="1" dirty="0">
                <a:latin typeface="Georgia" panose="02040502050405020303" charset="0"/>
                <a:cs typeface="Georgia" panose="02040502050405020303" charset="0"/>
              </a:rPr>
            </a:br>
            <a:r>
              <a:rPr lang="en-US" sz="2400" b="1" dirty="0">
                <a:latin typeface="Georgia" panose="02040502050405020303" charset="0"/>
                <a:cs typeface="Georgia" panose="02040502050405020303" charset="0"/>
              </a:rPr>
              <a:t>Tonsillitis</a:t>
            </a:r>
            <a:endParaRPr lang="en-US" sz="2400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645"/>
            <a:ext cx="8686800" cy="4525963"/>
          </a:xfrm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Georgia" panose="02040502050405020303" charset="0"/>
                <a:cs typeface="Georgia" panose="02040502050405020303" charset="0"/>
              </a:rPr>
              <a:t>10 days penicillin 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to eradicate GAS 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High dose </a:t>
            </a:r>
            <a:r>
              <a:rPr lang="en-US" sz="2400" b="1" dirty="0">
                <a:latin typeface="Georgia" panose="02040502050405020303" charset="0"/>
                <a:cs typeface="Georgia" panose="02040502050405020303" charset="0"/>
              </a:rPr>
              <a:t>Aspirin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 (50 - 100 mg/kg/day)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Until clinical and laboratory evidence of inflammation resolve 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400" b="1" i="1" dirty="0">
                <a:latin typeface="Georgia" panose="02040502050405020303" charset="0"/>
                <a:cs typeface="Georgia" panose="02040502050405020303" charset="0"/>
              </a:rPr>
              <a:t>If severe carditis 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– Steroid (</a:t>
            </a:r>
            <a:r>
              <a:rPr lang="en-US" sz="2400" b="1" i="1" dirty="0">
                <a:latin typeface="Georgia" panose="02040502050405020303" charset="0"/>
                <a:cs typeface="Georgia" panose="02040502050405020303" charset="0"/>
              </a:rPr>
              <a:t>prednisone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 2mg/kg/day for </a:t>
            </a:r>
            <a:r>
              <a:rPr lang="en-US" sz="2400" b="1" dirty="0">
                <a:latin typeface="Georgia" panose="02040502050405020303" charset="0"/>
                <a:cs typeface="Georgia" panose="02040502050405020303" charset="0"/>
              </a:rPr>
              <a:t>2 weeks 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and taper down)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lvl="0"/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229600" cy="582613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latin typeface="Georgia" panose="02040502050405020303" charset="0"/>
                <a:cs typeface="Georgia" panose="02040502050405020303" charset="0"/>
              </a:rPr>
              <a:t>Primary Treatment</a:t>
            </a:r>
            <a:endParaRPr lang="en-US" sz="5400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686800" cy="493888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1</a:t>
            </a:r>
            <a:r>
              <a:rPr lang="en-US" sz="2400" baseline="30000" dirty="0">
                <a:latin typeface="Georgia" panose="02040502050405020303" charset="0"/>
                <a:cs typeface="Georgia" panose="02040502050405020303" charset="0"/>
              </a:rPr>
              <a:t>o</a:t>
            </a:r>
            <a:r>
              <a:rPr lang="en-AU" sz="2400" dirty="0">
                <a:latin typeface="Georgia" panose="02040502050405020303" charset="0"/>
                <a:cs typeface="Georgia" panose="02040502050405020303" charset="0"/>
              </a:rPr>
              <a:t> - prevents 1</a:t>
            </a:r>
            <a:r>
              <a:rPr lang="en-AU" sz="2400" baseline="30000" dirty="0">
                <a:latin typeface="Georgia" panose="02040502050405020303" charset="0"/>
                <a:cs typeface="Georgia" panose="02040502050405020303" charset="0"/>
              </a:rPr>
              <a:t>st</a:t>
            </a:r>
            <a:r>
              <a:rPr lang="en-AU" sz="2400" dirty="0">
                <a:latin typeface="Georgia" panose="02040502050405020303" charset="0"/>
                <a:cs typeface="Georgia" panose="02040502050405020303" charset="0"/>
              </a:rPr>
              <a:t> episode of RF</a:t>
            </a:r>
            <a:endParaRPr lang="en-AU" sz="2400" dirty="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2</a:t>
            </a:r>
            <a:r>
              <a:rPr lang="en-US" sz="2400" baseline="30000" dirty="0">
                <a:latin typeface="Georgia" panose="02040502050405020303" charset="0"/>
                <a:cs typeface="Georgia" panose="02040502050405020303" charset="0"/>
              </a:rPr>
              <a:t>o</a:t>
            </a:r>
            <a:r>
              <a:rPr lang="en-AU" sz="2400" dirty="0">
                <a:latin typeface="Georgia" panose="02040502050405020303" charset="0"/>
                <a:cs typeface="Georgia" panose="02040502050405020303" charset="0"/>
              </a:rPr>
              <a:t> - prevents recurrences of RF</a:t>
            </a:r>
            <a:endParaRPr lang="en-AU" sz="2400" dirty="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150000"/>
              </a:lnSpc>
            </a:pPr>
            <a:r>
              <a:rPr lang="en-AU" b="1" dirty="0">
                <a:latin typeface="Georgia" panose="02040502050405020303" charset="0"/>
                <a:cs typeface="Georgia" panose="02040502050405020303" charset="0"/>
              </a:rPr>
              <a:t>PCN</a:t>
            </a:r>
            <a:r>
              <a:rPr lang="en-AU" dirty="0">
                <a:latin typeface="Georgia" panose="02040502050405020303" charset="0"/>
                <a:cs typeface="Georgia" panose="02040502050405020303" charset="0"/>
              </a:rPr>
              <a:t>  VK 250 mg BID</a:t>
            </a:r>
            <a:endParaRPr lang="en-AU" dirty="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150000"/>
              </a:lnSpc>
            </a:pPr>
            <a:r>
              <a:rPr lang="en-AU" b="1" dirty="0">
                <a:latin typeface="Georgia" panose="02040502050405020303" charset="0"/>
                <a:cs typeface="Georgia" panose="02040502050405020303" charset="0"/>
              </a:rPr>
              <a:t>Benzathine PCN  </a:t>
            </a:r>
            <a:r>
              <a:rPr lang="en-AU" dirty="0">
                <a:latin typeface="Georgia" panose="02040502050405020303" charset="0"/>
                <a:cs typeface="Georgia" panose="02040502050405020303" charset="0"/>
              </a:rPr>
              <a:t>1.2 MU q 21 – 28 days</a:t>
            </a:r>
            <a:endParaRPr lang="en-AU" dirty="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150000"/>
              </a:lnSpc>
            </a:pPr>
            <a:r>
              <a:rPr lang="en-AU" sz="2400" dirty="0">
                <a:latin typeface="Georgia" panose="02040502050405020303" charset="0"/>
                <a:cs typeface="Georgia" panose="02040502050405020303" charset="0"/>
              </a:rPr>
              <a:t>Duration of  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2</a:t>
            </a:r>
            <a:r>
              <a:rPr lang="en-US" sz="2400" baseline="30000" dirty="0">
                <a:latin typeface="Georgia" panose="02040502050405020303" charset="0"/>
                <a:cs typeface="Georgia" panose="02040502050405020303" charset="0"/>
              </a:rPr>
              <a:t>o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 prophylaxis</a:t>
            </a:r>
            <a:endParaRPr lang="en-AU" sz="2400" dirty="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150000"/>
              </a:lnSpc>
            </a:pPr>
            <a:r>
              <a:rPr lang="en-AU" b="1" i="1" dirty="0">
                <a:latin typeface="Georgia" panose="02040502050405020303" charset="0"/>
                <a:cs typeface="Georgia" panose="02040502050405020303" charset="0"/>
              </a:rPr>
              <a:t>Arthritis - at least 5 years</a:t>
            </a:r>
            <a:endParaRPr lang="en-AU" b="1" i="1" dirty="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150000"/>
              </a:lnSpc>
            </a:pPr>
            <a:r>
              <a:rPr lang="en-AU" b="1" i="1" dirty="0">
                <a:latin typeface="Georgia" panose="02040502050405020303" charset="0"/>
                <a:cs typeface="Georgia" panose="02040502050405020303" charset="0"/>
              </a:rPr>
              <a:t>Carditis - at least 10 years (recurrence free &amp; no residual heart disease)</a:t>
            </a:r>
            <a:endParaRPr lang="en-AU" b="1" i="1" dirty="0">
              <a:latin typeface="Georgia" panose="02040502050405020303" charset="0"/>
              <a:cs typeface="Georgia" panose="02040502050405020303" charset="0"/>
            </a:endParaRPr>
          </a:p>
          <a:p>
            <a:endParaRPr lang="en-AU" b="1" i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90600"/>
            <a:ext cx="8229600" cy="582613"/>
          </a:xfrm>
        </p:spPr>
        <p:txBody>
          <a:bodyPr>
            <a:normAutofit fontScale="90000"/>
          </a:bodyPr>
          <a:lstStyle/>
          <a:p>
            <a:r>
              <a:rPr lang="en-AU" sz="5300" b="1" dirty="0">
                <a:latin typeface="Georgia" panose="02040502050405020303" charset="0"/>
                <a:cs typeface="Georgia" panose="02040502050405020303" charset="0"/>
              </a:rPr>
              <a:t>Prophylaxis</a:t>
            </a:r>
            <a:br>
              <a:rPr lang="en-AU" dirty="0">
                <a:latin typeface="Georgia" panose="02040502050405020303" charset="0"/>
                <a:cs typeface="Georgia" panose="02040502050405020303" charset="0"/>
              </a:rPr>
            </a:br>
            <a:endParaRPr lang="en-US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1591056"/>
            <a:ext cx="8762999" cy="4841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ARF-Treatment dose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7693" t="42436" r="6723" b="6795"/>
          <a:stretch>
            <a:fillRect/>
          </a:stretch>
        </p:blipFill>
        <p:spPr>
          <a:xfrm>
            <a:off x="228600" y="1447800"/>
            <a:ext cx="8041005" cy="47212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352AB735-BF81-42D3-8AB0-17AC4E3C8048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DA2DB8C65FF1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98" y="1136175"/>
            <a:ext cx="4572000" cy="4774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marL="342900" indent="-342900" fontAlgn="base">
              <a:spcAft>
                <a:spcPct val="0"/>
              </a:spcAft>
              <a:buClr>
                <a:srgbClr val="FFFFCC"/>
              </a:buClr>
              <a:buSzPct val="70000"/>
              <a:defRPr/>
            </a:pPr>
            <a:r>
              <a:rPr lang="en-US" sz="4000" b="1" dirty="0">
                <a:latin typeface="+mn-lt"/>
                <a:ea typeface="+mn-ea"/>
                <a:cs typeface="+mn-cs"/>
              </a:rPr>
              <a:t>Infective Endocarditis</a:t>
            </a:r>
            <a:endParaRPr lang="en-US" sz="40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vasculit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31305" y="1198669"/>
            <a:ext cx="3805238" cy="505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 descr="Janeway+lesion+due+to+endocarditis%5B1%5D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205" y="3618537"/>
            <a:ext cx="2705100" cy="2806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739140"/>
          </a:xfrm>
        </p:spPr>
        <p:txBody>
          <a:bodyPr/>
          <a:p>
            <a:r>
              <a:rPr lang="en-US" b="1" dirty="0">
                <a:latin typeface="Georgia" panose="02040502050405020303" charset="0"/>
                <a:ea typeface="+mn-ea"/>
                <a:cs typeface="Georgia" panose="02040502050405020303" charset="0"/>
                <a:sym typeface="+mn-ea"/>
              </a:rPr>
              <a:t>Infective Endocarditis</a:t>
            </a:r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sz="2800" b="1">
                <a:latin typeface="Georgia" panose="02040502050405020303" charset="0"/>
                <a:cs typeface="Georgia" panose="02040502050405020303" charset="0"/>
              </a:rPr>
              <a:t>Types:</a:t>
            </a:r>
            <a:endParaRPr lang="en-US" sz="2800" b="1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Bacterial Endocarditis(</a:t>
            </a:r>
            <a:r>
              <a:rPr lang="en-US" sz="2400">
                <a:latin typeface="Georgia" panose="02040502050405020303" charset="0"/>
                <a:cs typeface="Georgia" panose="02040502050405020303" charset="0"/>
                <a:sym typeface="+mn-ea"/>
              </a:rPr>
              <a:t>Acute &amp; Subacute)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Nonbacterial Endocarditis ( viruses, fungi, and other agents)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sz="2800" b="1">
                <a:latin typeface="Georgia" panose="02040502050405020303" charset="0"/>
                <a:cs typeface="Georgia" panose="02040502050405020303" charset="0"/>
              </a:rPr>
              <a:t>Risk Groups:</a:t>
            </a:r>
            <a:endParaRPr lang="en-US" sz="2800" b="1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Intravenous drug users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Cardiac surgery survivors, especially with mechanical prostheses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Immunosuppressed patients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Patients with chronic intravascular catheters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352AB735-BF81-42D3-8AB0-17AC4E3C8048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Georgia" panose="02040502050405020303" charset="0"/>
                <a:cs typeface="Georgia" panose="02040502050405020303" charset="0"/>
                <a:sym typeface="+mn-ea"/>
              </a:rPr>
              <a:t>Etiology of Infective Endocarditis</a:t>
            </a:r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Most Common Pathogens: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Viridans-type Streptococci (S. mitis, S. anginosus, S. mutans, S. salivarius, S. bovis, S. sanguinis)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Staphylococcus aureus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Less Common Organisms: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Other bacteria and fungi (varies by patient group)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Blood cultures: Negative in ~6% of cases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352AB735-BF81-42D3-8AB0-17AC4E3C8048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Georgia" panose="02040502050405020303" charset="0"/>
                <a:cs typeface="Georgia" panose="02040502050405020303" charset="0"/>
                <a:sym typeface="+mn-ea"/>
              </a:rPr>
              <a:t>Infective Endocarditis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050" y="1130935"/>
            <a:ext cx="4638040" cy="534416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352AB735-BF81-42D3-8AB0-17AC4E3C8048}" type="slidenum">
              <a:rPr lang="en-US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90" y="1450340"/>
            <a:ext cx="4175125" cy="54076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8600" y="-76200"/>
            <a:ext cx="7421245" cy="676973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352AB735-BF81-42D3-8AB0-17AC4E3C8048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24040" t="20897" r="51919" b="5256"/>
          <a:stretch>
            <a:fillRect/>
          </a:stretch>
        </p:blipFill>
        <p:spPr>
          <a:xfrm>
            <a:off x="403225" y="773430"/>
            <a:ext cx="3895725" cy="59480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352AB735-BF81-42D3-8AB0-17AC4E3C8048}" type="slidenum">
              <a:rPr lang="en-US"/>
            </a:fld>
            <a:endParaRPr lang="en-US"/>
          </a:p>
        </p:txBody>
      </p:sp>
      <p:pic>
        <p:nvPicPr>
          <p:cNvPr id="8" name="Content Placeholder 6"/>
          <p:cNvPicPr>
            <a:picLocks noChangeAspect="1"/>
          </p:cNvPicPr>
          <p:nvPr/>
        </p:nvPicPr>
        <p:blipFill>
          <a:blip r:embed="rId2"/>
          <a:srcRect l="24040" t="63974" r="51919" b="9872"/>
          <a:stretch>
            <a:fillRect/>
          </a:stretch>
        </p:blipFill>
        <p:spPr>
          <a:xfrm>
            <a:off x="4267200" y="838200"/>
            <a:ext cx="4735830" cy="57804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582613"/>
          </a:xfrm>
        </p:spPr>
        <p:txBody>
          <a:bodyPr/>
          <a:p>
            <a:r>
              <a:rPr lang="en-US" sz="3200" b="1">
                <a:latin typeface="Georgia" panose="02040502050405020303" charset="0"/>
                <a:cs typeface="Georgia" panose="02040502050405020303" charset="0"/>
                <a:sym typeface="+mn-ea"/>
              </a:rPr>
              <a:t>Antibiotic Therapy for Infective Endocarditis</a:t>
            </a:r>
            <a:endParaRPr lang="en-US" sz="3200" b="1"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Start antibiotic therapy immediately after a definitive diagnosis of infective endocarditis is made.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Duration of Treatment:4-6 weeks 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sz="24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Goal:To eradicate the infection and prevent complications.</a:t>
            </a:r>
            <a:endParaRPr lang="en-US" sz="24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352AB735-BF81-42D3-8AB0-17AC4E3C8048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09800"/>
            <a:ext cx="8686799" cy="4405488"/>
          </a:xfrm>
        </p:spPr>
        <p:txBody>
          <a:bodyPr>
            <a:normAutofit fontScale="90000" lnSpcReduction="10000"/>
          </a:bodyPr>
          <a:lstStyle/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b="0" dirty="0">
                <a:latin typeface="Times New Roman" panose="02020603050405020304" pitchFamily="18" charset="0"/>
              </a:rPr>
              <a:t>Develops directly at the time of </a:t>
            </a:r>
            <a:r>
              <a:rPr lang="en-US" sz="2400" b="1" u="sng" dirty="0">
                <a:latin typeface="Times New Roman" panose="02020603050405020304" pitchFamily="18" charset="0"/>
              </a:rPr>
              <a:t>viral infection </a:t>
            </a:r>
            <a:r>
              <a:rPr lang="en-US" sz="2400" b="0" dirty="0">
                <a:latin typeface="Times New Roman" panose="02020603050405020304" pitchFamily="18" charset="0"/>
              </a:rPr>
              <a:t>or soon after such infection </a:t>
            </a:r>
            <a:endParaRPr lang="en-US" sz="2400" b="0" dirty="0">
              <a:latin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b="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b="0" dirty="0">
                <a:latin typeface="Times New Roman" panose="02020603050405020304" pitchFamily="18" charset="0"/>
              </a:rPr>
              <a:t>The severe forms are observed predominantly at the age below 3 years  </a:t>
            </a:r>
            <a:endParaRPr lang="en-US" sz="2400" b="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charset="0"/>
              <a:buNone/>
            </a:pPr>
            <a:endParaRPr lang="en-US" sz="2400" b="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sym typeface="+mn-ea"/>
              </a:rPr>
              <a:t>The forms of the moderate severity may be observed both in early age and in preschool and school age children </a:t>
            </a:r>
            <a:endParaRPr lang="en-US" sz="2400" dirty="0">
              <a:latin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sz="2400" b="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sym typeface="+mn-ea"/>
              </a:rPr>
              <a:t>The mild forms are recorded predominantly in preschool and school age children</a:t>
            </a:r>
            <a:endParaRPr lang="ru-RU" sz="2400" b="0" dirty="0">
              <a:latin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b="0" dirty="0">
              <a:latin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252728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Georgia" panose="02040502050405020303" charset="0"/>
                <a:cs typeface="Georgia" panose="02040502050405020303" charset="0"/>
              </a:rPr>
              <a:t>Acute Myocarditis</a:t>
            </a:r>
            <a:endParaRPr lang="en-US" sz="6000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599" cy="45578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800" dirty="0">
                <a:latin typeface="Times New Roman" panose="02020603050405020304" pitchFamily="18" charset="0"/>
              </a:rPr>
              <a:t>Pale skin</a:t>
            </a:r>
            <a:r>
              <a:rPr lang="uk-UA" sz="2800" dirty="0">
                <a:latin typeface="Times New Roman" panose="02020603050405020304" pitchFamily="18" charset="0"/>
              </a:rPr>
              <a:t>, weakness, </a:t>
            </a:r>
            <a:r>
              <a:rPr lang="en-US" sz="2800" dirty="0">
                <a:latin typeface="Times New Roman" panose="02020603050405020304" pitchFamily="18" charset="0"/>
              </a:rPr>
              <a:t>headache, </a:t>
            </a:r>
            <a:r>
              <a:rPr lang="uk-UA" sz="2800" dirty="0">
                <a:latin typeface="Times New Roman" panose="02020603050405020304" pitchFamily="18" charset="0"/>
              </a:rPr>
              <a:t>decline of appetite, </a:t>
            </a:r>
            <a:r>
              <a:rPr lang="en-US" sz="2800" dirty="0">
                <a:latin typeface="Times New Roman" panose="02020603050405020304" pitchFamily="18" charset="0"/>
              </a:rPr>
              <a:t>fever, </a:t>
            </a:r>
            <a:r>
              <a:rPr lang="uk-UA" sz="2800" dirty="0">
                <a:latin typeface="Times New Roman" panose="02020603050405020304" pitchFamily="18" charset="0"/>
              </a:rPr>
              <a:t>shortness of breath</a:t>
            </a:r>
            <a:endParaRPr lang="uk-UA" sz="28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endParaRPr 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800" dirty="0">
                <a:latin typeface="Times New Roman" panose="02020603050405020304" pitchFamily="18" charset="0"/>
              </a:rPr>
              <a:t>Chest pain due to coexisting pericarditis</a:t>
            </a:r>
            <a:r>
              <a:rPr lang="uk-UA" sz="2800" dirty="0">
                <a:latin typeface="Times New Roman" panose="02020603050405020304" pitchFamily="18" charset="0"/>
              </a:rPr>
              <a:t> </a:t>
            </a:r>
            <a:endParaRPr lang="uk-UA" sz="28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charset="0"/>
              <a:buNone/>
            </a:pPr>
            <a:endParaRPr lang="uk-UA" sz="28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800" dirty="0">
                <a:latin typeface="Times New Roman" panose="02020603050405020304" pitchFamily="18" charset="0"/>
              </a:rPr>
              <a:t>Enlarged heart, tachycardia, w</a:t>
            </a:r>
            <a:r>
              <a:rPr lang="uk-UA" sz="2800" dirty="0">
                <a:latin typeface="Times New Roman" panose="02020603050405020304" pitchFamily="18" charset="0"/>
              </a:rPr>
              <a:t>eak</a:t>
            </a:r>
            <a:r>
              <a:rPr lang="en-US" sz="2800" dirty="0">
                <a:latin typeface="Times New Roman" panose="02020603050405020304" pitchFamily="18" charset="0"/>
              </a:rPr>
              <a:t>ness</a:t>
            </a:r>
            <a:r>
              <a:rPr lang="uk-UA" sz="2800" dirty="0">
                <a:latin typeface="Times New Roman" panose="02020603050405020304" pitchFamily="18" charset="0"/>
              </a:rPr>
              <a:t> of heart tones, soft systol</a:t>
            </a:r>
            <a:r>
              <a:rPr lang="en-US" sz="2800" dirty="0">
                <a:latin typeface="Times New Roman" panose="02020603050405020304" pitchFamily="18" charset="0"/>
              </a:rPr>
              <a:t>ic murmur</a:t>
            </a:r>
            <a:r>
              <a:rPr lang="uk-UA" sz="2800" dirty="0">
                <a:latin typeface="Times New Roman" panose="02020603050405020304" pitchFamily="18" charset="0"/>
              </a:rPr>
              <a:t> on </a:t>
            </a:r>
            <a:r>
              <a:rPr lang="en-US" sz="2800" dirty="0">
                <a:latin typeface="Times New Roman" panose="02020603050405020304" pitchFamily="18" charset="0"/>
              </a:rPr>
              <a:t>the</a:t>
            </a:r>
            <a:r>
              <a:rPr lang="uk-UA" sz="2800" dirty="0">
                <a:latin typeface="Times New Roman" panose="02020603050405020304" pitchFamily="18" charset="0"/>
              </a:rPr>
              <a:t> apex</a:t>
            </a:r>
            <a:r>
              <a:rPr lang="en-US" sz="2800" dirty="0">
                <a:latin typeface="Times New Roman" panose="02020603050405020304" pitchFamily="18" charset="0"/>
              </a:rPr>
              <a:t>, d</a:t>
            </a:r>
            <a:r>
              <a:rPr lang="uk-UA" sz="2800" dirty="0">
                <a:latin typeface="Times New Roman" panose="02020603050405020304" pitchFamily="18" charset="0"/>
              </a:rPr>
              <a:t>ec</a:t>
            </a:r>
            <a:r>
              <a:rPr lang="en-US" sz="2800" dirty="0">
                <a:latin typeface="Times New Roman" panose="02020603050405020304" pitchFamily="18" charset="0"/>
              </a:rPr>
              <a:t>reased arterial pressure</a:t>
            </a:r>
            <a:endParaRPr 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1043940"/>
          </a:xfrm>
        </p:spPr>
        <p:txBody>
          <a:bodyPr/>
          <a:lstStyle/>
          <a:p>
            <a:r>
              <a:rPr lang="en-US" b="1" dirty="0">
                <a:solidFill>
                  <a:prstClr val="black"/>
                </a:solidFill>
                <a:latin typeface="Georgia" panose="02040502050405020303" charset="0"/>
                <a:cs typeface="Georgia" panose="02040502050405020303" charset="0"/>
              </a:rPr>
              <a:t>Acute Myocarditis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i="1">
                <a:latin typeface="Georgia" panose="02040502050405020303" charset="0"/>
                <a:cs typeface="Georgia" panose="02040502050405020303" charset="0"/>
              </a:rPr>
              <a:t>Investigation</a:t>
            </a:r>
            <a:endParaRPr lang="en-US" b="1" i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uk-UA" sz="2800" b="1" dirty="0">
                <a:latin typeface="Georgia" panose="02040502050405020303" charset="0"/>
                <a:cs typeface="Georgia" panose="02040502050405020303" charset="0"/>
              </a:rPr>
              <a:t>E</a:t>
            </a:r>
            <a:r>
              <a:rPr lang="en-US" sz="2800" b="1" dirty="0">
                <a:latin typeface="Georgia" panose="02040502050405020303" charset="0"/>
                <a:cs typeface="Georgia" panose="02040502050405020303" charset="0"/>
              </a:rPr>
              <a:t>C</a:t>
            </a:r>
            <a:r>
              <a:rPr lang="uk-UA" sz="2800" b="1" dirty="0">
                <a:latin typeface="Georgia" panose="02040502050405020303" charset="0"/>
                <a:cs typeface="Georgia" panose="02040502050405020303" charset="0"/>
              </a:rPr>
              <a:t>G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: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dec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rease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of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waves 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voltage, conducti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on impairments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, arrhythmias               </a:t>
            </a:r>
            <a:endParaRPr lang="uk-UA" sz="28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uk-UA" sz="2800" b="1" dirty="0">
                <a:latin typeface="Georgia" panose="02040502050405020303" charset="0"/>
                <a:cs typeface="Georgia" panose="02040502050405020303" charset="0"/>
              </a:rPr>
              <a:t>E</a:t>
            </a:r>
            <a:r>
              <a:rPr lang="en-US" sz="2800" b="1" dirty="0">
                <a:latin typeface="Georgia" panose="02040502050405020303" charset="0"/>
                <a:cs typeface="Georgia" panose="02040502050405020303" charset="0"/>
              </a:rPr>
              <a:t>chocardiography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: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myocardium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is diffusely thick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,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dilatation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of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chambers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,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reduced myocardial contractility, possible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presence of liquid in pericardium</a:t>
            </a:r>
            <a:endParaRPr lang="en-US" sz="28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I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ncrease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d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level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s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of LDG1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, 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LDG2,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CPK (creatine phosphokinase), BNP (brain natriuretic peptide)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ru-RU" sz="2800" b="0" dirty="0">
              <a:latin typeface="Georgia" panose="02040502050405020303" charset="0"/>
              <a:cs typeface="Georgia" panose="02040502050405020303" charset="0"/>
            </a:endParaRPr>
          </a:p>
          <a:p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6045"/>
            <a:ext cx="8686800" cy="540575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charset="0"/>
              <a:buChar char="q"/>
            </a:pPr>
            <a:r>
              <a:rPr lang="en-US" sz="2000" dirty="0">
                <a:latin typeface="Georgia" panose="02040502050405020303" charset="0"/>
                <a:cs typeface="Georgia" panose="02040502050405020303" charset="0"/>
                <a:sym typeface="+mn-ea"/>
              </a:rPr>
              <a:t>occurs through</a:t>
            </a:r>
            <a:r>
              <a:rPr lang="uk-UA" sz="2000" dirty="0">
                <a:latin typeface="Georgia" panose="02040502050405020303" charset="0"/>
                <a:cs typeface="Georgia" panose="02040502050405020303" charset="0"/>
                <a:sym typeface="+mn-ea"/>
              </a:rPr>
              <a:t> 3</a:t>
            </a:r>
            <a:r>
              <a:rPr lang="en-US" sz="2000" dirty="0"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r>
              <a:rPr lang="uk-UA" sz="2000" dirty="0">
                <a:latin typeface="Georgia" panose="02040502050405020303" charset="0"/>
                <a:cs typeface="Georgia" panose="02040502050405020303" charset="0"/>
                <a:sym typeface="+mn-ea"/>
              </a:rPr>
              <a:t>-</a:t>
            </a:r>
            <a:r>
              <a:rPr lang="en-US" sz="2000" dirty="0"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r>
              <a:rPr lang="uk-UA" sz="2000" dirty="0">
                <a:latin typeface="Georgia" panose="02040502050405020303" charset="0"/>
                <a:cs typeface="Georgia" panose="02040502050405020303" charset="0"/>
                <a:sym typeface="+mn-ea"/>
              </a:rPr>
              <a:t>4 m</a:t>
            </a:r>
            <a:r>
              <a:rPr lang="en-US" sz="2000" dirty="0">
                <a:latin typeface="Georgia" panose="02040502050405020303" charset="0"/>
                <a:cs typeface="Georgia" panose="02040502050405020303" charset="0"/>
                <a:sym typeface="+mn-ea"/>
              </a:rPr>
              <a:t>o. after acute carditis</a:t>
            </a:r>
            <a:r>
              <a:rPr lang="uk-UA" sz="2000" dirty="0">
                <a:latin typeface="Georgia" panose="02040502050405020303" charset="0"/>
                <a:cs typeface="Georgia" panose="02040502050405020303" charset="0"/>
                <a:sym typeface="+mn-ea"/>
              </a:rPr>
              <a:t> or </a:t>
            </a:r>
            <a:r>
              <a:rPr lang="en-US" sz="2000" dirty="0">
                <a:latin typeface="Georgia" panose="02040502050405020303" charset="0"/>
                <a:cs typeface="Georgia" panose="02040502050405020303" charset="0"/>
                <a:sym typeface="+mn-ea"/>
              </a:rPr>
              <a:t>is diagnosed occasionally</a:t>
            </a:r>
            <a:endParaRPr lang="ru-RU" sz="2000" dirty="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sz="20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U</a:t>
            </a:r>
            <a:r>
              <a:rPr lang="uk-UA" sz="2000" b="0" dirty="0">
                <a:latin typeface="Georgia" panose="02040502050405020303" charset="0"/>
                <a:cs typeface="Georgia" panose="02040502050405020303" charset="0"/>
              </a:rPr>
              <a:t>npleasant feelings, interruptions </a:t>
            </a: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of</a:t>
            </a:r>
            <a:r>
              <a:rPr lang="uk-UA" sz="2000" b="0" dirty="0">
                <a:latin typeface="Georgia" panose="02040502050405020303" charset="0"/>
                <a:cs typeface="Georgia" panose="02040502050405020303" charset="0"/>
              </a:rPr>
              <a:t> the </a:t>
            </a: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heart</a:t>
            </a:r>
            <a:r>
              <a:rPr lang="uk-UA" sz="2000" b="0" dirty="0">
                <a:latin typeface="Georgia" panose="02040502050405020303" charset="0"/>
                <a:cs typeface="Georgia" panose="02040502050405020303" charset="0"/>
              </a:rPr>
              <a:t>, palpitation</a:t>
            </a:r>
            <a:endParaRPr lang="uk-UA" sz="2000" b="0" dirty="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charset="0"/>
              <a:buNone/>
            </a:pP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en-US" sz="20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M</a:t>
            </a:r>
            <a:r>
              <a:rPr lang="uk-UA" sz="2000" b="0" dirty="0">
                <a:latin typeface="Georgia" panose="02040502050405020303" charset="0"/>
                <a:cs typeface="Georgia" panose="02040502050405020303" charset="0"/>
              </a:rPr>
              <a:t>oderate </a:t>
            </a: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cardiomegaly</a:t>
            </a:r>
            <a:r>
              <a:rPr lang="uk-UA" sz="2000" b="0" dirty="0">
                <a:latin typeface="Georgia" panose="02040502050405020303" charset="0"/>
                <a:cs typeface="Georgia" panose="02040502050405020303" charset="0"/>
              </a:rPr>
              <a:t> mainly due to the </a:t>
            </a: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LV dilation</a:t>
            </a:r>
            <a:endParaRPr lang="en-US" sz="20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endParaRPr lang="en-US" sz="20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Weakness</a:t>
            </a:r>
            <a:r>
              <a:rPr lang="uk-UA" sz="2000" b="0" dirty="0">
                <a:latin typeface="Georgia" panose="02040502050405020303" charset="0"/>
                <a:cs typeface="Georgia" panose="02040502050405020303" charset="0"/>
              </a:rPr>
              <a:t> of heart tones</a:t>
            </a: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, a</a:t>
            </a:r>
            <a:r>
              <a:rPr lang="uk-UA" sz="2000" b="0" dirty="0">
                <a:latin typeface="Georgia" panose="02040502050405020303" charset="0"/>
                <a:cs typeface="Georgia" panose="02040502050405020303" charset="0"/>
              </a:rPr>
              <a:t>rrhythmias, functional systol</a:t>
            </a: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ic murmur  </a:t>
            </a:r>
            <a:endParaRPr lang="en-US" sz="2000" b="0" dirty="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uk-UA" sz="2000" b="0" dirty="0">
                <a:latin typeface="Georgia" panose="02040502050405020303" charset="0"/>
                <a:cs typeface="Georgia" panose="02040502050405020303" charset="0"/>
              </a:rPr>
              <a:t>moderate signs of </a:t>
            </a: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HF (heart failure)</a:t>
            </a:r>
            <a:endParaRPr lang="en-US" sz="2000" b="0" dirty="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sz="20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uk-UA" sz="2000" b="1" dirty="0">
                <a:latin typeface="Georgia" panose="02040502050405020303" charset="0"/>
                <a:cs typeface="Georgia" panose="02040502050405020303" charset="0"/>
              </a:rPr>
              <a:t>E</a:t>
            </a:r>
            <a:r>
              <a:rPr lang="en-US" sz="2000" b="1" dirty="0">
                <a:latin typeface="Georgia" panose="02040502050405020303" charset="0"/>
                <a:cs typeface="Georgia" panose="02040502050405020303" charset="0"/>
              </a:rPr>
              <a:t>C</a:t>
            </a:r>
            <a:r>
              <a:rPr lang="uk-UA" sz="2000" b="1" dirty="0">
                <a:latin typeface="Georgia" panose="02040502050405020303" charset="0"/>
                <a:cs typeface="Georgia" panose="02040502050405020303" charset="0"/>
              </a:rPr>
              <a:t>G</a:t>
            </a: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:</a:t>
            </a:r>
            <a:r>
              <a:rPr lang="uk-UA" sz="2000" b="0" dirty="0">
                <a:latin typeface="Georgia" panose="02040502050405020303" charset="0"/>
                <a:cs typeface="Georgia" panose="02040502050405020303" charset="0"/>
              </a:rPr>
              <a:t> </a:t>
            </a:r>
            <a:r>
              <a:rPr lang="uk-UA" sz="2000" b="0" i="1" dirty="0">
                <a:latin typeface="Georgia" panose="02040502050405020303" charset="0"/>
                <a:cs typeface="Georgia" panose="02040502050405020303" charset="0"/>
              </a:rPr>
              <a:t>arrhythmias, conducti</a:t>
            </a:r>
            <a:r>
              <a:rPr lang="en-US" sz="2000" b="0" i="1" dirty="0">
                <a:latin typeface="Georgia" panose="02040502050405020303" charset="0"/>
                <a:cs typeface="Georgia" panose="02040502050405020303" charset="0"/>
              </a:rPr>
              <a:t>on impairments</a:t>
            </a:r>
            <a:r>
              <a:rPr lang="uk-UA" sz="2000" b="0" i="1" dirty="0">
                <a:latin typeface="Georgia" panose="02040502050405020303" charset="0"/>
                <a:cs typeface="Georgia" panose="02040502050405020303" charset="0"/>
              </a:rPr>
              <a:t>, signs of hypoxia of myocardium</a:t>
            </a:r>
            <a:r>
              <a:rPr lang="uk-UA" sz="2000" b="0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uk-UA" sz="20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endParaRPr lang="uk-UA" sz="20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uk-UA" sz="2000" b="1" dirty="0">
                <a:latin typeface="Georgia" panose="02040502050405020303" charset="0"/>
                <a:cs typeface="Georgia" panose="02040502050405020303" charset="0"/>
              </a:rPr>
              <a:t>E</a:t>
            </a:r>
            <a:r>
              <a:rPr lang="en-US" sz="2000" b="1" dirty="0">
                <a:latin typeface="Georgia" panose="02040502050405020303" charset="0"/>
                <a:cs typeface="Georgia" panose="02040502050405020303" charset="0"/>
              </a:rPr>
              <a:t>cho</a:t>
            </a:r>
            <a:r>
              <a:rPr lang="en-US" sz="2000" b="0" dirty="0">
                <a:latin typeface="Georgia" panose="02040502050405020303" charset="0"/>
                <a:cs typeface="Georgia" panose="02040502050405020303" charset="0"/>
              </a:rPr>
              <a:t>:</a:t>
            </a:r>
            <a:r>
              <a:rPr lang="uk-UA" sz="2000" b="0" dirty="0">
                <a:latin typeface="Georgia" panose="02040502050405020303" charset="0"/>
                <a:cs typeface="Georgia" panose="02040502050405020303" charset="0"/>
              </a:rPr>
              <a:t> </a:t>
            </a:r>
            <a:r>
              <a:rPr lang="uk-UA" sz="2000" b="0" i="1" dirty="0">
                <a:latin typeface="Georgia" panose="02040502050405020303" charset="0"/>
                <a:cs typeface="Georgia" panose="02040502050405020303" charset="0"/>
              </a:rPr>
              <a:t>signs of </a:t>
            </a:r>
            <a:r>
              <a:rPr lang="en-US" sz="2000" b="0" i="1" dirty="0">
                <a:latin typeface="Georgia" panose="02040502050405020303" charset="0"/>
                <a:cs typeface="Georgia" panose="02040502050405020303" charset="0"/>
              </a:rPr>
              <a:t>CF</a:t>
            </a:r>
            <a:r>
              <a:rPr lang="uk-UA" sz="2000" b="0" i="1" dirty="0">
                <a:latin typeface="Georgia" panose="02040502050405020303" charset="0"/>
                <a:cs typeface="Georgia" panose="02040502050405020303" charset="0"/>
              </a:rPr>
              <a:t>, </a:t>
            </a:r>
            <a:r>
              <a:rPr lang="en-US" sz="2000" b="0" i="1" dirty="0">
                <a:latin typeface="Georgia" panose="02040502050405020303" charset="0"/>
                <a:cs typeface="Georgia" panose="02040502050405020303" charset="0"/>
              </a:rPr>
              <a:t>hypokinesia </a:t>
            </a:r>
            <a:r>
              <a:rPr lang="uk-UA" sz="2000" b="0" i="1" dirty="0">
                <a:latin typeface="Georgia" panose="02040502050405020303" charset="0"/>
                <a:cs typeface="Georgia" panose="02040502050405020303" charset="0"/>
              </a:rPr>
              <a:t>of the left ventricle </a:t>
            </a:r>
            <a:endParaRPr lang="uk-UA" sz="2000" b="0" i="1" dirty="0">
              <a:latin typeface="Georgia" panose="02040502050405020303" charset="0"/>
              <a:cs typeface="Georgia" panose="02040502050405020303" charset="0"/>
            </a:endParaRPr>
          </a:p>
          <a:p>
            <a:pPr marL="857250" indent="-8572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b="0" i="1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lang="en-US" sz="20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lang="uk-UA" sz="7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None/>
            </a:pPr>
            <a:r>
              <a:rPr lang="uk-UA" sz="700" dirty="0">
                <a:latin typeface="Georgia" panose="02040502050405020303" charset="0"/>
                <a:cs typeface="Georgia" panose="02040502050405020303" charset="0"/>
              </a:rPr>
              <a:t>                   </a:t>
            </a:r>
            <a:endParaRPr lang="uk-UA" sz="7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lang="uk-UA" sz="7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483"/>
            <a:ext cx="8229600" cy="792162"/>
          </a:xfrm>
        </p:spPr>
        <p:txBody>
          <a:bodyPr>
            <a:normAutofit/>
          </a:bodyPr>
          <a:lstStyle/>
          <a:p>
            <a:r>
              <a:rPr lang="uk-UA" sz="4000" b="1" dirty="0">
                <a:latin typeface="Georgia" panose="02040502050405020303" charset="0"/>
                <a:cs typeface="Georgia" panose="02040502050405020303" charset="0"/>
              </a:rPr>
              <a:t>SUB</a:t>
            </a:r>
            <a:r>
              <a:rPr lang="en-US" sz="4000" b="1" dirty="0">
                <a:latin typeface="Georgia" panose="02040502050405020303" charset="0"/>
                <a:cs typeface="Georgia" panose="02040502050405020303" charset="0"/>
              </a:rPr>
              <a:t>ACUTE</a:t>
            </a:r>
            <a:r>
              <a:rPr lang="uk-UA" sz="4000" b="1" dirty="0">
                <a:latin typeface="Georgia" panose="02040502050405020303" charset="0"/>
                <a:cs typeface="Georgia" panose="02040502050405020303" charset="0"/>
              </a:rPr>
              <a:t> CARDITIS</a:t>
            </a:r>
            <a:endParaRPr lang="en-US" sz="4000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381999" cy="4786488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buFont typeface="Wingdings" panose="05000000000000000000" charset="0"/>
              <a:buChar char="q"/>
            </a:pP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More frequent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ly is diagnosed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as primary-chronic with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the signs of chronic left heart failure </a:t>
            </a:r>
            <a:endParaRPr lang="en-US" sz="28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q"/>
            </a:pPr>
            <a:endParaRPr lang="en-US" sz="28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q"/>
            </a:pP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P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ossibly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occurs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after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acute or subacute carditis lasting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more than 12 – 18 month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s </a:t>
            </a:r>
            <a:endParaRPr lang="en-US" sz="28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q"/>
            </a:pPr>
            <a:endParaRPr lang="en-GB" sz="28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q"/>
            </a:pPr>
            <a:r>
              <a:rPr lang="en-GB" sz="2800" b="0" dirty="0">
                <a:latin typeface="Georgia" panose="02040502050405020303" charset="0"/>
                <a:cs typeface="Georgia" panose="02040502050405020303" charset="0"/>
              </a:rPr>
              <a:t>Signs of H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F, cardiomegaly, tachycardia 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-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bradycardia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, weaken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ess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of cardiac tones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, c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ardiac hump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en-US" sz="28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q"/>
            </a:pPr>
            <a:endParaRPr lang="en-US" sz="28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q"/>
            </a:pP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P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hysical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retardation, encephalopathy, a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naemia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en-US" sz="28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q"/>
            </a:pPr>
            <a:endParaRPr lang="uk-UA" sz="2800" b="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73430"/>
            <a:ext cx="8229600" cy="582613"/>
          </a:xfrm>
        </p:spPr>
        <p:txBody>
          <a:bodyPr>
            <a:normAutofit fontScale="90000"/>
          </a:bodyPr>
          <a:lstStyle/>
          <a:p>
            <a:r>
              <a:rPr lang="uk-UA" sz="4800" b="1" dirty="0">
                <a:latin typeface="Georgia" panose="02040502050405020303" charset="0"/>
                <a:cs typeface="Georgia" panose="02040502050405020303" charset="0"/>
              </a:rPr>
              <a:t>C</a:t>
            </a:r>
            <a:r>
              <a:rPr lang="en-US" sz="4800" b="1" dirty="0">
                <a:latin typeface="Georgia" panose="02040502050405020303" charset="0"/>
                <a:cs typeface="Georgia" panose="02040502050405020303" charset="0"/>
              </a:rPr>
              <a:t>hronic</a:t>
            </a:r>
            <a:r>
              <a:rPr lang="uk-UA" sz="4800" b="1" dirty="0">
                <a:latin typeface="Georgia" panose="02040502050405020303" charset="0"/>
                <a:cs typeface="Georgia" panose="02040502050405020303" charset="0"/>
              </a:rPr>
              <a:t> </a:t>
            </a:r>
            <a:r>
              <a:rPr lang="en-US" sz="4800" b="1" dirty="0">
                <a:latin typeface="Georgia" panose="02040502050405020303" charset="0"/>
                <a:cs typeface="Georgia" panose="02040502050405020303" charset="0"/>
              </a:rPr>
              <a:t>Myocarditis</a:t>
            </a:r>
            <a:endParaRPr lang="en-US" sz="4800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342"/>
            <a:ext cx="8381999" cy="463408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2800" b="1" dirty="0">
                <a:latin typeface="Georgia" panose="02040502050405020303" charset="0"/>
                <a:cs typeface="Georgia" panose="02040502050405020303" charset="0"/>
              </a:rPr>
              <a:t>E</a:t>
            </a:r>
            <a:r>
              <a:rPr lang="en-US" sz="2800" b="1" dirty="0">
                <a:latin typeface="Georgia" panose="02040502050405020303" charset="0"/>
                <a:cs typeface="Georgia" panose="02040502050405020303" charset="0"/>
              </a:rPr>
              <a:t>C</a:t>
            </a:r>
            <a:r>
              <a:rPr lang="uk-UA" sz="2800" b="1" dirty="0">
                <a:latin typeface="Georgia" panose="02040502050405020303" charset="0"/>
                <a:cs typeface="Georgia" panose="02040502050405020303" charset="0"/>
              </a:rPr>
              <a:t>G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: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arrhythmias, hypertrophy of the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LV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en-US" sz="2800" b="0" dirty="0">
              <a:latin typeface="Georgia" panose="02040502050405020303" charset="0"/>
              <a:cs typeface="Georgia" panose="02040502050405020303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Georgia" panose="02040502050405020303" charset="0"/>
                <a:cs typeface="Georgia" panose="02040502050405020303" charset="0"/>
              </a:rPr>
              <a:t>Echocardiography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: dilatation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of the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LV, 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dec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reased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retractive function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, 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dec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reased</a:t>
            </a:r>
            <a:r>
              <a:rPr lang="uk-UA" sz="2800" b="0" dirty="0">
                <a:latin typeface="Georgia" panose="02040502050405020303" charset="0"/>
                <a:cs typeface="Georgia" panose="02040502050405020303" charset="0"/>
              </a:rPr>
              <a:t> </a:t>
            </a:r>
            <a:r>
              <a:rPr lang="en-US" sz="2800" b="0" dirty="0">
                <a:latin typeface="Georgia" panose="02040502050405020303" charset="0"/>
                <a:cs typeface="Georgia" panose="02040502050405020303" charset="0"/>
              </a:rPr>
              <a:t>of ejection fraction, reduce myocardial contractility</a:t>
            </a:r>
            <a:endParaRPr lang="en-US" sz="28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</a:pPr>
            <a:endParaRPr lang="en-US" sz="2800" b="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</a:pPr>
            <a:endParaRPr lang="en-US" sz="2800" b="0" i="1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None/>
            </a:pPr>
            <a:r>
              <a:rPr lang="uk-UA" sz="2800" b="0" i="1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en-US" sz="2800" b="0" i="1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None/>
            </a:pPr>
            <a:endParaRPr lang="en-US" sz="2800" i="1" dirty="0">
              <a:latin typeface="Georgia" panose="02040502050405020303" charset="0"/>
              <a:cs typeface="Georgia" panose="02040502050405020303" charset="0"/>
            </a:endParaRPr>
          </a:p>
          <a:p>
            <a:endParaRPr lang="en-US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582613"/>
          </a:xfrm>
        </p:spPr>
        <p:txBody>
          <a:bodyPr/>
          <a:lstStyle/>
          <a:p>
            <a:r>
              <a:rPr lang="uk-UA" b="1" dirty="0">
                <a:latin typeface="Georgia" panose="02040502050405020303" charset="0"/>
                <a:cs typeface="Georgia" panose="02040502050405020303" charset="0"/>
              </a:rPr>
              <a:t>C</a:t>
            </a:r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hronic</a:t>
            </a:r>
            <a:r>
              <a:rPr lang="uk-UA" b="1" dirty="0">
                <a:latin typeface="Georgia" panose="02040502050405020303" charset="0"/>
                <a:cs typeface="Georgia" panose="02040502050405020303" charset="0"/>
              </a:rPr>
              <a:t> </a:t>
            </a:r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Myocarditis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71600"/>
            <a:ext cx="8915400" cy="5486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q"/>
              <a:defRPr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Manifestations of myocarditis range from asymptomatic or nonspecific illness to acute cardiogenic shock and sudden death  </a:t>
            </a:r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  <a:defRPr/>
            </a:pPr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  <a:defRPr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Infants and young children often have a fulminant presentation with fever, respiratory distress, tachycardia, hypotension, gallop rhythm and cardiac murmur </a:t>
            </a:r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  <a:defRPr/>
            </a:pPr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q"/>
              <a:defRPr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findings may include a rash or signs of hepatitis, aseptic meningitis </a:t>
            </a:r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200" b="1" kern="0" dirty="0">
                <a:solidFill>
                  <a:srgbClr val="000066"/>
                </a:solidFill>
              </a:rPr>
            </a:br>
            <a:r>
              <a:rPr lang="en-US" sz="3200" b="1" kern="0" dirty="0">
                <a:solidFill>
                  <a:srgbClr val="000066"/>
                </a:solidFill>
              </a:rPr>
              <a:t>Clinical manifestations</a:t>
            </a:r>
            <a:br>
              <a:rPr lang="uk-UA" sz="3200" b="1" kern="0" dirty="0">
                <a:solidFill>
                  <a:srgbClr val="000066"/>
                </a:solidFill>
              </a:rPr>
            </a:br>
            <a:endParaRPr lang="uk-UA" sz="3200" b="1" kern="0" dirty="0">
              <a:solidFill>
                <a:srgbClr val="0000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686799" cy="4634088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with acute or chronic myocarditis may present with </a:t>
            </a:r>
            <a:endParaRPr 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0000"/>
              </a:lnSpc>
              <a:buFont typeface="Symbol" panose="05050102010706020507"/>
              <a:buChar char="Þ"/>
              <a:defRPr/>
            </a:pP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discomfort, fever, palpitations, easy fatigability, or syncope  </a:t>
            </a:r>
            <a:endParaRPr 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0000"/>
              </a:lnSpc>
              <a:buFont typeface="Symbol" panose="05050102010706020507"/>
              <a:buChar char="Þ"/>
              <a:defRPr/>
            </a:pP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Hepatic enlargement, peripheral edema, and pulmonary findings such as wheezes or rales ,with decompensated congestive heart failure </a:t>
            </a:r>
            <a:endParaRPr 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2800" b="0" dirty="0"/>
          </a:p>
          <a:p>
            <a:pPr>
              <a:lnSpc>
                <a:spcPct val="90000"/>
              </a:lnSpc>
            </a:pPr>
            <a:endParaRPr lang="en-US" sz="2800" b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Cont..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799" cy="4634088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idiopathic abnormality of myocardial function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types of cardiomyopathies defined by the WHO: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Dilated cardiomyopathy” or DCM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“Hypertrophic cardiomyopathy” or HCM 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“Restrictive cardiomyopathy” or RCM 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8229600" cy="582613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Georgia" panose="02040502050405020303" charset="0"/>
                <a:cs typeface="Georgia" panose="02040502050405020303" charset="0"/>
              </a:rPr>
              <a:t>Cardiomyopathies </a:t>
            </a:r>
            <a:endParaRPr lang="en-US" sz="5400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605" y="835660"/>
            <a:ext cx="8849995" cy="495554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3 - 10 cases per 100,000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1% of all pediatric cardiac disease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During infancy incidence is 10 times higher than older children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death from progressive pump failure</a:t>
            </a:r>
            <a:br>
              <a:rPr lang="en-US" sz="2400" dirty="0">
                <a:latin typeface="Georgia" panose="02040502050405020303" charset="0"/>
                <a:cs typeface="Georgia" panose="02040502050405020303" charset="0"/>
              </a:rPr>
            </a:b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		1year		25%</a:t>
            </a:r>
            <a:br>
              <a:rPr lang="en-US" sz="2400" dirty="0">
                <a:latin typeface="Georgia" panose="02040502050405020303" charset="0"/>
                <a:cs typeface="Georgia" panose="02040502050405020303" charset="0"/>
              </a:rPr>
            </a:b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		2year		35-40%</a:t>
            </a:r>
            <a:br>
              <a:rPr lang="en-US" sz="2400" dirty="0">
                <a:latin typeface="Georgia" panose="02040502050405020303" charset="0"/>
                <a:cs typeface="Georgia" panose="02040502050405020303" charset="0"/>
              </a:rPr>
            </a:b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		5year		40-80%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stabilization observed in 20-50% of patient 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Complete recovery is rare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latin typeface="Georgia" panose="02040502050405020303" charset="0"/>
                <a:cs typeface="Georgia" panose="02040502050405020303" charset="0"/>
              </a:rPr>
              <a:t>Incidence and Prognosis</a:t>
            </a:r>
            <a:endParaRPr lang="en-US" sz="4000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 b="1" dirty="0">
                <a:latin typeface="Georgia" panose="02040502050405020303" charset="0"/>
                <a:cs typeface="Georgia" panose="02040502050405020303" charset="0"/>
                <a:sym typeface="+mn-ea"/>
              </a:rPr>
              <a:t>WHO Classification Cardiomyopathies </a:t>
            </a:r>
            <a:endParaRPr lang="en-US" sz="2800" b="1" dirty="0"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4953000"/>
          </a:xfrm>
        </p:spPr>
        <p:txBody>
          <a:bodyPr/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  <a:sym typeface="+mn-ea"/>
              </a:rPr>
              <a:t>Primary </a:t>
            </a:r>
            <a:endParaRPr lang="en-US" sz="2400" dirty="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  <a:sym typeface="+mn-ea"/>
              </a:rPr>
              <a:t>-those resulting from genetic abnormalities of cardiac muscle)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150000"/>
              </a:lnSpc>
            </a:pPr>
            <a:r>
              <a:rPr lang="en-US" sz="2400" b="1" i="1" dirty="0">
                <a:latin typeface="Georgia" panose="02040502050405020303" charset="0"/>
                <a:cs typeface="Georgia" panose="02040502050405020303" charset="0"/>
                <a:sym typeface="+mn-ea"/>
              </a:rPr>
              <a:t>Dilated </a:t>
            </a:r>
            <a:endParaRPr lang="en-US" sz="2400" b="1" i="1" dirty="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150000"/>
              </a:lnSpc>
            </a:pPr>
            <a:r>
              <a:rPr lang="en-US" sz="2400" b="1" i="1" dirty="0">
                <a:latin typeface="Georgia" panose="02040502050405020303" charset="0"/>
                <a:cs typeface="Georgia" panose="02040502050405020303" charset="0"/>
                <a:sym typeface="+mn-ea"/>
              </a:rPr>
              <a:t>Hypertrophic</a:t>
            </a:r>
            <a:endParaRPr lang="en-US" sz="2400" b="1" i="1" dirty="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150000"/>
              </a:lnSpc>
            </a:pPr>
            <a:r>
              <a:rPr lang="en-US" sz="2400" b="1" i="1" dirty="0">
                <a:latin typeface="Georgia" panose="02040502050405020303" charset="0"/>
                <a:cs typeface="Georgia" panose="02040502050405020303" charset="0"/>
                <a:sym typeface="+mn-ea"/>
              </a:rPr>
              <a:t>Restrictive</a:t>
            </a:r>
            <a:endParaRPr lang="en-US" sz="2400" b="1" i="1" dirty="0">
              <a:latin typeface="Georgia" panose="02040502050405020303" charset="0"/>
              <a:cs typeface="Georgia" panose="02040502050405020303" charset="0"/>
            </a:endParaRPr>
          </a:p>
          <a:p>
            <a:endParaRPr lang="en-US" sz="2400" b="1" i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sz="2400" dirty="0">
                <a:latin typeface="Times New Roman" panose="02020603050405020304" pitchFamily="18" charset="0"/>
                <a:sym typeface="+mn-ea"/>
              </a:rPr>
              <a:t>Secondary  </a:t>
            </a:r>
            <a:endParaRPr lang="en-US" sz="2400" dirty="0">
              <a:latin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 dirty="0">
                <a:latin typeface="Times New Roman" panose="02020603050405020304" pitchFamily="18" charset="0"/>
                <a:sym typeface="+mn-ea"/>
              </a:rPr>
              <a:t>Infections</a:t>
            </a:r>
            <a:endParaRPr lang="en-US" sz="2400" dirty="0">
              <a:latin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 dirty="0">
                <a:latin typeface="Times New Roman" panose="02020603050405020304" pitchFamily="18" charset="0"/>
                <a:sym typeface="+mn-ea"/>
              </a:rPr>
              <a:t>Metabolic and nutritional diseases</a:t>
            </a:r>
            <a:endParaRPr lang="en-US" sz="2400" dirty="0">
              <a:latin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 dirty="0">
                <a:latin typeface="Times New Roman" panose="02020603050405020304" pitchFamily="18" charset="0"/>
                <a:sym typeface="+mn-ea"/>
              </a:rPr>
              <a:t>Endocrine disorders</a:t>
            </a:r>
            <a:endParaRPr lang="en-US" sz="2400" dirty="0">
              <a:latin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 dirty="0">
                <a:latin typeface="Times New Roman" panose="02020603050405020304" pitchFamily="18" charset="0"/>
                <a:sym typeface="+mn-ea"/>
              </a:rPr>
              <a:t>Neuromuscular diseases</a:t>
            </a:r>
            <a:endParaRPr lang="en-US" sz="2400" dirty="0">
              <a:latin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 dirty="0">
                <a:latin typeface="Times New Roman" panose="02020603050405020304" pitchFamily="18" charset="0"/>
                <a:sym typeface="+mn-ea"/>
              </a:rPr>
              <a:t>Blood diseases</a:t>
            </a:r>
            <a:endParaRPr lang="en-US" sz="2400" dirty="0">
              <a:latin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 dirty="0">
                <a:latin typeface="Times New Roman" panose="02020603050405020304" pitchFamily="18" charset="0"/>
                <a:sym typeface="+mn-ea"/>
              </a:rPr>
              <a:t>Tumors</a:t>
            </a:r>
            <a:endParaRPr lang="en-US" sz="2400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352AB735-BF81-42D3-8AB0-17AC4E3C8048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81200"/>
            <a:ext cx="8610599" cy="46340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Characterized by varying degrees of dilatation of ventricles, most prominently the left </a:t>
            </a:r>
            <a:r>
              <a:rPr lang="en-US" sz="2400" dirty="0">
                <a:solidFill>
                  <a:srgbClr val="FFFF99"/>
                </a:solidFill>
                <a:latin typeface="Georgia" panose="02040502050405020303" charset="0"/>
                <a:cs typeface="Georgia" panose="02040502050405020303" charset="0"/>
              </a:rPr>
              <a:t>.</a:t>
            </a:r>
            <a:r>
              <a:rPr lang="en-US" sz="2800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8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LV dilatation &amp; systolic dysfunction pathology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Increased heart size and weight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Ventricular dilatation, normal wall thickness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600200"/>
          </a:xfrm>
        </p:spPr>
        <p:txBody>
          <a:bodyPr/>
          <a:lstStyle/>
          <a:p>
            <a:br>
              <a:rPr lang="en-US" b="1" dirty="0">
                <a:latin typeface="Georgia" panose="02040502050405020303" charset="0"/>
                <a:cs typeface="Georgia" panose="02040502050405020303" charset="0"/>
              </a:rPr>
            </a:br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Idiopathic Dilated Cardiomyopathy</a:t>
            </a:r>
            <a:br>
              <a:rPr lang="ru-RU" b="1" dirty="0">
                <a:latin typeface="Georgia" panose="02040502050405020303" charset="0"/>
                <a:cs typeface="Georgia" panose="02040502050405020303" charset="0"/>
              </a:rPr>
            </a:br>
            <a:endParaRPr lang="ru-RU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81200"/>
            <a:ext cx="8610599" cy="463408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2400" dirty="0">
                <a:latin typeface="Times New Roman" panose="02020603050405020304" pitchFamily="18" charset="0"/>
              </a:rPr>
              <a:t>The cause - a 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genetic basis</a:t>
            </a:r>
            <a:r>
              <a:rPr lang="en-US" sz="2400" dirty="0">
                <a:latin typeface="Times New Roman" panose="02020603050405020304" pitchFamily="18" charset="0"/>
              </a:rPr>
              <a:t> or are the 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sequelae of viral myocarditis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4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2400" dirty="0">
                <a:latin typeface="Times New Roman" panose="02020603050405020304" pitchFamily="18" charset="0"/>
              </a:rPr>
              <a:t>In 20 - 50% of cases, the disease is recognized as familial</a:t>
            </a:r>
            <a:endParaRPr lang="en-US" sz="24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400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2400" dirty="0">
                <a:latin typeface="Times New Roman" panose="02020603050405020304" pitchFamily="18" charset="0"/>
              </a:rPr>
              <a:t>Autosomal dominant inheritance </a:t>
            </a: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Dilated Cardiomyopathy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48-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8600" y="177800"/>
            <a:ext cx="8763000" cy="6451600"/>
          </a:xfrm>
          <a:prstGeom prst="rect">
            <a:avLst/>
          </a:prstGeom>
          <a:noFill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10599" cy="463408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All age group may be affected  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The onset is insidious, but sometimes symptoms of heart failure occur suddenly 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Irritability, anorexia, abdominal pain, cough from pulmonary congestion and dyspnea with exertion are common 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Infants and younger children have respiratory symptoms and failure to thrive  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Clinical Manifestations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70" y="1066800"/>
            <a:ext cx="8458200" cy="49872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</a:rPr>
              <a:t>The skin is cool and pale </a:t>
            </a:r>
            <a:endParaRPr 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endParaRPr 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</a:rPr>
              <a:t>The arterial pulse is decreased, tachycardia, palpitation is present </a:t>
            </a:r>
            <a:endParaRPr 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endParaRPr 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</a:rPr>
              <a:t>JVP is increased, hepatomegaly, edema are common Cardiomegaly</a:t>
            </a:r>
            <a:endParaRPr 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endParaRPr 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</a:rPr>
              <a:t> Holosystolic murmurs of mitral and tricuspid insufficiency may be present</a:t>
            </a:r>
            <a:endParaRPr 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</a:rPr>
              <a:t>Blood pressure may be low, pulse pressure narrow  </a:t>
            </a:r>
            <a:endParaRPr 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endParaRPr 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latin typeface="Times New Roman" panose="02020603050405020304" pitchFamily="18" charset="0"/>
              </a:rPr>
              <a:t>A gallop rhythm is audible   </a:t>
            </a:r>
            <a:endParaRPr lang="en-US" sz="2000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17" y="228600"/>
            <a:ext cx="8229600" cy="1252728"/>
          </a:xfrm>
        </p:spPr>
        <p:txBody>
          <a:bodyPr/>
          <a:lstStyle/>
          <a:p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Clinical Manifestations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8875"/>
            <a:ext cx="8153400" cy="5273675"/>
          </a:xfrm>
        </p:spPr>
        <p:txBody>
          <a:bodyPr>
            <a:normAutofit fontScale="72500"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Clinical signs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Chest x-ray</a:t>
            </a:r>
            <a:r>
              <a:rPr lang="uk-UA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CT Scan</a:t>
            </a:r>
            <a:r>
              <a:rPr lang="uk-UA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Echocardiogram</a:t>
            </a:r>
            <a:r>
              <a:rPr lang="uk-UA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12-lead ECG</a:t>
            </a:r>
            <a:r>
              <a:rPr lang="uk-UA" dirty="0">
                <a:latin typeface="Georgia" panose="02040502050405020303" charset="0"/>
                <a:cs typeface="Georgia" panose="02040502050405020303" charset="0"/>
              </a:rPr>
              <a:t> 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Heart biopsy 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MRI (magnetic resonance imaging)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Cardiac catheterization</a:t>
            </a:r>
            <a:r>
              <a:rPr lang="uk-UA" dirty="0">
                <a:latin typeface="Georgia" panose="02040502050405020303" charset="0"/>
                <a:cs typeface="Georgia" panose="02040502050405020303" charset="0"/>
              </a:rPr>
              <a:t>  </a:t>
            </a:r>
            <a:endParaRPr lang="uk-UA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v"/>
            </a:pPr>
            <a:endParaRPr lang="en-US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DIAGNOSIS</a:t>
            </a:r>
            <a:r>
              <a:rPr lang="en-US" b="1" dirty="0">
                <a:solidFill>
                  <a:srgbClr val="FF0000"/>
                </a:solidFill>
                <a:latin typeface="Georgia" panose="02040502050405020303" charset="0"/>
                <a:cs typeface="Georgia" panose="02040502050405020303" charset="0"/>
              </a:rPr>
              <a:t> </a:t>
            </a:r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OF</a:t>
            </a:r>
            <a:r>
              <a:rPr lang="en-US" b="1" dirty="0">
                <a:solidFill>
                  <a:srgbClr val="FF0000"/>
                </a:solidFill>
                <a:latin typeface="Georgia" panose="02040502050405020303" charset="0"/>
                <a:cs typeface="Georgia" panose="02040502050405020303" charset="0"/>
              </a:rPr>
              <a:t> </a:t>
            </a:r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CMP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54785"/>
            <a:ext cx="8382000" cy="525081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charset="0"/>
              <a:buChar char="v"/>
            </a:pPr>
            <a:r>
              <a:rPr lang="en-US" sz="2800" dirty="0">
                <a:latin typeface="Georgia" panose="02040502050405020303" charset="0"/>
                <a:ea typeface="+mj-ea"/>
                <a:cs typeface="Georgia" panose="02040502050405020303" charset="0"/>
              </a:rPr>
              <a:t>Include ventricular arrhythmias leading to syncope and sudden death</a:t>
            </a:r>
            <a:endParaRPr lang="en-US" sz="2800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charset="0"/>
              <a:buChar char="v"/>
            </a:pPr>
            <a:endParaRPr lang="en-US" sz="2800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charset="0"/>
              <a:buChar char="v"/>
            </a:pPr>
            <a:r>
              <a:rPr lang="en-US" sz="2800" dirty="0">
                <a:latin typeface="Georgia" panose="02040502050405020303" charset="0"/>
                <a:ea typeface="+mj-ea"/>
                <a:cs typeface="Georgia" panose="02040502050405020303" charset="0"/>
              </a:rPr>
              <a:t>Pulmonary or systemic emboli from intracardiac thrombi</a:t>
            </a:r>
            <a:endParaRPr lang="en-US" sz="2800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charset="0"/>
              <a:buChar char="v"/>
            </a:pPr>
            <a:endParaRPr lang="en-US" sz="2800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charset="0"/>
              <a:buChar char="v"/>
            </a:pPr>
            <a:r>
              <a:rPr lang="en-US" sz="2800" dirty="0">
                <a:latin typeface="Georgia" panose="02040502050405020303" charset="0"/>
                <a:ea typeface="+mj-ea"/>
                <a:cs typeface="Georgia" panose="02040502050405020303" charset="0"/>
              </a:rPr>
              <a:t>Development of pulmonary vascular disease from chronically elevated left atrial pressure </a:t>
            </a:r>
            <a:endParaRPr lang="en-US" sz="2800" dirty="0"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charset="0"/>
              <a:buChar char="v"/>
            </a:pPr>
            <a:endParaRPr lang="en-US" sz="2800" dirty="0"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Serious complications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34400" cy="496824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The course of disease is progressively down hill, although some patients may remain stable for years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Treatment of HF may result in temporary remission, but relapses are common and in time – patients become resistant to therapy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Prognosis for survival beyond a year is poor  </a:t>
            </a:r>
            <a:endParaRPr lang="ru-RU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endParaRPr lang="ru-RU" sz="24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854075"/>
          </a:xfrm>
        </p:spPr>
        <p:txBody>
          <a:bodyPr/>
          <a:lstStyle/>
          <a:p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Prognosis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20165"/>
            <a:ext cx="8458200" cy="49904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Limit activity based on functional status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Salt restriction of a 2g Na</a:t>
            </a:r>
            <a:r>
              <a:rPr lang="en-US" sz="2400" baseline="30000" dirty="0">
                <a:latin typeface="Georgia" panose="02040502050405020303" charset="0"/>
                <a:cs typeface="Georgia" panose="02040502050405020303" charset="0"/>
              </a:rPr>
              <a:t>+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 (5g NaCl) diet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Fluid restriction for significant low Na</a:t>
            </a:r>
            <a:r>
              <a:rPr lang="en-US" sz="2400" baseline="30000" dirty="0">
                <a:latin typeface="Georgia" panose="02040502050405020303" charset="0"/>
                <a:cs typeface="Georgia" panose="02040502050405020303" charset="0"/>
              </a:rPr>
              <a:t>+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Initiate medical therapy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ACE inhibitors, diuretics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Digoxin, metoprolol, carvedilol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Hydralazine/nitrate combination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v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Georgia" panose="02040502050405020303" charset="0"/>
                <a:ea typeface="+mn-ea"/>
                <a:cs typeface="Georgia" panose="02040502050405020303" charset="0"/>
              </a:rPr>
              <a:t>Management of DCM</a:t>
            </a:r>
            <a:endParaRPr lang="en-US" sz="4000" b="1" dirty="0"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447800"/>
            <a:ext cx="7823200" cy="414496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Consider adding ß-blocking agents if symptoms persists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Anticoagulation (history of thromboemboli, presence of mural thrombi)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Intravenous dopamine / dobutamine 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Cardiac transplantation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v"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8229600" cy="582613"/>
          </a:xfrm>
        </p:spPr>
        <p:txBody>
          <a:bodyPr/>
          <a:lstStyle/>
          <a:p>
            <a:r>
              <a:rPr lang="en-US" sz="3200" b="1" dirty="0">
                <a:latin typeface="Georgia" panose="02040502050405020303" charset="0"/>
                <a:cs typeface="Georgia" panose="02040502050405020303" charset="0"/>
              </a:rPr>
              <a:t>Management of DCM</a:t>
            </a:r>
            <a:endParaRPr lang="en-US" sz="3200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6C8AB-A768-4B08-9E2D-FC6C38C4E8B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82613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Georgia" panose="02040502050405020303" charset="0"/>
                <a:cs typeface="Georgia" panose="02040502050405020303" charset="0"/>
              </a:rPr>
              <a:t>Acute Pericarditis</a:t>
            </a:r>
            <a:endParaRPr lang="en-US" sz="4800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170940"/>
            <a:ext cx="8869680" cy="5550535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000" dirty="0">
                <a:latin typeface="Georgia" panose="02040502050405020303" charset="0"/>
                <a:cs typeface="Georgia" panose="02040502050405020303" charset="0"/>
              </a:rPr>
              <a:t>This is inflammation of the pericardium</a:t>
            </a:r>
            <a:endParaRPr lang="en-US" sz="20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70000"/>
              </a:lnSpc>
            </a:pPr>
            <a:r>
              <a:rPr lang="en-US" sz="2000" dirty="0">
                <a:latin typeface="Georgia" panose="02040502050405020303" charset="0"/>
                <a:cs typeface="Georgia" panose="02040502050405020303" charset="0"/>
              </a:rPr>
              <a:t>May be idiopathic or secondary to</a:t>
            </a:r>
            <a:endParaRPr lang="en-US" sz="20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n-US" sz="2000" dirty="0">
                <a:latin typeface="Georgia" panose="02040502050405020303" charset="0"/>
                <a:cs typeface="Georgia" panose="02040502050405020303" charset="0"/>
              </a:rPr>
              <a:t>     - Viruses (cocksakie, flu, epistein-barr, mumps)</a:t>
            </a:r>
            <a:endParaRPr lang="en-US" sz="20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n-US" sz="2000" dirty="0">
                <a:latin typeface="Georgia" panose="02040502050405020303" charset="0"/>
                <a:cs typeface="Georgia" panose="02040502050405020303" charset="0"/>
              </a:rPr>
              <a:t>     - Bacteria (pneumonia, rheumatic fever, TB, staph, streps)</a:t>
            </a:r>
            <a:endParaRPr lang="en-US" sz="20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n-US" sz="2000" dirty="0">
                <a:latin typeface="Georgia" panose="02040502050405020303" charset="0"/>
                <a:cs typeface="Georgia" panose="02040502050405020303" charset="0"/>
              </a:rPr>
              <a:t>     - Fungi</a:t>
            </a:r>
            <a:endParaRPr lang="en-US" sz="20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n-US" sz="2000" dirty="0">
                <a:latin typeface="Georgia" panose="02040502050405020303" charset="0"/>
                <a:cs typeface="Georgia" panose="02040502050405020303" charset="0"/>
              </a:rPr>
              <a:t>     - MI</a:t>
            </a:r>
            <a:endParaRPr lang="en-US" sz="20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n-US" sz="2000" dirty="0">
                <a:latin typeface="Georgia" panose="02040502050405020303" charset="0"/>
                <a:cs typeface="Georgia" panose="02040502050405020303" charset="0"/>
              </a:rPr>
              <a:t>     - Drugs(penicillin, isoniazid, hydralazine, antineoplastic agents)</a:t>
            </a:r>
            <a:endParaRPr lang="en-US" sz="20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n-US" sz="2000" dirty="0">
                <a:latin typeface="Georgia" panose="02040502050405020303" charset="0"/>
                <a:cs typeface="Georgia" panose="02040502050405020303" charset="0"/>
              </a:rPr>
              <a:t>     - Others(Uremia, RA, SLE, Myxedema, Malignancy, sarcoidosis)</a:t>
            </a:r>
            <a:endParaRPr lang="en-US" sz="20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BF04-5CEA-4735-A258-FFFAACCBFE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charset="0"/>
                <a:cs typeface="Georgia" panose="02040502050405020303" charset="0"/>
              </a:rPr>
              <a:t>Clinical Features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Chest pain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        - central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        - worse on inspiration or lying flat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        - Relief with sitting forward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        - Pericardial friction rub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        - Signs of pericardial effusion 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        - cardiac tamponade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        - Fever may be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BF04-5CEA-4735-A258-FFFAACCBFE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Cont..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515" y="1134110"/>
            <a:ext cx="8350885" cy="5587365"/>
          </a:xfrm>
        </p:spPr>
        <p:txBody>
          <a:bodyPr/>
          <a:lstStyle/>
          <a:p>
            <a:pPr>
              <a:buFont typeface="Wingdings" panose="05000000000000000000" charset="0"/>
              <a:buChar char="q"/>
            </a:pPr>
            <a:r>
              <a:rPr lang="en-US" sz="2400" b="1" dirty="0">
                <a:latin typeface="Georgia" panose="02040502050405020303" charset="0"/>
                <a:cs typeface="Georgia" panose="02040502050405020303" charset="0"/>
              </a:rPr>
              <a:t>ECG</a:t>
            </a:r>
            <a:endParaRPr lang="en-US" sz="2400" b="1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- Saddle shaped ST segment elevation but may be normal also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sz="2400" b="1" dirty="0">
                <a:latin typeface="Georgia" panose="02040502050405020303" charset="0"/>
                <a:cs typeface="Georgia" panose="02040502050405020303" charset="0"/>
              </a:rPr>
              <a:t>Blood</a:t>
            </a:r>
            <a:endParaRPr lang="en-US" sz="2400" b="1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- FBC, ESR, U &amp; E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- Cardiac enzymes (troponin may be elevated)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- Blood culture, check autoantibodies, viral serology, thyroid function test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endParaRPr lang="en-US" sz="2400" b="1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sz="2400" b="1" dirty="0">
                <a:latin typeface="Georgia" panose="02040502050405020303" charset="0"/>
                <a:cs typeface="Georgia" panose="02040502050405020303" charset="0"/>
              </a:rPr>
              <a:t>CXR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 (Cardiomegaly = pericardial effusion)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sz="2400" b="1" dirty="0">
                <a:latin typeface="Georgia" panose="02040502050405020303" charset="0"/>
                <a:cs typeface="Georgia" panose="02040502050405020303" charset="0"/>
              </a:rPr>
              <a:t>ECHO </a:t>
            </a: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(pericardial effusion)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BF04-5CEA-4735-A258-FFFAACCBFE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1129030"/>
          </a:xfrm>
        </p:spPr>
        <p:txBody>
          <a:bodyPr/>
          <a:lstStyle/>
          <a:p>
            <a:r>
              <a:rPr lang="en-US" b="1" dirty="0">
                <a:latin typeface="Georgia" panose="02040502050405020303" charset="0"/>
                <a:cs typeface="Georgia" panose="02040502050405020303" charset="0"/>
                <a:sym typeface="+mn-ea"/>
              </a:rPr>
              <a:t>Management</a:t>
            </a:r>
            <a:endParaRPr lang="en-US" b="1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212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Analgesia (Ibuprofen)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Colchicine/steroid (but increase risk of recurrence)/ immunosuppressant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BF04-5CEA-4735-A258-FFFAACCBFE0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33600" y="914400"/>
            <a:ext cx="5129530" cy="498411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352AB735-BF81-42D3-8AB0-17AC4E3C8048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9231</Words>
  <Application>WPS Presentation</Application>
  <PresentationFormat>On-screen Show (4:3)</PresentationFormat>
  <Paragraphs>487</Paragraphs>
  <Slides>47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9" baseType="lpstr">
      <vt:lpstr>Arial</vt:lpstr>
      <vt:lpstr>SimSun</vt:lpstr>
      <vt:lpstr>Wingdings</vt:lpstr>
      <vt:lpstr>Calibri</vt:lpstr>
      <vt:lpstr>Tahoma</vt:lpstr>
      <vt:lpstr>Arial</vt:lpstr>
      <vt:lpstr>Microsoft YaHei</vt:lpstr>
      <vt:lpstr>Arial Unicode MS</vt:lpstr>
      <vt:lpstr>Times New Roman</vt:lpstr>
      <vt:lpstr>Symbol</vt:lpstr>
      <vt:lpstr>Georgia</vt:lpstr>
      <vt:lpstr>MS UI Gothic</vt:lpstr>
      <vt:lpstr>Arial Black</vt:lpstr>
      <vt:lpstr>Wingdings</vt:lpstr>
      <vt:lpstr>Segoe Script</vt:lpstr>
      <vt:lpstr>Gadugi</vt:lpstr>
      <vt:lpstr>Segoe UI Black</vt:lpstr>
      <vt:lpstr>Segoe UI</vt:lpstr>
      <vt:lpstr>Segoe Print</vt:lpstr>
      <vt:lpstr>PMingLiU-ExtB</vt:lpstr>
      <vt:lpstr>Gabriola</vt:lpstr>
      <vt:lpstr>Gear Drives</vt:lpstr>
      <vt:lpstr>Acquired heart disease in children</vt:lpstr>
      <vt:lpstr>Acquired heart disease in children</vt:lpstr>
      <vt:lpstr>Acute Rheumatic Fever</vt:lpstr>
      <vt:lpstr>PowerPoint 演示文稿</vt:lpstr>
      <vt:lpstr>ARF – Carditis</vt:lpstr>
      <vt:lpstr>ARF – Arthritis</vt:lpstr>
      <vt:lpstr>ARF– Sydenham Chorea </vt:lpstr>
      <vt:lpstr>         Subcutaneous Nodule</vt:lpstr>
      <vt:lpstr>    ARF - Erythema Marginatum </vt:lpstr>
      <vt:lpstr>Rheumatic Attack Rate after GAS Tonsillitis</vt:lpstr>
      <vt:lpstr>ARF – Primary Treatment</vt:lpstr>
      <vt:lpstr> ARF - Prophylaxis </vt:lpstr>
      <vt:lpstr>ARF-Treatment dose</vt:lpstr>
      <vt:lpstr>PowerPoint 演示文稿</vt:lpstr>
      <vt:lpstr>Infective Endocarditis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Acute Myocarditis</vt:lpstr>
      <vt:lpstr>Acute Myocarditis</vt:lpstr>
      <vt:lpstr>PowerPoint 演示文稿</vt:lpstr>
      <vt:lpstr>SUBACUTE CARDITIS</vt:lpstr>
      <vt:lpstr>Chronic Myocarditis</vt:lpstr>
      <vt:lpstr>Chronic Myocarditis</vt:lpstr>
      <vt:lpstr> Clinical manifestations </vt:lpstr>
      <vt:lpstr>Cont..</vt:lpstr>
      <vt:lpstr>Cardiomyopathies </vt:lpstr>
      <vt:lpstr>Incidence and Prognosis</vt:lpstr>
      <vt:lpstr>PowerPoint 演示文稿</vt:lpstr>
      <vt:lpstr> Idiopathic  Dilated Cardiomyopathy </vt:lpstr>
      <vt:lpstr>Dilated Cardiomyopathy</vt:lpstr>
      <vt:lpstr>PowerPoint 演示文稿</vt:lpstr>
      <vt:lpstr>Clinical Manifestations</vt:lpstr>
      <vt:lpstr>Clinical Manifestations</vt:lpstr>
      <vt:lpstr>DIAGNOSIS OF CMP</vt:lpstr>
      <vt:lpstr>Serious complications</vt:lpstr>
      <vt:lpstr>Prognosis</vt:lpstr>
      <vt:lpstr>Management of DCM</vt:lpstr>
      <vt:lpstr>Management of DCM</vt:lpstr>
      <vt:lpstr>Acute Pericarditis</vt:lpstr>
      <vt:lpstr>Clinical Features</vt:lpstr>
      <vt:lpstr>Cont..</vt:lpstr>
      <vt:lpstr>T(X)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Airway Obstruction</dc:title>
  <dc:creator>user</dc:creator>
  <cp:lastModifiedBy>user</cp:lastModifiedBy>
  <cp:revision>43</cp:revision>
  <dcterms:created xsi:type="dcterms:W3CDTF">2011-02-18T02:10:00Z</dcterms:created>
  <dcterms:modified xsi:type="dcterms:W3CDTF">2024-11-06T18:56:21Z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1033-12.2.0.18607</vt:lpwstr>
  </property>
  <property fmtid="{D5CDD505-2E9C-101B-9397-08002B2CF9AE}" pid="3" name="ICV">
    <vt:lpwstr>759D562926A14645AEEE73DF2944D089_13</vt:lpwstr>
  </property>
</Properties>
</file>