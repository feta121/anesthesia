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84" r:id="rId19"/>
    <p:sldId id="277" r:id="rId20"/>
    <p:sldId id="278" r:id="rId21"/>
    <p:sldId id="279" r:id="rId22"/>
    <p:sldId id="280" r:id="rId23"/>
    <p:sldId id="281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47E90-4431-41F5-945B-3C3B3E0DDC38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893C0-7AAC-467A-AF3F-ED9586809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Musculoskeletal </a:t>
            </a:r>
            <a:r>
              <a:rPr lang="en-US" smtClean="0"/>
              <a:t>system pathology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10363200" y="838200"/>
            <a:ext cx="7620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Congenital Disorders of Bone </a:t>
            </a:r>
            <a:r>
              <a:rPr lang="en-US" sz="2800" b="1" dirty="0" smtClean="0"/>
              <a:t>and Cartilage</a:t>
            </a:r>
            <a:endParaRPr lang="en-US" sz="2800" b="1" dirty="0" smtClean="0"/>
          </a:p>
          <a:p>
            <a:r>
              <a:rPr lang="en-US" sz="2400" b="1" dirty="0" smtClean="0"/>
              <a:t>ACHONDROPLASIA</a:t>
            </a:r>
          </a:p>
          <a:p>
            <a:r>
              <a:rPr lang="en-US" sz="2400" dirty="0" smtClean="0"/>
              <a:t>Impaired cartilage proliferation in the growth plate; common cause of </a:t>
            </a:r>
            <a:r>
              <a:rPr lang="en-US" sz="2400" dirty="0" smtClean="0"/>
              <a:t>dwarfism.</a:t>
            </a:r>
            <a:endParaRPr lang="en-US" sz="2400" dirty="0" smtClean="0"/>
          </a:p>
          <a:p>
            <a:r>
              <a:rPr lang="en-US" sz="2400" dirty="0" smtClean="0"/>
              <a:t>Due </a:t>
            </a:r>
            <a:r>
              <a:rPr lang="en-US" sz="2400" dirty="0" smtClean="0"/>
              <a:t>to an activating mutation in fibroblast growth factor receptor 3 </a:t>
            </a:r>
            <a:r>
              <a:rPr lang="en-US" sz="2400" i="1" dirty="0" smtClean="0"/>
              <a:t>(</a:t>
            </a:r>
            <a:r>
              <a:rPr lang="en-US" sz="2400" i="1" dirty="0" smtClean="0"/>
              <a:t>FGFR3) </a:t>
            </a:r>
            <a:r>
              <a:rPr lang="en-US" sz="2400" dirty="0" err="1" smtClean="0"/>
              <a:t>autosomal</a:t>
            </a:r>
            <a:r>
              <a:rPr lang="en-US" sz="2400" dirty="0" smtClean="0"/>
              <a:t> dominant.</a:t>
            </a:r>
            <a:endParaRPr lang="en-US" sz="2400" dirty="0" smtClean="0"/>
          </a:p>
          <a:p>
            <a:r>
              <a:rPr lang="en-US" sz="2400" dirty="0" err="1" smtClean="0"/>
              <a:t>Overexpression</a:t>
            </a:r>
            <a:r>
              <a:rPr lang="en-US" sz="2400" dirty="0" smtClean="0"/>
              <a:t> </a:t>
            </a:r>
            <a:r>
              <a:rPr lang="en-US" sz="2400" dirty="0" smtClean="0"/>
              <a:t>of </a:t>
            </a:r>
            <a:r>
              <a:rPr lang="en-US" sz="2400" i="1" dirty="0" smtClean="0"/>
              <a:t>FGFR3 inhibits growth.</a:t>
            </a:r>
          </a:p>
          <a:p>
            <a:r>
              <a:rPr lang="en-US" sz="2400" dirty="0" smtClean="0"/>
              <a:t> </a:t>
            </a:r>
            <a:r>
              <a:rPr lang="en-US" sz="2400" dirty="0" smtClean="0"/>
              <a:t>Most mutations are sporadic and related to increased paternal age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Short extremities with normal-sized head and chest - due to poor </a:t>
            </a:r>
            <a:r>
              <a:rPr lang="en-US" sz="2400" dirty="0" err="1" smtClean="0"/>
              <a:t>endochondral</a:t>
            </a:r>
            <a:r>
              <a:rPr lang="en-US" sz="2400" dirty="0" smtClean="0"/>
              <a:t> bone formation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dirty="0" err="1" smtClean="0"/>
              <a:t>I</a:t>
            </a:r>
            <a:r>
              <a:rPr lang="en-US" sz="2400" dirty="0" err="1" smtClean="0"/>
              <a:t>ntramembranous</a:t>
            </a:r>
            <a:r>
              <a:rPr lang="en-US" sz="2400" dirty="0" smtClean="0"/>
              <a:t> </a:t>
            </a:r>
            <a:r>
              <a:rPr lang="en-US" sz="2400" dirty="0" smtClean="0"/>
              <a:t>bone formation is not affected.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b="1" dirty="0" smtClean="0"/>
              <a:t>OSTEOGENESIS IMPERFECTA</a:t>
            </a:r>
          </a:p>
          <a:p>
            <a:r>
              <a:rPr lang="en-US" sz="2400" dirty="0" smtClean="0"/>
              <a:t>Congenital </a:t>
            </a:r>
            <a:r>
              <a:rPr lang="en-US" sz="2400" dirty="0" smtClean="0"/>
              <a:t>defect of bone formation resulting in structurally weak </a:t>
            </a:r>
            <a:r>
              <a:rPr lang="en-US" sz="2400" dirty="0" smtClean="0"/>
              <a:t>bone.</a:t>
            </a:r>
            <a:endParaRPr lang="en-US" sz="2400" dirty="0" smtClean="0"/>
          </a:p>
          <a:p>
            <a:r>
              <a:rPr lang="en-US" sz="2400" dirty="0" smtClean="0"/>
              <a:t>Most </a:t>
            </a:r>
            <a:r>
              <a:rPr lang="en-US" sz="2400" dirty="0" smtClean="0"/>
              <a:t>commonly due to an </a:t>
            </a:r>
            <a:r>
              <a:rPr lang="en-US" sz="2400" dirty="0" err="1" smtClean="0"/>
              <a:t>autosomal</a:t>
            </a:r>
            <a:r>
              <a:rPr lang="en-US" sz="2400" dirty="0" smtClean="0"/>
              <a:t> dominant defect in collagen type I </a:t>
            </a:r>
            <a:r>
              <a:rPr lang="en-US" sz="2400" dirty="0" smtClean="0"/>
              <a:t>synthesis.</a:t>
            </a:r>
            <a:endParaRPr lang="en-US" sz="2400" dirty="0" smtClean="0"/>
          </a:p>
          <a:p>
            <a:r>
              <a:rPr lang="en-US" sz="2400" dirty="0" smtClean="0"/>
              <a:t>Multiple </a:t>
            </a:r>
            <a:r>
              <a:rPr lang="en-US" sz="2400" dirty="0" smtClean="0"/>
              <a:t>fractures of bone (can mimic child abuse, but bruising is absent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r>
              <a:rPr lang="en-US" sz="2400" dirty="0" smtClean="0"/>
              <a:t>Blue </a:t>
            </a:r>
            <a:r>
              <a:rPr lang="en-US" sz="2400" dirty="0" smtClean="0"/>
              <a:t>sclera - Thinning of </a:t>
            </a:r>
            <a:r>
              <a:rPr lang="en-US" sz="2400" dirty="0" err="1" smtClean="0"/>
              <a:t>scleral</a:t>
            </a:r>
            <a:r>
              <a:rPr lang="en-US" sz="2400" dirty="0" smtClean="0"/>
              <a:t> collagen reveals underlying </a:t>
            </a:r>
            <a:r>
              <a:rPr lang="en-US" sz="2400" dirty="0" err="1" smtClean="0"/>
              <a:t>choroidal</a:t>
            </a:r>
            <a:r>
              <a:rPr lang="en-US" sz="2400" dirty="0" smtClean="0"/>
              <a:t> veins.</a:t>
            </a:r>
          </a:p>
          <a:p>
            <a:r>
              <a:rPr lang="en-US" sz="2400" dirty="0" smtClean="0"/>
              <a:t>Hearing </a:t>
            </a:r>
            <a:r>
              <a:rPr lang="en-US" sz="2400" dirty="0" smtClean="0"/>
              <a:t>loss - Bones of the middle ear easily fracture.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 smtClean="0"/>
              <a:t>OSTEOPETROSIS</a:t>
            </a:r>
          </a:p>
          <a:p>
            <a:r>
              <a:rPr lang="en-US" sz="2400" dirty="0" smtClean="0"/>
              <a:t>Inherited </a:t>
            </a:r>
            <a:r>
              <a:rPr lang="en-US" sz="2400" dirty="0" smtClean="0"/>
              <a:t>defect of bone </a:t>
            </a:r>
            <a:r>
              <a:rPr lang="en-US" sz="2400" dirty="0" err="1" smtClean="0"/>
              <a:t>resorption</a:t>
            </a:r>
            <a:r>
              <a:rPr lang="en-US" sz="2400" dirty="0" smtClean="0"/>
              <a:t> resulting in abnormally thick, heavy bone </a:t>
            </a:r>
            <a:r>
              <a:rPr lang="en-US" sz="2400" dirty="0" smtClean="0"/>
              <a:t>that fractures easily.</a:t>
            </a:r>
            <a:endParaRPr lang="en-US" sz="2400" dirty="0" smtClean="0"/>
          </a:p>
          <a:p>
            <a:r>
              <a:rPr lang="en-US" sz="2400" dirty="0" smtClean="0"/>
              <a:t>Due </a:t>
            </a:r>
            <a:r>
              <a:rPr lang="en-US" sz="2400" dirty="0" smtClean="0"/>
              <a:t>to poor </a:t>
            </a:r>
            <a:r>
              <a:rPr lang="en-US" sz="2400" dirty="0" err="1" smtClean="0"/>
              <a:t>osteoclast</a:t>
            </a:r>
            <a:r>
              <a:rPr lang="en-US" sz="2400" dirty="0" smtClean="0"/>
              <a:t> </a:t>
            </a:r>
            <a:r>
              <a:rPr lang="en-US" sz="2400" dirty="0" smtClean="0"/>
              <a:t>function.</a:t>
            </a:r>
            <a:endParaRPr lang="en-US" sz="2400" dirty="0" smtClean="0"/>
          </a:p>
          <a:p>
            <a:r>
              <a:rPr lang="en-US" sz="2400" dirty="0" smtClean="0"/>
              <a:t>Multiple </a:t>
            </a:r>
            <a:r>
              <a:rPr lang="en-US" sz="2400" dirty="0" smtClean="0"/>
              <a:t>genetic variants exist; carbonic </a:t>
            </a:r>
            <a:r>
              <a:rPr lang="en-US" sz="2400" dirty="0" err="1" smtClean="0"/>
              <a:t>anhydrase</a:t>
            </a:r>
            <a:r>
              <a:rPr lang="en-US" sz="2400" dirty="0" smtClean="0"/>
              <a:t> II mutation leads to loss of </a:t>
            </a:r>
            <a:r>
              <a:rPr lang="en-US" sz="2400" dirty="0" smtClean="0"/>
              <a:t>the acidic </a:t>
            </a:r>
            <a:r>
              <a:rPr lang="en-US" sz="2400" dirty="0" smtClean="0"/>
              <a:t>microenvironment required for bone </a:t>
            </a:r>
            <a:r>
              <a:rPr lang="en-US" sz="2400" dirty="0" err="1" smtClean="0"/>
              <a:t>resorption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Bone </a:t>
            </a:r>
            <a:r>
              <a:rPr lang="en-US" sz="2400" dirty="0" smtClean="0"/>
              <a:t>fractures.</a:t>
            </a:r>
            <a:endParaRPr lang="en-US" sz="2400" dirty="0" smtClean="0"/>
          </a:p>
          <a:p>
            <a:r>
              <a:rPr lang="en-US" sz="2400" dirty="0" smtClean="0"/>
              <a:t>Anemia</a:t>
            </a:r>
            <a:r>
              <a:rPr lang="en-US" sz="2400" dirty="0" smtClean="0"/>
              <a:t>, thrombocytopenia, and </a:t>
            </a:r>
            <a:r>
              <a:rPr lang="en-US" sz="2400" dirty="0" err="1" smtClean="0"/>
              <a:t>leukopenia</a:t>
            </a:r>
            <a:r>
              <a:rPr lang="en-US" sz="2400" dirty="0" smtClean="0"/>
              <a:t> with </a:t>
            </a:r>
            <a:r>
              <a:rPr lang="en-US" sz="2400" dirty="0" err="1" smtClean="0"/>
              <a:t>extramedullary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 </a:t>
            </a:r>
            <a:r>
              <a:rPr lang="en-US" sz="2400" dirty="0" err="1" smtClean="0"/>
              <a:t>hematopoiesis</a:t>
            </a:r>
            <a:r>
              <a:rPr lang="en-US" sz="2400" dirty="0" smtClean="0"/>
              <a:t> </a:t>
            </a:r>
            <a:r>
              <a:rPr lang="en-US" sz="2400" dirty="0" smtClean="0"/>
              <a:t>- due to bony replacement of the marrow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 (</a:t>
            </a:r>
            <a:r>
              <a:rPr lang="en-US" sz="2400" dirty="0" err="1" smtClean="0"/>
              <a:t>myelophthisic</a:t>
            </a:r>
            <a:r>
              <a:rPr lang="en-US" sz="2400" dirty="0" smtClean="0"/>
              <a:t> process).</a:t>
            </a:r>
            <a:endParaRPr lang="en-US" sz="2400" dirty="0" smtClean="0"/>
          </a:p>
          <a:p>
            <a:r>
              <a:rPr lang="en-US" sz="2400" dirty="0" smtClean="0"/>
              <a:t>Vision </a:t>
            </a:r>
            <a:r>
              <a:rPr lang="en-US" sz="2400" dirty="0" smtClean="0"/>
              <a:t>and hearing impairment - due to impingement on cranial </a:t>
            </a:r>
            <a:r>
              <a:rPr lang="en-US" sz="2400" dirty="0" smtClean="0"/>
              <a:t>nerves.</a:t>
            </a:r>
            <a:endParaRPr lang="en-US" sz="2400" dirty="0" smtClean="0"/>
          </a:p>
          <a:p>
            <a:r>
              <a:rPr lang="en-US" sz="2400" dirty="0" smtClean="0"/>
              <a:t>Hydrocephalus </a:t>
            </a:r>
            <a:r>
              <a:rPr lang="en-US" sz="2400" dirty="0" smtClean="0"/>
              <a:t>- due to narrowing of the foramen </a:t>
            </a:r>
            <a:r>
              <a:rPr lang="en-US" sz="2400" dirty="0" smtClean="0"/>
              <a:t>magnum.</a:t>
            </a:r>
            <a:endParaRPr lang="en-US" sz="2400" dirty="0" smtClean="0"/>
          </a:p>
          <a:p>
            <a:r>
              <a:rPr lang="en-US" sz="2400" dirty="0" smtClean="0"/>
              <a:t>Renal </a:t>
            </a:r>
            <a:r>
              <a:rPr lang="en-US" sz="2400" dirty="0" smtClean="0"/>
              <a:t>tubular acidosis - seen with carbonic </a:t>
            </a:r>
            <a:r>
              <a:rPr lang="en-US" sz="2400" dirty="0" err="1" smtClean="0"/>
              <a:t>anhydrase</a:t>
            </a:r>
            <a:r>
              <a:rPr lang="en-US" sz="2400" dirty="0" smtClean="0"/>
              <a:t> II </a:t>
            </a:r>
            <a:r>
              <a:rPr lang="en-US" sz="2400" dirty="0" smtClean="0"/>
              <a:t>mutation.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RICKETS/OSTEOMALACIA</a:t>
            </a:r>
          </a:p>
          <a:p>
            <a:r>
              <a:rPr lang="en-US" sz="2400" dirty="0" smtClean="0"/>
              <a:t>Defective mineralization of </a:t>
            </a:r>
            <a:r>
              <a:rPr lang="en-US" sz="2400" dirty="0" err="1" smtClean="0"/>
              <a:t>osteoid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b="1" dirty="0" err="1" smtClean="0"/>
              <a:t>Osteoblasts</a:t>
            </a:r>
            <a:r>
              <a:rPr lang="en-US" sz="2400" b="1" dirty="0" smtClean="0"/>
              <a:t> </a:t>
            </a:r>
            <a:r>
              <a:rPr lang="en-US" sz="2400" b="1" dirty="0" smtClean="0"/>
              <a:t>normally produce </a:t>
            </a:r>
            <a:r>
              <a:rPr lang="en-US" sz="2400" b="1" dirty="0" err="1" smtClean="0"/>
              <a:t>osteoid</a:t>
            </a:r>
            <a:r>
              <a:rPr lang="en-US" sz="2400" b="1" dirty="0" smtClean="0"/>
              <a:t>, which is then mineralized with </a:t>
            </a:r>
            <a:r>
              <a:rPr lang="en-US" sz="2400" b="1" dirty="0" smtClean="0"/>
              <a:t>calcium </a:t>
            </a:r>
            <a:r>
              <a:rPr lang="en-US" sz="2400" dirty="0" smtClean="0"/>
              <a:t>and</a:t>
            </a:r>
            <a:r>
              <a:rPr lang="en-US" sz="2400" b="1" dirty="0" smtClean="0"/>
              <a:t> </a:t>
            </a:r>
            <a:r>
              <a:rPr lang="en-US" sz="2400" b="1" dirty="0" smtClean="0"/>
              <a:t>phosphate </a:t>
            </a:r>
            <a:r>
              <a:rPr lang="en-US" sz="2400" dirty="0" smtClean="0"/>
              <a:t>to form bone.</a:t>
            </a:r>
          </a:p>
          <a:p>
            <a:r>
              <a:rPr lang="en-US" sz="2400" dirty="0" smtClean="0"/>
              <a:t>Due </a:t>
            </a:r>
            <a:r>
              <a:rPr lang="en-US" sz="2400" dirty="0" smtClean="0"/>
              <a:t>to low levels </a:t>
            </a:r>
            <a:r>
              <a:rPr lang="en-US" sz="2400" dirty="0" smtClean="0"/>
              <a:t>of vitamin </a:t>
            </a:r>
            <a:r>
              <a:rPr lang="en-US" sz="2400" dirty="0" smtClean="0"/>
              <a:t>D, which results in low serum calcium and </a:t>
            </a:r>
            <a:r>
              <a:rPr lang="en-US" sz="2400" dirty="0" smtClean="0"/>
              <a:t>phosphate.</a:t>
            </a:r>
          </a:p>
          <a:p>
            <a:r>
              <a:rPr lang="en-US" sz="2400" dirty="0" smtClean="0"/>
              <a:t>Vitamin D deficiency is seen with decreased sun exposure (e.g., </a:t>
            </a:r>
            <a:r>
              <a:rPr lang="en-US" sz="2400" dirty="0" smtClean="0"/>
              <a:t>northern latitudes</a:t>
            </a:r>
            <a:r>
              <a:rPr lang="en-US" sz="2400" dirty="0" smtClean="0"/>
              <a:t>), poor diet, </a:t>
            </a:r>
            <a:r>
              <a:rPr lang="en-US" sz="2400" dirty="0" err="1" smtClean="0"/>
              <a:t>malabsorption</a:t>
            </a:r>
            <a:r>
              <a:rPr lang="en-US" sz="2400" dirty="0" smtClean="0"/>
              <a:t>, liver failure, and renal failure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Rickets is due to low vitamin D in children, resulting in abnormal </a:t>
            </a:r>
            <a:r>
              <a:rPr lang="en-US" sz="2400" dirty="0" smtClean="0"/>
              <a:t>bone mineralization.</a:t>
            </a:r>
          </a:p>
          <a:p>
            <a:r>
              <a:rPr lang="en-US" sz="2400" dirty="0" err="1" smtClean="0"/>
              <a:t>Osteomalacia</a:t>
            </a:r>
            <a:r>
              <a:rPr lang="en-US" sz="2400" dirty="0" smtClean="0"/>
              <a:t> is due to low vitamin D in adults.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OSTEOPOROSIS</a:t>
            </a:r>
          </a:p>
          <a:p>
            <a:r>
              <a:rPr lang="en-US" sz="2400" dirty="0" smtClean="0"/>
              <a:t>Reduction </a:t>
            </a:r>
            <a:r>
              <a:rPr lang="en-US" sz="2400" dirty="0" smtClean="0"/>
              <a:t>in </a:t>
            </a:r>
            <a:r>
              <a:rPr lang="en-US" sz="2400" dirty="0" err="1" smtClean="0"/>
              <a:t>trabecular</a:t>
            </a:r>
            <a:r>
              <a:rPr lang="en-US" sz="2400" dirty="0" smtClean="0"/>
              <a:t> bone mass</a:t>
            </a:r>
          </a:p>
          <a:p>
            <a:r>
              <a:rPr lang="en-US" sz="2400" dirty="0" smtClean="0"/>
              <a:t>Results </a:t>
            </a:r>
            <a:r>
              <a:rPr lang="en-US" sz="2400" dirty="0" smtClean="0"/>
              <a:t>in porous bone with an increased risk for fracture</a:t>
            </a:r>
          </a:p>
          <a:p>
            <a:r>
              <a:rPr lang="en-US" sz="2400" dirty="0" smtClean="0"/>
              <a:t>Risk </a:t>
            </a:r>
            <a:r>
              <a:rPr lang="en-US" sz="2400" dirty="0" smtClean="0"/>
              <a:t>of osteoporosis is based on peak bone mass (attained in early adulthood) </a:t>
            </a:r>
            <a:r>
              <a:rPr lang="en-US" sz="2400" dirty="0" smtClean="0"/>
              <a:t>and rate </a:t>
            </a:r>
            <a:r>
              <a:rPr lang="en-US" sz="2400" dirty="0" smtClean="0"/>
              <a:t>of bone loss that follows thereafter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Most common forms of osteoporosis are senile and postmenopausal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Bone pain and fractures in weight-bearing areas such as the vertebrae </a:t>
            </a:r>
            <a:r>
              <a:rPr lang="en-US" sz="2400" dirty="0" smtClean="0"/>
              <a:t>, </a:t>
            </a:r>
            <a:r>
              <a:rPr lang="en-US" sz="2400" dirty="0" smtClean="0"/>
              <a:t>hip, and distal </a:t>
            </a:r>
            <a:r>
              <a:rPr lang="en-US" sz="2400" dirty="0" smtClean="0"/>
              <a:t>radius.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PAGET DISEASE OF BONE</a:t>
            </a:r>
          </a:p>
          <a:p>
            <a:r>
              <a:rPr lang="en-US" sz="2600" dirty="0" smtClean="0"/>
              <a:t>Imbalance </a:t>
            </a:r>
            <a:r>
              <a:rPr lang="en-US" sz="2600" dirty="0" smtClean="0"/>
              <a:t>between </a:t>
            </a:r>
            <a:r>
              <a:rPr lang="en-US" sz="2600" dirty="0" err="1" smtClean="0"/>
              <a:t>osteoclast</a:t>
            </a:r>
            <a:r>
              <a:rPr lang="en-US" sz="2600" dirty="0" smtClean="0"/>
              <a:t> and </a:t>
            </a:r>
            <a:r>
              <a:rPr lang="en-US" sz="2600" dirty="0" err="1" smtClean="0"/>
              <a:t>osteoblast</a:t>
            </a:r>
            <a:r>
              <a:rPr lang="en-US" sz="2600" dirty="0" smtClean="0"/>
              <a:t> </a:t>
            </a:r>
            <a:r>
              <a:rPr lang="en-US" sz="2600" dirty="0" smtClean="0"/>
              <a:t>function.</a:t>
            </a:r>
            <a:endParaRPr lang="en-US" sz="2600" dirty="0" smtClean="0"/>
          </a:p>
          <a:p>
            <a:r>
              <a:rPr lang="en-US" sz="2600" dirty="0" smtClean="0"/>
              <a:t>Usually </a:t>
            </a:r>
            <a:r>
              <a:rPr lang="en-US" sz="2600" dirty="0" smtClean="0"/>
              <a:t>seen in late adulthood (average age &gt; 60 years</a:t>
            </a:r>
            <a:r>
              <a:rPr lang="en-US" sz="2600" dirty="0" smtClean="0"/>
              <a:t>).</a:t>
            </a:r>
            <a:endParaRPr lang="en-US" sz="2600" dirty="0" smtClean="0"/>
          </a:p>
          <a:p>
            <a:r>
              <a:rPr lang="en-US" sz="2600" dirty="0" smtClean="0"/>
              <a:t>Etiology </a:t>
            </a:r>
            <a:r>
              <a:rPr lang="en-US" sz="2600" dirty="0" smtClean="0"/>
              <a:t>is unknown; possibly </a:t>
            </a:r>
            <a:r>
              <a:rPr lang="en-US" sz="2600" dirty="0" smtClean="0"/>
              <a:t>viral.</a:t>
            </a:r>
            <a:endParaRPr lang="en-US" sz="2600" dirty="0" smtClean="0"/>
          </a:p>
          <a:p>
            <a:r>
              <a:rPr lang="en-US" sz="2600" dirty="0" smtClean="0"/>
              <a:t>Localized </a:t>
            </a:r>
            <a:r>
              <a:rPr lang="en-US" sz="2600" dirty="0" smtClean="0"/>
              <a:t>process involving one or more bones; does not involve the entire </a:t>
            </a:r>
            <a:r>
              <a:rPr lang="en-US" sz="2600" dirty="0" smtClean="0"/>
              <a:t>skeleton.</a:t>
            </a:r>
            <a:endParaRPr lang="en-US" sz="2600" dirty="0" smtClean="0"/>
          </a:p>
          <a:p>
            <a:r>
              <a:rPr lang="en-US" sz="2600" dirty="0" smtClean="0"/>
              <a:t>Three </a:t>
            </a:r>
            <a:r>
              <a:rPr lang="en-US" sz="2600" dirty="0" smtClean="0"/>
              <a:t>distinct stages are (1) </a:t>
            </a:r>
            <a:r>
              <a:rPr lang="en-US" sz="2600" dirty="0" err="1" smtClean="0"/>
              <a:t>osteoclastic</a:t>
            </a:r>
            <a:r>
              <a:rPr lang="en-US" sz="2600" dirty="0" smtClean="0"/>
              <a:t>, (2) mixed </a:t>
            </a:r>
            <a:r>
              <a:rPr lang="en-US" sz="2600" dirty="0" err="1" smtClean="0"/>
              <a:t>osteoblastic-osteoclastic</a:t>
            </a:r>
            <a:r>
              <a:rPr lang="en-US" sz="2600" dirty="0" smtClean="0"/>
              <a:t>, and (</a:t>
            </a:r>
            <a:r>
              <a:rPr lang="en-US" sz="2600" dirty="0" smtClean="0"/>
              <a:t>3) </a:t>
            </a:r>
            <a:r>
              <a:rPr lang="en-US" sz="2600" dirty="0" err="1" smtClean="0"/>
              <a:t>osteoblastic</a:t>
            </a:r>
            <a:r>
              <a:rPr lang="en-US" sz="2600" dirty="0" smtClean="0"/>
              <a:t>.</a:t>
            </a:r>
          </a:p>
          <a:p>
            <a:r>
              <a:rPr lang="en-US" sz="2400" dirty="0" smtClean="0"/>
              <a:t>End result is thick, sclerotic bone that fractures easily.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Bone pain - due to </a:t>
            </a:r>
            <a:r>
              <a:rPr lang="en-US" sz="2400" dirty="0" err="1" smtClean="0"/>
              <a:t>microfractures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dirty="0" smtClean="0"/>
              <a:t>Increasing </a:t>
            </a:r>
            <a:r>
              <a:rPr lang="en-US" sz="2400" dirty="0" smtClean="0"/>
              <a:t>hat size-Skull is commonly affected.</a:t>
            </a:r>
          </a:p>
          <a:p>
            <a:r>
              <a:rPr lang="en-US" sz="2400" dirty="0" smtClean="0"/>
              <a:t>Hearing </a:t>
            </a:r>
            <a:r>
              <a:rPr lang="en-US" sz="2400" dirty="0" smtClean="0"/>
              <a:t>loss - impingement on cranial </a:t>
            </a:r>
            <a:r>
              <a:rPr lang="en-US" sz="2400" dirty="0" smtClean="0"/>
              <a:t>nerve.</a:t>
            </a:r>
            <a:endParaRPr lang="en-US" sz="2400" dirty="0" smtClean="0"/>
          </a:p>
          <a:p>
            <a:r>
              <a:rPr lang="en-US" sz="2400" dirty="0" smtClean="0"/>
              <a:t>Lion-like </a:t>
            </a:r>
            <a:r>
              <a:rPr lang="en-US" sz="2400" dirty="0" err="1" smtClean="0"/>
              <a:t>facies</a:t>
            </a:r>
            <a:r>
              <a:rPr lang="en-US" sz="2400" dirty="0" smtClean="0"/>
              <a:t> - involvement of craniofacial </a:t>
            </a:r>
            <a:r>
              <a:rPr lang="en-US" sz="2400" dirty="0" smtClean="0"/>
              <a:t>bones.</a:t>
            </a:r>
            <a:endParaRPr lang="en-US" sz="2400" dirty="0" smtClean="0"/>
          </a:p>
          <a:p>
            <a:r>
              <a:rPr lang="en-US" sz="2400" dirty="0" smtClean="0"/>
              <a:t>Isolated </a:t>
            </a:r>
            <a:r>
              <a:rPr lang="en-US" sz="2400" dirty="0" smtClean="0"/>
              <a:t>elevated alkaline </a:t>
            </a:r>
            <a:r>
              <a:rPr lang="en-US" sz="2400" dirty="0" err="1" smtClean="0"/>
              <a:t>phosphatase</a:t>
            </a:r>
            <a:r>
              <a:rPr lang="en-US" sz="2400" dirty="0" smtClean="0"/>
              <a:t> - most common cause o f isolated </a:t>
            </a:r>
            <a:r>
              <a:rPr lang="en-US" sz="2400" dirty="0" smtClean="0"/>
              <a:t>elevated alkaline </a:t>
            </a:r>
            <a:r>
              <a:rPr lang="en-US" sz="2400" dirty="0" err="1" smtClean="0"/>
              <a:t>phosphatase</a:t>
            </a:r>
            <a:r>
              <a:rPr lang="en-US" sz="2400" dirty="0" smtClean="0"/>
              <a:t> in patients &gt; 40 years </a:t>
            </a:r>
            <a:r>
              <a:rPr lang="en-US" sz="2400" dirty="0" smtClean="0"/>
              <a:t>old.</a:t>
            </a:r>
          </a:p>
          <a:p>
            <a:r>
              <a:rPr lang="en-US" sz="2400" dirty="0" smtClean="0"/>
              <a:t>Complications include</a:t>
            </a:r>
          </a:p>
          <a:p>
            <a:r>
              <a:rPr lang="en-US" sz="2400" dirty="0" smtClean="0"/>
              <a:t>High-output </a:t>
            </a:r>
            <a:r>
              <a:rPr lang="en-US" sz="2400" dirty="0" smtClean="0"/>
              <a:t>cardiac failure </a:t>
            </a:r>
          </a:p>
          <a:p>
            <a:r>
              <a:rPr lang="en-US" sz="2400" dirty="0" err="1" smtClean="0"/>
              <a:t>Osteosarcoma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OSTEOMYELITIS</a:t>
            </a:r>
          </a:p>
          <a:p>
            <a:r>
              <a:rPr lang="en-US" dirty="0" smtClean="0"/>
              <a:t>Infection </a:t>
            </a:r>
            <a:r>
              <a:rPr lang="en-US" dirty="0" smtClean="0"/>
              <a:t>of marrow and </a:t>
            </a:r>
            <a:r>
              <a:rPr lang="en-US" dirty="0" smtClean="0"/>
              <a:t>bone.</a:t>
            </a:r>
            <a:endParaRPr lang="en-US" dirty="0" smtClean="0"/>
          </a:p>
          <a:p>
            <a:r>
              <a:rPr lang="en-US" dirty="0" smtClean="0"/>
              <a:t>Usually </a:t>
            </a:r>
            <a:r>
              <a:rPr lang="en-US" dirty="0" smtClean="0"/>
              <a:t>occurs in </a:t>
            </a:r>
            <a:r>
              <a:rPr lang="en-US" dirty="0" smtClean="0"/>
              <a:t>children.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 smtClean="0"/>
              <a:t>commonly bacterial; arises via </a:t>
            </a:r>
            <a:r>
              <a:rPr lang="en-US" dirty="0" err="1" smtClean="0"/>
              <a:t>hematogenous</a:t>
            </a:r>
            <a:r>
              <a:rPr lang="en-US" dirty="0" smtClean="0"/>
              <a:t> </a:t>
            </a:r>
            <a:r>
              <a:rPr lang="en-US" dirty="0" smtClean="0"/>
              <a:t>spread.</a:t>
            </a:r>
            <a:endParaRPr lang="en-US" dirty="0" smtClean="0"/>
          </a:p>
          <a:p>
            <a:r>
              <a:rPr lang="en-US" dirty="0" smtClean="0"/>
              <a:t>Transient </a:t>
            </a:r>
            <a:r>
              <a:rPr lang="en-US" dirty="0" err="1" smtClean="0"/>
              <a:t>bacteremia</a:t>
            </a:r>
            <a:r>
              <a:rPr lang="en-US" dirty="0" smtClean="0"/>
              <a:t> (children) seeds </a:t>
            </a:r>
            <a:r>
              <a:rPr lang="en-US" dirty="0" err="1" smtClean="0"/>
              <a:t>metaphysis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Open-wound </a:t>
            </a:r>
            <a:r>
              <a:rPr lang="en-US" dirty="0" err="1" smtClean="0"/>
              <a:t>bacteremia</a:t>
            </a:r>
            <a:r>
              <a:rPr lang="en-US" dirty="0" smtClean="0"/>
              <a:t> (adults) seeds epiphysis.</a:t>
            </a:r>
          </a:p>
          <a:p>
            <a:r>
              <a:rPr lang="en-US" dirty="0" smtClean="0"/>
              <a:t>Causes </a:t>
            </a:r>
            <a:r>
              <a:rPr lang="en-US" dirty="0" smtClean="0"/>
              <a:t>include</a:t>
            </a:r>
          </a:p>
          <a:p>
            <a:r>
              <a:rPr lang="en-US" b="1" dirty="0" smtClean="0"/>
              <a:t>Staphylococcus </a:t>
            </a:r>
            <a:r>
              <a:rPr lang="en-US" b="1" dirty="0" err="1" smtClean="0"/>
              <a:t>aureus</a:t>
            </a:r>
            <a:r>
              <a:rPr lang="en-US" b="1" dirty="0" smtClean="0"/>
              <a:t> - most common cause (90% of cases)</a:t>
            </a:r>
          </a:p>
          <a:p>
            <a:r>
              <a:rPr lang="en-US" b="1" dirty="0" smtClean="0"/>
              <a:t>N </a:t>
            </a:r>
            <a:r>
              <a:rPr lang="en-US" b="1" dirty="0" err="1" smtClean="0"/>
              <a:t>gonorrhoeae</a:t>
            </a:r>
            <a:r>
              <a:rPr lang="en-US" b="1" dirty="0" smtClean="0"/>
              <a:t> - sexually active young adults</a:t>
            </a:r>
          </a:p>
          <a:p>
            <a:r>
              <a:rPr lang="it-IT" b="1" dirty="0" smtClean="0"/>
              <a:t>Salmonella </a:t>
            </a:r>
            <a:r>
              <a:rPr lang="it-IT" b="1" dirty="0" smtClean="0"/>
              <a:t>. - sickle cell disease</a:t>
            </a:r>
          </a:p>
          <a:p>
            <a:r>
              <a:rPr lang="en-US" b="1" dirty="0" smtClean="0"/>
              <a:t>Pseudomonas </a:t>
            </a:r>
            <a:r>
              <a:rPr lang="en-US" b="1" dirty="0" smtClean="0"/>
              <a:t>- diabetics or IV drug abusers</a:t>
            </a:r>
          </a:p>
          <a:p>
            <a:r>
              <a:rPr lang="en-US" b="1" dirty="0" err="1" smtClean="0"/>
              <a:t>Pasteurella</a:t>
            </a:r>
            <a:r>
              <a:rPr lang="en-US" b="1" dirty="0" smtClean="0"/>
              <a:t> </a:t>
            </a:r>
            <a:r>
              <a:rPr lang="en-US" b="1" dirty="0" smtClean="0"/>
              <a:t>- associated with cat or dog bite/scratches</a:t>
            </a:r>
          </a:p>
          <a:p>
            <a:r>
              <a:rPr lang="en-US" b="1" dirty="0" smtClean="0"/>
              <a:t>Mycobacterium </a:t>
            </a:r>
            <a:r>
              <a:rPr lang="en-US" b="1" dirty="0" smtClean="0"/>
              <a:t>tuberculosis - usually involves vertebrae (</a:t>
            </a:r>
            <a:r>
              <a:rPr lang="en-US" b="1" dirty="0" err="1" smtClean="0"/>
              <a:t>Pott</a:t>
            </a:r>
            <a:r>
              <a:rPr lang="en-US" b="1" dirty="0" smtClean="0"/>
              <a:t> disease</a:t>
            </a:r>
            <a:r>
              <a:rPr lang="en-US" b="1" dirty="0" smtClean="0"/>
              <a:t>).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Bone pain with systemic signs of infection (e.g., fever and </a:t>
            </a:r>
            <a:r>
              <a:rPr lang="en-US" sz="2400" dirty="0" err="1" smtClean="0"/>
              <a:t>leukocytosis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r>
              <a:rPr lang="en-US" sz="2400" dirty="0" err="1" smtClean="0"/>
              <a:t>Lytic</a:t>
            </a:r>
            <a:r>
              <a:rPr lang="en-US" sz="2400" dirty="0" smtClean="0"/>
              <a:t> </a:t>
            </a:r>
            <a:r>
              <a:rPr lang="en-US" sz="2400" dirty="0" smtClean="0"/>
              <a:t>focus (abscess) surrounded by sclerosis of bone on x-ray; </a:t>
            </a:r>
            <a:r>
              <a:rPr lang="en-US" sz="2400" dirty="0" err="1" smtClean="0"/>
              <a:t>lytic</a:t>
            </a:r>
            <a:r>
              <a:rPr lang="en-US" sz="2400" dirty="0" smtClean="0"/>
              <a:t> focus </a:t>
            </a:r>
            <a:r>
              <a:rPr lang="en-US" sz="2400" dirty="0" smtClean="0"/>
              <a:t>is called </a:t>
            </a:r>
            <a:r>
              <a:rPr lang="en-US" sz="2400" dirty="0" err="1" smtClean="0"/>
              <a:t>sequestrum</a:t>
            </a:r>
            <a:r>
              <a:rPr lang="en-US" sz="2400" dirty="0" smtClean="0"/>
              <a:t>, and sclerosis is called </a:t>
            </a:r>
            <a:r>
              <a:rPr lang="en-US" sz="2400" dirty="0" err="1" smtClean="0"/>
              <a:t>involucrum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Diagnosis </a:t>
            </a:r>
            <a:r>
              <a:rPr lang="en-US" sz="2400" dirty="0" smtClean="0"/>
              <a:t>is made by blood culture.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AVASCULAR (ASEPTIC) NECROSIS</a:t>
            </a:r>
          </a:p>
          <a:p>
            <a:r>
              <a:rPr lang="en-US" sz="2400" dirty="0" smtClean="0"/>
              <a:t>Ischemic </a:t>
            </a:r>
            <a:r>
              <a:rPr lang="en-US" sz="2400" dirty="0" smtClean="0"/>
              <a:t>necrosis of bone and bone </a:t>
            </a:r>
            <a:r>
              <a:rPr lang="en-US" sz="2400" dirty="0" smtClean="0"/>
              <a:t>marrow.</a:t>
            </a:r>
            <a:endParaRPr lang="en-US" sz="2400" dirty="0" smtClean="0"/>
          </a:p>
          <a:p>
            <a:r>
              <a:rPr lang="en-US" sz="2400" dirty="0" smtClean="0"/>
              <a:t>Causes </a:t>
            </a:r>
            <a:r>
              <a:rPr lang="en-US" sz="2400" dirty="0" smtClean="0"/>
              <a:t>include trauma or fracture (most common), steroids, sickle cell </a:t>
            </a:r>
            <a:r>
              <a:rPr lang="en-US" sz="2400" dirty="0" smtClean="0"/>
              <a:t>anemia and caisson </a:t>
            </a:r>
            <a:r>
              <a:rPr lang="en-US" sz="2400" dirty="0" smtClean="0"/>
              <a:t>disease.</a:t>
            </a:r>
          </a:p>
          <a:p>
            <a:r>
              <a:rPr lang="en-US" sz="2400" dirty="0" smtClean="0"/>
              <a:t>Osteoarthritis </a:t>
            </a:r>
            <a:r>
              <a:rPr lang="en-US" sz="2400" dirty="0" smtClean="0"/>
              <a:t>and fracture are major complications.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05600" cy="11430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BONE TUMORS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OSTEOMA</a:t>
            </a:r>
          </a:p>
          <a:p>
            <a:r>
              <a:rPr lang="en-US" sz="2400" dirty="0" smtClean="0"/>
              <a:t>Benign </a:t>
            </a:r>
            <a:r>
              <a:rPr lang="en-US" sz="2400" dirty="0" smtClean="0"/>
              <a:t>tumor of </a:t>
            </a:r>
            <a:r>
              <a:rPr lang="en-US" sz="2400" dirty="0" smtClean="0"/>
              <a:t>bone.</a:t>
            </a:r>
            <a:endParaRPr lang="en-US" sz="2400" dirty="0" smtClean="0"/>
          </a:p>
          <a:p>
            <a:r>
              <a:rPr lang="en-US" sz="2400" dirty="0" smtClean="0"/>
              <a:t>Most </a:t>
            </a:r>
            <a:r>
              <a:rPr lang="en-US" sz="2400" dirty="0" smtClean="0"/>
              <a:t>commonly arises on the surface of facial </a:t>
            </a:r>
            <a:r>
              <a:rPr lang="en-US" sz="2400" dirty="0" smtClean="0"/>
              <a:t>bones.</a:t>
            </a:r>
            <a:endParaRPr lang="en-US" sz="2400" dirty="0" smtClean="0"/>
          </a:p>
          <a:p>
            <a:r>
              <a:rPr lang="en-US" sz="2400" dirty="0" smtClean="0"/>
              <a:t>Associated </a:t>
            </a:r>
            <a:r>
              <a:rPr lang="en-US" sz="2400" dirty="0" smtClean="0"/>
              <a:t>with </a:t>
            </a:r>
            <a:r>
              <a:rPr lang="en-US" sz="2400" dirty="0" smtClean="0"/>
              <a:t>Gardner syndrome.</a:t>
            </a:r>
          </a:p>
          <a:p>
            <a:r>
              <a:rPr lang="en-US" sz="2800" b="1" dirty="0" smtClean="0"/>
              <a:t>OSTEOID </a:t>
            </a:r>
            <a:r>
              <a:rPr lang="en-US" sz="2800" b="1" dirty="0" smtClean="0"/>
              <a:t>OSTEOMA</a:t>
            </a:r>
          </a:p>
          <a:p>
            <a:r>
              <a:rPr lang="en-US" sz="2400" dirty="0" smtClean="0"/>
              <a:t>Benign </a:t>
            </a:r>
            <a:r>
              <a:rPr lang="en-US" sz="2400" dirty="0" smtClean="0"/>
              <a:t>tumor of </a:t>
            </a:r>
            <a:r>
              <a:rPr lang="en-US" sz="2400" dirty="0" err="1" smtClean="0"/>
              <a:t>osteoblasts</a:t>
            </a:r>
            <a:r>
              <a:rPr lang="en-US" sz="2400" dirty="0" smtClean="0"/>
              <a:t> (that produce </a:t>
            </a:r>
            <a:r>
              <a:rPr lang="en-US" sz="2400" dirty="0" err="1" smtClean="0"/>
              <a:t>osteoid</a:t>
            </a:r>
            <a:r>
              <a:rPr lang="en-US" sz="2400" dirty="0" smtClean="0"/>
              <a:t>) surrounded by a rim of </a:t>
            </a:r>
            <a:r>
              <a:rPr lang="en-US" sz="2400" dirty="0" smtClean="0"/>
              <a:t>reactive bone.</a:t>
            </a:r>
          </a:p>
          <a:p>
            <a:r>
              <a:rPr lang="en-US" sz="2400" dirty="0" smtClean="0"/>
              <a:t>Occurs in young adults &lt; 25 years of age (more common in </a:t>
            </a:r>
            <a:r>
              <a:rPr lang="en-US" sz="2400" dirty="0" smtClean="0"/>
              <a:t>males),arises </a:t>
            </a:r>
            <a:r>
              <a:rPr lang="en-US" sz="2400" dirty="0" smtClean="0"/>
              <a:t>in cortex of long </a:t>
            </a:r>
            <a:r>
              <a:rPr lang="en-US" sz="2400" dirty="0" smtClean="0"/>
              <a:t>bones.</a:t>
            </a:r>
          </a:p>
          <a:p>
            <a:r>
              <a:rPr lang="en-US" sz="2400" dirty="0" err="1" smtClean="0"/>
              <a:t>Osteoblastoma</a:t>
            </a:r>
            <a:r>
              <a:rPr lang="en-US" sz="2400" dirty="0" smtClean="0"/>
              <a:t> is similar to </a:t>
            </a:r>
            <a:r>
              <a:rPr lang="en-US" sz="2400" dirty="0" err="1" smtClean="0"/>
              <a:t>osteoid</a:t>
            </a:r>
            <a:r>
              <a:rPr lang="en-US" sz="2400" dirty="0" smtClean="0"/>
              <a:t> </a:t>
            </a:r>
            <a:r>
              <a:rPr lang="en-US" sz="2400" dirty="0" err="1" smtClean="0"/>
              <a:t>osteoma</a:t>
            </a:r>
            <a:r>
              <a:rPr lang="en-US" sz="2400" dirty="0" smtClean="0"/>
              <a:t> but is larger ( &gt; 2 cm), arises </a:t>
            </a:r>
            <a:r>
              <a:rPr lang="en-US" sz="2400" dirty="0" smtClean="0"/>
              <a:t>in vertebrae</a:t>
            </a:r>
            <a:r>
              <a:rPr lang="en-US" sz="2400" dirty="0" smtClean="0"/>
              <a:t>, and presents as bone pain that does not respond to aspirin.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OSTEOCHONDROMA</a:t>
            </a:r>
          </a:p>
          <a:p>
            <a:r>
              <a:rPr lang="en-US" sz="2600" dirty="0" smtClean="0"/>
              <a:t>Tumor </a:t>
            </a:r>
            <a:r>
              <a:rPr lang="en-US" sz="2600" dirty="0" smtClean="0"/>
              <a:t>of bone with an overlying cartilage cap </a:t>
            </a:r>
            <a:r>
              <a:rPr lang="en-US" sz="2600" dirty="0" smtClean="0"/>
              <a:t>most </a:t>
            </a:r>
            <a:r>
              <a:rPr lang="en-US" sz="2600" dirty="0" smtClean="0"/>
              <a:t>common </a:t>
            </a:r>
            <a:r>
              <a:rPr lang="en-US" sz="2600" dirty="0" smtClean="0"/>
              <a:t>benign tumor </a:t>
            </a:r>
            <a:r>
              <a:rPr lang="en-US" sz="2600" dirty="0" smtClean="0"/>
              <a:t>of </a:t>
            </a:r>
            <a:r>
              <a:rPr lang="en-US" sz="2600" dirty="0" smtClean="0"/>
              <a:t>bone.</a:t>
            </a:r>
            <a:endParaRPr lang="en-US" sz="2600" dirty="0" smtClean="0"/>
          </a:p>
          <a:p>
            <a:r>
              <a:rPr lang="en-US" sz="2600" dirty="0" smtClean="0"/>
              <a:t>Arises </a:t>
            </a:r>
            <a:r>
              <a:rPr lang="en-US" sz="2600" dirty="0" smtClean="0"/>
              <a:t>from a lateral projection of the growth plate (</a:t>
            </a:r>
            <a:r>
              <a:rPr lang="en-US" sz="2600" dirty="0" err="1" smtClean="0"/>
              <a:t>metaphysis</a:t>
            </a:r>
            <a:r>
              <a:rPr lang="en-US" sz="2600" dirty="0" smtClean="0"/>
              <a:t>); bone is </a:t>
            </a:r>
            <a:r>
              <a:rPr lang="en-US" sz="2600" dirty="0" smtClean="0"/>
              <a:t>continuous with </a:t>
            </a:r>
            <a:r>
              <a:rPr lang="en-US" sz="2600" dirty="0" smtClean="0"/>
              <a:t>the marrow space.</a:t>
            </a:r>
          </a:p>
          <a:p>
            <a:r>
              <a:rPr lang="en-US" sz="2600" dirty="0" smtClean="0"/>
              <a:t>Overlying </a:t>
            </a:r>
            <a:r>
              <a:rPr lang="en-US" sz="2600" dirty="0" smtClean="0"/>
              <a:t>cartilage can transform (rarely) to </a:t>
            </a:r>
            <a:r>
              <a:rPr lang="en-US" sz="2600" dirty="0" err="1" smtClean="0"/>
              <a:t>chondrosarcoma</a:t>
            </a:r>
            <a:r>
              <a:rPr lang="en-US" sz="2600" dirty="0" smtClean="0"/>
              <a:t>.</a:t>
            </a:r>
          </a:p>
          <a:p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/>
          </a:bodyPr>
          <a:lstStyle/>
          <a:p>
            <a:r>
              <a:rPr lang="en-US" sz="3300" b="1" dirty="0" smtClean="0"/>
              <a:t>OSTEOSARCOMA</a:t>
            </a:r>
          </a:p>
          <a:p>
            <a:r>
              <a:rPr lang="en-US" sz="2600" dirty="0" smtClean="0"/>
              <a:t>Malignant </a:t>
            </a:r>
            <a:r>
              <a:rPr lang="en-US" sz="2600" dirty="0" smtClean="0"/>
              <a:t>proliferation of </a:t>
            </a:r>
            <a:r>
              <a:rPr lang="en-US" sz="2600" dirty="0" err="1" smtClean="0"/>
              <a:t>osteoblasts</a:t>
            </a:r>
            <a:r>
              <a:rPr lang="en-US" sz="2600" dirty="0" smtClean="0"/>
              <a:t>.</a:t>
            </a:r>
            <a:endParaRPr lang="en-US" sz="2600" dirty="0" smtClean="0"/>
          </a:p>
          <a:p>
            <a:r>
              <a:rPr lang="en-US" sz="2600" dirty="0" smtClean="0"/>
              <a:t>Peak </a:t>
            </a:r>
            <a:r>
              <a:rPr lang="en-US" sz="2600" dirty="0" smtClean="0"/>
              <a:t>incidence is seen in teenagers; less commonly seen in the </a:t>
            </a:r>
            <a:r>
              <a:rPr lang="en-US" sz="2600" dirty="0" smtClean="0"/>
              <a:t>elderly.</a:t>
            </a:r>
            <a:endParaRPr lang="en-US" sz="2600" dirty="0" smtClean="0"/>
          </a:p>
          <a:p>
            <a:r>
              <a:rPr lang="en-US" sz="2600" dirty="0" smtClean="0"/>
              <a:t>Risk </a:t>
            </a:r>
            <a:r>
              <a:rPr lang="en-US" sz="2600" dirty="0" smtClean="0"/>
              <a:t>factors include familial retinoblastoma, Paget disease, and </a:t>
            </a:r>
            <a:r>
              <a:rPr lang="en-US" sz="2600" dirty="0" smtClean="0"/>
              <a:t>radiation exposure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Arises </a:t>
            </a:r>
            <a:r>
              <a:rPr lang="en-US" sz="2600" dirty="0" smtClean="0"/>
              <a:t>in the </a:t>
            </a:r>
            <a:r>
              <a:rPr lang="en-US" sz="2600" dirty="0" err="1" smtClean="0"/>
              <a:t>metaphysis</a:t>
            </a:r>
            <a:r>
              <a:rPr lang="en-US" sz="2600" dirty="0" smtClean="0"/>
              <a:t> of long bones, usually the distal femur or proximal </a:t>
            </a:r>
            <a:r>
              <a:rPr lang="en-US" sz="2600" dirty="0" smtClean="0"/>
              <a:t>tibia (region </a:t>
            </a:r>
            <a:r>
              <a:rPr lang="en-US" sz="2600" dirty="0" smtClean="0"/>
              <a:t>of the knee</a:t>
            </a:r>
            <a:r>
              <a:rPr lang="en-US" sz="2600" dirty="0" smtClean="0"/>
              <a:t>).</a:t>
            </a:r>
            <a:endParaRPr lang="en-US" sz="2600" dirty="0" smtClean="0"/>
          </a:p>
          <a:p>
            <a:r>
              <a:rPr lang="en-US" sz="2600" dirty="0" smtClean="0"/>
              <a:t>Presents </a:t>
            </a:r>
            <a:r>
              <a:rPr lang="en-US" sz="2600" dirty="0" smtClean="0"/>
              <a:t>as a pathologic fracture or bone pain with </a:t>
            </a:r>
            <a:r>
              <a:rPr lang="en-US" sz="2600" dirty="0" smtClean="0"/>
              <a:t>swelling.</a:t>
            </a:r>
            <a:endParaRPr lang="en-US" sz="2600" dirty="0" smtClean="0"/>
          </a:p>
          <a:p>
            <a:r>
              <a:rPr lang="en-US" sz="2600" dirty="0" smtClean="0"/>
              <a:t>Imaging </a:t>
            </a:r>
            <a:r>
              <a:rPr lang="en-US" sz="2600" dirty="0" smtClean="0"/>
              <a:t>reveals a destructive mass with a 'sunburst' appearance and lifting of </a:t>
            </a:r>
            <a:r>
              <a:rPr lang="en-US" sz="2600" dirty="0" smtClean="0"/>
              <a:t>the </a:t>
            </a:r>
            <a:r>
              <a:rPr lang="en-US" sz="2600" dirty="0" err="1" smtClean="0"/>
              <a:t>periosteum</a:t>
            </a:r>
            <a:r>
              <a:rPr lang="en-US" sz="2600" dirty="0" smtClean="0"/>
              <a:t> </a:t>
            </a:r>
            <a:r>
              <a:rPr lang="en-US" sz="2600" dirty="0" smtClean="0"/>
              <a:t>(Codman </a:t>
            </a:r>
            <a:r>
              <a:rPr lang="en-US" sz="2600" dirty="0" smtClean="0"/>
              <a:t>triangle).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GIANT CELL TUMOR</a:t>
            </a:r>
          </a:p>
          <a:p>
            <a:r>
              <a:rPr lang="en-US" sz="2600" dirty="0" smtClean="0"/>
              <a:t>Tumor </a:t>
            </a:r>
            <a:r>
              <a:rPr lang="en-US" sz="2600" dirty="0" smtClean="0"/>
              <a:t>comprised of multinucleated giant cells and </a:t>
            </a:r>
            <a:r>
              <a:rPr lang="en-US" sz="2600" dirty="0" err="1" smtClean="0"/>
              <a:t>stromal</a:t>
            </a:r>
            <a:r>
              <a:rPr lang="en-US" sz="2600" dirty="0" smtClean="0"/>
              <a:t> </a:t>
            </a:r>
            <a:r>
              <a:rPr lang="en-US" sz="2600" dirty="0" smtClean="0"/>
              <a:t>cells.</a:t>
            </a:r>
            <a:endParaRPr lang="en-US" sz="2600" dirty="0" smtClean="0"/>
          </a:p>
          <a:p>
            <a:r>
              <a:rPr lang="en-US" sz="2600" dirty="0" smtClean="0"/>
              <a:t>Occurs </a:t>
            </a:r>
            <a:r>
              <a:rPr lang="en-US" sz="2600" dirty="0" smtClean="0"/>
              <a:t>in young </a:t>
            </a:r>
            <a:r>
              <a:rPr lang="en-US" sz="2600" dirty="0" smtClean="0"/>
              <a:t>adults.</a:t>
            </a:r>
            <a:endParaRPr lang="en-US" sz="2600" dirty="0" smtClean="0"/>
          </a:p>
          <a:p>
            <a:r>
              <a:rPr lang="en-US" sz="2600" dirty="0" smtClean="0"/>
              <a:t>Arises </a:t>
            </a:r>
            <a:r>
              <a:rPr lang="en-US" sz="2600" dirty="0" smtClean="0"/>
              <a:t>in the epiphysis </a:t>
            </a:r>
            <a:r>
              <a:rPr lang="en-US" sz="2600" dirty="0" smtClean="0"/>
              <a:t>of long </a:t>
            </a:r>
            <a:r>
              <a:rPr lang="en-US" sz="2600" dirty="0" smtClean="0"/>
              <a:t>bones, usually the distal femur or proximal </a:t>
            </a:r>
            <a:r>
              <a:rPr lang="en-US" sz="2600" dirty="0" smtClean="0"/>
              <a:t>tibia (region </a:t>
            </a:r>
            <a:r>
              <a:rPr lang="en-US" sz="2600" dirty="0" smtClean="0"/>
              <a:t>of the knee</a:t>
            </a:r>
            <a:r>
              <a:rPr lang="en-US" sz="2600" dirty="0" smtClean="0"/>
              <a:t>).</a:t>
            </a:r>
            <a:endParaRPr lang="en-US" sz="2600" dirty="0" smtClean="0"/>
          </a:p>
          <a:p>
            <a:r>
              <a:rPr lang="en-US" sz="2600" dirty="0" smtClean="0"/>
              <a:t>'Soap-bubble</a:t>
            </a:r>
            <a:r>
              <a:rPr lang="en-US" sz="2600" dirty="0" smtClean="0"/>
              <a:t>' appearance on </a:t>
            </a:r>
            <a:r>
              <a:rPr lang="en-US" sz="2600" dirty="0" smtClean="0"/>
              <a:t>x-ray.</a:t>
            </a:r>
            <a:endParaRPr lang="en-US" sz="2600" dirty="0" smtClean="0"/>
          </a:p>
          <a:p>
            <a:r>
              <a:rPr lang="en-US" sz="2600" dirty="0" smtClean="0"/>
              <a:t>Locally </a:t>
            </a:r>
            <a:r>
              <a:rPr lang="en-US" sz="2600" dirty="0" smtClean="0"/>
              <a:t>aggressive tumor; may </a:t>
            </a:r>
            <a:r>
              <a:rPr lang="en-US" sz="2600" dirty="0" smtClean="0"/>
              <a:t>recur.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EWING SARCOMA</a:t>
            </a:r>
          </a:p>
          <a:p>
            <a:r>
              <a:rPr lang="en-US" dirty="0" smtClean="0"/>
              <a:t>Malignant </a:t>
            </a:r>
            <a:r>
              <a:rPr lang="en-US" dirty="0" smtClean="0"/>
              <a:t>proliferation of poorly-differentiated cells derived from </a:t>
            </a:r>
            <a:r>
              <a:rPr lang="en-US" dirty="0" err="1" smtClean="0"/>
              <a:t>neuroectoderm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Arises </a:t>
            </a:r>
            <a:r>
              <a:rPr lang="en-US" dirty="0" smtClean="0"/>
              <a:t>in the </a:t>
            </a:r>
            <a:r>
              <a:rPr lang="en-US" dirty="0" err="1" smtClean="0"/>
              <a:t>diaphysis</a:t>
            </a:r>
            <a:r>
              <a:rPr lang="en-US" dirty="0" smtClean="0"/>
              <a:t> </a:t>
            </a:r>
            <a:r>
              <a:rPr lang="en-US" dirty="0" err="1" smtClean="0"/>
              <a:t>oflong</a:t>
            </a:r>
            <a:r>
              <a:rPr lang="en-US" dirty="0" smtClean="0"/>
              <a:t> bones; usually in male children(&lt; 15 years of age</a:t>
            </a:r>
            <a:r>
              <a:rPr lang="en-US" dirty="0" smtClean="0"/>
              <a:t>).</a:t>
            </a:r>
            <a:endParaRPr lang="en-US" dirty="0" smtClean="0"/>
          </a:p>
          <a:p>
            <a:r>
              <a:rPr lang="en-US" dirty="0" smtClean="0"/>
              <a:t>'Onion-skin</a:t>
            </a:r>
            <a:r>
              <a:rPr lang="en-US" dirty="0" smtClean="0"/>
              <a:t>' appearance on </a:t>
            </a:r>
            <a:r>
              <a:rPr lang="en-US" dirty="0" smtClean="0"/>
              <a:t>x-ray.</a:t>
            </a:r>
            <a:endParaRPr lang="en-US" dirty="0" smtClean="0"/>
          </a:p>
          <a:p>
            <a:r>
              <a:rPr lang="en-US" dirty="0" smtClean="0"/>
              <a:t>Biopsy </a:t>
            </a:r>
            <a:r>
              <a:rPr lang="en-US" dirty="0" smtClean="0"/>
              <a:t>reveals small, round blue cells that resemble </a:t>
            </a:r>
            <a:r>
              <a:rPr lang="en-US" dirty="0" smtClean="0"/>
              <a:t>lymphocytes.</a:t>
            </a:r>
            <a:endParaRPr lang="en-US" dirty="0" smtClean="0"/>
          </a:p>
          <a:p>
            <a:r>
              <a:rPr lang="en-US" dirty="0" smtClean="0"/>
              <a:t>Can </a:t>
            </a:r>
            <a:r>
              <a:rPr lang="en-US" dirty="0" smtClean="0"/>
              <a:t>be confused with lymphoma or chronic </a:t>
            </a:r>
            <a:r>
              <a:rPr lang="en-US" dirty="0" err="1" smtClean="0"/>
              <a:t>osteomyelitis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Often </a:t>
            </a:r>
            <a:r>
              <a:rPr lang="en-US" dirty="0" smtClean="0"/>
              <a:t>presents with metastasis; responsive </a:t>
            </a:r>
            <a:r>
              <a:rPr lang="en-US" dirty="0" smtClean="0"/>
              <a:t>to chemotherapy.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sz="3000" b="1" dirty="0" smtClean="0"/>
              <a:t>CHONDROMA</a:t>
            </a:r>
          </a:p>
          <a:p>
            <a:r>
              <a:rPr lang="en-US" sz="2800" dirty="0" smtClean="0"/>
              <a:t>Benign </a:t>
            </a:r>
            <a:r>
              <a:rPr lang="en-US" sz="2800" dirty="0" smtClean="0"/>
              <a:t>tumor of </a:t>
            </a:r>
            <a:r>
              <a:rPr lang="en-US" sz="2800" dirty="0" smtClean="0"/>
              <a:t>cartilage.</a:t>
            </a:r>
            <a:endParaRPr lang="en-US" sz="2800" dirty="0" smtClean="0"/>
          </a:p>
          <a:p>
            <a:r>
              <a:rPr lang="en-US" sz="2800" dirty="0" smtClean="0"/>
              <a:t>Usually </a:t>
            </a:r>
            <a:r>
              <a:rPr lang="en-US" sz="2800" dirty="0" smtClean="0"/>
              <a:t>arises in the medulla of small bones of the hands and </a:t>
            </a:r>
            <a:r>
              <a:rPr lang="en-US" sz="2800" dirty="0" smtClean="0"/>
              <a:t>feet.</a:t>
            </a:r>
            <a:endParaRPr lang="en-US" sz="2800" dirty="0" smtClean="0"/>
          </a:p>
          <a:p>
            <a:r>
              <a:rPr lang="en-US" sz="3000" b="1" dirty="0" smtClean="0"/>
              <a:t>CHONDROSARCOMA</a:t>
            </a:r>
            <a:endParaRPr lang="en-US" sz="3000" b="1" dirty="0" smtClean="0"/>
          </a:p>
          <a:p>
            <a:r>
              <a:rPr lang="en-US" sz="2800" dirty="0" smtClean="0"/>
              <a:t>Malignant </a:t>
            </a:r>
            <a:r>
              <a:rPr lang="en-US" sz="2800" dirty="0" smtClean="0"/>
              <a:t>cartilage-forming </a:t>
            </a:r>
            <a:r>
              <a:rPr lang="en-US" sz="2800" dirty="0" smtClean="0"/>
              <a:t>tumor.</a:t>
            </a:r>
            <a:endParaRPr lang="en-US" sz="2800" dirty="0" smtClean="0"/>
          </a:p>
          <a:p>
            <a:r>
              <a:rPr lang="en-US" sz="2800" dirty="0" smtClean="0"/>
              <a:t>Arises </a:t>
            </a:r>
            <a:r>
              <a:rPr lang="en-US" sz="2800" dirty="0" smtClean="0"/>
              <a:t>in medulla of the pelvis or central </a:t>
            </a:r>
            <a:r>
              <a:rPr lang="en-US" sz="2800" dirty="0" smtClean="0"/>
              <a:t>skeleton.</a:t>
            </a:r>
            <a:endParaRPr lang="en-US" sz="2800" dirty="0" smtClean="0"/>
          </a:p>
          <a:p>
            <a:r>
              <a:rPr lang="en-US" sz="3000" b="1" dirty="0" smtClean="0"/>
              <a:t>METASTATIC </a:t>
            </a:r>
            <a:r>
              <a:rPr lang="en-US" sz="3000" b="1" dirty="0" smtClean="0"/>
              <a:t>TUMORS</a:t>
            </a:r>
          </a:p>
          <a:p>
            <a:r>
              <a:rPr lang="en-US" sz="2600" dirty="0" smtClean="0"/>
              <a:t>More </a:t>
            </a:r>
            <a:r>
              <a:rPr lang="en-US" sz="2600" dirty="0" smtClean="0"/>
              <a:t>common than primary </a:t>
            </a:r>
            <a:r>
              <a:rPr lang="en-US" sz="2600" dirty="0" smtClean="0"/>
              <a:t>tumors.</a:t>
            </a:r>
            <a:endParaRPr lang="en-US" sz="2600" dirty="0" smtClean="0"/>
          </a:p>
          <a:p>
            <a:r>
              <a:rPr lang="en-US" sz="2600" dirty="0" smtClean="0"/>
              <a:t>Usually </a:t>
            </a:r>
            <a:r>
              <a:rPr lang="en-US" sz="2600" dirty="0" smtClean="0"/>
              <a:t>result in </a:t>
            </a:r>
            <a:r>
              <a:rPr lang="en-US" sz="2600" dirty="0" err="1" smtClean="0"/>
              <a:t>osteolytic</a:t>
            </a:r>
            <a:r>
              <a:rPr lang="en-US" sz="2600" dirty="0" smtClean="0"/>
              <a:t> (punched-out) </a:t>
            </a:r>
            <a:r>
              <a:rPr lang="en-US" sz="2600" dirty="0" smtClean="0"/>
              <a:t>lesions.</a:t>
            </a:r>
            <a:endParaRPr lang="en-US" sz="2600" dirty="0" smtClean="0"/>
          </a:p>
          <a:p>
            <a:r>
              <a:rPr lang="en-US" sz="2600" b="1" dirty="0" smtClean="0"/>
              <a:t>Prostatic </a:t>
            </a:r>
            <a:r>
              <a:rPr lang="en-US" sz="2600" b="1" dirty="0" smtClean="0"/>
              <a:t>carcinoma classically produces </a:t>
            </a:r>
            <a:r>
              <a:rPr lang="en-US" sz="2600" b="1" dirty="0" err="1" smtClean="0"/>
              <a:t>osteoblastic</a:t>
            </a:r>
            <a:r>
              <a:rPr lang="en-US" sz="2600" b="1" dirty="0" smtClean="0"/>
              <a:t> lesions.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JOINT</a:t>
            </a:r>
            <a:endParaRPr lang="en-US" sz="3000" b="1" dirty="0" smtClean="0"/>
          </a:p>
          <a:p>
            <a:r>
              <a:rPr lang="en-US" sz="2400" dirty="0" smtClean="0"/>
              <a:t>Connection </a:t>
            </a:r>
            <a:r>
              <a:rPr lang="en-US" sz="2400" dirty="0" smtClean="0"/>
              <a:t>between two </a:t>
            </a:r>
            <a:r>
              <a:rPr lang="en-US" sz="2400" dirty="0" smtClean="0"/>
              <a:t>bones.</a:t>
            </a:r>
            <a:endParaRPr lang="en-US" sz="2400" dirty="0" smtClean="0"/>
          </a:p>
          <a:p>
            <a:r>
              <a:rPr lang="en-US" sz="2400" dirty="0" smtClean="0"/>
              <a:t>Solid </a:t>
            </a:r>
            <a:r>
              <a:rPr lang="en-US" sz="2400" dirty="0" smtClean="0"/>
              <a:t>joints are tightly connected to provide structural strength (e.g., cranial sutures).</a:t>
            </a:r>
          </a:p>
          <a:p>
            <a:r>
              <a:rPr lang="en-US" sz="2400" dirty="0" smtClean="0"/>
              <a:t>Synovial </a:t>
            </a:r>
            <a:r>
              <a:rPr lang="en-US" sz="2400" dirty="0" smtClean="0"/>
              <a:t>joints have a joint space to allow for motion.</a:t>
            </a:r>
          </a:p>
          <a:p>
            <a:r>
              <a:rPr lang="en-US" sz="2400" dirty="0" err="1" smtClean="0"/>
              <a:t>Articular</a:t>
            </a:r>
            <a:r>
              <a:rPr lang="en-US" sz="2400" dirty="0" smtClean="0"/>
              <a:t> </a:t>
            </a:r>
            <a:r>
              <a:rPr lang="en-US" sz="2400" dirty="0" smtClean="0"/>
              <a:t>surface of adjoining bones is made of hyaline cartilage (type </a:t>
            </a:r>
            <a:r>
              <a:rPr lang="en-US" sz="2400" dirty="0" smtClean="0"/>
              <a:t>II collagen</a:t>
            </a:r>
            <a:r>
              <a:rPr lang="en-US" sz="2400" dirty="0" smtClean="0"/>
              <a:t>) that is surrounded by a joint capsule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Synovium</a:t>
            </a:r>
            <a:r>
              <a:rPr lang="en-US" sz="2400" dirty="0" smtClean="0"/>
              <a:t> lining the joint capsule secretes fluid rich in </a:t>
            </a:r>
            <a:r>
              <a:rPr lang="en-US" sz="2400" dirty="0" err="1" smtClean="0"/>
              <a:t>hyaluronic</a:t>
            </a:r>
            <a:r>
              <a:rPr lang="en-US" sz="2400" dirty="0" smtClean="0"/>
              <a:t> acid </a:t>
            </a:r>
            <a:r>
              <a:rPr lang="en-US" sz="2400" dirty="0" smtClean="0"/>
              <a:t>to lubricate </a:t>
            </a:r>
            <a:r>
              <a:rPr lang="en-US" sz="2400" dirty="0" smtClean="0"/>
              <a:t>the joint and facilitate smooth motion.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DEGENERATIVE </a:t>
            </a:r>
            <a:r>
              <a:rPr lang="en-US" sz="2800" b="1" dirty="0" smtClean="0"/>
              <a:t>JOINT </a:t>
            </a:r>
            <a:r>
              <a:rPr lang="en-US" sz="2800" b="1" dirty="0" smtClean="0"/>
              <a:t>DISEASE (OSTEOARTHRITIS</a:t>
            </a:r>
            <a:r>
              <a:rPr lang="en-US" sz="2800" b="1" dirty="0" smtClean="0"/>
              <a:t>)</a:t>
            </a:r>
          </a:p>
          <a:p>
            <a:r>
              <a:rPr lang="en-US" sz="2400" dirty="0" smtClean="0"/>
              <a:t>Progressive degeneration of </a:t>
            </a:r>
            <a:r>
              <a:rPr lang="en-US" sz="2400" dirty="0" err="1" smtClean="0"/>
              <a:t>articular</a:t>
            </a:r>
            <a:r>
              <a:rPr lang="en-US" sz="2400" dirty="0" smtClean="0"/>
              <a:t> </a:t>
            </a:r>
            <a:r>
              <a:rPr lang="en-US" sz="2400" dirty="0" err="1" smtClean="0"/>
              <a:t>cartilage,most</a:t>
            </a:r>
            <a:r>
              <a:rPr lang="en-US" sz="2400" dirty="0" smtClean="0"/>
              <a:t> </a:t>
            </a:r>
            <a:r>
              <a:rPr lang="en-US" sz="2400" dirty="0" smtClean="0"/>
              <a:t>common type of </a:t>
            </a:r>
            <a:r>
              <a:rPr lang="en-US" sz="2400" dirty="0" smtClean="0"/>
              <a:t>arthritis.</a:t>
            </a:r>
            <a:endParaRPr lang="en-US" sz="2400" dirty="0" smtClean="0"/>
          </a:p>
          <a:p>
            <a:r>
              <a:rPr lang="en-US" sz="2400" dirty="0" smtClean="0"/>
              <a:t>Major </a:t>
            </a:r>
            <a:r>
              <a:rPr lang="en-US" sz="2400" dirty="0" smtClean="0"/>
              <a:t>risk factor is age (common after 60 </a:t>
            </a:r>
            <a:r>
              <a:rPr lang="en-US" sz="2400" dirty="0" smtClean="0"/>
              <a:t>years),obesity </a:t>
            </a:r>
            <a:r>
              <a:rPr lang="en-US" sz="2400" dirty="0" smtClean="0"/>
              <a:t>and trauma.</a:t>
            </a:r>
          </a:p>
          <a:p>
            <a:r>
              <a:rPr lang="en-US" sz="2400" dirty="0" smtClean="0"/>
              <a:t>Affects </a:t>
            </a:r>
            <a:r>
              <a:rPr lang="en-US" sz="2400" dirty="0" smtClean="0"/>
              <a:t>a limited number of joints (</a:t>
            </a:r>
            <a:r>
              <a:rPr lang="en-US" sz="2400" dirty="0" err="1" smtClean="0"/>
              <a:t>oligoarticular</a:t>
            </a:r>
            <a:r>
              <a:rPr lang="en-US" sz="2400" dirty="0" smtClean="0"/>
              <a:t>),hips</a:t>
            </a:r>
            <a:r>
              <a:rPr lang="en-US" sz="2400" dirty="0" smtClean="0"/>
              <a:t>, lower lumbar spine, </a:t>
            </a:r>
            <a:r>
              <a:rPr lang="en-US" sz="2400" dirty="0" err="1" smtClean="0"/>
              <a:t>knees,and</a:t>
            </a:r>
            <a:r>
              <a:rPr lang="en-US" sz="2400" dirty="0" smtClean="0"/>
              <a:t> </a:t>
            </a:r>
            <a:r>
              <a:rPr lang="en-US" sz="2400" dirty="0" smtClean="0"/>
              <a:t>the distal </a:t>
            </a:r>
            <a:r>
              <a:rPr lang="en-US" sz="2400" dirty="0" err="1" smtClean="0"/>
              <a:t>interphalangeal</a:t>
            </a:r>
            <a:r>
              <a:rPr lang="en-US" sz="2400" dirty="0" smtClean="0"/>
              <a:t> joints (DIP) and proximal </a:t>
            </a:r>
            <a:r>
              <a:rPr lang="en-US" sz="2400" dirty="0" err="1" smtClean="0"/>
              <a:t>interphalangeal</a:t>
            </a:r>
            <a:r>
              <a:rPr lang="en-US" sz="2400" dirty="0" smtClean="0"/>
              <a:t> joints (</a:t>
            </a:r>
            <a:r>
              <a:rPr lang="en-US" sz="2400" dirty="0" smtClean="0"/>
              <a:t>PIP) of </a:t>
            </a:r>
            <a:r>
              <a:rPr lang="en-US" sz="2400" dirty="0" smtClean="0"/>
              <a:t>fingers are common sites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Classic presentation is joint stiffness in the morning that worsens during the day.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RHEUMATOID ARTHRITIS</a:t>
            </a:r>
          </a:p>
          <a:p>
            <a:r>
              <a:rPr lang="en-US" sz="2400" dirty="0" smtClean="0"/>
              <a:t>Chronic</a:t>
            </a:r>
            <a:r>
              <a:rPr lang="en-US" sz="2400" dirty="0" smtClean="0"/>
              <a:t>, systemic autoimmune </a:t>
            </a:r>
            <a:r>
              <a:rPr lang="en-US" sz="2400" dirty="0" smtClean="0"/>
              <a:t>disease.</a:t>
            </a:r>
            <a:endParaRPr lang="en-US" sz="2400" dirty="0" smtClean="0"/>
          </a:p>
          <a:p>
            <a:r>
              <a:rPr lang="en-US" sz="2400" dirty="0" smtClean="0"/>
              <a:t>Classically </a:t>
            </a:r>
            <a:r>
              <a:rPr lang="en-US" sz="2400" dirty="0" smtClean="0"/>
              <a:t>arises in women of late childbearing </a:t>
            </a:r>
            <a:r>
              <a:rPr lang="en-US" sz="2400" dirty="0" smtClean="0"/>
              <a:t>age.</a:t>
            </a:r>
          </a:p>
          <a:p>
            <a:r>
              <a:rPr lang="en-US" sz="2400" dirty="0" smtClean="0"/>
              <a:t>Hallmark is </a:t>
            </a:r>
            <a:r>
              <a:rPr lang="en-US" sz="2400" dirty="0" err="1" smtClean="0"/>
              <a:t>synovitis</a:t>
            </a:r>
            <a:r>
              <a:rPr lang="en-US" sz="2400" dirty="0" smtClean="0"/>
              <a:t> leading to formation of a </a:t>
            </a:r>
            <a:r>
              <a:rPr lang="en-US" sz="2400" dirty="0" err="1" smtClean="0"/>
              <a:t>pannus</a:t>
            </a:r>
            <a:r>
              <a:rPr lang="en-US" sz="2400" dirty="0" smtClean="0"/>
              <a:t> (inflamed </a:t>
            </a:r>
            <a:r>
              <a:rPr lang="en-US" sz="2400" dirty="0" smtClean="0"/>
              <a:t>granulation tissue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Leads </a:t>
            </a:r>
            <a:r>
              <a:rPr lang="en-US" sz="2400" dirty="0" smtClean="0"/>
              <a:t>to destruction of cartilage and </a:t>
            </a:r>
            <a:r>
              <a:rPr lang="en-US" sz="2400" dirty="0" err="1" smtClean="0"/>
              <a:t>ankylosis</a:t>
            </a:r>
            <a:r>
              <a:rPr lang="en-US" sz="2400" dirty="0" smtClean="0"/>
              <a:t> (fusion) of the </a:t>
            </a:r>
            <a:r>
              <a:rPr lang="en-US" sz="2400" dirty="0" smtClean="0"/>
              <a:t>joint.</a:t>
            </a:r>
          </a:p>
          <a:p>
            <a:r>
              <a:rPr lang="en-US" sz="2400" dirty="0" smtClean="0"/>
              <a:t>Arthritis with morning stiffness that improves with activity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Symmetric involvement of PIP joints of the fingers (swan-neck deformity</a:t>
            </a:r>
            <a:r>
              <a:rPr lang="en-US" sz="2400" dirty="0" smtClean="0"/>
              <a:t>),wrists </a:t>
            </a:r>
            <a:r>
              <a:rPr lang="en-US" sz="2400" dirty="0" smtClean="0"/>
              <a:t>(radial deviation), elbows, ankles, and knees is </a:t>
            </a:r>
            <a:r>
              <a:rPr lang="en-US" sz="2400" dirty="0" smtClean="0"/>
              <a:t>characteristic.</a:t>
            </a:r>
            <a:r>
              <a:rPr lang="en-US" sz="2400" dirty="0" smtClean="0"/>
              <a:t> DIP is usually spared (unlike osteoarthritis).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INFECTIOUS ARTHRITIS</a:t>
            </a:r>
          </a:p>
          <a:p>
            <a:r>
              <a:rPr lang="en-US" sz="2400" dirty="0" smtClean="0"/>
              <a:t>Arthritis </a:t>
            </a:r>
            <a:r>
              <a:rPr lang="en-US" sz="2400" dirty="0" smtClean="0"/>
              <a:t>due to an infectious agent, usually </a:t>
            </a:r>
            <a:r>
              <a:rPr lang="en-US" sz="2400" dirty="0" smtClean="0"/>
              <a:t>bacterial.</a:t>
            </a:r>
            <a:endParaRPr lang="en-US" sz="2400" dirty="0" smtClean="0"/>
          </a:p>
          <a:p>
            <a:r>
              <a:rPr lang="en-US" sz="2400" dirty="0" smtClean="0"/>
              <a:t>Causes </a:t>
            </a:r>
            <a:r>
              <a:rPr lang="en-US" sz="2400" dirty="0" smtClean="0"/>
              <a:t>include</a:t>
            </a:r>
          </a:p>
          <a:p>
            <a:r>
              <a:rPr lang="en-US" sz="2400" b="1" i="1" dirty="0" smtClean="0"/>
              <a:t>N </a:t>
            </a:r>
            <a:r>
              <a:rPr lang="en-US" sz="2400" b="1" i="1" dirty="0" err="1" smtClean="0"/>
              <a:t>gonorrhoeae</a:t>
            </a:r>
            <a:r>
              <a:rPr lang="en-US" sz="2400" b="1" i="1" dirty="0" smtClean="0"/>
              <a:t> - young adults; most common </a:t>
            </a:r>
            <a:r>
              <a:rPr lang="en-US" sz="2400" b="1" i="1" dirty="0" smtClean="0"/>
              <a:t>cause.</a:t>
            </a:r>
            <a:endParaRPr lang="en-US" sz="2400" b="1" i="1" dirty="0" smtClean="0"/>
          </a:p>
          <a:p>
            <a:r>
              <a:rPr lang="en-US" sz="2400" b="1" i="1" dirty="0" smtClean="0"/>
              <a:t>S </a:t>
            </a:r>
            <a:r>
              <a:rPr lang="en-US" sz="2400" b="1" i="1" dirty="0" err="1" smtClean="0"/>
              <a:t>aureus</a:t>
            </a:r>
            <a:r>
              <a:rPr lang="en-US" sz="2400" b="1" i="1" dirty="0" smtClean="0"/>
              <a:t> - older children </a:t>
            </a:r>
            <a:r>
              <a:rPr lang="en-US" sz="2400" b="1" i="1" dirty="0" smtClean="0"/>
              <a:t>&amp; adults,2nd </a:t>
            </a:r>
            <a:r>
              <a:rPr lang="en-US" sz="2400" b="1" i="1" dirty="0" smtClean="0"/>
              <a:t>most common </a:t>
            </a:r>
            <a:r>
              <a:rPr lang="en-US" sz="2400" b="1" i="1" dirty="0" smtClean="0"/>
              <a:t>cause.</a:t>
            </a:r>
            <a:endParaRPr lang="en-US" sz="2400" b="1" i="1" dirty="0" smtClean="0"/>
          </a:p>
          <a:p>
            <a:r>
              <a:rPr lang="en-US" sz="2400" dirty="0" smtClean="0"/>
              <a:t>Classically </a:t>
            </a:r>
            <a:r>
              <a:rPr lang="en-US" sz="2400" dirty="0" smtClean="0"/>
              <a:t>involves a single joint, usually the </a:t>
            </a:r>
            <a:r>
              <a:rPr lang="en-US" sz="2400" dirty="0" smtClean="0"/>
              <a:t>knee.</a:t>
            </a:r>
            <a:endParaRPr lang="en-US" sz="2400" dirty="0" smtClean="0"/>
          </a:p>
          <a:p>
            <a:r>
              <a:rPr lang="en-US" sz="2400" dirty="0" smtClean="0"/>
              <a:t>Presents </a:t>
            </a:r>
            <a:r>
              <a:rPr lang="en-US" sz="2400" dirty="0" smtClean="0"/>
              <a:t>as a warm joint with limited range </a:t>
            </a:r>
            <a:r>
              <a:rPr lang="en-US" sz="2400" dirty="0" smtClean="0"/>
              <a:t>of </a:t>
            </a:r>
            <a:r>
              <a:rPr lang="en-US" sz="2400" dirty="0" err="1" smtClean="0"/>
              <a:t>motion,fever</a:t>
            </a:r>
            <a:r>
              <a:rPr lang="en-US" sz="2400" dirty="0" smtClean="0"/>
              <a:t>, increased white </a:t>
            </a:r>
            <a:r>
              <a:rPr lang="en-US" sz="2400" dirty="0" smtClean="0"/>
              <a:t>count and </a:t>
            </a:r>
            <a:r>
              <a:rPr lang="en-US" sz="2400" dirty="0" smtClean="0"/>
              <a:t>elevated ESR are often present.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sz="2800" b="1" dirty="0" smtClean="0"/>
              <a:t>GOUT</a:t>
            </a:r>
          </a:p>
          <a:p>
            <a:r>
              <a:rPr lang="en-US" sz="2400" dirty="0" smtClean="0"/>
              <a:t>Deposition </a:t>
            </a:r>
            <a:r>
              <a:rPr lang="en-US" sz="2400" dirty="0" smtClean="0"/>
              <a:t>of monosodium </a:t>
            </a:r>
            <a:r>
              <a:rPr lang="en-US" sz="2400" dirty="0" err="1" smtClean="0"/>
              <a:t>urate</a:t>
            </a:r>
            <a:r>
              <a:rPr lang="en-US" sz="2400" dirty="0" smtClean="0"/>
              <a:t> (MSU) crystals in tissues, especially the </a:t>
            </a:r>
            <a:r>
              <a:rPr lang="en-US" sz="2400" dirty="0" smtClean="0"/>
              <a:t>joints.</a:t>
            </a:r>
            <a:endParaRPr lang="en-US" sz="2400" dirty="0" smtClean="0"/>
          </a:p>
          <a:p>
            <a:r>
              <a:rPr lang="en-US" sz="2400" dirty="0" smtClean="0"/>
              <a:t>Due </a:t>
            </a:r>
            <a:r>
              <a:rPr lang="en-US" sz="2400" dirty="0" smtClean="0"/>
              <a:t>to </a:t>
            </a:r>
            <a:r>
              <a:rPr lang="en-US" sz="2400" dirty="0" err="1" smtClean="0"/>
              <a:t>hyperuricemia</a:t>
            </a:r>
            <a:r>
              <a:rPr lang="en-US" sz="2400" dirty="0" smtClean="0"/>
              <a:t>; related to overproduction or decreased excretion of uric </a:t>
            </a:r>
            <a:r>
              <a:rPr lang="en-US" sz="2400" dirty="0" smtClean="0"/>
              <a:t>acid.</a:t>
            </a:r>
          </a:p>
          <a:p>
            <a:r>
              <a:rPr lang="en-US" sz="2400" dirty="0" smtClean="0"/>
              <a:t>Primary gout is the most common form; etiology of </a:t>
            </a:r>
            <a:r>
              <a:rPr lang="en-US" sz="2400" dirty="0" err="1" smtClean="0"/>
              <a:t>hyperuricemia</a:t>
            </a:r>
            <a:r>
              <a:rPr lang="en-US" sz="2400" dirty="0" smtClean="0"/>
              <a:t> is unknown.</a:t>
            </a:r>
          </a:p>
          <a:p>
            <a:r>
              <a:rPr lang="en-US" sz="2400" dirty="0" smtClean="0"/>
              <a:t>Secondary </a:t>
            </a:r>
            <a:r>
              <a:rPr lang="en-US" sz="2400" dirty="0" smtClean="0"/>
              <a:t>gout is seen </a:t>
            </a:r>
            <a:r>
              <a:rPr lang="en-US" sz="2400" dirty="0" smtClean="0"/>
              <a:t>with:</a:t>
            </a:r>
          </a:p>
          <a:p>
            <a:r>
              <a:rPr lang="en-US" sz="2400" dirty="0" smtClean="0"/>
              <a:t>Leukemia and </a:t>
            </a:r>
            <a:r>
              <a:rPr lang="en-US" sz="2400" dirty="0" err="1" smtClean="0"/>
              <a:t>myeloproliferative</a:t>
            </a:r>
            <a:r>
              <a:rPr lang="en-US" sz="2400" dirty="0" smtClean="0"/>
              <a:t> </a:t>
            </a:r>
            <a:r>
              <a:rPr lang="en-US" sz="2400" dirty="0" smtClean="0"/>
              <a:t>disorders</a:t>
            </a:r>
          </a:p>
          <a:p>
            <a:r>
              <a:rPr lang="en-US" sz="2400" dirty="0" smtClean="0"/>
              <a:t>Renal insufficiency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Acute gout presents as exquisitely painful arthritis of the great toe (</a:t>
            </a:r>
            <a:r>
              <a:rPr lang="en-US" sz="2400" dirty="0" err="1" smtClean="0"/>
              <a:t>podagra</a:t>
            </a:r>
            <a:r>
              <a:rPr lang="en-US" sz="2400" dirty="0" smtClean="0"/>
              <a:t>).</a:t>
            </a:r>
            <a:endParaRPr lang="en-US" sz="2400" dirty="0" smtClean="0"/>
          </a:p>
          <a:p>
            <a:r>
              <a:rPr lang="en-US" sz="2400" b="1" dirty="0" smtClean="0"/>
              <a:t>MSU </a:t>
            </a:r>
            <a:r>
              <a:rPr lang="en-US" sz="2400" b="1" dirty="0" smtClean="0"/>
              <a:t>crystals deposit in the joint, triggering an acute inflammatory reaction.</a:t>
            </a:r>
          </a:p>
          <a:p>
            <a:r>
              <a:rPr lang="en-US" sz="2400" b="1" dirty="0" smtClean="0"/>
              <a:t>Alcohol </a:t>
            </a:r>
            <a:r>
              <a:rPr lang="en-US" sz="2400" b="1" dirty="0" smtClean="0"/>
              <a:t>or consumption </a:t>
            </a:r>
            <a:r>
              <a:rPr lang="en-US" sz="2400" b="1" dirty="0" err="1" smtClean="0"/>
              <a:t>ofmeat</a:t>
            </a:r>
            <a:r>
              <a:rPr lang="en-US" sz="2400" b="1" dirty="0" smtClean="0"/>
              <a:t> may precipitate arthritis.</a:t>
            </a:r>
          </a:p>
          <a:p>
            <a:r>
              <a:rPr lang="en-US" sz="2400" dirty="0" smtClean="0"/>
              <a:t>Chronic </a:t>
            </a:r>
            <a:r>
              <a:rPr lang="en-US" sz="2400" dirty="0" smtClean="0"/>
              <a:t>gout leads to</a:t>
            </a:r>
          </a:p>
          <a:p>
            <a:r>
              <a:rPr lang="en-US" sz="2400" b="1" dirty="0" smtClean="0"/>
              <a:t>Development </a:t>
            </a:r>
            <a:r>
              <a:rPr lang="en-US" sz="2400" b="1" dirty="0" smtClean="0"/>
              <a:t>of </a:t>
            </a:r>
            <a:r>
              <a:rPr lang="en-US" sz="2400" b="1" dirty="0" err="1" smtClean="0"/>
              <a:t>tophi</a:t>
            </a:r>
            <a:r>
              <a:rPr lang="en-US" sz="2400" b="1" dirty="0" smtClean="0"/>
              <a:t> - white, chalky aggregates </a:t>
            </a:r>
            <a:r>
              <a:rPr lang="en-US" sz="2400" b="1" dirty="0" smtClean="0"/>
              <a:t>of uric </a:t>
            </a:r>
            <a:r>
              <a:rPr lang="en-US" sz="2400" b="1" dirty="0" smtClean="0"/>
              <a:t>acid crystals with </a:t>
            </a:r>
            <a:r>
              <a:rPr lang="en-US" sz="2400" b="1" dirty="0" smtClean="0"/>
              <a:t>fibrosis </a:t>
            </a:r>
            <a:r>
              <a:rPr lang="en-US" sz="2400" dirty="0" smtClean="0"/>
              <a:t>and </a:t>
            </a:r>
            <a:r>
              <a:rPr lang="en-US" sz="2400" dirty="0" smtClean="0"/>
              <a:t>giant cell reaction in the soft tissue and </a:t>
            </a:r>
            <a:r>
              <a:rPr lang="en-US" sz="2400" dirty="0" smtClean="0"/>
              <a:t>joints.</a:t>
            </a:r>
            <a:endParaRPr lang="en-US" sz="2400" dirty="0" smtClean="0"/>
          </a:p>
          <a:p>
            <a:r>
              <a:rPr lang="en-US" sz="2400" b="1" dirty="0" smtClean="0"/>
              <a:t>Renal </a:t>
            </a:r>
            <a:r>
              <a:rPr lang="en-US" sz="2400" b="1" dirty="0" smtClean="0"/>
              <a:t>failure - </a:t>
            </a:r>
            <a:r>
              <a:rPr lang="en-US" sz="2400" b="1" dirty="0" err="1" smtClean="0"/>
              <a:t>Urate</a:t>
            </a:r>
            <a:r>
              <a:rPr lang="en-US" sz="2400" b="1" dirty="0" smtClean="0"/>
              <a:t> crystals may deposit in kidney tubules (</a:t>
            </a:r>
            <a:r>
              <a:rPr lang="en-US" sz="2400" b="1" dirty="0" err="1" smtClean="0"/>
              <a:t>urate</a:t>
            </a:r>
            <a:r>
              <a:rPr lang="en-US" sz="2400" b="1" dirty="0" smtClean="0"/>
              <a:t> nephropathy).</a:t>
            </a:r>
          </a:p>
          <a:p>
            <a:endParaRPr lang="en-US" b="1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3352800"/>
            <a:ext cx="7086600" cy="2773363"/>
          </a:xfrm>
        </p:spPr>
        <p:txBody>
          <a:bodyPr/>
          <a:lstStyle/>
          <a:p>
            <a:r>
              <a:rPr lang="en-US" b="1" dirty="0" smtClean="0"/>
              <a:t>THANK YOU</a:t>
            </a:r>
            <a:r>
              <a:rPr lang="en-US" dirty="0" smtClean="0"/>
              <a:t>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1561</Words>
  <Application>Microsoft Office PowerPoint</Application>
  <PresentationFormat>On-screen Show (4:3)</PresentationFormat>
  <Paragraphs>156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Musculoskeletal system pathology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BONE TUMORS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CtrlSoft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Musculoskeletal system pathology</dc:title>
  <dc:creator>user</dc:creator>
  <cp:lastModifiedBy>user</cp:lastModifiedBy>
  <cp:revision>22</cp:revision>
  <dcterms:created xsi:type="dcterms:W3CDTF">2023-11-04T17:38:29Z</dcterms:created>
  <dcterms:modified xsi:type="dcterms:W3CDTF">2023-11-05T16:19:42Z</dcterms:modified>
</cp:coreProperties>
</file>