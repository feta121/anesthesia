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6" r:id="rId3"/>
    <p:sldId id="257" r:id="rId4"/>
    <p:sldId id="303" r:id="rId5"/>
    <p:sldId id="287" r:id="rId6"/>
    <p:sldId id="258" r:id="rId7"/>
    <p:sldId id="263" r:id="rId8"/>
    <p:sldId id="264" r:id="rId9"/>
    <p:sldId id="265" r:id="rId10"/>
    <p:sldId id="266" r:id="rId11"/>
    <p:sldId id="288" r:id="rId12"/>
    <p:sldId id="285" r:id="rId13"/>
    <p:sldId id="284" r:id="rId14"/>
    <p:sldId id="283" r:id="rId15"/>
    <p:sldId id="292" r:id="rId16"/>
    <p:sldId id="282" r:id="rId17"/>
    <p:sldId id="279" r:id="rId18"/>
    <p:sldId id="295" r:id="rId19"/>
    <p:sldId id="278" r:id="rId20"/>
    <p:sldId id="277" r:id="rId21"/>
    <p:sldId id="276" r:id="rId22"/>
    <p:sldId id="275" r:id="rId23"/>
    <p:sldId id="296" r:id="rId24"/>
    <p:sldId id="273" r:id="rId25"/>
    <p:sldId id="304" r:id="rId26"/>
    <p:sldId id="297" r:id="rId27"/>
    <p:sldId id="272" r:id="rId28"/>
    <p:sldId id="271" r:id="rId29"/>
    <p:sldId id="298" r:id="rId30"/>
    <p:sldId id="270" r:id="rId31"/>
    <p:sldId id="269" r:id="rId32"/>
    <p:sldId id="268" r:id="rId33"/>
    <p:sldId id="267" r:id="rId34"/>
    <p:sldId id="300" r:id="rId35"/>
    <p:sldId id="305" r:id="rId36"/>
    <p:sldId id="301" r:id="rId37"/>
    <p:sldId id="259" r:id="rId38"/>
    <p:sldId id="26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DA2803-72F4-BFC7-01B6-9B8DF356F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1BD5ABE-AF12-8E12-9FD7-186209D7F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FE2FA2-32E3-21B4-4602-8D4E5F66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2048E5-5F1F-0D8E-2AA1-6112A728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658E7E-732B-732F-E2C1-7E36AF42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1491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A6C847-D61D-4CDF-FA62-D76F3DD0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6CCEDE-48F5-9554-6070-931800C48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93EDB1-A675-2107-C7D0-C03866F0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77FBA89-7DF6-9023-0F1C-7BDB50B3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06D693-C7EA-A2C8-CDD8-F321FFC1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68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80E078-5F9F-0C5C-367B-1B83F07C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81BFE56-25AF-2370-3140-37EB58688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D7469E-7B1E-3E18-0FA6-56BF437A7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3A7A58-6FA6-4355-753A-754DD1E2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F287F82-DD18-A4B8-E52E-6BF0F558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891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B6C4CA-D74D-473E-16B8-48F2E7CE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42844B-F292-91CA-469F-D7CD723D2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780773C-18CB-D6E8-2FC6-3B0348428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E5DC5D1-1333-0FC1-D3FB-3AE93967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F646945-F962-E493-4C3B-C8F2FD24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151A6CC-B025-2E89-407A-8DBB25E4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4387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C51B7C-D7D6-B548-04FC-C95A4221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E1825A3-D00D-8465-150D-AA8FD5328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74B9FA2-B1AA-7A82-9DC8-B1C3706BB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EA72882-B36D-44F0-8E69-622503D8A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37F99A9-BA34-70C6-710B-9ED09DF0A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04D7FD4-4174-5BFA-45B9-D2A0CA5A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8628A1C-DCC7-DA01-79BD-53A9066B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5F5CB79-1592-3590-468A-7F518FB0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2572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00E707-DE72-461A-1343-79E23A7F7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3718F98-3ECB-10D7-4957-BE382B02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98DF498-A44A-5BD8-DF7D-25F773BA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50FFDAC-9800-16E9-900E-95508006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83783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093984D-15FE-D60B-6D9A-E9987CB5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65CDA94-55E7-8BF8-EDAC-71A9CF5E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0027112-28AD-7387-1F3C-51725CEE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2512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4361E6-925D-AC90-0FF6-4F9C5309D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55DC96-3D0E-A689-7A2B-BC595158C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411706E-36BA-501E-6217-E9EAE140F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3D01563-BA1A-69B9-B773-6A316C1A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02F26FE-057F-458C-99F9-1388DA24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A616FBD-39A1-5B7E-14ED-6ABE71D3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2204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E7F710-26FD-37F2-3960-B257C3B8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7D511A3-F7BE-F29A-2DFE-4B01A8CE8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7689527-97DA-A7BD-09E9-E09689A39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4891F8A-BB51-5C2D-BDC7-2BE59EEE0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D5E7B9B-FB1C-F7C8-3076-E1F2A886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DD107F2-818D-DB4E-8FCE-E9D0E16A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728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6C0981-1A00-B9F9-A603-4B97909A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CFF628C-1124-3F01-DF89-41258AD1C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0A03F2-2033-EA32-CD97-5F186829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370736-94C2-5D17-D378-D4FB8EB2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0846098-12DE-555B-36B8-6AA0B2E3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4151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4A2D855-1092-74A6-D020-86B11A70E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C563F2A-0B62-341F-B993-5376940DC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30B9771-38C0-5009-3AE3-4A92BCC2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7E9709-F6DD-EC2F-6E24-D00717FC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C0F341-0076-C2E3-03CF-87E5073E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220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14CA16D-C9AC-8321-EF25-C9C50478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7FC6E96-3285-BBBC-A611-0BAC6201E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F5E02E-3F66-8B26-4908-1555CAF4E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41319-EB4B-4791-B1E8-385C72407B38}" type="datetimeFigureOut">
              <a:rPr lang="en-US" smtClean="0"/>
              <a:pPr/>
              <a:t>11/5/2023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61EF1E4-24D3-98AE-654D-668E14AF8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4817C90-EABD-0BEA-6A5B-78F25614C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FB58F-34D2-4A67-8FA8-C2A1B38281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752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910ED7-25FC-8765-3B43-68D5FCF3F7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Pathology of Skin Disorders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1798B4F-7C66-E2B7-7680-B478053A6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7712"/>
            <a:ext cx="9144000" cy="8100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316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2AC9DA-8AFF-F293-FAB0-0D1012091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8485"/>
            <a:ext cx="10515600" cy="497847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          Outlines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Inflammatory dermatoses</a:t>
            </a:r>
          </a:p>
          <a:p>
            <a:r>
              <a:rPr lang="en-US" dirty="0"/>
              <a:t>Blistering dermatoses</a:t>
            </a:r>
          </a:p>
          <a:p>
            <a:r>
              <a:rPr lang="en-US" dirty="0"/>
              <a:t>Epithelial tumors</a:t>
            </a:r>
          </a:p>
          <a:p>
            <a:r>
              <a:rPr lang="en-US" dirty="0"/>
              <a:t>Disorders of pigmentation and melanocytes</a:t>
            </a:r>
          </a:p>
          <a:p>
            <a:r>
              <a:rPr lang="en-US" dirty="0"/>
              <a:t>Infectious disorders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7325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BAC36B-DB61-3DB1-286E-B688D5099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320"/>
            <a:ext cx="10515600" cy="5111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INTRODUCTION</a:t>
            </a:r>
            <a:r>
              <a:rPr lang="en-US" dirty="0"/>
              <a:t> : Skin:-</a:t>
            </a:r>
          </a:p>
          <a:p>
            <a:r>
              <a:rPr lang="en-US" sz="2400" dirty="0"/>
              <a:t>Functions as a barrier against environmental insults and fluid </a:t>
            </a:r>
            <a:r>
              <a:rPr lang="en-US" sz="2400" dirty="0" smtClean="0"/>
              <a:t>loss.</a:t>
            </a:r>
            <a:endParaRPr lang="en-US" sz="2400" dirty="0"/>
          </a:p>
          <a:p>
            <a:r>
              <a:rPr lang="en-US" sz="2400" dirty="0"/>
              <a:t>Composed of an epidermis and </a:t>
            </a:r>
            <a:r>
              <a:rPr lang="en-US" sz="2400" dirty="0" smtClean="0"/>
              <a:t>dermis. 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Epidermis</a:t>
            </a:r>
            <a:r>
              <a:rPr lang="en-US" sz="2400" dirty="0"/>
              <a:t> is comprised of keratinocytes and has four </a:t>
            </a:r>
            <a:r>
              <a:rPr lang="en-US" sz="2400" dirty="0" smtClean="0"/>
              <a:t>layers.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1. </a:t>
            </a:r>
            <a:r>
              <a:rPr lang="en-US" sz="2400" b="1" dirty="0"/>
              <a:t>Stratum basalis </a:t>
            </a:r>
            <a:r>
              <a:rPr lang="en-US" sz="2400" dirty="0"/>
              <a:t>- regenerative (stem cell) </a:t>
            </a:r>
            <a:r>
              <a:rPr lang="en-US" sz="2400" dirty="0" smtClean="0"/>
              <a:t>layer.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</a:t>
            </a:r>
            <a:r>
              <a:rPr lang="en-US" sz="2400" b="1" dirty="0"/>
              <a:t>Stratum spinosum </a:t>
            </a:r>
            <a:r>
              <a:rPr lang="en-US" sz="2400" dirty="0"/>
              <a:t>- characterized by </a:t>
            </a:r>
            <a:r>
              <a:rPr lang="en-US" sz="2400" dirty="0" err="1"/>
              <a:t>desmosomes</a:t>
            </a:r>
            <a:r>
              <a:rPr lang="en-US" sz="2400" dirty="0"/>
              <a:t> </a:t>
            </a:r>
            <a:r>
              <a:rPr lang="en-US" sz="2400" dirty="0" smtClean="0"/>
              <a:t>between </a:t>
            </a:r>
            <a:r>
              <a:rPr lang="en-US" sz="2400" dirty="0" err="1" smtClean="0"/>
              <a:t>keratinocytes</a:t>
            </a:r>
            <a:r>
              <a:rPr lang="en-US" sz="2400" dirty="0" smtClean="0"/>
              <a:t>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</a:t>
            </a:r>
            <a:r>
              <a:rPr lang="en-US" sz="2400" b="1" dirty="0"/>
              <a:t>Stratum granulosum </a:t>
            </a:r>
            <a:r>
              <a:rPr lang="en-US" sz="2400" dirty="0"/>
              <a:t>- characterized by granules in </a:t>
            </a:r>
            <a:r>
              <a:rPr lang="en-US" sz="2400" dirty="0" err="1" smtClean="0"/>
              <a:t>keratinocytes</a:t>
            </a:r>
            <a:r>
              <a:rPr lang="en-US" sz="2400" dirty="0" smtClean="0"/>
              <a:t>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b="1" dirty="0"/>
              <a:t>Stratum corneum </a:t>
            </a:r>
            <a:r>
              <a:rPr lang="en-US" sz="2400" dirty="0"/>
              <a:t>- characterized by keratin in </a:t>
            </a:r>
            <a:r>
              <a:rPr lang="en-US" sz="2400" dirty="0" err="1"/>
              <a:t>anucleate</a:t>
            </a:r>
            <a:r>
              <a:rPr lang="en-US" sz="2400" dirty="0"/>
              <a:t> </a:t>
            </a:r>
            <a:r>
              <a:rPr lang="en-US" sz="2400" dirty="0" smtClean="0"/>
              <a:t>cells.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736211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193850-0192-70C0-3CD9-1085D9ED9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Dermis</a:t>
            </a:r>
            <a:r>
              <a:rPr lang="en-US" sz="2400" dirty="0"/>
              <a:t>: </a:t>
            </a:r>
            <a:endParaRPr lang="en-US" sz="2400" dirty="0" smtClean="0"/>
          </a:p>
          <a:p>
            <a:r>
              <a:rPr lang="en-US" sz="2400" dirty="0" smtClean="0"/>
              <a:t>C</a:t>
            </a:r>
            <a:r>
              <a:rPr lang="en-US" sz="2400" dirty="0" smtClean="0"/>
              <a:t>onsists </a:t>
            </a:r>
            <a:r>
              <a:rPr lang="en-US" sz="2400" dirty="0"/>
              <a:t>of connective tissue, nerve endings, blood </a:t>
            </a:r>
            <a:r>
              <a:rPr lang="en-US" sz="2400" dirty="0" smtClean="0"/>
              <a:t>and </a:t>
            </a:r>
            <a:r>
              <a:rPr lang="en-US" sz="2400" dirty="0"/>
              <a:t>lymphatic vessels,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and </a:t>
            </a:r>
            <a:r>
              <a:rPr lang="en-US" sz="2400" dirty="0"/>
              <a:t>adnexal structures (e.g., hair </a:t>
            </a:r>
            <a:r>
              <a:rPr lang="en-US" sz="2400" dirty="0" err="1" smtClean="0"/>
              <a:t>shafts,sweat</a:t>
            </a:r>
            <a:r>
              <a:rPr lang="en-US" sz="2400" dirty="0" smtClean="0"/>
              <a:t> </a:t>
            </a:r>
            <a:r>
              <a:rPr lang="en-US" sz="2400" dirty="0"/>
              <a:t>glands, and sebaceous glands).</a:t>
            </a:r>
          </a:p>
        </p:txBody>
      </p:sp>
    </p:spTree>
    <p:extLst>
      <p:ext uri="{BB962C8B-B14F-4D97-AF65-F5344CB8AC3E}">
        <p14:creationId xmlns:p14="http://schemas.microsoft.com/office/powerpoint/2010/main" xmlns="" val="369665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33E06E03-044D-8C47-A4C6-ECC9988BC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35837" y="612559"/>
            <a:ext cx="8504807" cy="5717220"/>
          </a:xfrm>
        </p:spPr>
      </p:pic>
    </p:spTree>
    <p:extLst>
      <p:ext uri="{BB962C8B-B14F-4D97-AF65-F5344CB8AC3E}">
        <p14:creationId xmlns:p14="http://schemas.microsoft.com/office/powerpoint/2010/main" xmlns="" val="151033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54B4E6-6EF9-90FA-D4CC-B1BE676E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5017"/>
            <a:ext cx="10515600" cy="4871946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A. INFLAMMATORY DERMATOSES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ATOPIC (ECZEMATOUS) DERMATITIS </a:t>
            </a:r>
          </a:p>
          <a:p>
            <a:r>
              <a:rPr lang="en-US" sz="2400" dirty="0"/>
              <a:t>Pruritic, erythematous, oozing rash with vesicles and edema; often involves the face and flexor </a:t>
            </a:r>
            <a:r>
              <a:rPr lang="en-US" sz="2400" dirty="0" smtClean="0"/>
              <a:t>surfaces. </a:t>
            </a:r>
            <a:endParaRPr lang="en-US" sz="2400" dirty="0"/>
          </a:p>
          <a:p>
            <a:r>
              <a:rPr lang="en-US" sz="2400" dirty="0"/>
              <a:t>Type I hypersensitivity reaction; associated with asthma and allergic </a:t>
            </a:r>
            <a:r>
              <a:rPr lang="en-US" sz="2400" dirty="0" smtClean="0"/>
              <a:t>rhinitis.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2852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92D1DC-F082-C247-28E2-22B67895A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5522"/>
            <a:ext cx="10515600" cy="52714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CONTACT DERMATITIS </a:t>
            </a:r>
          </a:p>
          <a:p>
            <a:r>
              <a:rPr lang="en-US" sz="2400" dirty="0"/>
              <a:t>Pruritic, erythematous, oozing rash with vesicles and </a:t>
            </a:r>
            <a:r>
              <a:rPr lang="en-US" sz="2400" dirty="0" smtClean="0"/>
              <a:t>edema. </a:t>
            </a:r>
            <a:endParaRPr lang="en-US" sz="2400" dirty="0"/>
          </a:p>
          <a:p>
            <a:r>
              <a:rPr lang="en-US" sz="2400" dirty="0"/>
              <a:t>Arises upon exposure to allergens such as </a:t>
            </a:r>
          </a:p>
          <a:p>
            <a:pPr marL="0" indent="0">
              <a:buNone/>
            </a:pPr>
            <a:r>
              <a:rPr lang="en-US" sz="2400" dirty="0"/>
              <a:t>       -Poison ivy and nickel jewelry (type IV hypersensitivity</a:t>
            </a:r>
            <a:r>
              <a:rPr lang="en-US" sz="2400" dirty="0" smtClean="0"/>
              <a:t>).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-Irritant chemicals (e.g., detergents</a:t>
            </a:r>
            <a:r>
              <a:rPr lang="en-US" sz="2400" dirty="0" smtClean="0"/>
              <a:t>).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-Drugs (e.g., penicillin</a:t>
            </a:r>
            <a:r>
              <a:rPr lang="en-US" sz="2400" dirty="0" smtClean="0"/>
              <a:t>). </a:t>
            </a:r>
            <a:endParaRPr lang="en-US" sz="2400" dirty="0"/>
          </a:p>
          <a:p>
            <a:r>
              <a:rPr lang="en-US" sz="2400" dirty="0"/>
              <a:t>Treatment involves removal of the offending agent and topical glucocorticoids, if needed.</a:t>
            </a:r>
          </a:p>
        </p:txBody>
      </p:sp>
    </p:spTree>
    <p:extLst>
      <p:ext uri="{BB962C8B-B14F-4D97-AF65-F5344CB8AC3E}">
        <p14:creationId xmlns:p14="http://schemas.microsoft.com/office/powerpoint/2010/main" xmlns="" val="97097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1B2AC5-05CA-EE80-2099-F0872A19C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235"/>
            <a:ext cx="10515600" cy="53957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ACNE VULGARIS</a:t>
            </a:r>
            <a:r>
              <a:rPr lang="en-US" dirty="0"/>
              <a:t> </a:t>
            </a:r>
          </a:p>
          <a:p>
            <a:r>
              <a:rPr lang="en-US" sz="2400" dirty="0"/>
              <a:t>Comedones (whiteheads and blackheads), pustules (pimples), and nodules; extremely common, especially in </a:t>
            </a:r>
            <a:r>
              <a:rPr lang="en-US" sz="2400" dirty="0" smtClean="0"/>
              <a:t>adolescents. </a:t>
            </a:r>
            <a:endParaRPr lang="en-US" sz="2400" dirty="0"/>
          </a:p>
          <a:p>
            <a:r>
              <a:rPr lang="en-US" sz="2400" dirty="0"/>
              <a:t>Due to chronic inflammation of hair follicles and associated sebaceous </a:t>
            </a:r>
            <a:r>
              <a:rPr lang="en-US" sz="2400" dirty="0" smtClean="0"/>
              <a:t>glands.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1. Hormone-associated increase in sebum production (sebaceous</a:t>
            </a:r>
          </a:p>
          <a:p>
            <a:pPr marL="0" indent="0">
              <a:buNone/>
            </a:pPr>
            <a:r>
              <a:rPr lang="en-US" sz="2400" dirty="0"/>
              <a:t>     glands have androgen receptors) and excess keratin production</a:t>
            </a:r>
          </a:p>
          <a:p>
            <a:pPr marL="0" indent="0">
              <a:buNone/>
            </a:pPr>
            <a:r>
              <a:rPr lang="en-US" sz="2400" dirty="0"/>
              <a:t>     block follicles, forming comedones. </a:t>
            </a:r>
          </a:p>
          <a:p>
            <a:pPr marL="0" indent="0">
              <a:buNone/>
            </a:pPr>
            <a:r>
              <a:rPr lang="en-US" sz="2400" dirty="0"/>
              <a:t>2. Propionibacterium acnes infection produces lipases that break down</a:t>
            </a:r>
          </a:p>
          <a:p>
            <a:pPr marL="0" indent="0">
              <a:buNone/>
            </a:pPr>
            <a:r>
              <a:rPr lang="en-US" sz="2400" dirty="0"/>
              <a:t>    sebum, releasing proinflammatory fatty acids; results in pustule or</a:t>
            </a:r>
          </a:p>
          <a:p>
            <a:pPr marL="0" indent="0">
              <a:buNone/>
            </a:pPr>
            <a:r>
              <a:rPr lang="en-US" sz="2400" dirty="0"/>
              <a:t>    nodule </a:t>
            </a:r>
            <a:r>
              <a:rPr lang="en-US" sz="2400" dirty="0" smtClean="0"/>
              <a:t>formation.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786746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E44FF3-48BB-C5BA-7859-A7B9A2052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223"/>
            <a:ext cx="10515600" cy="48837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PSORIASIS</a:t>
            </a:r>
            <a:r>
              <a:rPr lang="en-US" dirty="0"/>
              <a:t> </a:t>
            </a:r>
          </a:p>
          <a:p>
            <a:r>
              <a:rPr lang="en-US" sz="2400" dirty="0"/>
              <a:t>Well-circumscribed, salmon-colored plaques with silvery scale, usually on extensor surfaces and the </a:t>
            </a:r>
            <a:r>
              <a:rPr lang="en-US" sz="2400" dirty="0" smtClean="0"/>
              <a:t>scalp. </a:t>
            </a:r>
            <a:endParaRPr lang="en-US" sz="2400" dirty="0"/>
          </a:p>
          <a:p>
            <a:r>
              <a:rPr lang="en-US" sz="2400" dirty="0"/>
              <a:t>P</a:t>
            </a:r>
            <a:r>
              <a:rPr lang="en-US" sz="2400" dirty="0" smtClean="0"/>
              <a:t>itting </a:t>
            </a:r>
            <a:r>
              <a:rPr lang="en-US" sz="2400" dirty="0"/>
              <a:t>of nails may also be present. </a:t>
            </a:r>
          </a:p>
          <a:p>
            <a:r>
              <a:rPr lang="en-US" sz="2400" dirty="0"/>
              <a:t>Due to excessive </a:t>
            </a:r>
            <a:r>
              <a:rPr lang="en-US" sz="2400" dirty="0" err="1"/>
              <a:t>keratinocyte</a:t>
            </a:r>
            <a:r>
              <a:rPr lang="en-US" sz="2400" dirty="0"/>
              <a:t> </a:t>
            </a:r>
            <a:r>
              <a:rPr lang="en-US" sz="2400" dirty="0" smtClean="0"/>
              <a:t>proliferation.</a:t>
            </a:r>
          </a:p>
          <a:p>
            <a:r>
              <a:rPr lang="en-US" sz="2400" dirty="0" smtClean="0"/>
              <a:t>Possible </a:t>
            </a:r>
            <a:r>
              <a:rPr lang="en-US" sz="2400" b="1" dirty="0" smtClean="0"/>
              <a:t>autoimmune etiology </a:t>
            </a:r>
            <a:endParaRPr lang="en-US" sz="2400" b="1" dirty="0" smtClean="0"/>
          </a:p>
          <a:p>
            <a:r>
              <a:rPr lang="en-US" sz="2400" dirty="0" smtClean="0"/>
              <a:t>Associated </a:t>
            </a:r>
            <a:r>
              <a:rPr lang="en-US" sz="2400" dirty="0" smtClean="0"/>
              <a:t>with </a:t>
            </a:r>
            <a:r>
              <a:rPr lang="en-US" sz="2400" dirty="0" smtClean="0"/>
              <a:t>HLA-C. </a:t>
            </a:r>
          </a:p>
          <a:p>
            <a:r>
              <a:rPr lang="en-US" sz="2400" dirty="0" smtClean="0"/>
              <a:t>Lesions </a:t>
            </a:r>
            <a:r>
              <a:rPr lang="en-US" sz="2400" dirty="0" smtClean="0"/>
              <a:t>often arise in areas of trauma (environmental trigger).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57351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649619-B225-C9C1-3D83-16D3FFF4B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8687"/>
            <a:ext cx="10515600" cy="51382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Histology</a:t>
            </a:r>
            <a:r>
              <a:rPr lang="en-US" b="1" dirty="0"/>
              <a:t>:</a:t>
            </a:r>
            <a:r>
              <a:rPr lang="en-US" dirty="0"/>
              <a:t> shows </a:t>
            </a:r>
          </a:p>
          <a:p>
            <a:pPr marL="0" indent="0"/>
            <a:r>
              <a:rPr lang="en-US" sz="2400" dirty="0" smtClean="0"/>
              <a:t> </a:t>
            </a:r>
            <a:r>
              <a:rPr lang="en-US" sz="2400" dirty="0" err="1" smtClean="0"/>
              <a:t>Acanthosis</a:t>
            </a:r>
            <a:r>
              <a:rPr lang="en-US" sz="2400" dirty="0" smtClean="0"/>
              <a:t> </a:t>
            </a:r>
            <a:r>
              <a:rPr lang="en-US" sz="2400" dirty="0"/>
              <a:t>(epidermal hyperplasia</a:t>
            </a:r>
            <a:r>
              <a:rPr lang="en-US" sz="2400" dirty="0" smtClean="0"/>
              <a:t>). </a:t>
            </a:r>
          </a:p>
          <a:p>
            <a:pPr marL="0" indent="0"/>
            <a:r>
              <a:rPr lang="en-US" sz="2400" dirty="0" err="1" smtClean="0"/>
              <a:t>Parakeratosis</a:t>
            </a:r>
            <a:r>
              <a:rPr lang="en-US" sz="2400" dirty="0" smtClean="0"/>
              <a:t> </a:t>
            </a:r>
            <a:r>
              <a:rPr lang="en-US" sz="2400" dirty="0"/>
              <a:t>(hyperkeratosis with retention of keratinocyte nuclei in</a:t>
            </a:r>
          </a:p>
          <a:p>
            <a:pPr marL="0" indent="0">
              <a:buNone/>
            </a:pPr>
            <a:r>
              <a:rPr lang="en-US" sz="2400" dirty="0"/>
              <a:t>   the stratum </a:t>
            </a:r>
            <a:r>
              <a:rPr lang="en-US" sz="2400" dirty="0" err="1"/>
              <a:t>corneum</a:t>
            </a:r>
            <a:r>
              <a:rPr lang="en-US" sz="2400" dirty="0" smtClean="0"/>
              <a:t>). </a:t>
            </a:r>
          </a:p>
          <a:p>
            <a:pPr marL="0" indent="0"/>
            <a:r>
              <a:rPr lang="en-US" sz="2400" dirty="0" smtClean="0"/>
              <a:t> Collections </a:t>
            </a:r>
            <a:r>
              <a:rPr lang="en-US" sz="2400" dirty="0"/>
              <a:t>of neutrophils in the stratum corneum (</a:t>
            </a:r>
            <a:r>
              <a:rPr lang="en-US" sz="2400" dirty="0" smtClean="0"/>
              <a:t>Munro </a:t>
            </a:r>
            <a:r>
              <a:rPr lang="en-US" sz="2400" dirty="0" err="1" smtClean="0"/>
              <a:t>microabscesses</a:t>
            </a:r>
            <a:r>
              <a:rPr lang="en-US" sz="2400" dirty="0" smtClean="0"/>
              <a:t>). </a:t>
            </a:r>
            <a:endParaRPr lang="en-US" sz="2400" dirty="0"/>
          </a:p>
          <a:p>
            <a:pPr marL="0" indent="0"/>
            <a:r>
              <a:rPr lang="en-US" sz="2400" dirty="0" smtClean="0"/>
              <a:t> Thinning </a:t>
            </a:r>
            <a:r>
              <a:rPr lang="en-US" sz="2400" dirty="0"/>
              <a:t>of the epidermis above elongated dermal papillae; results</a:t>
            </a:r>
          </a:p>
          <a:p>
            <a:pPr marL="0" indent="0">
              <a:buNone/>
            </a:pPr>
            <a:r>
              <a:rPr lang="en-US" sz="2400" dirty="0"/>
              <a:t>    in bleeding when scale is picked off (Auspitz sign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Treatment involves corticosteroids, UV light with </a:t>
            </a:r>
            <a:r>
              <a:rPr lang="en-US" sz="2400" dirty="0" err="1" smtClean="0"/>
              <a:t>psoralen</a:t>
            </a:r>
            <a:r>
              <a:rPr lang="en-US" sz="2400" dirty="0" smtClean="0"/>
              <a:t>, or </a:t>
            </a:r>
            <a:r>
              <a:rPr lang="en-US" sz="2400" dirty="0" smtClean="0"/>
              <a:t>immune-modulating therapy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570142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22FEA7D-5A8E-FB0B-C567-E152133F3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62470" y="648070"/>
            <a:ext cx="9596761" cy="5362113"/>
          </a:xfrm>
        </p:spPr>
      </p:pic>
    </p:spTree>
    <p:extLst>
      <p:ext uri="{BB962C8B-B14F-4D97-AF65-F5344CB8AC3E}">
        <p14:creationId xmlns:p14="http://schemas.microsoft.com/office/powerpoint/2010/main" xmlns="" val="1762565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417B91-D00B-301B-2654-8C1FDF712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421"/>
            <a:ext cx="10515600" cy="51915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/>
              <a:t>B. BLISTERING DERMATOSES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PEMPHIGUS VULGARIS </a:t>
            </a:r>
          </a:p>
          <a:p>
            <a:r>
              <a:rPr lang="en-US" dirty="0"/>
              <a:t> Autoimmune destruction of desmosomes between </a:t>
            </a:r>
            <a:r>
              <a:rPr lang="en-US" dirty="0" err="1" smtClean="0"/>
              <a:t>keratinocytes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 Due to IgG antibody against desmoglein (type II </a:t>
            </a:r>
            <a:r>
              <a:rPr lang="en-US" dirty="0" smtClean="0"/>
              <a:t>hypersensitivity.) </a:t>
            </a:r>
            <a:endParaRPr lang="en-US" dirty="0"/>
          </a:p>
          <a:p>
            <a:r>
              <a:rPr lang="en-US" dirty="0"/>
              <a:t> Presents as skin and oral mucosa </a:t>
            </a:r>
            <a:r>
              <a:rPr lang="en-US" dirty="0" err="1" smtClean="0"/>
              <a:t>bullae</a:t>
            </a:r>
            <a:r>
              <a:rPr lang="en-US" dirty="0" smtClean="0"/>
              <a:t>. </a:t>
            </a:r>
            <a:endParaRPr lang="en-US" dirty="0"/>
          </a:p>
          <a:p>
            <a:pPr marL="0" indent="0"/>
            <a:r>
              <a:rPr lang="en-US" dirty="0" smtClean="0"/>
              <a:t> </a:t>
            </a:r>
            <a:r>
              <a:rPr lang="en-US" dirty="0" err="1" smtClean="0"/>
              <a:t>Acantholysis</a:t>
            </a:r>
            <a:r>
              <a:rPr lang="en-US" dirty="0" smtClean="0"/>
              <a:t> </a:t>
            </a:r>
            <a:r>
              <a:rPr lang="en-US" dirty="0"/>
              <a:t>(separation) of stratum spinosum keratinocytes (normally</a:t>
            </a:r>
          </a:p>
          <a:p>
            <a:pPr marL="0" indent="0">
              <a:buNone/>
            </a:pPr>
            <a:r>
              <a:rPr lang="en-US" dirty="0"/>
              <a:t>    connected by desmosomes) results in suprabasal blisters. </a:t>
            </a:r>
          </a:p>
          <a:p>
            <a:pPr marL="0" indent="0"/>
            <a:r>
              <a:rPr lang="en-US" dirty="0" smtClean="0"/>
              <a:t> Basal </a:t>
            </a:r>
            <a:r>
              <a:rPr lang="en-US" dirty="0"/>
              <a:t>layer cells remain attached to basement membrane via</a:t>
            </a:r>
          </a:p>
          <a:p>
            <a:pPr marL="0" indent="0">
              <a:buNone/>
            </a:pPr>
            <a:r>
              <a:rPr lang="en-US" dirty="0"/>
              <a:t>    hemidesmosomes ('tombstone' appearance</a:t>
            </a:r>
            <a:r>
              <a:rPr lang="en-US" dirty="0" smtClean="0"/>
              <a:t>). </a:t>
            </a:r>
            <a:endParaRPr lang="en-US" dirty="0"/>
          </a:p>
          <a:p>
            <a:pPr marL="0" indent="0"/>
            <a:r>
              <a:rPr lang="en-US" dirty="0" smtClean="0"/>
              <a:t> </a:t>
            </a:r>
            <a:r>
              <a:rPr lang="en-US" dirty="0" smtClean="0"/>
              <a:t>Thin-walled </a:t>
            </a:r>
            <a:r>
              <a:rPr lang="en-US" dirty="0"/>
              <a:t>bullae rupture easily (Nikolsky sign), leading to shallow</a:t>
            </a:r>
          </a:p>
          <a:p>
            <a:pPr marL="0" indent="0">
              <a:buNone/>
            </a:pPr>
            <a:r>
              <a:rPr lang="en-US" dirty="0"/>
              <a:t>    erosions with dried crust. </a:t>
            </a:r>
          </a:p>
          <a:p>
            <a:pPr marL="0" indent="0"/>
            <a:r>
              <a:rPr lang="en-US" dirty="0" smtClean="0"/>
              <a:t> </a:t>
            </a:r>
            <a:r>
              <a:rPr lang="en-US" dirty="0" err="1" smtClean="0"/>
              <a:t>Immunofluorescence</a:t>
            </a:r>
            <a:r>
              <a:rPr lang="en-US" dirty="0" smtClean="0"/>
              <a:t> </a:t>
            </a:r>
            <a:r>
              <a:rPr lang="en-US" dirty="0"/>
              <a:t>highlights IgG surrounding keratinocytes in a 'fish</a:t>
            </a:r>
          </a:p>
          <a:p>
            <a:pPr marL="0" indent="0">
              <a:buNone/>
            </a:pPr>
            <a:r>
              <a:rPr lang="en-US" dirty="0"/>
              <a:t>    net' </a:t>
            </a:r>
            <a:r>
              <a:rPr lang="en-US" dirty="0" smtClean="0"/>
              <a:t>pattern.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02244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84E851-11EB-A5A8-7B6F-9C56AF231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8990"/>
            <a:ext cx="10515600" cy="53779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BULLOUS PEMPHIGOID </a:t>
            </a:r>
          </a:p>
          <a:p>
            <a:r>
              <a:rPr lang="en-US" sz="2400" dirty="0"/>
              <a:t>Autoimmune destruction of hemidesmosomes between basal cells and the underlying basement </a:t>
            </a:r>
            <a:r>
              <a:rPr lang="en-US" sz="2400" dirty="0" smtClean="0"/>
              <a:t>membrane. </a:t>
            </a:r>
            <a:endParaRPr lang="en-US" sz="2400" dirty="0"/>
          </a:p>
          <a:p>
            <a:r>
              <a:rPr lang="en-US" sz="2400" dirty="0"/>
              <a:t>Due to IgG antibody against hemidesmosome components of the basement </a:t>
            </a:r>
            <a:r>
              <a:rPr lang="en-US" sz="2400" dirty="0" smtClean="0"/>
              <a:t>membrane. </a:t>
            </a:r>
            <a:endParaRPr lang="en-US" sz="2400" dirty="0"/>
          </a:p>
          <a:p>
            <a:r>
              <a:rPr lang="en-US" sz="2400" dirty="0"/>
              <a:t>Presents as blisters of the skin , usually in the elderly; oral mucosa is spared. </a:t>
            </a:r>
          </a:p>
          <a:p>
            <a:pPr marL="0" indent="0">
              <a:buNone/>
            </a:pPr>
            <a:r>
              <a:rPr lang="en-US" sz="2400" dirty="0"/>
              <a:t>1. Basal cell layer is detached from the basement </a:t>
            </a:r>
            <a:r>
              <a:rPr lang="en-US" sz="2400" dirty="0" smtClean="0"/>
              <a:t>membrane.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Tense bullae do not rupture easily; clinically milder than pemphigus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 smtClean="0"/>
              <a:t>vulgaris</a:t>
            </a:r>
            <a:r>
              <a:rPr lang="en-US" sz="2400" dirty="0" smtClean="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33641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ABAB16-4780-91B5-3ACF-F46E954B1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DERMATITIS HERPETIFORMIS </a:t>
            </a:r>
          </a:p>
          <a:p>
            <a:r>
              <a:rPr lang="en-US" sz="2400" dirty="0"/>
              <a:t>Autoimmune deposition of IgA at the tips of dermal </a:t>
            </a:r>
            <a:r>
              <a:rPr lang="en-US" sz="2400" dirty="0" smtClean="0"/>
              <a:t>papillae. </a:t>
            </a:r>
            <a:endParaRPr lang="en-US" sz="2400" dirty="0"/>
          </a:p>
          <a:p>
            <a:r>
              <a:rPr lang="en-US" sz="2400" dirty="0"/>
              <a:t>Presents as pruritic vesicles and bullae that are </a:t>
            </a:r>
            <a:r>
              <a:rPr lang="en-US" sz="2400" dirty="0" smtClean="0"/>
              <a:t>grouped.</a:t>
            </a:r>
            <a:endParaRPr lang="en-US" sz="2400" dirty="0"/>
          </a:p>
          <a:p>
            <a:r>
              <a:rPr lang="en-US" sz="2400" dirty="0"/>
              <a:t>Strong association with celiac disease; resolves with gluten-free </a:t>
            </a:r>
            <a:r>
              <a:rPr lang="en-US" sz="2400" dirty="0" smtClean="0"/>
              <a:t>diet.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093190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BA0FCCE-8C1F-DC7A-F0DC-8F5438F31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3077" y="861135"/>
            <a:ext cx="9712170" cy="5069148"/>
          </a:xfrm>
        </p:spPr>
      </p:pic>
    </p:spTree>
    <p:extLst>
      <p:ext uri="{BB962C8B-B14F-4D97-AF65-F5344CB8AC3E}">
        <p14:creationId xmlns:p14="http://schemas.microsoft.com/office/powerpoint/2010/main" xmlns="" val="459331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F951AB-4987-4DBD-B2BE-D9B5A3D7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357"/>
            <a:ext cx="10515600" cy="54046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ERYTHEMA MULTIFORME (EM</a:t>
            </a:r>
            <a:r>
              <a:rPr lang="en-US" dirty="0"/>
              <a:t>) </a:t>
            </a:r>
          </a:p>
          <a:p>
            <a:r>
              <a:rPr lang="en-US" sz="2400" dirty="0"/>
              <a:t>Hypersensitivity reaction characterized by targetoid rash and </a:t>
            </a:r>
            <a:r>
              <a:rPr lang="en-US" sz="2400" dirty="0" err="1" smtClean="0"/>
              <a:t>bullae</a:t>
            </a:r>
            <a:r>
              <a:rPr lang="en-US" sz="2400" dirty="0" smtClean="0"/>
              <a:t>. </a:t>
            </a:r>
            <a:endParaRPr lang="en-US" sz="2400" dirty="0"/>
          </a:p>
          <a:p>
            <a:r>
              <a:rPr lang="en-US" sz="2400" dirty="0"/>
              <a:t>Targetoid appearance is due to central epidermal necrosis surrounded by erythema. </a:t>
            </a:r>
          </a:p>
          <a:p>
            <a:r>
              <a:rPr lang="en-US" sz="2400" dirty="0"/>
              <a:t>Most commonly associated with HSV infection; other associations include Mycoplasma infection, drugs (penicillin and sulfonamides), autoimmune disease (e.g., SLE), and malignancy. C. </a:t>
            </a:r>
            <a:endParaRPr lang="en-US" sz="2400" dirty="0" smtClean="0"/>
          </a:p>
          <a:p>
            <a:r>
              <a:rPr lang="en-US" sz="2400" dirty="0" smtClean="0"/>
              <a:t>EM </a:t>
            </a:r>
            <a:r>
              <a:rPr lang="en-US" sz="2400" dirty="0"/>
              <a:t>with oral mucosa/lip involvement and fever is termed Stevens-Johnson syndrome (SJS). </a:t>
            </a:r>
          </a:p>
          <a:p>
            <a:r>
              <a:rPr lang="en-US" sz="2400" b="1" dirty="0"/>
              <a:t>Toxic epidermal necrolysis </a:t>
            </a:r>
            <a:r>
              <a:rPr lang="en-US" sz="2400" dirty="0"/>
              <a:t>is a severe form of SJS characterized by diffuse sloughing of skin, resembling a large burn; most often due to an adverse drug </a:t>
            </a:r>
            <a:r>
              <a:rPr lang="en-US" sz="2400" dirty="0" smtClean="0"/>
              <a:t>reaction.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535743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C370CB-00E2-D903-5679-D88D8DD59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5522"/>
            <a:ext cx="10515600" cy="52714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EPITHELIAL TUMORS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BASAL </a:t>
            </a:r>
            <a:r>
              <a:rPr lang="en-US" b="1" dirty="0"/>
              <a:t>CELL CARCINOMA </a:t>
            </a:r>
          </a:p>
          <a:p>
            <a:r>
              <a:rPr lang="en-US" sz="2400" dirty="0"/>
              <a:t>Malignant proliferation of the basal cells of the </a:t>
            </a:r>
            <a:r>
              <a:rPr lang="en-US" sz="2400" dirty="0" smtClean="0"/>
              <a:t>epidermis. </a:t>
            </a:r>
            <a:endParaRPr lang="en-US" sz="2400" dirty="0"/>
          </a:p>
          <a:p>
            <a:r>
              <a:rPr lang="en-US" sz="2400" dirty="0"/>
              <a:t>Most common </a:t>
            </a:r>
            <a:r>
              <a:rPr lang="en-US" sz="2400" dirty="0" err="1"/>
              <a:t>cutaneous</a:t>
            </a:r>
            <a:r>
              <a:rPr lang="en-US" sz="2400" dirty="0"/>
              <a:t> </a:t>
            </a:r>
            <a:r>
              <a:rPr lang="en-US" sz="2400" dirty="0" smtClean="0"/>
              <a:t>malignancy. </a:t>
            </a:r>
            <a:endParaRPr lang="en-US" sz="2400" dirty="0"/>
          </a:p>
          <a:p>
            <a:r>
              <a:rPr lang="en-US" sz="2400" dirty="0"/>
              <a:t>Risk factors stem from UVB-induced DNA damage and include prolonged exposure to sunlight, albinism, and xeroderma pigmentosum. </a:t>
            </a:r>
          </a:p>
          <a:p>
            <a:r>
              <a:rPr lang="en-US" sz="2400" dirty="0"/>
              <a:t>Presents as an elevated nodule with a central, ulcerated crater surrounded by dilated (telangiectatic) </a:t>
            </a:r>
            <a:r>
              <a:rPr lang="en-US" sz="2400" dirty="0" err="1" smtClean="0"/>
              <a:t>vessels,'pink</a:t>
            </a:r>
            <a:r>
              <a:rPr lang="en-US" sz="2400" dirty="0"/>
              <a:t>, pearl-like papule</a:t>
            </a:r>
            <a:r>
              <a:rPr lang="en-US" sz="2400" dirty="0" smtClean="0"/>
              <a:t>’. </a:t>
            </a:r>
            <a:endParaRPr lang="en-US" sz="2400" dirty="0"/>
          </a:p>
          <a:p>
            <a:r>
              <a:rPr lang="en-US" sz="2400" dirty="0"/>
              <a:t>Classic location is the upper lip. </a:t>
            </a:r>
          </a:p>
          <a:p>
            <a:r>
              <a:rPr lang="en-US" sz="2400" dirty="0"/>
              <a:t>Histology shows nodules of basal cells with peripheral </a:t>
            </a:r>
            <a:r>
              <a:rPr lang="en-US" sz="2400" dirty="0" err="1" smtClean="0"/>
              <a:t>palisading</a:t>
            </a:r>
            <a:r>
              <a:rPr lang="en-US" sz="2400" dirty="0" smtClean="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142998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6FB89FD-0FC8-D353-80BB-71460350F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40527" y="852256"/>
            <a:ext cx="9925235" cy="5228948"/>
          </a:xfrm>
        </p:spPr>
      </p:pic>
    </p:spTree>
    <p:extLst>
      <p:ext uri="{BB962C8B-B14F-4D97-AF65-F5344CB8AC3E}">
        <p14:creationId xmlns:p14="http://schemas.microsoft.com/office/powerpoint/2010/main" xmlns="" val="2013298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31DF5C-3F93-31DE-557B-2BDBF329A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8788"/>
            <a:ext cx="10515600" cy="52181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SQUAMOUS CELL CARCINOMA </a:t>
            </a:r>
          </a:p>
          <a:p>
            <a:r>
              <a:rPr lang="en-US" sz="2400" dirty="0"/>
              <a:t>Malignant proliferation of squamous cells characterized by formation of keratin pearls. </a:t>
            </a:r>
          </a:p>
          <a:p>
            <a:r>
              <a:rPr lang="en-US" sz="2400" dirty="0"/>
              <a:t>Risk factors stem from UVB-induced DNA damage and include prolonged exposure to sunlight, albinism, and xeroderma pigmentosum. </a:t>
            </a:r>
          </a:p>
          <a:p>
            <a:r>
              <a:rPr lang="en-US" sz="2400" dirty="0"/>
              <a:t>Additional risk factors include immunosuppressive therapy, arsenic exposure, and chronic inflammation (e.g., scar from burn or draining sinus tract). </a:t>
            </a:r>
          </a:p>
          <a:p>
            <a:r>
              <a:rPr lang="en-US" sz="2400" dirty="0"/>
              <a:t>Presents as an ulcerated, nodular mass, usually on the face (classically involving the lower lip</a:t>
            </a:r>
            <a:r>
              <a:rPr lang="en-US" sz="2400" dirty="0" smtClean="0"/>
              <a:t>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312626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32A516-555A-DA0F-9B2F-0924453BE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Actinic keratosis </a:t>
            </a:r>
            <a:r>
              <a:rPr lang="en-US" dirty="0"/>
              <a:t>is a precursor lesion of squamous cell carcinoma and presents as a hyperkeratotic, scaly plaque, often on the face, back, or neck. </a:t>
            </a:r>
          </a:p>
          <a:p>
            <a:r>
              <a:rPr lang="en-US" dirty="0">
                <a:solidFill>
                  <a:srgbClr val="FF0000"/>
                </a:solidFill>
              </a:rPr>
              <a:t>Keratoacanthoma </a:t>
            </a:r>
            <a:r>
              <a:rPr lang="en-US" dirty="0"/>
              <a:t>is well-differentiated squamous cell carcinoma that develops rapidly and regresses spontaneously; presents as a cup-shaped tumor filled with keratin </a:t>
            </a:r>
            <a:r>
              <a:rPr lang="en-US" dirty="0" smtClean="0"/>
              <a:t>debris.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8260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DBB529-89BF-0477-AB3E-06C13B5F7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645"/>
            <a:ext cx="10515600" cy="528031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D. DISORDERS OF PIGMENTATION AND MELANOCYTES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BASIC PRINCIPLES </a:t>
            </a:r>
          </a:p>
          <a:p>
            <a:r>
              <a:rPr lang="en-US" sz="2400" dirty="0"/>
              <a:t>Melanocytes are responsible for skin pigmentation and are present in the basal layer of the epidermis. </a:t>
            </a:r>
          </a:p>
          <a:p>
            <a:r>
              <a:rPr lang="en-US" sz="2400" dirty="0"/>
              <a:t>Derived from the neural </a:t>
            </a:r>
            <a:r>
              <a:rPr lang="en-US" sz="2400" dirty="0" smtClean="0"/>
              <a:t>crest. </a:t>
            </a:r>
            <a:endParaRPr lang="en-US" sz="2400" dirty="0"/>
          </a:p>
          <a:p>
            <a:r>
              <a:rPr lang="en-US" sz="2400" dirty="0"/>
              <a:t>Synthesize melanin in melanosomes using tyrosine as a precursor </a:t>
            </a:r>
            <a:r>
              <a:rPr lang="en-US" sz="2400" dirty="0" smtClean="0"/>
              <a:t>molecule. </a:t>
            </a:r>
            <a:endParaRPr lang="en-US" sz="2400" dirty="0"/>
          </a:p>
          <a:p>
            <a:r>
              <a:rPr lang="en-US" sz="2400" dirty="0"/>
              <a:t>Pass melanosomes to </a:t>
            </a:r>
            <a:r>
              <a:rPr lang="en-US" sz="2400" dirty="0" err="1" smtClean="0"/>
              <a:t>keratinocytes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791576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1CD32E-4612-6CC8-36E9-52CDA52C9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8788"/>
            <a:ext cx="10515600" cy="52181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VITILIGO</a:t>
            </a:r>
            <a:r>
              <a:rPr lang="en-US" dirty="0"/>
              <a:t> </a:t>
            </a:r>
          </a:p>
          <a:p>
            <a:r>
              <a:rPr lang="en-US" sz="2400" dirty="0"/>
              <a:t>Localized loss of skin </a:t>
            </a:r>
            <a:r>
              <a:rPr lang="en-US" sz="2400" dirty="0" smtClean="0"/>
              <a:t>pigmentation. </a:t>
            </a:r>
            <a:endParaRPr lang="en-US" sz="2400" dirty="0"/>
          </a:p>
          <a:p>
            <a:r>
              <a:rPr lang="en-US" sz="2400" dirty="0"/>
              <a:t>Due to autoimmune destruction of </a:t>
            </a:r>
            <a:r>
              <a:rPr lang="en-US" sz="2400" dirty="0" err="1" smtClean="0"/>
              <a:t>melanocytes</a:t>
            </a:r>
            <a:r>
              <a:rPr lang="en-US" sz="2400" dirty="0" smtClean="0"/>
              <a:t>. 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ALBINISM</a:t>
            </a:r>
            <a:r>
              <a:rPr lang="en-US" dirty="0"/>
              <a:t> </a:t>
            </a:r>
          </a:p>
          <a:p>
            <a:r>
              <a:rPr lang="en-US" sz="2400" dirty="0"/>
              <a:t>Congenital lack of </a:t>
            </a:r>
            <a:r>
              <a:rPr lang="en-US" sz="2400" dirty="0" smtClean="0"/>
              <a:t>pigmentation.  </a:t>
            </a:r>
            <a:endParaRPr lang="en-US" sz="2400" dirty="0"/>
          </a:p>
          <a:p>
            <a:r>
              <a:rPr lang="en-US" sz="2400" dirty="0"/>
              <a:t>Due to an enzyme defect (usually tyrosinase) that impairs melanin </a:t>
            </a:r>
            <a:r>
              <a:rPr lang="en-US" sz="2400" dirty="0" smtClean="0"/>
              <a:t>production. </a:t>
            </a:r>
            <a:endParaRPr lang="en-US" sz="2400" dirty="0"/>
          </a:p>
          <a:p>
            <a:r>
              <a:rPr lang="en-US" sz="2400" dirty="0"/>
              <a:t>May involve the eyes (ocular form) or both the eyes and skin (oculocutaneous form</a:t>
            </a:r>
            <a:r>
              <a:rPr lang="en-US" sz="2400" dirty="0" smtClean="0"/>
              <a:t>). </a:t>
            </a:r>
            <a:endParaRPr lang="en-US" sz="2400" dirty="0"/>
          </a:p>
          <a:p>
            <a:r>
              <a:rPr lang="en-US" sz="2400" dirty="0"/>
              <a:t>Increased risk of squamous cell carcinoma, basal cell carcinoma, and melanoma due to reduced protection against </a:t>
            </a:r>
            <a:r>
              <a:rPr lang="en-US" sz="2400" dirty="0" smtClean="0"/>
              <a:t>UVB.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766549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F61E42C-F502-E27D-3817-3A0130ABE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96140" y="1305017"/>
            <a:ext cx="8300621" cy="4536490"/>
          </a:xfrm>
        </p:spPr>
      </p:pic>
    </p:spTree>
    <p:extLst>
      <p:ext uri="{BB962C8B-B14F-4D97-AF65-F5344CB8AC3E}">
        <p14:creationId xmlns:p14="http://schemas.microsoft.com/office/powerpoint/2010/main" xmlns="" val="39936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E9331E-3AE5-44EF-4E96-CDAC637A4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668" y="928980"/>
            <a:ext cx="10515600" cy="48148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NEVUS (MOLE) </a:t>
            </a:r>
          </a:p>
          <a:p>
            <a:r>
              <a:rPr lang="en-US" sz="2400" dirty="0"/>
              <a:t>Benign neoplasm of </a:t>
            </a:r>
            <a:r>
              <a:rPr lang="en-US" sz="2400" dirty="0" err="1" smtClean="0"/>
              <a:t>melanocytes</a:t>
            </a:r>
            <a:r>
              <a:rPr lang="en-US" sz="2400" dirty="0" smtClean="0"/>
              <a:t>. </a:t>
            </a:r>
            <a:endParaRPr lang="en-US" sz="2400" dirty="0"/>
          </a:p>
          <a:p>
            <a:r>
              <a:rPr lang="en-US" sz="2400" dirty="0"/>
              <a:t>Congenital nevus is present at birth; often associated with </a:t>
            </a:r>
            <a:r>
              <a:rPr lang="en-US" sz="2400" dirty="0" smtClean="0"/>
              <a:t>hair. </a:t>
            </a:r>
            <a:endParaRPr lang="en-US" sz="2400" dirty="0"/>
          </a:p>
          <a:p>
            <a:r>
              <a:rPr lang="en-US" sz="2400" dirty="0"/>
              <a:t> Acquired nevus arises later in life. </a:t>
            </a:r>
          </a:p>
          <a:p>
            <a:r>
              <a:rPr lang="en-US" sz="2400" dirty="0"/>
              <a:t>Begins as nests of melanocytes at the dermal-epidermal junction (junctional nevus); most common mole in </a:t>
            </a:r>
            <a:r>
              <a:rPr lang="en-US" sz="2400" dirty="0" smtClean="0"/>
              <a:t>children. </a:t>
            </a:r>
            <a:endParaRPr lang="en-US" sz="2400" dirty="0"/>
          </a:p>
          <a:p>
            <a:r>
              <a:rPr lang="en-US" sz="2400" dirty="0"/>
              <a:t>Grows by extension into the dermis (compound nevus</a:t>
            </a:r>
            <a:r>
              <a:rPr lang="en-US" sz="2400" dirty="0" smtClean="0"/>
              <a:t>). </a:t>
            </a:r>
            <a:endParaRPr lang="en-US" sz="2400" dirty="0"/>
          </a:p>
          <a:p>
            <a:r>
              <a:rPr lang="en-US" sz="2400" dirty="0"/>
              <a:t>Junctional component is eventually lost resulting in an intradermal nevus, which is the most common mole in adults. </a:t>
            </a:r>
          </a:p>
        </p:txBody>
      </p:sp>
    </p:spTree>
    <p:extLst>
      <p:ext uri="{BB962C8B-B14F-4D97-AF65-F5344CB8AC3E}">
        <p14:creationId xmlns:p14="http://schemas.microsoft.com/office/powerpoint/2010/main" xmlns="" val="2132627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248503-B098-38A7-9EC5-C365AD1C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Characterized by a flat macule or raised papule with symmetry, sharp borders, evenly distributed color, and small diameter(&lt; 6 mm</a:t>
            </a:r>
            <a:r>
              <a:rPr lang="en-US" sz="2400" dirty="0" smtClean="0"/>
              <a:t>). </a:t>
            </a:r>
            <a:endParaRPr lang="en-US" sz="2400" dirty="0"/>
          </a:p>
          <a:p>
            <a:r>
              <a:rPr lang="en-US" sz="2400" dirty="0"/>
              <a:t>Dysplasia may arise (dysplastic nevus), which is a precursor to melanoma.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37172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EB6D900-EFD8-F8AE-D915-D2564F89B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89934" y="1509204"/>
            <a:ext cx="7217545" cy="4687410"/>
          </a:xfrm>
        </p:spPr>
      </p:pic>
    </p:spTree>
    <p:extLst>
      <p:ext uri="{BB962C8B-B14F-4D97-AF65-F5344CB8AC3E}">
        <p14:creationId xmlns:p14="http://schemas.microsoft.com/office/powerpoint/2010/main" xmlns="" val="1511441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A1C1B3-86D2-AAAC-38AB-66A65CB64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8274"/>
            <a:ext cx="10515600" cy="5288689"/>
          </a:xfrm>
        </p:spPr>
        <p:txBody>
          <a:bodyPr/>
          <a:lstStyle/>
          <a:p>
            <a:r>
              <a:rPr lang="en-US" b="1" dirty="0" smtClean="0"/>
              <a:t>MELANOMA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sz="2400" dirty="0"/>
              <a:t>Malignant neoplasm of melanocytes; most common cause of death from </a:t>
            </a:r>
            <a:r>
              <a:rPr lang="en-US" sz="2400"/>
              <a:t>skin </a:t>
            </a:r>
            <a:r>
              <a:rPr lang="en-US" sz="2400" smtClean="0"/>
              <a:t>cancer. </a:t>
            </a:r>
            <a:endParaRPr lang="en-US" sz="2400" dirty="0"/>
          </a:p>
          <a:p>
            <a:r>
              <a:rPr lang="en-US" sz="2400" dirty="0"/>
              <a:t>Risk factors are based on DVB-induced DNA damage and include prolonged exposure to sunlight, albinism, and xeroderma pigmentosum; an additional risk factor is dysplastic nevus syndrome (autosomal dominant disorder characterized by formation of dysplastic nevi that may progress to melanoma). </a:t>
            </a:r>
          </a:p>
          <a:p>
            <a:r>
              <a:rPr lang="en-US" sz="2400" dirty="0"/>
              <a:t>Presents as a mole-like growth with "ABCD" </a:t>
            </a:r>
          </a:p>
        </p:txBody>
      </p:sp>
    </p:spTree>
    <p:extLst>
      <p:ext uri="{BB962C8B-B14F-4D97-AF65-F5344CB8AC3E}">
        <p14:creationId xmlns:p14="http://schemas.microsoft.com/office/powerpoint/2010/main" xmlns="" val="3540131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198D7E-E576-70AF-7EA0-5DE12003E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883"/>
            <a:ext cx="10515600" cy="57330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Asymmetry </a:t>
            </a:r>
          </a:p>
          <a:p>
            <a:pPr marL="0" indent="0">
              <a:buNone/>
            </a:pPr>
            <a:r>
              <a:rPr lang="en-US" dirty="0"/>
              <a:t>2. Borders are irregular. </a:t>
            </a:r>
          </a:p>
          <a:p>
            <a:pPr marL="0" indent="0">
              <a:buNone/>
            </a:pPr>
            <a:r>
              <a:rPr lang="en-US" dirty="0"/>
              <a:t>3. Color is not uniform. </a:t>
            </a:r>
          </a:p>
          <a:p>
            <a:pPr marL="0" indent="0">
              <a:buNone/>
            </a:pPr>
            <a:r>
              <a:rPr lang="en-US" dirty="0"/>
              <a:t>4. Diameter &gt; 6 mm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Characterized by two growth phases 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Radial growth </a:t>
            </a:r>
            <a:r>
              <a:rPr lang="en-US" dirty="0"/>
              <a:t>horizontally along the epidermis and superficial</a:t>
            </a:r>
          </a:p>
          <a:p>
            <a:pPr marL="0" indent="0">
              <a:buNone/>
            </a:pPr>
            <a:r>
              <a:rPr lang="en-US" dirty="0"/>
              <a:t>    dermis; low risk of metastasis 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Vertical growth </a:t>
            </a:r>
            <a:r>
              <a:rPr lang="en-US" dirty="0"/>
              <a:t>into the deep dermis </a:t>
            </a:r>
            <a:r>
              <a:rPr lang="en-US" dirty="0" err="1"/>
              <a:t>i</a:t>
            </a:r>
            <a:r>
              <a:rPr lang="en-US" dirty="0"/>
              <a:t>. Increased risk of metastasis;</a:t>
            </a:r>
          </a:p>
          <a:p>
            <a:pPr marL="0" indent="0">
              <a:buNone/>
            </a:pPr>
            <a:r>
              <a:rPr lang="en-US" dirty="0"/>
              <a:t>   depth of extension (Breslow thickness) is the most important</a:t>
            </a:r>
          </a:p>
          <a:p>
            <a:pPr marL="0" indent="0">
              <a:buNone/>
            </a:pPr>
            <a:r>
              <a:rPr lang="en-US" dirty="0"/>
              <a:t>   prognostic factor in predicting metastasis</a:t>
            </a:r>
          </a:p>
        </p:txBody>
      </p:sp>
    </p:spTree>
    <p:extLst>
      <p:ext uri="{BB962C8B-B14F-4D97-AF65-F5344CB8AC3E}">
        <p14:creationId xmlns:p14="http://schemas.microsoft.com/office/powerpoint/2010/main" xmlns="" val="613831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B0EEF80-E2A0-349B-DC03-FAE69D412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11046" y="781235"/>
            <a:ext cx="8975324" cy="4696287"/>
          </a:xfrm>
        </p:spPr>
      </p:pic>
    </p:spTree>
    <p:extLst>
      <p:ext uri="{BB962C8B-B14F-4D97-AF65-F5344CB8AC3E}">
        <p14:creationId xmlns:p14="http://schemas.microsoft.com/office/powerpoint/2010/main" xmlns="" val="2111829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B398D1-FD3A-FC53-8514-78F049BA5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155"/>
            <a:ext cx="10515600" cy="524480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Variants include </a:t>
            </a:r>
          </a:p>
          <a:p>
            <a:pPr marL="0" indent="0">
              <a:buNone/>
            </a:pPr>
            <a:r>
              <a:rPr lang="en-US" b="1" dirty="0"/>
              <a:t>1. Superficial spreading </a:t>
            </a:r>
            <a:r>
              <a:rPr lang="en-US" dirty="0"/>
              <a:t>- most common subtype; dominant early radial growth results in good prognosis. 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Lentigo maligna melanoma </a:t>
            </a:r>
            <a:r>
              <a:rPr lang="en-US" dirty="0"/>
              <a:t>- lentiginous proliferation (radial growth);</a:t>
            </a:r>
          </a:p>
          <a:p>
            <a:pPr marL="0" indent="0">
              <a:buNone/>
            </a:pPr>
            <a:r>
              <a:rPr lang="en-US" dirty="0"/>
              <a:t>    good prognosis 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Nodular </a:t>
            </a:r>
            <a:r>
              <a:rPr lang="en-US" dirty="0"/>
              <a:t>- early vertical growth; poor prognosis 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Acral lentiginous </a:t>
            </a:r>
            <a:r>
              <a:rPr lang="en-US" dirty="0"/>
              <a:t>- arises on the palms or soles, often in dark-skinned</a:t>
            </a:r>
          </a:p>
          <a:p>
            <a:pPr marL="0" indent="0">
              <a:buNone/>
            </a:pPr>
            <a:r>
              <a:rPr lang="en-US" dirty="0"/>
              <a:t>     individuals; not related to UV light exposure </a:t>
            </a:r>
          </a:p>
        </p:txBody>
      </p:sp>
    </p:spTree>
    <p:extLst>
      <p:ext uri="{BB962C8B-B14F-4D97-AF65-F5344CB8AC3E}">
        <p14:creationId xmlns:p14="http://schemas.microsoft.com/office/powerpoint/2010/main" xmlns="" val="3782706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DD231D-10B1-AFED-B598-F4C70C911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219"/>
            <a:ext cx="10515600" cy="5031744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E. INFECTIOUS DISORDERS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IMPETIGO </a:t>
            </a:r>
          </a:p>
          <a:p>
            <a:r>
              <a:rPr lang="en-US" dirty="0"/>
              <a:t>Superficial bacterial skin infection, most often due to S aureus or S pyogenes </a:t>
            </a:r>
          </a:p>
          <a:p>
            <a:r>
              <a:rPr lang="en-US" dirty="0"/>
              <a:t>Commonly affects children </a:t>
            </a:r>
          </a:p>
          <a:p>
            <a:r>
              <a:rPr lang="en-US" dirty="0"/>
              <a:t>Presents as erythematous macules that progress to pustules, usually on the face; rupture of pustules results in erosions and dry, crusted, honey-colored serum</a:t>
            </a:r>
          </a:p>
        </p:txBody>
      </p:sp>
    </p:spTree>
    <p:extLst>
      <p:ext uri="{BB962C8B-B14F-4D97-AF65-F5344CB8AC3E}">
        <p14:creationId xmlns:p14="http://schemas.microsoft.com/office/powerpoint/2010/main" xmlns="" val="236010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7377B9-7644-DAB0-1953-0316B887E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278"/>
            <a:ext cx="10515600" cy="52536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CELLULITIS </a:t>
            </a:r>
          </a:p>
          <a:p>
            <a:r>
              <a:rPr lang="en-US" dirty="0"/>
              <a:t>Deeper (dermal and subcutaneous) infection, usually due to S aureus or S pyogenes </a:t>
            </a:r>
          </a:p>
          <a:p>
            <a:r>
              <a:rPr lang="en-US" dirty="0"/>
              <a:t>Presents as a red, tender, swollen rash with fever </a:t>
            </a:r>
          </a:p>
          <a:p>
            <a:r>
              <a:rPr lang="en-US" dirty="0"/>
              <a:t>Risk factors include recent surgery, trauma, or insect bite. </a:t>
            </a:r>
          </a:p>
          <a:p>
            <a:r>
              <a:rPr lang="en-US" dirty="0"/>
              <a:t>Can progress to necrotizing fasciitis with necrosis of subcutaneous tissues due to infection with anaerobic 'flesh-eating' bacteria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18822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F2EAF5-0B38-73D7-49A2-EDE1DF198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565"/>
            <a:ext cx="10515600" cy="512939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STAPHYLOCOCCAL SCALDED SKIN SYNDROME </a:t>
            </a:r>
          </a:p>
          <a:p>
            <a:r>
              <a:rPr lang="en-US" dirty="0"/>
              <a:t>Sloughing of skin with erythematous rash and fever; leads to significant skin loss </a:t>
            </a:r>
          </a:p>
          <a:p>
            <a:r>
              <a:rPr lang="en-US" dirty="0"/>
              <a:t>Due to S aureus infection; exfoliative A and B toxins result in epidermolysis of the stratum granulosum. </a:t>
            </a:r>
          </a:p>
          <a:p>
            <a:r>
              <a:rPr lang="en-US" dirty="0"/>
              <a:t>Distinguished histologically from toxic epidermal necrolysis by level of skin separation; separation in TEN occurs at the dermal-epidermal junction.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38874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BD5DA8-99AD-4DE8-83A8-C0E3F162D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336"/>
            <a:ext cx="10515600" cy="54756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VERRUCA (WART) </a:t>
            </a:r>
          </a:p>
          <a:p>
            <a:r>
              <a:rPr lang="en-US" dirty="0"/>
              <a:t>Flesh-colored papules with a rough surface </a:t>
            </a:r>
          </a:p>
          <a:p>
            <a:r>
              <a:rPr lang="en-US" dirty="0"/>
              <a:t>Due to HPV infection of keratinocytes; characterized by </a:t>
            </a:r>
            <a:r>
              <a:rPr lang="en-US" dirty="0" err="1"/>
              <a:t>koilocytic</a:t>
            </a:r>
            <a:r>
              <a:rPr lang="en-US" dirty="0"/>
              <a:t> change </a:t>
            </a:r>
          </a:p>
          <a:p>
            <a:r>
              <a:rPr lang="en-US" dirty="0"/>
              <a:t>Hands and feet are common locations. </a:t>
            </a:r>
          </a:p>
        </p:txBody>
      </p:sp>
    </p:spTree>
    <p:extLst>
      <p:ext uri="{BB962C8B-B14F-4D97-AF65-F5344CB8AC3E}">
        <p14:creationId xmlns:p14="http://schemas.microsoft.com/office/powerpoint/2010/main" xmlns="" val="279910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49D87F-2AE3-D1EB-311A-CE8A0B8C4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MOLLUSCUM CONTAGIOSUM </a:t>
            </a:r>
          </a:p>
          <a:p>
            <a:r>
              <a:rPr lang="en-US" dirty="0"/>
              <a:t>Firm, pink, umbilicated papules due to poxvirus; affected keratinocytes show cytoplasmic inclusions (molluscum bodies) </a:t>
            </a:r>
          </a:p>
          <a:p>
            <a:r>
              <a:rPr lang="en-US" dirty="0"/>
              <a:t>Most often arise in children; also occur in sexually active adults and immunocompromised individuals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6754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9B26AF5-5F79-7CC8-23E5-A4D254311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0012" y="905522"/>
            <a:ext cx="9090733" cy="5317725"/>
          </a:xfrm>
        </p:spPr>
      </p:pic>
    </p:spTree>
    <p:extLst>
      <p:ext uri="{BB962C8B-B14F-4D97-AF65-F5344CB8AC3E}">
        <p14:creationId xmlns:p14="http://schemas.microsoft.com/office/powerpoint/2010/main" xmlns="" val="2369318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5BB649-25F0-78F9-8562-E5E88F8C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F50BA0-0615-0A47-ADB4-BEC548808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Robbins and cotrans pathologic basics of disease 10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xmlns="" val="18670794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651AFB-E12B-6E6E-AFDC-CA805F43D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                        Thank you!</a:t>
            </a:r>
          </a:p>
        </p:txBody>
      </p:sp>
    </p:spTree>
    <p:extLst>
      <p:ext uri="{BB962C8B-B14F-4D97-AF65-F5344CB8AC3E}">
        <p14:creationId xmlns:p14="http://schemas.microsoft.com/office/powerpoint/2010/main" xmlns="" val="349721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1661</Words>
  <Application>Microsoft Office PowerPoint</Application>
  <PresentationFormat>Custom</PresentationFormat>
  <Paragraphs>169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Pathology of Skin Disorders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References</vt:lpstr>
      <vt:lpstr>Slide 38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nibretu bekele</dc:creator>
  <cp:lastModifiedBy>user</cp:lastModifiedBy>
  <cp:revision>14</cp:revision>
  <dcterms:created xsi:type="dcterms:W3CDTF">2022-07-23T20:01:05Z</dcterms:created>
  <dcterms:modified xsi:type="dcterms:W3CDTF">2023-11-06T17:41:29Z</dcterms:modified>
</cp:coreProperties>
</file>