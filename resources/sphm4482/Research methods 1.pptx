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53" r:id="rId55"/>
    <p:sldId id="309" r:id="rId56"/>
    <p:sldId id="310" r:id="rId57"/>
    <p:sldId id="311" r:id="rId58"/>
    <p:sldId id="312" r:id="rId59"/>
    <p:sldId id="354" r:id="rId60"/>
    <p:sldId id="313" r:id="rId61"/>
    <p:sldId id="314" r:id="rId62"/>
    <p:sldId id="315" r:id="rId63"/>
    <p:sldId id="316" r:id="rId64"/>
    <p:sldId id="317" r:id="rId65"/>
    <p:sldId id="355" r:id="rId66"/>
    <p:sldId id="318" r:id="rId67"/>
    <p:sldId id="319" r:id="rId68"/>
    <p:sldId id="320" r:id="rId69"/>
    <p:sldId id="328" r:id="rId70"/>
    <p:sldId id="329" r:id="rId71"/>
    <p:sldId id="322" r:id="rId72"/>
    <p:sldId id="323" r:id="rId73"/>
    <p:sldId id="324" r:id="rId74"/>
    <p:sldId id="325" r:id="rId75"/>
    <p:sldId id="326" r:id="rId76"/>
    <p:sldId id="327" r:id="rId77"/>
    <p:sldId id="330" r:id="rId78"/>
    <p:sldId id="331" r:id="rId79"/>
    <p:sldId id="332" r:id="rId80"/>
    <p:sldId id="333" r:id="rId81"/>
    <p:sldId id="334" r:id="rId82"/>
    <p:sldId id="335" r:id="rId83"/>
    <p:sldId id="336" r:id="rId84"/>
    <p:sldId id="337" r:id="rId85"/>
    <p:sldId id="338" r:id="rId86"/>
    <p:sldId id="356" r:id="rId87"/>
    <p:sldId id="339" r:id="rId88"/>
    <p:sldId id="340" r:id="rId89"/>
    <p:sldId id="341" r:id="rId90"/>
    <p:sldId id="342" r:id="rId91"/>
    <p:sldId id="343" r:id="rId92"/>
    <p:sldId id="344" r:id="rId93"/>
    <p:sldId id="345" r:id="rId94"/>
    <p:sldId id="346" r:id="rId95"/>
    <p:sldId id="347" r:id="rId96"/>
    <p:sldId id="348" r:id="rId97"/>
    <p:sldId id="349" r:id="rId98"/>
    <p:sldId id="350" r:id="rId99"/>
    <p:sldId id="351" r:id="rId100"/>
    <p:sldId id="352" r:id="rId10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1" d="100"/>
          <a:sy n="61" d="100"/>
        </p:scale>
        <p:origin x="109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notesMaster" Target="notesMasters/notesMaster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C32381D-0FF5-44E0-84C5-9814F3137B06}" type="datetimeFigureOut">
              <a:rPr lang="en-US" smtClean="0"/>
              <a:t>2/4/2026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2988556-8394-4064-8DA0-BF0E87D9C2AE}" type="slidenum">
              <a:rPr lang="en-US" smtClean="0"/>
              <a:t>‹#›</a:t>
            </a:fld>
            <a:endParaRPr lang="en-US"/>
          </a:p>
        </p:txBody>
      </p:sp>
    </p:spTree>
    <p:extLst>
      <p:ext uri="{BB962C8B-B14F-4D97-AF65-F5344CB8AC3E}">
        <p14:creationId xmlns:p14="http://schemas.microsoft.com/office/powerpoint/2010/main" val="3468419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above anesthesia example, </a:t>
            </a:r>
            <a:r>
              <a:rPr lang="en-US" b="1" dirty="0"/>
              <a:t>assuming that all the given facts are true</a:t>
            </a:r>
            <a:r>
              <a:rPr lang="en-US" dirty="0"/>
              <a:t>, there is </a:t>
            </a:r>
            <a:r>
              <a:rPr lang="en-US" b="1" dirty="0"/>
              <a:t>no need to undertake a research study</a:t>
            </a:r>
            <a:r>
              <a:rPr lang="en-US" dirty="0"/>
              <a:t>, because a </a:t>
            </a:r>
            <a:r>
              <a:rPr lang="en-US" b="1" dirty="0"/>
              <a:t>definite and clear answer</a:t>
            </a:r>
            <a:r>
              <a:rPr lang="en-US" dirty="0"/>
              <a:t> to the problem situation has already been identified.</a:t>
            </a:r>
          </a:p>
          <a:p>
            <a:r>
              <a:rPr lang="en-US" dirty="0"/>
              <a:t>The low proportion of patients who received spinal anesthesia is </a:t>
            </a:r>
            <a:r>
              <a:rPr lang="en-US" b="1" dirty="0"/>
              <a:t>clearly explained</a:t>
            </a:r>
            <a:r>
              <a:rPr lang="en-US" dirty="0"/>
              <a:t> by the fact that most facilities in district “Y” lacked:</a:t>
            </a:r>
          </a:p>
          <a:p>
            <a:r>
              <a:rPr lang="en-US" dirty="0"/>
              <a:t>functioning anesthesia equipment, and</a:t>
            </a:r>
          </a:p>
          <a:p>
            <a:r>
              <a:rPr lang="en-US" dirty="0"/>
              <a:t>trained anesthesia providers and essential supplies.</a:t>
            </a:r>
          </a:p>
          <a:p>
            <a:endParaRPr lang="en-US" dirty="0"/>
          </a:p>
        </p:txBody>
      </p:sp>
      <p:sp>
        <p:nvSpPr>
          <p:cNvPr id="4" name="Slide Number Placeholder 3"/>
          <p:cNvSpPr>
            <a:spLocks noGrp="1"/>
          </p:cNvSpPr>
          <p:nvPr>
            <p:ph type="sldNum" sz="quarter" idx="5"/>
          </p:nvPr>
        </p:nvSpPr>
        <p:spPr/>
        <p:txBody>
          <a:bodyPr/>
          <a:lstStyle/>
          <a:p>
            <a:fld id="{C2988556-8394-4064-8DA0-BF0E87D9C2AE}" type="slidenum">
              <a:rPr lang="en-US" smtClean="0"/>
              <a:t>19</a:t>
            </a:fld>
            <a:endParaRPr lang="en-US"/>
          </a:p>
        </p:txBody>
      </p:sp>
    </p:spTree>
    <p:extLst>
      <p:ext uri="{BB962C8B-B14F-4D97-AF65-F5344CB8AC3E}">
        <p14:creationId xmlns:p14="http://schemas.microsoft.com/office/powerpoint/2010/main" val="2313937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Conclusion:Thus</a:t>
            </a:r>
            <a:r>
              <a:rPr lang="en-US" dirty="0"/>
              <a:t>, the above problem situation is researchable, since multiple plausible explanations exist and no single definite answer is known.</a:t>
            </a:r>
          </a:p>
        </p:txBody>
      </p:sp>
      <p:sp>
        <p:nvSpPr>
          <p:cNvPr id="4" name="Slide Number Placeholder 3"/>
          <p:cNvSpPr>
            <a:spLocks noGrp="1"/>
          </p:cNvSpPr>
          <p:nvPr>
            <p:ph type="sldNum" sz="quarter" idx="5"/>
          </p:nvPr>
        </p:nvSpPr>
        <p:spPr/>
        <p:txBody>
          <a:bodyPr/>
          <a:lstStyle/>
          <a:p>
            <a:fld id="{C2988556-8394-4064-8DA0-BF0E87D9C2AE}" type="slidenum">
              <a:rPr lang="en-US" smtClean="0"/>
              <a:t>20</a:t>
            </a:fld>
            <a:endParaRPr lang="en-US"/>
          </a:p>
        </p:txBody>
      </p:sp>
    </p:spTree>
    <p:extLst>
      <p:ext uri="{BB962C8B-B14F-4D97-AF65-F5344CB8AC3E}">
        <p14:creationId xmlns:p14="http://schemas.microsoft.com/office/powerpoint/2010/main" val="9084220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a:t>
            </a:r>
            <a:r>
              <a:rPr lang="en-US" b="1" dirty="0"/>
              <a:t>Non-intervention (Observational) studies </a:t>
            </a:r>
            <a:r>
              <a:rPr lang="en-US" dirty="0"/>
              <a:t>in which the researcher just observes and analyses researchable objects or situations but does not intervene; and Research methodology</a:t>
            </a:r>
          </a:p>
          <a:p>
            <a:r>
              <a:rPr lang="en-US" b="1" dirty="0"/>
              <a:t>Intervention studies </a:t>
            </a:r>
            <a:r>
              <a:rPr lang="en-US" dirty="0"/>
              <a:t>in which the researcher manipulates objects or situations and measures the outcome of his manipulations (e.g., by implementing intensive health education and measuring the improvement in </a:t>
            </a:r>
            <a:r>
              <a:rPr lang="en-US" dirty="0" err="1"/>
              <a:t>immunisation</a:t>
            </a:r>
            <a:r>
              <a:rPr lang="en-US" dirty="0"/>
              <a:t> rates.) </a:t>
            </a:r>
          </a:p>
        </p:txBody>
      </p:sp>
      <p:sp>
        <p:nvSpPr>
          <p:cNvPr id="4" name="Slide Number Placeholder 3"/>
          <p:cNvSpPr>
            <a:spLocks noGrp="1"/>
          </p:cNvSpPr>
          <p:nvPr>
            <p:ph type="sldNum" sz="quarter" idx="5"/>
          </p:nvPr>
        </p:nvSpPr>
        <p:spPr/>
        <p:txBody>
          <a:bodyPr/>
          <a:lstStyle/>
          <a:p>
            <a:fld id="{C2988556-8394-4064-8DA0-BF0E87D9C2AE}" type="slidenum">
              <a:rPr lang="en-US" smtClean="0"/>
              <a:t>57</a:t>
            </a:fld>
            <a:endParaRPr lang="en-US"/>
          </a:p>
        </p:txBody>
      </p:sp>
    </p:spTree>
    <p:extLst>
      <p:ext uri="{BB962C8B-B14F-4D97-AF65-F5344CB8AC3E}">
        <p14:creationId xmlns:p14="http://schemas.microsoft.com/office/powerpoint/2010/main" val="13844878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first three variables (a to c) are </a:t>
            </a:r>
            <a:r>
              <a:rPr lang="en-US" sz="1200" b="1" i="0" kern="1200" dirty="0">
                <a:solidFill>
                  <a:schemeClr val="tx1"/>
                </a:solidFill>
                <a:effectLst/>
                <a:latin typeface="+mn-lt"/>
                <a:ea typeface="+mn-ea"/>
                <a:cs typeface="+mn-cs"/>
              </a:rPr>
              <a:t>numerical </a:t>
            </a:r>
            <a:r>
              <a:rPr lang="en-US" sz="1200" b="0" i="0" kern="1200" dirty="0">
                <a:solidFill>
                  <a:schemeClr val="tx1"/>
                </a:solidFill>
                <a:effectLst/>
                <a:latin typeface="+mn-lt"/>
                <a:ea typeface="+mn-ea"/>
                <a:cs typeface="+mn-cs"/>
              </a:rPr>
              <a:t>variables because they are expressed in</a:t>
            </a:r>
          </a:p>
          <a:p>
            <a:r>
              <a:rPr lang="en-US" sz="1200" b="0" i="0" kern="1200" dirty="0">
                <a:solidFill>
                  <a:schemeClr val="tx1"/>
                </a:solidFill>
                <a:effectLst/>
                <a:latin typeface="+mn-lt"/>
                <a:ea typeface="+mn-ea"/>
                <a:cs typeface="+mn-cs"/>
              </a:rPr>
              <a:t>numbers (metric data). Since the values of the remaining three variables (d to g) are</a:t>
            </a:r>
          </a:p>
          <a:p>
            <a:r>
              <a:rPr lang="en-US" sz="1200" b="0" i="0" kern="1200" dirty="0">
                <a:solidFill>
                  <a:schemeClr val="tx1"/>
                </a:solidFill>
                <a:effectLst/>
                <a:latin typeface="+mn-lt"/>
                <a:ea typeface="+mn-ea"/>
                <a:cs typeface="+mn-cs"/>
              </a:rPr>
              <a:t>expressed in categories, we call them </a:t>
            </a:r>
            <a:r>
              <a:rPr lang="en-US" sz="1200" b="1" i="0" kern="1200" dirty="0">
                <a:solidFill>
                  <a:schemeClr val="tx1"/>
                </a:solidFill>
                <a:effectLst/>
                <a:latin typeface="+mn-lt"/>
                <a:ea typeface="+mn-ea"/>
                <a:cs typeface="+mn-cs"/>
              </a:rPr>
              <a:t>categorical </a:t>
            </a:r>
            <a:r>
              <a:rPr lang="en-US" sz="1200" b="0" i="0" kern="1200" dirty="0">
                <a:solidFill>
                  <a:schemeClr val="tx1"/>
                </a:solidFill>
                <a:effectLst/>
                <a:latin typeface="+mn-lt"/>
                <a:ea typeface="+mn-ea"/>
                <a:cs typeface="+mn-cs"/>
              </a:rPr>
              <a:t>variables</a:t>
            </a:r>
            <a:r>
              <a:rPr lang="en-US" dirty="0"/>
              <a:t> </a:t>
            </a:r>
            <a:br>
              <a:rPr lang="en-US" dirty="0"/>
            </a:br>
            <a:endParaRPr lang="en-US" dirty="0"/>
          </a:p>
        </p:txBody>
      </p:sp>
      <p:sp>
        <p:nvSpPr>
          <p:cNvPr id="4" name="Slide Number Placeholder 3"/>
          <p:cNvSpPr>
            <a:spLocks noGrp="1"/>
          </p:cNvSpPr>
          <p:nvPr>
            <p:ph type="sldNum" sz="quarter" idx="5"/>
          </p:nvPr>
        </p:nvSpPr>
        <p:spPr/>
        <p:txBody>
          <a:bodyPr/>
          <a:lstStyle/>
          <a:p>
            <a:fld id="{C2988556-8394-4064-8DA0-BF0E87D9C2AE}" type="slidenum">
              <a:rPr lang="en-US" smtClean="0"/>
              <a:t>75</a:t>
            </a:fld>
            <a:endParaRPr lang="en-US"/>
          </a:p>
        </p:txBody>
      </p:sp>
    </p:spTree>
    <p:extLst>
      <p:ext uri="{BB962C8B-B14F-4D97-AF65-F5344CB8AC3E}">
        <p14:creationId xmlns:p14="http://schemas.microsoft.com/office/powerpoint/2010/main" val="13988056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Reliability (or precision): </a:t>
            </a:r>
            <a:r>
              <a:rPr lang="en-US" dirty="0"/>
              <a:t>This refers to the repeatability of a measure, i.e., the degree of closeness between repeated measurement of the same value. Reliability addresses the question, if the same thing is measured several times, how close are the measurements to each other? </a:t>
            </a:r>
          </a:p>
        </p:txBody>
      </p:sp>
      <p:sp>
        <p:nvSpPr>
          <p:cNvPr id="4" name="Slide Number Placeholder 3"/>
          <p:cNvSpPr>
            <a:spLocks noGrp="1"/>
          </p:cNvSpPr>
          <p:nvPr>
            <p:ph type="sldNum" sz="quarter" idx="5"/>
          </p:nvPr>
        </p:nvSpPr>
        <p:spPr/>
        <p:txBody>
          <a:bodyPr/>
          <a:lstStyle/>
          <a:p>
            <a:fld id="{C2988556-8394-4064-8DA0-BF0E87D9C2AE}" type="slidenum">
              <a:rPr lang="en-US" smtClean="0"/>
              <a:t>95</a:t>
            </a:fld>
            <a:endParaRPr lang="en-US"/>
          </a:p>
        </p:txBody>
      </p:sp>
    </p:spTree>
    <p:extLst>
      <p:ext uri="{BB962C8B-B14F-4D97-AF65-F5344CB8AC3E}">
        <p14:creationId xmlns:p14="http://schemas.microsoft.com/office/powerpoint/2010/main" val="13747969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Non-sampling error is a mistake in </a:t>
            </a:r>
            <a:r>
              <a:rPr lang="en-US" sz="1200" b="1" i="1" kern="1200" dirty="0">
                <a:solidFill>
                  <a:schemeClr val="tx1"/>
                </a:solidFill>
                <a:effectLst/>
                <a:latin typeface="+mn-lt"/>
                <a:ea typeface="+mn-ea"/>
                <a:cs typeface="+mn-cs"/>
              </a:rPr>
              <a:t>how</a:t>
            </a:r>
            <a:r>
              <a:rPr lang="en-US" sz="1200" b="1" i="0" kern="1200" dirty="0">
                <a:solidFill>
                  <a:schemeClr val="tx1"/>
                </a:solidFill>
                <a:effectLst/>
                <a:latin typeface="+mn-lt"/>
                <a:ea typeface="+mn-ea"/>
                <a:cs typeface="+mn-cs"/>
              </a:rPr>
              <a:t> you did the work, not </a:t>
            </a:r>
            <a:r>
              <a:rPr lang="en-US" sz="1200" b="1" i="1" kern="1200" dirty="0">
                <a:solidFill>
                  <a:schemeClr val="tx1"/>
                </a:solidFill>
                <a:effectLst/>
                <a:latin typeface="+mn-lt"/>
                <a:ea typeface="+mn-ea"/>
                <a:cs typeface="+mn-cs"/>
              </a:rPr>
              <a:t>who</a:t>
            </a:r>
            <a:r>
              <a:rPr lang="en-US" sz="1200" b="1" i="0" kern="1200" dirty="0">
                <a:solidFill>
                  <a:schemeClr val="tx1"/>
                </a:solidFill>
                <a:effectLst/>
                <a:latin typeface="+mn-lt"/>
                <a:ea typeface="+mn-ea"/>
                <a:cs typeface="+mn-cs"/>
              </a:rPr>
              <a:t> you picked.</a:t>
            </a:r>
            <a:r>
              <a:rPr lang="en-US" sz="1200" b="0" i="0" kern="1200" dirty="0">
                <a:solidFill>
                  <a:schemeClr val="tx1"/>
                </a:solidFill>
                <a:effectLst/>
                <a:latin typeface="+mn-lt"/>
                <a:ea typeface="+mn-ea"/>
                <a:cs typeface="+mn-cs"/>
              </a:rPr>
              <a:t> It doesn't matter if you count the whole jar (a census) or just a scoop; if your method is broken, your answer will be wrong. </a:t>
            </a:r>
            <a:endParaRPr lang="en-US" dirty="0"/>
          </a:p>
        </p:txBody>
      </p:sp>
      <p:sp>
        <p:nvSpPr>
          <p:cNvPr id="4" name="Slide Number Placeholder 3"/>
          <p:cNvSpPr>
            <a:spLocks noGrp="1"/>
          </p:cNvSpPr>
          <p:nvPr>
            <p:ph type="sldNum" sz="quarter" idx="5"/>
          </p:nvPr>
        </p:nvSpPr>
        <p:spPr/>
        <p:txBody>
          <a:bodyPr/>
          <a:lstStyle/>
          <a:p>
            <a:fld id="{C2988556-8394-4064-8DA0-BF0E87D9C2AE}" type="slidenum">
              <a:rPr lang="en-US" smtClean="0"/>
              <a:t>97</a:t>
            </a:fld>
            <a:endParaRPr lang="en-US"/>
          </a:p>
        </p:txBody>
      </p:sp>
    </p:spTree>
    <p:extLst>
      <p:ext uri="{BB962C8B-B14F-4D97-AF65-F5344CB8AC3E}">
        <p14:creationId xmlns:p14="http://schemas.microsoft.com/office/powerpoint/2010/main" val="25979142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20CB-6491-4575-CFE7-0BF16B0AFD2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B49D47A-AADB-C63A-3739-B738C420617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0DC52FA-70D4-652F-C633-14E69E382237}"/>
              </a:ext>
            </a:extLst>
          </p:cNvPr>
          <p:cNvSpPr>
            <a:spLocks noGrp="1"/>
          </p:cNvSpPr>
          <p:nvPr>
            <p:ph type="dt" sz="half" idx="10"/>
          </p:nvPr>
        </p:nvSpPr>
        <p:spPr/>
        <p:txBody>
          <a:bodyPr/>
          <a:lstStyle/>
          <a:p>
            <a:fld id="{F6E01859-C2BC-465C-B8AD-5C966D992A80}" type="datetimeFigureOut">
              <a:rPr lang="en-US" smtClean="0"/>
              <a:t>2/4/2026</a:t>
            </a:fld>
            <a:endParaRPr lang="en-US"/>
          </a:p>
        </p:txBody>
      </p:sp>
      <p:sp>
        <p:nvSpPr>
          <p:cNvPr id="5" name="Footer Placeholder 4">
            <a:extLst>
              <a:ext uri="{FF2B5EF4-FFF2-40B4-BE49-F238E27FC236}">
                <a16:creationId xmlns:a16="http://schemas.microsoft.com/office/drawing/2014/main" id="{EC9A9292-922F-423C-13DF-5A37B514FAC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E0D1002-A71D-2546-1722-AEB28378468A}"/>
              </a:ext>
            </a:extLst>
          </p:cNvPr>
          <p:cNvSpPr>
            <a:spLocks noGrp="1"/>
          </p:cNvSpPr>
          <p:nvPr>
            <p:ph type="sldNum" sz="quarter" idx="12"/>
          </p:nvPr>
        </p:nvSpPr>
        <p:spPr/>
        <p:txBody>
          <a:bodyPr/>
          <a:lstStyle/>
          <a:p>
            <a:fld id="{5B123898-C230-4DE2-96CE-C74843BB557A}" type="slidenum">
              <a:rPr lang="en-US" smtClean="0"/>
              <a:t>‹#›</a:t>
            </a:fld>
            <a:endParaRPr lang="en-US"/>
          </a:p>
        </p:txBody>
      </p:sp>
    </p:spTree>
    <p:extLst>
      <p:ext uri="{BB962C8B-B14F-4D97-AF65-F5344CB8AC3E}">
        <p14:creationId xmlns:p14="http://schemas.microsoft.com/office/powerpoint/2010/main" val="4958898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D6C331-7620-C7ED-AD2B-B996B46D674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A592507-7F62-DBCD-6908-1B0ABAD35EF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75798A2-BE5D-5C0A-D0EE-CC245A58D601}"/>
              </a:ext>
            </a:extLst>
          </p:cNvPr>
          <p:cNvSpPr>
            <a:spLocks noGrp="1"/>
          </p:cNvSpPr>
          <p:nvPr>
            <p:ph type="dt" sz="half" idx="10"/>
          </p:nvPr>
        </p:nvSpPr>
        <p:spPr/>
        <p:txBody>
          <a:bodyPr/>
          <a:lstStyle/>
          <a:p>
            <a:fld id="{F6E01859-C2BC-465C-B8AD-5C966D992A80}" type="datetimeFigureOut">
              <a:rPr lang="en-US" smtClean="0"/>
              <a:t>2/4/2026</a:t>
            </a:fld>
            <a:endParaRPr lang="en-US"/>
          </a:p>
        </p:txBody>
      </p:sp>
      <p:sp>
        <p:nvSpPr>
          <p:cNvPr id="5" name="Footer Placeholder 4">
            <a:extLst>
              <a:ext uri="{FF2B5EF4-FFF2-40B4-BE49-F238E27FC236}">
                <a16:creationId xmlns:a16="http://schemas.microsoft.com/office/drawing/2014/main" id="{89C01E61-E368-BA2A-A88A-15419AEDC7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95DE1C5-8638-094C-97EF-F86519287CE4}"/>
              </a:ext>
            </a:extLst>
          </p:cNvPr>
          <p:cNvSpPr>
            <a:spLocks noGrp="1"/>
          </p:cNvSpPr>
          <p:nvPr>
            <p:ph type="sldNum" sz="quarter" idx="12"/>
          </p:nvPr>
        </p:nvSpPr>
        <p:spPr/>
        <p:txBody>
          <a:bodyPr/>
          <a:lstStyle/>
          <a:p>
            <a:fld id="{5B123898-C230-4DE2-96CE-C74843BB557A}" type="slidenum">
              <a:rPr lang="en-US" smtClean="0"/>
              <a:t>‹#›</a:t>
            </a:fld>
            <a:endParaRPr lang="en-US"/>
          </a:p>
        </p:txBody>
      </p:sp>
    </p:spTree>
    <p:extLst>
      <p:ext uri="{BB962C8B-B14F-4D97-AF65-F5344CB8AC3E}">
        <p14:creationId xmlns:p14="http://schemas.microsoft.com/office/powerpoint/2010/main" val="25017644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831928-2038-72E3-7BFD-54D8282CA31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F83352C-6ACB-46D0-878A-D4E6AD7F277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7616D04-14D9-6A77-CEF2-F70E019E525F}"/>
              </a:ext>
            </a:extLst>
          </p:cNvPr>
          <p:cNvSpPr>
            <a:spLocks noGrp="1"/>
          </p:cNvSpPr>
          <p:nvPr>
            <p:ph type="dt" sz="half" idx="10"/>
          </p:nvPr>
        </p:nvSpPr>
        <p:spPr/>
        <p:txBody>
          <a:bodyPr/>
          <a:lstStyle/>
          <a:p>
            <a:fld id="{F6E01859-C2BC-465C-B8AD-5C966D992A80}" type="datetimeFigureOut">
              <a:rPr lang="en-US" smtClean="0"/>
              <a:t>2/4/2026</a:t>
            </a:fld>
            <a:endParaRPr lang="en-US"/>
          </a:p>
        </p:txBody>
      </p:sp>
      <p:sp>
        <p:nvSpPr>
          <p:cNvPr id="5" name="Footer Placeholder 4">
            <a:extLst>
              <a:ext uri="{FF2B5EF4-FFF2-40B4-BE49-F238E27FC236}">
                <a16:creationId xmlns:a16="http://schemas.microsoft.com/office/drawing/2014/main" id="{F455CF3E-FE4F-B460-FB7F-D249FB52EC6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C4AAB5-6171-B24D-D3B1-E617B8417299}"/>
              </a:ext>
            </a:extLst>
          </p:cNvPr>
          <p:cNvSpPr>
            <a:spLocks noGrp="1"/>
          </p:cNvSpPr>
          <p:nvPr>
            <p:ph type="sldNum" sz="quarter" idx="12"/>
          </p:nvPr>
        </p:nvSpPr>
        <p:spPr/>
        <p:txBody>
          <a:bodyPr/>
          <a:lstStyle/>
          <a:p>
            <a:fld id="{5B123898-C230-4DE2-96CE-C74843BB557A}" type="slidenum">
              <a:rPr lang="en-US" smtClean="0"/>
              <a:t>‹#›</a:t>
            </a:fld>
            <a:endParaRPr lang="en-US"/>
          </a:p>
        </p:txBody>
      </p:sp>
    </p:spTree>
    <p:extLst>
      <p:ext uri="{BB962C8B-B14F-4D97-AF65-F5344CB8AC3E}">
        <p14:creationId xmlns:p14="http://schemas.microsoft.com/office/powerpoint/2010/main" val="35582849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821F33-F480-7991-CEA8-A51613DD0E7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8F2AF12-4ED4-DC81-6284-5F1300EEAC6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C988C2C-7956-F9BA-F849-DDE462D0798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56E012E-BA78-5D97-02EE-7BFB4E1C9F65}"/>
              </a:ext>
            </a:extLst>
          </p:cNvPr>
          <p:cNvSpPr>
            <a:spLocks noGrp="1"/>
          </p:cNvSpPr>
          <p:nvPr>
            <p:ph type="dt" sz="half" idx="10"/>
          </p:nvPr>
        </p:nvSpPr>
        <p:spPr/>
        <p:txBody>
          <a:bodyPr/>
          <a:lstStyle/>
          <a:p>
            <a:fld id="{F6E01859-C2BC-465C-B8AD-5C966D992A80}" type="datetimeFigureOut">
              <a:rPr lang="en-US" smtClean="0"/>
              <a:t>2/4/2026</a:t>
            </a:fld>
            <a:endParaRPr lang="en-US"/>
          </a:p>
        </p:txBody>
      </p:sp>
      <p:sp>
        <p:nvSpPr>
          <p:cNvPr id="6" name="Footer Placeholder 5">
            <a:extLst>
              <a:ext uri="{FF2B5EF4-FFF2-40B4-BE49-F238E27FC236}">
                <a16:creationId xmlns:a16="http://schemas.microsoft.com/office/drawing/2014/main" id="{7B387C31-4D65-224C-944E-036570439D1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BB445F6-7B70-E5D7-02A6-3531174BD61A}"/>
              </a:ext>
            </a:extLst>
          </p:cNvPr>
          <p:cNvSpPr>
            <a:spLocks noGrp="1"/>
          </p:cNvSpPr>
          <p:nvPr>
            <p:ph type="sldNum" sz="quarter" idx="12"/>
          </p:nvPr>
        </p:nvSpPr>
        <p:spPr/>
        <p:txBody>
          <a:bodyPr/>
          <a:lstStyle/>
          <a:p>
            <a:fld id="{5B123898-C230-4DE2-96CE-C74843BB557A}" type="slidenum">
              <a:rPr lang="en-US" smtClean="0"/>
              <a:t>‹#›</a:t>
            </a:fld>
            <a:endParaRPr lang="en-US"/>
          </a:p>
        </p:txBody>
      </p:sp>
    </p:spTree>
    <p:extLst>
      <p:ext uri="{BB962C8B-B14F-4D97-AF65-F5344CB8AC3E}">
        <p14:creationId xmlns:p14="http://schemas.microsoft.com/office/powerpoint/2010/main" val="19198435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CB7B84-4398-6F37-E7EF-E55CE847AEB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ADD845E-DC24-E1C1-7EC0-F2CACE83117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584FED1-390F-1FD9-EEFE-EA7C48D001F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118FCDF-D1AE-79C6-2AD0-D94CFA39A68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4DB932D-552E-E6E8-BD06-F1AE7E211F9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6FD3362-E6C7-ECCF-6C56-41DE3792B740}"/>
              </a:ext>
            </a:extLst>
          </p:cNvPr>
          <p:cNvSpPr>
            <a:spLocks noGrp="1"/>
          </p:cNvSpPr>
          <p:nvPr>
            <p:ph type="dt" sz="half" idx="10"/>
          </p:nvPr>
        </p:nvSpPr>
        <p:spPr/>
        <p:txBody>
          <a:bodyPr/>
          <a:lstStyle/>
          <a:p>
            <a:fld id="{F6E01859-C2BC-465C-B8AD-5C966D992A80}" type="datetimeFigureOut">
              <a:rPr lang="en-US" smtClean="0"/>
              <a:t>2/4/2026</a:t>
            </a:fld>
            <a:endParaRPr lang="en-US"/>
          </a:p>
        </p:txBody>
      </p:sp>
      <p:sp>
        <p:nvSpPr>
          <p:cNvPr id="8" name="Footer Placeholder 7">
            <a:extLst>
              <a:ext uri="{FF2B5EF4-FFF2-40B4-BE49-F238E27FC236}">
                <a16:creationId xmlns:a16="http://schemas.microsoft.com/office/drawing/2014/main" id="{066BDBB2-79F8-5CEE-F718-06FD036AE10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1012674-6E87-913D-379A-9C2F2481D934}"/>
              </a:ext>
            </a:extLst>
          </p:cNvPr>
          <p:cNvSpPr>
            <a:spLocks noGrp="1"/>
          </p:cNvSpPr>
          <p:nvPr>
            <p:ph type="sldNum" sz="quarter" idx="12"/>
          </p:nvPr>
        </p:nvSpPr>
        <p:spPr/>
        <p:txBody>
          <a:bodyPr/>
          <a:lstStyle/>
          <a:p>
            <a:fld id="{5B123898-C230-4DE2-96CE-C74843BB557A}" type="slidenum">
              <a:rPr lang="en-US" smtClean="0"/>
              <a:t>‹#›</a:t>
            </a:fld>
            <a:endParaRPr lang="en-US"/>
          </a:p>
        </p:txBody>
      </p:sp>
    </p:spTree>
    <p:extLst>
      <p:ext uri="{BB962C8B-B14F-4D97-AF65-F5344CB8AC3E}">
        <p14:creationId xmlns:p14="http://schemas.microsoft.com/office/powerpoint/2010/main" val="7370401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54114-11F8-E35C-D7A6-0ADF2945996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D571D0D-8D65-665E-2870-EEC660E2BEC7}"/>
              </a:ext>
            </a:extLst>
          </p:cNvPr>
          <p:cNvSpPr>
            <a:spLocks noGrp="1"/>
          </p:cNvSpPr>
          <p:nvPr>
            <p:ph type="dt" sz="half" idx="10"/>
          </p:nvPr>
        </p:nvSpPr>
        <p:spPr/>
        <p:txBody>
          <a:bodyPr/>
          <a:lstStyle/>
          <a:p>
            <a:fld id="{F6E01859-C2BC-465C-B8AD-5C966D992A80}" type="datetimeFigureOut">
              <a:rPr lang="en-US" smtClean="0"/>
              <a:t>2/4/2026</a:t>
            </a:fld>
            <a:endParaRPr lang="en-US"/>
          </a:p>
        </p:txBody>
      </p:sp>
      <p:sp>
        <p:nvSpPr>
          <p:cNvPr id="4" name="Footer Placeholder 3">
            <a:extLst>
              <a:ext uri="{FF2B5EF4-FFF2-40B4-BE49-F238E27FC236}">
                <a16:creationId xmlns:a16="http://schemas.microsoft.com/office/drawing/2014/main" id="{4A97B048-E1E0-18EB-DDD6-891C5A9967B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32EC71E-1960-3EB9-9954-020938325931}"/>
              </a:ext>
            </a:extLst>
          </p:cNvPr>
          <p:cNvSpPr>
            <a:spLocks noGrp="1"/>
          </p:cNvSpPr>
          <p:nvPr>
            <p:ph type="sldNum" sz="quarter" idx="12"/>
          </p:nvPr>
        </p:nvSpPr>
        <p:spPr/>
        <p:txBody>
          <a:bodyPr/>
          <a:lstStyle/>
          <a:p>
            <a:fld id="{5B123898-C230-4DE2-96CE-C74843BB557A}" type="slidenum">
              <a:rPr lang="en-US" smtClean="0"/>
              <a:t>‹#›</a:t>
            </a:fld>
            <a:endParaRPr lang="en-US"/>
          </a:p>
        </p:txBody>
      </p:sp>
    </p:spTree>
    <p:extLst>
      <p:ext uri="{BB962C8B-B14F-4D97-AF65-F5344CB8AC3E}">
        <p14:creationId xmlns:p14="http://schemas.microsoft.com/office/powerpoint/2010/main" val="33026070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B07069D-9BB5-771B-F9AE-F7F78B3EBE32}"/>
              </a:ext>
            </a:extLst>
          </p:cNvPr>
          <p:cNvSpPr>
            <a:spLocks noGrp="1"/>
          </p:cNvSpPr>
          <p:nvPr>
            <p:ph type="dt" sz="half" idx="10"/>
          </p:nvPr>
        </p:nvSpPr>
        <p:spPr/>
        <p:txBody>
          <a:bodyPr/>
          <a:lstStyle/>
          <a:p>
            <a:fld id="{F6E01859-C2BC-465C-B8AD-5C966D992A80}" type="datetimeFigureOut">
              <a:rPr lang="en-US" smtClean="0"/>
              <a:t>2/4/2026</a:t>
            </a:fld>
            <a:endParaRPr lang="en-US"/>
          </a:p>
        </p:txBody>
      </p:sp>
      <p:sp>
        <p:nvSpPr>
          <p:cNvPr id="3" name="Footer Placeholder 2">
            <a:extLst>
              <a:ext uri="{FF2B5EF4-FFF2-40B4-BE49-F238E27FC236}">
                <a16:creationId xmlns:a16="http://schemas.microsoft.com/office/drawing/2014/main" id="{31FFA308-B019-F4F1-7031-7C24667CCAF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67A46F6-CC46-42A9-C8E1-4B6CF080E346}"/>
              </a:ext>
            </a:extLst>
          </p:cNvPr>
          <p:cNvSpPr>
            <a:spLocks noGrp="1"/>
          </p:cNvSpPr>
          <p:nvPr>
            <p:ph type="sldNum" sz="quarter" idx="12"/>
          </p:nvPr>
        </p:nvSpPr>
        <p:spPr/>
        <p:txBody>
          <a:bodyPr/>
          <a:lstStyle/>
          <a:p>
            <a:fld id="{5B123898-C230-4DE2-96CE-C74843BB557A}" type="slidenum">
              <a:rPr lang="en-US" smtClean="0"/>
              <a:t>‹#›</a:t>
            </a:fld>
            <a:endParaRPr lang="en-US"/>
          </a:p>
        </p:txBody>
      </p:sp>
    </p:spTree>
    <p:extLst>
      <p:ext uri="{BB962C8B-B14F-4D97-AF65-F5344CB8AC3E}">
        <p14:creationId xmlns:p14="http://schemas.microsoft.com/office/powerpoint/2010/main" val="24159629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36FE32-4F5E-AEEF-3019-BA43ECFD38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2565C4-AC08-040E-E93D-6B8DDC2316C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BD11625-D1FD-7DFA-4537-6290FCCDE5F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B5D8905-BDC1-1BA3-43F4-695988DA1041}"/>
              </a:ext>
            </a:extLst>
          </p:cNvPr>
          <p:cNvSpPr>
            <a:spLocks noGrp="1"/>
          </p:cNvSpPr>
          <p:nvPr>
            <p:ph type="dt" sz="half" idx="10"/>
          </p:nvPr>
        </p:nvSpPr>
        <p:spPr/>
        <p:txBody>
          <a:bodyPr/>
          <a:lstStyle/>
          <a:p>
            <a:fld id="{F6E01859-C2BC-465C-B8AD-5C966D992A80}" type="datetimeFigureOut">
              <a:rPr lang="en-US" smtClean="0"/>
              <a:t>2/4/2026</a:t>
            </a:fld>
            <a:endParaRPr lang="en-US"/>
          </a:p>
        </p:txBody>
      </p:sp>
      <p:sp>
        <p:nvSpPr>
          <p:cNvPr id="6" name="Footer Placeholder 5">
            <a:extLst>
              <a:ext uri="{FF2B5EF4-FFF2-40B4-BE49-F238E27FC236}">
                <a16:creationId xmlns:a16="http://schemas.microsoft.com/office/drawing/2014/main" id="{321887D0-8AE1-EA67-E383-EC8C3D7C910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3EA5A0D-A1B3-E8EE-A6EA-35ECA2B8161C}"/>
              </a:ext>
            </a:extLst>
          </p:cNvPr>
          <p:cNvSpPr>
            <a:spLocks noGrp="1"/>
          </p:cNvSpPr>
          <p:nvPr>
            <p:ph type="sldNum" sz="quarter" idx="12"/>
          </p:nvPr>
        </p:nvSpPr>
        <p:spPr/>
        <p:txBody>
          <a:bodyPr/>
          <a:lstStyle/>
          <a:p>
            <a:fld id="{5B123898-C230-4DE2-96CE-C74843BB557A}" type="slidenum">
              <a:rPr lang="en-US" smtClean="0"/>
              <a:t>‹#›</a:t>
            </a:fld>
            <a:endParaRPr lang="en-US"/>
          </a:p>
        </p:txBody>
      </p:sp>
    </p:spTree>
    <p:extLst>
      <p:ext uri="{BB962C8B-B14F-4D97-AF65-F5344CB8AC3E}">
        <p14:creationId xmlns:p14="http://schemas.microsoft.com/office/powerpoint/2010/main" val="6111249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B480EC-2E93-23A3-E667-7BD9D0EB08D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9BFF19C-F282-5361-626A-F551881F5B2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D605636-DCD2-AE24-4B70-31E9A54A8E8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6157ACF-57E0-EC6D-9E3E-2AC598508A2C}"/>
              </a:ext>
            </a:extLst>
          </p:cNvPr>
          <p:cNvSpPr>
            <a:spLocks noGrp="1"/>
          </p:cNvSpPr>
          <p:nvPr>
            <p:ph type="dt" sz="half" idx="10"/>
          </p:nvPr>
        </p:nvSpPr>
        <p:spPr/>
        <p:txBody>
          <a:bodyPr/>
          <a:lstStyle/>
          <a:p>
            <a:fld id="{F6E01859-C2BC-465C-B8AD-5C966D992A80}" type="datetimeFigureOut">
              <a:rPr lang="en-US" smtClean="0"/>
              <a:t>2/4/2026</a:t>
            </a:fld>
            <a:endParaRPr lang="en-US"/>
          </a:p>
        </p:txBody>
      </p:sp>
      <p:sp>
        <p:nvSpPr>
          <p:cNvPr id="6" name="Footer Placeholder 5">
            <a:extLst>
              <a:ext uri="{FF2B5EF4-FFF2-40B4-BE49-F238E27FC236}">
                <a16:creationId xmlns:a16="http://schemas.microsoft.com/office/drawing/2014/main" id="{4C648086-8704-0C51-C80A-3272642EEB5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2453CC7-FDDF-BD26-A442-AAAB38409BB6}"/>
              </a:ext>
            </a:extLst>
          </p:cNvPr>
          <p:cNvSpPr>
            <a:spLocks noGrp="1"/>
          </p:cNvSpPr>
          <p:nvPr>
            <p:ph type="sldNum" sz="quarter" idx="12"/>
          </p:nvPr>
        </p:nvSpPr>
        <p:spPr/>
        <p:txBody>
          <a:bodyPr/>
          <a:lstStyle/>
          <a:p>
            <a:fld id="{5B123898-C230-4DE2-96CE-C74843BB557A}" type="slidenum">
              <a:rPr lang="en-US" smtClean="0"/>
              <a:t>‹#›</a:t>
            </a:fld>
            <a:endParaRPr lang="en-US"/>
          </a:p>
        </p:txBody>
      </p:sp>
    </p:spTree>
    <p:extLst>
      <p:ext uri="{BB962C8B-B14F-4D97-AF65-F5344CB8AC3E}">
        <p14:creationId xmlns:p14="http://schemas.microsoft.com/office/powerpoint/2010/main" val="4774196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99BEAE-F437-087C-1B39-D22D4EA812E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0E302E0-2D41-DAE9-CBF8-77C0D3711F9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321DE2A-1C72-FFF5-82D8-1D91B9DAE206}"/>
              </a:ext>
            </a:extLst>
          </p:cNvPr>
          <p:cNvSpPr>
            <a:spLocks noGrp="1"/>
          </p:cNvSpPr>
          <p:nvPr>
            <p:ph type="dt" sz="half" idx="10"/>
          </p:nvPr>
        </p:nvSpPr>
        <p:spPr/>
        <p:txBody>
          <a:bodyPr/>
          <a:lstStyle/>
          <a:p>
            <a:fld id="{F6E01859-C2BC-465C-B8AD-5C966D992A80}" type="datetimeFigureOut">
              <a:rPr lang="en-US" smtClean="0"/>
              <a:t>2/4/2026</a:t>
            </a:fld>
            <a:endParaRPr lang="en-US"/>
          </a:p>
        </p:txBody>
      </p:sp>
      <p:sp>
        <p:nvSpPr>
          <p:cNvPr id="5" name="Footer Placeholder 4">
            <a:extLst>
              <a:ext uri="{FF2B5EF4-FFF2-40B4-BE49-F238E27FC236}">
                <a16:creationId xmlns:a16="http://schemas.microsoft.com/office/drawing/2014/main" id="{6C05CE24-AB98-EE27-BB51-9D4D002C923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C793664-82BE-68B4-287C-2526F13F2935}"/>
              </a:ext>
            </a:extLst>
          </p:cNvPr>
          <p:cNvSpPr>
            <a:spLocks noGrp="1"/>
          </p:cNvSpPr>
          <p:nvPr>
            <p:ph type="sldNum" sz="quarter" idx="12"/>
          </p:nvPr>
        </p:nvSpPr>
        <p:spPr/>
        <p:txBody>
          <a:bodyPr/>
          <a:lstStyle/>
          <a:p>
            <a:fld id="{5B123898-C230-4DE2-96CE-C74843BB557A}" type="slidenum">
              <a:rPr lang="en-US" smtClean="0"/>
              <a:t>‹#›</a:t>
            </a:fld>
            <a:endParaRPr lang="en-US"/>
          </a:p>
        </p:txBody>
      </p:sp>
    </p:spTree>
    <p:extLst>
      <p:ext uri="{BB962C8B-B14F-4D97-AF65-F5344CB8AC3E}">
        <p14:creationId xmlns:p14="http://schemas.microsoft.com/office/powerpoint/2010/main" val="36952065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A9DA071-31E8-5305-C37C-0E1BB1CCB9D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AB755D7-23C8-80A1-408D-C70F412E3A6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A267E27-338A-1D0B-2561-ABB426F7F02F}"/>
              </a:ext>
            </a:extLst>
          </p:cNvPr>
          <p:cNvSpPr>
            <a:spLocks noGrp="1"/>
          </p:cNvSpPr>
          <p:nvPr>
            <p:ph type="dt" sz="half" idx="10"/>
          </p:nvPr>
        </p:nvSpPr>
        <p:spPr/>
        <p:txBody>
          <a:bodyPr/>
          <a:lstStyle/>
          <a:p>
            <a:fld id="{F6E01859-C2BC-465C-B8AD-5C966D992A80}" type="datetimeFigureOut">
              <a:rPr lang="en-US" smtClean="0"/>
              <a:t>2/4/2026</a:t>
            </a:fld>
            <a:endParaRPr lang="en-US"/>
          </a:p>
        </p:txBody>
      </p:sp>
      <p:sp>
        <p:nvSpPr>
          <p:cNvPr id="5" name="Footer Placeholder 4">
            <a:extLst>
              <a:ext uri="{FF2B5EF4-FFF2-40B4-BE49-F238E27FC236}">
                <a16:creationId xmlns:a16="http://schemas.microsoft.com/office/drawing/2014/main" id="{58BC6909-EE65-03DC-14D1-5DF996CC63E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D76936B-FAF1-D33E-9FBE-643054906655}"/>
              </a:ext>
            </a:extLst>
          </p:cNvPr>
          <p:cNvSpPr>
            <a:spLocks noGrp="1"/>
          </p:cNvSpPr>
          <p:nvPr>
            <p:ph type="sldNum" sz="quarter" idx="12"/>
          </p:nvPr>
        </p:nvSpPr>
        <p:spPr/>
        <p:txBody>
          <a:bodyPr/>
          <a:lstStyle/>
          <a:p>
            <a:fld id="{5B123898-C230-4DE2-96CE-C74843BB557A}" type="slidenum">
              <a:rPr lang="en-US" smtClean="0"/>
              <a:t>‹#›</a:t>
            </a:fld>
            <a:endParaRPr lang="en-US"/>
          </a:p>
        </p:txBody>
      </p:sp>
    </p:spTree>
    <p:extLst>
      <p:ext uri="{BB962C8B-B14F-4D97-AF65-F5344CB8AC3E}">
        <p14:creationId xmlns:p14="http://schemas.microsoft.com/office/powerpoint/2010/main" val="34458512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9EB4B8B-B820-AA6A-2FB8-F96037BE872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FCF0F33-A8E7-022A-2D36-7FF6CAFD340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3834301-BEEF-14E0-9367-4612E025CCD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6E01859-C2BC-465C-B8AD-5C966D992A80}" type="datetimeFigureOut">
              <a:rPr lang="en-US" smtClean="0"/>
              <a:t>2/4/2026</a:t>
            </a:fld>
            <a:endParaRPr lang="en-US"/>
          </a:p>
        </p:txBody>
      </p:sp>
      <p:sp>
        <p:nvSpPr>
          <p:cNvPr id="5" name="Footer Placeholder 4">
            <a:extLst>
              <a:ext uri="{FF2B5EF4-FFF2-40B4-BE49-F238E27FC236}">
                <a16:creationId xmlns:a16="http://schemas.microsoft.com/office/drawing/2014/main" id="{F04F84F2-B0B8-D0E2-B77D-75E45C1041F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44196B9-AC1D-E49A-BB83-4B76AE8997D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B123898-C230-4DE2-96CE-C74843BB557A}" type="slidenum">
              <a:rPr lang="en-US" smtClean="0"/>
              <a:t>‹#›</a:t>
            </a:fld>
            <a:endParaRPr lang="en-US"/>
          </a:p>
        </p:txBody>
      </p:sp>
    </p:spTree>
    <p:extLst>
      <p:ext uri="{BB962C8B-B14F-4D97-AF65-F5344CB8AC3E}">
        <p14:creationId xmlns:p14="http://schemas.microsoft.com/office/powerpoint/2010/main" val="31165019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A0903A-D381-2FA2-5270-E57472DE3E42}"/>
              </a:ext>
            </a:extLst>
          </p:cNvPr>
          <p:cNvSpPr>
            <a:spLocks noGrp="1"/>
          </p:cNvSpPr>
          <p:nvPr>
            <p:ph type="ctrTitle"/>
          </p:nvPr>
        </p:nvSpPr>
        <p:spPr/>
        <p:txBody>
          <a:bodyPr/>
          <a:lstStyle/>
          <a:p>
            <a:r>
              <a:rPr lang="en-US" dirty="0"/>
              <a:t>Research methods</a:t>
            </a:r>
          </a:p>
        </p:txBody>
      </p:sp>
      <p:sp>
        <p:nvSpPr>
          <p:cNvPr id="3" name="Subtitle 2">
            <a:extLst>
              <a:ext uri="{FF2B5EF4-FFF2-40B4-BE49-F238E27FC236}">
                <a16:creationId xmlns:a16="http://schemas.microsoft.com/office/drawing/2014/main" id="{0BD5F089-94D3-299D-AEDE-B456E6E50151}"/>
              </a:ext>
            </a:extLst>
          </p:cNvPr>
          <p:cNvSpPr>
            <a:spLocks noGrp="1"/>
          </p:cNvSpPr>
          <p:nvPr>
            <p:ph type="subTitle" idx="1"/>
          </p:nvPr>
        </p:nvSpPr>
        <p:spPr/>
        <p:txBody>
          <a:bodyPr/>
          <a:lstStyle/>
          <a:p>
            <a:r>
              <a:rPr lang="en-US" dirty="0"/>
              <a:t>Wosen A</a:t>
            </a:r>
          </a:p>
          <a:p>
            <a:r>
              <a:rPr lang="en-US" dirty="0"/>
              <a:t>Anesthesia department</a:t>
            </a:r>
          </a:p>
        </p:txBody>
      </p:sp>
    </p:spTree>
    <p:extLst>
      <p:ext uri="{BB962C8B-B14F-4D97-AF65-F5344CB8AC3E}">
        <p14:creationId xmlns:p14="http://schemas.microsoft.com/office/powerpoint/2010/main" val="2643653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645F95-C961-E281-AFEA-34002263345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E81FCD4-3908-D9CC-7E77-A0B1761E1137}"/>
              </a:ext>
            </a:extLst>
          </p:cNvPr>
          <p:cNvSpPr>
            <a:spLocks noGrp="1"/>
          </p:cNvSpPr>
          <p:nvPr>
            <p:ph idx="1"/>
          </p:nvPr>
        </p:nvSpPr>
        <p:spPr/>
        <p:txBody>
          <a:bodyPr>
            <a:normAutofit/>
          </a:bodyPr>
          <a:lstStyle/>
          <a:p>
            <a:r>
              <a:rPr lang="en-US" dirty="0"/>
              <a:t>Learning Objectives</a:t>
            </a:r>
          </a:p>
          <a:p>
            <a:r>
              <a:rPr lang="en-US" b="1" dirty="0"/>
              <a:t>After completing this chapter, the student should be able to</a:t>
            </a:r>
            <a:r>
              <a:rPr lang="en-US" dirty="0"/>
              <a:t>:</a:t>
            </a:r>
          </a:p>
          <a:p>
            <a:pPr lvl="1"/>
            <a:r>
              <a:rPr lang="en-US" dirty="0"/>
              <a:t>1. Define research in general and health systems research in particular</a:t>
            </a:r>
          </a:p>
          <a:p>
            <a:pPr lvl="1"/>
            <a:r>
              <a:rPr lang="en-US" dirty="0"/>
              <a:t>2. Enumerate the characteristics of research</a:t>
            </a:r>
          </a:p>
          <a:p>
            <a:pPr lvl="1"/>
            <a:r>
              <a:rPr lang="en-US" dirty="0"/>
              <a:t>3. Identify the different types of research</a:t>
            </a:r>
          </a:p>
          <a:p>
            <a:pPr lvl="1"/>
            <a:r>
              <a:rPr lang="en-US" dirty="0"/>
              <a:t>4. List the essential features of health systems research</a:t>
            </a:r>
          </a:p>
          <a:p>
            <a:pPr lvl="1"/>
            <a:r>
              <a:rPr lang="en-US" dirty="0"/>
              <a:t>5. Describe the broad divisions (steps) involved in the research process</a:t>
            </a:r>
          </a:p>
          <a:p>
            <a:pPr lvl="1"/>
            <a:r>
              <a:rPr lang="en-US" dirty="0"/>
              <a:t>6. Explain the roles of research in development </a:t>
            </a:r>
            <a:br>
              <a:rPr lang="en-US" dirty="0"/>
            </a:br>
            <a:endParaRPr lang="en-US" dirty="0"/>
          </a:p>
        </p:txBody>
      </p:sp>
    </p:spTree>
    <p:extLst>
      <p:ext uri="{BB962C8B-B14F-4D97-AF65-F5344CB8AC3E}">
        <p14:creationId xmlns:p14="http://schemas.microsoft.com/office/powerpoint/2010/main" val="353103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658F0A-0B5C-819E-7E70-35CCEEB78E74}"/>
              </a:ext>
            </a:extLst>
          </p:cNvPr>
          <p:cNvSpPr>
            <a:spLocks noGrp="1"/>
          </p:cNvSpPr>
          <p:nvPr>
            <p:ph type="title"/>
          </p:nvPr>
        </p:nvSpPr>
        <p:spPr/>
        <p:txBody>
          <a:bodyPr/>
          <a:lstStyle/>
          <a:p>
            <a:r>
              <a:rPr lang="en-US" b="1" dirty="0"/>
              <a:t>Definition and characteristics of research</a:t>
            </a:r>
            <a:endParaRPr lang="en-US" dirty="0"/>
          </a:p>
        </p:txBody>
      </p:sp>
      <p:sp>
        <p:nvSpPr>
          <p:cNvPr id="3" name="Content Placeholder 2">
            <a:extLst>
              <a:ext uri="{FF2B5EF4-FFF2-40B4-BE49-F238E27FC236}">
                <a16:creationId xmlns:a16="http://schemas.microsoft.com/office/drawing/2014/main" id="{9C7D810F-E1F9-2F7C-3C21-86CF449F9868}"/>
              </a:ext>
            </a:extLst>
          </p:cNvPr>
          <p:cNvSpPr>
            <a:spLocks noGrp="1"/>
          </p:cNvSpPr>
          <p:nvPr>
            <p:ph idx="1"/>
          </p:nvPr>
        </p:nvSpPr>
        <p:spPr/>
        <p:txBody>
          <a:bodyPr/>
          <a:lstStyle/>
          <a:p>
            <a:r>
              <a:rPr lang="en-US" b="1" dirty="0"/>
              <a:t>Definition: </a:t>
            </a:r>
          </a:p>
          <a:p>
            <a:pPr lvl="1"/>
            <a:r>
              <a:rPr lang="en-US" dirty="0"/>
              <a:t>Research is a scientific inquiry aimed at learning new facts, testing ideas, etc.</a:t>
            </a:r>
          </a:p>
          <a:p>
            <a:pPr lvl="1"/>
            <a:r>
              <a:rPr lang="en-US" dirty="0"/>
              <a:t>It is the systematic collection, analysis and interpretation of data to generate new knowledge and answer a certain question or solve a problem </a:t>
            </a:r>
            <a:br>
              <a:rPr lang="en-US" dirty="0"/>
            </a:br>
            <a:endParaRPr lang="en-US" dirty="0"/>
          </a:p>
        </p:txBody>
      </p:sp>
    </p:spTree>
    <p:extLst>
      <p:ext uri="{BB962C8B-B14F-4D97-AF65-F5344CB8AC3E}">
        <p14:creationId xmlns:p14="http://schemas.microsoft.com/office/powerpoint/2010/main" val="18411143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C50FB4-5CDD-756A-45F7-CCA9C66EB37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7DF0895-38CC-D8F9-C8FD-5E7BDA25DA98}"/>
              </a:ext>
            </a:extLst>
          </p:cNvPr>
          <p:cNvSpPr>
            <a:spLocks noGrp="1"/>
          </p:cNvSpPr>
          <p:nvPr>
            <p:ph idx="1"/>
          </p:nvPr>
        </p:nvSpPr>
        <p:spPr/>
        <p:txBody>
          <a:bodyPr>
            <a:normAutofit/>
          </a:bodyPr>
          <a:lstStyle/>
          <a:p>
            <a:r>
              <a:rPr lang="en-US" b="1" dirty="0"/>
              <a:t>Characteristics of research</a:t>
            </a:r>
          </a:p>
          <a:p>
            <a:pPr lvl="1"/>
            <a:r>
              <a:rPr lang="en-US" dirty="0"/>
              <a:t>It demands a clear statement of the problem</a:t>
            </a:r>
          </a:p>
          <a:p>
            <a:pPr lvl="1"/>
            <a:r>
              <a:rPr lang="en-US" dirty="0"/>
              <a:t>It requires a plan (it is not aimlessly “ looking” for something in the hope that you will come across a solution)</a:t>
            </a:r>
          </a:p>
          <a:p>
            <a:pPr lvl="1"/>
            <a:r>
              <a:rPr lang="en-US" dirty="0"/>
              <a:t>It builds on existing data, using both positive and negative findings</a:t>
            </a:r>
          </a:p>
          <a:p>
            <a:pPr lvl="1"/>
            <a:r>
              <a:rPr lang="en-US" dirty="0"/>
              <a:t>New data should be collected as required and be organized in such a way that they answer the research question(s) </a:t>
            </a:r>
            <a:br>
              <a:rPr lang="en-US" dirty="0"/>
            </a:br>
            <a:endParaRPr lang="en-US" dirty="0"/>
          </a:p>
        </p:txBody>
      </p:sp>
    </p:spTree>
    <p:extLst>
      <p:ext uri="{BB962C8B-B14F-4D97-AF65-F5344CB8AC3E}">
        <p14:creationId xmlns:p14="http://schemas.microsoft.com/office/powerpoint/2010/main" val="6976401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8C3B7C-8336-0031-7AD3-3A3C99A64CF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88653CA-A35D-7185-5BE7-66A5F20E3E00}"/>
              </a:ext>
            </a:extLst>
          </p:cNvPr>
          <p:cNvSpPr>
            <a:spLocks noGrp="1"/>
          </p:cNvSpPr>
          <p:nvPr>
            <p:ph idx="1"/>
          </p:nvPr>
        </p:nvSpPr>
        <p:spPr/>
        <p:txBody>
          <a:bodyPr>
            <a:normAutofit lnSpcReduction="10000"/>
          </a:bodyPr>
          <a:lstStyle/>
          <a:p>
            <a:r>
              <a:rPr lang="en-US" b="1" dirty="0"/>
              <a:t>Types of research</a:t>
            </a:r>
          </a:p>
          <a:p>
            <a:pPr lvl="1"/>
            <a:r>
              <a:rPr lang="en-US" dirty="0"/>
              <a:t>Research is a systematic search for information and new knowledge. </a:t>
            </a:r>
          </a:p>
          <a:p>
            <a:pPr lvl="1"/>
            <a:r>
              <a:rPr lang="en-US" dirty="0"/>
              <a:t>It covers topics in every field of science and perceptions of its scope and activities are unlimited. The classical broad divisions of research are: basic and applied research. </a:t>
            </a:r>
          </a:p>
          <a:p>
            <a:pPr lvl="1"/>
            <a:r>
              <a:rPr lang="en-US" dirty="0"/>
              <a:t>The </a:t>
            </a:r>
            <a:r>
              <a:rPr lang="en-US" b="1" dirty="0"/>
              <a:t>basic research </a:t>
            </a:r>
            <a:r>
              <a:rPr lang="en-US" dirty="0"/>
              <a:t>is necessary </a:t>
            </a:r>
            <a:r>
              <a:rPr lang="en-US" b="1" dirty="0"/>
              <a:t>to generate </a:t>
            </a:r>
            <a:r>
              <a:rPr lang="en-US" dirty="0"/>
              <a:t>new knowledge and technologies to deal with major unresolved health problems.</a:t>
            </a:r>
          </a:p>
          <a:p>
            <a:pPr lvl="1"/>
            <a:r>
              <a:rPr lang="en-US" dirty="0"/>
              <a:t>On the other hand, </a:t>
            </a:r>
            <a:r>
              <a:rPr lang="en-US" b="1" dirty="0"/>
              <a:t>applied research </a:t>
            </a:r>
            <a:r>
              <a:rPr lang="en-US" dirty="0"/>
              <a:t>is necessary </a:t>
            </a:r>
            <a:r>
              <a:rPr lang="en-US" b="1" dirty="0"/>
              <a:t>to identify </a:t>
            </a:r>
            <a:r>
              <a:rPr lang="en-US" dirty="0"/>
              <a:t>priority problems and to design and evaluate policies and programs that will deliver the greatest health benefit, making optimal use of available resources. </a:t>
            </a:r>
            <a:br>
              <a:rPr lang="en-US" dirty="0"/>
            </a:br>
            <a:endParaRPr lang="en-US" dirty="0"/>
          </a:p>
        </p:txBody>
      </p:sp>
    </p:spTree>
    <p:extLst>
      <p:ext uri="{BB962C8B-B14F-4D97-AF65-F5344CB8AC3E}">
        <p14:creationId xmlns:p14="http://schemas.microsoft.com/office/powerpoint/2010/main" val="14648676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27B443-7E3F-38C1-3A3D-F53E326134C1}"/>
              </a:ext>
            </a:extLst>
          </p:cNvPr>
          <p:cNvSpPr>
            <a:spLocks noGrp="1"/>
          </p:cNvSpPr>
          <p:nvPr>
            <p:ph type="title"/>
          </p:nvPr>
        </p:nvSpPr>
        <p:spPr/>
        <p:txBody>
          <a:bodyPr/>
          <a:lstStyle/>
          <a:p>
            <a:r>
              <a:rPr lang="en-US" b="1" dirty="0"/>
              <a:t>Quantitative and Qualitative researches: </a:t>
            </a:r>
            <a:endParaRPr lang="en-US" dirty="0"/>
          </a:p>
        </p:txBody>
      </p:sp>
      <p:sp>
        <p:nvSpPr>
          <p:cNvPr id="3" name="Content Placeholder 2">
            <a:extLst>
              <a:ext uri="{FF2B5EF4-FFF2-40B4-BE49-F238E27FC236}">
                <a16:creationId xmlns:a16="http://schemas.microsoft.com/office/drawing/2014/main" id="{50FAA1E6-A1DD-AEC7-AFE2-17DC711BED8F}"/>
              </a:ext>
            </a:extLst>
          </p:cNvPr>
          <p:cNvSpPr>
            <a:spLocks noGrp="1"/>
          </p:cNvSpPr>
          <p:nvPr>
            <p:ph idx="1"/>
          </p:nvPr>
        </p:nvSpPr>
        <p:spPr/>
        <p:txBody>
          <a:bodyPr>
            <a:normAutofit/>
          </a:bodyPr>
          <a:lstStyle/>
          <a:p>
            <a:r>
              <a:rPr lang="en-US" dirty="0"/>
              <a:t>Quantitative research</a:t>
            </a:r>
          </a:p>
          <a:p>
            <a:pPr lvl="1"/>
            <a:r>
              <a:rPr lang="en-US" dirty="0"/>
              <a:t>Quantitative research is a structured, objective method for collecting and analyzing numerical data to identify patterns, test theories, and generalize findings to wider populations. </a:t>
            </a:r>
          </a:p>
          <a:p>
            <a:pPr lvl="1"/>
            <a:r>
              <a:rPr lang="en-US" dirty="0"/>
              <a:t>It focuses on quantifying variables using methods like surveys, experiments, and longitudinal studies, relying on statistical analysis to draw conclusions. </a:t>
            </a:r>
          </a:p>
          <a:p>
            <a:pPr lvl="1"/>
            <a:r>
              <a:rPr lang="en-US" dirty="0"/>
              <a:t>It answers "how many," "how often," or "to what extent". </a:t>
            </a:r>
            <a:br>
              <a:rPr lang="en-US" dirty="0"/>
            </a:br>
            <a:endParaRPr lang="en-US" dirty="0"/>
          </a:p>
        </p:txBody>
      </p:sp>
    </p:spTree>
    <p:extLst>
      <p:ext uri="{BB962C8B-B14F-4D97-AF65-F5344CB8AC3E}">
        <p14:creationId xmlns:p14="http://schemas.microsoft.com/office/powerpoint/2010/main" val="37519367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6D3CF5-57D0-565E-A3A1-91C1F1FE910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448CC06-A309-3895-EED6-3C3E63D6FD9D}"/>
              </a:ext>
            </a:extLst>
          </p:cNvPr>
          <p:cNvSpPr>
            <a:spLocks noGrp="1"/>
          </p:cNvSpPr>
          <p:nvPr>
            <p:ph idx="1"/>
          </p:nvPr>
        </p:nvSpPr>
        <p:spPr/>
        <p:txBody>
          <a:bodyPr>
            <a:normAutofit fontScale="85000" lnSpcReduction="20000"/>
          </a:bodyPr>
          <a:lstStyle/>
          <a:p>
            <a:r>
              <a:rPr lang="en-US" b="1" dirty="0"/>
              <a:t>Qualitative research</a:t>
            </a:r>
          </a:p>
          <a:p>
            <a:pPr lvl="1"/>
            <a:r>
              <a:rPr lang="en-US" dirty="0"/>
              <a:t>Qualitative research is concerned with developing explanations of social phenomena. That is to say, it aims to help us to understand the world in which we live and why things are the way they are. It is concerned with the social aspects of our world and seeks to answer questions</a:t>
            </a:r>
          </a:p>
          <a:p>
            <a:r>
              <a:rPr lang="en-US" dirty="0"/>
              <a:t>about:</a:t>
            </a:r>
          </a:p>
          <a:p>
            <a:pPr marL="457200" lvl="1" indent="0">
              <a:buNone/>
            </a:pPr>
            <a:r>
              <a:rPr lang="en-US" dirty="0"/>
              <a:t>• Why people behave the way they do</a:t>
            </a:r>
          </a:p>
          <a:p>
            <a:pPr marL="457200" lvl="1" indent="0">
              <a:buNone/>
            </a:pPr>
            <a:r>
              <a:rPr lang="en-US" dirty="0"/>
              <a:t>• How opinions and attitudes are formed</a:t>
            </a:r>
          </a:p>
          <a:p>
            <a:pPr marL="457200" lvl="1" indent="0">
              <a:buNone/>
            </a:pPr>
            <a:r>
              <a:rPr lang="en-US" dirty="0"/>
              <a:t>• How people are affected by the events that go on around them</a:t>
            </a:r>
          </a:p>
          <a:p>
            <a:pPr marL="457200" lvl="1" indent="0">
              <a:buNone/>
            </a:pPr>
            <a:r>
              <a:rPr lang="en-US" dirty="0"/>
              <a:t>• How and why cultures have developed in the way they have</a:t>
            </a:r>
          </a:p>
          <a:p>
            <a:r>
              <a:rPr lang="en-US" dirty="0"/>
              <a:t>Qualitative research is concerned with finding the answers to questions which begin with:</a:t>
            </a:r>
          </a:p>
          <a:p>
            <a:pPr lvl="1"/>
            <a:r>
              <a:rPr lang="en-US" dirty="0"/>
              <a:t>Why? How? In what way? Quantitative research, on the other hand, is more concerned with questions about: how much? How many? How often? To what extent? </a:t>
            </a:r>
            <a:r>
              <a:rPr lang="en-US" dirty="0" err="1"/>
              <a:t>etc</a:t>
            </a:r>
            <a:r>
              <a:rPr lang="en-US" dirty="0"/>
              <a:t> </a:t>
            </a:r>
            <a:br>
              <a:rPr lang="en-US" dirty="0"/>
            </a:br>
            <a:endParaRPr lang="en-US" dirty="0"/>
          </a:p>
        </p:txBody>
      </p:sp>
    </p:spTree>
    <p:extLst>
      <p:ext uri="{BB962C8B-B14F-4D97-AF65-F5344CB8AC3E}">
        <p14:creationId xmlns:p14="http://schemas.microsoft.com/office/powerpoint/2010/main" val="29921159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C36A27-AF5F-CCCD-0C2D-4CAAD668C6E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EB61FE1-AB13-A371-71F8-E7BECB14C61F}"/>
              </a:ext>
            </a:extLst>
          </p:cNvPr>
          <p:cNvSpPr>
            <a:spLocks noGrp="1"/>
          </p:cNvSpPr>
          <p:nvPr>
            <p:ph idx="1"/>
          </p:nvPr>
        </p:nvSpPr>
        <p:spPr/>
        <p:txBody>
          <a:bodyPr/>
          <a:lstStyle/>
          <a:p>
            <a:r>
              <a:rPr lang="en-US" dirty="0"/>
              <a:t>Qualitative methods fill a gap in the public health toolbox; they help us understand behaviors, attitudes, perceptions, and culture in a way that quantitative methods alone cannot. </a:t>
            </a:r>
          </a:p>
          <a:p>
            <a:r>
              <a:rPr lang="en-US" dirty="0"/>
              <a:t>For all these reasons, qualitative methods are getting renewed attention and gaining new respect in public health and clinical research</a:t>
            </a:r>
            <a:br>
              <a:rPr lang="en-US" dirty="0"/>
            </a:br>
            <a:endParaRPr lang="en-US" dirty="0"/>
          </a:p>
        </p:txBody>
      </p:sp>
    </p:spTree>
    <p:extLst>
      <p:ext uri="{BB962C8B-B14F-4D97-AF65-F5344CB8AC3E}">
        <p14:creationId xmlns:p14="http://schemas.microsoft.com/office/powerpoint/2010/main" val="16652660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CBF0E0-008A-5E2F-D428-E49EC9A6EDB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3C90EFE-D7CE-ECFF-2045-A759C698DC7A}"/>
              </a:ext>
            </a:extLst>
          </p:cNvPr>
          <p:cNvSpPr>
            <a:spLocks noGrp="1"/>
          </p:cNvSpPr>
          <p:nvPr>
            <p:ph idx="1"/>
          </p:nvPr>
        </p:nvSpPr>
        <p:spPr/>
        <p:txBody>
          <a:bodyPr>
            <a:normAutofit/>
          </a:bodyPr>
          <a:lstStyle/>
          <a:p>
            <a:r>
              <a:rPr lang="en-US" b="1" dirty="0"/>
              <a:t>Essential health research</a:t>
            </a:r>
            <a:r>
              <a:rPr lang="en-US" dirty="0"/>
              <a:t>: </a:t>
            </a:r>
          </a:p>
          <a:p>
            <a:pPr lvl="1"/>
            <a:r>
              <a:rPr lang="en-US" dirty="0"/>
              <a:t>Consists of activities to define the health problems of a given country or community, to measure their importance and to assure the quality of activities to deal with them. </a:t>
            </a:r>
          </a:p>
          <a:p>
            <a:pPr lvl="1"/>
            <a:r>
              <a:rPr lang="en-US" dirty="0"/>
              <a:t>Much of this research comes within the category of health service research but there will be elements of clinical research and development of technology, depending on the situation. </a:t>
            </a:r>
          </a:p>
          <a:p>
            <a:pPr lvl="1"/>
            <a:r>
              <a:rPr lang="en-US" dirty="0"/>
              <a:t>The information, which may be obtained in a number of ways, is essential and specific to each country for planning and monitoring health services. Some of the research conclusions, however, may be generalized and applicable to other areas.</a:t>
            </a:r>
            <a:br>
              <a:rPr lang="en-US" dirty="0"/>
            </a:br>
            <a:endParaRPr lang="en-US" dirty="0"/>
          </a:p>
        </p:txBody>
      </p:sp>
    </p:spTree>
    <p:extLst>
      <p:ext uri="{BB962C8B-B14F-4D97-AF65-F5344CB8AC3E}">
        <p14:creationId xmlns:p14="http://schemas.microsoft.com/office/powerpoint/2010/main" val="22552519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092D31-014D-756D-EC59-FF6D19A7CAB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045E6EA-E52E-107F-0395-A4FB37CA165C}"/>
              </a:ext>
            </a:extLst>
          </p:cNvPr>
          <p:cNvSpPr>
            <a:spLocks noGrp="1"/>
          </p:cNvSpPr>
          <p:nvPr>
            <p:ph idx="1"/>
          </p:nvPr>
        </p:nvSpPr>
        <p:spPr/>
        <p:txBody>
          <a:bodyPr>
            <a:normAutofit/>
          </a:bodyPr>
          <a:lstStyle/>
          <a:p>
            <a:r>
              <a:rPr lang="en-US" b="1" dirty="0"/>
              <a:t>Clinical research</a:t>
            </a:r>
            <a:r>
              <a:rPr lang="en-US" dirty="0"/>
              <a:t>: </a:t>
            </a:r>
          </a:p>
          <a:p>
            <a:pPr lvl="1"/>
            <a:r>
              <a:rPr lang="en-US" dirty="0"/>
              <a:t>Clinical research is a structured branch of medical science involving human participants to evaluate the safety, efficacy, and effectiveness of medications, devices, diagnostic tools, and treatments for improving health. . </a:t>
            </a:r>
          </a:p>
          <a:p>
            <a:pPr lvl="1"/>
            <a:r>
              <a:rPr lang="en-US" dirty="0"/>
              <a:t>Examples include clinical trials of disease prevention and the design of new chemotherapeutic agents. Wherever clinical facilities exist, there is a potential for clinical research.</a:t>
            </a:r>
          </a:p>
        </p:txBody>
      </p:sp>
    </p:spTree>
    <p:extLst>
      <p:ext uri="{BB962C8B-B14F-4D97-AF65-F5344CB8AC3E}">
        <p14:creationId xmlns:p14="http://schemas.microsoft.com/office/powerpoint/2010/main" val="6459239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980C77-64B2-AC5B-9E15-9C04F328F83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B9FC331-D4D7-9169-E3A0-B770A1D36768}"/>
              </a:ext>
            </a:extLst>
          </p:cNvPr>
          <p:cNvSpPr>
            <a:spLocks noGrp="1"/>
          </p:cNvSpPr>
          <p:nvPr>
            <p:ph idx="1"/>
          </p:nvPr>
        </p:nvSpPr>
        <p:spPr/>
        <p:txBody>
          <a:bodyPr>
            <a:normAutofit lnSpcReduction="10000"/>
          </a:bodyPr>
          <a:lstStyle/>
          <a:p>
            <a:r>
              <a:rPr lang="en-US" b="1" dirty="0"/>
              <a:t>Biomedical research: </a:t>
            </a:r>
          </a:p>
          <a:p>
            <a:pPr lvl="1"/>
            <a:r>
              <a:rPr lang="en-US" dirty="0"/>
              <a:t>It is the most basic part of health research which demands more resources, facilities and skilled investigators. </a:t>
            </a:r>
          </a:p>
          <a:p>
            <a:pPr lvl="1"/>
            <a:r>
              <a:rPr lang="en-US" dirty="0"/>
              <a:t>The results of biomedical research are more often of universal importance and thus of general significance.</a:t>
            </a:r>
          </a:p>
          <a:p>
            <a:pPr lvl="1"/>
            <a:r>
              <a:rPr lang="en-US" dirty="0"/>
              <a:t>During the past two decades, concepts and research approaches to support health development have evolved rapidly. </a:t>
            </a:r>
          </a:p>
          <a:p>
            <a:pPr lvl="1"/>
            <a:r>
              <a:rPr lang="en-US" dirty="0"/>
              <a:t>Many of these have been described by specific terms such as operations research, health services research, health manpower research, policy and economic analysis and decision-linked research. </a:t>
            </a:r>
          </a:p>
          <a:p>
            <a:pPr lvl="1"/>
            <a:r>
              <a:rPr lang="en-US" dirty="0"/>
              <a:t>Each of these has made crucial contributions to the development of health research. </a:t>
            </a:r>
            <a:br>
              <a:rPr lang="en-US" dirty="0"/>
            </a:br>
            <a:endParaRPr lang="en-US" dirty="0"/>
          </a:p>
        </p:txBody>
      </p:sp>
    </p:spTree>
    <p:extLst>
      <p:ext uri="{BB962C8B-B14F-4D97-AF65-F5344CB8AC3E}">
        <p14:creationId xmlns:p14="http://schemas.microsoft.com/office/powerpoint/2010/main" val="21617253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7294FB-F5EA-AAF6-1705-2C6C539CFE07}"/>
              </a:ext>
            </a:extLst>
          </p:cNvPr>
          <p:cNvSpPr>
            <a:spLocks noGrp="1"/>
          </p:cNvSpPr>
          <p:nvPr>
            <p:ph type="title"/>
          </p:nvPr>
        </p:nvSpPr>
        <p:spPr/>
        <p:txBody>
          <a:bodyPr/>
          <a:lstStyle/>
          <a:p>
            <a:r>
              <a:rPr lang="en-US" b="1" dirty="0"/>
              <a:t>Health systems research</a:t>
            </a:r>
            <a:endParaRPr lang="en-US" dirty="0"/>
          </a:p>
        </p:txBody>
      </p:sp>
      <p:sp>
        <p:nvSpPr>
          <p:cNvPr id="3" name="Content Placeholder 2">
            <a:extLst>
              <a:ext uri="{FF2B5EF4-FFF2-40B4-BE49-F238E27FC236}">
                <a16:creationId xmlns:a16="http://schemas.microsoft.com/office/drawing/2014/main" id="{292EB23D-C7A2-3D4B-44E8-3887E9284CD8}"/>
              </a:ext>
            </a:extLst>
          </p:cNvPr>
          <p:cNvSpPr>
            <a:spLocks noGrp="1"/>
          </p:cNvSpPr>
          <p:nvPr>
            <p:ph idx="1"/>
          </p:nvPr>
        </p:nvSpPr>
        <p:spPr/>
        <p:txBody>
          <a:bodyPr>
            <a:normAutofit fontScale="92500" lnSpcReduction="20000"/>
          </a:bodyPr>
          <a:lstStyle/>
          <a:p>
            <a:r>
              <a:rPr lang="en-US" dirty="0"/>
              <a:t>It is a component of health research. </a:t>
            </a:r>
          </a:p>
          <a:p>
            <a:r>
              <a:rPr lang="en-US" dirty="0"/>
              <a:t>Research that supports health development has come to be known as Health Systems Research. </a:t>
            </a:r>
          </a:p>
          <a:p>
            <a:r>
              <a:rPr lang="en-US" dirty="0"/>
              <a:t>It is ultimately concerned with improving the health of a community, by enhancing the efficiency and effectiveness of the health system as an integral part of the overall process of socioeconomic development.</a:t>
            </a:r>
          </a:p>
          <a:p>
            <a:r>
              <a:rPr lang="en-US" b="1" dirty="0"/>
              <a:t>Definition of “health system”</a:t>
            </a:r>
          </a:p>
          <a:p>
            <a:r>
              <a:rPr lang="en-US" dirty="0"/>
              <a:t>A health system may be described as:</a:t>
            </a:r>
          </a:p>
          <a:p>
            <a:pPr lvl="1"/>
            <a:r>
              <a:rPr lang="en-US" dirty="0"/>
              <a:t>A set of cultural beliefs about health and illness that forms the basis for health-seeking and health-promoting </a:t>
            </a:r>
            <a:r>
              <a:rPr lang="en-US" dirty="0" err="1"/>
              <a:t>behaviour</a:t>
            </a:r>
            <a:r>
              <a:rPr lang="en-US" dirty="0"/>
              <a:t>.</a:t>
            </a:r>
          </a:p>
          <a:p>
            <a:pPr lvl="1"/>
            <a:r>
              <a:rPr lang="en-US" dirty="0"/>
              <a:t>The institutional arrangements within which that </a:t>
            </a:r>
            <a:r>
              <a:rPr lang="en-US" dirty="0" err="1"/>
              <a:t>behaviour</a:t>
            </a:r>
            <a:r>
              <a:rPr lang="en-US" dirty="0"/>
              <a:t> occurs; and</a:t>
            </a:r>
          </a:p>
          <a:p>
            <a:pPr lvl="1"/>
            <a:r>
              <a:rPr lang="en-US" dirty="0"/>
              <a:t>The socioeconomic (political) physical context for those beliefs and institutions </a:t>
            </a:r>
            <a:br>
              <a:rPr lang="en-US" dirty="0"/>
            </a:br>
            <a:endParaRPr lang="en-US" dirty="0"/>
          </a:p>
        </p:txBody>
      </p:sp>
    </p:spTree>
    <p:extLst>
      <p:ext uri="{BB962C8B-B14F-4D97-AF65-F5344CB8AC3E}">
        <p14:creationId xmlns:p14="http://schemas.microsoft.com/office/powerpoint/2010/main" val="20869188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A7C58A2-FE70-08CF-C655-9490A61D1CC6}"/>
              </a:ext>
            </a:extLst>
          </p:cNvPr>
          <p:cNvSpPr>
            <a:spLocks noGrp="1"/>
          </p:cNvSpPr>
          <p:nvPr>
            <p:ph idx="1"/>
          </p:nvPr>
        </p:nvSpPr>
        <p:spPr>
          <a:xfrm>
            <a:off x="838200" y="882869"/>
            <a:ext cx="10515600" cy="5294094"/>
          </a:xfrm>
        </p:spPr>
        <p:txBody>
          <a:bodyPr/>
          <a:lstStyle/>
          <a:p>
            <a:r>
              <a:rPr lang="en-US" dirty="0"/>
              <a:t>The institutional arrangements within which the health-seeking and health-promoting behavior occurs may include:</a:t>
            </a:r>
          </a:p>
        </p:txBody>
      </p:sp>
      <p:pic>
        <p:nvPicPr>
          <p:cNvPr id="5" name="Picture 4">
            <a:extLst>
              <a:ext uri="{FF2B5EF4-FFF2-40B4-BE49-F238E27FC236}">
                <a16:creationId xmlns:a16="http://schemas.microsoft.com/office/drawing/2014/main" id="{CD100C80-D7BB-617A-4361-F23E47086097}"/>
              </a:ext>
            </a:extLst>
          </p:cNvPr>
          <p:cNvPicPr>
            <a:picLocks noChangeAspect="1"/>
          </p:cNvPicPr>
          <p:nvPr/>
        </p:nvPicPr>
        <p:blipFill>
          <a:blip r:embed="rId2"/>
          <a:stretch>
            <a:fillRect/>
          </a:stretch>
        </p:blipFill>
        <p:spPr>
          <a:xfrm>
            <a:off x="1608084" y="2042086"/>
            <a:ext cx="8166538" cy="4269814"/>
          </a:xfrm>
          <a:prstGeom prst="rect">
            <a:avLst/>
          </a:prstGeom>
        </p:spPr>
      </p:pic>
    </p:spTree>
    <p:extLst>
      <p:ext uri="{BB962C8B-B14F-4D97-AF65-F5344CB8AC3E}">
        <p14:creationId xmlns:p14="http://schemas.microsoft.com/office/powerpoint/2010/main" val="41016284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6160FD-AFB8-24C5-2910-4E4155E267F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52B2A04-492E-FE08-8A61-98F386D71A27}"/>
              </a:ext>
            </a:extLst>
          </p:cNvPr>
          <p:cNvSpPr>
            <a:spLocks noGrp="1"/>
          </p:cNvSpPr>
          <p:nvPr>
            <p:ph idx="1"/>
          </p:nvPr>
        </p:nvSpPr>
        <p:spPr/>
        <p:txBody>
          <a:bodyPr/>
          <a:lstStyle/>
          <a:p>
            <a:r>
              <a:rPr lang="en-US" dirty="0"/>
              <a:t>Main components of any research work</a:t>
            </a:r>
          </a:p>
          <a:p>
            <a:pPr lvl="1"/>
            <a:r>
              <a:rPr lang="en-US" dirty="0"/>
              <a:t>I. Preparing a research proposal</a:t>
            </a:r>
          </a:p>
          <a:p>
            <a:pPr lvl="1"/>
            <a:r>
              <a:rPr lang="en-US" dirty="0"/>
              <a:t>II. Fieldwork (i.e., data collection)</a:t>
            </a:r>
          </a:p>
          <a:p>
            <a:pPr lvl="1"/>
            <a:r>
              <a:rPr lang="en-US" dirty="0"/>
              <a:t>III. Analyzing data and preparing a research report</a:t>
            </a:r>
          </a:p>
          <a:p>
            <a:r>
              <a:rPr lang="en-US" dirty="0"/>
              <a:t>N.B. The roles of health managers and the community should be identified in the various phases of the research process.</a:t>
            </a:r>
          </a:p>
        </p:txBody>
      </p:sp>
    </p:spTree>
    <p:extLst>
      <p:ext uri="{BB962C8B-B14F-4D97-AF65-F5344CB8AC3E}">
        <p14:creationId xmlns:p14="http://schemas.microsoft.com/office/powerpoint/2010/main" val="35859996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A89EE4-32A7-2484-B5E3-BDEBB9336C5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763A004-B105-2F06-A1DA-674790A34FF5}"/>
              </a:ext>
            </a:extLst>
          </p:cNvPr>
          <p:cNvSpPr>
            <a:spLocks noGrp="1"/>
          </p:cNvSpPr>
          <p:nvPr>
            <p:ph idx="1"/>
          </p:nvPr>
        </p:nvSpPr>
        <p:spPr/>
        <p:txBody>
          <a:bodyPr/>
          <a:lstStyle/>
          <a:p>
            <a:r>
              <a:rPr lang="en-US" dirty="0"/>
              <a:t>Class discussion</a:t>
            </a:r>
          </a:p>
          <a:p>
            <a:pPr lvl="1"/>
            <a:r>
              <a:rPr lang="en-US" dirty="0"/>
              <a:t>The health of any community depends on the interaction and balance between the health needs of the community, the health resources that are available, and the selection and application of health and health related interventions. Discuss! </a:t>
            </a:r>
            <a:br>
              <a:rPr lang="en-US" dirty="0"/>
            </a:br>
            <a:endParaRPr lang="en-US" dirty="0"/>
          </a:p>
        </p:txBody>
      </p:sp>
    </p:spTree>
    <p:extLst>
      <p:ext uri="{BB962C8B-B14F-4D97-AF65-F5344CB8AC3E}">
        <p14:creationId xmlns:p14="http://schemas.microsoft.com/office/powerpoint/2010/main" val="22294175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939C0F8-733C-BBD9-28FC-3FC806E1D046}"/>
              </a:ext>
            </a:extLst>
          </p:cNvPr>
          <p:cNvSpPr>
            <a:spLocks noGrp="1"/>
          </p:cNvSpPr>
          <p:nvPr>
            <p:ph type="ctrTitle"/>
          </p:nvPr>
        </p:nvSpPr>
        <p:spPr/>
        <p:txBody>
          <a:bodyPr/>
          <a:lstStyle/>
          <a:p>
            <a:r>
              <a:rPr lang="en-US" dirty="0"/>
              <a:t>Topic selection</a:t>
            </a:r>
          </a:p>
        </p:txBody>
      </p:sp>
      <p:sp>
        <p:nvSpPr>
          <p:cNvPr id="5" name="Subtitle 4">
            <a:extLst>
              <a:ext uri="{FF2B5EF4-FFF2-40B4-BE49-F238E27FC236}">
                <a16:creationId xmlns:a16="http://schemas.microsoft.com/office/drawing/2014/main" id="{D6ECCB2C-8873-961F-5010-A7C29C49FA23}"/>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4821179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8FE8F4-F9DE-F4D2-797A-B2EF638F965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B129CDF-2889-DF9C-89CC-C8278655545D}"/>
              </a:ext>
            </a:extLst>
          </p:cNvPr>
          <p:cNvSpPr>
            <a:spLocks noGrp="1"/>
          </p:cNvSpPr>
          <p:nvPr>
            <p:ph idx="1"/>
          </p:nvPr>
        </p:nvSpPr>
        <p:spPr/>
        <p:txBody>
          <a:bodyPr>
            <a:normAutofit/>
          </a:bodyPr>
          <a:lstStyle/>
          <a:p>
            <a:r>
              <a:rPr lang="en-US" b="1" dirty="0"/>
              <a:t>Learning objectives</a:t>
            </a:r>
          </a:p>
          <a:p>
            <a:r>
              <a:rPr lang="en-US" b="1" dirty="0"/>
              <a:t>After completing this chapter, the student should be able to</a:t>
            </a:r>
            <a:r>
              <a:rPr lang="en-US" dirty="0"/>
              <a:t>:</a:t>
            </a:r>
          </a:p>
          <a:p>
            <a:pPr lvl="1"/>
            <a:r>
              <a:rPr lang="en-US" dirty="0"/>
              <a:t>Examine the cyclical nature of the development of a research proposal</a:t>
            </a:r>
          </a:p>
          <a:p>
            <a:pPr lvl="1"/>
            <a:r>
              <a:rPr lang="en-US" dirty="0"/>
              <a:t>Describe the principles underlying whether a problem situation is researchable.</a:t>
            </a:r>
          </a:p>
          <a:p>
            <a:pPr lvl="1"/>
            <a:r>
              <a:rPr lang="en-US" dirty="0"/>
              <a:t>List the criteria for selecting a research topic.</a:t>
            </a:r>
          </a:p>
          <a:p>
            <a:pPr lvl="1"/>
            <a:r>
              <a:rPr lang="en-US" dirty="0"/>
              <a:t>Identify and select his/her own topic (health problem) for research based on certain guidelines. </a:t>
            </a:r>
            <a:br>
              <a:rPr lang="en-US" dirty="0"/>
            </a:br>
            <a:endParaRPr lang="en-US" dirty="0"/>
          </a:p>
        </p:txBody>
      </p:sp>
    </p:spTree>
    <p:extLst>
      <p:ext uri="{BB962C8B-B14F-4D97-AF65-F5344CB8AC3E}">
        <p14:creationId xmlns:p14="http://schemas.microsoft.com/office/powerpoint/2010/main" val="12007912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B43627-12B4-FEC1-3E33-BC05C09B2ED2}"/>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53266DA4-A415-395F-2209-0F494F1C19F6}"/>
              </a:ext>
            </a:extLst>
          </p:cNvPr>
          <p:cNvSpPr>
            <a:spLocks noGrp="1"/>
          </p:cNvSpPr>
          <p:nvPr>
            <p:ph idx="1"/>
          </p:nvPr>
        </p:nvSpPr>
        <p:spPr/>
        <p:txBody>
          <a:bodyPr>
            <a:normAutofit fontScale="92500"/>
          </a:bodyPr>
          <a:lstStyle/>
          <a:p>
            <a:r>
              <a:rPr lang="en-US" dirty="0"/>
              <a:t>Problem identification</a:t>
            </a:r>
          </a:p>
          <a:p>
            <a:pPr lvl="1"/>
            <a:r>
              <a:rPr lang="en-US" dirty="0"/>
              <a:t>If the answer to the research question is obvious, we are dealing with a management problem that may be solved without further research. A number of research questions could be presented that may be posed at the various levels of the health system.</a:t>
            </a:r>
          </a:p>
          <a:p>
            <a:r>
              <a:rPr lang="en-US" dirty="0"/>
              <a:t>Whether a problem requires research depends on three conditions:</a:t>
            </a:r>
          </a:p>
          <a:p>
            <a:pPr lvl="1"/>
            <a:r>
              <a:rPr lang="en-US" dirty="0"/>
              <a:t>I) There should be a perceived difference or discrepancy between what it is and what it should be;</a:t>
            </a:r>
          </a:p>
          <a:p>
            <a:pPr lvl="1"/>
            <a:r>
              <a:rPr lang="en-US" dirty="0"/>
              <a:t>II) The reason(s) for this difference should be unclear (so that it makes sense to develop a research question); and</a:t>
            </a:r>
          </a:p>
          <a:p>
            <a:pPr lvl="1"/>
            <a:r>
              <a:rPr lang="en-US" dirty="0"/>
              <a:t>III) There should be more than one possible and plausible answer to the question (or solution to the problem).</a:t>
            </a:r>
          </a:p>
        </p:txBody>
      </p:sp>
    </p:spTree>
    <p:extLst>
      <p:ext uri="{BB962C8B-B14F-4D97-AF65-F5344CB8AC3E}">
        <p14:creationId xmlns:p14="http://schemas.microsoft.com/office/powerpoint/2010/main" val="17402724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CE58B1-8BE8-9644-D03F-F875B90A051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A137921-9ABD-12C3-FDCD-0D13C77B2F4F}"/>
              </a:ext>
            </a:extLst>
          </p:cNvPr>
          <p:cNvSpPr>
            <a:spLocks noGrp="1"/>
          </p:cNvSpPr>
          <p:nvPr>
            <p:ph idx="1"/>
          </p:nvPr>
        </p:nvSpPr>
        <p:spPr/>
        <p:txBody>
          <a:bodyPr>
            <a:normAutofit fontScale="92500" lnSpcReduction="20000"/>
          </a:bodyPr>
          <a:lstStyle/>
          <a:p>
            <a:r>
              <a:rPr lang="en-US" dirty="0"/>
              <a:t>Example 1</a:t>
            </a:r>
          </a:p>
          <a:p>
            <a:pPr lvl="1"/>
            <a:r>
              <a:rPr lang="en-US" dirty="0"/>
              <a:t>Problem situation: In district “Y”, a hospital report showed that in the first month of the year 200 patients were scheduled to receive spinal anesthesia for elective surgery. However, at the end of the year, it was found that only 30 patients actually received spinal anesthesia as planned.</a:t>
            </a:r>
          </a:p>
          <a:p>
            <a:pPr lvl="1"/>
            <a:r>
              <a:rPr lang="en-US" dirty="0"/>
              <a:t>Discrepancy: All 200 scheduled patients in district “Y” were expected to receive spinal anesthesia, but only 15% of those planned procedures were carried out using spinal anesthesia.</a:t>
            </a:r>
          </a:p>
          <a:p>
            <a:pPr lvl="1"/>
            <a:r>
              <a:rPr lang="en-US" dirty="0"/>
              <a:t>Problem (research) question: Why did only 15% of patients scheduled for spinal anesthesia actually receive spinal anesthesia in district “Y”?</a:t>
            </a:r>
          </a:p>
          <a:p>
            <a:pPr lvl="1"/>
            <a:r>
              <a:rPr lang="en-US" dirty="0"/>
              <a:t>Definite answer: Out of the one hospital and two health centers providing surgical services in district “Y”, only one facility had a functioning anesthesia machine and trained anesthesia provider. The other facilities frequently lacked essential supplies (spinal needles, local anesthetic drugs) and had staff shortages, leading to cancellation or conversion to general anesthesia.</a:t>
            </a:r>
          </a:p>
        </p:txBody>
      </p:sp>
    </p:spTree>
    <p:extLst>
      <p:ext uri="{BB962C8B-B14F-4D97-AF65-F5344CB8AC3E}">
        <p14:creationId xmlns:p14="http://schemas.microsoft.com/office/powerpoint/2010/main" val="12509723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81942B-A9D5-C002-9C56-F3363F3C18E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5EB4DD6-C09C-F149-73C6-3A9FF1462FD2}"/>
              </a:ext>
            </a:extLst>
          </p:cNvPr>
          <p:cNvSpPr>
            <a:spLocks noGrp="1"/>
          </p:cNvSpPr>
          <p:nvPr>
            <p:ph idx="1"/>
          </p:nvPr>
        </p:nvSpPr>
        <p:spPr/>
        <p:txBody>
          <a:bodyPr>
            <a:normAutofit lnSpcReduction="10000"/>
          </a:bodyPr>
          <a:lstStyle/>
          <a:p>
            <a:r>
              <a:rPr lang="en-US" dirty="0"/>
              <a:t>Example 2 Problem situation:</a:t>
            </a:r>
          </a:p>
          <a:p>
            <a:pPr lvl="1"/>
            <a:r>
              <a:rPr lang="en-US" dirty="0"/>
              <a:t>In district “Z” (population 150,000), there are 2 health centers, 1 hospital, and 15 health stations, all of which are functioning smoothly and provide surgical services. </a:t>
            </a:r>
          </a:p>
          <a:p>
            <a:pPr lvl="1"/>
            <a:r>
              <a:rPr lang="en-US" dirty="0"/>
              <a:t>At the end of the year, however, it was found that only 30% of patients who required surgery received safe anesthesia according to standard practice.</a:t>
            </a:r>
          </a:p>
          <a:p>
            <a:pPr lvl="1"/>
            <a:r>
              <a:rPr lang="en-US" dirty="0"/>
              <a:t>Discrepancy: Although district “Z” has </a:t>
            </a:r>
            <a:r>
              <a:rPr lang="en-US" b="1" dirty="0"/>
              <a:t>100% availability of surgical and anesthesia services,</a:t>
            </a:r>
            <a:r>
              <a:rPr lang="en-US" dirty="0"/>
              <a:t> and at least 80% of surgical patients should have received safe anesthesia care, the coverage of standard anesthesia practice was only 30%.</a:t>
            </a:r>
          </a:p>
          <a:p>
            <a:pPr lvl="1"/>
            <a:r>
              <a:rPr lang="en-US" dirty="0"/>
              <a:t>Problem (research) question: What factors influence the low coverage of safe anesthesia practice in district “Z”?</a:t>
            </a:r>
          </a:p>
        </p:txBody>
      </p:sp>
    </p:spTree>
    <p:extLst>
      <p:ext uri="{BB962C8B-B14F-4D97-AF65-F5344CB8AC3E}">
        <p14:creationId xmlns:p14="http://schemas.microsoft.com/office/powerpoint/2010/main" val="17407134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208C74-5D1F-8195-EEE1-C865E9B7863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D630DC2-3C2B-BE58-7394-26A1BF0DD92C}"/>
              </a:ext>
            </a:extLst>
          </p:cNvPr>
          <p:cNvSpPr>
            <a:spLocks noGrp="1"/>
          </p:cNvSpPr>
          <p:nvPr>
            <p:ph idx="1"/>
          </p:nvPr>
        </p:nvSpPr>
        <p:spPr/>
        <p:txBody>
          <a:bodyPr/>
          <a:lstStyle/>
          <a:p>
            <a:r>
              <a:rPr lang="en-US" dirty="0"/>
              <a:t>Possible answers:</a:t>
            </a:r>
          </a:p>
          <a:p>
            <a:pPr lvl="1"/>
            <a:r>
              <a:rPr lang="en-US" dirty="0"/>
              <a:t>Anesthesia providers may have inadequate training or limited experience in certain techniques.</a:t>
            </a:r>
          </a:p>
          <a:p>
            <a:pPr lvl="1"/>
            <a:r>
              <a:rPr lang="en-US" dirty="0"/>
              <a:t>Essential anesthesia drugs, equipment, or monitoring devices may be intermittently unavailable despite facilities being open.</a:t>
            </a:r>
          </a:p>
          <a:p>
            <a:pPr lvl="1"/>
            <a:r>
              <a:rPr lang="en-US" dirty="0"/>
              <a:t>Poor preoperative assessment and scheduling systems may lead to cancellations or unsafe practices.</a:t>
            </a:r>
          </a:p>
          <a:p>
            <a:pPr lvl="1"/>
            <a:r>
              <a:rPr lang="en-US" dirty="0"/>
              <a:t>Weak integration between surgical, anesthesia, and nursing teams may result in missed opportunities to provide standard anesthesia care.</a:t>
            </a:r>
          </a:p>
          <a:p>
            <a:pPr lvl="1"/>
            <a:r>
              <a:rPr lang="en-US" dirty="0"/>
              <a:t>Inadequate follow-up, supervision, and quality assurance mechanisms.</a:t>
            </a:r>
          </a:p>
          <a:p>
            <a:endParaRPr lang="en-US" dirty="0"/>
          </a:p>
        </p:txBody>
      </p:sp>
    </p:spTree>
    <p:extLst>
      <p:ext uri="{BB962C8B-B14F-4D97-AF65-F5344CB8AC3E}">
        <p14:creationId xmlns:p14="http://schemas.microsoft.com/office/powerpoint/2010/main" val="22812390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736170-D397-3224-5A62-867409A8FB49}"/>
              </a:ext>
            </a:extLst>
          </p:cNvPr>
          <p:cNvSpPr>
            <a:spLocks noGrp="1"/>
          </p:cNvSpPr>
          <p:nvPr>
            <p:ph type="title"/>
          </p:nvPr>
        </p:nvSpPr>
        <p:spPr/>
        <p:txBody>
          <a:bodyPr/>
          <a:lstStyle/>
          <a:p>
            <a:r>
              <a:rPr lang="en-US" i="1" dirty="0"/>
              <a:t>Criteria for selecting a research topic</a:t>
            </a:r>
            <a:endParaRPr lang="en-US" dirty="0"/>
          </a:p>
        </p:txBody>
      </p:sp>
      <p:sp>
        <p:nvSpPr>
          <p:cNvPr id="3" name="Content Placeholder 2">
            <a:extLst>
              <a:ext uri="{FF2B5EF4-FFF2-40B4-BE49-F238E27FC236}">
                <a16:creationId xmlns:a16="http://schemas.microsoft.com/office/drawing/2014/main" id="{48685914-90C5-597A-4D25-A590C27C15F3}"/>
              </a:ext>
            </a:extLst>
          </p:cNvPr>
          <p:cNvSpPr>
            <a:spLocks noGrp="1"/>
          </p:cNvSpPr>
          <p:nvPr>
            <p:ph idx="1"/>
          </p:nvPr>
        </p:nvSpPr>
        <p:spPr/>
        <p:txBody>
          <a:bodyPr>
            <a:normAutofit fontScale="92500" lnSpcReduction="10000"/>
          </a:bodyPr>
          <a:lstStyle/>
          <a:p>
            <a:pPr marL="0" indent="0">
              <a:buNone/>
            </a:pPr>
            <a:r>
              <a:rPr lang="en-US" dirty="0"/>
              <a:t>1. </a:t>
            </a:r>
            <a:r>
              <a:rPr lang="en-US" b="1" dirty="0"/>
              <a:t>Relevance: </a:t>
            </a:r>
            <a:r>
              <a:rPr lang="en-US" dirty="0"/>
              <a:t>The topic you choose should be a priority problem:</a:t>
            </a:r>
          </a:p>
          <a:p>
            <a:r>
              <a:rPr lang="en-US" dirty="0"/>
              <a:t>Questions to be asked include:</a:t>
            </a:r>
          </a:p>
          <a:p>
            <a:pPr lvl="1"/>
            <a:r>
              <a:rPr lang="en-US" b="1" i="1" dirty="0"/>
              <a:t>How large or widespread is the problem?</a:t>
            </a:r>
          </a:p>
          <a:p>
            <a:pPr lvl="1"/>
            <a:r>
              <a:rPr lang="en-US" b="1" i="1" dirty="0"/>
              <a:t>Who is affected?</a:t>
            </a:r>
          </a:p>
          <a:p>
            <a:pPr lvl="1"/>
            <a:r>
              <a:rPr lang="en-US" b="1" i="1" dirty="0"/>
              <a:t>How severe is the problem?</a:t>
            </a:r>
          </a:p>
          <a:p>
            <a:r>
              <a:rPr lang="en-US" dirty="0"/>
              <a:t>2. </a:t>
            </a:r>
            <a:r>
              <a:rPr lang="en-US" b="1" i="1" dirty="0"/>
              <a:t>Avoidance of duplication</a:t>
            </a:r>
            <a:r>
              <a:rPr lang="en-US" dirty="0"/>
              <a:t>: Investigate whether the topic has been researched.</a:t>
            </a:r>
          </a:p>
          <a:p>
            <a:pPr lvl="1"/>
            <a:r>
              <a:rPr lang="en-US" b="1" dirty="0"/>
              <a:t>If the topic has been researched, the results should be reviewed to explore whether major questions that deserve further investigation remain unanswered.</a:t>
            </a:r>
          </a:p>
          <a:p>
            <a:pPr lvl="1"/>
            <a:r>
              <a:rPr lang="en-US" b="1" dirty="0"/>
              <a:t>If not, another topic should be chosen.</a:t>
            </a:r>
            <a:r>
              <a:rPr lang="en-US" dirty="0"/>
              <a:t> </a:t>
            </a:r>
            <a:br>
              <a:rPr lang="en-US" dirty="0"/>
            </a:br>
            <a:endParaRPr lang="en-US" dirty="0"/>
          </a:p>
        </p:txBody>
      </p:sp>
    </p:spTree>
    <p:extLst>
      <p:ext uri="{BB962C8B-B14F-4D97-AF65-F5344CB8AC3E}">
        <p14:creationId xmlns:p14="http://schemas.microsoft.com/office/powerpoint/2010/main" val="42315960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578489-3547-9E8D-57D8-FD392892D16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0EA3A14-A2EC-0CE2-235A-3D89F635758D}"/>
              </a:ext>
            </a:extLst>
          </p:cNvPr>
          <p:cNvSpPr>
            <a:spLocks noGrp="1"/>
          </p:cNvSpPr>
          <p:nvPr>
            <p:ph idx="1"/>
          </p:nvPr>
        </p:nvSpPr>
        <p:spPr/>
        <p:txBody>
          <a:bodyPr>
            <a:normAutofit/>
          </a:bodyPr>
          <a:lstStyle/>
          <a:p>
            <a:pPr marL="0" indent="0">
              <a:buNone/>
            </a:pPr>
            <a:r>
              <a:rPr lang="en-US" dirty="0"/>
              <a:t>3. </a:t>
            </a:r>
            <a:r>
              <a:rPr lang="en-US" b="1" dirty="0"/>
              <a:t>Feasibility: </a:t>
            </a:r>
            <a:r>
              <a:rPr lang="en-US" dirty="0"/>
              <a:t>Consider the complexity of the problem and the resources you will require to carry out the study.</a:t>
            </a:r>
          </a:p>
          <a:p>
            <a:pPr lvl="1"/>
            <a:r>
              <a:rPr lang="en-US" dirty="0"/>
              <a:t>Thought should be given first to personnel, time, equipment and money that are locally available. In situations where the local resources necessary to carry out the project are not sufficient, you might consider sources available at the national level.</a:t>
            </a:r>
          </a:p>
          <a:p>
            <a:pPr marL="0" indent="0">
              <a:buNone/>
            </a:pPr>
            <a:r>
              <a:rPr lang="en-US" b="1" dirty="0"/>
              <a:t>4. Political acceptability: </a:t>
            </a:r>
          </a:p>
          <a:p>
            <a:pPr lvl="1"/>
            <a:r>
              <a:rPr lang="en-US" dirty="0"/>
              <a:t>It is advisable to research a topic that has the interest and support of the authorities. This will facilitate the smooth conduct of the research and increases the chance that the results of the study will be implemented </a:t>
            </a:r>
            <a:br>
              <a:rPr lang="en-US" dirty="0"/>
            </a:br>
            <a:endParaRPr lang="en-US" dirty="0"/>
          </a:p>
        </p:txBody>
      </p:sp>
    </p:spTree>
    <p:extLst>
      <p:ext uri="{BB962C8B-B14F-4D97-AF65-F5344CB8AC3E}">
        <p14:creationId xmlns:p14="http://schemas.microsoft.com/office/powerpoint/2010/main" val="40018560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A359AE-787F-1E0B-06FB-7133BFB4F9C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A0243C0-B77A-2897-5FC5-A1CDAE2710A8}"/>
              </a:ext>
            </a:extLst>
          </p:cNvPr>
          <p:cNvSpPr>
            <a:spLocks noGrp="1"/>
          </p:cNvSpPr>
          <p:nvPr>
            <p:ph idx="1"/>
          </p:nvPr>
        </p:nvSpPr>
        <p:spPr/>
        <p:txBody>
          <a:bodyPr>
            <a:normAutofit lnSpcReduction="10000"/>
          </a:bodyPr>
          <a:lstStyle/>
          <a:p>
            <a:pPr marL="0" indent="0">
              <a:buNone/>
            </a:pPr>
            <a:r>
              <a:rPr lang="en-US" b="1" dirty="0"/>
              <a:t>5. Applicability of possible results and recommendations</a:t>
            </a:r>
          </a:p>
          <a:p>
            <a:pPr lvl="1"/>
            <a:r>
              <a:rPr lang="en-US" dirty="0"/>
              <a:t>Is it likely that the recommendations from the study will be applied? This will depend not only on the blessing of the authorities but also on the availability of resources for implementing the recommendations</a:t>
            </a:r>
            <a:r>
              <a:rPr lang="en-US" b="1" dirty="0"/>
              <a:t>.</a:t>
            </a:r>
            <a:endParaRPr lang="en-US" dirty="0"/>
          </a:p>
          <a:p>
            <a:pPr marL="0" indent="0">
              <a:buNone/>
            </a:pPr>
            <a:r>
              <a:rPr lang="en-US" b="1" dirty="0"/>
              <a:t>6. Urgency of data needed</a:t>
            </a:r>
          </a:p>
          <a:p>
            <a:pPr lvl="1"/>
            <a:r>
              <a:rPr lang="en-US" dirty="0"/>
              <a:t>How urgently are the results needed for making a decision? Which research should be done first and which can be done late?</a:t>
            </a:r>
          </a:p>
          <a:p>
            <a:pPr marL="0" indent="0">
              <a:buNone/>
            </a:pPr>
            <a:r>
              <a:rPr lang="en-US" dirty="0"/>
              <a:t>7. </a:t>
            </a:r>
            <a:r>
              <a:rPr lang="en-US" b="1" dirty="0"/>
              <a:t>Ethical acceptability</a:t>
            </a:r>
          </a:p>
          <a:p>
            <a:pPr lvl="1"/>
            <a:r>
              <a:rPr lang="en-US" dirty="0"/>
              <a:t>We should always consider the possibility that we may inflict harm on others while carrying out research. Therefore, it will be useful to review the proposed study </a:t>
            </a:r>
            <a:br>
              <a:rPr lang="en-US" dirty="0"/>
            </a:br>
            <a:endParaRPr lang="en-US" dirty="0"/>
          </a:p>
        </p:txBody>
      </p:sp>
    </p:spTree>
    <p:extLst>
      <p:ext uri="{BB962C8B-B14F-4D97-AF65-F5344CB8AC3E}">
        <p14:creationId xmlns:p14="http://schemas.microsoft.com/office/powerpoint/2010/main" val="18011287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DB45B99-E079-C07C-A6AB-2974318EA8F9}"/>
              </a:ext>
            </a:extLst>
          </p:cNvPr>
          <p:cNvSpPr>
            <a:spLocks noGrp="1"/>
          </p:cNvSpPr>
          <p:nvPr>
            <p:ph type="title"/>
          </p:nvPr>
        </p:nvSpPr>
        <p:spPr/>
        <p:txBody>
          <a:bodyPr/>
          <a:lstStyle/>
          <a:p>
            <a:r>
              <a:rPr lang="en-US" b="1" i="1" dirty="0"/>
              <a:t>Scales for rating research topics</a:t>
            </a:r>
            <a:endParaRPr lang="en-US" dirty="0"/>
          </a:p>
        </p:txBody>
      </p:sp>
      <p:sp>
        <p:nvSpPr>
          <p:cNvPr id="5" name="Content Placeholder 4">
            <a:extLst>
              <a:ext uri="{FF2B5EF4-FFF2-40B4-BE49-F238E27FC236}">
                <a16:creationId xmlns:a16="http://schemas.microsoft.com/office/drawing/2014/main" id="{2F69DEAF-9057-553F-8D65-65CE91C80698}"/>
              </a:ext>
            </a:extLst>
          </p:cNvPr>
          <p:cNvSpPr>
            <a:spLocks noGrp="1"/>
          </p:cNvSpPr>
          <p:nvPr>
            <p:ph sz="half" idx="1"/>
          </p:nvPr>
        </p:nvSpPr>
        <p:spPr/>
        <p:txBody>
          <a:bodyPr>
            <a:normAutofit fontScale="70000" lnSpcReduction="20000"/>
          </a:bodyPr>
          <a:lstStyle/>
          <a:p>
            <a:r>
              <a:rPr lang="en-US" b="1" dirty="0"/>
              <a:t>Relevance</a:t>
            </a:r>
          </a:p>
          <a:p>
            <a:pPr lvl="1"/>
            <a:r>
              <a:rPr lang="en-US" dirty="0"/>
              <a:t>1 = Not relevant</a:t>
            </a:r>
          </a:p>
          <a:p>
            <a:pPr lvl="1"/>
            <a:r>
              <a:rPr lang="en-US" dirty="0"/>
              <a:t>2 = Relevant</a:t>
            </a:r>
          </a:p>
          <a:p>
            <a:pPr lvl="1"/>
            <a:r>
              <a:rPr lang="en-US" dirty="0"/>
              <a:t>3 = very relevant</a:t>
            </a:r>
          </a:p>
          <a:p>
            <a:r>
              <a:rPr lang="en-US" b="1" dirty="0"/>
              <a:t>Avoidance of duplication</a:t>
            </a:r>
          </a:p>
          <a:p>
            <a:pPr lvl="1"/>
            <a:r>
              <a:rPr lang="en-US" dirty="0"/>
              <a:t>1 = Sufficient information already available</a:t>
            </a:r>
          </a:p>
          <a:p>
            <a:pPr lvl="1"/>
            <a:r>
              <a:rPr lang="en-US" dirty="0"/>
              <a:t>2 = Some information available but major issues not covered</a:t>
            </a:r>
          </a:p>
          <a:p>
            <a:pPr lvl="1"/>
            <a:r>
              <a:rPr lang="en-US" dirty="0"/>
              <a:t>3 = No sound information available on which to base problem-solving</a:t>
            </a:r>
          </a:p>
          <a:p>
            <a:r>
              <a:rPr lang="en-US" b="1" dirty="0"/>
              <a:t>Feasibility</a:t>
            </a:r>
          </a:p>
          <a:p>
            <a:pPr lvl="1"/>
            <a:r>
              <a:rPr lang="en-US" dirty="0"/>
              <a:t>1 = Study not feasible considering available resources</a:t>
            </a:r>
          </a:p>
          <a:p>
            <a:pPr lvl="1"/>
            <a:r>
              <a:rPr lang="en-US" dirty="0"/>
              <a:t>2 = Study feasible considering available resources</a:t>
            </a:r>
          </a:p>
          <a:p>
            <a:pPr lvl="1"/>
            <a:r>
              <a:rPr lang="en-US" dirty="0"/>
              <a:t>3 = Study very feasible considering available resources</a:t>
            </a:r>
          </a:p>
        </p:txBody>
      </p:sp>
      <p:sp>
        <p:nvSpPr>
          <p:cNvPr id="6" name="Content Placeholder 5">
            <a:extLst>
              <a:ext uri="{FF2B5EF4-FFF2-40B4-BE49-F238E27FC236}">
                <a16:creationId xmlns:a16="http://schemas.microsoft.com/office/drawing/2014/main" id="{7C7DC5F0-A5F8-2A1D-9D7A-7E93FBB219C3}"/>
              </a:ext>
            </a:extLst>
          </p:cNvPr>
          <p:cNvSpPr>
            <a:spLocks noGrp="1"/>
          </p:cNvSpPr>
          <p:nvPr>
            <p:ph sz="half" idx="2"/>
          </p:nvPr>
        </p:nvSpPr>
        <p:spPr/>
        <p:txBody>
          <a:bodyPr>
            <a:normAutofit fontScale="70000" lnSpcReduction="20000"/>
          </a:bodyPr>
          <a:lstStyle/>
          <a:p>
            <a:r>
              <a:rPr lang="en-US" b="1" dirty="0"/>
              <a:t>Political acceptability</a:t>
            </a:r>
          </a:p>
          <a:p>
            <a:pPr lvl="1"/>
            <a:r>
              <a:rPr lang="en-US" dirty="0"/>
              <a:t>1 = Topic not acceptable</a:t>
            </a:r>
          </a:p>
          <a:p>
            <a:pPr lvl="1"/>
            <a:r>
              <a:rPr lang="en-US" dirty="0"/>
              <a:t>2 = Topic somewhat acceptable</a:t>
            </a:r>
          </a:p>
          <a:p>
            <a:pPr lvl="1"/>
            <a:r>
              <a:rPr lang="en-US" dirty="0"/>
              <a:t>3 = Topic fully acceptable</a:t>
            </a:r>
          </a:p>
          <a:p>
            <a:r>
              <a:rPr lang="en-US" b="1" dirty="0"/>
              <a:t>Applicability</a:t>
            </a:r>
          </a:p>
          <a:p>
            <a:pPr lvl="1"/>
            <a:r>
              <a:rPr lang="en-US" dirty="0"/>
              <a:t>1 = No chance of recommendations being implemented</a:t>
            </a:r>
          </a:p>
          <a:p>
            <a:pPr lvl="1"/>
            <a:r>
              <a:rPr lang="en-US" dirty="0"/>
              <a:t>2 = Some chance of recommendations being implemented</a:t>
            </a:r>
          </a:p>
          <a:p>
            <a:pPr lvl="1"/>
            <a:r>
              <a:rPr lang="en-US" dirty="0"/>
              <a:t>3 = Good chance of recommendations being implemented</a:t>
            </a:r>
          </a:p>
          <a:p>
            <a:pPr lvl="1"/>
            <a:r>
              <a:rPr lang="en-US" dirty="0"/>
              <a:t>Research methodology</a:t>
            </a:r>
            <a:br>
              <a:rPr lang="en-US" dirty="0"/>
            </a:br>
            <a:endParaRPr lang="en-US" dirty="0"/>
          </a:p>
          <a:p>
            <a:endParaRPr lang="en-US" dirty="0"/>
          </a:p>
        </p:txBody>
      </p:sp>
    </p:spTree>
    <p:extLst>
      <p:ext uri="{BB962C8B-B14F-4D97-AF65-F5344CB8AC3E}">
        <p14:creationId xmlns:p14="http://schemas.microsoft.com/office/powerpoint/2010/main" val="112853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4BD910-39CA-0C7A-FB78-47FD1C31333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ADE7233-2BC1-83BC-5693-66C245CDC059}"/>
              </a:ext>
            </a:extLst>
          </p:cNvPr>
          <p:cNvSpPr>
            <a:spLocks noGrp="1"/>
          </p:cNvSpPr>
          <p:nvPr>
            <p:ph idx="1"/>
          </p:nvPr>
        </p:nvSpPr>
        <p:spPr/>
        <p:txBody>
          <a:bodyPr>
            <a:normAutofit lnSpcReduction="10000"/>
          </a:bodyPr>
          <a:lstStyle/>
          <a:p>
            <a:r>
              <a:rPr lang="en-US" b="1" dirty="0"/>
              <a:t>Urgency</a:t>
            </a:r>
          </a:p>
          <a:p>
            <a:pPr lvl="1"/>
            <a:r>
              <a:rPr lang="en-US" dirty="0"/>
              <a:t>1 = Information not urgently needed</a:t>
            </a:r>
          </a:p>
          <a:p>
            <a:pPr lvl="1"/>
            <a:r>
              <a:rPr lang="en-US" dirty="0"/>
              <a:t>2 = Information could be used but a delay of some months would be acceptable</a:t>
            </a:r>
          </a:p>
          <a:p>
            <a:pPr lvl="1"/>
            <a:r>
              <a:rPr lang="en-US" dirty="0"/>
              <a:t>3 = Data very urgently needed for decision-making</a:t>
            </a:r>
          </a:p>
          <a:p>
            <a:r>
              <a:rPr lang="en-US" b="1" dirty="0"/>
              <a:t>Ethical acceptability</a:t>
            </a:r>
          </a:p>
          <a:p>
            <a:pPr lvl="1"/>
            <a:r>
              <a:rPr lang="en-US" dirty="0"/>
              <a:t>1 = Major ethical problems</a:t>
            </a:r>
          </a:p>
          <a:p>
            <a:pPr lvl="1"/>
            <a:r>
              <a:rPr lang="en-US" dirty="0"/>
              <a:t>2 = Minor ethical problems</a:t>
            </a:r>
          </a:p>
          <a:p>
            <a:pPr lvl="1"/>
            <a:r>
              <a:rPr lang="en-US" dirty="0"/>
              <a:t>3 = No ethical problems</a:t>
            </a:r>
          </a:p>
          <a:p>
            <a:r>
              <a:rPr lang="en-US" dirty="0"/>
              <a:t>N.B. The above rating should be based on the </a:t>
            </a:r>
            <a:r>
              <a:rPr lang="en-US" b="1" dirty="0"/>
              <a:t>existing data </a:t>
            </a:r>
            <a:r>
              <a:rPr lang="en-US" dirty="0"/>
              <a:t>and not on mere assumptions.</a:t>
            </a:r>
          </a:p>
        </p:txBody>
      </p:sp>
    </p:spTree>
    <p:extLst>
      <p:ext uri="{BB962C8B-B14F-4D97-AF65-F5344CB8AC3E}">
        <p14:creationId xmlns:p14="http://schemas.microsoft.com/office/powerpoint/2010/main" val="25789795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4BCB3B-3197-E09C-69E4-C298A868BE6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DD74509-0B51-FFE3-BE08-F5655A4457C6}"/>
              </a:ext>
            </a:extLst>
          </p:cNvPr>
          <p:cNvSpPr>
            <a:spLocks noGrp="1"/>
          </p:cNvSpPr>
          <p:nvPr>
            <p:ph idx="1"/>
          </p:nvPr>
        </p:nvSpPr>
        <p:spPr/>
        <p:txBody>
          <a:bodyPr>
            <a:normAutofit lnSpcReduction="10000"/>
          </a:bodyPr>
          <a:lstStyle/>
          <a:p>
            <a:r>
              <a:rPr lang="en-US" dirty="0"/>
              <a:t>Exercise </a:t>
            </a:r>
          </a:p>
          <a:p>
            <a:pPr lvl="1"/>
            <a:r>
              <a:rPr lang="en-US" dirty="0"/>
              <a:t>In a certain district (population 150,000), </a:t>
            </a:r>
            <a:r>
              <a:rPr lang="en-US" b="1" dirty="0"/>
              <a:t>surgical services are available</a:t>
            </a:r>
            <a:r>
              <a:rPr lang="en-US" dirty="0"/>
              <a:t>, and </a:t>
            </a:r>
            <a:r>
              <a:rPr lang="en-US" b="1" dirty="0"/>
              <a:t>all facilities provide anesthesia care</a:t>
            </a:r>
            <a:r>
              <a:rPr lang="en-US" dirty="0"/>
              <a:t>. However, the </a:t>
            </a:r>
            <a:r>
              <a:rPr lang="en-US" b="1" dirty="0"/>
              <a:t>quality of anesthesia monitoring is poor</a:t>
            </a:r>
            <a:r>
              <a:rPr lang="en-US" dirty="0"/>
              <a:t>: only </a:t>
            </a:r>
            <a:r>
              <a:rPr lang="en-US" b="1" dirty="0"/>
              <a:t>10% of operating rooms routinely use pulse oximetry and blood pressure monitoring</a:t>
            </a:r>
            <a:r>
              <a:rPr lang="en-US" dirty="0"/>
              <a:t> during surgery. </a:t>
            </a:r>
          </a:p>
          <a:p>
            <a:pPr lvl="1"/>
            <a:r>
              <a:rPr lang="en-US" dirty="0"/>
              <a:t>As a result, </a:t>
            </a:r>
            <a:r>
              <a:rPr lang="en-US" b="1" dirty="0"/>
              <a:t>anesthesia-related complications</a:t>
            </a:r>
            <a:r>
              <a:rPr lang="en-US" dirty="0"/>
              <a:t> such as intraoperative hypoxia, hypotension, and delayed recovery are frequently reported.</a:t>
            </a:r>
          </a:p>
          <a:p>
            <a:pPr lvl="1"/>
            <a:r>
              <a:rPr lang="en-US" dirty="0"/>
              <a:t>The Ministry of Health initiated a </a:t>
            </a:r>
            <a:r>
              <a:rPr lang="en-US" b="1" dirty="0"/>
              <a:t>Safe Anesthesia Improvement Project</a:t>
            </a:r>
            <a:r>
              <a:rPr lang="en-US" dirty="0"/>
              <a:t>, aiming to increase the use of </a:t>
            </a:r>
            <a:r>
              <a:rPr lang="en-US" b="1" dirty="0"/>
              <a:t>standard anesthesia monitoring</a:t>
            </a:r>
            <a:r>
              <a:rPr lang="en-US" dirty="0"/>
              <a:t> by </a:t>
            </a:r>
            <a:r>
              <a:rPr lang="en-US" b="1" dirty="0"/>
              <a:t>20% each year</a:t>
            </a:r>
            <a:r>
              <a:rPr lang="en-US" dirty="0"/>
              <a:t>. </a:t>
            </a:r>
          </a:p>
          <a:p>
            <a:pPr lvl="1"/>
            <a:r>
              <a:rPr lang="en-US" dirty="0"/>
              <a:t>The project supplies basic monitoring equipment, while health facilities are expected to ensure </a:t>
            </a:r>
            <a:r>
              <a:rPr lang="en-US" b="1" dirty="0"/>
              <a:t>trained staff and routine use</a:t>
            </a:r>
            <a:r>
              <a:rPr lang="en-US" dirty="0"/>
              <a:t>. Two years later, </a:t>
            </a:r>
            <a:r>
              <a:rPr lang="en-US" b="1" dirty="0"/>
              <a:t>less than half of the target has been achieved</a:t>
            </a:r>
            <a:r>
              <a:rPr lang="en-US" dirty="0"/>
              <a:t>.</a:t>
            </a:r>
          </a:p>
          <a:p>
            <a:endParaRPr lang="en-US" dirty="0"/>
          </a:p>
        </p:txBody>
      </p:sp>
    </p:spTree>
    <p:extLst>
      <p:ext uri="{BB962C8B-B14F-4D97-AF65-F5344CB8AC3E}">
        <p14:creationId xmlns:p14="http://schemas.microsoft.com/office/powerpoint/2010/main" val="256530665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5C220C-22FA-40E8-C1B5-1720E3E34DA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2B66568-B7A2-B0A7-6F2B-E090F913C990}"/>
              </a:ext>
            </a:extLst>
          </p:cNvPr>
          <p:cNvSpPr>
            <a:spLocks noGrp="1"/>
          </p:cNvSpPr>
          <p:nvPr>
            <p:ph idx="1"/>
          </p:nvPr>
        </p:nvSpPr>
        <p:spPr/>
        <p:txBody>
          <a:bodyPr/>
          <a:lstStyle/>
          <a:p>
            <a:r>
              <a:rPr lang="en-US" b="1" dirty="0"/>
              <a:t>Tasks for students:</a:t>
            </a:r>
            <a:endParaRPr lang="en-US" dirty="0"/>
          </a:p>
          <a:p>
            <a:pPr lvl="1"/>
            <a:r>
              <a:rPr lang="en-US" dirty="0"/>
              <a:t>State the </a:t>
            </a:r>
            <a:r>
              <a:rPr lang="en-US" b="1" dirty="0"/>
              <a:t>discrepancy</a:t>
            </a:r>
            <a:endParaRPr lang="en-US" dirty="0"/>
          </a:p>
          <a:p>
            <a:pPr lvl="1"/>
            <a:r>
              <a:rPr lang="en-US" dirty="0"/>
              <a:t>Formulate the </a:t>
            </a:r>
            <a:r>
              <a:rPr lang="en-US" b="1" dirty="0"/>
              <a:t>research question</a:t>
            </a:r>
            <a:endParaRPr lang="en-US" dirty="0"/>
          </a:p>
          <a:p>
            <a:pPr lvl="1"/>
            <a:r>
              <a:rPr lang="en-US" dirty="0"/>
              <a:t>List the </a:t>
            </a:r>
            <a:r>
              <a:rPr lang="en-US" b="1" dirty="0"/>
              <a:t>possible answers</a:t>
            </a:r>
            <a:endParaRPr lang="en-US" dirty="0"/>
          </a:p>
          <a:p>
            <a:pPr lvl="1"/>
            <a:r>
              <a:rPr lang="en-US" dirty="0"/>
              <a:t>Decide whether this </a:t>
            </a:r>
            <a:r>
              <a:rPr lang="en-US" b="1" dirty="0"/>
              <a:t>problem situation is researchable</a:t>
            </a:r>
            <a:endParaRPr lang="en-US" dirty="0"/>
          </a:p>
          <a:p>
            <a:endParaRPr lang="en-US" dirty="0"/>
          </a:p>
        </p:txBody>
      </p:sp>
    </p:spTree>
    <p:extLst>
      <p:ext uri="{BB962C8B-B14F-4D97-AF65-F5344CB8AC3E}">
        <p14:creationId xmlns:p14="http://schemas.microsoft.com/office/powerpoint/2010/main" val="12776584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8426DE-0018-9C26-491D-52C255CD650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58F6136-A6CB-5FFC-5596-EE18BDD886B8}"/>
              </a:ext>
            </a:extLst>
          </p:cNvPr>
          <p:cNvSpPr>
            <a:spLocks noGrp="1"/>
          </p:cNvSpPr>
          <p:nvPr>
            <p:ph idx="1"/>
          </p:nvPr>
        </p:nvSpPr>
        <p:spPr/>
        <p:txBody>
          <a:bodyPr/>
          <a:lstStyle/>
          <a:p>
            <a:r>
              <a:rPr lang="en-US" b="1" dirty="0"/>
              <a:t>2. Field-based exercise</a:t>
            </a:r>
          </a:p>
          <a:p>
            <a:r>
              <a:rPr lang="en-US" dirty="0"/>
              <a:t>Think of your </a:t>
            </a:r>
            <a:r>
              <a:rPr lang="en-US" b="1" dirty="0"/>
              <a:t>hospital where you attach for practice </a:t>
            </a:r>
            <a:r>
              <a:rPr lang="en-US" dirty="0"/>
              <a:t>and identify </a:t>
            </a:r>
            <a:r>
              <a:rPr lang="en-US" b="1" dirty="0"/>
              <a:t>three anesthesia-related problems</a:t>
            </a:r>
            <a:r>
              <a:rPr lang="en-US" dirty="0"/>
              <a:t>, for example:</a:t>
            </a:r>
          </a:p>
          <a:p>
            <a:pPr lvl="1"/>
            <a:r>
              <a:rPr lang="en-US" dirty="0"/>
              <a:t>Inadequate preoperative anesthesia assessment</a:t>
            </a:r>
          </a:p>
          <a:p>
            <a:pPr lvl="1"/>
            <a:r>
              <a:rPr lang="en-US" dirty="0"/>
              <a:t>Low use of spinal anesthesia for emergency cesarean section</a:t>
            </a:r>
          </a:p>
          <a:p>
            <a:pPr lvl="1"/>
            <a:r>
              <a:rPr lang="en-US" dirty="0"/>
              <a:t>Inconsistent postoperative pain management</a:t>
            </a:r>
          </a:p>
          <a:p>
            <a:pPr lvl="1"/>
            <a:r>
              <a:rPr lang="en-US" dirty="0"/>
              <a:t>Poor anesthesia documentation</a:t>
            </a:r>
          </a:p>
          <a:p>
            <a:pPr lvl="1"/>
            <a:r>
              <a:rPr lang="en-US" dirty="0"/>
              <a:t>Lack of adherence to anesthesia safety checklists</a:t>
            </a:r>
          </a:p>
          <a:p>
            <a:endParaRPr lang="en-US" dirty="0"/>
          </a:p>
        </p:txBody>
      </p:sp>
    </p:spTree>
    <p:extLst>
      <p:ext uri="{BB962C8B-B14F-4D97-AF65-F5344CB8AC3E}">
        <p14:creationId xmlns:p14="http://schemas.microsoft.com/office/powerpoint/2010/main" val="259908858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80D254-7DF4-8E7D-5988-51BBA180F4D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D5470DF-B149-B0C3-3D7D-88BBEF1ECE95}"/>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73EDA4F6-A23B-A917-49E8-3FB8A706E428}"/>
              </a:ext>
            </a:extLst>
          </p:cNvPr>
          <p:cNvPicPr>
            <a:picLocks noChangeAspect="1"/>
          </p:cNvPicPr>
          <p:nvPr/>
        </p:nvPicPr>
        <p:blipFill>
          <a:blip r:embed="rId2"/>
          <a:stretch>
            <a:fillRect/>
          </a:stretch>
        </p:blipFill>
        <p:spPr>
          <a:xfrm>
            <a:off x="2335924" y="254766"/>
            <a:ext cx="6587359" cy="6037477"/>
          </a:xfrm>
          <a:prstGeom prst="rect">
            <a:avLst/>
          </a:prstGeom>
        </p:spPr>
      </p:pic>
    </p:spTree>
    <p:extLst>
      <p:ext uri="{BB962C8B-B14F-4D97-AF65-F5344CB8AC3E}">
        <p14:creationId xmlns:p14="http://schemas.microsoft.com/office/powerpoint/2010/main" val="164033445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4A5C9C-CE4B-E36B-19DD-53795D4C4257}"/>
              </a:ext>
            </a:extLst>
          </p:cNvPr>
          <p:cNvSpPr>
            <a:spLocks noGrp="1"/>
          </p:cNvSpPr>
          <p:nvPr>
            <p:ph type="title"/>
          </p:nvPr>
        </p:nvSpPr>
        <p:spPr/>
        <p:txBody>
          <a:bodyPr>
            <a:normAutofit/>
          </a:bodyPr>
          <a:lstStyle/>
          <a:p>
            <a:r>
              <a:rPr lang="en-US" dirty="0"/>
              <a:t>Analysis and statement of the problem </a:t>
            </a:r>
          </a:p>
        </p:txBody>
      </p:sp>
      <p:sp>
        <p:nvSpPr>
          <p:cNvPr id="3" name="Content Placeholder 2">
            <a:extLst>
              <a:ext uri="{FF2B5EF4-FFF2-40B4-BE49-F238E27FC236}">
                <a16:creationId xmlns:a16="http://schemas.microsoft.com/office/drawing/2014/main" id="{68E0CC91-40A3-25D1-1620-A893D201913A}"/>
              </a:ext>
            </a:extLst>
          </p:cNvPr>
          <p:cNvSpPr>
            <a:spLocks noGrp="1"/>
          </p:cNvSpPr>
          <p:nvPr>
            <p:ph idx="1"/>
          </p:nvPr>
        </p:nvSpPr>
        <p:spPr/>
        <p:txBody>
          <a:bodyPr>
            <a:normAutofit/>
          </a:bodyPr>
          <a:lstStyle/>
          <a:p>
            <a:r>
              <a:rPr lang="en-US" b="1" dirty="0"/>
              <a:t>Introduction</a:t>
            </a:r>
          </a:p>
          <a:p>
            <a:pPr lvl="1"/>
            <a:r>
              <a:rPr lang="en-US" dirty="0"/>
              <a:t>Was the problem adequately </a:t>
            </a:r>
            <a:r>
              <a:rPr lang="en-US" dirty="0" err="1"/>
              <a:t>analysed</a:t>
            </a:r>
            <a:r>
              <a:rPr lang="en-US" dirty="0"/>
              <a:t> to include all possible contributory factors from different sectors? Was it clearly stated? </a:t>
            </a:r>
          </a:p>
          <a:p>
            <a:pPr lvl="1"/>
            <a:r>
              <a:rPr lang="en-US" dirty="0"/>
              <a:t>These questions should be clearly answered before trying to develop the research proposal. </a:t>
            </a:r>
          </a:p>
          <a:p>
            <a:pPr lvl="1"/>
            <a:r>
              <a:rPr lang="en-US" dirty="0"/>
              <a:t>The sections that follow are devoted to giving the principles useful for the analysis and statement of the given problem. </a:t>
            </a:r>
            <a:br>
              <a:rPr lang="en-US" dirty="0"/>
            </a:br>
            <a:endParaRPr lang="en-US" dirty="0"/>
          </a:p>
        </p:txBody>
      </p:sp>
    </p:spTree>
    <p:extLst>
      <p:ext uri="{BB962C8B-B14F-4D97-AF65-F5344CB8AC3E}">
        <p14:creationId xmlns:p14="http://schemas.microsoft.com/office/powerpoint/2010/main" val="79339657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F1E765-FF71-3F9D-E565-C32A290F0E9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A18A981-74B9-C73D-5AA8-8C75191C016B}"/>
              </a:ext>
            </a:extLst>
          </p:cNvPr>
          <p:cNvSpPr>
            <a:spLocks noGrp="1"/>
          </p:cNvSpPr>
          <p:nvPr>
            <p:ph idx="1"/>
          </p:nvPr>
        </p:nvSpPr>
        <p:spPr/>
        <p:txBody>
          <a:bodyPr>
            <a:normAutofit/>
          </a:bodyPr>
          <a:lstStyle/>
          <a:p>
            <a:r>
              <a:rPr lang="en-US" b="1" dirty="0"/>
              <a:t>Analyzing the problem</a:t>
            </a:r>
          </a:p>
          <a:p>
            <a:r>
              <a:rPr lang="en-US" dirty="0"/>
              <a:t>A systematic analysis of the problem, completed jointly by the researchers, health workers, managers, and community representatives is a very crucial step in designing the research because it:</a:t>
            </a:r>
          </a:p>
          <a:p>
            <a:pPr lvl="1"/>
            <a:r>
              <a:rPr lang="en-US" dirty="0"/>
              <a:t>Enables those concerned to bring together their knowledge of the problem,</a:t>
            </a:r>
          </a:p>
          <a:p>
            <a:pPr lvl="1"/>
            <a:r>
              <a:rPr lang="en-US" dirty="0"/>
              <a:t>Clarifies the problem and the possible factors that may be contributing to it</a:t>
            </a:r>
          </a:p>
          <a:p>
            <a:pPr lvl="1"/>
            <a:r>
              <a:rPr lang="en-US" dirty="0"/>
              <a:t>Facilitates decisions concerning the focus and scope of the research</a:t>
            </a:r>
          </a:p>
        </p:txBody>
      </p:sp>
    </p:spTree>
    <p:extLst>
      <p:ext uri="{BB962C8B-B14F-4D97-AF65-F5344CB8AC3E}">
        <p14:creationId xmlns:p14="http://schemas.microsoft.com/office/powerpoint/2010/main" val="125257859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721935-9A01-9B31-EB4C-4B0A0ED689F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2214F58-AF54-AF89-0375-4BDCBF7C8F65}"/>
              </a:ext>
            </a:extLst>
          </p:cNvPr>
          <p:cNvSpPr>
            <a:spLocks noGrp="1"/>
          </p:cNvSpPr>
          <p:nvPr>
            <p:ph idx="1"/>
          </p:nvPr>
        </p:nvSpPr>
        <p:spPr/>
        <p:txBody>
          <a:bodyPr/>
          <a:lstStyle/>
          <a:p>
            <a:r>
              <a:rPr lang="en-US" b="1" dirty="0"/>
              <a:t>Formulating the problem statement</a:t>
            </a:r>
          </a:p>
          <a:p>
            <a:pPr lvl="1"/>
            <a:r>
              <a:rPr lang="en-US" dirty="0"/>
              <a:t>After identifying, selecting and analyzing the problem, the next major section in a research proposal is “statement of the problem” </a:t>
            </a:r>
            <a:br>
              <a:rPr lang="en-US" dirty="0"/>
            </a:br>
            <a:endParaRPr lang="en-US" dirty="0"/>
          </a:p>
        </p:txBody>
      </p:sp>
    </p:spTree>
    <p:extLst>
      <p:ext uri="{BB962C8B-B14F-4D97-AF65-F5344CB8AC3E}">
        <p14:creationId xmlns:p14="http://schemas.microsoft.com/office/powerpoint/2010/main" val="420543859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347B7F-2DF7-6A92-85FB-BC76132B732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6F6439B-59D6-20E8-01FF-B8B2BFCB3FB3}"/>
              </a:ext>
            </a:extLst>
          </p:cNvPr>
          <p:cNvSpPr>
            <a:spLocks noGrp="1"/>
          </p:cNvSpPr>
          <p:nvPr>
            <p:ph idx="1"/>
          </p:nvPr>
        </p:nvSpPr>
        <p:spPr/>
        <p:txBody>
          <a:bodyPr>
            <a:normAutofit/>
          </a:bodyPr>
          <a:lstStyle/>
          <a:p>
            <a:pPr marL="0" indent="0">
              <a:buNone/>
            </a:pPr>
            <a:r>
              <a:rPr lang="en-US" b="1" dirty="0"/>
              <a:t>a) Why is it important to state and define the problem well?</a:t>
            </a:r>
          </a:p>
          <a:p>
            <a:r>
              <a:rPr lang="en-US" b="1" i="1" dirty="0"/>
              <a:t>Because a clear statement of the problem:</a:t>
            </a:r>
          </a:p>
          <a:p>
            <a:pPr lvl="1"/>
            <a:r>
              <a:rPr lang="en-US" dirty="0"/>
              <a:t>Is the </a:t>
            </a:r>
            <a:r>
              <a:rPr lang="en-US" b="1" i="1" dirty="0"/>
              <a:t>foundation </a:t>
            </a:r>
            <a:r>
              <a:rPr lang="en-US" dirty="0"/>
              <a:t>for the further development of the research proposal (research objectives, methodology, work plan, </a:t>
            </a:r>
            <a:r>
              <a:rPr lang="en-US" dirty="0" err="1"/>
              <a:t>etc</a:t>
            </a:r>
            <a:r>
              <a:rPr lang="en-US" dirty="0"/>
              <a:t>);</a:t>
            </a:r>
          </a:p>
          <a:p>
            <a:pPr lvl="1"/>
            <a:r>
              <a:rPr lang="en-US" dirty="0"/>
              <a:t>Makes it easier to find information and reports of similar studies from which your own study design can benefit;</a:t>
            </a:r>
          </a:p>
          <a:p>
            <a:pPr lvl="1"/>
            <a:r>
              <a:rPr lang="en-US" dirty="0"/>
              <a:t>Enables the researcher to systematically point out why the proposed research on the problem should be undertaken and what you hope to achieve with the study results.</a:t>
            </a:r>
            <a:br>
              <a:rPr lang="en-US" dirty="0"/>
            </a:br>
            <a:endParaRPr lang="en-US" dirty="0"/>
          </a:p>
        </p:txBody>
      </p:sp>
    </p:spTree>
    <p:extLst>
      <p:ext uri="{BB962C8B-B14F-4D97-AF65-F5344CB8AC3E}">
        <p14:creationId xmlns:p14="http://schemas.microsoft.com/office/powerpoint/2010/main" val="207298091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D5E98F-9BFC-A4CE-689A-5B312D78FE9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3A6ABF0-3EA0-1A36-327D-5D67313ECB24}"/>
              </a:ext>
            </a:extLst>
          </p:cNvPr>
          <p:cNvSpPr>
            <a:spLocks noGrp="1"/>
          </p:cNvSpPr>
          <p:nvPr>
            <p:ph idx="1"/>
          </p:nvPr>
        </p:nvSpPr>
        <p:spPr/>
        <p:txBody>
          <a:bodyPr>
            <a:normAutofit/>
          </a:bodyPr>
          <a:lstStyle/>
          <a:p>
            <a:pPr marL="0" indent="0">
              <a:buNone/>
            </a:pPr>
            <a:r>
              <a:rPr lang="en-US" b="1" dirty="0"/>
              <a:t>b) Points that need to be considered for justifying the selected research problem</a:t>
            </a:r>
          </a:p>
          <a:p>
            <a:r>
              <a:rPr lang="en-US" dirty="0"/>
              <a:t>A health problem selected to be studied has to be justified in terms of its:</a:t>
            </a:r>
          </a:p>
          <a:p>
            <a:pPr lvl="1"/>
            <a:r>
              <a:rPr lang="en-US" dirty="0"/>
              <a:t>Being a current and existing problem which needs solution</a:t>
            </a:r>
          </a:p>
          <a:p>
            <a:pPr lvl="1"/>
            <a:r>
              <a:rPr lang="en-US" dirty="0"/>
              <a:t>Being a widely spread problem affecting a target population</a:t>
            </a:r>
          </a:p>
          <a:p>
            <a:pPr lvl="1"/>
            <a:r>
              <a:rPr lang="en-US" dirty="0"/>
              <a:t>Effects on the health service </a:t>
            </a:r>
            <a:r>
              <a:rPr lang="en-US" dirty="0" err="1"/>
              <a:t>programmes</a:t>
            </a:r>
            <a:endParaRPr lang="en-US" dirty="0"/>
          </a:p>
          <a:p>
            <a:pPr lvl="1"/>
            <a:r>
              <a:rPr lang="en-US" dirty="0"/>
              <a:t>Being a problem which concerns the planners, policy makers and the communities at large.</a:t>
            </a:r>
          </a:p>
        </p:txBody>
      </p:sp>
    </p:spTree>
    <p:extLst>
      <p:ext uri="{BB962C8B-B14F-4D97-AF65-F5344CB8AC3E}">
        <p14:creationId xmlns:p14="http://schemas.microsoft.com/office/powerpoint/2010/main" val="312303762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167328-4B15-FE2A-368C-F1BA43A39A9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82D47C1-E0BB-CA85-5B4A-201A11E4CFC0}"/>
              </a:ext>
            </a:extLst>
          </p:cNvPr>
          <p:cNvSpPr>
            <a:spLocks noGrp="1"/>
          </p:cNvSpPr>
          <p:nvPr>
            <p:ph idx="1"/>
          </p:nvPr>
        </p:nvSpPr>
        <p:spPr/>
        <p:txBody>
          <a:bodyPr>
            <a:normAutofit/>
          </a:bodyPr>
          <a:lstStyle/>
          <a:p>
            <a:pPr marL="0" indent="0">
              <a:buNone/>
            </a:pPr>
            <a:r>
              <a:rPr lang="en-US" b="1" dirty="0"/>
              <a:t>c) Information included in the statement of a problem</a:t>
            </a:r>
          </a:p>
          <a:p>
            <a:r>
              <a:rPr lang="en-US" dirty="0"/>
              <a:t>A </a:t>
            </a:r>
            <a:r>
              <a:rPr lang="en-US" b="1" dirty="0"/>
              <a:t>brief description </a:t>
            </a:r>
            <a:r>
              <a:rPr lang="en-US" dirty="0"/>
              <a:t>of socioeconomic and cultural characteristics and an overview of health status.</a:t>
            </a:r>
          </a:p>
          <a:p>
            <a:r>
              <a:rPr lang="en-US" dirty="0"/>
              <a:t>A more detailed description of the nature of the problem</a:t>
            </a:r>
          </a:p>
          <a:p>
            <a:pPr lvl="1"/>
            <a:r>
              <a:rPr lang="en-US" dirty="0"/>
              <a:t>Basic description of the research problem</a:t>
            </a:r>
          </a:p>
          <a:p>
            <a:pPr lvl="1"/>
            <a:r>
              <a:rPr lang="en-US" dirty="0"/>
              <a:t>The discrepancy between what is and what should be</a:t>
            </a:r>
          </a:p>
          <a:p>
            <a:pPr lvl="1"/>
            <a:r>
              <a:rPr lang="en-US" dirty="0"/>
              <a:t>Its size, distribution, and severity (who is affected, where, since when, etc.)</a:t>
            </a:r>
            <a:br>
              <a:rPr lang="en-US" dirty="0"/>
            </a:br>
            <a:endParaRPr lang="en-US" dirty="0"/>
          </a:p>
        </p:txBody>
      </p:sp>
    </p:spTree>
    <p:extLst>
      <p:ext uri="{BB962C8B-B14F-4D97-AF65-F5344CB8AC3E}">
        <p14:creationId xmlns:p14="http://schemas.microsoft.com/office/powerpoint/2010/main" val="412768804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4C67F6-E21E-23C6-8251-91A55205BE4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570C771-4C96-3E75-E36A-50182C2BE05A}"/>
              </a:ext>
            </a:extLst>
          </p:cNvPr>
          <p:cNvSpPr>
            <a:spLocks noGrp="1"/>
          </p:cNvSpPr>
          <p:nvPr>
            <p:ph idx="1"/>
          </p:nvPr>
        </p:nvSpPr>
        <p:spPr/>
        <p:txBody>
          <a:bodyPr>
            <a:normAutofit fontScale="92500"/>
          </a:bodyPr>
          <a:lstStyle/>
          <a:p>
            <a:r>
              <a:rPr lang="en-US" dirty="0"/>
              <a:t>An analysis of the major factors that may influence the problem and a convincing argument that available knowledge is insufficient to answer a certain question and to update the previous knowledge.</a:t>
            </a:r>
          </a:p>
          <a:p>
            <a:r>
              <a:rPr lang="en-US" dirty="0"/>
              <a:t>A brief description of any solutions that have been tried in the past, how well they have worked, and why further research is needed.</a:t>
            </a:r>
          </a:p>
          <a:p>
            <a:r>
              <a:rPr lang="en-US" dirty="0"/>
              <a:t>A description of the type of information expected to result from the project and how this information will be used to help solve the problem</a:t>
            </a:r>
          </a:p>
          <a:p>
            <a:r>
              <a:rPr lang="en-US" dirty="0"/>
              <a:t>If necessary, a short list of definitions of crucial concepts used in the statement of the problem.</a:t>
            </a:r>
          </a:p>
          <a:p>
            <a:pPr lvl="1"/>
            <a:r>
              <a:rPr lang="en-US" dirty="0"/>
              <a:t>A list of abbreviations may be annexed to the proposal, but each abbreviation also has to be written out in full when introduced in the text the first time.</a:t>
            </a:r>
          </a:p>
        </p:txBody>
      </p:sp>
    </p:spTree>
    <p:extLst>
      <p:ext uri="{BB962C8B-B14F-4D97-AF65-F5344CB8AC3E}">
        <p14:creationId xmlns:p14="http://schemas.microsoft.com/office/powerpoint/2010/main" val="251803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A7E8F0-555B-49BB-5C14-F08A28555F6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1EB94B0-922D-B0A4-6E23-D82AE30A3B0C}"/>
              </a:ext>
            </a:extLst>
          </p:cNvPr>
          <p:cNvSpPr>
            <a:spLocks noGrp="1"/>
          </p:cNvSpPr>
          <p:nvPr>
            <p:ph idx="1"/>
          </p:nvPr>
        </p:nvSpPr>
        <p:spPr/>
        <p:txBody>
          <a:bodyPr/>
          <a:lstStyle/>
          <a:p>
            <a:r>
              <a:rPr lang="en-US" b="1" dirty="0"/>
              <a:t>Exercise</a:t>
            </a:r>
          </a:p>
          <a:p>
            <a:pPr marL="457200" lvl="1" indent="0">
              <a:buNone/>
            </a:pPr>
            <a:r>
              <a:rPr lang="en-US" dirty="0"/>
              <a:t>1. Why do we need to analyze the research problem?</a:t>
            </a:r>
          </a:p>
          <a:p>
            <a:pPr marL="457200" lvl="1" indent="0">
              <a:buNone/>
            </a:pPr>
            <a:r>
              <a:rPr lang="en-US" dirty="0"/>
              <a:t>2. What are the points required to justify the selected research problem?</a:t>
            </a:r>
          </a:p>
          <a:p>
            <a:pPr marL="457200" lvl="1" indent="0">
              <a:buNone/>
            </a:pPr>
            <a:r>
              <a:rPr lang="en-US" dirty="0"/>
              <a:t>3. What information should be included in the statement of a problem? </a:t>
            </a:r>
            <a:br>
              <a:rPr lang="en-US" dirty="0"/>
            </a:br>
            <a:endParaRPr lang="en-US" dirty="0"/>
          </a:p>
        </p:txBody>
      </p:sp>
    </p:spTree>
    <p:extLst>
      <p:ext uri="{BB962C8B-B14F-4D97-AF65-F5344CB8AC3E}">
        <p14:creationId xmlns:p14="http://schemas.microsoft.com/office/powerpoint/2010/main" val="307318960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CBE57F-93BA-03F6-80C5-570BCD871764}"/>
              </a:ext>
            </a:extLst>
          </p:cNvPr>
          <p:cNvSpPr>
            <a:spLocks noGrp="1"/>
          </p:cNvSpPr>
          <p:nvPr>
            <p:ph type="title"/>
          </p:nvPr>
        </p:nvSpPr>
        <p:spPr/>
        <p:txBody>
          <a:bodyPr/>
          <a:lstStyle/>
          <a:p>
            <a:r>
              <a:rPr lang="en-US" b="1" dirty="0"/>
              <a:t>LITERATURE REVIEW</a:t>
            </a:r>
            <a:r>
              <a:rPr lang="en-US" dirty="0"/>
              <a:t> </a:t>
            </a:r>
          </a:p>
        </p:txBody>
      </p:sp>
      <p:sp>
        <p:nvSpPr>
          <p:cNvPr id="3" name="Content Placeholder 2">
            <a:extLst>
              <a:ext uri="{FF2B5EF4-FFF2-40B4-BE49-F238E27FC236}">
                <a16:creationId xmlns:a16="http://schemas.microsoft.com/office/drawing/2014/main" id="{F6577FE1-E35A-A116-41A6-DB1E8F89463D}"/>
              </a:ext>
            </a:extLst>
          </p:cNvPr>
          <p:cNvSpPr>
            <a:spLocks noGrp="1"/>
          </p:cNvSpPr>
          <p:nvPr>
            <p:ph idx="1"/>
          </p:nvPr>
        </p:nvSpPr>
        <p:spPr/>
        <p:txBody>
          <a:bodyPr>
            <a:normAutofit/>
          </a:bodyPr>
          <a:lstStyle/>
          <a:p>
            <a:r>
              <a:rPr lang="en-US" b="1" dirty="0"/>
              <a:t>Introduction</a:t>
            </a:r>
          </a:p>
          <a:p>
            <a:pPr lvl="1"/>
            <a:r>
              <a:rPr lang="en-US" dirty="0"/>
              <a:t>At the outset of his/her study the investigator should be acquainted with the relevant literature. </a:t>
            </a:r>
          </a:p>
          <a:p>
            <a:pPr lvl="1"/>
            <a:r>
              <a:rPr lang="en-US" dirty="0"/>
              <a:t>It is of </a:t>
            </a:r>
            <a:r>
              <a:rPr lang="en-US" b="1" dirty="0"/>
              <a:t>minimal use </a:t>
            </a:r>
            <a:r>
              <a:rPr lang="en-US" dirty="0"/>
              <a:t>to wait until a report is written.</a:t>
            </a:r>
          </a:p>
          <a:p>
            <a:r>
              <a:rPr lang="en-US" b="1" dirty="0"/>
              <a:t>Use of literature review</a:t>
            </a:r>
          </a:p>
          <a:p>
            <a:pPr lvl="1"/>
            <a:r>
              <a:rPr lang="en-US" dirty="0"/>
              <a:t>It prevents you from duplicating work that has been done before.</a:t>
            </a:r>
          </a:p>
          <a:p>
            <a:pPr lvl="1"/>
            <a:r>
              <a:rPr lang="en-US" dirty="0"/>
              <a:t>It increases your knowledge on the problem you want to study and this may assist you in refining your "statement of the problem".</a:t>
            </a:r>
          </a:p>
          <a:p>
            <a:pPr lvl="1"/>
            <a:r>
              <a:rPr lang="en-US" dirty="0"/>
              <a:t>It gives you confidence why your particular research project is needed.</a:t>
            </a:r>
          </a:p>
          <a:p>
            <a:pPr lvl="1"/>
            <a:r>
              <a:rPr lang="en-US" dirty="0"/>
              <a:t>To be familiar with different research methods</a:t>
            </a:r>
            <a:br>
              <a:rPr lang="en-US" dirty="0"/>
            </a:br>
            <a:endParaRPr lang="en-US" dirty="0"/>
          </a:p>
        </p:txBody>
      </p:sp>
    </p:spTree>
    <p:extLst>
      <p:ext uri="{BB962C8B-B14F-4D97-AF65-F5344CB8AC3E}">
        <p14:creationId xmlns:p14="http://schemas.microsoft.com/office/powerpoint/2010/main" val="386599032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1D71C4-66C5-60C0-CDED-1391BC9E666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0985E0D-F2AD-35A1-C982-CEBDA4A3FC58}"/>
              </a:ext>
            </a:extLst>
          </p:cNvPr>
          <p:cNvSpPr>
            <a:spLocks noGrp="1"/>
          </p:cNvSpPr>
          <p:nvPr>
            <p:ph idx="1"/>
          </p:nvPr>
        </p:nvSpPr>
        <p:spPr/>
        <p:txBody>
          <a:bodyPr/>
          <a:lstStyle/>
          <a:p>
            <a:r>
              <a:rPr lang="en-US" b="1" dirty="0"/>
              <a:t>Sources of information</a:t>
            </a:r>
          </a:p>
          <a:p>
            <a:pPr lvl="1"/>
            <a:r>
              <a:rPr lang="en-US" dirty="0">
                <a:latin typeface="+mj-lt"/>
              </a:rPr>
              <a:t>Card catalogues of books in libraries</a:t>
            </a:r>
          </a:p>
          <a:p>
            <a:pPr lvl="1"/>
            <a:r>
              <a:rPr lang="en-US" dirty="0">
                <a:latin typeface="+mj-lt"/>
              </a:rPr>
              <a:t>Organizations (institutions)</a:t>
            </a:r>
          </a:p>
          <a:p>
            <a:pPr lvl="1"/>
            <a:r>
              <a:rPr lang="en-US" dirty="0">
                <a:latin typeface="+mj-lt"/>
              </a:rPr>
              <a:t>Published information (books, journals, etc.)</a:t>
            </a:r>
          </a:p>
          <a:p>
            <a:pPr lvl="1"/>
            <a:r>
              <a:rPr lang="en-US" dirty="0">
                <a:latin typeface="+mj-lt"/>
              </a:rPr>
              <a:t>Unpublished documents (studies in related fields, reports, etc.)</a:t>
            </a:r>
          </a:p>
          <a:p>
            <a:pPr lvl="1"/>
            <a:r>
              <a:rPr lang="en-US" dirty="0">
                <a:latin typeface="+mj-lt"/>
              </a:rPr>
              <a:t>Computer based literature searches such as Medline</a:t>
            </a:r>
          </a:p>
          <a:p>
            <a:pPr lvl="1"/>
            <a:r>
              <a:rPr lang="en-US" dirty="0">
                <a:latin typeface="+mj-lt"/>
              </a:rPr>
              <a:t>Opinions, beliefs of key persons</a:t>
            </a:r>
          </a:p>
        </p:txBody>
      </p:sp>
    </p:spTree>
    <p:extLst>
      <p:ext uri="{BB962C8B-B14F-4D97-AF65-F5344CB8AC3E}">
        <p14:creationId xmlns:p14="http://schemas.microsoft.com/office/powerpoint/2010/main" val="189982579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2917B-EB2B-92A2-4BAC-4E7BE5EEBF8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7D9150C-17B8-172F-7A31-1C6357D53023}"/>
              </a:ext>
            </a:extLst>
          </p:cNvPr>
          <p:cNvSpPr>
            <a:spLocks noGrp="1"/>
          </p:cNvSpPr>
          <p:nvPr>
            <p:ph idx="1"/>
          </p:nvPr>
        </p:nvSpPr>
        <p:spPr/>
        <p:txBody>
          <a:bodyPr>
            <a:normAutofit fontScale="92500" lnSpcReduction="10000"/>
          </a:bodyPr>
          <a:lstStyle/>
          <a:p>
            <a:r>
              <a:rPr lang="en-US" b="1" dirty="0"/>
              <a:t>Some examples of resources where information could be obtained are:</a:t>
            </a:r>
          </a:p>
          <a:p>
            <a:pPr lvl="1"/>
            <a:r>
              <a:rPr lang="en-US" dirty="0"/>
              <a:t>Clinic and hospital based data from routine activity statistics</a:t>
            </a:r>
          </a:p>
          <a:p>
            <a:pPr lvl="1"/>
            <a:r>
              <a:rPr lang="en-US" dirty="0"/>
              <a:t>Local surveys, annual reports</a:t>
            </a:r>
          </a:p>
          <a:p>
            <a:pPr lvl="1"/>
            <a:r>
              <a:rPr lang="en-US" dirty="0"/>
              <a:t>Scientific conferences</a:t>
            </a:r>
          </a:p>
          <a:p>
            <a:pPr lvl="1"/>
            <a:r>
              <a:rPr lang="en-US" dirty="0"/>
              <a:t>Statistics issued at region and district levels</a:t>
            </a:r>
          </a:p>
          <a:p>
            <a:pPr lvl="1"/>
            <a:r>
              <a:rPr lang="en-US" dirty="0"/>
              <a:t>Articles from national and international journals (e.g., The Ethiopian Journal perioperative medicine, The Ethiopian Medical Journal, The East African Medical journal, The Lancet, etc.)</a:t>
            </a:r>
          </a:p>
          <a:p>
            <a:pPr lvl="1"/>
            <a:r>
              <a:rPr lang="en-US" dirty="0"/>
              <a:t>Internet</a:t>
            </a:r>
          </a:p>
          <a:p>
            <a:pPr lvl="1"/>
            <a:r>
              <a:rPr lang="en-US" dirty="0"/>
              <a:t>Documentation, reports, and raw data from the Ministry of Health, Central Statistical Offices, Nongovernmental organizations, etc. </a:t>
            </a:r>
            <a:br>
              <a:rPr lang="en-US" dirty="0"/>
            </a:br>
            <a:endParaRPr lang="en-US" dirty="0"/>
          </a:p>
        </p:txBody>
      </p:sp>
    </p:spTree>
    <p:extLst>
      <p:ext uri="{BB962C8B-B14F-4D97-AF65-F5344CB8AC3E}">
        <p14:creationId xmlns:p14="http://schemas.microsoft.com/office/powerpoint/2010/main" val="290755799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36E0FB-DEAB-A125-FC8F-8B8644B7D7E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CA4CB6A-541B-8E4B-7163-82D541034A1B}"/>
              </a:ext>
            </a:extLst>
          </p:cNvPr>
          <p:cNvSpPr>
            <a:spLocks noGrp="1"/>
          </p:cNvSpPr>
          <p:nvPr>
            <p:ph idx="1"/>
          </p:nvPr>
        </p:nvSpPr>
        <p:spPr/>
        <p:txBody>
          <a:bodyPr/>
          <a:lstStyle/>
          <a:p>
            <a:r>
              <a:rPr lang="en-US" b="1" dirty="0"/>
              <a:t>References that are identified:</a:t>
            </a:r>
          </a:p>
          <a:p>
            <a:pPr lvl="1"/>
            <a:r>
              <a:rPr lang="en-US" dirty="0"/>
              <a:t>Should first be skimmed or read</a:t>
            </a:r>
          </a:p>
          <a:p>
            <a:pPr lvl="1"/>
            <a:r>
              <a:rPr lang="en-US" dirty="0"/>
              <a:t>Then summaries of the important information in each of the references may be recorded on separate index cards</a:t>
            </a:r>
          </a:p>
          <a:p>
            <a:pPr lvl="1"/>
            <a:r>
              <a:rPr lang="en-US" dirty="0"/>
              <a:t>These should then be classified so that the information can easily be retrieved </a:t>
            </a:r>
            <a:br>
              <a:rPr lang="en-US" dirty="0"/>
            </a:br>
            <a:endParaRPr lang="en-US" dirty="0"/>
          </a:p>
        </p:txBody>
      </p:sp>
    </p:spTree>
    <p:extLst>
      <p:ext uri="{BB962C8B-B14F-4D97-AF65-F5344CB8AC3E}">
        <p14:creationId xmlns:p14="http://schemas.microsoft.com/office/powerpoint/2010/main" val="75869409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EF4797-0B80-6965-31EA-0C29CD02FAE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1F6508E-BE63-3F81-226A-D8ADC03FDF3D}"/>
              </a:ext>
            </a:extLst>
          </p:cNvPr>
          <p:cNvSpPr>
            <a:spLocks noGrp="1"/>
          </p:cNvSpPr>
          <p:nvPr>
            <p:ph idx="1"/>
          </p:nvPr>
        </p:nvSpPr>
        <p:spPr/>
        <p:txBody>
          <a:bodyPr>
            <a:normAutofit fontScale="92500" lnSpcReduction="20000"/>
          </a:bodyPr>
          <a:lstStyle/>
          <a:p>
            <a:r>
              <a:rPr lang="en-US" b="1" dirty="0"/>
              <a:t>Organization of information </a:t>
            </a:r>
          </a:p>
          <a:p>
            <a:r>
              <a:rPr lang="en-US" dirty="0"/>
              <a:t>Key words</a:t>
            </a:r>
          </a:p>
          <a:p>
            <a:pPr lvl="1"/>
            <a:r>
              <a:rPr lang="en-US" dirty="0"/>
              <a:t>A summary of the contents of books or articles which is relevant to one's own study</a:t>
            </a:r>
          </a:p>
          <a:p>
            <a:pPr lvl="1"/>
            <a:r>
              <a:rPr lang="en-US" dirty="0"/>
              <a:t>A brief analysis of the content, with comments such as: How information from that particular study could be used in one's own study</a:t>
            </a:r>
          </a:p>
          <a:p>
            <a:pPr lvl="1"/>
            <a:r>
              <a:rPr lang="en-US" dirty="0"/>
              <a:t>Information obtained from key persons could also be summarized</a:t>
            </a:r>
          </a:p>
          <a:p>
            <a:r>
              <a:rPr lang="en-US" dirty="0"/>
              <a:t>After collecting the required information, the investigator should decide in which order he/she wants to discuss previous research findings:</a:t>
            </a:r>
          </a:p>
          <a:p>
            <a:pPr lvl="1"/>
            <a:r>
              <a:rPr lang="en-US" dirty="0"/>
              <a:t>From global to local</a:t>
            </a:r>
          </a:p>
          <a:p>
            <a:pPr lvl="1"/>
            <a:r>
              <a:rPr lang="en-US" dirty="0"/>
              <a:t>From broader to focused</a:t>
            </a:r>
          </a:p>
          <a:p>
            <a:pPr lvl="1"/>
            <a:r>
              <a:rPr lang="en-US" dirty="0"/>
              <a:t>From past to current </a:t>
            </a:r>
            <a:br>
              <a:rPr lang="en-US" dirty="0"/>
            </a:br>
            <a:endParaRPr lang="en-US" dirty="0"/>
          </a:p>
        </p:txBody>
      </p:sp>
    </p:spTree>
    <p:extLst>
      <p:ext uri="{BB962C8B-B14F-4D97-AF65-F5344CB8AC3E}">
        <p14:creationId xmlns:p14="http://schemas.microsoft.com/office/powerpoint/2010/main" val="270090324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1CB76E-C9DA-B35B-40DE-29639404976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6EC8209-70F1-4092-3549-86EE935D0899}"/>
              </a:ext>
            </a:extLst>
          </p:cNvPr>
          <p:cNvSpPr>
            <a:spLocks noGrp="1"/>
          </p:cNvSpPr>
          <p:nvPr>
            <p:ph idx="1"/>
          </p:nvPr>
        </p:nvSpPr>
        <p:spPr/>
        <p:txBody>
          <a:bodyPr>
            <a:normAutofit fontScale="85000" lnSpcReduction="20000"/>
          </a:bodyPr>
          <a:lstStyle/>
          <a:p>
            <a:r>
              <a:rPr lang="en-US" dirty="0"/>
              <a:t>While reviewing a literature, all what is known about the study topic should be summarized with the relevant references. This review should answer</a:t>
            </a:r>
          </a:p>
          <a:p>
            <a:pPr lvl="1"/>
            <a:r>
              <a:rPr lang="en-US" b="1" i="1" dirty="0"/>
              <a:t>How much is known?</a:t>
            </a:r>
          </a:p>
          <a:p>
            <a:pPr lvl="1"/>
            <a:r>
              <a:rPr lang="en-US" b="1" i="1" dirty="0"/>
              <a:t>What is not known?</a:t>
            </a:r>
          </a:p>
          <a:p>
            <a:pPr lvl="1"/>
            <a:r>
              <a:rPr lang="en-US" b="1" i="1" dirty="0"/>
              <a:t>What should be done based on what is lacking?</a:t>
            </a:r>
          </a:p>
          <a:p>
            <a:r>
              <a:rPr lang="en-US" dirty="0"/>
              <a:t>Overall, the literature review should be adequate, relevant and critical. In addition to this, appropriate referencing procedures should always be followed in research proposals as well as in research reports. While reviewing a literature give emphasis to both positive and negative findings and avoid any distortion of information to suit your own study objectives.</a:t>
            </a:r>
          </a:p>
          <a:p>
            <a:r>
              <a:rPr lang="en-US" dirty="0"/>
              <a:t>Finally, after an exhaustive literature review, summarize the findings and write a coherent discussion by indicating the research gap which supports the undertaking of your study. </a:t>
            </a:r>
            <a:br>
              <a:rPr lang="en-US" dirty="0"/>
            </a:br>
            <a:endParaRPr lang="en-US" dirty="0"/>
          </a:p>
        </p:txBody>
      </p:sp>
    </p:spTree>
    <p:extLst>
      <p:ext uri="{BB962C8B-B14F-4D97-AF65-F5344CB8AC3E}">
        <p14:creationId xmlns:p14="http://schemas.microsoft.com/office/powerpoint/2010/main" val="252462319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0A347-9AD4-F833-2070-BCA9D7D0BF9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60B3D15-EB38-0363-1835-E870D4168F83}"/>
              </a:ext>
            </a:extLst>
          </p:cNvPr>
          <p:cNvSpPr>
            <a:spLocks noGrp="1"/>
          </p:cNvSpPr>
          <p:nvPr>
            <p:ph idx="1"/>
          </p:nvPr>
        </p:nvSpPr>
        <p:spPr/>
        <p:txBody>
          <a:bodyPr>
            <a:normAutofit/>
          </a:bodyPr>
          <a:lstStyle/>
          <a:p>
            <a:r>
              <a:rPr lang="en-US" b="1" dirty="0"/>
              <a:t>Exercises</a:t>
            </a:r>
          </a:p>
          <a:p>
            <a:pPr lvl="1"/>
            <a:r>
              <a:rPr lang="en-US" dirty="0"/>
              <a:t>1. Why is literature review important when preparing a proposal?</a:t>
            </a:r>
          </a:p>
          <a:p>
            <a:pPr lvl="1"/>
            <a:r>
              <a:rPr lang="en-US" dirty="0"/>
              <a:t>2. The presentation of research results or scientific publications from other writers without quoting the author is not appropriate. Does this statement sound true? Justify your answer.</a:t>
            </a:r>
          </a:p>
          <a:p>
            <a:pPr lvl="1"/>
            <a:r>
              <a:rPr lang="en-US" dirty="0"/>
              <a:t>3. Mention some of the sources of information in your area and describe how such information could be summarized on index cards </a:t>
            </a:r>
            <a:br>
              <a:rPr lang="en-US" dirty="0"/>
            </a:br>
            <a:endParaRPr lang="en-US" dirty="0"/>
          </a:p>
        </p:txBody>
      </p:sp>
    </p:spTree>
    <p:extLst>
      <p:ext uri="{BB962C8B-B14F-4D97-AF65-F5344CB8AC3E}">
        <p14:creationId xmlns:p14="http://schemas.microsoft.com/office/powerpoint/2010/main" val="305190555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4495E2-6EE9-B7BF-4923-C817815100E2}"/>
              </a:ext>
            </a:extLst>
          </p:cNvPr>
          <p:cNvSpPr>
            <a:spLocks noGrp="1"/>
          </p:cNvSpPr>
          <p:nvPr>
            <p:ph type="title"/>
          </p:nvPr>
        </p:nvSpPr>
        <p:spPr/>
        <p:txBody>
          <a:bodyPr/>
          <a:lstStyle/>
          <a:p>
            <a:r>
              <a:rPr lang="en-US" b="1" dirty="0"/>
              <a:t>OBJECTIVES</a:t>
            </a:r>
            <a:r>
              <a:rPr lang="en-US" dirty="0"/>
              <a:t> </a:t>
            </a:r>
          </a:p>
        </p:txBody>
      </p:sp>
      <p:sp>
        <p:nvSpPr>
          <p:cNvPr id="3" name="Content Placeholder 2">
            <a:extLst>
              <a:ext uri="{FF2B5EF4-FFF2-40B4-BE49-F238E27FC236}">
                <a16:creationId xmlns:a16="http://schemas.microsoft.com/office/drawing/2014/main" id="{D1664322-527C-B0D2-F1F4-AEB16D6D5AD1}"/>
              </a:ext>
            </a:extLst>
          </p:cNvPr>
          <p:cNvSpPr>
            <a:spLocks noGrp="1"/>
          </p:cNvSpPr>
          <p:nvPr>
            <p:ph idx="1"/>
          </p:nvPr>
        </p:nvSpPr>
        <p:spPr/>
        <p:txBody>
          <a:bodyPr>
            <a:normAutofit/>
          </a:bodyPr>
          <a:lstStyle/>
          <a:p>
            <a:r>
              <a:rPr lang="en-US" dirty="0"/>
              <a:t>Having decided what to study, and knowing why s/he wants to study it, the investigator can now formulate his study objectives. Objectives should be closely related to the statement of the problem. </a:t>
            </a:r>
          </a:p>
          <a:p>
            <a:r>
              <a:rPr lang="en-US" dirty="0"/>
              <a:t>For example, if the problem identified is low utilization of vasopressor in the anesthesia department, the general objective of the study could be to assess the reasons for this low utilization. </a:t>
            </a:r>
          </a:p>
          <a:p>
            <a:r>
              <a:rPr lang="en-US" dirty="0"/>
              <a:t>If we break down this general objective into smaller and logically connected parts, then we get specific objectives. </a:t>
            </a:r>
          </a:p>
        </p:txBody>
      </p:sp>
    </p:spTree>
    <p:extLst>
      <p:ext uri="{BB962C8B-B14F-4D97-AF65-F5344CB8AC3E}">
        <p14:creationId xmlns:p14="http://schemas.microsoft.com/office/powerpoint/2010/main" val="113347240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F5C316-B26C-8869-46B0-C4539A936B1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E818284-B5ED-07F0-5E23-FCBFFAE8F54F}"/>
              </a:ext>
            </a:extLst>
          </p:cNvPr>
          <p:cNvSpPr>
            <a:spLocks noGrp="1"/>
          </p:cNvSpPr>
          <p:nvPr>
            <p:ph idx="1"/>
          </p:nvPr>
        </p:nvSpPr>
        <p:spPr/>
        <p:txBody>
          <a:bodyPr>
            <a:normAutofit fontScale="92500" lnSpcReduction="20000"/>
          </a:bodyPr>
          <a:lstStyle/>
          <a:p>
            <a:r>
              <a:rPr lang="en-US" b="1" dirty="0"/>
              <a:t>General objectives</a:t>
            </a:r>
            <a:r>
              <a:rPr lang="en-US" dirty="0"/>
              <a:t>: is the aim of the study in general terms</a:t>
            </a:r>
          </a:p>
          <a:p>
            <a:pPr lvl="1"/>
            <a:r>
              <a:rPr lang="en-US" dirty="0"/>
              <a:t>Example: To assess adherence to standard preoperative anesthesia assessment among surgical patients in Addis Ababa. </a:t>
            </a:r>
          </a:p>
          <a:p>
            <a:r>
              <a:rPr lang="en-US" b="1" dirty="0"/>
              <a:t>Specific objectives: </a:t>
            </a:r>
            <a:r>
              <a:rPr lang="en-US" dirty="0"/>
              <a:t>measurable statements on the specific questions to be answered.</a:t>
            </a:r>
          </a:p>
          <a:p>
            <a:r>
              <a:rPr lang="en-US" dirty="0"/>
              <a:t>Unlike the general objectives, the specific objectives are more specific and are related to the research </a:t>
            </a:r>
            <a:r>
              <a:rPr lang="en-US" b="1" i="1" dirty="0"/>
              <a:t>problem situation. </a:t>
            </a:r>
            <a:r>
              <a:rPr lang="en-US" dirty="0"/>
              <a:t>They indicate the </a:t>
            </a:r>
            <a:r>
              <a:rPr lang="en-US" b="1" i="1" dirty="0"/>
              <a:t>variable to be examined and measured.</a:t>
            </a:r>
          </a:p>
          <a:p>
            <a:r>
              <a:rPr lang="en-US" dirty="0"/>
              <a:t>Example: In the above example specific objectives could be</a:t>
            </a:r>
          </a:p>
          <a:p>
            <a:pPr lvl="1"/>
            <a:r>
              <a:rPr lang="en-US" dirty="0"/>
              <a:t>To determine the proportion of surgical patients who receive complete preoperative anesthesia assessment.</a:t>
            </a:r>
          </a:p>
          <a:p>
            <a:pPr lvl="1"/>
            <a:r>
              <a:rPr lang="en-US" dirty="0"/>
              <a:t>To identify factors associated with incomplete or missed preoperative anesthesia assessment.</a:t>
            </a:r>
            <a:br>
              <a:rPr lang="en-US" dirty="0"/>
            </a:br>
            <a:endParaRPr lang="en-US" dirty="0"/>
          </a:p>
        </p:txBody>
      </p:sp>
    </p:spTree>
    <p:extLst>
      <p:ext uri="{BB962C8B-B14F-4D97-AF65-F5344CB8AC3E}">
        <p14:creationId xmlns:p14="http://schemas.microsoft.com/office/powerpoint/2010/main" val="170277814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7C4802-B3FD-67A2-3FBB-C8A87B39F92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B796503-8C88-6884-4672-9EE2154EBCEB}"/>
              </a:ext>
            </a:extLst>
          </p:cNvPr>
          <p:cNvSpPr>
            <a:spLocks noGrp="1"/>
          </p:cNvSpPr>
          <p:nvPr>
            <p:ph idx="1"/>
          </p:nvPr>
        </p:nvSpPr>
        <p:spPr/>
        <p:txBody>
          <a:bodyPr>
            <a:normAutofit lnSpcReduction="10000"/>
          </a:bodyPr>
          <a:lstStyle/>
          <a:p>
            <a:r>
              <a:rPr lang="en-US" b="1" dirty="0"/>
              <a:t>Formulation of the research objectives</a:t>
            </a:r>
          </a:p>
          <a:p>
            <a:r>
              <a:rPr lang="en-US" dirty="0"/>
              <a:t>The formulation of objectives will help us to:</a:t>
            </a:r>
          </a:p>
          <a:p>
            <a:pPr lvl="1"/>
            <a:r>
              <a:rPr lang="en-US" dirty="0"/>
              <a:t>Focus the study (narrowing it down to essentials)</a:t>
            </a:r>
          </a:p>
          <a:p>
            <a:pPr lvl="1"/>
            <a:r>
              <a:rPr lang="en-US" dirty="0"/>
              <a:t>Avoid collection of data that are not strictly necessary for understanding and solving the identified problem</a:t>
            </a:r>
          </a:p>
          <a:p>
            <a:pPr lvl="1"/>
            <a:r>
              <a:rPr lang="en-US" dirty="0"/>
              <a:t>Organize the study in clearly defined parts</a:t>
            </a:r>
          </a:p>
          <a:p>
            <a:r>
              <a:rPr lang="en-US" dirty="0"/>
              <a:t>The explicit formulation of study objectives is an essential step in the planning of a study. It is said that “a question well-stated is a question half-answered”, but a question that is poorly stated or unstated is unlikely to be answered at all.</a:t>
            </a:r>
            <a:br>
              <a:rPr lang="en-US" dirty="0"/>
            </a:br>
            <a:endParaRPr lang="en-US" dirty="0"/>
          </a:p>
        </p:txBody>
      </p:sp>
    </p:spTree>
    <p:extLst>
      <p:ext uri="{BB962C8B-B14F-4D97-AF65-F5344CB8AC3E}">
        <p14:creationId xmlns:p14="http://schemas.microsoft.com/office/powerpoint/2010/main" val="33650123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C0E76A-A6A9-AA85-8110-B1D4653A711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8B4E7C8-9E48-697C-44BE-1F0B24A112F8}"/>
              </a:ext>
            </a:extLst>
          </p:cNvPr>
          <p:cNvSpPr>
            <a:spLocks noGrp="1"/>
          </p:cNvSpPr>
          <p:nvPr>
            <p:ph idx="1"/>
          </p:nvPr>
        </p:nvSpPr>
        <p:spPr/>
        <p:txBody>
          <a:bodyPr>
            <a:normAutofit/>
          </a:bodyPr>
          <a:lstStyle/>
          <a:p>
            <a:r>
              <a:rPr lang="en-US" b="1" dirty="0"/>
              <a:t>How should we state our objectives?</a:t>
            </a:r>
          </a:p>
          <a:p>
            <a:r>
              <a:rPr lang="en-US" dirty="0"/>
              <a:t>We have to make sure that our objectives:</a:t>
            </a:r>
          </a:p>
          <a:p>
            <a:pPr lvl="1"/>
            <a:r>
              <a:rPr lang="en-US" dirty="0"/>
              <a:t>Cover the different aspects of the problem and its contributing factors in a </a:t>
            </a:r>
            <a:r>
              <a:rPr lang="en-US" b="1" dirty="0"/>
              <a:t>coherent way </a:t>
            </a:r>
            <a:r>
              <a:rPr lang="en-US" dirty="0"/>
              <a:t>and in a </a:t>
            </a:r>
            <a:r>
              <a:rPr lang="en-US" b="1" dirty="0"/>
              <a:t>logical sequence </a:t>
            </a:r>
          </a:p>
          <a:p>
            <a:pPr lvl="1"/>
            <a:r>
              <a:rPr lang="en-US" dirty="0"/>
              <a:t>Are </a:t>
            </a:r>
            <a:r>
              <a:rPr lang="en-US" b="1" dirty="0"/>
              <a:t>clearly expressed </a:t>
            </a:r>
            <a:r>
              <a:rPr lang="en-US" dirty="0"/>
              <a:t>in measurable terms</a:t>
            </a:r>
          </a:p>
          <a:p>
            <a:pPr lvl="1"/>
            <a:r>
              <a:rPr lang="en-US" dirty="0"/>
              <a:t>Are </a:t>
            </a:r>
            <a:r>
              <a:rPr lang="en-US" b="1" dirty="0"/>
              <a:t>realistic </a:t>
            </a:r>
            <a:r>
              <a:rPr lang="en-US" dirty="0"/>
              <a:t>considering local conditions</a:t>
            </a:r>
          </a:p>
          <a:p>
            <a:pPr lvl="1"/>
            <a:r>
              <a:rPr lang="en-US" dirty="0"/>
              <a:t>Meet the purpose of the study</a:t>
            </a:r>
          </a:p>
          <a:p>
            <a:pPr lvl="1"/>
            <a:r>
              <a:rPr lang="en-US" dirty="0"/>
              <a:t>Use </a:t>
            </a:r>
            <a:r>
              <a:rPr lang="en-US" b="1" dirty="0"/>
              <a:t>action verbs </a:t>
            </a:r>
            <a:r>
              <a:rPr lang="en-US" dirty="0"/>
              <a:t>that are specific enough to be measured</a:t>
            </a:r>
          </a:p>
        </p:txBody>
      </p:sp>
    </p:spTree>
    <p:extLst>
      <p:ext uri="{BB962C8B-B14F-4D97-AF65-F5344CB8AC3E}">
        <p14:creationId xmlns:p14="http://schemas.microsoft.com/office/powerpoint/2010/main" val="426656062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4F0B58-B85F-5800-FDA5-180E0BEC146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72700A0-7A42-F38A-FDEB-B6271DB9CBBE}"/>
              </a:ext>
            </a:extLst>
          </p:cNvPr>
          <p:cNvSpPr>
            <a:spLocks noGrp="1"/>
          </p:cNvSpPr>
          <p:nvPr>
            <p:ph idx="1"/>
          </p:nvPr>
        </p:nvSpPr>
        <p:spPr/>
        <p:txBody>
          <a:bodyPr>
            <a:normAutofit/>
          </a:bodyPr>
          <a:lstStyle/>
          <a:p>
            <a:r>
              <a:rPr lang="en-US" b="1" dirty="0"/>
              <a:t>Examples of action verbs are:</a:t>
            </a:r>
          </a:p>
          <a:p>
            <a:pPr lvl="1"/>
            <a:r>
              <a:rPr lang="en-US" dirty="0"/>
              <a:t>to determine</a:t>
            </a:r>
          </a:p>
          <a:p>
            <a:pPr lvl="1"/>
            <a:r>
              <a:rPr lang="en-US" dirty="0"/>
              <a:t>to compare</a:t>
            </a:r>
          </a:p>
          <a:p>
            <a:pPr lvl="1"/>
            <a:r>
              <a:rPr lang="en-US" dirty="0"/>
              <a:t>to verify</a:t>
            </a:r>
          </a:p>
          <a:p>
            <a:pPr lvl="1"/>
            <a:r>
              <a:rPr lang="en-US" dirty="0"/>
              <a:t>to calculate</a:t>
            </a:r>
          </a:p>
          <a:p>
            <a:pPr lvl="1"/>
            <a:r>
              <a:rPr lang="en-US" dirty="0"/>
              <a:t>to describe</a:t>
            </a:r>
          </a:p>
          <a:p>
            <a:pPr lvl="1"/>
            <a:r>
              <a:rPr lang="en-US" dirty="0"/>
              <a:t>to find out</a:t>
            </a:r>
          </a:p>
          <a:p>
            <a:pPr lvl="1"/>
            <a:r>
              <a:rPr lang="en-US" dirty="0"/>
              <a:t>to establish </a:t>
            </a:r>
            <a:br>
              <a:rPr lang="en-US" dirty="0"/>
            </a:br>
            <a:endParaRPr lang="en-US" dirty="0"/>
          </a:p>
        </p:txBody>
      </p:sp>
    </p:spTree>
    <p:extLst>
      <p:ext uri="{BB962C8B-B14F-4D97-AF65-F5344CB8AC3E}">
        <p14:creationId xmlns:p14="http://schemas.microsoft.com/office/powerpoint/2010/main" val="224556492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223A93-9BC6-25A9-E0EA-F1B73EBBD39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5FE2AA7-B481-B640-75B0-A67BD104B100}"/>
              </a:ext>
            </a:extLst>
          </p:cNvPr>
          <p:cNvSpPr>
            <a:spLocks noGrp="1"/>
          </p:cNvSpPr>
          <p:nvPr>
            <p:ph idx="1"/>
          </p:nvPr>
        </p:nvSpPr>
        <p:spPr/>
        <p:txBody>
          <a:bodyPr>
            <a:normAutofit fontScale="85000" lnSpcReduction="20000"/>
          </a:bodyPr>
          <a:lstStyle/>
          <a:p>
            <a:r>
              <a:rPr lang="en-US" b="1" dirty="0"/>
              <a:t>Avoid the use of vague non-action verbs such as;</a:t>
            </a:r>
          </a:p>
          <a:p>
            <a:pPr lvl="1"/>
            <a:r>
              <a:rPr lang="en-US" dirty="0"/>
              <a:t>to appreciate</a:t>
            </a:r>
          </a:p>
          <a:p>
            <a:pPr lvl="1"/>
            <a:r>
              <a:rPr lang="en-US" dirty="0"/>
              <a:t>to understand</a:t>
            </a:r>
          </a:p>
          <a:p>
            <a:pPr lvl="1"/>
            <a:r>
              <a:rPr lang="en-US" dirty="0"/>
              <a:t>to study</a:t>
            </a:r>
          </a:p>
          <a:p>
            <a:pPr lvl="1"/>
            <a:r>
              <a:rPr lang="en-US" dirty="0"/>
              <a:t>to believe</a:t>
            </a:r>
          </a:p>
          <a:p>
            <a:r>
              <a:rPr lang="en-US" dirty="0"/>
              <a:t>Research objectives can be stated as:</a:t>
            </a:r>
          </a:p>
          <a:p>
            <a:pPr lvl="1"/>
            <a:r>
              <a:rPr lang="en-US" b="1" dirty="0"/>
              <a:t>Questions </a:t>
            </a:r>
            <a:r>
              <a:rPr lang="en-US" dirty="0"/>
              <a:t>the objectives of this study are to answer the following questions ….</a:t>
            </a:r>
          </a:p>
          <a:p>
            <a:pPr lvl="1"/>
            <a:r>
              <a:rPr lang="en-US" b="1" dirty="0"/>
              <a:t>Positive sentence </a:t>
            </a:r>
            <a:r>
              <a:rPr lang="en-US" dirty="0"/>
              <a:t>the objectives of this study are to find out, to establish, to determine, …</a:t>
            </a:r>
          </a:p>
          <a:p>
            <a:pPr lvl="1"/>
            <a:r>
              <a:rPr lang="en-US" b="1" dirty="0"/>
              <a:t>Hypothesis </a:t>
            </a:r>
            <a:r>
              <a:rPr lang="en-US" dirty="0"/>
              <a:t>the objective of this study is to verify the following hypothesis (examples are given below)</a:t>
            </a:r>
          </a:p>
          <a:p>
            <a:r>
              <a:rPr lang="en-US" dirty="0"/>
              <a:t>Based on the type of the study problem, it might be possible to develop explanations for the problem that can be tested. If so, we can formulate hypotheses in addition to the other study objectives. </a:t>
            </a:r>
            <a:br>
              <a:rPr lang="en-US" dirty="0"/>
            </a:br>
            <a:endParaRPr lang="en-US" dirty="0"/>
          </a:p>
        </p:txBody>
      </p:sp>
    </p:spTree>
    <p:extLst>
      <p:ext uri="{BB962C8B-B14F-4D97-AF65-F5344CB8AC3E}">
        <p14:creationId xmlns:p14="http://schemas.microsoft.com/office/powerpoint/2010/main" val="429272530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3A10A-87AC-8E21-8E9F-39C31DEB687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995FDA6-6D70-6FA7-6D96-ADBBA6C644E5}"/>
              </a:ext>
            </a:extLst>
          </p:cNvPr>
          <p:cNvSpPr>
            <a:spLocks noGrp="1"/>
          </p:cNvSpPr>
          <p:nvPr>
            <p:ph idx="1"/>
          </p:nvPr>
        </p:nvSpPr>
        <p:spPr/>
        <p:txBody>
          <a:bodyPr>
            <a:normAutofit fontScale="77500" lnSpcReduction="20000"/>
          </a:bodyPr>
          <a:lstStyle/>
          <a:p>
            <a:r>
              <a:rPr lang="en-US" dirty="0"/>
              <a:t>A hypothesis is a prediction of a relationship between one or more variables and the problem under study. That is, It specifies the relationship among variables. </a:t>
            </a:r>
          </a:p>
          <a:p>
            <a:r>
              <a:rPr lang="en-US" dirty="0"/>
              <a:t>These variables are to be statistically tested at a later stage. In order to measure the relationship among variables to be studied the dependent and independent variables need to be identified. </a:t>
            </a:r>
          </a:p>
          <a:p>
            <a:r>
              <a:rPr lang="en-US" dirty="0"/>
              <a:t>A few examples are given below:</a:t>
            </a:r>
          </a:p>
          <a:p>
            <a:pPr lvl="1"/>
            <a:r>
              <a:rPr lang="en-US" dirty="0"/>
              <a:t>Surgical patients who receive standard intraoperative anesthesia monitoring have fewer anesthesia-related complications than those who do not.</a:t>
            </a:r>
          </a:p>
          <a:p>
            <a:pPr lvl="1"/>
            <a:r>
              <a:rPr lang="en-US" dirty="0"/>
              <a:t>To examine whether there is a significant difference in perioperative complication rates between Hospital “A” and Hospital “B”.</a:t>
            </a:r>
          </a:p>
          <a:p>
            <a:pPr lvl="1"/>
            <a:r>
              <a:rPr lang="en-US" dirty="0"/>
              <a:t>Increased use of preoperative anesthesia assessment is associated with a reduction in day-of-surgery cancellations.</a:t>
            </a:r>
          </a:p>
          <a:p>
            <a:pPr lvl="1"/>
            <a:r>
              <a:rPr lang="en-US" dirty="0"/>
              <a:t>Increased use of spinal anesthesia for cesarean section is followed by a reduction in postoperative maternal complications.</a:t>
            </a:r>
            <a:br>
              <a:rPr lang="en-US" dirty="0"/>
            </a:br>
            <a:br>
              <a:rPr lang="en-US" dirty="0"/>
            </a:br>
            <a:endParaRPr lang="en-US" dirty="0"/>
          </a:p>
        </p:txBody>
      </p:sp>
    </p:spTree>
    <p:extLst>
      <p:ext uri="{BB962C8B-B14F-4D97-AF65-F5344CB8AC3E}">
        <p14:creationId xmlns:p14="http://schemas.microsoft.com/office/powerpoint/2010/main" val="339321104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4DF087-06D7-18E4-F076-3C87DC26C9E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3F760B2-7DCE-82A1-228C-5F9B87BF9083}"/>
              </a:ext>
            </a:extLst>
          </p:cNvPr>
          <p:cNvSpPr>
            <a:spLocks noGrp="1"/>
          </p:cNvSpPr>
          <p:nvPr>
            <p:ph idx="1"/>
          </p:nvPr>
        </p:nvSpPr>
        <p:spPr/>
        <p:txBody>
          <a:bodyPr>
            <a:normAutofit lnSpcReduction="10000"/>
          </a:bodyPr>
          <a:lstStyle/>
          <a:p>
            <a:r>
              <a:rPr lang="en-US" b="1" dirty="0"/>
              <a:t>Exercises</a:t>
            </a:r>
          </a:p>
          <a:p>
            <a:pPr marL="457200" lvl="1" indent="0">
              <a:buNone/>
            </a:pPr>
            <a:r>
              <a:rPr lang="en-US" dirty="0"/>
              <a:t>1. Define general objectives, specific objectives and hypotheses by giving your own examples.</a:t>
            </a:r>
          </a:p>
          <a:p>
            <a:pPr marL="457200" lvl="1" indent="0">
              <a:buNone/>
            </a:pPr>
            <a:r>
              <a:rPr lang="en-US" dirty="0"/>
              <a:t>2. The objectives of a study should be written after the statement of the research problem and before the methods section. Does this statement sound true? Justify your answer.</a:t>
            </a:r>
          </a:p>
          <a:p>
            <a:pPr marL="457200" lvl="1" indent="0">
              <a:buNone/>
            </a:pPr>
            <a:r>
              <a:rPr lang="en-US" dirty="0"/>
              <a:t>3. List the characteristics of research objectives.</a:t>
            </a:r>
          </a:p>
          <a:p>
            <a:pPr marL="457200" lvl="1" indent="0">
              <a:buNone/>
            </a:pPr>
            <a:r>
              <a:rPr lang="en-US" dirty="0"/>
              <a:t>4. Comment on the statement: “A question well-stated is a question half-answered”.</a:t>
            </a:r>
          </a:p>
          <a:p>
            <a:pPr marL="457200" lvl="1" indent="0">
              <a:buNone/>
            </a:pPr>
            <a:r>
              <a:rPr lang="en-US" dirty="0"/>
              <a:t>5. Mention some of the problems that may arise as a result of having too many objectives. </a:t>
            </a:r>
            <a:br>
              <a:rPr lang="en-US" dirty="0"/>
            </a:br>
            <a:endParaRPr lang="en-US" dirty="0"/>
          </a:p>
        </p:txBody>
      </p:sp>
    </p:spTree>
    <p:extLst>
      <p:ext uri="{BB962C8B-B14F-4D97-AF65-F5344CB8AC3E}">
        <p14:creationId xmlns:p14="http://schemas.microsoft.com/office/powerpoint/2010/main" val="83892662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22E58C-ECBB-773F-A54F-2CF3A0511000}"/>
              </a:ext>
            </a:extLst>
          </p:cNvPr>
          <p:cNvSpPr>
            <a:spLocks noGrp="1"/>
          </p:cNvSpPr>
          <p:nvPr>
            <p:ph type="title"/>
          </p:nvPr>
        </p:nvSpPr>
        <p:spPr/>
        <p:txBody>
          <a:bodyPr/>
          <a:lstStyle/>
          <a:p>
            <a:r>
              <a:rPr lang="en-US" dirty="0"/>
              <a:t>Justification </a:t>
            </a:r>
          </a:p>
        </p:txBody>
      </p:sp>
      <p:sp>
        <p:nvSpPr>
          <p:cNvPr id="3" name="Content Placeholder 2">
            <a:extLst>
              <a:ext uri="{FF2B5EF4-FFF2-40B4-BE49-F238E27FC236}">
                <a16:creationId xmlns:a16="http://schemas.microsoft.com/office/drawing/2014/main" id="{8AC27A7A-1F3C-0E03-9EF7-A3E46115C4F6}"/>
              </a:ext>
            </a:extLst>
          </p:cNvPr>
          <p:cNvSpPr>
            <a:spLocks noGrp="1"/>
          </p:cNvSpPr>
          <p:nvPr>
            <p:ph idx="1"/>
          </p:nvPr>
        </p:nvSpPr>
        <p:spPr/>
        <p:txBody>
          <a:bodyPr>
            <a:normAutofit fontScale="92500" lnSpcReduction="10000"/>
          </a:bodyPr>
          <a:lstStyle/>
          <a:p>
            <a:r>
              <a:rPr lang="en-US" dirty="0"/>
              <a:t>The justification section of a research proposal, often called the </a:t>
            </a:r>
            <a:r>
              <a:rPr lang="en-US" b="1" dirty="0"/>
              <a:t>rationale</a:t>
            </a:r>
            <a:r>
              <a:rPr lang="en-US" dirty="0"/>
              <a:t>, explains the "why" behind a study, arguing for its importance, relevance, and necessity. It identifies gaps in existing literature, highlights a specific problem, and convinces stakeholders of the study’s value to academia, practice, or society. </a:t>
            </a:r>
          </a:p>
          <a:p>
            <a:r>
              <a:rPr lang="en-US" dirty="0"/>
              <a:t>Key components of the justification section include:</a:t>
            </a:r>
          </a:p>
          <a:p>
            <a:pPr lvl="1"/>
            <a:r>
              <a:rPr lang="en-US" dirty="0"/>
              <a:t>Definition of the Problem: Clearly stating the issue or gap in knowledge.</a:t>
            </a:r>
          </a:p>
          <a:p>
            <a:pPr lvl="1"/>
            <a:r>
              <a:rPr lang="en-US" dirty="0"/>
              <a:t>Contextualization: Explaining how the study fits within existing literature and addresses limitations of previous research.</a:t>
            </a:r>
          </a:p>
          <a:p>
            <a:pPr lvl="1"/>
            <a:r>
              <a:rPr lang="en-US" dirty="0"/>
              <a:t>Significance/Relevance: Highlighting the practical, theoretical, or policy implications of the findings.</a:t>
            </a:r>
          </a:p>
          <a:p>
            <a:pPr lvl="1"/>
            <a:r>
              <a:rPr lang="en-US" dirty="0"/>
              <a:t>Motivation: Explaining why the research needs to be conducted now. </a:t>
            </a:r>
          </a:p>
        </p:txBody>
      </p:sp>
    </p:spTree>
    <p:extLst>
      <p:ext uri="{BB962C8B-B14F-4D97-AF65-F5344CB8AC3E}">
        <p14:creationId xmlns:p14="http://schemas.microsoft.com/office/powerpoint/2010/main" val="243368416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039A66-743D-A2C7-3BBF-8FAA8BCAE8EB}"/>
              </a:ext>
            </a:extLst>
          </p:cNvPr>
          <p:cNvSpPr>
            <a:spLocks noGrp="1"/>
          </p:cNvSpPr>
          <p:nvPr>
            <p:ph type="ctrTitle"/>
          </p:nvPr>
        </p:nvSpPr>
        <p:spPr/>
        <p:txBody>
          <a:bodyPr/>
          <a:lstStyle/>
          <a:p>
            <a:r>
              <a:rPr lang="en-US" dirty="0"/>
              <a:t>Research methods/Methods section</a:t>
            </a:r>
          </a:p>
        </p:txBody>
      </p:sp>
      <p:sp>
        <p:nvSpPr>
          <p:cNvPr id="4" name="Subtitle 3">
            <a:extLst>
              <a:ext uri="{FF2B5EF4-FFF2-40B4-BE49-F238E27FC236}">
                <a16:creationId xmlns:a16="http://schemas.microsoft.com/office/drawing/2014/main" id="{227CA0FF-7D5D-38D5-0372-96528F314F6F}"/>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63206362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55E548-A5DC-25B8-7DE6-4EE2FA80E30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61C63BF-7E6B-F4B9-2558-0601CBDC1194}"/>
              </a:ext>
            </a:extLst>
          </p:cNvPr>
          <p:cNvSpPr>
            <a:spLocks noGrp="1"/>
          </p:cNvSpPr>
          <p:nvPr>
            <p:ph idx="1"/>
          </p:nvPr>
        </p:nvSpPr>
        <p:spPr/>
        <p:txBody>
          <a:bodyPr/>
          <a:lstStyle/>
          <a:p>
            <a:r>
              <a:rPr lang="en-US" dirty="0"/>
              <a:t>In the previous chapters we have dealt with the identification, selection, analysis and statement of the problem. </a:t>
            </a:r>
          </a:p>
          <a:p>
            <a:r>
              <a:rPr lang="en-US" dirty="0"/>
              <a:t>The importance of literature review and formulation of study objectives were also emphasized. </a:t>
            </a:r>
          </a:p>
          <a:p>
            <a:r>
              <a:rPr lang="en-US" dirty="0"/>
              <a:t>Now we must decide exactly how we are going to achieve our stated objectives. </a:t>
            </a:r>
          </a:p>
        </p:txBody>
      </p:sp>
    </p:spTree>
    <p:extLst>
      <p:ext uri="{BB962C8B-B14F-4D97-AF65-F5344CB8AC3E}">
        <p14:creationId xmlns:p14="http://schemas.microsoft.com/office/powerpoint/2010/main" val="79773466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80285F-8D2A-4B6D-E844-E8B1B4436EC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1690A8A-E9F9-02C2-D1A3-7BFC3D84C66A}"/>
              </a:ext>
            </a:extLst>
          </p:cNvPr>
          <p:cNvSpPr>
            <a:spLocks noGrp="1"/>
          </p:cNvSpPr>
          <p:nvPr>
            <p:ph idx="1"/>
          </p:nvPr>
        </p:nvSpPr>
        <p:spPr/>
        <p:txBody>
          <a:bodyPr>
            <a:normAutofit lnSpcReduction="10000"/>
          </a:bodyPr>
          <a:lstStyle/>
          <a:p>
            <a:r>
              <a:rPr lang="en-US" b="1" dirty="0"/>
              <a:t>Types of study designs</a:t>
            </a:r>
          </a:p>
          <a:p>
            <a:pPr lvl="1"/>
            <a:r>
              <a:rPr lang="en-US" dirty="0"/>
              <a:t>A study design is the process that guides researchers on how to collect, analyze and interpret observations. </a:t>
            </a:r>
          </a:p>
          <a:p>
            <a:pPr lvl="1"/>
            <a:r>
              <a:rPr lang="en-US" dirty="0"/>
              <a:t>It is a </a:t>
            </a:r>
            <a:r>
              <a:rPr lang="en-US" b="1" dirty="0"/>
              <a:t>l</a:t>
            </a:r>
            <a:r>
              <a:rPr lang="en-US" b="1" i="1" dirty="0"/>
              <a:t>ogical model </a:t>
            </a:r>
            <a:r>
              <a:rPr lang="en-US" dirty="0"/>
              <a:t>that guides the investigator in the various stages of the research.</a:t>
            </a:r>
          </a:p>
          <a:p>
            <a:pPr lvl="1"/>
            <a:r>
              <a:rPr lang="en-US" dirty="0"/>
              <a:t>Several classifications of study types are possible, depending on what research strategies are used.</a:t>
            </a:r>
          </a:p>
          <a:p>
            <a:r>
              <a:rPr lang="en-US" b="1" dirty="0"/>
              <a:t>Study designs are classified in to three </a:t>
            </a:r>
          </a:p>
          <a:p>
            <a:pPr lvl="1"/>
            <a:r>
              <a:rPr lang="en-US" b="1" dirty="0"/>
              <a:t>exploratory, </a:t>
            </a:r>
          </a:p>
          <a:p>
            <a:pPr lvl="1"/>
            <a:r>
              <a:rPr lang="en-US" b="1" dirty="0"/>
              <a:t>descriptive or </a:t>
            </a:r>
          </a:p>
          <a:p>
            <a:pPr lvl="1"/>
            <a:r>
              <a:rPr lang="en-US" b="1" dirty="0"/>
              <a:t>analytical</a:t>
            </a:r>
            <a:r>
              <a:rPr lang="en-US" dirty="0"/>
              <a:t> </a:t>
            </a:r>
            <a:br>
              <a:rPr lang="en-US" dirty="0"/>
            </a:br>
            <a:endParaRPr lang="en-US" dirty="0"/>
          </a:p>
        </p:txBody>
      </p:sp>
    </p:spTree>
    <p:extLst>
      <p:ext uri="{BB962C8B-B14F-4D97-AF65-F5344CB8AC3E}">
        <p14:creationId xmlns:p14="http://schemas.microsoft.com/office/powerpoint/2010/main" val="389456803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A182D8-1507-8385-8365-0C972A8EFCF9}"/>
              </a:ext>
            </a:extLst>
          </p:cNvPr>
          <p:cNvSpPr>
            <a:spLocks noGrp="1"/>
          </p:cNvSpPr>
          <p:nvPr>
            <p:ph type="title"/>
          </p:nvPr>
        </p:nvSpPr>
        <p:spPr/>
        <p:txBody>
          <a:bodyPr/>
          <a:lstStyle/>
          <a:p>
            <a:r>
              <a:rPr lang="en-US" b="1" dirty="0"/>
              <a:t>1. Exploratory Studies </a:t>
            </a:r>
            <a:endParaRPr lang="en-US" dirty="0"/>
          </a:p>
        </p:txBody>
      </p:sp>
      <p:sp>
        <p:nvSpPr>
          <p:cNvPr id="3" name="Content Placeholder 2">
            <a:extLst>
              <a:ext uri="{FF2B5EF4-FFF2-40B4-BE49-F238E27FC236}">
                <a16:creationId xmlns:a16="http://schemas.microsoft.com/office/drawing/2014/main" id="{FB8395EF-3B2D-2931-C78D-AF7931C7D463}"/>
              </a:ext>
            </a:extLst>
          </p:cNvPr>
          <p:cNvSpPr>
            <a:spLocks noGrp="1"/>
          </p:cNvSpPr>
          <p:nvPr>
            <p:ph idx="1"/>
          </p:nvPr>
        </p:nvSpPr>
        <p:spPr/>
        <p:txBody>
          <a:bodyPr>
            <a:normAutofit lnSpcReduction="10000"/>
          </a:bodyPr>
          <a:lstStyle/>
          <a:p>
            <a:r>
              <a:rPr lang="en-US" dirty="0"/>
              <a:t>An exploratory study is a </a:t>
            </a:r>
            <a:r>
              <a:rPr lang="en-US" b="1" dirty="0"/>
              <a:t>small-scale study of relatively short duration</a:t>
            </a:r>
            <a:r>
              <a:rPr lang="en-US" dirty="0"/>
              <a:t>, carried out when </a:t>
            </a:r>
            <a:r>
              <a:rPr lang="en-US" b="1" dirty="0"/>
              <a:t>little is known about a situation or problem in anesthesia practice</a:t>
            </a:r>
            <a:r>
              <a:rPr lang="en-US" dirty="0"/>
              <a:t>. It may include description as well as comparison.</a:t>
            </a:r>
          </a:p>
          <a:p>
            <a:r>
              <a:rPr lang="en-US" b="1" dirty="0"/>
              <a:t>Example:</a:t>
            </a:r>
            <a:br>
              <a:rPr lang="en-US" dirty="0"/>
            </a:br>
            <a:endParaRPr lang="en-US" dirty="0"/>
          </a:p>
          <a:p>
            <a:pPr lvl="1"/>
            <a:r>
              <a:rPr lang="en-US" dirty="0"/>
              <a:t>A hospital wants to improve </a:t>
            </a:r>
            <a:r>
              <a:rPr lang="en-US" b="1" dirty="0"/>
              <a:t>postoperative pain management for cesarean section patients</a:t>
            </a:r>
            <a:r>
              <a:rPr lang="en-US" dirty="0"/>
              <a:t>, but there is little information on the </a:t>
            </a:r>
            <a:r>
              <a:rPr lang="en-US" b="1" dirty="0"/>
              <a:t>current practices, patient satisfaction, or barriers faced by anesthesia providers</a:t>
            </a:r>
            <a:r>
              <a:rPr lang="en-US" dirty="0"/>
              <a:t>. </a:t>
            </a:r>
          </a:p>
          <a:p>
            <a:pPr lvl="1"/>
            <a:r>
              <a:rPr lang="en-US" dirty="0"/>
              <a:t>To explore this, a number of </a:t>
            </a:r>
            <a:r>
              <a:rPr lang="en-US" b="1" dirty="0"/>
              <a:t>in-depth interviews</a:t>
            </a:r>
            <a:r>
              <a:rPr lang="en-US" dirty="0"/>
              <a:t> are conducted with patients, anesthetists, and nurses involved in postoperative care.</a:t>
            </a:r>
          </a:p>
        </p:txBody>
      </p:sp>
    </p:spTree>
    <p:extLst>
      <p:ext uri="{BB962C8B-B14F-4D97-AF65-F5344CB8AC3E}">
        <p14:creationId xmlns:p14="http://schemas.microsoft.com/office/powerpoint/2010/main" val="35448763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F1CD5F-E0FB-6E6E-5991-0F4F7DAE288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3D7D9BA-BFAA-DB33-40E7-09985C3479AB}"/>
              </a:ext>
            </a:extLst>
          </p:cNvPr>
          <p:cNvSpPr>
            <a:spLocks noGrp="1"/>
          </p:cNvSpPr>
          <p:nvPr>
            <p:ph idx="1"/>
          </p:nvPr>
        </p:nvSpPr>
        <p:spPr/>
        <p:txBody>
          <a:bodyPr>
            <a:normAutofit fontScale="92500"/>
          </a:bodyPr>
          <a:lstStyle/>
          <a:p>
            <a:r>
              <a:rPr lang="en-US" dirty="0"/>
              <a:t>During this exploratory study, we describe the </a:t>
            </a:r>
            <a:r>
              <a:rPr lang="en-US" b="1" dirty="0"/>
              <a:t>current practices and challenges</a:t>
            </a:r>
            <a:r>
              <a:rPr lang="en-US" dirty="0"/>
              <a:t>, such as differences in analgesia use between day and night shifts or between junior and senior staff. </a:t>
            </a:r>
          </a:p>
          <a:p>
            <a:r>
              <a:rPr lang="en-US" dirty="0"/>
              <a:t>We may also want to </a:t>
            </a:r>
            <a:r>
              <a:rPr lang="en-US" b="1" dirty="0"/>
              <a:t>identify potential causes of poor pain management</a:t>
            </a:r>
            <a:r>
              <a:rPr lang="en-US" dirty="0"/>
              <a:t>, for example, limited availability of analgesics, lack of training, or workflow issues.</a:t>
            </a:r>
          </a:p>
          <a:p>
            <a:r>
              <a:rPr lang="en-US" b="1" dirty="0"/>
              <a:t>Key point:</a:t>
            </a:r>
            <a:br>
              <a:rPr lang="en-US" dirty="0"/>
            </a:br>
            <a:r>
              <a:rPr lang="en-US" dirty="0"/>
              <a:t>If the problem and its contributing factors in anesthesia are </a:t>
            </a:r>
            <a:r>
              <a:rPr lang="en-US" b="1" dirty="0"/>
              <a:t>not well defined</a:t>
            </a:r>
            <a:r>
              <a:rPr lang="en-US" dirty="0"/>
              <a:t>, it is advisable to do an exploratory study </a:t>
            </a:r>
            <a:r>
              <a:rPr lang="en-US" b="1" dirty="0"/>
              <a:t>before designing a large-scale descriptive or comparative study</a:t>
            </a:r>
            <a:r>
              <a:rPr lang="en-US" dirty="0"/>
              <a:t> on postoperative pain management, anesthesia monitoring, or perioperative complications.</a:t>
            </a:r>
          </a:p>
          <a:p>
            <a:endParaRPr lang="en-US" dirty="0"/>
          </a:p>
        </p:txBody>
      </p:sp>
    </p:spTree>
    <p:extLst>
      <p:ext uri="{BB962C8B-B14F-4D97-AF65-F5344CB8AC3E}">
        <p14:creationId xmlns:p14="http://schemas.microsoft.com/office/powerpoint/2010/main" val="50507678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FCC3A6-D7E7-692B-A84E-4C8ACA950948}"/>
              </a:ext>
            </a:extLst>
          </p:cNvPr>
          <p:cNvSpPr>
            <a:spLocks noGrp="1"/>
          </p:cNvSpPr>
          <p:nvPr>
            <p:ph type="title"/>
          </p:nvPr>
        </p:nvSpPr>
        <p:spPr/>
        <p:txBody>
          <a:bodyPr/>
          <a:lstStyle/>
          <a:p>
            <a:r>
              <a:rPr lang="en-US" b="1" dirty="0"/>
              <a:t>2. Descriptive studies:</a:t>
            </a:r>
            <a:endParaRPr lang="en-US" dirty="0"/>
          </a:p>
        </p:txBody>
      </p:sp>
      <p:sp>
        <p:nvSpPr>
          <p:cNvPr id="3" name="Content Placeholder 2">
            <a:extLst>
              <a:ext uri="{FF2B5EF4-FFF2-40B4-BE49-F238E27FC236}">
                <a16:creationId xmlns:a16="http://schemas.microsoft.com/office/drawing/2014/main" id="{FED89E23-B29C-F803-E00F-C21F25CEF1BA}"/>
              </a:ext>
            </a:extLst>
          </p:cNvPr>
          <p:cNvSpPr>
            <a:spLocks noGrp="1"/>
          </p:cNvSpPr>
          <p:nvPr>
            <p:ph idx="1"/>
          </p:nvPr>
        </p:nvSpPr>
        <p:spPr/>
        <p:txBody>
          <a:bodyPr>
            <a:normAutofit fontScale="70000" lnSpcReduction="20000"/>
          </a:bodyPr>
          <a:lstStyle/>
          <a:p>
            <a:r>
              <a:rPr lang="en-US" dirty="0"/>
              <a:t>Descriptive studies may be defined as studies that describe the patterns of disease occurrence and other health-related conditions by </a:t>
            </a:r>
            <a:r>
              <a:rPr lang="en-US" b="1" i="1" dirty="0"/>
              <a:t>person place </a:t>
            </a:r>
            <a:r>
              <a:rPr lang="en-US" dirty="0"/>
              <a:t>and </a:t>
            </a:r>
            <a:r>
              <a:rPr lang="en-US" b="1" i="1" dirty="0"/>
              <a:t>time.</a:t>
            </a:r>
            <a:endParaRPr lang="en-US" dirty="0"/>
          </a:p>
          <a:p>
            <a:r>
              <a:rPr lang="en-US" b="1" dirty="0"/>
              <a:t>Personal variables include</a:t>
            </a:r>
            <a:r>
              <a:rPr lang="en-US" dirty="0"/>
              <a:t>: basic demographic factors, such as age, sex marital status or occupation, as well as the consumption of various types of food or medication use.</a:t>
            </a:r>
          </a:p>
          <a:p>
            <a:r>
              <a:rPr lang="en-US" dirty="0"/>
              <a:t>Characteristics of place refer to the </a:t>
            </a:r>
            <a:r>
              <a:rPr lang="en-US" b="1" dirty="0"/>
              <a:t>geographic distribution of disease</a:t>
            </a:r>
            <a:r>
              <a:rPr lang="en-US" b="1" i="1" dirty="0"/>
              <a:t>, </a:t>
            </a:r>
            <a:r>
              <a:rPr lang="en-US" dirty="0"/>
              <a:t>including variation among countries or within countries, such as between urban and rural areas.</a:t>
            </a:r>
          </a:p>
          <a:p>
            <a:r>
              <a:rPr lang="en-US" dirty="0"/>
              <a:t>With regard to time, descriptive studies may examine </a:t>
            </a:r>
            <a:r>
              <a:rPr lang="en-US" b="1" dirty="0"/>
              <a:t>seasonal patterns in disease onset, etc.</a:t>
            </a:r>
          </a:p>
          <a:p>
            <a:r>
              <a:rPr lang="en-US" b="1" dirty="0"/>
              <a:t>Uses of descriptive studies</a:t>
            </a:r>
          </a:p>
          <a:p>
            <a:pPr lvl="1"/>
            <a:r>
              <a:rPr lang="en-US" dirty="0"/>
              <a:t>They can be done fairly quickly and easily.</a:t>
            </a:r>
          </a:p>
          <a:p>
            <a:pPr lvl="1"/>
            <a:r>
              <a:rPr lang="en-US" dirty="0"/>
              <a:t>Allow planners and administrators to allocate resources</a:t>
            </a:r>
          </a:p>
          <a:p>
            <a:pPr lvl="1"/>
            <a:r>
              <a:rPr lang="en-US" dirty="0"/>
              <a:t>Provide the first important clues about possible determinants of a disease (useful</a:t>
            </a:r>
          </a:p>
          <a:p>
            <a:pPr lvl="1"/>
            <a:r>
              <a:rPr lang="en-US" dirty="0"/>
              <a:t>for the formulation of hypotheses) </a:t>
            </a:r>
            <a:br>
              <a:rPr lang="en-US" dirty="0"/>
            </a:br>
            <a:endParaRPr lang="en-US" dirty="0"/>
          </a:p>
        </p:txBody>
      </p:sp>
    </p:spTree>
    <p:extLst>
      <p:ext uri="{BB962C8B-B14F-4D97-AF65-F5344CB8AC3E}">
        <p14:creationId xmlns:p14="http://schemas.microsoft.com/office/powerpoint/2010/main" val="96897258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89E83E-4918-1C6E-9272-8D3A77EEF7EA}"/>
              </a:ext>
            </a:extLst>
          </p:cNvPr>
          <p:cNvSpPr>
            <a:spLocks noGrp="1"/>
          </p:cNvSpPr>
          <p:nvPr>
            <p:ph type="title"/>
          </p:nvPr>
        </p:nvSpPr>
        <p:spPr/>
        <p:txBody>
          <a:bodyPr/>
          <a:lstStyle/>
          <a:p>
            <a:r>
              <a:rPr lang="en-US" b="1" dirty="0"/>
              <a:t>Types of descriptive studies</a:t>
            </a:r>
            <a:endParaRPr lang="en-US" dirty="0"/>
          </a:p>
        </p:txBody>
      </p:sp>
      <p:sp>
        <p:nvSpPr>
          <p:cNvPr id="3" name="Content Placeholder 2">
            <a:extLst>
              <a:ext uri="{FF2B5EF4-FFF2-40B4-BE49-F238E27FC236}">
                <a16:creationId xmlns:a16="http://schemas.microsoft.com/office/drawing/2014/main" id="{85DF7161-7999-33E5-5BB2-DECEF5A28854}"/>
              </a:ext>
            </a:extLst>
          </p:cNvPr>
          <p:cNvSpPr>
            <a:spLocks noGrp="1"/>
          </p:cNvSpPr>
          <p:nvPr>
            <p:ph idx="1"/>
          </p:nvPr>
        </p:nvSpPr>
        <p:spPr/>
        <p:txBody>
          <a:bodyPr>
            <a:normAutofit fontScale="92500" lnSpcReduction="10000"/>
          </a:bodyPr>
          <a:lstStyle/>
          <a:p>
            <a:pPr marL="0" indent="0">
              <a:buNone/>
            </a:pPr>
            <a:r>
              <a:rPr lang="en-US" b="1" i="1" dirty="0"/>
              <a:t>a) Case reports and case series</a:t>
            </a:r>
          </a:p>
          <a:p>
            <a:r>
              <a:rPr lang="en-US" b="1" dirty="0"/>
              <a:t>Case report: </a:t>
            </a:r>
            <a:r>
              <a:rPr lang="en-US" dirty="0"/>
              <a:t>a careful, detailed report by one or more clinicians of the </a:t>
            </a:r>
            <a:r>
              <a:rPr lang="en-US" b="1" i="1" dirty="0"/>
              <a:t>profile of a single patient.</a:t>
            </a:r>
          </a:p>
          <a:p>
            <a:r>
              <a:rPr lang="en-US" dirty="0"/>
              <a:t>The individual case report can be expanded to a </a:t>
            </a:r>
            <a:r>
              <a:rPr lang="en-US" b="1" i="1" dirty="0"/>
              <a:t>case series, </a:t>
            </a:r>
            <a:r>
              <a:rPr lang="en-US" dirty="0"/>
              <a:t>which describes characteristics of a number of patients with a given disease.</a:t>
            </a:r>
          </a:p>
          <a:p>
            <a:r>
              <a:rPr lang="en-US" dirty="0"/>
              <a:t>Uses</a:t>
            </a:r>
          </a:p>
          <a:p>
            <a:pPr lvl="1"/>
            <a:r>
              <a:rPr lang="en-US" dirty="0"/>
              <a:t>Important link between clinical medicine and epidemiology</a:t>
            </a:r>
          </a:p>
          <a:p>
            <a:pPr lvl="1"/>
            <a:r>
              <a:rPr lang="en-US" dirty="0"/>
              <a:t>One of the first steps in outbreak investigation</a:t>
            </a:r>
          </a:p>
          <a:p>
            <a:pPr lvl="1"/>
            <a:r>
              <a:rPr lang="en-US" dirty="0"/>
              <a:t>Often useful for hypothesis generating and examining new diseases, but conclusions</a:t>
            </a:r>
          </a:p>
          <a:p>
            <a:pPr lvl="1"/>
            <a:r>
              <a:rPr lang="en-US" dirty="0"/>
              <a:t>about etiology cannot be made </a:t>
            </a:r>
            <a:br>
              <a:rPr lang="en-US" dirty="0"/>
            </a:br>
            <a:endParaRPr lang="en-US" dirty="0"/>
          </a:p>
        </p:txBody>
      </p:sp>
    </p:spTree>
    <p:extLst>
      <p:ext uri="{BB962C8B-B14F-4D97-AF65-F5344CB8AC3E}">
        <p14:creationId xmlns:p14="http://schemas.microsoft.com/office/powerpoint/2010/main" val="116894612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82B333-FB4B-647E-FC9A-EEF6DBE87F9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B977479-95EE-9257-AE49-AC7EC65AF1C5}"/>
              </a:ext>
            </a:extLst>
          </p:cNvPr>
          <p:cNvSpPr>
            <a:spLocks noGrp="1"/>
          </p:cNvSpPr>
          <p:nvPr>
            <p:ph idx="1"/>
          </p:nvPr>
        </p:nvSpPr>
        <p:spPr/>
        <p:txBody>
          <a:bodyPr>
            <a:normAutofit fontScale="92500"/>
          </a:bodyPr>
          <a:lstStyle/>
          <a:p>
            <a:pPr marL="0" indent="0">
              <a:buNone/>
            </a:pPr>
            <a:r>
              <a:rPr lang="en-US" b="1" dirty="0"/>
              <a:t>b) Ecological studies: </a:t>
            </a:r>
          </a:p>
          <a:p>
            <a:pPr lvl="1"/>
            <a:r>
              <a:rPr lang="en-US" dirty="0"/>
              <a:t>data from entire populations are used to compare disease frequencies between different groups during the same period of time or in the same population at different points in time.</a:t>
            </a:r>
          </a:p>
          <a:p>
            <a:r>
              <a:rPr lang="en-US" b="1" dirty="0"/>
              <a:t>Example: </a:t>
            </a:r>
            <a:r>
              <a:rPr lang="en-US" dirty="0"/>
              <a:t>Countries with low cigarette consumption have lower lung cancer rates than those countries with high cigarette consumption.</a:t>
            </a:r>
          </a:p>
          <a:p>
            <a:pPr lvl="1"/>
            <a:r>
              <a:rPr lang="en-US" dirty="0"/>
              <a:t>Ecological studies are usually quick and easy to do and can be done with already available information.</a:t>
            </a:r>
          </a:p>
          <a:p>
            <a:pPr lvl="1"/>
            <a:r>
              <a:rPr lang="en-US" dirty="0"/>
              <a:t>Since ecological studies refer to whole populations rather than to individuals, it is not possible to link an exposure to occurrence of disease in the same person </a:t>
            </a:r>
            <a:br>
              <a:rPr lang="en-US" dirty="0"/>
            </a:br>
            <a:endParaRPr lang="en-US" dirty="0"/>
          </a:p>
        </p:txBody>
      </p:sp>
    </p:spTree>
    <p:extLst>
      <p:ext uri="{BB962C8B-B14F-4D97-AF65-F5344CB8AC3E}">
        <p14:creationId xmlns:p14="http://schemas.microsoft.com/office/powerpoint/2010/main" val="329622265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D4863E-CF99-3BBE-C397-C2A2B1F4309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FF81182-A750-DC39-B39F-61A06367AAA0}"/>
              </a:ext>
            </a:extLst>
          </p:cNvPr>
          <p:cNvSpPr>
            <a:spLocks noGrp="1"/>
          </p:cNvSpPr>
          <p:nvPr>
            <p:ph idx="1"/>
          </p:nvPr>
        </p:nvSpPr>
        <p:spPr/>
        <p:txBody>
          <a:bodyPr>
            <a:normAutofit fontScale="92500" lnSpcReduction="20000"/>
          </a:bodyPr>
          <a:lstStyle/>
          <a:p>
            <a:pPr marL="0" indent="0">
              <a:buNone/>
            </a:pPr>
            <a:r>
              <a:rPr lang="en-US" b="1" dirty="0"/>
              <a:t>c) Cross-sectional studies</a:t>
            </a:r>
          </a:p>
          <a:p>
            <a:r>
              <a:rPr lang="en-US" dirty="0"/>
              <a:t>A cross-sectional (prevalence) study provides information concerning the situation at a given time. In this type of study, the status of an individual with respect to the presence or absence of both exposure and disease is assessed at the same point in time.</a:t>
            </a:r>
          </a:p>
          <a:p>
            <a:pPr lvl="1"/>
            <a:r>
              <a:rPr lang="en-US" dirty="0"/>
              <a:t>Usually involve collection of new data.</a:t>
            </a:r>
          </a:p>
          <a:p>
            <a:pPr lvl="1"/>
            <a:r>
              <a:rPr lang="en-US" dirty="0"/>
              <a:t>In general, measure prevalence rather than incidence</a:t>
            </a:r>
          </a:p>
          <a:p>
            <a:pPr lvl="1"/>
            <a:r>
              <a:rPr lang="en-US" dirty="0"/>
              <a:t>Not good for studying rare diseases or diseases with short duration; also not ideal for studying rare exposures.</a:t>
            </a:r>
          </a:p>
          <a:p>
            <a:r>
              <a:rPr lang="en-US" dirty="0"/>
              <a:t>For factors that remain unaltered over time, such as sex, blood group, etc., the cross-sectional survey can provide evidence of a valid statistical association. </a:t>
            </a:r>
            <a:br>
              <a:rPr lang="en-US" dirty="0"/>
            </a:br>
            <a:endParaRPr lang="en-US" dirty="0"/>
          </a:p>
        </p:txBody>
      </p:sp>
    </p:spTree>
    <p:extLst>
      <p:ext uri="{BB962C8B-B14F-4D97-AF65-F5344CB8AC3E}">
        <p14:creationId xmlns:p14="http://schemas.microsoft.com/office/powerpoint/2010/main" val="396695770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27CE0A-D2A1-C658-B69C-84A0789094A8}"/>
              </a:ext>
            </a:extLst>
          </p:cNvPr>
          <p:cNvSpPr>
            <a:spLocks noGrp="1"/>
          </p:cNvSpPr>
          <p:nvPr>
            <p:ph type="title"/>
          </p:nvPr>
        </p:nvSpPr>
        <p:spPr/>
        <p:txBody>
          <a:bodyPr/>
          <a:lstStyle/>
          <a:p>
            <a:r>
              <a:rPr lang="en-US" b="1" dirty="0"/>
              <a:t>3. Analytic studies</a:t>
            </a:r>
            <a:endParaRPr lang="en-US" dirty="0"/>
          </a:p>
        </p:txBody>
      </p:sp>
      <p:sp>
        <p:nvSpPr>
          <p:cNvPr id="3" name="Content Placeholder 2">
            <a:extLst>
              <a:ext uri="{FF2B5EF4-FFF2-40B4-BE49-F238E27FC236}">
                <a16:creationId xmlns:a16="http://schemas.microsoft.com/office/drawing/2014/main" id="{6AF5C5DB-5C63-4A0C-104E-B18E982E6C8B}"/>
              </a:ext>
            </a:extLst>
          </p:cNvPr>
          <p:cNvSpPr>
            <a:spLocks noGrp="1"/>
          </p:cNvSpPr>
          <p:nvPr>
            <p:ph idx="1"/>
          </p:nvPr>
        </p:nvSpPr>
        <p:spPr/>
        <p:txBody>
          <a:bodyPr>
            <a:normAutofit/>
          </a:bodyPr>
          <a:lstStyle/>
          <a:p>
            <a:r>
              <a:rPr lang="en-US" dirty="0"/>
              <a:t>Analytic studies may be defined as studies used </a:t>
            </a:r>
            <a:r>
              <a:rPr lang="en-US" b="1" i="1" dirty="0"/>
              <a:t>to test hypotheses </a:t>
            </a:r>
            <a:r>
              <a:rPr lang="en-US" dirty="0"/>
              <a:t>concerning the relationship between a suspected risk factor and an </a:t>
            </a:r>
            <a:r>
              <a:rPr lang="en-US" b="1" i="1" dirty="0"/>
              <a:t>outcome </a:t>
            </a:r>
            <a:r>
              <a:rPr lang="en-US" dirty="0"/>
              <a:t>and to </a:t>
            </a:r>
            <a:r>
              <a:rPr lang="en-US" b="1" dirty="0"/>
              <a:t>measure the magnitude of the association </a:t>
            </a:r>
            <a:r>
              <a:rPr lang="en-US" dirty="0"/>
              <a:t>and its </a:t>
            </a:r>
            <a:r>
              <a:rPr lang="en-US" b="1" i="1" dirty="0"/>
              <a:t>statistical significance.</a:t>
            </a:r>
          </a:p>
          <a:p>
            <a:r>
              <a:rPr lang="en-US" dirty="0"/>
              <a:t>Analytic study designs can be divided into two broad design strategies: Observational and intervention.</a:t>
            </a:r>
          </a:p>
          <a:p>
            <a:br>
              <a:rPr lang="en-US" dirty="0"/>
            </a:br>
            <a:endParaRPr lang="en-US" dirty="0"/>
          </a:p>
        </p:txBody>
      </p:sp>
    </p:spTree>
    <p:extLst>
      <p:ext uri="{BB962C8B-B14F-4D97-AF65-F5344CB8AC3E}">
        <p14:creationId xmlns:p14="http://schemas.microsoft.com/office/powerpoint/2010/main" val="52046144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045864-6F9F-C2E0-10C2-5264FEA0BA1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CC7367F-B7DD-B5C6-57D2-8FD6D81C8A51}"/>
              </a:ext>
            </a:extLst>
          </p:cNvPr>
          <p:cNvSpPr>
            <a:spLocks noGrp="1"/>
          </p:cNvSpPr>
          <p:nvPr>
            <p:ph idx="1"/>
          </p:nvPr>
        </p:nvSpPr>
        <p:spPr/>
        <p:txBody>
          <a:bodyPr/>
          <a:lstStyle/>
          <a:p>
            <a:pPr marL="0" indent="0">
              <a:buNone/>
            </a:pPr>
            <a:r>
              <a:rPr lang="en-US" b="1" dirty="0"/>
              <a:t>1. Observational studies</a:t>
            </a:r>
          </a:p>
          <a:p>
            <a:pPr lvl="1"/>
            <a:r>
              <a:rPr lang="en-US" dirty="0"/>
              <a:t>No human intervention involved in assigning study groups; simply observe the relationship between exposure and disease.</a:t>
            </a:r>
          </a:p>
          <a:p>
            <a:pPr lvl="1"/>
            <a:r>
              <a:rPr lang="en-US" dirty="0"/>
              <a:t>Subject to many potential biases, but by careful design and analysis, many of these biases can be minimized.</a:t>
            </a:r>
          </a:p>
          <a:p>
            <a:pPr lvl="1"/>
            <a:r>
              <a:rPr lang="en-US" dirty="0"/>
              <a:t>Examples of observational studies: </a:t>
            </a:r>
          </a:p>
          <a:p>
            <a:pPr lvl="2"/>
            <a:r>
              <a:rPr lang="en-US" dirty="0"/>
              <a:t>comparative cross-sectional, </a:t>
            </a:r>
          </a:p>
          <a:p>
            <a:pPr lvl="2"/>
            <a:r>
              <a:rPr lang="en-US" dirty="0"/>
              <a:t>cohort and </a:t>
            </a:r>
          </a:p>
          <a:p>
            <a:pPr lvl="2"/>
            <a:r>
              <a:rPr lang="en-US" dirty="0"/>
              <a:t>Case-control studies.</a:t>
            </a:r>
          </a:p>
        </p:txBody>
      </p:sp>
    </p:spTree>
    <p:extLst>
      <p:ext uri="{BB962C8B-B14F-4D97-AF65-F5344CB8AC3E}">
        <p14:creationId xmlns:p14="http://schemas.microsoft.com/office/powerpoint/2010/main" val="333671327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E261B6-2F9A-6355-6691-CA4BFA5BFE3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07C2BDF-7522-C933-BFD3-09A70CCDA914}"/>
              </a:ext>
            </a:extLst>
          </p:cNvPr>
          <p:cNvSpPr>
            <a:spLocks noGrp="1"/>
          </p:cNvSpPr>
          <p:nvPr>
            <p:ph idx="1"/>
          </p:nvPr>
        </p:nvSpPr>
        <p:spPr/>
        <p:txBody>
          <a:bodyPr>
            <a:normAutofit/>
          </a:bodyPr>
          <a:lstStyle/>
          <a:p>
            <a:r>
              <a:rPr lang="en-US" b="1" dirty="0"/>
              <a:t>a) Comparative cross-sectional studies: </a:t>
            </a:r>
            <a:r>
              <a:rPr lang="en-US" dirty="0"/>
              <a:t>Depending on the purpose of a given study, a cross-sectional survey could have an analytical component </a:t>
            </a:r>
          </a:p>
          <a:p>
            <a:r>
              <a:rPr lang="en-US" b="1" dirty="0"/>
              <a:t>b) Cohort studies: </a:t>
            </a:r>
            <a:r>
              <a:rPr lang="en-US" dirty="0"/>
              <a:t>Study groups identified by exposure status prior to ascertainment of their disease status and both exposed and unexposed groups followed in identical manner until they develop the disease under study, they die, the study ends, or they are lost to </a:t>
            </a:r>
            <a:r>
              <a:rPr lang="en-US" dirty="0" err="1"/>
              <a:t>followup</a:t>
            </a:r>
            <a:r>
              <a:rPr lang="en-US" dirty="0"/>
              <a:t>. </a:t>
            </a:r>
            <a:br>
              <a:rPr lang="en-US" dirty="0"/>
            </a:br>
            <a:endParaRPr lang="en-US" dirty="0"/>
          </a:p>
        </p:txBody>
      </p:sp>
    </p:spTree>
    <p:extLst>
      <p:ext uri="{BB962C8B-B14F-4D97-AF65-F5344CB8AC3E}">
        <p14:creationId xmlns:p14="http://schemas.microsoft.com/office/powerpoint/2010/main" val="34713273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1C40BC-A295-5383-F10D-261611863C3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7CAAB2F-E224-F9D9-8293-87B5AC86504A}"/>
              </a:ext>
            </a:extLst>
          </p:cNvPr>
          <p:cNvSpPr>
            <a:spLocks noGrp="1"/>
          </p:cNvSpPr>
          <p:nvPr>
            <p:ph idx="1"/>
          </p:nvPr>
        </p:nvSpPr>
        <p:spPr/>
        <p:txBody>
          <a:bodyPr>
            <a:normAutofit lnSpcReduction="10000"/>
          </a:bodyPr>
          <a:lstStyle/>
          <a:p>
            <a:r>
              <a:rPr lang="en-US" b="1" dirty="0"/>
              <a:t>Strengths and limitations of the cohort study design</a:t>
            </a:r>
          </a:p>
          <a:p>
            <a:r>
              <a:rPr lang="en-US" b="1" dirty="0"/>
              <a:t>Strengths:</a:t>
            </a:r>
          </a:p>
          <a:p>
            <a:pPr lvl="1"/>
            <a:r>
              <a:rPr lang="en-US" dirty="0"/>
              <a:t>Is of particular value when the </a:t>
            </a:r>
            <a:r>
              <a:rPr lang="en-US" b="1" dirty="0"/>
              <a:t>exposure is rare</a:t>
            </a:r>
          </a:p>
          <a:p>
            <a:pPr lvl="1"/>
            <a:r>
              <a:rPr lang="en-US" dirty="0"/>
              <a:t>Can examine </a:t>
            </a:r>
            <a:r>
              <a:rPr lang="en-US" b="1" dirty="0"/>
              <a:t>multiple effects </a:t>
            </a:r>
            <a:r>
              <a:rPr lang="en-US" dirty="0"/>
              <a:t>of a single exposure</a:t>
            </a:r>
          </a:p>
          <a:p>
            <a:pPr lvl="1"/>
            <a:r>
              <a:rPr lang="en-US" dirty="0"/>
              <a:t>Allows direct measurement of </a:t>
            </a:r>
            <a:r>
              <a:rPr lang="en-US" b="1" dirty="0"/>
              <a:t>incidence </a:t>
            </a:r>
            <a:r>
              <a:rPr lang="en-US" dirty="0"/>
              <a:t>of disease in the exposed and non-exposed groups.</a:t>
            </a:r>
          </a:p>
          <a:p>
            <a:r>
              <a:rPr lang="en-US" b="1" dirty="0"/>
              <a:t>Limitations:</a:t>
            </a:r>
          </a:p>
          <a:p>
            <a:pPr lvl="1"/>
            <a:r>
              <a:rPr lang="en-US" dirty="0"/>
              <a:t>Is inefficient for the evaluation of rare diseases</a:t>
            </a:r>
          </a:p>
          <a:p>
            <a:pPr lvl="1"/>
            <a:r>
              <a:rPr lang="en-US" dirty="0"/>
              <a:t>Expensive and time consuming</a:t>
            </a:r>
          </a:p>
          <a:p>
            <a:pPr lvl="1"/>
            <a:r>
              <a:rPr lang="en-US" dirty="0"/>
              <a:t>Validity of the results can be seriously affected by losses to follow-up </a:t>
            </a:r>
            <a:br>
              <a:rPr lang="en-US" dirty="0"/>
            </a:br>
            <a:endParaRPr lang="en-US" dirty="0"/>
          </a:p>
        </p:txBody>
      </p:sp>
    </p:spTree>
    <p:extLst>
      <p:ext uri="{BB962C8B-B14F-4D97-AF65-F5344CB8AC3E}">
        <p14:creationId xmlns:p14="http://schemas.microsoft.com/office/powerpoint/2010/main" val="271709282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9019C-3DBC-F1E0-7D8A-1B6701DE92D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C4B9562-1E62-F029-881F-E36D8C7D4A11}"/>
              </a:ext>
            </a:extLst>
          </p:cNvPr>
          <p:cNvSpPr>
            <a:spLocks noGrp="1"/>
          </p:cNvSpPr>
          <p:nvPr>
            <p:ph idx="1"/>
          </p:nvPr>
        </p:nvSpPr>
        <p:spPr/>
        <p:txBody>
          <a:bodyPr>
            <a:normAutofit fontScale="77500" lnSpcReduction="20000"/>
          </a:bodyPr>
          <a:lstStyle/>
          <a:p>
            <a:r>
              <a:rPr lang="en-US" b="1" dirty="0"/>
              <a:t>c) Case-control studies: </a:t>
            </a:r>
            <a:r>
              <a:rPr lang="en-US" dirty="0"/>
              <a:t>Group of subjects with the disease (cases) and group of subjects without the disease (controls) are identified. Information, about previous exposures are obtained for cases and controls, and frequency of exposure compared for the two groups.</a:t>
            </a:r>
          </a:p>
          <a:p>
            <a:r>
              <a:rPr lang="en-US" b="1" dirty="0"/>
              <a:t>Strengths and limitations of the case-control study design</a:t>
            </a:r>
          </a:p>
          <a:p>
            <a:r>
              <a:rPr lang="en-US" b="1" dirty="0"/>
              <a:t>Strengths:</a:t>
            </a:r>
          </a:p>
          <a:p>
            <a:pPr lvl="1"/>
            <a:r>
              <a:rPr lang="en-US" dirty="0"/>
              <a:t>Is relatively quick and inexpensive</a:t>
            </a:r>
          </a:p>
          <a:p>
            <a:pPr lvl="1"/>
            <a:r>
              <a:rPr lang="en-US" dirty="0"/>
              <a:t>Is optimal for the evaluation of rare diseases.</a:t>
            </a:r>
          </a:p>
          <a:p>
            <a:pPr lvl="1"/>
            <a:r>
              <a:rPr lang="en-US" dirty="0"/>
              <a:t>Can examine multiple etiologic factors for a single disease.</a:t>
            </a:r>
          </a:p>
          <a:p>
            <a:r>
              <a:rPr lang="en-US" b="1" dirty="0"/>
              <a:t>Limitations:</a:t>
            </a:r>
          </a:p>
          <a:p>
            <a:pPr lvl="1"/>
            <a:r>
              <a:rPr lang="en-US" dirty="0"/>
              <a:t>Is inefficient for the evaluation of rare exposures</a:t>
            </a:r>
          </a:p>
          <a:p>
            <a:pPr lvl="1"/>
            <a:r>
              <a:rPr lang="en-US" dirty="0"/>
              <a:t>Cannot directly compute incidence rates of disease in exposed and nonexposed individuals.</a:t>
            </a:r>
          </a:p>
          <a:p>
            <a:pPr lvl="1"/>
            <a:r>
              <a:rPr lang="en-US" dirty="0"/>
              <a:t>Is particularly prone to bias compared with other analytic designs, in particular, selection and recall bias </a:t>
            </a:r>
            <a:br>
              <a:rPr lang="en-US" dirty="0"/>
            </a:br>
            <a:endParaRPr lang="en-US" dirty="0"/>
          </a:p>
        </p:txBody>
      </p:sp>
    </p:spTree>
    <p:extLst>
      <p:ext uri="{BB962C8B-B14F-4D97-AF65-F5344CB8AC3E}">
        <p14:creationId xmlns:p14="http://schemas.microsoft.com/office/powerpoint/2010/main" val="65864302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607D8-41B3-FFD9-67BE-2FE264ACD10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C5D0E85-FA2D-ED21-721C-0A00A9F3C131}"/>
              </a:ext>
            </a:extLst>
          </p:cNvPr>
          <p:cNvSpPr>
            <a:spLocks noGrp="1"/>
          </p:cNvSpPr>
          <p:nvPr>
            <p:ph idx="1"/>
          </p:nvPr>
        </p:nvSpPr>
        <p:spPr/>
        <p:txBody>
          <a:bodyPr>
            <a:normAutofit/>
          </a:bodyPr>
          <a:lstStyle/>
          <a:p>
            <a:pPr marL="0" indent="0">
              <a:buNone/>
            </a:pPr>
            <a:r>
              <a:rPr lang="en-US" b="1" dirty="0"/>
              <a:t>2. Intervention studies</a:t>
            </a:r>
          </a:p>
          <a:p>
            <a:r>
              <a:rPr lang="en-US" dirty="0"/>
              <a:t>In intervention studies, the researcher manipulates a situation and measures the effects of this manipulation. Usually (but not always) two groups are compared, one group in which the intervention takes place (e.g. treatment with a certain drug) and another group that remains ‘untouched’ (e.g. treatment with a placebo).</a:t>
            </a:r>
          </a:p>
          <a:p>
            <a:r>
              <a:rPr lang="en-US" dirty="0"/>
              <a:t>The two categories of intervention studies are:</a:t>
            </a:r>
          </a:p>
          <a:p>
            <a:pPr lvl="1"/>
            <a:r>
              <a:rPr lang="en-US" dirty="0"/>
              <a:t>experimental studies and</a:t>
            </a:r>
          </a:p>
          <a:p>
            <a:pPr lvl="1"/>
            <a:r>
              <a:rPr lang="en-US" dirty="0"/>
              <a:t>quasi-experimental studies</a:t>
            </a:r>
          </a:p>
        </p:txBody>
      </p:sp>
    </p:spTree>
    <p:extLst>
      <p:ext uri="{BB962C8B-B14F-4D97-AF65-F5344CB8AC3E}">
        <p14:creationId xmlns:p14="http://schemas.microsoft.com/office/powerpoint/2010/main" val="386153675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85B73-46FD-EDF5-1CE4-E2A92962CC8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CD5B1B8-454B-8896-517B-E34E3590B2C7}"/>
              </a:ext>
            </a:extLst>
          </p:cNvPr>
          <p:cNvSpPr>
            <a:spLocks noGrp="1"/>
          </p:cNvSpPr>
          <p:nvPr>
            <p:ph idx="1"/>
          </p:nvPr>
        </p:nvSpPr>
        <p:spPr/>
        <p:txBody>
          <a:bodyPr>
            <a:normAutofit fontScale="85000" lnSpcReduction="10000"/>
          </a:bodyPr>
          <a:lstStyle/>
          <a:p>
            <a:pPr marL="0" indent="0">
              <a:buNone/>
            </a:pPr>
            <a:r>
              <a:rPr lang="en-US" dirty="0"/>
              <a:t>A. Experimental studies</a:t>
            </a:r>
          </a:p>
          <a:p>
            <a:pPr lvl="1"/>
            <a:r>
              <a:rPr lang="en-US" dirty="0"/>
              <a:t>An experimental design is a study design that gives the most reliable proof for causation. In an experimental study, individuals are randomly allocated to at least two groups. </a:t>
            </a:r>
          </a:p>
          <a:p>
            <a:pPr lvl="1"/>
            <a:r>
              <a:rPr lang="en-US" dirty="0"/>
              <a:t>One group is subject to an intervention, or experiment, while the other group(s) is not. The outcome of the intervention (effect of the intervention on the dependent variable/problem) is obtained by comparing the two groups. </a:t>
            </a:r>
          </a:p>
          <a:p>
            <a:pPr lvl="1"/>
            <a:r>
              <a:rPr lang="en-US" dirty="0"/>
              <a:t>A number of experimental study designs have been developed. These are widely used in laboratory settings and in clinical settings. For ethical reasons, the opportunities for experiments involving human subjects are restricted. However, randomized control trials of new drugs are common.</a:t>
            </a:r>
          </a:p>
          <a:p>
            <a:pPr marL="0" indent="0">
              <a:buNone/>
            </a:pPr>
            <a:r>
              <a:rPr lang="en-US" dirty="0"/>
              <a:t>B. Quasi-experimental studies</a:t>
            </a:r>
          </a:p>
          <a:p>
            <a:pPr lvl="1"/>
            <a:r>
              <a:rPr lang="en-US" dirty="0"/>
              <a:t>In a quasi-experimental study, one characteristic of a true experiment is missing, either </a:t>
            </a:r>
            <a:r>
              <a:rPr lang="en-US" dirty="0" err="1"/>
              <a:t>randomisation</a:t>
            </a:r>
            <a:r>
              <a:rPr lang="en-US" dirty="0"/>
              <a:t> or the use of a separate control group. </a:t>
            </a:r>
          </a:p>
          <a:p>
            <a:pPr lvl="1"/>
            <a:r>
              <a:rPr lang="en-US" dirty="0"/>
              <a:t>A quasi-experimental study, however, always includes the manipulation of an independent variable which is the intervention.</a:t>
            </a:r>
          </a:p>
          <a:p>
            <a:endParaRPr lang="en-US" dirty="0"/>
          </a:p>
        </p:txBody>
      </p:sp>
    </p:spTree>
    <p:extLst>
      <p:ext uri="{BB962C8B-B14F-4D97-AF65-F5344CB8AC3E}">
        <p14:creationId xmlns:p14="http://schemas.microsoft.com/office/powerpoint/2010/main" val="94538602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C6DB6C-C3BC-0039-7C71-43B4D6C7E90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63B9FA0-347F-D54E-60AC-18F7D9463A5C}"/>
              </a:ext>
            </a:extLst>
          </p:cNvPr>
          <p:cNvSpPr>
            <a:spLocks noGrp="1"/>
          </p:cNvSpPr>
          <p:nvPr>
            <p:ph idx="1"/>
          </p:nvPr>
        </p:nvSpPr>
        <p:spPr/>
        <p:txBody>
          <a:bodyPr/>
          <a:lstStyle/>
          <a:p>
            <a:endParaRPr lang="en-US" dirty="0"/>
          </a:p>
        </p:txBody>
      </p:sp>
      <p:pic>
        <p:nvPicPr>
          <p:cNvPr id="5" name="Picture 4">
            <a:extLst>
              <a:ext uri="{FF2B5EF4-FFF2-40B4-BE49-F238E27FC236}">
                <a16:creationId xmlns:a16="http://schemas.microsoft.com/office/drawing/2014/main" id="{909DED86-F44D-7CC2-2EAF-A5C6DC065A7F}"/>
              </a:ext>
            </a:extLst>
          </p:cNvPr>
          <p:cNvPicPr>
            <a:picLocks noChangeAspect="1"/>
          </p:cNvPicPr>
          <p:nvPr/>
        </p:nvPicPr>
        <p:blipFill>
          <a:blip r:embed="rId2"/>
          <a:stretch>
            <a:fillRect/>
          </a:stretch>
        </p:blipFill>
        <p:spPr>
          <a:xfrm>
            <a:off x="2096813" y="677062"/>
            <a:ext cx="7425559" cy="5499901"/>
          </a:xfrm>
          <a:prstGeom prst="rect">
            <a:avLst/>
          </a:prstGeom>
        </p:spPr>
      </p:pic>
    </p:spTree>
    <p:extLst>
      <p:ext uri="{BB962C8B-B14F-4D97-AF65-F5344CB8AC3E}">
        <p14:creationId xmlns:p14="http://schemas.microsoft.com/office/powerpoint/2010/main" val="78651792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6E5819-B901-4CE2-2902-E4453184DEC3}"/>
              </a:ext>
            </a:extLst>
          </p:cNvPr>
          <p:cNvSpPr>
            <a:spLocks noGrp="1"/>
          </p:cNvSpPr>
          <p:nvPr>
            <p:ph type="title"/>
          </p:nvPr>
        </p:nvSpPr>
        <p:spPr/>
        <p:txBody>
          <a:bodyPr/>
          <a:lstStyle/>
          <a:p>
            <a:r>
              <a:rPr lang="en-US" b="1" dirty="0"/>
              <a:t>Study population</a:t>
            </a:r>
            <a:endParaRPr lang="en-US" dirty="0"/>
          </a:p>
        </p:txBody>
      </p:sp>
      <p:sp>
        <p:nvSpPr>
          <p:cNvPr id="3" name="Content Placeholder 2">
            <a:extLst>
              <a:ext uri="{FF2B5EF4-FFF2-40B4-BE49-F238E27FC236}">
                <a16:creationId xmlns:a16="http://schemas.microsoft.com/office/drawing/2014/main" id="{526E07A8-8F85-9B2E-A718-5C7ED1F7C7A7}"/>
              </a:ext>
            </a:extLst>
          </p:cNvPr>
          <p:cNvSpPr>
            <a:spLocks noGrp="1"/>
          </p:cNvSpPr>
          <p:nvPr>
            <p:ph idx="1"/>
          </p:nvPr>
        </p:nvSpPr>
        <p:spPr/>
        <p:txBody>
          <a:bodyPr>
            <a:normAutofit fontScale="92500" lnSpcReduction="20000"/>
          </a:bodyPr>
          <a:lstStyle/>
          <a:p>
            <a:r>
              <a:rPr lang="en-US" dirty="0"/>
              <a:t>At an early stage in the planning of any investigation decisions must be made concerning the study population. That is, concerning the population of individual units (whether they are persons, households, etc.) to be investigated. </a:t>
            </a:r>
          </a:p>
          <a:p>
            <a:r>
              <a:rPr lang="en-US" dirty="0"/>
              <a:t>The population under consideration should be clearly and explicitly defined in terms of place, time, and other relevant criteria. If the study population comprises cases of a disease the procedures to be used for case identification should be stated. </a:t>
            </a:r>
          </a:p>
          <a:p>
            <a:r>
              <a:rPr lang="en-US" dirty="0"/>
              <a:t>If controls are to be chosen their method of selection should be stated.</a:t>
            </a:r>
          </a:p>
          <a:p>
            <a:r>
              <a:rPr lang="en-US" dirty="0"/>
              <a:t>In other instances, particularly when an analytic survey or an experiment is being planned, the investigator may require purposively to select a study population. In so doing he must consider questions of appropriateness and practicability.</a:t>
            </a:r>
          </a:p>
        </p:txBody>
      </p:sp>
    </p:spTree>
    <p:extLst>
      <p:ext uri="{BB962C8B-B14F-4D97-AF65-F5344CB8AC3E}">
        <p14:creationId xmlns:p14="http://schemas.microsoft.com/office/powerpoint/2010/main" val="146609834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8E7562-1979-243B-BD86-648DAC9F29D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9D31BB6-E2B6-C302-83ED-A1B02F8208D4}"/>
              </a:ext>
            </a:extLst>
          </p:cNvPr>
          <p:cNvSpPr>
            <a:spLocks noGrp="1"/>
          </p:cNvSpPr>
          <p:nvPr>
            <p:ph idx="1"/>
          </p:nvPr>
        </p:nvSpPr>
        <p:spPr/>
        <p:txBody>
          <a:bodyPr>
            <a:normAutofit/>
          </a:bodyPr>
          <a:lstStyle/>
          <a:p>
            <a:r>
              <a:rPr lang="en-US" dirty="0"/>
              <a:t>Two examples are given below.</a:t>
            </a:r>
          </a:p>
          <a:p>
            <a:pPr lvl="1"/>
            <a:r>
              <a:rPr lang="en-US" dirty="0"/>
              <a:t>a) </a:t>
            </a:r>
            <a:r>
              <a:rPr lang="en-US" b="1" dirty="0"/>
              <a:t>Volunteer populations</a:t>
            </a:r>
            <a:r>
              <a:rPr lang="en-US" dirty="0"/>
              <a:t>: Persons who volunteer to enter a study may differ in many respects from those who do not so volunteer, and therefore the findings in a volunteer population do not necessarily apply to the population at large.</a:t>
            </a:r>
          </a:p>
          <a:p>
            <a:pPr lvl="1"/>
            <a:r>
              <a:rPr lang="en-US" dirty="0"/>
              <a:t>b) </a:t>
            </a:r>
            <a:r>
              <a:rPr lang="en-US" b="1" dirty="0"/>
              <a:t>Hospital or clinic populations</a:t>
            </a:r>
            <a:r>
              <a:rPr lang="en-US" dirty="0"/>
              <a:t>: Persons receiving medical care are obviously not representative of the general population from which they have come from. That is, persons treated in hospital for a certain disease may differ from those patients with the same disease but not receiving care for it.</a:t>
            </a:r>
            <a:br>
              <a:rPr lang="en-US" dirty="0"/>
            </a:br>
            <a:endParaRPr lang="en-US" dirty="0"/>
          </a:p>
        </p:txBody>
      </p:sp>
    </p:spTree>
    <p:extLst>
      <p:ext uri="{BB962C8B-B14F-4D97-AF65-F5344CB8AC3E}">
        <p14:creationId xmlns:p14="http://schemas.microsoft.com/office/powerpoint/2010/main" val="305391616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1C48D4-65B9-0619-DC73-D1C0405D9F9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A3EBB05-479E-09C3-D0A0-E848E4379B4E}"/>
              </a:ext>
            </a:extLst>
          </p:cNvPr>
          <p:cNvSpPr>
            <a:spLocks noGrp="1"/>
          </p:cNvSpPr>
          <p:nvPr>
            <p:ph idx="1"/>
          </p:nvPr>
        </p:nvSpPr>
        <p:spPr/>
        <p:txBody>
          <a:bodyPr>
            <a:normAutofit/>
          </a:bodyPr>
          <a:lstStyle/>
          <a:p>
            <a:r>
              <a:rPr lang="en-US" b="1" dirty="0"/>
              <a:t>Practical questions such as the following could also arise</a:t>
            </a:r>
            <a:r>
              <a:rPr lang="en-US" dirty="0"/>
              <a:t>.</a:t>
            </a:r>
          </a:p>
          <a:p>
            <a:pPr lvl="1"/>
            <a:r>
              <a:rPr lang="en-US" dirty="0"/>
              <a:t>Is the proposed population the one that would give the required information?</a:t>
            </a:r>
          </a:p>
          <a:p>
            <a:pPr lvl="1"/>
            <a:r>
              <a:rPr lang="en-US" dirty="0"/>
              <a:t>Will the population cooperate to participate in the study, or will it be a 'resistant' one?</a:t>
            </a:r>
          </a:p>
          <a:p>
            <a:pPr lvl="1"/>
            <a:r>
              <a:rPr lang="en-US" dirty="0"/>
              <a:t>If it is proposed to study patients with a specific disease, will it be possible to identify enough cases to yield useful conclusions?</a:t>
            </a:r>
          </a:p>
          <a:p>
            <a:pPr lvl="1"/>
            <a:r>
              <a:rPr lang="en-US" dirty="0"/>
              <a:t>If a long term 'follow up' study is planned, is the population so mobile that it may be difficult to maintain contact with the subjects?</a:t>
            </a:r>
          </a:p>
        </p:txBody>
      </p:sp>
    </p:spTree>
    <p:extLst>
      <p:ext uri="{BB962C8B-B14F-4D97-AF65-F5344CB8AC3E}">
        <p14:creationId xmlns:p14="http://schemas.microsoft.com/office/powerpoint/2010/main" val="122881755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A09A51-4DE7-4300-12B7-186903A225E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BDABD30-E350-A72E-883D-7ECBE0323909}"/>
              </a:ext>
            </a:extLst>
          </p:cNvPr>
          <p:cNvSpPr>
            <a:spLocks noGrp="1"/>
          </p:cNvSpPr>
          <p:nvPr>
            <p:ph idx="1"/>
          </p:nvPr>
        </p:nvSpPr>
        <p:spPr/>
        <p:txBody>
          <a:bodyPr>
            <a:normAutofit fontScale="85000" lnSpcReduction="10000"/>
          </a:bodyPr>
          <a:lstStyle/>
          <a:p>
            <a:r>
              <a:rPr lang="en-US" b="1" dirty="0"/>
              <a:t>Operational Definitions of Variables</a:t>
            </a:r>
          </a:p>
          <a:p>
            <a:r>
              <a:rPr lang="en-US" dirty="0"/>
              <a:t>Nature of variables</a:t>
            </a:r>
          </a:p>
          <a:p>
            <a:r>
              <a:rPr lang="en-US" dirty="0"/>
              <a:t>Definition: A variable is a characteristic of a person, object, or phenomenon that can take on different values. A simple example of a variable is a person's age. The variable can take on different values, such as, 20 years old, 30 years old, and so on. Other examples of variables are:</a:t>
            </a:r>
          </a:p>
          <a:p>
            <a:pPr lvl="1"/>
            <a:r>
              <a:rPr lang="en-US" dirty="0"/>
              <a:t>a) weight in kilograms</a:t>
            </a:r>
          </a:p>
          <a:p>
            <a:pPr lvl="1"/>
            <a:r>
              <a:rPr lang="en-US" dirty="0"/>
              <a:t>b) height in centimeters</a:t>
            </a:r>
          </a:p>
          <a:p>
            <a:pPr lvl="1"/>
            <a:r>
              <a:rPr lang="en-US" dirty="0"/>
              <a:t>c) monthly income in Birr</a:t>
            </a:r>
          </a:p>
          <a:p>
            <a:pPr lvl="1"/>
            <a:r>
              <a:rPr lang="en-US" dirty="0"/>
              <a:t>d) marital status (single, married, divorced and widowed)</a:t>
            </a:r>
          </a:p>
          <a:p>
            <a:pPr lvl="1"/>
            <a:r>
              <a:rPr lang="en-US" dirty="0"/>
              <a:t>e) job satisfaction index (1 to 5)</a:t>
            </a:r>
          </a:p>
          <a:p>
            <a:pPr lvl="1"/>
            <a:r>
              <a:rPr lang="en-US" dirty="0"/>
              <a:t>f) occupation (civil servant, farmer, student, et.)</a:t>
            </a:r>
          </a:p>
          <a:p>
            <a:pPr lvl="1"/>
            <a:r>
              <a:rPr lang="en-US" dirty="0"/>
              <a:t>g) disease condition (presence or absence of a disease)</a:t>
            </a:r>
          </a:p>
        </p:txBody>
      </p:sp>
    </p:spTree>
    <p:extLst>
      <p:ext uri="{BB962C8B-B14F-4D97-AF65-F5344CB8AC3E}">
        <p14:creationId xmlns:p14="http://schemas.microsoft.com/office/powerpoint/2010/main" val="326620257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B9F9EE-867B-7517-142F-368C167DB2D0}"/>
              </a:ext>
            </a:extLst>
          </p:cNvPr>
          <p:cNvSpPr>
            <a:spLocks noGrp="1"/>
          </p:cNvSpPr>
          <p:nvPr>
            <p:ph type="title"/>
          </p:nvPr>
        </p:nvSpPr>
        <p:spPr/>
        <p:txBody>
          <a:bodyPr/>
          <a:lstStyle/>
          <a:p>
            <a:r>
              <a:rPr lang="en-US" b="1" dirty="0"/>
              <a:t>dependent and independent </a:t>
            </a:r>
            <a:r>
              <a:rPr lang="en-US" dirty="0"/>
              <a:t>variables</a:t>
            </a:r>
          </a:p>
        </p:txBody>
      </p:sp>
      <p:sp>
        <p:nvSpPr>
          <p:cNvPr id="3" name="Content Placeholder 2">
            <a:extLst>
              <a:ext uri="{FF2B5EF4-FFF2-40B4-BE49-F238E27FC236}">
                <a16:creationId xmlns:a16="http://schemas.microsoft.com/office/drawing/2014/main" id="{34390DC0-77FC-1771-C960-6DC70A3DC7BB}"/>
              </a:ext>
            </a:extLst>
          </p:cNvPr>
          <p:cNvSpPr>
            <a:spLocks noGrp="1"/>
          </p:cNvSpPr>
          <p:nvPr>
            <p:ph idx="1"/>
          </p:nvPr>
        </p:nvSpPr>
        <p:spPr/>
        <p:txBody>
          <a:bodyPr>
            <a:normAutofit fontScale="92500" lnSpcReduction="10000"/>
          </a:bodyPr>
          <a:lstStyle/>
          <a:p>
            <a:r>
              <a:rPr lang="en-US" dirty="0"/>
              <a:t>Both the dependent and independent variables together with their operational definitions (when necessary) should be stated in the proposal. </a:t>
            </a:r>
          </a:p>
          <a:p>
            <a:r>
              <a:rPr lang="en-US" b="1" dirty="0"/>
              <a:t>Definitions:</a:t>
            </a:r>
          </a:p>
          <a:p>
            <a:pPr lvl="1"/>
            <a:r>
              <a:rPr lang="en-US" b="1" dirty="0"/>
              <a:t>Dependent variable is </a:t>
            </a:r>
            <a:r>
              <a:rPr lang="en-US" dirty="0"/>
              <a:t>The variable that is used to describe or measure the problem under study is called the dependent variable. </a:t>
            </a:r>
          </a:p>
          <a:p>
            <a:pPr lvl="1"/>
            <a:r>
              <a:rPr lang="en-US" b="1" dirty="0"/>
              <a:t>Independent variable is </a:t>
            </a:r>
            <a:r>
              <a:rPr lang="en-US" dirty="0"/>
              <a:t>The variables that are used to describe or measure the factors that are assumed to influence (or cause) the problem</a:t>
            </a:r>
          </a:p>
          <a:p>
            <a:pPr lvl="1"/>
            <a:r>
              <a:rPr lang="en-US" dirty="0"/>
              <a:t>For example, in a study of relationship between smoking and lung cancer, "suffering from lung cancer" (with the values yes, no) would be the </a:t>
            </a:r>
            <a:r>
              <a:rPr lang="en-US" b="1" dirty="0"/>
              <a:t>dependent </a:t>
            </a:r>
            <a:r>
              <a:rPr lang="en-US" dirty="0"/>
              <a:t>variable and "smoking" (with the values no, less than a packet/day, 1 to 2 packets/day, more than 2 packets/day) would be the </a:t>
            </a:r>
            <a:r>
              <a:rPr lang="en-US" b="1" dirty="0"/>
              <a:t>independent </a:t>
            </a:r>
            <a:r>
              <a:rPr lang="en-US" dirty="0"/>
              <a:t>variable. </a:t>
            </a:r>
            <a:br>
              <a:rPr lang="en-US" dirty="0"/>
            </a:br>
            <a:endParaRPr lang="en-US" dirty="0"/>
          </a:p>
        </p:txBody>
      </p:sp>
    </p:spTree>
    <p:extLst>
      <p:ext uri="{BB962C8B-B14F-4D97-AF65-F5344CB8AC3E}">
        <p14:creationId xmlns:p14="http://schemas.microsoft.com/office/powerpoint/2010/main" val="310353923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7342BF-9895-4A4F-7153-A66376BAF31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A49B5D9-B8FD-3CB4-C366-CA3A9185EC87}"/>
              </a:ext>
            </a:extLst>
          </p:cNvPr>
          <p:cNvSpPr>
            <a:spLocks noGrp="1"/>
          </p:cNvSpPr>
          <p:nvPr>
            <p:ph idx="1"/>
          </p:nvPr>
        </p:nvSpPr>
        <p:spPr/>
        <p:txBody>
          <a:bodyPr>
            <a:normAutofit fontScale="85000" lnSpcReduction="20000"/>
          </a:bodyPr>
          <a:lstStyle/>
          <a:p>
            <a:r>
              <a:rPr lang="en-US" b="1" dirty="0"/>
              <a:t>Background variables </a:t>
            </a:r>
            <a:r>
              <a:rPr lang="en-US" dirty="0"/>
              <a:t>In almost every study involving human subjects, background variables, such as, age, sex, educational status, monthly family income, marital status and religion will be included. These background variables are often related to a number of independent variables, so that they influence the problem indirectly. Hence they are called background variables or background characteristics.</a:t>
            </a:r>
          </a:p>
          <a:p>
            <a:r>
              <a:rPr lang="en-US" b="1" dirty="0"/>
              <a:t>Confounding variable </a:t>
            </a:r>
            <a:r>
              <a:rPr lang="en-US" dirty="0"/>
              <a:t>A variable that is associated with the problem and with a possible cause of the problem is a potential confounding variable. This type of variable may either strengthen or weaken the apparent relationship between the problem and a possible cause.</a:t>
            </a:r>
          </a:p>
          <a:p>
            <a:r>
              <a:rPr lang="en-US" b="1" dirty="0"/>
              <a:t>Composite variable </a:t>
            </a:r>
            <a:r>
              <a:rPr lang="en-US" dirty="0"/>
              <a:t>A variable based on two or more other variables may be termed a composite variable. Incidence and prevalence rates, sex ratios, and other rates and ratios are composite variables, since they are based on separate numerator and denominator information. </a:t>
            </a:r>
            <a:br>
              <a:rPr lang="en-US" dirty="0"/>
            </a:br>
            <a:endParaRPr lang="en-US" dirty="0"/>
          </a:p>
        </p:txBody>
      </p:sp>
    </p:spTree>
    <p:extLst>
      <p:ext uri="{BB962C8B-B14F-4D97-AF65-F5344CB8AC3E}">
        <p14:creationId xmlns:p14="http://schemas.microsoft.com/office/powerpoint/2010/main" val="161737408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A07CD6-E993-B31F-66E7-8329729D9C2E}"/>
              </a:ext>
            </a:extLst>
          </p:cNvPr>
          <p:cNvSpPr>
            <a:spLocks noGrp="1"/>
          </p:cNvSpPr>
          <p:nvPr>
            <p:ph type="title"/>
          </p:nvPr>
        </p:nvSpPr>
        <p:spPr/>
        <p:txBody>
          <a:bodyPr>
            <a:normAutofit fontScale="90000"/>
          </a:bodyPr>
          <a:lstStyle/>
          <a:p>
            <a:r>
              <a:rPr lang="en-US" dirty="0" err="1"/>
              <a:t>Operationalising</a:t>
            </a:r>
            <a:r>
              <a:rPr lang="en-US" dirty="0"/>
              <a:t> Variables. Operational definition</a:t>
            </a:r>
            <a:br>
              <a:rPr lang="en-US" dirty="0"/>
            </a:br>
            <a:endParaRPr lang="en-US" dirty="0"/>
          </a:p>
        </p:txBody>
      </p:sp>
      <p:sp>
        <p:nvSpPr>
          <p:cNvPr id="3" name="Content Placeholder 2">
            <a:extLst>
              <a:ext uri="{FF2B5EF4-FFF2-40B4-BE49-F238E27FC236}">
                <a16:creationId xmlns:a16="http://schemas.microsoft.com/office/drawing/2014/main" id="{86FA3F84-31C6-9D6B-A8A3-0EE5AE7F397A}"/>
              </a:ext>
            </a:extLst>
          </p:cNvPr>
          <p:cNvSpPr>
            <a:spLocks noGrp="1"/>
          </p:cNvSpPr>
          <p:nvPr>
            <p:ph idx="1"/>
          </p:nvPr>
        </p:nvSpPr>
        <p:spPr>
          <a:xfrm>
            <a:off x="838200" y="1825624"/>
            <a:ext cx="10515600" cy="4667251"/>
          </a:xfrm>
        </p:spPr>
        <p:txBody>
          <a:bodyPr>
            <a:normAutofit fontScale="70000" lnSpcReduction="20000"/>
          </a:bodyPr>
          <a:lstStyle/>
          <a:p>
            <a:r>
              <a:rPr lang="en-US" dirty="0"/>
              <a:t>Operationalizing variables means making them measurable by choosing specific indicators.</a:t>
            </a:r>
          </a:p>
          <a:p>
            <a:r>
              <a:rPr lang="en-US" dirty="0"/>
              <a:t>Example: In a study on postoperative pain management, you want to determine the level of knowledge of nurses about pain assessment to find out how “poor knowledge” affects patient pain outcomes.</a:t>
            </a:r>
          </a:p>
          <a:p>
            <a:r>
              <a:rPr lang="en-US" dirty="0"/>
              <a:t>The variable “level of knowledge” cannot be measured directly. You would need to develop a series of questions about pain assessment, for example on:</a:t>
            </a:r>
          </a:p>
          <a:p>
            <a:pPr lvl="1"/>
            <a:r>
              <a:rPr lang="en-US" dirty="0"/>
              <a:t>Recognizing different types of pain, </a:t>
            </a:r>
          </a:p>
          <a:p>
            <a:pPr lvl="1"/>
            <a:r>
              <a:rPr lang="en-US" dirty="0"/>
              <a:t>using pain scales correctly, and</a:t>
            </a:r>
          </a:p>
          <a:p>
            <a:pPr lvl="1"/>
            <a:r>
              <a:rPr lang="en-US" dirty="0"/>
              <a:t>administering appropriate analgesics.</a:t>
            </a:r>
          </a:p>
          <a:p>
            <a:r>
              <a:rPr lang="en-US" dirty="0"/>
              <a:t>The answers to these questions become indicators of knowledge, which can then be categorized. </a:t>
            </a:r>
          </a:p>
          <a:p>
            <a:r>
              <a:rPr lang="en-US" dirty="0"/>
              <a:t>For example, if 10 questions were asked:</a:t>
            </a:r>
          </a:p>
          <a:p>
            <a:pPr lvl="1"/>
            <a:r>
              <a:rPr lang="en-US" dirty="0"/>
              <a:t>0–3 correct answers = poor knowledge</a:t>
            </a:r>
          </a:p>
          <a:p>
            <a:pPr lvl="1"/>
            <a:r>
              <a:rPr lang="en-US" dirty="0"/>
              <a:t>4–6 correct answers = moderate knowledge</a:t>
            </a:r>
          </a:p>
          <a:p>
            <a:pPr lvl="1"/>
            <a:r>
              <a:rPr lang="en-US" dirty="0"/>
              <a:t>7–10 correct answers = good knowledge</a:t>
            </a:r>
          </a:p>
          <a:p>
            <a:r>
              <a:rPr lang="en-US" dirty="0"/>
              <a:t>This way, the variable “level of knowledge” is operationalized and can be analyzed statistically.</a:t>
            </a:r>
          </a:p>
        </p:txBody>
      </p:sp>
    </p:spTree>
    <p:extLst>
      <p:ext uri="{BB962C8B-B14F-4D97-AF65-F5344CB8AC3E}">
        <p14:creationId xmlns:p14="http://schemas.microsoft.com/office/powerpoint/2010/main" val="364652259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BC0DF5-9296-DE1D-DD30-DB0AB803B1D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EFF4863-DF03-2449-1B90-E2475BB2E260}"/>
              </a:ext>
            </a:extLst>
          </p:cNvPr>
          <p:cNvSpPr>
            <a:spLocks noGrp="1"/>
          </p:cNvSpPr>
          <p:nvPr>
            <p:ph idx="1"/>
          </p:nvPr>
        </p:nvSpPr>
        <p:spPr/>
        <p:txBody>
          <a:bodyPr>
            <a:normAutofit/>
          </a:bodyPr>
          <a:lstStyle/>
          <a:p>
            <a:r>
              <a:rPr lang="en-US" dirty="0"/>
              <a:t>Defining variables and indicators of variables</a:t>
            </a:r>
          </a:p>
          <a:p>
            <a:pPr lvl="1"/>
            <a:r>
              <a:rPr lang="en-US" dirty="0"/>
              <a:t>To ensure that everyone (the researcher, data collectors, and eventually the reader of the research report) understands exactly what has been measured and to ensure that there will be consistency in the measurement, it is necessary to clearly define the variables (and indicators of variables). </a:t>
            </a:r>
          </a:p>
          <a:p>
            <a:pPr lvl="1"/>
            <a:r>
              <a:rPr lang="en-US" dirty="0"/>
              <a:t>For example, to define the indicator “waiting time” it is necessary to decide what will be considered the starting point of the “waiting period” e.g. Is it when the patient enters the front door, or when he has been registered and obtained his card?</a:t>
            </a:r>
          </a:p>
        </p:txBody>
      </p:sp>
    </p:spTree>
    <p:extLst>
      <p:ext uri="{BB962C8B-B14F-4D97-AF65-F5344CB8AC3E}">
        <p14:creationId xmlns:p14="http://schemas.microsoft.com/office/powerpoint/2010/main" val="83137422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D0DBFA-7527-F4DE-9682-A59F6AF86B8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427A1A9-2074-E92E-D6B3-660C3F2A9982}"/>
              </a:ext>
            </a:extLst>
          </p:cNvPr>
          <p:cNvSpPr>
            <a:spLocks noGrp="1"/>
          </p:cNvSpPr>
          <p:nvPr>
            <p:ph idx="1"/>
          </p:nvPr>
        </p:nvSpPr>
        <p:spPr/>
        <p:txBody>
          <a:bodyPr>
            <a:normAutofit fontScale="77500" lnSpcReduction="20000"/>
          </a:bodyPr>
          <a:lstStyle/>
          <a:p>
            <a:r>
              <a:rPr lang="en-US" dirty="0"/>
              <a:t>S</a:t>
            </a:r>
            <a:r>
              <a:rPr lang="en-US" b="1" dirty="0"/>
              <a:t>cales of Measurement</a:t>
            </a:r>
          </a:p>
          <a:p>
            <a:r>
              <a:rPr lang="en-US" dirty="0"/>
              <a:t>As part of the process of clarifying each of the variables to be studied, its scale of measurement should be specified. There are four types of scales of measurement: Nominal, Ordinal, Interval and Ratio. They are listed in ascending order of power and preference.</a:t>
            </a:r>
          </a:p>
          <a:p>
            <a:r>
              <a:rPr lang="en-US" dirty="0"/>
              <a:t>1. Nominal Scale: This consists of two or more named categories (classes) which are qualitatively different from each other.</a:t>
            </a:r>
          </a:p>
          <a:p>
            <a:pPr lvl="1"/>
            <a:r>
              <a:rPr lang="en-US" dirty="0" err="1"/>
              <a:t>E.g</a:t>
            </a:r>
            <a:r>
              <a:rPr lang="en-US" dirty="0"/>
              <a:t> Sex: male (1); Female (2)</a:t>
            </a:r>
          </a:p>
          <a:p>
            <a:pPr lvl="1"/>
            <a:r>
              <a:rPr lang="en-US" dirty="0"/>
              <a:t>Marital status: 1. Married 2. Single 3. Divorced 4. Widowed</a:t>
            </a:r>
          </a:p>
          <a:p>
            <a:r>
              <a:rPr lang="en-US" dirty="0"/>
              <a:t>2. Ordinal scale: This has the additional quality that the categories are ranked and have implied order. However, the intervals between classes are not necessarily equal.</a:t>
            </a:r>
          </a:p>
          <a:p>
            <a:pPr lvl="1"/>
            <a:r>
              <a:rPr lang="en-US" dirty="0"/>
              <a:t>Example 1. Severity of a disease: Severe (grade III); moderate (grade II);mild (grade I); absent (grade 0).</a:t>
            </a:r>
          </a:p>
          <a:p>
            <a:pPr lvl="1"/>
            <a:r>
              <a:rPr lang="en-US" dirty="0"/>
              <a:t>Example 2. Educational status: 0; 1-6; 7-8; 9 -12; more than 12.</a:t>
            </a:r>
          </a:p>
        </p:txBody>
      </p:sp>
    </p:spTree>
    <p:extLst>
      <p:ext uri="{BB962C8B-B14F-4D97-AF65-F5344CB8AC3E}">
        <p14:creationId xmlns:p14="http://schemas.microsoft.com/office/powerpoint/2010/main" val="1218964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8D8FA0-923D-981D-1378-F5FE797BC69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EC65AD2-96CE-74FA-A382-7CB3D4E5145F}"/>
              </a:ext>
            </a:extLst>
          </p:cNvPr>
          <p:cNvSpPr>
            <a:spLocks noGrp="1"/>
          </p:cNvSpPr>
          <p:nvPr>
            <p:ph idx="1"/>
          </p:nvPr>
        </p:nvSpPr>
        <p:spPr/>
        <p:txBody>
          <a:bodyPr>
            <a:normAutofit/>
          </a:bodyPr>
          <a:lstStyle/>
          <a:p>
            <a:r>
              <a:rPr lang="en-US" dirty="0"/>
              <a:t>3. Interval scale: This has the additional quality that the intervals between classes are equal.</a:t>
            </a:r>
          </a:p>
          <a:p>
            <a:pPr lvl="1"/>
            <a:r>
              <a:rPr lang="en-US" dirty="0"/>
              <a:t>Example: Temperature (in Celsius)</a:t>
            </a:r>
          </a:p>
          <a:p>
            <a:r>
              <a:rPr lang="en-US" dirty="0"/>
              <a:t>4. Ratio scale: This has the additional quality that zero indicates absence of the attribute. As a result, the ratio between numbers in the scale is the same as that between the amounts of the attribute being measured. Example: Weight measured in kilograms, height in </a:t>
            </a:r>
            <a:r>
              <a:rPr lang="en-US" dirty="0" err="1"/>
              <a:t>cms</a:t>
            </a:r>
            <a:r>
              <a:rPr lang="en-US" dirty="0"/>
              <a:t>., </a:t>
            </a:r>
            <a:r>
              <a:rPr lang="en-US" dirty="0" err="1"/>
              <a:t>etc</a:t>
            </a:r>
            <a:endParaRPr lang="en-US" dirty="0"/>
          </a:p>
        </p:txBody>
      </p:sp>
    </p:spTree>
    <p:extLst>
      <p:ext uri="{BB962C8B-B14F-4D97-AF65-F5344CB8AC3E}">
        <p14:creationId xmlns:p14="http://schemas.microsoft.com/office/powerpoint/2010/main" val="132731691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B0B837-A743-1FBA-2F9F-2A534A2DD4C9}"/>
              </a:ext>
            </a:extLst>
          </p:cNvPr>
          <p:cNvSpPr>
            <a:spLocks noGrp="1"/>
          </p:cNvSpPr>
          <p:nvPr>
            <p:ph type="title"/>
          </p:nvPr>
        </p:nvSpPr>
        <p:spPr/>
        <p:txBody>
          <a:bodyPr/>
          <a:lstStyle/>
          <a:p>
            <a:r>
              <a:rPr lang="en-US" b="1" dirty="0"/>
              <a:t>Sampling</a:t>
            </a:r>
            <a:endParaRPr lang="en-US" dirty="0"/>
          </a:p>
        </p:txBody>
      </p:sp>
      <p:sp>
        <p:nvSpPr>
          <p:cNvPr id="3" name="Content Placeholder 2">
            <a:extLst>
              <a:ext uri="{FF2B5EF4-FFF2-40B4-BE49-F238E27FC236}">
                <a16:creationId xmlns:a16="http://schemas.microsoft.com/office/drawing/2014/main" id="{31929ABE-76CC-3777-6ABE-A2FDE053F0A3}"/>
              </a:ext>
            </a:extLst>
          </p:cNvPr>
          <p:cNvSpPr>
            <a:spLocks noGrp="1"/>
          </p:cNvSpPr>
          <p:nvPr>
            <p:ph idx="1"/>
          </p:nvPr>
        </p:nvSpPr>
        <p:spPr/>
        <p:txBody>
          <a:bodyPr>
            <a:normAutofit/>
          </a:bodyPr>
          <a:lstStyle/>
          <a:p>
            <a:r>
              <a:rPr lang="en-US" b="1" dirty="0"/>
              <a:t>What is it?</a:t>
            </a:r>
          </a:p>
          <a:p>
            <a:pPr lvl="1"/>
            <a:r>
              <a:rPr lang="en-US" dirty="0"/>
              <a:t>Sampling involves the selection of a number of study units from a defined study population.</a:t>
            </a:r>
          </a:p>
          <a:p>
            <a:pPr lvl="1"/>
            <a:r>
              <a:rPr lang="en-US" dirty="0"/>
              <a:t>The population is too large for us to consider collecting information from all its members.</a:t>
            </a:r>
          </a:p>
          <a:p>
            <a:pPr lvl="1"/>
            <a:r>
              <a:rPr lang="en-US" dirty="0"/>
              <a:t>Instead we select a sample of individuals hoping that the sample is representative of the population. </a:t>
            </a:r>
            <a:br>
              <a:rPr lang="en-US" dirty="0"/>
            </a:br>
            <a:endParaRPr lang="en-US" dirty="0"/>
          </a:p>
        </p:txBody>
      </p:sp>
    </p:spTree>
    <p:extLst>
      <p:ext uri="{BB962C8B-B14F-4D97-AF65-F5344CB8AC3E}">
        <p14:creationId xmlns:p14="http://schemas.microsoft.com/office/powerpoint/2010/main" val="220904040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3A871D-1A1F-6CF0-38C8-3ABBDBDECCA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0A86781-E345-BA5A-CBA8-E8CC1F11AA50}"/>
              </a:ext>
            </a:extLst>
          </p:cNvPr>
          <p:cNvSpPr>
            <a:spLocks noGrp="1"/>
          </p:cNvSpPr>
          <p:nvPr>
            <p:ph idx="1"/>
          </p:nvPr>
        </p:nvSpPr>
        <p:spPr/>
        <p:txBody>
          <a:bodyPr/>
          <a:lstStyle/>
          <a:p>
            <a:r>
              <a:rPr lang="en-US" b="1" dirty="0"/>
              <a:t>When taking a sample, we will be confronted with the following questions:</a:t>
            </a:r>
          </a:p>
          <a:p>
            <a:pPr lvl="1"/>
            <a:r>
              <a:rPr lang="en-US" dirty="0"/>
              <a:t>a) What is the group of people from which we want to draw a sample?</a:t>
            </a:r>
          </a:p>
          <a:p>
            <a:pPr lvl="1"/>
            <a:r>
              <a:rPr lang="en-US" dirty="0"/>
              <a:t>b) How many people do we need in our sample?</a:t>
            </a:r>
          </a:p>
          <a:p>
            <a:pPr lvl="1"/>
            <a:r>
              <a:rPr lang="en-US" dirty="0"/>
              <a:t>c) How will these people be selected? </a:t>
            </a:r>
            <a:br>
              <a:rPr lang="en-US" dirty="0"/>
            </a:br>
            <a:endParaRPr lang="en-US" dirty="0"/>
          </a:p>
        </p:txBody>
      </p:sp>
    </p:spTree>
    <p:extLst>
      <p:ext uri="{BB962C8B-B14F-4D97-AF65-F5344CB8AC3E}">
        <p14:creationId xmlns:p14="http://schemas.microsoft.com/office/powerpoint/2010/main" val="349585619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BC7178-DF3E-7B88-32F6-937B91F6EFD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ACF85DC-032A-749D-AF66-482B7B7F3548}"/>
              </a:ext>
            </a:extLst>
          </p:cNvPr>
          <p:cNvSpPr>
            <a:spLocks noGrp="1"/>
          </p:cNvSpPr>
          <p:nvPr>
            <p:ph idx="1"/>
          </p:nvPr>
        </p:nvSpPr>
        <p:spPr/>
        <p:txBody>
          <a:bodyPr>
            <a:normAutofit/>
          </a:bodyPr>
          <a:lstStyle/>
          <a:p>
            <a:r>
              <a:rPr lang="en-US" b="1" dirty="0"/>
              <a:t>Definitions</a:t>
            </a:r>
          </a:p>
          <a:p>
            <a:pPr lvl="1"/>
            <a:r>
              <a:rPr lang="en-US" dirty="0"/>
              <a:t>Target population (reference population): Is that population about which an investigator wishes to draw a conclusion.</a:t>
            </a:r>
          </a:p>
          <a:p>
            <a:pPr lvl="1"/>
            <a:r>
              <a:rPr lang="en-US" dirty="0"/>
              <a:t>Study population (population sampled): Population from which the sample actually was drawn and about which a conclusion can be made. For Practical reasons the study population is often more limited than the target population. In some instances, the target population and the population sampled are identical.</a:t>
            </a:r>
          </a:p>
        </p:txBody>
      </p:sp>
    </p:spTree>
    <p:extLst>
      <p:ext uri="{BB962C8B-B14F-4D97-AF65-F5344CB8AC3E}">
        <p14:creationId xmlns:p14="http://schemas.microsoft.com/office/powerpoint/2010/main" val="201172383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E05BC1-B416-35EA-9929-4B61468BF45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46DCBEA-D8E8-49A0-F814-020399AE5EC7}"/>
              </a:ext>
            </a:extLst>
          </p:cNvPr>
          <p:cNvSpPr>
            <a:spLocks noGrp="1"/>
          </p:cNvSpPr>
          <p:nvPr>
            <p:ph idx="1"/>
          </p:nvPr>
        </p:nvSpPr>
        <p:spPr/>
        <p:txBody>
          <a:bodyPr>
            <a:normAutofit/>
          </a:bodyPr>
          <a:lstStyle/>
          <a:p>
            <a:r>
              <a:rPr lang="en-US" dirty="0"/>
              <a:t>Study unit: The unit on which the observations will be collected. For example, persons in a study of disease prevalence, or households, in a study of family size. N.B. The sampling unit is not necessarily the same as the study unit.</a:t>
            </a:r>
          </a:p>
          <a:p>
            <a:endParaRPr lang="en-US" b="1" dirty="0"/>
          </a:p>
          <a:p>
            <a:r>
              <a:rPr lang="en-US" b="1" dirty="0"/>
              <a:t>Sampling frame:  </a:t>
            </a:r>
            <a:r>
              <a:rPr lang="en-US" dirty="0"/>
              <a:t>The list of units from which the sample is to be selected. The existence of an adequate and up-to-date sampling frame often defines the study population. </a:t>
            </a:r>
            <a:br>
              <a:rPr lang="en-US" dirty="0"/>
            </a:br>
            <a:endParaRPr lang="en-US" dirty="0"/>
          </a:p>
        </p:txBody>
      </p:sp>
    </p:spTree>
    <p:extLst>
      <p:ext uri="{BB962C8B-B14F-4D97-AF65-F5344CB8AC3E}">
        <p14:creationId xmlns:p14="http://schemas.microsoft.com/office/powerpoint/2010/main" val="326915363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A73036-D708-C55B-4E17-C57595BE5D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11A178-CD9A-6153-FBE1-F4B27CF291EC}"/>
              </a:ext>
            </a:extLst>
          </p:cNvPr>
          <p:cNvSpPr>
            <a:spLocks noGrp="1"/>
          </p:cNvSpPr>
          <p:nvPr>
            <p:ph type="title"/>
          </p:nvPr>
        </p:nvSpPr>
        <p:spPr/>
        <p:txBody>
          <a:bodyPr/>
          <a:lstStyle/>
          <a:p>
            <a:r>
              <a:rPr lang="en-US" b="1" dirty="0"/>
              <a:t>Sampling methods</a:t>
            </a:r>
            <a:endParaRPr lang="en-US" dirty="0"/>
          </a:p>
        </p:txBody>
      </p:sp>
      <p:sp>
        <p:nvSpPr>
          <p:cNvPr id="3" name="Content Placeholder 2">
            <a:extLst>
              <a:ext uri="{FF2B5EF4-FFF2-40B4-BE49-F238E27FC236}">
                <a16:creationId xmlns:a16="http://schemas.microsoft.com/office/drawing/2014/main" id="{8B78F2EB-12DC-165E-7FF6-E540586ED8BD}"/>
              </a:ext>
            </a:extLst>
          </p:cNvPr>
          <p:cNvSpPr>
            <a:spLocks noGrp="1"/>
          </p:cNvSpPr>
          <p:nvPr>
            <p:ph idx="1"/>
          </p:nvPr>
        </p:nvSpPr>
        <p:spPr/>
        <p:txBody>
          <a:bodyPr>
            <a:normAutofit/>
          </a:bodyPr>
          <a:lstStyle/>
          <a:p>
            <a:r>
              <a:rPr lang="en-US" dirty="0"/>
              <a:t>Sampling methods are techniques used in research to select a representative subset (a sample) from a larger population to infer information about the whole group without surveying everyone. </a:t>
            </a:r>
          </a:p>
          <a:p>
            <a:r>
              <a:rPr lang="en-US" dirty="0"/>
              <a:t>These methods, divided into </a:t>
            </a:r>
          </a:p>
          <a:p>
            <a:pPr lvl="1"/>
            <a:r>
              <a:rPr lang="en-US" dirty="0"/>
              <a:t>probability (random) and </a:t>
            </a:r>
          </a:p>
          <a:p>
            <a:pPr lvl="1"/>
            <a:r>
              <a:rPr lang="en-US" dirty="0"/>
              <a:t>non-probability (non-random) types, </a:t>
            </a:r>
          </a:p>
          <a:p>
            <a:r>
              <a:rPr lang="en-US" dirty="0"/>
              <a:t>minimize costs and time while allowing for data analysis. </a:t>
            </a:r>
            <a:br>
              <a:rPr lang="en-US" dirty="0"/>
            </a:br>
            <a:endParaRPr lang="en-US" dirty="0"/>
          </a:p>
        </p:txBody>
      </p:sp>
    </p:spTree>
    <p:extLst>
      <p:ext uri="{BB962C8B-B14F-4D97-AF65-F5344CB8AC3E}">
        <p14:creationId xmlns:p14="http://schemas.microsoft.com/office/powerpoint/2010/main" val="209175204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8D7DB3-E5BA-14A0-1158-DA8120155C97}"/>
              </a:ext>
            </a:extLst>
          </p:cNvPr>
          <p:cNvSpPr>
            <a:spLocks noGrp="1"/>
          </p:cNvSpPr>
          <p:nvPr>
            <p:ph type="title"/>
          </p:nvPr>
        </p:nvSpPr>
        <p:spPr/>
        <p:txBody>
          <a:bodyPr/>
          <a:lstStyle/>
          <a:p>
            <a:r>
              <a:rPr lang="en-US" b="1" dirty="0"/>
              <a:t>Sampling methods</a:t>
            </a:r>
            <a:endParaRPr lang="en-US" dirty="0"/>
          </a:p>
        </p:txBody>
      </p:sp>
      <p:sp>
        <p:nvSpPr>
          <p:cNvPr id="3" name="Content Placeholder 2">
            <a:extLst>
              <a:ext uri="{FF2B5EF4-FFF2-40B4-BE49-F238E27FC236}">
                <a16:creationId xmlns:a16="http://schemas.microsoft.com/office/drawing/2014/main" id="{E54FE05E-62EC-F507-719A-9EE08A849361}"/>
              </a:ext>
            </a:extLst>
          </p:cNvPr>
          <p:cNvSpPr>
            <a:spLocks noGrp="1"/>
          </p:cNvSpPr>
          <p:nvPr>
            <p:ph idx="1"/>
          </p:nvPr>
        </p:nvSpPr>
        <p:spPr/>
        <p:txBody>
          <a:bodyPr>
            <a:normAutofit fontScale="85000" lnSpcReduction="20000"/>
          </a:bodyPr>
          <a:lstStyle/>
          <a:p>
            <a:r>
              <a:rPr lang="en-US" dirty="0"/>
              <a:t>An important issue influencing the choice of the most appropriate sampling method is whether a sampling frame is available, that is, a listing of all the units that compose the study population.</a:t>
            </a:r>
          </a:p>
          <a:p>
            <a:pPr marL="0" indent="0">
              <a:buNone/>
            </a:pPr>
            <a:r>
              <a:rPr lang="en-US" b="1" dirty="0"/>
              <a:t>a) Non-probability sampling methods</a:t>
            </a:r>
          </a:p>
          <a:p>
            <a:r>
              <a:rPr lang="en-US" b="1" dirty="0"/>
              <a:t>Examples:</a:t>
            </a:r>
          </a:p>
          <a:p>
            <a:pPr lvl="1"/>
            <a:r>
              <a:rPr lang="en-US" dirty="0"/>
              <a:t>1. Convenience sampling: is a method in which for convenience sake the study units that happen to be available at the time of data collection are selected.</a:t>
            </a:r>
          </a:p>
          <a:p>
            <a:pPr lvl="1"/>
            <a:r>
              <a:rPr lang="en-US" dirty="0"/>
              <a:t>2. Quota sampling: is a method that insures that a certain number of sample units from different categories with specific characteristics appear in the sample so that all these characteristics are represented. In this method the investigator interviews as many people in each category of study unit as he can find until he has filled his quota.</a:t>
            </a:r>
          </a:p>
          <a:p>
            <a:pPr lvl="1"/>
            <a:r>
              <a:rPr lang="en-US" dirty="0"/>
              <a:t>3. Purposeful sampling strategies for qualitative studies: Qualitative research methods are typically used when focusing on a limited number of informants, whom we select strategically so that their in-depth information will give optimal insight into an issue about which little is known. This is called purposeful sampling. </a:t>
            </a:r>
            <a:br>
              <a:rPr lang="en-US" dirty="0"/>
            </a:br>
            <a:endParaRPr lang="en-US" dirty="0"/>
          </a:p>
        </p:txBody>
      </p:sp>
    </p:spTree>
    <p:extLst>
      <p:ext uri="{BB962C8B-B14F-4D97-AF65-F5344CB8AC3E}">
        <p14:creationId xmlns:p14="http://schemas.microsoft.com/office/powerpoint/2010/main" val="299428369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2F2F22-A62E-277D-2809-DA47515C879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78223A3-7615-019C-B1E7-BBEA58056A30}"/>
              </a:ext>
            </a:extLst>
          </p:cNvPr>
          <p:cNvSpPr>
            <a:spLocks noGrp="1"/>
          </p:cNvSpPr>
          <p:nvPr>
            <p:ph idx="1"/>
          </p:nvPr>
        </p:nvSpPr>
        <p:spPr/>
        <p:txBody>
          <a:bodyPr>
            <a:normAutofit/>
          </a:bodyPr>
          <a:lstStyle/>
          <a:p>
            <a:r>
              <a:rPr lang="en-US" b="1" dirty="0"/>
              <a:t>Random sampling strategies to collect quantitative data: </a:t>
            </a:r>
          </a:p>
          <a:p>
            <a:pPr lvl="1"/>
            <a:r>
              <a:rPr lang="en-US" dirty="0"/>
              <a:t>If the aim of a study is to </a:t>
            </a:r>
            <a:r>
              <a:rPr lang="en-US" i="1" dirty="0"/>
              <a:t>measure </a:t>
            </a:r>
            <a:r>
              <a:rPr lang="en-US" dirty="0"/>
              <a:t>variables distributed in a population (e.g., diseases) or to </a:t>
            </a:r>
            <a:r>
              <a:rPr lang="en-US" i="1" dirty="0"/>
              <a:t>test hypotheses </a:t>
            </a:r>
            <a:r>
              <a:rPr lang="en-US" dirty="0"/>
              <a:t>about which factors are contributing significantly to a certain problem, we have to be sure that we can </a:t>
            </a:r>
            <a:r>
              <a:rPr lang="en-US" dirty="0" err="1"/>
              <a:t>generalise</a:t>
            </a:r>
            <a:r>
              <a:rPr lang="en-US" dirty="0"/>
              <a:t> the findings obtained from a sample to the total study population. </a:t>
            </a:r>
          </a:p>
          <a:p>
            <a:pPr lvl="1"/>
            <a:r>
              <a:rPr lang="en-US" dirty="0"/>
              <a:t>Then, purposeful sampling methods are inadequate, and probability or random sampling methods have to be used. </a:t>
            </a:r>
          </a:p>
          <a:p>
            <a:pPr lvl="1"/>
            <a:r>
              <a:rPr lang="en-US" dirty="0"/>
              <a:t>You can not generalize to the larger population with non probability sampling</a:t>
            </a:r>
            <a:br>
              <a:rPr lang="en-US" dirty="0"/>
            </a:br>
            <a:endParaRPr lang="en-US" dirty="0"/>
          </a:p>
        </p:txBody>
      </p:sp>
    </p:spTree>
    <p:extLst>
      <p:ext uri="{BB962C8B-B14F-4D97-AF65-F5344CB8AC3E}">
        <p14:creationId xmlns:p14="http://schemas.microsoft.com/office/powerpoint/2010/main" val="3518025780"/>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62E2B6-C209-F481-EE26-A5EA0F2FAA5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A6CE2FB-E9F7-F30B-751A-8A009430AAF4}"/>
              </a:ext>
            </a:extLst>
          </p:cNvPr>
          <p:cNvSpPr>
            <a:spLocks noGrp="1"/>
          </p:cNvSpPr>
          <p:nvPr>
            <p:ph idx="1"/>
          </p:nvPr>
        </p:nvSpPr>
        <p:spPr/>
        <p:txBody>
          <a:bodyPr>
            <a:normAutofit fontScale="92500" lnSpcReduction="10000"/>
          </a:bodyPr>
          <a:lstStyle/>
          <a:p>
            <a:r>
              <a:rPr lang="en-US" b="1" dirty="0"/>
              <a:t>b) Probability sampling methods: </a:t>
            </a:r>
            <a:r>
              <a:rPr lang="en-US" dirty="0"/>
              <a:t>They involve random selection procedures to ensure that each unit of the sample is chosen on the basis of chance. All units of the study population should have an equal or at least a known chance of being included in the sample.</a:t>
            </a:r>
          </a:p>
          <a:p>
            <a:pPr lvl="1"/>
            <a:r>
              <a:rPr lang="en-US" b="1" dirty="0"/>
              <a:t>1. Simple Random Sampling (SRS): </a:t>
            </a:r>
            <a:r>
              <a:rPr lang="en-US" dirty="0"/>
              <a:t>This is the most basic scheme of random sampling. To select a simple random sample you need to:</a:t>
            </a:r>
          </a:p>
          <a:p>
            <a:pPr lvl="1"/>
            <a:r>
              <a:rPr lang="en-US" dirty="0"/>
              <a:t>Make a numbered list of all the units in the population from which you want to draw a sample. Each unit on the list should be numbered in sequence from 1 to N (Where N is the Size of the population).</a:t>
            </a:r>
          </a:p>
          <a:p>
            <a:pPr lvl="1"/>
            <a:r>
              <a:rPr lang="en-US" dirty="0"/>
              <a:t>Decide on the size of the sample</a:t>
            </a:r>
          </a:p>
          <a:p>
            <a:pPr lvl="1"/>
            <a:r>
              <a:rPr lang="en-US" dirty="0"/>
              <a:t>Select the required number of sampling units, using a “lottery” method or a table of random numbers. </a:t>
            </a:r>
            <a:br>
              <a:rPr lang="en-US" dirty="0"/>
            </a:br>
            <a:endParaRPr lang="en-US" dirty="0"/>
          </a:p>
        </p:txBody>
      </p:sp>
    </p:spTree>
    <p:extLst>
      <p:ext uri="{BB962C8B-B14F-4D97-AF65-F5344CB8AC3E}">
        <p14:creationId xmlns:p14="http://schemas.microsoft.com/office/powerpoint/2010/main" val="98300316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192446-9F84-3463-51A6-466F5D6EA2D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AE6B03C-6778-7031-2DF2-4DDD42DC4173}"/>
              </a:ext>
            </a:extLst>
          </p:cNvPr>
          <p:cNvSpPr>
            <a:spLocks noGrp="1"/>
          </p:cNvSpPr>
          <p:nvPr>
            <p:ph idx="1"/>
          </p:nvPr>
        </p:nvSpPr>
        <p:spPr/>
        <p:txBody>
          <a:bodyPr>
            <a:normAutofit fontScale="92500"/>
          </a:bodyPr>
          <a:lstStyle/>
          <a:p>
            <a:r>
              <a:rPr lang="en-US" dirty="0"/>
              <a:t>2. </a:t>
            </a:r>
            <a:r>
              <a:rPr lang="en-US" b="1" dirty="0"/>
              <a:t>Systematic Sampling: </a:t>
            </a:r>
            <a:r>
              <a:rPr lang="en-US" dirty="0"/>
              <a:t>Individuals are chosen at regular intervals (for example, every 5th, 10th, etc.) from the sampling frame. </a:t>
            </a:r>
          </a:p>
          <a:p>
            <a:pPr lvl="1"/>
            <a:r>
              <a:rPr lang="en-US" dirty="0"/>
              <a:t>Ideally we randomly select a number to tell us where to start selecting individuals from the list. For example, a systematic sample is to be selected from 1000 students of a school. </a:t>
            </a:r>
          </a:p>
          <a:p>
            <a:pPr lvl="1"/>
            <a:r>
              <a:rPr lang="en-US" dirty="0"/>
              <a:t>The sample size is decided to be 100. The sampling fraction is: 100/1000 = 1/10. The number of the first student to be included in the sample is chosen </a:t>
            </a:r>
            <a:r>
              <a:rPr lang="en-US" b="1" dirty="0"/>
              <a:t>randomly </a:t>
            </a:r>
            <a:r>
              <a:rPr lang="en-US" dirty="0"/>
              <a:t>by picking one out of the first ten pieces of paper, numbered 1 to 10. </a:t>
            </a:r>
          </a:p>
          <a:p>
            <a:pPr lvl="1"/>
            <a:r>
              <a:rPr lang="en-US" dirty="0"/>
              <a:t>If number 5 is picked, every tenth student will be included in the sample, starting with student number 5, until 100 students are selected. Students with the following numbers will be included in the sample: 5,15, 25, 35,45, . . . , 985, 995.</a:t>
            </a:r>
          </a:p>
        </p:txBody>
      </p:sp>
    </p:spTree>
    <p:extLst>
      <p:ext uri="{BB962C8B-B14F-4D97-AF65-F5344CB8AC3E}">
        <p14:creationId xmlns:p14="http://schemas.microsoft.com/office/powerpoint/2010/main" val="346805629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79C177-53B0-06DB-A8B0-FFF76A1297E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0A015DD-D22F-9C22-77B8-2A56B3D8B754}"/>
              </a:ext>
            </a:extLst>
          </p:cNvPr>
          <p:cNvSpPr>
            <a:spLocks noGrp="1"/>
          </p:cNvSpPr>
          <p:nvPr>
            <p:ph idx="1"/>
          </p:nvPr>
        </p:nvSpPr>
        <p:spPr/>
        <p:txBody>
          <a:bodyPr>
            <a:normAutofit/>
          </a:bodyPr>
          <a:lstStyle/>
          <a:p>
            <a:r>
              <a:rPr lang="en-US" b="1" dirty="0"/>
              <a:t>Stratified sampling: </a:t>
            </a:r>
          </a:p>
          <a:p>
            <a:pPr lvl="1"/>
            <a:r>
              <a:rPr lang="en-US" dirty="0"/>
              <a:t>is a probability sampling method that divides a diverse population into homogeneous, mutually exclusive subgroups (strata) based on specific characteristics (e.g., age, gender, income) to ensure proper representation.</a:t>
            </a:r>
          </a:p>
          <a:p>
            <a:pPr lvl="1"/>
            <a:r>
              <a:rPr lang="en-US" dirty="0"/>
              <a:t>If it is important that the sample includes representative groups of study units with specific characteristics (for example, residents from urban and rural areas), then the sampling frame must be divided into groups, or strata, according to these characteristics. </a:t>
            </a:r>
          </a:p>
          <a:p>
            <a:pPr lvl="1"/>
            <a:r>
              <a:rPr lang="en-US" dirty="0"/>
              <a:t>Random or systematic samples of a predetermined size will then have to be obtained from each group (stratum). This is called stratified sampling </a:t>
            </a:r>
            <a:br>
              <a:rPr lang="en-US" dirty="0"/>
            </a:br>
            <a:endParaRPr lang="en-US" dirty="0"/>
          </a:p>
        </p:txBody>
      </p:sp>
    </p:spTree>
    <p:extLst>
      <p:ext uri="{BB962C8B-B14F-4D97-AF65-F5344CB8AC3E}">
        <p14:creationId xmlns:p14="http://schemas.microsoft.com/office/powerpoint/2010/main" val="1928149280"/>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61DD8D-5350-4AF1-1383-7C256FB9949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714DCB3-298B-6DAD-FF75-ECD02FCC36DC}"/>
              </a:ext>
            </a:extLst>
          </p:cNvPr>
          <p:cNvSpPr>
            <a:spLocks noGrp="1"/>
          </p:cNvSpPr>
          <p:nvPr>
            <p:ph idx="1"/>
          </p:nvPr>
        </p:nvSpPr>
        <p:spPr/>
        <p:txBody>
          <a:bodyPr>
            <a:normAutofit/>
          </a:bodyPr>
          <a:lstStyle/>
          <a:p>
            <a:r>
              <a:rPr lang="en-US" b="1" dirty="0"/>
              <a:t>Cluster sampling: </a:t>
            </a:r>
          </a:p>
          <a:p>
            <a:pPr lvl="1"/>
            <a:r>
              <a:rPr lang="en-US" dirty="0"/>
              <a:t>When a list of groupings of study units is available (e.g. villages, etc.) or can be easily compiled, a number of these groupings can be randomly selected. </a:t>
            </a:r>
          </a:p>
          <a:p>
            <a:pPr lvl="1"/>
            <a:r>
              <a:rPr lang="en-US" dirty="0"/>
              <a:t>The selection of </a:t>
            </a:r>
            <a:r>
              <a:rPr lang="en-US" b="1" dirty="0"/>
              <a:t>groups </a:t>
            </a:r>
            <a:r>
              <a:rPr lang="en-US" dirty="0"/>
              <a:t>of study units (clusters) instead of the selection of study units </a:t>
            </a:r>
            <a:r>
              <a:rPr lang="en-US" b="1" dirty="0"/>
              <a:t>individually </a:t>
            </a:r>
            <a:r>
              <a:rPr lang="en-US" dirty="0"/>
              <a:t>is called cluster sampling. </a:t>
            </a:r>
          </a:p>
          <a:p>
            <a:pPr lvl="1"/>
            <a:r>
              <a:rPr lang="en-US" dirty="0"/>
              <a:t>Clusters are often geographic units (e.g. districts, villages) or organizational units (e.g. clinics). </a:t>
            </a:r>
            <a:br>
              <a:rPr lang="en-US" dirty="0"/>
            </a:br>
            <a:endParaRPr lang="en-US" dirty="0"/>
          </a:p>
        </p:txBody>
      </p:sp>
    </p:spTree>
    <p:extLst>
      <p:ext uri="{BB962C8B-B14F-4D97-AF65-F5344CB8AC3E}">
        <p14:creationId xmlns:p14="http://schemas.microsoft.com/office/powerpoint/2010/main" val="2485369351"/>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C994C-0256-7E3C-2A01-8BE0F389813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4488C72-0386-BB63-A8E3-99552A1C7286}"/>
              </a:ext>
            </a:extLst>
          </p:cNvPr>
          <p:cNvSpPr>
            <a:spLocks noGrp="1"/>
          </p:cNvSpPr>
          <p:nvPr>
            <p:ph idx="1"/>
          </p:nvPr>
        </p:nvSpPr>
        <p:spPr/>
        <p:txBody>
          <a:bodyPr/>
          <a:lstStyle/>
          <a:p>
            <a:r>
              <a:rPr lang="en-US" b="1" dirty="0"/>
              <a:t>Multi-Stage Sampling: </a:t>
            </a:r>
          </a:p>
          <a:p>
            <a:pPr lvl="1"/>
            <a:r>
              <a:rPr lang="en-US" dirty="0"/>
              <a:t>This method is appropriate when the population is large and widely scattered. </a:t>
            </a:r>
          </a:p>
          <a:p>
            <a:pPr lvl="1"/>
            <a:r>
              <a:rPr lang="en-US" dirty="0"/>
              <a:t>The number of </a:t>
            </a:r>
            <a:r>
              <a:rPr lang="en-US" b="1" dirty="0"/>
              <a:t>stages </a:t>
            </a:r>
            <a:r>
              <a:rPr lang="en-US" dirty="0"/>
              <a:t>of sampling is the number of times a sampling procedure is carried out.</a:t>
            </a:r>
          </a:p>
          <a:p>
            <a:r>
              <a:rPr lang="en-US" dirty="0"/>
              <a:t>The primary sampling unit </a:t>
            </a:r>
            <a:r>
              <a:rPr lang="en-US" b="1" dirty="0"/>
              <a:t>(PSU) </a:t>
            </a:r>
            <a:r>
              <a:rPr lang="en-US" dirty="0"/>
              <a:t>is the sampling unit (or unit of selection in the sampling procedure) in the </a:t>
            </a:r>
            <a:r>
              <a:rPr lang="en-US" b="1" dirty="0"/>
              <a:t>first sampling stage;</a:t>
            </a:r>
            <a:r>
              <a:rPr lang="en-US" dirty="0"/>
              <a:t> </a:t>
            </a:r>
            <a:br>
              <a:rPr lang="en-US" dirty="0"/>
            </a:br>
            <a:endParaRPr lang="en-US" dirty="0"/>
          </a:p>
        </p:txBody>
      </p:sp>
    </p:spTree>
    <p:extLst>
      <p:ext uri="{BB962C8B-B14F-4D97-AF65-F5344CB8AC3E}">
        <p14:creationId xmlns:p14="http://schemas.microsoft.com/office/powerpoint/2010/main" val="713772167"/>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2AAEA7-DB1A-64A2-DCA8-D4FEDB1C2E7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CE073A6-1A9C-E515-EAB2-B4670E8A3C3F}"/>
              </a:ext>
            </a:extLst>
          </p:cNvPr>
          <p:cNvSpPr>
            <a:spLocks noGrp="1"/>
          </p:cNvSpPr>
          <p:nvPr>
            <p:ph idx="1"/>
          </p:nvPr>
        </p:nvSpPr>
        <p:spPr/>
        <p:txBody>
          <a:bodyPr/>
          <a:lstStyle/>
          <a:p>
            <a:r>
              <a:rPr lang="en-US" dirty="0"/>
              <a:t>The secondary sampling unit (SSU) is the sampling unit in the second sampling stage, etc.</a:t>
            </a:r>
          </a:p>
          <a:p>
            <a:r>
              <a:rPr lang="en-US" dirty="0"/>
              <a:t>e.g. After selection of a sample of clusters (e.g. household), further sampling of individuals may be carried out within each household selected. </a:t>
            </a:r>
          </a:p>
          <a:p>
            <a:r>
              <a:rPr lang="en-US" dirty="0"/>
              <a:t>This constitutes two stage sampling, with the PSU being households and the SSU being individuals. </a:t>
            </a:r>
            <a:br>
              <a:rPr lang="en-US" dirty="0"/>
            </a:br>
            <a:endParaRPr lang="en-US" dirty="0"/>
          </a:p>
        </p:txBody>
      </p:sp>
    </p:spTree>
    <p:extLst>
      <p:ext uri="{BB962C8B-B14F-4D97-AF65-F5344CB8AC3E}">
        <p14:creationId xmlns:p14="http://schemas.microsoft.com/office/powerpoint/2010/main" val="1013153552"/>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72BB58-3516-10D5-80EF-F22FE81E4D0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1EAB0DC-FB31-E57E-4A59-985C4CFD0F27}"/>
              </a:ext>
            </a:extLst>
          </p:cNvPr>
          <p:cNvSpPr>
            <a:spLocks noGrp="1"/>
          </p:cNvSpPr>
          <p:nvPr>
            <p:ph idx="1"/>
          </p:nvPr>
        </p:nvSpPr>
        <p:spPr/>
        <p:txBody>
          <a:bodyPr>
            <a:normAutofit fontScale="85000" lnSpcReduction="20000"/>
          </a:bodyPr>
          <a:lstStyle/>
          <a:p>
            <a:r>
              <a:rPr lang="en-US" dirty="0"/>
              <a:t>When we take a sample, our results will not exactly equal the correct results for the whole population. That is, our results will be subject to errors. This error has two components: </a:t>
            </a:r>
            <a:r>
              <a:rPr lang="en-US" b="1" dirty="0"/>
              <a:t>sampling and non-sampling errors.</a:t>
            </a:r>
          </a:p>
          <a:p>
            <a:pPr marL="0" indent="0">
              <a:buNone/>
            </a:pPr>
            <a:r>
              <a:rPr lang="en-US" b="1" dirty="0"/>
              <a:t>a) Sampling error (i.e., random error)</a:t>
            </a:r>
          </a:p>
          <a:p>
            <a:r>
              <a:rPr lang="en-US" dirty="0"/>
              <a:t>is the natural, unavoidable discrepancy between a sample statistic and the true population parameter, occurring simply because a subset of the population is analyzed rather than the whole. </a:t>
            </a:r>
          </a:p>
          <a:p>
            <a:r>
              <a:rPr lang="en-US" dirty="0"/>
              <a:t>Random error, the opposite of reliability (i.e., Precision or repeatability), consists of random deviations from the true value, which can occur in </a:t>
            </a:r>
            <a:r>
              <a:rPr lang="en-US" b="1" dirty="0"/>
              <a:t>any </a:t>
            </a:r>
            <a:r>
              <a:rPr lang="en-US" dirty="0"/>
              <a:t>direction.</a:t>
            </a:r>
          </a:p>
          <a:p>
            <a:r>
              <a:rPr lang="en-US" dirty="0"/>
              <a:t>Sampling error (random error) can be minimized by increasing the size of the sample.</a:t>
            </a:r>
            <a:br>
              <a:rPr lang="en-US" dirty="0"/>
            </a:br>
            <a:endParaRPr lang="en-US" dirty="0"/>
          </a:p>
        </p:txBody>
      </p:sp>
    </p:spTree>
    <p:extLst>
      <p:ext uri="{BB962C8B-B14F-4D97-AF65-F5344CB8AC3E}">
        <p14:creationId xmlns:p14="http://schemas.microsoft.com/office/powerpoint/2010/main" val="3646913671"/>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7124D-2FA3-6DBD-04AC-70411CC9EEC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EFD43E5-7B65-319E-6C83-8BED9AF5BF2B}"/>
              </a:ext>
            </a:extLst>
          </p:cNvPr>
          <p:cNvSpPr>
            <a:spLocks noGrp="1"/>
          </p:cNvSpPr>
          <p:nvPr>
            <p:ph idx="1"/>
          </p:nvPr>
        </p:nvSpPr>
        <p:spPr/>
        <p:txBody>
          <a:bodyPr>
            <a:normAutofit/>
          </a:bodyPr>
          <a:lstStyle/>
          <a:p>
            <a:r>
              <a:rPr lang="en-US" b="1" dirty="0"/>
              <a:t>The sources of variation resulting in poor reliability include:</a:t>
            </a:r>
          </a:p>
          <a:p>
            <a:pPr lvl="1"/>
            <a:r>
              <a:rPr lang="en-US" dirty="0"/>
              <a:t>a) Variation in the characteristic of the subject being measured. Example: blood pressure</a:t>
            </a:r>
          </a:p>
          <a:p>
            <a:pPr lvl="1"/>
            <a:r>
              <a:rPr lang="en-US" dirty="0"/>
              <a:t>b) The measuring instruments, e.g. questionnaires</a:t>
            </a:r>
          </a:p>
          <a:p>
            <a:pPr lvl="1"/>
            <a:r>
              <a:rPr lang="en-US" dirty="0"/>
              <a:t>c) The persons collecting the information (observer variation)</a:t>
            </a:r>
          </a:p>
          <a:p>
            <a:r>
              <a:rPr lang="en-US" b="1" dirty="0"/>
              <a:t>Inter-observer variation: </a:t>
            </a:r>
            <a:r>
              <a:rPr lang="en-US" dirty="0"/>
              <a:t>differences between observers in measuring the same observation</a:t>
            </a:r>
          </a:p>
          <a:p>
            <a:r>
              <a:rPr lang="en-US" b="1" dirty="0"/>
              <a:t>Intra-observer variation: </a:t>
            </a:r>
            <a:r>
              <a:rPr lang="en-US" dirty="0"/>
              <a:t>differences in measuring the same observation by the same observer on different occasions </a:t>
            </a:r>
            <a:br>
              <a:rPr lang="en-US" dirty="0"/>
            </a:br>
            <a:endParaRPr lang="en-US" dirty="0"/>
          </a:p>
        </p:txBody>
      </p:sp>
    </p:spTree>
    <p:extLst>
      <p:ext uri="{BB962C8B-B14F-4D97-AF65-F5344CB8AC3E}">
        <p14:creationId xmlns:p14="http://schemas.microsoft.com/office/powerpoint/2010/main" val="3711183215"/>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79C6B5-147E-BDF8-B26A-CA282A7F897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6259C4A-2759-5A1A-A9D6-278CD5A10039}"/>
              </a:ext>
            </a:extLst>
          </p:cNvPr>
          <p:cNvSpPr>
            <a:spLocks noGrp="1"/>
          </p:cNvSpPr>
          <p:nvPr>
            <p:ph idx="1"/>
          </p:nvPr>
        </p:nvSpPr>
        <p:spPr/>
        <p:txBody>
          <a:bodyPr>
            <a:normAutofit/>
          </a:bodyPr>
          <a:lstStyle/>
          <a:p>
            <a:pPr marL="0" indent="0">
              <a:buNone/>
            </a:pPr>
            <a:r>
              <a:rPr lang="en-US" b="1" dirty="0"/>
              <a:t>b) Non Sampling error (i.e., bias)</a:t>
            </a:r>
          </a:p>
          <a:p>
            <a:pPr lvl="1"/>
            <a:r>
              <a:rPr lang="en-US" dirty="0"/>
              <a:t>Bias, the opposite of validity, consists of systematic deviations from the true value, </a:t>
            </a:r>
            <a:r>
              <a:rPr lang="en-US" b="1" dirty="0"/>
              <a:t>always in the same direction.</a:t>
            </a:r>
          </a:p>
          <a:p>
            <a:pPr lvl="1"/>
            <a:r>
              <a:rPr lang="en-US" dirty="0"/>
              <a:t>It is possible to eliminate or reduce the non-sampling error (bias) by </a:t>
            </a:r>
            <a:r>
              <a:rPr lang="en-US" b="1" dirty="0"/>
              <a:t>careful design </a:t>
            </a:r>
            <a:r>
              <a:rPr lang="en-US" dirty="0"/>
              <a:t>of the sampling procedure.</a:t>
            </a:r>
          </a:p>
          <a:p>
            <a:pPr lvl="1"/>
            <a:r>
              <a:rPr lang="en-US" b="1" dirty="0"/>
              <a:t>Validity: </a:t>
            </a:r>
            <a:r>
              <a:rPr lang="en-US" dirty="0"/>
              <a:t>This refers to the degree of closeness between a measurement and the true value of what is being measured. Validity addresses the question, how close is the </a:t>
            </a:r>
            <a:r>
              <a:rPr lang="en-US" b="1" dirty="0"/>
              <a:t>measured value </a:t>
            </a:r>
            <a:r>
              <a:rPr lang="en-US" dirty="0"/>
              <a:t>to the </a:t>
            </a:r>
            <a:r>
              <a:rPr lang="en-US" b="1" dirty="0"/>
              <a:t>true value</a:t>
            </a:r>
            <a:r>
              <a:rPr lang="en-US" dirty="0"/>
              <a:t>? </a:t>
            </a:r>
            <a:br>
              <a:rPr lang="en-US" dirty="0"/>
            </a:br>
            <a:endParaRPr lang="en-US" dirty="0"/>
          </a:p>
        </p:txBody>
      </p:sp>
    </p:spTree>
    <p:extLst>
      <p:ext uri="{BB962C8B-B14F-4D97-AF65-F5344CB8AC3E}">
        <p14:creationId xmlns:p14="http://schemas.microsoft.com/office/powerpoint/2010/main" val="1238790156"/>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990E76-EE00-F1EA-C7D2-BF7F776F837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BDDB4B7-F64C-B167-512A-A8A63E9A5D15}"/>
              </a:ext>
            </a:extLst>
          </p:cNvPr>
          <p:cNvSpPr>
            <a:spLocks noGrp="1"/>
          </p:cNvSpPr>
          <p:nvPr>
            <p:ph idx="1"/>
          </p:nvPr>
        </p:nvSpPr>
        <p:spPr/>
        <p:txBody>
          <a:bodyPr>
            <a:normAutofit/>
          </a:bodyPr>
          <a:lstStyle/>
          <a:p>
            <a:r>
              <a:rPr lang="en-US" b="1" dirty="0"/>
              <a:t>Examples of types of bias in sampling include:</a:t>
            </a:r>
          </a:p>
          <a:p>
            <a:pPr lvl="1"/>
            <a:r>
              <a:rPr lang="en-US" dirty="0"/>
              <a:t>Bias resulting from incompleteness of the sampling frame: accessibility bias, </a:t>
            </a:r>
            <a:r>
              <a:rPr lang="en-US" dirty="0" err="1"/>
              <a:t>seasonability</a:t>
            </a:r>
            <a:r>
              <a:rPr lang="en-US" dirty="0"/>
              <a:t> bias, self-reporting bias, volunteer bias, non-response bias etc.</a:t>
            </a:r>
          </a:p>
          <a:p>
            <a:pPr lvl="1"/>
            <a:r>
              <a:rPr lang="en-US" dirty="0"/>
              <a:t>Non-response bias refers to failure to obtain information on some of the subjects included in the sample to be studied. </a:t>
            </a:r>
          </a:p>
          <a:p>
            <a:r>
              <a:rPr lang="en-US" dirty="0"/>
              <a:t>It results in significant bias when the following two situations are both fulfilled.</a:t>
            </a:r>
          </a:p>
          <a:p>
            <a:pPr lvl="1"/>
            <a:r>
              <a:rPr lang="en-US" dirty="0"/>
              <a:t>1. When non-respondents constitute a significant proportion of the sample.</a:t>
            </a:r>
          </a:p>
          <a:p>
            <a:pPr lvl="1"/>
            <a:r>
              <a:rPr lang="en-US" dirty="0"/>
              <a:t>2. When non-respondents differ significantly from respondents.</a:t>
            </a:r>
          </a:p>
          <a:p>
            <a:endParaRPr lang="en-US" dirty="0"/>
          </a:p>
        </p:txBody>
      </p:sp>
    </p:spTree>
    <p:extLst>
      <p:ext uri="{BB962C8B-B14F-4D97-AF65-F5344CB8AC3E}">
        <p14:creationId xmlns:p14="http://schemas.microsoft.com/office/powerpoint/2010/main" val="1504618615"/>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098E31-4A29-10D1-4E01-935A0768409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5059852-C8FA-8873-9ED3-B4F6CD953E2D}"/>
              </a:ext>
            </a:extLst>
          </p:cNvPr>
          <p:cNvSpPr>
            <a:spLocks noGrp="1"/>
          </p:cNvSpPr>
          <p:nvPr>
            <p:ph idx="1"/>
          </p:nvPr>
        </p:nvSpPr>
        <p:spPr/>
        <p:txBody>
          <a:bodyPr>
            <a:normAutofit/>
          </a:bodyPr>
          <a:lstStyle/>
          <a:p>
            <a:r>
              <a:rPr lang="en-US" dirty="0"/>
              <a:t>2. When non-respondents differ significantly from respondents.</a:t>
            </a:r>
          </a:p>
          <a:p>
            <a:r>
              <a:rPr lang="en-US" b="1" i="1" dirty="0"/>
              <a:t>The issue of non-response should be considered during the planning stage of the study:</a:t>
            </a:r>
          </a:p>
          <a:p>
            <a:pPr lvl="1"/>
            <a:r>
              <a:rPr lang="en-US" dirty="0"/>
              <a:t>a) Non-response should be kept to a minimum. E.g. below 15%</a:t>
            </a:r>
          </a:p>
          <a:p>
            <a:pPr lvl="1"/>
            <a:r>
              <a:rPr lang="en-US" dirty="0"/>
              <a:t>b) The number of non-responses should be documented according to type, so as to facilitate an assessment of the extent of bias introduced by non-response.</a:t>
            </a:r>
          </a:p>
          <a:p>
            <a:pPr lvl="1"/>
            <a:r>
              <a:rPr lang="en-US" dirty="0"/>
              <a:t>c) As much information as possible should be collected on non-respondents, so as to see in what ways they may differ from respondents </a:t>
            </a:r>
            <a:br>
              <a:rPr lang="en-US" dirty="0"/>
            </a:br>
            <a:endParaRPr lang="en-US" dirty="0"/>
          </a:p>
        </p:txBody>
      </p:sp>
    </p:spTree>
    <p:extLst>
      <p:ext uri="{BB962C8B-B14F-4D97-AF65-F5344CB8AC3E}">
        <p14:creationId xmlns:p14="http://schemas.microsoft.com/office/powerpoint/2010/main" val="876428310"/>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496E24-3D6C-EEBC-2ED8-CECB485412F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E7EE873-9085-9F32-9E7E-B8C8B8CD909C}"/>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2115991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412</TotalTime>
  <Words>9159</Words>
  <Application>Microsoft Office PowerPoint</Application>
  <PresentationFormat>Widescreen</PresentationFormat>
  <Paragraphs>567</Paragraphs>
  <Slides>100</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100</vt:i4>
      </vt:variant>
    </vt:vector>
  </HeadingPairs>
  <TitlesOfParts>
    <vt:vector size="104" baseType="lpstr">
      <vt:lpstr>Aptos</vt:lpstr>
      <vt:lpstr>Aptos Display</vt:lpstr>
      <vt:lpstr>Arial</vt:lpstr>
      <vt:lpstr>Office Theme</vt:lpstr>
      <vt:lpstr>Research methods</vt:lpstr>
      <vt:lpstr>PowerPoint Presentation</vt:lpstr>
      <vt:lpstr>Definition and characteristics of research</vt:lpstr>
      <vt:lpstr>PowerPoint Presentation</vt:lpstr>
      <vt:lpstr>PowerPoint Presentation</vt:lpstr>
      <vt:lpstr>Quantitative and Qualitative researches: </vt:lpstr>
      <vt:lpstr>PowerPoint Presentation</vt:lpstr>
      <vt:lpstr>PowerPoint Presentation</vt:lpstr>
      <vt:lpstr>PowerPoint Presentation</vt:lpstr>
      <vt:lpstr>PowerPoint Presentation</vt:lpstr>
      <vt:lpstr>PowerPoint Presentation</vt:lpstr>
      <vt:lpstr>Health systems research</vt:lpstr>
      <vt:lpstr>PowerPoint Presentation</vt:lpstr>
      <vt:lpstr>PowerPoint Presentation</vt:lpstr>
      <vt:lpstr>PowerPoint Presentation</vt:lpstr>
      <vt:lpstr>Topic selection</vt:lpstr>
      <vt:lpstr>PowerPoint Presentation</vt:lpstr>
      <vt:lpstr>PowerPoint Presentation</vt:lpstr>
      <vt:lpstr>PowerPoint Presentation</vt:lpstr>
      <vt:lpstr>PowerPoint Presentation</vt:lpstr>
      <vt:lpstr>PowerPoint Presentation</vt:lpstr>
      <vt:lpstr>Criteria for selecting a research topic</vt:lpstr>
      <vt:lpstr>PowerPoint Presentation</vt:lpstr>
      <vt:lpstr>PowerPoint Presentation</vt:lpstr>
      <vt:lpstr>Scales for rating research topics</vt:lpstr>
      <vt:lpstr>PowerPoint Presentation</vt:lpstr>
      <vt:lpstr>PowerPoint Presentation</vt:lpstr>
      <vt:lpstr>PowerPoint Presentation</vt:lpstr>
      <vt:lpstr>PowerPoint Presentation</vt:lpstr>
      <vt:lpstr>PowerPoint Presentation</vt:lpstr>
      <vt:lpstr>Analysis and statement of the problem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LITERATURE REVIEW </vt:lpstr>
      <vt:lpstr>PowerPoint Presentation</vt:lpstr>
      <vt:lpstr>PowerPoint Presentation</vt:lpstr>
      <vt:lpstr>PowerPoint Presentation</vt:lpstr>
      <vt:lpstr>PowerPoint Presentation</vt:lpstr>
      <vt:lpstr>PowerPoint Presentation</vt:lpstr>
      <vt:lpstr>PowerPoint Presentation</vt:lpstr>
      <vt:lpstr>OBJECTIVES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Justification </vt:lpstr>
      <vt:lpstr>Research methods/Methods section</vt:lpstr>
      <vt:lpstr>PowerPoint Presentation</vt:lpstr>
      <vt:lpstr>PowerPoint Presentation</vt:lpstr>
      <vt:lpstr>1. Exploratory Studies </vt:lpstr>
      <vt:lpstr>PowerPoint Presentation</vt:lpstr>
      <vt:lpstr>2. Descriptive studies:</vt:lpstr>
      <vt:lpstr>Types of descriptive studies</vt:lpstr>
      <vt:lpstr>PowerPoint Presentation</vt:lpstr>
      <vt:lpstr>PowerPoint Presentation</vt:lpstr>
      <vt:lpstr>3. Analytic studies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Study population</vt:lpstr>
      <vt:lpstr>PowerPoint Presentation</vt:lpstr>
      <vt:lpstr>PowerPoint Presentation</vt:lpstr>
      <vt:lpstr>PowerPoint Presentation</vt:lpstr>
      <vt:lpstr>dependent and independent variables</vt:lpstr>
      <vt:lpstr>PowerPoint Presentation</vt:lpstr>
      <vt:lpstr>Operationalising Variables. Operational definition </vt:lpstr>
      <vt:lpstr>PowerPoint Presentation</vt:lpstr>
      <vt:lpstr>PowerPoint Presentation</vt:lpstr>
      <vt:lpstr>PowerPoint Presentation</vt:lpstr>
      <vt:lpstr>Sampling</vt:lpstr>
      <vt:lpstr>PowerPoint Presentation</vt:lpstr>
      <vt:lpstr>PowerPoint Presentation</vt:lpstr>
      <vt:lpstr>PowerPoint Presentation</vt:lpstr>
      <vt:lpstr>Sampling methods</vt:lpstr>
      <vt:lpstr>Sampling methods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wosen admasu</dc:creator>
  <cp:lastModifiedBy>wosen admasu</cp:lastModifiedBy>
  <cp:revision>2</cp:revision>
  <dcterms:created xsi:type="dcterms:W3CDTF">2026-02-04T12:02:38Z</dcterms:created>
  <dcterms:modified xsi:type="dcterms:W3CDTF">2026-02-04T18:54:46Z</dcterms:modified>
</cp:coreProperties>
</file>