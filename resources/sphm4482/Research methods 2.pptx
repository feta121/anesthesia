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33" r:id="rId2"/>
    <p:sldId id="334" r:id="rId3"/>
    <p:sldId id="335" r:id="rId4"/>
    <p:sldId id="280" r:id="rId5"/>
    <p:sldId id="282" r:id="rId6"/>
    <p:sldId id="284" r:id="rId7"/>
    <p:sldId id="338" r:id="rId8"/>
    <p:sldId id="285" r:id="rId9"/>
    <p:sldId id="287" r:id="rId10"/>
    <p:sldId id="289" r:id="rId11"/>
    <p:sldId id="332" r:id="rId12"/>
    <p:sldId id="290" r:id="rId13"/>
    <p:sldId id="291" r:id="rId14"/>
    <p:sldId id="292" r:id="rId15"/>
    <p:sldId id="295" r:id="rId16"/>
    <p:sldId id="296" r:id="rId17"/>
    <p:sldId id="298" r:id="rId18"/>
    <p:sldId id="299" r:id="rId19"/>
    <p:sldId id="301" r:id="rId20"/>
    <p:sldId id="303" r:id="rId21"/>
    <p:sldId id="336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8" r:id="rId34"/>
    <p:sldId id="319" r:id="rId35"/>
    <p:sldId id="320" r:id="rId36"/>
    <p:sldId id="322" r:id="rId37"/>
    <p:sldId id="323" r:id="rId38"/>
    <p:sldId id="324" r:id="rId39"/>
    <p:sldId id="325" r:id="rId40"/>
    <p:sldId id="327" r:id="rId41"/>
    <p:sldId id="328" r:id="rId42"/>
    <p:sldId id="329" r:id="rId43"/>
    <p:sldId id="331" r:id="rId44"/>
    <p:sldId id="337" r:id="rId45"/>
    <p:sldId id="25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A5C-583D-420B-A2EA-75B018370067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AB8A0-0502-4ECE-9549-8C2A27F6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3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AB8A0-0502-4ECE-9549-8C2A27F677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97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reaches its </a:t>
                </a:r>
                <a:r>
                  <a:rPr lang="en-US" b="1" dirty="0"/>
                  <a:t>maximum value when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=0.5</m:t>
                    </m:r>
                  </m:oMath>
                </a14:m>
                <a:r>
                  <a:rPr lang="en-US" b="1" dirty="0"/>
                  <a:t>(50%)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=0.5</m:t>
                    </m:r>
                  </m:oMath>
                </a14:m>
                <a:r>
                  <a:rPr lang="en-US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×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25</m:t>
                      </m:r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%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So, the largest possible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0.25 (25%)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reaches its </a:t>
                </a:r>
                <a:r>
                  <a:rPr lang="en-US" b="1" dirty="0"/>
                  <a:t>maximum value when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𝑃=0.5</a:t>
                </a:r>
                <a:r>
                  <a:rPr lang="en-US" b="1" dirty="0"/>
                  <a:t>(50%)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Substitute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𝑃=0.5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(1−0.5)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0.5×0.5=0.25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0.25=25%</a:t>
                </a:r>
                <a:endParaRPr lang="ar-AE" dirty="0"/>
              </a:p>
              <a:p>
                <a:r>
                  <a:rPr lang="en-US" dirty="0"/>
                  <a:t>So, the largest possible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(1−𝑃)</a:t>
                </a:r>
                <a:r>
                  <a:rPr lang="en-US" dirty="0"/>
                  <a:t>is </a:t>
                </a:r>
                <a:r>
                  <a:rPr lang="en-US" b="1" dirty="0"/>
                  <a:t>0.25 (25%)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AB8A0-0502-4ECE-9549-8C2A27F677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6147-F3BB-F5E9-F8F9-EC7934DA5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23D7F-2EFC-7F91-338D-7CF2C392A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CFB73-E660-2F25-5E96-D7874727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A1067-3FD6-245F-1A3D-84F11ADE6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F8EA7-8347-222D-9F42-1BD8CAB4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2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72C1-1402-6AF6-415D-E39E0211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3ADC8-4212-482D-C26C-D924EB2A4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85F44-5655-BA5C-5769-D369686CE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593CA-4EF8-B566-036B-2D690E4E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8FB8-B6B4-63DA-6238-901A4458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91E0-2DF6-483A-F6B4-CC9A6083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1C41E-B595-08CF-CC0D-0B0DC1D94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1E63E-2553-273B-23BD-74A88B97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8BEE-826B-EE90-CCD9-8CDF9602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D2C-FCF2-9A9C-DBA1-D1EF4D4D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48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A8B8-D3CE-C003-D113-1883121D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017EB-A386-BF84-2041-F1EB0E05F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6B449-6FB5-8B39-19CC-2C6C0E8CD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A9DA8-80C1-A3B3-28EC-6DA15C61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3D69-6E79-51C0-E80D-7129A8D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01121-25CF-1E28-1893-79B8265C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FFE4-1D1A-1177-A924-7AA503C6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FDEE3-28F6-26AF-BA6A-8C5A648F9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77F22-C10C-BBE6-42D9-E6A381DAC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EB8D0-CF13-37C7-E65E-560D895EA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8EAE-F9AF-0384-8EA6-412224D0B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A392F-48D0-2B4D-1169-C72CFEAB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8EB04-A62C-8674-E3EB-FF9E4D3A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2B3AF-4BE1-DB2A-2F7E-CA4DF217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9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40CD-D17D-8DCB-3433-12B62936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C5363-1F81-7785-F539-C0A37E8B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9AD35-7586-3F32-ED0B-C06F0C3F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17FAB-6B45-C8BD-FFAA-EECB4A1A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4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C82B0-12C3-65C8-9E7A-F6CEB6DD4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59B96-4C50-EFD2-8A11-A51C63B2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21C64-8780-9A65-1CF7-A1EB3EBB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AF2F-37FB-28C2-6A22-C73F84B5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3A15F-F62F-2139-B2B6-571844C91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267E9-3B47-F9C7-885F-C209E1066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8C54F-D785-75ED-BA4B-076438BF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FE519-16BE-1230-2518-90ECA2DD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31D3B-8CCE-A4A7-57DF-D4D6560D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5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F76F-9078-D04D-2CA3-A911E750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7366B-77D2-0CFC-97DE-4ABECDF6F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032D0-31AD-C68D-1F7E-C6C9D9EA4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07C45-9937-3996-88E3-A8B5B859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B71EF-2A09-D13E-3791-20BA269F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D99B0-3660-F186-534A-52764572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8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17B8-26CA-D00C-5C35-50C319D3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0B4D2-0968-D911-B5B6-14A50A6A6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C0A3B-5951-127C-E9C8-2576C1C8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CAAD-065A-7176-C467-35BCB325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47091-3959-A523-A32C-938A45CC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9C8CE-13BD-64C2-41E2-5B325F08B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12B10-0506-C737-2D7B-A63CBDBA9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A010D-B4B0-000F-8CA4-7FFF7643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F906-76F5-3CD9-2BAF-F3460175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497D1-C35E-D890-9C81-1BB4DA61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27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79132-2AA7-E0D2-D6D5-3FDFAD4D9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1B90D-0EBA-7CED-2FE6-C51E5134B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C3BC-F7DF-2206-97AB-458E98E7C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F2A12-A9C8-48C0-8608-FE13ADE5831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16C59-1C75-AB46-A60D-F0533B3A3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C10E8-CC5C-C654-08CE-2C7A58F7C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1332E-F203-46D7-8964-995A06A11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5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55DB-DB9D-2A64-C42B-93299FDD3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Methods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11781-BDF0-D2D7-9F21-2809AEFE1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dirty="0"/>
          </a:p>
          <a:p>
            <a:pPr algn="r"/>
            <a:r>
              <a:rPr lang="en-US" dirty="0"/>
              <a:t>Wosen A (Assistant Professor of anesthesia)</a:t>
            </a:r>
          </a:p>
          <a:p>
            <a:pPr algn="r"/>
            <a:r>
              <a:rPr lang="en-US" dirty="0"/>
              <a:t>AAU</a:t>
            </a:r>
          </a:p>
          <a:p>
            <a:pPr algn="r"/>
            <a:r>
              <a:rPr lang="en-US" dirty="0"/>
              <a:t>Department of anesthesia</a:t>
            </a:r>
          </a:p>
        </p:txBody>
      </p:sp>
      <p:pic>
        <p:nvPicPr>
          <p:cNvPr id="3074" name="Picture 2" descr="AAU | Addis Ababa University">
            <a:extLst>
              <a:ext uri="{FF2B5EF4-FFF2-40B4-BE49-F238E27FC236}">
                <a16:creationId xmlns:a16="http://schemas.microsoft.com/office/drawing/2014/main" id="{47C8D7C1-50B0-39DE-DE4A-4775FBBA7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324" y="0"/>
            <a:ext cx="2464676" cy="243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81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369A-38C0-C2F3-4CE2-B4F97CB7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DFFB2A-0D6B-3B97-9066-6D7372DCA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6"/>
            <a:ext cx="978775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Non-response and Selection Bias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Size Determination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Planning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of Data Collection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Questionnaire and Interview Techniques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Qualitative Data Collection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 and Data Quality Control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Confidentiality and Ethical Issues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 and Analysis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 and Data Compilation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and Qualitative Data Analysis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Ethics Committee and Research Validity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Pretesting and Pilot Studies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Plans and GANTT Charts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Project Management and Monitoring </a:t>
            </a:r>
          </a:p>
        </p:txBody>
      </p:sp>
    </p:spTree>
    <p:extLst>
      <p:ext uri="{BB962C8B-B14F-4D97-AF65-F5344CB8AC3E}">
        <p14:creationId xmlns:p14="http://schemas.microsoft.com/office/powerpoint/2010/main" val="8787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1A6B-189B-1A65-CC27-1678F0A0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5E6BF-A130-D7A2-7F4C-4D3E0AE6B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topic, the student will be able to explain the principles of sample size determination, data collection, and data analysis; identify different methods of data collection, sources of bias, and ethical considerations in research; and apply proper planning, coding, pretesting, and data management techniques in conducting a research study.</a:t>
            </a:r>
          </a:p>
        </p:txBody>
      </p:sp>
    </p:spTree>
    <p:extLst>
      <p:ext uri="{BB962C8B-B14F-4D97-AF65-F5344CB8AC3E}">
        <p14:creationId xmlns:p14="http://schemas.microsoft.com/office/powerpoint/2010/main" val="332458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Non-response as a Source of Bias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Non-response is a significant concern when:</a:t>
            </a:r>
          </a:p>
          <a:p>
            <a:pPr lvl="1"/>
            <a:r>
              <a:rPr dirty="0"/>
              <a:t>Non-respondents constitute a large proportion of the sample.</a:t>
            </a:r>
          </a:p>
          <a:p>
            <a:pPr lvl="1"/>
            <a:r>
              <a:rPr dirty="0"/>
              <a:t>Non-respondents differ significantly from respondents.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Minimizing Non-response</a:t>
            </a:r>
          </a:p>
          <a:p>
            <a:pPr lvl="1"/>
            <a:r>
              <a:rPr lang="en-US" dirty="0"/>
              <a:t>The issue of non-response must be considered during the planning stage.</a:t>
            </a:r>
          </a:p>
          <a:p>
            <a:pPr lvl="2"/>
            <a:r>
              <a:rPr lang="en-US" dirty="0"/>
              <a:t>Non-response should be kept to a minimum, e.g., below 15%.</a:t>
            </a:r>
          </a:p>
          <a:p>
            <a:pPr lvl="2"/>
            <a:r>
              <a:rPr lang="en-US" dirty="0"/>
              <a:t>Methods to maintain a low non-response rate include well-trained data collectors.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Strategies to Reduce Non-response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Train data collectors to make respectful contact and convince subjects of the study's importance.</a:t>
            </a:r>
          </a:p>
          <a:p>
            <a:pPr lvl="1"/>
            <a:r>
              <a:rPr sz="2000" dirty="0"/>
              <a:t>Offer incentives to encourage participation.</a:t>
            </a:r>
          </a:p>
          <a:p>
            <a:pPr lvl="1"/>
            <a:r>
              <a:rPr sz="2000" dirty="0"/>
              <a:t>Make repeated attempts (at least 3 times) to contact subjects who were initially absent.</a:t>
            </a:r>
            <a:endParaRPr lang="en-US" sz="2000" dirty="0"/>
          </a:p>
          <a:p>
            <a:pPr lvl="1"/>
            <a:r>
              <a:rPr lang="en-US" sz="2000" dirty="0"/>
              <a:t>Documenting and understanding non response</a:t>
            </a:r>
          </a:p>
          <a:p>
            <a:pPr lvl="1"/>
            <a:endParaRPr lang="en-US" sz="2000" dirty="0"/>
          </a:p>
          <a:p>
            <a:r>
              <a:rPr lang="en-US" sz="2400" dirty="0"/>
              <a:t>Document the number of non-responses according to type.</a:t>
            </a:r>
          </a:p>
          <a:p>
            <a:pPr lvl="1"/>
            <a:r>
              <a:rPr lang="en-US" sz="2000" dirty="0"/>
              <a:t>This helps assess the extent of bias introduced.</a:t>
            </a:r>
          </a:p>
          <a:p>
            <a:pPr lvl="1"/>
            <a:r>
              <a:rPr lang="en-US" sz="2000" dirty="0"/>
              <a:t>Collect as much information as possible on non-respondents to see how they differ from respondents.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Fact about Selection Bias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Selection bias cannot be corrected by simply increasing the sample size.</a:t>
            </a:r>
            <a:endParaRPr lang="en-US" sz="2400" dirty="0"/>
          </a:p>
          <a:p>
            <a:endParaRPr sz="2400" dirty="0"/>
          </a:p>
          <a:p>
            <a:r>
              <a:rPr sz="2400" dirty="0"/>
              <a:t>A larger biased sample is still a biased sample.</a:t>
            </a:r>
          </a:p>
          <a:p>
            <a:endParaRPr lang="en-US" sz="2400" dirty="0"/>
          </a:p>
          <a:p>
            <a:r>
              <a:rPr sz="2400" dirty="0"/>
              <a:t>The only way to remove this bias is through proper sampling design and ensuring a high response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469D-3B44-C7D0-D5C2-02D688E0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size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0DCC-09C5-5107-5514-5811036FE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size determination is the process of choosing the number of observations or people to include in a study or experiment.</a:t>
            </a:r>
          </a:p>
          <a:p>
            <a:endParaRPr lang="en-US" dirty="0"/>
          </a:p>
          <a:p>
            <a:r>
              <a:rPr lang="en-US" dirty="0"/>
              <a:t>The goal is to ensure the group is large enough to provide </a:t>
            </a:r>
            <a:r>
              <a:rPr lang="en-US" b="1" dirty="0"/>
              <a:t>statistically significant</a:t>
            </a:r>
            <a:r>
              <a:rPr lang="en-US" dirty="0"/>
              <a:t> results (so you can trust the data) but small enough to avoid wasting time, money, and resources. </a:t>
            </a:r>
          </a:p>
          <a:p>
            <a:endParaRPr lang="en-US" dirty="0"/>
          </a:p>
          <a:p>
            <a:r>
              <a:rPr lang="en-US" dirty="0"/>
              <a:t>Essentially, it's finding the area where your data is accurate without being over- sampled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8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Sample Size Determination</a:t>
            </a:r>
            <a:r>
              <a:rPr lang="en-US" sz="3200" dirty="0"/>
              <a:t> </a:t>
            </a:r>
            <a:r>
              <a:rPr lang="en-US" sz="3200" dirty="0" err="1"/>
              <a:t>cont</a:t>
            </a:r>
            <a:r>
              <a:rPr lang="en-US" sz="3200" dirty="0"/>
              <a:t>….</a:t>
            </a:r>
            <a:endParaRPr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study that is too small may fail to detect important effects.</a:t>
            </a:r>
          </a:p>
          <a:p>
            <a:r>
              <a:rPr sz="2400" dirty="0"/>
              <a:t>A study that is too large will waste resources.</a:t>
            </a:r>
          </a:p>
          <a:p>
            <a:r>
              <a:rPr sz="2400" dirty="0"/>
              <a:t>The eventual sample size is a compromise between what is desirable and what is feasible.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Quality vs. Quantity in Sample Size</a:t>
            </a:r>
          </a:p>
          <a:p>
            <a:pPr lvl="1"/>
            <a:r>
              <a:rPr lang="en-US" sz="2000" dirty="0"/>
              <a:t>It is better to increase the accuracy of data collection than to increase sample size after a certain point.</a:t>
            </a:r>
          </a:p>
          <a:p>
            <a:pPr lvl="1"/>
            <a:r>
              <a:rPr lang="en-US" sz="2000" dirty="0"/>
              <a:t>Improve training of data collectors and data collection tools.</a:t>
            </a:r>
          </a:p>
          <a:p>
            <a:pPr lvl="1"/>
            <a:r>
              <a:rPr lang="en-US" sz="2000" dirty="0"/>
              <a:t>Resources are needed not only to collect data, but also to analyze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Facts Needed for Sample Size Calculation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reasonable estimate of the key proportion to be studied (if unknown, use 50%).</a:t>
            </a:r>
          </a:p>
          <a:p>
            <a:r>
              <a:rPr sz="2400" dirty="0"/>
              <a:t>The degree of accuracy required (the allowed margin of error, e.g., 1% or 5%).</a:t>
            </a:r>
          </a:p>
          <a:p>
            <a:r>
              <a:rPr sz="2400" dirty="0"/>
              <a:t>The confidence level required, usually specified as 95%.</a:t>
            </a:r>
            <a:endParaRPr lang="en-US" sz="2400" dirty="0"/>
          </a:p>
          <a:p>
            <a:r>
              <a:rPr lang="en-US" sz="2400" dirty="0"/>
              <a:t>The size of the population the sample represents.</a:t>
            </a:r>
          </a:p>
          <a:p>
            <a:r>
              <a:rPr lang="en-US" sz="2400" dirty="0"/>
              <a:t>If N &gt; 10,000, the precise magnitude is not very important.</a:t>
            </a:r>
          </a:p>
          <a:p>
            <a:r>
              <a:rPr lang="en-US" sz="2400" dirty="0"/>
              <a:t>If N &lt; 10,000, a smaller sample size may be required.</a:t>
            </a:r>
          </a:p>
          <a:p>
            <a:r>
              <a:rPr lang="en-US" sz="2400" dirty="0"/>
              <a:t>For comparing two groups, you need the difference to be detected and the power of the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Formula for Estimating a Proportion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For a very large population (N &gt; 10,000), the minimum sample size is:</a:t>
            </a:r>
          </a:p>
          <a:p>
            <a:r>
              <a:rPr dirty="0"/>
              <a:t>n = Z²p</a:t>
            </a:r>
            <a:r>
              <a:rPr lang="en-US" dirty="0"/>
              <a:t> </a:t>
            </a:r>
            <a:r>
              <a:rPr dirty="0"/>
              <a:t>(1-p) / w²</a:t>
            </a:r>
          </a:p>
          <a:p>
            <a:pPr lvl="1"/>
            <a:r>
              <a:rPr lang="en-US" dirty="0"/>
              <a:t>p = estimated proportion</a:t>
            </a:r>
          </a:p>
          <a:p>
            <a:pPr lvl="1"/>
            <a:r>
              <a:rPr lang="en-US" dirty="0"/>
              <a:t>w = margin of error</a:t>
            </a:r>
          </a:p>
          <a:p>
            <a:pPr lvl="1"/>
            <a:r>
              <a:rPr lang="en-US" dirty="0"/>
              <a:t>Z = Z-score for the confidence level (1.96 for 95% CI)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F47A-2676-ED2A-4F80-FE78A926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F056-0D72-6283-457D-DB796225B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Definitions </a:t>
            </a:r>
          </a:p>
          <a:p>
            <a:pPr lvl="1"/>
            <a:r>
              <a:rPr lang="en-US" b="1" dirty="0"/>
              <a:t>p</a:t>
            </a:r>
            <a:r>
              <a:rPr lang="en-US" dirty="0"/>
              <a:t> = estimated proportion - the expected percentage or fraction of people in the population who have a certain characteristic or outcome.</a:t>
            </a:r>
          </a:p>
          <a:p>
            <a:pPr lvl="2"/>
            <a:r>
              <a:rPr lang="en-US" dirty="0"/>
              <a:t>Example: if you think 26% of people have a disease, then p = 0.26.</a:t>
            </a:r>
          </a:p>
          <a:p>
            <a:pPr lvl="1"/>
            <a:r>
              <a:rPr lang="en-US" b="1" dirty="0"/>
              <a:t>w</a:t>
            </a:r>
            <a:r>
              <a:rPr lang="en-US" dirty="0"/>
              <a:t> = margin of error - the amount of error you are willing to accept in the study results.</a:t>
            </a:r>
          </a:p>
          <a:p>
            <a:pPr lvl="2"/>
            <a:r>
              <a:rPr lang="en-US" dirty="0"/>
              <a:t>Example: if you allow results to vary by ±5%, then w = 0.05.</a:t>
            </a:r>
          </a:p>
          <a:p>
            <a:pPr lvl="1"/>
            <a:r>
              <a:rPr lang="en-US" dirty="0"/>
              <a:t>Z = Z-score for the confidence level - a number that represents how confident you want to be that the sample result reflects the true population value.</a:t>
            </a:r>
          </a:p>
          <a:p>
            <a:pPr lvl="2"/>
            <a:r>
              <a:rPr lang="en-US" dirty="0"/>
              <a:t>Example: for a 95% confidence level, Z = 1.96.95% confidence level (CI)   means you are 95% confident that the true population value falls within the calculated range.</a:t>
            </a:r>
          </a:p>
        </p:txBody>
      </p:sp>
    </p:spTree>
    <p:extLst>
      <p:ext uri="{BB962C8B-B14F-4D97-AF65-F5344CB8AC3E}">
        <p14:creationId xmlns:p14="http://schemas.microsoft.com/office/powerpoint/2010/main" val="1212997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Sample Size Calculation Example (Prevalence)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Scenario: p = 0.26 , w = 0.03 , Z = 1.96</a:t>
            </a:r>
          </a:p>
          <a:p>
            <a:endParaRPr lang="en-US" sz="2400" dirty="0"/>
          </a:p>
          <a:p>
            <a:r>
              <a:rPr sz="2400" dirty="0"/>
              <a:t>Calculation: n = (1.96)² (0.26 × 0.74) / (0.03)²</a:t>
            </a:r>
          </a:p>
          <a:p>
            <a:endParaRPr lang="en-US" sz="2400" dirty="0"/>
          </a:p>
          <a:p>
            <a:r>
              <a:rPr sz="2400" dirty="0"/>
              <a:t>Result: n = 821.25 ≈ 822 subjects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Adjusting Sample Size for a Small Population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err="1"/>
              <a:t>Finite</a:t>
            </a:r>
            <a:r>
              <a:rPr lang="fr-FR" dirty="0"/>
              <a:t> Population Correction (FPC) formula - </a:t>
            </a:r>
            <a:r>
              <a:rPr lang="en-US" dirty="0"/>
              <a:t>It is a formula used to </a:t>
            </a:r>
            <a:r>
              <a:rPr lang="en-US" b="1" dirty="0"/>
              <a:t>reduce the required sample size when the total population is small</a:t>
            </a:r>
            <a:r>
              <a:rPr lang="en-US" dirty="0"/>
              <a:t>.</a:t>
            </a:r>
          </a:p>
          <a:p>
            <a:r>
              <a:rPr lang="en-US" dirty="0"/>
              <a:t>It is typically applied when the sample size (\(n\)) is a significant portion—generally 5% or more—of the total population size (\(N\)).</a:t>
            </a:r>
          </a:p>
          <a:p>
            <a:r>
              <a:rPr dirty="0"/>
              <a:t>If the population is small an adjustment is made.</a:t>
            </a:r>
          </a:p>
          <a:p>
            <a:r>
              <a:rPr lang="en-US" dirty="0"/>
              <a:t>Here is the formula</a:t>
            </a:r>
          </a:p>
          <a:p>
            <a:pPr lvl="1"/>
            <a:r>
              <a:rPr lang="en-US" dirty="0"/>
              <a:t>n = sample size - the number of people or observations needed in the study.</a:t>
            </a:r>
          </a:p>
          <a:p>
            <a:pPr lvl="1"/>
            <a:r>
              <a:rPr lang="en-US" dirty="0"/>
              <a:t>N = population size - the total number of people or items in the population being studied. Let's say in the below example is 3000. </a:t>
            </a:r>
          </a:p>
          <a:p>
            <a:r>
              <a:rPr lang="en-US" dirty="0"/>
              <a:t>Formula </a:t>
            </a:r>
          </a:p>
          <a:p>
            <a:pPr lvl="1"/>
            <a:r>
              <a:rPr dirty="0"/>
              <a:t>Formula: </a:t>
            </a:r>
            <a:r>
              <a:rPr dirty="0" err="1"/>
              <a:t>n_adjusted</a:t>
            </a:r>
            <a:r>
              <a:rPr dirty="0"/>
              <a:t> = n / (1 + (n/N))</a:t>
            </a:r>
          </a:p>
          <a:p>
            <a:pPr lvl="1"/>
            <a:endParaRPr lang="en-US" dirty="0"/>
          </a:p>
          <a:p>
            <a:pPr lvl="1"/>
            <a:r>
              <a:rPr dirty="0"/>
              <a:t>Example: 821.25 / (1 + (821.25/3000)) = 644.7 ≈ 645 subjects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Maximum Variance Principle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If you have </a:t>
            </a:r>
            <a:r>
              <a:rPr lang="en-US" sz="2400" dirty="0"/>
              <a:t>NO</a:t>
            </a:r>
            <a:r>
              <a:rPr sz="2400" dirty="0"/>
              <a:t> information about the true proportion (P), use P = 50%.</a:t>
            </a:r>
          </a:p>
          <a:p>
            <a:endParaRPr lang="en-US" sz="2400" dirty="0"/>
          </a:p>
          <a:p>
            <a:r>
              <a:rPr sz="2400" dirty="0"/>
              <a:t>This gives the maximum possible value of P(1-P) which is 25%.</a:t>
            </a:r>
          </a:p>
          <a:p>
            <a:endParaRPr lang="en-US" sz="2400" dirty="0"/>
          </a:p>
          <a:p>
            <a:r>
              <a:rPr sz="2400" dirty="0"/>
              <a:t>This ensures your sample size is large enough for any proportion.</a:t>
            </a:r>
          </a:p>
          <a:p>
            <a:endParaRPr lang="en-US" sz="2400" dirty="0"/>
          </a:p>
          <a:p>
            <a:r>
              <a:rPr sz="2400" dirty="0"/>
              <a:t>Example: n = (1.96)² (0.5 × 0.5) / (0.05)² = 384.2 ≈ 385 patients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Accounting for Non-compliance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If you anticipate subjects failing to comply, increase the sample size.</a:t>
            </a:r>
          </a:p>
          <a:p>
            <a:endParaRPr lang="en-US" dirty="0"/>
          </a:p>
          <a:p>
            <a:r>
              <a:rPr dirty="0"/>
              <a:t>If 15% non-compliance is anticipated: n = (1 / (1 - 0.15)) × initial n</a:t>
            </a:r>
          </a:p>
          <a:p>
            <a:endParaRPr lang="en-US" dirty="0"/>
          </a:p>
          <a:p>
            <a:r>
              <a:rPr dirty="0"/>
              <a:t>Example: n = (1 / 0.85) × 246 = 289.4 ≈ 290 men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Data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Why is it needed?</a:t>
            </a:r>
          </a:p>
          <a:p>
            <a:pPr lvl="1"/>
            <a:r>
              <a:rPr sz="2000" dirty="0"/>
              <a:t>To have a clear overview of what tasks to do, who will do them, and for how long.</a:t>
            </a:r>
          </a:p>
          <a:p>
            <a:pPr lvl="1"/>
            <a:r>
              <a:rPr sz="2000" dirty="0"/>
              <a:t>To organize human and material resources efficiently.</a:t>
            </a:r>
          </a:p>
          <a:p>
            <a:pPr lvl="1"/>
            <a:r>
              <a:rPr sz="2000" dirty="0"/>
              <a:t>To minimize errors and delays (e.g., population not available, misplaced forms).</a:t>
            </a:r>
            <a:endParaRPr lang="en-US" sz="2000" dirty="0"/>
          </a:p>
          <a:p>
            <a:r>
              <a:rPr lang="en-US" sz="2000" dirty="0"/>
              <a:t>Three stages needed for data collection</a:t>
            </a:r>
          </a:p>
          <a:p>
            <a:r>
              <a:rPr lang="en-US" sz="2000" dirty="0"/>
              <a:t>Stage 1: Permission to proceed</a:t>
            </a:r>
          </a:p>
          <a:p>
            <a:pPr lvl="1"/>
            <a:r>
              <a:rPr lang="en-US" sz="2000" dirty="0"/>
              <a:t>Obtain consent from authorities, communities, and individuals.</a:t>
            </a:r>
          </a:p>
          <a:p>
            <a:r>
              <a:rPr lang="en-US" sz="2000" dirty="0"/>
              <a:t>Stage 2: Data collection</a:t>
            </a:r>
          </a:p>
          <a:p>
            <a:pPr lvl="1"/>
            <a:r>
              <a:rPr lang="en-US" sz="2000" dirty="0"/>
              <a:t>Focus on logistics and quality control.</a:t>
            </a:r>
          </a:p>
          <a:p>
            <a:r>
              <a:rPr lang="en-US" sz="2000" dirty="0"/>
              <a:t>Stage 3: Data handling</a:t>
            </a:r>
          </a:p>
          <a:p>
            <a:pPr lvl="1"/>
            <a:r>
              <a:rPr lang="en-US" sz="2000" dirty="0"/>
              <a:t>Develop a clear procedure for handling and storing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Logistics of Data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WHO will collect WHAT data?</a:t>
            </a:r>
          </a:p>
          <a:p>
            <a:pPr lvl="1"/>
            <a:r>
              <a:rPr dirty="0"/>
              <a:t>List all tasks and identify who is best suited for each.</a:t>
            </a:r>
          </a:p>
          <a:p>
            <a:pPr lvl="1"/>
            <a:r>
              <a:rPr dirty="0"/>
              <a:t>Consider research assistants for simple, time-consuming tasks.</a:t>
            </a:r>
          </a:p>
          <a:p>
            <a:endParaRPr lang="en-US" sz="2400" dirty="0"/>
          </a:p>
          <a:p>
            <a:r>
              <a:rPr sz="2400" dirty="0"/>
              <a:t>HOW LONG will it take?</a:t>
            </a:r>
          </a:p>
          <a:p>
            <a:pPr lvl="1"/>
            <a:r>
              <a:rPr dirty="0"/>
              <a:t>Consider time to reach areas, locate study units, and number of visits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Methods of Data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/>
              <a:t>The most commonly used methods for quantitative data are:</a:t>
            </a:r>
          </a:p>
          <a:p>
            <a:pPr lvl="1"/>
            <a:r>
              <a:rPr lang="en-US" sz="2000" dirty="0"/>
              <a:t>Documentary Sources – collecting information from existing records or documents such as medical records, census reports, or official publications.</a:t>
            </a:r>
          </a:p>
          <a:p>
            <a:pPr lvl="1"/>
            <a:r>
              <a:rPr lang="en-US" sz="2000" dirty="0"/>
              <a:t>Interviews – asking questions directly to respondents, either face-to-face, by phone, or online.</a:t>
            </a:r>
          </a:p>
          <a:p>
            <a:pPr lvl="1"/>
            <a:r>
              <a:rPr lang="en-US" sz="2000" dirty="0"/>
              <a:t>Self-administered Questionnaires – respondents read and answer the questions themselves.</a:t>
            </a:r>
          </a:p>
          <a:p>
            <a:pPr lvl="1"/>
            <a:r>
              <a:rPr lang="en-US" sz="2000" dirty="0"/>
              <a:t>Observation – collecting data by watching and recording behaviors, events, or conditions.</a:t>
            </a:r>
          </a:p>
          <a:p>
            <a:pPr lvl="1"/>
            <a:r>
              <a:rPr lang="en-US" sz="2000" dirty="0"/>
              <a:t>Focus Group Discussions (FGDs) – guided group discussions used to collect opinions, perceptions, and experiences.</a:t>
            </a:r>
          </a:p>
          <a:p>
            <a:pPr lvl="1"/>
            <a:r>
              <a:rPr lang="en-US" sz="2000" dirty="0"/>
              <a:t>Qualitative Interviews – open or semi-structured interviews used to obtain detailed information and deeper understanding.</a:t>
            </a:r>
          </a:p>
          <a:p>
            <a:pPr lvl="1"/>
            <a:r>
              <a:rPr lang="en-US" sz="2000" dirty="0"/>
              <a:t>Surveys – systematic collection of information from a group of people, often using questionnaires or interviews.</a:t>
            </a:r>
          </a:p>
          <a:p>
            <a:r>
              <a:rPr sz="2400" dirty="0"/>
              <a:t>The choice is based on the accuracy of information and practical considerations (time, cost, personnel).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Documentary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</a:t>
            </a:r>
          </a:p>
          <a:p>
            <a:pPr lvl="1"/>
            <a:r>
              <a:rPr sz="2000" dirty="0"/>
              <a:t>Documents provide ready-made information relatively easily.</a:t>
            </a:r>
          </a:p>
          <a:p>
            <a:pPr lvl="1"/>
            <a:r>
              <a:rPr sz="2000" dirty="0"/>
              <a:t>They are the best means of studying past events.</a:t>
            </a:r>
          </a:p>
          <a:p>
            <a:pPr lvl="1"/>
            <a:r>
              <a:rPr sz="2000" dirty="0"/>
              <a:t>Examples: clinical records, death certificates, census publications.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sz="2000" dirty="0"/>
              <a:t>Problems of reliability and validity (different data collectors, varying definitions).</a:t>
            </a:r>
          </a:p>
          <a:p>
            <a:pPr lvl="1"/>
            <a:r>
              <a:rPr lang="en-US" sz="2000" dirty="0"/>
              <a:t>Errors can occur when extracting information from records.</a:t>
            </a:r>
          </a:p>
          <a:p>
            <a:pPr lvl="1"/>
            <a:r>
              <a:rPr lang="en-US" sz="2000" dirty="0"/>
              <a:t>Information required may be missing because records were kept for administrative, not research, purposes.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Interviews vs. Self-administered Questionnaires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Two types of interviews </a:t>
            </a:r>
          </a:p>
          <a:p>
            <a:r>
              <a:rPr lang="en-US" sz="2400" dirty="0"/>
              <a:t>Structured interview: </a:t>
            </a:r>
          </a:p>
          <a:p>
            <a:pPr lvl="1"/>
            <a:r>
              <a:rPr lang="en-US" sz="1800" dirty="0"/>
              <a:t>uses a fixed set of pre-planned questions asked in the same order to all respondents.</a:t>
            </a:r>
          </a:p>
          <a:p>
            <a:pPr lvl="1"/>
            <a:r>
              <a:rPr lang="en-US" sz="1800" dirty="0"/>
              <a:t>Responses in structured interviews are usually standardized and easy to compare and analyze.</a:t>
            </a:r>
          </a:p>
          <a:p>
            <a:pPr lvl="1"/>
            <a:r>
              <a:rPr lang="en-US" sz="1800" dirty="0"/>
              <a:t>Structured interviews are suitable for quantitative research and large surveys.</a:t>
            </a:r>
          </a:p>
          <a:p>
            <a:endParaRPr lang="en-US" sz="2400" dirty="0"/>
          </a:p>
          <a:p>
            <a:r>
              <a:rPr lang="en-US" sz="2400" dirty="0"/>
              <a:t>Unstructured interview: </a:t>
            </a:r>
          </a:p>
          <a:p>
            <a:pPr lvl="1"/>
            <a:r>
              <a:rPr lang="en-US" sz="1800" dirty="0"/>
              <a:t>uses open-ended and flexible questions without a strict format.</a:t>
            </a:r>
          </a:p>
          <a:p>
            <a:pPr lvl="1"/>
            <a:r>
              <a:rPr lang="en-US" sz="1800" dirty="0"/>
              <a:t>Unstructured interviews allow deeper exploration of opinions, feelings, and experiences.</a:t>
            </a:r>
          </a:p>
          <a:p>
            <a:pPr lvl="1"/>
            <a:r>
              <a:rPr lang="en-US" sz="1800" dirty="0"/>
              <a:t>Unstructured interviews are mainly used in qualitative research to obtain detailed information.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9BF3-F664-9D03-9B4D-9AD09833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4019-2D48-573B-18E5-BFEDF641D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Self-administered questionnaires: </a:t>
            </a:r>
          </a:p>
          <a:p>
            <a:endParaRPr lang="en-US" dirty="0"/>
          </a:p>
          <a:p>
            <a:pPr lvl="1"/>
            <a:r>
              <a:rPr lang="en-US" dirty="0"/>
              <a:t>the respondent reads the questions and fills in the answers by himself (sometimes in the presence of an interviewer who “stands by” to give assistance if necessary.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Questionnaires are simpler, cheaper, and can reach many people simultaneously.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However, they demand a certain level of education from the respondent.</a:t>
            </a:r>
          </a:p>
        </p:txBody>
      </p:sp>
    </p:spTree>
    <p:extLst>
      <p:ext uri="{BB962C8B-B14F-4D97-AF65-F5344CB8AC3E}">
        <p14:creationId xmlns:p14="http://schemas.microsoft.com/office/powerpoint/2010/main" val="3114836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Advantages of Interviews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good interviewer can stimulate and maintain the respondent’s interest.</a:t>
            </a:r>
          </a:p>
          <a:p>
            <a:endParaRPr lang="en-US" sz="2400" dirty="0"/>
          </a:p>
          <a:p>
            <a:r>
              <a:rPr sz="2400" dirty="0"/>
              <a:t>Can repeat questions not understood and ask follow-up “probing” questions.</a:t>
            </a:r>
          </a:p>
          <a:p>
            <a:endParaRPr lang="en-US" sz="2400" dirty="0"/>
          </a:p>
          <a:p>
            <a:r>
              <a:rPr sz="2400" dirty="0"/>
              <a:t>Can allay anxiety and make observations during the interview.</a:t>
            </a:r>
          </a:p>
          <a:p>
            <a:endParaRPr lang="en-US" sz="2400" dirty="0"/>
          </a:p>
          <a:p>
            <a:r>
              <a:rPr sz="2400" dirty="0"/>
              <a:t>Apart from expense, interviews are preferable if conducted by skilled interviewers.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Questionnaire Design – Open vs. Closed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“Open-ended” questions: the subject answers in their own words.</a:t>
            </a:r>
          </a:p>
          <a:p>
            <a:endParaRPr lang="en-US" dirty="0"/>
          </a:p>
          <a:p>
            <a:r>
              <a:rPr dirty="0"/>
              <a:t>“Closed” questions: the subject chooses from a set of fixed alternative responses.</a:t>
            </a:r>
          </a:p>
          <a:p>
            <a:endParaRPr lang="en-US" dirty="0"/>
          </a:p>
          <a:p>
            <a:r>
              <a:rPr dirty="0"/>
              <a:t>The choice depends on the type of information needed and the method of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Guidelines for Questionnaires (Part 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Use familiar and appropriate language; avoid abbreviations and double negatives.</a:t>
            </a:r>
          </a:p>
          <a:p>
            <a:endParaRPr lang="en-US" dirty="0"/>
          </a:p>
          <a:p>
            <a:r>
              <a:rPr dirty="0"/>
              <a:t>Avoid asking two things in one question.</a:t>
            </a:r>
          </a:p>
          <a:p>
            <a:endParaRPr lang="en-US" dirty="0"/>
          </a:p>
          <a:p>
            <a:r>
              <a:rPr dirty="0"/>
              <a:t>Pre-code responses to facilitate data processing.</a:t>
            </a:r>
          </a:p>
          <a:p>
            <a:endParaRPr lang="en-US" dirty="0"/>
          </a:p>
          <a:p>
            <a:r>
              <a:rPr dirty="0"/>
              <a:t>Avoid embarrassing, painful, and leading questions.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Guidelines for Questionnaires (Part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Start with simpler questions; arrange in a logical sequence.</a:t>
            </a:r>
          </a:p>
          <a:p>
            <a:endParaRPr lang="en-US" sz="2400" dirty="0"/>
          </a:p>
          <a:p>
            <a:r>
              <a:rPr sz="2400" dirty="0"/>
              <a:t>Provide “other” or “don’t know” options where appropriate.</a:t>
            </a:r>
          </a:p>
          <a:p>
            <a:endParaRPr lang="en-US" sz="2400" dirty="0"/>
          </a:p>
          <a:p>
            <a:r>
              <a:rPr sz="2400" dirty="0"/>
              <a:t>Include clear units of measurement (years, months, kgs).</a:t>
            </a:r>
          </a:p>
          <a:p>
            <a:endParaRPr lang="en-US" sz="2400" dirty="0"/>
          </a:p>
          <a:p>
            <a:r>
              <a:rPr sz="2400" dirty="0"/>
              <a:t>Pre-test the questionnaire on 20–50 respondents in an actual field situation.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Combining Data-Collection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skillful combination can maximize data quality and reduce bias.</a:t>
            </a:r>
          </a:p>
          <a:p>
            <a:endParaRPr lang="en-US" sz="2400" dirty="0"/>
          </a:p>
          <a:p>
            <a:r>
              <a:rPr sz="2400" dirty="0"/>
              <a:t>Flexible techniques (open-ended interviews, focus groups) produce qualitative information.</a:t>
            </a:r>
          </a:p>
          <a:p>
            <a:endParaRPr lang="en-US" sz="2400" dirty="0"/>
          </a:p>
          <a:p>
            <a:r>
              <a:rPr sz="2400" dirty="0"/>
              <a:t>Structured questionnaires produce quantitative information (answers can be counted).</a:t>
            </a:r>
          </a:p>
          <a:p>
            <a:endParaRPr lang="en-US" sz="2400" dirty="0"/>
          </a:p>
          <a:p>
            <a:r>
              <a:rPr sz="2400" dirty="0"/>
              <a:t>Both qualitative and quantitative techniques are often used in a single study.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Methods of Collecting Qualitative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Qualitative approaches involve direct interaction with individuals or groups.</a:t>
            </a:r>
          </a:p>
          <a:p>
            <a:endParaRPr lang="en-US" sz="2400" dirty="0"/>
          </a:p>
          <a:p>
            <a:r>
              <a:rPr sz="2400" dirty="0"/>
              <a:t>Data collection is time-consuming and from fewer people than quantitative surveys.</a:t>
            </a:r>
          </a:p>
          <a:p>
            <a:endParaRPr lang="en-US" sz="2400" dirty="0"/>
          </a:p>
          <a:p>
            <a:r>
              <a:rPr sz="2400" dirty="0"/>
              <a:t>Main methods: individual interviews, focus groups, and observation.</a:t>
            </a:r>
          </a:p>
          <a:p>
            <a:endParaRPr lang="en-US" sz="2400" dirty="0"/>
          </a:p>
          <a:p>
            <a:r>
              <a:rPr sz="2400" dirty="0"/>
              <a:t>Benefits: richness of data and deeper insight into the phenomena under study.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Qualitative Interviews </a:t>
            </a:r>
            <a:r>
              <a:rPr lang="en-US" sz="3200" dirty="0"/>
              <a:t>– Semi-structured and Unstructured</a:t>
            </a:r>
            <a:endParaRPr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Semi-structured: interviewer has a list of open-ended questions but can explore topics in depth.</a:t>
            </a:r>
          </a:p>
          <a:p>
            <a:endParaRPr lang="en-US" sz="2400" dirty="0"/>
          </a:p>
          <a:p>
            <a:r>
              <a:rPr sz="2400" dirty="0"/>
              <a:t>Unstructured (in-depth): very little structure; covers a few topics in great detail.</a:t>
            </a:r>
          </a:p>
          <a:p>
            <a:endParaRPr lang="en-US" sz="2400" dirty="0"/>
          </a:p>
          <a:p>
            <a:r>
              <a:rPr sz="2400" dirty="0"/>
              <a:t>Interviews should feel like a conversation, not a formal Q&amp;A session.</a:t>
            </a:r>
          </a:p>
          <a:p>
            <a:endParaRPr lang="en-US" sz="2400" dirty="0"/>
          </a:p>
          <a:p>
            <a:r>
              <a:rPr sz="2400" dirty="0"/>
              <a:t>Achieving this informal style requires careful planning and skill.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Focus Group Discussions – Characteristics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 focus group discussion (FGD) is a guided discussion with 6–12 persons.</a:t>
            </a:r>
          </a:p>
          <a:p>
            <a:endParaRPr lang="en-US" sz="2400" dirty="0"/>
          </a:p>
          <a:p>
            <a:r>
              <a:rPr sz="2400" dirty="0"/>
              <a:t>Members talk freely and spontaneously about a specific topic.</a:t>
            </a:r>
          </a:p>
          <a:p>
            <a:endParaRPr lang="en-US" sz="2400" dirty="0"/>
          </a:p>
          <a:p>
            <a:r>
              <a:rPr sz="2400" dirty="0"/>
              <a:t>The purpose is to obtain in-depth information on concepts, perceptions, and ideas.</a:t>
            </a:r>
          </a:p>
          <a:p>
            <a:endParaRPr lang="en-US" sz="2400" dirty="0"/>
          </a:p>
          <a:p>
            <a:r>
              <a:rPr sz="2400" dirty="0"/>
              <a:t>It aims to be more than a question-answer interaction.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Uses of Focus Group Discussions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Develop relevant research hypotheses by exploring a problem in depth.</a:t>
            </a:r>
          </a:p>
          <a:p>
            <a:endParaRPr lang="en-US" sz="2400" dirty="0"/>
          </a:p>
          <a:p>
            <a:r>
              <a:rPr sz="2400" dirty="0"/>
              <a:t>Formulate appropriate questions for larger, structured surveys.</a:t>
            </a:r>
          </a:p>
          <a:p>
            <a:endParaRPr lang="en-US" sz="2400" dirty="0"/>
          </a:p>
          <a:p>
            <a:r>
              <a:rPr sz="2400" dirty="0"/>
              <a:t>Supplement incomplete or unclear information on community knowledge and attitudes.</a:t>
            </a:r>
          </a:p>
          <a:p>
            <a:endParaRPr lang="en-US" sz="2400" dirty="0"/>
          </a:p>
          <a:p>
            <a:r>
              <a:rPr sz="2400" dirty="0"/>
              <a:t>FGDs are not used to test hypotheses or produce generalizable findings.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Conducting a Focus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Recruit participants with similar socioeconomic background for free discussion.</a:t>
            </a:r>
          </a:p>
          <a:p>
            <a:endParaRPr lang="en-US" sz="2400" dirty="0"/>
          </a:p>
          <a:p>
            <a:r>
              <a:rPr sz="2400" dirty="0"/>
              <a:t>Arrange chairs in a circle; ensure a quiet, well-lit setting without disturbances.</a:t>
            </a:r>
          </a:p>
          <a:p>
            <a:endParaRPr lang="en-US" sz="2400" dirty="0"/>
          </a:p>
          <a:p>
            <a:r>
              <a:rPr sz="2400" dirty="0"/>
              <a:t>Use a discussion guide with open-ended questions.</a:t>
            </a:r>
          </a:p>
          <a:p>
            <a:endParaRPr lang="en-US" sz="2400" dirty="0"/>
          </a:p>
          <a:p>
            <a:r>
              <a:rPr sz="2400" dirty="0"/>
              <a:t>The facilitator encourages involvement, controls time, and summarizes at the end.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Observation as a Data-Collection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Does not always require direct interaction with people.</a:t>
            </a:r>
          </a:p>
          <a:p>
            <a:endParaRPr lang="en-US" sz="2400" dirty="0"/>
          </a:p>
          <a:p>
            <a:r>
              <a:rPr sz="2400" dirty="0"/>
              <a:t>Can be used when other data is of limited value or difficult to validate.</a:t>
            </a:r>
          </a:p>
          <a:p>
            <a:endParaRPr lang="en-US" sz="2400" dirty="0"/>
          </a:p>
          <a:p>
            <a:r>
              <a:rPr sz="2400" dirty="0"/>
              <a:t>Observing actual behavior is more reliable than reported behavior.</a:t>
            </a:r>
          </a:p>
          <a:p>
            <a:endParaRPr lang="en-US" sz="2400" dirty="0"/>
          </a:p>
          <a:p>
            <a:r>
              <a:rPr sz="2400" dirty="0"/>
              <a:t>Also useful for observing the physical environment to provide valuable background information.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 Quality Checks at the Time of Interview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Check consistency: ask similar questions at start and end, or repeat in another form.</a:t>
            </a:r>
          </a:p>
          <a:p>
            <a:endParaRPr lang="en-US" sz="2400" dirty="0"/>
          </a:p>
          <a:p>
            <a:r>
              <a:rPr sz="2400" dirty="0"/>
              <a:t>Check for completeness right at the end of the interview.</a:t>
            </a:r>
          </a:p>
          <a:p>
            <a:endParaRPr lang="en-US" sz="2400" dirty="0"/>
          </a:p>
          <a:p>
            <a:r>
              <a:rPr sz="2400" dirty="0"/>
              <a:t>Use strict supervision and on-the-spot re-interviewing.</a:t>
            </a:r>
          </a:p>
          <a:p>
            <a:endParaRPr lang="en-US" sz="2400" dirty="0"/>
          </a:p>
          <a:p>
            <a:r>
              <a:rPr sz="2400" dirty="0"/>
              <a:t>Look out for odd or illogical answers.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Confidentiality and Handling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State confidentiality on the top of the first page of the questionnaire.</a:t>
            </a:r>
          </a:p>
          <a:p>
            <a:endParaRPr lang="en-US" sz="2400" dirty="0"/>
          </a:p>
          <a:p>
            <a:r>
              <a:rPr sz="2400" dirty="0"/>
              <a:t>Use code numbers instead of names where possible.</a:t>
            </a:r>
          </a:p>
          <a:p>
            <a:endParaRPr lang="en-US" sz="2400" dirty="0"/>
          </a:p>
          <a:p>
            <a:r>
              <a:rPr sz="2400" dirty="0"/>
              <a:t>Explain the purpose of the study at the beginning.</a:t>
            </a:r>
          </a:p>
          <a:p>
            <a:endParaRPr lang="en-US" sz="2400" dirty="0"/>
          </a:p>
          <a:p>
            <a:r>
              <a:rPr sz="2400" dirty="0"/>
              <a:t>The respondent has the right to refuse to be interviewed.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Why Ethical Approval Is Necessary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Historical atrocities (Nazi experiments, Tuskegee Syphilis Study) underscore the need.</a:t>
            </a:r>
          </a:p>
          <a:p>
            <a:endParaRPr lang="en-US" sz="2400" dirty="0"/>
          </a:p>
          <a:p>
            <a:r>
              <a:rPr sz="2400" dirty="0"/>
              <a:t>Ethical decisions are based on three approaches: duty, rights, and goal-based.</a:t>
            </a:r>
          </a:p>
          <a:p>
            <a:endParaRPr lang="en-US" sz="2400" dirty="0"/>
          </a:p>
          <a:p>
            <a:r>
              <a:rPr sz="2400" dirty="0"/>
              <a:t>A poorly designed or too-small study is itself unethical as it cannot demonstrate anything useful.</a:t>
            </a:r>
          </a:p>
          <a:p>
            <a:endParaRPr lang="en-US" sz="2400" dirty="0"/>
          </a:p>
          <a:p>
            <a:r>
              <a:rPr sz="2400" dirty="0"/>
              <a:t>Research must be judged on ethical principles, ethical rules, and scientific criteria.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Applying to an Ethics Committee – Research Validity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The Ethics Committee will first ask: Is the research valid?</a:t>
            </a:r>
          </a:p>
          <a:p>
            <a:endParaRPr lang="en-US" sz="2400" dirty="0"/>
          </a:p>
          <a:p>
            <a:r>
              <a:rPr sz="2400" dirty="0"/>
              <a:t>How important is the research question?</a:t>
            </a:r>
          </a:p>
          <a:p>
            <a:endParaRPr lang="en-US" sz="2400" dirty="0"/>
          </a:p>
          <a:p>
            <a:r>
              <a:rPr sz="2400" dirty="0"/>
              <a:t>Can the question actually be answered with the proposed design?</a:t>
            </a:r>
          </a:p>
          <a:p>
            <a:endParaRPr lang="en-US" sz="2400" dirty="0"/>
          </a:p>
          <a:p>
            <a:r>
              <a:rPr sz="2400" dirty="0"/>
              <a:t>If a study is poorly designed or too small, it cannot demonstrate anything useful and is therefore unethical.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Ethics Committee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/>
              <a:t>Is the welfare of the research subject under threat?</a:t>
            </a:r>
          </a:p>
          <a:p>
            <a:endParaRPr lang="en-US" sz="2400" dirty="0"/>
          </a:p>
          <a:p>
            <a:r>
              <a:rPr sz="2400" dirty="0"/>
              <a:t>What will participation involve?</a:t>
            </a:r>
          </a:p>
          <a:p>
            <a:endParaRPr lang="en-US" sz="2400" dirty="0"/>
          </a:p>
          <a:p>
            <a:r>
              <a:rPr sz="2400" dirty="0"/>
              <a:t>Are the risks necessary and acceptable?</a:t>
            </a:r>
          </a:p>
          <a:p>
            <a:endParaRPr lang="en-US" sz="2400" dirty="0"/>
          </a:p>
          <a:p>
            <a:r>
              <a:rPr sz="2400" dirty="0"/>
              <a:t>Is the dignity of the research subject upheld?</a:t>
            </a:r>
          </a:p>
          <a:p>
            <a:endParaRPr lang="en-US" sz="2400" dirty="0"/>
          </a:p>
          <a:p>
            <a:r>
              <a:rPr sz="2400" dirty="0"/>
              <a:t>Will consent be sought?</a:t>
            </a:r>
          </a:p>
          <a:p>
            <a:endParaRPr lang="en-US" sz="2400" dirty="0"/>
          </a:p>
          <a:p>
            <a:r>
              <a:rPr sz="2400" dirty="0"/>
              <a:t>Will confidentiality be respected?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Pretest or Pilot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Definitions</a:t>
            </a:r>
          </a:p>
          <a:p>
            <a:pPr lvl="1"/>
            <a:r>
              <a:rPr dirty="0"/>
              <a:t>A pretest: a small-scale trial of a particular research component (e.g., a questionnaire).</a:t>
            </a:r>
          </a:p>
          <a:p>
            <a:pPr lvl="1"/>
            <a:r>
              <a:rPr dirty="0"/>
              <a:t>A pilot study: carrying out a preliminary study with the entire research procedure on a small sample.</a:t>
            </a:r>
          </a:p>
          <a:p>
            <a:endParaRPr lang="en-US" dirty="0"/>
          </a:p>
          <a:p>
            <a:r>
              <a:rPr dirty="0"/>
              <a:t>Both are essential steps to identify potential problems in the proposed study.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Why Pretest?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dirty="0"/>
              <a:t>Simpler, less time-consuming, and less costly than a full pilot study.</a:t>
            </a:r>
          </a:p>
          <a:p>
            <a:pPr lvl="1"/>
            <a:r>
              <a:rPr dirty="0"/>
              <a:t>Examines the practicability, reliability, and suitability of methods.</a:t>
            </a:r>
          </a:p>
          <a:p>
            <a:pPr lvl="1"/>
            <a:r>
              <a:rPr dirty="0"/>
              <a:t>Respondent comments help improve the sequence and layout of the questionnaire.</a:t>
            </a:r>
          </a:p>
          <a:p>
            <a:pPr lvl="1"/>
            <a:r>
              <a:rPr dirty="0"/>
              <a:t>Reveals how long interviews will take, enabling better logistics planning.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Work Plan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dirty="0"/>
              <a:t>A work plan is a schedule, chart, or graph that summarizes how different project components will be implemented within a specific time span.</a:t>
            </a:r>
            <a:endParaRPr lang="en-US" dirty="0"/>
          </a:p>
          <a:p>
            <a:pPr lvl="1"/>
            <a:endParaRPr dirty="0"/>
          </a:p>
          <a:p>
            <a:r>
              <a:rPr dirty="0"/>
              <a:t>It includes:</a:t>
            </a:r>
          </a:p>
          <a:p>
            <a:pPr lvl="1"/>
            <a:r>
              <a:rPr dirty="0"/>
              <a:t>The tasks to be performed.</a:t>
            </a:r>
          </a:p>
          <a:p>
            <a:pPr lvl="1"/>
            <a:r>
              <a:rPr dirty="0"/>
              <a:t>When and where the tasks will be performed.</a:t>
            </a:r>
          </a:p>
          <a:p>
            <a:pPr lvl="1"/>
            <a:r>
              <a:rPr dirty="0"/>
              <a:t>Who will perform the tasks and the time each person spends on them.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GANTT 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A GANTT chart is a widely used planning tool that graphically depicts the order and duration of tasks.</a:t>
            </a:r>
          </a:p>
          <a:p>
            <a:endParaRPr lang="en-US" dirty="0"/>
          </a:p>
          <a:p>
            <a:r>
              <a:rPr dirty="0"/>
              <a:t>Each task is shown as a horizontal bar extending over the number of days, weeks, or months it takes.</a:t>
            </a:r>
          </a:p>
          <a:p>
            <a:endParaRPr lang="en-US" dirty="0"/>
          </a:p>
          <a:p>
            <a:r>
              <a:rPr dirty="0"/>
              <a:t>It provides a visual illustration of the sequence of project operations.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Uses of a Work Plan (Part 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A tool for planning the details of project activities and drafting a budget.</a:t>
            </a:r>
          </a:p>
          <a:p>
            <a:endParaRPr lang="en-US" dirty="0"/>
          </a:p>
          <a:p>
            <a:r>
              <a:rPr dirty="0"/>
              <a:t>A visual outline that facilitates presentations and negotiations with authorities and funding agencies.</a:t>
            </a:r>
          </a:p>
          <a:p>
            <a:endParaRPr lang="en-US" dirty="0"/>
          </a:p>
          <a:p>
            <a:r>
              <a:rPr dirty="0"/>
              <a:t>A management tool for the team leader and members, showing what activities are planned and when.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Summary – From Planning to Data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dirty="0"/>
              <a:t>The success of a research project depends on thorough planning.</a:t>
            </a:r>
          </a:p>
          <a:p>
            <a:r>
              <a:rPr dirty="0"/>
              <a:t>Key stages covered: determining sample size, planning data collection and analysis, considering ethical issues, and pre-testing tools.</a:t>
            </a:r>
          </a:p>
          <a:p>
            <a:r>
              <a:rPr dirty="0"/>
              <a:t>A clear work plan ties all these activities together, ensuring the study stays on track and within resource limits.</a:t>
            </a:r>
          </a:p>
          <a:p>
            <a:r>
              <a:rPr dirty="0"/>
              <a:t>Always remember: a well-planned study yields valid, reliable, and ethically sound results.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AFA4-397E-79B8-8DC6-0D08FB56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076" y="0"/>
            <a:ext cx="10515600" cy="1325563"/>
          </a:xfrm>
        </p:spPr>
        <p:txBody>
          <a:bodyPr/>
          <a:lstStyle/>
          <a:p>
            <a:r>
              <a:rPr lang="en-US" dirty="0"/>
              <a:t>Sample work plan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569FF7-B21F-E7DF-6A28-D4FEDBB46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57706"/>
              </p:ext>
            </p:extLst>
          </p:nvPr>
        </p:nvGraphicFramePr>
        <p:xfrm>
          <a:off x="425667" y="965475"/>
          <a:ext cx="10294882" cy="535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4733">
                  <a:extLst>
                    <a:ext uri="{9D8B030D-6E8A-4147-A177-3AD203B41FA5}">
                      <a16:colId xmlns:a16="http://schemas.microsoft.com/office/drawing/2014/main" val="1261065280"/>
                    </a:ext>
                  </a:extLst>
                </a:gridCol>
                <a:gridCol w="388024">
                  <a:extLst>
                    <a:ext uri="{9D8B030D-6E8A-4147-A177-3AD203B41FA5}">
                      <a16:colId xmlns:a16="http://schemas.microsoft.com/office/drawing/2014/main" val="2678117671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2748334706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3582760586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3621505764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2619746183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2993695575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1238966259"/>
                    </a:ext>
                  </a:extLst>
                </a:gridCol>
                <a:gridCol w="1018875">
                  <a:extLst>
                    <a:ext uri="{9D8B030D-6E8A-4147-A177-3AD203B41FA5}">
                      <a16:colId xmlns:a16="http://schemas.microsoft.com/office/drawing/2014/main" val="2498118575"/>
                    </a:ext>
                  </a:extLst>
                </a:gridCol>
              </a:tblGrid>
              <a:tr h="370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Phase / Key Activities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50860664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Phase 1: Proposal &amp; Approvals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98272114"/>
                  </a:ext>
                </a:extLst>
              </a:tr>
              <a:tr h="370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Literature Review &amp; Topic Refinement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863149219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Departmental &amp; Ethical Clearance (IRB)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210765187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Phase 2: Data Collection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985946094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Pre-testing the Data Collection Tool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056021402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Patient Observation / Chart Review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038086993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Phase 3: Data Entry &amp; Analysis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398159719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Data Entry &amp; Cleaning (e.g., SPSS)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013683802"/>
                  </a:ext>
                </a:extLst>
              </a:tr>
              <a:tr h="222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Statistical Analysis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655645461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Phase 4: Writing &amp; Defense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422406431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Finalizing the Research Report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█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549973460"/>
                  </a:ext>
                </a:extLst>
              </a:tr>
              <a:tr h="3494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Final Submission &amp; Thesis Defense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█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81936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601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A724-2470-893B-D135-1EFB0067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4963-0B85-D915-71B8-2B73E7B7C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356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3068</Words>
  <Application>Microsoft Office PowerPoint</Application>
  <PresentationFormat>Widescreen</PresentationFormat>
  <Paragraphs>465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Times New Roman</vt:lpstr>
      <vt:lpstr>Office Theme</vt:lpstr>
      <vt:lpstr>Research Methods 2</vt:lpstr>
      <vt:lpstr>Outline </vt:lpstr>
      <vt:lpstr>Objective </vt:lpstr>
      <vt:lpstr>Non-response as a Source of Bias</vt:lpstr>
      <vt:lpstr>Strategies to Reduce Non-response</vt:lpstr>
      <vt:lpstr>Key Fact about Selection Bias</vt:lpstr>
      <vt:lpstr>Sample size determination</vt:lpstr>
      <vt:lpstr>Sample Size Determination cont….</vt:lpstr>
      <vt:lpstr>Facts Needed for Sample Size Calculation</vt:lpstr>
      <vt:lpstr>Formula for Estimating a Proportion</vt:lpstr>
      <vt:lpstr>PowerPoint Presentation</vt:lpstr>
      <vt:lpstr>Sample Size Calculation Example (Prevalence)</vt:lpstr>
      <vt:lpstr>Adjusting Sample Size for a Small Population</vt:lpstr>
      <vt:lpstr>Maximum Variance Principle</vt:lpstr>
      <vt:lpstr>Accounting for Non-compliance</vt:lpstr>
      <vt:lpstr>Data Collection</vt:lpstr>
      <vt:lpstr>Logistics of Data Collection</vt:lpstr>
      <vt:lpstr>Methods of Data Collection</vt:lpstr>
      <vt:lpstr>Documentary Sources</vt:lpstr>
      <vt:lpstr>Interviews vs. Self-administered Questionnaires</vt:lpstr>
      <vt:lpstr>PowerPoint Presentation</vt:lpstr>
      <vt:lpstr>Advantages of Interviews</vt:lpstr>
      <vt:lpstr>Questionnaire Design – Open vs. Closed Questions</vt:lpstr>
      <vt:lpstr>Key Guidelines for Questionnaires (Part 1)</vt:lpstr>
      <vt:lpstr>Key Guidelines for Questionnaires (Part 2)</vt:lpstr>
      <vt:lpstr>Combining Data-Collection Techniques</vt:lpstr>
      <vt:lpstr>Methods of Collecting Qualitative Data</vt:lpstr>
      <vt:lpstr>Qualitative Interviews – Semi-structured and Unstructured</vt:lpstr>
      <vt:lpstr>Focus Group Discussions – Characteristics</vt:lpstr>
      <vt:lpstr>Uses of Focus Group Discussions</vt:lpstr>
      <vt:lpstr>Conducting a Focus Group Discussion</vt:lpstr>
      <vt:lpstr>Observation as a Data-Collection Method</vt:lpstr>
      <vt:lpstr>Data Quality Checks at the Time of Interview</vt:lpstr>
      <vt:lpstr>Confidentiality and Handling Information</vt:lpstr>
      <vt:lpstr>Why Ethical Approval Is Necessary</vt:lpstr>
      <vt:lpstr>Applying to an Ethics Committee – Research Validity</vt:lpstr>
      <vt:lpstr>Ethics Committee Questions</vt:lpstr>
      <vt:lpstr>Pretest or Pilot Study</vt:lpstr>
      <vt:lpstr>Why Pretest? </vt:lpstr>
      <vt:lpstr>Work Plan </vt:lpstr>
      <vt:lpstr>The GANTT Chart</vt:lpstr>
      <vt:lpstr>Uses of a Work Plan (Part 1)</vt:lpstr>
      <vt:lpstr>Summary – From Planning to Data Collection</vt:lpstr>
      <vt:lpstr>Sample work plan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wosen admasu</dc:creator>
  <cp:lastModifiedBy>wosen admasu</cp:lastModifiedBy>
  <cp:revision>2</cp:revision>
  <dcterms:created xsi:type="dcterms:W3CDTF">2026-05-07T11:50:49Z</dcterms:created>
  <dcterms:modified xsi:type="dcterms:W3CDTF">2026-05-07T13:19:28Z</dcterms:modified>
</cp:coreProperties>
</file>