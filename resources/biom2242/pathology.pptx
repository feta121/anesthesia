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015" autoAdjust="0"/>
  </p:normalViewPr>
  <p:slideViewPr>
    <p:cSldViewPr snapToGrid="0">
      <p:cViewPr varScale="1">
        <p:scale>
          <a:sx n="60" d="100"/>
          <a:sy n="60" d="100"/>
        </p:scale>
        <p:origin x="114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B920D3-1D66-4A8A-A0B0-C12A3701A58F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49DEF-3947-40CE-BFC6-5CC3112982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54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During early pregnancy, facial prominences (one from superior, two from the</a:t>
            </a:r>
          </a:p>
          <a:p>
            <a:r>
              <a:rPr lang="en-US" dirty="0"/>
              <a:t>sides, and two from inferior) grow and fuse together to form the face.</a:t>
            </a:r>
          </a:p>
          <a:p>
            <a:r>
              <a:rPr lang="en-US" dirty="0"/>
              <a:t>; isolated cleft lip or palate is less common.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4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lesions heal, but virus remains dormant in ganglia of the trigeminal nerve.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5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. Oral candidiasis is a white deposit on the tongue, which is easily scraped away (Fig. 10.4); usually seen in immunocompromised states</a:t>
            </a:r>
          </a:p>
          <a:p>
            <a:r>
              <a:rPr lang="en-US" dirty="0"/>
              <a:t>ii. Hairy leukoplakia is a white, rough ('hairy') patch that arises on the lateral tongue. It is usually seen in immunocompromised individuals (e.g., AIDS) and is due to EBY-induced squamous cell hyperplasia; not pre-malignant</a:t>
            </a:r>
          </a:p>
          <a:p>
            <a:r>
              <a:rPr lang="en-US" dirty="0"/>
              <a:t>.4. </a:t>
            </a:r>
            <a:r>
              <a:rPr lang="en-US" dirty="0" err="1"/>
              <a:t>Erythroplakia</a:t>
            </a:r>
            <a:r>
              <a:rPr lang="en-US" dirty="0"/>
              <a:t> and leukoplakia are often biopsied to rule out carcinoma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860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Serum amylase is increased due to salivary gland or pancreatic involvement.</a:t>
            </a:r>
          </a:p>
          <a:p>
            <a:r>
              <a:rPr lang="en-US" dirty="0"/>
              <a:t>2. Orchitis carries risk of sterility, especially in teenagers.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4387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>
                <a:latin typeface="MinionPro-Regular"/>
              </a:rPr>
              <a:t>C. High rate of recurrence; extension of small islands of tumor through tumor capsule</a:t>
            </a:r>
          </a:p>
          <a:p>
            <a:pPr algn="l"/>
            <a:r>
              <a:rPr lang="en-US" sz="1200" b="0" i="0" u="none" strike="noStrike" baseline="0" dirty="0">
                <a:latin typeface="MinionPro-Regular"/>
              </a:rPr>
              <a:t>often leads to incomplete resection (Fig. 10.5).</a:t>
            </a:r>
          </a:p>
          <a:p>
            <a:pPr algn="l"/>
            <a:r>
              <a:rPr lang="en-US" sz="1200" b="0" i="0" u="none" strike="noStrike" baseline="0" dirty="0">
                <a:latin typeface="MinionPro-Regular"/>
              </a:rPr>
              <a:t>D. Rarely may transform into carcinoma, which presents with signs of facial nerve</a:t>
            </a:r>
          </a:p>
          <a:p>
            <a:pPr algn="l"/>
            <a:r>
              <a:rPr lang="en-US" sz="1200" b="0" i="0" u="none" strike="noStrike" baseline="0" dirty="0">
                <a:latin typeface="MinionPro-Regular"/>
              </a:rPr>
              <a:t>damage (facial nerve runs through parotid gland)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5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Distal esophageal vein normally drains into the portal vein via the left gastric vein.</a:t>
            </a:r>
          </a:p>
          <a:p>
            <a:r>
              <a:rPr lang="en-US" dirty="0"/>
              <a:t>2. In portal hypertension, the left gastric vein backs up into the esophageal vein, resulting in dilation (varices).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397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baseline="0" dirty="0">
                <a:latin typeface="TimesNewRoman,Bold"/>
              </a:rPr>
              <a:t>1. </a:t>
            </a:r>
            <a:r>
              <a:rPr lang="en-US" sz="1200" b="0" i="0" u="none" strike="noStrike" baseline="0" dirty="0">
                <a:latin typeface="MinionPro-Regular"/>
              </a:rPr>
              <a:t>Defenses include mucin layer produced by foveolar cells, bicarbonate secretion by surface epithelium, and normal blood supply (provides nutrients and picks up leaked acid).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964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baseline="0" dirty="0">
                <a:latin typeface="MinionPro-Regular"/>
              </a:rPr>
              <a:t>1. Associated with antibodies against parietal cells and/or intrinsic factor; useful for diagnosis, but pathogenesis is mediated by T cells (type IV hypersensitivity)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88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 err="1">
                <a:latin typeface="MinionPro-Regular"/>
              </a:rPr>
              <a:t>i</a:t>
            </a:r>
            <a:r>
              <a:rPr lang="en-US" sz="1200" b="0" i="0" u="none" strike="noStrike" baseline="0" dirty="0">
                <a:latin typeface="MinionPro-Regular"/>
              </a:rPr>
              <a:t>. Benign peptic ulcers are usually small(&lt; 3 cm), sharply demarcated ("punched-out"), and surrounded by radiating folds of mucosa.</a:t>
            </a:r>
          </a:p>
          <a:p>
            <a:pPr algn="l"/>
            <a:r>
              <a:rPr lang="en-US" sz="1200" b="0" i="0" u="none" strike="noStrike" baseline="0" dirty="0">
                <a:latin typeface="MinionPro-Regular"/>
              </a:rPr>
              <a:t>ii. Malignant ulcers are large and irregular with heaped up margins.</a:t>
            </a:r>
          </a:p>
          <a:p>
            <a:pPr algn="l"/>
            <a:r>
              <a:rPr lang="en-US" sz="1200" b="0" i="0" u="none" strike="noStrike" baseline="0" dirty="0">
                <a:latin typeface="MinionPro-Regular"/>
              </a:rPr>
              <a:t>iii. Biopsy is required for definitive diagnosis.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5516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most commonly involves the lesser curvature of the antrum (similar to gastric ulcer)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81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Seen in 2% of the population (most common congenital anomaly of the GI tract)</a:t>
            </a:r>
          </a:p>
          <a:p>
            <a:r>
              <a:rPr lang="en-US" dirty="0"/>
              <a:t>2. 2 inches long and located in the small bowel within 2 feet of the ileocecal valve</a:t>
            </a:r>
          </a:p>
          <a:p>
            <a:r>
              <a:rPr lang="en-US" dirty="0"/>
              <a:t>3. Can present during the first 2 years of life with bleeding (due to heterotopic gastric mucosa), volvulus, intussusception, or obstruction (mimics appendicitis); however, most cases are asymptomatic.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01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In children, the most common cause is lymphoid hyperplasia (e.g., due to rotavirus); usually arises in the terminal ileum, leading to intussusception into the cecum</a:t>
            </a:r>
          </a:p>
          <a:p>
            <a:r>
              <a:rPr lang="en-US" dirty="0"/>
              <a:t>2. In adults, the most common cause is tumor.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725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Celiac disease, tropical sprue, Whipple disease, </a:t>
            </a:r>
            <a:r>
              <a:rPr lang="en-US" dirty="0" err="1"/>
              <a:t>Abetalipoprotienemia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324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/>
              <a:t>Tumor cells contain neurosecretory granules that are positive for chromogranin.</a:t>
            </a:r>
          </a:p>
          <a:p>
            <a:r>
              <a:rPr lang="en-US" dirty="0"/>
              <a:t>1. Serotonin is released into the portal circulation and metabolized by liver monoamine oxidase (MAO) into 5-HIAA.</a:t>
            </a:r>
          </a:p>
          <a:p>
            <a:r>
              <a:rPr lang="en-US" dirty="0"/>
              <a:t>2. 5-HIAA is excreted in the urine.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963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symptoms can be triggered by alcohol or emotional stress, which stimulate serotonin release from the tumor.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890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More prevalent in the West, particularly in Caucasians and Eastern European Jews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87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b="0" i="0" u="none" strike="noStrike" baseline="0" dirty="0">
                <a:latin typeface="MinionPro-Regular"/>
              </a:rPr>
              <a:t>1. Myenteric (Auerbach) plexus is located between the inner circular and outer longitudinal muscle layers of the muscularis propria and regulates motility.</a:t>
            </a:r>
          </a:p>
          <a:p>
            <a:pPr algn="l"/>
            <a:r>
              <a:rPr lang="en-US" sz="1200" b="0" i="0" u="none" strike="noStrike" baseline="0" dirty="0">
                <a:latin typeface="MinionPro-Regular"/>
              </a:rPr>
              <a:t>2. Submucosal (Meissner) plexus is located in the submucosa and regulates blood flow, secretions, and absorption.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42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Associated with constipation, straining, and low-fiber diet; commonly seen in older adults (risk increases with age)</a:t>
            </a:r>
          </a:p>
          <a:p>
            <a:r>
              <a:rPr lang="en-US" dirty="0"/>
              <a:t>2. Arise where the vasa recta traverse the muscularis propria (weak point in colonic wall); sigmoid colon is the most common location.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Colovesicular</a:t>
            </a:r>
            <a:r>
              <a:rPr lang="en-US" dirty="0"/>
              <a:t> fistula presents with air (or stool) in urine.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971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Fibromatosis is a non-neoplastic proliferation of fibroblasts; arises in retroperitoneum (desmoid) and locally destroys tissue</a:t>
            </a:r>
          </a:p>
          <a:p>
            <a:r>
              <a:rPr lang="en-US" dirty="0"/>
              <a:t>2. Osteoma is a benign tumor of bone that usually arises in the skull.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8547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</a:t>
            </a:r>
            <a:r>
              <a:rPr lang="en-US" dirty="0"/>
              <a:t>. Increased risk for colorectal, ovarian, and endometrial carcinoma</a:t>
            </a:r>
          </a:p>
          <a:p>
            <a:r>
              <a:rPr lang="en-US" dirty="0"/>
              <a:t>ii. Colorectal carcinoma arises de novo (not from adenomatous polyps) at a relatively early age; usually right-sided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0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baseline="0" dirty="0">
                <a:latin typeface="MinionPro-Regular"/>
              </a:rPr>
              <a:t>tumors limited to the mucosa generally do not spread due to lack of lymphatics in the mucosa.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49DEF-3947-40CE-BFC6-5CC3112982E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5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95365-F908-DB9A-0C8D-95EDEB64F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DAE5D0-E6FF-4144-3688-997EB60856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E0F2B-978E-B84E-5F01-6E81A4055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14986-4A76-6F67-D75E-070662B7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76250-E1BC-6C18-7584-1C317B00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63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28E0-F265-8F96-821A-56CA391EC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B0FEB-E7CD-73E9-1FCC-FFE2F7DE5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A1353-CBC1-2455-8826-3284B373D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00B09E-397E-DF06-6B08-8A4F9B86F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FE522-E15C-2704-C137-FCACD780E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52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9BF0B-144B-2EBE-E46F-0FD211DC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630DF-77FE-03D7-24A6-C1C4CA2D7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D7A7A-E02A-F463-040D-EA43143B5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4D1D1-CBF0-06D5-90EE-EAE5BC41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EF2D23-8653-C692-3B95-EF22BBB6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29284-83FA-B131-85E5-E4597A4E5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D6EC5-0DA8-1FA5-0019-E0F1B02E2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C894A5-FB98-53B6-BF8F-9CEED896B6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D17A83-E20F-5911-DBE2-73511FF28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EA560-542A-9A08-4CFC-5B30CCB56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8B4A1-BF90-EA27-27A0-73E58A20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53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3A0E5-08A4-BDB9-2A9A-F41E7D620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31E4F-2B75-6415-1402-4D6607852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57DD4A-C435-3913-9781-F468EC303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E38D6-EDC7-DECE-7EA7-9875EA20C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4A1611-E819-02A0-75F1-66D075F06F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F54B2B-63D6-11ED-CABE-DB3180C2E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850345-4985-662F-552B-A6B51ECC1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794C29-D88C-0DC3-36D1-3B80BBD32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67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2AA7-A267-895B-2B6C-921BDEF22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65D9D3-01D9-65AE-E26A-0570C0902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5194A3-066B-2B7E-EC26-F007BE347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E45E06-5B2A-5C8C-1064-4A54C20C8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64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76F3DC-E1E4-3068-A16C-A5FF06324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4DDD8D-695F-9318-32C7-F0FEDF0D1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9B32B-FA36-DAA7-0916-DC3DB164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148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225AE-EDA2-84F1-EE70-3AC9B2AE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055D4-45A1-B595-556C-4AD5656C1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1934E-0F7A-2D28-42D1-90D1000E2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2F96D-008D-5488-B3FC-F8B299409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7E687-81F7-BC11-E3C0-0F06821D8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29290-7039-DA99-56DD-180799067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09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AE013-2227-D427-818A-F1D3628D4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064A3-EF38-0A0B-DBF7-DD53E6D26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BDC7A-5552-DEFE-8414-30F9535FC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A7DEC-A71B-D425-0F66-EAF937E7B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252EE9-6F93-F95C-5617-54E3A2652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9D135-D2A2-5A11-70AF-CA2FBEA44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23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A0B6-0780-CC43-F393-C33198E9E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B7B1FB-A83A-E878-FD97-348078265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AB0E4-5F9C-414F-BBFD-D125DCFB3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6AD83E-95B6-58DA-7F25-225D89CBE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4CAF1-9654-1B04-099F-E9681F229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03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6FF5E1-97E3-29D9-891F-6D7400827F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D88F4F-6B3A-B471-1714-641577991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42DF98-1570-8842-BC43-1901C38E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0AF80-6255-E35D-7B46-E6C3BA583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D616D-2FF6-0402-FCAD-0CB357EC6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09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69CC10-A154-492C-0213-09EBEB22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75916-6447-3110-3E73-864235D0E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AF4CB2-9F7E-0920-FB94-218453C42C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7E92EE-8D23-490F-A52B-43FB838D0CCD}" type="datetimeFigureOut">
              <a:rPr lang="en-US" smtClean="0"/>
              <a:t>13-Jan-24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861EB1-82C0-8CD4-5994-2E36DC1615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AECEB-929F-DE2F-AC40-897ED07BE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EEB62-A1B6-45ED-8BA2-C1225DF77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52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32D1F-E680-3C9C-A08C-3ADB38995C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Pathology of the GI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C38E6-740C-CE2A-0B2C-7C4FE21B82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Abdurrhman</a:t>
            </a:r>
            <a:r>
              <a:rPr lang="en-US" dirty="0"/>
              <a:t> Hamza</a:t>
            </a:r>
          </a:p>
        </p:txBody>
      </p:sp>
    </p:spTree>
    <p:extLst>
      <p:ext uri="{BB962C8B-B14F-4D97-AF65-F5344CB8AC3E}">
        <p14:creationId xmlns:p14="http://schemas.microsoft.com/office/powerpoint/2010/main" val="105009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7593-EBB3-235E-2B49-103DC9BFD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ORAL CAVITY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8F44E-0E3C-BA0C-FBF0-B10D9741D2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CLEFT LIP AND PALATE</a:t>
            </a:r>
          </a:p>
          <a:p>
            <a:r>
              <a:rPr lang="en-US" dirty="0"/>
              <a:t>A. Full-thickness defect of lip or palate.</a:t>
            </a:r>
          </a:p>
          <a:p>
            <a:r>
              <a:rPr lang="en-US" dirty="0"/>
              <a:t>B. Due to failure of facial prominences to fuse</a:t>
            </a:r>
          </a:p>
          <a:p>
            <a:r>
              <a:rPr lang="en-US" dirty="0"/>
              <a:t>C. Cleft lip and palate usually occur together.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C4AD70-FC39-A590-809F-19E0AAD740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655" y="2710476"/>
            <a:ext cx="3324689" cy="2581635"/>
          </a:xfrm>
        </p:spPr>
      </p:pic>
    </p:spTree>
    <p:extLst>
      <p:ext uri="{BB962C8B-B14F-4D97-AF65-F5344CB8AC3E}">
        <p14:creationId xmlns:p14="http://schemas.microsoft.com/office/powerpoint/2010/main" val="15830142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441EA-18A6-8975-8125-B7CB36A94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ORAL HERPES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9C3BB-9705-8DF3-3A90-07AD52B4E7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A. Vesicles involving oral mucosa that rupture, resulting in shallow, painful, red ulcers</a:t>
            </a:r>
          </a:p>
          <a:p>
            <a:r>
              <a:rPr lang="en-US" dirty="0"/>
              <a:t>B. Usually due to HSV-1</a:t>
            </a:r>
          </a:p>
          <a:p>
            <a:r>
              <a:rPr lang="en-US" dirty="0"/>
              <a:t>C. Primary infection occurs in childhood;</a:t>
            </a:r>
          </a:p>
          <a:p>
            <a:r>
              <a:rPr lang="en-US" dirty="0"/>
              <a:t> D. Stress and sunlight cause reactivation of the virus, leading to vesicles that often arise on the lips (cold sore).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A36AAA1-7BB1-3B13-94AE-9EFF60F811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708" y="2758108"/>
            <a:ext cx="3286584" cy="2486372"/>
          </a:xfrm>
        </p:spPr>
      </p:pic>
    </p:spTree>
    <p:extLst>
      <p:ext uri="{BB962C8B-B14F-4D97-AF65-F5344CB8AC3E}">
        <p14:creationId xmlns:p14="http://schemas.microsoft.com/office/powerpoint/2010/main" val="1882550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D1270-8D07-5B43-F9F4-93904EA04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SQUAMOUS CELL CARCINOMA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75CBA-927A-3A54-CEE4-638C17EC5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A. Malignant neoplasm of squamous cells lining the oral mucosa</a:t>
            </a:r>
          </a:p>
          <a:p>
            <a:r>
              <a:rPr lang="en-US" dirty="0"/>
              <a:t>B. Tobacco and alcohol are major risk factors.</a:t>
            </a:r>
          </a:p>
          <a:p>
            <a:r>
              <a:rPr lang="en-US" dirty="0"/>
              <a:t>C. Floor of mouth is the most common location.</a:t>
            </a:r>
          </a:p>
          <a:p>
            <a:r>
              <a:rPr lang="en-US" dirty="0"/>
              <a:t>D. Oral leukoplakia and </a:t>
            </a:r>
            <a:r>
              <a:rPr lang="en-US" dirty="0" err="1"/>
              <a:t>erythroplakia</a:t>
            </a:r>
            <a:r>
              <a:rPr lang="en-US" dirty="0"/>
              <a:t> are precursor lesions.</a:t>
            </a:r>
          </a:p>
          <a:p>
            <a:r>
              <a:rPr lang="en-US" dirty="0"/>
              <a:t>1. Leukoplakia is a white plaque that cannot be scraped away; often represents squamous cell dysplasia</a:t>
            </a:r>
          </a:p>
          <a:p>
            <a:r>
              <a:rPr lang="en-US" dirty="0"/>
              <a:t>2. Leukoplakia is distinct from oral candidiasis (thrush) and hairy leukoplakia.</a:t>
            </a:r>
          </a:p>
          <a:p>
            <a:r>
              <a:rPr lang="en-US" dirty="0"/>
              <a:t>3. </a:t>
            </a:r>
            <a:r>
              <a:rPr lang="en-US" dirty="0" err="1"/>
              <a:t>Erythroplakia</a:t>
            </a:r>
            <a:r>
              <a:rPr lang="en-US" dirty="0"/>
              <a:t> (red plaque) represents vascularized leukoplakia and is highly suggestive of squamous cell dysplasia</a:t>
            </a:r>
          </a:p>
        </p:txBody>
      </p:sp>
    </p:spTree>
    <p:extLst>
      <p:ext uri="{BB962C8B-B14F-4D97-AF65-F5344CB8AC3E}">
        <p14:creationId xmlns:p14="http://schemas.microsoft.com/office/powerpoint/2010/main" val="3725889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1CA0D-A9DF-65FA-48ED-57A527252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SALIVARY GLAND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26A71-66B0-5714-F05E-11EA8CB72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Salivary glands are exocrine glands that secrete saliva.</a:t>
            </a:r>
          </a:p>
          <a:p>
            <a:r>
              <a:rPr lang="en-US" dirty="0"/>
              <a:t>B. Divided into major (parotid, submandibular, and sublingual glands) and minor glands (hundreds of microscopic glands distributed throughout the oral mucosa)</a:t>
            </a:r>
          </a:p>
        </p:txBody>
      </p:sp>
    </p:spTree>
    <p:extLst>
      <p:ext uri="{BB962C8B-B14F-4D97-AF65-F5344CB8AC3E}">
        <p14:creationId xmlns:p14="http://schemas.microsoft.com/office/powerpoint/2010/main" val="1615875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88EF-84D2-DAD4-D26B-96C02548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B21717-D79F-5584-88A5-FDA597D48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MUMPS</a:t>
            </a:r>
          </a:p>
          <a:p>
            <a:r>
              <a:rPr lang="en-US" dirty="0"/>
              <a:t>A. Infection with mumps virus resulting in bilateral inflamed parotid glands</a:t>
            </a:r>
          </a:p>
          <a:p>
            <a:r>
              <a:rPr lang="en-US" dirty="0"/>
              <a:t>B. Orchitis, pancreatitis, and aseptic meningitis may also be present.</a:t>
            </a:r>
          </a:p>
          <a:p>
            <a:r>
              <a:rPr lang="en-US" dirty="0"/>
              <a:t>SIALADENITIS</a:t>
            </a:r>
          </a:p>
          <a:p>
            <a:r>
              <a:rPr lang="en-US" dirty="0"/>
              <a:t>A. Inflammation of the salivary gland</a:t>
            </a:r>
          </a:p>
          <a:p>
            <a:r>
              <a:rPr lang="en-US" dirty="0"/>
              <a:t>B. Most commonly due to an obstructing stone (sialolithiasis) leading to Staphylococcus aureus infection; usually unilateral</a:t>
            </a:r>
          </a:p>
        </p:txBody>
      </p:sp>
    </p:spTree>
    <p:extLst>
      <p:ext uri="{BB962C8B-B14F-4D97-AF65-F5344CB8AC3E}">
        <p14:creationId xmlns:p14="http://schemas.microsoft.com/office/powerpoint/2010/main" val="3529783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58C1-7E37-8470-A257-35DCB27B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A6B2-F34B-3619-41D7-5845A7760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PLEOMORPHIC ADENOMA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A. Benign tumor composed of stromal (e.g., cartilage) and epithelial tissue; most common tumor of the salivary gland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B. Usually arises in parotid; presents as a mobile, painless, circumscribed mass at the angle of the jaw.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WARTHIN TUMOR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A. Benign cystic tumor with abundant lymphocytes and germinal centers (lymph nodelike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stroma); 2nd most common tumor of the salivary gland.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MUCOEPIDERMOID CARCINOMA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A. Malignant tumor composed of mucinous and squamous cells; most common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malignant tumor of the salivary gland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B. Usually arises in the parotid; commonly involves the facial nerve</a:t>
            </a:r>
          </a:p>
        </p:txBody>
      </p:sp>
    </p:spTree>
    <p:extLst>
      <p:ext uri="{BB962C8B-B14F-4D97-AF65-F5344CB8AC3E}">
        <p14:creationId xmlns:p14="http://schemas.microsoft.com/office/powerpoint/2010/main" val="3334574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4E6FF-1AE4-6225-CB1A-642F2907D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ESOPHAGUS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14F7E-616E-2DE3-7038-9392F47A17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TRACHEOESOPHAGEAL FISTULA</a:t>
            </a:r>
          </a:p>
          <a:p>
            <a:r>
              <a:rPr lang="en-US" dirty="0"/>
              <a:t>A. Congenital defect resulting in a connection between the esophagus and trachea</a:t>
            </a:r>
          </a:p>
          <a:p>
            <a:r>
              <a:rPr lang="en-US" dirty="0"/>
              <a:t>B. Most common variant consists of proximal esophageal atresia with the distal esophagus arising from the trachea.</a:t>
            </a:r>
          </a:p>
          <a:p>
            <a:r>
              <a:rPr lang="en-US" dirty="0"/>
              <a:t>1. Presents with vomiting, polyhydramnios, abdominal distension, and aspiration</a:t>
            </a:r>
          </a:p>
        </p:txBody>
      </p:sp>
    </p:spTree>
    <p:extLst>
      <p:ext uri="{BB962C8B-B14F-4D97-AF65-F5344CB8AC3E}">
        <p14:creationId xmlns:p14="http://schemas.microsoft.com/office/powerpoint/2010/main" val="2231413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891EC-C834-25FF-4D4E-82136E310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E002D-7F3A-CBEC-F55C-E9FF8663E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ESOPHAGEAL VARICES</a:t>
            </a:r>
          </a:p>
          <a:p>
            <a:r>
              <a:rPr lang="en-US" dirty="0"/>
              <a:t>A. Dilated submucosal veins in the lower esophagus</a:t>
            </a:r>
          </a:p>
          <a:p>
            <a:r>
              <a:rPr lang="en-US" dirty="0"/>
              <a:t>B. Arise secondary to portal hypertension</a:t>
            </a:r>
          </a:p>
          <a:p>
            <a:r>
              <a:rPr lang="en-US" dirty="0"/>
              <a:t>C. Asymptomatic, but risk of rupture exists</a:t>
            </a:r>
          </a:p>
          <a:p>
            <a:r>
              <a:rPr lang="en-US" dirty="0"/>
              <a:t>1. Presents with painless hematemesis</a:t>
            </a:r>
          </a:p>
          <a:p>
            <a:r>
              <a:rPr lang="en-US" dirty="0"/>
              <a:t>2. Most common cause of death in cirrhosis</a:t>
            </a:r>
          </a:p>
        </p:txBody>
      </p:sp>
    </p:spTree>
    <p:extLst>
      <p:ext uri="{BB962C8B-B14F-4D97-AF65-F5344CB8AC3E}">
        <p14:creationId xmlns:p14="http://schemas.microsoft.com/office/powerpoint/2010/main" val="861928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8EA89-98F6-907F-8368-7184158C0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E7AE0-12DC-AABF-5F0F-E97940F65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GASTROESOPHAGEAL REFLUX DISEASE (GERD)</a:t>
            </a:r>
          </a:p>
          <a:p>
            <a:r>
              <a:rPr lang="en-US" dirty="0"/>
              <a:t>A. Reflux of acid from the stomach due to reduced LES tone</a:t>
            </a:r>
          </a:p>
          <a:p>
            <a:r>
              <a:rPr lang="en-US" dirty="0"/>
              <a:t>B. Risk factors include alcohol, tobacco, obesity, fat-rich diet, caffeine, and hiatal hernia.</a:t>
            </a:r>
          </a:p>
          <a:p>
            <a:r>
              <a:rPr lang="en-US" dirty="0"/>
              <a:t>C. Clinical features</a:t>
            </a:r>
          </a:p>
          <a:p>
            <a:r>
              <a:rPr lang="en-US" dirty="0"/>
              <a:t>1. Heartburn (mimics cardiac chest pain)</a:t>
            </a:r>
          </a:p>
          <a:p>
            <a:r>
              <a:rPr lang="en-US" dirty="0"/>
              <a:t>2. Asthma (adult-onset) and cough</a:t>
            </a:r>
          </a:p>
          <a:p>
            <a:r>
              <a:rPr lang="en-US" dirty="0"/>
              <a:t>3. Damage to enamel of teeth</a:t>
            </a:r>
          </a:p>
          <a:p>
            <a:r>
              <a:rPr lang="en-US" dirty="0"/>
              <a:t>4. Ulceration with stricture and Barrett esophagus are late complications.</a:t>
            </a:r>
          </a:p>
        </p:txBody>
      </p:sp>
    </p:spTree>
    <p:extLst>
      <p:ext uri="{BB962C8B-B14F-4D97-AF65-F5344CB8AC3E}">
        <p14:creationId xmlns:p14="http://schemas.microsoft.com/office/powerpoint/2010/main" val="232512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6E9903-1891-0654-A301-0C385079E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A2116-1358-18B3-3DF0-DBC255CA54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BARRETT ESOPHAGUS</a:t>
            </a:r>
          </a:p>
          <a:p>
            <a:r>
              <a:rPr lang="en-US" dirty="0"/>
              <a:t>A. Metaplasia of the lower esophageal mucosa from stratified squamous epithelium to </a:t>
            </a:r>
            <a:r>
              <a:rPr lang="en-US" dirty="0" err="1"/>
              <a:t>nonciliated</a:t>
            </a:r>
            <a:r>
              <a:rPr lang="en-US" dirty="0"/>
              <a:t> columnar epithelium with goblet cells (Fig. 10.8); seen in 10% of patients with GERD</a:t>
            </a:r>
          </a:p>
          <a:p>
            <a:r>
              <a:rPr lang="en-US" dirty="0"/>
              <a:t>1. Response of lower esophageal stem cells to acidic stress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49B9B66-F7CA-F3B0-8697-FC6073C54FB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945" y="2724766"/>
            <a:ext cx="3296110" cy="2553056"/>
          </a:xfrm>
        </p:spPr>
      </p:pic>
    </p:spTree>
    <p:extLst>
      <p:ext uri="{BB962C8B-B14F-4D97-AF65-F5344CB8AC3E}">
        <p14:creationId xmlns:p14="http://schemas.microsoft.com/office/powerpoint/2010/main" val="245239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A208D-3576-6BC8-1F2E-84EDB21ED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BBBD6-DACD-51F9-CFDA-CB68301E9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ESOPHAGEAL CARCINOMA</a:t>
            </a:r>
          </a:p>
          <a:p>
            <a:r>
              <a:rPr lang="en-US" dirty="0"/>
              <a:t>A. Subclassified as adenocarcinoma or squamous cell carcinoma</a:t>
            </a:r>
          </a:p>
          <a:p>
            <a:r>
              <a:rPr lang="en-US" dirty="0"/>
              <a:t>B. Adenocarcinoma is a malignant proliferation of glands; most common type of esophageal carcinoma in the West</a:t>
            </a:r>
          </a:p>
          <a:p>
            <a:r>
              <a:rPr lang="en-US" dirty="0"/>
              <a:t>1. Arises from preexisting Barrett esophagus; usually involves the lower one-third of the esophagus</a:t>
            </a:r>
          </a:p>
          <a:p>
            <a:r>
              <a:rPr lang="en-US" dirty="0"/>
              <a:t>C. Squamous cell carcinoma is a malignant proliferation of squamous cells; most common esophageal cancer worldwide</a:t>
            </a:r>
          </a:p>
        </p:txBody>
      </p:sp>
    </p:spTree>
    <p:extLst>
      <p:ext uri="{BB962C8B-B14F-4D97-AF65-F5344CB8AC3E}">
        <p14:creationId xmlns:p14="http://schemas.microsoft.com/office/powerpoint/2010/main" val="821552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BC0EB-5805-920B-B0CE-0B6858AA2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EADE2-C20E-B3DF-6E11-92386D9C2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 Usually arises in upper or middle third of the esophagus; major risk factors include</a:t>
            </a:r>
          </a:p>
          <a:p>
            <a:r>
              <a:rPr lang="en-US" dirty="0" err="1"/>
              <a:t>i</a:t>
            </a:r>
            <a:r>
              <a:rPr lang="en-US" dirty="0"/>
              <a:t>. Alcohol and tobacco (most common causes)</a:t>
            </a:r>
          </a:p>
          <a:p>
            <a:r>
              <a:rPr lang="en-US" dirty="0"/>
              <a:t>ii. Very hot tea</a:t>
            </a:r>
          </a:p>
          <a:p>
            <a:r>
              <a:rPr lang="en-US" dirty="0"/>
              <a:t>iii. Achalasia</a:t>
            </a:r>
          </a:p>
          <a:p>
            <a:r>
              <a:rPr lang="en-US" dirty="0"/>
              <a:t>iv. Esophageal web (e.g., Plummer-Vinson syndrome)</a:t>
            </a:r>
          </a:p>
          <a:p>
            <a:r>
              <a:rPr lang="en-US" dirty="0"/>
              <a:t>v. Esophageal injury (e.g., lye ingestion)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781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07F8-D027-41A8-2095-8BF97F17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147B1-FAF2-81A5-B35D-EB430945B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D. Esophageal carcinoma presents late (poor prognosis).</a:t>
            </a:r>
          </a:p>
          <a:p>
            <a:r>
              <a:rPr lang="en-US" dirty="0"/>
              <a:t>1. Symptoms include progressive dysphagia (solids to liquids), weight loss, </a:t>
            </a:r>
            <a:r>
              <a:rPr lang="en-US" dirty="0" err="1"/>
              <a:t>pain,and</a:t>
            </a:r>
            <a:r>
              <a:rPr lang="en-US" dirty="0"/>
              <a:t> hematemesis.</a:t>
            </a:r>
          </a:p>
          <a:p>
            <a:r>
              <a:rPr lang="en-US" dirty="0"/>
              <a:t>2. Squamous cell carcinoma may additionally present with hoarse voice (recurrent laryngeal nerve involvement) and cough (tracheal involvement).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4945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5C4E-7D0E-1C02-A930-DBDFF5A29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STOMACH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4C1E7-FAE9-BF7E-044A-7AA922CC1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GASTROSCHISIS</a:t>
            </a:r>
          </a:p>
          <a:p>
            <a:r>
              <a:rPr lang="en-US" dirty="0"/>
              <a:t>A. Congenital malformation of the anterior abdominal wall leading to exposure of abdominal contents.</a:t>
            </a:r>
          </a:p>
          <a:p>
            <a:r>
              <a:rPr lang="en-US" dirty="0"/>
              <a:t>II. OMPHALOCELE</a:t>
            </a:r>
          </a:p>
          <a:p>
            <a:r>
              <a:rPr lang="en-US" dirty="0"/>
              <a:t>A. Persistent herniation of bowel into umbilical cord</a:t>
            </a:r>
          </a:p>
          <a:p>
            <a:r>
              <a:rPr lang="en-US" dirty="0"/>
              <a:t>B. Due to failure of herniated intestines to return to the body cavity during development</a:t>
            </a:r>
          </a:p>
          <a:p>
            <a:r>
              <a:rPr lang="en-US" dirty="0"/>
              <a:t>1. Contents are covered by peritoneum and amnion of the umbilical cord.</a:t>
            </a:r>
          </a:p>
          <a:p>
            <a:r>
              <a:rPr lang="en-US" dirty="0"/>
              <a:t>III. PYLORIC STENOSIS</a:t>
            </a:r>
          </a:p>
          <a:p>
            <a:r>
              <a:rPr lang="en-US" dirty="0"/>
              <a:t>A. Congenital hypertrophy of pyloric smooth muscle; more common in males</a:t>
            </a:r>
          </a:p>
          <a:p>
            <a:r>
              <a:rPr lang="en-US" dirty="0"/>
              <a:t>B. Classically presents two weeks after birth as</a:t>
            </a:r>
          </a:p>
          <a:p>
            <a:r>
              <a:rPr lang="en-US" dirty="0"/>
              <a:t>1. Projectile nonbilious vomiting</a:t>
            </a:r>
          </a:p>
          <a:p>
            <a:r>
              <a:rPr lang="en-US" dirty="0"/>
              <a:t>2. Visible peristalsis</a:t>
            </a:r>
          </a:p>
          <a:p>
            <a:r>
              <a:rPr lang="en-US" dirty="0"/>
              <a:t>3. Olive-like mass in the abdomen</a:t>
            </a:r>
          </a:p>
          <a:p>
            <a:r>
              <a:rPr lang="en-US" dirty="0"/>
              <a:t>C. Treatment is myotomy.</a:t>
            </a:r>
          </a:p>
        </p:txBody>
      </p:sp>
    </p:spTree>
    <p:extLst>
      <p:ext uri="{BB962C8B-B14F-4D97-AF65-F5344CB8AC3E}">
        <p14:creationId xmlns:p14="http://schemas.microsoft.com/office/powerpoint/2010/main" val="11677703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F651-C2E2-FE2E-4D81-94538BA1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ACUTE GASTRITIS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FE1A-2145-71AD-2862-0675C40D4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A. Acidic damage to the stomach mucosa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B. Due to imbalance between mucosal defenses and acidic environment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C. Risk factors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Severe burn (Curling ulcer) - Hypovolemia leads to decreased blood supply.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NSAIDs (decreased PGE)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3. Heavy alcohol consumption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4. Chemotherapy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5. Increased intracranial pressure (Cushing ulcer) - Increased stimulation of </a:t>
            </a:r>
            <a:r>
              <a:rPr lang="en-US" sz="1800" b="0" i="0" u="none" strike="noStrike" baseline="0" dirty="0" err="1">
                <a:latin typeface="MinionPro-Regular"/>
              </a:rPr>
              <a:t>vagus</a:t>
            </a:r>
            <a:r>
              <a:rPr lang="en-US" sz="1800" b="0" i="0" u="none" strike="noStrike" baseline="0" dirty="0">
                <a:latin typeface="MinionPro-Regular"/>
              </a:rPr>
              <a:t> nerve leads to increased acid production.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6. Shock - Multiple (stress) ulcers may be seen in ICU patients.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D. Acid damage results in superficial inflammation, erosion (loss of superficial epithelium), or ulcer (loss of mucosal layer).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35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24EF3-904D-2F2F-237C-C62BB8E21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CHRONIC GASTRITIS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25937-1199-2C00-E9C4-78BCAFC9A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A. Chronic inflammation of stomach mucosa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B. Divided into two types based on underlying etiology: chronic autoimmune gastritis and chronic </a:t>
            </a:r>
            <a:r>
              <a:rPr lang="en-US" sz="1800" b="0" i="1" u="none" strike="noStrike" baseline="0" dirty="0">
                <a:latin typeface="MinionPro-It"/>
              </a:rPr>
              <a:t>H pylori </a:t>
            </a:r>
            <a:r>
              <a:rPr lang="en-US" sz="1800" b="0" i="0" u="none" strike="noStrike" baseline="0" dirty="0">
                <a:latin typeface="MinionPro-Regular"/>
              </a:rPr>
              <a:t>gastritis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C. Chronic autoimmune gastritis is due to autoimmune destruction of gastric parietal cells, which are located in the stomach body and fundus.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Clinical features</a:t>
            </a:r>
          </a:p>
          <a:p>
            <a:pPr algn="l"/>
            <a:r>
              <a:rPr lang="en-US" sz="1800" b="0" i="0" u="none" strike="noStrike" baseline="0" dirty="0" err="1">
                <a:latin typeface="TimesNewRoman"/>
              </a:rPr>
              <a:t>i</a:t>
            </a:r>
            <a:r>
              <a:rPr lang="en-US" sz="1800" b="0" i="0" u="none" strike="noStrike" baseline="0" dirty="0">
                <a:latin typeface="TimesNewRoman"/>
              </a:rPr>
              <a:t>. </a:t>
            </a:r>
            <a:r>
              <a:rPr lang="en-US" sz="1800" b="0" i="0" u="none" strike="noStrike" baseline="0" dirty="0">
                <a:latin typeface="MinionPro-Regular"/>
              </a:rPr>
              <a:t>Atrophy of mucosa with intestinal metaplasia.</a:t>
            </a:r>
          </a:p>
          <a:p>
            <a:pPr algn="l"/>
            <a:r>
              <a:rPr lang="en-US" sz="1800" b="0" i="0" u="none" strike="noStrike" baseline="0" dirty="0">
                <a:latin typeface="TimesNewRoman"/>
              </a:rPr>
              <a:t>ii. </a:t>
            </a:r>
            <a:r>
              <a:rPr lang="en-US" sz="1800" b="0" i="0" u="none" strike="noStrike" baseline="0" dirty="0">
                <a:latin typeface="MinionPro-Regular"/>
              </a:rPr>
              <a:t>Achlorhydria with increased gastrin levels and antral G-cell hyperplasia</a:t>
            </a:r>
          </a:p>
          <a:p>
            <a:pPr algn="l"/>
            <a:r>
              <a:rPr lang="en-US" sz="1800" b="0" i="0" u="none" strike="noStrike" baseline="0" dirty="0">
                <a:latin typeface="TimesNewRoman"/>
              </a:rPr>
              <a:t>iii. </a:t>
            </a:r>
            <a:r>
              <a:rPr lang="en-US" sz="1800" b="0" i="0" u="none" strike="noStrike" baseline="0" dirty="0">
                <a:latin typeface="MinionPro-Regular"/>
              </a:rPr>
              <a:t>Megaloblastic (pernicious) anemia due to lack of intrinsic factor</a:t>
            </a:r>
          </a:p>
          <a:p>
            <a:pPr algn="l"/>
            <a:r>
              <a:rPr lang="en-US" sz="1800" b="0" i="0" u="none" strike="noStrike" baseline="0" dirty="0">
                <a:latin typeface="TimesNewRoman"/>
              </a:rPr>
              <a:t>iv. </a:t>
            </a:r>
            <a:r>
              <a:rPr lang="en-US" sz="1800" b="0" i="0" u="none" strike="noStrike" baseline="0" dirty="0">
                <a:latin typeface="MinionPro-Regular"/>
              </a:rPr>
              <a:t>Increased risk for gastric adenocarcinoma (intestinal type)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16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F28C3-A011-DB39-3418-A774A7FBA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03060-4A34-7FCA-617F-760DF71D4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D. Chronic </a:t>
            </a:r>
            <a:r>
              <a:rPr lang="en-US" sz="1800" b="0" i="1" u="none" strike="noStrike" baseline="0" dirty="0">
                <a:latin typeface="MinionPro-It"/>
              </a:rPr>
              <a:t>H pylori </a:t>
            </a:r>
            <a:r>
              <a:rPr lang="en-US" sz="1800" b="0" i="0" u="none" strike="noStrike" baseline="0" dirty="0">
                <a:latin typeface="MinionPro-Regular"/>
              </a:rPr>
              <a:t>gastritis is due to </a:t>
            </a:r>
            <a:r>
              <a:rPr lang="en-US" sz="1800" b="0" i="1" u="none" strike="noStrike" baseline="0" dirty="0">
                <a:latin typeface="MinionPro-It"/>
              </a:rPr>
              <a:t>H pylori</a:t>
            </a:r>
            <a:r>
              <a:rPr lang="en-US" sz="1800" b="0" i="0" u="none" strike="noStrike" baseline="0" dirty="0">
                <a:latin typeface="MinionPro-Regular"/>
              </a:rPr>
              <a:t>-induced acute and chronic inflammation; most common form of gastritis (90%)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</a:t>
            </a:r>
            <a:r>
              <a:rPr lang="en-US" sz="1800" b="0" i="1" u="none" strike="noStrike" baseline="0" dirty="0">
                <a:latin typeface="MinionPro-It"/>
              </a:rPr>
              <a:t>H pylori </a:t>
            </a:r>
            <a:r>
              <a:rPr lang="en-US" sz="1800" b="0" i="0" u="none" strike="noStrike" baseline="0" dirty="0">
                <a:latin typeface="MinionPro-Regular"/>
              </a:rPr>
              <a:t>ureases and proteases along with inflammation weaken mucosal defenses; antrum is the most common site.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Presents with epigastric abdominal pain; increased risk for ulceration (peptic ulcer disease), gastric adenocarcinoma (intestinal type), and MALT lymphoma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3. Treatment involves triple therapy.</a:t>
            </a:r>
          </a:p>
          <a:p>
            <a:pPr algn="l"/>
            <a:r>
              <a:rPr lang="en-US" sz="1800" b="0" i="0" u="none" strike="noStrike" baseline="0" dirty="0" err="1">
                <a:latin typeface="MinionPro-Regular"/>
              </a:rPr>
              <a:t>i</a:t>
            </a:r>
            <a:r>
              <a:rPr lang="en-US" sz="1800" b="0" i="0" u="none" strike="noStrike" baseline="0" dirty="0">
                <a:latin typeface="MinionPro-Regular"/>
              </a:rPr>
              <a:t>. Resolves gastritis/ulcer and reverses intestinal metaplasia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ii. Negative urea breath test and lack of stool antigen confirm eradication of </a:t>
            </a:r>
            <a:r>
              <a:rPr lang="en-US" sz="1800" b="0" i="1" u="none" strike="noStrike" baseline="0" dirty="0">
                <a:latin typeface="MinionPro-It"/>
              </a:rPr>
              <a:t>H pylori.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239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4787-6C86-8170-C9B9-88BB2A36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PEPTIC ULCER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9D55F-2D29-B5FE-2B02-0FA4757302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A. Solitary mucosal ulcer involving proximal duodenum (90%) or distal stomach (10%)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B. Duodenal ulcer is almost always due to </a:t>
            </a:r>
            <a:r>
              <a:rPr lang="en-US" sz="1800" b="0" i="1" u="none" strike="noStrike" baseline="0" dirty="0">
                <a:latin typeface="MinionPro-It"/>
              </a:rPr>
              <a:t>H pylori (&gt; </a:t>
            </a:r>
            <a:r>
              <a:rPr lang="en-US" sz="1800" b="0" i="0" u="none" strike="noStrike" baseline="0" dirty="0">
                <a:latin typeface="MinionPro-Regular"/>
              </a:rPr>
              <a:t>95%); rarely, may be due to ZE syndrome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Presents with epigastric pain that improves with meals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Diagnostic endoscopic biopsy shows ulcer with hypertrophy of Brunner glands.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3. Usually arises in anterior duodenum; when present in posterior duodenum, rupture may lead to bleeding from the gastroduodenal artery or acute pancreatitis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03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E817-28EB-F3B6-6B00-454394D85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DDED3-7C81-20BF-ED0C-61E7F04439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C. Gastric ulcer is usually due to </a:t>
            </a:r>
            <a:r>
              <a:rPr lang="en-US" sz="1800" b="0" i="1" u="none" strike="noStrike" baseline="0" dirty="0">
                <a:latin typeface="MinionPro-It"/>
              </a:rPr>
              <a:t>H pylori </a:t>
            </a:r>
            <a:r>
              <a:rPr lang="en-US" sz="1800" b="0" i="0" u="none" strike="noStrike" baseline="0" dirty="0">
                <a:latin typeface="MinionPro-Regular"/>
              </a:rPr>
              <a:t>(75%); other causes include NSAIDs and bile reflux.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Presents with epigastric pain that worsens with meals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Ulcer is usually located on the lesser curvature of the antrum.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3. Rupture carries risk of bleeding from left gastric artery.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D. Differential diagnosis of ulcers includes carcinoma.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Duodenal ulcers are almost never malignant (duodenal carcinoma is extremely rare).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Gastric ulcers can be caused by gastric carcinoma (intestinal subtype).</a:t>
            </a:r>
          </a:p>
        </p:txBody>
      </p:sp>
    </p:spTree>
    <p:extLst>
      <p:ext uri="{BB962C8B-B14F-4D97-AF65-F5344CB8AC3E}">
        <p14:creationId xmlns:p14="http://schemas.microsoft.com/office/powerpoint/2010/main" val="2360875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10A4A-B43F-1237-DDE9-18DAB76B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GASTRIC CARCINOMA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3F0FE-6816-C754-871B-BAF871EDE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A. Malignant proliferation of surface epithelial cells (adenocarcinoma)</a:t>
            </a:r>
          </a:p>
          <a:p>
            <a:r>
              <a:rPr lang="en-US" dirty="0"/>
              <a:t>B. Subclassified into intestinal and diffuse types</a:t>
            </a:r>
          </a:p>
          <a:p>
            <a:r>
              <a:rPr lang="en-US" dirty="0"/>
              <a:t>C. Intestinal type (more common) presents as a large, irregular ulcer with heaped up margins;</a:t>
            </a:r>
          </a:p>
          <a:p>
            <a:r>
              <a:rPr lang="en-US" dirty="0"/>
              <a:t>1. Risk factors include intestinal metaplasia (e.g., due to H pylori and autoimmune gastritis), nitrosamines in smoked foods (Japan), and blood type A.</a:t>
            </a:r>
          </a:p>
          <a:p>
            <a:r>
              <a:rPr lang="en-US" dirty="0"/>
              <a:t>D. Diffuse type is characterized by signet ring cells that diffusely infiltrate the gastric wall ; desmoplasia results in thickening of stomach wall (</a:t>
            </a:r>
            <a:r>
              <a:rPr lang="en-US" dirty="0" err="1"/>
              <a:t>linitis</a:t>
            </a:r>
            <a:r>
              <a:rPr lang="en-US" dirty="0"/>
              <a:t> </a:t>
            </a:r>
            <a:r>
              <a:rPr lang="en-US" dirty="0" err="1"/>
              <a:t>plastica</a:t>
            </a:r>
            <a:r>
              <a:rPr lang="en-US" dirty="0"/>
              <a:t>,)</a:t>
            </a:r>
          </a:p>
          <a:p>
            <a:r>
              <a:rPr lang="en-US" dirty="0"/>
              <a:t>1. Not associated with H pylori, intestinal metaplasia, or nitrosamines</a:t>
            </a:r>
          </a:p>
        </p:txBody>
      </p:sp>
    </p:spTree>
    <p:extLst>
      <p:ext uri="{BB962C8B-B14F-4D97-AF65-F5344CB8AC3E}">
        <p14:creationId xmlns:p14="http://schemas.microsoft.com/office/powerpoint/2010/main" val="7231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21846-EAED-6B5E-C678-A2230609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0D54A-5BE0-3ED0-02B2-82DFC2911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E. Gastric carcinoma presents late with weight loss, abdominal pain, anemia, and early satiety; rarely presents as acanthosis nigricans or </a:t>
            </a:r>
            <a:r>
              <a:rPr lang="en-US" dirty="0" err="1"/>
              <a:t>Leser-Trélat</a:t>
            </a:r>
            <a:r>
              <a:rPr lang="en-US" dirty="0"/>
              <a:t> sign</a:t>
            </a:r>
          </a:p>
          <a:p>
            <a:r>
              <a:rPr lang="en-US" dirty="0"/>
              <a:t>F. Spread to lymph nodes can involve the left supraclavicular node (Virchow node).</a:t>
            </a:r>
          </a:p>
          <a:p>
            <a:r>
              <a:rPr lang="en-US" dirty="0"/>
              <a:t>G. Distant metastasis most commonly involves liver; other sites include</a:t>
            </a:r>
          </a:p>
          <a:p>
            <a:r>
              <a:rPr lang="en-US" dirty="0"/>
              <a:t>1. Periumbilical region (Sister Mary Joseph nodule); seen with intestinal type</a:t>
            </a:r>
          </a:p>
          <a:p>
            <a:r>
              <a:rPr lang="en-US" dirty="0"/>
              <a:t>2. Bilateral ovaries (</a:t>
            </a:r>
            <a:r>
              <a:rPr lang="en-US" dirty="0" err="1"/>
              <a:t>Krukenberg</a:t>
            </a:r>
            <a:r>
              <a:rPr lang="en-US" dirty="0"/>
              <a:t> tumor); seen with diffuse type</a:t>
            </a:r>
          </a:p>
        </p:txBody>
      </p:sp>
    </p:spTree>
    <p:extLst>
      <p:ext uri="{BB962C8B-B14F-4D97-AF65-F5344CB8AC3E}">
        <p14:creationId xmlns:p14="http://schemas.microsoft.com/office/powerpoint/2010/main" val="26235524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B0CD-1EF7-B818-9A3B-DB243473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SMALL BOWEL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DF68A-A47A-29AE-7ACD-B95C77D91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DUODENAL ATRESIA</a:t>
            </a:r>
          </a:p>
          <a:p>
            <a:r>
              <a:rPr lang="en-US" dirty="0"/>
              <a:t>A. Congenital failure of duodenum to canalize; associated with Down syndrome</a:t>
            </a:r>
          </a:p>
          <a:p>
            <a:r>
              <a:rPr lang="en-US" dirty="0"/>
              <a:t>B. Clinical features</a:t>
            </a:r>
          </a:p>
          <a:p>
            <a:r>
              <a:rPr lang="en-US" dirty="0"/>
              <a:t>1. Polyhydramnios</a:t>
            </a:r>
          </a:p>
          <a:p>
            <a:r>
              <a:rPr lang="en-US" dirty="0"/>
              <a:t>2. Distension of stomach and blind loop of duodenum ('double bubble' sign,)</a:t>
            </a:r>
          </a:p>
          <a:p>
            <a:r>
              <a:rPr lang="en-US" dirty="0"/>
              <a:t>3. Bilious vomiting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MECKEL DIVERTICULUM</a:t>
            </a:r>
          </a:p>
          <a:p>
            <a:r>
              <a:rPr lang="en-US" dirty="0"/>
              <a:t>A. Outpouching of all three layers of the bowel wall (true diverticulum, Fig. 10.16)</a:t>
            </a:r>
          </a:p>
          <a:p>
            <a:r>
              <a:rPr lang="en-US" dirty="0"/>
              <a:t>B. Arises due to failure of the vitelline duct to involute</a:t>
            </a:r>
          </a:p>
          <a:p>
            <a:r>
              <a:rPr lang="en-US" dirty="0"/>
              <a:t>C. 'Rule of 2s'</a:t>
            </a:r>
          </a:p>
        </p:txBody>
      </p:sp>
    </p:spTree>
    <p:extLst>
      <p:ext uri="{BB962C8B-B14F-4D97-AF65-F5344CB8AC3E}">
        <p14:creationId xmlns:p14="http://schemas.microsoft.com/office/powerpoint/2010/main" val="2151728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9F889-EA4F-1081-1C7F-0364A3901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0EF15-E3E4-A39D-E40F-3DA185B96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VOLVULUS</a:t>
            </a:r>
          </a:p>
          <a:p>
            <a:r>
              <a:rPr lang="en-US" dirty="0"/>
              <a:t>A. Twisting of bowel along its mesentery</a:t>
            </a:r>
          </a:p>
          <a:p>
            <a:r>
              <a:rPr lang="en-US" dirty="0"/>
              <a:t>B. Results in obstruction and disruption of the blood supply with infarction.</a:t>
            </a:r>
          </a:p>
          <a:p>
            <a:r>
              <a:rPr lang="en-US" dirty="0"/>
              <a:t>C. Most common locations are sigmoid colon (elderly) and cecum (young adults).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INTUSSUSCEPTION</a:t>
            </a:r>
          </a:p>
          <a:p>
            <a:r>
              <a:rPr lang="en-US" dirty="0"/>
              <a:t>A. Telescoping of proximal segment of bowel forward into distal segment</a:t>
            </a:r>
          </a:p>
          <a:p>
            <a:r>
              <a:rPr lang="en-US" dirty="0"/>
              <a:t>1. Telescoped segment is pulled forward by peristalsis, resulting in obstruction and disruption of blood supply with infarction.</a:t>
            </a:r>
          </a:p>
          <a:p>
            <a:r>
              <a:rPr lang="en-US" dirty="0"/>
              <a:t>B. Associated with a leading edge (focus of traction)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164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B140D-3995-279D-4351-0ECABE842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D8E45-E05C-0B43-F5F3-A7A5066853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SMALL BOWEL INFARCTION</a:t>
            </a:r>
          </a:p>
          <a:p>
            <a:r>
              <a:rPr lang="en-US" dirty="0"/>
              <a:t>A. Small bowel is highly susceptible to ischemic injury.</a:t>
            </a:r>
          </a:p>
          <a:p>
            <a:r>
              <a:rPr lang="en-US" dirty="0"/>
              <a:t>1. Transmural infarction occurs with thrombosis/embolism of the superior mesenteric artery or thrombosis of the mesenteric vein.</a:t>
            </a:r>
          </a:p>
          <a:p>
            <a:r>
              <a:rPr lang="en-US" dirty="0"/>
              <a:t>2. Mucosal infarction occurs with marked hypotension.</a:t>
            </a:r>
          </a:p>
          <a:p>
            <a:r>
              <a:rPr lang="en-US" dirty="0"/>
              <a:t>B. Clinical features include abdominal pain, bloody diarrhea, and decreased bowel sounds.</a:t>
            </a:r>
          </a:p>
        </p:txBody>
      </p:sp>
    </p:spTree>
    <p:extLst>
      <p:ext uri="{BB962C8B-B14F-4D97-AF65-F5344CB8AC3E}">
        <p14:creationId xmlns:p14="http://schemas.microsoft.com/office/powerpoint/2010/main" val="27626929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5C2B-9FDC-3D15-F8B0-9A7234B7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LACTOSE INTOLERANCE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605FE-29F3-2EB4-96DE-79121A23A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A. Decreased function of the lactase enzyme found in the brush border of enterocytes</a:t>
            </a:r>
          </a:p>
          <a:p>
            <a:r>
              <a:rPr lang="en-US" dirty="0"/>
              <a:t>1. Lactase normally breaks down lactose into glucose and galactose.</a:t>
            </a:r>
          </a:p>
          <a:p>
            <a:r>
              <a:rPr lang="en-US" dirty="0"/>
              <a:t>B. Presents with abdominal distension and diarrhea upon consumption of milk products; undigested lactose is osmotically active.</a:t>
            </a:r>
          </a:p>
          <a:p>
            <a:r>
              <a:rPr lang="en-US" dirty="0"/>
              <a:t>C. Deficiency may be congenital (rare autosomal recessive disorder) or acquired (often develops in late childhood); temporary deficiency is seen after small bowel infection (lactase is highly susceptible to injury).</a:t>
            </a:r>
          </a:p>
        </p:txBody>
      </p:sp>
    </p:spTree>
    <p:extLst>
      <p:ext uri="{BB962C8B-B14F-4D97-AF65-F5344CB8AC3E}">
        <p14:creationId xmlns:p14="http://schemas.microsoft.com/office/powerpoint/2010/main" val="1325885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DD1C2-D7BB-C842-AF8C-F6FBC03B0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CARCINOID TUMOR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8E95C-D644-4C16-F615-CBCEB8285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A. Malignant proliferation of neuroendocrine cells; low-grade malignancy</a:t>
            </a:r>
          </a:p>
          <a:p>
            <a:r>
              <a:rPr lang="en-US" dirty="0"/>
              <a:t>B. Can arise anywhere along the gut; small bowel is the most common site.</a:t>
            </a:r>
          </a:p>
          <a:p>
            <a:r>
              <a:rPr lang="en-US" dirty="0"/>
              <a:t>1. Grows as a submucosal polyp-like nodule </a:t>
            </a:r>
          </a:p>
          <a:p>
            <a:r>
              <a:rPr lang="en-US" dirty="0"/>
              <a:t>C. Often secretes serotonin</a:t>
            </a:r>
          </a:p>
        </p:txBody>
      </p:sp>
    </p:spTree>
    <p:extLst>
      <p:ext uri="{BB962C8B-B14F-4D97-AF65-F5344CB8AC3E}">
        <p14:creationId xmlns:p14="http://schemas.microsoft.com/office/powerpoint/2010/main" val="2130551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0C5A-DC42-40F0-65F1-3C2209E1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B3418-3052-07E3-BE12-942B3CFD3A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D. Metastasis of carcinoid tumor to the liver allows serotonin to bypass liver metabolism.</a:t>
            </a:r>
          </a:p>
          <a:p>
            <a:r>
              <a:rPr lang="en-US" dirty="0"/>
              <a:t>1. Serotonin is released into the hepatic vein and leaks into systemic circulation via hepato-systemic shunts, resulting in carcinoid syndrome and carcinoid heart disease.</a:t>
            </a:r>
          </a:p>
          <a:p>
            <a:r>
              <a:rPr lang="en-US" dirty="0"/>
              <a:t>2. Carcinoid syndrome is characterized by bronchospasm, diarrhea, and flushing of skin;  </a:t>
            </a:r>
          </a:p>
          <a:p>
            <a:r>
              <a:rPr lang="en-US" dirty="0"/>
              <a:t>3. Carcinoid heart disease is characterized by right-sided valvular fibrosis(increased  collagen) leading to tricuspid regurgitation and pulmonary valve stenosis; left-sided valvular lesions are not seen due to presence of monoamine oxidase (metabolizes serotonin) in the lung.</a:t>
            </a:r>
          </a:p>
        </p:txBody>
      </p:sp>
    </p:spTree>
    <p:extLst>
      <p:ext uri="{BB962C8B-B14F-4D97-AF65-F5344CB8AC3E}">
        <p14:creationId xmlns:p14="http://schemas.microsoft.com/office/powerpoint/2010/main" val="24180851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08D93-14BB-CD6D-4652-53C79C0B1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25F6-DA97-C95D-7932-9BD478D9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ACUTE APPENDICITIS</a:t>
            </a:r>
          </a:p>
          <a:p>
            <a:pPr marL="0" indent="0">
              <a:buNone/>
            </a:pPr>
            <a:r>
              <a:rPr lang="en-US" dirty="0"/>
              <a:t>A. Acute inflammation of the appendix; most common cause of acute abdomen</a:t>
            </a:r>
          </a:p>
          <a:p>
            <a:pPr marL="0" indent="0">
              <a:buNone/>
            </a:pPr>
            <a:r>
              <a:rPr lang="en-US" dirty="0"/>
              <a:t>B. Related to obstruction of the appendix by lymphoid hyperplasia (children) or a</a:t>
            </a:r>
          </a:p>
          <a:p>
            <a:pPr marL="0" indent="0">
              <a:buNone/>
            </a:pPr>
            <a:r>
              <a:rPr lang="en-US" dirty="0"/>
              <a:t>fecalith (adults)</a:t>
            </a:r>
          </a:p>
          <a:p>
            <a:pPr marL="0" indent="0">
              <a:buNone/>
            </a:pPr>
            <a:r>
              <a:rPr lang="en-US" dirty="0"/>
              <a:t>C. Clinical features include</a:t>
            </a:r>
          </a:p>
          <a:p>
            <a:pPr marL="0" indent="0">
              <a:buNone/>
            </a:pPr>
            <a:r>
              <a:rPr lang="en-US" dirty="0"/>
              <a:t>1. Periumbilical pain, fever, and nausea; pain eventually localizes to right lower</a:t>
            </a:r>
          </a:p>
          <a:p>
            <a:pPr marL="0" indent="0">
              <a:buNone/>
            </a:pPr>
            <a:r>
              <a:rPr lang="en-US" dirty="0"/>
              <a:t>quadrant (McBurney point).</a:t>
            </a:r>
          </a:p>
          <a:p>
            <a:pPr marL="0" indent="0">
              <a:buNone/>
            </a:pPr>
            <a:r>
              <a:rPr lang="en-US" dirty="0"/>
              <a:t>2. Rupture results in peritonitis that presents with guarding and rebound tenderness.</a:t>
            </a:r>
          </a:p>
          <a:p>
            <a:pPr marL="0" indent="0">
              <a:buNone/>
            </a:pPr>
            <a:r>
              <a:rPr lang="en-US" dirty="0"/>
              <a:t>3. Peri appendiceal abscess is a common complication.</a:t>
            </a:r>
          </a:p>
        </p:txBody>
      </p:sp>
    </p:spTree>
    <p:extLst>
      <p:ext uri="{BB962C8B-B14F-4D97-AF65-F5344CB8AC3E}">
        <p14:creationId xmlns:p14="http://schemas.microsoft.com/office/powerpoint/2010/main" val="1465479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5A6CE-C328-478A-ECE8-26F0BEF2A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INFLAMMATORY BOWEL 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A0C6C-90BB-FA65-2BF3-CAD5CF5AC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A. Chronic, relapsing inflammation of bowel</a:t>
            </a:r>
          </a:p>
          <a:p>
            <a:r>
              <a:rPr lang="en-US" dirty="0"/>
              <a:t>B. Possibly due to abnormal immune response to enteric flora</a:t>
            </a:r>
          </a:p>
          <a:p>
            <a:r>
              <a:rPr lang="en-US" dirty="0"/>
              <a:t>C. Classically presents in young women (teens to 30s) as recurrent bouts of bloody diarrhea and abdominal pain</a:t>
            </a:r>
          </a:p>
          <a:p>
            <a:r>
              <a:rPr lang="en-US" dirty="0"/>
              <a:t>D. Diagnosis of exclusion; symptoms mimic other causes of bowel inflammation (e.g., infection).</a:t>
            </a:r>
          </a:p>
          <a:p>
            <a:r>
              <a:rPr lang="en-US" dirty="0"/>
              <a:t>E. Subclassified as ulcerative colitis or Crohn disease</a:t>
            </a:r>
          </a:p>
        </p:txBody>
      </p:sp>
    </p:spTree>
    <p:extLst>
      <p:ext uri="{BB962C8B-B14F-4D97-AF65-F5344CB8AC3E}">
        <p14:creationId xmlns:p14="http://schemas.microsoft.com/office/powerpoint/2010/main" val="7095514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6DCC8-6C6C-5DA7-7F3B-491D8436F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A40367-C814-5602-0C0C-6EA7B1F177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116" y="1825625"/>
            <a:ext cx="10166683" cy="4667250"/>
          </a:xfrm>
        </p:spPr>
      </p:pic>
    </p:spTree>
    <p:extLst>
      <p:ext uri="{BB962C8B-B14F-4D97-AF65-F5344CB8AC3E}">
        <p14:creationId xmlns:p14="http://schemas.microsoft.com/office/powerpoint/2010/main" val="4179091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A313E-923A-4844-F6E3-6D3FB8DB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AA250-DBE0-4FD4-02A0-2D13D9647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HIRSCHSPRUNG DISEASE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A. Defective relaxation and peristalsis of rectum and distal sigmoid colon</a:t>
            </a:r>
          </a:p>
          <a:p>
            <a:pPr algn="l"/>
            <a:r>
              <a:rPr lang="en-US" sz="1800" b="1" i="0" u="none" strike="noStrike" baseline="0" dirty="0">
                <a:latin typeface="TimesNewRoman,Bold"/>
              </a:rPr>
              <a:t>1. </a:t>
            </a:r>
            <a:r>
              <a:rPr lang="en-US" sz="1800" b="0" i="0" u="none" strike="noStrike" baseline="0" dirty="0">
                <a:latin typeface="MinionPro-Regular"/>
              </a:rPr>
              <a:t>Associated with Down syndrome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B. Due to congenital failure of ganglion cells (neural crest-derived) to descend into myenteric and submucosal plexus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C. Clinical features are based on obstruction.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Failure to pass meconium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Empty rectal vault on digital rectal exam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3. Massive dilatation (megacolon) of bowel proximal to obstruction with risk for rupture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D. Rectal suction biopsy reveals lack of ganglion cells.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E. Treatment involves resection of the involved bowel; ganglion cells are present in the bowel proximal to the diseased segment.</a:t>
            </a:r>
          </a:p>
        </p:txBody>
      </p:sp>
    </p:spTree>
    <p:extLst>
      <p:ext uri="{BB962C8B-B14F-4D97-AF65-F5344CB8AC3E}">
        <p14:creationId xmlns:p14="http://schemas.microsoft.com/office/powerpoint/2010/main" val="22073124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76300-C2DC-8E82-F68A-195A9E3A7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COLONIC DIVERTICULA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3D7D7-76A0-F076-73B1-B6F3165C9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A. Outpouchings of mucosa and submucosa through the muscularis propria (false diverticulum)</a:t>
            </a:r>
          </a:p>
          <a:p>
            <a:r>
              <a:rPr lang="en-US" dirty="0"/>
              <a:t>B. Related to wall stress</a:t>
            </a:r>
          </a:p>
          <a:p>
            <a:r>
              <a:rPr lang="en-US" dirty="0"/>
              <a:t>C. Usually asymptomatic; complications include</a:t>
            </a:r>
          </a:p>
          <a:p>
            <a:r>
              <a:rPr lang="en-US" dirty="0"/>
              <a:t>1. Rectal bleeding (hematochezia)</a:t>
            </a:r>
          </a:p>
          <a:p>
            <a:r>
              <a:rPr lang="en-US" dirty="0"/>
              <a:t>2. Diverticulitis - due to obstructing fecal material; presents with appendicitis-like symptoms in the left lower quadrant</a:t>
            </a:r>
          </a:p>
          <a:p>
            <a:r>
              <a:rPr lang="en-US" dirty="0"/>
              <a:t>3. Fistula - Inflamed diverticulum ruptures and attaches to a local structure. </a:t>
            </a:r>
          </a:p>
        </p:txBody>
      </p:sp>
    </p:spTree>
    <p:extLst>
      <p:ext uri="{BB962C8B-B14F-4D97-AF65-F5344CB8AC3E}">
        <p14:creationId xmlns:p14="http://schemas.microsoft.com/office/powerpoint/2010/main" val="994470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BBC2-78D1-BBE8-56E1-ADE59EBF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COLONIC POLYPS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858A9-8581-63C5-9E0B-4BD93E91A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A. Raised protrusions of colonic mucosa</a:t>
            </a:r>
          </a:p>
          <a:p>
            <a:r>
              <a:rPr lang="en-US" dirty="0"/>
              <a:t>B. Most common types are hyperplastic and adenomatous polyps.</a:t>
            </a:r>
          </a:p>
          <a:p>
            <a:r>
              <a:rPr lang="en-US" dirty="0"/>
              <a:t>1. Hyperplastic polyps are due to hyperplasia of glands; classically show a 'serrated’ appearance on microscopy</a:t>
            </a:r>
          </a:p>
          <a:p>
            <a:r>
              <a:rPr lang="en-US" dirty="0" err="1"/>
              <a:t>i</a:t>
            </a:r>
            <a:r>
              <a:rPr lang="en-US" dirty="0"/>
              <a:t>. Most common type of polyp; usually arise in the left colon (rectosigmoid)</a:t>
            </a:r>
          </a:p>
          <a:p>
            <a:r>
              <a:rPr lang="en-US" dirty="0"/>
              <a:t>ii. Benign, with no malignant potential</a:t>
            </a:r>
          </a:p>
          <a:p>
            <a:r>
              <a:rPr lang="en-US" dirty="0"/>
              <a:t>2. Adenomatous polyps are due to neoplastic proliferation of glands;2nd most common type of colonic polyp</a:t>
            </a:r>
          </a:p>
          <a:p>
            <a:r>
              <a:rPr lang="en-US" dirty="0" err="1"/>
              <a:t>i</a:t>
            </a:r>
            <a:r>
              <a:rPr lang="en-US" dirty="0"/>
              <a:t>. Benign, but premalignant; may progress to adenocarcinoma via the adenoma carcinoma sequence</a:t>
            </a:r>
          </a:p>
          <a:p>
            <a:r>
              <a:rPr lang="en-US" dirty="0"/>
              <a:t>3. Adenoma-carcinoma sequence describes the molecular progression from normal colonic mucosa to adenomatous polyp to carcinoma.</a:t>
            </a:r>
          </a:p>
        </p:txBody>
      </p:sp>
    </p:spTree>
    <p:extLst>
      <p:ext uri="{BB962C8B-B14F-4D97-AF65-F5344CB8AC3E}">
        <p14:creationId xmlns:p14="http://schemas.microsoft.com/office/powerpoint/2010/main" val="2574205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1132A-9EA6-2375-18E6-D9FC0FCB3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FAMILIAL ADENOMATOUS POLYPOSIS (FAP)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6F217-C37D-2490-8335-675AAA8E7C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A. Autosomal dominant disorder characterized by 100s to 1000s of adenomatous colonic polyps .</a:t>
            </a:r>
          </a:p>
          <a:p>
            <a:r>
              <a:rPr lang="en-US" dirty="0"/>
              <a:t>B. Due to inherited APC mutation (chromosome 5); increases propensity to develop adenomatous polyps throughout colon and rectum</a:t>
            </a:r>
          </a:p>
          <a:p>
            <a:r>
              <a:rPr lang="en-US" dirty="0"/>
              <a:t>C. Colon and rectum are removed prophylactically; otherwise, almost all patients develop carcinoma by 40 years of age.</a:t>
            </a:r>
          </a:p>
          <a:p>
            <a:r>
              <a:rPr lang="en-US" dirty="0"/>
              <a:t>D. Gardner syndrome is FAP with fibromatosis and osteomas.</a:t>
            </a:r>
          </a:p>
          <a:p>
            <a:r>
              <a:rPr lang="en-US" dirty="0"/>
              <a:t>E. Turcot syndrome is FAP with CNS tumors (medulloblastoma and glial tumors).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C84C195-F678-4BF7-21DF-AC0E360F27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4471" y="2443739"/>
            <a:ext cx="3277057" cy="3115110"/>
          </a:xfrm>
        </p:spPr>
      </p:pic>
    </p:spTree>
    <p:extLst>
      <p:ext uri="{BB962C8B-B14F-4D97-AF65-F5344CB8AC3E}">
        <p14:creationId xmlns:p14="http://schemas.microsoft.com/office/powerpoint/2010/main" val="607680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9AF82-5A0A-18C9-DB14-3B4C8562C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COLORECTAL CARCINOMA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DC42C-1D13-9085-86FA-FC7D3A11C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A. Carcinoma arising from colonic or rectal mucosa; 3rd most common site of cancer and 3rd most common cause of cancer-related death</a:t>
            </a:r>
          </a:p>
          <a:p>
            <a:r>
              <a:rPr lang="en-US" dirty="0"/>
              <a:t>1. Peak incidence is 60-70 years of age.</a:t>
            </a:r>
          </a:p>
          <a:p>
            <a:r>
              <a:rPr lang="en-US" dirty="0"/>
              <a:t>B. Most commonly arises from adenoma-carcinoma sequence; a second important molecular pathway is microsatellite instability (MSI).</a:t>
            </a:r>
          </a:p>
          <a:p>
            <a:r>
              <a:rPr lang="en-US" dirty="0"/>
              <a:t>1. Microsatellites are repeating sequences of noncoding DNA; integrity of sequence (stability) is maintained during cell division.</a:t>
            </a:r>
          </a:p>
          <a:p>
            <a:r>
              <a:rPr lang="en-US" dirty="0"/>
              <a:t>2. Instability indicates defective DNA copy mechanisms (e.g., DNA mismatch repair enzymes).</a:t>
            </a:r>
          </a:p>
          <a:p>
            <a:r>
              <a:rPr lang="en-US" dirty="0"/>
              <a:t>3. Hereditary nonpolyposis colorectal carcinoma (HNPCC) is due to inherited mutations in DNA mismatch repair enzymes.</a:t>
            </a:r>
          </a:p>
        </p:txBody>
      </p:sp>
    </p:spTree>
    <p:extLst>
      <p:ext uri="{BB962C8B-B14F-4D97-AF65-F5344CB8AC3E}">
        <p14:creationId xmlns:p14="http://schemas.microsoft.com/office/powerpoint/2010/main" val="24796698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C6E27-8279-7847-46A4-1CA7DFBE2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A5A52-B993-CE13-6D96-AC4D3B1F8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MinionPro-Regular"/>
              </a:rPr>
              <a:t>D. Carcinoma can develop anywhere along entire length of colon.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Left-sided carcinoma usually grows as a 'napkin-ring' lesion; presents with decreased stool caliber, left lower quadrant pain, and blood-streaked stool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Right-sided carcinoma usually grows as a raised lesion; presents with iron deficiency</a:t>
            </a:r>
            <a:r>
              <a:rPr lang="en-US" sz="1800" dirty="0">
                <a:latin typeface="MinionPro-Regular"/>
              </a:rPr>
              <a:t> </a:t>
            </a:r>
            <a:r>
              <a:rPr lang="en-US" sz="1800" b="0" i="0" u="none" strike="noStrike" baseline="0" dirty="0">
                <a:latin typeface="MinionPro-Regular"/>
              </a:rPr>
              <a:t>anemia (occult bleeding) and vague pain. An older adult with iron deficiency anemia has colorectal carcinoma until proven otherwise.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F. Staging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1. T - depth of invasion; 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2. N - spread to regional lymph nodes</a:t>
            </a:r>
          </a:p>
          <a:p>
            <a:pPr algn="l"/>
            <a:r>
              <a:rPr lang="en-US" sz="1800" b="0" i="0" u="none" strike="noStrike" baseline="0" dirty="0">
                <a:latin typeface="MinionPro-Regular"/>
              </a:rPr>
              <a:t>3. M - distant spread; most commonly involves the liver</a:t>
            </a:r>
          </a:p>
        </p:txBody>
      </p:sp>
    </p:spTree>
    <p:extLst>
      <p:ext uri="{BB962C8B-B14F-4D97-AF65-F5344CB8AC3E}">
        <p14:creationId xmlns:p14="http://schemas.microsoft.com/office/powerpoint/2010/main" val="42224088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DAC26-140A-A6B3-DBBB-9770D9B34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A452A-BF3B-C21C-EB07-12920EC0D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4598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979797"/>
      </a:dk1>
      <a:lt1>
        <a:sysClr val="window" lastClr="20202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979797"/>
      </a:dk1>
      <a:lt1>
        <a:sysClr val="window" lastClr="20202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3647</Words>
  <Application>Microsoft Office PowerPoint</Application>
  <PresentationFormat>Widescreen</PresentationFormat>
  <Paragraphs>305</Paragraphs>
  <Slides>38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Calibri</vt:lpstr>
      <vt:lpstr>Calibri Light</vt:lpstr>
      <vt:lpstr>MinionPro-It</vt:lpstr>
      <vt:lpstr>MinionPro-Regular</vt:lpstr>
      <vt:lpstr>TimesNewRoman</vt:lpstr>
      <vt:lpstr>TimesNewRoman,Bold</vt:lpstr>
      <vt:lpstr>Wingdings</vt:lpstr>
      <vt:lpstr>Office Theme</vt:lpstr>
      <vt:lpstr>Pathology of the GI system</vt:lpstr>
      <vt:lpstr>ORAL CAVITY</vt:lpstr>
      <vt:lpstr>ORAL HERPES</vt:lpstr>
      <vt:lpstr>SQUAMOUS CELL CARCINOMA</vt:lpstr>
      <vt:lpstr>SALIVARY GLAND</vt:lpstr>
      <vt:lpstr>PowerPoint Presentation</vt:lpstr>
      <vt:lpstr>PowerPoint Presentation</vt:lpstr>
      <vt:lpstr>ESOPHAGUS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STOMACH</vt:lpstr>
      <vt:lpstr>ACUTE GASTRITIS </vt:lpstr>
      <vt:lpstr>CHRONIC GASTRITIS</vt:lpstr>
      <vt:lpstr>PowerPoint Presentation</vt:lpstr>
      <vt:lpstr>PEPTIC ULCER DISEASE</vt:lpstr>
      <vt:lpstr>PowerPoint Presentation</vt:lpstr>
      <vt:lpstr>GASTRIC CARCINOMA</vt:lpstr>
      <vt:lpstr>PowerPoint Presentation</vt:lpstr>
      <vt:lpstr>SMALL BOWEL</vt:lpstr>
      <vt:lpstr>PowerPoint Presentation</vt:lpstr>
      <vt:lpstr>PowerPoint Presentation</vt:lpstr>
      <vt:lpstr>LACTOSE INTOLERANCE</vt:lpstr>
      <vt:lpstr>CARCINOID TUMOR</vt:lpstr>
      <vt:lpstr>PowerPoint Presentation</vt:lpstr>
      <vt:lpstr>APPENDIX</vt:lpstr>
      <vt:lpstr>INFLAMMATORY BOWEL DISEASE</vt:lpstr>
      <vt:lpstr>PowerPoint Presentation</vt:lpstr>
      <vt:lpstr>COLON</vt:lpstr>
      <vt:lpstr>COLONIC DIVERTICULA</vt:lpstr>
      <vt:lpstr>COLONIC POLYPS</vt:lpstr>
      <vt:lpstr>FAMILIAL ADENOMATOUS POLYPOSIS (FAP)</vt:lpstr>
      <vt:lpstr>COLORECTAL CARCINOMA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Pathology of the gi system</dc:title>
  <dc:creator>user</dc:creator>
  <cp:lastModifiedBy>user</cp:lastModifiedBy>
  <cp:revision>4</cp:revision>
  <dcterms:created xsi:type="dcterms:W3CDTF">2024-01-04T16:48:40Z</dcterms:created>
  <dcterms:modified xsi:type="dcterms:W3CDTF">2024-01-13T06:55:08Z</dcterms:modified>
</cp:coreProperties>
</file>