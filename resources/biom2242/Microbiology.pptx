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sldIdLst>
    <p:sldId id="328" r:id="rId2"/>
    <p:sldId id="256" r:id="rId3"/>
    <p:sldId id="257" r:id="rId4"/>
    <p:sldId id="258" r:id="rId5"/>
    <p:sldId id="327" r:id="rId6"/>
    <p:sldId id="325" r:id="rId7"/>
    <p:sldId id="277" r:id="rId8"/>
    <p:sldId id="330" r:id="rId9"/>
    <p:sldId id="279" r:id="rId10"/>
    <p:sldId id="329" r:id="rId11"/>
    <p:sldId id="280" r:id="rId12"/>
    <p:sldId id="281" r:id="rId13"/>
    <p:sldId id="282" r:id="rId14"/>
    <p:sldId id="283" r:id="rId15"/>
    <p:sldId id="331" r:id="rId16"/>
    <p:sldId id="284" r:id="rId17"/>
    <p:sldId id="285" r:id="rId18"/>
    <p:sldId id="286" r:id="rId19"/>
    <p:sldId id="287" r:id="rId20"/>
    <p:sldId id="332" r:id="rId21"/>
    <p:sldId id="261" r:id="rId22"/>
    <p:sldId id="262" r:id="rId23"/>
    <p:sldId id="263" r:id="rId24"/>
    <p:sldId id="264" r:id="rId25"/>
    <p:sldId id="265" r:id="rId26"/>
    <p:sldId id="266" r:id="rId27"/>
    <p:sldId id="288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90" r:id="rId38"/>
    <p:sldId id="291" r:id="rId39"/>
    <p:sldId id="292" r:id="rId40"/>
    <p:sldId id="293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2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59C4C-3FAE-4F3D-9B56-90CA9FE50A5E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9864AD-EEFC-4080-B87C-FDAD938CF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5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ID-Infectious disease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05A583-EB6B-4C6B-B331-22CE0557A4E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69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Abs</a:t>
            </a:r>
            <a:r>
              <a:rPr lang="en-US" sz="1200" baseline="0" dirty="0"/>
              <a:t>-Antibodies ; </a:t>
            </a:r>
            <a:r>
              <a:rPr lang="en-US" sz="1200" dirty="0"/>
              <a:t>Guillain–</a:t>
            </a:r>
            <a:r>
              <a:rPr lang="en-US" sz="1200" dirty="0" err="1"/>
              <a:t>Barré</a:t>
            </a:r>
            <a:r>
              <a:rPr lang="en-US" sz="1200" dirty="0"/>
              <a:t> syndrome (GBS)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05A583-EB6B-4C6B-B331-22CE0557A4E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78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Colonies have a typical ‘horse manure’ odour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05A583-EB6B-4C6B-B331-22CE0557A4E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203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5459D-B5DF-4520-81F2-335C82365899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F045-E4E7-476C-A179-BA23F528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24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5459D-B5DF-4520-81F2-335C82365899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F045-E4E7-476C-A179-BA23F528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33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5459D-B5DF-4520-81F2-335C82365899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F045-E4E7-476C-A179-BA23F528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20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5459D-B5DF-4520-81F2-335C82365899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F045-E4E7-476C-A179-BA23F528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979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5459D-B5DF-4520-81F2-335C82365899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F045-E4E7-476C-A179-BA23F528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099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5459D-B5DF-4520-81F2-335C82365899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F045-E4E7-476C-A179-BA23F528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67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5459D-B5DF-4520-81F2-335C82365899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F045-E4E7-476C-A179-BA23F528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5459D-B5DF-4520-81F2-335C82365899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F045-E4E7-476C-A179-BA23F528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48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5459D-B5DF-4520-81F2-335C82365899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F045-E4E7-476C-A179-BA23F528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349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5459D-B5DF-4520-81F2-335C82365899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F045-E4E7-476C-A179-BA23F528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10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5459D-B5DF-4520-81F2-335C82365899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1F045-E4E7-476C-A179-BA23F528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93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5459D-B5DF-4520-81F2-335C82365899}" type="datetimeFigureOut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1F045-E4E7-476C-A179-BA23F528E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953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l"/>
            <a:r>
              <a:rPr lang="en-US" sz="4000" b="1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Common term GIT</a:t>
            </a:r>
          </a:p>
          <a:p>
            <a:r>
              <a:rPr lang="en-US" sz="2400" b="1" dirty="0"/>
              <a:t>Common ethological agents</a:t>
            </a:r>
          </a:p>
          <a:p>
            <a:pPr lvl="1">
              <a:buFont typeface="Wingdings" pitchFamily="2" charset="2"/>
              <a:buChar char="ü"/>
            </a:pPr>
            <a:r>
              <a:rPr lang="en-US" sz="1800" b="1" dirty="0"/>
              <a:t>Bacteria</a:t>
            </a:r>
          </a:p>
          <a:p>
            <a:pPr lvl="1">
              <a:buFont typeface="Wingdings" pitchFamily="2" charset="2"/>
              <a:buChar char="ü"/>
            </a:pPr>
            <a:r>
              <a:rPr lang="en-US" sz="1800" b="1" dirty="0"/>
              <a:t>Virus</a:t>
            </a:r>
          </a:p>
          <a:p>
            <a:pPr lvl="1">
              <a:buFont typeface="Wingdings" pitchFamily="2" charset="2"/>
              <a:buChar char="ü"/>
            </a:pPr>
            <a:r>
              <a:rPr lang="en-US" sz="1800" b="1" dirty="0"/>
              <a:t>Parasite</a:t>
            </a:r>
            <a:endParaRPr lang="en-US" sz="1800" dirty="0"/>
          </a:p>
          <a:p>
            <a:pPr>
              <a:buFont typeface="Wingdings" pitchFamily="2" charset="2"/>
              <a:buChar char="§"/>
            </a:pPr>
            <a:r>
              <a:rPr lang="en-US" sz="2200" b="1" dirty="0"/>
              <a:t>Detail on each microbes that cause GIT</a:t>
            </a:r>
          </a:p>
        </p:txBody>
      </p:sp>
    </p:spTree>
    <p:extLst>
      <p:ext uri="{BB962C8B-B14F-4D97-AF65-F5344CB8AC3E}">
        <p14:creationId xmlns:p14="http://schemas.microsoft.com/office/powerpoint/2010/main" val="3948060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14400"/>
            <a:ext cx="7772400" cy="34290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Common microbes causing</a:t>
            </a:r>
            <a:br>
              <a:rPr lang="en-US" b="1" dirty="0"/>
            </a:br>
            <a:r>
              <a:rPr lang="en-US" b="1" dirty="0"/>
              <a:t>Gastrointestinal infections (GIT)</a:t>
            </a:r>
            <a:br>
              <a:rPr lang="en-US" b="1" dirty="0"/>
            </a:b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5600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/>
              <a:t>Infectious Diseases of GIT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2400" dirty="0"/>
              <a:t>GIT-long tube with many expanded areas </a:t>
            </a:r>
          </a:p>
          <a:p>
            <a:r>
              <a:rPr lang="en-US" sz="2400" dirty="0">
                <a:solidFill>
                  <a:srgbClr val="002060"/>
                </a:solidFill>
              </a:rPr>
              <a:t>Designed</a:t>
            </a:r>
            <a:r>
              <a:rPr lang="en-US" sz="2400" dirty="0"/>
              <a:t>: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7030A0"/>
                </a:solidFill>
              </a:rPr>
              <a:t>Digestion of food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7030A0"/>
                </a:solidFill>
              </a:rPr>
              <a:t>Absorption of nutrients, and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7030A0"/>
                </a:solidFill>
              </a:rPr>
              <a:t>Elimination of undigested material</a:t>
            </a:r>
            <a:endParaRPr lang="en-US" b="1" dirty="0">
              <a:solidFill>
                <a:srgbClr val="7030A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Transient and resident microbes present in GIT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Most of mos. ingested with food are destroyed;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Low pH (</a:t>
            </a:r>
            <a:r>
              <a:rPr lang="en-US" sz="2000" b="1" dirty="0">
                <a:solidFill>
                  <a:srgbClr val="002060"/>
                </a:solidFill>
              </a:rPr>
              <a:t>gastric pH of 1.5</a:t>
            </a:r>
            <a:r>
              <a:rPr lang="en-US" sz="2000" dirty="0"/>
              <a:t>)- stomach and duodenum and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Inhibited by resident microbiota (microbial antagonism)</a:t>
            </a:r>
          </a:p>
        </p:txBody>
      </p:sp>
    </p:spTree>
    <p:extLst>
      <p:ext uri="{BB962C8B-B14F-4D97-AF65-F5344CB8AC3E}">
        <p14:creationId xmlns:p14="http://schemas.microsoft.com/office/powerpoint/2010/main" val="2692995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Terms relating to GIT infection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Colitis</a:t>
            </a:r>
            <a:r>
              <a:rPr lang="en-US" sz="2400" b="1" dirty="0"/>
              <a:t>: </a:t>
            </a:r>
            <a:r>
              <a:rPr lang="en-US" sz="2400" dirty="0"/>
              <a:t>Inflammation of colon (large intestine).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Diarrhea</a:t>
            </a:r>
            <a:r>
              <a:rPr lang="en-US" sz="2400" b="1" dirty="0"/>
              <a:t>: </a:t>
            </a:r>
            <a:r>
              <a:rPr lang="en-US" sz="2400" dirty="0"/>
              <a:t>An abnormally frequent discharge of semisolid or fluid fecal matter. 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Dysentery</a:t>
            </a:r>
            <a:r>
              <a:rPr lang="en-US" sz="2400" b="1" dirty="0"/>
              <a:t>: </a:t>
            </a:r>
            <a:r>
              <a:rPr lang="en-US" sz="2400" dirty="0"/>
              <a:t>Frequent watery stools, accompanied by</a:t>
            </a:r>
            <a:br>
              <a:rPr lang="en-US" sz="2400" dirty="0"/>
            </a:br>
            <a:r>
              <a:rPr lang="en-US" sz="2400" dirty="0"/>
              <a:t>abdominal pain, fever, and dehydration. 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The stool specimens contain blood or mucus.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Gastritis</a:t>
            </a:r>
            <a:r>
              <a:rPr lang="en-US" sz="2400" b="1" dirty="0"/>
              <a:t>: </a:t>
            </a:r>
            <a:r>
              <a:rPr lang="en-US" sz="2400" dirty="0"/>
              <a:t>Inflammation of mucosal lining of stomach</a:t>
            </a:r>
            <a:endParaRPr lang="en-US" sz="2400" b="1" dirty="0">
              <a:solidFill>
                <a:srgbClr val="002060"/>
              </a:solidFill>
            </a:endParaRPr>
          </a:p>
          <a:p>
            <a:r>
              <a:rPr lang="en-US" sz="2400" b="1" dirty="0">
                <a:solidFill>
                  <a:srgbClr val="002060"/>
                </a:solidFill>
              </a:rPr>
              <a:t>Gastroenteritis</a:t>
            </a:r>
            <a:r>
              <a:rPr lang="en-US" sz="2400" b="1" dirty="0"/>
              <a:t>: </a:t>
            </a:r>
            <a:r>
              <a:rPr lang="en-US" sz="2400" dirty="0"/>
              <a:t>Inflammation of mucosal linings of stomach and intestines.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Hepatitis</a:t>
            </a:r>
            <a:r>
              <a:rPr lang="en-US" sz="2400" b="1" dirty="0"/>
              <a:t>: </a:t>
            </a:r>
            <a:r>
              <a:rPr lang="en-US" sz="2400" dirty="0"/>
              <a:t>Inflammation of liver; viral infection /toxic agents</a:t>
            </a:r>
          </a:p>
        </p:txBody>
      </p:sp>
    </p:spTree>
    <p:extLst>
      <p:ext uri="{BB962C8B-B14F-4D97-AF65-F5344CB8AC3E}">
        <p14:creationId xmlns:p14="http://schemas.microsoft.com/office/powerpoint/2010/main" val="4186687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04800"/>
            <a:ext cx="7467600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31618" y="6324600"/>
            <a:ext cx="8991600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Fig. </a:t>
            </a:r>
            <a:r>
              <a:rPr lang="en-US" dirty="0"/>
              <a:t>A schematic of GIT, from mouth to anus. Listed are many diseases that are associated with GI and hepatobiliary systems</a:t>
            </a:r>
          </a:p>
        </p:txBody>
      </p:sp>
      <p:sp>
        <p:nvSpPr>
          <p:cNvPr id="2" name="Rectangle 1"/>
          <p:cNvSpPr/>
          <p:nvPr/>
        </p:nvSpPr>
        <p:spPr>
          <a:xfrm>
            <a:off x="1752600" y="533400"/>
            <a:ext cx="306359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Terms relating to GIT infection</a:t>
            </a:r>
          </a:p>
        </p:txBody>
      </p:sp>
    </p:spTree>
    <p:extLst>
      <p:ext uri="{BB962C8B-B14F-4D97-AF65-F5344CB8AC3E}">
        <p14:creationId xmlns:p14="http://schemas.microsoft.com/office/powerpoint/2010/main" val="2129250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  <a:p>
            <a:pPr algn="ctr"/>
            <a:r>
              <a:rPr lang="en-US" sz="3600" b="1" dirty="0"/>
              <a:t>What mean by </a:t>
            </a:r>
            <a:r>
              <a:rPr lang="en-US" sz="3600" b="1" dirty="0">
                <a:solidFill>
                  <a:srgbClr val="002060"/>
                </a:solidFill>
              </a:rPr>
              <a:t>Diarrhea?</a:t>
            </a:r>
            <a:endParaRPr lang="en-US" sz="3600" b="1" dirty="0"/>
          </a:p>
          <a:p>
            <a:pPr algn="ctr"/>
            <a:r>
              <a:rPr lang="en-US" sz="3600" b="1" dirty="0"/>
              <a:t>What mean by </a:t>
            </a:r>
            <a:r>
              <a:rPr lang="en-US" sz="3600" b="1" dirty="0">
                <a:solidFill>
                  <a:srgbClr val="002060"/>
                </a:solidFill>
              </a:rPr>
              <a:t>Dysentery?</a:t>
            </a:r>
            <a:endParaRPr lang="en-US" sz="3600" b="1" dirty="0"/>
          </a:p>
          <a:p>
            <a:pPr algn="ctr"/>
            <a:r>
              <a:rPr lang="en-US" sz="3600" b="1" dirty="0"/>
              <a:t>List out some bacterial ethological agents that cause </a:t>
            </a:r>
            <a:r>
              <a:rPr lang="en-US" sz="3600" b="1" dirty="0">
                <a:solidFill>
                  <a:srgbClr val="002060"/>
                </a:solidFill>
              </a:rPr>
              <a:t>Diarrhea</a:t>
            </a:r>
            <a:r>
              <a:rPr lang="en-US" sz="3600" b="1" dirty="0"/>
              <a:t> and </a:t>
            </a:r>
            <a:r>
              <a:rPr lang="en-US" sz="3600" b="1" dirty="0">
                <a:solidFill>
                  <a:srgbClr val="002060"/>
                </a:solidFill>
              </a:rPr>
              <a:t>Dysentery</a:t>
            </a:r>
            <a:endParaRPr lang="en-US" sz="3600" b="1" dirty="0"/>
          </a:p>
          <a:p>
            <a:pPr algn="ctr"/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00550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002060"/>
                </a:solidFill>
              </a:rPr>
              <a:t>1. Diarrhoea caused by </a:t>
            </a:r>
            <a:r>
              <a:rPr lang="en-US" sz="2400" b="1" i="1" dirty="0">
                <a:solidFill>
                  <a:srgbClr val="002060"/>
                </a:solidFill>
              </a:rPr>
              <a:t>E. coli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</a:rPr>
              <a:t>VTEC</a:t>
            </a:r>
            <a:r>
              <a:rPr lang="en-US" sz="2400" dirty="0"/>
              <a:t> (verocytotoxin-producing </a:t>
            </a:r>
            <a:r>
              <a:rPr lang="en-US" sz="2400" i="1" dirty="0"/>
              <a:t>E. coli</a:t>
            </a:r>
            <a:r>
              <a:rPr lang="en-US" sz="2400" dirty="0"/>
              <a:t>)/ EHEC : diarrhoea and HUS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Enteropathogenic (EPEC): cause of infantile diarrhoea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Enterotoxigenic (ETEC): travellers’ diarrhoea, non-invasive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Enteroinvasive (EIEC): causes dysentery-like illness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Enteroaggregative (EAEC): watery diarrhoea without fever.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88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  <a:p>
            <a:r>
              <a:rPr lang="en-US" dirty="0"/>
              <a:t>What are other infection caused by </a:t>
            </a:r>
            <a:r>
              <a:rPr lang="en-US" i="1" dirty="0"/>
              <a:t>E. coli</a:t>
            </a:r>
            <a:r>
              <a:rPr lang="en-US" dirty="0"/>
              <a:t>?</a:t>
            </a:r>
          </a:p>
          <a:p>
            <a:r>
              <a:rPr lang="en-US" dirty="0"/>
              <a:t>Discuses about the microbiology of </a:t>
            </a:r>
            <a:r>
              <a:rPr lang="en-US" i="1" dirty="0"/>
              <a:t>E.coli.</a:t>
            </a:r>
          </a:p>
        </p:txBody>
      </p:sp>
    </p:spTree>
    <p:extLst>
      <p:ext uri="{BB962C8B-B14F-4D97-AF65-F5344CB8AC3E}">
        <p14:creationId xmlns:p14="http://schemas.microsoft.com/office/powerpoint/2010/main" val="4036526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2800" b="1" i="1" dirty="0"/>
              <a:t>2. Salmonella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2400" dirty="0"/>
              <a:t>The genus contains a large number of serotypes. </a:t>
            </a:r>
          </a:p>
          <a:p>
            <a:r>
              <a:rPr lang="en-US" sz="2400" i="1" dirty="0"/>
              <a:t>Salmonella serotype Typhi: </a:t>
            </a:r>
            <a:r>
              <a:rPr lang="en-US" sz="2400" dirty="0"/>
              <a:t>Typhoid</a:t>
            </a:r>
          </a:p>
          <a:p>
            <a:r>
              <a:rPr lang="en-US" sz="2400" i="1" dirty="0"/>
              <a:t>Salmonella serotype Paratyphi: </a:t>
            </a:r>
            <a:r>
              <a:rPr lang="en-US" sz="2400" dirty="0"/>
              <a:t>Paratyphoid</a:t>
            </a:r>
          </a:p>
          <a:p>
            <a:r>
              <a:rPr lang="en-US" sz="2400" dirty="0"/>
              <a:t>Other salmonellae cause enteritis.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9</a:t>
            </a:fld>
            <a:endParaRPr lang="en-US"/>
          </a:p>
        </p:txBody>
      </p:sp>
      <p:sp>
        <p:nvSpPr>
          <p:cNvPr id="7" name="Right Brace 6"/>
          <p:cNvSpPr/>
          <p:nvPr/>
        </p:nvSpPr>
        <p:spPr>
          <a:xfrm>
            <a:off x="5334000" y="1676427"/>
            <a:ext cx="1066800" cy="369332"/>
          </a:xfrm>
          <a:prstGeom prst="rightBrace">
            <a:avLst>
              <a:gd name="adj1" fmla="val 8333"/>
              <a:gd name="adj2" fmla="val 4472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096836" y="1676427"/>
            <a:ext cx="200465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dirty="0"/>
              <a:t>Cause Enteric fever</a:t>
            </a:r>
          </a:p>
        </p:txBody>
      </p:sp>
    </p:spTree>
    <p:extLst>
      <p:ext uri="{BB962C8B-B14F-4D97-AF65-F5344CB8AC3E}">
        <p14:creationId xmlns:p14="http://schemas.microsoft.com/office/powerpoint/2010/main" val="1589884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  <a:p>
            <a:r>
              <a:rPr lang="en-US" dirty="0"/>
              <a:t>What do you think about antigenic structure of </a:t>
            </a:r>
            <a:r>
              <a:rPr lang="en-US" i="1" dirty="0"/>
              <a:t>Salmonella spp?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437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l"/>
            <a:r>
              <a:rPr lang="en-US" sz="2800" b="1" dirty="0"/>
              <a:t>Classification</a:t>
            </a:r>
            <a:r>
              <a:rPr lang="en-US" sz="2800" b="1" i="1" dirty="0"/>
              <a:t> of Salmonella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400" dirty="0"/>
              <a:t>Over 2,000 serotypes</a:t>
            </a:r>
          </a:p>
          <a:p>
            <a:r>
              <a:rPr lang="en-US" sz="2400" dirty="0"/>
              <a:t>Most of which belong to species </a:t>
            </a:r>
            <a:r>
              <a:rPr lang="en-US" sz="2400" i="1" dirty="0"/>
              <a:t>S. enterica </a:t>
            </a:r>
          </a:p>
          <a:p>
            <a:r>
              <a:rPr lang="en-US" sz="2400" i="1" dirty="0"/>
              <a:t>Salmonella typhimurium</a:t>
            </a:r>
            <a:r>
              <a:rPr lang="en-US" sz="2400" dirty="0"/>
              <a:t> and </a:t>
            </a:r>
            <a:r>
              <a:rPr lang="en-US" sz="2400" i="1" dirty="0"/>
              <a:t>Salmonella enteritidis</a:t>
            </a:r>
          </a:p>
          <a:p>
            <a:r>
              <a:rPr lang="en-US" sz="2400" i="1" dirty="0"/>
              <a:t>Salmonella spp. </a:t>
            </a:r>
            <a:r>
              <a:rPr lang="en-US" sz="2400" dirty="0"/>
              <a:t>have both </a:t>
            </a:r>
            <a:r>
              <a:rPr lang="en-US" sz="2400" b="1" dirty="0">
                <a:solidFill>
                  <a:srgbClr val="002060"/>
                </a:solidFill>
              </a:rPr>
              <a:t>H and O antigens</a:t>
            </a:r>
          </a:p>
          <a:p>
            <a:r>
              <a:rPr lang="en-US" sz="2400" i="1" dirty="0"/>
              <a:t>S. Typhi </a:t>
            </a:r>
            <a:r>
              <a:rPr lang="en-US" sz="2400" dirty="0"/>
              <a:t>- Vi’ (for virulence), which is related to invasiveness.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627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i="1" dirty="0"/>
              <a:t>Epidemiology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r>
              <a:rPr lang="en-US" sz="2400" dirty="0"/>
              <a:t>Commensals of many animals (poultry, domestic pets, birds and humans). </a:t>
            </a:r>
          </a:p>
          <a:p>
            <a:r>
              <a:rPr lang="en-US" sz="2400" dirty="0"/>
              <a:t>Transmission is via the </a:t>
            </a:r>
            <a:r>
              <a:rPr lang="en-US" sz="2400" b="1" dirty="0">
                <a:solidFill>
                  <a:srgbClr val="002060"/>
                </a:solidFill>
              </a:rPr>
              <a:t>faecal-oral route</a:t>
            </a:r>
          </a:p>
          <a:p>
            <a:r>
              <a:rPr lang="en-US" sz="2400" dirty="0"/>
              <a:t>The infective dose is relatively high ID (10⁶)</a:t>
            </a:r>
          </a:p>
          <a:p>
            <a:r>
              <a:rPr lang="en-US" sz="2400" dirty="0"/>
              <a:t>Multiplication in food is important</a:t>
            </a:r>
          </a:p>
          <a:p>
            <a:r>
              <a:rPr lang="en-US" sz="2400" dirty="0"/>
              <a:t>A chronic </a:t>
            </a:r>
            <a:r>
              <a:rPr lang="en-US" sz="2400" b="1" dirty="0">
                <a:solidFill>
                  <a:srgbClr val="002060"/>
                </a:solidFill>
              </a:rPr>
              <a:t>carrier</a:t>
            </a:r>
            <a:r>
              <a:rPr lang="en-US" sz="2400" dirty="0"/>
              <a:t> state can occur</a:t>
            </a:r>
            <a:br>
              <a:rPr lang="en-US" b="1" dirty="0">
                <a:solidFill>
                  <a:srgbClr val="002060"/>
                </a:solidFill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953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i="1" dirty="0"/>
              <a:t>Pathogenicity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400" i="1" dirty="0"/>
              <a:t>Salmonella spp</a:t>
            </a:r>
            <a:r>
              <a:rPr lang="en-US" sz="2400" dirty="0"/>
              <a:t>. can survive acidic pH of stomach </a:t>
            </a:r>
          </a:p>
          <a:p>
            <a:r>
              <a:rPr lang="en-US" sz="2400" dirty="0"/>
              <a:t>Invade gut, resulting in an inflammatory response and subsequent </a:t>
            </a:r>
            <a:r>
              <a:rPr lang="en-US" sz="2400" b="1" dirty="0">
                <a:solidFill>
                  <a:srgbClr val="002060"/>
                </a:solidFill>
              </a:rPr>
              <a:t>diarrhoea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Associated infections</a:t>
            </a:r>
          </a:p>
          <a:p>
            <a:r>
              <a:rPr lang="en-US" sz="2400" i="1" dirty="0"/>
              <a:t>Salmonella </a:t>
            </a:r>
            <a:r>
              <a:rPr lang="en-US" sz="2400" dirty="0"/>
              <a:t>infections: </a:t>
            </a:r>
          </a:p>
          <a:p>
            <a:pPr lvl="1">
              <a:buFont typeface="Wingdings" pitchFamily="2" charset="2"/>
              <a:buChar char="Ø"/>
            </a:pPr>
            <a:r>
              <a:rPr lang="en-US" b="1" dirty="0">
                <a:solidFill>
                  <a:srgbClr val="FF0000"/>
                </a:solidFill>
              </a:rPr>
              <a:t>Non-typhoid salmonellae</a:t>
            </a:r>
            <a:r>
              <a:rPr lang="en-US" dirty="0"/>
              <a:t>; </a:t>
            </a:r>
            <a:r>
              <a:rPr lang="en-US" sz="2000" dirty="0"/>
              <a:t>Enterocolitis/gastroenteritis</a:t>
            </a:r>
            <a:endParaRPr lang="en-US" sz="3600" dirty="0"/>
          </a:p>
          <a:p>
            <a:pPr lvl="1">
              <a:buFont typeface="Wingdings" pitchFamily="2" charset="2"/>
              <a:buChar char="Ø"/>
            </a:pPr>
            <a:r>
              <a:rPr lang="en-US" b="1" dirty="0">
                <a:solidFill>
                  <a:srgbClr val="FF0000"/>
                </a:solidFill>
              </a:rPr>
              <a:t>Enteric fever </a:t>
            </a:r>
            <a:r>
              <a:rPr lang="en-US" dirty="0"/>
              <a:t>(</a:t>
            </a:r>
            <a:r>
              <a:rPr lang="en-US" i="1" dirty="0"/>
              <a:t>S. Typhi </a:t>
            </a:r>
            <a:r>
              <a:rPr lang="en-US" dirty="0"/>
              <a:t>and </a:t>
            </a:r>
            <a:r>
              <a:rPr lang="en-US" i="1" dirty="0"/>
              <a:t>S. Paratyphi</a:t>
            </a:r>
            <a:r>
              <a:rPr lang="en-US" dirty="0"/>
              <a:t>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764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Laboratory diagnosis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Motile and produce acid, and occasionally gas, from glucose and mannose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</a:rPr>
              <a:t>Enterocolitis</a:t>
            </a:r>
            <a:r>
              <a:rPr lang="en-US" sz="2400" dirty="0"/>
              <a:t>: culture of stool samples on selective media (XLD, DCA); Phage typing</a:t>
            </a:r>
            <a:endParaRPr lang="en-US" sz="2400" b="1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</a:rPr>
              <a:t>Enteric fever </a:t>
            </a:r>
          </a:p>
          <a:p>
            <a:r>
              <a:rPr lang="en-US" sz="2400" dirty="0"/>
              <a:t>Isolation of </a:t>
            </a:r>
            <a:r>
              <a:rPr lang="en-US" sz="2400" b="1" i="1" dirty="0">
                <a:solidFill>
                  <a:srgbClr val="002060"/>
                </a:solidFill>
              </a:rPr>
              <a:t>S. Typhi </a:t>
            </a:r>
            <a:r>
              <a:rPr lang="en-US" sz="2400" dirty="0"/>
              <a:t>or </a:t>
            </a:r>
            <a:r>
              <a:rPr lang="en-US" sz="2400" b="1" i="1" dirty="0">
                <a:solidFill>
                  <a:srgbClr val="002060"/>
                </a:solidFill>
              </a:rPr>
              <a:t>S. Paratyphi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2400" dirty="0"/>
              <a:t>Blood cultures : 1</a:t>
            </a:r>
            <a:r>
              <a:rPr lang="en-US" sz="2400" baseline="30000" dirty="0"/>
              <a:t>St</a:t>
            </a:r>
            <a:r>
              <a:rPr lang="en-US" sz="2400" dirty="0"/>
              <a:t> week of infection</a:t>
            </a:r>
          </a:p>
          <a:p>
            <a:r>
              <a:rPr lang="en-US" sz="2400" dirty="0"/>
              <a:t>Urine:  2</a:t>
            </a:r>
            <a:r>
              <a:rPr lang="en-US" sz="2400" baseline="30000" dirty="0"/>
              <a:t>nd</a:t>
            </a:r>
            <a:r>
              <a:rPr lang="en-US" sz="2400" dirty="0"/>
              <a:t> week or </a:t>
            </a:r>
          </a:p>
          <a:p>
            <a:r>
              <a:rPr lang="en-US" sz="2400" dirty="0"/>
              <a:t>Faeces: 1</a:t>
            </a:r>
            <a:r>
              <a:rPr lang="en-US" sz="2400" baseline="30000" dirty="0"/>
              <a:t>St  </a:t>
            </a:r>
            <a:r>
              <a:rPr lang="en-US" sz="2400" dirty="0"/>
              <a:t>week onwards</a:t>
            </a:r>
          </a:p>
          <a:p>
            <a:r>
              <a:rPr lang="en-US" sz="2400" dirty="0"/>
              <a:t>Serology (</a:t>
            </a:r>
            <a:r>
              <a:rPr lang="en-US" sz="2400" b="1" dirty="0">
                <a:solidFill>
                  <a:srgbClr val="002060"/>
                </a:solidFill>
              </a:rPr>
              <a:t>Widal’s test</a:t>
            </a:r>
            <a:r>
              <a:rPr lang="en-US" sz="2400" dirty="0"/>
              <a:t>) is now rarely performed, because of unreliable results.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553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Discuses the principle of </a:t>
            </a:r>
            <a:r>
              <a:rPr lang="en-US" b="1" dirty="0">
                <a:solidFill>
                  <a:srgbClr val="002060"/>
                </a:solidFill>
              </a:rPr>
              <a:t>Widal’s test?</a:t>
            </a:r>
          </a:p>
          <a:p>
            <a:r>
              <a:rPr lang="en-US" b="1" dirty="0">
                <a:solidFill>
                  <a:srgbClr val="002060"/>
                </a:solidFill>
              </a:rPr>
              <a:t>Drawback?</a:t>
            </a:r>
          </a:p>
        </p:txBody>
      </p:sp>
    </p:spTree>
    <p:extLst>
      <p:ext uri="{BB962C8B-B14F-4D97-AF65-F5344CB8AC3E}">
        <p14:creationId xmlns:p14="http://schemas.microsoft.com/office/powerpoint/2010/main" val="649428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Treatment and prevention</a:t>
            </a:r>
          </a:p>
          <a:p>
            <a:r>
              <a:rPr lang="en-US" sz="2400" dirty="0"/>
              <a:t>Enteric fever: ciprofloxacin</a:t>
            </a:r>
          </a:p>
          <a:p>
            <a:r>
              <a:rPr lang="en-US" sz="2400" dirty="0"/>
              <a:t>Enterocolitis: self-limiting; antibiotics </a:t>
            </a:r>
          </a:p>
          <a:p>
            <a:r>
              <a:rPr lang="en-US" sz="2400" dirty="0"/>
              <a:t>Typhoid immunisation; avoidance of contaminated water/food</a:t>
            </a:r>
            <a:br>
              <a:rPr lang="en-US" sz="2400" b="1" dirty="0">
                <a:solidFill>
                  <a:srgbClr val="002060"/>
                </a:solidFill>
              </a:rPr>
            </a:br>
            <a:br>
              <a:rPr lang="en-US" sz="2400" b="1" dirty="0">
                <a:solidFill>
                  <a:srgbClr val="002060"/>
                </a:solidFill>
              </a:rPr>
            </a:b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5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i="1" dirty="0"/>
              <a:t>3. Shigella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lang="en-US" sz="2400" dirty="0"/>
              <a:t>The main pathogenic species;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i="1" dirty="0"/>
              <a:t>S. </a:t>
            </a:r>
            <a:r>
              <a:rPr lang="en-US" sz="2400" i="1" dirty="0" err="1"/>
              <a:t>sonnei</a:t>
            </a:r>
            <a:r>
              <a:rPr lang="en-US" sz="2400" i="1" dirty="0"/>
              <a:t>,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i="1" dirty="0"/>
              <a:t>S. </a:t>
            </a:r>
            <a:r>
              <a:rPr lang="en-US" sz="2400" i="1" dirty="0" err="1"/>
              <a:t>boydii</a:t>
            </a:r>
            <a:r>
              <a:rPr lang="en-US" sz="2400" i="1" dirty="0"/>
              <a:t>,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i="1" dirty="0"/>
              <a:t>S. dysenteriae </a:t>
            </a:r>
            <a:r>
              <a:rPr lang="en-US" sz="2400" dirty="0"/>
              <a:t>and 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i="1" dirty="0"/>
              <a:t>S. </a:t>
            </a:r>
            <a:r>
              <a:rPr lang="en-US" sz="2400" i="1" dirty="0" err="1"/>
              <a:t>flexneri</a:t>
            </a:r>
            <a:r>
              <a:rPr lang="en-US" sz="2400" dirty="0"/>
              <a:t>. </a:t>
            </a:r>
          </a:p>
          <a:p>
            <a:r>
              <a:rPr lang="en-US" sz="2400" dirty="0"/>
              <a:t>They are distinguished by </a:t>
            </a:r>
            <a:r>
              <a:rPr lang="en-US" sz="2400" b="1" dirty="0">
                <a:solidFill>
                  <a:srgbClr val="002060"/>
                </a:solidFill>
              </a:rPr>
              <a:t>biochemical reactions </a:t>
            </a:r>
            <a:r>
              <a:rPr lang="en-US" sz="2400" dirty="0"/>
              <a:t>and </a:t>
            </a:r>
            <a:r>
              <a:rPr lang="en-US" sz="2400" b="1" dirty="0">
                <a:solidFill>
                  <a:srgbClr val="002060"/>
                </a:solidFill>
              </a:rPr>
              <a:t>antigenic characteristics</a:t>
            </a:r>
            <a:r>
              <a:rPr lang="en-US" sz="2400" dirty="0"/>
              <a:t> (‘O’ antigens).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031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Epidemiology</a:t>
            </a:r>
          </a:p>
          <a:p>
            <a:r>
              <a:rPr lang="en-US" sz="2400" dirty="0"/>
              <a:t>Obligate human pathogens with no animal reservoirs; </a:t>
            </a:r>
          </a:p>
          <a:p>
            <a:r>
              <a:rPr lang="en-US" sz="2400" dirty="0"/>
              <a:t>Transmission via </a:t>
            </a:r>
            <a:r>
              <a:rPr lang="en-US" sz="2400" b="1" dirty="0">
                <a:solidFill>
                  <a:srgbClr val="002060"/>
                </a:solidFill>
              </a:rPr>
              <a:t>faecal-oral route </a:t>
            </a:r>
            <a:r>
              <a:rPr lang="en-US" sz="2400" dirty="0"/>
              <a:t>with low ID (10–200 mos.). </a:t>
            </a:r>
          </a:p>
          <a:p>
            <a:r>
              <a:rPr lang="en-US" sz="2400" dirty="0"/>
              <a:t>Direct person-to-person spread is common; </a:t>
            </a:r>
          </a:p>
          <a:p>
            <a:r>
              <a:rPr lang="en-US" sz="2400" dirty="0"/>
              <a:t>Chronic carrier state is rare.</a:t>
            </a:r>
            <a:endParaRPr lang="en-US" dirty="0"/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Pathogenicity</a:t>
            </a:r>
          </a:p>
          <a:p>
            <a:r>
              <a:rPr lang="en-US" sz="2400" dirty="0"/>
              <a:t>Intestinal adherence factor:  aids colonisation within the gut.</a:t>
            </a:r>
          </a:p>
          <a:p>
            <a:r>
              <a:rPr lang="en-US" sz="2400" dirty="0"/>
              <a:t>Produce an enterotoxin (cytotoxin) known as </a:t>
            </a:r>
            <a:r>
              <a:rPr lang="en-US" sz="2400" b="1" dirty="0">
                <a:solidFill>
                  <a:srgbClr val="002060"/>
                </a:solidFill>
              </a:rPr>
              <a:t>Shiga toxin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Shiga toxin:</a:t>
            </a:r>
            <a:r>
              <a:rPr lang="en-US" dirty="0"/>
              <a:t> </a:t>
            </a:r>
            <a:r>
              <a:rPr lang="en-US" sz="2400" dirty="0"/>
              <a:t>cause</a:t>
            </a:r>
            <a:r>
              <a:rPr lang="en-US" dirty="0"/>
              <a:t> </a:t>
            </a:r>
            <a:r>
              <a:rPr lang="en-US" sz="2600" dirty="0"/>
              <a:t>microangiopathy, HUS and thrombocytopenic purpura.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479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Associated infections</a:t>
            </a:r>
          </a:p>
          <a:p>
            <a:r>
              <a:rPr lang="en-US" sz="2400" dirty="0"/>
              <a:t>Self-limiting diarrhoeal illness, 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Dysentery</a:t>
            </a:r>
            <a:r>
              <a:rPr lang="en-US" sz="2400" dirty="0"/>
              <a:t> (diarrhoea with blood and pus, fever, abdominal pain)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Laboratory diagnosis</a:t>
            </a:r>
          </a:p>
          <a:p>
            <a:r>
              <a:rPr lang="en-US" sz="2400" dirty="0"/>
              <a:t>Stool culture on selective media, e.g. XLD.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Treatment</a:t>
            </a:r>
          </a:p>
          <a:p>
            <a:r>
              <a:rPr lang="en-US" sz="2400" dirty="0"/>
              <a:t>Antibiotics (e.g. ciprofloxacin) reserved for severe cases (often caused by </a:t>
            </a:r>
            <a:r>
              <a:rPr lang="en-US" sz="2400" i="1" dirty="0"/>
              <a:t>S. dysenteriae</a:t>
            </a:r>
            <a:r>
              <a:rPr lang="en-US" sz="2400" dirty="0"/>
              <a:t>).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511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What are other cause of </a:t>
            </a:r>
            <a:r>
              <a:rPr lang="en-US" b="1" dirty="0">
                <a:solidFill>
                  <a:srgbClr val="002060"/>
                </a:solidFill>
              </a:rPr>
              <a:t>Dysentery?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721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l"/>
            <a:r>
              <a:rPr lang="en-US" sz="3600" b="1" dirty="0"/>
              <a:t>Outline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800" i="1" dirty="0"/>
              <a:t>Campylobacter,</a:t>
            </a:r>
          </a:p>
          <a:p>
            <a:r>
              <a:rPr lang="en-US" sz="2800" i="1" dirty="0"/>
              <a:t>Helicobacter and </a:t>
            </a:r>
          </a:p>
          <a:p>
            <a:r>
              <a:rPr lang="en-US" sz="2800" i="1" dirty="0"/>
              <a:t>Vibrio</a:t>
            </a:r>
            <a:br>
              <a:rPr lang="en-US" sz="2800" i="1" dirty="0"/>
            </a:br>
            <a:br>
              <a:rPr lang="en-US" sz="2800" i="1" dirty="0"/>
            </a:br>
            <a:endParaRPr lang="en-US" sz="2800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64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400" b="1" dirty="0"/>
              <a:t>1</a:t>
            </a:r>
            <a:r>
              <a:rPr lang="en-US" sz="3600" dirty="0"/>
              <a:t>. </a:t>
            </a:r>
            <a:r>
              <a:rPr lang="en-US" sz="2800" b="1" i="1" dirty="0"/>
              <a:t>Campylobacter</a:t>
            </a:r>
            <a:endParaRPr lang="en-US" sz="36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/>
              <a:t>Spirally curved, GN bacilli;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Motile with </a:t>
            </a:r>
            <a:r>
              <a:rPr lang="en-US" sz="2400" b="1" dirty="0">
                <a:solidFill>
                  <a:srgbClr val="002060"/>
                </a:solidFill>
              </a:rPr>
              <a:t>single polar flagella</a:t>
            </a:r>
            <a:r>
              <a:rPr lang="en-US" sz="2400" dirty="0"/>
              <a:t>;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Non-</a:t>
            </a:r>
            <a:r>
              <a:rPr lang="en-US" sz="2400" dirty="0" err="1"/>
              <a:t>sporing</a:t>
            </a:r>
            <a:r>
              <a:rPr lang="en-US" sz="2400" dirty="0"/>
              <a:t>; non-capsulated;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Microaerophilic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FF0000"/>
                </a:solidFill>
              </a:rPr>
              <a:t>several species</a:t>
            </a:r>
          </a:p>
          <a:p>
            <a:pPr>
              <a:buFont typeface="Wingdings" pitchFamily="2" charset="2"/>
              <a:buChar char="Ø"/>
            </a:pPr>
            <a:r>
              <a:rPr lang="en-US" sz="2600" i="1" dirty="0"/>
              <a:t>C. jejuni</a:t>
            </a:r>
          </a:p>
          <a:p>
            <a:pPr>
              <a:buFont typeface="Wingdings" pitchFamily="2" charset="2"/>
              <a:buChar char="Ø"/>
            </a:pPr>
            <a:r>
              <a:rPr lang="en-US" sz="2600" i="1" dirty="0"/>
              <a:t>C. coli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C. fetus: causes systemic infection in persons with immune deficiency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22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502877" y="3857004"/>
            <a:ext cx="3581400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/>
              <a:t>Cause acute enterocolitis</a:t>
            </a:r>
          </a:p>
        </p:txBody>
      </p:sp>
      <p:sp>
        <p:nvSpPr>
          <p:cNvPr id="8" name="Right Brace 7"/>
          <p:cNvSpPr/>
          <p:nvPr/>
        </p:nvSpPr>
        <p:spPr>
          <a:xfrm>
            <a:off x="2035125" y="3744937"/>
            <a:ext cx="304800" cy="685800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32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8762"/>
          </a:xfrm>
        </p:spPr>
        <p:txBody>
          <a:bodyPr>
            <a:noAutofit/>
          </a:bodyPr>
          <a:lstStyle/>
          <a:p>
            <a:pPr algn="r"/>
            <a:r>
              <a:rPr lang="en-US" sz="20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Epidemiology</a:t>
            </a:r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Worldwide distribution</a:t>
            </a:r>
          </a:p>
          <a:p>
            <a:r>
              <a:rPr lang="en-US" sz="2400" dirty="0"/>
              <a:t>Zoonosis (birds, poultry, cattle, sheep, pigs and pets)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Broiler chickens </a:t>
            </a:r>
            <a:r>
              <a:rPr lang="en-US" sz="2400" dirty="0"/>
              <a:t>are a major source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Pathogenicity</a:t>
            </a:r>
            <a:endParaRPr lang="en-US" sz="2400" dirty="0"/>
          </a:p>
          <a:p>
            <a:r>
              <a:rPr lang="en-US" sz="2400" dirty="0"/>
              <a:t>Endotoxins</a:t>
            </a:r>
          </a:p>
          <a:p>
            <a:r>
              <a:rPr lang="en-US" sz="2400" dirty="0"/>
              <a:t>Cytopathic extracellular toxins and enterotoxins</a:t>
            </a:r>
          </a:p>
          <a:p>
            <a:r>
              <a:rPr lang="en-US" sz="2400" dirty="0"/>
              <a:t>They cause </a:t>
            </a:r>
            <a:r>
              <a:rPr lang="en-US" sz="2400" b="1" dirty="0">
                <a:solidFill>
                  <a:srgbClr val="002060"/>
                </a:solidFill>
              </a:rPr>
              <a:t>acute inflammation of intestinal mucosa</a:t>
            </a:r>
          </a:p>
          <a:p>
            <a:r>
              <a:rPr lang="en-US" sz="2400" dirty="0"/>
              <a:t>Abs to GM1 ganglioside are associated with GBS.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IP-</a:t>
            </a:r>
            <a:r>
              <a:rPr lang="en-US" sz="2400" dirty="0"/>
              <a:t>3 days</a:t>
            </a:r>
          </a:p>
          <a:p>
            <a:r>
              <a:rPr lang="en-US" sz="2400" dirty="0"/>
              <a:t>Infection is self limiting</a:t>
            </a:r>
            <a:br>
              <a:rPr lang="en-US" sz="2400" b="1" dirty="0">
                <a:solidFill>
                  <a:srgbClr val="002060"/>
                </a:solidFill>
              </a:rPr>
            </a:b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23</a:t>
            </a:fld>
            <a:endParaRPr lang="en-US"/>
          </a:p>
        </p:txBody>
      </p:sp>
      <p:pic>
        <p:nvPicPr>
          <p:cNvPr id="1026" name="Picture 2" descr="C:\Users\DELL\Desktop\Anstia PPT-Modular\Schedule_2023\Modular_course\Vidio\What-Is-A-Broiler-Chicken-1200x8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066800"/>
            <a:ext cx="7620000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8537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Autofit/>
          </a:bodyPr>
          <a:lstStyle/>
          <a:p>
            <a:pPr algn="r"/>
            <a:r>
              <a:rPr lang="en-US" sz="20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Associated conditions</a:t>
            </a:r>
          </a:p>
          <a:p>
            <a:r>
              <a:rPr lang="en-US" sz="2400" dirty="0"/>
              <a:t>Campylobacter enteritis: mimic acute appendicitis</a:t>
            </a:r>
          </a:p>
          <a:p>
            <a:r>
              <a:rPr lang="en-US" sz="2400" dirty="0"/>
              <a:t>Reactive arthritis and Guillain Barre syndrome (GBS)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GBS: polyneuropathy with paralysis as complications 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Arise during the recovery phase of illness</a:t>
            </a:r>
            <a:endParaRPr lang="en-US" dirty="0"/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Laboratory diagnosis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Culture of faeces at 42 °C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Under microaerophilic conditions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Serology for serum antibodies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Treatment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Rehydration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Erythromycin or ciprofloxacin only for severe illness.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23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2. </a:t>
            </a:r>
            <a:r>
              <a:rPr lang="en-US" sz="2800" b="1" i="1" dirty="0">
                <a:solidFill>
                  <a:schemeClr val="tx2"/>
                </a:solidFill>
              </a:rPr>
              <a:t>Helicobacter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dirty="0">
                <a:solidFill>
                  <a:schemeClr val="tx2"/>
                </a:solidFill>
              </a:rPr>
              <a:t>H. pylori</a:t>
            </a:r>
          </a:p>
          <a:p>
            <a:r>
              <a:rPr lang="en-US" sz="2400" dirty="0"/>
              <a:t>Curved GN bacilli; </a:t>
            </a:r>
          </a:p>
          <a:p>
            <a:r>
              <a:rPr lang="en-US" sz="2400" dirty="0"/>
              <a:t>Motile (4-6 mono-polar sheathed flagella) moved to gastric mucus ;</a:t>
            </a:r>
          </a:p>
          <a:p>
            <a:r>
              <a:rPr lang="en-US" sz="2400" dirty="0"/>
              <a:t>non-</a:t>
            </a:r>
            <a:r>
              <a:rPr lang="en-US" sz="2400" dirty="0" err="1"/>
              <a:t>sporing</a:t>
            </a:r>
            <a:r>
              <a:rPr lang="en-US" sz="2400" dirty="0"/>
              <a:t>; non-capsulated; </a:t>
            </a:r>
          </a:p>
          <a:p>
            <a:r>
              <a:rPr lang="en-US" sz="2400" dirty="0"/>
              <a:t>Microaerophilic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Epidemiology</a:t>
            </a:r>
          </a:p>
          <a:p>
            <a:r>
              <a:rPr lang="en-US" sz="2400" dirty="0"/>
              <a:t>Infects human gastric epithelial cells </a:t>
            </a:r>
          </a:p>
          <a:p>
            <a:r>
              <a:rPr lang="en-US" sz="2400" dirty="0"/>
              <a:t>Humans are the main reservoir</a:t>
            </a:r>
          </a:p>
          <a:p>
            <a:r>
              <a:rPr lang="en-US" sz="2400" dirty="0"/>
              <a:t>Acquired in early childhood and becomes chronic, </a:t>
            </a:r>
          </a:p>
          <a:p>
            <a:r>
              <a:rPr lang="en-US" sz="2400" dirty="0"/>
              <a:t>Often life-long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25</a:t>
            </a:fld>
            <a:endParaRPr lang="en-US"/>
          </a:p>
        </p:txBody>
      </p:sp>
      <p:pic>
        <p:nvPicPr>
          <p:cNvPr id="2050" name="Picture 2" descr="Helicobacter pylori Life Cyc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914400"/>
            <a:ext cx="4733925" cy="3158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96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/>
            <a:r>
              <a:rPr lang="en-US" sz="1800" dirty="0">
                <a:solidFill>
                  <a:schemeClr val="tx2"/>
                </a:solidFill>
              </a:rPr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Transmission</a:t>
            </a:r>
          </a:p>
          <a:p>
            <a:r>
              <a:rPr lang="en-US" sz="2400" dirty="0"/>
              <a:t>Faecal-oral or oral–oral routes </a:t>
            </a:r>
          </a:p>
          <a:p>
            <a:r>
              <a:rPr lang="en-US" sz="2400" dirty="0"/>
              <a:t>Associated with close contact (intrafamilial) and </a:t>
            </a:r>
          </a:p>
          <a:p>
            <a:r>
              <a:rPr lang="en-US" sz="2400" dirty="0"/>
              <a:t>Poor sanitation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Pathogenicity</a:t>
            </a:r>
            <a:endParaRPr lang="en-US" b="1" dirty="0">
              <a:solidFill>
                <a:schemeClr val="tx2"/>
              </a:solidFill>
            </a:endParaRPr>
          </a:p>
          <a:p>
            <a:r>
              <a:rPr lang="en-US" sz="2400" b="1" dirty="0">
                <a:solidFill>
                  <a:schemeClr val="tx2"/>
                </a:solidFill>
              </a:rPr>
              <a:t>Urease</a:t>
            </a:r>
            <a:r>
              <a:rPr lang="en-US" sz="2400" dirty="0"/>
              <a:t>: neutralise gastric acid through the production of </a:t>
            </a:r>
            <a:r>
              <a:rPr lang="en-US" sz="2400" b="1" dirty="0">
                <a:solidFill>
                  <a:schemeClr val="tx2"/>
                </a:solidFill>
              </a:rPr>
              <a:t>ammonia from urea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Associated infections</a:t>
            </a:r>
          </a:p>
          <a:p>
            <a:r>
              <a:rPr lang="en-US" sz="2400" dirty="0"/>
              <a:t>Duodenal ulceration and </a:t>
            </a:r>
          </a:p>
          <a:p>
            <a:r>
              <a:rPr lang="en-US" sz="2400" dirty="0"/>
              <a:t>Gastric cancer</a:t>
            </a:r>
          </a:p>
          <a:p>
            <a:r>
              <a:rPr lang="en-US" sz="2400" i="1" dirty="0"/>
              <a:t>H. pylori </a:t>
            </a:r>
            <a:r>
              <a:rPr lang="en-US" sz="2400" dirty="0"/>
              <a:t>damages antral D cells that release </a:t>
            </a:r>
            <a:r>
              <a:rPr lang="en-US" sz="2400" b="1" dirty="0">
                <a:solidFill>
                  <a:schemeClr val="tx2"/>
                </a:solidFill>
              </a:rPr>
              <a:t>somatostatin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487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Gastritis</a:t>
            </a:r>
            <a:r>
              <a:rPr lang="en-US" sz="2400" dirty="0"/>
              <a:t> -upper abdominal pain with nausea or heartburn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Duodenal ulcers </a:t>
            </a:r>
            <a:r>
              <a:rPr lang="en-US" sz="2400" dirty="0"/>
              <a:t>- experience gnawing, burning, aching, mild-to-moderate pain just below the breastbone, an empty feeling, and hunger</a:t>
            </a:r>
          </a:p>
          <a:p>
            <a:r>
              <a:rPr lang="en-US" sz="2400" dirty="0"/>
              <a:t>The pain usually occurs when the stomach is empty. </a:t>
            </a:r>
          </a:p>
          <a:p>
            <a:r>
              <a:rPr lang="en-US" sz="2400" dirty="0"/>
              <a:t>Drinking </a:t>
            </a:r>
            <a:r>
              <a:rPr lang="en-US" sz="2400" dirty="0">
                <a:solidFill>
                  <a:srgbClr val="002060"/>
                </a:solidFill>
              </a:rPr>
              <a:t>milk</a:t>
            </a:r>
            <a:r>
              <a:rPr lang="en-US" sz="2400" dirty="0"/>
              <a:t>, eating, or taking antacids generally relieves the pain, but it usually returns 2 or 3 hours later. 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Gastritis+ Duodenal ulcer= peptic ulcers </a:t>
            </a:r>
          </a:p>
          <a:p>
            <a:r>
              <a:rPr lang="en-US" sz="2600" dirty="0"/>
              <a:t>Complications of peptic ulcers include penetration, perforation, bleeding, and obstruction</a:t>
            </a:r>
            <a:endParaRPr lang="en-US" dirty="0"/>
          </a:p>
        </p:txBody>
      </p:sp>
      <p:pic>
        <p:nvPicPr>
          <p:cNvPr id="3074" name="Picture 2" descr="Helicobacter-Infektion: Symptome und Behandlung | Focus Arztsuch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914400"/>
            <a:ext cx="670560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7685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Diagnosis of</a:t>
            </a:r>
            <a:r>
              <a:rPr lang="en-US" sz="2400" i="1" dirty="0"/>
              <a:t> </a:t>
            </a:r>
            <a:r>
              <a:rPr lang="en-US" sz="2400" b="1" i="1" dirty="0">
                <a:solidFill>
                  <a:schemeClr val="tx2"/>
                </a:solidFill>
              </a:rPr>
              <a:t>H. pylori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1. Invasive tests</a:t>
            </a:r>
            <a:r>
              <a:rPr lang="en-US" sz="2400" dirty="0"/>
              <a:t>:  require gastric biopsy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Histopathological appearance;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Culture on selective media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Rapid urease test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PCR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2. Non-invasive tests</a:t>
            </a: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Urea breath test: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Highly sensitive and specific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aseline="30000" dirty="0"/>
              <a:t>13</a:t>
            </a:r>
            <a:r>
              <a:rPr lang="en-US" sz="2000" dirty="0"/>
              <a:t>C- or </a:t>
            </a:r>
            <a:r>
              <a:rPr lang="en-US" sz="2000" baseline="30000" dirty="0"/>
              <a:t>14</a:t>
            </a:r>
            <a:r>
              <a:rPr lang="en-US" sz="2000" dirty="0"/>
              <a:t>C -labeled urea is given to the patient;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If </a:t>
            </a:r>
            <a:r>
              <a:rPr lang="en-US" sz="2000" i="1" dirty="0"/>
              <a:t>H. pylori </a:t>
            </a:r>
            <a:r>
              <a:rPr lang="en-US" sz="2000" dirty="0"/>
              <a:t>is present, urease splits the urea,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producing labeled CO2, which is detected in expired air.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Stool antigen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Serology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28</a:t>
            </a:fld>
            <a:endParaRPr lang="en-US"/>
          </a:p>
        </p:txBody>
      </p:sp>
      <p:sp>
        <p:nvSpPr>
          <p:cNvPr id="2" name="AutoShape 2" descr="H.pylori Antibody Test Cassette | Labmedica Exp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0" name="Picture 4" descr="H Pylori Test Kit, Breath Test for H Pylori Instruction - RapidT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676400"/>
            <a:ext cx="5715000" cy="380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Urea Breath Test (UBT): Principle, Procedure, and Results • Microbe Onl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905000"/>
            <a:ext cx="58674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43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8762"/>
          </a:xfrm>
        </p:spPr>
        <p:txBody>
          <a:bodyPr>
            <a:noAutofit/>
          </a:bodyPr>
          <a:lstStyle/>
          <a:p>
            <a:pPr algn="r"/>
            <a:r>
              <a:rPr lang="en-US" sz="18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Treatment</a:t>
            </a:r>
          </a:p>
          <a:p>
            <a:r>
              <a:rPr lang="en-US" sz="2400" dirty="0"/>
              <a:t>Combination treatment is required due to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Poor antibiotic penetration into the gastric mucosa,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Gastric acidity and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Increasing antimicrobial resistance.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Proton pump inhibitor, e.g. </a:t>
            </a:r>
            <a:r>
              <a:rPr lang="en-US" sz="2400" b="1" dirty="0">
                <a:solidFill>
                  <a:srgbClr val="002060"/>
                </a:solidFill>
              </a:rPr>
              <a:t>omeprazole</a:t>
            </a:r>
            <a:r>
              <a:rPr lang="en-US" sz="2400" dirty="0"/>
              <a:t>, that reduces gastric acidity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Coupled with two antimicrobials 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Amoxicillin, clarithromycin, metronidazole, doxycycline, levofloxacin, rifabutin or bismuth salt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226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3200" b="1" i="1" dirty="0"/>
              <a:t>Vibrio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sz="2400" dirty="0"/>
              <a:t>GN; comma-shaped bacteria; </a:t>
            </a:r>
          </a:p>
          <a:p>
            <a:r>
              <a:rPr lang="en-US" sz="2400" dirty="0"/>
              <a:t>Aerobic and facultatively anaerobic; </a:t>
            </a:r>
          </a:p>
          <a:p>
            <a:r>
              <a:rPr lang="en-US" sz="2400" dirty="0"/>
              <a:t>Grow in alkaline conditions; </a:t>
            </a:r>
          </a:p>
          <a:p>
            <a:r>
              <a:rPr lang="en-US" sz="2400" dirty="0"/>
              <a:t>Motile; ferment carbohydrates; oxidase-positive. </a:t>
            </a:r>
          </a:p>
          <a:p>
            <a:r>
              <a:rPr lang="en-US" sz="2400" dirty="0"/>
              <a:t>The main species of medical importance are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i="1" dirty="0">
                <a:solidFill>
                  <a:srgbClr val="002060"/>
                </a:solidFill>
              </a:rPr>
              <a:t>Vibrio cholerae,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i="1" dirty="0">
                <a:solidFill>
                  <a:srgbClr val="002060"/>
                </a:solidFill>
              </a:rPr>
              <a:t>V. parahaemolyticus</a:t>
            </a:r>
            <a:r>
              <a:rPr lang="en-US" sz="2000" i="1" dirty="0"/>
              <a:t>,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i="1" dirty="0"/>
              <a:t>V. </a:t>
            </a:r>
            <a:r>
              <a:rPr lang="en-US" sz="2000" i="1" dirty="0" err="1"/>
              <a:t>vulnificus</a:t>
            </a:r>
            <a:r>
              <a:rPr lang="en-US" sz="2000" i="1" dirty="0"/>
              <a:t> </a:t>
            </a:r>
            <a:r>
              <a:rPr lang="en-US" sz="2000" dirty="0"/>
              <a:t>and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i="1" dirty="0"/>
              <a:t>V. </a:t>
            </a:r>
            <a:r>
              <a:rPr lang="en-US" sz="2000" i="1" dirty="0" err="1"/>
              <a:t>alginolyticus</a:t>
            </a:r>
            <a:endParaRPr lang="en-US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30</a:t>
            </a:fld>
            <a:endParaRPr lang="en-US"/>
          </a:p>
        </p:txBody>
      </p:sp>
      <p:sp>
        <p:nvSpPr>
          <p:cNvPr id="7" name="Right Brace 6"/>
          <p:cNvSpPr/>
          <p:nvPr/>
        </p:nvSpPr>
        <p:spPr>
          <a:xfrm>
            <a:off x="3429000" y="3432571"/>
            <a:ext cx="762000" cy="457200"/>
          </a:xfrm>
          <a:prstGeom prst="rightBrace">
            <a:avLst>
              <a:gd name="adj1" fmla="val 8333"/>
              <a:gd name="adj2" fmla="val 43846"/>
            </a:avLst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191000" y="3472934"/>
            <a:ext cx="254156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Main human pathogens</a:t>
            </a:r>
          </a:p>
        </p:txBody>
      </p:sp>
      <p:sp>
        <p:nvSpPr>
          <p:cNvPr id="9" name="AutoShape 2" descr="Vibrio Cholerae: Characteristics, Pathogenesis, and Lab Diagnosis • Microbe  Onl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4" descr="Cholera Toxin Subunit B - The Native Antigen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26" name="Picture 6" descr="Biochemical Test of Vibrio cholera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4038600"/>
            <a:ext cx="5486400" cy="179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66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09600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3600" b="1" dirty="0"/>
              <a:t>1. </a:t>
            </a:r>
            <a:r>
              <a:rPr lang="en-US" sz="3600" b="1" i="1" dirty="0"/>
              <a:t>V. cholerae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i="1" dirty="0"/>
              <a:t>V. cholerae </a:t>
            </a:r>
            <a:r>
              <a:rPr lang="en-US" sz="2400" dirty="0"/>
              <a:t>strains are subdivided according to </a:t>
            </a:r>
            <a:r>
              <a:rPr lang="en-US" sz="2400" b="1" dirty="0">
                <a:solidFill>
                  <a:srgbClr val="002060"/>
                </a:solidFill>
              </a:rPr>
              <a:t>O-antigens</a:t>
            </a:r>
            <a:r>
              <a:rPr lang="en-US" sz="2400" dirty="0"/>
              <a:t>.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i="1" dirty="0">
                <a:solidFill>
                  <a:srgbClr val="C00000"/>
                </a:solidFill>
              </a:rPr>
              <a:t>V. cholerae O1 </a:t>
            </a:r>
            <a:r>
              <a:rPr lang="en-US" sz="2000" dirty="0"/>
              <a:t>is the </a:t>
            </a:r>
            <a:r>
              <a:rPr lang="en-US" sz="2000" b="1" dirty="0">
                <a:solidFill>
                  <a:srgbClr val="002060"/>
                </a:solidFill>
              </a:rPr>
              <a:t>cause of cholera</a:t>
            </a:r>
            <a:r>
              <a:rPr lang="en-US" sz="2000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C00000"/>
                </a:solidFill>
              </a:rPr>
              <a:t>Other V. cholerae (non-O1) </a:t>
            </a:r>
            <a:r>
              <a:rPr lang="en-US" sz="2000" dirty="0"/>
              <a:t>strains occasionally </a:t>
            </a:r>
            <a:r>
              <a:rPr lang="en-US" sz="2000" b="1" dirty="0">
                <a:solidFill>
                  <a:srgbClr val="002060"/>
                </a:solidFill>
              </a:rPr>
              <a:t>cause diarrhoea</a:t>
            </a:r>
          </a:p>
          <a:p>
            <a:pPr>
              <a:buFont typeface="Wingdings" pitchFamily="2" charset="2"/>
              <a:buChar char="§"/>
            </a:pPr>
            <a:r>
              <a:rPr lang="en-US" sz="2400" b="1" i="1" dirty="0">
                <a:solidFill>
                  <a:srgbClr val="FF0000"/>
                </a:solidFill>
              </a:rPr>
              <a:t>V. cholerae </a:t>
            </a:r>
            <a:r>
              <a:rPr lang="en-US" sz="2400" dirty="0"/>
              <a:t>O1 has a number of biotypes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Classic’ strain</a:t>
            </a:r>
            <a:r>
              <a:rPr lang="en-US" sz="2000" dirty="0"/>
              <a:t>, cause of cholera until the mid-1960s.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 </a:t>
            </a:r>
            <a:r>
              <a:rPr lang="en-US" sz="2000" b="1" dirty="0">
                <a:solidFill>
                  <a:srgbClr val="002060"/>
                </a:solidFill>
              </a:rPr>
              <a:t>‘El Tor’ </a:t>
            </a:r>
            <a:r>
              <a:rPr lang="en-US" sz="2000" dirty="0"/>
              <a:t>responsible for most cases of cholera over the last two decades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O139 </a:t>
            </a:r>
            <a:r>
              <a:rPr lang="en-US" sz="2000" dirty="0"/>
              <a:t>caused epidemics in Southeast Asia (1990s)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336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Autofit/>
          </a:bodyPr>
          <a:lstStyle/>
          <a:p>
            <a:pPr algn="r"/>
            <a:r>
              <a:rPr lang="en-US" sz="18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Epidemiology</a:t>
            </a:r>
          </a:p>
          <a:p>
            <a:r>
              <a:rPr lang="en-US" sz="2400" dirty="0"/>
              <a:t>Found in water contaminated with human faeces</a:t>
            </a:r>
          </a:p>
          <a:p>
            <a:r>
              <a:rPr lang="en-US" sz="2400" dirty="0"/>
              <a:t>No animal reservoirs</a:t>
            </a:r>
          </a:p>
          <a:p>
            <a:r>
              <a:rPr lang="en-US" sz="2400" dirty="0"/>
              <a:t>The cause of severe infection in developing countries, </a:t>
            </a:r>
          </a:p>
          <a:p>
            <a:r>
              <a:rPr lang="en-US" sz="2400" dirty="0"/>
              <a:t>Where potable water and sewage systems are poor;</a:t>
            </a:r>
          </a:p>
          <a:p>
            <a:r>
              <a:rPr lang="en-US" sz="2400" dirty="0"/>
              <a:t>Transmitted via </a:t>
            </a:r>
            <a:r>
              <a:rPr lang="en-US" sz="2400" b="1" dirty="0">
                <a:solidFill>
                  <a:srgbClr val="002060"/>
                </a:solidFill>
              </a:rPr>
              <a:t>consumption of contaminated food or water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18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Pathogenicity</a:t>
            </a:r>
            <a:endParaRPr lang="en-US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Enterotoxin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Acts on intestinal epithelial cells,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Stimulating </a:t>
            </a:r>
            <a:r>
              <a:rPr lang="en-US" sz="2000" dirty="0" err="1"/>
              <a:t>adenyl</a:t>
            </a:r>
            <a:r>
              <a:rPr lang="en-US" sz="2000" dirty="0"/>
              <a:t> </a:t>
            </a:r>
            <a:r>
              <a:rPr lang="en-US" sz="2000" dirty="0" err="1"/>
              <a:t>cyclase</a:t>
            </a:r>
            <a:r>
              <a:rPr lang="en-US" sz="2000" dirty="0"/>
              <a:t> activity.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This results in water and sodium ions passing into the gut lumen to produce profuse,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Watery diarrhoea (</a:t>
            </a:r>
            <a:r>
              <a:rPr lang="en-US" sz="2000" b="1" dirty="0">
                <a:solidFill>
                  <a:srgbClr val="002060"/>
                </a:solidFill>
              </a:rPr>
              <a:t>rice-water appearance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Associated infections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Acute enteritis.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The clinical features of cholera include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400" dirty="0"/>
              <a:t>• Massive, painless, fluid diarrhoea (up to 20 L per day);</a:t>
            </a:r>
            <a:br>
              <a:rPr lang="en-US" sz="2400" dirty="0"/>
            </a:br>
            <a:r>
              <a:rPr lang="en-US" sz="2400" dirty="0"/>
              <a:t>• Vomiting;</a:t>
            </a:r>
            <a:br>
              <a:rPr lang="en-US" sz="2400" dirty="0"/>
            </a:br>
            <a:r>
              <a:rPr lang="en-US" sz="2400" dirty="0"/>
              <a:t>• Severe dehydration and electrolyte imbalance.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651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Laboratory diagnosis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Isolation of microorganism from faeces on selective media (TCBS)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Prevention</a:t>
            </a:r>
          </a:p>
          <a:p>
            <a:r>
              <a:rPr lang="en-US" sz="2400" dirty="0"/>
              <a:t>Safe water supplies are the mainstay of prevention.</a:t>
            </a:r>
          </a:p>
          <a:p>
            <a:r>
              <a:rPr lang="en-US" sz="2400" dirty="0"/>
              <a:t>Community education reduces spread.</a:t>
            </a:r>
          </a:p>
          <a:p>
            <a:r>
              <a:rPr lang="en-US" sz="2400" dirty="0"/>
              <a:t>Avoidance of contaminated food; </a:t>
            </a:r>
          </a:p>
          <a:p>
            <a:r>
              <a:rPr lang="en-US" sz="2400" dirty="0"/>
              <a:t>Oral vaccines suitable for travellers.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Treatment</a:t>
            </a:r>
          </a:p>
          <a:p>
            <a:r>
              <a:rPr lang="en-US" sz="2400" dirty="0"/>
              <a:t>Rehydration; ciprofloxacin shortens duration of illness.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5313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2. </a:t>
            </a:r>
            <a:r>
              <a:rPr lang="en-US" sz="2400" b="1" i="1" dirty="0">
                <a:solidFill>
                  <a:srgbClr val="002060"/>
                </a:solidFill>
              </a:rPr>
              <a:t>V. parahaemolyticus</a:t>
            </a:r>
          </a:p>
          <a:p>
            <a:r>
              <a:rPr lang="en-US" sz="2400" dirty="0"/>
              <a:t>A cause of food poisoning 12–18 </a:t>
            </a:r>
            <a:r>
              <a:rPr lang="en-US" sz="2400" dirty="0" err="1"/>
              <a:t>hrs</a:t>
            </a:r>
            <a:r>
              <a:rPr lang="en-US" sz="2400" dirty="0"/>
              <a:t> after</a:t>
            </a:r>
          </a:p>
          <a:p>
            <a:r>
              <a:rPr lang="en-US" sz="2400" dirty="0"/>
              <a:t>The ingestion of contaminated </a:t>
            </a:r>
            <a:r>
              <a:rPr lang="en-US" sz="2400" b="1" dirty="0">
                <a:solidFill>
                  <a:srgbClr val="002060"/>
                </a:solidFill>
              </a:rPr>
              <a:t>seafood</a:t>
            </a:r>
            <a:r>
              <a:rPr lang="en-US" sz="2400" dirty="0"/>
              <a:t>, particularly </a:t>
            </a:r>
            <a:r>
              <a:rPr lang="en-US" sz="2400" b="1" dirty="0">
                <a:solidFill>
                  <a:srgbClr val="002060"/>
                </a:solidFill>
              </a:rPr>
              <a:t>oysters</a:t>
            </a:r>
            <a:r>
              <a:rPr lang="en-US" sz="2400" dirty="0"/>
              <a:t>. </a:t>
            </a:r>
          </a:p>
          <a:p>
            <a:r>
              <a:rPr lang="en-US" sz="2400" dirty="0"/>
              <a:t>The illness is characterised by </a:t>
            </a:r>
            <a:r>
              <a:rPr lang="en-US" sz="2400" b="1" dirty="0">
                <a:solidFill>
                  <a:srgbClr val="002060"/>
                </a:solidFill>
              </a:rPr>
              <a:t>vomiting and diarrhoea</a:t>
            </a:r>
            <a:r>
              <a:rPr lang="en-US" sz="2400" dirty="0"/>
              <a:t>.</a:t>
            </a:r>
            <a:endParaRPr lang="en-US" dirty="0"/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Treatment</a:t>
            </a:r>
          </a:p>
          <a:p>
            <a:r>
              <a:rPr lang="en-US" sz="2400" dirty="0"/>
              <a:t>By rehydration and a quinolone in severe cases.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7585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867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C37C8-573B-427A-9F51-F265423D24AF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36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471488"/>
            <a:ext cx="8553450" cy="591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4803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sz="3200" b="1" i="1" dirty="0"/>
              <a:t>C. difficile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r>
              <a:rPr lang="en-US" sz="2400" dirty="0"/>
              <a:t>Ubiquitous in the environment </a:t>
            </a:r>
          </a:p>
          <a:p>
            <a:r>
              <a:rPr lang="en-US" sz="2400" dirty="0"/>
              <a:t>Colonises intestine of healthy neonates (50%) and adults (4%). </a:t>
            </a:r>
          </a:p>
          <a:p>
            <a:r>
              <a:rPr lang="en-US" sz="2400" dirty="0"/>
              <a:t>A major </a:t>
            </a:r>
            <a:r>
              <a:rPr lang="en-US" sz="2400" b="1" dirty="0">
                <a:solidFill>
                  <a:srgbClr val="002060"/>
                </a:solidFill>
              </a:rPr>
              <a:t>cause of HCAIs</a:t>
            </a:r>
            <a:r>
              <a:rPr lang="en-US" sz="2400" dirty="0"/>
              <a:t>; patients </a:t>
            </a:r>
            <a:r>
              <a:rPr lang="en-US" sz="2400" b="1" dirty="0">
                <a:solidFill>
                  <a:srgbClr val="002060"/>
                </a:solidFill>
              </a:rPr>
              <a:t>taking antibiotics</a:t>
            </a:r>
            <a:r>
              <a:rPr lang="en-US" sz="2400" dirty="0"/>
              <a:t> (cephalosporins, clindamycin)</a:t>
            </a:r>
          </a:p>
          <a:p>
            <a:r>
              <a:rPr lang="en-US" sz="2400" dirty="0"/>
              <a:t>Increased risk of </a:t>
            </a:r>
            <a:r>
              <a:rPr lang="en-US" sz="2400" b="1" i="1" dirty="0">
                <a:solidFill>
                  <a:srgbClr val="002060"/>
                </a:solidFill>
              </a:rPr>
              <a:t>C. difficile</a:t>
            </a:r>
            <a:r>
              <a:rPr lang="en-US" sz="2400" b="1" dirty="0">
                <a:solidFill>
                  <a:srgbClr val="002060"/>
                </a:solidFill>
              </a:rPr>
              <a:t> antibiotic associated diarrhoea </a:t>
            </a:r>
            <a:r>
              <a:rPr lang="en-US" sz="2400" dirty="0"/>
              <a:t>due to; </a:t>
            </a:r>
            <a:endParaRPr lang="en-US" sz="2400" b="1" dirty="0">
              <a:solidFill>
                <a:srgbClr val="002060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lang="en-US" sz="2200" dirty="0"/>
              <a:t>Suppression of </a:t>
            </a:r>
            <a:r>
              <a:rPr lang="en-US" sz="2200" b="1" dirty="0">
                <a:solidFill>
                  <a:srgbClr val="002060"/>
                </a:solidFill>
              </a:rPr>
              <a:t>normal bowel flora </a:t>
            </a:r>
            <a:r>
              <a:rPr lang="en-US" sz="2200" dirty="0"/>
              <a:t>and 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dirty="0"/>
              <a:t>Subsequent </a:t>
            </a:r>
            <a:r>
              <a:rPr lang="en-US" sz="2200" b="1" dirty="0">
                <a:solidFill>
                  <a:srgbClr val="002060"/>
                </a:solidFill>
              </a:rPr>
              <a:t>overgrowth of </a:t>
            </a:r>
            <a:r>
              <a:rPr lang="en-US" sz="2200" b="1" i="1" dirty="0">
                <a:solidFill>
                  <a:srgbClr val="002060"/>
                </a:solidFill>
              </a:rPr>
              <a:t>C. difficile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Infection may be endogenous or exogenous (spore)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AD1AE-36AD-454F-A2E1-114E5B9568B5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204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Pathogenicity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r>
              <a:rPr lang="en-US" sz="2400" dirty="0"/>
              <a:t>Produces two major toxins: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</a:rPr>
              <a:t>Toxin A (enterotoxin)</a:t>
            </a:r>
            <a:r>
              <a:rPr lang="en-US" sz="2400" dirty="0"/>
              <a:t>: induces cytokine production with hypersecretion of fluid.</a:t>
            </a:r>
          </a:p>
          <a:p>
            <a:pPr lvl="1">
              <a:buFont typeface="Wingdings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</a:rPr>
              <a:t>Toxin B (cytotoxin)</a:t>
            </a:r>
            <a:r>
              <a:rPr lang="en-US" sz="2400" dirty="0"/>
              <a:t>:induces depolymerisation of actin with loss of cytoskeleton. </a:t>
            </a: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Adhesin factor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 Hyaluronidase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10E93-B8D4-485A-9B13-7C635440DB48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1949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Laboratory diagnosis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/>
              <a:t>Direct detection of toxin in faece: Serology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/>
              <a:t>Culture on selective agar: Cycloserine cefotaxime fructose Agar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/>
              <a:t>Motile; sub-terminal spores. 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/>
              <a:t>Forms colonies with irregular edges and 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/>
              <a:t>A ground glass appearance on blood agar.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C2AF2-6BCA-4A33-99EA-AE8A00C56A97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39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354" y="3352800"/>
            <a:ext cx="2552700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1287194" y="5572206"/>
            <a:ext cx="5120640" cy="40011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Fig. Colonies of </a:t>
            </a:r>
            <a:r>
              <a:rPr lang="en-US" sz="2000" i="1" dirty="0"/>
              <a:t>C. difficile </a:t>
            </a:r>
            <a:r>
              <a:rPr lang="en-US" sz="2000" dirty="0"/>
              <a:t>on blood agar. </a:t>
            </a:r>
          </a:p>
        </p:txBody>
      </p:sp>
    </p:spTree>
    <p:extLst>
      <p:ext uri="{BB962C8B-B14F-4D97-AF65-F5344CB8AC3E}">
        <p14:creationId xmlns:p14="http://schemas.microsoft.com/office/powerpoint/2010/main" val="36812471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Associated infections</a:t>
            </a:r>
          </a:p>
          <a:p>
            <a:r>
              <a:rPr lang="en-US" sz="2400" dirty="0"/>
              <a:t>Gastrointestinal: 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dirty="0"/>
              <a:t>Antibiotic associated diarrhoea, </a:t>
            </a:r>
          </a:p>
          <a:p>
            <a:pPr lvl="1">
              <a:buFont typeface="Wingdings" pitchFamily="2" charset="2"/>
              <a:buChar char="Ø"/>
            </a:pPr>
            <a:r>
              <a:rPr lang="en-US" sz="2200" dirty="0"/>
              <a:t>Pseudomembranous colitis and </a:t>
            </a:r>
            <a:r>
              <a:rPr lang="en-US" sz="2200" b="1" dirty="0">
                <a:solidFill>
                  <a:srgbClr val="002060"/>
                </a:solidFill>
              </a:rPr>
              <a:t>Fulminant colitis</a:t>
            </a:r>
            <a:r>
              <a:rPr lang="en-US" sz="2200" dirty="0"/>
              <a:t>.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Treatment and prevention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Oral Vancomycin or Metronidazole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Clinical awareness, judicious use of antibiotics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Infection control strategies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5362E-4D8B-4D9E-90AD-694A4648F36A}" type="datetime1">
              <a:rPr lang="en-US" smtClean="0"/>
              <a:t>1/31/2024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Shemse Sebre (BSc, MSc)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34929-6746-4185-A40F-EFF67AF11E6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0206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1"/>
            <a:ext cx="7772400" cy="54864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Viruses of Diarrhea</a:t>
            </a:r>
          </a:p>
        </p:txBody>
      </p:sp>
    </p:spTree>
    <p:extLst>
      <p:ext uri="{BB962C8B-B14F-4D97-AF65-F5344CB8AC3E}">
        <p14:creationId xmlns:p14="http://schemas.microsoft.com/office/powerpoint/2010/main" val="27548529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Viruses of Diarrhea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000" b="1" dirty="0">
              <a:solidFill>
                <a:srgbClr val="002060"/>
              </a:solidFill>
            </a:endParaRPr>
          </a:p>
          <a:p>
            <a:pPr>
              <a:buBlip>
                <a:blip r:embed="rId2"/>
              </a:buBlip>
            </a:pPr>
            <a:r>
              <a:rPr lang="en-US" sz="2000" b="1" dirty="0">
                <a:solidFill>
                  <a:srgbClr val="002060"/>
                </a:solidFill>
              </a:rPr>
              <a:t>Acute diarrheal disease </a:t>
            </a:r>
            <a:r>
              <a:rPr lang="en-US" sz="2000" dirty="0"/>
              <a:t>is an illness, usually of rapid evolution (within several hours), that lasts less than 3 weeks. </a:t>
            </a:r>
          </a:p>
          <a:p>
            <a:pPr>
              <a:buBlip>
                <a:blip r:embed="rId2"/>
              </a:buBlip>
            </a:pPr>
            <a:r>
              <a:rPr lang="en-US" sz="2000" b="1" dirty="0">
                <a:solidFill>
                  <a:srgbClr val="002060"/>
                </a:solidFill>
              </a:rPr>
              <a:t>20 to 25% </a:t>
            </a:r>
            <a:r>
              <a:rPr lang="en-US" sz="2000" dirty="0"/>
              <a:t>of these case is caused by virus.</a:t>
            </a:r>
          </a:p>
          <a:p>
            <a:pPr>
              <a:buBlip>
                <a:blip r:embed="rId2"/>
              </a:buBlip>
            </a:pPr>
            <a:r>
              <a:rPr lang="en-US" sz="2000" b="1" dirty="0">
                <a:solidFill>
                  <a:srgbClr val="002060"/>
                </a:solidFill>
              </a:rPr>
              <a:t>The common virus that cause acute diarrheal disease are :</a:t>
            </a:r>
          </a:p>
          <a:p>
            <a:pPr lvl="2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Rotaviruses, </a:t>
            </a:r>
          </a:p>
          <a:p>
            <a:pPr lvl="2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Caliciviruses, </a:t>
            </a:r>
          </a:p>
          <a:p>
            <a:pPr lvl="2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Astroviruses</a:t>
            </a:r>
            <a:r>
              <a:rPr lang="en-US" sz="2000" dirty="0"/>
              <a:t>, and </a:t>
            </a:r>
          </a:p>
          <a:p>
            <a:pPr lvl="2">
              <a:buFont typeface="Wingdings" pitchFamily="2" charset="2"/>
              <a:buChar char="Ø"/>
            </a:pPr>
            <a:r>
              <a:rPr lang="en-US" sz="2000" dirty="0"/>
              <a:t>some </a:t>
            </a:r>
            <a:r>
              <a:rPr lang="en-US" sz="2000" b="1" dirty="0">
                <a:solidFill>
                  <a:srgbClr val="002060"/>
                </a:solidFill>
              </a:rPr>
              <a:t>Adenoviruses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3098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General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000" dirty="0"/>
              <a:t>Viral diarrhea was a diagnosis of exclusion</a:t>
            </a:r>
          </a:p>
          <a:p>
            <a:r>
              <a:rPr lang="en-US" sz="2000" dirty="0"/>
              <a:t>Many viral particles seen in stool by electron microscopy</a:t>
            </a:r>
          </a:p>
          <a:p>
            <a:r>
              <a:rPr lang="en-US" sz="2000" dirty="0"/>
              <a:t>Confirmation by EIA or PCR is now possible</a:t>
            </a:r>
            <a:endParaRPr lang="en-US" sz="20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Multiple criteria used for establishing etiologic relationship</a:t>
            </a:r>
          </a:p>
          <a:p>
            <a:pPr marL="514350" indent="-514350">
              <a:buAutoNum type="arabicParenBoth"/>
            </a:pPr>
            <a:r>
              <a:rPr lang="en-US" sz="2000" dirty="0"/>
              <a:t>Establish that the virus is detected in ill patients</a:t>
            </a:r>
          </a:p>
          <a:p>
            <a:pPr marL="514350" indent="-514350">
              <a:buAutoNum type="arabicParenBoth"/>
            </a:pPr>
            <a:r>
              <a:rPr lang="en-US" sz="2000" dirty="0"/>
              <a:t>Demonstrate significant humoral or secretory antibody responses</a:t>
            </a:r>
          </a:p>
          <a:p>
            <a:pPr marL="514350" indent="-514350">
              <a:buAutoNum type="arabicParenBoth"/>
            </a:pPr>
            <a:r>
              <a:rPr lang="en-US" sz="2000" dirty="0"/>
              <a:t>Reproduce the disease by experimental inoculation</a:t>
            </a:r>
          </a:p>
          <a:p>
            <a:pPr marL="514350" indent="-514350">
              <a:buAutoNum type="arabicParenBoth"/>
            </a:pPr>
            <a:r>
              <a:rPr lang="en-US" sz="2000" dirty="0"/>
              <a:t>Exclude other known causes of diarrhea </a:t>
            </a: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sz="2000" b="1" dirty="0">
                <a:solidFill>
                  <a:srgbClr val="002060"/>
                </a:solidFill>
              </a:rPr>
              <a:t>Based on above criteria Rotaviruses, caliciviruses, astroviruses, and adenoviruses are established</a:t>
            </a:r>
          </a:p>
        </p:txBody>
      </p:sp>
    </p:spTree>
    <p:extLst>
      <p:ext uri="{BB962C8B-B14F-4D97-AF65-F5344CB8AC3E}">
        <p14:creationId xmlns:p14="http://schemas.microsoft.com/office/powerpoint/2010/main" val="8800315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pPr algn="r"/>
            <a:r>
              <a:rPr lang="en-US" sz="20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6388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Font typeface="Wingdings" pitchFamily="2" charset="2"/>
              <a:buChar char="§"/>
            </a:pPr>
            <a:endParaRPr lang="en-US" sz="2000" b="1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000" b="1" dirty="0">
                <a:solidFill>
                  <a:srgbClr val="002060"/>
                </a:solidFill>
              </a:rPr>
              <a:t>Vomiting</a:t>
            </a:r>
            <a:r>
              <a:rPr lang="en-US" sz="2000" dirty="0"/>
              <a:t> commonly follows short </a:t>
            </a:r>
            <a:r>
              <a:rPr lang="en-US" sz="2000" b="1" dirty="0">
                <a:solidFill>
                  <a:srgbClr val="002060"/>
                </a:solidFill>
              </a:rPr>
              <a:t>incubation period</a:t>
            </a:r>
          </a:p>
          <a:p>
            <a:pPr>
              <a:buFont typeface="Wingdings" pitchFamily="2" charset="2"/>
              <a:buChar char="§"/>
            </a:pPr>
            <a:r>
              <a:rPr lang="en-US" sz="2000" b="1" dirty="0"/>
              <a:t>Acute viral gastroenteritis </a:t>
            </a:r>
            <a:r>
              <a:rPr lang="en-US" sz="2000" dirty="0"/>
              <a:t>to describe the syndrome associated with these</a:t>
            </a:r>
            <a:br>
              <a:rPr lang="en-US" sz="2000" dirty="0"/>
            </a:br>
            <a:r>
              <a:rPr lang="en-US" sz="2000" dirty="0"/>
              <a:t>agents.</a:t>
            </a:r>
          </a:p>
          <a:p>
            <a:pPr marL="0" indent="0">
              <a:buNone/>
            </a:pPr>
            <a:r>
              <a:rPr lang="en-US" sz="2000" b="1" i="1" dirty="0">
                <a:solidFill>
                  <a:srgbClr val="002060"/>
                </a:solidFill>
              </a:rPr>
              <a:t>1. ROTAVIRUSES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Account for 40 to 60% of cases of acute gastroenteritis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Most common cause of </a:t>
            </a:r>
            <a:r>
              <a:rPr lang="en-US" sz="2000" b="1" dirty="0">
                <a:solidFill>
                  <a:srgbClr val="002060"/>
                </a:solidFill>
              </a:rPr>
              <a:t>winter gastroenteritis </a:t>
            </a:r>
            <a:r>
              <a:rPr lang="en-US" sz="2000" dirty="0"/>
              <a:t>in children ˂2 years of age</a:t>
            </a:r>
          </a:p>
          <a:p>
            <a:pPr marL="0" indent="0">
              <a:buNone/>
            </a:pPr>
            <a:r>
              <a:rPr lang="pt-BR" sz="2000" b="1" dirty="0">
                <a:solidFill>
                  <a:srgbClr val="002060"/>
                </a:solidFill>
              </a:rPr>
              <a:t>Virology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The rotaviruses belong to the family </a:t>
            </a:r>
            <a:r>
              <a:rPr lang="en-US" sz="2000" dirty="0" err="1"/>
              <a:t>Reoviridae</a:t>
            </a:r>
            <a:endParaRPr lang="en-US" sz="2000" dirty="0"/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A genome containing </a:t>
            </a:r>
            <a:r>
              <a:rPr lang="en-US" sz="2000" b="1" dirty="0">
                <a:solidFill>
                  <a:srgbClr val="002060"/>
                </a:solidFill>
              </a:rPr>
              <a:t>11 segments </a:t>
            </a:r>
            <a:r>
              <a:rPr lang="en-US" sz="2000" dirty="0"/>
              <a:t>of  Ds RNA viruses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Shaped like a wheel (</a:t>
            </a:r>
            <a:r>
              <a:rPr lang="en-US" sz="1800" b="1" dirty="0" err="1"/>
              <a:t>rota</a:t>
            </a:r>
            <a:r>
              <a:rPr lang="en-US" sz="1800" dirty="0"/>
              <a:t>) </a:t>
            </a:r>
            <a:r>
              <a:rPr lang="en-US" sz="2000" dirty="0"/>
              <a:t>because of the outer capsid.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Antigenic types are based on capsid proteins VP4 and VP7, which are targets for </a:t>
            </a:r>
            <a:r>
              <a:rPr lang="en-US" sz="2000" b="1" dirty="0">
                <a:solidFill>
                  <a:srgbClr val="002060"/>
                </a:solidFill>
              </a:rPr>
              <a:t>neutralizing antibodies</a:t>
            </a:r>
            <a:r>
              <a:rPr lang="en-US" sz="2000" dirty="0"/>
              <a:t>.</a:t>
            </a:r>
            <a:endParaRPr lang="en-US" sz="2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3090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pPr algn="r"/>
            <a:r>
              <a:rPr lang="en-US" sz="20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4864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Rotaviruses can replicate in the </a:t>
            </a:r>
            <a:r>
              <a:rPr lang="en-US" sz="2000" b="1" dirty="0">
                <a:solidFill>
                  <a:srgbClr val="002060"/>
                </a:solidFill>
              </a:rPr>
              <a:t>cytoplasm</a:t>
            </a:r>
            <a:r>
              <a:rPr lang="en-US" sz="2000" dirty="0"/>
              <a:t> of infected cell cultures.</a:t>
            </a:r>
          </a:p>
          <a:p>
            <a:r>
              <a:rPr lang="en-US" sz="2000" dirty="0"/>
              <a:t>Animal rotaviruses produce diarrhea but interspecies spread not demonstrated in nature</a:t>
            </a:r>
          </a:p>
          <a:p>
            <a:r>
              <a:rPr lang="en-US" sz="2000" dirty="0"/>
              <a:t>Reassortment of the </a:t>
            </a:r>
            <a:r>
              <a:rPr lang="en-US" sz="2000" b="1" dirty="0">
                <a:solidFill>
                  <a:srgbClr val="002060"/>
                </a:solidFill>
              </a:rPr>
              <a:t>11 RNA segments </a:t>
            </a:r>
            <a:r>
              <a:rPr lang="en-US" sz="2000" dirty="0"/>
              <a:t>readily occurs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Live vaccine </a:t>
            </a:r>
            <a:r>
              <a:rPr lang="en-US" sz="2000" dirty="0"/>
              <a:t>accounts for variation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Epidemiology</a:t>
            </a:r>
          </a:p>
          <a:p>
            <a:r>
              <a:rPr lang="en-US" sz="2000" dirty="0"/>
              <a:t>Primarily infants and children in colder months</a:t>
            </a:r>
          </a:p>
          <a:p>
            <a:r>
              <a:rPr lang="en-US" sz="2000" dirty="0"/>
              <a:t>Most older children and adults are immune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  <p:sp>
        <p:nvSpPr>
          <p:cNvPr id="4" name="AutoShape 2" descr="Genus: Rotavirus | ICTV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Rotavirus infection | Nature Reviews Disease Primer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Schematic depiction of the structure of mature rotavirus particle (T... |  Download Scientific Diagram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8" descr="Schematic depiction of the structure of mature rotavirus particle (T... |  Download Scientific Diagram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153" name="Picture 9" descr="C:\Users\DELL\Desktop\Anstia PPT-Modular\Schedule_2023\Modular_course\Vidio\ODR.Reo_.Fig24.Rota_.Fig1_.v1-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525" y="1600201"/>
            <a:ext cx="5045075" cy="2560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74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pPr algn="r"/>
            <a:r>
              <a:rPr lang="en-US" sz="18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6388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Pathogenesis</a:t>
            </a:r>
          </a:p>
          <a:p>
            <a:r>
              <a:rPr lang="en-US" sz="2000" dirty="0"/>
              <a:t>Destroys</a:t>
            </a:r>
            <a:r>
              <a:rPr lang="en-US" sz="2400" dirty="0"/>
              <a:t> </a:t>
            </a:r>
            <a:r>
              <a:rPr lang="en-US" sz="2000" dirty="0"/>
              <a:t>villus cells of jejunum and duodenum</a:t>
            </a:r>
          </a:p>
          <a:p>
            <a:r>
              <a:rPr lang="en-US" sz="2000" dirty="0"/>
              <a:t>Absorptive surface is decreased</a:t>
            </a:r>
          </a:p>
          <a:p>
            <a:r>
              <a:rPr lang="en-US" sz="2000" dirty="0"/>
              <a:t>Enterotoxin-like effects are also present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Manifestations</a:t>
            </a:r>
            <a:endParaRPr lang="en-US" sz="2400" b="1" dirty="0">
              <a:solidFill>
                <a:srgbClr val="002060"/>
              </a:solidFill>
            </a:endParaRPr>
          </a:p>
          <a:p>
            <a:r>
              <a:rPr lang="en-US" sz="2000" dirty="0"/>
              <a:t>Short incubation period, vomiting, and watery diarrhea can lead to</a:t>
            </a:r>
            <a:br>
              <a:rPr lang="en-US" sz="2000" dirty="0"/>
            </a:br>
            <a:r>
              <a:rPr lang="en-US" sz="2000" dirty="0"/>
              <a:t>dehydration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Diagnosis</a:t>
            </a:r>
            <a:endParaRPr lang="en-US" sz="2400" b="1" dirty="0">
              <a:solidFill>
                <a:srgbClr val="002060"/>
              </a:solidFill>
            </a:endParaRPr>
          </a:p>
          <a:p>
            <a:r>
              <a:rPr lang="en-US" sz="2000" dirty="0"/>
              <a:t>Electron microscope or EIA detect virus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Treatment and prevention</a:t>
            </a:r>
          </a:p>
          <a:p>
            <a:r>
              <a:rPr lang="en-US" sz="2000" dirty="0"/>
              <a:t>Live, attenuated, or recombinant vaccines are feasible</a:t>
            </a:r>
          </a:p>
          <a:p>
            <a:r>
              <a:rPr lang="en-US" sz="2000" dirty="0"/>
              <a:t>Intussusception is vaccine safety concern</a:t>
            </a:r>
          </a:p>
          <a:p>
            <a:r>
              <a:rPr lang="en-US" sz="2000" dirty="0"/>
              <a:t>Rigorous hygienic measures</a:t>
            </a:r>
          </a:p>
        </p:txBody>
      </p:sp>
    </p:spTree>
    <p:extLst>
      <p:ext uri="{BB962C8B-B14F-4D97-AF65-F5344CB8AC3E}">
        <p14:creationId xmlns:p14="http://schemas.microsoft.com/office/powerpoint/2010/main" val="33675474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2.</a:t>
            </a:r>
            <a:r>
              <a:rPr lang="en-US" sz="2400" b="1" i="1" dirty="0">
                <a:solidFill>
                  <a:srgbClr val="0070C0"/>
                </a:solidFill>
              </a:rPr>
              <a:t> CALICIVIRUSES</a:t>
            </a: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000" dirty="0"/>
              <a:t>The original virus was called the </a:t>
            </a:r>
            <a:r>
              <a:rPr lang="en-US" sz="2000" b="1" dirty="0"/>
              <a:t>Norwalk agent </a:t>
            </a:r>
            <a:r>
              <a:rPr lang="en-US" sz="2000" dirty="0"/>
              <a:t>in Norwalk, Ohio, in 1968</a:t>
            </a:r>
            <a:endParaRPr lang="en-US" dirty="0"/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Virology</a:t>
            </a:r>
            <a:endParaRPr lang="en-US" b="1" dirty="0">
              <a:solidFill>
                <a:srgbClr val="002060"/>
              </a:solidFill>
            </a:endParaRPr>
          </a:p>
          <a:p>
            <a:r>
              <a:rPr lang="en-US" sz="2000" dirty="0"/>
              <a:t>Small, round unenveloped RNA viruses are hardy</a:t>
            </a:r>
          </a:p>
          <a:p>
            <a:r>
              <a:rPr lang="en-US" sz="2000" dirty="0"/>
              <a:t>Two genera: </a:t>
            </a:r>
            <a:r>
              <a:rPr lang="en-US" sz="2000" b="1" dirty="0">
                <a:solidFill>
                  <a:srgbClr val="002060"/>
                </a:solidFill>
              </a:rPr>
              <a:t>“Norwalk-like” </a:t>
            </a:r>
            <a:r>
              <a:rPr lang="en-US" sz="2000" dirty="0"/>
              <a:t>and </a:t>
            </a:r>
            <a:r>
              <a:rPr lang="en-US" sz="2000" b="1" dirty="0">
                <a:solidFill>
                  <a:srgbClr val="002060"/>
                </a:solidFill>
              </a:rPr>
              <a:t>“Sapporo-like” </a:t>
            </a:r>
            <a:r>
              <a:rPr lang="en-US" sz="2000" dirty="0"/>
              <a:t>that cause diarrhea</a:t>
            </a:r>
          </a:p>
          <a:p>
            <a:r>
              <a:rPr lang="en-US" sz="2000" dirty="0"/>
              <a:t>Their infectivity persists after exposure to acid, ether, and heat.</a:t>
            </a:r>
          </a:p>
          <a:p>
            <a:r>
              <a:rPr lang="en-US" sz="2000" dirty="0"/>
              <a:t>Four serotypes were found but not yet grown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Epidemiology</a:t>
            </a:r>
          </a:p>
          <a:p>
            <a:r>
              <a:rPr lang="en-US" sz="2000" dirty="0"/>
              <a:t>Sharp outbreaks include older children and adults</a:t>
            </a:r>
          </a:p>
          <a:p>
            <a:r>
              <a:rPr lang="en-US" sz="2000" dirty="0"/>
              <a:t>Transmission is by fecal–oral route</a:t>
            </a:r>
          </a:p>
          <a:p>
            <a:r>
              <a:rPr lang="en-US" sz="2000" dirty="0"/>
              <a:t>Outbreaks have also been associated with </a:t>
            </a:r>
            <a:r>
              <a:rPr lang="en-US" sz="2000" b="1" dirty="0">
                <a:solidFill>
                  <a:srgbClr val="002060"/>
                </a:solidFill>
              </a:rPr>
              <a:t>consumption of contaminated water, uncooked shellfish, and other foods</a:t>
            </a:r>
            <a:r>
              <a:rPr lang="en-US" sz="2000" dirty="0"/>
              <a:t>.</a:t>
            </a:r>
            <a:br>
              <a:rPr lang="en-US" sz="2000" dirty="0">
                <a:solidFill>
                  <a:srgbClr val="002060"/>
                </a:solidFill>
              </a:rPr>
            </a:br>
            <a:br>
              <a:rPr lang="en-US" sz="2000" dirty="0">
                <a:solidFill>
                  <a:srgbClr val="002060"/>
                </a:solidFill>
              </a:rPr>
            </a:br>
            <a:br>
              <a:rPr lang="en-US" sz="2000" dirty="0">
                <a:solidFill>
                  <a:srgbClr val="002060"/>
                </a:solidFill>
              </a:rPr>
            </a:br>
            <a:br>
              <a:rPr lang="en-US" sz="2000" dirty="0">
                <a:solidFill>
                  <a:srgbClr val="002060"/>
                </a:solidFill>
              </a:rPr>
            </a:br>
            <a:endParaRPr 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3877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pPr algn="r"/>
            <a:r>
              <a:rPr lang="en-US" sz="20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Pathogenesis</a:t>
            </a:r>
          </a:p>
          <a:p>
            <a:r>
              <a:rPr lang="en-US" sz="2000" dirty="0"/>
              <a:t>Both the pathogenesis are similar to those described for rotaviruses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Unlike rotavirus </a:t>
            </a:r>
            <a:r>
              <a:rPr lang="en-US" sz="2000" b="1" dirty="0" err="1">
                <a:solidFill>
                  <a:srgbClr val="0070C0"/>
                </a:solidFill>
              </a:rPr>
              <a:t>Enterotoxic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features are not present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Clinical picture and diagnostic tests are similar to rotavirus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These viruses can be detected by electron microscopy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No treatment or vaccine exists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Prevention requires good hygienic measures.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7583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r>
              <a:rPr lang="en-US" sz="2400" b="1" i="1" dirty="0">
                <a:solidFill>
                  <a:srgbClr val="002060"/>
                </a:solidFill>
              </a:rPr>
              <a:t>ADENOVIRUSES, ASTROVIRUSES, AND “CANDIDATE” VIRUSES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en-US" sz="20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I. </a:t>
            </a:r>
            <a:r>
              <a:rPr lang="en-US" sz="2000" dirty="0"/>
              <a:t>Some </a:t>
            </a:r>
            <a:r>
              <a:rPr lang="en-US" sz="2000" b="1" dirty="0"/>
              <a:t>adenoviruses</a:t>
            </a:r>
            <a:r>
              <a:rPr lang="en-US" sz="2000" dirty="0"/>
              <a:t> account for an estimated 5 to 15% of all viral gastroenteritis in young children. </a:t>
            </a:r>
          </a:p>
          <a:p>
            <a:r>
              <a:rPr lang="en-US" sz="2000" dirty="0"/>
              <a:t>Serotypes </a:t>
            </a:r>
            <a:r>
              <a:rPr lang="en-US" sz="2000" b="1" dirty="0">
                <a:solidFill>
                  <a:srgbClr val="FF0000"/>
                </a:solidFill>
              </a:rPr>
              <a:t>40 and 41 </a:t>
            </a:r>
            <a:r>
              <a:rPr lang="en-US" sz="2000" dirty="0"/>
              <a:t>are commonly found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II. Astroviruses </a:t>
            </a:r>
            <a:r>
              <a:rPr lang="en-US" sz="2000" dirty="0"/>
              <a:t>have a shape that resembles a 5- or 6-pointed star.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These have been known since 1975.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A causes of often </a:t>
            </a:r>
            <a:r>
              <a:rPr lang="en-US" sz="2000" dirty="0">
                <a:solidFill>
                  <a:srgbClr val="002060"/>
                </a:solidFill>
              </a:rPr>
              <a:t>mild </a:t>
            </a:r>
            <a:r>
              <a:rPr lang="en-US" sz="2000" b="1" dirty="0">
                <a:solidFill>
                  <a:srgbClr val="002060"/>
                </a:solidFill>
              </a:rPr>
              <a:t>gastroenteritis</a:t>
            </a:r>
            <a:r>
              <a:rPr lang="en-US" sz="2000" dirty="0">
                <a:solidFill>
                  <a:srgbClr val="002060"/>
                </a:solidFill>
              </a:rPr>
              <a:t> </a:t>
            </a:r>
            <a:r>
              <a:rPr lang="en-US" sz="2000" dirty="0"/>
              <a:t>outbreaks, primarily among toddlers, school children and elderly nursing home residents</a:t>
            </a:r>
            <a:endParaRPr lang="en-US" dirty="0"/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III</a:t>
            </a:r>
            <a:r>
              <a:rPr lang="en-US" dirty="0"/>
              <a:t>. </a:t>
            </a:r>
            <a:r>
              <a:rPr lang="en-US" sz="2000" dirty="0"/>
              <a:t>Other agents associated with gastrointestinal diseases include </a:t>
            </a:r>
            <a:r>
              <a:rPr lang="en-US" sz="2000" b="1" dirty="0">
                <a:solidFill>
                  <a:srgbClr val="002060"/>
                </a:solidFill>
              </a:rPr>
              <a:t>coronavirus-like agents, </a:t>
            </a:r>
            <a:r>
              <a:rPr lang="en-US" sz="2000" b="1" dirty="0" err="1">
                <a:solidFill>
                  <a:srgbClr val="002060"/>
                </a:solidFill>
              </a:rPr>
              <a:t>toroviruses</a:t>
            </a:r>
            <a:r>
              <a:rPr lang="en-US" sz="2000" b="1" dirty="0">
                <a:solidFill>
                  <a:srgbClr val="002060"/>
                </a:solidFill>
              </a:rPr>
              <a:t>, and some group A coxsackieviruses</a:t>
            </a:r>
            <a:br>
              <a:rPr lang="en-US" sz="2000" b="1" dirty="0">
                <a:solidFill>
                  <a:srgbClr val="002060"/>
                </a:solidFill>
              </a:rPr>
            </a:br>
            <a:br>
              <a:rPr lang="en-US" b="1" dirty="0">
                <a:solidFill>
                  <a:srgbClr val="002060"/>
                </a:solidFill>
              </a:rPr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3349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Outline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Hepatitis Viruses</a:t>
            </a:r>
          </a:p>
          <a:p>
            <a:r>
              <a:rPr lang="en-US" b="1" dirty="0">
                <a:solidFill>
                  <a:srgbClr val="002060"/>
                </a:solidFill>
              </a:rPr>
              <a:t>HAV</a:t>
            </a:r>
          </a:p>
          <a:p>
            <a:r>
              <a:rPr lang="en-US" b="1" dirty="0">
                <a:solidFill>
                  <a:srgbClr val="002060"/>
                </a:solidFill>
              </a:rPr>
              <a:t>HBV</a:t>
            </a:r>
          </a:p>
          <a:p>
            <a:r>
              <a:rPr lang="en-US" b="1" dirty="0">
                <a:solidFill>
                  <a:srgbClr val="002060"/>
                </a:solidFill>
              </a:rPr>
              <a:t>HCV</a:t>
            </a:r>
          </a:p>
          <a:p>
            <a:r>
              <a:rPr lang="en-US" b="1" dirty="0">
                <a:solidFill>
                  <a:srgbClr val="002060"/>
                </a:solidFill>
              </a:rPr>
              <a:t>HDV</a:t>
            </a:r>
            <a:endParaRPr lang="en-US" dirty="0"/>
          </a:p>
          <a:p>
            <a:r>
              <a:rPr lang="en-US" b="1" dirty="0">
                <a:solidFill>
                  <a:srgbClr val="002060"/>
                </a:solidFill>
              </a:rPr>
              <a:t>HEV</a:t>
            </a:r>
          </a:p>
        </p:txBody>
      </p:sp>
    </p:spTree>
    <p:extLst>
      <p:ext uri="{BB962C8B-B14F-4D97-AF65-F5344CB8AC3E}">
        <p14:creationId xmlns:p14="http://schemas.microsoft.com/office/powerpoint/2010/main" val="20248116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2060"/>
                </a:solidFill>
              </a:rPr>
              <a:t>Hepatitis Viruses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Clr>
                <a:srgbClr val="7030A0"/>
              </a:buClr>
              <a:buFont typeface="Wingdings" pitchFamily="2" charset="2"/>
              <a:buChar char="§"/>
            </a:pPr>
            <a:endParaRPr lang="en-US" sz="2400" b="1" dirty="0">
              <a:solidFill>
                <a:srgbClr val="002060"/>
              </a:solidFill>
            </a:endParaRPr>
          </a:p>
          <a:p>
            <a:pPr>
              <a:buClr>
                <a:srgbClr val="7030A0"/>
              </a:buClr>
              <a:buFont typeface="Wingdings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</a:rPr>
              <a:t>Hepatitis: </a:t>
            </a:r>
            <a:r>
              <a:rPr lang="en-US" sz="2400" dirty="0">
                <a:solidFill>
                  <a:srgbClr val="002060"/>
                </a:solidFill>
              </a:rPr>
              <a:t>inflammations of the liver (hepatocyte)</a:t>
            </a:r>
          </a:p>
          <a:p>
            <a:pPr>
              <a:buClr>
                <a:srgbClr val="7030A0"/>
              </a:buClr>
              <a:buFont typeface="Wingdings" pitchFamily="2" charset="2"/>
              <a:buChar char="§"/>
            </a:pPr>
            <a:r>
              <a:rPr lang="en-US" sz="2400" dirty="0"/>
              <a:t>The causes of hepatitis </a:t>
            </a:r>
            <a:r>
              <a:rPr lang="en-US" sz="2400" b="1" dirty="0">
                <a:solidFill>
                  <a:srgbClr val="002060"/>
                </a:solidFill>
              </a:rPr>
              <a:t>viruses, bacteria, and protozoa</a:t>
            </a:r>
            <a:r>
              <a:rPr lang="en-US" sz="2400" dirty="0"/>
              <a:t>, as well as </a:t>
            </a:r>
            <a:r>
              <a:rPr lang="en-US" sz="2400" b="1" dirty="0">
                <a:solidFill>
                  <a:srgbClr val="002060"/>
                </a:solidFill>
              </a:rPr>
              <a:t>drugs and toxins </a:t>
            </a:r>
          </a:p>
          <a:p>
            <a:pPr>
              <a:buClr>
                <a:srgbClr val="7030A0"/>
              </a:buClr>
              <a:buFont typeface="Wingdings" pitchFamily="2" charset="2"/>
              <a:buChar char="§"/>
            </a:pPr>
            <a:r>
              <a:rPr lang="en-US" sz="2400" dirty="0"/>
              <a:t>Caused by at least five different viruses:</a:t>
            </a:r>
          </a:p>
          <a:p>
            <a:pPr>
              <a:buClr>
                <a:srgbClr val="7030A0"/>
              </a:buClr>
              <a:buFont typeface="Wingdings" pitchFamily="2" charset="2"/>
              <a:buChar char="§"/>
            </a:pPr>
            <a:r>
              <a:rPr lang="en-US" sz="2400" dirty="0"/>
              <a:t>Hepatitis viruses </a:t>
            </a:r>
            <a:r>
              <a:rPr lang="en-US" sz="2400" b="1" dirty="0">
                <a:solidFill>
                  <a:srgbClr val="002060"/>
                </a:solidFill>
              </a:rPr>
              <a:t>A, B, C, D,  E, and G</a:t>
            </a:r>
          </a:p>
          <a:p>
            <a:pPr>
              <a:buClr>
                <a:srgbClr val="7030A0"/>
              </a:buClr>
              <a:buFont typeface="Wingdings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</a:rPr>
              <a:t>EBV and CMV</a:t>
            </a:r>
            <a:r>
              <a:rPr lang="en-US" sz="2400" dirty="0"/>
              <a:t>, cause inflammation of liver, but </a:t>
            </a:r>
            <a:r>
              <a:rPr lang="en-US" sz="2400" b="1" dirty="0">
                <a:solidFill>
                  <a:srgbClr val="002060"/>
                </a:solidFill>
              </a:rPr>
              <a:t>hepatitis</a:t>
            </a:r>
            <a:r>
              <a:rPr lang="en-US" sz="2400" dirty="0"/>
              <a:t> is not primary disease. </a:t>
            </a:r>
          </a:p>
          <a:p>
            <a:pPr>
              <a:buClr>
                <a:srgbClr val="7030A0"/>
              </a:buClr>
              <a:buFont typeface="Wingdings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</a:rPr>
              <a:t>Yellow fever </a:t>
            </a:r>
            <a:r>
              <a:rPr lang="en-US" sz="2400" dirty="0"/>
              <a:t>is associated with hepatitis but is now uncommon.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79554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1. </a:t>
            </a:r>
            <a:r>
              <a:rPr lang="en-US" sz="2800" b="1" i="1" dirty="0">
                <a:solidFill>
                  <a:srgbClr val="002060"/>
                </a:solidFill>
              </a:rPr>
              <a:t>Hepatitis</a:t>
            </a:r>
            <a:r>
              <a:rPr lang="en-US" sz="2800" b="1" dirty="0">
                <a:solidFill>
                  <a:srgbClr val="002060"/>
                </a:solidFill>
              </a:rPr>
              <a:t> </a:t>
            </a:r>
            <a:r>
              <a:rPr lang="en-US" sz="2800" b="1" i="1" dirty="0">
                <a:solidFill>
                  <a:srgbClr val="002060"/>
                </a:solidFill>
              </a:rPr>
              <a:t>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912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02060"/>
                </a:solidFill>
              </a:rPr>
              <a:t>Virology</a:t>
            </a:r>
          </a:p>
          <a:p>
            <a:r>
              <a:rPr lang="en-US" sz="2000" dirty="0"/>
              <a:t>Unenveloped, ss RNA virus with cubic symmetry and a diameter of 27 nm.</a:t>
            </a:r>
          </a:p>
          <a:p>
            <a:r>
              <a:rPr lang="en-US" sz="2000" dirty="0"/>
              <a:t>The virus resists inactivation and stable at –20°C with low pH. </a:t>
            </a:r>
          </a:p>
          <a:p>
            <a:r>
              <a:rPr lang="en-US" sz="2000" dirty="0"/>
              <a:t>Genus of </a:t>
            </a:r>
            <a:r>
              <a:rPr lang="en-US" sz="2000" b="1" dirty="0">
                <a:solidFill>
                  <a:srgbClr val="002060"/>
                </a:solidFill>
              </a:rPr>
              <a:t>picornaviruses</a:t>
            </a:r>
            <a:r>
              <a:rPr lang="en-US" sz="2000" dirty="0"/>
              <a:t> as a </a:t>
            </a:r>
            <a:r>
              <a:rPr lang="en-US" sz="2000" b="1" dirty="0">
                <a:solidFill>
                  <a:srgbClr val="002060"/>
                </a:solidFill>
              </a:rPr>
              <a:t>hepatovirus</a:t>
            </a:r>
            <a:r>
              <a:rPr lang="en-US" sz="2000" dirty="0"/>
              <a:t>. 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Only one serotype </a:t>
            </a:r>
            <a:endParaRPr lang="en-US" sz="2000" dirty="0"/>
          </a:p>
          <a:p>
            <a:r>
              <a:rPr lang="en-US" sz="2000" dirty="0"/>
              <a:t>Cultivated in liver cell cultures and monkey kidney cell.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276600"/>
            <a:ext cx="4714875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33400" y="3290767"/>
            <a:ext cx="3276600" cy="280076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US" dirty="0"/>
          </a:p>
          <a:p>
            <a:pPr marL="285750" indent="-285750">
              <a:buFont typeface="Wingdings" pitchFamily="2" charset="2"/>
              <a:buChar char="§"/>
            </a:pPr>
            <a:r>
              <a:rPr lang="en-US" sz="2000" dirty="0"/>
              <a:t>The protein capsid is made up of four viral polypeptides </a:t>
            </a:r>
            <a:r>
              <a:rPr lang="en-US" sz="2000" b="1" dirty="0">
                <a:solidFill>
                  <a:srgbClr val="002060"/>
                </a:solidFill>
              </a:rPr>
              <a:t>(VP1 to VP4).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000" dirty="0"/>
              <a:t>Inside the capsid is a </a:t>
            </a:r>
            <a:r>
              <a:rPr lang="en-US" sz="2000" dirty="0" err="1"/>
              <a:t>ss</a:t>
            </a:r>
            <a:r>
              <a:rPr lang="en-US" sz="2000" dirty="0"/>
              <a:t> RNA , which has a genomic viral protein (VPG) on the 5 end. </a:t>
            </a:r>
            <a:br>
              <a:rPr lang="en-US" dirty="0"/>
            </a:b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114800" y="6088796"/>
            <a:ext cx="2575385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b="1" dirty="0"/>
              <a:t>Fig. structure of the HAV </a:t>
            </a:r>
          </a:p>
        </p:txBody>
      </p:sp>
    </p:spTree>
    <p:extLst>
      <p:ext uri="{BB962C8B-B14F-4D97-AF65-F5344CB8AC3E}">
        <p14:creationId xmlns:p14="http://schemas.microsoft.com/office/powerpoint/2010/main" val="33898748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en-US" sz="2400" b="1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b="1" i="1" dirty="0">
                <a:solidFill>
                  <a:srgbClr val="002060"/>
                </a:solidFill>
              </a:rPr>
              <a:t>Hepatitis</a:t>
            </a:r>
            <a:r>
              <a:rPr lang="en-US" sz="2400" b="1" dirty="0">
                <a:solidFill>
                  <a:srgbClr val="002060"/>
                </a:solidFill>
              </a:rPr>
              <a:t> </a:t>
            </a:r>
            <a:r>
              <a:rPr lang="en-US" sz="2400" b="1" i="1" dirty="0">
                <a:solidFill>
                  <a:srgbClr val="002060"/>
                </a:solidFill>
              </a:rPr>
              <a:t>A disease</a:t>
            </a:r>
          </a:p>
          <a:p>
            <a:r>
              <a:rPr lang="en-US" sz="2200" dirty="0"/>
              <a:t>Termed </a:t>
            </a:r>
            <a:r>
              <a:rPr lang="en-US" sz="2200" b="1" dirty="0">
                <a:solidFill>
                  <a:srgbClr val="002060"/>
                </a:solidFill>
              </a:rPr>
              <a:t>infectious hepatitis </a:t>
            </a:r>
            <a:r>
              <a:rPr lang="en-US" sz="2200" dirty="0"/>
              <a:t>or </a:t>
            </a:r>
            <a:r>
              <a:rPr lang="en-US" sz="2200" b="1" dirty="0">
                <a:solidFill>
                  <a:srgbClr val="002060"/>
                </a:solidFill>
              </a:rPr>
              <a:t>short-incubation hepatitis</a:t>
            </a:r>
            <a:r>
              <a:rPr lang="en-US" sz="2200" dirty="0"/>
              <a:t>. </a:t>
            </a:r>
          </a:p>
          <a:p>
            <a:r>
              <a:rPr lang="en-US" sz="2200" dirty="0"/>
              <a:t>Spread by  </a:t>
            </a:r>
            <a:r>
              <a:rPr lang="en-US" sz="2200" b="1" dirty="0">
                <a:solidFill>
                  <a:srgbClr val="002060"/>
                </a:solidFill>
              </a:rPr>
              <a:t>fecal–oral route</a:t>
            </a:r>
            <a:endParaRPr lang="en-US" sz="2200" dirty="0"/>
          </a:p>
          <a:p>
            <a:r>
              <a:rPr lang="en-US" sz="2200" dirty="0"/>
              <a:t>Outbreaks associated with </a:t>
            </a:r>
            <a:r>
              <a:rPr lang="en-US" sz="2200" b="1" dirty="0">
                <a:solidFill>
                  <a:srgbClr val="002060"/>
                </a:solidFill>
              </a:rPr>
              <a:t>contaminated food or water</a:t>
            </a:r>
            <a:r>
              <a:rPr lang="en-US" sz="2200" dirty="0"/>
              <a:t>. </a:t>
            </a:r>
          </a:p>
          <a:p>
            <a:r>
              <a:rPr lang="en-US" sz="2200" dirty="0"/>
              <a:t>The illness is subclinical in up to one half of infected adults. </a:t>
            </a:r>
          </a:p>
          <a:p>
            <a:r>
              <a:rPr lang="en-US" sz="2200" dirty="0"/>
              <a:t>When symptomatic – show fever and jaundice. </a:t>
            </a:r>
          </a:p>
          <a:p>
            <a:pPr marL="0" indent="0">
              <a:buNone/>
            </a:pPr>
            <a:r>
              <a:rPr lang="en-US" sz="2400" b="1" dirty="0"/>
              <a:t>Epidemiology</a:t>
            </a:r>
          </a:p>
          <a:p>
            <a:r>
              <a:rPr lang="en-US" sz="2000" dirty="0"/>
              <a:t>Humans is the major natural hosts </a:t>
            </a:r>
          </a:p>
          <a:p>
            <a:r>
              <a:rPr lang="en-US" sz="2000" dirty="0"/>
              <a:t>No chronic carriage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323970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3641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en-US" sz="22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Diagnosis</a:t>
            </a:r>
          </a:p>
          <a:p>
            <a:r>
              <a:rPr lang="en-US" sz="2400" dirty="0"/>
              <a:t>IgM-specific antibody denotes acute infection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Treatment and prevention</a:t>
            </a:r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/>
              <a:t>There is no specific treatment</a:t>
            </a:r>
          </a:p>
          <a:p>
            <a:r>
              <a:rPr lang="en-US" sz="2400" dirty="0"/>
              <a:t>Supportive measures include adequate nutrition and rest. </a:t>
            </a:r>
          </a:p>
          <a:p>
            <a:r>
              <a:rPr lang="en-US" sz="2400" dirty="0"/>
              <a:t>Avoidance of exposure to contaminated food or water</a:t>
            </a:r>
          </a:p>
          <a:p>
            <a:r>
              <a:rPr lang="en-US" sz="2400" b="1" dirty="0">
                <a:solidFill>
                  <a:srgbClr val="002060"/>
                </a:solidFill>
              </a:rPr>
              <a:t>Immune serum globulin (ISG) </a:t>
            </a:r>
            <a:r>
              <a:rPr lang="en-US" sz="2400" dirty="0"/>
              <a:t>(Passive immunity)</a:t>
            </a:r>
          </a:p>
          <a:p>
            <a:r>
              <a:rPr lang="en-US" sz="2400" dirty="0"/>
              <a:t>Inactivated virus vaccine confers long-term protection</a:t>
            </a:r>
            <a:endParaRPr lang="en-US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7838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2.</a:t>
            </a:r>
            <a:r>
              <a:rPr lang="en-US" sz="3600" b="1" i="1" dirty="0"/>
              <a:t> Hepatitis B</a:t>
            </a:r>
            <a:r>
              <a:rPr lang="en-US" sz="3600" b="1" dirty="0"/>
              <a:t> Virus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943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Structure</a:t>
            </a:r>
            <a:endParaRPr lang="en-US" sz="2400" dirty="0"/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Enveloped DNA virus, smallest known human DNA virus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The complete virion is a 42-nm.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The 27-nm </a:t>
            </a:r>
            <a:r>
              <a:rPr lang="en-US" sz="2400" b="1" dirty="0">
                <a:solidFill>
                  <a:srgbClr val="002060"/>
                </a:solidFill>
              </a:rPr>
              <a:t>core</a:t>
            </a:r>
            <a:r>
              <a:rPr lang="en-US" sz="2400" dirty="0"/>
              <a:t> comprises; 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/>
              <a:t>A </a:t>
            </a:r>
            <a:r>
              <a:rPr lang="en-US" sz="2000" b="1" dirty="0">
                <a:solidFill>
                  <a:srgbClr val="002060"/>
                </a:solidFill>
              </a:rPr>
              <a:t>nucleocapsid</a:t>
            </a:r>
            <a:r>
              <a:rPr lang="en-US" sz="2000" b="1" dirty="0"/>
              <a:t> </a:t>
            </a:r>
            <a:r>
              <a:rPr lang="en-US" sz="2000" dirty="0"/>
              <a:t>contains DNA genome.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dirty="0"/>
              <a:t> A </a:t>
            </a:r>
            <a:r>
              <a:rPr lang="en-US" sz="2000" b="1" dirty="0">
                <a:solidFill>
                  <a:srgbClr val="002060"/>
                </a:solidFill>
              </a:rPr>
              <a:t>core antigen (HBcAg)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rgbClr val="002060"/>
                </a:solidFill>
              </a:rPr>
              <a:t>early antigen (HBeAg) 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/>
              <a:t>The envelope contains </a:t>
            </a:r>
            <a:r>
              <a:rPr lang="en-US" sz="2200" b="1" dirty="0">
                <a:solidFill>
                  <a:srgbClr val="002060"/>
                </a:solidFill>
              </a:rPr>
              <a:t>surface antigen (HBsAg)</a:t>
            </a:r>
            <a:br>
              <a:rPr lang="en-US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038600"/>
            <a:ext cx="4572000" cy="2390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33400" y="4397276"/>
            <a:ext cx="2895600" cy="20313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b="1" dirty="0">
                <a:solidFill>
                  <a:srgbClr val="002060"/>
                </a:solidFill>
              </a:rPr>
              <a:t>Fig</a:t>
            </a:r>
            <a:r>
              <a:rPr lang="en-US" dirty="0"/>
              <a:t>. The </a:t>
            </a:r>
            <a:r>
              <a:rPr lang="en-US" b="1" dirty="0">
                <a:solidFill>
                  <a:srgbClr val="002060"/>
                </a:solidFill>
              </a:rPr>
              <a:t>42-nm</a:t>
            </a:r>
            <a:r>
              <a:rPr lang="en-US" dirty="0"/>
              <a:t> particle is “Dane particle” /HBV.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dirty="0"/>
              <a:t>The </a:t>
            </a:r>
            <a:r>
              <a:rPr lang="en-US" b="1" dirty="0">
                <a:solidFill>
                  <a:srgbClr val="002060"/>
                </a:solidFill>
              </a:rPr>
              <a:t>22-nm</a:t>
            </a:r>
            <a:r>
              <a:rPr lang="en-US" dirty="0"/>
              <a:t> particles are filamentous and circular forms of </a:t>
            </a:r>
            <a:r>
              <a:rPr lang="en-US" b="1" dirty="0">
                <a:solidFill>
                  <a:srgbClr val="002060"/>
                </a:solidFill>
              </a:rPr>
              <a:t>HBsAg</a:t>
            </a:r>
            <a:r>
              <a:rPr lang="en-US" dirty="0"/>
              <a:t> or </a:t>
            </a:r>
            <a:r>
              <a:rPr lang="en-US" b="1" dirty="0">
                <a:solidFill>
                  <a:srgbClr val="002060"/>
                </a:solidFill>
              </a:rPr>
              <a:t>protein coat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2806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pPr algn="r"/>
            <a:r>
              <a:rPr lang="en-US" sz="2200" dirty="0"/>
              <a:t>Cont</a:t>
            </a:r>
            <a:r>
              <a:rPr lang="en-US" sz="2000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02060"/>
                </a:solidFill>
              </a:rPr>
              <a:t>HBV DNA</a:t>
            </a:r>
            <a:r>
              <a:rPr lang="en-US" sz="2200" dirty="0"/>
              <a:t>-detected in serum and indication of  </a:t>
            </a:r>
            <a:r>
              <a:rPr lang="en-US" sz="2200" b="1" dirty="0">
                <a:solidFill>
                  <a:srgbClr val="002060"/>
                </a:solidFill>
              </a:rPr>
              <a:t>infectious virions</a:t>
            </a:r>
            <a:r>
              <a:rPr lang="en-US" sz="22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200" dirty="0"/>
              <a:t>In infected liver tissue, evidence of HBcAg, HBeAg, and hepatitis B DNA is found in </a:t>
            </a:r>
            <a:r>
              <a:rPr lang="en-US" sz="2200" b="1" dirty="0">
                <a:solidFill>
                  <a:srgbClr val="002060"/>
                </a:solidFill>
              </a:rPr>
              <a:t>nuclei of infected hepatocytes</a:t>
            </a:r>
            <a:r>
              <a:rPr lang="en-US" sz="22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02060"/>
                </a:solidFill>
              </a:rPr>
              <a:t>HBsAg</a:t>
            </a:r>
            <a:r>
              <a:rPr lang="en-US" sz="2200" dirty="0"/>
              <a:t> is found in cytoplasm of infected hepatocytes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/>
              <a:t>In great abundance in in serum during infection. </a:t>
            </a:r>
            <a:br>
              <a:rPr lang="en-US" sz="2400" dirty="0"/>
            </a:br>
            <a:br>
              <a:rPr lang="en-US" sz="24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0327401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pPr algn="r"/>
            <a:r>
              <a:rPr lang="en-US" sz="2700" dirty="0"/>
              <a:t>Cont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400" dirty="0"/>
              <a:t>HBV have unique replication using a reverse transcriptase step</a:t>
            </a:r>
          </a:p>
          <a:p>
            <a:r>
              <a:rPr lang="en-US" sz="2400" dirty="0"/>
              <a:t>Humans are the major hosts</a:t>
            </a:r>
            <a:endParaRPr lang="en-US" sz="2400" b="1" i="1" dirty="0"/>
          </a:p>
          <a:p>
            <a:pPr marL="0" indent="0">
              <a:buNone/>
            </a:pPr>
            <a:r>
              <a:rPr lang="en-US" sz="2400" b="1" i="1" dirty="0">
                <a:solidFill>
                  <a:srgbClr val="002060"/>
                </a:solidFill>
              </a:rPr>
              <a:t>Hepatitis B disease</a:t>
            </a:r>
          </a:p>
          <a:p>
            <a:pPr>
              <a:buClr>
                <a:srgbClr val="00B050"/>
              </a:buClr>
              <a:buFont typeface="Wingdings" pitchFamily="2" charset="2"/>
              <a:buChar char="§"/>
            </a:pPr>
            <a:r>
              <a:rPr lang="en-US" sz="2400" dirty="0"/>
              <a:t>Formerly known as </a:t>
            </a:r>
            <a:r>
              <a:rPr lang="en-US" sz="2400" b="1" dirty="0">
                <a:solidFill>
                  <a:srgbClr val="00B050"/>
                </a:solidFill>
              </a:rPr>
              <a:t>“serum hepatitis.”</a:t>
            </a:r>
          </a:p>
          <a:p>
            <a:pPr>
              <a:buClr>
                <a:srgbClr val="00B050"/>
              </a:buClr>
              <a:buFont typeface="Wingdings" pitchFamily="2" charset="2"/>
              <a:buChar char="§"/>
            </a:pPr>
            <a:r>
              <a:rPr lang="en-US" sz="2400" dirty="0"/>
              <a:t>Association with </a:t>
            </a:r>
            <a:r>
              <a:rPr lang="en-US" sz="2400" b="1" dirty="0">
                <a:solidFill>
                  <a:srgbClr val="00B050"/>
                </a:solidFill>
              </a:rPr>
              <a:t>needle use or blood transfusion</a:t>
            </a:r>
          </a:p>
          <a:p>
            <a:pPr>
              <a:buClr>
                <a:srgbClr val="00B050"/>
              </a:buClr>
              <a:buFont typeface="Wingdings" pitchFamily="2" charset="2"/>
              <a:buChar char="§"/>
            </a:pPr>
            <a:r>
              <a:rPr lang="en-US" sz="2400" dirty="0"/>
              <a:t>It is usually </a:t>
            </a:r>
            <a:r>
              <a:rPr lang="en-US" sz="2400" b="1" dirty="0">
                <a:solidFill>
                  <a:srgbClr val="00B050"/>
                </a:solidFill>
              </a:rPr>
              <a:t>an asymptomatic </a:t>
            </a:r>
            <a:r>
              <a:rPr lang="en-US" sz="2400" dirty="0"/>
              <a:t>or </a:t>
            </a:r>
          </a:p>
          <a:p>
            <a:pPr>
              <a:buClr>
                <a:srgbClr val="00B050"/>
              </a:buClr>
              <a:buFont typeface="Wingdings" pitchFamily="2" charset="2"/>
              <a:buChar char="§"/>
            </a:pPr>
            <a:r>
              <a:rPr lang="en-US" sz="2400" dirty="0"/>
              <a:t>Limited illness with </a:t>
            </a:r>
            <a:r>
              <a:rPr lang="en-US" sz="2400" b="1" dirty="0">
                <a:solidFill>
                  <a:srgbClr val="00B050"/>
                </a:solidFill>
              </a:rPr>
              <a:t>fever and jaundice</a:t>
            </a:r>
            <a:r>
              <a:rPr lang="en-US" sz="2400" dirty="0"/>
              <a:t> for days to weeks. </a:t>
            </a:r>
          </a:p>
          <a:p>
            <a:pPr>
              <a:buClr>
                <a:srgbClr val="00B050"/>
              </a:buClr>
              <a:buFont typeface="Wingdings" pitchFamily="2" charset="2"/>
              <a:buChar char="§"/>
            </a:pPr>
            <a:r>
              <a:rPr lang="en-US" sz="2400" dirty="0"/>
              <a:t>It becomes chronic in up to 10% of patients and </a:t>
            </a:r>
          </a:p>
          <a:p>
            <a:pPr>
              <a:buClr>
                <a:srgbClr val="00B050"/>
              </a:buClr>
              <a:buFont typeface="Wingdings" pitchFamily="2" charset="2"/>
              <a:buChar char="§"/>
            </a:pPr>
            <a:r>
              <a:rPr lang="en-US" sz="2400" dirty="0"/>
              <a:t>It may  lead to </a:t>
            </a:r>
            <a:r>
              <a:rPr lang="en-US" sz="2400" b="1" dirty="0">
                <a:solidFill>
                  <a:srgbClr val="002060"/>
                </a:solidFill>
              </a:rPr>
              <a:t>cirrhosis or hepatocellular carcinoma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040196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algn="r"/>
            <a:r>
              <a:rPr lang="en-US" sz="2200" dirty="0">
                <a:solidFill>
                  <a:srgbClr val="002060"/>
                </a:solidFill>
              </a:rPr>
              <a:t>Cont</a:t>
            </a:r>
            <a:r>
              <a:rPr lang="en-US" sz="2000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sz="2400" b="1" dirty="0">
              <a:solidFill>
                <a:srgbClr val="002060"/>
              </a:solidFill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sz="3100" b="1" dirty="0">
                <a:solidFill>
                  <a:srgbClr val="002060"/>
                </a:solidFill>
              </a:rPr>
              <a:t>Epidemiology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en-US" sz="3100" dirty="0"/>
              <a:t>HBV infection is found worldwide</a:t>
            </a:r>
          </a:p>
          <a:p>
            <a:r>
              <a:rPr lang="en-US" sz="3100" b="1" dirty="0">
                <a:solidFill>
                  <a:srgbClr val="002060"/>
                </a:solidFill>
              </a:rPr>
              <a:t>Chronic carriers </a:t>
            </a:r>
            <a:r>
              <a:rPr lang="en-US" sz="3100" dirty="0"/>
              <a:t>are main reservoir of infection</a:t>
            </a:r>
          </a:p>
          <a:p>
            <a:r>
              <a:rPr lang="en-US" sz="3100" dirty="0"/>
              <a:t>About </a:t>
            </a:r>
            <a:r>
              <a:rPr lang="en-US" sz="3100" b="1" dirty="0">
                <a:solidFill>
                  <a:srgbClr val="002060"/>
                </a:solidFill>
              </a:rPr>
              <a:t>10% of patients </a:t>
            </a:r>
            <a:r>
              <a:rPr lang="en-US" sz="3100" dirty="0"/>
              <a:t>with HIV infection are chronic carriers of HBV.</a:t>
            </a:r>
          </a:p>
          <a:p>
            <a:r>
              <a:rPr lang="en-US" sz="3100" dirty="0"/>
              <a:t>Needle-stick transmission is a risk for HCWs</a:t>
            </a:r>
          </a:p>
          <a:p>
            <a:r>
              <a:rPr lang="en-US" sz="3100" dirty="0"/>
              <a:t>Vertical transmission usually occurs </a:t>
            </a:r>
          </a:p>
          <a:p>
            <a:r>
              <a:rPr lang="en-US" sz="3100" dirty="0"/>
              <a:t>Strong association between chronic infection and hepatocellular carcinoma</a:t>
            </a: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583862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pPr algn="r"/>
            <a:r>
              <a:rPr lang="en-US" sz="24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200" dirty="0"/>
              <a:t>The major mode of acquisition is contact with body fluids </a:t>
            </a:r>
          </a:p>
          <a:p>
            <a:r>
              <a:rPr lang="en-US" sz="2200" dirty="0"/>
              <a:t>Virus found in blood, saliva, and semen</a:t>
            </a:r>
          </a:p>
          <a:p>
            <a:r>
              <a:rPr lang="en-US" sz="2200" b="1" dirty="0">
                <a:solidFill>
                  <a:srgbClr val="002060"/>
                </a:solidFill>
              </a:rPr>
              <a:t>Antibody</a:t>
            </a:r>
            <a:r>
              <a:rPr lang="en-US" sz="2200" dirty="0"/>
              <a:t> to </a:t>
            </a:r>
            <a:r>
              <a:rPr lang="en-US" sz="2200" b="1" dirty="0">
                <a:solidFill>
                  <a:srgbClr val="002060"/>
                </a:solidFill>
              </a:rPr>
              <a:t>HBsAg </a:t>
            </a:r>
            <a:r>
              <a:rPr lang="en-US" sz="2200" dirty="0"/>
              <a:t>is protective</a:t>
            </a:r>
          </a:p>
          <a:p>
            <a:r>
              <a:rPr lang="en-US" sz="2200" dirty="0"/>
              <a:t>Chronic infection leads to progressive fibrosis and cirrhosis</a:t>
            </a:r>
            <a:endParaRPr lang="en-US" sz="2200" b="1" dirty="0"/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Manifestations</a:t>
            </a:r>
            <a:endParaRPr lang="en-US" sz="2000" b="1" dirty="0">
              <a:solidFill>
                <a:srgbClr val="002060"/>
              </a:solidFill>
            </a:endParaRPr>
          </a:p>
          <a:p>
            <a:r>
              <a:rPr lang="en-US" sz="2200" dirty="0"/>
              <a:t>Average IP is 10 weeks; range 7–160 days</a:t>
            </a:r>
          </a:p>
          <a:p>
            <a:r>
              <a:rPr lang="en-US" sz="2200" dirty="0"/>
              <a:t>Chronic hepatitis - early infancy or childhood</a:t>
            </a:r>
          </a:p>
          <a:p>
            <a:r>
              <a:rPr lang="en-US" sz="2200" dirty="0"/>
              <a:t>Acute HB -fatigue, loss of appetite, nausea and pain, and fullness in right upper abdominal quadrant.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16457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/>
          </a:bodyPr>
          <a:lstStyle/>
          <a:p>
            <a:pPr algn="r"/>
            <a:r>
              <a:rPr lang="en-US" sz="2000" dirty="0"/>
              <a:t>Cont</a:t>
            </a:r>
            <a:r>
              <a:rPr lang="en-US" sz="2200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Diagnosis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Acute episode of disease</a:t>
            </a:r>
            <a:endParaRPr lang="en-US" sz="2400" dirty="0"/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HBsAg, HBeAg,  </a:t>
            </a:r>
            <a:r>
              <a:rPr lang="en-US" sz="2400" b="1" dirty="0">
                <a:solidFill>
                  <a:srgbClr val="C00000"/>
                </a:solidFill>
              </a:rPr>
              <a:t>HBcAg </a:t>
            </a:r>
            <a:r>
              <a:rPr lang="en-US" sz="2400" dirty="0"/>
              <a:t>and HBV DNA detected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With resolution of acute hepatitis B: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rgbClr val="7030A0"/>
                </a:solidFill>
              </a:rPr>
              <a:t>HBsAg and HBeAg </a:t>
            </a:r>
            <a:r>
              <a:rPr lang="en-US" sz="2400" dirty="0"/>
              <a:t>disappear from serum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Development of Abs (</a:t>
            </a:r>
            <a:r>
              <a:rPr lang="en-US" sz="2400" b="1" dirty="0">
                <a:solidFill>
                  <a:srgbClr val="7030A0"/>
                </a:solidFill>
              </a:rPr>
              <a:t>anti-HBs and anti-</a:t>
            </a:r>
            <a:r>
              <a:rPr lang="en-US" sz="2400" b="1" dirty="0" err="1">
                <a:solidFill>
                  <a:srgbClr val="7030A0"/>
                </a:solidFill>
              </a:rPr>
              <a:t>HBe</a:t>
            </a:r>
            <a:r>
              <a:rPr lang="en-US" sz="2000" dirty="0"/>
              <a:t>).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Anti-HBs</a:t>
            </a:r>
            <a:r>
              <a:rPr lang="en-US" sz="2400" dirty="0"/>
              <a:t> </a:t>
            </a:r>
            <a:endParaRPr lang="en-US" sz="2000" dirty="0"/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Associated with elimination of infection and 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protection against reinfection.</a:t>
            </a:r>
          </a:p>
        </p:txBody>
      </p:sp>
    </p:spTree>
    <p:extLst>
      <p:ext uri="{BB962C8B-B14F-4D97-AF65-F5344CB8AC3E}">
        <p14:creationId xmlns:p14="http://schemas.microsoft.com/office/powerpoint/2010/main" val="27280934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pPr algn="r"/>
            <a:r>
              <a:rPr lang="en-US" sz="20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458200" cy="6076554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Anti-</a:t>
            </a:r>
            <a:r>
              <a:rPr lang="en-US" sz="2000" b="1" dirty="0" err="1">
                <a:solidFill>
                  <a:srgbClr val="7030A0"/>
                </a:solidFill>
              </a:rPr>
              <a:t>HBc</a:t>
            </a:r>
            <a:r>
              <a:rPr lang="en-US" sz="2000" dirty="0"/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Detected early in course of disease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Persists in serum for years. </a:t>
            </a:r>
            <a:r>
              <a:rPr lang="en-US" sz="2000" b="1" dirty="0">
                <a:solidFill>
                  <a:srgbClr val="7030A0"/>
                </a:solidFill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1. Acute infection: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Appearance of </a:t>
            </a:r>
            <a:r>
              <a:rPr lang="en-US" sz="1800" b="1" dirty="0">
                <a:solidFill>
                  <a:srgbClr val="7030A0"/>
                </a:solidFill>
              </a:rPr>
              <a:t>anti-</a:t>
            </a:r>
            <a:r>
              <a:rPr lang="en-US" sz="1800" b="1" dirty="0" err="1">
                <a:solidFill>
                  <a:srgbClr val="7030A0"/>
                </a:solidFill>
              </a:rPr>
              <a:t>HBc</a:t>
            </a:r>
            <a:r>
              <a:rPr lang="en-US" sz="1800" b="1" dirty="0">
                <a:solidFill>
                  <a:srgbClr val="7030A0"/>
                </a:solidFill>
              </a:rPr>
              <a:t> IgM </a:t>
            </a:r>
          </a:p>
          <a:p>
            <a:pPr marL="0" indent="0">
              <a:buNone/>
            </a:pPr>
            <a:r>
              <a:rPr lang="en-US" sz="1800" dirty="0"/>
              <a:t>who develop </a:t>
            </a:r>
            <a:r>
              <a:rPr lang="en-US" sz="1800" b="1" dirty="0">
                <a:solidFill>
                  <a:srgbClr val="7030A0"/>
                </a:solidFill>
              </a:rPr>
              <a:t>jaundice</a:t>
            </a:r>
            <a:r>
              <a:rPr lang="en-US" sz="1800" dirty="0"/>
              <a:t> </a:t>
            </a:r>
            <a:endParaRPr lang="en-US" sz="1800" b="1" dirty="0">
              <a:solidFill>
                <a:srgbClr val="7030A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HBsAg detected in serum.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2. Past infection: </a:t>
            </a:r>
          </a:p>
          <a:p>
            <a:pPr>
              <a:buFont typeface="Wingdings" pitchFamily="2" charset="2"/>
              <a:buChar char="Ø"/>
            </a:pPr>
            <a:r>
              <a:rPr lang="en-US" sz="1800" b="1" dirty="0">
                <a:solidFill>
                  <a:srgbClr val="002060"/>
                </a:solidFill>
              </a:rPr>
              <a:t>IgG anti-</a:t>
            </a:r>
            <a:r>
              <a:rPr lang="en-US" sz="1800" b="1" dirty="0" err="1">
                <a:solidFill>
                  <a:srgbClr val="002060"/>
                </a:solidFill>
              </a:rPr>
              <a:t>HBc</a:t>
            </a:r>
            <a:r>
              <a:rPr lang="en-US" sz="1800" dirty="0"/>
              <a:t>, </a:t>
            </a:r>
          </a:p>
          <a:p>
            <a:pPr>
              <a:buFont typeface="Wingdings" pitchFamily="2" charset="2"/>
              <a:buChar char="Ø"/>
            </a:pPr>
            <a:r>
              <a:rPr lang="en-US" sz="1800" b="1" dirty="0">
                <a:solidFill>
                  <a:srgbClr val="002060"/>
                </a:solidFill>
              </a:rPr>
              <a:t>Anti-HBs</a:t>
            </a:r>
            <a:r>
              <a:rPr lang="en-US" sz="1800" dirty="0"/>
              <a:t>, or both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3. Chronic infection</a:t>
            </a:r>
            <a:r>
              <a:rPr lang="en-US" sz="2000" dirty="0">
                <a:solidFill>
                  <a:srgbClr val="7030A0"/>
                </a:solidFill>
              </a:rPr>
              <a:t>:</a:t>
            </a:r>
          </a:p>
          <a:p>
            <a:pPr>
              <a:buFont typeface="Wingdings" pitchFamily="2" charset="2"/>
              <a:buChar char="Ø"/>
            </a:pPr>
            <a:r>
              <a:rPr lang="en-US" sz="1800" b="1" dirty="0">
                <a:solidFill>
                  <a:srgbClr val="002060"/>
                </a:solidFill>
              </a:rPr>
              <a:t>HBsAg persistence </a:t>
            </a:r>
            <a:r>
              <a:rPr lang="en-US" sz="1800" dirty="0"/>
              <a:t>and 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no development of anti-HBs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anti-</a:t>
            </a:r>
            <a:r>
              <a:rPr lang="en-US" sz="1800" dirty="0" err="1"/>
              <a:t>HBc</a:t>
            </a:r>
            <a:r>
              <a:rPr lang="en-US" sz="1800" dirty="0"/>
              <a:t> is detected</a:t>
            </a:r>
            <a:endParaRPr lang="en-US" sz="1800" b="1" dirty="0">
              <a:solidFill>
                <a:srgbClr val="7030A0"/>
              </a:solidFill>
            </a:endParaRPr>
          </a:p>
          <a:p>
            <a:pPr algn="ctr"/>
            <a:endParaRPr lang="en-US" sz="2000" b="1" dirty="0">
              <a:solidFill>
                <a:srgbClr val="7030A0"/>
              </a:solidFill>
            </a:endParaRP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617" y="2438400"/>
            <a:ext cx="4939145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048988" y="5999020"/>
            <a:ext cx="479021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Fig</a:t>
            </a:r>
            <a:r>
              <a:rPr lang="en-US" dirty="0"/>
              <a:t>. </a:t>
            </a:r>
            <a:r>
              <a:rPr lang="en-US" b="1" dirty="0"/>
              <a:t>Sequence of appearance of viral </a:t>
            </a:r>
            <a:r>
              <a:rPr lang="en-US" b="1"/>
              <a:t>Ag and Ab</a:t>
            </a:r>
          </a:p>
        </p:txBody>
      </p:sp>
    </p:spTree>
    <p:extLst>
      <p:ext uri="{BB962C8B-B14F-4D97-AF65-F5344CB8AC3E}">
        <p14:creationId xmlns:p14="http://schemas.microsoft.com/office/powerpoint/2010/main" val="17614634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60198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Two types </a:t>
            </a:r>
            <a:r>
              <a:rPr lang="en-US" sz="2000" dirty="0"/>
              <a:t>of </a:t>
            </a:r>
            <a:r>
              <a:rPr lang="en-US" sz="2000" b="1" dirty="0">
                <a:solidFill>
                  <a:srgbClr val="7030A0"/>
                </a:solidFill>
              </a:rPr>
              <a:t>chronic hepatitis </a:t>
            </a:r>
            <a:r>
              <a:rPr lang="en-US" sz="2000" dirty="0"/>
              <a:t>can be distinguished: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HBsAg</a:t>
            </a:r>
            <a:r>
              <a:rPr lang="en-US" sz="2000" dirty="0"/>
              <a:t> is detected but </a:t>
            </a:r>
            <a:r>
              <a:rPr lang="en-US" sz="2000" b="1" dirty="0">
                <a:solidFill>
                  <a:srgbClr val="002060"/>
                </a:solidFill>
              </a:rPr>
              <a:t>not HBeAg</a:t>
            </a:r>
            <a:r>
              <a:rPr lang="en-US" sz="2000" dirty="0"/>
              <a:t>; minimal </a:t>
            </a:r>
            <a:r>
              <a:rPr lang="en-US" sz="2000" b="1" dirty="0">
                <a:solidFill>
                  <a:srgbClr val="002060"/>
                </a:solidFill>
              </a:rPr>
              <a:t>liver dysfunction</a:t>
            </a:r>
            <a:r>
              <a:rPr lang="en-US" sz="2000" dirty="0"/>
              <a:t>.</a:t>
            </a:r>
          </a:p>
          <a:p>
            <a:pPr lvl="1">
              <a:buFont typeface="Wingdings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</a:rPr>
              <a:t>Both antigens</a:t>
            </a:r>
            <a:r>
              <a:rPr lang="en-US" sz="2000" dirty="0"/>
              <a:t>; continued hepatic damage result in </a:t>
            </a:r>
            <a:r>
              <a:rPr lang="en-US" sz="2000" b="1" dirty="0">
                <a:solidFill>
                  <a:srgbClr val="002060"/>
                </a:solidFill>
              </a:rPr>
              <a:t>cirrhosis</a:t>
            </a:r>
            <a:r>
              <a:rPr lang="en-US" sz="2000" dirty="0"/>
              <a:t>. 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Chronic infection </a:t>
            </a:r>
            <a:r>
              <a:rPr lang="en-US" sz="2000" dirty="0"/>
              <a:t>- </a:t>
            </a:r>
            <a:r>
              <a:rPr lang="en-US" sz="2000" b="1" dirty="0">
                <a:solidFill>
                  <a:srgbClr val="002060"/>
                </a:solidFill>
              </a:rPr>
              <a:t>persistence of HBsAg </a:t>
            </a:r>
            <a:r>
              <a:rPr lang="en-US" sz="2000" dirty="0"/>
              <a:t>&gt; 6 to 12 months.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971800"/>
            <a:ext cx="6629400" cy="3584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92146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pPr algn="r"/>
            <a:r>
              <a:rPr lang="en-US" sz="3100" dirty="0"/>
              <a:t>Cont</a:t>
            </a:r>
            <a:r>
              <a:rPr lang="en-US" sz="2200" dirty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2400" b="1" dirty="0">
              <a:solidFill>
                <a:srgbClr val="002060"/>
              </a:solidFill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sz="2600" b="1" dirty="0">
                <a:solidFill>
                  <a:srgbClr val="002060"/>
                </a:solidFill>
              </a:rPr>
              <a:t>Treatment</a:t>
            </a:r>
            <a:endParaRPr lang="en-US" sz="2600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No specific treatment 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Interferon alpha </a:t>
            </a:r>
            <a:r>
              <a:rPr lang="en-US" sz="2600" b="1" dirty="0">
                <a:solidFill>
                  <a:srgbClr val="002060"/>
                </a:solidFill>
              </a:rPr>
              <a:t>lamivudine</a:t>
            </a:r>
            <a:r>
              <a:rPr lang="en-US" sz="2600" dirty="0"/>
              <a:t> and </a:t>
            </a:r>
            <a:r>
              <a:rPr lang="en-US" sz="2600" b="1" dirty="0">
                <a:solidFill>
                  <a:srgbClr val="002060"/>
                </a:solidFill>
              </a:rPr>
              <a:t>adefovir </a:t>
            </a:r>
            <a:r>
              <a:rPr lang="en-US" sz="2600" dirty="0"/>
              <a:t>are of benefit.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A </a:t>
            </a:r>
            <a:r>
              <a:rPr lang="en-US" sz="2600" b="1" dirty="0">
                <a:solidFill>
                  <a:srgbClr val="002060"/>
                </a:solidFill>
              </a:rPr>
              <a:t>high-calorie diet </a:t>
            </a:r>
            <a:r>
              <a:rPr lang="en-US" sz="2600" dirty="0"/>
              <a:t>is desirable.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2600" b="1" dirty="0">
                <a:solidFill>
                  <a:srgbClr val="002060"/>
                </a:solidFill>
              </a:rPr>
              <a:t>Prevention 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Post-exposure treatment- HBIG temporarily reduces risk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Recombinant vaccine- for children and high-risk person</a:t>
            </a:r>
          </a:p>
          <a:p>
            <a:pPr>
              <a:buFont typeface="Wingdings" pitchFamily="2" charset="2"/>
              <a:buChar char="§"/>
            </a:pPr>
            <a:r>
              <a:rPr lang="en-US" sz="2600" dirty="0"/>
              <a:t>Combination of HBIG and vaccine significantly reduces vertical transmission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1729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57200"/>
            <a:ext cx="7772400" cy="545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48187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3200" b="1" i="1" dirty="0"/>
              <a:t>3. Delta Hepatitis (Hepatitis D)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150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Virology</a:t>
            </a:r>
            <a:endParaRPr lang="en-US" sz="2400" b="1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000" b="1" dirty="0">
                <a:solidFill>
                  <a:srgbClr val="002060"/>
                </a:solidFill>
              </a:rPr>
              <a:t>Delta hepatitis </a:t>
            </a:r>
            <a:r>
              <a:rPr lang="en-US" sz="2000" dirty="0"/>
              <a:t>is caused by the HDV.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This small </a:t>
            </a:r>
            <a:r>
              <a:rPr lang="en-US" sz="2000" dirty="0" err="1"/>
              <a:t>ss</a:t>
            </a:r>
            <a:r>
              <a:rPr lang="en-US" sz="2000" dirty="0"/>
              <a:t> RNA virus requires the presence of </a:t>
            </a:r>
            <a:r>
              <a:rPr lang="en-US" sz="2000" b="1" dirty="0">
                <a:solidFill>
                  <a:srgbClr val="002060"/>
                </a:solidFill>
              </a:rPr>
              <a:t>HBsAg</a:t>
            </a:r>
            <a:r>
              <a:rPr lang="en-US" sz="2000" dirty="0"/>
              <a:t> for its transmission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It is thus found only in persons with </a:t>
            </a:r>
            <a:r>
              <a:rPr lang="en-US" sz="2000" b="1" dirty="0">
                <a:solidFill>
                  <a:srgbClr val="002060"/>
                </a:solidFill>
              </a:rPr>
              <a:t>acute or chronic HB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Virus uses </a:t>
            </a:r>
            <a:r>
              <a:rPr lang="en-US" sz="2000" b="1" dirty="0">
                <a:solidFill>
                  <a:schemeClr val="tx1"/>
                </a:solidFill>
              </a:rPr>
              <a:t>HBsAg for assembly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Greatest risk among injection </a:t>
            </a:r>
            <a:r>
              <a:rPr lang="en-US" sz="2000" b="1" dirty="0">
                <a:solidFill>
                  <a:srgbClr val="002060"/>
                </a:solidFill>
              </a:rPr>
              <a:t>drug abusers</a:t>
            </a:r>
            <a:r>
              <a:rPr lang="en-US" sz="2000" dirty="0">
                <a:solidFill>
                  <a:srgbClr val="002060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Manifestations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Simultaneous </a:t>
            </a:r>
            <a:r>
              <a:rPr lang="en-US" sz="2000" b="1" dirty="0">
                <a:solidFill>
                  <a:srgbClr val="002060"/>
                </a:solidFill>
              </a:rPr>
              <a:t>hepatitis B and D </a:t>
            </a:r>
            <a:r>
              <a:rPr lang="en-US" sz="2000" dirty="0"/>
              <a:t>infections cause more </a:t>
            </a:r>
            <a:r>
              <a:rPr lang="en-US" sz="2000" b="1" dirty="0">
                <a:solidFill>
                  <a:srgbClr val="002060"/>
                </a:solidFill>
              </a:rPr>
              <a:t>severe disease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810000"/>
            <a:ext cx="4371975" cy="2290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990600" y="6127898"/>
            <a:ext cx="7620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Fig. delta hepatitis virus. Note outer layer derived from HBsAg.</a:t>
            </a:r>
          </a:p>
        </p:txBody>
      </p:sp>
    </p:spTree>
    <p:extLst>
      <p:ext uri="{BB962C8B-B14F-4D97-AF65-F5344CB8AC3E}">
        <p14:creationId xmlns:p14="http://schemas.microsoft.com/office/powerpoint/2010/main" val="366348992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Autofit/>
          </a:bodyPr>
          <a:lstStyle/>
          <a:p>
            <a:pPr algn="r"/>
            <a:r>
              <a:rPr lang="en-US" sz="2800" dirty="0"/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endParaRPr lang="en-US" sz="2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Diagnosis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Diagnosis is made most commonly by demonstrating </a:t>
            </a:r>
            <a:r>
              <a:rPr lang="en-US" sz="2400" b="1" dirty="0">
                <a:solidFill>
                  <a:srgbClr val="002060"/>
                </a:solidFill>
              </a:rPr>
              <a:t>IgM or IgG Abs</a:t>
            </a:r>
            <a:r>
              <a:rPr lang="en-US" sz="2400" dirty="0"/>
              <a:t>, or both, to the </a:t>
            </a:r>
            <a:r>
              <a:rPr lang="en-US" sz="2400" b="1" dirty="0">
                <a:solidFill>
                  <a:srgbClr val="002060"/>
                </a:solidFill>
              </a:rPr>
              <a:t>delta Ag </a:t>
            </a:r>
            <a:r>
              <a:rPr lang="en-US" sz="2400" dirty="0"/>
              <a:t>in serum.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 </a:t>
            </a:r>
            <a:r>
              <a:rPr lang="en-US" sz="2400" b="1" dirty="0">
                <a:solidFill>
                  <a:srgbClr val="002060"/>
                </a:solidFill>
              </a:rPr>
              <a:t>IgM Abs </a:t>
            </a:r>
            <a:r>
              <a:rPr lang="en-US" sz="2400" dirty="0"/>
              <a:t>appear within 3 weeks of infection and persist for several weeks. </a:t>
            </a:r>
          </a:p>
          <a:p>
            <a:pPr>
              <a:buFont typeface="Wingdings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</a:rPr>
              <a:t>IgG Abs </a:t>
            </a:r>
            <a:r>
              <a:rPr lang="en-US" sz="2400" dirty="0"/>
              <a:t>persist for years. 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Treatment and prevention</a:t>
            </a:r>
            <a:endParaRPr lang="en-US" sz="2400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400" dirty="0"/>
              <a:t>Major for prevention of HB also prevent hepatitis</a:t>
            </a:r>
            <a:endParaRPr lang="en-US" sz="2400" b="1" dirty="0">
              <a:solidFill>
                <a:srgbClr val="00206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9677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Autofit/>
          </a:bodyPr>
          <a:lstStyle/>
          <a:p>
            <a:r>
              <a:rPr lang="en-US" sz="3000" b="1" i="1" dirty="0">
                <a:solidFill>
                  <a:srgbClr val="002060"/>
                </a:solidFill>
              </a:rPr>
              <a:t>4. Hepatitis C</a:t>
            </a:r>
            <a:r>
              <a:rPr lang="en-US" sz="3200" dirty="0"/>
              <a:t> </a:t>
            </a:r>
            <a:r>
              <a:rPr lang="en-US" sz="3200" b="1" i="1" dirty="0">
                <a:solidFill>
                  <a:srgbClr val="002060"/>
                </a:solidFill>
              </a:rPr>
              <a:t>Virus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endParaRPr lang="en-US" sz="30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2060"/>
                </a:solidFill>
              </a:rPr>
              <a:t>Virology</a:t>
            </a:r>
            <a:endParaRPr lang="en-US" sz="2400" b="1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000" b="1" dirty="0">
                <a:solidFill>
                  <a:srgbClr val="002060"/>
                </a:solidFill>
              </a:rPr>
              <a:t>HCV </a:t>
            </a:r>
            <a:r>
              <a:rPr lang="en-US" sz="2000" dirty="0"/>
              <a:t>is an </a:t>
            </a:r>
            <a:r>
              <a:rPr lang="en-US" sz="2000" b="1" dirty="0">
                <a:solidFill>
                  <a:srgbClr val="002060"/>
                </a:solidFill>
              </a:rPr>
              <a:t>RNA virus </a:t>
            </a:r>
            <a:r>
              <a:rPr lang="en-US" sz="2000" dirty="0"/>
              <a:t>in the </a:t>
            </a:r>
            <a:r>
              <a:rPr lang="en-US" sz="2000" b="1" dirty="0">
                <a:solidFill>
                  <a:srgbClr val="002060"/>
                </a:solidFill>
              </a:rPr>
              <a:t>flavivirus family</a:t>
            </a:r>
            <a:r>
              <a:rPr lang="en-US" sz="2000" dirty="0"/>
              <a:t>, with six major genotypes.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Major transmission was from </a:t>
            </a:r>
            <a:r>
              <a:rPr lang="en-US" sz="2000" b="1" dirty="0">
                <a:solidFill>
                  <a:srgbClr val="002060"/>
                </a:solidFill>
              </a:rPr>
              <a:t>blood and blood products </a:t>
            </a:r>
            <a:r>
              <a:rPr lang="en-US" sz="2000" dirty="0"/>
              <a:t>but is now from </a:t>
            </a:r>
            <a:r>
              <a:rPr lang="en-US" sz="2000" b="1" dirty="0">
                <a:solidFill>
                  <a:srgbClr val="002060"/>
                </a:solidFill>
              </a:rPr>
              <a:t>“needle sharing”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Manifestations</a:t>
            </a:r>
            <a:endParaRPr lang="en-US" sz="2400" b="1" dirty="0">
              <a:solidFill>
                <a:srgbClr val="002060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Acute illness usually not apparent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Chronic infection is common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Manifestations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The incubation period of HCV averages 6–12 weeks.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Acute illness usually not apparent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Chronic infection is common</a:t>
            </a:r>
          </a:p>
          <a:p>
            <a:pPr>
              <a:buFont typeface="Wingdings" pitchFamily="2" charset="2"/>
              <a:buChar char="§"/>
            </a:pPr>
            <a:r>
              <a:rPr lang="en-US" sz="2000" b="1" dirty="0">
                <a:solidFill>
                  <a:srgbClr val="0070C0"/>
                </a:solidFill>
              </a:rPr>
              <a:t>Cirrhosis and hepatocellular carcinoma </a:t>
            </a:r>
            <a:r>
              <a:rPr lang="en-US" sz="2000" dirty="0"/>
              <a:t>are late </a:t>
            </a:r>
            <a:r>
              <a:rPr lang="en-US" sz="2000" dirty="0" err="1"/>
              <a:t>sequelae</a:t>
            </a:r>
            <a:r>
              <a:rPr lang="en-US" sz="2000" dirty="0"/>
              <a:t> of chronic hepatitis.</a:t>
            </a:r>
          </a:p>
          <a:p>
            <a:pPr>
              <a:buFont typeface="Wingdings" pitchFamily="2" charset="2"/>
              <a:buChar char="§"/>
            </a:pPr>
            <a:r>
              <a:rPr lang="en-US" sz="1800" b="1" dirty="0">
                <a:solidFill>
                  <a:srgbClr val="002060"/>
                </a:solidFill>
              </a:rPr>
              <a:t>Chronic hepatitis </a:t>
            </a:r>
            <a:r>
              <a:rPr lang="en-US" sz="1800" dirty="0"/>
              <a:t>tends to wax and wane, is often asymptomatic, and may be associated with either </a:t>
            </a:r>
            <a:r>
              <a:rPr lang="en-US" sz="1800" b="1" dirty="0">
                <a:solidFill>
                  <a:srgbClr val="002060"/>
                </a:solidFill>
              </a:rPr>
              <a:t>elevated or normal ALT</a:t>
            </a:r>
            <a:r>
              <a:rPr lang="en-US" sz="1800" dirty="0"/>
              <a:t> values in serum.</a:t>
            </a:r>
            <a:br>
              <a:rPr lang="en-US" sz="2000" dirty="0">
                <a:solidFill>
                  <a:srgbClr val="002060"/>
                </a:solidFill>
              </a:rPr>
            </a:br>
            <a:endParaRPr 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2981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pPr algn="r"/>
            <a:r>
              <a:rPr lang="en-US" sz="2700" dirty="0"/>
              <a:t>Cont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150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Diagnosis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Antigens of hepatitis C </a:t>
            </a:r>
            <a:r>
              <a:rPr lang="en-US" sz="2000" dirty="0"/>
              <a:t>are not detectable in blood </a:t>
            </a:r>
          </a:p>
          <a:p>
            <a:r>
              <a:rPr lang="en-US" sz="2000" dirty="0"/>
              <a:t>Diagnostic tests attempt to demonstrate </a:t>
            </a:r>
            <a:r>
              <a:rPr lang="en-US" sz="2000" b="1" dirty="0">
                <a:solidFill>
                  <a:srgbClr val="002060"/>
                </a:solidFill>
              </a:rPr>
              <a:t>antibody </a:t>
            </a:r>
          </a:p>
          <a:p>
            <a:r>
              <a:rPr lang="en-US" sz="2000" b="1" dirty="0">
                <a:solidFill>
                  <a:srgbClr val="002060"/>
                </a:solidFill>
              </a:rPr>
              <a:t>Hepatitis C RNA </a:t>
            </a:r>
            <a:r>
              <a:rPr lang="en-US" sz="2000" dirty="0"/>
              <a:t>can be detected and quantitated by PCR and used for</a:t>
            </a:r>
          </a:p>
          <a:p>
            <a:pPr lvl="1">
              <a:buFont typeface="Wingdings" pitchFamily="2" charset="2"/>
              <a:buChar char="Ø"/>
            </a:pPr>
            <a:r>
              <a:rPr lang="en-US" sz="1600" dirty="0"/>
              <a:t> diagnosis,</a:t>
            </a:r>
          </a:p>
          <a:p>
            <a:pPr lvl="1">
              <a:buFont typeface="Wingdings" pitchFamily="2" charset="2"/>
              <a:buChar char="Ø"/>
            </a:pPr>
            <a:r>
              <a:rPr lang="en-US" sz="1600" dirty="0"/>
              <a:t> estimating prognosis,</a:t>
            </a:r>
          </a:p>
          <a:p>
            <a:pPr lvl="1">
              <a:buFont typeface="Wingdings" pitchFamily="2" charset="2"/>
              <a:buChar char="Ø"/>
            </a:pPr>
            <a:r>
              <a:rPr lang="en-US" sz="1600" dirty="0"/>
              <a:t> predicting interferon responsiveness, and </a:t>
            </a:r>
          </a:p>
          <a:p>
            <a:pPr lvl="1">
              <a:buFont typeface="Wingdings" pitchFamily="2" charset="2"/>
              <a:buChar char="Ø"/>
            </a:pPr>
            <a:r>
              <a:rPr lang="en-US" sz="1600" dirty="0"/>
              <a:t>monitoring therapy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Treatment and prevention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Combination therapy can benefit some persons with chronic infection (with </a:t>
            </a:r>
            <a:r>
              <a:rPr lang="en-US" sz="2000" b="1" dirty="0">
                <a:solidFill>
                  <a:srgbClr val="002060"/>
                </a:solidFill>
              </a:rPr>
              <a:t>interferon alpha and ribavirin</a:t>
            </a:r>
            <a:r>
              <a:rPr lang="en-US" sz="2000" dirty="0"/>
              <a:t>)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Avoidance of injection drug use and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Screening of blood products are important preventive measures. 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Immune globulin may not be protective; </a:t>
            </a:r>
          </a:p>
          <a:p>
            <a:pPr>
              <a:buFont typeface="Wingdings" pitchFamily="2" charset="2"/>
              <a:buChar char="Ø"/>
            </a:pPr>
            <a:r>
              <a:rPr lang="en-US" sz="1800" dirty="0"/>
              <a:t>No vaccine exists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623659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3600" b="1" i="1" dirty="0">
                <a:solidFill>
                  <a:srgbClr val="002060"/>
                </a:solidFill>
              </a:rPr>
              <a:t>5. Hepatitis E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000" b="1" dirty="0">
                <a:solidFill>
                  <a:srgbClr val="002060"/>
                </a:solidFill>
              </a:rPr>
              <a:t>Hepatitis E- </a:t>
            </a:r>
            <a:r>
              <a:rPr lang="en-US" sz="2000" dirty="0"/>
              <a:t>spread by the </a:t>
            </a:r>
            <a:r>
              <a:rPr lang="en-US" sz="2000" b="1" dirty="0">
                <a:solidFill>
                  <a:srgbClr val="FF0000"/>
                </a:solidFill>
              </a:rPr>
              <a:t>fecal-oral route </a:t>
            </a:r>
          </a:p>
          <a:p>
            <a:r>
              <a:rPr lang="en-US" sz="2000" dirty="0"/>
              <a:t>27 to 34 nm in size, and unenveloped and exhibit spikes on their surface. </a:t>
            </a:r>
          </a:p>
          <a:p>
            <a:r>
              <a:rPr lang="en-US" sz="2000" dirty="0"/>
              <a:t>Usually associated with contaminated drinking water</a:t>
            </a:r>
          </a:p>
          <a:p>
            <a:r>
              <a:rPr lang="en-US" sz="2000" dirty="0"/>
              <a:t>IP- 40 days</a:t>
            </a:r>
          </a:p>
          <a:p>
            <a:pPr marL="0" indent="0">
              <a:buNone/>
            </a:pPr>
            <a:r>
              <a:rPr lang="en-US" sz="2000" b="1" i="1" dirty="0">
                <a:solidFill>
                  <a:srgbClr val="002060"/>
                </a:solidFill>
              </a:rPr>
              <a:t>Diagnosis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specific IgM antibody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No treatment is available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Liver transplant the only recourse in seriously ill patients</a:t>
            </a:r>
            <a:endParaRPr lang="en-US" sz="2000" b="1" i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</a:rPr>
              <a:t>6</a:t>
            </a:r>
            <a:r>
              <a:rPr lang="en-US" sz="2400" b="1" i="1" dirty="0">
                <a:solidFill>
                  <a:srgbClr val="002060"/>
                </a:solidFill>
              </a:rPr>
              <a:t>. Hepatitis G</a:t>
            </a:r>
          </a:p>
          <a:p>
            <a:r>
              <a:rPr lang="en-US" sz="2000" dirty="0"/>
              <a:t>RNA virus members of the </a:t>
            </a:r>
            <a:r>
              <a:rPr lang="en-US" sz="2000" b="1" dirty="0">
                <a:solidFill>
                  <a:srgbClr val="FF0000"/>
                </a:solidFill>
              </a:rPr>
              <a:t>flavivirus</a:t>
            </a:r>
            <a:r>
              <a:rPr lang="en-US" sz="2000" dirty="0"/>
              <a:t> family and similar to hepatitis C</a:t>
            </a:r>
          </a:p>
          <a:p>
            <a:r>
              <a:rPr lang="en-US" sz="2000" dirty="0"/>
              <a:t>Role in human disease is currently uncertain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70145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3877</Words>
  <Application>Microsoft Office PowerPoint</Application>
  <PresentationFormat>On-screen Show (4:3)</PresentationFormat>
  <Paragraphs>648</Paragraphs>
  <Slides>69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3" baseType="lpstr">
      <vt:lpstr>Arial</vt:lpstr>
      <vt:lpstr>Calibri</vt:lpstr>
      <vt:lpstr>Wingdings</vt:lpstr>
      <vt:lpstr>Office Theme</vt:lpstr>
      <vt:lpstr>Outline</vt:lpstr>
      <vt:lpstr> Common microbes causing Gastrointestinal infections (GIT)  </vt:lpstr>
      <vt:lpstr>Infectious Diseases of GIT</vt:lpstr>
      <vt:lpstr>PowerPoint Presentation</vt:lpstr>
      <vt:lpstr>PowerPoint Presentation</vt:lpstr>
      <vt:lpstr>PowerPoint Presentation</vt:lpstr>
      <vt:lpstr>1. Diarrhoea caused by E. coli</vt:lpstr>
      <vt:lpstr>PowerPoint Presentation</vt:lpstr>
      <vt:lpstr>2. Salmonella</vt:lpstr>
      <vt:lpstr>PowerPoint Presentation</vt:lpstr>
      <vt:lpstr>Classification of Salmonella</vt:lpstr>
      <vt:lpstr>Epidemiology</vt:lpstr>
      <vt:lpstr>Pathogenicity</vt:lpstr>
      <vt:lpstr>PowerPoint Presentation</vt:lpstr>
      <vt:lpstr>PowerPoint Presentation</vt:lpstr>
      <vt:lpstr>PowerPoint Presentation</vt:lpstr>
      <vt:lpstr>3. Shigella</vt:lpstr>
      <vt:lpstr>PowerPoint Presentation</vt:lpstr>
      <vt:lpstr>PowerPoint Presentation</vt:lpstr>
      <vt:lpstr>PowerPoint Presentation</vt:lpstr>
      <vt:lpstr>Outline</vt:lpstr>
      <vt:lpstr>1. Campylobacter</vt:lpstr>
      <vt:lpstr>Cont.</vt:lpstr>
      <vt:lpstr>Cont.</vt:lpstr>
      <vt:lpstr>2. Helicobacter</vt:lpstr>
      <vt:lpstr>Cont.</vt:lpstr>
      <vt:lpstr>PowerPoint Presentation</vt:lpstr>
      <vt:lpstr>PowerPoint Presentation</vt:lpstr>
      <vt:lpstr>Cont.</vt:lpstr>
      <vt:lpstr>Vibrio</vt:lpstr>
      <vt:lpstr>1. V. cholerae</vt:lpstr>
      <vt:lpstr>Cont.</vt:lpstr>
      <vt:lpstr>PowerPoint Presentation</vt:lpstr>
      <vt:lpstr>PowerPoint Presentation</vt:lpstr>
      <vt:lpstr>PowerPoint Presentation</vt:lpstr>
      <vt:lpstr>PowerPoint Presentation</vt:lpstr>
      <vt:lpstr>C. difficile</vt:lpstr>
      <vt:lpstr>Pathogenicity</vt:lpstr>
      <vt:lpstr>PowerPoint Presentation</vt:lpstr>
      <vt:lpstr>PowerPoint Presentation</vt:lpstr>
      <vt:lpstr>Viruses of Diarrhea</vt:lpstr>
      <vt:lpstr>Viruses of Diarrhea</vt:lpstr>
      <vt:lpstr>General features</vt:lpstr>
      <vt:lpstr>Cont.</vt:lpstr>
      <vt:lpstr>Cont.</vt:lpstr>
      <vt:lpstr>Cont.</vt:lpstr>
      <vt:lpstr>2. CALICIVIRUSES</vt:lpstr>
      <vt:lpstr>Cont.</vt:lpstr>
      <vt:lpstr>ADENOVIRUSES, ASTROVIRUSES, AND “CANDIDATE” VIRUSES</vt:lpstr>
      <vt:lpstr>PowerPoint Presentation</vt:lpstr>
      <vt:lpstr>Hepatitis Viruses</vt:lpstr>
      <vt:lpstr>1. Hepatitis A</vt:lpstr>
      <vt:lpstr>PowerPoint Presentation</vt:lpstr>
      <vt:lpstr>PowerPoint Presentation</vt:lpstr>
      <vt:lpstr>2. Hepatitis B Virus</vt:lpstr>
      <vt:lpstr>Cont.</vt:lpstr>
      <vt:lpstr>Cont.</vt:lpstr>
      <vt:lpstr>Cont.</vt:lpstr>
      <vt:lpstr>Cont.</vt:lpstr>
      <vt:lpstr>Cont.</vt:lpstr>
      <vt:lpstr>Cont.</vt:lpstr>
      <vt:lpstr>PowerPoint Presentation</vt:lpstr>
      <vt:lpstr>Cont.</vt:lpstr>
      <vt:lpstr>PowerPoint Presentation</vt:lpstr>
      <vt:lpstr>3. Delta Hepatitis (Hepatitis D)</vt:lpstr>
      <vt:lpstr>Cont.</vt:lpstr>
      <vt:lpstr>4. Hepatitis C Virus </vt:lpstr>
      <vt:lpstr>Cont.</vt:lpstr>
      <vt:lpstr>5. Hepatitis E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Common microbes causing Gastrointestinal infections  </dc:title>
  <dc:creator>Shemsu- [2020]</dc:creator>
  <cp:lastModifiedBy>#Kind</cp:lastModifiedBy>
  <cp:revision>75</cp:revision>
  <dcterms:created xsi:type="dcterms:W3CDTF">2021-05-23T21:08:23Z</dcterms:created>
  <dcterms:modified xsi:type="dcterms:W3CDTF">2024-01-31T10:18:47Z</dcterms:modified>
</cp:coreProperties>
</file>