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9" r:id="rId2"/>
    <p:sldId id="404" r:id="rId3"/>
    <p:sldId id="260" r:id="rId4"/>
    <p:sldId id="386" r:id="rId5"/>
    <p:sldId id="388" r:id="rId6"/>
    <p:sldId id="389" r:id="rId7"/>
    <p:sldId id="391" r:id="rId8"/>
    <p:sldId id="392" r:id="rId9"/>
    <p:sldId id="408" r:id="rId10"/>
    <p:sldId id="407" r:id="rId11"/>
    <p:sldId id="394" r:id="rId12"/>
    <p:sldId id="329" r:id="rId13"/>
    <p:sldId id="330" r:id="rId14"/>
    <p:sldId id="396" r:id="rId15"/>
    <p:sldId id="271" r:id="rId16"/>
    <p:sldId id="401" r:id="rId17"/>
    <p:sldId id="402" r:id="rId18"/>
    <p:sldId id="4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BC45-6BE8-E05C-84F1-07FFCFDA0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681F3-0577-D657-959F-FCEBDE534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1D21-1C2A-562C-10F1-4179E01B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23613-D52E-9AB7-3023-D7F5307D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4C7DA-5B97-3A51-145A-4C68A0DB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5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2584-253E-A7E0-3A24-7112F2BD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1897-3A5C-5FD9-D40A-599C89E91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2797-A3B1-F070-B45A-D0304A47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ED07E-8574-439A-9720-C72CE338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0F42-7665-7DAA-64B7-2AA4EEC8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6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5EF8-6A54-58EB-18D4-9F86DC90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F0C42-2225-D211-E900-64DAD0989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1DB6C-1CD5-49F5-504D-5792B421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4DA44-985A-9A5B-144E-0ED2220FD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51D61-DF6E-1EC2-AA9A-BF1795C6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5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CBE7-D0CA-1EA1-1B56-7EDC68A4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6938-27C7-3DCE-4FF5-AB21A3B8A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DD98-B28B-81A4-A627-2536D4291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76991-CB5D-D30F-B723-B5246C20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4CAA9-7320-77DF-9F5E-B96FC2FA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762AB-08DA-20BB-EA53-E0BB9949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6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AC53-FCFB-FBB4-70FF-C1C4FA5A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98759-821A-A1BA-1742-F587A3FF1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59F66-8A64-75ED-C6BA-712F01C7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DB092-D1ED-7A1C-D42C-B69327E01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2385E-C773-0FFA-C399-2365886C2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E064D-D29D-CB8C-07A9-DD950AA50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11F05-3E76-C265-D81D-6E575808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CD92D-43CF-1367-0BAF-4C44CB17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BAAF-5FF3-3B5B-1350-57997DCD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12846-9195-BE0D-3DEF-4623E4DC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B8ED5-1221-A4BB-E06D-5BAEDC1C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BE780-C2A0-59C1-DCEF-845A49C5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A38A6-7A95-BD05-99FB-1A096032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DA19A-2026-E081-A9DC-E86BE3A9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0110A-7F4F-5551-17FD-892B9E9F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1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DA56-2FB2-F669-E2B1-C7AF316C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D9EB6-25AD-3CFC-C9BA-C4C71236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7FCFB-0C4B-3B5A-CD10-DD01EE6AF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1E6FD-3FBF-ED54-AB68-424B3640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60AAC-F48B-96E3-7D34-6FAE2316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10EB-20C6-A3BA-FA7B-58CE0FB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75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B9D6-61D3-58A6-63F3-EA972908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2A3DE-7932-1F9C-615B-046B277DA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3D720-D941-D049-3402-77F89472E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3F6D3-E72E-EB32-A203-0099EA29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EB076-B09B-4A34-87DB-941FF540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811ED-9C8E-5D03-3C8A-ABDB1B4F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5D48-7A3B-07BB-D89D-577D1902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B653C-9417-D471-C2AD-1840ED22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93D02-4301-2338-AB6B-4A53935D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A81CB-C1F6-DBAF-DDE5-2D277CA2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48236-9411-2186-5C2B-661795FB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0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EAB8A-5FE5-54CF-DB60-A70E4724E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C1DA3-6F22-E865-7354-85344E7A5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F89F7-2F53-C015-F803-6BBFAB69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8337-4ED2-9F89-89E0-76138E41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CC888-496B-3CC7-10ED-408A9C94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6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CAC84-F084-FFE9-7784-BFC6D3BF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92526-4259-B12D-319D-C2069BAC0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59B8B-0959-0C34-6186-C94F6FCEC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2124C-9B65-4E93-8417-E2C3ED504143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5564E-33D2-B169-F4E6-2B592B874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A9D15-A09E-1DA5-0F59-80E4DA5CA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7918C-1189-41FD-ABDF-9075ED445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0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BE44236-FDBA-4A52-BDD5-7B72D4297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/>
                </a:solidFill>
              </a:rPr>
              <a:t>Autonomic Nervous System(ANS)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3942AD6-6298-4885-9757-F5160EABA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CNS consists of the brain and spinal cord</a:t>
            </a:r>
          </a:p>
          <a:p>
            <a:r>
              <a:rPr lang="en-US" altLang="en-US" dirty="0">
                <a:latin typeface="Century" panose="02040604050505020304" pitchFamily="18" charset="0"/>
              </a:rPr>
              <a:t>PNS is divided in to ANS and somatic nervous system</a:t>
            </a:r>
            <a:endParaRPr lang="en-US" altLang="en-US" dirty="0">
              <a:solidFill>
                <a:schemeClr val="tx1"/>
              </a:solidFill>
              <a:latin typeface="Century" panose="020406040505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The autonomic nervous system(ANS) consists of two large divisions:</a:t>
            </a:r>
          </a:p>
          <a:p>
            <a:endParaRPr lang="en-US" altLang="en-US" dirty="0">
              <a:solidFill>
                <a:schemeClr val="tx1"/>
              </a:solidFill>
              <a:latin typeface="Century" panose="02040604050505020304" pitchFamily="18" charset="0"/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 </a:t>
            </a:r>
            <a:r>
              <a:rPr lang="en-US" altLang="en-US" b="1" dirty="0">
                <a:latin typeface="Century" panose="02040604050505020304" pitchFamily="18" charset="0"/>
              </a:rPr>
              <a:t>S</a:t>
            </a:r>
            <a:r>
              <a:rPr lang="en-US" altLang="en-US" b="1" dirty="0">
                <a:solidFill>
                  <a:schemeClr val="tx1"/>
                </a:solidFill>
                <a:latin typeface="Century" panose="02040604050505020304" pitchFamily="18" charset="0"/>
              </a:rPr>
              <a:t>ympathetic </a:t>
            </a:r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(thoracolumbar) outflow, and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 </a:t>
            </a:r>
            <a:r>
              <a:rPr lang="en-US" altLang="en-US" b="1" dirty="0">
                <a:latin typeface="Century" panose="02040604050505020304" pitchFamily="18" charset="0"/>
              </a:rPr>
              <a:t>P</a:t>
            </a:r>
            <a:r>
              <a:rPr lang="en-US" altLang="en-US" b="1" dirty="0">
                <a:solidFill>
                  <a:schemeClr val="tx1"/>
                </a:solidFill>
                <a:latin typeface="Century" panose="02040604050505020304" pitchFamily="18" charset="0"/>
              </a:rPr>
              <a:t>arasympathetic </a:t>
            </a:r>
            <a:r>
              <a:rPr lang="en-US" altLang="en-US" dirty="0">
                <a:solidFill>
                  <a:schemeClr val="tx1"/>
                </a:solidFill>
                <a:latin typeface="Century" panose="02040604050505020304" pitchFamily="18" charset="0"/>
              </a:rPr>
              <a:t>(craniosacral) outflow.</a:t>
            </a:r>
          </a:p>
          <a:p>
            <a:endParaRPr lang="en-US" altLang="en-US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962CEB0F-5996-4AAD-883F-587373BFA8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8273704-6DAD-4DE9-9F9A-6DD6A523F478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FD8B-C97E-31BE-ABB2-A238F2666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234"/>
            <a:ext cx="10515600" cy="586472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accent1"/>
                </a:solidFill>
                <a:latin typeface="Century" panose="02040604050505020304" pitchFamily="18" charset="0"/>
              </a:rPr>
              <a:t>ANS</a:t>
            </a:r>
            <a:r>
              <a:rPr lang="en-US" altLang="en-US" dirty="0">
                <a:latin typeface="Century" panose="02040604050505020304" pitchFamily="18" charset="0"/>
              </a:rPr>
              <a:t>-responsible for control of involuntary or visceral bodily functions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entury" panose="02040604050505020304" pitchFamily="18" charset="0"/>
              </a:rPr>
              <a:t>Cardiovascular, Respiratory, Digestive, Urinary, Reproductive  functions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b="1" i="1" dirty="0">
                <a:solidFill>
                  <a:schemeClr val="accent1"/>
                </a:solidFill>
                <a:latin typeface="Century" panose="02040604050505020304" pitchFamily="18" charset="0"/>
              </a:rPr>
              <a:t>Sympathetic nervous system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entury" panose="02040604050505020304" pitchFamily="18" charset="0"/>
              </a:rPr>
              <a:t>Allow body to function under stress (Fight  or flight)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>
              <a:latin typeface="Century" panose="020406040505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b="1" i="1" dirty="0">
                <a:solidFill>
                  <a:schemeClr val="accent1"/>
                </a:solidFill>
                <a:latin typeface="Century" panose="02040604050505020304" pitchFamily="18" charset="0"/>
              </a:rPr>
              <a:t>Parasympathetic nervous system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entury" panose="02040604050505020304" pitchFamily="18" charset="0"/>
              </a:rPr>
              <a:t>Feed or breed ( rest and digest)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entury" panose="02040604050505020304" pitchFamily="18" charset="0"/>
              </a:rPr>
              <a:t>Constant  opposition to sympathetic system</a:t>
            </a:r>
            <a:endParaRPr lang="en-US" sz="2800" b="1" dirty="0">
              <a:latin typeface="Century" panose="02040604050505020304" pitchFamily="18" charset="0"/>
            </a:endParaRPr>
          </a:p>
          <a:p>
            <a:pPr eaLnBrk="1" hangingPunct="1"/>
            <a:endParaRPr lang="en-US" altLang="en-US" dirty="0">
              <a:latin typeface="Century" panose="02040604050505020304" pitchFamily="18" charset="0"/>
            </a:endParaRPr>
          </a:p>
          <a:p>
            <a:endParaRPr lang="en-US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3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C610-25A6-2D8F-2A73-BF6DB8B3C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541" y="274638"/>
            <a:ext cx="8917259" cy="639762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3600" dirty="0"/>
              <a:t>Major components of ANS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996936D-23CA-F5E0-F198-280C58E55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35563"/>
          </a:xfrm>
        </p:spPr>
        <p:txBody>
          <a:bodyPr/>
          <a:lstStyle/>
          <a:p>
            <a:pPr eaLnBrk="1" hangingPunct="1"/>
            <a:r>
              <a:rPr lang="en-US" altLang="en-US" b="1" dirty="0"/>
              <a:t>Neuron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dirty="0"/>
              <a:t>Sensory – Afferent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dirty="0"/>
              <a:t>Motor neurons- Efferent</a:t>
            </a:r>
          </a:p>
          <a:p>
            <a:pPr eaLnBrk="1" hangingPunct="1"/>
            <a:r>
              <a:rPr lang="en-US" altLang="en-US" b="1" dirty="0"/>
              <a:t>Neurotransmitter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dirty="0"/>
              <a:t>Chemical substance which travels across a synaptic junction to act on a target cell</a:t>
            </a:r>
          </a:p>
          <a:p>
            <a:pPr eaLnBrk="1" hangingPunct="1"/>
            <a:r>
              <a:rPr lang="en-US" altLang="en-US" b="1" dirty="0"/>
              <a:t>Effector organs 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dirty="0"/>
              <a:t>Specific  tissues stimulated by the autonomic nervous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1E58-7397-BF5E-26C9-583E11D42A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3977363-64EA-42D2-BCEB-0B1D9DD170EA}" type="datetime1">
              <a:rPr lang="en-US"/>
              <a:pPr>
                <a:defRPr/>
              </a:pPr>
              <a:t>11/8/2023</a:t>
            </a:fld>
            <a:endParaRPr lang="en-US"/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71A60D53-7439-BC81-E516-B71709BFBC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16726D-7493-4F9B-B038-F77B9298EEB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1A4B-2C56-4D38-3CA1-C5607D30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ANS pharmacology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507BF-5627-478C-B83A-88487A03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924"/>
            <a:ext cx="10515600" cy="5746039"/>
          </a:xfrm>
        </p:spPr>
        <p:txBody>
          <a:bodyPr/>
          <a:lstStyle/>
          <a:p>
            <a:r>
              <a:rPr lang="en-US" sz="3600" spc="-5" dirty="0">
                <a:solidFill>
                  <a:srgbClr val="C00000"/>
                </a:solidFill>
                <a:latin typeface="+mj-lt"/>
                <a:cs typeface="Arial"/>
              </a:rPr>
              <a:t>Neurotransmitters</a:t>
            </a:r>
            <a:r>
              <a:rPr lang="en-US" spc="-5" dirty="0">
                <a:latin typeface="+mj-lt"/>
                <a:cs typeface="Arial"/>
              </a:rPr>
              <a:t>:-  </a:t>
            </a:r>
          </a:p>
          <a:p>
            <a:pPr marL="0" indent="0">
              <a:buNone/>
            </a:pPr>
            <a:r>
              <a:rPr lang="en-US" spc="-5" dirty="0">
                <a:latin typeface="+mj-lt"/>
                <a:cs typeface="Arial"/>
              </a:rPr>
              <a:t>- chemicals/substances made in  the neurons </a:t>
            </a:r>
            <a:r>
              <a:rPr lang="en-US" dirty="0">
                <a:latin typeface="+mj-lt"/>
                <a:cs typeface="Arial"/>
              </a:rPr>
              <a:t>that </a:t>
            </a:r>
            <a:r>
              <a:rPr lang="en-US" spc="-5" dirty="0">
                <a:latin typeface="+mj-lt"/>
                <a:cs typeface="Arial"/>
              </a:rPr>
              <a:t>are released   when an action potential comes  down </a:t>
            </a:r>
            <a:r>
              <a:rPr lang="en-US" dirty="0">
                <a:latin typeface="+mj-lt"/>
                <a:cs typeface="Arial"/>
              </a:rPr>
              <a:t>the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5" dirty="0">
                <a:latin typeface="+mj-lt"/>
                <a:cs typeface="Arial"/>
              </a:rPr>
              <a:t>neurons</a:t>
            </a:r>
          </a:p>
          <a:p>
            <a:endParaRPr lang="en-US" spc="-5" dirty="0">
              <a:latin typeface="+mj-lt"/>
              <a:cs typeface="Arial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D76AD-2A4E-47A6-BD60-C3F78494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92E833B-F48C-2862-6590-2BC680F6B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4" t="8686" r="5198" b="12968"/>
          <a:stretch/>
        </p:blipFill>
        <p:spPr>
          <a:xfrm>
            <a:off x="2564780" y="1924865"/>
            <a:ext cx="6938151" cy="479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8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29A8-26AA-4E28-9FAB-561ABE03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714"/>
          </a:xfrm>
        </p:spPr>
        <p:txBody>
          <a:bodyPr/>
          <a:lstStyle/>
          <a:p>
            <a:r>
              <a:rPr lang="en-US" spc="-5" dirty="0">
                <a:solidFill>
                  <a:srgbClr val="C00000"/>
                </a:solidFill>
                <a:latin typeface="Arial"/>
                <a:cs typeface="Arial"/>
              </a:rPr>
              <a:t>Neurotransmitters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30738E-4ECB-420B-9D88-D7A8CEBA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67" y="1200840"/>
            <a:ext cx="11435254" cy="4976123"/>
          </a:xfrm>
        </p:spPr>
        <p:txBody>
          <a:bodyPr>
            <a:normAutofit lnSpcReduction="10000"/>
          </a:bodyPr>
          <a:lstStyle/>
          <a:p>
            <a:pPr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autonomic nerve fibers can be divided into two based on the type of neurotransmitter released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208915" indent="-45720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08915" indent="-34290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-All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preganglionic and postganglionic  PSNS neurons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acetylcholine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CHOLINERGIC</a:t>
            </a:r>
          </a:p>
          <a:p>
            <a:pPr marL="354965" marR="208915" indent="-34290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sympathetic fibers, such as those involved in sweating, are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cholinergic</a:t>
            </a:r>
            <a:endParaRPr lang="en-US" sz="3200" b="1" spc="-5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08915" indent="-34290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endParaRPr lang="en-US" sz="2400" dirty="0">
              <a:solidFill>
                <a:srgbClr val="9C00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433070" indent="-3429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-postganglionic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sympathetic 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norepinephrine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neurons are termed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solidFill>
                  <a:srgbClr val="9C00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ADRENERGIC</a:t>
            </a:r>
          </a:p>
          <a:p>
            <a:pPr marL="354965" marR="433070" indent="-3429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79687"/>
              <a:buFont typeface="Wingdings" panose="05000000000000000000" pitchFamily="2" charset="2"/>
              <a:buChar char="§"/>
              <a:tabLst>
                <a:tab pos="29654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indent="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6562"/>
              <a:buNone/>
              <a:tabLst>
                <a:tab pos="304165" algn="l"/>
              </a:tabLst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marL="354965" marR="5080" indent="-342900">
              <a:lnSpc>
                <a:spcPct val="100000"/>
              </a:lnSpc>
              <a:spcBef>
                <a:spcPts val="105"/>
              </a:spcBef>
              <a:buClr>
                <a:schemeClr val="tx1"/>
              </a:buClr>
              <a:buSzPct val="76562"/>
              <a:buFont typeface="Wingdings" panose="05000000000000000000" pitchFamily="2" charset="2"/>
              <a:buChar char="§"/>
              <a:tabLst>
                <a:tab pos="3041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CHOLINERGIC:-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 secret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acetyl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choline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114300" indent="-342900">
              <a:lnSpc>
                <a:spcPct val="100000"/>
              </a:lnSpc>
              <a:spcBef>
                <a:spcPts val="5"/>
              </a:spcBef>
              <a:buClr>
                <a:schemeClr val="tx1"/>
              </a:buClr>
              <a:buSzPct val="76562"/>
              <a:buFont typeface="Wingdings" panose="05000000000000000000" pitchFamily="2" charset="2"/>
              <a:buChar char="§"/>
              <a:tabLst>
                <a:tab pos="3041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ADRENERGIC:- Neurons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 secret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sz="2400" b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adren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aline/ norepinephrine</a:t>
            </a:r>
          </a:p>
          <a:p>
            <a:pPr marL="354965" marR="114300" indent="-342900">
              <a:lnSpc>
                <a:spcPct val="100000"/>
              </a:lnSpc>
              <a:spcBef>
                <a:spcPts val="5"/>
              </a:spcBef>
              <a:buClr>
                <a:schemeClr val="tx1"/>
              </a:buClr>
              <a:buSzPct val="76562"/>
              <a:buFont typeface="Wingdings" panose="05000000000000000000" pitchFamily="2" charset="2"/>
              <a:buChar char="§"/>
              <a:tabLst>
                <a:tab pos="304165" algn="l"/>
              </a:tabLs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F64B-716B-42E1-9806-F296B8B6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1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0E3C-C3CF-469F-BE14-0A4773FD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920"/>
            <a:ext cx="10515600" cy="812034"/>
          </a:xfrm>
        </p:spPr>
        <p:txBody>
          <a:bodyPr>
            <a:normAutofit fontScale="90000"/>
          </a:bodyPr>
          <a:lstStyle/>
          <a:p>
            <a:r>
              <a:rPr lang="en-US" spc="-5" dirty="0"/>
              <a:t>Receptors of ANS and drugs acting on them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16F8-FB70-44BC-BA3B-8C915D1B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1103586"/>
            <a:ext cx="11298620" cy="5423338"/>
          </a:xfrm>
        </p:spPr>
        <p:txBody>
          <a:bodyPr>
            <a:normAutofit/>
          </a:bodyPr>
          <a:lstStyle/>
          <a:p>
            <a:pPr marL="514350" lvl="0" indent="-514350">
              <a:buAutoNum type="arabicPeriod"/>
            </a:pPr>
            <a:r>
              <a:rPr lang="en-US" sz="3200" b="1" spc="-5" dirty="0">
                <a:solidFill>
                  <a:schemeClr val="accent1"/>
                </a:solidFill>
                <a:latin typeface="+mj-lt"/>
                <a:cs typeface="Arial"/>
              </a:rPr>
              <a:t>Adrenergic receptors - </a:t>
            </a:r>
            <a:r>
              <a:rPr lang="en-US" sz="3200" spc="-5" dirty="0">
                <a:latin typeface="+mj-lt"/>
                <a:cs typeface="Arial"/>
              </a:rPr>
              <a:t>receive noradrenaline</a:t>
            </a:r>
          </a:p>
          <a:p>
            <a:pPr lvl="1"/>
            <a:r>
              <a:rPr lang="en-US" sz="3200" spc="-5" dirty="0">
                <a:latin typeface="+mj-lt"/>
                <a:cs typeface="Arial"/>
              </a:rPr>
              <a:t>Alpha/beta receptors….GPCR signaling</a:t>
            </a:r>
          </a:p>
          <a:p>
            <a:pPr lvl="1"/>
            <a:endParaRPr lang="en-US" sz="3200" spc="-5" dirty="0">
              <a:latin typeface="+mj-lt"/>
              <a:cs typeface="Arial"/>
            </a:endParaRPr>
          </a:p>
          <a:p>
            <a:pPr marL="0" lvl="0" indent="0">
              <a:buNone/>
            </a:pPr>
            <a:endParaRPr lang="en-US" sz="3200" dirty="0"/>
          </a:p>
          <a:p>
            <a:pPr marL="0" lv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Cholinergic Rec-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receptors which receive acetylcholine</a:t>
            </a:r>
          </a:p>
          <a:p>
            <a:pPr lvl="1"/>
            <a:endParaRPr lang="en-US" sz="2800" b="1" dirty="0"/>
          </a:p>
          <a:p>
            <a:pPr lvl="1"/>
            <a:r>
              <a:rPr lang="en-US" sz="2800" b="1" dirty="0"/>
              <a:t>Nicotinic Rec (</a:t>
            </a:r>
            <a:r>
              <a:rPr lang="en-US" sz="2800" dirty="0"/>
              <a:t>Ligand gated </a:t>
            </a:r>
            <a:r>
              <a:rPr lang="en-US" altLang="en-US" sz="2800" dirty="0"/>
              <a:t>ionic channel signaling) </a:t>
            </a:r>
            <a:endParaRPr lang="en-US" sz="2800" dirty="0"/>
          </a:p>
          <a:p>
            <a:pPr lvl="1"/>
            <a:r>
              <a:rPr lang="en-US" sz="2800" b="1" dirty="0"/>
              <a:t>Muscarinic Rec</a:t>
            </a:r>
            <a:r>
              <a:rPr lang="en-US" altLang="en-US" sz="2800" dirty="0"/>
              <a:t> (GPCR signaling)  </a:t>
            </a:r>
            <a:endParaRPr lang="en-US" sz="2800" dirty="0"/>
          </a:p>
          <a:p>
            <a:pPr marL="0" indent="0">
              <a:buNone/>
            </a:pPr>
            <a:r>
              <a:rPr lang="en-US" sz="3200" dirty="0"/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0BA17-455E-4FA5-87D8-21A78071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5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9FB3-F863-4A40-89AF-F3B0CA27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283779"/>
            <a:ext cx="10849303" cy="6190593"/>
          </a:xfrm>
        </p:spPr>
        <p:txBody>
          <a:bodyPr>
            <a:normAutofit fontScale="62500" lnSpcReduction="20000"/>
          </a:bodyPr>
          <a:lstStyle/>
          <a:p>
            <a:pPr marL="583565" indent="-571500">
              <a:lnSpc>
                <a:spcPct val="100000"/>
              </a:lnSpc>
              <a:spcBef>
                <a:spcPts val="95"/>
              </a:spcBef>
              <a:buClr>
                <a:srgbClr val="FF388B"/>
              </a:buClr>
              <a:buSzPct val="79545"/>
              <a:buFont typeface="Wingdings" panose="05000000000000000000" pitchFamily="2" charset="2"/>
              <a:buChar char="v"/>
              <a:tabLst>
                <a:tab pos="296545" algn="l"/>
              </a:tabLst>
            </a:pPr>
            <a:r>
              <a:rPr lang="en-US" sz="3800" b="1" spc="-5" dirty="0">
                <a:solidFill>
                  <a:schemeClr val="accent1"/>
                </a:solidFill>
                <a:latin typeface="+mj-lt"/>
                <a:cs typeface="Arial"/>
              </a:rPr>
              <a:t>Adrenergic receptors </a:t>
            </a:r>
            <a:r>
              <a:rPr lang="en-US" sz="2400" b="1" spc="-5" dirty="0">
                <a:latin typeface="+mj-lt"/>
                <a:cs typeface="Arial"/>
              </a:rPr>
              <a:t>- </a:t>
            </a:r>
            <a:r>
              <a:rPr lang="en-US" sz="3400" spc="-5" dirty="0">
                <a:latin typeface="+mj-lt"/>
                <a:cs typeface="Arial"/>
              </a:rPr>
              <a:t>receive norepinephrine</a:t>
            </a:r>
            <a:r>
              <a:rPr lang="en-US" sz="3400" spc="100" dirty="0">
                <a:latin typeface="+mj-lt"/>
                <a:cs typeface="Arial"/>
              </a:rPr>
              <a:t> </a:t>
            </a:r>
            <a:r>
              <a:rPr lang="en-US" sz="3400" spc="-5" dirty="0">
                <a:latin typeface="+mj-lt"/>
                <a:cs typeface="Arial"/>
              </a:rPr>
              <a:t>(NE)..</a:t>
            </a:r>
            <a:r>
              <a:rPr lang="en-US" sz="3400" b="1" i="1" spc="-5" dirty="0">
                <a:latin typeface="+mj-lt"/>
                <a:cs typeface="Arial"/>
              </a:rPr>
              <a:t>GPCR signaling</a:t>
            </a:r>
          </a:p>
          <a:p>
            <a:pPr marL="12065" indent="0">
              <a:lnSpc>
                <a:spcPct val="100000"/>
              </a:lnSpc>
              <a:spcBef>
                <a:spcPts val="95"/>
              </a:spcBef>
              <a:buClr>
                <a:srgbClr val="FF388B"/>
              </a:buClr>
              <a:buSzPct val="79545"/>
              <a:buNone/>
              <a:tabLst>
                <a:tab pos="296545" algn="l"/>
              </a:tabLst>
            </a:pPr>
            <a:endParaRPr lang="en-US" sz="2400" dirty="0">
              <a:latin typeface="+mj-lt"/>
              <a:cs typeface="Arial"/>
            </a:endParaRPr>
          </a:p>
          <a:p>
            <a:pPr marL="753110" lvl="1" indent="-283845">
              <a:lnSpc>
                <a:spcPct val="100000"/>
              </a:lnSpc>
              <a:spcBef>
                <a:spcPts val="70"/>
              </a:spcBef>
              <a:buClr>
                <a:srgbClr val="FF388B"/>
              </a:buClr>
              <a:buSzPct val="79545"/>
              <a:buFont typeface="Wingdings"/>
              <a:buChar char=""/>
              <a:tabLst>
                <a:tab pos="296545" algn="l"/>
              </a:tabLst>
            </a:pPr>
            <a:r>
              <a:rPr lang="en-US" sz="2800" b="1" spc="-5" dirty="0">
                <a:latin typeface="+mj-lt"/>
                <a:cs typeface="Arial"/>
              </a:rPr>
              <a:t>A. Alpha 1 Rec</a:t>
            </a:r>
            <a:r>
              <a:rPr lang="en-US" sz="1800" b="1" spc="-5" dirty="0">
                <a:latin typeface="+mj-lt"/>
                <a:cs typeface="Arial"/>
              </a:rPr>
              <a:t>:</a:t>
            </a:r>
          </a:p>
          <a:p>
            <a:pPr marL="753110" lvl="1" indent="-283845">
              <a:lnSpc>
                <a:spcPct val="100000"/>
              </a:lnSpc>
              <a:spcBef>
                <a:spcPts val="70"/>
              </a:spcBef>
              <a:buClr>
                <a:srgbClr val="FF388B"/>
              </a:buClr>
              <a:buSzPct val="79545"/>
              <a:buFont typeface="Wingdings"/>
              <a:buChar char=""/>
              <a:tabLst>
                <a:tab pos="296545" algn="l"/>
              </a:tabLst>
            </a:pPr>
            <a:endParaRPr lang="en-US" sz="2800" b="1" dirty="0">
              <a:latin typeface="+mj-lt"/>
              <a:cs typeface="Arial"/>
            </a:endParaRPr>
          </a:p>
          <a:p>
            <a:pPr marL="1210310" marR="38735" lvl="2" indent="-283845">
              <a:lnSpc>
                <a:spcPct val="80000"/>
              </a:lnSpc>
              <a:spcBef>
                <a:spcPts val="605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lang="en-US" sz="2800" spc="-5" dirty="0">
                <a:latin typeface="+mj-lt"/>
                <a:cs typeface="Arial"/>
              </a:rPr>
              <a:t>Location: blood vessels and </a:t>
            </a:r>
            <a:r>
              <a:rPr lang="en-US" sz="2800" spc="-10" dirty="0">
                <a:latin typeface="+mj-lt"/>
                <a:cs typeface="Arial"/>
              </a:rPr>
              <a:t>kidney and sphincters(</a:t>
            </a:r>
            <a:r>
              <a:rPr lang="en-US" sz="2800" spc="-10" dirty="0" err="1">
                <a:latin typeface="+mj-lt"/>
                <a:cs typeface="Arial"/>
              </a:rPr>
              <a:t>e.g</a:t>
            </a:r>
            <a:r>
              <a:rPr lang="en-US" sz="2800" spc="-10" dirty="0">
                <a:latin typeface="+mj-lt"/>
                <a:cs typeface="Arial"/>
              </a:rPr>
              <a:t>  urethral sphincter)</a:t>
            </a:r>
          </a:p>
          <a:p>
            <a:pPr marL="1210310" marR="38735" lvl="2" indent="-283845">
              <a:lnSpc>
                <a:spcPct val="80000"/>
              </a:lnSpc>
              <a:spcBef>
                <a:spcPts val="605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endParaRPr lang="en-US" sz="2800" spc="-10" dirty="0">
              <a:latin typeface="+mj-lt"/>
              <a:cs typeface="Arial"/>
            </a:endParaRPr>
          </a:p>
          <a:p>
            <a:pPr marL="1210310" lvl="2" indent="-283845">
              <a:lnSpc>
                <a:spcPct val="100000"/>
              </a:lnSpc>
              <a:spcBef>
                <a:spcPts val="75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lang="en-US" sz="2800" spc="-5" dirty="0">
                <a:latin typeface="+mj-lt"/>
                <a:cs typeface="Arial"/>
              </a:rPr>
              <a:t>Examples of</a:t>
            </a:r>
            <a:r>
              <a:rPr lang="en-US" sz="2800" spc="10" dirty="0">
                <a:latin typeface="+mj-lt"/>
                <a:cs typeface="Arial"/>
              </a:rPr>
              <a:t> </a:t>
            </a:r>
            <a:r>
              <a:rPr lang="en-US" sz="2800" spc="-5" dirty="0">
                <a:latin typeface="+mj-lt"/>
                <a:cs typeface="Arial"/>
              </a:rPr>
              <a:t>action:</a:t>
            </a:r>
            <a:endParaRPr lang="en-US" sz="2800" dirty="0">
              <a:latin typeface="+mj-lt"/>
              <a:cs typeface="Arial"/>
            </a:endParaRPr>
          </a:p>
          <a:p>
            <a:pPr marL="1667510" lvl="3" indent="-283845">
              <a:lnSpc>
                <a:spcPct val="100000"/>
              </a:lnSpc>
              <a:spcBef>
                <a:spcPts val="70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lang="en-US" sz="2800" spc="-5" dirty="0">
                <a:latin typeface="+mj-lt"/>
                <a:cs typeface="Arial"/>
              </a:rPr>
              <a:t>Constriction of blood</a:t>
            </a:r>
            <a:r>
              <a:rPr lang="en-US" sz="2800" dirty="0">
                <a:latin typeface="+mj-lt"/>
                <a:cs typeface="Arial"/>
              </a:rPr>
              <a:t> </a:t>
            </a:r>
            <a:r>
              <a:rPr lang="en-US" sz="2800" spc="-5" dirty="0">
                <a:latin typeface="+mj-lt"/>
                <a:cs typeface="Arial"/>
              </a:rPr>
              <a:t>vessels…vasoconstriction</a:t>
            </a:r>
            <a:endParaRPr lang="en-US" sz="2800" dirty="0">
              <a:latin typeface="+mj-lt"/>
              <a:cs typeface="Arial"/>
            </a:endParaRPr>
          </a:p>
          <a:p>
            <a:pPr marL="1667510" lvl="3" indent="-283845">
              <a:lnSpc>
                <a:spcPct val="100000"/>
              </a:lnSpc>
              <a:spcBef>
                <a:spcPts val="70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lang="en-US" sz="2800" spc="-5" dirty="0">
                <a:latin typeface="+mj-lt"/>
                <a:cs typeface="Arial"/>
              </a:rPr>
              <a:t>Constricts sphincters</a:t>
            </a:r>
            <a:endParaRPr lang="en-US" sz="2800" dirty="0">
              <a:latin typeface="+mj-lt"/>
              <a:cs typeface="Arial"/>
            </a:endParaRPr>
          </a:p>
          <a:p>
            <a:pPr marL="1667510" lvl="3" indent="-283845">
              <a:lnSpc>
                <a:spcPts val="2375"/>
              </a:lnSpc>
              <a:spcBef>
                <a:spcPts val="75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lang="en-US" sz="2800" dirty="0">
                <a:latin typeface="+mj-lt"/>
                <a:cs typeface="Arial"/>
              </a:rPr>
              <a:t>Constriction </a:t>
            </a:r>
            <a:r>
              <a:rPr lang="en-US" sz="2800" spc="-5" dirty="0">
                <a:latin typeface="+mj-lt"/>
                <a:cs typeface="Arial"/>
              </a:rPr>
              <a:t>of radial muscle </a:t>
            </a:r>
            <a:r>
              <a:rPr lang="en-US" sz="2800" dirty="0">
                <a:latin typeface="+mj-lt"/>
                <a:cs typeface="Arial"/>
              </a:rPr>
              <a:t>of </a:t>
            </a:r>
            <a:r>
              <a:rPr lang="en-US" sz="2800" spc="-5" dirty="0">
                <a:latin typeface="+mj-lt"/>
                <a:cs typeface="Arial"/>
              </a:rPr>
              <a:t>the </a:t>
            </a:r>
            <a:r>
              <a:rPr lang="en-US" sz="2800" dirty="0">
                <a:latin typeface="+mj-lt"/>
                <a:cs typeface="Arial"/>
              </a:rPr>
              <a:t>iris, which</a:t>
            </a:r>
            <a:r>
              <a:rPr lang="en-US" sz="2800" spc="40" dirty="0">
                <a:latin typeface="+mj-lt"/>
                <a:cs typeface="Arial"/>
              </a:rPr>
              <a:t> </a:t>
            </a:r>
            <a:r>
              <a:rPr lang="en-US" sz="2800" spc="-5" dirty="0">
                <a:latin typeface="+mj-lt"/>
                <a:cs typeface="Arial"/>
              </a:rPr>
              <a:t>causes</a:t>
            </a:r>
            <a:r>
              <a:rPr lang="en-US" sz="2800" dirty="0">
                <a:latin typeface="+mj-lt"/>
                <a:cs typeface="Arial"/>
              </a:rPr>
              <a:t> </a:t>
            </a:r>
            <a:r>
              <a:rPr lang="en-US" sz="2800" spc="-5" dirty="0">
                <a:latin typeface="+mj-lt"/>
                <a:cs typeface="Arial"/>
              </a:rPr>
              <a:t>dilation of the pupil of the</a:t>
            </a:r>
            <a:r>
              <a:rPr lang="en-US" sz="2800" spc="30" dirty="0">
                <a:latin typeface="+mj-lt"/>
                <a:cs typeface="Arial"/>
              </a:rPr>
              <a:t> </a:t>
            </a:r>
            <a:r>
              <a:rPr lang="en-US" sz="2800" spc="-5" dirty="0">
                <a:latin typeface="+mj-lt"/>
                <a:cs typeface="Arial"/>
              </a:rPr>
              <a:t>eye (</a:t>
            </a:r>
            <a:r>
              <a:rPr lang="en-US" sz="2800" i="1" u="sng" spc="-5" dirty="0">
                <a:latin typeface="+mj-lt"/>
                <a:cs typeface="Arial"/>
              </a:rPr>
              <a:t>Mydriasis</a:t>
            </a:r>
            <a:r>
              <a:rPr lang="en-US" sz="2800" spc="-5" dirty="0">
                <a:latin typeface="+mj-lt"/>
                <a:cs typeface="Arial"/>
              </a:rPr>
              <a:t>)</a:t>
            </a:r>
          </a:p>
          <a:p>
            <a:pPr marL="1667510" lvl="3" indent="-283845">
              <a:lnSpc>
                <a:spcPts val="2375"/>
              </a:lnSpc>
              <a:spcBef>
                <a:spcPts val="75"/>
              </a:spcBef>
              <a:buClr>
                <a:srgbClr val="FF388B"/>
              </a:buClr>
              <a:buSzPct val="79545"/>
              <a:buFont typeface="Wingdings"/>
              <a:buChar char=""/>
              <a:tabLst>
                <a:tab pos="295910" algn="l"/>
                <a:tab pos="296545" algn="l"/>
              </a:tabLst>
            </a:pPr>
            <a:endParaRPr lang="en-US" sz="2400" spc="-5" dirty="0">
              <a:latin typeface="+mj-lt"/>
              <a:cs typeface="Arial"/>
            </a:endParaRPr>
          </a:p>
          <a:p>
            <a:pPr marL="568325" indent="0">
              <a:lnSpc>
                <a:spcPct val="100000"/>
              </a:lnSpc>
              <a:spcBef>
                <a:spcPts val="340"/>
              </a:spcBef>
              <a:buClr>
                <a:srgbClr val="FF388B"/>
              </a:buClr>
              <a:buSzPct val="80000"/>
              <a:buFont typeface="Wingdings"/>
              <a:buChar char=""/>
              <a:tabLst>
                <a:tab pos="514350" algn="l"/>
              </a:tabLst>
            </a:pPr>
            <a:r>
              <a:rPr lang="en-US" b="1" dirty="0"/>
              <a:t>B. Alpha</a:t>
            </a:r>
            <a:r>
              <a:rPr lang="en-US" b="1" spc="-35" dirty="0"/>
              <a:t> </a:t>
            </a:r>
            <a:r>
              <a:rPr lang="en-US" b="1" spc="-5" dirty="0"/>
              <a:t>2 Rec; </a:t>
            </a:r>
          </a:p>
          <a:p>
            <a:pPr marL="1424305" marR="5080" indent="-283845">
              <a:lnSpc>
                <a:spcPts val="3240"/>
              </a:lnSpc>
              <a:spcBef>
                <a:spcPts val="650"/>
              </a:spcBef>
              <a:buClr>
                <a:srgbClr val="FF388B"/>
              </a:buClr>
              <a:buSzPct val="80000"/>
              <a:buFont typeface="Wingdings"/>
              <a:buChar char=""/>
              <a:tabLst>
                <a:tab pos="1424940" algn="l"/>
                <a:tab pos="1425575" algn="l"/>
              </a:tabLst>
            </a:pPr>
            <a:r>
              <a:rPr lang="en-US" spc="-5" dirty="0"/>
              <a:t>Location: CNS and periphery</a:t>
            </a:r>
          </a:p>
          <a:p>
            <a:pPr marL="1424305" marR="1442720" indent="-283845">
              <a:lnSpc>
                <a:spcPct val="170000"/>
              </a:lnSpc>
              <a:spcBef>
                <a:spcPts val="645"/>
              </a:spcBef>
              <a:buClr>
                <a:srgbClr val="FF388B"/>
              </a:buClr>
              <a:buSzPct val="80000"/>
              <a:buFont typeface="Wingdings"/>
              <a:buChar char=""/>
              <a:tabLst>
                <a:tab pos="1424940" algn="l"/>
                <a:tab pos="1425575" algn="l"/>
              </a:tabLst>
            </a:pPr>
            <a:r>
              <a:rPr lang="en-US" dirty="0"/>
              <a:t>They </a:t>
            </a:r>
            <a:r>
              <a:rPr lang="en-US" spc="-5" dirty="0"/>
              <a:t>produce</a:t>
            </a:r>
            <a:r>
              <a:rPr lang="en-US" spc="-35" dirty="0"/>
              <a:t> </a:t>
            </a:r>
            <a:r>
              <a:rPr lang="en-US" spc="-5" dirty="0"/>
              <a:t>hyperpolarization  therefore </a:t>
            </a:r>
            <a:r>
              <a:rPr lang="en-US" dirty="0"/>
              <a:t>they </a:t>
            </a:r>
            <a:r>
              <a:rPr lang="en-US" spc="-5" dirty="0"/>
              <a:t>are inhibitory(inhibit SNS by decreasing SNS outflow, decreasing NE and Ach release)</a:t>
            </a:r>
          </a:p>
          <a:p>
            <a:pPr marL="1424305" indent="-283845">
              <a:lnSpc>
                <a:spcPct val="170000"/>
              </a:lnSpc>
              <a:spcBef>
                <a:spcPts val="195"/>
              </a:spcBef>
              <a:buClr>
                <a:srgbClr val="FF388B"/>
              </a:buClr>
              <a:buSzPct val="80000"/>
              <a:buFont typeface="Wingdings"/>
              <a:buChar char=""/>
              <a:tabLst>
                <a:tab pos="1424940" algn="l"/>
                <a:tab pos="1425575" algn="l"/>
              </a:tabLst>
            </a:pPr>
            <a:r>
              <a:rPr lang="en-US" spc="-5" dirty="0"/>
              <a:t>Examples </a:t>
            </a:r>
            <a:r>
              <a:rPr lang="en-US" dirty="0"/>
              <a:t>of</a:t>
            </a:r>
            <a:r>
              <a:rPr lang="en-US" spc="-15" dirty="0"/>
              <a:t> </a:t>
            </a:r>
            <a:r>
              <a:rPr lang="en-US" spc="-5" dirty="0"/>
              <a:t>function:</a:t>
            </a:r>
          </a:p>
          <a:p>
            <a:pPr marL="1881505" marR="241300" lvl="1" indent="-283845">
              <a:lnSpc>
                <a:spcPct val="170000"/>
              </a:lnSpc>
              <a:spcBef>
                <a:spcPts val="650"/>
              </a:spcBef>
              <a:buClr>
                <a:srgbClr val="FF388B"/>
              </a:buClr>
              <a:buSzPct val="80000"/>
              <a:buFont typeface="Wingdings"/>
              <a:buChar char=""/>
              <a:tabLst>
                <a:tab pos="1424940" algn="l"/>
                <a:tab pos="1425575" algn="l"/>
              </a:tabLst>
            </a:pPr>
            <a:r>
              <a:rPr lang="en-US" sz="2800" spc="-5" dirty="0"/>
              <a:t>Inhibits </a:t>
            </a:r>
            <a:r>
              <a:rPr lang="en-US" sz="2800" dirty="0"/>
              <a:t>insulin </a:t>
            </a:r>
            <a:r>
              <a:rPr lang="en-US" sz="2800" spc="-5" dirty="0"/>
              <a:t>and enzyme</a:t>
            </a:r>
            <a:r>
              <a:rPr lang="en-US" sz="2800" spc="-55" dirty="0"/>
              <a:t> </a:t>
            </a:r>
            <a:r>
              <a:rPr lang="en-US" sz="2800" spc="-5" dirty="0"/>
              <a:t>secretion  from </a:t>
            </a:r>
            <a:r>
              <a:rPr lang="en-US" sz="2800" dirty="0"/>
              <a:t>the</a:t>
            </a:r>
            <a:r>
              <a:rPr lang="en-US" sz="2800" spc="-5" dirty="0"/>
              <a:t> pancreas</a:t>
            </a:r>
          </a:p>
          <a:p>
            <a:pPr marL="1881505" lvl="1" indent="-283845">
              <a:lnSpc>
                <a:spcPct val="170000"/>
              </a:lnSpc>
              <a:spcBef>
                <a:spcPts val="195"/>
              </a:spcBef>
              <a:buClr>
                <a:srgbClr val="FF388B"/>
              </a:buClr>
              <a:buSzPct val="80000"/>
              <a:buFont typeface="Wingdings"/>
              <a:buChar char=""/>
              <a:tabLst>
                <a:tab pos="1424940" algn="l"/>
                <a:tab pos="1425575" algn="l"/>
              </a:tabLst>
            </a:pPr>
            <a:r>
              <a:rPr lang="en-US" sz="2800" spc="-5" dirty="0">
                <a:latin typeface="+mj-lt"/>
                <a:cs typeface="Arial"/>
              </a:rPr>
              <a:t>Decrease BP</a:t>
            </a:r>
            <a:endParaRPr lang="en-US" sz="2800" dirty="0">
              <a:latin typeface="+mj-lt"/>
              <a:cs typeface="Arial"/>
            </a:endParaRPr>
          </a:p>
          <a:p>
            <a:endParaRPr lang="en-US" sz="24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920CD-7CA6-46B3-AC4D-7C2E7BF6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4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E6C7-E200-46A2-A316-4DF474FD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18" y="959069"/>
            <a:ext cx="10515600" cy="4939862"/>
          </a:xfrm>
        </p:spPr>
        <p:txBody>
          <a:bodyPr>
            <a:normAutofit lnSpcReduction="10000"/>
          </a:bodyPr>
          <a:lstStyle/>
          <a:p>
            <a:pPr marL="469265" indent="-457200">
              <a:lnSpc>
                <a:spcPct val="100000"/>
              </a:lnSpc>
              <a:spcBef>
                <a:spcPts val="370"/>
              </a:spcBef>
              <a:buClr>
                <a:srgbClr val="FF388B"/>
              </a:buClr>
              <a:buSzPct val="79629"/>
              <a:buFont typeface="Wingdings" panose="05000000000000000000" pitchFamily="2" charset="2"/>
              <a:buChar char="Ø"/>
              <a:tabLst>
                <a:tab pos="296545" algn="l"/>
              </a:tabLst>
            </a:pPr>
            <a:r>
              <a:rPr lang="en-US" b="1" dirty="0">
                <a:latin typeface="+mj-lt"/>
                <a:cs typeface="Arial"/>
              </a:rPr>
              <a:t>C. Beta</a:t>
            </a:r>
            <a:r>
              <a:rPr lang="en-US" b="1" spc="-5" dirty="0">
                <a:latin typeface="+mj-lt"/>
                <a:cs typeface="Arial"/>
              </a:rPr>
              <a:t> 1 Rec; </a:t>
            </a:r>
            <a:endParaRPr lang="en-US" b="1" dirty="0">
              <a:latin typeface="+mj-lt"/>
              <a:cs typeface="Arial"/>
            </a:endParaRPr>
          </a:p>
          <a:p>
            <a:pPr marL="926465" lvl="1" indent="-457200">
              <a:lnSpc>
                <a:spcPts val="3080"/>
              </a:lnSpc>
              <a:spcBef>
                <a:spcPts val="280"/>
              </a:spcBef>
              <a:buClr>
                <a:schemeClr val="tx1"/>
              </a:buClr>
              <a:buSzPct val="79629"/>
              <a:buFont typeface="Wingdings" panose="05000000000000000000" pitchFamily="2" charset="2"/>
              <a:buChar char="Ø"/>
              <a:tabLst>
                <a:tab pos="296545" algn="l"/>
              </a:tabLst>
            </a:pPr>
            <a:r>
              <a:rPr lang="en-US" sz="2600" dirty="0">
                <a:latin typeface="+mj-lt"/>
                <a:cs typeface="Arial"/>
              </a:rPr>
              <a:t>Location:</a:t>
            </a:r>
            <a:r>
              <a:rPr lang="en-US" sz="2600" spc="-30" dirty="0">
                <a:latin typeface="+mj-lt"/>
                <a:cs typeface="Arial"/>
              </a:rPr>
              <a:t> </a:t>
            </a:r>
            <a:r>
              <a:rPr lang="en-US" sz="2600" dirty="0">
                <a:latin typeface="+mj-lt"/>
                <a:cs typeface="Arial"/>
              </a:rPr>
              <a:t>heart, kidney</a:t>
            </a:r>
          </a:p>
          <a:p>
            <a:pPr marL="926465" lvl="1" indent="-457200">
              <a:lnSpc>
                <a:spcPct val="100000"/>
              </a:lnSpc>
              <a:spcBef>
                <a:spcPts val="229"/>
              </a:spcBef>
              <a:buClr>
                <a:schemeClr val="tx1"/>
              </a:buClr>
              <a:buSzPct val="79629"/>
              <a:buFont typeface="Wingdings" panose="05000000000000000000" pitchFamily="2" charset="2"/>
              <a:buChar char="Ø"/>
              <a:tabLst>
                <a:tab pos="296545" algn="l"/>
              </a:tabLst>
            </a:pPr>
            <a:r>
              <a:rPr lang="en-US" sz="2600" spc="-5" dirty="0">
                <a:latin typeface="+mj-lt"/>
                <a:cs typeface="Arial"/>
              </a:rPr>
              <a:t>They are</a:t>
            </a:r>
            <a:r>
              <a:rPr lang="en-US" sz="2600" spc="-25" dirty="0">
                <a:latin typeface="+mj-lt"/>
                <a:cs typeface="Arial"/>
              </a:rPr>
              <a:t> </a:t>
            </a:r>
            <a:r>
              <a:rPr lang="en-US" sz="2600" dirty="0">
                <a:latin typeface="+mj-lt"/>
                <a:cs typeface="Arial"/>
              </a:rPr>
              <a:t>excitatory</a:t>
            </a:r>
          </a:p>
          <a:p>
            <a:pPr marL="926465" marR="158115" lvl="1" indent="-457200">
              <a:spcBef>
                <a:spcPts val="600"/>
              </a:spcBef>
              <a:buClr>
                <a:schemeClr val="tx1"/>
              </a:buClr>
              <a:buSzPct val="79629"/>
              <a:buFont typeface="Wingdings" panose="05000000000000000000" pitchFamily="2" charset="2"/>
              <a:buChar char="Ø"/>
              <a:tabLst>
                <a:tab pos="296545" algn="l"/>
              </a:tabLst>
            </a:pPr>
            <a:r>
              <a:rPr lang="en-US" sz="2600" spc="-5" dirty="0">
                <a:latin typeface="+mj-lt"/>
                <a:cs typeface="Arial"/>
              </a:rPr>
              <a:t>Examples </a:t>
            </a:r>
            <a:r>
              <a:rPr lang="en-US" sz="2600" dirty="0">
                <a:latin typeface="+mj-lt"/>
                <a:cs typeface="Arial"/>
              </a:rPr>
              <a:t>of</a:t>
            </a:r>
            <a:r>
              <a:rPr lang="en-US" sz="2600" spc="-60" dirty="0">
                <a:latin typeface="+mj-lt"/>
                <a:cs typeface="Arial"/>
              </a:rPr>
              <a:t> </a:t>
            </a:r>
            <a:r>
              <a:rPr lang="en-US" sz="2600" dirty="0">
                <a:latin typeface="+mj-lt"/>
                <a:cs typeface="Arial"/>
              </a:rPr>
              <a:t>action:  increase </a:t>
            </a:r>
            <a:r>
              <a:rPr lang="en-US" sz="2600" spc="-5" dirty="0">
                <a:latin typeface="+mj-lt"/>
                <a:cs typeface="Arial"/>
              </a:rPr>
              <a:t>heart </a:t>
            </a:r>
            <a:r>
              <a:rPr lang="en-US" sz="2600" dirty="0">
                <a:latin typeface="+mj-lt"/>
                <a:cs typeface="Arial"/>
              </a:rPr>
              <a:t>rate  </a:t>
            </a:r>
            <a:r>
              <a:rPr lang="en-US" sz="2600" spc="-5" dirty="0">
                <a:latin typeface="+mj-lt"/>
                <a:cs typeface="Arial"/>
              </a:rPr>
              <a:t>and </a:t>
            </a:r>
            <a:r>
              <a:rPr lang="en-US" sz="2600" dirty="0">
                <a:latin typeface="+mj-lt"/>
                <a:cs typeface="Arial"/>
              </a:rPr>
              <a:t>strength of  contraction &amp; increase Secretion of</a:t>
            </a:r>
            <a:r>
              <a:rPr lang="en-US" sz="2600" spc="-85" dirty="0">
                <a:latin typeface="+mj-lt"/>
                <a:cs typeface="Arial"/>
              </a:rPr>
              <a:t> </a:t>
            </a:r>
            <a:r>
              <a:rPr lang="en-US" sz="2600" spc="-5" dirty="0">
                <a:latin typeface="+mj-lt"/>
                <a:cs typeface="Arial"/>
              </a:rPr>
              <a:t>renin  </a:t>
            </a:r>
            <a:r>
              <a:rPr lang="en-US" sz="2600" dirty="0">
                <a:latin typeface="+mj-lt"/>
                <a:cs typeface="Arial"/>
              </a:rPr>
              <a:t>from JG </a:t>
            </a:r>
            <a:r>
              <a:rPr lang="en-US" sz="2600" spc="-5" dirty="0">
                <a:latin typeface="+mj-lt"/>
                <a:cs typeface="Arial"/>
              </a:rPr>
              <a:t>cells </a:t>
            </a:r>
            <a:r>
              <a:rPr lang="en-US" sz="2600" dirty="0">
                <a:latin typeface="+mj-lt"/>
                <a:cs typeface="Arial"/>
              </a:rPr>
              <a:t>of  </a:t>
            </a:r>
            <a:r>
              <a:rPr lang="en-US" sz="2600" spc="-5" dirty="0">
                <a:latin typeface="+mj-lt"/>
                <a:cs typeface="Arial"/>
              </a:rPr>
              <a:t>kidney</a:t>
            </a:r>
          </a:p>
          <a:p>
            <a:pPr marL="753110" marR="158115" lvl="1" indent="-283845">
              <a:spcBef>
                <a:spcPts val="600"/>
              </a:spcBef>
              <a:buClr>
                <a:srgbClr val="FF388B"/>
              </a:buClr>
              <a:buSzPct val="79629"/>
              <a:buFont typeface="Wingdings"/>
              <a:buChar char=""/>
              <a:tabLst>
                <a:tab pos="296545" algn="l"/>
              </a:tabLst>
            </a:pPr>
            <a:endParaRPr lang="en-US" spc="-5" dirty="0">
              <a:latin typeface="+mj-lt"/>
              <a:cs typeface="Arial"/>
            </a:endParaRPr>
          </a:p>
          <a:p>
            <a:pPr marL="342900" marR="158115" lvl="1" indent="-342900">
              <a:spcBef>
                <a:spcPts val="600"/>
              </a:spcBef>
              <a:buClr>
                <a:srgbClr val="FF388B"/>
              </a:buClr>
              <a:buSzPct val="79629"/>
              <a:buFont typeface="Wingdings" panose="05000000000000000000" pitchFamily="2" charset="2"/>
              <a:buChar char="Ø"/>
              <a:tabLst>
                <a:tab pos="296545" algn="l"/>
              </a:tabLst>
            </a:pPr>
            <a:r>
              <a:rPr lang="en-US" b="1" spc="-5" dirty="0">
                <a:latin typeface="+mj-lt"/>
                <a:cs typeface="Arial"/>
              </a:rPr>
              <a:t>D. Beta 2 Rec;</a:t>
            </a:r>
            <a:endParaRPr lang="en-US" b="1" dirty="0">
              <a:latin typeface="+mj-lt"/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   </a:t>
            </a:r>
            <a:r>
              <a:rPr lang="en-US" sz="2600" dirty="0">
                <a:latin typeface="+mj-lt"/>
              </a:rPr>
              <a:t>Location: blood vessels &amp; bronchioles of the lungs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+mj-lt"/>
              </a:rPr>
              <a:t>   Are excitatory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+mj-lt"/>
              </a:rPr>
              <a:t>   </a:t>
            </a:r>
            <a:r>
              <a:rPr lang="en-US" sz="2600" dirty="0" err="1">
                <a:latin typeface="+mj-lt"/>
              </a:rPr>
              <a:t>E.g</a:t>
            </a:r>
            <a:r>
              <a:rPr lang="en-US" sz="2600" dirty="0">
                <a:latin typeface="+mj-lt"/>
              </a:rPr>
              <a:t> of its action- blood vessel dilation(</a:t>
            </a:r>
            <a:r>
              <a:rPr lang="en-US" sz="2600" dirty="0" err="1">
                <a:latin typeface="+mj-lt"/>
              </a:rPr>
              <a:t>vaso</a:t>
            </a:r>
            <a:r>
              <a:rPr lang="en-US" sz="2600" dirty="0">
                <a:latin typeface="+mj-lt"/>
              </a:rPr>
              <a:t>-dilation)</a:t>
            </a:r>
          </a:p>
          <a:p>
            <a:pPr marL="2743200" lvl="6" indent="0">
              <a:buNone/>
            </a:pPr>
            <a:r>
              <a:rPr lang="en-US" sz="2600" dirty="0">
                <a:latin typeface="+mj-lt"/>
              </a:rPr>
              <a:t>       - bronchodilation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615D4-20D7-4D83-BAC9-D157977B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9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92DC-8518-0634-4451-71EA8211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881BE9-AFB7-8308-441F-CA5F8A5FED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86"/>
          <a:stretch/>
        </p:blipFill>
        <p:spPr bwMode="auto">
          <a:xfrm>
            <a:off x="212617" y="546410"/>
            <a:ext cx="7559784" cy="603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5640A-9471-7E06-3A12-AC5D48D90BBC}"/>
              </a:ext>
            </a:extLst>
          </p:cNvPr>
          <p:cNvSpPr txBox="1"/>
          <p:nvPr/>
        </p:nvSpPr>
        <p:spPr>
          <a:xfrm>
            <a:off x="8854068" y="3429000"/>
            <a:ext cx="1650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α</a:t>
            </a:r>
            <a:r>
              <a:rPr lang="en-US" b="1" dirty="0"/>
              <a:t>1</a:t>
            </a:r>
            <a:r>
              <a:rPr lang="en-US" dirty="0"/>
              <a:t>…Gq</a:t>
            </a:r>
          </a:p>
          <a:p>
            <a:r>
              <a:rPr lang="el-GR" b="1" dirty="0"/>
              <a:t>α</a:t>
            </a:r>
            <a:r>
              <a:rPr lang="en-US" b="1" dirty="0"/>
              <a:t>2</a:t>
            </a:r>
            <a:r>
              <a:rPr lang="en-US" dirty="0"/>
              <a:t>…Gi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ß1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ß2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76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E290-4185-15A0-9F7E-A213E7EF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3B51F2-62C7-35FC-F0A9-F085626CB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3463" y="574035"/>
            <a:ext cx="5295375" cy="5212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85C830-EC58-59BD-8CFD-72A5E04D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62" y="892844"/>
            <a:ext cx="5163760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9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BC7BE6C0-FD13-4EA8-930B-71ED19EE3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92010"/>
          </a:xfrm>
        </p:spPr>
        <p:txBody>
          <a:bodyPr>
            <a:normAutofit/>
          </a:bodyPr>
          <a:lstStyle/>
          <a:p>
            <a:r>
              <a:rPr lang="en-US" sz="4000" dirty="0"/>
              <a:t>Adrenergic agonists</a:t>
            </a:r>
            <a:endParaRPr lang="en-US" altLang="en-US" sz="4000" b="1" dirty="0"/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08DB990-9DD4-416E-8639-8920ECFF35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072054"/>
            <a:ext cx="8229600" cy="548114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Albuterol					Amphetamine 		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Dobutamine*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Dopamine * 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Epinephrine *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Isoproterenol * 	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Norepinephrine*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Metaraminol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Metaproterenol 		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Methoxamine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Phenylephrine			* Catecholamines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Ritodrine				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Terbutaline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	Clonidine</a:t>
            </a:r>
            <a:endParaRPr lang="en-US" altLang="en-US" sz="2400" b="1" dirty="0"/>
          </a:p>
          <a:p>
            <a:pPr>
              <a:lnSpc>
                <a:spcPct val="80000"/>
              </a:lnSpc>
              <a:buNone/>
              <a:defRPr/>
            </a:pPr>
            <a:endParaRPr lang="en-US" altLang="en-US" sz="2400" b="1" dirty="0"/>
          </a:p>
        </p:txBody>
      </p:sp>
      <p:sp>
        <p:nvSpPr>
          <p:cNvPr id="73732" name="Rectangle 6">
            <a:extLst>
              <a:ext uri="{FF2B5EF4-FFF2-40B4-BE49-F238E27FC236}">
                <a16:creationId xmlns:a16="http://schemas.microsoft.com/office/drawing/2014/main" id="{D7D98EB8-F919-4C57-8E33-A2FBAE080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7898F7C-BE6A-441F-A9CA-EF8C6C86B166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37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50765D3-DD7C-4BDB-BF3D-7ED62EA30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5920" y="274638"/>
            <a:ext cx="8564880" cy="639762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</a:rPr>
              <a:t>α-adrenergic blocking agents/ α-blockers</a:t>
            </a:r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39766BBE-052D-4B9E-8D22-BB22FDB1B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914401"/>
            <a:ext cx="8564880" cy="5211763"/>
          </a:xfrm>
        </p:spPr>
        <p:txBody>
          <a:bodyPr>
            <a:normAutofit fontScale="92500" lnSpcReduction="10000"/>
          </a:bodyPr>
          <a:lstStyle/>
          <a:p>
            <a:pPr marL="381000" indent="-381000">
              <a:lnSpc>
                <a:spcPct val="80000"/>
              </a:lnSpc>
              <a:defRPr/>
            </a:pPr>
            <a:endParaRPr lang="en-US" altLang="en-US" sz="2400" dirty="0"/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400" dirty="0"/>
              <a:t>Decrease peripheral vascular resistance (dec BP)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400" dirty="0"/>
              <a:t>Reflex tachycardia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endParaRPr lang="en-US" altLang="en-US" sz="2400" b="1" dirty="0"/>
          </a:p>
          <a:p>
            <a:pPr marL="381000" indent="-381000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2400" b="1" dirty="0"/>
              <a:t>Phenoxybenzamine</a:t>
            </a:r>
          </a:p>
          <a:p>
            <a:pPr marL="381000" indent="-381000">
              <a:lnSpc>
                <a:spcPct val="80000"/>
              </a:lnSpc>
              <a:defRPr/>
            </a:pPr>
            <a:r>
              <a:rPr lang="en-US" altLang="en-US" sz="2400" dirty="0"/>
              <a:t>Nonselective, linking covalently to both α1 - postsynaptic &amp; α2- presynaptic receptor</a:t>
            </a:r>
          </a:p>
          <a:p>
            <a:pPr marL="381000" indent="-381000">
              <a:lnSpc>
                <a:spcPct val="80000"/>
              </a:lnSpc>
              <a:defRPr/>
            </a:pPr>
            <a:r>
              <a:rPr lang="en-US" altLang="en-US" sz="2400" dirty="0"/>
              <a:t>CVS – Prevents vasoconstriction, reflex tachycardia</a:t>
            </a:r>
          </a:p>
          <a:p>
            <a:pPr marL="381000" indent="-381000">
              <a:lnSpc>
                <a:spcPct val="80000"/>
              </a:lnSpc>
              <a:defRPr/>
            </a:pPr>
            <a:r>
              <a:rPr lang="en-US" altLang="en-US" sz="2400" dirty="0"/>
              <a:t>Therapeutic uses: 	pheochromocytoma 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r>
              <a:rPr lang="en-US" altLang="en-US" sz="2400" dirty="0"/>
              <a:t>					Raynaud’s  disease</a:t>
            </a:r>
          </a:p>
          <a:p>
            <a:pPr marL="381000" indent="-381000">
              <a:lnSpc>
                <a:spcPct val="80000"/>
              </a:lnSpc>
              <a:defRPr/>
            </a:pPr>
            <a:r>
              <a:rPr lang="en-US" altLang="en-US" sz="2400" dirty="0"/>
              <a:t>Adverse effect: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r>
              <a:rPr lang="en-US" altLang="en-US" sz="2400" dirty="0"/>
              <a:t>		-Postural hypotension 	- Nausea &amp; vomiting 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r>
              <a:rPr lang="en-US" altLang="en-US" sz="2400" dirty="0"/>
              <a:t>	      - Nasal stuffiness     	 	- Inhibit ejaculation                                  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r>
              <a:rPr lang="en-US" altLang="en-US" sz="2400" dirty="0"/>
              <a:t>           - Induce tachycardia	 </a:t>
            </a:r>
          </a:p>
        </p:txBody>
      </p:sp>
      <p:sp>
        <p:nvSpPr>
          <p:cNvPr id="83972" name="Rectangle 6">
            <a:extLst>
              <a:ext uri="{FF2B5EF4-FFF2-40B4-BE49-F238E27FC236}">
                <a16:creationId xmlns:a16="http://schemas.microsoft.com/office/drawing/2014/main" id="{2F1968CD-A617-4499-A84D-DE19486973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F020C38-349C-4596-B54A-559D2E64FCF6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223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>
            <a:extLst>
              <a:ext uri="{FF2B5EF4-FFF2-40B4-BE49-F238E27FC236}">
                <a16:creationId xmlns:a16="http://schemas.microsoft.com/office/drawing/2014/main" id="{5DEC2C83-2F09-4C74-A080-E9716080A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762000"/>
            <a:ext cx="8991600" cy="6096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AutoNum type="arabicPeriod" startAt="2"/>
              <a:defRPr/>
            </a:pPr>
            <a:r>
              <a:rPr lang="en-US" altLang="en-US" sz="2400" b="1" dirty="0"/>
              <a:t>phentolamine </a:t>
            </a:r>
            <a:endParaRPr lang="en-US" altLang="en-US" sz="2400" dirty="0"/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-Competitive blocker of α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&amp; α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–receptor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 Duration of action 4hrs 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-Used in diagnosis of  pheochromocytoma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-Trigger arrhythmias &amp; anginal pain, contraindicated in patients with decreased coronary perfusion.</a:t>
            </a:r>
          </a:p>
          <a:p>
            <a:pPr>
              <a:lnSpc>
                <a:spcPct val="80000"/>
              </a:lnSpc>
              <a:buNone/>
              <a:defRPr/>
            </a:pPr>
            <a:endParaRPr lang="en-US" altLang="en-US" sz="2400" b="1" dirty="0"/>
          </a:p>
          <a:p>
            <a:pPr>
              <a:lnSpc>
                <a:spcPct val="80000"/>
              </a:lnSpc>
              <a:buFontTx/>
              <a:buAutoNum type="arabicPeriod" startAt="3"/>
              <a:defRPr/>
            </a:pPr>
            <a:r>
              <a:rPr lang="en-US" altLang="en-US" sz="2400" b="1" dirty="0"/>
              <a:t>Prazosin, terazosin &amp; doxazosin  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 Selective competitive blockers of α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-receptor, used in HTN.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 doxazosin is longest acting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 Alternative to surgery inpatients with symptomatic benign prostatic hyperplasia (BPH)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	-Adverse effect: Dizziness, nasal congestion, headache drowsiness &amp; orthostatic hypotension, retain Na+ &amp; fluid (prazosin used along with diuretic)</a:t>
            </a: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21528F54-5CF4-472C-A49D-105282622A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59ADAE-2555-41B8-B4D2-F11050CF5A05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942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8D52-A4A0-9F97-B381-49CFF0C0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75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</a:rPr>
              <a:t>ß-adrenergic blocking agents/ ß-blockers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FD378-297C-49FC-EB84-AB238986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78"/>
            <a:ext cx="10515600" cy="500608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The names of </a:t>
            </a:r>
            <a:r>
              <a:rPr lang="en-US" altLang="en-US" sz="2800" dirty="0">
                <a:sym typeface="Symbol" panose="05050102010706020507" pitchFamily="18" charset="2"/>
              </a:rPr>
              <a:t></a:t>
            </a:r>
            <a:r>
              <a:rPr lang="en-US" altLang="en-US" sz="2800" dirty="0"/>
              <a:t> blockers end with “-lol” 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Has negative inotropic &amp; chronotropic effect 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Bronchoconstriction </a:t>
            </a:r>
          </a:p>
          <a:p>
            <a:endParaRPr lang="en-US" alt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b="1" dirty="0"/>
              <a:t>Nonselective ß-antagonists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Propranolol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ADR- Bronchoconstriction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b="1" dirty="0"/>
              <a:t>Selective ß1-antagonist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Acebutolol, atenolol, metoprolol &amp; esmolol</a:t>
            </a:r>
            <a:r>
              <a:rPr lang="en-US" altLang="en-US" sz="2800" u="sng" dirty="0"/>
              <a:t> </a:t>
            </a:r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15062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499" y="1249516"/>
            <a:ext cx="10533993" cy="75212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571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25"/>
              </a:spcBef>
            </a:pPr>
            <a:r>
              <a:rPr sz="3200" spc="-170" dirty="0"/>
              <a:t>Acetylcholine</a:t>
            </a:r>
            <a:r>
              <a:rPr sz="3200" spc="-215" dirty="0"/>
              <a:t> </a:t>
            </a:r>
            <a:r>
              <a:rPr sz="3200" dirty="0"/>
              <a:t>Receptors</a:t>
            </a:r>
            <a:r>
              <a:rPr lang="en-US" sz="3200" spc="-280" dirty="0"/>
              <a:t>/Cholinergic recs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2305253"/>
            <a:ext cx="219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Acetylcholine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1340" y="2362653"/>
            <a:ext cx="7704455" cy="1047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" marR="5080" indent="-17780">
              <a:lnSpc>
                <a:spcPct val="119700"/>
              </a:lnSpc>
              <a:spcBef>
                <a:spcPts val="105"/>
              </a:spcBef>
            </a:pPr>
            <a:r>
              <a:rPr sz="2800" spc="-15" dirty="0">
                <a:latin typeface="Carlito"/>
                <a:cs typeface="Carlito"/>
              </a:rPr>
              <a:t>Postganglionic </a:t>
            </a:r>
            <a:r>
              <a:rPr sz="2800" spc="-20" dirty="0">
                <a:latin typeface="Carlito"/>
                <a:cs typeface="Carlito"/>
              </a:rPr>
              <a:t>neurotransmitter </a:t>
            </a:r>
            <a:r>
              <a:rPr sz="2800" spc="-5" dirty="0">
                <a:latin typeface="Carlito"/>
                <a:cs typeface="Carlito"/>
              </a:rPr>
              <a:t>in the PNS  </a:t>
            </a:r>
            <a:r>
              <a:rPr sz="2800" spc="-15" dirty="0">
                <a:latin typeface="Carlito"/>
                <a:cs typeface="Carlito"/>
              </a:rPr>
              <a:t>Preganglionic </a:t>
            </a:r>
            <a:r>
              <a:rPr sz="2800" spc="-20" dirty="0">
                <a:latin typeface="Carlito"/>
                <a:cs typeface="Carlito"/>
              </a:rPr>
              <a:t>neurostranmitter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both SNS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sz="2800" spc="204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PNS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349877"/>
            <a:ext cx="317627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800" spc="-10" dirty="0">
                <a:latin typeface="Carlito"/>
                <a:cs typeface="Carlito"/>
              </a:rPr>
              <a:t>Ach/</a:t>
            </a:r>
            <a:r>
              <a:rPr sz="2800" spc="-10" dirty="0">
                <a:latin typeface="Carlito"/>
                <a:cs typeface="Carlito"/>
              </a:rPr>
              <a:t>Cholinergic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receptor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1583" y="4265447"/>
            <a:ext cx="3515360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 indent="-10160">
              <a:lnSpc>
                <a:spcPct val="119600"/>
              </a:lnSpc>
              <a:spcBef>
                <a:spcPts val="100"/>
              </a:spcBef>
            </a:pPr>
            <a:r>
              <a:rPr sz="2800" spc="-10" dirty="0">
                <a:latin typeface="Carlito"/>
                <a:cs typeface="Carlito"/>
              </a:rPr>
              <a:t>Muscarinic </a:t>
            </a:r>
            <a:r>
              <a:rPr sz="2800" spc="-15" dirty="0">
                <a:latin typeface="Carlito"/>
                <a:cs typeface="Carlito"/>
              </a:rPr>
              <a:t>receptor </a:t>
            </a:r>
            <a:r>
              <a:rPr sz="2800" spc="-10" dirty="0">
                <a:latin typeface="Carlito"/>
                <a:cs typeface="Carlito"/>
              </a:rPr>
              <a:t>(M)  Nicotinic </a:t>
            </a:r>
            <a:r>
              <a:rPr sz="2800" spc="-15" dirty="0">
                <a:latin typeface="Carlito"/>
                <a:cs typeface="Carlito"/>
              </a:rPr>
              <a:t>receptor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(N)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81666" y="5114543"/>
            <a:ext cx="3124510" cy="1686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4CA1FE-098A-4B5C-BDB0-4A2FCAB2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9C9C7-B333-629A-6B36-AD6694AB21AC}"/>
              </a:ext>
            </a:extLst>
          </p:cNvPr>
          <p:cNvSpPr txBox="1"/>
          <p:nvPr/>
        </p:nvSpPr>
        <p:spPr>
          <a:xfrm>
            <a:off x="1516566" y="501805"/>
            <a:ext cx="7094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1"/>
                </a:solidFill>
              </a:rPr>
              <a:t>Cholinergic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FF64-1008-D1E1-F143-A1992123F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836"/>
            <a:ext cx="10515600" cy="539042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Cholinergic Rec-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receptors which receive acetylcholine</a:t>
            </a: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Nicotinic Rec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Ligand gated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ionic channel signaling)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skeletal muscle, dendrites of postganglionic neurons, adrenal medulla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action: 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skeletal muscle contraction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generation of action potential on postganglionic neuron, stimulation of adrenal gland and secretion of norepinephrine and epinephrine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Muscarinic Rec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(GPCR signaling)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effectors innervated by postganglionic parasympathetic neurons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glands, heart, lungs, GIT,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action-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gland secretion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dec. HR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bronchoconstriction, miosis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B0593-D01C-188D-C54B-F3D08D2E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8B06-61A5-4BB0-AD75-1C79417E1A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81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91BF-74B3-E242-36B9-054F614E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863"/>
            <a:ext cx="10515600" cy="559710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AutoNum type="alphaUcPeriod"/>
              <a:defRPr/>
            </a:pPr>
            <a:r>
              <a:rPr lang="en-US" altLang="en-US" sz="2400" b="1" dirty="0">
                <a:solidFill>
                  <a:srgbClr val="C00000"/>
                </a:solidFill>
                <a:latin typeface="+mj-lt"/>
              </a:rPr>
              <a:t>Direct acting cholinergic drugs/muscarinic agonists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+mj-lt"/>
              </a:rPr>
              <a:t>Acetylcholine- </a:t>
            </a:r>
            <a:r>
              <a:rPr lang="en-US" sz="2400" dirty="0">
                <a:latin typeface="+mj-lt"/>
              </a:rPr>
              <a:t>short duration of action </a:t>
            </a:r>
            <a:endParaRPr lang="en-US" altLang="en-US" sz="2400" dirty="0"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latin typeface="+mj-lt"/>
              </a:rPr>
              <a:t>Methacholine</a:t>
            </a:r>
            <a:r>
              <a:rPr lang="en-US" altLang="en-US" sz="2400" dirty="0">
                <a:latin typeface="+mj-lt"/>
              </a:rPr>
              <a:t>: used in Asthma diagnosis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endParaRPr lang="en-US" altLang="en-US" sz="2400" b="1" dirty="0"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latin typeface="+mj-lt"/>
              </a:rPr>
              <a:t>Carbachol, bethanechol</a:t>
            </a:r>
            <a:r>
              <a:rPr lang="en-US" altLang="en-US" sz="2400" dirty="0">
                <a:latin typeface="+mj-lt"/>
              </a:rPr>
              <a:t>: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</a:rPr>
              <a:t>extremely resistant to hydrolysis by acetylcholinesterase enzyme and have longer duration of action.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spc="-10" dirty="0">
                <a:latin typeface="+mj-lt"/>
                <a:cs typeface="Carlito"/>
              </a:rPr>
              <a:t>Use-Urinary </a:t>
            </a:r>
            <a:r>
              <a:rPr lang="en-US" sz="2400" spc="-20" dirty="0">
                <a:latin typeface="+mj-lt"/>
                <a:cs typeface="Carlito"/>
              </a:rPr>
              <a:t>retention treatment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endParaRPr lang="en-US" sz="2400" spc="-20" dirty="0">
              <a:latin typeface="+mj-lt"/>
              <a:cs typeface="Carlito"/>
            </a:endParaRPr>
          </a:p>
          <a:p>
            <a:pPr marL="228600" lvl="2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b="1" spc="-10" dirty="0">
                <a:latin typeface="+mj-lt"/>
                <a:cs typeface="Carlito"/>
              </a:rPr>
              <a:t>Pilocarpine</a:t>
            </a:r>
          </a:p>
          <a:p>
            <a:pPr marL="1143000" lvl="4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spc="-10" dirty="0">
                <a:latin typeface="+mj-lt"/>
                <a:cs typeface="Carlito"/>
              </a:rPr>
              <a:t>Use- for glaucoma treatment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5140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E747-6438-67AE-BFA3-2B53B3882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15" y="588723"/>
            <a:ext cx="7449014" cy="539258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pc="-135" dirty="0">
                <a:solidFill>
                  <a:srgbClr val="C00000"/>
                </a:solidFill>
                <a:latin typeface="Century" panose="02040604050505020304" pitchFamily="18" charset="0"/>
              </a:rPr>
              <a:t>Indirect-acting </a:t>
            </a:r>
            <a:r>
              <a:rPr lang="en-US" spc="-170" dirty="0">
                <a:solidFill>
                  <a:srgbClr val="C00000"/>
                </a:solidFill>
                <a:latin typeface="Century" panose="02040604050505020304" pitchFamily="18" charset="0"/>
              </a:rPr>
              <a:t>cholinergic</a:t>
            </a:r>
            <a:r>
              <a:rPr lang="en-US" spc="-355" dirty="0">
                <a:solidFill>
                  <a:srgbClr val="C00000"/>
                </a:solidFill>
                <a:latin typeface="Century" panose="02040604050505020304" pitchFamily="18" charset="0"/>
              </a:rPr>
              <a:t> </a:t>
            </a:r>
            <a:r>
              <a:rPr lang="en-US" spc="-229" dirty="0">
                <a:solidFill>
                  <a:srgbClr val="C00000"/>
                </a:solidFill>
                <a:latin typeface="Century" panose="02040604050505020304" pitchFamily="18" charset="0"/>
              </a:rPr>
              <a:t>drugs</a:t>
            </a:r>
          </a:p>
          <a:p>
            <a:r>
              <a:rPr lang="en-US" altLang="en-US" sz="2400" dirty="0">
                <a:latin typeface="Century" panose="02040604050505020304" pitchFamily="18" charset="0"/>
              </a:rPr>
              <a:t>Cholinesterase(</a:t>
            </a:r>
            <a:r>
              <a:rPr lang="en-US" altLang="en-US" sz="2400" dirty="0" err="1">
                <a:latin typeface="Century" panose="02040604050505020304" pitchFamily="18" charset="0"/>
              </a:rPr>
              <a:t>AChE</a:t>
            </a:r>
            <a:r>
              <a:rPr lang="en-US" altLang="en-US" sz="2400" dirty="0">
                <a:latin typeface="Century" panose="02040604050505020304" pitchFamily="18" charset="0"/>
              </a:rPr>
              <a:t>) terminates</a:t>
            </a:r>
          </a:p>
          <a:p>
            <a:pPr marL="0" indent="0">
              <a:buNone/>
            </a:pPr>
            <a:r>
              <a:rPr lang="en-US" altLang="en-US" sz="2400" dirty="0">
                <a:latin typeface="Century" panose="02040604050505020304" pitchFamily="18" charset="0"/>
              </a:rPr>
              <a:t>     action of Ach</a:t>
            </a:r>
          </a:p>
          <a:p>
            <a:r>
              <a:rPr lang="en-US" sz="2400" spc="-15" dirty="0">
                <a:latin typeface="Century" panose="02040604050505020304" pitchFamily="18" charset="0"/>
                <a:cs typeface="Carlito"/>
              </a:rPr>
              <a:t>Cholinesterase</a:t>
            </a:r>
            <a:r>
              <a:rPr lang="en-US" sz="2400" spc="15" dirty="0">
                <a:latin typeface="Century" panose="02040604050505020304" pitchFamily="18" charset="0"/>
                <a:cs typeface="Carlito"/>
              </a:rPr>
              <a:t> </a:t>
            </a:r>
            <a:r>
              <a:rPr lang="en-US" sz="2400" spc="-20" dirty="0">
                <a:latin typeface="Century" panose="02040604050505020304" pitchFamily="18" charset="0"/>
                <a:cs typeface="Carlito"/>
              </a:rPr>
              <a:t>inhibitors- </a:t>
            </a:r>
            <a:r>
              <a:rPr lang="en-US" sz="2400" spc="-20" dirty="0">
                <a:latin typeface="Century" panose="02040604050505020304" pitchFamily="18" charset="0"/>
                <a:cs typeface="Times New Roman" panose="02020603050405020304" pitchFamily="18" charset="0"/>
              </a:rPr>
              <a:t>↑ Ach</a:t>
            </a:r>
          </a:p>
          <a:p>
            <a:endParaRPr lang="en-US" sz="2400" spc="-20" dirty="0">
              <a:latin typeface="Century" panose="02040604050505020304" pitchFamily="18" charset="0"/>
              <a:cs typeface="Times New Roman" panose="02020603050405020304" pitchFamily="18" charset="0"/>
            </a:endParaRPr>
          </a:p>
          <a:p>
            <a:endParaRPr lang="en-US" sz="2400" spc="-20" dirty="0">
              <a:latin typeface="Century" panose="020406040505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pc="-2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A. </a:t>
            </a:r>
            <a:r>
              <a:rPr lang="en-US" spc="-165" dirty="0">
                <a:solidFill>
                  <a:srgbClr val="C00000"/>
                </a:solidFill>
                <a:latin typeface="Century" panose="02040604050505020304" pitchFamily="18" charset="0"/>
              </a:rPr>
              <a:t>reversible </a:t>
            </a:r>
            <a:r>
              <a:rPr lang="en-US" spc="-210" dirty="0">
                <a:solidFill>
                  <a:srgbClr val="C00000"/>
                </a:solidFill>
                <a:latin typeface="Century" panose="02040604050505020304" pitchFamily="18" charset="0"/>
              </a:rPr>
              <a:t>cholinesterase</a:t>
            </a:r>
            <a:r>
              <a:rPr lang="en-US" spc="-320" dirty="0">
                <a:solidFill>
                  <a:srgbClr val="C00000"/>
                </a:solidFill>
                <a:latin typeface="Century" panose="02040604050505020304" pitchFamily="18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Century" panose="02040604050505020304" pitchFamily="18" charset="0"/>
              </a:rPr>
              <a:t>inhibitors</a:t>
            </a:r>
            <a:endParaRPr lang="en-US" spc="-229" dirty="0">
              <a:solidFill>
                <a:srgbClr val="C00000"/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en-US" sz="2400" spc="-20" dirty="0">
                <a:latin typeface="Century" panose="02040604050505020304" pitchFamily="18" charset="0"/>
                <a:cs typeface="Times New Roman" panose="02020603050405020304" pitchFamily="18" charset="0"/>
              </a:rPr>
              <a:t>      -</a:t>
            </a:r>
            <a:r>
              <a:rPr lang="en-US" sz="2400" spc="-20" dirty="0" err="1">
                <a:latin typeface="Century" panose="020406040505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spc="-20" dirty="0">
                <a:latin typeface="Century" panose="02040604050505020304" pitchFamily="18" charset="0"/>
                <a:cs typeface="Times New Roman" panose="02020603050405020304" pitchFamily="18" charset="0"/>
              </a:rPr>
              <a:t> neostigmine, physostigmine</a:t>
            </a:r>
            <a:endParaRPr lang="en-US" sz="2400" spc="-20" dirty="0">
              <a:latin typeface="Century" panose="02040604050505020304" pitchFamily="18" charset="0"/>
              <a:cs typeface="Carlito"/>
            </a:endParaRPr>
          </a:p>
          <a:p>
            <a:endParaRPr lang="en-US" altLang="en-US" sz="2400" spc="-229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pc="-165" dirty="0">
                <a:solidFill>
                  <a:srgbClr val="C00000"/>
                </a:solidFill>
                <a:latin typeface="Century" panose="02040604050505020304" pitchFamily="18" charset="0"/>
              </a:rPr>
              <a:t>B.  Irreversible </a:t>
            </a:r>
            <a:r>
              <a:rPr lang="en-US" spc="-210" dirty="0">
                <a:solidFill>
                  <a:srgbClr val="C00000"/>
                </a:solidFill>
                <a:latin typeface="Century" panose="02040604050505020304" pitchFamily="18" charset="0"/>
              </a:rPr>
              <a:t>cholinesterase</a:t>
            </a:r>
            <a:r>
              <a:rPr lang="en-US" spc="-320" dirty="0">
                <a:solidFill>
                  <a:srgbClr val="C00000"/>
                </a:solidFill>
                <a:latin typeface="Century" panose="02040604050505020304" pitchFamily="18" charset="0"/>
              </a:rPr>
              <a:t> </a:t>
            </a:r>
            <a:r>
              <a:rPr lang="en-US" spc="-100" dirty="0">
                <a:solidFill>
                  <a:srgbClr val="C00000"/>
                </a:solidFill>
                <a:latin typeface="Century" panose="02040604050505020304" pitchFamily="18" charset="0"/>
              </a:rPr>
              <a:t>inhibitors</a:t>
            </a:r>
            <a:endParaRPr lang="en-US" spc="-229" dirty="0">
              <a:solidFill>
                <a:srgbClr val="C00000"/>
              </a:solidFill>
              <a:latin typeface="Century" panose="02040604050505020304" pitchFamily="18" charset="0"/>
            </a:endParaRPr>
          </a:p>
          <a:p>
            <a:pPr marL="354965" indent="-342900">
              <a:spcBef>
                <a:spcPts val="670"/>
              </a:spcBef>
              <a:buFont typeface="Wingdings" panose="05000000000000000000" pitchFamily="2" charset="2"/>
              <a:buChar char="Ø"/>
              <a:tabLst>
                <a:tab pos="241935" algn="l"/>
              </a:tabLst>
            </a:pPr>
            <a:r>
              <a:rPr lang="en-US" sz="2400" spc="-15" dirty="0">
                <a:latin typeface="Century" panose="02040604050505020304" pitchFamily="18" charset="0"/>
                <a:cs typeface="Carlito"/>
              </a:rPr>
              <a:t>Organophosphates</a:t>
            </a:r>
            <a:r>
              <a:rPr lang="en-US" sz="2400" spc="-25" dirty="0">
                <a:latin typeface="Century" panose="02040604050505020304" pitchFamily="18" charset="0"/>
                <a:cs typeface="Carlito"/>
              </a:rPr>
              <a:t> (Parathion</a:t>
            </a:r>
            <a:r>
              <a:rPr lang="en-US" sz="2400" dirty="0">
                <a:latin typeface="Century" panose="02040604050505020304" pitchFamily="18" charset="0"/>
                <a:cs typeface="Carlito"/>
              </a:rPr>
              <a:t>, </a:t>
            </a:r>
            <a:r>
              <a:rPr lang="en-US" sz="2400" spc="-10" dirty="0">
                <a:latin typeface="Century" panose="02040604050505020304" pitchFamily="18" charset="0"/>
                <a:cs typeface="Carlito"/>
              </a:rPr>
              <a:t>Malathion)</a:t>
            </a:r>
            <a:endParaRPr lang="en-US" sz="2400" dirty="0">
              <a:latin typeface="Century" panose="02040604050505020304" pitchFamily="18" charset="0"/>
              <a:cs typeface="Carlito"/>
            </a:endParaRPr>
          </a:p>
          <a:p>
            <a:endParaRPr lang="en-US" sz="2400" dirty="0">
              <a:latin typeface="Century" panose="02040604050505020304" pitchFamily="18" charset="0"/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CD5E35B-AC15-D8C4-87A4-09509FD10E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53" t="46897" r="12379" b="15708"/>
          <a:stretch/>
        </p:blipFill>
        <p:spPr>
          <a:xfrm>
            <a:off x="5887843" y="876692"/>
            <a:ext cx="6318395" cy="22902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71D66BF-E3EE-488D-C1AC-A816AE25E8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20" t="13904" r="32508" b="52086"/>
          <a:stretch/>
        </p:blipFill>
        <p:spPr>
          <a:xfrm>
            <a:off x="8260218" y="3429000"/>
            <a:ext cx="3258992" cy="180073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56538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1003</Words>
  <Application>Microsoft Office PowerPoint</Application>
  <PresentationFormat>Widescreen</PresentationFormat>
  <Paragraphs>178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Carlito</vt:lpstr>
      <vt:lpstr>Century</vt:lpstr>
      <vt:lpstr>Times New Roman</vt:lpstr>
      <vt:lpstr>Wingdings</vt:lpstr>
      <vt:lpstr>Office Theme</vt:lpstr>
      <vt:lpstr>Autonomic Nervous System(ANS)</vt:lpstr>
      <vt:lpstr>PowerPoint Presentation</vt:lpstr>
      <vt:lpstr>Major components of ANS</vt:lpstr>
      <vt:lpstr>PowerPoint Presentation</vt:lpstr>
      <vt:lpstr>Neurotransmitters</vt:lpstr>
      <vt:lpstr>Receptors of ANS and drugs acting on them</vt:lpstr>
      <vt:lpstr>PowerPoint Presentation</vt:lpstr>
      <vt:lpstr>PowerPoint Presentation</vt:lpstr>
      <vt:lpstr>PowerPoint Presentation</vt:lpstr>
      <vt:lpstr>PowerPoint Presentation</vt:lpstr>
      <vt:lpstr>Adrenergic agonists</vt:lpstr>
      <vt:lpstr>α-adrenergic blocking agents/ α-blockers</vt:lpstr>
      <vt:lpstr>PowerPoint Presentation</vt:lpstr>
      <vt:lpstr> ß-adrenergic blocking agents/ ß-blockers </vt:lpstr>
      <vt:lpstr>Acetylcholine Receptors/Cholinergic recs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ante</dc:creator>
  <cp:lastModifiedBy>ante</cp:lastModifiedBy>
  <cp:revision>49</cp:revision>
  <dcterms:created xsi:type="dcterms:W3CDTF">2023-11-07T07:02:56Z</dcterms:created>
  <dcterms:modified xsi:type="dcterms:W3CDTF">2023-11-08T20:31:11Z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2023-11-07T07:07:15Z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d930d41d-8e1b-42e9-bdea-467b87cd3e50</vt:lpwstr>
  </property>
  <property fmtid="{D5CDD505-2E9C-101B-9397-08002B2CF9AE}" pid="7" name="MSIP_Label_defa4170-0d19-0005-0004-bc88714345d2_ActionId">
    <vt:lpwstr>f3b842c2-5f4c-4896-baf6-831329c08e7f</vt:lpwstr>
  </property>
  <property fmtid="{D5CDD505-2E9C-101B-9397-08002B2CF9AE}" pid="8" name="MSIP_Label_defa4170-0d19-0005-0004-bc88714345d2_ContentBits">
    <vt:lpwstr>0</vt:lpwstr>
  </property>
</Properties>
</file>