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345" r:id="rId5"/>
    <p:sldId id="347" r:id="rId6"/>
    <p:sldId id="259" r:id="rId7"/>
    <p:sldId id="300" r:id="rId8"/>
    <p:sldId id="299" r:id="rId9"/>
    <p:sldId id="293" r:id="rId10"/>
    <p:sldId id="292" r:id="rId11"/>
    <p:sldId id="291" r:id="rId12"/>
    <p:sldId id="290" r:id="rId13"/>
    <p:sldId id="289" r:id="rId14"/>
    <p:sldId id="288" r:id="rId15"/>
    <p:sldId id="286" r:id="rId16"/>
    <p:sldId id="285" r:id="rId17"/>
    <p:sldId id="283" r:id="rId18"/>
    <p:sldId id="282" r:id="rId19"/>
    <p:sldId id="281" r:id="rId20"/>
    <p:sldId id="280" r:id="rId21"/>
    <p:sldId id="279" r:id="rId22"/>
    <p:sldId id="304" r:id="rId23"/>
    <p:sldId id="278" r:id="rId24"/>
    <p:sldId id="276" r:id="rId25"/>
    <p:sldId id="275" r:id="rId26"/>
    <p:sldId id="274" r:id="rId27"/>
    <p:sldId id="272" r:id="rId28"/>
    <p:sldId id="271" r:id="rId29"/>
    <p:sldId id="270" r:id="rId30"/>
    <p:sldId id="269" r:id="rId31"/>
    <p:sldId id="268" r:id="rId32"/>
    <p:sldId id="267" r:id="rId33"/>
    <p:sldId id="266" r:id="rId34"/>
    <p:sldId id="265" r:id="rId35"/>
    <p:sldId id="264" r:id="rId36"/>
    <p:sldId id="263" r:id="rId37"/>
    <p:sldId id="262" r:id="rId38"/>
    <p:sldId id="26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D2FDA-36AB-463D-B082-0FB305FACF04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7CE4C-085F-4BA4-943B-C453856BA1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4492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405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340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6930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9898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292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6146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6836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6103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77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757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3E27C-64EF-41A7-9752-A0375BD57C09}" type="datetimeFigureOut">
              <a:rPr lang="en-US" smtClean="0"/>
              <a:pPr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9206C-93F1-4B8B-A141-1B7108EB3E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5303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Central Nervous System Pathology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02628"/>
            <a:ext cx="9144000" cy="783771"/>
          </a:xfrm>
        </p:spPr>
        <p:txBody>
          <a:bodyPr/>
          <a:lstStyle/>
          <a:p>
            <a:r>
              <a:rPr lang="en-US" b="1" dirty="0" smtClean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68744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NEURAL TUBE DEFECTS </a:t>
            </a:r>
            <a:endParaRPr lang="en-US" b="1" dirty="0"/>
          </a:p>
          <a:p>
            <a:r>
              <a:rPr lang="en-US" sz="2400" dirty="0" smtClean="0"/>
              <a:t>Arise from incomplete closure of the neural tube </a:t>
            </a:r>
            <a:endParaRPr lang="en-US" sz="2400" dirty="0"/>
          </a:p>
          <a:p>
            <a:r>
              <a:rPr lang="en-US" sz="2400" dirty="0" smtClean="0"/>
              <a:t>Neural plate invaginates early in gestation to form the neural tube, which runs along the cranial-caudal axis of the embryo.</a:t>
            </a:r>
          </a:p>
          <a:p>
            <a:r>
              <a:rPr lang="en-US" sz="2400" dirty="0" smtClean="0"/>
              <a:t>The wall of the neural tube forms central nervous system tissue, the hollow lumen forms the ventricles and spinal cord canal, and the neural crest forms the peripheral nervous system. </a:t>
            </a:r>
            <a:endParaRPr lang="en-US" sz="2400" dirty="0"/>
          </a:p>
          <a:p>
            <a:r>
              <a:rPr lang="en-US" sz="2400" dirty="0" smtClean="0"/>
              <a:t>Associated with </a:t>
            </a:r>
            <a:r>
              <a:rPr lang="en-US" sz="2400" dirty="0" smtClean="0">
                <a:solidFill>
                  <a:srgbClr val="002060"/>
                </a:solidFill>
              </a:rPr>
              <a:t>low folate levels </a:t>
            </a:r>
            <a:r>
              <a:rPr lang="en-US" sz="2400" dirty="0" smtClean="0"/>
              <a:t>prior to conception. </a:t>
            </a:r>
            <a:endParaRPr lang="en-US" sz="2400" dirty="0"/>
          </a:p>
          <a:p>
            <a:r>
              <a:rPr lang="en-US" sz="2400" dirty="0" smtClean="0"/>
              <a:t>Detected during prenatal care by elevated alpha-fetoprotein (AFP) levels in the amniotic fluid and maternal blood.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67837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091"/>
            <a:ext cx="10515600" cy="5118872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 smtClean="0"/>
              <a:t>Anencephaly</a:t>
            </a:r>
            <a:r>
              <a:rPr lang="en-US" sz="2400" b="1" dirty="0" smtClean="0"/>
              <a:t> </a:t>
            </a:r>
            <a:endParaRPr lang="en-US" sz="2400" b="1" dirty="0" smtClean="0"/>
          </a:p>
          <a:p>
            <a:r>
              <a:rPr lang="en-US" sz="2400" dirty="0" smtClean="0"/>
              <a:t>M</a:t>
            </a:r>
            <a:r>
              <a:rPr lang="en-US" sz="2400" dirty="0" smtClean="0"/>
              <a:t>alformation </a:t>
            </a:r>
            <a:r>
              <a:rPr lang="en-US" sz="2400" dirty="0" smtClean="0"/>
              <a:t>of the anterior end of </a:t>
            </a:r>
            <a:r>
              <a:rPr lang="en-US" sz="2400" dirty="0" smtClean="0"/>
              <a:t>the neural tube. </a:t>
            </a:r>
          </a:p>
          <a:p>
            <a:r>
              <a:rPr lang="en-US" sz="2400" dirty="0" smtClean="0"/>
              <a:t>A</a:t>
            </a:r>
            <a:r>
              <a:rPr lang="en-US" sz="2400" dirty="0" smtClean="0"/>
              <a:t>bsence </a:t>
            </a:r>
            <a:r>
              <a:rPr lang="en-US" sz="2400" dirty="0" smtClean="0"/>
              <a:t>of the forebrain </a:t>
            </a:r>
            <a:r>
              <a:rPr lang="en-US" sz="2400" dirty="0" smtClean="0"/>
              <a:t>and the </a:t>
            </a:r>
            <a:r>
              <a:rPr lang="en-US" sz="2400" dirty="0" smtClean="0"/>
              <a:t>top of the skull.</a:t>
            </a:r>
            <a:r>
              <a:rPr lang="en-US" sz="2400" dirty="0" smtClean="0"/>
              <a:t>  </a:t>
            </a:r>
            <a:endParaRPr lang="en-US" sz="2400" dirty="0"/>
          </a:p>
          <a:p>
            <a:r>
              <a:rPr lang="en-US" sz="2400" dirty="0" smtClean="0"/>
              <a:t>Leads to a 'frog-like' appearance of the </a:t>
            </a:r>
            <a:r>
              <a:rPr lang="en-US" sz="2400" dirty="0" smtClean="0"/>
              <a:t>fetus. </a:t>
            </a:r>
            <a:endParaRPr lang="en-US" sz="2400" dirty="0"/>
          </a:p>
          <a:p>
            <a:r>
              <a:rPr lang="en-US" sz="2600" b="1" dirty="0" smtClean="0"/>
              <a:t> </a:t>
            </a:r>
            <a:r>
              <a:rPr lang="en-US" sz="2600" b="1" dirty="0" err="1" smtClean="0"/>
              <a:t>Spina</a:t>
            </a:r>
            <a:r>
              <a:rPr lang="en-US" sz="2600" b="1" dirty="0" smtClean="0"/>
              <a:t> bifida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I</a:t>
            </a:r>
            <a:r>
              <a:rPr lang="en-US" sz="2400" dirty="0" smtClean="0"/>
              <a:t>s </a:t>
            </a:r>
            <a:r>
              <a:rPr lang="en-US" sz="2400" dirty="0" smtClean="0"/>
              <a:t>failure of the posterior vertebral arch to close, resulting in a vertebral defect (disruption of the caudal end of the neural tube).</a:t>
            </a:r>
          </a:p>
          <a:p>
            <a:pPr marL="457200" indent="-457200">
              <a:buAutoNum type="arabicPeriod"/>
            </a:pPr>
            <a:r>
              <a:rPr lang="en-US" sz="2600" b="1" dirty="0" err="1" smtClean="0"/>
              <a:t>Spina</a:t>
            </a:r>
            <a:r>
              <a:rPr lang="en-US" sz="2600" b="1" dirty="0" smtClean="0"/>
              <a:t> </a:t>
            </a:r>
            <a:r>
              <a:rPr lang="en-US" sz="2600" b="1" dirty="0" smtClean="0"/>
              <a:t>bifida </a:t>
            </a:r>
            <a:r>
              <a:rPr lang="en-US" sz="2600" b="1" dirty="0" err="1" smtClean="0"/>
              <a:t>occulta</a:t>
            </a:r>
            <a:r>
              <a:rPr lang="en-US" sz="2600" b="1" dirty="0" smtClean="0"/>
              <a:t> </a:t>
            </a:r>
            <a:endParaRPr lang="en-US" sz="2600" b="1" dirty="0" smtClean="0"/>
          </a:p>
          <a:p>
            <a:pPr marL="457200" indent="-457200"/>
            <a:r>
              <a:rPr lang="en-US" sz="2400" dirty="0" smtClean="0"/>
              <a:t>P</a:t>
            </a:r>
            <a:r>
              <a:rPr lang="en-US" sz="2400" dirty="0" smtClean="0"/>
              <a:t>resents </a:t>
            </a:r>
            <a:r>
              <a:rPr lang="en-US" sz="2400" dirty="0" smtClean="0"/>
              <a:t>as a dimple or patch of hair overlying </a:t>
            </a:r>
            <a:r>
              <a:rPr lang="en-US" sz="2400" dirty="0" smtClean="0"/>
              <a:t>the </a:t>
            </a:r>
            <a:r>
              <a:rPr lang="en-US" sz="2400" dirty="0" smtClean="0"/>
              <a:t>vertebral defect. </a:t>
            </a:r>
          </a:p>
          <a:p>
            <a:pPr marL="0" indent="0">
              <a:buNone/>
            </a:pPr>
            <a:r>
              <a:rPr lang="en-US" sz="2600" b="1" dirty="0" smtClean="0"/>
              <a:t>2</a:t>
            </a:r>
            <a:r>
              <a:rPr lang="en-US" sz="2400" dirty="0" smtClean="0"/>
              <a:t>. </a:t>
            </a:r>
            <a:r>
              <a:rPr lang="en-US" sz="2600" b="1" dirty="0" smtClean="0"/>
              <a:t>Spina bifida </a:t>
            </a:r>
            <a:endParaRPr lang="en-US" sz="2600" b="1" dirty="0" smtClean="0"/>
          </a:p>
          <a:p>
            <a:pPr marL="0" indent="0"/>
            <a:r>
              <a:rPr lang="en-US" sz="2400" dirty="0" smtClean="0"/>
              <a:t>  Presents </a:t>
            </a:r>
            <a:r>
              <a:rPr lang="en-US" sz="2400" dirty="0" smtClean="0"/>
              <a:t>with cystic protrusion of the underlying </a:t>
            </a:r>
            <a:r>
              <a:rPr lang="en-US" sz="2400" dirty="0" smtClean="0"/>
              <a:t>tissue through </a:t>
            </a:r>
            <a:r>
              <a:rPr lang="en-US" sz="2400" dirty="0" smtClean="0"/>
              <a:t>the vertebral defect. </a:t>
            </a:r>
            <a:endParaRPr lang="en-US" sz="2400" dirty="0"/>
          </a:p>
          <a:p>
            <a:r>
              <a:rPr lang="en-US" sz="2400" b="1" dirty="0" smtClean="0"/>
              <a:t>Meningocele</a:t>
            </a:r>
            <a:r>
              <a:rPr lang="en-US" sz="2400" dirty="0" smtClean="0"/>
              <a:t> - protrusion of </a:t>
            </a:r>
            <a:r>
              <a:rPr lang="en-US" sz="2400" dirty="0" err="1" smtClean="0"/>
              <a:t>meninges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b="1" dirty="0" smtClean="0"/>
              <a:t>Meningomyelocel</a:t>
            </a:r>
            <a:r>
              <a:rPr lang="en-US" sz="2400" b="1" dirty="0" smtClean="0">
                <a:solidFill>
                  <a:srgbClr val="002060"/>
                </a:solidFill>
              </a:rPr>
              <a:t>e</a:t>
            </a:r>
            <a:r>
              <a:rPr lang="en-US" sz="2400" dirty="0" smtClean="0"/>
              <a:t> - protrusion of meninges and spinal </a:t>
            </a:r>
            <a:r>
              <a:rPr lang="en-US" sz="2400" dirty="0" smtClean="0"/>
              <a:t>cord.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47862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337" y="927463"/>
            <a:ext cx="5473337" cy="38927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057271" y="1841863"/>
            <a:ext cx="45719" cy="3579223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5" y="635726"/>
            <a:ext cx="5177245" cy="53993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0844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9166" y="533400"/>
            <a:ext cx="8817428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CEREBRAL AQUEDUCT STENOSIS </a:t>
            </a:r>
            <a:endParaRPr lang="en-US" b="1" dirty="0"/>
          </a:p>
          <a:p>
            <a:r>
              <a:rPr lang="en-US" dirty="0" smtClean="0"/>
              <a:t>Congenital stenosis of the channel that drains cerebrospinal fluid (CSF) from the 3rd ventricle into the 4th ventricle </a:t>
            </a:r>
            <a:endParaRPr lang="en-US" dirty="0"/>
          </a:p>
          <a:p>
            <a:r>
              <a:rPr lang="en-US" dirty="0" smtClean="0"/>
              <a:t>Leads to accumulation of CSF in the ventricular space; most common cause of hydrocephalus in newborns </a:t>
            </a:r>
            <a:endParaRPr lang="en-US" dirty="0"/>
          </a:p>
          <a:p>
            <a:r>
              <a:rPr lang="en-US" dirty="0" smtClean="0"/>
              <a:t>CSF is produced by the choroid plexus lining the ventricles. </a:t>
            </a:r>
            <a:endParaRPr lang="en-US" dirty="0"/>
          </a:p>
          <a:p>
            <a:r>
              <a:rPr lang="en-US" dirty="0" smtClean="0"/>
              <a:t>Flows from the lateral ventricles into the 3rd ventricle via the interventricular foramen of Monro </a:t>
            </a:r>
            <a:endParaRPr lang="en-US" dirty="0"/>
          </a:p>
          <a:p>
            <a:r>
              <a:rPr lang="en-US" dirty="0" smtClean="0"/>
              <a:t>Flows from the 3rd ventricle into the 4th ventricle via the cerebral aqueduct </a:t>
            </a:r>
            <a:endParaRPr lang="en-US" dirty="0"/>
          </a:p>
          <a:p>
            <a:r>
              <a:rPr lang="en-US" dirty="0" smtClean="0"/>
              <a:t>Flows from the 4th ventricle into the subarachnoid space via the foramina of Magendie and Luschka </a:t>
            </a:r>
            <a:endParaRPr lang="en-US" dirty="0"/>
          </a:p>
          <a:p>
            <a:r>
              <a:rPr lang="en-US" dirty="0" smtClean="0"/>
              <a:t>Presents with enlarging head circumference due to dilation of the ventricles (cranial suture lines are not fused)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5808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DANDY-WALKER MALFORMATION </a:t>
            </a:r>
            <a:endParaRPr lang="en-US" b="1" dirty="0"/>
          </a:p>
          <a:p>
            <a:r>
              <a:rPr lang="en-US" sz="2400" dirty="0" smtClean="0"/>
              <a:t>Congenital failure of the cerebellar vermis to </a:t>
            </a:r>
            <a:r>
              <a:rPr lang="en-US" sz="2400" dirty="0" smtClean="0"/>
              <a:t>develop. </a:t>
            </a:r>
            <a:endParaRPr lang="en-US" sz="2400" dirty="0"/>
          </a:p>
          <a:p>
            <a:r>
              <a:rPr lang="en-US" sz="2400" dirty="0" smtClean="0"/>
              <a:t>Presents as a massively dilated 4th ventricle (posterior fossa) with an absent cerebellum often accompanied by </a:t>
            </a:r>
            <a:r>
              <a:rPr lang="en-US" sz="2400" dirty="0" smtClean="0"/>
              <a:t>hydrocephalus.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93468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ARNOLD-CHIARI MALFORMATION (TYPE II) </a:t>
            </a:r>
            <a:endParaRPr lang="en-US" b="1" dirty="0"/>
          </a:p>
          <a:p>
            <a:r>
              <a:rPr lang="en-US" sz="2400" dirty="0" smtClean="0"/>
              <a:t>Congenital downward displacement of cerebellar vermis and tonsils through the foramen </a:t>
            </a:r>
            <a:r>
              <a:rPr lang="en-US" sz="2400" dirty="0" smtClean="0"/>
              <a:t>magnum. </a:t>
            </a:r>
            <a:endParaRPr lang="en-US" sz="2400" dirty="0"/>
          </a:p>
          <a:p>
            <a:r>
              <a:rPr lang="en-US" sz="2400" dirty="0" smtClean="0"/>
              <a:t>Obstruction of CSF flow commonly results in hydrocephalus. </a:t>
            </a:r>
            <a:endParaRPr lang="en-US" sz="2400" dirty="0"/>
          </a:p>
          <a:p>
            <a:r>
              <a:rPr lang="en-US" sz="2400" dirty="0" smtClean="0"/>
              <a:t>Often associated with </a:t>
            </a:r>
            <a:r>
              <a:rPr lang="en-US" sz="2400" dirty="0" err="1" smtClean="0"/>
              <a:t>meningomyelocele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64250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399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MENINGITIS</a:t>
            </a:r>
          </a:p>
          <a:p>
            <a:r>
              <a:rPr lang="en-US" sz="2400" dirty="0" smtClean="0"/>
              <a:t>Inflammation of the leptomeninges </a:t>
            </a:r>
            <a:endParaRPr lang="en-US" sz="2400" dirty="0"/>
          </a:p>
          <a:p>
            <a:r>
              <a:rPr lang="en-US" sz="2400" dirty="0" smtClean="0"/>
              <a:t>Meninges consist of three layers (dura, arachnoid, and pia) that lie between the brain and the skull. </a:t>
            </a:r>
            <a:endParaRPr lang="en-US" sz="2400" dirty="0"/>
          </a:p>
          <a:p>
            <a:r>
              <a:rPr lang="en-US" sz="2400" dirty="0" smtClean="0"/>
              <a:t>Pia and arachnoid together are termed </a:t>
            </a:r>
            <a:r>
              <a:rPr lang="en-US" sz="2400" dirty="0" err="1" smtClean="0"/>
              <a:t>leptomeninges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Presents with classic triad of headache, </a:t>
            </a:r>
            <a:r>
              <a:rPr lang="en-US" sz="2400" dirty="0" err="1" smtClean="0"/>
              <a:t>nuchal</a:t>
            </a:r>
            <a:r>
              <a:rPr lang="en-US" sz="2400" dirty="0" smtClean="0"/>
              <a:t> rigidity, and </a:t>
            </a:r>
            <a:r>
              <a:rPr lang="en-US" sz="2400" dirty="0" smtClean="0"/>
              <a:t>fever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photophobia</a:t>
            </a:r>
            <a:r>
              <a:rPr lang="en-US" sz="2400" dirty="0" smtClean="0"/>
              <a:t>, vomiting, and altered mental status may also be </a:t>
            </a:r>
            <a:r>
              <a:rPr lang="en-US" sz="2400" dirty="0" smtClean="0"/>
              <a:t>present.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58155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 commonly due to an infectious agent </a:t>
            </a:r>
            <a:endParaRPr lang="en-US" sz="2400" dirty="0"/>
          </a:p>
          <a:p>
            <a:r>
              <a:rPr lang="en-US" sz="2400" dirty="0" smtClean="0"/>
              <a:t>Group B streptococci, E coli, and Listeria monocytogenes (neonates) </a:t>
            </a:r>
            <a:endParaRPr lang="en-US" sz="2400" dirty="0"/>
          </a:p>
          <a:p>
            <a:r>
              <a:rPr lang="en-US" sz="2400" dirty="0" smtClean="0"/>
              <a:t>N meningitidis (children and teenagers), </a:t>
            </a:r>
            <a:endParaRPr lang="en-US" sz="2400" dirty="0" smtClean="0"/>
          </a:p>
          <a:p>
            <a:r>
              <a:rPr lang="en-US" sz="2400" dirty="0" smtClean="0"/>
              <a:t>Streptococcus </a:t>
            </a:r>
            <a:r>
              <a:rPr lang="en-US" sz="2400" dirty="0" smtClean="0"/>
              <a:t>pneumoniae (adults and elderly), and </a:t>
            </a:r>
            <a:endParaRPr lang="en-US" sz="2400" dirty="0" smtClean="0"/>
          </a:p>
          <a:p>
            <a:r>
              <a:rPr lang="en-US" sz="2400" dirty="0" smtClean="0"/>
              <a:t>H </a:t>
            </a:r>
            <a:r>
              <a:rPr lang="en-US" sz="2400" dirty="0" smtClean="0"/>
              <a:t>influenza (nonvaccinated infants) </a:t>
            </a:r>
            <a:endParaRPr lang="en-US" sz="2400" dirty="0"/>
          </a:p>
          <a:p>
            <a:r>
              <a:rPr lang="en-US" sz="2400" dirty="0" smtClean="0"/>
              <a:t> Coxsackievirus (children; fecal-oral transmission) </a:t>
            </a:r>
            <a:endParaRPr lang="en-US" sz="2400" dirty="0"/>
          </a:p>
          <a:p>
            <a:r>
              <a:rPr lang="en-US" sz="2400" dirty="0" smtClean="0"/>
              <a:t>Fungi (immunocompromised individuals)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660876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Diagnosis is made by lumbar puncture (sampling of CSF)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b="1" dirty="0" smtClean="0"/>
              <a:t>CSF findings:-</a:t>
            </a:r>
          </a:p>
          <a:p>
            <a:pPr marL="0" indent="0">
              <a:buNone/>
            </a:pPr>
            <a:r>
              <a:rPr lang="en-US" sz="2400" dirty="0" smtClean="0"/>
              <a:t>1. </a:t>
            </a:r>
            <a:r>
              <a:rPr lang="en-US" sz="2400" dirty="0" smtClean="0">
                <a:solidFill>
                  <a:srgbClr val="002060"/>
                </a:solidFill>
              </a:rPr>
              <a:t>Bacterial</a:t>
            </a:r>
            <a:r>
              <a:rPr lang="en-US" sz="2400" dirty="0" smtClean="0"/>
              <a:t> </a:t>
            </a:r>
            <a:r>
              <a:rPr lang="en-US" sz="2400" dirty="0" smtClean="0"/>
              <a:t>meningitis- ↑</a:t>
            </a:r>
            <a:r>
              <a:rPr lang="en-US" sz="2400" dirty="0" err="1" smtClean="0"/>
              <a:t>neutrophils</a:t>
            </a:r>
            <a:r>
              <a:rPr lang="en-US" sz="2400" dirty="0" smtClean="0"/>
              <a:t> </a:t>
            </a:r>
            <a:r>
              <a:rPr lang="en-US" sz="2400" dirty="0" smtClean="0"/>
              <a:t>with ↓CSF glucose; gram stain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and culture often identify the causative organism. </a:t>
            </a:r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dirty="0" smtClean="0">
                <a:solidFill>
                  <a:srgbClr val="002060"/>
                </a:solidFill>
              </a:rPr>
              <a:t>Viral </a:t>
            </a:r>
            <a:r>
              <a:rPr lang="en-US" sz="2400" dirty="0" smtClean="0"/>
              <a:t>meningitis </a:t>
            </a:r>
            <a:r>
              <a:rPr lang="en-US" sz="2400" dirty="0" smtClean="0"/>
              <a:t>-↑ </a:t>
            </a:r>
            <a:r>
              <a:rPr lang="en-US" sz="2400" dirty="0" smtClean="0"/>
              <a:t>lymphocytes with normal CSF glucose </a:t>
            </a:r>
          </a:p>
          <a:p>
            <a:pPr marL="0" indent="0">
              <a:buNone/>
            </a:pPr>
            <a:r>
              <a:rPr lang="en-US" sz="2400" dirty="0" smtClean="0"/>
              <a:t>3. </a:t>
            </a:r>
            <a:r>
              <a:rPr lang="en-US" sz="2400" dirty="0" smtClean="0">
                <a:solidFill>
                  <a:srgbClr val="002060"/>
                </a:solidFill>
              </a:rPr>
              <a:t>Fungal</a:t>
            </a:r>
            <a:r>
              <a:rPr lang="en-US" sz="2400" dirty="0" smtClean="0"/>
              <a:t> meningitis </a:t>
            </a:r>
            <a:r>
              <a:rPr lang="en-US" sz="2400" dirty="0" smtClean="0"/>
              <a:t>-↑ </a:t>
            </a:r>
            <a:r>
              <a:rPr lang="en-US" sz="2400" dirty="0" smtClean="0"/>
              <a:t>lymphocytes with ↓ CSF glucose </a:t>
            </a:r>
            <a:endParaRPr lang="en-US" sz="2400" dirty="0"/>
          </a:p>
        </p:txBody>
      </p:sp>
      <p:cxnSp>
        <p:nvCxnSpPr>
          <p:cNvPr id="5" name="Straight Arrow Connector 4"/>
          <p:cNvCxnSpPr/>
          <p:nvPr/>
        </p:nvCxnSpPr>
        <p:spPr>
          <a:xfrm rot="16200000" flipH="1">
            <a:off x="12847321" y="4042954"/>
            <a:ext cx="313512" cy="391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91665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Complications are usually seen with bacterial meningitis. </a:t>
            </a:r>
            <a:endParaRPr lang="en-US" sz="2400" dirty="0"/>
          </a:p>
          <a:p>
            <a:r>
              <a:rPr lang="en-US" sz="2400" dirty="0" smtClean="0"/>
              <a:t>Death - herniation secondary to cerebral edema </a:t>
            </a:r>
            <a:endParaRPr lang="en-US" sz="2400" dirty="0"/>
          </a:p>
          <a:p>
            <a:r>
              <a:rPr lang="en-US" sz="2400" dirty="0" smtClean="0"/>
              <a:t>Hydrocephalus, hearing loss, and seizures - sequelae related to fibrosis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95154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CEREBROVASCULAR DISEASE </a:t>
            </a:r>
            <a:endParaRPr lang="en-US" b="1" dirty="0"/>
          </a:p>
          <a:p>
            <a:r>
              <a:rPr lang="en-US" sz="2400" dirty="0" smtClean="0"/>
              <a:t>Neurologic deficit due to cerebrovascular compromise; major cause of morbidity and mortality </a:t>
            </a:r>
            <a:endParaRPr lang="en-US" sz="2400" dirty="0"/>
          </a:p>
          <a:p>
            <a:r>
              <a:rPr lang="en-US" sz="2400" dirty="0" smtClean="0"/>
              <a:t>Due to </a:t>
            </a:r>
            <a:r>
              <a:rPr lang="en-US" sz="2400" dirty="0" smtClean="0">
                <a:solidFill>
                  <a:srgbClr val="002060"/>
                </a:solidFill>
              </a:rPr>
              <a:t>ischemia</a:t>
            </a:r>
            <a:r>
              <a:rPr lang="en-US" sz="2400" dirty="0" smtClean="0"/>
              <a:t> (85% of cases) or </a:t>
            </a:r>
            <a:r>
              <a:rPr lang="en-US" sz="2400" dirty="0" smtClean="0">
                <a:solidFill>
                  <a:srgbClr val="002060"/>
                </a:solidFill>
              </a:rPr>
              <a:t>hemorrhage</a:t>
            </a:r>
            <a:r>
              <a:rPr lang="en-US" sz="2400" dirty="0" smtClean="0"/>
              <a:t> (15% of cases) </a:t>
            </a:r>
            <a:endParaRPr lang="en-US" sz="2400" dirty="0"/>
          </a:p>
          <a:p>
            <a:r>
              <a:rPr lang="en-US" sz="2400" dirty="0" smtClean="0"/>
              <a:t>Neurons are dependent on serum glucose as an essential energy source and are particularly susceptible to ischemia (undergo necrosis within 3-5 minutes).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16232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Major etiologies </a:t>
            </a:r>
          </a:p>
          <a:p>
            <a:pPr marL="0" indent="0">
              <a:buNone/>
            </a:pPr>
            <a:r>
              <a:rPr lang="en-US" sz="2400" dirty="0" smtClean="0"/>
              <a:t>1. Low perfusion (e.g., atherosclerosis) </a:t>
            </a:r>
          </a:p>
          <a:p>
            <a:pPr marL="0" indent="0">
              <a:buNone/>
            </a:pPr>
            <a:r>
              <a:rPr lang="en-US" sz="2400" dirty="0" smtClean="0"/>
              <a:t>2. Acute decrease in blood flow (e.g., cardiogenic shock) </a:t>
            </a:r>
          </a:p>
          <a:p>
            <a:pPr marL="0" indent="0">
              <a:buNone/>
            </a:pPr>
            <a:r>
              <a:rPr lang="en-US" sz="2400" dirty="0" smtClean="0"/>
              <a:t>3. Chronic hypoxia (e.g., anemia) </a:t>
            </a:r>
          </a:p>
          <a:p>
            <a:pPr marL="0" indent="0">
              <a:buNone/>
            </a:pPr>
            <a:r>
              <a:rPr lang="en-US" sz="2400" dirty="0" smtClean="0"/>
              <a:t>4. Repeated episodes of hypoglycemia (e.g., insulinoma)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Clinical features are based on duration and magnitude of the insult. </a:t>
            </a:r>
            <a:endParaRPr lang="en-US" sz="2400" dirty="0"/>
          </a:p>
          <a:p>
            <a:r>
              <a:rPr lang="en-US" sz="2400" b="1" dirty="0" smtClean="0"/>
              <a:t>Mild global ischemia </a:t>
            </a:r>
            <a:r>
              <a:rPr lang="en-US" sz="2400" dirty="0" smtClean="0"/>
              <a:t>results in transient confusion with prompt </a:t>
            </a:r>
            <a:r>
              <a:rPr lang="en-US" sz="2400" dirty="0" smtClean="0"/>
              <a:t>recovery</a:t>
            </a:r>
          </a:p>
          <a:p>
            <a:r>
              <a:rPr lang="en-US" sz="2400" b="1" dirty="0" smtClean="0"/>
              <a:t>Severe global ischemia </a:t>
            </a:r>
            <a:r>
              <a:rPr lang="en-US" sz="2400" dirty="0" smtClean="0"/>
              <a:t>results in diffuse necrosis; survival leads to a 'vegetative state.' 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311518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ISCHEMIC STROKE </a:t>
            </a:r>
            <a:endParaRPr lang="en-US" b="1" dirty="0"/>
          </a:p>
          <a:p>
            <a:r>
              <a:rPr lang="en-US" sz="2400" dirty="0" smtClean="0"/>
              <a:t>Regional ischemia to the brain that results in focal neurologic deficits lasting &gt; 24 hours </a:t>
            </a:r>
            <a:endParaRPr lang="en-US" sz="2400" dirty="0"/>
          </a:p>
          <a:p>
            <a:r>
              <a:rPr lang="en-US" sz="2400" dirty="0" smtClean="0"/>
              <a:t>If symptoms last &lt; 24 hours, </a:t>
            </a:r>
            <a:r>
              <a:rPr lang="en-US" sz="2400" dirty="0" smtClean="0"/>
              <a:t>a </a:t>
            </a:r>
            <a:r>
              <a:rPr lang="en-US" sz="2400" dirty="0" smtClean="0"/>
              <a:t>transient ischemic attack (TIA). </a:t>
            </a:r>
            <a:endParaRPr lang="en-US" sz="2400" dirty="0"/>
          </a:p>
          <a:p>
            <a:r>
              <a:rPr lang="en-US" sz="2400" dirty="0" smtClean="0"/>
              <a:t>Subtypes include thrombotic, embolic, and lacunar strokes. </a:t>
            </a:r>
          </a:p>
          <a:p>
            <a:pPr marL="457200" indent="-457200">
              <a:buAutoNum type="arabicPeriod"/>
            </a:pPr>
            <a:r>
              <a:rPr lang="en-US" sz="2400" b="1" dirty="0" smtClean="0">
                <a:solidFill>
                  <a:srgbClr val="002060"/>
                </a:solidFill>
              </a:rPr>
              <a:t>Thrombotic </a:t>
            </a:r>
            <a:r>
              <a:rPr lang="en-US" sz="2400" b="1" dirty="0" smtClean="0">
                <a:solidFill>
                  <a:srgbClr val="002060"/>
                </a:solidFill>
              </a:rPr>
              <a:t>stroke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 marL="457200" indent="-457200"/>
            <a:r>
              <a:rPr lang="en-US" sz="2400" dirty="0" smtClean="0"/>
              <a:t>I</a:t>
            </a:r>
            <a:r>
              <a:rPr lang="en-US" sz="2400" dirty="0" smtClean="0"/>
              <a:t>s </a:t>
            </a:r>
            <a:r>
              <a:rPr lang="en-US" sz="2400" dirty="0" smtClean="0"/>
              <a:t>due to rupture of an atherosclerotic plaque.</a:t>
            </a:r>
          </a:p>
          <a:p>
            <a:r>
              <a:rPr lang="en-US" sz="2400" dirty="0" smtClean="0"/>
              <a:t> Atherosclerosis usually develops at branch points (e.g., bifurcation of internal carotid and middle cerebral artery in the circle of Willis). </a:t>
            </a:r>
            <a:endParaRPr lang="en-US" sz="2400" dirty="0" smtClean="0"/>
          </a:p>
          <a:p>
            <a:r>
              <a:rPr lang="en-US" sz="2400" dirty="0" smtClean="0"/>
              <a:t>Results in a pale infarct at the periphery of the </a:t>
            </a:r>
            <a:r>
              <a:rPr lang="en-US" sz="2400" dirty="0" smtClean="0"/>
              <a:t>cortex.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83614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3589"/>
            <a:ext cx="10515600" cy="522337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2. </a:t>
            </a:r>
            <a:r>
              <a:rPr lang="en-US" sz="2400" b="1" dirty="0" smtClean="0">
                <a:solidFill>
                  <a:srgbClr val="002060"/>
                </a:solidFill>
              </a:rPr>
              <a:t>Embolic stroke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r>
              <a:rPr lang="en-US" sz="2400" dirty="0" smtClean="0"/>
              <a:t>I</a:t>
            </a:r>
            <a:r>
              <a:rPr lang="en-US" sz="2400" dirty="0" smtClean="0"/>
              <a:t>s </a:t>
            </a:r>
            <a:r>
              <a:rPr lang="en-US" sz="2400" dirty="0" smtClean="0"/>
              <a:t>due to </a:t>
            </a:r>
            <a:r>
              <a:rPr lang="en-US" sz="2400" b="1" dirty="0" err="1" smtClean="0"/>
              <a:t>thromboemboli</a:t>
            </a:r>
            <a:r>
              <a:rPr lang="en-US" sz="2400" b="1" dirty="0" smtClean="0"/>
              <a:t>.</a:t>
            </a:r>
            <a:endParaRPr lang="en-US" sz="2400" b="1" dirty="0" smtClean="0"/>
          </a:p>
          <a:p>
            <a:r>
              <a:rPr lang="en-US" sz="2400" dirty="0" smtClean="0"/>
              <a:t> </a:t>
            </a:r>
            <a:r>
              <a:rPr lang="en-US" sz="2400" dirty="0" smtClean="0"/>
              <a:t>Most common source of emboli is the left side of the heart (e.g., atrial fibrillation</a:t>
            </a:r>
            <a:r>
              <a:rPr lang="en-US" sz="2400" dirty="0" smtClean="0"/>
              <a:t>).Usually </a:t>
            </a:r>
            <a:r>
              <a:rPr lang="en-US" sz="2400" dirty="0" smtClean="0"/>
              <a:t>involves the middle cerebral </a:t>
            </a:r>
            <a:r>
              <a:rPr lang="en-US" sz="2400" dirty="0" smtClean="0"/>
              <a:t>artery.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Results in a hemorrhagic infarct at the periphery of the </a:t>
            </a:r>
            <a:r>
              <a:rPr lang="en-US" sz="2400" dirty="0" smtClean="0"/>
              <a:t>cortex.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3</a:t>
            </a:r>
            <a:r>
              <a:rPr lang="en-US" sz="2400" b="1" dirty="0" smtClean="0"/>
              <a:t>. </a:t>
            </a:r>
            <a:r>
              <a:rPr lang="en-US" sz="2400" b="1" dirty="0" smtClean="0">
                <a:solidFill>
                  <a:srgbClr val="002060"/>
                </a:solidFill>
              </a:rPr>
              <a:t>Lacunar stroke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 marL="0" indent="0"/>
            <a:r>
              <a:rPr lang="en-US" sz="2400" dirty="0" smtClean="0"/>
              <a:t>  O</a:t>
            </a:r>
            <a:r>
              <a:rPr lang="en-US" sz="2400" dirty="0" smtClean="0"/>
              <a:t>ccurs </a:t>
            </a:r>
            <a:r>
              <a:rPr lang="en-US" sz="2400" dirty="0" smtClean="0"/>
              <a:t>secondary to hyaline arteriolosclerosis, a </a:t>
            </a:r>
            <a:r>
              <a:rPr lang="en-US" sz="2400" dirty="0" smtClean="0"/>
              <a:t>complication </a:t>
            </a:r>
            <a:r>
              <a:rPr lang="en-US" sz="2400" dirty="0" smtClean="0"/>
              <a:t>of </a:t>
            </a:r>
            <a:r>
              <a:rPr lang="en-US" sz="2400" dirty="0" smtClean="0"/>
              <a:t>HTN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dirty="0" smtClean="0"/>
              <a:t>Most commonly involves lenticulostriate vessels, resulting in small cystic areas of infarction </a:t>
            </a:r>
            <a:endParaRPr lang="en-US" sz="2400" dirty="0"/>
          </a:p>
          <a:p>
            <a:r>
              <a:rPr lang="en-US" sz="2400" dirty="0" smtClean="0"/>
              <a:t>Involvement of the internal capsule leads to a pure motor stroke. </a:t>
            </a:r>
            <a:endParaRPr lang="en-US" sz="2400" dirty="0"/>
          </a:p>
          <a:p>
            <a:r>
              <a:rPr lang="en-US" sz="2400" dirty="0" smtClean="0"/>
              <a:t>Involvement of the thalamus leads to a pure sensory stroke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9772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INTRACEREBRAL HEMORRHAGE </a:t>
            </a:r>
            <a:endParaRPr lang="en-US" b="1" dirty="0"/>
          </a:p>
          <a:p>
            <a:r>
              <a:rPr lang="en-US" sz="2400" dirty="0" smtClean="0"/>
              <a:t>Bleeding into brain parenchyma </a:t>
            </a:r>
            <a:endParaRPr lang="en-US" sz="2400" dirty="0"/>
          </a:p>
          <a:p>
            <a:r>
              <a:rPr lang="en-US" sz="2400" dirty="0" smtClean="0"/>
              <a:t>Classically due to rupture of Charcot-Bouchard microaneurysms of the lenticulostriate vessels</a:t>
            </a:r>
          </a:p>
          <a:p>
            <a:r>
              <a:rPr lang="en-US" sz="2400" dirty="0" smtClean="0"/>
              <a:t> Complication of hypertension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Basal ganglia </a:t>
            </a:r>
            <a:r>
              <a:rPr lang="en-US" sz="2400" dirty="0" smtClean="0"/>
              <a:t>is the most common site</a:t>
            </a:r>
          </a:p>
          <a:p>
            <a:r>
              <a:rPr lang="en-US" sz="2400" dirty="0" smtClean="0"/>
              <a:t>Presents as severe headache, nausea, vomiting, and eventual coma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563106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SUBARACHNOID HEMORRHAGE </a:t>
            </a:r>
            <a:endParaRPr lang="en-US" b="1" dirty="0"/>
          </a:p>
          <a:p>
            <a:r>
              <a:rPr lang="en-US" sz="2400" dirty="0" smtClean="0"/>
              <a:t>Bleeding into the subarachnoid space </a:t>
            </a:r>
            <a:endParaRPr lang="en-US" sz="2400" dirty="0"/>
          </a:p>
          <a:p>
            <a:r>
              <a:rPr lang="en-US" sz="2400" dirty="0" smtClean="0"/>
              <a:t>Presents as a sudden headache ("worst headache of my life") with </a:t>
            </a:r>
            <a:r>
              <a:rPr lang="en-US" sz="2400" dirty="0" err="1" smtClean="0"/>
              <a:t>nuchal</a:t>
            </a:r>
            <a:r>
              <a:rPr lang="en-US" sz="2400" dirty="0" smtClean="0"/>
              <a:t> </a:t>
            </a:r>
            <a:r>
              <a:rPr lang="en-US" sz="2400" dirty="0" smtClean="0"/>
              <a:t>rigidity. </a:t>
            </a:r>
            <a:endParaRPr lang="en-US" sz="2400" dirty="0"/>
          </a:p>
          <a:p>
            <a:r>
              <a:rPr lang="en-US" sz="2400" dirty="0" smtClean="0"/>
              <a:t>Lumbar puncture shows xanthochromia (yellow hue due to </a:t>
            </a:r>
            <a:r>
              <a:rPr lang="en-US" sz="2400" dirty="0" err="1" smtClean="0"/>
              <a:t>bilirubin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dirty="0" smtClean="0"/>
              <a:t>Most frequently (85%) due to rupture of a berry aneurysm; other causes include AV malformations and an anticoagulated state. </a:t>
            </a:r>
          </a:p>
          <a:p>
            <a:r>
              <a:rPr lang="en-US" sz="2400" dirty="0" smtClean="0"/>
              <a:t>Most frequently located in the anterior circle of Willis at branch points of the anterior communicating </a:t>
            </a:r>
            <a:r>
              <a:rPr lang="en-US" sz="2400" dirty="0" smtClean="0"/>
              <a:t>artery.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06744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5211"/>
            <a:ext cx="10515600" cy="530175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                               </a:t>
            </a:r>
            <a:r>
              <a:rPr lang="en-US" sz="3200" b="1" dirty="0" smtClean="0"/>
              <a:t>TRAUMA</a:t>
            </a:r>
            <a:r>
              <a:rPr lang="en-US" sz="3200" dirty="0" smtClean="0"/>
              <a:t> </a:t>
            </a:r>
            <a:endParaRPr lang="en-US" sz="3200" dirty="0"/>
          </a:p>
          <a:p>
            <a:pPr marL="0" indent="0">
              <a:buNone/>
            </a:pPr>
            <a:r>
              <a:rPr lang="en-US" sz="2400" b="1" dirty="0" smtClean="0"/>
              <a:t>EPIDURAL HEMATOMA </a:t>
            </a:r>
            <a:endParaRPr lang="en-US" sz="2400" b="1" dirty="0"/>
          </a:p>
          <a:p>
            <a:r>
              <a:rPr lang="en-US" sz="2400" dirty="0" smtClean="0"/>
              <a:t>Collection of blood between the dura and the skull </a:t>
            </a:r>
            <a:endParaRPr lang="en-US" sz="2400" dirty="0"/>
          </a:p>
          <a:p>
            <a:r>
              <a:rPr lang="en-US" sz="2400" dirty="0" smtClean="0"/>
              <a:t>Classically due to fracture of the temporal bone with rupture of the </a:t>
            </a:r>
            <a:r>
              <a:rPr lang="en-US" sz="2400" dirty="0" smtClean="0">
                <a:solidFill>
                  <a:srgbClr val="002060"/>
                </a:solidFill>
              </a:rPr>
              <a:t>middle meningeal artery</a:t>
            </a:r>
            <a:r>
              <a:rPr lang="en-US" sz="2400" dirty="0" smtClean="0"/>
              <a:t>; bleeding separates the dura from the skull. 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Lens-shaped</a:t>
            </a:r>
            <a:r>
              <a:rPr lang="en-US" sz="2400" dirty="0" smtClean="0"/>
              <a:t> lesion on </a:t>
            </a:r>
            <a:r>
              <a:rPr lang="en-US" sz="2400" dirty="0" smtClean="0"/>
              <a:t>CT-scan. </a:t>
            </a:r>
            <a:endParaRPr lang="en-US" sz="2400" dirty="0"/>
          </a:p>
          <a:p>
            <a:r>
              <a:rPr lang="en-US" sz="2400" dirty="0" smtClean="0"/>
              <a:t>Lucid interval may precede neurologic signs. </a:t>
            </a:r>
            <a:endParaRPr lang="en-US" sz="2400" dirty="0"/>
          </a:p>
          <a:p>
            <a:r>
              <a:rPr lang="en-US" sz="2400" dirty="0" smtClean="0"/>
              <a:t>Herniation is a lethal </a:t>
            </a:r>
            <a:r>
              <a:rPr lang="en-US" sz="2400" dirty="0" smtClean="0"/>
              <a:t>complication.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07650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SUBDURAL HEMATOMA </a:t>
            </a:r>
            <a:endParaRPr lang="en-US" b="1" dirty="0"/>
          </a:p>
          <a:p>
            <a:r>
              <a:rPr lang="en-US" sz="2400" dirty="0" smtClean="0"/>
              <a:t>Collection of blood underneath the dura; blood covers the surface of the </a:t>
            </a:r>
            <a:r>
              <a:rPr lang="en-US" sz="2400" dirty="0" smtClean="0"/>
              <a:t>brain. </a:t>
            </a:r>
            <a:endParaRPr lang="en-US" sz="2400" dirty="0"/>
          </a:p>
          <a:p>
            <a:r>
              <a:rPr lang="en-US" sz="2400" dirty="0" smtClean="0"/>
              <a:t>Due to </a:t>
            </a:r>
            <a:r>
              <a:rPr lang="en-US" sz="2400" dirty="0" smtClean="0">
                <a:solidFill>
                  <a:srgbClr val="002060"/>
                </a:solidFill>
              </a:rPr>
              <a:t>tearing of bridging veins </a:t>
            </a:r>
            <a:r>
              <a:rPr lang="en-US" sz="2400" dirty="0" smtClean="0"/>
              <a:t>that lie between the dura and arachnoid; usually arises with </a:t>
            </a:r>
            <a:r>
              <a:rPr lang="en-US" sz="2400" dirty="0" smtClean="0"/>
              <a:t>trauma. </a:t>
            </a:r>
            <a:endParaRPr lang="en-US" sz="2400" dirty="0"/>
          </a:p>
          <a:p>
            <a:r>
              <a:rPr lang="en-US" sz="2400" dirty="0" smtClean="0">
                <a:solidFill>
                  <a:srgbClr val="002060"/>
                </a:solidFill>
              </a:rPr>
              <a:t>Crescent-shaped</a:t>
            </a:r>
            <a:r>
              <a:rPr lang="en-US" sz="2400" dirty="0" smtClean="0"/>
              <a:t> lesion on </a:t>
            </a:r>
            <a:r>
              <a:rPr lang="en-US" sz="2400" dirty="0" smtClean="0"/>
              <a:t>CT.</a:t>
            </a:r>
            <a:endParaRPr lang="en-US" sz="2400" dirty="0"/>
          </a:p>
          <a:p>
            <a:r>
              <a:rPr lang="en-US" sz="2400" dirty="0" smtClean="0"/>
              <a:t>Presents with progressive neurologic </a:t>
            </a:r>
            <a:r>
              <a:rPr lang="en-US" sz="2400" dirty="0" smtClean="0"/>
              <a:t>signs.</a:t>
            </a:r>
            <a:endParaRPr lang="en-US" sz="2400" dirty="0" smtClean="0"/>
          </a:p>
          <a:p>
            <a:r>
              <a:rPr lang="en-US" sz="2400" dirty="0" smtClean="0"/>
              <a:t>Increased rate of occurrence in the elderly due to age-related cerebral atrophy, which stretches the </a:t>
            </a:r>
            <a:r>
              <a:rPr lang="en-US" sz="2400" dirty="0" smtClean="0"/>
              <a:t>veins. </a:t>
            </a:r>
            <a:endParaRPr lang="en-US" sz="2400" dirty="0"/>
          </a:p>
          <a:p>
            <a:r>
              <a:rPr lang="en-US" sz="2400" dirty="0" smtClean="0"/>
              <a:t>Herniation is a lethal </a:t>
            </a:r>
            <a:r>
              <a:rPr lang="en-US" sz="2400" dirty="0" smtClean="0"/>
              <a:t>complication.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018736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HERNIATION </a:t>
            </a:r>
            <a:endParaRPr lang="en-US" b="1" dirty="0"/>
          </a:p>
          <a:p>
            <a:r>
              <a:rPr lang="en-US" sz="2400" dirty="0" smtClean="0"/>
              <a:t>Displacement of brain tissue due to mass effect or increased intracranial pressure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 smtClean="0"/>
              <a:t>Tonsillar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herniation</a:t>
            </a:r>
            <a:endParaRPr lang="en-US" sz="2400" b="1" dirty="0" smtClean="0"/>
          </a:p>
          <a:p>
            <a:r>
              <a:rPr lang="en-US" sz="2400" dirty="0" smtClean="0"/>
              <a:t> </a:t>
            </a:r>
            <a:r>
              <a:rPr lang="en-US" sz="2400" dirty="0" smtClean="0"/>
              <a:t>I</a:t>
            </a:r>
            <a:r>
              <a:rPr lang="en-US" sz="2400" dirty="0" smtClean="0"/>
              <a:t>nvolves </a:t>
            </a:r>
            <a:r>
              <a:rPr lang="en-US" sz="2400" dirty="0" smtClean="0"/>
              <a:t>displacement of the cerebellar tonsils into the foramen magnum. </a:t>
            </a:r>
            <a:endParaRPr lang="en-US" sz="2400" dirty="0"/>
          </a:p>
          <a:p>
            <a:r>
              <a:rPr lang="en-US" sz="2400" dirty="0" smtClean="0"/>
              <a:t>Compression of the brain stem leads to cardiopulmonary arrest.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 smtClean="0"/>
              <a:t>Subfalcine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herniation</a:t>
            </a:r>
            <a:endParaRPr lang="en-US" sz="2400" b="1" dirty="0" smtClean="0"/>
          </a:p>
          <a:p>
            <a:r>
              <a:rPr lang="en-US" sz="2400" b="1" dirty="0" smtClean="0"/>
              <a:t> </a:t>
            </a:r>
            <a:r>
              <a:rPr lang="en-US" sz="2400" dirty="0" smtClean="0"/>
              <a:t>I</a:t>
            </a:r>
            <a:r>
              <a:rPr lang="en-US" sz="2400" dirty="0" smtClean="0"/>
              <a:t>nvolves </a:t>
            </a:r>
            <a:r>
              <a:rPr lang="en-US" sz="2400" dirty="0" smtClean="0"/>
              <a:t>displacement of the cingulate gyrus under the falx cerebri. </a:t>
            </a:r>
            <a:endParaRPr lang="en-US" sz="2400" dirty="0"/>
          </a:p>
          <a:p>
            <a:r>
              <a:rPr lang="en-US" sz="2400" dirty="0" smtClean="0"/>
              <a:t>Compression of the anterior cerebral artery leads to infarction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74080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Uncal </a:t>
            </a:r>
            <a:r>
              <a:rPr lang="en-US" sz="2400" b="1" dirty="0" err="1"/>
              <a:t>herniation</a:t>
            </a:r>
            <a:r>
              <a:rPr lang="en-US" sz="2400" b="1" dirty="0"/>
              <a:t> </a:t>
            </a:r>
            <a:endParaRPr lang="en-US" sz="2400" b="1" dirty="0" smtClean="0"/>
          </a:p>
          <a:p>
            <a:r>
              <a:rPr lang="en-US" sz="2400" dirty="0" smtClean="0"/>
              <a:t>I</a:t>
            </a:r>
            <a:r>
              <a:rPr lang="en-US" sz="2400" dirty="0" smtClean="0"/>
              <a:t>nvolves </a:t>
            </a:r>
            <a:r>
              <a:rPr lang="en-US" sz="2400" dirty="0"/>
              <a:t>displacement of the temporal lobe uncus under the tentorium cerebelli. </a:t>
            </a:r>
          </a:p>
          <a:p>
            <a:r>
              <a:rPr lang="en-US" sz="2400" dirty="0"/>
              <a:t>Compression of cranial nerve III (oculomotor) leads to the eye moving "down and out" and a dilated pupil. </a:t>
            </a:r>
          </a:p>
          <a:p>
            <a:r>
              <a:rPr lang="en-US" sz="2400" dirty="0"/>
              <a:t>Compression of posterior cerebral artery leads to infarction of occipital lobe (contralateral homonymous hemianopsia). </a:t>
            </a:r>
          </a:p>
          <a:p>
            <a:r>
              <a:rPr lang="en-US" sz="2400" dirty="0"/>
              <a:t>Rupture of the paramedian artery leads to Duret (brainstem) hemorrhage.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274695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DEMYELINATING DISORDERS </a:t>
            </a:r>
            <a:endParaRPr lang="en-US" b="1" dirty="0"/>
          </a:p>
          <a:p>
            <a:r>
              <a:rPr lang="en-US" sz="2400" dirty="0" smtClean="0"/>
              <a:t>Myelin insulates axons, improving the speed and efficiency of conduction. </a:t>
            </a:r>
            <a:endParaRPr lang="en-US" sz="2400" dirty="0"/>
          </a:p>
          <a:p>
            <a:r>
              <a:rPr lang="en-US" sz="2400" dirty="0" smtClean="0">
                <a:solidFill>
                  <a:srgbClr val="002060"/>
                </a:solidFill>
              </a:rPr>
              <a:t>Oligodendrocytes</a:t>
            </a:r>
            <a:r>
              <a:rPr lang="en-US" sz="2400" dirty="0" smtClean="0"/>
              <a:t> myelinate the central nervous system.</a:t>
            </a:r>
          </a:p>
          <a:p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Schwann cells </a:t>
            </a:r>
            <a:r>
              <a:rPr lang="en-US" sz="2400" dirty="0" smtClean="0"/>
              <a:t>myelinate the peripheral nervous system. </a:t>
            </a:r>
            <a:endParaRPr lang="en-US" sz="2400" dirty="0"/>
          </a:p>
          <a:p>
            <a:r>
              <a:rPr lang="en-US" sz="2400" dirty="0" smtClean="0"/>
              <a:t>Demyelinating disorders are characterized by destruction of myelin or oligodendrocytes; axons are generally preserved.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515408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05355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MULTIPLE SCLEROSIS </a:t>
            </a:r>
            <a:endParaRPr lang="en-US" b="1" dirty="0"/>
          </a:p>
          <a:p>
            <a:r>
              <a:rPr lang="en-US" sz="2400" dirty="0" smtClean="0"/>
              <a:t>Autoimmune destruction of CNS myelin and </a:t>
            </a:r>
            <a:r>
              <a:rPr lang="en-US" sz="2400" dirty="0" err="1" smtClean="0"/>
              <a:t>oligodendrocytes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dirty="0" smtClean="0"/>
              <a:t>Most common chronic CNS disease of young adults (20-30 years of age</a:t>
            </a:r>
            <a:r>
              <a:rPr lang="en-US" sz="2400" dirty="0" smtClean="0"/>
              <a:t>). </a:t>
            </a:r>
          </a:p>
          <a:p>
            <a:r>
              <a:rPr lang="en-US" sz="2400" dirty="0" smtClean="0"/>
              <a:t>M</a:t>
            </a:r>
            <a:r>
              <a:rPr lang="en-US" sz="2400" dirty="0" smtClean="0"/>
              <a:t>ore </a:t>
            </a:r>
            <a:r>
              <a:rPr lang="en-US" sz="2400" dirty="0" smtClean="0"/>
              <a:t>commonly seen in </a:t>
            </a:r>
            <a:r>
              <a:rPr lang="en-US" sz="2400" dirty="0" smtClean="0"/>
              <a:t>women. </a:t>
            </a:r>
            <a:endParaRPr lang="en-US" sz="2400" dirty="0"/>
          </a:p>
          <a:p>
            <a:r>
              <a:rPr lang="en-US" sz="2400" dirty="0" smtClean="0"/>
              <a:t>Associated with </a:t>
            </a:r>
            <a:r>
              <a:rPr lang="en-US" sz="2400" dirty="0" smtClean="0"/>
              <a:t>HLA-DR2.</a:t>
            </a:r>
          </a:p>
          <a:p>
            <a:r>
              <a:rPr lang="en-US" sz="2400" dirty="0" smtClean="0"/>
              <a:t>Presents with relapsing neurologic deficits with periods of </a:t>
            </a:r>
            <a:r>
              <a:rPr lang="en-US" sz="2400" dirty="0" smtClean="0"/>
              <a:t>remission.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712102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027432"/>
          </a:xfrm>
        </p:spPr>
        <p:txBody>
          <a:bodyPr>
            <a:normAutofit/>
          </a:bodyPr>
          <a:lstStyle/>
          <a:p>
            <a:r>
              <a:rPr lang="en-US" b="1" dirty="0" smtClean="0"/>
              <a:t>Clinical </a:t>
            </a:r>
            <a:r>
              <a:rPr lang="en-US" b="1" dirty="0" smtClean="0"/>
              <a:t>features </a:t>
            </a:r>
            <a:r>
              <a:rPr lang="en-US" dirty="0" smtClean="0"/>
              <a:t>include: </a:t>
            </a:r>
          </a:p>
          <a:p>
            <a:pPr marL="0" indent="0">
              <a:buNone/>
            </a:pPr>
            <a:r>
              <a:rPr lang="en-US" sz="2600" dirty="0" smtClean="0"/>
              <a:t>1</a:t>
            </a:r>
            <a:r>
              <a:rPr lang="en-US" sz="2400" dirty="0" smtClean="0"/>
              <a:t>. Blurred vision in one eye (optic nerve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2. Vertigo and scanning speech mimicking alcohol intoxication (brainstem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3. Internuclear ophthalmoplegia (medial longitudinal fasciculus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4. Hemiparesis or unilateral loss of sensation (cerebral white matter, usually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400" dirty="0" err="1" smtClean="0"/>
              <a:t>periventricular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5. Lower extremity loss of sensation or weakness (spinal cord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6. Bowel, bladder, and sexual dysfunction (autonomic nervous system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837685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Diagnosis is made by MRI and lumbar puncture. </a:t>
            </a:r>
          </a:p>
          <a:p>
            <a:pPr marL="0" indent="0">
              <a:buNone/>
            </a:pPr>
            <a:r>
              <a:rPr lang="en-US" sz="2400" dirty="0" smtClean="0"/>
              <a:t>1. MRI reveals plaques (areas of white matter demyelination). </a:t>
            </a:r>
          </a:p>
          <a:p>
            <a:pPr marL="0" indent="0">
              <a:buNone/>
            </a:pPr>
            <a:r>
              <a:rPr lang="en-US" sz="2400" dirty="0" smtClean="0"/>
              <a:t>2. Lumbar puncture shows increased lymphocytes, increased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immunoglobulins with </a:t>
            </a:r>
            <a:r>
              <a:rPr lang="en-US" sz="2400" dirty="0" err="1" smtClean="0"/>
              <a:t>oligoclonal</a:t>
            </a:r>
            <a:r>
              <a:rPr lang="en-US" sz="2400" dirty="0" smtClean="0"/>
              <a:t> </a:t>
            </a:r>
            <a:r>
              <a:rPr lang="en-US" sz="2400" dirty="0"/>
              <a:t>IgG bands on high resolution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electrophoresis</a:t>
            </a:r>
            <a:r>
              <a:rPr lang="en-US" sz="2400" dirty="0"/>
              <a:t>, and myelin basic </a:t>
            </a:r>
            <a:r>
              <a:rPr lang="en-US" sz="2400" dirty="0" smtClean="0"/>
              <a:t>protein.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435571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4217"/>
            <a:ext cx="10515600" cy="5092746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SUBACUTE SCLEROSING PANENCEPHALITIS </a:t>
            </a:r>
            <a:endParaRPr lang="en-US" b="1" dirty="0"/>
          </a:p>
          <a:p>
            <a:r>
              <a:rPr lang="en-US" sz="2400" dirty="0" smtClean="0"/>
              <a:t>Progressive, debilitating encephalitis leading to </a:t>
            </a:r>
            <a:r>
              <a:rPr lang="en-US" sz="2400" dirty="0" smtClean="0"/>
              <a:t>death.</a:t>
            </a:r>
            <a:endParaRPr lang="en-US" sz="2400" dirty="0"/>
          </a:p>
          <a:p>
            <a:r>
              <a:rPr lang="en-US" sz="2400" dirty="0" smtClean="0"/>
              <a:t>Due to slowly progressing, persistent infection of the brain by measles virus. </a:t>
            </a:r>
            <a:endParaRPr lang="en-US" sz="2400" dirty="0"/>
          </a:p>
          <a:p>
            <a:r>
              <a:rPr lang="en-US" sz="2400" dirty="0" smtClean="0"/>
              <a:t>Infection occurs in infancy; neurologic signs arise years later (during childhood). </a:t>
            </a:r>
            <a:endParaRPr lang="en-US" sz="2400" dirty="0"/>
          </a:p>
          <a:p>
            <a:r>
              <a:rPr lang="en-US" sz="2400" dirty="0" smtClean="0"/>
              <a:t> Characterized by viral inclusions within neurons (gray matter) and oligodendrocytes (white matter</a:t>
            </a:r>
            <a:r>
              <a:rPr lang="en-US" sz="2400" dirty="0" smtClean="0"/>
              <a:t>).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384005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PROGRESSIVE MULTIFOCAL LEUKOENCEPHALOPATHY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JC virus </a:t>
            </a:r>
            <a:r>
              <a:rPr lang="en-US" sz="2400" dirty="0" smtClean="0"/>
              <a:t>infection of oligodendrocytes (white matter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 smtClean="0"/>
              <a:t>Immunosuppression (e.g., AIDS or leukemia) leads to reactivation of the latent virus. </a:t>
            </a:r>
            <a:endParaRPr lang="en-US" sz="2400" dirty="0"/>
          </a:p>
          <a:p>
            <a:r>
              <a:rPr lang="en-US" sz="2400" dirty="0" smtClean="0"/>
              <a:t>Presents with rapidly progressive neurologic signs (visual loss, weakness, dementia) leading to </a:t>
            </a:r>
            <a:r>
              <a:rPr lang="en-US" sz="2400" dirty="0" smtClean="0"/>
              <a:t>death.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439317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526"/>
            <a:ext cx="10515600" cy="523643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CENTRAL PONTINE MYELINOLYSIS </a:t>
            </a:r>
            <a:endParaRPr lang="en-US" b="1" dirty="0"/>
          </a:p>
          <a:p>
            <a:r>
              <a:rPr lang="en-US" sz="2400" dirty="0" smtClean="0"/>
              <a:t>Focal demyelination of the pons (anterior brain stem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 smtClean="0"/>
              <a:t>Due to rapid intravenous correction of </a:t>
            </a:r>
            <a:r>
              <a:rPr lang="en-US" sz="2400" dirty="0" err="1" smtClean="0">
                <a:solidFill>
                  <a:srgbClr val="002060"/>
                </a:solidFill>
              </a:rPr>
              <a:t>hyponatremia</a:t>
            </a:r>
            <a:r>
              <a:rPr lang="en-US" sz="2400" dirty="0" smtClean="0">
                <a:solidFill>
                  <a:srgbClr val="002060"/>
                </a:solidFill>
              </a:rPr>
              <a:t>.</a:t>
            </a: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 smtClean="0"/>
              <a:t>Occurs in severely malnourished patients (e.g., alcoholics and patients with liver disease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 smtClean="0"/>
              <a:t>Classically presents as acute bilateral paralysis ("locked in" syndrome</a:t>
            </a:r>
            <a:r>
              <a:rPr lang="en-US" sz="2400" dirty="0" smtClean="0"/>
              <a:t>).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531068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DEMENTIA AND DEGENERATIVE DISORDERS </a:t>
            </a:r>
          </a:p>
          <a:p>
            <a:r>
              <a:rPr lang="en-US" sz="2400" dirty="0" smtClean="0"/>
              <a:t>Characterized </a:t>
            </a:r>
            <a:r>
              <a:rPr lang="en-US" sz="2400" dirty="0"/>
              <a:t>by loss of neurons within the gray matter; often due to accumulation of protein which damages </a:t>
            </a:r>
            <a:r>
              <a:rPr lang="en-US" sz="2400" dirty="0" smtClean="0"/>
              <a:t>neurons.</a:t>
            </a:r>
            <a:endParaRPr lang="en-US" sz="2400" dirty="0"/>
          </a:p>
          <a:p>
            <a:r>
              <a:rPr lang="en-US" sz="2400" dirty="0" smtClean="0"/>
              <a:t>Degeneration </a:t>
            </a:r>
            <a:r>
              <a:rPr lang="en-US" sz="2400" dirty="0"/>
              <a:t>of the cortex leads to dementia. </a:t>
            </a:r>
          </a:p>
          <a:p>
            <a:r>
              <a:rPr lang="en-US" sz="2400" dirty="0" smtClean="0"/>
              <a:t>Degeneration </a:t>
            </a:r>
            <a:r>
              <a:rPr lang="en-US" sz="2400" dirty="0"/>
              <a:t>of the brainstem and basal ganglia leads to movement </a:t>
            </a:r>
            <a:r>
              <a:rPr lang="en-US" sz="2400" dirty="0" smtClean="0"/>
              <a:t>disorders.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039048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5"/>
            <a:ext cx="10515600" cy="4870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ALZHEIMER DISEASE (</a:t>
            </a:r>
            <a:r>
              <a:rPr lang="en-US" b="1" dirty="0" smtClean="0"/>
              <a:t>AD)</a:t>
            </a:r>
          </a:p>
          <a:p>
            <a:r>
              <a:rPr lang="en-US" sz="2400" dirty="0" smtClean="0"/>
              <a:t>Degenerative </a:t>
            </a:r>
            <a:r>
              <a:rPr lang="en-US" sz="2400" dirty="0"/>
              <a:t>disease of cortex; most common cause of </a:t>
            </a:r>
            <a:r>
              <a:rPr lang="en-US" sz="2400" dirty="0" smtClean="0"/>
              <a:t>dementia. </a:t>
            </a:r>
            <a:endParaRPr lang="en-US" sz="2400" dirty="0" smtClean="0"/>
          </a:p>
          <a:p>
            <a:pPr marL="0" indent="0"/>
            <a:r>
              <a:rPr lang="en-US" sz="2400" dirty="0" smtClean="0"/>
              <a:t>  Slow-onset </a:t>
            </a:r>
            <a:r>
              <a:rPr lang="en-US" sz="2400" dirty="0"/>
              <a:t>memory loss </a:t>
            </a:r>
            <a:r>
              <a:rPr lang="en-US" sz="2400" dirty="0" smtClean="0"/>
              <a:t>and progressive disorientation. </a:t>
            </a:r>
            <a:endParaRPr lang="en-US" sz="2400" dirty="0" smtClean="0"/>
          </a:p>
          <a:p>
            <a:pPr marL="0" indent="0"/>
            <a:r>
              <a:rPr lang="en-US" sz="2400" dirty="0" smtClean="0"/>
              <a:t> </a:t>
            </a:r>
            <a:r>
              <a:rPr lang="en-US" sz="2400" dirty="0" smtClean="0"/>
              <a:t> Loss </a:t>
            </a:r>
            <a:r>
              <a:rPr lang="en-US" sz="2400" dirty="0"/>
              <a:t>of learned motor skills and </a:t>
            </a:r>
            <a:r>
              <a:rPr lang="en-US" sz="2400" dirty="0" smtClean="0"/>
              <a:t>language. </a:t>
            </a:r>
            <a:endParaRPr lang="en-US" sz="2400" dirty="0" smtClean="0"/>
          </a:p>
          <a:p>
            <a:pPr marL="0" indent="0"/>
            <a:r>
              <a:rPr lang="en-US" sz="2400" dirty="0" smtClean="0"/>
              <a:t>  Changes </a:t>
            </a:r>
            <a:r>
              <a:rPr lang="en-US" sz="2400" dirty="0"/>
              <a:t>in behavior and </a:t>
            </a:r>
            <a:r>
              <a:rPr lang="en-US" sz="2400" dirty="0" smtClean="0"/>
              <a:t>personality. </a:t>
            </a:r>
            <a:endParaRPr lang="en-US" sz="2400" dirty="0" smtClean="0"/>
          </a:p>
          <a:p>
            <a:pPr marL="0" indent="0"/>
            <a:r>
              <a:rPr lang="en-US" sz="2400" dirty="0" smtClean="0"/>
              <a:t> </a:t>
            </a:r>
            <a:r>
              <a:rPr lang="en-US" sz="2400" dirty="0" smtClean="0"/>
              <a:t> Patients </a:t>
            </a:r>
            <a:r>
              <a:rPr lang="en-US" sz="2400" dirty="0"/>
              <a:t>become mute and bedridden; infection is a common cause of </a:t>
            </a:r>
            <a:r>
              <a:rPr lang="en-US" sz="2400" dirty="0" smtClean="0"/>
              <a:t>death</a:t>
            </a:r>
            <a:r>
              <a:rPr lang="en-US" sz="2400" dirty="0"/>
              <a:t>. </a:t>
            </a:r>
            <a:endParaRPr lang="en-US" sz="2400" dirty="0" smtClean="0"/>
          </a:p>
          <a:p>
            <a:pPr marL="0" indent="0"/>
            <a:r>
              <a:rPr lang="en-US" sz="2400" dirty="0" smtClean="0"/>
              <a:t>  Focal </a:t>
            </a:r>
            <a:r>
              <a:rPr lang="en-US" sz="2400" dirty="0"/>
              <a:t>neurologic deficits are not seen in early disease. </a:t>
            </a:r>
            <a:endParaRPr lang="en-US" sz="2400" dirty="0" smtClean="0"/>
          </a:p>
          <a:p>
            <a:r>
              <a:rPr lang="en-US" sz="2400" dirty="0" smtClean="0"/>
              <a:t>Most </a:t>
            </a:r>
            <a:r>
              <a:rPr lang="en-US" sz="2400" dirty="0"/>
              <a:t>cases (95%) are sporadic and seen in the elderly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76365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3303"/>
            <a:ext cx="10515600" cy="42436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Diagnosis is made by clinical and pathological correlation. </a:t>
            </a:r>
          </a:p>
          <a:p>
            <a:r>
              <a:rPr lang="en-US" sz="2400" dirty="0" smtClean="0"/>
              <a:t>Presumptive </a:t>
            </a:r>
            <a:r>
              <a:rPr lang="en-US" sz="2400" dirty="0"/>
              <a:t>diagnosis is made clinically after excluding other causes. </a:t>
            </a:r>
          </a:p>
          <a:p>
            <a:r>
              <a:rPr lang="en-US" sz="2400" dirty="0" smtClean="0"/>
              <a:t>Confirmed </a:t>
            </a:r>
            <a:r>
              <a:rPr lang="en-US" sz="2400" dirty="0"/>
              <a:t>by histology at autopsy (when possible</a:t>
            </a:r>
            <a:r>
              <a:rPr lang="en-US" sz="2400" dirty="0" smtClean="0"/>
              <a:t>). 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10645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9714"/>
            <a:ext cx="10515600" cy="51972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PARKINSON DISEASE </a:t>
            </a:r>
          </a:p>
          <a:p>
            <a:r>
              <a:rPr lang="en-US" sz="2400" dirty="0" smtClean="0"/>
              <a:t>Degenerative </a:t>
            </a:r>
            <a:r>
              <a:rPr lang="en-US" sz="2400" dirty="0"/>
              <a:t>loss of dopaminergic neurons in the substantia nigra of the basal </a:t>
            </a:r>
            <a:r>
              <a:rPr lang="en-US" sz="2400" dirty="0" smtClean="0"/>
              <a:t>ganglia. </a:t>
            </a:r>
            <a:endParaRPr lang="en-US" sz="2400" dirty="0"/>
          </a:p>
          <a:p>
            <a:r>
              <a:rPr lang="en-US" sz="2400" dirty="0" smtClean="0"/>
              <a:t>Nigrostriatal </a:t>
            </a:r>
            <a:r>
              <a:rPr lang="en-US" sz="2400" dirty="0"/>
              <a:t>pathway of basal ganglia uses dopamine to initiate movement. </a:t>
            </a:r>
          </a:p>
          <a:p>
            <a:r>
              <a:rPr lang="en-US" sz="2400" dirty="0" smtClean="0"/>
              <a:t>Common </a:t>
            </a:r>
            <a:r>
              <a:rPr lang="en-US" sz="2400" dirty="0"/>
              <a:t>disorder related to aging; seen in 2% of older </a:t>
            </a:r>
            <a:r>
              <a:rPr lang="en-US" sz="2400" dirty="0" smtClean="0"/>
              <a:t>adults. </a:t>
            </a:r>
            <a:endParaRPr lang="en-US" sz="2400" dirty="0"/>
          </a:p>
          <a:p>
            <a:r>
              <a:rPr lang="en-US" sz="2400" dirty="0" smtClean="0"/>
              <a:t>Protein </a:t>
            </a:r>
            <a:r>
              <a:rPr lang="en-US" sz="2400" dirty="0" smtClean="0"/>
              <a:t>accumulation and </a:t>
            </a:r>
            <a:r>
              <a:rPr lang="en-US" sz="2400" dirty="0" err="1" smtClean="0"/>
              <a:t>aggregation,mitochondrial</a:t>
            </a:r>
            <a:r>
              <a:rPr lang="en-US" sz="2400" dirty="0" smtClean="0"/>
              <a:t> </a:t>
            </a:r>
            <a:r>
              <a:rPr lang="en-US" sz="2400" dirty="0" smtClean="0"/>
              <a:t>abnormalities, and neuronal loss </a:t>
            </a:r>
            <a:r>
              <a:rPr lang="en-US" sz="2400" dirty="0" smtClean="0"/>
              <a:t>in the </a:t>
            </a:r>
            <a:r>
              <a:rPr lang="en-US" sz="2400" dirty="0" err="1" smtClean="0"/>
              <a:t>substantia</a:t>
            </a:r>
            <a:r>
              <a:rPr lang="en-US" sz="2400" dirty="0" smtClean="0"/>
              <a:t> </a:t>
            </a:r>
            <a:r>
              <a:rPr lang="en-US" sz="2400" dirty="0" err="1" smtClean="0"/>
              <a:t>nigra</a:t>
            </a:r>
            <a:r>
              <a:rPr lang="en-US" sz="2400" dirty="0" smtClean="0"/>
              <a:t> and elsewhere in the brain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213087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3589"/>
            <a:ext cx="10515600" cy="5223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Clinical features </a:t>
            </a:r>
            <a:r>
              <a:rPr lang="en-US" dirty="0"/>
              <a:t>('TRAP') </a:t>
            </a:r>
          </a:p>
          <a:p>
            <a:r>
              <a:rPr lang="en-US" sz="2400" dirty="0" smtClean="0"/>
              <a:t>Tremor-at </a:t>
            </a:r>
            <a:r>
              <a:rPr lang="en-US" sz="2400" dirty="0"/>
              <a:t>rest; disappears with </a:t>
            </a:r>
            <a:r>
              <a:rPr lang="en-US" sz="2400" dirty="0" smtClean="0"/>
              <a:t>movement. </a:t>
            </a:r>
            <a:endParaRPr lang="en-US" sz="2400" dirty="0"/>
          </a:p>
          <a:p>
            <a:r>
              <a:rPr lang="en-US" sz="2400" dirty="0" smtClean="0"/>
              <a:t>Rigidity-cogwheel </a:t>
            </a:r>
            <a:r>
              <a:rPr lang="en-US" sz="2400" dirty="0"/>
              <a:t>rigidity in the </a:t>
            </a:r>
            <a:r>
              <a:rPr lang="en-US" sz="2400" dirty="0" smtClean="0"/>
              <a:t>extremities. </a:t>
            </a:r>
            <a:endParaRPr lang="en-US" sz="2400" dirty="0"/>
          </a:p>
          <a:p>
            <a:r>
              <a:rPr lang="en-US" sz="2400" dirty="0" smtClean="0"/>
              <a:t>Akinesia/bradykinesia-slowing </a:t>
            </a:r>
            <a:r>
              <a:rPr lang="en-US" sz="2400" dirty="0"/>
              <a:t>of voluntary movement; expressionless </a:t>
            </a:r>
            <a:r>
              <a:rPr lang="en-US" sz="2400" dirty="0" smtClean="0"/>
              <a:t>face.</a:t>
            </a:r>
            <a:endParaRPr lang="en-US" sz="2400" dirty="0"/>
          </a:p>
          <a:p>
            <a:r>
              <a:rPr lang="en-US" sz="2400" dirty="0" smtClean="0"/>
              <a:t>Postural </a:t>
            </a:r>
            <a:r>
              <a:rPr lang="en-US" sz="2400" dirty="0"/>
              <a:t>instability and shuffling </a:t>
            </a:r>
            <a:r>
              <a:rPr lang="en-US" sz="2400" dirty="0" smtClean="0"/>
              <a:t>gait.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Histology </a:t>
            </a:r>
            <a:r>
              <a:rPr lang="en-US" sz="2400" dirty="0"/>
              <a:t>reveals loss </a:t>
            </a:r>
            <a:r>
              <a:rPr lang="en-US" sz="2400" dirty="0" smtClean="0"/>
              <a:t>of pigmented </a:t>
            </a:r>
            <a:r>
              <a:rPr lang="en-US" sz="2400" dirty="0"/>
              <a:t>neurons in the substantia nigra and round, eosinophilic inclusions of </a:t>
            </a:r>
            <a:r>
              <a:rPr lang="en-US" sz="2400" dirty="0" smtClean="0"/>
              <a:t>α- synuclein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2060"/>
                </a:solidFill>
              </a:rPr>
              <a:t>Lewy </a:t>
            </a:r>
            <a:r>
              <a:rPr lang="en-US" sz="2400" dirty="0" smtClean="0">
                <a:solidFill>
                  <a:srgbClr val="002060"/>
                </a:solidFill>
              </a:rPr>
              <a:t>bodies</a:t>
            </a:r>
            <a:r>
              <a:rPr lang="en-US" sz="2400" dirty="0" smtClean="0"/>
              <a:t>) in </a:t>
            </a:r>
            <a:r>
              <a:rPr lang="en-US" sz="2400" dirty="0"/>
              <a:t>affected neurons.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Dementia </a:t>
            </a:r>
            <a:r>
              <a:rPr lang="en-US" sz="2400" dirty="0"/>
              <a:t>is a common feature of late disease. </a:t>
            </a:r>
          </a:p>
          <a:p>
            <a:r>
              <a:rPr lang="en-US" sz="2400" dirty="0" smtClean="0"/>
              <a:t>Early-onset </a:t>
            </a:r>
            <a:r>
              <a:rPr lang="en-US" sz="2400" dirty="0"/>
              <a:t>dementia is suggestive of Lewy body dementia, which is characterized by dementia, hallucinations and parkinsonian features; histology reveals cortical </a:t>
            </a:r>
            <a:r>
              <a:rPr lang="en-US" sz="2400" dirty="0" err="1"/>
              <a:t>Lewy</a:t>
            </a:r>
            <a:r>
              <a:rPr lang="en-US" sz="2400" dirty="0"/>
              <a:t> </a:t>
            </a:r>
            <a:r>
              <a:rPr lang="en-US" sz="2400" dirty="0" smtClean="0"/>
              <a:t>bodies.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734619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1"/>
            <a:ext cx="10515600" cy="4844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HUNTINGTON DISEASE </a:t>
            </a:r>
          </a:p>
          <a:p>
            <a:r>
              <a:rPr lang="en-US" sz="2400" dirty="0" smtClean="0"/>
              <a:t>Degeneration </a:t>
            </a:r>
            <a:r>
              <a:rPr lang="en-US" sz="2400" dirty="0"/>
              <a:t>of GABAergic neurons in the caudate nucleus of the basal </a:t>
            </a:r>
            <a:r>
              <a:rPr lang="en-US" sz="2400" dirty="0" smtClean="0"/>
              <a:t>ganglia. </a:t>
            </a:r>
            <a:endParaRPr lang="en-US" sz="2400" dirty="0"/>
          </a:p>
          <a:p>
            <a:r>
              <a:rPr lang="en-US" sz="2400" dirty="0" smtClean="0"/>
              <a:t>Autosomal </a:t>
            </a:r>
            <a:r>
              <a:rPr lang="en-US" sz="2400" dirty="0"/>
              <a:t>dominant disorder (chromosome 4) characterized by expanded trinucleotide repeats (CAG) in the </a:t>
            </a:r>
            <a:r>
              <a:rPr lang="en-US" sz="2400" dirty="0" err="1"/>
              <a:t>huntingtin</a:t>
            </a:r>
            <a:r>
              <a:rPr lang="en-US" sz="2400" dirty="0"/>
              <a:t> </a:t>
            </a:r>
            <a:r>
              <a:rPr lang="en-US" sz="2400" dirty="0" smtClean="0"/>
              <a:t>gene.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/>
              <a:t>Presents with chorea that can progress to dementia and depression; average age at presentation is 40 years. </a:t>
            </a:r>
          </a:p>
          <a:p>
            <a:r>
              <a:rPr lang="en-US" sz="2400" dirty="0" smtClean="0"/>
              <a:t>Suicide </a:t>
            </a:r>
            <a:r>
              <a:rPr lang="en-US" sz="2400" dirty="0"/>
              <a:t>is a common cause of </a:t>
            </a:r>
            <a:r>
              <a:rPr lang="en-US" sz="2400" dirty="0" smtClean="0"/>
              <a:t>death.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71668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</a:t>
            </a:r>
            <a:r>
              <a:rPr lang="en-US" b="1" dirty="0" smtClean="0"/>
              <a:t>CNS </a:t>
            </a:r>
            <a:r>
              <a:rPr lang="en-US" b="1" dirty="0"/>
              <a:t>TUMORS </a:t>
            </a:r>
          </a:p>
          <a:p>
            <a:r>
              <a:rPr lang="en-US" dirty="0" smtClean="0"/>
              <a:t>Can </a:t>
            </a:r>
            <a:r>
              <a:rPr lang="en-US" dirty="0"/>
              <a:t>be metastatic (50%) or primary (50%) </a:t>
            </a:r>
          </a:p>
          <a:p>
            <a:r>
              <a:rPr lang="en-US" dirty="0" smtClean="0"/>
              <a:t>Metastatic </a:t>
            </a:r>
            <a:r>
              <a:rPr lang="en-US" dirty="0"/>
              <a:t>tumors characteristically present as multiple, well-circumscribed lesions at the gray-white junction. </a:t>
            </a:r>
          </a:p>
          <a:p>
            <a:r>
              <a:rPr lang="en-US" dirty="0" smtClean="0"/>
              <a:t> </a:t>
            </a:r>
            <a:r>
              <a:rPr lang="en-US" dirty="0"/>
              <a:t>Lung, breast, and kidney are common sources. </a:t>
            </a:r>
          </a:p>
          <a:p>
            <a:r>
              <a:rPr lang="en-US" dirty="0" smtClean="0"/>
              <a:t>Primary </a:t>
            </a:r>
            <a:r>
              <a:rPr lang="en-US" dirty="0"/>
              <a:t>tumors are classified according to cell type of origin (e.g., astrocytes, meningothelial cells, ependymal cells, oligodendrocytes, or neuroectoderm).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adults, primary tumors are usually supratentorial.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common tumors in adults are glioblastoma multiforme, meningioma, and schwannoma.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children, primary tumors are usually infratentorial. </a:t>
            </a:r>
          </a:p>
          <a:p>
            <a:r>
              <a:rPr lang="en-US" dirty="0" smtClean="0"/>
              <a:t>Most </a:t>
            </a:r>
            <a:r>
              <a:rPr lang="en-US" dirty="0"/>
              <a:t>common tumors in children are pilocytic astrocytoma, ependymoma, and </a:t>
            </a:r>
            <a:r>
              <a:rPr lang="en-US" dirty="0" err="1" smtClean="0"/>
              <a:t>medulloblastoma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Primary </a:t>
            </a:r>
            <a:r>
              <a:rPr lang="en-US" dirty="0"/>
              <a:t>malignant CNS tumors are locally destructive, but rarely metastasize.</a:t>
            </a:r>
          </a:p>
        </p:txBody>
      </p:sp>
    </p:spTree>
    <p:extLst>
      <p:ext uri="{BB962C8B-B14F-4D97-AF65-F5344CB8AC3E}">
        <p14:creationId xmlns="" xmlns:p14="http://schemas.microsoft.com/office/powerpoint/2010/main" val="3286306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Robbins and cotrans pathologic basics of disease 10</a:t>
            </a:r>
            <a:r>
              <a:rPr lang="en-US" baseline="30000" dirty="0" smtClean="0"/>
              <a:t>th</a:t>
            </a:r>
            <a:r>
              <a:rPr lang="en-US" dirty="0" smtClean="0"/>
              <a:t> edition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97392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6000" b="1" dirty="0" smtClean="0"/>
              <a:t>                                                     Thank you!!!</a:t>
            </a:r>
            <a:endParaRPr lang="en-US" sz="6000" b="1" dirty="0"/>
          </a:p>
        </p:txBody>
      </p:sp>
    </p:spTree>
    <p:extLst>
      <p:ext uri="{BB962C8B-B14F-4D97-AF65-F5344CB8AC3E}">
        <p14:creationId xmlns="" xmlns:p14="http://schemas.microsoft.com/office/powerpoint/2010/main" val="303099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2154</Words>
  <Application>Microsoft Office PowerPoint</Application>
  <PresentationFormat>Custom</PresentationFormat>
  <Paragraphs>215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Central Nervous System Pathology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References</vt:lpstr>
      <vt:lpstr>Slide 38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user</cp:lastModifiedBy>
  <cp:revision>52</cp:revision>
  <dcterms:created xsi:type="dcterms:W3CDTF">2022-11-16T11:34:17Z</dcterms:created>
  <dcterms:modified xsi:type="dcterms:W3CDTF">2023-11-04T11:04:54Z</dcterms:modified>
</cp:coreProperties>
</file>