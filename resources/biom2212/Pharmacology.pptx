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49"/>
  </p:notesMasterIdLst>
  <p:sldIdLst>
    <p:sldId id="273" r:id="rId5"/>
    <p:sldId id="289" r:id="rId6"/>
    <p:sldId id="713" r:id="rId7"/>
    <p:sldId id="721" r:id="rId8"/>
    <p:sldId id="714" r:id="rId9"/>
    <p:sldId id="715" r:id="rId10"/>
    <p:sldId id="723" r:id="rId11"/>
    <p:sldId id="716" r:id="rId12"/>
    <p:sldId id="717" r:id="rId13"/>
    <p:sldId id="718" r:id="rId14"/>
    <p:sldId id="719" r:id="rId15"/>
    <p:sldId id="337" r:id="rId16"/>
    <p:sldId id="338" r:id="rId17"/>
    <p:sldId id="339" r:id="rId18"/>
    <p:sldId id="342" r:id="rId19"/>
    <p:sldId id="343" r:id="rId20"/>
    <p:sldId id="344" r:id="rId21"/>
    <p:sldId id="345" r:id="rId22"/>
    <p:sldId id="346" r:id="rId23"/>
    <p:sldId id="347" r:id="rId24"/>
    <p:sldId id="348" r:id="rId25"/>
    <p:sldId id="349" r:id="rId26"/>
    <p:sldId id="350" r:id="rId27"/>
    <p:sldId id="351" r:id="rId28"/>
    <p:sldId id="352" r:id="rId29"/>
    <p:sldId id="353" r:id="rId30"/>
    <p:sldId id="354" r:id="rId31"/>
    <p:sldId id="355" r:id="rId32"/>
    <p:sldId id="724" r:id="rId33"/>
    <p:sldId id="726" r:id="rId34"/>
    <p:sldId id="727" r:id="rId35"/>
    <p:sldId id="730" r:id="rId36"/>
    <p:sldId id="356" r:id="rId37"/>
    <p:sldId id="357" r:id="rId38"/>
    <p:sldId id="358" r:id="rId39"/>
    <p:sldId id="729" r:id="rId40"/>
    <p:sldId id="722" r:id="rId41"/>
    <p:sldId id="360" r:id="rId42"/>
    <p:sldId id="361" r:id="rId43"/>
    <p:sldId id="362" r:id="rId44"/>
    <p:sldId id="363" r:id="rId45"/>
    <p:sldId id="364" r:id="rId46"/>
    <p:sldId id="365" r:id="rId47"/>
    <p:sldId id="377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2474" autoAdjust="0"/>
  </p:normalViewPr>
  <p:slideViewPr>
    <p:cSldViewPr snapToGrid="0">
      <p:cViewPr varScale="1">
        <p:scale>
          <a:sx n="47" d="100"/>
          <a:sy n="47" d="100"/>
        </p:scale>
        <p:origin x="94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2F2EC2-59FF-4C51-A463-33BD6110CA98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D3ADBD-4EB1-489C-8DBB-54FBE7780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612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AD5CDB39-06AC-45B0-B583-FE015B37D3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90DC9D4-9C58-47CB-9B47-81BF92BFF71C}" type="slidenum">
              <a:rPr lang="en-US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US" dirty="0"/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D9EFDC57-07B9-478C-8138-2B8E7C1F6A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0EFC10F8-4EC0-4F57-A154-86D890D874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PT</a:t>
            </a:r>
            <a:r>
              <a:rPr lang="en-US" dirty="0"/>
              <a:t>(60% of elect </a:t>
            </a:r>
            <a:r>
              <a:rPr lang="en-US" dirty="0" err="1"/>
              <a:t>reab</a:t>
            </a:r>
            <a:r>
              <a:rPr lang="en-US" dirty="0"/>
              <a:t>, </a:t>
            </a:r>
            <a:r>
              <a:rPr lang="en-US" b="1" i="1" dirty="0"/>
              <a:t>95% Hco3 </a:t>
            </a:r>
            <a:r>
              <a:rPr lang="en-US" dirty="0" err="1"/>
              <a:t>reab</a:t>
            </a:r>
            <a:r>
              <a:rPr lang="en-US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LOH</a:t>
            </a:r>
            <a:r>
              <a:rPr lang="en-US" dirty="0"/>
              <a:t>(25% Na </a:t>
            </a:r>
            <a:r>
              <a:rPr lang="en-US" dirty="0" err="1"/>
              <a:t>reab</a:t>
            </a:r>
            <a:r>
              <a:rPr lang="en-US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DT</a:t>
            </a:r>
            <a:r>
              <a:rPr lang="en-US" dirty="0"/>
              <a:t>(10% Na </a:t>
            </a:r>
            <a:r>
              <a:rPr lang="en-US" dirty="0" err="1"/>
              <a:t>reab</a:t>
            </a:r>
            <a:r>
              <a:rPr lang="en-US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CT</a:t>
            </a:r>
            <a:r>
              <a:rPr lang="en-US" dirty="0"/>
              <a:t>(5% Na </a:t>
            </a:r>
            <a:r>
              <a:rPr lang="en-US" dirty="0" err="1"/>
              <a:t>reab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D3ADBD-4EB1-489C-8DBB-54FBE778003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2187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NaCl cotransport at DT, increases </a:t>
            </a:r>
            <a:r>
              <a:rPr lang="en-US" dirty="0" err="1"/>
              <a:t>na</a:t>
            </a:r>
            <a:r>
              <a:rPr lang="en-US" dirty="0"/>
              <a:t> &amp; cl </a:t>
            </a:r>
            <a:r>
              <a:rPr lang="en-US" dirty="0" err="1"/>
              <a:t>reab</a:t>
            </a:r>
            <a:r>
              <a:rPr lang="en-US" dirty="0"/>
              <a:t> into interstitial cells then at the basal area sends </a:t>
            </a:r>
            <a:r>
              <a:rPr lang="en-US" dirty="0" err="1"/>
              <a:t>na</a:t>
            </a:r>
            <a:r>
              <a:rPr lang="en-US" dirty="0"/>
              <a:t> to circulation in exchange for K( via Na/K ATPase)….this will lead to increase Na in interstitial cell </a:t>
            </a:r>
            <a:r>
              <a:rPr lang="en-US" dirty="0" err="1"/>
              <a:t>bc</a:t>
            </a:r>
            <a:r>
              <a:rPr lang="en-US" dirty="0"/>
              <a:t> Na enters to it from lumen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Thiazides block NaCl channel thus </a:t>
            </a:r>
            <a:r>
              <a:rPr lang="en-US" b="1" dirty="0"/>
              <a:t>decrease Na in the interstitial cells(low IC Na) </a:t>
            </a:r>
            <a:r>
              <a:rPr lang="en-US" dirty="0"/>
              <a:t>leads to stimulation of </a:t>
            </a:r>
            <a:r>
              <a:rPr lang="en-US" b="1" dirty="0"/>
              <a:t>Ca/Na exchanger </a:t>
            </a:r>
            <a:r>
              <a:rPr lang="en-US" b="0" dirty="0"/>
              <a:t>which increase Na entry from circulation to interstitial cells (to increase IC Na) in </a:t>
            </a:r>
            <a:r>
              <a:rPr lang="en-US" b="1" dirty="0"/>
              <a:t>exchange for Ca </a:t>
            </a:r>
            <a:r>
              <a:rPr lang="en-US" b="0" dirty="0"/>
              <a:t>from lumen thus, Ca enters to circulation(</a:t>
            </a:r>
            <a:r>
              <a:rPr lang="en-US" b="1" dirty="0"/>
              <a:t>Hypercalcemia).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D3ADBD-4EB1-489C-8DBB-54FBE778003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004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Nakcl</a:t>
            </a:r>
            <a:r>
              <a:rPr lang="en-US" dirty="0"/>
              <a:t>- symport- </a:t>
            </a:r>
            <a:r>
              <a:rPr lang="en-US" dirty="0" err="1"/>
              <a:t>inc</a:t>
            </a:r>
            <a:r>
              <a:rPr lang="en-US" dirty="0"/>
              <a:t> </a:t>
            </a:r>
            <a:r>
              <a:rPr lang="en-US" dirty="0" err="1"/>
              <a:t>reab</a:t>
            </a:r>
            <a:r>
              <a:rPr lang="en-US" dirty="0"/>
              <a:t> of </a:t>
            </a:r>
            <a:r>
              <a:rPr lang="en-US" dirty="0" err="1"/>
              <a:t>na,k</a:t>
            </a:r>
            <a:r>
              <a:rPr lang="en-US" dirty="0"/>
              <a:t> &amp; 2cl- then k return back to lumen making </a:t>
            </a:r>
            <a:r>
              <a:rPr lang="en-US" b="1" dirty="0"/>
              <a:t>net positive ion in lumen </a:t>
            </a:r>
            <a:r>
              <a:rPr lang="en-US" dirty="0"/>
              <a:t>and then to lower lumen positivity ca2+ is </a:t>
            </a:r>
            <a:r>
              <a:rPr lang="en-US" dirty="0" err="1"/>
              <a:t>reab</a:t>
            </a:r>
            <a:r>
              <a:rPr lang="en-US" dirty="0"/>
              <a:t> thus decrease </a:t>
            </a:r>
            <a:r>
              <a:rPr lang="en-US" dirty="0" err="1"/>
              <a:t>exc</a:t>
            </a:r>
            <a:r>
              <a:rPr lang="en-US" dirty="0"/>
              <a:t> of ca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BUT LOOP diuretics block this process and </a:t>
            </a:r>
            <a:r>
              <a:rPr lang="en-US" b="1" dirty="0"/>
              <a:t>no net positive </a:t>
            </a:r>
            <a:r>
              <a:rPr lang="en-US" dirty="0"/>
              <a:t>in lumen thus</a:t>
            </a:r>
            <a:r>
              <a:rPr lang="en-US" b="1" dirty="0"/>
              <a:t> </a:t>
            </a:r>
            <a:r>
              <a:rPr lang="en-US" b="1" dirty="0" err="1"/>
              <a:t>inc</a:t>
            </a:r>
            <a:r>
              <a:rPr lang="en-US" b="1" dirty="0"/>
              <a:t> </a:t>
            </a:r>
            <a:r>
              <a:rPr lang="en-US" b="1" dirty="0" err="1"/>
              <a:t>exc</a:t>
            </a:r>
            <a:r>
              <a:rPr lang="en-US" b="1" dirty="0"/>
              <a:t> of Ca</a:t>
            </a:r>
            <a:r>
              <a:rPr lang="en-US" dirty="0"/>
              <a:t> leads to </a:t>
            </a:r>
            <a:r>
              <a:rPr lang="en-US" b="1" i="1" dirty="0"/>
              <a:t>Hypocalcemia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D3ADBD-4EB1-489C-8DBB-54FBE778003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28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5F6368"/>
                </a:solidFill>
                <a:effectLst/>
                <a:latin typeface="Roboto" panose="02000000000000000000" pitchFamily="2" charset="0"/>
              </a:rPr>
              <a:t>acidosis causes potassium to move from cells to extracellular fluid (plasma) in</a:t>
            </a:r>
            <a:r>
              <a:rPr lang="en-US" b="0" i="0" dirty="0">
                <a:solidFill>
                  <a:srgbClr val="4D5156"/>
                </a:solidFill>
                <a:effectLst/>
                <a:latin typeface="Roboto" panose="02000000000000000000" pitchFamily="2" charset="0"/>
              </a:rPr>
              <a:t> exchange for hydrogen </a:t>
            </a:r>
            <a:r>
              <a:rPr lang="en-US" b="0" i="0" dirty="0">
                <a:solidFill>
                  <a:srgbClr val="607078"/>
                </a:solidFill>
                <a:effectLst/>
                <a:latin typeface="Verdana" panose="020B0604030504040204" pitchFamily="34" charset="0"/>
              </a:rPr>
              <a:t> 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D3ADBD-4EB1-489C-8DBB-54FBE778003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268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D3ADBD-4EB1-489C-8DBB-54FBE778003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452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662CF-17F4-40B0-BA7A-5526DC1294C2}" type="datetime1">
              <a:rPr lang="en-US" smtClean="0"/>
              <a:t>11/29/2023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586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15446-C179-40E2-ABC3-ADE852E93036}" type="datetime1">
              <a:rPr lang="en-US" smtClean="0"/>
              <a:t>11/29/2023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906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BD612-D07B-4AF6-8A8D-1C66489D01C7}" type="datetime1">
              <a:rPr lang="en-US" smtClean="0"/>
              <a:t>11/29/2023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224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44149-1E12-4589-812B-52FE489F32B8}" type="datetime1">
              <a:rPr lang="en-US" smtClean="0"/>
              <a:t>11/29/2023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84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E75AF-7011-408E-9F60-A40840828CA7}" type="datetime1">
              <a:rPr lang="en-US" smtClean="0"/>
              <a:t>11/29/2023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556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F4525-6229-49BA-8EF5-7CEFE5C01432}" type="datetime1">
              <a:rPr lang="en-US" smtClean="0"/>
              <a:t>11/29/2023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461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9FA37-5978-401C-AD82-84DA9C866E7E}" type="datetime1">
              <a:rPr lang="en-US" smtClean="0"/>
              <a:t>11/29/2023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599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4321A961-EF2B-426F-B041-6BD9F4A43B68}" type="datetime1">
              <a:rPr lang="en-US" smtClean="0"/>
              <a:t>11/29/2023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986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0856D-60F6-439C-B703-DFF12423FCFD}" type="datetime1">
              <a:rPr lang="en-US" smtClean="0"/>
              <a:t>11/29/2023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051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FDABA9D-652D-40A3-B1DB-8F3585CAF772}" type="datetime1">
              <a:rPr lang="en-US" smtClean="0"/>
              <a:t>11/29/2023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00824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42D4960A-896E-4F6B-BF65-B4662AC9D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6" name="Picture 5" descr="pipette dripping into a petri dish">
            <a:extLst>
              <a:ext uri="{FF2B5EF4-FFF2-40B4-BE49-F238E27FC236}">
                <a16:creationId xmlns:a16="http://schemas.microsoft.com/office/drawing/2014/main" id="{AD5EFA86-59D3-41A9-819E-C704FF32C5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302" y="457200"/>
            <a:ext cx="7588885" cy="589965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5684944A-8803-462C-84C5-4576C56A7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9870" y="457199"/>
            <a:ext cx="3618827" cy="482246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9870" y="850791"/>
            <a:ext cx="3618827" cy="4198288"/>
          </a:xfrm>
        </p:spPr>
        <p:txBody>
          <a:bodyPr anchor="ctr">
            <a:normAutofit/>
          </a:bodyPr>
          <a:lstStyle/>
          <a:p>
            <a:br>
              <a:rPr lang="en-US" sz="3600" cap="none" dirty="0">
                <a:solidFill>
                  <a:srgbClr val="FFFFFF"/>
                </a:solidFill>
              </a:rPr>
            </a:br>
            <a:br>
              <a:rPr lang="en-US" sz="3600" cap="none" dirty="0">
                <a:solidFill>
                  <a:srgbClr val="FFFFFF"/>
                </a:solidFill>
              </a:rPr>
            </a:br>
            <a:br>
              <a:rPr lang="en-US" sz="3600" cap="none" dirty="0">
                <a:solidFill>
                  <a:srgbClr val="FFFFFF"/>
                </a:solidFill>
              </a:rPr>
            </a:br>
            <a:br>
              <a:rPr lang="en-US" sz="3600" cap="none" dirty="0">
                <a:solidFill>
                  <a:srgbClr val="FFFFFF"/>
                </a:solidFill>
              </a:rPr>
            </a:br>
            <a:br>
              <a:rPr lang="en-US" sz="3600" cap="none" dirty="0">
                <a:solidFill>
                  <a:srgbClr val="FFFFFF"/>
                </a:solidFill>
              </a:rPr>
            </a:br>
            <a:br>
              <a:rPr lang="en-US" sz="3600" cap="none" dirty="0">
                <a:solidFill>
                  <a:srgbClr val="FFFFFF"/>
                </a:solidFill>
              </a:rPr>
            </a:br>
            <a:r>
              <a:rPr lang="en-US" cap="none" dirty="0">
                <a:solidFill>
                  <a:srgbClr val="FFFFFF"/>
                </a:solidFill>
              </a:rPr>
              <a:t>Dr. Anteneh k</a:t>
            </a:r>
            <a:endParaRPr lang="en-US" sz="3600" cap="none" dirty="0">
              <a:solidFill>
                <a:srgbClr val="FFFFFF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07F3B49-8C20-42F5-831D-59306D05F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9870" y="5367338"/>
            <a:ext cx="3618828" cy="9895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72723" y="5545331"/>
            <a:ext cx="3202016" cy="649222"/>
          </a:xfrm>
          <a:noFill/>
        </p:spPr>
        <p:txBody>
          <a:bodyPr anchor="ctr">
            <a:normAutofit/>
          </a:bodyPr>
          <a:lstStyle/>
          <a:p>
            <a:r>
              <a:rPr lang="en-US" sz="2400" cap="none">
                <a:solidFill>
                  <a:srgbClr val="FFFFFF"/>
                </a:solidFill>
              </a:rPr>
              <a:t>Nov </a:t>
            </a:r>
            <a:r>
              <a:rPr lang="en-US" sz="2400" cap="none" dirty="0">
                <a:solidFill>
                  <a:srgbClr val="FFFFFF"/>
                </a:solidFill>
              </a:rPr>
              <a:t>2023</a:t>
            </a:r>
            <a:endParaRPr lang="en-US" sz="2400" dirty="0">
              <a:solidFill>
                <a:srgbClr val="FFFFFF">
                  <a:alpha val="75000"/>
                </a:srgb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C02B1-B45A-4E97-BFFC-238551A3C842}"/>
              </a:ext>
            </a:extLst>
          </p:cNvPr>
          <p:cNvSpPr txBox="1"/>
          <p:nvPr/>
        </p:nvSpPr>
        <p:spPr>
          <a:xfrm>
            <a:off x="557048" y="2259725"/>
            <a:ext cx="71095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effectLst>
                  <a:outerShdw blurRad="38100" dist="38100" dir="2700000" algn="tl">
                    <a:srgbClr val="808080"/>
                  </a:outerShdw>
                </a:effectLst>
              </a:rPr>
              <a:t>CARDIOVASCULAR &amp; RENAL DRUGS</a:t>
            </a:r>
            <a:endParaRPr lang="en-US" sz="5400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1DA5DE-5E3D-45F9-BF91-4616D199FF08}"/>
              </a:ext>
            </a:extLst>
          </p:cNvPr>
          <p:cNvSpPr txBox="1"/>
          <p:nvPr/>
        </p:nvSpPr>
        <p:spPr>
          <a:xfrm>
            <a:off x="8413272" y="763119"/>
            <a:ext cx="30320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Chapter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C080F-8F2E-4948-A452-10DB26424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003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A771E-CCF5-40FB-B97B-03DFE8EC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CVS and Renal drugs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6DC49-9004-4BE5-9029-CF9009012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289328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entury" panose="02040604050505020304" pitchFamily="18" charset="0"/>
              </a:rPr>
              <a:t>1.Anti-Hypertensive agents</a:t>
            </a:r>
          </a:p>
          <a:p>
            <a:r>
              <a:rPr lang="en-US" sz="2400" dirty="0">
                <a:latin typeface="Century" panose="02040604050505020304" pitchFamily="18" charset="0"/>
              </a:rPr>
              <a:t>2.Drugs for Heart failure</a:t>
            </a:r>
          </a:p>
          <a:p>
            <a:r>
              <a:rPr lang="en-US" sz="2400" dirty="0">
                <a:latin typeface="Century" panose="02040604050505020304" pitchFamily="18" charset="0"/>
              </a:rPr>
              <a:t>3.Anti-anginal agents</a:t>
            </a:r>
          </a:p>
          <a:p>
            <a:r>
              <a:rPr lang="en-US" sz="2400" dirty="0">
                <a:latin typeface="Century" panose="02040604050505020304" pitchFamily="18" charset="0"/>
              </a:rPr>
              <a:t>4.Anti-arrhythmic drugs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348D4-84A4-4D46-A4F3-0BAD38D2D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408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42521FFC-3AD2-4D00-A74D-1DE2909F2F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81192" y="702156"/>
            <a:ext cx="11029616" cy="685210"/>
          </a:xfrm>
        </p:spPr>
        <p:txBody>
          <a:bodyPr>
            <a:normAutofit/>
          </a:bodyPr>
          <a:lstStyle/>
          <a:p>
            <a:r>
              <a:rPr lang="en-US" altLang="en-US" sz="3200" dirty="0">
                <a:solidFill>
                  <a:schemeClr val="accent5"/>
                </a:solidFill>
              </a:rPr>
              <a:t>Diuretics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DC0F9ED3-491F-4F75-9486-2B55B2320E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81200" y="1882076"/>
            <a:ext cx="8229600" cy="4906963"/>
          </a:xfrm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r>
              <a:rPr lang="en-US" altLang="en-US" sz="2400" dirty="0">
                <a:solidFill>
                  <a:schemeClr val="tx1"/>
                </a:solidFill>
              </a:rPr>
              <a:t>Diuretics are drugs which increase renal excretion of salt and water: are principally used to remove excessive extracellular fluid from the body</a:t>
            </a:r>
          </a:p>
          <a:p>
            <a:pPr>
              <a:buFontTx/>
              <a:buNone/>
            </a:pPr>
            <a:endParaRPr lang="en-US" altLang="en-US" sz="2400" dirty="0">
              <a:solidFill>
                <a:schemeClr val="tx1"/>
              </a:solidFill>
            </a:endParaRPr>
          </a:p>
          <a:p>
            <a:r>
              <a:rPr lang="en-US" altLang="en-US" sz="2400" dirty="0">
                <a:solidFill>
                  <a:schemeClr val="tx1"/>
                </a:solidFill>
              </a:rPr>
              <a:t>Three mechanism involved in urine formation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Glomerular filtration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Tubular reabsorption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Tubular secretion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tx1"/>
                </a:solidFill>
              </a:rPr>
              <a:t>These processes maintain fluid volume, electrolyte concentration &amp; pH of body fluid</a:t>
            </a:r>
          </a:p>
          <a:p>
            <a:pPr lvl="1"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	</a:t>
            </a:r>
          </a:p>
          <a:p>
            <a:endParaRPr lang="en-US" altLang="en-US" sz="2400" dirty="0">
              <a:solidFill>
                <a:schemeClr val="tx1"/>
              </a:solidFill>
            </a:endParaRPr>
          </a:p>
        </p:txBody>
      </p:sp>
      <p:sp>
        <p:nvSpPr>
          <p:cNvPr id="93188" name="Rectangle 6">
            <a:extLst>
              <a:ext uri="{FF2B5EF4-FFF2-40B4-BE49-F238E27FC236}">
                <a16:creationId xmlns:a16="http://schemas.microsoft.com/office/drawing/2014/main" id="{0FAFD043-9318-4421-B600-54F5E21640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46379A4-6587-4B23-8D4A-F339DC453659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257FA-17C3-4A5B-B4BC-94978201B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FB605C6-383F-4AD2-9D6F-181CA7DE54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0518" t="10810" r="20520" b="10159"/>
          <a:stretch/>
        </p:blipFill>
        <p:spPr>
          <a:xfrm>
            <a:off x="2251619" y="183059"/>
            <a:ext cx="8219089" cy="649188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80F0345-F247-4B8D-BFF3-FBFE0927F639}"/>
              </a:ext>
            </a:extLst>
          </p:cNvPr>
          <p:cNvSpPr/>
          <p:nvPr/>
        </p:nvSpPr>
        <p:spPr>
          <a:xfrm rot="5400000">
            <a:off x="-2237126" y="3365836"/>
            <a:ext cx="6491885" cy="49244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600" b="0" cap="none" spc="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Nephron and site of actions of diuretics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EBC5A5-FAF5-4898-B437-E0689ACCD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B3DB154-399E-85B2-12E2-5CEDB739C059}"/>
              </a:ext>
            </a:extLst>
          </p:cNvPr>
          <p:cNvSpPr/>
          <p:nvPr/>
        </p:nvSpPr>
        <p:spPr>
          <a:xfrm>
            <a:off x="2275491" y="275423"/>
            <a:ext cx="1122113" cy="58011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58FF27B-FB58-A13C-B285-5DEAA604C4B2}"/>
              </a:ext>
            </a:extLst>
          </p:cNvPr>
          <p:cNvSpPr/>
          <p:nvPr/>
        </p:nvSpPr>
        <p:spPr>
          <a:xfrm>
            <a:off x="5403819" y="5732555"/>
            <a:ext cx="1005700" cy="58011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FD15B-C2A1-A0EE-185F-3CF04CF04135}"/>
              </a:ext>
            </a:extLst>
          </p:cNvPr>
          <p:cNvSpPr/>
          <p:nvPr/>
        </p:nvSpPr>
        <p:spPr>
          <a:xfrm>
            <a:off x="9508804" y="2179614"/>
            <a:ext cx="1005700" cy="58011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E3A1EF4-36D4-1826-9F7D-313EAFD2E38D}"/>
              </a:ext>
            </a:extLst>
          </p:cNvPr>
          <p:cNvSpPr/>
          <p:nvPr/>
        </p:nvSpPr>
        <p:spPr>
          <a:xfrm>
            <a:off x="8641994" y="137767"/>
            <a:ext cx="1274515" cy="717765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84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4">
            <a:extLst>
              <a:ext uri="{FF2B5EF4-FFF2-40B4-BE49-F238E27FC236}">
                <a16:creationId xmlns:a16="http://schemas.microsoft.com/office/drawing/2014/main" id="{D2445CB7-EC4B-4B05-BF9A-9D3F503D23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639762"/>
          </a:xfrm>
          <a:noFill/>
        </p:spPr>
        <p:txBody>
          <a:bodyPr/>
          <a:lstStyle/>
          <a:p>
            <a:pPr algn="r"/>
            <a:r>
              <a:rPr lang="en-US" altLang="en-US" dirty="0">
                <a:solidFill>
                  <a:schemeClr val="tx1"/>
                </a:solidFill>
              </a:rPr>
              <a:t>Diuretics cont’d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ECAA1CEE-7A2C-44F2-9DB8-D26A68FDCD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5324" y="998483"/>
            <a:ext cx="9322676" cy="5356281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609600" indent="-609600">
              <a:buNone/>
            </a:pPr>
            <a:r>
              <a:rPr lang="en-US" altLang="en-US" sz="2400" b="1" dirty="0">
                <a:solidFill>
                  <a:schemeClr val="tx1"/>
                </a:solidFill>
              </a:rPr>
              <a:t>Classification of diuretics</a:t>
            </a:r>
          </a:p>
          <a:p>
            <a:pPr marL="609600" indent="-609600"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Most diuretics therapeutically act by interfering</a:t>
            </a:r>
          </a:p>
          <a:p>
            <a:pPr marL="609600" indent="-609600"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with sodium reabsorption of the tubule</a:t>
            </a:r>
          </a:p>
          <a:p>
            <a:pPr marL="609600" indent="-609600">
              <a:buFontTx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</a:rPr>
              <a:t>Thiazide diuretics: hydrochlorothiazide, chlorthalidone </a:t>
            </a:r>
            <a:r>
              <a:rPr lang="en-US" altLang="en-US" sz="2400" dirty="0" err="1">
                <a:solidFill>
                  <a:schemeClr val="tx1"/>
                </a:solidFill>
              </a:rPr>
              <a:t>etc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marL="609600" indent="-609600">
              <a:buFontTx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</a:rPr>
              <a:t>Loop diuretics: e.g. frusemide, ethacrynic acid, </a:t>
            </a:r>
            <a:r>
              <a:rPr lang="en-US" altLang="en-US" sz="2400" dirty="0" err="1">
                <a:solidFill>
                  <a:schemeClr val="tx1"/>
                </a:solidFill>
              </a:rPr>
              <a:t>etc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marL="609600" indent="-609600">
              <a:buFontTx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</a:rPr>
              <a:t>Potassium sparing diuretics or aldosterone blockers: e.g. triamterene, amiloride, spironolactone, </a:t>
            </a:r>
            <a:r>
              <a:rPr lang="en-US" altLang="en-US" sz="2400" dirty="0" err="1">
                <a:solidFill>
                  <a:schemeClr val="tx1"/>
                </a:solidFill>
              </a:rPr>
              <a:t>etc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marL="609600" indent="-609600">
              <a:buFontTx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</a:rPr>
              <a:t>Carbonic anhydrase inhibitors: e.g. acetazolamide</a:t>
            </a:r>
          </a:p>
          <a:p>
            <a:pPr marL="609600" indent="-609600">
              <a:buFontTx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</a:rPr>
              <a:t>Osmotic diuretics: e.g. mannitol, glycerol</a:t>
            </a:r>
          </a:p>
        </p:txBody>
      </p:sp>
      <p:sp>
        <p:nvSpPr>
          <p:cNvPr id="96260" name="Rectangle 6">
            <a:extLst>
              <a:ext uri="{FF2B5EF4-FFF2-40B4-BE49-F238E27FC236}">
                <a16:creationId xmlns:a16="http://schemas.microsoft.com/office/drawing/2014/main" id="{27A038BC-D05E-4B59-9137-BF50DCD70C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40A11D5-9DFA-4554-8833-5D9E2D6FD3CC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4">
            <a:extLst>
              <a:ext uri="{FF2B5EF4-FFF2-40B4-BE49-F238E27FC236}">
                <a16:creationId xmlns:a16="http://schemas.microsoft.com/office/drawing/2014/main" id="{A0F11D0E-6AAF-4972-8681-594184CA46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563562"/>
          </a:xfrm>
          <a:noFill/>
        </p:spPr>
        <p:txBody>
          <a:bodyPr/>
          <a:lstStyle/>
          <a:p>
            <a:pPr algn="r"/>
            <a:r>
              <a:rPr lang="en-US" altLang="en-US">
                <a:solidFill>
                  <a:schemeClr val="tx1"/>
                </a:solidFill>
              </a:rPr>
              <a:t>Diuretics cont’d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06471253-A42C-4AA4-9BCF-4A8AED83CA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34510" y="1040525"/>
            <a:ext cx="8676290" cy="5085640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609600" indent="-609600">
              <a:buFontTx/>
              <a:buAutoNum type="arabicPeriod"/>
            </a:pPr>
            <a:r>
              <a:rPr lang="en-US" altLang="en-US" sz="2600" b="1" dirty="0">
                <a:solidFill>
                  <a:schemeClr val="accent5"/>
                </a:solidFill>
              </a:rPr>
              <a:t>Thiazide diuretics</a:t>
            </a:r>
            <a:r>
              <a:rPr lang="en-US" altLang="en-US" sz="2600" dirty="0">
                <a:solidFill>
                  <a:schemeClr val="tx1"/>
                </a:solidFill>
              </a:rPr>
              <a:t> (</a:t>
            </a:r>
            <a:r>
              <a:rPr lang="en-US" altLang="en-US" sz="2600" dirty="0" err="1">
                <a:solidFill>
                  <a:schemeClr val="tx1"/>
                </a:solidFill>
              </a:rPr>
              <a:t>E.g</a:t>
            </a:r>
            <a:r>
              <a:rPr lang="en-US" altLang="en-US" sz="2600" dirty="0">
                <a:solidFill>
                  <a:schemeClr val="tx1"/>
                </a:solidFill>
              </a:rPr>
              <a:t> hydrochlorothiazide)</a:t>
            </a:r>
          </a:p>
          <a:p>
            <a:pPr marL="609600" indent="-609600">
              <a:buFontTx/>
              <a:buAutoNum type="arabicPeriod"/>
            </a:pPr>
            <a:endParaRPr lang="en-US" altLang="en-US" sz="2600" dirty="0">
              <a:solidFill>
                <a:schemeClr val="tx1"/>
              </a:solidFill>
            </a:endParaRPr>
          </a:p>
          <a:p>
            <a:pPr marL="609600" indent="-609600"/>
            <a:r>
              <a:rPr lang="en-US" altLang="en-US" sz="2400" dirty="0">
                <a:solidFill>
                  <a:schemeClr val="tx1"/>
                </a:solidFill>
              </a:rPr>
              <a:t>Inhibit NaCl symport at distal convoluted tubule</a:t>
            </a:r>
          </a:p>
          <a:p>
            <a:pPr marL="609600" indent="-609600"/>
            <a:r>
              <a:rPr lang="en-US" altLang="en-US" sz="2400" dirty="0">
                <a:solidFill>
                  <a:schemeClr val="tx1"/>
                </a:solidFill>
              </a:rPr>
              <a:t>Mainly used in hypertension treatment</a:t>
            </a:r>
          </a:p>
          <a:p>
            <a:pPr marL="609600" indent="-609600"/>
            <a:r>
              <a:rPr lang="en-US" altLang="en-US" sz="2400" dirty="0">
                <a:solidFill>
                  <a:schemeClr val="tx1"/>
                </a:solidFill>
              </a:rPr>
              <a:t>Adverse effect: epigastric distress, nausea, vomiting, weakness, fatigue, dizziness, impotence, jaundice, skin rash, </a:t>
            </a:r>
            <a:r>
              <a:rPr lang="en-US" altLang="en-US" sz="2400" b="1" i="1" dirty="0">
                <a:solidFill>
                  <a:schemeClr val="tx1"/>
                </a:solidFill>
              </a:rPr>
              <a:t>Hyponatremia, hypokalemia</a:t>
            </a:r>
            <a:r>
              <a:rPr lang="en-US" altLang="en-US" sz="2400" dirty="0">
                <a:solidFill>
                  <a:schemeClr val="tx1"/>
                </a:solidFill>
              </a:rPr>
              <a:t>, </a:t>
            </a:r>
            <a:r>
              <a:rPr lang="en-US" altLang="en-US" sz="2400" b="1" dirty="0">
                <a:solidFill>
                  <a:schemeClr val="tx1"/>
                </a:solidFill>
              </a:rPr>
              <a:t>hypercalcemia</a:t>
            </a:r>
            <a:r>
              <a:rPr lang="en-US" altLang="en-US" sz="2400" dirty="0">
                <a:solidFill>
                  <a:schemeClr val="tx1"/>
                </a:solidFill>
              </a:rPr>
              <a:t>, hyperuricemia, hyperglycemia and visual disturbance </a:t>
            </a:r>
          </a:p>
        </p:txBody>
      </p:sp>
      <p:sp>
        <p:nvSpPr>
          <p:cNvPr id="97284" name="Rectangle 6">
            <a:extLst>
              <a:ext uri="{FF2B5EF4-FFF2-40B4-BE49-F238E27FC236}">
                <a16:creationId xmlns:a16="http://schemas.microsoft.com/office/drawing/2014/main" id="{A7A77669-D7D0-45AC-A3B4-D9950C86E8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488AB52-CE7C-42AA-B756-36636C007416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EA011-11D3-7D65-3B52-198D27DAD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E857C-8734-9347-18A4-369642DD5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31E6C-8638-385D-9E02-1B8F113DC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3E3D59-2789-10F1-CB6A-CF3D64DF89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90" t="24676" r="34163" b="6330"/>
          <a:stretch/>
        </p:blipFill>
        <p:spPr>
          <a:xfrm>
            <a:off x="1201003" y="882650"/>
            <a:ext cx="7767822" cy="554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323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4">
            <a:extLst>
              <a:ext uri="{FF2B5EF4-FFF2-40B4-BE49-F238E27FC236}">
                <a16:creationId xmlns:a16="http://schemas.microsoft.com/office/drawing/2014/main" id="{5575F6CE-1FDD-4596-8EC6-7A0B533FAD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563562"/>
          </a:xfrm>
          <a:noFill/>
        </p:spPr>
        <p:txBody>
          <a:bodyPr/>
          <a:lstStyle/>
          <a:p>
            <a:pPr algn="r"/>
            <a:r>
              <a:rPr lang="en-US" altLang="en-US">
                <a:solidFill>
                  <a:schemeClr val="tx1"/>
                </a:solidFill>
              </a:rPr>
              <a:t>Diuretics cont’d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E0EB78E9-1142-4133-8BC6-F749BDB303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0664" y="990600"/>
            <a:ext cx="10954512" cy="5638800"/>
          </a:xfrm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609600" indent="-609600">
              <a:buFontTx/>
              <a:buAutoNum type="arabicPeriod" startAt="2"/>
            </a:pPr>
            <a:r>
              <a:rPr lang="en-US" altLang="en-US" sz="2800" b="1" dirty="0">
                <a:solidFill>
                  <a:schemeClr val="accent5"/>
                </a:solidFill>
              </a:rPr>
              <a:t>Loop diuretics (</a:t>
            </a:r>
            <a:r>
              <a:rPr lang="en-US" altLang="en-US" sz="2800" dirty="0">
                <a:solidFill>
                  <a:schemeClr val="tx1"/>
                </a:solidFill>
              </a:rPr>
              <a:t>E.g. frusemide</a:t>
            </a:r>
            <a:r>
              <a:rPr lang="en-US" altLang="en-US" sz="2800" b="1" dirty="0">
                <a:solidFill>
                  <a:schemeClr val="accent5"/>
                </a:solidFill>
              </a:rPr>
              <a:t>)</a:t>
            </a:r>
          </a:p>
          <a:p>
            <a:pPr marL="609600" indent="-609600"/>
            <a:r>
              <a:rPr lang="en-US" altLang="en-US" sz="2400" dirty="0">
                <a:solidFill>
                  <a:schemeClr val="tx1"/>
                </a:solidFill>
              </a:rPr>
              <a:t>Inhibit Na</a:t>
            </a:r>
            <a:r>
              <a:rPr lang="en-US" altLang="en-US" sz="2400" baseline="30000" dirty="0">
                <a:solidFill>
                  <a:schemeClr val="tx1"/>
                </a:solidFill>
              </a:rPr>
              <a:t>+</a:t>
            </a:r>
            <a:r>
              <a:rPr lang="en-US" altLang="en-US" sz="2400" dirty="0">
                <a:solidFill>
                  <a:schemeClr val="tx1"/>
                </a:solidFill>
              </a:rPr>
              <a:t>-k</a:t>
            </a:r>
            <a:r>
              <a:rPr lang="en-US" altLang="en-US" sz="2400" baseline="30000" dirty="0">
                <a:solidFill>
                  <a:schemeClr val="tx1"/>
                </a:solidFill>
              </a:rPr>
              <a:t>+</a:t>
            </a:r>
            <a:r>
              <a:rPr lang="en-US" altLang="en-US" sz="2400" dirty="0">
                <a:solidFill>
                  <a:schemeClr val="tx1"/>
                </a:solidFill>
              </a:rPr>
              <a:t>-2Cl</a:t>
            </a:r>
            <a:r>
              <a:rPr lang="en-US" altLang="en-US" sz="2400" baseline="30000" dirty="0">
                <a:solidFill>
                  <a:schemeClr val="tx1"/>
                </a:solidFill>
              </a:rPr>
              <a:t>-</a:t>
            </a:r>
            <a:r>
              <a:rPr lang="en-US" altLang="en-US" sz="2400" dirty="0">
                <a:solidFill>
                  <a:schemeClr val="tx1"/>
                </a:solidFill>
              </a:rPr>
              <a:t> symporter in thick ascending limb of Henle</a:t>
            </a:r>
          </a:p>
          <a:p>
            <a:pPr marL="609600" indent="-609600"/>
            <a:r>
              <a:rPr lang="en-US" altLang="en-US" sz="2400" dirty="0">
                <a:solidFill>
                  <a:schemeClr val="tx1"/>
                </a:solidFill>
              </a:rPr>
              <a:t>Therapeutic use:</a:t>
            </a:r>
          </a:p>
          <a:p>
            <a:pPr marL="990600" lvl="1" indent="-533400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Acute </a:t>
            </a:r>
            <a:r>
              <a:rPr lang="en-US" altLang="en-US" sz="2400" b="1" dirty="0">
                <a:solidFill>
                  <a:schemeClr val="tx1"/>
                </a:solidFill>
              </a:rPr>
              <a:t>pulmonary edema</a:t>
            </a:r>
            <a:r>
              <a:rPr lang="en-US" altLang="en-US" sz="2400" dirty="0">
                <a:solidFill>
                  <a:schemeClr val="tx1"/>
                </a:solidFill>
              </a:rPr>
              <a:t>, congested </a:t>
            </a:r>
            <a:r>
              <a:rPr lang="en-US" altLang="en-US" sz="2400" b="1" dirty="0">
                <a:solidFill>
                  <a:schemeClr val="tx1"/>
                </a:solidFill>
              </a:rPr>
              <a:t>heart failure</a:t>
            </a:r>
            <a:r>
              <a:rPr lang="en-US" altLang="en-US" sz="2400" dirty="0">
                <a:solidFill>
                  <a:schemeClr val="tx1"/>
                </a:solidFill>
              </a:rPr>
              <a:t>, </a:t>
            </a:r>
            <a:r>
              <a:rPr lang="en-US" altLang="en-US" sz="2400" b="1" dirty="0">
                <a:solidFill>
                  <a:schemeClr val="tx1"/>
                </a:solidFill>
              </a:rPr>
              <a:t>hepatic and renal disease</a:t>
            </a:r>
            <a:r>
              <a:rPr lang="en-US" altLang="en-US" sz="2400" dirty="0">
                <a:solidFill>
                  <a:schemeClr val="tx1"/>
                </a:solidFill>
              </a:rPr>
              <a:t> (but commonly used for the treatment of heart failure).  </a:t>
            </a:r>
          </a:p>
          <a:p>
            <a:pPr marL="990600" lvl="1" indent="-533400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Hypertension</a:t>
            </a:r>
          </a:p>
          <a:p>
            <a:pPr marL="990600" lvl="1" indent="-533400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In other </a:t>
            </a:r>
            <a:r>
              <a:rPr lang="en-US" altLang="en-US" sz="2400" b="1" dirty="0">
                <a:solidFill>
                  <a:schemeClr val="tx1"/>
                </a:solidFill>
              </a:rPr>
              <a:t>drug overdose </a:t>
            </a:r>
            <a:r>
              <a:rPr lang="en-US" altLang="en-US" sz="2400" dirty="0">
                <a:solidFill>
                  <a:schemeClr val="tx1"/>
                </a:solidFill>
              </a:rPr>
              <a:t>it can be used to produce forced diuresis</a:t>
            </a:r>
          </a:p>
          <a:p>
            <a:pPr marL="666600" indent="-533400">
              <a:buFont typeface="Wingdings" panose="05000000000000000000" pitchFamily="2" charset="2"/>
              <a:buChar char="§"/>
            </a:pPr>
            <a:r>
              <a:rPr lang="en-US" altLang="en-US" sz="2700" dirty="0">
                <a:solidFill>
                  <a:schemeClr val="tx1"/>
                </a:solidFill>
              </a:rPr>
              <a:t>Adverse effect:</a:t>
            </a:r>
          </a:p>
          <a:p>
            <a:pPr marL="990600" lvl="1" indent="-533400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400" b="1" i="1" dirty="0">
                <a:solidFill>
                  <a:schemeClr val="tx1"/>
                </a:solidFill>
              </a:rPr>
              <a:t>Hypokalemia, hyponatremia, hypocalcemia</a:t>
            </a:r>
            <a:r>
              <a:rPr lang="en-US" altLang="en-US" sz="2400" dirty="0">
                <a:solidFill>
                  <a:schemeClr val="tx1"/>
                </a:solidFill>
              </a:rPr>
              <a:t>, hyperuricemia, hyperglycemia, nausea, anorexia, vomiting, epigastric distress, fatigue, muscle cramp, drowsiness</a:t>
            </a:r>
          </a:p>
          <a:p>
            <a:pPr marL="990600" lvl="1" indent="-533400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Dizziness, hearing impairment and deafness: reversible</a:t>
            </a:r>
          </a:p>
          <a:p>
            <a:pPr marL="609600" indent="-609600"/>
            <a:endParaRPr lang="en-US" altLang="en-US" sz="2400" dirty="0">
              <a:solidFill>
                <a:schemeClr val="tx1"/>
              </a:solidFill>
            </a:endParaRPr>
          </a:p>
        </p:txBody>
      </p:sp>
      <p:sp>
        <p:nvSpPr>
          <p:cNvPr id="98308" name="Rectangle 6">
            <a:extLst>
              <a:ext uri="{FF2B5EF4-FFF2-40B4-BE49-F238E27FC236}">
                <a16:creationId xmlns:a16="http://schemas.microsoft.com/office/drawing/2014/main" id="{CA856EF2-8257-4596-A421-66CE612DCF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7B86598-02FA-424D-A38F-DEB83A3D70D2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4">
            <a:extLst>
              <a:ext uri="{FF2B5EF4-FFF2-40B4-BE49-F238E27FC236}">
                <a16:creationId xmlns:a16="http://schemas.microsoft.com/office/drawing/2014/main" id="{DD3F34A8-07B1-4491-BA9C-64EEEE1BFA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715962"/>
          </a:xfrm>
          <a:noFill/>
        </p:spPr>
        <p:txBody>
          <a:bodyPr/>
          <a:lstStyle/>
          <a:p>
            <a:pPr algn="r"/>
            <a:r>
              <a:rPr lang="en-US" altLang="en-US">
                <a:solidFill>
                  <a:schemeClr val="tx1"/>
                </a:solidFill>
              </a:rPr>
              <a:t>Diuretics cont’d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4ACF30C9-69B4-4E19-BB74-645E85F3B2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5421" y="1143000"/>
            <a:ext cx="10489324" cy="5257800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609600" indent="-609600">
              <a:buFontTx/>
              <a:buAutoNum type="arabicPeriod" startAt="3"/>
            </a:pPr>
            <a:r>
              <a:rPr lang="en-US" altLang="en-US" sz="2600" b="1" dirty="0">
                <a:solidFill>
                  <a:schemeClr val="accent5"/>
                </a:solidFill>
              </a:rPr>
              <a:t>Potassium sparing diuretics </a:t>
            </a:r>
            <a:r>
              <a:rPr lang="en-US" altLang="en-US" sz="2600" b="1" dirty="0">
                <a:solidFill>
                  <a:schemeClr val="tx1"/>
                </a:solidFill>
              </a:rPr>
              <a:t>(</a:t>
            </a:r>
            <a:r>
              <a:rPr lang="en-US" altLang="en-US" sz="2600" dirty="0" err="1">
                <a:solidFill>
                  <a:schemeClr val="tx1"/>
                </a:solidFill>
              </a:rPr>
              <a:t>E.g</a:t>
            </a:r>
            <a:r>
              <a:rPr lang="en-US" altLang="en-US" sz="2600" dirty="0">
                <a:solidFill>
                  <a:schemeClr val="tx1"/>
                </a:solidFill>
              </a:rPr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spironolactone</a:t>
            </a:r>
            <a:r>
              <a:rPr lang="en-US" altLang="en-US" sz="2600" b="1" dirty="0">
                <a:solidFill>
                  <a:schemeClr val="accent5"/>
                </a:solidFill>
              </a:rPr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</a:rPr>
              <a:t>It blocks aldosterone receptor at collecting tubule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</a:rPr>
              <a:t>Mild diuretic causing diuresis by </a:t>
            </a:r>
            <a:r>
              <a:rPr lang="en-US" altLang="en-US" sz="2400" b="1" i="1" dirty="0">
                <a:solidFill>
                  <a:schemeClr val="tx1"/>
                </a:solidFill>
              </a:rPr>
              <a:t>increasing the excretion of sodium </a:t>
            </a:r>
            <a:r>
              <a:rPr lang="en-US" altLang="en-US" sz="2400" dirty="0">
                <a:solidFill>
                  <a:schemeClr val="tx1"/>
                </a:solidFill>
              </a:rPr>
              <a:t>but </a:t>
            </a:r>
            <a:r>
              <a:rPr lang="en-US" altLang="en-US" sz="2400" b="1" i="1" dirty="0">
                <a:solidFill>
                  <a:schemeClr val="tx1"/>
                </a:solidFill>
              </a:rPr>
              <a:t>decrease excretion of potassium</a:t>
            </a:r>
          </a:p>
          <a:p>
            <a:pPr marL="476100" indent="-342900">
              <a:buFont typeface="Wingdings" panose="05000000000000000000" pitchFamily="2" charset="2"/>
              <a:buChar char="§"/>
            </a:pPr>
            <a:r>
              <a:rPr lang="en-US" altLang="en-US" sz="2700" dirty="0">
                <a:solidFill>
                  <a:schemeClr val="tx1"/>
                </a:solidFill>
              </a:rPr>
              <a:t>Therapeutic uses:</a:t>
            </a:r>
          </a:p>
          <a:p>
            <a:pPr marL="1101600" lvl="1" indent="-457200">
              <a:buFont typeface="Wingdings" panose="05000000000000000000" pitchFamily="2" charset="2"/>
              <a:buChar char="Ø"/>
            </a:pPr>
            <a:r>
              <a:rPr lang="en-US" altLang="en-US" sz="2500" dirty="0">
                <a:solidFill>
                  <a:schemeClr val="tx1"/>
                </a:solidFill>
              </a:rPr>
              <a:t>Used with conjunction with </a:t>
            </a:r>
            <a:r>
              <a:rPr lang="en-US" altLang="en-US" sz="2500" b="1" i="1" dirty="0">
                <a:solidFill>
                  <a:schemeClr val="tx1"/>
                </a:solidFill>
              </a:rPr>
              <a:t>loop diuretics </a:t>
            </a:r>
            <a:r>
              <a:rPr lang="en-US" altLang="en-US" sz="2500" dirty="0">
                <a:solidFill>
                  <a:schemeClr val="tx1"/>
                </a:solidFill>
              </a:rPr>
              <a:t>in edema due to </a:t>
            </a:r>
            <a:r>
              <a:rPr lang="en-US" altLang="en-US" sz="2500" b="1" dirty="0">
                <a:solidFill>
                  <a:schemeClr val="tx1"/>
                </a:solidFill>
              </a:rPr>
              <a:t>cardiac failure</a:t>
            </a:r>
            <a:r>
              <a:rPr lang="en-US" altLang="en-US" sz="2500" dirty="0">
                <a:solidFill>
                  <a:schemeClr val="tx1"/>
                </a:solidFill>
              </a:rPr>
              <a:t>, </a:t>
            </a:r>
            <a:r>
              <a:rPr lang="en-US" altLang="en-US" sz="2500" b="1" dirty="0">
                <a:solidFill>
                  <a:schemeClr val="tx1"/>
                </a:solidFill>
              </a:rPr>
              <a:t>nephrotic syndrome </a:t>
            </a:r>
            <a:r>
              <a:rPr lang="en-US" altLang="en-US" sz="2500" dirty="0">
                <a:solidFill>
                  <a:schemeClr val="tx1"/>
                </a:solidFill>
              </a:rPr>
              <a:t>and </a:t>
            </a:r>
            <a:r>
              <a:rPr lang="en-US" altLang="en-US" sz="2500" b="1" dirty="0">
                <a:solidFill>
                  <a:schemeClr val="tx1"/>
                </a:solidFill>
              </a:rPr>
              <a:t>hepatic disease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</a:rPr>
              <a:t>Adverse effect:</a:t>
            </a:r>
          </a:p>
          <a:p>
            <a:pPr marL="990600" lvl="1" indent="-533400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GI disturbance, dry mouth, rashes, confusion, orthostatic hypotension, </a:t>
            </a:r>
            <a:r>
              <a:rPr lang="en-US" altLang="en-US" sz="2400" b="1" dirty="0">
                <a:solidFill>
                  <a:schemeClr val="tx1"/>
                </a:solidFill>
              </a:rPr>
              <a:t>hyperkalemia</a:t>
            </a:r>
            <a:r>
              <a:rPr lang="en-US" altLang="en-US" sz="2400" dirty="0">
                <a:solidFill>
                  <a:schemeClr val="tx1"/>
                </a:solidFill>
              </a:rPr>
              <a:t>, </a:t>
            </a:r>
            <a:r>
              <a:rPr lang="en-US" altLang="en-US" sz="2400" b="1" i="1" dirty="0">
                <a:solidFill>
                  <a:schemeClr val="tx1"/>
                </a:solidFill>
              </a:rPr>
              <a:t>Hyponatremia</a:t>
            </a:r>
          </a:p>
          <a:p>
            <a:pPr marL="1101600" lvl="1" indent="-457200">
              <a:buNone/>
            </a:pP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99332" name="Rectangle 6">
            <a:extLst>
              <a:ext uri="{FF2B5EF4-FFF2-40B4-BE49-F238E27FC236}">
                <a16:creationId xmlns:a16="http://schemas.microsoft.com/office/drawing/2014/main" id="{D4739CA6-18BC-4FC4-97B5-DDEC6BD2BC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E0145C4-7D2B-4164-A9C7-362120AFCD71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4">
            <a:extLst>
              <a:ext uri="{FF2B5EF4-FFF2-40B4-BE49-F238E27FC236}">
                <a16:creationId xmlns:a16="http://schemas.microsoft.com/office/drawing/2014/main" id="{1E8FB922-0E01-472D-B852-725024560C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28700" y="377383"/>
            <a:ext cx="8229600" cy="487362"/>
          </a:xfrm>
          <a:noFill/>
        </p:spPr>
        <p:txBody>
          <a:bodyPr>
            <a:normAutofit fontScale="90000"/>
          </a:bodyPr>
          <a:lstStyle/>
          <a:p>
            <a:pPr algn="r"/>
            <a:r>
              <a:rPr lang="en-US" altLang="en-US" dirty="0">
                <a:solidFill>
                  <a:schemeClr val="tx1"/>
                </a:solidFill>
              </a:rPr>
              <a:t>Diuretics cont’d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46E2072F-1E78-4B84-8034-382EE704A6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1847" y="1143001"/>
            <a:ext cx="10268607" cy="5211763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609600" indent="-609600">
              <a:buFontTx/>
              <a:buAutoNum type="arabicPeriod" startAt="4"/>
            </a:pPr>
            <a:r>
              <a:rPr lang="en-US" altLang="en-US" sz="2600" b="1" dirty="0">
                <a:solidFill>
                  <a:schemeClr val="accent5"/>
                </a:solidFill>
              </a:rPr>
              <a:t>Carbonic anhydrase inhibitors </a:t>
            </a:r>
            <a:r>
              <a:rPr lang="en-US" altLang="en-US" sz="2600" b="1" dirty="0">
                <a:solidFill>
                  <a:schemeClr val="accent5"/>
                </a:solidFill>
                <a:sym typeface="Wingdings" panose="05000000000000000000" pitchFamily="2" charset="2"/>
              </a:rPr>
              <a:t>(</a:t>
            </a:r>
            <a:r>
              <a:rPr lang="en-US" altLang="en-US" sz="2800" dirty="0">
                <a:solidFill>
                  <a:schemeClr val="tx1"/>
                </a:solidFill>
                <a:sym typeface="Wingdings" panose="05000000000000000000" pitchFamily="2" charset="2"/>
              </a:rPr>
              <a:t>E</a:t>
            </a:r>
            <a:r>
              <a:rPr lang="en-US" altLang="en-US" sz="2800" dirty="0">
                <a:solidFill>
                  <a:schemeClr val="tx1"/>
                </a:solidFill>
              </a:rPr>
              <a:t>.g. acetazolamide</a:t>
            </a:r>
            <a:r>
              <a:rPr lang="en-US" altLang="en-US" sz="2600" b="1" dirty="0">
                <a:solidFill>
                  <a:schemeClr val="accent5"/>
                </a:solidFill>
                <a:sym typeface="Wingdings" panose="05000000000000000000" pitchFamily="2" charset="2"/>
              </a:rPr>
              <a:t>)</a:t>
            </a:r>
            <a:endParaRPr lang="en-US" altLang="en-US" sz="2600" b="1" dirty="0">
              <a:solidFill>
                <a:schemeClr val="accent5"/>
              </a:solidFill>
            </a:endParaRPr>
          </a:p>
          <a:p>
            <a:pPr marL="609600" indent="-609600">
              <a:buFontTx/>
              <a:buAutoNum type="arabicPeriod" startAt="4"/>
            </a:pPr>
            <a:endParaRPr lang="en-US" altLang="en-US" sz="2600" b="1" dirty="0">
              <a:solidFill>
                <a:schemeClr val="accent5"/>
              </a:solidFill>
            </a:endParaRPr>
          </a:p>
          <a:p>
            <a:pPr marL="990600" lvl="1" indent="-533400"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</a:rPr>
              <a:t>Inhibit the enzyme carbonic anhydrase in renal tubule cells and lead to increased excretion of bicarbonate, sodium and potassium ion in urine</a:t>
            </a:r>
          </a:p>
          <a:p>
            <a:pPr marL="990600" lvl="1" indent="-533400"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</a:rPr>
              <a:t>For treatment of </a:t>
            </a:r>
            <a:r>
              <a:rPr lang="en-US" altLang="en-US" sz="2400" b="1" dirty="0">
                <a:solidFill>
                  <a:schemeClr val="tx1"/>
                </a:solidFill>
              </a:rPr>
              <a:t>metabolic alkalosis</a:t>
            </a:r>
          </a:p>
          <a:p>
            <a:pPr marL="990600" lvl="1" indent="-533400"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</a:rPr>
              <a:t>Used in </a:t>
            </a:r>
            <a:r>
              <a:rPr lang="en-US" altLang="en-US" sz="2400" b="1" dirty="0">
                <a:solidFill>
                  <a:schemeClr val="tx1"/>
                </a:solidFill>
              </a:rPr>
              <a:t>acute angle glaucoma </a:t>
            </a:r>
            <a:r>
              <a:rPr lang="en-US" altLang="en-US" sz="2400" dirty="0">
                <a:solidFill>
                  <a:schemeClr val="tx1"/>
                </a:solidFill>
              </a:rPr>
              <a:t>(in eye it cause reduction in formation of </a:t>
            </a:r>
            <a:r>
              <a:rPr lang="en-US" altLang="en-US" sz="2400" b="1" i="1" dirty="0">
                <a:solidFill>
                  <a:schemeClr val="tx1"/>
                </a:solidFill>
              </a:rPr>
              <a:t>aqueous humor</a:t>
            </a:r>
            <a:r>
              <a:rPr lang="en-US" altLang="en-US" sz="2400" dirty="0">
                <a:solidFill>
                  <a:schemeClr val="tx1"/>
                </a:solidFill>
              </a:rPr>
              <a:t>)</a:t>
            </a:r>
          </a:p>
          <a:p>
            <a:pPr marL="990600" lvl="1" indent="-533400"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</a:rPr>
              <a:t>Adverse effect: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Drowsiness, </a:t>
            </a:r>
            <a:r>
              <a:rPr lang="en-US" altLang="en-US" sz="2400" b="1" i="1" dirty="0">
                <a:solidFill>
                  <a:schemeClr val="tx1"/>
                </a:solidFill>
              </a:rPr>
              <a:t>hyponatremia</a:t>
            </a:r>
            <a:r>
              <a:rPr lang="en-US" altLang="en-US" sz="2400" dirty="0">
                <a:solidFill>
                  <a:schemeClr val="tx1"/>
                </a:solidFill>
              </a:rPr>
              <a:t>, hypokalemia, </a:t>
            </a:r>
            <a:r>
              <a:rPr lang="en-US" altLang="en-US" sz="2400" b="1" i="1" dirty="0">
                <a:solidFill>
                  <a:schemeClr val="tx1"/>
                </a:solidFill>
              </a:rPr>
              <a:t>metabolic acidosis </a:t>
            </a:r>
            <a:r>
              <a:rPr lang="en-US" altLang="en-US" sz="2400" dirty="0">
                <a:solidFill>
                  <a:schemeClr val="tx1"/>
                </a:solidFill>
              </a:rPr>
              <a:t>and epigastric pain</a:t>
            </a:r>
          </a:p>
        </p:txBody>
      </p:sp>
      <p:sp>
        <p:nvSpPr>
          <p:cNvPr id="100356" name="Rectangle 6">
            <a:extLst>
              <a:ext uri="{FF2B5EF4-FFF2-40B4-BE49-F238E27FC236}">
                <a16:creationId xmlns:a16="http://schemas.microsoft.com/office/drawing/2014/main" id="{9BAF3D7C-718F-48AA-9F6C-C3ECA0556D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8062367-C54E-41C0-A2DE-F7506FC44CCC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4">
            <a:extLst>
              <a:ext uri="{FF2B5EF4-FFF2-40B4-BE49-F238E27FC236}">
                <a16:creationId xmlns:a16="http://schemas.microsoft.com/office/drawing/2014/main" id="{316DF0BA-C058-47CB-8E79-64C3AA3842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563562"/>
          </a:xfrm>
          <a:noFill/>
        </p:spPr>
        <p:txBody>
          <a:bodyPr/>
          <a:lstStyle/>
          <a:p>
            <a:pPr algn="r"/>
            <a:r>
              <a:rPr lang="en-US" altLang="en-US">
                <a:solidFill>
                  <a:schemeClr val="tx1"/>
                </a:solidFill>
              </a:rPr>
              <a:t>Diuretics cont’d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9B91B6E8-777F-4710-8968-1B7447DE52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81199" y="1143001"/>
            <a:ext cx="8833945" cy="4983163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609600" indent="-609600">
              <a:buFontTx/>
              <a:buAutoNum type="arabicPeriod" startAt="5"/>
            </a:pPr>
            <a:r>
              <a:rPr lang="en-US" altLang="en-US" sz="2600" b="1" dirty="0">
                <a:solidFill>
                  <a:schemeClr val="accent5">
                    <a:lumMod val="75000"/>
                  </a:schemeClr>
                </a:solidFill>
              </a:rPr>
              <a:t>Osmotic diuretics </a:t>
            </a:r>
            <a:r>
              <a:rPr lang="en-US" altLang="en-US" sz="2600" b="1" dirty="0">
                <a:solidFill>
                  <a:schemeClr val="tx1"/>
                </a:solidFill>
                <a:sym typeface="Wingdings" panose="05000000000000000000" pitchFamily="2" charset="2"/>
              </a:rPr>
              <a:t>(</a:t>
            </a:r>
            <a:r>
              <a:rPr lang="en-US" altLang="en-US" sz="2600" dirty="0" err="1">
                <a:solidFill>
                  <a:schemeClr val="tx1"/>
                </a:solidFill>
                <a:sym typeface="Wingdings" panose="05000000000000000000" pitchFamily="2" charset="2"/>
              </a:rPr>
              <a:t>E.g</a:t>
            </a:r>
            <a:r>
              <a:rPr lang="en-US" altLang="en-US" sz="2600" dirty="0">
                <a:solidFill>
                  <a:schemeClr val="tx1"/>
                </a:solidFill>
                <a:sym typeface="Wingdings" panose="05000000000000000000" pitchFamily="2" charset="2"/>
              </a:rPr>
              <a:t> mannitol</a:t>
            </a:r>
            <a:r>
              <a:rPr lang="en-US" altLang="en-US" sz="2600" b="1" dirty="0">
                <a:solidFill>
                  <a:schemeClr val="tx1"/>
                </a:solidFill>
                <a:sym typeface="Wingdings" panose="05000000000000000000" pitchFamily="2" charset="2"/>
              </a:rPr>
              <a:t>)</a:t>
            </a:r>
            <a:endParaRPr lang="en-US" altLang="en-US" sz="2600" b="1" dirty="0">
              <a:solidFill>
                <a:schemeClr val="tx1"/>
              </a:solidFill>
            </a:endParaRPr>
          </a:p>
          <a:p>
            <a:pPr marL="990600" lvl="1" indent="-533400"/>
            <a:r>
              <a:rPr lang="en-US" altLang="en-US" sz="2400" dirty="0">
                <a:solidFill>
                  <a:schemeClr val="tx1"/>
                </a:solidFill>
              </a:rPr>
              <a:t>Freely filtered at the glomerulus and relatively inert pharmacologically and </a:t>
            </a:r>
            <a:r>
              <a:rPr lang="en-US" altLang="en-US" sz="2400" b="1" i="1" dirty="0">
                <a:solidFill>
                  <a:schemeClr val="tx1"/>
                </a:solidFill>
              </a:rPr>
              <a:t>undergo limited reabsorption </a:t>
            </a:r>
            <a:r>
              <a:rPr lang="en-US" altLang="en-US" sz="2400" dirty="0">
                <a:solidFill>
                  <a:schemeClr val="tx1"/>
                </a:solidFill>
              </a:rPr>
              <a:t>at renal tubules</a:t>
            </a:r>
          </a:p>
          <a:p>
            <a:pPr marL="990600" lvl="1" indent="-533400"/>
            <a:r>
              <a:rPr lang="en-US" altLang="en-US" sz="2400" dirty="0">
                <a:solidFill>
                  <a:schemeClr val="tx1"/>
                </a:solidFill>
              </a:rPr>
              <a:t>Water content of plasma increases.</a:t>
            </a:r>
          </a:p>
          <a:p>
            <a:pPr marL="990600" lvl="1" indent="-533400"/>
            <a:r>
              <a:rPr lang="en-US" altLang="en-US" sz="2400" dirty="0">
                <a:solidFill>
                  <a:schemeClr val="tx1"/>
                </a:solidFill>
              </a:rPr>
              <a:t>Sometimes they produce nausea, vomiting, electrolyte imbalances</a:t>
            </a:r>
          </a:p>
          <a:p>
            <a:pPr marL="990600" lvl="1" indent="-533400"/>
            <a:r>
              <a:rPr lang="en-US" altLang="en-US" sz="2400" dirty="0">
                <a:solidFill>
                  <a:schemeClr val="tx1"/>
                </a:solidFill>
              </a:rPr>
              <a:t>They are used in </a:t>
            </a:r>
            <a:r>
              <a:rPr lang="en-US" altLang="en-US" sz="2400" b="1" i="1" dirty="0">
                <a:solidFill>
                  <a:schemeClr val="tx1"/>
                </a:solidFill>
              </a:rPr>
              <a:t>cerebral edema </a:t>
            </a:r>
            <a:r>
              <a:rPr lang="en-US" altLang="en-US" sz="2400" dirty="0">
                <a:solidFill>
                  <a:schemeClr val="tx1"/>
                </a:solidFill>
              </a:rPr>
              <a:t>and management of </a:t>
            </a:r>
            <a:r>
              <a:rPr lang="en-US" altLang="en-US" sz="2400" b="1" i="1" dirty="0">
                <a:solidFill>
                  <a:schemeClr val="tx1"/>
                </a:solidFill>
              </a:rPr>
              <a:t>poisoning</a:t>
            </a:r>
          </a:p>
        </p:txBody>
      </p:sp>
      <p:sp>
        <p:nvSpPr>
          <p:cNvPr id="101380" name="Rectangle 6">
            <a:extLst>
              <a:ext uri="{FF2B5EF4-FFF2-40B4-BE49-F238E27FC236}">
                <a16:creationId xmlns:a16="http://schemas.microsoft.com/office/drawing/2014/main" id="{042B5293-36E8-409B-87B0-929830B961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EE399D8-EB30-4A91-980E-100C1588D971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0EBCA100-95EB-4EDE-9EFC-FCE05EBB7A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I. Antihypertensive drugs</a:t>
            </a:r>
          </a:p>
        </p:txBody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6996CEA4-69E1-4622-9DF7-411A01D164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295400"/>
            <a:ext cx="8229600" cy="5181600"/>
          </a:xfrm>
        </p:spPr>
        <p:txBody>
          <a:bodyPr/>
          <a:lstStyle/>
          <a:p>
            <a:pPr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en-US" sz="2400" dirty="0">
                <a:solidFill>
                  <a:schemeClr val="tx1"/>
                </a:solidFill>
              </a:rPr>
              <a:t>Hypertension - </a:t>
            </a:r>
            <a:r>
              <a:rPr lang="en-US" altLang="en-US" sz="2400" b="1" i="1" dirty="0">
                <a:solidFill>
                  <a:schemeClr val="tx1"/>
                </a:solidFill>
              </a:rPr>
              <a:t>sustained </a:t>
            </a:r>
            <a:r>
              <a:rPr lang="en-US" altLang="en-US" sz="2400" dirty="0">
                <a:solidFill>
                  <a:schemeClr val="tx1"/>
                </a:solidFill>
              </a:rPr>
              <a:t>elevation in blood pressure over 140/90</a:t>
            </a:r>
          </a:p>
          <a:p>
            <a:pPr>
              <a:lnSpc>
                <a:spcPct val="80000"/>
              </a:lnSpc>
              <a:spcAft>
                <a:spcPts val="0"/>
              </a:spcAft>
              <a:defRPr/>
            </a:pPr>
            <a:endParaRPr lang="en-US" altLang="en-US" sz="24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en-US" sz="2400" b="1" dirty="0">
                <a:solidFill>
                  <a:schemeClr val="tx1"/>
                </a:solidFill>
              </a:rPr>
              <a:t>Etiology of hypertension</a:t>
            </a:r>
          </a:p>
          <a:p>
            <a:pPr lvl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solidFill>
                  <a:schemeClr val="tx1"/>
                </a:solidFill>
              </a:rPr>
              <a:t>Primary (essential) hypertension – unknown 	etiology; &gt;90% of cases</a:t>
            </a:r>
          </a:p>
          <a:p>
            <a:pPr lvl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solidFill>
                  <a:schemeClr val="tx1"/>
                </a:solidFill>
              </a:rPr>
              <a:t>Secondary hypertension: &lt;10% of cases.</a:t>
            </a:r>
          </a:p>
          <a:p>
            <a:pPr lvl="2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en-US" sz="2200" dirty="0">
                <a:solidFill>
                  <a:schemeClr val="tx1"/>
                </a:solidFill>
              </a:rPr>
              <a:t>Renal artery stenosis - excessive release of rennin</a:t>
            </a:r>
          </a:p>
          <a:p>
            <a:pPr lvl="2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en-US" sz="2200" dirty="0">
                <a:solidFill>
                  <a:schemeClr val="tx1"/>
                </a:solidFill>
              </a:rPr>
              <a:t>Pheochromocytoma</a:t>
            </a:r>
          </a:p>
          <a:p>
            <a:pPr lvl="3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en-US" sz="2200" dirty="0">
                <a:solidFill>
                  <a:schemeClr val="tx1"/>
                </a:solidFill>
              </a:rPr>
              <a:t>Tumor of the adrenal medulla</a:t>
            </a:r>
          </a:p>
          <a:p>
            <a:pPr lvl="2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en-US" sz="2200" dirty="0">
                <a:solidFill>
                  <a:schemeClr val="tx1"/>
                </a:solidFill>
              </a:rPr>
              <a:t>Cushing’s syndrome</a:t>
            </a:r>
          </a:p>
          <a:p>
            <a:pPr lvl="3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en-US" sz="2200" dirty="0">
                <a:solidFill>
                  <a:schemeClr val="tx1"/>
                </a:solidFill>
              </a:rPr>
              <a:t>Excess glucocorticoids: water reabsorption</a:t>
            </a:r>
          </a:p>
          <a:p>
            <a:pPr lvl="2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en-US" sz="2200" dirty="0">
                <a:solidFill>
                  <a:schemeClr val="tx1"/>
                </a:solidFill>
              </a:rPr>
              <a:t>Primary hyperaldosteronism</a:t>
            </a:r>
          </a:p>
        </p:txBody>
      </p:sp>
      <p:sp>
        <p:nvSpPr>
          <p:cNvPr id="102404" name="Rectangle 6">
            <a:extLst>
              <a:ext uri="{FF2B5EF4-FFF2-40B4-BE49-F238E27FC236}">
                <a16:creationId xmlns:a16="http://schemas.microsoft.com/office/drawing/2014/main" id="{63008C8F-947A-4C25-9751-03BC400422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4E2C322-3704-4A63-AAB8-300B743DFA2D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F156E8E2-1340-4FD9-B5DA-376809A5A8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1"/>
            <a:ext cx="8229600" cy="563563"/>
          </a:xfrm>
        </p:spPr>
        <p:txBody>
          <a:bodyPr/>
          <a:lstStyle/>
          <a:p>
            <a:pPr algn="r"/>
            <a:r>
              <a:rPr lang="en-US" altLang="en-US">
                <a:solidFill>
                  <a:schemeClr val="tx1"/>
                </a:solidFill>
              </a:rPr>
              <a:t>Antihypertensive cont’d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5EE6E4FD-713B-4869-B39D-1C1CB8F36E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81200" y="762000"/>
            <a:ext cx="8229600" cy="4648200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buFontTx/>
              <a:buNone/>
            </a:pPr>
            <a:endParaRPr lang="en-US" altLang="en-US" sz="24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4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</a:rPr>
              <a:t>Complications of hypertension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400" b="1" dirty="0">
              <a:solidFill>
                <a:schemeClr val="tx1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The most dangerous complications are end organ damage. </a:t>
            </a:r>
          </a:p>
          <a:p>
            <a:pPr lvl="2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</a:rPr>
              <a:t>Atherosclerosis (mainly arteries)</a:t>
            </a:r>
          </a:p>
          <a:p>
            <a:pPr lvl="2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</a:rPr>
              <a:t>Aortic aneurysms</a:t>
            </a:r>
          </a:p>
          <a:p>
            <a:pPr lvl="2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</a:rPr>
              <a:t>Cardiac failure </a:t>
            </a:r>
          </a:p>
          <a:p>
            <a:pPr lvl="2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</a:rPr>
              <a:t>Renal failure</a:t>
            </a:r>
          </a:p>
          <a:p>
            <a:pPr lvl="2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</a:rPr>
              <a:t>Stroke</a:t>
            </a:r>
          </a:p>
        </p:txBody>
      </p:sp>
      <p:sp>
        <p:nvSpPr>
          <p:cNvPr id="103428" name="Rectangle 6">
            <a:extLst>
              <a:ext uri="{FF2B5EF4-FFF2-40B4-BE49-F238E27FC236}">
                <a16:creationId xmlns:a16="http://schemas.microsoft.com/office/drawing/2014/main" id="{89D80399-2C18-4266-9719-1EEB75AD49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069E3C4-B829-4532-9E47-D542E5F81BFC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4">
            <a:extLst>
              <a:ext uri="{FF2B5EF4-FFF2-40B4-BE49-F238E27FC236}">
                <a16:creationId xmlns:a16="http://schemas.microsoft.com/office/drawing/2014/main" id="{9A0EE527-B9B6-4D3F-9ACB-923D6F2F06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563562"/>
          </a:xfrm>
          <a:noFill/>
        </p:spPr>
        <p:txBody>
          <a:bodyPr/>
          <a:lstStyle/>
          <a:p>
            <a:pPr algn="r"/>
            <a:r>
              <a:rPr lang="en-US" altLang="en-US">
                <a:solidFill>
                  <a:schemeClr val="tx1"/>
                </a:solidFill>
              </a:rPr>
              <a:t>Antihypertensive cont’d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052D0514-E760-463A-8244-76DF63675D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81200" y="838200"/>
            <a:ext cx="8382000" cy="5334000"/>
          </a:xfrm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</a:rPr>
              <a:t>Treatment of hypertension</a:t>
            </a:r>
          </a:p>
          <a:p>
            <a:pPr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A. </a:t>
            </a:r>
            <a:r>
              <a:rPr lang="en-US" altLang="en-US" sz="2400" b="1" i="1" dirty="0">
                <a:solidFill>
                  <a:schemeClr val="tx1"/>
                </a:solidFill>
              </a:rPr>
              <a:t>Non-pharmacological RX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In patients with mild elevation in blood pressure, non-pharmacological treatment methods may be applicable (5-10mmHg reduction):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</a:rPr>
              <a:t>Stop smoking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</a:rPr>
              <a:t>Exercise and losing weight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</a:rPr>
              <a:t>Decrease in excessive alcohol consumption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</a:rPr>
              <a:t>Reduce salt intake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Non-pharmacological RX: safe; freedom from side effects compared with drug therapy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In higher BP; drugs should be started.</a:t>
            </a:r>
          </a:p>
        </p:txBody>
      </p:sp>
      <p:sp>
        <p:nvSpPr>
          <p:cNvPr id="104452" name="Rectangle 6">
            <a:extLst>
              <a:ext uri="{FF2B5EF4-FFF2-40B4-BE49-F238E27FC236}">
                <a16:creationId xmlns:a16="http://schemas.microsoft.com/office/drawing/2014/main" id="{D455CC43-B1C0-40C6-92CC-2C2F4224EE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9285598-ED56-46B7-95E3-308546C011A5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6" name="Rectangle 4">
            <a:extLst>
              <a:ext uri="{FF2B5EF4-FFF2-40B4-BE49-F238E27FC236}">
                <a16:creationId xmlns:a16="http://schemas.microsoft.com/office/drawing/2014/main" id="{0D09B56D-C3E0-4B27-A5A8-5CEAF4886A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411162"/>
          </a:xfrm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en-US" altLang="en-US">
                <a:solidFill>
                  <a:schemeClr val="tx1"/>
                </a:solidFill>
              </a:rPr>
              <a:t>Antihypertensive cont’d</a:t>
            </a:r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E84F09CE-5E05-4DFA-BCA5-6AD4BF3B85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80171" y="838200"/>
            <a:ext cx="8330629" cy="5638800"/>
          </a:xfrm>
        </p:spPr>
        <p:txBody>
          <a:bodyPr wrap="square" numCol="1" anchor="t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en-US" sz="2800" b="1" i="1" dirty="0">
                <a:solidFill>
                  <a:schemeClr val="tx1"/>
                </a:solidFill>
              </a:rPr>
              <a:t>B</a:t>
            </a:r>
            <a:r>
              <a:rPr lang="en-US" altLang="en-US" sz="2400" b="1" i="1" dirty="0">
                <a:solidFill>
                  <a:schemeClr val="tx1"/>
                </a:solidFill>
              </a:rPr>
              <a:t>. </a:t>
            </a:r>
            <a:r>
              <a:rPr lang="en-US" altLang="en-US" sz="2800" b="1" i="1" dirty="0">
                <a:solidFill>
                  <a:schemeClr val="tx1"/>
                </a:solidFill>
              </a:rPr>
              <a:t>Pharmacological treatment of hypertension</a:t>
            </a:r>
            <a:endParaRPr lang="en-US" altLang="en-US" sz="2400" b="1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3100" b="1" dirty="0">
                <a:solidFill>
                  <a:srgbClr val="7030A0"/>
                </a:solidFill>
              </a:rPr>
              <a:t>1</a:t>
            </a:r>
            <a:r>
              <a:rPr lang="en-US" altLang="en-US" sz="2400" b="1" dirty="0">
                <a:solidFill>
                  <a:srgbClr val="7030A0"/>
                </a:solidFill>
              </a:rPr>
              <a:t>. </a:t>
            </a:r>
            <a:r>
              <a:rPr lang="en-US" altLang="en-US" sz="3000" b="1" dirty="0">
                <a:solidFill>
                  <a:srgbClr val="7030A0"/>
                </a:solidFill>
              </a:rPr>
              <a:t>Diuretics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Increase Na</a:t>
            </a:r>
            <a:r>
              <a:rPr lang="en-US" altLang="en-US" sz="2400" b="1" dirty="0">
                <a:solidFill>
                  <a:schemeClr val="tx1"/>
                </a:solidFill>
              </a:rPr>
              <a:t>+</a:t>
            </a:r>
            <a:r>
              <a:rPr lang="en-US" altLang="en-US" sz="2400" dirty="0">
                <a:solidFill>
                  <a:schemeClr val="tx1"/>
                </a:solidFill>
              </a:rPr>
              <a:t> excretion &amp; water loss, reducing plasma volume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Reduces the cardiac output, hence lowering blood pressure</a:t>
            </a:r>
            <a:endParaRPr lang="en-US" altLang="en-US" sz="2400" b="1" u="sng" dirty="0">
              <a:solidFill>
                <a:schemeClr val="tx1"/>
              </a:solidFill>
            </a:endParaRPr>
          </a:p>
          <a:p>
            <a:pPr marL="609600" indent="-609600"/>
            <a:r>
              <a:rPr lang="en-US" altLang="en-US" sz="2800" b="1" dirty="0">
                <a:solidFill>
                  <a:schemeClr val="tx1"/>
                </a:solidFill>
              </a:rPr>
              <a:t>Thiazides</a:t>
            </a:r>
          </a:p>
          <a:p>
            <a:pPr marL="990600" lvl="1" indent="-533400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Hydrochlorothiazide, chlorthalidone</a:t>
            </a:r>
          </a:p>
          <a:p>
            <a:pPr marL="990600" lvl="1" indent="-533400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With 6-8 </a:t>
            </a:r>
            <a:r>
              <a:rPr lang="en-US" altLang="en-US" sz="2400" dirty="0" err="1">
                <a:solidFill>
                  <a:schemeClr val="tx1"/>
                </a:solidFill>
              </a:rPr>
              <a:t>wks</a:t>
            </a:r>
            <a:r>
              <a:rPr lang="en-US" altLang="en-US" sz="2400" dirty="0">
                <a:solidFill>
                  <a:schemeClr val="tx1"/>
                </a:solidFill>
              </a:rPr>
              <a:t> they reduce Peripheral resistance as cardiac output and blood volume reduces</a:t>
            </a:r>
          </a:p>
          <a:p>
            <a:pPr marL="609600" indent="-609600"/>
            <a:r>
              <a:rPr lang="en-US" altLang="en-US" sz="2400" b="1" i="1" dirty="0">
                <a:solidFill>
                  <a:schemeClr val="tx1"/>
                </a:solidFill>
              </a:rPr>
              <a:t>Loop diuretics</a:t>
            </a:r>
          </a:p>
          <a:p>
            <a:pPr marL="990600" lvl="1" indent="-533400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Furosemide, ethacrynic acid</a:t>
            </a:r>
          </a:p>
          <a:p>
            <a:pPr marL="990600" lvl="1" indent="-533400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The antihypertensive effect is mainly due to reduction of blood volume</a:t>
            </a:r>
          </a:p>
          <a:p>
            <a:pPr marL="609600" indent="-609600"/>
            <a:r>
              <a:rPr lang="en-US" altLang="en-US" sz="2400" b="1" i="1" dirty="0">
                <a:solidFill>
                  <a:schemeClr val="tx1"/>
                </a:solidFill>
              </a:rPr>
              <a:t>K+ sparing diuretics</a:t>
            </a:r>
            <a:r>
              <a:rPr lang="en-US" altLang="en-US" sz="2400" dirty="0">
                <a:solidFill>
                  <a:schemeClr val="tx1"/>
                </a:solidFill>
              </a:rPr>
              <a:t>: spironolactone; weak diuretic effect</a:t>
            </a:r>
          </a:p>
        </p:txBody>
      </p:sp>
      <p:sp>
        <p:nvSpPr>
          <p:cNvPr id="107524" name="Rectangle 6">
            <a:extLst>
              <a:ext uri="{FF2B5EF4-FFF2-40B4-BE49-F238E27FC236}">
                <a16:creationId xmlns:a16="http://schemas.microsoft.com/office/drawing/2014/main" id="{8794372F-19D3-4F7D-B9E3-0110F66DFB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CBEEAB2-4625-40D1-90B5-ABF411C2457F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4">
            <a:extLst>
              <a:ext uri="{FF2B5EF4-FFF2-40B4-BE49-F238E27FC236}">
                <a16:creationId xmlns:a16="http://schemas.microsoft.com/office/drawing/2014/main" id="{3C3EDFA5-2EC7-4B4D-BB3F-BAE9D23F57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563562"/>
          </a:xfrm>
          <a:noFill/>
        </p:spPr>
        <p:txBody>
          <a:bodyPr/>
          <a:lstStyle/>
          <a:p>
            <a:pPr algn="r"/>
            <a:r>
              <a:rPr lang="en-US" altLang="en-US">
                <a:solidFill>
                  <a:schemeClr val="tx1"/>
                </a:solidFill>
              </a:rPr>
              <a:t>Antihypertensive cont’d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B44855B3-9EF4-4EAF-B778-FCCA51FF71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0627" y="749808"/>
            <a:ext cx="10686197" cy="5943600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en-US" altLang="en-US" sz="2400" b="1" dirty="0">
                <a:solidFill>
                  <a:schemeClr val="tx1"/>
                </a:solidFill>
              </a:rPr>
              <a:t>2. </a:t>
            </a:r>
            <a:r>
              <a:rPr lang="en-US" altLang="en-US" sz="2600" b="1" dirty="0">
                <a:solidFill>
                  <a:srgbClr val="7030A0"/>
                </a:solidFill>
              </a:rPr>
              <a:t>Sympatholytic (Sympathoplegic) agents</a:t>
            </a:r>
          </a:p>
          <a:p>
            <a:pPr marL="457200" lvl="1" indent="0">
              <a:buNone/>
            </a:pPr>
            <a:r>
              <a:rPr lang="en-US" altLang="en-US" sz="2400" b="1" dirty="0">
                <a:solidFill>
                  <a:schemeClr val="tx1"/>
                </a:solidFill>
              </a:rPr>
              <a:t>Centrally acting antihypertensive (</a:t>
            </a:r>
            <a:r>
              <a:rPr lang="en-US" altLang="en-US" sz="4000" b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en-US" sz="4000" b="1" baseline="-25000" dirty="0">
                <a:solidFill>
                  <a:schemeClr val="tx1"/>
                </a:solidFill>
              </a:rPr>
              <a:t>2</a:t>
            </a:r>
            <a:r>
              <a:rPr lang="en-US" altLang="en-US" sz="2400" b="1" dirty="0">
                <a:solidFill>
                  <a:schemeClr val="tx1"/>
                </a:solidFill>
              </a:rPr>
              <a:t> agonists)</a:t>
            </a:r>
          </a:p>
          <a:p>
            <a:pPr marL="990600" lvl="1" indent="-533400">
              <a:buFont typeface="Wingdings" panose="05000000000000000000" pitchFamily="2" charset="2"/>
              <a:buChar char="v"/>
            </a:pPr>
            <a:r>
              <a:rPr lang="en-US" altLang="en-US" sz="2400" u="sng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en-US" sz="2400" u="sng" dirty="0">
                <a:solidFill>
                  <a:schemeClr val="tx1"/>
                </a:solidFill>
              </a:rPr>
              <a:t> methyldopa [prodrug]:</a:t>
            </a:r>
          </a:p>
          <a:p>
            <a:pPr marL="990600" lvl="1" indent="-533400"/>
            <a:r>
              <a:rPr lang="en-US" altLang="en-US" sz="2000" dirty="0">
                <a:solidFill>
                  <a:schemeClr val="tx1"/>
                </a:solidFill>
              </a:rPr>
              <a:t>Enters the CNS via active transport into the brain</a:t>
            </a:r>
          </a:p>
          <a:p>
            <a:pPr marL="990600" lvl="1" indent="-533400"/>
            <a:r>
              <a:rPr lang="en-US" altLang="en-US" sz="2000" dirty="0">
                <a:solidFill>
                  <a:schemeClr val="tx1"/>
                </a:solidFill>
              </a:rPr>
              <a:t>Converted to </a:t>
            </a:r>
            <a:r>
              <a:rPr lang="en-US" altLang="en-US" sz="2000" dirty="0">
                <a:solidFill>
                  <a:schemeClr val="tx1"/>
                </a:solidFill>
                <a:sym typeface="Symbol" panose="05050102010706020507" pitchFamily="18" charset="2"/>
              </a:rPr>
              <a:t> </a:t>
            </a:r>
            <a:r>
              <a:rPr lang="en-US" altLang="en-US" sz="2000" dirty="0">
                <a:solidFill>
                  <a:schemeClr val="tx1"/>
                </a:solidFill>
              </a:rPr>
              <a:t>methyl NA…..</a:t>
            </a:r>
            <a:r>
              <a:rPr lang="en-US" altLang="en-US" sz="2000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en-US" sz="2000" baseline="-25000" dirty="0">
                <a:solidFill>
                  <a:schemeClr val="tx1"/>
                </a:solidFill>
              </a:rPr>
              <a:t>2</a:t>
            </a:r>
            <a:r>
              <a:rPr lang="en-US" altLang="en-US" sz="2000" dirty="0">
                <a:solidFill>
                  <a:schemeClr val="tx1"/>
                </a:solidFill>
              </a:rPr>
              <a:t> agonist</a:t>
            </a:r>
          </a:p>
          <a:p>
            <a:pPr marL="990600" lvl="1" indent="-533400"/>
            <a:r>
              <a:rPr lang="en-US" altLang="en-US" sz="2000" dirty="0">
                <a:solidFill>
                  <a:schemeClr val="tx1"/>
                </a:solidFill>
              </a:rPr>
              <a:t>Adverse effects: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</a:rPr>
              <a:t>Dreams, sedation, depression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</a:rPr>
              <a:t>Dry mouth, Hemolytic anemia</a:t>
            </a:r>
          </a:p>
          <a:p>
            <a:pPr marL="990600" lvl="1" indent="-533400">
              <a:buFont typeface="Wingdings" panose="05000000000000000000" pitchFamily="2" charset="2"/>
              <a:buChar char="v"/>
            </a:pPr>
            <a:r>
              <a:rPr lang="en-US" altLang="en-US" sz="2400" u="sng" dirty="0">
                <a:solidFill>
                  <a:schemeClr val="tx1"/>
                </a:solidFill>
              </a:rPr>
              <a:t>Clonidine:</a:t>
            </a:r>
          </a:p>
          <a:p>
            <a:pPr marL="1371600" lvl="2" indent="-457200"/>
            <a:r>
              <a:rPr lang="en-US" altLang="en-US" sz="2000" dirty="0">
                <a:solidFill>
                  <a:schemeClr val="tx1"/>
                </a:solidFill>
              </a:rPr>
              <a:t>Selective </a:t>
            </a:r>
            <a:r>
              <a:rPr lang="en-US" altLang="en-US" sz="2000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en-US" sz="2000" baseline="-25000" dirty="0">
                <a:solidFill>
                  <a:schemeClr val="tx1"/>
                </a:solidFill>
              </a:rPr>
              <a:t>2</a:t>
            </a:r>
            <a:r>
              <a:rPr lang="en-US" altLang="en-US" sz="2000" dirty="0">
                <a:solidFill>
                  <a:schemeClr val="tx1"/>
                </a:solidFill>
              </a:rPr>
              <a:t> agonist </a:t>
            </a:r>
          </a:p>
          <a:p>
            <a:pPr marL="1371600" lvl="2" indent="-457200"/>
            <a:r>
              <a:rPr lang="en-US" altLang="en-US" sz="2000" dirty="0">
                <a:solidFill>
                  <a:schemeClr val="tx1"/>
                </a:solidFill>
              </a:rPr>
              <a:t>Can cause rebound hypertension on cessation</a:t>
            </a:r>
          </a:p>
          <a:p>
            <a:pPr marL="1371600" lvl="2" indent="-457200"/>
            <a:r>
              <a:rPr lang="en-US" altLang="en-US" sz="2000" dirty="0">
                <a:solidFill>
                  <a:schemeClr val="tx1"/>
                </a:solidFill>
              </a:rPr>
              <a:t>Both drugs cause very little postural hypotension</a:t>
            </a:r>
          </a:p>
        </p:txBody>
      </p:sp>
      <p:sp>
        <p:nvSpPr>
          <p:cNvPr id="108548" name="Rectangle 6">
            <a:extLst>
              <a:ext uri="{FF2B5EF4-FFF2-40B4-BE49-F238E27FC236}">
                <a16:creationId xmlns:a16="http://schemas.microsoft.com/office/drawing/2014/main" id="{A03F6AB1-6F38-4B99-801D-5F77FAF01C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2081A93-EC43-455E-A626-780CEF04B943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4">
            <a:extLst>
              <a:ext uri="{FF2B5EF4-FFF2-40B4-BE49-F238E27FC236}">
                <a16:creationId xmlns:a16="http://schemas.microsoft.com/office/drawing/2014/main" id="{0D7E2D4A-E13E-4EB6-954B-3B9B68E465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487362"/>
          </a:xfrm>
          <a:noFill/>
        </p:spPr>
        <p:txBody>
          <a:bodyPr>
            <a:normAutofit fontScale="90000"/>
          </a:bodyPr>
          <a:lstStyle/>
          <a:p>
            <a:pPr algn="r"/>
            <a:r>
              <a:rPr lang="en-US" altLang="en-US">
                <a:solidFill>
                  <a:schemeClr val="tx1"/>
                </a:solidFill>
              </a:rPr>
              <a:t>Antihypertensive cont’d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1FA20061-5510-47D0-8E4A-C05D3A9853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9684" y="838200"/>
            <a:ext cx="9729716" cy="5715000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sz="2800" b="1" u="sng" dirty="0">
                <a:solidFill>
                  <a:schemeClr val="tx1"/>
                </a:solidFill>
              </a:rPr>
              <a:t>3. </a:t>
            </a:r>
            <a:r>
              <a:rPr lang="en-US" altLang="en-US" sz="3200" b="1" u="sng" dirty="0">
                <a:solidFill>
                  <a:srgbClr val="7030A0"/>
                </a:solidFill>
              </a:rPr>
              <a:t>adrenoceptor antagonist</a:t>
            </a:r>
            <a:endParaRPr lang="en-US" altLang="en-US" sz="3200" dirty="0">
              <a:solidFill>
                <a:srgbClr val="7030A0"/>
              </a:solidFill>
            </a:endParaRPr>
          </a:p>
          <a:p>
            <a:pPr marL="800100" lvl="1" indent="-342900">
              <a:lnSpc>
                <a:spcPct val="8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dilates blood vessels or decrease CO</a:t>
            </a:r>
          </a:p>
          <a:p>
            <a:pPr marL="800100" lvl="1" indent="-342900">
              <a:lnSpc>
                <a:spcPct val="8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reduce plasma triglyceride, reduce LDL; raise in HDL</a:t>
            </a:r>
          </a:p>
          <a:p>
            <a:pPr marL="800100" lvl="1" indent="-342900">
              <a:lnSpc>
                <a:spcPct val="80000"/>
              </a:lnSpc>
            </a:pPr>
            <a:endParaRPr lang="en-US" altLang="en-US" sz="2800" dirty="0">
              <a:solidFill>
                <a:schemeClr val="tx1"/>
              </a:solidFill>
            </a:endParaRPr>
          </a:p>
          <a:p>
            <a:pPr marL="381000" indent="-381000">
              <a:lnSpc>
                <a:spcPct val="80000"/>
              </a:lnSpc>
              <a:buNone/>
            </a:pPr>
            <a:r>
              <a:rPr lang="en-US" altLang="en-US" sz="2800" b="1" dirty="0">
                <a:solidFill>
                  <a:schemeClr val="tx1"/>
                </a:solidFill>
                <a:sym typeface="Symbol" panose="05050102010706020507" pitchFamily="18" charset="2"/>
              </a:rPr>
              <a:t>   i. -blocker….</a:t>
            </a:r>
            <a:r>
              <a:rPr lang="en-US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reduce vasoconstriction</a:t>
            </a:r>
            <a:endParaRPr lang="en-US" altLang="en-US" sz="2800" dirty="0">
              <a:solidFill>
                <a:schemeClr val="tx1"/>
              </a:solidFill>
            </a:endParaRPr>
          </a:p>
          <a:p>
            <a:pPr marL="800100" lvl="1" indent="-342900">
              <a:lnSpc>
                <a:spcPct val="8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Prazosin</a:t>
            </a:r>
          </a:p>
          <a:p>
            <a:pPr marL="800100" lvl="1" indent="-342900">
              <a:lnSpc>
                <a:spcPct val="8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Terazosin</a:t>
            </a:r>
          </a:p>
          <a:p>
            <a:pPr marL="800100" lvl="1" indent="-342900">
              <a:lnSpc>
                <a:spcPct val="8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Adverse effects:</a:t>
            </a:r>
          </a:p>
          <a:p>
            <a:pPr marL="1200150" lvl="2" indent="-28575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Postural hypotension (occurs on the first dose)</a:t>
            </a:r>
          </a:p>
          <a:p>
            <a:pPr marL="1200150" lvl="2" indent="-28575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Failure to ejaculate </a:t>
            </a:r>
          </a:p>
          <a:p>
            <a:pPr marL="800100" lvl="1" indent="-342900">
              <a:lnSpc>
                <a:spcPct val="80000"/>
              </a:lnSpc>
              <a:buNone/>
            </a:pPr>
            <a:endParaRPr lang="en-US" altLang="en-US" sz="800" b="1" dirty="0">
              <a:solidFill>
                <a:schemeClr val="tx1"/>
              </a:solidFill>
            </a:endParaRPr>
          </a:p>
          <a:p>
            <a:pPr marL="342900" lvl="1" indent="-342900">
              <a:lnSpc>
                <a:spcPct val="80000"/>
              </a:lnSpc>
              <a:buNone/>
            </a:pPr>
            <a:endParaRPr lang="en-US" altLang="en-US" sz="2400" i="1" dirty="0">
              <a:solidFill>
                <a:schemeClr val="tx1"/>
              </a:solidFill>
            </a:endParaRPr>
          </a:p>
        </p:txBody>
      </p:sp>
      <p:sp>
        <p:nvSpPr>
          <p:cNvPr id="109572" name="Rectangle 6">
            <a:extLst>
              <a:ext uri="{FF2B5EF4-FFF2-40B4-BE49-F238E27FC236}">
                <a16:creationId xmlns:a16="http://schemas.microsoft.com/office/drawing/2014/main" id="{AB3A9D8B-E1CB-4AA6-974E-75366B88F8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CB5E0FD-6823-451B-869D-6EC05ADF1899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4">
            <a:extLst>
              <a:ext uri="{FF2B5EF4-FFF2-40B4-BE49-F238E27FC236}">
                <a16:creationId xmlns:a16="http://schemas.microsoft.com/office/drawing/2014/main" id="{4081F6F2-4916-440B-AE2A-A52E867D3F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563562"/>
          </a:xfrm>
          <a:noFill/>
        </p:spPr>
        <p:txBody>
          <a:bodyPr/>
          <a:lstStyle/>
          <a:p>
            <a:pPr algn="r"/>
            <a:r>
              <a:rPr lang="en-US" altLang="en-US">
                <a:solidFill>
                  <a:schemeClr val="tx1"/>
                </a:solidFill>
              </a:rPr>
              <a:t>Antihypertensive cont’d</a:t>
            </a:r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5BDBDDA9-A861-4F01-BD19-D03A750606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98785" y="914399"/>
            <a:ext cx="10636469" cy="5759669"/>
          </a:xfrm>
        </p:spPr>
        <p:txBody>
          <a:bodyPr>
            <a:normAutofit lnSpcReduction="10000"/>
          </a:bodyPr>
          <a:lstStyle/>
          <a:p>
            <a:pPr>
              <a:spcAft>
                <a:spcPts val="0"/>
              </a:spcAft>
              <a:buNone/>
              <a:defRPr/>
            </a:pPr>
            <a:r>
              <a:rPr lang="en-US" altLang="en-US" sz="2400" b="1" u="sng" dirty="0">
                <a:solidFill>
                  <a:schemeClr val="tx1"/>
                </a:solidFill>
                <a:sym typeface="Symbol" panose="05050102010706020507" pitchFamily="18" charset="2"/>
              </a:rPr>
              <a:t>ii. -</a:t>
            </a:r>
            <a:r>
              <a:rPr lang="en-US" altLang="en-US" sz="2400" b="1" u="sng" dirty="0">
                <a:solidFill>
                  <a:schemeClr val="tx1"/>
                </a:solidFill>
              </a:rPr>
              <a:t> Blockers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lvl="1">
              <a:spcAft>
                <a:spcPts val="0"/>
              </a:spcAft>
              <a:defRPr/>
            </a:pPr>
            <a:r>
              <a:rPr lang="en-US" altLang="en-US" sz="2400" dirty="0">
                <a:solidFill>
                  <a:schemeClr val="tx1"/>
                </a:solidFill>
              </a:rPr>
              <a:t>Reduce BP by: Blocking </a:t>
            </a:r>
            <a:r>
              <a:rPr lang="en-US" altLang="en-US" sz="2000" b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en-US" sz="2400" b="1" baseline="-25000" dirty="0">
                <a:solidFill>
                  <a:schemeClr val="tx1"/>
                </a:solidFill>
              </a:rPr>
              <a:t>1</a:t>
            </a:r>
            <a:r>
              <a:rPr lang="en-US" altLang="en-US" sz="2400" b="1" dirty="0">
                <a:solidFill>
                  <a:schemeClr val="tx1"/>
                </a:solidFill>
              </a:rPr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receptors of the heart and the kidney</a:t>
            </a:r>
          </a:p>
          <a:p>
            <a:pPr lvl="1">
              <a:spcAft>
                <a:spcPts val="0"/>
              </a:spcAft>
              <a:defRPr/>
            </a:pPr>
            <a:r>
              <a:rPr lang="en-US" altLang="en-US" sz="2400" b="1" dirty="0">
                <a:solidFill>
                  <a:schemeClr val="tx1"/>
                </a:solidFill>
              </a:rPr>
              <a:t>Propranolol - </a:t>
            </a:r>
            <a:r>
              <a:rPr lang="en-US" altLang="en-US" sz="2400" dirty="0">
                <a:solidFill>
                  <a:schemeClr val="tx1"/>
                </a:solidFill>
              </a:rPr>
              <a:t>non selective</a:t>
            </a:r>
          </a:p>
          <a:p>
            <a:pPr lvl="1">
              <a:spcAft>
                <a:spcPts val="0"/>
              </a:spcAft>
              <a:defRPr/>
            </a:pPr>
            <a:r>
              <a:rPr lang="en-US" altLang="en-US" sz="2400" b="1" dirty="0">
                <a:solidFill>
                  <a:schemeClr val="tx1"/>
                </a:solidFill>
              </a:rPr>
              <a:t>Atenolol and Metoprolol- </a:t>
            </a:r>
            <a:r>
              <a:rPr lang="en-US" altLang="en-US" sz="2000" b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en-US" sz="2400" b="1" baseline="-25000" dirty="0">
                <a:solidFill>
                  <a:schemeClr val="tx1"/>
                </a:solidFill>
              </a:rPr>
              <a:t>1</a:t>
            </a:r>
            <a:r>
              <a:rPr lang="en-US" altLang="en-US" sz="2400" dirty="0">
                <a:solidFill>
                  <a:schemeClr val="tx1"/>
                </a:solidFill>
              </a:rPr>
              <a:t> selective</a:t>
            </a:r>
          </a:p>
          <a:p>
            <a:pPr lvl="1">
              <a:spcAft>
                <a:spcPts val="0"/>
              </a:spcAft>
              <a:defRPr/>
            </a:pPr>
            <a:r>
              <a:rPr lang="en-US" altLang="en-US" sz="2400" dirty="0">
                <a:solidFill>
                  <a:schemeClr val="tx1"/>
                </a:solidFill>
              </a:rPr>
              <a:t>Adverse effects:</a:t>
            </a:r>
          </a:p>
          <a:p>
            <a:pPr lvl="2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en-US" sz="1800" dirty="0">
                <a:solidFill>
                  <a:schemeClr val="tx1"/>
                </a:solidFill>
              </a:rPr>
              <a:t>Cold extremities and bronchospasm(</a:t>
            </a: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</a:t>
            </a:r>
            <a:r>
              <a:rPr lang="en-US" altLang="en-US" sz="1800" dirty="0">
                <a:solidFill>
                  <a:schemeClr val="tx1"/>
                </a:solidFill>
              </a:rPr>
              <a:t> </a:t>
            </a:r>
            <a:r>
              <a:rPr lang="en-US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en-US" sz="3200" baseline="-25000" dirty="0">
                <a:solidFill>
                  <a:schemeClr val="tx1"/>
                </a:solidFill>
              </a:rPr>
              <a:t>2</a:t>
            </a:r>
            <a:r>
              <a:rPr lang="en-US" altLang="en-US" sz="1800" dirty="0">
                <a:solidFill>
                  <a:schemeClr val="tx1"/>
                </a:solidFill>
              </a:rPr>
              <a:t> effect) mainly propranolol</a:t>
            </a:r>
          </a:p>
          <a:p>
            <a:pPr lvl="2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en-US" sz="1800" dirty="0">
                <a:solidFill>
                  <a:schemeClr val="tx1"/>
                </a:solidFill>
              </a:rPr>
              <a:t>Increased triglycerides since </a:t>
            </a: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en-US" sz="1800" dirty="0">
                <a:solidFill>
                  <a:schemeClr val="tx1"/>
                </a:solidFill>
              </a:rPr>
              <a:t> receptors are also present in the liver to increase fat metabolism</a:t>
            </a:r>
          </a:p>
          <a:p>
            <a:pPr lvl="2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en-US" sz="1800" dirty="0">
                <a:solidFill>
                  <a:schemeClr val="tx1"/>
                </a:solidFill>
              </a:rPr>
              <a:t>Reduces libido</a:t>
            </a:r>
          </a:p>
          <a:p>
            <a:pPr lvl="2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en-US" sz="1800" dirty="0">
                <a:solidFill>
                  <a:schemeClr val="tx1"/>
                </a:solidFill>
              </a:rPr>
              <a:t>Withdrawal effect(e.g. Propranolol may result in tachycardia )</a:t>
            </a:r>
          </a:p>
          <a:p>
            <a:pPr lvl="2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en-US" sz="1800" b="1" dirty="0">
                <a:solidFill>
                  <a:schemeClr val="tx1"/>
                </a:solidFill>
              </a:rPr>
              <a:t>AV block </a:t>
            </a:r>
            <a:r>
              <a:rPr lang="en-US" altLang="en-US" sz="1800" dirty="0">
                <a:solidFill>
                  <a:schemeClr val="tx1"/>
                </a:solidFill>
              </a:rPr>
              <a:t>and bradycardia </a:t>
            </a:r>
          </a:p>
          <a:p>
            <a:pPr marL="612900" lvl="2" indent="-342900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chemeClr val="tx1"/>
                </a:solidFill>
              </a:rPr>
              <a:t>Labetalol</a:t>
            </a:r>
            <a:r>
              <a:rPr lang="en-US" altLang="en-US" sz="2400" dirty="0">
                <a:solidFill>
                  <a:schemeClr val="tx1"/>
                </a:solidFill>
              </a:rPr>
              <a:t>- </a:t>
            </a:r>
            <a:r>
              <a:rPr lang="en-US" altLang="en-US" sz="2400" b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en-US" sz="2400" baseline="-25000" dirty="0">
                <a:solidFill>
                  <a:schemeClr val="tx1"/>
                </a:solidFill>
              </a:rPr>
              <a:t>1</a:t>
            </a:r>
            <a:r>
              <a:rPr lang="en-US" altLang="en-US" sz="2400" dirty="0">
                <a:solidFill>
                  <a:schemeClr val="tx1"/>
                </a:solidFill>
              </a:rPr>
              <a:t> antagonist and a non-selective </a:t>
            </a:r>
            <a:r>
              <a:rPr lang="en-US" altLang="en-US" sz="2400" b="1" dirty="0">
                <a:solidFill>
                  <a:schemeClr val="tx1"/>
                </a:solidFill>
                <a:sym typeface="Symbol" panose="05050102010706020507" pitchFamily="18" charset="2"/>
              </a:rPr>
              <a:t> </a:t>
            </a:r>
            <a:r>
              <a:rPr lang="en-US" altLang="en-US" sz="2400" dirty="0">
                <a:solidFill>
                  <a:schemeClr val="tx1"/>
                </a:solidFill>
              </a:rPr>
              <a:t>antagonist (weak)</a:t>
            </a:r>
          </a:p>
          <a:p>
            <a:pPr marL="800100" lvl="1" indent="-34290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</a:rPr>
              <a:t>not used widely</a:t>
            </a:r>
          </a:p>
          <a:p>
            <a:pPr marL="800100" lvl="1" indent="-34290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</a:rPr>
              <a:t>Used for hypertensive emergencies </a:t>
            </a:r>
          </a:p>
          <a:p>
            <a:pPr marL="800100" lvl="1" indent="-34290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</a:rPr>
              <a:t>Useful in </a:t>
            </a:r>
            <a:r>
              <a:rPr lang="en-US" altLang="en-US" sz="2000" i="1" dirty="0">
                <a:solidFill>
                  <a:schemeClr val="tx1"/>
                </a:solidFill>
              </a:rPr>
              <a:t>pre-eclampsia of pregnancy</a:t>
            </a:r>
          </a:p>
          <a:p>
            <a:pPr lvl="3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chemeClr val="tx1"/>
              </a:solidFill>
            </a:endParaRPr>
          </a:p>
        </p:txBody>
      </p:sp>
      <p:sp>
        <p:nvSpPr>
          <p:cNvPr id="110596" name="Rectangle 6">
            <a:extLst>
              <a:ext uri="{FF2B5EF4-FFF2-40B4-BE49-F238E27FC236}">
                <a16:creationId xmlns:a16="http://schemas.microsoft.com/office/drawing/2014/main" id="{86584D6B-F63A-4FBD-9D44-04A0A926F0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16A33B5-76D3-411B-B871-6A4EAE3623A3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4">
            <a:extLst>
              <a:ext uri="{FF2B5EF4-FFF2-40B4-BE49-F238E27FC236}">
                <a16:creationId xmlns:a16="http://schemas.microsoft.com/office/drawing/2014/main" id="{2C1E4913-8049-4660-A29F-1D3B497119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"/>
            <a:ext cx="8229600" cy="563563"/>
          </a:xfrm>
          <a:noFill/>
        </p:spPr>
        <p:txBody>
          <a:bodyPr/>
          <a:lstStyle/>
          <a:p>
            <a:pPr algn="r"/>
            <a:r>
              <a:rPr lang="en-US" altLang="en-US">
                <a:solidFill>
                  <a:schemeClr val="tx1"/>
                </a:solidFill>
              </a:rPr>
              <a:t>Antihypertensive cont’d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74A35D17-8035-4118-BAB0-1AE41414C0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01002" y="533400"/>
            <a:ext cx="9785445" cy="6019800"/>
          </a:xfrm>
        </p:spPr>
        <p:txBody>
          <a:bodyPr wrap="square" numCol="1" anchor="t" anchorCtr="0" compatLnSpc="1">
            <a:prstTxWarp prst="textNoShape">
              <a:avLst/>
            </a:prstTxWarp>
            <a:normAutofit fontScale="92500"/>
          </a:bodyPr>
          <a:lstStyle/>
          <a:p>
            <a:pPr>
              <a:buFontTx/>
              <a:buNone/>
            </a:pPr>
            <a:endParaRPr lang="en-US" altLang="en-US" sz="2400" dirty="0">
              <a:solidFill>
                <a:schemeClr val="tx1"/>
              </a:solidFill>
            </a:endParaRPr>
          </a:p>
          <a:p>
            <a:pPr>
              <a:buFontTx/>
              <a:buNone/>
            </a:pPr>
            <a:r>
              <a:rPr lang="en-US" altLang="en-US" sz="2800" dirty="0">
                <a:solidFill>
                  <a:srgbClr val="7030A0"/>
                </a:solidFill>
              </a:rPr>
              <a:t>4</a:t>
            </a:r>
            <a:r>
              <a:rPr lang="en-US" altLang="en-US" sz="2400" dirty="0">
                <a:solidFill>
                  <a:srgbClr val="7030A0"/>
                </a:solidFill>
              </a:rPr>
              <a:t>. </a:t>
            </a:r>
            <a:r>
              <a:rPr lang="en-US" altLang="en-US" sz="2800" b="1" dirty="0">
                <a:solidFill>
                  <a:srgbClr val="7030A0"/>
                </a:solidFill>
              </a:rPr>
              <a:t>Direct vasodilator</a:t>
            </a:r>
          </a:p>
          <a:p>
            <a:r>
              <a:rPr lang="en-US" altLang="en-US" sz="2400" b="1" dirty="0">
                <a:solidFill>
                  <a:srgbClr val="FF0000"/>
                </a:solidFill>
              </a:rPr>
              <a:t>Hydralazine</a:t>
            </a:r>
            <a:r>
              <a:rPr lang="en-US" altLang="en-US" sz="2400" b="1" dirty="0">
                <a:solidFill>
                  <a:schemeClr val="tx1"/>
                </a:solidFill>
              </a:rPr>
              <a:t> [</a:t>
            </a:r>
            <a:r>
              <a:rPr lang="en-US" altLang="en-US" sz="2400" dirty="0">
                <a:solidFill>
                  <a:schemeClr val="tx1"/>
                </a:solidFill>
              </a:rPr>
              <a:t>Dilates </a:t>
            </a:r>
            <a:r>
              <a:rPr lang="en-US" altLang="en-US" sz="2400" b="1" dirty="0">
                <a:solidFill>
                  <a:schemeClr val="tx1"/>
                </a:solidFill>
              </a:rPr>
              <a:t>arterioles</a:t>
            </a:r>
            <a:r>
              <a:rPr lang="en-US" altLang="en-US" sz="2400" dirty="0">
                <a:solidFill>
                  <a:schemeClr val="tx1"/>
                </a:solidFill>
              </a:rPr>
              <a:t>]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Mechanism of action </a:t>
            </a:r>
            <a:r>
              <a:rPr lang="en-US" altLang="en-US" sz="2400" b="1" dirty="0">
                <a:solidFill>
                  <a:schemeClr val="tx1"/>
                </a:solidFill>
              </a:rPr>
              <a:t>unknown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Combined with  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-</a:t>
            </a:r>
            <a:r>
              <a:rPr lang="en-US" altLang="en-US" sz="2400" dirty="0">
                <a:solidFill>
                  <a:schemeClr val="tx1"/>
                </a:solidFill>
              </a:rPr>
              <a:t>blocker (to prevent the cardiac effects) and a diuretic (to overcome the fluid retention).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Side effects: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sz="2200" dirty="0">
                <a:solidFill>
                  <a:schemeClr val="tx1"/>
                </a:solidFill>
              </a:rPr>
              <a:t>Headache (due to vasodilation) 	 </a:t>
            </a:r>
            <a:endParaRPr lang="en-US" altLang="en-US" sz="22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sz="2200" dirty="0">
                <a:solidFill>
                  <a:schemeClr val="tx1"/>
                </a:solidFill>
              </a:rPr>
              <a:t>Tachycardia(Reflex stimulation of the heart: precipitate ischemic attack)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sz="2200" dirty="0">
                <a:solidFill>
                  <a:schemeClr val="tx1"/>
                </a:solidFill>
              </a:rPr>
              <a:t>Angina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sz="2200" b="1" dirty="0">
                <a:solidFill>
                  <a:schemeClr val="tx1"/>
                </a:solidFill>
              </a:rPr>
              <a:t>Lupus</a:t>
            </a:r>
            <a:r>
              <a:rPr lang="en-US" altLang="en-US" sz="2200" dirty="0">
                <a:solidFill>
                  <a:schemeClr val="tx1"/>
                </a:solidFill>
              </a:rPr>
              <a:t> like condition in some people</a:t>
            </a:r>
          </a:p>
          <a:p>
            <a:pPr lvl="1"/>
            <a:r>
              <a:rPr lang="en-US" altLang="en-US" sz="2200" dirty="0">
                <a:solidFill>
                  <a:schemeClr val="tx1"/>
                </a:solidFill>
              </a:rPr>
              <a:t>Treatment restricted to Hypertensive people who are </a:t>
            </a:r>
            <a:r>
              <a:rPr lang="en-US" altLang="en-US" sz="2200" b="1" dirty="0">
                <a:solidFill>
                  <a:schemeClr val="tx1"/>
                </a:solidFill>
              </a:rPr>
              <a:t>resistant to other drugs</a:t>
            </a:r>
            <a:r>
              <a:rPr lang="en-US" altLang="en-US" sz="24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11620" name="Rectangle 6">
            <a:extLst>
              <a:ext uri="{FF2B5EF4-FFF2-40B4-BE49-F238E27FC236}">
                <a16:creationId xmlns:a16="http://schemas.microsoft.com/office/drawing/2014/main" id="{10160C40-5294-4C59-84D4-95B924B5AC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4EA42B0-5958-4F7C-8327-25D8180905D2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4">
            <a:extLst>
              <a:ext uri="{FF2B5EF4-FFF2-40B4-BE49-F238E27FC236}">
                <a16:creationId xmlns:a16="http://schemas.microsoft.com/office/drawing/2014/main" id="{FA124741-98A0-4E61-9E37-C5CC725B3C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"/>
            <a:ext cx="8229600" cy="487363"/>
          </a:xfrm>
          <a:noFill/>
        </p:spPr>
        <p:txBody>
          <a:bodyPr>
            <a:normAutofit fontScale="90000"/>
          </a:bodyPr>
          <a:lstStyle/>
          <a:p>
            <a:pPr algn="r"/>
            <a:r>
              <a:rPr lang="en-US" altLang="en-US">
                <a:solidFill>
                  <a:schemeClr val="tx1"/>
                </a:solidFill>
              </a:rPr>
              <a:t>Antihypertensive cont’d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D9F23633-AFB7-4C90-A0BA-2485B3A462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2144" y="685801"/>
            <a:ext cx="9957816" cy="5668963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2400" b="1" dirty="0">
                <a:solidFill>
                  <a:srgbClr val="FF0000"/>
                </a:solidFill>
              </a:rPr>
              <a:t>Minoxidil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Relaxes blood vessels by </a:t>
            </a:r>
            <a:r>
              <a:rPr lang="en-US" altLang="en-US" sz="2400" b="1" dirty="0">
                <a:solidFill>
                  <a:schemeClr val="tx1"/>
                </a:solidFill>
              </a:rPr>
              <a:t>opening K+ channels </a:t>
            </a:r>
            <a:r>
              <a:rPr lang="en-US" altLang="en-US" sz="2400" dirty="0">
                <a:solidFill>
                  <a:schemeClr val="tx1"/>
                </a:solidFill>
              </a:rPr>
              <a:t>in the smooth muscle cells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Need to be used in conjunction with 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en-US" sz="2400" dirty="0">
                <a:solidFill>
                  <a:schemeClr val="tx1"/>
                </a:solidFill>
              </a:rPr>
              <a:t> blockers and diuretics 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Adverse effects: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Salt retention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Tachycardia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Angina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</a:rPr>
              <a:t>Hypertrichosis and Hirsutism</a:t>
            </a:r>
          </a:p>
          <a:p>
            <a:endParaRPr lang="en-US" altLang="en-US" sz="2400" dirty="0">
              <a:solidFill>
                <a:schemeClr val="tx1"/>
              </a:solidFill>
            </a:endParaRPr>
          </a:p>
        </p:txBody>
      </p:sp>
      <p:sp>
        <p:nvSpPr>
          <p:cNvPr id="112644" name="Rectangle 6">
            <a:extLst>
              <a:ext uri="{FF2B5EF4-FFF2-40B4-BE49-F238E27FC236}">
                <a16:creationId xmlns:a16="http://schemas.microsoft.com/office/drawing/2014/main" id="{BDE31069-5651-4BF2-9092-AA2F8FDC4F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CE082D7-76B1-486E-81B9-EABDD860F599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4">
            <a:extLst>
              <a:ext uri="{FF2B5EF4-FFF2-40B4-BE49-F238E27FC236}">
                <a16:creationId xmlns:a16="http://schemas.microsoft.com/office/drawing/2014/main" id="{D5AE809C-53FA-4F3C-828A-F6E6DCB1FE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563562"/>
          </a:xfrm>
          <a:noFill/>
        </p:spPr>
        <p:txBody>
          <a:bodyPr/>
          <a:lstStyle/>
          <a:p>
            <a:pPr algn="r"/>
            <a:r>
              <a:rPr lang="en-US" altLang="en-US">
                <a:solidFill>
                  <a:schemeClr val="tx1"/>
                </a:solidFill>
              </a:rPr>
              <a:t>Antihypertensive cont’d</a:t>
            </a:r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5A4E60B0-432B-4EE9-A96E-250AE0CDC1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3683" y="1143001"/>
            <a:ext cx="10447283" cy="4983163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sz="2400" b="1" dirty="0">
                <a:solidFill>
                  <a:srgbClr val="FF0000"/>
                </a:solidFill>
              </a:rPr>
              <a:t>Sodium nitroprusside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Releases </a:t>
            </a:r>
            <a:r>
              <a:rPr lang="en-US" altLang="en-US" sz="2400" b="1" dirty="0">
                <a:solidFill>
                  <a:schemeClr val="tx1"/>
                </a:solidFill>
              </a:rPr>
              <a:t>NO </a:t>
            </a:r>
            <a:r>
              <a:rPr lang="en-US" altLang="en-US" sz="2400" dirty="0">
                <a:solidFill>
                  <a:schemeClr val="tx1"/>
                </a:solidFill>
              </a:rPr>
              <a:t>- relaxes smooth muscle in blood vessels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Dilates </a:t>
            </a:r>
            <a:r>
              <a:rPr lang="en-US" altLang="en-US" sz="2400" b="1" dirty="0">
                <a:solidFill>
                  <a:schemeClr val="tx1"/>
                </a:solidFill>
              </a:rPr>
              <a:t>arterial</a:t>
            </a:r>
            <a:r>
              <a:rPr lang="en-US" altLang="en-US" sz="2400" dirty="0">
                <a:solidFill>
                  <a:schemeClr val="tx1"/>
                </a:solidFill>
              </a:rPr>
              <a:t> and </a:t>
            </a:r>
            <a:r>
              <a:rPr lang="en-US" altLang="en-US" sz="2400" b="1" dirty="0">
                <a:solidFill>
                  <a:schemeClr val="tx1"/>
                </a:solidFill>
              </a:rPr>
              <a:t>venous </a:t>
            </a:r>
            <a:r>
              <a:rPr lang="en-US" altLang="en-US" sz="2400" dirty="0">
                <a:solidFill>
                  <a:schemeClr val="tx1"/>
                </a:solidFill>
              </a:rPr>
              <a:t>vessels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Reserved for </a:t>
            </a:r>
            <a:r>
              <a:rPr lang="en-US" altLang="en-US" sz="2400" b="1" dirty="0">
                <a:solidFill>
                  <a:schemeClr val="tx1"/>
                </a:solidFill>
              </a:rPr>
              <a:t>acute use only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It is light sensitive &amp; the solution must be made up on the spot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The drug contains cyanide - </a:t>
            </a:r>
            <a:r>
              <a:rPr lang="en-US" altLang="en-US" sz="2400" b="1" dirty="0">
                <a:solidFill>
                  <a:schemeClr val="tx1"/>
                </a:solidFill>
              </a:rPr>
              <a:t>cyanide poisoning </a:t>
            </a:r>
            <a:r>
              <a:rPr lang="en-US" altLang="en-US" sz="2400" dirty="0">
                <a:solidFill>
                  <a:schemeClr val="tx1"/>
                </a:solidFill>
              </a:rPr>
              <a:t>may develop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Serious toxicity: metabolic acidosis, arrhythmias, excessive </a:t>
            </a:r>
            <a:r>
              <a:rPr lang="en-US" altLang="en-US" sz="2400" b="1" dirty="0">
                <a:solidFill>
                  <a:schemeClr val="tx1"/>
                </a:solidFill>
              </a:rPr>
              <a:t>hypotension</a:t>
            </a:r>
            <a:r>
              <a:rPr lang="en-US" altLang="en-US" sz="2400" dirty="0">
                <a:solidFill>
                  <a:schemeClr val="tx1"/>
                </a:solidFill>
              </a:rPr>
              <a:t> and </a:t>
            </a:r>
            <a:r>
              <a:rPr lang="en-US" altLang="en-US" sz="2400" b="1" dirty="0">
                <a:solidFill>
                  <a:schemeClr val="tx1"/>
                </a:solidFill>
              </a:rPr>
              <a:t>cyanide poisoning </a:t>
            </a:r>
            <a:r>
              <a:rPr lang="en-US" altLang="en-US" sz="2400" dirty="0">
                <a:solidFill>
                  <a:schemeClr val="tx1"/>
                </a:solidFill>
              </a:rPr>
              <a:t>and death</a:t>
            </a:r>
          </a:p>
        </p:txBody>
      </p:sp>
      <p:sp>
        <p:nvSpPr>
          <p:cNvPr id="113668" name="Rectangle 6">
            <a:extLst>
              <a:ext uri="{FF2B5EF4-FFF2-40B4-BE49-F238E27FC236}">
                <a16:creationId xmlns:a16="http://schemas.microsoft.com/office/drawing/2014/main" id="{4ECCB829-C2F5-4CD9-B08F-1DF5EF4B2E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9CF548A-41AA-4E05-980B-65FEC5C15319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4">
            <a:extLst>
              <a:ext uri="{FF2B5EF4-FFF2-40B4-BE49-F238E27FC236}">
                <a16:creationId xmlns:a16="http://schemas.microsoft.com/office/drawing/2014/main" id="{425C82B1-0C5E-462B-9871-FEFFDC7016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563562"/>
          </a:xfrm>
          <a:noFill/>
        </p:spPr>
        <p:txBody>
          <a:bodyPr/>
          <a:lstStyle/>
          <a:p>
            <a:pPr algn="r"/>
            <a:r>
              <a:rPr lang="en-US" altLang="en-US">
                <a:solidFill>
                  <a:schemeClr val="tx1"/>
                </a:solidFill>
              </a:rPr>
              <a:t>Antihypertensive cont’d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6745C588-2EAF-4116-A7FD-3798AD9EA7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41946" y="990601"/>
            <a:ext cx="9426054" cy="5287963"/>
          </a:xfrm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2800" b="1" dirty="0">
                <a:solidFill>
                  <a:srgbClr val="7030A0"/>
                </a:solidFill>
              </a:rPr>
              <a:t>5. Calcium channel blockers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800" dirty="0">
              <a:solidFill>
                <a:srgbClr val="7030A0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Relax </a:t>
            </a:r>
            <a:r>
              <a:rPr lang="en-US" altLang="en-US" sz="2400" b="1" dirty="0">
                <a:solidFill>
                  <a:schemeClr val="tx1"/>
                </a:solidFill>
              </a:rPr>
              <a:t>arteriolar</a:t>
            </a:r>
            <a:r>
              <a:rPr lang="en-US" altLang="en-US" sz="2400" dirty="0">
                <a:solidFill>
                  <a:schemeClr val="tx1"/>
                </a:solidFill>
              </a:rPr>
              <a:t> smooth muscle by reducing calcium entry</a:t>
            </a:r>
          </a:p>
          <a:p>
            <a:pPr>
              <a:lnSpc>
                <a:spcPct val="80000"/>
              </a:lnSpc>
            </a:pPr>
            <a:r>
              <a:rPr lang="en-US" altLang="en-US" sz="2400" b="1" dirty="0" err="1">
                <a:solidFill>
                  <a:schemeClr val="tx1"/>
                </a:solidFill>
              </a:rPr>
              <a:t>i</a:t>
            </a:r>
            <a:r>
              <a:rPr lang="en-US" altLang="en-US" sz="2400" b="1" dirty="0">
                <a:solidFill>
                  <a:schemeClr val="tx1"/>
                </a:solidFill>
              </a:rPr>
              <a:t>. Dihydropyridines- </a:t>
            </a:r>
            <a:r>
              <a:rPr lang="en-US" altLang="en-US" sz="2400" dirty="0">
                <a:solidFill>
                  <a:schemeClr val="tx1"/>
                </a:solidFill>
              </a:rPr>
              <a:t>more vascular selective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Nifedipine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Amlodipine</a:t>
            </a:r>
          </a:p>
          <a:p>
            <a:pPr>
              <a:lnSpc>
                <a:spcPct val="80000"/>
              </a:lnSpc>
            </a:pPr>
            <a:r>
              <a:rPr lang="en-US" altLang="en-US" sz="2400" b="1" dirty="0">
                <a:solidFill>
                  <a:schemeClr val="tx1"/>
                </a:solidFill>
              </a:rPr>
              <a:t>ii. Non-Dihydropyridines- </a:t>
            </a:r>
            <a:r>
              <a:rPr lang="en-US" altLang="en-US" sz="2400" dirty="0">
                <a:solidFill>
                  <a:schemeClr val="tx1"/>
                </a:solidFill>
              </a:rPr>
              <a:t>more cardiac</a:t>
            </a:r>
            <a:r>
              <a:rPr lang="en-US" altLang="en-US" sz="2400" b="1" dirty="0">
                <a:solidFill>
                  <a:schemeClr val="tx1"/>
                </a:solidFill>
              </a:rPr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selective</a:t>
            </a:r>
            <a:endParaRPr lang="en-US" altLang="en-US" sz="2400" b="1" dirty="0">
              <a:solidFill>
                <a:schemeClr val="tx1"/>
              </a:solidFill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en-US" sz="2100" dirty="0">
                <a:solidFill>
                  <a:schemeClr val="tx1"/>
                </a:solidFill>
              </a:rPr>
              <a:t>Diltiazem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en-US" sz="2100" dirty="0">
                <a:solidFill>
                  <a:schemeClr val="tx1"/>
                </a:solidFill>
              </a:rPr>
              <a:t>Verapamil</a:t>
            </a:r>
          </a:p>
          <a:p>
            <a:pPr>
              <a:lnSpc>
                <a:spcPct val="80000"/>
              </a:lnSpc>
            </a:pPr>
            <a:r>
              <a:rPr lang="en-US" altLang="en-US" sz="2400" b="1" dirty="0">
                <a:solidFill>
                  <a:schemeClr val="tx1"/>
                </a:solidFill>
              </a:rPr>
              <a:t>Adverse effects: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Flushing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tx1"/>
                </a:solidFill>
              </a:rPr>
              <a:t>Edema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Dizziness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tx1"/>
                </a:solidFill>
              </a:rPr>
              <a:t>AV blockade </a:t>
            </a:r>
            <a:r>
              <a:rPr lang="en-US" altLang="en-US" sz="2400" dirty="0">
                <a:solidFill>
                  <a:schemeClr val="tx1"/>
                </a:solidFill>
              </a:rPr>
              <a:t>(with cardio selective agents)</a:t>
            </a:r>
          </a:p>
          <a:p>
            <a:pPr>
              <a:lnSpc>
                <a:spcPct val="8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Verapamil </a:t>
            </a:r>
            <a:r>
              <a:rPr lang="en-US" altLang="en-US" sz="2400" b="1" dirty="0">
                <a:solidFill>
                  <a:schemeClr val="tx1"/>
                </a:solidFill>
              </a:rPr>
              <a:t>must never </a:t>
            </a:r>
            <a:r>
              <a:rPr lang="en-US" altLang="en-US" sz="2400" dirty="0">
                <a:solidFill>
                  <a:schemeClr val="tx1"/>
                </a:solidFill>
              </a:rPr>
              <a:t>be used in conjunction with beta blocker </a:t>
            </a:r>
          </a:p>
        </p:txBody>
      </p:sp>
      <p:sp>
        <p:nvSpPr>
          <p:cNvPr id="114692" name="Rectangle 6">
            <a:extLst>
              <a:ext uri="{FF2B5EF4-FFF2-40B4-BE49-F238E27FC236}">
                <a16:creationId xmlns:a16="http://schemas.microsoft.com/office/drawing/2014/main" id="{411A41A4-5109-4660-B699-BD7DE3564D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7C9C777-43BA-443F-A49B-99A8F9C99E9B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14693" name="Line 7">
            <a:extLst>
              <a:ext uri="{FF2B5EF4-FFF2-40B4-BE49-F238E27FC236}">
                <a16:creationId xmlns:a16="http://schemas.microsoft.com/office/drawing/2014/main" id="{F15C8CC4-0E2F-4633-BB8F-F3EFA791BB5B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21336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694" name="Line 6">
            <a:extLst>
              <a:ext uri="{FF2B5EF4-FFF2-40B4-BE49-F238E27FC236}">
                <a16:creationId xmlns:a16="http://schemas.microsoft.com/office/drawing/2014/main" id="{7B48A94D-4433-44F0-9D33-408552A42B0B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2133600"/>
            <a:ext cx="0" cy="9906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4">
            <a:extLst>
              <a:ext uri="{FF2B5EF4-FFF2-40B4-BE49-F238E27FC236}">
                <a16:creationId xmlns:a16="http://schemas.microsoft.com/office/drawing/2014/main" id="{522D040F-9A33-466E-9C89-C1800FD95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563562"/>
          </a:xfrm>
          <a:noFill/>
        </p:spPr>
        <p:txBody>
          <a:bodyPr/>
          <a:lstStyle/>
          <a:p>
            <a:pPr algn="r"/>
            <a:r>
              <a:rPr lang="en-US" altLang="en-US">
                <a:solidFill>
                  <a:schemeClr val="tx1"/>
                </a:solidFill>
              </a:rPr>
              <a:t>Antihypertensive cont’d</a:t>
            </a: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C8319544-745A-4CE3-9D62-8BACC557E4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93379" y="1066801"/>
            <a:ext cx="9664921" cy="5211763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b="1" dirty="0">
                <a:solidFill>
                  <a:srgbClr val="7030A0"/>
                </a:solidFill>
              </a:rPr>
              <a:t>6. Angiotensin converting enzyme inhibitors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ACE inhibitors prevent the conversion of angiotensin I to II</a:t>
            </a:r>
          </a:p>
          <a:p>
            <a:pPr lvl="1">
              <a:lnSpc>
                <a:spcPct val="80000"/>
              </a:lnSpc>
            </a:pPr>
            <a:r>
              <a:rPr lang="en-US" altLang="en-US" sz="2400" b="1" dirty="0">
                <a:solidFill>
                  <a:schemeClr val="tx1"/>
                </a:solidFill>
              </a:rPr>
              <a:t>Low Angiotensin II</a:t>
            </a:r>
            <a:r>
              <a:rPr lang="en-US" altLang="en-US" sz="2400" dirty="0">
                <a:solidFill>
                  <a:schemeClr val="tx1"/>
                </a:solidFill>
              </a:rPr>
              <a:t>…low aldosterone…</a:t>
            </a:r>
            <a:r>
              <a:rPr lang="en-US" altLang="en-US" sz="2400" b="1" dirty="0">
                <a:solidFill>
                  <a:schemeClr val="tx1"/>
                </a:solidFill>
              </a:rPr>
              <a:t>less Na+ reabsorption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ACE : also responsible for </a:t>
            </a:r>
            <a:r>
              <a:rPr lang="en-US" altLang="en-US" sz="2400" b="1" dirty="0">
                <a:solidFill>
                  <a:schemeClr val="tx1"/>
                </a:solidFill>
              </a:rPr>
              <a:t>inactivation of bradykinin 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Bradykinin can act as a local vasodilator agent. However, the adverse effects of bradykinin limit the usefulness of ACE inhibitors.</a:t>
            </a:r>
          </a:p>
          <a:p>
            <a:pPr lvl="1">
              <a:lnSpc>
                <a:spcPct val="80000"/>
              </a:lnSpc>
            </a:pPr>
            <a:r>
              <a:rPr lang="en-US" altLang="en-US" sz="2400" b="1" dirty="0">
                <a:solidFill>
                  <a:schemeClr val="tx1"/>
                </a:solidFill>
              </a:rPr>
              <a:t>Captopril</a:t>
            </a:r>
          </a:p>
          <a:p>
            <a:pPr lvl="2">
              <a:lnSpc>
                <a:spcPct val="8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Excreted by the kidneys</a:t>
            </a:r>
          </a:p>
          <a:p>
            <a:pPr lvl="2">
              <a:lnSpc>
                <a:spcPct val="8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Orally available</a:t>
            </a:r>
          </a:p>
          <a:p>
            <a:pPr lvl="2">
              <a:lnSpc>
                <a:spcPct val="8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65% bioavailability</a:t>
            </a:r>
          </a:p>
          <a:p>
            <a:pPr lvl="2">
              <a:lnSpc>
                <a:spcPct val="8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Half life 2 hours</a:t>
            </a:r>
          </a:p>
        </p:txBody>
      </p:sp>
      <p:sp>
        <p:nvSpPr>
          <p:cNvPr id="115716" name="Rectangle 6">
            <a:extLst>
              <a:ext uri="{FF2B5EF4-FFF2-40B4-BE49-F238E27FC236}">
                <a16:creationId xmlns:a16="http://schemas.microsoft.com/office/drawing/2014/main" id="{786B2C17-4F17-4FE2-BD1F-A4EAC6EC99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2DF550E-E645-46AE-BEE0-7B3DCB7E8655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4">
            <a:extLst>
              <a:ext uri="{FF2B5EF4-FFF2-40B4-BE49-F238E27FC236}">
                <a16:creationId xmlns:a16="http://schemas.microsoft.com/office/drawing/2014/main" id="{BDEEDC31-4A74-4451-81F0-BD4BE07550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563562"/>
          </a:xfrm>
          <a:noFill/>
        </p:spPr>
        <p:txBody>
          <a:bodyPr/>
          <a:lstStyle/>
          <a:p>
            <a:pPr algn="r"/>
            <a:r>
              <a:rPr lang="en-US" altLang="en-US">
                <a:solidFill>
                  <a:schemeClr val="tx1"/>
                </a:solidFill>
              </a:rPr>
              <a:t>Antihypertensive cont’d</a:t>
            </a: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7F970650-AB77-460E-8850-1DB8A0C947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81200" y="838200"/>
            <a:ext cx="8229600" cy="5562600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lvl="1">
              <a:buFontTx/>
              <a:buNone/>
            </a:pPr>
            <a:endParaRPr lang="en-US" altLang="en-US" sz="2400" b="1" dirty="0">
              <a:solidFill>
                <a:schemeClr val="tx1"/>
              </a:solidFill>
            </a:endParaRPr>
          </a:p>
          <a:p>
            <a:r>
              <a:rPr lang="en-US" altLang="en-US" sz="2400" b="1" dirty="0">
                <a:solidFill>
                  <a:schemeClr val="tx1"/>
                </a:solidFill>
              </a:rPr>
              <a:t>Enalapril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prodrug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Converted to </a:t>
            </a:r>
            <a:r>
              <a:rPr lang="en-US" altLang="en-US" sz="2400" b="1" dirty="0">
                <a:solidFill>
                  <a:schemeClr val="tx1"/>
                </a:solidFill>
              </a:rPr>
              <a:t>enalaprilat </a:t>
            </a:r>
            <a:r>
              <a:rPr lang="en-US" altLang="en-US" sz="2400" dirty="0">
                <a:solidFill>
                  <a:schemeClr val="tx1"/>
                </a:solidFill>
              </a:rPr>
              <a:t>via hepatic hydrolysis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Much longer half-life than captopril (20 - 24 hours)</a:t>
            </a:r>
          </a:p>
          <a:p>
            <a:r>
              <a:rPr lang="en-US" altLang="en-US" sz="2400" dirty="0">
                <a:solidFill>
                  <a:schemeClr val="tx1"/>
                </a:solidFill>
              </a:rPr>
              <a:t>ADR;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tx1"/>
                </a:solidFill>
              </a:rPr>
              <a:t>Dry cough </a:t>
            </a:r>
            <a:r>
              <a:rPr lang="en-US" altLang="en-US" sz="2400" dirty="0">
                <a:solidFill>
                  <a:schemeClr val="tx1"/>
                </a:solidFill>
              </a:rPr>
              <a:t>(due to bradykinin)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Angioedema (due to bradykinin)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Hypotension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Hyperkalemia </a:t>
            </a:r>
          </a:p>
          <a:p>
            <a:pPr lvl="1"/>
            <a:endParaRPr lang="en-US" altLang="en-US" sz="2400" dirty="0">
              <a:solidFill>
                <a:schemeClr val="tx1"/>
              </a:solidFill>
            </a:endParaRPr>
          </a:p>
        </p:txBody>
      </p:sp>
      <p:sp>
        <p:nvSpPr>
          <p:cNvPr id="116740" name="Rectangle 6">
            <a:extLst>
              <a:ext uri="{FF2B5EF4-FFF2-40B4-BE49-F238E27FC236}">
                <a16:creationId xmlns:a16="http://schemas.microsoft.com/office/drawing/2014/main" id="{5BD86C5F-AE8B-4729-8938-439EB9E81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56BF114-DC88-4FED-A3C2-AF3F37418EED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4">
            <a:extLst>
              <a:ext uri="{FF2B5EF4-FFF2-40B4-BE49-F238E27FC236}">
                <a16:creationId xmlns:a16="http://schemas.microsoft.com/office/drawing/2014/main" id="{B5379AD2-669A-41A1-9B0B-BA624CA96C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563562"/>
          </a:xfrm>
          <a:noFill/>
        </p:spPr>
        <p:txBody>
          <a:bodyPr/>
          <a:lstStyle/>
          <a:p>
            <a:pPr algn="r"/>
            <a:r>
              <a:rPr lang="en-US" altLang="en-US">
                <a:solidFill>
                  <a:schemeClr val="tx1"/>
                </a:solidFill>
              </a:rPr>
              <a:t>Antihypertensive cont’d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67E80C60-41C3-4B28-92F3-72635396C4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7255" y="838200"/>
            <a:ext cx="10058399" cy="5715000"/>
          </a:xfrm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>
              <a:buFontTx/>
              <a:buNone/>
            </a:pPr>
            <a:r>
              <a:rPr lang="en-US" altLang="en-US" sz="2600" b="1" dirty="0">
                <a:solidFill>
                  <a:srgbClr val="7030A0"/>
                </a:solidFill>
              </a:rPr>
              <a:t>7. Angiotensin II receptor antagonists (ARB)</a:t>
            </a:r>
          </a:p>
          <a:p>
            <a:r>
              <a:rPr lang="en-US" altLang="en-US" sz="2400" dirty="0">
                <a:solidFill>
                  <a:schemeClr val="tx1"/>
                </a:solidFill>
              </a:rPr>
              <a:t>Angiotensin II actions mainly come after binding to AT1 receptors  </a:t>
            </a:r>
          </a:p>
          <a:p>
            <a:r>
              <a:rPr lang="en-US" altLang="en-US" sz="2400" dirty="0" err="1">
                <a:solidFill>
                  <a:schemeClr val="tx1"/>
                </a:solidFill>
              </a:rPr>
              <a:t>E.g</a:t>
            </a:r>
            <a:r>
              <a:rPr lang="en-US" altLang="en-US" sz="2400" dirty="0">
                <a:solidFill>
                  <a:schemeClr val="tx1"/>
                </a:solidFill>
              </a:rPr>
              <a:t> of ARB-losartan, valsartan, candesartan</a:t>
            </a:r>
          </a:p>
          <a:p>
            <a:r>
              <a:rPr lang="en-US" altLang="en-US" sz="2400" dirty="0">
                <a:solidFill>
                  <a:schemeClr val="tx1"/>
                </a:solidFill>
              </a:rPr>
              <a:t>block AT1 rec, thus inhibit </a:t>
            </a:r>
            <a:r>
              <a:rPr lang="en-US" altLang="en-US" sz="2400" b="1" dirty="0">
                <a:solidFill>
                  <a:schemeClr val="tx1"/>
                </a:solidFill>
              </a:rPr>
              <a:t>angiotensin II action</a:t>
            </a:r>
          </a:p>
          <a:p>
            <a:r>
              <a:rPr lang="en-US" altLang="en-US" sz="2400" dirty="0">
                <a:solidFill>
                  <a:schemeClr val="tx1"/>
                </a:solidFill>
              </a:rPr>
              <a:t>The drug </a:t>
            </a:r>
            <a:r>
              <a:rPr lang="en-US" altLang="en-US" sz="2400" b="1" dirty="0">
                <a:solidFill>
                  <a:schemeClr val="tx1"/>
                </a:solidFill>
              </a:rPr>
              <a:t>Losartan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tx1"/>
                </a:solidFill>
              </a:rPr>
              <a:t>selective for AT1 receptors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tx1"/>
                </a:solidFill>
              </a:rPr>
              <a:t>more complete inhibition of angiotensin action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400" b="1" dirty="0">
                <a:solidFill>
                  <a:schemeClr val="tx1"/>
                </a:solidFill>
              </a:rPr>
              <a:t>Similar efficacy to ACE inhibitors </a:t>
            </a:r>
            <a:r>
              <a:rPr lang="en-US" altLang="en-US" sz="2400" dirty="0">
                <a:solidFill>
                  <a:schemeClr val="tx1"/>
                </a:solidFill>
              </a:rPr>
              <a:t>but without the bradykinin associated side effects: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</a:rPr>
              <a:t>There is </a:t>
            </a:r>
            <a:r>
              <a:rPr lang="en-US" altLang="en-US" sz="2000" b="1" dirty="0">
                <a:solidFill>
                  <a:schemeClr val="tx1"/>
                </a:solidFill>
              </a:rPr>
              <a:t>no cough </a:t>
            </a:r>
            <a:r>
              <a:rPr lang="en-US" altLang="en-US" sz="2000" dirty="0">
                <a:solidFill>
                  <a:schemeClr val="tx1"/>
                </a:solidFill>
              </a:rPr>
              <a:t>and no chance of angioedema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tx1"/>
                </a:solidFill>
              </a:rPr>
              <a:t>However, other side effects may be: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sz="2200" dirty="0">
                <a:solidFill>
                  <a:schemeClr val="tx1"/>
                </a:solidFill>
              </a:rPr>
              <a:t>Have </a:t>
            </a:r>
            <a:r>
              <a:rPr lang="en-US" altLang="en-US" sz="2200" b="1" dirty="0">
                <a:solidFill>
                  <a:schemeClr val="tx1"/>
                </a:solidFill>
              </a:rPr>
              <a:t>teratogenic</a:t>
            </a:r>
            <a:r>
              <a:rPr lang="en-US" altLang="en-US" sz="2200" dirty="0">
                <a:solidFill>
                  <a:schemeClr val="tx1"/>
                </a:solidFill>
              </a:rPr>
              <a:t> effect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sz="2200" b="1" dirty="0">
                <a:solidFill>
                  <a:schemeClr val="tx1"/>
                </a:solidFill>
              </a:rPr>
              <a:t>Hyperkalemia</a:t>
            </a:r>
            <a:r>
              <a:rPr lang="en-US" altLang="en-US" sz="2200" dirty="0">
                <a:solidFill>
                  <a:schemeClr val="tx1"/>
                </a:solidFill>
              </a:rPr>
              <a:t> (due to decreased aldosterone)</a:t>
            </a:r>
          </a:p>
        </p:txBody>
      </p:sp>
      <p:sp>
        <p:nvSpPr>
          <p:cNvPr id="117764" name="Rectangle 6">
            <a:extLst>
              <a:ext uri="{FF2B5EF4-FFF2-40B4-BE49-F238E27FC236}">
                <a16:creationId xmlns:a16="http://schemas.microsoft.com/office/drawing/2014/main" id="{385E950A-7786-4245-A99E-E186BCE07F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E6D396E-1E36-4F84-91FC-FD6A8DD0B405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4">
            <a:extLst>
              <a:ext uri="{FF2B5EF4-FFF2-40B4-BE49-F238E27FC236}">
                <a16:creationId xmlns:a16="http://schemas.microsoft.com/office/drawing/2014/main" id="{B51E770F-06E6-4A38-BC3C-1C0243B083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563562"/>
          </a:xfrm>
          <a:noFill/>
        </p:spPr>
        <p:txBody>
          <a:bodyPr/>
          <a:lstStyle/>
          <a:p>
            <a:pPr algn="r"/>
            <a:r>
              <a:rPr lang="en-US" altLang="en-US">
                <a:solidFill>
                  <a:schemeClr val="tx1"/>
                </a:solidFill>
              </a:rPr>
              <a:t>Antihypertensive cont’d</a:t>
            </a:r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68BEA5DE-79D3-4026-98CC-1F5BD219B6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81200" y="762000"/>
            <a:ext cx="8229600" cy="5867400"/>
          </a:xfrm>
        </p:spPr>
        <p:txBody>
          <a:bodyPr wrap="square" numCol="1" anchor="t" anchorCtr="0" compatLnSpc="1">
            <a:prstTxWarp prst="textNoShape">
              <a:avLst/>
            </a:prstTxWarp>
            <a:normAutofit fontScale="92500"/>
          </a:bodyPr>
          <a:lstStyle/>
          <a:p>
            <a:pPr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SUMMRY OF ANTIHYPERTENSIVE DRUGS</a:t>
            </a:r>
          </a:p>
          <a:p>
            <a:r>
              <a:rPr lang="en-US" altLang="en-US" sz="2400" dirty="0">
                <a:solidFill>
                  <a:schemeClr val="tx1"/>
                </a:solidFill>
              </a:rPr>
              <a:t>Initial treatment with non-pharmacologic</a:t>
            </a:r>
          </a:p>
          <a:p>
            <a:r>
              <a:rPr lang="en-US" altLang="en-US" sz="2400" dirty="0">
                <a:solidFill>
                  <a:schemeClr val="tx1"/>
                </a:solidFill>
              </a:rPr>
              <a:t>Drug therapy in mild hypertension with monotherapy of: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Thiazide diuretic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 beta blockers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Calcium channel blockers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Angiotensin converting enzyme inhibitor or ARB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Central </a:t>
            </a:r>
            <a:r>
              <a:rPr lang="en-US" altLang="en-US" sz="2400" dirty="0" err="1">
                <a:solidFill>
                  <a:schemeClr val="tx1"/>
                </a:solidFill>
              </a:rPr>
              <a:t>sympathoplegic</a:t>
            </a:r>
            <a:r>
              <a:rPr lang="en-US" altLang="en-US" sz="2400" dirty="0">
                <a:solidFill>
                  <a:schemeClr val="tx1"/>
                </a:solidFill>
              </a:rPr>
              <a:t> agent</a:t>
            </a:r>
          </a:p>
          <a:p>
            <a:r>
              <a:rPr lang="en-US" altLang="en-US" sz="2400" dirty="0">
                <a:solidFill>
                  <a:schemeClr val="tx1"/>
                </a:solidFill>
              </a:rPr>
              <a:t>Black patients respond well to </a:t>
            </a:r>
            <a:r>
              <a:rPr lang="en-US" altLang="en-US" sz="2400" b="1" dirty="0">
                <a:solidFill>
                  <a:schemeClr val="tx1"/>
                </a:solidFill>
              </a:rPr>
              <a:t>diuretic and CCB </a:t>
            </a:r>
            <a:r>
              <a:rPr lang="en-US" altLang="en-US" sz="2400" dirty="0">
                <a:solidFill>
                  <a:schemeClr val="tx1"/>
                </a:solidFill>
              </a:rPr>
              <a:t>than to beta-blockers and ACE inhibitors</a:t>
            </a:r>
          </a:p>
          <a:p>
            <a:r>
              <a:rPr lang="en-US" altLang="en-US" sz="2400" dirty="0">
                <a:solidFill>
                  <a:schemeClr val="tx1"/>
                </a:solidFill>
              </a:rPr>
              <a:t>If </a:t>
            </a:r>
            <a:r>
              <a:rPr lang="en-US" altLang="en-US" sz="2400" b="1" dirty="0">
                <a:solidFill>
                  <a:schemeClr val="tx1"/>
                </a:solidFill>
              </a:rPr>
              <a:t>monotherapy</a:t>
            </a:r>
            <a:r>
              <a:rPr lang="en-US" altLang="en-US" sz="2400" dirty="0">
                <a:solidFill>
                  <a:schemeClr val="tx1"/>
                </a:solidFill>
              </a:rPr>
              <a:t> is unsuccessful, thiazide diuretic can be combined with </a:t>
            </a:r>
            <a:r>
              <a:rPr lang="en-US" altLang="en-US" sz="2400" b="1" dirty="0">
                <a:solidFill>
                  <a:schemeClr val="tx1"/>
                </a:solidFill>
              </a:rPr>
              <a:t>beta-blockers, CCB, or ACE inhibitors</a:t>
            </a:r>
            <a:endParaRPr lang="en-US" altLang="en-US" sz="2800" b="1" dirty="0">
              <a:solidFill>
                <a:schemeClr val="tx1"/>
              </a:solidFill>
            </a:endParaRPr>
          </a:p>
        </p:txBody>
      </p:sp>
      <p:sp>
        <p:nvSpPr>
          <p:cNvPr id="118788" name="Rectangle 6">
            <a:extLst>
              <a:ext uri="{FF2B5EF4-FFF2-40B4-BE49-F238E27FC236}">
                <a16:creationId xmlns:a16="http://schemas.microsoft.com/office/drawing/2014/main" id="{BF3E4FE9-D38A-49FB-83DC-F726B8F1D5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CCB76C3-757E-444B-A186-CFEE1083B622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4">
            <a:extLst>
              <a:ext uri="{FF2B5EF4-FFF2-40B4-BE49-F238E27FC236}">
                <a16:creationId xmlns:a16="http://schemas.microsoft.com/office/drawing/2014/main" id="{79732C66-27C8-476B-963C-00B336F542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563562"/>
          </a:xfrm>
          <a:noFill/>
        </p:spPr>
        <p:txBody>
          <a:bodyPr/>
          <a:lstStyle/>
          <a:p>
            <a:pPr algn="r"/>
            <a:r>
              <a:rPr lang="en-US" altLang="en-US">
                <a:solidFill>
                  <a:schemeClr val="tx1"/>
                </a:solidFill>
              </a:rPr>
              <a:t>Antihypertensive cont’d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320FD135-455C-4D56-A3B3-28F754385E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81200" y="1066801"/>
            <a:ext cx="8229600" cy="5211763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US" altLang="en-US" sz="2600" dirty="0">
              <a:solidFill>
                <a:schemeClr val="tx1"/>
              </a:solidFill>
            </a:endParaRPr>
          </a:p>
          <a:p>
            <a:r>
              <a:rPr lang="en-US" altLang="en-US" sz="2600" dirty="0">
                <a:solidFill>
                  <a:schemeClr val="tx1"/>
                </a:solidFill>
              </a:rPr>
              <a:t>Treatment of </a:t>
            </a:r>
            <a:r>
              <a:rPr lang="en-US" altLang="en-US" sz="2600" b="1" dirty="0">
                <a:solidFill>
                  <a:schemeClr val="tx1"/>
                </a:solidFill>
              </a:rPr>
              <a:t>hypertensive emergency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600" dirty="0">
                <a:solidFill>
                  <a:schemeClr val="tx1"/>
                </a:solidFill>
              </a:rPr>
              <a:t>Frusemide, sodium nitroprusside, hydralazine, labetalol can be indicated</a:t>
            </a:r>
          </a:p>
          <a:p>
            <a:r>
              <a:rPr lang="en-US" altLang="en-US" sz="2600" dirty="0">
                <a:solidFill>
                  <a:schemeClr val="tx1"/>
                </a:solidFill>
              </a:rPr>
              <a:t>Treatment of Hypertension in </a:t>
            </a:r>
            <a:r>
              <a:rPr lang="en-US" altLang="en-US" sz="2600" b="1" dirty="0">
                <a:solidFill>
                  <a:schemeClr val="tx1"/>
                </a:solidFill>
              </a:rPr>
              <a:t>pregnancy</a:t>
            </a:r>
            <a:r>
              <a:rPr lang="en-US" altLang="en-US" sz="2600" dirty="0">
                <a:solidFill>
                  <a:schemeClr val="tx1"/>
                </a:solidFill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600" dirty="0">
                <a:solidFill>
                  <a:schemeClr val="tx1"/>
                </a:solidFill>
              </a:rPr>
              <a:t>Hydralazine, methyldopa, labetalol </a:t>
            </a:r>
          </a:p>
        </p:txBody>
      </p:sp>
      <p:sp>
        <p:nvSpPr>
          <p:cNvPr id="119812" name="Rectangle 6">
            <a:extLst>
              <a:ext uri="{FF2B5EF4-FFF2-40B4-BE49-F238E27FC236}">
                <a16:creationId xmlns:a16="http://schemas.microsoft.com/office/drawing/2014/main" id="{475BB8BF-3DB3-4289-B065-9AF5897BA2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EB5F9E2-CE40-49EE-BBD6-59B1CD6F0C43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5C083789-784E-4A07-87A2-47F0C5A210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792162"/>
          </a:xfrm>
        </p:spPr>
        <p:txBody>
          <a:bodyPr/>
          <a:lstStyle/>
          <a:p>
            <a:r>
              <a:rPr lang="en-US" altLang="en-US" sz="32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II. Drugs used in heart failure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75914081-67E5-48E6-8379-DF25A90A51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4910" y="1219201"/>
            <a:ext cx="10415752" cy="4906963"/>
          </a:xfrm>
        </p:spPr>
        <p:txBody>
          <a:bodyPr wrap="square" numCol="1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r>
              <a:rPr lang="en-US" altLang="en-US" sz="2400" b="1" dirty="0">
                <a:solidFill>
                  <a:schemeClr val="tx1"/>
                </a:solidFill>
              </a:rPr>
              <a:t>Heart failure </a:t>
            </a:r>
            <a:r>
              <a:rPr lang="en-US" altLang="en-US" sz="2400" dirty="0">
                <a:solidFill>
                  <a:schemeClr val="tx1"/>
                </a:solidFill>
              </a:rPr>
              <a:t>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300" dirty="0">
                <a:solidFill>
                  <a:schemeClr val="tx1"/>
                </a:solidFill>
              </a:rPr>
              <a:t>The heart is unable to pump sufficient blood to meet the needs of the body.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300" dirty="0">
                <a:solidFill>
                  <a:schemeClr val="tx1"/>
                </a:solidFill>
              </a:rPr>
              <a:t>Its cardinal symptoms are dyspnea, fatigue, and fluid retention (edema).</a:t>
            </a:r>
            <a:endParaRPr lang="en-US" altLang="en-US" sz="2300" dirty="0">
              <a:solidFill>
                <a:schemeClr val="tx1"/>
              </a:solidFill>
            </a:endParaRPr>
          </a:p>
          <a:p>
            <a:r>
              <a:rPr lang="en-US" altLang="en-US" sz="2400" b="1" dirty="0">
                <a:solidFill>
                  <a:schemeClr val="tx1"/>
                </a:solidFill>
              </a:rPr>
              <a:t>Heart failure usually caused by</a:t>
            </a:r>
            <a:r>
              <a:rPr lang="en-US" altLang="en-US" sz="2400" dirty="0">
                <a:solidFill>
                  <a:schemeClr val="tx1"/>
                </a:solidFill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Ischemic heart disease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M</a:t>
            </a:r>
            <a:r>
              <a:rPr lang="en-US" sz="2500" b="0" i="0" u="none" strike="noStrike" baseline="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yocardial infarction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500" b="0" i="0" u="none" strike="noStrike" baseline="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Hypertensive heart disease</a:t>
            </a:r>
            <a:endParaRPr lang="en-US" altLang="en-US" sz="25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Congenital heart disease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Valvular heart disease</a:t>
            </a:r>
          </a:p>
          <a:p>
            <a:r>
              <a:rPr lang="en-US" altLang="en-US" sz="2400" b="1" dirty="0">
                <a:solidFill>
                  <a:schemeClr val="tx1"/>
                </a:solidFill>
              </a:rPr>
              <a:t>Drugs used to treat heart failure</a:t>
            </a:r>
            <a:r>
              <a:rPr lang="en-US" altLang="en-US" sz="2400" dirty="0">
                <a:solidFill>
                  <a:schemeClr val="tx1"/>
                </a:solidFill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Drugs with positive inotropic effect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Drugs without positive inotropic effect</a:t>
            </a:r>
          </a:p>
          <a:p>
            <a:pPr lvl="1"/>
            <a:endParaRPr lang="en-US" altLang="en-US" sz="2400" dirty="0">
              <a:solidFill>
                <a:schemeClr val="tx1"/>
              </a:solidFill>
            </a:endParaRPr>
          </a:p>
        </p:txBody>
      </p:sp>
      <p:sp>
        <p:nvSpPr>
          <p:cNvPr id="120836" name="Rectangle 6">
            <a:extLst>
              <a:ext uri="{FF2B5EF4-FFF2-40B4-BE49-F238E27FC236}">
                <a16:creationId xmlns:a16="http://schemas.microsoft.com/office/drawing/2014/main" id="{0EF46DF3-98DD-42E6-AB4A-AB439D8DF1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D64508A-CE06-40AD-8324-A6F5F0EE50B7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BB53F82-F191-4EEB-AB7B-F69E634F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16AA08-3831-473D-B61B-89484A33C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31B918-3A1C-46BA-9430-CAD97D9D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00935A-2F82-4DC4-A4E1-E12EFB8C2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78A6E-FF6E-DA1C-D669-464F7D02D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201004"/>
            <a:ext cx="6917210" cy="5025176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accent1"/>
                </a:solidFill>
                <a:latin typeface="+mj-lt"/>
              </a:rPr>
              <a:t>P</a:t>
            </a:r>
            <a:r>
              <a:rPr lang="en-US" sz="2600" b="1" i="0" u="none" strike="noStrike" baseline="0" dirty="0">
                <a:solidFill>
                  <a:schemeClr val="accent1"/>
                </a:solidFill>
                <a:latin typeface="+mj-lt"/>
              </a:rPr>
              <a:t>hysiologic compensatory mechanisms in the progression of HF</a:t>
            </a:r>
          </a:p>
          <a:p>
            <a:r>
              <a:rPr lang="en-US" sz="2400" dirty="0">
                <a:solidFill>
                  <a:schemeClr val="tx1"/>
                </a:solidFill>
                <a:latin typeface="+mj-lt"/>
              </a:rPr>
              <a:t>To </a:t>
            </a:r>
            <a:r>
              <a:rPr lang="en-US" sz="240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↑ </a:t>
            </a:r>
            <a:r>
              <a:rPr lang="en-US" sz="2400" i="0" u="none" strike="noStrike" baseline="0" dirty="0">
                <a:solidFill>
                  <a:schemeClr val="tx1"/>
                </a:solidFill>
                <a:latin typeface="+mj-lt"/>
              </a:rPr>
              <a:t>cardiac output.. this initially beneficial but long term deteriorates the heart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+mj-lt"/>
              </a:rPr>
              <a:t>i</a:t>
            </a:r>
            <a:r>
              <a:rPr lang="en-US" sz="2800" b="0" i="0" u="none" strike="noStrike" baseline="0" dirty="0">
                <a:solidFill>
                  <a:schemeClr val="tx1"/>
                </a:solidFill>
                <a:latin typeface="+mj-lt"/>
              </a:rPr>
              <a:t>. Increase </a:t>
            </a:r>
            <a:r>
              <a:rPr lang="en-US" sz="2800" b="1" i="0" u="none" strike="noStrike" baseline="0" dirty="0">
                <a:solidFill>
                  <a:schemeClr val="tx1"/>
                </a:solidFill>
                <a:latin typeface="+mj-lt"/>
              </a:rPr>
              <a:t>SNS…  </a:t>
            </a:r>
            <a:r>
              <a:rPr lang="en-US" sz="2800" i="0" u="none" strike="noStrike" baseline="0" dirty="0">
                <a:solidFill>
                  <a:schemeClr val="tx1"/>
                </a:solidFill>
                <a:latin typeface="+mj-lt"/>
              </a:rPr>
              <a:t>NA and adrenaline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+mj-lt"/>
              </a:rPr>
              <a:t>i</a:t>
            </a:r>
            <a:r>
              <a:rPr lang="en-US" sz="2800" b="0" i="0" u="none" strike="noStrike" baseline="0" dirty="0">
                <a:solidFill>
                  <a:schemeClr val="tx1"/>
                </a:solidFill>
                <a:latin typeface="+mj-lt"/>
              </a:rPr>
              <a:t>i. Activate the </a:t>
            </a:r>
            <a:r>
              <a:rPr lang="en-US" sz="2800" b="1" i="0" u="none" strike="noStrike" baseline="0" dirty="0">
                <a:solidFill>
                  <a:schemeClr val="tx1"/>
                </a:solidFill>
                <a:latin typeface="+mj-lt"/>
              </a:rPr>
              <a:t>renin–angiotensin–aldosterone system (RAAS)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+mj-lt"/>
              </a:rPr>
              <a:t>i</a:t>
            </a:r>
            <a:r>
              <a:rPr lang="en-US" sz="2800" i="0" u="none" strike="noStrike" baseline="0" dirty="0">
                <a:solidFill>
                  <a:schemeClr val="tx1"/>
                </a:solidFill>
                <a:latin typeface="+mj-lt"/>
              </a:rPr>
              <a:t>ii.</a:t>
            </a:r>
            <a:r>
              <a:rPr lang="en-US" sz="1800" b="1" i="0" u="none" strike="noStrike" baseline="0" dirty="0">
                <a:latin typeface="Helvetica-Bold"/>
              </a:rPr>
              <a:t> </a:t>
            </a:r>
            <a:r>
              <a:rPr lang="en-US" sz="2800" i="0" u="none" strike="noStrike" baseline="0" dirty="0">
                <a:solidFill>
                  <a:schemeClr val="tx1"/>
                </a:solidFill>
                <a:latin typeface="+mj-lt"/>
              </a:rPr>
              <a:t>Myocardial hypertrophy- heart muscle hypertrophy and chamber dilates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+mj-lt"/>
              </a:rPr>
              <a:t>NA</a:t>
            </a:r>
            <a:r>
              <a:rPr lang="en-US" sz="2800" i="0" u="none" strike="noStrike" baseline="0" dirty="0">
                <a:solidFill>
                  <a:schemeClr val="tx1"/>
                </a:solidFill>
                <a:latin typeface="+mj-lt"/>
              </a:rPr>
              <a:t> and Aldosterone may lead to </a:t>
            </a:r>
            <a:r>
              <a:rPr lang="en-US" sz="2800" b="0" i="0" u="none" strike="noStrike" baseline="0" dirty="0">
                <a:solidFill>
                  <a:schemeClr val="tx1"/>
                </a:solidFill>
                <a:latin typeface="+mj-lt"/>
              </a:rPr>
              <a:t>remodeling of cardiac tissue, loss of myocytes, </a:t>
            </a:r>
            <a:r>
              <a:rPr lang="en-US" sz="2800" b="1" i="0" u="none" strike="noStrike" baseline="0" dirty="0">
                <a:solidFill>
                  <a:schemeClr val="tx1"/>
                </a:solidFill>
                <a:latin typeface="+mj-lt"/>
              </a:rPr>
              <a:t>hypertrophy</a:t>
            </a:r>
            <a:r>
              <a:rPr lang="en-US" sz="2800" b="0" i="0" u="none" strike="noStrike" baseline="0" dirty="0">
                <a:solidFill>
                  <a:schemeClr val="tx1"/>
                </a:solidFill>
                <a:latin typeface="+mj-lt"/>
              </a:rPr>
              <a:t>, and </a:t>
            </a:r>
            <a:r>
              <a:rPr lang="en-US" sz="2800" b="1" i="0" u="none" strike="noStrike" baseline="0" dirty="0">
                <a:solidFill>
                  <a:schemeClr val="tx1"/>
                </a:solidFill>
                <a:latin typeface="+mj-lt"/>
              </a:rPr>
              <a:t>fibrosis</a:t>
            </a:r>
            <a:r>
              <a:rPr lang="en-US" sz="2800" b="0" i="0" u="none" strike="noStrike" baseline="0" dirty="0">
                <a:solidFill>
                  <a:schemeClr val="tx1"/>
                </a:solidFill>
                <a:latin typeface="+mj-lt"/>
              </a:rPr>
              <a:t>.</a:t>
            </a:r>
            <a:endParaRPr lang="en-US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5D599-1CAE-4C92-B5AE-8E51AF6D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6" y="2180496"/>
            <a:ext cx="3703321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Heart Organ">
            <a:extLst>
              <a:ext uri="{FF2B5EF4-FFF2-40B4-BE49-F238E27FC236}">
                <a16:creationId xmlns:a16="http://schemas.microsoft.com/office/drawing/2014/main" id="{A5091BDF-07C0-17B8-12C9-9785E2F7BA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3915" y="2671858"/>
            <a:ext cx="3059782" cy="305978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5F432-A974-1A40-B728-9987CA6F3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00800"/>
            <a:ext cx="105250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2810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6AF08-856E-3924-1B9D-175B84438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914400"/>
            <a:ext cx="11029615" cy="506095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400" b="1" i="0" u="none" strike="noStrike" baseline="0" dirty="0">
                <a:latin typeface="+mj-lt"/>
              </a:rPr>
              <a:t>Acute (decompensated) HF</a:t>
            </a:r>
          </a:p>
          <a:p>
            <a:pPr algn="l"/>
            <a:r>
              <a:rPr lang="en-US" sz="2400" b="0" i="0" u="none" strike="noStrike" baseline="0" dirty="0">
                <a:latin typeface="+mj-lt"/>
              </a:rPr>
              <a:t>If the </a:t>
            </a:r>
            <a:r>
              <a:rPr lang="en-US" sz="2400" b="1" i="0" u="none" strike="noStrike" baseline="0" dirty="0">
                <a:latin typeface="+mj-lt"/>
              </a:rPr>
              <a:t>adaptive mechanisms adequately </a:t>
            </a:r>
            <a:r>
              <a:rPr lang="en-US" sz="2400" b="0" i="0" u="none" strike="noStrike" baseline="0" dirty="0">
                <a:latin typeface="+mj-lt"/>
              </a:rPr>
              <a:t>restore </a:t>
            </a:r>
            <a:r>
              <a:rPr lang="en-US" sz="2400" b="1" i="0" u="none" strike="noStrike" baseline="0" dirty="0">
                <a:latin typeface="+mj-lt"/>
              </a:rPr>
              <a:t>cardiac output</a:t>
            </a:r>
            <a:r>
              <a:rPr lang="en-US" sz="2400" b="0" i="0" u="none" strike="noStrike" baseline="0" dirty="0">
                <a:latin typeface="+mj-lt"/>
              </a:rPr>
              <a:t>, HF is said to be compensated. </a:t>
            </a:r>
          </a:p>
          <a:p>
            <a:pPr algn="l"/>
            <a:r>
              <a:rPr lang="en-US" sz="2400" b="0" i="0" u="none" strike="noStrike" baseline="0" dirty="0">
                <a:latin typeface="+mj-lt"/>
              </a:rPr>
              <a:t>If the </a:t>
            </a:r>
            <a:r>
              <a:rPr lang="en-US" sz="2400" b="1" i="0" u="none" strike="noStrike" baseline="0" dirty="0">
                <a:latin typeface="+mj-lt"/>
              </a:rPr>
              <a:t>adaptive mechanisms fail to maintain cardiac output</a:t>
            </a:r>
            <a:r>
              <a:rPr lang="en-US" sz="2400" b="0" i="0" u="none" strike="noStrike" baseline="0" dirty="0">
                <a:latin typeface="+mj-lt"/>
              </a:rPr>
              <a:t>, HF is decompensated and the patient develops worsening HF signs and symptoms. </a:t>
            </a:r>
            <a:endParaRPr lang="en-US" sz="2400" dirty="0">
              <a:latin typeface="+mj-lt"/>
            </a:endParaRPr>
          </a:p>
          <a:p>
            <a:pPr algn="l"/>
            <a:r>
              <a:rPr lang="en-US" sz="2400" b="0" i="0" u="none" strike="noStrike" baseline="0" dirty="0">
                <a:latin typeface="+mj-lt"/>
              </a:rPr>
              <a:t>HF signs and symptoms include </a:t>
            </a:r>
            <a:r>
              <a:rPr lang="en-US" sz="2400" b="1" i="0" u="none" strike="noStrike" baseline="0" dirty="0">
                <a:latin typeface="+mj-lt"/>
              </a:rPr>
              <a:t>dyspnea</a:t>
            </a:r>
            <a:r>
              <a:rPr lang="en-US" sz="2400" b="0" i="0" u="none" strike="noStrike" baseline="0" dirty="0">
                <a:latin typeface="+mj-lt"/>
              </a:rPr>
              <a:t> on exertion, </a:t>
            </a:r>
            <a:r>
              <a:rPr lang="en-US" sz="2400" b="1" i="0" u="none" strike="noStrike" baseline="0" dirty="0">
                <a:latin typeface="+mj-lt"/>
              </a:rPr>
              <a:t>orthopnea</a:t>
            </a:r>
            <a:r>
              <a:rPr lang="en-US" sz="2400" b="0" i="0" u="none" strike="noStrike" baseline="0" dirty="0">
                <a:latin typeface="+mj-lt"/>
              </a:rPr>
              <a:t>, </a:t>
            </a:r>
            <a:r>
              <a:rPr lang="en-US" sz="2400" b="1" i="0" u="none" strike="noStrike" baseline="0" dirty="0">
                <a:latin typeface="+mj-lt"/>
              </a:rPr>
              <a:t>paroxysmal nocturnal dyspnea</a:t>
            </a:r>
            <a:r>
              <a:rPr lang="en-US" sz="2400" b="0" i="0" u="none" strike="noStrike" baseline="0" dirty="0">
                <a:latin typeface="+mj-lt"/>
              </a:rPr>
              <a:t>, fatigue, and </a:t>
            </a:r>
            <a:r>
              <a:rPr lang="en-US" sz="2400" b="1" i="0" u="none" strike="noStrike" baseline="0" dirty="0">
                <a:latin typeface="+mj-lt"/>
              </a:rPr>
              <a:t>peripheral edema</a:t>
            </a:r>
            <a:r>
              <a:rPr lang="en-US" sz="2400" b="0" i="0" u="none" strike="noStrike" baseline="0" dirty="0">
                <a:latin typeface="+mj-lt"/>
              </a:rPr>
              <a:t>.</a:t>
            </a:r>
            <a:endParaRPr lang="en-US" sz="20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23B6F-6152-2093-315B-70A8371A1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8138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195AB-D6DA-191C-149F-E228BA9DA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696037"/>
            <a:ext cx="11237769" cy="5581934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i="0" u="none" strike="noStrike" baseline="0" dirty="0">
                <a:latin typeface="+mj-lt"/>
              </a:rPr>
              <a:t>Chronic HF </a:t>
            </a:r>
            <a:r>
              <a:rPr lang="en-US" sz="2400" b="0" i="0" u="none" strike="noStrike" baseline="0" dirty="0">
                <a:latin typeface="+mj-lt"/>
              </a:rPr>
              <a:t>is typically managed by </a:t>
            </a:r>
          </a:p>
          <a:p>
            <a:r>
              <a:rPr lang="en-US" sz="2400" dirty="0">
                <a:latin typeface="+mj-lt"/>
              </a:rPr>
              <a:t>F</a:t>
            </a:r>
            <a:r>
              <a:rPr lang="en-US" sz="2400" b="0" i="0" u="none" strike="noStrike" baseline="0" dirty="0">
                <a:latin typeface="+mj-lt"/>
              </a:rPr>
              <a:t>luid limitations; Low dietary intake of sodium; Treatment of comorbid conditions (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+mj-lt"/>
              </a:rPr>
              <a:t>mo</a:t>
            </a:r>
            <a:r>
              <a:rPr lang="en-US" altLang="en-US" sz="2400" dirty="0">
                <a:solidFill>
                  <a:schemeClr val="tx1"/>
                </a:solidFill>
              </a:rPr>
              <a:t>dify cardiovascular risk factor profile)</a:t>
            </a:r>
            <a:endParaRPr lang="en-US" sz="2400" b="0" i="0" u="none" strike="noStrike" baseline="0" dirty="0">
              <a:latin typeface="+mj-lt"/>
            </a:endParaRPr>
          </a:p>
          <a:p>
            <a:r>
              <a:rPr lang="en-US" altLang="en-US" sz="2400" u="sng" dirty="0">
                <a:solidFill>
                  <a:schemeClr val="tx1"/>
                </a:solidFill>
              </a:rPr>
              <a:t>Long Term Management Of Chronic Heart Failure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100" b="1" dirty="0">
                <a:latin typeface="+mj-lt"/>
              </a:rPr>
              <a:t>D</a:t>
            </a:r>
            <a:r>
              <a:rPr lang="en-US" sz="2100" b="1" i="0" u="none" strike="noStrike" baseline="0" dirty="0">
                <a:latin typeface="+mj-lt"/>
              </a:rPr>
              <a:t>iuretics</a:t>
            </a:r>
            <a:r>
              <a:rPr lang="en-US" sz="2100" b="0" i="0" u="none" strike="noStrike" baseline="0" dirty="0">
                <a:latin typeface="+mj-lt"/>
              </a:rPr>
              <a:t>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100" b="1" i="0" u="none" strike="noStrike" baseline="0" dirty="0">
                <a:latin typeface="+mj-lt"/>
              </a:rPr>
              <a:t>Inhibitors </a:t>
            </a:r>
            <a:r>
              <a:rPr lang="en-US" sz="2100" b="0" i="0" u="none" strike="noStrike" baseline="0" dirty="0">
                <a:latin typeface="+mj-lt"/>
              </a:rPr>
              <a:t>of the RAAS,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100" b="1" dirty="0">
                <a:latin typeface="+mj-lt"/>
              </a:rPr>
              <a:t>I</a:t>
            </a:r>
            <a:r>
              <a:rPr lang="en-US" sz="2100" b="1" i="0" u="none" strike="noStrike" baseline="0" dirty="0">
                <a:latin typeface="+mj-lt"/>
              </a:rPr>
              <a:t>nhibitors </a:t>
            </a:r>
            <a:r>
              <a:rPr lang="en-US" sz="2100" b="0" i="0" u="none" strike="noStrike" baseline="0" dirty="0">
                <a:latin typeface="+mj-lt"/>
              </a:rPr>
              <a:t>of the SNS.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ACE inhibitors &amp; digitalis</a:t>
            </a:r>
            <a:endParaRPr lang="en-US" sz="2100" b="0" i="0" u="none" strike="noStrike" baseline="0" dirty="0">
              <a:latin typeface="+mj-lt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100" b="1" i="0" u="none" strike="noStrike" baseline="0" dirty="0">
                <a:latin typeface="+mj-lt"/>
              </a:rPr>
              <a:t>Inotropic agents </a:t>
            </a:r>
            <a:r>
              <a:rPr lang="en-US" sz="2100" dirty="0">
                <a:latin typeface="+mj-lt"/>
              </a:rPr>
              <a:t>except digoxin </a:t>
            </a:r>
            <a:r>
              <a:rPr lang="en-US" sz="2100" b="0" i="0" u="none" strike="noStrike" baseline="0" dirty="0">
                <a:latin typeface="+mj-lt"/>
              </a:rPr>
              <a:t>are reserved for </a:t>
            </a:r>
            <a:r>
              <a:rPr lang="en-US" sz="2100" b="1" i="0" u="none" strike="noStrike" baseline="0" dirty="0">
                <a:latin typeface="+mj-lt"/>
              </a:rPr>
              <a:t>acute HF </a:t>
            </a:r>
            <a:r>
              <a:rPr lang="en-US" sz="2100" b="0" i="0" u="none" strike="noStrike" baseline="0" dirty="0">
                <a:latin typeface="+mj-lt"/>
              </a:rPr>
              <a:t>mostly in the inpatient setting</a:t>
            </a:r>
          </a:p>
          <a:p>
            <a:r>
              <a:rPr lang="en-US" sz="2400" b="0" i="0" u="none" strike="noStrike" baseline="0" dirty="0">
                <a:latin typeface="+mj-lt"/>
              </a:rPr>
              <a:t>Drugs that may precipitate or exacerbate HF, such as NSAIDs, alcohol, </a:t>
            </a:r>
            <a:r>
              <a:rPr lang="en-US" sz="2400" b="0" i="0" u="none" strike="noStrike" baseline="0" dirty="0" err="1">
                <a:latin typeface="+mj-lt"/>
              </a:rPr>
              <a:t>nondihydropyridine</a:t>
            </a:r>
            <a:r>
              <a:rPr lang="en-US" sz="2400" b="0" i="0" u="none" strike="noStrike" baseline="0" dirty="0">
                <a:latin typeface="+mj-lt"/>
              </a:rPr>
              <a:t> CCB, and some antiarrhythmic drugs, should be avoided if possible.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6BA2F-80B0-F8FF-4112-E894289DD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3623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764EF-A39C-9ED1-4902-850D0FD39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400" b="1" u="sng" dirty="0">
                <a:solidFill>
                  <a:srgbClr val="7030A0"/>
                </a:solidFill>
              </a:rPr>
              <a:t>Drugs with positive Inotropic effect</a:t>
            </a:r>
            <a:br>
              <a:rPr lang="en-US" altLang="en-US" sz="2400" b="1" u="sng" dirty="0">
                <a:solidFill>
                  <a:srgbClr val="7030A0"/>
                </a:solidFill>
              </a:rPr>
            </a:b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A2508-8A34-D3CB-C2BC-6AE812B76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90876"/>
            <a:ext cx="11029615" cy="4373446"/>
          </a:xfrm>
        </p:spPr>
        <p:txBody>
          <a:bodyPr>
            <a:normAutofit/>
          </a:bodyPr>
          <a:lstStyle/>
          <a:p>
            <a:r>
              <a:rPr lang="en-US" sz="2400" b="1" i="0" u="none" strike="noStrike" baseline="0" dirty="0">
                <a:latin typeface="+mj-lt"/>
              </a:rPr>
              <a:t>Positive inotropic drugs </a:t>
            </a:r>
            <a:r>
              <a:rPr lang="en-US" sz="2400" b="0" i="0" u="none" strike="noStrike" baseline="0" dirty="0">
                <a:latin typeface="+mj-lt"/>
              </a:rPr>
              <a:t>enhance cardiac contractility 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b="0" i="0" u="none" strike="noStrike" baseline="0" dirty="0">
                <a:latin typeface="+mj-lt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r>
              <a:rPr lang="en-US" sz="2400" b="0" i="0" u="none" strike="noStrike" baseline="0" dirty="0">
                <a:latin typeface="+mj-lt"/>
              </a:rPr>
              <a:t>cardiac output.</a:t>
            </a:r>
          </a:p>
          <a:p>
            <a:pPr algn="l"/>
            <a:r>
              <a:rPr lang="en-US" sz="2400" b="0" i="0" u="none" strike="noStrike" baseline="0" dirty="0" err="1">
                <a:latin typeface="+mj-lt"/>
              </a:rPr>
              <a:t>Inotropics</a:t>
            </a:r>
            <a:r>
              <a:rPr lang="en-US" sz="2400" b="0" i="0" u="none" strike="noStrike" baseline="0" dirty="0">
                <a:latin typeface="+mj-lt"/>
              </a:rPr>
              <a:t>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+mj-lt"/>
              </a:rPr>
              <a:t>increase cytoplasmic calcium concentration this enhances contractility of cardiac muscle  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+mj-lt"/>
              </a:rPr>
              <a:t>  reduced survival</a:t>
            </a:r>
          </a:p>
          <a:p>
            <a:pPr algn="l"/>
            <a:r>
              <a:rPr lang="en-US" sz="2400" b="0" i="0" u="none" strike="noStrike" baseline="0" dirty="0">
                <a:solidFill>
                  <a:schemeClr val="tx1"/>
                </a:solidFill>
                <a:latin typeface="+mj-lt"/>
              </a:rPr>
              <a:t>These agents </a:t>
            </a:r>
            <a:r>
              <a:rPr lang="en-US" sz="2400" dirty="0">
                <a:solidFill>
                  <a:schemeClr val="tx1"/>
                </a:solidFill>
                <a:latin typeface="+mj-lt"/>
              </a:rPr>
              <a:t>have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+mj-lt"/>
              </a:rPr>
              <a:t>reduced survival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79766-1BAA-00D4-ED41-A68555545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5227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>
            <a:extLst>
              <a:ext uri="{FF2B5EF4-FFF2-40B4-BE49-F238E27FC236}">
                <a16:creationId xmlns:a16="http://schemas.microsoft.com/office/drawing/2014/main" id="{DC27C6DE-8B6B-4CD6-8DF8-26BDC95ACF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411162"/>
          </a:xfrm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en-US" altLang="en-US">
                <a:solidFill>
                  <a:schemeClr val="tx1"/>
                </a:solidFill>
              </a:rPr>
              <a:t>Heart failure</a:t>
            </a:r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C78D3ED5-28F3-49AC-89B9-E40DDBA6A5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4000" y="762000"/>
            <a:ext cx="9144000" cy="6096000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609600" indent="-609600">
              <a:buNone/>
            </a:pPr>
            <a:r>
              <a:rPr lang="en-US" altLang="en-US" sz="2400" b="1" u="sng" dirty="0">
                <a:solidFill>
                  <a:srgbClr val="7030A0"/>
                </a:solidFill>
              </a:rPr>
              <a:t>Drugs with positive Inotropic effect</a:t>
            </a:r>
          </a:p>
          <a:p>
            <a:pPr marL="609600" indent="-609600">
              <a:buFontTx/>
              <a:buAutoNum type="arabicPeriod"/>
            </a:pPr>
            <a:r>
              <a:rPr lang="en-US" altLang="en-US" sz="2400" b="1" dirty="0">
                <a:solidFill>
                  <a:schemeClr val="tx1"/>
                </a:solidFill>
              </a:rPr>
              <a:t>Cardiac glycosides</a:t>
            </a:r>
          </a:p>
          <a:p>
            <a:pPr marL="990600" lvl="1" indent="-533400"/>
            <a:r>
              <a:rPr lang="en-US" altLang="en-US" sz="2400" dirty="0">
                <a:solidFill>
                  <a:schemeClr val="tx1"/>
                </a:solidFill>
              </a:rPr>
              <a:t>Includes digoxin </a:t>
            </a:r>
          </a:p>
          <a:p>
            <a:pPr marL="990600" lvl="1" indent="-533400"/>
            <a:r>
              <a:rPr lang="en-US" altLang="en-US" sz="2400" dirty="0">
                <a:solidFill>
                  <a:schemeClr val="tx1"/>
                </a:solidFill>
              </a:rPr>
              <a:t>Mechanism: inhibition of </a:t>
            </a:r>
            <a:r>
              <a:rPr lang="en-US" altLang="en-US" sz="2400" b="1" dirty="0">
                <a:solidFill>
                  <a:schemeClr val="tx1"/>
                </a:solidFill>
              </a:rPr>
              <a:t>Na</a:t>
            </a:r>
            <a:r>
              <a:rPr lang="en-US" altLang="en-US" sz="2400" b="1" baseline="30000" dirty="0">
                <a:solidFill>
                  <a:schemeClr val="tx1"/>
                </a:solidFill>
              </a:rPr>
              <a:t>+</a:t>
            </a:r>
            <a:r>
              <a:rPr lang="en-US" altLang="en-US" sz="2400" b="1" dirty="0">
                <a:solidFill>
                  <a:schemeClr val="tx1"/>
                </a:solidFill>
              </a:rPr>
              <a:t>/K</a:t>
            </a:r>
            <a:r>
              <a:rPr lang="en-US" altLang="en-US" sz="2400" b="1" baseline="30000" dirty="0">
                <a:solidFill>
                  <a:schemeClr val="tx1"/>
                </a:solidFill>
              </a:rPr>
              <a:t>+ </a:t>
            </a:r>
            <a:r>
              <a:rPr lang="en-US" altLang="en-US" sz="2400" b="1" dirty="0">
                <a:solidFill>
                  <a:schemeClr val="tx1"/>
                </a:solidFill>
              </a:rPr>
              <a:t>ATPase</a:t>
            </a:r>
          </a:p>
          <a:p>
            <a:pPr marL="990600" lvl="1" indent="-533400"/>
            <a:r>
              <a:rPr lang="en-US" altLang="en-US" sz="2400" dirty="0">
                <a:solidFill>
                  <a:schemeClr val="tx1"/>
                </a:solidFill>
              </a:rPr>
              <a:t>Therapeutic use of cardiac glycosides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altLang="en-US" sz="2000" b="1" dirty="0">
                <a:solidFill>
                  <a:schemeClr val="tx1"/>
                </a:solidFill>
              </a:rPr>
              <a:t>Heart failure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</a:rPr>
              <a:t>Atrial f</a:t>
            </a:r>
            <a:r>
              <a:rPr lang="en-US" altLang="en-US" sz="2000" b="1" dirty="0">
                <a:solidFill>
                  <a:schemeClr val="tx1"/>
                </a:solidFill>
              </a:rPr>
              <a:t>ibrillation</a:t>
            </a:r>
            <a:r>
              <a:rPr lang="en-US" altLang="en-US" sz="2000" dirty="0">
                <a:solidFill>
                  <a:schemeClr val="tx1"/>
                </a:solidFill>
              </a:rPr>
              <a:t>  &amp; Atrial flutter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</a:rPr>
              <a:t>Paroxysmal atrial </a:t>
            </a:r>
            <a:r>
              <a:rPr lang="en-US" altLang="en-US" sz="2000" b="1" dirty="0">
                <a:solidFill>
                  <a:schemeClr val="tx1"/>
                </a:solidFill>
              </a:rPr>
              <a:t>tachycardia</a:t>
            </a:r>
          </a:p>
          <a:p>
            <a:pPr marL="990600" lvl="1" indent="-533400"/>
            <a:r>
              <a:rPr lang="en-US" altLang="en-US" sz="2400" b="1" dirty="0">
                <a:solidFill>
                  <a:schemeClr val="tx1"/>
                </a:solidFill>
              </a:rPr>
              <a:t>Toxicity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</a:rPr>
              <a:t>GI: anorexia, nausea, </a:t>
            </a:r>
            <a:r>
              <a:rPr lang="en-US" altLang="en-US" sz="2000" b="1" dirty="0">
                <a:solidFill>
                  <a:schemeClr val="tx1"/>
                </a:solidFill>
              </a:rPr>
              <a:t>vomiting, diarrhea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</a:rPr>
              <a:t>Cardiac effect: </a:t>
            </a:r>
            <a:r>
              <a:rPr lang="en-US" altLang="en-US" sz="2000" b="1" dirty="0">
                <a:solidFill>
                  <a:schemeClr val="tx1"/>
                </a:solidFill>
              </a:rPr>
              <a:t>bradycardi</a:t>
            </a:r>
            <a:r>
              <a:rPr lang="en-US" altLang="en-US" sz="2000" dirty="0">
                <a:solidFill>
                  <a:schemeClr val="tx1"/>
                </a:solidFill>
              </a:rPr>
              <a:t>a, heart block, arrhythmia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</a:rPr>
              <a:t>CNS: headache, malaise, hallucination, delirium, </a:t>
            </a:r>
            <a:r>
              <a:rPr lang="en-US" altLang="en-US" sz="2000" b="1" dirty="0">
                <a:solidFill>
                  <a:schemeClr val="tx1"/>
                </a:solidFill>
              </a:rPr>
              <a:t>visual disturbance</a:t>
            </a:r>
            <a:endParaRPr lang="en-US" altLang="en-US" sz="1800" b="1" dirty="0">
              <a:solidFill>
                <a:schemeClr val="tx1"/>
              </a:solidFill>
            </a:endParaRPr>
          </a:p>
        </p:txBody>
      </p:sp>
      <p:sp>
        <p:nvSpPr>
          <p:cNvPr id="121860" name="Rectangle 6">
            <a:extLst>
              <a:ext uri="{FF2B5EF4-FFF2-40B4-BE49-F238E27FC236}">
                <a16:creationId xmlns:a16="http://schemas.microsoft.com/office/drawing/2014/main" id="{FB8D4CE7-B54D-4150-86A2-FF93DF7286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3594014-E05E-4AA4-BE2D-2DFAAE1A172D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4">
            <a:extLst>
              <a:ext uri="{FF2B5EF4-FFF2-40B4-BE49-F238E27FC236}">
                <a16:creationId xmlns:a16="http://schemas.microsoft.com/office/drawing/2014/main" id="{BD685581-F872-4DB0-8CCB-1DC6507402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"/>
            <a:ext cx="8229600" cy="563563"/>
          </a:xfrm>
          <a:noFill/>
        </p:spPr>
        <p:txBody>
          <a:bodyPr/>
          <a:lstStyle/>
          <a:p>
            <a:pPr algn="r"/>
            <a:r>
              <a:rPr lang="en-US" altLang="en-US">
                <a:solidFill>
                  <a:schemeClr val="tx1"/>
                </a:solidFill>
              </a:rPr>
              <a:t>Heart failure</a:t>
            </a: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506DC7AC-4A7B-4FAA-A64C-7D57BBE402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401" y="563564"/>
            <a:ext cx="9753600" cy="5860349"/>
          </a:xfrm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609600" indent="-609600">
              <a:buFontTx/>
              <a:buAutoNum type="arabicPeriod" startAt="2"/>
            </a:pPr>
            <a:r>
              <a:rPr lang="en-US" altLang="en-US" sz="2600" b="1" dirty="0">
                <a:solidFill>
                  <a:schemeClr val="tx1"/>
                </a:solidFill>
              </a:rPr>
              <a:t>Bipyridine derivative, e.g. </a:t>
            </a:r>
            <a:r>
              <a:rPr lang="en-US" altLang="en-US" sz="2600" b="1" dirty="0">
                <a:solidFill>
                  <a:srgbClr val="FF0000"/>
                </a:solidFill>
              </a:rPr>
              <a:t>amrinone</a:t>
            </a:r>
            <a:r>
              <a:rPr lang="en-US" altLang="en-US" sz="2600" b="1" dirty="0">
                <a:solidFill>
                  <a:schemeClr val="tx1"/>
                </a:solidFill>
              </a:rPr>
              <a:t> &amp; </a:t>
            </a:r>
            <a:r>
              <a:rPr lang="en-US" altLang="en-US" sz="2600" b="1" dirty="0">
                <a:solidFill>
                  <a:srgbClr val="FF0000"/>
                </a:solidFill>
              </a:rPr>
              <a:t>milrinone</a:t>
            </a:r>
            <a:endParaRPr lang="en-US" altLang="en-US" sz="2400" b="1" dirty="0">
              <a:solidFill>
                <a:srgbClr val="FF0000"/>
              </a:solidFill>
            </a:endParaRPr>
          </a:p>
          <a:p>
            <a:pPr marL="609600" indent="-609600"/>
            <a:r>
              <a:rPr lang="en-US" altLang="en-US" sz="2400" dirty="0">
                <a:solidFill>
                  <a:schemeClr val="tx1"/>
                </a:solidFill>
              </a:rPr>
              <a:t>Have a positive inotropic and vasodilator effects</a:t>
            </a:r>
          </a:p>
          <a:p>
            <a:pPr marL="609600" indent="-609600"/>
            <a:r>
              <a:rPr lang="en-US" altLang="en-US" sz="2400" dirty="0">
                <a:solidFill>
                  <a:schemeClr val="tx1"/>
                </a:solidFill>
              </a:rPr>
              <a:t>Mechanism: </a:t>
            </a:r>
            <a:r>
              <a:rPr lang="en-US" altLang="en-US" sz="2400" b="1" dirty="0">
                <a:solidFill>
                  <a:schemeClr val="tx1"/>
                </a:solidFill>
              </a:rPr>
              <a:t>inhibition of phosphodiesterase</a:t>
            </a:r>
          </a:p>
          <a:p>
            <a:pPr marL="609600" indent="-609600"/>
            <a:r>
              <a:rPr lang="en-US" altLang="en-US" sz="2400" dirty="0">
                <a:solidFill>
                  <a:schemeClr val="tx1"/>
                </a:solidFill>
              </a:rPr>
              <a:t>Biperidine derivatives are used in cases of heart failure resistant to treatment with cardiac glycosides or vasodilator</a:t>
            </a:r>
          </a:p>
          <a:p>
            <a:pPr marL="609600" indent="-609600">
              <a:buNone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609600" indent="-609600">
              <a:buFontTx/>
              <a:buAutoNum type="arabicPeriod" startAt="3"/>
            </a:pPr>
            <a:r>
              <a:rPr lang="en-US" altLang="en-US" sz="2400" b="1" dirty="0">
                <a:solidFill>
                  <a:schemeClr val="tx1"/>
                </a:solidFill>
              </a:rPr>
              <a:t>Beta-adrenergic stimulants, e.g. </a:t>
            </a:r>
            <a:r>
              <a:rPr lang="en-US" altLang="en-US" sz="2400" b="1" dirty="0">
                <a:solidFill>
                  <a:srgbClr val="FF0000"/>
                </a:solidFill>
              </a:rPr>
              <a:t>dobutamine &amp; dopamine</a:t>
            </a:r>
          </a:p>
          <a:p>
            <a:pPr marL="609600" indent="-609600"/>
            <a:r>
              <a:rPr lang="en-US" altLang="en-US" sz="2400" dirty="0">
                <a:solidFill>
                  <a:schemeClr val="tx1"/>
                </a:solidFill>
              </a:rPr>
              <a:t>Stimulate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ß</a:t>
            </a:r>
            <a:r>
              <a:rPr lang="en-US" altLang="en-US" sz="2400" b="1" dirty="0">
                <a:solidFill>
                  <a:schemeClr val="tx1"/>
                </a:solidFill>
              </a:rPr>
              <a:t>1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↑</a:t>
            </a:r>
            <a:r>
              <a:rPr lang="en-US" altLang="en-US" sz="2400" dirty="0">
                <a:solidFill>
                  <a:schemeClr val="tx1"/>
                </a:solidFill>
              </a:rPr>
              <a:t> myocardial </a:t>
            </a:r>
            <a:r>
              <a:rPr lang="en-US" altLang="en-US" sz="2400" b="1" dirty="0">
                <a:solidFill>
                  <a:schemeClr val="tx1"/>
                </a:solidFill>
              </a:rPr>
              <a:t>contractility</a:t>
            </a:r>
            <a:r>
              <a:rPr lang="en-US" altLang="en-US" sz="2400" dirty="0">
                <a:solidFill>
                  <a:schemeClr val="tx1"/>
                </a:solidFill>
              </a:rPr>
              <a:t> and increase cardiac output</a:t>
            </a:r>
          </a:p>
          <a:p>
            <a:pPr marL="609600" indent="-609600"/>
            <a:r>
              <a:rPr lang="en-US" altLang="en-US" sz="2400" b="1" i="1" dirty="0">
                <a:solidFill>
                  <a:schemeClr val="tx1"/>
                </a:solidFill>
              </a:rPr>
              <a:t>Positive chronotropic </a:t>
            </a:r>
            <a:r>
              <a:rPr lang="en-US" altLang="en-US" sz="2400" dirty="0">
                <a:solidFill>
                  <a:schemeClr val="tx1"/>
                </a:solidFill>
              </a:rPr>
              <a:t>effect of these drugs minimizes their use</a:t>
            </a:r>
          </a:p>
          <a:p>
            <a:pPr marL="609600" indent="-609600"/>
            <a:r>
              <a:rPr lang="en-US" altLang="en-US" sz="2400" dirty="0">
                <a:solidFill>
                  <a:schemeClr val="tx1"/>
                </a:solidFill>
              </a:rPr>
              <a:t>Reserved for the management of </a:t>
            </a:r>
            <a:r>
              <a:rPr lang="en-US" altLang="en-US" sz="2400" b="1" dirty="0">
                <a:solidFill>
                  <a:schemeClr val="tx1"/>
                </a:solidFill>
              </a:rPr>
              <a:t>acute failure </a:t>
            </a:r>
            <a:r>
              <a:rPr lang="en-US" altLang="en-US" sz="2400" dirty="0">
                <a:solidFill>
                  <a:schemeClr val="tx1"/>
                </a:solidFill>
              </a:rPr>
              <a:t>or failure resistant to other agents</a:t>
            </a:r>
          </a:p>
        </p:txBody>
      </p:sp>
      <p:sp>
        <p:nvSpPr>
          <p:cNvPr id="122884" name="Rectangle 6">
            <a:extLst>
              <a:ext uri="{FF2B5EF4-FFF2-40B4-BE49-F238E27FC236}">
                <a16:creationId xmlns:a16="http://schemas.microsoft.com/office/drawing/2014/main" id="{8DEEBFFE-B87E-43CB-BB89-561E08999F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CEE001F-F81C-400D-9E4E-DCAAC522A49D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4">
            <a:extLst>
              <a:ext uri="{FF2B5EF4-FFF2-40B4-BE49-F238E27FC236}">
                <a16:creationId xmlns:a16="http://schemas.microsoft.com/office/drawing/2014/main" id="{4BADDB5D-AF9F-4FFD-BC38-82038D4883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"/>
            <a:ext cx="8229600" cy="487363"/>
          </a:xfrm>
          <a:noFill/>
        </p:spPr>
        <p:txBody>
          <a:bodyPr>
            <a:normAutofit fontScale="90000"/>
          </a:bodyPr>
          <a:lstStyle/>
          <a:p>
            <a:pPr algn="r"/>
            <a:r>
              <a:rPr lang="en-US" altLang="en-US">
                <a:solidFill>
                  <a:schemeClr val="tx1"/>
                </a:solidFill>
              </a:rPr>
              <a:t>Heart failure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25FC7182-2CCB-4722-BEC4-D0EA38E073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2763" y="609601"/>
            <a:ext cx="10153935" cy="5516563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609600" indent="-609600">
              <a:buNone/>
            </a:pPr>
            <a:r>
              <a:rPr lang="en-US" altLang="en-US" sz="2400" b="1" u="sng" dirty="0">
                <a:solidFill>
                  <a:schemeClr val="tx1"/>
                </a:solidFill>
                <a:latin typeface="+mj-lt"/>
              </a:rPr>
              <a:t>Drugs without positive inotropic effect</a:t>
            </a:r>
          </a:p>
          <a:p>
            <a:pPr marL="609600" indent="-609600">
              <a:buFontTx/>
              <a:buAutoNum type="arabicPeriod"/>
            </a:pPr>
            <a:r>
              <a:rPr lang="en-US" altLang="en-US" sz="2400" b="1" dirty="0">
                <a:solidFill>
                  <a:schemeClr val="tx1"/>
                </a:solidFill>
                <a:latin typeface="+mj-lt"/>
              </a:rPr>
              <a:t>Diuretics</a:t>
            </a:r>
          </a:p>
          <a:p>
            <a:pPr marL="609600" indent="-609600"/>
            <a:r>
              <a:rPr lang="en-US" altLang="en-US" sz="2400" b="1" dirty="0">
                <a:solidFill>
                  <a:schemeClr val="tx1"/>
                </a:solidFill>
                <a:latin typeface="+mj-lt"/>
              </a:rPr>
              <a:t>Loop diuretics </a:t>
            </a: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(</a:t>
            </a:r>
            <a:r>
              <a:rPr lang="en-US" altLang="en-US" sz="2400" dirty="0" err="1">
                <a:solidFill>
                  <a:schemeClr val="tx1"/>
                </a:solidFill>
                <a:latin typeface="+mj-lt"/>
              </a:rPr>
              <a:t>e.g</a:t>
            </a: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 frusemide)</a:t>
            </a:r>
          </a:p>
          <a:p>
            <a:pPr marL="609600" indent="-609600"/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In acute failure, diuretic reduces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+mj-lt"/>
              </a:rPr>
              <a:t>plasma volume </a:t>
            </a:r>
            <a:r>
              <a:rPr lang="en-US" sz="24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+mj-lt"/>
              </a:rPr>
              <a:t>then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+mj-lt"/>
              </a:rPr>
              <a:t>decrease venous return to the heart (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+mj-lt"/>
              </a:rPr>
              <a:t>preload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+mj-lt"/>
              </a:rPr>
              <a:t>).</a:t>
            </a:r>
            <a:endParaRPr lang="en-US" altLang="en-US" sz="2400" dirty="0">
              <a:solidFill>
                <a:schemeClr val="tx1"/>
              </a:solidFill>
              <a:latin typeface="+mj-lt"/>
            </a:endParaRPr>
          </a:p>
          <a:p>
            <a:pPr marL="609600" indent="-609600"/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Reduction in venous pressure causes reduction in edema and its symptoms &amp; reduction of cardiac size which leads to improved efficiency of pump function</a:t>
            </a:r>
          </a:p>
          <a:p>
            <a:pPr marL="609600" indent="-609600"/>
            <a:r>
              <a:rPr lang="en-US" sz="2400" dirty="0">
                <a:solidFill>
                  <a:schemeClr val="tx1"/>
                </a:solidFill>
                <a:latin typeface="+mj-lt"/>
              </a:rPr>
              <a:t>Reduce the signs and symptoms of </a:t>
            </a:r>
            <a:r>
              <a:rPr lang="en-US" sz="2400" b="1" dirty="0">
                <a:solidFill>
                  <a:schemeClr val="tx1"/>
                </a:solidFill>
                <a:latin typeface="+mj-lt"/>
              </a:rPr>
              <a:t>volume overload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chemeClr val="tx1"/>
                </a:solidFill>
                <a:latin typeface="+mj-lt"/>
              </a:rPr>
              <a:t>pulmonary congestion and peripheral edema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chemeClr val="tx1"/>
                </a:solidFill>
                <a:latin typeface="+mj-lt"/>
              </a:rPr>
              <a:t>orthopnea and paroxysmal nocturnal dyspnea</a:t>
            </a:r>
            <a:endParaRPr lang="en-US" altLang="en-US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3908" name="Rectangle 6">
            <a:extLst>
              <a:ext uri="{FF2B5EF4-FFF2-40B4-BE49-F238E27FC236}">
                <a16:creationId xmlns:a16="http://schemas.microsoft.com/office/drawing/2014/main" id="{FB1D6686-F5A7-4A42-838E-39BDBEE1AC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03408F5-FC5A-4906-AD20-FE60F12A95D3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628C7-7247-BF45-919B-37E1117BC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201003"/>
            <a:ext cx="11029615" cy="47743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400" b="1" i="0" u="none" strike="noStrike" baseline="0" dirty="0">
                <a:solidFill>
                  <a:schemeClr val="accent1"/>
                </a:solidFill>
                <a:latin typeface="+mj-lt"/>
              </a:rPr>
              <a:t>2.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+mj-lt"/>
              </a:rPr>
              <a:t>β-blockers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chemeClr val="tx1"/>
                </a:solidFill>
                <a:latin typeface="+mj-lt"/>
              </a:rPr>
              <a:t>initially exacerbates HF symptoms (  BP,    HR)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Avoid in </a:t>
            </a:r>
            <a:r>
              <a:rPr lang="en-US" sz="2400" b="1" dirty="0">
                <a:solidFill>
                  <a:schemeClr val="tx1"/>
                </a:solidFill>
                <a:latin typeface="+mj-lt"/>
              </a:rPr>
              <a:t>Acute H</a:t>
            </a:r>
            <a:r>
              <a:rPr lang="en-US" sz="2400" dirty="0">
                <a:solidFill>
                  <a:schemeClr val="tx1"/>
                </a:solidFill>
                <a:latin typeface="+mj-lt"/>
              </a:rPr>
              <a:t>F but can be given for </a:t>
            </a:r>
            <a:r>
              <a:rPr lang="en-US" sz="2400" b="1" dirty="0">
                <a:solidFill>
                  <a:schemeClr val="tx1"/>
                </a:solidFill>
                <a:latin typeface="+mj-lt"/>
              </a:rPr>
              <a:t>chronic HF </a:t>
            </a:r>
            <a:r>
              <a:rPr lang="en-US" sz="2400" dirty="0">
                <a:solidFill>
                  <a:schemeClr val="tx1"/>
                </a:solidFill>
                <a:latin typeface="+mj-lt"/>
              </a:rPr>
              <a:t>cases </a:t>
            </a:r>
            <a:endParaRPr lang="en-US" sz="2400" b="0" i="0" u="none" strike="noStrike" baseline="0" dirty="0">
              <a:solidFill>
                <a:schemeClr val="tx1"/>
              </a:solidFill>
              <a:latin typeface="+mj-lt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chemeClr val="tx1"/>
                </a:solidFill>
                <a:latin typeface="+mj-lt"/>
              </a:rPr>
              <a:t>prevent the changes that occur because of chronic activation of the SNS.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It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+mj-lt"/>
              </a:rPr>
              <a:t>decrease heart rate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+mj-lt"/>
              </a:rPr>
              <a:t>and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+mj-lt"/>
              </a:rPr>
              <a:t>inhibit release of renin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+mj-lt"/>
              </a:rPr>
              <a:t>in the kidneys.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chemeClr val="tx1"/>
                </a:solidFill>
                <a:latin typeface="+mj-lt"/>
              </a:rPr>
              <a:t> β-blockers prevent the deleterious effects of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+mj-lt"/>
              </a:rPr>
              <a:t>norepinephrine on the cardiac muscle fibers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+mj-lt"/>
              </a:rPr>
              <a:t>, decreasing remodeling, hypertrophy, and cell death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Prevent remodeling of heart (increase </a:t>
            </a:r>
            <a:r>
              <a:rPr lang="en-US" sz="2400" b="1" dirty="0">
                <a:solidFill>
                  <a:schemeClr val="tx1"/>
                </a:solidFill>
                <a:latin typeface="+mj-lt"/>
              </a:rPr>
              <a:t>survival</a:t>
            </a:r>
            <a:r>
              <a:rPr lang="en-US" sz="2400" dirty="0">
                <a:solidFill>
                  <a:schemeClr val="tx1"/>
                </a:solidFill>
                <a:latin typeface="+mj-lt"/>
              </a:rPr>
              <a:t> of patients )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B1BA8-937F-4657-D04C-C40FD4070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36</a:t>
            </a:fld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12327CF-1DCE-B242-86A5-9B22EF004A6D}"/>
              </a:ext>
            </a:extLst>
          </p:cNvPr>
          <p:cNvCxnSpPr/>
          <p:nvPr/>
        </p:nvCxnSpPr>
        <p:spPr>
          <a:xfrm>
            <a:off x="6960359" y="2156348"/>
            <a:ext cx="0" cy="245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B4D04C5-48AE-AFA2-CA2E-58B9C6E93B50}"/>
              </a:ext>
            </a:extLst>
          </p:cNvPr>
          <p:cNvCxnSpPr/>
          <p:nvPr/>
        </p:nvCxnSpPr>
        <p:spPr>
          <a:xfrm>
            <a:off x="6096000" y="2156348"/>
            <a:ext cx="0" cy="245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26262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7146C-B805-4449-B872-63FC8F79A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832513"/>
            <a:ext cx="11029615" cy="51428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b="1" dirty="0">
                <a:solidFill>
                  <a:schemeClr val="accent1"/>
                </a:solidFill>
              </a:rPr>
              <a:t>3. </a:t>
            </a:r>
            <a:r>
              <a:rPr lang="en-US" altLang="en-US" sz="2400" b="1" dirty="0">
                <a:solidFill>
                  <a:schemeClr val="tx1"/>
                </a:solidFill>
              </a:rPr>
              <a:t>Vasodilators</a:t>
            </a:r>
          </a:p>
          <a:p>
            <a:pPr marL="609600" indent="-609600"/>
            <a:r>
              <a:rPr lang="en-US" altLang="en-US" sz="2400" dirty="0">
                <a:solidFill>
                  <a:schemeClr val="tx1"/>
                </a:solidFill>
              </a:rPr>
              <a:t>They provide reduction in </a:t>
            </a:r>
            <a:r>
              <a:rPr lang="en-US" altLang="en-US" sz="2400" b="1" dirty="0">
                <a:solidFill>
                  <a:schemeClr val="tx1"/>
                </a:solidFill>
              </a:rPr>
              <a:t>preload </a:t>
            </a:r>
            <a:r>
              <a:rPr lang="en-US" altLang="en-US" sz="2400" dirty="0">
                <a:solidFill>
                  <a:schemeClr val="tx1"/>
                </a:solidFill>
              </a:rPr>
              <a:t>(through venous dilation) or reduction in </a:t>
            </a:r>
            <a:r>
              <a:rPr lang="en-US" altLang="en-US" sz="2400" b="1" dirty="0">
                <a:solidFill>
                  <a:schemeClr val="tx1"/>
                </a:solidFill>
              </a:rPr>
              <a:t>afterload</a:t>
            </a:r>
            <a:r>
              <a:rPr lang="en-US" altLang="en-US" sz="2400" dirty="0">
                <a:solidFill>
                  <a:schemeClr val="tx1"/>
                </a:solidFill>
              </a:rPr>
              <a:t> (through arteriolar dilation) or both</a:t>
            </a:r>
          </a:p>
          <a:p>
            <a:pPr marL="609600" indent="-609600"/>
            <a:r>
              <a:rPr lang="en-US" altLang="en-US" sz="2400" dirty="0">
                <a:solidFill>
                  <a:schemeClr val="tx1"/>
                </a:solidFill>
              </a:rPr>
              <a:t>Vasodilator agents: reserved for patients who are intolerant of or who have contraindications to ACE inhibitors</a:t>
            </a:r>
          </a:p>
          <a:p>
            <a:pPr marL="609600" indent="-609600"/>
            <a:r>
              <a:rPr lang="en-US" altLang="en-US" sz="2400" b="1" i="1" dirty="0">
                <a:solidFill>
                  <a:schemeClr val="tx1"/>
                </a:solidFill>
              </a:rPr>
              <a:t>Hydralazine</a:t>
            </a:r>
            <a:r>
              <a:rPr lang="en-US" altLang="en-US" sz="2400" dirty="0">
                <a:solidFill>
                  <a:schemeClr val="tx1"/>
                </a:solidFill>
              </a:rPr>
              <a:t>: direct </a:t>
            </a:r>
            <a:r>
              <a:rPr lang="en-US" altLang="en-US" sz="2400" dirty="0" err="1">
                <a:solidFill>
                  <a:schemeClr val="tx1"/>
                </a:solidFill>
              </a:rPr>
              <a:t>arteriodilator</a:t>
            </a:r>
            <a:r>
              <a:rPr lang="en-US" altLang="en-US" sz="2400" dirty="0">
                <a:solidFill>
                  <a:schemeClr val="tx1"/>
                </a:solidFill>
              </a:rPr>
              <a:t>; reduce vascular resistance and increase cardiac output</a:t>
            </a:r>
          </a:p>
          <a:p>
            <a:pPr marL="609600" indent="-609600"/>
            <a:r>
              <a:rPr lang="en-US" altLang="en-US" sz="2400" b="1" i="1" dirty="0">
                <a:solidFill>
                  <a:schemeClr val="tx1"/>
                </a:solidFill>
              </a:rPr>
              <a:t>Sodium nitroprusside</a:t>
            </a:r>
            <a:r>
              <a:rPr lang="en-US" altLang="en-US" sz="2400" dirty="0">
                <a:solidFill>
                  <a:schemeClr val="tx1"/>
                </a:solidFill>
              </a:rPr>
              <a:t>: mixed venous and arteriolar dilator used for acute reduction of BP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FD4DC-21B7-4E66-9185-5C9CEEF1E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2755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4">
            <a:extLst>
              <a:ext uri="{FF2B5EF4-FFF2-40B4-BE49-F238E27FC236}">
                <a16:creationId xmlns:a16="http://schemas.microsoft.com/office/drawing/2014/main" id="{EF802F22-6177-4AA1-B1E1-CBDE0625FF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487362"/>
          </a:xfrm>
          <a:noFill/>
        </p:spPr>
        <p:txBody>
          <a:bodyPr>
            <a:normAutofit fontScale="90000"/>
          </a:bodyPr>
          <a:lstStyle/>
          <a:p>
            <a:pPr algn="r"/>
            <a:r>
              <a:rPr lang="en-US" altLang="en-US">
                <a:solidFill>
                  <a:schemeClr val="tx1"/>
                </a:solidFill>
              </a:rPr>
              <a:t>Heart failure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BF80AD7E-4546-4997-95D8-3B2277D827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400" y="914400"/>
            <a:ext cx="10696410" cy="5638800"/>
          </a:xfrm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0" indent="0">
              <a:buNone/>
            </a:pPr>
            <a:r>
              <a:rPr lang="en-US" altLang="en-US" sz="2400" b="1" dirty="0">
                <a:solidFill>
                  <a:schemeClr val="accent1"/>
                </a:solidFill>
              </a:rPr>
              <a:t>4</a:t>
            </a:r>
            <a:r>
              <a:rPr lang="en-US" altLang="en-US" sz="2400" b="1" dirty="0">
                <a:solidFill>
                  <a:schemeClr val="tx1"/>
                </a:solidFill>
              </a:rPr>
              <a:t>. Angiotensin converting enzyme (ACE) inhibitors and ARB</a:t>
            </a:r>
          </a:p>
          <a:p>
            <a:pPr marL="609600" indent="-609600"/>
            <a:r>
              <a:rPr lang="en-US" altLang="en-US" sz="2400" dirty="0">
                <a:solidFill>
                  <a:schemeClr val="tx1"/>
                </a:solidFill>
              </a:rPr>
              <a:t>Angiotensin II and aldosterone involved in undesirable compensatory response to heart failure</a:t>
            </a:r>
          </a:p>
          <a:p>
            <a:pPr marL="609600" indent="-609600"/>
            <a:r>
              <a:rPr lang="en-US" altLang="en-US" sz="2400" dirty="0">
                <a:solidFill>
                  <a:schemeClr val="tx1"/>
                </a:solidFill>
              </a:rPr>
              <a:t>ACE inhibitors and ARB reduce peripheral resistance and reduces salt water retention by way of reduction of aldosterone secretion</a:t>
            </a:r>
          </a:p>
          <a:p>
            <a:pPr marL="609600" indent="-609600"/>
            <a:r>
              <a:rPr lang="en-US" altLang="en-US" sz="2400" dirty="0">
                <a:solidFill>
                  <a:schemeClr val="tx1"/>
                </a:solidFill>
              </a:rPr>
              <a:t>Prevent cardiac remodeling(improve survival of HF patients)</a:t>
            </a:r>
          </a:p>
          <a:p>
            <a:pPr marL="0" indent="0" algn="l">
              <a:buNone/>
            </a:pPr>
            <a:r>
              <a:rPr lang="en-US" sz="2400" b="1" i="0" u="none" strike="noStrike" baseline="0" dirty="0">
                <a:solidFill>
                  <a:schemeClr val="accent1"/>
                </a:solidFill>
                <a:latin typeface="+mj-lt"/>
              </a:rPr>
              <a:t>5.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+mj-lt"/>
              </a:rPr>
              <a:t>Aldosterone antagonists </a:t>
            </a:r>
            <a:r>
              <a:rPr lang="en-US" sz="2400" i="0" u="none" strike="noStrike" baseline="0" dirty="0">
                <a:solidFill>
                  <a:schemeClr val="tx1"/>
                </a:solidFill>
                <a:latin typeface="+mj-lt"/>
              </a:rPr>
              <a:t>(</a:t>
            </a:r>
            <a:r>
              <a:rPr lang="en-US" sz="2400" i="0" u="none" strike="noStrike" baseline="0" dirty="0" err="1">
                <a:solidFill>
                  <a:schemeClr val="tx1"/>
                </a:solidFill>
                <a:latin typeface="+mj-lt"/>
              </a:rPr>
              <a:t>e.g</a:t>
            </a:r>
            <a:r>
              <a:rPr lang="en-US" sz="2400" i="0" u="none" strike="noStrike" baseline="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2400" b="0" i="1" u="none" strike="noStrike" baseline="0" dirty="0">
                <a:solidFill>
                  <a:schemeClr val="tx1"/>
                </a:solidFill>
                <a:latin typeface="+mj-lt"/>
              </a:rPr>
              <a:t>Spironolactone)</a:t>
            </a:r>
            <a:endParaRPr lang="en-US" sz="2400" b="0" i="0" u="none" strike="noStrike" baseline="0" dirty="0">
              <a:solidFill>
                <a:schemeClr val="tx1"/>
              </a:solidFill>
              <a:latin typeface="+mj-lt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+mj-lt"/>
              </a:rPr>
              <a:t>T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+mj-lt"/>
              </a:rPr>
              <a:t>hereby preventing salt retention, myocardial hypertrophy, and hypokalemia.</a:t>
            </a:r>
          </a:p>
          <a:p>
            <a:pPr algn="l"/>
            <a:r>
              <a:rPr lang="en-US" sz="2400" b="0" i="0" u="none" strike="noStrike" baseline="0" dirty="0">
                <a:solidFill>
                  <a:schemeClr val="tx1"/>
                </a:solidFill>
                <a:latin typeface="+mj-lt"/>
              </a:rPr>
              <a:t>Aldosterone antagonists are indicated in patients with more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+mj-lt"/>
              </a:rPr>
              <a:t>severe HF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+mj-lt"/>
              </a:rPr>
              <a:t>and recent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+mj-lt"/>
              </a:rPr>
              <a:t>myocardial infarction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+mj-lt"/>
              </a:rPr>
              <a:t>Prevent heart remodeling (improve survival of HF patients)</a:t>
            </a:r>
          </a:p>
          <a:p>
            <a:pPr marL="609600" indent="-609600">
              <a:buNone/>
            </a:pPr>
            <a:endParaRPr lang="en-US" altLang="en-US" sz="2400" dirty="0">
              <a:solidFill>
                <a:schemeClr val="tx1"/>
              </a:solidFill>
            </a:endParaRPr>
          </a:p>
        </p:txBody>
      </p:sp>
      <p:sp>
        <p:nvSpPr>
          <p:cNvPr id="125956" name="Rectangle 6">
            <a:extLst>
              <a:ext uri="{FF2B5EF4-FFF2-40B4-BE49-F238E27FC236}">
                <a16:creationId xmlns:a16="http://schemas.microsoft.com/office/drawing/2014/main" id="{2183C989-C3A0-4F87-8ABE-164142319B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34191F1-5052-46E0-8B5D-2058A3323DB6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234E9DC3-7938-4B4A-8404-533904F6D9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9297" y="274638"/>
            <a:ext cx="9401503" cy="792162"/>
          </a:xfrm>
        </p:spPr>
        <p:txBody>
          <a:bodyPr>
            <a:normAutofit fontScale="90000"/>
          </a:bodyPr>
          <a:lstStyle/>
          <a:p>
            <a:r>
              <a:rPr lang="en-US" altLang="en-US" sz="32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II. Pharmacotherapy of angina pectoris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BDCF323F-7E47-4932-8A8C-23F57E07F0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89" y="1219200"/>
            <a:ext cx="11265067" cy="5638800"/>
          </a:xfrm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609600" indent="-609600"/>
            <a:r>
              <a:rPr lang="en-US" altLang="en-US" sz="2400" dirty="0">
                <a:solidFill>
                  <a:schemeClr val="tx1"/>
                </a:solidFill>
              </a:rPr>
              <a:t>Angina pectoris develops  as a result of an </a:t>
            </a:r>
            <a:r>
              <a:rPr lang="en-US" altLang="en-US" sz="2400" b="1" dirty="0">
                <a:solidFill>
                  <a:schemeClr val="tx1"/>
                </a:solidFill>
              </a:rPr>
              <a:t>imbalance between the oxygen supply and oxygen demand</a:t>
            </a:r>
            <a:r>
              <a:rPr lang="en-US" altLang="en-US" sz="2400" dirty="0">
                <a:solidFill>
                  <a:schemeClr val="tx1"/>
                </a:solidFill>
              </a:rPr>
              <a:t> of the myocardium</a:t>
            </a:r>
          </a:p>
          <a:p>
            <a:pPr marL="609600" indent="-609600"/>
            <a:r>
              <a:rPr lang="en-US" altLang="en-US" sz="2400" dirty="0">
                <a:solidFill>
                  <a:schemeClr val="tx1"/>
                </a:solidFill>
              </a:rPr>
              <a:t>It is symptoms of myocardial ischemia</a:t>
            </a:r>
          </a:p>
          <a:p>
            <a:pPr marL="609600" indent="-609600">
              <a:buNone/>
            </a:pPr>
            <a:r>
              <a:rPr lang="en-US" altLang="en-US" sz="2400" b="1" dirty="0">
                <a:solidFill>
                  <a:schemeClr val="tx1"/>
                </a:solidFill>
              </a:rPr>
              <a:t>Drugs used in angina pectoris</a:t>
            </a:r>
          </a:p>
          <a:p>
            <a:pPr marL="609600" indent="-609600">
              <a:buFontTx/>
              <a:buAutoNum type="arabicPeriod"/>
            </a:pPr>
            <a:r>
              <a:rPr lang="en-US" altLang="en-US" sz="2400" u="sng" dirty="0">
                <a:solidFill>
                  <a:srgbClr val="7030A0"/>
                </a:solidFill>
              </a:rPr>
              <a:t>Organic nitrates</a:t>
            </a:r>
            <a:r>
              <a:rPr lang="en-US" altLang="en-US" sz="2400" dirty="0">
                <a:solidFill>
                  <a:srgbClr val="7030A0"/>
                </a:solidFill>
              </a:rPr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[e.g. </a:t>
            </a:r>
            <a:r>
              <a:rPr lang="en-US" altLang="en-US" sz="2400" b="1" dirty="0">
                <a:solidFill>
                  <a:schemeClr val="tx1"/>
                </a:solidFill>
              </a:rPr>
              <a:t>nitroglycine</a:t>
            </a:r>
            <a:r>
              <a:rPr lang="en-US" altLang="en-US" sz="2400" dirty="0">
                <a:solidFill>
                  <a:schemeClr val="tx1"/>
                </a:solidFill>
              </a:rPr>
              <a:t>, isosorbide dinitrate]</a:t>
            </a:r>
          </a:p>
          <a:p>
            <a:pPr marL="609600" indent="-609600"/>
            <a:r>
              <a:rPr lang="en-US" altLang="en-US" sz="2400" dirty="0">
                <a:solidFill>
                  <a:schemeClr val="tx1"/>
                </a:solidFill>
              </a:rPr>
              <a:t>They are potent vasodilators</a:t>
            </a:r>
          </a:p>
          <a:p>
            <a:pPr marL="609600" indent="-609600"/>
            <a:r>
              <a:rPr lang="en-US" altLang="en-US" sz="2400" dirty="0">
                <a:solidFill>
                  <a:schemeClr val="tx1"/>
                </a:solidFill>
              </a:rPr>
              <a:t>Nitrates act by mimicking the vasodilator action of </a:t>
            </a:r>
            <a:r>
              <a:rPr lang="en-US" altLang="en-US" sz="2400" b="1" dirty="0">
                <a:solidFill>
                  <a:schemeClr val="tx1"/>
                </a:solidFill>
              </a:rPr>
              <a:t>nitric oxide 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 relax smooth muscle</a:t>
            </a:r>
          </a:p>
          <a:p>
            <a:pPr marL="609600" indent="-609600"/>
            <a:r>
              <a:rPr lang="en-US" altLang="en-US" sz="2400" dirty="0">
                <a:solidFill>
                  <a:schemeClr val="tx1"/>
                </a:solidFill>
              </a:rPr>
              <a:t>Therapeutic use of nitrates: prophylaxis and treatment of angina pectoris</a:t>
            </a:r>
          </a:p>
          <a:p>
            <a:pPr marL="609600" indent="-609600"/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Adverse effect: </a:t>
            </a:r>
            <a:r>
              <a:rPr lang="en-US" altLang="en-US" sz="2400" b="1" dirty="0">
                <a:solidFill>
                  <a:schemeClr val="tx1"/>
                </a:solidFill>
                <a:sym typeface="Symbol" panose="05050102010706020507" pitchFamily="18" charset="2"/>
              </a:rPr>
              <a:t>flushing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, </a:t>
            </a:r>
            <a:r>
              <a:rPr lang="en-US" altLang="en-US" sz="2400" b="1" dirty="0">
                <a:solidFill>
                  <a:schemeClr val="tx1"/>
                </a:solidFill>
                <a:sym typeface="Symbol" panose="05050102010706020507" pitchFamily="18" charset="2"/>
              </a:rPr>
              <a:t>hypotension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, weakness, dizziness, t</a:t>
            </a:r>
            <a:r>
              <a:rPr lang="en-US" altLang="en-US" sz="2400" b="1" dirty="0">
                <a:solidFill>
                  <a:schemeClr val="tx1"/>
                </a:solidFill>
                <a:sym typeface="Symbol" panose="05050102010706020507" pitchFamily="18" charset="2"/>
              </a:rPr>
              <a:t>achycardia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, palpitation, vertigo, sweating, </a:t>
            </a:r>
            <a:r>
              <a:rPr lang="en-US" altLang="en-US" sz="2400" b="1" dirty="0">
                <a:solidFill>
                  <a:schemeClr val="tx1"/>
                </a:solidFill>
                <a:sym typeface="Symbol" panose="05050102010706020507" pitchFamily="18" charset="2"/>
              </a:rPr>
              <a:t>syncop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e, localized burning with sublingual preparation</a:t>
            </a:r>
          </a:p>
        </p:txBody>
      </p:sp>
      <p:sp>
        <p:nvSpPr>
          <p:cNvPr id="126980" name="Rectangle 6">
            <a:extLst>
              <a:ext uri="{FF2B5EF4-FFF2-40B4-BE49-F238E27FC236}">
                <a16:creationId xmlns:a16="http://schemas.microsoft.com/office/drawing/2014/main" id="{2F555995-4464-4FCC-B00C-5440DF29CE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ACAFC27-330D-4067-A9C5-FEF539BC0E2C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4">
            <a:extLst>
              <a:ext uri="{FF2B5EF4-FFF2-40B4-BE49-F238E27FC236}">
                <a16:creationId xmlns:a16="http://schemas.microsoft.com/office/drawing/2014/main" id="{B9B04B20-FB0D-4648-891B-E394217545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"/>
            <a:ext cx="8229600" cy="563563"/>
          </a:xfrm>
          <a:noFill/>
        </p:spPr>
        <p:txBody>
          <a:bodyPr/>
          <a:lstStyle/>
          <a:p>
            <a:pPr algn="r"/>
            <a:r>
              <a:rPr lang="en-US" altLang="en-US" b="1">
                <a:solidFill>
                  <a:schemeClr val="tx1"/>
                </a:solidFill>
              </a:rPr>
              <a:t>angina pectoris cont’d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924D67D6-ABCE-407B-8B03-5D79741DA7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0" y="609600"/>
            <a:ext cx="11224123" cy="6248400"/>
          </a:xfrm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609600" indent="-609600">
              <a:buFontTx/>
              <a:buAutoNum type="arabicPeriod" startAt="2"/>
            </a:pPr>
            <a:r>
              <a:rPr lang="en-US" altLang="en-US" sz="2800" u="sng" dirty="0">
                <a:solidFill>
                  <a:srgbClr val="7030A0"/>
                </a:solidFill>
              </a:rPr>
              <a:t>Adrenergic blocking agents</a:t>
            </a:r>
          </a:p>
          <a:p>
            <a:pPr marL="609600" indent="-609600"/>
            <a:r>
              <a:rPr lang="en-US" altLang="en-US" sz="2800" dirty="0">
                <a:solidFill>
                  <a:schemeClr val="tx1"/>
                </a:solidFill>
              </a:rPr>
              <a:t>Exercise and </a:t>
            </a:r>
            <a:r>
              <a:rPr lang="en-US" altLang="en-US" sz="2800" b="1" dirty="0">
                <a:solidFill>
                  <a:schemeClr val="tx1"/>
                </a:solidFill>
              </a:rPr>
              <a:t>emotional excitement </a:t>
            </a:r>
            <a:r>
              <a:rPr lang="en-US" altLang="en-US" sz="2800" dirty="0">
                <a:solidFill>
                  <a:schemeClr val="tx1"/>
                </a:solidFill>
              </a:rPr>
              <a:t>induce angina by </a:t>
            </a:r>
            <a:r>
              <a:rPr lang="en-US" altLang="en-US" sz="2800" b="1" dirty="0">
                <a:solidFill>
                  <a:schemeClr val="tx1"/>
                </a:solidFill>
              </a:rPr>
              <a:t>increasing heart rate, BP and myocardial contractility</a:t>
            </a:r>
            <a:r>
              <a:rPr lang="en-US" altLang="en-US" sz="2800" dirty="0">
                <a:solidFill>
                  <a:schemeClr val="tx1"/>
                </a:solidFill>
              </a:rPr>
              <a:t> through increased </a:t>
            </a:r>
            <a:r>
              <a:rPr lang="en-US" altLang="en-US" sz="2800" b="1" dirty="0">
                <a:solidFill>
                  <a:schemeClr val="tx1"/>
                </a:solidFill>
              </a:rPr>
              <a:t>sympathetic activity</a:t>
            </a:r>
          </a:p>
          <a:p>
            <a:pPr marL="609600" indent="-609600"/>
            <a:r>
              <a:rPr lang="en-US" altLang="en-US" sz="2800" dirty="0">
                <a:solidFill>
                  <a:schemeClr val="tx1"/>
                </a:solidFill>
              </a:rPr>
              <a:t>Beta receptor blocking agents [atenolol, propranolol, metoprolol, labetalol] prevent angina by blocking all these effects</a:t>
            </a:r>
          </a:p>
          <a:p>
            <a:pPr marL="609600" indent="-609600"/>
            <a:r>
              <a:rPr lang="en-US" altLang="en-US" sz="2800" dirty="0">
                <a:solidFill>
                  <a:schemeClr val="tx1"/>
                </a:solidFill>
              </a:rPr>
              <a:t>Adverse effect: lethargy, fatigue, rash, cold hands and feet, nausea, breathlessness, nightmare and bronchospasm.</a:t>
            </a:r>
          </a:p>
          <a:p>
            <a:pPr marL="609600" indent="-609600"/>
            <a:r>
              <a:rPr lang="en-US" altLang="en-US" sz="2800" dirty="0">
                <a:solidFill>
                  <a:schemeClr val="tx1"/>
                </a:solidFill>
              </a:rPr>
              <a:t>Selective beta-blockers have relatively less adverse effect</a:t>
            </a:r>
          </a:p>
          <a:p>
            <a:pPr marL="609600" indent="-609600"/>
            <a:r>
              <a:rPr lang="en-US" altLang="en-US" sz="2800" dirty="0">
                <a:solidFill>
                  <a:schemeClr val="tx1"/>
                </a:solidFill>
              </a:rPr>
              <a:t>Therapeutic uses other than angina: hypertension, arrhythmia, and pheochromocytoma</a:t>
            </a:r>
          </a:p>
        </p:txBody>
      </p:sp>
      <p:sp>
        <p:nvSpPr>
          <p:cNvPr id="128004" name="Rectangle 6">
            <a:extLst>
              <a:ext uri="{FF2B5EF4-FFF2-40B4-BE49-F238E27FC236}">
                <a16:creationId xmlns:a16="http://schemas.microsoft.com/office/drawing/2014/main" id="{B4CB70D3-92A9-49DD-8B33-D3D5EA720A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B8BDD8D-8AE5-4E52-B760-4088EC94FD39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00" name="Rectangle 4">
            <a:extLst>
              <a:ext uri="{FF2B5EF4-FFF2-40B4-BE49-F238E27FC236}">
                <a16:creationId xmlns:a16="http://schemas.microsoft.com/office/drawing/2014/main" id="{25876A16-479F-4846-A424-850D92A5E1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334962"/>
          </a:xfrm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en-US" altLang="en-US" b="1">
                <a:solidFill>
                  <a:schemeClr val="tx1"/>
                </a:solidFill>
              </a:rPr>
              <a:t>angina pectoris cont’d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9A6D4F97-299D-4E60-A28E-5AB4D47397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93379" y="914401"/>
            <a:ext cx="10457793" cy="5211763"/>
          </a:xfrm>
        </p:spPr>
        <p:txBody>
          <a:bodyPr wrap="square" numCol="1" anchor="t" anchorCtr="0" compatLnSpc="1">
            <a:prstTxWarp prst="textNoShape">
              <a:avLst/>
            </a:prstTxWarp>
            <a:noAutofit/>
          </a:bodyPr>
          <a:lstStyle/>
          <a:p>
            <a:pPr marL="609600" indent="-609600">
              <a:buFontTx/>
              <a:buAutoNum type="arabicPeriod" startAt="3"/>
            </a:pPr>
            <a:r>
              <a:rPr lang="en-US" altLang="en-US" sz="2300" dirty="0">
                <a:solidFill>
                  <a:srgbClr val="7030A0"/>
                </a:solidFill>
              </a:rPr>
              <a:t>Calcium channel blockers</a:t>
            </a:r>
          </a:p>
          <a:p>
            <a:pPr marL="609600" indent="-609600"/>
            <a:r>
              <a:rPr lang="en-US" altLang="en-US" sz="2300" dirty="0">
                <a:solidFill>
                  <a:schemeClr val="tx1"/>
                </a:solidFill>
              </a:rPr>
              <a:t>Interfere with calcium entry into myocardial and vascular smooth muscle</a:t>
            </a:r>
          </a:p>
          <a:p>
            <a:pPr marL="609600" indent="-609600"/>
            <a:r>
              <a:rPr lang="en-US" altLang="en-US" sz="2300" dirty="0">
                <a:solidFill>
                  <a:schemeClr val="tx1"/>
                </a:solidFill>
              </a:rPr>
              <a:t>Nifedipine, felodipine, verapamil and diltiazem</a:t>
            </a:r>
          </a:p>
          <a:p>
            <a:pPr marL="609600" indent="-609600"/>
            <a:r>
              <a:rPr lang="en-US" altLang="en-US" sz="2300" dirty="0">
                <a:solidFill>
                  <a:schemeClr val="tx1"/>
                </a:solidFill>
              </a:rPr>
              <a:t>Other therapeutic uses: hypertension, tachycardia</a:t>
            </a:r>
          </a:p>
          <a:p>
            <a:pPr marL="609600" indent="-609600"/>
            <a:r>
              <a:rPr lang="en-US" altLang="en-US" sz="2300" dirty="0">
                <a:solidFill>
                  <a:schemeClr val="tx1"/>
                </a:solidFill>
              </a:rPr>
              <a:t>Adverse effect: </a:t>
            </a:r>
            <a:r>
              <a:rPr lang="en-US" altLang="en-US" sz="2300" b="1" dirty="0">
                <a:solidFill>
                  <a:schemeClr val="tx1"/>
                </a:solidFill>
              </a:rPr>
              <a:t>flushing</a:t>
            </a:r>
            <a:r>
              <a:rPr lang="en-US" altLang="en-US" sz="2300" dirty="0">
                <a:solidFill>
                  <a:schemeClr val="tx1"/>
                </a:solidFill>
              </a:rPr>
              <a:t>, nausea/vomiting, headache</a:t>
            </a:r>
            <a:r>
              <a:rPr lang="en-US" altLang="en-US" sz="2300" b="1" dirty="0">
                <a:solidFill>
                  <a:schemeClr val="tx1"/>
                </a:solidFill>
              </a:rPr>
              <a:t>, ankle swelling</a:t>
            </a:r>
            <a:r>
              <a:rPr lang="en-US" altLang="en-US" sz="2300" dirty="0">
                <a:solidFill>
                  <a:schemeClr val="tx1"/>
                </a:solidFill>
              </a:rPr>
              <a:t>, dizziness, </a:t>
            </a:r>
            <a:r>
              <a:rPr lang="en-US" altLang="en-US" sz="2300" b="1" dirty="0">
                <a:solidFill>
                  <a:schemeClr val="tx1"/>
                </a:solidFill>
              </a:rPr>
              <a:t>constipation</a:t>
            </a:r>
            <a:r>
              <a:rPr lang="en-US" altLang="en-US" sz="2300" dirty="0">
                <a:solidFill>
                  <a:schemeClr val="tx1"/>
                </a:solidFill>
              </a:rPr>
              <a:t>, </a:t>
            </a:r>
            <a:r>
              <a:rPr lang="en-US" altLang="en-US" sz="2300" dirty="0" err="1">
                <a:solidFill>
                  <a:schemeClr val="tx1"/>
                </a:solidFill>
              </a:rPr>
              <a:t>etc</a:t>
            </a:r>
            <a:endParaRPr lang="en-US" altLang="en-US" sz="2300" dirty="0">
              <a:solidFill>
                <a:schemeClr val="tx1"/>
              </a:solidFill>
            </a:endParaRPr>
          </a:p>
          <a:p>
            <a:pPr marL="609600" indent="-609600">
              <a:buFontTx/>
              <a:buAutoNum type="arabicPeriod" startAt="4"/>
            </a:pPr>
            <a:r>
              <a:rPr lang="en-US" altLang="en-US" sz="2300" dirty="0">
                <a:solidFill>
                  <a:srgbClr val="7030A0"/>
                </a:solidFill>
              </a:rPr>
              <a:t>Miscellaneous drugs, e.g. aspirin</a:t>
            </a:r>
          </a:p>
          <a:p>
            <a:pPr marL="609600" indent="-609600"/>
            <a:r>
              <a:rPr lang="en-US" altLang="en-US" sz="2300" dirty="0">
                <a:solidFill>
                  <a:schemeClr val="tx1"/>
                </a:solidFill>
              </a:rPr>
              <a:t>Decreases thromboxane A</a:t>
            </a:r>
            <a:r>
              <a:rPr lang="en-US" altLang="en-US" sz="2300" baseline="-25000" dirty="0">
                <a:solidFill>
                  <a:schemeClr val="tx1"/>
                </a:solidFill>
              </a:rPr>
              <a:t>2</a:t>
            </a:r>
            <a:endParaRPr lang="en-US" altLang="en-US" sz="2300" dirty="0">
              <a:solidFill>
                <a:schemeClr val="tx1"/>
              </a:solidFill>
            </a:endParaRPr>
          </a:p>
          <a:p>
            <a:pPr marL="609600" indent="-609600"/>
            <a:r>
              <a:rPr lang="en-US" altLang="en-US" sz="2300" dirty="0">
                <a:solidFill>
                  <a:schemeClr val="tx1"/>
                </a:solidFill>
              </a:rPr>
              <a:t>75mg per day produce antiplatelet activity and reduce the risk of </a:t>
            </a:r>
            <a:r>
              <a:rPr lang="en-US" altLang="en-US" sz="2300" b="1" dirty="0">
                <a:solidFill>
                  <a:schemeClr val="tx1"/>
                </a:solidFill>
              </a:rPr>
              <a:t>myocardial angina</a:t>
            </a:r>
          </a:p>
          <a:p>
            <a:pPr marL="609600" indent="-609600"/>
            <a:endParaRPr lang="en-US" altLang="en-US" sz="2300" dirty="0">
              <a:solidFill>
                <a:schemeClr val="tx1"/>
              </a:solidFill>
            </a:endParaRPr>
          </a:p>
        </p:txBody>
      </p:sp>
      <p:sp>
        <p:nvSpPr>
          <p:cNvPr id="129028" name="Rectangle 6">
            <a:extLst>
              <a:ext uri="{FF2B5EF4-FFF2-40B4-BE49-F238E27FC236}">
                <a16:creationId xmlns:a16="http://schemas.microsoft.com/office/drawing/2014/main" id="{993AD818-0590-4724-A17A-324221CF40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DD8B68C-A7AF-4787-9A15-B11CD226F316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9F9305EF-1F38-4357-83E9-2E19297F13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944562"/>
          </a:xfrm>
        </p:spPr>
        <p:txBody>
          <a:bodyPr/>
          <a:lstStyle/>
          <a:p>
            <a:r>
              <a:rPr lang="en-US" altLang="en-US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IV. Antiarrhthmics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ADF475CA-31DF-4DA8-B979-B7F848C6AE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66648" y="1219200"/>
            <a:ext cx="9680028" cy="5638800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sz="2400" dirty="0">
                <a:solidFill>
                  <a:schemeClr val="tx1"/>
                </a:solidFill>
              </a:rPr>
              <a:t>Electrophysiology of cardiac muscle: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tx1"/>
                </a:solidFill>
              </a:rPr>
              <a:t>Cardiac arrhythmias arise as a result of either of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sz="2200" dirty="0">
                <a:solidFill>
                  <a:schemeClr val="tx1"/>
                </a:solidFill>
              </a:rPr>
              <a:t>Clinically, arrhythmia is disorder of </a:t>
            </a:r>
            <a:r>
              <a:rPr lang="en-US" altLang="en-US" sz="2200" b="1" dirty="0">
                <a:solidFill>
                  <a:schemeClr val="tx1"/>
                </a:solidFill>
              </a:rPr>
              <a:t>impulse formation </a:t>
            </a:r>
            <a:r>
              <a:rPr lang="en-US" altLang="en-US" sz="2200" dirty="0">
                <a:solidFill>
                  <a:schemeClr val="tx1"/>
                </a:solidFill>
              </a:rPr>
              <a:t>and/or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sz="2200" dirty="0">
                <a:solidFill>
                  <a:schemeClr val="tx1"/>
                </a:solidFill>
              </a:rPr>
              <a:t>Disorder of </a:t>
            </a:r>
            <a:r>
              <a:rPr lang="en-US" altLang="en-US" sz="2200" b="1" dirty="0">
                <a:solidFill>
                  <a:schemeClr val="tx1"/>
                </a:solidFill>
              </a:rPr>
              <a:t>impulse conduction</a:t>
            </a:r>
          </a:p>
          <a:p>
            <a:r>
              <a:rPr lang="en-US" altLang="en-US" sz="2400" b="1" dirty="0">
                <a:solidFill>
                  <a:schemeClr val="tx1"/>
                </a:solidFill>
              </a:rPr>
              <a:t>Arrhythmias are classified according to: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A. Their site of origin (atrial or ventricular)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</a:rPr>
              <a:t>B. Whether they cause bradycardia or tachycardia</a:t>
            </a:r>
          </a:p>
          <a:p>
            <a:r>
              <a:rPr lang="en-US" altLang="en-US" sz="2400" dirty="0">
                <a:solidFill>
                  <a:schemeClr val="tx1"/>
                </a:solidFill>
              </a:rPr>
              <a:t> Pharmacotherapy of cardiac arrhythmias:</a:t>
            </a:r>
          </a:p>
          <a:p>
            <a:pPr lvl="1">
              <a:buFontTx/>
              <a:buNone/>
            </a:pPr>
            <a:endParaRPr lang="en-US" altLang="en-US" sz="2400" dirty="0">
              <a:solidFill>
                <a:schemeClr val="tx1"/>
              </a:solidFill>
            </a:endParaRPr>
          </a:p>
          <a:p>
            <a:pPr lvl="2"/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130052" name="Rectangle 6">
            <a:extLst>
              <a:ext uri="{FF2B5EF4-FFF2-40B4-BE49-F238E27FC236}">
                <a16:creationId xmlns:a16="http://schemas.microsoft.com/office/drawing/2014/main" id="{CA2E9DE4-D94F-47F7-8915-565D7DE327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148C0B8-E3A8-48DB-BE93-BFE8CF8C347B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4">
            <a:extLst>
              <a:ext uri="{FF2B5EF4-FFF2-40B4-BE49-F238E27FC236}">
                <a16:creationId xmlns:a16="http://schemas.microsoft.com/office/drawing/2014/main" id="{47BCE033-242B-41DD-9ABD-C45A5B826F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487362"/>
          </a:xfrm>
          <a:noFill/>
        </p:spPr>
        <p:txBody>
          <a:bodyPr/>
          <a:lstStyle/>
          <a:p>
            <a:pPr algn="r"/>
            <a:r>
              <a:rPr lang="en-US" altLang="en-US" sz="2400" dirty="0">
                <a:solidFill>
                  <a:schemeClr val="tx1"/>
                </a:solidFill>
              </a:rPr>
              <a:t>Antiarrhthmics cont’d</a:t>
            </a:r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83A00BE7-AA1D-403C-9CA6-53F3E9FAAB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1" y="838200"/>
            <a:ext cx="11497078" cy="5745162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Drugs used in the treatment of cardiac arrhythmias are traditionally classified into:</a:t>
            </a:r>
          </a:p>
          <a:p>
            <a:pPr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1. </a:t>
            </a:r>
            <a:r>
              <a:rPr lang="en-US" altLang="en-US" sz="2800" b="1" dirty="0">
                <a:solidFill>
                  <a:schemeClr val="tx1"/>
                </a:solidFill>
              </a:rPr>
              <a:t>Class I: Na</a:t>
            </a:r>
            <a:r>
              <a:rPr lang="en-US" altLang="en-US" sz="2800" b="1" baseline="30000" dirty="0">
                <a:solidFill>
                  <a:schemeClr val="tx1"/>
                </a:solidFill>
              </a:rPr>
              <a:t>+</a:t>
            </a:r>
            <a:r>
              <a:rPr lang="en-US" altLang="en-US" sz="2800" b="1" dirty="0">
                <a:solidFill>
                  <a:schemeClr val="tx1"/>
                </a:solidFill>
              </a:rPr>
              <a:t> channel blockers </a:t>
            </a:r>
            <a:r>
              <a:rPr lang="en-US" altLang="en-US" sz="2800" dirty="0">
                <a:solidFill>
                  <a:schemeClr val="tx1"/>
                </a:solidFill>
              </a:rPr>
              <a:t>[quinidine, lidocaine, flecainide, </a:t>
            </a:r>
            <a:r>
              <a:rPr lang="en-US" altLang="en-US" sz="2800" dirty="0" err="1">
                <a:solidFill>
                  <a:schemeClr val="tx1"/>
                </a:solidFill>
              </a:rPr>
              <a:t>etc</a:t>
            </a:r>
            <a:r>
              <a:rPr lang="en-US" altLang="en-US" sz="2800" dirty="0">
                <a:solidFill>
                  <a:schemeClr val="tx1"/>
                </a:solidFill>
              </a:rPr>
              <a:t>]</a:t>
            </a:r>
          </a:p>
          <a:p>
            <a:pPr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2. </a:t>
            </a:r>
            <a:r>
              <a:rPr lang="en-US" altLang="en-US" sz="2800" b="1" dirty="0">
                <a:solidFill>
                  <a:schemeClr val="tx1"/>
                </a:solidFill>
              </a:rPr>
              <a:t>class II: beta-adrenergic blockers </a:t>
            </a:r>
            <a:r>
              <a:rPr lang="en-US" altLang="en-US" sz="2800" dirty="0">
                <a:solidFill>
                  <a:schemeClr val="tx1"/>
                </a:solidFill>
              </a:rPr>
              <a:t>[propranolol, atenolol, </a:t>
            </a:r>
            <a:r>
              <a:rPr lang="en-US" altLang="en-US" sz="2800" dirty="0" err="1">
                <a:solidFill>
                  <a:schemeClr val="tx1"/>
                </a:solidFill>
              </a:rPr>
              <a:t>etc</a:t>
            </a:r>
            <a:r>
              <a:rPr lang="en-US" altLang="en-US" sz="2800" dirty="0">
                <a:solidFill>
                  <a:schemeClr val="tx1"/>
                </a:solidFill>
              </a:rPr>
              <a:t>]</a:t>
            </a:r>
          </a:p>
          <a:p>
            <a:pPr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3. </a:t>
            </a:r>
            <a:r>
              <a:rPr lang="en-US" altLang="en-US" sz="2800" b="1" dirty="0">
                <a:solidFill>
                  <a:schemeClr val="tx1"/>
                </a:solidFill>
              </a:rPr>
              <a:t>class III: K</a:t>
            </a:r>
            <a:r>
              <a:rPr lang="en-US" altLang="en-US" sz="2800" b="1" baseline="30000" dirty="0">
                <a:solidFill>
                  <a:schemeClr val="tx1"/>
                </a:solidFill>
              </a:rPr>
              <a:t>+ </a:t>
            </a:r>
            <a:r>
              <a:rPr lang="en-US" altLang="en-US" sz="2800" b="1" dirty="0">
                <a:solidFill>
                  <a:schemeClr val="tx1"/>
                </a:solidFill>
              </a:rPr>
              <a:t>channel blockers</a:t>
            </a:r>
            <a:r>
              <a:rPr lang="en-US" altLang="en-US" sz="2800" dirty="0">
                <a:solidFill>
                  <a:schemeClr val="tx1"/>
                </a:solidFill>
              </a:rPr>
              <a:t> [amiodarone, beryllium, sotalol, </a:t>
            </a:r>
            <a:r>
              <a:rPr lang="en-US" altLang="en-US" sz="2800" dirty="0" err="1">
                <a:solidFill>
                  <a:schemeClr val="tx1"/>
                </a:solidFill>
              </a:rPr>
              <a:t>etc</a:t>
            </a:r>
            <a:r>
              <a:rPr lang="en-US" altLang="en-US" sz="2800" dirty="0">
                <a:solidFill>
                  <a:schemeClr val="tx1"/>
                </a:solidFill>
              </a:rPr>
              <a:t>]</a:t>
            </a:r>
          </a:p>
          <a:p>
            <a:pPr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4. </a:t>
            </a:r>
            <a:r>
              <a:rPr lang="en-US" altLang="en-US" sz="2800" b="1" dirty="0">
                <a:solidFill>
                  <a:schemeClr val="tx1"/>
                </a:solidFill>
              </a:rPr>
              <a:t>class IV: Ca</a:t>
            </a:r>
            <a:r>
              <a:rPr lang="en-US" altLang="en-US" sz="2800" b="1" baseline="30000" dirty="0">
                <a:solidFill>
                  <a:schemeClr val="tx1"/>
                </a:solidFill>
              </a:rPr>
              <a:t>2+</a:t>
            </a:r>
            <a:r>
              <a:rPr lang="en-US" altLang="en-US" sz="2800" b="1" dirty="0">
                <a:solidFill>
                  <a:schemeClr val="tx1"/>
                </a:solidFill>
              </a:rPr>
              <a:t> channel blockers </a:t>
            </a:r>
            <a:r>
              <a:rPr lang="en-US" altLang="en-US" sz="2800" dirty="0">
                <a:solidFill>
                  <a:schemeClr val="tx1"/>
                </a:solidFill>
              </a:rPr>
              <a:t>[verapamil, </a:t>
            </a:r>
            <a:r>
              <a:rPr lang="en-US" altLang="en-US" sz="2800" dirty="0" err="1">
                <a:solidFill>
                  <a:schemeClr val="tx1"/>
                </a:solidFill>
              </a:rPr>
              <a:t>etc</a:t>
            </a:r>
            <a:r>
              <a:rPr lang="en-US" altLang="en-US" sz="2800" dirty="0">
                <a:solidFill>
                  <a:schemeClr val="tx1"/>
                </a:solidFill>
              </a:rPr>
              <a:t>]</a:t>
            </a:r>
          </a:p>
          <a:p>
            <a:pPr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5. </a:t>
            </a:r>
            <a:r>
              <a:rPr lang="en-US" altLang="en-US" sz="2800" b="1" dirty="0">
                <a:solidFill>
                  <a:schemeClr val="tx1"/>
                </a:solidFill>
              </a:rPr>
              <a:t>class V</a:t>
            </a:r>
            <a:r>
              <a:rPr lang="en-US" altLang="en-US" sz="2800" dirty="0">
                <a:solidFill>
                  <a:schemeClr val="tx1"/>
                </a:solidFill>
              </a:rPr>
              <a:t>: digitalis [digoxin]…. Prolongs the effective refractory period AV node</a:t>
            </a:r>
          </a:p>
          <a:p>
            <a:pPr>
              <a:buFontTx/>
              <a:buNone/>
            </a:pPr>
            <a:endParaRPr lang="en-US" altLang="en-US" sz="2800" dirty="0">
              <a:solidFill>
                <a:schemeClr val="tx1"/>
              </a:solidFill>
            </a:endParaRPr>
          </a:p>
          <a:p>
            <a:pPr>
              <a:buFontTx/>
              <a:buNone/>
            </a:pPr>
            <a:endParaRPr lang="en-US" altLang="en-US" sz="2800" dirty="0">
              <a:solidFill>
                <a:schemeClr val="tx1"/>
              </a:solidFill>
            </a:endParaRPr>
          </a:p>
        </p:txBody>
      </p:sp>
      <p:sp>
        <p:nvSpPr>
          <p:cNvPr id="131076" name="Rectangle 6">
            <a:extLst>
              <a:ext uri="{FF2B5EF4-FFF2-40B4-BE49-F238E27FC236}">
                <a16:creationId xmlns:a16="http://schemas.microsoft.com/office/drawing/2014/main" id="{B56DD0EC-3989-47C7-8718-7DC4E2C829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EEA366F-BE1D-4647-AE85-5882130340A8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BD915062-FF17-4DA2-99F8-D3730CF6B6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8993" y="251524"/>
            <a:ext cx="10601816" cy="1143000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Drugs used in hypotensive states and shock</a:t>
            </a:r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2A169D4D-85A5-47F0-A0C3-C2809A3CA7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8993" y="1325028"/>
            <a:ext cx="10026869" cy="5281448"/>
          </a:xfrm>
        </p:spPr>
        <p:txBody>
          <a:bodyPr wrap="square" numCol="1" anchor="t" anchorCtr="0" compatLnSpc="1">
            <a:prstTxWarp prst="textNoShape">
              <a:avLst/>
            </a:prstTxWarp>
            <a:normAutofit fontScale="92500"/>
          </a:bodyPr>
          <a:lstStyle/>
          <a:p>
            <a:endParaRPr lang="en-US" altLang="en-US" sz="2400" dirty="0">
              <a:solidFill>
                <a:schemeClr val="tx1"/>
              </a:solidFill>
              <a:latin typeface="Century" panose="02040604050505020304" pitchFamily="18" charset="0"/>
            </a:endParaRPr>
          </a:p>
          <a:p>
            <a:r>
              <a:rPr lang="en-US" altLang="en-US" sz="2400" dirty="0">
                <a:solidFill>
                  <a:schemeClr val="tx1"/>
                </a:solidFill>
                <a:latin typeface="Century" panose="02040604050505020304" pitchFamily="18" charset="0"/>
              </a:rPr>
              <a:t>Anti-hypotensive agents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Century" panose="02040604050505020304" pitchFamily="18" charset="0"/>
              </a:rPr>
              <a:t>Agents intended to </a:t>
            </a:r>
            <a:r>
              <a:rPr lang="en-US" altLang="en-US" sz="2400" b="1" dirty="0">
                <a:solidFill>
                  <a:schemeClr val="tx1"/>
                </a:solidFill>
                <a:latin typeface="Century" panose="02040604050505020304" pitchFamily="18" charset="0"/>
              </a:rPr>
              <a:t>increase the volume of blood </a:t>
            </a:r>
            <a:r>
              <a:rPr lang="en-US" altLang="en-US" sz="2400" dirty="0">
                <a:solidFill>
                  <a:schemeClr val="tx1"/>
                </a:solidFill>
                <a:latin typeface="Century" panose="02040604050505020304" pitchFamily="18" charset="0"/>
              </a:rPr>
              <a:t>in active circulation [iv fluid]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tx1"/>
                </a:solidFill>
                <a:latin typeface="Century" panose="02040604050505020304" pitchFamily="18" charset="0"/>
              </a:rPr>
              <a:t>Vasoconstrictors</a:t>
            </a:r>
            <a:r>
              <a:rPr lang="en-US" altLang="en-US" sz="2400" dirty="0">
                <a:solidFill>
                  <a:schemeClr val="tx1"/>
                </a:solidFill>
                <a:latin typeface="Century" panose="02040604050505020304" pitchFamily="18" charset="0"/>
              </a:rPr>
              <a:t> [adrenaline, ephedrine, vasopressin, angiotensin]</a:t>
            </a:r>
          </a:p>
          <a:p>
            <a:r>
              <a:rPr lang="en-US" altLang="en-US" sz="2800" dirty="0">
                <a:solidFill>
                  <a:schemeClr val="tx1"/>
                </a:solidFill>
                <a:latin typeface="Century" panose="02040604050505020304" pitchFamily="18" charset="0"/>
              </a:rPr>
              <a:t>RX of shock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Century" panose="02040604050505020304" pitchFamily="18" charset="0"/>
              </a:rPr>
              <a:t>Cardiogenic shock: dopamine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Century" panose="02040604050505020304" pitchFamily="18" charset="0"/>
              </a:rPr>
              <a:t>Anaphylactic shock: adrenaline [vasoconstrictor drug]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Century" panose="02040604050505020304" pitchFamily="18" charset="0"/>
              </a:rPr>
              <a:t>Hypovolemic shock: I.V fluid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Century" panose="02040604050505020304" pitchFamily="18" charset="0"/>
              </a:rPr>
              <a:t>Septic shock: antibiotic therapy in addition to other treatment measures</a:t>
            </a:r>
          </a:p>
        </p:txBody>
      </p:sp>
      <p:sp>
        <p:nvSpPr>
          <p:cNvPr id="136196" name="Rectangle 6">
            <a:extLst>
              <a:ext uri="{FF2B5EF4-FFF2-40B4-BE49-F238E27FC236}">
                <a16:creationId xmlns:a16="http://schemas.microsoft.com/office/drawing/2014/main" id="{00787EEE-FF7B-43E9-AC5A-7ACEBB2985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3B7C37D-E36D-4770-9942-B7AF0A1D4CAD}" type="slidenum">
              <a:rPr lang="en-US" altLang="en-US" sz="140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Aspect">
      <a:dk1>
        <a:sysClr val="windowText" lastClr="000000"/>
      </a:dk1>
      <a:lt1>
        <a:sysClr val="window" lastClr="FFFFFF"/>
      </a:lt1>
      <a:dk2>
        <a:srgbClr val="585753"/>
      </a:dk2>
      <a:lt2>
        <a:srgbClr val="EBDDC3"/>
      </a:lt2>
      <a:accent1>
        <a:srgbClr val="71B9E4"/>
      </a:accent1>
      <a:accent2>
        <a:srgbClr val="E25D3C"/>
      </a:accent2>
      <a:accent3>
        <a:srgbClr val="BDB59D"/>
      </a:accent3>
      <a:accent4>
        <a:srgbClr val="A5AB81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ustom 1">
      <a:majorFont>
        <a:latin typeface="Century"/>
        <a:ea typeface=""/>
        <a:cs typeface=""/>
      </a:majorFont>
      <a:minorFont>
        <a:latin typeface="Century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D2D995-20F0-4C14-BF62-1248AB4B484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B3242A4-1E6A-4E02-809C-4A24066EC01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5255AC-12AC-4323-AA35-9BAC798B66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{6A001800-1DC4-4F74-8C31-86370444C811}tf67061901_win32</Template>
  <TotalTime>3994</TotalTime>
  <Words>3072</Words>
  <Application>Microsoft Office PowerPoint</Application>
  <PresentationFormat>Widescreen</PresentationFormat>
  <Paragraphs>446</Paragraphs>
  <Slides>44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6" baseType="lpstr">
      <vt:lpstr>Arial</vt:lpstr>
      <vt:lpstr>Calibri</vt:lpstr>
      <vt:lpstr>Century</vt:lpstr>
      <vt:lpstr>Courier New</vt:lpstr>
      <vt:lpstr>Gill Sans MT</vt:lpstr>
      <vt:lpstr>Helvetica-Bold</vt:lpstr>
      <vt:lpstr>Roboto</vt:lpstr>
      <vt:lpstr>Times New Roman</vt:lpstr>
      <vt:lpstr>Verdana</vt:lpstr>
      <vt:lpstr>Wingdings</vt:lpstr>
      <vt:lpstr>Wingdings 2</vt:lpstr>
      <vt:lpstr>DividendVTI</vt:lpstr>
      <vt:lpstr>      Dr. Anteneh k</vt:lpstr>
      <vt:lpstr>CVS and Renal drugs </vt:lpstr>
      <vt:lpstr>Diuretics</vt:lpstr>
      <vt:lpstr>PowerPoint Presentation</vt:lpstr>
      <vt:lpstr>Diuretics cont’d</vt:lpstr>
      <vt:lpstr>Diuretics cont’d</vt:lpstr>
      <vt:lpstr>PowerPoint Presentation</vt:lpstr>
      <vt:lpstr>Diuretics cont’d</vt:lpstr>
      <vt:lpstr>Diuretics cont’d</vt:lpstr>
      <vt:lpstr>Diuretics cont’d</vt:lpstr>
      <vt:lpstr>Diuretics cont’d</vt:lpstr>
      <vt:lpstr>I. Antihypertensive drugs</vt:lpstr>
      <vt:lpstr>Antihypertensive cont’d</vt:lpstr>
      <vt:lpstr>Antihypertensive cont’d</vt:lpstr>
      <vt:lpstr>Antihypertensive cont’d</vt:lpstr>
      <vt:lpstr>Antihypertensive cont’d</vt:lpstr>
      <vt:lpstr>Antihypertensive cont’d</vt:lpstr>
      <vt:lpstr>Antihypertensive cont’d</vt:lpstr>
      <vt:lpstr>Antihypertensive cont’d</vt:lpstr>
      <vt:lpstr>Antihypertensive cont’d</vt:lpstr>
      <vt:lpstr>Antihypertensive cont’d</vt:lpstr>
      <vt:lpstr>Antihypertensive cont’d</vt:lpstr>
      <vt:lpstr>Antihypertensive cont’d</vt:lpstr>
      <vt:lpstr>Antihypertensive cont’d</vt:lpstr>
      <vt:lpstr>Antihypertensive cont’d</vt:lpstr>
      <vt:lpstr>Antihypertensive cont’d</vt:lpstr>
      <vt:lpstr>Antihypertensive cont’d</vt:lpstr>
      <vt:lpstr>II. Drugs used in heart failure</vt:lpstr>
      <vt:lpstr>PowerPoint Presentation</vt:lpstr>
      <vt:lpstr>PowerPoint Presentation</vt:lpstr>
      <vt:lpstr>PowerPoint Presentation</vt:lpstr>
      <vt:lpstr>Drugs with positive Inotropic effect </vt:lpstr>
      <vt:lpstr>Heart failure</vt:lpstr>
      <vt:lpstr>Heart failure</vt:lpstr>
      <vt:lpstr>Heart failure</vt:lpstr>
      <vt:lpstr>PowerPoint Presentation</vt:lpstr>
      <vt:lpstr>PowerPoint Presentation</vt:lpstr>
      <vt:lpstr>Heart failure</vt:lpstr>
      <vt:lpstr>II. Pharmacotherapy of angina pectoris</vt:lpstr>
      <vt:lpstr>angina pectoris cont’d</vt:lpstr>
      <vt:lpstr>angina pectoris cont’d</vt:lpstr>
      <vt:lpstr>IV. Antiarrhthmics</vt:lpstr>
      <vt:lpstr>Antiarrhthmics cont’d</vt:lpstr>
      <vt:lpstr>Drugs used in hypotensive states and shock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Anteneh k April 2021</dc:title>
  <dc:creator>ante mare</dc:creator>
  <cp:lastModifiedBy>ante</cp:lastModifiedBy>
  <cp:revision>263</cp:revision>
  <dcterms:created xsi:type="dcterms:W3CDTF">2021-04-27T05:02:31Z</dcterms:created>
  <dcterms:modified xsi:type="dcterms:W3CDTF">2023-11-30T10:13:39Z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2023-11-29T09:20:33Z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d930d41d-8e1b-42e9-bdea-467b87cd3e50</vt:lpwstr>
  </property>
  <property fmtid="{D5CDD505-2E9C-101B-9397-08002B2CF9AE}" pid="8" name="MSIP_Label_defa4170-0d19-0005-0004-bc88714345d2_ActionId">
    <vt:lpwstr>6c692934-a270-4465-b67d-4d3959f2ad69</vt:lpwstr>
  </property>
  <property fmtid="{D5CDD505-2E9C-101B-9397-08002B2CF9AE}" pid="9" name="MSIP_Label_defa4170-0d19-0005-0004-bc88714345d2_ContentBits">
    <vt:lpwstr>0</vt:lpwstr>
  </property>
</Properties>
</file>