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6" r:id="rId3"/>
    <p:sldId id="320" r:id="rId4"/>
    <p:sldId id="257" r:id="rId5"/>
    <p:sldId id="258" r:id="rId6"/>
    <p:sldId id="337" r:id="rId7"/>
    <p:sldId id="259" r:id="rId8"/>
    <p:sldId id="338" r:id="rId9"/>
    <p:sldId id="275" r:id="rId10"/>
    <p:sldId id="274" r:id="rId11"/>
    <p:sldId id="273" r:id="rId12"/>
    <p:sldId id="272" r:id="rId13"/>
    <p:sldId id="270" r:id="rId14"/>
    <p:sldId id="269" r:id="rId15"/>
    <p:sldId id="317" r:id="rId16"/>
    <p:sldId id="268" r:id="rId17"/>
    <p:sldId id="346" r:id="rId18"/>
    <p:sldId id="339" r:id="rId19"/>
    <p:sldId id="266" r:id="rId20"/>
    <p:sldId id="341" r:id="rId21"/>
    <p:sldId id="265" r:id="rId22"/>
    <p:sldId id="347" r:id="rId23"/>
    <p:sldId id="344" r:id="rId24"/>
    <p:sldId id="342" r:id="rId25"/>
    <p:sldId id="264" r:id="rId26"/>
    <p:sldId id="263" r:id="rId27"/>
    <p:sldId id="262" r:id="rId28"/>
    <p:sldId id="276" r:id="rId29"/>
    <p:sldId id="277" r:id="rId30"/>
    <p:sldId id="278" r:id="rId31"/>
    <p:sldId id="318" r:id="rId32"/>
    <p:sldId id="279" r:id="rId33"/>
    <p:sldId id="280" r:id="rId34"/>
    <p:sldId id="282" r:id="rId35"/>
    <p:sldId id="283" r:id="rId36"/>
    <p:sldId id="284" r:id="rId37"/>
    <p:sldId id="290" r:id="rId38"/>
    <p:sldId id="291" r:id="rId39"/>
    <p:sldId id="285" r:id="rId40"/>
    <p:sldId id="286" r:id="rId41"/>
    <p:sldId id="287" r:id="rId42"/>
    <p:sldId id="288" r:id="rId43"/>
    <p:sldId id="261" r:id="rId44"/>
    <p:sldId id="260" r:id="rId45"/>
    <p:sldId id="324" r:id="rId46"/>
    <p:sldId id="294" r:id="rId47"/>
    <p:sldId id="325" r:id="rId48"/>
    <p:sldId id="335" r:id="rId49"/>
    <p:sldId id="296" r:id="rId50"/>
    <p:sldId id="297" r:id="rId51"/>
    <p:sldId id="298" r:id="rId52"/>
    <p:sldId id="299" r:id="rId53"/>
    <p:sldId id="300" r:id="rId54"/>
    <p:sldId id="301" r:id="rId55"/>
    <p:sldId id="345" r:id="rId56"/>
    <p:sldId id="302" r:id="rId57"/>
    <p:sldId id="304" r:id="rId58"/>
    <p:sldId id="330" r:id="rId59"/>
    <p:sldId id="328" r:id="rId60"/>
    <p:sldId id="327" r:id="rId61"/>
    <p:sldId id="331" r:id="rId62"/>
    <p:sldId id="332" r:id="rId63"/>
    <p:sldId id="321" r:id="rId64"/>
    <p:sldId id="333" r:id="rId65"/>
    <p:sldId id="306" r:id="rId66"/>
    <p:sldId id="307" r:id="rId67"/>
    <p:sldId id="309" r:id="rId68"/>
    <p:sldId id="322" r:id="rId69"/>
    <p:sldId id="311" r:id="rId70"/>
    <p:sldId id="334" r:id="rId71"/>
    <p:sldId id="313" r:id="rId72"/>
    <p:sldId id="315" r:id="rId73"/>
    <p:sldId id="323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04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2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725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28196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354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011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035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43786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44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646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74848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8292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225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EC602-9134-404C-B8AA-91E5A53814EF}" type="datetimeFigureOut">
              <a:rPr lang="en-US" smtClean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E3743-50E5-447D-9F76-C06A82F6EF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376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Cardiovascular pathology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63886"/>
            <a:ext cx="9144000" cy="1045028"/>
          </a:xfrm>
        </p:spPr>
        <p:txBody>
          <a:bodyPr/>
          <a:lstStyle/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5112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6000" dirty="0" smtClean="0">
                <a:solidFill>
                  <a:srgbClr val="002060"/>
                </a:solidFill>
              </a:rPr>
              <a:t>                Part- I</a:t>
            </a:r>
            <a:endParaRPr lang="en-US" sz="60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 smtClean="0"/>
              <a:t>                 </a:t>
            </a:r>
            <a:r>
              <a:rPr lang="en-US" sz="6000" dirty="0" smtClean="0">
                <a:solidFill>
                  <a:srgbClr val="002060"/>
                </a:solidFill>
              </a:rPr>
              <a:t>Vascular </a:t>
            </a:r>
            <a:r>
              <a:rPr lang="en-US" sz="6000" dirty="0">
                <a:solidFill>
                  <a:srgbClr val="002060"/>
                </a:solidFill>
              </a:rPr>
              <a:t>Pathology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4700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    </a:t>
            </a:r>
            <a:r>
              <a:rPr lang="en-US" sz="3600" b="1" dirty="0" smtClean="0"/>
              <a:t>Outline</a:t>
            </a:r>
          </a:p>
          <a:p>
            <a:r>
              <a:rPr lang="en-US" dirty="0" err="1" smtClean="0"/>
              <a:t>Vasculitis</a:t>
            </a:r>
            <a:endParaRPr lang="en-US" dirty="0" smtClean="0"/>
          </a:p>
          <a:p>
            <a:r>
              <a:rPr lang="en-US" dirty="0" smtClean="0"/>
              <a:t>Raynaud phenomenon</a:t>
            </a:r>
          </a:p>
          <a:p>
            <a:r>
              <a:rPr lang="en-US" dirty="0" smtClean="0"/>
              <a:t>Arteriosclerosis</a:t>
            </a:r>
          </a:p>
          <a:p>
            <a:r>
              <a:rPr lang="en-US" dirty="0" smtClean="0"/>
              <a:t>Hypertension</a:t>
            </a:r>
          </a:p>
          <a:p>
            <a:r>
              <a:rPr lang="en-US" dirty="0" smtClean="0"/>
              <a:t>Aneurysms and arteriovenous fistula</a:t>
            </a:r>
          </a:p>
          <a:p>
            <a:r>
              <a:rPr lang="en-US" dirty="0" smtClean="0"/>
              <a:t>Venous disease</a:t>
            </a:r>
          </a:p>
          <a:p>
            <a:r>
              <a:rPr lang="en-US" dirty="0" smtClean="0"/>
              <a:t>Vascular neoplasms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7468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/>
              <a:t>VASCULITIS 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vasculitis</a:t>
            </a:r>
            <a:r>
              <a:rPr lang="en-US" dirty="0" smtClean="0"/>
              <a:t> are a group of systemic disorders with </a:t>
            </a:r>
            <a:r>
              <a:rPr lang="en-US" b="1" dirty="0" smtClean="0"/>
              <a:t>vessel wall inflammation</a:t>
            </a:r>
            <a:r>
              <a:rPr lang="en-US" dirty="0" smtClean="0"/>
              <a:t> and myriad clinical presentations.</a:t>
            </a:r>
          </a:p>
          <a:p>
            <a:r>
              <a:rPr lang="en-US" dirty="0"/>
              <a:t>B</a:t>
            </a:r>
            <a:r>
              <a:rPr lang="en-US" dirty="0" smtClean="0"/>
              <a:t>ased on the </a:t>
            </a:r>
            <a:r>
              <a:rPr lang="en-US" b="1" dirty="0" smtClean="0"/>
              <a:t>size of the vessels </a:t>
            </a:r>
            <a:r>
              <a:rPr lang="en-US" dirty="0" smtClean="0"/>
              <a:t>involved:</a:t>
            </a:r>
          </a:p>
          <a:p>
            <a:pPr marL="0" indent="0">
              <a:buNone/>
            </a:pPr>
            <a:r>
              <a:rPr lang="en-US" dirty="0" smtClean="0"/>
              <a:t>1.</a:t>
            </a:r>
            <a:r>
              <a:rPr lang="en-US" dirty="0"/>
              <a:t> Large Vessel </a:t>
            </a:r>
            <a:r>
              <a:rPr lang="en-US" dirty="0" err="1" smtClean="0"/>
              <a:t>Vasculitis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Medium Vessel </a:t>
            </a:r>
            <a:r>
              <a:rPr lang="en-US" dirty="0" err="1" smtClean="0"/>
              <a:t>Vasculitis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dirty="0"/>
              <a:t>Small Vessel </a:t>
            </a:r>
            <a:r>
              <a:rPr lang="en-US" dirty="0" err="1" smtClean="0"/>
              <a:t>Vasculitis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27536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1966"/>
            <a:ext cx="10515600" cy="51449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                 </a:t>
            </a:r>
            <a:r>
              <a:rPr lang="en-US" sz="3200" b="1" dirty="0" smtClean="0"/>
              <a:t>1. Large Vessel </a:t>
            </a:r>
            <a:r>
              <a:rPr lang="en-US" sz="3200" b="1" dirty="0" err="1" smtClean="0"/>
              <a:t>Vasculitis</a:t>
            </a:r>
            <a:r>
              <a:rPr lang="en-US" sz="3200" b="1" dirty="0" smtClean="0"/>
              <a:t> </a:t>
            </a:r>
          </a:p>
          <a:p>
            <a:r>
              <a:rPr lang="en-US" b="1" dirty="0" smtClean="0"/>
              <a:t>A</a:t>
            </a:r>
            <a:r>
              <a:rPr lang="en-US" dirty="0" smtClean="0"/>
              <a:t>. </a:t>
            </a:r>
            <a:r>
              <a:rPr lang="en-US" b="1" dirty="0" err="1" smtClean="0"/>
              <a:t>Takayasu</a:t>
            </a:r>
            <a:r>
              <a:rPr lang="en-US" b="1" dirty="0" smtClean="0"/>
              <a:t> </a:t>
            </a:r>
            <a:r>
              <a:rPr lang="en-US" sz="2400" b="1" dirty="0" err="1" smtClean="0"/>
              <a:t>arteritis</a:t>
            </a:r>
            <a:endParaRPr lang="en-US" sz="2400" b="1" dirty="0" smtClean="0"/>
          </a:p>
          <a:p>
            <a:r>
              <a:rPr lang="en-US" sz="2400" b="1" dirty="0" smtClean="0"/>
              <a:t>A </a:t>
            </a:r>
            <a:r>
              <a:rPr lang="en-US" sz="2400" b="1" dirty="0" err="1" smtClean="0"/>
              <a:t>granulomatous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vasculitis</a:t>
            </a:r>
            <a:r>
              <a:rPr lang="en-US" sz="2400" b="1" dirty="0" smtClean="0"/>
              <a:t> characterized  by ocular disturbances &amp; marked weakening of the pulses in the upper extremities.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An autoimmune etiology is likely.</a:t>
            </a:r>
            <a:endParaRPr lang="en-US" sz="2400" b="1" dirty="0" smtClean="0"/>
          </a:p>
          <a:p>
            <a:r>
              <a:rPr lang="en-US" sz="2400" dirty="0" smtClean="0"/>
              <a:t>Occurs in younger patients (age &lt;50 yrs.)</a:t>
            </a:r>
          </a:p>
          <a:p>
            <a:r>
              <a:rPr lang="en-US" sz="2400" b="1" dirty="0" smtClean="0"/>
              <a:t>CFs-</a:t>
            </a:r>
            <a:r>
              <a:rPr lang="en-US" sz="2400" dirty="0" smtClean="0"/>
              <a:t>Initial </a:t>
            </a:r>
            <a:r>
              <a:rPr lang="en-US" sz="2400" dirty="0" err="1" smtClean="0"/>
              <a:t>sns</a:t>
            </a:r>
            <a:r>
              <a:rPr lang="en-US" sz="2400" dirty="0" smtClean="0"/>
              <a:t> and </a:t>
            </a:r>
            <a:r>
              <a:rPr lang="en-US" sz="2400" dirty="0" err="1" smtClean="0"/>
              <a:t>sxs</a:t>
            </a:r>
            <a:r>
              <a:rPr lang="en-US" sz="2400" dirty="0" smtClean="0"/>
              <a:t> usually are </a:t>
            </a:r>
            <a:r>
              <a:rPr lang="en-US" sz="2400" dirty="0" err="1" smtClean="0"/>
              <a:t>nonspecific,fatigue,weight</a:t>
            </a:r>
            <a:r>
              <a:rPr lang="en-US" sz="2400" dirty="0" smtClean="0"/>
              <a:t> loss, &amp; fever.</a:t>
            </a:r>
          </a:p>
          <a:p>
            <a:r>
              <a:rPr lang="en-US" sz="2400" dirty="0" smtClean="0"/>
              <a:t>Later, reduced upper-extremity BP and pulse strength; neurologic deficits; and ocular disturbances.</a:t>
            </a:r>
          </a:p>
          <a:p>
            <a:r>
              <a:rPr lang="en-US" sz="2400" b="1" dirty="0" smtClean="0"/>
              <a:t>Microscopy-</a:t>
            </a:r>
            <a:r>
              <a:rPr lang="en-US" sz="2400" dirty="0" err="1" smtClean="0"/>
              <a:t>Transmural</a:t>
            </a:r>
            <a:r>
              <a:rPr lang="en-US" sz="2400" dirty="0" smtClean="0"/>
              <a:t> scarring &amp; thickening of the </a:t>
            </a:r>
            <a:r>
              <a:rPr lang="en-US" sz="2400" dirty="0" err="1" smtClean="0"/>
              <a:t>aorta,with</a:t>
            </a:r>
            <a:r>
              <a:rPr lang="en-US" sz="2400" dirty="0" smtClean="0"/>
              <a:t> severe luminal </a:t>
            </a:r>
          </a:p>
          <a:p>
            <a:pPr>
              <a:buNone/>
            </a:pPr>
            <a:r>
              <a:rPr lang="en-US" sz="2400" dirty="0" smtClean="0"/>
              <a:t>                          narrowing of the major branch vessels.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293252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7771" y="4124552"/>
            <a:ext cx="7580812" cy="1655762"/>
          </a:xfrm>
        </p:spPr>
        <p:txBody>
          <a:bodyPr>
            <a:normAutofit/>
          </a:bodyPr>
          <a:lstStyle/>
          <a:p>
            <a:r>
              <a:rPr lang="en-US" sz="1600" b="1" dirty="0" err="1" smtClean="0"/>
              <a:t>A</a:t>
            </a:r>
            <a:r>
              <a:rPr lang="en-US" sz="1600" dirty="0" err="1" smtClean="0"/>
              <a:t>,Marked</a:t>
            </a:r>
            <a:r>
              <a:rPr lang="en-US" sz="1600" dirty="0" smtClean="0"/>
              <a:t> </a:t>
            </a:r>
            <a:r>
              <a:rPr lang="en-US" sz="1600" dirty="0" err="1" smtClean="0"/>
              <a:t>intimal</a:t>
            </a:r>
            <a:r>
              <a:rPr lang="en-US" sz="1600" dirty="0" smtClean="0"/>
              <a:t> thickening and luminal narrowing. The white circles correspond to the </a:t>
            </a:r>
          </a:p>
          <a:p>
            <a:r>
              <a:rPr lang="en-US" sz="1600" dirty="0" smtClean="0"/>
              <a:t>original vessel wall; the inner core of tan tissue is the area of </a:t>
            </a:r>
            <a:r>
              <a:rPr lang="en-US" sz="1600" dirty="0" err="1" smtClean="0"/>
              <a:t>intimal</a:t>
            </a:r>
            <a:r>
              <a:rPr lang="en-US" sz="1600" dirty="0" smtClean="0"/>
              <a:t> hyperplasia</a:t>
            </a:r>
          </a:p>
          <a:p>
            <a:r>
              <a:rPr lang="en-US" sz="1600" b="1" dirty="0" err="1" smtClean="0"/>
              <a:t>B,</a:t>
            </a:r>
            <a:r>
              <a:rPr lang="en-US" sz="1600" dirty="0" err="1" smtClean="0"/>
              <a:t>Histologic</a:t>
            </a:r>
            <a:r>
              <a:rPr lang="en-US" sz="1600" dirty="0" smtClean="0"/>
              <a:t> appearance in active </a:t>
            </a:r>
            <a:r>
              <a:rPr lang="en-US" sz="1600" dirty="0" err="1" smtClean="0"/>
              <a:t>Takayasu</a:t>
            </a:r>
            <a:r>
              <a:rPr lang="en-US" sz="1600" dirty="0" smtClean="0"/>
              <a:t> </a:t>
            </a:r>
            <a:r>
              <a:rPr lang="en-US" sz="1600" dirty="0" err="1" smtClean="0"/>
              <a:t>aortitis</a:t>
            </a:r>
            <a:r>
              <a:rPr lang="en-US" sz="1600" dirty="0" smtClean="0"/>
              <a:t> illustrating destruction and fibrosis </a:t>
            </a:r>
          </a:p>
          <a:p>
            <a:r>
              <a:rPr lang="en-US" sz="1600" dirty="0" smtClean="0"/>
              <a:t>of the arterial media associated with mononuclear infiltrates and giant cells </a:t>
            </a:r>
            <a:r>
              <a:rPr lang="en-US" sz="1600" i="1" dirty="0" smtClean="0"/>
              <a:t>(arrows).</a:t>
            </a:r>
            <a:endParaRPr lang="en-US" sz="16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2371" y="1045027"/>
            <a:ext cx="4466544" cy="2834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10721" y="990736"/>
            <a:ext cx="4743450" cy="2745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580606" y="347472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AAA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80606" y="386660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296297" y="374904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B. Giant cell arteritis </a:t>
            </a:r>
          </a:p>
          <a:p>
            <a:r>
              <a:rPr lang="en-US" sz="2400" dirty="0"/>
              <a:t>F</a:t>
            </a:r>
            <a:r>
              <a:rPr lang="en-US" sz="2400" dirty="0" smtClean="0"/>
              <a:t>ormerly called </a:t>
            </a:r>
            <a:r>
              <a:rPr lang="en-US" sz="2400" dirty="0" smtClean="0">
                <a:solidFill>
                  <a:srgbClr val="FF0000"/>
                </a:solidFill>
              </a:rPr>
              <a:t>temporal arteritis</a:t>
            </a:r>
            <a:r>
              <a:rPr lang="en-US" sz="2400" dirty="0" smtClean="0"/>
              <a:t>, but the temporal arteries are not always involved. </a:t>
            </a:r>
          </a:p>
          <a:p>
            <a:r>
              <a:rPr lang="en-US" sz="2400" dirty="0" smtClean="0"/>
              <a:t>The vertebral and ophthalmic arteries and aorta are often involved.</a:t>
            </a:r>
          </a:p>
          <a:p>
            <a:r>
              <a:rPr lang="en-US" sz="2400" dirty="0" smtClean="0"/>
              <a:t> The most common form of </a:t>
            </a:r>
            <a:r>
              <a:rPr lang="en-US" sz="2400" dirty="0" err="1" smtClean="0"/>
              <a:t>vasculitis</a:t>
            </a:r>
            <a:r>
              <a:rPr lang="en-US" sz="2400" dirty="0" smtClean="0"/>
              <a:t> among older adults(&gt;50yrs).</a:t>
            </a:r>
          </a:p>
          <a:p>
            <a:r>
              <a:rPr lang="en-US" sz="2400" dirty="0" smtClean="0"/>
              <a:t>The typical presentation evolves from nonspecific symptoms (headache) to more severe symptoms (blindness). </a:t>
            </a:r>
          </a:p>
          <a:p>
            <a:r>
              <a:rPr lang="en-US" sz="2400" dirty="0" smtClean="0"/>
              <a:t>Microscopically, there </a:t>
            </a:r>
            <a:r>
              <a:rPr lang="en-US" sz="2400" dirty="0" smtClean="0">
                <a:solidFill>
                  <a:srgbClr val="FF0000"/>
                </a:solidFill>
              </a:rPr>
              <a:t>are inner media granulomas </a:t>
            </a:r>
            <a:r>
              <a:rPr lang="en-US" sz="2400" dirty="0" smtClean="0"/>
              <a:t>in classic cases.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09946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0583" y="4924697"/>
            <a:ext cx="7977052" cy="868680"/>
          </a:xfrm>
        </p:spPr>
        <p:txBody>
          <a:bodyPr>
            <a:normAutofit lnSpcReduction="10000"/>
          </a:bodyPr>
          <a:lstStyle/>
          <a:p>
            <a:r>
              <a:rPr lang="en-US" sz="1600" dirty="0" err="1" smtClean="0"/>
              <a:t>Hematoxylin</a:t>
            </a:r>
            <a:r>
              <a:rPr lang="en-US" sz="1600" dirty="0" smtClean="0"/>
              <a:t>-eosin-stained section of a temporal artery showing giant cells near the fragmented </a:t>
            </a:r>
          </a:p>
          <a:p>
            <a:r>
              <a:rPr lang="en-US" sz="1600" dirty="0" smtClean="0"/>
              <a:t>Internal elastic membrane </a:t>
            </a:r>
            <a:r>
              <a:rPr lang="en-US" sz="1600" i="1" dirty="0" smtClean="0"/>
              <a:t>(arrow), along with medial and adventitial inflammation.</a:t>
            </a:r>
            <a:endParaRPr 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04903" y="757374"/>
            <a:ext cx="6021977" cy="4023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29"/>
            <a:ext cx="10515600" cy="513193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</a:t>
            </a:r>
            <a:r>
              <a:rPr lang="en-US" sz="3200" b="1" dirty="0" smtClean="0"/>
              <a:t>2. Medium Vessel </a:t>
            </a:r>
            <a:r>
              <a:rPr lang="en-US" sz="3200" b="1" dirty="0" err="1" smtClean="0"/>
              <a:t>Vasculitis</a:t>
            </a:r>
            <a:r>
              <a:rPr lang="en-US" sz="3200" b="1" dirty="0" smtClean="0"/>
              <a:t> </a:t>
            </a:r>
          </a:p>
          <a:p>
            <a:pPr marL="0" indent="0">
              <a:buNone/>
            </a:pPr>
            <a:r>
              <a:rPr lang="en-US" b="1" dirty="0" smtClean="0"/>
              <a:t>A. Kawasaki disease </a:t>
            </a:r>
          </a:p>
          <a:p>
            <a:r>
              <a:rPr lang="en-US" sz="2400" b="1" dirty="0" smtClean="0"/>
              <a:t>Acute, febrile, usually self-limited illness of infancy and childhood associated with an </a:t>
            </a:r>
            <a:r>
              <a:rPr lang="en-US" sz="2400" b="1" dirty="0" err="1" smtClean="0"/>
              <a:t>arteritis</a:t>
            </a:r>
            <a:r>
              <a:rPr lang="en-US" sz="2400" b="1" dirty="0" smtClean="0"/>
              <a:t> of mainly  to medium-sized vessels.</a:t>
            </a:r>
          </a:p>
          <a:p>
            <a:r>
              <a:rPr lang="en-US" sz="2400" dirty="0" smtClean="0"/>
              <a:t>Approximately 80% of patients are younger than 4 years of age.</a:t>
            </a:r>
          </a:p>
          <a:p>
            <a:r>
              <a:rPr lang="en-US" sz="2400" dirty="0" smtClean="0"/>
              <a:t>Presents with mucocutaneous symptoms &amp; cervical lymph node enlargement. </a:t>
            </a:r>
          </a:p>
          <a:p>
            <a:r>
              <a:rPr lang="en-US" sz="2400" dirty="0" smtClean="0"/>
              <a:t>Coronary </a:t>
            </a:r>
            <a:r>
              <a:rPr lang="en-US" sz="2400" dirty="0" err="1" smtClean="0"/>
              <a:t>arteritis</a:t>
            </a:r>
            <a:r>
              <a:rPr lang="en-US" sz="2400" dirty="0" smtClean="0"/>
              <a:t> can result in aneurysms that rupture or </a:t>
            </a:r>
            <a:r>
              <a:rPr lang="en-US" sz="2400" dirty="0" err="1" smtClean="0"/>
              <a:t>thrombose</a:t>
            </a:r>
            <a:r>
              <a:rPr lang="en-US" sz="2400" dirty="0" smtClean="0"/>
              <a:t>, </a:t>
            </a:r>
          </a:p>
          <a:p>
            <a:pPr>
              <a:buNone/>
            </a:pPr>
            <a:r>
              <a:rPr lang="en-US" sz="2400" dirty="0" smtClean="0"/>
              <a:t>    causing myocardial infarction. </a:t>
            </a:r>
          </a:p>
          <a:p>
            <a:r>
              <a:rPr lang="en-US" sz="2400" dirty="0" smtClean="0"/>
              <a:t>Microscopically, there is </a:t>
            </a:r>
            <a:r>
              <a:rPr lang="en-US" sz="2400" dirty="0" smtClean="0">
                <a:solidFill>
                  <a:srgbClr val="FF0000"/>
                </a:solidFill>
              </a:rPr>
              <a:t>transmural vascular inflammation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72718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846"/>
            <a:ext cx="10515600" cy="4962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B. Polyarteritis nodosa </a:t>
            </a:r>
          </a:p>
          <a:p>
            <a:r>
              <a:rPr lang="en-US" sz="2400" dirty="0" smtClean="0"/>
              <a:t>Is a systemic necrotizing </a:t>
            </a:r>
            <a:r>
              <a:rPr lang="en-US" sz="2400" dirty="0" err="1" smtClean="0"/>
              <a:t>vasculitis</a:t>
            </a:r>
            <a:r>
              <a:rPr lang="en-US" sz="2400" dirty="0" smtClean="0"/>
              <a:t>, </a:t>
            </a:r>
            <a:r>
              <a:rPr lang="en-US" sz="2400" b="1" dirty="0" smtClean="0"/>
              <a:t>typically involves the renal and visceral vessels and spares the pulmonary circulation.</a:t>
            </a:r>
            <a:endParaRPr lang="en-US" sz="2400" dirty="0" smtClean="0"/>
          </a:p>
          <a:p>
            <a:r>
              <a:rPr lang="en-US" sz="2400" dirty="0" smtClean="0"/>
              <a:t>A disease of young adults but can occur in all age groups.</a:t>
            </a:r>
          </a:p>
          <a:p>
            <a:r>
              <a:rPr lang="en-US" sz="2400" dirty="0" smtClean="0"/>
              <a:t>It has an association with </a:t>
            </a:r>
            <a:r>
              <a:rPr lang="en-US" sz="2400" dirty="0" smtClean="0">
                <a:solidFill>
                  <a:srgbClr val="FF0000"/>
                </a:solidFill>
              </a:rPr>
              <a:t>hepatitis B virus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The systemic findings—malaise, fever, and weight loss—are nonspecific.</a:t>
            </a:r>
          </a:p>
          <a:p>
            <a:r>
              <a:rPr lang="en-US" sz="2400" dirty="0" smtClean="0"/>
              <a:t>A “classic” presentation rapidly accelerating hypertension due to renal </a:t>
            </a:r>
          </a:p>
          <a:p>
            <a:pPr>
              <a:buNone/>
            </a:pPr>
            <a:r>
              <a:rPr lang="en-US" sz="2400" dirty="0" smtClean="0"/>
              <a:t>   artery involvement, abdominal pain and bloody stools caused by </a:t>
            </a:r>
          </a:p>
          <a:p>
            <a:pPr>
              <a:buNone/>
            </a:pPr>
            <a:r>
              <a:rPr lang="en-US" sz="2400" dirty="0" smtClean="0"/>
              <a:t>   gastrointestinal lesions.</a:t>
            </a:r>
          </a:p>
          <a:p>
            <a:r>
              <a:rPr lang="en-US" sz="2400" dirty="0" smtClean="0"/>
              <a:t>Renal involvement often is prominent and is a major cause of death.</a:t>
            </a: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6278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6023"/>
            <a:ext cx="10515600" cy="5340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                 </a:t>
            </a:r>
            <a:r>
              <a:rPr lang="en-US" sz="3200" b="1" dirty="0" smtClean="0"/>
              <a:t>3. Small Vessel </a:t>
            </a:r>
            <a:r>
              <a:rPr lang="en-US" sz="3200" b="1" dirty="0" err="1" smtClean="0"/>
              <a:t>Vasculitis</a:t>
            </a:r>
            <a:endParaRPr lang="en-US" sz="3200" b="1" dirty="0" smtClean="0"/>
          </a:p>
          <a:p>
            <a:pPr marL="514350" indent="-514350">
              <a:buAutoNum type="alphaUcPeriod"/>
            </a:pPr>
            <a:r>
              <a:rPr lang="en-US" b="1" dirty="0" err="1" smtClean="0"/>
              <a:t>Granulomatosis</a:t>
            </a:r>
            <a:r>
              <a:rPr lang="en-US" b="1" dirty="0" smtClean="0"/>
              <a:t> with </a:t>
            </a:r>
            <a:r>
              <a:rPr lang="en-US" b="1" dirty="0" err="1" smtClean="0"/>
              <a:t>polyangiitis</a:t>
            </a:r>
            <a:r>
              <a:rPr lang="en-US" dirty="0" smtClean="0"/>
              <a:t> </a:t>
            </a:r>
          </a:p>
          <a:p>
            <a:pPr marL="514350" indent="-514350"/>
            <a:r>
              <a:rPr lang="en-US" sz="2400" dirty="0" smtClean="0"/>
              <a:t>A necrotizing </a:t>
            </a:r>
            <a:r>
              <a:rPr lang="en-US" sz="2400" dirty="0" err="1" smtClean="0"/>
              <a:t>vasculitis</a:t>
            </a:r>
            <a:r>
              <a:rPr lang="en-US" sz="2400" dirty="0" smtClean="0"/>
              <a:t>, characterized by granulomas of the </a:t>
            </a:r>
            <a:r>
              <a:rPr lang="en-US" sz="2400" dirty="0" smtClean="0">
                <a:solidFill>
                  <a:srgbClr val="FF0000"/>
                </a:solidFill>
              </a:rPr>
              <a:t>lung &amp; upper respiratory </a:t>
            </a:r>
            <a:r>
              <a:rPr lang="en-US" sz="2400" dirty="0" smtClean="0"/>
              <a:t>tract, </a:t>
            </a:r>
            <a:r>
              <a:rPr lang="en-US" sz="2400" dirty="0" smtClean="0">
                <a:solidFill>
                  <a:srgbClr val="FF0000"/>
                </a:solidFill>
              </a:rPr>
              <a:t>glomerulonephritis</a:t>
            </a:r>
            <a:r>
              <a:rPr lang="en-US" sz="2400" dirty="0" smtClean="0"/>
              <a:t>, and </a:t>
            </a:r>
            <a:r>
              <a:rPr lang="en-US" sz="2400" dirty="0" smtClean="0">
                <a:solidFill>
                  <a:srgbClr val="FF0000"/>
                </a:solidFill>
              </a:rPr>
              <a:t>a necrotizing granulomatous </a:t>
            </a:r>
            <a:r>
              <a:rPr lang="en-US" sz="2400" dirty="0" err="1" smtClean="0">
                <a:solidFill>
                  <a:srgbClr val="FF0000"/>
                </a:solidFill>
              </a:rPr>
              <a:t>vasculitis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 The typical patient is a middle aged man, although women and individuals </a:t>
            </a:r>
          </a:p>
          <a:p>
            <a:pPr>
              <a:buNone/>
            </a:pPr>
            <a:r>
              <a:rPr lang="en-US" sz="2400" dirty="0" smtClean="0"/>
              <a:t>     of other ages can be affected.</a:t>
            </a:r>
          </a:p>
          <a:p>
            <a:r>
              <a:rPr lang="en-US" sz="2400" dirty="0" smtClean="0"/>
              <a:t>Classic presentations include bilateral </a:t>
            </a:r>
            <a:r>
              <a:rPr lang="en-US" sz="2400" dirty="0" err="1" smtClean="0"/>
              <a:t>pneumonitis</a:t>
            </a:r>
            <a:r>
              <a:rPr lang="en-US" sz="2400" dirty="0" smtClean="0"/>
              <a:t> with nodules and</a:t>
            </a:r>
          </a:p>
          <a:p>
            <a:pPr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cavitary</a:t>
            </a:r>
            <a:r>
              <a:rPr lang="en-US" sz="2400" dirty="0" smtClean="0"/>
              <a:t> lesions (95%), chronic sinusitis (90%), mucosal ulcerations of the </a:t>
            </a:r>
            <a:r>
              <a:rPr lang="en-US" sz="2400" dirty="0" err="1" smtClean="0"/>
              <a:t>nasopharynx</a:t>
            </a:r>
            <a:r>
              <a:rPr lang="en-US" sz="2400" dirty="0" smtClean="0"/>
              <a:t> (75%), and renal disease (80%).</a:t>
            </a:r>
          </a:p>
          <a:p>
            <a:r>
              <a:rPr lang="en-US" sz="2400" dirty="0" smtClean="0"/>
              <a:t>If untreated, the mortality rate at 1 year is 80%.</a:t>
            </a:r>
          </a:p>
          <a:p>
            <a:pPr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409529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4034"/>
            <a:ext cx="10515600" cy="4922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B. </a:t>
            </a:r>
            <a:r>
              <a:rPr lang="en-US" b="1" dirty="0" err="1" smtClean="0"/>
              <a:t>Churg</a:t>
            </a:r>
            <a:r>
              <a:rPr lang="en-US" b="1" dirty="0" smtClean="0"/>
              <a:t>-Strauss Syndrome</a:t>
            </a:r>
          </a:p>
          <a:p>
            <a:r>
              <a:rPr lang="en-US" sz="2400" dirty="0" smtClean="0"/>
              <a:t>Also called </a:t>
            </a:r>
            <a:r>
              <a:rPr lang="en-US" sz="2400" b="1" i="1" dirty="0" smtClean="0"/>
              <a:t>allergic </a:t>
            </a:r>
            <a:r>
              <a:rPr lang="en-US" sz="2400" b="1" i="1" dirty="0" err="1" smtClean="0"/>
              <a:t>granulomatosis</a:t>
            </a:r>
            <a:r>
              <a:rPr lang="en-US" sz="2400" b="1" i="1" dirty="0" smtClean="0"/>
              <a:t> </a:t>
            </a:r>
            <a:r>
              <a:rPr lang="en-US" sz="2400" dirty="0" smtClean="0"/>
              <a:t>and</a:t>
            </a:r>
            <a:r>
              <a:rPr lang="en-US" sz="2400" b="1" dirty="0" smtClean="0"/>
              <a:t> </a:t>
            </a:r>
            <a:r>
              <a:rPr lang="en-US" sz="2400" b="1" i="1" dirty="0" err="1" smtClean="0"/>
              <a:t>angiitis</a:t>
            </a:r>
            <a:r>
              <a:rPr lang="en-US" sz="2400" b="1" i="1" dirty="0" smtClean="0"/>
              <a:t>.</a:t>
            </a:r>
          </a:p>
          <a:p>
            <a:r>
              <a:rPr lang="en-US" sz="2400" b="1" dirty="0" smtClean="0"/>
              <a:t>A small-vessel necrotizing </a:t>
            </a:r>
            <a:r>
              <a:rPr lang="en-US" sz="2400" b="1" dirty="0" err="1" smtClean="0"/>
              <a:t>vasculitis</a:t>
            </a:r>
            <a:r>
              <a:rPr lang="en-US" sz="2400" b="1" dirty="0" smtClean="0"/>
              <a:t> associated with asthma, allergic rhinitis, lung infiltrates, peripheral </a:t>
            </a:r>
            <a:r>
              <a:rPr lang="en-US" sz="2400" b="1" dirty="0" err="1" smtClean="0"/>
              <a:t>eosinophilia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extravascular</a:t>
            </a:r>
            <a:r>
              <a:rPr lang="en-US" sz="2400" b="1" dirty="0" smtClean="0"/>
              <a:t> necrotizing </a:t>
            </a:r>
            <a:r>
              <a:rPr lang="en-US" sz="2400" b="1" dirty="0" err="1" smtClean="0"/>
              <a:t>granulomas</a:t>
            </a:r>
            <a:r>
              <a:rPr lang="en-US" sz="2400" b="1" dirty="0" smtClean="0"/>
              <a:t>, and a striking infiltration of vessels and </a:t>
            </a:r>
            <a:r>
              <a:rPr lang="en-US" sz="2400" b="1" dirty="0" err="1" smtClean="0"/>
              <a:t>perivascular</a:t>
            </a:r>
            <a:r>
              <a:rPr lang="en-US" sz="2400" b="1" dirty="0" smtClean="0"/>
              <a:t> tissues by </a:t>
            </a:r>
            <a:r>
              <a:rPr lang="en-US" sz="2400" b="1" dirty="0" err="1" smtClean="0"/>
              <a:t>eosinophils</a:t>
            </a:r>
            <a:r>
              <a:rPr lang="en-US" sz="2400" b="1" dirty="0" smtClean="0"/>
              <a:t>.</a:t>
            </a:r>
            <a:endParaRPr lang="en-US" sz="2400" dirty="0" smtClean="0"/>
          </a:p>
          <a:p>
            <a:r>
              <a:rPr lang="en-US" sz="2400" dirty="0"/>
              <a:t>E</a:t>
            </a:r>
            <a:r>
              <a:rPr lang="en-US" sz="2400" dirty="0" smtClean="0"/>
              <a:t>osinophil counts may be extremely high in peripheral blood.</a:t>
            </a:r>
          </a:p>
          <a:p>
            <a:r>
              <a:rPr lang="en-US" sz="2400" dirty="0" err="1" smtClean="0"/>
              <a:t>Cutaneous</a:t>
            </a:r>
            <a:r>
              <a:rPr lang="en-US" sz="2400" dirty="0" smtClean="0"/>
              <a:t> involvement, gastrointestinal </a:t>
            </a:r>
            <a:r>
              <a:rPr lang="en-US" sz="2400" dirty="0" err="1" smtClean="0"/>
              <a:t>bleeding,and</a:t>
            </a:r>
            <a:r>
              <a:rPr lang="en-US" sz="2400" dirty="0" smtClean="0"/>
              <a:t> renal disease are  </a:t>
            </a:r>
          </a:p>
          <a:p>
            <a:pPr>
              <a:buNone/>
            </a:pPr>
            <a:r>
              <a:rPr lang="en-US" sz="2400" dirty="0" smtClean="0"/>
              <a:t>    the major associations.</a:t>
            </a:r>
          </a:p>
          <a:p>
            <a:r>
              <a:rPr lang="en-US" sz="2400" dirty="0" smtClean="0"/>
              <a:t>Cardiac involvement is seen in 60% of patients and is a major cause of </a:t>
            </a:r>
          </a:p>
          <a:p>
            <a:pPr>
              <a:buNone/>
            </a:pPr>
            <a:r>
              <a:rPr lang="en-US" sz="2400" dirty="0" smtClean="0"/>
              <a:t>    morbidity and death.</a:t>
            </a:r>
          </a:p>
        </p:txBody>
      </p:sp>
    </p:spTree>
    <p:extLst>
      <p:ext uri="{BB962C8B-B14F-4D97-AF65-F5344CB8AC3E}">
        <p14:creationId xmlns:p14="http://schemas.microsoft.com/office/powerpoint/2010/main" xmlns="" val="187333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0526"/>
            <a:ext cx="10515600" cy="523643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/>
              <a:t>RAYNAUD PHENOMENA </a:t>
            </a:r>
          </a:p>
          <a:p>
            <a:r>
              <a:rPr lang="en-US" sz="2600" dirty="0" smtClean="0"/>
              <a:t>Vasoconstriction of arteries and arterioles in the extremities, also </a:t>
            </a:r>
          </a:p>
          <a:p>
            <a:pPr>
              <a:buNone/>
            </a:pPr>
            <a:r>
              <a:rPr lang="en-US" sz="2600" dirty="0" smtClean="0"/>
              <a:t>    sometimes the nose, earlobes, or lips.</a:t>
            </a:r>
          </a:p>
          <a:p>
            <a:r>
              <a:rPr lang="en-US" sz="2600" dirty="0" smtClean="0"/>
              <a:t>The restricted blood flow induces paroxysmal </a:t>
            </a:r>
            <a:r>
              <a:rPr lang="en-US" sz="2600" b="1" dirty="0" smtClean="0"/>
              <a:t>pallor or cyanosis</a:t>
            </a:r>
            <a:r>
              <a:rPr lang="en-US" sz="2600" dirty="0" smtClean="0"/>
              <a:t>.</a:t>
            </a:r>
          </a:p>
          <a:p>
            <a:r>
              <a:rPr lang="en-US" sz="2600" b="1" dirty="0" smtClean="0"/>
              <a:t>1. Primary Raynaud Phenomenon </a:t>
            </a:r>
          </a:p>
          <a:p>
            <a:r>
              <a:rPr lang="en-US" sz="2600" dirty="0" smtClean="0"/>
              <a:t>Caused by exaggerated central and local vasomotor responses to cold or emotion.</a:t>
            </a:r>
          </a:p>
          <a:p>
            <a:r>
              <a:rPr lang="en-US" sz="2600" dirty="0" smtClean="0"/>
              <a:t>Affects 3% to 5% of the general population and has a predilection for young women. </a:t>
            </a:r>
          </a:p>
          <a:p>
            <a:r>
              <a:rPr lang="en-US" sz="2600" dirty="0" smtClean="0"/>
              <a:t>In chronic cases, atrophy of the skin, subcutaneous tissues, and muscles may occur.</a:t>
            </a:r>
          </a:p>
          <a:p>
            <a:pPr marL="0" indent="0">
              <a:buNone/>
            </a:pPr>
            <a:r>
              <a:rPr lang="en-US" sz="2600" b="1" dirty="0" smtClean="0"/>
              <a:t>2. Secondary Raynaud Phenomenon </a:t>
            </a:r>
          </a:p>
          <a:p>
            <a:r>
              <a:rPr lang="en-US" sz="2600" dirty="0" smtClean="0"/>
              <a:t>Is caused by arterial insufficiency secondary to an underlying disease such as </a:t>
            </a:r>
            <a:r>
              <a:rPr lang="en-US" sz="2600" dirty="0" err="1" smtClean="0">
                <a:solidFill>
                  <a:srgbClr val="002060"/>
                </a:solidFill>
              </a:rPr>
              <a:t>scleroderma,SLE,</a:t>
            </a:r>
            <a:r>
              <a:rPr lang="en-US" sz="2600" dirty="0" err="1" smtClean="0"/>
              <a:t>Buerger</a:t>
            </a:r>
            <a:r>
              <a:rPr lang="en-US" sz="2600" dirty="0" smtClean="0"/>
              <a:t> disease &amp; atherosclerosis.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xmlns="" val="29017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3406"/>
            <a:ext cx="10515600" cy="50535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/>
              <a:t>ARTERIOSCLEROSIS</a:t>
            </a:r>
            <a:r>
              <a:rPr lang="en-US" dirty="0" smtClean="0"/>
              <a:t> </a:t>
            </a:r>
          </a:p>
          <a:p>
            <a:r>
              <a:rPr lang="en-US" sz="2400" dirty="0"/>
              <a:t>Arteriosclerosis is a group of diseases which cause </a:t>
            </a:r>
            <a:r>
              <a:rPr lang="en-US" sz="2400" b="1" dirty="0"/>
              <a:t>arterial wall </a:t>
            </a:r>
            <a:r>
              <a:rPr lang="en-US" sz="2400" b="1" dirty="0" smtClean="0"/>
              <a:t>thickening </a:t>
            </a:r>
          </a:p>
          <a:p>
            <a:pPr>
              <a:buNone/>
            </a:pPr>
            <a:r>
              <a:rPr lang="en-US" sz="2400" b="1" dirty="0" smtClean="0"/>
              <a:t>   and loss of elasticity.</a:t>
            </a:r>
          </a:p>
          <a:p>
            <a:r>
              <a:rPr lang="en-US" sz="2400" dirty="0" smtClean="0"/>
              <a:t>Four distinct types are recognized.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err="1" smtClean="0"/>
              <a:t>Mönckeberg</a:t>
            </a:r>
            <a:r>
              <a:rPr lang="en-US" sz="2400" b="1" dirty="0" smtClean="0"/>
              <a:t> Medial Calcific Sclerosis </a:t>
            </a:r>
          </a:p>
          <a:p>
            <a:r>
              <a:rPr lang="en-US" sz="2400" dirty="0" smtClean="0"/>
              <a:t>Is a medial calcification of medium-sized (muscular) arteries, such as femoral, tibial, radial, and ulnar arteries. </a:t>
            </a:r>
          </a:p>
          <a:p>
            <a:r>
              <a:rPr lang="en-US" sz="2400" dirty="0" smtClean="0"/>
              <a:t>It is asymptomatic but may be detected by x-ray.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Arteriolosclerosis </a:t>
            </a:r>
          </a:p>
          <a:p>
            <a:r>
              <a:rPr lang="en-US" sz="2400" dirty="0"/>
              <a:t>Refers to sclerosis of </a:t>
            </a:r>
            <a:r>
              <a:rPr lang="en-US" sz="2400" dirty="0" smtClean="0"/>
              <a:t>arterioles, </a:t>
            </a:r>
            <a:r>
              <a:rPr lang="en-US" sz="2400" dirty="0"/>
              <a:t>it affects small arteries and arterioles.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353002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Microscopically</a:t>
            </a:r>
            <a:r>
              <a:rPr lang="en-US" dirty="0"/>
              <a:t>:-either </a:t>
            </a:r>
            <a:endParaRPr lang="en-US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Hyaline </a:t>
            </a:r>
            <a:r>
              <a:rPr lang="en-US" sz="2400" dirty="0">
                <a:solidFill>
                  <a:srgbClr val="FF0000"/>
                </a:solidFill>
              </a:rPr>
              <a:t>arteriolosclerosis </a:t>
            </a:r>
            <a:r>
              <a:rPr lang="en-US" sz="2400" dirty="0"/>
              <a:t>(pink, glassy arterial wall thickening with luminal </a:t>
            </a:r>
            <a:r>
              <a:rPr lang="en-US" sz="2400" dirty="0" smtClean="0"/>
              <a:t>narrowing- </a:t>
            </a:r>
            <a:r>
              <a:rPr lang="en-US" sz="2400" dirty="0"/>
              <a:t>seen in benign hypertension, diabetes, and aging) or </a:t>
            </a:r>
            <a:endParaRPr lang="en-US" sz="2400" dirty="0" smtClean="0"/>
          </a:p>
          <a:p>
            <a:r>
              <a:rPr lang="en-US" sz="2400" dirty="0">
                <a:solidFill>
                  <a:srgbClr val="C00000"/>
                </a:solidFill>
              </a:rPr>
              <a:t>H</a:t>
            </a:r>
            <a:r>
              <a:rPr lang="en-US" sz="2400" dirty="0" smtClean="0">
                <a:solidFill>
                  <a:srgbClr val="C00000"/>
                </a:solidFill>
              </a:rPr>
              <a:t>yperplastic </a:t>
            </a:r>
            <a:r>
              <a:rPr lang="en-US" sz="2400" dirty="0">
                <a:solidFill>
                  <a:srgbClr val="C00000"/>
                </a:solidFill>
              </a:rPr>
              <a:t>arteriolosclerosis </a:t>
            </a:r>
            <a:r>
              <a:rPr lang="en-US" sz="2400" dirty="0"/>
              <a:t>(smooth-muscle proliferation resulting in concentric [“onion skin”] wall thickening and luminal </a:t>
            </a:r>
            <a:r>
              <a:rPr lang="en-US" sz="2400" dirty="0" smtClean="0"/>
              <a:t>narrowing- </a:t>
            </a:r>
            <a:r>
              <a:rPr lang="en-US" sz="2400" dirty="0"/>
              <a:t>seen in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malignant </a:t>
            </a:r>
            <a:r>
              <a:rPr lang="en-US" sz="2400" dirty="0"/>
              <a:t>hypertension) may </a:t>
            </a:r>
            <a:r>
              <a:rPr lang="en-US" sz="2400" dirty="0" smtClean="0"/>
              <a:t>occur.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 err="1" smtClean="0"/>
              <a:t>Fibromuscular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intimal</a:t>
            </a:r>
            <a:r>
              <a:rPr lang="en-US" sz="2400" b="1" dirty="0" smtClean="0"/>
              <a:t> hyperplasia</a:t>
            </a:r>
          </a:p>
          <a:p>
            <a:r>
              <a:rPr lang="en-US" sz="2400" dirty="0" smtClean="0"/>
              <a:t>A non-atherosclerotic process that occurs in muscular arteries larger than arterioles.</a:t>
            </a:r>
          </a:p>
          <a:p>
            <a:r>
              <a:rPr lang="en-US" sz="2400" dirty="0" smtClean="0"/>
              <a:t>Predominantly an SMC- and ECM-rich lesion driven by inflammation or</a:t>
            </a:r>
          </a:p>
          <a:p>
            <a:pPr>
              <a:buNone/>
            </a:pPr>
            <a:r>
              <a:rPr lang="en-US" sz="2400" dirty="0" smtClean="0"/>
              <a:t>    by mechanical injury.</a:t>
            </a:r>
            <a:endParaRPr lang="en-US" sz="2400" b="1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7436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469"/>
            <a:ext cx="10515600" cy="50404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Atherosclerosis</a:t>
            </a:r>
            <a:r>
              <a:rPr lang="en-US" dirty="0" smtClean="0"/>
              <a:t> </a:t>
            </a:r>
          </a:p>
          <a:p>
            <a:r>
              <a:rPr lang="en-US" sz="2400" dirty="0" smtClean="0"/>
              <a:t>Is a common vascular disorder characterized by lipid deposition and intimal thickening of </a:t>
            </a:r>
            <a:r>
              <a:rPr lang="en-US" sz="2400" b="1" dirty="0" smtClean="0"/>
              <a:t>large</a:t>
            </a:r>
            <a:r>
              <a:rPr lang="en-US" sz="2400" dirty="0" smtClean="0"/>
              <a:t> and </a:t>
            </a:r>
            <a:r>
              <a:rPr lang="en-US" sz="2400" b="1" dirty="0" smtClean="0"/>
              <a:t>medium</a:t>
            </a:r>
            <a:r>
              <a:rPr lang="en-US" sz="2400" dirty="0" smtClean="0"/>
              <a:t>-sized (elastic and muscular) arteries</a:t>
            </a:r>
          </a:p>
          <a:p>
            <a:r>
              <a:rPr lang="en-US" sz="2400" dirty="0" smtClean="0"/>
              <a:t> Resulting in fatty streaks and atheromatous plaques over a period of </a:t>
            </a:r>
          </a:p>
          <a:p>
            <a:pPr>
              <a:buNone/>
            </a:pPr>
            <a:r>
              <a:rPr lang="en-US" sz="2400" dirty="0" smtClean="0"/>
              <a:t>    decades (a type of chronic inflammatory condition).</a:t>
            </a:r>
          </a:p>
          <a:p>
            <a:r>
              <a:rPr lang="en-US" sz="2400" dirty="0" smtClean="0"/>
              <a:t> In descending order of severity, atherosclerosis involves the</a:t>
            </a:r>
          </a:p>
          <a:p>
            <a:pPr>
              <a:buNone/>
            </a:pPr>
            <a:r>
              <a:rPr lang="en-US" sz="2400" dirty="0" smtClean="0"/>
              <a:t>    </a:t>
            </a:r>
            <a:r>
              <a:rPr lang="en-US" sz="2400" dirty="0" err="1" smtClean="0"/>
              <a:t>infrarenal</a:t>
            </a:r>
            <a:r>
              <a:rPr lang="en-US" sz="2400" dirty="0" smtClean="0"/>
              <a:t> abdominal aorta, the coronary arteries, the </a:t>
            </a:r>
            <a:r>
              <a:rPr lang="en-US" sz="2400" dirty="0" err="1" smtClean="0"/>
              <a:t>popliteal</a:t>
            </a:r>
            <a:r>
              <a:rPr lang="en-US" sz="2400" dirty="0" smtClean="0"/>
              <a:t> arteries,</a:t>
            </a:r>
          </a:p>
          <a:p>
            <a:pPr>
              <a:buNone/>
            </a:pPr>
            <a:r>
              <a:rPr lang="en-US" sz="2400" dirty="0" smtClean="0"/>
              <a:t>    the internal carotid arteries, and the vessels of the circle of Willis.</a:t>
            </a:r>
          </a:p>
          <a:p>
            <a:pPr>
              <a:buNone/>
            </a:pP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14934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3576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3144" y="169817"/>
            <a:ext cx="5682342" cy="6426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9517" y="378823"/>
            <a:ext cx="4528049" cy="5773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4822" y="365125"/>
            <a:ext cx="8688977" cy="1325563"/>
          </a:xfrm>
        </p:spPr>
        <p:txBody>
          <a:bodyPr>
            <a:normAutofit/>
          </a:bodyPr>
          <a:lstStyle/>
          <a:p>
            <a:r>
              <a:rPr lang="en-US" sz="3200" dirty="0" smtClean="0"/>
              <a:t>…cont…</a:t>
            </a:r>
            <a:endParaRPr lang="en-US" sz="32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98171" y="1802673"/>
            <a:ext cx="6941004" cy="4310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2229"/>
            <a:ext cx="10515600" cy="46747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Morphologic features of atherosclerosis: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rgbClr val="002060"/>
                </a:solidFill>
              </a:rPr>
              <a:t>Fatty streak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002060"/>
                </a:solidFill>
              </a:rPr>
              <a:t> T</a:t>
            </a:r>
            <a:r>
              <a:rPr lang="en-US" sz="2400" dirty="0" smtClean="0"/>
              <a:t>he earliest (clinically reversible) stage in atherosclerosis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/>
              <a:t>Do not cause any significant flow disturbance.</a:t>
            </a:r>
          </a:p>
          <a:p>
            <a:r>
              <a:rPr lang="en-US" sz="2400" b="1" dirty="0" smtClean="0"/>
              <a:t>Grossly-</a:t>
            </a:r>
            <a:r>
              <a:rPr lang="en-US" sz="2400" dirty="0" smtClean="0"/>
              <a:t> seen as a flat, yellow </a:t>
            </a:r>
            <a:r>
              <a:rPr lang="en-US" sz="2400" dirty="0" err="1" smtClean="0"/>
              <a:t>intimal</a:t>
            </a:r>
            <a:r>
              <a:rPr lang="en-US" sz="2400" dirty="0" smtClean="0"/>
              <a:t> streak. </a:t>
            </a:r>
          </a:p>
          <a:p>
            <a:r>
              <a:rPr lang="en-US" sz="2400" b="1" dirty="0" smtClean="0"/>
              <a:t>Microscopically-</a:t>
            </a:r>
            <a:r>
              <a:rPr lang="en-US" sz="2400" dirty="0" smtClean="0"/>
              <a:t>seen as  lipid-laden macrophages (foam cells).</a:t>
            </a:r>
          </a:p>
        </p:txBody>
      </p:sp>
    </p:spTree>
    <p:extLst>
      <p:ext uri="{BB962C8B-B14F-4D97-AF65-F5344CB8AC3E}">
        <p14:creationId xmlns:p14="http://schemas.microsoft.com/office/powerpoint/2010/main" xmlns="" val="57027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9314" y="4843010"/>
            <a:ext cx="9144000" cy="1361847"/>
          </a:xfrm>
        </p:spPr>
        <p:txBody>
          <a:bodyPr>
            <a:normAutofit/>
          </a:bodyPr>
          <a:lstStyle/>
          <a:p>
            <a:r>
              <a:rPr lang="en-US" sz="1600" dirty="0" smtClean="0"/>
              <a:t>Fatty streaks. (A) Aorta with fatty streaks </a:t>
            </a:r>
            <a:r>
              <a:rPr lang="en-US" sz="1600" i="1" dirty="0" smtClean="0"/>
              <a:t>(arrows), mainly near the </a:t>
            </a:r>
            <a:r>
              <a:rPr lang="en-US" sz="1600" i="1" dirty="0" err="1" smtClean="0"/>
              <a:t>ostia</a:t>
            </a:r>
            <a:r>
              <a:rPr lang="en-US" sz="1600" i="1" dirty="0" smtClean="0"/>
              <a:t> of branch vessels. </a:t>
            </a:r>
          </a:p>
          <a:p>
            <a:r>
              <a:rPr lang="en-US" sz="1600" i="1" dirty="0" smtClean="0"/>
              <a:t>(B) </a:t>
            </a:r>
            <a:r>
              <a:rPr lang="en-US" sz="1600" dirty="0" smtClean="0"/>
              <a:t> Demonstrating </a:t>
            </a:r>
            <a:r>
              <a:rPr lang="en-US" sz="1600" dirty="0" err="1" smtClean="0"/>
              <a:t>intimal</a:t>
            </a:r>
            <a:r>
              <a:rPr lang="en-US" sz="1600" dirty="0" smtClean="0"/>
              <a:t>, macrophage-derived foam cells </a:t>
            </a:r>
            <a:r>
              <a:rPr lang="en-US" sz="1600" i="1" dirty="0" smtClean="0"/>
              <a:t>(arrows).</a:t>
            </a:r>
            <a:endParaRPr lang="en-US" sz="1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4905" y="1458413"/>
            <a:ext cx="478155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82788" y="1387793"/>
            <a:ext cx="4876800" cy="3197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1154"/>
            <a:ext cx="10515600" cy="5105809"/>
          </a:xfrm>
        </p:spPr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r>
              <a:rPr lang="en-US" b="1" dirty="0" smtClean="0"/>
              <a:t>Atherosclerotic Plaque</a:t>
            </a:r>
          </a:p>
          <a:p>
            <a:r>
              <a:rPr lang="en-US" sz="2600" dirty="0" smtClean="0"/>
              <a:t>Are white to yellow raised </a:t>
            </a:r>
            <a:r>
              <a:rPr lang="en-US" sz="2600" dirty="0" err="1" smtClean="0"/>
              <a:t>lesions,they</a:t>
            </a:r>
            <a:r>
              <a:rPr lang="en-US" sz="2600" dirty="0" smtClean="0"/>
              <a:t> range from 0.3 to 1.5 cm in diameter.</a:t>
            </a:r>
            <a:endParaRPr lang="en-US" sz="2600" b="1" dirty="0" smtClean="0"/>
          </a:p>
          <a:p>
            <a:r>
              <a:rPr lang="en-US" sz="2400" b="1" dirty="0" smtClean="0"/>
              <a:t>Have three principal components:</a:t>
            </a:r>
            <a:r>
              <a:rPr lang="en-US" sz="2600" b="1" dirty="0" smtClean="0"/>
              <a:t> </a:t>
            </a:r>
          </a:p>
          <a:p>
            <a:pPr>
              <a:buNone/>
            </a:pPr>
            <a:r>
              <a:rPr lang="en-US" sz="2400" b="1" dirty="0" smtClean="0"/>
              <a:t>1-Cells, including SMCs, macrophages, and T cells,</a:t>
            </a:r>
          </a:p>
          <a:p>
            <a:pPr>
              <a:buNone/>
            </a:pPr>
            <a:r>
              <a:rPr lang="en-US" sz="2400" b="1" dirty="0" smtClean="0"/>
              <a:t>2-ECM, including collagen, elastic fibers, and </a:t>
            </a:r>
            <a:r>
              <a:rPr lang="en-US" sz="2400" b="1" dirty="0" err="1" smtClean="0"/>
              <a:t>proteoglycans</a:t>
            </a:r>
            <a:r>
              <a:rPr lang="en-US" sz="2400" b="1" dirty="0" smtClean="0"/>
              <a:t>&amp;</a:t>
            </a:r>
          </a:p>
          <a:p>
            <a:pPr>
              <a:buNone/>
            </a:pPr>
            <a:r>
              <a:rPr lang="en-US" sz="2400" b="1" dirty="0" smtClean="0"/>
              <a:t>3-Intracellular and extracellular lipid</a:t>
            </a:r>
            <a:endParaRPr lang="en-US" sz="26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600" b="1" dirty="0" smtClean="0">
                <a:solidFill>
                  <a:srgbClr val="002060"/>
                </a:solidFill>
              </a:rPr>
              <a:t>Stable </a:t>
            </a:r>
            <a:r>
              <a:rPr lang="en-US" sz="2600" b="1" dirty="0" err="1" smtClean="0">
                <a:solidFill>
                  <a:srgbClr val="002060"/>
                </a:solidFill>
              </a:rPr>
              <a:t>atheromatous</a:t>
            </a:r>
            <a:r>
              <a:rPr lang="en-US" sz="2600" b="1" dirty="0" smtClean="0">
                <a:solidFill>
                  <a:srgbClr val="002060"/>
                </a:solidFill>
              </a:rPr>
              <a:t> plaques- </a:t>
            </a:r>
            <a:r>
              <a:rPr lang="en-US" sz="2600" dirty="0" smtClean="0"/>
              <a:t>have a dense fibrous cap, a small lipid core and less inflammation than their vulnerable counterparts. They cause chronic ischemia.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600" b="1" dirty="0" smtClean="0">
                <a:solidFill>
                  <a:srgbClr val="002060"/>
                </a:solidFill>
              </a:rPr>
              <a:t>Vulnerable </a:t>
            </a:r>
            <a:r>
              <a:rPr lang="en-US" sz="2600" b="1" dirty="0" err="1" smtClean="0">
                <a:solidFill>
                  <a:srgbClr val="002060"/>
                </a:solidFill>
              </a:rPr>
              <a:t>atheromatous</a:t>
            </a:r>
            <a:r>
              <a:rPr lang="en-US" sz="2600" b="1" dirty="0" smtClean="0">
                <a:solidFill>
                  <a:srgbClr val="002060"/>
                </a:solidFill>
              </a:rPr>
              <a:t> plaques </a:t>
            </a:r>
            <a:r>
              <a:rPr lang="en-US" sz="2600" dirty="0" smtClean="0"/>
              <a:t>are at risk for rupture, thrombosis or </a:t>
            </a:r>
            <a:r>
              <a:rPr lang="en-US" sz="2600" dirty="0" err="1" smtClean="0"/>
              <a:t>embolization</a:t>
            </a:r>
            <a:r>
              <a:rPr lang="en-US" sz="2600" dirty="0" smtClean="0"/>
              <a:t> due to their composition (thin fibrous cap, large lipid core, dense inflammation).</a:t>
            </a:r>
          </a:p>
        </p:txBody>
      </p:sp>
    </p:spTree>
    <p:extLst>
      <p:ext uri="{BB962C8B-B14F-4D97-AF65-F5344CB8AC3E}">
        <p14:creationId xmlns:p14="http://schemas.microsoft.com/office/powerpoint/2010/main" xmlns="" val="286426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9246" y="796834"/>
            <a:ext cx="7615645" cy="5303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6435" y="4634004"/>
            <a:ext cx="9853748" cy="1655762"/>
          </a:xfrm>
        </p:spPr>
        <p:txBody>
          <a:bodyPr>
            <a:normAutofit/>
          </a:bodyPr>
          <a:lstStyle/>
          <a:p>
            <a:r>
              <a:rPr lang="en-US" sz="1600" dirty="0" smtClean="0"/>
              <a:t>A-Aorta with severe diffuse complicated lesions, including an ulcerated plaque </a:t>
            </a:r>
            <a:r>
              <a:rPr lang="en-US" sz="1600" i="1" dirty="0" smtClean="0"/>
              <a:t>(open arrow), </a:t>
            </a:r>
          </a:p>
          <a:p>
            <a:r>
              <a:rPr lang="en-US" sz="1600" i="1" dirty="0" smtClean="0"/>
              <a:t>and a lesion with overlying thrombus (closed arrow).</a:t>
            </a:r>
          </a:p>
          <a:p>
            <a:r>
              <a:rPr lang="en-US" sz="1600" i="1" dirty="0" smtClean="0"/>
              <a:t>B-</a:t>
            </a:r>
            <a:r>
              <a:rPr lang="en-US" sz="1600" dirty="0" smtClean="0"/>
              <a:t>Atherosclerotic plaque, coronary artery. Overall architecture demonstrating fibrous cap </a:t>
            </a:r>
            <a:r>
              <a:rPr lang="en-US" sz="1600" i="1" dirty="0" smtClean="0"/>
              <a:t>(F) and a central necrotic (largely lipid) core (C),</a:t>
            </a:r>
            <a:r>
              <a:rPr lang="en-US" sz="1600" dirty="0" smtClean="0"/>
              <a:t>collagen </a:t>
            </a:r>
            <a:r>
              <a:rPr lang="en-US" sz="1600" i="1" dirty="0" smtClean="0"/>
              <a:t>(blue) is stained with Masson </a:t>
            </a:r>
            <a:r>
              <a:rPr lang="en-US" sz="1600" i="1" dirty="0" err="1" smtClean="0"/>
              <a:t>trichrome</a:t>
            </a:r>
            <a:r>
              <a:rPr lang="en-US" sz="1600" i="1" dirty="0" smtClean="0"/>
              <a:t>. The lumen (L) is moderately narrowed by this eccentric lesion, which leaves part of the vessel wall unaffected(arrow). </a:t>
            </a:r>
            <a:endParaRPr lang="en-US" sz="1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614" y="1244781"/>
            <a:ext cx="486727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2455" y="1244918"/>
            <a:ext cx="4912859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489166" y="4193177"/>
            <a:ext cx="28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48994" y="4114799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182" y="365125"/>
            <a:ext cx="9237617" cy="1325563"/>
          </a:xfrm>
        </p:spPr>
        <p:txBody>
          <a:bodyPr/>
          <a:lstStyle/>
          <a:p>
            <a:r>
              <a:rPr lang="en-US" dirty="0" smtClean="0"/>
              <a:t>…</a:t>
            </a:r>
            <a:r>
              <a:rPr lang="en-US" sz="3200" dirty="0" smtClean="0"/>
              <a:t>cont…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Clinical complications of atherosclerosis</a:t>
            </a:r>
          </a:p>
          <a:p>
            <a:r>
              <a:rPr lang="en-US" sz="2400" dirty="0" smtClean="0"/>
              <a:t> </a:t>
            </a:r>
            <a:r>
              <a:rPr lang="en-US" sz="2400" b="1" dirty="0" smtClean="0"/>
              <a:t>Ischemic heart disease </a:t>
            </a:r>
            <a:r>
              <a:rPr lang="en-US" sz="2400" dirty="0" smtClean="0"/>
              <a:t>(myocardial infarctions),</a:t>
            </a:r>
          </a:p>
          <a:p>
            <a:r>
              <a:rPr lang="en-US" sz="2400" b="1" dirty="0" err="1" smtClean="0"/>
              <a:t>Cerebrovascular</a:t>
            </a:r>
            <a:r>
              <a:rPr lang="en-US" sz="2400" b="1" dirty="0" smtClean="0"/>
              <a:t> accidents </a:t>
            </a:r>
            <a:r>
              <a:rPr lang="en-US" sz="2400" dirty="0" smtClean="0"/>
              <a:t>(CVA),</a:t>
            </a:r>
          </a:p>
          <a:p>
            <a:r>
              <a:rPr lang="en-US" sz="2400" dirty="0" err="1" smtClean="0"/>
              <a:t>Atheroemboli</a:t>
            </a:r>
            <a:r>
              <a:rPr lang="en-US" sz="2400" dirty="0" smtClean="0"/>
              <a:t> (transient ischemic attacks [TIAs] and renal infarcts</a:t>
            </a:r>
            <a:r>
              <a:rPr lang="en-US" sz="2400" b="1" dirty="0" smtClean="0"/>
              <a:t>),</a:t>
            </a:r>
          </a:p>
          <a:p>
            <a:r>
              <a:rPr lang="en-US" sz="2400" b="1" dirty="0" smtClean="0"/>
              <a:t> Aneurysm formation</a:t>
            </a:r>
            <a:r>
              <a:rPr lang="en-US" sz="2400" dirty="0" smtClean="0"/>
              <a:t>; </a:t>
            </a:r>
            <a:r>
              <a:rPr lang="en-US" sz="2400" b="1" dirty="0" smtClean="0"/>
              <a:t>peripheral vascular disease </a:t>
            </a:r>
            <a:r>
              <a:rPr lang="en-US" sz="2400" dirty="0" smtClean="0"/>
              <a:t>and </a:t>
            </a:r>
          </a:p>
          <a:p>
            <a:r>
              <a:rPr lang="en-US" sz="2400" b="1" dirty="0" smtClean="0"/>
              <a:t>Mesenteric artery occlusion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5657"/>
            <a:ext cx="10515600" cy="50013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/>
              <a:t>HYPERTENSION (HTN) </a:t>
            </a:r>
          </a:p>
          <a:p>
            <a:r>
              <a:rPr lang="en-US" sz="2400" b="1" dirty="0" smtClean="0"/>
              <a:t>Malignant (accelerated) hypertension </a:t>
            </a:r>
            <a:r>
              <a:rPr lang="en-US" sz="2400" dirty="0" smtClean="0"/>
              <a:t>accounts for 5% of the cases and is characterized by markedly elevated pressures (e.g., systolic pressure &gt;180 mm Hg and/or diastolic &gt;120 mm Hg), which can rapidly cause </a:t>
            </a:r>
            <a:r>
              <a:rPr lang="en-US" sz="2400" b="1" dirty="0" smtClean="0"/>
              <a:t>end-organ damage</a:t>
            </a:r>
          </a:p>
          <a:p>
            <a:r>
              <a:rPr lang="en-US" sz="2400" b="1" dirty="0"/>
              <a:t>Funduscopic examination </a:t>
            </a:r>
            <a:r>
              <a:rPr lang="en-US" sz="2400" dirty="0"/>
              <a:t>may demonstrate retinal hemorrhages, exudates, and papilledema. </a:t>
            </a:r>
          </a:p>
          <a:p>
            <a:r>
              <a:rPr lang="en-US" sz="2400" dirty="0" smtClean="0"/>
              <a:t>Malignant </a:t>
            </a:r>
            <a:r>
              <a:rPr lang="en-US" sz="2400" dirty="0"/>
              <a:t>hypertension is </a:t>
            </a:r>
            <a:r>
              <a:rPr lang="en-US" sz="2400" b="1" dirty="0"/>
              <a:t>a medical emergency</a:t>
            </a:r>
            <a:r>
              <a:rPr lang="en-US" sz="2400" dirty="0"/>
              <a:t>; if untreated, most patients will die within 2 years from renal failure, intracerebral hemorrhage, or chronic heart failure</a:t>
            </a:r>
          </a:p>
          <a:p>
            <a:pPr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xmlns="" val="106515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4663"/>
            <a:ext cx="10515600" cy="47923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Epidemiology of Hypertension </a:t>
            </a:r>
          </a:p>
          <a:p>
            <a:r>
              <a:rPr lang="en-US" sz="2400" dirty="0"/>
              <a:t>I</a:t>
            </a:r>
            <a:r>
              <a:rPr lang="en-US" sz="2400" dirty="0" smtClean="0"/>
              <a:t>s very common, affecting 25% of the U.S. population. </a:t>
            </a:r>
          </a:p>
          <a:p>
            <a:r>
              <a:rPr lang="en-US" sz="2400" dirty="0" smtClean="0"/>
              <a:t>African Americans tend to be more seriously affected than Caucasians, and the risk increases with age. </a:t>
            </a:r>
          </a:p>
          <a:p>
            <a:pPr marL="0" indent="0">
              <a:buNone/>
            </a:pPr>
            <a:r>
              <a:rPr lang="en-US" sz="2400" dirty="0" smtClean="0"/>
              <a:t>1. </a:t>
            </a:r>
            <a:r>
              <a:rPr lang="en-US" sz="2400" b="1" dirty="0" smtClean="0"/>
              <a:t>Idiopathic hypertension </a:t>
            </a:r>
            <a:r>
              <a:rPr lang="en-US" sz="2400" dirty="0" smtClean="0"/>
              <a:t>(essential hypertension)- 95</a:t>
            </a:r>
            <a:r>
              <a:rPr lang="en-US" sz="2400" dirty="0"/>
              <a:t>% of </a:t>
            </a:r>
            <a:r>
              <a:rPr lang="en-US" sz="2400" dirty="0" smtClean="0"/>
              <a:t>cases </a:t>
            </a:r>
          </a:p>
          <a:p>
            <a:pPr marL="0" indent="0">
              <a:buNone/>
            </a:pPr>
            <a:r>
              <a:rPr lang="en-US" sz="2400" dirty="0" smtClean="0"/>
              <a:t>2. </a:t>
            </a:r>
            <a:r>
              <a:rPr lang="en-US" sz="2400" b="1" dirty="0" smtClean="0"/>
              <a:t>Secondary hypertension- </a:t>
            </a:r>
            <a:r>
              <a:rPr lang="en-US" sz="2400" dirty="0" smtClean="0"/>
              <a:t>related to renal disease,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pheochromocytoma, or other disease processes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0805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Complications  of hypertension</a:t>
            </a:r>
          </a:p>
          <a:p>
            <a:r>
              <a:rPr lang="en-US" sz="2400" b="1" dirty="0" smtClean="0"/>
              <a:t>Mild to moderate </a:t>
            </a:r>
            <a:r>
              <a:rPr lang="en-US" sz="2400" dirty="0" smtClean="0"/>
              <a:t>elevations in blood pressure cause end-organ damage by damaging arterioles with </a:t>
            </a:r>
            <a:r>
              <a:rPr lang="en-US" sz="2400" b="1" dirty="0" smtClean="0"/>
              <a:t>hyaline arteriolosclerosis</a:t>
            </a:r>
            <a:r>
              <a:rPr lang="en-US" sz="2400" dirty="0" smtClean="0"/>
              <a:t>. </a:t>
            </a:r>
          </a:p>
          <a:p>
            <a:r>
              <a:rPr lang="en-US" sz="2400" b="1" dirty="0" smtClean="0"/>
              <a:t>Late manifestations </a:t>
            </a:r>
            <a:r>
              <a:rPr lang="en-US" sz="2400" dirty="0" smtClean="0"/>
              <a:t>of hypertension include concentric left ventricular hypertrophy; congestive heart failure; accelerated atherosclerosis; myocardial infarction; aneurysm formation, rupture, and dissection; intracerebral hemorrhage; and chronic renal failure.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8671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/>
              <a:t>ANEURYSMS AND ARTERIOVENOUS FISTULAS </a:t>
            </a:r>
          </a:p>
          <a:p>
            <a:pPr marL="0" indent="0">
              <a:buNone/>
            </a:pPr>
            <a:r>
              <a:rPr lang="en-US" b="1" dirty="0" smtClean="0"/>
              <a:t>A. Aneurysms </a:t>
            </a:r>
          </a:p>
          <a:p>
            <a:r>
              <a:rPr lang="en-US" sz="2400" dirty="0" smtClean="0"/>
              <a:t>Are congenital or acquired weakness of the vessel wall </a:t>
            </a:r>
            <a:r>
              <a:rPr lang="en-US" sz="2400" dirty="0" smtClean="0">
                <a:solidFill>
                  <a:srgbClr val="FF0000"/>
                </a:solidFill>
              </a:rPr>
              <a:t>media</a:t>
            </a:r>
            <a:r>
              <a:rPr lang="en-US" sz="2400" dirty="0" smtClean="0"/>
              <a:t>, resulting in a localized </a:t>
            </a:r>
            <a:r>
              <a:rPr lang="en-US" sz="2400" b="1" dirty="0" smtClean="0"/>
              <a:t>dilatation or outpouching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Complications include thrombus formation, thromboembolism, and compression of nearby structures. Rupture or dissection may cause sudden death.</a:t>
            </a:r>
          </a:p>
          <a:p>
            <a:r>
              <a:rPr lang="en-US" sz="2400" b="1" dirty="0" smtClean="0"/>
              <a:t>Atherosclerotic aneurysms </a:t>
            </a:r>
            <a:r>
              <a:rPr lang="en-US" sz="2400" dirty="0" smtClean="0"/>
              <a:t>are due to weakening of the media secondary to atheroma formation, and typically occur in the abdominal aorta below the renal arteries.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49551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5657"/>
            <a:ext cx="10515600" cy="50013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Syphilitic aneurysms- </a:t>
            </a:r>
            <a:r>
              <a:rPr lang="en-US" sz="2400" dirty="0"/>
              <a:t>i</a:t>
            </a:r>
            <a:r>
              <a:rPr lang="en-US" sz="2400" dirty="0" smtClean="0"/>
              <a:t>nvolve the ascending aorta in tertiary syphilis (late stage). </a:t>
            </a:r>
          </a:p>
          <a:p>
            <a:r>
              <a:rPr lang="en-US" sz="2400" dirty="0" smtClean="0"/>
              <a:t>Syphilitic (luetic) aortitis causes an obliterative endarteritis of the </a:t>
            </a:r>
            <a:r>
              <a:rPr lang="en-US" sz="2400" b="1" dirty="0" smtClean="0"/>
              <a:t>vasa vasorum</a:t>
            </a:r>
            <a:r>
              <a:rPr lang="en-US" sz="2400" dirty="0" smtClean="0"/>
              <a:t>, leading to ischemia and smooth-muscle atrophy of the aortic media. </a:t>
            </a:r>
          </a:p>
          <a:p>
            <a:r>
              <a:rPr lang="en-US" sz="2400" dirty="0" smtClean="0"/>
              <a:t>Syphilitic aneurysms may dilate the aortic valve ring, causing aortic insufficiency.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Aortic dissecting aneurysm- </a:t>
            </a:r>
            <a:r>
              <a:rPr lang="en-US" sz="2400" dirty="0" smtClean="0"/>
              <a:t>occurs when blood from the vessel lumen enters an intimal tear and dissects through the layers of the media. </a:t>
            </a:r>
          </a:p>
          <a:p>
            <a:r>
              <a:rPr lang="en-US" sz="2400" dirty="0" smtClean="0"/>
              <a:t>The etiology usually involves degeneration (</a:t>
            </a:r>
            <a:r>
              <a:rPr lang="en-US" sz="2400" dirty="0" smtClean="0">
                <a:solidFill>
                  <a:srgbClr val="C00000"/>
                </a:solidFill>
              </a:rPr>
              <a:t>cystic medial degeneration</a:t>
            </a:r>
            <a:r>
              <a:rPr lang="en-US" sz="2400" dirty="0" smtClean="0"/>
              <a:t>) of the tunica media. </a:t>
            </a:r>
          </a:p>
          <a:p>
            <a:r>
              <a:rPr lang="en-US" sz="2400" dirty="0" smtClean="0"/>
              <a:t>Aortic dissecting aneurysm presents with severe tearing pain. </a:t>
            </a:r>
          </a:p>
        </p:txBody>
      </p:sp>
    </p:spTree>
    <p:extLst>
      <p:ext uri="{BB962C8B-B14F-4D97-AF65-F5344CB8AC3E}">
        <p14:creationId xmlns:p14="http://schemas.microsoft.com/office/powerpoint/2010/main" xmlns="" val="56588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9349"/>
            <a:ext cx="10515600" cy="4857614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The dissecting aneurysm may compress and obstruct the aortic branches (e.g., renal or coronary arteries). 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Hypertension</a:t>
            </a:r>
            <a:r>
              <a:rPr lang="en-US" sz="2400" dirty="0" smtClean="0"/>
              <a:t> and </a:t>
            </a:r>
            <a:r>
              <a:rPr lang="en-US" sz="2400" dirty="0" err="1" smtClean="0">
                <a:solidFill>
                  <a:srgbClr val="FF0000"/>
                </a:solidFill>
              </a:rPr>
              <a:t>Marfan</a:t>
            </a:r>
            <a:r>
              <a:rPr lang="en-US" sz="2400" dirty="0" smtClean="0">
                <a:solidFill>
                  <a:srgbClr val="FF0000"/>
                </a:solidFill>
              </a:rPr>
              <a:t> syndrome </a:t>
            </a:r>
            <a:r>
              <a:rPr lang="en-US" sz="2400" dirty="0" smtClean="0"/>
              <a:t>are predisposing factors.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Berry aneurysm- </a:t>
            </a:r>
            <a:r>
              <a:rPr lang="en-US" sz="2400" dirty="0" smtClean="0"/>
              <a:t>is a congenital aneurysm of the circle of Willis.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Microaneurysms</a:t>
            </a:r>
            <a:r>
              <a:rPr lang="en-US" sz="2400" dirty="0" smtClean="0"/>
              <a:t>-are small aneurysms commonly seen in hypertension and diabetes.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Mycotic aneurysms- </a:t>
            </a:r>
            <a:r>
              <a:rPr lang="en-US" sz="2400" dirty="0" smtClean="0"/>
              <a:t>are aneurysms usually due to bacterial or fungal infections.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41258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59429" y="1886449"/>
            <a:ext cx="8098971" cy="4229690"/>
          </a:xfrm>
        </p:spPr>
      </p:pic>
    </p:spTree>
    <p:extLst>
      <p:ext uri="{BB962C8B-B14F-4D97-AF65-F5344CB8AC3E}">
        <p14:creationId xmlns:p14="http://schemas.microsoft.com/office/powerpoint/2010/main" xmlns="" val="158469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/>
              <a:t>Arteriovenous (AV) Fistulas </a:t>
            </a:r>
          </a:p>
          <a:p>
            <a:r>
              <a:rPr lang="en-US" sz="2400" dirty="0" smtClean="0"/>
              <a:t>Arteriovenous (AV) fistulas are a direct communication between a vein and an artery without an intervening capillary bed. </a:t>
            </a:r>
          </a:p>
          <a:p>
            <a:r>
              <a:rPr lang="en-US" sz="2400" dirty="0" smtClean="0"/>
              <a:t>They may be congenital or acquired (e.g., trauma). </a:t>
            </a:r>
          </a:p>
          <a:p>
            <a:r>
              <a:rPr lang="en-US" sz="2400" dirty="0" smtClean="0"/>
              <a:t>Potential complications include shunting of blood which may lead to high-output heart failure and risk of rupture and hemorrhage.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7854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1154"/>
            <a:ext cx="10515600" cy="51058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/>
              <a:t>VENOUS DISEASE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Deep vein thrombosis (DVT) </a:t>
            </a:r>
            <a:r>
              <a:rPr lang="en-US" sz="2400" dirty="0" smtClean="0"/>
              <a:t>usually affects deep leg veins (90%), with iliac, femoral, and popliteal veins being particularly commonly affected.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Varicose </a:t>
            </a:r>
            <a:r>
              <a:rPr lang="en-US" sz="2400" dirty="0" smtClean="0"/>
              <a:t>Veins-are </a:t>
            </a:r>
            <a:r>
              <a:rPr lang="en-US" sz="2400" dirty="0"/>
              <a:t>dilated, tortuous veins caused by increased intraluminal pressure. </a:t>
            </a:r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dirty="0"/>
              <a:t>variety of veins can be </a:t>
            </a:r>
            <a:r>
              <a:rPr lang="en-US" sz="2400" dirty="0" smtClean="0"/>
              <a:t>affected, Superficial </a:t>
            </a:r>
            <a:r>
              <a:rPr lang="en-US" sz="2400" dirty="0"/>
              <a:t>veins of the lower extremities are particularly vulnerable due to a lack of </a:t>
            </a:r>
            <a:r>
              <a:rPr lang="en-US" sz="2400" dirty="0">
                <a:solidFill>
                  <a:srgbClr val="C00000"/>
                </a:solidFill>
              </a:rPr>
              <a:t>structural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support from superficial fat </a:t>
            </a:r>
            <a:r>
              <a:rPr lang="en-US" sz="2400" dirty="0"/>
              <a:t>and/or </a:t>
            </a:r>
            <a:r>
              <a:rPr lang="en-US" sz="2400" dirty="0">
                <a:solidFill>
                  <a:srgbClr val="C00000"/>
                </a:solidFill>
              </a:rPr>
              <a:t>incompetent valve(s</a:t>
            </a:r>
            <a:r>
              <a:rPr lang="en-US" sz="2400" dirty="0" smtClean="0"/>
              <a:t>).</a:t>
            </a:r>
          </a:p>
          <a:p>
            <a:r>
              <a:rPr lang="en-US" sz="2400" dirty="0" smtClean="0"/>
              <a:t>Varicosities of these superficial veins are very common (15% of the U.S. population); occur more frequently in females than males; and are common in pregnancy.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03033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Esophageal varices </a:t>
            </a:r>
            <a:r>
              <a:rPr lang="en-US" dirty="0" smtClean="0"/>
              <a:t>are due to portal hypertension (usually caused by cirrhosis) and may be a source of life-threatening hemorrhage.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Varices of the anal region </a:t>
            </a:r>
            <a:r>
              <a:rPr lang="en-US" dirty="0" smtClean="0"/>
              <a:t>are commonly called </a:t>
            </a:r>
            <a:r>
              <a:rPr lang="en-US" dirty="0" smtClean="0">
                <a:solidFill>
                  <a:srgbClr val="C00000"/>
                </a:solidFill>
              </a:rPr>
              <a:t>hemorrhoids</a:t>
            </a:r>
            <a:r>
              <a:rPr lang="en-US" dirty="0" smtClean="0"/>
              <a:t>; are associated with constipation and pregnancy; and may be complicated by either bleeding (streaks of red blood on hard stools) or thrombosis (painful).</a:t>
            </a:r>
          </a:p>
        </p:txBody>
      </p:sp>
    </p:spTree>
    <p:extLst>
      <p:ext uri="{BB962C8B-B14F-4D97-AF65-F5344CB8AC3E}">
        <p14:creationId xmlns:p14="http://schemas.microsoft.com/office/powerpoint/2010/main" xmlns="" val="190806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/>
              <a:t>VASCULAR NEOPLASMS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Benign Tumors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C00000"/>
                </a:solidFill>
              </a:rPr>
              <a:t>Hemangiomas</a:t>
            </a:r>
            <a:r>
              <a:rPr lang="en-US" sz="2400" dirty="0" smtClean="0"/>
              <a:t> are extremely common, benign vascular tumors. </a:t>
            </a:r>
          </a:p>
          <a:p>
            <a:r>
              <a:rPr lang="en-US" sz="2400" dirty="0" smtClean="0"/>
              <a:t>They are the most common tumor in infants appearing on the skin, mucous membranes, or internal organs. </a:t>
            </a:r>
          </a:p>
          <a:p>
            <a:r>
              <a:rPr lang="en-US" sz="2400" dirty="0" smtClean="0"/>
              <a:t>The major types are capillary and cavernous hemangiomas. </a:t>
            </a:r>
          </a:p>
          <a:p>
            <a:r>
              <a:rPr lang="en-US" sz="2400" dirty="0" smtClean="0"/>
              <a:t>Hemangiomas may spontaneously regress.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896902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19794" y="953589"/>
            <a:ext cx="9078686" cy="4976948"/>
          </a:xfrm>
        </p:spPr>
      </p:pic>
    </p:spTree>
    <p:extLst>
      <p:ext uri="{BB962C8B-B14F-4D97-AF65-F5344CB8AC3E}">
        <p14:creationId xmlns:p14="http://schemas.microsoft.com/office/powerpoint/2010/main" xmlns="" val="61774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Hemangioblastoma</a:t>
            </a:r>
          </a:p>
          <a:p>
            <a:r>
              <a:rPr lang="en-US" sz="2400" dirty="0"/>
              <a:t>A</a:t>
            </a:r>
            <a:r>
              <a:rPr lang="en-US" sz="2400" dirty="0" smtClean="0"/>
              <a:t>re associated with </a:t>
            </a:r>
            <a:r>
              <a:rPr lang="en-US" sz="2400" dirty="0" smtClean="0">
                <a:solidFill>
                  <a:srgbClr val="002060"/>
                </a:solidFill>
              </a:rPr>
              <a:t>von Hippel-Lindau disease</a:t>
            </a:r>
            <a:r>
              <a:rPr lang="en-US" sz="2400" dirty="0" smtClean="0"/>
              <a:t>, which may cause multiple hemangioblastomas involving the cerebellum, brain stem, spinal cord, and retina, as well as renal cell carcinoma.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Glomus tumors (glomangioma) </a:t>
            </a:r>
          </a:p>
          <a:p>
            <a:r>
              <a:rPr lang="en-US" sz="2400" dirty="0" smtClean="0"/>
              <a:t>Are benign, small, painful tumors of the glomus body that usually occur under </a:t>
            </a:r>
            <a:r>
              <a:rPr lang="en-US" sz="2400" dirty="0" smtClean="0">
                <a:solidFill>
                  <a:srgbClr val="C00000"/>
                </a:solidFill>
              </a:rPr>
              <a:t>fingernails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70324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Malignant Tumors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C00000"/>
                </a:solidFill>
              </a:rPr>
              <a:t>Kaposi </a:t>
            </a:r>
            <a:r>
              <a:rPr lang="en-US" sz="2400" b="1" dirty="0" smtClean="0">
                <a:solidFill>
                  <a:srgbClr val="C00000"/>
                </a:solidFill>
              </a:rPr>
              <a:t>sarcoma </a:t>
            </a:r>
            <a:r>
              <a:rPr lang="en-US" sz="2400" dirty="0" smtClean="0"/>
              <a:t>is a malignant tumor of endothelial cells associated with Kaposi-sarcoma–associated virus (</a:t>
            </a:r>
            <a:r>
              <a:rPr lang="en-US" sz="2400" dirty="0" smtClean="0">
                <a:solidFill>
                  <a:srgbClr val="002060"/>
                </a:solidFill>
              </a:rPr>
              <a:t>HHV8</a:t>
            </a:r>
            <a:r>
              <a:rPr lang="en-US" sz="2400" dirty="0" smtClean="0"/>
              <a:t>). </a:t>
            </a:r>
          </a:p>
          <a:p>
            <a:r>
              <a:rPr lang="en-US" sz="2400" dirty="0" smtClean="0"/>
              <a:t>The condition causes multiple red purple patches, plaques, or nodules that may remain confined to the skin or may disseminate.</a:t>
            </a:r>
          </a:p>
          <a:p>
            <a:r>
              <a:rPr lang="en-US" sz="2400" dirty="0" smtClean="0"/>
              <a:t>Microscopically, there is a proliferation of spindle-shaped endothelial cells with slit-like vascular spaces and </a:t>
            </a:r>
            <a:r>
              <a:rPr lang="en-US" sz="2400" dirty="0" err="1" smtClean="0"/>
              <a:t>extravasated</a:t>
            </a:r>
            <a:r>
              <a:rPr lang="en-US" sz="2400" dirty="0" smtClean="0"/>
              <a:t> erythrocytes</a:t>
            </a:r>
          </a:p>
          <a:p>
            <a:r>
              <a:rPr lang="en-US" sz="2400" dirty="0" err="1" smtClean="0">
                <a:solidFill>
                  <a:srgbClr val="C00000"/>
                </a:solidFill>
              </a:rPr>
              <a:t>Angiosarcoma</a:t>
            </a:r>
            <a:r>
              <a:rPr lang="en-US" sz="2400" dirty="0" smtClean="0">
                <a:solidFill>
                  <a:srgbClr val="C00000"/>
                </a:solidFill>
              </a:rPr>
              <a:t> (</a:t>
            </a:r>
            <a:r>
              <a:rPr lang="en-US" sz="2400" dirty="0" err="1" smtClean="0">
                <a:solidFill>
                  <a:srgbClr val="C00000"/>
                </a:solidFill>
              </a:rPr>
              <a:t>hemangiosarcoma</a:t>
            </a:r>
            <a:r>
              <a:rPr lang="en-US" sz="2400" dirty="0" smtClean="0"/>
              <a:t>) is a malignant vascular tumor with a high mortality that most commonly occurs in skin, breast, liver, and soft tissues. </a:t>
            </a: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39650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</a:t>
            </a:r>
            <a:r>
              <a:rPr lang="en-US" sz="6000" dirty="0" smtClean="0">
                <a:solidFill>
                  <a:srgbClr val="002060"/>
                </a:solidFill>
              </a:rPr>
              <a:t>Part - II</a:t>
            </a:r>
            <a:endParaRPr lang="en-US" sz="60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</a:t>
            </a:r>
            <a:r>
              <a:rPr lang="en-US" sz="6000" dirty="0" smtClean="0">
                <a:solidFill>
                  <a:srgbClr val="002060"/>
                </a:solidFill>
              </a:rPr>
              <a:t>Cardiac Pathology </a:t>
            </a:r>
            <a:endParaRPr lang="en-US" sz="6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549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1" dirty="0" smtClean="0"/>
              <a:t>ISCHEMIC HEART DISEASE (IHD) </a:t>
            </a:r>
            <a:endParaRPr lang="en-US" sz="3200" b="1" dirty="0"/>
          </a:p>
          <a:p>
            <a:r>
              <a:rPr lang="en-US" dirty="0" smtClean="0"/>
              <a:t>Group of syndromes related to myocardial ischemia. </a:t>
            </a:r>
          </a:p>
          <a:p>
            <a:r>
              <a:rPr lang="en-US" dirty="0" smtClean="0"/>
              <a:t>IHD is the leading cause of death in the US.</a:t>
            </a:r>
          </a:p>
          <a:p>
            <a:r>
              <a:rPr lang="en-US" dirty="0" smtClean="0"/>
              <a:t>Usually due to atherosclerosis of coronary arteries, which </a:t>
            </a:r>
            <a:r>
              <a:rPr lang="en-US" dirty="0" smtClean="0">
                <a:solidFill>
                  <a:srgbClr val="002060"/>
                </a:solidFill>
              </a:rPr>
              <a:t>decreases blood flow </a:t>
            </a:r>
            <a:r>
              <a:rPr lang="en-US" dirty="0" smtClean="0"/>
              <a:t>to the myocardium. </a:t>
            </a:r>
            <a:endParaRPr lang="en-US" dirty="0"/>
          </a:p>
          <a:p>
            <a:r>
              <a:rPr lang="en-US" dirty="0" smtClean="0"/>
              <a:t>Risk factors for IHD are similar to those of atherosclerosis</a:t>
            </a:r>
          </a:p>
          <a:p>
            <a:r>
              <a:rPr lang="en-US" dirty="0" smtClean="0"/>
              <a:t>Incidence increases with 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0631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70709"/>
            <a:ext cx="10515600" cy="54062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200" b="1" dirty="0" smtClean="0"/>
              <a:t>A. Stable angina </a:t>
            </a:r>
          </a:p>
          <a:p>
            <a:r>
              <a:rPr lang="en-US" dirty="0"/>
              <a:t>I</a:t>
            </a:r>
            <a:r>
              <a:rPr lang="en-US" dirty="0" smtClean="0"/>
              <a:t>s chest pain that arises with </a:t>
            </a:r>
            <a:r>
              <a:rPr lang="en-US" dirty="0" smtClean="0">
                <a:solidFill>
                  <a:srgbClr val="002060"/>
                </a:solidFill>
              </a:rPr>
              <a:t>exertion or emotional stress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 Due to </a:t>
            </a:r>
            <a:r>
              <a:rPr lang="en-US" dirty="0" smtClean="0">
                <a:solidFill>
                  <a:srgbClr val="002060"/>
                </a:solidFill>
              </a:rPr>
              <a:t>atherosclerosis of coronary arteries with </a:t>
            </a:r>
            <a:r>
              <a:rPr lang="en-US" dirty="0" smtClean="0">
                <a:solidFill>
                  <a:srgbClr val="C00000"/>
                </a:solidFill>
              </a:rPr>
              <a:t>&gt; 70% stenosis</a:t>
            </a:r>
            <a:r>
              <a:rPr lang="en-US" dirty="0" smtClean="0"/>
              <a:t>; decreased blood flow is not able to meet the metabolic demands of the myocardium during exertion. </a:t>
            </a:r>
          </a:p>
          <a:p>
            <a:r>
              <a:rPr lang="en-US" dirty="0" smtClean="0"/>
              <a:t>Represents </a:t>
            </a:r>
            <a:r>
              <a:rPr lang="en-US" dirty="0" smtClean="0">
                <a:solidFill>
                  <a:srgbClr val="FF0000"/>
                </a:solidFill>
              </a:rPr>
              <a:t>reversible injury</a:t>
            </a:r>
            <a:r>
              <a:rPr lang="en-US" dirty="0" smtClean="0"/>
              <a:t> to myocytes (no necrosis) </a:t>
            </a:r>
          </a:p>
          <a:p>
            <a:r>
              <a:rPr lang="en-US" dirty="0" smtClean="0"/>
              <a:t>Presents as chest pain (</a:t>
            </a:r>
            <a:r>
              <a:rPr lang="en-US" dirty="0" smtClean="0">
                <a:solidFill>
                  <a:srgbClr val="FF0000"/>
                </a:solidFill>
              </a:rPr>
              <a:t>lasting &lt; 20 minutes</a:t>
            </a:r>
            <a:r>
              <a:rPr lang="en-US" dirty="0" smtClean="0"/>
              <a:t>) that radiates to the left arm or jaw, diaphoresis, and shortness of breath</a:t>
            </a:r>
          </a:p>
          <a:p>
            <a:r>
              <a:rPr lang="en-US" dirty="0" smtClean="0"/>
              <a:t> EKG shows </a:t>
            </a:r>
            <a:r>
              <a:rPr lang="en-US" dirty="0" smtClean="0">
                <a:solidFill>
                  <a:srgbClr val="002060"/>
                </a:solidFill>
              </a:rPr>
              <a:t>ST-segment depression </a:t>
            </a:r>
            <a:r>
              <a:rPr lang="en-US" dirty="0" smtClean="0"/>
              <a:t>due to subendocardial ischemia. </a:t>
            </a:r>
          </a:p>
          <a:p>
            <a:r>
              <a:rPr lang="en-US" dirty="0" smtClean="0"/>
              <a:t>Relieved by </a:t>
            </a:r>
            <a:r>
              <a:rPr lang="en-US" dirty="0" smtClean="0">
                <a:solidFill>
                  <a:srgbClr val="002060"/>
                </a:solidFill>
              </a:rPr>
              <a:t>rest or nitroglycerin 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407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846"/>
            <a:ext cx="10515600" cy="4962117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smtClean="0"/>
              <a:t>B. Unstable angina </a:t>
            </a:r>
          </a:p>
          <a:p>
            <a:r>
              <a:rPr lang="en-US" dirty="0"/>
              <a:t>I</a:t>
            </a:r>
            <a:r>
              <a:rPr lang="en-US" dirty="0" smtClean="0"/>
              <a:t>s chest pain that occurs </a:t>
            </a:r>
            <a:r>
              <a:rPr lang="en-US" dirty="0" smtClean="0">
                <a:solidFill>
                  <a:srgbClr val="002060"/>
                </a:solidFill>
              </a:rPr>
              <a:t>at rest</a:t>
            </a:r>
            <a:r>
              <a:rPr lang="en-US" dirty="0" smtClean="0"/>
              <a:t>. </a:t>
            </a:r>
            <a:endParaRPr lang="en-US" dirty="0"/>
          </a:p>
          <a:p>
            <a:r>
              <a:rPr lang="en-US" dirty="0" smtClean="0"/>
              <a:t>Usually due to </a:t>
            </a:r>
            <a:r>
              <a:rPr lang="en-US" dirty="0" smtClean="0">
                <a:solidFill>
                  <a:srgbClr val="002060"/>
                </a:solidFill>
              </a:rPr>
              <a:t>rupture of an atherosclerotic plaque with thrombosis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002060"/>
                </a:solidFill>
              </a:rPr>
              <a:t>incomplete occlusion </a:t>
            </a:r>
            <a:r>
              <a:rPr lang="en-US" dirty="0" smtClean="0"/>
              <a:t>of a coronary artery </a:t>
            </a:r>
            <a:endParaRPr lang="en-US" dirty="0"/>
          </a:p>
          <a:p>
            <a:r>
              <a:rPr lang="en-US" dirty="0" smtClean="0"/>
              <a:t>Represents </a:t>
            </a:r>
            <a:r>
              <a:rPr lang="en-US" dirty="0" smtClean="0">
                <a:solidFill>
                  <a:srgbClr val="002060"/>
                </a:solidFill>
              </a:rPr>
              <a:t>reversible injury </a:t>
            </a:r>
            <a:r>
              <a:rPr lang="en-US" dirty="0" smtClean="0"/>
              <a:t>to myocytes (no necrosis) </a:t>
            </a:r>
            <a:endParaRPr lang="en-US" dirty="0"/>
          </a:p>
          <a:p>
            <a:r>
              <a:rPr lang="en-US" dirty="0" smtClean="0"/>
              <a:t>EKG shows </a:t>
            </a:r>
            <a:r>
              <a:rPr lang="en-US" dirty="0" smtClean="0">
                <a:solidFill>
                  <a:srgbClr val="002060"/>
                </a:solidFill>
              </a:rPr>
              <a:t>ST-segment depression </a:t>
            </a:r>
            <a:r>
              <a:rPr lang="en-US" dirty="0" smtClean="0"/>
              <a:t>due to subendocardial ischemia</a:t>
            </a:r>
          </a:p>
          <a:p>
            <a:r>
              <a:rPr lang="en-US" dirty="0" smtClean="0"/>
              <a:t>Relieved by nitroglycerin </a:t>
            </a:r>
            <a:endParaRPr lang="en-US" dirty="0"/>
          </a:p>
          <a:p>
            <a:r>
              <a:rPr lang="en-US" dirty="0" smtClean="0"/>
              <a:t>High risk of progression to myocardial infarction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216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4663"/>
            <a:ext cx="10515600" cy="479230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smtClean="0"/>
              <a:t>C. Prinzmetal angina</a:t>
            </a:r>
          </a:p>
          <a:p>
            <a:r>
              <a:rPr lang="en-US" dirty="0"/>
              <a:t>I</a:t>
            </a:r>
            <a:r>
              <a:rPr lang="en-US" dirty="0" smtClean="0"/>
              <a:t>s episodic chest pain </a:t>
            </a:r>
            <a:r>
              <a:rPr lang="en-US" dirty="0" smtClean="0">
                <a:solidFill>
                  <a:srgbClr val="002060"/>
                </a:solidFill>
              </a:rPr>
              <a:t>unrelated to exertion</a:t>
            </a:r>
            <a:r>
              <a:rPr lang="en-US" dirty="0" smtClean="0"/>
              <a:t>. </a:t>
            </a:r>
            <a:endParaRPr lang="en-US" dirty="0"/>
          </a:p>
          <a:p>
            <a:r>
              <a:rPr lang="en-US" dirty="0" smtClean="0"/>
              <a:t>Due to </a:t>
            </a:r>
            <a:r>
              <a:rPr lang="en-US" dirty="0" smtClean="0">
                <a:solidFill>
                  <a:srgbClr val="002060"/>
                </a:solidFill>
              </a:rPr>
              <a:t>coronary artery vasospasm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 smtClean="0"/>
              <a:t>Represents </a:t>
            </a:r>
            <a:r>
              <a:rPr lang="en-US" dirty="0" smtClean="0">
                <a:solidFill>
                  <a:srgbClr val="002060"/>
                </a:solidFill>
              </a:rPr>
              <a:t>reversible injury </a:t>
            </a:r>
            <a:r>
              <a:rPr lang="en-US" dirty="0" smtClean="0"/>
              <a:t>to myocytes (no necrosis) </a:t>
            </a:r>
            <a:endParaRPr lang="en-US" dirty="0"/>
          </a:p>
          <a:p>
            <a:r>
              <a:rPr lang="en-US" dirty="0" smtClean="0"/>
              <a:t>EKG shows </a:t>
            </a:r>
            <a:r>
              <a:rPr lang="en-US" dirty="0" smtClean="0">
                <a:solidFill>
                  <a:srgbClr val="002060"/>
                </a:solidFill>
              </a:rPr>
              <a:t>ST-segment elevation </a:t>
            </a:r>
            <a:r>
              <a:rPr lang="en-US" dirty="0" smtClean="0"/>
              <a:t>due to transmural ischemia</a:t>
            </a:r>
          </a:p>
          <a:p>
            <a:r>
              <a:rPr lang="en-US" dirty="0" smtClean="0"/>
              <a:t>Relieved by nitroglycerin or calcium channel blockers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4640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1784"/>
            <a:ext cx="10515600" cy="4975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D.MYOCARDIAL INFARCTION </a:t>
            </a:r>
            <a:endParaRPr lang="en-US" sz="3200" b="1" dirty="0"/>
          </a:p>
          <a:p>
            <a:r>
              <a:rPr lang="en-US" dirty="0" smtClean="0">
                <a:solidFill>
                  <a:srgbClr val="C00000"/>
                </a:solidFill>
              </a:rPr>
              <a:t>Irreversible injury and necrosis </a:t>
            </a:r>
            <a:r>
              <a:rPr lang="en-US" dirty="0" smtClean="0"/>
              <a:t>of cardiac </a:t>
            </a:r>
            <a:r>
              <a:rPr lang="en-US" dirty="0" err="1" smtClean="0"/>
              <a:t>myocytes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 smtClean="0"/>
              <a:t>The vast majority of MIs are caused by acute thrombosis</a:t>
            </a:r>
          </a:p>
          <a:p>
            <a:pPr>
              <a:buNone/>
            </a:pPr>
            <a:r>
              <a:rPr lang="en-US" b="1" dirty="0" smtClean="0"/>
              <a:t>    within coronary arteries.</a:t>
            </a:r>
            <a:endParaRPr lang="en-US" dirty="0"/>
          </a:p>
          <a:p>
            <a:r>
              <a:rPr lang="en-US" dirty="0" smtClean="0"/>
              <a:t>Usually due to rupture of an atherosclerotic plaque with thrombosis and </a:t>
            </a:r>
            <a:r>
              <a:rPr lang="en-US" dirty="0" smtClean="0">
                <a:solidFill>
                  <a:srgbClr val="C00000"/>
                </a:solidFill>
              </a:rPr>
              <a:t>complete occlusion </a:t>
            </a:r>
            <a:r>
              <a:rPr lang="en-US" dirty="0" smtClean="0"/>
              <a:t>of a coronary artery </a:t>
            </a:r>
            <a:endParaRPr lang="en-US" dirty="0"/>
          </a:p>
          <a:p>
            <a:r>
              <a:rPr lang="en-US" dirty="0" smtClean="0"/>
              <a:t>In 10% of MIs, however, </a:t>
            </a:r>
            <a:r>
              <a:rPr lang="en-US" dirty="0" err="1" smtClean="0"/>
              <a:t>transmural</a:t>
            </a:r>
            <a:r>
              <a:rPr lang="en-US" dirty="0" smtClean="0"/>
              <a:t> infarction occurs in the absence of occlusive atherosclerotic vascular disease.</a:t>
            </a:r>
          </a:p>
          <a:p>
            <a:r>
              <a:rPr lang="en-US" dirty="0" smtClean="0"/>
              <a:t>Such infarcts are mostly ascribed to coronary artery vasospasm or to </a:t>
            </a:r>
            <a:r>
              <a:rPr lang="en-US" dirty="0" err="1" smtClean="0"/>
              <a:t>embolization</a:t>
            </a:r>
            <a:r>
              <a:rPr lang="en-US" dirty="0" smtClean="0"/>
              <a:t> from mural thrombi or from valve vegetations.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5815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9531"/>
            <a:ext cx="10515600" cy="502743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Clinical features </a:t>
            </a:r>
            <a:endParaRPr lang="en-US" dirty="0" smtClean="0"/>
          </a:p>
          <a:p>
            <a:r>
              <a:rPr lang="en-US" dirty="0"/>
              <a:t>S</a:t>
            </a:r>
            <a:r>
              <a:rPr lang="en-US" dirty="0" smtClean="0"/>
              <a:t>evere</a:t>
            </a:r>
            <a:r>
              <a:rPr lang="en-US" dirty="0"/>
              <a:t>, crushing chest pain (lasting </a:t>
            </a:r>
            <a:r>
              <a:rPr lang="en-US" dirty="0">
                <a:solidFill>
                  <a:srgbClr val="002060"/>
                </a:solidFill>
              </a:rPr>
              <a:t>&gt; 20 minutes</a:t>
            </a:r>
            <a:r>
              <a:rPr lang="en-US" dirty="0"/>
              <a:t>) that radiates to the left arm or jaw, </a:t>
            </a:r>
            <a:endParaRPr lang="en-US" dirty="0" smtClean="0"/>
          </a:p>
          <a:p>
            <a:r>
              <a:rPr lang="en-US" dirty="0"/>
              <a:t>D</a:t>
            </a:r>
            <a:r>
              <a:rPr lang="en-US" dirty="0" smtClean="0"/>
              <a:t>iaphoresis</a:t>
            </a:r>
            <a:r>
              <a:rPr lang="en-US" dirty="0"/>
              <a:t>, </a:t>
            </a:r>
            <a:r>
              <a:rPr lang="en-US" dirty="0" smtClean="0"/>
              <a:t>and</a:t>
            </a:r>
          </a:p>
          <a:p>
            <a:r>
              <a:rPr lang="en-US" dirty="0" smtClean="0"/>
              <a:t> Dyspnea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/>
              <a:t>S</a:t>
            </a:r>
            <a:r>
              <a:rPr lang="en-US" dirty="0" smtClean="0"/>
              <a:t>ymptoms </a:t>
            </a:r>
            <a:r>
              <a:rPr lang="en-US" dirty="0"/>
              <a:t>are not relieved by </a:t>
            </a:r>
            <a:r>
              <a:rPr lang="en-US" dirty="0" smtClean="0"/>
              <a:t>nitroglycerin or rest. 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Infarction usually involves the </a:t>
            </a:r>
            <a:r>
              <a:rPr lang="en-US" dirty="0">
                <a:solidFill>
                  <a:srgbClr val="002060"/>
                </a:solidFill>
              </a:rPr>
              <a:t>left ventricle (LV); </a:t>
            </a:r>
            <a:r>
              <a:rPr lang="en-US" dirty="0"/>
              <a:t>right ventricle (RV) and both </a:t>
            </a:r>
            <a:r>
              <a:rPr lang="en-US" b="1" dirty="0"/>
              <a:t>atria are generally </a:t>
            </a:r>
            <a:r>
              <a:rPr lang="en-US" b="1" dirty="0" smtClean="0"/>
              <a:t>spared.</a:t>
            </a:r>
            <a:endParaRPr lang="en-US" b="1" dirty="0"/>
          </a:p>
          <a:p>
            <a:r>
              <a:rPr lang="en-US" dirty="0">
                <a:solidFill>
                  <a:srgbClr val="C00000"/>
                </a:solidFill>
              </a:rPr>
              <a:t>Left anterior descending artery (LAD) </a:t>
            </a:r>
            <a:r>
              <a:rPr lang="en-US" dirty="0"/>
              <a:t>is the most commonly involved artery in MI (45% of cases).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4159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5475"/>
            <a:ext cx="10515600" cy="4831488"/>
          </a:xfrm>
        </p:spPr>
        <p:txBody>
          <a:bodyPr>
            <a:normAutofit/>
          </a:bodyPr>
          <a:lstStyle/>
          <a:p>
            <a:r>
              <a:rPr lang="en-US" dirty="0" smtClean="0"/>
              <a:t>Based on the size of the involved vessel and the degree of collateral circulation MIs </a:t>
            </a:r>
            <a:r>
              <a:rPr lang="en-US" dirty="0"/>
              <a:t>are classified as transmural, subendocardial, or microscopic.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Transmural infarction </a:t>
            </a:r>
            <a:r>
              <a:rPr lang="en-US" dirty="0" smtClean="0"/>
              <a:t>(most common type) 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full thickness of the ventricle </a:t>
            </a:r>
            <a:r>
              <a:rPr lang="en-US" dirty="0" smtClean="0"/>
              <a:t>and</a:t>
            </a:r>
          </a:p>
          <a:p>
            <a:r>
              <a:rPr lang="en-US" dirty="0" smtClean="0"/>
              <a:t> Are caused by </a:t>
            </a:r>
            <a:r>
              <a:rPr lang="en-US" dirty="0" err="1" smtClean="0"/>
              <a:t>epicardial</a:t>
            </a:r>
            <a:r>
              <a:rPr lang="en-US" dirty="0" smtClean="0"/>
              <a:t> vessel occlusion.  </a:t>
            </a:r>
          </a:p>
          <a:p>
            <a:r>
              <a:rPr lang="en-US" dirty="0" smtClean="0"/>
              <a:t>It causes </a:t>
            </a:r>
            <a:r>
              <a:rPr lang="en-US" dirty="0" smtClean="0">
                <a:solidFill>
                  <a:srgbClr val="002060"/>
                </a:solidFill>
              </a:rPr>
              <a:t>ST elevated MIs (STEMIs) </a:t>
            </a:r>
            <a:r>
              <a:rPr lang="en-US" dirty="0" smtClean="0"/>
              <a:t>due to atherosclerosis and </a:t>
            </a:r>
          </a:p>
          <a:p>
            <a:pPr>
              <a:buNone/>
            </a:pPr>
            <a:r>
              <a:rPr lang="en-US" dirty="0" smtClean="0"/>
              <a:t>   acute thrombosis. </a:t>
            </a:r>
          </a:p>
        </p:txBody>
      </p:sp>
    </p:spTree>
    <p:extLst>
      <p:ext uri="{BB962C8B-B14F-4D97-AF65-F5344CB8AC3E}">
        <p14:creationId xmlns:p14="http://schemas.microsoft.com/office/powerpoint/2010/main" xmlns="" val="212863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166"/>
            <a:ext cx="10515600" cy="468779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Subendocardial infarction </a:t>
            </a:r>
          </a:p>
          <a:p>
            <a:r>
              <a:rPr lang="en-US" dirty="0" smtClean="0"/>
              <a:t>Limited to the inner third of the myocardium.</a:t>
            </a:r>
          </a:p>
          <a:p>
            <a:r>
              <a:rPr lang="en-US" dirty="0" smtClean="0"/>
              <a:t>Do not exhibit ST segment elevations or Q waves on the ECG (“NSTEMIs”).</a:t>
            </a:r>
          </a:p>
          <a:p>
            <a:r>
              <a:rPr lang="en-US" dirty="0" smtClean="0"/>
              <a:t>They can have ST-segment depressions or T wave abnormalities.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Microscopic infarction </a:t>
            </a:r>
          </a:p>
          <a:p>
            <a:r>
              <a:rPr lang="en-US" dirty="0"/>
              <a:t>Is caused by small vessel occlusion due to vasculitis, emboli, or spasm. </a:t>
            </a:r>
          </a:p>
          <a:p>
            <a:r>
              <a:rPr lang="en-US" dirty="0"/>
              <a:t>ECG changes are not noted.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6069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Laboratory tests </a:t>
            </a:r>
            <a:endParaRPr lang="en-US" sz="3200" b="1" dirty="0" smtClean="0"/>
          </a:p>
          <a:p>
            <a:pPr marL="0" indent="0">
              <a:buNone/>
            </a:pPr>
            <a:r>
              <a:rPr lang="en-US" dirty="0" smtClean="0"/>
              <a:t> Elevated </a:t>
            </a:r>
            <a:r>
              <a:rPr lang="en-US" dirty="0"/>
              <a:t>cardiac </a:t>
            </a:r>
            <a:r>
              <a:rPr lang="en-US" dirty="0" smtClean="0"/>
              <a:t>enzymes: </a:t>
            </a:r>
            <a:endParaRPr lang="en-US" dirty="0"/>
          </a:p>
          <a:p>
            <a:r>
              <a:rPr lang="en-US" dirty="0" err="1" smtClean="0">
                <a:solidFill>
                  <a:srgbClr val="C00000"/>
                </a:solidFill>
              </a:rPr>
              <a:t>Troponin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</a:t>
            </a:r>
            <a:r>
              <a:rPr lang="en-US" dirty="0"/>
              <a:t>the </a:t>
            </a:r>
            <a:r>
              <a:rPr lang="en-US" dirty="0">
                <a:solidFill>
                  <a:srgbClr val="002060"/>
                </a:solidFill>
              </a:rPr>
              <a:t>most sensitive and specific marker </a:t>
            </a:r>
            <a:r>
              <a:rPr lang="en-US" dirty="0"/>
              <a:t>(gold standard)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for </a:t>
            </a:r>
            <a:r>
              <a:rPr lang="en-US" dirty="0"/>
              <a:t>Ml. </a:t>
            </a:r>
          </a:p>
          <a:p>
            <a:r>
              <a:rPr lang="en-US" dirty="0" smtClean="0"/>
              <a:t> </a:t>
            </a:r>
            <a:r>
              <a:rPr lang="en-US" b="1" dirty="0"/>
              <a:t>CK-MB</a:t>
            </a:r>
            <a:r>
              <a:rPr lang="en-US" dirty="0"/>
              <a:t> is useful for detecting </a:t>
            </a:r>
            <a:r>
              <a:rPr lang="en-US" dirty="0">
                <a:solidFill>
                  <a:srgbClr val="C00000"/>
                </a:solidFill>
              </a:rPr>
              <a:t>reinfarction</a:t>
            </a:r>
            <a:r>
              <a:rPr lang="en-US" dirty="0"/>
              <a:t> that occurs days after an initial </a:t>
            </a:r>
            <a:r>
              <a:rPr lang="en-US" dirty="0" smtClean="0"/>
              <a:t>MI.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253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2331"/>
            <a:ext cx="10515600" cy="5484632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smtClean="0"/>
              <a:t>SUDDEN CARDIAC DEATH </a:t>
            </a:r>
            <a:endParaRPr lang="en-US" sz="3200" b="1" dirty="0"/>
          </a:p>
          <a:p>
            <a:r>
              <a:rPr lang="en-US" dirty="0" smtClean="0"/>
              <a:t>Unexpected death due to cardiac disease; occurs without symptoms or </a:t>
            </a:r>
            <a:r>
              <a:rPr lang="en-US" dirty="0" smtClean="0">
                <a:solidFill>
                  <a:srgbClr val="002060"/>
                </a:solidFill>
              </a:rPr>
              <a:t>&lt; 1 hour after symptoms arise.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 smtClean="0"/>
              <a:t>Usually due to </a:t>
            </a:r>
            <a:r>
              <a:rPr lang="en-US" dirty="0" smtClean="0">
                <a:solidFill>
                  <a:srgbClr val="002060"/>
                </a:solidFill>
              </a:rPr>
              <a:t>fatal ventricular arrhythmia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dirty="0" smtClean="0"/>
              <a:t>Most common etiology is </a:t>
            </a:r>
            <a:r>
              <a:rPr lang="en-US" dirty="0" smtClean="0">
                <a:solidFill>
                  <a:srgbClr val="002060"/>
                </a:solidFill>
              </a:rPr>
              <a:t>acute ischemia</a:t>
            </a:r>
            <a:r>
              <a:rPr lang="en-US" dirty="0" smtClean="0"/>
              <a:t>; 90% of patients have preexisting severe atherosclerosis. </a:t>
            </a:r>
            <a:endParaRPr lang="en-US" dirty="0"/>
          </a:p>
          <a:p>
            <a:r>
              <a:rPr lang="en-US" dirty="0" smtClean="0"/>
              <a:t>Less common causes include mitral valve prolapse, cardiomyopathy, and cocaine abuse.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1895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 smtClean="0"/>
              <a:t>CHRONIC ISCHEMIC HEART DISEASE </a:t>
            </a:r>
            <a:endParaRPr lang="en-US" sz="3600" b="1" dirty="0"/>
          </a:p>
          <a:p>
            <a:r>
              <a:rPr lang="en-US" b="1" dirty="0" smtClean="0"/>
              <a:t>Also called ischemic </a:t>
            </a:r>
            <a:r>
              <a:rPr lang="en-US" b="1" dirty="0" err="1" smtClean="0"/>
              <a:t>cardiomyopathy</a:t>
            </a:r>
            <a:r>
              <a:rPr lang="en-US" b="1" dirty="0" smtClean="0"/>
              <a:t>, is progressive heart failure secondary to ischemic myocardial damage.</a:t>
            </a:r>
          </a:p>
          <a:p>
            <a:r>
              <a:rPr lang="en-US" dirty="0" smtClean="0"/>
              <a:t>In most instances, there is a known clinical history of previous MI.</a:t>
            </a:r>
            <a:r>
              <a:rPr lang="en-US" b="1" dirty="0" smtClean="0"/>
              <a:t> </a:t>
            </a:r>
          </a:p>
          <a:p>
            <a:r>
              <a:rPr lang="en-US" dirty="0" smtClean="0"/>
              <a:t> The heart failure of chronic IHD is typically severe and new episodes of angina or infarction.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1713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532787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900" b="1" dirty="0" smtClean="0"/>
              <a:t>CONGESTIVE HEART FAILURE (CHF)</a:t>
            </a:r>
            <a:endParaRPr lang="en-US" dirty="0"/>
          </a:p>
          <a:p>
            <a:r>
              <a:rPr lang="en-US" dirty="0" smtClean="0"/>
              <a:t>Pump failure; divided into right- and left-sided failure 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A. LEFT-SIDED HEART FAILURE </a:t>
            </a:r>
            <a:endParaRPr lang="en-US" b="1" dirty="0"/>
          </a:p>
          <a:p>
            <a:r>
              <a:rPr lang="en-US" dirty="0" smtClean="0"/>
              <a:t>Causes include ischemia, hypertension, dilated cardiomyopathy, myocardial infarction, and restrictive cardiomyopathy. 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Clinical features are due to decreased forward perfusion and pulmonary congestion.  </a:t>
            </a:r>
          </a:p>
          <a:p>
            <a:r>
              <a:rPr lang="en-US" dirty="0" smtClean="0"/>
              <a:t>Pulmonary congestion leads to pulmonary edema. </a:t>
            </a:r>
            <a:r>
              <a:rPr lang="en-US" dirty="0" err="1" smtClean="0"/>
              <a:t>i.e</a:t>
            </a:r>
            <a:r>
              <a:rPr lang="en-US" dirty="0" smtClean="0"/>
              <a:t> Results in dyspnea, paroxysmal nocturnal dyspnea (due to increased venous return when lying flat), orthopnea, and crackles ii. Small, congested capillaries may burst, leading to intraalveolar hemorrhage; marked by hemosiderin-laden macrophages </a:t>
            </a:r>
            <a:endParaRPr lang="en-US" dirty="0"/>
          </a:p>
          <a:p>
            <a:r>
              <a:rPr lang="en-US" dirty="0" smtClean="0"/>
              <a:t>Decreased flow to kidneys leads to activation of renin-angiotensin system. </a:t>
            </a:r>
            <a:r>
              <a:rPr lang="en-US" dirty="0" err="1" smtClean="0"/>
              <a:t>i.e</a:t>
            </a:r>
            <a:r>
              <a:rPr lang="en-US" dirty="0" smtClean="0"/>
              <a:t> Fluid retention exacerbates CHF.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258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B. RIGHT-SIDED HEART FAILURE </a:t>
            </a:r>
            <a:endParaRPr lang="en-US" b="1" dirty="0"/>
          </a:p>
          <a:p>
            <a:r>
              <a:rPr lang="en-US" dirty="0" smtClean="0"/>
              <a:t>Most commonly due to left-sided heart failure; other important causes include left to-right shunt and chronic lung disease (cor pulmonale). 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Clinical features are due to congestion, includes:</a:t>
            </a:r>
            <a:endParaRPr lang="en-US" dirty="0"/>
          </a:p>
          <a:p>
            <a:r>
              <a:rPr lang="en-US" dirty="0" smtClean="0"/>
              <a:t>Jugular venous distension </a:t>
            </a:r>
            <a:endParaRPr lang="en-US" dirty="0"/>
          </a:p>
          <a:p>
            <a:r>
              <a:rPr lang="en-US" dirty="0" smtClean="0"/>
              <a:t>Painful hepatosplenomegaly which may lead to cardiac cirrhosis </a:t>
            </a:r>
            <a:endParaRPr lang="en-US" dirty="0"/>
          </a:p>
          <a:p>
            <a:r>
              <a:rPr lang="en-US" dirty="0" smtClean="0"/>
              <a:t>Dependent pitting edema (due to increased hydrostatic pressure)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8560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5657"/>
            <a:ext cx="10515600" cy="5001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VALVULAR DISORDERS </a:t>
            </a:r>
            <a:endParaRPr lang="en-US" sz="3200" b="1" dirty="0"/>
          </a:p>
          <a:p>
            <a:r>
              <a:rPr lang="en-US" sz="2400" dirty="0" smtClean="0"/>
              <a:t>The heart has four valves (tricuspid, pulmonary, mitral, and aortic) that prevent backflow. </a:t>
            </a:r>
            <a:endParaRPr lang="en-US" sz="2400" dirty="0"/>
          </a:p>
          <a:p>
            <a:r>
              <a:rPr lang="en-US" sz="2400" dirty="0" smtClean="0"/>
              <a:t>Valvular lesions generally result in stenosis (decreased caliber of the valve orifice) or Insufficiency (regurgitation or backflow).</a:t>
            </a:r>
          </a:p>
          <a:p>
            <a:r>
              <a:rPr lang="en-US" sz="2400" dirty="0" err="1" smtClean="0"/>
              <a:t>Stenosis</a:t>
            </a:r>
            <a:r>
              <a:rPr lang="en-US" sz="2400" dirty="0" smtClean="0"/>
              <a:t> is the failure of a valve </a:t>
            </a:r>
            <a:r>
              <a:rPr lang="en-US" sz="2400" b="1" dirty="0" smtClean="0"/>
              <a:t>to</a:t>
            </a:r>
            <a:r>
              <a:rPr lang="en-US" sz="2400" dirty="0" smtClean="0"/>
              <a:t> </a:t>
            </a:r>
            <a:r>
              <a:rPr lang="en-US" sz="2400" b="1" dirty="0" smtClean="0"/>
              <a:t>open completely</a:t>
            </a:r>
            <a:r>
              <a:rPr lang="en-US" sz="2400" dirty="0" smtClean="0"/>
              <a:t>, obstructing forward flow.</a:t>
            </a:r>
          </a:p>
          <a:p>
            <a:r>
              <a:rPr lang="en-US" sz="2400" dirty="0" smtClean="0"/>
              <a:t>Insufficiency results from failure of a valve </a:t>
            </a:r>
            <a:r>
              <a:rPr lang="en-US" sz="2400" b="1" dirty="0" smtClean="0"/>
              <a:t>to close completely</a:t>
            </a:r>
            <a:r>
              <a:rPr lang="en-US" sz="2400" dirty="0" smtClean="0"/>
              <a:t>, thereby allowing regurgitation (backflow) of blood.</a:t>
            </a:r>
          </a:p>
          <a:p>
            <a:r>
              <a:rPr lang="en-US" sz="2400" dirty="0" smtClean="0"/>
              <a:t>Can involve only one valve (the mitral valve being the most common target), </a:t>
            </a:r>
          </a:p>
          <a:p>
            <a:pPr>
              <a:buNone/>
            </a:pPr>
            <a:r>
              <a:rPr lang="en-US" sz="2400" dirty="0" smtClean="0"/>
              <a:t>     Or more than one valve.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55552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01337"/>
            <a:ext cx="10515600" cy="5275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 smtClean="0"/>
              <a:t>VALVULAR HEART DISEASE </a:t>
            </a:r>
            <a:endParaRPr lang="en-US" b="1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C00000"/>
                </a:solidFill>
              </a:rPr>
              <a:t>Bicuspid aortic valve </a:t>
            </a:r>
          </a:p>
          <a:p>
            <a:r>
              <a:rPr lang="en-US" sz="2400" dirty="0" smtClean="0"/>
              <a:t>The most common congenital </a:t>
            </a:r>
            <a:r>
              <a:rPr lang="en-US" sz="2400" dirty="0" err="1" smtClean="0"/>
              <a:t>valvular</a:t>
            </a:r>
            <a:r>
              <a:rPr lang="en-US" sz="2400" dirty="0" smtClean="0"/>
              <a:t> lesion, containing only two functional cusps instead of the normal three. </a:t>
            </a:r>
          </a:p>
          <a:p>
            <a:r>
              <a:rPr lang="en-US" sz="2400" dirty="0" smtClean="0"/>
              <a:t>It is heritable, and NOTCH1 mutations are associated with some cases. Although it is a congenital cardiac malformation, it sometimes does not cause morbidity until adult life. </a:t>
            </a:r>
          </a:p>
          <a:p>
            <a:r>
              <a:rPr lang="en-US" sz="2400" dirty="0" smtClean="0"/>
              <a:t>In the majority of cases, it causes </a:t>
            </a:r>
            <a:r>
              <a:rPr lang="en-US" sz="2400" dirty="0" smtClean="0">
                <a:solidFill>
                  <a:srgbClr val="002060"/>
                </a:solidFill>
              </a:rPr>
              <a:t>valve</a:t>
            </a:r>
            <a:r>
              <a:rPr lang="en-US" sz="2400" dirty="0" smtClean="0"/>
              <a:t> </a:t>
            </a:r>
            <a:r>
              <a:rPr lang="en-US" sz="2400" dirty="0" err="1" smtClean="0">
                <a:solidFill>
                  <a:srgbClr val="002060"/>
                </a:solidFill>
              </a:rPr>
              <a:t>stenosis</a:t>
            </a:r>
            <a:r>
              <a:rPr lang="en-US" sz="2400" dirty="0" smtClean="0"/>
              <a:t>, but it can cause </a:t>
            </a:r>
            <a:r>
              <a:rPr lang="en-US" sz="2400" dirty="0" err="1" smtClean="0">
                <a:solidFill>
                  <a:srgbClr val="002060"/>
                </a:solidFill>
              </a:rPr>
              <a:t>valvular</a:t>
            </a:r>
            <a:r>
              <a:rPr lang="en-US" sz="2400" dirty="0" smtClean="0">
                <a:solidFill>
                  <a:srgbClr val="002060"/>
                </a:solidFill>
              </a:rPr>
              <a:t> insufficiency</a:t>
            </a:r>
            <a:r>
              <a:rPr lang="en-US" sz="2400" dirty="0" smtClean="0"/>
              <a:t>. 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Infectious endocarditis </a:t>
            </a:r>
            <a:r>
              <a:rPr lang="en-US" sz="2400" dirty="0" smtClean="0"/>
              <a:t>and </a:t>
            </a:r>
            <a:r>
              <a:rPr lang="en-US" sz="2400" dirty="0" smtClean="0">
                <a:solidFill>
                  <a:srgbClr val="002060"/>
                </a:solidFill>
              </a:rPr>
              <a:t>aortic dilatation and dissection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are possible complications.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33742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41417" y="209006"/>
            <a:ext cx="8830491" cy="6374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9531"/>
            <a:ext cx="10515600" cy="5027432"/>
          </a:xfrm>
        </p:spPr>
        <p:txBody>
          <a:bodyPr>
            <a:normAutofit fontScale="925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C00000"/>
                </a:solidFill>
              </a:rPr>
              <a:t>Degenerative calcific aortic valve stenosis </a:t>
            </a:r>
          </a:p>
          <a:p>
            <a:r>
              <a:rPr lang="en-US" dirty="0" smtClean="0"/>
              <a:t>is a common </a:t>
            </a:r>
            <a:r>
              <a:rPr lang="en-US" dirty="0" err="1" smtClean="0"/>
              <a:t>valvular</a:t>
            </a:r>
            <a:r>
              <a:rPr lang="en-US" dirty="0" smtClean="0"/>
              <a:t> abnormality characterized by age-related dystrophic calcification, degeneration, and stenosis of the aortic valve.  </a:t>
            </a:r>
          </a:p>
          <a:p>
            <a:r>
              <a:rPr lang="en-US" dirty="0" smtClean="0"/>
              <a:t>It can lead to concentric left ventricular hypertrophy (LVH) and congestive heart failure with increased risk of sudden death.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C00000"/>
                </a:solidFill>
              </a:rPr>
              <a:t>Mitral valve prolapse </a:t>
            </a:r>
            <a:r>
              <a:rPr lang="en-US" dirty="0" smtClean="0"/>
              <a:t>has enlarged, floppy mitral valve leaflets that prolapse into the left atrium and microscopically show myxomatous degeneration. </a:t>
            </a:r>
          </a:p>
          <a:p>
            <a:r>
              <a:rPr lang="en-US" dirty="0" smtClean="0"/>
              <a:t>The condition affects individuals with </a:t>
            </a:r>
            <a:r>
              <a:rPr lang="en-US" dirty="0" smtClean="0">
                <a:solidFill>
                  <a:srgbClr val="002060"/>
                </a:solidFill>
              </a:rPr>
              <a:t>Marfan syndrome</a:t>
            </a:r>
            <a:r>
              <a:rPr lang="en-US" dirty="0" smtClean="0"/>
              <a:t>. </a:t>
            </a:r>
            <a:endParaRPr lang="en-US" dirty="0"/>
          </a:p>
          <a:p>
            <a:r>
              <a:rPr lang="en-US" dirty="0" smtClean="0"/>
              <a:t> Complications include infectious endocarditis and septic emboli, rupture of chordae tendineae with resulting mitral insufficiency, and rarely sudden death.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593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2777"/>
            <a:ext cx="10515600" cy="51841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 smtClean="0"/>
              <a:t>Inflammatory Valvular Disease </a:t>
            </a:r>
          </a:p>
          <a:p>
            <a:r>
              <a:rPr lang="en-US" dirty="0" smtClean="0"/>
              <a:t>Infective bacterial endocarditis (or more aptly infective endocarditis) refers to bacterial infection of the cardiac valves, characterized by vegetation on the valve leaflets. </a:t>
            </a:r>
            <a:endParaRPr lang="en-US" dirty="0"/>
          </a:p>
          <a:p>
            <a:r>
              <a:rPr lang="en-US" dirty="0" smtClean="0"/>
              <a:t>Risk factors include rheumatic heart disease, mitral valve prolapse, bicuspid aortic valve, degenerative calcific aortic stenosis, congenital heart disease, artificial valves, indwelling catheters, dental procedures, immunosuppression, and intravenous drug use. 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Acute endocarditis </a:t>
            </a:r>
            <a:r>
              <a:rPr lang="en-US" dirty="0" smtClean="0"/>
              <a:t>is typically due to a high virulence organism that can colonize a normal valve, such as </a:t>
            </a:r>
            <a:r>
              <a:rPr lang="en-US" b="1" dirty="0" smtClean="0"/>
              <a:t>Staphylococcus aureus. </a:t>
            </a:r>
          </a:p>
          <a:p>
            <a:r>
              <a:rPr lang="en-US" dirty="0" smtClean="0"/>
              <a:t>Acute endocarditis produces large destructive vegetation (fibrin, platelets, bacteria, and neutrophils). The prognosis is poor, with mortality of 10–40%.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379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b="1" dirty="0" smtClean="0"/>
          </a:p>
          <a:p>
            <a:r>
              <a:rPr lang="en-US" sz="3000" b="1" dirty="0" err="1" smtClean="0"/>
              <a:t>Subacute</a:t>
            </a:r>
            <a:r>
              <a:rPr lang="en-US" sz="3000" b="1" dirty="0" smtClean="0"/>
              <a:t> </a:t>
            </a:r>
            <a:r>
              <a:rPr lang="en-US" sz="3000" b="1" dirty="0" err="1" smtClean="0"/>
              <a:t>endocarditis</a:t>
            </a:r>
            <a:r>
              <a:rPr lang="en-US" sz="3000" b="1" dirty="0" smtClean="0"/>
              <a:t> </a:t>
            </a:r>
          </a:p>
          <a:p>
            <a:r>
              <a:rPr lang="en-US" dirty="0" smtClean="0"/>
              <a:t>Infections by organisms of low virulence affecting a previously abnormal </a:t>
            </a:r>
            <a:r>
              <a:rPr lang="en-US" dirty="0" err="1" smtClean="0"/>
              <a:t>heart,especially</a:t>
            </a:r>
            <a:r>
              <a:rPr lang="en-US" dirty="0" smtClean="0"/>
              <a:t> scarred or deformed valves.</a:t>
            </a:r>
          </a:p>
          <a:p>
            <a:r>
              <a:rPr lang="en-US" dirty="0" smtClean="0"/>
              <a:t>Most patients recover after appropriate antibiotic therapy.</a:t>
            </a:r>
          </a:p>
          <a:p>
            <a:r>
              <a:rPr lang="en-US" dirty="0" smtClean="0"/>
              <a:t>Prophylactic antibiotics decrease risk of </a:t>
            </a:r>
            <a:r>
              <a:rPr lang="en-US" dirty="0" err="1" smtClean="0"/>
              <a:t>endocarditis</a:t>
            </a:r>
            <a:r>
              <a:rPr lang="en-US" dirty="0" smtClean="0"/>
              <a:t>.</a:t>
            </a:r>
          </a:p>
          <a:p>
            <a:r>
              <a:rPr lang="en-US" altLang="en-US" b="1" dirty="0" smtClean="0"/>
              <a:t>Streptococcus </a:t>
            </a:r>
            <a:r>
              <a:rPr lang="en-US" altLang="en-US" b="1" dirty="0" err="1" smtClean="0"/>
              <a:t>viridans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50-60% in previously damaged valves.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aortic</a:t>
            </a:r>
            <a:r>
              <a:rPr lang="en-US" dirty="0" smtClean="0"/>
              <a:t> and </a:t>
            </a:r>
            <a:r>
              <a:rPr lang="en-US" b="1" dirty="0" smtClean="0"/>
              <a:t>mitral</a:t>
            </a:r>
            <a:r>
              <a:rPr lang="en-US" dirty="0" smtClean="0"/>
              <a:t> valves are the most common sites of infection, although the </a:t>
            </a:r>
            <a:r>
              <a:rPr lang="en-US" b="1" dirty="0" smtClean="0"/>
              <a:t>tricuspid valve </a:t>
            </a:r>
            <a:r>
              <a:rPr lang="en-US" dirty="0" smtClean="0"/>
              <a:t>is a frequent target in the setting of </a:t>
            </a:r>
            <a:r>
              <a:rPr lang="en-US" b="1" dirty="0" smtClean="0"/>
              <a:t>intravenous drug abuse.</a:t>
            </a:r>
            <a:endParaRPr lang="en-US" altLang="en-US" b="1" dirty="0" smtClean="0"/>
          </a:p>
          <a:p>
            <a:pPr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424313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3406"/>
            <a:ext cx="10515600" cy="50535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Staphylococcus </a:t>
            </a:r>
            <a:r>
              <a:rPr lang="en-US" b="1" dirty="0"/>
              <a:t>aureus </a:t>
            </a:r>
            <a:r>
              <a:rPr lang="en-US" dirty="0"/>
              <a:t>is the most common cause in </a:t>
            </a:r>
            <a:r>
              <a:rPr lang="en-US" b="1" dirty="0">
                <a:solidFill>
                  <a:srgbClr val="C00000"/>
                </a:solidFill>
              </a:rPr>
              <a:t>IV </a:t>
            </a:r>
            <a:r>
              <a:rPr lang="en-US" b="1" dirty="0" smtClean="0">
                <a:solidFill>
                  <a:srgbClr val="C00000"/>
                </a:solidFill>
              </a:rPr>
              <a:t>drug abusers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High-virulence organism that infects normal valves, most commonly the </a:t>
            </a:r>
            <a:r>
              <a:rPr lang="en-US" dirty="0" smtClean="0">
                <a:solidFill>
                  <a:srgbClr val="C00000"/>
                </a:solidFill>
              </a:rPr>
              <a:t>tricuspid</a:t>
            </a:r>
            <a:r>
              <a:rPr lang="en-US" dirty="0" smtClean="0"/>
              <a:t>. </a:t>
            </a:r>
          </a:p>
          <a:p>
            <a:r>
              <a:rPr lang="en-US" dirty="0" smtClean="0"/>
              <a:t>Results </a:t>
            </a:r>
            <a:r>
              <a:rPr lang="en-US" dirty="0"/>
              <a:t>in large vegetations that destroy the valve (acute </a:t>
            </a:r>
            <a:r>
              <a:rPr lang="en-US" dirty="0" smtClean="0"/>
              <a:t>endocarditis</a:t>
            </a:r>
            <a:r>
              <a:rPr lang="en-US" dirty="0"/>
              <a:t>)</a:t>
            </a:r>
            <a:r>
              <a:rPr lang="en-US" dirty="0" smtClean="0"/>
              <a:t> 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Staphylococcus </a:t>
            </a:r>
            <a:r>
              <a:rPr lang="en-US" b="1" dirty="0"/>
              <a:t>epidermidis </a:t>
            </a:r>
            <a:r>
              <a:rPr lang="en-US" dirty="0"/>
              <a:t>is associated with endocarditis of </a:t>
            </a:r>
            <a:r>
              <a:rPr lang="en-US" dirty="0">
                <a:solidFill>
                  <a:srgbClr val="C00000"/>
                </a:solidFill>
              </a:rPr>
              <a:t>prosthetic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valves</a:t>
            </a:r>
            <a:r>
              <a:rPr lang="en-US" dirty="0"/>
              <a:t>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HACEK </a:t>
            </a:r>
            <a:r>
              <a:rPr lang="en-US" b="1" dirty="0"/>
              <a:t>organisms </a:t>
            </a:r>
            <a:r>
              <a:rPr lang="en-US" dirty="0"/>
              <a:t>(Haemophilus, Actinobacillus, Cardiobacterium, Eikenella, Kingella) are associated with endocarditis with </a:t>
            </a:r>
            <a:r>
              <a:rPr lang="en-US" dirty="0">
                <a:solidFill>
                  <a:srgbClr val="C00000"/>
                </a:solidFill>
              </a:rPr>
              <a:t>negative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blood cultures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75570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2594"/>
            <a:ext cx="10515600" cy="501436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Clinical </a:t>
            </a:r>
            <a:r>
              <a:rPr lang="en-US" b="1" dirty="0"/>
              <a:t>features </a:t>
            </a:r>
            <a:r>
              <a:rPr lang="en-US" dirty="0"/>
              <a:t>of bacterial endocarditis include </a:t>
            </a:r>
            <a:endParaRPr lang="en-US" dirty="0" smtClean="0"/>
          </a:p>
          <a:p>
            <a:r>
              <a:rPr lang="en-US" b="1" dirty="0" smtClean="0"/>
              <a:t>Fever</a:t>
            </a:r>
            <a:r>
              <a:rPr lang="en-US" dirty="0" smtClean="0"/>
              <a:t> </a:t>
            </a:r>
            <a:r>
              <a:rPr lang="en-US" dirty="0"/>
              <a:t>- due to bacteremia </a:t>
            </a:r>
          </a:p>
          <a:p>
            <a:r>
              <a:rPr lang="en-US" b="1" dirty="0" smtClean="0"/>
              <a:t>Murmu</a:t>
            </a:r>
            <a:r>
              <a:rPr lang="en-US" dirty="0" smtClean="0"/>
              <a:t>r </a:t>
            </a:r>
            <a:r>
              <a:rPr lang="en-US" dirty="0"/>
              <a:t>- due to vegetations on heart valve </a:t>
            </a:r>
          </a:p>
          <a:p>
            <a:r>
              <a:rPr lang="en-US" b="1" dirty="0" smtClean="0"/>
              <a:t>Janeway </a:t>
            </a:r>
            <a:r>
              <a:rPr lang="en-US" b="1" dirty="0"/>
              <a:t>lesions </a:t>
            </a:r>
            <a:r>
              <a:rPr lang="en-US" dirty="0"/>
              <a:t>(erythematous nontender lesions on palms </a:t>
            </a:r>
            <a:r>
              <a:rPr lang="en-US" dirty="0" smtClean="0"/>
              <a:t>&amp; soles, </a:t>
            </a:r>
          </a:p>
          <a:p>
            <a:r>
              <a:rPr lang="en-US" b="1" dirty="0" smtClean="0"/>
              <a:t>Osler </a:t>
            </a:r>
            <a:r>
              <a:rPr lang="en-US" b="1" dirty="0"/>
              <a:t>nodes </a:t>
            </a:r>
            <a:r>
              <a:rPr lang="en-US" dirty="0"/>
              <a:t>(tender lesions on fingers or toes), </a:t>
            </a:r>
            <a:endParaRPr lang="en-US" dirty="0" smtClean="0"/>
          </a:p>
          <a:p>
            <a:r>
              <a:rPr lang="en-US" b="1" dirty="0" smtClean="0"/>
              <a:t>splinter</a:t>
            </a:r>
            <a:r>
              <a:rPr lang="en-US" dirty="0" smtClean="0"/>
              <a:t> </a:t>
            </a:r>
            <a:r>
              <a:rPr lang="en-US" b="1" dirty="0"/>
              <a:t>hemorrhages</a:t>
            </a:r>
            <a:r>
              <a:rPr lang="en-US" dirty="0"/>
              <a:t> in nail bed </a:t>
            </a:r>
            <a:r>
              <a:rPr lang="en-US" dirty="0" smtClean="0"/>
              <a:t> </a:t>
            </a:r>
            <a:r>
              <a:rPr lang="en-US" dirty="0"/>
              <a:t>and Roth spots </a:t>
            </a:r>
            <a:r>
              <a:rPr lang="en-US" dirty="0" smtClean="0"/>
              <a:t> </a:t>
            </a:r>
            <a:r>
              <a:rPr lang="en-US" dirty="0"/>
              <a:t>- due to embolization </a:t>
            </a:r>
            <a:r>
              <a:rPr lang="en-US" dirty="0" smtClean="0"/>
              <a:t>of septic </a:t>
            </a:r>
            <a:r>
              <a:rPr lang="en-US" dirty="0"/>
              <a:t>vegetations </a:t>
            </a:r>
          </a:p>
          <a:p>
            <a:r>
              <a:rPr lang="en-US" b="1" dirty="0" smtClean="0"/>
              <a:t>Anemia </a:t>
            </a:r>
            <a:r>
              <a:rPr lang="en-US" b="1" dirty="0"/>
              <a:t>of chronic disease </a:t>
            </a:r>
            <a:r>
              <a:rPr lang="en-US" dirty="0"/>
              <a:t>- due to chronic inflammation</a:t>
            </a:r>
          </a:p>
        </p:txBody>
      </p:sp>
    </p:spTree>
    <p:extLst>
      <p:ext uri="{BB962C8B-B14F-4D97-AF65-F5344CB8AC3E}">
        <p14:creationId xmlns:p14="http://schemas.microsoft.com/office/powerpoint/2010/main" xmlns="" val="129123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Laboratory </a:t>
            </a:r>
            <a:r>
              <a:rPr lang="en-US" b="1" dirty="0"/>
              <a:t>findings </a:t>
            </a:r>
          </a:p>
          <a:p>
            <a:r>
              <a:rPr lang="en-US" dirty="0" smtClean="0"/>
              <a:t>Positive </a:t>
            </a:r>
            <a:r>
              <a:rPr lang="en-US" dirty="0"/>
              <a:t>blood cultures </a:t>
            </a:r>
          </a:p>
          <a:p>
            <a:r>
              <a:rPr lang="en-US" dirty="0" smtClean="0"/>
              <a:t>Anemia </a:t>
            </a:r>
            <a:r>
              <a:rPr lang="en-US" dirty="0"/>
              <a:t>of chronic disease(↓Hb</a:t>
            </a:r>
            <a:r>
              <a:rPr lang="en-US" dirty="0" smtClean="0"/>
              <a:t>, ↓</a:t>
            </a:r>
            <a:r>
              <a:rPr lang="en-US" dirty="0"/>
              <a:t>MCV</a:t>
            </a:r>
            <a:r>
              <a:rPr lang="en-US" dirty="0" smtClean="0"/>
              <a:t>; ↑</a:t>
            </a:r>
            <a:r>
              <a:rPr lang="en-US" dirty="0"/>
              <a:t>ferritin</a:t>
            </a:r>
            <a:r>
              <a:rPr lang="en-US" dirty="0" smtClean="0"/>
              <a:t>, ↓</a:t>
            </a:r>
            <a:r>
              <a:rPr lang="en-US" dirty="0"/>
              <a:t>TIBC</a:t>
            </a:r>
            <a:r>
              <a:rPr lang="en-US" dirty="0" smtClean="0"/>
              <a:t>, ↓</a:t>
            </a:r>
            <a:r>
              <a:rPr lang="en-US" dirty="0"/>
              <a:t>serum iron, and ↓% saturation) </a:t>
            </a:r>
          </a:p>
          <a:p>
            <a:r>
              <a:rPr lang="en-US" dirty="0" err="1" smtClean="0"/>
              <a:t>Transesophageal</a:t>
            </a:r>
            <a:r>
              <a:rPr lang="en-US" dirty="0" smtClean="0"/>
              <a:t> </a:t>
            </a:r>
            <a:r>
              <a:rPr lang="en-US" dirty="0"/>
              <a:t>echocardiogram is useful for detecting lesions on valves</a:t>
            </a:r>
          </a:p>
        </p:txBody>
      </p:sp>
    </p:spTree>
    <p:extLst>
      <p:ext uri="{BB962C8B-B14F-4D97-AF65-F5344CB8AC3E}">
        <p14:creationId xmlns:p14="http://schemas.microsoft.com/office/powerpoint/2010/main" xmlns="" val="143279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Nonbacterial </a:t>
            </a:r>
            <a:r>
              <a:rPr lang="en-US" b="1" dirty="0"/>
              <a:t>thrombotic endocarditis </a:t>
            </a:r>
            <a:endParaRPr lang="en-US" b="1" dirty="0" smtClean="0"/>
          </a:p>
          <a:p>
            <a:r>
              <a:rPr lang="en-US" dirty="0" smtClean="0"/>
              <a:t>Is </a:t>
            </a:r>
            <a:r>
              <a:rPr lang="en-US" dirty="0"/>
              <a:t>due to sterile vegetations that arise in association with a hypercoagulable state or underlying adenocarcinoma. </a:t>
            </a:r>
            <a:endParaRPr lang="en-US" dirty="0" smtClean="0"/>
          </a:p>
          <a:p>
            <a:r>
              <a:rPr lang="en-US" dirty="0" smtClean="0"/>
              <a:t>Vegetations </a:t>
            </a:r>
            <a:r>
              <a:rPr lang="en-US" dirty="0"/>
              <a:t>arise on the mitral valve along lines of closure and result in mitral regurgitation.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b="1" dirty="0"/>
              <a:t>Libman-Sacks endocarditis </a:t>
            </a:r>
            <a:r>
              <a:rPr lang="en-US" dirty="0"/>
              <a:t>is due to sterile vegetations that arise in association with </a:t>
            </a:r>
            <a:r>
              <a:rPr lang="en-US" dirty="0">
                <a:solidFill>
                  <a:srgbClr val="C00000"/>
                </a:solidFill>
              </a:rPr>
              <a:t>SLE</a:t>
            </a:r>
            <a:r>
              <a:rPr lang="en-US" dirty="0"/>
              <a:t>. Vegetations are present on the surface and undersurface of the mitral valve and result in mitral regurgitation.</a:t>
            </a:r>
          </a:p>
        </p:txBody>
      </p:sp>
    </p:spTree>
    <p:extLst>
      <p:ext uri="{BB962C8B-B14F-4D97-AF65-F5344CB8AC3E}">
        <p14:creationId xmlns:p14="http://schemas.microsoft.com/office/powerpoint/2010/main" xmlns="" val="18790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8200" y="979714"/>
            <a:ext cx="3562847" cy="448877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771378" y="836023"/>
            <a:ext cx="6462680" cy="434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1687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2959" y="522514"/>
            <a:ext cx="10567851" cy="5773783"/>
          </a:xfrm>
        </p:spPr>
      </p:pic>
    </p:spTree>
    <p:extLst>
      <p:ext uri="{BB962C8B-B14F-4D97-AF65-F5344CB8AC3E}">
        <p14:creationId xmlns:p14="http://schemas.microsoft.com/office/powerpoint/2010/main" xmlns="" val="341264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8903"/>
            <a:ext cx="10515600" cy="51580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 smtClean="0"/>
              <a:t>Rheumatic heart disease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C00000"/>
                </a:solidFill>
              </a:rPr>
              <a:t>Acute Rheumatic </a:t>
            </a:r>
            <a:r>
              <a:rPr lang="en-US" dirty="0">
                <a:solidFill>
                  <a:srgbClr val="C00000"/>
                </a:solidFill>
              </a:rPr>
              <a:t>F</a:t>
            </a:r>
            <a:r>
              <a:rPr lang="en-US" dirty="0" smtClean="0">
                <a:solidFill>
                  <a:srgbClr val="C00000"/>
                </a:solidFill>
              </a:rPr>
              <a:t>ever (ARF)</a:t>
            </a:r>
          </a:p>
          <a:p>
            <a:r>
              <a:rPr lang="en-US" dirty="0"/>
              <a:t>I</a:t>
            </a:r>
            <a:r>
              <a:rPr lang="en-US" dirty="0" smtClean="0"/>
              <a:t>s a systemic recurrent inflammatory disease, triggered by a pharyngeal infection with </a:t>
            </a:r>
            <a:r>
              <a:rPr lang="en-US" dirty="0" smtClean="0">
                <a:solidFill>
                  <a:srgbClr val="002060"/>
                </a:solidFill>
              </a:rPr>
              <a:t>Group A β-hemolytic streptococci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In genetically susceptible individuals, the infection results in production of antibodies that cross-react with </a:t>
            </a:r>
            <a:r>
              <a:rPr lang="en-US" smtClean="0"/>
              <a:t>cardiac antigens &amp; </a:t>
            </a:r>
            <a:r>
              <a:rPr lang="en-US" dirty="0" smtClean="0"/>
              <a:t>cause injury.</a:t>
            </a:r>
          </a:p>
          <a:p>
            <a:r>
              <a:rPr lang="en-US" dirty="0" smtClean="0"/>
              <a:t>Rheumatic fever affects children (ages 5–15 years), </a:t>
            </a:r>
          </a:p>
          <a:p>
            <a:r>
              <a:rPr lang="en-US" dirty="0" smtClean="0"/>
              <a:t>Symptoms occur 2–3 weeks after a pharyngeal infection; </a:t>
            </a:r>
          </a:p>
          <a:p>
            <a:r>
              <a:rPr lang="en-US" dirty="0" smtClean="0"/>
              <a:t>Laboratory studies show elevated </a:t>
            </a:r>
            <a:r>
              <a:rPr lang="en-US" dirty="0" err="1" smtClean="0"/>
              <a:t>antistreptolysin</a:t>
            </a:r>
            <a:r>
              <a:rPr lang="en-US" dirty="0" smtClean="0"/>
              <a:t> O (ASO) titers. 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xmlns="" val="303071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5840"/>
            <a:ext cx="10515600" cy="517112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Diagnosis of rheumatic fever requires 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2 major 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smtClean="0"/>
              <a:t>Or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1 major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002060"/>
                </a:solidFill>
              </a:rPr>
              <a:t>2 minor criteria</a:t>
            </a:r>
            <a:r>
              <a:rPr lang="en-US" dirty="0" smtClean="0"/>
              <a:t>, plus </a:t>
            </a:r>
            <a:r>
              <a:rPr lang="en-US" dirty="0" smtClean="0">
                <a:solidFill>
                  <a:srgbClr val="002060"/>
                </a:solidFill>
              </a:rPr>
              <a:t>a preceding group A strep infection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37360" y="2599508"/>
            <a:ext cx="8934993" cy="370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8566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8091"/>
            <a:ext cx="10515600" cy="5118872"/>
          </a:xfrm>
        </p:spPr>
        <p:txBody>
          <a:bodyPr>
            <a:normAutofit/>
          </a:bodyPr>
          <a:lstStyle/>
          <a:p>
            <a:r>
              <a:rPr lang="en-US" dirty="0" smtClean="0"/>
              <a:t>Acute rheumatic heart disease affects myocardium, endocardium, and pericardium. </a:t>
            </a:r>
          </a:p>
          <a:p>
            <a:r>
              <a:rPr lang="en-US" b="1" dirty="0" smtClean="0"/>
              <a:t>Myocardium</a:t>
            </a:r>
            <a:r>
              <a:rPr lang="en-US" dirty="0" smtClean="0"/>
              <a:t> can develop myocarditis, whose most distinctive feature is the </a:t>
            </a:r>
            <a:r>
              <a:rPr lang="en-US" dirty="0" smtClean="0">
                <a:solidFill>
                  <a:srgbClr val="002060"/>
                </a:solidFill>
              </a:rPr>
              <a:t>Aschoff body </a:t>
            </a:r>
            <a:r>
              <a:rPr lang="en-US" dirty="0" smtClean="0"/>
              <a:t>(fibrinoid necrosis is surrounded by macrophages (</a:t>
            </a:r>
            <a:r>
              <a:rPr lang="en-US" dirty="0" smtClean="0">
                <a:solidFill>
                  <a:srgbClr val="C00000"/>
                </a:solidFill>
              </a:rPr>
              <a:t>Anitschkow cells</a:t>
            </a:r>
            <a:r>
              <a:rPr lang="en-US" dirty="0" smtClean="0"/>
              <a:t>), lymphocytes, and plasma cells). </a:t>
            </a:r>
          </a:p>
          <a:p>
            <a:r>
              <a:rPr lang="en-US" dirty="0" smtClean="0"/>
              <a:t>Fibrinous </a:t>
            </a:r>
            <a:r>
              <a:rPr lang="en-US" b="1" dirty="0" smtClean="0"/>
              <a:t>pericarditis</a:t>
            </a:r>
            <a:r>
              <a:rPr lang="en-US" dirty="0" smtClean="0"/>
              <a:t> may be present. </a:t>
            </a:r>
          </a:p>
          <a:p>
            <a:r>
              <a:rPr lang="en-US" b="1" dirty="0" smtClean="0"/>
              <a:t>Endocarditis</a:t>
            </a:r>
            <a:r>
              <a:rPr lang="en-US" dirty="0" smtClean="0"/>
              <a:t> -may be a prominent feature that typically involves </a:t>
            </a:r>
            <a:r>
              <a:rPr lang="en-US" dirty="0" smtClean="0">
                <a:solidFill>
                  <a:srgbClr val="C00000"/>
                </a:solidFill>
              </a:rPr>
              <a:t>mitral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aortic</a:t>
            </a:r>
            <a:r>
              <a:rPr lang="en-US" dirty="0" smtClean="0"/>
              <a:t> valves.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443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CHRONIC RHEUMATIC HEART DISEASE </a:t>
            </a:r>
          </a:p>
          <a:p>
            <a:r>
              <a:rPr lang="en-US" dirty="0" smtClean="0"/>
              <a:t>Valve </a:t>
            </a:r>
            <a:r>
              <a:rPr lang="en-US" dirty="0"/>
              <a:t>scarring that arises as a consequence </a:t>
            </a:r>
            <a:r>
              <a:rPr lang="en-US" dirty="0" smtClean="0"/>
              <a:t>of rheumatic fever</a:t>
            </a:r>
          </a:p>
          <a:p>
            <a:r>
              <a:rPr lang="en-US" dirty="0" err="1" smtClean="0"/>
              <a:t>Aschoff</a:t>
            </a:r>
            <a:r>
              <a:rPr lang="en-US" dirty="0" smtClean="0"/>
              <a:t> bodies are replaced by fibrous scar so that these lesions</a:t>
            </a:r>
          </a:p>
          <a:p>
            <a:pPr>
              <a:buNone/>
            </a:pPr>
            <a:r>
              <a:rPr lang="en-US" dirty="0" smtClean="0"/>
              <a:t>   are rarely seen in chronic disease. </a:t>
            </a:r>
            <a:endParaRPr lang="en-US" dirty="0"/>
          </a:p>
          <a:p>
            <a:r>
              <a:rPr lang="en-US" dirty="0" smtClean="0"/>
              <a:t>Results </a:t>
            </a:r>
            <a:r>
              <a:rPr lang="en-US" dirty="0"/>
              <a:t>in stenosis with a classic 'fish-mouth' appearance </a:t>
            </a:r>
          </a:p>
          <a:p>
            <a:r>
              <a:rPr lang="en-US" dirty="0" smtClean="0"/>
              <a:t>Almost </a:t>
            </a:r>
            <a:r>
              <a:rPr lang="en-US" dirty="0"/>
              <a:t>always involves the </a:t>
            </a:r>
            <a:r>
              <a:rPr lang="en-US" dirty="0">
                <a:solidFill>
                  <a:srgbClr val="002060"/>
                </a:solidFill>
              </a:rPr>
              <a:t>mitral valve</a:t>
            </a:r>
            <a:r>
              <a:rPr lang="en-US" dirty="0"/>
              <a:t>; leads to thickening of chordae tendineae and cusps 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Occasionally </a:t>
            </a:r>
            <a:r>
              <a:rPr lang="en-US" dirty="0"/>
              <a:t>involves the aortic valve; leads to fusion of the </a:t>
            </a:r>
            <a:r>
              <a:rPr lang="en-US" dirty="0" err="1" smtClean="0"/>
              <a:t>commissures</a:t>
            </a:r>
            <a:r>
              <a:rPr lang="en-US" dirty="0"/>
              <a:t>.</a:t>
            </a:r>
          </a:p>
          <a:p>
            <a:r>
              <a:rPr lang="en-US" dirty="0" smtClean="0"/>
              <a:t>Complications </a:t>
            </a:r>
            <a:r>
              <a:rPr lang="en-US" dirty="0"/>
              <a:t>include infectious endocarditis.</a:t>
            </a:r>
          </a:p>
        </p:txBody>
      </p:sp>
    </p:spTree>
    <p:extLst>
      <p:ext uri="{BB962C8B-B14F-4D97-AF65-F5344CB8AC3E}">
        <p14:creationId xmlns:p14="http://schemas.microsoft.com/office/powerpoint/2010/main" xmlns="" val="422971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469"/>
            <a:ext cx="10515600" cy="5040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 smtClean="0"/>
              <a:t>MYOCARDITIS</a:t>
            </a:r>
            <a:r>
              <a:rPr lang="en-US" dirty="0" smtClean="0"/>
              <a:t> </a:t>
            </a:r>
          </a:p>
          <a:p>
            <a:r>
              <a:rPr lang="en-US" dirty="0" smtClean="0"/>
              <a:t>Myocarditis arises from infectious and immune causes. </a:t>
            </a:r>
            <a:endParaRPr lang="en-US" dirty="0"/>
          </a:p>
          <a:p>
            <a:r>
              <a:rPr lang="en-US" dirty="0" smtClean="0"/>
              <a:t>Infectious </a:t>
            </a:r>
            <a:r>
              <a:rPr lang="en-US" dirty="0"/>
              <a:t>causes include </a:t>
            </a:r>
            <a:r>
              <a:rPr lang="en-US" dirty="0">
                <a:solidFill>
                  <a:srgbClr val="002060"/>
                </a:solidFill>
              </a:rPr>
              <a:t>coxsackieviruses A and B</a:t>
            </a:r>
            <a:r>
              <a:rPr lang="en-US" dirty="0"/>
              <a:t>, enteroviruses and Trypanosoma cruzi (Chagas disease), Toxoplasma gondii, and Borrelia burgdorferi (Lyme disease). </a:t>
            </a:r>
            <a:endParaRPr lang="en-US" dirty="0" smtClean="0"/>
          </a:p>
          <a:p>
            <a:r>
              <a:rPr lang="en-US" dirty="0" smtClean="0"/>
              <a:t>Noninfectious </a:t>
            </a:r>
            <a:r>
              <a:rPr lang="en-US" dirty="0"/>
              <a:t>causes include systemic </a:t>
            </a:r>
            <a:r>
              <a:rPr lang="en-US" dirty="0" smtClean="0"/>
              <a:t>lupus </a:t>
            </a:r>
            <a:r>
              <a:rPr lang="en-US" dirty="0" err="1" smtClean="0"/>
              <a:t>erythematosus</a:t>
            </a:r>
            <a:r>
              <a:rPr lang="en-US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812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Clinically, the patient may be asymptomatic or may suffer from acute heart failure or even dilated cardiomyopathy. </a:t>
            </a:r>
          </a:p>
          <a:p>
            <a:r>
              <a:rPr lang="en-US" dirty="0"/>
              <a:t>In myocarditis, inflammatory infiltrates damage myocytes. </a:t>
            </a:r>
          </a:p>
          <a:p>
            <a:r>
              <a:rPr lang="en-US" dirty="0"/>
              <a:t>Clinically, the patient may be asymptomatic or may suffer acute heart failure with subsequent dilated cardiomyopathy or sudden death.</a:t>
            </a:r>
          </a:p>
          <a:p>
            <a:r>
              <a:rPr lang="en-US" dirty="0"/>
              <a:t> Some patients recover without complications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4426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Reading assignment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Congenital heart disease(CHD)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8934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Robbins and cotrans pathologic basics of disease 10</a:t>
            </a:r>
            <a:r>
              <a:rPr lang="en-US" baseline="30000" dirty="0" smtClean="0"/>
              <a:t>th</a:t>
            </a:r>
            <a:r>
              <a:rPr lang="en-US" dirty="0" smtClean="0"/>
              <a:t>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2296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6000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6000" dirty="0">
                <a:solidFill>
                  <a:srgbClr val="002060"/>
                </a:solidFill>
              </a:rPr>
              <a:t> </a:t>
            </a:r>
            <a:r>
              <a:rPr lang="en-US" sz="6000" dirty="0" smtClean="0">
                <a:solidFill>
                  <a:srgbClr val="002060"/>
                </a:solidFill>
              </a:rPr>
              <a:t>                     Thank you!</a:t>
            </a:r>
            <a:endParaRPr lang="en-US" sz="6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9551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7421</TotalTime>
  <Words>3912</Words>
  <Application>Microsoft Office PowerPoint</Application>
  <PresentationFormat>Custom</PresentationFormat>
  <Paragraphs>369</Paragraphs>
  <Slides>73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Office Theme</vt:lpstr>
      <vt:lpstr>Cardiovascular pathology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…cont…</vt:lpstr>
      <vt:lpstr>Slide 19</vt:lpstr>
      <vt:lpstr>Slide 20</vt:lpstr>
      <vt:lpstr>Slide 21</vt:lpstr>
      <vt:lpstr>Slide 22</vt:lpstr>
      <vt:lpstr>Slide 23</vt:lpstr>
      <vt:lpstr>…cont…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References</vt:lpstr>
      <vt:lpstr>Slide 73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user</cp:lastModifiedBy>
  <cp:revision>122</cp:revision>
  <dcterms:created xsi:type="dcterms:W3CDTF">2022-08-13T20:18:09Z</dcterms:created>
  <dcterms:modified xsi:type="dcterms:W3CDTF">2023-10-29T13:55:22Z</dcterms:modified>
</cp:coreProperties>
</file>