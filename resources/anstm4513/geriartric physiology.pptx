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2"/>
  </p:notesMasterIdLst>
  <p:sldIdLst>
    <p:sldId id="256" r:id="rId3"/>
    <p:sldId id="311" r:id="rId4"/>
    <p:sldId id="314" r:id="rId5"/>
    <p:sldId id="312" r:id="rId6"/>
    <p:sldId id="315" r:id="rId7"/>
    <p:sldId id="316" r:id="rId8"/>
    <p:sldId id="280" r:id="rId9"/>
    <p:sldId id="281" r:id="rId10"/>
    <p:sldId id="282" r:id="rId11"/>
    <p:sldId id="283" r:id="rId12"/>
    <p:sldId id="317" r:id="rId13"/>
    <p:sldId id="262" r:id="rId14"/>
    <p:sldId id="318" r:id="rId15"/>
    <p:sldId id="319" r:id="rId16"/>
    <p:sldId id="274" r:id="rId17"/>
    <p:sldId id="275" r:id="rId18"/>
    <p:sldId id="265" r:id="rId19"/>
    <p:sldId id="276" r:id="rId20"/>
    <p:sldId id="272" r:id="rId21"/>
    <p:sldId id="328" r:id="rId22"/>
    <p:sldId id="322" r:id="rId23"/>
    <p:sldId id="321" r:id="rId24"/>
    <p:sldId id="329" r:id="rId25"/>
    <p:sldId id="323" r:id="rId26"/>
    <p:sldId id="324" r:id="rId27"/>
    <p:sldId id="325" r:id="rId28"/>
    <p:sldId id="326" r:id="rId29"/>
    <p:sldId id="327"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85" autoAdjust="0"/>
    <p:restoredTop sz="92818" autoAdjust="0"/>
  </p:normalViewPr>
  <p:slideViewPr>
    <p:cSldViewPr snapToGrid="0">
      <p:cViewPr varScale="1">
        <p:scale>
          <a:sx n="67" d="100"/>
          <a:sy n="67" d="100"/>
        </p:scale>
        <p:origin x="984" y="72"/>
      </p:cViewPr>
      <p:guideLst/>
    </p:cSldViewPr>
  </p:slideViewPr>
  <p:notesTextViewPr>
    <p:cViewPr>
      <p:scale>
        <a:sx n="1" d="1"/>
        <a:sy n="1" d="1"/>
      </p:scale>
      <p:origin x="0" y="-16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ED34A8-F71D-4EE3-8128-8DB219DAECE7}" type="datetimeFigureOut">
              <a:rPr lang="en-US" smtClean="0"/>
              <a:t>4/3/2023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4EF854-2BDD-4201-9567-40C0CDD0B749}" type="slidenum">
              <a:rPr lang="en-US" smtClean="0"/>
              <a:t>‹#›</a:t>
            </a:fld>
            <a:endParaRPr lang="en-US"/>
          </a:p>
        </p:txBody>
      </p:sp>
    </p:spTree>
    <p:extLst>
      <p:ext uri="{BB962C8B-B14F-4D97-AF65-F5344CB8AC3E}">
        <p14:creationId xmlns:p14="http://schemas.microsoft.com/office/powerpoint/2010/main" val="3125261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arial" panose="020B0604020202020204" pitchFamily="34" charset="0"/>
              </a:rPr>
              <a:t>homeostasis is the state of steady internal, physical, and chemical conditions maintained by living systems. This is the condition of optimal functioning for the organism and includes many variables, such as body temperature and fluid balance, being kept within certain pre-set limits.</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a:t>
            </a:fld>
            <a:endParaRPr lang="en-US"/>
          </a:p>
        </p:txBody>
      </p:sp>
    </p:spTree>
    <p:extLst>
      <p:ext uri="{BB962C8B-B14F-4D97-AF65-F5344CB8AC3E}">
        <p14:creationId xmlns:p14="http://schemas.microsoft.com/office/powerpoint/2010/main" val="146181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Google Sans"/>
              </a:rPr>
              <a:t>The autonomic nervous system is a component of the peripheral nervous system that </a:t>
            </a:r>
            <a:r>
              <a:rPr lang="en-US" b="0" i="0" dirty="0">
                <a:solidFill>
                  <a:srgbClr val="040C28"/>
                </a:solidFill>
                <a:effectLst/>
                <a:latin typeface="Google Sans"/>
              </a:rPr>
              <a:t>regulates involuntary physiologic processes including heart rate, blood pressure, respiration, digestion, and sexual arousal</a:t>
            </a:r>
            <a:r>
              <a:rPr lang="en-US" b="0" i="0" dirty="0">
                <a:solidFill>
                  <a:srgbClr val="202124"/>
                </a:solidFill>
                <a:effectLst/>
                <a:latin typeface="Google Sans"/>
              </a:rPr>
              <a:t>. It contains three anatomically distinct divisions: sympathetic, parasympathetic, and enteric.</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3</a:t>
            </a:fld>
            <a:endParaRPr lang="en-US"/>
          </a:p>
        </p:txBody>
      </p:sp>
    </p:spTree>
    <p:extLst>
      <p:ext uri="{BB962C8B-B14F-4D97-AF65-F5344CB8AC3E}">
        <p14:creationId xmlns:p14="http://schemas.microsoft.com/office/powerpoint/2010/main" val="2541101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5</a:t>
            </a:fld>
            <a:endParaRPr lang="en-US"/>
          </a:p>
        </p:txBody>
      </p:sp>
    </p:spTree>
    <p:extLst>
      <p:ext uri="{BB962C8B-B14F-4D97-AF65-F5344CB8AC3E}">
        <p14:creationId xmlns:p14="http://schemas.microsoft.com/office/powerpoint/2010/main" val="1811299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7</a:t>
            </a:fld>
            <a:endParaRPr lang="en-US"/>
          </a:p>
        </p:txBody>
      </p:sp>
    </p:spTree>
    <p:extLst>
      <p:ext uri="{BB962C8B-B14F-4D97-AF65-F5344CB8AC3E}">
        <p14:creationId xmlns:p14="http://schemas.microsoft.com/office/powerpoint/2010/main" val="3115232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Arial" panose="020B0604020202020204" pitchFamily="34" charset="0"/>
              </a:rPr>
              <a:t>The reduction in cardiac output with age increases the arm-brain circulation time for drugs and means intravenous </a:t>
            </a:r>
            <a:r>
              <a:rPr lang="en-US" sz="1800" b="0" i="0" u="none" strike="noStrike" baseline="0" dirty="0" err="1">
                <a:solidFill>
                  <a:srgbClr val="000000"/>
                </a:solidFill>
                <a:latin typeface="Arial" panose="020B0604020202020204" pitchFamily="34" charset="0"/>
              </a:rPr>
              <a:t>anaesthesia</a:t>
            </a:r>
            <a:r>
              <a:rPr lang="en-US" sz="1800" b="0" i="0" u="none" strike="noStrike" baseline="0" dirty="0">
                <a:solidFill>
                  <a:srgbClr val="000000"/>
                </a:solidFill>
                <a:latin typeface="Arial" panose="020B0604020202020204" pitchFamily="34" charset="0"/>
              </a:rPr>
              <a:t> is achieved more slowly and with reduced doses of </a:t>
            </a:r>
            <a:r>
              <a:rPr lang="en-US" sz="1800" b="0" i="0" u="none" strike="noStrike" baseline="0" dirty="0" err="1">
                <a:solidFill>
                  <a:srgbClr val="000000"/>
                </a:solidFill>
                <a:latin typeface="Arial" panose="020B0604020202020204" pitchFamily="34" charset="0"/>
              </a:rPr>
              <a:t>anaesthetic</a:t>
            </a:r>
            <a:r>
              <a:rPr lang="en-US" sz="1800" b="0" i="0" u="none" strike="noStrike" baseline="0" dirty="0">
                <a:solidFill>
                  <a:srgbClr val="000000"/>
                </a:solidFill>
                <a:latin typeface="Arial" panose="020B0604020202020204" pitchFamily="34" charset="0"/>
              </a:rPr>
              <a:t> agent. </a:t>
            </a:r>
          </a:p>
          <a:p>
            <a:r>
              <a:rPr lang="en-US" sz="1800" b="0" i="0" u="none" strike="noStrike" baseline="0" dirty="0">
                <a:solidFill>
                  <a:srgbClr val="000000"/>
                </a:solidFill>
                <a:latin typeface="Arial" panose="020B0604020202020204" pitchFamily="34" charset="0"/>
              </a:rPr>
              <a:t>Since atrial contraction contributes approximately one third of the volume towards normal ventricular filling, patients with atrial fibrillation suffer a reduction in cardiac output of about 30%. </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8</a:t>
            </a:fld>
            <a:endParaRPr lang="en-US"/>
          </a:p>
        </p:txBody>
      </p:sp>
    </p:spTree>
    <p:extLst>
      <p:ext uri="{BB962C8B-B14F-4D97-AF65-F5344CB8AC3E}">
        <p14:creationId xmlns:p14="http://schemas.microsoft.com/office/powerpoint/2010/main" val="520596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latin typeface="Arial" panose="020B0604020202020204" pitchFamily="34" charset="0"/>
              </a:rPr>
              <a:t>Hypotension should be anticipated with much more greater frequency on induction of general </a:t>
            </a:r>
            <a:r>
              <a:rPr lang="en-US" sz="1200" b="0" i="0" u="none" strike="noStrike" baseline="0" dirty="0" err="1">
                <a:solidFill>
                  <a:srgbClr val="000000"/>
                </a:solidFill>
                <a:latin typeface="Arial" panose="020B0604020202020204" pitchFamily="34" charset="0"/>
              </a:rPr>
              <a:t>anaesthesia</a:t>
            </a:r>
            <a:r>
              <a:rPr lang="en-US" sz="1200" b="0" i="0" u="none" strike="noStrike" baseline="0" dirty="0">
                <a:solidFill>
                  <a:srgbClr val="000000"/>
                </a:solidFill>
                <a:latin typeface="Arial" panose="020B0604020202020204" pitchFamily="34" charset="0"/>
              </a:rPr>
              <a:t>. </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9</a:t>
            </a:fld>
            <a:endParaRPr lang="en-US"/>
          </a:p>
        </p:txBody>
      </p:sp>
    </p:spTree>
    <p:extLst>
      <p:ext uri="{BB962C8B-B14F-4D97-AF65-F5344CB8AC3E}">
        <p14:creationId xmlns:p14="http://schemas.microsoft.com/office/powerpoint/2010/main" val="1100614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latin typeface="Arial" panose="020B0604020202020204" pitchFamily="34" charset="0"/>
              </a:rPr>
              <a:t>elderly patients often tolerate spinal </a:t>
            </a:r>
            <a:r>
              <a:rPr lang="en-US" sz="1200" b="0" i="0" u="none" strike="noStrike" baseline="0" dirty="0" err="1">
                <a:solidFill>
                  <a:srgbClr val="000000"/>
                </a:solidFill>
                <a:latin typeface="Arial" panose="020B0604020202020204" pitchFamily="34" charset="0"/>
              </a:rPr>
              <a:t>anaesthesia</a:t>
            </a:r>
            <a:r>
              <a:rPr lang="en-US" sz="1200" b="0" i="0" u="none" strike="noStrike" baseline="0" dirty="0">
                <a:solidFill>
                  <a:srgbClr val="000000"/>
                </a:solidFill>
                <a:latin typeface="Arial" panose="020B0604020202020204" pitchFamily="34" charset="0"/>
              </a:rPr>
              <a:t> well, as the non-elastic vascular tree is not as susceptible to vasodilatation caused by sympathetic blockade compared to younger patients.</a:t>
            </a:r>
          </a:p>
          <a:p>
            <a:pPr algn="l"/>
            <a:r>
              <a:rPr lang="en-US" sz="1800" b="0" i="0" u="none" strike="noStrike" baseline="0" dirty="0">
                <a:latin typeface="MinionPro-Regular"/>
              </a:rPr>
              <a:t>Diastolic dysfunction prevents the ventricle from relaxing and consequently inhibits diastolic ventricular fi </a:t>
            </a:r>
            <a:r>
              <a:rPr lang="en-US" sz="1800" b="0" i="0" u="none" strike="noStrike" baseline="0" dirty="0" err="1">
                <a:latin typeface="MinionPro-Regular"/>
              </a:rPr>
              <a:t>lling</a:t>
            </a:r>
            <a:r>
              <a:rPr lang="en-US" sz="1800" b="0" i="0" u="none" strike="noStrike" baseline="0" dirty="0">
                <a:latin typeface="MinionPro-Regular"/>
              </a:rPr>
              <a:t> at relatively low pressures.</a:t>
            </a:r>
          </a:p>
          <a:p>
            <a:pPr algn="l"/>
            <a:r>
              <a:rPr lang="en-US" sz="1800" b="0" i="0" u="none" strike="noStrike" baseline="0" dirty="0">
                <a:latin typeface="MinionPro-Regular"/>
              </a:rPr>
              <a:t>Diastolic dysfunction is NOT equivalent to diastolic heart failure.</a:t>
            </a:r>
          </a:p>
          <a:p>
            <a:pPr algn="l"/>
            <a:r>
              <a:rPr lang="en-US" sz="1800" b="0" i="0" u="none" strike="noStrike" baseline="0" dirty="0">
                <a:latin typeface="MinionPro-Regular"/>
              </a:rPr>
              <a:t>Marked diastolic dysfunction may be seen with systemic hypertension, coronary artery disease, cardiomyopathies, and valvular heart disease, particularly aortic stenosis.</a:t>
            </a:r>
          </a:p>
          <a:p>
            <a:pPr algn="l"/>
            <a:r>
              <a:rPr lang="en-US" sz="1800" b="0" i="0" u="none" strike="noStrike" baseline="0" dirty="0">
                <a:latin typeface="MinionPro-Regular"/>
              </a:rPr>
              <a:t>Patients may be asymptomatic or complain of exercise intolerance, dyspnea, cough, or fatigue.</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10</a:t>
            </a:fld>
            <a:endParaRPr lang="en-US"/>
          </a:p>
        </p:txBody>
      </p:sp>
    </p:spTree>
    <p:extLst>
      <p:ext uri="{BB962C8B-B14F-4D97-AF65-F5344CB8AC3E}">
        <p14:creationId xmlns:p14="http://schemas.microsoft.com/office/powerpoint/2010/main" val="412949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12</a:t>
            </a:fld>
            <a:endParaRPr lang="en-US"/>
          </a:p>
        </p:txBody>
      </p:sp>
    </p:spTree>
    <p:extLst>
      <p:ext uri="{BB962C8B-B14F-4D97-AF65-F5344CB8AC3E}">
        <p14:creationId xmlns:p14="http://schemas.microsoft.com/office/powerpoint/2010/main" val="3510638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Google Sans"/>
              </a:rPr>
              <a:t>Closing volume is </a:t>
            </a:r>
            <a:r>
              <a:rPr lang="en-US" b="0" i="0" dirty="0">
                <a:solidFill>
                  <a:srgbClr val="040C28"/>
                </a:solidFill>
                <a:effectLst/>
                <a:latin typeface="Google Sans"/>
              </a:rPr>
              <a:t>the volume towards the end of a forced expiration</a:t>
            </a:r>
            <a:r>
              <a:rPr lang="en-US" b="0" i="0" dirty="0">
                <a:solidFill>
                  <a:srgbClr val="202124"/>
                </a:solidFill>
                <a:effectLst/>
                <a:latin typeface="Google Sans"/>
              </a:rPr>
              <a:t>, after which some airways have effectively closed and more of the expired gas comes more from the relatively poorly ventilated regions of the lung. Closing capacity is the volume of gas within the lungs at the point at which airways closure begins.</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13</a:t>
            </a:fld>
            <a:endParaRPr lang="en-US"/>
          </a:p>
        </p:txBody>
      </p:sp>
    </p:spTree>
    <p:extLst>
      <p:ext uri="{BB962C8B-B14F-4D97-AF65-F5344CB8AC3E}">
        <p14:creationId xmlns:p14="http://schemas.microsoft.com/office/powerpoint/2010/main" val="3199288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Arial" panose="020B0604020202020204" pitchFamily="34" charset="0"/>
              </a:rPr>
              <a:t>Total lung capacity (TLC), Forced Vital Capacity (FVC), Forced Expiratory Volume in 1 second (FEV</a:t>
            </a:r>
            <a:r>
              <a:rPr lang="en-US" sz="1800" b="0" i="0" u="none" strike="noStrike" baseline="30000" dirty="0">
                <a:solidFill>
                  <a:srgbClr val="000000"/>
                </a:solidFill>
                <a:latin typeface="Arial" panose="020B0604020202020204" pitchFamily="34" charset="0"/>
              </a:rPr>
              <a:t>1</a:t>
            </a:r>
            <a:r>
              <a:rPr lang="en-US" sz="1800" b="0" i="0" u="none" strike="noStrike" baseline="0" dirty="0">
                <a:solidFill>
                  <a:srgbClr val="000000"/>
                </a:solidFill>
                <a:latin typeface="Arial" panose="020B0604020202020204" pitchFamily="34" charset="0"/>
              </a:rPr>
              <a:t>) and Vital Capacity are all reduced as people age. </a:t>
            </a:r>
          </a:p>
          <a:p>
            <a:r>
              <a:rPr lang="en-US" sz="1800" b="0" i="0" u="none" strike="noStrike" baseline="0" dirty="0">
                <a:solidFill>
                  <a:srgbClr val="000000"/>
                </a:solidFill>
                <a:latin typeface="Arial" panose="020B0604020202020204" pitchFamily="34" charset="0"/>
              </a:rPr>
              <a:t>Residual Volume (RV) increases and Functional Residual Capacity (FRC) remains unchanged </a:t>
            </a:r>
          </a:p>
          <a:p>
            <a:r>
              <a:rPr lang="en-US" sz="1800" b="0" i="0" u="none" strike="noStrike" baseline="0">
                <a:solidFill>
                  <a:srgbClr val="000000"/>
                </a:solidFill>
                <a:latin typeface="Arial" panose="020B0604020202020204" pitchFamily="34" charset="0"/>
              </a:rPr>
              <a:t>These changes occur as a result of reduction in elastic support of the airways and leads to increased collapsibility of alveoli and terminal conducting airways. </a:t>
            </a:r>
            <a:endParaRPr lang="en-US"/>
          </a:p>
        </p:txBody>
      </p:sp>
      <p:sp>
        <p:nvSpPr>
          <p:cNvPr id="4" name="Slide Number Placeholder 3"/>
          <p:cNvSpPr>
            <a:spLocks noGrp="1"/>
          </p:cNvSpPr>
          <p:nvPr>
            <p:ph type="sldNum" sz="quarter" idx="5"/>
          </p:nvPr>
        </p:nvSpPr>
        <p:spPr/>
        <p:txBody>
          <a:bodyPr/>
          <a:lstStyle/>
          <a:p>
            <a:fld id="{454EF854-2BDD-4201-9567-40C0CDD0B749}" type="slidenum">
              <a:rPr lang="en-US" smtClean="0"/>
              <a:t>15</a:t>
            </a:fld>
            <a:endParaRPr lang="en-US"/>
          </a:p>
        </p:txBody>
      </p:sp>
    </p:spTree>
    <p:extLst>
      <p:ext uri="{BB962C8B-B14F-4D97-AF65-F5344CB8AC3E}">
        <p14:creationId xmlns:p14="http://schemas.microsoft.com/office/powerpoint/2010/main" val="2030208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000000"/>
                </a:solidFill>
                <a:latin typeface="Arial" panose="020B0604020202020204" pitchFamily="34" charset="0"/>
              </a:rPr>
              <a:t>Glomerular filtration rate is thought to decrease by 1% per year over the age of 20 years due to a progressive loss of renal cortical glomeruli. </a:t>
            </a:r>
          </a:p>
          <a:p>
            <a:r>
              <a:rPr lang="en-US" sz="1800" b="0" i="0" u="none" strike="noStrike" baseline="0" dirty="0">
                <a:solidFill>
                  <a:srgbClr val="000000"/>
                </a:solidFill>
                <a:latin typeface="Arial" panose="020B0604020202020204" pitchFamily="34" charset="0"/>
              </a:rPr>
              <a:t>Prostatism in males can lead to obstructive nephropathy and dehydration is common in the elderly especially during illness. </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19</a:t>
            </a:fld>
            <a:endParaRPr lang="en-US"/>
          </a:p>
        </p:txBody>
      </p:sp>
    </p:spTree>
    <p:extLst>
      <p:ext uri="{BB962C8B-B14F-4D97-AF65-F5344CB8AC3E}">
        <p14:creationId xmlns:p14="http://schemas.microsoft.com/office/powerpoint/2010/main" val="1043106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decreased capacity to handle water and electrolyte loads makes proper fluid management more critical; </a:t>
            </a:r>
          </a:p>
          <a:p>
            <a:pPr algn="l"/>
            <a:r>
              <a:rPr lang="en-US" sz="1800" b="0" i="0" u="none" strike="noStrike" baseline="0" dirty="0">
                <a:latin typeface="MinionPro-Regular"/>
              </a:rPr>
              <a:t>elderly patients are more predisposed to developing hypokalemia and hyperkalemia.</a:t>
            </a:r>
          </a:p>
          <a:p>
            <a:pPr algn="l"/>
            <a:r>
              <a:rPr lang="en-US" sz="1800" b="0" i="0" u="none" strike="noStrike" baseline="0" dirty="0">
                <a:latin typeface="MinionPro-Regular"/>
              </a:rPr>
              <a:t>This is further complicated by </a:t>
            </a:r>
            <a:r>
              <a:rPr lang="en-US" sz="1800" b="0" i="0" u="none" strike="noStrike" baseline="0">
                <a:latin typeface="MinionPro-Regular"/>
              </a:rPr>
              <a:t>the common use </a:t>
            </a:r>
            <a:r>
              <a:rPr lang="en-US" sz="1800" b="0" i="0" u="none" strike="noStrike" baseline="0" dirty="0">
                <a:latin typeface="MinionPro-Regular"/>
              </a:rPr>
              <a:t>of diuretics in the elderly population</a:t>
            </a:r>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22</a:t>
            </a:fld>
            <a:endParaRPr lang="en-US"/>
          </a:p>
        </p:txBody>
      </p:sp>
    </p:spTree>
    <p:extLst>
      <p:ext uri="{BB962C8B-B14F-4D97-AF65-F5344CB8AC3E}">
        <p14:creationId xmlns:p14="http://schemas.microsoft.com/office/powerpoint/2010/main" val="1567704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4EF854-2BDD-4201-9567-40C0CDD0B749}" type="slidenum">
              <a:rPr lang="en-US" smtClean="0"/>
              <a:t>29</a:t>
            </a:fld>
            <a:endParaRPr lang="en-US"/>
          </a:p>
        </p:txBody>
      </p:sp>
    </p:spTree>
    <p:extLst>
      <p:ext uri="{BB962C8B-B14F-4D97-AF65-F5344CB8AC3E}">
        <p14:creationId xmlns:p14="http://schemas.microsoft.com/office/powerpoint/2010/main" val="4114346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D7D26-09FF-4887-9692-4E2203C466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ECD235-F580-4CEF-83C5-D34BC416AB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C3D0DD-8893-46DE-AA27-013E534827FA}"/>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5" name="Footer Placeholder 4">
            <a:extLst>
              <a:ext uri="{FF2B5EF4-FFF2-40B4-BE49-F238E27FC236}">
                <a16:creationId xmlns:a16="http://schemas.microsoft.com/office/drawing/2014/main" id="{C1683277-9B6E-4EFE-A237-17D76EC35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3EB962-E391-4391-9108-BC043C4130DE}"/>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681191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B68C-3ACB-4556-93DC-06FFA6E62A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1E0464-8E9D-487C-A6BA-62D52993B1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A97430-B415-4777-A056-8D87CBA8F2C9}"/>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5" name="Footer Placeholder 4">
            <a:extLst>
              <a:ext uri="{FF2B5EF4-FFF2-40B4-BE49-F238E27FC236}">
                <a16:creationId xmlns:a16="http://schemas.microsoft.com/office/drawing/2014/main" id="{13B3B8BD-F2DE-4135-A61A-E0A3F9FDDD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20920-15A3-47C2-955E-9B6126A1F963}"/>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62639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E774-3F82-4AE8-AD8A-872222B8FF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9CD7A3-EB9E-44E3-97E7-DB9E97CD77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0072FB-19A0-46EB-8386-EA95511E6898}"/>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5" name="Footer Placeholder 4">
            <a:extLst>
              <a:ext uri="{FF2B5EF4-FFF2-40B4-BE49-F238E27FC236}">
                <a16:creationId xmlns:a16="http://schemas.microsoft.com/office/drawing/2014/main" id="{36E0E857-1AC0-4D82-9C35-ACE4A0EBD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1618A4-026D-4651-A199-A2344E793D0E}"/>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7986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92280-CB3B-48F0-AB32-64BB9498E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26C3E-5B54-4A34-94A2-B6566E0DF5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EB63B7-EC0D-446D-8C26-A3BEE5A08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2662C1-C110-4513-811D-C7D6E5DB4FA5}"/>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6" name="Footer Placeholder 5">
            <a:extLst>
              <a:ext uri="{FF2B5EF4-FFF2-40B4-BE49-F238E27FC236}">
                <a16:creationId xmlns:a16="http://schemas.microsoft.com/office/drawing/2014/main" id="{F9B67C8A-5F17-449A-8736-2DD61C0E15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E600B5-6EF5-4C23-A811-380571817144}"/>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4382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A949-A629-4B61-A7F6-FA5F833FF0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0F6393-76C8-41E5-BF8C-0E5E799B77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F5434-A496-4B09-BEE0-800F5DD4FD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CDA569-BF9F-494E-8CA3-F11BB7D3F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C29941-258E-4329-BB86-881B6237DE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A5E28D-D92F-45C1-A072-F01A3FA3E65D}"/>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8" name="Footer Placeholder 7">
            <a:extLst>
              <a:ext uri="{FF2B5EF4-FFF2-40B4-BE49-F238E27FC236}">
                <a16:creationId xmlns:a16="http://schemas.microsoft.com/office/drawing/2014/main" id="{6697C90D-0AC0-4AC3-9A2F-D399F096DB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B0F09F-0192-4351-A2B9-1A1F04A235C5}"/>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968607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4AC49-01A8-4CFE-B6EE-906852909C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03CCED-814B-4A7D-BC9D-02D7B37CFD86}"/>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4" name="Footer Placeholder 3">
            <a:extLst>
              <a:ext uri="{FF2B5EF4-FFF2-40B4-BE49-F238E27FC236}">
                <a16:creationId xmlns:a16="http://schemas.microsoft.com/office/drawing/2014/main" id="{0630209F-4F3D-44F7-B243-30DE9DE58F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DCF742-9515-4812-8969-70A371125AAB}"/>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3428801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067627-A080-4A5C-8CF1-9058B15DBE5E}"/>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3" name="Footer Placeholder 2">
            <a:extLst>
              <a:ext uri="{FF2B5EF4-FFF2-40B4-BE49-F238E27FC236}">
                <a16:creationId xmlns:a16="http://schemas.microsoft.com/office/drawing/2014/main" id="{C1B19CBA-5DE8-46EF-BC1D-0C8970CBB0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7D0BB1-B991-4D90-BF81-626A2E5A6030}"/>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151920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5943-CDFA-45E1-93B9-525BAE2A5D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0359EE-A854-486A-A6B0-EC1DF7D18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3A8CD8-BF64-4556-A498-26EAC2720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F07089-82EB-445E-B1E4-9B08CDC3D3D4}"/>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6" name="Footer Placeholder 5">
            <a:extLst>
              <a:ext uri="{FF2B5EF4-FFF2-40B4-BE49-F238E27FC236}">
                <a16:creationId xmlns:a16="http://schemas.microsoft.com/office/drawing/2014/main" id="{1E282C49-620A-409B-A292-2368099E7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567E2-0152-4553-8414-9DAB0C1045C9}"/>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457951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108A-2C20-4962-A85C-D19318558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029E9C-E6CD-49C9-9A91-1AA2F5D112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BF8500-7F98-4D6C-AFFC-E9F0F6F05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3FC6B5-0BCA-40CF-A0E3-9A0A743061A0}"/>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6" name="Footer Placeholder 5">
            <a:extLst>
              <a:ext uri="{FF2B5EF4-FFF2-40B4-BE49-F238E27FC236}">
                <a16:creationId xmlns:a16="http://schemas.microsoft.com/office/drawing/2014/main" id="{97E05CB2-BE42-42A5-8EA8-F25FF229CF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E7629F-3CE7-4D3A-9DE4-5C920DBDE244}"/>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3377628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7E9A-33F4-4F76-AAAB-5F8706CA5A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EC438B-0972-4503-8E63-D8E8B7F874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1A0A9-5C77-4CC5-850E-6DCB55A9D09B}"/>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5" name="Footer Placeholder 4">
            <a:extLst>
              <a:ext uri="{FF2B5EF4-FFF2-40B4-BE49-F238E27FC236}">
                <a16:creationId xmlns:a16="http://schemas.microsoft.com/office/drawing/2014/main" id="{8E3A9E1A-5F58-4AB1-8536-3D63E51A0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6735EA-F6B1-4439-9928-0F08E42CF86E}"/>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2024766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6CC95-9D49-484E-A275-C2ADCA9D40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DA0DFC-1F06-4CAE-8050-87D35ACD10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B5311-5662-4BCB-802A-D1ADCAC12222}"/>
              </a:ext>
            </a:extLst>
          </p:cNvPr>
          <p:cNvSpPr>
            <a:spLocks noGrp="1"/>
          </p:cNvSpPr>
          <p:nvPr>
            <p:ph type="dt" sz="half" idx="10"/>
          </p:nvPr>
        </p:nvSpPr>
        <p:spPr/>
        <p:txBody>
          <a:bodyPr/>
          <a:lstStyle/>
          <a:p>
            <a:fld id="{EB33D92F-5431-4829-AF8D-ABB967570F94}" type="datetimeFigureOut">
              <a:rPr lang="en-US" smtClean="0"/>
              <a:t>4/3/2023</a:t>
            </a:fld>
            <a:endParaRPr lang="en-US"/>
          </a:p>
        </p:txBody>
      </p:sp>
      <p:sp>
        <p:nvSpPr>
          <p:cNvPr id="5" name="Footer Placeholder 4">
            <a:extLst>
              <a:ext uri="{FF2B5EF4-FFF2-40B4-BE49-F238E27FC236}">
                <a16:creationId xmlns:a16="http://schemas.microsoft.com/office/drawing/2014/main" id="{776CC49E-D706-405D-9FAD-4ECFE2708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F56B7-1C51-4C3E-A1B8-464E7C46DB8B}"/>
              </a:ext>
            </a:extLst>
          </p:cNvPr>
          <p:cNvSpPr>
            <a:spLocks noGrp="1"/>
          </p:cNvSpPr>
          <p:nvPr>
            <p:ph type="sldNum" sz="quarter" idx="12"/>
          </p:nvPr>
        </p:nvSpPr>
        <p:spPr/>
        <p:txBody>
          <a:bodyPr/>
          <a:lstStyle/>
          <a:p>
            <a:fld id="{CF4D464E-2D23-4483-8673-7EDAB3BF6BB4}" type="slidenum">
              <a:rPr lang="en-US" smtClean="0"/>
              <a:t>‹#›</a:t>
            </a:fld>
            <a:endParaRPr lang="en-US"/>
          </a:p>
        </p:txBody>
      </p:sp>
    </p:spTree>
    <p:extLst>
      <p:ext uri="{BB962C8B-B14F-4D97-AF65-F5344CB8AC3E}">
        <p14:creationId xmlns:p14="http://schemas.microsoft.com/office/powerpoint/2010/main" val="489161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BA051C-96C7-4170-9DD7-EC0C9C61410F}" type="datetimeFigureOut">
              <a:rPr lang="en-US" smtClean="0"/>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1838404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BA051C-96C7-4170-9DD7-EC0C9C61410F}" type="datetimeFigureOut">
              <a:rPr lang="en-US" smtClean="0"/>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763485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BA051C-96C7-4170-9DD7-EC0C9C61410F}" type="datetimeFigureOut">
              <a:rPr lang="en-US" smtClean="0"/>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2237042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BA051C-96C7-4170-9DD7-EC0C9C61410F}" type="datetimeFigureOut">
              <a:rPr lang="en-US" smtClean="0"/>
              <a:t>4/3/2023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3377111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BA051C-96C7-4170-9DD7-EC0C9C61410F}" type="datetimeFigureOut">
              <a:rPr lang="en-US" smtClean="0"/>
              <a:t>4/3/2023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2527121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BA051C-96C7-4170-9DD7-EC0C9C61410F}" type="datetimeFigureOut">
              <a:rPr lang="en-US" smtClean="0"/>
              <a:t>4/3/2023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3138060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BA051C-96C7-4170-9DD7-EC0C9C61410F}" type="datetimeFigureOut">
              <a:rPr lang="en-US" smtClean="0"/>
              <a:t>4/3/2023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1962589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BA051C-96C7-4170-9DD7-EC0C9C61410F}" type="datetimeFigureOut">
              <a:rPr lang="en-US" smtClean="0"/>
              <a:t>4/3/2023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32449728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BA051C-96C7-4170-9DD7-EC0C9C61410F}" type="datetimeFigureOut">
              <a:rPr lang="en-US" smtClean="0"/>
              <a:t>4/3/2023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13301780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BA051C-96C7-4170-9DD7-EC0C9C61410F}" type="datetimeFigureOut">
              <a:rPr lang="en-US" smtClean="0"/>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1654856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BA051C-96C7-4170-9DD7-EC0C9C61410F}" type="datetimeFigureOut">
              <a:rPr lang="en-US" smtClean="0"/>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5DAC4-B2BA-440B-A335-BB1A5CB8BE6F}" type="slidenum">
              <a:rPr lang="en-US" smtClean="0"/>
              <a:t>‹#›</a:t>
            </a:fld>
            <a:endParaRPr lang="en-US"/>
          </a:p>
        </p:txBody>
      </p:sp>
    </p:spTree>
    <p:extLst>
      <p:ext uri="{BB962C8B-B14F-4D97-AF65-F5344CB8AC3E}">
        <p14:creationId xmlns:p14="http://schemas.microsoft.com/office/powerpoint/2010/main" val="2346487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6B948-8A53-486B-BE98-273FE52723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3F2AE7-0592-4D49-9822-BFCB097E0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E3F2AA-0295-4179-97A5-48327F64BD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33D92F-5431-4829-AF8D-ABB967570F94}" type="datetimeFigureOut">
              <a:rPr lang="en-US" smtClean="0"/>
              <a:t>4/3/2023</a:t>
            </a:fld>
            <a:endParaRPr lang="en-US"/>
          </a:p>
        </p:txBody>
      </p:sp>
      <p:sp>
        <p:nvSpPr>
          <p:cNvPr id="5" name="Footer Placeholder 4">
            <a:extLst>
              <a:ext uri="{FF2B5EF4-FFF2-40B4-BE49-F238E27FC236}">
                <a16:creationId xmlns:a16="http://schemas.microsoft.com/office/drawing/2014/main" id="{8476B356-A615-409B-BAAA-F7157CB16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437D81-A801-47C0-B93C-DB9DD89967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D464E-2D23-4483-8673-7EDAB3BF6BB4}" type="slidenum">
              <a:rPr lang="en-US" smtClean="0"/>
              <a:t>‹#›</a:t>
            </a:fld>
            <a:endParaRPr lang="en-US"/>
          </a:p>
        </p:txBody>
      </p:sp>
    </p:spTree>
    <p:extLst>
      <p:ext uri="{BB962C8B-B14F-4D97-AF65-F5344CB8AC3E}">
        <p14:creationId xmlns:p14="http://schemas.microsoft.com/office/powerpoint/2010/main" val="2315967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BA051C-96C7-4170-9DD7-EC0C9C61410F}" type="datetimeFigureOut">
              <a:rPr lang="en-US" smtClean="0"/>
              <a:t>4/3/2023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E5DAC4-B2BA-440B-A335-BB1A5CB8BE6F}" type="slidenum">
              <a:rPr lang="en-US" smtClean="0"/>
              <a:t>‹#›</a:t>
            </a:fld>
            <a:endParaRPr lang="en-US"/>
          </a:p>
        </p:txBody>
      </p:sp>
    </p:spTree>
    <p:extLst>
      <p:ext uri="{BB962C8B-B14F-4D97-AF65-F5344CB8AC3E}">
        <p14:creationId xmlns:p14="http://schemas.microsoft.com/office/powerpoint/2010/main" val="28597644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0A68-3E3C-476A-B8B9-A09303E67E4D}"/>
              </a:ext>
            </a:extLst>
          </p:cNvPr>
          <p:cNvSpPr>
            <a:spLocks noGrp="1"/>
          </p:cNvSpPr>
          <p:nvPr>
            <p:ph type="ctrTitle"/>
          </p:nvPr>
        </p:nvSpPr>
        <p:spPr>
          <a:xfrm>
            <a:off x="1524000" y="1122362"/>
            <a:ext cx="9144000" cy="2448152"/>
          </a:xfrm>
        </p:spPr>
        <p:txBody>
          <a:bodyPr>
            <a:noAutofit/>
          </a:bodyPr>
          <a:lstStyle/>
          <a:p>
            <a:pPr>
              <a:lnSpc>
                <a:spcPct val="150000"/>
              </a:lnSpc>
            </a:pP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Title: Geriatrics Anesthesia </a:t>
            </a:r>
            <a:br>
              <a:rPr lang="en-US" sz="3600" b="0" i="0" u="none" strike="noStrike" baseline="0" dirty="0">
                <a:solidFill>
                  <a:srgbClr val="000000"/>
                </a:solidFill>
                <a:latin typeface="Times New Roman" panose="02020603050405020304" pitchFamily="18" charset="0"/>
                <a:cs typeface="Times New Roman" panose="02020603050405020304" pitchFamily="18" charset="0"/>
              </a:rPr>
            </a:b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Code: </a:t>
            </a:r>
            <a:r>
              <a:rPr lang="en-US" sz="3600" b="0" i="0" u="none" strike="noStrike" baseline="0" dirty="0">
                <a:solidFill>
                  <a:srgbClr val="000000"/>
                </a:solidFill>
                <a:latin typeface="Times New Roman" panose="02020603050405020304" pitchFamily="18" charset="0"/>
                <a:cs typeface="Times New Roman" panose="02020603050405020304" pitchFamily="18" charset="0"/>
              </a:rPr>
              <a:t>AnstM-5341 </a:t>
            </a:r>
            <a:br>
              <a:rPr lang="en-US" sz="3600" b="0" i="0" u="none" strike="noStrike" baseline="0" dirty="0">
                <a:solidFill>
                  <a:srgbClr val="000000"/>
                </a:solidFill>
                <a:latin typeface="Times New Roman" panose="02020603050405020304" pitchFamily="18" charset="0"/>
                <a:cs typeface="Times New Roman" panose="02020603050405020304" pitchFamily="18" charset="0"/>
              </a:rPr>
            </a:b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ECTS: 5 ECTS </a:t>
            </a:r>
            <a:br>
              <a:rPr lang="en-US" sz="3600" b="0" i="0" u="none" strike="noStrike" baseline="0" dirty="0">
                <a:solidFill>
                  <a:srgbClr val="000000"/>
                </a:solidFill>
                <a:latin typeface="Times New Roman" panose="02020603050405020304" pitchFamily="18" charset="0"/>
                <a:cs typeface="Times New Roman" panose="02020603050405020304" pitchFamily="18" charset="0"/>
              </a:rPr>
            </a:br>
            <a:r>
              <a:rPr lang="en-US" sz="3600" b="1" i="0" u="none" strike="noStrike" baseline="0" dirty="0">
                <a:solidFill>
                  <a:srgbClr val="000000"/>
                </a:solidFill>
                <a:latin typeface="Times New Roman" panose="02020603050405020304" pitchFamily="18" charset="0"/>
                <a:cs typeface="Times New Roman" panose="02020603050405020304" pitchFamily="18" charset="0"/>
              </a:rPr>
              <a:t>Module Duration: </a:t>
            </a:r>
            <a:r>
              <a:rPr lang="en-US" sz="3600" b="0" i="0" u="none" strike="noStrike" baseline="0" dirty="0">
                <a:solidFill>
                  <a:srgbClr val="000000"/>
                </a:solidFill>
                <a:latin typeface="Times New Roman" panose="02020603050405020304" pitchFamily="18" charset="0"/>
                <a:cs typeface="Times New Roman" panose="02020603050405020304" pitchFamily="18" charset="0"/>
              </a:rPr>
              <a:t>20 Weeks </a:t>
            </a:r>
            <a:endParaRPr lang="en-US"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9FEA60D-B18A-4C86-AB9F-5563A1ABE606}"/>
              </a:ext>
            </a:extLst>
          </p:cNvPr>
          <p:cNvSpPr>
            <a:spLocks noGrp="1"/>
          </p:cNvSpPr>
          <p:nvPr>
            <p:ph type="subTitle" idx="1"/>
          </p:nvPr>
        </p:nvSpPr>
        <p:spPr>
          <a:xfrm>
            <a:off x="1683657" y="4056744"/>
            <a:ext cx="9144000" cy="1182913"/>
          </a:xfrm>
        </p:spPr>
        <p:txBody>
          <a:bodyPr/>
          <a:lstStyle/>
          <a:p>
            <a:r>
              <a:rPr lang="en-US" dirty="0"/>
              <a:t>Instructor: Mr. </a:t>
            </a:r>
            <a:r>
              <a:rPr lang="en-US" dirty="0" err="1"/>
              <a:t>Hirbo</a:t>
            </a:r>
            <a:r>
              <a:rPr lang="en-US" dirty="0"/>
              <a:t> Samuel</a:t>
            </a:r>
          </a:p>
        </p:txBody>
      </p:sp>
    </p:spTree>
    <p:extLst>
      <p:ext uri="{BB962C8B-B14F-4D97-AF65-F5344CB8AC3E}">
        <p14:creationId xmlns:p14="http://schemas.microsoft.com/office/powerpoint/2010/main" val="180113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CDD7A-D53F-D377-724B-51AC89177921}"/>
              </a:ext>
            </a:extLst>
          </p:cNvPr>
          <p:cNvSpPr>
            <a:spLocks noGrp="1"/>
          </p:cNvSpPr>
          <p:nvPr>
            <p:ph type="title"/>
          </p:nvPr>
        </p:nvSpPr>
        <p:spPr/>
        <p:txBody>
          <a:bodyPr/>
          <a:lstStyle/>
          <a:p>
            <a:r>
              <a:rPr lang="en-US" dirty="0"/>
              <a:t>  </a:t>
            </a:r>
            <a:r>
              <a:rPr lang="en-US" sz="3600" dirty="0">
                <a:latin typeface="Arial" panose="020B0604020202020204" pitchFamily="34" charset="0"/>
                <a:cs typeface="Arial" panose="020B0604020202020204" pitchFamily="34" charset="0"/>
              </a:rPr>
              <a:t>Physiological change in </a:t>
            </a:r>
            <a:r>
              <a:rPr lang="en-US" sz="3600" i="0" u="none" strike="noStrike" baseline="0" dirty="0">
                <a:solidFill>
                  <a:srgbClr val="000000"/>
                </a:solidFill>
                <a:latin typeface="Arial" panose="020B0604020202020204" pitchFamily="34" charset="0"/>
                <a:cs typeface="Arial" panose="020B0604020202020204" pitchFamily="34" charset="0"/>
              </a:rPr>
              <a:t>Geriatrics</a:t>
            </a:r>
            <a:endParaRPr lang="en-US"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800D601-B921-A9B3-7A0D-DC2382735D86}"/>
              </a:ext>
            </a:extLst>
          </p:cNvPr>
          <p:cNvSpPr>
            <a:spLocks noGrp="1"/>
          </p:cNvSpPr>
          <p:nvPr>
            <p:ph idx="1"/>
          </p:nvPr>
        </p:nvSpPr>
        <p:spPr/>
        <p:txBody>
          <a:bodyPr>
            <a:normAutofit/>
          </a:bodyPr>
          <a:lstStyle/>
          <a:p>
            <a:pPr marL="0" indent="0" algn="just">
              <a:lnSpc>
                <a:spcPct val="150000"/>
              </a:lnSpc>
              <a:buNone/>
            </a:pPr>
            <a:r>
              <a:rPr lang="en-US" sz="2400" dirty="0">
                <a:latin typeface="Arial" panose="020B0604020202020204" pitchFamily="34" charset="0"/>
                <a:cs typeface="Arial" panose="020B0604020202020204" pitchFamily="34" charset="0"/>
              </a:rPr>
              <a:t>Aging is a universal and progressive physiologic process characterized by:</a:t>
            </a:r>
          </a:p>
          <a:p>
            <a:pPr algn="just">
              <a:lnSpc>
                <a:spcPct val="15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 Declining end-organ reserve, </a:t>
            </a:r>
          </a:p>
          <a:p>
            <a:pPr algn="just">
              <a:lnSpc>
                <a:spcPct val="15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Decreased functional capacity, </a:t>
            </a:r>
          </a:p>
          <a:p>
            <a:pPr algn="just">
              <a:lnSpc>
                <a:spcPct val="15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Increasing imbalance of homeostatic mechanisms, and </a:t>
            </a:r>
          </a:p>
          <a:p>
            <a:pPr algn="just">
              <a:lnSpc>
                <a:spcPct val="15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An increasing incidence of pathologic processes.</a:t>
            </a:r>
          </a:p>
          <a:p>
            <a:endParaRPr lang="en-US" dirty="0"/>
          </a:p>
        </p:txBody>
      </p:sp>
    </p:spTree>
    <p:extLst>
      <p:ext uri="{BB962C8B-B14F-4D97-AF65-F5344CB8AC3E}">
        <p14:creationId xmlns:p14="http://schemas.microsoft.com/office/powerpoint/2010/main" val="2395858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Contiuned</a:t>
            </a:r>
            <a:r>
              <a:rPr lang="en-US" dirty="0"/>
              <a:t> </a:t>
            </a:r>
          </a:p>
        </p:txBody>
      </p:sp>
      <p:pic>
        <p:nvPicPr>
          <p:cNvPr id="614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30514" y="1614715"/>
            <a:ext cx="9826172" cy="4728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6646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821DB2-BEDB-3F6F-074E-E613E4CCAF18}"/>
              </a:ext>
            </a:extLst>
          </p:cNvPr>
          <p:cNvSpPr>
            <a:spLocks noGrp="1"/>
          </p:cNvSpPr>
          <p:nvPr>
            <p:ph type="title"/>
          </p:nvPr>
        </p:nvSpPr>
        <p:spPr/>
        <p:txBody>
          <a:bodyPr>
            <a:normAutofit/>
          </a:bodyPr>
          <a:lstStyle/>
          <a:p>
            <a:r>
              <a:rPr lang="en-US" sz="2800" b="1" i="0" u="none" strike="noStrike" baseline="0" dirty="0">
                <a:latin typeface="Arial" panose="020B0604020202020204" pitchFamily="34" charset="0"/>
                <a:cs typeface="Arial" panose="020B0604020202020204" pitchFamily="34" charset="0"/>
              </a:rPr>
              <a:t>Age-related physiological changes and common diseases of the elderly.</a:t>
            </a:r>
            <a:endParaRPr lang="en-US" sz="2800"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37110293-722A-D9CD-0526-7919BA1C7B50}"/>
              </a:ext>
            </a:extLst>
          </p:cNvPr>
          <p:cNvSpPr>
            <a:spLocks noGrp="1"/>
          </p:cNvSpPr>
          <p:nvPr>
            <p:ph type="body" idx="1"/>
          </p:nvPr>
        </p:nvSpPr>
        <p:spPr>
          <a:xfrm>
            <a:off x="609600" y="1535113"/>
            <a:ext cx="5386917" cy="639762"/>
          </a:xfrm>
        </p:spPr>
        <p:txBody>
          <a:bodyPr>
            <a:normAutofit/>
          </a:bodyPr>
          <a:lstStyle/>
          <a:p>
            <a:pPr algn="l"/>
            <a:r>
              <a:rPr lang="en-US" sz="1800" b="1" i="0" u="none" strike="noStrike" baseline="0" dirty="0">
                <a:latin typeface="Arial" panose="020B0604020202020204" pitchFamily="34" charset="0"/>
                <a:cs typeface="Arial" panose="020B0604020202020204" pitchFamily="34" charset="0"/>
              </a:rPr>
              <a:t>Normal Physiological Changes</a:t>
            </a:r>
            <a:endParaRPr lang="en-US"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59F6483D-AEF2-F48F-34CC-1B2EFB4EEE9C}"/>
              </a:ext>
            </a:extLst>
          </p:cNvPr>
          <p:cNvSpPr>
            <a:spLocks noGrp="1"/>
          </p:cNvSpPr>
          <p:nvPr>
            <p:ph sz="half" idx="2"/>
          </p:nvPr>
        </p:nvSpPr>
        <p:spPr/>
        <p:txBody>
          <a:bodyPr>
            <a:normAutofit/>
          </a:bodyPr>
          <a:lstStyle/>
          <a:p>
            <a:pPr marL="0" indent="0" algn="l">
              <a:buNone/>
            </a:pPr>
            <a:r>
              <a:rPr lang="en-US" sz="2000" b="1" i="0" u="none" strike="noStrike" baseline="0" dirty="0">
                <a:latin typeface="Arial" panose="020B0604020202020204" pitchFamily="34" charset="0"/>
                <a:cs typeface="Arial" panose="020B0604020202020204" pitchFamily="34" charset="0"/>
              </a:rPr>
              <a:t>Cardiovascular</a:t>
            </a:r>
          </a:p>
          <a:p>
            <a:pPr algn="l"/>
            <a:r>
              <a:rPr lang="en-US" sz="2000" b="0" i="0" u="none" strike="noStrike" baseline="0" dirty="0">
                <a:latin typeface="Arial" panose="020B0604020202020204" pitchFamily="34" charset="0"/>
                <a:cs typeface="Arial" panose="020B0604020202020204" pitchFamily="34" charset="0"/>
              </a:rPr>
              <a:t>Decreased arterial elasticity</a:t>
            </a:r>
          </a:p>
          <a:p>
            <a:pPr algn="l"/>
            <a:r>
              <a:rPr lang="en-US" sz="2000" b="0" i="0" u="none" strike="noStrike" baseline="0" dirty="0">
                <a:latin typeface="Arial" panose="020B0604020202020204" pitchFamily="34" charset="0"/>
                <a:cs typeface="Arial" panose="020B0604020202020204" pitchFamily="34" charset="0"/>
              </a:rPr>
              <a:t>Elevated afterload</a:t>
            </a:r>
          </a:p>
          <a:p>
            <a:pPr algn="l"/>
            <a:r>
              <a:rPr lang="en-US" sz="2000" b="0" i="0" u="none" strike="noStrike" baseline="0" dirty="0">
                <a:latin typeface="Arial" panose="020B0604020202020204" pitchFamily="34" charset="0"/>
                <a:cs typeface="Arial" panose="020B0604020202020204" pitchFamily="34" charset="0"/>
              </a:rPr>
              <a:t>Elevated systolic blood pressure</a:t>
            </a:r>
          </a:p>
          <a:p>
            <a:pPr algn="l"/>
            <a:r>
              <a:rPr lang="en-US" sz="2000" b="0" i="0" u="none" strike="noStrike" baseline="0" dirty="0">
                <a:latin typeface="Arial" panose="020B0604020202020204" pitchFamily="34" charset="0"/>
                <a:cs typeface="Arial" panose="020B0604020202020204" pitchFamily="34" charset="0"/>
              </a:rPr>
              <a:t>Left ventricular hypertrophy</a:t>
            </a:r>
          </a:p>
          <a:p>
            <a:pPr algn="l"/>
            <a:r>
              <a:rPr lang="en-US" sz="2000" b="0" i="0" u="none" strike="noStrike" baseline="0" dirty="0">
                <a:latin typeface="Arial" panose="020B0604020202020204" pitchFamily="34" charset="0"/>
                <a:cs typeface="Arial" panose="020B0604020202020204" pitchFamily="34" charset="0"/>
              </a:rPr>
              <a:t>Decreased adrenergic activity</a:t>
            </a:r>
          </a:p>
          <a:p>
            <a:pPr algn="l"/>
            <a:r>
              <a:rPr lang="en-US" sz="2000" b="0" i="0" u="none" strike="noStrike" baseline="0" dirty="0">
                <a:latin typeface="Arial" panose="020B0604020202020204" pitchFamily="34" charset="0"/>
                <a:cs typeface="Arial" panose="020B0604020202020204" pitchFamily="34" charset="0"/>
              </a:rPr>
              <a:t>Decreased resting heart rate</a:t>
            </a:r>
          </a:p>
          <a:p>
            <a:pPr algn="l"/>
            <a:r>
              <a:rPr lang="en-US" sz="2000" b="0" i="0" u="none" strike="noStrike" baseline="0" dirty="0">
                <a:latin typeface="Arial" panose="020B0604020202020204" pitchFamily="34" charset="0"/>
                <a:cs typeface="Arial" panose="020B0604020202020204" pitchFamily="34" charset="0"/>
              </a:rPr>
              <a:t>Decreased maximal heart rate</a:t>
            </a:r>
          </a:p>
          <a:p>
            <a:pPr algn="l"/>
            <a:r>
              <a:rPr lang="en-US" sz="2000" b="0" i="0" u="none" strike="noStrike" baseline="0" dirty="0">
                <a:latin typeface="Arial" panose="020B0604020202020204" pitchFamily="34" charset="0"/>
                <a:cs typeface="Arial" panose="020B0604020202020204" pitchFamily="34" charset="0"/>
              </a:rPr>
              <a:t>Decreased baroreceptor reflex</a:t>
            </a:r>
            <a:endParaRPr lang="en-US" sz="2000"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F710735B-73CF-A671-AEF2-AC803FE3BA82}"/>
              </a:ext>
            </a:extLst>
          </p:cNvPr>
          <p:cNvSpPr>
            <a:spLocks noGrp="1"/>
          </p:cNvSpPr>
          <p:nvPr>
            <p:ph type="body" sz="quarter" idx="3"/>
          </p:nvPr>
        </p:nvSpPr>
        <p:spPr/>
        <p:txBody>
          <a:bodyPr>
            <a:normAutofit/>
          </a:bodyPr>
          <a:lstStyle/>
          <a:p>
            <a:pPr algn="l"/>
            <a:r>
              <a:rPr lang="en-US" sz="1800" b="1" i="0" u="none" strike="noStrike" baseline="0" dirty="0">
                <a:latin typeface="Arial" panose="020B0604020202020204" pitchFamily="34" charset="0"/>
                <a:cs typeface="Arial" panose="020B0604020202020204" pitchFamily="34" charset="0"/>
              </a:rPr>
              <a:t>Common Pathophysiology</a:t>
            </a:r>
            <a:endParaRPr lang="en-US" dirty="0">
              <a:latin typeface="Arial" panose="020B0604020202020204" pitchFamily="34" charset="0"/>
              <a:cs typeface="Arial" panose="020B0604020202020204" pitchFamily="34" charset="0"/>
            </a:endParaRPr>
          </a:p>
        </p:txBody>
      </p:sp>
      <p:sp>
        <p:nvSpPr>
          <p:cNvPr id="11" name="Content Placeholder 10">
            <a:extLst>
              <a:ext uri="{FF2B5EF4-FFF2-40B4-BE49-F238E27FC236}">
                <a16:creationId xmlns:a16="http://schemas.microsoft.com/office/drawing/2014/main" id="{F216E066-2573-3E38-2C4B-FEF9ACD53386}"/>
              </a:ext>
            </a:extLst>
          </p:cNvPr>
          <p:cNvSpPr>
            <a:spLocks noGrp="1"/>
          </p:cNvSpPr>
          <p:nvPr>
            <p:ph sz="quarter" idx="4"/>
          </p:nvPr>
        </p:nvSpPr>
        <p:spPr/>
        <p:txBody>
          <a:bodyPr>
            <a:normAutofit/>
          </a:bodyPr>
          <a:lstStyle/>
          <a:p>
            <a:pPr algn="l"/>
            <a:r>
              <a:rPr lang="en-US" sz="2000" b="0" i="0" u="none" strike="noStrike" baseline="0" dirty="0">
                <a:latin typeface="MyriadPro-Regular"/>
              </a:rPr>
              <a:t>Atherosclerosis</a:t>
            </a:r>
          </a:p>
          <a:p>
            <a:pPr algn="l"/>
            <a:r>
              <a:rPr lang="en-US" sz="2000" b="0" i="0" u="none" strike="noStrike" baseline="0" dirty="0">
                <a:latin typeface="Arial" panose="020B0604020202020204" pitchFamily="34" charset="0"/>
                <a:cs typeface="Arial" panose="020B0604020202020204" pitchFamily="34" charset="0"/>
              </a:rPr>
              <a:t>Coronary</a:t>
            </a:r>
            <a:r>
              <a:rPr lang="en-US" sz="2000" b="0" i="0" u="none" strike="noStrike" baseline="0" dirty="0">
                <a:latin typeface="MyriadPro-Regular"/>
              </a:rPr>
              <a:t> artery disease</a:t>
            </a:r>
          </a:p>
          <a:p>
            <a:pPr algn="l"/>
            <a:r>
              <a:rPr lang="en-US" sz="2000" b="0" i="0" u="none" strike="noStrike" baseline="0" dirty="0">
                <a:latin typeface="MyriadPro-Regular"/>
              </a:rPr>
              <a:t>Essential hypertension</a:t>
            </a:r>
          </a:p>
          <a:p>
            <a:pPr algn="l"/>
            <a:r>
              <a:rPr lang="en-US" sz="2000" b="0" i="0" u="none" strike="noStrike" baseline="0" dirty="0">
                <a:latin typeface="MyriadPro-Regular"/>
              </a:rPr>
              <a:t>Congestive heart failure</a:t>
            </a:r>
          </a:p>
          <a:p>
            <a:pPr algn="l"/>
            <a:r>
              <a:rPr lang="en-US" sz="2000" b="0" i="0" u="none" strike="noStrike" baseline="0" dirty="0">
                <a:latin typeface="MyriadPro-Regular"/>
              </a:rPr>
              <a:t>Cardiac arrhythmias</a:t>
            </a:r>
          </a:p>
          <a:p>
            <a:pPr algn="l"/>
            <a:r>
              <a:rPr lang="en-US" sz="2000" b="0" i="0" u="none" strike="noStrike" baseline="0" dirty="0">
                <a:latin typeface="MyriadPro-Regular"/>
              </a:rPr>
              <a:t>Aortic stenosis</a:t>
            </a:r>
            <a:endParaRPr lang="en-US" sz="2000" dirty="0"/>
          </a:p>
        </p:txBody>
      </p:sp>
    </p:spTree>
    <p:extLst>
      <p:ext uri="{BB962C8B-B14F-4D97-AF65-F5344CB8AC3E}">
        <p14:creationId xmlns:p14="http://schemas.microsoft.com/office/powerpoint/2010/main" val="200576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821DB2-BEDB-3F6F-074E-E613E4CCAF18}"/>
              </a:ext>
            </a:extLst>
          </p:cNvPr>
          <p:cNvSpPr>
            <a:spLocks noGrp="1"/>
          </p:cNvSpPr>
          <p:nvPr>
            <p:ph type="title"/>
          </p:nvPr>
        </p:nvSpPr>
        <p:spPr>
          <a:xfrm>
            <a:off x="609600" y="260124"/>
            <a:ext cx="10972800" cy="1143000"/>
          </a:xfrm>
        </p:spPr>
        <p:txBody>
          <a:bodyPr>
            <a:normAutofit/>
          </a:bodyPr>
          <a:lstStyle/>
          <a:p>
            <a:r>
              <a:rPr lang="en-US" sz="2800" b="1" i="0" u="none" strike="noStrike" baseline="0" dirty="0">
                <a:latin typeface="Arial" panose="020B0604020202020204" pitchFamily="34" charset="0"/>
                <a:cs typeface="Arial" panose="020B0604020202020204" pitchFamily="34" charset="0"/>
              </a:rPr>
              <a:t>Age-related physiological changes and common diseases of the elderly.</a:t>
            </a:r>
            <a:endParaRPr lang="en-US" sz="2800"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37110293-722A-D9CD-0526-7919BA1C7B50}"/>
              </a:ext>
            </a:extLst>
          </p:cNvPr>
          <p:cNvSpPr>
            <a:spLocks noGrp="1"/>
          </p:cNvSpPr>
          <p:nvPr>
            <p:ph type="body" idx="1"/>
          </p:nvPr>
        </p:nvSpPr>
        <p:spPr>
          <a:xfrm>
            <a:off x="609600" y="1417639"/>
            <a:ext cx="5386917" cy="639762"/>
          </a:xfrm>
        </p:spPr>
        <p:txBody>
          <a:bodyPr>
            <a:normAutofit/>
          </a:bodyPr>
          <a:lstStyle/>
          <a:p>
            <a:pPr algn="l"/>
            <a:r>
              <a:rPr lang="en-US" sz="1800" b="1" i="0" u="none" strike="noStrike" baseline="0" dirty="0">
                <a:latin typeface="MyriadPro-Bold"/>
              </a:rPr>
              <a:t>Normal Physiological Changes</a:t>
            </a:r>
            <a:endParaRPr lang="en-US" dirty="0"/>
          </a:p>
        </p:txBody>
      </p:sp>
      <p:sp>
        <p:nvSpPr>
          <p:cNvPr id="9" name="Content Placeholder 8">
            <a:extLst>
              <a:ext uri="{FF2B5EF4-FFF2-40B4-BE49-F238E27FC236}">
                <a16:creationId xmlns:a16="http://schemas.microsoft.com/office/drawing/2014/main" id="{59F6483D-AEF2-F48F-34CC-1B2EFB4EEE9C}"/>
              </a:ext>
            </a:extLst>
          </p:cNvPr>
          <p:cNvSpPr>
            <a:spLocks noGrp="1"/>
          </p:cNvSpPr>
          <p:nvPr>
            <p:ph sz="half" idx="2"/>
          </p:nvPr>
        </p:nvSpPr>
        <p:spPr>
          <a:xfrm>
            <a:off x="609600" y="2174874"/>
            <a:ext cx="5386917" cy="4683125"/>
          </a:xfrm>
        </p:spPr>
        <p:txBody>
          <a:bodyPr>
            <a:noAutofit/>
          </a:bodyPr>
          <a:lstStyle/>
          <a:p>
            <a:pPr marL="0" indent="0" algn="l">
              <a:buNone/>
            </a:pPr>
            <a:r>
              <a:rPr lang="en-US" sz="2000" b="1" i="0" u="none" strike="noStrike" baseline="0" dirty="0">
                <a:latin typeface="Arial" panose="020B0604020202020204" pitchFamily="34" charset="0"/>
                <a:cs typeface="Arial" panose="020B0604020202020204" pitchFamily="34" charset="0"/>
              </a:rPr>
              <a:t>Respiratory</a:t>
            </a:r>
          </a:p>
          <a:p>
            <a:pPr algn="l"/>
            <a:r>
              <a:rPr lang="en-US" sz="2000" b="0" i="0" u="none" strike="noStrike" baseline="0" dirty="0">
                <a:latin typeface="Arial" panose="020B0604020202020204" pitchFamily="34" charset="0"/>
                <a:cs typeface="Arial" panose="020B0604020202020204" pitchFamily="34" charset="0"/>
              </a:rPr>
              <a:t>Decreased pulmonary elasticity</a:t>
            </a:r>
          </a:p>
          <a:p>
            <a:pPr algn="l"/>
            <a:r>
              <a:rPr lang="en-US" sz="2000" b="0" i="0" u="none" strike="noStrike" baseline="0" dirty="0">
                <a:latin typeface="Arial" panose="020B0604020202020204" pitchFamily="34" charset="0"/>
                <a:cs typeface="Arial" panose="020B0604020202020204" pitchFamily="34" charset="0"/>
              </a:rPr>
              <a:t>Decreased alveolar surface area</a:t>
            </a:r>
          </a:p>
          <a:p>
            <a:pPr algn="l"/>
            <a:r>
              <a:rPr lang="en-US" sz="2000" b="0" i="0" u="none" strike="noStrike" baseline="0" dirty="0">
                <a:latin typeface="Arial" panose="020B0604020202020204" pitchFamily="34" charset="0"/>
                <a:cs typeface="Arial" panose="020B0604020202020204" pitchFamily="34" charset="0"/>
              </a:rPr>
              <a:t>Increased residual volume</a:t>
            </a:r>
          </a:p>
          <a:p>
            <a:pPr algn="l"/>
            <a:r>
              <a:rPr lang="en-US" sz="2000" b="0" i="0" u="none" strike="noStrike" baseline="0" dirty="0">
                <a:latin typeface="Arial" panose="020B0604020202020204" pitchFamily="34" charset="0"/>
                <a:cs typeface="Arial" panose="020B0604020202020204" pitchFamily="34" charset="0"/>
              </a:rPr>
              <a:t>Increased closing capacity</a:t>
            </a:r>
          </a:p>
          <a:p>
            <a:pPr algn="l"/>
            <a:r>
              <a:rPr lang="en-US" sz="2000" b="0" i="0" u="none" strike="noStrike" baseline="0" dirty="0">
                <a:latin typeface="Arial" panose="020B0604020202020204" pitchFamily="34" charset="0"/>
                <a:cs typeface="Arial" panose="020B0604020202020204" pitchFamily="34" charset="0"/>
              </a:rPr>
              <a:t>Ventilation/perfusion mismatching</a:t>
            </a:r>
          </a:p>
          <a:p>
            <a:pPr algn="l"/>
            <a:r>
              <a:rPr lang="en-US" sz="2000" b="0" i="0" u="none" strike="noStrike" baseline="0" dirty="0">
                <a:latin typeface="Arial" panose="020B0604020202020204" pitchFamily="34" charset="0"/>
                <a:cs typeface="Arial" panose="020B0604020202020204" pitchFamily="34" charset="0"/>
              </a:rPr>
              <a:t>Decreased arterial oxygen tension</a:t>
            </a:r>
          </a:p>
          <a:p>
            <a:pPr algn="l"/>
            <a:r>
              <a:rPr lang="en-US" sz="2000" b="0" i="0" u="none" strike="noStrike" baseline="0" dirty="0">
                <a:latin typeface="Arial" panose="020B0604020202020204" pitchFamily="34" charset="0"/>
                <a:cs typeface="Arial" panose="020B0604020202020204" pitchFamily="34" charset="0"/>
              </a:rPr>
              <a:t>Increased chest wall rigidity</a:t>
            </a:r>
          </a:p>
          <a:p>
            <a:pPr algn="l"/>
            <a:r>
              <a:rPr lang="en-US" sz="2000" b="0" i="0" u="none" strike="noStrike" baseline="0" dirty="0">
                <a:latin typeface="Arial" panose="020B0604020202020204" pitchFamily="34" charset="0"/>
                <a:cs typeface="Arial" panose="020B0604020202020204" pitchFamily="34" charset="0"/>
              </a:rPr>
              <a:t>Decreased muscle strength</a:t>
            </a:r>
          </a:p>
          <a:p>
            <a:pPr algn="l"/>
            <a:r>
              <a:rPr lang="en-US" sz="2000" b="0" i="0" u="none" strike="noStrike" baseline="0" dirty="0">
                <a:latin typeface="Arial" panose="020B0604020202020204" pitchFamily="34" charset="0"/>
                <a:cs typeface="Arial" panose="020B0604020202020204" pitchFamily="34" charset="0"/>
              </a:rPr>
              <a:t>Decreased cough</a:t>
            </a:r>
          </a:p>
          <a:p>
            <a:pPr algn="l"/>
            <a:r>
              <a:rPr lang="en-US" sz="2000" b="0" i="0" u="none" strike="noStrike" baseline="0" dirty="0">
                <a:latin typeface="Arial" panose="020B0604020202020204" pitchFamily="34" charset="0"/>
                <a:cs typeface="Arial" panose="020B0604020202020204" pitchFamily="34" charset="0"/>
              </a:rPr>
              <a:t>Decreased maximal breathing capacity</a:t>
            </a:r>
          </a:p>
          <a:p>
            <a:pPr algn="l"/>
            <a:r>
              <a:rPr lang="en-US" sz="2000" b="0" i="0" u="none" strike="noStrike" baseline="0" dirty="0">
                <a:latin typeface="Arial" panose="020B0604020202020204" pitchFamily="34" charset="0"/>
                <a:cs typeface="Arial" panose="020B0604020202020204" pitchFamily="34" charset="0"/>
              </a:rPr>
              <a:t>Blunted response to hypercapnia and hypoxia</a:t>
            </a:r>
            <a:endParaRPr lang="en-US" sz="2000"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F710735B-73CF-A671-AEF2-AC803FE3BA82}"/>
              </a:ext>
            </a:extLst>
          </p:cNvPr>
          <p:cNvSpPr>
            <a:spLocks noGrp="1"/>
          </p:cNvSpPr>
          <p:nvPr>
            <p:ph type="body" sz="quarter" idx="3"/>
          </p:nvPr>
        </p:nvSpPr>
        <p:spPr>
          <a:xfrm>
            <a:off x="6193368" y="1535113"/>
            <a:ext cx="5389033" cy="522288"/>
          </a:xfrm>
        </p:spPr>
        <p:txBody>
          <a:bodyPr>
            <a:normAutofit/>
          </a:bodyPr>
          <a:lstStyle/>
          <a:p>
            <a:pPr algn="l"/>
            <a:r>
              <a:rPr lang="en-US" sz="1800" b="1" i="0" u="none" strike="noStrike" baseline="0" dirty="0">
                <a:latin typeface="MyriadPro-Bold"/>
              </a:rPr>
              <a:t>Common Path</a:t>
            </a:r>
            <a:r>
              <a:rPr lang="en-US" sz="1800" b="1" i="0" u="none" strike="noStrike" baseline="0" dirty="0">
                <a:latin typeface="Arial" panose="020B0604020202020204" pitchFamily="34" charset="0"/>
                <a:cs typeface="Arial" panose="020B0604020202020204" pitchFamily="34" charset="0"/>
              </a:rPr>
              <a:t>o</a:t>
            </a:r>
            <a:r>
              <a:rPr lang="en-US" sz="1800" b="1" i="0" u="none" strike="noStrike" baseline="0" dirty="0">
                <a:latin typeface="MyriadPro-Bold"/>
              </a:rPr>
              <a:t>physiology</a:t>
            </a:r>
            <a:endParaRPr lang="en-US" dirty="0"/>
          </a:p>
        </p:txBody>
      </p:sp>
      <p:sp>
        <p:nvSpPr>
          <p:cNvPr id="11" name="Content Placeholder 10">
            <a:extLst>
              <a:ext uri="{FF2B5EF4-FFF2-40B4-BE49-F238E27FC236}">
                <a16:creationId xmlns:a16="http://schemas.microsoft.com/office/drawing/2014/main" id="{F216E066-2573-3E38-2C4B-FEF9ACD53386}"/>
              </a:ext>
            </a:extLst>
          </p:cNvPr>
          <p:cNvSpPr>
            <a:spLocks noGrp="1"/>
          </p:cNvSpPr>
          <p:nvPr>
            <p:ph sz="quarter" idx="4"/>
          </p:nvPr>
        </p:nvSpPr>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Emphysema</a:t>
            </a:r>
          </a:p>
          <a:p>
            <a:pPr algn="l"/>
            <a:r>
              <a:rPr lang="en-US" sz="2000" b="0" i="0" u="none" strike="noStrike" baseline="0" dirty="0">
                <a:latin typeface="Arial" panose="020B0604020202020204" pitchFamily="34" charset="0"/>
                <a:cs typeface="Arial" panose="020B0604020202020204" pitchFamily="34" charset="0"/>
              </a:rPr>
              <a:t>Chronic bronchitis</a:t>
            </a:r>
          </a:p>
          <a:p>
            <a:pPr algn="l"/>
            <a:r>
              <a:rPr lang="en-US" sz="2000" b="0" i="0" u="none" strike="noStrike" baseline="0" dirty="0">
                <a:latin typeface="Arial" panose="020B0604020202020204" pitchFamily="34" charset="0"/>
                <a:cs typeface="Arial" panose="020B0604020202020204" pitchFamily="34" charset="0"/>
              </a:rPr>
              <a:t>Pneumonia</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22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821DB2-BEDB-3F6F-074E-E613E4CCAF18}"/>
              </a:ext>
            </a:extLst>
          </p:cNvPr>
          <p:cNvSpPr>
            <a:spLocks noGrp="1"/>
          </p:cNvSpPr>
          <p:nvPr>
            <p:ph type="title"/>
          </p:nvPr>
        </p:nvSpPr>
        <p:spPr/>
        <p:txBody>
          <a:bodyPr>
            <a:normAutofit/>
          </a:bodyPr>
          <a:lstStyle/>
          <a:p>
            <a:r>
              <a:rPr lang="en-US" sz="2800" b="1" i="0" u="none" strike="noStrike" baseline="0" dirty="0">
                <a:latin typeface="Arial" panose="020B0604020202020204" pitchFamily="34" charset="0"/>
                <a:cs typeface="Arial" panose="020B0604020202020204" pitchFamily="34" charset="0"/>
              </a:rPr>
              <a:t>Age-related physiological changes and common diseases of the elderly.</a:t>
            </a:r>
            <a:endParaRPr lang="en-US" sz="2800"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37110293-722A-D9CD-0526-7919BA1C7B50}"/>
              </a:ext>
            </a:extLst>
          </p:cNvPr>
          <p:cNvSpPr>
            <a:spLocks noGrp="1"/>
          </p:cNvSpPr>
          <p:nvPr>
            <p:ph type="body" idx="1"/>
          </p:nvPr>
        </p:nvSpPr>
        <p:spPr>
          <a:xfrm>
            <a:off x="839788" y="1681163"/>
            <a:ext cx="5157787" cy="525008"/>
          </a:xfrm>
        </p:spPr>
        <p:txBody>
          <a:bodyPr>
            <a:normAutofit/>
          </a:bodyPr>
          <a:lstStyle/>
          <a:p>
            <a:pPr algn="l"/>
            <a:r>
              <a:rPr lang="en-US" sz="1800" b="1" i="0" u="none" strike="noStrike" baseline="0" dirty="0">
                <a:latin typeface="Arial" panose="020B0604020202020204" pitchFamily="34" charset="0"/>
                <a:cs typeface="Arial" panose="020B0604020202020204" pitchFamily="34" charset="0"/>
              </a:rPr>
              <a:t>Normal Physiological Changes</a:t>
            </a:r>
            <a:endParaRPr lang="en-US"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59F6483D-AEF2-F48F-34CC-1B2EFB4EEE9C}"/>
              </a:ext>
            </a:extLst>
          </p:cNvPr>
          <p:cNvSpPr>
            <a:spLocks noGrp="1"/>
          </p:cNvSpPr>
          <p:nvPr>
            <p:ph sz="half" idx="2"/>
          </p:nvPr>
        </p:nvSpPr>
        <p:spPr>
          <a:xfrm>
            <a:off x="839788" y="2336800"/>
            <a:ext cx="5157787" cy="4156075"/>
          </a:xfrm>
        </p:spPr>
        <p:txBody>
          <a:bodyPr>
            <a:normAutofit fontScale="92500" lnSpcReduction="20000"/>
          </a:bodyPr>
          <a:lstStyle/>
          <a:p>
            <a:pPr marL="0" indent="0" algn="l">
              <a:buNone/>
            </a:pPr>
            <a:r>
              <a:rPr lang="en-US" sz="1800" b="1" i="0" u="none" strike="noStrike" baseline="0" dirty="0">
                <a:latin typeface="Arial" panose="020B0604020202020204" pitchFamily="34" charset="0"/>
                <a:cs typeface="Arial" panose="020B0604020202020204" pitchFamily="34" charset="0"/>
              </a:rPr>
              <a:t>Renal</a:t>
            </a:r>
          </a:p>
          <a:p>
            <a:pPr algn="l"/>
            <a:r>
              <a:rPr lang="en-US" sz="1800" b="0" i="0" u="none" strike="noStrike" baseline="0" dirty="0">
                <a:latin typeface="Arial" panose="020B0604020202020204" pitchFamily="34" charset="0"/>
                <a:cs typeface="Arial" panose="020B0604020202020204" pitchFamily="34" charset="0"/>
              </a:rPr>
              <a:t>Decreased renal blood flow</a:t>
            </a:r>
          </a:p>
          <a:p>
            <a:pPr algn="l"/>
            <a:r>
              <a:rPr lang="en-US" sz="1800" b="0" i="0" u="none" strike="noStrike" baseline="0" dirty="0">
                <a:latin typeface="Arial" panose="020B0604020202020204" pitchFamily="34" charset="0"/>
                <a:cs typeface="Arial" panose="020B0604020202020204" pitchFamily="34" charset="0"/>
              </a:rPr>
              <a:t>Decreased renal plasma flow</a:t>
            </a:r>
          </a:p>
          <a:p>
            <a:pPr algn="l"/>
            <a:r>
              <a:rPr lang="en-US" sz="1800" b="0" i="0" u="none" strike="noStrike" baseline="0" dirty="0">
                <a:latin typeface="Arial" panose="020B0604020202020204" pitchFamily="34" charset="0"/>
                <a:cs typeface="Arial" panose="020B0604020202020204" pitchFamily="34" charset="0"/>
              </a:rPr>
              <a:t>Decreased glomerular filtration rate</a:t>
            </a:r>
          </a:p>
          <a:p>
            <a:pPr algn="l"/>
            <a:r>
              <a:rPr lang="en-US" sz="1800" b="0" i="0" u="none" strike="noStrike" baseline="0" dirty="0">
                <a:latin typeface="Arial" panose="020B0604020202020204" pitchFamily="34" charset="0"/>
                <a:cs typeface="Arial" panose="020B0604020202020204" pitchFamily="34" charset="0"/>
              </a:rPr>
              <a:t>Decreased renal mass</a:t>
            </a:r>
          </a:p>
          <a:p>
            <a:pPr algn="l"/>
            <a:r>
              <a:rPr lang="en-US" sz="1800" b="0" i="0" u="none" strike="noStrike" baseline="0" dirty="0">
                <a:latin typeface="Arial" panose="020B0604020202020204" pitchFamily="34" charset="0"/>
                <a:cs typeface="Arial" panose="020B0604020202020204" pitchFamily="34" charset="0"/>
              </a:rPr>
              <a:t>Decreased tubular function</a:t>
            </a:r>
          </a:p>
          <a:p>
            <a:pPr algn="l"/>
            <a:r>
              <a:rPr lang="en-US" sz="1800" b="0" i="0" u="none" strike="noStrike" baseline="0" dirty="0">
                <a:latin typeface="Arial" panose="020B0604020202020204" pitchFamily="34" charset="0"/>
                <a:cs typeface="Arial" panose="020B0604020202020204" pitchFamily="34" charset="0"/>
              </a:rPr>
              <a:t>Impaired sodium handling</a:t>
            </a:r>
          </a:p>
          <a:p>
            <a:pPr algn="l"/>
            <a:r>
              <a:rPr lang="en-US" sz="1800" b="0" i="0" u="none" strike="noStrike" baseline="0" dirty="0">
                <a:latin typeface="Arial" panose="020B0604020202020204" pitchFamily="34" charset="0"/>
                <a:cs typeface="Arial" panose="020B0604020202020204" pitchFamily="34" charset="0"/>
              </a:rPr>
              <a:t>Decreased concentrating  ability</a:t>
            </a:r>
          </a:p>
          <a:p>
            <a:pPr algn="l"/>
            <a:r>
              <a:rPr lang="en-US" sz="1800" b="0" i="0" u="none" strike="noStrike" baseline="0" dirty="0">
                <a:latin typeface="Arial" panose="020B0604020202020204" pitchFamily="34" charset="0"/>
                <a:cs typeface="Arial" panose="020B0604020202020204" pitchFamily="34" charset="0"/>
              </a:rPr>
              <a:t>Decreased diluting capacity</a:t>
            </a:r>
          </a:p>
          <a:p>
            <a:pPr algn="l"/>
            <a:r>
              <a:rPr lang="en-US" sz="1800" b="0" i="0" u="none" strike="noStrike" baseline="0" dirty="0">
                <a:latin typeface="Arial" panose="020B0604020202020204" pitchFamily="34" charset="0"/>
                <a:cs typeface="Arial" panose="020B0604020202020204" pitchFamily="34" charset="0"/>
              </a:rPr>
              <a:t>Impaired fluid handling</a:t>
            </a:r>
          </a:p>
          <a:p>
            <a:pPr algn="l"/>
            <a:r>
              <a:rPr lang="en-US" sz="1800" b="0" i="0" u="none" strike="noStrike" baseline="0" dirty="0">
                <a:latin typeface="Arial" panose="020B0604020202020204" pitchFamily="34" charset="0"/>
                <a:cs typeface="Arial" panose="020B0604020202020204" pitchFamily="34" charset="0"/>
              </a:rPr>
              <a:t>Decreased drug excretion</a:t>
            </a:r>
          </a:p>
          <a:p>
            <a:pPr algn="l"/>
            <a:r>
              <a:rPr lang="en-US" sz="1800" b="0" i="0" u="none" strike="noStrike" baseline="0" dirty="0">
                <a:latin typeface="Arial" panose="020B0604020202020204" pitchFamily="34" charset="0"/>
                <a:cs typeface="Arial" panose="020B0604020202020204" pitchFamily="34" charset="0"/>
              </a:rPr>
              <a:t>Decreased renin–aldosterone responsiveness</a:t>
            </a:r>
          </a:p>
          <a:p>
            <a:pPr algn="l"/>
            <a:r>
              <a:rPr lang="en-US" sz="1800" b="0" i="0" u="none" strike="noStrike" baseline="0" dirty="0">
                <a:latin typeface="Arial" panose="020B0604020202020204" pitchFamily="34" charset="0"/>
                <a:cs typeface="Arial" panose="020B0604020202020204" pitchFamily="34" charset="0"/>
              </a:rPr>
              <a:t>Impaired potassium excretion</a:t>
            </a:r>
            <a:endParaRPr lang="en-US"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F710735B-73CF-A671-AEF2-AC803FE3BA82}"/>
              </a:ext>
            </a:extLst>
          </p:cNvPr>
          <p:cNvSpPr>
            <a:spLocks noGrp="1"/>
          </p:cNvSpPr>
          <p:nvPr>
            <p:ph type="body" sz="quarter" idx="3"/>
          </p:nvPr>
        </p:nvSpPr>
        <p:spPr>
          <a:xfrm>
            <a:off x="6172200" y="1681163"/>
            <a:ext cx="5183188" cy="525008"/>
          </a:xfrm>
        </p:spPr>
        <p:txBody>
          <a:bodyPr>
            <a:normAutofit/>
          </a:bodyPr>
          <a:lstStyle/>
          <a:p>
            <a:pPr algn="l"/>
            <a:r>
              <a:rPr lang="en-US" sz="1800" b="1" i="0" u="none" strike="noStrike" baseline="0" dirty="0">
                <a:latin typeface="Arial" panose="020B0604020202020204" pitchFamily="34" charset="0"/>
                <a:cs typeface="Arial" panose="020B0604020202020204" pitchFamily="34" charset="0"/>
              </a:rPr>
              <a:t>Common Pathophysiology</a:t>
            </a:r>
            <a:endParaRPr lang="en-US" dirty="0">
              <a:latin typeface="Arial" panose="020B0604020202020204" pitchFamily="34" charset="0"/>
              <a:cs typeface="Arial" panose="020B0604020202020204" pitchFamily="34" charset="0"/>
            </a:endParaRPr>
          </a:p>
        </p:txBody>
      </p:sp>
      <p:sp>
        <p:nvSpPr>
          <p:cNvPr id="11" name="Content Placeholder 10">
            <a:extLst>
              <a:ext uri="{FF2B5EF4-FFF2-40B4-BE49-F238E27FC236}">
                <a16:creationId xmlns:a16="http://schemas.microsoft.com/office/drawing/2014/main" id="{F216E066-2573-3E38-2C4B-FEF9ACD53386}"/>
              </a:ext>
            </a:extLst>
          </p:cNvPr>
          <p:cNvSpPr>
            <a:spLocks noGrp="1"/>
          </p:cNvSpPr>
          <p:nvPr>
            <p:ph sz="quarter" idx="4"/>
          </p:nvPr>
        </p:nvSpPr>
        <p:spPr>
          <a:xfrm>
            <a:off x="6172200" y="2336800"/>
            <a:ext cx="5183188" cy="3852863"/>
          </a:xfrm>
        </p:spPr>
        <p:txBody>
          <a:bodyPr>
            <a:normAutofit fontScale="92500" lnSpcReduction="20000"/>
          </a:bodyPr>
          <a:lstStyle/>
          <a:p>
            <a:pPr algn="l"/>
            <a:r>
              <a:rPr lang="en-US" sz="1800" b="0" i="0" u="none" strike="noStrike" baseline="0" dirty="0">
                <a:latin typeface="Arial" panose="020B0604020202020204" pitchFamily="34" charset="0"/>
                <a:cs typeface="Arial" panose="020B0604020202020204" pitchFamily="34" charset="0"/>
              </a:rPr>
              <a:t>Diabetic nephropathy</a:t>
            </a:r>
          </a:p>
          <a:p>
            <a:pPr algn="l"/>
            <a:r>
              <a:rPr lang="en-US" sz="1800" b="0" i="0" u="none" strike="noStrike" baseline="0" dirty="0">
                <a:latin typeface="Arial" panose="020B0604020202020204" pitchFamily="34" charset="0"/>
                <a:cs typeface="Arial" panose="020B0604020202020204" pitchFamily="34" charset="0"/>
              </a:rPr>
              <a:t>Hypertensive nephropathy</a:t>
            </a:r>
          </a:p>
          <a:p>
            <a:pPr algn="l"/>
            <a:r>
              <a:rPr lang="en-US" sz="1800" b="0" i="0" u="none" strike="noStrike" baseline="0" dirty="0">
                <a:latin typeface="Arial" panose="020B0604020202020204" pitchFamily="34" charset="0"/>
                <a:cs typeface="Arial" panose="020B0604020202020204" pitchFamily="34" charset="0"/>
              </a:rPr>
              <a:t>Prostatic obstruction</a:t>
            </a:r>
          </a:p>
          <a:p>
            <a:pPr algn="l"/>
            <a:r>
              <a:rPr lang="en-US" sz="1800" b="0" i="0" u="none" strike="noStrike" baseline="0" dirty="0">
                <a:latin typeface="Arial" panose="020B0604020202020204" pitchFamily="34" charset="0"/>
                <a:cs typeface="Arial" panose="020B0604020202020204" pitchFamily="34" charset="0"/>
              </a:rPr>
              <a:t>Congestive heart failure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0119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D2866-920E-47B6-831A-D0C4B24CE8E1}"/>
              </a:ext>
            </a:extLst>
          </p:cNvPr>
          <p:cNvSpPr>
            <a:spLocks noGrp="1"/>
          </p:cNvSpPr>
          <p:nvPr>
            <p:ph type="title"/>
          </p:nvPr>
        </p:nvSpPr>
        <p:spPr>
          <a:xfrm>
            <a:off x="838200" y="333829"/>
            <a:ext cx="10515600" cy="798285"/>
          </a:xfrm>
        </p:spPr>
        <p:txBody>
          <a:bodyPr>
            <a:normAutofit fontScale="90000"/>
          </a:bodyPr>
          <a:lstStyle/>
          <a:p>
            <a:br>
              <a:rPr lang="en-US" dirty="0"/>
            </a:br>
            <a:br>
              <a:rPr lang="en-US" dirty="0"/>
            </a:br>
            <a:endParaRPr lang="en-US" dirty="0"/>
          </a:p>
        </p:txBody>
      </p:sp>
      <p:sp>
        <p:nvSpPr>
          <p:cNvPr id="3" name="Content Placeholder 2">
            <a:extLst>
              <a:ext uri="{FF2B5EF4-FFF2-40B4-BE49-F238E27FC236}">
                <a16:creationId xmlns:a16="http://schemas.microsoft.com/office/drawing/2014/main" id="{7610C647-482B-4664-AEBB-B5830FDF2AD2}"/>
              </a:ext>
            </a:extLst>
          </p:cNvPr>
          <p:cNvSpPr>
            <a:spLocks noGrp="1"/>
          </p:cNvSpPr>
          <p:nvPr>
            <p:ph idx="1"/>
          </p:nvPr>
        </p:nvSpPr>
        <p:spPr>
          <a:xfrm>
            <a:off x="678543" y="1436914"/>
            <a:ext cx="10515600" cy="4459829"/>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311A8AB-8940-1286-5B7A-140C409BA3B8}"/>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1841" y="1166019"/>
            <a:ext cx="602831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585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35FE0-CE42-4D8F-B228-F5C6C0A5F263}"/>
              </a:ext>
            </a:extLst>
          </p:cNvPr>
          <p:cNvSpPr>
            <a:spLocks noGrp="1"/>
          </p:cNvSpPr>
          <p:nvPr>
            <p:ph type="title"/>
          </p:nvPr>
        </p:nvSpPr>
        <p:spPr>
          <a:xfrm>
            <a:off x="839788" y="212839"/>
            <a:ext cx="10515600" cy="823912"/>
          </a:xfrm>
        </p:spPr>
        <p:txBody>
          <a:bodyPr>
            <a:normAutofit fontScale="90000"/>
          </a:bodyPr>
          <a:lstStyle/>
          <a:p>
            <a:r>
              <a:rPr lang="en-US" sz="32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a:latin typeface="Arial" panose="020B0604020202020204" pitchFamily="34" charset="0"/>
                <a:cs typeface="Arial" panose="020B0604020202020204" pitchFamily="34" charset="0"/>
              </a:rPr>
              <a:t>Cardiovascular change </a:t>
            </a:r>
          </a:p>
        </p:txBody>
      </p:sp>
      <p:sp>
        <p:nvSpPr>
          <p:cNvPr id="4" name="Text Placeholder 3">
            <a:extLst>
              <a:ext uri="{FF2B5EF4-FFF2-40B4-BE49-F238E27FC236}">
                <a16:creationId xmlns:a16="http://schemas.microsoft.com/office/drawing/2014/main" id="{2C0327E6-7E34-14C5-9EF5-B7480EEAADF6}"/>
              </a:ext>
            </a:extLst>
          </p:cNvPr>
          <p:cNvSpPr>
            <a:spLocks noGrp="1"/>
          </p:cNvSpPr>
          <p:nvPr>
            <p:ph type="body" idx="1"/>
          </p:nvPr>
        </p:nvSpPr>
        <p:spPr>
          <a:xfrm>
            <a:off x="839788" y="1349829"/>
            <a:ext cx="5157787" cy="653143"/>
          </a:xfrm>
        </p:spPr>
        <p:txBody>
          <a:bodyPr/>
          <a:lstStyle/>
          <a:p>
            <a:r>
              <a:rPr lang="en-US" dirty="0">
                <a:latin typeface="Arial" panose="020B0604020202020204" pitchFamily="34" charset="0"/>
                <a:cs typeface="Arial" panose="020B0604020202020204" pitchFamily="34" charset="0"/>
              </a:rPr>
              <a:t> Change </a:t>
            </a:r>
          </a:p>
        </p:txBody>
      </p:sp>
      <p:sp>
        <p:nvSpPr>
          <p:cNvPr id="5" name="Content Placeholder 4">
            <a:extLst>
              <a:ext uri="{FF2B5EF4-FFF2-40B4-BE49-F238E27FC236}">
                <a16:creationId xmlns:a16="http://schemas.microsoft.com/office/drawing/2014/main" id="{9C555941-0573-D14D-EBB1-0137FC64C906}"/>
              </a:ext>
            </a:extLst>
          </p:cNvPr>
          <p:cNvSpPr>
            <a:spLocks noGrp="1"/>
          </p:cNvSpPr>
          <p:nvPr>
            <p:ph sz="half" idx="2"/>
          </p:nvPr>
        </p:nvSpPr>
        <p:spPr>
          <a:xfrm>
            <a:off x="839788" y="2322286"/>
            <a:ext cx="5157787" cy="4194628"/>
          </a:xfrm>
        </p:spPr>
        <p:txBody>
          <a:bodyPr>
            <a:noAutofit/>
          </a:bodyPr>
          <a:lstStyle/>
          <a:p>
            <a:r>
              <a:rPr lang="en-US" sz="2000" b="0" i="0" u="none" strike="noStrike" baseline="0" dirty="0">
                <a:solidFill>
                  <a:srgbClr val="000000"/>
                </a:solidFill>
                <a:latin typeface="Arial" panose="020B0604020202020204" pitchFamily="34" charset="0"/>
              </a:rPr>
              <a:t>Large and medium sized vessels become less elastic and less compliant </a:t>
            </a:r>
          </a:p>
          <a:p>
            <a:r>
              <a:rPr lang="en-US" sz="2000" b="0" i="0" u="none" strike="noStrike" baseline="0" dirty="0">
                <a:solidFill>
                  <a:srgbClr val="000000"/>
                </a:solidFill>
                <a:latin typeface="Arial" panose="020B0604020202020204" pitchFamily="34" charset="0"/>
              </a:rPr>
              <a:t>reduced stroke volume and ventricular contractility</a:t>
            </a:r>
          </a:p>
          <a:p>
            <a:r>
              <a:rPr lang="en-US" sz="2000" b="0" i="0" u="none" strike="noStrike" baseline="0" dirty="0">
                <a:solidFill>
                  <a:srgbClr val="000000"/>
                </a:solidFill>
                <a:latin typeface="Arial" panose="020B0604020202020204" pitchFamily="34" charset="0"/>
              </a:rPr>
              <a:t> Cardiac conducting cells decrease in number</a:t>
            </a:r>
          </a:p>
          <a:p>
            <a:r>
              <a:rPr lang="en-US" sz="2000" b="0" i="0" u="none" strike="noStrike" baseline="0" dirty="0">
                <a:solidFill>
                  <a:srgbClr val="000000"/>
                </a:solidFill>
                <a:latin typeface="Arial" panose="020B0604020202020204" pitchFamily="34" charset="0"/>
              </a:rPr>
              <a:t> Catecholamine β adrenergic receptors in the myocardium are down regulated </a:t>
            </a:r>
          </a:p>
          <a:p>
            <a:r>
              <a:rPr lang="en-US" sz="2000" b="0" i="0" u="none" strike="noStrike" baseline="0" dirty="0">
                <a:solidFill>
                  <a:srgbClr val="000000"/>
                </a:solidFill>
                <a:latin typeface="Arial" panose="020B0604020202020204" pitchFamily="34" charset="0"/>
              </a:rPr>
              <a:t>The non-compliant vascular systems </a:t>
            </a:r>
          </a:p>
          <a:p>
            <a:r>
              <a:rPr lang="en-US" sz="2000" b="0" i="0" u="none" strike="noStrike" baseline="0" dirty="0">
                <a:solidFill>
                  <a:srgbClr val="000000"/>
                </a:solidFill>
                <a:latin typeface="Arial" panose="020B0604020202020204" pitchFamily="34" charset="0"/>
              </a:rPr>
              <a:t>impairment of autonomic homeostasis and impaired carotid baroreceptor response </a:t>
            </a:r>
            <a:endParaRPr lang="en-US" sz="2000" dirty="0"/>
          </a:p>
        </p:txBody>
      </p:sp>
      <p:sp>
        <p:nvSpPr>
          <p:cNvPr id="6" name="Text Placeholder 5">
            <a:extLst>
              <a:ext uri="{FF2B5EF4-FFF2-40B4-BE49-F238E27FC236}">
                <a16:creationId xmlns:a16="http://schemas.microsoft.com/office/drawing/2014/main" id="{78468B3E-5892-472F-99D3-459325F3A73F}"/>
              </a:ext>
            </a:extLst>
          </p:cNvPr>
          <p:cNvSpPr>
            <a:spLocks noGrp="1"/>
          </p:cNvSpPr>
          <p:nvPr>
            <p:ph type="body" sz="quarter" idx="3"/>
          </p:nvPr>
        </p:nvSpPr>
        <p:spPr>
          <a:xfrm>
            <a:off x="6172200" y="1567543"/>
            <a:ext cx="5183188" cy="653143"/>
          </a:xfrm>
        </p:spPr>
        <p:txBody>
          <a:bodyPr/>
          <a:lstStyle/>
          <a:p>
            <a:r>
              <a:rPr lang="en-US" dirty="0">
                <a:latin typeface="Arial" panose="020B0604020202020204" pitchFamily="34" charset="0"/>
                <a:cs typeface="Arial" panose="020B0604020202020204" pitchFamily="34" charset="0"/>
              </a:rPr>
              <a:t> Effect </a:t>
            </a:r>
          </a:p>
        </p:txBody>
      </p:sp>
      <p:sp>
        <p:nvSpPr>
          <p:cNvPr id="7" name="Content Placeholder 6">
            <a:extLst>
              <a:ext uri="{FF2B5EF4-FFF2-40B4-BE49-F238E27FC236}">
                <a16:creationId xmlns:a16="http://schemas.microsoft.com/office/drawing/2014/main" id="{653517E2-848E-535A-0D71-A5E65E7192B8}"/>
              </a:ext>
            </a:extLst>
          </p:cNvPr>
          <p:cNvSpPr>
            <a:spLocks noGrp="1"/>
          </p:cNvSpPr>
          <p:nvPr>
            <p:ph sz="quarter" idx="4"/>
          </p:nvPr>
        </p:nvSpPr>
        <p:spPr>
          <a:xfrm>
            <a:off x="6172200" y="2322286"/>
            <a:ext cx="5183188" cy="4078514"/>
          </a:xfrm>
        </p:spPr>
        <p:txBody>
          <a:bodyPr>
            <a:noAutofit/>
          </a:bodyPr>
          <a:lstStyle/>
          <a:p>
            <a:r>
              <a:rPr lang="en-US" sz="2000" b="0" i="0" u="none" strike="noStrike" baseline="0" dirty="0">
                <a:solidFill>
                  <a:srgbClr val="000000"/>
                </a:solidFill>
                <a:latin typeface="Arial" panose="020B0604020202020204" pitchFamily="34" charset="0"/>
              </a:rPr>
              <a:t>raised systemic vascular resistance and hypertension, left ventricular hypertrophy </a:t>
            </a:r>
          </a:p>
          <a:p>
            <a:r>
              <a:rPr lang="en-US" sz="2000" b="0" i="0" u="none" strike="noStrike" baseline="0" dirty="0">
                <a:solidFill>
                  <a:srgbClr val="000000"/>
                </a:solidFill>
                <a:latin typeface="Arial" panose="020B0604020202020204" pitchFamily="34" charset="0"/>
              </a:rPr>
              <a:t>Cardiac output falls by 3% per decade </a:t>
            </a:r>
          </a:p>
          <a:p>
            <a:r>
              <a:rPr lang="en-US" sz="2000" b="0" i="0" u="none" strike="noStrike" baseline="0" dirty="0">
                <a:solidFill>
                  <a:srgbClr val="000000"/>
                </a:solidFill>
                <a:latin typeface="Arial" panose="020B0604020202020204" pitchFamily="34" charset="0"/>
              </a:rPr>
              <a:t>making heart block, ectopic beats, arrhythmias and atrial fibrillation more prevalent </a:t>
            </a:r>
          </a:p>
          <a:p>
            <a:r>
              <a:rPr lang="en-US" sz="2000" b="0" i="0" u="none" strike="noStrike" baseline="0" dirty="0">
                <a:solidFill>
                  <a:srgbClr val="000000"/>
                </a:solidFill>
                <a:latin typeface="Arial" panose="020B0604020202020204" pitchFamily="34" charset="0"/>
              </a:rPr>
              <a:t>decreased responsiveness to catecholamines and sympathomimetic agents </a:t>
            </a:r>
          </a:p>
          <a:p>
            <a:r>
              <a:rPr lang="en-US" sz="2000" b="0" i="0" u="none" strike="noStrike" baseline="0" dirty="0">
                <a:solidFill>
                  <a:srgbClr val="000000"/>
                </a:solidFill>
                <a:latin typeface="Arial" panose="020B0604020202020204" pitchFamily="34" charset="0"/>
              </a:rPr>
              <a:t>reduced efficacy of vasoconstricting drugs </a:t>
            </a:r>
          </a:p>
          <a:p>
            <a:r>
              <a:rPr lang="en-US" sz="2000" b="0" i="0" u="none" strike="noStrike" baseline="0" dirty="0">
                <a:solidFill>
                  <a:srgbClr val="000000"/>
                </a:solidFill>
                <a:latin typeface="Arial" panose="020B0604020202020204" pitchFamily="34" charset="0"/>
              </a:rPr>
              <a:t>heart rate cannot always respond to maintain arterial blood pressure </a:t>
            </a:r>
            <a:endParaRPr lang="en-US" sz="2000" dirty="0"/>
          </a:p>
        </p:txBody>
      </p:sp>
    </p:spTree>
    <p:extLst>
      <p:ext uri="{BB962C8B-B14F-4D97-AF65-F5344CB8AC3E}">
        <p14:creationId xmlns:p14="http://schemas.microsoft.com/office/powerpoint/2010/main" val="4049210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C048C-E278-4F67-981C-498ED9C44D54}"/>
              </a:ext>
            </a:extLst>
          </p:cNvPr>
          <p:cNvSpPr>
            <a:spLocks noGrp="1"/>
          </p:cNvSpPr>
          <p:nvPr>
            <p:ph type="title"/>
          </p:nvPr>
        </p:nvSpPr>
        <p:spPr>
          <a:xfrm>
            <a:off x="838200" y="365125"/>
            <a:ext cx="10515600" cy="991727"/>
          </a:xfrm>
        </p:spPr>
        <p:txBody>
          <a:bodyPr>
            <a:normAutofit fontScale="90000"/>
          </a:bodyPr>
          <a:lstStyle/>
          <a:p>
            <a:br>
              <a:rPr lang="en-US" dirty="0"/>
            </a:br>
            <a:r>
              <a:rPr lang="en-US" sz="4400" dirty="0">
                <a:latin typeface="Arial" panose="020B0604020202020204" pitchFamily="34" charset="0"/>
                <a:cs typeface="Arial" panose="020B0604020202020204" pitchFamily="34" charset="0"/>
              </a:rPr>
              <a:t>Cardiovascular change</a:t>
            </a:r>
            <a:br>
              <a:rPr lang="en-US" dirty="0"/>
            </a:br>
            <a:endParaRPr lang="en-US" dirty="0"/>
          </a:p>
        </p:txBody>
      </p:sp>
      <p:sp>
        <p:nvSpPr>
          <p:cNvPr id="3" name="Content Placeholder 2">
            <a:extLst>
              <a:ext uri="{FF2B5EF4-FFF2-40B4-BE49-F238E27FC236}">
                <a16:creationId xmlns:a16="http://schemas.microsoft.com/office/drawing/2014/main" id="{D1C505A4-710E-4D8C-A808-51BCA0C2956E}"/>
              </a:ext>
            </a:extLst>
          </p:cNvPr>
          <p:cNvSpPr>
            <a:spLocks noGrp="1"/>
          </p:cNvSpPr>
          <p:nvPr>
            <p:ph idx="1"/>
          </p:nvPr>
        </p:nvSpPr>
        <p:spPr>
          <a:xfrm>
            <a:off x="838200" y="1504334"/>
            <a:ext cx="10515600" cy="4881951"/>
          </a:xfrm>
        </p:spPr>
        <p:txBody>
          <a:bodyPr>
            <a:noAutofit/>
          </a:bodyPr>
          <a:lstStyle/>
          <a:p>
            <a:pPr algn="just">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rPr>
              <a:t>Postural hypotension is common in the elderly population and may be exacerbated by diuretics, antihypertensive drugs and </a:t>
            </a:r>
            <a:r>
              <a:rPr lang="en-US" sz="2000" b="0" i="0" u="none" strike="noStrike" baseline="0" dirty="0" err="1">
                <a:solidFill>
                  <a:srgbClr val="000000"/>
                </a:solidFill>
                <a:latin typeface="Arial" panose="020B0604020202020204" pitchFamily="34" charset="0"/>
              </a:rPr>
              <a:t>hypovolaemia</a:t>
            </a:r>
            <a:r>
              <a:rPr lang="en-US" sz="2000" b="0" i="0" u="none" strike="noStrike" baseline="0" dirty="0">
                <a:solidFill>
                  <a:srgbClr val="000000"/>
                </a:solidFill>
                <a:latin typeface="Arial" panose="020B0604020202020204" pitchFamily="34" charset="0"/>
              </a:rPr>
              <a:t>. </a:t>
            </a:r>
          </a:p>
          <a:p>
            <a:pPr algn="just">
              <a:lnSpc>
                <a:spcPct val="150000"/>
              </a:lnSpc>
              <a:buFont typeface="Wingdings" panose="05000000000000000000" pitchFamily="2" charset="2"/>
              <a:buChar char="Ø"/>
            </a:pPr>
            <a:r>
              <a:rPr lang="en-US" sz="2000" b="0" i="0" u="none" strike="noStrike" baseline="0" dirty="0" err="1">
                <a:solidFill>
                  <a:srgbClr val="000000"/>
                </a:solidFill>
                <a:latin typeface="Arial" panose="020B0604020202020204" pitchFamily="34" charset="0"/>
              </a:rPr>
              <a:t>Ischaemic</a:t>
            </a:r>
            <a:r>
              <a:rPr lang="en-US" sz="2000" b="0" i="0" u="none" strike="noStrike" baseline="0" dirty="0">
                <a:solidFill>
                  <a:srgbClr val="000000"/>
                </a:solidFill>
                <a:latin typeface="Arial" panose="020B0604020202020204" pitchFamily="34" charset="0"/>
              </a:rPr>
              <a:t> heart disease is common in older patients, especially in smokers and diabetics. </a:t>
            </a:r>
          </a:p>
          <a:p>
            <a:pPr algn="just">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rPr>
              <a:t>Structural heart lesions such as valvular heart disease are common. </a:t>
            </a:r>
          </a:p>
          <a:p>
            <a:pPr algn="just">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rPr>
              <a:t>Intravenous and inhalational agents: </a:t>
            </a:r>
          </a:p>
          <a:p>
            <a:pPr algn="just">
              <a:lnSpc>
                <a:spcPct val="150000"/>
              </a:lnSpc>
              <a:buFont typeface="Wingdings" panose="05000000000000000000" pitchFamily="2" charset="2"/>
              <a:buChar char="ü"/>
            </a:pPr>
            <a:r>
              <a:rPr lang="en-US" sz="2000" b="0" i="0" u="none" strike="noStrike" baseline="0" dirty="0">
                <a:solidFill>
                  <a:srgbClr val="000000"/>
                </a:solidFill>
                <a:latin typeface="Arial" panose="020B0604020202020204" pitchFamily="34" charset="0"/>
              </a:rPr>
              <a:t>depress cardiac and vascular smooth muscle contractility</a:t>
            </a:r>
          </a:p>
          <a:p>
            <a:pPr algn="just">
              <a:lnSpc>
                <a:spcPct val="150000"/>
              </a:lnSpc>
              <a:buFont typeface="Wingdings" panose="05000000000000000000" pitchFamily="2" charset="2"/>
              <a:buChar char="ü"/>
            </a:pPr>
            <a:r>
              <a:rPr lang="en-US" sz="2000" b="0" i="0" u="none" strike="noStrike" baseline="0" dirty="0">
                <a:solidFill>
                  <a:srgbClr val="000000"/>
                </a:solidFill>
                <a:latin typeface="Arial" panose="020B0604020202020204" pitchFamily="34" charset="0"/>
              </a:rPr>
              <a:t>impair the baroreceptor response to hypotension. </a:t>
            </a:r>
          </a:p>
        </p:txBody>
      </p:sp>
    </p:spTree>
    <p:extLst>
      <p:ext uri="{BB962C8B-B14F-4D97-AF65-F5344CB8AC3E}">
        <p14:creationId xmlns:p14="http://schemas.microsoft.com/office/powerpoint/2010/main" val="1523703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7BAB-9AF0-44D0-9E76-78C3FF48FD76}"/>
              </a:ext>
            </a:extLst>
          </p:cNvPr>
          <p:cNvSpPr>
            <a:spLocks noGrp="1"/>
          </p:cNvSpPr>
          <p:nvPr>
            <p:ph type="title"/>
          </p:nvPr>
        </p:nvSpPr>
        <p:spPr>
          <a:xfrm>
            <a:off x="838200" y="265471"/>
            <a:ext cx="10515600" cy="1032387"/>
          </a:xfrm>
        </p:spPr>
        <p:txBody>
          <a:bodyPr/>
          <a:lstStyle/>
          <a:p>
            <a:r>
              <a:rPr lang="en-US" dirty="0"/>
              <a:t> </a:t>
            </a:r>
            <a:r>
              <a:rPr lang="en-US" sz="3600" dirty="0">
                <a:latin typeface="Arial" panose="020B0604020202020204" pitchFamily="34" charset="0"/>
                <a:cs typeface="Arial" panose="020B0604020202020204" pitchFamily="34" charset="0"/>
              </a:rPr>
              <a:t>Cardiovascular change</a:t>
            </a:r>
            <a:endParaRPr lang="en-US" sz="3600" dirty="0"/>
          </a:p>
        </p:txBody>
      </p:sp>
      <p:sp>
        <p:nvSpPr>
          <p:cNvPr id="3" name="Content Placeholder 2">
            <a:extLst>
              <a:ext uri="{FF2B5EF4-FFF2-40B4-BE49-F238E27FC236}">
                <a16:creationId xmlns:a16="http://schemas.microsoft.com/office/drawing/2014/main" id="{B299AE1B-BA7F-4F9E-8F1F-FB70EFF09F96}"/>
              </a:ext>
            </a:extLst>
          </p:cNvPr>
          <p:cNvSpPr>
            <a:spLocks noGrp="1"/>
          </p:cNvSpPr>
          <p:nvPr>
            <p:ph idx="1"/>
          </p:nvPr>
        </p:nvSpPr>
        <p:spPr>
          <a:xfrm>
            <a:off x="838200" y="1445342"/>
            <a:ext cx="10515600" cy="4731621"/>
          </a:xfrm>
        </p:spPr>
        <p:txBody>
          <a:bodyPr>
            <a:normAutofit/>
          </a:bodyPr>
          <a:lstStyle/>
          <a:p>
            <a:pPr algn="just">
              <a:lnSpc>
                <a:spcPct val="150000"/>
              </a:lnSpc>
            </a:pPr>
            <a:r>
              <a:rPr lang="en-US" sz="2000" b="0" i="0" u="none" strike="noStrike" baseline="0" dirty="0" err="1">
                <a:solidFill>
                  <a:srgbClr val="000000"/>
                </a:solidFill>
                <a:latin typeface="Arial" panose="020B0604020202020204" pitchFamily="34" charset="0"/>
                <a:cs typeface="Arial" panose="020B0604020202020204" pitchFamily="34" charset="0"/>
              </a:rPr>
              <a:t>Neuroaxial</a:t>
            </a:r>
            <a:r>
              <a:rPr lang="en-US" sz="2000" b="0" i="0" u="none" strike="noStrike" baseline="0" dirty="0">
                <a:solidFill>
                  <a:srgbClr val="000000"/>
                </a:solidFill>
                <a:latin typeface="Arial" panose="020B0604020202020204" pitchFamily="34" charset="0"/>
                <a:cs typeface="Arial" panose="020B0604020202020204" pitchFamily="34" charset="0"/>
              </a:rPr>
              <a:t> regional </a:t>
            </a:r>
            <a:r>
              <a:rPr lang="en-US" sz="2000" b="0" i="0" u="none" strike="noStrike" baseline="0" dirty="0" err="1">
                <a:solidFill>
                  <a:srgbClr val="000000"/>
                </a:solidFill>
                <a:latin typeface="Arial" panose="020B0604020202020204" pitchFamily="34" charset="0"/>
                <a:cs typeface="Arial" panose="020B0604020202020204" pitchFamily="34" charset="0"/>
              </a:rPr>
              <a:t>anaesthesia</a:t>
            </a:r>
            <a:r>
              <a:rPr lang="en-US" sz="2000" b="0" i="0" u="none" strike="noStrike" baseline="0" dirty="0">
                <a:solidFill>
                  <a:srgbClr val="000000"/>
                </a:solidFill>
                <a:latin typeface="Arial" panose="020B0604020202020204" pitchFamily="34" charset="0"/>
                <a:cs typeface="Arial" panose="020B0604020202020204" pitchFamily="34" charset="0"/>
              </a:rPr>
              <a:t> techniques may result in significant hypotension </a:t>
            </a:r>
          </a:p>
          <a:p>
            <a:pPr algn="l">
              <a:lnSpc>
                <a:spcPct val="150000"/>
              </a:lnSpc>
            </a:pPr>
            <a:r>
              <a:rPr lang="en-US" sz="2000" b="0" i="0" u="none" strike="noStrike" baseline="0" dirty="0">
                <a:latin typeface="Arial" panose="020B0604020202020204" pitchFamily="34" charset="0"/>
                <a:cs typeface="Arial" panose="020B0604020202020204" pitchFamily="34" charset="0"/>
              </a:rPr>
              <a:t>Elderly patients with systolic murmurs should be suspected of having aortic stenosis.</a:t>
            </a:r>
          </a:p>
          <a:p>
            <a:pPr algn="l">
              <a:lnSpc>
                <a:spcPct val="150000"/>
              </a:lnSpc>
            </a:pPr>
            <a:r>
              <a:rPr lang="en-US" sz="2000" b="0" i="0" u="none" strike="noStrike" baseline="0" dirty="0">
                <a:latin typeface="Arial" panose="020B0604020202020204" pitchFamily="34" charset="0"/>
                <a:cs typeface="Arial" panose="020B0604020202020204" pitchFamily="34" charset="0"/>
              </a:rPr>
              <a:t>Functional capacity of less than 4 metabolic equivalents (METS) is associated with potential adverse outcomes</a:t>
            </a:r>
          </a:p>
          <a:p>
            <a:pPr algn="l">
              <a:lnSpc>
                <a:spcPct val="150000"/>
              </a:lnSpc>
            </a:pPr>
            <a:r>
              <a:rPr lang="en-US" sz="2000" b="0" i="0" u="none" strike="noStrike" baseline="0" dirty="0">
                <a:latin typeface="Arial" panose="020B0604020202020204" pitchFamily="34" charset="0"/>
                <a:cs typeface="Arial" panose="020B0604020202020204" pitchFamily="34" charset="0"/>
              </a:rPr>
              <a:t>Elderly patients undergoing echocardiographic evaluation for surgery have an increased incidence of diastolic dysfunction compared with younger patients.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3034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0189"/>
          </a:xfrm>
        </p:spPr>
        <p:txBody>
          <a:bodyPr>
            <a:normAutofit/>
          </a:bodyPr>
          <a:lstStyle/>
          <a:p>
            <a:r>
              <a:rPr lang="en-US" sz="3600" dirty="0">
                <a:latin typeface="Arial" panose="020B0604020202020204" pitchFamily="34" charset="0"/>
                <a:cs typeface="Arial" panose="020B0604020202020204" pitchFamily="34" charset="0"/>
              </a:rPr>
              <a:t>Cardiovascular change</a:t>
            </a:r>
            <a:endParaRPr lang="en-US" sz="3600" dirty="0"/>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36914"/>
            <a:ext cx="10091057" cy="5055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9122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3C17-1948-4870-82E2-7021AE046AA4}"/>
              </a:ext>
            </a:extLst>
          </p:cNvPr>
          <p:cNvSpPr>
            <a:spLocks noGrp="1"/>
          </p:cNvSpPr>
          <p:nvPr>
            <p:ph type="title"/>
          </p:nvPr>
        </p:nvSpPr>
        <p:spPr>
          <a:xfrm>
            <a:off x="838200" y="246743"/>
            <a:ext cx="10515600" cy="919275"/>
          </a:xfrm>
        </p:spPr>
        <p:txBody>
          <a:bodyPr>
            <a:normAutofit/>
          </a:bodyPr>
          <a:lstStyle/>
          <a:p>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3B00B7-23C4-41F4-891F-0155DEC41F64}"/>
              </a:ext>
            </a:extLst>
          </p:cNvPr>
          <p:cNvSpPr>
            <a:spLocks noGrp="1"/>
          </p:cNvSpPr>
          <p:nvPr>
            <p:ph idx="1"/>
          </p:nvPr>
        </p:nvSpPr>
        <p:spPr>
          <a:xfrm>
            <a:off x="838200" y="1674055"/>
            <a:ext cx="10515600" cy="4502908"/>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0FBF7F05-BC27-4A57-23CB-3AA8B86DC4B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086" y="1509487"/>
            <a:ext cx="9913257" cy="4197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2728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35FE0-CE42-4D8F-B228-F5C6C0A5F263}"/>
              </a:ext>
            </a:extLst>
          </p:cNvPr>
          <p:cNvSpPr>
            <a:spLocks noGrp="1"/>
          </p:cNvSpPr>
          <p:nvPr>
            <p:ph type="title"/>
          </p:nvPr>
        </p:nvSpPr>
        <p:spPr>
          <a:xfrm>
            <a:off x="839788" y="212839"/>
            <a:ext cx="10515600" cy="823912"/>
          </a:xfrm>
        </p:spPr>
        <p:txBody>
          <a:bodyPr>
            <a:normAutofit fontScale="90000"/>
          </a:bodyPr>
          <a:lstStyle/>
          <a:p>
            <a:r>
              <a:rPr lang="en-US" sz="32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a:latin typeface="Arial" panose="020B0604020202020204" pitchFamily="34" charset="0"/>
                <a:cs typeface="Arial" panose="020B0604020202020204" pitchFamily="34" charset="0"/>
              </a:rPr>
              <a:t>Respiratory change </a:t>
            </a:r>
          </a:p>
        </p:txBody>
      </p:sp>
      <p:sp>
        <p:nvSpPr>
          <p:cNvPr id="4" name="Text Placeholder 3">
            <a:extLst>
              <a:ext uri="{FF2B5EF4-FFF2-40B4-BE49-F238E27FC236}">
                <a16:creationId xmlns:a16="http://schemas.microsoft.com/office/drawing/2014/main" id="{2C0327E6-7E34-14C5-9EF5-B7480EEAADF6}"/>
              </a:ext>
            </a:extLst>
          </p:cNvPr>
          <p:cNvSpPr>
            <a:spLocks noGrp="1"/>
          </p:cNvSpPr>
          <p:nvPr>
            <p:ph type="body" idx="1"/>
          </p:nvPr>
        </p:nvSpPr>
        <p:spPr>
          <a:xfrm>
            <a:off x="839788" y="1349829"/>
            <a:ext cx="5157787" cy="653143"/>
          </a:xfrm>
        </p:spPr>
        <p:txBody>
          <a:bodyPr/>
          <a:lstStyle/>
          <a:p>
            <a:r>
              <a:rPr lang="en-US" dirty="0">
                <a:latin typeface="Arial" panose="020B0604020202020204" pitchFamily="34" charset="0"/>
                <a:cs typeface="Arial" panose="020B0604020202020204" pitchFamily="34" charset="0"/>
              </a:rPr>
              <a:t> Change </a:t>
            </a:r>
          </a:p>
        </p:txBody>
      </p:sp>
      <p:sp>
        <p:nvSpPr>
          <p:cNvPr id="5" name="Content Placeholder 4">
            <a:extLst>
              <a:ext uri="{FF2B5EF4-FFF2-40B4-BE49-F238E27FC236}">
                <a16:creationId xmlns:a16="http://schemas.microsoft.com/office/drawing/2014/main" id="{9C555941-0573-D14D-EBB1-0137FC64C906}"/>
              </a:ext>
            </a:extLst>
          </p:cNvPr>
          <p:cNvSpPr>
            <a:spLocks noGrp="1"/>
          </p:cNvSpPr>
          <p:nvPr>
            <p:ph sz="half" idx="2"/>
          </p:nvPr>
        </p:nvSpPr>
        <p:spPr>
          <a:xfrm>
            <a:off x="839788" y="2322286"/>
            <a:ext cx="5157787" cy="4194628"/>
          </a:xfrm>
        </p:spPr>
        <p:txBody>
          <a:bodyPr>
            <a:noAutofit/>
          </a:bodyPr>
          <a:lstStyle/>
          <a:p>
            <a:r>
              <a:rPr lang="en-US" sz="2000" b="0" i="0" u="none" strike="noStrike" baseline="0" dirty="0">
                <a:latin typeface="Arial" panose="020B0604020202020204" pitchFamily="34" charset="0"/>
                <a:cs typeface="Arial" panose="020B0604020202020204" pitchFamily="34" charset="0"/>
              </a:rPr>
              <a:t>Aging decreases the elasticity of lung tissue</a:t>
            </a:r>
          </a:p>
          <a:p>
            <a:pPr algn="l"/>
            <a:r>
              <a:rPr lang="en-US" sz="2000" b="0" i="0" u="none" strike="noStrike" baseline="0" dirty="0">
                <a:latin typeface="Arial" panose="020B0604020202020204" pitchFamily="34" charset="0"/>
                <a:cs typeface="Arial" panose="020B0604020202020204" pitchFamily="34" charset="0"/>
              </a:rPr>
              <a:t>Residual volume and the functional residual capacity increase with aging.</a:t>
            </a:r>
          </a:p>
          <a:p>
            <a:pPr algn="l"/>
            <a:r>
              <a:rPr lang="en-US" sz="2000" b="0" i="0" u="none" strike="noStrike" baseline="0" dirty="0">
                <a:latin typeface="Arial" panose="020B0604020202020204" pitchFamily="34" charset="0"/>
                <a:cs typeface="Arial" panose="020B0604020202020204" pitchFamily="34" charset="0"/>
              </a:rPr>
              <a:t>Airway collapse</a:t>
            </a:r>
          </a:p>
          <a:p>
            <a:pPr algn="l"/>
            <a:r>
              <a:rPr lang="en-US" sz="2000" b="0" i="0" u="none" strike="noStrike" baseline="0" dirty="0">
                <a:latin typeface="Arial" panose="020B0604020202020204" pitchFamily="34" charset="0"/>
                <a:cs typeface="Arial" panose="020B0604020202020204" pitchFamily="34" charset="0"/>
              </a:rPr>
              <a:t>some airways close during part of normal tidal breathing</a:t>
            </a:r>
          </a:p>
          <a:p>
            <a:pPr algn="l"/>
            <a:r>
              <a:rPr lang="en-US" sz="2000" dirty="0">
                <a:latin typeface="Arial" panose="020B0604020202020204" pitchFamily="34" charset="0"/>
                <a:cs typeface="Arial" panose="020B0604020202020204" pitchFamily="34" charset="0"/>
              </a:rPr>
              <a:t>Decreased respiratory muscle function/mass</a:t>
            </a:r>
          </a:p>
          <a:p>
            <a:pPr algn="l"/>
            <a:r>
              <a:rPr lang="en-US" sz="2000" b="0" i="0" u="none" strike="noStrike" baseline="0" dirty="0">
                <a:latin typeface="Arial" panose="020B0604020202020204" pitchFamily="34" charset="0"/>
                <a:cs typeface="Arial" panose="020B0604020202020204" pitchFamily="34" charset="0"/>
              </a:rPr>
              <a:t>intrinsic changes in lung function</a:t>
            </a:r>
            <a:endParaRPr lang="en-US" sz="2000" dirty="0">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78468B3E-5892-472F-99D3-459325F3A73F}"/>
              </a:ext>
            </a:extLst>
          </p:cNvPr>
          <p:cNvSpPr>
            <a:spLocks noGrp="1"/>
          </p:cNvSpPr>
          <p:nvPr>
            <p:ph type="body" sz="quarter" idx="3"/>
          </p:nvPr>
        </p:nvSpPr>
        <p:spPr>
          <a:xfrm>
            <a:off x="6172200" y="1567543"/>
            <a:ext cx="5183188" cy="653143"/>
          </a:xfrm>
        </p:spPr>
        <p:txBody>
          <a:bodyPr/>
          <a:lstStyle/>
          <a:p>
            <a:r>
              <a:rPr lang="en-US" dirty="0">
                <a:latin typeface="Arial" panose="020B0604020202020204" pitchFamily="34" charset="0"/>
                <a:cs typeface="Arial" panose="020B0604020202020204" pitchFamily="34" charset="0"/>
              </a:rPr>
              <a:t> Effect </a:t>
            </a:r>
          </a:p>
        </p:txBody>
      </p:sp>
      <p:sp>
        <p:nvSpPr>
          <p:cNvPr id="7" name="Content Placeholder 6">
            <a:extLst>
              <a:ext uri="{FF2B5EF4-FFF2-40B4-BE49-F238E27FC236}">
                <a16:creationId xmlns:a16="http://schemas.microsoft.com/office/drawing/2014/main" id="{653517E2-848E-535A-0D71-A5E65E7192B8}"/>
              </a:ext>
            </a:extLst>
          </p:cNvPr>
          <p:cNvSpPr>
            <a:spLocks noGrp="1"/>
          </p:cNvSpPr>
          <p:nvPr>
            <p:ph sz="quarter" idx="4"/>
          </p:nvPr>
        </p:nvSpPr>
        <p:spPr>
          <a:xfrm>
            <a:off x="6172200" y="2322286"/>
            <a:ext cx="5183188" cy="4078514"/>
          </a:xfrm>
        </p:spPr>
        <p:txBody>
          <a:bodyPr>
            <a:noAutofit/>
          </a:bodyPr>
          <a:lstStyle/>
          <a:p>
            <a:pPr algn="l"/>
            <a:r>
              <a:rPr lang="en-US" sz="2000" b="0" i="0" u="none" strike="noStrike" baseline="0" dirty="0">
                <a:latin typeface="Arial" panose="020B0604020202020204" pitchFamily="34" charset="0"/>
                <a:cs typeface="Arial" panose="020B0604020202020204" pitchFamily="34" charset="0"/>
              </a:rPr>
              <a:t>overdistention of alveoli and collapse of small airways.</a:t>
            </a:r>
          </a:p>
          <a:p>
            <a:pPr algn="l"/>
            <a:endParaRPr lang="en-US" sz="2000"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Increases residual volume and closing capacity</a:t>
            </a:r>
          </a:p>
          <a:p>
            <a:pPr algn="l"/>
            <a:r>
              <a:rPr lang="en-US" sz="2000" b="0" i="0" u="none" strike="noStrike" baseline="0" dirty="0">
                <a:latin typeface="Arial" panose="020B0604020202020204" pitchFamily="34" charset="0"/>
                <a:cs typeface="Arial" panose="020B0604020202020204" pitchFamily="34" charset="0"/>
              </a:rPr>
              <a:t>Resulting in a mismatch of ventilation and perfusion.</a:t>
            </a:r>
          </a:p>
          <a:p>
            <a:pPr algn="l"/>
            <a:r>
              <a:rPr lang="en-US" sz="2000" b="0" i="0" u="none" strike="noStrike" baseline="0" dirty="0">
                <a:latin typeface="Arial" panose="020B0604020202020204" pitchFamily="34" charset="0"/>
                <a:cs typeface="Arial" panose="020B0604020202020204" pitchFamily="34" charset="0"/>
              </a:rPr>
              <a:t>a less compliant chest wall</a:t>
            </a:r>
          </a:p>
          <a:p>
            <a:pPr algn="l"/>
            <a:r>
              <a:rPr lang="en-US" sz="2000" dirty="0">
                <a:latin typeface="Arial" panose="020B0604020202020204" pitchFamily="34" charset="0"/>
                <a:cs typeface="Arial" panose="020B0604020202020204" pitchFamily="34" charset="0"/>
              </a:rPr>
              <a:t>I</a:t>
            </a:r>
            <a:r>
              <a:rPr lang="en-US" sz="2000" b="0" i="0" u="none" strike="noStrike" baseline="0" dirty="0">
                <a:latin typeface="Arial" panose="020B0604020202020204" pitchFamily="34" charset="0"/>
                <a:cs typeface="Arial" panose="020B0604020202020204" pitchFamily="34" charset="0"/>
              </a:rPr>
              <a:t>ncrease the work of breathing and make it more difficult for elderly patients to muster a respiratory reserve in settings of acute illness (</a:t>
            </a:r>
            <a:r>
              <a:rPr lang="en-US" sz="2000" b="0" i="0" u="none" strike="noStrike" baseline="0" dirty="0" err="1">
                <a:latin typeface="Arial" panose="020B0604020202020204" pitchFamily="34" charset="0"/>
                <a:cs typeface="Arial" panose="020B0604020202020204" pitchFamily="34" charset="0"/>
              </a:rPr>
              <a:t>eg</a:t>
            </a:r>
            <a:r>
              <a:rPr lang="en-US" sz="2000" b="0" i="0" u="none" strike="noStrike" baseline="0" dirty="0">
                <a:latin typeface="Arial" panose="020B0604020202020204" pitchFamily="34" charset="0"/>
                <a:cs typeface="Arial" panose="020B0604020202020204" pitchFamily="34" charset="0"/>
              </a:rPr>
              <a:t>, infection).</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0109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9561"/>
          </a:xfrm>
        </p:spPr>
        <p:txBody>
          <a:bodyPr/>
          <a:lstStyle/>
          <a:p>
            <a:r>
              <a:rPr lang="en-US" dirty="0"/>
              <a:t> </a:t>
            </a:r>
            <a:r>
              <a:rPr lang="en-US" sz="3600" dirty="0">
                <a:latin typeface="Arial" panose="020B0604020202020204" pitchFamily="34" charset="0"/>
                <a:cs typeface="Arial" panose="020B0604020202020204" pitchFamily="34" charset="0"/>
              </a:rPr>
              <a:t>Respiratory change </a:t>
            </a:r>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81841" y="1614715"/>
            <a:ext cx="602831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8926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r>
              <a:rPr lang="en-US" dirty="0"/>
              <a:t> </a:t>
            </a:r>
            <a:r>
              <a:rPr lang="en-US" sz="3600" dirty="0">
                <a:latin typeface="Arial" panose="020B0604020202020204" pitchFamily="34" charset="0"/>
                <a:cs typeface="Arial" panose="020B0604020202020204" pitchFamily="34" charset="0"/>
              </a:rPr>
              <a:t>Respiratory change </a:t>
            </a:r>
          </a:p>
        </p:txBody>
      </p:sp>
      <p:pic>
        <p:nvPicPr>
          <p:cNvPr id="1433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22400" y="1734231"/>
            <a:ext cx="9274629"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820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0611"/>
            <a:ext cx="10515600" cy="970189"/>
          </a:xfrm>
        </p:spPr>
        <p:txBody>
          <a:bodyPr/>
          <a:lstStyle/>
          <a:p>
            <a:r>
              <a:rPr lang="en-US" dirty="0"/>
              <a:t> </a:t>
            </a:r>
            <a:r>
              <a:rPr lang="en-US" sz="3600" dirty="0">
                <a:latin typeface="Arial" panose="020B0604020202020204" pitchFamily="34" charset="0"/>
                <a:cs typeface="Arial" panose="020B0604020202020204" pitchFamily="34" charset="0"/>
              </a:rPr>
              <a:t>Respiratory change </a:t>
            </a:r>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7886" y="2104571"/>
            <a:ext cx="9492343" cy="4402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617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40DE0-886E-4FB7-816B-34C554DD9A73}"/>
              </a:ext>
            </a:extLst>
          </p:cNvPr>
          <p:cNvSpPr>
            <a:spLocks noGrp="1"/>
          </p:cNvSpPr>
          <p:nvPr>
            <p:ph type="title"/>
          </p:nvPr>
        </p:nvSpPr>
        <p:spPr>
          <a:xfrm>
            <a:off x="838200" y="280219"/>
            <a:ext cx="10515600" cy="884905"/>
          </a:xfrm>
        </p:spPr>
        <p:txBody>
          <a:bodyPr>
            <a:normAutofit/>
          </a:bodyPr>
          <a:lstStyle/>
          <a:p>
            <a:r>
              <a:rPr lang="en-US" sz="3200" dirty="0">
                <a:latin typeface="Arial" panose="020B0604020202020204" pitchFamily="34" charset="0"/>
                <a:cs typeface="Arial" panose="020B0604020202020204" pitchFamily="34" charset="0"/>
              </a:rPr>
              <a:t>Respiratory change</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4EBF4F-03BA-40E6-B30B-7EB30BE60B31}"/>
              </a:ext>
            </a:extLst>
          </p:cNvPr>
          <p:cNvSpPr>
            <a:spLocks noGrp="1"/>
          </p:cNvSpPr>
          <p:nvPr>
            <p:ph idx="1"/>
          </p:nvPr>
        </p:nvSpPr>
        <p:spPr>
          <a:xfrm>
            <a:off x="838200" y="1474839"/>
            <a:ext cx="10515600" cy="4702124"/>
          </a:xfrm>
        </p:spPr>
        <p:txBody>
          <a:bodyPr>
            <a:normAutofit/>
          </a:bodyPr>
          <a:lstStyle/>
          <a:p>
            <a:pPr marL="0" indent="0" algn="l">
              <a:lnSpc>
                <a:spcPct val="150000"/>
              </a:lnSpc>
              <a:buNone/>
            </a:pPr>
            <a:r>
              <a:rPr lang="en-US" sz="2000" b="0" i="0" u="none" strike="noStrike" baseline="0" dirty="0">
                <a:latin typeface="Arial" panose="020B0604020202020204" pitchFamily="34" charset="0"/>
                <a:cs typeface="Arial" panose="020B0604020202020204" pitchFamily="34" charset="0"/>
              </a:rPr>
              <a:t>Measures to prevent perioperative hypoxia in elderly patients include:</a:t>
            </a:r>
          </a:p>
          <a:p>
            <a:pPr algn="l">
              <a:lnSpc>
                <a:spcPct val="150000"/>
              </a:lnSpc>
            </a:pPr>
            <a:r>
              <a:rPr lang="en-US" sz="2000" b="0" i="0" u="none" strike="noStrike" baseline="0" dirty="0">
                <a:latin typeface="Arial" panose="020B0604020202020204" pitchFamily="34" charset="0"/>
                <a:cs typeface="Arial" panose="020B0604020202020204" pitchFamily="34" charset="0"/>
              </a:rPr>
              <a:t>a longer preoxygenation</a:t>
            </a:r>
          </a:p>
          <a:p>
            <a:pPr algn="l">
              <a:lnSpc>
                <a:spcPct val="150000"/>
              </a:lnSpc>
            </a:pPr>
            <a:r>
              <a:rPr lang="en-US" sz="2000" b="0" i="0" u="none" strike="noStrike" baseline="0" dirty="0">
                <a:latin typeface="Arial" panose="020B0604020202020204" pitchFamily="34" charset="0"/>
                <a:cs typeface="Arial" panose="020B0604020202020204" pitchFamily="34" charset="0"/>
              </a:rPr>
              <a:t>period prior to induction, increased inspired</a:t>
            </a:r>
          </a:p>
          <a:p>
            <a:pPr algn="l">
              <a:lnSpc>
                <a:spcPct val="150000"/>
              </a:lnSpc>
            </a:pPr>
            <a:r>
              <a:rPr lang="en-US" sz="2000" b="0" i="0" u="none" strike="noStrike" baseline="0" dirty="0">
                <a:latin typeface="Arial" panose="020B0604020202020204" pitchFamily="34" charset="0"/>
                <a:cs typeface="Arial" panose="020B0604020202020204" pitchFamily="34" charset="0"/>
              </a:rPr>
              <a:t>oxygen concentrations during anesthesia, positive</a:t>
            </a:r>
          </a:p>
          <a:p>
            <a:pPr algn="l">
              <a:lnSpc>
                <a:spcPct val="150000"/>
              </a:lnSpc>
            </a:pPr>
            <a:r>
              <a:rPr lang="en-US" sz="2000" b="0" i="0" u="none" strike="noStrike" baseline="0" dirty="0">
                <a:latin typeface="Arial" panose="020B0604020202020204" pitchFamily="34" charset="0"/>
                <a:cs typeface="Arial" panose="020B0604020202020204" pitchFamily="34" charset="0"/>
              </a:rPr>
              <a:t>end-expiratory pressure, and pulmonary</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2138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1789"/>
          </a:xfrm>
        </p:spPr>
        <p:txBody>
          <a:bodyPr>
            <a:normAutofit/>
          </a:bodyPr>
          <a:lstStyle/>
          <a:p>
            <a:r>
              <a:rPr lang="en-US" sz="3200" dirty="0">
                <a:latin typeface="Arial" panose="020B0604020202020204" pitchFamily="34" charset="0"/>
                <a:cs typeface="Arial" panose="020B0604020202020204" pitchFamily="34" charset="0"/>
              </a:rPr>
              <a:t> Respiratory change </a:t>
            </a:r>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1486" y="1640115"/>
            <a:ext cx="9260114" cy="450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1696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3731"/>
          </a:xfrm>
        </p:spPr>
        <p:txBody>
          <a:bodyPr/>
          <a:lstStyle/>
          <a:p>
            <a:r>
              <a:rPr lang="en-US" dirty="0"/>
              <a:t>Renal physiology in geriatrics </a:t>
            </a:r>
          </a:p>
        </p:txBody>
      </p:sp>
      <p:pic>
        <p:nvPicPr>
          <p:cNvPr id="1945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16000" y="1625599"/>
            <a:ext cx="9129486" cy="4426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2717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3643-90ED-CAA7-9640-DF101BDF6A5B}"/>
              </a:ext>
            </a:extLst>
          </p:cNvPr>
          <p:cNvSpPr>
            <a:spLocks noGrp="1"/>
          </p:cNvSpPr>
          <p:nvPr>
            <p:ph type="title"/>
          </p:nvPr>
        </p:nvSpPr>
        <p:spPr>
          <a:xfrm>
            <a:off x="838200" y="365125"/>
            <a:ext cx="10515600" cy="970189"/>
          </a:xfrm>
        </p:spPr>
        <p:txBody>
          <a:bodyPr/>
          <a:lstStyle/>
          <a:p>
            <a:r>
              <a:rPr lang="en-US" dirty="0"/>
              <a:t>Factor causing reduction in renal function </a:t>
            </a:r>
          </a:p>
        </p:txBody>
      </p:sp>
      <p:sp>
        <p:nvSpPr>
          <p:cNvPr id="3" name="Content Placeholder 2">
            <a:extLst>
              <a:ext uri="{FF2B5EF4-FFF2-40B4-BE49-F238E27FC236}">
                <a16:creationId xmlns:a16="http://schemas.microsoft.com/office/drawing/2014/main" id="{DC0CEE68-E326-1EC2-9719-0438CC58DCB4}"/>
              </a:ext>
            </a:extLst>
          </p:cNvPr>
          <p:cNvSpPr>
            <a:spLocks noGrp="1"/>
          </p:cNvSpPr>
          <p:nvPr>
            <p:ph idx="1"/>
          </p:nvPr>
        </p:nvSpPr>
        <p:spPr/>
        <p:txBody>
          <a:bodyPr>
            <a:normAutofit/>
          </a:bodyPr>
          <a:lstStyle/>
          <a:p>
            <a:pPr>
              <a:lnSpc>
                <a:spcPct val="150000"/>
              </a:lnSpc>
            </a:pPr>
            <a:r>
              <a:rPr lang="en-US" sz="2000" b="0" i="0" u="none" strike="noStrike" baseline="0" dirty="0">
                <a:solidFill>
                  <a:srgbClr val="000000"/>
                </a:solidFill>
                <a:latin typeface="Arial" panose="020B0604020202020204" pitchFamily="34" charset="0"/>
              </a:rPr>
              <a:t>A reduction in renal perfusion secondary to reduced cardiac output and atheromatous vascular disease leads to a decline in renal function. </a:t>
            </a:r>
          </a:p>
          <a:p>
            <a:pPr>
              <a:lnSpc>
                <a:spcPct val="150000"/>
              </a:lnSpc>
            </a:pPr>
            <a:r>
              <a:rPr lang="en-US" sz="2000" b="0" i="0" u="none" strike="noStrike" baseline="0" dirty="0">
                <a:solidFill>
                  <a:srgbClr val="000000"/>
                </a:solidFill>
                <a:latin typeface="Arial" panose="020B0604020202020204" pitchFamily="34" charset="0"/>
              </a:rPr>
              <a:t>In addition diabetes mellitus is increasingly common, as is the use of nephrotoxic drugs such as non-steroidal anti-inflammatory drugs (NSAID’s) and</a:t>
            </a:r>
          </a:p>
          <a:p>
            <a:pPr>
              <a:lnSpc>
                <a:spcPct val="150000"/>
              </a:lnSpc>
            </a:pPr>
            <a:r>
              <a:rPr lang="en-US" sz="2000" b="0" i="0" u="none" strike="noStrike" baseline="0" dirty="0">
                <a:solidFill>
                  <a:srgbClr val="000000"/>
                </a:solidFill>
                <a:latin typeface="Arial" panose="020B0604020202020204" pitchFamily="34" charset="0"/>
              </a:rPr>
              <a:t> angiotensin converting enzyme inhibitors (ACE inhibitors). </a:t>
            </a:r>
            <a:endParaRPr lang="en-US" sz="2000" dirty="0"/>
          </a:p>
        </p:txBody>
      </p:sp>
    </p:spTree>
    <p:extLst>
      <p:ext uri="{BB962C8B-B14F-4D97-AF65-F5344CB8AC3E}">
        <p14:creationId xmlns:p14="http://schemas.microsoft.com/office/powerpoint/2010/main" val="1730256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CC113-6F73-1655-E198-D903550CE74B}"/>
              </a:ext>
            </a:extLst>
          </p:cNvPr>
          <p:cNvSpPr>
            <a:spLocks noGrp="1"/>
          </p:cNvSpPr>
          <p:nvPr>
            <p:ph type="title"/>
          </p:nvPr>
        </p:nvSpPr>
        <p:spPr>
          <a:xfrm>
            <a:off x="838200" y="365126"/>
            <a:ext cx="10515600" cy="912132"/>
          </a:xfrm>
        </p:spPr>
        <p:txBody>
          <a:bodyPr/>
          <a:lstStyle/>
          <a:p>
            <a:r>
              <a:rPr lang="en-US" dirty="0"/>
              <a:t> contend…..</a:t>
            </a:r>
          </a:p>
        </p:txBody>
      </p:sp>
      <p:sp>
        <p:nvSpPr>
          <p:cNvPr id="3" name="Content Placeholder 2">
            <a:extLst>
              <a:ext uri="{FF2B5EF4-FFF2-40B4-BE49-F238E27FC236}">
                <a16:creationId xmlns:a16="http://schemas.microsoft.com/office/drawing/2014/main" id="{3981F9A3-6FF7-18D3-E521-88F4BEACE4AF}"/>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2000" dirty="0">
                <a:effectLst/>
                <a:latin typeface="Arial" panose="020B0604020202020204" pitchFamily="34" charset="0"/>
                <a:ea typeface="Times New Roman" panose="02020603050405020304" pitchFamily="18" charset="0"/>
                <a:cs typeface="Arial" panose="020B0604020202020204" pitchFamily="34" charset="0"/>
              </a:rPr>
              <a:t>Though, postoperative renal failure is rare, reduced renal blood flow and decreased nephron mass may increase the risk </a:t>
            </a:r>
          </a:p>
          <a:p>
            <a:pPr>
              <a:lnSpc>
                <a:spcPct val="150000"/>
              </a:lnSpc>
            </a:pPr>
            <a:r>
              <a:rPr lang="en-US" sz="2000" dirty="0">
                <a:effectLst/>
                <a:latin typeface="Arial" panose="020B0604020202020204" pitchFamily="34" charset="0"/>
                <a:ea typeface="Times New Roman" panose="02020603050405020304" pitchFamily="18" charset="0"/>
                <a:cs typeface="Arial" panose="020B0604020202020204" pitchFamily="34" charset="0"/>
              </a:rPr>
              <a:t>Risk factors for acute postoperative renal failure include </a:t>
            </a:r>
          </a:p>
          <a:p>
            <a:pPr>
              <a:lnSpc>
                <a:spcPct val="150000"/>
              </a:lnSpc>
              <a:buFont typeface="Wingdings" panose="05000000000000000000" pitchFamily="2" charset="2"/>
              <a:buChar char="Ø"/>
            </a:pPr>
            <a:r>
              <a:rPr lang="en-US" sz="2000" dirty="0">
                <a:effectLst/>
                <a:latin typeface="Arial" panose="020B0604020202020204" pitchFamily="34" charset="0"/>
                <a:ea typeface="Times New Roman" panose="02020603050405020304" pitchFamily="18" charset="0"/>
                <a:cs typeface="Arial" panose="020B0604020202020204" pitchFamily="34" charset="0"/>
              </a:rPr>
              <a:t>advanced age, diabetes mellitus, preexisting renal insufficiency, major vascular surgery, and recent exposure to nephrotoxins.</a:t>
            </a:r>
          </a:p>
          <a:p>
            <a:pPr>
              <a:lnSpc>
                <a:spcPct val="150000"/>
              </a:lnSpc>
              <a:buFont typeface="Wingdings" panose="05000000000000000000" pitchFamily="2" charset="2"/>
              <a:buChar char="Ø"/>
            </a:pPr>
            <a:r>
              <a:rPr lang="en-US" sz="2000" dirty="0">
                <a:effectLst/>
                <a:latin typeface="Arial" panose="020B0604020202020204" pitchFamily="34" charset="0"/>
                <a:ea typeface="Times New Roman" panose="02020603050405020304" pitchFamily="18" charset="0"/>
                <a:cs typeface="Arial" panose="020B0604020202020204" pitchFamily="34" charset="0"/>
              </a:rPr>
              <a:t>Sympathetic stimulation, pain, surgical stress, and the use of vasoconstrictive drugs may induce subclinical renal insufficiency.</a:t>
            </a:r>
            <a:endParaRPr lang="en-US" sz="2000" dirty="0">
              <a:effectLst/>
              <a:latin typeface="Arial" panose="020B0604020202020204" pitchFamily="34" charset="0"/>
              <a:ea typeface="Calibri" panose="020F0502020204030204" pitchFamily="34" charset="0"/>
              <a:cs typeface="Arial" panose="020B0604020202020204" pitchFamily="34" charset="0"/>
            </a:endParaRPr>
          </a:p>
          <a:p>
            <a:pPr>
              <a:lnSpc>
                <a:spcPct val="150000"/>
              </a:lnSpc>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641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2C877-3CE4-3052-204F-370BD66F484D}"/>
              </a:ext>
            </a:extLst>
          </p:cNvPr>
          <p:cNvSpPr>
            <a:spLocks noGrp="1"/>
          </p:cNvSpPr>
          <p:nvPr>
            <p:ph type="title"/>
          </p:nvPr>
        </p:nvSpPr>
        <p:spPr/>
        <p:txBody>
          <a:bodyPr/>
          <a:lstStyle/>
          <a:p>
            <a:r>
              <a:rPr lang="en-US" dirty="0"/>
              <a:t> continued </a:t>
            </a:r>
          </a:p>
        </p:txBody>
      </p:sp>
      <p:sp>
        <p:nvSpPr>
          <p:cNvPr id="3" name="Content Placeholder 2">
            <a:extLst>
              <a:ext uri="{FF2B5EF4-FFF2-40B4-BE49-F238E27FC236}">
                <a16:creationId xmlns:a16="http://schemas.microsoft.com/office/drawing/2014/main" id="{91C5115C-5CAC-A812-7FE2-81F28E7000EC}"/>
              </a:ext>
            </a:extLst>
          </p:cNvPr>
          <p:cNvSpPr>
            <a:spLocks noGrp="1"/>
          </p:cNvSpPr>
          <p:nvPr>
            <p:ph idx="1"/>
          </p:nvPr>
        </p:nvSpPr>
        <p:spPr/>
        <p:txBody>
          <a:bodyPr>
            <a:normAutofit fontScale="85000" lnSpcReduction="10000"/>
          </a:bodyPr>
          <a:lstStyle/>
          <a:p>
            <a:pPr>
              <a:lnSpc>
                <a:spcPct val="150000"/>
              </a:lnSpc>
              <a:buFont typeface="Wingdings" panose="05000000000000000000" pitchFamily="2" charset="2"/>
              <a:buChar char="Ø"/>
            </a:pPr>
            <a:r>
              <a:rPr lang="en-US" sz="2000" b="0" i="0" u="none" strike="noStrike" baseline="0" dirty="0">
                <a:solidFill>
                  <a:srgbClr val="000000"/>
                </a:solidFill>
                <a:latin typeface="Arial" panose="020B0604020202020204" pitchFamily="34" charset="0"/>
                <a:cs typeface="Arial" panose="020B0604020202020204" pitchFamily="34" charset="0"/>
              </a:rPr>
              <a:t>Renal impairment may lead to a reduced ability to excrete or conserve fluids, electrolyte imbalance and a reduction in the clearance of </a:t>
            </a:r>
            <a:r>
              <a:rPr lang="en-US" sz="2000" b="0" i="0" u="none" strike="noStrike" baseline="0" dirty="0" err="1">
                <a:solidFill>
                  <a:srgbClr val="000000"/>
                </a:solidFill>
                <a:latin typeface="Arial" panose="020B0604020202020204" pitchFamily="34" charset="0"/>
                <a:cs typeface="Arial" panose="020B0604020202020204" pitchFamily="34" charset="0"/>
              </a:rPr>
              <a:t>renaly</a:t>
            </a:r>
            <a:r>
              <a:rPr lang="en-US" sz="2000" b="0" i="0" u="none" strike="noStrike" baseline="0" dirty="0">
                <a:solidFill>
                  <a:srgbClr val="000000"/>
                </a:solidFill>
                <a:latin typeface="Arial" panose="020B0604020202020204" pitchFamily="34" charset="0"/>
                <a:cs typeface="Arial" panose="020B0604020202020204" pitchFamily="34" charset="0"/>
              </a:rPr>
              <a:t> excreted drugs. </a:t>
            </a:r>
            <a:endParaRPr lang="en-US" sz="2000" dirty="0">
              <a:effectLst/>
              <a:latin typeface="Arial" panose="020B0604020202020204" pitchFamily="34" charset="0"/>
              <a:ea typeface="Times New Roman" panose="02020603050405020304" pitchFamily="18" charset="0"/>
              <a:cs typeface="Arial" panose="020B0604020202020204" pitchFamily="34" charset="0"/>
            </a:endParaRPr>
          </a:p>
          <a:p>
            <a:pPr algn="l">
              <a:lnSpc>
                <a:spcPct val="150000"/>
              </a:lnSpc>
            </a:pPr>
            <a:r>
              <a:rPr lang="en-US" sz="1800" b="0" i="0" u="none" strike="noStrike" baseline="0" dirty="0">
                <a:latin typeface="Arial" panose="020B0604020202020204" pitchFamily="34" charset="0"/>
                <a:cs typeface="Arial" panose="020B0604020202020204" pitchFamily="34" charset="0"/>
              </a:rPr>
              <a:t>Impairment of Na + </a:t>
            </a:r>
            <a:r>
              <a:rPr lang="en-US" sz="1800" b="0" i="0" u="none" strike="noStrike" baseline="0" dirty="0" err="1">
                <a:latin typeface="Arial" panose="020B0604020202020204" pitchFamily="34" charset="0"/>
                <a:cs typeface="Arial" panose="020B0604020202020204" pitchFamily="34" charset="0"/>
              </a:rPr>
              <a:t>handling,concentrating</a:t>
            </a:r>
            <a:r>
              <a:rPr lang="en-US" sz="1800" b="0" i="0" u="none" strike="noStrike" baseline="0" dirty="0">
                <a:latin typeface="Arial" panose="020B0604020202020204" pitchFamily="34" charset="0"/>
                <a:cs typeface="Arial" panose="020B0604020202020204" pitchFamily="34" charset="0"/>
              </a:rPr>
              <a:t> ability, and diluting capacity predispose elderly patients to both dehydration and fluid overload. </a:t>
            </a:r>
          </a:p>
          <a:p>
            <a:pPr algn="l">
              <a:lnSpc>
                <a:spcPct val="150000"/>
              </a:lnSpc>
            </a:pPr>
            <a:r>
              <a:rPr lang="en-US" sz="1800" b="0" i="0" u="none" strike="noStrike" baseline="0" dirty="0">
                <a:latin typeface="Arial" panose="020B0604020202020204" pitchFamily="34" charset="0"/>
                <a:cs typeface="Arial" panose="020B0604020202020204" pitchFamily="34" charset="0"/>
              </a:rPr>
              <a:t>The response to antidiuretic hormone and aldosterone is reduced. </a:t>
            </a:r>
          </a:p>
          <a:p>
            <a:pPr algn="l">
              <a:lnSpc>
                <a:spcPct val="150000"/>
              </a:lnSpc>
            </a:pPr>
            <a:r>
              <a:rPr lang="en-US" sz="1800" b="0" i="0" u="none" strike="noStrike" baseline="0" dirty="0">
                <a:latin typeface="Arial" panose="020B0604020202020204" pitchFamily="34" charset="0"/>
                <a:cs typeface="Arial" panose="020B0604020202020204" pitchFamily="34" charset="0"/>
              </a:rPr>
              <a:t>The</a:t>
            </a:r>
            <a:r>
              <a:rPr lang="en-US" sz="180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ability to reabsorb glucose is decreased</a:t>
            </a:r>
          </a:p>
          <a:p>
            <a:pPr algn="l">
              <a:lnSpc>
                <a:spcPct val="150000"/>
              </a:lnSpc>
              <a:buFont typeface="Wingdings" panose="05000000000000000000" pitchFamily="2" charset="2"/>
              <a:buChar char="Ø"/>
            </a:pPr>
            <a:r>
              <a:rPr lang="en-US" sz="2000" dirty="0">
                <a:effectLst/>
                <a:latin typeface="Arial" panose="020B0604020202020204" pitchFamily="34" charset="0"/>
                <a:ea typeface="Times New Roman" panose="02020603050405020304" pitchFamily="18" charset="0"/>
                <a:cs typeface="Arial" panose="020B0604020202020204" pitchFamily="34" charset="0"/>
              </a:rPr>
              <a:t> </a:t>
            </a:r>
            <a:r>
              <a:rPr lang="en-US" sz="2000" dirty="0">
                <a:latin typeface="Arial" panose="020B0604020202020204" pitchFamily="34" charset="0"/>
                <a:ea typeface="Times New Roman" panose="02020603050405020304" pitchFamily="18" charset="0"/>
                <a:cs typeface="Arial" panose="020B0604020202020204" pitchFamily="34" charset="0"/>
              </a:rPr>
              <a:t>T</a:t>
            </a:r>
            <a:r>
              <a:rPr lang="en-US" sz="2000" dirty="0">
                <a:effectLst/>
                <a:latin typeface="Arial" panose="020B0604020202020204" pitchFamily="34" charset="0"/>
                <a:ea typeface="Times New Roman" panose="02020603050405020304" pitchFamily="18" charset="0"/>
                <a:cs typeface="Arial" panose="020B0604020202020204" pitchFamily="34" charset="0"/>
              </a:rPr>
              <a:t>herefore, Monitoring of urine output during and after major surgery would be regularly performed. </a:t>
            </a:r>
          </a:p>
          <a:p>
            <a:pPr marL="0" indent="0">
              <a:lnSpc>
                <a:spcPct val="150000"/>
              </a:lnSpc>
              <a:buNone/>
            </a:pPr>
            <a:r>
              <a:rPr lang="en-US" sz="2000" dirty="0">
                <a:effectLst/>
                <a:latin typeface="Arial" panose="020B0604020202020204" pitchFamily="34" charset="0"/>
                <a:ea typeface="Times New Roman" panose="02020603050405020304" pitchFamily="18" charset="0"/>
                <a:cs typeface="Arial" panose="020B0604020202020204" pitchFamily="34" charset="0"/>
              </a:rPr>
              <a:t>Geriatric patients do not require a specific fluid regimen. </a:t>
            </a:r>
          </a:p>
          <a:p>
            <a:pPr>
              <a:lnSpc>
                <a:spcPct val="150000"/>
              </a:lnSpc>
              <a:buFont typeface="Wingdings" panose="05000000000000000000" pitchFamily="2" charset="2"/>
              <a:buChar char="Ø"/>
            </a:pPr>
            <a:r>
              <a:rPr lang="en-US" sz="2000" dirty="0">
                <a:latin typeface="Arial" panose="020B0604020202020204" pitchFamily="34" charset="0"/>
                <a:ea typeface="Times New Roman" panose="02020603050405020304" pitchFamily="18" charset="0"/>
                <a:cs typeface="Arial" panose="020B0604020202020204" pitchFamily="34" charset="0"/>
              </a:rPr>
              <a:t> </a:t>
            </a:r>
            <a:r>
              <a:rPr lang="en-US" sz="2000" dirty="0">
                <a:effectLst/>
                <a:latin typeface="Arial" panose="020B0604020202020204" pitchFamily="34" charset="0"/>
                <a:ea typeface="Times New Roman" panose="02020603050405020304" pitchFamily="18" charset="0"/>
                <a:cs typeface="Arial" panose="020B0604020202020204" pitchFamily="34" charset="0"/>
              </a:rPr>
              <a:t>However, they are less able to achieve hypovolemia or hypervolemia</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6472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62BB-F6B6-C9DC-28E0-A8E366C34596}"/>
              </a:ext>
            </a:extLst>
          </p:cNvPr>
          <p:cNvSpPr>
            <a:spLocks noGrp="1"/>
          </p:cNvSpPr>
          <p:nvPr>
            <p:ph type="title"/>
          </p:nvPr>
        </p:nvSpPr>
        <p:spPr>
          <a:xfrm>
            <a:off x="838200" y="365126"/>
            <a:ext cx="10515600" cy="520246"/>
          </a:xfrm>
        </p:spPr>
        <p:txBody>
          <a:bodyPr>
            <a:normAutofit fontScale="90000"/>
          </a:bodyPr>
          <a:lstStyle/>
          <a:p>
            <a:r>
              <a:rPr lang="en-US" dirty="0"/>
              <a:t> continued </a:t>
            </a:r>
          </a:p>
        </p:txBody>
      </p:sp>
      <p:sp>
        <p:nvSpPr>
          <p:cNvPr id="3" name="Content Placeholder 2">
            <a:extLst>
              <a:ext uri="{FF2B5EF4-FFF2-40B4-BE49-F238E27FC236}">
                <a16:creationId xmlns:a16="http://schemas.microsoft.com/office/drawing/2014/main" id="{3D57D2F1-D6D0-28EE-7084-D4E99C7A6CAF}"/>
              </a:ext>
            </a:extLst>
          </p:cNvPr>
          <p:cNvSpPr>
            <a:spLocks noGrp="1"/>
          </p:cNvSpPr>
          <p:nvPr>
            <p:ph idx="1"/>
          </p:nvPr>
        </p:nvSpPr>
        <p:spPr>
          <a:xfrm>
            <a:off x="838200" y="1233714"/>
            <a:ext cx="10515600" cy="5259160"/>
          </a:xfrm>
        </p:spPr>
        <p:txBody>
          <a:bodyPr>
            <a:normAutofit fontScale="92500" lnSpcReduction="10000"/>
          </a:bodyPr>
          <a:lstStyle/>
          <a:p>
            <a:pPr marR="0" algn="just">
              <a:lnSpc>
                <a:spcPct val="150000"/>
              </a:lnSpc>
            </a:pPr>
            <a:r>
              <a:rPr lang="en-US" sz="2000" b="0" i="0" u="none" strike="noStrike" baseline="0" dirty="0">
                <a:solidFill>
                  <a:srgbClr val="000000"/>
                </a:solidFill>
                <a:latin typeface="Arial" panose="020B0604020202020204" pitchFamily="34" charset="0"/>
                <a:cs typeface="Arial" panose="020B0604020202020204" pitchFamily="34" charset="0"/>
              </a:rPr>
              <a:t>Laboratory results may be deceivingly normal in the elderly since muscle bulk decreases with age resulting in reduced creatinine production. </a:t>
            </a:r>
          </a:p>
          <a:p>
            <a:pPr marR="0" algn="just">
              <a:lnSpc>
                <a:spcPct val="150000"/>
              </a:lnSpc>
            </a:pPr>
            <a:r>
              <a:rPr lang="en-US" sz="2000" b="0" i="0" u="none" strike="noStrike" baseline="0" dirty="0">
                <a:solidFill>
                  <a:srgbClr val="000000"/>
                </a:solidFill>
                <a:latin typeface="Arial" panose="020B0604020202020204" pitchFamily="34" charset="0"/>
                <a:cs typeface="Arial" panose="020B0604020202020204" pitchFamily="34" charset="0"/>
              </a:rPr>
              <a:t>A small rise in the creatinine level may therefore indicate significant renal impairment. </a:t>
            </a:r>
          </a:p>
          <a:p>
            <a:pPr marR="0" algn="just">
              <a:lnSpc>
                <a:spcPct val="150000"/>
              </a:lnSpc>
            </a:pPr>
            <a:r>
              <a:rPr lang="en-US" sz="2000" b="0" i="0" u="none" strike="noStrike" baseline="0" dirty="0">
                <a:solidFill>
                  <a:srgbClr val="000000"/>
                </a:solidFill>
                <a:latin typeface="Arial" panose="020B0604020202020204" pitchFamily="34" charset="0"/>
                <a:cs typeface="Arial" panose="020B0604020202020204" pitchFamily="34" charset="0"/>
              </a:rPr>
              <a:t>Creatinine clearance is a more useful test of renal function and can be calculated from a 24-hour urine collection. </a:t>
            </a:r>
          </a:p>
          <a:p>
            <a:pPr marR="0" algn="just">
              <a:lnSpc>
                <a:spcPct val="150000"/>
              </a:lnSpc>
            </a:pPr>
            <a:r>
              <a:rPr lang="en-US" sz="2000" b="0" i="0" u="none" strike="noStrike" baseline="0" dirty="0">
                <a:solidFill>
                  <a:srgbClr val="000000"/>
                </a:solidFill>
                <a:latin typeface="Arial" panose="020B0604020202020204" pitchFamily="34" charset="0"/>
                <a:cs typeface="Arial" panose="020B0604020202020204" pitchFamily="34" charset="0"/>
              </a:rPr>
              <a:t>An estimation of creatinine clearance can be derived using a patients age, weight and gender using the modified </a:t>
            </a:r>
            <a:r>
              <a:rPr lang="en-US" sz="2000" b="0" i="0" u="none" strike="noStrike" baseline="0" dirty="0" err="1">
                <a:solidFill>
                  <a:srgbClr val="000000"/>
                </a:solidFill>
                <a:latin typeface="Arial" panose="020B0604020202020204" pitchFamily="34" charset="0"/>
                <a:cs typeface="Arial" panose="020B0604020202020204" pitchFamily="34" charset="0"/>
              </a:rPr>
              <a:t>Cockroft</a:t>
            </a:r>
            <a:r>
              <a:rPr lang="en-US" sz="2000" b="0" i="0" u="none" strike="noStrike" baseline="0" dirty="0">
                <a:solidFill>
                  <a:srgbClr val="000000"/>
                </a:solidFill>
                <a:latin typeface="Arial" panose="020B0604020202020204" pitchFamily="34" charset="0"/>
                <a:cs typeface="Arial" panose="020B0604020202020204" pitchFamily="34" charset="0"/>
              </a:rPr>
              <a:t>-Gault formula. </a:t>
            </a:r>
          </a:p>
          <a:p>
            <a:pPr marR="0" algn="just">
              <a:lnSpc>
                <a:spcPct val="150000"/>
              </a:lnSpc>
            </a:pPr>
            <a:r>
              <a:rPr lang="en-US" sz="2000" b="1" i="0" u="none" strike="noStrike" baseline="0" dirty="0">
                <a:solidFill>
                  <a:srgbClr val="FF0000"/>
                </a:solidFill>
                <a:latin typeface="Arial" panose="020B0604020202020204" pitchFamily="34" charset="0"/>
                <a:cs typeface="Arial" panose="020B0604020202020204" pitchFamily="34" charset="0"/>
              </a:rPr>
              <a:t>Creatinine Clearance (ml/min) = (140-age) x Weight (Kg) x Constant </a:t>
            </a:r>
            <a:endParaRPr lang="en-US" sz="2000" b="0" i="0" u="none" strike="noStrike" baseline="0" dirty="0">
              <a:solidFill>
                <a:srgbClr val="FF0000"/>
              </a:solidFill>
              <a:latin typeface="Arial" panose="020B0604020202020204" pitchFamily="34" charset="0"/>
              <a:cs typeface="Arial" panose="020B0604020202020204" pitchFamily="34" charset="0"/>
            </a:endParaRPr>
          </a:p>
          <a:p>
            <a:pPr marR="0" algn="ctr">
              <a:lnSpc>
                <a:spcPct val="150000"/>
              </a:lnSpc>
            </a:pPr>
            <a:r>
              <a:rPr lang="en-US" sz="2000" b="1" i="0" u="none" strike="noStrike" baseline="0" dirty="0">
                <a:solidFill>
                  <a:srgbClr val="FF0000"/>
                </a:solidFill>
                <a:latin typeface="Arial" panose="020B0604020202020204" pitchFamily="34" charset="0"/>
                <a:cs typeface="Arial" panose="020B0604020202020204" pitchFamily="34" charset="0"/>
              </a:rPr>
              <a:t>Serum Creatinine (</a:t>
            </a:r>
            <a:r>
              <a:rPr lang="el-GR" sz="2000" b="0" i="0" u="none" strike="noStrike" baseline="0" dirty="0">
                <a:solidFill>
                  <a:srgbClr val="FF0000"/>
                </a:solidFill>
                <a:latin typeface="Arial" panose="020B0604020202020204" pitchFamily="34" charset="0"/>
                <a:cs typeface="Arial" panose="020B0604020202020204" pitchFamily="34" charset="0"/>
              </a:rPr>
              <a:t>μ</a:t>
            </a:r>
            <a:r>
              <a:rPr lang="en-US" sz="2000" b="1" i="0" u="none" strike="noStrike" baseline="0" dirty="0">
                <a:solidFill>
                  <a:srgbClr val="FF0000"/>
                </a:solidFill>
                <a:latin typeface="Arial" panose="020B0604020202020204" pitchFamily="34" charset="0"/>
                <a:cs typeface="Arial" panose="020B0604020202020204" pitchFamily="34" charset="0"/>
              </a:rPr>
              <a:t>mol/L) </a:t>
            </a:r>
            <a:endParaRPr lang="en-US" sz="2000" b="0" i="0" u="none" strike="noStrike" baseline="0" dirty="0">
              <a:solidFill>
                <a:srgbClr val="FF0000"/>
              </a:solidFill>
              <a:latin typeface="Arial" panose="020B0604020202020204" pitchFamily="34" charset="0"/>
              <a:cs typeface="Arial" panose="020B0604020202020204" pitchFamily="34" charset="0"/>
            </a:endParaRPr>
          </a:p>
          <a:p>
            <a:pPr marR="0" algn="just">
              <a:lnSpc>
                <a:spcPct val="150000"/>
              </a:lnSpc>
            </a:pPr>
            <a:r>
              <a:rPr lang="en-US" sz="2000" b="0" i="0" u="none" strike="noStrike" baseline="0" dirty="0">
                <a:solidFill>
                  <a:srgbClr val="FF0000"/>
                </a:solidFill>
                <a:latin typeface="Arial" panose="020B0604020202020204" pitchFamily="34" charset="0"/>
                <a:cs typeface="Arial" panose="020B0604020202020204" pitchFamily="34" charset="0"/>
              </a:rPr>
              <a:t>Constant for males = 1.23 </a:t>
            </a:r>
          </a:p>
          <a:p>
            <a:pPr marR="0" algn="just"/>
            <a:r>
              <a:rPr lang="en-US" sz="1800" b="0" i="0" u="none" strike="noStrike" baseline="0" dirty="0">
                <a:solidFill>
                  <a:srgbClr val="FF0000"/>
                </a:solidFill>
                <a:latin typeface="Arial" panose="020B0604020202020204" pitchFamily="34" charset="0"/>
              </a:rPr>
              <a:t>Constant for females = 1.04 </a:t>
            </a:r>
            <a:endParaRPr lang="en-US" dirty="0"/>
          </a:p>
        </p:txBody>
      </p:sp>
    </p:spTree>
    <p:extLst>
      <p:ext uri="{BB962C8B-B14F-4D97-AF65-F5344CB8AC3E}">
        <p14:creationId xmlns:p14="http://schemas.microsoft.com/office/powerpoint/2010/main" val="3453140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7EB8-E80B-4C0F-C3E1-7D5CA9DB02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308939-0CAB-1BFC-4C91-BFA09DEE769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87979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145A2-6FED-2530-7DC3-8A47D05419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E58CFE-9AC5-49C9-A366-18E20823ECC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64801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FA91B-3041-3997-67F9-BCCF9E969F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0455B3-0DD2-3F14-A593-30FC6E91BAC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26897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069B4-0EDD-6A04-64A0-667BAF903A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019EB5-996D-793C-3A4E-8C10B9BA463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91608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F5DDE-B958-1ACC-6EF8-2B09FC0CF6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E09C81-2115-AEFC-720B-5E54BE28206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08847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0EBFB-07E6-4E0B-9082-49497022CED1}"/>
              </a:ext>
            </a:extLst>
          </p:cNvPr>
          <p:cNvSpPr>
            <a:spLocks noGrp="1"/>
          </p:cNvSpPr>
          <p:nvPr>
            <p:ph type="title"/>
          </p:nvPr>
        </p:nvSpPr>
        <p:spPr>
          <a:xfrm>
            <a:off x="838200" y="246743"/>
            <a:ext cx="10515600" cy="885371"/>
          </a:xfrm>
        </p:spPr>
        <p:txBody>
          <a:bodyPr/>
          <a:lstStyle/>
          <a:p>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5C8F7188-B0A2-428C-9BBD-C0C6401BB523}"/>
              </a:ext>
            </a:extLst>
          </p:cNvPr>
          <p:cNvSpPr>
            <a:spLocks noGrp="1"/>
          </p:cNvSpPr>
          <p:nvPr>
            <p:ph idx="1"/>
          </p:nvPr>
        </p:nvSpPr>
        <p:spPr>
          <a:xfrm>
            <a:off x="838200" y="1320800"/>
            <a:ext cx="10515600" cy="4856163"/>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Millers Anesthesia, 8th Edition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Clinical anesthesia, Barash 8th Edition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Morgan and Mikhail’s clinical </a:t>
            </a:r>
            <a:r>
              <a:rPr lang="en-US" sz="2400" dirty="0" err="1">
                <a:latin typeface="Times New Roman" panose="02020603050405020304" pitchFamily="18" charset="0"/>
                <a:cs typeface="Times New Roman" panose="02020603050405020304" pitchFamily="18" charset="0"/>
              </a:rPr>
              <a:t>anaesthesiology</a:t>
            </a:r>
            <a:r>
              <a:rPr lang="en-US" sz="2400" dirty="0">
                <a:latin typeface="Times New Roman" panose="02020603050405020304" pitchFamily="18" charset="0"/>
                <a:cs typeface="Times New Roman" panose="02020603050405020304" pitchFamily="18" charset="0"/>
              </a:rPr>
              <a:t> 6th edition</a:t>
            </a:r>
          </a:p>
        </p:txBody>
      </p:sp>
    </p:spTree>
    <p:extLst>
      <p:ext uri="{BB962C8B-B14F-4D97-AF65-F5344CB8AC3E}">
        <p14:creationId xmlns:p14="http://schemas.microsoft.com/office/powerpoint/2010/main" val="2478801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6517</TotalTime>
  <Words>1523</Words>
  <Application>Microsoft Office PowerPoint</Application>
  <PresentationFormat>Widescreen</PresentationFormat>
  <Paragraphs>183</Paragraphs>
  <Slides>29</Slides>
  <Notes>13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29</vt:i4>
      </vt:variant>
    </vt:vector>
  </HeadingPairs>
  <TitlesOfParts>
    <vt:vector size="41" baseType="lpstr">
      <vt:lpstr>Arial</vt:lpstr>
      <vt:lpstr>Arial</vt:lpstr>
      <vt:lpstr>Calibri</vt:lpstr>
      <vt:lpstr>Calibri Light</vt:lpstr>
      <vt:lpstr>Google Sans</vt:lpstr>
      <vt:lpstr>MinionPro-Regular</vt:lpstr>
      <vt:lpstr>MyriadPro-Bold</vt:lpstr>
      <vt:lpstr>MyriadPro-Regular</vt:lpstr>
      <vt:lpstr>Times New Roman</vt:lpstr>
      <vt:lpstr>Wingdings</vt:lpstr>
      <vt:lpstr>Office Theme</vt:lpstr>
      <vt:lpstr>1_Office Theme</vt:lpstr>
      <vt:lpstr>Module Title: Geriatrics Anesthesia  Module Code: AnstM-5341  Module ECTS: 5 ECTS  Module Duration: 20 Weeks </vt:lpstr>
      <vt:lpstr>  Physiological change in Geriatrics</vt:lpstr>
      <vt:lpstr>Contiuned </vt:lpstr>
      <vt:lpstr>Age-related physiological changes and common diseases of the elderly.</vt:lpstr>
      <vt:lpstr>Age-related physiological changes and common diseases of the elderly.</vt:lpstr>
      <vt:lpstr>Age-related physiological changes and common diseases of the elderly.</vt:lpstr>
      <vt:lpstr>  </vt:lpstr>
      <vt:lpstr>   Cardiovascular change </vt:lpstr>
      <vt:lpstr> Cardiovascular change </vt:lpstr>
      <vt:lpstr> Cardiovascular change</vt:lpstr>
      <vt:lpstr>Cardiovascular change</vt:lpstr>
      <vt:lpstr>PowerPoint Presentation</vt:lpstr>
      <vt:lpstr>   Respiratory change </vt:lpstr>
      <vt:lpstr> Respiratory change </vt:lpstr>
      <vt:lpstr> Respiratory change </vt:lpstr>
      <vt:lpstr> Respiratory change </vt:lpstr>
      <vt:lpstr>Respiratory change</vt:lpstr>
      <vt:lpstr> Respiratory change </vt:lpstr>
      <vt:lpstr>Renal physiology in geriatrics </vt:lpstr>
      <vt:lpstr>Factor causing reduction in renal function </vt:lpstr>
      <vt:lpstr> contend…..</vt:lpstr>
      <vt:lpstr> continued </vt:lpstr>
      <vt:lpstr> continued </vt:lpstr>
      <vt:lpstr>PowerPoint Presentation</vt:lpstr>
      <vt:lpstr>PowerPoint Presentation</vt:lpstr>
      <vt:lpstr>PowerPoint Presentation</vt:lpstr>
      <vt:lpstr>PowerPoint Presentation</vt:lpstr>
      <vt:lpstr>PowerPoint Presentation</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Cerebral aneurysm surgery and endovascular Treatment</dc:title>
  <dc:creator>user</dc:creator>
  <cp:lastModifiedBy>samuelhirbo1@gmail.com</cp:lastModifiedBy>
  <cp:revision>57</cp:revision>
  <dcterms:created xsi:type="dcterms:W3CDTF">2021-12-05T11:53:54Z</dcterms:created>
  <dcterms:modified xsi:type="dcterms:W3CDTF">2023-04-03T14:35:46Z</dcterms:modified>
</cp:coreProperties>
</file>