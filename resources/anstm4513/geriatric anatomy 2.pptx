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303" r:id="rId4"/>
    <p:sldId id="298" r:id="rId5"/>
    <p:sldId id="299" r:id="rId6"/>
    <p:sldId id="28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85" autoAdjust="0"/>
    <p:restoredTop sz="90608" autoAdjust="0"/>
  </p:normalViewPr>
  <p:slideViewPr>
    <p:cSldViewPr snapToGrid="0">
      <p:cViewPr varScale="1">
        <p:scale>
          <a:sx n="66" d="100"/>
          <a:sy n="66" d="100"/>
        </p:scale>
        <p:origin x="10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ED34A8-F71D-4EE3-8128-8DB219DAECE7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4EF854-2BDD-4201-9567-40C0CDD0B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261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4EF854-2BDD-4201-9567-40C0CDD0B74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697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#: The anatomic change may contribute to the risk of a difficult airway. OA: osteoarthritis; TMJ: temporo-</a:t>
            </a:r>
            <a:r>
              <a:rPr lang="en-US" dirty="0" err="1"/>
              <a:t>madibular</a:t>
            </a:r>
            <a:r>
              <a:rPr lang="en-US" dirty="0"/>
              <a:t> joint.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4EF854-2BDD-4201-9567-40C0CDD0B74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968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4EF854-2BDD-4201-9567-40C0CDD0B74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01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4EF854-2BDD-4201-9567-40C0CDD0B74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2717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4EF854-2BDD-4201-9567-40C0CDD0B74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346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D7D26-09FF-4887-9692-4E2203C466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ECD235-F580-4CEF-83C5-D34BC416AB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3D0DD-8893-46DE-AA27-013E53482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3D92F-5431-4829-AF8D-ABB967570F94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83277-9B6E-4EFE-A237-17D76EC3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3EB962-E391-4391-9108-BC043C413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E-2D23-4483-8673-7EDAB3BF6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191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1B68C-3ACB-4556-93DC-06FFA6E62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E0464-8E9D-487C-A6BA-62D52993B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97430-B415-4777-A056-8D87CBA8F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3D92F-5431-4829-AF8D-ABB967570F94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3B8BD-F2DE-4135-A61A-E0A3F9FDD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20920-15A3-47C2-955E-9B6126A1F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E-2D23-4483-8673-7EDAB3BF6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392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7E774-3F82-4AE8-AD8A-872222B8F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9CD7A3-EB9E-44E3-97E7-DB9E97CD7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072FB-19A0-46EB-8386-EA95511E6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3D92F-5431-4829-AF8D-ABB967570F94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0E857-1AC0-4D82-9C35-ACE4A0EBD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618A4-026D-4651-A199-A2344E793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E-2D23-4483-8673-7EDAB3BF6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64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92280-CB3B-48F0-AB32-64BB9498E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26C3E-5B54-4A34-94A2-B6566E0DF5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EB63B7-EC0D-446D-8C26-A3BEE5A08F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662C1-C110-4513-811D-C7D6E5DB4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3D92F-5431-4829-AF8D-ABB967570F94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B67C8A-5F17-449A-8736-2DD61C0E1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600B5-6EF5-4C23-A811-380571817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E-2D23-4483-8673-7EDAB3BF6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23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5A949-A629-4B61-A7F6-FA5F833FF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0F6393-76C8-41E5-BF8C-0E5E799B77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AF5434-A496-4B09-BEE0-800F5DD4FD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CDA569-BF9F-494E-8CA3-F11BB7D3FC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C29941-258E-4329-BB86-881B6237DE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A5E28D-D92F-45C1-A072-F01A3FA3E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3D92F-5431-4829-AF8D-ABB967570F94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97C90D-0AC0-4AC3-9A2F-D399F096D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B0F09F-0192-4351-A2B9-1A1F04A23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E-2D23-4483-8673-7EDAB3BF6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607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4AC49-01A8-4CFE-B6EE-906852909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03CCED-814B-4A7D-BC9D-02D7B37CF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3D92F-5431-4829-AF8D-ABB967570F94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30209F-4F3D-44F7-B243-30DE9DE58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DCF742-9515-4812-8969-70A371125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E-2D23-4483-8673-7EDAB3BF6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801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067627-A080-4A5C-8CF1-9058B15DB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3D92F-5431-4829-AF8D-ABB967570F94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B19CBA-5DE8-46EF-BC1D-0C8970CBB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7D0BB1-B991-4D90-BF81-626A2E5A6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E-2D23-4483-8673-7EDAB3BF6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920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B5943-CDFA-45E1-93B9-525BAE2A5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359EE-A854-486A-A6B0-EC1DF7D18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3A8CD8-BF64-4556-A498-26EAC27206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F07089-82EB-445E-B1E4-9B08CDC3D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3D92F-5431-4829-AF8D-ABB967570F94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282C49-620A-409B-A292-2368099E7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3567E2-0152-4553-8414-9DAB0C104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E-2D23-4483-8673-7EDAB3BF6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951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5108A-2C20-4962-A85C-D19318558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029E9C-E6CD-49C9-9A91-1AA2F5D112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BF8500-7F98-4D6C-AFFC-E9F0F6F05B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3FC6B5-0BCA-40CF-A0E3-9A0A74306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3D92F-5431-4829-AF8D-ABB967570F94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E05CB2-BE42-42A5-8EA8-F25FF229C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E7629F-3CE7-4D3A-9DE4-5C920DBD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E-2D23-4483-8673-7EDAB3BF6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28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77E9A-33F4-4F76-AAAB-5F8706CA5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EC438B-0972-4503-8E63-D8E8B7F874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1A0A9-5C77-4CC5-850E-6DCB55A9D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3D92F-5431-4829-AF8D-ABB967570F94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A9E1A-5F58-4AB1-8536-3D63E51A0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735EA-F6B1-4439-9928-0F08E42CF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E-2D23-4483-8673-7EDAB3BF6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766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66CC95-9D49-484E-A275-C2ADCA9D40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DA0DFC-1F06-4CAE-8050-87D35ACD10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B5311-5662-4BCB-802A-D1ADCAC12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3D92F-5431-4829-AF8D-ABB967570F94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CC49E-D706-405D-9FAD-4ECFE2708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F56B7-1C51-4C3E-A1B8-464E7C46D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D464E-2D23-4483-8673-7EDAB3BF6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161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36B948-8A53-486B-BE98-273FE5272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F2AE7-0592-4D49-9822-BFCB097E0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3F2AA-0295-4179-97A5-48327F64BD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33D92F-5431-4829-AF8D-ABB967570F94}" type="datetimeFigureOut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6B356-A615-409B-BAAA-F7157CB16C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37D81-A801-47C0-B93C-DB9DD89967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D464E-2D23-4483-8673-7EDAB3BF6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967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1873959817302120#bib38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ciencedirect.com/science/article/pii/S1873959817302120#bib39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20A68-3E3C-476A-B8B9-A09303E67E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44815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6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Title: Geriatrics Anesthesia </a:t>
            </a:r>
            <a:br>
              <a:rPr lang="en-US" sz="3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Code: </a:t>
            </a:r>
            <a:r>
              <a:rPr lang="en-US" sz="3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AnstM-5341 </a:t>
            </a:r>
            <a:br>
              <a:rPr lang="en-US" sz="3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ECTS: 5 ECTS </a:t>
            </a:r>
            <a:br>
              <a:rPr lang="en-US" sz="3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Duration: </a:t>
            </a:r>
            <a:r>
              <a:rPr lang="en-US" sz="3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 Weeks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FEA60D-B18A-4C86-AB9F-5563A1ABE6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3657" y="4056744"/>
            <a:ext cx="9144000" cy="1182913"/>
          </a:xfrm>
        </p:spPr>
        <p:txBody>
          <a:bodyPr/>
          <a:lstStyle/>
          <a:p>
            <a:r>
              <a:rPr lang="en-US" dirty="0"/>
              <a:t>Instructor: Mr. </a:t>
            </a:r>
            <a:r>
              <a:rPr lang="en-US" dirty="0" err="1"/>
              <a:t>Hirbo</a:t>
            </a:r>
            <a:r>
              <a:rPr lang="en-US" dirty="0"/>
              <a:t> Samuel</a:t>
            </a:r>
          </a:p>
        </p:txBody>
      </p:sp>
    </p:spTree>
    <p:extLst>
      <p:ext uri="{BB962C8B-B14F-4D97-AF65-F5344CB8AC3E}">
        <p14:creationId xmlns:p14="http://schemas.microsoft.com/office/powerpoint/2010/main" val="1801135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04728-4733-45A1-9A4E-7590A2131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7624"/>
            <a:ext cx="10515600" cy="970671"/>
          </a:xfrm>
        </p:spPr>
        <p:txBody>
          <a:bodyPr>
            <a:normAutofit fontScale="90000"/>
          </a:bodyPr>
          <a:lstStyle/>
          <a:p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Perspectives and conclusion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5ADAE-13F0-4F71-8580-3F9A27F68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1514"/>
            <a:ext cx="10515600" cy="4781229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Aging changes the structure and function surrounding the airways.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these age-related anatomic changes overlap with the predictors of difficult airways.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summarized and compared the age-related anatomic changes with the anatomical predictors of encountering difficult airways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Table.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Comparison between physical features of a difficult airway and the age-related anatomic changes.</a:t>
            </a:r>
          </a:p>
        </p:txBody>
      </p:sp>
    </p:spTree>
    <p:extLst>
      <p:ext uri="{BB962C8B-B14F-4D97-AF65-F5344CB8AC3E}">
        <p14:creationId xmlns:p14="http://schemas.microsoft.com/office/powerpoint/2010/main" val="2959891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1A113-E99A-4EB6-A417-A456EA9BB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0630"/>
            <a:ext cx="10515600" cy="98493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F3E63D7-CB3A-E73A-7E52-C8D56FF17C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4490118"/>
              </p:ext>
            </p:extLst>
          </p:nvPr>
        </p:nvGraphicFramePr>
        <p:xfrm>
          <a:off x="645886" y="493486"/>
          <a:ext cx="10515600" cy="5907313"/>
        </p:xfrm>
        <a:graphic>
          <a:graphicData uri="http://schemas.openxmlformats.org/drawingml/2006/table">
            <a:tbl>
              <a:tblPr firstRow="1" firstCol="1" bandRow="1"/>
              <a:tblGrid>
                <a:gridCol w="2628900">
                  <a:extLst>
                    <a:ext uri="{9D8B030D-6E8A-4147-A177-3AD203B41FA5}">
                      <a16:colId xmlns:a16="http://schemas.microsoft.com/office/drawing/2014/main" val="370823948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1480047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3850035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23332785"/>
                    </a:ext>
                  </a:extLst>
                </a:gridCol>
              </a:tblGrid>
              <a:tr h="8185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Risk factors of a difficult airway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Difficult direct laryngoscopy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Difficult mask ventilation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Age-related anatomic changes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7416163"/>
                  </a:ext>
                </a:extLst>
              </a:tr>
              <a:tr h="114503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Limited mandibular protrusion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  <a:latin typeface="Segoe UI Symbol" panose="020B0502040204020203" pitchFamily="34" charset="0"/>
                          <a:ea typeface="Times New Roman" panose="02020603050405020304" pitchFamily="18" charset="0"/>
                          <a:cs typeface="Segoe UI Symbol" panose="020B0502040204020203" pitchFamily="34" charset="0"/>
                        </a:rPr>
                        <a:t>✔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  <a:latin typeface="Segoe UI Symbol" panose="020B0502040204020203" pitchFamily="34" charset="0"/>
                          <a:ea typeface="Times New Roman" panose="02020603050405020304" pitchFamily="18" charset="0"/>
                          <a:cs typeface="Segoe UI Symbol" panose="020B0502040204020203" pitchFamily="34" charset="0"/>
                        </a:rPr>
                        <a:t>✔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 TMJ disc displacement/OA</a:t>
                      </a:r>
                      <a:r>
                        <a:rPr lang="en-US" sz="800" kern="0" baseline="30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#</a:t>
                      </a:r>
                      <a:br>
                        <a:rPr lang="en-US" sz="10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0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 Teeth loss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35360"/>
                  </a:ext>
                </a:extLst>
              </a:tr>
              <a:tr h="5086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Narrow dental arch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  <a:latin typeface="Segoe UI Symbol" panose="020B0502040204020203" pitchFamily="34" charset="0"/>
                          <a:ea typeface="Times New Roman" panose="02020603050405020304" pitchFamily="18" charset="0"/>
                          <a:cs typeface="Segoe UI Symbol" panose="020B0502040204020203" pitchFamily="34" charset="0"/>
                        </a:rPr>
                        <a:t>✔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 Arch width decreases</a:t>
                      </a:r>
                      <a:r>
                        <a:rPr lang="en-US" sz="800" kern="0" baseline="30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#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0941071"/>
                  </a:ext>
                </a:extLst>
              </a:tr>
              <a:tr h="81853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Decreased thyromental distance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  <a:latin typeface="Segoe UI Symbol" panose="020B0502040204020203" pitchFamily="34" charset="0"/>
                          <a:ea typeface="Times New Roman" panose="02020603050405020304" pitchFamily="18" charset="0"/>
                          <a:cs typeface="Segoe UI Symbol" panose="020B0502040204020203" pitchFamily="34" charset="0"/>
                        </a:rPr>
                        <a:t>✔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  <a:latin typeface="Segoe UI Symbol" panose="020B0502040204020203" pitchFamily="34" charset="0"/>
                          <a:ea typeface="Times New Roman" panose="02020603050405020304" pitchFamily="18" charset="0"/>
                          <a:cs typeface="Segoe UI Symbol" panose="020B0502040204020203" pitchFamily="34" charset="0"/>
                        </a:rPr>
                        <a:t>✔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 Arch length decreases</a:t>
                      </a:r>
                      <a:r>
                        <a:rPr lang="en-US" sz="800" kern="0" baseline="30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#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4272526"/>
                  </a:ext>
                </a:extLst>
              </a:tr>
              <a:tr h="179802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Modified Mallampati class 3 or 4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  <a:latin typeface="Segoe UI Symbol" panose="020B0502040204020203" pitchFamily="34" charset="0"/>
                          <a:ea typeface="Times New Roman" panose="02020603050405020304" pitchFamily="18" charset="0"/>
                          <a:cs typeface="Segoe UI Symbol" panose="020B0502040204020203" pitchFamily="34" charset="0"/>
                        </a:rPr>
                        <a:t>✔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  <a:latin typeface="Segoe UI Symbol" panose="020B0502040204020203" pitchFamily="34" charset="0"/>
                          <a:ea typeface="Times New Roman" panose="02020603050405020304" pitchFamily="18" charset="0"/>
                          <a:cs typeface="Segoe UI Symbol" panose="020B0502040204020203" pitchFamily="34" charset="0"/>
                        </a:rPr>
                        <a:t>✔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 Possible, sarcopenia of the head, neck and suprahyoid pharyngeal muscles, and the overall height of cervical spines is reduced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10331"/>
                  </a:ext>
                </a:extLst>
              </a:tr>
              <a:tr h="81853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Decreased submandibular compliance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  <a:latin typeface="Segoe UI Symbol" panose="020B0502040204020203" pitchFamily="34" charset="0"/>
                          <a:ea typeface="Times New Roman" panose="02020603050405020304" pitchFamily="18" charset="0"/>
                          <a:cs typeface="Segoe UI Symbol" panose="020B0502040204020203" pitchFamily="34" charset="0"/>
                        </a:rPr>
                        <a:t>✔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 Decreased oral soft tissue flexibility</a:t>
                      </a:r>
                      <a:r>
                        <a:rPr lang="en-US" sz="800" kern="0" baseline="30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#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1259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4570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60E9F-1C43-46F8-86CA-7E27B7D05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0287"/>
            <a:ext cx="10515600" cy="914400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8F38E7E-D051-99EA-2D9A-D5198299D2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6447133"/>
              </p:ext>
            </p:extLst>
          </p:nvPr>
        </p:nvGraphicFramePr>
        <p:xfrm>
          <a:off x="304800" y="624115"/>
          <a:ext cx="10885716" cy="5943599"/>
        </p:xfrm>
        <a:graphic>
          <a:graphicData uri="http://schemas.openxmlformats.org/drawingml/2006/table">
            <a:tbl>
              <a:tblPr firstRow="1" firstCol="1" bandRow="1"/>
              <a:tblGrid>
                <a:gridCol w="2721429">
                  <a:extLst>
                    <a:ext uri="{9D8B030D-6E8A-4147-A177-3AD203B41FA5}">
                      <a16:colId xmlns:a16="http://schemas.microsoft.com/office/drawing/2014/main" val="672694703"/>
                    </a:ext>
                  </a:extLst>
                </a:gridCol>
                <a:gridCol w="2721429">
                  <a:extLst>
                    <a:ext uri="{9D8B030D-6E8A-4147-A177-3AD203B41FA5}">
                      <a16:colId xmlns:a16="http://schemas.microsoft.com/office/drawing/2014/main" val="1922756322"/>
                    </a:ext>
                  </a:extLst>
                </a:gridCol>
                <a:gridCol w="2721429">
                  <a:extLst>
                    <a:ext uri="{9D8B030D-6E8A-4147-A177-3AD203B41FA5}">
                      <a16:colId xmlns:a16="http://schemas.microsoft.com/office/drawing/2014/main" val="4141258879"/>
                    </a:ext>
                  </a:extLst>
                </a:gridCol>
                <a:gridCol w="2721429">
                  <a:extLst>
                    <a:ext uri="{9D8B030D-6E8A-4147-A177-3AD203B41FA5}">
                      <a16:colId xmlns:a16="http://schemas.microsoft.com/office/drawing/2014/main" val="2682488792"/>
                    </a:ext>
                  </a:extLst>
                </a:gridCol>
              </a:tblGrid>
              <a:tr h="68496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Decreased sternomental distance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✔</a:t>
                      </a:r>
                      <a:endParaRPr lang="en-US" sz="11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 Compression of intervertebral discs</a:t>
                      </a:r>
                      <a:r>
                        <a:rPr lang="en-US" sz="800" kern="0" baseline="30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#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6071514"/>
                  </a:ext>
                </a:extLst>
              </a:tr>
              <a:tr h="179081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Limited head and upper neck extension and fixed cervical spine flexion deformity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✔</a:t>
                      </a:r>
                      <a:endParaRPr lang="en-US" sz="11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 Degenerative change of ligament, tendons of the intervertebral discs</a:t>
                      </a:r>
                      <a:r>
                        <a:rPr lang="en-US" sz="800" kern="0" baseline="30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#</a:t>
                      </a:r>
                      <a:br>
                        <a:rPr lang="en-US" sz="10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0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 Compression of the intervertebral discs</a:t>
                      </a:r>
                      <a:br>
                        <a:rPr lang="en-US" sz="10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0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 Cervical lordosis increases</a:t>
                      </a:r>
                      <a:br>
                        <a:rPr lang="en-US" sz="10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0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 Cervical spondylosis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6600571"/>
                  </a:ext>
                </a:extLst>
              </a:tr>
              <a:tr h="42874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Beard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✔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4395637"/>
                  </a:ext>
                </a:extLst>
              </a:tr>
              <a:tr h="68997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Lack of teeth or poor dentition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✔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 Teeth loss</a:t>
                      </a:r>
                      <a:r>
                        <a:rPr lang="en-US" sz="800" kern="0" baseline="30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#</a:t>
                      </a:r>
                      <a:br>
                        <a:rPr lang="en-US" sz="10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0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 Alveolar bone resorption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883499"/>
                  </a:ext>
                </a:extLst>
              </a:tr>
              <a:tr h="42874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History of neck radiation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✔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Possible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8105634"/>
                  </a:ext>
                </a:extLst>
              </a:tr>
              <a:tr h="68496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Reduced mouth opening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 TMJ disc displacement/OA</a:t>
                      </a:r>
                      <a:r>
                        <a:rPr lang="en-US" sz="800" kern="0" baseline="30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#</a:t>
                      </a:r>
                      <a:br>
                        <a:rPr lang="en-US" sz="10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0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 Locked jaw</a:t>
                      </a:r>
                      <a:r>
                        <a:rPr lang="en-US" sz="800" u="none" strike="noStrike" kern="0" baseline="30000">
                          <a:solidFill>
                            <a:srgbClr val="0272B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38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9288525"/>
                  </a:ext>
                </a:extLst>
              </a:tr>
              <a:tr h="123539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Supra- or extraglottic pathologies</a:t>
                      </a:r>
                      <a:br>
                        <a:rPr lang="en-US" sz="10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0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(lingual tonsillar hypertrophy,</a:t>
                      </a:r>
                      <a:br>
                        <a:rPr lang="en-US" sz="10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0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neck radiation)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Possible</a:t>
                      </a:r>
                      <a:br>
                        <a:rPr lang="en-US" sz="105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05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 sarcopenia of the head, neck and suprahyoid and pharyngeal muscles</a:t>
                      </a:r>
                      <a:br>
                        <a:rPr lang="en-US" sz="105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05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 Pathologic status</a:t>
                      </a:r>
                      <a:r>
                        <a:rPr lang="en-US" sz="800" u="none" strike="noStrike" kern="0" baseline="30000" dirty="0">
                          <a:solidFill>
                            <a:srgbClr val="0272B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hlinkClick r:id="rId4"/>
                        </a:rPr>
                        <a:t>39</a:t>
                      </a:r>
                      <a:endParaRPr lang="en-US" sz="11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460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0199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B9488-9F97-4138-B14A-59AEFFEBE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6744"/>
            <a:ext cx="10515600" cy="943428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  <a:br>
              <a:rPr lang="en-US" dirty="0"/>
            </a:b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0D885D5-1AAF-E6F1-771E-E6D68FB2B4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2151427"/>
              </p:ext>
            </p:extLst>
          </p:nvPr>
        </p:nvGraphicFramePr>
        <p:xfrm>
          <a:off x="838200" y="507999"/>
          <a:ext cx="10860316" cy="4281715"/>
        </p:xfrm>
        <a:graphic>
          <a:graphicData uri="http://schemas.openxmlformats.org/drawingml/2006/table">
            <a:tbl>
              <a:tblPr firstRow="1" firstCol="1" bandRow="1"/>
              <a:tblGrid>
                <a:gridCol w="2715079">
                  <a:extLst>
                    <a:ext uri="{9D8B030D-6E8A-4147-A177-3AD203B41FA5}">
                      <a16:colId xmlns:a16="http://schemas.microsoft.com/office/drawing/2014/main" val="3213399993"/>
                    </a:ext>
                  </a:extLst>
                </a:gridCol>
                <a:gridCol w="2715079">
                  <a:extLst>
                    <a:ext uri="{9D8B030D-6E8A-4147-A177-3AD203B41FA5}">
                      <a16:colId xmlns:a16="http://schemas.microsoft.com/office/drawing/2014/main" val="933122004"/>
                    </a:ext>
                  </a:extLst>
                </a:gridCol>
                <a:gridCol w="2715079">
                  <a:extLst>
                    <a:ext uri="{9D8B030D-6E8A-4147-A177-3AD203B41FA5}">
                      <a16:colId xmlns:a16="http://schemas.microsoft.com/office/drawing/2014/main" val="1732493078"/>
                    </a:ext>
                  </a:extLst>
                </a:gridCol>
                <a:gridCol w="2715079">
                  <a:extLst>
                    <a:ext uri="{9D8B030D-6E8A-4147-A177-3AD203B41FA5}">
                      <a16:colId xmlns:a16="http://schemas.microsoft.com/office/drawing/2014/main" val="3882904585"/>
                    </a:ext>
                  </a:extLst>
                </a:gridCol>
              </a:tblGrid>
              <a:tr h="42817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Glottic and subglottic pathologies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Possible</a:t>
                      </a:r>
                      <a:br>
                        <a:rPr lang="en-US" sz="105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05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 sarcopenia of the head, neck and suprahyoid and pharyngeal muscles</a:t>
                      </a:r>
                      <a:br>
                        <a:rPr lang="en-US" sz="105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05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 Pathologic status</a:t>
                      </a:r>
                      <a:endParaRPr lang="en-US" sz="11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11181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7507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0EBFB-07E6-4E0B-9082-49497022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6743"/>
            <a:ext cx="10515600" cy="885371"/>
          </a:xfrm>
        </p:spPr>
        <p:txBody>
          <a:bodyPr/>
          <a:lstStyle/>
          <a:p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F7188-B0A2-428C-9BBD-C0C6401BB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0800"/>
            <a:ext cx="10515600" cy="485616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Millers Anesthesia, 8th Edition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Clinical anesthesia, Barash 8th Edition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Morgan and Mikhail’s clinical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anaesthesiology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6th edition</a:t>
            </a:r>
          </a:p>
        </p:txBody>
      </p:sp>
    </p:spTree>
    <p:extLst>
      <p:ext uri="{BB962C8B-B14F-4D97-AF65-F5344CB8AC3E}">
        <p14:creationId xmlns:p14="http://schemas.microsoft.com/office/powerpoint/2010/main" val="2478801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6133</TotalTime>
  <Words>380</Words>
  <Application>Microsoft Office PowerPoint</Application>
  <PresentationFormat>Widescreen</PresentationFormat>
  <Paragraphs>62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Segoe UI Symbol</vt:lpstr>
      <vt:lpstr>Times New Roman</vt:lpstr>
      <vt:lpstr>Office Theme</vt:lpstr>
      <vt:lpstr>Module Title: Geriatrics Anesthesia  Module Code: AnstM-5341  Module ECTS: 5 ECTS  Module Duration: 20 Weeks </vt:lpstr>
      <vt:lpstr> Perspectives and conclusion </vt:lpstr>
      <vt:lpstr>  </vt:lpstr>
      <vt:lpstr> </vt:lpstr>
      <vt:lpstr>  </vt:lpstr>
      <vt:lpstr>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Cerebral aneurysm surgery and endovascular Treatment</dc:title>
  <dc:creator>user</dc:creator>
  <cp:lastModifiedBy>samuelhirbo1@gmail.com</cp:lastModifiedBy>
  <cp:revision>44</cp:revision>
  <dcterms:created xsi:type="dcterms:W3CDTF">2021-12-05T11:53:54Z</dcterms:created>
  <dcterms:modified xsi:type="dcterms:W3CDTF">2024-04-04T08:19:04Z</dcterms:modified>
</cp:coreProperties>
</file>