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301" r:id="rId3"/>
    <p:sldId id="304" r:id="rId4"/>
    <p:sldId id="302" r:id="rId5"/>
    <p:sldId id="307" r:id="rId6"/>
    <p:sldId id="308" r:id="rId7"/>
    <p:sldId id="306" r:id="rId8"/>
    <p:sldId id="303" r:id="rId9"/>
    <p:sldId id="258" r:id="rId10"/>
    <p:sldId id="311" r:id="rId11"/>
    <p:sldId id="309" r:id="rId12"/>
    <p:sldId id="310" r:id="rId13"/>
    <p:sldId id="279" r:id="rId14"/>
    <p:sldId id="312" r:id="rId15"/>
    <p:sldId id="313" r:id="rId16"/>
    <p:sldId id="314" r:id="rId17"/>
    <p:sldId id="280" r:id="rId18"/>
    <p:sldId id="281" r:id="rId19"/>
    <p:sldId id="315" r:id="rId20"/>
    <p:sldId id="316" r:id="rId21"/>
    <p:sldId id="317" r:id="rId22"/>
    <p:sldId id="318" r:id="rId23"/>
    <p:sldId id="319" r:id="rId24"/>
    <p:sldId id="320" r:id="rId25"/>
    <p:sldId id="282" r:id="rId26"/>
    <p:sldId id="283" r:id="rId27"/>
    <p:sldId id="259" r:id="rId28"/>
    <p:sldId id="262" r:id="rId29"/>
    <p:sldId id="263" r:id="rId30"/>
    <p:sldId id="260" r:id="rId31"/>
    <p:sldId id="261" r:id="rId32"/>
    <p:sldId id="264" r:id="rId33"/>
    <p:sldId id="265" r:id="rId34"/>
    <p:sldId id="266" r:id="rId35"/>
    <p:sldId id="267" r:id="rId36"/>
    <p:sldId id="268" r:id="rId37"/>
    <p:sldId id="269" r:id="rId38"/>
    <p:sldId id="270" r:id="rId39"/>
    <p:sldId id="271" r:id="rId40"/>
    <p:sldId id="285" r:id="rId41"/>
    <p:sldId id="28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85" autoAdjust="0"/>
    <p:restoredTop sz="86556" autoAdjust="0"/>
  </p:normalViewPr>
  <p:slideViewPr>
    <p:cSldViewPr snapToGrid="0">
      <p:cViewPr varScale="1">
        <p:scale>
          <a:sx n="63" d="100"/>
          <a:sy n="63" d="100"/>
        </p:scale>
        <p:origin x="11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ED34A8-F71D-4EE3-8128-8DB219DAECE7}" type="datetimeFigureOut">
              <a:rPr lang="en-US" smtClean="0"/>
              <a:t>5/18/2023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4EF854-2BDD-4201-9567-40C0CDD0B749}" type="slidenum">
              <a:rPr lang="en-US" smtClean="0"/>
              <a:t>‹#›</a:t>
            </a:fld>
            <a:endParaRPr lang="en-US"/>
          </a:p>
        </p:txBody>
      </p:sp>
    </p:spTree>
    <p:extLst>
      <p:ext uri="{BB962C8B-B14F-4D97-AF65-F5344CB8AC3E}">
        <p14:creationId xmlns:p14="http://schemas.microsoft.com/office/powerpoint/2010/main" val="3125261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solidFill>
                  <a:srgbClr val="231F20"/>
                </a:solidFill>
                <a:latin typeface="TimesNewRomanPS"/>
              </a:rPr>
              <a:t>The Mini Mental State Examination (MMSE) is a tool that can be used to systematically and thoroughly assess mental status. It is an 11-question measure that tests five areas of cognitive function: orientation, registration, attention and calculation, recall, and language. The maximum score is 30. A score of 23 or lower is indicative of cognitive impairment. The MMSE takes only 5-10 minutes to administer and is therefore practical to use repeatedly and routinely.</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5</a:t>
            </a:fld>
            <a:endParaRPr lang="en-US"/>
          </a:p>
        </p:txBody>
      </p:sp>
    </p:spTree>
    <p:extLst>
      <p:ext uri="{BB962C8B-B14F-4D97-AF65-F5344CB8AC3E}">
        <p14:creationId xmlns:p14="http://schemas.microsoft.com/office/powerpoint/2010/main" val="1778389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i="0" u="none" strike="noStrike" baseline="0" dirty="0">
                <a:solidFill>
                  <a:srgbClr val="000000"/>
                </a:solidFill>
                <a:latin typeface="Arial" panose="020B0604020202020204" pitchFamily="34" charset="0"/>
              </a:rPr>
              <a:t>Background to admission</a:t>
            </a:r>
            <a:r>
              <a:rPr lang="en-US" sz="1800" b="0" i="0" u="none" strike="noStrike" baseline="0" dirty="0">
                <a:solidFill>
                  <a:srgbClr val="000000"/>
                </a:solidFill>
                <a:latin typeface="Arial" panose="020B0604020202020204" pitchFamily="34" charset="0"/>
              </a:rPr>
              <a:t>. For example, it is especially relevant to ascertain whether the “fall” leading to a fractured neck of femur, was purely mechanical or whether it was a syncopal episode for example. </a:t>
            </a:r>
          </a:p>
          <a:p>
            <a:r>
              <a:rPr lang="en-US" sz="1800" b="1" i="0" u="none" strike="noStrike" baseline="0" dirty="0">
                <a:solidFill>
                  <a:srgbClr val="000000"/>
                </a:solidFill>
                <a:latin typeface="Times New Roman" panose="02020603050405020304" pitchFamily="18" charset="0"/>
              </a:rPr>
              <a:t>Co-existing medical problems.</a:t>
            </a:r>
            <a:r>
              <a:rPr lang="en-US" sz="1800" b="0" i="0" u="none" strike="noStrike" baseline="0" dirty="0">
                <a:solidFill>
                  <a:srgbClr val="000000"/>
                </a:solidFill>
                <a:latin typeface="Times New Roman" panose="02020603050405020304" pitchFamily="18" charset="0"/>
              </a:rPr>
              <a:t> The potential list is very long and includes </a:t>
            </a:r>
            <a:r>
              <a:rPr lang="en-US" sz="1800" b="0" i="0" u="none" strike="noStrike" baseline="0" dirty="0" err="1">
                <a:solidFill>
                  <a:srgbClr val="000000"/>
                </a:solidFill>
                <a:latin typeface="Times New Roman" panose="02020603050405020304" pitchFamily="18" charset="0"/>
              </a:rPr>
              <a:t>ischaemic</a:t>
            </a:r>
            <a:r>
              <a:rPr lang="en-US" sz="1800" b="0" i="0" u="none" strike="noStrike" baseline="0" dirty="0">
                <a:solidFill>
                  <a:srgbClr val="000000"/>
                </a:solidFill>
                <a:latin typeface="Times New Roman" panose="02020603050405020304" pitchFamily="18" charset="0"/>
              </a:rPr>
              <a:t> heart disease, hypertension, COPD, stroke, arthritis, diabetes, dementia, Parkinson’s, malnutrition, polypharmacy and sensory impairment (visual/hearing loss common). </a:t>
            </a:r>
          </a:p>
          <a:p>
            <a:r>
              <a:rPr lang="en-US" sz="1800" b="1" i="0" u="none" strike="noStrike" baseline="0" dirty="0">
                <a:solidFill>
                  <a:srgbClr val="000000"/>
                </a:solidFill>
                <a:latin typeface="Arial" panose="020B0604020202020204" pitchFamily="34" charset="0"/>
              </a:rPr>
              <a:t>Gastro-</a:t>
            </a:r>
            <a:r>
              <a:rPr lang="en-US" sz="1800" b="1" i="0" u="none" strike="noStrike" baseline="0" dirty="0" err="1">
                <a:solidFill>
                  <a:srgbClr val="000000"/>
                </a:solidFill>
                <a:latin typeface="Arial" panose="020B0604020202020204" pitchFamily="34" charset="0"/>
              </a:rPr>
              <a:t>oesophageal</a:t>
            </a:r>
            <a:r>
              <a:rPr lang="en-US" sz="1800" b="1" i="0" u="none" strike="noStrike" baseline="0" dirty="0">
                <a:solidFill>
                  <a:srgbClr val="000000"/>
                </a:solidFill>
                <a:latin typeface="Arial" panose="020B0604020202020204" pitchFamily="34" charset="0"/>
              </a:rPr>
              <a:t> reflux disease (GORD) and dentition. </a:t>
            </a:r>
            <a:r>
              <a:rPr lang="en-US" sz="1800" b="0" i="0" u="none" strike="noStrike" baseline="0" dirty="0">
                <a:solidFill>
                  <a:srgbClr val="000000"/>
                </a:solidFill>
                <a:latin typeface="Arial" panose="020B0604020202020204" pitchFamily="34" charset="0"/>
              </a:rPr>
              <a:t>The elderly demonstrate slower gastric emptying, deterioration in parietal cell function, a greater incidence of GORD, pharyngeal pouch and hiatus </a:t>
            </a:r>
            <a:r>
              <a:rPr lang="en-US" sz="1800" b="0" i="0" u="none" strike="noStrike" baseline="0" dirty="0" err="1">
                <a:solidFill>
                  <a:srgbClr val="000000"/>
                </a:solidFill>
                <a:latin typeface="Arial" panose="020B0604020202020204" pitchFamily="34" charset="0"/>
              </a:rPr>
              <a:t>herniae</a:t>
            </a:r>
            <a:r>
              <a:rPr lang="en-US" sz="1800" b="0" i="0" u="none" strike="noStrike" baseline="0" dirty="0">
                <a:solidFill>
                  <a:srgbClr val="000000"/>
                </a:solidFill>
                <a:latin typeface="Arial" panose="020B0604020202020204" pitchFamily="34" charset="0"/>
              </a:rPr>
              <a:t>. </a:t>
            </a:r>
          </a:p>
          <a:p>
            <a:pPr marR="0" algn="just"/>
            <a:r>
              <a:rPr lang="en-US" sz="1800" b="1" i="0" u="none" strike="noStrike" baseline="0" dirty="0">
                <a:solidFill>
                  <a:srgbClr val="000000"/>
                </a:solidFill>
                <a:latin typeface="Times New Roman" panose="02020603050405020304" pitchFamily="18" charset="0"/>
              </a:rPr>
              <a:t>Medications-</a:t>
            </a:r>
            <a:r>
              <a:rPr lang="en-US" sz="1800" b="0" i="0" u="none" strike="noStrike" baseline="0" dirty="0">
                <a:solidFill>
                  <a:srgbClr val="000000"/>
                </a:solidFill>
                <a:latin typeface="Times New Roman" panose="02020603050405020304" pitchFamily="18" charset="0"/>
              </a:rPr>
              <a:t> including dose, frequency, when they were started, and any recent changes. It is often difficult to ascertain what is taken especially in acute admissions and drugs maybe inadvertently stopped. Long-term medications should be continued. Do not forget alcohol and cigarettes. </a:t>
            </a:r>
          </a:p>
          <a:p>
            <a:pPr marR="0" algn="l"/>
            <a:r>
              <a:rPr lang="en-US" sz="1800" b="0" i="0" u="none" strike="noStrike" baseline="0" dirty="0">
                <a:solidFill>
                  <a:srgbClr val="000000"/>
                </a:solidFill>
                <a:latin typeface="Arial" panose="020B0604020202020204" pitchFamily="34" charset="0"/>
              </a:rPr>
              <a:t>Pay particular attention to steroids, beta-blockers, ACE inhibitors, diuretics, insulin or </a:t>
            </a:r>
            <a:r>
              <a:rPr lang="en-US" sz="1800" b="0" i="0" u="none" strike="noStrike" baseline="0" dirty="0" err="1">
                <a:solidFill>
                  <a:srgbClr val="000000"/>
                </a:solidFill>
                <a:latin typeface="Arial" panose="020B0604020202020204" pitchFamily="34" charset="0"/>
              </a:rPr>
              <a:t>hypoglycaemic</a:t>
            </a:r>
            <a:r>
              <a:rPr lang="en-US" sz="1800" b="0" i="0" u="none" strike="noStrike" baseline="0" dirty="0">
                <a:solidFill>
                  <a:srgbClr val="000000"/>
                </a:solidFill>
                <a:latin typeface="Arial" panose="020B0604020202020204" pitchFamily="34" charset="0"/>
              </a:rPr>
              <a:t> agents and anticoagulants. </a:t>
            </a:r>
          </a:p>
          <a:p>
            <a:pPr marR="0" algn="l"/>
            <a:r>
              <a:rPr lang="en-US" sz="1800" b="1" i="0" u="none" strike="noStrike" baseline="0" dirty="0">
                <a:solidFill>
                  <a:srgbClr val="000000"/>
                </a:solidFill>
                <a:latin typeface="Arial" panose="020B0604020202020204" pitchFamily="34" charset="0"/>
              </a:rPr>
              <a:t>A detailed social appraisal to assess the level of home support may allow day surgery or earlier involvement of social services prior to discharge. </a:t>
            </a:r>
          </a:p>
          <a:p>
            <a:pPr marR="0" algn="l"/>
            <a:r>
              <a:rPr lang="en-US" sz="1800" b="0" i="0" u="none" strike="noStrike" baseline="0" dirty="0">
                <a:solidFill>
                  <a:srgbClr val="000000"/>
                </a:solidFill>
                <a:latin typeface="Arial" panose="020B0604020202020204" pitchFamily="34" charset="0"/>
              </a:rPr>
              <a:t>Also assess premorbid functional ability including activities of daily living and exercise tolerance as a means of risk stratification. </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6</a:t>
            </a:fld>
            <a:endParaRPr lang="en-US"/>
          </a:p>
        </p:txBody>
      </p:sp>
    </p:spTree>
    <p:extLst>
      <p:ext uri="{BB962C8B-B14F-4D97-AF65-F5344CB8AC3E}">
        <p14:creationId xmlns:p14="http://schemas.microsoft.com/office/powerpoint/2010/main" val="2910659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9</a:t>
            </a:fld>
            <a:endParaRPr lang="en-US"/>
          </a:p>
        </p:txBody>
      </p:sp>
    </p:spTree>
    <p:extLst>
      <p:ext uri="{BB962C8B-B14F-4D97-AF65-F5344CB8AC3E}">
        <p14:creationId xmlns:p14="http://schemas.microsoft.com/office/powerpoint/2010/main" val="3366522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10</a:t>
            </a:fld>
            <a:endParaRPr lang="en-US"/>
          </a:p>
        </p:txBody>
      </p:sp>
    </p:spTree>
    <p:extLst>
      <p:ext uri="{BB962C8B-B14F-4D97-AF65-F5344CB8AC3E}">
        <p14:creationId xmlns:p14="http://schemas.microsoft.com/office/powerpoint/2010/main" val="4042508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13</a:t>
            </a:fld>
            <a:endParaRPr lang="en-US"/>
          </a:p>
        </p:txBody>
      </p:sp>
    </p:spTree>
    <p:extLst>
      <p:ext uri="{BB962C8B-B14F-4D97-AF65-F5344CB8AC3E}">
        <p14:creationId xmlns:p14="http://schemas.microsoft.com/office/powerpoint/2010/main" val="512453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Disease-related changes and wide variations among individuals in similar populations prevent generalizations.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MinionPro-Regular"/>
              </a:rPr>
              <a:t>The principal pharmacodynamic change associated with aging is a reduced anesthetic requirement, represented by a MAC.</a:t>
            </a:r>
            <a:endParaRPr lang="en-US" dirty="0"/>
          </a:p>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17</a:t>
            </a:fld>
            <a:endParaRPr lang="en-US"/>
          </a:p>
        </p:txBody>
      </p:sp>
    </p:spTree>
    <p:extLst>
      <p:ext uri="{BB962C8B-B14F-4D97-AF65-F5344CB8AC3E}">
        <p14:creationId xmlns:p14="http://schemas.microsoft.com/office/powerpoint/2010/main" val="3115232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Any change in volume of distribution sufficient to significantly change concentrations will influence the elimination time.</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18</a:t>
            </a:fld>
            <a:endParaRPr lang="en-US"/>
          </a:p>
        </p:txBody>
      </p:sp>
    </p:spTree>
    <p:extLst>
      <p:ext uri="{BB962C8B-B14F-4D97-AF65-F5344CB8AC3E}">
        <p14:creationId xmlns:p14="http://schemas.microsoft.com/office/powerpoint/2010/main" val="520596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Distribution and elimination are also affected by altered plasma protein binding. Albumin, which binds acidic drugs (</a:t>
            </a:r>
            <a:r>
              <a:rPr lang="en-US" sz="1800" b="0" i="0" u="none" strike="noStrike" baseline="0" dirty="0" err="1">
                <a:latin typeface="MinionPro-Regular"/>
              </a:rPr>
              <a:t>eg</a:t>
            </a:r>
            <a:r>
              <a:rPr lang="en-US" sz="1800" b="0" i="0" u="none" strike="noStrike" baseline="0" dirty="0">
                <a:latin typeface="MinionPro-Regular"/>
              </a:rPr>
              <a:t>, barbiturates, benzodiazepines, opioid agonists), typically decreases with age. </a:t>
            </a:r>
            <a:r>
              <a:rPr lang="el-GR" sz="1800" b="0" i="0" u="none" strike="noStrike" baseline="0" dirty="0">
                <a:latin typeface="Symbol" panose="05050102010706020507" pitchFamily="18" charset="2"/>
              </a:rPr>
              <a:t>α </a:t>
            </a:r>
            <a:r>
              <a:rPr lang="el-GR" sz="1800" b="0" i="0" u="none" strike="noStrike" baseline="0" dirty="0">
                <a:latin typeface="MinionPro-Regular"/>
              </a:rPr>
              <a:t>1 -</a:t>
            </a:r>
            <a:r>
              <a:rPr lang="en-US" sz="1800" b="0" i="0" u="none" strike="noStrike" baseline="0" dirty="0">
                <a:latin typeface="MinionPro-Regular"/>
              </a:rPr>
              <a:t>Acid glycoprotein, which binds basic drugs (</a:t>
            </a:r>
            <a:r>
              <a:rPr lang="en-US" sz="1800" b="0" i="0" u="none" strike="noStrike" baseline="0" dirty="0" err="1">
                <a:latin typeface="MinionPro-Regular"/>
              </a:rPr>
              <a:t>eg</a:t>
            </a:r>
            <a:r>
              <a:rPr lang="en-US" sz="1800" b="0" i="0" u="none" strike="noStrike" baseline="0" dirty="0">
                <a:latin typeface="MinionPro-Regular"/>
              </a:rPr>
              <a:t>, local anesthetics), is increased.</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19</a:t>
            </a:fld>
            <a:endParaRPr lang="en-US"/>
          </a:p>
        </p:txBody>
      </p:sp>
    </p:spTree>
    <p:extLst>
      <p:ext uri="{BB962C8B-B14F-4D97-AF65-F5344CB8AC3E}">
        <p14:creationId xmlns:p14="http://schemas.microsoft.com/office/powerpoint/2010/main" val="1718451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latin typeface="MinionPro-Regular"/>
              </a:rPr>
              <a:t>Careful titration of anesthetic agents helps to avoid adverse side effects and unexpected, prolonged duration; short-acting agents, such as propofol, desflurane, remifentanil, and succinylcholine, may be particularly useful in elderly patients. Drugs that are not significantly dependent on hepatic or renal function or blood flow, such as atracurium or </a:t>
            </a:r>
            <a:r>
              <a:rPr lang="en-US" sz="1200" b="0" i="0" u="none" strike="noStrike" baseline="0" dirty="0" err="1">
                <a:latin typeface="MinionPro-Regular"/>
              </a:rPr>
              <a:t>cisatracurium</a:t>
            </a:r>
            <a:r>
              <a:rPr lang="en-US" sz="1200" b="0" i="0" u="none" strike="noStrike" baseline="0" dirty="0">
                <a:latin typeface="MinionPro-Regular"/>
              </a:rPr>
              <a:t>, are useful.</a:t>
            </a:r>
            <a:endParaRPr lang="en-US" dirty="0"/>
          </a:p>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20</a:t>
            </a:fld>
            <a:endParaRPr lang="en-US"/>
          </a:p>
        </p:txBody>
      </p:sp>
    </p:spTree>
    <p:extLst>
      <p:ext uri="{BB962C8B-B14F-4D97-AF65-F5344CB8AC3E}">
        <p14:creationId xmlns:p14="http://schemas.microsoft.com/office/powerpoint/2010/main" val="4074003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21</a:t>
            </a:fld>
            <a:endParaRPr lang="en-US"/>
          </a:p>
        </p:txBody>
      </p:sp>
    </p:spTree>
    <p:extLst>
      <p:ext uri="{BB962C8B-B14F-4D97-AF65-F5344CB8AC3E}">
        <p14:creationId xmlns:p14="http://schemas.microsoft.com/office/powerpoint/2010/main" val="2706288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The MAC for inhalational agents is reduced by 4% per decade of age over 40 years. The onset of action is faster if cardiac output is depressed,</a:t>
            </a:r>
          </a:p>
          <a:p>
            <a:pPr algn="l"/>
            <a:r>
              <a:rPr lang="en-US" sz="1800" b="0" i="0" u="none" strike="noStrike" baseline="0" dirty="0">
                <a:latin typeface="MinionPro-Regular"/>
              </a:rPr>
              <a:t>whereas it is delayed if there is a significant ventilation/ perfusion abnormality.</a:t>
            </a:r>
          </a:p>
          <a:p>
            <a:pPr algn="l"/>
            <a:r>
              <a:rPr lang="en-US" sz="1800" b="0" i="0" u="none" strike="noStrike" baseline="0" dirty="0">
                <a:latin typeface="MinionPro-Regular"/>
              </a:rPr>
              <a:t>Recovery from anesthesia with a volatile anesthetic may be prolonged because of an increased volume of distribution (increased body fat) and decreased pulmonary gas exchange.</a:t>
            </a:r>
          </a:p>
          <a:p>
            <a:pPr algn="l"/>
            <a:r>
              <a:rPr lang="en-US" sz="1800" b="0" i="0" u="none" strike="noStrike" baseline="0" dirty="0">
                <a:latin typeface="MinionPro-Regular"/>
              </a:rPr>
              <a:t>Decreased hepatic function is of less importance, even for halothane.</a:t>
            </a:r>
          </a:p>
          <a:p>
            <a:pPr algn="l"/>
            <a:r>
              <a:rPr lang="en-US" sz="1800" b="0" i="0" u="none" strike="noStrike" baseline="0" dirty="0">
                <a:latin typeface="MinionPro-Regular"/>
              </a:rPr>
              <a:t>Agents that are rapidly eliminated (</a:t>
            </a:r>
            <a:r>
              <a:rPr lang="en-US" sz="1800" b="0" i="0" u="none" strike="noStrike" baseline="0" dirty="0" err="1">
                <a:latin typeface="MinionPro-Regular"/>
              </a:rPr>
              <a:t>eg</a:t>
            </a:r>
            <a:r>
              <a:rPr lang="en-US" sz="1800" b="0" i="0" u="none" strike="noStrike" baseline="0" dirty="0">
                <a:latin typeface="MinionPro-Regular"/>
              </a:rPr>
              <a:t>, desflurane) are good choices for speeding emergence in the elderly patient (oil gas partition coefficient is low ).</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22</a:t>
            </a:fld>
            <a:endParaRPr lang="en-US"/>
          </a:p>
        </p:txBody>
      </p:sp>
    </p:spTree>
    <p:extLst>
      <p:ext uri="{BB962C8B-B14F-4D97-AF65-F5344CB8AC3E}">
        <p14:creationId xmlns:p14="http://schemas.microsoft.com/office/powerpoint/2010/main" val="3720036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25</a:t>
            </a:fld>
            <a:endParaRPr lang="en-US"/>
          </a:p>
        </p:txBody>
      </p:sp>
    </p:spTree>
    <p:extLst>
      <p:ext uri="{BB962C8B-B14F-4D97-AF65-F5344CB8AC3E}">
        <p14:creationId xmlns:p14="http://schemas.microsoft.com/office/powerpoint/2010/main" val="1100614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27</a:t>
            </a:fld>
            <a:endParaRPr lang="en-US"/>
          </a:p>
        </p:txBody>
      </p:sp>
    </p:spTree>
    <p:extLst>
      <p:ext uri="{BB962C8B-B14F-4D97-AF65-F5344CB8AC3E}">
        <p14:creationId xmlns:p14="http://schemas.microsoft.com/office/powerpoint/2010/main" val="738420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28</a:t>
            </a:fld>
            <a:endParaRPr lang="en-US"/>
          </a:p>
        </p:txBody>
      </p:sp>
    </p:spTree>
    <p:extLst>
      <p:ext uri="{BB962C8B-B14F-4D97-AF65-F5344CB8AC3E}">
        <p14:creationId xmlns:p14="http://schemas.microsoft.com/office/powerpoint/2010/main" val="3510638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29</a:t>
            </a:fld>
            <a:endParaRPr lang="en-US"/>
          </a:p>
        </p:txBody>
      </p:sp>
    </p:spTree>
    <p:extLst>
      <p:ext uri="{BB962C8B-B14F-4D97-AF65-F5344CB8AC3E}">
        <p14:creationId xmlns:p14="http://schemas.microsoft.com/office/powerpoint/2010/main" val="2666910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30</a:t>
            </a:fld>
            <a:endParaRPr lang="en-US"/>
          </a:p>
        </p:txBody>
      </p:sp>
    </p:spTree>
    <p:extLst>
      <p:ext uri="{BB962C8B-B14F-4D97-AF65-F5344CB8AC3E}">
        <p14:creationId xmlns:p14="http://schemas.microsoft.com/office/powerpoint/2010/main" val="1343073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31</a:t>
            </a:fld>
            <a:endParaRPr lang="en-US"/>
          </a:p>
        </p:txBody>
      </p:sp>
    </p:spTree>
    <p:extLst>
      <p:ext uri="{BB962C8B-B14F-4D97-AF65-F5344CB8AC3E}">
        <p14:creationId xmlns:p14="http://schemas.microsoft.com/office/powerpoint/2010/main" val="40226782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32</a:t>
            </a:fld>
            <a:endParaRPr lang="en-US"/>
          </a:p>
        </p:txBody>
      </p:sp>
    </p:spTree>
    <p:extLst>
      <p:ext uri="{BB962C8B-B14F-4D97-AF65-F5344CB8AC3E}">
        <p14:creationId xmlns:p14="http://schemas.microsoft.com/office/powerpoint/2010/main" val="2944715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35</a:t>
            </a:fld>
            <a:endParaRPr lang="en-US"/>
          </a:p>
        </p:txBody>
      </p:sp>
    </p:spTree>
    <p:extLst>
      <p:ext uri="{BB962C8B-B14F-4D97-AF65-F5344CB8AC3E}">
        <p14:creationId xmlns:p14="http://schemas.microsoft.com/office/powerpoint/2010/main" val="1021160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36</a:t>
            </a:fld>
            <a:endParaRPr lang="en-US"/>
          </a:p>
        </p:txBody>
      </p:sp>
    </p:spTree>
    <p:extLst>
      <p:ext uri="{BB962C8B-B14F-4D97-AF65-F5344CB8AC3E}">
        <p14:creationId xmlns:p14="http://schemas.microsoft.com/office/powerpoint/2010/main" val="16700058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37</a:t>
            </a:fld>
            <a:endParaRPr lang="en-US"/>
          </a:p>
        </p:txBody>
      </p:sp>
    </p:spTree>
    <p:extLst>
      <p:ext uri="{BB962C8B-B14F-4D97-AF65-F5344CB8AC3E}">
        <p14:creationId xmlns:p14="http://schemas.microsoft.com/office/powerpoint/2010/main" val="39232196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Agitation, stress, unwarranted mobilization, straining, intramuscular injection, pain and fever can increase hemodynamic stress and predispose to rebleeding.</a:t>
            </a:r>
          </a:p>
          <a:p>
            <a:r>
              <a:rPr lang="en-US" dirty="0"/>
              <a:t>Nicardipine, labetalol and sedation have been used to control hypertension.</a:t>
            </a:r>
          </a:p>
        </p:txBody>
      </p:sp>
      <p:sp>
        <p:nvSpPr>
          <p:cNvPr id="4" name="Slide Number Placeholder 3"/>
          <p:cNvSpPr>
            <a:spLocks noGrp="1"/>
          </p:cNvSpPr>
          <p:nvPr>
            <p:ph type="sldNum" sz="quarter" idx="5"/>
          </p:nvPr>
        </p:nvSpPr>
        <p:spPr/>
        <p:txBody>
          <a:bodyPr/>
          <a:lstStyle/>
          <a:p>
            <a:fld id="{454EF854-2BDD-4201-9567-40C0CDD0B749}" type="slidenum">
              <a:rPr lang="en-US" smtClean="0"/>
              <a:t>38</a:t>
            </a:fld>
            <a:endParaRPr lang="en-US"/>
          </a:p>
        </p:txBody>
      </p:sp>
    </p:spTree>
    <p:extLst>
      <p:ext uri="{BB962C8B-B14F-4D97-AF65-F5344CB8AC3E}">
        <p14:creationId xmlns:p14="http://schemas.microsoft.com/office/powerpoint/2010/main" val="14808736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39</a:t>
            </a:fld>
            <a:endParaRPr lang="en-US"/>
          </a:p>
        </p:txBody>
      </p:sp>
    </p:spTree>
    <p:extLst>
      <p:ext uri="{BB962C8B-B14F-4D97-AF65-F5344CB8AC3E}">
        <p14:creationId xmlns:p14="http://schemas.microsoft.com/office/powerpoint/2010/main" val="938707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Therefore, intravascular volume and electrolyte status should dictate type and quantity of fluids, with a goal to maintain euvolemia and normal electrolyte function.</a:t>
            </a:r>
          </a:p>
        </p:txBody>
      </p:sp>
      <p:sp>
        <p:nvSpPr>
          <p:cNvPr id="4" name="Slide Number Placeholder 3"/>
          <p:cNvSpPr>
            <a:spLocks noGrp="1"/>
          </p:cNvSpPr>
          <p:nvPr>
            <p:ph type="sldNum" sz="quarter" idx="5"/>
          </p:nvPr>
        </p:nvSpPr>
        <p:spPr/>
        <p:txBody>
          <a:bodyPr/>
          <a:lstStyle/>
          <a:p>
            <a:fld id="{454EF854-2BDD-4201-9567-40C0CDD0B749}" type="slidenum">
              <a:rPr lang="en-US" smtClean="0"/>
              <a:t>40</a:t>
            </a:fld>
            <a:endParaRPr lang="en-US"/>
          </a:p>
        </p:txBody>
      </p:sp>
    </p:spTree>
    <p:extLst>
      <p:ext uri="{BB962C8B-B14F-4D97-AF65-F5344CB8AC3E}">
        <p14:creationId xmlns:p14="http://schemas.microsoft.com/office/powerpoint/2010/main" val="3145789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41</a:t>
            </a:fld>
            <a:endParaRPr lang="en-US"/>
          </a:p>
        </p:txBody>
      </p:sp>
    </p:spTree>
    <p:extLst>
      <p:ext uri="{BB962C8B-B14F-4D97-AF65-F5344CB8AC3E}">
        <p14:creationId xmlns:p14="http://schemas.microsoft.com/office/powerpoint/2010/main" val="4114346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D7D26-09FF-4887-9692-4E2203C466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ECD235-F580-4CEF-83C5-D34BC416AB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C3D0DD-8893-46DE-AA27-013E534827FA}"/>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5" name="Footer Placeholder 4">
            <a:extLst>
              <a:ext uri="{FF2B5EF4-FFF2-40B4-BE49-F238E27FC236}">
                <a16:creationId xmlns:a16="http://schemas.microsoft.com/office/drawing/2014/main" id="{C1683277-9B6E-4EFE-A237-17D76EC35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3EB962-E391-4391-9108-BC043C4130DE}"/>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681191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1B68C-3ACB-4556-93DC-06FFA6E62A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1E0464-8E9D-487C-A6BA-62D52993B1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A97430-B415-4777-A056-8D87CBA8F2C9}"/>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5" name="Footer Placeholder 4">
            <a:extLst>
              <a:ext uri="{FF2B5EF4-FFF2-40B4-BE49-F238E27FC236}">
                <a16:creationId xmlns:a16="http://schemas.microsoft.com/office/drawing/2014/main" id="{13B3B8BD-F2DE-4135-A61A-E0A3F9FDDD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20920-15A3-47C2-955E-9B6126A1F963}"/>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626392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7E774-3F82-4AE8-AD8A-872222B8FF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9CD7A3-EB9E-44E3-97E7-DB9E97CD77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0072FB-19A0-46EB-8386-EA95511E6898}"/>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5" name="Footer Placeholder 4">
            <a:extLst>
              <a:ext uri="{FF2B5EF4-FFF2-40B4-BE49-F238E27FC236}">
                <a16:creationId xmlns:a16="http://schemas.microsoft.com/office/drawing/2014/main" id="{36E0E857-1AC0-4D82-9C35-ACE4A0EBD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1618A4-026D-4651-A199-A2344E793D0E}"/>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7986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92280-CB3B-48F0-AB32-64BB9498E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326C3E-5B54-4A34-94A2-B6566E0DF5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EB63B7-EC0D-446D-8C26-A3BEE5A08F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2662C1-C110-4513-811D-C7D6E5DB4FA5}"/>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6" name="Footer Placeholder 5">
            <a:extLst>
              <a:ext uri="{FF2B5EF4-FFF2-40B4-BE49-F238E27FC236}">
                <a16:creationId xmlns:a16="http://schemas.microsoft.com/office/drawing/2014/main" id="{F9B67C8A-5F17-449A-8736-2DD61C0E15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E600B5-6EF5-4C23-A811-380571817144}"/>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4382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5A949-A629-4B61-A7F6-FA5F833FF0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0F6393-76C8-41E5-BF8C-0E5E799B77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AF5434-A496-4B09-BEE0-800F5DD4FD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CDA569-BF9F-494E-8CA3-F11BB7D3FC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C29941-258E-4329-BB86-881B6237DE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A5E28D-D92F-45C1-A072-F01A3FA3E65D}"/>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8" name="Footer Placeholder 7">
            <a:extLst>
              <a:ext uri="{FF2B5EF4-FFF2-40B4-BE49-F238E27FC236}">
                <a16:creationId xmlns:a16="http://schemas.microsoft.com/office/drawing/2014/main" id="{6697C90D-0AC0-4AC3-9A2F-D399F096DB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B0F09F-0192-4351-A2B9-1A1F04A235C5}"/>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968607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4AC49-01A8-4CFE-B6EE-906852909C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03CCED-814B-4A7D-BC9D-02D7B37CFD86}"/>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4" name="Footer Placeholder 3">
            <a:extLst>
              <a:ext uri="{FF2B5EF4-FFF2-40B4-BE49-F238E27FC236}">
                <a16:creationId xmlns:a16="http://schemas.microsoft.com/office/drawing/2014/main" id="{0630209F-4F3D-44F7-B243-30DE9DE58F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DCF742-9515-4812-8969-70A371125AAB}"/>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3428801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067627-A080-4A5C-8CF1-9058B15DBE5E}"/>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3" name="Footer Placeholder 2">
            <a:extLst>
              <a:ext uri="{FF2B5EF4-FFF2-40B4-BE49-F238E27FC236}">
                <a16:creationId xmlns:a16="http://schemas.microsoft.com/office/drawing/2014/main" id="{C1B19CBA-5DE8-46EF-BC1D-0C8970CBB0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7D0BB1-B991-4D90-BF81-626A2E5A6030}"/>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151920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B5943-CDFA-45E1-93B9-525BAE2A5D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0359EE-A854-486A-A6B0-EC1DF7D18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3A8CD8-BF64-4556-A498-26EAC27206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F07089-82EB-445E-B1E4-9B08CDC3D3D4}"/>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6" name="Footer Placeholder 5">
            <a:extLst>
              <a:ext uri="{FF2B5EF4-FFF2-40B4-BE49-F238E27FC236}">
                <a16:creationId xmlns:a16="http://schemas.microsoft.com/office/drawing/2014/main" id="{1E282C49-620A-409B-A292-2368099E7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3567E2-0152-4553-8414-9DAB0C1045C9}"/>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457951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5108A-2C20-4962-A85C-D19318558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029E9C-E6CD-49C9-9A91-1AA2F5D112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BF8500-7F98-4D6C-AFFC-E9F0F6F05B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3FC6B5-0BCA-40CF-A0E3-9A0A743061A0}"/>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6" name="Footer Placeholder 5">
            <a:extLst>
              <a:ext uri="{FF2B5EF4-FFF2-40B4-BE49-F238E27FC236}">
                <a16:creationId xmlns:a16="http://schemas.microsoft.com/office/drawing/2014/main" id="{97E05CB2-BE42-42A5-8EA8-F25FF229CF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E7629F-3CE7-4D3A-9DE4-5C920DBDE244}"/>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3377628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77E9A-33F4-4F76-AAAB-5F8706CA5A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EC438B-0972-4503-8E63-D8E8B7F874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1A0A9-5C77-4CC5-850E-6DCB55A9D09B}"/>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5" name="Footer Placeholder 4">
            <a:extLst>
              <a:ext uri="{FF2B5EF4-FFF2-40B4-BE49-F238E27FC236}">
                <a16:creationId xmlns:a16="http://schemas.microsoft.com/office/drawing/2014/main" id="{8E3A9E1A-5F58-4AB1-8536-3D63E51A0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6735EA-F6B1-4439-9928-0F08E42CF86E}"/>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024766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6CC95-9D49-484E-A275-C2ADCA9D40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DA0DFC-1F06-4CAE-8050-87D35ACD10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DB5311-5662-4BCB-802A-D1ADCAC12222}"/>
              </a:ext>
            </a:extLst>
          </p:cNvPr>
          <p:cNvSpPr>
            <a:spLocks noGrp="1"/>
          </p:cNvSpPr>
          <p:nvPr>
            <p:ph type="dt" sz="half" idx="10"/>
          </p:nvPr>
        </p:nvSpPr>
        <p:spPr/>
        <p:txBody>
          <a:bodyPr/>
          <a:lstStyle/>
          <a:p>
            <a:fld id="{EB33D92F-5431-4829-AF8D-ABB967570F94}" type="datetimeFigureOut">
              <a:rPr lang="en-US" smtClean="0"/>
              <a:t>5/18/2023</a:t>
            </a:fld>
            <a:endParaRPr lang="en-US"/>
          </a:p>
        </p:txBody>
      </p:sp>
      <p:sp>
        <p:nvSpPr>
          <p:cNvPr id="5" name="Footer Placeholder 4">
            <a:extLst>
              <a:ext uri="{FF2B5EF4-FFF2-40B4-BE49-F238E27FC236}">
                <a16:creationId xmlns:a16="http://schemas.microsoft.com/office/drawing/2014/main" id="{776CC49E-D706-405D-9FAD-4ECFE27086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F56B7-1C51-4C3E-A1B8-464E7C46DB8B}"/>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489161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36B948-8A53-486B-BE98-273FE52723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3F2AE7-0592-4D49-9822-BFCB097E0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E3F2AA-0295-4179-97A5-48327F64BD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33D92F-5431-4829-AF8D-ABB967570F94}" type="datetimeFigureOut">
              <a:rPr lang="en-US" smtClean="0"/>
              <a:t>5/18/2023</a:t>
            </a:fld>
            <a:endParaRPr lang="en-US"/>
          </a:p>
        </p:txBody>
      </p:sp>
      <p:sp>
        <p:nvSpPr>
          <p:cNvPr id="5" name="Footer Placeholder 4">
            <a:extLst>
              <a:ext uri="{FF2B5EF4-FFF2-40B4-BE49-F238E27FC236}">
                <a16:creationId xmlns:a16="http://schemas.microsoft.com/office/drawing/2014/main" id="{8476B356-A615-409B-BAAA-F7157CB16C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437D81-A801-47C0-B93C-DB9DD89967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D464E-2D23-4483-8673-7EDAB3BF6BB4}" type="slidenum">
              <a:rPr lang="en-US" smtClean="0"/>
              <a:t>‹#›</a:t>
            </a:fld>
            <a:endParaRPr lang="en-US"/>
          </a:p>
        </p:txBody>
      </p:sp>
    </p:spTree>
    <p:extLst>
      <p:ext uri="{BB962C8B-B14F-4D97-AF65-F5344CB8AC3E}">
        <p14:creationId xmlns:p14="http://schemas.microsoft.com/office/powerpoint/2010/main" val="2315967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MSE.doc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0A68-3E3C-476A-B8B9-A09303E67E4D}"/>
              </a:ext>
            </a:extLst>
          </p:cNvPr>
          <p:cNvSpPr>
            <a:spLocks noGrp="1"/>
          </p:cNvSpPr>
          <p:nvPr>
            <p:ph type="ctrTitle"/>
          </p:nvPr>
        </p:nvSpPr>
        <p:spPr>
          <a:xfrm>
            <a:off x="1524000" y="1122362"/>
            <a:ext cx="9144000" cy="2448152"/>
          </a:xfrm>
        </p:spPr>
        <p:txBody>
          <a:bodyPr>
            <a:noAutofit/>
          </a:bodyPr>
          <a:lstStyle/>
          <a:p>
            <a:pPr>
              <a:lnSpc>
                <a:spcPct val="150000"/>
              </a:lnSpc>
            </a:pPr>
            <a:r>
              <a:rPr lang="en-US" sz="3600" b="1" i="0" u="none" strike="noStrike" baseline="0" dirty="0">
                <a:solidFill>
                  <a:srgbClr val="000000"/>
                </a:solidFill>
                <a:latin typeface="Times New Roman" panose="02020603050405020304" pitchFamily="18" charset="0"/>
                <a:cs typeface="Times New Roman" panose="02020603050405020304" pitchFamily="18" charset="0"/>
              </a:rPr>
              <a:t>Module Title: Geriatrics Anesthesia </a:t>
            </a:r>
            <a:br>
              <a:rPr lang="en-US" sz="3600" b="0" i="0" u="none" strike="noStrike" baseline="0" dirty="0">
                <a:solidFill>
                  <a:srgbClr val="000000"/>
                </a:solidFill>
                <a:latin typeface="Times New Roman" panose="02020603050405020304" pitchFamily="18" charset="0"/>
                <a:cs typeface="Times New Roman" panose="02020603050405020304" pitchFamily="18" charset="0"/>
              </a:rPr>
            </a:br>
            <a:r>
              <a:rPr lang="en-US" sz="3600" b="1" i="0" u="none" strike="noStrike" baseline="0" dirty="0">
                <a:solidFill>
                  <a:srgbClr val="000000"/>
                </a:solidFill>
                <a:latin typeface="Times New Roman" panose="02020603050405020304" pitchFamily="18" charset="0"/>
                <a:cs typeface="Times New Roman" panose="02020603050405020304" pitchFamily="18" charset="0"/>
              </a:rPr>
              <a:t>Module Code: </a:t>
            </a:r>
            <a:r>
              <a:rPr lang="en-US" sz="3600" b="0" i="0" u="none" strike="noStrike" baseline="0" dirty="0">
                <a:solidFill>
                  <a:srgbClr val="000000"/>
                </a:solidFill>
                <a:latin typeface="Times New Roman" panose="02020603050405020304" pitchFamily="18" charset="0"/>
                <a:cs typeface="Times New Roman" panose="02020603050405020304" pitchFamily="18" charset="0"/>
              </a:rPr>
              <a:t>AnstM-5341 </a:t>
            </a:r>
            <a:br>
              <a:rPr lang="en-US" sz="3600" b="0" i="0" u="none" strike="noStrike" baseline="0" dirty="0">
                <a:solidFill>
                  <a:srgbClr val="000000"/>
                </a:solidFill>
                <a:latin typeface="Times New Roman" panose="02020603050405020304" pitchFamily="18" charset="0"/>
                <a:cs typeface="Times New Roman" panose="02020603050405020304" pitchFamily="18" charset="0"/>
              </a:rPr>
            </a:br>
            <a:r>
              <a:rPr lang="en-US" sz="3600" b="1" i="0" u="none" strike="noStrike" baseline="0" dirty="0">
                <a:solidFill>
                  <a:srgbClr val="000000"/>
                </a:solidFill>
                <a:latin typeface="Times New Roman" panose="02020603050405020304" pitchFamily="18" charset="0"/>
                <a:cs typeface="Times New Roman" panose="02020603050405020304" pitchFamily="18" charset="0"/>
              </a:rPr>
              <a:t>Module ECTS: 5 ECTS </a:t>
            </a:r>
            <a:br>
              <a:rPr lang="en-US" sz="3600" b="0" i="0" u="none" strike="noStrike" baseline="0" dirty="0">
                <a:solidFill>
                  <a:srgbClr val="000000"/>
                </a:solidFill>
                <a:latin typeface="Times New Roman" panose="02020603050405020304" pitchFamily="18" charset="0"/>
                <a:cs typeface="Times New Roman" panose="02020603050405020304" pitchFamily="18" charset="0"/>
              </a:rPr>
            </a:br>
            <a:r>
              <a:rPr lang="en-US" sz="3600" b="1" i="0" u="none" strike="noStrike" baseline="0" dirty="0">
                <a:solidFill>
                  <a:srgbClr val="000000"/>
                </a:solidFill>
                <a:latin typeface="Times New Roman" panose="02020603050405020304" pitchFamily="18" charset="0"/>
                <a:cs typeface="Times New Roman" panose="02020603050405020304" pitchFamily="18" charset="0"/>
              </a:rPr>
              <a:t>Module Duration: </a:t>
            </a:r>
            <a:r>
              <a:rPr lang="en-US" sz="3600" b="0" i="0" u="none" strike="noStrike" baseline="0" dirty="0">
                <a:solidFill>
                  <a:srgbClr val="000000"/>
                </a:solidFill>
                <a:latin typeface="Times New Roman" panose="02020603050405020304" pitchFamily="18" charset="0"/>
                <a:cs typeface="Times New Roman" panose="02020603050405020304" pitchFamily="18" charset="0"/>
              </a:rPr>
              <a:t>20 Weeks </a:t>
            </a:r>
            <a:endParaRPr lang="en-US"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9FEA60D-B18A-4C86-AB9F-5563A1ABE606}"/>
              </a:ext>
            </a:extLst>
          </p:cNvPr>
          <p:cNvSpPr>
            <a:spLocks noGrp="1"/>
          </p:cNvSpPr>
          <p:nvPr>
            <p:ph type="subTitle" idx="1"/>
          </p:nvPr>
        </p:nvSpPr>
        <p:spPr>
          <a:xfrm>
            <a:off x="1683657" y="4056744"/>
            <a:ext cx="9144000" cy="1182913"/>
          </a:xfrm>
        </p:spPr>
        <p:txBody>
          <a:bodyPr/>
          <a:lstStyle/>
          <a:p>
            <a:r>
              <a:rPr lang="en-US" dirty="0"/>
              <a:t>Instructor: Mr. </a:t>
            </a:r>
            <a:r>
              <a:rPr lang="en-US" dirty="0" err="1"/>
              <a:t>Hirbo</a:t>
            </a:r>
            <a:r>
              <a:rPr lang="en-US" dirty="0"/>
              <a:t> Samuel</a:t>
            </a:r>
          </a:p>
        </p:txBody>
      </p:sp>
    </p:spTree>
    <p:extLst>
      <p:ext uri="{BB962C8B-B14F-4D97-AF65-F5344CB8AC3E}">
        <p14:creationId xmlns:p14="http://schemas.microsoft.com/office/powerpoint/2010/main" val="1801135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99218"/>
          </a:xfrm>
        </p:spPr>
        <p:txBody>
          <a:bodyPr>
            <a:normAutofit/>
          </a:bodyPr>
          <a:lstStyle/>
          <a:p>
            <a:r>
              <a:rPr lang="en-US" sz="3200" dirty="0">
                <a:latin typeface="Arial" panose="020B0604020202020204" pitchFamily="34" charset="0"/>
                <a:cs typeface="Arial" panose="020B0604020202020204" pitchFamily="34" charset="0"/>
              </a:rPr>
              <a:t>Pre-operative evaluation</a:t>
            </a:r>
            <a:endParaRPr lang="en-US" sz="3200" dirty="0"/>
          </a:p>
        </p:txBody>
      </p:sp>
      <p:pic>
        <p:nvPicPr>
          <p:cNvPr id="460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7600" y="1669144"/>
            <a:ext cx="9681029" cy="4457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1682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0611"/>
            <a:ext cx="10515600" cy="1100818"/>
          </a:xfrm>
        </p:spPr>
        <p:txBody>
          <a:bodyPr/>
          <a:lstStyle/>
          <a:p>
            <a:r>
              <a:rPr lang="en-US" dirty="0"/>
              <a:t> </a:t>
            </a:r>
            <a:r>
              <a:rPr lang="en-US" sz="2800" dirty="0">
                <a:latin typeface="Arial" panose="020B0604020202020204" pitchFamily="34" charset="0"/>
                <a:cs typeface="Arial" panose="020B0604020202020204" pitchFamily="34" charset="0"/>
              </a:rPr>
              <a:t>Communication with older adults </a:t>
            </a:r>
          </a:p>
        </p:txBody>
      </p:sp>
      <p:pic>
        <p:nvPicPr>
          <p:cNvPr id="4710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628086" cy="4816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3408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144"/>
            <a:ext cx="10515600" cy="827314"/>
          </a:xfrm>
        </p:spPr>
        <p:txBody>
          <a:bodyPr>
            <a:normAutofit/>
          </a:bodyPr>
          <a:lstStyle/>
          <a:p>
            <a:r>
              <a:rPr lang="en-US" dirty="0"/>
              <a:t> </a:t>
            </a:r>
            <a:r>
              <a:rPr lang="en-US" sz="3600" dirty="0">
                <a:latin typeface="Arial" panose="020B0604020202020204" pitchFamily="34" charset="0"/>
                <a:cs typeface="Arial" panose="020B0604020202020204" pitchFamily="34" charset="0"/>
              </a:rPr>
              <a:t>Continued…</a:t>
            </a:r>
          </a:p>
        </p:txBody>
      </p:sp>
      <p:pic>
        <p:nvPicPr>
          <p:cNvPr id="4813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291772"/>
            <a:ext cx="10642600" cy="496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4525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E0EED-D89E-4598-0F1B-3E41B860231D}"/>
              </a:ext>
            </a:extLst>
          </p:cNvPr>
          <p:cNvSpPr>
            <a:spLocks noGrp="1"/>
          </p:cNvSpPr>
          <p:nvPr>
            <p:ph type="title"/>
          </p:nvPr>
        </p:nvSpPr>
        <p:spPr>
          <a:xfrm>
            <a:off x="838200" y="365126"/>
            <a:ext cx="10515600" cy="1202418"/>
          </a:xfrm>
        </p:spPr>
        <p:txBody>
          <a:bodyPr/>
          <a:lstStyle/>
          <a:p>
            <a:r>
              <a:rPr lang="en-US" dirty="0"/>
              <a:t> </a:t>
            </a:r>
            <a:r>
              <a:rPr lang="en-US" sz="3200" dirty="0">
                <a:latin typeface="Arial" panose="020B0604020202020204" pitchFamily="34" charset="0"/>
                <a:cs typeface="Arial" panose="020B0604020202020204" pitchFamily="34" charset="0"/>
              </a:rPr>
              <a:t>History </a:t>
            </a:r>
          </a:p>
        </p:txBody>
      </p:sp>
      <p:sp>
        <p:nvSpPr>
          <p:cNvPr id="3" name="Content Placeholder 2">
            <a:extLst>
              <a:ext uri="{FF2B5EF4-FFF2-40B4-BE49-F238E27FC236}">
                <a16:creationId xmlns:a16="http://schemas.microsoft.com/office/drawing/2014/main" id="{387A95A1-E463-8EB8-898B-70F346B65D2F}"/>
              </a:ext>
            </a:extLst>
          </p:cNvPr>
          <p:cNvSpPr>
            <a:spLocks noGrp="1"/>
          </p:cNvSpPr>
          <p:nvPr>
            <p:ph idx="1"/>
          </p:nvPr>
        </p:nvSpPr>
        <p:spPr/>
        <p:txBody>
          <a:bodyPr>
            <a:normAutofit/>
          </a:bodyPr>
          <a:lstStyle/>
          <a:p>
            <a:pPr>
              <a:lnSpc>
                <a:spcPct val="150000"/>
              </a:lnSpc>
            </a:pPr>
            <a:r>
              <a:rPr lang="en-US" sz="2000" b="0" i="0" u="none" strike="noStrike" baseline="0" dirty="0">
                <a:solidFill>
                  <a:srgbClr val="000000"/>
                </a:solidFill>
                <a:latin typeface="Arial" panose="020B0604020202020204" pitchFamily="34" charset="0"/>
              </a:rPr>
              <a:t>Prior to taking a history,</a:t>
            </a:r>
          </a:p>
          <a:p>
            <a:pPr>
              <a:lnSpc>
                <a:spcPct val="150000"/>
              </a:lnSpc>
              <a:buFont typeface="Wingdings" panose="05000000000000000000" pitchFamily="2" charset="2"/>
              <a:buChar char="Ø"/>
            </a:pPr>
            <a:r>
              <a:rPr lang="en-US" sz="2000" b="0" i="0" u="none" strike="noStrike" baseline="0" dirty="0">
                <a:solidFill>
                  <a:srgbClr val="000000"/>
                </a:solidFill>
                <a:latin typeface="Arial" panose="020B0604020202020204" pitchFamily="34" charset="0"/>
              </a:rPr>
              <a:t>a mini mental state score is very useful primarily to assess reliability of information </a:t>
            </a:r>
          </a:p>
          <a:p>
            <a:pPr>
              <a:lnSpc>
                <a:spcPct val="150000"/>
              </a:lnSpc>
              <a:buFont typeface="Wingdings" panose="05000000000000000000" pitchFamily="2" charset="2"/>
              <a:buChar char="Ø"/>
            </a:pPr>
            <a:r>
              <a:rPr lang="en-US" sz="2000" b="0" i="0" u="none" strike="noStrike" baseline="0" dirty="0">
                <a:solidFill>
                  <a:srgbClr val="000000"/>
                </a:solidFill>
                <a:latin typeface="Arial" panose="020B0604020202020204" pitchFamily="34" charset="0"/>
                <a:hlinkClick r:id="rId3" action="ppaction://hlinkfile"/>
              </a:rPr>
              <a:t>MMSE.docx</a:t>
            </a:r>
            <a:endParaRPr lang="en-US" sz="2000" b="0" i="0" u="none" strike="noStrike" baseline="0" dirty="0">
              <a:solidFill>
                <a:srgbClr val="000000"/>
              </a:solidFill>
              <a:latin typeface="Arial" panose="020B0604020202020204" pitchFamily="34" charset="0"/>
            </a:endParaRPr>
          </a:p>
          <a:p>
            <a:pPr>
              <a:lnSpc>
                <a:spcPct val="150000"/>
              </a:lnSpc>
              <a:buFont typeface="Wingdings" panose="05000000000000000000" pitchFamily="2" charset="2"/>
              <a:buChar char="Ø"/>
            </a:pPr>
            <a:r>
              <a:rPr lang="en-US" sz="2000" b="0" i="0" u="none" strike="noStrike" baseline="0" dirty="0">
                <a:solidFill>
                  <a:srgbClr val="000000"/>
                </a:solidFill>
                <a:latin typeface="Arial" panose="020B0604020202020204" pitchFamily="34" charset="0"/>
              </a:rPr>
              <a:t>it might prove very useful in the postoperative period. </a:t>
            </a:r>
          </a:p>
          <a:p>
            <a:pPr>
              <a:lnSpc>
                <a:spcPct val="150000"/>
              </a:lnSpc>
              <a:buFont typeface="Wingdings" panose="05000000000000000000" pitchFamily="2" charset="2"/>
              <a:buChar char="§"/>
            </a:pPr>
            <a:r>
              <a:rPr lang="en-US" sz="1800" b="0" i="0" u="none" strike="noStrike" baseline="0" dirty="0">
                <a:solidFill>
                  <a:srgbClr val="000000"/>
                </a:solidFill>
                <a:latin typeface="Arial" panose="020B0604020202020204" pitchFamily="34" charset="0"/>
              </a:rPr>
              <a:t>Collateral history may be important via relatives, carers, nurses. </a:t>
            </a:r>
          </a:p>
          <a:p>
            <a:pPr>
              <a:lnSpc>
                <a:spcPct val="150000"/>
              </a:lnSpc>
              <a:buFont typeface="Wingdings" panose="05000000000000000000" pitchFamily="2" charset="2"/>
              <a:buChar char="Ø"/>
            </a:pPr>
            <a:r>
              <a:rPr lang="en-US" sz="1800" dirty="0">
                <a:solidFill>
                  <a:srgbClr val="000000"/>
                </a:solidFill>
                <a:latin typeface="Arial" panose="020B0604020202020204" pitchFamily="34" charset="0"/>
              </a:rPr>
              <a:t>  </a:t>
            </a:r>
            <a:r>
              <a:rPr lang="en-US" sz="1800" b="0" i="0" u="none" strike="noStrike" baseline="0" dirty="0">
                <a:solidFill>
                  <a:srgbClr val="000000"/>
                </a:solidFill>
                <a:latin typeface="Arial" panose="020B0604020202020204" pitchFamily="34" charset="0"/>
              </a:rPr>
              <a:t>Old notes are a very useful source of information, especially old </a:t>
            </a:r>
            <a:r>
              <a:rPr lang="en-US" sz="1800" b="0" i="0" u="none" strike="noStrike" baseline="0" dirty="0" err="1">
                <a:solidFill>
                  <a:srgbClr val="000000"/>
                </a:solidFill>
                <a:latin typeface="Arial" panose="020B0604020202020204" pitchFamily="34" charset="0"/>
              </a:rPr>
              <a:t>anaesthetic</a:t>
            </a:r>
            <a:r>
              <a:rPr lang="en-US" sz="1800" b="0" i="0" u="none" strike="noStrike" baseline="0" dirty="0">
                <a:solidFill>
                  <a:srgbClr val="000000"/>
                </a:solidFill>
                <a:latin typeface="Arial" panose="020B0604020202020204" pitchFamily="34" charset="0"/>
              </a:rPr>
              <a:t> charts. </a:t>
            </a:r>
            <a:endParaRPr lang="en-US" sz="2000" dirty="0"/>
          </a:p>
        </p:txBody>
      </p:sp>
    </p:spTree>
    <p:extLst>
      <p:ext uri="{BB962C8B-B14F-4D97-AF65-F5344CB8AC3E}">
        <p14:creationId xmlns:p14="http://schemas.microsoft.com/office/powerpoint/2010/main" val="1116165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92A04-09D8-A784-4C47-44426AF60C29}"/>
              </a:ext>
            </a:extLst>
          </p:cNvPr>
          <p:cNvSpPr>
            <a:spLocks noGrp="1"/>
          </p:cNvSpPr>
          <p:nvPr>
            <p:ph type="title"/>
          </p:nvPr>
        </p:nvSpPr>
        <p:spPr>
          <a:xfrm>
            <a:off x="838200" y="365126"/>
            <a:ext cx="10515600" cy="912132"/>
          </a:xfrm>
        </p:spPr>
        <p:txBody>
          <a:bodyPr>
            <a:normAutofit/>
          </a:bodyPr>
          <a:lstStyle/>
          <a:p>
            <a:r>
              <a:rPr lang="en-US" sz="2400" b="1" i="0" u="none" strike="noStrike" baseline="0" dirty="0">
                <a:solidFill>
                  <a:srgbClr val="000000"/>
                </a:solidFill>
                <a:latin typeface="Arial" panose="020B0604020202020204" pitchFamily="34" charset="0"/>
              </a:rPr>
              <a:t>Specific points in the history in addition to a full normal preoperative assessment include: </a:t>
            </a:r>
            <a:endParaRPr lang="en-US" sz="2400" b="1" dirty="0"/>
          </a:p>
        </p:txBody>
      </p:sp>
      <p:sp>
        <p:nvSpPr>
          <p:cNvPr id="3" name="Content Placeholder 2">
            <a:extLst>
              <a:ext uri="{FF2B5EF4-FFF2-40B4-BE49-F238E27FC236}">
                <a16:creationId xmlns:a16="http://schemas.microsoft.com/office/drawing/2014/main" id="{AB0BD40D-9F8C-FF75-A04D-28A60A8E3720}"/>
              </a:ext>
            </a:extLst>
          </p:cNvPr>
          <p:cNvSpPr>
            <a:spLocks noGrp="1"/>
          </p:cNvSpPr>
          <p:nvPr>
            <p:ph idx="1"/>
          </p:nvPr>
        </p:nvSpPr>
        <p:spPr>
          <a:xfrm>
            <a:off x="838200" y="1611086"/>
            <a:ext cx="10515600" cy="4565877"/>
          </a:xfrm>
        </p:spPr>
        <p:txBody>
          <a:bodyPr>
            <a:normAutofit/>
          </a:bodyPr>
          <a:lstStyle/>
          <a:p>
            <a:pPr marL="342900" indent="-342900">
              <a:lnSpc>
                <a:spcPct val="150000"/>
              </a:lnSpc>
              <a:buAutoNum type="arabicPeriod"/>
            </a:pPr>
            <a:r>
              <a:rPr lang="en-US" sz="2400" b="0" i="0" u="none" strike="noStrike" baseline="0" dirty="0">
                <a:solidFill>
                  <a:srgbClr val="000000"/>
                </a:solidFill>
                <a:latin typeface="Arial" panose="020B0604020202020204" pitchFamily="34" charset="0"/>
                <a:cs typeface="Arial" panose="020B0604020202020204" pitchFamily="34" charset="0"/>
              </a:rPr>
              <a:t>Background to admission.</a:t>
            </a:r>
          </a:p>
          <a:p>
            <a:pPr marL="342900" indent="-342900">
              <a:lnSpc>
                <a:spcPct val="150000"/>
              </a:lnSpc>
              <a:buAutoNum type="arabicPeriod"/>
            </a:pPr>
            <a:r>
              <a:rPr lang="en-US" sz="2400" b="0" i="0" u="none" strike="noStrike" baseline="0" dirty="0">
                <a:solidFill>
                  <a:srgbClr val="000000"/>
                </a:solidFill>
                <a:latin typeface="Arial" panose="020B0604020202020204" pitchFamily="34" charset="0"/>
                <a:cs typeface="Arial" panose="020B0604020202020204" pitchFamily="34" charset="0"/>
              </a:rPr>
              <a:t> Co-existing medical problems.</a:t>
            </a:r>
          </a:p>
          <a:p>
            <a:pPr marL="342900" indent="-342900">
              <a:lnSpc>
                <a:spcPct val="150000"/>
              </a:lnSpc>
              <a:buAutoNum type="arabicPeriod"/>
            </a:pPr>
            <a:r>
              <a:rPr lang="en-US" sz="2400" b="0" i="0" u="none" strike="noStrike" baseline="0" dirty="0">
                <a:solidFill>
                  <a:srgbClr val="000000"/>
                </a:solidFill>
                <a:latin typeface="Arial" panose="020B0604020202020204" pitchFamily="34" charset="0"/>
                <a:cs typeface="Arial" panose="020B0604020202020204" pitchFamily="34" charset="0"/>
              </a:rPr>
              <a:t> Gastro-</a:t>
            </a:r>
            <a:r>
              <a:rPr lang="en-US" sz="2400" b="0" i="0" u="none" strike="noStrike" baseline="0" dirty="0" err="1">
                <a:solidFill>
                  <a:srgbClr val="000000"/>
                </a:solidFill>
                <a:latin typeface="Arial" panose="020B0604020202020204" pitchFamily="34" charset="0"/>
                <a:cs typeface="Arial" panose="020B0604020202020204" pitchFamily="34" charset="0"/>
              </a:rPr>
              <a:t>oesophageal</a:t>
            </a:r>
            <a:r>
              <a:rPr lang="en-US" sz="2400" b="0" i="0" u="none" strike="noStrike" baseline="0" dirty="0">
                <a:solidFill>
                  <a:srgbClr val="000000"/>
                </a:solidFill>
                <a:latin typeface="Arial" panose="020B0604020202020204" pitchFamily="34" charset="0"/>
                <a:cs typeface="Arial" panose="020B0604020202020204" pitchFamily="34" charset="0"/>
              </a:rPr>
              <a:t> reflux disease (GORD) and dentition. </a:t>
            </a:r>
          </a:p>
          <a:p>
            <a:pPr marL="342900" indent="-342900">
              <a:lnSpc>
                <a:spcPct val="150000"/>
              </a:lnSpc>
              <a:buAutoNum type="arabicPeriod"/>
            </a:pPr>
            <a:r>
              <a:rPr lang="en-US" sz="2400" b="0" i="0" u="none" strike="noStrike" baseline="0" dirty="0">
                <a:solidFill>
                  <a:srgbClr val="000000"/>
                </a:solidFill>
                <a:latin typeface="Arial" panose="020B0604020202020204" pitchFamily="34" charset="0"/>
                <a:cs typeface="Arial" panose="020B0604020202020204" pitchFamily="34" charset="0"/>
              </a:rPr>
              <a:t>Medications </a:t>
            </a:r>
          </a:p>
          <a:p>
            <a:pPr marL="342900" indent="-342900">
              <a:lnSpc>
                <a:spcPct val="150000"/>
              </a:lnSpc>
              <a:buAutoNum type="arabicPeriod"/>
            </a:pPr>
            <a:r>
              <a:rPr lang="en-US" sz="2400" b="0" i="0" u="none" strike="noStrike" baseline="0" dirty="0">
                <a:solidFill>
                  <a:srgbClr val="000000"/>
                </a:solidFill>
                <a:latin typeface="Arial" panose="020B0604020202020204" pitchFamily="34" charset="0"/>
                <a:cs typeface="Arial" panose="020B0604020202020204" pitchFamily="34" charset="0"/>
              </a:rPr>
              <a:t>A detailed social appraisal to assess the level of home support may allow day surgery or earlier involvement of social services prior to discharge.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6917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97618"/>
          </a:xfrm>
        </p:spPr>
        <p:txBody>
          <a:bodyPr/>
          <a:lstStyle/>
          <a:p>
            <a:endParaRPr lang="en-US" dirty="0"/>
          </a:p>
        </p:txBody>
      </p:sp>
      <p:pic>
        <p:nvPicPr>
          <p:cNvPr id="4915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5657" y="1600201"/>
            <a:ext cx="9869714" cy="4892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544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12132"/>
          </a:xfrm>
        </p:spPr>
        <p:txBody>
          <a:bodyPr/>
          <a:lstStyle/>
          <a:p>
            <a:endParaRPr lang="en-US" dirty="0"/>
          </a:p>
        </p:txBody>
      </p:sp>
      <p:pic>
        <p:nvPicPr>
          <p:cNvPr id="5017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6000" y="1582058"/>
            <a:ext cx="10145486" cy="4910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5398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F107F-CA45-4DE3-8ACC-3CA4D48D3EB2}"/>
              </a:ext>
            </a:extLst>
          </p:cNvPr>
          <p:cNvSpPr>
            <a:spLocks noGrp="1"/>
          </p:cNvSpPr>
          <p:nvPr>
            <p:ph type="title"/>
          </p:nvPr>
        </p:nvSpPr>
        <p:spPr>
          <a:xfrm>
            <a:off x="838200" y="267286"/>
            <a:ext cx="10515600" cy="1026942"/>
          </a:xfrm>
        </p:spPr>
        <p:txBody>
          <a:bodyPr>
            <a:normAutofit fontScale="90000"/>
          </a:bodyPr>
          <a:lstStyle/>
          <a:p>
            <a:br>
              <a:rPr lang="en-US" dirty="0"/>
            </a:br>
            <a:r>
              <a:rPr lang="en-US" dirty="0"/>
              <a:t>Physical Examination </a:t>
            </a:r>
          </a:p>
        </p:txBody>
      </p:sp>
      <p:sp>
        <p:nvSpPr>
          <p:cNvPr id="3" name="Content Placeholder 2">
            <a:extLst>
              <a:ext uri="{FF2B5EF4-FFF2-40B4-BE49-F238E27FC236}">
                <a16:creationId xmlns:a16="http://schemas.microsoft.com/office/drawing/2014/main" id="{E1D56046-95DC-4863-8C49-A2BB79D1F0AC}"/>
              </a:ext>
            </a:extLst>
          </p:cNvPr>
          <p:cNvSpPr>
            <a:spLocks noGrp="1"/>
          </p:cNvSpPr>
          <p:nvPr>
            <p:ph idx="1"/>
          </p:nvPr>
        </p:nvSpPr>
        <p:spPr>
          <a:xfrm>
            <a:off x="838200" y="1547446"/>
            <a:ext cx="10515600" cy="5043268"/>
          </a:xfrm>
        </p:spPr>
        <p:txBody>
          <a:bodyPr>
            <a:normAutofit/>
          </a:bodyPr>
          <a:lstStyle/>
          <a:p>
            <a:pPr marR="0" algn="l">
              <a:lnSpc>
                <a:spcPct val="150000"/>
              </a:lnSpc>
            </a:pPr>
            <a:r>
              <a:rPr lang="en-US" sz="2400" b="0" i="0" u="none" strike="noStrike" baseline="0" dirty="0">
                <a:solidFill>
                  <a:srgbClr val="000000"/>
                </a:solidFill>
                <a:latin typeface="Arial" panose="020B0604020202020204" pitchFamily="34" charset="0"/>
              </a:rPr>
              <a:t>Following introduction, full exposure whilst ensuring warmth, comfort, and dignity, allows a full complete, clinical examination. </a:t>
            </a:r>
          </a:p>
          <a:p>
            <a:pPr marR="0" algn="l">
              <a:lnSpc>
                <a:spcPct val="150000"/>
              </a:lnSpc>
            </a:pPr>
            <a:r>
              <a:rPr lang="en-US" sz="2400" b="0" i="0" u="none" strike="noStrike" baseline="0" dirty="0">
                <a:solidFill>
                  <a:srgbClr val="000000"/>
                </a:solidFill>
                <a:latin typeface="Arial" panose="020B0604020202020204" pitchFamily="34" charset="0"/>
              </a:rPr>
              <a:t>Documentation of blood pressure allows appropriate intraoperative management of hypotension to maintain organ autoregulation perioperatively. </a:t>
            </a:r>
          </a:p>
          <a:p>
            <a:pPr marR="0" algn="l">
              <a:lnSpc>
                <a:spcPct val="150000"/>
              </a:lnSpc>
            </a:pPr>
            <a:r>
              <a:rPr lang="en-US" sz="2400" b="0" i="0" u="none" strike="noStrike" baseline="0" dirty="0">
                <a:solidFill>
                  <a:srgbClr val="000000"/>
                </a:solidFill>
                <a:latin typeface="Arial" panose="020B0604020202020204" pitchFamily="34" charset="0"/>
              </a:rPr>
              <a:t>Fluid balance, weight, and nutrition are all important in the assessment. </a:t>
            </a:r>
          </a:p>
        </p:txBody>
      </p:sp>
    </p:spTree>
    <p:extLst>
      <p:ext uri="{BB962C8B-B14F-4D97-AF65-F5344CB8AC3E}">
        <p14:creationId xmlns:p14="http://schemas.microsoft.com/office/powerpoint/2010/main" val="1024150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BBCB7-D1D2-8CBB-39F0-72FDC6E5EA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FCB971-65EA-3A21-A4F3-E080DF10E6A1}"/>
              </a:ext>
            </a:extLst>
          </p:cNvPr>
          <p:cNvSpPr>
            <a:spLocks noGrp="1"/>
          </p:cNvSpPr>
          <p:nvPr>
            <p:ph idx="1"/>
          </p:nvPr>
        </p:nvSpPr>
        <p:spPr/>
        <p:txBody>
          <a:bodyPr/>
          <a:lstStyle/>
          <a:p>
            <a:pPr marR="0" algn="l">
              <a:lnSpc>
                <a:spcPct val="150000"/>
              </a:lnSpc>
            </a:pPr>
            <a:r>
              <a:rPr lang="en-US" sz="2400" b="0" i="0" u="none" strike="noStrike" baseline="0" dirty="0">
                <a:solidFill>
                  <a:srgbClr val="000000"/>
                </a:solidFill>
                <a:latin typeface="Arial" panose="020B0604020202020204" pitchFamily="34" charset="0"/>
                <a:cs typeface="Arial" panose="020B0604020202020204" pitchFamily="34" charset="0"/>
              </a:rPr>
              <a:t>Bowel prep or fractures may need fluid preoperatively. </a:t>
            </a:r>
          </a:p>
          <a:p>
            <a:pPr marR="0" algn="l">
              <a:lnSpc>
                <a:spcPct val="150000"/>
              </a:lnSpc>
            </a:pPr>
            <a:r>
              <a:rPr lang="en-US" sz="2400" b="0" i="0" u="none" strike="noStrike" baseline="0" dirty="0">
                <a:solidFill>
                  <a:srgbClr val="000000"/>
                </a:solidFill>
                <a:latin typeface="Arial" panose="020B0604020202020204" pitchFamily="34" charset="0"/>
                <a:cs typeface="Arial" panose="020B0604020202020204" pitchFamily="34" charset="0"/>
              </a:rPr>
              <a:t> Unrecognized pathology might be found, and be highly relevant, such as the systolic murmur of aortic stenosis.</a:t>
            </a:r>
          </a:p>
          <a:p>
            <a:pPr marR="0" algn="l">
              <a:lnSpc>
                <a:spcPct val="150000"/>
              </a:lnSpc>
            </a:pPr>
            <a:r>
              <a:rPr lang="en-US" sz="2400" b="0" i="0" u="none" strike="noStrike" baseline="0" dirty="0">
                <a:solidFill>
                  <a:srgbClr val="000000"/>
                </a:solidFill>
                <a:latin typeface="Arial" panose="020B0604020202020204" pitchFamily="34" charset="0"/>
                <a:cs typeface="Arial" panose="020B0604020202020204" pitchFamily="34" charset="0"/>
              </a:rPr>
              <a:t> If possible, walk the ward or stairs with the patient to assess “real-time” exercise tolerance. </a:t>
            </a:r>
            <a:endParaRPr lang="en-US" sz="24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010411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8941"/>
          </a:xfrm>
        </p:spPr>
        <p:txBody>
          <a:bodyPr/>
          <a:lstStyle/>
          <a:p>
            <a:r>
              <a:rPr lang="en-US" dirty="0"/>
              <a:t> </a:t>
            </a:r>
            <a:r>
              <a:rPr lang="en-US" sz="3600" dirty="0">
                <a:latin typeface="Arial" panose="020B0604020202020204" pitchFamily="34" charset="0"/>
                <a:cs typeface="Arial" panose="020B0604020202020204" pitchFamily="34" charset="0"/>
              </a:rPr>
              <a:t>continued… </a:t>
            </a:r>
          </a:p>
        </p:txBody>
      </p:sp>
      <p:pic>
        <p:nvPicPr>
          <p:cNvPr id="522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39252" y="1783830"/>
            <a:ext cx="9683646" cy="4342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8252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94049"/>
          </a:xfrm>
        </p:spPr>
        <p:txBody>
          <a:bodyPr/>
          <a:lstStyle/>
          <a:p>
            <a:r>
              <a:rPr lang="en-US" dirty="0"/>
              <a:t> </a:t>
            </a:r>
            <a:r>
              <a:rPr lang="en-US" sz="3600" dirty="0">
                <a:latin typeface="Arial" panose="020B0604020202020204" pitchFamily="34" charset="0"/>
                <a:cs typeface="Arial" panose="020B0604020202020204" pitchFamily="34" charset="0"/>
              </a:rPr>
              <a:t>Continued.</a:t>
            </a:r>
            <a:r>
              <a:rPr lang="en-US" dirty="0"/>
              <a:t>   </a:t>
            </a:r>
          </a:p>
        </p:txBody>
      </p:sp>
      <p:pic>
        <p:nvPicPr>
          <p:cNvPr id="532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4262" y="1514007"/>
            <a:ext cx="9953469" cy="4978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6880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947C1-EA81-4DF9-9A45-60675E24E686}"/>
              </a:ext>
            </a:extLst>
          </p:cNvPr>
          <p:cNvSpPr>
            <a:spLocks noGrp="1"/>
          </p:cNvSpPr>
          <p:nvPr>
            <p:ph type="title"/>
          </p:nvPr>
        </p:nvSpPr>
        <p:spPr>
          <a:xfrm>
            <a:off x="838200" y="221227"/>
            <a:ext cx="10515600" cy="1022957"/>
          </a:xfrm>
        </p:spPr>
        <p:txBody>
          <a:bodyPr>
            <a:normAutofit fontScale="90000"/>
          </a:bodyPr>
          <a:lstStyle/>
          <a:p>
            <a:pPr algn="just"/>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Investigation </a:t>
            </a:r>
          </a:p>
        </p:txBody>
      </p:sp>
      <p:sp>
        <p:nvSpPr>
          <p:cNvPr id="3" name="Content Placeholder 2">
            <a:extLst>
              <a:ext uri="{FF2B5EF4-FFF2-40B4-BE49-F238E27FC236}">
                <a16:creationId xmlns:a16="http://schemas.microsoft.com/office/drawing/2014/main" id="{71E5C225-4295-4147-BE07-E7ED02E02FC8}"/>
              </a:ext>
            </a:extLst>
          </p:cNvPr>
          <p:cNvSpPr>
            <a:spLocks noGrp="1"/>
          </p:cNvSpPr>
          <p:nvPr>
            <p:ph idx="1"/>
          </p:nvPr>
        </p:nvSpPr>
        <p:spPr>
          <a:xfrm>
            <a:off x="838200" y="1543987"/>
            <a:ext cx="10515600" cy="4632976"/>
          </a:xfrm>
        </p:spPr>
        <p:txBody>
          <a:bodyPr>
            <a:normAutofit/>
          </a:bodyPr>
          <a:lstStyle/>
          <a:p>
            <a:pPr algn="just">
              <a:lnSpc>
                <a:spcPct val="150000"/>
              </a:lnSpc>
              <a:buFont typeface="Wingdings" panose="05000000000000000000" pitchFamily="2" charset="2"/>
              <a:buChar char="Ø"/>
            </a:pPr>
            <a:r>
              <a:rPr lang="en-US" sz="2400" b="0" i="0" u="none" strike="noStrike" baseline="0" dirty="0">
                <a:solidFill>
                  <a:srgbClr val="000000"/>
                </a:solidFill>
                <a:latin typeface="Arial" panose="020B0604020202020204" pitchFamily="34" charset="0"/>
              </a:rPr>
              <a:t>Given the high incidence of co-morbidities, an absolute minimum of ECG, full blood count, urea and electrolytes, and blood sugar are required. </a:t>
            </a:r>
          </a:p>
          <a:p>
            <a:pPr algn="just">
              <a:lnSpc>
                <a:spcPct val="150000"/>
              </a:lnSpc>
              <a:buFont typeface="Wingdings" panose="05000000000000000000" pitchFamily="2" charset="2"/>
              <a:buChar char="Ø"/>
            </a:pPr>
            <a:r>
              <a:rPr lang="en-US" sz="2400" b="0" i="0" u="none" strike="noStrike" baseline="0" dirty="0">
                <a:solidFill>
                  <a:srgbClr val="000000"/>
                </a:solidFill>
                <a:latin typeface="Arial" panose="020B0604020202020204" pitchFamily="34" charset="0"/>
              </a:rPr>
              <a:t>Otherwise, investigate as clinically indicated.</a:t>
            </a:r>
          </a:p>
          <a:p>
            <a:pPr algn="just">
              <a:lnSpc>
                <a:spcPct val="150000"/>
              </a:lnSpc>
              <a:buFont typeface="Wingdings" panose="05000000000000000000" pitchFamily="2" charset="2"/>
              <a:buChar char="Ø"/>
            </a:pPr>
            <a:r>
              <a:rPr lang="en-US" sz="2400" b="0" i="0" u="none" strike="noStrike" baseline="0" dirty="0">
                <a:solidFill>
                  <a:srgbClr val="000000"/>
                </a:solidFill>
                <a:latin typeface="Arial" panose="020B0604020202020204" pitchFamily="34" charset="0"/>
              </a:rPr>
              <a:t> Age is not a barrier in itself to more “active” tests such as exercise ECG and cardiopulmonary exercise testing.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8411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9803"/>
            <a:ext cx="10515600" cy="824459"/>
          </a:xfrm>
        </p:spPr>
        <p:txBody>
          <a:bodyPr>
            <a:normAutofit/>
          </a:bodyPr>
          <a:lstStyle/>
          <a:p>
            <a:r>
              <a:rPr lang="en-US" sz="3600" dirty="0">
                <a:latin typeface="Arial" panose="020B0604020202020204" pitchFamily="34" charset="0"/>
                <a:cs typeface="Arial" panose="020B0604020202020204" pitchFamily="34" charset="0"/>
              </a:rPr>
              <a:t> Continued… </a:t>
            </a:r>
          </a:p>
        </p:txBody>
      </p:sp>
      <p:pic>
        <p:nvPicPr>
          <p:cNvPr id="542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528997"/>
            <a:ext cx="10119610" cy="464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151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9784"/>
            <a:ext cx="10515600" cy="734518"/>
          </a:xfrm>
        </p:spPr>
        <p:txBody>
          <a:bodyPr/>
          <a:lstStyle/>
          <a:p>
            <a:r>
              <a:rPr lang="en-US" dirty="0"/>
              <a:t>  </a:t>
            </a:r>
            <a:r>
              <a:rPr lang="en-US" sz="3600" dirty="0">
                <a:latin typeface="Arial" panose="020B0604020202020204" pitchFamily="34" charset="0"/>
                <a:cs typeface="Arial" panose="020B0604020202020204" pitchFamily="34" charset="0"/>
              </a:rPr>
              <a:t>Optimizing geriatric patients </a:t>
            </a:r>
          </a:p>
        </p:txBody>
      </p:sp>
      <p:pic>
        <p:nvPicPr>
          <p:cNvPr id="552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9310" y="1394085"/>
            <a:ext cx="9923489" cy="4732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0115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4049"/>
          </a:xfrm>
        </p:spPr>
        <p:txBody>
          <a:bodyPr/>
          <a:lstStyle/>
          <a:p>
            <a:endParaRPr lang="en-US" dirty="0"/>
          </a:p>
        </p:txBody>
      </p:sp>
      <p:pic>
        <p:nvPicPr>
          <p:cNvPr id="573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4341" y="1558977"/>
            <a:ext cx="9488774" cy="456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4564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D2866-920E-47B6-831A-D0C4B24CE8E1}"/>
              </a:ext>
            </a:extLst>
          </p:cNvPr>
          <p:cNvSpPr>
            <a:spLocks noGrp="1"/>
          </p:cNvSpPr>
          <p:nvPr>
            <p:ph type="title"/>
          </p:nvPr>
        </p:nvSpPr>
        <p:spPr>
          <a:xfrm>
            <a:off x="838200" y="333829"/>
            <a:ext cx="10515600" cy="798285"/>
          </a:xfrm>
        </p:spPr>
        <p:txBody>
          <a:bodyPr>
            <a:normAutofit fontScale="90000"/>
          </a:bodyPr>
          <a:lstStyle/>
          <a:p>
            <a:br>
              <a:rPr lang="en-US" dirty="0"/>
            </a:br>
            <a:r>
              <a:rPr lang="en-US" dirty="0"/>
              <a:t> </a:t>
            </a:r>
            <a:r>
              <a:rPr lang="en-US" sz="4000" dirty="0">
                <a:latin typeface="Arial" panose="020B0604020202020204" pitchFamily="34" charset="0"/>
                <a:cs typeface="Arial" panose="020B0604020202020204" pitchFamily="34" charset="0"/>
              </a:rPr>
              <a:t>continued…. </a:t>
            </a:r>
            <a:br>
              <a:rPr lang="en-US" sz="4000" dirty="0">
                <a:latin typeface="Arial" panose="020B0604020202020204" pitchFamily="34" charset="0"/>
                <a:cs typeface="Arial" panose="020B0604020202020204" pitchFamily="34" charset="0"/>
              </a:rPr>
            </a:br>
            <a:endParaRPr lang="en-US"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610C647-482B-4664-AEBB-B5830FDF2AD2}"/>
              </a:ext>
            </a:extLst>
          </p:cNvPr>
          <p:cNvSpPr>
            <a:spLocks noGrp="1"/>
          </p:cNvSpPr>
          <p:nvPr>
            <p:ph idx="1"/>
          </p:nvPr>
        </p:nvSpPr>
        <p:spPr>
          <a:xfrm>
            <a:off x="678543" y="1436914"/>
            <a:ext cx="10515600" cy="4459829"/>
          </a:xfrm>
        </p:spPr>
        <p:txBody>
          <a:bodyPr>
            <a:normAutofit/>
          </a:bodyPr>
          <a:lstStyle/>
          <a:p>
            <a:pPr algn="l">
              <a:lnSpc>
                <a:spcPct val="150000"/>
              </a:lnSpc>
            </a:pPr>
            <a:r>
              <a:rPr lang="en-US" sz="2400" b="0" i="0" u="none" strike="noStrike" baseline="0" dirty="0">
                <a:latin typeface="Arial" panose="020B0604020202020204" pitchFamily="34" charset="0"/>
                <a:cs typeface="Arial" panose="020B0604020202020204" pitchFamily="34" charset="0"/>
              </a:rPr>
              <a:t>Aging produces both pharmacokinetic (the relationship between drug dose and plasma concentration) and </a:t>
            </a:r>
          </a:p>
          <a:p>
            <a:pPr algn="l">
              <a:lnSpc>
                <a:spcPct val="150000"/>
              </a:lnSpc>
            </a:pPr>
            <a:r>
              <a:rPr lang="en-US" sz="2400" b="0" i="0" u="none" strike="noStrike" baseline="0" dirty="0">
                <a:latin typeface="Arial" panose="020B0604020202020204" pitchFamily="34" charset="0"/>
                <a:cs typeface="Arial" panose="020B0604020202020204" pitchFamily="34" charset="0"/>
              </a:rPr>
              <a:t>pharmacodynamic (the relationship between plasma concentration and clinical effect) changes.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5856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35FE0-CE42-4D8F-B228-F5C6C0A5F263}"/>
              </a:ext>
            </a:extLst>
          </p:cNvPr>
          <p:cNvSpPr>
            <a:spLocks noGrp="1"/>
          </p:cNvSpPr>
          <p:nvPr>
            <p:ph type="title"/>
          </p:nvPr>
        </p:nvSpPr>
        <p:spPr>
          <a:xfrm>
            <a:off x="838200" y="324465"/>
            <a:ext cx="10515600" cy="855406"/>
          </a:xfrm>
        </p:spPr>
        <p:txBody>
          <a:bodyPr>
            <a:normAutofit fontScale="90000"/>
          </a:bodyPr>
          <a:lstStyle/>
          <a:p>
            <a:r>
              <a:rPr lang="en-US" sz="3200" dirty="0">
                <a:latin typeface="Times New Roman" panose="02020603050405020304" pitchFamily="18" charset="0"/>
                <a:cs typeface="Times New Roman" panose="02020603050405020304" pitchFamily="18" charset="0"/>
              </a:rPr>
              <a:t>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Continued…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1ABC9C-DED1-4CFC-B933-9FCAF35D6C49}"/>
              </a:ext>
            </a:extLst>
          </p:cNvPr>
          <p:cNvSpPr>
            <a:spLocks noGrp="1"/>
          </p:cNvSpPr>
          <p:nvPr>
            <p:ph idx="1"/>
          </p:nvPr>
        </p:nvSpPr>
        <p:spPr>
          <a:xfrm>
            <a:off x="838200" y="1401097"/>
            <a:ext cx="10515600" cy="4775866"/>
          </a:xfrm>
        </p:spPr>
        <p:txBody>
          <a:bodyPr>
            <a:normAutofit/>
          </a:bodyPr>
          <a:lstStyle/>
          <a:p>
            <a:pPr algn="l">
              <a:lnSpc>
                <a:spcPct val="150000"/>
              </a:lnSpc>
            </a:pPr>
            <a:r>
              <a:rPr lang="en-US" sz="2400" b="0" i="0" u="none" strike="noStrike" baseline="0" dirty="0">
                <a:latin typeface="Arial" panose="020B0604020202020204" pitchFamily="34" charset="0"/>
                <a:cs typeface="Arial" panose="020B0604020202020204" pitchFamily="34" charset="0"/>
              </a:rPr>
              <a:t>A progressive decrease in muscle mass and increase in body fat (particularly in older women) results in decreased total body water. </a:t>
            </a:r>
          </a:p>
          <a:p>
            <a:pPr algn="l">
              <a:lnSpc>
                <a:spcPct val="150000"/>
              </a:lnSpc>
            </a:pPr>
            <a:r>
              <a:rPr lang="en-US" sz="2400" b="0" i="0" u="none" strike="noStrike" baseline="0" dirty="0">
                <a:latin typeface="Arial" panose="020B0604020202020204" pitchFamily="34" charset="0"/>
                <a:cs typeface="Arial" panose="020B0604020202020204" pitchFamily="34" charset="0"/>
              </a:rPr>
              <a:t>The reduced volume of distribution for water-soluble drugs can lead to greater plasma concentrations; conversely,</a:t>
            </a:r>
          </a:p>
          <a:p>
            <a:pPr algn="l">
              <a:lnSpc>
                <a:spcPct val="150000"/>
              </a:lnSpc>
            </a:pPr>
            <a:r>
              <a:rPr lang="en-US" sz="2400" b="0" i="0" u="none" strike="noStrike" baseline="0" dirty="0">
                <a:latin typeface="Arial" panose="020B0604020202020204" pitchFamily="34" charset="0"/>
                <a:cs typeface="Arial" panose="020B0604020202020204" pitchFamily="34" charset="0"/>
              </a:rPr>
              <a:t>an increased volume of distribution for lipid-soluble drugs could theoretically reduce their plasma concentration.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9210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9019"/>
          </a:xfrm>
        </p:spPr>
        <p:txBody>
          <a:bodyPr/>
          <a:lstStyle/>
          <a:p>
            <a:r>
              <a:rPr lang="en-US" dirty="0"/>
              <a:t> </a:t>
            </a:r>
            <a:r>
              <a:rPr lang="en-US" sz="3600" dirty="0">
                <a:latin typeface="Arial" panose="020B0604020202020204" pitchFamily="34" charset="0"/>
                <a:cs typeface="Arial" panose="020B0604020202020204" pitchFamily="34" charset="0"/>
              </a:rPr>
              <a:t>Continued… </a:t>
            </a:r>
          </a:p>
        </p:txBody>
      </p:sp>
      <p:pic>
        <p:nvPicPr>
          <p:cNvPr id="5837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04341" y="1573967"/>
            <a:ext cx="9848537" cy="4552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7281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9059"/>
          </a:xfrm>
        </p:spPr>
        <p:txBody>
          <a:bodyPr/>
          <a:lstStyle/>
          <a:p>
            <a:r>
              <a:rPr lang="en-US" dirty="0"/>
              <a:t> </a:t>
            </a:r>
            <a:r>
              <a:rPr lang="en-US" sz="3600" dirty="0">
                <a:latin typeface="Arial" panose="020B0604020202020204" pitchFamily="34" charset="0"/>
                <a:cs typeface="Arial" panose="020B0604020202020204" pitchFamily="34" charset="0"/>
              </a:rPr>
              <a:t>continued….</a:t>
            </a:r>
          </a:p>
        </p:txBody>
      </p:sp>
      <p:pic>
        <p:nvPicPr>
          <p:cNvPr id="5939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84026" y="1618938"/>
            <a:ext cx="8754255" cy="4507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7702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5281"/>
            <a:ext cx="10515600" cy="1005840"/>
          </a:xfrm>
        </p:spPr>
        <p:txBody>
          <a:bodyPr>
            <a:normAutofit/>
          </a:bodyPr>
          <a:lstStyle/>
          <a:p>
            <a:r>
              <a:rPr lang="en-US" sz="3600" dirty="0">
                <a:latin typeface="Arial" panose="020B0604020202020204" pitchFamily="34" charset="0"/>
                <a:cs typeface="Arial" panose="020B0604020202020204" pitchFamily="34" charset="0"/>
              </a:rPr>
              <a:t>Continued…</a:t>
            </a:r>
          </a:p>
        </p:txBody>
      </p:sp>
      <p:pic>
        <p:nvPicPr>
          <p:cNvPr id="6041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75360" y="1630681"/>
            <a:ext cx="10195560" cy="489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0490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lstStyle/>
          <a:p>
            <a:r>
              <a:rPr lang="en-US" dirty="0"/>
              <a:t> </a:t>
            </a:r>
            <a:r>
              <a:rPr lang="en-US" sz="3600" dirty="0">
                <a:latin typeface="Arial" panose="020B0604020202020204" pitchFamily="34" charset="0"/>
                <a:cs typeface="Arial" panose="020B0604020202020204" pitchFamily="34" charset="0"/>
              </a:rPr>
              <a:t>continued….</a:t>
            </a:r>
          </a:p>
        </p:txBody>
      </p:sp>
      <p:pic>
        <p:nvPicPr>
          <p:cNvPr id="6144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59180" y="1600199"/>
            <a:ext cx="10073639" cy="489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4997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0521"/>
            <a:ext cx="10515600" cy="990600"/>
          </a:xfrm>
        </p:spPr>
        <p:txBody>
          <a:bodyPr/>
          <a:lstStyle/>
          <a:p>
            <a:r>
              <a:rPr lang="en-US" dirty="0"/>
              <a:t> </a:t>
            </a:r>
            <a:r>
              <a:rPr lang="en-US" sz="3600" dirty="0">
                <a:latin typeface="Arial" panose="020B0604020202020204" pitchFamily="34" charset="0"/>
                <a:cs typeface="Arial" panose="020B0604020202020204" pitchFamily="34" charset="0"/>
              </a:rPr>
              <a:t>continued…</a:t>
            </a:r>
          </a:p>
        </p:txBody>
      </p:sp>
      <p:pic>
        <p:nvPicPr>
          <p:cNvPr id="624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41120" y="1691640"/>
            <a:ext cx="9311640" cy="443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1838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9560"/>
            <a:ext cx="10515600" cy="1127759"/>
          </a:xfrm>
        </p:spPr>
        <p:txBody>
          <a:bodyPr>
            <a:normAutofit/>
          </a:bodyPr>
          <a:lstStyle/>
          <a:p>
            <a:r>
              <a:rPr lang="en-US" sz="3600" dirty="0">
                <a:latin typeface="Arial" panose="020B0604020202020204" pitchFamily="34" charset="0"/>
                <a:cs typeface="Arial" panose="020B0604020202020204" pitchFamily="34" charset="0"/>
              </a:rPr>
              <a:t>Continued…</a:t>
            </a:r>
          </a:p>
        </p:txBody>
      </p:sp>
      <p:pic>
        <p:nvPicPr>
          <p:cNvPr id="655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5360" y="1828800"/>
            <a:ext cx="10378440" cy="4327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386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C048C-E278-4F67-981C-498ED9C44D54}"/>
              </a:ext>
            </a:extLst>
          </p:cNvPr>
          <p:cNvSpPr>
            <a:spLocks noGrp="1"/>
          </p:cNvSpPr>
          <p:nvPr>
            <p:ph type="title"/>
          </p:nvPr>
        </p:nvSpPr>
        <p:spPr>
          <a:xfrm>
            <a:off x="838200" y="359764"/>
            <a:ext cx="10515600" cy="869429"/>
          </a:xfrm>
        </p:spPr>
        <p:txBody>
          <a:bodyPr>
            <a:normAutofit fontScale="90000"/>
          </a:bodyPr>
          <a:lstStyle/>
          <a:p>
            <a:br>
              <a:rPr lang="en-US" dirty="0"/>
            </a:br>
            <a:r>
              <a:rPr lang="en-US" dirty="0"/>
              <a:t>  week 7 </a:t>
            </a:r>
            <a:br>
              <a:rPr lang="en-US" dirty="0"/>
            </a:br>
            <a:endParaRPr lang="en-US" dirty="0"/>
          </a:p>
        </p:txBody>
      </p:sp>
      <p:sp>
        <p:nvSpPr>
          <p:cNvPr id="3" name="Content Placeholder 2">
            <a:extLst>
              <a:ext uri="{FF2B5EF4-FFF2-40B4-BE49-F238E27FC236}">
                <a16:creationId xmlns:a16="http://schemas.microsoft.com/office/drawing/2014/main" id="{D1C505A4-710E-4D8C-A808-51BCA0C2956E}"/>
              </a:ext>
            </a:extLst>
          </p:cNvPr>
          <p:cNvSpPr>
            <a:spLocks noGrp="1"/>
          </p:cNvSpPr>
          <p:nvPr>
            <p:ph idx="1"/>
          </p:nvPr>
        </p:nvSpPr>
        <p:spPr>
          <a:xfrm>
            <a:off x="838200" y="1504335"/>
            <a:ext cx="10515600" cy="4672628"/>
          </a:xfrm>
        </p:spPr>
        <p:txBody>
          <a:bodyPr>
            <a:normAutofit/>
          </a:bodyPr>
          <a:lstStyle/>
          <a:p>
            <a:pPr marL="0" indent="0" algn="just">
              <a:lnSpc>
                <a:spcPct val="150000"/>
              </a:lnSpc>
              <a:buNone/>
            </a:pPr>
            <a:r>
              <a:rPr lang="en-US" sz="1800" b="0" i="0" u="none" strike="noStrike" baseline="0" dirty="0">
                <a:solidFill>
                  <a:srgbClr val="000000"/>
                </a:solidFill>
                <a:latin typeface="Arial" panose="020B0604020202020204" pitchFamily="34" charset="0"/>
              </a:rPr>
              <a:t>Frailty criteria to assess geriatrics patients vulnerability to disability 	</a:t>
            </a:r>
          </a:p>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rPr>
              <a:t>Assignment for group 1 </a:t>
            </a:r>
          </a:p>
          <a:p>
            <a:pPr marL="0" indent="0" algn="just">
              <a:lnSpc>
                <a:spcPct val="150000"/>
              </a:lnSpc>
              <a:buNone/>
            </a:pPr>
            <a:r>
              <a:rPr lang="en-US" sz="2400" b="1" dirty="0">
                <a:latin typeface="Times New Roman" panose="02020603050405020304" pitchFamily="18" charset="0"/>
                <a:cs typeface="Times New Roman" panose="02020603050405020304" pitchFamily="18" charset="0"/>
              </a:rPr>
              <a:t>Geriatrics patient optimization</a:t>
            </a:r>
          </a:p>
        </p:txBody>
      </p:sp>
    </p:spTree>
    <p:extLst>
      <p:ext uri="{BB962C8B-B14F-4D97-AF65-F5344CB8AC3E}">
        <p14:creationId xmlns:p14="http://schemas.microsoft.com/office/powerpoint/2010/main" val="1523703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7BAB-9AF0-44D0-9E76-78C3FF48FD76}"/>
              </a:ext>
            </a:extLst>
          </p:cNvPr>
          <p:cNvSpPr>
            <a:spLocks noGrp="1"/>
          </p:cNvSpPr>
          <p:nvPr>
            <p:ph type="title"/>
          </p:nvPr>
        </p:nvSpPr>
        <p:spPr>
          <a:xfrm>
            <a:off x="838200" y="265471"/>
            <a:ext cx="10515600" cy="1032387"/>
          </a:xfrm>
        </p:spPr>
        <p:txBody>
          <a:bodyPr/>
          <a:lstStyle/>
          <a:p>
            <a:r>
              <a:rPr lang="en-US" dirty="0"/>
              <a:t> </a:t>
            </a:r>
          </a:p>
        </p:txBody>
      </p:sp>
      <p:sp>
        <p:nvSpPr>
          <p:cNvPr id="3" name="Content Placeholder 2">
            <a:extLst>
              <a:ext uri="{FF2B5EF4-FFF2-40B4-BE49-F238E27FC236}">
                <a16:creationId xmlns:a16="http://schemas.microsoft.com/office/drawing/2014/main" id="{B299AE1B-BA7F-4F9E-8F1F-FB70EFF09F96}"/>
              </a:ext>
            </a:extLst>
          </p:cNvPr>
          <p:cNvSpPr>
            <a:spLocks noGrp="1"/>
          </p:cNvSpPr>
          <p:nvPr>
            <p:ph idx="1"/>
          </p:nvPr>
        </p:nvSpPr>
        <p:spPr>
          <a:xfrm>
            <a:off x="838200" y="1445342"/>
            <a:ext cx="10515600" cy="4731621"/>
          </a:xfrm>
        </p:spPr>
        <p:txBody>
          <a:bodyPr>
            <a:normAutofit/>
          </a:bodyPr>
          <a:lstStyle/>
          <a:p>
            <a:pPr algn="just">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30349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692E8-D06B-4139-9011-3DDED55B7291}"/>
              </a:ext>
            </a:extLst>
          </p:cNvPr>
          <p:cNvSpPr>
            <a:spLocks noGrp="1"/>
          </p:cNvSpPr>
          <p:nvPr>
            <p:ph type="title"/>
          </p:nvPr>
        </p:nvSpPr>
        <p:spPr>
          <a:xfrm>
            <a:off x="838200" y="295422"/>
            <a:ext cx="10515600" cy="858129"/>
          </a:xfrm>
        </p:spPr>
        <p:txBody>
          <a:bodyPr>
            <a:normAutofit/>
          </a:bodyPr>
          <a:lstStyle/>
          <a:p>
            <a:r>
              <a:rPr lang="en-US" dirty="0"/>
              <a:t> </a:t>
            </a:r>
            <a:endParaRPr lang="en-US" sz="31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4BC63DB-1EB7-451B-AAC5-347C8E85A6D3}"/>
              </a:ext>
            </a:extLst>
          </p:cNvPr>
          <p:cNvSpPr>
            <a:spLocks noGrp="1"/>
          </p:cNvSpPr>
          <p:nvPr>
            <p:ph idx="1"/>
          </p:nvPr>
        </p:nvSpPr>
        <p:spPr>
          <a:xfrm>
            <a:off x="838200" y="1505243"/>
            <a:ext cx="10515600" cy="4671720"/>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233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3C17-1948-4870-82E2-7021AE046AA4}"/>
              </a:ext>
            </a:extLst>
          </p:cNvPr>
          <p:cNvSpPr>
            <a:spLocks noGrp="1"/>
          </p:cNvSpPr>
          <p:nvPr>
            <p:ph type="title"/>
          </p:nvPr>
        </p:nvSpPr>
        <p:spPr>
          <a:xfrm>
            <a:off x="838200" y="253219"/>
            <a:ext cx="10515600" cy="1026942"/>
          </a:xfrm>
        </p:spPr>
        <p:txBody>
          <a:bodyPr>
            <a:normAutofit/>
          </a:bodyPr>
          <a:lstStyle/>
          <a:p>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3B00B7-23C4-41F4-891F-0155DEC41F64}"/>
              </a:ext>
            </a:extLst>
          </p:cNvPr>
          <p:cNvSpPr>
            <a:spLocks noGrp="1"/>
          </p:cNvSpPr>
          <p:nvPr>
            <p:ph idx="1"/>
          </p:nvPr>
        </p:nvSpPr>
        <p:spPr>
          <a:xfrm>
            <a:off x="838200" y="1674055"/>
            <a:ext cx="10515600" cy="4502908"/>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612728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5DE6F-84EA-4F75-B1A6-7915709A1D68}"/>
              </a:ext>
            </a:extLst>
          </p:cNvPr>
          <p:cNvSpPr>
            <a:spLocks noGrp="1"/>
          </p:cNvSpPr>
          <p:nvPr>
            <p:ph type="title"/>
          </p:nvPr>
        </p:nvSpPr>
        <p:spPr>
          <a:xfrm>
            <a:off x="838200" y="267287"/>
            <a:ext cx="10515600" cy="900332"/>
          </a:xfrm>
        </p:spPr>
        <p:txBody>
          <a:bodyPr>
            <a:normAutofit/>
          </a:bodyPr>
          <a:lstStyle/>
          <a:p>
            <a:r>
              <a:rPr lang="en-US" sz="32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2F28D184-FDB7-46AD-A9FF-EB91167C77F7}"/>
              </a:ext>
            </a:extLst>
          </p:cNvPr>
          <p:cNvSpPr>
            <a:spLocks noGrp="1"/>
          </p:cNvSpPr>
          <p:nvPr>
            <p:ph idx="1"/>
          </p:nvPr>
        </p:nvSpPr>
        <p:spPr>
          <a:xfrm>
            <a:off x="838200" y="1519311"/>
            <a:ext cx="10515600" cy="4657652"/>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6456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99FA1-3EEE-47A3-BE9D-D20F2536A406}"/>
              </a:ext>
            </a:extLst>
          </p:cNvPr>
          <p:cNvSpPr>
            <a:spLocks noGrp="1"/>
          </p:cNvSpPr>
          <p:nvPr>
            <p:ph type="title"/>
          </p:nvPr>
        </p:nvSpPr>
        <p:spPr>
          <a:xfrm>
            <a:off x="838200" y="281354"/>
            <a:ext cx="10515600" cy="759656"/>
          </a:xfrm>
        </p:spPr>
        <p:txBody>
          <a:bodyPr>
            <a:normAutofit fontScale="90000"/>
          </a:bodyPr>
          <a:lstStyle/>
          <a:p>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08ED33-F6DC-4F55-824B-AE8146F95677}"/>
              </a:ext>
            </a:extLst>
          </p:cNvPr>
          <p:cNvSpPr>
            <a:spLocks noGrp="1"/>
          </p:cNvSpPr>
          <p:nvPr>
            <p:ph idx="1"/>
          </p:nvPr>
        </p:nvSpPr>
        <p:spPr>
          <a:xfrm>
            <a:off x="838200" y="1463040"/>
            <a:ext cx="10515600" cy="4713923"/>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72523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EAB85-24F5-4AA8-82B9-32D798A5F46E}"/>
              </a:ext>
            </a:extLst>
          </p:cNvPr>
          <p:cNvSpPr>
            <a:spLocks noGrp="1"/>
          </p:cNvSpPr>
          <p:nvPr>
            <p:ph type="title"/>
          </p:nvPr>
        </p:nvSpPr>
        <p:spPr>
          <a:xfrm>
            <a:off x="838200" y="391885"/>
            <a:ext cx="10515600" cy="1074057"/>
          </a:xfrm>
        </p:spPr>
        <p:txBody>
          <a:bodyPr>
            <a:normAutofit fontScale="90000"/>
          </a:bodyPr>
          <a:lstStyle/>
          <a:p>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96BC86-B25A-4203-865D-9F2D49A23348}"/>
              </a:ext>
            </a:extLst>
          </p:cNvPr>
          <p:cNvSpPr>
            <a:spLocks noGrp="1"/>
          </p:cNvSpPr>
          <p:nvPr>
            <p:ph idx="1"/>
          </p:nvPr>
        </p:nvSpPr>
        <p:spPr>
          <a:xfrm>
            <a:off x="838200" y="1589649"/>
            <a:ext cx="10515600" cy="4587314"/>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120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6EA54-BB2F-4C21-BA20-8343310D6F67}"/>
              </a:ext>
            </a:extLst>
          </p:cNvPr>
          <p:cNvSpPr>
            <a:spLocks noGrp="1"/>
          </p:cNvSpPr>
          <p:nvPr>
            <p:ph type="title"/>
          </p:nvPr>
        </p:nvSpPr>
        <p:spPr>
          <a:xfrm>
            <a:off x="838200" y="191730"/>
            <a:ext cx="10515600" cy="914400"/>
          </a:xfrm>
        </p:spPr>
        <p:txBody>
          <a:bodyPr>
            <a:normAutofit/>
          </a:bodyPr>
          <a:lstStyle/>
          <a:p>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080FE1-581D-47D2-A444-3712522AF8AE}"/>
              </a:ext>
            </a:extLst>
          </p:cNvPr>
          <p:cNvSpPr>
            <a:spLocks noGrp="1"/>
          </p:cNvSpPr>
          <p:nvPr>
            <p:ph idx="1"/>
          </p:nvPr>
        </p:nvSpPr>
        <p:spPr>
          <a:xfrm>
            <a:off x="838200" y="1283110"/>
            <a:ext cx="10515600" cy="4952846"/>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7472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40DE0-886E-4FB7-816B-34C554DD9A73}"/>
              </a:ext>
            </a:extLst>
          </p:cNvPr>
          <p:cNvSpPr>
            <a:spLocks noGrp="1"/>
          </p:cNvSpPr>
          <p:nvPr>
            <p:ph type="title"/>
          </p:nvPr>
        </p:nvSpPr>
        <p:spPr>
          <a:xfrm>
            <a:off x="838200" y="280219"/>
            <a:ext cx="10515600" cy="884905"/>
          </a:xfrm>
        </p:spPr>
        <p:txBody>
          <a:bodyPr>
            <a:normAutofit/>
          </a:bodyPr>
          <a:lstStyle/>
          <a:p>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4EBF4F-03BA-40E6-B30B-7EB30BE60B31}"/>
              </a:ext>
            </a:extLst>
          </p:cNvPr>
          <p:cNvSpPr>
            <a:spLocks noGrp="1"/>
          </p:cNvSpPr>
          <p:nvPr>
            <p:ph idx="1"/>
          </p:nvPr>
        </p:nvSpPr>
        <p:spPr>
          <a:xfrm>
            <a:off x="838200" y="1474839"/>
            <a:ext cx="10515600" cy="4702124"/>
          </a:xfrm>
        </p:spPr>
        <p:txBody>
          <a:bodyPr>
            <a:normAutofit/>
          </a:bodyPr>
          <a:lstStyle/>
          <a:p>
            <a:pPr algn="just">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138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9C50-EC13-481F-B9F7-BA7D8E175B03}"/>
              </a:ext>
            </a:extLst>
          </p:cNvPr>
          <p:cNvSpPr>
            <a:spLocks noGrp="1"/>
          </p:cNvSpPr>
          <p:nvPr>
            <p:ph type="title"/>
          </p:nvPr>
        </p:nvSpPr>
        <p:spPr>
          <a:xfrm>
            <a:off x="838200" y="221227"/>
            <a:ext cx="10515600" cy="1076632"/>
          </a:xfrm>
        </p:spPr>
        <p:txBody>
          <a:bodyPr>
            <a:normAutofit/>
          </a:bodyPr>
          <a:lstStyle/>
          <a:p>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D11AA0-6025-4CDA-9C08-630D7B1D8D31}"/>
              </a:ext>
            </a:extLst>
          </p:cNvPr>
          <p:cNvSpPr>
            <a:spLocks noGrp="1"/>
          </p:cNvSpPr>
          <p:nvPr>
            <p:ph idx="1"/>
          </p:nvPr>
        </p:nvSpPr>
        <p:spPr>
          <a:xfrm>
            <a:off x="838200" y="1637071"/>
            <a:ext cx="10515600" cy="4539892"/>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3357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68DE-6344-445D-8468-4FE865A7E7D2}"/>
              </a:ext>
            </a:extLst>
          </p:cNvPr>
          <p:cNvSpPr>
            <a:spLocks noGrp="1"/>
          </p:cNvSpPr>
          <p:nvPr>
            <p:ph type="title"/>
          </p:nvPr>
        </p:nvSpPr>
        <p:spPr>
          <a:xfrm>
            <a:off x="838200" y="265471"/>
            <a:ext cx="10515600" cy="796413"/>
          </a:xfrm>
        </p:spPr>
        <p:txBody>
          <a:bodyPr/>
          <a:lstStyle/>
          <a:p>
            <a:pPr algn="just"/>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75AD8C-894A-4190-B6E9-EF76D3EBAD99}"/>
              </a:ext>
            </a:extLst>
          </p:cNvPr>
          <p:cNvSpPr>
            <a:spLocks noGrp="1"/>
          </p:cNvSpPr>
          <p:nvPr>
            <p:ph idx="1"/>
          </p:nvPr>
        </p:nvSpPr>
        <p:spPr>
          <a:xfrm>
            <a:off x="838200" y="1342104"/>
            <a:ext cx="10515600" cy="4834860"/>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7332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AED66-FD5E-4720-B166-87C1E1C2B933}"/>
              </a:ext>
            </a:extLst>
          </p:cNvPr>
          <p:cNvSpPr>
            <a:spLocks noGrp="1"/>
          </p:cNvSpPr>
          <p:nvPr>
            <p:ph type="title"/>
          </p:nvPr>
        </p:nvSpPr>
        <p:spPr>
          <a:xfrm>
            <a:off x="838200" y="353961"/>
            <a:ext cx="10515600" cy="825911"/>
          </a:xfrm>
        </p:spPr>
        <p:txBody>
          <a:bodyPr/>
          <a:lstStyle/>
          <a:p>
            <a:r>
              <a:rPr lang="en-US" dirty="0"/>
              <a:t> </a:t>
            </a:r>
          </a:p>
        </p:txBody>
      </p:sp>
      <p:sp>
        <p:nvSpPr>
          <p:cNvPr id="3" name="Content Placeholder 2">
            <a:extLst>
              <a:ext uri="{FF2B5EF4-FFF2-40B4-BE49-F238E27FC236}">
                <a16:creationId xmlns:a16="http://schemas.microsoft.com/office/drawing/2014/main" id="{26B2790A-A953-401A-8D8D-82225ECDC306}"/>
              </a:ext>
            </a:extLst>
          </p:cNvPr>
          <p:cNvSpPr>
            <a:spLocks noGrp="1"/>
          </p:cNvSpPr>
          <p:nvPr>
            <p:ph idx="1"/>
          </p:nvPr>
        </p:nvSpPr>
        <p:spPr>
          <a:xfrm>
            <a:off x="838200" y="1578077"/>
            <a:ext cx="10515600" cy="4598886"/>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693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F6215-8C1C-4AD5-854C-8B9CB8DC2759}"/>
              </a:ext>
            </a:extLst>
          </p:cNvPr>
          <p:cNvSpPr>
            <a:spLocks noGrp="1"/>
          </p:cNvSpPr>
          <p:nvPr>
            <p:ph type="title"/>
          </p:nvPr>
        </p:nvSpPr>
        <p:spPr>
          <a:xfrm>
            <a:off x="838200" y="147485"/>
            <a:ext cx="10515600" cy="914400"/>
          </a:xfrm>
        </p:spPr>
        <p:txBody>
          <a:bodyPr>
            <a:normAutofit/>
          </a:bodyPr>
          <a:lstStyle/>
          <a:p>
            <a:r>
              <a:rPr lang="en-US" dirty="0"/>
              <a:t> </a:t>
            </a:r>
            <a:endParaRPr lang="en-US" sz="27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D94669-6384-4685-A3D3-07DBF78FC722}"/>
              </a:ext>
            </a:extLst>
          </p:cNvPr>
          <p:cNvSpPr>
            <a:spLocks noGrp="1"/>
          </p:cNvSpPr>
          <p:nvPr>
            <p:ph idx="1"/>
          </p:nvPr>
        </p:nvSpPr>
        <p:spPr>
          <a:xfrm>
            <a:off x="838200" y="1253613"/>
            <a:ext cx="10515600" cy="4923350"/>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39934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8E343-5851-4B06-AC03-36A4918B0F93}"/>
              </a:ext>
            </a:extLst>
          </p:cNvPr>
          <p:cNvSpPr>
            <a:spLocks noGrp="1"/>
          </p:cNvSpPr>
          <p:nvPr>
            <p:ph type="title"/>
          </p:nvPr>
        </p:nvSpPr>
        <p:spPr>
          <a:xfrm>
            <a:off x="838200" y="280219"/>
            <a:ext cx="10515600" cy="825910"/>
          </a:xfrm>
        </p:spPr>
        <p:txBody>
          <a:bodyPr>
            <a:normAutofit fontScale="90000"/>
          </a:bodyPr>
          <a:lstStyle/>
          <a:p>
            <a:r>
              <a:rPr lang="en-US" dirty="0"/>
              <a:t>  </a:t>
            </a:r>
            <a:br>
              <a:rPr lang="en-US" dirty="0"/>
            </a:br>
            <a:endParaRPr lang="en-US" sz="27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0ABC7B-C8AA-451E-B737-E3E93036FBB7}"/>
              </a:ext>
            </a:extLst>
          </p:cNvPr>
          <p:cNvSpPr>
            <a:spLocks noGrp="1"/>
          </p:cNvSpPr>
          <p:nvPr>
            <p:ph idx="1"/>
          </p:nvPr>
        </p:nvSpPr>
        <p:spPr>
          <a:xfrm>
            <a:off x="838200" y="1430594"/>
            <a:ext cx="10515600" cy="4746369"/>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64949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7D0E6-A462-4FBF-9E90-4A7BFDCF7CA8}"/>
              </a:ext>
            </a:extLst>
          </p:cNvPr>
          <p:cNvSpPr>
            <a:spLocks noGrp="1"/>
          </p:cNvSpPr>
          <p:nvPr>
            <p:ph type="title"/>
          </p:nvPr>
        </p:nvSpPr>
        <p:spPr>
          <a:xfrm>
            <a:off x="838200" y="250723"/>
            <a:ext cx="10515600" cy="840659"/>
          </a:xfrm>
        </p:spPr>
        <p:txBody>
          <a:bodyPr>
            <a:normAutofit fontScale="90000"/>
          </a:bodyPr>
          <a:lstStyle/>
          <a:p>
            <a:r>
              <a:rPr lang="en-US" dirty="0"/>
              <a:t> </a:t>
            </a:r>
            <a:br>
              <a:rPr lang="en-US" dirty="0"/>
            </a:br>
            <a:endParaRPr lang="en-US" dirty="0"/>
          </a:p>
        </p:txBody>
      </p:sp>
      <p:sp>
        <p:nvSpPr>
          <p:cNvPr id="3" name="Content Placeholder 2">
            <a:extLst>
              <a:ext uri="{FF2B5EF4-FFF2-40B4-BE49-F238E27FC236}">
                <a16:creationId xmlns:a16="http://schemas.microsoft.com/office/drawing/2014/main" id="{C3D6E652-5361-4509-9E60-CD9FE26BEE21}"/>
              </a:ext>
            </a:extLst>
          </p:cNvPr>
          <p:cNvSpPr>
            <a:spLocks noGrp="1"/>
          </p:cNvSpPr>
          <p:nvPr>
            <p:ph idx="1"/>
          </p:nvPr>
        </p:nvSpPr>
        <p:spPr>
          <a:xfrm>
            <a:off x="838200" y="1489587"/>
            <a:ext cx="10515600" cy="4687376"/>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075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DE0F6-96A3-453D-8CC3-F0740FE0EC63}"/>
              </a:ext>
            </a:extLst>
          </p:cNvPr>
          <p:cNvSpPr>
            <a:spLocks noGrp="1"/>
          </p:cNvSpPr>
          <p:nvPr>
            <p:ph type="title"/>
          </p:nvPr>
        </p:nvSpPr>
        <p:spPr>
          <a:xfrm>
            <a:off x="838200" y="228600"/>
            <a:ext cx="10515600" cy="881743"/>
          </a:xfrm>
        </p:spPr>
        <p:txBody>
          <a:bodyPr>
            <a:normAutofit fontScale="90000"/>
          </a:bodyPr>
          <a:lstStyle/>
          <a:p>
            <a:br>
              <a:rPr lang="en-US" dirty="0"/>
            </a:br>
            <a:endParaRPr lang="en-US" dirty="0"/>
          </a:p>
        </p:txBody>
      </p:sp>
      <p:sp>
        <p:nvSpPr>
          <p:cNvPr id="3" name="Content Placeholder 2">
            <a:extLst>
              <a:ext uri="{FF2B5EF4-FFF2-40B4-BE49-F238E27FC236}">
                <a16:creationId xmlns:a16="http://schemas.microsoft.com/office/drawing/2014/main" id="{4FBB0762-2006-4436-AD8E-7B605C417254}"/>
              </a:ext>
            </a:extLst>
          </p:cNvPr>
          <p:cNvSpPr>
            <a:spLocks noGrp="1"/>
          </p:cNvSpPr>
          <p:nvPr>
            <p:ph idx="1"/>
          </p:nvPr>
        </p:nvSpPr>
        <p:spPr>
          <a:xfrm>
            <a:off x="762000" y="1286329"/>
            <a:ext cx="10515600" cy="4527777"/>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56316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0EBFB-07E6-4E0B-9082-49497022CED1}"/>
              </a:ext>
            </a:extLst>
          </p:cNvPr>
          <p:cNvSpPr>
            <a:spLocks noGrp="1"/>
          </p:cNvSpPr>
          <p:nvPr>
            <p:ph type="title"/>
          </p:nvPr>
        </p:nvSpPr>
        <p:spPr>
          <a:xfrm>
            <a:off x="838200" y="246743"/>
            <a:ext cx="10515600" cy="885371"/>
          </a:xfrm>
        </p:spPr>
        <p:txBody>
          <a:bodyPr/>
          <a:lstStyle/>
          <a:p>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5C8F7188-B0A2-428C-9BBD-C0C6401BB523}"/>
              </a:ext>
            </a:extLst>
          </p:cNvPr>
          <p:cNvSpPr>
            <a:spLocks noGrp="1"/>
          </p:cNvSpPr>
          <p:nvPr>
            <p:ph idx="1"/>
          </p:nvPr>
        </p:nvSpPr>
        <p:spPr>
          <a:xfrm>
            <a:off x="838200" y="1320800"/>
            <a:ext cx="10515600" cy="4856163"/>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 Millers Anesthesia, 8th Edition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Clinical anesthesia, Barash 8th Edition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Morgan and Mikhail’s clinical </a:t>
            </a:r>
            <a:r>
              <a:rPr lang="en-US" sz="2400" dirty="0" err="1">
                <a:latin typeface="Times New Roman" panose="02020603050405020304" pitchFamily="18" charset="0"/>
                <a:cs typeface="Times New Roman" panose="02020603050405020304" pitchFamily="18" charset="0"/>
              </a:rPr>
              <a:t>anaesthesiology</a:t>
            </a:r>
            <a:r>
              <a:rPr lang="en-US" sz="2400" dirty="0">
                <a:latin typeface="Times New Roman" panose="02020603050405020304" pitchFamily="18" charset="0"/>
                <a:cs typeface="Times New Roman" panose="02020603050405020304" pitchFamily="18" charset="0"/>
              </a:rPr>
              <a:t> 6th edition</a:t>
            </a:r>
          </a:p>
        </p:txBody>
      </p:sp>
    </p:spTree>
    <p:extLst>
      <p:ext uri="{BB962C8B-B14F-4D97-AF65-F5344CB8AC3E}">
        <p14:creationId xmlns:p14="http://schemas.microsoft.com/office/powerpoint/2010/main" val="2478801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6335</TotalTime>
  <Words>1185</Words>
  <Application>Microsoft Office PowerPoint</Application>
  <PresentationFormat>Widescreen</PresentationFormat>
  <Paragraphs>112</Paragraphs>
  <Slides>41</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Calibri Light</vt:lpstr>
      <vt:lpstr>MinionPro-Regular</vt:lpstr>
      <vt:lpstr>Symbol</vt:lpstr>
      <vt:lpstr>Times New Roman</vt:lpstr>
      <vt:lpstr>TimesNewRomanPS</vt:lpstr>
      <vt:lpstr>Wingdings</vt:lpstr>
      <vt:lpstr>Office Theme</vt:lpstr>
      <vt:lpstr>Module Title: Geriatrics Anesthesia  Module Code: AnstM-5341  Module ECTS: 5 ECTS  Module Duration: 20 Weeks </vt:lpstr>
      <vt:lpstr>Pre-operative evaluation</vt:lpstr>
      <vt:lpstr> Communication with older adults </vt:lpstr>
      <vt:lpstr> Continued…</vt:lpstr>
      <vt:lpstr> History </vt:lpstr>
      <vt:lpstr>Specific points in the history in addition to a full normal preoperative assessment include: </vt:lpstr>
      <vt:lpstr>PowerPoint Presentation</vt:lpstr>
      <vt:lpstr>PowerPoint Presentation</vt:lpstr>
      <vt:lpstr> Physical Examination </vt:lpstr>
      <vt:lpstr>PowerPoint Presentation</vt:lpstr>
      <vt:lpstr> continued… </vt:lpstr>
      <vt:lpstr> Continued.   </vt:lpstr>
      <vt:lpstr>  Investigation </vt:lpstr>
      <vt:lpstr> Continued… </vt:lpstr>
      <vt:lpstr>  Optimizing geriatric patients </vt:lpstr>
      <vt:lpstr>PowerPoint Presentation</vt:lpstr>
      <vt:lpstr>  continued….  </vt:lpstr>
      <vt:lpstr>   Continued…   </vt:lpstr>
      <vt:lpstr> Continued… </vt:lpstr>
      <vt:lpstr> continued….</vt:lpstr>
      <vt:lpstr>Continued…</vt:lpstr>
      <vt:lpstr> continued….</vt:lpstr>
      <vt:lpstr> continued…</vt:lpstr>
      <vt:lpstr>Continued…</vt:lpstr>
      <vt:lpstr>   week 7  </vt:lpstr>
      <vt:lpstr> </vt:lpstr>
      <vt:lpstr> </vt:lpstr>
      <vt:lpstr>PowerPoint Presentation</vt:lpstr>
      <vt:lpstr> </vt:lpstr>
      <vt:lpstr> </vt:lpstr>
      <vt:lpstr>  </vt:lpstr>
      <vt:lpstr>PowerPoint Presentation</vt:lpstr>
      <vt:lpstr>PowerPoint Presentation</vt:lpstr>
      <vt:lpstr>PowerPoint Presentation</vt:lpstr>
      <vt:lpstr>PowerPoint Presentation</vt:lpstr>
      <vt:lpstr> </vt:lpstr>
      <vt:lpstr> </vt:lpstr>
      <vt:lpstr>   </vt:lpstr>
      <vt:lpstr>  </vt:lpstr>
      <vt:lpstr> </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Cerebral aneurysm surgery and endovascular Treatment</dc:title>
  <dc:creator>user</dc:creator>
  <cp:lastModifiedBy>samuelhirbo1@gmail.com</cp:lastModifiedBy>
  <cp:revision>50</cp:revision>
  <dcterms:created xsi:type="dcterms:W3CDTF">2021-12-05T11:53:54Z</dcterms:created>
  <dcterms:modified xsi:type="dcterms:W3CDTF">2023-05-18T15:30:37Z</dcterms:modified>
</cp:coreProperties>
</file>