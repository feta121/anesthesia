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428" r:id="rId2"/>
    <p:sldId id="403" r:id="rId3"/>
    <p:sldId id="404" r:id="rId4"/>
    <p:sldId id="429" r:id="rId5"/>
    <p:sldId id="405" r:id="rId6"/>
    <p:sldId id="406" r:id="rId7"/>
    <p:sldId id="407" r:id="rId8"/>
    <p:sldId id="408" r:id="rId9"/>
    <p:sldId id="420" r:id="rId10"/>
    <p:sldId id="421" r:id="rId11"/>
    <p:sldId id="409" r:id="rId12"/>
    <p:sldId id="410" r:id="rId13"/>
    <p:sldId id="432" r:id="rId14"/>
    <p:sldId id="411" r:id="rId15"/>
    <p:sldId id="433" r:id="rId16"/>
    <p:sldId id="412" r:id="rId17"/>
    <p:sldId id="413" r:id="rId18"/>
    <p:sldId id="415" r:id="rId19"/>
    <p:sldId id="418" r:id="rId20"/>
    <p:sldId id="416" r:id="rId21"/>
    <p:sldId id="417" r:id="rId22"/>
    <p:sldId id="419" r:id="rId23"/>
    <p:sldId id="422" r:id="rId24"/>
    <p:sldId id="423" r:id="rId25"/>
    <p:sldId id="425" r:id="rId26"/>
    <p:sldId id="42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3690" autoAdjust="0"/>
  </p:normalViewPr>
  <p:slideViewPr>
    <p:cSldViewPr snapToGrid="0">
      <p:cViewPr varScale="1">
        <p:scale>
          <a:sx n="57" d="100"/>
          <a:sy n="57" d="100"/>
        </p:scale>
        <p:origin x="5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FC8FF6-226E-4BC3-BC83-AD1E0323E85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BD6E566-BB6B-46FA-B86A-006ADFD8AB8D}">
      <dgm:prSet/>
      <dgm:spPr/>
      <dgm:t>
        <a:bodyPr/>
        <a:lstStyle/>
        <a:p>
          <a:r>
            <a:rPr lang="en-US"/>
            <a:t>Is a physiologic protective mechanism</a:t>
          </a:r>
        </a:p>
      </dgm:t>
    </dgm:pt>
    <dgm:pt modelId="{BE1E9E63-264C-4614-9E9D-A129CF26829D}" type="parTrans" cxnId="{E03C7304-903C-4665-852B-754184A78DEE}">
      <dgm:prSet/>
      <dgm:spPr/>
      <dgm:t>
        <a:bodyPr/>
        <a:lstStyle/>
        <a:p>
          <a:endParaRPr lang="en-US"/>
        </a:p>
      </dgm:t>
    </dgm:pt>
    <dgm:pt modelId="{32ED35D7-942E-47AA-81A7-C94DB99FF5C4}" type="sibTrans" cxnId="{E03C7304-903C-4665-852B-754184A78DEE}">
      <dgm:prSet/>
      <dgm:spPr/>
      <dgm:t>
        <a:bodyPr/>
        <a:lstStyle/>
        <a:p>
          <a:endParaRPr lang="en-US"/>
        </a:p>
      </dgm:t>
    </dgm:pt>
    <dgm:pt modelId="{8738E042-A143-4B8F-8FC1-E9A2E099730A}">
      <dgm:prSet/>
      <dgm:spPr/>
      <dgm:t>
        <a:bodyPr/>
        <a:lstStyle/>
        <a:p>
          <a:r>
            <a:rPr lang="en-US"/>
            <a:t>Its function is to clear the tracheobronchial tree of excessive secretions and foreign body</a:t>
          </a:r>
        </a:p>
      </dgm:t>
    </dgm:pt>
    <dgm:pt modelId="{70266474-F8DF-4DCF-A086-D95A78A00039}" type="parTrans" cxnId="{0B440C26-A35D-4D01-AFA2-05B772D7EECE}">
      <dgm:prSet/>
      <dgm:spPr/>
      <dgm:t>
        <a:bodyPr/>
        <a:lstStyle/>
        <a:p>
          <a:endParaRPr lang="en-US"/>
        </a:p>
      </dgm:t>
    </dgm:pt>
    <dgm:pt modelId="{78DBAF85-B126-4C24-8298-98C4B1FD6046}" type="sibTrans" cxnId="{0B440C26-A35D-4D01-AFA2-05B772D7EECE}">
      <dgm:prSet/>
      <dgm:spPr/>
      <dgm:t>
        <a:bodyPr/>
        <a:lstStyle/>
        <a:p>
          <a:endParaRPr lang="en-US"/>
        </a:p>
      </dgm:t>
    </dgm:pt>
    <dgm:pt modelId="{9B659F7C-CC72-47F8-B1E5-17148CB20668}">
      <dgm:prSet/>
      <dgm:spPr/>
      <dgm:t>
        <a:bodyPr/>
        <a:lstStyle/>
        <a:p>
          <a:r>
            <a:rPr lang="en-US"/>
            <a:t>Dry cough-</a:t>
          </a:r>
        </a:p>
      </dgm:t>
    </dgm:pt>
    <dgm:pt modelId="{5C844394-7B1F-4C8D-8BE5-3E30149482D4}" type="parTrans" cxnId="{DE1A5B36-4C43-45E2-9BF1-3315C7CF0614}">
      <dgm:prSet/>
      <dgm:spPr/>
      <dgm:t>
        <a:bodyPr/>
        <a:lstStyle/>
        <a:p>
          <a:endParaRPr lang="en-US"/>
        </a:p>
      </dgm:t>
    </dgm:pt>
    <dgm:pt modelId="{0519D48F-9F8C-4E8A-8258-49CA83AB9D06}" type="sibTrans" cxnId="{DE1A5B36-4C43-45E2-9BF1-3315C7CF0614}">
      <dgm:prSet/>
      <dgm:spPr/>
      <dgm:t>
        <a:bodyPr/>
        <a:lstStyle/>
        <a:p>
          <a:endParaRPr lang="en-US"/>
        </a:p>
      </dgm:t>
    </dgm:pt>
    <dgm:pt modelId="{20204730-B609-43DD-AD4B-888661208E05}">
      <dgm:prSet/>
      <dgm:spPr/>
      <dgm:t>
        <a:bodyPr/>
        <a:lstStyle/>
        <a:p>
          <a:r>
            <a:rPr lang="en-US"/>
            <a:t>Productive cough-</a:t>
          </a:r>
        </a:p>
      </dgm:t>
    </dgm:pt>
    <dgm:pt modelId="{57484421-A0EB-4725-ACA9-1056F08EC046}" type="parTrans" cxnId="{2EFB6FA0-D77E-4FC9-BD7B-9A9AE1E7B7EE}">
      <dgm:prSet/>
      <dgm:spPr/>
      <dgm:t>
        <a:bodyPr/>
        <a:lstStyle/>
        <a:p>
          <a:endParaRPr lang="en-US"/>
        </a:p>
      </dgm:t>
    </dgm:pt>
    <dgm:pt modelId="{BF6D2964-3BA0-41B7-9189-3F689C5C72C3}" type="sibTrans" cxnId="{2EFB6FA0-D77E-4FC9-BD7B-9A9AE1E7B7EE}">
      <dgm:prSet/>
      <dgm:spPr/>
      <dgm:t>
        <a:bodyPr/>
        <a:lstStyle/>
        <a:p>
          <a:endParaRPr lang="en-US"/>
        </a:p>
      </dgm:t>
    </dgm:pt>
    <dgm:pt modelId="{991DA8EC-F5D8-4BFE-B509-89B8D54A90D5}">
      <dgm:prSet/>
      <dgm:spPr/>
      <dgm:t>
        <a:bodyPr/>
        <a:lstStyle/>
        <a:p>
          <a:r>
            <a:rPr lang="en-US"/>
            <a:t>Causes –URTI, LRTI(Pneumonia, TB), bronchitis, Asthma</a:t>
          </a:r>
        </a:p>
      </dgm:t>
    </dgm:pt>
    <dgm:pt modelId="{F390B641-1173-400B-9F2C-8FBC70B97805}" type="parTrans" cxnId="{178E64C4-5522-4EE4-A73F-43AA08704629}">
      <dgm:prSet/>
      <dgm:spPr/>
      <dgm:t>
        <a:bodyPr/>
        <a:lstStyle/>
        <a:p>
          <a:endParaRPr lang="en-US"/>
        </a:p>
      </dgm:t>
    </dgm:pt>
    <dgm:pt modelId="{28FF1F1D-CF37-4E89-BFA9-0591B7F341F3}" type="sibTrans" cxnId="{178E64C4-5522-4EE4-A73F-43AA08704629}">
      <dgm:prSet/>
      <dgm:spPr/>
      <dgm:t>
        <a:bodyPr/>
        <a:lstStyle/>
        <a:p>
          <a:endParaRPr lang="en-US"/>
        </a:p>
      </dgm:t>
    </dgm:pt>
    <dgm:pt modelId="{E15D6B83-B650-4821-9CF9-8BC16EBCB1D0}" type="pres">
      <dgm:prSet presAssocID="{2DFC8FF6-226E-4BC3-BC83-AD1E0323E859}" presName="vert0" presStyleCnt="0">
        <dgm:presLayoutVars>
          <dgm:dir/>
          <dgm:animOne val="branch"/>
          <dgm:animLvl val="lvl"/>
        </dgm:presLayoutVars>
      </dgm:prSet>
      <dgm:spPr/>
    </dgm:pt>
    <dgm:pt modelId="{32A67C67-C0DC-4D24-9835-8CADBA53EBAD}" type="pres">
      <dgm:prSet presAssocID="{7BD6E566-BB6B-46FA-B86A-006ADFD8AB8D}" presName="thickLine" presStyleLbl="alignNode1" presStyleIdx="0" presStyleCnt="5"/>
      <dgm:spPr/>
    </dgm:pt>
    <dgm:pt modelId="{3167592A-2C17-4CF2-8F68-1AB12F798692}" type="pres">
      <dgm:prSet presAssocID="{7BD6E566-BB6B-46FA-B86A-006ADFD8AB8D}" presName="horz1" presStyleCnt="0"/>
      <dgm:spPr/>
    </dgm:pt>
    <dgm:pt modelId="{AD07C677-2F08-47A6-8F6B-E960029F0D8C}" type="pres">
      <dgm:prSet presAssocID="{7BD6E566-BB6B-46FA-B86A-006ADFD8AB8D}" presName="tx1" presStyleLbl="revTx" presStyleIdx="0" presStyleCnt="5"/>
      <dgm:spPr/>
    </dgm:pt>
    <dgm:pt modelId="{630F0BDD-32A7-4865-A536-16D1838BE5F5}" type="pres">
      <dgm:prSet presAssocID="{7BD6E566-BB6B-46FA-B86A-006ADFD8AB8D}" presName="vert1" presStyleCnt="0"/>
      <dgm:spPr/>
    </dgm:pt>
    <dgm:pt modelId="{82B7DE9F-F999-4639-B06D-62A4201EC238}" type="pres">
      <dgm:prSet presAssocID="{8738E042-A143-4B8F-8FC1-E9A2E099730A}" presName="thickLine" presStyleLbl="alignNode1" presStyleIdx="1" presStyleCnt="5"/>
      <dgm:spPr/>
    </dgm:pt>
    <dgm:pt modelId="{A81CC248-D995-4B6B-ACBD-C8287DFD7FA8}" type="pres">
      <dgm:prSet presAssocID="{8738E042-A143-4B8F-8FC1-E9A2E099730A}" presName="horz1" presStyleCnt="0"/>
      <dgm:spPr/>
    </dgm:pt>
    <dgm:pt modelId="{6CDE8D94-7B68-41B9-9D42-BEF0C5E04FF1}" type="pres">
      <dgm:prSet presAssocID="{8738E042-A143-4B8F-8FC1-E9A2E099730A}" presName="tx1" presStyleLbl="revTx" presStyleIdx="1" presStyleCnt="5"/>
      <dgm:spPr/>
    </dgm:pt>
    <dgm:pt modelId="{CEE0EB2E-A43D-4C6A-A9E4-BB71EB42FF76}" type="pres">
      <dgm:prSet presAssocID="{8738E042-A143-4B8F-8FC1-E9A2E099730A}" presName="vert1" presStyleCnt="0"/>
      <dgm:spPr/>
    </dgm:pt>
    <dgm:pt modelId="{A7CF24F0-4C0B-4696-8F62-4306FCD6FE3F}" type="pres">
      <dgm:prSet presAssocID="{9B659F7C-CC72-47F8-B1E5-17148CB20668}" presName="thickLine" presStyleLbl="alignNode1" presStyleIdx="2" presStyleCnt="5"/>
      <dgm:spPr/>
    </dgm:pt>
    <dgm:pt modelId="{45EC4FF5-BC92-426F-A10F-7317FA84244D}" type="pres">
      <dgm:prSet presAssocID="{9B659F7C-CC72-47F8-B1E5-17148CB20668}" presName="horz1" presStyleCnt="0"/>
      <dgm:spPr/>
    </dgm:pt>
    <dgm:pt modelId="{F3274B6B-8AC1-404B-B93F-55E227C0D3DA}" type="pres">
      <dgm:prSet presAssocID="{9B659F7C-CC72-47F8-B1E5-17148CB20668}" presName="tx1" presStyleLbl="revTx" presStyleIdx="2" presStyleCnt="5"/>
      <dgm:spPr/>
    </dgm:pt>
    <dgm:pt modelId="{1D50A5C6-D030-43D5-AD23-079B931684E8}" type="pres">
      <dgm:prSet presAssocID="{9B659F7C-CC72-47F8-B1E5-17148CB20668}" presName="vert1" presStyleCnt="0"/>
      <dgm:spPr/>
    </dgm:pt>
    <dgm:pt modelId="{6CABDCA4-3CB1-496C-BFB6-285DA7A97F57}" type="pres">
      <dgm:prSet presAssocID="{20204730-B609-43DD-AD4B-888661208E05}" presName="thickLine" presStyleLbl="alignNode1" presStyleIdx="3" presStyleCnt="5"/>
      <dgm:spPr/>
    </dgm:pt>
    <dgm:pt modelId="{BCB6497A-F34D-435A-A16D-BFD194B510B7}" type="pres">
      <dgm:prSet presAssocID="{20204730-B609-43DD-AD4B-888661208E05}" presName="horz1" presStyleCnt="0"/>
      <dgm:spPr/>
    </dgm:pt>
    <dgm:pt modelId="{EAE47ED2-B774-496A-96E4-12E0D6348A11}" type="pres">
      <dgm:prSet presAssocID="{20204730-B609-43DD-AD4B-888661208E05}" presName="tx1" presStyleLbl="revTx" presStyleIdx="3" presStyleCnt="5"/>
      <dgm:spPr/>
    </dgm:pt>
    <dgm:pt modelId="{A3ADC29F-6C06-4D92-9D81-503E5AD2EF44}" type="pres">
      <dgm:prSet presAssocID="{20204730-B609-43DD-AD4B-888661208E05}" presName="vert1" presStyleCnt="0"/>
      <dgm:spPr/>
    </dgm:pt>
    <dgm:pt modelId="{9B2054CB-6E3A-4A3F-8215-322C781B2724}" type="pres">
      <dgm:prSet presAssocID="{991DA8EC-F5D8-4BFE-B509-89B8D54A90D5}" presName="thickLine" presStyleLbl="alignNode1" presStyleIdx="4" presStyleCnt="5"/>
      <dgm:spPr/>
    </dgm:pt>
    <dgm:pt modelId="{D18BC7A9-0DEA-4E29-A5DA-6EBB8F21293A}" type="pres">
      <dgm:prSet presAssocID="{991DA8EC-F5D8-4BFE-B509-89B8D54A90D5}" presName="horz1" presStyleCnt="0"/>
      <dgm:spPr/>
    </dgm:pt>
    <dgm:pt modelId="{6C2EE032-E7B7-42CC-9597-B678331B0A91}" type="pres">
      <dgm:prSet presAssocID="{991DA8EC-F5D8-4BFE-B509-89B8D54A90D5}" presName="tx1" presStyleLbl="revTx" presStyleIdx="4" presStyleCnt="5"/>
      <dgm:spPr/>
    </dgm:pt>
    <dgm:pt modelId="{8025BD96-3994-4FFE-A938-75B43565DA4F}" type="pres">
      <dgm:prSet presAssocID="{991DA8EC-F5D8-4BFE-B509-89B8D54A90D5}" presName="vert1" presStyleCnt="0"/>
      <dgm:spPr/>
    </dgm:pt>
  </dgm:ptLst>
  <dgm:cxnLst>
    <dgm:cxn modelId="{E03C7304-903C-4665-852B-754184A78DEE}" srcId="{2DFC8FF6-226E-4BC3-BC83-AD1E0323E859}" destId="{7BD6E566-BB6B-46FA-B86A-006ADFD8AB8D}" srcOrd="0" destOrd="0" parTransId="{BE1E9E63-264C-4614-9E9D-A129CF26829D}" sibTransId="{32ED35D7-942E-47AA-81A7-C94DB99FF5C4}"/>
    <dgm:cxn modelId="{31E21B18-1F7E-498D-81D1-6DEBB009CE44}" type="presOf" srcId="{9B659F7C-CC72-47F8-B1E5-17148CB20668}" destId="{F3274B6B-8AC1-404B-B93F-55E227C0D3DA}" srcOrd="0" destOrd="0" presId="urn:microsoft.com/office/officeart/2008/layout/LinedList"/>
    <dgm:cxn modelId="{0B440C26-A35D-4D01-AFA2-05B772D7EECE}" srcId="{2DFC8FF6-226E-4BC3-BC83-AD1E0323E859}" destId="{8738E042-A143-4B8F-8FC1-E9A2E099730A}" srcOrd="1" destOrd="0" parTransId="{70266474-F8DF-4DCF-A086-D95A78A00039}" sibTransId="{78DBAF85-B126-4C24-8298-98C4B1FD6046}"/>
    <dgm:cxn modelId="{DE1A5B36-4C43-45E2-9BF1-3315C7CF0614}" srcId="{2DFC8FF6-226E-4BC3-BC83-AD1E0323E859}" destId="{9B659F7C-CC72-47F8-B1E5-17148CB20668}" srcOrd="2" destOrd="0" parTransId="{5C844394-7B1F-4C8D-8BE5-3E30149482D4}" sibTransId="{0519D48F-9F8C-4E8A-8258-49CA83AB9D06}"/>
    <dgm:cxn modelId="{5CFBB864-C97F-4C8E-9786-F52F1E0AFAC9}" type="presOf" srcId="{991DA8EC-F5D8-4BFE-B509-89B8D54A90D5}" destId="{6C2EE032-E7B7-42CC-9597-B678331B0A91}" srcOrd="0" destOrd="0" presId="urn:microsoft.com/office/officeart/2008/layout/LinedList"/>
    <dgm:cxn modelId="{3D768550-87C7-4C13-8BEA-AEC849A60EE5}" type="presOf" srcId="{2DFC8FF6-226E-4BC3-BC83-AD1E0323E859}" destId="{E15D6B83-B650-4821-9CF9-8BC16EBCB1D0}" srcOrd="0" destOrd="0" presId="urn:microsoft.com/office/officeart/2008/layout/LinedList"/>
    <dgm:cxn modelId="{2EFB6FA0-D77E-4FC9-BD7B-9A9AE1E7B7EE}" srcId="{2DFC8FF6-226E-4BC3-BC83-AD1E0323E859}" destId="{20204730-B609-43DD-AD4B-888661208E05}" srcOrd="3" destOrd="0" parTransId="{57484421-A0EB-4725-ACA9-1056F08EC046}" sibTransId="{BF6D2964-3BA0-41B7-9189-3F689C5C72C3}"/>
    <dgm:cxn modelId="{A7DFD8A8-919D-4E8A-B15B-9D22A39FCF3C}" type="presOf" srcId="{7BD6E566-BB6B-46FA-B86A-006ADFD8AB8D}" destId="{AD07C677-2F08-47A6-8F6B-E960029F0D8C}" srcOrd="0" destOrd="0" presId="urn:microsoft.com/office/officeart/2008/layout/LinedList"/>
    <dgm:cxn modelId="{178E64C4-5522-4EE4-A73F-43AA08704629}" srcId="{2DFC8FF6-226E-4BC3-BC83-AD1E0323E859}" destId="{991DA8EC-F5D8-4BFE-B509-89B8D54A90D5}" srcOrd="4" destOrd="0" parTransId="{F390B641-1173-400B-9F2C-8FBC70B97805}" sibTransId="{28FF1F1D-CF37-4E89-BFA9-0591B7F341F3}"/>
    <dgm:cxn modelId="{617ED2D4-C757-4D5A-800D-86144715F96A}" type="presOf" srcId="{20204730-B609-43DD-AD4B-888661208E05}" destId="{EAE47ED2-B774-496A-96E4-12E0D6348A11}" srcOrd="0" destOrd="0" presId="urn:microsoft.com/office/officeart/2008/layout/LinedList"/>
    <dgm:cxn modelId="{1A3BFBE8-BC4B-492E-8C6D-3113788406E4}" type="presOf" srcId="{8738E042-A143-4B8F-8FC1-E9A2E099730A}" destId="{6CDE8D94-7B68-41B9-9D42-BEF0C5E04FF1}" srcOrd="0" destOrd="0" presId="urn:microsoft.com/office/officeart/2008/layout/LinedList"/>
    <dgm:cxn modelId="{0DB767D6-74C5-4BB9-85E1-55280BE651AA}" type="presParOf" srcId="{E15D6B83-B650-4821-9CF9-8BC16EBCB1D0}" destId="{32A67C67-C0DC-4D24-9835-8CADBA53EBAD}" srcOrd="0" destOrd="0" presId="urn:microsoft.com/office/officeart/2008/layout/LinedList"/>
    <dgm:cxn modelId="{70DA32F2-60CB-4FB8-85CD-DC0C1EA50D2C}" type="presParOf" srcId="{E15D6B83-B650-4821-9CF9-8BC16EBCB1D0}" destId="{3167592A-2C17-4CF2-8F68-1AB12F798692}" srcOrd="1" destOrd="0" presId="urn:microsoft.com/office/officeart/2008/layout/LinedList"/>
    <dgm:cxn modelId="{25A06F43-EBF0-47B6-8677-BD4CA2E69C32}" type="presParOf" srcId="{3167592A-2C17-4CF2-8F68-1AB12F798692}" destId="{AD07C677-2F08-47A6-8F6B-E960029F0D8C}" srcOrd="0" destOrd="0" presId="urn:microsoft.com/office/officeart/2008/layout/LinedList"/>
    <dgm:cxn modelId="{CC8BFD7B-8F47-4A2C-8E2B-96433B928F73}" type="presParOf" srcId="{3167592A-2C17-4CF2-8F68-1AB12F798692}" destId="{630F0BDD-32A7-4865-A536-16D1838BE5F5}" srcOrd="1" destOrd="0" presId="urn:microsoft.com/office/officeart/2008/layout/LinedList"/>
    <dgm:cxn modelId="{DA1DB0D0-FDDC-456B-9AB0-F6ACDD1C2F2C}" type="presParOf" srcId="{E15D6B83-B650-4821-9CF9-8BC16EBCB1D0}" destId="{82B7DE9F-F999-4639-B06D-62A4201EC238}" srcOrd="2" destOrd="0" presId="urn:microsoft.com/office/officeart/2008/layout/LinedList"/>
    <dgm:cxn modelId="{86E2561E-BB9C-49BB-B84E-14A62C29EA37}" type="presParOf" srcId="{E15D6B83-B650-4821-9CF9-8BC16EBCB1D0}" destId="{A81CC248-D995-4B6B-ACBD-C8287DFD7FA8}" srcOrd="3" destOrd="0" presId="urn:microsoft.com/office/officeart/2008/layout/LinedList"/>
    <dgm:cxn modelId="{43A71B4D-A5CE-4620-BAAE-417E6D9604F5}" type="presParOf" srcId="{A81CC248-D995-4B6B-ACBD-C8287DFD7FA8}" destId="{6CDE8D94-7B68-41B9-9D42-BEF0C5E04FF1}" srcOrd="0" destOrd="0" presId="urn:microsoft.com/office/officeart/2008/layout/LinedList"/>
    <dgm:cxn modelId="{9F70BBB5-E104-423E-BC6F-F54BF27C55B1}" type="presParOf" srcId="{A81CC248-D995-4B6B-ACBD-C8287DFD7FA8}" destId="{CEE0EB2E-A43D-4C6A-A9E4-BB71EB42FF76}" srcOrd="1" destOrd="0" presId="urn:microsoft.com/office/officeart/2008/layout/LinedList"/>
    <dgm:cxn modelId="{B496DBAE-341A-4F20-BAEA-34844D9301B3}" type="presParOf" srcId="{E15D6B83-B650-4821-9CF9-8BC16EBCB1D0}" destId="{A7CF24F0-4C0B-4696-8F62-4306FCD6FE3F}" srcOrd="4" destOrd="0" presId="urn:microsoft.com/office/officeart/2008/layout/LinedList"/>
    <dgm:cxn modelId="{D20E5DD0-0009-481E-BA72-901B0B9EF68A}" type="presParOf" srcId="{E15D6B83-B650-4821-9CF9-8BC16EBCB1D0}" destId="{45EC4FF5-BC92-426F-A10F-7317FA84244D}" srcOrd="5" destOrd="0" presId="urn:microsoft.com/office/officeart/2008/layout/LinedList"/>
    <dgm:cxn modelId="{73AC5B43-8284-47CC-82A1-26EB97E42625}" type="presParOf" srcId="{45EC4FF5-BC92-426F-A10F-7317FA84244D}" destId="{F3274B6B-8AC1-404B-B93F-55E227C0D3DA}" srcOrd="0" destOrd="0" presId="urn:microsoft.com/office/officeart/2008/layout/LinedList"/>
    <dgm:cxn modelId="{1DE8FEDA-9DEE-4823-8492-2ACDF72987BF}" type="presParOf" srcId="{45EC4FF5-BC92-426F-A10F-7317FA84244D}" destId="{1D50A5C6-D030-43D5-AD23-079B931684E8}" srcOrd="1" destOrd="0" presId="urn:microsoft.com/office/officeart/2008/layout/LinedList"/>
    <dgm:cxn modelId="{64E86C4E-6912-4481-A3F9-5B6F7D1F6EA0}" type="presParOf" srcId="{E15D6B83-B650-4821-9CF9-8BC16EBCB1D0}" destId="{6CABDCA4-3CB1-496C-BFB6-285DA7A97F57}" srcOrd="6" destOrd="0" presId="urn:microsoft.com/office/officeart/2008/layout/LinedList"/>
    <dgm:cxn modelId="{E16BE710-D915-4164-A48F-E37D970F1747}" type="presParOf" srcId="{E15D6B83-B650-4821-9CF9-8BC16EBCB1D0}" destId="{BCB6497A-F34D-435A-A16D-BFD194B510B7}" srcOrd="7" destOrd="0" presId="urn:microsoft.com/office/officeart/2008/layout/LinedList"/>
    <dgm:cxn modelId="{F7C86E48-F76D-4106-A4F4-CFE96B239D76}" type="presParOf" srcId="{BCB6497A-F34D-435A-A16D-BFD194B510B7}" destId="{EAE47ED2-B774-496A-96E4-12E0D6348A11}" srcOrd="0" destOrd="0" presId="urn:microsoft.com/office/officeart/2008/layout/LinedList"/>
    <dgm:cxn modelId="{FF5977F6-8E63-4C7C-B98A-B86829748A73}" type="presParOf" srcId="{BCB6497A-F34D-435A-A16D-BFD194B510B7}" destId="{A3ADC29F-6C06-4D92-9D81-503E5AD2EF44}" srcOrd="1" destOrd="0" presId="urn:microsoft.com/office/officeart/2008/layout/LinedList"/>
    <dgm:cxn modelId="{F642B2B4-71D4-473A-81EF-ABF9A427FF7A}" type="presParOf" srcId="{E15D6B83-B650-4821-9CF9-8BC16EBCB1D0}" destId="{9B2054CB-6E3A-4A3F-8215-322C781B2724}" srcOrd="8" destOrd="0" presId="urn:microsoft.com/office/officeart/2008/layout/LinedList"/>
    <dgm:cxn modelId="{F7FC95B1-5471-4B0D-894A-1178EB3E35C8}" type="presParOf" srcId="{E15D6B83-B650-4821-9CF9-8BC16EBCB1D0}" destId="{D18BC7A9-0DEA-4E29-A5DA-6EBB8F21293A}" srcOrd="9" destOrd="0" presId="urn:microsoft.com/office/officeart/2008/layout/LinedList"/>
    <dgm:cxn modelId="{3AFBE772-0C18-4421-8E7B-3653D5416E2F}" type="presParOf" srcId="{D18BC7A9-0DEA-4E29-A5DA-6EBB8F21293A}" destId="{6C2EE032-E7B7-42CC-9597-B678331B0A91}" srcOrd="0" destOrd="0" presId="urn:microsoft.com/office/officeart/2008/layout/LinedList"/>
    <dgm:cxn modelId="{C0C27DAD-0DE6-463C-BA22-101F9156C118}" type="presParOf" srcId="{D18BC7A9-0DEA-4E29-A5DA-6EBB8F21293A}" destId="{8025BD96-3994-4FFE-A938-75B43565DA4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A67C67-C0DC-4D24-9835-8CADBA53EBAD}">
      <dsp:nvSpPr>
        <dsp:cNvPr id="0" name=""/>
        <dsp:cNvSpPr/>
      </dsp:nvSpPr>
      <dsp:spPr>
        <a:xfrm>
          <a:off x="0" y="583"/>
          <a:ext cx="627213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07C677-2F08-47A6-8F6B-E960029F0D8C}">
      <dsp:nvSpPr>
        <dsp:cNvPr id="0" name=""/>
        <dsp:cNvSpPr/>
      </dsp:nvSpPr>
      <dsp:spPr>
        <a:xfrm>
          <a:off x="0" y="583"/>
          <a:ext cx="6272138" cy="955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Is a physiologic protective mechanism</a:t>
          </a:r>
        </a:p>
      </dsp:txBody>
      <dsp:txXfrm>
        <a:off x="0" y="583"/>
        <a:ext cx="6272138" cy="955380"/>
      </dsp:txXfrm>
    </dsp:sp>
    <dsp:sp modelId="{82B7DE9F-F999-4639-B06D-62A4201EC238}">
      <dsp:nvSpPr>
        <dsp:cNvPr id="0" name=""/>
        <dsp:cNvSpPr/>
      </dsp:nvSpPr>
      <dsp:spPr>
        <a:xfrm>
          <a:off x="0" y="955963"/>
          <a:ext cx="627213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DE8D94-7B68-41B9-9D42-BEF0C5E04FF1}">
      <dsp:nvSpPr>
        <dsp:cNvPr id="0" name=""/>
        <dsp:cNvSpPr/>
      </dsp:nvSpPr>
      <dsp:spPr>
        <a:xfrm>
          <a:off x="0" y="955963"/>
          <a:ext cx="6272138" cy="955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Its function is to clear the tracheobronchial tree of excessive secretions and foreign body</a:t>
          </a:r>
        </a:p>
      </dsp:txBody>
      <dsp:txXfrm>
        <a:off x="0" y="955963"/>
        <a:ext cx="6272138" cy="955380"/>
      </dsp:txXfrm>
    </dsp:sp>
    <dsp:sp modelId="{A7CF24F0-4C0B-4696-8F62-4306FCD6FE3F}">
      <dsp:nvSpPr>
        <dsp:cNvPr id="0" name=""/>
        <dsp:cNvSpPr/>
      </dsp:nvSpPr>
      <dsp:spPr>
        <a:xfrm>
          <a:off x="0" y="1911344"/>
          <a:ext cx="627213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274B6B-8AC1-404B-B93F-55E227C0D3DA}">
      <dsp:nvSpPr>
        <dsp:cNvPr id="0" name=""/>
        <dsp:cNvSpPr/>
      </dsp:nvSpPr>
      <dsp:spPr>
        <a:xfrm>
          <a:off x="0" y="1911344"/>
          <a:ext cx="6272138" cy="955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Dry cough-</a:t>
          </a:r>
        </a:p>
      </dsp:txBody>
      <dsp:txXfrm>
        <a:off x="0" y="1911344"/>
        <a:ext cx="6272138" cy="955380"/>
      </dsp:txXfrm>
    </dsp:sp>
    <dsp:sp modelId="{6CABDCA4-3CB1-496C-BFB6-285DA7A97F57}">
      <dsp:nvSpPr>
        <dsp:cNvPr id="0" name=""/>
        <dsp:cNvSpPr/>
      </dsp:nvSpPr>
      <dsp:spPr>
        <a:xfrm>
          <a:off x="0" y="2866725"/>
          <a:ext cx="627213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E47ED2-B774-496A-96E4-12E0D6348A11}">
      <dsp:nvSpPr>
        <dsp:cNvPr id="0" name=""/>
        <dsp:cNvSpPr/>
      </dsp:nvSpPr>
      <dsp:spPr>
        <a:xfrm>
          <a:off x="0" y="2866725"/>
          <a:ext cx="6272138" cy="955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Productive cough-</a:t>
          </a:r>
        </a:p>
      </dsp:txBody>
      <dsp:txXfrm>
        <a:off x="0" y="2866725"/>
        <a:ext cx="6272138" cy="955380"/>
      </dsp:txXfrm>
    </dsp:sp>
    <dsp:sp modelId="{9B2054CB-6E3A-4A3F-8215-322C781B2724}">
      <dsp:nvSpPr>
        <dsp:cNvPr id="0" name=""/>
        <dsp:cNvSpPr/>
      </dsp:nvSpPr>
      <dsp:spPr>
        <a:xfrm>
          <a:off x="0" y="3822106"/>
          <a:ext cx="627213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2EE032-E7B7-42CC-9597-B678331B0A91}">
      <dsp:nvSpPr>
        <dsp:cNvPr id="0" name=""/>
        <dsp:cNvSpPr/>
      </dsp:nvSpPr>
      <dsp:spPr>
        <a:xfrm>
          <a:off x="0" y="3822106"/>
          <a:ext cx="6272138" cy="955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Causes –URTI, LRTI(Pneumonia, TB), bronchitis, Asthma</a:t>
          </a:r>
        </a:p>
      </dsp:txBody>
      <dsp:txXfrm>
        <a:off x="0" y="3822106"/>
        <a:ext cx="6272138" cy="95538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EBB1B6-3237-4EDA-85F7-0801F3F5BD60}" type="datetimeFigureOut">
              <a:rPr lang="en-US" smtClean="0"/>
              <a:t>11/8/2023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FD5BA-2ED1-470F-94DD-2F923D166808}" type="slidenum">
              <a:rPr lang="en-US" smtClean="0"/>
              <a:t>‹#›</a:t>
            </a:fld>
            <a:endParaRPr lang="en-US"/>
          </a:p>
        </p:txBody>
      </p:sp>
    </p:spTree>
    <p:extLst>
      <p:ext uri="{BB962C8B-B14F-4D97-AF65-F5344CB8AC3E}">
        <p14:creationId xmlns:p14="http://schemas.microsoft.com/office/powerpoint/2010/main" val="3467535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Helvetica" panose="020B0604020202020204" pitchFamily="34" charset="0"/>
              </a:rPr>
              <a:t>Standard short-course chemotherapy for tuberculosis includes</a:t>
            </a:r>
          </a:p>
          <a:p>
            <a:pPr algn="l"/>
            <a:r>
              <a:rPr lang="en-US" sz="1800" b="0" i="1" u="none" strike="noStrike" baseline="0" dirty="0" err="1">
                <a:latin typeface="Helvetica-Oblique"/>
              </a:rPr>
              <a:t>isoniazid</a:t>
            </a:r>
            <a:r>
              <a:rPr lang="en-US" sz="1800" b="0" i="0" u="none" strike="noStrike" baseline="0" dirty="0" err="1">
                <a:latin typeface="Helvetica" panose="020B0604020202020204" pitchFamily="34" charset="0"/>
              </a:rPr>
              <a:t>,</a:t>
            </a:r>
            <a:r>
              <a:rPr lang="en-US" sz="1800" b="0" i="1" u="none" strike="noStrike" baseline="0" dirty="0" err="1">
                <a:latin typeface="Helvetica-Oblique"/>
              </a:rPr>
              <a:t>rifampin</a:t>
            </a:r>
            <a:r>
              <a:rPr lang="en-US" sz="1800" b="0" i="0" u="none" strike="noStrike" baseline="0" dirty="0">
                <a:latin typeface="Helvetica" panose="020B0604020202020204" pitchFamily="34" charset="0"/>
              </a:rPr>
              <a:t>, </a:t>
            </a:r>
            <a:r>
              <a:rPr lang="en-US" sz="1800" b="0" i="1" u="none" strike="noStrike" baseline="0" dirty="0">
                <a:latin typeface="Helvetica-Oblique"/>
              </a:rPr>
              <a:t>ethambutol</a:t>
            </a:r>
            <a:r>
              <a:rPr lang="en-US" sz="1800" b="0" i="0" u="none" strike="noStrike" baseline="0" dirty="0">
                <a:latin typeface="Helvetica" panose="020B0604020202020204" pitchFamily="34" charset="0"/>
              </a:rPr>
              <a:t>, and </a:t>
            </a:r>
            <a:r>
              <a:rPr lang="en-US" sz="1800" b="0" i="1" u="none" strike="noStrike" baseline="0" dirty="0">
                <a:latin typeface="Helvetica-Oblique"/>
              </a:rPr>
              <a:t>pyrazinamide </a:t>
            </a:r>
            <a:r>
              <a:rPr lang="en-US" sz="1800" b="0" i="0" u="none" strike="noStrike" baseline="0" dirty="0">
                <a:latin typeface="Helvetica" panose="020B0604020202020204" pitchFamily="34" charset="0"/>
              </a:rPr>
              <a:t>for 2 months (the</a:t>
            </a:r>
          </a:p>
          <a:p>
            <a:pPr algn="l"/>
            <a:r>
              <a:rPr lang="en-US" sz="1800" b="0" i="0" u="none" strike="noStrike" baseline="0" dirty="0">
                <a:latin typeface="Helvetica" panose="020B0604020202020204" pitchFamily="34" charset="0"/>
              </a:rPr>
              <a:t>intensive phase), followed by </a:t>
            </a:r>
            <a:r>
              <a:rPr lang="en-US" sz="1800" b="0" i="1" u="none" strike="noStrike" baseline="0" dirty="0">
                <a:latin typeface="Helvetica-Oblique"/>
              </a:rPr>
              <a:t>isoniazid </a:t>
            </a:r>
            <a:r>
              <a:rPr lang="en-US" sz="1800" b="0" i="0" u="none" strike="noStrike" baseline="0" dirty="0">
                <a:latin typeface="Helvetica" panose="020B0604020202020204" pitchFamily="34" charset="0"/>
              </a:rPr>
              <a:t>and </a:t>
            </a:r>
            <a:r>
              <a:rPr lang="en-US" sz="1800" b="0" i="1" u="none" strike="noStrike" baseline="0" dirty="0">
                <a:latin typeface="Helvetica-Oblique"/>
              </a:rPr>
              <a:t>rifampin </a:t>
            </a:r>
            <a:r>
              <a:rPr lang="en-US" sz="1800" b="0" i="0" u="none" strike="noStrike" baseline="0" dirty="0">
                <a:latin typeface="Helvetica" panose="020B0604020202020204" pitchFamily="34" charset="0"/>
              </a:rPr>
              <a:t>for 4 months</a:t>
            </a:r>
          </a:p>
          <a:p>
            <a:pPr algn="l"/>
            <a:r>
              <a:rPr lang="en-US" sz="1800" b="0" i="0" u="none" strike="noStrike" baseline="0" dirty="0">
                <a:latin typeface="Helvetica" panose="020B0604020202020204" pitchFamily="34" charset="0"/>
              </a:rPr>
              <a:t>(the continuation phase)</a:t>
            </a:r>
            <a:endParaRPr lang="en-US" dirty="0"/>
          </a:p>
        </p:txBody>
      </p:sp>
      <p:sp>
        <p:nvSpPr>
          <p:cNvPr id="4" name="Slide Number Placeholder 3"/>
          <p:cNvSpPr>
            <a:spLocks noGrp="1"/>
          </p:cNvSpPr>
          <p:nvPr>
            <p:ph type="sldNum" sz="quarter" idx="5"/>
          </p:nvPr>
        </p:nvSpPr>
        <p:spPr/>
        <p:txBody>
          <a:bodyPr/>
          <a:lstStyle/>
          <a:p>
            <a:fld id="{A5EFD5BA-2ED1-470F-94DD-2F923D166808}" type="slidenum">
              <a:rPr lang="en-US" smtClean="0"/>
              <a:t>24</a:t>
            </a:fld>
            <a:endParaRPr lang="en-US"/>
          </a:p>
        </p:txBody>
      </p:sp>
    </p:spTree>
    <p:extLst>
      <p:ext uri="{BB962C8B-B14F-4D97-AF65-F5344CB8AC3E}">
        <p14:creationId xmlns:p14="http://schemas.microsoft.com/office/powerpoint/2010/main" val="146761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59787-65D0-409D-8185-0279F474C9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5C4777-F112-41B9-B514-326097A601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9F22D3-B7CD-4063-B951-639D6757DC5A}"/>
              </a:ext>
            </a:extLst>
          </p:cNvPr>
          <p:cNvSpPr>
            <a:spLocks noGrp="1"/>
          </p:cNvSpPr>
          <p:nvPr>
            <p:ph type="dt" sz="half" idx="10"/>
          </p:nvPr>
        </p:nvSpPr>
        <p:spPr/>
        <p:txBody>
          <a:bodyPr/>
          <a:lstStyle/>
          <a:p>
            <a:fld id="{C09BDBF3-9360-45A1-BE0D-792A28196C64}" type="datetime1">
              <a:rPr lang="en-US" smtClean="0"/>
              <a:t>11/8/2023</a:t>
            </a:fld>
            <a:endParaRPr lang="en-US"/>
          </a:p>
        </p:txBody>
      </p:sp>
      <p:sp>
        <p:nvSpPr>
          <p:cNvPr id="5" name="Footer Placeholder 4">
            <a:extLst>
              <a:ext uri="{FF2B5EF4-FFF2-40B4-BE49-F238E27FC236}">
                <a16:creationId xmlns:a16="http://schemas.microsoft.com/office/drawing/2014/main" id="{F61C4EAC-1F76-47CC-9219-7F5E135C37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7E2C0-F2A4-4FEF-92FB-610EB2FABFCE}"/>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1022820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9EF88-B26A-40EC-8719-7DC864432E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92BB51-0D06-428D-A497-2005D8AB9B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34091D-CF70-4926-B6C5-FEF592B700F5}"/>
              </a:ext>
            </a:extLst>
          </p:cNvPr>
          <p:cNvSpPr>
            <a:spLocks noGrp="1"/>
          </p:cNvSpPr>
          <p:nvPr>
            <p:ph type="dt" sz="half" idx="10"/>
          </p:nvPr>
        </p:nvSpPr>
        <p:spPr/>
        <p:txBody>
          <a:bodyPr/>
          <a:lstStyle/>
          <a:p>
            <a:fld id="{76377072-A344-4D76-8245-2D6D512773F2}" type="datetime1">
              <a:rPr lang="en-US" smtClean="0"/>
              <a:t>11/8/2023</a:t>
            </a:fld>
            <a:endParaRPr lang="en-US"/>
          </a:p>
        </p:txBody>
      </p:sp>
      <p:sp>
        <p:nvSpPr>
          <p:cNvPr id="5" name="Footer Placeholder 4">
            <a:extLst>
              <a:ext uri="{FF2B5EF4-FFF2-40B4-BE49-F238E27FC236}">
                <a16:creationId xmlns:a16="http://schemas.microsoft.com/office/drawing/2014/main" id="{312E9A69-E1FE-4197-BF5E-542B2893A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4F93CA-93B2-4A9C-AA1B-47B59249021C}"/>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803895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8D4DE-20D5-4D57-AD35-1B281F4918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F0CF6D-E08D-4558-9EE3-1278C9E53D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99E4ED-D15D-458D-9983-4BA1FB02008A}"/>
              </a:ext>
            </a:extLst>
          </p:cNvPr>
          <p:cNvSpPr>
            <a:spLocks noGrp="1"/>
          </p:cNvSpPr>
          <p:nvPr>
            <p:ph type="dt" sz="half" idx="10"/>
          </p:nvPr>
        </p:nvSpPr>
        <p:spPr/>
        <p:txBody>
          <a:bodyPr/>
          <a:lstStyle/>
          <a:p>
            <a:fld id="{D9519D28-4CB0-44CC-92E8-B9AE05A629EE}" type="datetime1">
              <a:rPr lang="en-US" smtClean="0"/>
              <a:t>11/8/2023</a:t>
            </a:fld>
            <a:endParaRPr lang="en-US"/>
          </a:p>
        </p:txBody>
      </p:sp>
      <p:sp>
        <p:nvSpPr>
          <p:cNvPr id="5" name="Footer Placeholder 4">
            <a:extLst>
              <a:ext uri="{FF2B5EF4-FFF2-40B4-BE49-F238E27FC236}">
                <a16:creationId xmlns:a16="http://schemas.microsoft.com/office/drawing/2014/main" id="{254BF243-11E8-4BEF-8E57-9165DA369D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6D4A36-5822-4DDC-9A7E-3C1FBBA9B6AB}"/>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2594156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9F65-E369-4BC6-B469-E2E2D7EE88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C59911-2C64-4704-8581-4DA8837D03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1B9189-08FD-4A7C-96EF-5CA18D324B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39C6DD-8DF3-49A8-97BE-52E5FBE0BF6F}"/>
              </a:ext>
            </a:extLst>
          </p:cNvPr>
          <p:cNvSpPr>
            <a:spLocks noGrp="1"/>
          </p:cNvSpPr>
          <p:nvPr>
            <p:ph type="dt" sz="half" idx="10"/>
          </p:nvPr>
        </p:nvSpPr>
        <p:spPr/>
        <p:txBody>
          <a:bodyPr/>
          <a:lstStyle/>
          <a:p>
            <a:fld id="{2C088554-0BA5-4765-AD45-337409591B2D}" type="datetime1">
              <a:rPr lang="en-US" smtClean="0"/>
              <a:t>11/8/2023</a:t>
            </a:fld>
            <a:endParaRPr lang="en-US"/>
          </a:p>
        </p:txBody>
      </p:sp>
      <p:sp>
        <p:nvSpPr>
          <p:cNvPr id="6" name="Footer Placeholder 5">
            <a:extLst>
              <a:ext uri="{FF2B5EF4-FFF2-40B4-BE49-F238E27FC236}">
                <a16:creationId xmlns:a16="http://schemas.microsoft.com/office/drawing/2014/main" id="{FCF71246-96F9-4905-A9C5-71BD8C9C73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314A79-2A06-4C75-A334-99C4E4A43952}"/>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2768637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B1F16-888E-4012-912F-B3A4368336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32253C-6335-4664-A3F6-35CAE5000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6631D3-17DD-4190-A8E6-DEA299CAC1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74060D-359F-4753-A525-A17AADD08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A3E167-7EFC-476D-9663-159AD216EE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CA56E8-2721-45FE-B0EA-BBEBB44857B6}"/>
              </a:ext>
            </a:extLst>
          </p:cNvPr>
          <p:cNvSpPr>
            <a:spLocks noGrp="1"/>
          </p:cNvSpPr>
          <p:nvPr>
            <p:ph type="dt" sz="half" idx="10"/>
          </p:nvPr>
        </p:nvSpPr>
        <p:spPr/>
        <p:txBody>
          <a:bodyPr/>
          <a:lstStyle/>
          <a:p>
            <a:fld id="{DDEE613C-9467-42A4-9C03-30C068473364}" type="datetime1">
              <a:rPr lang="en-US" smtClean="0"/>
              <a:t>11/8/2023</a:t>
            </a:fld>
            <a:endParaRPr lang="en-US"/>
          </a:p>
        </p:txBody>
      </p:sp>
      <p:sp>
        <p:nvSpPr>
          <p:cNvPr id="8" name="Footer Placeholder 7">
            <a:extLst>
              <a:ext uri="{FF2B5EF4-FFF2-40B4-BE49-F238E27FC236}">
                <a16:creationId xmlns:a16="http://schemas.microsoft.com/office/drawing/2014/main" id="{5B455F28-C8F8-4D70-92C2-9596928F8D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1445CB-BEAD-401A-BB86-5DA714C9A70E}"/>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331347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270CF-9C48-4B82-B31F-836A09CE4E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37239B-0F66-4555-A2AA-060DD2D35857}"/>
              </a:ext>
            </a:extLst>
          </p:cNvPr>
          <p:cNvSpPr>
            <a:spLocks noGrp="1"/>
          </p:cNvSpPr>
          <p:nvPr>
            <p:ph type="dt" sz="half" idx="10"/>
          </p:nvPr>
        </p:nvSpPr>
        <p:spPr/>
        <p:txBody>
          <a:bodyPr/>
          <a:lstStyle/>
          <a:p>
            <a:fld id="{FA0B767C-2837-4345-9AA3-028E4485C2D0}" type="datetime1">
              <a:rPr lang="en-US" smtClean="0"/>
              <a:t>11/8/2023</a:t>
            </a:fld>
            <a:endParaRPr lang="en-US"/>
          </a:p>
        </p:txBody>
      </p:sp>
      <p:sp>
        <p:nvSpPr>
          <p:cNvPr id="4" name="Footer Placeholder 3">
            <a:extLst>
              <a:ext uri="{FF2B5EF4-FFF2-40B4-BE49-F238E27FC236}">
                <a16:creationId xmlns:a16="http://schemas.microsoft.com/office/drawing/2014/main" id="{BA3C7BE1-74EE-4B7F-A38C-C4E967BF07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4B39DA-5AAA-41B0-8B76-D2C9686700A4}"/>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312703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D8F38-009A-4CE3-88DE-E5E87783C743}"/>
              </a:ext>
            </a:extLst>
          </p:cNvPr>
          <p:cNvSpPr>
            <a:spLocks noGrp="1"/>
          </p:cNvSpPr>
          <p:nvPr>
            <p:ph type="dt" sz="half" idx="10"/>
          </p:nvPr>
        </p:nvSpPr>
        <p:spPr/>
        <p:txBody>
          <a:bodyPr/>
          <a:lstStyle/>
          <a:p>
            <a:fld id="{8674F06D-478D-4B7F-858C-57374D94E876}" type="datetime1">
              <a:rPr lang="en-US" smtClean="0"/>
              <a:t>11/8/2023</a:t>
            </a:fld>
            <a:endParaRPr lang="en-US"/>
          </a:p>
        </p:txBody>
      </p:sp>
      <p:sp>
        <p:nvSpPr>
          <p:cNvPr id="3" name="Footer Placeholder 2">
            <a:extLst>
              <a:ext uri="{FF2B5EF4-FFF2-40B4-BE49-F238E27FC236}">
                <a16:creationId xmlns:a16="http://schemas.microsoft.com/office/drawing/2014/main" id="{B051043D-31B4-41D0-8D41-11C6DE754C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377538-9A08-47B5-B07E-2DC955FAE189}"/>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2002628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080C-A83C-48F4-9437-6CB094955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170081-700E-472C-AEDD-BAC079EC1D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7F878D-C813-4DBC-A407-A9F06E608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2424C-3E67-40EC-B03E-5D752F2FA396}"/>
              </a:ext>
            </a:extLst>
          </p:cNvPr>
          <p:cNvSpPr>
            <a:spLocks noGrp="1"/>
          </p:cNvSpPr>
          <p:nvPr>
            <p:ph type="dt" sz="half" idx="10"/>
          </p:nvPr>
        </p:nvSpPr>
        <p:spPr/>
        <p:txBody>
          <a:bodyPr/>
          <a:lstStyle/>
          <a:p>
            <a:fld id="{FE3BD466-7D22-4441-B519-8137F5E950FE}" type="datetime1">
              <a:rPr lang="en-US" smtClean="0"/>
              <a:t>11/8/2023</a:t>
            </a:fld>
            <a:endParaRPr lang="en-US"/>
          </a:p>
        </p:txBody>
      </p:sp>
      <p:sp>
        <p:nvSpPr>
          <p:cNvPr id="6" name="Footer Placeholder 5">
            <a:extLst>
              <a:ext uri="{FF2B5EF4-FFF2-40B4-BE49-F238E27FC236}">
                <a16:creationId xmlns:a16="http://schemas.microsoft.com/office/drawing/2014/main" id="{CF788DFF-1159-43B9-AFDB-9659F4583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2D7420-A12F-4523-A2DE-2EC7D5965D97}"/>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918571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F829-0C4D-453E-B1E2-9491D8609A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F9FF13-DC53-490F-893C-0884253CA3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B14EE3-DF5B-4273-AF0F-C487C9976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6A8E1F-28FC-459B-92BC-941E14B6AE6A}"/>
              </a:ext>
            </a:extLst>
          </p:cNvPr>
          <p:cNvSpPr>
            <a:spLocks noGrp="1"/>
          </p:cNvSpPr>
          <p:nvPr>
            <p:ph type="dt" sz="half" idx="10"/>
          </p:nvPr>
        </p:nvSpPr>
        <p:spPr/>
        <p:txBody>
          <a:bodyPr/>
          <a:lstStyle/>
          <a:p>
            <a:fld id="{AAC17CA9-3FFC-463E-8432-580D3A75C179}" type="datetime1">
              <a:rPr lang="en-US" smtClean="0"/>
              <a:t>11/8/2023</a:t>
            </a:fld>
            <a:endParaRPr lang="en-US"/>
          </a:p>
        </p:txBody>
      </p:sp>
      <p:sp>
        <p:nvSpPr>
          <p:cNvPr id="6" name="Footer Placeholder 5">
            <a:extLst>
              <a:ext uri="{FF2B5EF4-FFF2-40B4-BE49-F238E27FC236}">
                <a16:creationId xmlns:a16="http://schemas.microsoft.com/office/drawing/2014/main" id="{460E1AD0-D5D1-46DF-8B4F-4303E73F2C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024D2C-7EC8-40B2-8DC6-16F384EC8F19}"/>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1503092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4C82-12D3-43A3-91E8-B904C2D321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45665F-704C-4BD5-B30C-E9BBEA50B5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499F3C-941E-448C-8DAD-E37422E33A46}"/>
              </a:ext>
            </a:extLst>
          </p:cNvPr>
          <p:cNvSpPr>
            <a:spLocks noGrp="1"/>
          </p:cNvSpPr>
          <p:nvPr>
            <p:ph type="dt" sz="half" idx="10"/>
          </p:nvPr>
        </p:nvSpPr>
        <p:spPr/>
        <p:txBody>
          <a:bodyPr/>
          <a:lstStyle/>
          <a:p>
            <a:fld id="{F67DFBCE-2C7E-4CE6-9049-67F1981AA8A2}" type="datetime1">
              <a:rPr lang="en-US" smtClean="0"/>
              <a:t>11/8/2023</a:t>
            </a:fld>
            <a:endParaRPr lang="en-US"/>
          </a:p>
        </p:txBody>
      </p:sp>
      <p:sp>
        <p:nvSpPr>
          <p:cNvPr id="5" name="Footer Placeholder 4">
            <a:extLst>
              <a:ext uri="{FF2B5EF4-FFF2-40B4-BE49-F238E27FC236}">
                <a16:creationId xmlns:a16="http://schemas.microsoft.com/office/drawing/2014/main" id="{95E43654-EAAB-4A7D-8A05-1FBD8C23F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8D37F5-2977-488D-9F65-D8610A7A084C}"/>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1666180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5D8A61-9DC8-4975-B837-32F73B13C6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1454F7-F461-45FB-8A78-0A751224B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C7B8D-B4C0-4B78-A0EC-D70BCAE7B946}"/>
              </a:ext>
            </a:extLst>
          </p:cNvPr>
          <p:cNvSpPr>
            <a:spLocks noGrp="1"/>
          </p:cNvSpPr>
          <p:nvPr>
            <p:ph type="dt" sz="half" idx="10"/>
          </p:nvPr>
        </p:nvSpPr>
        <p:spPr/>
        <p:txBody>
          <a:bodyPr/>
          <a:lstStyle/>
          <a:p>
            <a:fld id="{2DD32AA1-A0F3-4C5C-9A0C-5E2623BBD4C9}" type="datetime1">
              <a:rPr lang="en-US" smtClean="0"/>
              <a:t>11/8/2023</a:t>
            </a:fld>
            <a:endParaRPr lang="en-US"/>
          </a:p>
        </p:txBody>
      </p:sp>
      <p:sp>
        <p:nvSpPr>
          <p:cNvPr id="5" name="Footer Placeholder 4">
            <a:extLst>
              <a:ext uri="{FF2B5EF4-FFF2-40B4-BE49-F238E27FC236}">
                <a16:creationId xmlns:a16="http://schemas.microsoft.com/office/drawing/2014/main" id="{0AA01A2F-015C-4A21-92A9-E65B2DBC79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3A1CB-3191-4193-AB1B-C85EF8669033}"/>
              </a:ext>
            </a:extLst>
          </p:cNvPr>
          <p:cNvSpPr>
            <a:spLocks noGrp="1"/>
          </p:cNvSpPr>
          <p:nvPr>
            <p:ph type="sldNum" sz="quarter" idx="12"/>
          </p:nvPr>
        </p:nvSpPr>
        <p:spPr/>
        <p:txBody>
          <a:bodyPr/>
          <a:lstStyle/>
          <a:p>
            <a:fld id="{90203794-E402-4DE4-95AE-1208C9121EB2}" type="slidenum">
              <a:rPr lang="en-US" smtClean="0"/>
              <a:t>‹#›</a:t>
            </a:fld>
            <a:endParaRPr lang="en-US"/>
          </a:p>
        </p:txBody>
      </p:sp>
    </p:spTree>
    <p:extLst>
      <p:ext uri="{BB962C8B-B14F-4D97-AF65-F5344CB8AC3E}">
        <p14:creationId xmlns:p14="http://schemas.microsoft.com/office/powerpoint/2010/main" val="2575955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8FC84F-23A4-462F-8187-C1C170C420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83FFDE-BB4C-416F-82D2-C94013DBB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287EBF-9FAD-48B6-B2EB-4C4EF64E7C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109DC1-A344-4151-8CA0-B9CB8CE48F0F}" type="datetime1">
              <a:rPr lang="en-US" smtClean="0"/>
              <a:t>11/8/2023</a:t>
            </a:fld>
            <a:endParaRPr lang="en-US"/>
          </a:p>
        </p:txBody>
      </p:sp>
      <p:sp>
        <p:nvSpPr>
          <p:cNvPr id="5" name="Footer Placeholder 4">
            <a:extLst>
              <a:ext uri="{FF2B5EF4-FFF2-40B4-BE49-F238E27FC236}">
                <a16:creationId xmlns:a16="http://schemas.microsoft.com/office/drawing/2014/main" id="{00221BE3-2665-4CE3-80EE-B91E902E38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23FD3C-AF37-480A-89DF-3F76E8C811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203794-E402-4DE4-95AE-1208C9121EB2}" type="slidenum">
              <a:rPr lang="en-US" smtClean="0"/>
              <a:t>‹#›</a:t>
            </a:fld>
            <a:endParaRPr lang="en-US"/>
          </a:p>
        </p:txBody>
      </p:sp>
    </p:spTree>
    <p:extLst>
      <p:ext uri="{BB962C8B-B14F-4D97-AF65-F5344CB8AC3E}">
        <p14:creationId xmlns:p14="http://schemas.microsoft.com/office/powerpoint/2010/main" val="18046290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3">
            <a:extLst>
              <a:ext uri="{FF2B5EF4-FFF2-40B4-BE49-F238E27FC236}">
                <a16:creationId xmlns:a16="http://schemas.microsoft.com/office/drawing/2014/main" id="{D9ECD78B-ECB9-42FD-9772-057A55643F82}"/>
              </a:ext>
            </a:extLst>
          </p:cNvPr>
          <p:cNvSpPr>
            <a:spLocks noGrp="1" noChangeArrowheads="1"/>
          </p:cNvSpPr>
          <p:nvPr>
            <p:ph idx="1"/>
          </p:nvPr>
        </p:nvSpPr>
        <p:spPr bwMode="auto">
          <a:xfrm>
            <a:off x="838200" y="658368"/>
            <a:ext cx="10515600" cy="5518595"/>
          </a:xfrm>
        </p:spPr>
        <p:txBody>
          <a:bodyPr wrap="square" numCol="1" anchor="t" anchorCtr="0" compatLnSpc="1">
            <a:prstTxWarp prst="textNoShape">
              <a:avLst/>
            </a:prstTxWarp>
          </a:bodyPr>
          <a:lstStyle/>
          <a:p>
            <a:pPr algn="ctr">
              <a:buFontTx/>
              <a:buNone/>
            </a:pPr>
            <a:r>
              <a:rPr lang="en-US" altLang="en-US" sz="3600" b="1" dirty="0">
                <a:solidFill>
                  <a:schemeClr val="accent1"/>
                </a:solidFill>
              </a:rPr>
              <a:t>Chapter 2</a:t>
            </a:r>
          </a:p>
          <a:p>
            <a:pPr algn="ctr">
              <a:buFontTx/>
              <a:buNone/>
            </a:pPr>
            <a:r>
              <a:rPr lang="en-US" altLang="en-US" sz="3600" b="1" dirty="0">
                <a:solidFill>
                  <a:schemeClr val="accent1"/>
                </a:solidFill>
              </a:rPr>
              <a:t>DRUGS ACTING ON THE RESPIRATORY SYSTEM</a:t>
            </a:r>
          </a:p>
          <a:p>
            <a:pPr algn="ctr">
              <a:buFontTx/>
              <a:buNone/>
            </a:pPr>
            <a:endParaRPr lang="en-US" altLang="en-US" sz="3600" b="1" dirty="0">
              <a:solidFill>
                <a:schemeClr val="accent1"/>
              </a:solidFill>
            </a:endParaRPr>
          </a:p>
          <a:p>
            <a:pPr algn="ctr">
              <a:buFontTx/>
              <a:buNone/>
            </a:pPr>
            <a:endParaRPr lang="en-US" altLang="en-US" sz="3600" b="1" dirty="0">
              <a:solidFill>
                <a:schemeClr val="accent1"/>
              </a:solidFill>
            </a:endParaRPr>
          </a:p>
          <a:p>
            <a:pPr algn="ctr">
              <a:buFontTx/>
              <a:buNone/>
            </a:pPr>
            <a:r>
              <a:rPr lang="en-US" altLang="en-US" sz="3600" dirty="0"/>
              <a:t>                                      </a:t>
            </a:r>
          </a:p>
          <a:p>
            <a:pPr algn="ctr">
              <a:buFontTx/>
              <a:buNone/>
            </a:pPr>
            <a:endParaRPr lang="en-US" altLang="en-US" sz="3600" dirty="0"/>
          </a:p>
          <a:p>
            <a:pPr algn="ctr">
              <a:buFontTx/>
              <a:buNone/>
            </a:pPr>
            <a:r>
              <a:rPr lang="en-US" altLang="en-US" sz="3600" dirty="0"/>
              <a:t>                                           Dr. Anteneh Kassahun</a:t>
            </a:r>
          </a:p>
          <a:p>
            <a:pPr algn="ctr">
              <a:buFontTx/>
              <a:buNone/>
            </a:pPr>
            <a:r>
              <a:rPr lang="en-US" altLang="en-US" sz="3200" dirty="0"/>
              <a:t>							NOV/2023</a:t>
            </a:r>
            <a:endParaRPr lang="en-US" altLang="en-US" sz="3600" dirty="0"/>
          </a:p>
        </p:txBody>
      </p:sp>
      <p:sp>
        <p:nvSpPr>
          <p:cNvPr id="3" name="Slide Number Placeholder 2">
            <a:extLst>
              <a:ext uri="{FF2B5EF4-FFF2-40B4-BE49-F238E27FC236}">
                <a16:creationId xmlns:a16="http://schemas.microsoft.com/office/drawing/2014/main" id="{35598C8B-F5AB-4C7F-AA81-49CB766E408B}"/>
              </a:ext>
            </a:extLst>
          </p:cNvPr>
          <p:cNvSpPr>
            <a:spLocks noGrp="1"/>
          </p:cNvSpPr>
          <p:nvPr>
            <p:ph type="sldNum" sz="quarter" idx="12"/>
          </p:nvPr>
        </p:nvSpPr>
        <p:spPr/>
        <p:txBody>
          <a:bodyPr/>
          <a:lstStyle/>
          <a:p>
            <a:fld id="{90203794-E402-4DE4-95AE-1208C9121EB2}" type="slidenum">
              <a:rPr lang="en-US" smtClean="0"/>
              <a:t>1</a:t>
            </a:fld>
            <a:endParaRPr lang="en-US" dirty="0"/>
          </a:p>
        </p:txBody>
      </p:sp>
      <p:pic>
        <p:nvPicPr>
          <p:cNvPr id="4" name="Content Placeholder 5">
            <a:extLst>
              <a:ext uri="{FF2B5EF4-FFF2-40B4-BE49-F238E27FC236}">
                <a16:creationId xmlns:a16="http://schemas.microsoft.com/office/drawing/2014/main" id="{3AA61302-28CA-2D5C-5678-AD505DE820AF}"/>
              </a:ext>
            </a:extLst>
          </p:cNvPr>
          <p:cNvPicPr>
            <a:picLocks noChangeAspect="1"/>
          </p:cNvPicPr>
          <p:nvPr/>
        </p:nvPicPr>
        <p:blipFill>
          <a:blip r:embed="rId2"/>
          <a:stretch>
            <a:fillRect/>
          </a:stretch>
        </p:blipFill>
        <p:spPr>
          <a:xfrm>
            <a:off x="345126" y="2145628"/>
            <a:ext cx="4744149" cy="43804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5617EE53-39D4-4DB4-A046-306D12FD7D14}"/>
              </a:ext>
            </a:extLst>
          </p:cNvPr>
          <p:cNvSpPr>
            <a:spLocks noGrp="1" noChangeArrowheads="1"/>
          </p:cNvSpPr>
          <p:nvPr>
            <p:ph type="title"/>
          </p:nvPr>
        </p:nvSpPr>
        <p:spPr>
          <a:xfrm>
            <a:off x="838200" y="365126"/>
            <a:ext cx="10515600" cy="872660"/>
          </a:xfrm>
        </p:spPr>
        <p:txBody>
          <a:bodyPr>
            <a:normAutofit/>
          </a:bodyPr>
          <a:lstStyle/>
          <a:p>
            <a:r>
              <a:rPr lang="en-US" altLang="en-US" sz="2800" b="1" dirty="0">
                <a:solidFill>
                  <a:schemeClr val="accent1"/>
                </a:solidFill>
              </a:rPr>
              <a:t>DRUGS ACTING ON THE RESPIRATORY SYSTEM</a:t>
            </a:r>
          </a:p>
        </p:txBody>
      </p:sp>
      <p:sp>
        <p:nvSpPr>
          <p:cNvPr id="157699" name="Rectangle 3">
            <a:extLst>
              <a:ext uri="{FF2B5EF4-FFF2-40B4-BE49-F238E27FC236}">
                <a16:creationId xmlns:a16="http://schemas.microsoft.com/office/drawing/2014/main" id="{3BD3AB58-4892-4C35-AB7A-DA98B86A06DA}"/>
              </a:ext>
            </a:extLst>
          </p:cNvPr>
          <p:cNvSpPr>
            <a:spLocks noGrp="1" noChangeArrowheads="1"/>
          </p:cNvSpPr>
          <p:nvPr>
            <p:ph idx="1"/>
          </p:nvPr>
        </p:nvSpPr>
        <p:spPr bwMode="auto">
          <a:xfrm>
            <a:off x="1008993" y="1600200"/>
            <a:ext cx="10152993" cy="4953000"/>
          </a:xfrm>
        </p:spPr>
        <p:txBody>
          <a:bodyPr wrap="square" numCol="1" anchor="t" anchorCtr="0" compatLnSpc="1">
            <a:prstTxWarp prst="textNoShape">
              <a:avLst/>
            </a:prstTxWarp>
            <a:normAutofit/>
          </a:bodyPr>
          <a:lstStyle/>
          <a:p>
            <a:pPr>
              <a:lnSpc>
                <a:spcPct val="80000"/>
              </a:lnSpc>
            </a:pPr>
            <a:r>
              <a:rPr lang="en-US" altLang="en-US" sz="2400" dirty="0"/>
              <a:t>Many conditions affect the respiratory system. Some of the conditions are life threatening, while many are chronic conditions which affect thousands of patients.</a:t>
            </a:r>
            <a:endParaRPr lang="en-US" altLang="en-US" sz="2400" b="1" dirty="0"/>
          </a:p>
          <a:p>
            <a:pPr>
              <a:lnSpc>
                <a:spcPct val="80000"/>
              </a:lnSpc>
            </a:pPr>
            <a:r>
              <a:rPr lang="en-US" altLang="en-US" sz="2400" b="1" dirty="0"/>
              <a:t>PNEUMONIA: </a:t>
            </a:r>
            <a:r>
              <a:rPr lang="en-US" altLang="en-US" sz="2400" dirty="0"/>
              <a:t>Pneumonia is caused by an infection of the lung. like bacteria, viruses, fungus. Symptoms- cough, fever, chest pain. </a:t>
            </a:r>
          </a:p>
          <a:p>
            <a:pPr>
              <a:lnSpc>
                <a:spcPct val="80000"/>
              </a:lnSpc>
            </a:pPr>
            <a:r>
              <a:rPr lang="en-US" altLang="en-US" sz="2400" b="1" dirty="0"/>
              <a:t>ASTHMA : </a:t>
            </a:r>
            <a:r>
              <a:rPr lang="en-US" altLang="en-US" sz="2400" dirty="0"/>
              <a:t>a condition usually caused by allergic reactions to substances in the</a:t>
            </a:r>
            <a:r>
              <a:rPr lang="en-US" altLang="en-US" sz="2400" b="1" dirty="0"/>
              <a:t> </a:t>
            </a:r>
            <a:r>
              <a:rPr lang="en-US" altLang="en-US" sz="2400" dirty="0"/>
              <a:t>environment, affects many people. The allergic reactions cause the bronchioles to</a:t>
            </a:r>
            <a:r>
              <a:rPr lang="en-US" altLang="en-US" sz="2400" b="1" dirty="0"/>
              <a:t> </a:t>
            </a:r>
            <a:r>
              <a:rPr lang="en-US" altLang="en-US" sz="2400" dirty="0"/>
              <a:t>spasm &amp; have inflammation. Hence, the flow of air into and out of the lungs becomes impaired. </a:t>
            </a:r>
          </a:p>
          <a:p>
            <a:pPr>
              <a:lnSpc>
                <a:spcPct val="80000"/>
              </a:lnSpc>
            </a:pPr>
            <a:r>
              <a:rPr lang="en-US" altLang="en-US" sz="2400" b="1" dirty="0"/>
              <a:t>PULMONARY TUBERCULOSIS- </a:t>
            </a:r>
            <a:r>
              <a:rPr lang="en-US" sz="2400" b="0" i="0" dirty="0">
                <a:effectLst/>
                <a:latin typeface="+mj-lt"/>
              </a:rPr>
              <a:t>caused by the bacterium Mycobacterium tuberculosis. TB is a contagious disease that can infect anyone exposed. Symptoms- breathing difficulty, chest pain, cough, coughing up blood, night sweating, fatigue, fever and weight loss.</a:t>
            </a:r>
          </a:p>
          <a:p>
            <a:pPr>
              <a:lnSpc>
                <a:spcPct val="80000"/>
              </a:lnSpc>
            </a:pPr>
            <a:endParaRPr lang="en-US" altLang="en-US" sz="2400" b="1" dirty="0"/>
          </a:p>
        </p:txBody>
      </p:sp>
      <p:sp>
        <p:nvSpPr>
          <p:cNvPr id="3" name="Slide Number Placeholder 2">
            <a:extLst>
              <a:ext uri="{FF2B5EF4-FFF2-40B4-BE49-F238E27FC236}">
                <a16:creationId xmlns:a16="http://schemas.microsoft.com/office/drawing/2014/main" id="{2F8CE9B9-8D6F-4387-B7F8-F36A84CD6AB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F95DD4F2-47AC-4EAD-ACAB-45981B75706F}"/>
              </a:ext>
            </a:extLst>
          </p:cNvPr>
          <p:cNvSpPr>
            <a:spLocks noGrp="1" noChangeArrowheads="1"/>
          </p:cNvSpPr>
          <p:nvPr>
            <p:ph type="title"/>
          </p:nvPr>
        </p:nvSpPr>
        <p:spPr>
          <a:xfrm>
            <a:off x="1981200" y="274638"/>
            <a:ext cx="8458200" cy="792162"/>
          </a:xfrm>
        </p:spPr>
        <p:txBody>
          <a:bodyPr/>
          <a:lstStyle/>
          <a:p>
            <a:pPr algn="r"/>
            <a:r>
              <a:rPr lang="en-US" altLang="en-US" sz="3200"/>
              <a:t>Respiratory drugs cont’d</a:t>
            </a:r>
          </a:p>
        </p:txBody>
      </p:sp>
      <p:sp>
        <p:nvSpPr>
          <p:cNvPr id="158723" name="Rectangle 3">
            <a:extLst>
              <a:ext uri="{FF2B5EF4-FFF2-40B4-BE49-F238E27FC236}">
                <a16:creationId xmlns:a16="http://schemas.microsoft.com/office/drawing/2014/main" id="{772ED690-845A-409A-933C-74810574AA19}"/>
              </a:ext>
            </a:extLst>
          </p:cNvPr>
          <p:cNvSpPr>
            <a:spLocks noGrp="1" noChangeArrowheads="1"/>
          </p:cNvSpPr>
          <p:nvPr>
            <p:ph idx="1"/>
          </p:nvPr>
        </p:nvSpPr>
        <p:spPr bwMode="auto">
          <a:xfrm>
            <a:off x="936702" y="990601"/>
            <a:ext cx="10292576" cy="5135563"/>
          </a:xfrm>
        </p:spPr>
        <p:txBody>
          <a:bodyPr wrap="square" numCol="1" anchor="t" anchorCtr="0" compatLnSpc="1">
            <a:prstTxWarp prst="textNoShape">
              <a:avLst/>
            </a:prstTxWarp>
            <a:normAutofit/>
          </a:bodyPr>
          <a:lstStyle/>
          <a:p>
            <a:r>
              <a:rPr lang="en-US" altLang="en-US" sz="2500" b="1" dirty="0"/>
              <a:t>PULMONARY EDEMA: </a:t>
            </a:r>
            <a:r>
              <a:rPr lang="en-US" altLang="en-US" sz="2500" dirty="0"/>
              <a:t>Pulmonary edema is a condition in which fluid collects in the interstitial spaces of</a:t>
            </a:r>
            <a:r>
              <a:rPr lang="en-US" altLang="en-US" sz="2500" b="1" dirty="0"/>
              <a:t> </a:t>
            </a:r>
            <a:r>
              <a:rPr lang="en-US" altLang="en-US" sz="2500" dirty="0"/>
              <a:t>the lungs and in the alveoli. Obviously, the exchange of gases in the alveoli becomes</a:t>
            </a:r>
            <a:r>
              <a:rPr lang="en-US" altLang="en-US" sz="2500" b="1" dirty="0"/>
              <a:t> </a:t>
            </a:r>
            <a:r>
              <a:rPr lang="en-US" altLang="en-US" sz="2500" dirty="0"/>
              <a:t>impaired. Pulmonary edema is usually caused when the left side of the heart fails to</a:t>
            </a:r>
            <a:r>
              <a:rPr lang="en-US" altLang="en-US" sz="2500" b="1" dirty="0"/>
              <a:t> </a:t>
            </a:r>
            <a:r>
              <a:rPr lang="en-US" altLang="en-US" sz="2500" dirty="0"/>
              <a:t>pump efficiently; when this happens blood backs up into the pulmonary circulation and</a:t>
            </a:r>
            <a:r>
              <a:rPr lang="en-US" altLang="en-US" sz="2500" b="1" dirty="0"/>
              <a:t> </a:t>
            </a:r>
            <a:r>
              <a:rPr lang="en-US" altLang="en-US" sz="2500" dirty="0"/>
              <a:t>causes fluid in the lungs.</a:t>
            </a:r>
          </a:p>
          <a:p>
            <a:r>
              <a:rPr lang="en-US" sz="2500" b="1" dirty="0"/>
              <a:t>Drugs for lung disease can be delivered</a:t>
            </a:r>
          </a:p>
          <a:p>
            <a:pPr lvl="1"/>
            <a:r>
              <a:rPr lang="en-US" sz="2500" dirty="0"/>
              <a:t>Topically to the nasal mucosa</a:t>
            </a:r>
          </a:p>
          <a:p>
            <a:pPr lvl="1"/>
            <a:r>
              <a:rPr lang="en-US" sz="2500" dirty="0"/>
              <a:t>Inhaled into the lungs, or </a:t>
            </a:r>
          </a:p>
          <a:p>
            <a:pPr lvl="1"/>
            <a:r>
              <a:rPr lang="en-US" sz="2500" dirty="0"/>
              <a:t>Given  orally or parenterally for systemic absorption</a:t>
            </a:r>
          </a:p>
          <a:p>
            <a:endParaRPr lang="en-US" altLang="en-US" sz="2500" dirty="0"/>
          </a:p>
        </p:txBody>
      </p:sp>
      <p:sp>
        <p:nvSpPr>
          <p:cNvPr id="3" name="Slide Number Placeholder 2">
            <a:extLst>
              <a:ext uri="{FF2B5EF4-FFF2-40B4-BE49-F238E27FC236}">
                <a16:creationId xmlns:a16="http://schemas.microsoft.com/office/drawing/2014/main" id="{6B2745F2-DCB9-4A09-AD12-9ABC11CA5B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D8CD12-E9DB-7271-0FBE-40523656BB5C}"/>
              </a:ext>
            </a:extLst>
          </p:cNvPr>
          <p:cNvSpPr>
            <a:spLocks noGrp="1"/>
          </p:cNvSpPr>
          <p:nvPr>
            <p:ph type="title"/>
          </p:nvPr>
        </p:nvSpPr>
        <p:spPr>
          <a:xfrm>
            <a:off x="761803" y="350196"/>
            <a:ext cx="4646904" cy="726434"/>
          </a:xfrm>
        </p:spPr>
        <p:txBody>
          <a:bodyPr anchor="ctr">
            <a:normAutofit/>
          </a:bodyPr>
          <a:lstStyle/>
          <a:p>
            <a:r>
              <a:rPr lang="en-US" sz="4000" dirty="0"/>
              <a:t>Cough</a:t>
            </a:r>
          </a:p>
        </p:txBody>
      </p:sp>
      <p:graphicFrame>
        <p:nvGraphicFramePr>
          <p:cNvPr id="17" name="Content Placeholder 2">
            <a:extLst>
              <a:ext uri="{FF2B5EF4-FFF2-40B4-BE49-F238E27FC236}">
                <a16:creationId xmlns:a16="http://schemas.microsoft.com/office/drawing/2014/main" id="{334EF602-C895-4087-5D93-7513DA534F4C}"/>
              </a:ext>
            </a:extLst>
          </p:cNvPr>
          <p:cNvGraphicFramePr>
            <a:graphicFrameLocks noGrp="1"/>
          </p:cNvGraphicFramePr>
          <p:nvPr>
            <p:ph idx="1"/>
          </p:nvPr>
        </p:nvGraphicFramePr>
        <p:xfrm>
          <a:off x="761802" y="1578280"/>
          <a:ext cx="6272139" cy="47780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2" descr="How to Control Coughing at Night?">
            <a:extLst>
              <a:ext uri="{FF2B5EF4-FFF2-40B4-BE49-F238E27FC236}">
                <a16:creationId xmlns:a16="http://schemas.microsoft.com/office/drawing/2014/main" id="{C9897933-BF98-3A5C-EB6F-48EADF87F3B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7887" r="33181" b="1"/>
          <a:stretch/>
        </p:blipFill>
        <p:spPr bwMode="auto">
          <a:xfrm>
            <a:off x="7293019" y="136525"/>
            <a:ext cx="4898981" cy="550519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C08CD6E-E8C5-AAC3-2246-650C27F8231C}"/>
              </a:ext>
            </a:extLst>
          </p:cNvPr>
          <p:cNvSpPr>
            <a:spLocks noGrp="1"/>
          </p:cNvSpPr>
          <p:nvPr>
            <p:ph type="sldNum" sz="quarter" idx="12"/>
          </p:nvPr>
        </p:nvSpPr>
        <p:spPr>
          <a:xfrm>
            <a:off x="8732520" y="6356350"/>
            <a:ext cx="3200400" cy="365125"/>
          </a:xfrm>
        </p:spPr>
        <p:txBody>
          <a:bodyPr>
            <a:normAutofit/>
          </a:bodyPr>
          <a:lstStyle/>
          <a:p>
            <a:pPr>
              <a:spcAft>
                <a:spcPts val="600"/>
              </a:spcAft>
            </a:pPr>
            <a:fld id="{90203794-E402-4DE4-95AE-1208C9121EB2}" type="slidenum">
              <a:rPr lang="en-US">
                <a:solidFill>
                  <a:srgbClr val="FFFFFF"/>
                </a:solidFill>
              </a:rPr>
              <a:pPr>
                <a:spcAft>
                  <a:spcPts val="600"/>
                </a:spcAft>
              </a:pPr>
              <a:t>4</a:t>
            </a:fld>
            <a:endParaRPr lang="en-US">
              <a:solidFill>
                <a:srgbClr val="FFFFFF"/>
              </a:solidFill>
            </a:endParaRPr>
          </a:p>
        </p:txBody>
      </p:sp>
    </p:spTree>
    <p:extLst>
      <p:ext uri="{BB962C8B-B14F-4D97-AF65-F5344CB8AC3E}">
        <p14:creationId xmlns:p14="http://schemas.microsoft.com/office/powerpoint/2010/main" val="357743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a:extLst>
              <a:ext uri="{FF2B5EF4-FFF2-40B4-BE49-F238E27FC236}">
                <a16:creationId xmlns:a16="http://schemas.microsoft.com/office/drawing/2014/main" id="{5CABAFA0-498C-4AC2-BFF0-7AAF240E7AD8}"/>
              </a:ext>
            </a:extLst>
          </p:cNvPr>
          <p:cNvSpPr>
            <a:spLocks noGrp="1" noChangeArrowheads="1"/>
          </p:cNvSpPr>
          <p:nvPr>
            <p:ph idx="1"/>
          </p:nvPr>
        </p:nvSpPr>
        <p:spPr bwMode="auto">
          <a:xfrm>
            <a:off x="585627" y="136525"/>
            <a:ext cx="10972800" cy="6584951"/>
          </a:xfrm>
        </p:spPr>
        <p:txBody>
          <a:bodyPr wrap="square" numCol="1" anchor="t" anchorCtr="0" compatLnSpc="1">
            <a:prstTxWarp prst="textNoShape">
              <a:avLst/>
            </a:prstTxWarp>
            <a:normAutofit lnSpcReduction="10000"/>
          </a:bodyPr>
          <a:lstStyle/>
          <a:p>
            <a:pPr marL="0" indent="0">
              <a:lnSpc>
                <a:spcPct val="80000"/>
              </a:lnSpc>
              <a:buNone/>
            </a:pPr>
            <a:r>
              <a:rPr lang="en-US" altLang="en-US" b="1" dirty="0">
                <a:solidFill>
                  <a:srgbClr val="7030A0"/>
                </a:solidFill>
              </a:rPr>
              <a:t>Drugs for cough</a:t>
            </a:r>
          </a:p>
          <a:p>
            <a:pPr marL="0" indent="0">
              <a:lnSpc>
                <a:spcPct val="80000"/>
              </a:lnSpc>
              <a:buNone/>
            </a:pPr>
            <a:r>
              <a:rPr lang="en-US" altLang="en-US" sz="2400" b="1" dirty="0"/>
              <a:t>1. </a:t>
            </a:r>
            <a:r>
              <a:rPr lang="en-US" altLang="en-US" sz="2400" b="1" dirty="0">
                <a:solidFill>
                  <a:schemeClr val="accent2">
                    <a:lumMod val="75000"/>
                  </a:schemeClr>
                </a:solidFill>
              </a:rPr>
              <a:t>Antitussive agents- </a:t>
            </a:r>
            <a:r>
              <a:rPr lang="en-US" altLang="en-US" sz="2400" dirty="0"/>
              <a:t>for dry cough</a:t>
            </a:r>
          </a:p>
          <a:p>
            <a:pPr algn="l"/>
            <a:r>
              <a:rPr lang="en-US" sz="2400" b="0" i="0" u="none" strike="noStrike" baseline="0" dirty="0">
                <a:latin typeface="+mj-lt"/>
              </a:rPr>
              <a:t>Coughing is an important defense mechanism of the respiratory system to </a:t>
            </a:r>
            <a:r>
              <a:rPr lang="en-US" sz="2400" b="1" i="1" u="none" strike="noStrike" baseline="0" dirty="0">
                <a:latin typeface="+mj-lt"/>
              </a:rPr>
              <a:t>irritants</a:t>
            </a:r>
          </a:p>
          <a:p>
            <a:pPr algn="l"/>
            <a:r>
              <a:rPr lang="en-US" sz="2400" b="0" i="0" u="none" strike="noStrike" baseline="0" dirty="0">
                <a:latin typeface="+mj-lt"/>
              </a:rPr>
              <a:t>Causes of cause; Common cold, sinusitis, bacterial lung infection and chronic respiratory disease</a:t>
            </a:r>
            <a:endParaRPr lang="en-US" altLang="en-US" sz="2400" dirty="0">
              <a:latin typeface="+mj-lt"/>
            </a:endParaRPr>
          </a:p>
          <a:p>
            <a:pPr marL="381000" indent="-381000">
              <a:lnSpc>
                <a:spcPct val="80000"/>
              </a:lnSpc>
            </a:pPr>
            <a:r>
              <a:rPr lang="en-US" altLang="en-US" sz="2400" dirty="0"/>
              <a:t>Antitussives are agents that relieve or prevent coughing. These agents act on the central nervous system to depress the cough reflex center in the medulla of the brain.</a:t>
            </a:r>
          </a:p>
          <a:p>
            <a:pPr marL="381000" indent="-381000">
              <a:lnSpc>
                <a:spcPct val="80000"/>
              </a:lnSpc>
            </a:pPr>
            <a:r>
              <a:rPr lang="en-US" altLang="en-US" sz="2400" dirty="0"/>
              <a:t>Antitussives are used to reduce respiratory irritation. Such reduction of respiratory irritation results in the patient’s being able to rest better</a:t>
            </a:r>
          </a:p>
          <a:p>
            <a:pPr marL="0" indent="0">
              <a:lnSpc>
                <a:spcPct val="80000"/>
              </a:lnSpc>
              <a:buNone/>
            </a:pPr>
            <a:r>
              <a:rPr lang="en-US" altLang="en-US" sz="2400" dirty="0"/>
              <a:t>i. </a:t>
            </a:r>
            <a:r>
              <a:rPr lang="en-US" altLang="en-US" sz="2400" b="1" dirty="0"/>
              <a:t>Codeine</a:t>
            </a:r>
          </a:p>
          <a:p>
            <a:pPr lvl="1">
              <a:lnSpc>
                <a:spcPct val="80000"/>
              </a:lnSpc>
              <a:buFont typeface="Wingdings" panose="05000000000000000000" pitchFamily="2" charset="2"/>
              <a:buChar char="Ø"/>
            </a:pPr>
            <a:r>
              <a:rPr lang="en-US" altLang="en-US" dirty="0"/>
              <a:t>the most useful narcotic/opioid antitussive agent</a:t>
            </a:r>
          </a:p>
          <a:p>
            <a:pPr lvl="1">
              <a:lnSpc>
                <a:spcPct val="80000"/>
              </a:lnSpc>
              <a:buFont typeface="Wingdings" panose="05000000000000000000" pitchFamily="2" charset="2"/>
              <a:buChar char="Ø"/>
            </a:pPr>
            <a:r>
              <a:rPr lang="en-US" altLang="en-US" dirty="0"/>
              <a:t>aids in relieving the pain (that is, producing analgesia) associated with a hacking cough.</a:t>
            </a:r>
          </a:p>
          <a:p>
            <a:pPr lvl="1">
              <a:lnSpc>
                <a:spcPct val="80000"/>
              </a:lnSpc>
              <a:buFont typeface="Wingdings" panose="05000000000000000000" pitchFamily="2" charset="2"/>
              <a:buChar char="Ø"/>
            </a:pPr>
            <a:r>
              <a:rPr lang="en-US" altLang="en-US" dirty="0">
                <a:latin typeface="+mj-lt"/>
                <a:ea typeface="Tahoma" panose="020B0604030504040204" pitchFamily="34" charset="0"/>
                <a:cs typeface="Tahoma" panose="020B0604030504040204" pitchFamily="34" charset="0"/>
              </a:rPr>
              <a:t>ADR: drowsiness, nausea, vomiting, constipation, </a:t>
            </a:r>
            <a:r>
              <a:rPr lang="en-US" sz="2400" b="0" i="0" u="none" strike="noStrike" baseline="0" dirty="0">
                <a:latin typeface="+mj-lt"/>
              </a:rPr>
              <a:t>dysphoria, </a:t>
            </a:r>
            <a:r>
              <a:rPr lang="en-US" altLang="en-US" dirty="0">
                <a:latin typeface="+mj-lt"/>
                <a:ea typeface="Tahoma" panose="020B0604030504040204" pitchFamily="34" charset="0"/>
                <a:cs typeface="Tahoma" panose="020B0604030504040204" pitchFamily="34" charset="0"/>
              </a:rPr>
              <a:t>dependence,</a:t>
            </a:r>
            <a:r>
              <a:rPr lang="en-US" b="0" i="0" u="none" strike="noStrike" baseline="0" dirty="0">
                <a:latin typeface="+mj-lt"/>
                <a:ea typeface="Tahoma" panose="020B0604030504040204" pitchFamily="34" charset="0"/>
                <a:cs typeface="Tahoma" panose="020B0604030504040204" pitchFamily="34" charset="0"/>
              </a:rPr>
              <a:t> addictive potential</a:t>
            </a:r>
            <a:endParaRPr lang="en-US" altLang="en-US" dirty="0">
              <a:latin typeface="+mj-lt"/>
              <a:ea typeface="Tahoma" panose="020B0604030504040204" pitchFamily="34" charset="0"/>
              <a:cs typeface="Tahoma" panose="020B0604030504040204" pitchFamily="34" charset="0"/>
            </a:endParaRPr>
          </a:p>
          <a:p>
            <a:pPr lvl="1">
              <a:lnSpc>
                <a:spcPct val="80000"/>
              </a:lnSpc>
              <a:buFont typeface="Wingdings" panose="05000000000000000000" pitchFamily="2" charset="2"/>
              <a:buChar char="Ø"/>
            </a:pPr>
            <a:r>
              <a:rPr lang="en-US" altLang="en-US" dirty="0"/>
              <a:t>the patient should not drink alcohol while taking the medication…drowsiness </a:t>
            </a:r>
          </a:p>
        </p:txBody>
      </p:sp>
      <p:sp>
        <p:nvSpPr>
          <p:cNvPr id="3" name="Slide Number Placeholder 2">
            <a:extLst>
              <a:ext uri="{FF2B5EF4-FFF2-40B4-BE49-F238E27FC236}">
                <a16:creationId xmlns:a16="http://schemas.microsoft.com/office/drawing/2014/main" id="{9E7E62D6-9F20-4DF9-A549-B7CE03D5AB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4">
            <a:extLst>
              <a:ext uri="{FF2B5EF4-FFF2-40B4-BE49-F238E27FC236}">
                <a16:creationId xmlns:a16="http://schemas.microsoft.com/office/drawing/2014/main" id="{629525B9-6991-42ED-AED5-ED67046D92AD}"/>
              </a:ext>
            </a:extLst>
          </p:cNvPr>
          <p:cNvSpPr>
            <a:spLocks noGrp="1" noChangeArrowheads="1"/>
          </p:cNvSpPr>
          <p:nvPr>
            <p:ph type="title"/>
          </p:nvPr>
        </p:nvSpPr>
        <p:spPr>
          <a:xfrm>
            <a:off x="1981200" y="274638"/>
            <a:ext cx="8229600" cy="487362"/>
          </a:xfrm>
          <a:noFill/>
        </p:spPr>
        <p:txBody>
          <a:bodyPr/>
          <a:lstStyle/>
          <a:p>
            <a:pPr algn="r"/>
            <a:r>
              <a:rPr lang="en-US" altLang="en-US" sz="2800"/>
              <a:t>Respiratory drugs cont’d</a:t>
            </a:r>
          </a:p>
        </p:txBody>
      </p:sp>
      <p:sp>
        <p:nvSpPr>
          <p:cNvPr id="160771" name="Rectangle 3">
            <a:extLst>
              <a:ext uri="{FF2B5EF4-FFF2-40B4-BE49-F238E27FC236}">
                <a16:creationId xmlns:a16="http://schemas.microsoft.com/office/drawing/2014/main" id="{3FCDB28B-5C2B-42BC-AF55-08A59D1176F1}"/>
              </a:ext>
            </a:extLst>
          </p:cNvPr>
          <p:cNvSpPr>
            <a:spLocks noGrp="1" noChangeArrowheads="1"/>
          </p:cNvSpPr>
          <p:nvPr>
            <p:ph idx="1"/>
          </p:nvPr>
        </p:nvSpPr>
        <p:spPr bwMode="auto">
          <a:xfrm>
            <a:off x="1437289" y="965772"/>
            <a:ext cx="9317421" cy="5069110"/>
          </a:xfrm>
        </p:spPr>
        <p:txBody>
          <a:bodyPr wrap="square" numCol="1" anchor="t" anchorCtr="0" compatLnSpc="1">
            <a:prstTxWarp prst="textNoShape">
              <a:avLst/>
            </a:prstTxWarp>
            <a:normAutofit/>
          </a:bodyPr>
          <a:lstStyle/>
          <a:p>
            <a:pPr>
              <a:buFont typeface="Wingdings" panose="05000000000000000000" pitchFamily="2" charset="2"/>
              <a:buNone/>
            </a:pPr>
            <a:r>
              <a:rPr lang="en-US" altLang="en-US" sz="2400" dirty="0"/>
              <a:t>ii. </a:t>
            </a:r>
            <a:r>
              <a:rPr lang="en-US" altLang="en-US" sz="2400" b="1" dirty="0"/>
              <a:t>Dextromethorphan</a:t>
            </a:r>
            <a:r>
              <a:rPr lang="en-US" altLang="en-US" sz="2400" dirty="0"/>
              <a:t>, is another antitussive. It is found alone or in combination, usually with expectorants. </a:t>
            </a:r>
          </a:p>
          <a:p>
            <a:pPr lvl="1">
              <a:buFont typeface="Wingdings" panose="05000000000000000000" pitchFamily="2" charset="2"/>
              <a:buChar char="Ø"/>
            </a:pPr>
            <a:r>
              <a:rPr lang="en-US" b="0" i="0" u="none" strike="noStrike" baseline="0" dirty="0">
                <a:latin typeface="+mj-lt"/>
              </a:rPr>
              <a:t>a synthetic derivative of </a:t>
            </a:r>
            <a:r>
              <a:rPr lang="en-US" b="0" i="1" u="none" strike="noStrike" baseline="0" dirty="0">
                <a:latin typeface="+mj-lt"/>
              </a:rPr>
              <a:t>morphine</a:t>
            </a:r>
            <a:endParaRPr lang="en-US" altLang="en-US" dirty="0">
              <a:latin typeface="+mj-lt"/>
            </a:endParaRPr>
          </a:p>
          <a:p>
            <a:pPr algn="l"/>
            <a:r>
              <a:rPr lang="en-US" altLang="en-US" dirty="0"/>
              <a:t>ADR: </a:t>
            </a:r>
          </a:p>
          <a:p>
            <a:pPr lvl="1">
              <a:lnSpc>
                <a:spcPct val="150000"/>
              </a:lnSpc>
              <a:buFont typeface="Wingdings" panose="05000000000000000000" pitchFamily="2" charset="2"/>
              <a:buChar char="Ø"/>
            </a:pPr>
            <a:r>
              <a:rPr lang="en-US" altLang="en-US" dirty="0">
                <a:latin typeface="+mj-lt"/>
              </a:rPr>
              <a:t>GIT upset,</a:t>
            </a:r>
            <a:r>
              <a:rPr lang="en-US" b="0" u="none" strike="noStrike" baseline="0" dirty="0">
                <a:latin typeface="+mj-lt"/>
              </a:rPr>
              <a:t> </a:t>
            </a:r>
          </a:p>
          <a:p>
            <a:pPr lvl="1">
              <a:lnSpc>
                <a:spcPct val="150000"/>
              </a:lnSpc>
              <a:buFont typeface="Wingdings" panose="05000000000000000000" pitchFamily="2" charset="2"/>
              <a:buChar char="Ø"/>
            </a:pPr>
            <a:r>
              <a:rPr lang="en-US" b="0" u="none" strike="noStrike" baseline="0" dirty="0">
                <a:latin typeface="+mj-lt"/>
              </a:rPr>
              <a:t>safer side effect profile than codeine but </a:t>
            </a:r>
          </a:p>
          <a:p>
            <a:pPr lvl="1">
              <a:lnSpc>
                <a:spcPct val="150000"/>
              </a:lnSpc>
              <a:buFont typeface="Wingdings" panose="05000000000000000000" pitchFamily="2" charset="2"/>
              <a:buChar char="Ø"/>
            </a:pPr>
            <a:r>
              <a:rPr lang="en-US" b="0" u="none" strike="noStrike" baseline="0" dirty="0">
                <a:latin typeface="+mj-lt"/>
              </a:rPr>
              <a:t>has </a:t>
            </a:r>
            <a:r>
              <a:rPr lang="en-US" b="0" i="0" u="none" strike="noStrike" baseline="0" dirty="0">
                <a:latin typeface="+mj-lt"/>
              </a:rPr>
              <a:t>dysphoria at high doses</a:t>
            </a:r>
            <a:r>
              <a:rPr lang="en-US" altLang="en-US" dirty="0">
                <a:latin typeface="+mj-lt"/>
              </a:rPr>
              <a:t> </a:t>
            </a:r>
          </a:p>
          <a:p>
            <a:pPr lvl="1">
              <a:lnSpc>
                <a:spcPct val="150000"/>
              </a:lnSpc>
              <a:buFont typeface="Wingdings" panose="05000000000000000000" pitchFamily="2" charset="2"/>
              <a:buChar char="Ø"/>
            </a:pPr>
            <a:r>
              <a:rPr lang="en-US" altLang="en-US" dirty="0">
                <a:latin typeface="+mj-lt"/>
              </a:rPr>
              <a:t>It is free of analgesic and addictive properties. </a:t>
            </a:r>
          </a:p>
        </p:txBody>
      </p:sp>
      <p:sp>
        <p:nvSpPr>
          <p:cNvPr id="3" name="Slide Number Placeholder 2">
            <a:extLst>
              <a:ext uri="{FF2B5EF4-FFF2-40B4-BE49-F238E27FC236}">
                <a16:creationId xmlns:a16="http://schemas.microsoft.com/office/drawing/2014/main" id="{EF50FBDE-D729-4A2B-82DC-A7E0616DC16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4">
            <a:extLst>
              <a:ext uri="{FF2B5EF4-FFF2-40B4-BE49-F238E27FC236}">
                <a16:creationId xmlns:a16="http://schemas.microsoft.com/office/drawing/2014/main" id="{3B44273A-C28E-42B1-9F18-685086EA01F3}"/>
              </a:ext>
            </a:extLst>
          </p:cNvPr>
          <p:cNvSpPr>
            <a:spLocks noGrp="1" noChangeArrowheads="1"/>
          </p:cNvSpPr>
          <p:nvPr>
            <p:ph type="title"/>
          </p:nvPr>
        </p:nvSpPr>
        <p:spPr>
          <a:xfrm>
            <a:off x="1981200" y="274638"/>
            <a:ext cx="8229600" cy="639762"/>
          </a:xfrm>
          <a:noFill/>
        </p:spPr>
        <p:txBody>
          <a:bodyPr/>
          <a:lstStyle/>
          <a:p>
            <a:pPr algn="r"/>
            <a:r>
              <a:rPr lang="en-US" altLang="en-US" sz="3200"/>
              <a:t>Respiratory drugs cont’d</a:t>
            </a:r>
          </a:p>
        </p:txBody>
      </p:sp>
      <p:sp>
        <p:nvSpPr>
          <p:cNvPr id="161795" name="Rectangle 3">
            <a:extLst>
              <a:ext uri="{FF2B5EF4-FFF2-40B4-BE49-F238E27FC236}">
                <a16:creationId xmlns:a16="http://schemas.microsoft.com/office/drawing/2014/main" id="{15C903E3-71F1-48DE-8CDD-ADA7E5035BDA}"/>
              </a:ext>
            </a:extLst>
          </p:cNvPr>
          <p:cNvSpPr>
            <a:spLocks noGrp="1" noChangeArrowheads="1"/>
          </p:cNvSpPr>
          <p:nvPr>
            <p:ph idx="1"/>
          </p:nvPr>
        </p:nvSpPr>
        <p:spPr bwMode="auto">
          <a:xfrm>
            <a:off x="1232899" y="1066801"/>
            <a:ext cx="8977901" cy="5059363"/>
          </a:xfrm>
        </p:spPr>
        <p:txBody>
          <a:bodyPr wrap="square" numCol="1" anchor="t" anchorCtr="0" compatLnSpc="1">
            <a:prstTxWarp prst="textNoShape">
              <a:avLst/>
            </a:prstTxWarp>
          </a:bodyPr>
          <a:lstStyle/>
          <a:p>
            <a:pPr marL="0" indent="0">
              <a:buNone/>
            </a:pPr>
            <a:r>
              <a:rPr lang="en-US" altLang="en-US" sz="2400" b="1" dirty="0"/>
              <a:t>2. </a:t>
            </a:r>
            <a:r>
              <a:rPr lang="en-US" altLang="en-US" sz="2400" b="1" dirty="0">
                <a:solidFill>
                  <a:schemeClr val="accent2">
                    <a:lumMod val="75000"/>
                  </a:schemeClr>
                </a:solidFill>
              </a:rPr>
              <a:t>Expectorant agents- </a:t>
            </a:r>
            <a:r>
              <a:rPr lang="en-US" altLang="en-US" sz="2400" dirty="0"/>
              <a:t>for productive cough</a:t>
            </a:r>
          </a:p>
          <a:p>
            <a:r>
              <a:rPr lang="en-US" altLang="en-US" sz="2400" dirty="0"/>
              <a:t>Expectorants are agents, which facilitate the removal of secretions of the bronchopulmonary mucous membrane. </a:t>
            </a:r>
          </a:p>
          <a:p>
            <a:r>
              <a:rPr lang="en-US" altLang="en-US" sz="2400" i="1" u="sng" dirty="0"/>
              <a:t>Stimulates secretions </a:t>
            </a:r>
            <a:r>
              <a:rPr lang="en-US" altLang="en-US" sz="2400" dirty="0"/>
              <a:t>in the respiratory tract. Expectorants are used to remove bronchial secretions which are purulent (containing pus), viscid (thick), or excessive. </a:t>
            </a:r>
          </a:p>
          <a:p>
            <a:r>
              <a:rPr lang="en-US" altLang="en-US" sz="2400" dirty="0"/>
              <a:t>The loosened material is then moved toward the pharynx through ciliary motion and coughing. </a:t>
            </a:r>
          </a:p>
          <a:p>
            <a:r>
              <a:rPr lang="en-US" altLang="en-US" sz="2400" b="1" dirty="0"/>
              <a:t>Expectorant Agents e.g.</a:t>
            </a:r>
            <a:r>
              <a:rPr lang="en-US" altLang="en-US" sz="2400" dirty="0"/>
              <a:t>: Guaifenesin, Saturated Solution of Potassium Iodide, Ipecac alkaloid </a:t>
            </a:r>
          </a:p>
        </p:txBody>
      </p:sp>
      <p:sp>
        <p:nvSpPr>
          <p:cNvPr id="3" name="Slide Number Placeholder 2">
            <a:extLst>
              <a:ext uri="{FF2B5EF4-FFF2-40B4-BE49-F238E27FC236}">
                <a16:creationId xmlns:a16="http://schemas.microsoft.com/office/drawing/2014/main" id="{7D480906-D69C-4C31-A463-0E2B0088AF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4">
            <a:extLst>
              <a:ext uri="{FF2B5EF4-FFF2-40B4-BE49-F238E27FC236}">
                <a16:creationId xmlns:a16="http://schemas.microsoft.com/office/drawing/2014/main" id="{7810FC7C-E7CD-4A90-8951-3251BFB7AF20}"/>
              </a:ext>
            </a:extLst>
          </p:cNvPr>
          <p:cNvSpPr>
            <a:spLocks noGrp="1" noChangeArrowheads="1"/>
          </p:cNvSpPr>
          <p:nvPr>
            <p:ph type="title"/>
          </p:nvPr>
        </p:nvSpPr>
        <p:spPr>
          <a:xfrm>
            <a:off x="1981200" y="274638"/>
            <a:ext cx="8229600" cy="639762"/>
          </a:xfrm>
          <a:noFill/>
        </p:spPr>
        <p:txBody>
          <a:bodyPr/>
          <a:lstStyle/>
          <a:p>
            <a:pPr algn="r"/>
            <a:r>
              <a:rPr lang="en-US" altLang="en-US" sz="3200"/>
              <a:t>Respiratory drugs cont’d</a:t>
            </a:r>
          </a:p>
        </p:txBody>
      </p:sp>
      <p:sp>
        <p:nvSpPr>
          <p:cNvPr id="165891" name="Rectangle 3">
            <a:extLst>
              <a:ext uri="{FF2B5EF4-FFF2-40B4-BE49-F238E27FC236}">
                <a16:creationId xmlns:a16="http://schemas.microsoft.com/office/drawing/2014/main" id="{7653D2DF-6183-4977-A7EE-0978FFF365E1}"/>
              </a:ext>
            </a:extLst>
          </p:cNvPr>
          <p:cNvSpPr>
            <a:spLocks noGrp="1" noChangeArrowheads="1"/>
          </p:cNvSpPr>
          <p:nvPr>
            <p:ph idx="1"/>
          </p:nvPr>
        </p:nvSpPr>
        <p:spPr>
          <a:xfrm>
            <a:off x="1068512" y="990601"/>
            <a:ext cx="9599488" cy="5135563"/>
          </a:xfrm>
        </p:spPr>
        <p:txBody>
          <a:bodyPr>
            <a:normAutofit/>
          </a:bodyPr>
          <a:lstStyle/>
          <a:p>
            <a:pPr marL="0" indent="0">
              <a:lnSpc>
                <a:spcPct val="80000"/>
              </a:lnSpc>
              <a:buNone/>
              <a:defRPr/>
            </a:pPr>
            <a:r>
              <a:rPr lang="en-US" altLang="en-US" sz="2400" dirty="0"/>
              <a:t>3. </a:t>
            </a:r>
            <a:r>
              <a:rPr lang="en-US" altLang="en-US" sz="2400" b="1" dirty="0">
                <a:solidFill>
                  <a:schemeClr val="accent2">
                    <a:lumMod val="75000"/>
                  </a:schemeClr>
                </a:solidFill>
              </a:rPr>
              <a:t>Mucolytics</a:t>
            </a:r>
          </a:p>
          <a:p>
            <a:pPr>
              <a:lnSpc>
                <a:spcPct val="80000"/>
              </a:lnSpc>
              <a:defRPr/>
            </a:pPr>
            <a:r>
              <a:rPr lang="en-US" altLang="en-US" sz="2400" dirty="0"/>
              <a:t>Mucolytics:  </a:t>
            </a:r>
            <a:r>
              <a:rPr lang="en-US" altLang="en-US" sz="2400" i="1" dirty="0"/>
              <a:t>dissolve mucous by breaking down thick </a:t>
            </a:r>
            <a:r>
              <a:rPr lang="en-US" altLang="en-US" sz="2400" dirty="0"/>
              <a:t>viscous mucus in the respiratory tract. </a:t>
            </a:r>
          </a:p>
          <a:p>
            <a:pPr>
              <a:lnSpc>
                <a:spcPct val="80000"/>
              </a:lnSpc>
              <a:defRPr/>
            </a:pPr>
            <a:r>
              <a:rPr lang="en-US" altLang="en-US" sz="2400" dirty="0"/>
              <a:t>They are used by inhalation in an attempt to reduce the viscosity (thickness) of respiratory tract fluid. </a:t>
            </a:r>
          </a:p>
          <a:p>
            <a:pPr>
              <a:lnSpc>
                <a:spcPct val="80000"/>
              </a:lnSpc>
              <a:defRPr/>
            </a:pPr>
            <a:r>
              <a:rPr lang="en-US" altLang="en-US" sz="2400" dirty="0"/>
              <a:t>The loosened material can then be moved toward the pharynx more easily by ciliary motion and coughing. Like the expectorants, the mucolytics are used in the treatment of respiratory disorders in which the secretions are purulent (contain pus), viscid, or excessive.</a:t>
            </a:r>
          </a:p>
          <a:p>
            <a:pPr>
              <a:lnSpc>
                <a:spcPct val="80000"/>
              </a:lnSpc>
              <a:defRPr/>
            </a:pPr>
            <a:r>
              <a:rPr lang="en-US" altLang="en-US" sz="2400" b="1" dirty="0"/>
              <a:t>Acetylcysteine</a:t>
            </a:r>
            <a:r>
              <a:rPr lang="en-US" altLang="en-US" sz="2400" dirty="0"/>
              <a:t>: This is a mucolytic given by inhalation or nebulization. Acetylcysteine has an unpleasant (like rotten eggs) smell. Side effects : nausea and vomiting and broncho-spasms with higher concentrations. </a:t>
            </a:r>
          </a:p>
        </p:txBody>
      </p:sp>
      <p:sp>
        <p:nvSpPr>
          <p:cNvPr id="3" name="Slide Number Placeholder 2">
            <a:extLst>
              <a:ext uri="{FF2B5EF4-FFF2-40B4-BE49-F238E27FC236}">
                <a16:creationId xmlns:a16="http://schemas.microsoft.com/office/drawing/2014/main" id="{5A9C51B3-FCF8-41E2-BCD3-EF018E5F62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5B654-D326-E972-7A62-C3C15B1F93F8}"/>
              </a:ext>
            </a:extLst>
          </p:cNvPr>
          <p:cNvSpPr>
            <a:spLocks noGrp="1"/>
          </p:cNvSpPr>
          <p:nvPr>
            <p:ph idx="1"/>
          </p:nvPr>
        </p:nvSpPr>
        <p:spPr>
          <a:xfrm>
            <a:off x="838200" y="136525"/>
            <a:ext cx="10515600" cy="6510855"/>
          </a:xfrm>
        </p:spPr>
        <p:txBody>
          <a:bodyPr>
            <a:noAutofit/>
          </a:bodyPr>
          <a:lstStyle/>
          <a:p>
            <a:pPr marL="0" indent="0" algn="l">
              <a:buNone/>
            </a:pPr>
            <a:r>
              <a:rPr lang="en-US" sz="2400" b="1" i="0" u="none" strike="noStrike" baseline="0" dirty="0">
                <a:solidFill>
                  <a:srgbClr val="7030A0"/>
                </a:solidFill>
                <a:latin typeface="+mj-lt"/>
              </a:rPr>
              <a:t>DRUGS USED TO TREAT ALLERGIC RHINITIS</a:t>
            </a:r>
          </a:p>
          <a:p>
            <a:pPr algn="l"/>
            <a:r>
              <a:rPr lang="en-US" sz="2400" b="0" i="0" u="none" strike="noStrike" baseline="0" dirty="0">
                <a:latin typeface="+mj-lt"/>
              </a:rPr>
              <a:t>Rhinitis is an inflammation of the mucous membranes of the nose</a:t>
            </a:r>
          </a:p>
          <a:p>
            <a:pPr algn="l"/>
            <a:r>
              <a:rPr lang="en-US" sz="2400" b="0" i="0" u="none" strike="noStrike" baseline="0" dirty="0">
                <a:latin typeface="+mj-lt"/>
              </a:rPr>
              <a:t>Symptoms; sneezing, itchy nose/eyes, watery rhinorrhea, nasal congestion, and sometimes, a nonproductive cough</a:t>
            </a:r>
          </a:p>
          <a:p>
            <a:pPr algn="l"/>
            <a:r>
              <a:rPr lang="en-US" sz="2400" b="0" i="0" u="none" strike="noStrike" baseline="0" dirty="0">
                <a:latin typeface="+mj-lt"/>
              </a:rPr>
              <a:t>Mechanism; mast cells release mediators, such as histamine, leukotrienes that promote bronchiolar spasm and mucosal thickening. </a:t>
            </a:r>
            <a:endParaRPr lang="en-US" sz="2400" dirty="0">
              <a:latin typeface="+mj-lt"/>
            </a:endParaRPr>
          </a:p>
          <a:p>
            <a:pPr algn="l"/>
            <a:r>
              <a:rPr lang="en-US" sz="2400" b="0" i="0" u="none" strike="noStrike" baseline="0" dirty="0">
                <a:latin typeface="+mj-lt"/>
              </a:rPr>
              <a:t>RX- Antihistamines, </a:t>
            </a:r>
            <a:r>
              <a:rPr lang="en-US" sz="2400" b="0" i="0" u="none" strike="noStrike" baseline="0" dirty="0" err="1">
                <a:latin typeface="+mj-lt"/>
              </a:rPr>
              <a:t>anticongestants</a:t>
            </a:r>
            <a:r>
              <a:rPr lang="en-US" sz="2400" b="0" i="0" u="none" strike="noStrike" baseline="0" dirty="0">
                <a:latin typeface="+mj-lt"/>
              </a:rPr>
              <a:t> and intranasal corticosteroids </a:t>
            </a:r>
          </a:p>
          <a:p>
            <a:pPr marL="0" indent="0" algn="l">
              <a:buNone/>
            </a:pPr>
            <a:r>
              <a:rPr lang="en-US" sz="2400" b="1" i="0" u="none" strike="noStrike" baseline="0" dirty="0">
                <a:latin typeface="+mj-lt"/>
              </a:rPr>
              <a:t>I. Antihistamines (H1-receptor blockers)</a:t>
            </a:r>
            <a:endParaRPr lang="en-US" sz="2400" dirty="0">
              <a:latin typeface="+mj-lt"/>
            </a:endParaRPr>
          </a:p>
          <a:p>
            <a:pPr algn="l"/>
            <a:r>
              <a:rPr lang="en-US" sz="2400" b="0" i="0" u="none" strike="noStrike" baseline="0" dirty="0">
                <a:latin typeface="+mj-lt"/>
              </a:rPr>
              <a:t>Relives allergic rhinitis caused by histamine release (sneezing, watery rhinorrhea, itchy eyes/nose).</a:t>
            </a:r>
          </a:p>
          <a:p>
            <a:pPr algn="l"/>
            <a:r>
              <a:rPr lang="en-US" sz="2400" b="1" i="0" u="none" strike="noStrike" baseline="0" dirty="0">
                <a:latin typeface="+mj-lt"/>
              </a:rPr>
              <a:t>First-generation antihistamines</a:t>
            </a:r>
            <a:r>
              <a:rPr lang="en-US" sz="2400" b="0" i="0" u="none" strike="noStrike" baseline="0" dirty="0">
                <a:latin typeface="+mj-lt"/>
              </a:rPr>
              <a:t>, such as </a:t>
            </a:r>
            <a:r>
              <a:rPr lang="en-US" sz="2400" b="0" i="1" u="none" strike="noStrike" baseline="0" dirty="0">
                <a:latin typeface="+mj-lt"/>
              </a:rPr>
              <a:t>diphenhydramine </a:t>
            </a:r>
            <a:r>
              <a:rPr lang="en-US" sz="2400" b="0" i="0" u="none" strike="noStrike" baseline="0" dirty="0">
                <a:latin typeface="+mj-lt"/>
              </a:rPr>
              <a:t>and </a:t>
            </a:r>
            <a:r>
              <a:rPr lang="en-US" sz="2400" b="0" i="1" u="none" strike="noStrike" baseline="0" dirty="0">
                <a:latin typeface="+mj-lt"/>
              </a:rPr>
              <a:t>chlorpheniramine</a:t>
            </a:r>
            <a:r>
              <a:rPr lang="en-US" sz="2400" b="0" i="0" u="none" strike="noStrike" baseline="0" dirty="0">
                <a:latin typeface="+mj-lt"/>
              </a:rPr>
              <a:t>, are usually not preferred due to adverse effects, such as sedation</a:t>
            </a:r>
          </a:p>
          <a:p>
            <a:pPr algn="l"/>
            <a:r>
              <a:rPr lang="en-US" sz="2400" b="1" i="0" u="none" strike="noStrike" baseline="0" dirty="0">
                <a:latin typeface="+mj-lt"/>
              </a:rPr>
              <a:t>The second-generation </a:t>
            </a:r>
            <a:r>
              <a:rPr lang="es-ES" sz="2400" b="1" i="0" u="none" strike="noStrike" baseline="0" dirty="0">
                <a:latin typeface="+mj-lt"/>
              </a:rPr>
              <a:t>antihistamines </a:t>
            </a:r>
            <a:r>
              <a:rPr lang="es-ES" sz="2400" b="0" i="0" u="none" strike="noStrike" baseline="0" dirty="0">
                <a:latin typeface="+mj-lt"/>
              </a:rPr>
              <a:t>(</a:t>
            </a:r>
            <a:r>
              <a:rPr lang="es-ES" sz="2400" b="0" i="1" u="none" strike="noStrike" baseline="0" dirty="0" err="1">
                <a:latin typeface="+mj-lt"/>
              </a:rPr>
              <a:t>fexofenadine</a:t>
            </a:r>
            <a:r>
              <a:rPr lang="es-ES" sz="2400" b="0" i="0" u="none" strike="noStrike" baseline="0" dirty="0">
                <a:latin typeface="+mj-lt"/>
              </a:rPr>
              <a:t>, </a:t>
            </a:r>
            <a:r>
              <a:rPr lang="es-ES" sz="2400" b="0" i="1" u="none" strike="noStrike" baseline="0" dirty="0">
                <a:latin typeface="+mj-lt"/>
              </a:rPr>
              <a:t>loratadine</a:t>
            </a:r>
            <a:r>
              <a:rPr lang="es-ES" sz="2400" b="0" i="0" u="none" strike="noStrike" baseline="0" dirty="0">
                <a:latin typeface="+mj-lt"/>
              </a:rPr>
              <a:t>, </a:t>
            </a:r>
            <a:r>
              <a:rPr lang="en-US" sz="2400" b="0" i="1" u="none" strike="noStrike" baseline="0" dirty="0">
                <a:latin typeface="+mj-lt"/>
              </a:rPr>
              <a:t>desloratadine</a:t>
            </a:r>
            <a:r>
              <a:rPr lang="en-US" sz="2400" b="0" i="0" u="none" strike="noStrike" baseline="0" dirty="0">
                <a:latin typeface="+mj-lt"/>
              </a:rPr>
              <a:t>, </a:t>
            </a:r>
            <a:r>
              <a:rPr lang="en-US" sz="2400" b="0" i="1" u="none" strike="noStrike" baseline="0" dirty="0">
                <a:latin typeface="+mj-lt"/>
              </a:rPr>
              <a:t>cetirizine</a:t>
            </a:r>
            <a:r>
              <a:rPr lang="en-US" sz="2400" b="0" i="0" u="none" strike="noStrike" baseline="0" dirty="0">
                <a:latin typeface="+mj-lt"/>
              </a:rPr>
              <a:t>) are generally better tolerated.</a:t>
            </a:r>
          </a:p>
        </p:txBody>
      </p:sp>
      <p:sp>
        <p:nvSpPr>
          <p:cNvPr id="4" name="Slide Number Placeholder 3">
            <a:extLst>
              <a:ext uri="{FF2B5EF4-FFF2-40B4-BE49-F238E27FC236}">
                <a16:creationId xmlns:a16="http://schemas.microsoft.com/office/drawing/2014/main" id="{D50C7C1D-6F12-E6BF-313E-C5FA10C7184F}"/>
              </a:ext>
            </a:extLst>
          </p:cNvPr>
          <p:cNvSpPr>
            <a:spLocks noGrp="1"/>
          </p:cNvSpPr>
          <p:nvPr>
            <p:ph type="sldNum" sz="quarter" idx="12"/>
          </p:nvPr>
        </p:nvSpPr>
        <p:spPr/>
        <p:txBody>
          <a:bodyPr/>
          <a:lstStyle/>
          <a:p>
            <a:fld id="{90203794-E402-4DE4-95AE-1208C9121EB2}" type="slidenum">
              <a:rPr lang="en-US" smtClean="0"/>
              <a:t>9</a:t>
            </a:fld>
            <a:endParaRPr lang="en-US"/>
          </a:p>
        </p:txBody>
      </p:sp>
    </p:spTree>
    <p:extLst>
      <p:ext uri="{BB962C8B-B14F-4D97-AF65-F5344CB8AC3E}">
        <p14:creationId xmlns:p14="http://schemas.microsoft.com/office/powerpoint/2010/main" val="1198210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211EE-573B-78BC-2D56-574D0AD75C27}"/>
              </a:ext>
            </a:extLst>
          </p:cNvPr>
          <p:cNvSpPr>
            <a:spLocks noGrp="1"/>
          </p:cNvSpPr>
          <p:nvPr>
            <p:ph idx="1"/>
          </p:nvPr>
        </p:nvSpPr>
        <p:spPr>
          <a:xfrm>
            <a:off x="838200" y="1500027"/>
            <a:ext cx="10515600" cy="4676936"/>
          </a:xfrm>
        </p:spPr>
        <p:txBody>
          <a:bodyPr/>
          <a:lstStyle/>
          <a:p>
            <a:pPr marL="0" indent="0" algn="l">
              <a:buNone/>
            </a:pPr>
            <a:r>
              <a:rPr lang="en-US" sz="2800" b="1" i="0" u="none" strike="noStrike" baseline="0" dirty="0">
                <a:latin typeface="+mj-lt"/>
              </a:rPr>
              <a:t>II. Corticosteroids-</a:t>
            </a:r>
            <a:r>
              <a:rPr lang="en-US" sz="2800" b="0" i="0" u="none" strike="noStrike" baseline="0" dirty="0">
                <a:latin typeface="+mj-lt"/>
              </a:rPr>
              <a:t> Intranasal corticosteroids, such as </a:t>
            </a:r>
            <a:r>
              <a:rPr lang="en-US" sz="2800" b="0" i="1" u="none" strike="noStrike" baseline="0" dirty="0">
                <a:latin typeface="+mj-lt"/>
              </a:rPr>
              <a:t>beclomethasone, budesonide, fluticasone,</a:t>
            </a:r>
          </a:p>
          <a:p>
            <a:pPr algn="l"/>
            <a:r>
              <a:rPr lang="en-US" sz="2800" b="0" i="0" u="none" strike="noStrike" baseline="0" dirty="0">
                <a:latin typeface="+mj-lt"/>
              </a:rPr>
              <a:t>They improve sneezing, itching, rhinorrhea, and nasal congestion. Systemic absorption is minimal</a:t>
            </a:r>
          </a:p>
          <a:p>
            <a:pPr algn="l"/>
            <a:endParaRPr lang="en-US" sz="2800" b="0" i="0" u="none" strike="noStrike" baseline="0" dirty="0">
              <a:latin typeface="+mj-lt"/>
            </a:endParaRPr>
          </a:p>
          <a:p>
            <a:pPr marL="0" indent="0" algn="l">
              <a:buNone/>
            </a:pPr>
            <a:r>
              <a:rPr lang="en-US" sz="2800" dirty="0">
                <a:latin typeface="+mj-lt"/>
              </a:rPr>
              <a:t>III. </a:t>
            </a:r>
            <a:r>
              <a:rPr lang="el-GR" sz="3600" b="1" i="0" u="none" strike="noStrike" baseline="0" dirty="0">
                <a:latin typeface="+mj-lt"/>
              </a:rPr>
              <a:t>α</a:t>
            </a:r>
            <a:r>
              <a:rPr lang="en-US" sz="2800" b="1" i="0" u="none" strike="noStrike" baseline="0" dirty="0">
                <a:latin typeface="+mj-lt"/>
              </a:rPr>
              <a:t>1</a:t>
            </a:r>
            <a:r>
              <a:rPr lang="el-GR" sz="2800" b="1" i="0" u="none" strike="noStrike" baseline="0" dirty="0">
                <a:latin typeface="+mj-lt"/>
              </a:rPr>
              <a:t>-</a:t>
            </a:r>
            <a:r>
              <a:rPr lang="en-US" sz="2800" b="1" i="0" u="none" strike="noStrike" baseline="0" dirty="0">
                <a:latin typeface="+mj-lt"/>
              </a:rPr>
              <a:t>Adrenergic agonists- </a:t>
            </a:r>
            <a:r>
              <a:rPr lang="en-US" sz="2800" b="0" i="0" u="none" strike="noStrike" baseline="0" dirty="0">
                <a:latin typeface="+mj-lt"/>
              </a:rPr>
              <a:t>nasal decongestants </a:t>
            </a:r>
          </a:p>
          <a:p>
            <a:pPr algn="l"/>
            <a:r>
              <a:rPr lang="en-US" sz="2800" b="0" i="1" u="none" strike="noStrike" baseline="0" dirty="0">
                <a:latin typeface="+mj-lt"/>
              </a:rPr>
              <a:t>phenylephrine</a:t>
            </a:r>
            <a:r>
              <a:rPr lang="en-US" sz="2800" b="0" i="0" u="none" strike="noStrike" baseline="0" dirty="0">
                <a:latin typeface="+mj-lt"/>
              </a:rPr>
              <a:t>, constrict dilated arterioles in the nasal mucosa and reduce airway resistance.</a:t>
            </a:r>
            <a:endParaRPr lang="en-US" sz="2800" dirty="0">
              <a:latin typeface="+mj-lt"/>
            </a:endParaRPr>
          </a:p>
          <a:p>
            <a:endParaRPr lang="en-US" dirty="0"/>
          </a:p>
        </p:txBody>
      </p:sp>
      <p:sp>
        <p:nvSpPr>
          <p:cNvPr id="4" name="Slide Number Placeholder 3">
            <a:extLst>
              <a:ext uri="{FF2B5EF4-FFF2-40B4-BE49-F238E27FC236}">
                <a16:creationId xmlns:a16="http://schemas.microsoft.com/office/drawing/2014/main" id="{5D43D31C-EB62-E218-4A05-D39D0A05AAE7}"/>
              </a:ext>
            </a:extLst>
          </p:cNvPr>
          <p:cNvSpPr>
            <a:spLocks noGrp="1"/>
          </p:cNvSpPr>
          <p:nvPr>
            <p:ph type="sldNum" sz="quarter" idx="12"/>
          </p:nvPr>
        </p:nvSpPr>
        <p:spPr/>
        <p:txBody>
          <a:bodyPr/>
          <a:lstStyle/>
          <a:p>
            <a:fld id="{90203794-E402-4DE4-95AE-1208C9121EB2}" type="slidenum">
              <a:rPr lang="en-US" smtClean="0"/>
              <a:t>10</a:t>
            </a:fld>
            <a:endParaRPr lang="en-US"/>
          </a:p>
        </p:txBody>
      </p:sp>
    </p:spTree>
    <p:extLst>
      <p:ext uri="{BB962C8B-B14F-4D97-AF65-F5344CB8AC3E}">
        <p14:creationId xmlns:p14="http://schemas.microsoft.com/office/powerpoint/2010/main" val="2108615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4">
            <a:extLst>
              <a:ext uri="{FF2B5EF4-FFF2-40B4-BE49-F238E27FC236}">
                <a16:creationId xmlns:a16="http://schemas.microsoft.com/office/drawing/2014/main" id="{5F2DF3DD-5913-4353-BF8C-7F390E643C88}"/>
              </a:ext>
            </a:extLst>
          </p:cNvPr>
          <p:cNvSpPr>
            <a:spLocks noGrp="1" noChangeArrowheads="1"/>
          </p:cNvSpPr>
          <p:nvPr>
            <p:ph type="title"/>
          </p:nvPr>
        </p:nvSpPr>
        <p:spPr>
          <a:xfrm>
            <a:off x="1981200" y="274638"/>
            <a:ext cx="8229600" cy="563562"/>
          </a:xfrm>
          <a:noFill/>
        </p:spPr>
        <p:txBody>
          <a:bodyPr/>
          <a:lstStyle/>
          <a:p>
            <a:pPr algn="r"/>
            <a:r>
              <a:rPr lang="en-US" altLang="en-US" sz="2800"/>
              <a:t>Respiratory drugs cont’d</a:t>
            </a:r>
          </a:p>
        </p:txBody>
      </p:sp>
      <p:sp>
        <p:nvSpPr>
          <p:cNvPr id="166915" name="Rectangle 3">
            <a:extLst>
              <a:ext uri="{FF2B5EF4-FFF2-40B4-BE49-F238E27FC236}">
                <a16:creationId xmlns:a16="http://schemas.microsoft.com/office/drawing/2014/main" id="{BF8E6D01-1B9F-4BC8-BE0C-DBEA9D512724}"/>
              </a:ext>
            </a:extLst>
          </p:cNvPr>
          <p:cNvSpPr>
            <a:spLocks noGrp="1" noChangeArrowheads="1"/>
          </p:cNvSpPr>
          <p:nvPr>
            <p:ph idx="1"/>
          </p:nvPr>
        </p:nvSpPr>
        <p:spPr>
          <a:xfrm>
            <a:off x="836341" y="838201"/>
            <a:ext cx="10517459" cy="5287964"/>
          </a:xfrm>
        </p:spPr>
        <p:txBody>
          <a:bodyPr>
            <a:normAutofit/>
          </a:bodyPr>
          <a:lstStyle/>
          <a:p>
            <a:pPr marL="0" indent="0">
              <a:lnSpc>
                <a:spcPct val="80000"/>
              </a:lnSpc>
              <a:buNone/>
              <a:defRPr/>
            </a:pPr>
            <a:r>
              <a:rPr lang="en-US" altLang="en-US" sz="3200" b="1" i="1" dirty="0"/>
              <a:t>Decongestants</a:t>
            </a:r>
            <a:endParaRPr lang="en-US" altLang="en-US" sz="3200" i="1" dirty="0"/>
          </a:p>
          <a:p>
            <a:pPr>
              <a:lnSpc>
                <a:spcPct val="80000"/>
              </a:lnSpc>
              <a:defRPr/>
            </a:pPr>
            <a:r>
              <a:rPr lang="en-US" altLang="en-US" sz="2400" dirty="0"/>
              <a:t>Decongestants: reduce congestion of nasal passages, which in turn open </a:t>
            </a:r>
            <a:r>
              <a:rPr lang="en-US" altLang="en-US" sz="2400" b="1" dirty="0"/>
              <a:t>clogged nasal passages </a:t>
            </a:r>
            <a:r>
              <a:rPr lang="en-US" altLang="en-US" sz="2400" dirty="0"/>
              <a:t>and enhances drainages of the sinuses. E. g of this drugs (</a:t>
            </a:r>
            <a:r>
              <a:rPr lang="en-US" altLang="en-US" sz="2400" b="1" dirty="0">
                <a:sym typeface="Symbol" panose="05050102010706020507" pitchFamily="18" charset="2"/>
              </a:rPr>
              <a:t></a:t>
            </a:r>
            <a:r>
              <a:rPr lang="en-US" altLang="en-US" sz="2400" b="1" dirty="0"/>
              <a:t>1 agonists</a:t>
            </a:r>
            <a:r>
              <a:rPr lang="en-US" altLang="en-US" sz="2400" dirty="0"/>
              <a:t>)</a:t>
            </a:r>
          </a:p>
          <a:p>
            <a:pPr>
              <a:lnSpc>
                <a:spcPct val="80000"/>
              </a:lnSpc>
              <a:defRPr/>
            </a:pPr>
            <a:r>
              <a:rPr lang="en-US" altLang="en-US" sz="2400" dirty="0"/>
              <a:t>Mechanisms of congestion; different mediators vasodilate which leads to fluids come out from vessels to surrounding tissue</a:t>
            </a:r>
          </a:p>
          <a:p>
            <a:pPr>
              <a:lnSpc>
                <a:spcPct val="80000"/>
              </a:lnSpc>
              <a:defRPr/>
            </a:pPr>
            <a:r>
              <a:rPr lang="en-US" altLang="en-US" sz="2400" b="1" dirty="0">
                <a:sym typeface="Symbol" panose="05050102010706020507" pitchFamily="18" charset="2"/>
              </a:rPr>
              <a:t></a:t>
            </a:r>
            <a:r>
              <a:rPr lang="en-US" altLang="en-US" sz="2400" b="1" dirty="0"/>
              <a:t>1 agonists- </a:t>
            </a:r>
            <a:r>
              <a:rPr lang="en-US" altLang="en-US" sz="2400" dirty="0"/>
              <a:t>produce localized vasoconstriction on small blood vessels of the nasal membrane (act on </a:t>
            </a:r>
            <a:r>
              <a:rPr lang="en-US" altLang="en-US" sz="2400" b="1" dirty="0">
                <a:sym typeface="Symbol" panose="05050102010706020507" pitchFamily="18" charset="2"/>
              </a:rPr>
              <a:t></a:t>
            </a:r>
            <a:r>
              <a:rPr lang="en-US" altLang="en-US" sz="2400" b="1" dirty="0"/>
              <a:t>1 receptors</a:t>
            </a:r>
            <a:r>
              <a:rPr lang="en-US" altLang="en-US" sz="2400" dirty="0"/>
              <a:t>)</a:t>
            </a:r>
          </a:p>
          <a:p>
            <a:pPr>
              <a:lnSpc>
                <a:spcPct val="80000"/>
              </a:lnSpc>
              <a:defRPr/>
            </a:pPr>
            <a:r>
              <a:rPr lang="en-US" altLang="en-US" sz="2400" dirty="0"/>
              <a:t>Clinical uses: allergic </a:t>
            </a:r>
            <a:r>
              <a:rPr lang="en-US" altLang="en-US" sz="2400" b="1" dirty="0"/>
              <a:t>rhinitis</a:t>
            </a:r>
            <a:r>
              <a:rPr lang="en-US" altLang="en-US" sz="2400" dirty="0"/>
              <a:t>, hay fever, </a:t>
            </a:r>
            <a:r>
              <a:rPr lang="en-US" altLang="en-US" sz="2400" b="1" dirty="0"/>
              <a:t>common cold</a:t>
            </a:r>
            <a:r>
              <a:rPr lang="en-US" altLang="en-US" sz="2400" dirty="0"/>
              <a:t>. Drugs can be administered nasally or orally for longer duration of action.</a:t>
            </a:r>
          </a:p>
          <a:p>
            <a:pPr>
              <a:lnSpc>
                <a:spcPct val="80000"/>
              </a:lnSpc>
              <a:defRPr/>
            </a:pPr>
            <a:r>
              <a:rPr lang="en-US" altLang="en-US" sz="2400" b="1" dirty="0">
                <a:sym typeface="Symbol" panose="05050102010706020507" pitchFamily="18" charset="2"/>
              </a:rPr>
              <a:t></a:t>
            </a:r>
            <a:r>
              <a:rPr lang="en-US" altLang="en-US" sz="2400" b="1" dirty="0"/>
              <a:t>1 agonists; </a:t>
            </a:r>
            <a:r>
              <a:rPr lang="en-US" altLang="en-US" sz="2400" dirty="0"/>
              <a:t>phenylephrine(topical), ephedrine(oral), pseudoephedrine (topical), xylometazoline(topical)</a:t>
            </a:r>
            <a:endParaRPr lang="en-US" altLang="en-US" dirty="0"/>
          </a:p>
        </p:txBody>
      </p:sp>
      <p:sp>
        <p:nvSpPr>
          <p:cNvPr id="3" name="Slide Number Placeholder 2">
            <a:extLst>
              <a:ext uri="{FF2B5EF4-FFF2-40B4-BE49-F238E27FC236}">
                <a16:creationId xmlns:a16="http://schemas.microsoft.com/office/drawing/2014/main" id="{524EDE37-9779-4988-804D-9557A97452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0" name="Rectangle 4">
            <a:extLst>
              <a:ext uri="{FF2B5EF4-FFF2-40B4-BE49-F238E27FC236}">
                <a16:creationId xmlns:a16="http://schemas.microsoft.com/office/drawing/2014/main" id="{39C2D86B-6D18-46AD-BD3A-E0227FC5DACC}"/>
              </a:ext>
            </a:extLst>
          </p:cNvPr>
          <p:cNvSpPr>
            <a:spLocks noGrp="1" noChangeArrowheads="1"/>
          </p:cNvSpPr>
          <p:nvPr>
            <p:ph type="title"/>
          </p:nvPr>
        </p:nvSpPr>
        <p:spPr>
          <a:xfrm>
            <a:off x="1981200" y="274638"/>
            <a:ext cx="8229600" cy="487362"/>
          </a:xfrm>
        </p:spPr>
        <p:txBody>
          <a:bodyPr rtlCol="0">
            <a:normAutofit fontScale="90000"/>
          </a:bodyPr>
          <a:lstStyle/>
          <a:p>
            <a:pPr algn="r">
              <a:defRPr/>
            </a:pPr>
            <a:r>
              <a:rPr lang="en-US" altLang="en-US" sz="3200"/>
              <a:t>Respiratory drugs cont’d</a:t>
            </a:r>
          </a:p>
        </p:txBody>
      </p:sp>
      <p:sp>
        <p:nvSpPr>
          <p:cNvPr id="164867" name="Rectangle 3">
            <a:extLst>
              <a:ext uri="{FF2B5EF4-FFF2-40B4-BE49-F238E27FC236}">
                <a16:creationId xmlns:a16="http://schemas.microsoft.com/office/drawing/2014/main" id="{60B67491-8C89-4AA7-9D33-99BAC8752200}"/>
              </a:ext>
            </a:extLst>
          </p:cNvPr>
          <p:cNvSpPr>
            <a:spLocks noGrp="1" noChangeArrowheads="1"/>
          </p:cNvSpPr>
          <p:nvPr>
            <p:ph idx="1"/>
          </p:nvPr>
        </p:nvSpPr>
        <p:spPr bwMode="auto">
          <a:xfrm>
            <a:off x="1040524" y="1143001"/>
            <a:ext cx="10405242" cy="4983163"/>
          </a:xfrm>
        </p:spPr>
        <p:txBody>
          <a:bodyPr wrap="square" numCol="1" anchor="t" anchorCtr="0" compatLnSpc="1">
            <a:prstTxWarp prst="textNoShape">
              <a:avLst/>
            </a:prstTxWarp>
          </a:bodyPr>
          <a:lstStyle/>
          <a:p>
            <a:pPr>
              <a:buFontTx/>
              <a:buNone/>
            </a:pPr>
            <a:r>
              <a:rPr lang="en-US" altLang="en-US" sz="2400" b="1" dirty="0">
                <a:solidFill>
                  <a:srgbClr val="7030A0"/>
                </a:solidFill>
                <a:latin typeface="+mj-lt"/>
              </a:rPr>
              <a:t>BRONCHIAL ASTHMA</a:t>
            </a:r>
          </a:p>
          <a:p>
            <a:pPr marL="0" indent="0" algn="l">
              <a:buNone/>
            </a:pPr>
            <a:r>
              <a:rPr lang="en-US" sz="2400" b="1" i="0" u="none" strike="noStrike" baseline="0" dirty="0">
                <a:latin typeface="+mj-lt"/>
                <a:cs typeface="Times New Roman" panose="02020603050405020304" pitchFamily="18" charset="0"/>
              </a:rPr>
              <a:t>Pathophysiology of asthma</a:t>
            </a:r>
          </a:p>
          <a:p>
            <a:pPr algn="l"/>
            <a:r>
              <a:rPr lang="en-US" sz="2200" b="0" i="0" u="none" strike="noStrike" baseline="0" dirty="0">
                <a:latin typeface="+mj-lt"/>
                <a:cs typeface="Times New Roman" panose="02020603050405020304" pitchFamily="18" charset="0"/>
              </a:rPr>
              <a:t>Airflow obstruction in asthma is due to </a:t>
            </a:r>
          </a:p>
          <a:p>
            <a:pPr lvl="1">
              <a:buFont typeface="Wingdings" panose="05000000000000000000" pitchFamily="2" charset="2"/>
              <a:buChar char="Ø"/>
            </a:pPr>
            <a:r>
              <a:rPr lang="en-US" sz="2200" b="0" i="0" u="none" strike="noStrike" baseline="0" dirty="0">
                <a:latin typeface="+mj-lt"/>
                <a:cs typeface="Times New Roman" panose="02020603050405020304" pitchFamily="18" charset="0"/>
              </a:rPr>
              <a:t>bronchoconstriction that results from contraction of bronchial smooth muscle, </a:t>
            </a:r>
          </a:p>
          <a:p>
            <a:pPr lvl="1">
              <a:buFont typeface="Wingdings" panose="05000000000000000000" pitchFamily="2" charset="2"/>
              <a:buChar char="Ø"/>
            </a:pPr>
            <a:r>
              <a:rPr lang="en-US" sz="2200" b="0" i="0" u="none" strike="noStrike" baseline="0" dirty="0">
                <a:latin typeface="+mj-lt"/>
                <a:cs typeface="Times New Roman" panose="02020603050405020304" pitchFamily="18" charset="0"/>
              </a:rPr>
              <a:t>Inflammation of the bronchial wall, and </a:t>
            </a:r>
          </a:p>
          <a:p>
            <a:pPr lvl="1">
              <a:buFont typeface="Wingdings" panose="05000000000000000000" pitchFamily="2" charset="2"/>
              <a:buChar char="Ø"/>
            </a:pPr>
            <a:r>
              <a:rPr lang="en-US" sz="2200" b="0" i="0" u="none" strike="noStrike" baseline="0" dirty="0">
                <a:latin typeface="+mj-lt"/>
                <a:cs typeface="Times New Roman" panose="02020603050405020304" pitchFamily="18" charset="0"/>
              </a:rPr>
              <a:t>increased secretion of mucus. </a:t>
            </a:r>
          </a:p>
          <a:p>
            <a:pPr algn="l"/>
            <a:r>
              <a:rPr lang="en-US" sz="2200" b="0" i="0" u="none" strike="noStrike" baseline="0" dirty="0">
                <a:latin typeface="+mj-lt"/>
                <a:cs typeface="Times New Roman" panose="02020603050405020304" pitchFamily="18" charset="0"/>
              </a:rPr>
              <a:t>The underlying inflammation of the airways contributes to airway hyperresponsiveness, airflow limitation, respiratory symptoms, and disease chronicity. </a:t>
            </a:r>
          </a:p>
          <a:p>
            <a:pPr algn="l"/>
            <a:r>
              <a:rPr lang="en-US" sz="2200" b="0" i="0" u="none" strike="noStrike" baseline="0" dirty="0">
                <a:latin typeface="+mj-lt"/>
                <a:cs typeface="Times New Roman" panose="02020603050405020304" pitchFamily="18" charset="0"/>
              </a:rPr>
              <a:t>Asthma attacks may be triggered by exposure to allergens, exercise, stress, and respiratory infections.</a:t>
            </a:r>
            <a:endParaRPr lang="en-US" sz="2200" dirty="0">
              <a:latin typeface="+mj-lt"/>
              <a:cs typeface="Times New Roman" panose="02020603050405020304" pitchFamily="18" charset="0"/>
            </a:endParaRPr>
          </a:p>
          <a:p>
            <a:pPr algn="l"/>
            <a:r>
              <a:rPr lang="en-US" sz="2200" b="0" i="0" u="none" strike="noStrike" baseline="0" dirty="0">
                <a:latin typeface="+mj-lt"/>
              </a:rPr>
              <a:t>Symptoms- shortness of breath, cough, chest tightness, wheezing,</a:t>
            </a:r>
            <a:endParaRPr lang="en-US" altLang="en-US" sz="2200" b="1" dirty="0">
              <a:latin typeface="+mj-lt"/>
            </a:endParaRPr>
          </a:p>
          <a:p>
            <a:pPr>
              <a:buFontTx/>
              <a:buNone/>
            </a:pPr>
            <a:endParaRPr lang="en-US" altLang="en-US" sz="2400" dirty="0">
              <a:latin typeface="+mj-lt"/>
            </a:endParaRPr>
          </a:p>
        </p:txBody>
      </p:sp>
      <p:sp>
        <p:nvSpPr>
          <p:cNvPr id="3" name="Slide Number Placeholder 2">
            <a:extLst>
              <a:ext uri="{FF2B5EF4-FFF2-40B4-BE49-F238E27FC236}">
                <a16:creationId xmlns:a16="http://schemas.microsoft.com/office/drawing/2014/main" id="{8C63FFC6-122D-48DE-8188-F42E3119AC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EEA576-ABE6-47C9-6262-14C30884397F}"/>
              </a:ext>
            </a:extLst>
          </p:cNvPr>
          <p:cNvSpPr>
            <a:spLocks noGrp="1"/>
          </p:cNvSpPr>
          <p:nvPr>
            <p:ph type="sldNum" sz="quarter" idx="12"/>
          </p:nvPr>
        </p:nvSpPr>
        <p:spPr/>
        <p:txBody>
          <a:bodyPr/>
          <a:lstStyle/>
          <a:p>
            <a:fld id="{90203794-E402-4DE4-95AE-1208C9121EB2}" type="slidenum">
              <a:rPr lang="en-US" smtClean="0"/>
              <a:t>13</a:t>
            </a:fld>
            <a:endParaRPr lang="en-US"/>
          </a:p>
        </p:txBody>
      </p:sp>
      <p:pic>
        <p:nvPicPr>
          <p:cNvPr id="7170" name="Picture 2">
            <a:extLst>
              <a:ext uri="{FF2B5EF4-FFF2-40B4-BE49-F238E27FC236}">
                <a16:creationId xmlns:a16="http://schemas.microsoft.com/office/drawing/2014/main" id="{29DFA94C-784D-25D6-27F1-C81E414AD0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1402" y="96206"/>
            <a:ext cx="5312078" cy="6625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495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4">
            <a:extLst>
              <a:ext uri="{FF2B5EF4-FFF2-40B4-BE49-F238E27FC236}">
                <a16:creationId xmlns:a16="http://schemas.microsoft.com/office/drawing/2014/main" id="{4BD11195-9C97-412A-9CAB-CD6C27B02E1B}"/>
              </a:ext>
            </a:extLst>
          </p:cNvPr>
          <p:cNvSpPr>
            <a:spLocks noGrp="1" noChangeArrowheads="1"/>
          </p:cNvSpPr>
          <p:nvPr>
            <p:ph type="title"/>
          </p:nvPr>
        </p:nvSpPr>
        <p:spPr>
          <a:xfrm>
            <a:off x="1981200" y="274638"/>
            <a:ext cx="8229600" cy="639762"/>
          </a:xfrm>
          <a:noFill/>
        </p:spPr>
        <p:txBody>
          <a:bodyPr/>
          <a:lstStyle/>
          <a:p>
            <a:pPr algn="r"/>
            <a:r>
              <a:rPr lang="en-US" altLang="en-US" sz="3200"/>
              <a:t>Respiratory drugs cont’d</a:t>
            </a:r>
          </a:p>
        </p:txBody>
      </p:sp>
      <p:sp>
        <p:nvSpPr>
          <p:cNvPr id="168963" name="Rectangle 3">
            <a:extLst>
              <a:ext uri="{FF2B5EF4-FFF2-40B4-BE49-F238E27FC236}">
                <a16:creationId xmlns:a16="http://schemas.microsoft.com/office/drawing/2014/main" id="{55BEA783-33DC-456F-BA2D-25296A79FD2B}"/>
              </a:ext>
            </a:extLst>
          </p:cNvPr>
          <p:cNvSpPr>
            <a:spLocks noGrp="1" noChangeArrowheads="1"/>
          </p:cNvSpPr>
          <p:nvPr>
            <p:ph idx="1"/>
          </p:nvPr>
        </p:nvSpPr>
        <p:spPr>
          <a:xfrm>
            <a:off x="838200" y="1103586"/>
            <a:ext cx="10515600" cy="5073377"/>
          </a:xfrm>
        </p:spPr>
        <p:txBody>
          <a:bodyPr>
            <a:normAutofit/>
          </a:bodyPr>
          <a:lstStyle/>
          <a:p>
            <a:pPr>
              <a:defRPr/>
            </a:pPr>
            <a:r>
              <a:rPr lang="en-US" altLang="en-US" sz="2400" b="1" dirty="0"/>
              <a:t>PHARMACOTHERAPY OF BRONCHIAL ASTHMA</a:t>
            </a:r>
          </a:p>
          <a:p>
            <a:pPr>
              <a:buNone/>
              <a:defRPr/>
            </a:pPr>
            <a:r>
              <a:rPr lang="en-US" altLang="en-US" sz="2400" dirty="0"/>
              <a:t>	1. Bronchodilators</a:t>
            </a:r>
          </a:p>
          <a:p>
            <a:pPr>
              <a:buNone/>
              <a:defRPr/>
            </a:pPr>
            <a:r>
              <a:rPr lang="en-US" altLang="en-US" sz="2400" dirty="0"/>
              <a:t>		a. </a:t>
            </a:r>
            <a:r>
              <a:rPr lang="en-US" altLang="en-US" sz="2400" dirty="0">
                <a:sym typeface="Symbol" panose="05050102010706020507" pitchFamily="18" charset="2"/>
              </a:rPr>
              <a:t></a:t>
            </a:r>
            <a:r>
              <a:rPr lang="en-US" altLang="en-US" sz="1800" dirty="0">
                <a:sym typeface="Symbol" panose="05050102010706020507" pitchFamily="18" charset="2"/>
              </a:rPr>
              <a:t>2</a:t>
            </a:r>
            <a:r>
              <a:rPr lang="en-US" altLang="en-US" sz="2400" dirty="0"/>
              <a:t>-adrenergic agonist </a:t>
            </a:r>
          </a:p>
          <a:p>
            <a:pPr>
              <a:buNone/>
              <a:defRPr/>
            </a:pPr>
            <a:r>
              <a:rPr lang="en-US" altLang="en-US" sz="2400" dirty="0"/>
              <a:t>		b. Methylxanthine: theophylline </a:t>
            </a:r>
          </a:p>
          <a:p>
            <a:pPr>
              <a:buNone/>
              <a:defRPr/>
            </a:pPr>
            <a:r>
              <a:rPr lang="en-US" altLang="en-US" sz="2400" dirty="0"/>
              <a:t>		c. Muscarinic receptor antagonists e.g. Ipratropium 	bromide</a:t>
            </a:r>
          </a:p>
          <a:p>
            <a:pPr>
              <a:buNone/>
              <a:defRPr/>
            </a:pPr>
            <a:r>
              <a:rPr lang="en-US" altLang="en-US" sz="2400" dirty="0"/>
              <a:t>	2. Anti-inflammatory agents: corticosteroids</a:t>
            </a:r>
          </a:p>
          <a:p>
            <a:pPr>
              <a:buNone/>
              <a:defRPr/>
            </a:pPr>
            <a:r>
              <a:rPr lang="en-US" altLang="en-US" sz="2400" dirty="0"/>
              <a:t>	3. Mast cell stabilizers e.g. cromolyn sodium, nedocromil, ketotifen</a:t>
            </a:r>
          </a:p>
        </p:txBody>
      </p:sp>
      <p:sp>
        <p:nvSpPr>
          <p:cNvPr id="3" name="Slide Number Placeholder 2">
            <a:extLst>
              <a:ext uri="{FF2B5EF4-FFF2-40B4-BE49-F238E27FC236}">
                <a16:creationId xmlns:a16="http://schemas.microsoft.com/office/drawing/2014/main" id="{E633CB34-EBF8-4743-B4DE-92B7CBFDAE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6A915F-1F2A-E94D-327E-DBC7B8EABE17}"/>
              </a:ext>
            </a:extLst>
          </p:cNvPr>
          <p:cNvSpPr>
            <a:spLocks noGrp="1"/>
          </p:cNvSpPr>
          <p:nvPr>
            <p:ph type="sldNum" sz="quarter" idx="12"/>
          </p:nvPr>
        </p:nvSpPr>
        <p:spPr/>
        <p:txBody>
          <a:bodyPr/>
          <a:lstStyle/>
          <a:p>
            <a:fld id="{90203794-E402-4DE4-95AE-1208C9121EB2}" type="slidenum">
              <a:rPr lang="en-US" smtClean="0"/>
              <a:t>15</a:t>
            </a:fld>
            <a:endParaRPr lang="en-US"/>
          </a:p>
        </p:txBody>
      </p:sp>
      <p:pic>
        <p:nvPicPr>
          <p:cNvPr id="8194" name="Picture 2">
            <a:extLst>
              <a:ext uri="{FF2B5EF4-FFF2-40B4-BE49-F238E27FC236}">
                <a16:creationId xmlns:a16="http://schemas.microsoft.com/office/drawing/2014/main" id="{BB26F0B6-AF3B-7C2E-CCA5-4C1FB2992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227" y="192275"/>
            <a:ext cx="9256735" cy="6595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644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4">
            <a:extLst>
              <a:ext uri="{FF2B5EF4-FFF2-40B4-BE49-F238E27FC236}">
                <a16:creationId xmlns:a16="http://schemas.microsoft.com/office/drawing/2014/main" id="{ECBF99EC-801F-4318-BA2B-2CE5BA0860D8}"/>
              </a:ext>
            </a:extLst>
          </p:cNvPr>
          <p:cNvSpPr>
            <a:spLocks noGrp="1" noChangeArrowheads="1"/>
          </p:cNvSpPr>
          <p:nvPr>
            <p:ph type="title"/>
          </p:nvPr>
        </p:nvSpPr>
        <p:spPr>
          <a:xfrm>
            <a:off x="1981200" y="274638"/>
            <a:ext cx="8229600" cy="792162"/>
          </a:xfrm>
          <a:noFill/>
        </p:spPr>
        <p:txBody>
          <a:bodyPr/>
          <a:lstStyle/>
          <a:p>
            <a:pPr algn="r"/>
            <a:r>
              <a:rPr lang="en-US" altLang="en-US" sz="3200"/>
              <a:t>Respiratory drugs cont’d</a:t>
            </a:r>
          </a:p>
        </p:txBody>
      </p:sp>
      <p:sp>
        <p:nvSpPr>
          <p:cNvPr id="166915" name="Rectangle 3">
            <a:extLst>
              <a:ext uri="{FF2B5EF4-FFF2-40B4-BE49-F238E27FC236}">
                <a16:creationId xmlns:a16="http://schemas.microsoft.com/office/drawing/2014/main" id="{C90C2FA5-AD51-4BB2-8AB4-6D77CE8C92D4}"/>
              </a:ext>
            </a:extLst>
          </p:cNvPr>
          <p:cNvSpPr>
            <a:spLocks noGrp="1" noChangeArrowheads="1"/>
          </p:cNvSpPr>
          <p:nvPr>
            <p:ph idx="1"/>
          </p:nvPr>
        </p:nvSpPr>
        <p:spPr bwMode="auto">
          <a:xfrm>
            <a:off x="838200" y="1387366"/>
            <a:ext cx="10515600" cy="4789597"/>
          </a:xfrm>
        </p:spPr>
        <p:txBody>
          <a:bodyPr wrap="square" numCol="1" anchor="t" anchorCtr="0" compatLnSpc="1">
            <a:prstTxWarp prst="textNoShape">
              <a:avLst/>
            </a:prstTxWarp>
            <a:normAutofit/>
          </a:bodyPr>
          <a:lstStyle/>
          <a:p>
            <a:pPr>
              <a:buFontTx/>
              <a:buNone/>
            </a:pPr>
            <a:r>
              <a:rPr lang="en-US" altLang="en-US" b="1" dirty="0"/>
              <a:t>1. Bronchodilator agents</a:t>
            </a:r>
            <a:endParaRPr lang="en-US" altLang="en-US" dirty="0"/>
          </a:p>
          <a:p>
            <a:r>
              <a:rPr lang="en-US" altLang="en-US" dirty="0"/>
              <a:t>The bronchodilators are agents that cause expansion of the air passages of the lungs. This allows the patient to breathe more easily and are of value in overcoming acute bronchospasms. </a:t>
            </a:r>
          </a:p>
          <a:p>
            <a:r>
              <a:rPr lang="en-US" altLang="en-US" dirty="0"/>
              <a:t>They are employed as adjuncts in prophylactic and symptomatic treatment of the individual complications of obstructive pulmonary diseases such as asthma, bronchitis, and emphysema.</a:t>
            </a:r>
          </a:p>
          <a:p>
            <a:pPr>
              <a:buFontTx/>
              <a:buNone/>
            </a:pPr>
            <a:endParaRPr lang="en-US" altLang="en-US" dirty="0"/>
          </a:p>
        </p:txBody>
      </p:sp>
      <p:sp>
        <p:nvSpPr>
          <p:cNvPr id="3" name="Slide Number Placeholder 2">
            <a:extLst>
              <a:ext uri="{FF2B5EF4-FFF2-40B4-BE49-F238E27FC236}">
                <a16:creationId xmlns:a16="http://schemas.microsoft.com/office/drawing/2014/main" id="{E647DA4B-41D0-473D-B9A7-893375ABB8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a:extLst>
              <a:ext uri="{FF2B5EF4-FFF2-40B4-BE49-F238E27FC236}">
                <a16:creationId xmlns:a16="http://schemas.microsoft.com/office/drawing/2014/main" id="{0B3E0578-AC6D-40A0-8A92-8C9BD202C864}"/>
              </a:ext>
            </a:extLst>
          </p:cNvPr>
          <p:cNvSpPr>
            <a:spLocks noGrp="1" noChangeArrowheads="1"/>
          </p:cNvSpPr>
          <p:nvPr>
            <p:ph idx="1"/>
          </p:nvPr>
        </p:nvSpPr>
        <p:spPr bwMode="auto">
          <a:xfrm>
            <a:off x="838200" y="136525"/>
            <a:ext cx="10880834" cy="6721475"/>
          </a:xfrm>
        </p:spPr>
        <p:txBody>
          <a:bodyPr wrap="square" numCol="1" anchor="t" anchorCtr="0" compatLnSpc="1">
            <a:prstTxWarp prst="textNoShape">
              <a:avLst/>
            </a:prstTxWarp>
            <a:normAutofit/>
          </a:bodyPr>
          <a:lstStyle/>
          <a:p>
            <a:pPr marL="514350" indent="-514350">
              <a:lnSpc>
                <a:spcPct val="80000"/>
              </a:lnSpc>
              <a:buAutoNum type="alphaUcPeriod"/>
            </a:pPr>
            <a:r>
              <a:rPr lang="en-US" altLang="en-US" sz="2500" b="1" dirty="0"/>
              <a:t>Sympathomimetics: </a:t>
            </a:r>
            <a:r>
              <a:rPr lang="en-US" altLang="en-US" sz="2500" dirty="0"/>
              <a:t>Sympathomimetic bronchodilators act by relaxing contractions of the smooth muscle of the bronchioles</a:t>
            </a:r>
          </a:p>
          <a:p>
            <a:pPr>
              <a:lnSpc>
                <a:spcPct val="80000"/>
              </a:lnSpc>
            </a:pPr>
            <a:r>
              <a:rPr lang="en-US" altLang="en-US" sz="2500" dirty="0"/>
              <a:t>Mechanism- bind with </a:t>
            </a:r>
            <a:r>
              <a:rPr lang="el-GR" sz="2500" i="0" u="none" strike="noStrike" baseline="0" dirty="0"/>
              <a:t>β2</a:t>
            </a:r>
            <a:r>
              <a:rPr lang="en-US" sz="2500" i="0" u="none" strike="noStrike" baseline="0" dirty="0"/>
              <a:t> receptors and </a:t>
            </a:r>
            <a:r>
              <a:rPr lang="en-US" sz="2400" dirty="0"/>
              <a:t>↑cAMP then relax/dilate bronchioles</a:t>
            </a:r>
            <a:endParaRPr lang="en-US" altLang="en-US" sz="2500" dirty="0"/>
          </a:p>
          <a:p>
            <a:pPr marL="0" indent="0">
              <a:lnSpc>
                <a:spcPct val="80000"/>
              </a:lnSpc>
              <a:buNone/>
            </a:pPr>
            <a:r>
              <a:rPr lang="en-US" altLang="en-US" sz="2500" dirty="0"/>
              <a:t>i. </a:t>
            </a:r>
            <a:r>
              <a:rPr lang="en-US" sz="2500" b="1" i="0" u="none" strike="noStrike" baseline="0" dirty="0">
                <a:solidFill>
                  <a:schemeClr val="accent2">
                    <a:lumMod val="75000"/>
                  </a:schemeClr>
                </a:solidFill>
              </a:rPr>
              <a:t>Short-acting </a:t>
            </a:r>
            <a:r>
              <a:rPr lang="el-GR" sz="2500" b="1" i="0" u="none" strike="noStrike" baseline="0" dirty="0">
                <a:solidFill>
                  <a:schemeClr val="accent2">
                    <a:lumMod val="75000"/>
                  </a:schemeClr>
                </a:solidFill>
              </a:rPr>
              <a:t>β2 </a:t>
            </a:r>
            <a:r>
              <a:rPr lang="en-US" sz="2500" b="1" i="0" u="none" strike="noStrike" baseline="0" dirty="0">
                <a:solidFill>
                  <a:schemeClr val="accent2">
                    <a:lumMod val="75000"/>
                  </a:schemeClr>
                </a:solidFill>
              </a:rPr>
              <a:t>agonists (SABAs)- </a:t>
            </a:r>
            <a:r>
              <a:rPr lang="en-US" altLang="en-US" sz="2500" dirty="0"/>
              <a:t>Albuterol/salbutamol:   </a:t>
            </a:r>
          </a:p>
          <a:p>
            <a:pPr lvl="1">
              <a:lnSpc>
                <a:spcPct val="80000"/>
              </a:lnSpc>
              <a:buFont typeface="Wingdings" panose="05000000000000000000" pitchFamily="2" charset="2"/>
              <a:buChar char="Ø"/>
            </a:pPr>
            <a:r>
              <a:rPr lang="en-US" altLang="en-US" sz="2500" dirty="0"/>
              <a:t> used for quick relief of bronchospasm and in the prevention of exercise-induced bronchospasm. </a:t>
            </a:r>
          </a:p>
          <a:p>
            <a:pPr lvl="1">
              <a:lnSpc>
                <a:spcPct val="80000"/>
              </a:lnSpc>
              <a:buFont typeface="Wingdings" panose="05000000000000000000" pitchFamily="2" charset="2"/>
              <a:buChar char="Ø"/>
            </a:pPr>
            <a:r>
              <a:rPr lang="en-US" altLang="en-US" sz="2500" dirty="0"/>
              <a:t>Albuterol is available as an inhalation aerosol, it is prescribed every 4 to 6hours. Albuterol is often used as “rescue therapy” due to its quick onset of action.</a:t>
            </a:r>
          </a:p>
          <a:p>
            <a:pPr marL="0" indent="0" algn="l">
              <a:buNone/>
            </a:pPr>
            <a:r>
              <a:rPr lang="en-US" altLang="en-US" sz="2500" b="1" dirty="0"/>
              <a:t>ii. </a:t>
            </a:r>
            <a:r>
              <a:rPr lang="en-US" sz="2500" b="1" i="0" u="none" strike="noStrike" baseline="0" dirty="0">
                <a:solidFill>
                  <a:schemeClr val="accent2">
                    <a:lumMod val="75000"/>
                  </a:schemeClr>
                </a:solidFill>
              </a:rPr>
              <a:t>long-acting </a:t>
            </a:r>
            <a:r>
              <a:rPr lang="el-GR" sz="2500" b="1" i="0" u="none" strike="noStrike" baseline="0" dirty="0">
                <a:solidFill>
                  <a:schemeClr val="accent2">
                    <a:lumMod val="75000"/>
                  </a:schemeClr>
                </a:solidFill>
              </a:rPr>
              <a:t>β2 </a:t>
            </a:r>
            <a:r>
              <a:rPr lang="en-US" sz="2500" b="1" i="0" u="none" strike="noStrike" baseline="0" dirty="0">
                <a:solidFill>
                  <a:schemeClr val="accent2">
                    <a:lumMod val="75000"/>
                  </a:schemeClr>
                </a:solidFill>
              </a:rPr>
              <a:t>agonists (LABAs)-</a:t>
            </a:r>
            <a:r>
              <a:rPr lang="en-US" altLang="en-US" sz="2500" dirty="0"/>
              <a:t>Salmeterol: is indicated for the same conditions as albuterol, but have </a:t>
            </a:r>
            <a:r>
              <a:rPr lang="en-US" sz="2500" b="0" i="0" u="none" strike="noStrike" baseline="0" dirty="0"/>
              <a:t>long duration of action, providing bronchodilation for many hours</a:t>
            </a:r>
            <a:endParaRPr lang="en-US" altLang="en-US" sz="2500" dirty="0"/>
          </a:p>
          <a:p>
            <a:pPr>
              <a:lnSpc>
                <a:spcPct val="80000"/>
              </a:lnSpc>
              <a:buFontTx/>
              <a:buNone/>
            </a:pPr>
            <a:r>
              <a:rPr lang="en-US" altLang="en-US" sz="2500" b="1" dirty="0"/>
              <a:t>iii. </a:t>
            </a:r>
            <a:r>
              <a:rPr lang="en-US" altLang="en-US" sz="2500" b="1" dirty="0">
                <a:solidFill>
                  <a:schemeClr val="accent2">
                    <a:lumMod val="75000"/>
                  </a:schemeClr>
                </a:solidFill>
              </a:rPr>
              <a:t>Epinephrine</a:t>
            </a:r>
            <a:r>
              <a:rPr lang="en-US" altLang="en-US" sz="2500" dirty="0"/>
              <a:t>: is used as a bronchodilator because of its beta effects on the bronchi. Epinephrine is employed for the treatment of acute attacks of bronchospasms associated with emphysema, bronchitis, or anaphylaxis. Epinephrine is usually administered I.V or S.C</a:t>
            </a:r>
          </a:p>
          <a:p>
            <a:pPr>
              <a:lnSpc>
                <a:spcPct val="80000"/>
              </a:lnSpc>
            </a:pPr>
            <a:endParaRPr lang="en-US" altLang="en-US" sz="2500" dirty="0"/>
          </a:p>
        </p:txBody>
      </p:sp>
      <p:sp>
        <p:nvSpPr>
          <p:cNvPr id="3" name="Slide Number Placeholder 2">
            <a:extLst>
              <a:ext uri="{FF2B5EF4-FFF2-40B4-BE49-F238E27FC236}">
                <a16:creationId xmlns:a16="http://schemas.microsoft.com/office/drawing/2014/main" id="{CC5C79A0-380F-42EC-A6E1-283AB51917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a:extLst>
              <a:ext uri="{FF2B5EF4-FFF2-40B4-BE49-F238E27FC236}">
                <a16:creationId xmlns:a16="http://schemas.microsoft.com/office/drawing/2014/main" id="{F51BCDA4-4E51-4CA5-B65D-02D0ABC549AD}"/>
              </a:ext>
            </a:extLst>
          </p:cNvPr>
          <p:cNvSpPr>
            <a:spLocks noGrp="1" noChangeArrowheads="1"/>
          </p:cNvSpPr>
          <p:nvPr>
            <p:ph idx="1"/>
          </p:nvPr>
        </p:nvSpPr>
        <p:spPr bwMode="auto">
          <a:xfrm>
            <a:off x="903891" y="584791"/>
            <a:ext cx="10562896" cy="5949824"/>
          </a:xfrm>
        </p:spPr>
        <p:txBody>
          <a:bodyPr wrap="square" numCol="1" anchor="t" anchorCtr="0" compatLnSpc="1">
            <a:prstTxWarp prst="textNoShape">
              <a:avLst/>
            </a:prstTxWarp>
            <a:noAutofit/>
          </a:bodyPr>
          <a:lstStyle/>
          <a:p>
            <a:pPr>
              <a:lnSpc>
                <a:spcPct val="80000"/>
              </a:lnSpc>
              <a:buNone/>
            </a:pPr>
            <a:r>
              <a:rPr lang="en-US" altLang="en-US" sz="2450" dirty="0"/>
              <a:t>B. </a:t>
            </a:r>
            <a:r>
              <a:rPr lang="en-US" altLang="en-US" sz="2450" b="1" dirty="0"/>
              <a:t>Methylxanthine drugs: </a:t>
            </a:r>
            <a:r>
              <a:rPr lang="en-US" altLang="en-US" sz="2450" dirty="0"/>
              <a:t>are </a:t>
            </a:r>
            <a:r>
              <a:rPr lang="en-US" sz="2450" i="0" dirty="0">
                <a:effectLst/>
              </a:rPr>
              <a:t>adenosine receptor antagonists</a:t>
            </a:r>
            <a:endParaRPr lang="en-US" altLang="en-US" sz="2450" dirty="0"/>
          </a:p>
          <a:p>
            <a:pPr>
              <a:lnSpc>
                <a:spcPct val="80000"/>
              </a:lnSpc>
              <a:buFontTx/>
              <a:buNone/>
            </a:pPr>
            <a:r>
              <a:rPr lang="en-US" altLang="en-US" sz="2450" dirty="0"/>
              <a:t>	directly relax the smooth muscle of the bronchi(bronchodilation) and pulmonary blood vessels</a:t>
            </a:r>
          </a:p>
          <a:p>
            <a:pPr>
              <a:lnSpc>
                <a:spcPct val="80000"/>
              </a:lnSpc>
            </a:pPr>
            <a:r>
              <a:rPr lang="en-US" altLang="en-US" sz="2450" dirty="0"/>
              <a:t>Mechanism- </a:t>
            </a:r>
            <a:r>
              <a:rPr lang="en-US" sz="2450" dirty="0"/>
              <a:t>Inhibit PDE4 →↑cAMP and cGMP→</a:t>
            </a:r>
            <a:r>
              <a:rPr lang="sr-Cyrl-CS" sz="2450" dirty="0"/>
              <a:t>relaxation of smooth muscle</a:t>
            </a:r>
            <a:r>
              <a:rPr lang="en-US" sz="2450" dirty="0"/>
              <a:t> and also block adenosine rec</a:t>
            </a:r>
            <a:endParaRPr lang="en-US" altLang="en-US" sz="2450" dirty="0"/>
          </a:p>
          <a:p>
            <a:pPr>
              <a:lnSpc>
                <a:spcPct val="80000"/>
              </a:lnSpc>
            </a:pPr>
            <a:r>
              <a:rPr lang="en-US" altLang="en-US" sz="2450" dirty="0"/>
              <a:t>ADR- headache, arrhythmia, seizure </a:t>
            </a:r>
          </a:p>
          <a:p>
            <a:pPr>
              <a:lnSpc>
                <a:spcPct val="80000"/>
              </a:lnSpc>
            </a:pPr>
            <a:r>
              <a:rPr lang="en-US" altLang="en-US" sz="2450" b="1" dirty="0"/>
              <a:t>narrow therapeutic index </a:t>
            </a:r>
            <a:r>
              <a:rPr lang="en-US" altLang="en-US" sz="2450" dirty="0"/>
              <a:t>thus</a:t>
            </a:r>
            <a:r>
              <a:rPr lang="en-US" altLang="en-US" sz="2450" b="1" dirty="0"/>
              <a:t> </a:t>
            </a:r>
            <a:r>
              <a:rPr lang="en-US" altLang="en-US" sz="2450" dirty="0"/>
              <a:t>theophylline blood levels monitored on a routine basis. </a:t>
            </a:r>
          </a:p>
          <a:p>
            <a:pPr marL="457200" indent="-457200">
              <a:lnSpc>
                <a:spcPct val="80000"/>
              </a:lnSpc>
              <a:buFontTx/>
              <a:buAutoNum type="arabicParenBoth"/>
            </a:pPr>
            <a:r>
              <a:rPr lang="en-US" altLang="en-US" sz="2450" b="1" i="1" dirty="0"/>
              <a:t>Theophylline</a:t>
            </a:r>
            <a:r>
              <a:rPr lang="en-US" altLang="en-US" sz="2450" dirty="0"/>
              <a:t>: is often prescribed as the xanthine of choice for oral administration (tablets, capsules, syrup, or solution). </a:t>
            </a:r>
          </a:p>
          <a:p>
            <a:pPr marL="457200" indent="-457200">
              <a:lnSpc>
                <a:spcPct val="80000"/>
              </a:lnSpc>
              <a:buFontTx/>
              <a:buAutoNum type="arabicParenBoth"/>
            </a:pPr>
            <a:r>
              <a:rPr lang="en-US" altLang="en-US" sz="2450" b="1" i="1" dirty="0"/>
              <a:t>Aminophylline</a:t>
            </a:r>
            <a:r>
              <a:rPr lang="en-US" altLang="en-US" sz="2450" dirty="0"/>
              <a:t>:  is a xanthine derivative containing ~80% </a:t>
            </a:r>
            <a:r>
              <a:rPr lang="en-US" altLang="en-US" sz="2450" b="1" dirty="0"/>
              <a:t>theophylline</a:t>
            </a:r>
            <a:r>
              <a:rPr lang="en-US" altLang="en-US" sz="2450" dirty="0"/>
              <a:t> and 20% </a:t>
            </a:r>
            <a:r>
              <a:rPr lang="en-US" sz="2450" b="1" i="0" dirty="0">
                <a:solidFill>
                  <a:srgbClr val="202124"/>
                </a:solidFill>
                <a:effectLst/>
              </a:rPr>
              <a:t>ethylenediamin</a:t>
            </a:r>
            <a:r>
              <a:rPr lang="en-US" sz="2450" b="0" i="0" dirty="0">
                <a:solidFill>
                  <a:srgbClr val="202124"/>
                </a:solidFill>
                <a:effectLst/>
              </a:rPr>
              <a:t>e</a:t>
            </a:r>
            <a:r>
              <a:rPr lang="en-US" altLang="en-US" sz="2450" dirty="0"/>
              <a:t>. It is less potent and short acting than theophylline. It will also relieve bronchospasms associated with emphysema and bronchitis. Aminophylline is generally administered intravenously (I.V.) to relieve acute bronchospasms or status asthmaticus resistant to adrenergic drugs.</a:t>
            </a:r>
          </a:p>
        </p:txBody>
      </p:sp>
      <p:sp>
        <p:nvSpPr>
          <p:cNvPr id="3" name="Slide Number Placeholder 2">
            <a:extLst>
              <a:ext uri="{FF2B5EF4-FFF2-40B4-BE49-F238E27FC236}">
                <a16:creationId xmlns:a16="http://schemas.microsoft.com/office/drawing/2014/main" id="{E01DF0BA-12D9-4A66-8059-8B2645FE791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a:extLst>
              <a:ext uri="{FF2B5EF4-FFF2-40B4-BE49-F238E27FC236}">
                <a16:creationId xmlns:a16="http://schemas.microsoft.com/office/drawing/2014/main" id="{7C7DEF9B-FC37-4382-A341-F6320FBA4410}"/>
              </a:ext>
            </a:extLst>
          </p:cNvPr>
          <p:cNvSpPr>
            <a:spLocks noGrp="1" noChangeArrowheads="1"/>
          </p:cNvSpPr>
          <p:nvPr>
            <p:ph idx="1"/>
          </p:nvPr>
        </p:nvSpPr>
        <p:spPr>
          <a:xfrm>
            <a:off x="602167" y="501805"/>
            <a:ext cx="11218126" cy="5624359"/>
          </a:xfrm>
        </p:spPr>
        <p:txBody>
          <a:bodyPr>
            <a:normAutofit/>
          </a:bodyPr>
          <a:lstStyle/>
          <a:p>
            <a:pPr>
              <a:lnSpc>
                <a:spcPct val="80000"/>
              </a:lnSpc>
              <a:buNone/>
              <a:defRPr/>
            </a:pPr>
            <a:r>
              <a:rPr lang="en-US" altLang="en-US" sz="2400" b="1" dirty="0"/>
              <a:t>C. Muscarinic receptor antagonists:</a:t>
            </a:r>
            <a:endParaRPr lang="en-US" altLang="en-US" sz="2400" dirty="0"/>
          </a:p>
          <a:p>
            <a:pPr>
              <a:lnSpc>
                <a:spcPct val="80000"/>
              </a:lnSpc>
              <a:buNone/>
              <a:defRPr/>
            </a:pPr>
            <a:r>
              <a:rPr lang="en-US" altLang="en-US" sz="2400" dirty="0"/>
              <a:t>- Competitively inhibit acetylcholine binding at muscarinic receptor</a:t>
            </a:r>
          </a:p>
          <a:p>
            <a:pPr>
              <a:lnSpc>
                <a:spcPct val="80000"/>
              </a:lnSpc>
              <a:buFontTx/>
              <a:buChar char="-"/>
              <a:defRPr/>
            </a:pPr>
            <a:r>
              <a:rPr lang="en-US" altLang="en-US" sz="2400" dirty="0"/>
              <a:t>block </a:t>
            </a:r>
            <a:r>
              <a:rPr lang="en-US" altLang="en-US" sz="2400" i="1" u="sng" dirty="0"/>
              <a:t>vagal</a:t>
            </a:r>
            <a:r>
              <a:rPr lang="en-US" altLang="en-US" sz="2400" dirty="0"/>
              <a:t> activity…less contraction of air way smooth muscle and reduce secretion of mucus</a:t>
            </a:r>
          </a:p>
          <a:p>
            <a:pPr>
              <a:lnSpc>
                <a:spcPct val="80000"/>
              </a:lnSpc>
              <a:buFontTx/>
              <a:buChar char="-"/>
              <a:defRPr/>
            </a:pPr>
            <a:r>
              <a:rPr lang="en-US" altLang="en-US" sz="2400" u="sng" dirty="0"/>
              <a:t>Systemic adverse effects </a:t>
            </a:r>
            <a:r>
              <a:rPr lang="en-US" altLang="en-US" sz="2400" dirty="0"/>
              <a:t>as a result of rapid absorption include urinary retention, tachycardia, loss of accommodation and agitation and local effects like dryness of mouth limit its use.</a:t>
            </a:r>
          </a:p>
          <a:p>
            <a:pPr>
              <a:lnSpc>
                <a:spcPct val="80000"/>
              </a:lnSpc>
              <a:buNone/>
              <a:defRPr/>
            </a:pPr>
            <a:r>
              <a:rPr lang="en-US" altLang="en-US" sz="2400" b="1" i="1" dirty="0"/>
              <a:t>- Ipratropium bromide </a:t>
            </a:r>
            <a:r>
              <a:rPr lang="en-US" altLang="en-US" sz="2400" dirty="0"/>
              <a:t>is poorly absorbed and does not enter CNS thus permits the delivery of high doses; it can be used for bronchial asthma</a:t>
            </a:r>
          </a:p>
          <a:p>
            <a:pPr>
              <a:lnSpc>
                <a:spcPct val="80000"/>
              </a:lnSpc>
              <a:buNone/>
              <a:defRPr/>
            </a:pPr>
            <a:r>
              <a:rPr lang="en-US" altLang="en-US" sz="2400" dirty="0"/>
              <a:t>- antimuscarinic antagonist  drugs appear to be less effective than </a:t>
            </a:r>
            <a:r>
              <a:rPr lang="en-US" altLang="en-US" sz="2400" dirty="0">
                <a:sym typeface="Symbol" panose="05050102010706020507" pitchFamily="18" charset="2"/>
              </a:rPr>
              <a:t></a:t>
            </a:r>
            <a:r>
              <a:rPr lang="en-US" altLang="en-US" sz="2400" dirty="0"/>
              <a:t>-agonists in reversing  asthmatic bronchospasm</a:t>
            </a:r>
          </a:p>
          <a:p>
            <a:pPr>
              <a:lnSpc>
                <a:spcPct val="80000"/>
              </a:lnSpc>
              <a:buNone/>
              <a:defRPr/>
            </a:pPr>
            <a:r>
              <a:rPr lang="en-US" altLang="en-US" sz="2400" dirty="0"/>
              <a:t>- The antimuscarinic agents appear to be significant value in chronic obstructive pulmonary diseases more than asthma</a:t>
            </a:r>
          </a:p>
          <a:p>
            <a:pPr marL="0" indent="0">
              <a:lnSpc>
                <a:spcPct val="80000"/>
              </a:lnSpc>
              <a:buNone/>
              <a:defRPr/>
            </a:pPr>
            <a:r>
              <a:rPr lang="en-US" altLang="en-US" sz="2400" dirty="0"/>
              <a:t>- They are useful as alternative therapies for patients </a:t>
            </a:r>
            <a:r>
              <a:rPr lang="en-US" altLang="en-US" sz="2400" b="1" i="1" dirty="0"/>
              <a:t>intolerant of </a:t>
            </a:r>
            <a:r>
              <a:rPr lang="en-US" altLang="en-US" sz="2400" b="1" i="1" dirty="0">
                <a:sym typeface="Symbol" panose="05050102010706020507" pitchFamily="18" charset="2"/>
              </a:rPr>
              <a:t></a:t>
            </a:r>
            <a:r>
              <a:rPr lang="en-US" altLang="en-US" sz="2400" b="1" i="1" dirty="0"/>
              <a:t>- agonists.</a:t>
            </a:r>
          </a:p>
        </p:txBody>
      </p:sp>
      <p:sp>
        <p:nvSpPr>
          <p:cNvPr id="3" name="Slide Number Placeholder 2">
            <a:extLst>
              <a:ext uri="{FF2B5EF4-FFF2-40B4-BE49-F238E27FC236}">
                <a16:creationId xmlns:a16="http://schemas.microsoft.com/office/drawing/2014/main" id="{40747F6D-39AE-4B33-80DC-C18710A425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a:extLst>
              <a:ext uri="{FF2B5EF4-FFF2-40B4-BE49-F238E27FC236}">
                <a16:creationId xmlns:a16="http://schemas.microsoft.com/office/drawing/2014/main" id="{BD15C9F2-C221-4D54-8248-E83B64AF7991}"/>
              </a:ext>
            </a:extLst>
          </p:cNvPr>
          <p:cNvSpPr>
            <a:spLocks noGrp="1" noChangeArrowheads="1"/>
          </p:cNvSpPr>
          <p:nvPr>
            <p:ph idx="1"/>
          </p:nvPr>
        </p:nvSpPr>
        <p:spPr>
          <a:xfrm>
            <a:off x="704088" y="479503"/>
            <a:ext cx="10904332" cy="5646662"/>
          </a:xfrm>
        </p:spPr>
        <p:txBody>
          <a:bodyPr>
            <a:normAutofit/>
          </a:bodyPr>
          <a:lstStyle/>
          <a:p>
            <a:pPr>
              <a:lnSpc>
                <a:spcPct val="80000"/>
              </a:lnSpc>
              <a:buNone/>
              <a:defRPr/>
            </a:pPr>
            <a:r>
              <a:rPr lang="en-US" altLang="en-US" sz="2400" b="1" dirty="0"/>
              <a:t>2. Anti-inflammatory agents- corticosteroids</a:t>
            </a:r>
            <a:endParaRPr lang="en-US" altLang="en-US" sz="2400" dirty="0"/>
          </a:p>
          <a:p>
            <a:pPr>
              <a:lnSpc>
                <a:spcPct val="80000"/>
              </a:lnSpc>
              <a:buNone/>
              <a:defRPr/>
            </a:pPr>
            <a:r>
              <a:rPr lang="en-US" altLang="en-US" sz="2400" dirty="0"/>
              <a:t>	- used both for the treatment and prophylactic purpose</a:t>
            </a:r>
          </a:p>
          <a:p>
            <a:pPr>
              <a:lnSpc>
                <a:spcPct val="80000"/>
              </a:lnSpc>
              <a:buNone/>
              <a:defRPr/>
            </a:pPr>
            <a:r>
              <a:rPr lang="en-US" altLang="en-US" sz="2400" dirty="0"/>
              <a:t>	- Mechanism: anti-inflammatory effect in part by inhibition of production of </a:t>
            </a:r>
            <a:r>
              <a:rPr lang="en-US" altLang="en-US" sz="2400" i="1" u="sng" dirty="0"/>
              <a:t>inflammatory mediators; </a:t>
            </a:r>
            <a:r>
              <a:rPr lang="en-US" altLang="en-US" sz="2400" dirty="0"/>
              <a:t>they also potentiate the effects of </a:t>
            </a:r>
            <a:r>
              <a:rPr lang="en-US" altLang="en-US" sz="2400" dirty="0">
                <a:sym typeface="Symbol" panose="05050102010706020507" pitchFamily="18" charset="2"/>
              </a:rPr>
              <a:t></a:t>
            </a:r>
            <a:r>
              <a:rPr lang="en-US" altLang="en-US" sz="2400" dirty="0"/>
              <a:t>-receptor agonists and inhibit the lymphocytic-eosinophilic airway mucosal inflammation</a:t>
            </a:r>
          </a:p>
          <a:p>
            <a:pPr>
              <a:lnSpc>
                <a:spcPct val="80000"/>
              </a:lnSpc>
              <a:buNone/>
              <a:defRPr/>
            </a:pPr>
            <a:r>
              <a:rPr lang="en-US" altLang="en-US" sz="2400" dirty="0"/>
              <a:t>	- Effects on airways: decrease bronchial reactivity, increases airway caliber, decreases frequency of asthma exacerbation and severity of symptoms</a:t>
            </a:r>
          </a:p>
          <a:p>
            <a:pPr>
              <a:lnSpc>
                <a:spcPct val="80000"/>
              </a:lnSpc>
              <a:buNone/>
              <a:defRPr/>
            </a:pPr>
            <a:r>
              <a:rPr lang="en-US" altLang="en-US" sz="2400" dirty="0"/>
              <a:t>	- The corticosteroid commonly used is </a:t>
            </a:r>
            <a:r>
              <a:rPr lang="en-US" altLang="en-US" sz="2400" b="1" dirty="0"/>
              <a:t>hydrocortisone, prednisolone, beclomethasone, triamcinolone </a:t>
            </a:r>
            <a:r>
              <a:rPr lang="en-US" altLang="en-US" sz="2400" dirty="0"/>
              <a:t>and etc.</a:t>
            </a:r>
          </a:p>
          <a:p>
            <a:pPr>
              <a:lnSpc>
                <a:spcPct val="80000"/>
              </a:lnSpc>
              <a:buNone/>
              <a:defRPr/>
            </a:pPr>
            <a:r>
              <a:rPr lang="en-US" altLang="en-US" sz="2400" dirty="0"/>
              <a:t>	- The drugs can be taken by </a:t>
            </a:r>
            <a:r>
              <a:rPr lang="en-US" altLang="en-US" sz="2400" b="1" dirty="0"/>
              <a:t>inhalation as aerosol</a:t>
            </a:r>
            <a:r>
              <a:rPr lang="en-US" altLang="en-US" sz="2400" dirty="0"/>
              <a:t>, </a:t>
            </a:r>
            <a:r>
              <a:rPr lang="en-US" altLang="en-US" sz="2400" b="1" dirty="0"/>
              <a:t>oral, or an iv </a:t>
            </a:r>
            <a:r>
              <a:rPr lang="en-US" altLang="en-US" sz="2400" dirty="0"/>
              <a:t>administration</a:t>
            </a:r>
          </a:p>
          <a:p>
            <a:pPr>
              <a:lnSpc>
                <a:spcPct val="80000"/>
              </a:lnSpc>
              <a:buNone/>
              <a:defRPr/>
            </a:pPr>
            <a:r>
              <a:rPr lang="en-US" altLang="en-US" sz="2400" dirty="0"/>
              <a:t>	- Because of severe adverse effects when given chronically, </a:t>
            </a:r>
            <a:r>
              <a:rPr lang="en-US" altLang="en-US" sz="2400" i="1" u="sng" dirty="0"/>
              <a:t>oral and parenteral corticosteroids </a:t>
            </a:r>
            <a:r>
              <a:rPr lang="en-US" altLang="en-US" sz="2400" dirty="0"/>
              <a:t>are reserved for patients who need urgent treatment and those who have not improved with bronchodilator</a:t>
            </a:r>
          </a:p>
        </p:txBody>
      </p:sp>
      <p:sp>
        <p:nvSpPr>
          <p:cNvPr id="3" name="Slide Number Placeholder 2">
            <a:extLst>
              <a:ext uri="{FF2B5EF4-FFF2-40B4-BE49-F238E27FC236}">
                <a16:creationId xmlns:a16="http://schemas.microsoft.com/office/drawing/2014/main" id="{8D936293-C67E-4B44-901F-9ED86E6870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a:extLst>
              <a:ext uri="{FF2B5EF4-FFF2-40B4-BE49-F238E27FC236}">
                <a16:creationId xmlns:a16="http://schemas.microsoft.com/office/drawing/2014/main" id="{D49BA544-1CBA-445E-B472-F1B727D33205}"/>
              </a:ext>
            </a:extLst>
          </p:cNvPr>
          <p:cNvSpPr>
            <a:spLocks noGrp="1" noChangeArrowheads="1"/>
          </p:cNvSpPr>
          <p:nvPr>
            <p:ph idx="1"/>
          </p:nvPr>
        </p:nvSpPr>
        <p:spPr>
          <a:xfrm>
            <a:off x="758283" y="267629"/>
            <a:ext cx="11028556" cy="5858535"/>
          </a:xfrm>
        </p:spPr>
        <p:txBody>
          <a:bodyPr>
            <a:normAutofit/>
          </a:bodyPr>
          <a:lstStyle/>
          <a:p>
            <a:pPr>
              <a:lnSpc>
                <a:spcPct val="80000"/>
              </a:lnSpc>
              <a:buNone/>
              <a:defRPr/>
            </a:pPr>
            <a:r>
              <a:rPr lang="en-US" altLang="en-US" sz="2400" b="1" dirty="0"/>
              <a:t>Corticosteroids:</a:t>
            </a:r>
          </a:p>
          <a:p>
            <a:pPr>
              <a:lnSpc>
                <a:spcPct val="80000"/>
              </a:lnSpc>
              <a:buNone/>
              <a:defRPr/>
            </a:pPr>
            <a:r>
              <a:rPr lang="en-US" altLang="en-US" sz="2400" dirty="0"/>
              <a:t>aerosol treatment is the most effective way to decrease the systemic adverse effect of corticosteroid therapy</a:t>
            </a:r>
          </a:p>
          <a:p>
            <a:pPr>
              <a:lnSpc>
                <a:spcPct val="80000"/>
              </a:lnSpc>
              <a:buNone/>
              <a:defRPr/>
            </a:pPr>
            <a:r>
              <a:rPr lang="en-US" altLang="en-US" sz="2400" dirty="0"/>
              <a:t>- abrupt discontinuation should be discouraged because of the fear of adrenal insufficiency </a:t>
            </a:r>
          </a:p>
          <a:p>
            <a:pPr>
              <a:lnSpc>
                <a:spcPct val="80000"/>
              </a:lnSpc>
              <a:buNone/>
              <a:defRPr/>
            </a:pPr>
            <a:r>
              <a:rPr lang="en-US" altLang="en-US" sz="2400" dirty="0"/>
              <a:t>- doses should be decreased after improvement </a:t>
            </a:r>
          </a:p>
          <a:p>
            <a:pPr>
              <a:lnSpc>
                <a:spcPct val="80000"/>
              </a:lnSpc>
              <a:buNone/>
              <a:defRPr/>
            </a:pPr>
            <a:r>
              <a:rPr lang="en-US" altLang="en-US" sz="2400" dirty="0"/>
              <a:t>- clinical uses in bronchial asthma</a:t>
            </a:r>
          </a:p>
          <a:p>
            <a:pPr lvl="1">
              <a:lnSpc>
                <a:spcPct val="80000"/>
              </a:lnSpc>
              <a:defRPr/>
            </a:pPr>
            <a:r>
              <a:rPr lang="en-US" altLang="en-US" dirty="0"/>
              <a:t>urgent treatment of severe asthma not improved with bronchodilator</a:t>
            </a:r>
          </a:p>
          <a:p>
            <a:pPr lvl="1">
              <a:lnSpc>
                <a:spcPct val="80000"/>
              </a:lnSpc>
              <a:defRPr/>
            </a:pPr>
            <a:r>
              <a:rPr lang="en-US" altLang="en-US" dirty="0"/>
              <a:t>Nocturnal asthma</a:t>
            </a:r>
          </a:p>
          <a:p>
            <a:pPr lvl="1">
              <a:lnSpc>
                <a:spcPct val="80000"/>
              </a:lnSpc>
              <a:defRPr/>
            </a:pPr>
            <a:r>
              <a:rPr lang="en-US" altLang="en-US" dirty="0"/>
              <a:t>Chronic asthma [regular aerosol corticoids]</a:t>
            </a:r>
          </a:p>
          <a:p>
            <a:pPr>
              <a:lnSpc>
                <a:spcPct val="80000"/>
              </a:lnSpc>
              <a:defRPr/>
            </a:pPr>
            <a:r>
              <a:rPr lang="en-US" altLang="en-US" sz="2400" dirty="0"/>
              <a:t>Side effects:</a:t>
            </a:r>
          </a:p>
          <a:p>
            <a:pPr lvl="1">
              <a:lnSpc>
                <a:spcPct val="80000"/>
              </a:lnSpc>
              <a:defRPr/>
            </a:pPr>
            <a:r>
              <a:rPr lang="en-US" altLang="en-US" sz="2200" dirty="0"/>
              <a:t>suppression of hypothalamic –pituitary-adrenal axis</a:t>
            </a:r>
          </a:p>
          <a:p>
            <a:pPr lvl="1">
              <a:lnSpc>
                <a:spcPct val="80000"/>
              </a:lnSpc>
              <a:defRPr/>
            </a:pPr>
            <a:r>
              <a:rPr lang="en-US" altLang="en-US" sz="2200" dirty="0"/>
              <a:t>osteoporosis</a:t>
            </a:r>
          </a:p>
          <a:p>
            <a:pPr lvl="1">
              <a:lnSpc>
                <a:spcPct val="80000"/>
              </a:lnSpc>
              <a:defRPr/>
            </a:pPr>
            <a:r>
              <a:rPr lang="en-US" altLang="en-US" sz="2200" dirty="0"/>
              <a:t>cataract</a:t>
            </a:r>
          </a:p>
          <a:p>
            <a:pPr lvl="1">
              <a:lnSpc>
                <a:spcPct val="80000"/>
              </a:lnSpc>
              <a:defRPr/>
            </a:pPr>
            <a:r>
              <a:rPr lang="en-US" altLang="en-US" sz="2200" dirty="0"/>
              <a:t>impairment of growth in children</a:t>
            </a:r>
          </a:p>
          <a:p>
            <a:pPr lvl="1">
              <a:lnSpc>
                <a:spcPct val="80000"/>
              </a:lnSpc>
              <a:defRPr/>
            </a:pPr>
            <a:r>
              <a:rPr lang="en-US" altLang="en-US" sz="2200" dirty="0"/>
              <a:t>susceptibility of infection like oral candidiasis, tuberculosis</a:t>
            </a:r>
            <a:endParaRPr lang="en-US" altLang="en-US" sz="2000" dirty="0"/>
          </a:p>
        </p:txBody>
      </p:sp>
      <p:sp>
        <p:nvSpPr>
          <p:cNvPr id="3" name="Slide Number Placeholder 2">
            <a:extLst>
              <a:ext uri="{FF2B5EF4-FFF2-40B4-BE49-F238E27FC236}">
                <a16:creationId xmlns:a16="http://schemas.microsoft.com/office/drawing/2014/main" id="{A2AF8E87-58A5-443F-A5B6-CB4D41B48B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a:extLst>
              <a:ext uri="{FF2B5EF4-FFF2-40B4-BE49-F238E27FC236}">
                <a16:creationId xmlns:a16="http://schemas.microsoft.com/office/drawing/2014/main" id="{D4D57FBD-FC1B-43BF-8C5E-FA169CB9C5AB}"/>
              </a:ext>
            </a:extLst>
          </p:cNvPr>
          <p:cNvSpPr>
            <a:spLocks noGrp="1" noChangeArrowheads="1"/>
          </p:cNvSpPr>
          <p:nvPr>
            <p:ph idx="1"/>
          </p:nvPr>
        </p:nvSpPr>
        <p:spPr bwMode="auto">
          <a:xfrm>
            <a:off x="680224" y="256479"/>
            <a:ext cx="10972799" cy="5869686"/>
          </a:xfrm>
        </p:spPr>
        <p:txBody>
          <a:bodyPr wrap="square" numCol="1" anchor="t" anchorCtr="0" compatLnSpc="1">
            <a:prstTxWarp prst="textNoShape">
              <a:avLst/>
            </a:prstTxWarp>
            <a:normAutofit/>
          </a:bodyPr>
          <a:lstStyle/>
          <a:p>
            <a:pPr>
              <a:lnSpc>
                <a:spcPct val="80000"/>
              </a:lnSpc>
              <a:buFontTx/>
              <a:buNone/>
            </a:pPr>
            <a:r>
              <a:rPr lang="en-US" altLang="en-US" dirty="0"/>
              <a:t>3. </a:t>
            </a:r>
            <a:r>
              <a:rPr lang="en-US" altLang="en-US" b="1" dirty="0"/>
              <a:t> Other agents for asthma</a:t>
            </a:r>
            <a:endParaRPr lang="en-US" altLang="en-US" dirty="0"/>
          </a:p>
          <a:p>
            <a:pPr>
              <a:lnSpc>
                <a:spcPct val="80000"/>
              </a:lnSpc>
              <a:buFontTx/>
              <a:buNone/>
            </a:pPr>
            <a:r>
              <a:rPr lang="en-US" altLang="en-US" dirty="0"/>
              <a:t>(1) </a:t>
            </a:r>
            <a:r>
              <a:rPr lang="en-US" altLang="en-US" b="1" dirty="0"/>
              <a:t>Cromolyn</a:t>
            </a:r>
            <a:r>
              <a:rPr lang="en-US" altLang="en-US" dirty="0"/>
              <a:t>: is a unique product that works by inhibiting the release of histamine and other spasm-causing compounds from mast cells located in the lungs and prevents bronchoconstriction. It used in exercise and antigen induced asthma. It has no role once mediator is released and is used for casual prophylaxis.</a:t>
            </a:r>
          </a:p>
          <a:p>
            <a:pPr>
              <a:lnSpc>
                <a:spcPct val="80000"/>
              </a:lnSpc>
              <a:buFontTx/>
              <a:buNone/>
            </a:pPr>
            <a:r>
              <a:rPr lang="en-US" altLang="en-US" dirty="0"/>
              <a:t>(2) </a:t>
            </a:r>
            <a:r>
              <a:rPr lang="en-US" altLang="en-US" b="1" dirty="0"/>
              <a:t>Leukotriene receptor blockers</a:t>
            </a:r>
            <a:r>
              <a:rPr lang="en-US" altLang="en-US" dirty="0"/>
              <a:t>. The production of leukotrienes (immunologic proteins) and the binding on leukotriene receptors appears to be responsible for airway edema, smooth muscle constriction and increased inflammatory processes contributing to the signs and symptoms of asthma. For this reason, several new agents have been developed: </a:t>
            </a:r>
            <a:r>
              <a:rPr lang="en-US" altLang="en-US" b="1" dirty="0"/>
              <a:t>Zafirlukast, montelukast, </a:t>
            </a:r>
            <a:r>
              <a:rPr lang="en-US" b="1" dirty="0"/>
              <a:t>Z</a:t>
            </a:r>
            <a:r>
              <a:rPr lang="sr-Cyrl-CS" b="1" dirty="0"/>
              <a:t>ileuton</a:t>
            </a:r>
            <a:endParaRPr lang="en-US" altLang="en-US" dirty="0"/>
          </a:p>
        </p:txBody>
      </p:sp>
      <p:sp>
        <p:nvSpPr>
          <p:cNvPr id="3" name="Slide Number Placeholder 2">
            <a:extLst>
              <a:ext uri="{FF2B5EF4-FFF2-40B4-BE49-F238E27FC236}">
                <a16:creationId xmlns:a16="http://schemas.microsoft.com/office/drawing/2014/main" id="{7B89E3CB-D9C9-4A88-9096-142A893E09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203794-E402-4DE4-95AE-1208C9121EB2}" type="slidenum">
              <a:rPr kumimoji="0" lang="en-US" sz="1200" b="0" i="0" u="none" strike="noStrike" kern="1200" cap="none" spc="0" normalizeH="0" baseline="0" noProof="0" smtClean="0">
                <a:ln>
                  <a:noFill/>
                </a:ln>
                <a:solidFill>
                  <a:prstClr val="black">
                    <a:tint val="75000"/>
                  </a:prstClr>
                </a:solidFill>
                <a:effectLst/>
                <a:uLnTx/>
                <a:uFillTx/>
                <a:latin typeface="Centur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entury"/>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468D-5858-9A9C-A14C-7DDA18C3ED96}"/>
              </a:ext>
            </a:extLst>
          </p:cNvPr>
          <p:cNvSpPr>
            <a:spLocks noGrp="1"/>
          </p:cNvSpPr>
          <p:nvPr>
            <p:ph type="title"/>
          </p:nvPr>
        </p:nvSpPr>
        <p:spPr>
          <a:xfrm>
            <a:off x="838200" y="365125"/>
            <a:ext cx="10515600" cy="659003"/>
          </a:xfrm>
        </p:spPr>
        <p:txBody>
          <a:bodyPr>
            <a:normAutofit fontScale="90000"/>
          </a:bodyPr>
          <a:lstStyle/>
          <a:p>
            <a:br>
              <a:rPr lang="en-US" sz="4400" b="1" i="0" u="none" strike="noStrike" baseline="0" dirty="0">
                <a:solidFill>
                  <a:srgbClr val="7030A0"/>
                </a:solidFill>
                <a:latin typeface="+mn-lt"/>
              </a:rPr>
            </a:br>
            <a:r>
              <a:rPr lang="en-US" sz="4400" b="1" i="0" u="none" strike="noStrike" baseline="0" dirty="0">
                <a:solidFill>
                  <a:srgbClr val="7030A0"/>
                </a:solidFill>
                <a:latin typeface="+mn-lt"/>
              </a:rPr>
              <a:t>Tuberculosis(TB) treatment</a:t>
            </a:r>
            <a:br>
              <a:rPr lang="en-US" sz="4400" b="1" i="0" u="none" strike="noStrike" baseline="0" dirty="0">
                <a:solidFill>
                  <a:srgbClr val="7030A0"/>
                </a:solidFill>
                <a:latin typeface="Helvetica-Bold"/>
              </a:rPr>
            </a:br>
            <a:endParaRPr lang="en-US" dirty="0">
              <a:solidFill>
                <a:srgbClr val="7030A0"/>
              </a:solidFill>
            </a:endParaRPr>
          </a:p>
        </p:txBody>
      </p:sp>
      <p:sp>
        <p:nvSpPr>
          <p:cNvPr id="3" name="Content Placeholder 2">
            <a:extLst>
              <a:ext uri="{FF2B5EF4-FFF2-40B4-BE49-F238E27FC236}">
                <a16:creationId xmlns:a16="http://schemas.microsoft.com/office/drawing/2014/main" id="{F58EB2AA-A167-9E48-0844-E195E115ED66}"/>
              </a:ext>
            </a:extLst>
          </p:cNvPr>
          <p:cNvSpPr>
            <a:spLocks noGrp="1"/>
          </p:cNvSpPr>
          <p:nvPr>
            <p:ph idx="1"/>
          </p:nvPr>
        </p:nvSpPr>
        <p:spPr>
          <a:xfrm>
            <a:off x="838200" y="1024128"/>
            <a:ext cx="10515600" cy="5152835"/>
          </a:xfrm>
        </p:spPr>
        <p:txBody>
          <a:bodyPr>
            <a:noAutofit/>
          </a:bodyPr>
          <a:lstStyle/>
          <a:p>
            <a:pPr algn="l"/>
            <a:r>
              <a:rPr lang="en-US" sz="2400" b="0" i="0" u="none" strike="noStrike" baseline="0" dirty="0"/>
              <a:t>Mycobacteria are rod-shaped aerobic bacilli that multiple slowly, </a:t>
            </a:r>
          </a:p>
          <a:p>
            <a:r>
              <a:rPr lang="en-US" sz="2400" dirty="0"/>
              <a:t>M. tuberculosis is slow growing and requires treatment for months to years.</a:t>
            </a:r>
          </a:p>
          <a:p>
            <a:pPr marL="0" indent="0" algn="l">
              <a:buNone/>
            </a:pPr>
            <a:r>
              <a:rPr lang="en-US" sz="2400" b="1" i="0" u="none" strike="noStrike" baseline="0" dirty="0"/>
              <a:t>Chemotherapy for tuberculosis</a:t>
            </a:r>
          </a:p>
          <a:p>
            <a:pPr>
              <a:buFont typeface="Wingdings" panose="05000000000000000000" pitchFamily="2" charset="2"/>
              <a:buChar char="Ø"/>
            </a:pPr>
            <a:r>
              <a:rPr lang="en-US" sz="2400" dirty="0"/>
              <a:t>TB treatment generally includes four first-line drugs. </a:t>
            </a:r>
          </a:p>
          <a:p>
            <a:pPr>
              <a:buFont typeface="Wingdings" panose="05000000000000000000" pitchFamily="2" charset="2"/>
              <a:buChar char="Ø"/>
            </a:pPr>
            <a:r>
              <a:rPr lang="en-US" sz="2400" dirty="0"/>
              <a:t>Second-line drugs are typically less effective, more toxic</a:t>
            </a:r>
          </a:p>
          <a:p>
            <a:pPr>
              <a:buFont typeface="Wingdings" panose="05000000000000000000" pitchFamily="2" charset="2"/>
              <a:buChar char="Ø"/>
            </a:pPr>
            <a:r>
              <a:rPr lang="en-US" sz="2400" dirty="0"/>
              <a:t>They are used for patients who cannot tolerate the first-line drugs or who are infected with resistant TB.</a:t>
            </a:r>
          </a:p>
          <a:p>
            <a:pPr algn="l">
              <a:buFont typeface="Wingdings" panose="05000000000000000000" pitchFamily="2" charset="2"/>
              <a:buChar char="Ø"/>
            </a:pPr>
            <a:r>
              <a:rPr lang="en-US" sz="2400" b="0" i="0" u="none" strike="noStrike" baseline="0" dirty="0"/>
              <a:t>Treatment for drug-susceptible TB lasts for at least 6 months, while</a:t>
            </a:r>
          </a:p>
          <a:p>
            <a:pPr algn="l">
              <a:buFont typeface="Wingdings" panose="05000000000000000000" pitchFamily="2" charset="2"/>
              <a:buChar char="Ø"/>
            </a:pPr>
            <a:r>
              <a:rPr lang="en-US" sz="2400" b="0" i="0" u="none" strike="noStrike" baseline="0" dirty="0"/>
              <a:t> treatment of multidrug-resistant TB (MDR-TB) typically lasts for about 2 years.</a:t>
            </a:r>
            <a:endParaRPr lang="en-US" sz="2400" dirty="0"/>
          </a:p>
        </p:txBody>
      </p:sp>
      <p:sp>
        <p:nvSpPr>
          <p:cNvPr id="4" name="Slide Number Placeholder 3">
            <a:extLst>
              <a:ext uri="{FF2B5EF4-FFF2-40B4-BE49-F238E27FC236}">
                <a16:creationId xmlns:a16="http://schemas.microsoft.com/office/drawing/2014/main" id="{BB7F1873-2D09-EE64-A5E7-BAE8955805E2}"/>
              </a:ext>
            </a:extLst>
          </p:cNvPr>
          <p:cNvSpPr>
            <a:spLocks noGrp="1"/>
          </p:cNvSpPr>
          <p:nvPr>
            <p:ph type="sldNum" sz="quarter" idx="12"/>
          </p:nvPr>
        </p:nvSpPr>
        <p:spPr/>
        <p:txBody>
          <a:bodyPr/>
          <a:lstStyle/>
          <a:p>
            <a:fld id="{90203794-E402-4DE4-95AE-1208C9121EB2}" type="slidenum">
              <a:rPr lang="en-US" smtClean="0"/>
              <a:t>23</a:t>
            </a:fld>
            <a:endParaRPr lang="en-US"/>
          </a:p>
        </p:txBody>
      </p:sp>
    </p:spTree>
    <p:extLst>
      <p:ext uri="{BB962C8B-B14F-4D97-AF65-F5344CB8AC3E}">
        <p14:creationId xmlns:p14="http://schemas.microsoft.com/office/powerpoint/2010/main" val="69443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EDEF156-F250-966C-9AA0-512179A6012F}"/>
              </a:ext>
            </a:extLst>
          </p:cNvPr>
          <p:cNvPicPr>
            <a:picLocks noGrp="1" noChangeAspect="1"/>
          </p:cNvPicPr>
          <p:nvPr>
            <p:ph idx="1"/>
          </p:nvPr>
        </p:nvPicPr>
        <p:blipFill rotWithShape="1">
          <a:blip r:embed="rId3"/>
          <a:srcRect l="35636" t="36770" r="42097" b="37120"/>
          <a:stretch/>
        </p:blipFill>
        <p:spPr>
          <a:xfrm>
            <a:off x="6210760" y="1275906"/>
            <a:ext cx="5691141" cy="4526021"/>
          </a:xfrm>
        </p:spPr>
      </p:pic>
      <p:sp>
        <p:nvSpPr>
          <p:cNvPr id="4" name="Slide Number Placeholder 3">
            <a:extLst>
              <a:ext uri="{FF2B5EF4-FFF2-40B4-BE49-F238E27FC236}">
                <a16:creationId xmlns:a16="http://schemas.microsoft.com/office/drawing/2014/main" id="{AD7870B6-0B97-6C48-A772-FB6698A734B0}"/>
              </a:ext>
            </a:extLst>
          </p:cNvPr>
          <p:cNvSpPr>
            <a:spLocks noGrp="1"/>
          </p:cNvSpPr>
          <p:nvPr>
            <p:ph type="sldNum" sz="quarter" idx="12"/>
          </p:nvPr>
        </p:nvSpPr>
        <p:spPr/>
        <p:txBody>
          <a:bodyPr/>
          <a:lstStyle/>
          <a:p>
            <a:fld id="{90203794-E402-4DE4-95AE-1208C9121EB2}" type="slidenum">
              <a:rPr lang="en-US" smtClean="0"/>
              <a:t>24</a:t>
            </a:fld>
            <a:endParaRPr lang="en-US"/>
          </a:p>
        </p:txBody>
      </p:sp>
      <p:pic>
        <p:nvPicPr>
          <p:cNvPr id="7" name="Picture 6">
            <a:extLst>
              <a:ext uri="{FF2B5EF4-FFF2-40B4-BE49-F238E27FC236}">
                <a16:creationId xmlns:a16="http://schemas.microsoft.com/office/drawing/2014/main" id="{C4CF6BC6-F09D-96D0-EA5E-ED296EEEDC39}"/>
              </a:ext>
            </a:extLst>
          </p:cNvPr>
          <p:cNvPicPr>
            <a:picLocks noChangeAspect="1"/>
          </p:cNvPicPr>
          <p:nvPr/>
        </p:nvPicPr>
        <p:blipFill rotWithShape="1">
          <a:blip r:embed="rId4"/>
          <a:srcRect b="30406"/>
          <a:stretch/>
        </p:blipFill>
        <p:spPr>
          <a:xfrm>
            <a:off x="0" y="1277836"/>
            <a:ext cx="5758222" cy="4438434"/>
          </a:xfrm>
          <a:prstGeom prst="rect">
            <a:avLst/>
          </a:prstGeom>
        </p:spPr>
      </p:pic>
    </p:spTree>
    <p:extLst>
      <p:ext uri="{BB962C8B-B14F-4D97-AF65-F5344CB8AC3E}">
        <p14:creationId xmlns:p14="http://schemas.microsoft.com/office/powerpoint/2010/main" val="2134872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110756-909E-CD0E-57DD-307F85B47140}"/>
              </a:ext>
            </a:extLst>
          </p:cNvPr>
          <p:cNvSpPr>
            <a:spLocks noGrp="1"/>
          </p:cNvSpPr>
          <p:nvPr>
            <p:ph type="sldNum" sz="quarter" idx="12"/>
          </p:nvPr>
        </p:nvSpPr>
        <p:spPr/>
        <p:txBody>
          <a:bodyPr/>
          <a:lstStyle/>
          <a:p>
            <a:fld id="{90203794-E402-4DE4-95AE-1208C9121EB2}" type="slidenum">
              <a:rPr lang="en-US" smtClean="0"/>
              <a:t>25</a:t>
            </a:fld>
            <a:endParaRPr lang="en-US"/>
          </a:p>
        </p:txBody>
      </p:sp>
      <p:pic>
        <p:nvPicPr>
          <p:cNvPr id="5" name="Picture 2" descr="First Line TB Drugs.pptx">
            <a:extLst>
              <a:ext uri="{FF2B5EF4-FFF2-40B4-BE49-F238E27FC236}">
                <a16:creationId xmlns:a16="http://schemas.microsoft.com/office/drawing/2014/main" id="{2496D61B-5F1D-E436-979B-159E3F891B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58679" y="420779"/>
            <a:ext cx="6130384" cy="459778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181BFC-613E-443C-F6B0-89013A6479C5}"/>
              </a:ext>
            </a:extLst>
          </p:cNvPr>
          <p:cNvSpPr txBox="1"/>
          <p:nvPr/>
        </p:nvSpPr>
        <p:spPr>
          <a:xfrm>
            <a:off x="1562986" y="5513891"/>
            <a:ext cx="7836196" cy="923330"/>
          </a:xfrm>
          <a:prstGeom prst="rect">
            <a:avLst/>
          </a:prstGeom>
          <a:noFill/>
        </p:spPr>
        <p:txBody>
          <a:bodyPr wrap="square" rtlCol="0">
            <a:spAutoFit/>
          </a:bodyPr>
          <a:lstStyle/>
          <a:p>
            <a:r>
              <a:rPr lang="en-US" sz="1800" b="1" i="0" u="none" strike="noStrike" baseline="0" dirty="0">
                <a:latin typeface="+mj-lt"/>
              </a:rPr>
              <a:t>Second line</a:t>
            </a:r>
            <a:r>
              <a:rPr lang="en-US" sz="1800" b="1" dirty="0">
                <a:latin typeface="+mj-lt"/>
              </a:rPr>
              <a:t> </a:t>
            </a:r>
            <a:r>
              <a:rPr lang="en-US" sz="1800" b="1" i="0" u="none" strike="noStrike" baseline="0" dirty="0">
                <a:latin typeface="+mj-lt"/>
              </a:rPr>
              <a:t>regimens </a:t>
            </a:r>
            <a:r>
              <a:rPr lang="en-US" sz="1800" b="0" i="0" u="none" strike="noStrike" baseline="0" dirty="0">
                <a:latin typeface="+mj-lt"/>
              </a:rPr>
              <a:t>for MDR-TB (TB resistant to at least </a:t>
            </a:r>
            <a:r>
              <a:rPr lang="en-US" sz="1800" b="0" i="1" u="none" strike="noStrike" baseline="0" dirty="0">
                <a:latin typeface="+mj-lt"/>
              </a:rPr>
              <a:t>isoniazid </a:t>
            </a:r>
            <a:r>
              <a:rPr lang="en-US" sz="1800" b="0" i="0" u="none" strike="noStrike" baseline="0" dirty="0">
                <a:latin typeface="+mj-lt"/>
              </a:rPr>
              <a:t>and </a:t>
            </a:r>
            <a:r>
              <a:rPr lang="en-US" sz="1800" b="0" i="1" u="none" strike="noStrike" baseline="0" dirty="0">
                <a:latin typeface="+mj-lt"/>
              </a:rPr>
              <a:t>rifampin</a:t>
            </a:r>
            <a:r>
              <a:rPr lang="en-US" sz="1800" b="0" i="0" u="none" strike="noStrike" baseline="0" dirty="0">
                <a:latin typeface="+mj-lt"/>
              </a:rPr>
              <a:t>) </a:t>
            </a:r>
          </a:p>
          <a:p>
            <a:endParaRPr lang="en-US" dirty="0"/>
          </a:p>
        </p:txBody>
      </p:sp>
    </p:spTree>
    <p:extLst>
      <p:ext uri="{BB962C8B-B14F-4D97-AF65-F5344CB8AC3E}">
        <p14:creationId xmlns:p14="http://schemas.microsoft.com/office/powerpoint/2010/main" val="3467168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5D7D40-E594-312B-FC44-1B61E2AF95DD}"/>
              </a:ext>
            </a:extLst>
          </p:cNvPr>
          <p:cNvSpPr>
            <a:spLocks noGrp="1"/>
          </p:cNvSpPr>
          <p:nvPr>
            <p:ph type="sldNum" sz="quarter" idx="12"/>
          </p:nvPr>
        </p:nvSpPr>
        <p:spPr/>
        <p:txBody>
          <a:bodyPr/>
          <a:lstStyle/>
          <a:p>
            <a:fld id="{90203794-E402-4DE4-95AE-1208C9121EB2}" type="slidenum">
              <a:rPr lang="en-US" smtClean="0"/>
              <a:t>26</a:t>
            </a:fld>
            <a:endParaRPr lang="en-US"/>
          </a:p>
        </p:txBody>
      </p:sp>
      <p:sp>
        <p:nvSpPr>
          <p:cNvPr id="8" name="Content Placeholder 7">
            <a:extLst>
              <a:ext uri="{FF2B5EF4-FFF2-40B4-BE49-F238E27FC236}">
                <a16:creationId xmlns:a16="http://schemas.microsoft.com/office/drawing/2014/main" id="{010AC120-5107-F6CC-537B-BE0F06E21E20}"/>
              </a:ext>
            </a:extLst>
          </p:cNvPr>
          <p:cNvSpPr>
            <a:spLocks noGrp="1"/>
          </p:cNvSpPr>
          <p:nvPr>
            <p:ph idx="1"/>
          </p:nvPr>
        </p:nvSpPr>
        <p:spPr>
          <a:xfrm>
            <a:off x="838200" y="374905"/>
            <a:ext cx="10515600" cy="5550408"/>
          </a:xfrm>
        </p:spPr>
        <p:txBody>
          <a:bodyPr>
            <a:noAutofit/>
          </a:bodyPr>
          <a:lstStyle/>
          <a:p>
            <a:pPr marL="0" indent="0" algn="l">
              <a:buNone/>
            </a:pPr>
            <a:endParaRPr lang="en-US" dirty="0"/>
          </a:p>
          <a:p>
            <a:pPr marL="0" indent="0" algn="l">
              <a:buNone/>
            </a:pPr>
            <a:r>
              <a:rPr lang="en-US" b="1" i="0" u="none" strike="noStrike" baseline="0" dirty="0"/>
              <a:t>Mechanisms to decrease anti-TB drug resistance</a:t>
            </a:r>
          </a:p>
          <a:p>
            <a:pPr algn="l">
              <a:buFont typeface="Wingdings" panose="05000000000000000000" pitchFamily="2" charset="2"/>
              <a:buChar char="Ø"/>
            </a:pPr>
            <a:r>
              <a:rPr lang="en-US" b="0" i="0" u="none" strike="noStrike" baseline="0" dirty="0"/>
              <a:t>Patient </a:t>
            </a:r>
            <a:r>
              <a:rPr lang="en-US" i="0" u="none" strike="noStrike" baseline="0" dirty="0"/>
              <a:t>adherence</a:t>
            </a:r>
            <a:r>
              <a:rPr lang="en-US" dirty="0"/>
              <a:t> to drugs</a:t>
            </a:r>
            <a:endParaRPr lang="en-US" i="0" u="none" strike="noStrike" baseline="0" dirty="0"/>
          </a:p>
          <a:p>
            <a:pPr algn="l">
              <a:buFont typeface="Wingdings" panose="05000000000000000000" pitchFamily="2" charset="2"/>
              <a:buChar char="Ø"/>
            </a:pPr>
            <a:r>
              <a:rPr lang="en-US" b="0" i="0" u="none" strike="noStrike" baseline="0" dirty="0"/>
              <a:t>Directly observed therapy, also known as DOT</a:t>
            </a:r>
          </a:p>
          <a:p>
            <a:pPr lvl="1">
              <a:buFont typeface="Wingdings" panose="05000000000000000000" pitchFamily="2" charset="2"/>
              <a:buChar char="ü"/>
            </a:pPr>
            <a:r>
              <a:rPr lang="en-US" sz="2800" b="0" i="0" u="none" strike="noStrike" baseline="0" dirty="0"/>
              <a:t>Patients take their medications while being watched by a member of the health care team</a:t>
            </a:r>
            <a:endParaRPr lang="en-US" sz="2800" dirty="0"/>
          </a:p>
          <a:p>
            <a:pPr lvl="1">
              <a:buFont typeface="Wingdings" panose="05000000000000000000" pitchFamily="2" charset="2"/>
              <a:buChar char="ü"/>
            </a:pPr>
            <a:r>
              <a:rPr lang="en-US" sz="2800" b="0" i="0" u="none" strike="noStrike" baseline="0" dirty="0"/>
              <a:t>DOT has been shown to decrease drug resistance and to improve cure rates</a:t>
            </a:r>
            <a:endParaRPr lang="en-US" sz="2800" dirty="0"/>
          </a:p>
        </p:txBody>
      </p:sp>
    </p:spTree>
    <p:extLst>
      <p:ext uri="{BB962C8B-B14F-4D97-AF65-F5344CB8AC3E}">
        <p14:creationId xmlns:p14="http://schemas.microsoft.com/office/powerpoint/2010/main" val="157266393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entury"/>
        <a:ea typeface=""/>
        <a:cs typeface=""/>
      </a:majorFont>
      <a:minorFont>
        <a:latin typeface="Centur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TotalTime>
  <Words>2247</Words>
  <Application>Microsoft Office PowerPoint</Application>
  <PresentationFormat>Widescreen</PresentationFormat>
  <Paragraphs>192</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Century</vt:lpstr>
      <vt:lpstr>Helvetica</vt:lpstr>
      <vt:lpstr>Helvetica-Bold</vt:lpstr>
      <vt:lpstr>Helvetica-Oblique</vt:lpstr>
      <vt:lpstr>Wingdings</vt:lpstr>
      <vt:lpstr>1_Office Theme</vt:lpstr>
      <vt:lpstr>PowerPoint Presentation</vt:lpstr>
      <vt:lpstr>DRUGS ACTING ON THE RESPIRATORY SYSTEM</vt:lpstr>
      <vt:lpstr>Respiratory drugs cont’d</vt:lpstr>
      <vt:lpstr>Cough</vt:lpstr>
      <vt:lpstr>PowerPoint Presentation</vt:lpstr>
      <vt:lpstr>Respiratory drugs cont’d</vt:lpstr>
      <vt:lpstr>Respiratory drugs cont’d</vt:lpstr>
      <vt:lpstr>Respiratory drugs cont’d</vt:lpstr>
      <vt:lpstr>PowerPoint Presentation</vt:lpstr>
      <vt:lpstr>PowerPoint Presentation</vt:lpstr>
      <vt:lpstr>Respiratory drugs cont’d</vt:lpstr>
      <vt:lpstr>Respiratory drugs cont’d</vt:lpstr>
      <vt:lpstr>PowerPoint Presentation</vt:lpstr>
      <vt:lpstr>Respiratory drugs cont’d</vt:lpstr>
      <vt:lpstr>PowerPoint Presentation</vt:lpstr>
      <vt:lpstr>Respiratory drugs cont’d</vt:lpstr>
      <vt:lpstr>PowerPoint Presentation</vt:lpstr>
      <vt:lpstr>PowerPoint Presentation</vt:lpstr>
      <vt:lpstr>PowerPoint Presentation</vt:lpstr>
      <vt:lpstr>PowerPoint Presentation</vt:lpstr>
      <vt:lpstr>PowerPoint Presentation</vt:lpstr>
      <vt:lpstr>PowerPoint Presentation</vt:lpstr>
      <vt:lpstr> Tuberculosis(TB) treatment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ante mare</dc:creator>
  <cp:lastModifiedBy>ante</cp:lastModifiedBy>
  <cp:revision>83</cp:revision>
  <dcterms:created xsi:type="dcterms:W3CDTF">2022-04-15T20:38:44Z</dcterms:created>
  <dcterms:modified xsi:type="dcterms:W3CDTF">2023-11-08T20:53:23Z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2023-11-06T12:20:33Z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d930d41d-8e1b-42e9-bdea-467b87cd3e50</vt:lpwstr>
  </property>
  <property fmtid="{D5CDD505-2E9C-101B-9397-08002B2CF9AE}" pid="7" name="MSIP_Label_defa4170-0d19-0005-0004-bc88714345d2_ActionId">
    <vt:lpwstr>f1dc527c-b6e5-46ca-8715-59c680ec87d9</vt:lpwstr>
  </property>
  <property fmtid="{D5CDD505-2E9C-101B-9397-08002B2CF9AE}" pid="8" name="MSIP_Label_defa4170-0d19-0005-0004-bc88714345d2_ContentBits">
    <vt:lpwstr>0</vt:lpwstr>
  </property>
</Properties>
</file>