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4" r:id="rId3"/>
    <p:sldId id="257" r:id="rId4"/>
    <p:sldId id="258" r:id="rId5"/>
    <p:sldId id="259" r:id="rId6"/>
    <p:sldId id="287" r:id="rId7"/>
    <p:sldId id="286" r:id="rId8"/>
    <p:sldId id="322" r:id="rId9"/>
    <p:sldId id="285" r:id="rId10"/>
    <p:sldId id="284" r:id="rId11"/>
    <p:sldId id="283" r:id="rId12"/>
    <p:sldId id="288" r:id="rId13"/>
    <p:sldId id="290" r:id="rId14"/>
    <p:sldId id="291" r:id="rId15"/>
    <p:sldId id="289" r:id="rId16"/>
    <p:sldId id="280" r:id="rId17"/>
    <p:sldId id="279" r:id="rId18"/>
    <p:sldId id="323" r:id="rId19"/>
    <p:sldId id="278" r:id="rId20"/>
    <p:sldId id="277" r:id="rId21"/>
    <p:sldId id="274" r:id="rId22"/>
    <p:sldId id="331" r:id="rId23"/>
    <p:sldId id="273" r:id="rId24"/>
    <p:sldId id="272" r:id="rId25"/>
    <p:sldId id="293" r:id="rId26"/>
    <p:sldId id="292" r:id="rId27"/>
    <p:sldId id="271" r:id="rId28"/>
    <p:sldId id="270" r:id="rId29"/>
    <p:sldId id="269" r:id="rId30"/>
    <p:sldId id="268" r:id="rId31"/>
    <p:sldId id="267" r:id="rId32"/>
    <p:sldId id="265" r:id="rId33"/>
    <p:sldId id="263" r:id="rId34"/>
    <p:sldId id="301" r:id="rId35"/>
    <p:sldId id="300" r:id="rId36"/>
    <p:sldId id="302" r:id="rId37"/>
    <p:sldId id="309" r:id="rId38"/>
    <p:sldId id="307" r:id="rId39"/>
    <p:sldId id="310" r:id="rId40"/>
    <p:sldId id="313" r:id="rId41"/>
    <p:sldId id="312" r:id="rId42"/>
    <p:sldId id="311" r:id="rId43"/>
    <p:sldId id="306" r:id="rId44"/>
    <p:sldId id="305" r:id="rId45"/>
    <p:sldId id="304" r:id="rId46"/>
    <p:sldId id="303" r:id="rId47"/>
    <p:sldId id="298" r:id="rId48"/>
    <p:sldId id="297" r:id="rId49"/>
    <p:sldId id="296" r:id="rId50"/>
    <p:sldId id="328" r:id="rId51"/>
    <p:sldId id="314" r:id="rId52"/>
    <p:sldId id="318" r:id="rId53"/>
    <p:sldId id="326" r:id="rId54"/>
    <p:sldId id="317" r:id="rId55"/>
    <p:sldId id="316" r:id="rId56"/>
    <p:sldId id="327" r:id="rId57"/>
    <p:sldId id="319" r:id="rId58"/>
    <p:sldId id="320" r:id="rId59"/>
    <p:sldId id="260" r:id="rId60"/>
    <p:sldId id="32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varScale="1">
        <p:scale>
          <a:sx n="73" d="100"/>
          <a:sy n="73" d="100"/>
        </p:scale>
        <p:origin x="-612"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166469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3417245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3057057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4133977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2801234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1216973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37112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3076985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4133628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346258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EFF333-46D6-4677-B1FA-AA8DDF2383DD}" type="datetimeFigureOut">
              <a:rPr lang="en-US" smtClean="0"/>
              <a:pPr/>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1214707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EFF333-46D6-4677-B1FA-AA8DDF2383DD}" type="datetimeFigureOut">
              <a:rPr lang="en-US" smtClean="0"/>
              <a:pPr/>
              <a:t>10/30/2023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594DCD-B698-459E-8EC8-A49E58C8462C}" type="slidenum">
              <a:rPr lang="en-US" smtClean="0"/>
              <a:pPr/>
              <a:t>‹#›</a:t>
            </a:fld>
            <a:endParaRPr lang="en-US"/>
          </a:p>
        </p:txBody>
      </p:sp>
    </p:spTree>
    <p:extLst>
      <p:ext uri="{BB962C8B-B14F-4D97-AF65-F5344CB8AC3E}">
        <p14:creationId xmlns="" xmlns:p14="http://schemas.microsoft.com/office/powerpoint/2010/main" val="1978927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Pathology of </a:t>
            </a:r>
            <a:r>
              <a:rPr lang="en-US" b="1" dirty="0"/>
              <a:t>R</a:t>
            </a:r>
            <a:r>
              <a:rPr lang="en-US" b="1" dirty="0" smtClean="0"/>
              <a:t>espiratory </a:t>
            </a:r>
            <a:r>
              <a:rPr lang="en-US" b="1" dirty="0"/>
              <a:t>D</a:t>
            </a:r>
            <a:r>
              <a:rPr lang="en-US" b="1" dirty="0" smtClean="0"/>
              <a:t>isorders</a:t>
            </a:r>
            <a:endParaRPr lang="en-US" b="1" dirty="0"/>
          </a:p>
        </p:txBody>
      </p:sp>
      <p:sp>
        <p:nvSpPr>
          <p:cNvPr id="3" name="Subtitle 2"/>
          <p:cNvSpPr>
            <a:spLocks noGrp="1"/>
          </p:cNvSpPr>
          <p:nvPr>
            <p:ph type="subTitle" idx="1"/>
          </p:nvPr>
        </p:nvSpPr>
        <p:spPr>
          <a:xfrm>
            <a:off x="1524000" y="5172891"/>
            <a:ext cx="9144000" cy="1084217"/>
          </a:xfrm>
        </p:spPr>
        <p:txBody>
          <a:bodyPr/>
          <a:lstStyle/>
          <a:p>
            <a:endParaRPr lang="en-US" dirty="0"/>
          </a:p>
        </p:txBody>
      </p:sp>
    </p:spTree>
    <p:extLst>
      <p:ext uri="{BB962C8B-B14F-4D97-AF65-F5344CB8AC3E}">
        <p14:creationId xmlns="" xmlns:p14="http://schemas.microsoft.com/office/powerpoint/2010/main" val="7748461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3600" b="1" dirty="0" smtClean="0"/>
              <a:t>    Outline</a:t>
            </a:r>
          </a:p>
          <a:p>
            <a:r>
              <a:rPr lang="en-US" dirty="0" smtClean="0"/>
              <a:t> </a:t>
            </a:r>
            <a:r>
              <a:rPr lang="en-US" dirty="0" err="1" smtClean="0"/>
              <a:t>Atelectasis</a:t>
            </a:r>
            <a:endParaRPr lang="en-US" dirty="0" smtClean="0"/>
          </a:p>
          <a:p>
            <a:r>
              <a:rPr lang="en-US" dirty="0" smtClean="0"/>
              <a:t>Pulmonary infections</a:t>
            </a:r>
          </a:p>
          <a:p>
            <a:r>
              <a:rPr lang="en-US" dirty="0" smtClean="0"/>
              <a:t>Sarcoidosis</a:t>
            </a:r>
          </a:p>
          <a:p>
            <a:r>
              <a:rPr lang="en-US" dirty="0" smtClean="0"/>
              <a:t>Obstructive lung disease</a:t>
            </a:r>
          </a:p>
          <a:p>
            <a:r>
              <a:rPr lang="en-US" dirty="0" smtClean="0"/>
              <a:t>Restrictive lung disease</a:t>
            </a:r>
          </a:p>
          <a:p>
            <a:r>
              <a:rPr lang="en-US" dirty="0" smtClean="0"/>
              <a:t>Neoplasms of lung</a:t>
            </a:r>
          </a:p>
          <a:p>
            <a:endParaRPr lang="en-US" dirty="0"/>
          </a:p>
        </p:txBody>
      </p:sp>
    </p:spTree>
    <p:extLst>
      <p:ext uri="{BB962C8B-B14F-4D97-AF65-F5344CB8AC3E}">
        <p14:creationId xmlns="" xmlns:p14="http://schemas.microsoft.com/office/powerpoint/2010/main" val="1534754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8903"/>
            <a:ext cx="10515600" cy="5158060"/>
          </a:xfrm>
        </p:spPr>
        <p:txBody>
          <a:bodyPr>
            <a:normAutofit/>
          </a:bodyPr>
          <a:lstStyle/>
          <a:p>
            <a:pPr marL="0" indent="0">
              <a:buNone/>
            </a:pPr>
            <a:r>
              <a:rPr lang="en-US" sz="3500" b="1" dirty="0" smtClean="0"/>
              <a:t>ATELECTASIS</a:t>
            </a:r>
            <a:r>
              <a:rPr lang="en-US" dirty="0" smtClean="0"/>
              <a:t> </a:t>
            </a:r>
          </a:p>
          <a:p>
            <a:r>
              <a:rPr lang="en-US" sz="2400" b="1" dirty="0" err="1" smtClean="0"/>
              <a:t>Atelectasis</a:t>
            </a:r>
            <a:r>
              <a:rPr lang="en-US" sz="2400" b="1" dirty="0" smtClean="0"/>
              <a:t>, also known as collapse, is loss of lung volume</a:t>
            </a:r>
          </a:p>
          <a:p>
            <a:pPr>
              <a:buNone/>
            </a:pPr>
            <a:r>
              <a:rPr lang="en-US" sz="2400" b="1" dirty="0" smtClean="0"/>
              <a:t>    caused by inadequate expansion of air spaces.</a:t>
            </a:r>
            <a:r>
              <a:rPr lang="en-US" sz="2400" dirty="0" smtClean="0"/>
              <a:t> </a:t>
            </a:r>
          </a:p>
          <a:p>
            <a:r>
              <a:rPr lang="en-US" sz="2400" dirty="0" smtClean="0"/>
              <a:t>It is reversible, but areas of atelectasis predispose for infection due to decreased mucociliary clearance. </a:t>
            </a:r>
            <a:endParaRPr lang="en-US" sz="2400" dirty="0"/>
          </a:p>
          <a:p>
            <a:pPr>
              <a:buFont typeface="Wingdings" panose="05000000000000000000" pitchFamily="2" charset="2"/>
              <a:buChar char="Ø"/>
            </a:pPr>
            <a:r>
              <a:rPr lang="en-US" sz="2400" b="1" dirty="0" err="1" smtClean="0"/>
              <a:t>Resorption</a:t>
            </a:r>
            <a:r>
              <a:rPr lang="en-US" sz="2400" b="1" dirty="0" smtClean="0"/>
              <a:t> atelectasis </a:t>
            </a:r>
            <a:r>
              <a:rPr lang="en-US" sz="2400" dirty="0" smtClean="0"/>
              <a:t>is collapse of lung due to resorption of air distal to an obstruction; </a:t>
            </a:r>
            <a:r>
              <a:rPr lang="en-US" sz="2400" b="1" dirty="0" smtClean="0"/>
              <a:t>examples</a:t>
            </a:r>
            <a:r>
              <a:rPr lang="en-US" sz="2400" dirty="0" smtClean="0"/>
              <a:t> include aspiration of a foreign body, chronic obstructive pulmonary disease (COPD), and postoperative atelectasis. </a:t>
            </a:r>
            <a:endParaRPr lang="en-US" sz="2400" dirty="0"/>
          </a:p>
          <a:p>
            <a:pPr>
              <a:buFont typeface="Wingdings" panose="05000000000000000000" pitchFamily="2" charset="2"/>
              <a:buChar char="Ø"/>
            </a:pPr>
            <a:r>
              <a:rPr lang="en-US" sz="2400" b="1" dirty="0" smtClean="0"/>
              <a:t>Compression </a:t>
            </a:r>
            <a:r>
              <a:rPr lang="en-US" sz="2400" b="1" dirty="0" err="1" smtClean="0"/>
              <a:t>atelectasis</a:t>
            </a:r>
            <a:r>
              <a:rPr lang="en-US" sz="2400" b="1" dirty="0" smtClean="0"/>
              <a:t> </a:t>
            </a:r>
            <a:r>
              <a:rPr lang="en-US" sz="2400" dirty="0" smtClean="0"/>
              <a:t>is atelectasis due to fluid, air, blood, or tumor in the pleural space. </a:t>
            </a:r>
            <a:endParaRPr lang="en-US" sz="2400" dirty="0"/>
          </a:p>
          <a:p>
            <a:pPr>
              <a:buFont typeface="Wingdings" panose="05000000000000000000" pitchFamily="2" charset="2"/>
              <a:buChar char="Ø"/>
            </a:pPr>
            <a:r>
              <a:rPr lang="en-US" sz="2400" b="1" dirty="0" smtClean="0"/>
              <a:t>Contraction </a:t>
            </a:r>
            <a:r>
              <a:rPr lang="en-US" sz="2400" b="1" dirty="0" err="1" smtClean="0"/>
              <a:t>atelectasis</a:t>
            </a:r>
            <a:r>
              <a:rPr lang="en-US" sz="2400" dirty="0" smtClean="0"/>
              <a:t>(or </a:t>
            </a:r>
            <a:r>
              <a:rPr lang="en-US" sz="2400" b="1" dirty="0" err="1" smtClean="0"/>
              <a:t>cicatrization</a:t>
            </a:r>
            <a:r>
              <a:rPr lang="en-US" sz="2400" b="1" dirty="0" smtClean="0"/>
              <a:t> </a:t>
            </a:r>
            <a:r>
              <a:rPr lang="en-US" sz="2400" b="1" dirty="0" err="1" smtClean="0"/>
              <a:t>atelectasis</a:t>
            </a:r>
            <a:r>
              <a:rPr lang="en-US" sz="2400" dirty="0" smtClean="0"/>
              <a:t>)</a:t>
            </a:r>
            <a:r>
              <a:rPr lang="en-US" sz="2400" b="1" dirty="0" smtClean="0"/>
              <a:t> </a:t>
            </a:r>
            <a:r>
              <a:rPr lang="en-US" sz="2400" dirty="0" smtClean="0"/>
              <a:t>is due to fibrosis and scarring of the lung. </a:t>
            </a:r>
          </a:p>
          <a:p>
            <a:pPr>
              <a:buNone/>
            </a:pPr>
            <a:endParaRPr lang="en-US" sz="2400" dirty="0"/>
          </a:p>
        </p:txBody>
      </p:sp>
    </p:spTree>
    <p:extLst>
      <p:ext uri="{BB962C8B-B14F-4D97-AF65-F5344CB8AC3E}">
        <p14:creationId xmlns="" xmlns:p14="http://schemas.microsoft.com/office/powerpoint/2010/main" val="339351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3200" b="1" dirty="0" smtClean="0"/>
              <a:t>PULMONARY INFECTIONS</a:t>
            </a:r>
          </a:p>
          <a:p>
            <a:pPr marL="0" indent="0">
              <a:buNone/>
            </a:pPr>
            <a:r>
              <a:rPr lang="en-US" b="1" dirty="0" smtClean="0"/>
              <a:t>A. Pneumonia </a:t>
            </a:r>
          </a:p>
          <a:p>
            <a:r>
              <a:rPr lang="en-US" dirty="0" smtClean="0"/>
              <a:t>In bacterial pneumonia, acute inflammation and consolidation (solidification) of the lung are due to a bacterial agent. </a:t>
            </a:r>
          </a:p>
          <a:p>
            <a:pPr>
              <a:buFont typeface="Wingdings" panose="05000000000000000000" pitchFamily="2" charset="2"/>
              <a:buChar char="ü"/>
            </a:pPr>
            <a:r>
              <a:rPr lang="en-US" dirty="0" smtClean="0"/>
              <a:t>Clinical signs and symptoms </a:t>
            </a:r>
            <a:r>
              <a:rPr lang="en-US" dirty="0"/>
              <a:t>include</a:t>
            </a:r>
            <a:endParaRPr lang="en-US" dirty="0" smtClean="0"/>
          </a:p>
          <a:p>
            <a:r>
              <a:rPr lang="en-US" dirty="0"/>
              <a:t>F</a:t>
            </a:r>
            <a:r>
              <a:rPr lang="en-US" dirty="0" smtClean="0"/>
              <a:t>ever and chills; productive cough with yellow-green (pus) or rusty (bloody) sputum; tachypnea; pleuritic chest pain; and decreased breath sounds, rales, and dullness to percussion.</a:t>
            </a:r>
            <a:endParaRPr lang="en-US" dirty="0"/>
          </a:p>
        </p:txBody>
      </p:sp>
    </p:spTree>
    <p:extLst>
      <p:ext uri="{BB962C8B-B14F-4D97-AF65-F5344CB8AC3E}">
        <p14:creationId xmlns="" xmlns:p14="http://schemas.microsoft.com/office/powerpoint/2010/main" val="20976174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ü"/>
            </a:pPr>
            <a:r>
              <a:rPr lang="en-US" b="1" dirty="0" smtClean="0"/>
              <a:t>Laboratory Studies </a:t>
            </a:r>
            <a:r>
              <a:rPr lang="en-US" dirty="0" smtClean="0"/>
              <a:t>typically show elevated white blood cell count with a left shift (an increase in immature leukocytes). </a:t>
            </a:r>
          </a:p>
          <a:p>
            <a:pPr>
              <a:buFont typeface="Wingdings" panose="05000000000000000000" pitchFamily="2" charset="2"/>
              <a:buChar char="ü"/>
            </a:pPr>
            <a:r>
              <a:rPr lang="en-US" b="1" dirty="0" smtClean="0"/>
              <a:t>Chest x-ray </a:t>
            </a:r>
            <a:r>
              <a:rPr lang="en-US" dirty="0" smtClean="0"/>
              <a:t>for lobar pneumonia typically shows lobar or segmental consolidation (opacification), </a:t>
            </a:r>
            <a:r>
              <a:rPr lang="en-US" dirty="0"/>
              <a:t>and for bronchopneumonia typically shows patchy opacification. </a:t>
            </a:r>
            <a:endParaRPr lang="en-US" dirty="0" smtClean="0"/>
          </a:p>
          <a:p>
            <a:pPr>
              <a:buFont typeface="Wingdings" panose="05000000000000000000" pitchFamily="2" charset="2"/>
              <a:buChar char="ü"/>
            </a:pPr>
            <a:r>
              <a:rPr lang="en-US" dirty="0" smtClean="0"/>
              <a:t>Pleural </a:t>
            </a:r>
            <a:r>
              <a:rPr lang="en-US" dirty="0"/>
              <a:t>effusion may also be picked up on chest </a:t>
            </a:r>
            <a:r>
              <a:rPr lang="en-US" dirty="0" smtClean="0"/>
              <a:t>x-ray.</a:t>
            </a:r>
            <a:endParaRPr lang="en-US" dirty="0"/>
          </a:p>
        </p:txBody>
      </p:sp>
    </p:spTree>
    <p:extLst>
      <p:ext uri="{BB962C8B-B14F-4D97-AF65-F5344CB8AC3E}">
        <p14:creationId xmlns="" xmlns:p14="http://schemas.microsoft.com/office/powerpoint/2010/main" val="1492397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1783"/>
            <a:ext cx="10515600" cy="4975180"/>
          </a:xfrm>
        </p:spPr>
        <p:txBody>
          <a:bodyPr>
            <a:normAutofit fontScale="85000" lnSpcReduction="10000"/>
          </a:bodyPr>
          <a:lstStyle/>
          <a:p>
            <a:pPr>
              <a:buFont typeface="Wingdings" panose="05000000000000000000" pitchFamily="2" charset="2"/>
              <a:buChar char="Ø"/>
            </a:pPr>
            <a:r>
              <a:rPr lang="en-US" b="1" dirty="0" smtClean="0"/>
              <a:t>Lobar pneumonia </a:t>
            </a:r>
          </a:p>
          <a:p>
            <a:r>
              <a:rPr lang="en-US" dirty="0"/>
              <a:t>I</a:t>
            </a:r>
            <a:r>
              <a:rPr lang="en-US" dirty="0" smtClean="0"/>
              <a:t>s characterized by consolidation of an entire lobe. </a:t>
            </a:r>
          </a:p>
          <a:p>
            <a:r>
              <a:rPr lang="en-US" dirty="0" smtClean="0"/>
              <a:t>The infecting organism is typically Streptococcus pneumoniae (95%) or Klebsiella</a:t>
            </a:r>
          </a:p>
          <a:p>
            <a:r>
              <a:rPr lang="en-US" dirty="0" smtClean="0"/>
              <a:t>The 4 classic phases of lobar pneumonia are </a:t>
            </a:r>
          </a:p>
          <a:p>
            <a:pPr>
              <a:buNone/>
            </a:pPr>
            <a:r>
              <a:rPr lang="en-US" dirty="0" smtClean="0"/>
              <a:t>1. </a:t>
            </a:r>
            <a:r>
              <a:rPr lang="en-US" dirty="0" smtClean="0">
                <a:solidFill>
                  <a:srgbClr val="FF0000"/>
                </a:solidFill>
              </a:rPr>
              <a:t>Congestion-</a:t>
            </a:r>
            <a:r>
              <a:rPr lang="en-US" dirty="0" smtClean="0"/>
              <a:t>characterized by vascular engorgement, </a:t>
            </a:r>
            <a:r>
              <a:rPr lang="en-US" dirty="0" err="1" smtClean="0"/>
              <a:t>intraalveolar</a:t>
            </a:r>
            <a:r>
              <a:rPr lang="en-US" dirty="0" smtClean="0"/>
              <a:t> fluid with </a:t>
            </a:r>
          </a:p>
          <a:p>
            <a:pPr>
              <a:buNone/>
            </a:pPr>
            <a:r>
              <a:rPr lang="en-US" dirty="0" smtClean="0"/>
              <a:t>     few </a:t>
            </a:r>
            <a:r>
              <a:rPr lang="en-US" dirty="0" err="1" smtClean="0"/>
              <a:t>neutrophils</a:t>
            </a:r>
            <a:r>
              <a:rPr lang="en-US" dirty="0" smtClean="0"/>
              <a:t> and numerous bacteria. </a:t>
            </a:r>
          </a:p>
          <a:p>
            <a:pPr>
              <a:buNone/>
            </a:pPr>
            <a:r>
              <a:rPr lang="en-US" dirty="0" smtClean="0"/>
              <a:t>2. </a:t>
            </a:r>
            <a:r>
              <a:rPr lang="en-US" dirty="0" smtClean="0">
                <a:solidFill>
                  <a:srgbClr val="C00000"/>
                </a:solidFill>
              </a:rPr>
              <a:t>Red </a:t>
            </a:r>
            <a:r>
              <a:rPr lang="en-US" dirty="0" err="1" smtClean="0">
                <a:solidFill>
                  <a:srgbClr val="C00000"/>
                </a:solidFill>
              </a:rPr>
              <a:t>hepatization</a:t>
            </a:r>
            <a:r>
              <a:rPr lang="en-US" dirty="0" smtClean="0">
                <a:solidFill>
                  <a:srgbClr val="C00000"/>
                </a:solidFill>
              </a:rPr>
              <a:t>-</a:t>
            </a:r>
            <a:r>
              <a:rPr lang="en-US" dirty="0" smtClean="0"/>
              <a:t>characterized by massive confluent exudation, as </a:t>
            </a:r>
            <a:r>
              <a:rPr lang="en-US" dirty="0" err="1" smtClean="0"/>
              <a:t>neutrophils</a:t>
            </a:r>
            <a:r>
              <a:rPr lang="en-US" dirty="0" smtClean="0"/>
              <a:t>, red cells, and fibrin fill the alveolar spaces. </a:t>
            </a:r>
            <a:endParaRPr lang="en-US" dirty="0"/>
          </a:p>
          <a:p>
            <a:pPr>
              <a:buNone/>
            </a:pPr>
            <a:r>
              <a:rPr lang="en-US" dirty="0" smtClean="0"/>
              <a:t>3. </a:t>
            </a:r>
            <a:r>
              <a:rPr lang="en-US" dirty="0" smtClean="0">
                <a:solidFill>
                  <a:srgbClr val="C00000"/>
                </a:solidFill>
              </a:rPr>
              <a:t>Gray </a:t>
            </a:r>
            <a:r>
              <a:rPr lang="en-US" dirty="0" err="1" smtClean="0">
                <a:solidFill>
                  <a:srgbClr val="C00000"/>
                </a:solidFill>
              </a:rPr>
              <a:t>hepatization</a:t>
            </a:r>
            <a:r>
              <a:rPr lang="en-US" dirty="0" smtClean="0">
                <a:solidFill>
                  <a:srgbClr val="C00000"/>
                </a:solidFill>
              </a:rPr>
              <a:t>-</a:t>
            </a:r>
            <a:r>
              <a:rPr lang="en-US" dirty="0" smtClean="0"/>
              <a:t>degradation of red blood cells and </a:t>
            </a:r>
            <a:r>
              <a:rPr lang="en-US" dirty="0" err="1" smtClean="0"/>
              <a:t>fibrinosuppurative</a:t>
            </a:r>
            <a:r>
              <a:rPr lang="en-US" dirty="0" smtClean="0"/>
              <a:t>     </a:t>
            </a:r>
            <a:r>
              <a:rPr lang="en-US" dirty="0" err="1" smtClean="0"/>
              <a:t>exudate</a:t>
            </a:r>
            <a:r>
              <a:rPr lang="en-US" dirty="0" smtClean="0"/>
              <a:t> , resulting in a color change to grayish-brown.</a:t>
            </a:r>
          </a:p>
          <a:p>
            <a:pPr marL="0" indent="0">
              <a:buNone/>
            </a:pPr>
            <a:r>
              <a:rPr lang="en-US" dirty="0" smtClean="0"/>
              <a:t>4. </a:t>
            </a:r>
            <a:r>
              <a:rPr lang="en-US" dirty="0" smtClean="0">
                <a:solidFill>
                  <a:srgbClr val="C00000"/>
                </a:solidFill>
              </a:rPr>
              <a:t>Resolution</a:t>
            </a:r>
            <a:r>
              <a:rPr lang="en-US" dirty="0" smtClean="0"/>
              <a:t> (healing). </a:t>
            </a:r>
          </a:p>
          <a:p>
            <a:r>
              <a:rPr lang="en-US" dirty="0" smtClean="0"/>
              <a:t>In today’s antibiotic era, these changes are not generally observed in practice.</a:t>
            </a:r>
            <a:endParaRPr lang="en-US" dirty="0"/>
          </a:p>
        </p:txBody>
      </p:sp>
    </p:spTree>
    <p:extLst>
      <p:ext uri="{BB962C8B-B14F-4D97-AF65-F5344CB8AC3E}">
        <p14:creationId xmlns="" xmlns:p14="http://schemas.microsoft.com/office/powerpoint/2010/main" val="5597761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smtClean="0"/>
              <a:t>Bronchopneumonia</a:t>
            </a:r>
            <a:r>
              <a:rPr lang="en-US" dirty="0" smtClean="0"/>
              <a:t> </a:t>
            </a:r>
          </a:p>
          <a:p>
            <a:r>
              <a:rPr lang="en-US" sz="2400" dirty="0" smtClean="0"/>
              <a:t>Is characterized by scattered patchy consolidation centered on bronchioles.</a:t>
            </a:r>
          </a:p>
          <a:p>
            <a:r>
              <a:rPr lang="en-US" sz="2400" dirty="0"/>
              <a:t>T</a:t>
            </a:r>
            <a:r>
              <a:rPr lang="en-US" sz="2400" dirty="0" smtClean="0"/>
              <a:t>he inflammation tends to be bilateral, multilobar, and basilar </a:t>
            </a:r>
          </a:p>
          <a:p>
            <a:r>
              <a:rPr lang="en-US" sz="2400" dirty="0"/>
              <a:t>S</a:t>
            </a:r>
            <a:r>
              <a:rPr lang="en-US" sz="2400" dirty="0" smtClean="0"/>
              <a:t>usceptible populations include the young, old, and terminally ill.</a:t>
            </a:r>
          </a:p>
          <a:p>
            <a:r>
              <a:rPr lang="en-US" sz="2400" dirty="0" smtClean="0"/>
              <a:t>Infecting organisms exhibit more variation than in lobar pneumonia, and include Staphylococci, Streptococci, Haemophilus influenzae, Pseudomonas aeruginosa, etc.</a:t>
            </a:r>
            <a:endParaRPr lang="en-US" sz="2400" dirty="0"/>
          </a:p>
        </p:txBody>
      </p:sp>
    </p:spTree>
    <p:extLst>
      <p:ext uri="{BB962C8B-B14F-4D97-AF65-F5344CB8AC3E}">
        <p14:creationId xmlns="" xmlns:p14="http://schemas.microsoft.com/office/powerpoint/2010/main" val="1607272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lstStyle/>
          <a:p>
            <a:pPr>
              <a:buFont typeface="Wingdings" panose="05000000000000000000" pitchFamily="2" charset="2"/>
              <a:buChar char="Ø"/>
            </a:pPr>
            <a:r>
              <a:rPr lang="en-US" b="1" dirty="0" smtClean="0"/>
              <a:t>Atypical pneumonia </a:t>
            </a:r>
          </a:p>
          <a:p>
            <a:r>
              <a:rPr lang="en-US" sz="2400" dirty="0"/>
              <a:t>I</a:t>
            </a:r>
            <a:r>
              <a:rPr lang="en-US" sz="2400" dirty="0" smtClean="0"/>
              <a:t>s the term used for interstitial pneumonitis without consolidation. </a:t>
            </a:r>
          </a:p>
          <a:p>
            <a:r>
              <a:rPr lang="en-US" sz="2400" dirty="0" smtClean="0"/>
              <a:t>It is more common in children and young adults. </a:t>
            </a:r>
          </a:p>
          <a:p>
            <a:r>
              <a:rPr lang="en-US" sz="2400" dirty="0" smtClean="0"/>
              <a:t>Infecting organisms include Mycoplasma pneumoniae, influenza virus, parainfluenza virus, respiratory syncytial virus (RSV) (which is especially important in young children), adenovirus, cytomegalovirus (CMV) (which is especially</a:t>
            </a:r>
            <a:endParaRPr lang="en-US" sz="2400" dirty="0"/>
          </a:p>
        </p:txBody>
      </p:sp>
    </p:spTree>
    <p:extLst>
      <p:ext uri="{BB962C8B-B14F-4D97-AF65-F5344CB8AC3E}">
        <p14:creationId xmlns="" xmlns:p14="http://schemas.microsoft.com/office/powerpoint/2010/main" val="38220916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Complications of </a:t>
            </a:r>
            <a:r>
              <a:rPr lang="en-US" sz="2400" b="1" dirty="0" smtClean="0"/>
              <a:t>pneumonia </a:t>
            </a:r>
            <a:r>
              <a:rPr lang="en-US" sz="2400" dirty="0" smtClean="0"/>
              <a:t>include fibrous scarring and pleural adhesions, lung abscess, empyema (pus in a body cavity), and sepsis.</a:t>
            </a:r>
            <a:endParaRPr lang="en-US" sz="2400" dirty="0"/>
          </a:p>
        </p:txBody>
      </p:sp>
    </p:spTree>
    <p:extLst>
      <p:ext uri="{BB962C8B-B14F-4D97-AF65-F5344CB8AC3E}">
        <p14:creationId xmlns="" xmlns:p14="http://schemas.microsoft.com/office/powerpoint/2010/main" val="1736050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smtClean="0"/>
              <a:t>B. Lung abscess </a:t>
            </a:r>
          </a:p>
          <a:p>
            <a:r>
              <a:rPr lang="en-US" sz="2400" dirty="0"/>
              <a:t>I</a:t>
            </a:r>
            <a:r>
              <a:rPr lang="en-US" sz="2400" dirty="0" smtClean="0"/>
              <a:t>s a localized collection of neutrophils (pus) and necrotic pulmonary parenchyma. </a:t>
            </a:r>
            <a:endParaRPr lang="en-US" sz="2400" dirty="0"/>
          </a:p>
          <a:p>
            <a:pPr>
              <a:buFont typeface="Wingdings" panose="05000000000000000000" pitchFamily="2" charset="2"/>
              <a:buChar char="ü"/>
            </a:pPr>
            <a:r>
              <a:rPr lang="en-US" sz="2400" dirty="0" smtClean="0"/>
              <a:t>Aspiration is the most common cause. </a:t>
            </a:r>
          </a:p>
          <a:p>
            <a:r>
              <a:rPr lang="en-US" sz="2400" dirty="0" smtClean="0"/>
              <a:t>It tends to involve right lower lobe and typically has mixed oral flora (often both anaerobic and aerobic) for infecting organisms.</a:t>
            </a:r>
            <a:endParaRPr lang="en-US" sz="2400" dirty="0"/>
          </a:p>
        </p:txBody>
      </p:sp>
    </p:spTree>
    <p:extLst>
      <p:ext uri="{BB962C8B-B14F-4D97-AF65-F5344CB8AC3E}">
        <p14:creationId xmlns="" xmlns:p14="http://schemas.microsoft.com/office/powerpoint/2010/main" val="32337204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sz="2400" dirty="0" smtClean="0"/>
              <a:t>Pneumonia, especially one due to S. aureus or Klebsiella.</a:t>
            </a:r>
          </a:p>
          <a:p>
            <a:pPr>
              <a:buFont typeface="Wingdings" panose="05000000000000000000" pitchFamily="2" charset="2"/>
              <a:buChar char="ü"/>
            </a:pPr>
            <a:r>
              <a:rPr lang="en-US" sz="2400" dirty="0"/>
              <a:t>A</a:t>
            </a:r>
            <a:r>
              <a:rPr lang="en-US" sz="2400" dirty="0" smtClean="0"/>
              <a:t>irway obstruction (post obstructive) or </a:t>
            </a:r>
          </a:p>
          <a:p>
            <a:pPr>
              <a:buFont typeface="Wingdings" panose="05000000000000000000" pitchFamily="2" charset="2"/>
              <a:buChar char="ü"/>
            </a:pPr>
            <a:r>
              <a:rPr lang="en-US" sz="2400" dirty="0"/>
              <a:t>D</a:t>
            </a:r>
            <a:r>
              <a:rPr lang="en-US" sz="2400" dirty="0" smtClean="0"/>
              <a:t>eposition of septic emboli in the lung. </a:t>
            </a:r>
          </a:p>
          <a:p>
            <a:pPr marL="0" indent="0">
              <a:buNone/>
            </a:pPr>
            <a:endParaRPr lang="en-US" sz="2400" dirty="0" smtClean="0"/>
          </a:p>
          <a:p>
            <a:r>
              <a:rPr lang="en-US" sz="2400" dirty="0" smtClean="0"/>
              <a:t>Complications of lung abscess include empyema, pulmonary hemorrhage, and secondary amyloidosis.</a:t>
            </a:r>
            <a:endParaRPr lang="en-US" sz="2400" dirty="0"/>
          </a:p>
        </p:txBody>
      </p:sp>
    </p:spTree>
    <p:extLst>
      <p:ext uri="{BB962C8B-B14F-4D97-AF65-F5344CB8AC3E}">
        <p14:creationId xmlns="" xmlns:p14="http://schemas.microsoft.com/office/powerpoint/2010/main" val="4994656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smtClean="0"/>
              <a:t>C. Tuberculosis (TB) </a:t>
            </a:r>
          </a:p>
          <a:p>
            <a:r>
              <a:rPr lang="en-US" sz="2400" dirty="0" smtClean="0"/>
              <a:t>Is a communicable chronic </a:t>
            </a:r>
            <a:r>
              <a:rPr lang="en-US" sz="2400" dirty="0" err="1" smtClean="0"/>
              <a:t>granulomatous</a:t>
            </a:r>
            <a:r>
              <a:rPr lang="en-US" sz="2400" dirty="0" smtClean="0"/>
              <a:t> disease caused by </a:t>
            </a:r>
            <a:r>
              <a:rPr lang="en-US" sz="2400" i="1" dirty="0" smtClean="0"/>
              <a:t>Mycobacterium tuberculosis.</a:t>
            </a:r>
          </a:p>
          <a:p>
            <a:r>
              <a:rPr lang="en-US" sz="2400" dirty="0" smtClean="0"/>
              <a:t>It usually involves the lungs but may affect any organ or tissue in the body.</a:t>
            </a:r>
          </a:p>
        </p:txBody>
      </p:sp>
    </p:spTree>
    <p:extLst>
      <p:ext uri="{BB962C8B-B14F-4D97-AF65-F5344CB8AC3E}">
        <p14:creationId xmlns="" xmlns:p14="http://schemas.microsoft.com/office/powerpoint/2010/main" val="13162484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Primary pulmonary TB</a:t>
            </a:r>
          </a:p>
          <a:p>
            <a:r>
              <a:rPr lang="en-US" sz="2400" dirty="0" smtClean="0"/>
              <a:t>Develops in a previously unexposed and therefore </a:t>
            </a:r>
            <a:r>
              <a:rPr lang="en-US" sz="2400" dirty="0" err="1" smtClean="0"/>
              <a:t>unsensitized</a:t>
            </a:r>
            <a:r>
              <a:rPr lang="en-US" sz="2400" dirty="0" smtClean="0"/>
              <a:t> patient. </a:t>
            </a:r>
          </a:p>
          <a:p>
            <a:r>
              <a:rPr lang="en-US" sz="2400" dirty="0" smtClean="0"/>
              <a:t>The Ghon focus of primary TB is characterized by sub pleural caseous granuloma formation, either above or below the interlobar fissure.</a:t>
            </a:r>
          </a:p>
          <a:p>
            <a:r>
              <a:rPr lang="en-US" sz="2400" dirty="0" smtClean="0"/>
              <a:t>The term Ghon complex refers to the combination of the Ghon focus and secondarily-involved hilar lymph nodes with granulomas. </a:t>
            </a:r>
          </a:p>
          <a:p>
            <a:r>
              <a:rPr lang="en-US" sz="2400" dirty="0" smtClean="0"/>
              <a:t>Most primary pulmonary tuberculosis lesions (95%) will undergo fibrosis and calcification</a:t>
            </a:r>
            <a:endParaRPr lang="en-US" sz="2400" dirty="0"/>
          </a:p>
        </p:txBody>
      </p:sp>
    </p:spTree>
    <p:extLst>
      <p:ext uri="{BB962C8B-B14F-4D97-AF65-F5344CB8AC3E}">
        <p14:creationId xmlns="" xmlns:p14="http://schemas.microsoft.com/office/powerpoint/2010/main" val="26104205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400" dirty="0" smtClean="0">
                <a:latin typeface="Bahnschrift SemiLight" panose="020B0502040204020203" pitchFamily="34" charset="0"/>
              </a:rPr>
              <a:t>The primary tuberculosis either:</a:t>
            </a:r>
          </a:p>
          <a:p>
            <a:pPr>
              <a:buNone/>
            </a:pPr>
            <a:endParaRPr lang="en-US" sz="2400" dirty="0" smtClean="0">
              <a:latin typeface="Bahnschrift SemiLight" panose="020B0502040204020203" pitchFamily="34" charset="0"/>
            </a:endParaRPr>
          </a:p>
          <a:p>
            <a:pPr>
              <a:buNone/>
            </a:pPr>
            <a:r>
              <a:rPr lang="en-US" sz="2400" dirty="0" smtClean="0">
                <a:latin typeface="Bahnschrift SemiLight" panose="020B0502040204020203" pitchFamily="34" charset="0"/>
              </a:rPr>
              <a:t>    (1) Form foci of scarring that harbor viable bacilli for years, and thus be the </a:t>
            </a:r>
            <a:r>
              <a:rPr lang="en-US" sz="2400" dirty="0" err="1" smtClean="0">
                <a:latin typeface="Bahnschrift SemiLight" panose="020B0502040204020203" pitchFamily="34" charset="0"/>
              </a:rPr>
              <a:t>nidus</a:t>
            </a:r>
            <a:r>
              <a:rPr lang="en-US" sz="2400" dirty="0" smtClean="0">
                <a:latin typeface="Bahnschrift SemiLight" panose="020B0502040204020203" pitchFamily="34" charset="0"/>
              </a:rPr>
              <a:t> for reactivation at a later time when host defenses are compromised.</a:t>
            </a:r>
          </a:p>
          <a:p>
            <a:pPr>
              <a:buNone/>
            </a:pPr>
            <a:r>
              <a:rPr lang="en-US" sz="2400" dirty="0" smtClean="0">
                <a:latin typeface="Bahnschrift SemiLight" panose="020B0502040204020203" pitchFamily="34" charset="0"/>
              </a:rPr>
              <a:t>                                      or</a:t>
            </a:r>
          </a:p>
          <a:p>
            <a:pPr>
              <a:buNone/>
            </a:pPr>
            <a:r>
              <a:rPr lang="en-US" sz="2400" dirty="0" smtClean="0">
                <a:latin typeface="Bahnschrift SemiLight" panose="020B0502040204020203" pitchFamily="34" charset="0"/>
              </a:rPr>
              <a:t>    (2)Progress to progressive primary tuberculosis (develop in individuals who are </a:t>
            </a:r>
            <a:r>
              <a:rPr lang="en-US" sz="2400" dirty="0" err="1" smtClean="0">
                <a:latin typeface="Bahnschrift SemiLight" panose="020B0502040204020203" pitchFamily="34" charset="0"/>
              </a:rPr>
              <a:t>immunocompromised</a:t>
            </a:r>
            <a:r>
              <a:rPr lang="en-US" sz="2400" dirty="0" smtClean="0">
                <a:latin typeface="Bahnschrift SemiLight" panose="020B0502040204020203" pitchFamily="34" charset="0"/>
              </a:rPr>
              <a:t> </a:t>
            </a:r>
            <a:r>
              <a:rPr lang="en-US" sz="2400" dirty="0" err="1" smtClean="0">
                <a:latin typeface="Bahnschrift SemiLight" panose="020B0502040204020203" pitchFamily="34" charset="0"/>
              </a:rPr>
              <a:t>e.g</a:t>
            </a:r>
            <a:r>
              <a:rPr lang="en-US" sz="2400" dirty="0" smtClean="0">
                <a:latin typeface="Bahnschrift SemiLight" panose="020B0502040204020203" pitchFamily="34" charset="0"/>
              </a:rPr>
              <a:t>, AIDS).</a:t>
            </a:r>
          </a:p>
          <a:p>
            <a:pPr>
              <a:buFont typeface="Wingdings" panose="05000000000000000000" pitchFamily="2" charset="2"/>
              <a:buChar char="Ø"/>
            </a:pPr>
            <a:endParaRPr lang="en-US" sz="2400" dirty="0"/>
          </a:p>
        </p:txBody>
      </p:sp>
    </p:spTree>
    <p:extLst>
      <p:ext uri="{BB962C8B-B14F-4D97-AF65-F5344CB8AC3E}">
        <p14:creationId xmlns="" xmlns:p14="http://schemas.microsoft.com/office/powerpoint/2010/main" val="37527736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t>Secondary pulmonary TB (also known as post primary or reactivation TB) </a:t>
            </a:r>
          </a:p>
          <a:p>
            <a:r>
              <a:rPr lang="en-US" sz="2400" dirty="0"/>
              <a:t>O</a:t>
            </a:r>
            <a:r>
              <a:rPr lang="en-US" sz="2400" dirty="0" smtClean="0"/>
              <a:t>ccurs either with reactivation of an old, previously quiescent infection or with reinfection secondary to a second exposure to the mycobacteria. </a:t>
            </a:r>
          </a:p>
          <a:p>
            <a:r>
              <a:rPr lang="en-US" sz="2400" dirty="0" smtClean="0"/>
              <a:t>In secondary pulmonary TB, the infection often produces a friable nodule at the lung apex (Simon focus) secondary to the high oxygen concentration present at that site, since the upper parts of the lung typically ventilate more efficiently than the lower parts. </a:t>
            </a:r>
            <a:endParaRPr lang="en-US" sz="2400" dirty="0"/>
          </a:p>
        </p:txBody>
      </p:sp>
    </p:spTree>
    <p:extLst>
      <p:ext uri="{BB962C8B-B14F-4D97-AF65-F5344CB8AC3E}">
        <p14:creationId xmlns="" xmlns:p14="http://schemas.microsoft.com/office/powerpoint/2010/main" val="40159114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Additionally, dissemination to other organ systems can occur in advanced TB via a hematogenous route that often results in a miliary pattern within each affected organ. </a:t>
            </a:r>
          </a:p>
          <a:p>
            <a:r>
              <a:rPr lang="en-US" sz="2400" dirty="0" smtClean="0"/>
              <a:t>Sites that may become involved include meninges; cervical lymph nodes (scrofula) and larynx; liver/spleen, kidneys, adrenals, and ileum; lumbar vertebrae bone marrow (Pott disease); and fallopian tubes and epididymis.</a:t>
            </a:r>
            <a:endParaRPr lang="en-US" sz="2400" dirty="0"/>
          </a:p>
        </p:txBody>
      </p:sp>
    </p:spTree>
    <p:extLst>
      <p:ext uri="{BB962C8B-B14F-4D97-AF65-F5344CB8AC3E}">
        <p14:creationId xmlns="" xmlns:p14="http://schemas.microsoft.com/office/powerpoint/2010/main" val="31231344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Nontuberculous mycobacteria. M. avium complex (MAC) typically occurs in AIDS patients with low CD4 counts.</a:t>
            </a:r>
          </a:p>
          <a:p>
            <a:r>
              <a:rPr lang="en-US" sz="2400" dirty="0" smtClean="0"/>
              <a:t>The diagnosis of TB requires identification of the bacilli.</a:t>
            </a:r>
            <a:endParaRPr lang="en-US" sz="2400" dirty="0"/>
          </a:p>
        </p:txBody>
      </p:sp>
    </p:spTree>
    <p:extLst>
      <p:ext uri="{BB962C8B-B14F-4D97-AF65-F5344CB8AC3E}">
        <p14:creationId xmlns="" xmlns:p14="http://schemas.microsoft.com/office/powerpoint/2010/main" val="16094382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045028" y="796834"/>
            <a:ext cx="10084525" cy="5380129"/>
          </a:xfrm>
        </p:spPr>
      </p:pic>
    </p:spTree>
    <p:extLst>
      <p:ext uri="{BB962C8B-B14F-4D97-AF65-F5344CB8AC3E}">
        <p14:creationId xmlns="" xmlns:p14="http://schemas.microsoft.com/office/powerpoint/2010/main" val="21845278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200" b="1" dirty="0" smtClean="0"/>
              <a:t>                            SARCOIDOSIS </a:t>
            </a:r>
          </a:p>
          <a:p>
            <a:r>
              <a:rPr lang="en-US" sz="2400" dirty="0" smtClean="0"/>
              <a:t>Sarcoidosis is a systemic granulomatous disease of uncertain etiology. </a:t>
            </a:r>
          </a:p>
          <a:p>
            <a:r>
              <a:rPr lang="en-US" sz="2400" dirty="0" smtClean="0"/>
              <a:t>The disease affects females more than males, with typical age 20–60. It is most common in African American women. </a:t>
            </a:r>
          </a:p>
          <a:p>
            <a:r>
              <a:rPr lang="en-US" sz="2400" dirty="0" smtClean="0"/>
              <a:t>It may be asymptomatic, or presenting symptoms may include cough and shortness of breath; fatigue and malaise; skin lesions; eye irritation or pain; and fever or night sweats. </a:t>
            </a:r>
          </a:p>
          <a:p>
            <a:r>
              <a:rPr lang="en-US" sz="2400" dirty="0" smtClean="0"/>
              <a:t>Most often, the disease is first detected on chest x-ray as bilateral hilar lymphadenopathy or parenchymal infiltrates.</a:t>
            </a:r>
            <a:endParaRPr lang="en-US" sz="2400" dirty="0"/>
          </a:p>
        </p:txBody>
      </p:sp>
    </p:spTree>
    <p:extLst>
      <p:ext uri="{BB962C8B-B14F-4D97-AF65-F5344CB8AC3E}">
        <p14:creationId xmlns="" xmlns:p14="http://schemas.microsoft.com/office/powerpoint/2010/main" val="17673582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The </a:t>
            </a:r>
            <a:r>
              <a:rPr lang="en-US" sz="2400" dirty="0" smtClean="0">
                <a:solidFill>
                  <a:srgbClr val="002060"/>
                </a:solidFill>
              </a:rPr>
              <a:t>noncaseating granulomas </a:t>
            </a:r>
            <a:r>
              <a:rPr lang="en-US" sz="2400" dirty="0" smtClean="0"/>
              <a:t>that are characteristic of sarcoidosis may occur in any organ of the body. </a:t>
            </a:r>
          </a:p>
          <a:p>
            <a:r>
              <a:rPr lang="en-US" sz="2400" dirty="0" smtClean="0"/>
              <a:t>In the </a:t>
            </a:r>
            <a:r>
              <a:rPr lang="en-US" sz="2400" dirty="0" smtClean="0">
                <a:solidFill>
                  <a:srgbClr val="C00000"/>
                </a:solidFill>
              </a:rPr>
              <a:t>lung</a:t>
            </a:r>
            <a:r>
              <a:rPr lang="en-US" sz="2400" dirty="0" smtClean="0"/>
              <a:t>, they typically form diffuse scattered granulomas; </a:t>
            </a:r>
            <a:r>
              <a:rPr lang="en-US" sz="2400" dirty="0" smtClean="0">
                <a:solidFill>
                  <a:srgbClr val="C00000"/>
                </a:solidFill>
              </a:rPr>
              <a:t>lymph</a:t>
            </a:r>
            <a:r>
              <a:rPr lang="en-US" sz="2400" dirty="0" smtClean="0"/>
              <a:t> </a:t>
            </a:r>
            <a:r>
              <a:rPr lang="en-US" sz="2400" dirty="0" smtClean="0">
                <a:solidFill>
                  <a:srgbClr val="C00000"/>
                </a:solidFill>
              </a:rPr>
              <a:t>node</a:t>
            </a:r>
            <a:r>
              <a:rPr lang="en-US" sz="2400" dirty="0" smtClean="0"/>
              <a:t> involvement may cause hilar and mediastinal adenopathy. </a:t>
            </a:r>
            <a:r>
              <a:rPr lang="en-US" sz="2400" dirty="0" smtClean="0">
                <a:solidFill>
                  <a:srgbClr val="C00000"/>
                </a:solidFill>
              </a:rPr>
              <a:t>Skin</a:t>
            </a:r>
            <a:r>
              <a:rPr lang="en-US" sz="2400" dirty="0" smtClean="0"/>
              <a:t>, liver and/or spleen, heart, central nervous system, bone marrow, and gastrointestinal tract are also frequent targets of the disease. </a:t>
            </a:r>
          </a:p>
          <a:p>
            <a:r>
              <a:rPr lang="en-US" sz="2400" dirty="0" smtClean="0">
                <a:solidFill>
                  <a:srgbClr val="C00000"/>
                </a:solidFill>
              </a:rPr>
              <a:t>Eye</a:t>
            </a:r>
            <a:r>
              <a:rPr lang="en-US" sz="2400" dirty="0" smtClean="0"/>
              <a:t> involvement can be seen in Mikulicz syndrome (involvement of the uvea and parotid).</a:t>
            </a:r>
            <a:endParaRPr lang="en-US" sz="2400" dirty="0"/>
          </a:p>
        </p:txBody>
      </p:sp>
    </p:spTree>
    <p:extLst>
      <p:ext uri="{BB962C8B-B14F-4D97-AF65-F5344CB8AC3E}">
        <p14:creationId xmlns="" xmlns:p14="http://schemas.microsoft.com/office/powerpoint/2010/main" val="7518704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541417" y="966650"/>
            <a:ext cx="8882743" cy="5159829"/>
          </a:xfrm>
        </p:spPr>
      </p:pic>
    </p:spTree>
    <p:extLst>
      <p:ext uri="{BB962C8B-B14F-4D97-AF65-F5344CB8AC3E}">
        <p14:creationId xmlns="" xmlns:p14="http://schemas.microsoft.com/office/powerpoint/2010/main" val="22389643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0" y="679269"/>
            <a:ext cx="11547565" cy="5799907"/>
          </a:xfrm>
        </p:spPr>
      </p:pic>
    </p:spTree>
    <p:extLst>
      <p:ext uri="{BB962C8B-B14F-4D97-AF65-F5344CB8AC3E}">
        <p14:creationId xmlns="" xmlns:p14="http://schemas.microsoft.com/office/powerpoint/2010/main" val="39254291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r>
              <a:rPr lang="en-US" sz="3200" b="1" dirty="0" smtClean="0"/>
              <a:t>OBSTRUCTIVE PULMONARY DISEASE  (COPD)</a:t>
            </a:r>
          </a:p>
          <a:p>
            <a:r>
              <a:rPr lang="en-US" sz="2400" dirty="0" smtClean="0"/>
              <a:t>Chronic obstructive pulmonary disease (COPD) is a general term used to indicate chronic decreased respiratory function due to chronic bronchitis or emphysema.</a:t>
            </a:r>
          </a:p>
          <a:p>
            <a:r>
              <a:rPr lang="en-US" sz="2400" dirty="0" smtClean="0"/>
              <a:t>Both diseases are associated with smoking.</a:t>
            </a:r>
            <a:endParaRPr lang="en-US" sz="2400" dirty="0"/>
          </a:p>
        </p:txBody>
      </p:sp>
    </p:spTree>
    <p:extLst>
      <p:ext uri="{BB962C8B-B14F-4D97-AF65-F5344CB8AC3E}">
        <p14:creationId xmlns="" xmlns:p14="http://schemas.microsoft.com/office/powerpoint/2010/main" val="25180328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t>Chronic Bronchitis </a:t>
            </a:r>
            <a:endParaRPr lang="en-US" b="1" dirty="0"/>
          </a:p>
          <a:p>
            <a:r>
              <a:rPr lang="en-US" sz="2400" dirty="0" smtClean="0"/>
              <a:t>Is a clinical diagnosis made when a patient has a persistent cough and copious sputum production for at least 3 months in 2 consecutive years. </a:t>
            </a:r>
          </a:p>
          <a:p>
            <a:r>
              <a:rPr lang="en-US" sz="2400" dirty="0" smtClean="0"/>
              <a:t>It is highly associated with smoking (90%). </a:t>
            </a:r>
          </a:p>
          <a:p>
            <a:r>
              <a:rPr lang="en-US" sz="2400" dirty="0" smtClean="0"/>
              <a:t>Clinical findings include cough, sputum production, dyspnea, frequent infections, hypoxia, cyanosis, and weight gain</a:t>
            </a:r>
            <a:endParaRPr lang="en-US" sz="2400" dirty="0"/>
          </a:p>
        </p:txBody>
      </p:sp>
    </p:spTree>
    <p:extLst>
      <p:ext uri="{BB962C8B-B14F-4D97-AF65-F5344CB8AC3E}">
        <p14:creationId xmlns="" xmlns:p14="http://schemas.microsoft.com/office/powerpoint/2010/main" val="3454965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Microscopic examination demonstrates enlargement of mucus-secreting</a:t>
            </a:r>
          </a:p>
          <a:p>
            <a:pPr>
              <a:buNone/>
            </a:pPr>
            <a:r>
              <a:rPr lang="en-US" sz="2400" dirty="0" smtClean="0"/>
              <a:t>    glands, goblet cell </a:t>
            </a:r>
            <a:r>
              <a:rPr lang="en-US" sz="2400" dirty="0" err="1" smtClean="0"/>
              <a:t>metaplasia</a:t>
            </a:r>
            <a:r>
              <a:rPr lang="en-US" sz="2400" dirty="0" smtClean="0"/>
              <a:t>, and bronchiolar wall fibrosis.</a:t>
            </a:r>
          </a:p>
          <a:p>
            <a:r>
              <a:rPr lang="en-US" sz="2400" b="1" dirty="0" smtClean="0"/>
              <a:t>Complications</a:t>
            </a:r>
            <a:r>
              <a:rPr lang="en-US" sz="2400" dirty="0" smtClean="0"/>
              <a:t> include increased risk for recurrent infections; secondary pulmonary hypertension leading to right heart failure (cor pulmonale) and lung cancer.</a:t>
            </a:r>
            <a:endParaRPr lang="en-US" sz="2400" dirty="0"/>
          </a:p>
        </p:txBody>
      </p:sp>
    </p:spTree>
    <p:extLst>
      <p:ext uri="{BB962C8B-B14F-4D97-AF65-F5344CB8AC3E}">
        <p14:creationId xmlns="" xmlns:p14="http://schemas.microsoft.com/office/powerpoint/2010/main" val="30602424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9714"/>
            <a:ext cx="10515600" cy="5197249"/>
          </a:xfrm>
        </p:spPr>
        <p:txBody>
          <a:bodyPr>
            <a:normAutofit fontScale="92500" lnSpcReduction="20000"/>
          </a:bodyPr>
          <a:lstStyle/>
          <a:p>
            <a:r>
              <a:rPr lang="en-US" sz="3500" b="1" dirty="0" smtClean="0"/>
              <a:t>Emphysema</a:t>
            </a:r>
          </a:p>
          <a:p>
            <a:r>
              <a:rPr lang="en-US" sz="2600" b="1" dirty="0" smtClean="0"/>
              <a:t>Characterized by permanent enlargement of the air spaces distal to the terminal bronchioles, accompanied by destruction of their walls without significant fibrosis.</a:t>
            </a:r>
            <a:endParaRPr lang="en-US" sz="2600" dirty="0" smtClean="0"/>
          </a:p>
          <a:p>
            <a:r>
              <a:rPr lang="en-US" sz="2600" dirty="0" smtClean="0"/>
              <a:t>The 4 types of emphysema are named for the anatomical distribution of the septal damage. </a:t>
            </a:r>
            <a:endParaRPr lang="en-US" sz="2600" dirty="0"/>
          </a:p>
          <a:p>
            <a:pPr>
              <a:buFont typeface="Wingdings" panose="05000000000000000000" pitchFamily="2" charset="2"/>
              <a:buChar char="ü"/>
            </a:pPr>
            <a:r>
              <a:rPr lang="en-US" sz="2600" b="1" dirty="0"/>
              <a:t>C</a:t>
            </a:r>
            <a:r>
              <a:rPr lang="en-US" sz="2600" b="1" dirty="0" smtClean="0"/>
              <a:t>entrilobular emphysema</a:t>
            </a:r>
            <a:r>
              <a:rPr lang="en-US" sz="2600" dirty="0" smtClean="0"/>
              <a:t>, the damage is in the proximal portion of the acinus and the cause is cigarette smoking. </a:t>
            </a:r>
            <a:endParaRPr lang="en-US" sz="2600" dirty="0"/>
          </a:p>
          <a:p>
            <a:pPr>
              <a:buFont typeface="Wingdings" panose="05000000000000000000" pitchFamily="2" charset="2"/>
              <a:buChar char="ü"/>
            </a:pPr>
            <a:r>
              <a:rPr lang="en-US" sz="2600" b="1" dirty="0"/>
              <a:t>P</a:t>
            </a:r>
            <a:r>
              <a:rPr lang="en-US" sz="2600" b="1" dirty="0" smtClean="0"/>
              <a:t>anacinar emphysema</a:t>
            </a:r>
            <a:r>
              <a:rPr lang="en-US" sz="2600" dirty="0" smtClean="0"/>
              <a:t>, the damage affects the entire acinus and the common cause is alpha-1 antitrypsin deficiency. </a:t>
            </a:r>
            <a:endParaRPr lang="en-US" sz="2600" dirty="0"/>
          </a:p>
          <a:p>
            <a:r>
              <a:rPr lang="en-US" sz="2600" b="1" dirty="0"/>
              <a:t>D</a:t>
            </a:r>
            <a:r>
              <a:rPr lang="en-US" sz="2600" b="1" dirty="0" smtClean="0"/>
              <a:t>istal acinar emphysema </a:t>
            </a:r>
            <a:r>
              <a:rPr lang="en-US" sz="2600" dirty="0" smtClean="0"/>
              <a:t>(unknown cause),</a:t>
            </a:r>
            <a:r>
              <a:rPr lang="en-US" sz="2400" b="1" dirty="0" smtClean="0"/>
              <a:t> </a:t>
            </a:r>
            <a:r>
              <a:rPr lang="en-US" sz="2400" dirty="0" smtClean="0"/>
              <a:t>proximal portion of the </a:t>
            </a:r>
            <a:r>
              <a:rPr lang="en-US" sz="2400" dirty="0" err="1" smtClean="0"/>
              <a:t>acinus</a:t>
            </a:r>
            <a:r>
              <a:rPr lang="en-US" sz="2400" dirty="0" smtClean="0"/>
              <a:t> is</a:t>
            </a:r>
          </a:p>
          <a:p>
            <a:pPr>
              <a:buNone/>
            </a:pPr>
            <a:r>
              <a:rPr lang="en-US" sz="2400" dirty="0" smtClean="0"/>
              <a:t>     normal but the distal part is primarily involved.</a:t>
            </a:r>
            <a:endParaRPr lang="en-US" sz="2600" dirty="0" smtClean="0"/>
          </a:p>
          <a:p>
            <a:r>
              <a:rPr lang="en-US" sz="2600" dirty="0" smtClean="0"/>
              <a:t> </a:t>
            </a:r>
            <a:r>
              <a:rPr lang="en-US" sz="2600" b="1" dirty="0" smtClean="0"/>
              <a:t>Irregular emphysema-</a:t>
            </a:r>
            <a:r>
              <a:rPr lang="en-US" sz="2400" dirty="0" smtClean="0"/>
              <a:t>the </a:t>
            </a:r>
            <a:r>
              <a:rPr lang="en-US" sz="2400" dirty="0" err="1" smtClean="0"/>
              <a:t>acinus</a:t>
            </a:r>
            <a:r>
              <a:rPr lang="en-US" sz="2400" dirty="0" smtClean="0"/>
              <a:t> is irregularly involved, is almost invariably </a:t>
            </a:r>
          </a:p>
          <a:p>
            <a:pPr>
              <a:buNone/>
            </a:pPr>
            <a:r>
              <a:rPr lang="en-US" sz="2400" dirty="0" smtClean="0"/>
              <a:t>     associated with scarring.</a:t>
            </a:r>
            <a:endParaRPr lang="en-US" sz="2600" dirty="0"/>
          </a:p>
        </p:txBody>
      </p:sp>
    </p:spTree>
    <p:extLst>
      <p:ext uri="{BB962C8B-B14F-4D97-AF65-F5344CB8AC3E}">
        <p14:creationId xmlns="" xmlns:p14="http://schemas.microsoft.com/office/powerpoint/2010/main" val="16043505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The etiology of emphysema involves a </a:t>
            </a:r>
            <a:r>
              <a:rPr lang="en-US" sz="2400" dirty="0" smtClean="0">
                <a:solidFill>
                  <a:srgbClr val="002060"/>
                </a:solidFill>
              </a:rPr>
              <a:t>protease/antiprotease imbalance</a:t>
            </a:r>
            <a:r>
              <a:rPr lang="en-US" sz="2400" dirty="0" smtClean="0"/>
              <a:t>. </a:t>
            </a:r>
          </a:p>
          <a:p>
            <a:r>
              <a:rPr lang="en-US" sz="2400" dirty="0" smtClean="0"/>
              <a:t>On gross examination, the lungs are overinflated and enlarged, and have enlarged, grossly visible air spaces. </a:t>
            </a:r>
          </a:p>
          <a:p>
            <a:r>
              <a:rPr lang="en-US" sz="2400" dirty="0" smtClean="0"/>
              <a:t>Clinical findings include progressive dyspnea, pursing of lips and use of accessory respiratory muscles to breathe, barrel chest (increased anterior-posterior diameter), and weight loss.</a:t>
            </a:r>
            <a:endParaRPr lang="en-US" sz="2400" dirty="0"/>
          </a:p>
        </p:txBody>
      </p:sp>
    </p:spTree>
    <p:extLst>
      <p:ext uri="{BB962C8B-B14F-4D97-AF65-F5344CB8AC3E}">
        <p14:creationId xmlns="" xmlns:p14="http://schemas.microsoft.com/office/powerpoint/2010/main" val="4850569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005841" y="757646"/>
            <a:ext cx="10202090" cy="5316583"/>
          </a:xfrm>
        </p:spPr>
      </p:pic>
    </p:spTree>
    <p:extLst>
      <p:ext uri="{BB962C8B-B14F-4D97-AF65-F5344CB8AC3E}">
        <p14:creationId xmlns="" xmlns:p14="http://schemas.microsoft.com/office/powerpoint/2010/main" val="514436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5029"/>
            <a:ext cx="10515600" cy="5131934"/>
          </a:xfrm>
        </p:spPr>
        <p:txBody>
          <a:bodyPr>
            <a:normAutofit fontScale="92500"/>
          </a:bodyPr>
          <a:lstStyle/>
          <a:p>
            <a:pPr marL="0" indent="0">
              <a:buNone/>
            </a:pPr>
            <a:r>
              <a:rPr lang="en-US" sz="3200" b="1" dirty="0" smtClean="0"/>
              <a:t>                                    </a:t>
            </a:r>
            <a:r>
              <a:rPr lang="en-US" sz="3500" b="1" dirty="0" smtClean="0"/>
              <a:t>Asthma </a:t>
            </a:r>
          </a:p>
          <a:p>
            <a:r>
              <a:rPr lang="en-US" sz="2400" dirty="0" smtClean="0"/>
              <a:t>Characterized by reversible </a:t>
            </a:r>
            <a:r>
              <a:rPr lang="en-US" sz="2400" dirty="0" err="1" smtClean="0"/>
              <a:t>bronchoconstriction</a:t>
            </a:r>
            <a:r>
              <a:rPr lang="en-US" sz="2400" dirty="0" smtClean="0"/>
              <a:t> caused by airway </a:t>
            </a:r>
          </a:p>
          <a:p>
            <a:pPr>
              <a:buNone/>
            </a:pPr>
            <a:r>
              <a:rPr lang="en-US" sz="2400" dirty="0" smtClean="0"/>
              <a:t>    </a:t>
            </a:r>
            <a:r>
              <a:rPr lang="en-US" sz="2400" dirty="0" err="1" smtClean="0"/>
              <a:t>hyperresponsiveness</a:t>
            </a:r>
            <a:r>
              <a:rPr lang="en-US" sz="2400" dirty="0" smtClean="0"/>
              <a:t> to a variety of stimuli.</a:t>
            </a:r>
            <a:endParaRPr lang="en-US" sz="2600" dirty="0" smtClean="0"/>
          </a:p>
          <a:p>
            <a:pPr>
              <a:buFont typeface="Wingdings" panose="05000000000000000000" pitchFamily="2" charset="2"/>
              <a:buChar char="Ø"/>
            </a:pPr>
            <a:r>
              <a:rPr lang="en-US" sz="2600" dirty="0" smtClean="0">
                <a:solidFill>
                  <a:srgbClr val="002060"/>
                </a:solidFill>
              </a:rPr>
              <a:t>Atopic</a:t>
            </a:r>
            <a:r>
              <a:rPr lang="en-US" sz="2600" dirty="0" smtClean="0"/>
              <a:t> (type I IgE-mediated hypersensitivity reaction) </a:t>
            </a:r>
            <a:r>
              <a:rPr lang="en-US" sz="2600" dirty="0" smtClean="0">
                <a:solidFill>
                  <a:srgbClr val="002060"/>
                </a:solidFill>
              </a:rPr>
              <a:t>asthma</a:t>
            </a:r>
            <a:r>
              <a:rPr lang="en-US" sz="2600" dirty="0" smtClean="0"/>
              <a:t> (most common form) usually affects children and young adults. </a:t>
            </a:r>
          </a:p>
          <a:p>
            <a:r>
              <a:rPr lang="en-US" sz="2600" dirty="0" smtClean="0"/>
              <a:t>There is often a positive family history. </a:t>
            </a:r>
            <a:endParaRPr lang="en-US" sz="2600" dirty="0"/>
          </a:p>
          <a:p>
            <a:pPr>
              <a:buFont typeface="Wingdings" panose="05000000000000000000" pitchFamily="2" charset="2"/>
              <a:buChar char="Ø"/>
            </a:pPr>
            <a:r>
              <a:rPr lang="en-US" sz="2600" dirty="0" smtClean="0">
                <a:solidFill>
                  <a:srgbClr val="002060"/>
                </a:solidFill>
              </a:rPr>
              <a:t>Nonatopic asthma </a:t>
            </a:r>
            <a:r>
              <a:rPr lang="en-US" sz="2600" dirty="0" smtClean="0"/>
              <a:t>is triggered by processes including respiratory infections (usually viral), stress, exercise, or cold temperatures.</a:t>
            </a:r>
          </a:p>
          <a:p>
            <a:pPr>
              <a:buFont typeface="Wingdings" panose="05000000000000000000" pitchFamily="2" charset="2"/>
              <a:buChar char="Ø"/>
            </a:pPr>
            <a:r>
              <a:rPr lang="en-US" sz="2600" dirty="0" smtClean="0">
                <a:solidFill>
                  <a:srgbClr val="002060"/>
                </a:solidFill>
              </a:rPr>
              <a:t>Drug-induced asthma </a:t>
            </a:r>
            <a:r>
              <a:rPr lang="en-US" sz="2600" dirty="0" smtClean="0"/>
              <a:t>affects about 10% of adults with a diagnosis of asthma. </a:t>
            </a:r>
          </a:p>
          <a:p>
            <a:r>
              <a:rPr lang="en-US" sz="2600" dirty="0" smtClean="0"/>
              <a:t>Aspirin is a key example of a precipitating drug. </a:t>
            </a:r>
            <a:endParaRPr lang="en-US" sz="2600" dirty="0"/>
          </a:p>
          <a:p>
            <a:pPr>
              <a:buFont typeface="Wingdings" panose="05000000000000000000" pitchFamily="2" charset="2"/>
              <a:buChar char="Ø"/>
            </a:pPr>
            <a:r>
              <a:rPr lang="en-US" sz="2600" dirty="0" smtClean="0">
                <a:solidFill>
                  <a:srgbClr val="002060"/>
                </a:solidFill>
              </a:rPr>
              <a:t>Occupational asthma </a:t>
            </a:r>
            <a:r>
              <a:rPr lang="en-US" sz="2600" dirty="0" smtClean="0"/>
              <a:t>is caused by workplace triggers including fumes and dusts.</a:t>
            </a:r>
            <a:endParaRPr lang="en-US" sz="2600" dirty="0"/>
          </a:p>
        </p:txBody>
      </p:sp>
    </p:spTree>
    <p:extLst>
      <p:ext uri="{BB962C8B-B14F-4D97-AF65-F5344CB8AC3E}">
        <p14:creationId xmlns="" xmlns:p14="http://schemas.microsoft.com/office/powerpoint/2010/main" val="37366139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An asthma attack is characterized by wheezing, severe dyspnea, and coughing. </a:t>
            </a:r>
          </a:p>
          <a:p>
            <a:r>
              <a:rPr lang="en-US" sz="2400" dirty="0" smtClean="0"/>
              <a:t>Problems with expiration cause lung overinflation. </a:t>
            </a:r>
          </a:p>
          <a:p>
            <a:r>
              <a:rPr lang="en-US" sz="2400" dirty="0" smtClean="0"/>
              <a:t>Status asthmaticus is a potentially fatal unrelenting attack of asthma. </a:t>
            </a:r>
          </a:p>
          <a:p>
            <a:r>
              <a:rPr lang="en-US" sz="2400" dirty="0" smtClean="0"/>
              <a:t>Microscopic examination of sputum cytology may show Curschmann spirals (twisted mucus plugs admixed with sloughed epithelium), eosinophils, or Charcot-Leyden crystals (protein crystalloids from broken down </a:t>
            </a:r>
            <a:r>
              <a:rPr lang="en-US" sz="2400" dirty="0" err="1" smtClean="0"/>
              <a:t>eosinophils</a:t>
            </a:r>
            <a:r>
              <a:rPr lang="en-US" sz="2400" dirty="0" smtClean="0"/>
              <a:t>).</a:t>
            </a:r>
            <a:endParaRPr lang="en-US" sz="2400" dirty="0"/>
          </a:p>
        </p:txBody>
      </p:sp>
    </p:spTree>
    <p:extLst>
      <p:ext uri="{BB962C8B-B14F-4D97-AF65-F5344CB8AC3E}">
        <p14:creationId xmlns="" xmlns:p14="http://schemas.microsoft.com/office/powerpoint/2010/main" val="11470805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337"/>
            <a:ext cx="10515600" cy="5275626"/>
          </a:xfrm>
        </p:spPr>
        <p:txBody>
          <a:bodyPr>
            <a:normAutofit/>
          </a:bodyPr>
          <a:lstStyle/>
          <a:p>
            <a:pPr>
              <a:buFont typeface="Wingdings" panose="05000000000000000000" pitchFamily="2" charset="2"/>
              <a:buChar char="Ø"/>
            </a:pPr>
            <a:r>
              <a:rPr lang="en-US" b="1" dirty="0" smtClean="0"/>
              <a:t>Bronchiectasis </a:t>
            </a:r>
          </a:p>
          <a:p>
            <a:r>
              <a:rPr lang="en-US" sz="2400" dirty="0" smtClean="0"/>
              <a:t>Is an abnormal permanent airway dilatation due to chronic necrotizing inflammation. </a:t>
            </a:r>
          </a:p>
          <a:p>
            <a:r>
              <a:rPr lang="en-US" sz="2400" dirty="0" smtClean="0"/>
              <a:t>Clinical findings include cough, fever, malodorous purulent sputum, and dyspnea. </a:t>
            </a:r>
          </a:p>
          <a:p>
            <a:r>
              <a:rPr lang="en-US" sz="2400" dirty="0" smtClean="0"/>
              <a:t>Causes are diverse, and include bronchial obstruction by foreign body, mucus, or tumor, necrotizing pneumonias, cystic fibrosis, and Kartagener syndrome. </a:t>
            </a:r>
            <a:endParaRPr lang="en-US" sz="2400" dirty="0"/>
          </a:p>
          <a:p>
            <a:r>
              <a:rPr lang="en-US" sz="2400" dirty="0" smtClean="0"/>
              <a:t>Cystic fibrosis patients often develop lung abscesses as a consequence of bronchiectasis. </a:t>
            </a:r>
            <a:endParaRPr lang="en-US" sz="2400" dirty="0"/>
          </a:p>
        </p:txBody>
      </p:sp>
    </p:spTree>
    <p:extLst>
      <p:ext uri="{BB962C8B-B14F-4D97-AF65-F5344CB8AC3E}">
        <p14:creationId xmlns="" xmlns:p14="http://schemas.microsoft.com/office/powerpoint/2010/main" val="12528399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149531" y="1071153"/>
            <a:ext cx="8974183" cy="4794070"/>
          </a:xfrm>
        </p:spPr>
      </p:pic>
    </p:spTree>
    <p:extLst>
      <p:ext uri="{BB962C8B-B14F-4D97-AF65-F5344CB8AC3E}">
        <p14:creationId xmlns="" xmlns:p14="http://schemas.microsoft.com/office/powerpoint/2010/main" val="27186329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smtClean="0"/>
              <a:t>INFILTRATIVE RESTRICTIVE LUNG DISEASES (DIFFUSE INTERSTITIAL DISEASES) </a:t>
            </a:r>
          </a:p>
          <a:p>
            <a:pPr>
              <a:buFont typeface="Wingdings" panose="05000000000000000000" pitchFamily="2" charset="2"/>
              <a:buChar char="q"/>
            </a:pPr>
            <a:r>
              <a:rPr lang="en-US" b="1" dirty="0" smtClean="0"/>
              <a:t>Acute Respiratory Distress Syndrome (ARDS) </a:t>
            </a:r>
          </a:p>
          <a:p>
            <a:r>
              <a:rPr lang="en-US" sz="2400" dirty="0" smtClean="0"/>
              <a:t>Acute respiratory distress syndrome (ARDS) refers to diffuse damage of alveolar epithelium and capillaries, resulting in progressive respiratory failure that is unresponsive to oxygen treatment. </a:t>
            </a:r>
          </a:p>
          <a:p>
            <a:r>
              <a:rPr lang="en-US" sz="2400" dirty="0"/>
              <a:t>ARDS may be caused by shock, sepsis, trauma, gastric aspiration, radiation, oxygen toxicity, drugs, or pulmonary infection. Activated neutrophils mediate cell damage</a:t>
            </a:r>
          </a:p>
        </p:txBody>
      </p:sp>
    </p:spTree>
    <p:extLst>
      <p:ext uri="{BB962C8B-B14F-4D97-AF65-F5344CB8AC3E}">
        <p14:creationId xmlns="" xmlns:p14="http://schemas.microsoft.com/office/powerpoint/2010/main" val="3436898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Clinically, patients show dyspnea, tachypnea, hypoxemia, cyanosis, and use of accessory respiratory muscles. </a:t>
            </a:r>
          </a:p>
          <a:p>
            <a:r>
              <a:rPr lang="en-US" sz="2400" dirty="0" smtClean="0"/>
              <a:t>X-rays show bilateral lung opacity (“white out”). </a:t>
            </a:r>
          </a:p>
          <a:p>
            <a:r>
              <a:rPr lang="en-US" sz="2400" dirty="0" smtClean="0"/>
              <a:t>On gross pathologic examination affected lungs are heavy, stiff, and noncompliant. </a:t>
            </a:r>
          </a:p>
          <a:p>
            <a:r>
              <a:rPr lang="en-US" sz="2400" dirty="0" smtClean="0"/>
              <a:t>Microscopically, there is intra-alveolar edema, and hyaline membranes line the alveolar spaces. In resolving cases there is proliferation of type II pneumocytes and interstitial inflammation and fibrosis. </a:t>
            </a:r>
          </a:p>
          <a:p>
            <a:r>
              <a:rPr lang="en-US" sz="2400" dirty="0" smtClean="0"/>
              <a:t>The prognosis is problematic even with good care, with overall mortality 40%.</a:t>
            </a:r>
            <a:endParaRPr lang="en-US" sz="2400" dirty="0"/>
          </a:p>
        </p:txBody>
      </p:sp>
    </p:spTree>
    <p:extLst>
      <p:ext uri="{BB962C8B-B14F-4D97-AF65-F5344CB8AC3E}">
        <p14:creationId xmlns="" xmlns:p14="http://schemas.microsoft.com/office/powerpoint/2010/main" val="13075784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q"/>
            </a:pPr>
            <a:r>
              <a:rPr lang="en-US" b="1" dirty="0" smtClean="0"/>
              <a:t>Respiratory Distress Syndrome of the Newborn </a:t>
            </a:r>
          </a:p>
          <a:p>
            <a:r>
              <a:rPr lang="en-US" sz="2400" dirty="0" smtClean="0"/>
              <a:t>Respiratory distress syndrome of the newborn (hyaline membrane disease) is caused by a deficiency of surfactant. </a:t>
            </a:r>
          </a:p>
          <a:p>
            <a:r>
              <a:rPr lang="en-US" sz="2400" dirty="0" smtClean="0"/>
              <a:t>It is associated with prematurity (gestational age of less than 28 week has as 60% incidence).</a:t>
            </a:r>
            <a:endParaRPr lang="en-US" sz="2400" dirty="0"/>
          </a:p>
        </p:txBody>
      </p:sp>
    </p:spTree>
    <p:extLst>
      <p:ext uri="{BB962C8B-B14F-4D97-AF65-F5344CB8AC3E}">
        <p14:creationId xmlns="" xmlns:p14="http://schemas.microsoft.com/office/powerpoint/2010/main" val="30984019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9269"/>
            <a:ext cx="10515600" cy="5497694"/>
          </a:xfrm>
        </p:spPr>
        <p:txBody>
          <a:bodyPr>
            <a:normAutofit/>
          </a:bodyPr>
          <a:lstStyle/>
          <a:p>
            <a:pPr>
              <a:buFont typeface="Wingdings" panose="05000000000000000000" pitchFamily="2" charset="2"/>
              <a:buChar char="q"/>
            </a:pPr>
            <a:r>
              <a:rPr lang="en-US" dirty="0" smtClean="0"/>
              <a:t> </a:t>
            </a:r>
            <a:r>
              <a:rPr lang="en-US" sz="3200" b="1" dirty="0" smtClean="0"/>
              <a:t>Chronic Interstitial Lung Disease</a:t>
            </a:r>
          </a:p>
          <a:p>
            <a:r>
              <a:rPr lang="en-US" sz="2400" dirty="0"/>
              <a:t>I</a:t>
            </a:r>
            <a:r>
              <a:rPr lang="en-US" sz="2400" dirty="0" smtClean="0"/>
              <a:t>s a term describing heterogeneous lung disorders which share similar symptomology but vary in prognosis. </a:t>
            </a:r>
          </a:p>
          <a:p>
            <a:r>
              <a:rPr lang="en-US" sz="2400" dirty="0" smtClean="0"/>
              <a:t>Patients present with dyspnea and cough. </a:t>
            </a:r>
            <a:endParaRPr lang="en-US" sz="2400" dirty="0"/>
          </a:p>
          <a:p>
            <a:pPr>
              <a:buFont typeface="Wingdings" panose="05000000000000000000" pitchFamily="2" charset="2"/>
              <a:buChar char="ü"/>
            </a:pPr>
            <a:r>
              <a:rPr lang="en-US" b="1" dirty="0" smtClean="0"/>
              <a:t>Idiopathic pulmonary fibrosis (IPF) </a:t>
            </a:r>
          </a:p>
          <a:p>
            <a:r>
              <a:rPr lang="en-US" sz="2400" dirty="0" smtClean="0"/>
              <a:t>Is prototypic of restrictive lung diseases. </a:t>
            </a:r>
          </a:p>
          <a:p>
            <a:r>
              <a:rPr lang="en-US" sz="2400" dirty="0" smtClean="0"/>
              <a:t>It is characterized by patchy interstitial fibrosis, fibroblastic foci, and </a:t>
            </a:r>
          </a:p>
          <a:p>
            <a:pPr>
              <a:buNone/>
            </a:pPr>
            <a:r>
              <a:rPr lang="en-US" sz="2400" dirty="0" smtClean="0"/>
              <a:t>    formation of cystic spaces (honeycomb lung).</a:t>
            </a:r>
          </a:p>
          <a:p>
            <a:r>
              <a:rPr lang="en-US" sz="2400" dirty="0" smtClean="0"/>
              <a:t>This </a:t>
            </a:r>
            <a:r>
              <a:rPr lang="en-US" sz="2400" dirty="0" err="1" smtClean="0"/>
              <a:t>histologic</a:t>
            </a:r>
            <a:r>
              <a:rPr lang="en-US" sz="2400" dirty="0" smtClean="0"/>
              <a:t> pattern is known as usual interstitial pneumonia(UIP).</a:t>
            </a:r>
          </a:p>
          <a:p>
            <a:r>
              <a:rPr lang="en-US" sz="2400" dirty="0" smtClean="0"/>
              <a:t>The overall prognosis remains poor, lung transplantation is the</a:t>
            </a:r>
          </a:p>
          <a:p>
            <a:pPr>
              <a:buNone/>
            </a:pPr>
            <a:r>
              <a:rPr lang="en-US" sz="2400" dirty="0" smtClean="0"/>
              <a:t>    only definitive treatment.</a:t>
            </a:r>
          </a:p>
          <a:p>
            <a:pPr>
              <a:buNone/>
            </a:pPr>
            <a:endParaRPr lang="en-US" sz="2400" i="1" dirty="0" smtClean="0"/>
          </a:p>
        </p:txBody>
      </p:sp>
    </p:spTree>
    <p:extLst>
      <p:ext uri="{BB962C8B-B14F-4D97-AF65-F5344CB8AC3E}">
        <p14:creationId xmlns="" xmlns:p14="http://schemas.microsoft.com/office/powerpoint/2010/main" val="22665746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ü"/>
            </a:pPr>
            <a:r>
              <a:rPr lang="en-US" b="1" dirty="0" smtClean="0"/>
              <a:t>Nonspecific interstitial pneumonia </a:t>
            </a:r>
            <a:r>
              <a:rPr lang="en-US" sz="2400" dirty="0" smtClean="0"/>
              <a:t>has a better prognosis than IPF. There is a cellular pattern and a fibrosing pattern. </a:t>
            </a:r>
            <a:endParaRPr lang="en-US" sz="2400" dirty="0"/>
          </a:p>
          <a:p>
            <a:pPr>
              <a:buFont typeface="Wingdings" panose="05000000000000000000" pitchFamily="2" charset="2"/>
              <a:buChar char="ü"/>
            </a:pPr>
            <a:r>
              <a:rPr lang="en-US" b="1" dirty="0" smtClean="0"/>
              <a:t>Cryptogenic organizing pneumonia</a:t>
            </a:r>
            <a:r>
              <a:rPr lang="en-US" sz="2400" b="1" dirty="0" smtClean="0"/>
              <a:t> </a:t>
            </a:r>
            <a:r>
              <a:rPr lang="en-US" sz="2400" dirty="0" smtClean="0"/>
              <a:t>responds to steroids. Histologically, there are plugs of connective tissue inside the alveolar spaces. </a:t>
            </a:r>
            <a:endParaRPr lang="en-US" sz="2400" dirty="0"/>
          </a:p>
          <a:p>
            <a:pPr>
              <a:buFont typeface="Wingdings" panose="05000000000000000000" pitchFamily="2" charset="2"/>
              <a:buChar char="ü"/>
            </a:pPr>
            <a:r>
              <a:rPr lang="en-US" b="1" dirty="0" smtClean="0"/>
              <a:t>Collagen vascular disease pneumonitis</a:t>
            </a:r>
            <a:r>
              <a:rPr lang="en-US" sz="2400" dirty="0" smtClean="0"/>
              <a:t> has varied patterns of parenchymal and pleural involvement. The prognosis is poor.</a:t>
            </a:r>
            <a:endParaRPr lang="en-US" sz="2400" dirty="0"/>
          </a:p>
        </p:txBody>
      </p:sp>
    </p:spTree>
    <p:extLst>
      <p:ext uri="{BB962C8B-B14F-4D97-AF65-F5344CB8AC3E}">
        <p14:creationId xmlns="" xmlns:p14="http://schemas.microsoft.com/office/powerpoint/2010/main" val="17218894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b="1" dirty="0" smtClean="0"/>
              <a:t>Hypersensitivity pneumonitis </a:t>
            </a:r>
          </a:p>
          <a:p>
            <a:r>
              <a:rPr lang="en-US" sz="2400" dirty="0" smtClean="0"/>
              <a:t>After exposure to a sensitizing agent such as moldy hay, patients present with a febrile acute reaction or a chronic disease with weight loss. </a:t>
            </a:r>
            <a:endParaRPr lang="en-US" sz="2400" dirty="0"/>
          </a:p>
          <a:p>
            <a:pPr>
              <a:buFont typeface="Wingdings" panose="05000000000000000000" pitchFamily="2" charset="2"/>
              <a:buChar char="ü"/>
            </a:pPr>
            <a:r>
              <a:rPr lang="en-US" b="1" dirty="0" smtClean="0"/>
              <a:t>Eosinophilic pneumonia </a:t>
            </a:r>
            <a:r>
              <a:rPr lang="en-US" sz="2400" dirty="0" smtClean="0"/>
              <a:t>describes a group of diseases with varying clinical features but a common histologic finding of a mixed septal inflammatory infiltrate and eosinophils within alveolar spaces. </a:t>
            </a:r>
          </a:p>
          <a:p>
            <a:pPr>
              <a:buFont typeface="Wingdings" panose="05000000000000000000" pitchFamily="2" charset="2"/>
              <a:buChar char="Ø"/>
            </a:pPr>
            <a:r>
              <a:rPr lang="en-US" dirty="0" smtClean="0">
                <a:solidFill>
                  <a:srgbClr val="C00000"/>
                </a:solidFill>
              </a:rPr>
              <a:t>Loffler's syndrome </a:t>
            </a:r>
            <a:r>
              <a:rPr lang="en-US" sz="2400" dirty="0" smtClean="0"/>
              <a:t>is a self-limiting type of eosinophilic pneumonia with peripheral blood eosinophilia.</a:t>
            </a:r>
            <a:endParaRPr lang="en-US" sz="2400" dirty="0"/>
          </a:p>
        </p:txBody>
      </p:sp>
    </p:spTree>
    <p:extLst>
      <p:ext uri="{BB962C8B-B14F-4D97-AF65-F5344CB8AC3E}">
        <p14:creationId xmlns="" xmlns:p14="http://schemas.microsoft.com/office/powerpoint/2010/main" val="17739775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1783"/>
            <a:ext cx="10515600" cy="4975180"/>
          </a:xfrm>
        </p:spPr>
        <p:txBody>
          <a:bodyPr>
            <a:normAutofit/>
          </a:bodyPr>
          <a:lstStyle/>
          <a:p>
            <a:pPr>
              <a:buFont typeface="Wingdings" panose="05000000000000000000" pitchFamily="2" charset="2"/>
              <a:buChar char="q"/>
            </a:pPr>
            <a:r>
              <a:rPr lang="en-US" sz="3200" b="1" dirty="0" smtClean="0"/>
              <a:t>Occupation-Associated Lung Disease </a:t>
            </a:r>
          </a:p>
          <a:p>
            <a:r>
              <a:rPr lang="en-US" sz="2400" dirty="0" smtClean="0"/>
              <a:t>A common cause of chronic interstitial pneumonitis. </a:t>
            </a:r>
          </a:p>
          <a:p>
            <a:r>
              <a:rPr lang="en-US" sz="2400" dirty="0" smtClean="0"/>
              <a:t>It is considered separately here to show the full spectrum of disease since neoplasia may occur during its course. </a:t>
            </a:r>
          </a:p>
          <a:p>
            <a:r>
              <a:rPr lang="en-US" sz="2400" dirty="0" smtClean="0"/>
              <a:t>Pneumoconioses are fibrosing pulmonary diseases caused by inhalation of an aerosol (mineral dusts, particles, vapors, or fumes).</a:t>
            </a:r>
          </a:p>
          <a:p>
            <a:r>
              <a:rPr lang="en-US" sz="2400" dirty="0" smtClean="0"/>
              <a:t> Key factors affecting their development include the type of aerosol and its ability to stimulate fibrosis; the dose and duration of exposure; and the size of the particle, with only particles </a:t>
            </a:r>
            <a:endParaRPr lang="en-US" sz="2400" dirty="0"/>
          </a:p>
        </p:txBody>
      </p:sp>
    </p:spTree>
    <p:extLst>
      <p:ext uri="{BB962C8B-B14F-4D97-AF65-F5344CB8AC3E}">
        <p14:creationId xmlns="" xmlns:p14="http://schemas.microsoft.com/office/powerpoint/2010/main" val="7862099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927463" y="914400"/>
            <a:ext cx="10071463" cy="5355771"/>
          </a:xfrm>
        </p:spPr>
      </p:pic>
    </p:spTree>
    <p:extLst>
      <p:ext uri="{BB962C8B-B14F-4D97-AF65-F5344CB8AC3E}">
        <p14:creationId xmlns="" xmlns:p14="http://schemas.microsoft.com/office/powerpoint/2010/main" val="25553438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5211"/>
            <a:ext cx="10515600" cy="5301752"/>
          </a:xfrm>
        </p:spPr>
        <p:txBody>
          <a:bodyPr>
            <a:normAutofit/>
          </a:bodyPr>
          <a:lstStyle/>
          <a:p>
            <a:pPr marL="0" indent="0">
              <a:buNone/>
            </a:pPr>
            <a:r>
              <a:rPr lang="en-US" dirty="0" smtClean="0"/>
              <a:t>                                </a:t>
            </a:r>
            <a:r>
              <a:rPr lang="en-US" sz="3200" b="1" dirty="0" smtClean="0"/>
              <a:t>VASCULAR DISORDERS </a:t>
            </a:r>
          </a:p>
          <a:p>
            <a:pPr marL="0" indent="0">
              <a:buNone/>
            </a:pPr>
            <a:r>
              <a:rPr lang="en-US" b="1" dirty="0" smtClean="0">
                <a:solidFill>
                  <a:srgbClr val="C00000"/>
                </a:solidFill>
              </a:rPr>
              <a:t>A. Pulmonary Edema </a:t>
            </a:r>
          </a:p>
          <a:p>
            <a:r>
              <a:rPr lang="en-US" sz="2400" dirty="0"/>
              <a:t>I</a:t>
            </a:r>
            <a:r>
              <a:rPr lang="en-US" sz="2400" dirty="0" smtClean="0"/>
              <a:t>s fluid accumulation within the lungs, usually due to imbalance of Starling forces or endothelial injury. </a:t>
            </a:r>
            <a:endParaRPr lang="en-US" sz="2400" dirty="0"/>
          </a:p>
          <a:p>
            <a:r>
              <a:rPr lang="en-US" sz="2400" dirty="0" smtClean="0"/>
              <a:t>Pulmonary edema due to increased hydrostatic pressure can be seen in left-sided heart failure, mitral valve stenosis, high altitude pulmonary edema, and fluid overload. </a:t>
            </a:r>
            <a:endParaRPr lang="en-US" sz="2400" dirty="0"/>
          </a:p>
          <a:p>
            <a:r>
              <a:rPr lang="en-US" sz="2400" dirty="0" smtClean="0"/>
              <a:t>Pulmonary edema due to decreased oncotic pressure can be seen in nephrotic syndrome and liver disease. </a:t>
            </a:r>
            <a:endParaRPr lang="en-US" sz="2400" dirty="0"/>
          </a:p>
          <a:p>
            <a:r>
              <a:rPr lang="en-US" sz="2400" dirty="0" smtClean="0"/>
              <a:t>Pulmonary edema due to increased capillary permeability can be due to infections, drugs (bleomycin, heroin), shock, and radiation.</a:t>
            </a:r>
            <a:endParaRPr lang="en-US" sz="2400" dirty="0"/>
          </a:p>
        </p:txBody>
      </p:sp>
    </p:spTree>
    <p:extLst>
      <p:ext uri="{BB962C8B-B14F-4D97-AF65-F5344CB8AC3E}">
        <p14:creationId xmlns="" xmlns:p14="http://schemas.microsoft.com/office/powerpoint/2010/main" val="34086033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pathology grossly shows wet, heavy lungs (usually worse in lower lobes), while microscopic examination shows intra alveolar fluid, engorged capillaries, and hemosiderin-laden macrophages (heart-failure cells).</a:t>
            </a:r>
            <a:endParaRPr lang="en-US" dirty="0"/>
          </a:p>
        </p:txBody>
      </p:sp>
    </p:spTree>
    <p:extLst>
      <p:ext uri="{BB962C8B-B14F-4D97-AF65-F5344CB8AC3E}">
        <p14:creationId xmlns="" xmlns:p14="http://schemas.microsoft.com/office/powerpoint/2010/main" val="14942078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7646"/>
            <a:ext cx="10515600" cy="5419317"/>
          </a:xfrm>
        </p:spPr>
        <p:txBody>
          <a:bodyPr>
            <a:normAutofit/>
          </a:bodyPr>
          <a:lstStyle/>
          <a:p>
            <a:pPr marL="0" indent="0">
              <a:buNone/>
            </a:pPr>
            <a:r>
              <a:rPr lang="en-US" b="1" dirty="0" smtClean="0">
                <a:solidFill>
                  <a:srgbClr val="C00000"/>
                </a:solidFill>
              </a:rPr>
              <a:t>B. Pulmonary Hypertension</a:t>
            </a:r>
          </a:p>
          <a:p>
            <a:r>
              <a:rPr lang="en-US" sz="2400" dirty="0"/>
              <a:t>I</a:t>
            </a:r>
            <a:r>
              <a:rPr lang="en-US" sz="2400" dirty="0" smtClean="0"/>
              <a:t>s increased pulmonary artery pressure, usually due to increased vascular resistance or blood flow. </a:t>
            </a:r>
          </a:p>
          <a:p>
            <a:pPr>
              <a:buFont typeface="Wingdings" panose="05000000000000000000" pitchFamily="2" charset="2"/>
              <a:buChar char="Ø"/>
            </a:pPr>
            <a:r>
              <a:rPr lang="en-US" sz="2400" dirty="0" smtClean="0"/>
              <a:t>The</a:t>
            </a:r>
            <a:r>
              <a:rPr lang="en-US" sz="2400" b="1" dirty="0" smtClean="0"/>
              <a:t> etiology </a:t>
            </a:r>
            <a:r>
              <a:rPr lang="en-US" sz="2400" dirty="0" smtClean="0"/>
              <a:t>varies and can include </a:t>
            </a:r>
          </a:p>
          <a:p>
            <a:r>
              <a:rPr lang="en-US" sz="2400" dirty="0" smtClean="0"/>
              <a:t>Chronic obstructive pulmonary disease and interstitial disease (hypoxic vasoconstriction).</a:t>
            </a:r>
          </a:p>
          <a:p>
            <a:r>
              <a:rPr lang="en-US" sz="2400" dirty="0" smtClean="0"/>
              <a:t>Multiple ongoing pulmonary emboli </a:t>
            </a:r>
          </a:p>
          <a:p>
            <a:r>
              <a:rPr lang="en-US" sz="2400" dirty="0" smtClean="0"/>
              <a:t>Mitral stenosis and left heart failure </a:t>
            </a:r>
          </a:p>
          <a:p>
            <a:r>
              <a:rPr lang="en-US" sz="2400" dirty="0" smtClean="0"/>
              <a:t>Congenital heart disease with left to right shunts (atrial septal defect, ventricular septal defect, patent ductus </a:t>
            </a:r>
            <a:r>
              <a:rPr lang="en-US" sz="2400" dirty="0" err="1" smtClean="0"/>
              <a:t>arteriosus</a:t>
            </a:r>
            <a:r>
              <a:rPr lang="en-US" sz="2400" dirty="0" smtClean="0"/>
              <a:t>) and </a:t>
            </a:r>
          </a:p>
          <a:p>
            <a:r>
              <a:rPr lang="en-US" sz="2400" dirty="0" smtClean="0"/>
              <a:t>Primary (idiopathic) pulmonary hypertension, typically in young women.</a:t>
            </a:r>
            <a:endParaRPr lang="en-US" sz="2400" dirty="0"/>
          </a:p>
        </p:txBody>
      </p:sp>
    </p:spTree>
    <p:extLst>
      <p:ext uri="{BB962C8B-B14F-4D97-AF65-F5344CB8AC3E}">
        <p14:creationId xmlns="" xmlns:p14="http://schemas.microsoft.com/office/powerpoint/2010/main" val="39951734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The pathology includes pulmonary artery atherosclerosis, small artery medial hypertrophy and intimal fibrosis, and plexogenic pulmonary arteriopathy. </a:t>
            </a:r>
          </a:p>
          <a:p>
            <a:r>
              <a:rPr lang="en-US" sz="2400" dirty="0" smtClean="0"/>
              <a:t>Pulmonary hypertension may also damage the heart, leading to right ventricular hypertrophy and then failure (cor pulmonale).</a:t>
            </a:r>
            <a:endParaRPr lang="en-US" sz="2400" dirty="0"/>
          </a:p>
        </p:txBody>
      </p:sp>
    </p:spTree>
    <p:extLst>
      <p:ext uri="{BB962C8B-B14F-4D97-AF65-F5344CB8AC3E}">
        <p14:creationId xmlns="" xmlns:p14="http://schemas.microsoft.com/office/powerpoint/2010/main" val="39483066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6834"/>
            <a:ext cx="10515600" cy="5380129"/>
          </a:xfrm>
        </p:spPr>
        <p:txBody>
          <a:bodyPr>
            <a:normAutofit/>
          </a:bodyPr>
          <a:lstStyle/>
          <a:p>
            <a:pPr marL="0" indent="0">
              <a:buNone/>
            </a:pPr>
            <a:r>
              <a:rPr lang="en-US" dirty="0" smtClean="0"/>
              <a:t>                                   </a:t>
            </a:r>
            <a:r>
              <a:rPr lang="en-US" sz="3200" b="1" dirty="0" smtClean="0"/>
              <a:t>PULMONARY TUMORS </a:t>
            </a:r>
          </a:p>
          <a:p>
            <a:pPr marL="0" indent="0">
              <a:buNone/>
            </a:pPr>
            <a:r>
              <a:rPr lang="en-US" b="1" dirty="0" smtClean="0">
                <a:solidFill>
                  <a:srgbClr val="C00000"/>
                </a:solidFill>
              </a:rPr>
              <a:t>A. Lung Cancer </a:t>
            </a:r>
            <a:endParaRPr lang="en-US" b="1" dirty="0">
              <a:solidFill>
                <a:srgbClr val="C00000"/>
              </a:solidFill>
            </a:endParaRPr>
          </a:p>
          <a:p>
            <a:r>
              <a:rPr lang="en-US" sz="2400" dirty="0" smtClean="0"/>
              <a:t>Is the leading cause of cancer death among both men and women. </a:t>
            </a:r>
          </a:p>
          <a:p>
            <a:r>
              <a:rPr lang="en-US" sz="2400" dirty="0" smtClean="0"/>
              <a:t>it has been increasing in women (increased smoking) in the past few decades. </a:t>
            </a:r>
          </a:p>
          <a:p>
            <a:r>
              <a:rPr lang="en-US" sz="2400" dirty="0" smtClean="0"/>
              <a:t>It occurs most commonly age 50–80. </a:t>
            </a:r>
          </a:p>
          <a:p>
            <a:r>
              <a:rPr lang="en-US" sz="2400" dirty="0" smtClean="0"/>
              <a:t>Major </a:t>
            </a:r>
            <a:r>
              <a:rPr lang="en-US" sz="2400" b="1" dirty="0" smtClean="0"/>
              <a:t>risk factors </a:t>
            </a:r>
            <a:r>
              <a:rPr lang="en-US" sz="2400" dirty="0" smtClean="0"/>
              <a:t>include cigarette smoking, occupational exposure (asbestosis, uranium mining, radiation, etc.), passive smoking, and air pollution. </a:t>
            </a:r>
          </a:p>
          <a:p>
            <a:r>
              <a:rPr lang="en-US" sz="2400" b="1" dirty="0" smtClean="0"/>
              <a:t>Clinical features </a:t>
            </a:r>
            <a:r>
              <a:rPr lang="en-US" sz="2400" dirty="0" smtClean="0"/>
              <a:t>include cough, sputum production, weight loss, anorexia, fatigue, dyspnea, hemoptysis, and chest pain. Obstruction may produce focal emphysema, atelectasis, bronchiectasis, or pneumonia.</a:t>
            </a:r>
            <a:endParaRPr lang="en-US" sz="2400" dirty="0"/>
          </a:p>
        </p:txBody>
      </p:sp>
    </p:spTree>
    <p:extLst>
      <p:ext uri="{BB962C8B-B14F-4D97-AF65-F5344CB8AC3E}">
        <p14:creationId xmlns="" xmlns:p14="http://schemas.microsoft.com/office/powerpoint/2010/main" val="31309758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54034"/>
            <a:ext cx="10515600" cy="4922929"/>
          </a:xfrm>
        </p:spPr>
        <p:txBody>
          <a:bodyPr/>
          <a:lstStyle/>
          <a:p>
            <a:r>
              <a:rPr lang="en-US" sz="2400" dirty="0" smtClean="0"/>
              <a:t>Intrathoracic spread of lung cancer is to lymph nodes, particularly hilar, bronchial, tracheal, and mediastinal; pleura (adenocarcinoma); and lung apex causing </a:t>
            </a:r>
            <a:r>
              <a:rPr lang="en-US" sz="2400" dirty="0" smtClean="0">
                <a:solidFill>
                  <a:srgbClr val="002060"/>
                </a:solidFill>
              </a:rPr>
              <a:t>Horner syndrome </a:t>
            </a:r>
            <a:r>
              <a:rPr lang="en-US" sz="2400" dirty="0" smtClean="0"/>
              <a:t>(Pancoast tumor).</a:t>
            </a:r>
          </a:p>
          <a:p>
            <a:r>
              <a:rPr lang="en-US" sz="2400" dirty="0"/>
              <a:t>Obstruction of the superior vena cava by tumor causes </a:t>
            </a:r>
            <a:r>
              <a:rPr lang="en-US" sz="2400" dirty="0">
                <a:solidFill>
                  <a:srgbClr val="002060"/>
                </a:solidFill>
              </a:rPr>
              <a:t>superior vena cava syndrome</a:t>
            </a:r>
            <a:r>
              <a:rPr lang="en-US" sz="2400" dirty="0"/>
              <a:t>, characterized by distended head and neck veins, plethora, and facial and upper arm edema. </a:t>
            </a:r>
          </a:p>
          <a:p>
            <a:r>
              <a:rPr lang="en-US" sz="2400" dirty="0" smtClean="0"/>
              <a:t>Esophageal </a:t>
            </a:r>
            <a:r>
              <a:rPr lang="en-US" sz="2400" dirty="0"/>
              <a:t>obstruction can cause dysphagia. </a:t>
            </a:r>
          </a:p>
          <a:p>
            <a:r>
              <a:rPr lang="en-US" sz="2400" dirty="0" smtClean="0"/>
              <a:t>Recurrent </a:t>
            </a:r>
            <a:r>
              <a:rPr lang="en-US" sz="2400" dirty="0"/>
              <a:t>laryngeal nerve involvement causes hoarseness, while phrenic nerve damage causes diaphragmatic paralysis.</a:t>
            </a:r>
          </a:p>
          <a:p>
            <a:pPr>
              <a:buNone/>
            </a:pPr>
            <a:endParaRPr lang="en-US" dirty="0"/>
          </a:p>
        </p:txBody>
      </p:sp>
    </p:spTree>
    <p:extLst>
      <p:ext uri="{BB962C8B-B14F-4D97-AF65-F5344CB8AC3E}">
        <p14:creationId xmlns="" xmlns:p14="http://schemas.microsoft.com/office/powerpoint/2010/main" val="25341884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Extrathoracic sites of metastasis include </a:t>
            </a:r>
            <a:r>
              <a:rPr lang="en-US" sz="2400" b="1" dirty="0" smtClean="0"/>
              <a:t>adrenal (&gt;50%), </a:t>
            </a:r>
            <a:r>
              <a:rPr lang="en-US" sz="2400" dirty="0" smtClean="0"/>
              <a:t>liver, brain, and bone. </a:t>
            </a:r>
          </a:p>
          <a:p>
            <a:r>
              <a:rPr lang="en-US" sz="2400" dirty="0" smtClean="0"/>
              <a:t>Treatment of non–small cell lung cancer is with surgery, and treatment of small cell lung cancer is with chemotherapy and radiation. </a:t>
            </a:r>
          </a:p>
          <a:p>
            <a:r>
              <a:rPr lang="en-US" sz="2400" dirty="0" smtClean="0"/>
              <a:t>Despite treatment, the prognosis is poor, with overall 5-year survival 16%. </a:t>
            </a:r>
          </a:p>
        </p:txBody>
      </p:sp>
    </p:spTree>
    <p:extLst>
      <p:ext uri="{BB962C8B-B14F-4D97-AF65-F5344CB8AC3E}">
        <p14:creationId xmlns="" xmlns:p14="http://schemas.microsoft.com/office/powerpoint/2010/main" val="5965173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v"/>
            </a:pPr>
            <a:r>
              <a:rPr lang="en-US" b="1" dirty="0" err="1" smtClean="0">
                <a:solidFill>
                  <a:srgbClr val="002060"/>
                </a:solidFill>
              </a:rPr>
              <a:t>Adenocarcinoma</a:t>
            </a:r>
            <a:r>
              <a:rPr lang="en-US" dirty="0" smtClean="0"/>
              <a:t> </a:t>
            </a:r>
          </a:p>
          <a:p>
            <a:r>
              <a:rPr lang="en-US" sz="2400" dirty="0" smtClean="0"/>
              <a:t> More commonly seen in women and nonsmokers.</a:t>
            </a:r>
          </a:p>
          <a:p>
            <a:r>
              <a:rPr lang="en-US" sz="2400" dirty="0" smtClean="0"/>
              <a:t>Grossly, it causes a peripheral gray-white mass, and the tumor may develop in areas of parenchymal scarring (scar carcinoma). </a:t>
            </a:r>
          </a:p>
          <a:p>
            <a:r>
              <a:rPr lang="en-US" sz="2400" dirty="0" smtClean="0"/>
              <a:t>Microscopically, common patterns include acinar, papillary, mucinous, and solid. </a:t>
            </a:r>
          </a:p>
          <a:p>
            <a:r>
              <a:rPr lang="en-US" sz="2400" dirty="0" smtClean="0"/>
              <a:t>The precursor lesion—atypical adenomatous hyperplasia—progresses to adenocarcinoma in situ (noninvasive well-differentiated tumor). </a:t>
            </a:r>
            <a:endParaRPr lang="en-US" sz="2400" dirty="0"/>
          </a:p>
        </p:txBody>
      </p:sp>
    </p:spTree>
    <p:extLst>
      <p:ext uri="{BB962C8B-B14F-4D97-AF65-F5344CB8AC3E}">
        <p14:creationId xmlns="" xmlns:p14="http://schemas.microsoft.com/office/powerpoint/2010/main" val="36763354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62594"/>
            <a:ext cx="10515600" cy="5014369"/>
          </a:xfrm>
        </p:spPr>
        <p:txBody>
          <a:bodyPr/>
          <a:lstStyle/>
          <a:p>
            <a:pPr>
              <a:buFont typeface="Wingdings" panose="05000000000000000000" pitchFamily="2" charset="2"/>
              <a:buChar char="v"/>
            </a:pPr>
            <a:r>
              <a:rPr lang="en-US" b="1" dirty="0" smtClean="0">
                <a:solidFill>
                  <a:srgbClr val="002060"/>
                </a:solidFill>
              </a:rPr>
              <a:t>Small cell carcinoma</a:t>
            </a:r>
            <a:r>
              <a:rPr lang="en-US" sz="2400" b="1" dirty="0" smtClean="0">
                <a:solidFill>
                  <a:srgbClr val="002060"/>
                </a:solidFill>
              </a:rPr>
              <a:t> </a:t>
            </a:r>
            <a:r>
              <a:rPr lang="en-US" sz="2400" dirty="0" smtClean="0"/>
              <a:t>has a strong association with smoking, and affects males more than females. </a:t>
            </a:r>
          </a:p>
          <a:p>
            <a:r>
              <a:rPr lang="en-US" sz="2400" dirty="0" smtClean="0"/>
              <a:t>This neuroendocrine tumor is very aggressive, with rapid growth and early dissemination. </a:t>
            </a:r>
          </a:p>
          <a:p>
            <a:r>
              <a:rPr lang="en-US" sz="2400" dirty="0" smtClean="0"/>
              <a:t>Small cell carcinoma is commonly associated with paraneoplastic syndromes.</a:t>
            </a:r>
          </a:p>
          <a:p>
            <a:r>
              <a:rPr lang="en-US" sz="2400" dirty="0"/>
              <a:t>Pathologically, gross examination demonstrates central, gray-white masses. </a:t>
            </a:r>
            <a:endParaRPr lang="en-US" sz="2400" dirty="0" smtClean="0"/>
          </a:p>
          <a:p>
            <a:r>
              <a:rPr lang="en-US" sz="2400" dirty="0" smtClean="0"/>
              <a:t>Microscopic </a:t>
            </a:r>
            <a:r>
              <a:rPr lang="en-US" sz="2400" dirty="0"/>
              <a:t>examination shows small round or polygonal cells in clusters, and electron microscopy shows cytoplasmic dense-core neurosecretory granules.</a:t>
            </a:r>
          </a:p>
        </p:txBody>
      </p:sp>
    </p:spTree>
    <p:extLst>
      <p:ext uri="{BB962C8B-B14F-4D97-AF65-F5344CB8AC3E}">
        <p14:creationId xmlns="" xmlns:p14="http://schemas.microsoft.com/office/powerpoint/2010/main" val="291195618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8091"/>
            <a:ext cx="10515600" cy="5118872"/>
          </a:xfrm>
        </p:spPr>
        <p:txBody>
          <a:bodyPr/>
          <a:lstStyle/>
          <a:p>
            <a:pPr>
              <a:buFont typeface="Wingdings" panose="05000000000000000000" pitchFamily="2" charset="2"/>
              <a:buChar char="v"/>
            </a:pPr>
            <a:r>
              <a:rPr lang="en-US" dirty="0">
                <a:solidFill>
                  <a:srgbClr val="002060"/>
                </a:solidFill>
              </a:rPr>
              <a:t>Squamous cell carcinoma (SCC</a:t>
            </a:r>
            <a:r>
              <a:rPr lang="en-US" sz="2400" dirty="0" smtClean="0">
                <a:solidFill>
                  <a:srgbClr val="002060"/>
                </a:solidFill>
              </a:rPr>
              <a:t>)</a:t>
            </a:r>
          </a:p>
          <a:p>
            <a:r>
              <a:rPr lang="en-US" sz="2400" dirty="0" smtClean="0">
                <a:solidFill>
                  <a:srgbClr val="002060"/>
                </a:solidFill>
              </a:rPr>
              <a:t>I</a:t>
            </a:r>
            <a:r>
              <a:rPr lang="en-US" sz="2400" dirty="0" smtClean="0"/>
              <a:t>s </a:t>
            </a:r>
            <a:r>
              <a:rPr lang="en-US" sz="2400" dirty="0"/>
              <a:t>strongly related to smoking and affects males more than females. </a:t>
            </a:r>
            <a:endParaRPr lang="en-US" sz="2400" dirty="0" smtClean="0"/>
          </a:p>
          <a:p>
            <a:r>
              <a:rPr lang="en-US" sz="2400" dirty="0" smtClean="0"/>
              <a:t>Squamous </a:t>
            </a:r>
            <a:r>
              <a:rPr lang="en-US" sz="2400" dirty="0"/>
              <a:t>cell carcinoma arises from bronchial epithelium after a progression: metaplasia → dysplasia → carcinoma in situ → invasive </a:t>
            </a:r>
            <a:r>
              <a:rPr lang="en-US" sz="2400" dirty="0" smtClean="0"/>
              <a:t>carcinoma. </a:t>
            </a:r>
          </a:p>
          <a:p>
            <a:r>
              <a:rPr lang="en-US" sz="2400" dirty="0" smtClean="0"/>
              <a:t>Pathologically</a:t>
            </a:r>
            <a:r>
              <a:rPr lang="en-US" sz="2400" dirty="0"/>
              <a:t>, the tumor grossly causes a gray-white bronchial mass, usually centrally located. </a:t>
            </a:r>
            <a:endParaRPr lang="en-US" sz="2400" dirty="0" smtClean="0"/>
          </a:p>
          <a:p>
            <a:r>
              <a:rPr lang="en-US" sz="2400" dirty="0" smtClean="0"/>
              <a:t>Microscopically</a:t>
            </a:r>
            <a:r>
              <a:rPr lang="en-US" sz="2400" dirty="0"/>
              <a:t>, well-differentiated tumors show invasive nests of squamous cells with intercellular bridges (desmosomes) and keratin production (“squamous pearls”).</a:t>
            </a:r>
          </a:p>
        </p:txBody>
      </p:sp>
    </p:spTree>
    <p:extLst>
      <p:ext uri="{BB962C8B-B14F-4D97-AF65-F5344CB8AC3E}">
        <p14:creationId xmlns="" xmlns:p14="http://schemas.microsoft.com/office/powerpoint/2010/main" val="27703236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v"/>
            </a:pPr>
            <a:r>
              <a:rPr lang="en-US" b="1" dirty="0" smtClean="0">
                <a:solidFill>
                  <a:srgbClr val="002060"/>
                </a:solidFill>
              </a:rPr>
              <a:t>Large cell carcinoma </a:t>
            </a:r>
            <a:r>
              <a:rPr lang="en-US" dirty="0" smtClean="0"/>
              <a:t>has large anaplastic cells without evidence of differentiation.</a:t>
            </a:r>
            <a:endParaRPr lang="en-US" dirty="0"/>
          </a:p>
        </p:txBody>
      </p:sp>
    </p:spTree>
    <p:extLst>
      <p:ext uri="{BB962C8B-B14F-4D97-AF65-F5344CB8AC3E}">
        <p14:creationId xmlns="" xmlns:p14="http://schemas.microsoft.com/office/powerpoint/2010/main" val="14527351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5029"/>
            <a:ext cx="10515600" cy="5131934"/>
          </a:xfrm>
        </p:spPr>
        <p:txBody>
          <a:bodyPr>
            <a:normAutofit/>
          </a:bodyPr>
          <a:lstStyle/>
          <a:p>
            <a:pPr marL="0" indent="0">
              <a:buNone/>
            </a:pPr>
            <a:r>
              <a:rPr lang="en-US" b="1" dirty="0" err="1" smtClean="0">
                <a:solidFill>
                  <a:srgbClr val="002060"/>
                </a:solidFill>
              </a:rPr>
              <a:t>B.Bronchial</a:t>
            </a:r>
            <a:r>
              <a:rPr lang="en-US" b="1" dirty="0" smtClean="0">
                <a:solidFill>
                  <a:srgbClr val="002060"/>
                </a:solidFill>
              </a:rPr>
              <a:t> carcinoids </a:t>
            </a:r>
          </a:p>
          <a:p>
            <a:r>
              <a:rPr lang="en-US" sz="2400" dirty="0" smtClean="0"/>
              <a:t>Occur in a younger age group (mean age 40 years) and typically produce a polypoid intrabronchial mass or plaque.</a:t>
            </a:r>
          </a:p>
          <a:p>
            <a:r>
              <a:rPr lang="en-US" sz="2400" dirty="0" smtClean="0"/>
              <a:t>Characterized on light microscopy by small, round, uniform cells growing in nests (organoid pattern), and on electron microscopy by cytoplasmic dense-core neurosecretory granules. </a:t>
            </a:r>
          </a:p>
          <a:p>
            <a:r>
              <a:rPr lang="en-US" sz="2400" dirty="0" smtClean="0"/>
              <a:t>Atypical carcinoid is more aggressive than typical carcinoid. </a:t>
            </a:r>
          </a:p>
        </p:txBody>
      </p:sp>
    </p:spTree>
    <p:extLst>
      <p:ext uri="{BB962C8B-B14F-4D97-AF65-F5344CB8AC3E}">
        <p14:creationId xmlns="" xmlns:p14="http://schemas.microsoft.com/office/powerpoint/2010/main" val="23127668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smtClean="0"/>
              <a:t>C. Metastatic </a:t>
            </a:r>
            <a:r>
              <a:rPr lang="en-US" b="1" dirty="0"/>
              <a:t>Tumors </a:t>
            </a:r>
            <a:endParaRPr lang="en-US" b="1" dirty="0" smtClean="0"/>
          </a:p>
          <a:p>
            <a:r>
              <a:rPr lang="en-US" sz="2400" dirty="0" smtClean="0"/>
              <a:t>Metastatic </a:t>
            </a:r>
            <a:r>
              <a:rPr lang="en-US" sz="2400" dirty="0"/>
              <a:t>carcinoma is the most common malignant neoplasm in the lung. </a:t>
            </a:r>
          </a:p>
          <a:p>
            <a:r>
              <a:rPr lang="en-US" sz="2400" dirty="0"/>
              <a:t>It typically causes multiple, bilateral, scattered nodules; common primary sites include breast, stomach, pancreas, and colon.</a:t>
            </a:r>
          </a:p>
          <a:p>
            <a:pPr>
              <a:buNone/>
            </a:pPr>
            <a:endParaRPr lang="en-US" sz="2400" dirty="0"/>
          </a:p>
        </p:txBody>
      </p:sp>
    </p:spTree>
    <p:extLst>
      <p:ext uri="{BB962C8B-B14F-4D97-AF65-F5344CB8AC3E}">
        <p14:creationId xmlns="" xmlns:p14="http://schemas.microsoft.com/office/powerpoint/2010/main" val="334293395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smtClean="0"/>
              <a:t>D. Hamartomas</a:t>
            </a:r>
          </a:p>
          <a:p>
            <a:r>
              <a:rPr lang="en-US" sz="2400" dirty="0" smtClean="0"/>
              <a:t>Are benign tumors; they occur more commonly in middle-aged adults but also occur in children. </a:t>
            </a:r>
          </a:p>
          <a:p>
            <a:r>
              <a:rPr lang="en-US" sz="2400" dirty="0" smtClean="0"/>
              <a:t>They can appear as coin lesions on chest x-ray. </a:t>
            </a:r>
          </a:p>
          <a:p>
            <a:r>
              <a:rPr lang="en-US" sz="2400" dirty="0" smtClean="0"/>
              <a:t>Microscopically, they are comprised of nonencapsulated fibromyxoid tissue. </a:t>
            </a:r>
          </a:p>
          <a:p>
            <a:r>
              <a:rPr lang="en-US" sz="2400" dirty="0" smtClean="0"/>
              <a:t>Carney triad is the finding of a hamartoma with a predominantly cartilaginous component (pulmonary chondroma), an extra-adrenal paraganglioma and a gastric gastrointestinal stromal tumor.</a:t>
            </a:r>
            <a:endParaRPr lang="en-US" sz="2400" dirty="0"/>
          </a:p>
        </p:txBody>
      </p:sp>
    </p:spTree>
    <p:extLst>
      <p:ext uri="{BB962C8B-B14F-4D97-AF65-F5344CB8AC3E}">
        <p14:creationId xmlns="" xmlns:p14="http://schemas.microsoft.com/office/powerpoint/2010/main" val="419003889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3143"/>
            <a:ext cx="10515600" cy="5523820"/>
          </a:xfrm>
        </p:spPr>
        <p:txBody>
          <a:bodyPr>
            <a:normAutofit/>
          </a:bodyPr>
          <a:lstStyle/>
          <a:p>
            <a:pPr marL="0" indent="0">
              <a:buNone/>
            </a:pPr>
            <a:r>
              <a:rPr lang="en-US" dirty="0" smtClean="0"/>
              <a:t>                          </a:t>
            </a:r>
            <a:r>
              <a:rPr lang="en-US" sz="3200" b="1" dirty="0" smtClean="0"/>
              <a:t>DISEASES OF THE PLEURAL CAVITY </a:t>
            </a:r>
          </a:p>
          <a:p>
            <a:pPr marL="0" indent="0">
              <a:buNone/>
            </a:pPr>
            <a:r>
              <a:rPr lang="en-US" b="1" dirty="0" smtClean="0">
                <a:solidFill>
                  <a:srgbClr val="C00000"/>
                </a:solidFill>
              </a:rPr>
              <a:t>A. Fluid in the Pleural Space </a:t>
            </a:r>
          </a:p>
          <a:p>
            <a:r>
              <a:rPr lang="en-US" sz="2400" dirty="0" smtClean="0"/>
              <a:t>Pleural effusion is the accumulation of fluid in the pleural cavity. </a:t>
            </a:r>
            <a:endParaRPr lang="en-US" sz="2400" dirty="0"/>
          </a:p>
          <a:p>
            <a:pPr>
              <a:buFont typeface="Wingdings" panose="05000000000000000000" pitchFamily="2" charset="2"/>
              <a:buChar char="Ø"/>
            </a:pPr>
            <a:r>
              <a:rPr lang="en-US" sz="2400" dirty="0" smtClean="0">
                <a:solidFill>
                  <a:srgbClr val="002060"/>
                </a:solidFill>
              </a:rPr>
              <a:t>Exudative pleural effusion </a:t>
            </a:r>
            <a:r>
              <a:rPr lang="en-US" sz="2400" dirty="0" smtClean="0"/>
              <a:t>exists if laboratory analysis of thoracentesis fluid shows the following values: </a:t>
            </a:r>
          </a:p>
          <a:p>
            <a:r>
              <a:rPr lang="en-US" sz="2400" dirty="0" smtClean="0"/>
              <a:t>protein/serum protein ratio &gt;0.5, </a:t>
            </a:r>
          </a:p>
          <a:p>
            <a:r>
              <a:rPr lang="en-US" sz="2400" dirty="0" smtClean="0"/>
              <a:t>lactate dehydrogenase (LDH)/serum LDH ratio &gt;0.6, pleural fluid LDH level &gt; two-thirds the upper limit of normal value for serum LDH. </a:t>
            </a:r>
          </a:p>
          <a:p>
            <a:r>
              <a:rPr lang="en-US" sz="2400" dirty="0" smtClean="0"/>
              <a:t>Conditions causing an exudative pleural effusion include infections (TB), malignancy, and pulmonary embolism. </a:t>
            </a:r>
          </a:p>
          <a:p>
            <a:pPr>
              <a:buNone/>
            </a:pPr>
            <a:endParaRPr lang="en-US" sz="2400" dirty="0"/>
          </a:p>
        </p:txBody>
      </p:sp>
    </p:spTree>
    <p:extLst>
      <p:ext uri="{BB962C8B-B14F-4D97-AF65-F5344CB8AC3E}">
        <p14:creationId xmlns="" xmlns:p14="http://schemas.microsoft.com/office/powerpoint/2010/main" val="19361368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06286"/>
            <a:ext cx="10515600" cy="4870677"/>
          </a:xfrm>
        </p:spPr>
        <p:txBody>
          <a:bodyPr/>
          <a:lstStyle/>
          <a:p>
            <a:pPr>
              <a:buFont typeface="Wingdings" panose="05000000000000000000" pitchFamily="2" charset="2"/>
              <a:buChar char="Ø"/>
            </a:pPr>
            <a:r>
              <a:rPr lang="en-US" sz="2400" dirty="0">
                <a:solidFill>
                  <a:srgbClr val="002060"/>
                </a:solidFill>
              </a:rPr>
              <a:t>Transudative pleural effusions </a:t>
            </a:r>
            <a:r>
              <a:rPr lang="en-US" sz="2400" dirty="0"/>
              <a:t>are sometimes assessed clinically, without laboratory pleural fluid analysis. </a:t>
            </a:r>
            <a:endParaRPr lang="en-US" sz="2400" dirty="0" smtClean="0"/>
          </a:p>
          <a:p>
            <a:pPr>
              <a:buFont typeface="Wingdings" panose="05000000000000000000" pitchFamily="2" charset="2"/>
              <a:buChar char="Ø"/>
            </a:pPr>
            <a:r>
              <a:rPr lang="en-US" sz="2400" dirty="0" smtClean="0"/>
              <a:t>These </a:t>
            </a:r>
            <a:r>
              <a:rPr lang="en-US" sz="2400" dirty="0"/>
              <a:t>effusions occur in clinical settings including left ventricular failure and cirrhosis. </a:t>
            </a:r>
            <a:endParaRPr lang="en-US" sz="2400" dirty="0" smtClean="0"/>
          </a:p>
          <a:p>
            <a:pPr>
              <a:buFont typeface="Wingdings" panose="05000000000000000000" pitchFamily="2" charset="2"/>
              <a:buChar char="Ø"/>
            </a:pPr>
            <a:r>
              <a:rPr lang="en-US" sz="2400" dirty="0" smtClean="0">
                <a:solidFill>
                  <a:srgbClr val="002060"/>
                </a:solidFill>
              </a:rPr>
              <a:t>Hemothorax</a:t>
            </a:r>
            <a:r>
              <a:rPr lang="en-US" sz="2400" dirty="0"/>
              <a:t> is the presence of blood in the pleural cavity. Trauma is a common cause. There may be hypotension and shift of the trachea to the unaffected side. </a:t>
            </a:r>
          </a:p>
          <a:p>
            <a:pPr>
              <a:buFont typeface="Wingdings" panose="05000000000000000000" pitchFamily="2" charset="2"/>
              <a:buChar char="Ø"/>
            </a:pPr>
            <a:r>
              <a:rPr lang="en-US" sz="2400" dirty="0">
                <a:solidFill>
                  <a:srgbClr val="002060"/>
                </a:solidFill>
              </a:rPr>
              <a:t>Chylothorax</a:t>
            </a:r>
            <a:r>
              <a:rPr lang="en-US" sz="2400" dirty="0"/>
              <a:t> is lymphatic fluid in the pleural cavity. Malignancy is a common cause.</a:t>
            </a:r>
          </a:p>
          <a:p>
            <a:pPr>
              <a:buNone/>
            </a:pPr>
            <a:endParaRPr lang="en-US" dirty="0"/>
          </a:p>
        </p:txBody>
      </p:sp>
    </p:spTree>
    <p:extLst>
      <p:ext uri="{BB962C8B-B14F-4D97-AF65-F5344CB8AC3E}">
        <p14:creationId xmlns="" xmlns:p14="http://schemas.microsoft.com/office/powerpoint/2010/main" val="26357126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9531"/>
            <a:ext cx="10515600" cy="5027432"/>
          </a:xfrm>
        </p:spPr>
        <p:txBody>
          <a:bodyPr/>
          <a:lstStyle/>
          <a:p>
            <a:pPr marL="0" indent="0">
              <a:buNone/>
            </a:pPr>
            <a:r>
              <a:rPr lang="en-US" b="1" dirty="0" smtClean="0"/>
              <a:t>B. Air in the Pleural Space </a:t>
            </a:r>
          </a:p>
          <a:p>
            <a:r>
              <a:rPr lang="en-US" sz="2400" dirty="0" smtClean="0">
                <a:solidFill>
                  <a:srgbClr val="002060"/>
                </a:solidFill>
              </a:rPr>
              <a:t>Pneumothorax</a:t>
            </a:r>
            <a:r>
              <a:rPr lang="en-US" sz="2400" dirty="0" smtClean="0"/>
              <a:t> is the term used for air in the pleural cavity. </a:t>
            </a:r>
          </a:p>
          <a:p>
            <a:r>
              <a:rPr lang="en-US" sz="2400" dirty="0" smtClean="0"/>
              <a:t>It can be due to traumatic penetrating chest wall injuries or spontaneous rupture of apical blebs in typically tall young adults (spontaneous pneumothorax). </a:t>
            </a:r>
          </a:p>
          <a:p>
            <a:r>
              <a:rPr lang="en-US" sz="2400" dirty="0" smtClean="0"/>
              <a:t>The term </a:t>
            </a:r>
            <a:r>
              <a:rPr lang="en-US" sz="2400" dirty="0" smtClean="0">
                <a:solidFill>
                  <a:srgbClr val="C00000"/>
                </a:solidFill>
              </a:rPr>
              <a:t>tension pneumothorax </a:t>
            </a:r>
            <a:r>
              <a:rPr lang="en-US" sz="2400" dirty="0" smtClean="0"/>
              <a:t>is used if a life-threatening shift of thoracic organs across midline occurs.</a:t>
            </a:r>
            <a:endParaRPr lang="en-US" sz="2400" dirty="0"/>
          </a:p>
        </p:txBody>
      </p:sp>
    </p:spTree>
    <p:extLst>
      <p:ext uri="{BB962C8B-B14F-4D97-AF65-F5344CB8AC3E}">
        <p14:creationId xmlns="" xmlns:p14="http://schemas.microsoft.com/office/powerpoint/2010/main" val="18935114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9714"/>
            <a:ext cx="10515600" cy="5197249"/>
          </a:xfrm>
        </p:spPr>
        <p:txBody>
          <a:bodyPr>
            <a:normAutofit/>
          </a:bodyPr>
          <a:lstStyle/>
          <a:p>
            <a:pPr marL="0" indent="0">
              <a:buNone/>
            </a:pPr>
            <a:r>
              <a:rPr lang="en-US" sz="3500" b="1" dirty="0" smtClean="0"/>
              <a:t>                                          Tumors of pleura</a:t>
            </a:r>
          </a:p>
          <a:p>
            <a:r>
              <a:rPr lang="en-US" b="1" dirty="0" smtClean="0"/>
              <a:t>Malignant </a:t>
            </a:r>
            <a:r>
              <a:rPr lang="en-US" b="1" dirty="0" err="1" smtClean="0"/>
              <a:t>mesothelioma</a:t>
            </a:r>
            <a:endParaRPr lang="en-US" b="1" dirty="0" smtClean="0"/>
          </a:p>
          <a:p>
            <a:r>
              <a:rPr lang="en-US" sz="2400" b="1" dirty="0" smtClean="0"/>
              <a:t> I</a:t>
            </a:r>
            <a:r>
              <a:rPr lang="en-US" sz="2400" dirty="0" smtClean="0"/>
              <a:t>s a rare, highly malignant neoplasm associated with occupational exposure to asbestos in 90% of cases. </a:t>
            </a:r>
          </a:p>
          <a:p>
            <a:r>
              <a:rPr lang="en-US" sz="2400" dirty="0" smtClean="0"/>
              <a:t>It presents with recurrent pleural effusions, dyspnea, and chest pain. </a:t>
            </a:r>
          </a:p>
          <a:p>
            <a:r>
              <a:rPr lang="en-US" sz="2400" dirty="0" smtClean="0"/>
              <a:t>The tumor grossly encases and compresses the lung; </a:t>
            </a:r>
          </a:p>
          <a:p>
            <a:r>
              <a:rPr lang="en-US" sz="2400" dirty="0" smtClean="0"/>
              <a:t>Microscopic exam exhibits carcinomatous and sarcomatous elements (biphasic pattern), while electron microscopy shows long, thin microvilli on some tumor cells. </a:t>
            </a:r>
          </a:p>
          <a:p>
            <a:r>
              <a:rPr lang="en-US" sz="2400" dirty="0" smtClean="0"/>
              <a:t>The prognosis of mesothelioma is poor. </a:t>
            </a:r>
          </a:p>
        </p:txBody>
      </p:sp>
    </p:spTree>
    <p:extLst>
      <p:ext uri="{BB962C8B-B14F-4D97-AF65-F5344CB8AC3E}">
        <p14:creationId xmlns="" xmlns:p14="http://schemas.microsoft.com/office/powerpoint/2010/main" val="295399942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a:t>Robbins and cotran’s pathologic basics of disease </a:t>
            </a:r>
            <a:r>
              <a:rPr lang="en-US" dirty="0" smtClean="0"/>
              <a:t>10</a:t>
            </a:r>
            <a:r>
              <a:rPr lang="en-US" baseline="30000" dirty="0" smtClean="0"/>
              <a:t>th</a:t>
            </a:r>
            <a:endParaRPr lang="en-US" dirty="0"/>
          </a:p>
          <a:p>
            <a:pPr marL="0" indent="0">
              <a:buNone/>
            </a:pPr>
            <a:r>
              <a:rPr lang="en-US" dirty="0" smtClean="0"/>
              <a:t>   edition</a:t>
            </a:r>
            <a:endParaRPr lang="en-US" dirty="0"/>
          </a:p>
          <a:p>
            <a:endParaRPr lang="en-US" dirty="0"/>
          </a:p>
        </p:txBody>
      </p:sp>
    </p:spTree>
    <p:extLst>
      <p:ext uri="{BB962C8B-B14F-4D97-AF65-F5344CB8AC3E}">
        <p14:creationId xmlns="" xmlns:p14="http://schemas.microsoft.com/office/powerpoint/2010/main" val="17774430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 </a:t>
            </a:r>
            <a:r>
              <a:rPr lang="en-US" dirty="0" smtClean="0"/>
              <a:t>                       </a:t>
            </a:r>
            <a:r>
              <a:rPr lang="en-US" sz="6000" dirty="0" smtClean="0"/>
              <a:t>Thank you!</a:t>
            </a:r>
            <a:endParaRPr lang="en-US" sz="6000" dirty="0"/>
          </a:p>
        </p:txBody>
      </p:sp>
    </p:spTree>
    <p:extLst>
      <p:ext uri="{BB962C8B-B14F-4D97-AF65-F5344CB8AC3E}">
        <p14:creationId xmlns="" xmlns:p14="http://schemas.microsoft.com/office/powerpoint/2010/main" val="2392069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TotalTime>
  <Words>3103</Words>
  <Application>Microsoft Office PowerPoint</Application>
  <PresentationFormat>Custom</PresentationFormat>
  <Paragraphs>242</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Pathology of Respiratory Disorders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References</vt:lpstr>
      <vt:lpstr>Slide 60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user</cp:lastModifiedBy>
  <cp:revision>66</cp:revision>
  <dcterms:created xsi:type="dcterms:W3CDTF">2022-08-31T20:46:02Z</dcterms:created>
  <dcterms:modified xsi:type="dcterms:W3CDTF">2023-10-30T17:31:05Z</dcterms:modified>
</cp:coreProperties>
</file>