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328" r:id="rId3"/>
    <p:sldId id="257" r:id="rId4"/>
    <p:sldId id="258" r:id="rId5"/>
    <p:sldId id="259" r:id="rId6"/>
    <p:sldId id="260" r:id="rId7"/>
    <p:sldId id="262" r:id="rId8"/>
    <p:sldId id="263"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7" r:id="rId41"/>
    <p:sldId id="298" r:id="rId42"/>
    <p:sldId id="299" r:id="rId43"/>
    <p:sldId id="300" r:id="rId44"/>
    <p:sldId id="301" r:id="rId45"/>
    <p:sldId id="302" r:id="rId46"/>
    <p:sldId id="303" r:id="rId47"/>
    <p:sldId id="295" r:id="rId48"/>
    <p:sldId id="296" r:id="rId49"/>
    <p:sldId id="314"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 id="304" r:id="rId64"/>
    <p:sldId id="305" r:id="rId65"/>
    <p:sldId id="306" r:id="rId66"/>
    <p:sldId id="307" r:id="rId67"/>
    <p:sldId id="308" r:id="rId68"/>
    <p:sldId id="309" r:id="rId69"/>
    <p:sldId id="310" r:id="rId70"/>
    <p:sldId id="311" r:id="rId71"/>
    <p:sldId id="312" r:id="rId72"/>
    <p:sldId id="313"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061" autoAdjust="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DFF2C3-8772-4C62-82CD-555C63045170}" type="datetimeFigureOut">
              <a:rPr lang="en-US" smtClean="0"/>
              <a:t>26-Dec-23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51CE98-7F63-473A-9BA4-9CD30459EEB5}" type="slidenum">
              <a:rPr lang="en-US" smtClean="0"/>
              <a:t>‹#›</a:t>
            </a:fld>
            <a:endParaRPr lang="en-US"/>
          </a:p>
        </p:txBody>
      </p:sp>
    </p:spTree>
    <p:extLst>
      <p:ext uri="{BB962C8B-B14F-4D97-AF65-F5344CB8AC3E}">
        <p14:creationId xmlns:p14="http://schemas.microsoft.com/office/powerpoint/2010/main" val="821084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Reversible, but often requires supportive dialysis since electrolyte imbalances can be</a:t>
            </a:r>
          </a:p>
          <a:p>
            <a:r>
              <a:rPr lang="en-US" dirty="0"/>
              <a:t>fatal</a:t>
            </a:r>
          </a:p>
          <a:p>
            <a:r>
              <a:rPr lang="en-US" dirty="0"/>
              <a:t>1. Oliguria can persist for 2-3 weeks before recovery; tubular cells (stable cells) take</a:t>
            </a:r>
          </a:p>
          <a:p>
            <a:r>
              <a:rPr lang="en-US" dirty="0"/>
              <a:t>time to reenter the cell cycle and regenerate..</a:t>
            </a:r>
          </a:p>
        </p:txBody>
      </p:sp>
      <p:sp>
        <p:nvSpPr>
          <p:cNvPr id="4" name="Slide Number Placeholder 3"/>
          <p:cNvSpPr>
            <a:spLocks noGrp="1"/>
          </p:cNvSpPr>
          <p:nvPr>
            <p:ph type="sldNum" sz="quarter" idx="5"/>
          </p:nvPr>
        </p:nvSpPr>
        <p:spPr/>
        <p:txBody>
          <a:bodyPr/>
          <a:lstStyle/>
          <a:p>
            <a:fld id="{F751CE98-7F63-473A-9BA4-9CD30459EEB5}" type="slidenum">
              <a:rPr lang="en-US" smtClean="0"/>
              <a:t>12</a:t>
            </a:fld>
            <a:endParaRPr lang="en-US"/>
          </a:p>
        </p:txBody>
      </p:sp>
    </p:spTree>
    <p:extLst>
      <p:ext uri="{BB962C8B-B14F-4D97-AF65-F5344CB8AC3E}">
        <p14:creationId xmlns:p14="http://schemas.microsoft.com/office/powerpoint/2010/main" val="3705811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61330-BBD1-9827-43B5-69B35A3F49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7B857A-F02E-8808-84D4-ED7164A55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B6A00A-8170-908E-A0A5-7BCF25D586B1}"/>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5" name="Footer Placeholder 4">
            <a:extLst>
              <a:ext uri="{FF2B5EF4-FFF2-40B4-BE49-F238E27FC236}">
                <a16:creationId xmlns:a16="http://schemas.microsoft.com/office/drawing/2014/main" id="{65945D8C-4D9D-A0A8-5EA9-8D51D3FB24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29CFB-DF70-2C4D-C047-69B7A08C80E5}"/>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4199520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6430E-24DF-EAF6-CE75-6B44885349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4A7291-AAB2-2D5B-4A6F-BA5BE40458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968F0-4A82-C8FC-7F2B-5CE5D05543EB}"/>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5" name="Footer Placeholder 4">
            <a:extLst>
              <a:ext uri="{FF2B5EF4-FFF2-40B4-BE49-F238E27FC236}">
                <a16:creationId xmlns:a16="http://schemas.microsoft.com/office/drawing/2014/main" id="{96E3DCFE-248D-818A-11BD-4DA6033CBC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4732E0-6132-4826-1AFB-705F7BD61657}"/>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3162097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1811-A160-F77E-DA9B-D29ED8A066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2C3244-9CD4-0FAF-AB98-2085B1C83D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FD3F0F-45A6-3E20-911D-D08EE6726C8E}"/>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5" name="Footer Placeholder 4">
            <a:extLst>
              <a:ext uri="{FF2B5EF4-FFF2-40B4-BE49-F238E27FC236}">
                <a16:creationId xmlns:a16="http://schemas.microsoft.com/office/drawing/2014/main" id="{B7CCB9F9-D2DF-2721-3DFE-AF1E17E43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0E811-991B-2E26-DFEC-5D9F19C8DED3}"/>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3943012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A3CBC-0A59-BCA5-C3A4-2D9202A5B1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7747C9-865C-3BAD-F965-E933DA80D2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70DBDA-B8CC-8C3A-839E-6D5DC8257C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3A9199-5125-D42A-CD69-6A4B1B6693AB}"/>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6" name="Footer Placeholder 5">
            <a:extLst>
              <a:ext uri="{FF2B5EF4-FFF2-40B4-BE49-F238E27FC236}">
                <a16:creationId xmlns:a16="http://schemas.microsoft.com/office/drawing/2014/main" id="{4B9F16F7-9138-05BD-EBBE-03CC05DF7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F403ED-0AC3-B8DC-0DD1-3C421214E5B6}"/>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1073740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022D2-9FA9-1D5A-C81D-8F98362A8F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43B605-2CA9-FD58-A906-5825A83A3A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997096-A758-91B4-E501-C337EC279B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02CCCC-3219-F871-6603-B0402CCBEC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225850-8B06-6E3A-4FD8-0FD2812C8E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116FD1-C3E5-4E15-4216-DD3ABE472CF3}"/>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8" name="Footer Placeholder 7">
            <a:extLst>
              <a:ext uri="{FF2B5EF4-FFF2-40B4-BE49-F238E27FC236}">
                <a16:creationId xmlns:a16="http://schemas.microsoft.com/office/drawing/2014/main" id="{6596A5E5-61BA-9EA5-6F00-CCCB0EAC90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71ED57-B1FF-DF12-2255-95F9AB95CFA0}"/>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327944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1BBBB-4B19-4BA5-EC37-16A99EF1D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C3E8E3-5C1F-DC54-3032-0851CBAB052C}"/>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4" name="Footer Placeholder 3">
            <a:extLst>
              <a:ext uri="{FF2B5EF4-FFF2-40B4-BE49-F238E27FC236}">
                <a16:creationId xmlns:a16="http://schemas.microsoft.com/office/drawing/2014/main" id="{F13AB27A-D163-1C93-CF82-7651FC8B2D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2A332E-1298-3A8E-CA87-53EC7E9FF756}"/>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30430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BF421F-294B-FA42-5D99-078009D697F0}"/>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3" name="Footer Placeholder 2">
            <a:extLst>
              <a:ext uri="{FF2B5EF4-FFF2-40B4-BE49-F238E27FC236}">
                <a16:creationId xmlns:a16="http://schemas.microsoft.com/office/drawing/2014/main" id="{56A25493-A2F6-1D71-53AE-1F7E64D6A4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23BEE5-6964-649D-34AF-5351B31D8176}"/>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62233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0AB01-7376-6311-2699-832289A8CC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8B8E11-33D4-7F31-718F-7839C1C1D3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BE73F0-2E85-A715-5C00-34842F0600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9B6EDB-9A03-9E35-7F7E-9BF07CF46A87}"/>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6" name="Footer Placeholder 5">
            <a:extLst>
              <a:ext uri="{FF2B5EF4-FFF2-40B4-BE49-F238E27FC236}">
                <a16:creationId xmlns:a16="http://schemas.microsoft.com/office/drawing/2014/main" id="{447E9B86-6709-2DAB-F32F-1AA82976CE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6B5615-1737-FD49-AA17-B7755439FD63}"/>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2832762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08677-E06A-AC1A-38E8-6DD68BFBE7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E0D784-BD32-1A65-05DB-87286E2029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0F1DE7-F782-6AC3-FA87-28679675D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021A9B-7D41-DC3C-8D53-739B2DCC161C}"/>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6" name="Footer Placeholder 5">
            <a:extLst>
              <a:ext uri="{FF2B5EF4-FFF2-40B4-BE49-F238E27FC236}">
                <a16:creationId xmlns:a16="http://schemas.microsoft.com/office/drawing/2014/main" id="{78AAF7BA-CB27-3205-EE0A-44D1FDE93B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A703AB-0CC3-0384-FD81-AC89909CE434}"/>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1425028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D56D8-4A44-34B0-9294-E6685E3946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237742-D76D-F07E-7B4B-84E734B547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6555B9-582C-7F8B-ECFE-E3B021B7D452}"/>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5" name="Footer Placeholder 4">
            <a:extLst>
              <a:ext uri="{FF2B5EF4-FFF2-40B4-BE49-F238E27FC236}">
                <a16:creationId xmlns:a16="http://schemas.microsoft.com/office/drawing/2014/main" id="{1324C734-2D2C-0BA9-DE85-E3E4C1C5F6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FDBE59-FDAD-F13B-FEF9-38B5EBBE5A89}"/>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3379236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180199-D1BB-162B-B11A-C5F38BD4CD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E7DE59-1747-1346-77CC-5B1AA96258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D0DDAF-8BBB-BE43-6704-1AA675F7D3EE}"/>
              </a:ext>
            </a:extLst>
          </p:cNvPr>
          <p:cNvSpPr>
            <a:spLocks noGrp="1"/>
          </p:cNvSpPr>
          <p:nvPr>
            <p:ph type="dt" sz="half" idx="10"/>
          </p:nvPr>
        </p:nvSpPr>
        <p:spPr/>
        <p:txBody>
          <a:bodyPr/>
          <a:lstStyle/>
          <a:p>
            <a:fld id="{6300432E-6CF6-42CE-92DD-89C8BBBABA1E}" type="datetimeFigureOut">
              <a:rPr lang="en-US" smtClean="0"/>
              <a:t>26-Dec-23</a:t>
            </a:fld>
            <a:endParaRPr lang="en-US"/>
          </a:p>
        </p:txBody>
      </p:sp>
      <p:sp>
        <p:nvSpPr>
          <p:cNvPr id="5" name="Footer Placeholder 4">
            <a:extLst>
              <a:ext uri="{FF2B5EF4-FFF2-40B4-BE49-F238E27FC236}">
                <a16:creationId xmlns:a16="http://schemas.microsoft.com/office/drawing/2014/main" id="{43B6ED67-8881-BC6C-9863-B62571BC8C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21EB14-9670-8434-2A91-83BC2B55EE73}"/>
              </a:ext>
            </a:extLst>
          </p:cNvPr>
          <p:cNvSpPr>
            <a:spLocks noGrp="1"/>
          </p:cNvSpPr>
          <p:nvPr>
            <p:ph type="sldNum" sz="quarter" idx="12"/>
          </p:nvPr>
        </p:nvSpPr>
        <p:spPr/>
        <p:txBody>
          <a:bodyPr/>
          <a:lstStyle/>
          <a:p>
            <a:fld id="{4FAB7584-21AB-4915-8C90-B0492F2B9AD4}" type="slidenum">
              <a:rPr lang="en-US" smtClean="0"/>
              <a:t>‹#›</a:t>
            </a:fld>
            <a:endParaRPr lang="en-US"/>
          </a:p>
        </p:txBody>
      </p:sp>
    </p:spTree>
    <p:extLst>
      <p:ext uri="{BB962C8B-B14F-4D97-AF65-F5344CB8AC3E}">
        <p14:creationId xmlns:p14="http://schemas.microsoft.com/office/powerpoint/2010/main" val="1218528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672D02-CC35-8D1A-D682-D7AF474D3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F36BEF-89EF-2CBE-B0AD-4A9090CF4C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BD30E4-697F-D3CD-712F-7FA96173E7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00432E-6CF6-42CE-92DD-89C8BBBABA1E}" type="datetimeFigureOut">
              <a:rPr lang="en-US" smtClean="0"/>
              <a:t>26-Dec-23</a:t>
            </a:fld>
            <a:endParaRPr lang="en-US"/>
          </a:p>
        </p:txBody>
      </p:sp>
      <p:sp>
        <p:nvSpPr>
          <p:cNvPr id="5" name="Footer Placeholder 4">
            <a:extLst>
              <a:ext uri="{FF2B5EF4-FFF2-40B4-BE49-F238E27FC236}">
                <a16:creationId xmlns:a16="http://schemas.microsoft.com/office/drawing/2014/main" id="{AA5189C6-E2AB-808F-CBA9-D47B2D0F74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13A2A5-211D-59FD-6A6F-63DA138F42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584-21AB-4915-8C90-B0492F2B9AD4}" type="slidenum">
              <a:rPr lang="en-US" smtClean="0"/>
              <a:t>‹#›</a:t>
            </a:fld>
            <a:endParaRPr lang="en-US"/>
          </a:p>
        </p:txBody>
      </p:sp>
    </p:spTree>
    <p:extLst>
      <p:ext uri="{BB962C8B-B14F-4D97-AF65-F5344CB8AC3E}">
        <p14:creationId xmlns:p14="http://schemas.microsoft.com/office/powerpoint/2010/main" val="2517453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726CC-7951-F2FC-F5D6-AEF1420A0022}"/>
              </a:ext>
            </a:extLst>
          </p:cNvPr>
          <p:cNvSpPr>
            <a:spLocks noGrp="1"/>
          </p:cNvSpPr>
          <p:nvPr>
            <p:ph type="ctrTitle"/>
          </p:nvPr>
        </p:nvSpPr>
        <p:spPr/>
        <p:txBody>
          <a:bodyPr/>
          <a:lstStyle/>
          <a:p>
            <a:r>
              <a:rPr lang="en-US" dirty="0"/>
              <a:t>Pathology of the kidney and urinary system</a:t>
            </a:r>
          </a:p>
        </p:txBody>
      </p:sp>
      <p:sp>
        <p:nvSpPr>
          <p:cNvPr id="3" name="Subtitle 2">
            <a:extLst>
              <a:ext uri="{FF2B5EF4-FFF2-40B4-BE49-F238E27FC236}">
                <a16:creationId xmlns:a16="http://schemas.microsoft.com/office/drawing/2014/main" id="{9E6F5206-B140-19F3-F82E-72FAF267403D}"/>
              </a:ext>
            </a:extLst>
          </p:cNvPr>
          <p:cNvSpPr>
            <a:spLocks noGrp="1"/>
          </p:cNvSpPr>
          <p:nvPr>
            <p:ph type="subTitle" idx="1"/>
          </p:nvPr>
        </p:nvSpPr>
        <p:spPr/>
        <p:txBody>
          <a:bodyPr/>
          <a:lstStyle/>
          <a:p>
            <a:r>
              <a:rPr lang="en-US" dirty="0"/>
              <a:t>Dr. </a:t>
            </a:r>
            <a:r>
              <a:rPr lang="en-US" dirty="0" err="1"/>
              <a:t>Abdurrhman</a:t>
            </a:r>
            <a:r>
              <a:rPr lang="en-US" dirty="0"/>
              <a:t> </a:t>
            </a:r>
            <a:r>
              <a:rPr lang="en-US" dirty="0" err="1"/>
              <a:t>Kedir</a:t>
            </a:r>
            <a:endParaRPr lang="en-US" dirty="0"/>
          </a:p>
        </p:txBody>
      </p:sp>
    </p:spTree>
    <p:extLst>
      <p:ext uri="{BB962C8B-B14F-4D97-AF65-F5344CB8AC3E}">
        <p14:creationId xmlns:p14="http://schemas.microsoft.com/office/powerpoint/2010/main" val="3600407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63CF-3440-7512-45C5-CF56F3FCEE06}"/>
              </a:ext>
            </a:extLst>
          </p:cNvPr>
          <p:cNvSpPr>
            <a:spLocks noGrp="1"/>
          </p:cNvSpPr>
          <p:nvPr>
            <p:ph type="title"/>
          </p:nvPr>
        </p:nvSpPr>
        <p:spPr/>
        <p:txBody>
          <a:bodyPr/>
          <a:lstStyle/>
          <a:p>
            <a:r>
              <a:rPr lang="en-US" dirty="0"/>
              <a:t>Outline</a:t>
            </a:r>
          </a:p>
        </p:txBody>
      </p:sp>
      <p:sp>
        <p:nvSpPr>
          <p:cNvPr id="4" name="Content Placeholder 3">
            <a:extLst>
              <a:ext uri="{FF2B5EF4-FFF2-40B4-BE49-F238E27FC236}">
                <a16:creationId xmlns:a16="http://schemas.microsoft.com/office/drawing/2014/main" id="{85CB6DC3-830D-B1F1-2E67-0609CADC2410}"/>
              </a:ext>
            </a:extLst>
          </p:cNvPr>
          <p:cNvSpPr>
            <a:spLocks noGrp="1"/>
          </p:cNvSpPr>
          <p:nvPr>
            <p:ph sz="half" idx="1"/>
          </p:nvPr>
        </p:nvSpPr>
        <p:spPr/>
        <p:txBody>
          <a:bodyPr/>
          <a:lstStyle/>
          <a:p>
            <a:r>
              <a:rPr lang="en-US" dirty="0"/>
              <a:t>Congenital renal disorders</a:t>
            </a:r>
          </a:p>
          <a:p>
            <a:r>
              <a:rPr lang="en-US" dirty="0"/>
              <a:t>Acute renal failure</a:t>
            </a:r>
          </a:p>
          <a:p>
            <a:r>
              <a:rPr lang="en-US" dirty="0"/>
              <a:t>Nephrotic syndrome</a:t>
            </a:r>
          </a:p>
          <a:p>
            <a:r>
              <a:rPr lang="en-US" dirty="0"/>
              <a:t>Nephritic syndrome</a:t>
            </a:r>
          </a:p>
          <a:p>
            <a:r>
              <a:rPr lang="en-US" dirty="0"/>
              <a:t>Urinary tract infection</a:t>
            </a:r>
          </a:p>
          <a:p>
            <a:r>
              <a:rPr lang="en-US" dirty="0"/>
              <a:t>Chronic renal failure</a:t>
            </a:r>
          </a:p>
          <a:p>
            <a:r>
              <a:rPr lang="en-US" dirty="0"/>
              <a:t>Renal neoplasia</a:t>
            </a:r>
          </a:p>
          <a:p>
            <a:endParaRPr lang="en-US" dirty="0"/>
          </a:p>
        </p:txBody>
      </p:sp>
      <p:sp>
        <p:nvSpPr>
          <p:cNvPr id="5" name="Content Placeholder 4">
            <a:extLst>
              <a:ext uri="{FF2B5EF4-FFF2-40B4-BE49-F238E27FC236}">
                <a16:creationId xmlns:a16="http://schemas.microsoft.com/office/drawing/2014/main" id="{B66DAB24-156C-9336-5DC9-26148256183F}"/>
              </a:ext>
            </a:extLst>
          </p:cNvPr>
          <p:cNvSpPr>
            <a:spLocks noGrp="1"/>
          </p:cNvSpPr>
          <p:nvPr>
            <p:ph sz="half" idx="2"/>
          </p:nvPr>
        </p:nvSpPr>
        <p:spPr/>
        <p:txBody>
          <a:bodyPr/>
          <a:lstStyle/>
          <a:p>
            <a:r>
              <a:rPr lang="en-US" dirty="0"/>
              <a:t>Penis</a:t>
            </a:r>
          </a:p>
          <a:p>
            <a:r>
              <a:rPr lang="en-US" dirty="0"/>
              <a:t>Testis</a:t>
            </a:r>
          </a:p>
          <a:p>
            <a:r>
              <a:rPr lang="en-US" dirty="0"/>
              <a:t>Prostate</a:t>
            </a:r>
          </a:p>
        </p:txBody>
      </p:sp>
    </p:spTree>
    <p:extLst>
      <p:ext uri="{BB962C8B-B14F-4D97-AF65-F5344CB8AC3E}">
        <p14:creationId xmlns:p14="http://schemas.microsoft.com/office/powerpoint/2010/main" val="4124915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856E4-0F0F-2719-F857-BA1DAF1FC305}"/>
              </a:ext>
            </a:extLst>
          </p:cNvPr>
          <p:cNvSpPr>
            <a:spLocks noGrp="1"/>
          </p:cNvSpPr>
          <p:nvPr>
            <p:ph type="title"/>
          </p:nvPr>
        </p:nvSpPr>
        <p:spPr/>
        <p:txBody>
          <a:bodyPr/>
          <a:lstStyle/>
          <a:p>
            <a:r>
              <a:rPr lang="en-US" dirty="0"/>
              <a:t>Congenital renal disorders</a:t>
            </a:r>
          </a:p>
        </p:txBody>
      </p:sp>
      <p:sp>
        <p:nvSpPr>
          <p:cNvPr id="3" name="Content Placeholder 2">
            <a:extLst>
              <a:ext uri="{FF2B5EF4-FFF2-40B4-BE49-F238E27FC236}">
                <a16:creationId xmlns:a16="http://schemas.microsoft.com/office/drawing/2014/main" id="{B4A7A796-AF82-C08E-DB8F-A46BB66559F1}"/>
              </a:ext>
            </a:extLst>
          </p:cNvPr>
          <p:cNvSpPr>
            <a:spLocks noGrp="1"/>
          </p:cNvSpPr>
          <p:nvPr>
            <p:ph idx="1"/>
          </p:nvPr>
        </p:nvSpPr>
        <p:spPr/>
        <p:txBody>
          <a:bodyPr/>
          <a:lstStyle/>
          <a:p>
            <a:r>
              <a:rPr lang="en-US" sz="1800" b="1" i="0" dirty="0">
                <a:solidFill>
                  <a:srgbClr val="8B0020"/>
                </a:solidFill>
                <a:effectLst/>
                <a:latin typeface="MinionPro-Bold-Identity-H"/>
              </a:rPr>
              <a:t>HORSESHOE KIDNEY</a:t>
            </a:r>
            <a:br>
              <a:rPr lang="en-US" sz="1800" b="1" i="0" dirty="0">
                <a:solidFill>
                  <a:srgbClr val="8B0020"/>
                </a:solidFill>
                <a:effectLst/>
                <a:latin typeface="MinionPro-Bold-Identity-H"/>
              </a:rPr>
            </a:br>
            <a:r>
              <a:rPr lang="en-US" sz="1800" b="0" i="0" dirty="0">
                <a:solidFill>
                  <a:srgbClr val="000000"/>
                </a:solidFill>
                <a:effectLst/>
                <a:latin typeface="MinionPro-Regular-Identity-H"/>
              </a:rPr>
              <a:t> Conjoined kidneys usually connected at the lower pole; most common</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    congenital renal anomaly</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 Kidney is abnormally located in the lower abdomen; horseshoe kidney gets caught</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     on the inferior mesenteric artery root during its ascent from the pelvis to the abdomen.</a:t>
            </a:r>
            <a:r>
              <a:rPr lang="en-US" dirty="0"/>
              <a:t> </a:t>
            </a:r>
            <a:br>
              <a:rPr lang="en-US" dirty="0"/>
            </a:br>
            <a:r>
              <a:rPr lang="en-US" sz="1800" b="1" i="0" dirty="0">
                <a:solidFill>
                  <a:srgbClr val="8B0020"/>
                </a:solidFill>
                <a:effectLst/>
                <a:latin typeface="MinionPro-Bold-Identity-H"/>
              </a:rPr>
              <a:t>RENAL AGENESIS</a:t>
            </a:r>
            <a:br>
              <a:rPr lang="en-US" sz="1800" b="1" i="0" dirty="0">
                <a:solidFill>
                  <a:srgbClr val="8B0020"/>
                </a:solidFill>
                <a:effectLst/>
                <a:latin typeface="MinionPro-Bold-Identity-H"/>
              </a:rPr>
            </a:br>
            <a:r>
              <a:rPr lang="en-US" sz="1800" b="0" i="0" dirty="0">
                <a:solidFill>
                  <a:srgbClr val="000000"/>
                </a:solidFill>
                <a:effectLst/>
                <a:latin typeface="MinionPro-Regular-Identity-H"/>
              </a:rPr>
              <a:t>A. Absent kidney formation; may be unilateral or bilateral</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B. Unilateral agenesis leads to hypertrophy of the existing kidney; hyperfiltration</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increases risk of renal failure later in life.</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C. Bilateral agenesis leads to oligohydramnios with lung hypoplasia, flat face with low</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set ears, and developmental defects of the extremities (Potter sequence,);incompatible with life</a:t>
            </a:r>
            <a:r>
              <a:rPr lang="en-US" dirty="0"/>
              <a:t> </a:t>
            </a:r>
            <a:br>
              <a:rPr lang="en-US" dirty="0"/>
            </a:br>
            <a:endParaRPr lang="en-US" dirty="0"/>
          </a:p>
        </p:txBody>
      </p:sp>
    </p:spTree>
    <p:extLst>
      <p:ext uri="{BB962C8B-B14F-4D97-AF65-F5344CB8AC3E}">
        <p14:creationId xmlns:p14="http://schemas.microsoft.com/office/powerpoint/2010/main" val="1637881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B8B3AF-E84B-5C9D-75B7-ED31E0FE6A30}"/>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8293733F-CD4F-3A89-CFFB-86BEA2F7E16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066735" y="2720002"/>
            <a:ext cx="2724530" cy="2562583"/>
          </a:xfrm>
        </p:spPr>
      </p:pic>
      <p:pic>
        <p:nvPicPr>
          <p:cNvPr id="10" name="Content Placeholder 9">
            <a:extLst>
              <a:ext uri="{FF2B5EF4-FFF2-40B4-BE49-F238E27FC236}">
                <a16:creationId xmlns:a16="http://schemas.microsoft.com/office/drawing/2014/main" id="{7A62DC80-D0D2-7929-F503-35F1BE5A493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410261" y="2739055"/>
            <a:ext cx="2705478" cy="2524477"/>
          </a:xfrm>
        </p:spPr>
      </p:pic>
    </p:spTree>
    <p:extLst>
      <p:ext uri="{BB962C8B-B14F-4D97-AF65-F5344CB8AC3E}">
        <p14:creationId xmlns:p14="http://schemas.microsoft.com/office/powerpoint/2010/main" val="832380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A55F42-5A93-6BAF-5064-49A1DA9C4F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90B5CD-5302-12DB-DC25-607141967047}"/>
              </a:ext>
            </a:extLst>
          </p:cNvPr>
          <p:cNvSpPr>
            <a:spLocks noGrp="1"/>
          </p:cNvSpPr>
          <p:nvPr>
            <p:ph sz="half" idx="1"/>
          </p:nvPr>
        </p:nvSpPr>
        <p:spPr/>
        <p:txBody>
          <a:bodyPr>
            <a:normAutofit lnSpcReduction="10000"/>
          </a:bodyPr>
          <a:lstStyle/>
          <a:p>
            <a:r>
              <a:rPr lang="en-US" sz="1800" b="1" i="0" dirty="0">
                <a:solidFill>
                  <a:srgbClr val="8B0020"/>
                </a:solidFill>
                <a:effectLst/>
                <a:latin typeface="MinionPro-Bold-Identity-H"/>
              </a:rPr>
              <a:t>POLYCYSTIC KIDNEY DISEASE (PKD)</a:t>
            </a:r>
            <a:br>
              <a:rPr lang="en-US" sz="1800" b="1" i="0" dirty="0">
                <a:solidFill>
                  <a:srgbClr val="8B0020"/>
                </a:solidFill>
                <a:effectLst/>
                <a:latin typeface="MinionPro-Bold-Identity-H"/>
              </a:rPr>
            </a:br>
            <a:r>
              <a:rPr lang="en-US" sz="1800" b="0" i="0" dirty="0">
                <a:solidFill>
                  <a:srgbClr val="000000"/>
                </a:solidFill>
                <a:effectLst/>
                <a:latin typeface="MinionPro-Regular-Identity-H"/>
              </a:rPr>
              <a:t>A. Inherited defect leading to bilateral enlarged kidneys with cysts in the renal cortex</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and medulla </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B. Autosomal recessive form presents in infants as worsening renal failure and hypertension; newborns may present with Potter sequence.</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1. Associated with congenital hepatic fibrosis (leads to portal hypertension) and hepatic cysts</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C. Autosomal dominant form presents in young adults as hypertension (due to increased renin), hematuria, and worsening renal failure.</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1. Due to mutation in the </a:t>
            </a:r>
            <a:r>
              <a:rPr lang="en-US" sz="1800" b="0" i="1" dirty="0">
                <a:solidFill>
                  <a:srgbClr val="000000"/>
                </a:solidFill>
                <a:effectLst/>
                <a:latin typeface="MinionPro-It-Identity-H"/>
              </a:rPr>
              <a:t>APKD1 </a:t>
            </a:r>
            <a:r>
              <a:rPr lang="en-US" sz="1800" b="0" i="0" dirty="0">
                <a:solidFill>
                  <a:srgbClr val="000000"/>
                </a:solidFill>
                <a:effectLst/>
                <a:latin typeface="MinionPro-Regular-Identity-H"/>
              </a:rPr>
              <a:t>or </a:t>
            </a:r>
            <a:r>
              <a:rPr lang="en-US" sz="1800" b="0" i="1" dirty="0">
                <a:solidFill>
                  <a:srgbClr val="000000"/>
                </a:solidFill>
                <a:effectLst/>
                <a:latin typeface="MinionPro-It-Identity-H"/>
              </a:rPr>
              <a:t>APKD2 </a:t>
            </a:r>
            <a:r>
              <a:rPr lang="en-US" sz="1800" b="0" i="0" dirty="0">
                <a:solidFill>
                  <a:srgbClr val="000000"/>
                </a:solidFill>
                <a:effectLst/>
                <a:latin typeface="MinionPro-Regular-Identity-H"/>
              </a:rPr>
              <a:t>gene; cysts develop over time.</a:t>
            </a:r>
            <a:br>
              <a:rPr lang="en-US" sz="1800" b="0" i="0" dirty="0">
                <a:solidFill>
                  <a:srgbClr val="000000"/>
                </a:solidFill>
                <a:effectLst/>
                <a:latin typeface="MinionPro-Regular-Identity-H"/>
              </a:rPr>
            </a:br>
            <a:r>
              <a:rPr lang="en-US" sz="1800" b="0" i="0" dirty="0">
                <a:solidFill>
                  <a:srgbClr val="000000"/>
                </a:solidFill>
                <a:effectLst/>
                <a:latin typeface="MinionPro-Regular-Identity-H"/>
              </a:rPr>
              <a:t>2. Associated with berry aneurysm, hepatic cysts, and mitral valve prolapse</a:t>
            </a:r>
            <a:r>
              <a:rPr lang="en-US" dirty="0"/>
              <a:t> </a:t>
            </a:r>
            <a:br>
              <a:rPr lang="en-US" dirty="0"/>
            </a:br>
            <a:endParaRPr lang="en-US" dirty="0"/>
          </a:p>
        </p:txBody>
      </p:sp>
      <p:pic>
        <p:nvPicPr>
          <p:cNvPr id="7" name="Content Placeholder 6">
            <a:extLst>
              <a:ext uri="{FF2B5EF4-FFF2-40B4-BE49-F238E27FC236}">
                <a16:creationId xmlns:a16="http://schemas.microsoft.com/office/drawing/2014/main" id="{A0B357B3-36CA-AB73-BBB5-A9C22279EE6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415024" y="2743818"/>
            <a:ext cx="2695951" cy="2514951"/>
          </a:xfrm>
        </p:spPr>
      </p:pic>
    </p:spTree>
    <p:extLst>
      <p:ext uri="{BB962C8B-B14F-4D97-AF65-F5344CB8AC3E}">
        <p14:creationId xmlns:p14="http://schemas.microsoft.com/office/powerpoint/2010/main" val="1371371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1987-B089-4F06-1B15-E48559F3081C}"/>
              </a:ext>
            </a:extLst>
          </p:cNvPr>
          <p:cNvSpPr>
            <a:spLocks noGrp="1"/>
          </p:cNvSpPr>
          <p:nvPr>
            <p:ph type="title"/>
          </p:nvPr>
        </p:nvSpPr>
        <p:spPr/>
        <p:txBody>
          <a:bodyPr/>
          <a:lstStyle/>
          <a:p>
            <a:r>
              <a:rPr lang="en-US" dirty="0"/>
              <a:t>ACUTE RENAL FAILURE (ARF)</a:t>
            </a:r>
          </a:p>
        </p:txBody>
      </p:sp>
      <p:sp>
        <p:nvSpPr>
          <p:cNvPr id="3" name="Content Placeholder 2">
            <a:extLst>
              <a:ext uri="{FF2B5EF4-FFF2-40B4-BE49-F238E27FC236}">
                <a16:creationId xmlns:a16="http://schemas.microsoft.com/office/drawing/2014/main" id="{4DF56B7F-9FC9-52B7-6D8D-6E45B1CAA0EF}"/>
              </a:ext>
            </a:extLst>
          </p:cNvPr>
          <p:cNvSpPr>
            <a:spLocks noGrp="1"/>
          </p:cNvSpPr>
          <p:nvPr>
            <p:ph idx="1"/>
          </p:nvPr>
        </p:nvSpPr>
        <p:spPr/>
        <p:txBody>
          <a:bodyPr/>
          <a:lstStyle/>
          <a:p>
            <a:r>
              <a:rPr lang="en-US" dirty="0"/>
              <a:t>A. Acute, severe decrease in renal function (develops within days)</a:t>
            </a:r>
          </a:p>
          <a:p>
            <a:r>
              <a:rPr lang="en-US" dirty="0"/>
              <a:t>B. Hallmark is azotemia (increased BUN and creatinine [Cr]), often with oliguria.</a:t>
            </a:r>
          </a:p>
          <a:p>
            <a:r>
              <a:rPr lang="en-US" dirty="0"/>
              <a:t>C. Divided into pre-renal, post-renal and intra-renal azotemia based on etiology.  </a:t>
            </a:r>
          </a:p>
        </p:txBody>
      </p:sp>
    </p:spTree>
    <p:extLst>
      <p:ext uri="{BB962C8B-B14F-4D97-AF65-F5344CB8AC3E}">
        <p14:creationId xmlns:p14="http://schemas.microsoft.com/office/powerpoint/2010/main" val="514213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FB27D-E9AA-732F-8054-C9EE370AF68C}"/>
              </a:ext>
            </a:extLst>
          </p:cNvPr>
          <p:cNvSpPr>
            <a:spLocks noGrp="1"/>
          </p:cNvSpPr>
          <p:nvPr>
            <p:ph type="title"/>
          </p:nvPr>
        </p:nvSpPr>
        <p:spPr/>
        <p:txBody>
          <a:bodyPr/>
          <a:lstStyle/>
          <a:p>
            <a:r>
              <a:rPr lang="en-US" dirty="0"/>
              <a:t>PRERENAL AZOTEMIA</a:t>
            </a:r>
          </a:p>
        </p:txBody>
      </p:sp>
      <p:sp>
        <p:nvSpPr>
          <p:cNvPr id="3" name="Content Placeholder 2">
            <a:extLst>
              <a:ext uri="{FF2B5EF4-FFF2-40B4-BE49-F238E27FC236}">
                <a16:creationId xmlns:a16="http://schemas.microsoft.com/office/drawing/2014/main" id="{6907FE38-E0AB-B1E3-56B0-33E2811FBC7A}"/>
              </a:ext>
            </a:extLst>
          </p:cNvPr>
          <p:cNvSpPr>
            <a:spLocks noGrp="1"/>
          </p:cNvSpPr>
          <p:nvPr>
            <p:ph idx="1"/>
          </p:nvPr>
        </p:nvSpPr>
        <p:spPr/>
        <p:txBody>
          <a:bodyPr/>
          <a:lstStyle/>
          <a:p>
            <a:r>
              <a:rPr lang="en-US" dirty="0"/>
              <a:t>A. Due to decreased blood flow to kidneys (e.g., cardiac failure); common cause of ARF</a:t>
            </a:r>
          </a:p>
          <a:p>
            <a:r>
              <a:rPr lang="en-US" dirty="0"/>
              <a:t>B. Decreased blood flow results in ↓ GFR, azotemia, and oliguria.</a:t>
            </a:r>
          </a:p>
          <a:p>
            <a:r>
              <a:rPr lang="en-US" dirty="0"/>
              <a:t>C. Reabsorption of fluid and BUN ensues (serum </a:t>
            </a:r>
            <a:r>
              <a:rPr lang="en-US" dirty="0" err="1"/>
              <a:t>BUN:Cr</a:t>
            </a:r>
            <a:r>
              <a:rPr lang="en-US" dirty="0"/>
              <a:t> ratio &gt; 15); tubular function remains intact (fractional excretion of sodium [FEN a] &lt; 1% and urine osmolality [</a:t>
            </a:r>
            <a:r>
              <a:rPr lang="en-US" dirty="0" err="1"/>
              <a:t>osm</a:t>
            </a:r>
            <a:r>
              <a:rPr lang="en-US" dirty="0"/>
              <a:t>] &gt; 500 </a:t>
            </a:r>
            <a:r>
              <a:rPr lang="en-US" dirty="0" err="1"/>
              <a:t>mOsm</a:t>
            </a:r>
            <a:r>
              <a:rPr lang="en-US" dirty="0"/>
              <a:t>/kg).</a:t>
            </a:r>
          </a:p>
        </p:txBody>
      </p:sp>
    </p:spTree>
    <p:extLst>
      <p:ext uri="{BB962C8B-B14F-4D97-AF65-F5344CB8AC3E}">
        <p14:creationId xmlns:p14="http://schemas.microsoft.com/office/powerpoint/2010/main" val="415216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AB8BE-42F2-F744-6401-0692EF36DC7B}"/>
              </a:ext>
            </a:extLst>
          </p:cNvPr>
          <p:cNvSpPr>
            <a:spLocks noGrp="1"/>
          </p:cNvSpPr>
          <p:nvPr>
            <p:ph type="title"/>
          </p:nvPr>
        </p:nvSpPr>
        <p:spPr/>
        <p:txBody>
          <a:bodyPr/>
          <a:lstStyle/>
          <a:p>
            <a:r>
              <a:rPr lang="en-US" dirty="0"/>
              <a:t>POSTRENAL AZOTEMIA</a:t>
            </a:r>
          </a:p>
        </p:txBody>
      </p:sp>
      <p:sp>
        <p:nvSpPr>
          <p:cNvPr id="3" name="Content Placeholder 2">
            <a:extLst>
              <a:ext uri="{FF2B5EF4-FFF2-40B4-BE49-F238E27FC236}">
                <a16:creationId xmlns:a16="http://schemas.microsoft.com/office/drawing/2014/main" id="{5C387A7A-30BE-E28C-FE6B-891622DDC226}"/>
              </a:ext>
            </a:extLst>
          </p:cNvPr>
          <p:cNvSpPr>
            <a:spLocks noGrp="1"/>
          </p:cNvSpPr>
          <p:nvPr>
            <p:ph idx="1"/>
          </p:nvPr>
        </p:nvSpPr>
        <p:spPr/>
        <p:txBody>
          <a:bodyPr>
            <a:normAutofit/>
          </a:bodyPr>
          <a:lstStyle/>
          <a:p>
            <a:r>
              <a:rPr lang="en-US" dirty="0"/>
              <a:t>A. Due to obstruction of urinary tract downstream from the kidney (e.g., ureters)</a:t>
            </a:r>
          </a:p>
          <a:p>
            <a:r>
              <a:rPr lang="en-US" dirty="0"/>
              <a:t>B. Decreased outflow results in ↓GFR, azotemia, and oliguria.</a:t>
            </a:r>
          </a:p>
          <a:p>
            <a:r>
              <a:rPr lang="en-US" dirty="0"/>
              <a:t>C. During early stage of obstruction, increased tubular pressure "forces" BUN into the blood (serum </a:t>
            </a:r>
            <a:r>
              <a:rPr lang="en-US" dirty="0" err="1"/>
              <a:t>BUN:Cr</a:t>
            </a:r>
            <a:r>
              <a:rPr lang="en-US" dirty="0"/>
              <a:t> ratio&gt; 15); tubular function remains intact (</a:t>
            </a:r>
            <a:r>
              <a:rPr lang="en-US" dirty="0" err="1"/>
              <a:t>FENa</a:t>
            </a:r>
            <a:r>
              <a:rPr lang="en-US" dirty="0"/>
              <a:t> &lt; 1% and urine </a:t>
            </a:r>
            <a:r>
              <a:rPr lang="en-US" dirty="0" err="1"/>
              <a:t>osm</a:t>
            </a:r>
            <a:r>
              <a:rPr lang="en-US" dirty="0"/>
              <a:t> &gt; 500 </a:t>
            </a:r>
            <a:r>
              <a:rPr lang="en-US" dirty="0" err="1"/>
              <a:t>mOsm</a:t>
            </a:r>
            <a:r>
              <a:rPr lang="en-US" dirty="0"/>
              <a:t>/kg).</a:t>
            </a:r>
          </a:p>
          <a:p>
            <a:r>
              <a:rPr lang="en-US" dirty="0"/>
              <a:t>D. With long-standing obstruction, tubular damage ensues, resulting in decreased reabsorption of BUN (serum </a:t>
            </a:r>
            <a:r>
              <a:rPr lang="en-US" dirty="0" err="1"/>
              <a:t>BUN:Cr</a:t>
            </a:r>
            <a:r>
              <a:rPr lang="en-US" dirty="0"/>
              <a:t> ratio&lt; 15), decreased reabsorption of sodium (FEN a &gt; 2%), and inability to concentrate urine (urine </a:t>
            </a:r>
            <a:r>
              <a:rPr lang="en-US" dirty="0" err="1"/>
              <a:t>osm</a:t>
            </a:r>
            <a:r>
              <a:rPr lang="en-US" dirty="0"/>
              <a:t> &lt; 500 </a:t>
            </a:r>
            <a:r>
              <a:rPr lang="en-US" dirty="0" err="1"/>
              <a:t>mOsm</a:t>
            </a:r>
            <a:r>
              <a:rPr lang="en-US" dirty="0"/>
              <a:t>/kg).</a:t>
            </a:r>
          </a:p>
        </p:txBody>
      </p:sp>
    </p:spTree>
    <p:extLst>
      <p:ext uri="{BB962C8B-B14F-4D97-AF65-F5344CB8AC3E}">
        <p14:creationId xmlns:p14="http://schemas.microsoft.com/office/powerpoint/2010/main" val="1659323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F66D-2F85-F003-AEA9-F48A76365E51}"/>
              </a:ext>
            </a:extLst>
          </p:cNvPr>
          <p:cNvSpPr>
            <a:spLocks noGrp="1"/>
          </p:cNvSpPr>
          <p:nvPr>
            <p:ph type="title"/>
          </p:nvPr>
        </p:nvSpPr>
        <p:spPr/>
        <p:txBody>
          <a:bodyPr/>
          <a:lstStyle/>
          <a:p>
            <a:r>
              <a:rPr lang="en-US" dirty="0"/>
              <a:t>ACUTE TUBULAR NECROSIS</a:t>
            </a:r>
          </a:p>
        </p:txBody>
      </p:sp>
      <p:sp>
        <p:nvSpPr>
          <p:cNvPr id="3" name="Content Placeholder 2">
            <a:extLst>
              <a:ext uri="{FF2B5EF4-FFF2-40B4-BE49-F238E27FC236}">
                <a16:creationId xmlns:a16="http://schemas.microsoft.com/office/drawing/2014/main" id="{130303E1-4FBF-BBE6-E0D9-21710317F1BB}"/>
              </a:ext>
            </a:extLst>
          </p:cNvPr>
          <p:cNvSpPr>
            <a:spLocks noGrp="1"/>
          </p:cNvSpPr>
          <p:nvPr>
            <p:ph idx="1"/>
          </p:nvPr>
        </p:nvSpPr>
        <p:spPr/>
        <p:txBody>
          <a:bodyPr>
            <a:normAutofit/>
          </a:bodyPr>
          <a:lstStyle/>
          <a:p>
            <a:r>
              <a:rPr lang="en-US" dirty="0"/>
              <a:t>A. Injury and necrosis of tubular epithelial cells; most common cause of acute renal failure (intrarenal azotemia)</a:t>
            </a:r>
          </a:p>
          <a:p>
            <a:r>
              <a:rPr lang="en-US" dirty="0"/>
              <a:t>B. Necrotic cells plug tubules; obstruction decreases GFR.</a:t>
            </a:r>
          </a:p>
          <a:p>
            <a:r>
              <a:rPr lang="en-US" dirty="0"/>
              <a:t>1. Brown, granular casts are seen in the urine.</a:t>
            </a:r>
          </a:p>
          <a:p>
            <a:r>
              <a:rPr lang="en-US" dirty="0"/>
              <a:t>C. Dysfunctional tubular epithelium results in decreased reabsorption of BUN (serum </a:t>
            </a:r>
            <a:r>
              <a:rPr lang="en-US" dirty="0" err="1"/>
              <a:t>BUN:Cr</a:t>
            </a:r>
            <a:r>
              <a:rPr lang="en-US" dirty="0"/>
              <a:t> ratio &lt; 15), decreased reabsorption of sodium (</a:t>
            </a:r>
            <a:r>
              <a:rPr lang="en-US" dirty="0" err="1"/>
              <a:t>FENa</a:t>
            </a:r>
            <a:r>
              <a:rPr lang="en-US" dirty="0"/>
              <a:t> &gt; 2%), and inability to concentrate urine (urine </a:t>
            </a:r>
            <a:r>
              <a:rPr lang="en-US" dirty="0" err="1"/>
              <a:t>osm</a:t>
            </a:r>
            <a:r>
              <a:rPr lang="en-US" dirty="0"/>
              <a:t> &lt; 500 </a:t>
            </a:r>
            <a:r>
              <a:rPr lang="en-US" dirty="0" err="1"/>
              <a:t>mOsm</a:t>
            </a:r>
            <a:r>
              <a:rPr lang="en-US" dirty="0"/>
              <a:t>/kg).</a:t>
            </a:r>
          </a:p>
        </p:txBody>
      </p:sp>
    </p:spTree>
    <p:extLst>
      <p:ext uri="{BB962C8B-B14F-4D97-AF65-F5344CB8AC3E}">
        <p14:creationId xmlns:p14="http://schemas.microsoft.com/office/powerpoint/2010/main" val="3638091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8D075-59FD-8FD8-B69D-310B49C112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A1874D-A9D0-89FB-DF7A-93551FF5245D}"/>
              </a:ext>
            </a:extLst>
          </p:cNvPr>
          <p:cNvSpPr>
            <a:spLocks noGrp="1"/>
          </p:cNvSpPr>
          <p:nvPr>
            <p:ph idx="1"/>
          </p:nvPr>
        </p:nvSpPr>
        <p:spPr/>
        <p:txBody>
          <a:bodyPr/>
          <a:lstStyle/>
          <a:p>
            <a:r>
              <a:rPr lang="en-US" dirty="0"/>
              <a:t>D. Etiology may be ischemic or nephrotoxic.</a:t>
            </a:r>
          </a:p>
          <a:p>
            <a:r>
              <a:rPr lang="en-US" dirty="0"/>
              <a:t>1. Ischemia - Decreased blood supply results in necrosis of tubules.</a:t>
            </a:r>
          </a:p>
          <a:p>
            <a:r>
              <a:rPr lang="en-US" dirty="0" err="1"/>
              <a:t>i</a:t>
            </a:r>
            <a:r>
              <a:rPr lang="en-US" dirty="0"/>
              <a:t>. Often preceded by prerenal azotemia</a:t>
            </a:r>
          </a:p>
          <a:p>
            <a:r>
              <a:rPr lang="en-US" dirty="0"/>
              <a:t>ii. Proximal tubule and medullary segment of the thick ascending limb are particularly susceptible to ischemic damage.</a:t>
            </a:r>
          </a:p>
          <a:p>
            <a:endParaRPr lang="en-US" dirty="0"/>
          </a:p>
        </p:txBody>
      </p:sp>
    </p:spTree>
    <p:extLst>
      <p:ext uri="{BB962C8B-B14F-4D97-AF65-F5344CB8AC3E}">
        <p14:creationId xmlns:p14="http://schemas.microsoft.com/office/powerpoint/2010/main" val="3491537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F6DF7-1989-3744-B5E9-3C73160FAC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1C2627-41E2-3479-DC27-B45189DF4235}"/>
              </a:ext>
            </a:extLst>
          </p:cNvPr>
          <p:cNvSpPr>
            <a:spLocks noGrp="1"/>
          </p:cNvSpPr>
          <p:nvPr>
            <p:ph idx="1"/>
          </p:nvPr>
        </p:nvSpPr>
        <p:spPr/>
        <p:txBody>
          <a:bodyPr>
            <a:normAutofit/>
          </a:bodyPr>
          <a:lstStyle/>
          <a:p>
            <a:r>
              <a:rPr lang="en-US" dirty="0"/>
              <a:t>2. Nephrotoxic - Toxic agents result in necrosis of tubules.</a:t>
            </a:r>
          </a:p>
          <a:p>
            <a:r>
              <a:rPr lang="en-US" dirty="0" err="1"/>
              <a:t>i</a:t>
            </a:r>
            <a:r>
              <a:rPr lang="en-US" dirty="0"/>
              <a:t>. Proximal tubule is particularly susceptible.</a:t>
            </a:r>
          </a:p>
          <a:p>
            <a:r>
              <a:rPr lang="en-US" dirty="0"/>
              <a:t>ii. Causes include aminoglycosides (most common), heavy metals (e.g., lead), myoglobinuria (e.g., from crush injury to muscle), ethylene glycol (associated with oxalate crystals in urine),radiocontrast dye, and urate (e.g., tumor lysis syndrome).</a:t>
            </a:r>
          </a:p>
          <a:p>
            <a:r>
              <a:rPr lang="en-US" dirty="0"/>
              <a:t>iii. Hydration and allopurinol are used prior to initiation of chemotherapy to decrease risk of urate-induced ATN.</a:t>
            </a:r>
          </a:p>
          <a:p>
            <a:endParaRPr lang="en-US" dirty="0"/>
          </a:p>
        </p:txBody>
      </p:sp>
    </p:spTree>
    <p:extLst>
      <p:ext uri="{BB962C8B-B14F-4D97-AF65-F5344CB8AC3E}">
        <p14:creationId xmlns:p14="http://schemas.microsoft.com/office/powerpoint/2010/main" val="3422115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622EA-9746-C869-5D75-E517344BE60A}"/>
              </a:ext>
            </a:extLst>
          </p:cNvPr>
          <p:cNvSpPr>
            <a:spLocks noGrp="1"/>
          </p:cNvSpPr>
          <p:nvPr>
            <p:ph type="title"/>
          </p:nvPr>
        </p:nvSpPr>
        <p:spPr/>
        <p:txBody>
          <a:bodyPr/>
          <a:lstStyle/>
          <a:p>
            <a:r>
              <a:rPr lang="en-US" dirty="0"/>
              <a:t>Clinical features</a:t>
            </a:r>
          </a:p>
        </p:txBody>
      </p:sp>
      <p:sp>
        <p:nvSpPr>
          <p:cNvPr id="3" name="Content Placeholder 2">
            <a:extLst>
              <a:ext uri="{FF2B5EF4-FFF2-40B4-BE49-F238E27FC236}">
                <a16:creationId xmlns:a16="http://schemas.microsoft.com/office/drawing/2014/main" id="{A0F452E4-C60B-D3AD-6470-7434716444FE}"/>
              </a:ext>
            </a:extLst>
          </p:cNvPr>
          <p:cNvSpPr>
            <a:spLocks noGrp="1"/>
          </p:cNvSpPr>
          <p:nvPr>
            <p:ph idx="1"/>
          </p:nvPr>
        </p:nvSpPr>
        <p:spPr/>
        <p:txBody>
          <a:bodyPr/>
          <a:lstStyle/>
          <a:p>
            <a:r>
              <a:rPr lang="en-US" dirty="0"/>
              <a:t>1. Oliguria with brown, granular casts</a:t>
            </a:r>
          </a:p>
          <a:p>
            <a:r>
              <a:rPr lang="en-US" dirty="0"/>
              <a:t>2. Elevated BUN and creatinine</a:t>
            </a:r>
          </a:p>
          <a:p>
            <a:r>
              <a:rPr lang="en-US" dirty="0"/>
              <a:t>3. Hyperkalemia (due to decreased renal excretion) with metabolic acidosis</a:t>
            </a:r>
          </a:p>
        </p:txBody>
      </p:sp>
    </p:spTree>
    <p:extLst>
      <p:ext uri="{BB962C8B-B14F-4D97-AF65-F5344CB8AC3E}">
        <p14:creationId xmlns:p14="http://schemas.microsoft.com/office/powerpoint/2010/main" val="1446465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916EC-0543-6B7D-DB0F-4E15D2292595}"/>
              </a:ext>
            </a:extLst>
          </p:cNvPr>
          <p:cNvSpPr>
            <a:spLocks noGrp="1"/>
          </p:cNvSpPr>
          <p:nvPr>
            <p:ph type="title"/>
          </p:nvPr>
        </p:nvSpPr>
        <p:spPr/>
        <p:txBody>
          <a:bodyPr/>
          <a:lstStyle/>
          <a:p>
            <a:r>
              <a:rPr lang="en-US" dirty="0"/>
              <a:t>ACUTE INTERSTITIAL NEPHRITIS</a:t>
            </a:r>
          </a:p>
        </p:txBody>
      </p:sp>
      <p:sp>
        <p:nvSpPr>
          <p:cNvPr id="3" name="Content Placeholder 2">
            <a:extLst>
              <a:ext uri="{FF2B5EF4-FFF2-40B4-BE49-F238E27FC236}">
                <a16:creationId xmlns:a16="http://schemas.microsoft.com/office/drawing/2014/main" id="{9C73D5B3-558A-250C-D887-6376669C8EDF}"/>
              </a:ext>
            </a:extLst>
          </p:cNvPr>
          <p:cNvSpPr>
            <a:spLocks noGrp="1"/>
          </p:cNvSpPr>
          <p:nvPr>
            <p:ph idx="1"/>
          </p:nvPr>
        </p:nvSpPr>
        <p:spPr/>
        <p:txBody>
          <a:bodyPr/>
          <a:lstStyle/>
          <a:p>
            <a:r>
              <a:rPr lang="en-US" dirty="0"/>
              <a:t>A. Drug-induced hypersensitivity involving the </a:t>
            </a:r>
            <a:r>
              <a:rPr lang="en-US" dirty="0" err="1"/>
              <a:t>interstitium</a:t>
            </a:r>
            <a:r>
              <a:rPr lang="en-US" dirty="0"/>
              <a:t> and tubules ; results in acute renal failure (intrarenal azotemia)</a:t>
            </a:r>
          </a:p>
          <a:p>
            <a:r>
              <a:rPr lang="en-US" dirty="0"/>
              <a:t>B. Causes include NSAIDs, penicillin, and diuretics.</a:t>
            </a:r>
          </a:p>
          <a:p>
            <a:r>
              <a:rPr lang="en-US" dirty="0"/>
              <a:t>C. Presents as oliguria, fever, and rash days to weeks after starting a drug; eosinophils may be seen in urine.</a:t>
            </a:r>
          </a:p>
          <a:p>
            <a:r>
              <a:rPr lang="en-US" dirty="0"/>
              <a:t>D. Resolves with cessation of drug</a:t>
            </a:r>
          </a:p>
          <a:p>
            <a:r>
              <a:rPr lang="en-US" dirty="0"/>
              <a:t>E. May progress to renal papillary necrosis</a:t>
            </a:r>
          </a:p>
        </p:txBody>
      </p:sp>
    </p:spTree>
    <p:extLst>
      <p:ext uri="{BB962C8B-B14F-4D97-AF65-F5344CB8AC3E}">
        <p14:creationId xmlns:p14="http://schemas.microsoft.com/office/powerpoint/2010/main" val="2927949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4462-A541-27C5-7A0D-2B5139A82106}"/>
              </a:ext>
            </a:extLst>
          </p:cNvPr>
          <p:cNvSpPr>
            <a:spLocks noGrp="1"/>
          </p:cNvSpPr>
          <p:nvPr>
            <p:ph type="title"/>
          </p:nvPr>
        </p:nvSpPr>
        <p:spPr/>
        <p:txBody>
          <a:bodyPr/>
          <a:lstStyle/>
          <a:p>
            <a:r>
              <a:rPr lang="en-US" dirty="0"/>
              <a:t>RENAL PAPILLARY NECROSIS</a:t>
            </a:r>
          </a:p>
        </p:txBody>
      </p:sp>
      <p:sp>
        <p:nvSpPr>
          <p:cNvPr id="3" name="Content Placeholder 2">
            <a:extLst>
              <a:ext uri="{FF2B5EF4-FFF2-40B4-BE49-F238E27FC236}">
                <a16:creationId xmlns:a16="http://schemas.microsoft.com/office/drawing/2014/main" id="{8F22FD8C-CDF4-76F1-CD5A-B46F94635C01}"/>
              </a:ext>
            </a:extLst>
          </p:cNvPr>
          <p:cNvSpPr>
            <a:spLocks noGrp="1"/>
          </p:cNvSpPr>
          <p:nvPr>
            <p:ph idx="1"/>
          </p:nvPr>
        </p:nvSpPr>
        <p:spPr/>
        <p:txBody>
          <a:bodyPr/>
          <a:lstStyle/>
          <a:p>
            <a:r>
              <a:rPr lang="en-US" dirty="0"/>
              <a:t>A. Necrosis of renal papillae</a:t>
            </a:r>
          </a:p>
          <a:p>
            <a:r>
              <a:rPr lang="en-US" dirty="0"/>
              <a:t>B. Presents with gross hematuria and flank pain</a:t>
            </a:r>
          </a:p>
          <a:p>
            <a:r>
              <a:rPr lang="en-US" dirty="0"/>
              <a:t>C. Causes include</a:t>
            </a:r>
          </a:p>
          <a:p>
            <a:r>
              <a:rPr lang="en-US" dirty="0"/>
              <a:t>1. Chronic analgesic abuse (e.g., long-term phenacetin or aspirin use)</a:t>
            </a:r>
          </a:p>
          <a:p>
            <a:r>
              <a:rPr lang="en-US" dirty="0"/>
              <a:t>2. Diabetes mellitus</a:t>
            </a:r>
          </a:p>
          <a:p>
            <a:r>
              <a:rPr lang="en-US" dirty="0"/>
              <a:t>3. Sickle cell trait or disease</a:t>
            </a:r>
          </a:p>
          <a:p>
            <a:r>
              <a:rPr lang="en-US" dirty="0"/>
              <a:t>4. Severe acute pyelonephritis</a:t>
            </a:r>
          </a:p>
        </p:txBody>
      </p:sp>
    </p:spTree>
    <p:extLst>
      <p:ext uri="{BB962C8B-B14F-4D97-AF65-F5344CB8AC3E}">
        <p14:creationId xmlns:p14="http://schemas.microsoft.com/office/powerpoint/2010/main" val="1712117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ABE53-4BE9-F8AD-6A8D-4FD3BC5E1E86}"/>
              </a:ext>
            </a:extLst>
          </p:cNvPr>
          <p:cNvSpPr>
            <a:spLocks noGrp="1"/>
          </p:cNvSpPr>
          <p:nvPr>
            <p:ph type="title"/>
          </p:nvPr>
        </p:nvSpPr>
        <p:spPr/>
        <p:txBody>
          <a:bodyPr/>
          <a:lstStyle/>
          <a:p>
            <a:r>
              <a:rPr lang="en-US" dirty="0"/>
              <a:t>NEPHROTIC SYNDROME</a:t>
            </a:r>
          </a:p>
        </p:txBody>
      </p:sp>
      <p:sp>
        <p:nvSpPr>
          <p:cNvPr id="3" name="Content Placeholder 2">
            <a:extLst>
              <a:ext uri="{FF2B5EF4-FFF2-40B4-BE49-F238E27FC236}">
                <a16:creationId xmlns:a16="http://schemas.microsoft.com/office/drawing/2014/main" id="{A27D12E4-F8A0-A211-DF11-F2FE59899C86}"/>
              </a:ext>
            </a:extLst>
          </p:cNvPr>
          <p:cNvSpPr>
            <a:spLocks noGrp="1"/>
          </p:cNvSpPr>
          <p:nvPr>
            <p:ph idx="1"/>
          </p:nvPr>
        </p:nvSpPr>
        <p:spPr/>
        <p:txBody>
          <a:bodyPr/>
          <a:lstStyle/>
          <a:p>
            <a:r>
              <a:rPr lang="en-US" dirty="0"/>
              <a:t>A. Glomerular disorders characterized by proteinuria (&gt; 3.5 g/day) resulting in</a:t>
            </a:r>
          </a:p>
          <a:p>
            <a:r>
              <a:rPr lang="en-US" dirty="0"/>
              <a:t>1. Hypoalbuminemia - pitting edema</a:t>
            </a:r>
          </a:p>
          <a:p>
            <a:r>
              <a:rPr lang="en-US" dirty="0"/>
              <a:t>2. Hypogammaglobulinemia - increased risk of infection</a:t>
            </a:r>
          </a:p>
          <a:p>
            <a:r>
              <a:rPr lang="en-US" dirty="0"/>
              <a:t>3. Hypercoagulable state - due to loss of antithrombin III</a:t>
            </a:r>
          </a:p>
          <a:p>
            <a:r>
              <a:rPr lang="en-US" dirty="0"/>
              <a:t>4. Hyperlipidemia and hypercholesterolemia - may result in fatty casts in urine</a:t>
            </a:r>
          </a:p>
        </p:txBody>
      </p:sp>
    </p:spTree>
    <p:extLst>
      <p:ext uri="{BB962C8B-B14F-4D97-AF65-F5344CB8AC3E}">
        <p14:creationId xmlns:p14="http://schemas.microsoft.com/office/powerpoint/2010/main" val="2824398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20C4D-E2F2-27FB-4D0C-77E863771F83}"/>
              </a:ext>
            </a:extLst>
          </p:cNvPr>
          <p:cNvSpPr>
            <a:spLocks noGrp="1"/>
          </p:cNvSpPr>
          <p:nvPr>
            <p:ph type="title"/>
          </p:nvPr>
        </p:nvSpPr>
        <p:spPr/>
        <p:txBody>
          <a:bodyPr/>
          <a:lstStyle/>
          <a:p>
            <a:r>
              <a:rPr lang="en-US" dirty="0"/>
              <a:t>MINIMAL CHANGE DISEASE (MCD)</a:t>
            </a:r>
          </a:p>
        </p:txBody>
      </p:sp>
      <p:sp>
        <p:nvSpPr>
          <p:cNvPr id="3" name="Content Placeholder 2">
            <a:extLst>
              <a:ext uri="{FF2B5EF4-FFF2-40B4-BE49-F238E27FC236}">
                <a16:creationId xmlns:a16="http://schemas.microsoft.com/office/drawing/2014/main" id="{44EDB5BE-325B-890D-61F8-17734E260B39}"/>
              </a:ext>
            </a:extLst>
          </p:cNvPr>
          <p:cNvSpPr>
            <a:spLocks noGrp="1"/>
          </p:cNvSpPr>
          <p:nvPr>
            <p:ph idx="1"/>
          </p:nvPr>
        </p:nvSpPr>
        <p:spPr/>
        <p:txBody>
          <a:bodyPr>
            <a:normAutofit/>
          </a:bodyPr>
          <a:lstStyle/>
          <a:p>
            <a:r>
              <a:rPr lang="en-US" dirty="0"/>
              <a:t>A. Most common cause of nephrotic syndrome in children</a:t>
            </a:r>
          </a:p>
          <a:p>
            <a:r>
              <a:rPr lang="en-US" dirty="0"/>
              <a:t>B. Usually idiopathic; may be associated with Hodgkin lymphoma</a:t>
            </a:r>
          </a:p>
          <a:p>
            <a:r>
              <a:rPr lang="en-US" dirty="0"/>
              <a:t>C. Normal glomeruli on H&amp;E stain; lipid may be seen in proximal tubule cells.</a:t>
            </a:r>
          </a:p>
          <a:p>
            <a:r>
              <a:rPr lang="en-US" dirty="0"/>
              <a:t>D. Effacement of foot processes on electron microscopy </a:t>
            </a:r>
          </a:p>
          <a:p>
            <a:r>
              <a:rPr lang="en-US" dirty="0"/>
              <a:t>E. No immune complex deposits; negative immunofluorescence (IF)</a:t>
            </a:r>
          </a:p>
          <a:p>
            <a:r>
              <a:rPr lang="en-US" dirty="0"/>
              <a:t>F. Selective proteinuria (loss of albumin, but not immunoglobulin)</a:t>
            </a:r>
          </a:p>
          <a:p>
            <a:r>
              <a:rPr lang="en-US" dirty="0"/>
              <a:t>G. Excellent response to steroids (damage is mediated by cytokines from T cells)</a:t>
            </a:r>
          </a:p>
        </p:txBody>
      </p:sp>
    </p:spTree>
    <p:extLst>
      <p:ext uri="{BB962C8B-B14F-4D97-AF65-F5344CB8AC3E}">
        <p14:creationId xmlns:p14="http://schemas.microsoft.com/office/powerpoint/2010/main" val="2278156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7C5F3-0828-16F5-82DE-D8B48F2A1DDC}"/>
              </a:ext>
            </a:extLst>
          </p:cNvPr>
          <p:cNvSpPr>
            <a:spLocks noGrp="1"/>
          </p:cNvSpPr>
          <p:nvPr>
            <p:ph type="title"/>
          </p:nvPr>
        </p:nvSpPr>
        <p:spPr/>
        <p:txBody>
          <a:bodyPr/>
          <a:lstStyle/>
          <a:p>
            <a:r>
              <a:rPr lang="en-US" dirty="0"/>
              <a:t>FOCAL SEGMENTAL GLOMERULOSCLEROSIS (FSGS)</a:t>
            </a:r>
          </a:p>
        </p:txBody>
      </p:sp>
      <p:sp>
        <p:nvSpPr>
          <p:cNvPr id="3" name="Content Placeholder 2">
            <a:extLst>
              <a:ext uri="{FF2B5EF4-FFF2-40B4-BE49-F238E27FC236}">
                <a16:creationId xmlns:a16="http://schemas.microsoft.com/office/drawing/2014/main" id="{B613FD85-D141-0536-3CAB-2F94B8A55538}"/>
              </a:ext>
            </a:extLst>
          </p:cNvPr>
          <p:cNvSpPr>
            <a:spLocks noGrp="1"/>
          </p:cNvSpPr>
          <p:nvPr>
            <p:ph idx="1"/>
          </p:nvPr>
        </p:nvSpPr>
        <p:spPr/>
        <p:txBody>
          <a:bodyPr>
            <a:normAutofit/>
          </a:bodyPr>
          <a:lstStyle/>
          <a:p>
            <a:r>
              <a:rPr lang="en-US" dirty="0"/>
              <a:t>A. Most common cause of nephrotic syndrome in Hispanics and African Americans</a:t>
            </a:r>
          </a:p>
          <a:p>
            <a:r>
              <a:rPr lang="en-US" dirty="0"/>
              <a:t>B. Usually idiopathic; may be associated with HIV, heroin use, and sickle cell disease</a:t>
            </a:r>
          </a:p>
          <a:p>
            <a:r>
              <a:rPr lang="en-US" dirty="0"/>
              <a:t>C. Focal (some glomeruli) and segmental (involving only part of the glomerulus) sclerosis on H&amp;E stain </a:t>
            </a:r>
          </a:p>
          <a:p>
            <a:r>
              <a:rPr lang="en-US" dirty="0"/>
              <a:t>D. Effacement of foot processes on EM</a:t>
            </a:r>
          </a:p>
          <a:p>
            <a:r>
              <a:rPr lang="en-US" dirty="0"/>
              <a:t>E. No immune complex deposits; negative IF</a:t>
            </a:r>
          </a:p>
          <a:p>
            <a:r>
              <a:rPr lang="en-US" dirty="0"/>
              <a:t>F. Poor response to steroids; progresses to chronic renal failure</a:t>
            </a:r>
          </a:p>
        </p:txBody>
      </p:sp>
    </p:spTree>
    <p:extLst>
      <p:ext uri="{BB962C8B-B14F-4D97-AF65-F5344CB8AC3E}">
        <p14:creationId xmlns:p14="http://schemas.microsoft.com/office/powerpoint/2010/main" val="3783643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7F83D9-C003-9D6C-C181-447281CF440D}"/>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A5E1CC85-EB62-2192-75DE-72D748D8CDA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833340" y="2748581"/>
            <a:ext cx="3191320" cy="2505425"/>
          </a:xfrm>
        </p:spPr>
      </p:pic>
      <p:pic>
        <p:nvPicPr>
          <p:cNvPr id="10" name="Content Placeholder 9">
            <a:extLst>
              <a:ext uri="{FF2B5EF4-FFF2-40B4-BE49-F238E27FC236}">
                <a16:creationId xmlns:a16="http://schemas.microsoft.com/office/drawing/2014/main" id="{21316190-9621-47F5-4514-A69E3191789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124471" y="2572344"/>
            <a:ext cx="3277057" cy="2857899"/>
          </a:xfrm>
        </p:spPr>
      </p:pic>
    </p:spTree>
    <p:extLst>
      <p:ext uri="{BB962C8B-B14F-4D97-AF65-F5344CB8AC3E}">
        <p14:creationId xmlns:p14="http://schemas.microsoft.com/office/powerpoint/2010/main" val="3759923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DA071-357F-A116-AAE1-99290D8BD2E1}"/>
              </a:ext>
            </a:extLst>
          </p:cNvPr>
          <p:cNvSpPr>
            <a:spLocks noGrp="1"/>
          </p:cNvSpPr>
          <p:nvPr>
            <p:ph type="title"/>
          </p:nvPr>
        </p:nvSpPr>
        <p:spPr/>
        <p:txBody>
          <a:bodyPr/>
          <a:lstStyle/>
          <a:p>
            <a:r>
              <a:rPr lang="en-US" dirty="0"/>
              <a:t>MEMBRANOUS NEPHROPATHY</a:t>
            </a:r>
          </a:p>
        </p:txBody>
      </p:sp>
      <p:sp>
        <p:nvSpPr>
          <p:cNvPr id="3" name="Content Placeholder 2">
            <a:extLst>
              <a:ext uri="{FF2B5EF4-FFF2-40B4-BE49-F238E27FC236}">
                <a16:creationId xmlns:a16="http://schemas.microsoft.com/office/drawing/2014/main" id="{E942B89B-55FC-C8B2-4F60-8958C3DD0607}"/>
              </a:ext>
            </a:extLst>
          </p:cNvPr>
          <p:cNvSpPr>
            <a:spLocks noGrp="1"/>
          </p:cNvSpPr>
          <p:nvPr>
            <p:ph sz="half" idx="1"/>
          </p:nvPr>
        </p:nvSpPr>
        <p:spPr/>
        <p:txBody>
          <a:bodyPr>
            <a:normAutofit fontScale="85000" lnSpcReduction="20000"/>
          </a:bodyPr>
          <a:lstStyle/>
          <a:p>
            <a:r>
              <a:rPr lang="en-US" dirty="0"/>
              <a:t>A. Most common cause of nephrotic syndrome in Caucasian adults</a:t>
            </a:r>
          </a:p>
          <a:p>
            <a:r>
              <a:rPr lang="en-US" dirty="0"/>
              <a:t>B. Usually idiopathic; may be associated with hepatitis B or C, solid tumors, SLE, or drugs (e.g., NSAIDs and penicillamine)</a:t>
            </a:r>
          </a:p>
          <a:p>
            <a:r>
              <a:rPr lang="en-US" dirty="0"/>
              <a:t>C. Thick glomerular basement membrane on H&amp;E  </a:t>
            </a:r>
          </a:p>
          <a:p>
            <a:r>
              <a:rPr lang="en-US" dirty="0"/>
              <a:t>D. Due to immune complex deposition (granular IF); subepithelial deposits with 'spike and dome' appearance on EM </a:t>
            </a:r>
          </a:p>
          <a:p>
            <a:r>
              <a:rPr lang="en-US" dirty="0"/>
              <a:t>E. Poor response to steroids; progresses to chronic renal failure</a:t>
            </a:r>
          </a:p>
        </p:txBody>
      </p:sp>
      <p:pic>
        <p:nvPicPr>
          <p:cNvPr id="6" name="Content Placeholder 5">
            <a:extLst>
              <a:ext uri="{FF2B5EF4-FFF2-40B4-BE49-F238E27FC236}">
                <a16:creationId xmlns:a16="http://schemas.microsoft.com/office/drawing/2014/main" id="{3FAC6798-AEBE-8962-0E00-D7459017188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470245"/>
            <a:ext cx="5181600" cy="2637149"/>
          </a:xfrm>
        </p:spPr>
      </p:pic>
    </p:spTree>
    <p:extLst>
      <p:ext uri="{BB962C8B-B14F-4D97-AF65-F5344CB8AC3E}">
        <p14:creationId xmlns:p14="http://schemas.microsoft.com/office/powerpoint/2010/main" val="2759271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26F93-1E9B-54D9-0C81-623A0577C5AE}"/>
              </a:ext>
            </a:extLst>
          </p:cNvPr>
          <p:cNvSpPr>
            <a:spLocks noGrp="1"/>
          </p:cNvSpPr>
          <p:nvPr>
            <p:ph type="title"/>
          </p:nvPr>
        </p:nvSpPr>
        <p:spPr/>
        <p:txBody>
          <a:bodyPr/>
          <a:lstStyle/>
          <a:p>
            <a:r>
              <a:rPr lang="en-US" dirty="0"/>
              <a:t>MEMBRANOPROLIFERA TIVE GLOMERULONEPHRITIS</a:t>
            </a:r>
          </a:p>
        </p:txBody>
      </p:sp>
      <p:sp>
        <p:nvSpPr>
          <p:cNvPr id="3" name="Content Placeholder 2">
            <a:extLst>
              <a:ext uri="{FF2B5EF4-FFF2-40B4-BE49-F238E27FC236}">
                <a16:creationId xmlns:a16="http://schemas.microsoft.com/office/drawing/2014/main" id="{C59EDA21-F678-0259-5E2E-8F8DDF532D33}"/>
              </a:ext>
            </a:extLst>
          </p:cNvPr>
          <p:cNvSpPr>
            <a:spLocks noGrp="1"/>
          </p:cNvSpPr>
          <p:nvPr>
            <p:ph idx="1"/>
          </p:nvPr>
        </p:nvSpPr>
        <p:spPr/>
        <p:txBody>
          <a:bodyPr>
            <a:normAutofit lnSpcReduction="10000"/>
          </a:bodyPr>
          <a:lstStyle/>
          <a:p>
            <a:r>
              <a:rPr lang="en-US" dirty="0"/>
              <a:t>A. Thick glomerular basement membrane on H&amp;E, often with 'tram-track' appearance</a:t>
            </a:r>
          </a:p>
          <a:p>
            <a:r>
              <a:rPr lang="en-US" dirty="0"/>
              <a:t>B. Due to immune complex deposition (granular IF)</a:t>
            </a:r>
          </a:p>
          <a:p>
            <a:r>
              <a:rPr lang="en-US" dirty="0"/>
              <a:t>C. Divided into two types based on location of deposits</a:t>
            </a:r>
          </a:p>
          <a:p>
            <a:r>
              <a:rPr lang="en-US" dirty="0"/>
              <a:t>1. Type I - subendothelial; associated with HBV and HCV</a:t>
            </a:r>
          </a:p>
          <a:p>
            <a:r>
              <a:rPr lang="en-US" dirty="0"/>
              <a:t>2. Type II (dense deposit disease) - intramembranous; associated with C3 nephritic factor (autoantibody that stabilizes C3 convertase, leading to overactivation of complement, inflammation, and low levels of circulating C3)</a:t>
            </a:r>
          </a:p>
          <a:p>
            <a:r>
              <a:rPr lang="en-US" dirty="0"/>
              <a:t>D. Poor response to steroids; progresses to chronic renal failure</a:t>
            </a:r>
          </a:p>
        </p:txBody>
      </p:sp>
    </p:spTree>
    <p:extLst>
      <p:ext uri="{BB962C8B-B14F-4D97-AF65-F5344CB8AC3E}">
        <p14:creationId xmlns:p14="http://schemas.microsoft.com/office/powerpoint/2010/main" val="1108699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924F7-B105-A1E2-E0CE-8BF42E2F6BC1}"/>
              </a:ext>
            </a:extLst>
          </p:cNvPr>
          <p:cNvSpPr>
            <a:spLocks noGrp="1"/>
          </p:cNvSpPr>
          <p:nvPr>
            <p:ph type="title"/>
          </p:nvPr>
        </p:nvSpPr>
        <p:spPr/>
        <p:txBody>
          <a:bodyPr/>
          <a:lstStyle/>
          <a:p>
            <a:r>
              <a:rPr lang="en-US" dirty="0"/>
              <a:t>DIABETES MELLITUS</a:t>
            </a:r>
          </a:p>
        </p:txBody>
      </p:sp>
      <p:sp>
        <p:nvSpPr>
          <p:cNvPr id="3" name="Content Placeholder 2">
            <a:extLst>
              <a:ext uri="{FF2B5EF4-FFF2-40B4-BE49-F238E27FC236}">
                <a16:creationId xmlns:a16="http://schemas.microsoft.com/office/drawing/2014/main" id="{3B5420B7-7478-9419-C98D-537D022DCF0E}"/>
              </a:ext>
            </a:extLst>
          </p:cNvPr>
          <p:cNvSpPr>
            <a:spLocks noGrp="1"/>
          </p:cNvSpPr>
          <p:nvPr>
            <p:ph idx="1"/>
          </p:nvPr>
        </p:nvSpPr>
        <p:spPr/>
        <p:txBody>
          <a:bodyPr>
            <a:normAutofit/>
          </a:bodyPr>
          <a:lstStyle/>
          <a:p>
            <a:r>
              <a:rPr lang="en-US" dirty="0"/>
              <a:t>A. High serum glucose leads to nonenzymatic glycosylation of the vascular basement membrane resulting in hyaline arteriolosclerosis.</a:t>
            </a:r>
          </a:p>
          <a:p>
            <a:r>
              <a:rPr lang="en-US" dirty="0"/>
              <a:t>B. Glomerular efferent arteriole is more affected than the afferent arteriole, leading to high glomerular filtration pressure.</a:t>
            </a:r>
          </a:p>
          <a:p>
            <a:r>
              <a:rPr lang="en-US" dirty="0"/>
              <a:t>1. Hyperfiltration injury leads to microalbuminuria.</a:t>
            </a:r>
          </a:p>
          <a:p>
            <a:r>
              <a:rPr lang="en-US" dirty="0"/>
              <a:t>C. Eventually progresses to nephrotic syndrome</a:t>
            </a:r>
          </a:p>
          <a:p>
            <a:r>
              <a:rPr lang="en-US" dirty="0"/>
              <a:t>1. Characterized by sclerosis of the mesangium with formation of </a:t>
            </a:r>
            <a:r>
              <a:rPr lang="en-US" dirty="0" err="1"/>
              <a:t>Kimmelstiel</a:t>
            </a:r>
            <a:r>
              <a:rPr lang="en-US" dirty="0"/>
              <a:t>-Wilson nodules </a:t>
            </a:r>
          </a:p>
          <a:p>
            <a:r>
              <a:rPr lang="en-US" dirty="0"/>
              <a:t>D. ACE inhibitors slow progression of hyperfiltration-induced damage.</a:t>
            </a:r>
          </a:p>
        </p:txBody>
      </p:sp>
    </p:spTree>
    <p:extLst>
      <p:ext uri="{BB962C8B-B14F-4D97-AF65-F5344CB8AC3E}">
        <p14:creationId xmlns:p14="http://schemas.microsoft.com/office/powerpoint/2010/main" val="4258195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BF7C-3554-7133-2A62-E2608331EC56}"/>
              </a:ext>
            </a:extLst>
          </p:cNvPr>
          <p:cNvSpPr>
            <a:spLocks noGrp="1"/>
          </p:cNvSpPr>
          <p:nvPr>
            <p:ph type="title"/>
          </p:nvPr>
        </p:nvSpPr>
        <p:spPr/>
        <p:txBody>
          <a:bodyPr/>
          <a:lstStyle/>
          <a:p>
            <a:r>
              <a:rPr lang="en-US" dirty="0"/>
              <a:t>SYSTEMIC AMYLOIDOSIS</a:t>
            </a:r>
          </a:p>
        </p:txBody>
      </p:sp>
      <p:sp>
        <p:nvSpPr>
          <p:cNvPr id="3" name="Content Placeholder 2">
            <a:extLst>
              <a:ext uri="{FF2B5EF4-FFF2-40B4-BE49-F238E27FC236}">
                <a16:creationId xmlns:a16="http://schemas.microsoft.com/office/drawing/2014/main" id="{29102C59-19A8-1094-767E-16D5EB98C5E2}"/>
              </a:ext>
            </a:extLst>
          </p:cNvPr>
          <p:cNvSpPr>
            <a:spLocks noGrp="1"/>
          </p:cNvSpPr>
          <p:nvPr>
            <p:ph idx="1"/>
          </p:nvPr>
        </p:nvSpPr>
        <p:spPr/>
        <p:txBody>
          <a:bodyPr/>
          <a:lstStyle/>
          <a:p>
            <a:r>
              <a:rPr lang="en-US" dirty="0"/>
              <a:t>A. Kidney is the most commonly involved organ in systemic amyloidosis.</a:t>
            </a:r>
          </a:p>
          <a:p>
            <a:r>
              <a:rPr lang="en-US" dirty="0"/>
              <a:t>B. Amyloid deposits in the mesangium, resulting in nephrotic syndrome.</a:t>
            </a:r>
          </a:p>
          <a:p>
            <a:r>
              <a:rPr lang="en-US" dirty="0"/>
              <a:t>C. Characterized by apple-green birefringence under polarized light after staining with Congo red</a:t>
            </a:r>
          </a:p>
        </p:txBody>
      </p:sp>
    </p:spTree>
    <p:extLst>
      <p:ext uri="{BB962C8B-B14F-4D97-AF65-F5344CB8AC3E}">
        <p14:creationId xmlns:p14="http://schemas.microsoft.com/office/powerpoint/2010/main" val="1482118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53700-3E67-07B4-E53C-26F22B725BA6}"/>
              </a:ext>
            </a:extLst>
          </p:cNvPr>
          <p:cNvSpPr>
            <a:spLocks noGrp="1"/>
          </p:cNvSpPr>
          <p:nvPr>
            <p:ph type="title"/>
          </p:nvPr>
        </p:nvSpPr>
        <p:spPr/>
        <p:txBody>
          <a:bodyPr/>
          <a:lstStyle/>
          <a:p>
            <a:r>
              <a:rPr lang="en-US" dirty="0"/>
              <a:t>NEPHRITIC SYNDROME</a:t>
            </a:r>
          </a:p>
        </p:txBody>
      </p:sp>
      <p:sp>
        <p:nvSpPr>
          <p:cNvPr id="3" name="Content Placeholder 2">
            <a:extLst>
              <a:ext uri="{FF2B5EF4-FFF2-40B4-BE49-F238E27FC236}">
                <a16:creationId xmlns:a16="http://schemas.microsoft.com/office/drawing/2014/main" id="{4C9AE5B0-2C35-C674-B1D0-25B81CAEA73A}"/>
              </a:ext>
            </a:extLst>
          </p:cNvPr>
          <p:cNvSpPr>
            <a:spLocks noGrp="1"/>
          </p:cNvSpPr>
          <p:nvPr>
            <p:ph idx="1"/>
          </p:nvPr>
        </p:nvSpPr>
        <p:spPr/>
        <p:txBody>
          <a:bodyPr>
            <a:normAutofit/>
          </a:bodyPr>
          <a:lstStyle/>
          <a:p>
            <a:r>
              <a:rPr lang="en-US" dirty="0"/>
              <a:t>A. Glomerular disorders characterized by glomerular inflammation and bleeding</a:t>
            </a:r>
          </a:p>
          <a:p>
            <a:r>
              <a:rPr lang="en-US" dirty="0"/>
              <a:t>1. Limited proteinuria (&lt; 3.5 g/day)</a:t>
            </a:r>
          </a:p>
          <a:p>
            <a:r>
              <a:rPr lang="en-US" dirty="0"/>
              <a:t>2. Oliguria and azotemia</a:t>
            </a:r>
          </a:p>
          <a:p>
            <a:r>
              <a:rPr lang="en-US" dirty="0"/>
              <a:t>3. Salt retention with periorbital edema and hypertension</a:t>
            </a:r>
          </a:p>
          <a:p>
            <a:r>
              <a:rPr lang="en-US" dirty="0"/>
              <a:t>4. RBC casts and dysmorphic RBCs in urine</a:t>
            </a:r>
          </a:p>
          <a:p>
            <a:r>
              <a:rPr lang="en-US" dirty="0"/>
              <a:t>B. Biopsy reveals hypercellular, inflamed glomeruli.</a:t>
            </a:r>
          </a:p>
          <a:p>
            <a:r>
              <a:rPr lang="en-US" dirty="0"/>
              <a:t>1. Immune-complex deposition activates complement; C5a attracts neutrophils which mediate damage.</a:t>
            </a:r>
          </a:p>
        </p:txBody>
      </p:sp>
    </p:spTree>
    <p:extLst>
      <p:ext uri="{BB962C8B-B14F-4D97-AF65-F5344CB8AC3E}">
        <p14:creationId xmlns:p14="http://schemas.microsoft.com/office/powerpoint/2010/main" val="2225551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75C82-ACB5-26C1-BCB1-1ADC2325C6AA}"/>
              </a:ext>
            </a:extLst>
          </p:cNvPr>
          <p:cNvSpPr>
            <a:spLocks noGrp="1"/>
          </p:cNvSpPr>
          <p:nvPr>
            <p:ph type="title"/>
          </p:nvPr>
        </p:nvSpPr>
        <p:spPr/>
        <p:txBody>
          <a:bodyPr/>
          <a:lstStyle/>
          <a:p>
            <a:r>
              <a:rPr lang="en-US" dirty="0"/>
              <a:t>POSTSTREPTOCOCCAL GLOMERULONEPHRITIS (PSGN)</a:t>
            </a:r>
          </a:p>
        </p:txBody>
      </p:sp>
      <p:sp>
        <p:nvSpPr>
          <p:cNvPr id="3" name="Content Placeholder 2">
            <a:extLst>
              <a:ext uri="{FF2B5EF4-FFF2-40B4-BE49-F238E27FC236}">
                <a16:creationId xmlns:a16="http://schemas.microsoft.com/office/drawing/2014/main" id="{0ED3A4DE-5CD8-E1DB-1225-A3C3D9AF4000}"/>
              </a:ext>
            </a:extLst>
          </p:cNvPr>
          <p:cNvSpPr>
            <a:spLocks noGrp="1"/>
          </p:cNvSpPr>
          <p:nvPr>
            <p:ph idx="1"/>
          </p:nvPr>
        </p:nvSpPr>
        <p:spPr/>
        <p:txBody>
          <a:bodyPr/>
          <a:lstStyle/>
          <a:p>
            <a:r>
              <a:rPr lang="en-US" dirty="0"/>
              <a:t>A. Nephritic syndrome that arises after group A </a:t>
            </a:r>
            <a:r>
              <a:rPr lang="el-GR" dirty="0"/>
              <a:t>β- </a:t>
            </a:r>
            <a:r>
              <a:rPr lang="en-US" dirty="0"/>
              <a:t>hemolytic streptococcal infection of the skin (impetigo) or pharynx</a:t>
            </a:r>
          </a:p>
          <a:p>
            <a:r>
              <a:rPr lang="en-US" dirty="0"/>
              <a:t>1. Occurs with nephritogenic strains</a:t>
            </a:r>
          </a:p>
          <a:p>
            <a:r>
              <a:rPr lang="en-US" dirty="0"/>
              <a:t>2. May occur after infection with </a:t>
            </a:r>
            <a:r>
              <a:rPr lang="en-US" dirty="0" err="1"/>
              <a:t>nonstreptococcal</a:t>
            </a:r>
            <a:r>
              <a:rPr lang="en-US" dirty="0"/>
              <a:t> organisms as well</a:t>
            </a:r>
          </a:p>
          <a:p>
            <a:r>
              <a:rPr lang="en-US" dirty="0"/>
              <a:t>B. Presents 2-3 weeks after infection as hematuria (cola-colored urine), </a:t>
            </a:r>
            <a:r>
              <a:rPr lang="en-US" dirty="0" err="1"/>
              <a:t>oliguria,hypertension</a:t>
            </a:r>
            <a:r>
              <a:rPr lang="en-US" dirty="0"/>
              <a:t>, and periorbital edema</a:t>
            </a:r>
          </a:p>
          <a:p>
            <a:r>
              <a:rPr lang="en-US" dirty="0"/>
              <a:t>1. Usually seen in children, but may occur in adults</a:t>
            </a:r>
          </a:p>
        </p:txBody>
      </p:sp>
    </p:spTree>
    <p:extLst>
      <p:ext uri="{BB962C8B-B14F-4D97-AF65-F5344CB8AC3E}">
        <p14:creationId xmlns:p14="http://schemas.microsoft.com/office/powerpoint/2010/main" val="4187313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E3F2-3E8D-2B4D-4570-D45EF8AA36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B2798C-6DFD-D168-FA6B-61A12838A000}"/>
              </a:ext>
            </a:extLst>
          </p:cNvPr>
          <p:cNvSpPr>
            <a:spLocks noGrp="1"/>
          </p:cNvSpPr>
          <p:nvPr>
            <p:ph idx="1"/>
          </p:nvPr>
        </p:nvSpPr>
        <p:spPr/>
        <p:txBody>
          <a:bodyPr/>
          <a:lstStyle/>
          <a:p>
            <a:r>
              <a:rPr lang="en-US" dirty="0"/>
              <a:t>D. Mediated by immune complex deposition (granular IF); subepithelial 'humps' on EM</a:t>
            </a:r>
          </a:p>
          <a:p>
            <a:r>
              <a:rPr lang="en-US" dirty="0"/>
              <a:t>E. Treatment is supportive.</a:t>
            </a:r>
          </a:p>
          <a:p>
            <a:r>
              <a:rPr lang="en-US" dirty="0"/>
              <a:t>1. Children rarely (1%) progress to renal failure.</a:t>
            </a:r>
          </a:p>
          <a:p>
            <a:r>
              <a:rPr lang="en-US" dirty="0"/>
              <a:t>2. Some adults (25%) develop rapidly progressive glomerulonephritis (RPGN).</a:t>
            </a:r>
          </a:p>
        </p:txBody>
      </p:sp>
    </p:spTree>
    <p:extLst>
      <p:ext uri="{BB962C8B-B14F-4D97-AF65-F5344CB8AC3E}">
        <p14:creationId xmlns:p14="http://schemas.microsoft.com/office/powerpoint/2010/main" val="3829808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71F5F-A2C6-B791-AD16-B4BBA1ACB402}"/>
              </a:ext>
            </a:extLst>
          </p:cNvPr>
          <p:cNvSpPr>
            <a:spLocks noGrp="1"/>
          </p:cNvSpPr>
          <p:nvPr>
            <p:ph type="title"/>
          </p:nvPr>
        </p:nvSpPr>
        <p:spPr/>
        <p:txBody>
          <a:bodyPr/>
          <a:lstStyle/>
          <a:p>
            <a:r>
              <a:rPr lang="en-US" dirty="0"/>
              <a:t>RAPIDLY PROGRESSIVE GLOMERULONEPHRITIS</a:t>
            </a:r>
          </a:p>
        </p:txBody>
      </p:sp>
      <p:sp>
        <p:nvSpPr>
          <p:cNvPr id="3" name="Content Placeholder 2">
            <a:extLst>
              <a:ext uri="{FF2B5EF4-FFF2-40B4-BE49-F238E27FC236}">
                <a16:creationId xmlns:a16="http://schemas.microsoft.com/office/drawing/2014/main" id="{B64201FA-B531-AC0A-0016-85CA286E7ACF}"/>
              </a:ext>
            </a:extLst>
          </p:cNvPr>
          <p:cNvSpPr>
            <a:spLocks noGrp="1"/>
          </p:cNvSpPr>
          <p:nvPr>
            <p:ph sz="half" idx="1"/>
          </p:nvPr>
        </p:nvSpPr>
        <p:spPr/>
        <p:txBody>
          <a:bodyPr/>
          <a:lstStyle/>
          <a:p>
            <a:r>
              <a:rPr lang="en-US" dirty="0"/>
              <a:t>A. Nephritic syndrome that progresses to renal failure in weeks to months.</a:t>
            </a:r>
          </a:p>
          <a:p>
            <a:r>
              <a:rPr lang="en-US" dirty="0"/>
              <a:t>B. Characterized by crescents in Bowman space (of glomeruli) on H&amp;E stain; crescents are comprised of fibrin and macrophages.  </a:t>
            </a:r>
          </a:p>
          <a:p>
            <a:r>
              <a:rPr lang="en-US" dirty="0"/>
              <a:t>C. Clinical picture and IF help resolve etiology.</a:t>
            </a:r>
          </a:p>
        </p:txBody>
      </p:sp>
      <p:pic>
        <p:nvPicPr>
          <p:cNvPr id="6" name="Content Placeholder 5">
            <a:extLst>
              <a:ext uri="{FF2B5EF4-FFF2-40B4-BE49-F238E27FC236}">
                <a16:creationId xmlns:a16="http://schemas.microsoft.com/office/drawing/2014/main" id="{E80CD77C-3E5D-984C-0FA8-E768F55A6D1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14945" y="2496134"/>
            <a:ext cx="3296110" cy="3010320"/>
          </a:xfrm>
        </p:spPr>
      </p:pic>
    </p:spTree>
    <p:extLst>
      <p:ext uri="{BB962C8B-B14F-4D97-AF65-F5344CB8AC3E}">
        <p14:creationId xmlns:p14="http://schemas.microsoft.com/office/powerpoint/2010/main" val="2451403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C4A1-F71A-0AAA-755C-BCA7A2FF6AD9}"/>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D687D5AD-0075-A18E-BA58-23A4078BCC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0443" y="1825625"/>
            <a:ext cx="9571114" cy="4351338"/>
          </a:xfrm>
        </p:spPr>
      </p:pic>
    </p:spTree>
    <p:extLst>
      <p:ext uri="{BB962C8B-B14F-4D97-AF65-F5344CB8AC3E}">
        <p14:creationId xmlns:p14="http://schemas.microsoft.com/office/powerpoint/2010/main" val="1556781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682F-999D-8AC9-5161-6AD36395485C}"/>
              </a:ext>
            </a:extLst>
          </p:cNvPr>
          <p:cNvSpPr>
            <a:spLocks noGrp="1"/>
          </p:cNvSpPr>
          <p:nvPr>
            <p:ph type="title"/>
          </p:nvPr>
        </p:nvSpPr>
        <p:spPr/>
        <p:txBody>
          <a:bodyPr/>
          <a:lstStyle/>
          <a:p>
            <a:r>
              <a:rPr lang="en-US" dirty="0"/>
              <a:t>IgA NEPHROPATHY (BERGER DISEASE)</a:t>
            </a:r>
          </a:p>
        </p:txBody>
      </p:sp>
      <p:sp>
        <p:nvSpPr>
          <p:cNvPr id="3" name="Content Placeholder 2">
            <a:extLst>
              <a:ext uri="{FF2B5EF4-FFF2-40B4-BE49-F238E27FC236}">
                <a16:creationId xmlns:a16="http://schemas.microsoft.com/office/drawing/2014/main" id="{9309381D-3668-1301-B32B-022E6EDCDE37}"/>
              </a:ext>
            </a:extLst>
          </p:cNvPr>
          <p:cNvSpPr>
            <a:spLocks noGrp="1"/>
          </p:cNvSpPr>
          <p:nvPr>
            <p:ph idx="1"/>
          </p:nvPr>
        </p:nvSpPr>
        <p:spPr/>
        <p:txBody>
          <a:bodyPr>
            <a:normAutofit/>
          </a:bodyPr>
          <a:lstStyle/>
          <a:p>
            <a:r>
              <a:rPr lang="en-US" dirty="0"/>
              <a:t>A. IgA immune complex deposition in mesangium of glomeruli; most common nephropathy worldwide</a:t>
            </a:r>
          </a:p>
          <a:p>
            <a:r>
              <a:rPr lang="en-US" dirty="0"/>
              <a:t>B. Presents during childhood as episodic gross or microscopic hematuria with RBC casts, usually following mucosal infections (e.g., gastroenteritis)</a:t>
            </a:r>
          </a:p>
          <a:p>
            <a:r>
              <a:rPr lang="en-US" dirty="0"/>
              <a:t>1. IgA production is increased during infection.</a:t>
            </a:r>
          </a:p>
          <a:p>
            <a:r>
              <a:rPr lang="en-US" dirty="0"/>
              <a:t>C. IgA immune complex deposition in the mesangium is seen on IF </a:t>
            </a:r>
          </a:p>
          <a:p>
            <a:r>
              <a:rPr lang="en-US" dirty="0"/>
              <a:t>D. May slowly progress to renal failure</a:t>
            </a:r>
          </a:p>
        </p:txBody>
      </p:sp>
    </p:spTree>
    <p:extLst>
      <p:ext uri="{BB962C8B-B14F-4D97-AF65-F5344CB8AC3E}">
        <p14:creationId xmlns:p14="http://schemas.microsoft.com/office/powerpoint/2010/main" val="1981560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75500-A98A-BCAD-D51C-9DFADA99CE1D}"/>
              </a:ext>
            </a:extLst>
          </p:cNvPr>
          <p:cNvSpPr>
            <a:spLocks noGrp="1"/>
          </p:cNvSpPr>
          <p:nvPr>
            <p:ph type="title"/>
          </p:nvPr>
        </p:nvSpPr>
        <p:spPr/>
        <p:txBody>
          <a:bodyPr/>
          <a:lstStyle/>
          <a:p>
            <a:r>
              <a:rPr lang="en-US" dirty="0"/>
              <a:t>ALPORT SYNDROME</a:t>
            </a:r>
          </a:p>
        </p:txBody>
      </p:sp>
      <p:sp>
        <p:nvSpPr>
          <p:cNvPr id="3" name="Content Placeholder 2">
            <a:extLst>
              <a:ext uri="{FF2B5EF4-FFF2-40B4-BE49-F238E27FC236}">
                <a16:creationId xmlns:a16="http://schemas.microsoft.com/office/drawing/2014/main" id="{E1AEA19E-1510-3BD1-4324-776DEAE00C34}"/>
              </a:ext>
            </a:extLst>
          </p:cNvPr>
          <p:cNvSpPr>
            <a:spLocks noGrp="1"/>
          </p:cNvSpPr>
          <p:nvPr>
            <p:ph idx="1"/>
          </p:nvPr>
        </p:nvSpPr>
        <p:spPr/>
        <p:txBody>
          <a:bodyPr/>
          <a:lstStyle/>
          <a:p>
            <a:r>
              <a:rPr lang="en-US" dirty="0"/>
              <a:t>A. Inherited defect in type IV collagen; most commonly X-linked</a:t>
            </a:r>
          </a:p>
          <a:p>
            <a:r>
              <a:rPr lang="en-US" dirty="0"/>
              <a:t>B. Results in thinning and splitting of the glomerular basement membrane</a:t>
            </a:r>
          </a:p>
          <a:p>
            <a:r>
              <a:rPr lang="en-US" dirty="0"/>
              <a:t>C. Presents as isolated hematuria, sensory hearing loss, and ocular disturbances</a:t>
            </a:r>
          </a:p>
        </p:txBody>
      </p:sp>
    </p:spTree>
    <p:extLst>
      <p:ext uri="{BB962C8B-B14F-4D97-AF65-F5344CB8AC3E}">
        <p14:creationId xmlns:p14="http://schemas.microsoft.com/office/powerpoint/2010/main" val="7198162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82504-4FAF-66B5-693A-0D206EE8B185}"/>
              </a:ext>
            </a:extLst>
          </p:cNvPr>
          <p:cNvSpPr>
            <a:spLocks noGrp="1"/>
          </p:cNvSpPr>
          <p:nvPr>
            <p:ph type="title"/>
          </p:nvPr>
        </p:nvSpPr>
        <p:spPr/>
        <p:txBody>
          <a:bodyPr/>
          <a:lstStyle/>
          <a:p>
            <a:r>
              <a:rPr lang="en-US" dirty="0"/>
              <a:t>URINARY TRACT INFECTION</a:t>
            </a:r>
          </a:p>
        </p:txBody>
      </p:sp>
      <p:sp>
        <p:nvSpPr>
          <p:cNvPr id="3" name="Content Placeholder 2">
            <a:extLst>
              <a:ext uri="{FF2B5EF4-FFF2-40B4-BE49-F238E27FC236}">
                <a16:creationId xmlns:a16="http://schemas.microsoft.com/office/drawing/2014/main" id="{4C0EDFBB-566A-3115-77C1-1FBC223F9633}"/>
              </a:ext>
            </a:extLst>
          </p:cNvPr>
          <p:cNvSpPr>
            <a:spLocks noGrp="1"/>
          </p:cNvSpPr>
          <p:nvPr>
            <p:ph idx="1"/>
          </p:nvPr>
        </p:nvSpPr>
        <p:spPr/>
        <p:txBody>
          <a:bodyPr/>
          <a:lstStyle/>
          <a:p>
            <a:r>
              <a:rPr lang="en-US" dirty="0"/>
              <a:t>A. Infection of urethra, bladder, or kidney</a:t>
            </a:r>
          </a:p>
          <a:p>
            <a:r>
              <a:rPr lang="en-US" dirty="0"/>
              <a:t>B. Most commonly arises due to ascending infection; increased incidence in females</a:t>
            </a:r>
          </a:p>
          <a:p>
            <a:r>
              <a:rPr lang="en-US" dirty="0"/>
              <a:t>C. Risk factors include sexual intercourse, urinary stasis, and catheters.</a:t>
            </a:r>
          </a:p>
        </p:txBody>
      </p:sp>
    </p:spTree>
    <p:extLst>
      <p:ext uri="{BB962C8B-B14F-4D97-AF65-F5344CB8AC3E}">
        <p14:creationId xmlns:p14="http://schemas.microsoft.com/office/powerpoint/2010/main" val="3044652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1CCE-65A2-D00C-7EE3-34B1A60071AC}"/>
              </a:ext>
            </a:extLst>
          </p:cNvPr>
          <p:cNvSpPr>
            <a:spLocks noGrp="1"/>
          </p:cNvSpPr>
          <p:nvPr>
            <p:ph type="title"/>
          </p:nvPr>
        </p:nvSpPr>
        <p:spPr/>
        <p:txBody>
          <a:bodyPr/>
          <a:lstStyle/>
          <a:p>
            <a:r>
              <a:rPr lang="en-US" dirty="0"/>
              <a:t>CYSTITIS</a:t>
            </a:r>
          </a:p>
        </p:txBody>
      </p:sp>
      <p:sp>
        <p:nvSpPr>
          <p:cNvPr id="3" name="Content Placeholder 2">
            <a:extLst>
              <a:ext uri="{FF2B5EF4-FFF2-40B4-BE49-F238E27FC236}">
                <a16:creationId xmlns:a16="http://schemas.microsoft.com/office/drawing/2014/main" id="{C74E6087-397D-C84F-FFC0-1D3A6167C279}"/>
              </a:ext>
            </a:extLst>
          </p:cNvPr>
          <p:cNvSpPr>
            <a:spLocks noGrp="1"/>
          </p:cNvSpPr>
          <p:nvPr>
            <p:ph idx="1"/>
          </p:nvPr>
        </p:nvSpPr>
        <p:spPr/>
        <p:txBody>
          <a:bodyPr>
            <a:normAutofit/>
          </a:bodyPr>
          <a:lstStyle/>
          <a:p>
            <a:r>
              <a:rPr lang="en-US" dirty="0"/>
              <a:t>A. Infection of the bladder</a:t>
            </a:r>
          </a:p>
          <a:p>
            <a:r>
              <a:rPr lang="en-US" dirty="0"/>
              <a:t>B. Presents as dysuria, urinary frequency, urgency, and suprapubic pain; systemic signs (e.g., fever) are usually absent.</a:t>
            </a:r>
          </a:p>
          <a:p>
            <a:r>
              <a:rPr lang="en-US" dirty="0"/>
              <a:t>C. Laboratory findings</a:t>
            </a:r>
          </a:p>
          <a:p>
            <a:r>
              <a:rPr lang="en-US" dirty="0"/>
              <a:t>1. Urinalysis - cloudy urine with &gt; 10 WBCs/high power field (</a:t>
            </a:r>
            <a:r>
              <a:rPr lang="en-US" dirty="0" err="1"/>
              <a:t>hpf</a:t>
            </a:r>
            <a:r>
              <a:rPr lang="en-US" dirty="0"/>
              <a:t>)</a:t>
            </a:r>
          </a:p>
          <a:p>
            <a:r>
              <a:rPr lang="en-US" dirty="0"/>
              <a:t>2. Dipstick - Positive leukocyte esterase (due to pyuria) and nitrites (bacteria convert nitrates to nitrites)</a:t>
            </a:r>
          </a:p>
          <a:p>
            <a:r>
              <a:rPr lang="en-US" dirty="0"/>
              <a:t>3. Culture - greater than 100,000 colony forming units (gold standard)</a:t>
            </a:r>
          </a:p>
        </p:txBody>
      </p:sp>
    </p:spTree>
    <p:extLst>
      <p:ext uri="{BB962C8B-B14F-4D97-AF65-F5344CB8AC3E}">
        <p14:creationId xmlns:p14="http://schemas.microsoft.com/office/powerpoint/2010/main" val="2268641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E9EED-8B1E-3200-28A5-0A01C682F1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DFC7FB-1880-F1EF-2041-F6489018A1EB}"/>
              </a:ext>
            </a:extLst>
          </p:cNvPr>
          <p:cNvSpPr>
            <a:spLocks noGrp="1"/>
          </p:cNvSpPr>
          <p:nvPr>
            <p:ph idx="1"/>
          </p:nvPr>
        </p:nvSpPr>
        <p:spPr/>
        <p:txBody>
          <a:bodyPr>
            <a:normAutofit fontScale="92500" lnSpcReduction="20000"/>
          </a:bodyPr>
          <a:lstStyle/>
          <a:p>
            <a:r>
              <a:rPr lang="en-US" dirty="0"/>
              <a:t>D. Etiology</a:t>
            </a:r>
          </a:p>
          <a:p>
            <a:r>
              <a:rPr lang="en-US" dirty="0"/>
              <a:t>1. E coli (80%)</a:t>
            </a:r>
          </a:p>
          <a:p>
            <a:r>
              <a:rPr lang="en-US" dirty="0"/>
              <a:t>2. Staphylococcus saprophyticus - increased incidence in young, sexually active women (but E coli is still more common in this population)</a:t>
            </a:r>
          </a:p>
          <a:p>
            <a:r>
              <a:rPr lang="en-US" dirty="0"/>
              <a:t>3. Klebsiella pneumoniae</a:t>
            </a:r>
          </a:p>
          <a:p>
            <a:r>
              <a:rPr lang="en-US" dirty="0"/>
              <a:t>4. Proteus mirabilis - alkaline urine with ammonia scent</a:t>
            </a:r>
          </a:p>
          <a:p>
            <a:r>
              <a:rPr lang="en-US" dirty="0"/>
              <a:t>5. Enterococcus faecalis</a:t>
            </a:r>
          </a:p>
          <a:p>
            <a:r>
              <a:rPr lang="en-US" dirty="0"/>
              <a:t>E. Sterile pyuria is the presence of pyuria (&gt; 10 WBCs/</a:t>
            </a:r>
            <a:r>
              <a:rPr lang="en-US" dirty="0" err="1"/>
              <a:t>hpf</a:t>
            </a:r>
            <a:r>
              <a:rPr lang="en-US" dirty="0"/>
              <a:t> and leukocyte esterase) with a negative urine culture.</a:t>
            </a:r>
          </a:p>
          <a:p>
            <a:r>
              <a:rPr lang="en-US" dirty="0"/>
              <a:t>1. Suggests urethritis due to Chlamydia trachomatis or Neisseria gonorrhoeae (dominant presenting sign of urethritis is dysuria)</a:t>
            </a:r>
          </a:p>
        </p:txBody>
      </p:sp>
    </p:spTree>
    <p:extLst>
      <p:ext uri="{BB962C8B-B14F-4D97-AF65-F5344CB8AC3E}">
        <p14:creationId xmlns:p14="http://schemas.microsoft.com/office/powerpoint/2010/main" val="39439345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2EC-9F3B-E545-60F1-63C9EA18983B}"/>
              </a:ext>
            </a:extLst>
          </p:cNvPr>
          <p:cNvSpPr>
            <a:spLocks noGrp="1"/>
          </p:cNvSpPr>
          <p:nvPr>
            <p:ph type="title"/>
          </p:nvPr>
        </p:nvSpPr>
        <p:spPr/>
        <p:txBody>
          <a:bodyPr/>
          <a:lstStyle/>
          <a:p>
            <a:r>
              <a:rPr lang="en-US" dirty="0"/>
              <a:t>PYELONEPHRITIS</a:t>
            </a:r>
          </a:p>
        </p:txBody>
      </p:sp>
      <p:sp>
        <p:nvSpPr>
          <p:cNvPr id="3" name="Content Placeholder 2">
            <a:extLst>
              <a:ext uri="{FF2B5EF4-FFF2-40B4-BE49-F238E27FC236}">
                <a16:creationId xmlns:a16="http://schemas.microsoft.com/office/drawing/2014/main" id="{795EAC23-634A-7EDC-F624-7DC63F994CFE}"/>
              </a:ext>
            </a:extLst>
          </p:cNvPr>
          <p:cNvSpPr>
            <a:spLocks noGrp="1"/>
          </p:cNvSpPr>
          <p:nvPr>
            <p:ph idx="1"/>
          </p:nvPr>
        </p:nvSpPr>
        <p:spPr/>
        <p:txBody>
          <a:bodyPr>
            <a:normAutofit/>
          </a:bodyPr>
          <a:lstStyle/>
          <a:p>
            <a:r>
              <a:rPr lang="en-US" dirty="0"/>
              <a:t>A. Infection of the kidney</a:t>
            </a:r>
          </a:p>
          <a:p>
            <a:r>
              <a:rPr lang="en-US" dirty="0"/>
              <a:t>1. Usually due to ascending infection; increased risk with vesicoureteral reflux</a:t>
            </a:r>
          </a:p>
          <a:p>
            <a:r>
              <a:rPr lang="en-US" dirty="0"/>
              <a:t>B. Presents with fever, flank pain, WBC casts, and leukocytosis in addition to symptoms of cystitis</a:t>
            </a:r>
          </a:p>
          <a:p>
            <a:r>
              <a:rPr lang="en-US" dirty="0"/>
              <a:t>C. Most common pathogens are</a:t>
            </a:r>
          </a:p>
          <a:p>
            <a:r>
              <a:rPr lang="en-US" dirty="0"/>
              <a:t>1. E coli (90%)</a:t>
            </a:r>
          </a:p>
          <a:p>
            <a:r>
              <a:rPr lang="en-US" dirty="0"/>
              <a:t>2. Enterococcus faecalis</a:t>
            </a:r>
          </a:p>
          <a:p>
            <a:r>
              <a:rPr lang="en-US" dirty="0"/>
              <a:t>3. Klebsiella species</a:t>
            </a:r>
          </a:p>
        </p:txBody>
      </p:sp>
    </p:spTree>
    <p:extLst>
      <p:ext uri="{BB962C8B-B14F-4D97-AF65-F5344CB8AC3E}">
        <p14:creationId xmlns:p14="http://schemas.microsoft.com/office/powerpoint/2010/main" val="2671850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3720-C051-53BD-7091-1A86F045D661}"/>
              </a:ext>
            </a:extLst>
          </p:cNvPr>
          <p:cNvSpPr>
            <a:spLocks noGrp="1"/>
          </p:cNvSpPr>
          <p:nvPr>
            <p:ph type="title"/>
          </p:nvPr>
        </p:nvSpPr>
        <p:spPr/>
        <p:txBody>
          <a:bodyPr/>
          <a:lstStyle/>
          <a:p>
            <a:r>
              <a:rPr lang="en-US" dirty="0"/>
              <a:t>CHRONIC PYELONEPHRITIS</a:t>
            </a:r>
          </a:p>
        </p:txBody>
      </p:sp>
      <p:sp>
        <p:nvSpPr>
          <p:cNvPr id="3" name="Content Placeholder 2">
            <a:extLst>
              <a:ext uri="{FF2B5EF4-FFF2-40B4-BE49-F238E27FC236}">
                <a16:creationId xmlns:a16="http://schemas.microsoft.com/office/drawing/2014/main" id="{682BBD77-36FF-A21A-5007-C4C8744F2DAF}"/>
              </a:ext>
            </a:extLst>
          </p:cNvPr>
          <p:cNvSpPr>
            <a:spLocks noGrp="1"/>
          </p:cNvSpPr>
          <p:nvPr>
            <p:ph sz="half" idx="1"/>
          </p:nvPr>
        </p:nvSpPr>
        <p:spPr/>
        <p:txBody>
          <a:bodyPr>
            <a:normAutofit fontScale="85000" lnSpcReduction="20000"/>
          </a:bodyPr>
          <a:lstStyle/>
          <a:p>
            <a:r>
              <a:rPr lang="en-US" dirty="0"/>
              <a:t>A. Interstitial fibrosis and atrophy of tubules due to multiple bouts of acute pyelonephritis.</a:t>
            </a:r>
          </a:p>
          <a:p>
            <a:r>
              <a:rPr lang="en-US" dirty="0"/>
              <a:t>B. Due to vesicoureteral reflux (children) or obstruction (e.g., BPH or cervical carcinoma)</a:t>
            </a:r>
          </a:p>
          <a:p>
            <a:r>
              <a:rPr lang="en-US" dirty="0"/>
              <a:t>C. Leads to cortical scarring with blunted calyces; scarring at upper and lower poles is characteristic of vesicoureteral reflux.</a:t>
            </a:r>
          </a:p>
          <a:p>
            <a:r>
              <a:rPr lang="en-US" dirty="0"/>
              <a:t>D. Atrophic tubules containing eosinophilic proteinaceous material resemble thyroid follicles ('</a:t>
            </a:r>
            <a:r>
              <a:rPr lang="en-US" dirty="0" err="1"/>
              <a:t>thyroidization</a:t>
            </a:r>
            <a:r>
              <a:rPr lang="en-US" dirty="0"/>
              <a:t>' of the kidney); waxy casts may be seen in urine.</a:t>
            </a:r>
          </a:p>
        </p:txBody>
      </p:sp>
      <p:pic>
        <p:nvPicPr>
          <p:cNvPr id="6" name="Content Placeholder 5">
            <a:extLst>
              <a:ext uri="{FF2B5EF4-FFF2-40B4-BE49-F238E27FC236}">
                <a16:creationId xmlns:a16="http://schemas.microsoft.com/office/drawing/2014/main" id="{8CB7D670-8E80-8C5D-53D9-7822A77FE74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19708" y="2481844"/>
            <a:ext cx="3286584" cy="3038899"/>
          </a:xfrm>
        </p:spPr>
      </p:pic>
    </p:spTree>
    <p:extLst>
      <p:ext uri="{BB962C8B-B14F-4D97-AF65-F5344CB8AC3E}">
        <p14:creationId xmlns:p14="http://schemas.microsoft.com/office/powerpoint/2010/main" val="424575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58D69-1D34-EE0F-3761-6614D0978B69}"/>
              </a:ext>
            </a:extLst>
          </p:cNvPr>
          <p:cNvSpPr>
            <a:spLocks noGrp="1"/>
          </p:cNvSpPr>
          <p:nvPr>
            <p:ph type="title"/>
          </p:nvPr>
        </p:nvSpPr>
        <p:spPr/>
        <p:txBody>
          <a:bodyPr/>
          <a:lstStyle/>
          <a:p>
            <a:r>
              <a:rPr lang="en-US" dirty="0"/>
              <a:t>NEPHROLITHIASIS</a:t>
            </a:r>
          </a:p>
        </p:txBody>
      </p:sp>
      <p:sp>
        <p:nvSpPr>
          <p:cNvPr id="3" name="Content Placeholder 2">
            <a:extLst>
              <a:ext uri="{FF2B5EF4-FFF2-40B4-BE49-F238E27FC236}">
                <a16:creationId xmlns:a16="http://schemas.microsoft.com/office/drawing/2014/main" id="{9F42A2D1-4A56-6DE5-F1A6-07EA80B97C00}"/>
              </a:ext>
            </a:extLst>
          </p:cNvPr>
          <p:cNvSpPr>
            <a:spLocks noGrp="1"/>
          </p:cNvSpPr>
          <p:nvPr>
            <p:ph sz="half" idx="1"/>
          </p:nvPr>
        </p:nvSpPr>
        <p:spPr/>
        <p:txBody>
          <a:bodyPr>
            <a:normAutofit fontScale="92500" lnSpcReduction="10000"/>
          </a:bodyPr>
          <a:lstStyle/>
          <a:p>
            <a:r>
              <a:rPr lang="en-US" dirty="0"/>
              <a:t>A. Precipitation of a urinary solute as a stone </a:t>
            </a:r>
          </a:p>
          <a:p>
            <a:r>
              <a:rPr lang="en-US" dirty="0"/>
              <a:t>B. Risk factors include high concentration of solute in the urinary filtrate and low urine volume.</a:t>
            </a:r>
          </a:p>
          <a:p>
            <a:r>
              <a:rPr lang="en-US" dirty="0"/>
              <a:t>C. Presents as colicky pain with hematuria and unilateral flank tenderness</a:t>
            </a:r>
          </a:p>
          <a:p>
            <a:r>
              <a:rPr lang="en-US" dirty="0"/>
              <a:t>1. Stone is usually passed within hours; if not, surgical intervention may be required.</a:t>
            </a:r>
          </a:p>
        </p:txBody>
      </p:sp>
      <p:pic>
        <p:nvPicPr>
          <p:cNvPr id="6" name="Content Placeholder 5">
            <a:extLst>
              <a:ext uri="{FF2B5EF4-FFF2-40B4-BE49-F238E27FC236}">
                <a16:creationId xmlns:a16="http://schemas.microsoft.com/office/drawing/2014/main" id="{5106BF68-9DC8-FC10-ABFC-A825F1C9BD7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72076" y="1583140"/>
            <a:ext cx="3941667" cy="3937603"/>
          </a:xfrm>
        </p:spPr>
      </p:pic>
    </p:spTree>
    <p:extLst>
      <p:ext uri="{BB962C8B-B14F-4D97-AF65-F5344CB8AC3E}">
        <p14:creationId xmlns:p14="http://schemas.microsoft.com/office/powerpoint/2010/main" val="11980774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AA1A9-3B6D-0C3A-C965-85322E90CE9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ECC2658-94C3-8B42-2E19-3342C2E161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7481" y="1825625"/>
            <a:ext cx="9062113" cy="4351338"/>
          </a:xfrm>
        </p:spPr>
      </p:pic>
    </p:spTree>
    <p:extLst>
      <p:ext uri="{BB962C8B-B14F-4D97-AF65-F5344CB8AC3E}">
        <p14:creationId xmlns:p14="http://schemas.microsoft.com/office/powerpoint/2010/main" val="2319021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21D2-011D-8C16-918C-CE152E6FD937}"/>
              </a:ext>
            </a:extLst>
          </p:cNvPr>
          <p:cNvSpPr>
            <a:spLocks noGrp="1"/>
          </p:cNvSpPr>
          <p:nvPr>
            <p:ph type="title"/>
          </p:nvPr>
        </p:nvSpPr>
        <p:spPr/>
        <p:txBody>
          <a:bodyPr/>
          <a:lstStyle/>
          <a:p>
            <a:r>
              <a:rPr lang="en-US" dirty="0"/>
              <a:t>CHRONIC RENAL FAILURE</a:t>
            </a:r>
          </a:p>
        </p:txBody>
      </p:sp>
      <p:sp>
        <p:nvSpPr>
          <p:cNvPr id="3" name="Content Placeholder 2">
            <a:extLst>
              <a:ext uri="{FF2B5EF4-FFF2-40B4-BE49-F238E27FC236}">
                <a16:creationId xmlns:a16="http://schemas.microsoft.com/office/drawing/2014/main" id="{7AB544FA-4F4E-0F82-2A3C-A0662E5BB85F}"/>
              </a:ext>
            </a:extLst>
          </p:cNvPr>
          <p:cNvSpPr>
            <a:spLocks noGrp="1"/>
          </p:cNvSpPr>
          <p:nvPr>
            <p:ph idx="1"/>
          </p:nvPr>
        </p:nvSpPr>
        <p:spPr/>
        <p:txBody>
          <a:bodyPr>
            <a:normAutofit fontScale="85000" lnSpcReduction="20000"/>
          </a:bodyPr>
          <a:lstStyle/>
          <a:p>
            <a:r>
              <a:rPr lang="en-US" dirty="0"/>
              <a:t>A. End-stage kidney failure</a:t>
            </a:r>
          </a:p>
          <a:p>
            <a:r>
              <a:rPr lang="en-US" dirty="0"/>
              <a:t>1. May result from glomerular, tubular, inflammatory, or vascular insults</a:t>
            </a:r>
          </a:p>
          <a:p>
            <a:r>
              <a:rPr lang="en-US" dirty="0"/>
              <a:t>2. Most common causes are diabetes mellitus, hypertension, and glomerular disease.</a:t>
            </a:r>
          </a:p>
          <a:p>
            <a:r>
              <a:rPr lang="en-US" dirty="0"/>
              <a:t>B. Clinical features</a:t>
            </a:r>
          </a:p>
          <a:p>
            <a:r>
              <a:rPr lang="en-US" dirty="0"/>
              <a:t>1. Uremia - Increased nitrogenous waste products in blood (azotemia) result in nausea, anorexia, pericarditis, platelet dysfunction, encephalopathy with asterixis, and deposition of urea crystals in skin.</a:t>
            </a:r>
          </a:p>
          <a:p>
            <a:r>
              <a:rPr lang="en-US" dirty="0"/>
              <a:t>2. Salt and water retention with resultant hypertension</a:t>
            </a:r>
          </a:p>
          <a:p>
            <a:r>
              <a:rPr lang="en-US" dirty="0"/>
              <a:t>3. Hyperkalemia with metabolic acidosis</a:t>
            </a:r>
          </a:p>
          <a:p>
            <a:r>
              <a:rPr lang="en-US" dirty="0"/>
              <a:t>4. Anemia due to decreased erythropoietin production by renal peritubular interstitial cells</a:t>
            </a:r>
          </a:p>
        </p:txBody>
      </p:sp>
    </p:spTree>
    <p:extLst>
      <p:ext uri="{BB962C8B-B14F-4D97-AF65-F5344CB8AC3E}">
        <p14:creationId xmlns:p14="http://schemas.microsoft.com/office/powerpoint/2010/main" val="4203524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4B695-6698-2F36-2299-1EAF4A74B7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0ADB64-6277-29BE-9DC9-792DD39C976A}"/>
              </a:ext>
            </a:extLst>
          </p:cNvPr>
          <p:cNvSpPr>
            <a:spLocks noGrp="1"/>
          </p:cNvSpPr>
          <p:nvPr>
            <p:ph idx="1"/>
          </p:nvPr>
        </p:nvSpPr>
        <p:spPr/>
        <p:txBody>
          <a:bodyPr>
            <a:normAutofit/>
          </a:bodyPr>
          <a:lstStyle/>
          <a:p>
            <a:r>
              <a:rPr lang="en-US" dirty="0"/>
              <a:t>5. Hypocalcemia due to decreased 1-alpha-hydroxylation of vitamin D by proximal renal tubule cells and hyperphosphatemia</a:t>
            </a:r>
          </a:p>
          <a:p>
            <a:r>
              <a:rPr lang="en-US" dirty="0"/>
              <a:t>6. Renal osteodystrophy due to secondary hyperparathyroidism, </a:t>
            </a:r>
            <a:r>
              <a:rPr lang="en-US" dirty="0" err="1"/>
              <a:t>osteomalacia</a:t>
            </a:r>
            <a:r>
              <a:rPr lang="en-US" dirty="0"/>
              <a:t>, and osteoporosis</a:t>
            </a:r>
          </a:p>
          <a:p>
            <a:r>
              <a:rPr lang="en-US" dirty="0"/>
              <a:t>C. Treatment involves dialysis or renal transplant.</a:t>
            </a:r>
          </a:p>
          <a:p>
            <a:r>
              <a:rPr lang="en-US" dirty="0"/>
              <a:t>1. Cysts often develop within shrunken end-stage kidneys during dialysis, increasing risk for renal cell carcinoma.</a:t>
            </a:r>
          </a:p>
        </p:txBody>
      </p:sp>
    </p:spTree>
    <p:extLst>
      <p:ext uri="{BB962C8B-B14F-4D97-AF65-F5344CB8AC3E}">
        <p14:creationId xmlns:p14="http://schemas.microsoft.com/office/powerpoint/2010/main" val="996872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74E4-9B95-C687-827A-116C181A72F8}"/>
              </a:ext>
            </a:extLst>
          </p:cNvPr>
          <p:cNvSpPr>
            <a:spLocks noGrp="1"/>
          </p:cNvSpPr>
          <p:nvPr>
            <p:ph type="title"/>
          </p:nvPr>
        </p:nvSpPr>
        <p:spPr/>
        <p:txBody>
          <a:bodyPr/>
          <a:lstStyle/>
          <a:p>
            <a:r>
              <a:rPr lang="en-US" dirty="0"/>
              <a:t>RENAL NEOPLASIA</a:t>
            </a:r>
          </a:p>
        </p:txBody>
      </p:sp>
      <p:sp>
        <p:nvSpPr>
          <p:cNvPr id="3" name="Content Placeholder 2">
            <a:extLst>
              <a:ext uri="{FF2B5EF4-FFF2-40B4-BE49-F238E27FC236}">
                <a16:creationId xmlns:a16="http://schemas.microsoft.com/office/drawing/2014/main" id="{9BBB6BE1-12C8-E00B-9C10-2D4B4C16419E}"/>
              </a:ext>
            </a:extLst>
          </p:cNvPr>
          <p:cNvSpPr>
            <a:spLocks noGrp="1"/>
          </p:cNvSpPr>
          <p:nvPr>
            <p:ph idx="1"/>
          </p:nvPr>
        </p:nvSpPr>
        <p:spPr/>
        <p:txBody>
          <a:bodyPr/>
          <a:lstStyle/>
          <a:p>
            <a:r>
              <a:rPr lang="en-US" dirty="0"/>
              <a:t>ANGIOMYOLIPOMA</a:t>
            </a:r>
          </a:p>
          <a:p>
            <a:r>
              <a:rPr lang="en-US" dirty="0"/>
              <a:t>A. Hamartoma comprised of blood vessels, smooth muscle, and adipose tissue</a:t>
            </a:r>
          </a:p>
          <a:p>
            <a:r>
              <a:rPr lang="en-US" dirty="0"/>
              <a:t>B. Increased frequency in tuberous sclerosis</a:t>
            </a:r>
          </a:p>
        </p:txBody>
      </p:sp>
    </p:spTree>
    <p:extLst>
      <p:ext uri="{BB962C8B-B14F-4D97-AF65-F5344CB8AC3E}">
        <p14:creationId xmlns:p14="http://schemas.microsoft.com/office/powerpoint/2010/main" val="34761867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4163F-96F3-2C77-FC05-29BF9F5930BA}"/>
              </a:ext>
            </a:extLst>
          </p:cNvPr>
          <p:cNvSpPr>
            <a:spLocks noGrp="1"/>
          </p:cNvSpPr>
          <p:nvPr>
            <p:ph type="title"/>
          </p:nvPr>
        </p:nvSpPr>
        <p:spPr/>
        <p:txBody>
          <a:bodyPr/>
          <a:lstStyle/>
          <a:p>
            <a:r>
              <a:rPr lang="en-US" dirty="0"/>
              <a:t>RENAL CELL CARCINOMA</a:t>
            </a:r>
          </a:p>
        </p:txBody>
      </p:sp>
      <p:sp>
        <p:nvSpPr>
          <p:cNvPr id="3" name="Content Placeholder 2">
            <a:extLst>
              <a:ext uri="{FF2B5EF4-FFF2-40B4-BE49-F238E27FC236}">
                <a16:creationId xmlns:a16="http://schemas.microsoft.com/office/drawing/2014/main" id="{550423E4-18EE-1B5F-B72B-301287610A92}"/>
              </a:ext>
            </a:extLst>
          </p:cNvPr>
          <p:cNvSpPr>
            <a:spLocks noGrp="1"/>
          </p:cNvSpPr>
          <p:nvPr>
            <p:ph idx="1"/>
          </p:nvPr>
        </p:nvSpPr>
        <p:spPr/>
        <p:txBody>
          <a:bodyPr>
            <a:normAutofit fontScale="85000" lnSpcReduction="10000"/>
          </a:bodyPr>
          <a:lstStyle/>
          <a:p>
            <a:r>
              <a:rPr lang="en-US" dirty="0"/>
              <a:t>A. Malignant epithelial tumor arising from kidney tubules</a:t>
            </a:r>
          </a:p>
          <a:p>
            <a:r>
              <a:rPr lang="en-US" dirty="0"/>
              <a:t>B. Presents with classic triad of hematuria, palpable mass, and flank pain</a:t>
            </a:r>
          </a:p>
          <a:p>
            <a:r>
              <a:rPr lang="en-US" dirty="0"/>
              <a:t>1. All three symptoms rarely occur together; hematuria is the most common</a:t>
            </a:r>
          </a:p>
          <a:p>
            <a:r>
              <a:rPr lang="en-US" dirty="0"/>
              <a:t>symptom.</a:t>
            </a:r>
          </a:p>
          <a:p>
            <a:r>
              <a:rPr lang="en-US" dirty="0"/>
              <a:t>2. Fever, weight loss, or paraneoplastic syndrome (e.g., EPO, renin, </a:t>
            </a:r>
            <a:r>
              <a:rPr lang="en-US" dirty="0" err="1"/>
              <a:t>PTHrP</a:t>
            </a:r>
            <a:r>
              <a:rPr lang="en-US" dirty="0"/>
              <a:t>, or ACTH) may also be present.</a:t>
            </a:r>
          </a:p>
          <a:p>
            <a:r>
              <a:rPr lang="en-US" dirty="0"/>
              <a:t>3. Rarely may present with left-sided varicocele</a:t>
            </a:r>
          </a:p>
          <a:p>
            <a:r>
              <a:rPr lang="en-US" dirty="0" err="1"/>
              <a:t>i</a:t>
            </a:r>
            <a:r>
              <a:rPr lang="en-US" dirty="0"/>
              <a:t>. Involvement of the left renal vein by carcinoma blocks drainage of the left</a:t>
            </a:r>
          </a:p>
          <a:p>
            <a:r>
              <a:rPr lang="en-US" dirty="0"/>
              <a:t>spermatic vein leading to varicocele.</a:t>
            </a:r>
          </a:p>
          <a:p>
            <a:r>
              <a:rPr lang="en-US" dirty="0"/>
              <a:t>ii. Right spermatic vein drains directly into the IVC; hence, right-sided varicocele is not seen.</a:t>
            </a:r>
          </a:p>
        </p:txBody>
      </p:sp>
    </p:spTree>
    <p:extLst>
      <p:ext uri="{BB962C8B-B14F-4D97-AF65-F5344CB8AC3E}">
        <p14:creationId xmlns:p14="http://schemas.microsoft.com/office/powerpoint/2010/main" val="12354788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3DD263-CA42-8149-F9B7-B6B04CE736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726124-E6B6-363C-37EF-A2DC7F90E213}"/>
              </a:ext>
            </a:extLst>
          </p:cNvPr>
          <p:cNvSpPr>
            <a:spLocks noGrp="1"/>
          </p:cNvSpPr>
          <p:nvPr>
            <p:ph sz="half" idx="1"/>
          </p:nvPr>
        </p:nvSpPr>
        <p:spPr/>
        <p:txBody>
          <a:bodyPr>
            <a:normAutofit fontScale="77500" lnSpcReduction="20000"/>
          </a:bodyPr>
          <a:lstStyle/>
          <a:p>
            <a:r>
              <a:rPr lang="en-US" dirty="0"/>
              <a:t>C. Gross exam reveals a yellow mass ; microscopically, the most common variant exhibits clear cytoplasm (clear cell type).</a:t>
            </a:r>
          </a:p>
          <a:p>
            <a:r>
              <a:rPr lang="en-US" dirty="0"/>
              <a:t>D. Pathogenesis involves loss of VHL (3p) tumor suppressor gene, which leads to increased IGF-1 (promotes growth) and increased HIF transcription factor(increases VEGF and PDGF).</a:t>
            </a:r>
          </a:p>
          <a:p>
            <a:r>
              <a:rPr lang="en-US" dirty="0"/>
              <a:t>E. Tumors may be hereditary or sporadic.</a:t>
            </a:r>
          </a:p>
          <a:p>
            <a:r>
              <a:rPr lang="en-US" dirty="0"/>
              <a:t>1. Sporadic tumors classically arise in adult males (average age is 60 years) as a single tumor in the upper pole of the kidney; major risk factor for sporadic tumors is cigarette smoke.</a:t>
            </a:r>
          </a:p>
        </p:txBody>
      </p:sp>
      <p:pic>
        <p:nvPicPr>
          <p:cNvPr id="7" name="Content Placeholder 6">
            <a:extLst>
              <a:ext uri="{FF2B5EF4-FFF2-40B4-BE49-F238E27FC236}">
                <a16:creationId xmlns:a16="http://schemas.microsoft.com/office/drawing/2014/main" id="{9285353D-97E3-1EA1-8D45-488A6D34FBF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885656"/>
            <a:ext cx="5181600" cy="2231275"/>
          </a:xfrm>
        </p:spPr>
      </p:pic>
    </p:spTree>
    <p:extLst>
      <p:ext uri="{BB962C8B-B14F-4D97-AF65-F5344CB8AC3E}">
        <p14:creationId xmlns:p14="http://schemas.microsoft.com/office/powerpoint/2010/main" val="29450245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4C9A9-B967-F37F-884D-B494EA7B7A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E126F3-F5E7-8DBB-C914-C62FF1516876}"/>
              </a:ext>
            </a:extLst>
          </p:cNvPr>
          <p:cNvSpPr>
            <a:spLocks noGrp="1"/>
          </p:cNvSpPr>
          <p:nvPr>
            <p:ph idx="1"/>
          </p:nvPr>
        </p:nvSpPr>
        <p:spPr/>
        <p:txBody>
          <a:bodyPr>
            <a:normAutofit/>
          </a:bodyPr>
          <a:lstStyle/>
          <a:p>
            <a:r>
              <a:rPr lang="en-US" dirty="0"/>
              <a:t>2. Hereditary tumors arise in younger adults and are often bilateral.</a:t>
            </a:r>
          </a:p>
          <a:p>
            <a:r>
              <a:rPr lang="en-US" dirty="0" err="1"/>
              <a:t>i</a:t>
            </a:r>
            <a:r>
              <a:rPr lang="en-US" dirty="0"/>
              <a:t>. Von Hippel-Lindau disease is an autosomal dominant disorder associated with inactivation of the VHL gene leading to increased risk for hemangioblastoma of the cerebellum and renal cell carcinoma.</a:t>
            </a:r>
          </a:p>
          <a:p>
            <a:r>
              <a:rPr lang="en-US" dirty="0"/>
              <a:t>F. Staging</a:t>
            </a:r>
          </a:p>
          <a:p>
            <a:r>
              <a:rPr lang="en-US" dirty="0"/>
              <a:t>1. T-based on size and involvement of the renal vein (occurs commonly and increases risk of hematogenous spread to the lungs and bone)</a:t>
            </a:r>
          </a:p>
          <a:p>
            <a:r>
              <a:rPr lang="en-US" dirty="0"/>
              <a:t>2. N- spread to retroperitoneal lymph nodes</a:t>
            </a:r>
          </a:p>
        </p:txBody>
      </p:sp>
    </p:spTree>
    <p:extLst>
      <p:ext uri="{BB962C8B-B14F-4D97-AF65-F5344CB8AC3E}">
        <p14:creationId xmlns:p14="http://schemas.microsoft.com/office/powerpoint/2010/main" val="645075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30F6C-AD97-E95C-1F2F-4F87C5A352A6}"/>
              </a:ext>
            </a:extLst>
          </p:cNvPr>
          <p:cNvSpPr>
            <a:spLocks noGrp="1"/>
          </p:cNvSpPr>
          <p:nvPr>
            <p:ph type="title"/>
          </p:nvPr>
        </p:nvSpPr>
        <p:spPr/>
        <p:txBody>
          <a:bodyPr/>
          <a:lstStyle/>
          <a:p>
            <a:r>
              <a:rPr lang="en-US" dirty="0"/>
              <a:t>WILMS TUMOR</a:t>
            </a:r>
          </a:p>
        </p:txBody>
      </p:sp>
      <p:sp>
        <p:nvSpPr>
          <p:cNvPr id="3" name="Content Placeholder 2">
            <a:extLst>
              <a:ext uri="{FF2B5EF4-FFF2-40B4-BE49-F238E27FC236}">
                <a16:creationId xmlns:a16="http://schemas.microsoft.com/office/drawing/2014/main" id="{13F3E2BE-1FA8-116A-0B3E-7A6BC10EEF5B}"/>
              </a:ext>
            </a:extLst>
          </p:cNvPr>
          <p:cNvSpPr>
            <a:spLocks noGrp="1"/>
          </p:cNvSpPr>
          <p:nvPr>
            <p:ph idx="1"/>
          </p:nvPr>
        </p:nvSpPr>
        <p:spPr/>
        <p:txBody>
          <a:bodyPr>
            <a:normAutofit fontScale="92500"/>
          </a:bodyPr>
          <a:lstStyle/>
          <a:p>
            <a:r>
              <a:rPr lang="en-US" dirty="0"/>
              <a:t>A. Malignant kidney tumor comprised of blastema (immature kidney mesenchyme),primitive glomeruli and tubules, and stromal cells.</a:t>
            </a:r>
          </a:p>
          <a:p>
            <a:r>
              <a:rPr lang="en-US" dirty="0"/>
              <a:t>1. Most common malignant renal tumor in children; average age is 3 years.</a:t>
            </a:r>
          </a:p>
          <a:p>
            <a:r>
              <a:rPr lang="en-US" dirty="0"/>
              <a:t>B. Presents as a large, unilateral flank mass with hematuria and hypertension (due to renin secretion)</a:t>
            </a:r>
          </a:p>
          <a:p>
            <a:r>
              <a:rPr lang="en-US" dirty="0"/>
              <a:t>C. Most cases (90%) are sporadic; syndromic tumors may be seen with</a:t>
            </a:r>
          </a:p>
          <a:p>
            <a:r>
              <a:rPr lang="en-US" dirty="0"/>
              <a:t>1. WAGR syndrome - Wilms tumor, Aniridia, Genital abnormalities, and mental and motor Retardation; associated with deletion of WT1 tumor suppressor gene (located at 11p13)</a:t>
            </a:r>
          </a:p>
        </p:txBody>
      </p:sp>
    </p:spTree>
    <p:extLst>
      <p:ext uri="{BB962C8B-B14F-4D97-AF65-F5344CB8AC3E}">
        <p14:creationId xmlns:p14="http://schemas.microsoft.com/office/powerpoint/2010/main" val="42328548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52A1E2-C063-B4BA-757A-D71A4C537F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57F90E-E7A8-DE05-E62D-9F3AE1B35FCC}"/>
              </a:ext>
            </a:extLst>
          </p:cNvPr>
          <p:cNvSpPr>
            <a:spLocks noGrp="1"/>
          </p:cNvSpPr>
          <p:nvPr>
            <p:ph sz="half" idx="1"/>
          </p:nvPr>
        </p:nvSpPr>
        <p:spPr/>
        <p:txBody>
          <a:bodyPr>
            <a:normAutofit fontScale="92500" lnSpcReduction="10000"/>
          </a:bodyPr>
          <a:lstStyle/>
          <a:p>
            <a:r>
              <a:rPr lang="en-US" dirty="0"/>
              <a:t>2. Denys-</a:t>
            </a:r>
            <a:r>
              <a:rPr lang="en-US" dirty="0" err="1"/>
              <a:t>Drash</a:t>
            </a:r>
            <a:r>
              <a:rPr lang="en-US" dirty="0"/>
              <a:t> syndrome - Wilms tumor, progressive renal (glomerular) </a:t>
            </a:r>
            <a:r>
              <a:rPr lang="en-US" dirty="0" err="1"/>
              <a:t>disease,and</a:t>
            </a:r>
            <a:r>
              <a:rPr lang="en-US" dirty="0"/>
              <a:t> male </a:t>
            </a:r>
            <a:r>
              <a:rPr lang="en-US" dirty="0" err="1"/>
              <a:t>pseudohermaphroditism</a:t>
            </a:r>
            <a:r>
              <a:rPr lang="en-US" dirty="0"/>
              <a:t>; associated with mutations of WT1</a:t>
            </a:r>
          </a:p>
          <a:p>
            <a:r>
              <a:rPr lang="en-US" dirty="0"/>
              <a:t>3. Beckwith-Wiedemann syndrome - Wilms tumor, neonatal hypoglycemia, muscular hemihypertrophy, and organomegaly (including tongue); associated with mutations in WT2 gene cluster (imprinted genes at 11p15.5), particularly IGF-2</a:t>
            </a:r>
          </a:p>
        </p:txBody>
      </p:sp>
      <p:pic>
        <p:nvPicPr>
          <p:cNvPr id="7" name="Content Placeholder 6">
            <a:extLst>
              <a:ext uri="{FF2B5EF4-FFF2-40B4-BE49-F238E27FC236}">
                <a16:creationId xmlns:a16="http://schemas.microsoft.com/office/drawing/2014/main" id="{C3886F6D-0A82-23DC-CE9D-F82A58D3D31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95892" y="2577107"/>
            <a:ext cx="3334215" cy="2848373"/>
          </a:xfrm>
        </p:spPr>
      </p:pic>
    </p:spTree>
    <p:extLst>
      <p:ext uri="{BB962C8B-B14F-4D97-AF65-F5344CB8AC3E}">
        <p14:creationId xmlns:p14="http://schemas.microsoft.com/office/powerpoint/2010/main" val="2642360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81B93-81DC-0FB1-21C6-BE43AB796FDE}"/>
              </a:ext>
            </a:extLst>
          </p:cNvPr>
          <p:cNvSpPr>
            <a:spLocks noGrp="1"/>
          </p:cNvSpPr>
          <p:nvPr>
            <p:ph type="title"/>
          </p:nvPr>
        </p:nvSpPr>
        <p:spPr/>
        <p:txBody>
          <a:bodyPr/>
          <a:lstStyle/>
          <a:p>
            <a:r>
              <a:rPr lang="en-US" dirty="0"/>
              <a:t>UROTHELIAL (TRANSITIONAL CELL) CARCINOMA</a:t>
            </a:r>
          </a:p>
        </p:txBody>
      </p:sp>
      <p:sp>
        <p:nvSpPr>
          <p:cNvPr id="3" name="Content Placeholder 2">
            <a:extLst>
              <a:ext uri="{FF2B5EF4-FFF2-40B4-BE49-F238E27FC236}">
                <a16:creationId xmlns:a16="http://schemas.microsoft.com/office/drawing/2014/main" id="{728C136D-FE95-3B4D-0FB2-CCE7EFA20BEA}"/>
              </a:ext>
            </a:extLst>
          </p:cNvPr>
          <p:cNvSpPr>
            <a:spLocks noGrp="1"/>
          </p:cNvSpPr>
          <p:nvPr>
            <p:ph idx="1"/>
          </p:nvPr>
        </p:nvSpPr>
        <p:spPr/>
        <p:txBody>
          <a:bodyPr>
            <a:normAutofit/>
          </a:bodyPr>
          <a:lstStyle/>
          <a:p>
            <a:r>
              <a:rPr lang="en-US" dirty="0"/>
              <a:t>A. Malignant tumor arising from the urothelial lining of the renal pelvis, ureter, bladder, or urethra</a:t>
            </a:r>
          </a:p>
          <a:p>
            <a:r>
              <a:rPr lang="en-US" dirty="0"/>
              <a:t>1. Most common type of lower urinary tract cancer; usually arises in the bladder</a:t>
            </a:r>
          </a:p>
          <a:p>
            <a:r>
              <a:rPr lang="en-US" dirty="0"/>
              <a:t>B. Major risk factor is cigarette smoke; additional risk factors are naphthylamine, azo dyes, and long-term cyclophosphamide or phenacetin use.</a:t>
            </a:r>
          </a:p>
          <a:p>
            <a:r>
              <a:rPr lang="en-US" dirty="0"/>
              <a:t>C. Generally seen in older adults; classically presents with painless hematuria</a:t>
            </a:r>
          </a:p>
        </p:txBody>
      </p:sp>
    </p:spTree>
    <p:extLst>
      <p:ext uri="{BB962C8B-B14F-4D97-AF65-F5344CB8AC3E}">
        <p14:creationId xmlns:p14="http://schemas.microsoft.com/office/powerpoint/2010/main" val="41464017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831564-E3FD-2BC2-8AD3-0250C1CD99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1A502B-17FC-BD37-B5F6-62FAAC8B270F}"/>
              </a:ext>
            </a:extLst>
          </p:cNvPr>
          <p:cNvSpPr>
            <a:spLocks noGrp="1"/>
          </p:cNvSpPr>
          <p:nvPr>
            <p:ph sz="half" idx="1"/>
          </p:nvPr>
        </p:nvSpPr>
        <p:spPr/>
        <p:txBody>
          <a:bodyPr>
            <a:normAutofit fontScale="92500" lnSpcReduction="20000"/>
          </a:bodyPr>
          <a:lstStyle/>
          <a:p>
            <a:r>
              <a:rPr lang="en-US" dirty="0"/>
              <a:t>D. Arises via two distinct pathways.</a:t>
            </a:r>
          </a:p>
          <a:p>
            <a:r>
              <a:rPr lang="en-US" dirty="0"/>
              <a:t>1. Flat - develops as a high-grade flat tumor and then invades; associated with early p53 mutations</a:t>
            </a:r>
          </a:p>
          <a:p>
            <a:r>
              <a:rPr lang="en-US" dirty="0"/>
              <a:t>2. Papillary - develops as a low-grade papillary tumor that progresses to a high grade papillary tumor and then invades; not associated with early p53 mutations</a:t>
            </a:r>
          </a:p>
          <a:p>
            <a:r>
              <a:rPr lang="en-US" dirty="0"/>
              <a:t>E. Tumors are often multifocal and recur ("field defect").</a:t>
            </a:r>
          </a:p>
          <a:p>
            <a:endParaRPr lang="en-US" dirty="0"/>
          </a:p>
        </p:txBody>
      </p:sp>
      <p:pic>
        <p:nvPicPr>
          <p:cNvPr id="7" name="Content Placeholder 6">
            <a:extLst>
              <a:ext uri="{FF2B5EF4-FFF2-40B4-BE49-F238E27FC236}">
                <a16:creationId xmlns:a16="http://schemas.microsoft.com/office/drawing/2014/main" id="{76EEF4D4-5C16-D0DB-3DD4-E7CBAFDC478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886691"/>
            <a:ext cx="5181600" cy="2229206"/>
          </a:xfrm>
        </p:spPr>
      </p:pic>
    </p:spTree>
    <p:extLst>
      <p:ext uri="{BB962C8B-B14F-4D97-AF65-F5344CB8AC3E}">
        <p14:creationId xmlns:p14="http://schemas.microsoft.com/office/powerpoint/2010/main" val="28368730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BF96E-C83E-F740-20EC-6B58B50FFA4A}"/>
              </a:ext>
            </a:extLst>
          </p:cNvPr>
          <p:cNvSpPr>
            <a:spLocks noGrp="1"/>
          </p:cNvSpPr>
          <p:nvPr>
            <p:ph type="title"/>
          </p:nvPr>
        </p:nvSpPr>
        <p:spPr/>
        <p:txBody>
          <a:bodyPr/>
          <a:lstStyle/>
          <a:p>
            <a:r>
              <a:rPr lang="en-US" dirty="0"/>
              <a:t>SQUAMOUS CELL CARCINOMA</a:t>
            </a:r>
          </a:p>
        </p:txBody>
      </p:sp>
      <p:sp>
        <p:nvSpPr>
          <p:cNvPr id="3" name="Content Placeholder 2">
            <a:extLst>
              <a:ext uri="{FF2B5EF4-FFF2-40B4-BE49-F238E27FC236}">
                <a16:creationId xmlns:a16="http://schemas.microsoft.com/office/drawing/2014/main" id="{2A67827C-6DF9-73EE-2418-898F05953864}"/>
              </a:ext>
            </a:extLst>
          </p:cNvPr>
          <p:cNvSpPr>
            <a:spLocks noGrp="1"/>
          </p:cNvSpPr>
          <p:nvPr>
            <p:ph idx="1"/>
          </p:nvPr>
        </p:nvSpPr>
        <p:spPr/>
        <p:txBody>
          <a:bodyPr/>
          <a:lstStyle/>
          <a:p>
            <a:r>
              <a:rPr lang="en-US" dirty="0"/>
              <a:t>A. Malignant proliferation of squamous cells, usually involving the bladder</a:t>
            </a:r>
          </a:p>
          <a:p>
            <a:r>
              <a:rPr lang="en-US" dirty="0"/>
              <a:t>B. Arises in a background of squamous metaplasia (normal bladder surface is not lined by squamous epithelium)</a:t>
            </a:r>
          </a:p>
          <a:p>
            <a:r>
              <a:rPr lang="en-US" dirty="0"/>
              <a:t>C. Risk factors include chronic cystitis (older woman), Schistosoma haematobium infection (Egyptian male), and long-standing nephrolithiasis.</a:t>
            </a:r>
          </a:p>
        </p:txBody>
      </p:sp>
    </p:spTree>
    <p:extLst>
      <p:ext uri="{BB962C8B-B14F-4D97-AF65-F5344CB8AC3E}">
        <p14:creationId xmlns:p14="http://schemas.microsoft.com/office/powerpoint/2010/main" val="30283490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768BB-96E4-8902-3A70-8073BBB1606F}"/>
              </a:ext>
            </a:extLst>
          </p:cNvPr>
          <p:cNvSpPr>
            <a:spLocks noGrp="1"/>
          </p:cNvSpPr>
          <p:nvPr>
            <p:ph type="title"/>
          </p:nvPr>
        </p:nvSpPr>
        <p:spPr/>
        <p:txBody>
          <a:bodyPr/>
          <a:lstStyle/>
          <a:p>
            <a:r>
              <a:rPr lang="en-US" dirty="0"/>
              <a:t>ADENOCARCINOMA</a:t>
            </a:r>
          </a:p>
        </p:txBody>
      </p:sp>
      <p:sp>
        <p:nvSpPr>
          <p:cNvPr id="3" name="Content Placeholder 2">
            <a:extLst>
              <a:ext uri="{FF2B5EF4-FFF2-40B4-BE49-F238E27FC236}">
                <a16:creationId xmlns:a16="http://schemas.microsoft.com/office/drawing/2014/main" id="{11A91A30-95C4-4705-C202-98D3F6C7373F}"/>
              </a:ext>
            </a:extLst>
          </p:cNvPr>
          <p:cNvSpPr>
            <a:spLocks noGrp="1"/>
          </p:cNvSpPr>
          <p:nvPr>
            <p:ph idx="1"/>
          </p:nvPr>
        </p:nvSpPr>
        <p:spPr/>
        <p:txBody>
          <a:bodyPr/>
          <a:lstStyle/>
          <a:p>
            <a:r>
              <a:rPr lang="en-US" dirty="0"/>
              <a:t>A. Malignant proliferation of glands, usually involving bladder</a:t>
            </a:r>
          </a:p>
          <a:p>
            <a:r>
              <a:rPr lang="en-US" dirty="0"/>
              <a:t>B. Arises from a urachal remnant (tumor develops at the dome of the bladder), cystitis </a:t>
            </a:r>
            <a:r>
              <a:rPr lang="en-US" dirty="0" err="1"/>
              <a:t>glandularis</a:t>
            </a:r>
            <a:r>
              <a:rPr lang="en-US" dirty="0"/>
              <a:t>, or exstrophy (congenital failure to form the caudal portion of the anterior abdominal and bladder walls)</a:t>
            </a:r>
          </a:p>
        </p:txBody>
      </p:sp>
    </p:spTree>
    <p:extLst>
      <p:ext uri="{BB962C8B-B14F-4D97-AF65-F5344CB8AC3E}">
        <p14:creationId xmlns:p14="http://schemas.microsoft.com/office/powerpoint/2010/main" val="22028938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F8FA9-DE71-53E2-EA04-2E8D5F07AE85}"/>
              </a:ext>
            </a:extLst>
          </p:cNvPr>
          <p:cNvSpPr>
            <a:spLocks noGrp="1"/>
          </p:cNvSpPr>
          <p:nvPr>
            <p:ph type="title"/>
          </p:nvPr>
        </p:nvSpPr>
        <p:spPr/>
        <p:txBody>
          <a:bodyPr/>
          <a:lstStyle/>
          <a:p>
            <a:r>
              <a:rPr lang="en-US" dirty="0"/>
              <a:t>MALE GENITAL PATHOLOGY</a:t>
            </a:r>
          </a:p>
        </p:txBody>
      </p:sp>
      <p:sp>
        <p:nvSpPr>
          <p:cNvPr id="3" name="Content Placeholder 2">
            <a:extLst>
              <a:ext uri="{FF2B5EF4-FFF2-40B4-BE49-F238E27FC236}">
                <a16:creationId xmlns:a16="http://schemas.microsoft.com/office/drawing/2014/main" id="{D690DD1D-99B1-17EC-323C-3EA215BD173C}"/>
              </a:ext>
            </a:extLst>
          </p:cNvPr>
          <p:cNvSpPr>
            <a:spLocks noGrp="1"/>
          </p:cNvSpPr>
          <p:nvPr>
            <p:ph idx="1"/>
          </p:nvPr>
        </p:nvSpPr>
        <p:spPr/>
        <p:txBody>
          <a:bodyPr/>
          <a:lstStyle/>
          <a:p>
            <a:pPr>
              <a:buFont typeface="Wingdings" panose="05000000000000000000" pitchFamily="2" charset="2"/>
              <a:buChar char="v"/>
            </a:pPr>
            <a:r>
              <a:rPr lang="en-US" dirty="0"/>
              <a:t>Penis</a:t>
            </a:r>
          </a:p>
          <a:p>
            <a:pPr>
              <a:buFont typeface="Wingdings" panose="05000000000000000000" pitchFamily="2" charset="2"/>
              <a:buChar char="Ø"/>
            </a:pPr>
            <a:r>
              <a:rPr lang="en-US" dirty="0"/>
              <a:t>HYPOSPADIAS</a:t>
            </a:r>
          </a:p>
          <a:p>
            <a:r>
              <a:rPr lang="en-US" dirty="0"/>
              <a:t>A. Opening of urethra on inferior surface of penis</a:t>
            </a:r>
          </a:p>
          <a:p>
            <a:r>
              <a:rPr lang="en-US" dirty="0"/>
              <a:t>B. Due to failure of the urethral folds to close</a:t>
            </a:r>
          </a:p>
          <a:p>
            <a:pPr>
              <a:buFont typeface="Wingdings" panose="05000000000000000000" pitchFamily="2" charset="2"/>
              <a:buChar char="Ø"/>
            </a:pPr>
            <a:r>
              <a:rPr lang="en-US" dirty="0"/>
              <a:t>EPISPADIAS</a:t>
            </a:r>
          </a:p>
          <a:p>
            <a:r>
              <a:rPr lang="en-US" dirty="0"/>
              <a:t>A. Opening of urethra on superior surface of penis</a:t>
            </a:r>
          </a:p>
          <a:p>
            <a:r>
              <a:rPr lang="en-US" dirty="0"/>
              <a:t>B. Due to abnormal positioning of the genital tubercle</a:t>
            </a:r>
          </a:p>
          <a:p>
            <a:r>
              <a:rPr lang="en-US" dirty="0"/>
              <a:t>C. Associated with bladder exstrophy</a:t>
            </a:r>
          </a:p>
        </p:txBody>
      </p:sp>
    </p:spTree>
    <p:extLst>
      <p:ext uri="{BB962C8B-B14F-4D97-AF65-F5344CB8AC3E}">
        <p14:creationId xmlns:p14="http://schemas.microsoft.com/office/powerpoint/2010/main" val="3233255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BF15-0164-2F47-9698-ADE47744B9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8730CD-2CAD-2A9C-90CA-43DA33A2D051}"/>
              </a:ext>
            </a:extLst>
          </p:cNvPr>
          <p:cNvSpPr>
            <a:spLocks noGrp="1"/>
          </p:cNvSpPr>
          <p:nvPr>
            <p:ph idx="1"/>
          </p:nvPr>
        </p:nvSpPr>
        <p:spPr/>
        <p:txBody>
          <a:bodyPr>
            <a:normAutofit fontScale="92500" lnSpcReduction="10000"/>
          </a:bodyPr>
          <a:lstStyle/>
          <a:p>
            <a:pPr>
              <a:buFont typeface="Wingdings" panose="05000000000000000000" pitchFamily="2" charset="2"/>
              <a:buChar char="Ø"/>
            </a:pPr>
            <a:r>
              <a:rPr lang="en-US" dirty="0"/>
              <a:t>CONDYLOMA ACUMINATUM</a:t>
            </a:r>
          </a:p>
          <a:p>
            <a:r>
              <a:rPr lang="en-US" dirty="0"/>
              <a:t>A. Benign warty growth on genital skin</a:t>
            </a:r>
          </a:p>
          <a:p>
            <a:r>
              <a:rPr lang="en-US" dirty="0"/>
              <a:t>B. Due to HPV type 6 or 11; characterized by </a:t>
            </a:r>
            <a:r>
              <a:rPr lang="en-US" dirty="0" err="1"/>
              <a:t>koilocytic</a:t>
            </a:r>
            <a:r>
              <a:rPr lang="en-US" dirty="0"/>
              <a:t> change</a:t>
            </a:r>
          </a:p>
          <a:p>
            <a:pPr>
              <a:buFont typeface="Wingdings" panose="05000000000000000000" pitchFamily="2" charset="2"/>
              <a:buChar char="Ø"/>
            </a:pPr>
            <a:r>
              <a:rPr lang="en-US" dirty="0"/>
              <a:t>LYMPHOGRANULOMA VENEREUM</a:t>
            </a:r>
          </a:p>
          <a:p>
            <a:r>
              <a:rPr lang="en-US" dirty="0"/>
              <a:t>A. Necrotizing granulomatous inflammation of the inguinal lymphatics and lymph nodes</a:t>
            </a:r>
          </a:p>
          <a:p>
            <a:r>
              <a:rPr lang="en-US" dirty="0"/>
              <a:t>B. Sexually transmitted disease caused by Chlamydia trachomatis (serotypes L1-L3)</a:t>
            </a:r>
          </a:p>
          <a:p>
            <a:r>
              <a:rPr lang="en-US" dirty="0"/>
              <a:t>C. Eventually heals with fibrosis; perianal involvement may result in rectal stricture.</a:t>
            </a:r>
          </a:p>
        </p:txBody>
      </p:sp>
    </p:spTree>
    <p:extLst>
      <p:ext uri="{BB962C8B-B14F-4D97-AF65-F5344CB8AC3E}">
        <p14:creationId xmlns:p14="http://schemas.microsoft.com/office/powerpoint/2010/main" val="9830240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7FC7B-254D-852B-91E2-86BCC429FE10}"/>
              </a:ext>
            </a:extLst>
          </p:cNvPr>
          <p:cNvSpPr>
            <a:spLocks noGrp="1"/>
          </p:cNvSpPr>
          <p:nvPr>
            <p:ph type="title"/>
          </p:nvPr>
        </p:nvSpPr>
        <p:spPr/>
        <p:txBody>
          <a:bodyPr/>
          <a:lstStyle/>
          <a:p>
            <a:r>
              <a:rPr lang="en-US" dirty="0"/>
              <a:t>SQUAMOUS CELL CARCINOMA</a:t>
            </a:r>
            <a:br>
              <a:rPr lang="en-US" dirty="0"/>
            </a:br>
            <a:endParaRPr lang="en-US" dirty="0"/>
          </a:p>
        </p:txBody>
      </p:sp>
      <p:sp>
        <p:nvSpPr>
          <p:cNvPr id="3" name="Content Placeholder 2">
            <a:extLst>
              <a:ext uri="{FF2B5EF4-FFF2-40B4-BE49-F238E27FC236}">
                <a16:creationId xmlns:a16="http://schemas.microsoft.com/office/drawing/2014/main" id="{E19AD03A-67B4-8ABE-EEE5-396C6FE4C5EE}"/>
              </a:ext>
            </a:extLst>
          </p:cNvPr>
          <p:cNvSpPr>
            <a:spLocks noGrp="1"/>
          </p:cNvSpPr>
          <p:nvPr>
            <p:ph idx="1"/>
          </p:nvPr>
        </p:nvSpPr>
        <p:spPr/>
        <p:txBody>
          <a:bodyPr>
            <a:normAutofit fontScale="77500" lnSpcReduction="20000"/>
          </a:bodyPr>
          <a:lstStyle/>
          <a:p>
            <a:r>
              <a:rPr lang="en-US" dirty="0"/>
              <a:t>A. Malignant proliferation of squamous cells of penile skin</a:t>
            </a:r>
          </a:p>
          <a:p>
            <a:r>
              <a:rPr lang="en-US" dirty="0"/>
              <a:t>B. Risk factors</a:t>
            </a:r>
          </a:p>
          <a:p>
            <a:r>
              <a:rPr lang="en-US" dirty="0"/>
              <a:t>1. High risk HPV (2/3 of cases)</a:t>
            </a:r>
          </a:p>
          <a:p>
            <a:r>
              <a:rPr lang="en-US" dirty="0"/>
              <a:t>2. Lack of circumcision - Foreskin acts as a nidus for inflammation and irritation if not properly maintained.</a:t>
            </a:r>
          </a:p>
          <a:p>
            <a:r>
              <a:rPr lang="en-US" dirty="0"/>
              <a:t>C. Precursor in situ lesions</a:t>
            </a:r>
          </a:p>
          <a:p>
            <a:r>
              <a:rPr lang="en-US" dirty="0"/>
              <a:t>1. Bowen disease - in situ carcinoma of the penile shaft or scrotum that presents as leukoplakia</a:t>
            </a:r>
          </a:p>
          <a:p>
            <a:r>
              <a:rPr lang="en-US" dirty="0"/>
              <a:t>2. </a:t>
            </a:r>
            <a:r>
              <a:rPr lang="en-US" dirty="0" err="1"/>
              <a:t>Erythroplasia</a:t>
            </a:r>
            <a:r>
              <a:rPr lang="en-US" dirty="0"/>
              <a:t> of </a:t>
            </a:r>
            <a:r>
              <a:rPr lang="en-US" dirty="0" err="1"/>
              <a:t>Queyrat</a:t>
            </a:r>
            <a:r>
              <a:rPr lang="en-US" dirty="0"/>
              <a:t> - in situ carcinoma on the glans that presents as </a:t>
            </a:r>
            <a:r>
              <a:rPr lang="en-US" dirty="0" err="1"/>
              <a:t>erythroplakia</a:t>
            </a:r>
            <a:endParaRPr lang="en-US" dirty="0"/>
          </a:p>
          <a:p>
            <a:r>
              <a:rPr lang="en-US" dirty="0"/>
              <a:t>3. Bowenoid papulosis - in situ carcinoma that presents as multiple reddish papules</a:t>
            </a:r>
          </a:p>
          <a:p>
            <a:r>
              <a:rPr lang="en-US" dirty="0" err="1"/>
              <a:t>i</a:t>
            </a:r>
            <a:r>
              <a:rPr lang="en-US" dirty="0"/>
              <a:t>. Seen in younger patients (40s) relative to Bowen disease and </a:t>
            </a:r>
            <a:r>
              <a:rPr lang="en-US" dirty="0" err="1"/>
              <a:t>erythroplasia</a:t>
            </a:r>
            <a:r>
              <a:rPr lang="en-US" dirty="0"/>
              <a:t> of </a:t>
            </a:r>
            <a:r>
              <a:rPr lang="en-US" dirty="0" err="1"/>
              <a:t>Queyrat</a:t>
            </a:r>
            <a:endParaRPr lang="en-US" dirty="0"/>
          </a:p>
          <a:p>
            <a:r>
              <a:rPr lang="en-US" dirty="0"/>
              <a:t>ii. Does not progress to invasive carcinoma</a:t>
            </a:r>
          </a:p>
        </p:txBody>
      </p:sp>
    </p:spTree>
    <p:extLst>
      <p:ext uri="{BB962C8B-B14F-4D97-AF65-F5344CB8AC3E}">
        <p14:creationId xmlns:p14="http://schemas.microsoft.com/office/powerpoint/2010/main" val="33576628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0CF8B-531A-1D12-0369-17CB728D2CC7}"/>
              </a:ext>
            </a:extLst>
          </p:cNvPr>
          <p:cNvSpPr>
            <a:spLocks noGrp="1"/>
          </p:cNvSpPr>
          <p:nvPr>
            <p:ph type="title"/>
          </p:nvPr>
        </p:nvSpPr>
        <p:spPr/>
        <p:txBody>
          <a:bodyPr/>
          <a:lstStyle/>
          <a:p>
            <a:r>
              <a:rPr lang="en-US" dirty="0"/>
              <a:t>TESTICLE</a:t>
            </a:r>
          </a:p>
        </p:txBody>
      </p:sp>
      <p:sp>
        <p:nvSpPr>
          <p:cNvPr id="3" name="Content Placeholder 2">
            <a:extLst>
              <a:ext uri="{FF2B5EF4-FFF2-40B4-BE49-F238E27FC236}">
                <a16:creationId xmlns:a16="http://schemas.microsoft.com/office/drawing/2014/main" id="{9832C011-84FB-512D-DDC6-46EC40719C59}"/>
              </a:ext>
            </a:extLst>
          </p:cNvPr>
          <p:cNvSpPr>
            <a:spLocks noGrp="1"/>
          </p:cNvSpPr>
          <p:nvPr>
            <p:ph idx="1"/>
          </p:nvPr>
        </p:nvSpPr>
        <p:spPr/>
        <p:txBody>
          <a:bodyPr>
            <a:normAutofit lnSpcReduction="10000"/>
          </a:bodyPr>
          <a:lstStyle/>
          <a:p>
            <a:pPr>
              <a:buFont typeface="Wingdings" panose="05000000000000000000" pitchFamily="2" charset="2"/>
              <a:buChar char="Ø"/>
            </a:pPr>
            <a:r>
              <a:rPr lang="en-US" dirty="0"/>
              <a:t>CRYPTORCHIDISM</a:t>
            </a:r>
          </a:p>
          <a:p>
            <a:r>
              <a:rPr lang="en-US" dirty="0"/>
              <a:t>A. Failure of testicle to descend into the scrotal sac</a:t>
            </a:r>
          </a:p>
          <a:p>
            <a:r>
              <a:rPr lang="en-US" dirty="0"/>
              <a:t>1. Testicles normally develop in the abdomen and then "descend" into the scrotal sac as the fetus grows.</a:t>
            </a:r>
          </a:p>
          <a:p>
            <a:r>
              <a:rPr lang="en-US" dirty="0"/>
              <a:t>B. Most common congenital male reproductive abnormality; seen in 1% of male infants</a:t>
            </a:r>
          </a:p>
          <a:p>
            <a:r>
              <a:rPr lang="en-US" dirty="0"/>
              <a:t>C. Most cases resolve spontaneously; otherwise, orchiopexy is performed before 2 years of age.</a:t>
            </a:r>
          </a:p>
          <a:p>
            <a:r>
              <a:rPr lang="en-US" dirty="0"/>
              <a:t>D. Complications include testicular atrophy with infertility and increased risk for seminoma.</a:t>
            </a:r>
          </a:p>
        </p:txBody>
      </p:sp>
    </p:spTree>
    <p:extLst>
      <p:ext uri="{BB962C8B-B14F-4D97-AF65-F5344CB8AC3E}">
        <p14:creationId xmlns:p14="http://schemas.microsoft.com/office/powerpoint/2010/main" val="19763008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8A944-8623-D2F4-1097-C9E4AF9A5019}"/>
              </a:ext>
            </a:extLst>
          </p:cNvPr>
          <p:cNvSpPr>
            <a:spLocks noGrp="1"/>
          </p:cNvSpPr>
          <p:nvPr>
            <p:ph type="title"/>
          </p:nvPr>
        </p:nvSpPr>
        <p:spPr/>
        <p:txBody>
          <a:bodyPr/>
          <a:lstStyle/>
          <a:p>
            <a:r>
              <a:rPr lang="en-US" dirty="0"/>
              <a:t>ORCHITIS</a:t>
            </a:r>
          </a:p>
        </p:txBody>
      </p:sp>
      <p:sp>
        <p:nvSpPr>
          <p:cNvPr id="3" name="Content Placeholder 2">
            <a:extLst>
              <a:ext uri="{FF2B5EF4-FFF2-40B4-BE49-F238E27FC236}">
                <a16:creationId xmlns:a16="http://schemas.microsoft.com/office/drawing/2014/main" id="{836394BB-7A11-20A8-486C-C6AD57D86617}"/>
              </a:ext>
            </a:extLst>
          </p:cNvPr>
          <p:cNvSpPr>
            <a:spLocks noGrp="1"/>
          </p:cNvSpPr>
          <p:nvPr>
            <p:ph idx="1"/>
          </p:nvPr>
        </p:nvSpPr>
        <p:spPr/>
        <p:txBody>
          <a:bodyPr>
            <a:normAutofit fontScale="77500" lnSpcReduction="20000"/>
          </a:bodyPr>
          <a:lstStyle/>
          <a:p>
            <a:r>
              <a:rPr lang="en-US" dirty="0"/>
              <a:t>A. Inflammation of the testicle</a:t>
            </a:r>
          </a:p>
          <a:p>
            <a:r>
              <a:rPr lang="en-US" dirty="0"/>
              <a:t>B. Causes</a:t>
            </a:r>
          </a:p>
          <a:p>
            <a:r>
              <a:rPr lang="en-US" dirty="0"/>
              <a:t>1. Chlamydia trachomatis (serotypes D-K) or Neisseria gonorrhoeae - Seen in young</a:t>
            </a:r>
          </a:p>
          <a:p>
            <a:r>
              <a:rPr lang="en-US" dirty="0"/>
              <a:t>adults. Increased risk of sterility, but libido is not affected because Leydig cells are</a:t>
            </a:r>
          </a:p>
          <a:p>
            <a:r>
              <a:rPr lang="en-US" dirty="0"/>
              <a:t>spared.</a:t>
            </a:r>
          </a:p>
          <a:p>
            <a:r>
              <a:rPr lang="en-US" dirty="0"/>
              <a:t>2. Escherichia coli and Pseudomonas - Seen in older adults; urinary tract infection</a:t>
            </a:r>
          </a:p>
          <a:p>
            <a:r>
              <a:rPr lang="en-US" dirty="0"/>
              <a:t>pathogens spread into the reproductive tract.</a:t>
            </a:r>
          </a:p>
          <a:p>
            <a:r>
              <a:rPr lang="en-US" dirty="0"/>
              <a:t>3. Mumps virus (teenage males) - increased risk for infertility; testicular</a:t>
            </a:r>
          </a:p>
          <a:p>
            <a:r>
              <a:rPr lang="en-US" dirty="0"/>
              <a:t>inflammation is usually not seen in children &lt; 10 years old.</a:t>
            </a:r>
          </a:p>
          <a:p>
            <a:r>
              <a:rPr lang="en-US" dirty="0"/>
              <a:t>4. Autoimmune orchitis - characterized by granulomas involving the</a:t>
            </a:r>
          </a:p>
          <a:p>
            <a:r>
              <a:rPr lang="en-US" dirty="0"/>
              <a:t>seminiferous tubules</a:t>
            </a:r>
          </a:p>
        </p:txBody>
      </p:sp>
    </p:spTree>
    <p:extLst>
      <p:ext uri="{BB962C8B-B14F-4D97-AF65-F5344CB8AC3E}">
        <p14:creationId xmlns:p14="http://schemas.microsoft.com/office/powerpoint/2010/main" val="119336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2FD25-06DB-E432-E1BC-1BEA0DC76A1B}"/>
              </a:ext>
            </a:extLst>
          </p:cNvPr>
          <p:cNvSpPr>
            <a:spLocks noGrp="1"/>
          </p:cNvSpPr>
          <p:nvPr>
            <p:ph type="title"/>
          </p:nvPr>
        </p:nvSpPr>
        <p:spPr/>
        <p:txBody>
          <a:bodyPr/>
          <a:lstStyle/>
          <a:p>
            <a:r>
              <a:rPr lang="en-US" dirty="0"/>
              <a:t>TESTICULAR TORSION</a:t>
            </a:r>
            <a:br>
              <a:rPr lang="en-US" dirty="0"/>
            </a:br>
            <a:endParaRPr lang="en-US" dirty="0"/>
          </a:p>
        </p:txBody>
      </p:sp>
      <p:sp>
        <p:nvSpPr>
          <p:cNvPr id="3" name="Content Placeholder 2">
            <a:extLst>
              <a:ext uri="{FF2B5EF4-FFF2-40B4-BE49-F238E27FC236}">
                <a16:creationId xmlns:a16="http://schemas.microsoft.com/office/drawing/2014/main" id="{CEC87D8F-B3B6-B4DC-2124-2EED4B23F02D}"/>
              </a:ext>
            </a:extLst>
          </p:cNvPr>
          <p:cNvSpPr>
            <a:spLocks noGrp="1"/>
          </p:cNvSpPr>
          <p:nvPr>
            <p:ph idx="1"/>
          </p:nvPr>
        </p:nvSpPr>
        <p:spPr/>
        <p:txBody>
          <a:bodyPr/>
          <a:lstStyle/>
          <a:p>
            <a:r>
              <a:rPr lang="en-US" dirty="0"/>
              <a:t>A. Twisting of the spermatic cord; thin-walled veins become obstructed leading to congestion and hemorrhagic infarction.</a:t>
            </a:r>
          </a:p>
          <a:p>
            <a:r>
              <a:rPr lang="en-US" dirty="0"/>
              <a:t>B. Usually due to congenital failure of testes to attach to the inner lining of the scrotum (via the processus vaginalis)</a:t>
            </a:r>
          </a:p>
          <a:p>
            <a:r>
              <a:rPr lang="en-US" dirty="0"/>
              <a:t>C. Presents in adolescents with sudden testicular pain and absent cremasteric reflex</a:t>
            </a:r>
          </a:p>
        </p:txBody>
      </p:sp>
    </p:spTree>
    <p:extLst>
      <p:ext uri="{BB962C8B-B14F-4D97-AF65-F5344CB8AC3E}">
        <p14:creationId xmlns:p14="http://schemas.microsoft.com/office/powerpoint/2010/main" val="38903799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87C4E-3541-C5BA-2FB9-6BCFE4511046}"/>
              </a:ext>
            </a:extLst>
          </p:cNvPr>
          <p:cNvSpPr>
            <a:spLocks noGrp="1"/>
          </p:cNvSpPr>
          <p:nvPr>
            <p:ph type="title"/>
          </p:nvPr>
        </p:nvSpPr>
        <p:spPr/>
        <p:txBody>
          <a:bodyPr/>
          <a:lstStyle/>
          <a:p>
            <a:r>
              <a:rPr lang="en-US" dirty="0"/>
              <a:t>VARICOCELE</a:t>
            </a:r>
          </a:p>
        </p:txBody>
      </p:sp>
      <p:sp>
        <p:nvSpPr>
          <p:cNvPr id="3" name="Content Placeholder 2">
            <a:extLst>
              <a:ext uri="{FF2B5EF4-FFF2-40B4-BE49-F238E27FC236}">
                <a16:creationId xmlns:a16="http://schemas.microsoft.com/office/drawing/2014/main" id="{B1319F7D-FE66-E802-4552-C156D023BF75}"/>
              </a:ext>
            </a:extLst>
          </p:cNvPr>
          <p:cNvSpPr>
            <a:spLocks noGrp="1"/>
          </p:cNvSpPr>
          <p:nvPr>
            <p:ph idx="1"/>
          </p:nvPr>
        </p:nvSpPr>
        <p:spPr/>
        <p:txBody>
          <a:bodyPr/>
          <a:lstStyle/>
          <a:p>
            <a:r>
              <a:rPr lang="en-US" dirty="0"/>
              <a:t>A. Dilation of the spermatic vein due to impaired drainage</a:t>
            </a:r>
          </a:p>
          <a:p>
            <a:r>
              <a:rPr lang="en-US" dirty="0"/>
              <a:t>B. Presents as scrotal swelling with a "bag of worms" appearance</a:t>
            </a:r>
          </a:p>
          <a:p>
            <a:r>
              <a:rPr lang="en-US" dirty="0"/>
              <a:t>C. Usually left sided; left testicular vein drains into the left renal vein, while the right testicular vein drains directly into the IVC.</a:t>
            </a:r>
          </a:p>
          <a:p>
            <a:r>
              <a:rPr lang="en-US" dirty="0"/>
              <a:t>1. Associated with left-sided renal cell carcinoma; RCC often invades the renal vein.</a:t>
            </a:r>
          </a:p>
          <a:p>
            <a:r>
              <a:rPr lang="en-US" dirty="0"/>
              <a:t>D. Seen in a large percentage of infertile males</a:t>
            </a:r>
          </a:p>
        </p:txBody>
      </p:sp>
    </p:spTree>
    <p:extLst>
      <p:ext uri="{BB962C8B-B14F-4D97-AF65-F5344CB8AC3E}">
        <p14:creationId xmlns:p14="http://schemas.microsoft.com/office/powerpoint/2010/main" val="10189558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C9938-E054-DA18-FB7B-790A7C58F9FF}"/>
              </a:ext>
            </a:extLst>
          </p:cNvPr>
          <p:cNvSpPr>
            <a:spLocks noGrp="1"/>
          </p:cNvSpPr>
          <p:nvPr>
            <p:ph type="title"/>
          </p:nvPr>
        </p:nvSpPr>
        <p:spPr/>
        <p:txBody>
          <a:bodyPr/>
          <a:lstStyle/>
          <a:p>
            <a:r>
              <a:rPr lang="en-US" dirty="0"/>
              <a:t>HYDROCELE</a:t>
            </a:r>
          </a:p>
        </p:txBody>
      </p:sp>
      <p:sp>
        <p:nvSpPr>
          <p:cNvPr id="3" name="Content Placeholder 2">
            <a:extLst>
              <a:ext uri="{FF2B5EF4-FFF2-40B4-BE49-F238E27FC236}">
                <a16:creationId xmlns:a16="http://schemas.microsoft.com/office/drawing/2014/main" id="{A8D4468D-E550-8772-3DA6-1E6D92D4E024}"/>
              </a:ext>
            </a:extLst>
          </p:cNvPr>
          <p:cNvSpPr>
            <a:spLocks noGrp="1"/>
          </p:cNvSpPr>
          <p:nvPr>
            <p:ph idx="1"/>
          </p:nvPr>
        </p:nvSpPr>
        <p:spPr/>
        <p:txBody>
          <a:bodyPr/>
          <a:lstStyle/>
          <a:p>
            <a:r>
              <a:rPr lang="en-US" dirty="0"/>
              <a:t>A. Fluid collection within the tunica vaginalis</a:t>
            </a:r>
          </a:p>
          <a:p>
            <a:r>
              <a:rPr lang="en-US" dirty="0"/>
              <a:t>1. Tunica vaginalis is a serous membrane that covers the testicle as well as the internal surface of the scrotum.</a:t>
            </a:r>
          </a:p>
          <a:p>
            <a:r>
              <a:rPr lang="en-US" dirty="0"/>
              <a:t>B. Associated with incomplete closure of the processus vaginalis leading to communication with the peritoneal cavity (infants) or blockage of lymphatic drainage (adults)</a:t>
            </a:r>
          </a:p>
          <a:p>
            <a:r>
              <a:rPr lang="en-US" dirty="0"/>
              <a:t>C. Presents as scrotal swelling that can be transilluminated.</a:t>
            </a:r>
          </a:p>
        </p:txBody>
      </p:sp>
    </p:spTree>
    <p:extLst>
      <p:ext uri="{BB962C8B-B14F-4D97-AF65-F5344CB8AC3E}">
        <p14:creationId xmlns:p14="http://schemas.microsoft.com/office/powerpoint/2010/main" val="30961913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5A05A-8575-008E-9A28-AB034D6AFF72}"/>
              </a:ext>
            </a:extLst>
          </p:cNvPr>
          <p:cNvSpPr>
            <a:spLocks noGrp="1"/>
          </p:cNvSpPr>
          <p:nvPr>
            <p:ph type="title"/>
          </p:nvPr>
        </p:nvSpPr>
        <p:spPr/>
        <p:txBody>
          <a:bodyPr/>
          <a:lstStyle/>
          <a:p>
            <a:r>
              <a:rPr lang="en-US" dirty="0"/>
              <a:t>TESTICULAR TUMORS</a:t>
            </a:r>
          </a:p>
        </p:txBody>
      </p:sp>
      <p:sp>
        <p:nvSpPr>
          <p:cNvPr id="3" name="Content Placeholder 2">
            <a:extLst>
              <a:ext uri="{FF2B5EF4-FFF2-40B4-BE49-F238E27FC236}">
                <a16:creationId xmlns:a16="http://schemas.microsoft.com/office/drawing/2014/main" id="{1BDF6B6B-B046-FC25-F762-DDFDC7C5E23E}"/>
              </a:ext>
            </a:extLst>
          </p:cNvPr>
          <p:cNvSpPr>
            <a:spLocks noGrp="1"/>
          </p:cNvSpPr>
          <p:nvPr>
            <p:ph idx="1"/>
          </p:nvPr>
        </p:nvSpPr>
        <p:spPr/>
        <p:txBody>
          <a:bodyPr/>
          <a:lstStyle/>
          <a:p>
            <a:r>
              <a:rPr lang="en-US" dirty="0"/>
              <a:t>A. Arise from germ cells or sex cord-stroma</a:t>
            </a:r>
          </a:p>
          <a:p>
            <a:r>
              <a:rPr lang="en-US" dirty="0"/>
              <a:t>B. Present as a firm, painless testicular mass that cannot be transilluminated</a:t>
            </a:r>
          </a:p>
          <a:p>
            <a:r>
              <a:rPr lang="en-US" dirty="0"/>
              <a:t>C. Usually not biopsied due to risk of seeding the scrotum; removed via radical orchiectomy</a:t>
            </a:r>
          </a:p>
          <a:p>
            <a:r>
              <a:rPr lang="en-US" dirty="0"/>
              <a:t>1. Most testicular tumors are malignant germ cell tumors.</a:t>
            </a:r>
          </a:p>
        </p:txBody>
      </p:sp>
    </p:spTree>
    <p:extLst>
      <p:ext uri="{BB962C8B-B14F-4D97-AF65-F5344CB8AC3E}">
        <p14:creationId xmlns:p14="http://schemas.microsoft.com/office/powerpoint/2010/main" val="40443467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AAF2E-7096-5210-2F0B-5A0BDBF3F14D}"/>
              </a:ext>
            </a:extLst>
          </p:cNvPr>
          <p:cNvSpPr>
            <a:spLocks noGrp="1"/>
          </p:cNvSpPr>
          <p:nvPr>
            <p:ph type="title"/>
          </p:nvPr>
        </p:nvSpPr>
        <p:spPr/>
        <p:txBody>
          <a:bodyPr/>
          <a:lstStyle/>
          <a:p>
            <a:r>
              <a:rPr lang="en-US" dirty="0"/>
              <a:t>GERM CELL TUMORS</a:t>
            </a:r>
          </a:p>
        </p:txBody>
      </p:sp>
      <p:sp>
        <p:nvSpPr>
          <p:cNvPr id="3" name="Content Placeholder 2">
            <a:extLst>
              <a:ext uri="{FF2B5EF4-FFF2-40B4-BE49-F238E27FC236}">
                <a16:creationId xmlns:a16="http://schemas.microsoft.com/office/drawing/2014/main" id="{619B532E-D3D1-6808-BF92-BAB04CA19D0E}"/>
              </a:ext>
            </a:extLst>
          </p:cNvPr>
          <p:cNvSpPr>
            <a:spLocks noGrp="1"/>
          </p:cNvSpPr>
          <p:nvPr>
            <p:ph idx="1"/>
          </p:nvPr>
        </p:nvSpPr>
        <p:spPr/>
        <p:txBody>
          <a:bodyPr>
            <a:normAutofit/>
          </a:bodyPr>
          <a:lstStyle/>
          <a:p>
            <a:r>
              <a:rPr lang="en-US" dirty="0"/>
              <a:t>A. Most common type of testicular tumor (&gt; 95% of cases)</a:t>
            </a:r>
          </a:p>
          <a:p>
            <a:r>
              <a:rPr lang="en-US" dirty="0"/>
              <a:t>B. Usually occur between 15-40 years of age</a:t>
            </a:r>
          </a:p>
          <a:p>
            <a:r>
              <a:rPr lang="en-US" dirty="0"/>
              <a:t>C. Risk factors include cryptorchidism and Klinefelter syndrome.</a:t>
            </a:r>
          </a:p>
          <a:p>
            <a:r>
              <a:rPr lang="en-US" dirty="0"/>
              <a:t>D. Divided into seminoma and </a:t>
            </a:r>
            <a:r>
              <a:rPr lang="en-US" dirty="0" err="1"/>
              <a:t>nonseminoma</a:t>
            </a:r>
            <a:endParaRPr lang="en-US" dirty="0"/>
          </a:p>
          <a:p>
            <a:r>
              <a:rPr lang="en-US" dirty="0"/>
              <a:t>1. Seminomas (55% of cases) are highly responsive to radiotherapy, metastasize late, and have an excellent prognosis.</a:t>
            </a:r>
          </a:p>
          <a:p>
            <a:r>
              <a:rPr lang="en-US" dirty="0"/>
              <a:t>2. </a:t>
            </a:r>
            <a:r>
              <a:rPr lang="en-US" dirty="0" err="1"/>
              <a:t>Nonseminomas</a:t>
            </a:r>
            <a:r>
              <a:rPr lang="en-US" dirty="0"/>
              <a:t> (45% of cases) show variable response to treatment and often metastasize early.</a:t>
            </a:r>
          </a:p>
        </p:txBody>
      </p:sp>
    </p:spTree>
    <p:extLst>
      <p:ext uri="{BB962C8B-B14F-4D97-AF65-F5344CB8AC3E}">
        <p14:creationId xmlns:p14="http://schemas.microsoft.com/office/powerpoint/2010/main" val="10897991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F800-D453-A6DE-8DB6-9772D6F03D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9E4C7F-CF75-1544-A432-37B557D1A14A}"/>
              </a:ext>
            </a:extLst>
          </p:cNvPr>
          <p:cNvSpPr>
            <a:spLocks noGrp="1"/>
          </p:cNvSpPr>
          <p:nvPr>
            <p:ph idx="1"/>
          </p:nvPr>
        </p:nvSpPr>
        <p:spPr/>
        <p:txBody>
          <a:bodyPr/>
          <a:lstStyle/>
          <a:p>
            <a:r>
              <a:rPr lang="en-US" dirty="0"/>
              <a:t>E. Seminoma is a malignant tumor comprised of large cells with clear cytoplasm and central nuclei (resemble spermatogonia); forms a homogeneous mass with no hemorrhage or necrosis.</a:t>
            </a:r>
          </a:p>
          <a:p>
            <a:r>
              <a:rPr lang="en-US" dirty="0"/>
              <a:t>1. Most common testicular tumor; resembles ovarian dysgerminoma</a:t>
            </a:r>
          </a:p>
          <a:p>
            <a:r>
              <a:rPr lang="en-US" dirty="0"/>
              <a:t>2. Rare cases may produce </a:t>
            </a:r>
            <a:r>
              <a:rPr lang="el-GR" dirty="0"/>
              <a:t>β- </a:t>
            </a:r>
            <a:r>
              <a:rPr lang="en-US" dirty="0" err="1"/>
              <a:t>hCG</a:t>
            </a:r>
            <a:r>
              <a:rPr lang="en-US" dirty="0"/>
              <a:t>.</a:t>
            </a:r>
          </a:p>
          <a:p>
            <a:r>
              <a:rPr lang="en-US" dirty="0"/>
              <a:t>3. Good prognosis; responds to radiotherapy</a:t>
            </a:r>
          </a:p>
        </p:txBody>
      </p:sp>
    </p:spTree>
    <p:extLst>
      <p:ext uri="{BB962C8B-B14F-4D97-AF65-F5344CB8AC3E}">
        <p14:creationId xmlns:p14="http://schemas.microsoft.com/office/powerpoint/2010/main" val="23626063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A07D-3D5F-B49A-9852-DB27401F54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0253A3-89A3-5A9B-29A8-B17D42D8174B}"/>
              </a:ext>
            </a:extLst>
          </p:cNvPr>
          <p:cNvSpPr>
            <a:spLocks noGrp="1"/>
          </p:cNvSpPr>
          <p:nvPr>
            <p:ph idx="1"/>
          </p:nvPr>
        </p:nvSpPr>
        <p:spPr/>
        <p:txBody>
          <a:bodyPr>
            <a:normAutofit fontScale="85000" lnSpcReduction="20000"/>
          </a:bodyPr>
          <a:lstStyle/>
          <a:p>
            <a:r>
              <a:rPr lang="en-US" dirty="0"/>
              <a:t>F. Embryonal carcinoma is a malignant tumor comprised of immature, primitive cells</a:t>
            </a:r>
          </a:p>
          <a:p>
            <a:r>
              <a:rPr lang="en-US" dirty="0"/>
              <a:t>that may produce glands; forms a hemorrhagic mass with necrosis.</a:t>
            </a:r>
          </a:p>
          <a:p>
            <a:r>
              <a:rPr lang="en-US" dirty="0"/>
              <a:t>1. Aggressive with early hematogenous spread</a:t>
            </a:r>
          </a:p>
          <a:p>
            <a:r>
              <a:rPr lang="en-US" dirty="0"/>
              <a:t>2. Chemotherapy may result in differentiation into another type of germ cell tumor (e.g., teratoma).</a:t>
            </a:r>
          </a:p>
          <a:p>
            <a:r>
              <a:rPr lang="en-US" dirty="0"/>
              <a:t>3. Increased AFP or </a:t>
            </a:r>
            <a:r>
              <a:rPr lang="el-GR" dirty="0"/>
              <a:t>β-</a:t>
            </a:r>
            <a:r>
              <a:rPr lang="en-US" dirty="0" err="1"/>
              <a:t>hCG</a:t>
            </a:r>
            <a:r>
              <a:rPr lang="en-US" dirty="0"/>
              <a:t> may </a:t>
            </a:r>
            <a:r>
              <a:rPr lang="en-US" dirty="0" err="1"/>
              <a:t>bep</a:t>
            </a:r>
            <a:r>
              <a:rPr lang="en-US" dirty="0"/>
              <a:t> resent.</a:t>
            </a:r>
          </a:p>
          <a:p>
            <a:r>
              <a:rPr lang="en-US" dirty="0"/>
              <a:t>G. Yolk sac (endodermal sinus) tumor is a malignant tumor that resembles yolk sac elements.</a:t>
            </a:r>
          </a:p>
          <a:p>
            <a:r>
              <a:rPr lang="en-US" dirty="0"/>
              <a:t>1. Most common testicular tumor in children</a:t>
            </a:r>
          </a:p>
          <a:p>
            <a:r>
              <a:rPr lang="en-US" dirty="0"/>
              <a:t>2. Schiller-Duval bodies (glomerulus-like structures) are seen on histology.</a:t>
            </a:r>
          </a:p>
          <a:p>
            <a:r>
              <a:rPr lang="en-US" dirty="0"/>
              <a:t>3. AFP is characteristically elevated.</a:t>
            </a:r>
          </a:p>
        </p:txBody>
      </p:sp>
    </p:spTree>
    <p:extLst>
      <p:ext uri="{BB962C8B-B14F-4D97-AF65-F5344CB8AC3E}">
        <p14:creationId xmlns:p14="http://schemas.microsoft.com/office/powerpoint/2010/main" val="13584241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17275-715D-49B6-F615-96B7ED1D3A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D8A41B-1BB4-3634-7346-A00B7825C8F7}"/>
              </a:ext>
            </a:extLst>
          </p:cNvPr>
          <p:cNvSpPr>
            <a:spLocks noGrp="1"/>
          </p:cNvSpPr>
          <p:nvPr>
            <p:ph idx="1"/>
          </p:nvPr>
        </p:nvSpPr>
        <p:spPr/>
        <p:txBody>
          <a:bodyPr>
            <a:normAutofit fontScale="85000" lnSpcReduction="20000"/>
          </a:bodyPr>
          <a:lstStyle/>
          <a:p>
            <a:r>
              <a:rPr lang="en-US" dirty="0"/>
              <a:t>H. Choriocarcinoma is a malignant tumor of </a:t>
            </a:r>
            <a:r>
              <a:rPr lang="en-US" dirty="0" err="1"/>
              <a:t>syncytiotrophoblasts</a:t>
            </a:r>
            <a:r>
              <a:rPr lang="en-US" dirty="0"/>
              <a:t> and cytotrophoblasts (placenta-like tissue, but villi are absent).</a:t>
            </a:r>
          </a:p>
          <a:p>
            <a:r>
              <a:rPr lang="en-US" dirty="0"/>
              <a:t>1. Spreads early via blood</a:t>
            </a:r>
          </a:p>
          <a:p>
            <a:r>
              <a:rPr lang="en-US" dirty="0"/>
              <a:t>2. β-</a:t>
            </a:r>
            <a:r>
              <a:rPr lang="en-US" dirty="0" err="1"/>
              <a:t>hCG</a:t>
            </a:r>
            <a:r>
              <a:rPr lang="en-US" dirty="0"/>
              <a:t> is characteristically elevated; may lead to hyperthyroidism or gynecomastia (α-subunit of </a:t>
            </a:r>
            <a:r>
              <a:rPr lang="en-US" dirty="0" err="1"/>
              <a:t>hCG</a:t>
            </a:r>
            <a:r>
              <a:rPr lang="en-US" dirty="0"/>
              <a:t> is similar to that of FSH, LH, and TSH)</a:t>
            </a:r>
          </a:p>
          <a:p>
            <a:r>
              <a:rPr lang="en-US" dirty="0"/>
              <a:t>I. Teratoma is a tumor composed of mature fetal tissue derived from two or three embryonic layers.</a:t>
            </a:r>
          </a:p>
          <a:p>
            <a:r>
              <a:rPr lang="en-US" dirty="0"/>
              <a:t>1. Malignant in males (as opposed to females)</a:t>
            </a:r>
          </a:p>
          <a:p>
            <a:r>
              <a:rPr lang="en-US" dirty="0"/>
              <a:t>2. AFP or β-</a:t>
            </a:r>
            <a:r>
              <a:rPr lang="en-US" dirty="0" err="1"/>
              <a:t>hCG</a:t>
            </a:r>
            <a:r>
              <a:rPr lang="en-US" dirty="0"/>
              <a:t> may be increased.</a:t>
            </a:r>
          </a:p>
          <a:p>
            <a:r>
              <a:rPr lang="en-US" dirty="0"/>
              <a:t>J. Mixed germ cell tumors</a:t>
            </a:r>
          </a:p>
          <a:p>
            <a:r>
              <a:rPr lang="en-US" dirty="0"/>
              <a:t>1. Germ cell tumors are usually mixed.</a:t>
            </a:r>
          </a:p>
          <a:p>
            <a:r>
              <a:rPr lang="en-US" dirty="0"/>
              <a:t>2. Prognosis is based on the worst component.</a:t>
            </a:r>
          </a:p>
        </p:txBody>
      </p:sp>
    </p:spTree>
    <p:extLst>
      <p:ext uri="{BB962C8B-B14F-4D97-AF65-F5344CB8AC3E}">
        <p14:creationId xmlns:p14="http://schemas.microsoft.com/office/powerpoint/2010/main" val="566545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3E8FA-62EA-CC45-A2A1-9C5898F3AA54}"/>
              </a:ext>
            </a:extLst>
          </p:cNvPr>
          <p:cNvSpPr>
            <a:spLocks noGrp="1"/>
          </p:cNvSpPr>
          <p:nvPr>
            <p:ph type="title"/>
          </p:nvPr>
        </p:nvSpPr>
        <p:spPr/>
        <p:txBody>
          <a:bodyPr/>
          <a:lstStyle/>
          <a:p>
            <a:r>
              <a:rPr lang="en-US" dirty="0"/>
              <a:t>SEX CORD-STROMAL TUMORS</a:t>
            </a:r>
            <a:br>
              <a:rPr lang="en-US" dirty="0"/>
            </a:br>
            <a:endParaRPr lang="en-US" dirty="0"/>
          </a:p>
        </p:txBody>
      </p:sp>
      <p:sp>
        <p:nvSpPr>
          <p:cNvPr id="3" name="Content Placeholder 2">
            <a:extLst>
              <a:ext uri="{FF2B5EF4-FFF2-40B4-BE49-F238E27FC236}">
                <a16:creationId xmlns:a16="http://schemas.microsoft.com/office/drawing/2014/main" id="{C5E7F79D-CF1D-6819-72D0-928782F14F80}"/>
              </a:ext>
            </a:extLst>
          </p:cNvPr>
          <p:cNvSpPr>
            <a:spLocks noGrp="1"/>
          </p:cNvSpPr>
          <p:nvPr>
            <p:ph idx="1"/>
          </p:nvPr>
        </p:nvSpPr>
        <p:spPr/>
        <p:txBody>
          <a:bodyPr>
            <a:normAutofit fontScale="92500" lnSpcReduction="10000"/>
          </a:bodyPr>
          <a:lstStyle/>
          <a:p>
            <a:r>
              <a:rPr lang="en-US" dirty="0"/>
              <a:t>A. Tumors that resemble sex cord-stromal tissues of the testicle; usually benign.</a:t>
            </a:r>
          </a:p>
          <a:p>
            <a:r>
              <a:rPr lang="en-US" dirty="0"/>
              <a:t>B. Leydig cell tumor usually produces androgen, causing precocious puberty in children or gynecomastia in adults.</a:t>
            </a:r>
          </a:p>
          <a:p>
            <a:r>
              <a:rPr lang="en-US" dirty="0"/>
              <a:t>1. Characteristic Reinke crystals may be seen on histology.</a:t>
            </a:r>
          </a:p>
          <a:p>
            <a:r>
              <a:rPr lang="en-US" dirty="0"/>
              <a:t>C. Sertoli cell tumor is comprised of tubules and is usually clinically silent.</a:t>
            </a:r>
          </a:p>
          <a:p>
            <a:pPr>
              <a:buFont typeface="Wingdings" panose="05000000000000000000" pitchFamily="2" charset="2"/>
              <a:buChar char="Ø"/>
            </a:pPr>
            <a:r>
              <a:rPr lang="en-US" dirty="0"/>
              <a:t>LYMPHOMA</a:t>
            </a:r>
          </a:p>
          <a:p>
            <a:r>
              <a:rPr lang="en-US" dirty="0"/>
              <a:t>A. Most common cause of a testicular mass in males &gt; 60 years old; often bilateral</a:t>
            </a:r>
          </a:p>
          <a:p>
            <a:r>
              <a:rPr lang="en-US" dirty="0"/>
              <a:t>B. Usually of diffuse large B-cell type</a:t>
            </a:r>
          </a:p>
        </p:txBody>
      </p:sp>
    </p:spTree>
    <p:extLst>
      <p:ext uri="{BB962C8B-B14F-4D97-AF65-F5344CB8AC3E}">
        <p14:creationId xmlns:p14="http://schemas.microsoft.com/office/powerpoint/2010/main" val="41449584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AA7F-3AD1-A4B2-392F-C3C35890D9EF}"/>
              </a:ext>
            </a:extLst>
          </p:cNvPr>
          <p:cNvSpPr>
            <a:spLocks noGrp="1"/>
          </p:cNvSpPr>
          <p:nvPr>
            <p:ph type="title"/>
          </p:nvPr>
        </p:nvSpPr>
        <p:spPr/>
        <p:txBody>
          <a:bodyPr/>
          <a:lstStyle/>
          <a:p>
            <a:r>
              <a:rPr lang="en-US" dirty="0"/>
              <a:t>PROSTATE</a:t>
            </a:r>
            <a:br>
              <a:rPr lang="en-US" dirty="0"/>
            </a:br>
            <a:endParaRPr lang="en-US" dirty="0"/>
          </a:p>
        </p:txBody>
      </p:sp>
      <p:sp>
        <p:nvSpPr>
          <p:cNvPr id="3" name="Content Placeholder 2">
            <a:extLst>
              <a:ext uri="{FF2B5EF4-FFF2-40B4-BE49-F238E27FC236}">
                <a16:creationId xmlns:a16="http://schemas.microsoft.com/office/drawing/2014/main" id="{F894BA59-3CC4-4F7B-A7E6-861F1AA95B2B}"/>
              </a:ext>
            </a:extLst>
          </p:cNvPr>
          <p:cNvSpPr>
            <a:spLocks noGrp="1"/>
          </p:cNvSpPr>
          <p:nvPr>
            <p:ph idx="1"/>
          </p:nvPr>
        </p:nvSpPr>
        <p:spPr/>
        <p:txBody>
          <a:bodyPr>
            <a:normAutofit/>
          </a:bodyPr>
          <a:lstStyle/>
          <a:p>
            <a:r>
              <a:rPr lang="en-US" dirty="0"/>
              <a:t>A. Small, round organ that lies at the base of the bladder encircling the urethra</a:t>
            </a:r>
          </a:p>
          <a:p>
            <a:r>
              <a:rPr lang="en-US" dirty="0"/>
              <a:t>B. Sits anterior to the rectum; posterior aspect of prostate is palpable by digital rectal exam (DRE).</a:t>
            </a:r>
          </a:p>
          <a:p>
            <a:r>
              <a:rPr lang="en-US" dirty="0"/>
              <a:t>C. Consists of glands and stroma (Fig. 14.9)</a:t>
            </a:r>
          </a:p>
          <a:p>
            <a:r>
              <a:rPr lang="en-US" dirty="0"/>
              <a:t>1. Glands are composed of an inner layer of luminal cells and an outer layer of basal cells; secrete alkaline, milky fluid that is added to sperm and seminal vesicle fluid to make semen.</a:t>
            </a:r>
          </a:p>
          <a:p>
            <a:r>
              <a:rPr lang="en-US" dirty="0"/>
              <a:t>2. Glands and stroma are maintained by androgens.</a:t>
            </a:r>
          </a:p>
        </p:txBody>
      </p:sp>
    </p:spTree>
    <p:extLst>
      <p:ext uri="{BB962C8B-B14F-4D97-AF65-F5344CB8AC3E}">
        <p14:creationId xmlns:p14="http://schemas.microsoft.com/office/powerpoint/2010/main" val="34376085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6A459-0BDC-17A3-5C66-D386D0899B63}"/>
              </a:ext>
            </a:extLst>
          </p:cNvPr>
          <p:cNvSpPr>
            <a:spLocks noGrp="1"/>
          </p:cNvSpPr>
          <p:nvPr>
            <p:ph type="title"/>
          </p:nvPr>
        </p:nvSpPr>
        <p:spPr/>
        <p:txBody>
          <a:bodyPr/>
          <a:lstStyle/>
          <a:p>
            <a:r>
              <a:rPr lang="en-US" dirty="0"/>
              <a:t>ACUTE PROSTATITIS</a:t>
            </a:r>
          </a:p>
        </p:txBody>
      </p:sp>
      <p:sp>
        <p:nvSpPr>
          <p:cNvPr id="3" name="Content Placeholder 2">
            <a:extLst>
              <a:ext uri="{FF2B5EF4-FFF2-40B4-BE49-F238E27FC236}">
                <a16:creationId xmlns:a16="http://schemas.microsoft.com/office/drawing/2014/main" id="{8E05F5D4-206B-E5DF-A1F5-9974E4756D3C}"/>
              </a:ext>
            </a:extLst>
          </p:cNvPr>
          <p:cNvSpPr>
            <a:spLocks noGrp="1"/>
          </p:cNvSpPr>
          <p:nvPr>
            <p:ph idx="1"/>
          </p:nvPr>
        </p:nvSpPr>
        <p:spPr/>
        <p:txBody>
          <a:bodyPr/>
          <a:lstStyle/>
          <a:p>
            <a:r>
              <a:rPr lang="en-US" dirty="0"/>
              <a:t>A. Acute inflammation of the prostate; usually due to bacteria</a:t>
            </a:r>
          </a:p>
          <a:p>
            <a:r>
              <a:rPr lang="en-US" dirty="0"/>
              <a:t>1. Chlamydia trachomatis and Neisseria gonorrhoeae are common causes in young adults.</a:t>
            </a:r>
          </a:p>
          <a:p>
            <a:r>
              <a:rPr lang="en-US" dirty="0"/>
              <a:t>2. Escherichia coli and Pseudomonas are common causes in older adults.</a:t>
            </a:r>
          </a:p>
          <a:p>
            <a:r>
              <a:rPr lang="en-US" dirty="0"/>
              <a:t>B. Presents as dysuria with fever and chills</a:t>
            </a:r>
          </a:p>
          <a:p>
            <a:r>
              <a:rPr lang="en-US" dirty="0"/>
              <a:t>C. Prostate is tender and boggy on digital rectal exam.</a:t>
            </a:r>
          </a:p>
          <a:p>
            <a:r>
              <a:rPr lang="en-US" dirty="0"/>
              <a:t>D. Prostatic secretions show WBCs; culture reveals bacteria.</a:t>
            </a:r>
          </a:p>
        </p:txBody>
      </p:sp>
    </p:spTree>
    <p:extLst>
      <p:ext uri="{BB962C8B-B14F-4D97-AF65-F5344CB8AC3E}">
        <p14:creationId xmlns:p14="http://schemas.microsoft.com/office/powerpoint/2010/main" val="36035026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5DDFC-7985-0D95-6F4A-C0C60A8D856E}"/>
              </a:ext>
            </a:extLst>
          </p:cNvPr>
          <p:cNvSpPr>
            <a:spLocks noGrp="1"/>
          </p:cNvSpPr>
          <p:nvPr>
            <p:ph type="title"/>
          </p:nvPr>
        </p:nvSpPr>
        <p:spPr/>
        <p:txBody>
          <a:bodyPr/>
          <a:lstStyle/>
          <a:p>
            <a:r>
              <a:rPr lang="en-US" dirty="0"/>
              <a:t>CHRONIC PROSTATITIS</a:t>
            </a:r>
          </a:p>
        </p:txBody>
      </p:sp>
      <p:sp>
        <p:nvSpPr>
          <p:cNvPr id="3" name="Content Placeholder 2">
            <a:extLst>
              <a:ext uri="{FF2B5EF4-FFF2-40B4-BE49-F238E27FC236}">
                <a16:creationId xmlns:a16="http://schemas.microsoft.com/office/drawing/2014/main" id="{9FFD671F-911C-71EB-3C56-CB7D59994A43}"/>
              </a:ext>
            </a:extLst>
          </p:cNvPr>
          <p:cNvSpPr>
            <a:spLocks noGrp="1"/>
          </p:cNvSpPr>
          <p:nvPr>
            <p:ph idx="1"/>
          </p:nvPr>
        </p:nvSpPr>
        <p:spPr/>
        <p:txBody>
          <a:bodyPr/>
          <a:lstStyle/>
          <a:p>
            <a:r>
              <a:rPr lang="en-US" dirty="0"/>
              <a:t>A. Chronic inflammation of prostate</a:t>
            </a:r>
          </a:p>
          <a:p>
            <a:r>
              <a:rPr lang="en-US" dirty="0"/>
              <a:t>B. Presents as dysuria with pelvic or low back pain</a:t>
            </a:r>
          </a:p>
          <a:p>
            <a:r>
              <a:rPr lang="en-US" dirty="0"/>
              <a:t>C. Prostatic secretions show WBCs, but cultures are negative.</a:t>
            </a:r>
          </a:p>
        </p:txBody>
      </p:sp>
    </p:spTree>
    <p:extLst>
      <p:ext uri="{BB962C8B-B14F-4D97-AF65-F5344CB8AC3E}">
        <p14:creationId xmlns:p14="http://schemas.microsoft.com/office/powerpoint/2010/main" val="13380588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4ABB9-64CE-001E-E0F6-4E2017D5B2C7}"/>
              </a:ext>
            </a:extLst>
          </p:cNvPr>
          <p:cNvSpPr>
            <a:spLocks noGrp="1"/>
          </p:cNvSpPr>
          <p:nvPr>
            <p:ph type="title"/>
          </p:nvPr>
        </p:nvSpPr>
        <p:spPr/>
        <p:txBody>
          <a:bodyPr/>
          <a:lstStyle/>
          <a:p>
            <a:r>
              <a:rPr lang="en-US" dirty="0"/>
              <a:t>BENIGN PROSTATIC HYPERPLASIA (BPH)</a:t>
            </a:r>
          </a:p>
        </p:txBody>
      </p:sp>
      <p:sp>
        <p:nvSpPr>
          <p:cNvPr id="3" name="Content Placeholder 2">
            <a:extLst>
              <a:ext uri="{FF2B5EF4-FFF2-40B4-BE49-F238E27FC236}">
                <a16:creationId xmlns:a16="http://schemas.microsoft.com/office/drawing/2014/main" id="{F1056E6E-CF68-5A71-9195-C45F98CD6524}"/>
              </a:ext>
            </a:extLst>
          </p:cNvPr>
          <p:cNvSpPr>
            <a:spLocks noGrp="1"/>
          </p:cNvSpPr>
          <p:nvPr>
            <p:ph idx="1"/>
          </p:nvPr>
        </p:nvSpPr>
        <p:spPr/>
        <p:txBody>
          <a:bodyPr>
            <a:normAutofit/>
          </a:bodyPr>
          <a:lstStyle/>
          <a:p>
            <a:r>
              <a:rPr lang="en-US" dirty="0"/>
              <a:t>A. Hyperplasia of prostatic stroma and glands</a:t>
            </a:r>
          </a:p>
          <a:p>
            <a:r>
              <a:rPr lang="en-US" dirty="0"/>
              <a:t>B. Age-related change (present in most men by the age of 60 years); no increased risk for cancer</a:t>
            </a:r>
          </a:p>
          <a:p>
            <a:r>
              <a:rPr lang="en-US" dirty="0"/>
              <a:t>C. Related to dihydrotestosterone (DHT)</a:t>
            </a:r>
          </a:p>
          <a:p>
            <a:r>
              <a:rPr lang="en-US" dirty="0"/>
              <a:t>1. Testosterone is converted to DHT by 5 α - reductase in stromal cells.</a:t>
            </a:r>
          </a:p>
          <a:p>
            <a:r>
              <a:rPr lang="en-US" dirty="0"/>
              <a:t>2. DHT acts on the androgen receptor of stromal and epithelial cells resulting in hyperplastic nodules.</a:t>
            </a:r>
          </a:p>
          <a:p>
            <a:r>
              <a:rPr lang="en-US" dirty="0"/>
              <a:t>D. Occurs in the central periurethral zone of the prostate</a:t>
            </a:r>
          </a:p>
        </p:txBody>
      </p:sp>
    </p:spTree>
    <p:extLst>
      <p:ext uri="{BB962C8B-B14F-4D97-AF65-F5344CB8AC3E}">
        <p14:creationId xmlns:p14="http://schemas.microsoft.com/office/powerpoint/2010/main" val="19986722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EDDB0-1183-C813-1044-B382F738AF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C1C87B-3D9E-50B4-F881-96984C8971A6}"/>
              </a:ext>
            </a:extLst>
          </p:cNvPr>
          <p:cNvSpPr>
            <a:spLocks noGrp="1"/>
          </p:cNvSpPr>
          <p:nvPr>
            <p:ph idx="1"/>
          </p:nvPr>
        </p:nvSpPr>
        <p:spPr/>
        <p:txBody>
          <a:bodyPr>
            <a:normAutofit fontScale="92500" lnSpcReduction="10000"/>
          </a:bodyPr>
          <a:lstStyle/>
          <a:p>
            <a:r>
              <a:rPr lang="en-US" dirty="0"/>
              <a:t>E. Clinical features include</a:t>
            </a:r>
          </a:p>
          <a:p>
            <a:r>
              <a:rPr lang="en-US" dirty="0"/>
              <a:t>1. Problems starting and stopping urine stream</a:t>
            </a:r>
          </a:p>
          <a:p>
            <a:r>
              <a:rPr lang="en-US" dirty="0"/>
              <a:t>2. Impaired bladder emptying with increased risk for infection and hydronephrosis.</a:t>
            </a:r>
          </a:p>
          <a:p>
            <a:r>
              <a:rPr lang="en-US" dirty="0"/>
              <a:t>3. Dribbling</a:t>
            </a:r>
          </a:p>
          <a:p>
            <a:r>
              <a:rPr lang="en-US" dirty="0"/>
              <a:t>4. Hypertrophy of bladder wall smooth muscle; increased risk for bladder diverticula</a:t>
            </a:r>
          </a:p>
          <a:p>
            <a:r>
              <a:rPr lang="en-US" dirty="0"/>
              <a:t>5. Microscopic hematuria may be present.</a:t>
            </a:r>
          </a:p>
          <a:p>
            <a:r>
              <a:rPr lang="en-US" dirty="0"/>
              <a:t>6. Prostate-specific antigen (PSA) is often slightly elevated (usually less than 10 ng/mL) due to the increased number of glands; PSA is made by prostatic glands and liquefies semen.</a:t>
            </a:r>
          </a:p>
        </p:txBody>
      </p:sp>
    </p:spTree>
    <p:extLst>
      <p:ext uri="{BB962C8B-B14F-4D97-AF65-F5344CB8AC3E}">
        <p14:creationId xmlns:p14="http://schemas.microsoft.com/office/powerpoint/2010/main" val="34074661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7C574-63C5-E37E-6D84-2B89868799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ABD6BA-12E5-BFD6-FA7B-ECDEE58E6C22}"/>
              </a:ext>
            </a:extLst>
          </p:cNvPr>
          <p:cNvSpPr>
            <a:spLocks noGrp="1"/>
          </p:cNvSpPr>
          <p:nvPr>
            <p:ph idx="1"/>
          </p:nvPr>
        </p:nvSpPr>
        <p:spPr/>
        <p:txBody>
          <a:bodyPr>
            <a:normAutofit fontScale="92500" lnSpcReduction="10000"/>
          </a:bodyPr>
          <a:lstStyle/>
          <a:p>
            <a:r>
              <a:rPr lang="en-US" dirty="0"/>
              <a:t>F. Treatment</a:t>
            </a:r>
          </a:p>
          <a:p>
            <a:r>
              <a:rPr lang="en-US" dirty="0"/>
              <a:t>1. </a:t>
            </a:r>
            <a:r>
              <a:rPr lang="el-GR" dirty="0"/>
              <a:t>α1-</a:t>
            </a:r>
            <a:r>
              <a:rPr lang="en-US" dirty="0"/>
              <a:t>antagonist (e.g., terazosin) to relax smooth muscle</a:t>
            </a:r>
          </a:p>
          <a:p>
            <a:r>
              <a:rPr lang="en-US" dirty="0" err="1"/>
              <a:t>i</a:t>
            </a:r>
            <a:r>
              <a:rPr lang="en-US" dirty="0"/>
              <a:t>. Also relaxes vascular smooth muscle lowering blood pressure</a:t>
            </a:r>
          </a:p>
          <a:p>
            <a:r>
              <a:rPr lang="en-US" dirty="0"/>
              <a:t>ii. Selective </a:t>
            </a:r>
            <a:r>
              <a:rPr lang="el-GR" dirty="0"/>
              <a:t>α 1</a:t>
            </a:r>
            <a:r>
              <a:rPr lang="en-US" dirty="0"/>
              <a:t>A-antagonists (e.g., tamsulosin) are used in normotensive individuals to avoid </a:t>
            </a:r>
            <a:r>
              <a:rPr lang="el-GR" dirty="0"/>
              <a:t>α1</a:t>
            </a:r>
            <a:r>
              <a:rPr lang="en-US" dirty="0"/>
              <a:t>B effects on blood vessels.</a:t>
            </a:r>
          </a:p>
          <a:p>
            <a:r>
              <a:rPr lang="en-US" dirty="0"/>
              <a:t>2. 5</a:t>
            </a:r>
            <a:r>
              <a:rPr lang="el-GR" dirty="0"/>
              <a:t>α-</a:t>
            </a:r>
            <a:r>
              <a:rPr lang="en-US" dirty="0"/>
              <a:t>reductase inhibitor</a:t>
            </a:r>
          </a:p>
          <a:p>
            <a:r>
              <a:rPr lang="en-US" dirty="0" err="1"/>
              <a:t>i</a:t>
            </a:r>
            <a:r>
              <a:rPr lang="en-US" dirty="0"/>
              <a:t>. Blocks conversion of testosterone to DHT</a:t>
            </a:r>
          </a:p>
          <a:p>
            <a:r>
              <a:rPr lang="en-US" dirty="0"/>
              <a:t>ii. Takes months to produce results</a:t>
            </a:r>
          </a:p>
          <a:p>
            <a:r>
              <a:rPr lang="en-US" dirty="0"/>
              <a:t>iii. Also useful for male pattern baldness</a:t>
            </a:r>
          </a:p>
          <a:p>
            <a:r>
              <a:rPr lang="en-US" dirty="0"/>
              <a:t>iv. Side effects are gynecomastia and sexual dysfunction.</a:t>
            </a:r>
          </a:p>
        </p:txBody>
      </p:sp>
    </p:spTree>
    <p:extLst>
      <p:ext uri="{BB962C8B-B14F-4D97-AF65-F5344CB8AC3E}">
        <p14:creationId xmlns:p14="http://schemas.microsoft.com/office/powerpoint/2010/main" val="30646833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0DB0A-FD25-56DB-DEF8-CA01FA415816}"/>
              </a:ext>
            </a:extLst>
          </p:cNvPr>
          <p:cNvSpPr>
            <a:spLocks noGrp="1"/>
          </p:cNvSpPr>
          <p:nvPr>
            <p:ph type="title"/>
          </p:nvPr>
        </p:nvSpPr>
        <p:spPr/>
        <p:txBody>
          <a:bodyPr/>
          <a:lstStyle/>
          <a:p>
            <a:r>
              <a:rPr lang="en-US" dirty="0"/>
              <a:t>PROSTATE ADENOCARCINOMA</a:t>
            </a:r>
          </a:p>
        </p:txBody>
      </p:sp>
      <p:sp>
        <p:nvSpPr>
          <p:cNvPr id="3" name="Content Placeholder 2">
            <a:extLst>
              <a:ext uri="{FF2B5EF4-FFF2-40B4-BE49-F238E27FC236}">
                <a16:creationId xmlns:a16="http://schemas.microsoft.com/office/drawing/2014/main" id="{485F457A-5ECB-5D5E-78F3-CCEDFAF52891}"/>
              </a:ext>
            </a:extLst>
          </p:cNvPr>
          <p:cNvSpPr>
            <a:spLocks noGrp="1"/>
          </p:cNvSpPr>
          <p:nvPr>
            <p:ph idx="1"/>
          </p:nvPr>
        </p:nvSpPr>
        <p:spPr/>
        <p:txBody>
          <a:bodyPr>
            <a:normAutofit fontScale="77500" lnSpcReduction="20000"/>
          </a:bodyPr>
          <a:lstStyle/>
          <a:p>
            <a:r>
              <a:rPr lang="en-US" dirty="0"/>
              <a:t>A. Malignant proliferation of prostatic glands</a:t>
            </a:r>
          </a:p>
          <a:p>
            <a:r>
              <a:rPr lang="en-US" dirty="0"/>
              <a:t>B. Most common cancer in men; 2nd most common cause of cancer-related death</a:t>
            </a:r>
          </a:p>
          <a:p>
            <a:r>
              <a:rPr lang="en-US" dirty="0"/>
              <a:t>C. Risk factors include age, race (African Americans &gt; Caucasians &gt; Asians), and diet high in saturated fats.</a:t>
            </a:r>
          </a:p>
          <a:p>
            <a:r>
              <a:rPr lang="en-US" dirty="0"/>
              <a:t>D. Prostatic carcinoma is most often clinically silent.</a:t>
            </a:r>
          </a:p>
          <a:p>
            <a:r>
              <a:rPr lang="en-US" dirty="0"/>
              <a:t>1. Usually arises in the peripheral, posterior region of the prostate and, hence, does not produce urinary symptoms early on.</a:t>
            </a:r>
          </a:p>
          <a:p>
            <a:r>
              <a:rPr lang="en-US" dirty="0"/>
              <a:t>2. Screening begins at the age of 50 years with DRE and PSA.</a:t>
            </a:r>
          </a:p>
          <a:p>
            <a:r>
              <a:rPr lang="en-US" dirty="0" err="1"/>
              <a:t>i</a:t>
            </a:r>
            <a:r>
              <a:rPr lang="en-US" dirty="0"/>
              <a:t>. Normal serum PSA increases with age due to BPH (2.5 ng/mL for ages 40-49 years vs. 7.5 ng/mL for ages 70-79 years)</a:t>
            </a:r>
          </a:p>
          <a:p>
            <a:r>
              <a:rPr lang="en-US" dirty="0"/>
              <a:t>ii. PSA &gt; 10 ng/mL is highly worrisome at any age.</a:t>
            </a:r>
          </a:p>
          <a:p>
            <a:r>
              <a:rPr lang="en-US" dirty="0"/>
              <a:t>iii. Decreased % free-PSA is suggestive of cancer (cancer makes bound PSA).</a:t>
            </a:r>
          </a:p>
        </p:txBody>
      </p:sp>
    </p:spTree>
    <p:extLst>
      <p:ext uri="{BB962C8B-B14F-4D97-AF65-F5344CB8AC3E}">
        <p14:creationId xmlns:p14="http://schemas.microsoft.com/office/powerpoint/2010/main" val="26821010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D9FB-1F16-8749-8E1B-BA929B6C56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00408D-133A-652F-6FDA-6C5693AC5BF1}"/>
              </a:ext>
            </a:extLst>
          </p:cNvPr>
          <p:cNvSpPr>
            <a:spLocks noGrp="1"/>
          </p:cNvSpPr>
          <p:nvPr>
            <p:ph idx="1"/>
          </p:nvPr>
        </p:nvSpPr>
        <p:spPr/>
        <p:txBody>
          <a:bodyPr>
            <a:normAutofit/>
          </a:bodyPr>
          <a:lstStyle/>
          <a:p>
            <a:r>
              <a:rPr lang="en-US" dirty="0"/>
              <a:t>E. Prostatic biopsy is required to confirm the presence of carcinoma.</a:t>
            </a:r>
          </a:p>
          <a:p>
            <a:r>
              <a:rPr lang="en-US" dirty="0"/>
              <a:t>1. Shows small, invasive glands with prominent nucleoli.</a:t>
            </a:r>
          </a:p>
          <a:p>
            <a:r>
              <a:rPr lang="en-US" dirty="0"/>
              <a:t>2. Gleason grading system is based on architecture alone (and not nuclear atypia).</a:t>
            </a:r>
          </a:p>
          <a:p>
            <a:r>
              <a:rPr lang="en-US" dirty="0" err="1"/>
              <a:t>i</a:t>
            </a:r>
            <a:r>
              <a:rPr lang="en-US" dirty="0"/>
              <a:t>. Multiple regions of the tumor are assessed because architecture varies from area to area.</a:t>
            </a:r>
          </a:p>
          <a:p>
            <a:r>
              <a:rPr lang="en-US" dirty="0"/>
              <a:t>ii. A score (1-5) is assigned for two distinct areas and then added to produce a final score (2-10).</a:t>
            </a:r>
          </a:p>
          <a:p>
            <a:r>
              <a:rPr lang="en-US" dirty="0"/>
              <a:t>iii. Higher score suggests worse prognosis.</a:t>
            </a:r>
          </a:p>
        </p:txBody>
      </p:sp>
    </p:spTree>
    <p:extLst>
      <p:ext uri="{BB962C8B-B14F-4D97-AF65-F5344CB8AC3E}">
        <p14:creationId xmlns:p14="http://schemas.microsoft.com/office/powerpoint/2010/main" val="41641826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E7CBA-9958-FDFA-54A6-6B02B5AF1C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AE5943-FE86-EB10-15D6-2514C3F98FE0}"/>
              </a:ext>
            </a:extLst>
          </p:cNvPr>
          <p:cNvSpPr>
            <a:spLocks noGrp="1"/>
          </p:cNvSpPr>
          <p:nvPr>
            <p:ph idx="1"/>
          </p:nvPr>
        </p:nvSpPr>
        <p:spPr/>
        <p:txBody>
          <a:bodyPr>
            <a:normAutofit/>
          </a:bodyPr>
          <a:lstStyle/>
          <a:p>
            <a:r>
              <a:rPr lang="en-US" dirty="0"/>
              <a:t>F. Spread to lumbar spine or pelvis is common; results in osteoblastic metastases that present as low back pain and increased serum alkaline </a:t>
            </a:r>
            <a:r>
              <a:rPr lang="en-US" dirty="0" err="1"/>
              <a:t>phosphatase,PSA</a:t>
            </a:r>
            <a:r>
              <a:rPr lang="en-US" dirty="0"/>
              <a:t>, and prostatic acid phosphatase (PAP)</a:t>
            </a:r>
          </a:p>
          <a:p>
            <a:r>
              <a:rPr lang="en-US" dirty="0"/>
              <a:t>G. Prostatectomy is performed for localized disease; advanced disease is treated with hormone suppression to reduce testosterone and DHT.</a:t>
            </a:r>
          </a:p>
          <a:p>
            <a:r>
              <a:rPr lang="en-US" dirty="0"/>
              <a:t>1. Continuous GnRH analogs (e.g., leuprolide) shut down the anterior pituitary gonadotrophs (LH and FSH are reduced).</a:t>
            </a:r>
          </a:p>
          <a:p>
            <a:r>
              <a:rPr lang="en-US" dirty="0"/>
              <a:t>2. Flutamide acts as a competitive inhibitor at the androgen receptor.</a:t>
            </a:r>
          </a:p>
        </p:txBody>
      </p:sp>
    </p:spTree>
    <p:extLst>
      <p:ext uri="{BB962C8B-B14F-4D97-AF65-F5344CB8AC3E}">
        <p14:creationId xmlns:p14="http://schemas.microsoft.com/office/powerpoint/2010/main" val="17409540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09BE9-45B2-BCF7-A0C8-308CFFF6F0F1}"/>
              </a:ext>
            </a:extLst>
          </p:cNvPr>
          <p:cNvSpPr>
            <a:spLocks noGrp="1"/>
          </p:cNvSpPr>
          <p:nvPr>
            <p:ph type="title"/>
          </p:nvPr>
        </p:nvSpPr>
        <p:spPr/>
        <p:txBody>
          <a:bodyPr/>
          <a:lstStyle/>
          <a:p>
            <a:r>
              <a:rPr lang="en-US" dirty="0"/>
              <a:t>Resources</a:t>
            </a:r>
            <a:br>
              <a:rPr lang="en-US" dirty="0"/>
            </a:br>
            <a:endParaRPr lang="en-US" dirty="0"/>
          </a:p>
        </p:txBody>
      </p:sp>
      <p:sp>
        <p:nvSpPr>
          <p:cNvPr id="3" name="Content Placeholder 2">
            <a:extLst>
              <a:ext uri="{FF2B5EF4-FFF2-40B4-BE49-F238E27FC236}">
                <a16:creationId xmlns:a16="http://schemas.microsoft.com/office/drawing/2014/main" id="{1CAA95DD-1C81-0006-9997-711B3BE4BDFD}"/>
              </a:ext>
            </a:extLst>
          </p:cNvPr>
          <p:cNvSpPr>
            <a:spLocks noGrp="1"/>
          </p:cNvSpPr>
          <p:nvPr>
            <p:ph idx="1"/>
          </p:nvPr>
        </p:nvSpPr>
        <p:spPr/>
        <p:txBody>
          <a:bodyPr/>
          <a:lstStyle/>
          <a:p>
            <a:r>
              <a:rPr lang="en-US" dirty="0" err="1"/>
              <a:t>Pathoma</a:t>
            </a:r>
            <a:r>
              <a:rPr lang="en-US" dirty="0"/>
              <a:t>, fundamentals of pathology, </a:t>
            </a:r>
            <a:r>
              <a:rPr lang="en-US" dirty="0" err="1"/>
              <a:t>Hussian</a:t>
            </a:r>
            <a:r>
              <a:rPr lang="en-US" dirty="0"/>
              <a:t> Sattar, 2021</a:t>
            </a:r>
          </a:p>
        </p:txBody>
      </p:sp>
    </p:spTree>
    <p:extLst>
      <p:ext uri="{BB962C8B-B14F-4D97-AF65-F5344CB8AC3E}">
        <p14:creationId xmlns:p14="http://schemas.microsoft.com/office/powerpoint/2010/main" val="3393264316"/>
      </p:ext>
    </p:extLst>
  </p:cSld>
  <p:clrMapOvr>
    <a:masterClrMapping/>
  </p:clrMapOvr>
</p:sld>
</file>

<file path=ppt/theme/theme1.xml><?xml version="1.0" encoding="utf-8"?>
<a:theme xmlns:a="http://schemas.openxmlformats.org/drawingml/2006/main" name="Office Theme">
  <a:themeElements>
    <a:clrScheme name="Office">
      <a:dk1>
        <a:sysClr val="windowText" lastClr="979797"/>
      </a:dk1>
      <a:lt1>
        <a:sysClr val="window" lastClr="20202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979797"/>
      </a:dk1>
      <a:lt1>
        <a:sysClr val="window" lastClr="20202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5227</Words>
  <Application>Microsoft Office PowerPoint</Application>
  <PresentationFormat>Widescreen</PresentationFormat>
  <Paragraphs>404</Paragraphs>
  <Slides>72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Arial</vt:lpstr>
      <vt:lpstr>Calibri</vt:lpstr>
      <vt:lpstr>Calibri Light</vt:lpstr>
      <vt:lpstr>MinionPro-Bold-Identity-H</vt:lpstr>
      <vt:lpstr>MinionPro-It-Identity-H</vt:lpstr>
      <vt:lpstr>MinionPro-Regular-Identity-H</vt:lpstr>
      <vt:lpstr>Wingdings</vt:lpstr>
      <vt:lpstr>Office Theme</vt:lpstr>
      <vt:lpstr>Pathology of the kidney and urinary system</vt:lpstr>
      <vt:lpstr>Outline</vt:lpstr>
      <vt:lpstr>Congenital renal disorders</vt:lpstr>
      <vt:lpstr>PowerPoint Presentation</vt:lpstr>
      <vt:lpstr>PowerPoint Presentation</vt:lpstr>
      <vt:lpstr>ACUTE RENAL FAILURE (ARF)</vt:lpstr>
      <vt:lpstr>PRERENAL AZOTEMIA</vt:lpstr>
      <vt:lpstr>POSTRENAL AZOTEMIA</vt:lpstr>
      <vt:lpstr>ACUTE TUBULAR NECROSIS</vt:lpstr>
      <vt:lpstr>PowerPoint Presentation</vt:lpstr>
      <vt:lpstr>PowerPoint Presentation</vt:lpstr>
      <vt:lpstr>Clinical features</vt:lpstr>
      <vt:lpstr>ACUTE INTERSTITIAL NEPHRITIS</vt:lpstr>
      <vt:lpstr>RENAL PAPILLARY NECROSIS</vt:lpstr>
      <vt:lpstr>NEPHROTIC SYNDROME</vt:lpstr>
      <vt:lpstr>MINIMAL CHANGE DISEASE (MCD)</vt:lpstr>
      <vt:lpstr>FOCAL SEGMENTAL GLOMERULOSCLEROSIS (FSGS)</vt:lpstr>
      <vt:lpstr>PowerPoint Presentation</vt:lpstr>
      <vt:lpstr>MEMBRANOUS NEPHROPATHY</vt:lpstr>
      <vt:lpstr>MEMBRANOPROLIFERA TIVE GLOMERULONEPHRITIS</vt:lpstr>
      <vt:lpstr>DIABETES MELLITUS</vt:lpstr>
      <vt:lpstr>SYSTEMIC AMYLOIDOSIS</vt:lpstr>
      <vt:lpstr>NEPHRITIC SYNDROME</vt:lpstr>
      <vt:lpstr>POSTSTREPTOCOCCAL GLOMERULONEPHRITIS (PSGN)</vt:lpstr>
      <vt:lpstr>PowerPoint Presentation</vt:lpstr>
      <vt:lpstr>RAPIDLY PROGRESSIVE GLOMERULONEPHRITIS</vt:lpstr>
      <vt:lpstr>PowerPoint Presentation</vt:lpstr>
      <vt:lpstr>IgA NEPHROPATHY (BERGER DISEASE)</vt:lpstr>
      <vt:lpstr>ALPORT SYNDROME</vt:lpstr>
      <vt:lpstr>URINARY TRACT INFECTION</vt:lpstr>
      <vt:lpstr>CYSTITIS</vt:lpstr>
      <vt:lpstr>PowerPoint Presentation</vt:lpstr>
      <vt:lpstr>PYELONEPHRITIS</vt:lpstr>
      <vt:lpstr>CHRONIC PYELONEPHRITIS</vt:lpstr>
      <vt:lpstr>NEPHROLITHIASIS</vt:lpstr>
      <vt:lpstr>PowerPoint Presentation</vt:lpstr>
      <vt:lpstr>CHRONIC RENAL FAILURE</vt:lpstr>
      <vt:lpstr>PowerPoint Presentation</vt:lpstr>
      <vt:lpstr>RENAL NEOPLASIA</vt:lpstr>
      <vt:lpstr>RENAL CELL CARCINOMA</vt:lpstr>
      <vt:lpstr>PowerPoint Presentation</vt:lpstr>
      <vt:lpstr>PowerPoint Presentation</vt:lpstr>
      <vt:lpstr>WILMS TUMOR</vt:lpstr>
      <vt:lpstr>PowerPoint Presentation</vt:lpstr>
      <vt:lpstr>UROTHELIAL (TRANSITIONAL CELL) CARCINOMA</vt:lpstr>
      <vt:lpstr>PowerPoint Presentation</vt:lpstr>
      <vt:lpstr>SQUAMOUS CELL CARCINOMA</vt:lpstr>
      <vt:lpstr>ADENOCARCINOMA</vt:lpstr>
      <vt:lpstr>MALE GENITAL PATHOLOGY</vt:lpstr>
      <vt:lpstr>PowerPoint Presentation</vt:lpstr>
      <vt:lpstr>SQUAMOUS CELL CARCINOMA </vt:lpstr>
      <vt:lpstr>TESTICLE</vt:lpstr>
      <vt:lpstr>ORCHITIS</vt:lpstr>
      <vt:lpstr>TESTICULAR TORSION </vt:lpstr>
      <vt:lpstr>VARICOCELE</vt:lpstr>
      <vt:lpstr>HYDROCELE</vt:lpstr>
      <vt:lpstr>TESTICULAR TUMORS</vt:lpstr>
      <vt:lpstr>GERM CELL TUMORS</vt:lpstr>
      <vt:lpstr>PowerPoint Presentation</vt:lpstr>
      <vt:lpstr>PowerPoint Presentation</vt:lpstr>
      <vt:lpstr>PowerPoint Presentation</vt:lpstr>
      <vt:lpstr>SEX CORD-STROMAL TUMORS </vt:lpstr>
      <vt:lpstr>PROSTATE </vt:lpstr>
      <vt:lpstr>ACUTE PROSTATITIS</vt:lpstr>
      <vt:lpstr>CHRONIC PROSTATITIS</vt:lpstr>
      <vt:lpstr>BENIGN PROSTATIC HYPERPLASIA (BPH)</vt:lpstr>
      <vt:lpstr>PowerPoint Presentation</vt:lpstr>
      <vt:lpstr>PowerPoint Presentation</vt:lpstr>
      <vt:lpstr>PROSTATE ADENOCARCINOMA</vt:lpstr>
      <vt:lpstr>PowerPoint Presentation</vt:lpstr>
      <vt:lpstr>PowerPoint Presentation</vt:lpstr>
      <vt:lpstr>Resources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Pathology of the kidney and urinary system</dc:title>
  <dc:creator>user</dc:creator>
  <cp:lastModifiedBy>user</cp:lastModifiedBy>
  <cp:revision>5</cp:revision>
  <dcterms:created xsi:type="dcterms:W3CDTF">2023-12-22T15:04:44Z</dcterms:created>
  <dcterms:modified xsi:type="dcterms:W3CDTF">2023-12-26T03:39:08Z</dcterms:modified>
</cp:coreProperties>
</file>