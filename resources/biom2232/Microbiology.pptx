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88" r:id="rId2"/>
    <p:sldId id="257" r:id="rId3"/>
    <p:sldId id="388" r:id="rId4"/>
    <p:sldId id="261" r:id="rId5"/>
    <p:sldId id="285" r:id="rId6"/>
    <p:sldId id="258" r:id="rId7"/>
    <p:sldId id="284" r:id="rId8"/>
    <p:sldId id="287" r:id="rId9"/>
    <p:sldId id="260" r:id="rId10"/>
    <p:sldId id="267" r:id="rId11"/>
    <p:sldId id="289" r:id="rId12"/>
    <p:sldId id="387" r:id="rId13"/>
    <p:sldId id="292" r:id="rId14"/>
    <p:sldId id="336" r:id="rId15"/>
    <p:sldId id="339" r:id="rId16"/>
    <p:sldId id="340" r:id="rId17"/>
    <p:sldId id="341" r:id="rId18"/>
    <p:sldId id="342" r:id="rId19"/>
    <p:sldId id="346" r:id="rId20"/>
    <p:sldId id="347" r:id="rId21"/>
    <p:sldId id="348" r:id="rId22"/>
    <p:sldId id="293" r:id="rId23"/>
    <p:sldId id="363" r:id="rId24"/>
    <p:sldId id="350" r:id="rId25"/>
    <p:sldId id="351" r:id="rId26"/>
    <p:sldId id="352" r:id="rId27"/>
    <p:sldId id="353" r:id="rId28"/>
    <p:sldId id="354" r:id="rId29"/>
    <p:sldId id="384" r:id="rId30"/>
    <p:sldId id="365" r:id="rId31"/>
    <p:sldId id="366" r:id="rId32"/>
    <p:sldId id="367" r:id="rId33"/>
    <p:sldId id="368" r:id="rId34"/>
    <p:sldId id="369" r:id="rId35"/>
    <p:sldId id="370" r:id="rId36"/>
    <p:sldId id="371" r:id="rId37"/>
    <p:sldId id="372" r:id="rId38"/>
    <p:sldId id="373" r:id="rId39"/>
    <p:sldId id="374" r:id="rId40"/>
    <p:sldId id="375" r:id="rId41"/>
    <p:sldId id="298" r:id="rId42"/>
    <p:sldId id="299" r:id="rId43"/>
    <p:sldId id="300" r:id="rId44"/>
    <p:sldId id="301" r:id="rId45"/>
    <p:sldId id="302" r:id="rId46"/>
    <p:sldId id="303" r:id="rId47"/>
    <p:sldId id="378" r:id="rId48"/>
    <p:sldId id="379" r:id="rId49"/>
    <p:sldId id="380" r:id="rId50"/>
    <p:sldId id="381" r:id="rId51"/>
    <p:sldId id="382" r:id="rId52"/>
    <p:sldId id="386" r:id="rId53"/>
    <p:sldId id="327" r:id="rId54"/>
    <p:sldId id="328" r:id="rId55"/>
    <p:sldId id="338" r:id="rId56"/>
    <p:sldId id="329" r:id="rId57"/>
    <p:sldId id="330" r:id="rId58"/>
    <p:sldId id="331" r:id="rId59"/>
    <p:sldId id="332" r:id="rId60"/>
    <p:sldId id="333" r:id="rId61"/>
    <p:sldId id="334" r:id="rId62"/>
    <p:sldId id="335" r:id="rId6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DC4C5-A3B0-4D47-93A8-2D03AFB0E37C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CCBE97-4B25-4E06-A30A-220410B8A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MAC, MacConkey agar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CCBE97-4B25-4E06-A30A-220410B8AB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45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CCBE97-4B25-4E06-A30A-220410B8AB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10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cervix (that part of uterus that opens into vagina), endometrium (the</a:t>
            </a:r>
            <a:r>
              <a:rPr lang="en-US" sz="1200" baseline="0" dirty="0"/>
              <a:t> </a:t>
            </a:r>
            <a:r>
              <a:rPr lang="en-US" sz="1200" dirty="0"/>
              <a:t>inner layer of uterine wall). epididymis (an elongated structure connected to testis).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A062A-E9B6-49D4-A967-3C17946CAF7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49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Mo. microorganism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A062A-E9B6-49D4-A967-3C17946CAF7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44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A062A-E9B6-49D4-A967-3C17946CAF7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45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Rx, treatment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CBE97-4B25-4E06-A30A-220410B8ABB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02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Painful intercourse is </a:t>
            </a:r>
            <a:r>
              <a:rPr lang="en-US" b="1" dirty="0"/>
              <a:t>dyspareunia;</a:t>
            </a:r>
            <a:r>
              <a:rPr lang="en-US" b="1" baseline="0" dirty="0"/>
              <a:t> STI, </a:t>
            </a:r>
            <a:r>
              <a:rPr lang="en-US" b="0" baseline="0" dirty="0"/>
              <a:t>Sexual transmitted infection; Rx, treatment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A062A-E9B6-49D4-A967-3C17946CAF7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94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GS, gram stain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CBE97-4B25-4E06-A30A-220410B8ABB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61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PID,(Female)  ascending spread of microorganisms</a:t>
            </a:r>
            <a:r>
              <a:rPr lang="en-US" sz="120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vagina and endocervix to endometrium,  fallopian tubes, and other contiguous structures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gonorrhoeae 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trachomatis 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serovars D and K)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CCBE97-4B25-4E06-A30A-220410B8ABB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96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A062A-E9B6-49D4-A967-3C17946CAF7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77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Treponemal haemagglutination test (TPHA), CNS: Central nerve system; EIA, Enzyme immuno assay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05A583-EB6B-4C6B-B331-22CE0557A4E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60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VDRL, Venereal disease research laboratory; RPR, Rapid plasma regain;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TPPA,</a:t>
            </a:r>
            <a:r>
              <a:rPr lang="fr-F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Treponema pallidum particle agglutination assay;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TPHA, Treponema pallidum hemagglutination; FTA-ABS, fluorescent treponemal antibody absorption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A062A-E9B6-49D4-A967-3C17946CAF7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43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2060"/>
                </a:solidFill>
              </a:rPr>
              <a:t>Herpetic whitlow </a:t>
            </a:r>
            <a:r>
              <a:rPr lang="en-US" sz="1200" dirty="0"/>
              <a:t>(infects the finger or nail area), ectoderm (skin, mouth, conjunctiva, nervous system).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A062A-E9B6-49D4-A967-3C17946CAF7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459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paraesthesiae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;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abnormal sensation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A062A-E9B6-49D4-A967-3C17946CAF7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306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mucosal surfaces of the cervix, urethra, rectum and URT;  PMNs, poly morph nuclear cell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05A583-EB6B-4C6B-B331-22CE0557A4E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683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proctitis ;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inflammation of the rectum and anus. BSI, Blood stream infection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05A583-EB6B-4C6B-B331-22CE0557A4E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09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LGV: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invade and reproduce in regional lymph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CCBE97-4B25-4E06-A30A-220410B8ABB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790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TTC,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Tetracycline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A062A-E9B6-49D4-A967-3C17946CAF74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12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Mononucleosis; fever, lymphadenopathy,</a:t>
            </a:r>
            <a:r>
              <a:rPr lang="en-US" sz="120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pharyngitis, rash, myalgia, malaise, mouth and</a:t>
            </a:r>
            <a:r>
              <a:rPr lang="en-US" sz="120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oesophageal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A062A-E9B6-49D4-A967-3C17946CAF74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95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1023-61A0-46CD-B571-6B769C0A773A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66F-0F70-4158-BE90-14F7A6932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1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1023-61A0-46CD-B571-6B769C0A773A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66F-0F70-4158-BE90-14F7A6932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90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1023-61A0-46CD-B571-6B769C0A773A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66F-0F70-4158-BE90-14F7A6932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84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1023-61A0-46CD-B571-6B769C0A773A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66F-0F70-4158-BE90-14F7A6932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29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1023-61A0-46CD-B571-6B769C0A773A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66F-0F70-4158-BE90-14F7A6932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5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1023-61A0-46CD-B571-6B769C0A773A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66F-0F70-4158-BE90-14F7A6932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95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1023-61A0-46CD-B571-6B769C0A773A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66F-0F70-4158-BE90-14F7A6932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2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1023-61A0-46CD-B571-6B769C0A773A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66F-0F70-4158-BE90-14F7A6932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59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1023-61A0-46CD-B571-6B769C0A773A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66F-0F70-4158-BE90-14F7A6932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58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1023-61A0-46CD-B571-6B769C0A773A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66F-0F70-4158-BE90-14F7A6932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7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1023-61A0-46CD-B571-6B769C0A773A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66F-0F70-4158-BE90-14F7A6932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27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01023-61A0-46CD-B571-6B769C0A773A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2866F-0F70-4158-BE90-14F7A6932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0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sdmanuals.com/professional/infectious-diseases/sexually-transmitted-infections-stis/human-papillomavirus-hpv-infection" TargetMode="External"/><Relationship Id="rId13" Type="http://schemas.openxmlformats.org/officeDocument/2006/relationships/hyperlink" Target="https://www.msdmanuals.com/professional/dermatologic-disorders/parasitic-skin-infections/scabies" TargetMode="External"/><Relationship Id="rId3" Type="http://schemas.openxmlformats.org/officeDocument/2006/relationships/hyperlink" Target="https://www.msdmanuals.com/professional/infectious-diseases/sexually-transmitted-infections-stis/chlamydia-and-mycoplasmal-mucosal-infections" TargetMode="External"/><Relationship Id="rId7" Type="http://schemas.openxmlformats.org/officeDocument/2006/relationships/hyperlink" Target="https://www.msdmanuals.com/professional/infectious-diseases/sexually-transmitted-infections-stis/granuloma-inguinale" TargetMode="External"/><Relationship Id="rId12" Type="http://schemas.openxmlformats.org/officeDocument/2006/relationships/hyperlink" Target="https://www.msdmanuals.com/professional/infectious-diseases/sexually-transmitted-infections-stis/trichomoniasis" TargetMode="External"/><Relationship Id="rId2" Type="http://schemas.openxmlformats.org/officeDocument/2006/relationships/hyperlink" Target="https://www.msdmanuals.com/professional/infectious-diseases/sexually-transmitted-infections-stis/syphili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sdmanuals.com/professional/infectious-diseases/sexually-transmitted-infections-stis/lymphogranuloma-venereum-lgv" TargetMode="External"/><Relationship Id="rId11" Type="http://schemas.openxmlformats.org/officeDocument/2006/relationships/hyperlink" Target="https://www.msdmanuals.com/professional/infectious-diseases/human-immunodeficiency-virus-hiv/human-immunodeficiency-virus-hiv-infection" TargetMode="External"/><Relationship Id="rId5" Type="http://schemas.openxmlformats.org/officeDocument/2006/relationships/hyperlink" Target="https://www.msdmanuals.com/professional/infectious-diseases/sexually-transmitted-infections-stis/chancroid" TargetMode="External"/><Relationship Id="rId10" Type="http://schemas.openxmlformats.org/officeDocument/2006/relationships/hyperlink" Target="https://www.msdmanuals.com/professional/dermatologic-disorders/viral-skin-diseases/molluscum-contagiosum" TargetMode="External"/><Relationship Id="rId4" Type="http://schemas.openxmlformats.org/officeDocument/2006/relationships/hyperlink" Target="https://www.msdmanuals.com/professional/infectious-diseases/sexually-transmitted-infections-stis/gonorrhea" TargetMode="External"/><Relationship Id="rId9" Type="http://schemas.openxmlformats.org/officeDocument/2006/relationships/hyperlink" Target="https://www.msdmanuals.com/professional/infectious-diseases/herpesviruses/herpes-simplex-virus-hsv-infections#v1019685" TargetMode="External"/><Relationship Id="rId14" Type="http://schemas.openxmlformats.org/officeDocument/2006/relationships/hyperlink" Target="https://www.msdmanuals.com/professional/dermatologic-disorders/parasitic-skin-infections/lice#v965198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eb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/>
              <a:t>Outline on Infections of</a:t>
            </a:r>
            <a:r>
              <a:rPr lang="en-US" sz="3200" dirty="0"/>
              <a:t> </a:t>
            </a:r>
            <a:r>
              <a:rPr lang="en-US" sz="3200" b="1" dirty="0"/>
              <a:t>Genitourinary Tract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Infections of urinary tract include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Pyelonephritis: Kidneys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Urethritis: Urethra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Cystitis: Bladder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Prostatitis: Prostate </a:t>
            </a:r>
          </a:p>
        </p:txBody>
      </p:sp>
      <p:sp>
        <p:nvSpPr>
          <p:cNvPr id="4" name="Right Brace 3"/>
          <p:cNvSpPr/>
          <p:nvPr/>
        </p:nvSpPr>
        <p:spPr>
          <a:xfrm>
            <a:off x="4191000" y="2743200"/>
            <a:ext cx="457200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724400" y="2895600"/>
            <a:ext cx="1219200" cy="5334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8200" y="2057400"/>
            <a:ext cx="12192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Upper</a:t>
            </a:r>
          </a:p>
        </p:txBody>
      </p:sp>
    </p:spTree>
    <p:extLst>
      <p:ext uri="{BB962C8B-B14F-4D97-AF65-F5344CB8AC3E}">
        <p14:creationId xmlns:p14="http://schemas.microsoft.com/office/powerpoint/2010/main" val="3652022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/>
            <a:r>
              <a:rPr lang="en-US" sz="2400" b="1" dirty="0"/>
              <a:t>Urinary tract infection (UTI)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600" dirty="0"/>
              <a:t>Active infection in any part of urinary tract</a:t>
            </a:r>
          </a:p>
          <a:p>
            <a:r>
              <a:rPr lang="en-US" sz="2600" dirty="0"/>
              <a:t>Beyond distal urethera (sterile)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UTIs can be divided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I. Upper UTIs</a:t>
            </a:r>
            <a:r>
              <a:rPr lang="en-US" sz="2400" dirty="0"/>
              <a:t>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kidneys (</a:t>
            </a:r>
            <a:r>
              <a:rPr lang="en-US" sz="2000" b="1" dirty="0"/>
              <a:t>pyelonephritis</a:t>
            </a:r>
            <a:r>
              <a:rPr lang="en-US" sz="2000" dirty="0"/>
              <a:t>)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Ureters (ureteritis)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II. Lower UTIs: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Urinary bladder (cystitis)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Urethra (urethritis)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 In men, prostate (prostatitis)</a:t>
            </a:r>
            <a:endParaRPr lang="en-US" sz="2000" b="1" dirty="0">
              <a:solidFill>
                <a:srgbClr val="00206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1200"/>
            <a:ext cx="41148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135582" y="586740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Fig 1. Anatomy of urinary tract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96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dirty="0"/>
              <a:t>The major defense against UTI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Complete emptying of bladder during urination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Urine acidity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Vesicoureteral valve,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Various immunologic and mucosal barriers</a:t>
            </a:r>
          </a:p>
        </p:txBody>
      </p:sp>
    </p:spTree>
    <p:extLst>
      <p:ext uri="{BB962C8B-B14F-4D97-AF65-F5344CB8AC3E}">
        <p14:creationId xmlns:p14="http://schemas.microsoft.com/office/powerpoint/2010/main" val="116741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/>
            <a:r>
              <a:rPr lang="en-US" sz="2800" b="1" dirty="0"/>
              <a:t>Factors Predisposing to UTI/</a:t>
            </a:r>
            <a:r>
              <a:rPr lang="en-US" sz="2800" dirty="0"/>
              <a:t>Pathogenesis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Various </a:t>
            </a:r>
            <a:r>
              <a:rPr lang="en-US" sz="2400" b="1" dirty="0">
                <a:solidFill>
                  <a:srgbClr val="FF0000"/>
                </a:solidFill>
              </a:rPr>
              <a:t>bacterial attributes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FF0000"/>
                </a:solidFill>
              </a:rPr>
              <a:t>host factors </a:t>
            </a:r>
            <a:r>
              <a:rPr lang="en-US" sz="2400" dirty="0"/>
              <a:t>favour UTIs</a:t>
            </a:r>
          </a:p>
          <a:p>
            <a:r>
              <a:rPr lang="en-US" sz="2400" dirty="0"/>
              <a:t>Mechanical factors are important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81200"/>
            <a:ext cx="60198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66800" y="5943600"/>
            <a:ext cx="617220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Fig. 2. Bacterial attributes and host factors which favour UTI</a:t>
            </a:r>
          </a:p>
        </p:txBody>
      </p:sp>
    </p:spTree>
    <p:extLst>
      <p:ext uri="{BB962C8B-B14F-4D97-AF65-F5344CB8AC3E}">
        <p14:creationId xmlns:p14="http://schemas.microsoft.com/office/powerpoint/2010/main" val="11868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Route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Ascending</a:t>
            </a:r>
            <a:r>
              <a:rPr lang="en-US" sz="2400" dirty="0"/>
              <a:t>: pathogen moves upward from urethra or  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Haematogenous</a:t>
            </a:r>
            <a:r>
              <a:rPr lang="en-US" sz="2400" dirty="0"/>
              <a:t>: from bloodstream to kidneys</a:t>
            </a:r>
          </a:p>
          <a:p>
            <a:endParaRPr lang="en-US" sz="2400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580167"/>
              </p:ext>
            </p:extLst>
          </p:nvPr>
        </p:nvGraphicFramePr>
        <p:xfrm>
          <a:off x="914400" y="2514600"/>
          <a:ext cx="6096000" cy="259588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Infection via ascending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Infection via</a:t>
                      </a:r>
                      <a:r>
                        <a:rPr lang="en-US" sz="1800" kern="1200" baseline="0" dirty="0">
                          <a:effectLst/>
                        </a:rPr>
                        <a:t> </a:t>
                      </a:r>
                      <a:r>
                        <a:rPr lang="en-US" sz="1800" kern="1200" dirty="0">
                          <a:effectLst/>
                        </a:rPr>
                        <a:t>Haematogenous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kern="1200" dirty="0">
                          <a:effectLst/>
                        </a:rPr>
                        <a:t>Escherichia coli</a:t>
                      </a:r>
                      <a:endParaRPr lang="en-US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Salmonella species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kern="1200" dirty="0">
                          <a:effectLst/>
                        </a:rPr>
                        <a:t>Proteus species</a:t>
                      </a:r>
                      <a:endParaRPr lang="en-US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Mycobacterium species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kern="1200" dirty="0">
                          <a:effectLst/>
                        </a:rPr>
                        <a:t>Klebsiella specie</a:t>
                      </a:r>
                      <a:endParaRPr lang="en-US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kern="1200" dirty="0">
                          <a:effectLst/>
                        </a:rPr>
                        <a:t>Schistosoma haematobium</a:t>
                      </a:r>
                      <a:endParaRPr lang="en-US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kern="1200" dirty="0">
                          <a:effectLst/>
                        </a:rPr>
                        <a:t>Staphylococcus aureus</a:t>
                      </a:r>
                      <a:endParaRPr lang="en-US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 kern="1200" dirty="0">
                          <a:effectLst/>
                        </a:rPr>
                        <a:t>Histoplasma </a:t>
                      </a:r>
                      <a:r>
                        <a:rPr lang="en-US" sz="1800" i="1" kern="1200" dirty="0" err="1">
                          <a:effectLst/>
                        </a:rPr>
                        <a:t>duboisii</a:t>
                      </a:r>
                      <a:endParaRPr lang="en-US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kern="1200" dirty="0">
                          <a:effectLst/>
                        </a:rPr>
                        <a:t>Staphylococcus epidermidis</a:t>
                      </a:r>
                      <a:endParaRPr lang="en-US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Cytomegalovirus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GBS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Adenovirus type II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0368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Causative Agents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A large number of organisms are capable of causing UTI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The most common causes are </a:t>
            </a:r>
            <a:r>
              <a:rPr lang="en-US" sz="2400" b="1" i="1" dirty="0"/>
              <a:t>E</a:t>
            </a:r>
            <a:r>
              <a:rPr lang="en-US" sz="2400" b="1" dirty="0"/>
              <a:t>. </a:t>
            </a:r>
            <a:r>
              <a:rPr lang="en-US" sz="2400" b="1" i="1" dirty="0"/>
              <a:t>coli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Fimbriae/</a:t>
            </a:r>
            <a:r>
              <a:rPr lang="en-US" sz="2400" b="1" i="1" dirty="0" err="1"/>
              <a:t>Nephritogenic</a:t>
            </a:r>
            <a:r>
              <a:rPr lang="en-US" sz="2400" b="1" i="1" dirty="0"/>
              <a:t> strains</a:t>
            </a:r>
            <a:r>
              <a:rPr lang="en-US" sz="2400" dirty="0"/>
              <a:t>: adherence to mucosal surfaces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124200"/>
            <a:ext cx="4038600" cy="31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838200" y="2743200"/>
            <a:ext cx="636616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Table: Common bacterial causes of UTI (~percentage)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3429000"/>
            <a:ext cx="24384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dirty="0"/>
              <a:t>Bacteria</a:t>
            </a:r>
          </a:p>
          <a:p>
            <a:pPr marL="342900" indent="-342900">
              <a:buAutoNum type="arabicPeriod"/>
            </a:pPr>
            <a:r>
              <a:rPr lang="en-US" dirty="0"/>
              <a:t>Fungi</a:t>
            </a:r>
          </a:p>
          <a:p>
            <a:pPr marL="342900" indent="-342900">
              <a:buAutoNum type="arabicPeriod"/>
            </a:pPr>
            <a:r>
              <a:rPr lang="en-US" dirty="0"/>
              <a:t>mycobacteria</a:t>
            </a:r>
          </a:p>
          <a:p>
            <a:pPr marL="342900" indent="-342900">
              <a:buAutoNum type="arabicPeriod"/>
            </a:pPr>
            <a:r>
              <a:rPr lang="en-US" dirty="0"/>
              <a:t>Viruses, and</a:t>
            </a:r>
          </a:p>
          <a:p>
            <a:pPr marL="342900" indent="-342900">
              <a:buAutoNum type="arabicPeriod"/>
            </a:pPr>
            <a:r>
              <a:rPr lang="en-US" dirty="0"/>
              <a:t>Parasites</a:t>
            </a:r>
          </a:p>
        </p:txBody>
      </p:sp>
    </p:spTree>
    <p:extLst>
      <p:ext uri="{BB962C8B-B14F-4D97-AF65-F5344CB8AC3E}">
        <p14:creationId xmlns:p14="http://schemas.microsoft.com/office/powerpoint/2010/main" val="3922685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rgbClr val="002060"/>
                </a:solidFill>
              </a:rPr>
              <a:t>S. saprophyticus</a:t>
            </a:r>
          </a:p>
          <a:p>
            <a:r>
              <a:rPr lang="en-US" sz="2400" dirty="0"/>
              <a:t>Coagulase and DNase (-ve) </a:t>
            </a:r>
          </a:p>
          <a:p>
            <a:r>
              <a:rPr lang="en-US" sz="2400" dirty="0"/>
              <a:t>Associated with UTI  in sexually active young women (severe cystitis with haematuria)</a:t>
            </a:r>
          </a:p>
          <a:p>
            <a:r>
              <a:rPr lang="en-US" sz="2400" dirty="0"/>
              <a:t>Resistance to </a:t>
            </a:r>
            <a:r>
              <a:rPr lang="en-US" sz="2400" b="1" dirty="0">
                <a:solidFill>
                  <a:srgbClr val="002060"/>
                </a:solidFill>
              </a:rPr>
              <a:t>novobiocin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062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i="1" dirty="0">
                <a:solidFill>
                  <a:srgbClr val="002060"/>
                </a:solidFill>
              </a:rPr>
              <a:t>Proteus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600" dirty="0"/>
              <a:t>The genus contains a number of species</a:t>
            </a:r>
            <a:br>
              <a:rPr lang="en-US" sz="2600" dirty="0"/>
            </a:br>
            <a:r>
              <a:rPr lang="en-US" sz="2600" dirty="0"/>
              <a:t>-</a:t>
            </a:r>
            <a:r>
              <a:rPr lang="en-US" sz="2600" i="1" dirty="0"/>
              <a:t>P. mirabilis </a:t>
            </a:r>
            <a:r>
              <a:rPr lang="en-US" sz="2600" dirty="0"/>
              <a:t>and </a:t>
            </a:r>
            <a:r>
              <a:rPr lang="en-US" sz="2600" i="1" dirty="0"/>
              <a:t>P. vulgaris</a:t>
            </a:r>
            <a:r>
              <a:rPr lang="en-US" sz="2600" dirty="0"/>
              <a:t> </a:t>
            </a:r>
          </a:p>
          <a:p>
            <a:r>
              <a:rPr lang="en-US" sz="2600" b="1" dirty="0">
                <a:solidFill>
                  <a:srgbClr val="002060"/>
                </a:solidFill>
              </a:rPr>
              <a:t>Characteristics</a:t>
            </a:r>
            <a:r>
              <a:rPr lang="en-US" sz="2600" dirty="0">
                <a:solidFill>
                  <a:srgbClr val="002060"/>
                </a:solidFill>
              </a:rPr>
              <a:t> </a:t>
            </a:r>
            <a:r>
              <a:rPr lang="en-US" sz="2600" dirty="0"/>
              <a:t>include:</a:t>
            </a:r>
          </a:p>
          <a:p>
            <a:pPr marL="0" indent="0">
              <a:buNone/>
            </a:pPr>
            <a:r>
              <a:rPr lang="en-US" sz="2400" dirty="0"/>
              <a:t>    -Non-lactose fermenting, produce pale colonies on MAC;</a:t>
            </a:r>
          </a:p>
          <a:p>
            <a:pPr marL="0" indent="0">
              <a:buNone/>
            </a:pPr>
            <a:r>
              <a:rPr lang="en-US" sz="2400" dirty="0"/>
              <a:t>    -Motile, tendency to ‘swarm’ on blood agar</a:t>
            </a:r>
          </a:p>
          <a:p>
            <a:pPr marL="0" indent="0">
              <a:buNone/>
            </a:pPr>
            <a:r>
              <a:rPr lang="en-US" sz="2400" dirty="0"/>
              <a:t>    -Associated with </a:t>
            </a:r>
            <a:r>
              <a:rPr lang="en-US" sz="2400" b="1" dirty="0">
                <a:solidFill>
                  <a:srgbClr val="002060"/>
                </a:solidFill>
              </a:rPr>
              <a:t>urinary tract stones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-Occasionally abdominal wound infection </a:t>
            </a: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sz="2400" b="1" i="1" dirty="0">
                <a:solidFill>
                  <a:srgbClr val="002060"/>
                </a:solidFill>
              </a:rPr>
              <a:t>Pseudomonas aeruginosa </a:t>
            </a:r>
            <a:r>
              <a:rPr lang="en-US" sz="2400" dirty="0"/>
              <a:t>with urethral catheterisation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1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/>
            <a:r>
              <a:rPr lang="en-US" sz="2400" b="1" dirty="0"/>
              <a:t>Symptom of UTI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patient with a UTI presents with </a:t>
            </a:r>
          </a:p>
          <a:p>
            <a:r>
              <a:rPr lang="en-US" sz="2400" dirty="0"/>
              <a:t>Dysuria (difficulty or pain on urination)</a:t>
            </a:r>
          </a:p>
          <a:p>
            <a:r>
              <a:rPr lang="en-US" sz="2400" dirty="0"/>
              <a:t>Lumbar pain</a:t>
            </a:r>
          </a:p>
          <a:p>
            <a:r>
              <a:rPr lang="en-US" sz="2400" dirty="0"/>
              <a:t>Fever, and </a:t>
            </a:r>
          </a:p>
          <a:p>
            <a:r>
              <a:rPr lang="en-US" sz="2400" dirty="0"/>
              <a:t>Chills</a:t>
            </a:r>
            <a:endParaRPr lang="en-US" dirty="0"/>
          </a:p>
          <a:p>
            <a:r>
              <a:rPr lang="en-US" sz="2400" dirty="0"/>
              <a:t>UTIs may be acquired either within a;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Healthcare setting (HCA-UTIs) or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Elsewhere (Community-acquired UTIs) following urinary catheterization</a:t>
            </a:r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2237509" y="2717677"/>
            <a:ext cx="609600" cy="685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47109" y="2875911"/>
            <a:ext cx="1562351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/>
              <a:t>Pyelonephritis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371600"/>
            <a:ext cx="2590800" cy="2819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1662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457200"/>
            <a:ext cx="8239125" cy="577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19200" y="6229350"/>
            <a:ext cx="457200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/>
              <a:t>Fig. 3. Diagnosis of urinary tract infection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1600200" y="2438400"/>
            <a:ext cx="3048000" cy="1676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Diagnosis of UTI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Urinalysis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Sometimes urine culture</a:t>
            </a:r>
          </a:p>
        </p:txBody>
      </p:sp>
    </p:spTree>
    <p:extLst>
      <p:ext uri="{BB962C8B-B14F-4D97-AF65-F5344CB8AC3E}">
        <p14:creationId xmlns:p14="http://schemas.microsoft.com/office/powerpoint/2010/main" val="62198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Outline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Infections of GUT include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Bladder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Kidney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Prostate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Infections of vagina, and STI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204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838200" y="1295400"/>
            <a:ext cx="2971800" cy="31242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/>
              <a:t>Bacterial STIs include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hlinkClick r:id="rId2" tooltip="Syphilis"/>
              </a:rPr>
              <a:t>Syphilis</a:t>
            </a:r>
            <a:endParaRPr lang="en-US" sz="2000" dirty="0"/>
          </a:p>
          <a:p>
            <a:pPr>
              <a:buFont typeface="Wingdings" pitchFamily="2" charset="2"/>
              <a:buChar char="Ø"/>
            </a:pPr>
            <a:r>
              <a:rPr lang="en-US" sz="2000" dirty="0">
                <a:hlinkClick r:id="rId3" tooltip="Chlamydia and Mycoplasmal Mucosal Infections"/>
              </a:rPr>
              <a:t>Chlamydial infections</a:t>
            </a:r>
            <a:endParaRPr lang="en-US" sz="2000" dirty="0"/>
          </a:p>
          <a:p>
            <a:pPr>
              <a:buFont typeface="Wingdings" pitchFamily="2" charset="2"/>
              <a:buChar char="Ø"/>
            </a:pPr>
            <a:r>
              <a:rPr lang="en-US" sz="2000" dirty="0">
                <a:hlinkClick r:id="rId4" tooltip="Gonorrhea"/>
              </a:rPr>
              <a:t>Gonococcal infections</a:t>
            </a:r>
            <a:endParaRPr lang="en-US" sz="2000" dirty="0"/>
          </a:p>
          <a:p>
            <a:pPr>
              <a:buFont typeface="Wingdings" pitchFamily="2" charset="2"/>
              <a:buChar char="Ø"/>
            </a:pPr>
            <a:r>
              <a:rPr lang="en-US" sz="2000" dirty="0">
                <a:hlinkClick r:id="rId5" tooltip="Chancroid"/>
              </a:rPr>
              <a:t>Chancroid</a:t>
            </a:r>
            <a:endParaRPr lang="en-US" sz="2000" dirty="0"/>
          </a:p>
          <a:p>
            <a:pPr>
              <a:buFont typeface="Wingdings" pitchFamily="2" charset="2"/>
              <a:buChar char="Ø"/>
            </a:pPr>
            <a:r>
              <a:rPr lang="en-US" sz="2000" dirty="0">
                <a:hlinkClick r:id="rId6" tooltip="Lymphogranuloma Venereum (LGV)"/>
              </a:rPr>
              <a:t>Lymphogranuloma venereum</a:t>
            </a:r>
            <a:endParaRPr lang="en-US" sz="2000" dirty="0"/>
          </a:p>
          <a:p>
            <a:pPr>
              <a:buFont typeface="Wingdings" pitchFamily="2" charset="2"/>
              <a:buChar char="Ø"/>
            </a:pPr>
            <a:r>
              <a:rPr lang="en-US" sz="2000" dirty="0">
                <a:hlinkClick r:id="rId7" tooltip="Granuloma Inguinale"/>
              </a:rPr>
              <a:t>Granuloma inguinale</a:t>
            </a:r>
            <a:endParaRPr lang="en-US" sz="2000" dirty="0"/>
          </a:p>
          <a:p>
            <a:pPr>
              <a:buFont typeface="Wingdings" pitchFamily="2" charset="2"/>
              <a:buChar char="Ø"/>
            </a:pPr>
            <a:r>
              <a:rPr lang="en-US" sz="2000" dirty="0">
                <a:hlinkClick r:id="rId3" tooltip="Chlamydia and Mycoplasmal Mucosal Infections"/>
              </a:rPr>
              <a:t>Mycoplasmal infections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3886200" y="1295400"/>
            <a:ext cx="2133600" cy="3124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/>
              <a:t>Viral STIs include</a:t>
            </a:r>
          </a:p>
          <a:p>
            <a:pPr>
              <a:buFont typeface="Wingdings" pitchFamily="2" charset="2"/>
              <a:buChar char="Ø"/>
            </a:pPr>
            <a:r>
              <a:rPr lang="en-US" u="sng" dirty="0">
                <a:hlinkClick r:id="rId8" tooltip="Human Papillomavirus (HPV) Infection"/>
              </a:rPr>
              <a:t>Genital and anorectal warts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u="sng" dirty="0">
                <a:hlinkClick r:id="rId9" tooltip="Mucocutaneous herpes simplex infection"/>
              </a:rPr>
              <a:t>Genital herpes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u="sng" dirty="0">
                <a:hlinkClick r:id="rId10" tooltip="Molluscum Contagiosum"/>
              </a:rPr>
              <a:t>Molluscum contagiosum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u="sng" dirty="0">
                <a:hlinkClick r:id="rId11" tooltip="Human Immunodeficiency Virus (HIV) Infection"/>
              </a:rPr>
              <a:t>HIV infection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172200" y="1295400"/>
            <a:ext cx="2362200" cy="31242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/>
              <a:t>Parasitic STI include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u="sng" dirty="0">
                <a:hlinkClick r:id="rId12" tooltip="Trichomoniasis"/>
              </a:rPr>
              <a:t>Trichomoniasis</a:t>
            </a:r>
            <a:r>
              <a:rPr lang="en-US" dirty="0"/>
              <a:t> (caused by protozoa)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u="sng" dirty="0">
                <a:hlinkClick r:id="rId13" tooltip="Scabies"/>
              </a:rPr>
              <a:t>Scabies</a:t>
            </a:r>
            <a:r>
              <a:rPr lang="en-US" dirty="0"/>
              <a:t> (caused by mites)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u="sng" dirty="0" err="1">
                <a:hlinkClick r:id="rId14" tooltip="Pubic lice"/>
              </a:rPr>
              <a:t>Pediculosis</a:t>
            </a:r>
            <a:r>
              <a:rPr lang="en-US" u="sng" dirty="0">
                <a:hlinkClick r:id="rId14" tooltip="Pubic lice"/>
              </a:rPr>
              <a:t> pubis</a:t>
            </a:r>
            <a:r>
              <a:rPr lang="en-US" dirty="0"/>
              <a:t> (caused by lice)</a:t>
            </a:r>
          </a:p>
        </p:txBody>
      </p:sp>
    </p:spTree>
    <p:extLst>
      <p:ext uri="{BB962C8B-B14F-4D97-AF65-F5344CB8AC3E}">
        <p14:creationId xmlns:p14="http://schemas.microsoft.com/office/powerpoint/2010/main" val="1750778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Genital infections: Common term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1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/>
              <a:t>Caused by a wide variety of microbes.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Bartholinitis</a:t>
            </a:r>
            <a:r>
              <a:rPr lang="en-US" sz="2000" b="1" dirty="0"/>
              <a:t>: </a:t>
            </a:r>
            <a:r>
              <a:rPr lang="en-US" sz="2000" dirty="0"/>
              <a:t>Inflammation of the </a:t>
            </a:r>
            <a:r>
              <a:rPr lang="en-US" sz="2000" dirty="0" err="1"/>
              <a:t>Bartholin</a:t>
            </a:r>
            <a:r>
              <a:rPr lang="en-US" sz="2000" dirty="0"/>
              <a:t> ducts in women.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Cervicitis</a:t>
            </a:r>
            <a:r>
              <a:rPr lang="en-US" sz="2000" b="1" dirty="0"/>
              <a:t>: </a:t>
            </a:r>
            <a:r>
              <a:rPr lang="en-US" sz="2000" dirty="0"/>
              <a:t>Inflammation of cervix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Endometritis</a:t>
            </a:r>
            <a:r>
              <a:rPr lang="en-US" sz="2000" b="1" dirty="0"/>
              <a:t>: </a:t>
            </a:r>
            <a:r>
              <a:rPr lang="en-US" sz="2000" dirty="0"/>
              <a:t>Inflammation of endometrium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Epididymitis</a:t>
            </a:r>
            <a:r>
              <a:rPr lang="en-US" sz="2000" b="1" dirty="0"/>
              <a:t>: </a:t>
            </a:r>
            <a:r>
              <a:rPr lang="en-US" sz="2000" dirty="0"/>
              <a:t>Inflammation of epididymis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Pelvic inflammatory disease (PID)</a:t>
            </a:r>
            <a:r>
              <a:rPr lang="en-US" sz="2000" b="1" dirty="0"/>
              <a:t> : </a:t>
            </a:r>
            <a:r>
              <a:rPr lang="en-US" sz="2000" dirty="0"/>
              <a:t>Inflammation of fallopian tubes; also known as </a:t>
            </a:r>
            <a:r>
              <a:rPr lang="en-US" sz="2000" b="1" dirty="0"/>
              <a:t>salpingitis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Vaginitis</a:t>
            </a:r>
            <a:r>
              <a:rPr lang="en-US" sz="2000" b="1" dirty="0"/>
              <a:t>: </a:t>
            </a:r>
            <a:r>
              <a:rPr lang="en-US" sz="2000" dirty="0"/>
              <a:t>Inflammation of vagina.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74452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000" b="1" dirty="0"/>
              <a:t>Vaginal Infections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pic>
        <p:nvPicPr>
          <p:cNvPr id="4" name="Picture 6" descr="Vaginal Yeast Infection Symptoms, Causes, Treatment, Prevention">
            <a:extLst>
              <a:ext uri="{FF2B5EF4-FFF2-40B4-BE49-F238E27FC236}">
                <a16:creationId xmlns:a16="http://schemas.microsoft.com/office/drawing/2014/main" id="{FFB722CB-8CEE-9040-289C-EB0182C64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066800"/>
            <a:ext cx="469567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5349BD8-E069-3B26-92BF-B374BEB325F4}"/>
              </a:ext>
            </a:extLst>
          </p:cNvPr>
          <p:cNvSpPr/>
          <p:nvPr/>
        </p:nvSpPr>
        <p:spPr>
          <a:xfrm>
            <a:off x="762000" y="1219200"/>
            <a:ext cx="3581400" cy="472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/>
              <a:t>Vaginal discharge (VD) </a:t>
            </a:r>
            <a:r>
              <a:rPr lang="en-US" sz="2000" dirty="0"/>
              <a:t>is body’s means of maintaining a healthy vaginal mucosa. </a:t>
            </a:r>
          </a:p>
          <a:p>
            <a:r>
              <a:rPr lang="en-US" sz="2000" dirty="0"/>
              <a:t>A normal VD is usually clear or milky with no malodor</a:t>
            </a:r>
          </a:p>
          <a:p>
            <a:r>
              <a:rPr lang="en-US" sz="2000" dirty="0"/>
              <a:t>An infection caused by an overgrowth of organisms that are normal flora in vaginal mucosa 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Bacterial vaginosis</a:t>
            </a:r>
            <a:r>
              <a:rPr lang="en-US" dirty="0"/>
              <a:t>: </a:t>
            </a:r>
            <a:r>
              <a:rPr lang="en-US" i="1" dirty="0"/>
              <a:t>Gardnerella vaginalis</a:t>
            </a:r>
            <a:endParaRPr lang="en-US" dirty="0"/>
          </a:p>
          <a:p>
            <a:pPr lvl="1">
              <a:buFont typeface="Wingdings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Mycotic vulvovaginitis</a:t>
            </a:r>
            <a:r>
              <a:rPr lang="en-US" dirty="0"/>
              <a:t>: </a:t>
            </a:r>
            <a:r>
              <a:rPr lang="en-US" i="1" dirty="0"/>
              <a:t>Candida albicans</a:t>
            </a:r>
            <a:r>
              <a:rPr lang="en-US" dirty="0"/>
              <a:t> (vaginitis)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Trichomoniasis</a:t>
            </a:r>
            <a:r>
              <a:rPr lang="en-US" dirty="0"/>
              <a:t>: </a:t>
            </a:r>
            <a:r>
              <a:rPr lang="en-US" sz="2000" i="1" dirty="0"/>
              <a:t>Trichomonas vaginalis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56846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1. Bacterial vaginosis (BV)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Aetiology of BV 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Occur due to reduction of </a:t>
            </a:r>
            <a:r>
              <a:rPr lang="en-US" sz="2200" b="1" dirty="0">
                <a:solidFill>
                  <a:srgbClr val="C00000"/>
                </a:solidFill>
              </a:rPr>
              <a:t>vaginal lactobacilli </a:t>
            </a:r>
            <a:r>
              <a:rPr lang="en-US" sz="2200" dirty="0"/>
              <a:t>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Colonisation of vaginal mucosa by groups of abnormal mos. rather than one single pathogen. 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Not associated with inflammation of vaginal mucosa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Facilitate HIV acquisition</a:t>
            </a:r>
            <a:endParaRPr lang="en-US" sz="2200" dirty="0"/>
          </a:p>
          <a:p>
            <a:r>
              <a:rPr lang="en-US" sz="2400" dirty="0"/>
              <a:t>Some of bacteria associated with BV include;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i="1" dirty="0">
                <a:solidFill>
                  <a:srgbClr val="002060"/>
                </a:solidFill>
              </a:rPr>
              <a:t>Gardnerella vaginalis 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dirty="0"/>
              <a:t>facultatively anaerobic GPR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  <a:endParaRPr lang="en-US" sz="2400" i="1" dirty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400" i="1" dirty="0"/>
              <a:t>Mobiluncus </a:t>
            </a:r>
            <a:r>
              <a:rPr lang="en-US" sz="2400" dirty="0"/>
              <a:t>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i="1" dirty="0"/>
              <a:t>Prevotella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463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Epidemiology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BV is most common cause of </a:t>
            </a:r>
            <a:r>
              <a:rPr lang="en-US" sz="2400" b="1" dirty="0">
                <a:solidFill>
                  <a:srgbClr val="FF0000"/>
                </a:solidFill>
              </a:rPr>
              <a:t>vaginal discharge</a:t>
            </a:r>
            <a:r>
              <a:rPr lang="en-US" sz="2400" dirty="0"/>
              <a:t>.</a:t>
            </a:r>
          </a:p>
          <a:p>
            <a:r>
              <a:rPr lang="en-US" sz="2400" dirty="0"/>
              <a:t>It has been estimated that a third of women may develop BV sometime in their life.</a:t>
            </a:r>
          </a:p>
          <a:p>
            <a:r>
              <a:rPr lang="en-US" sz="2400" dirty="0"/>
              <a:t>Young age </a:t>
            </a:r>
          </a:p>
          <a:p>
            <a:r>
              <a:rPr lang="en-US" sz="2400" dirty="0"/>
              <a:t>Smoking</a:t>
            </a:r>
          </a:p>
          <a:p>
            <a:r>
              <a:rPr lang="en-US" sz="2400" dirty="0"/>
              <a:t>Vaginal douching and </a:t>
            </a:r>
          </a:p>
          <a:p>
            <a:r>
              <a:rPr lang="en-US" sz="2400" dirty="0"/>
              <a:t>Having multiple sexual partners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3657600" y="2438400"/>
            <a:ext cx="609600" cy="1219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267200" y="2895600"/>
            <a:ext cx="200958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/>
              <a:t>Associated with BV</a:t>
            </a:r>
          </a:p>
        </p:txBody>
      </p:sp>
    </p:spTree>
    <p:extLst>
      <p:ext uri="{BB962C8B-B14F-4D97-AF65-F5344CB8AC3E}">
        <p14:creationId xmlns:p14="http://schemas.microsoft.com/office/powerpoint/2010/main" val="3765578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1"/>
            <a:ext cx="82296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Diagnosis of BV</a:t>
            </a:r>
          </a:p>
          <a:p>
            <a:r>
              <a:rPr lang="en-US" sz="2400" b="1" dirty="0"/>
              <a:t>Amsel’s criteria </a:t>
            </a:r>
            <a:r>
              <a:rPr lang="en-US" sz="2400" dirty="0"/>
              <a:t>have been used by many clinicians; </a:t>
            </a:r>
          </a:p>
          <a:p>
            <a:r>
              <a:rPr lang="en-US" sz="2400" dirty="0"/>
              <a:t>BV requires the presence of 3 of 4 criteria: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1. Viscid abnormal </a:t>
            </a:r>
            <a:r>
              <a:rPr lang="en-US" sz="2400" b="1" dirty="0">
                <a:solidFill>
                  <a:srgbClr val="002060"/>
                </a:solidFill>
              </a:rPr>
              <a:t>vaginal discharge</a:t>
            </a:r>
            <a:r>
              <a:rPr lang="en-US" sz="2400" dirty="0"/>
              <a:t>;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2. Positive </a:t>
            </a:r>
            <a:r>
              <a:rPr lang="en-US" sz="2400" b="1" dirty="0">
                <a:solidFill>
                  <a:srgbClr val="002060"/>
                </a:solidFill>
              </a:rPr>
              <a:t>‘whiff test’</a:t>
            </a:r>
            <a:r>
              <a:rPr lang="en-US" sz="2400" dirty="0"/>
              <a:t>; fishy odour of vaginal fluid after addition of 10% KOH;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3. Presence of clue cells (epithelial cells embedded with bacteria with unidentified border) on microscopy of vaginal fluid;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4. Vaginal fluid pH of more than 4.5.</a:t>
            </a:r>
            <a:br>
              <a:rPr lang="en-US" sz="2400" dirty="0"/>
            </a:br>
            <a:br>
              <a:rPr lang="en-US" dirty="0"/>
            </a:br>
            <a:endParaRPr lang="en-US" dirty="0"/>
          </a:p>
        </p:txBody>
      </p:sp>
      <p:pic>
        <p:nvPicPr>
          <p:cNvPr id="1026" name="Picture 2" descr="Fun With Microbiology (What's Buggin' You?): Bacterial Vaginos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6753225" cy="506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87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/>
              <a:t>Treatment and Prevention of BV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/>
              <a:t>Rx: metronidazole or clindamycin</a:t>
            </a:r>
          </a:p>
          <a:p>
            <a:r>
              <a:rPr lang="en-US" sz="2400" dirty="0"/>
              <a:t>Prevention: avoiding vaginal douching and avoiding multiple sexual partners 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7278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pt-BR" sz="2800" b="1" dirty="0"/>
              <a:t>Vulvo-vaginal candidiasis (VC); (‘ Thrush’ )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VC is caused by </a:t>
            </a:r>
            <a:r>
              <a:rPr lang="en-US" sz="2400" b="1" i="1" dirty="0">
                <a:solidFill>
                  <a:srgbClr val="002060"/>
                </a:solidFill>
              </a:rPr>
              <a:t>Candida albicans </a:t>
            </a:r>
          </a:p>
          <a:p>
            <a:r>
              <a:rPr lang="en-US" sz="2400" dirty="0"/>
              <a:t>common cause of </a:t>
            </a:r>
            <a:r>
              <a:rPr lang="en-US" sz="2400" b="1" dirty="0">
                <a:solidFill>
                  <a:srgbClr val="002060"/>
                </a:solidFill>
              </a:rPr>
              <a:t>vaginitis</a:t>
            </a:r>
            <a:endParaRPr lang="en-US" sz="2400" dirty="0"/>
          </a:p>
          <a:p>
            <a:r>
              <a:rPr lang="en-US" sz="2400" dirty="0"/>
              <a:t>It is not a STI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Clinical features</a:t>
            </a:r>
          </a:p>
          <a:p>
            <a:r>
              <a:rPr lang="en-US" sz="2400" dirty="0"/>
              <a:t>Itching and irritation, vaginal discharge, dyspareunia and dysuria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Factors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/>
              <a:t>Pregnancy, obesity, DM, oral contraceptives, corticosteroids, antibiotic therapy, prolonged exposure to moisture, and poor feminine hygiene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8353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pPr algn="r"/>
            <a:r>
              <a:rPr lang="en-US" sz="24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5211764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Diagnosis</a:t>
            </a:r>
          </a:p>
          <a:p>
            <a:r>
              <a:rPr lang="en-US" sz="2400" dirty="0"/>
              <a:t>Vaginal fluid (wet mount, Gram stained) reveals yeasts</a:t>
            </a:r>
          </a:p>
          <a:p>
            <a:r>
              <a:rPr lang="en-US" sz="2400" dirty="0"/>
              <a:t>Culture </a:t>
            </a:r>
          </a:p>
          <a:p>
            <a:r>
              <a:rPr lang="en-US" sz="2400" dirty="0"/>
              <a:t>Topical azole/ fluconazole  as Rx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743200"/>
            <a:ext cx="2952750" cy="316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04800" y="5867400"/>
            <a:ext cx="8610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Figure . </a:t>
            </a:r>
            <a:r>
              <a:rPr lang="en-US" dirty="0"/>
              <a:t>A  wet mount/GS  from a VD containing a mass of </a:t>
            </a:r>
            <a:r>
              <a:rPr lang="en-US" i="1" dirty="0"/>
              <a:t>C. albicans </a:t>
            </a:r>
            <a:r>
              <a:rPr lang="en-US" dirty="0"/>
              <a:t>pseudohyphae (</a:t>
            </a:r>
            <a:r>
              <a:rPr lang="en-US" i="1" dirty="0"/>
              <a:t>arrows</a:t>
            </a:r>
            <a:r>
              <a:rPr lang="en-US" dirty="0"/>
              <a:t>).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743200"/>
            <a:ext cx="18288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19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/>
              <a:t>Sexually transmitted infections (STI)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83164"/>
          </a:xfrm>
        </p:spPr>
        <p:txBody>
          <a:bodyPr>
            <a:normAutofit/>
          </a:bodyPr>
          <a:lstStyle/>
          <a:p>
            <a:r>
              <a:rPr lang="en-US" sz="2400" dirty="0"/>
              <a:t>STI replacing term sexually transmitted diseases (STD)</a:t>
            </a:r>
          </a:p>
          <a:p>
            <a:r>
              <a:rPr lang="en-US" sz="2400" dirty="0"/>
              <a:t>STIs divided into groups based on clinical presentation: 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b="1" dirty="0">
                <a:solidFill>
                  <a:srgbClr val="002060"/>
                </a:solidFill>
              </a:rPr>
              <a:t>Genital ulcers </a:t>
            </a:r>
            <a:r>
              <a:rPr lang="en-US" sz="2200" dirty="0"/>
              <a:t>(genital herpes, syphilis, and chancroid) 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b="1" dirty="0">
                <a:solidFill>
                  <a:srgbClr val="002060"/>
                </a:solidFill>
              </a:rPr>
              <a:t>Urethritis and cervicitis </a:t>
            </a:r>
            <a:r>
              <a:rPr lang="en-US" sz="2200" dirty="0"/>
              <a:t>(gonorrhea, chlamydial infections, and non-gonococcal urethritis), and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b="1" dirty="0">
                <a:solidFill>
                  <a:srgbClr val="002060"/>
                </a:solidFill>
              </a:rPr>
              <a:t>Other STIs </a:t>
            </a:r>
            <a:r>
              <a:rPr lang="en-US" sz="2200" dirty="0"/>
              <a:t>(pelvic inflammatory disease [PID] and human papillomavirus infections [HPV]).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415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1"/>
            <a:ext cx="8229600" cy="5287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90600"/>
            <a:ext cx="6934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943600" y="2875002"/>
            <a:ext cx="1524000" cy="36933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943600" y="2667000"/>
            <a:ext cx="1544783" cy="36933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36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Genital ulcers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Three main causes for </a:t>
            </a:r>
            <a:r>
              <a:rPr lang="en-US" sz="2400" b="1" dirty="0">
                <a:solidFill>
                  <a:srgbClr val="002060"/>
                </a:solidFill>
              </a:rPr>
              <a:t>genital ulcer disease (GUD)</a:t>
            </a:r>
            <a:r>
              <a:rPr lang="en-US" sz="2400" dirty="0"/>
              <a:t>;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Infections,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Inflammatory diseases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Malignancies</a:t>
            </a:r>
            <a:endParaRPr lang="en-US" sz="20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Infectious causes of GUD </a:t>
            </a:r>
          </a:p>
          <a:p>
            <a:r>
              <a:rPr lang="en-US" sz="2400" dirty="0"/>
              <a:t>Chancroid caused by </a:t>
            </a:r>
            <a:r>
              <a:rPr lang="en-US" sz="2400" i="1" dirty="0"/>
              <a:t>Haemophilus ducreyi</a:t>
            </a:r>
          </a:p>
          <a:p>
            <a:r>
              <a:rPr lang="en-US" sz="2400" dirty="0"/>
              <a:t>Syphilis: Chancer </a:t>
            </a:r>
          </a:p>
          <a:p>
            <a:r>
              <a:rPr lang="en-US" sz="2400" dirty="0"/>
              <a:t>Herpes simplex virus (types 1 or 2)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831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1"/>
            <a:ext cx="8229600" cy="5287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i="1" dirty="0">
                <a:solidFill>
                  <a:srgbClr val="002060"/>
                </a:solidFill>
              </a:rPr>
              <a:t>1. H. ducreyi</a:t>
            </a:r>
          </a:p>
          <a:p>
            <a:r>
              <a:rPr lang="en-US" sz="2400" dirty="0"/>
              <a:t>gram-negative coccobacillus</a:t>
            </a:r>
          </a:p>
          <a:p>
            <a:r>
              <a:rPr lang="en-US" sz="2400" dirty="0"/>
              <a:t>Causes genital ulcers (</a:t>
            </a:r>
            <a:r>
              <a:rPr lang="en-US" sz="2400" b="1" dirty="0">
                <a:solidFill>
                  <a:srgbClr val="002060"/>
                </a:solidFill>
              </a:rPr>
              <a:t>chancroid</a:t>
            </a:r>
            <a:r>
              <a:rPr lang="en-US" sz="2400" dirty="0"/>
              <a:t>)</a:t>
            </a:r>
          </a:p>
          <a:p>
            <a:r>
              <a:rPr lang="en-US" sz="2400" dirty="0"/>
              <a:t>Painful necrotizing genital ulcers</a:t>
            </a:r>
          </a:p>
          <a:p>
            <a:r>
              <a:rPr lang="en-US" sz="2400" dirty="0"/>
              <a:t>Lack induration</a:t>
            </a:r>
          </a:p>
          <a:p>
            <a:r>
              <a:rPr lang="en-US" sz="2400" dirty="0"/>
              <a:t>A highly contagious but curable disease</a:t>
            </a:r>
          </a:p>
          <a:p>
            <a:r>
              <a:rPr lang="en-US" sz="2400" dirty="0"/>
              <a:t>A STI</a:t>
            </a:r>
          </a:p>
          <a:p>
            <a:r>
              <a:rPr lang="en-US" sz="2400" dirty="0"/>
              <a:t>Usually present in urban areas with</a:t>
            </a:r>
            <a:br>
              <a:rPr lang="en-US" sz="2400" dirty="0"/>
            </a:br>
            <a:r>
              <a:rPr lang="en-US" sz="2400" dirty="0"/>
              <a:t>a high incidence of prostitution</a:t>
            </a:r>
          </a:p>
          <a:p>
            <a:r>
              <a:rPr lang="en-US" sz="2400" dirty="0"/>
              <a:t>Rx: azithromycin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Shemse Sebre (BSc, MSc, PhD candidate)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24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600200"/>
            <a:ext cx="2390775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419600" y="5029200"/>
            <a:ext cx="4572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/>
              <a:t>A penis with a soft chancre due to </a:t>
            </a:r>
            <a:r>
              <a:rPr lang="en-US" i="1" dirty="0"/>
              <a:t>H. ducreyi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10709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/>
              <a:t>2. </a:t>
            </a:r>
            <a:r>
              <a:rPr lang="en-US" sz="3200" b="1" i="1" dirty="0"/>
              <a:t>Treponema pallidum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i="1" dirty="0"/>
              <a:t>T. pallidum </a:t>
            </a:r>
            <a:r>
              <a:rPr lang="en-US" sz="2400" dirty="0"/>
              <a:t>causes </a:t>
            </a:r>
            <a:r>
              <a:rPr lang="en-US" sz="2400" b="1" dirty="0">
                <a:solidFill>
                  <a:srgbClr val="002060"/>
                </a:solidFill>
              </a:rPr>
              <a:t>syphilis</a:t>
            </a:r>
          </a:p>
          <a:p>
            <a:r>
              <a:rPr lang="en-US" sz="2400" dirty="0"/>
              <a:t>Transmitted by sexually or congenitally</a:t>
            </a:r>
          </a:p>
          <a:p>
            <a:r>
              <a:rPr lang="en-US" sz="2400" dirty="0"/>
              <a:t>The related organisms;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i="1" dirty="0">
                <a:solidFill>
                  <a:srgbClr val="002060"/>
                </a:solidFill>
              </a:rPr>
              <a:t>T. pertenue </a:t>
            </a:r>
            <a:r>
              <a:rPr lang="en-US" sz="2000" dirty="0"/>
              <a:t>cause yaws.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i="1" dirty="0">
                <a:solidFill>
                  <a:srgbClr val="002060"/>
                </a:solidFill>
              </a:rPr>
              <a:t>T. carateum </a:t>
            </a:r>
            <a:r>
              <a:rPr lang="en-US" sz="2000" dirty="0"/>
              <a:t>cause pinta</a:t>
            </a: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They are spread by contact, usually in childhood.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Shemse Sebre (BSc, MSc, PhD candidate)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30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1"/>
            <a:ext cx="8229600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Clinical features</a:t>
            </a:r>
          </a:p>
          <a:p>
            <a:r>
              <a:rPr lang="en-US" sz="2400" i="1" dirty="0"/>
              <a:t>T. pallidum </a:t>
            </a:r>
            <a:r>
              <a:rPr lang="en-US" sz="2400" dirty="0"/>
              <a:t>penetrate intact skin or mucosa disseminating</a:t>
            </a:r>
            <a:br>
              <a:rPr lang="en-US" sz="2400" dirty="0"/>
            </a:br>
            <a:r>
              <a:rPr lang="en-US" sz="2400" dirty="0"/>
              <a:t>throughout body to </a:t>
            </a:r>
            <a:r>
              <a:rPr lang="en-US" sz="2400" b="1" dirty="0">
                <a:solidFill>
                  <a:srgbClr val="002060"/>
                </a:solidFill>
              </a:rPr>
              <a:t>cause disease in four stages</a:t>
            </a:r>
            <a:r>
              <a:rPr lang="en-US" sz="2400" dirty="0"/>
              <a:t>:</a:t>
            </a: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Primary chancre</a:t>
            </a:r>
            <a:r>
              <a:rPr lang="en-US" sz="2400" dirty="0"/>
              <a:t>: painless ulcer with a rubbery edge and regional lymphadenopathy (3 wks.):hard chancre</a:t>
            </a: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Secondary</a:t>
            </a:r>
            <a:r>
              <a:rPr lang="en-US" sz="2400" dirty="0"/>
              <a:t>: Rash, lymphadenopathy (6–8 wks.)</a:t>
            </a: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Latent phase</a:t>
            </a:r>
            <a:r>
              <a:rPr lang="en-US" sz="2400" dirty="0"/>
              <a:t>: which may last for many years (serologic test are positive for syphilis without symptom)</a:t>
            </a: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Tertiary</a:t>
            </a:r>
            <a:r>
              <a:rPr lang="en-US" sz="2400" dirty="0"/>
              <a:t>: systemic lesions become symptomatic,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e.g. Aortitis, posterior cord degeneration and dementia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The characteristic </a:t>
            </a:r>
            <a:r>
              <a:rPr lang="en-US" sz="2000" b="1" dirty="0">
                <a:solidFill>
                  <a:srgbClr val="002060"/>
                </a:solidFill>
              </a:rPr>
              <a:t>syphilitic lesions (gummas), </a:t>
            </a:r>
            <a:r>
              <a:rPr lang="en-US" sz="2000" dirty="0"/>
              <a:t>which consist of</a:t>
            </a:r>
            <a:br>
              <a:rPr lang="en-US" sz="2000" dirty="0"/>
            </a:br>
            <a:r>
              <a:rPr lang="en-US" sz="2000" dirty="0"/>
              <a:t>necrosis and obliterative endarteritis with firoblastic proliferation</a:t>
            </a:r>
            <a:br>
              <a:rPr lang="en-US" sz="2000" dirty="0"/>
            </a:br>
            <a:r>
              <a:rPr lang="en-US" sz="2000" dirty="0"/>
              <a:t>and lymphocyte infitration, are found throughout the body.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Shemse Sebre (BSc, MSc, PhD candidate)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42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09" y="838200"/>
            <a:ext cx="34290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45" y="3305175"/>
            <a:ext cx="3352800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762000"/>
            <a:ext cx="3138055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37310" y="2901208"/>
            <a:ext cx="346363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 rash of secondary syphilis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1" y="4876666"/>
            <a:ext cx="36714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 palmar rash of secondary syphilis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819400"/>
            <a:ext cx="2667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Condylomata</a:t>
            </a:r>
            <a:r>
              <a:rPr lang="en-US" dirty="0"/>
              <a:t> </a:t>
            </a:r>
            <a:r>
              <a:rPr lang="en-US" dirty="0" err="1"/>
              <a:t>lata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724400" y="3429000"/>
            <a:ext cx="3124200" cy="2590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Tertiary </a:t>
            </a:r>
            <a:r>
              <a:rPr lang="en-US" dirty="0"/>
              <a:t>syphilis presents in three basic forms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Gummatous syphilis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Cardiovascular syphilis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Neurosyphilis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107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Autofit/>
          </a:bodyPr>
          <a:lstStyle/>
          <a:p>
            <a:pPr algn="r"/>
            <a:r>
              <a:rPr lang="en-US" sz="18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1"/>
            <a:ext cx="8229600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Diagnosis</a:t>
            </a:r>
            <a:endParaRPr lang="en-US" sz="2400" dirty="0"/>
          </a:p>
          <a:p>
            <a:r>
              <a:rPr lang="en-US" sz="2400" b="1" dirty="0">
                <a:solidFill>
                  <a:srgbClr val="002060"/>
                </a:solidFill>
              </a:rPr>
              <a:t>Primary</a:t>
            </a:r>
            <a:r>
              <a:rPr lang="en-US" sz="2400" dirty="0"/>
              <a:t>: dark-ground microscopy or NAAT.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Later stages</a:t>
            </a:r>
            <a:r>
              <a:rPr lang="en-US" sz="2400" dirty="0"/>
              <a:t>: EIA for specific IgG and IgM as well as cardiolipin agglutination (measures disease activity)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Tests based on cultivated treponemes such as TPHA.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CSF testing </a:t>
            </a:r>
            <a:r>
              <a:rPr lang="en-US" sz="2400" dirty="0"/>
              <a:t>: performed to detect early CNS involvement.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Neonatal</a:t>
            </a:r>
            <a:r>
              <a:rPr lang="en-US" sz="2400" dirty="0"/>
              <a:t>: detection of IgM by Western blotting.</a:t>
            </a:r>
          </a:p>
          <a:p>
            <a:pPr marL="0" indent="0">
              <a:buNone/>
            </a:pPr>
            <a:r>
              <a:rPr lang="en-US" sz="2400" b="1" dirty="0"/>
              <a:t>Treatment</a:t>
            </a:r>
            <a:endParaRPr lang="en-US" sz="2400" dirty="0"/>
          </a:p>
          <a:p>
            <a:r>
              <a:rPr lang="en-US" sz="2400" dirty="0"/>
              <a:t>Penicillin/azithromycin or tetracyclines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28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810000"/>
            <a:ext cx="23050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2971800" y="5410200"/>
            <a:ext cx="594360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i="1" dirty="0"/>
              <a:t>Fig. Treponema pallidum </a:t>
            </a:r>
            <a:r>
              <a:rPr lang="en-US" dirty="0"/>
              <a:t>(</a:t>
            </a:r>
            <a:r>
              <a:rPr lang="en-US" i="1" dirty="0"/>
              <a:t>arrow</a:t>
            </a:r>
            <a:r>
              <a:rPr lang="en-US" dirty="0"/>
              <a:t>) using dark field microscopy.</a:t>
            </a:r>
          </a:p>
        </p:txBody>
      </p:sp>
    </p:spTree>
    <p:extLst>
      <p:ext uri="{BB962C8B-B14F-4D97-AF65-F5344CB8AC3E}">
        <p14:creationId xmlns:p14="http://schemas.microsoft.com/office/powerpoint/2010/main" val="2299690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Serology for diagnosis of syphilis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1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/>
              <a:t>Two types of serological tests: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1. Non-specific Ab test</a:t>
            </a:r>
            <a:r>
              <a:rPr lang="en-US" sz="2400" dirty="0"/>
              <a:t>: VDRL,RPR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Detect IgM and IgG that develop against </a:t>
            </a:r>
            <a:r>
              <a:rPr lang="en-US" sz="2000" b="1" dirty="0">
                <a:solidFill>
                  <a:srgbClr val="002060"/>
                </a:solidFill>
              </a:rPr>
              <a:t>lipids </a:t>
            </a:r>
            <a:r>
              <a:rPr lang="en-US" sz="2000" dirty="0"/>
              <a:t>released from </a:t>
            </a:r>
            <a:r>
              <a:rPr lang="en-US" sz="2000" i="1" dirty="0"/>
              <a:t>T. pallidum </a:t>
            </a:r>
            <a:r>
              <a:rPr lang="en-US" sz="2000" dirty="0"/>
              <a:t>during </a:t>
            </a:r>
            <a:r>
              <a:rPr lang="en-US" sz="2000" b="1" dirty="0">
                <a:solidFill>
                  <a:srgbClr val="FF0000"/>
                </a:solidFill>
              </a:rPr>
              <a:t>early stages </a:t>
            </a:r>
            <a:r>
              <a:rPr lang="en-US" sz="2000" dirty="0"/>
              <a:t>of disease.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Cardiolipin-cholesterol-lecithin: Ag used in these assays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Initially extracted from </a:t>
            </a:r>
            <a:r>
              <a:rPr lang="en-US" sz="2000" b="1" dirty="0">
                <a:solidFill>
                  <a:srgbClr val="002060"/>
                </a:solidFill>
              </a:rPr>
              <a:t>beef heart </a:t>
            </a:r>
            <a:r>
              <a:rPr lang="en-US" sz="2000" dirty="0"/>
              <a:t>and is not derived from treponemes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2. Specific treponemal assays:</a:t>
            </a:r>
            <a:r>
              <a:rPr lang="en-US" dirty="0"/>
              <a:t> </a:t>
            </a:r>
            <a:r>
              <a:rPr lang="en-US" sz="2400" dirty="0"/>
              <a:t>based on </a:t>
            </a:r>
            <a:r>
              <a:rPr lang="en-US" sz="2400" i="1" dirty="0"/>
              <a:t>T. pallidum </a:t>
            </a:r>
            <a:r>
              <a:rPr lang="en-US" sz="2400" dirty="0"/>
              <a:t>derived Ags.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FTA-abs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TPPA, TPHA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190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4. Herpesviruses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62600"/>
          </a:xfr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sz="2400" dirty="0"/>
              <a:t>The family Herpesviridae </a:t>
            </a:r>
          </a:p>
          <a:p>
            <a:pPr>
              <a:buBlip>
                <a:blip r:embed="rId2"/>
              </a:buBlip>
            </a:pPr>
            <a:r>
              <a:rPr lang="en-US" sz="2400" dirty="0"/>
              <a:t>Comprises large, enveloped, dsDNA viruses </a:t>
            </a:r>
          </a:p>
          <a:p>
            <a:pPr>
              <a:buBlip>
                <a:blip r:embed="rId2"/>
              </a:buBlip>
            </a:pPr>
            <a:r>
              <a:rPr lang="en-US" sz="2400" dirty="0"/>
              <a:t>They are </a:t>
            </a:r>
            <a:r>
              <a:rPr lang="en-US" sz="2400" b="1" dirty="0">
                <a:solidFill>
                  <a:srgbClr val="002060"/>
                </a:solidFill>
              </a:rPr>
              <a:t>ubiquitous </a:t>
            </a:r>
          </a:p>
          <a:p>
            <a:pPr>
              <a:buBlip>
                <a:blip r:embed="rId2"/>
              </a:buBlip>
            </a:pPr>
            <a:r>
              <a:rPr lang="en-US" sz="2400" dirty="0"/>
              <a:t>Found in both animals and humans</a:t>
            </a:r>
            <a:endParaRPr lang="en-US" sz="2400" b="1" dirty="0">
              <a:solidFill>
                <a:srgbClr val="002060"/>
              </a:solidFill>
            </a:endParaRPr>
          </a:p>
          <a:p>
            <a:pPr>
              <a:buBlip>
                <a:blip r:embed="rId2"/>
              </a:buBlip>
            </a:pPr>
            <a:r>
              <a:rPr lang="en-US" sz="2400" b="1" dirty="0">
                <a:solidFill>
                  <a:srgbClr val="002060"/>
                </a:solidFill>
              </a:rPr>
              <a:t>Produce infections </a:t>
            </a:r>
            <a:r>
              <a:rPr lang="en-US" sz="2400" dirty="0"/>
              <a:t>ranging from </a:t>
            </a:r>
          </a:p>
          <a:p>
            <a:pPr lvl="1">
              <a:buFont typeface="Wingdings" pitchFamily="2" charset="2"/>
              <a:buChar char="Ø"/>
            </a:pPr>
            <a:r>
              <a:rPr lang="en-US" sz="1800" b="1" dirty="0">
                <a:solidFill>
                  <a:srgbClr val="002060"/>
                </a:solidFill>
              </a:rPr>
              <a:t>Painful skin ulcers </a:t>
            </a:r>
            <a:r>
              <a:rPr lang="en-US" sz="1800" dirty="0">
                <a:solidFill>
                  <a:srgbClr val="002060"/>
                </a:solidFill>
              </a:rPr>
              <a:t>to </a:t>
            </a:r>
            <a:r>
              <a:rPr lang="en-US" sz="1800" b="1" dirty="0">
                <a:solidFill>
                  <a:srgbClr val="002060"/>
                </a:solidFill>
              </a:rPr>
              <a:t>chickenpox to encephalitis</a:t>
            </a:r>
            <a:r>
              <a:rPr lang="en-US" sz="1800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4434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1"/>
            <a:ext cx="8229600" cy="5287963"/>
          </a:xfrm>
        </p:spPr>
        <p:txBody>
          <a:bodyPr/>
          <a:lstStyle/>
          <a:p>
            <a:pPr>
              <a:buBlip>
                <a:blip r:embed="rId2"/>
              </a:buBlip>
            </a:pPr>
            <a:r>
              <a:rPr lang="en-US" sz="2400" dirty="0"/>
              <a:t>Eight members of the family infect humans: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Two herpes simplex viruses (HSV-1 and HSV-2),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Cytomegalovirus (CMV),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Varicella–zoster virus (VZV),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Epstein–Barr virus (EBV),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Human herpesvirus-6 (HHV-6),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Human herpesvirus types 7 and 8 (HHV-7, HHV-8). 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A simian herpesvirus</a:t>
            </a:r>
            <a:r>
              <a:rPr lang="en-US" sz="2400" dirty="0"/>
              <a:t>, herpes B virus, has occasionally caused human disease</a:t>
            </a:r>
            <a:r>
              <a:rPr lang="en-US" sz="1800" dirty="0"/>
              <a:t>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4067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Group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52117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80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8000" b="1" dirty="0">
                <a:solidFill>
                  <a:srgbClr val="002060"/>
                </a:solidFill>
              </a:rPr>
              <a:t>Virology</a:t>
            </a:r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8000" b="1" dirty="0">
                <a:solidFill>
                  <a:srgbClr val="002060"/>
                </a:solidFill>
              </a:rPr>
              <a:t>Virion</a:t>
            </a:r>
            <a:r>
              <a:rPr lang="en-US" sz="8000" b="1" dirty="0"/>
              <a:t>: </a:t>
            </a:r>
            <a:r>
              <a:rPr lang="en-US" sz="8000" dirty="0"/>
              <a:t>Spherical, 150–200 nm in diameter (icosahedral)</a:t>
            </a:r>
          </a:p>
          <a:p>
            <a:r>
              <a:rPr lang="en-US" sz="8000" b="1" dirty="0">
                <a:solidFill>
                  <a:srgbClr val="002060"/>
                </a:solidFill>
              </a:rPr>
              <a:t>Genome</a:t>
            </a:r>
            <a:r>
              <a:rPr lang="en-US" sz="8000" b="1" dirty="0"/>
              <a:t> </a:t>
            </a:r>
            <a:r>
              <a:rPr lang="en-US" sz="8000" dirty="0"/>
              <a:t>: Ds DNA, linear, 125–240 </a:t>
            </a:r>
            <a:r>
              <a:rPr lang="en-US" sz="8000" dirty="0" err="1"/>
              <a:t>kbp</a:t>
            </a:r>
            <a:r>
              <a:rPr lang="en-US" sz="8000" dirty="0"/>
              <a:t>, reiterated sequences</a:t>
            </a:r>
          </a:p>
          <a:p>
            <a:r>
              <a:rPr lang="en-US" sz="8000" b="1" dirty="0">
                <a:solidFill>
                  <a:srgbClr val="002060"/>
                </a:solidFill>
              </a:rPr>
              <a:t>Proteins</a:t>
            </a:r>
            <a:r>
              <a:rPr lang="en-US" sz="8000" b="1" dirty="0"/>
              <a:t>: </a:t>
            </a:r>
            <a:r>
              <a:rPr lang="en-US" sz="8000" dirty="0"/>
              <a:t>More than 35 proteins in virion</a:t>
            </a:r>
          </a:p>
          <a:p>
            <a:r>
              <a:rPr lang="en-US" sz="8000" dirty="0"/>
              <a:t>Over the </a:t>
            </a:r>
            <a:r>
              <a:rPr lang="en-US" sz="8000" b="1" dirty="0">
                <a:solidFill>
                  <a:srgbClr val="002060"/>
                </a:solidFill>
              </a:rPr>
              <a:t>capsid</a:t>
            </a:r>
            <a:r>
              <a:rPr lang="en-US" sz="8000" dirty="0"/>
              <a:t> is a protein-filled region called the </a:t>
            </a:r>
            <a:r>
              <a:rPr lang="en-US" sz="8000" b="1" dirty="0">
                <a:solidFill>
                  <a:srgbClr val="002060"/>
                </a:solidFill>
              </a:rPr>
              <a:t>tegument</a:t>
            </a:r>
            <a:r>
              <a:rPr lang="en-US" sz="8000" dirty="0"/>
              <a:t>. </a:t>
            </a:r>
          </a:p>
          <a:p>
            <a:r>
              <a:rPr lang="en-US" sz="8000" b="1" dirty="0">
                <a:solidFill>
                  <a:srgbClr val="002060"/>
                </a:solidFill>
              </a:rPr>
              <a:t>Envelope</a:t>
            </a:r>
            <a:r>
              <a:rPr lang="en-US" sz="8000" b="1" dirty="0"/>
              <a:t>: </a:t>
            </a:r>
            <a:r>
              <a:rPr lang="en-US" sz="8000" dirty="0"/>
              <a:t>Contains viral glycoproteins, Fc receptors</a:t>
            </a:r>
          </a:p>
          <a:p>
            <a:r>
              <a:rPr lang="en-US" sz="8000" b="1" dirty="0">
                <a:solidFill>
                  <a:srgbClr val="002060"/>
                </a:solidFill>
              </a:rPr>
              <a:t>Replication</a:t>
            </a:r>
            <a:r>
              <a:rPr lang="en-US" sz="8000" b="1" dirty="0"/>
              <a:t>: </a:t>
            </a:r>
            <a:r>
              <a:rPr lang="en-US" sz="8000" dirty="0"/>
              <a:t>Nucleus, bud from nuclear membrane</a:t>
            </a:r>
            <a:br>
              <a:rPr lang="en-US" sz="8000" dirty="0"/>
            </a:br>
            <a:br>
              <a:rPr lang="en-US" sz="8000" dirty="0"/>
            </a:br>
            <a:br>
              <a:rPr lang="en-US" sz="18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pic>
        <p:nvPicPr>
          <p:cNvPr id="3074" name="Picture 2" descr="Seeking Closure: How Do Herpesviruses Recruit the Cellular ESCRT Apparatus?  | Journal of Vir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505200"/>
            <a:ext cx="5791200" cy="252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1092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1"/>
            <a:ext cx="8229600" cy="5516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Outstanding characteristics:</a:t>
            </a: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Encode many enzymes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Establish latent infections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Persist indefinitely in infected hosts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Frequently reactivated in immunosuppressed hosts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Some cause cancer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3828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3200" b="1" i="1" dirty="0">
                <a:solidFill>
                  <a:srgbClr val="002060"/>
                </a:solidFill>
              </a:rPr>
              <a:t>1. Herpes Simplex Virus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50593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200" b="1" dirty="0">
                <a:solidFill>
                  <a:srgbClr val="002060"/>
                </a:solidFill>
              </a:rPr>
              <a:t>HSV-1 and HSV-2 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/>
              <a:t>Differences in glycoprotein </a:t>
            </a:r>
            <a:r>
              <a:rPr lang="en-US" sz="2200" dirty="0" err="1"/>
              <a:t>gB</a:t>
            </a:r>
            <a:r>
              <a:rPr lang="en-US" sz="2200" dirty="0"/>
              <a:t> (</a:t>
            </a:r>
            <a:r>
              <a:rPr lang="en-US" sz="2200" dirty="0" err="1"/>
              <a:t>i.e</a:t>
            </a:r>
            <a:r>
              <a:rPr lang="en-US" sz="2200" dirty="0"/>
              <a:t>, HSV-1; gB1 and HSV-2; gB2)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HSV Disease</a:t>
            </a:r>
          </a:p>
          <a:p>
            <a:r>
              <a:rPr lang="en-US" sz="2200" dirty="0"/>
              <a:t>Cause </a:t>
            </a:r>
            <a:r>
              <a:rPr lang="en-US" sz="2200" b="1" dirty="0">
                <a:solidFill>
                  <a:srgbClr val="002060"/>
                </a:solidFill>
              </a:rPr>
              <a:t>recurrent ulcers </a:t>
            </a:r>
            <a:r>
              <a:rPr lang="en-US" sz="2200" dirty="0"/>
              <a:t>in areas of skin and mucous membranes. </a:t>
            </a:r>
          </a:p>
          <a:p>
            <a:r>
              <a:rPr lang="en-US" sz="2200" dirty="0"/>
              <a:t>Causing lesions </a:t>
            </a:r>
            <a:r>
              <a:rPr lang="en-US" sz="2200" b="1" dirty="0">
                <a:solidFill>
                  <a:srgbClr val="002060"/>
                </a:solidFill>
              </a:rPr>
              <a:t>“above the waist” </a:t>
            </a:r>
            <a:r>
              <a:rPr lang="en-US" sz="2200" dirty="0"/>
              <a:t>(HSV-1) or </a:t>
            </a:r>
            <a:r>
              <a:rPr lang="en-US" sz="2200" b="1" dirty="0">
                <a:solidFill>
                  <a:srgbClr val="002060"/>
                </a:solidFill>
              </a:rPr>
              <a:t>“below the waist” </a:t>
            </a:r>
            <a:r>
              <a:rPr lang="en-US" sz="2200" dirty="0"/>
              <a:t>(HSV-2).</a:t>
            </a:r>
          </a:p>
          <a:p>
            <a:r>
              <a:rPr lang="en-US" sz="2200" dirty="0"/>
              <a:t>HSV persists in a </a:t>
            </a:r>
            <a:r>
              <a:rPr lang="en-US" sz="2200" b="1" dirty="0">
                <a:solidFill>
                  <a:srgbClr val="002060"/>
                </a:solidFill>
              </a:rPr>
              <a:t>latent form </a:t>
            </a:r>
            <a:r>
              <a:rPr lang="en-US" sz="2200" dirty="0"/>
              <a:t>and </a:t>
            </a:r>
          </a:p>
          <a:p>
            <a:r>
              <a:rPr lang="en-US" sz="2200" dirty="0"/>
              <a:t>Reactivates to cause viral excretion and/or disease.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3045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sz="2200" dirty="0"/>
              <a:t>Cont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1"/>
            <a:ext cx="8229600" cy="52879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Epidemiology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2060"/>
                </a:solidFill>
              </a:rPr>
              <a:t>of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2060"/>
                </a:solidFill>
              </a:rPr>
              <a:t>HSV </a:t>
            </a:r>
          </a:p>
          <a:p>
            <a:r>
              <a:rPr lang="en-US" sz="2400" dirty="0"/>
              <a:t>Distributed worldwide</a:t>
            </a:r>
          </a:p>
          <a:p>
            <a:r>
              <a:rPr lang="en-US" sz="2400" dirty="0"/>
              <a:t>Humans appear to be only natural reservoir </a:t>
            </a:r>
          </a:p>
          <a:p>
            <a:r>
              <a:rPr lang="en-US" sz="2400" dirty="0"/>
              <a:t>Transmitted through direct contact with </a:t>
            </a:r>
            <a:r>
              <a:rPr lang="en-US" sz="2400" b="1" dirty="0">
                <a:solidFill>
                  <a:srgbClr val="002060"/>
                </a:solidFill>
              </a:rPr>
              <a:t>infected secretions</a:t>
            </a:r>
            <a:endParaRPr lang="en-US" sz="2400" dirty="0"/>
          </a:p>
          <a:p>
            <a:r>
              <a:rPr lang="en-US" sz="2400" dirty="0"/>
              <a:t>High seroprevalence among humans, which increases with age</a:t>
            </a:r>
          </a:p>
          <a:p>
            <a:r>
              <a:rPr lang="en-US" sz="2400" dirty="0"/>
              <a:t>Infection with </a:t>
            </a:r>
            <a:r>
              <a:rPr lang="en-US" sz="2400" b="1" dirty="0">
                <a:solidFill>
                  <a:srgbClr val="002060"/>
                </a:solidFill>
              </a:rPr>
              <a:t>HSV-2 </a:t>
            </a:r>
            <a:r>
              <a:rPr lang="en-US" sz="2400" dirty="0"/>
              <a:t>linked to </a:t>
            </a:r>
            <a:r>
              <a:rPr lang="en-US" sz="2400" b="1" dirty="0">
                <a:solidFill>
                  <a:srgbClr val="002060"/>
                </a:solidFill>
              </a:rPr>
              <a:t>sexual activity</a:t>
            </a:r>
            <a:br>
              <a:rPr lang="en-US" sz="2400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4146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6388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Pathogenesis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Acute Infections</a:t>
            </a:r>
          </a:p>
          <a:p>
            <a:r>
              <a:rPr lang="en-US" sz="2400" dirty="0"/>
              <a:t>Infection produces inflammation and giant cells</a:t>
            </a:r>
          </a:p>
          <a:p>
            <a:r>
              <a:rPr lang="en-US" sz="2400" dirty="0"/>
              <a:t>Virus can infect and spread in axons and ganglia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Latent Infection</a:t>
            </a:r>
          </a:p>
          <a:p>
            <a:r>
              <a:rPr lang="en-US" sz="2400" dirty="0"/>
              <a:t>No synthesis of early or late viral polypeptides in latent infection</a:t>
            </a:r>
          </a:p>
          <a:p>
            <a:r>
              <a:rPr lang="en-US" sz="2400" dirty="0"/>
              <a:t>Reactivation can be precipitated by sun exposure, fever, or trauma</a:t>
            </a:r>
          </a:p>
        </p:txBody>
      </p:sp>
    </p:spTree>
    <p:extLst>
      <p:ext uri="{BB962C8B-B14F-4D97-AF65-F5344CB8AC3E}">
        <p14:creationId xmlns:p14="http://schemas.microsoft.com/office/powerpoint/2010/main" val="26460565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pPr algn="r"/>
            <a:r>
              <a:rPr lang="en-US" sz="2700" dirty="0"/>
              <a:t>Cont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1"/>
            <a:ext cx="8229600" cy="52879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0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Manifestations of HSV-1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Vesicular lesions become pustular 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Ulcerate Infections generally involve ectoderm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It usually cause </a:t>
            </a:r>
            <a:r>
              <a:rPr lang="en-US" sz="2400" b="1" dirty="0">
                <a:solidFill>
                  <a:srgbClr val="002060"/>
                </a:solidFill>
              </a:rPr>
              <a:t>gingivostomatitis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Recurrent </a:t>
            </a:r>
            <a:r>
              <a:rPr lang="en-US" sz="2400" b="1" dirty="0">
                <a:solidFill>
                  <a:srgbClr val="002060"/>
                </a:solidFill>
              </a:rPr>
              <a:t>cold sores </a:t>
            </a:r>
            <a:r>
              <a:rPr lang="en-US" sz="2400" dirty="0"/>
              <a:t>usually unilateral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Virus in saliva with asymptomatic reactivation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Herpetic whitlow </a:t>
            </a:r>
            <a:endParaRPr lang="en-US" sz="2000" dirty="0"/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Herpetic corneal </a:t>
            </a:r>
            <a:r>
              <a:rPr lang="en-US" sz="2000" dirty="0"/>
              <a:t>and conjunctival infection</a:t>
            </a:r>
            <a:endParaRPr lang="en-US" sz="2000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Herpes encephalitis (temporal lobe)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332631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HSV-2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334000"/>
          </a:xfr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dirty="0"/>
              <a:t>The most common cause of GUD</a:t>
            </a: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Primary Genital Herpes Infection</a:t>
            </a:r>
          </a:p>
          <a:p>
            <a:r>
              <a:rPr lang="en-US" sz="2400" dirty="0"/>
              <a:t>Multiple painful vesicopustular lesions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Recurrent Genital Herpes Infection</a:t>
            </a:r>
          </a:p>
          <a:p>
            <a:r>
              <a:rPr lang="en-US" sz="2400" dirty="0"/>
              <a:t>Prodromal paresthesias </a:t>
            </a:r>
          </a:p>
          <a:p>
            <a:r>
              <a:rPr lang="en-US" sz="2400" dirty="0"/>
              <a:t>Recurrent episodes common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Neonatal Herpes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Usually transmitted from mother at birth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High mortality if disseminated</a:t>
            </a:r>
            <a:br>
              <a:rPr lang="en-US" sz="2000" dirty="0">
                <a:solidFill>
                  <a:srgbClr val="002060"/>
                </a:solidFill>
              </a:rPr>
            </a:b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143000"/>
            <a:ext cx="2971800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715000" y="3619501"/>
            <a:ext cx="297180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HSV lesions on a penile shaft.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62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1"/>
            <a:ext cx="8229600" cy="54403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9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9600" b="1" dirty="0">
                <a:solidFill>
                  <a:srgbClr val="002060"/>
                </a:solidFill>
              </a:rPr>
              <a:t>Diagnosis</a:t>
            </a:r>
          </a:p>
          <a:p>
            <a:r>
              <a:rPr lang="en-US" sz="9600" dirty="0"/>
              <a:t>Cell culture </a:t>
            </a:r>
          </a:p>
          <a:p>
            <a:r>
              <a:rPr lang="en-US" sz="9600" dirty="0"/>
              <a:t>Monoclonal antibodies</a:t>
            </a:r>
          </a:p>
          <a:p>
            <a:r>
              <a:rPr lang="en-US" sz="9600" b="1" dirty="0">
                <a:solidFill>
                  <a:srgbClr val="002060"/>
                </a:solidFill>
              </a:rPr>
              <a:t>Tzanck test</a:t>
            </a:r>
            <a:r>
              <a:rPr lang="en-US" sz="9600" dirty="0"/>
              <a:t>: intranuclear inclusions or multinucleated giant cells typical of herpes from lesion by histological stain.</a:t>
            </a:r>
          </a:p>
          <a:p>
            <a:r>
              <a:rPr lang="en-US" sz="9600" dirty="0"/>
              <a:t>EIA, immunofluorescence, and PCR</a:t>
            </a:r>
          </a:p>
          <a:p>
            <a:pPr marL="0" indent="0">
              <a:buNone/>
            </a:pPr>
            <a:r>
              <a:rPr lang="en-US" sz="9600" b="1" dirty="0">
                <a:solidFill>
                  <a:srgbClr val="002060"/>
                </a:solidFill>
              </a:rPr>
              <a:t>Treatment</a:t>
            </a:r>
          </a:p>
          <a:p>
            <a:r>
              <a:rPr lang="en-US" sz="9600" dirty="0">
                <a:solidFill>
                  <a:srgbClr val="002060"/>
                </a:solidFill>
              </a:rPr>
              <a:t>Acyclovir </a:t>
            </a:r>
          </a:p>
          <a:p>
            <a:pPr marL="0" indent="0">
              <a:buNone/>
            </a:pPr>
            <a:r>
              <a:rPr lang="en-US" sz="9600" b="1" dirty="0">
                <a:solidFill>
                  <a:srgbClr val="002060"/>
                </a:solidFill>
              </a:rPr>
              <a:t>Prevention</a:t>
            </a:r>
          </a:p>
          <a:p>
            <a:pPr>
              <a:buFont typeface="Wingdings" pitchFamily="2" charset="2"/>
              <a:buChar char="§"/>
            </a:pPr>
            <a:r>
              <a:rPr lang="en-US" sz="9600" dirty="0"/>
              <a:t>Avoiding contact with lesions </a:t>
            </a:r>
          </a:p>
          <a:p>
            <a:pPr>
              <a:buFont typeface="Wingdings" pitchFamily="2" charset="2"/>
              <a:buChar char="§"/>
            </a:pPr>
            <a:r>
              <a:rPr lang="en-US" sz="9600" dirty="0"/>
              <a:t>Safe sex practices </a:t>
            </a:r>
          </a:p>
          <a:p>
            <a:pPr>
              <a:buFont typeface="Wingdings" pitchFamily="2" charset="2"/>
              <a:buChar char="§"/>
            </a:pPr>
            <a:r>
              <a:rPr lang="en-US" sz="9600" b="1" dirty="0">
                <a:solidFill>
                  <a:srgbClr val="002060"/>
                </a:solidFill>
              </a:rPr>
              <a:t>Caesarean section </a:t>
            </a:r>
            <a:r>
              <a:rPr lang="en-US" sz="9600" dirty="0"/>
              <a:t>to avoid neonatal infection</a:t>
            </a:r>
            <a:br>
              <a:rPr lang="en-US" sz="8000" dirty="0"/>
            </a:br>
            <a:br>
              <a:rPr lang="en-US" dirty="0"/>
            </a:b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819400"/>
            <a:ext cx="2714625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724400" y="4572000"/>
            <a:ext cx="4419600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Fig. Giant cell scraped from a herpetic lesion.</a:t>
            </a:r>
          </a:p>
        </p:txBody>
      </p:sp>
    </p:spTree>
    <p:extLst>
      <p:ext uri="{BB962C8B-B14F-4D97-AF65-F5344CB8AC3E}">
        <p14:creationId xmlns:p14="http://schemas.microsoft.com/office/powerpoint/2010/main" val="25183602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443227"/>
              </p:ext>
            </p:extLst>
          </p:nvPr>
        </p:nvGraphicFramePr>
        <p:xfrm>
          <a:off x="457200" y="609600"/>
          <a:ext cx="8153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Disease</a:t>
                      </a:r>
                      <a:b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and</a:t>
                      </a:r>
                      <a:b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Tenderness</a:t>
                      </a:r>
                      <a:b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Ulcer Appearance</a:t>
                      </a:r>
                      <a:b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Adenopathy</a:t>
                      </a:r>
                      <a:b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HSV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Clusters of ulcers</a:t>
                      </a:r>
                      <a:r>
                        <a:rPr lang="en-US" sz="180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on labia and penis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Tender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Uniform size clean base erythematous border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Tender inguinal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nodes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Syphilis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or two lesions</a:t>
                      </a:r>
                      <a:r>
                        <a:rPr lang="en-US" sz="180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on</a:t>
                      </a:r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vagina and penis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Little to no tenderness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Clean base indurated border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Rubbery, mildly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tender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Chancroid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or two lesions on labia and penis,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 coalesce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Painful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be large, ragged, and necrotic base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undermined edge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 tender</a:t>
                      </a:r>
                      <a:b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fluctuant inguinal nodes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28600"/>
            <a:ext cx="800100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Table. </a:t>
            </a:r>
            <a:r>
              <a:rPr lang="en-US" dirty="0"/>
              <a:t>Characteristics that Differentiate Genital Ulcerative Diseases</a:t>
            </a:r>
          </a:p>
        </p:txBody>
      </p:sp>
    </p:spTree>
    <p:extLst>
      <p:ext uri="{BB962C8B-B14F-4D97-AF65-F5344CB8AC3E}">
        <p14:creationId xmlns:p14="http://schemas.microsoft.com/office/powerpoint/2010/main" val="3571611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/>
              <a:t>Diseases Characterized by Urethritis</a:t>
            </a:r>
            <a:r>
              <a:rPr lang="en-US" sz="2800" dirty="0"/>
              <a:t> </a:t>
            </a:r>
            <a:r>
              <a:rPr lang="en-US" sz="2800" b="1" dirty="0"/>
              <a:t>or Cervicitis</a:t>
            </a:r>
            <a:br>
              <a:rPr lang="en-US" sz="2800" dirty="0"/>
            </a:br>
            <a:r>
              <a:rPr lang="en-US" sz="2800" dirty="0"/>
              <a:t> </a:t>
            </a:r>
            <a:r>
              <a:rPr lang="en-US" sz="2800" b="1" i="1" dirty="0"/>
              <a:t>Gram-negative cocci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b="1" i="1" dirty="0">
                <a:solidFill>
                  <a:srgbClr val="002060"/>
                </a:solidFill>
              </a:rPr>
              <a:t>Neisseria</a:t>
            </a:r>
          </a:p>
          <a:p>
            <a:pPr marL="0" indent="0">
              <a:buNone/>
            </a:pPr>
            <a:r>
              <a:rPr lang="en-US" sz="2400" dirty="0"/>
              <a:t>Two important human pathogens: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i="1" dirty="0"/>
              <a:t>N. gonorrhoeae </a:t>
            </a:r>
            <a:r>
              <a:rPr lang="en-US" sz="2400" dirty="0"/>
              <a:t>(gonococcus) and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i="1" dirty="0"/>
              <a:t>N. meningitidis </a:t>
            </a:r>
            <a:r>
              <a:rPr lang="en-US" sz="2400" dirty="0"/>
              <a:t>(</a:t>
            </a:r>
            <a:r>
              <a:rPr lang="en-US" sz="2400" dirty="0" err="1"/>
              <a:t>meningococcus</a:t>
            </a:r>
            <a:r>
              <a:rPr lang="en-US" sz="2400" dirty="0"/>
              <a:t>)</a:t>
            </a:r>
          </a:p>
          <a:p>
            <a:r>
              <a:rPr lang="en-US" sz="2400" dirty="0"/>
              <a:t>Some </a:t>
            </a:r>
            <a:r>
              <a:rPr lang="en-US" sz="2400" i="1" dirty="0"/>
              <a:t>Neisseria species </a:t>
            </a:r>
            <a:r>
              <a:rPr lang="en-US" sz="2400" dirty="0"/>
              <a:t>are commensals of human URT.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US" sz="2800" b="1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D187-2616-4187-9E28-C4B407A8B810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555344"/>
              </p:ext>
            </p:extLst>
          </p:nvPr>
        </p:nvGraphicFramePr>
        <p:xfrm>
          <a:off x="914400" y="3581401"/>
          <a:ext cx="7162800" cy="284607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7270">
                <a:tc>
                  <a:txBody>
                    <a:bodyPr/>
                    <a:lstStyle/>
                    <a:p>
                      <a:r>
                        <a:rPr lang="en-US" sz="2000" i="1" kern="1200" dirty="0">
                          <a:effectLst/>
                        </a:rPr>
                        <a:t>N. meningitidis</a:t>
                      </a:r>
                      <a:endParaRPr 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Meningitis,</a:t>
                      </a:r>
                      <a:r>
                        <a:rPr lang="en-US" sz="1800" kern="1200" baseline="0" dirty="0">
                          <a:effectLst/>
                        </a:rPr>
                        <a:t> </a:t>
                      </a:r>
                      <a:r>
                        <a:rPr lang="en-US" sz="1800" kern="1200" dirty="0">
                          <a:effectLst/>
                        </a:rPr>
                        <a:t>Bloodstream infection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729">
                <a:tc>
                  <a:txBody>
                    <a:bodyPr/>
                    <a:lstStyle/>
                    <a:p>
                      <a:r>
                        <a:rPr lang="en-US" sz="2000" b="1" i="1" kern="1200" dirty="0">
                          <a:effectLst/>
                        </a:rPr>
                        <a:t>N. gonorrhoeae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effectLst/>
                        </a:rPr>
                        <a:t>Urethritis, cervicitis</a:t>
                      </a:r>
                      <a:r>
                        <a:rPr lang="en-US" sz="1800" b="1" kern="1200" baseline="0" dirty="0">
                          <a:effectLst/>
                        </a:rPr>
                        <a:t> , </a:t>
                      </a:r>
                      <a:r>
                        <a:rPr lang="en-US" sz="1800" b="1" kern="1200" dirty="0">
                          <a:effectLst/>
                        </a:rPr>
                        <a:t>Epididymitis</a:t>
                      </a:r>
                      <a:br>
                        <a:rPr lang="en-US" sz="1800" b="1" kern="1200" dirty="0">
                          <a:effectLst/>
                        </a:rPr>
                      </a:br>
                      <a:r>
                        <a:rPr lang="en-US" sz="1800" b="1" kern="1200" dirty="0">
                          <a:effectLst/>
                        </a:rPr>
                        <a:t>Pelvic inflammatory disease,</a:t>
                      </a:r>
                      <a:r>
                        <a:rPr lang="en-US" sz="1800" b="1" kern="1200" baseline="0" dirty="0">
                          <a:effectLst/>
                        </a:rPr>
                        <a:t> </a:t>
                      </a:r>
                      <a:r>
                        <a:rPr lang="en-US" sz="1800" b="1" kern="1200" dirty="0">
                          <a:effectLst/>
                        </a:rPr>
                        <a:t>Neonatal ophthalmia, bloodstream infection,</a:t>
                      </a:r>
                      <a:r>
                        <a:rPr lang="en-US" sz="1800" b="1" kern="1200" baseline="0" dirty="0">
                          <a:effectLst/>
                        </a:rPr>
                        <a:t> </a:t>
                      </a:r>
                      <a:r>
                        <a:rPr lang="en-US" sz="1800" b="1" kern="1200" dirty="0">
                          <a:effectLst/>
                        </a:rPr>
                        <a:t>Arthritis</a:t>
                      </a:r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2000" b="1" i="1" kern="1200" dirty="0">
                          <a:effectLst/>
                        </a:rPr>
                        <a:t>Moraxella </a:t>
                      </a:r>
                      <a:r>
                        <a:rPr lang="en-US" sz="2000" b="1" i="1" kern="1200" dirty="0" err="1">
                          <a:effectLst/>
                        </a:rPr>
                        <a:t>catarrhalis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effectLst/>
                        </a:rPr>
                        <a:t>Upper and lower respiratory</a:t>
                      </a:r>
                      <a:r>
                        <a:rPr lang="en-US" sz="1800" b="1" kern="1200" baseline="0" dirty="0">
                          <a:effectLst/>
                        </a:rPr>
                        <a:t> </a:t>
                      </a:r>
                      <a:r>
                        <a:rPr lang="en-US" sz="1800" b="1" kern="1200" dirty="0">
                          <a:effectLst/>
                        </a:rPr>
                        <a:t>tract infections</a:t>
                      </a:r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848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i="1" dirty="0"/>
              <a:t>N. gonorrhoeae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830763"/>
          </a:xfrm>
        </p:spPr>
        <p:txBody>
          <a:bodyPr/>
          <a:lstStyle/>
          <a:p>
            <a:r>
              <a:rPr lang="en-US" sz="2400" dirty="0"/>
              <a:t>GN kidney-shaped cocci, usually in pairs (diplococci) </a:t>
            </a:r>
          </a:p>
          <a:p>
            <a:r>
              <a:rPr lang="en-US" sz="2400" dirty="0"/>
              <a:t>Aerobic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D15C1-0042-4EFD-BD69-F50F65AD022E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42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33600"/>
            <a:ext cx="51054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838200" y="5035621"/>
            <a:ext cx="7086600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Fig. Intracellular Gram-negative diplococci (arrowed) of </a:t>
            </a:r>
            <a:r>
              <a:rPr lang="en-US" sz="2000" b="1" i="1" dirty="0"/>
              <a:t>Neisseria gonorrhoeae</a:t>
            </a:r>
            <a:r>
              <a:rPr lang="en-US" sz="2000" b="1" dirty="0"/>
              <a:t> (0.8 mm diameter) in neutrophils.</a:t>
            </a:r>
          </a:p>
        </p:txBody>
      </p:sp>
    </p:spTree>
    <p:extLst>
      <p:ext uri="{BB962C8B-B14F-4D97-AF65-F5344CB8AC3E}">
        <p14:creationId xmlns:p14="http://schemas.microsoft.com/office/powerpoint/2010/main" val="14662847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Epidemiology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830763"/>
          </a:xfrm>
        </p:spPr>
        <p:txBody>
          <a:bodyPr>
            <a:noAutofit/>
          </a:bodyPr>
          <a:lstStyle/>
          <a:p>
            <a:r>
              <a:rPr lang="en-US" sz="2400" dirty="0"/>
              <a:t>Obligate human parasite</a:t>
            </a:r>
          </a:p>
          <a:p>
            <a:r>
              <a:rPr lang="en-US" sz="2400" dirty="0"/>
              <a:t>Many women are asymptomatic (reservoir of infection)</a:t>
            </a:r>
          </a:p>
          <a:p>
            <a:r>
              <a:rPr lang="en-US" sz="2400" dirty="0"/>
              <a:t>Highly transmissible by sexual contact</a:t>
            </a:r>
          </a:p>
          <a:p>
            <a:r>
              <a:rPr lang="en-US" sz="2400" dirty="0"/>
              <a:t>Vertical transmission to neonates</a:t>
            </a:r>
          </a:p>
          <a:p>
            <a:r>
              <a:rPr lang="en-US" sz="2400" dirty="0"/>
              <a:t>Occurs worldwide</a:t>
            </a:r>
          </a:p>
          <a:p>
            <a:r>
              <a:rPr lang="en-US" sz="2400" dirty="0"/>
              <a:t>Infections are most common among sexually active young adults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2392-2F94-4993-A316-91B2CA983AEB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174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1"/>
            <a:ext cx="82296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Pathogenicity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Cell-surface pili</a:t>
            </a:r>
            <a:r>
              <a:rPr lang="en-US" sz="2400" dirty="0"/>
              <a:t>, which aid adherence to </a:t>
            </a:r>
            <a:r>
              <a:rPr lang="en-US" sz="2400" b="1" dirty="0">
                <a:solidFill>
                  <a:srgbClr val="002060"/>
                </a:solidFill>
              </a:rPr>
              <a:t>mucosal surfaces</a:t>
            </a:r>
            <a:r>
              <a:rPr lang="en-US" sz="2400" dirty="0"/>
              <a:t>, thus initiating infection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IgA proteases</a:t>
            </a:r>
          </a:p>
          <a:p>
            <a:r>
              <a:rPr lang="en-US" sz="2400" dirty="0"/>
              <a:t>Can survive intracellularly within </a:t>
            </a:r>
            <a:r>
              <a:rPr lang="en-US" sz="2400" b="1" dirty="0">
                <a:solidFill>
                  <a:srgbClr val="002060"/>
                </a:solidFill>
              </a:rPr>
              <a:t>PMNs </a:t>
            </a:r>
            <a:r>
              <a:rPr lang="en-US" sz="2400" dirty="0"/>
              <a:t>and </a:t>
            </a:r>
          </a:p>
          <a:p>
            <a:r>
              <a:rPr lang="en-US" sz="2400" dirty="0"/>
              <a:t>Some strains are also able to </a:t>
            </a:r>
            <a:r>
              <a:rPr lang="en-US" sz="2400" b="1" dirty="0">
                <a:solidFill>
                  <a:srgbClr val="002060"/>
                </a:solidFill>
              </a:rPr>
              <a:t>resist serum lysis</a:t>
            </a:r>
          </a:p>
          <a:p>
            <a:r>
              <a:rPr lang="en-US" sz="2400" dirty="0"/>
              <a:t>Re-infections occur, because protective immunity does not develop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CC-C8E4-4DCB-A524-65450553CE5E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867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1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Associated infections</a:t>
            </a:r>
          </a:p>
          <a:p>
            <a:r>
              <a:rPr lang="en-US" sz="2400" dirty="0"/>
              <a:t>Genitourinary: </a:t>
            </a:r>
            <a:r>
              <a:rPr lang="en-US" sz="2400" b="1" dirty="0">
                <a:solidFill>
                  <a:srgbClr val="002060"/>
                </a:solidFill>
              </a:rPr>
              <a:t>urethritis, cervicitis</a:t>
            </a:r>
          </a:p>
          <a:p>
            <a:r>
              <a:rPr lang="en-US" sz="2400" dirty="0"/>
              <a:t>Gastrointestinal: proctitis (asymptomatic in many)</a:t>
            </a:r>
          </a:p>
          <a:p>
            <a:r>
              <a:rPr lang="en-US" sz="2400" dirty="0"/>
              <a:t>Occular: hyper-acute conjunctivitis, periorbital cellulitis</a:t>
            </a:r>
          </a:p>
          <a:p>
            <a:r>
              <a:rPr lang="en-US" sz="2400" dirty="0"/>
              <a:t>Blood: BSI (disseminated gonococcal infection)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C5CB-57B3-4DDB-87ED-7070F01C1E3D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45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740" y="2895600"/>
            <a:ext cx="2905125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1447800" y="4831360"/>
            <a:ext cx="457200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/>
              <a:t>Fig. Gonococcal urethral discharge.</a:t>
            </a:r>
          </a:p>
        </p:txBody>
      </p:sp>
    </p:spTree>
    <p:extLst>
      <p:ext uri="{BB962C8B-B14F-4D97-AF65-F5344CB8AC3E}">
        <p14:creationId xmlns:p14="http://schemas.microsoft.com/office/powerpoint/2010/main" val="261054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1"/>
            <a:ext cx="8229600" cy="5516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Laboratory identification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sz="2400" b="1" dirty="0">
                <a:solidFill>
                  <a:srgbClr val="002060"/>
                </a:solidFill>
              </a:rPr>
              <a:t>Microscopy</a:t>
            </a:r>
            <a:r>
              <a:rPr lang="en-US" sz="2400" dirty="0"/>
              <a:t>; Gram stain:</a:t>
            </a:r>
            <a:r>
              <a:rPr lang="en-US" dirty="0"/>
              <a:t> </a:t>
            </a:r>
            <a:r>
              <a:rPr lang="en-US" sz="2400" dirty="0"/>
              <a:t>kidney-shaped GN diplococci are seen in </a:t>
            </a:r>
            <a:r>
              <a:rPr lang="en-US" sz="2400" b="1" dirty="0">
                <a:solidFill>
                  <a:srgbClr val="002060"/>
                </a:solidFill>
              </a:rPr>
              <a:t>pus cells</a:t>
            </a:r>
            <a:r>
              <a:rPr lang="en-US" sz="2400" dirty="0"/>
              <a:t>. </a:t>
            </a:r>
          </a:p>
          <a:p>
            <a:r>
              <a:rPr lang="en-US" sz="2400" dirty="0"/>
              <a:t>Specimens should be rapidly transported to laboratory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Cultures</a:t>
            </a:r>
            <a:r>
              <a:rPr lang="en-US" sz="2400" dirty="0"/>
              <a:t>: selective media</a:t>
            </a:r>
          </a:p>
          <a:p>
            <a:r>
              <a:rPr lang="en-US" sz="2400" dirty="0"/>
              <a:t>Positive oxidase reaction, catalase production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Treatment and prevention</a:t>
            </a:r>
          </a:p>
          <a:p>
            <a:r>
              <a:rPr lang="en-US" sz="2400" dirty="0"/>
              <a:t>Ceftriaxone</a:t>
            </a:r>
          </a:p>
          <a:p>
            <a:r>
              <a:rPr lang="en-US" sz="2400" dirty="0"/>
              <a:t>No vaccine</a:t>
            </a:r>
            <a:endParaRPr lang="en-US" dirty="0"/>
          </a:p>
          <a:p>
            <a:r>
              <a:rPr lang="en-US" sz="2400" dirty="0"/>
              <a:t>Prevention includes sex education, promotion of public awareness, contact tracing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68063-7F4D-4AC0-A150-7C9C2BF084F9}" type="datetime1">
              <a:rPr lang="en-US" smtClean="0"/>
              <a:t>1/31/2024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46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20DFC0C-B170-EF17-3801-21DD1EC29789}"/>
              </a:ext>
            </a:extLst>
          </p:cNvPr>
          <p:cNvSpPr txBox="1">
            <a:spLocks/>
          </p:cNvSpPr>
          <p:nvPr/>
        </p:nvSpPr>
        <p:spPr>
          <a:xfrm>
            <a:off x="3429000" y="633261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Shemse Sebre (BSc, MSc, PhD candidate)</a:t>
            </a:r>
          </a:p>
        </p:txBody>
      </p:sp>
    </p:spTree>
    <p:extLst>
      <p:ext uri="{BB962C8B-B14F-4D97-AF65-F5344CB8AC3E}">
        <p14:creationId xmlns:p14="http://schemas.microsoft.com/office/powerpoint/2010/main" val="6622474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/>
              <a:t>3.</a:t>
            </a:r>
            <a:r>
              <a:rPr lang="en-US" sz="3200" b="1" i="1" dirty="0"/>
              <a:t> Chlamydia 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513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There are three species: </a:t>
            </a:r>
          </a:p>
          <a:p>
            <a:r>
              <a:rPr lang="en-US" sz="2200" b="1" i="1" dirty="0">
                <a:solidFill>
                  <a:srgbClr val="002060"/>
                </a:solidFill>
              </a:rPr>
              <a:t>Chlamydia trachomatis</a:t>
            </a:r>
            <a:r>
              <a:rPr lang="en-US" sz="2200" dirty="0"/>
              <a:t>: infects eye and genital tract </a:t>
            </a:r>
          </a:p>
          <a:p>
            <a:r>
              <a:rPr lang="en-US" sz="2200" dirty="0"/>
              <a:t>Two respiratory pathogens,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i="1" dirty="0">
                <a:solidFill>
                  <a:srgbClr val="002060"/>
                </a:solidFill>
              </a:rPr>
              <a:t>C. pneumonia </a:t>
            </a:r>
            <a:endParaRPr lang="en-US" sz="2000" b="1" dirty="0">
              <a:solidFill>
                <a:srgbClr val="00206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b="1" i="1" dirty="0">
                <a:solidFill>
                  <a:srgbClr val="002060"/>
                </a:solidFill>
              </a:rPr>
              <a:t>Chlamydophila psittaci</a:t>
            </a:r>
            <a:endParaRPr lang="en-US" sz="36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They are obligate, intracellular bacteria 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Exist in two forms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</a:rPr>
              <a:t>Reticulate body</a:t>
            </a:r>
            <a:r>
              <a:rPr lang="en-US" sz="2400" dirty="0"/>
              <a:t>: a non-infective, intracellular, vegetative form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</a:rPr>
              <a:t>Elementary body</a:t>
            </a:r>
            <a:r>
              <a:rPr lang="en-US" sz="2400" dirty="0"/>
              <a:t>: an extracellular form that permits the organism to survive and be transmitted </a:t>
            </a:r>
          </a:p>
          <a:p>
            <a:pPr lvl="1">
              <a:buFont typeface="Wingdings" pitchFamily="2" charset="2"/>
              <a:buChar char="ü"/>
            </a:pPr>
            <a:r>
              <a:rPr lang="en-US" sz="2200" dirty="0"/>
              <a:t>which is derived from the reticulate body by binary fission.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47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12B0884-A05B-3439-5188-3C29CB5D0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/>
              <a:t>Shemse Sebre (BSc, MSc, PhD candidate)</a:t>
            </a:r>
          </a:p>
        </p:txBody>
      </p:sp>
    </p:spTree>
    <p:extLst>
      <p:ext uri="{BB962C8B-B14F-4D97-AF65-F5344CB8AC3E}">
        <p14:creationId xmlns:p14="http://schemas.microsoft.com/office/powerpoint/2010/main" val="2118943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1"/>
            <a:ext cx="8229600" cy="55165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Pathogenicity</a:t>
            </a:r>
            <a:endParaRPr lang="en-US" dirty="0"/>
          </a:p>
          <a:p>
            <a:r>
              <a:rPr lang="en-US" sz="2400" dirty="0"/>
              <a:t>Major outer membrane protein: attachment to mucosal cells. </a:t>
            </a:r>
          </a:p>
          <a:p>
            <a:r>
              <a:rPr lang="en-US" sz="2400" dirty="0"/>
              <a:t>A 60-kDa cysteine-rich protein also as virulence factor.</a:t>
            </a:r>
          </a:p>
          <a:p>
            <a:pPr marL="0" indent="0">
              <a:buNone/>
            </a:pPr>
            <a:r>
              <a:rPr lang="en-US" sz="2400" b="1" i="1" dirty="0">
                <a:solidFill>
                  <a:srgbClr val="002060"/>
                </a:solidFill>
              </a:rPr>
              <a:t>C. pneumoniae </a:t>
            </a:r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400" dirty="0"/>
              <a:t>Transmitted from person to person by respiratory route. </a:t>
            </a:r>
          </a:p>
          <a:p>
            <a:r>
              <a:rPr lang="en-US" sz="2400" dirty="0"/>
              <a:t>It produces pneumonia or bronchitis, clinically mild </a:t>
            </a:r>
          </a:p>
          <a:p>
            <a:r>
              <a:rPr lang="en-US" sz="2400" dirty="0"/>
              <a:t>Associated with </a:t>
            </a:r>
            <a:r>
              <a:rPr lang="en-US" sz="2400" b="1" dirty="0">
                <a:solidFill>
                  <a:srgbClr val="002060"/>
                </a:solidFill>
              </a:rPr>
              <a:t>pharyngitis, sinusitis and laryngitis</a:t>
            </a:r>
            <a:r>
              <a:rPr lang="en-US" sz="2400" dirty="0"/>
              <a:t>.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50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i="1" dirty="0"/>
              <a:t>C. trachomatis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229600" cy="5135563"/>
          </a:xfrm>
        </p:spPr>
        <p:txBody>
          <a:bodyPr>
            <a:normAutofit/>
          </a:bodyPr>
          <a:lstStyle/>
          <a:p>
            <a:r>
              <a:rPr lang="en-US" sz="2400" dirty="0"/>
              <a:t>Multiple serotypes and associated with: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u="sng" dirty="0">
                <a:solidFill>
                  <a:srgbClr val="002060"/>
                </a:solidFill>
              </a:rPr>
              <a:t>A–C</a:t>
            </a:r>
            <a:r>
              <a:rPr lang="en-US" sz="2000" dirty="0"/>
              <a:t>: trachoma and neonatal conjunctivitis;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u="sng" dirty="0">
                <a:solidFill>
                  <a:srgbClr val="002060"/>
                </a:solidFill>
              </a:rPr>
              <a:t>D–K</a:t>
            </a:r>
            <a:r>
              <a:rPr lang="en-US" sz="2000" dirty="0"/>
              <a:t>: acute urethritis/cervicitis and pelvic inflammatory disease;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Serotypes L1–L3</a:t>
            </a:r>
            <a:r>
              <a:rPr lang="en-US" sz="2000" dirty="0"/>
              <a:t>:  lymphogranuloma venereum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49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2743200"/>
            <a:ext cx="4019551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1905000" y="5414395"/>
            <a:ext cx="2667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Fig. Chlamydial cervicitis</a:t>
            </a:r>
          </a:p>
        </p:txBody>
      </p:sp>
    </p:spTree>
    <p:extLst>
      <p:ext uri="{BB962C8B-B14F-4D97-AF65-F5344CB8AC3E}">
        <p14:creationId xmlns:p14="http://schemas.microsoft.com/office/powerpoint/2010/main" val="185846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1"/>
            <a:ext cx="8229600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Laboratory diagnosis</a:t>
            </a:r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/>
              <a:t>For </a:t>
            </a:r>
            <a:r>
              <a:rPr lang="en-US" sz="2400" i="1" dirty="0"/>
              <a:t>C. trachomatis</a:t>
            </a:r>
            <a:r>
              <a:rPr lang="en-US" sz="2400" dirty="0"/>
              <a:t>: NAAT, EIA and culture</a:t>
            </a:r>
          </a:p>
          <a:p>
            <a:r>
              <a:rPr lang="en-US" sz="2400" dirty="0"/>
              <a:t>Treatment and prevention</a:t>
            </a:r>
          </a:p>
          <a:p>
            <a:r>
              <a:rPr lang="en-US" sz="2400" dirty="0"/>
              <a:t>TTC, macrolides or quinolones: for uncomplicated case</a:t>
            </a:r>
          </a:p>
          <a:p>
            <a:r>
              <a:rPr lang="en-US" sz="2400" dirty="0"/>
              <a:t>Partners of patients with chlamydial infection need chlamydial screening and treatment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8301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1"/>
            <a:ext cx="8229600" cy="55927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51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838200"/>
            <a:ext cx="80010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82637" y="468868"/>
            <a:ext cx="772316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Table: Summary on Classification and common infections of Chlamydiaceae</a:t>
            </a:r>
          </a:p>
        </p:txBody>
      </p:sp>
    </p:spTree>
    <p:extLst>
      <p:ext uri="{BB962C8B-B14F-4D97-AF65-F5344CB8AC3E}">
        <p14:creationId xmlns:p14="http://schemas.microsoft.com/office/powerpoint/2010/main" val="25628368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Genital warts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/>
              <a:t>Caused by 30–40 types of Human papilloma virus (HPV)  </a:t>
            </a:r>
          </a:p>
          <a:p>
            <a:r>
              <a:rPr lang="en-US" sz="2400" dirty="0"/>
              <a:t>Papovaviridae family of DNA viruses (human wart viruses). </a:t>
            </a:r>
          </a:p>
          <a:p>
            <a:r>
              <a:rPr lang="en-US" sz="2400" dirty="0"/>
              <a:t>HPV genotypes </a:t>
            </a:r>
            <a:r>
              <a:rPr lang="en-US" sz="2400" b="1" dirty="0">
                <a:solidFill>
                  <a:srgbClr val="002060"/>
                </a:solidFill>
              </a:rPr>
              <a:t>16 and 18</a:t>
            </a:r>
            <a:r>
              <a:rPr lang="en-US" sz="2400" dirty="0"/>
              <a:t>- associated with </a:t>
            </a:r>
            <a:r>
              <a:rPr lang="en-US" sz="2400" b="1" dirty="0">
                <a:solidFill>
                  <a:srgbClr val="002060"/>
                </a:solidFill>
              </a:rPr>
              <a:t>cervical cancer</a:t>
            </a:r>
            <a:r>
              <a:rPr lang="en-US" sz="2400" dirty="0"/>
              <a:t>. </a:t>
            </a:r>
          </a:p>
          <a:p>
            <a:r>
              <a:rPr lang="en-US" sz="2400" dirty="0"/>
              <a:t>HPV are associated with </a:t>
            </a:r>
            <a:r>
              <a:rPr lang="en-US" sz="2400" b="1" dirty="0">
                <a:solidFill>
                  <a:srgbClr val="002060"/>
                </a:solidFill>
              </a:rPr>
              <a:t>lesions</a:t>
            </a:r>
            <a:r>
              <a:rPr lang="en-US" sz="2400" dirty="0"/>
              <a:t> of specific morphology and at specific anatomic sites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581400"/>
            <a:ext cx="74676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66801" y="3212068"/>
            <a:ext cx="296234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/>
              <a:t>Table: Lesions caused by HPV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C655C0-B3B8-F2BA-9D16-7DE9E2D31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57200"/>
            <a:ext cx="82296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4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521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Reservoirs and mode of transmission. </a:t>
            </a:r>
          </a:p>
          <a:p>
            <a:r>
              <a:rPr lang="en-US" sz="2400" dirty="0"/>
              <a:t>Infected humans serve as reservoirs.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Transmission </a:t>
            </a:r>
          </a:p>
          <a:p>
            <a:r>
              <a:rPr lang="en-US" sz="2400" dirty="0"/>
              <a:t>Direct contact, usually sexual; through breaks in skin or mucous membranes</a:t>
            </a:r>
          </a:p>
          <a:p>
            <a:r>
              <a:rPr lang="en-US" sz="2400" dirty="0"/>
              <a:t>Mother to neonate during birth.</a:t>
            </a:r>
          </a:p>
        </p:txBody>
      </p:sp>
      <p:pic>
        <p:nvPicPr>
          <p:cNvPr id="2" name="Picture 2" descr="Image result for Genital warts ">
            <a:extLst>
              <a:ext uri="{FF2B5EF4-FFF2-40B4-BE49-F238E27FC236}">
                <a16:creationId xmlns:a16="http://schemas.microsoft.com/office/drawing/2014/main" id="{B08D84A4-6E31-6B24-C115-C2C48EA88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581400"/>
            <a:ext cx="3486150" cy="2919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94670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831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Laboratory diagnosis. </a:t>
            </a:r>
          </a:p>
          <a:p>
            <a:r>
              <a:rPr lang="en-US" sz="2400" dirty="0"/>
              <a:t>Genital warts are usually diagnosed clinically. </a:t>
            </a:r>
          </a:p>
          <a:p>
            <a:r>
              <a:rPr lang="en-US" sz="2400" dirty="0"/>
              <a:t>Molecular diagnostic procedures are available.</a:t>
            </a:r>
          </a:p>
          <a:p>
            <a:r>
              <a:rPr lang="en-US" sz="2400" dirty="0"/>
              <a:t>A vaccine (Gardasil) helps protect against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Two types of cancer-causing HPV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Two types of HPV that cause genital warts.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442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C6F069-96BD-5FB1-AC11-26FB2B57A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8382000" cy="5181600"/>
          </a:xfrm>
        </p:spPr>
      </p:pic>
    </p:spTree>
    <p:extLst>
      <p:ext uri="{BB962C8B-B14F-4D97-AF65-F5344CB8AC3E}">
        <p14:creationId xmlns:p14="http://schemas.microsoft.com/office/powerpoint/2010/main" val="33445075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/>
              <a:t>HIV Infection and AIDS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/>
              <a:t>AIDS is caused by HIV (1983).</a:t>
            </a:r>
          </a:p>
          <a:p>
            <a:r>
              <a:rPr lang="en-US" sz="2400" dirty="0"/>
              <a:t>HIV is classified as a lentiviruses. </a:t>
            </a:r>
          </a:p>
          <a:p>
            <a:r>
              <a:rPr lang="en-US" sz="2400" dirty="0"/>
              <a:t>Two types have been identified: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Type 1 (HIV-1), most common, most virulent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Type 2 (HIV-2); less virulent found in west Africa</a:t>
            </a:r>
          </a:p>
          <a:p>
            <a:r>
              <a:rPr lang="en-US" sz="2400" dirty="0"/>
              <a:t>HIV viruses are ss RNA viruses in </a:t>
            </a:r>
          </a:p>
          <a:p>
            <a:r>
              <a:rPr lang="en-US" sz="2400" dirty="0"/>
              <a:t>The family Retroviridae (retroviruses)-</a:t>
            </a:r>
            <a:r>
              <a:rPr lang="en-US" sz="2400" b="1" dirty="0">
                <a:solidFill>
                  <a:srgbClr val="002060"/>
                </a:solidFill>
              </a:rPr>
              <a:t>reverse transcriptase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2296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1"/>
            <a:ext cx="8229600" cy="528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Reservoirs and mode of transmission</a:t>
            </a:r>
          </a:p>
          <a:p>
            <a:r>
              <a:rPr lang="en-US" sz="2400" dirty="0"/>
              <a:t>Infected humans serve as reservoirs.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Transmission </a:t>
            </a:r>
          </a:p>
          <a:p>
            <a:r>
              <a:rPr lang="en-US" sz="2400" dirty="0"/>
              <a:t>Direct sexual contact </a:t>
            </a:r>
          </a:p>
          <a:p>
            <a:r>
              <a:rPr lang="en-US" sz="2400" dirty="0"/>
              <a:t>Sharing of contaminated needles and syringes</a:t>
            </a:r>
          </a:p>
          <a:p>
            <a:r>
              <a:rPr lang="en-US" sz="2400" dirty="0"/>
              <a:t>Transfusion of contaminated blood/products </a:t>
            </a:r>
          </a:p>
          <a:p>
            <a:r>
              <a:rPr lang="en-US" sz="2400" b="1" dirty="0"/>
              <a:t>Perinatal transmission</a:t>
            </a:r>
            <a:endParaRPr lang="en-US" sz="2400" dirty="0"/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Transplacental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Breast-feeding by HIV-infected mothers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During delivery through an infected birth </a:t>
            </a:r>
            <a:r>
              <a:rPr lang="en-US" sz="2000" dirty="0" err="1"/>
              <a:t>cana</a:t>
            </a:r>
            <a:endParaRPr lang="en-US" sz="2000" dirty="0"/>
          </a:p>
          <a:p>
            <a:r>
              <a:rPr lang="en-US" sz="2400" dirty="0"/>
              <a:t>Transplantation of HIV-infected tissues or organs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1" y="1828801"/>
            <a:ext cx="118110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069" y="2764415"/>
            <a:ext cx="704851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071" y="2408959"/>
            <a:ext cx="13049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1" y="3911742"/>
            <a:ext cx="1295400" cy="1041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2381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229600" cy="51355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Pathogenicity</a:t>
            </a:r>
          </a:p>
          <a:p>
            <a:r>
              <a:rPr lang="en-US" sz="2400" dirty="0"/>
              <a:t>HIV-1 first invades dendritic cells in </a:t>
            </a:r>
            <a:r>
              <a:rPr lang="en-US" sz="2400" b="1" dirty="0">
                <a:solidFill>
                  <a:srgbClr val="002060"/>
                </a:solidFill>
              </a:rPr>
              <a:t>genital and oral mucosa</a:t>
            </a:r>
            <a:r>
              <a:rPr lang="en-US" sz="2400" dirty="0"/>
              <a:t>. </a:t>
            </a:r>
          </a:p>
          <a:p>
            <a:r>
              <a:rPr lang="en-US" sz="2400" dirty="0"/>
              <a:t>These cells then fuse with CD4 + lymphocytes (helper T cells) and spread to deeper tissues.</a:t>
            </a:r>
          </a:p>
          <a:p>
            <a:r>
              <a:rPr lang="en-US" sz="2400" dirty="0"/>
              <a:t>Three genes are required for viral replication: </a:t>
            </a:r>
            <a:r>
              <a:rPr lang="en-US" sz="2000" i="1" dirty="0"/>
              <a:t>gag</a:t>
            </a:r>
            <a:r>
              <a:rPr lang="en-US" sz="2000" dirty="0"/>
              <a:t>, </a:t>
            </a:r>
            <a:r>
              <a:rPr lang="en-US" sz="2000" i="1" dirty="0"/>
              <a:t>pol </a:t>
            </a:r>
            <a:r>
              <a:rPr lang="en-US" sz="2000" dirty="0"/>
              <a:t>and </a:t>
            </a:r>
            <a:r>
              <a:rPr lang="en-US" sz="2000" i="1" dirty="0" err="1"/>
              <a:t>env</a:t>
            </a:r>
            <a:r>
              <a:rPr lang="en-US" sz="2000" dirty="0"/>
              <a:t>. </a:t>
            </a:r>
          </a:p>
          <a:p>
            <a:endParaRPr lang="en-US" sz="2400" dirty="0"/>
          </a:p>
          <a:p>
            <a:br>
              <a:rPr lang="en-US" sz="2400" dirty="0"/>
            </a:br>
            <a:br>
              <a:rPr lang="en-US" sz="2400" dirty="0"/>
            </a:br>
            <a:endParaRPr lang="en-US" sz="2400" b="1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77" y="3064042"/>
            <a:ext cx="4286251" cy="2867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21277" y="5975678"/>
            <a:ext cx="40386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Fig. Structure of HIV virus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313" y="3064042"/>
            <a:ext cx="4191000" cy="3335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82771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521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Clinical Course of Infection</a:t>
            </a:r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/>
              <a:t>Infection with HIV-1 is associated with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A progressive decrease of the CD4+ T cell count and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An increase in viral load. </a:t>
            </a:r>
          </a:p>
          <a:p>
            <a:r>
              <a:rPr lang="en-US" sz="2400" dirty="0"/>
              <a:t>The stage of infection can be determined by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Measuring patient’s CD4+ T cell count,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The level of HIV in the blood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Acute infection: influenza/mononucleosis-like illness (28 day)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Clinical latency: viral particles reduce  (2 wk. to 20yrs.)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Opportunistic microbes: CD4 + T cell numbers decline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AIDS: CD4 + T cell;  200 cells/ml and less</a:t>
            </a:r>
          </a:p>
        </p:txBody>
      </p:sp>
    </p:spTree>
    <p:extLst>
      <p:ext uri="{BB962C8B-B14F-4D97-AF65-F5344CB8AC3E}">
        <p14:creationId xmlns:p14="http://schemas.microsoft.com/office/powerpoint/2010/main" val="9602854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1"/>
            <a:ext cx="8229600" cy="5516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33401"/>
            <a:ext cx="75438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133600" y="6063735"/>
            <a:ext cx="4572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/>
              <a:t>Fig. Transmission cycle of HIV</a:t>
            </a:r>
          </a:p>
        </p:txBody>
      </p:sp>
    </p:spTree>
    <p:extLst>
      <p:ext uri="{BB962C8B-B14F-4D97-AF65-F5344CB8AC3E}">
        <p14:creationId xmlns:p14="http://schemas.microsoft.com/office/powerpoint/2010/main" val="1682045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1"/>
            <a:ext cx="82296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Laboratory Diagnosis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/>
              <a:t>Window period (WP) </a:t>
            </a:r>
            <a:endParaRPr lang="en-US" sz="2400" dirty="0"/>
          </a:p>
          <a:p>
            <a:r>
              <a:rPr lang="en-US" sz="2400" dirty="0"/>
              <a:t>Time that elapses between entry of HIV into the body and  detection of HIV specific Abs. </a:t>
            </a:r>
          </a:p>
          <a:p>
            <a:r>
              <a:rPr lang="en-US" sz="2400" dirty="0"/>
              <a:t>3 wk. to 3 month</a:t>
            </a:r>
          </a:p>
          <a:p>
            <a:pPr marL="0" indent="0">
              <a:buNone/>
            </a:pPr>
            <a:r>
              <a:rPr lang="en-US" sz="2400" dirty="0"/>
              <a:t>1. Antibody Detection: ELISA</a:t>
            </a:r>
          </a:p>
          <a:p>
            <a:pPr marL="0" indent="0">
              <a:buNone/>
            </a:pPr>
            <a:r>
              <a:rPr lang="en-US" sz="2400" dirty="0"/>
              <a:t>2. Antigen Detection</a:t>
            </a:r>
          </a:p>
          <a:p>
            <a:pPr marL="0" indent="0">
              <a:buNone/>
            </a:pPr>
            <a:r>
              <a:rPr lang="en-US" sz="2400" dirty="0"/>
              <a:t>3. Virus Isolation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/>
              <a:t>Screening Tests: </a:t>
            </a:r>
            <a:r>
              <a:rPr lang="en-US" sz="2400" dirty="0"/>
              <a:t>ELISA and or rapid HIV tests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70729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pPr algn="r"/>
            <a:r>
              <a:rPr lang="en-US" sz="24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229600" cy="51355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Prevention</a:t>
            </a:r>
          </a:p>
          <a:p>
            <a:r>
              <a:rPr lang="en-US" sz="2400" dirty="0"/>
              <a:t>Prophylaxis of opportunistic infections is especially important</a:t>
            </a:r>
          </a:p>
          <a:p>
            <a:r>
              <a:rPr lang="en-US" sz="2400" dirty="0"/>
              <a:t>Education is the cornerstone of prevention</a:t>
            </a:r>
          </a:p>
          <a:p>
            <a:r>
              <a:rPr lang="en-US" sz="2400" dirty="0"/>
              <a:t>Screening for asymptomatic infection in pregnancy aids effective prophylaxis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79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3370</Words>
  <Application>Microsoft Office PowerPoint</Application>
  <PresentationFormat>On-screen Show (4:3)</PresentationFormat>
  <Paragraphs>567</Paragraphs>
  <Slides>62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Arial</vt:lpstr>
      <vt:lpstr>Calibri</vt:lpstr>
      <vt:lpstr>Wingdings</vt:lpstr>
      <vt:lpstr>Office Theme</vt:lpstr>
      <vt:lpstr>Outline on Infections of Genitourinary Tract</vt:lpstr>
      <vt:lpstr>Urinary tract infection (UTI) </vt:lpstr>
      <vt:lpstr>PowerPoint Presentation</vt:lpstr>
      <vt:lpstr>Factors Predisposing to UTI/Pathogenesis</vt:lpstr>
      <vt:lpstr>PowerPoint Presentation</vt:lpstr>
      <vt:lpstr>Causative Agents</vt:lpstr>
      <vt:lpstr>PowerPoint Presentation</vt:lpstr>
      <vt:lpstr>Proteus</vt:lpstr>
      <vt:lpstr>Symptom of UTI</vt:lpstr>
      <vt:lpstr>PowerPoint Presentation</vt:lpstr>
      <vt:lpstr>PowerPoint Presentation</vt:lpstr>
      <vt:lpstr>PowerPoint Presentation</vt:lpstr>
      <vt:lpstr>Genital infections: Common term </vt:lpstr>
      <vt:lpstr>Vaginal Infections</vt:lpstr>
      <vt:lpstr>1. Bacterial vaginosis (BV)</vt:lpstr>
      <vt:lpstr>Epidemiology</vt:lpstr>
      <vt:lpstr>PowerPoint Presentation</vt:lpstr>
      <vt:lpstr>Treatment and Prevention of BV</vt:lpstr>
      <vt:lpstr>Vulvo-vaginal candidiasis (VC); (‘ Thrush’ )</vt:lpstr>
      <vt:lpstr>Cont.</vt:lpstr>
      <vt:lpstr>Sexually transmitted infections (STI)</vt:lpstr>
      <vt:lpstr>PowerPoint Presentation</vt:lpstr>
      <vt:lpstr>Genital ulcers</vt:lpstr>
      <vt:lpstr>PowerPoint Presentation</vt:lpstr>
      <vt:lpstr>2. Treponema pallidum</vt:lpstr>
      <vt:lpstr>PowerPoint Presentation</vt:lpstr>
      <vt:lpstr>PowerPoint Presentation</vt:lpstr>
      <vt:lpstr>Cont.</vt:lpstr>
      <vt:lpstr>Serology for diagnosis of syphilis</vt:lpstr>
      <vt:lpstr>4. Herpesviruses</vt:lpstr>
      <vt:lpstr>PowerPoint Presentation</vt:lpstr>
      <vt:lpstr>Group characteristics</vt:lpstr>
      <vt:lpstr>PowerPoint Presentation</vt:lpstr>
      <vt:lpstr>1. Herpes Simplex Virus</vt:lpstr>
      <vt:lpstr>Cont.</vt:lpstr>
      <vt:lpstr>PowerPoint Presentation</vt:lpstr>
      <vt:lpstr>Cont.</vt:lpstr>
      <vt:lpstr>HSV-2</vt:lpstr>
      <vt:lpstr>PowerPoint Presentation</vt:lpstr>
      <vt:lpstr>PowerPoint Presentation</vt:lpstr>
      <vt:lpstr>Diseases Characterized by Urethritis or Cervicitis  Gram-negative cocci</vt:lpstr>
      <vt:lpstr>N. gonorrhoeae</vt:lpstr>
      <vt:lpstr>Epidemiology</vt:lpstr>
      <vt:lpstr>PowerPoint Presentation</vt:lpstr>
      <vt:lpstr>PowerPoint Presentation</vt:lpstr>
      <vt:lpstr>PowerPoint Presentation</vt:lpstr>
      <vt:lpstr>3. Chlamydia </vt:lpstr>
      <vt:lpstr>PowerPoint Presentation</vt:lpstr>
      <vt:lpstr>C. trachomatis</vt:lpstr>
      <vt:lpstr>PowerPoint Presentation</vt:lpstr>
      <vt:lpstr>PowerPoint Presentation</vt:lpstr>
      <vt:lpstr>Genital warts</vt:lpstr>
      <vt:lpstr>PowerPoint Presentation</vt:lpstr>
      <vt:lpstr>PowerPoint Presentation</vt:lpstr>
      <vt:lpstr>PowerPoint Presentation</vt:lpstr>
      <vt:lpstr>HIV Infection and AIDS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DIAGNOSIS OF URINARY TRACT INFECTIONS  </dc:title>
  <dc:creator>Shemsu- [2020]</dc:creator>
  <cp:lastModifiedBy>#Kind</cp:lastModifiedBy>
  <cp:revision>156</cp:revision>
  <dcterms:created xsi:type="dcterms:W3CDTF">2021-04-05T18:01:29Z</dcterms:created>
  <dcterms:modified xsi:type="dcterms:W3CDTF">2024-01-31T13:47:54Z</dcterms:modified>
</cp:coreProperties>
</file>