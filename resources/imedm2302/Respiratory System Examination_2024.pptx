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65" r:id="rId5"/>
    <p:sldId id="266" r:id="rId6"/>
    <p:sldId id="258" r:id="rId7"/>
    <p:sldId id="259" r:id="rId8"/>
    <p:sldId id="260" r:id="rId9"/>
    <p:sldId id="261" r:id="rId10"/>
    <p:sldId id="267" r:id="rId11"/>
    <p:sldId id="262" r:id="rId12"/>
    <p:sldId id="263" r:id="rId13"/>
    <p:sldId id="264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21"/>
  </p:normalViewPr>
  <p:slideViewPr>
    <p:cSldViewPr snapToGrid="0">
      <p:cViewPr varScale="1">
        <p:scale>
          <a:sx n="108" d="100"/>
          <a:sy n="108" d="100"/>
        </p:scale>
        <p:origin x="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E917B-7087-1444-9B9D-275FDF986815}" type="datetimeFigureOut">
              <a:rPr lang="en-US" smtClean="0"/>
              <a:t>5/23/24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686F5-BC95-8546-AB01-41F9F3FAF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40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686F5-BC95-8546-AB01-41F9F3FAFB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24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79790-DAFD-EE59-CCA6-5D7ACC4EF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29CAF-303B-31D9-4387-933388168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70615-908E-3C9F-5CF4-0FD5D833A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B386-B470-7947-AD2C-3833191BA0E1}" type="datetimeFigureOut">
              <a:rPr lang="en-US" smtClean="0"/>
              <a:t>5/22/24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1535F-9278-D2B8-0786-9B74936EC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CA24C-3681-54D5-2A2C-202D127F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B5A4-C767-2A4C-9726-03CF68168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1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0F86-3CC9-FA34-D1A2-D098779B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40698-2412-5FCC-7DE2-0694049B1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A43E4-6615-F923-F1DC-CDCA9EC5A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B386-B470-7947-AD2C-3833191BA0E1}" type="datetimeFigureOut">
              <a:rPr lang="en-US" smtClean="0"/>
              <a:t>5/22/24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3429A-CAE3-3D2C-359F-0436D633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459F1-366F-24D9-D286-AC06B8087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B5A4-C767-2A4C-9726-03CF68168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63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43529-4B2B-24DB-889A-68CC6B08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601FB-4988-6E6D-3467-F81F722AC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47F9D-0725-CBC3-74F3-30683F4E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B386-B470-7947-AD2C-3833191BA0E1}" type="datetimeFigureOut">
              <a:rPr lang="en-US" smtClean="0"/>
              <a:t>5/22/24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DD4E9-5846-5546-1163-6A80B0F2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40A1B-E56A-66E0-5890-8826C322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B5A4-C767-2A4C-9726-03CF68168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28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69A4-CEF6-E141-71BC-CF0711A5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2EF63-F3FE-204A-86BC-20D4D53B4C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71D74-87B1-8D4A-1A2B-329CDBAC6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AD464-D729-2546-AFE5-A88DB127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B386-B470-7947-AD2C-3833191BA0E1}" type="datetimeFigureOut">
              <a:rPr lang="en-US" smtClean="0"/>
              <a:t>5/22/24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54ACC-0057-0147-30F1-2166D070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CE31A-8063-F48B-E78A-83AA1A07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B5A4-C767-2A4C-9726-03CF68168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52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D08E-1CBC-4B4C-BD61-BE094B9D9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68E69-3D7D-AA6A-46D9-1BBAC30C9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03B47-DEDA-2BF7-38D3-EE203ACAE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C2EEF2-4DA0-1C65-EE80-BFC47AFCB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E2990B-B0D8-93E7-4E0B-3A1046148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75B916-61A2-5A3D-8A10-70273025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B386-B470-7947-AD2C-3833191BA0E1}" type="datetimeFigureOut">
              <a:rPr lang="en-US" smtClean="0"/>
              <a:t>5/22/24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3E3079-6794-59A0-9586-6AA8BB2E2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534FD2-F850-2464-3BF0-C2FB4C9C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B5A4-C767-2A4C-9726-03CF68168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26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E404-ABC7-39DC-D3A4-B3BE37FBA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87C321-D702-C35C-6582-B687F60EC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B386-B470-7947-AD2C-3833191BA0E1}" type="datetimeFigureOut">
              <a:rPr lang="en-US" smtClean="0"/>
              <a:t>5/22/24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E702C-88EC-F5B3-BD59-9B86B39CA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B7E94-DDC5-EC78-5880-96F969972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B5A4-C767-2A4C-9726-03CF68168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17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CD1C07-28AE-991A-CADE-B144B68A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B386-B470-7947-AD2C-3833191BA0E1}" type="datetimeFigureOut">
              <a:rPr lang="en-US" smtClean="0"/>
              <a:t>5/22/24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6B5BF-FA62-D2A5-74C4-6225E7BD0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D9227-4D22-AEE2-64B3-CD5751804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B5A4-C767-2A4C-9726-03CF68168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2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9E33-2243-EEEF-05A9-76171B08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C3BB4-3690-C272-5DBE-423AAC0BE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A4272-64C6-86BC-5CCE-30ED121CA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A0CE8-2CD3-01CD-EF79-44C45F772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B386-B470-7947-AD2C-3833191BA0E1}" type="datetimeFigureOut">
              <a:rPr lang="en-US" smtClean="0"/>
              <a:t>5/22/24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69A68-257A-2617-A6A7-EAEED939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3C328-03F6-3B69-182A-2EBBD9A0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B5A4-C767-2A4C-9726-03CF68168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60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849E5-12E7-4477-2541-5A94C3674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CF926E-2B6B-E322-82B7-FB69F6F02A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29926-E517-51A6-379C-86159361D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175A8-C49A-85A2-21B6-9891FAD35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B386-B470-7947-AD2C-3833191BA0E1}" type="datetimeFigureOut">
              <a:rPr lang="en-US" smtClean="0"/>
              <a:t>5/22/24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F5326-CFD1-E1B2-80B1-75E3C814E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C2ED9-CDDD-1422-10F1-368A97BE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B5A4-C767-2A4C-9726-03CF68168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01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B9337-55EB-963D-7004-47934EA0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B138D-C902-74A9-5B84-01E9842AB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9BD3E-5239-A99B-7466-ACB452F8D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B386-B470-7947-AD2C-3833191BA0E1}" type="datetimeFigureOut">
              <a:rPr lang="en-US" smtClean="0"/>
              <a:t>5/22/24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606FD-ED6C-19E6-B59D-B3D1AC17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ACEF4-BE93-0459-62AB-5AFF2862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B5A4-C767-2A4C-9726-03CF68168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5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399081-0302-690C-A230-7A18D13F4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8308E-B2DB-1056-0273-C225941A2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BC304-C81A-1EF2-E493-FC020E16E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BB386-B470-7947-AD2C-3833191BA0E1}" type="datetimeFigureOut">
              <a:rPr lang="en-US" smtClean="0"/>
              <a:t>5/22/24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80606-B63C-177D-7F5C-F66D9D63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4335B-4AD3-81DE-9398-0C239288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B5A4-C767-2A4C-9726-03CF68168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08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442EA0-D6A4-F2B6-E315-AB7760F81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29235-4E24-7489-B731-8200CAECF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C8141-97C4-C65C-DDC0-658022F3E1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BB386-B470-7947-AD2C-3833191BA0E1}" type="datetimeFigureOut">
              <a:rPr lang="en-US" smtClean="0"/>
              <a:t>5/22/24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D5C11-F523-A2FE-8C3E-4EB5EAD4E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57B4-C2DA-E188-8BFC-F7BC46998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BB5A4-C767-2A4C-9726-03CF68168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2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5A51-E618-BCFF-B89A-6C3C6A070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322" y="1041400"/>
            <a:ext cx="9967356" cy="2387600"/>
          </a:xfrm>
        </p:spPr>
        <p:txBody>
          <a:bodyPr/>
          <a:lstStyle/>
          <a:p>
            <a:r>
              <a:rPr lang="en-US" dirty="0"/>
              <a:t>Examination of The Respiratory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32687-D5FB-C05D-3847-6B29DC51C2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Anteneh E. MD</a:t>
            </a:r>
          </a:p>
          <a:p>
            <a:r>
              <a:rPr lang="en-US" dirty="0"/>
              <a:t>May, 2024</a:t>
            </a:r>
          </a:p>
        </p:txBody>
      </p:sp>
    </p:spTree>
    <p:extLst>
      <p:ext uri="{BB962C8B-B14F-4D97-AF65-F5344CB8AC3E}">
        <p14:creationId xmlns:p14="http://schemas.microsoft.com/office/powerpoint/2010/main" val="40899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DCCD1-CA0B-430A-E9BF-6FCE54D92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the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6A46B-0FCC-ED8F-C4D5-43E6DA4ED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describe basic approach to respiratory system examination</a:t>
            </a:r>
          </a:p>
          <a:p>
            <a:r>
              <a:rPr lang="en-US" dirty="0"/>
              <a:t>To explain the ‘ Four cardinal steps’ of respiratory system examination</a:t>
            </a:r>
          </a:p>
          <a:p>
            <a:r>
              <a:rPr lang="en-US" dirty="0"/>
              <a:t>To describe common physical findings in some clinical conditions</a:t>
            </a:r>
          </a:p>
        </p:txBody>
      </p:sp>
    </p:spTree>
    <p:extLst>
      <p:ext uri="{BB962C8B-B14F-4D97-AF65-F5344CB8AC3E}">
        <p14:creationId xmlns:p14="http://schemas.microsoft.com/office/powerpoint/2010/main" val="3264287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44D6-6015-1CDD-C9B5-E147AE349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Clinical 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998CA-425C-CB46-86A2-396FE6A6E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Cough</a:t>
            </a:r>
          </a:p>
          <a:p>
            <a:r>
              <a:rPr lang="en-US" sz="2400" dirty="0"/>
              <a:t>Shortness of breath (dyspnea)</a:t>
            </a:r>
          </a:p>
          <a:p>
            <a:r>
              <a:rPr lang="en-US" sz="2400" dirty="0"/>
              <a:t>Chest pain</a:t>
            </a:r>
          </a:p>
          <a:p>
            <a:r>
              <a:rPr lang="en-US" sz="2400" dirty="0"/>
              <a:t>Wheezing</a:t>
            </a:r>
          </a:p>
          <a:p>
            <a:r>
              <a:rPr lang="en-US" sz="2400" dirty="0"/>
              <a:t>Blood-streaked sputum (hemoptysis)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82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5D09-EACD-6256-06B2-F39087C3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Anatomy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BF3B2A7-457A-72C4-65CE-86E4199B9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7559" y="1825625"/>
            <a:ext cx="69637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13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FE1FC537-60D3-B16A-7B34-43F075DE3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39" y="843148"/>
            <a:ext cx="9953921" cy="488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0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2A00-18B1-A319-FFA2-0CCAB748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 of Examination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D30FD-99B0-4624-5F31-9BAF00D17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examinations</a:t>
            </a:r>
          </a:p>
          <a:p>
            <a:r>
              <a:rPr lang="en-US" dirty="0"/>
              <a:t>Cardinal steps of physical examination: Anterior and Posterior chest</a:t>
            </a:r>
          </a:p>
          <a:p>
            <a:pPr lvl="1"/>
            <a:r>
              <a:rPr lang="en-US" dirty="0"/>
              <a:t>Inspection</a:t>
            </a:r>
          </a:p>
          <a:p>
            <a:pPr lvl="1"/>
            <a:r>
              <a:rPr lang="en-US" dirty="0"/>
              <a:t>Palpation</a:t>
            </a:r>
          </a:p>
          <a:p>
            <a:pPr lvl="1"/>
            <a:r>
              <a:rPr lang="en-US" dirty="0"/>
              <a:t>Percussion</a:t>
            </a:r>
          </a:p>
          <a:p>
            <a:pPr lvl="1"/>
            <a:r>
              <a:rPr lang="en-US" dirty="0"/>
              <a:t>Auscultation</a:t>
            </a:r>
          </a:p>
        </p:txBody>
      </p:sp>
    </p:spTree>
    <p:extLst>
      <p:ext uri="{BB962C8B-B14F-4D97-AF65-F5344CB8AC3E}">
        <p14:creationId xmlns:p14="http://schemas.microsoft.com/office/powerpoint/2010/main" val="1740336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6D0B-E22A-2CCA-B0C9-C18701141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B273B-876F-871E-16B6-933F9F53E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Observe the rate, rhythm, depth, and effort of breathing. </a:t>
            </a:r>
          </a:p>
          <a:p>
            <a:pPr lvl="1"/>
            <a:r>
              <a:rPr lang="en-US" sz="2000" dirty="0"/>
              <a:t>Always inspect the patient for any signs of respiratory difficulty. </a:t>
            </a:r>
          </a:p>
          <a:p>
            <a:r>
              <a:rPr lang="en-US" sz="2400" dirty="0"/>
              <a:t>Assess the patient’s color for cyanosis. </a:t>
            </a:r>
          </a:p>
          <a:p>
            <a:pPr lvl="1"/>
            <a:r>
              <a:rPr lang="en-US" sz="2000" dirty="0"/>
              <a:t>Peripheral cyanosis</a:t>
            </a:r>
          </a:p>
          <a:p>
            <a:pPr lvl="1"/>
            <a:r>
              <a:rPr lang="en-US" sz="2000" dirty="0"/>
              <a:t>Central cyanosis</a:t>
            </a:r>
          </a:p>
          <a:p>
            <a:pPr lvl="1"/>
            <a:r>
              <a:rPr lang="en-US" sz="2000" dirty="0"/>
              <a:t>Clubbing of digits</a:t>
            </a:r>
          </a:p>
          <a:p>
            <a:r>
              <a:rPr lang="en-US" sz="2400" dirty="0"/>
              <a:t>Listen to the patient’s breathing. </a:t>
            </a:r>
          </a:p>
          <a:p>
            <a:pPr lvl="1"/>
            <a:r>
              <a:rPr lang="en-US" sz="2000" dirty="0"/>
              <a:t>Stridor and audible wheezes</a:t>
            </a:r>
          </a:p>
          <a:p>
            <a:r>
              <a:rPr lang="en-US" sz="2400" dirty="0"/>
              <a:t>Inspect for the use of accessory muscles: the SCM and scalene muscles</a:t>
            </a:r>
          </a:p>
          <a:p>
            <a:pPr lvl="1"/>
            <a:r>
              <a:rPr lang="en-US" sz="2000" dirty="0"/>
              <a:t>Supraclavicular retraction? Is the trachea midline? </a:t>
            </a:r>
          </a:p>
          <a:p>
            <a:r>
              <a:rPr lang="en-US" sz="2400" dirty="0"/>
              <a:t>Observe the shape of the chest: Lateral diameter &gt; AP diameter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152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757D-7CD7-9D23-2EA9-8A7F26F53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Inspection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14A01-3DC9-EF2C-5C5F-09C21850B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From a midline position behind the patient, note the shape of the chest and how the chest moves, including: </a:t>
            </a:r>
          </a:p>
          <a:p>
            <a:pPr lvl="1"/>
            <a:r>
              <a:rPr lang="en-US" dirty="0"/>
              <a:t>Deformities or asymmetry in chest expansion </a:t>
            </a:r>
          </a:p>
          <a:p>
            <a:pPr lvl="1"/>
            <a:r>
              <a:rPr lang="en-US" dirty="0"/>
              <a:t>Abnormal retraction of the interspaces during inspiration. </a:t>
            </a:r>
          </a:p>
          <a:p>
            <a:pPr lvl="2"/>
            <a:r>
              <a:rPr lang="en-US" dirty="0"/>
              <a:t>Retraction is most apparent in the lower interspaces. </a:t>
            </a:r>
          </a:p>
          <a:p>
            <a:pPr lvl="1"/>
            <a:r>
              <a:rPr lang="en-US" dirty="0"/>
              <a:t> Impaired respiratory movement on one or both sides or a unilateral lag (or delay) in movement.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854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AB7E-9A3B-7D67-1E32-775BF78A9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Palpation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27337-2C4E-DBFE-B514-AA1B24834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Identify tender areas. </a:t>
            </a:r>
          </a:p>
          <a:p>
            <a:r>
              <a:rPr lang="en-US" sz="2400" dirty="0"/>
              <a:t>Assess any visible abnormalities such as scars, chest drains, masses or sinus tracts. </a:t>
            </a:r>
          </a:p>
          <a:p>
            <a:r>
              <a:rPr lang="en-US" sz="2400" dirty="0"/>
              <a:t>Test chest expansion. </a:t>
            </a:r>
          </a:p>
          <a:p>
            <a:pPr lvl="1"/>
            <a:r>
              <a:rPr lang="en-US" dirty="0"/>
              <a:t>Place your thumbs at about the level of the 10th ribs. </a:t>
            </a:r>
          </a:p>
          <a:p>
            <a:r>
              <a:rPr lang="en-US" sz="2400" dirty="0"/>
              <a:t>Feel for tactile fremitus. </a:t>
            </a:r>
          </a:p>
          <a:p>
            <a:pPr lvl="1"/>
            <a:r>
              <a:rPr lang="en-US" dirty="0"/>
              <a:t>Palpate and compare symmetric areas of the lungs </a:t>
            </a:r>
          </a:p>
          <a:p>
            <a:r>
              <a:rPr lang="en-US" sz="2400" dirty="0"/>
              <a:t>Assess the position of trachea.</a:t>
            </a:r>
            <a:br>
              <a:rPr lang="en-US" sz="2400" dirty="0"/>
            </a:b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557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BDA1C3-C28D-F6E5-FE80-486F32CC403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736270" y="1690689"/>
            <a:ext cx="3754438" cy="4351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9E933B-70E5-D20A-7476-CEA1F1A3D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539" y="1690688"/>
            <a:ext cx="41802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070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D5A55-8D2A-7E14-CECA-81838D1DC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C4082-AA32-5745-1135-1BAE43ACF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Percuss one side of the chest and then the other at each level in a ladder-like pattern. </a:t>
            </a:r>
          </a:p>
          <a:p>
            <a:r>
              <a:rPr lang="en-US" sz="2400" dirty="0"/>
              <a:t>Healthy lungs are resonant. </a:t>
            </a:r>
          </a:p>
          <a:p>
            <a:pPr lvl="1"/>
            <a:r>
              <a:rPr lang="en-US" dirty="0"/>
              <a:t>Flat/stony dullness</a:t>
            </a:r>
          </a:p>
          <a:p>
            <a:pPr lvl="1"/>
            <a:r>
              <a:rPr lang="en-US" dirty="0"/>
              <a:t>Relative dullness</a:t>
            </a:r>
          </a:p>
          <a:p>
            <a:pPr lvl="1"/>
            <a:r>
              <a:rPr lang="en-US" dirty="0"/>
              <a:t>Resonant </a:t>
            </a:r>
          </a:p>
          <a:p>
            <a:pPr lvl="1"/>
            <a:r>
              <a:rPr lang="en-US" dirty="0" err="1"/>
              <a:t>Hyperresonant</a:t>
            </a:r>
            <a:r>
              <a:rPr lang="en-US" dirty="0"/>
              <a:t>/ tympanitic</a:t>
            </a:r>
          </a:p>
          <a:p>
            <a:r>
              <a:rPr lang="en-US" sz="2400" dirty="0"/>
              <a:t>Estimate the extent of diaphragmatic </a:t>
            </a:r>
          </a:p>
          <a:p>
            <a:pPr lvl="1"/>
            <a:r>
              <a:rPr lang="en-US" dirty="0"/>
              <a:t>It is normally about 3 to 5.5 cm.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73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7E6A-652C-DF2D-F2BF-910DD34B5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Auscultation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9C24B-7215-541A-0198-E2D713BA6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Auscultation involves:</a:t>
            </a:r>
          </a:p>
          <a:p>
            <a:pPr lvl="1"/>
            <a:r>
              <a:rPr lang="en-US" sz="2800" dirty="0"/>
              <a:t>Listening to the sounds generated by breathing: </a:t>
            </a:r>
          </a:p>
          <a:p>
            <a:pPr lvl="2"/>
            <a:r>
              <a:rPr lang="en-US" dirty="0"/>
              <a:t>Vesicular, bronchovesicular, tracheal and bronchial</a:t>
            </a:r>
          </a:p>
          <a:p>
            <a:pPr lvl="1"/>
            <a:r>
              <a:rPr lang="en-US" sz="3200" dirty="0"/>
              <a:t>Listening for any adventitious (added) sounds:</a:t>
            </a:r>
          </a:p>
          <a:p>
            <a:pPr lvl="2"/>
            <a:r>
              <a:rPr lang="en-US" dirty="0"/>
              <a:t>Crackles (rales), wheezes, and rhonchi </a:t>
            </a:r>
            <a:endParaRPr lang="en-US" sz="2800" dirty="0"/>
          </a:p>
          <a:p>
            <a:pPr lvl="1"/>
            <a:r>
              <a:rPr lang="en-US" sz="2800" dirty="0"/>
              <a:t>If abnormalities are suspected, listening to the sounds of the patient’s spoken or whispered voice as they are transmitted through the chest wall. </a:t>
            </a:r>
          </a:p>
          <a:p>
            <a:pPr lvl="2"/>
            <a:r>
              <a:rPr lang="en-US" dirty="0"/>
              <a:t>Egophony, bronchophony, whispered pectoriloquy. 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337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1980A-169C-2008-CB6F-9208536E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Added/ Adventitious Breath Sounds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F6939A-7C2A-C313-F617-9C76566E2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5737"/>
            <a:ext cx="10515600" cy="417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746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4DBE75-AEFD-5955-8007-4F8F2B878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279" y="2619293"/>
            <a:ext cx="9582397" cy="29624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1C41FE-A2D3-3C7A-2406-90674CB7C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278" y="795646"/>
            <a:ext cx="9582398" cy="182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5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34F022-CBBD-8C6D-C6FF-C19637116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02" y="629821"/>
            <a:ext cx="9868395" cy="559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541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446F93-0A48-19AD-38D8-CB521E23F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915" y="2852314"/>
            <a:ext cx="3508169" cy="1325563"/>
          </a:xfrm>
        </p:spPr>
        <p:txBody>
          <a:bodyPr>
            <a:normAutofit/>
          </a:bodyPr>
          <a:lstStyle/>
          <a:p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98017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414</Words>
  <Application>Microsoft Macintosh PowerPoint</Application>
  <PresentationFormat>Widescreen</PresentationFormat>
  <Paragraphs>67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Examination of The Respiratory System</vt:lpstr>
      <vt:lpstr>Objectives of the lecture</vt:lpstr>
      <vt:lpstr>Common Clinical Presentations</vt:lpstr>
      <vt:lpstr>Basic Anatomy</vt:lpstr>
      <vt:lpstr>PowerPoint Presentation</vt:lpstr>
      <vt:lpstr>Techniques of Examination</vt:lpstr>
      <vt:lpstr>Inspection</vt:lpstr>
      <vt:lpstr>Inspection …</vt:lpstr>
      <vt:lpstr>Palpation</vt:lpstr>
      <vt:lpstr>PowerPoint Presentation</vt:lpstr>
      <vt:lpstr>Percussion</vt:lpstr>
      <vt:lpstr>Auscultation</vt:lpstr>
      <vt:lpstr>Added/ Adventitious Breath Sounds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Examination of The Respiratory System</dc:title>
  <dc:creator>Anteneh Eshetu</dc:creator>
  <cp:lastModifiedBy>Anteneh Eshetu</cp:lastModifiedBy>
  <cp:revision>8</cp:revision>
  <dcterms:created xsi:type="dcterms:W3CDTF">2024-05-22T19:33:04Z</dcterms:created>
  <dcterms:modified xsi:type="dcterms:W3CDTF">2024-05-23T03:16:51Z</dcterms:modified>
</cp:coreProperties>
</file>