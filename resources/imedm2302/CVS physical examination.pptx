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72" r:id="rId5"/>
    <p:sldId id="273" r:id="rId6"/>
    <p:sldId id="274" r:id="rId7"/>
    <p:sldId id="285" r:id="rId8"/>
    <p:sldId id="281" r:id="rId9"/>
    <p:sldId id="283" r:id="rId10"/>
    <p:sldId id="284" r:id="rId11"/>
    <p:sldId id="282" r:id="rId12"/>
    <p:sldId id="268" r:id="rId13"/>
    <p:sldId id="279" r:id="rId14"/>
    <p:sldId id="280" r:id="rId15"/>
    <p:sldId id="278" r:id="rId16"/>
    <p:sldId id="276" r:id="rId17"/>
    <p:sldId id="277" r:id="rId18"/>
    <p:sldId id="275" r:id="rId19"/>
    <p:sldId id="269" r:id="rId20"/>
    <p:sldId id="270" r:id="rId21"/>
    <p:sldId id="259" r:id="rId22"/>
    <p:sldId id="266" r:id="rId23"/>
    <p:sldId id="267" r:id="rId24"/>
    <p:sldId id="265" r:id="rId25"/>
    <p:sldId id="264" r:id="rId26"/>
    <p:sldId id="263" r:id="rId27"/>
    <p:sldId id="261" r:id="rId28"/>
    <p:sldId id="262" r:id="rId29"/>
    <p:sldId id="258" r:id="rId30"/>
    <p:sldId id="260" r:id="rId31"/>
    <p:sldId id="286" r:id="rId32"/>
    <p:sldId id="287" r:id="rId33"/>
    <p:sldId id="289" r:id="rId34"/>
    <p:sldId id="291" r:id="rId35"/>
    <p:sldId id="290" r:id="rId36"/>
    <p:sldId id="288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02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Cardiovascular Physical Examination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Eman</a:t>
            </a:r>
            <a:r>
              <a:rPr lang="en-US" dirty="0" smtClean="0"/>
              <a:t> </a:t>
            </a:r>
            <a:r>
              <a:rPr lang="en-US" dirty="0" err="1" smtClean="0"/>
              <a:t>Kedir</a:t>
            </a:r>
            <a:r>
              <a:rPr lang="en-US" dirty="0" smtClean="0"/>
              <a:t> M.D., Internist, Assistant Professor of Internal Medicine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04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History and Examination of heart and blood vessels</a:t>
            </a:r>
          </a:p>
          <a:p>
            <a:r>
              <a:rPr lang="en-US" sz="2000" dirty="0" smtClean="0"/>
              <a:t>Other parts of body where symptoms and signs of heart disease may appear</a:t>
            </a:r>
          </a:p>
          <a:p>
            <a:r>
              <a:rPr lang="en-US" sz="2000" dirty="0" smtClean="0"/>
              <a:t>History - Chest pain and heaviness</a:t>
            </a:r>
          </a:p>
          <a:p>
            <a:pPr marL="0" indent="0">
              <a:buNone/>
            </a:pPr>
            <a:r>
              <a:rPr lang="en-US" sz="2000" dirty="0" smtClean="0"/>
              <a:t>                    - Dyspnea ,</a:t>
            </a:r>
            <a:r>
              <a:rPr lang="en-US" sz="2000" dirty="0" err="1" smtClean="0"/>
              <a:t>Exertional</a:t>
            </a:r>
            <a:r>
              <a:rPr lang="en-US" sz="2000" dirty="0" smtClean="0"/>
              <a:t> dyspnea, </a:t>
            </a:r>
            <a:r>
              <a:rPr lang="en-US" sz="2000" dirty="0" err="1" smtClean="0"/>
              <a:t>Orthopnea,Paroxysmal</a:t>
            </a:r>
            <a:r>
              <a:rPr lang="en-US" sz="2000" dirty="0" smtClean="0"/>
              <a:t> nocturnal 	dyspnea		</a:t>
            </a:r>
          </a:p>
          <a:p>
            <a:pPr marL="0" indent="0">
              <a:buNone/>
            </a:pPr>
            <a:r>
              <a:rPr lang="en-US" sz="2000" dirty="0" smtClean="0"/>
              <a:t>                    - Ankle swelling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       - Palpitation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       - Syncope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       - Fatigue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86399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Past History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History of Ischemic heart disease: Myocardial Infarction</a:t>
            </a:r>
          </a:p>
          <a:p>
            <a:r>
              <a:rPr lang="en-US" sz="2000" dirty="0" smtClean="0"/>
              <a:t>Rheumatic Fever</a:t>
            </a:r>
          </a:p>
          <a:p>
            <a:r>
              <a:rPr lang="en-US" sz="2000" dirty="0" smtClean="0"/>
              <a:t>Sexual transmitted disease</a:t>
            </a:r>
          </a:p>
          <a:p>
            <a:r>
              <a:rPr lang="en-US" sz="2000" dirty="0" smtClean="0"/>
              <a:t>Recent dental work, thyroid disease</a:t>
            </a:r>
          </a:p>
          <a:p>
            <a:r>
              <a:rPr lang="en-US" sz="2000" dirty="0" smtClean="0"/>
              <a:t>Prior medical examination revealing heart disease</a:t>
            </a:r>
          </a:p>
          <a:p>
            <a:r>
              <a:rPr lang="en-US" sz="2000" dirty="0" smtClean="0"/>
              <a:t>Drugs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95381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Social History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Tobacco smoking  and alcohol use of other substances</a:t>
            </a:r>
          </a:p>
          <a:p>
            <a:r>
              <a:rPr lang="en-US" sz="2000" dirty="0" smtClean="0"/>
              <a:t>Occupation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90230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Family History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Myocardial Infarcts</a:t>
            </a:r>
          </a:p>
          <a:p>
            <a:r>
              <a:rPr lang="en-US" sz="2000" dirty="0" smtClean="0"/>
              <a:t>Cardiomyopathy</a:t>
            </a:r>
          </a:p>
          <a:p>
            <a:r>
              <a:rPr lang="en-US" sz="2000" dirty="0" smtClean="0"/>
              <a:t>Congenital heart disease</a:t>
            </a:r>
          </a:p>
          <a:p>
            <a:r>
              <a:rPr lang="en-US" sz="2000" dirty="0" smtClean="0"/>
              <a:t>Mitral valve prolapse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06742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Functional status in established heart disease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Class 1 - disease present but no symptoms , or angina or dyspnea during  unusually intense activity</a:t>
            </a:r>
          </a:p>
          <a:p>
            <a:r>
              <a:rPr lang="en-US" sz="2000" dirty="0" smtClean="0"/>
              <a:t>Class 2 - angina or dyspnea during ordinary activity</a:t>
            </a:r>
          </a:p>
          <a:p>
            <a:r>
              <a:rPr lang="en-US" sz="2000" dirty="0" smtClean="0"/>
              <a:t>Class 3 - angina or dyspnea during less than ordinary activity</a:t>
            </a:r>
          </a:p>
          <a:p>
            <a:r>
              <a:rPr lang="en-US" sz="2000" dirty="0" smtClean="0"/>
              <a:t>Class 4 – angina or dyspnea at rest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6965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Chest Pain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To help determine the cause of chest pain: - Duration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                                                                       - Location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                                                                       - Quality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                                                                       -  Precipitating and aggravating  factors                                                                        </a:t>
            </a:r>
          </a:p>
          <a:p>
            <a:pPr marL="0" indent="0">
              <a:buNone/>
            </a:pPr>
            <a:r>
              <a:rPr lang="en-US" sz="2000" dirty="0" smtClean="0"/>
              <a:t>                                                                                     - Means of relief and accompanying symptoms                                         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                                                                        - Radiation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0050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Dyspnea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Shortness of breath</a:t>
            </a:r>
          </a:p>
          <a:p>
            <a:r>
              <a:rPr lang="en-US" sz="2000" dirty="0" smtClean="0"/>
              <a:t>Unexpected awareness of breathing</a:t>
            </a:r>
          </a:p>
          <a:p>
            <a:r>
              <a:rPr lang="en-US" sz="2000" dirty="0" smtClean="0"/>
              <a:t>Causes: - cardiac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       - Lung disease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       - Other causes like Anxiety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6309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Orthopnea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Dyspnea that develops when the patient is supine</a:t>
            </a:r>
          </a:p>
          <a:p>
            <a:r>
              <a:rPr lang="en-US" sz="2000" dirty="0" smtClean="0"/>
              <a:t>Causes of orthopnea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- Cardiac failure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- Uncommon causes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- Massive ascites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- Pregnancy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- Bilateral diaphragmatic paralysis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- Large pleural effusion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- Severe pneumonia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45942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Paroxysmal nocturnal dyspnea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Severe dyspnea that wakes the patient from sleep so that the patient is forced to get up gasping breath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sz="2000" b="1" dirty="0" smtClean="0"/>
              <a:t>Ankle swelling </a:t>
            </a:r>
            <a:r>
              <a:rPr lang="en-US" sz="2000" dirty="0" smtClean="0"/>
              <a:t>– ankle edema of cardiac origin is usually symmetrical and worst in </a:t>
            </a:r>
            <a:r>
              <a:rPr lang="en-US" sz="2000" dirty="0" smtClean="0"/>
              <a:t>evenings</a:t>
            </a:r>
            <a:endParaRPr lang="en-US" sz="2000" dirty="0" smtClean="0"/>
          </a:p>
          <a:p>
            <a:r>
              <a:rPr lang="en-US" sz="2000" dirty="0" smtClean="0"/>
              <a:t>As failure progresses edema ascends to involve legs, thighs, genitalia and abdomen</a:t>
            </a:r>
          </a:p>
          <a:p>
            <a:r>
              <a:rPr lang="en-US" sz="2000" dirty="0" smtClean="0"/>
              <a:t>Other common causes of edema- renal diseases( </a:t>
            </a:r>
            <a:r>
              <a:rPr lang="en-US" sz="2000" dirty="0" err="1" smtClean="0"/>
              <a:t>nephrotic</a:t>
            </a:r>
            <a:r>
              <a:rPr lang="en-US" sz="2000" dirty="0" smtClean="0"/>
              <a:t> syndrome)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                                                    - liver </a:t>
            </a:r>
            <a:r>
              <a:rPr lang="en-US" sz="2000" dirty="0" err="1" smtClean="0"/>
              <a:t>disese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                                                    - drugs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50694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/>
              <a:t>Palpitations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An unexpected  awareness of the heart beat</a:t>
            </a:r>
          </a:p>
          <a:p>
            <a:r>
              <a:rPr lang="en-US" sz="2000" dirty="0" smtClean="0"/>
              <a:t>Ask: slow or fast, regular or irregular and how long they last</a:t>
            </a:r>
          </a:p>
          <a:p>
            <a:pPr marL="0" indent="0">
              <a:buNone/>
            </a:pPr>
            <a:r>
              <a:rPr lang="en-US" sz="2000" dirty="0" smtClean="0"/>
              <a:t>              sudden or gradual onset and  offset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 associated features: pain, dyspnea</a:t>
            </a:r>
            <a:r>
              <a:rPr lang="en-US" sz="2000" smtClean="0"/>
              <a:t>, faintness</a:t>
            </a:r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8345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err="1" smtClean="0"/>
              <a:t>Syncope,presyncope</a:t>
            </a:r>
            <a:r>
              <a:rPr lang="en-US" sz="3200" b="1" dirty="0" smtClean="0"/>
              <a:t> and dizziness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Syncope: A transient loss of consciousness</a:t>
            </a:r>
          </a:p>
          <a:p>
            <a:r>
              <a:rPr lang="en-US" sz="2000" dirty="0" err="1" smtClean="0"/>
              <a:t>Presyncope</a:t>
            </a:r>
            <a:r>
              <a:rPr lang="en-US" sz="2000" dirty="0" smtClean="0"/>
              <a:t>: A transient sensation of weakness with out loss of consciousness</a:t>
            </a:r>
          </a:p>
          <a:p>
            <a:r>
              <a:rPr lang="en-US" sz="2000" dirty="0" smtClean="0"/>
              <a:t>Establish whether patient actually loses consciousness &amp; under what circumstances the syncope occurs: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- Postural syncope: on standing for prolonged periods or standing up suddenly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- Micturition syncope: while passing urine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- </a:t>
            </a:r>
            <a:r>
              <a:rPr lang="en-US" sz="2000" dirty="0" err="1" smtClean="0"/>
              <a:t>Tussive</a:t>
            </a:r>
            <a:r>
              <a:rPr lang="en-US" sz="2000" dirty="0" smtClean="0"/>
              <a:t> syncope: on coughing or</a:t>
            </a:r>
          </a:p>
          <a:p>
            <a:pPr marL="0" indent="0">
              <a:buNone/>
            </a:pPr>
            <a:r>
              <a:rPr lang="en-US" sz="2000" dirty="0" smtClean="0"/>
              <a:t>             - Vasovagal syncope: with sudden emotional stress</a:t>
            </a:r>
          </a:p>
        </p:txBody>
      </p:sp>
    </p:spTree>
    <p:extLst>
      <p:ext uri="{BB962C8B-B14F-4D97-AF65-F5344CB8AC3E}">
        <p14:creationId xmlns:p14="http://schemas.microsoft.com/office/powerpoint/2010/main" val="3918909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Find out whether there is warning such as dizziness or palpitations, and how long the episodes last</a:t>
            </a:r>
          </a:p>
          <a:p>
            <a:r>
              <a:rPr lang="en-US" sz="2000" dirty="0" smtClean="0"/>
              <a:t>Recovery may be spontaneous or the patient may require attention from bystanders</a:t>
            </a:r>
          </a:p>
          <a:p>
            <a:pPr marL="0" indent="0">
              <a:buNone/>
            </a:pPr>
            <a:r>
              <a:rPr lang="en-US" sz="2000" dirty="0" smtClean="0"/>
              <a:t>          - abnormal movements ( epilepsy, primary syncope)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54433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Fatigue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A common symptom of cardiac failure</a:t>
            </a:r>
          </a:p>
          <a:p>
            <a:r>
              <a:rPr lang="en-US" sz="2000" dirty="0" smtClean="0"/>
              <a:t>May be associated with a reduced cardiac output and poor blood supply to the skeletal muscles</a:t>
            </a:r>
          </a:p>
          <a:p>
            <a:r>
              <a:rPr lang="en-US" sz="2000" dirty="0" smtClean="0"/>
              <a:t>Other causes: lack of sleep, </a:t>
            </a:r>
            <a:r>
              <a:rPr lang="en-US" sz="2000" dirty="0" err="1" smtClean="0"/>
              <a:t>anemia,depression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19993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Risk Factors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For coronary heart disease: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- Previous ischemic heart disease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- Hypercholesterolemia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- Smoking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- Hypertension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- A family history of heart disease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- A history of diabetes mellitus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- Renal failure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2269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 smtClean="0"/>
              <a:t>Valvular</a:t>
            </a:r>
            <a:r>
              <a:rPr lang="en-US" sz="3200" dirty="0" smtClean="0"/>
              <a:t> heart disease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History of dental decay or infection( risk of infective endocarditis)</a:t>
            </a:r>
          </a:p>
          <a:p>
            <a:r>
              <a:rPr lang="en-US" sz="2000" dirty="0" smtClean="0"/>
              <a:t>Antibiotic prophylaxis before dental ( and some surgical procedures)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5713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Treatment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Medication taking : often a good clue to diagnosis</a:t>
            </a:r>
          </a:p>
          <a:p>
            <a:r>
              <a:rPr lang="en-US" sz="2000" dirty="0" smtClean="0"/>
              <a:t>Any ill-effects from current or previous medications</a:t>
            </a:r>
          </a:p>
          <a:p>
            <a:r>
              <a:rPr lang="en-US" sz="2000" dirty="0" smtClean="0"/>
              <a:t>Surgical History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- Previous angioplasty or coronary artery  bypass grafting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- If the patient is unable to provide a history; a middle </a:t>
            </a:r>
            <a:r>
              <a:rPr lang="en-US" sz="2000" dirty="0" err="1" smtClean="0"/>
              <a:t>sternotomy</a:t>
            </a:r>
            <a:r>
              <a:rPr lang="en-US" sz="2000" dirty="0" smtClean="0"/>
              <a:t>  scar and scars consistent with previous saphenous vein harvesting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81408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Past History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Previous angina or myocardial infarction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- How was diagnosis of  ischemic heart disease made and in particular what investigations were undertaken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6115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Social History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Whether patient’s condition has prevented  from working and over what period</a:t>
            </a:r>
          </a:p>
          <a:p>
            <a:pPr marL="0" indent="0">
              <a:buNone/>
            </a:pPr>
            <a:r>
              <a:rPr lang="en-US" sz="2000" dirty="0" smtClean="0"/>
              <a:t>     - Patient with severe cardiac </a:t>
            </a:r>
            <a:r>
              <a:rPr lang="en-US" sz="2000" dirty="0" err="1" smtClean="0"/>
              <a:t>failure,for</a:t>
            </a:r>
            <a:r>
              <a:rPr lang="en-US" sz="2000" dirty="0" smtClean="0"/>
              <a:t> example may need to take adjustments to their living arrangements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- So that they are not required to walk up and downstairs at home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89874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Comprehensive History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First, appropriately expose and position patient properly and get impression of general appearance</a:t>
            </a:r>
          </a:p>
          <a:p>
            <a:r>
              <a:rPr lang="en-US" sz="2000" dirty="0" smtClean="0"/>
              <a:t>Then begin with hands and pulses and progresses smoothly to neck, face and then to precordium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95389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Positioning Patient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Lye patient in bed with enough pillows to support him or her at 45 degrees 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- This is usual position in which jugular venous pressure is assessed</a:t>
            </a:r>
          </a:p>
          <a:p>
            <a:r>
              <a:rPr lang="en-US" sz="2000" dirty="0" smtClean="0"/>
              <a:t>During auscultation, optimal examination requires further positioning of the patient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55765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General Appearance- Look at general state of patient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- Does patient appear to be ill?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- Does patient at rest have rapid and labored respiration, suggesting dyspnea?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- Does patient look cachectic?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- Severe weight loss and muscle wasting( cardiac cachexia)</a:t>
            </a:r>
            <a:endParaRPr 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146" y="3962400"/>
            <a:ext cx="7773987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2800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The hands- Look first at nails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            - Look for clubbing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- Inspect fingernails (toenails) from side to determine if there is loss of angle between nail bed and finger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- </a:t>
            </a:r>
            <a:r>
              <a:rPr lang="en-US" sz="2000" dirty="0" err="1" smtClean="0"/>
              <a:t>Hyponychial</a:t>
            </a:r>
            <a:r>
              <a:rPr lang="en-US" sz="2000" dirty="0" smtClean="0"/>
              <a:t> angle</a:t>
            </a:r>
          </a:p>
          <a:p>
            <a:r>
              <a:rPr lang="en-US" sz="2000" dirty="0" smtClean="0"/>
              <a:t>Nails- look for splinter hemorrhages in the </a:t>
            </a:r>
            <a:r>
              <a:rPr lang="en-US" sz="2000" dirty="0" err="1" smtClean="0"/>
              <a:t>nailbeds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  - linear hemorrhages lying parallel to long axis of  the nail</a:t>
            </a:r>
          </a:p>
          <a:p>
            <a:pPr marL="0" indent="0">
              <a:buNone/>
            </a:pPr>
            <a:r>
              <a:rPr lang="en-US" sz="2000" dirty="0" smtClean="0"/>
              <a:t>Clubbing</a:t>
            </a:r>
            <a:endParaRPr lang="en-US" sz="2000" dirty="0"/>
          </a:p>
        </p:txBody>
      </p:sp>
      <p:sp>
        <p:nvSpPr>
          <p:cNvPr id="4" name="AutoShape 2" descr="Splinter Hemorrhages: Symptoms, Causes, and Treatment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Splinter Hemorrhages: Symptoms, Causes, and Treatment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4648200"/>
            <a:ext cx="3733800" cy="200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4648200"/>
            <a:ext cx="2790825" cy="186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226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Osler’s node- red, raised tender nodules  on the pulps of the fingers(or toes), or on the </a:t>
            </a:r>
            <a:r>
              <a:rPr lang="en-US" sz="2000" dirty="0" err="1" smtClean="0"/>
              <a:t>thenar</a:t>
            </a:r>
            <a:r>
              <a:rPr lang="en-US" sz="2000" dirty="0" smtClean="0"/>
              <a:t> or </a:t>
            </a:r>
            <a:r>
              <a:rPr lang="en-US" sz="2000" dirty="0" err="1" smtClean="0"/>
              <a:t>hypothenar</a:t>
            </a:r>
            <a:r>
              <a:rPr lang="en-US" sz="2000" dirty="0" smtClean="0"/>
              <a:t> eminences</a:t>
            </a:r>
          </a:p>
          <a:p>
            <a:r>
              <a:rPr lang="en-US" sz="2000" dirty="0" err="1" smtClean="0"/>
              <a:t>Janeway</a:t>
            </a:r>
            <a:r>
              <a:rPr lang="en-US" sz="2000" dirty="0" smtClean="0"/>
              <a:t> lesions-non-tender erythematous </a:t>
            </a:r>
            <a:r>
              <a:rPr lang="en-US" sz="2000" dirty="0" err="1" smtClean="0"/>
              <a:t>maculopapular</a:t>
            </a:r>
            <a:r>
              <a:rPr lang="en-US" sz="2000" dirty="0" smtClean="0"/>
              <a:t> lesions containing bacteria, which occur very rarely on palms or pulps of fingers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655" y="3733800"/>
            <a:ext cx="2886075" cy="234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0497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Arterial pulse- palpate radial artery at the </a:t>
            </a:r>
            <a:r>
              <a:rPr lang="en-US" sz="2000" dirty="0" err="1" smtClean="0"/>
              <a:t>wrist,just</a:t>
            </a:r>
            <a:r>
              <a:rPr lang="en-US" sz="2000" dirty="0" smtClean="0"/>
              <a:t> medial to the </a:t>
            </a:r>
            <a:r>
              <a:rPr lang="en-US" sz="2000" dirty="0" err="1" smtClean="0"/>
              <a:t>radius,using</a:t>
            </a:r>
            <a:r>
              <a:rPr lang="en-US" sz="2000" dirty="0" smtClean="0"/>
              <a:t> forefinger and middle finger pulps  of examining  hand</a:t>
            </a:r>
          </a:p>
          <a:p>
            <a:r>
              <a:rPr lang="en-US" sz="2000" dirty="0" smtClean="0"/>
              <a:t>Observations to be made: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1. Rate of pulse, rhythm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2. </a:t>
            </a:r>
            <a:r>
              <a:rPr lang="en-US" sz="2000" dirty="0" err="1" smtClean="0"/>
              <a:t>Radiofemoral</a:t>
            </a:r>
            <a:r>
              <a:rPr lang="en-US" sz="2000" dirty="0" smtClean="0"/>
              <a:t>  delay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- delay of femoral pulse compared with radial pulse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3. Character and volume of pulse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- better assessed from palpation of brachial or carotid arteries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4.Condition of the vessel wall         </a:t>
            </a:r>
            <a:endParaRPr lang="en-US" sz="2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5105400"/>
            <a:ext cx="2352675" cy="169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0888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Arterial Pulse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Rate: count for 30 seconds or 1 minute to obtain rate per minute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- normal resting heart rate in adults: 60-100 beats per minute</a:t>
            </a:r>
          </a:p>
          <a:p>
            <a:r>
              <a:rPr lang="en-US" sz="2000" dirty="0" smtClean="0"/>
              <a:t>Rhythm: regular or irregular</a:t>
            </a:r>
          </a:p>
          <a:p>
            <a:r>
              <a:rPr lang="en-US" sz="2000" dirty="0" err="1" smtClean="0"/>
              <a:t>Radiofemoral</a:t>
            </a:r>
            <a:r>
              <a:rPr lang="en-US" sz="2000" dirty="0" smtClean="0"/>
              <a:t> delay- while palpating radial pulse, place fingers of other hand over femoral pulse( below inguinal ligament, one-third of the way up from the pubic tubercle </a:t>
            </a:r>
            <a:endParaRPr lang="en-US" sz="20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962400"/>
            <a:ext cx="3086100" cy="246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6071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Arterial Pulse-Examine peripheral pulses: </a:t>
            </a:r>
            <a:r>
              <a:rPr lang="en-US" sz="2000" dirty="0" err="1" smtClean="0"/>
              <a:t>radial,brachial</a:t>
            </a:r>
            <a:r>
              <a:rPr lang="en-US" sz="2000" dirty="0" smtClean="0"/>
              <a:t>, carotid, femoral ,</a:t>
            </a:r>
            <a:r>
              <a:rPr lang="en-US" sz="2000" dirty="0" err="1" smtClean="0"/>
              <a:t>popliteal,posterior</a:t>
            </a:r>
            <a:r>
              <a:rPr lang="en-US" sz="2000" dirty="0" smtClean="0"/>
              <a:t> </a:t>
            </a:r>
            <a:r>
              <a:rPr lang="en-US" sz="2000" dirty="0" err="1" smtClean="0"/>
              <a:t>tibialis,dorsalis</a:t>
            </a:r>
            <a:r>
              <a:rPr lang="en-US" sz="2000" dirty="0" smtClean="0"/>
              <a:t> </a:t>
            </a:r>
            <a:r>
              <a:rPr lang="en-US" sz="2000" dirty="0" err="1" smtClean="0"/>
              <a:t>pedis</a:t>
            </a:r>
            <a:endParaRPr lang="en-US" sz="2000" dirty="0" smtClean="0"/>
          </a:p>
          <a:p>
            <a:r>
              <a:rPr lang="en-US" sz="2000" dirty="0" smtClean="0"/>
              <a:t>Arterial BP- essential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- indirect measurements of systolic and diastolic pressures are obtained with </a:t>
            </a:r>
            <a:r>
              <a:rPr lang="en-US" sz="2000" dirty="0" err="1" smtClean="0"/>
              <a:t>sphygnomanometer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- systolic BP- peak pressure that occurs in artery following ventricular systole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- diastolic  BP- a level to which arterial BP falls during ventricular diastole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Normal- A systolic reading of &lt; 140 mg </a:t>
            </a:r>
            <a:r>
              <a:rPr lang="en-US" sz="2000" dirty="0" err="1" smtClean="0"/>
              <a:t>mmhg</a:t>
            </a:r>
            <a:r>
              <a:rPr lang="en-US" sz="2000" dirty="0" smtClean="0"/>
              <a:t> and a diastolic reading of &lt; 90 </a:t>
            </a:r>
            <a:r>
              <a:rPr lang="en-US" sz="2000" dirty="0" err="1" smtClean="0"/>
              <a:t>mmhg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3050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Postural Blood pressure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BP should routinely  be taken with the patient both lying down and standing</a:t>
            </a:r>
          </a:p>
          <a:p>
            <a:r>
              <a:rPr lang="en-US" sz="2000" dirty="0" smtClean="0"/>
              <a:t>A fall more than 15 </a:t>
            </a:r>
            <a:r>
              <a:rPr lang="en-US" sz="2000" dirty="0" err="1" smtClean="0"/>
              <a:t>mmhg</a:t>
            </a:r>
            <a:r>
              <a:rPr lang="en-US" sz="2000" dirty="0" smtClean="0"/>
              <a:t> in systolic BP or 10 </a:t>
            </a:r>
            <a:r>
              <a:rPr lang="en-US" sz="2000" dirty="0" err="1" smtClean="0"/>
              <a:t>mmhg</a:t>
            </a:r>
            <a:r>
              <a:rPr lang="en-US" sz="2000" dirty="0" smtClean="0"/>
              <a:t> in diastolic BP on standing is abnormal (= postural hypotension); it may cause dizziness or not be associated with symptoms</a:t>
            </a:r>
            <a:endParaRPr lang="en-US" sz="20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429000"/>
            <a:ext cx="3724275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1695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The face- inspect </a:t>
            </a:r>
            <a:r>
              <a:rPr lang="en-US" sz="2000" dirty="0" err="1" smtClean="0"/>
              <a:t>sclarae</a:t>
            </a:r>
            <a:r>
              <a:rPr lang="en-US" sz="2000" dirty="0" smtClean="0"/>
              <a:t> for jaundice, </a:t>
            </a:r>
            <a:r>
              <a:rPr lang="en-US" sz="2000" dirty="0" err="1" smtClean="0"/>
              <a:t>xanthelasmata</a:t>
            </a:r>
            <a:r>
              <a:rPr lang="en-US" sz="2000" dirty="0" smtClean="0"/>
              <a:t> (intra </a:t>
            </a:r>
            <a:r>
              <a:rPr lang="en-US" sz="2000" dirty="0"/>
              <a:t>cutaneous </a:t>
            </a:r>
            <a:r>
              <a:rPr lang="en-US" sz="2000" dirty="0" smtClean="0"/>
              <a:t> yellow cholesterol deposits around the eyes)</a:t>
            </a:r>
          </a:p>
          <a:p>
            <a:r>
              <a:rPr lang="en-US" sz="2000" dirty="0" smtClean="0"/>
              <a:t>Mitral </a:t>
            </a:r>
            <a:r>
              <a:rPr lang="en-US" sz="2000" dirty="0" err="1" smtClean="0"/>
              <a:t>facies</a:t>
            </a:r>
            <a:r>
              <a:rPr lang="en-US" sz="2000" dirty="0" smtClean="0"/>
              <a:t>: rosy cheeks with a bluish tinge</a:t>
            </a:r>
          </a:p>
          <a:p>
            <a:r>
              <a:rPr lang="en-US" sz="2000" dirty="0" smtClean="0"/>
              <a:t>Mouth: a high arched palate(congenital heart disease), teeth, tongue and lips for central cyanosis, Inspect the mucosa for </a:t>
            </a:r>
            <a:r>
              <a:rPr lang="en-US" sz="2000" dirty="0" err="1" smtClean="0"/>
              <a:t>petechiae</a:t>
            </a:r>
            <a:endParaRPr lang="en-US" sz="20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77206"/>
            <a:ext cx="2581275" cy="187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150" y="3645302"/>
            <a:ext cx="2628900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343" y="3733800"/>
            <a:ext cx="1619250" cy="177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3589806"/>
            <a:ext cx="177165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8686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The neck:</a:t>
            </a:r>
          </a:p>
          <a:p>
            <a:pPr marL="0" indent="0">
              <a:buNone/>
            </a:pPr>
            <a:r>
              <a:rPr lang="en-US" sz="2000" dirty="0"/>
              <a:t>  </a:t>
            </a:r>
            <a:r>
              <a:rPr lang="en-US" sz="2000" dirty="0" smtClean="0"/>
              <a:t>    - carotids: provide a great deal of information about the wave form of the aortic pulse, which is affected by many cardiac abnormalities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easily accessible, medial to the sternocleidomastoid  muscles</a:t>
            </a:r>
            <a:endParaRPr lang="en-US" sz="20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432175"/>
            <a:ext cx="1838325" cy="153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4218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Jugular venous pressure- </a:t>
            </a:r>
            <a:r>
              <a:rPr lang="en-US" sz="2000" dirty="0" err="1" smtClean="0"/>
              <a:t>jvp</a:t>
            </a:r>
            <a:r>
              <a:rPr lang="en-US" sz="2000" dirty="0" smtClean="0"/>
              <a:t>- just as carotid pulse tells us about aorta and LV function, </a:t>
            </a:r>
            <a:r>
              <a:rPr lang="en-US" sz="2000" dirty="0" err="1" smtClean="0"/>
              <a:t>jvp</a:t>
            </a:r>
            <a:r>
              <a:rPr lang="en-US" sz="2000" dirty="0" smtClean="0"/>
              <a:t> tells us about right atrial and RV function</a:t>
            </a:r>
          </a:p>
          <a:p>
            <a:r>
              <a:rPr lang="en-US" sz="2000" dirty="0" smtClean="0"/>
              <a:t>Positioning of the patient and lightening are important</a:t>
            </a:r>
          </a:p>
          <a:p>
            <a:r>
              <a:rPr lang="en-US" sz="2000" dirty="0" smtClean="0"/>
              <a:t>Patient may be lying down at 45 degrees to the horizontal with his or her head on pillows and in good lighting conditions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581400"/>
            <a:ext cx="1733550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8571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JVP- by </a:t>
            </a:r>
            <a:r>
              <a:rPr lang="en-US" sz="2000" dirty="0" err="1" smtClean="0"/>
              <a:t>convention,sternal</a:t>
            </a:r>
            <a:r>
              <a:rPr lang="en-US" sz="2000" dirty="0" smtClean="0"/>
              <a:t> angle is taken as the zero point</a:t>
            </a:r>
          </a:p>
          <a:p>
            <a:r>
              <a:rPr lang="en-US" sz="2000" dirty="0" smtClean="0"/>
              <a:t>Maximum height of pulsations in internal jugular which are visible above sternal angle when patient is at 45 degrees is measured in </a:t>
            </a:r>
            <a:r>
              <a:rPr lang="en-US" sz="2000" dirty="0" err="1" smtClean="0"/>
              <a:t>centimetres</a:t>
            </a:r>
            <a:endParaRPr lang="en-US" sz="2000" dirty="0" smtClean="0"/>
          </a:p>
          <a:p>
            <a:r>
              <a:rPr lang="en-US" sz="2000" dirty="0" smtClean="0"/>
              <a:t>In the average person the </a:t>
            </a:r>
            <a:r>
              <a:rPr lang="en-US" sz="2000" dirty="0" err="1" smtClean="0"/>
              <a:t>centre</a:t>
            </a:r>
            <a:r>
              <a:rPr lang="en-US" sz="2000" dirty="0" smtClean="0"/>
              <a:t> of the right atrium lies 5 cm below this zero point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- Normal </a:t>
            </a:r>
            <a:r>
              <a:rPr lang="en-US" sz="2000" dirty="0" err="1" smtClean="0"/>
              <a:t>jvp</a:t>
            </a:r>
            <a:r>
              <a:rPr lang="en-US" sz="2000" dirty="0" smtClean="0"/>
              <a:t>&lt; 3 cm</a:t>
            </a:r>
            <a:endParaRPr lang="en-US" sz="2000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581400"/>
            <a:ext cx="2524125" cy="191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8566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Precordium- Inspection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- Inspect first for scars- previous cardiac operations will have left scars on    the chest wall</a:t>
            </a:r>
          </a:p>
          <a:p>
            <a:r>
              <a:rPr lang="en-US" sz="2000" dirty="0" smtClean="0"/>
              <a:t>Skeletal abnormalities-</a:t>
            </a:r>
            <a:r>
              <a:rPr lang="en-US" sz="2000" dirty="0" err="1" smtClean="0"/>
              <a:t>pectus</a:t>
            </a:r>
            <a:r>
              <a:rPr lang="en-US" sz="2000" dirty="0" smtClean="0"/>
              <a:t> </a:t>
            </a:r>
            <a:r>
              <a:rPr lang="en-US" sz="2000" dirty="0" err="1" smtClean="0"/>
              <a:t>excavatum</a:t>
            </a:r>
            <a:r>
              <a:rPr lang="en-US" sz="2000" dirty="0" smtClean="0"/>
              <a:t>(funnel chest) or</a:t>
            </a:r>
          </a:p>
          <a:p>
            <a:pPr marL="0" indent="0">
              <a:buNone/>
            </a:pPr>
            <a:r>
              <a:rPr lang="en-US" sz="2000" dirty="0" smtClean="0"/>
              <a:t>                                               -</a:t>
            </a:r>
            <a:r>
              <a:rPr lang="en-US" sz="2000" dirty="0" err="1" smtClean="0"/>
              <a:t>kyphoscoliosis</a:t>
            </a:r>
            <a:r>
              <a:rPr lang="en-US" sz="2000" dirty="0" smtClean="0"/>
              <a:t>(a curvature of vertebral column)</a:t>
            </a:r>
          </a:p>
          <a:p>
            <a:r>
              <a:rPr lang="en-US" sz="2000" dirty="0" smtClean="0"/>
              <a:t>Look for the apex beats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- Normal position is in fifth left intercostal space, 1 cm medial to the </a:t>
            </a:r>
            <a:r>
              <a:rPr lang="en-US" sz="2000" dirty="0" err="1" smtClean="0"/>
              <a:t>midclavicular</a:t>
            </a:r>
            <a:r>
              <a:rPr lang="en-US" sz="2000" dirty="0" smtClean="0"/>
              <a:t> line</a:t>
            </a:r>
          </a:p>
          <a:p>
            <a:r>
              <a:rPr lang="en-US" sz="2000" dirty="0" smtClean="0"/>
              <a:t>Look for other pulsations</a:t>
            </a:r>
            <a:endParaRPr lang="en-US" sz="20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3288" y="4800600"/>
            <a:ext cx="2257425" cy="176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8080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Palpation- Heart sounds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- palpation with fingers over pulmonary area may reveal palpable tap of pulmonary valve closure(palpable P2)</a:t>
            </a:r>
          </a:p>
          <a:p>
            <a:r>
              <a:rPr lang="en-US" sz="2000" dirty="0" smtClean="0"/>
              <a:t>Thrill- palpable murmurs</a:t>
            </a:r>
          </a:p>
          <a:p>
            <a:r>
              <a:rPr lang="en-US" sz="2000" dirty="0" smtClean="0"/>
              <a:t>Heave- parasternal impulse felt when heel of hand is rested just to left of sternum with fingers lifted slightly off the chest</a:t>
            </a:r>
            <a:endParaRPr lang="en-US" sz="20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191000"/>
            <a:ext cx="2457450" cy="172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9283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Auscultation- </a:t>
            </a:r>
            <a:r>
              <a:rPr lang="en-US" sz="2000" dirty="0" err="1" smtClean="0"/>
              <a:t>stethescope</a:t>
            </a:r>
            <a:r>
              <a:rPr lang="en-US" sz="2000" dirty="0" smtClean="0"/>
              <a:t> is needed</a:t>
            </a:r>
          </a:p>
          <a:p>
            <a:r>
              <a:rPr lang="en-US" sz="2000" dirty="0" smtClean="0"/>
              <a:t>Begins in mitral area with bell of stethoscope</a:t>
            </a:r>
          </a:p>
          <a:p>
            <a:r>
              <a:rPr lang="en-US" sz="2000" dirty="0" smtClean="0"/>
              <a:t>Next, listen in mitral area with diaphragm of the stethoscope</a:t>
            </a:r>
          </a:p>
          <a:p>
            <a:r>
              <a:rPr lang="en-US" sz="2000" dirty="0" smtClean="0"/>
              <a:t>Then place the </a:t>
            </a:r>
            <a:r>
              <a:rPr lang="en-US" sz="2000" dirty="0" err="1" smtClean="0"/>
              <a:t>stethescope</a:t>
            </a:r>
            <a:r>
              <a:rPr lang="en-US" sz="2000" dirty="0" smtClean="0"/>
              <a:t> in tricuspid  area( 5</a:t>
            </a:r>
            <a:r>
              <a:rPr lang="en-US" sz="2000" baseline="30000" dirty="0" smtClean="0"/>
              <a:t>th</a:t>
            </a:r>
            <a:r>
              <a:rPr lang="en-US" sz="2000" dirty="0" smtClean="0"/>
              <a:t> left intercostal space) and listen</a:t>
            </a:r>
          </a:p>
          <a:p>
            <a:r>
              <a:rPr lang="en-US" sz="2000" dirty="0" err="1" smtClean="0"/>
              <a:t>Next,left</a:t>
            </a:r>
            <a:r>
              <a:rPr lang="en-US" sz="2000" dirty="0" smtClean="0"/>
              <a:t> sternal edge to pulmonary( second left intercostal space) and aortic( second right intercostal space),listening carefully  with diaphragm</a:t>
            </a:r>
          </a:p>
          <a:p>
            <a:r>
              <a:rPr lang="en-US" sz="2000" dirty="0" smtClean="0"/>
              <a:t>Heart sounds(S1 and S2)</a:t>
            </a:r>
          </a:p>
          <a:p>
            <a:r>
              <a:rPr lang="en-US" sz="2000" dirty="0" smtClean="0"/>
              <a:t>Added sounds( </a:t>
            </a:r>
            <a:r>
              <a:rPr lang="en-US" sz="2000" dirty="0" err="1" smtClean="0"/>
              <a:t>murmurs,gallop,friction</a:t>
            </a:r>
            <a:r>
              <a:rPr lang="en-US" sz="2000" dirty="0" smtClean="0"/>
              <a:t> rub)</a:t>
            </a:r>
          </a:p>
          <a:p>
            <a:r>
              <a:rPr lang="en-US" sz="2000" dirty="0" smtClean="0"/>
              <a:t>Palpable murmur      </a:t>
            </a:r>
            <a:r>
              <a:rPr lang="en-US" sz="2000" smtClean="0"/>
              <a:t>Heart sounds                                           Auscultation</a:t>
            </a:r>
            <a:endParaRPr lang="en-US" sz="20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575" y="5105400"/>
            <a:ext cx="2047875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159017"/>
            <a:ext cx="2466975" cy="1575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5105400"/>
            <a:ext cx="2352675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0940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Other parts of the body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Back- percussion and auscultation of the lung bases</a:t>
            </a:r>
          </a:p>
          <a:p>
            <a:r>
              <a:rPr lang="en-US" sz="2000" dirty="0" smtClean="0"/>
              <a:t>Abdomen-liver, </a:t>
            </a:r>
            <a:r>
              <a:rPr lang="en-US" sz="2000" dirty="0" err="1" smtClean="0"/>
              <a:t>spleen,ascites,hepatojugular</a:t>
            </a:r>
            <a:r>
              <a:rPr lang="en-US" sz="2000" dirty="0" smtClean="0"/>
              <a:t> </a:t>
            </a:r>
            <a:r>
              <a:rPr lang="en-US" sz="2000" dirty="0" err="1" smtClean="0"/>
              <a:t>reflux,pulsations</a:t>
            </a:r>
            <a:endParaRPr lang="en-US" sz="2000" dirty="0" smtClean="0"/>
          </a:p>
          <a:p>
            <a:r>
              <a:rPr lang="en-US" sz="2000" dirty="0" smtClean="0"/>
              <a:t>Lower limbs- </a:t>
            </a:r>
            <a:r>
              <a:rPr lang="en-US" sz="2000" dirty="0" err="1" smtClean="0"/>
              <a:t>edema,cyanosis,clubbing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65703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1055</TotalTime>
  <Words>1578</Words>
  <Application>Microsoft Office PowerPoint</Application>
  <PresentationFormat>On-screen Show (4:3)</PresentationFormat>
  <Paragraphs>218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Cardiovascular Physical Examination</vt:lpstr>
      <vt:lpstr>PowerPoint Presentation</vt:lpstr>
      <vt:lpstr>Past History</vt:lpstr>
      <vt:lpstr>Social History</vt:lpstr>
      <vt:lpstr>Family History</vt:lpstr>
      <vt:lpstr>Functional status in established heart disease</vt:lpstr>
      <vt:lpstr>Chest Pain</vt:lpstr>
      <vt:lpstr>Dyspnea</vt:lpstr>
      <vt:lpstr>Orthopnea</vt:lpstr>
      <vt:lpstr>Paroxysmal nocturnal dyspnea</vt:lpstr>
      <vt:lpstr>Palpitations</vt:lpstr>
      <vt:lpstr>Syncope,presyncope and dizziness</vt:lpstr>
      <vt:lpstr>PowerPoint Presentation</vt:lpstr>
      <vt:lpstr>Fatigue</vt:lpstr>
      <vt:lpstr>Risk Factors</vt:lpstr>
      <vt:lpstr>Valvular heart disease</vt:lpstr>
      <vt:lpstr>Treatment</vt:lpstr>
      <vt:lpstr>Past History</vt:lpstr>
      <vt:lpstr>Social History</vt:lpstr>
      <vt:lpstr>Comprehensive History</vt:lpstr>
      <vt:lpstr>Positioning Patient</vt:lpstr>
      <vt:lpstr>PowerPoint Presentation</vt:lpstr>
      <vt:lpstr>PowerPoint Presentation</vt:lpstr>
      <vt:lpstr>PowerPoint Presentation</vt:lpstr>
      <vt:lpstr>PowerPoint Presentation</vt:lpstr>
      <vt:lpstr>Arterial Pulse</vt:lpstr>
      <vt:lpstr>PowerPoint Presentation</vt:lpstr>
      <vt:lpstr>Postural Blood pressure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Other parts of the body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Cardiovascular Physical Examination</dc:title>
  <dc:creator>eman kedir</dc:creator>
  <cp:lastModifiedBy>eman kedir</cp:lastModifiedBy>
  <cp:revision>78</cp:revision>
  <dcterms:created xsi:type="dcterms:W3CDTF">2006-08-16T00:00:00Z</dcterms:created>
  <dcterms:modified xsi:type="dcterms:W3CDTF">2024-06-03T09:47:12Z</dcterms:modified>
</cp:coreProperties>
</file>